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57.xml" ContentType="application/vnd.openxmlformats-officedocument.presentationml.tags+xml"/>
  <Override PartName="/ppt/notesSlides/notesSlide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2.xml" ContentType="application/vnd.openxmlformats-officedocument.presentationml.notesSlide+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3.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notesSlides/notesSlide4.xml" ContentType="application/vnd.openxmlformats-officedocument.presentationml.notesSlide+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notesSlides/notesSlide5.xml" ContentType="application/vnd.openxmlformats-officedocument.presentationml.notesSlide+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notesSlides/notesSlide6.xml" ContentType="application/vnd.openxmlformats-officedocument.presentationml.notesSlide+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notesSlides/notesSlide7.xml" ContentType="application/vnd.openxmlformats-officedocument.presentationml.notesSlid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60" r:id="rId4"/>
    <p:sldMasterId id="2147483803" r:id="rId5"/>
  </p:sldMasterIdLst>
  <p:notesMasterIdLst>
    <p:notesMasterId r:id="rId79"/>
  </p:notesMasterIdLst>
  <p:handoutMasterIdLst>
    <p:handoutMasterId r:id="rId80"/>
  </p:handoutMasterIdLst>
  <p:sldIdLst>
    <p:sldId id="783" r:id="rId6"/>
    <p:sldId id="334" r:id="rId7"/>
    <p:sldId id="2147374692" r:id="rId8"/>
    <p:sldId id="790" r:id="rId9"/>
    <p:sldId id="789" r:id="rId10"/>
    <p:sldId id="2147469951" r:id="rId11"/>
    <p:sldId id="2147469972" r:id="rId12"/>
    <p:sldId id="2147469948" r:id="rId13"/>
    <p:sldId id="2147469925" r:id="rId14"/>
    <p:sldId id="718" r:id="rId15"/>
    <p:sldId id="2147470032" r:id="rId16"/>
    <p:sldId id="2147469950" r:id="rId17"/>
    <p:sldId id="723" r:id="rId18"/>
    <p:sldId id="2147469934" r:id="rId19"/>
    <p:sldId id="803" r:id="rId20"/>
    <p:sldId id="2147469986" r:id="rId21"/>
    <p:sldId id="2147470020" r:id="rId22"/>
    <p:sldId id="2147469987" r:id="rId23"/>
    <p:sldId id="2147469988" r:id="rId24"/>
    <p:sldId id="2147469989" r:id="rId25"/>
    <p:sldId id="2147469990" r:id="rId26"/>
    <p:sldId id="2147469991" r:id="rId27"/>
    <p:sldId id="2147470024" r:id="rId28"/>
    <p:sldId id="2147469992" r:id="rId29"/>
    <p:sldId id="2147469993" r:id="rId30"/>
    <p:sldId id="2147469994" r:id="rId31"/>
    <p:sldId id="2147469995" r:id="rId32"/>
    <p:sldId id="2147469996" r:id="rId33"/>
    <p:sldId id="2147469997" r:id="rId34"/>
    <p:sldId id="2147470027" r:id="rId35"/>
    <p:sldId id="2147470033" r:id="rId36"/>
    <p:sldId id="2147469998" r:id="rId37"/>
    <p:sldId id="2147469999" r:id="rId38"/>
    <p:sldId id="2147470000" r:id="rId39"/>
    <p:sldId id="2147470001" r:id="rId40"/>
    <p:sldId id="2147470002" r:id="rId41"/>
    <p:sldId id="2147470003" r:id="rId42"/>
    <p:sldId id="2147470004" r:id="rId43"/>
    <p:sldId id="2147470034" r:id="rId44"/>
    <p:sldId id="2147470005" r:id="rId45"/>
    <p:sldId id="2147470006" r:id="rId46"/>
    <p:sldId id="2147470007" r:id="rId47"/>
    <p:sldId id="2147470025" r:id="rId48"/>
    <p:sldId id="2147470008" r:id="rId49"/>
    <p:sldId id="2147470046" r:id="rId50"/>
    <p:sldId id="2147470011" r:id="rId51"/>
    <p:sldId id="2147470015" r:id="rId52"/>
    <p:sldId id="2147470013" r:id="rId53"/>
    <p:sldId id="808" r:id="rId54"/>
    <p:sldId id="909" r:id="rId55"/>
    <p:sldId id="2147470031" r:id="rId56"/>
    <p:sldId id="871" r:id="rId57"/>
    <p:sldId id="2147469919" r:id="rId58"/>
    <p:sldId id="2147469971" r:id="rId59"/>
    <p:sldId id="2147469973" r:id="rId60"/>
    <p:sldId id="2147469982" r:id="rId61"/>
    <p:sldId id="2147470036" r:id="rId62"/>
    <p:sldId id="2147470035" r:id="rId63"/>
    <p:sldId id="2147470028" r:id="rId64"/>
    <p:sldId id="2147470037" r:id="rId65"/>
    <p:sldId id="2147469983" r:id="rId66"/>
    <p:sldId id="2147469984" r:id="rId67"/>
    <p:sldId id="652" r:id="rId68"/>
    <p:sldId id="2147469976" r:id="rId69"/>
    <p:sldId id="2147470039" r:id="rId70"/>
    <p:sldId id="2147470040" r:id="rId71"/>
    <p:sldId id="2147470041" r:id="rId72"/>
    <p:sldId id="2147470042" r:id="rId73"/>
    <p:sldId id="2147470045" r:id="rId74"/>
    <p:sldId id="2147470012" r:id="rId75"/>
    <p:sldId id="694" r:id="rId76"/>
    <p:sldId id="2147470021" r:id="rId77"/>
    <p:sldId id="695" r:id="rId78"/>
  </p:sldIdLst>
  <p:sldSz cx="12192000" cy="6858000"/>
  <p:notesSz cx="7010400" cy="9296400"/>
  <p:custDataLst>
    <p:tags r:id="rId8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8B8B49-D877-7225-B232-CFDC8C0ACB6F}" name="Bartlett, Deidre" initials="BD" userId="S::deidrebartlett@kpmg.ca::175d7db0-3f17-4050-9468-884991f36355" providerId="AD"/>
  <p188:author id="{2F501C75-FEBE-A13B-5D14-BCCCE4D75CD0}" name="Delisle, Marianne" initials="DM" userId="S::mdelisle@kpmg.ca::f6c5753a-c3c0-478b-b1a3-209663f7893c" providerId="AD"/>
  <p188:author id="{B4D602A0-E446-B15E-0CB6-4B7B767754FB}" name="Pigeon, Georges" initials="PG" userId="S::georgespigeon@kpmg.ca::9d561045-42a5-41e8-bf23-303d3b29d853" providerId="AD"/>
  <p188:author id="{74BB51C5-9EF6-4EE8-8336-B4565CD78B45}" name="Scherer, Michael" initials="MS" userId="S::mscherer@kpmg.com::377d371d-b3ce-4323-9aea-76beb716aba6" providerId="AD"/>
  <p188:author id="{A18A6DCD-C6FE-06FE-432E-5231979893DD}" name="Duggan, Michael" initials="DM" userId="S::michaelduggan@kpmg.ca::753fe15c-5bb1-4354-ac51-55307825d129" providerId="AD"/>
  <p188:author id="{179690EF-13C1-2780-B84E-401DD7084F8A}" name="Nechaieva, Anastasiia" initials="NA" userId="S::anastasiianechaieva@kpmg.ca::ba8d9e1c-12d2-495f-ad22-2643ea29a51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050"/>
    <a:srgbClr val="FFC000"/>
    <a:srgbClr val="009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4994" autoAdjust="0"/>
    <p:restoredTop sz="94660"/>
  </p:normalViewPr>
  <p:slideViewPr>
    <p:cSldViewPr snapToGrid="0">
      <p:cViewPr varScale="1">
        <p:scale>
          <a:sx n="129" d="100"/>
          <a:sy n="129" d="100"/>
        </p:scale>
        <p:origin x="1496" y="20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2.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microsoft.com/office/2018/10/relationships/authors" Target="authors.xml"/><Relationship Id="rId61" Type="http://schemas.openxmlformats.org/officeDocument/2006/relationships/slide" Target="slides/slide56.xml"/><Relationship Id="rId8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kpmgcan.sharepoint.com/sites/CA-ProjectSkyrocket-TS/Shared%20Documents/2.%20Engagement%20Delivery%20and%20Execution/06_Analysis_and_Working_Papers/Report/Report%20tables%20and%20charts/Summary%20of%20tables.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kpmgcan-my.sharepoint.com/personal/anastasiianechaieva_kpmg_ca/Documents/7.%20Project%20Skyrocket/Report.%20Storyboard/Summary%20of%20table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kpmgcan.sharepoint.com/sites/CA-ProjectSkyrocket-TS/Shared%20Documents/2.%20Engagement%20Delivery%20and%20Execution/06_Analysis_and_Working_Papers/Report/Report%20tables%20and%20charts/Summary%20of%20tables.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16616975954546"/>
          <c:y val="7.4631882372256431E-2"/>
          <c:w val="0.86583383024045457"/>
          <c:h val="0.5742073728294087"/>
        </c:manualLayout>
      </c:layout>
      <c:lineChart>
        <c:grouping val="standard"/>
        <c:varyColors val="0"/>
        <c:ser>
          <c:idx val="0"/>
          <c:order val="0"/>
          <c:tx>
            <c:v>FY22</c:v>
          </c:tx>
          <c:spPr>
            <a:ln w="28575" cap="rnd">
              <a:solidFill>
                <a:srgbClr val="00338D"/>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Consolidated'!$D$7:$O$7</c:f>
              <c:numCache>
                <c:formatCode>_(* #,##0_);_(* \(#,##0\);_(* "-"_);_(@_)</c:formatCode>
                <c:ptCount val="12"/>
                <c:pt idx="0">
                  <c:v>2967.1554933333332</c:v>
                </c:pt>
                <c:pt idx="1">
                  <c:v>4379.4606233333325</c:v>
                </c:pt>
                <c:pt idx="2">
                  <c:v>5949.9761222222232</c:v>
                </c:pt>
                <c:pt idx="3">
                  <c:v>6701.8029333333334</c:v>
                </c:pt>
                <c:pt idx="4">
                  <c:v>7009.0512433333352</c:v>
                </c:pt>
                <c:pt idx="5">
                  <c:v>7240.0105133333318</c:v>
                </c:pt>
                <c:pt idx="6">
                  <c:v>7825.5872233333303</c:v>
                </c:pt>
                <c:pt idx="7">
                  <c:v>6582.7028733333373</c:v>
                </c:pt>
                <c:pt idx="8">
                  <c:v>7491.3137733333315</c:v>
                </c:pt>
                <c:pt idx="9">
                  <c:v>8125.1367733333391</c:v>
                </c:pt>
                <c:pt idx="10">
                  <c:v>8313.5673733333224</c:v>
                </c:pt>
                <c:pt idx="11">
                  <c:v>8754.4098433333384</c:v>
                </c:pt>
              </c:numCache>
            </c:numRef>
          </c:val>
          <c:smooth val="0"/>
          <c:extLst>
            <c:ext xmlns:c16="http://schemas.microsoft.com/office/drawing/2014/chart" uri="{C3380CC4-5D6E-409C-BE32-E72D297353CC}">
              <c16:uniqueId val="{00000000-C822-4325-B43B-BA78E632ABD2}"/>
            </c:ext>
          </c:extLst>
        </c:ser>
        <c:ser>
          <c:idx val="1"/>
          <c:order val="1"/>
          <c:tx>
            <c:v>FY23</c:v>
          </c:tx>
          <c:spPr>
            <a:ln w="28575" cap="rnd">
              <a:solidFill>
                <a:srgbClr val="00B8F5"/>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Consolidated'!$P$7:$AA$7</c:f>
              <c:numCache>
                <c:formatCode>_(* #,##0_);_(* \(#,##0\);_(* "-"_);_(@_)</c:formatCode>
                <c:ptCount val="12"/>
                <c:pt idx="0">
                  <c:v>5153.184949999998</c:v>
                </c:pt>
                <c:pt idx="1">
                  <c:v>5890.7499199999993</c:v>
                </c:pt>
                <c:pt idx="2">
                  <c:v>8349.6730800000005</c:v>
                </c:pt>
                <c:pt idx="3">
                  <c:v>8251.9363700000031</c:v>
                </c:pt>
                <c:pt idx="4">
                  <c:v>8893.8662699999968</c:v>
                </c:pt>
                <c:pt idx="5">
                  <c:v>9173.9249799999943</c:v>
                </c:pt>
                <c:pt idx="6">
                  <c:v>8182.9361200000021</c:v>
                </c:pt>
                <c:pt idx="7">
                  <c:v>6929.1101199999939</c:v>
                </c:pt>
                <c:pt idx="8">
                  <c:v>8655.0009800000025</c:v>
                </c:pt>
                <c:pt idx="9">
                  <c:v>8971.1118900000001</c:v>
                </c:pt>
                <c:pt idx="10">
                  <c:v>9809.4074300000048</c:v>
                </c:pt>
                <c:pt idx="11">
                  <c:v>8046.7840400000014</c:v>
                </c:pt>
              </c:numCache>
            </c:numRef>
          </c:val>
          <c:smooth val="0"/>
          <c:extLst>
            <c:ext xmlns:c16="http://schemas.microsoft.com/office/drawing/2014/chart" uri="{C3380CC4-5D6E-409C-BE32-E72D297353CC}">
              <c16:uniqueId val="{00000001-C822-4325-B43B-BA78E632ABD2}"/>
            </c:ext>
          </c:extLst>
        </c:ser>
        <c:ser>
          <c:idx val="2"/>
          <c:order val="2"/>
          <c:tx>
            <c:v>FY24</c:v>
          </c:tx>
          <c:spPr>
            <a:ln w="28575" cap="rnd">
              <a:solidFill>
                <a:srgbClr val="1E49E2"/>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Consolidated'!$AB$7:$AM$7</c:f>
              <c:numCache>
                <c:formatCode>_(* #,##0_);_(* \(#,##0\);_(* "-"_);_(@_)</c:formatCode>
                <c:ptCount val="12"/>
                <c:pt idx="0">
                  <c:v>5879.3151799999996</c:v>
                </c:pt>
                <c:pt idx="1">
                  <c:v>6893.0731799999976</c:v>
                </c:pt>
                <c:pt idx="2">
                  <c:v>9066.6447800000024</c:v>
                </c:pt>
                <c:pt idx="3">
                  <c:v>9651.9001999999982</c:v>
                </c:pt>
                <c:pt idx="4">
                  <c:v>9944.4774099999977</c:v>
                </c:pt>
                <c:pt idx="5">
                  <c:v>10212.022830000004</c:v>
                </c:pt>
                <c:pt idx="6">
                  <c:v>8695.3966800000035</c:v>
                </c:pt>
                <c:pt idx="7">
                  <c:v>7465.3576599999969</c:v>
                </c:pt>
                <c:pt idx="8">
                  <c:v>9857.7870199999943</c:v>
                </c:pt>
                <c:pt idx="9">
                  <c:v>9320.5599699999948</c:v>
                </c:pt>
                <c:pt idx="10">
                  <c:v>9624.301408000003</c:v>
                </c:pt>
                <c:pt idx="11">
                  <c:v>9571.6905900000002</c:v>
                </c:pt>
              </c:numCache>
            </c:numRef>
          </c:val>
          <c:smooth val="0"/>
          <c:extLst>
            <c:ext xmlns:c16="http://schemas.microsoft.com/office/drawing/2014/chart" uri="{C3380CC4-5D6E-409C-BE32-E72D297353CC}">
              <c16:uniqueId val="{00000002-C822-4325-B43B-BA78E632ABD2}"/>
            </c:ext>
          </c:extLst>
        </c:ser>
        <c:dLbls>
          <c:showLegendKey val="0"/>
          <c:showVal val="0"/>
          <c:showCatName val="0"/>
          <c:showSerName val="0"/>
          <c:showPercent val="0"/>
          <c:showBubbleSize val="0"/>
        </c:dLbls>
        <c:smooth val="0"/>
        <c:axId val="1456356528"/>
        <c:axId val="1109085599"/>
      </c:lineChart>
      <c:dateAx>
        <c:axId val="1456356528"/>
        <c:scaling>
          <c:orientation val="minMax"/>
        </c:scaling>
        <c:delete val="0"/>
        <c:axPos val="b"/>
        <c:numFmt formatCode="mmm;@" sourceLinked="0"/>
        <c:majorTickMark val="none"/>
        <c:minorTickMark val="none"/>
        <c:tickLblPos val="nextTo"/>
        <c:spPr>
          <a:noFill/>
          <a:ln w="9525" cap="flat" cmpd="sng" algn="ctr">
            <a:solidFill>
              <a:srgbClr val="B2B2B2"/>
            </a:solidFill>
            <a:prstDash val="solid"/>
            <a:round/>
          </a:ln>
          <a:effectLst/>
          <a:extLst>
            <a:ext uri="{909E8E84-426E-40DD-AFC4-6F175D3DCCD1}">
              <a14:hiddenFill xmlns:a14="http://schemas.microsoft.com/office/drawing/2010/main">
                <a:noFill/>
              </a14:hiddenFill>
            </a:ext>
          </a:extLst>
        </c:spPr>
        <c:txPr>
          <a:bodyPr rot="-6000000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crossAx val="1109085599"/>
        <c:crosses val="autoZero"/>
        <c:auto val="1"/>
        <c:lblOffset val="100"/>
        <c:baseTimeUnit val="months"/>
      </c:dateAx>
      <c:valAx>
        <c:axId val="1109085599"/>
        <c:scaling>
          <c:orientation val="minMax"/>
        </c:scaling>
        <c:delete val="0"/>
        <c:axPos val="l"/>
        <c:majorGridlines>
          <c:spPr>
            <a:ln w="9525" cap="flat" cmpd="sng" algn="ctr">
              <a:noFill/>
              <a:round/>
            </a:ln>
            <a:effectLst/>
            <a:extLst>
              <a:ext uri="{91240B29-F687-4F45-9708-019B960494DF}">
                <a14:hiddenLine xmlns:a14="http://schemas.microsoft.com/office/drawing/2010/main" w="9525" cap="flat" cmpd="sng" algn="ctr">
                  <a:solidFill>
                    <a:sysClr val="windowText" lastClr="000000">
                      <a:lumMod val="15000"/>
                      <a:lumOff val="85000"/>
                    </a:sysClr>
                  </a:solidFill>
                  <a:round/>
                </a14:hiddenLine>
              </a:ext>
            </a:extLst>
          </c:spPr>
        </c:majorGridlines>
        <c:title>
          <c:tx>
            <c:rich>
              <a:bodyPr rot="-5400000" spcFirstLastPara="1" vertOverflow="ellipsis" vert="horz" wrap="square" anchor="ctr" anchorCtr="1"/>
              <a:lstStyle/>
              <a:p>
                <a:pPr>
                  <a:defRPr sz="600" b="1" i="0" u="none" strike="noStrike" kern="1200" baseline="0">
                    <a:solidFill>
                      <a:srgbClr val="00338D"/>
                    </a:solidFill>
                    <a:latin typeface="Arial"/>
                    <a:ea typeface="Arial"/>
                    <a:cs typeface="Arial"/>
                  </a:defRPr>
                </a:pPr>
                <a:r>
                  <a:rPr lang="en-US" sz="600" dirty="0"/>
                  <a:t>$'000</a:t>
                </a:r>
              </a:p>
            </c:rich>
          </c:tx>
          <c:overlay val="0"/>
          <c:spPr>
            <a:noFill/>
            <a:ln>
              <a:noFill/>
            </a:ln>
            <a:effectLst/>
            <a:extLst>
              <a:ext uri="{909E8E84-426E-40DD-AFC4-6F175D3DCCD1}">
                <a14:hiddenFill xmlns:a14="http://schemas.microsoft.com/office/drawing/2010/main">
                  <a:solidFill>
                    <a:srgbClr val="FFFFFF">
                      <a:alpha val="0"/>
                    </a:srgbClr>
                  </a:solidFill>
                </a14:hiddenFill>
              </a:ext>
            </a:extLst>
          </c:spPr>
          <c:txPr>
            <a:bodyPr rot="-5400000" spcFirstLastPara="1" vertOverflow="ellipsis" vert="horz" wrap="square" anchor="ctr" anchorCtr="1"/>
            <a:lstStyle/>
            <a:p>
              <a:pPr>
                <a:defRPr sz="600" b="1" i="0" u="none" strike="noStrike" kern="1200" baseline="0">
                  <a:solidFill>
                    <a:srgbClr val="00338D"/>
                  </a:solidFill>
                  <a:latin typeface="Arial"/>
                  <a:ea typeface="Arial"/>
                  <a:cs typeface="Arial"/>
                </a:defRPr>
              </a:pPr>
              <a:endParaRPr lang="en-US"/>
            </a:p>
          </c:txPr>
        </c:title>
        <c:numFmt formatCode="_(* #,##0_);_(* \(#,##0\);_(* &quot;-&quot;_);_(@_)" sourceLinked="1"/>
        <c:majorTickMark val="none"/>
        <c:minorTickMark val="none"/>
        <c:tickLblPos val="nextTo"/>
        <c:spPr>
          <a:noFill/>
          <a:ln w="9525">
            <a:solidFill>
              <a:srgbClr val="B2B2B2"/>
            </a:solidFill>
            <a:prstDash val="solid"/>
          </a:ln>
          <a:effectLst/>
          <a:extLst>
            <a:ext uri="{909E8E84-426E-40DD-AFC4-6F175D3DCCD1}">
              <a14:hiddenFill xmlns:a14="http://schemas.microsoft.com/office/drawing/2010/main">
                <a:noFill/>
              </a14:hiddenFill>
            </a:ext>
          </a:extLst>
        </c:spPr>
        <c:txPr>
          <a:bodyPr rot="-6000000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crossAx val="1456356528"/>
        <c:crosses val="autoZero"/>
        <c:crossBetween val="between"/>
      </c:valAx>
      <c:spPr>
        <a:noFill/>
        <a:ln w="25400">
          <a:noFill/>
        </a:ln>
        <a:effectLst/>
      </c:spPr>
    </c:plotArea>
    <c:legend>
      <c:legendPos val="b"/>
      <c:layout>
        <c:manualLayout>
          <c:xMode val="edge"/>
          <c:yMode val="edge"/>
          <c:x val="0.27051070025665475"/>
          <c:y val="0.73777193015589226"/>
          <c:w val="0.4312007874015748"/>
          <c:h val="7.9723136746159065E-2"/>
        </c:manualLayout>
      </c:layout>
      <c:overlay val="0"/>
      <c:spPr>
        <a:noFill/>
        <a:ln>
          <a:noFill/>
        </a:ln>
        <a:effectLst/>
        <a:extLst>
          <a:ext uri="{909E8E84-426E-40DD-AFC4-6F175D3DCCD1}">
            <a14:hiddenFill xmlns:a14="http://schemas.microsoft.com/office/drawing/2010/main">
              <a:solidFill>
                <a:srgbClr val="FFFFFF">
                  <a:alpha val="0"/>
                </a:srgbClr>
              </a:solidFill>
            </a14:hiddenFill>
          </a:ext>
        </a:extLst>
      </c:spPr>
      <c:txPr>
        <a:bodyPr rot="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5400" cap="flat" cmpd="sng" algn="ctr">
      <a:noFill/>
      <a:round/>
    </a:ln>
    <a:effectLst/>
  </c:spPr>
  <c:txPr>
    <a:bodyPr/>
    <a:lstStyle/>
    <a:p>
      <a:pPr>
        <a:defRPr sz="800">
          <a:latin typeface="Arial"/>
          <a:ea typeface="Arial"/>
          <a:cs typeface="Aria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50"/>
        <c:axId val="66976767"/>
        <c:axId val="499625199"/>
      </c:barChart>
      <c:catAx>
        <c:axId val="66976767"/>
        <c:scaling>
          <c:orientation val="minMax"/>
        </c:scaling>
        <c:delete val="0"/>
        <c:axPos val="b"/>
        <c:numFmt formatCode="[$-409]mmm\-yy;@" sourceLinked="1"/>
        <c:majorTickMark val="none"/>
        <c:minorTickMark val="none"/>
        <c:tickLblPos val="nextTo"/>
        <c:spPr>
          <a:noFill/>
          <a:ln w="9525" cap="flat" cmpd="sng" algn="ctr">
            <a:solidFill>
              <a:srgbClr val="B2B2B2"/>
            </a:solidFill>
            <a:prstDash val="solid"/>
            <a:round/>
          </a:ln>
          <a:effectLst/>
          <a:extLst>
            <a:ext uri="{909E8E84-426E-40DD-AFC4-6F175D3DCCD1}">
              <a14:hiddenFill xmlns:a14="http://schemas.microsoft.com/office/drawing/2010/main">
                <a:noFill/>
              </a14:hiddenFill>
            </a:ext>
          </a:extLst>
        </c:spPr>
        <c:txPr>
          <a:bodyPr rot="2700000" spcFirstLastPara="1" vertOverflow="ellipsis" wrap="square" anchor="ctr" anchorCtr="1"/>
          <a:lstStyle/>
          <a:p>
            <a:pPr>
              <a:defRPr sz="600" b="0" i="0" u="none" strike="noStrike" kern="1200" baseline="0">
                <a:solidFill>
                  <a:srgbClr val="00338D"/>
                </a:solidFill>
                <a:latin typeface="Arial"/>
                <a:ea typeface="Arial"/>
                <a:cs typeface="Arial"/>
              </a:defRPr>
            </a:pPr>
            <a:endParaRPr lang="en-US"/>
          </a:p>
        </c:txPr>
        <c:crossAx val="499625199"/>
        <c:crosses val="autoZero"/>
        <c:auto val="1"/>
        <c:lblAlgn val="ctr"/>
        <c:lblOffset val="100"/>
        <c:noMultiLvlLbl val="1"/>
      </c:catAx>
      <c:valAx>
        <c:axId val="499625199"/>
        <c:scaling>
          <c:orientation val="minMax"/>
        </c:scaling>
        <c:delete val="0"/>
        <c:axPos val="l"/>
        <c:majorGridlines>
          <c:spPr>
            <a:ln w="9525" cap="flat" cmpd="sng" algn="ctr">
              <a:noFill/>
              <a:round/>
            </a:ln>
            <a:effectLst/>
            <a:extLst>
              <a:ext uri="{91240B29-F687-4F45-9708-019B960494DF}">
                <a14:hiddenLine xmlns:a14="http://schemas.microsoft.com/office/drawing/2010/main" w="9525" cap="flat" cmpd="sng" algn="ctr">
                  <a:solidFill>
                    <a:sysClr val="windowText" lastClr="000000">
                      <a:lumMod val="15000"/>
                      <a:lumOff val="85000"/>
                    </a:sysClr>
                  </a:solidFill>
                  <a:round/>
                </a14:hiddenLine>
              </a:ext>
            </a:extLst>
          </c:spPr>
        </c:majorGridlines>
        <c:numFmt formatCode="_(* #,##0_);_(* \(#,##0\);_(* &quot;-&quot;_);_(@_)" sourceLinked="1"/>
        <c:majorTickMark val="none"/>
        <c:minorTickMark val="none"/>
        <c:tickLblPos val="nextTo"/>
        <c:spPr>
          <a:noFill/>
          <a:ln w="9525">
            <a:solidFill>
              <a:srgbClr val="B2B2B2"/>
            </a:solidFill>
            <a:prstDash val="solid"/>
          </a:ln>
          <a:effectLst/>
          <a:extLst>
            <a:ext uri="{909E8E84-426E-40DD-AFC4-6F175D3DCCD1}">
              <a14:hiddenFill xmlns:a14="http://schemas.microsoft.com/office/drawing/2010/main">
                <a:noFill/>
              </a14:hiddenFill>
            </a:ext>
          </a:extLst>
        </c:spPr>
        <c:txPr>
          <a:bodyPr rot="-6000000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crossAx val="66976767"/>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5400" cap="flat" cmpd="sng" algn="ctr">
      <a:noFill/>
      <a:round/>
    </a:ln>
    <a:effectLst/>
  </c:spPr>
  <c:txPr>
    <a:bodyPr/>
    <a:lstStyle/>
    <a:p>
      <a:pPr>
        <a:defRPr sz="800">
          <a:latin typeface="Arial"/>
          <a:ea typeface="Arial"/>
          <a:cs typeface="Aria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27200320861364"/>
          <c:y val="6.4167959288943685E-2"/>
          <c:w val="0.86081617375521258"/>
          <c:h val="0.66485079456653107"/>
        </c:manualLayout>
      </c:layout>
      <c:lineChart>
        <c:grouping val="standard"/>
        <c:varyColors val="0"/>
        <c:ser>
          <c:idx val="0"/>
          <c:order val="0"/>
          <c:tx>
            <c:v>FY22</c:v>
          </c:tx>
          <c:spPr>
            <a:ln w="28575" cap="rnd">
              <a:solidFill>
                <a:srgbClr val="00338D"/>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Consolidated'!$D$11:$O$11</c:f>
              <c:numCache>
                <c:formatCode>_(* #,##0_);_(* \(#,##0\);_(* "-"_);_(@_)</c:formatCode>
                <c:ptCount val="12"/>
                <c:pt idx="0">
                  <c:v>365.63132999999988</c:v>
                </c:pt>
                <c:pt idx="1">
                  <c:v>376.01399000000009</c:v>
                </c:pt>
                <c:pt idx="2">
                  <c:v>466.1675800000001</c:v>
                </c:pt>
                <c:pt idx="3">
                  <c:v>1332.8158809999998</c:v>
                </c:pt>
                <c:pt idx="4">
                  <c:v>954.39562999999998</c:v>
                </c:pt>
                <c:pt idx="5">
                  <c:v>862.16362999999978</c:v>
                </c:pt>
                <c:pt idx="6">
                  <c:v>1196.2838900000002</c:v>
                </c:pt>
                <c:pt idx="7">
                  <c:v>686.82631999999921</c:v>
                </c:pt>
                <c:pt idx="8">
                  <c:v>1559.1498590000001</c:v>
                </c:pt>
                <c:pt idx="9">
                  <c:v>2225.9223599999982</c:v>
                </c:pt>
                <c:pt idx="10">
                  <c:v>1332.7792700000009</c:v>
                </c:pt>
                <c:pt idx="11">
                  <c:v>1126.0548210000009</c:v>
                </c:pt>
              </c:numCache>
            </c:numRef>
          </c:val>
          <c:smooth val="0"/>
          <c:extLst>
            <c:ext xmlns:c16="http://schemas.microsoft.com/office/drawing/2014/chart" uri="{C3380CC4-5D6E-409C-BE32-E72D297353CC}">
              <c16:uniqueId val="{00000000-E4E1-4CD0-80ED-498B35F78C07}"/>
            </c:ext>
          </c:extLst>
        </c:ser>
        <c:ser>
          <c:idx val="1"/>
          <c:order val="1"/>
          <c:tx>
            <c:v>FY23</c:v>
          </c:tx>
          <c:spPr>
            <a:ln w="28575" cap="rnd">
              <a:solidFill>
                <a:srgbClr val="00B8F5"/>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Consolidated'!$P$11:$AA$11</c:f>
              <c:numCache>
                <c:formatCode>_(* #,##0_);_(* \(#,##0\);_(* "-"_);_(@_)</c:formatCode>
                <c:ptCount val="12"/>
                <c:pt idx="0">
                  <c:v>1465.2869999999991</c:v>
                </c:pt>
                <c:pt idx="1">
                  <c:v>1398.3575299999995</c:v>
                </c:pt>
                <c:pt idx="2">
                  <c:v>1605.4303999999997</c:v>
                </c:pt>
                <c:pt idx="3">
                  <c:v>1238.9952600000001</c:v>
                </c:pt>
                <c:pt idx="4">
                  <c:v>1225.0304699999995</c:v>
                </c:pt>
                <c:pt idx="5">
                  <c:v>1462.8764400000014</c:v>
                </c:pt>
                <c:pt idx="6">
                  <c:v>975.07749000000013</c:v>
                </c:pt>
                <c:pt idx="7">
                  <c:v>1193.2587399999998</c:v>
                </c:pt>
                <c:pt idx="8">
                  <c:v>1427.5768600000008</c:v>
                </c:pt>
                <c:pt idx="9">
                  <c:v>2124.3018899999997</c:v>
                </c:pt>
                <c:pt idx="10">
                  <c:v>1572.5669300000011</c:v>
                </c:pt>
                <c:pt idx="11">
                  <c:v>1112.8452599999996</c:v>
                </c:pt>
              </c:numCache>
            </c:numRef>
          </c:val>
          <c:smooth val="0"/>
          <c:extLst>
            <c:ext xmlns:c16="http://schemas.microsoft.com/office/drawing/2014/chart" uri="{C3380CC4-5D6E-409C-BE32-E72D297353CC}">
              <c16:uniqueId val="{00000001-E4E1-4CD0-80ED-498B35F78C07}"/>
            </c:ext>
          </c:extLst>
        </c:ser>
        <c:ser>
          <c:idx val="2"/>
          <c:order val="2"/>
          <c:tx>
            <c:v>FY24</c:v>
          </c:tx>
          <c:spPr>
            <a:ln w="28575" cap="rnd">
              <a:solidFill>
                <a:srgbClr val="1E49E2"/>
              </a:solidFill>
              <a:prstDash val="solid"/>
              <a:round/>
            </a:ln>
            <a:effectLst/>
          </c:spPr>
          <c:marker>
            <c:symbol val="none"/>
          </c:marker>
          <c:cat>
            <c:numRef>
              <c:f>'4. P&amp;L | Consolidated'!$P$6:$AA$6</c:f>
              <c:numCache>
                <c:formatCode>[$-409]mmm\-yy;@</c:formatCode>
                <c:ptCount val="12"/>
                <c:pt idx="0">
                  <c:v>44957</c:v>
                </c:pt>
                <c:pt idx="1">
                  <c:v>44985</c:v>
                </c:pt>
                <c:pt idx="2">
                  <c:v>45016</c:v>
                </c:pt>
                <c:pt idx="3">
                  <c:v>45046</c:v>
                </c:pt>
                <c:pt idx="4">
                  <c:v>45077</c:v>
                </c:pt>
                <c:pt idx="5">
                  <c:v>45107</c:v>
                </c:pt>
                <c:pt idx="6">
                  <c:v>45138</c:v>
                </c:pt>
                <c:pt idx="7">
                  <c:v>45169</c:v>
                </c:pt>
                <c:pt idx="8">
                  <c:v>45199</c:v>
                </c:pt>
                <c:pt idx="9">
                  <c:v>45230</c:v>
                </c:pt>
                <c:pt idx="10">
                  <c:v>45260</c:v>
                </c:pt>
                <c:pt idx="11">
                  <c:v>45291</c:v>
                </c:pt>
              </c:numCache>
            </c:numRef>
          </c:cat>
          <c:val>
            <c:numRef>
              <c:f>'4. P&amp;L | Consolidated'!$AB$11:$AM$11</c:f>
              <c:numCache>
                <c:formatCode>_(* #,##0_);_(* \(#,##0\);_(* "-"_);_(@_)</c:formatCode>
                <c:ptCount val="12"/>
                <c:pt idx="0">
                  <c:v>1360.5574300000001</c:v>
                </c:pt>
                <c:pt idx="1">
                  <c:v>1582.2439999999999</c:v>
                </c:pt>
                <c:pt idx="2">
                  <c:v>1623.6744999999999</c:v>
                </c:pt>
                <c:pt idx="3">
                  <c:v>932.65833999999938</c:v>
                </c:pt>
                <c:pt idx="4">
                  <c:v>1287.2716999999998</c:v>
                </c:pt>
                <c:pt idx="5">
                  <c:v>1043.5770000000002</c:v>
                </c:pt>
                <c:pt idx="6">
                  <c:v>1383.3529799999999</c:v>
                </c:pt>
                <c:pt idx="7">
                  <c:v>1076.3120100000008</c:v>
                </c:pt>
                <c:pt idx="8">
                  <c:v>1381.7971499999999</c:v>
                </c:pt>
                <c:pt idx="9">
                  <c:v>2906.9368899999999</c:v>
                </c:pt>
                <c:pt idx="10">
                  <c:v>1285.6125400000001</c:v>
                </c:pt>
                <c:pt idx="11">
                  <c:v>1012.64306</c:v>
                </c:pt>
              </c:numCache>
            </c:numRef>
          </c:val>
          <c:smooth val="0"/>
          <c:extLst>
            <c:ext xmlns:c16="http://schemas.microsoft.com/office/drawing/2014/chart" uri="{C3380CC4-5D6E-409C-BE32-E72D297353CC}">
              <c16:uniqueId val="{00000002-E4E1-4CD0-80ED-498B35F78C07}"/>
            </c:ext>
          </c:extLst>
        </c:ser>
        <c:dLbls>
          <c:showLegendKey val="0"/>
          <c:showVal val="0"/>
          <c:showCatName val="0"/>
          <c:showSerName val="0"/>
          <c:showPercent val="0"/>
          <c:showBubbleSize val="0"/>
        </c:dLbls>
        <c:smooth val="0"/>
        <c:axId val="1549985599"/>
        <c:axId val="686356719"/>
      </c:lineChart>
      <c:dateAx>
        <c:axId val="1549985599"/>
        <c:scaling>
          <c:orientation val="minMax"/>
        </c:scaling>
        <c:delete val="0"/>
        <c:axPos val="b"/>
        <c:numFmt formatCode="mmm;@" sourceLinked="0"/>
        <c:majorTickMark val="none"/>
        <c:minorTickMark val="none"/>
        <c:tickLblPos val="nextTo"/>
        <c:spPr>
          <a:noFill/>
          <a:ln w="9525" cap="flat" cmpd="sng" algn="ctr">
            <a:solidFill>
              <a:srgbClr val="B2B2B2"/>
            </a:solidFill>
            <a:prstDash val="solid"/>
            <a:round/>
          </a:ln>
          <a:effectLst/>
          <a:extLst>
            <a:ext uri="{909E8E84-426E-40DD-AFC4-6F175D3DCCD1}">
              <a14:hiddenFill xmlns:a14="http://schemas.microsoft.com/office/drawing/2010/main">
                <a:noFill/>
              </a14:hiddenFill>
            </a:ext>
          </a:extLst>
        </c:spPr>
        <c:txPr>
          <a:bodyPr rot="-6000000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crossAx val="686356719"/>
        <c:crosses val="autoZero"/>
        <c:auto val="1"/>
        <c:lblOffset val="100"/>
        <c:baseTimeUnit val="months"/>
      </c:dateAx>
      <c:valAx>
        <c:axId val="686356719"/>
        <c:scaling>
          <c:orientation val="minMax"/>
        </c:scaling>
        <c:delete val="0"/>
        <c:axPos val="l"/>
        <c:majorGridlines>
          <c:spPr>
            <a:ln w="9525" cap="flat" cmpd="sng" algn="ctr">
              <a:noFill/>
              <a:round/>
            </a:ln>
            <a:effectLst/>
            <a:extLst>
              <a:ext uri="{91240B29-F687-4F45-9708-019B960494DF}">
                <a14:hiddenLine xmlns:a14="http://schemas.microsoft.com/office/drawing/2010/main" w="9525" cap="flat" cmpd="sng" algn="ctr">
                  <a:solidFill>
                    <a:sysClr val="windowText" lastClr="000000">
                      <a:lumMod val="15000"/>
                      <a:lumOff val="85000"/>
                    </a:sysClr>
                  </a:solidFill>
                  <a:round/>
                </a14:hiddenLine>
              </a:ext>
            </a:extLst>
          </c:spPr>
        </c:majorGridlines>
        <c:title>
          <c:tx>
            <c:rich>
              <a:bodyPr rot="-5400000" spcFirstLastPara="1" vertOverflow="ellipsis" vert="horz" wrap="square" anchor="ctr" anchorCtr="1"/>
              <a:lstStyle/>
              <a:p>
                <a:pPr>
                  <a:defRPr sz="600" b="1" i="0" u="none" strike="noStrike" kern="1200" baseline="0">
                    <a:solidFill>
                      <a:srgbClr val="00338D"/>
                    </a:solidFill>
                    <a:latin typeface="Arial"/>
                    <a:ea typeface="Arial"/>
                    <a:cs typeface="Arial"/>
                  </a:defRPr>
                </a:pPr>
                <a:r>
                  <a:rPr lang="en-US" sz="600" dirty="0"/>
                  <a:t>$'000</a:t>
                </a:r>
              </a:p>
            </c:rich>
          </c:tx>
          <c:overlay val="0"/>
          <c:spPr>
            <a:noFill/>
            <a:ln>
              <a:noFill/>
            </a:ln>
            <a:effectLst/>
            <a:extLst>
              <a:ext uri="{909E8E84-426E-40DD-AFC4-6F175D3DCCD1}">
                <a14:hiddenFill xmlns:a14="http://schemas.microsoft.com/office/drawing/2010/main">
                  <a:solidFill>
                    <a:srgbClr val="FFFFFF">
                      <a:alpha val="0"/>
                    </a:srgbClr>
                  </a:solidFill>
                </a14:hiddenFill>
              </a:ext>
            </a:extLst>
          </c:spPr>
          <c:txPr>
            <a:bodyPr rot="-5400000" spcFirstLastPara="1" vertOverflow="ellipsis" vert="horz" wrap="square" anchor="ctr" anchorCtr="1"/>
            <a:lstStyle/>
            <a:p>
              <a:pPr>
                <a:defRPr sz="600" b="1" i="0" u="none" strike="noStrike" kern="1200" baseline="0">
                  <a:solidFill>
                    <a:srgbClr val="00338D"/>
                  </a:solidFill>
                  <a:latin typeface="Arial"/>
                  <a:ea typeface="Arial"/>
                  <a:cs typeface="Arial"/>
                </a:defRPr>
              </a:pPr>
              <a:endParaRPr lang="en-US"/>
            </a:p>
          </c:txPr>
        </c:title>
        <c:numFmt formatCode="_(* #,##0_);_(* \(#,##0\);_(* &quot;-&quot;_);_(@_)" sourceLinked="1"/>
        <c:majorTickMark val="none"/>
        <c:minorTickMark val="none"/>
        <c:tickLblPos val="nextTo"/>
        <c:spPr>
          <a:noFill/>
          <a:ln w="9525">
            <a:solidFill>
              <a:srgbClr val="B2B2B2"/>
            </a:solidFill>
            <a:prstDash val="solid"/>
          </a:ln>
          <a:effectLst/>
          <a:extLst>
            <a:ext uri="{909E8E84-426E-40DD-AFC4-6F175D3DCCD1}">
              <a14:hiddenFill xmlns:a14="http://schemas.microsoft.com/office/drawing/2010/main">
                <a:noFill/>
              </a14:hiddenFill>
            </a:ext>
          </a:extLst>
        </c:spPr>
        <c:txPr>
          <a:bodyPr rot="-60000000" spcFirstLastPara="1" vertOverflow="ellipsis" vert="horz" wrap="square" anchor="ctr" anchorCtr="1"/>
          <a:lstStyle/>
          <a:p>
            <a:pPr>
              <a:defRPr sz="600" b="0" i="0" u="none" strike="noStrike" kern="1200" baseline="0">
                <a:solidFill>
                  <a:srgbClr val="00338D"/>
                </a:solidFill>
                <a:latin typeface="Arial" panose="020B0604020202020204" pitchFamily="34" charset="0"/>
                <a:ea typeface="Arial"/>
                <a:cs typeface="Arial" panose="020B0604020202020204" pitchFamily="34" charset="0"/>
              </a:defRPr>
            </a:pPr>
            <a:endParaRPr lang="en-US"/>
          </a:p>
        </c:txPr>
        <c:crossAx val="1549985599"/>
        <c:crosses val="autoZero"/>
        <c:crossBetween val="between"/>
      </c:valAx>
      <c:spPr>
        <a:noFill/>
        <a:ln w="25400">
          <a:noFill/>
        </a:ln>
        <a:effectLst/>
      </c:spPr>
    </c:plotArea>
    <c:legend>
      <c:legendPos val="b"/>
      <c:layout>
        <c:manualLayout>
          <c:xMode val="edge"/>
          <c:yMode val="edge"/>
          <c:x val="0.33523250794110682"/>
          <c:y val="0.8149817716144282"/>
          <c:w val="0.33934579725151515"/>
          <c:h val="7.4025286132306953E-2"/>
        </c:manualLayout>
      </c:layout>
      <c:overlay val="0"/>
      <c:spPr>
        <a:noFill/>
        <a:ln>
          <a:noFill/>
        </a:ln>
        <a:effectLst/>
        <a:extLst>
          <a:ext uri="{909E8E84-426E-40DD-AFC4-6F175D3DCCD1}">
            <a14:hiddenFill xmlns:a14="http://schemas.microsoft.com/office/drawing/2010/main">
              <a:solidFill>
                <a:srgbClr val="FFFFFF">
                  <a:alpha val="0"/>
                </a:srgbClr>
              </a:solidFill>
            </a14:hiddenFill>
          </a:ext>
        </a:extLst>
      </c:spPr>
      <c:txPr>
        <a:bodyPr rot="0" spcFirstLastPara="1" vertOverflow="ellipsis" vert="horz" wrap="square" anchor="ctr" anchorCtr="1"/>
        <a:lstStyle/>
        <a:p>
          <a:pPr>
            <a:defRPr sz="600" b="0" i="0" u="none" strike="noStrike" kern="1200" baseline="0">
              <a:solidFill>
                <a:srgbClr val="00338D"/>
              </a:solidFill>
              <a:latin typeface="Arial"/>
              <a:ea typeface="Arial"/>
              <a:cs typeface="Arial"/>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5400" cap="flat" cmpd="sng" algn="ctr">
      <a:noFill/>
      <a:round/>
    </a:ln>
    <a:effectLst/>
  </c:spPr>
  <c:txPr>
    <a:bodyPr/>
    <a:lstStyle/>
    <a:p>
      <a:pPr>
        <a:defRPr sz="800">
          <a:latin typeface="Arial"/>
          <a:ea typeface="Arial"/>
          <a:cs typeface="Aria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0.01119</cdr:x>
      <cdr:y>0.01869</cdr:y>
    </cdr:from>
    <cdr:to>
      <cdr:x>0.01119</cdr:x>
      <cdr:y>0.01869</cdr:y>
    </cdr:to>
    <cdr:sp macro="" textlink="">
      <cdr:nvSpPr>
        <cdr:cNvPr id="2" name="#UpSlide#ChartHasBeenCopiedWithUpSlideActive#" hidden="1">
          <a:extLst xmlns:a="http://schemas.openxmlformats.org/drawingml/2006/main">
            <a:ext uri="{FF2B5EF4-FFF2-40B4-BE49-F238E27FC236}">
              <a16:creationId xmlns:a16="http://schemas.microsoft.com/office/drawing/2014/main" id="{4CBA552B-FC01-10AD-E265-207B18A7C287}"/>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dr:relSizeAnchor xmlns:cdr="http://schemas.openxmlformats.org/drawingml/2006/chartDrawing">
    <cdr:from>
      <cdr:x>0.01112</cdr:x>
      <cdr:y>0.01876</cdr:y>
    </cdr:from>
    <cdr:to>
      <cdr:x>0.01112</cdr:x>
      <cdr:y>0.01876</cdr:y>
    </cdr:to>
    <cdr:sp macro="" textlink="">
      <cdr:nvSpPr>
        <cdr:cNvPr id="3" name="UpSlideExportSave" hidden="1">
          <a:extLst xmlns:a="http://schemas.openxmlformats.org/drawingml/2006/main">
            <a:ext uri="{FF2B5EF4-FFF2-40B4-BE49-F238E27FC236}">
              <a16:creationId xmlns:a16="http://schemas.microsoft.com/office/drawing/2014/main" id="{7961C4D9-C2DF-29F0-DAE5-D970338A886F}"/>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0.01112</cdr:x>
      <cdr:y>0.01826</cdr:y>
    </cdr:from>
    <cdr:to>
      <cdr:x>0.01112</cdr:x>
      <cdr:y>0.01826</cdr:y>
    </cdr:to>
    <cdr:sp macro="" textlink="">
      <cdr:nvSpPr>
        <cdr:cNvPr id="2" name="#UpSlide#ChartHasBeenCopiedWithUpSlideActive#" hidden="1">
          <a:extLst xmlns:a="http://schemas.openxmlformats.org/drawingml/2006/main">
            <a:ext uri="{FF2B5EF4-FFF2-40B4-BE49-F238E27FC236}">
              <a16:creationId xmlns:a16="http://schemas.microsoft.com/office/drawing/2014/main" id="{DB07B159-E268-5CF8-404E-445FC7007599}"/>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dr:relSizeAnchor xmlns:cdr="http://schemas.openxmlformats.org/drawingml/2006/chartDrawing">
    <cdr:from>
      <cdr:x>0.01114</cdr:x>
      <cdr:y>0.01828</cdr:y>
    </cdr:from>
    <cdr:to>
      <cdr:x>0.01114</cdr:x>
      <cdr:y>0.01828</cdr:y>
    </cdr:to>
    <cdr:sp macro="" textlink="">
      <cdr:nvSpPr>
        <cdr:cNvPr id="3" name="UpSlideExportSave" hidden="1">
          <a:extLst xmlns:a="http://schemas.openxmlformats.org/drawingml/2006/main">
            <a:ext uri="{FF2B5EF4-FFF2-40B4-BE49-F238E27FC236}">
              <a16:creationId xmlns:a16="http://schemas.microsoft.com/office/drawing/2014/main" id="{8DE009C5-2390-AB87-6A96-254F32530249}"/>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0.01119</cdr:x>
      <cdr:y>0.01869</cdr:y>
    </cdr:from>
    <cdr:to>
      <cdr:x>0.01119</cdr:x>
      <cdr:y>0.01869</cdr:y>
    </cdr:to>
    <cdr:sp macro="" textlink="">
      <cdr:nvSpPr>
        <cdr:cNvPr id="2" name="#UpSlide#ChartHasBeenCopiedWithUpSlideActive#" hidden="1">
          <a:extLst xmlns:a="http://schemas.openxmlformats.org/drawingml/2006/main">
            <a:ext uri="{FF2B5EF4-FFF2-40B4-BE49-F238E27FC236}">
              <a16:creationId xmlns:a16="http://schemas.microsoft.com/office/drawing/2014/main" id="{4E187227-F242-8A44-EF49-7898358F51D0}"/>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dr:relSizeAnchor xmlns:cdr="http://schemas.openxmlformats.org/drawingml/2006/chartDrawing">
    <cdr:from>
      <cdr:x>0.01119</cdr:x>
      <cdr:y>0.0187</cdr:y>
    </cdr:from>
    <cdr:to>
      <cdr:x>0.01119</cdr:x>
      <cdr:y>0.0187</cdr:y>
    </cdr:to>
    <cdr:sp macro="" textlink="">
      <cdr:nvSpPr>
        <cdr:cNvPr id="3" name="UpSlideExportSave" hidden="1">
          <a:extLst xmlns:a="http://schemas.openxmlformats.org/drawingml/2006/main">
            <a:ext uri="{FF2B5EF4-FFF2-40B4-BE49-F238E27FC236}">
              <a16:creationId xmlns:a16="http://schemas.microsoft.com/office/drawing/2014/main" id="{535C3DCA-952D-2FFA-96B9-02215B76C180}"/>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GB" dirty="0">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9BABA84C-EC3E-4598-9C4D-8CE1D2A956F5}" type="datetimeFigureOut">
              <a:rPr lang="en-GB" smtClean="0">
                <a:latin typeface="Arial" panose="020B0604020202020204" pitchFamily="34" charset="0"/>
              </a:rPr>
              <a:t>12/01/2026</a:t>
            </a:fld>
            <a:endParaRPr lang="en-GB" dirty="0">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GB" dirty="0">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90C0F9D0-9E03-483D-AC3B-FCB5CBA393CA}"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atin typeface="Arial" panose="020B0604020202020204" pitchFamily="34" charset="0"/>
              </a:defRPr>
            </a:lvl1pPr>
          </a:lstStyle>
          <a:p>
            <a:fld id="{3C57A4BF-14E0-48E2-B42F-B29D277000AB}" type="datetimeFigureOut">
              <a:rPr lang="en-GB" smtClean="0"/>
              <a:pPr/>
              <a:t>12/01/2026</a:t>
            </a:fld>
            <a:endParaRPr lang="en-GB"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GB"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atin typeface="Arial" panose="020B0604020202020204" pitchFamily="34" charset="0"/>
              </a:defRPr>
            </a:lvl1pPr>
          </a:lstStyle>
          <a:p>
            <a:fld id="{9B5D948F-A673-4DC7-A0E9-FA274EAF3634}" type="slidenum">
              <a:rPr lang="en-GB" smtClean="0"/>
              <a:pPr/>
              <a:t>‹#›</a:t>
            </a:fld>
            <a:endParaRPr lang="en-GB" dirty="0"/>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0</a:t>
            </a:fld>
            <a:endParaRPr lang="en-GB" dirty="0"/>
          </a:p>
        </p:txBody>
      </p:sp>
    </p:spTree>
    <p:extLst>
      <p:ext uri="{BB962C8B-B14F-4D97-AF65-F5344CB8AC3E}">
        <p14:creationId xmlns:p14="http://schemas.microsoft.com/office/powerpoint/2010/main" val="630812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15</a:t>
            </a:fld>
            <a:endParaRPr lang="en-GB" dirty="0"/>
          </a:p>
        </p:txBody>
      </p:sp>
    </p:spTree>
    <p:extLst>
      <p:ext uri="{BB962C8B-B14F-4D97-AF65-F5344CB8AC3E}">
        <p14:creationId xmlns:p14="http://schemas.microsoft.com/office/powerpoint/2010/main" val="4084628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16</a:t>
            </a:fld>
            <a:endParaRPr lang="en-GB" dirty="0"/>
          </a:p>
        </p:txBody>
      </p:sp>
    </p:spTree>
    <p:extLst>
      <p:ext uri="{BB962C8B-B14F-4D97-AF65-F5344CB8AC3E}">
        <p14:creationId xmlns:p14="http://schemas.microsoft.com/office/powerpoint/2010/main" val="1543395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41</a:t>
            </a:fld>
            <a:endParaRPr lang="en-GB" dirty="0"/>
          </a:p>
        </p:txBody>
      </p:sp>
    </p:spTree>
    <p:extLst>
      <p:ext uri="{BB962C8B-B14F-4D97-AF65-F5344CB8AC3E}">
        <p14:creationId xmlns:p14="http://schemas.microsoft.com/office/powerpoint/2010/main" val="405622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42</a:t>
            </a:fld>
            <a:endParaRPr lang="en-GB" dirty="0"/>
          </a:p>
        </p:txBody>
      </p:sp>
    </p:spTree>
    <p:extLst>
      <p:ext uri="{BB962C8B-B14F-4D97-AF65-F5344CB8AC3E}">
        <p14:creationId xmlns:p14="http://schemas.microsoft.com/office/powerpoint/2010/main" val="824080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60</a:t>
            </a:fld>
            <a:endParaRPr lang="en-GB" dirty="0"/>
          </a:p>
        </p:txBody>
      </p:sp>
    </p:spTree>
    <p:extLst>
      <p:ext uri="{BB962C8B-B14F-4D97-AF65-F5344CB8AC3E}">
        <p14:creationId xmlns:p14="http://schemas.microsoft.com/office/powerpoint/2010/main" val="3532968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AF651-7FC4-1707-D4A6-BCC6A2F74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E239B-8FF9-65B3-E2E8-E227150C4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E59FB-C45F-EBD7-7C6A-4EBF4E69A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A8BC5-A43B-4EEA-04F6-CEC7F1A346FA}"/>
              </a:ext>
            </a:extLst>
          </p:cNvPr>
          <p:cNvSpPr>
            <a:spLocks noGrp="1"/>
          </p:cNvSpPr>
          <p:nvPr>
            <p:ph type="sldNum" sz="quarter" idx="5"/>
          </p:nvPr>
        </p:nvSpPr>
        <p:spPr/>
        <p:txBody>
          <a:bodyPr/>
          <a:lstStyle/>
          <a:p>
            <a:fld id="{9B5D948F-A673-4DC7-A0E9-FA274EAF3634}" type="slidenum">
              <a:rPr lang="en-GB" smtClean="0"/>
              <a:pPr/>
              <a:t>61</a:t>
            </a:fld>
            <a:endParaRPr lang="en-GB" dirty="0"/>
          </a:p>
        </p:txBody>
      </p:sp>
    </p:spTree>
    <p:extLst>
      <p:ext uri="{BB962C8B-B14F-4D97-AF65-F5344CB8AC3E}">
        <p14:creationId xmlns:p14="http://schemas.microsoft.com/office/powerpoint/2010/main" val="23320952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4.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s/slide4.xml"/><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s/slide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s/slide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s/slide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s/slide4.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hyperlink" Target="http://www.kpmg.com/socialmedia" TargetMode="External"/><Relationship Id="rId4" Type="http://schemas.openxmlformats.org/officeDocument/2006/relationships/image" Target="../media/image7.svg"/><Relationship Id="rId9"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hyperlink" Target="http://www.kpmg.com/socialmedia" TargetMode="External"/><Relationship Id="rId4" Type="http://schemas.openxmlformats.org/officeDocument/2006/relationships/image" Target="../media/image5.svg"/><Relationship Id="rId9"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8.svg"/><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7.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8.svg"/><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7.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8.sv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9.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xml"/><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7.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8.sv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png"/><Relationship Id="rId5" Type="http://schemas.openxmlformats.org/officeDocument/2006/relationships/slide" Target="../slides/slide52.xml"/><Relationship Id="rId4" Type="http://schemas.openxmlformats.org/officeDocument/2006/relationships/image" Target="../media/image17.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s/slide5.xml"/><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8.sv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1.png"/><Relationship Id="rId5" Type="http://schemas.openxmlformats.org/officeDocument/2006/relationships/slide" Target="../slides/slide5.xml"/><Relationship Id="rId4" Type="http://schemas.openxmlformats.org/officeDocument/2006/relationships/image" Target="../media/image17.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slideMaster" Target="../slideMasters/slideMaster2.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tags" Target="../tags/tag33.xml"/><Relationship Id="rId2" Type="http://schemas.openxmlformats.org/officeDocument/2006/relationships/tags" Target="../tags/tag23.xml"/><Relationship Id="rId16" Type="http://schemas.openxmlformats.org/officeDocument/2006/relationships/image" Target="../media/image2.sv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image" Target="../media/image1.png"/><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slide" Target="../slides/slide4.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slideMaster" Target="../slideMasters/slideMaster2.xml"/><Relationship Id="rId5" Type="http://schemas.openxmlformats.org/officeDocument/2006/relationships/tags" Target="../tags/tag38.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s>
</file>

<file path=ppt/slideLayouts/_rels/slideLayout53.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image" Target="../media/image7.sv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6.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slideMaster" Target="../slideMasters/slideMaster2.xml"/><Relationship Id="rId5" Type="http://schemas.openxmlformats.org/officeDocument/2006/relationships/tags" Target="../tags/tag4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tags" Target="../tags/tag54.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pic>
        <p:nvPicPr>
          <p:cNvPr id="5" name="Picture 4" descr="A close-up of a blue and white object">
            <a:extLst>
              <a:ext uri="{FF2B5EF4-FFF2-40B4-BE49-F238E27FC236}">
                <a16:creationId xmlns:a16="http://schemas.microsoft.com/office/drawing/2014/main" id="{861C95B1-1133-E90D-1722-5B35175442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156"/>
            <a:ext cx="12199162" cy="6865156"/>
          </a:xfrm>
          <a:prstGeom prst="rect">
            <a:avLst/>
          </a:prstGeom>
        </p:spPr>
      </p:pic>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no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tx2"/>
                </a:solidFill>
              </a:defRPr>
            </a:lvl1pPr>
            <a:lvl2pPr>
              <a:defRPr sz="1400">
                <a:solidFill>
                  <a:schemeClr val="tx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dirty="0"/>
              <a:t>Click icon to add picture</a:t>
            </a:r>
            <a:endParaRPr lang="en-GB" dirty="0"/>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dirty="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dirty="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rgbClr val="B2B2B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dirty="0">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18" name="Graphic 17" descr="Home">
            <a:hlinkClick r:id="rId4"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EF5C99B-E164-CD53-9033-C5EA3AD08C84}"/>
              </a:ext>
              <a:ext uri="{C183D7F6-B498-43B3-948B-1728B52AA6E4}">
                <adec:decorative xmlns:adec="http://schemas.microsoft.com/office/drawing/2017/decorative" val="1"/>
              </a:ext>
            </a:extLst>
          </p:cNvPr>
          <p:cNvSpPr txBox="1">
            <a:spLocks/>
          </p:cNvSpPr>
          <p:nvPr userDrawn="1">
            <p:custDataLst>
              <p:tags r:id="rId2"/>
            </p:custDataLst>
          </p:nvPr>
        </p:nvSpPr>
        <p:spPr>
          <a:xfrm>
            <a:off x="1885683" y="6266997"/>
            <a:ext cx="667385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FFFFFF">
                    <a:lumMod val="65000"/>
                  </a:srgbClr>
                </a:solidFill>
                <a:effectLst/>
                <a:uLnTx/>
                <a:uFillTx/>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75366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53BAAFA-7E49-83F3-0EFF-591964C65BE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chemeClr val="bg1"/>
                </a:solidFill>
                <a:effectLst/>
                <a:uLnTx/>
                <a:uFillTx/>
                <a:latin typeface="Arial"/>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dirty="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9" name="TextBox 8">
            <a:extLst>
              <a:ext uri="{FF2B5EF4-FFF2-40B4-BE49-F238E27FC236}">
                <a16:creationId xmlns:a16="http://schemas.microsoft.com/office/drawing/2014/main" id="{F37B4772-7DD3-0AFE-11F9-41E7BBF81C8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47634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AF10678F-DB28-521E-F53F-A43C52BE2668}"/>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2CF1EFC8-B7BC-89EC-0292-A48B3004715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9937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1335B5E5-10B7-D2DD-2E94-6445FC8E8B2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5358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dirty="0"/>
              <a:t>Click icon to add chart</a:t>
            </a:r>
            <a:endParaRPr lang="en-GB" dirty="0"/>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dirty="0"/>
              <a:t>Click icon to add chart</a:t>
            </a:r>
            <a:endParaRPr lang="en-GB" dirty="0"/>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dirty="0"/>
              <a:t>Click icon to add chart</a:t>
            </a:r>
            <a:endParaRPr lang="en-GB" dirty="0"/>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dirty="0"/>
              <a:t>Click icon to add chart</a:t>
            </a:r>
            <a:endParaRPr lang="en-GB" dirty="0"/>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dirty="0"/>
              <a:t>Click icon to add chart</a:t>
            </a:r>
            <a:endParaRPr lang="en-GB" dirty="0"/>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49912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C13A0519-80AF-706A-5E63-C3A2F21D28D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083640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dirty="0">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7" name="TextBox 6">
            <a:extLst>
              <a:ext uri="{FF2B5EF4-FFF2-40B4-BE49-F238E27FC236}">
                <a16:creationId xmlns:a16="http://schemas.microsoft.com/office/drawing/2014/main" id="{32298E8B-4DC6-8F11-E51A-3BE4FE71F13D}"/>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2023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915505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dirty="0"/>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dirty="0"/>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dirty="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dirty="0"/>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dirty="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dirty="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1020133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35385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4101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dirty="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dirty="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dirty="0">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C82DF-29F9-95C5-18EA-18D6195399BF}"/>
              </a:ext>
            </a:extLst>
          </p:cNvPr>
          <p:cNvPicPr>
            <a:picLocks noChangeAspect="1"/>
          </p:cNvPicPr>
          <p:nvPr userDrawn="1"/>
        </p:nvPicPr>
        <p:blipFill>
          <a:blip r:embed="rId2"/>
          <a:stretch>
            <a:fillRect/>
          </a:stretch>
        </p:blipFill>
        <p:spPr>
          <a:xfrm>
            <a:off x="855784" y="119632"/>
            <a:ext cx="1259272" cy="930232"/>
          </a:xfrm>
          <a:prstGeom prst="rect">
            <a:avLst/>
          </a:prstGeom>
        </p:spPr>
      </p:pic>
      <p:sp>
        <p:nvSpPr>
          <p:cNvPr id="7" name="Text Placeholder 6">
            <a:extLst>
              <a:ext uri="{FF2B5EF4-FFF2-40B4-BE49-F238E27FC236}">
                <a16:creationId xmlns:a16="http://schemas.microsoft.com/office/drawing/2014/main" id="{C93531CD-B4BD-CAF1-877F-6A4CCE0EE125}"/>
              </a:ext>
            </a:extLst>
          </p:cNvPr>
          <p:cNvSpPr>
            <a:spLocks noGrp="1"/>
          </p:cNvSpPr>
          <p:nvPr>
            <p:ph type="body" sz="quarter" idx="11"/>
          </p:nvPr>
        </p:nvSpPr>
        <p:spPr>
          <a:xfrm>
            <a:off x="10032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448612AF-B2C2-EF49-4193-7D1D4CC99946}"/>
              </a:ext>
            </a:extLst>
          </p:cNvPr>
          <p:cNvSpPr>
            <a:spLocks noGrp="1"/>
          </p:cNvSpPr>
          <p:nvPr>
            <p:ph type="body" sz="quarter" idx="12"/>
          </p:nvPr>
        </p:nvSpPr>
        <p:spPr>
          <a:xfrm>
            <a:off x="62208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23A7D421-36D1-93BD-8032-3A460A87E51F}"/>
              </a:ext>
            </a:extLst>
          </p:cNvPr>
          <p:cNvSpPr txBox="1">
            <a:spLocks/>
          </p:cNvSpPr>
          <p:nvPr userDrawn="1"/>
        </p:nvSpPr>
        <p:spPr>
          <a:xfrm>
            <a:off x="8750300" y="431800"/>
            <a:ext cx="2449007" cy="720197"/>
          </a:xfrm>
          <a:prstGeom prst="rect">
            <a:avLst/>
          </a:prstGeom>
        </p:spPr>
        <p:txBody>
          <a:bodyPr vert="horz" wrap="square" lIns="0" tIns="0" rIns="0" bIns="0" rtlCol="0" anchor="t" anchorCtr="0">
            <a:noAutofit/>
          </a:bodyPr>
          <a:lstStyle/>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1" i="0" u="none" strike="noStrike" kern="0" cap="none" spc="0" normalizeH="0" baseline="0" noProof="0" dirty="0">
                <a:ln>
                  <a:noFill/>
                </a:ln>
                <a:solidFill>
                  <a:srgbClr val="00338D"/>
                </a:solidFill>
                <a:effectLst/>
                <a:uLnTx/>
                <a:uFillTx/>
                <a:cs typeface="Arial" panose="020B0604020202020204" pitchFamily="34" charset="0"/>
              </a:rPr>
              <a:t>KPMG LLP</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dirty="0">
                <a:ln>
                  <a:noFill/>
                </a:ln>
                <a:solidFill>
                  <a:srgbClr val="00338D"/>
                </a:solidFill>
                <a:effectLst/>
                <a:uLnTx/>
                <a:uFillTx/>
                <a:cs typeface="Arial" panose="020B0604020202020204" pitchFamily="34" charset="0"/>
              </a:rPr>
              <a:t>777 Dunsmuir Street</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dirty="0">
                <a:ln>
                  <a:noFill/>
                </a:ln>
                <a:solidFill>
                  <a:srgbClr val="00338D"/>
                </a:solidFill>
                <a:effectLst/>
                <a:uLnTx/>
                <a:uFillTx/>
                <a:cs typeface="Arial" panose="020B0604020202020204" pitchFamily="34" charset="0"/>
              </a:rPr>
              <a:t>Vancouver BC V7Y 1K3</a:t>
            </a:r>
          </a:p>
          <a:p>
            <a:pPr marL="0" marR="0" lvl="0" indent="0" algn="r" defTabSz="914400" eaLnBrk="1" fontAlgn="auto" latinLnBrk="0" hangingPunct="0">
              <a:lnSpc>
                <a:spcPct val="100000"/>
              </a:lnSpc>
              <a:spcBef>
                <a:spcPts val="0"/>
              </a:spcBef>
              <a:spcAft>
                <a:spcPts val="0"/>
              </a:spcAft>
              <a:buClrTx/>
              <a:buSzTx/>
              <a:buFontTx/>
              <a:buNone/>
              <a:tabLst/>
              <a:defRPr/>
            </a:pPr>
            <a:r>
              <a:rPr kumimoji="0" lang="nl-NL" sz="800" b="0" i="0" u="none" strike="noStrike" kern="0" cap="none" spc="0" normalizeH="0" baseline="0" noProof="0" dirty="0">
                <a:ln>
                  <a:noFill/>
                </a:ln>
                <a:solidFill>
                  <a:srgbClr val="00338D"/>
                </a:solidFill>
                <a:effectLst/>
                <a:uLnTx/>
                <a:uFillTx/>
                <a:cs typeface="Arial" panose="020B0604020202020204" pitchFamily="34" charset="0"/>
              </a:rPr>
              <a:t>Canada</a:t>
            </a:r>
          </a:p>
          <a:p>
            <a:pPr algn="r">
              <a:spcAft>
                <a:spcPts val="600"/>
              </a:spcAft>
            </a:pPr>
            <a:endParaRPr lang="en-US" sz="1500" b="1" dirty="0">
              <a:solidFill>
                <a:schemeClr val="tx2"/>
              </a:solidFill>
            </a:endParaRPr>
          </a:p>
        </p:txBody>
      </p:sp>
    </p:spTree>
    <p:extLst>
      <p:ext uri="{BB962C8B-B14F-4D97-AF65-F5344CB8AC3E}">
        <p14:creationId xmlns:p14="http://schemas.microsoft.com/office/powerpoint/2010/main" val="3450072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Analysis_narrow table+2 col 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1511380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003584"/>
            <a:ext cx="3132000" cy="3864416"/>
          </a:xfrm>
        </p:spPr>
        <p:txBody>
          <a:bodyPr lIns="72000" tIns="36000" rIns="0" bIns="0"/>
          <a:lstStyle>
            <a:lvl1pPr>
              <a:defRPr/>
            </a:lvl1pPr>
          </a:lstStyle>
          <a:p>
            <a:r>
              <a:rPr lang="en-US" sz="1000"/>
              <a:t>Add text here</a:t>
            </a:r>
          </a:p>
          <a:p>
            <a:pPr lvl="1"/>
            <a:endParaRPr lang="en-IN"/>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67813" y="2003584"/>
            <a:ext cx="3132000" cy="3864416"/>
          </a:xfrm>
        </p:spPr>
        <p:txBody>
          <a:bodyPr lIns="72000" tIns="36000" rIns="0" bIns="0"/>
          <a:lstStyle>
            <a:lvl1pPr>
              <a:defRPr/>
            </a:lvl1pPr>
          </a:lstStyle>
          <a:p>
            <a:r>
              <a:rPr lang="en-US" sz="1000"/>
              <a:t>Add text here</a:t>
            </a:r>
          </a:p>
          <a:p>
            <a:pPr lvl="1"/>
            <a:endParaRPr lang="en-IN"/>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1179513"/>
            <a:ext cx="2475728" cy="460800"/>
          </a:xfrm>
        </p:spPr>
        <p:txBody>
          <a:bodyPr lIns="72000"/>
          <a:lstStyle>
            <a:lvl1pPr>
              <a:defRPr sz="1000" b="1">
                <a:solidFill>
                  <a:schemeClr val="tx2"/>
                </a:solidFill>
              </a:defRPr>
            </a:lvl1pPr>
          </a:lstStyle>
          <a:p>
            <a:r>
              <a:rPr lang="fi-FI"/>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751584"/>
            <a:ext cx="3690499" cy="4116416"/>
          </a:xfrm>
        </p:spPr>
        <p:txBody>
          <a:bodyPr lIns="72000" tIns="36000" rIns="0"/>
          <a:lstStyle>
            <a:lvl1pPr>
              <a:defRPr sz="1000" b="1">
                <a:solidFill>
                  <a:schemeClr val="tx2"/>
                </a:solidFill>
              </a:defRPr>
            </a:lvl1pPr>
          </a:lstStyle>
          <a:p>
            <a:r>
              <a:rPr lang="fi-FI"/>
              <a:t>Add table here</a:t>
            </a:r>
          </a:p>
        </p:txBody>
      </p:sp>
    </p:spTree>
    <p:extLst>
      <p:ext uri="{BB962C8B-B14F-4D97-AF65-F5344CB8AC3E}">
        <p14:creationId xmlns:p14="http://schemas.microsoft.com/office/powerpoint/2010/main" val="32308150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Analysis_50-50 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5154719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3" name="Table Placeholder 45">
            <a:extLst>
              <a:ext uri="{FF2B5EF4-FFF2-40B4-BE49-F238E27FC236}">
                <a16:creationId xmlns:a16="http://schemas.microsoft.com/office/drawing/2014/main" id="{C3004401-EE3C-649E-6353-B9164F1C4C80}"/>
              </a:ext>
            </a:extLst>
          </p:cNvPr>
          <p:cNvSpPr>
            <a:spLocks noGrp="1"/>
          </p:cNvSpPr>
          <p:nvPr>
            <p:ph type="tbl" sz="quarter" idx="13" hasCustomPrompt="1"/>
          </p:nvPr>
        </p:nvSpPr>
        <p:spPr>
          <a:xfrm>
            <a:off x="995361" y="1751584"/>
            <a:ext cx="5036400" cy="4117371"/>
          </a:xfrm>
        </p:spPr>
        <p:txBody>
          <a:bodyPr lIns="72000" tIns="36000" rIns="0"/>
          <a:lstStyle>
            <a:lvl1pPr>
              <a:defRPr sz="1000" b="1">
                <a:solidFill>
                  <a:schemeClr val="tx2"/>
                </a:solidFill>
              </a:defRPr>
            </a:lvl1pPr>
          </a:lstStyle>
          <a:p>
            <a:r>
              <a:rPr lang="fi-FI"/>
              <a:t>Add table here</a:t>
            </a:r>
          </a:p>
        </p:txBody>
      </p:sp>
      <p:sp>
        <p:nvSpPr>
          <p:cNvPr id="8" name="Text Placeholder 25">
            <a:extLst>
              <a:ext uri="{FF2B5EF4-FFF2-40B4-BE49-F238E27FC236}">
                <a16:creationId xmlns:a16="http://schemas.microsoft.com/office/drawing/2014/main" id="{AB752ACB-3E96-1341-39F5-971D5B64FD77}"/>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Chart Placeholder 43">
            <a:extLst>
              <a:ext uri="{FF2B5EF4-FFF2-40B4-BE49-F238E27FC236}">
                <a16:creationId xmlns:a16="http://schemas.microsoft.com/office/drawing/2014/main" id="{DC74134E-DCDE-CA54-AD79-94C972C11A63}"/>
              </a:ext>
            </a:extLst>
          </p:cNvPr>
          <p:cNvSpPr>
            <a:spLocks noGrp="1"/>
          </p:cNvSpPr>
          <p:nvPr>
            <p:ph type="chart" sz="quarter" idx="12" hasCustomPrompt="1"/>
          </p:nvPr>
        </p:nvSpPr>
        <p:spPr>
          <a:xfrm>
            <a:off x="8717873" y="1179513"/>
            <a:ext cx="2475728" cy="460800"/>
          </a:xfrm>
        </p:spPr>
        <p:txBody>
          <a:bodyPr lIns="72000"/>
          <a:lstStyle>
            <a:lvl1pPr>
              <a:defRPr sz="1000" b="1">
                <a:solidFill>
                  <a:schemeClr val="tx2"/>
                </a:solidFill>
              </a:defRPr>
            </a:lvl1pPr>
          </a:lstStyle>
          <a:p>
            <a:r>
              <a:rPr lang="fi-FI"/>
              <a:t>Add summary chart here</a:t>
            </a:r>
          </a:p>
        </p:txBody>
      </p:sp>
      <p:sp>
        <p:nvSpPr>
          <p:cNvPr id="11" name="Text Placeholder 11">
            <a:extLst>
              <a:ext uri="{FF2B5EF4-FFF2-40B4-BE49-F238E27FC236}">
                <a16:creationId xmlns:a16="http://schemas.microsoft.com/office/drawing/2014/main" id="{033A2A19-A8FA-B04D-7F28-5972152079F8}"/>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ext Placeholder 6">
            <a:extLst>
              <a:ext uri="{FF2B5EF4-FFF2-40B4-BE49-F238E27FC236}">
                <a16:creationId xmlns:a16="http://schemas.microsoft.com/office/drawing/2014/main" id="{5E80CC73-917A-B304-6925-C4C619159D0F}"/>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450918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Key findings_2 per page">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072AD4A3-852F-4232-9DB2-52ADC9162D7A}"/>
              </a:ext>
            </a:extLst>
          </p:cNvPr>
          <p:cNvGraphicFramePr>
            <a:graphicFrameLocks noChangeAspect="1"/>
          </p:cNvGraphicFramePr>
          <p:nvPr userDrawn="1">
            <p:custDataLst>
              <p:tags r:id="rId1"/>
            </p:custDataLst>
            <p:extLst>
              <p:ext uri="{D42A27DB-BD31-4B8C-83A1-F6EECF244321}">
                <p14:modId xmlns:p14="http://schemas.microsoft.com/office/powerpoint/2010/main" val="2162013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2" name="Object 11" hidden="1">
                        <a:extLst>
                          <a:ext uri="{FF2B5EF4-FFF2-40B4-BE49-F238E27FC236}">
                            <a16:creationId xmlns:a16="http://schemas.microsoft.com/office/drawing/2014/main" id="{072AD4A3-852F-4232-9DB2-52ADC9162D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431514"/>
            <a:ext cx="50364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160243" y="1431514"/>
            <a:ext cx="5036400" cy="1720476"/>
          </a:xfrm>
        </p:spPr>
        <p:txBody>
          <a:bodyPr lIns="72000" tIns="36000" rIns="0" bIns="0"/>
          <a:lstStyle>
            <a:lvl1pPr>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fi-FI"/>
              <a:t>Insert table or chart here</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7" name="Text Placeholder 6">
            <a:extLst>
              <a:ext uri="{FF2B5EF4-FFF2-40B4-BE49-F238E27FC236}">
                <a16:creationId xmlns:a16="http://schemas.microsoft.com/office/drawing/2014/main" id="{3A753287-E89B-8500-867B-5B448555E895}"/>
              </a:ext>
            </a:extLst>
          </p:cNvPr>
          <p:cNvSpPr>
            <a:spLocks noGrp="1"/>
          </p:cNvSpPr>
          <p:nvPr>
            <p:ph type="body" sz="quarter" idx="23" hasCustomPrompt="1"/>
          </p:nvPr>
        </p:nvSpPr>
        <p:spPr>
          <a:xfrm>
            <a:off x="995359"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6">
            <a:extLst>
              <a:ext uri="{FF2B5EF4-FFF2-40B4-BE49-F238E27FC236}">
                <a16:creationId xmlns:a16="http://schemas.microsoft.com/office/drawing/2014/main" id="{B222B5FE-0300-89DA-80FA-10373F456EBE}"/>
              </a:ext>
            </a:extLst>
          </p:cNvPr>
          <p:cNvSpPr>
            <a:spLocks noGrp="1"/>
          </p:cNvSpPr>
          <p:nvPr>
            <p:ph type="body" sz="quarter" idx="24" hasCustomPrompt="1"/>
          </p:nvPr>
        </p:nvSpPr>
        <p:spPr>
          <a:xfrm>
            <a:off x="6160243"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25">
            <a:extLst>
              <a:ext uri="{FF2B5EF4-FFF2-40B4-BE49-F238E27FC236}">
                <a16:creationId xmlns:a16="http://schemas.microsoft.com/office/drawing/2014/main" id="{921F3564-406E-3EF5-3740-DBE48C9094BA}"/>
              </a:ext>
            </a:extLst>
          </p:cNvPr>
          <p:cNvSpPr>
            <a:spLocks noGrp="1"/>
          </p:cNvSpPr>
          <p:nvPr>
            <p:ph type="body" sz="quarter" idx="11" hasCustomPrompt="1"/>
          </p:nvPr>
        </p:nvSpPr>
        <p:spPr>
          <a:xfrm>
            <a:off x="6160243"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6" name="Text Placeholder 25">
            <a:extLst>
              <a:ext uri="{FF2B5EF4-FFF2-40B4-BE49-F238E27FC236}">
                <a16:creationId xmlns:a16="http://schemas.microsoft.com/office/drawing/2014/main" id="{8EC32F77-3BB3-65CD-9316-211F3E4016DC}"/>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 name="Text Placeholder 8">
            <a:extLst>
              <a:ext uri="{FF2B5EF4-FFF2-40B4-BE49-F238E27FC236}">
                <a16:creationId xmlns:a16="http://schemas.microsoft.com/office/drawing/2014/main" id="{2D56E2A5-4876-0C93-89D7-7C6809212D2E}"/>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 </a:t>
            </a:r>
          </a:p>
        </p:txBody>
      </p:sp>
      <p:sp>
        <p:nvSpPr>
          <p:cNvPr id="4" name="Text Placeholder 8">
            <a:extLst>
              <a:ext uri="{FF2B5EF4-FFF2-40B4-BE49-F238E27FC236}">
                <a16:creationId xmlns:a16="http://schemas.microsoft.com/office/drawing/2014/main" id="{1828462E-0366-0E0E-9D4F-6DD2F5BD340D}"/>
              </a:ext>
            </a:extLst>
          </p:cNvPr>
          <p:cNvSpPr>
            <a:spLocks noGrp="1"/>
          </p:cNvSpPr>
          <p:nvPr>
            <p:ph type="body" sz="quarter" idx="56" hasCustomPrompt="1"/>
          </p:nvPr>
        </p:nvSpPr>
        <p:spPr>
          <a:xfrm>
            <a:off x="6160243" y="5199303"/>
            <a:ext cx="4598986"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9" name="Text Placeholder 11">
            <a:extLst>
              <a:ext uri="{FF2B5EF4-FFF2-40B4-BE49-F238E27FC236}">
                <a16:creationId xmlns:a16="http://schemas.microsoft.com/office/drawing/2014/main" id="{D84AB1C2-6CA0-3C6D-C22D-D8A4EE34819C}"/>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0" name="Text Placeholder 11">
            <a:extLst>
              <a:ext uri="{FF2B5EF4-FFF2-40B4-BE49-F238E27FC236}">
                <a16:creationId xmlns:a16="http://schemas.microsoft.com/office/drawing/2014/main" id="{D1BE9810-3FEB-8052-539E-CBB1F5703B90}"/>
              </a:ext>
            </a:extLst>
          </p:cNvPr>
          <p:cNvSpPr>
            <a:spLocks noGrp="1"/>
          </p:cNvSpPr>
          <p:nvPr>
            <p:ph type="body" sz="quarter" idx="55" hasCustomPrompt="1"/>
          </p:nvPr>
        </p:nvSpPr>
        <p:spPr>
          <a:xfrm>
            <a:off x="1075922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Tree>
    <p:extLst>
      <p:ext uri="{BB962C8B-B14F-4D97-AF65-F5344CB8AC3E}">
        <p14:creationId xmlns:p14="http://schemas.microsoft.com/office/powerpoint/2010/main" val="336960941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Key findings_2 per page_text only">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C48675D7-6079-FC69-CF9F-EA8E989361A1}"/>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 </a:t>
            </a:r>
          </a:p>
        </p:txBody>
      </p:sp>
      <p:sp>
        <p:nvSpPr>
          <p:cNvPr id="13" name="Text Placeholder 8">
            <a:extLst>
              <a:ext uri="{FF2B5EF4-FFF2-40B4-BE49-F238E27FC236}">
                <a16:creationId xmlns:a16="http://schemas.microsoft.com/office/drawing/2014/main" id="{944F043F-D4C7-2653-D3BF-77B6764CE575}"/>
              </a:ext>
            </a:extLst>
          </p:cNvPr>
          <p:cNvSpPr>
            <a:spLocks noGrp="1"/>
          </p:cNvSpPr>
          <p:nvPr>
            <p:ph type="body" sz="quarter" idx="56" hasCustomPrompt="1"/>
          </p:nvPr>
        </p:nvSpPr>
        <p:spPr>
          <a:xfrm>
            <a:off x="6161606"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5" name="Text Placeholder 6">
            <a:extLst>
              <a:ext uri="{FF2B5EF4-FFF2-40B4-BE49-F238E27FC236}">
                <a16:creationId xmlns:a16="http://schemas.microsoft.com/office/drawing/2014/main" id="{B2EB0A83-0AFB-AFC6-6AE4-69CA3B98BE65}"/>
              </a:ext>
            </a:extLst>
          </p:cNvPr>
          <p:cNvSpPr>
            <a:spLocks noGrp="1"/>
          </p:cNvSpPr>
          <p:nvPr>
            <p:ph type="body" sz="quarter" idx="23" hasCustomPrompt="1"/>
          </p:nvPr>
        </p:nvSpPr>
        <p:spPr>
          <a:xfrm>
            <a:off x="995359" y="1431514"/>
            <a:ext cx="5036400" cy="3694964"/>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6">
            <a:extLst>
              <a:ext uri="{FF2B5EF4-FFF2-40B4-BE49-F238E27FC236}">
                <a16:creationId xmlns:a16="http://schemas.microsoft.com/office/drawing/2014/main" id="{47D5E132-AB87-728A-3964-25306B1C7529}"/>
              </a:ext>
            </a:extLst>
          </p:cNvPr>
          <p:cNvSpPr>
            <a:spLocks noGrp="1"/>
          </p:cNvSpPr>
          <p:nvPr>
            <p:ph type="body" sz="quarter" idx="24" hasCustomPrompt="1"/>
          </p:nvPr>
        </p:nvSpPr>
        <p:spPr>
          <a:xfrm>
            <a:off x="6161606" y="1431514"/>
            <a:ext cx="5036400" cy="3694964"/>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25">
            <a:extLst>
              <a:ext uri="{FF2B5EF4-FFF2-40B4-BE49-F238E27FC236}">
                <a16:creationId xmlns:a16="http://schemas.microsoft.com/office/drawing/2014/main" id="{85A59295-0494-DBE8-E861-075D3E5B2ADB}"/>
              </a:ext>
            </a:extLst>
          </p:cNvPr>
          <p:cNvSpPr>
            <a:spLocks noGrp="1"/>
          </p:cNvSpPr>
          <p:nvPr>
            <p:ph type="body" sz="quarter" idx="11" hasCustomPrompt="1"/>
          </p:nvPr>
        </p:nvSpPr>
        <p:spPr>
          <a:xfrm>
            <a:off x="6161606"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8" name="Text Placeholder 25">
            <a:extLst>
              <a:ext uri="{FF2B5EF4-FFF2-40B4-BE49-F238E27FC236}">
                <a16:creationId xmlns:a16="http://schemas.microsoft.com/office/drawing/2014/main" id="{1682DD76-2A91-3F5B-9F43-064F1DC69DA6}"/>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11">
            <a:extLst>
              <a:ext uri="{FF2B5EF4-FFF2-40B4-BE49-F238E27FC236}">
                <a16:creationId xmlns:a16="http://schemas.microsoft.com/office/drawing/2014/main" id="{DAAF6AF2-62D4-9ADA-2C92-D42EA21FC6FB}"/>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2" name="Text Placeholder 11">
            <a:extLst>
              <a:ext uri="{FF2B5EF4-FFF2-40B4-BE49-F238E27FC236}">
                <a16:creationId xmlns:a16="http://schemas.microsoft.com/office/drawing/2014/main" id="{F1F21460-9B00-FC5B-5453-8ADF1AFD70A2}"/>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Tree>
    <p:extLst>
      <p:ext uri="{BB962C8B-B14F-4D97-AF65-F5344CB8AC3E}">
        <p14:creationId xmlns:p14="http://schemas.microsoft.com/office/powerpoint/2010/main" val="384647460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LIMITED USE - 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1278481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8">
            <a:extLst>
              <a:ext uri="{FF2B5EF4-FFF2-40B4-BE49-F238E27FC236}">
                <a16:creationId xmlns:a16="http://schemas.microsoft.com/office/drawing/2014/main" id="{7BBB9F2A-97C8-4DBE-BEC7-A74C9B7A7FDA}"/>
              </a:ext>
            </a:extLst>
          </p:cNvPr>
          <p:cNvSpPr>
            <a:spLocks noGrp="1"/>
          </p:cNvSpPr>
          <p:nvPr>
            <p:ph type="body" sz="quarter" idx="10"/>
          </p:nvPr>
        </p:nvSpPr>
        <p:spPr>
          <a:xfrm>
            <a:off x="995362" y="2651760"/>
            <a:ext cx="4975837" cy="3225166"/>
          </a:xfrm>
        </p:spPr>
        <p:txBody>
          <a:bodyPr/>
          <a:lstStyle>
            <a:lvl1pPr>
              <a:defRPr baseline="0">
                <a:solidFill>
                  <a:schemeClr val="tx1"/>
                </a:solidFill>
              </a:defRPr>
            </a:lvl1pPr>
          </a:lstStyle>
          <a:p>
            <a:pPr lvl="0">
              <a:spcAft>
                <a:spcPts val="300"/>
              </a:spcAft>
            </a:pPr>
            <a:r>
              <a:rPr lang="en-US" sz="900" b="0" spc="-20"/>
              <a:t>Click to edit Master text styles</a:t>
            </a:r>
          </a:p>
        </p:txBody>
      </p:sp>
      <p:sp>
        <p:nvSpPr>
          <p:cNvPr id="14" name="Text Placeholder 8">
            <a:extLst>
              <a:ext uri="{FF2B5EF4-FFF2-40B4-BE49-F238E27FC236}">
                <a16:creationId xmlns:a16="http://schemas.microsoft.com/office/drawing/2014/main" id="{78BF920B-FA8C-4998-B2E1-FB28E5B5DBDA}"/>
              </a:ext>
            </a:extLst>
          </p:cNvPr>
          <p:cNvSpPr>
            <a:spLocks noGrp="1"/>
          </p:cNvSpPr>
          <p:nvPr>
            <p:ph type="body" sz="quarter" idx="11"/>
          </p:nvPr>
        </p:nvSpPr>
        <p:spPr>
          <a:xfrm>
            <a:off x="6220800" y="1130532"/>
            <a:ext cx="4968000" cy="4746394"/>
          </a:xfrm>
        </p:spPr>
        <p:txBody>
          <a:bodyPr/>
          <a:lstStyle>
            <a:lvl1pPr>
              <a:defRPr>
                <a:solidFill>
                  <a:schemeClr val="tx1"/>
                </a:solidFill>
              </a:defRPr>
            </a:lvl1pPr>
          </a:lstStyle>
          <a:p>
            <a:pPr lvl="0">
              <a:spcAft>
                <a:spcPts val="300"/>
              </a:spcAft>
            </a:pPr>
            <a:r>
              <a:rPr lang="en-US" sz="900" b="0" spc="-20"/>
              <a:t>Click to edit Master text styles</a:t>
            </a:r>
          </a:p>
        </p:txBody>
      </p:sp>
      <p:sp>
        <p:nvSpPr>
          <p:cNvPr id="4" name="Text Placeholder 3">
            <a:extLst>
              <a:ext uri="{FF2B5EF4-FFF2-40B4-BE49-F238E27FC236}">
                <a16:creationId xmlns:a16="http://schemas.microsoft.com/office/drawing/2014/main" id="{1197A94D-5AF1-D66C-1F73-7065ABC9857D}"/>
              </a:ext>
            </a:extLst>
          </p:cNvPr>
          <p:cNvSpPr>
            <a:spLocks noGrp="1"/>
          </p:cNvSpPr>
          <p:nvPr>
            <p:ph type="body" sz="quarter" idx="13" hasCustomPrompt="1"/>
          </p:nvPr>
        </p:nvSpPr>
        <p:spPr>
          <a:xfrm>
            <a:off x="1009215" y="431800"/>
            <a:ext cx="3294062" cy="549275"/>
          </a:xfrm>
        </p:spPr>
        <p:txBody>
          <a:bodyPr/>
          <a:lstStyle/>
          <a:p>
            <a:pPr lvl="1"/>
            <a:r>
              <a:rPr lang="en-US"/>
              <a:t>Second level</a:t>
            </a:r>
          </a:p>
        </p:txBody>
      </p:sp>
      <p:sp>
        <p:nvSpPr>
          <p:cNvPr id="5" name="Text Placeholder 3">
            <a:extLst>
              <a:ext uri="{FF2B5EF4-FFF2-40B4-BE49-F238E27FC236}">
                <a16:creationId xmlns:a16="http://schemas.microsoft.com/office/drawing/2014/main" id="{659B4C11-7AC6-BA96-7923-8A8E629738D3}"/>
              </a:ext>
            </a:extLst>
          </p:cNvPr>
          <p:cNvSpPr>
            <a:spLocks noGrp="1"/>
          </p:cNvSpPr>
          <p:nvPr>
            <p:ph type="body" sz="quarter" idx="14" hasCustomPrompt="1"/>
          </p:nvPr>
        </p:nvSpPr>
        <p:spPr>
          <a:xfrm>
            <a:off x="7905751" y="431800"/>
            <a:ext cx="3294062" cy="549275"/>
          </a:xfrm>
        </p:spPr>
        <p:txBody>
          <a:bodyPr/>
          <a:lstStyle/>
          <a:p>
            <a:pPr lvl="1"/>
            <a:r>
              <a:rPr lang="en-US"/>
              <a:t>Second level</a:t>
            </a:r>
          </a:p>
        </p:txBody>
      </p:sp>
      <p:sp>
        <p:nvSpPr>
          <p:cNvPr id="7" name="Text Placeholder 6">
            <a:extLst>
              <a:ext uri="{FF2B5EF4-FFF2-40B4-BE49-F238E27FC236}">
                <a16:creationId xmlns:a16="http://schemas.microsoft.com/office/drawing/2014/main" id="{37B44230-7533-ECF4-457B-9D91200B5BF1}"/>
              </a:ext>
            </a:extLst>
          </p:cNvPr>
          <p:cNvSpPr>
            <a:spLocks noGrp="1"/>
          </p:cNvSpPr>
          <p:nvPr>
            <p:ph type="body" sz="quarter" idx="15" hasCustomPrompt="1"/>
          </p:nvPr>
        </p:nvSpPr>
        <p:spPr>
          <a:xfrm>
            <a:off x="1009650" y="1055688"/>
            <a:ext cx="4975837" cy="1595437"/>
          </a:xfrm>
        </p:spPr>
        <p:txBody>
          <a:bodyPr/>
          <a:lstStyle/>
          <a:p>
            <a:pPr lvl="1"/>
            <a:r>
              <a:rPr lang="en-US"/>
              <a:t>Second level</a:t>
            </a:r>
          </a:p>
        </p:txBody>
      </p:sp>
      <p:sp>
        <p:nvSpPr>
          <p:cNvPr id="8" name="Freeform 19">
            <a:extLst>
              <a:ext uri="{FF2B5EF4-FFF2-40B4-BE49-F238E27FC236}">
                <a16:creationId xmlns:a16="http://schemas.microsoft.com/office/drawing/2014/main" id="{E993F879-7552-E9A3-4239-6FFC5B9D98F9}"/>
              </a:ext>
            </a:extLst>
          </p:cNvPr>
          <p:cNvSpPr>
            <a:spLocks noEditPoints="1"/>
          </p:cNvSpPr>
          <p:nvPr userDrawn="1"/>
        </p:nvSpPr>
        <p:spPr bwMode="auto">
          <a:xfrm>
            <a:off x="995362" y="125765"/>
            <a:ext cx="568035" cy="23142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noProof="0" dirty="0">
              <a:solidFill>
                <a:srgbClr val="000000"/>
              </a:solidFill>
            </a:endParaRPr>
          </a:p>
        </p:txBody>
      </p:sp>
      <p:sp>
        <p:nvSpPr>
          <p:cNvPr id="3" name="TextBox 2">
            <a:extLst>
              <a:ext uri="{FF2B5EF4-FFF2-40B4-BE49-F238E27FC236}">
                <a16:creationId xmlns:a16="http://schemas.microsoft.com/office/drawing/2014/main" id="{98E4C865-498D-30F0-8F52-B6FB4D3D6473}"/>
              </a:ext>
            </a:extLst>
          </p:cNvPr>
          <p:cNvSpPr txBox="1"/>
          <p:nvPr userDrawn="1"/>
        </p:nvSpPr>
        <p:spPr>
          <a:xfrm>
            <a:off x="10601152" y="167919"/>
            <a:ext cx="924098" cy="330085"/>
          </a:xfrm>
          <a:prstGeom prst="rect">
            <a:avLst/>
          </a:prstGeom>
          <a:noFill/>
        </p:spPr>
        <p:txBody>
          <a:bodyPr wrap="square" lIns="54610" tIns="54610" rIns="54610" bIns="54610" rtlCol="0">
            <a:noAutofit/>
          </a:bodyPr>
          <a:lstStyle/>
          <a:p>
            <a:pPr>
              <a:spcAft>
                <a:spcPts val="600"/>
              </a:spcAft>
            </a:pPr>
            <a:r>
              <a:rPr lang="en-US" sz="1000" b="1" dirty="0">
                <a:solidFill>
                  <a:srgbClr val="FF0000"/>
                </a:solidFill>
              </a:rPr>
              <a:t>DRAFT</a:t>
            </a:r>
          </a:p>
        </p:txBody>
      </p:sp>
    </p:spTree>
    <p:extLst>
      <p:ext uri="{BB962C8B-B14F-4D97-AF65-F5344CB8AC3E}">
        <p14:creationId xmlns:p14="http://schemas.microsoft.com/office/powerpoint/2010/main" val="26709333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Analysis_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67154871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2" y="1179513"/>
            <a:ext cx="2475728" cy="460800"/>
          </a:xfrm>
        </p:spPr>
        <p:txBody>
          <a:bodyPr lIns="72000"/>
          <a:lstStyle>
            <a:lvl1pPr>
              <a:defRPr sz="1000" b="1">
                <a:solidFill>
                  <a:schemeClr val="tx2"/>
                </a:solidFill>
              </a:defRPr>
            </a:lvl1pPr>
          </a:lstStyle>
          <a:p>
            <a:r>
              <a:rPr lang="fi-FI"/>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7587923"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5356" y="1751584"/>
            <a:ext cx="638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751584"/>
            <a:ext cx="3690499" cy="4116932"/>
          </a:xfrm>
        </p:spPr>
        <p:txBody>
          <a:bodyPr lIns="72000" tIns="36000" rIns="0"/>
          <a:lstStyle>
            <a:lvl1pPr>
              <a:defRPr sz="1000" b="1">
                <a:solidFill>
                  <a:schemeClr val="tx2"/>
                </a:solidFill>
              </a:defRPr>
            </a:lvl1pPr>
          </a:lstStyle>
          <a:p>
            <a:r>
              <a:rPr lang="fi-FI"/>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5357" y="2003584"/>
            <a:ext cx="6378244" cy="3864932"/>
          </a:xfrm>
        </p:spPr>
        <p:txBody>
          <a:bodyPr lIns="72000" tIns="36000" rIns="0" bIns="0"/>
          <a:lstStyle>
            <a:lvl1pPr>
              <a:defRPr/>
            </a:lvl1pPr>
          </a:lstStyle>
          <a:p>
            <a:r>
              <a:rPr lang="en-US" sz="1000"/>
              <a:t>Add text here</a:t>
            </a:r>
          </a:p>
          <a:p>
            <a:pPr lvl="1"/>
            <a:endParaRPr lang="en-IN"/>
          </a:p>
        </p:txBody>
      </p:sp>
    </p:spTree>
    <p:extLst>
      <p:ext uri="{BB962C8B-B14F-4D97-AF65-F5344CB8AC3E}">
        <p14:creationId xmlns:p14="http://schemas.microsoft.com/office/powerpoint/2010/main" val="8425765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strapline+4 text box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608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17" name="Text Placeholder 6">
            <a:extLst>
              <a:ext uri="{FF2B5EF4-FFF2-40B4-BE49-F238E27FC236}">
                <a16:creationId xmlns:a16="http://schemas.microsoft.com/office/drawing/2014/main" id="{D39B1F28-5BE0-920C-485E-EBD004E6FEE3}"/>
              </a:ext>
            </a:extLst>
          </p:cNvPr>
          <p:cNvSpPr>
            <a:spLocks noGrp="1"/>
          </p:cNvSpPr>
          <p:nvPr>
            <p:ph type="body" sz="quarter" idx="23" hasCustomPrompt="1"/>
          </p:nvPr>
        </p:nvSpPr>
        <p:spPr>
          <a:xfrm>
            <a:off x="995361" y="2003585"/>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ext Placeholder 6">
            <a:extLst>
              <a:ext uri="{FF2B5EF4-FFF2-40B4-BE49-F238E27FC236}">
                <a16:creationId xmlns:a16="http://schemas.microsoft.com/office/drawing/2014/main" id="{EC545A67-9AFD-8E78-4FC6-F4DDA2F0DC14}"/>
              </a:ext>
            </a:extLst>
          </p:cNvPr>
          <p:cNvSpPr>
            <a:spLocks noGrp="1"/>
          </p:cNvSpPr>
          <p:nvPr>
            <p:ph type="body" sz="quarter" idx="24" hasCustomPrompt="1"/>
          </p:nvPr>
        </p:nvSpPr>
        <p:spPr>
          <a:xfrm>
            <a:off x="6165629" y="2003585"/>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Text Placeholder 6">
            <a:extLst>
              <a:ext uri="{FF2B5EF4-FFF2-40B4-BE49-F238E27FC236}">
                <a16:creationId xmlns:a16="http://schemas.microsoft.com/office/drawing/2014/main" id="{110C6C3E-B8AD-8B96-EC03-1CD5078D28AB}"/>
              </a:ext>
            </a:extLst>
          </p:cNvPr>
          <p:cNvSpPr>
            <a:spLocks noGrp="1"/>
          </p:cNvSpPr>
          <p:nvPr>
            <p:ph type="body" sz="quarter" idx="26" hasCustomPrompt="1"/>
          </p:nvPr>
        </p:nvSpPr>
        <p:spPr>
          <a:xfrm>
            <a:off x="995361" y="4110230"/>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Text Placeholder 6">
            <a:extLst>
              <a:ext uri="{FF2B5EF4-FFF2-40B4-BE49-F238E27FC236}">
                <a16:creationId xmlns:a16="http://schemas.microsoft.com/office/drawing/2014/main" id="{F783E64C-A4C3-8E54-3103-0BB03066D1BC}"/>
              </a:ext>
            </a:extLst>
          </p:cNvPr>
          <p:cNvSpPr>
            <a:spLocks noGrp="1"/>
          </p:cNvSpPr>
          <p:nvPr>
            <p:ph type="body" sz="quarter" idx="27" hasCustomPrompt="1"/>
          </p:nvPr>
        </p:nvSpPr>
        <p:spPr>
          <a:xfrm>
            <a:off x="6160108" y="4110230"/>
            <a:ext cx="5036400" cy="1764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ext Placeholder 25">
            <a:extLst>
              <a:ext uri="{FF2B5EF4-FFF2-40B4-BE49-F238E27FC236}">
                <a16:creationId xmlns:a16="http://schemas.microsoft.com/office/drawing/2014/main" id="{807DDDD2-8F00-9FCF-D4F9-BE3A3941D7B5}"/>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25">
            <a:extLst>
              <a:ext uri="{FF2B5EF4-FFF2-40B4-BE49-F238E27FC236}">
                <a16:creationId xmlns:a16="http://schemas.microsoft.com/office/drawing/2014/main" id="{19148179-BB16-C1DF-D153-77ED4B3E9972}"/>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25">
            <a:extLst>
              <a:ext uri="{FF2B5EF4-FFF2-40B4-BE49-F238E27FC236}">
                <a16:creationId xmlns:a16="http://schemas.microsoft.com/office/drawing/2014/main" id="{A23192A1-5706-5D97-D3A3-D152925A8F63}"/>
              </a:ext>
            </a:extLst>
          </p:cNvPr>
          <p:cNvSpPr>
            <a:spLocks noGrp="1"/>
          </p:cNvSpPr>
          <p:nvPr>
            <p:ph type="body" sz="quarter" idx="34" hasCustomPrompt="1"/>
          </p:nvPr>
        </p:nvSpPr>
        <p:spPr>
          <a:xfrm>
            <a:off x="6157201"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2" name="Text Placeholder 25">
            <a:extLst>
              <a:ext uri="{FF2B5EF4-FFF2-40B4-BE49-F238E27FC236}">
                <a16:creationId xmlns:a16="http://schemas.microsoft.com/office/drawing/2014/main" id="{FC37E04D-55C4-A2F9-AB41-0407BC55D0B5}"/>
              </a:ext>
            </a:extLst>
          </p:cNvPr>
          <p:cNvSpPr>
            <a:spLocks noGrp="1"/>
          </p:cNvSpPr>
          <p:nvPr>
            <p:ph type="body" sz="quarter" idx="35" hasCustomPrompt="1"/>
          </p:nvPr>
        </p:nvSpPr>
        <p:spPr>
          <a:xfrm>
            <a:off x="995361"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Tree>
    <p:extLst>
      <p:ext uri="{BB962C8B-B14F-4D97-AF65-F5344CB8AC3E}">
        <p14:creationId xmlns:p14="http://schemas.microsoft.com/office/powerpoint/2010/main" val="41644267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Analysis_2 columns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200" cy="460800"/>
          </a:xfrm>
        </p:spPr>
        <p:txBody>
          <a:bodyPr lIns="0" r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dirty="0">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65629"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65629"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003584"/>
            <a:ext cx="5036400" cy="3865371"/>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355022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LIMITED USE - 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3" name="TextBox 2">
            <a:extLst>
              <a:ext uri="{FF2B5EF4-FFF2-40B4-BE49-F238E27FC236}">
                <a16:creationId xmlns:a16="http://schemas.microsoft.com/office/drawing/2014/main" id="{BC37F6B9-B61F-B81D-964D-0A1887906BC3}"/>
              </a:ext>
            </a:extLst>
          </p:cNvPr>
          <p:cNvSpPr txBox="1"/>
          <p:nvPr userDrawn="1"/>
        </p:nvSpPr>
        <p:spPr>
          <a:xfrm>
            <a:off x="10601152" y="167919"/>
            <a:ext cx="924098" cy="330085"/>
          </a:xfrm>
          <a:prstGeom prst="rect">
            <a:avLst/>
          </a:prstGeom>
          <a:noFill/>
        </p:spPr>
        <p:txBody>
          <a:bodyPr wrap="square" lIns="54610" tIns="54610" rIns="54610" bIns="54610" rtlCol="0">
            <a:noAutofit/>
          </a:bodyPr>
          <a:lstStyle/>
          <a:p>
            <a:pPr>
              <a:spcAft>
                <a:spcPts val="600"/>
              </a:spcAft>
            </a:pPr>
            <a:r>
              <a:rPr lang="en-US" sz="1000" b="1" dirty="0">
                <a:solidFill>
                  <a:srgbClr val="FF0000"/>
                </a:solidFill>
              </a:rPr>
              <a:t>DRAFT</a:t>
            </a:r>
          </a:p>
        </p:txBody>
      </p:sp>
    </p:spTree>
    <p:extLst>
      <p:ext uri="{BB962C8B-B14F-4D97-AF65-F5344CB8AC3E}">
        <p14:creationId xmlns:p14="http://schemas.microsoft.com/office/powerpoint/2010/main" val="21822896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dirty="0">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dirty="0"/>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12A8287-4956-D624-99A1-67CBCBB1CCDC}"/>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2022 KPMG LLP, a UK limited liability partnership and a member firm of the KPMG global organisation of independent member firms affiliated with KPMG International Limited, a private English company limited by guarantee. All rights reserved.</a:t>
            </a:r>
          </a:p>
        </p:txBody>
      </p: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dirty="0">
                <a:solidFill>
                  <a:schemeClr val="bg1"/>
                </a:solidFill>
                <a:latin typeface="+mn-lt"/>
              </a:rPr>
              <a:t>Slide Title (DO NOT DELETE)</a:t>
            </a:r>
            <a:endParaRPr lang="fr-FR" sz="1400" i="1" dirty="0">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dirty="0">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000000"/>
                </a:solidFill>
                <a:latin typeface="+mj-lt"/>
              </a:rPr>
              <a:t>Workspace (DO NOT DELETE): this shape delimits the vertical space where UpSlide will draw the Agenda.</a:t>
            </a:r>
            <a:endParaRPr lang="en-GB" dirty="0">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dirty="0">
                <a:solidFill>
                  <a:schemeClr val="tx2"/>
                </a:solidFill>
                <a:latin typeface="+mj-lt"/>
                <a:cs typeface="Arial" panose="020B0604020202020204" pitchFamily="34" charset="0"/>
              </a:rPr>
              <a:t>Section Title (DO NOT DELETE)</a:t>
            </a:r>
          </a:p>
        </p:txBody>
      </p:sp>
      <p:sp>
        <p:nvSpPr>
          <p:cNvPr id="18" name="Rectangle 17">
            <a:extLst>
              <a:ext uri="{FF2B5EF4-FFF2-40B4-BE49-F238E27FC236}">
                <a16:creationId xmlns:a16="http://schemas.microsoft.com/office/drawing/2014/main" id="{36B54791-C9F3-74B1-5C2D-7DEAE926CCEF}"/>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dirty="0">
              <a:solidFill>
                <a:schemeClr val="bg1"/>
              </a:solidFill>
            </a:endParaRPr>
          </a:p>
        </p:txBody>
      </p:sp>
    </p:spTree>
    <p:extLst>
      <p:ext uri="{BB962C8B-B14F-4D97-AF65-F5344CB8AC3E}">
        <p14:creationId xmlns:p14="http://schemas.microsoft.com/office/powerpoint/2010/main" val="266885451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10202924"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7" name="section title">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3617406"/>
            <a:ext cx="9747504" cy="0"/>
          </a:xfrm>
          <a:prstGeom prst="rect">
            <a:avLst/>
          </a:prstGeom>
          <a:noFill/>
        </p:spPr>
        <p:txBody>
          <a:bodyPr vert="horz" wrap="square" lIns="0" tIns="0" rIns="0" bIns="2286000" rtlCol="0">
            <a:noAutofit/>
          </a:bodyPr>
          <a:lstStyle/>
          <a:p>
            <a:pPr>
              <a:lnSpc>
                <a:spcPct val="70000"/>
              </a:lnSpc>
            </a:pPr>
            <a:r>
              <a:rPr lang="en-US" sz="6600" dirty="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74065" y="5027889"/>
            <a:ext cx="9892129" cy="356616"/>
          </a:xfrm>
          <a:prstGeom prst="rect">
            <a:avLst/>
          </a:prstGeom>
          <a:noFill/>
        </p:spPr>
        <p:txBody>
          <a:bodyPr vert="horz" wrap="square" lIns="0" tIns="0" rIns="0" bIns="0" rtlCol="0" anchor="t" anchorCtr="0">
            <a:noAutofit/>
          </a:bodyPr>
          <a:lstStyle/>
          <a:p>
            <a:r>
              <a:rPr lang="fr-FR" sz="1200" i="0" dirty="0">
                <a:solidFill>
                  <a:schemeClr val="bg1"/>
                </a:solidFill>
                <a:latin typeface="Arial" panose="020B0604020202020204" pitchFamily="34" charset="0"/>
              </a:rPr>
              <a:t>A</a:t>
            </a:r>
          </a:p>
        </p:txBody>
      </p:sp>
      <p:sp>
        <p:nvSpPr>
          <p:cNvPr id="14" name="slide page number">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10188234" y="5027889"/>
            <a:ext cx="182880" cy="356616"/>
          </a:xfrm>
          <a:prstGeom prst="rect">
            <a:avLst/>
          </a:prstGeom>
          <a:noFill/>
        </p:spPr>
        <p:txBody>
          <a:bodyPr vert="horz" wrap="square" lIns="0" tIns="0" rIns="0" bIns="0" rtlCol="0" anchor="t" anchorCtr="0">
            <a:noAutofit/>
          </a:bodyPr>
          <a:lstStyle/>
          <a:p>
            <a:pPr algn="ctr"/>
            <a:r>
              <a:rPr lang="fr-FR" sz="1400" i="0" dirty="0">
                <a:solidFill>
                  <a:schemeClr val="bg1"/>
                </a:solidFill>
                <a:latin typeface="+mn-lt"/>
              </a:rPr>
              <a:t>1</a:t>
            </a:r>
          </a:p>
        </p:txBody>
      </p:sp>
      <p:sp>
        <p:nvSpPr>
          <p:cNvPr id="15" name="ZONE?">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16" name="subsection number">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dirty="0">
                <a:solidFill>
                  <a:schemeClr val="bg1"/>
                </a:solidFill>
                <a:latin typeface="+mj-lt"/>
              </a:rPr>
              <a:t>1.1</a:t>
            </a:r>
          </a:p>
        </p:txBody>
      </p:sp>
      <p:sp>
        <p:nvSpPr>
          <p:cNvPr id="18" name="subsection title">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714809" y="3594256"/>
            <a:ext cx="2504494" cy="356616"/>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dirty="0">
                <a:solidFill>
                  <a:srgbClr val="FFFFFF"/>
                </a:solidFill>
                <a:effectLst/>
                <a:latin typeface="+mn-lt"/>
              </a:rPr>
              <a:t>Subsection Title</a:t>
            </a:r>
          </a:p>
        </p:txBody>
      </p:sp>
      <p:sp>
        <p:nvSpPr>
          <p:cNvPr id="19" name="???">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10931809" y="3594256"/>
            <a:ext cx="0" cy="356616"/>
          </a:xfrm>
          <a:prstGeom prst="rect">
            <a:avLst/>
          </a:prstGeom>
          <a:noFill/>
          <a:ln>
            <a:noFill/>
          </a:ln>
        </p:spPr>
        <p:txBody>
          <a:bodyPr vert="horz" wrap="none" lIns="0" tIns="0" rIns="0" bIns="0" rtlCol="0" anchor="t" anchorCtr="0">
            <a:noAutofit/>
          </a:bodyPr>
          <a:lstStyle/>
          <a:p>
            <a:pPr algn="ctr"/>
            <a:r>
              <a:rPr lang="fr-FR" sz="100" dirty="0">
                <a:ln>
                  <a:noFill/>
                </a:ln>
                <a:noFill/>
                <a:latin typeface="+mj-lt"/>
              </a:rPr>
              <a:t>4</a:t>
            </a:r>
          </a:p>
        </p:txBody>
      </p:sp>
      <p:sp>
        <p:nvSpPr>
          <p:cNvPr id="20" name="subsection page number">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428269" y="3594256"/>
            <a:ext cx="0" cy="356616"/>
          </a:xfrm>
          <a:prstGeom prst="rect">
            <a:avLst/>
          </a:prstGeom>
          <a:noFill/>
        </p:spPr>
        <p:txBody>
          <a:bodyPr vert="horz" wrap="square" lIns="1005840" tIns="0" rIns="1097280" bIns="0" rtlCol="0" anchor="t" anchorCtr="0">
            <a:noAutofit/>
          </a:bodyPr>
          <a:lstStyle/>
          <a:p>
            <a:pPr marL="0" indent="0" algn="r">
              <a:buFont typeface="Arial" panose="020B0604020202020204" pitchFamily="34" charset="0"/>
              <a:buNone/>
            </a:pPr>
            <a:r>
              <a:rPr lang="fr-FR" sz="1400" dirty="0">
                <a:solidFill>
                  <a:srgbClr val="FFFFFF"/>
                </a:solidFill>
                <a:effectLst/>
                <a:latin typeface="+mn-lt"/>
              </a:rPr>
              <a:t>5</a:t>
            </a:r>
          </a:p>
        </p:txBody>
      </p:sp>
      <p:sp>
        <p:nvSpPr>
          <p:cNvPr id="23" name="section number">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304" y="3617406"/>
            <a:ext cx="3952700" cy="0"/>
          </a:xfrm>
          <a:prstGeom prst="rect">
            <a:avLst/>
          </a:prstGeom>
        </p:spPr>
        <p:txBody>
          <a:bodyPr vert="horz" wrap="square" lIns="0" tIns="0" rIns="0" bIns="4389120" rtlCol="0" anchor="t" anchorCtr="0">
            <a:noAutofit/>
          </a:bodyPr>
          <a:lstStyle/>
          <a:p>
            <a:pPr algn="l">
              <a:lnSpc>
                <a:spcPct val="80000"/>
              </a:lnSpc>
              <a:spcAft>
                <a:spcPts val="600"/>
              </a:spcAft>
            </a:pPr>
            <a:r>
              <a:rPr lang="en-GB" sz="6600" b="1" dirty="0">
                <a:solidFill>
                  <a:srgbClr val="FFFFFF"/>
                </a:solidFill>
                <a:latin typeface="+mj-lt"/>
              </a:rPr>
              <a:t>01</a:t>
            </a:r>
          </a:p>
        </p:txBody>
      </p:sp>
      <p:sp>
        <p:nvSpPr>
          <p:cNvPr id="3" name="Rectangle 2">
            <a:extLst>
              <a:ext uri="{FF2B5EF4-FFF2-40B4-BE49-F238E27FC236}">
                <a16:creationId xmlns:a16="http://schemas.microsoft.com/office/drawing/2014/main" id="{F95C381F-5A08-9BD3-A01C-77E91DEBFF77}"/>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dirty="0">
              <a:solidFill>
                <a:schemeClr val="bg1"/>
              </a:solidFill>
            </a:endParaRPr>
          </a:p>
        </p:txBody>
      </p:sp>
    </p:spTree>
    <p:extLst>
      <p:ext uri="{BB962C8B-B14F-4D97-AF65-F5344CB8AC3E}">
        <p14:creationId xmlns:p14="http://schemas.microsoft.com/office/powerpoint/2010/main" val="23483091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dirty="0">
                <a:solidFill>
                  <a:srgbClr val="FFFFFF"/>
                </a:solidFill>
                <a:latin typeface="+mj-lt"/>
              </a:rPr>
              <a:t>A</a:t>
            </a:r>
          </a:p>
          <a:p>
            <a:pPr lvl="0">
              <a:lnSpc>
                <a:spcPct val="70000"/>
              </a:lnSpc>
            </a:pPr>
            <a:endParaRPr lang="fr-FR" sz="8000" dirty="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dirty="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dirty="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dirty="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dirty="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dirty="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dirty="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dirty="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3" name="Rectangle 2">
            <a:extLst>
              <a:ext uri="{FF2B5EF4-FFF2-40B4-BE49-F238E27FC236}">
                <a16:creationId xmlns:a16="http://schemas.microsoft.com/office/drawing/2014/main" id="{86C323C8-BB49-C97D-1D90-7811DEBDF395}"/>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dirty="0">
              <a:solidFill>
                <a:schemeClr val="bg1"/>
              </a:solidFill>
            </a:endParaRPr>
          </a:p>
        </p:txBody>
      </p:sp>
    </p:spTree>
    <p:extLst>
      <p:ext uri="{BB962C8B-B14F-4D97-AF65-F5344CB8AC3E}">
        <p14:creationId xmlns:p14="http://schemas.microsoft.com/office/powerpoint/2010/main" val="25987416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dirty="0">
                <a:solidFill>
                  <a:schemeClr val="tx2"/>
                </a:solidFill>
              </a:rPr>
              <a:t>&lt;%SECTIONNAME%&gt;&lt;%SPACEIFINSUBSEC%&gt;&lt;%TIRETIFINSUBSEC%&gt;&lt;%SPACEIFINSUBSEC%&gt;&lt;%SUBSECTIONNAME%&gt;</a:t>
            </a:r>
            <a:endParaRPr lang="en-GB" sz="1200" b="1" dirty="0">
              <a:solidFill>
                <a:schemeClr val="tx2"/>
              </a:solidFill>
            </a:endParaRPr>
          </a:p>
        </p:txBody>
      </p:sp>
      <p:sp>
        <p:nvSpPr>
          <p:cNvPr id="3" name="Rectangle 2">
            <a:extLst>
              <a:ext uri="{FF2B5EF4-FFF2-40B4-BE49-F238E27FC236}">
                <a16:creationId xmlns:a16="http://schemas.microsoft.com/office/drawing/2014/main" id="{7453E74B-B48B-E1EB-E3E0-2BC7C4D66E3E}"/>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dirty="0">
              <a:solidFill>
                <a:schemeClr val="bg1"/>
              </a:solidFill>
            </a:endParaRPr>
          </a:p>
        </p:txBody>
      </p:sp>
    </p:spTree>
    <p:extLst>
      <p:ext uri="{BB962C8B-B14F-4D97-AF65-F5344CB8AC3E}">
        <p14:creationId xmlns:p14="http://schemas.microsoft.com/office/powerpoint/2010/main" val="1999994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dirty="0"/>
                <a:t>Edit alt text on the non-current shape for display options.</a:t>
              </a:r>
            </a:p>
            <a:p>
              <a:r>
                <a:rPr lang="en-US" sz="1000" b="1" dirty="0"/>
                <a:t>See </a:t>
              </a:r>
              <a:r>
                <a:rPr lang="en-US" sz="1000" b="1" dirty="0">
                  <a:hlinkClick r:id="rId3"/>
                </a:rPr>
                <a:t>here</a:t>
              </a:r>
              <a:r>
                <a:rPr lang="en-US" sz="1000" b="1" dirty="0"/>
                <a:t> for the options you can apply and other instructions to build a breadcrumb using UpSlide.</a:t>
              </a:r>
              <a:endParaRPr lang="en-SG" sz="1000" b="1" dirty="0"/>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dirty="0"/>
                <a:t>First shape </a:t>
              </a:r>
              <a:br>
                <a:rPr lang="en-SG" sz="1000" dirty="0"/>
              </a:br>
              <a:r>
                <a:rPr lang="en-SG" sz="1000" dirty="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dirty="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dirty="0">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dirty="0"/>
              <a:t>Margin between shapes</a:t>
            </a:r>
          </a:p>
        </p:txBody>
      </p:sp>
      <p:sp>
        <p:nvSpPr>
          <p:cNvPr id="3" name="Rectangle 2">
            <a:extLst>
              <a:ext uri="{FF2B5EF4-FFF2-40B4-BE49-F238E27FC236}">
                <a16:creationId xmlns:a16="http://schemas.microsoft.com/office/drawing/2014/main" id="{AFDE6243-6148-EC1C-61B7-BFC778746645}"/>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dirty="0">
              <a:solidFill>
                <a:schemeClr val="bg1"/>
              </a:solidFill>
            </a:endParaRPr>
          </a:p>
        </p:txBody>
      </p:sp>
    </p:spTree>
    <p:extLst>
      <p:ext uri="{BB962C8B-B14F-4D97-AF65-F5344CB8AC3E}">
        <p14:creationId xmlns:p14="http://schemas.microsoft.com/office/powerpoint/2010/main" val="33728934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 Target="../slides/slide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theme" Target="../theme/theme2.xml"/><Relationship Id="rId5" Type="http://schemas.openxmlformats.org/officeDocument/2006/relationships/slideLayout" Target="../slideLayouts/slideLayout55.xml"/><Relationship Id="rId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52"/>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dirty="0"/>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877175" y="192024"/>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15054" y="190622"/>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p:cNvSpPr>
          <p:nvPr userDrawn="1"/>
        </p:nvSpPr>
        <p:spPr>
          <a:xfrm>
            <a:off x="11799231"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p:cNvSpPr>
          <p:nvPr userDrawn="1"/>
        </p:nvSpPr>
        <p:spPr>
          <a:xfrm flipH="1">
            <a:off x="11255557"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8" name="Graphic 7" descr="Home">
            <a:hlinkClick r:id="rId55"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56" cstate="screen">
            <a:extLst>
              <a:ext uri="{28A0092B-C50C-407E-A947-70E740481C1C}">
                <a14:useLocalDpi xmlns:a14="http://schemas.microsoft.com/office/drawing/2010/main"/>
              </a:ext>
              <a:ext uri="{96DAC541-7B7A-43D3-8B79-37D633B846F1}">
                <asvg:svgBlip xmlns:asvg="http://schemas.microsoft.com/office/drawing/2016/SVG/main" r:embed="rId57"/>
              </a:ext>
            </a:extLst>
          </a:blip>
          <a:stretch>
            <a:fillRect/>
          </a:stretch>
        </p:blipFill>
        <p:spPr>
          <a:xfrm>
            <a:off x="11534459" y="103561"/>
            <a:ext cx="222478" cy="222490"/>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53"/>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dirty="0">
                <a:solidFill>
                  <a:schemeClr val="accent6"/>
                </a:solidFill>
              </a:rPr>
              <a:t>DRAFT</a:t>
            </a:r>
          </a:p>
        </p:txBody>
      </p:sp>
      <p:sp>
        <p:nvSpPr>
          <p:cNvPr id="15" name="TextBox 14">
            <a:extLst>
              <a:ext uri="{FF2B5EF4-FFF2-40B4-BE49-F238E27FC236}">
                <a16:creationId xmlns:a16="http://schemas.microsoft.com/office/drawing/2014/main" id="{1AC58C50-1B19-87C3-0DF6-F8B8F42CB87D}"/>
              </a:ext>
              <a:ext uri="{C183D7F6-B498-43B3-948B-1728B52AA6E4}">
                <adec:decorative xmlns:adec="http://schemas.microsoft.com/office/drawing/2017/decorative" val="1"/>
              </a:ext>
            </a:extLst>
          </p:cNvPr>
          <p:cNvSpPr txBox="1">
            <a:spLocks/>
          </p:cNvSpPr>
          <p:nvPr userDrawn="1">
            <p:custDataLst>
              <p:tags r:id="rId54"/>
            </p:custDataLst>
          </p:nvPr>
        </p:nvSpPr>
        <p:spPr>
          <a:xfrm>
            <a:off x="1885683" y="6266997"/>
            <a:ext cx="6673851" cy="184666"/>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600" b="0" i="0" u="none" strike="noStrike" kern="0" cap="none" spc="0" normalizeH="0" baseline="0">
                <a:ln>
                  <a:noFill/>
                </a:ln>
                <a:solidFill>
                  <a:srgbClr val="FFFFFF">
                    <a:lumMod val="65000"/>
                  </a:srgbClr>
                </a:solidFill>
                <a:effectLst/>
                <a:uLnTx/>
                <a:uFillTx/>
              </a:defRPr>
            </a:lvl1pPr>
          </a:lstStyle>
          <a:p>
            <a:pPr lvl="0"/>
            <a:r>
              <a:rPr lang="en-US" noProof="0" dirty="0"/>
              <a:t>© 2025 KPMG LLP, a Delaware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96" r:id="rId10"/>
    <p:sldLayoutId id="2147483712" r:id="rId11"/>
    <p:sldLayoutId id="2147483797" r:id="rId12"/>
    <p:sldLayoutId id="2147483664" r:id="rId13"/>
    <p:sldLayoutId id="2147483769" r:id="rId14"/>
    <p:sldLayoutId id="2147483770" r:id="rId15"/>
    <p:sldLayoutId id="2147483714" r:id="rId16"/>
    <p:sldLayoutId id="2147483689" r:id="rId17"/>
    <p:sldLayoutId id="2147483716" r:id="rId18"/>
    <p:sldLayoutId id="2147483690" r:id="rId19"/>
    <p:sldLayoutId id="2147483692" r:id="rId20"/>
    <p:sldLayoutId id="2147483691" r:id="rId21"/>
    <p:sldLayoutId id="2147483693" r:id="rId22"/>
    <p:sldLayoutId id="2147483701" r:id="rId23"/>
    <p:sldLayoutId id="2147483771" r:id="rId24"/>
    <p:sldLayoutId id="2147483752" r:id="rId25"/>
    <p:sldLayoutId id="2147483697" r:id="rId26"/>
    <p:sldLayoutId id="2147483772" r:id="rId27"/>
    <p:sldLayoutId id="2147483754" r:id="rId28"/>
    <p:sldLayoutId id="2147483699" r:id="rId29"/>
    <p:sldLayoutId id="2147483700" r:id="rId30"/>
    <p:sldLayoutId id="2147483722" r:id="rId31"/>
    <p:sldLayoutId id="2147483792" r:id="rId32"/>
    <p:sldLayoutId id="2147483793" r:id="rId33"/>
    <p:sldLayoutId id="2147483789" r:id="rId34"/>
    <p:sldLayoutId id="2147483791" r:id="rId35"/>
    <p:sldLayoutId id="2147483790" r:id="rId36"/>
    <p:sldLayoutId id="2147483794" r:id="rId37"/>
    <p:sldLayoutId id="2147483795" r:id="rId38"/>
    <p:sldLayoutId id="2147483667" r:id="rId39"/>
    <p:sldLayoutId id="2147483748" r:id="rId40"/>
    <p:sldLayoutId id="2147483853" r:id="rId41"/>
    <p:sldLayoutId id="2147483857" r:id="rId42"/>
    <p:sldLayoutId id="2147483862" r:id="rId43"/>
    <p:sldLayoutId id="2147483870" r:id="rId44"/>
    <p:sldLayoutId id="2147483871" r:id="rId45"/>
    <p:sldLayoutId id="2147483874" r:id="rId46"/>
    <p:sldLayoutId id="2147483876" r:id="rId47"/>
    <p:sldLayoutId id="2147483877" r:id="rId48"/>
    <p:sldLayoutId id="2147483878" r:id="rId49"/>
    <p:sldLayoutId id="2147483879" r:id="rId50"/>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dirty="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dirty="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dirty="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424905127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p15:clr>
            <a:srgbClr val="F26B43"/>
          </p15:clr>
        </p15:guide>
        <p15:guide id="2" pos="624">
          <p15:clr>
            <a:srgbClr val="F26B43"/>
          </p15:clr>
        </p15:guide>
        <p15:guide id="3" pos="7056">
          <p15:clr>
            <a:srgbClr val="F26B43"/>
          </p15:clr>
        </p15:guide>
        <p15:guide id="4" orient="horz" pos="840">
          <p15:clr>
            <a:srgbClr val="F26B43"/>
          </p15:clr>
        </p15:guide>
        <p15:guide id="5" orient="horz" pos="616">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7.xml"/><Relationship Id="rId5" Type="http://schemas.openxmlformats.org/officeDocument/2006/relationships/image" Target="../media/image17.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59.xml"/><Relationship Id="rId1" Type="http://schemas.openxmlformats.org/officeDocument/2006/relationships/tags" Target="../tags/tag5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tags" Target="../tags/tag61.xml"/><Relationship Id="rId1" Type="http://schemas.openxmlformats.org/officeDocument/2006/relationships/tags" Target="../tags/tag60.xml"/></Relationships>
</file>

<file path=ppt/slides/_rels/slide4.xml.rels><?xml version="1.0" encoding="UTF-8" standalone="yes"?>
<Relationships xmlns="http://schemas.openxmlformats.org/package/2006/relationships"><Relationship Id="rId26" Type="http://schemas.openxmlformats.org/officeDocument/2006/relationships/tags" Target="../tags/tag87.xml"/><Relationship Id="rId21" Type="http://schemas.openxmlformats.org/officeDocument/2006/relationships/tags" Target="../tags/tag82.xml"/><Relationship Id="rId42" Type="http://schemas.openxmlformats.org/officeDocument/2006/relationships/tags" Target="../tags/tag103.xml"/><Relationship Id="rId47" Type="http://schemas.openxmlformats.org/officeDocument/2006/relationships/tags" Target="../tags/tag108.xml"/><Relationship Id="rId63" Type="http://schemas.openxmlformats.org/officeDocument/2006/relationships/tags" Target="../tags/tag124.xml"/><Relationship Id="rId68" Type="http://schemas.openxmlformats.org/officeDocument/2006/relationships/tags" Target="../tags/tag129.xml"/><Relationship Id="rId84" Type="http://schemas.openxmlformats.org/officeDocument/2006/relationships/slide" Target="slide16.xml"/><Relationship Id="rId89" Type="http://schemas.openxmlformats.org/officeDocument/2006/relationships/slide" Target="slide44.xml"/><Relationship Id="rId16" Type="http://schemas.openxmlformats.org/officeDocument/2006/relationships/tags" Target="../tags/tag77.xml"/><Relationship Id="rId11" Type="http://schemas.openxmlformats.org/officeDocument/2006/relationships/tags" Target="../tags/tag72.xml"/><Relationship Id="rId32" Type="http://schemas.openxmlformats.org/officeDocument/2006/relationships/tags" Target="../tags/tag93.xml"/><Relationship Id="rId37" Type="http://schemas.openxmlformats.org/officeDocument/2006/relationships/tags" Target="../tags/tag98.xml"/><Relationship Id="rId53" Type="http://schemas.openxmlformats.org/officeDocument/2006/relationships/tags" Target="../tags/tag114.xml"/><Relationship Id="rId58" Type="http://schemas.openxmlformats.org/officeDocument/2006/relationships/tags" Target="../tags/tag119.xml"/><Relationship Id="rId74" Type="http://schemas.openxmlformats.org/officeDocument/2006/relationships/slideLayout" Target="../slideLayouts/slideLayout9.xml"/><Relationship Id="rId79" Type="http://schemas.openxmlformats.org/officeDocument/2006/relationships/slide" Target="slide5.xml"/><Relationship Id="rId5" Type="http://schemas.openxmlformats.org/officeDocument/2006/relationships/tags" Target="../tags/tag66.xml"/><Relationship Id="rId90" Type="http://schemas.openxmlformats.org/officeDocument/2006/relationships/slide" Target="slide46.xml"/><Relationship Id="rId95" Type="http://schemas.openxmlformats.org/officeDocument/2006/relationships/slide" Target="slide57.xml"/><Relationship Id="rId22" Type="http://schemas.openxmlformats.org/officeDocument/2006/relationships/tags" Target="../tags/tag83.xml"/><Relationship Id="rId27" Type="http://schemas.openxmlformats.org/officeDocument/2006/relationships/tags" Target="../tags/tag88.xml"/><Relationship Id="rId43" Type="http://schemas.openxmlformats.org/officeDocument/2006/relationships/tags" Target="../tags/tag104.xml"/><Relationship Id="rId48" Type="http://schemas.openxmlformats.org/officeDocument/2006/relationships/tags" Target="../tags/tag109.xml"/><Relationship Id="rId64" Type="http://schemas.openxmlformats.org/officeDocument/2006/relationships/tags" Target="../tags/tag125.xml"/><Relationship Id="rId69" Type="http://schemas.openxmlformats.org/officeDocument/2006/relationships/tags" Target="../tags/tag130.xml"/><Relationship Id="rId80" Type="http://schemas.openxmlformats.org/officeDocument/2006/relationships/slide" Target="slide6.xml"/><Relationship Id="rId85" Type="http://schemas.openxmlformats.org/officeDocument/2006/relationships/slide" Target="slide32.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33" Type="http://schemas.openxmlformats.org/officeDocument/2006/relationships/tags" Target="../tags/tag94.xml"/><Relationship Id="rId38" Type="http://schemas.openxmlformats.org/officeDocument/2006/relationships/tags" Target="../tags/tag99.xml"/><Relationship Id="rId46" Type="http://schemas.openxmlformats.org/officeDocument/2006/relationships/tags" Target="../tags/tag107.xml"/><Relationship Id="rId59" Type="http://schemas.openxmlformats.org/officeDocument/2006/relationships/tags" Target="../tags/tag120.xml"/><Relationship Id="rId67" Type="http://schemas.openxmlformats.org/officeDocument/2006/relationships/tags" Target="../tags/tag128.xml"/><Relationship Id="rId20" Type="http://schemas.openxmlformats.org/officeDocument/2006/relationships/tags" Target="../tags/tag81.xml"/><Relationship Id="rId41" Type="http://schemas.openxmlformats.org/officeDocument/2006/relationships/tags" Target="../tags/tag102.xml"/><Relationship Id="rId54" Type="http://schemas.openxmlformats.org/officeDocument/2006/relationships/tags" Target="../tags/tag115.xml"/><Relationship Id="rId62" Type="http://schemas.openxmlformats.org/officeDocument/2006/relationships/tags" Target="../tags/tag123.xml"/><Relationship Id="rId70" Type="http://schemas.openxmlformats.org/officeDocument/2006/relationships/tags" Target="../tags/tag131.xml"/><Relationship Id="rId75" Type="http://schemas.openxmlformats.org/officeDocument/2006/relationships/slide" Target="slide71.xml"/><Relationship Id="rId83" Type="http://schemas.openxmlformats.org/officeDocument/2006/relationships/slide" Target="slide15.xml"/><Relationship Id="rId88" Type="http://schemas.openxmlformats.org/officeDocument/2006/relationships/slide" Target="slide38.xml"/><Relationship Id="rId91" Type="http://schemas.openxmlformats.org/officeDocument/2006/relationships/slide" Target="slide49.xml"/><Relationship Id="rId96" Type="http://schemas.openxmlformats.org/officeDocument/2006/relationships/slide" Target="slide58.xml"/><Relationship Id="rId1" Type="http://schemas.openxmlformats.org/officeDocument/2006/relationships/tags" Target="../tags/tag62.xml"/><Relationship Id="rId6" Type="http://schemas.openxmlformats.org/officeDocument/2006/relationships/tags" Target="../tags/tag67.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36" Type="http://schemas.openxmlformats.org/officeDocument/2006/relationships/tags" Target="../tags/tag97.xml"/><Relationship Id="rId49" Type="http://schemas.openxmlformats.org/officeDocument/2006/relationships/tags" Target="../tags/tag110.xml"/><Relationship Id="rId57" Type="http://schemas.openxmlformats.org/officeDocument/2006/relationships/tags" Target="../tags/tag118.xml"/><Relationship Id="rId10" Type="http://schemas.openxmlformats.org/officeDocument/2006/relationships/tags" Target="../tags/tag71.xml"/><Relationship Id="rId31" Type="http://schemas.openxmlformats.org/officeDocument/2006/relationships/tags" Target="../tags/tag92.xml"/><Relationship Id="rId44" Type="http://schemas.openxmlformats.org/officeDocument/2006/relationships/tags" Target="../tags/tag105.xml"/><Relationship Id="rId52" Type="http://schemas.openxmlformats.org/officeDocument/2006/relationships/tags" Target="../tags/tag113.xml"/><Relationship Id="rId60" Type="http://schemas.openxmlformats.org/officeDocument/2006/relationships/tags" Target="../tags/tag121.xml"/><Relationship Id="rId65" Type="http://schemas.openxmlformats.org/officeDocument/2006/relationships/tags" Target="../tags/tag126.xml"/><Relationship Id="rId73" Type="http://schemas.openxmlformats.org/officeDocument/2006/relationships/tags" Target="../tags/tag134.xml"/><Relationship Id="rId78" Type="http://schemas.openxmlformats.org/officeDocument/2006/relationships/image" Target="../media/image21.jpeg"/><Relationship Id="rId81" Type="http://schemas.openxmlformats.org/officeDocument/2006/relationships/slide" Target="slide9.xml"/><Relationship Id="rId86" Type="http://schemas.openxmlformats.org/officeDocument/2006/relationships/slide" Target="slide36.xml"/><Relationship Id="rId94" Type="http://schemas.openxmlformats.org/officeDocument/2006/relationships/slide" Target="slide53.xml"/><Relationship Id="rId99" Type="http://schemas.openxmlformats.org/officeDocument/2006/relationships/slide" Target="slide61.xml"/><Relationship Id="rId101" Type="http://schemas.openxmlformats.org/officeDocument/2006/relationships/slide" Target="slide70.xml"/><Relationship Id="rId4" Type="http://schemas.openxmlformats.org/officeDocument/2006/relationships/tags" Target="../tags/tag65.xml"/><Relationship Id="rId9" Type="http://schemas.openxmlformats.org/officeDocument/2006/relationships/tags" Target="../tags/tag70.xml"/><Relationship Id="rId13" Type="http://schemas.openxmlformats.org/officeDocument/2006/relationships/tags" Target="../tags/tag74.xml"/><Relationship Id="rId18" Type="http://schemas.openxmlformats.org/officeDocument/2006/relationships/tags" Target="../tags/tag79.xml"/><Relationship Id="rId39" Type="http://schemas.openxmlformats.org/officeDocument/2006/relationships/tags" Target="../tags/tag100.xml"/><Relationship Id="rId34" Type="http://schemas.openxmlformats.org/officeDocument/2006/relationships/tags" Target="../tags/tag95.xml"/><Relationship Id="rId50" Type="http://schemas.openxmlformats.org/officeDocument/2006/relationships/tags" Target="../tags/tag111.xml"/><Relationship Id="rId55" Type="http://schemas.openxmlformats.org/officeDocument/2006/relationships/tags" Target="../tags/tag116.xml"/><Relationship Id="rId76" Type="http://schemas.openxmlformats.org/officeDocument/2006/relationships/image" Target="../media/image20.jpeg"/><Relationship Id="rId97" Type="http://schemas.openxmlformats.org/officeDocument/2006/relationships/slide" Target="slide59.xml"/><Relationship Id="rId7" Type="http://schemas.openxmlformats.org/officeDocument/2006/relationships/tags" Target="../tags/tag68.xml"/><Relationship Id="rId71" Type="http://schemas.openxmlformats.org/officeDocument/2006/relationships/tags" Target="../tags/tag132.xml"/><Relationship Id="rId92" Type="http://schemas.openxmlformats.org/officeDocument/2006/relationships/slide" Target="slide50.xml"/><Relationship Id="rId2" Type="http://schemas.openxmlformats.org/officeDocument/2006/relationships/tags" Target="../tags/tag63.xml"/><Relationship Id="rId29" Type="http://schemas.openxmlformats.org/officeDocument/2006/relationships/tags" Target="../tags/tag90.xml"/><Relationship Id="rId24" Type="http://schemas.openxmlformats.org/officeDocument/2006/relationships/tags" Target="../tags/tag85.xml"/><Relationship Id="rId40" Type="http://schemas.openxmlformats.org/officeDocument/2006/relationships/tags" Target="../tags/tag101.xml"/><Relationship Id="rId45" Type="http://schemas.openxmlformats.org/officeDocument/2006/relationships/tags" Target="../tags/tag106.xml"/><Relationship Id="rId66" Type="http://schemas.openxmlformats.org/officeDocument/2006/relationships/tags" Target="../tags/tag127.xml"/><Relationship Id="rId87" Type="http://schemas.openxmlformats.org/officeDocument/2006/relationships/slide" Target="slide37.xml"/><Relationship Id="rId61" Type="http://schemas.openxmlformats.org/officeDocument/2006/relationships/tags" Target="../tags/tag122.xml"/><Relationship Id="rId82" Type="http://schemas.openxmlformats.org/officeDocument/2006/relationships/slide" Target="slide10.xml"/><Relationship Id="rId19" Type="http://schemas.openxmlformats.org/officeDocument/2006/relationships/tags" Target="../tags/tag80.xml"/><Relationship Id="rId14" Type="http://schemas.openxmlformats.org/officeDocument/2006/relationships/tags" Target="../tags/tag75.xml"/><Relationship Id="rId30" Type="http://schemas.openxmlformats.org/officeDocument/2006/relationships/tags" Target="../tags/tag91.xml"/><Relationship Id="rId35" Type="http://schemas.openxmlformats.org/officeDocument/2006/relationships/tags" Target="../tags/tag96.xml"/><Relationship Id="rId56" Type="http://schemas.openxmlformats.org/officeDocument/2006/relationships/tags" Target="../tags/tag117.xml"/><Relationship Id="rId77" Type="http://schemas.openxmlformats.org/officeDocument/2006/relationships/slide" Target="slide64.xml"/><Relationship Id="rId100" Type="http://schemas.openxmlformats.org/officeDocument/2006/relationships/slide" Target="slide63.xml"/><Relationship Id="rId8" Type="http://schemas.openxmlformats.org/officeDocument/2006/relationships/tags" Target="../tags/tag69.xml"/><Relationship Id="rId51" Type="http://schemas.openxmlformats.org/officeDocument/2006/relationships/tags" Target="../tags/tag112.xml"/><Relationship Id="rId72" Type="http://schemas.openxmlformats.org/officeDocument/2006/relationships/tags" Target="../tags/tag133.xml"/><Relationship Id="rId93" Type="http://schemas.openxmlformats.org/officeDocument/2006/relationships/slide" Target="slide52.xml"/><Relationship Id="rId98" Type="http://schemas.openxmlformats.org/officeDocument/2006/relationships/slide" Target="slide60.xml"/><Relationship Id="rId3" Type="http://schemas.openxmlformats.org/officeDocument/2006/relationships/tags" Target="../tags/tag64.xml"/></Relationships>
</file>

<file path=ppt/slides/_rels/slide5.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slide" Target="slide10.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slide" Target="slide9.xml"/><Relationship Id="rId2" Type="http://schemas.openxmlformats.org/officeDocument/2006/relationships/tags" Target="../tags/tag136.xml"/><Relationship Id="rId16" Type="http://schemas.openxmlformats.org/officeDocument/2006/relationships/slide" Target="slide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slideLayout" Target="../slideLayouts/slideLayout34.xml"/><Relationship Id="rId10" Type="http://schemas.openxmlformats.org/officeDocument/2006/relationships/tags" Target="../tags/tag144.xml"/><Relationship Id="rId19" Type="http://schemas.openxmlformats.org/officeDocument/2006/relationships/slide" Target="slide5.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s>
</file>

<file path=ppt/slides/_rels/slide6.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151.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oleObject" Target="../embeddings/oleObject8.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152.xml"/><Relationship Id="rId9" Type="http://schemas.openxmlformats.org/officeDocument/2006/relationships/slide" Target="slide15.xml"/></Relationships>
</file>

<file path=ppt/slides/_rels/slide7.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slide" Target="slide52.xml"/><Relationship Id="rId3" Type="http://schemas.openxmlformats.org/officeDocument/2006/relationships/tags" Target="../tags/tag155.xml"/><Relationship Id="rId7" Type="http://schemas.openxmlformats.org/officeDocument/2006/relationships/image" Target="../media/image17.emf"/><Relationship Id="rId12" Type="http://schemas.openxmlformats.org/officeDocument/2006/relationships/slide" Target="slide49.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oleObject" Target="../embeddings/oleObject8.bin"/><Relationship Id="rId11" Type="http://schemas.openxmlformats.org/officeDocument/2006/relationships/slide" Target="slide37.xml"/><Relationship Id="rId5" Type="http://schemas.openxmlformats.org/officeDocument/2006/relationships/slideLayout" Target="../slideLayouts/slideLayout9.xml"/><Relationship Id="rId10" Type="http://schemas.openxmlformats.org/officeDocument/2006/relationships/slide" Target="slide15.xml"/><Relationship Id="rId4" Type="http://schemas.openxmlformats.org/officeDocument/2006/relationships/tags" Target="../tags/tag156.xml"/><Relationship Id="rId9" Type="http://schemas.openxmlformats.org/officeDocument/2006/relationships/slide" Target="slide5.xml"/></Relationships>
</file>

<file path=ppt/slides/_rels/slide8.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slide" Target="slide52.xml"/><Relationship Id="rId3" Type="http://schemas.openxmlformats.org/officeDocument/2006/relationships/tags" Target="../tags/tag159.xml"/><Relationship Id="rId7" Type="http://schemas.openxmlformats.org/officeDocument/2006/relationships/image" Target="../media/image17.emf"/><Relationship Id="rId12" Type="http://schemas.openxmlformats.org/officeDocument/2006/relationships/slide" Target="slide49.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oleObject" Target="../embeddings/oleObject8.bin"/><Relationship Id="rId11" Type="http://schemas.openxmlformats.org/officeDocument/2006/relationships/slide" Target="slide37.xml"/><Relationship Id="rId5" Type="http://schemas.openxmlformats.org/officeDocument/2006/relationships/slideLayout" Target="../slideLayouts/slideLayout9.xml"/><Relationship Id="rId10" Type="http://schemas.openxmlformats.org/officeDocument/2006/relationships/slide" Target="slide15.xml"/><Relationship Id="rId4" Type="http://schemas.openxmlformats.org/officeDocument/2006/relationships/tags" Target="../tags/tag160.xml"/><Relationship Id="rId9" Type="http://schemas.openxmlformats.org/officeDocument/2006/relationships/slide" Target="slide5.xml"/></Relationships>
</file>

<file path=ppt/slides/_rels/slide9.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163.xml"/><Relationship Id="rId7" Type="http://schemas.openxmlformats.org/officeDocument/2006/relationships/image" Target="../media/image25.emf"/><Relationship Id="rId12" Type="http://schemas.openxmlformats.org/officeDocument/2006/relationships/slide" Target="slide52.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24.emf"/><Relationship Id="rId11" Type="http://schemas.openxmlformats.org/officeDocument/2006/relationships/slide" Target="slide49.xml"/><Relationship Id="rId5" Type="http://schemas.openxmlformats.org/officeDocument/2006/relationships/slideLayout" Target="../slideLayouts/slideLayout17.xml"/><Relationship Id="rId10" Type="http://schemas.openxmlformats.org/officeDocument/2006/relationships/slide" Target="slide37.xml"/><Relationship Id="rId4" Type="http://schemas.openxmlformats.org/officeDocument/2006/relationships/tags" Target="../tags/tag164.xml"/><Relationship Id="rId9" Type="http://schemas.openxmlformats.org/officeDocument/2006/relationships/slide" Target="slide15.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7.emf"/><Relationship Id="rId18" Type="http://schemas.openxmlformats.org/officeDocument/2006/relationships/slide" Target="slide52.xml"/><Relationship Id="rId3" Type="http://schemas.openxmlformats.org/officeDocument/2006/relationships/tags" Target="../tags/tag167.xml"/><Relationship Id="rId7" Type="http://schemas.openxmlformats.org/officeDocument/2006/relationships/slideLayout" Target="../slideLayouts/slideLayout44.xml"/><Relationship Id="rId12" Type="http://schemas.openxmlformats.org/officeDocument/2006/relationships/image" Target="../media/image26.emf"/><Relationship Id="rId17" Type="http://schemas.openxmlformats.org/officeDocument/2006/relationships/slide" Target="slide49.xml"/><Relationship Id="rId2" Type="http://schemas.openxmlformats.org/officeDocument/2006/relationships/tags" Target="../tags/tag166.xml"/><Relationship Id="rId16" Type="http://schemas.openxmlformats.org/officeDocument/2006/relationships/slide" Target="slide37.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slide" Target="slide32.xml"/><Relationship Id="rId5" Type="http://schemas.openxmlformats.org/officeDocument/2006/relationships/tags" Target="../tags/tag169.xml"/><Relationship Id="rId15" Type="http://schemas.openxmlformats.org/officeDocument/2006/relationships/slide" Target="slide15.xml"/><Relationship Id="rId10" Type="http://schemas.openxmlformats.org/officeDocument/2006/relationships/slide" Target="slide16.xml"/><Relationship Id="rId4" Type="http://schemas.openxmlformats.org/officeDocument/2006/relationships/tags" Target="../tags/tag168.xml"/><Relationship Id="rId9" Type="http://schemas.openxmlformats.org/officeDocument/2006/relationships/image" Target="../media/image17.emf"/><Relationship Id="rId14" Type="http://schemas.openxmlformats.org/officeDocument/2006/relationships/slide" Target="slide5.xml"/></Relationships>
</file>

<file path=ppt/slides/_rels/slide1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15.xml"/><Relationship Id="rId3" Type="http://schemas.openxmlformats.org/officeDocument/2006/relationships/tags" Target="../tags/tag173.xml"/><Relationship Id="rId7" Type="http://schemas.openxmlformats.org/officeDocument/2006/relationships/oleObject" Target="../embeddings/oleObject9.bin"/><Relationship Id="rId12" Type="http://schemas.openxmlformats.org/officeDocument/2006/relationships/slide" Target="slide5.xml"/><Relationship Id="rId2" Type="http://schemas.openxmlformats.org/officeDocument/2006/relationships/tags" Target="../tags/tag172.xml"/><Relationship Id="rId16" Type="http://schemas.openxmlformats.org/officeDocument/2006/relationships/slide" Target="slide52.xml"/><Relationship Id="rId1" Type="http://schemas.openxmlformats.org/officeDocument/2006/relationships/tags" Target="../tags/tag171.xml"/><Relationship Id="rId6" Type="http://schemas.openxmlformats.org/officeDocument/2006/relationships/chart" Target="../charts/chart1.xml"/><Relationship Id="rId11" Type="http://schemas.openxmlformats.org/officeDocument/2006/relationships/chart" Target="../charts/chart3.xml"/><Relationship Id="rId5" Type="http://schemas.openxmlformats.org/officeDocument/2006/relationships/slideLayout" Target="../slideLayouts/slideLayout44.xml"/><Relationship Id="rId15" Type="http://schemas.openxmlformats.org/officeDocument/2006/relationships/slide" Target="slide49.xml"/><Relationship Id="rId10" Type="http://schemas.openxmlformats.org/officeDocument/2006/relationships/chart" Target="../charts/chart2.xml"/><Relationship Id="rId4" Type="http://schemas.openxmlformats.org/officeDocument/2006/relationships/tags" Target="../tags/tag174.xml"/><Relationship Id="rId9" Type="http://schemas.openxmlformats.org/officeDocument/2006/relationships/slide" Target="slide36.xml"/><Relationship Id="rId14" Type="http://schemas.openxmlformats.org/officeDocument/2006/relationships/slide" Target="slide37.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9.emf"/><Relationship Id="rId18" Type="http://schemas.openxmlformats.org/officeDocument/2006/relationships/slide" Target="slide52.xml"/><Relationship Id="rId3" Type="http://schemas.openxmlformats.org/officeDocument/2006/relationships/tags" Target="../tags/tag177.xml"/><Relationship Id="rId7" Type="http://schemas.openxmlformats.org/officeDocument/2006/relationships/slideLayout" Target="../slideLayouts/slideLayout44.xml"/><Relationship Id="rId12" Type="http://schemas.openxmlformats.org/officeDocument/2006/relationships/image" Target="../media/image28.emf"/><Relationship Id="rId17" Type="http://schemas.openxmlformats.org/officeDocument/2006/relationships/slide" Target="slide49.xml"/><Relationship Id="rId2" Type="http://schemas.openxmlformats.org/officeDocument/2006/relationships/tags" Target="../tags/tag176.xml"/><Relationship Id="rId16" Type="http://schemas.openxmlformats.org/officeDocument/2006/relationships/slide" Target="slide37.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slide" Target="slide24.xml"/><Relationship Id="rId5" Type="http://schemas.openxmlformats.org/officeDocument/2006/relationships/tags" Target="../tags/tag179.xml"/><Relationship Id="rId15" Type="http://schemas.openxmlformats.org/officeDocument/2006/relationships/slide" Target="slide15.xml"/><Relationship Id="rId10" Type="http://schemas.openxmlformats.org/officeDocument/2006/relationships/slide" Target="slide36.xml"/><Relationship Id="rId4" Type="http://schemas.openxmlformats.org/officeDocument/2006/relationships/tags" Target="../tags/tag178.xml"/><Relationship Id="rId9" Type="http://schemas.openxmlformats.org/officeDocument/2006/relationships/image" Target="../media/image17.emf"/><Relationship Id="rId14" Type="http://schemas.openxmlformats.org/officeDocument/2006/relationships/slide" Target="slide5.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 Target="slide44.xml"/><Relationship Id="rId18" Type="http://schemas.openxmlformats.org/officeDocument/2006/relationships/slide" Target="slide37.xm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image" Target="../media/image30.png"/><Relationship Id="rId17" Type="http://schemas.openxmlformats.org/officeDocument/2006/relationships/slide" Target="slide15.xml"/><Relationship Id="rId2" Type="http://schemas.openxmlformats.org/officeDocument/2006/relationships/tags" Target="../tags/tag182.xml"/><Relationship Id="rId16" Type="http://schemas.openxmlformats.org/officeDocument/2006/relationships/slide" Target="slide5.xml"/><Relationship Id="rId20" Type="http://schemas.openxmlformats.org/officeDocument/2006/relationships/slide" Target="slide5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slide" Target="slide38.xml"/><Relationship Id="rId5" Type="http://schemas.openxmlformats.org/officeDocument/2006/relationships/tags" Target="../tags/tag185.xml"/><Relationship Id="rId15" Type="http://schemas.openxmlformats.org/officeDocument/2006/relationships/image" Target="../media/image32.emf"/><Relationship Id="rId10" Type="http://schemas.openxmlformats.org/officeDocument/2006/relationships/image" Target="../media/image17.emf"/><Relationship Id="rId19" Type="http://schemas.openxmlformats.org/officeDocument/2006/relationships/slide" Target="slide49.xml"/><Relationship Id="rId4" Type="http://schemas.openxmlformats.org/officeDocument/2006/relationships/tags" Target="../tags/tag184.xml"/><Relationship Id="rId9" Type="http://schemas.openxmlformats.org/officeDocument/2006/relationships/oleObject" Target="../embeddings/oleObject10.bin"/><Relationship Id="rId14" Type="http://schemas.openxmlformats.org/officeDocument/2006/relationships/image" Target="../media/image31.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slide" Target="slide5.xml"/><Relationship Id="rId3" Type="http://schemas.openxmlformats.org/officeDocument/2006/relationships/tags" Target="../tags/tag190.xml"/><Relationship Id="rId7" Type="http://schemas.openxmlformats.org/officeDocument/2006/relationships/slideLayout" Target="../slideLayouts/slideLayout45.xml"/><Relationship Id="rId12" Type="http://schemas.openxmlformats.org/officeDocument/2006/relationships/image" Target="../media/image34.emf"/><Relationship Id="rId17" Type="http://schemas.openxmlformats.org/officeDocument/2006/relationships/slide" Target="slide52.xml"/><Relationship Id="rId2" Type="http://schemas.openxmlformats.org/officeDocument/2006/relationships/tags" Target="../tags/tag189.xml"/><Relationship Id="rId16" Type="http://schemas.openxmlformats.org/officeDocument/2006/relationships/slide" Target="slide49.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image" Target="../media/image33.png"/><Relationship Id="rId5" Type="http://schemas.openxmlformats.org/officeDocument/2006/relationships/tags" Target="../tags/tag192.xml"/><Relationship Id="rId15" Type="http://schemas.openxmlformats.org/officeDocument/2006/relationships/slide" Target="slide37.xml"/><Relationship Id="rId10" Type="http://schemas.openxmlformats.org/officeDocument/2006/relationships/slide" Target="slide46.xml"/><Relationship Id="rId4" Type="http://schemas.openxmlformats.org/officeDocument/2006/relationships/tags" Target="../tags/tag191.xml"/><Relationship Id="rId9" Type="http://schemas.openxmlformats.org/officeDocument/2006/relationships/image" Target="../media/image17.emf"/><Relationship Id="rId14" Type="http://schemas.openxmlformats.org/officeDocument/2006/relationships/slide" Target="slide15.xml"/></Relationships>
</file>

<file path=ppt/slides/_rels/slide15.xml.rels><?xml version="1.0" encoding="UTF-8" standalone="yes"?>
<Relationships xmlns="http://schemas.openxmlformats.org/package/2006/relationships"><Relationship Id="rId8" Type="http://schemas.openxmlformats.org/officeDocument/2006/relationships/tags" Target="../tags/tag201.xml"/><Relationship Id="rId13" Type="http://schemas.openxmlformats.org/officeDocument/2006/relationships/tags" Target="../tags/tag206.xml"/><Relationship Id="rId18" Type="http://schemas.openxmlformats.org/officeDocument/2006/relationships/slide" Target="slide36.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slide" Target="slide32.xml"/><Relationship Id="rId2" Type="http://schemas.openxmlformats.org/officeDocument/2006/relationships/tags" Target="../tags/tag195.xml"/><Relationship Id="rId16" Type="http://schemas.openxmlformats.org/officeDocument/2006/relationships/slide" Target="slide16.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5" Type="http://schemas.openxmlformats.org/officeDocument/2006/relationships/slide" Target="slide15.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37.xml"/><Relationship Id="rId3" Type="http://schemas.openxmlformats.org/officeDocument/2006/relationships/tags" Target="../tags/tag209.xml"/><Relationship Id="rId7" Type="http://schemas.openxmlformats.org/officeDocument/2006/relationships/notesSlide" Target="../notesSlides/notesSlide2.xml"/><Relationship Id="rId12" Type="http://schemas.openxmlformats.org/officeDocument/2006/relationships/slide" Target="slide15.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slideLayout" Target="../slideLayouts/slideLayout42.xml"/><Relationship Id="rId11" Type="http://schemas.openxmlformats.org/officeDocument/2006/relationships/slide" Target="slide5.xml"/><Relationship Id="rId5" Type="http://schemas.openxmlformats.org/officeDocument/2006/relationships/tags" Target="../tags/tag211.xml"/><Relationship Id="rId15" Type="http://schemas.openxmlformats.org/officeDocument/2006/relationships/slide" Target="slide52.xml"/><Relationship Id="rId10" Type="http://schemas.openxmlformats.org/officeDocument/2006/relationships/image" Target="../media/image35.emf"/><Relationship Id="rId4" Type="http://schemas.openxmlformats.org/officeDocument/2006/relationships/tags" Target="../tags/tag210.xml"/><Relationship Id="rId9" Type="http://schemas.openxmlformats.org/officeDocument/2006/relationships/image" Target="../media/image17.emf"/><Relationship Id="rId14" Type="http://schemas.openxmlformats.org/officeDocument/2006/relationships/slide" Target="slide49.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37.xml"/><Relationship Id="rId3" Type="http://schemas.openxmlformats.org/officeDocument/2006/relationships/tags" Target="../tags/tag214.xml"/><Relationship Id="rId7" Type="http://schemas.openxmlformats.org/officeDocument/2006/relationships/notesSlide" Target="../notesSlides/notesSlide3.xml"/><Relationship Id="rId12" Type="http://schemas.openxmlformats.org/officeDocument/2006/relationships/slide" Target="slide15.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slideLayout" Target="../slideLayouts/slideLayout42.xml"/><Relationship Id="rId11" Type="http://schemas.openxmlformats.org/officeDocument/2006/relationships/slide" Target="slide5.xml"/><Relationship Id="rId5" Type="http://schemas.openxmlformats.org/officeDocument/2006/relationships/tags" Target="../tags/tag216.xml"/><Relationship Id="rId15" Type="http://schemas.openxmlformats.org/officeDocument/2006/relationships/slide" Target="slide52.xml"/><Relationship Id="rId10" Type="http://schemas.openxmlformats.org/officeDocument/2006/relationships/image" Target="../media/image35.emf"/><Relationship Id="rId4" Type="http://schemas.openxmlformats.org/officeDocument/2006/relationships/tags" Target="../tags/tag215.xml"/><Relationship Id="rId9" Type="http://schemas.openxmlformats.org/officeDocument/2006/relationships/image" Target="../media/image17.emf"/><Relationship Id="rId14" Type="http://schemas.openxmlformats.org/officeDocument/2006/relationships/slide" Target="slide49.xml"/></Relationships>
</file>

<file path=ppt/slides/_rels/slide18.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1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21.xml"/><Relationship Id="rId10" Type="http://schemas.openxmlformats.org/officeDocument/2006/relationships/slide" Target="slide5.xml"/><Relationship Id="rId4" Type="http://schemas.openxmlformats.org/officeDocument/2006/relationships/tags" Target="../tags/tag220.xml"/><Relationship Id="rId9" Type="http://schemas.openxmlformats.org/officeDocument/2006/relationships/image" Target="../media/image36.emf"/><Relationship Id="rId14" Type="http://schemas.openxmlformats.org/officeDocument/2006/relationships/slide" Target="slide52.xml"/></Relationships>
</file>

<file path=ppt/slides/_rels/slide19.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2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26.xml"/><Relationship Id="rId10" Type="http://schemas.openxmlformats.org/officeDocument/2006/relationships/slide" Target="slide5.xml"/><Relationship Id="rId4" Type="http://schemas.openxmlformats.org/officeDocument/2006/relationships/tags" Target="../tags/tag225.xml"/><Relationship Id="rId9" Type="http://schemas.openxmlformats.org/officeDocument/2006/relationships/image" Target="../media/image37.emf"/><Relationship Id="rId14" Type="http://schemas.openxmlformats.org/officeDocument/2006/relationships/slide" Target="slide52.xml"/></Relationships>
</file>

<file path=ppt/slides/_rels/slide20.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2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31.xml"/><Relationship Id="rId10" Type="http://schemas.openxmlformats.org/officeDocument/2006/relationships/slide" Target="slide5.xml"/><Relationship Id="rId4" Type="http://schemas.openxmlformats.org/officeDocument/2006/relationships/tags" Target="../tags/tag230.xml"/><Relationship Id="rId9" Type="http://schemas.openxmlformats.org/officeDocument/2006/relationships/image" Target="../media/image37.emf"/><Relationship Id="rId14" Type="http://schemas.openxmlformats.org/officeDocument/2006/relationships/slide" Target="slide52.xml"/></Relationships>
</file>

<file path=ppt/slides/_rels/slide2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3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36.xml"/><Relationship Id="rId10" Type="http://schemas.openxmlformats.org/officeDocument/2006/relationships/slide" Target="slide5.xml"/><Relationship Id="rId4" Type="http://schemas.openxmlformats.org/officeDocument/2006/relationships/tags" Target="../tags/tag235.xml"/><Relationship Id="rId9" Type="http://schemas.openxmlformats.org/officeDocument/2006/relationships/image" Target="../media/image38.emf"/><Relationship Id="rId14" Type="http://schemas.openxmlformats.org/officeDocument/2006/relationships/slide" Target="slide52.xml"/></Relationships>
</file>

<file path=ppt/slides/_rels/slide22.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3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41.xml"/><Relationship Id="rId10" Type="http://schemas.openxmlformats.org/officeDocument/2006/relationships/slide" Target="slide5.xml"/><Relationship Id="rId4" Type="http://schemas.openxmlformats.org/officeDocument/2006/relationships/tags" Target="../tags/tag240.xml"/><Relationship Id="rId9" Type="http://schemas.openxmlformats.org/officeDocument/2006/relationships/image" Target="../media/image38.emf"/><Relationship Id="rId14" Type="http://schemas.openxmlformats.org/officeDocument/2006/relationships/slide" Target="slide52.xml"/></Relationships>
</file>

<file path=ppt/slides/_rels/slide23.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4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46.xml"/><Relationship Id="rId10" Type="http://schemas.openxmlformats.org/officeDocument/2006/relationships/slide" Target="slide5.xml"/><Relationship Id="rId4" Type="http://schemas.openxmlformats.org/officeDocument/2006/relationships/tags" Target="../tags/tag245.xml"/><Relationship Id="rId9" Type="http://schemas.openxmlformats.org/officeDocument/2006/relationships/image" Target="../media/image38.emf"/><Relationship Id="rId14" Type="http://schemas.openxmlformats.org/officeDocument/2006/relationships/slide" Target="slide52.xml"/></Relationships>
</file>

<file path=ppt/slides/_rels/slide24.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4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51.xml"/><Relationship Id="rId10" Type="http://schemas.openxmlformats.org/officeDocument/2006/relationships/slide" Target="slide5.xml"/><Relationship Id="rId4" Type="http://schemas.openxmlformats.org/officeDocument/2006/relationships/tags" Target="../tags/tag250.xml"/><Relationship Id="rId9" Type="http://schemas.openxmlformats.org/officeDocument/2006/relationships/image" Target="../media/image39.emf"/><Relationship Id="rId14" Type="http://schemas.openxmlformats.org/officeDocument/2006/relationships/slide" Target="slide52.xml"/></Relationships>
</file>

<file path=ppt/slides/_rels/slide25.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5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56.xml"/><Relationship Id="rId10" Type="http://schemas.openxmlformats.org/officeDocument/2006/relationships/slide" Target="slide5.xml"/><Relationship Id="rId4" Type="http://schemas.openxmlformats.org/officeDocument/2006/relationships/tags" Target="../tags/tag255.xml"/><Relationship Id="rId9" Type="http://schemas.openxmlformats.org/officeDocument/2006/relationships/image" Target="../media/image39.emf"/><Relationship Id="rId14" Type="http://schemas.openxmlformats.org/officeDocument/2006/relationships/slide" Target="slide52.xml"/></Relationships>
</file>

<file path=ppt/slides/_rels/slide26.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5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61.xml"/><Relationship Id="rId10" Type="http://schemas.openxmlformats.org/officeDocument/2006/relationships/slide" Target="slide5.xml"/><Relationship Id="rId4" Type="http://schemas.openxmlformats.org/officeDocument/2006/relationships/tags" Target="../tags/tag260.xml"/><Relationship Id="rId9" Type="http://schemas.openxmlformats.org/officeDocument/2006/relationships/image" Target="../media/image39.emf"/><Relationship Id="rId14" Type="http://schemas.openxmlformats.org/officeDocument/2006/relationships/slide" Target="slide52.xml"/></Relationships>
</file>

<file path=ppt/slides/_rels/slide27.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6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66.xml"/><Relationship Id="rId10" Type="http://schemas.openxmlformats.org/officeDocument/2006/relationships/slide" Target="slide5.xml"/><Relationship Id="rId4" Type="http://schemas.openxmlformats.org/officeDocument/2006/relationships/tags" Target="../tags/tag265.xml"/><Relationship Id="rId9" Type="http://schemas.openxmlformats.org/officeDocument/2006/relationships/image" Target="../media/image39.emf"/><Relationship Id="rId14" Type="http://schemas.openxmlformats.org/officeDocument/2006/relationships/slide" Target="slide52.xml"/></Relationships>
</file>

<file path=ppt/slides/_rels/slide28.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69.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71.xml"/><Relationship Id="rId10" Type="http://schemas.openxmlformats.org/officeDocument/2006/relationships/slide" Target="slide5.xml"/><Relationship Id="rId4" Type="http://schemas.openxmlformats.org/officeDocument/2006/relationships/tags" Target="../tags/tag270.xml"/><Relationship Id="rId9" Type="http://schemas.openxmlformats.org/officeDocument/2006/relationships/image" Target="../media/image40.emf"/><Relationship Id="rId14" Type="http://schemas.openxmlformats.org/officeDocument/2006/relationships/slide" Target="slide52.xml"/></Relationships>
</file>

<file path=ppt/slides/_rels/slide29.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74.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76.xml"/><Relationship Id="rId10" Type="http://schemas.openxmlformats.org/officeDocument/2006/relationships/slide" Target="slide5.xml"/><Relationship Id="rId4" Type="http://schemas.openxmlformats.org/officeDocument/2006/relationships/tags" Target="../tags/tag275.xml"/><Relationship Id="rId9" Type="http://schemas.openxmlformats.org/officeDocument/2006/relationships/image" Target="../media/image41.emf"/><Relationship Id="rId14" Type="http://schemas.openxmlformats.org/officeDocument/2006/relationships/slide" Target="slide5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slide" Target="slide15.xml"/><Relationship Id="rId3" Type="http://schemas.openxmlformats.org/officeDocument/2006/relationships/tags" Target="../tags/tag279.xml"/><Relationship Id="rId7" Type="http://schemas.openxmlformats.org/officeDocument/2006/relationships/slideLayout" Target="../slideLayouts/slideLayout42.xml"/><Relationship Id="rId12" Type="http://schemas.openxmlformats.org/officeDocument/2006/relationships/slide" Target="slide5.xml"/><Relationship Id="rId2" Type="http://schemas.openxmlformats.org/officeDocument/2006/relationships/tags" Target="../tags/tag278.xml"/><Relationship Id="rId16" Type="http://schemas.openxmlformats.org/officeDocument/2006/relationships/slide" Target="slide52.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image" Target="../media/image41.emf"/><Relationship Id="rId5" Type="http://schemas.openxmlformats.org/officeDocument/2006/relationships/tags" Target="../tags/tag281.xml"/><Relationship Id="rId15" Type="http://schemas.openxmlformats.org/officeDocument/2006/relationships/slide" Target="slide49.xml"/><Relationship Id="rId10" Type="http://schemas.openxmlformats.org/officeDocument/2006/relationships/image" Target="../media/image42.emf"/><Relationship Id="rId4" Type="http://schemas.openxmlformats.org/officeDocument/2006/relationships/tags" Target="../tags/tag280.xml"/><Relationship Id="rId9" Type="http://schemas.openxmlformats.org/officeDocument/2006/relationships/image" Target="../media/image17.emf"/><Relationship Id="rId14" Type="http://schemas.openxmlformats.org/officeDocument/2006/relationships/slide" Target="slide37.xml"/></Relationships>
</file>

<file path=ppt/slides/_rels/slide3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85.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84.xml"/><Relationship Id="rId1" Type="http://schemas.openxmlformats.org/officeDocument/2006/relationships/tags" Target="../tags/tag283.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87.xml"/><Relationship Id="rId10" Type="http://schemas.openxmlformats.org/officeDocument/2006/relationships/slide" Target="slide5.xml"/><Relationship Id="rId4" Type="http://schemas.openxmlformats.org/officeDocument/2006/relationships/tags" Target="../tags/tag286.xml"/><Relationship Id="rId9" Type="http://schemas.openxmlformats.org/officeDocument/2006/relationships/image" Target="../media/image41.emf"/><Relationship Id="rId14" Type="http://schemas.openxmlformats.org/officeDocument/2006/relationships/slide" Target="slide52.xml"/></Relationships>
</file>

<file path=ppt/slides/_rels/slide32.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90.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92.xml"/><Relationship Id="rId10" Type="http://schemas.openxmlformats.org/officeDocument/2006/relationships/slide" Target="slide5.xml"/><Relationship Id="rId4" Type="http://schemas.openxmlformats.org/officeDocument/2006/relationships/tags" Target="../tags/tag291.xml"/><Relationship Id="rId9" Type="http://schemas.openxmlformats.org/officeDocument/2006/relationships/image" Target="../media/image43.emf"/><Relationship Id="rId14" Type="http://schemas.openxmlformats.org/officeDocument/2006/relationships/slide" Target="slide52.xml"/></Relationships>
</file>

<file path=ppt/slides/_rels/slide33.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295.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297.xml"/><Relationship Id="rId10" Type="http://schemas.openxmlformats.org/officeDocument/2006/relationships/slide" Target="slide5.xml"/><Relationship Id="rId4" Type="http://schemas.openxmlformats.org/officeDocument/2006/relationships/tags" Target="../tags/tag296.xml"/><Relationship Id="rId9" Type="http://schemas.openxmlformats.org/officeDocument/2006/relationships/image" Target="../media/image43.emf"/><Relationship Id="rId14" Type="http://schemas.openxmlformats.org/officeDocument/2006/relationships/slide" Target="slide52.xml"/></Relationships>
</file>

<file path=ppt/slides/_rels/slide34.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00.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302.xml"/><Relationship Id="rId10" Type="http://schemas.openxmlformats.org/officeDocument/2006/relationships/slide" Target="slide5.xml"/><Relationship Id="rId4" Type="http://schemas.openxmlformats.org/officeDocument/2006/relationships/tags" Target="../tags/tag301.xml"/><Relationship Id="rId9" Type="http://schemas.openxmlformats.org/officeDocument/2006/relationships/image" Target="../media/image44.emf"/><Relationship Id="rId14" Type="http://schemas.openxmlformats.org/officeDocument/2006/relationships/slide" Target="slide52.xml"/></Relationships>
</file>

<file path=ppt/slides/_rels/slide35.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05.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307.xml"/><Relationship Id="rId10" Type="http://schemas.openxmlformats.org/officeDocument/2006/relationships/slide" Target="slide5.xml"/><Relationship Id="rId4" Type="http://schemas.openxmlformats.org/officeDocument/2006/relationships/tags" Target="../tags/tag306.xml"/><Relationship Id="rId9" Type="http://schemas.openxmlformats.org/officeDocument/2006/relationships/image" Target="../media/image44.emf"/><Relationship Id="rId14" Type="http://schemas.openxmlformats.org/officeDocument/2006/relationships/slide" Target="slide52.xml"/></Relationships>
</file>

<file path=ppt/slides/_rels/slide36.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10.xml"/><Relationship Id="rId7" Type="http://schemas.openxmlformats.org/officeDocument/2006/relationships/oleObject" Target="../embeddings/oleObject11.bin"/><Relationship Id="rId12" Type="http://schemas.openxmlformats.org/officeDocument/2006/relationships/slide" Target="slide37.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slideLayout" Target="../slideLayouts/slideLayout42.xml"/><Relationship Id="rId11" Type="http://schemas.openxmlformats.org/officeDocument/2006/relationships/slide" Target="slide15.xml"/><Relationship Id="rId5" Type="http://schemas.openxmlformats.org/officeDocument/2006/relationships/tags" Target="../tags/tag312.xml"/><Relationship Id="rId10" Type="http://schemas.openxmlformats.org/officeDocument/2006/relationships/slide" Target="slide5.xml"/><Relationship Id="rId4" Type="http://schemas.openxmlformats.org/officeDocument/2006/relationships/tags" Target="../tags/tag311.xml"/><Relationship Id="rId9" Type="http://schemas.openxmlformats.org/officeDocument/2006/relationships/image" Target="../media/image45.emf"/><Relationship Id="rId14" Type="http://schemas.openxmlformats.org/officeDocument/2006/relationships/slide" Target="slide52.xml"/></Relationships>
</file>

<file path=ppt/slides/_rels/slide37.xml.rels><?xml version="1.0" encoding="UTF-8" standalone="yes"?>
<Relationships xmlns="http://schemas.openxmlformats.org/package/2006/relationships"><Relationship Id="rId8" Type="http://schemas.openxmlformats.org/officeDocument/2006/relationships/tags" Target="../tags/tag320.xml"/><Relationship Id="rId13" Type="http://schemas.openxmlformats.org/officeDocument/2006/relationships/tags" Target="../tags/tag325.xml"/><Relationship Id="rId18" Type="http://schemas.openxmlformats.org/officeDocument/2006/relationships/slide" Target="slide46.xml"/><Relationship Id="rId3" Type="http://schemas.openxmlformats.org/officeDocument/2006/relationships/tags" Target="../tags/tag315.xml"/><Relationship Id="rId7" Type="http://schemas.openxmlformats.org/officeDocument/2006/relationships/tags" Target="../tags/tag319.xml"/><Relationship Id="rId12" Type="http://schemas.openxmlformats.org/officeDocument/2006/relationships/tags" Target="../tags/tag324.xml"/><Relationship Id="rId17" Type="http://schemas.openxmlformats.org/officeDocument/2006/relationships/slide" Target="slide44.xml"/><Relationship Id="rId2" Type="http://schemas.openxmlformats.org/officeDocument/2006/relationships/tags" Target="../tags/tag314.xml"/><Relationship Id="rId16" Type="http://schemas.openxmlformats.org/officeDocument/2006/relationships/slide" Target="slide38.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5" Type="http://schemas.openxmlformats.org/officeDocument/2006/relationships/tags" Target="../tags/tag317.xml"/><Relationship Id="rId15" Type="http://schemas.openxmlformats.org/officeDocument/2006/relationships/slide" Target="slide37.xml"/><Relationship Id="rId10" Type="http://schemas.openxmlformats.org/officeDocument/2006/relationships/tags" Target="../tags/tag322.xml"/><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7.emf"/><Relationship Id="rId18" Type="http://schemas.openxmlformats.org/officeDocument/2006/relationships/slide" Target="slide52.xml"/><Relationship Id="rId3" Type="http://schemas.openxmlformats.org/officeDocument/2006/relationships/tags" Target="../tags/tag328.xml"/><Relationship Id="rId7" Type="http://schemas.openxmlformats.org/officeDocument/2006/relationships/tags" Target="../tags/tag332.xml"/><Relationship Id="rId12" Type="http://schemas.openxmlformats.org/officeDocument/2006/relationships/image" Target="../media/image46.png"/><Relationship Id="rId17" Type="http://schemas.openxmlformats.org/officeDocument/2006/relationships/slide" Target="slide49.xml"/><Relationship Id="rId2" Type="http://schemas.openxmlformats.org/officeDocument/2006/relationships/tags" Target="../tags/tag327.xml"/><Relationship Id="rId16" Type="http://schemas.openxmlformats.org/officeDocument/2006/relationships/slide" Target="slide37.xml"/><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image" Target="../media/image30.png"/><Relationship Id="rId5" Type="http://schemas.openxmlformats.org/officeDocument/2006/relationships/tags" Target="../tags/tag330.xml"/><Relationship Id="rId15" Type="http://schemas.openxmlformats.org/officeDocument/2006/relationships/slide" Target="slide15.xml"/><Relationship Id="rId10" Type="http://schemas.openxmlformats.org/officeDocument/2006/relationships/image" Target="../media/image17.emf"/><Relationship Id="rId4" Type="http://schemas.openxmlformats.org/officeDocument/2006/relationships/tags" Target="../tags/tag329.xml"/><Relationship Id="rId9" Type="http://schemas.openxmlformats.org/officeDocument/2006/relationships/oleObject" Target="../embeddings/oleObject12.bin"/><Relationship Id="rId14" Type="http://schemas.openxmlformats.org/officeDocument/2006/relationships/slide" Target="slide5.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8.emf"/><Relationship Id="rId18" Type="http://schemas.openxmlformats.org/officeDocument/2006/relationships/slide" Target="slide52.xml"/><Relationship Id="rId3" Type="http://schemas.openxmlformats.org/officeDocument/2006/relationships/tags" Target="../tags/tag335.xml"/><Relationship Id="rId7" Type="http://schemas.openxmlformats.org/officeDocument/2006/relationships/tags" Target="../tags/tag339.xml"/><Relationship Id="rId12" Type="http://schemas.openxmlformats.org/officeDocument/2006/relationships/image" Target="../media/image46.png"/><Relationship Id="rId17" Type="http://schemas.openxmlformats.org/officeDocument/2006/relationships/slide" Target="slide49.xml"/><Relationship Id="rId2" Type="http://schemas.openxmlformats.org/officeDocument/2006/relationships/tags" Target="../tags/tag334.xml"/><Relationship Id="rId16" Type="http://schemas.openxmlformats.org/officeDocument/2006/relationships/slide" Target="slide37.xml"/><Relationship Id="rId1" Type="http://schemas.openxmlformats.org/officeDocument/2006/relationships/tags" Target="../tags/tag333.xml"/><Relationship Id="rId6" Type="http://schemas.openxmlformats.org/officeDocument/2006/relationships/tags" Target="../tags/tag338.xml"/><Relationship Id="rId11" Type="http://schemas.openxmlformats.org/officeDocument/2006/relationships/image" Target="../media/image30.png"/><Relationship Id="rId5" Type="http://schemas.openxmlformats.org/officeDocument/2006/relationships/tags" Target="../tags/tag337.xml"/><Relationship Id="rId15" Type="http://schemas.openxmlformats.org/officeDocument/2006/relationships/slide" Target="slide15.xml"/><Relationship Id="rId10" Type="http://schemas.openxmlformats.org/officeDocument/2006/relationships/image" Target="../media/image17.emf"/><Relationship Id="rId4" Type="http://schemas.openxmlformats.org/officeDocument/2006/relationships/tags" Target="../tags/tag336.xml"/><Relationship Id="rId9" Type="http://schemas.openxmlformats.org/officeDocument/2006/relationships/oleObject" Target="../embeddings/oleObject12.bin"/><Relationship Id="rId14" Type="http://schemas.openxmlformats.org/officeDocument/2006/relationships/slide" Target="slide5.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slide" Target="slide15.xml"/><Relationship Id="rId3" Type="http://schemas.openxmlformats.org/officeDocument/2006/relationships/tags" Target="../tags/tag342.xml"/><Relationship Id="rId7" Type="http://schemas.openxmlformats.org/officeDocument/2006/relationships/slideLayout" Target="../slideLayouts/slideLayout43.xml"/><Relationship Id="rId12" Type="http://schemas.openxmlformats.org/officeDocument/2006/relationships/slide" Target="slide5.xml"/><Relationship Id="rId2" Type="http://schemas.openxmlformats.org/officeDocument/2006/relationships/tags" Target="../tags/tag341.xml"/><Relationship Id="rId16" Type="http://schemas.openxmlformats.org/officeDocument/2006/relationships/slide" Target="slide52.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image" Target="../media/image50.emf"/><Relationship Id="rId5" Type="http://schemas.openxmlformats.org/officeDocument/2006/relationships/tags" Target="../tags/tag344.xml"/><Relationship Id="rId15" Type="http://schemas.openxmlformats.org/officeDocument/2006/relationships/slide" Target="slide49.xml"/><Relationship Id="rId10" Type="http://schemas.openxmlformats.org/officeDocument/2006/relationships/image" Target="../media/image49.png"/><Relationship Id="rId4" Type="http://schemas.openxmlformats.org/officeDocument/2006/relationships/tags" Target="../tags/tag343.xml"/><Relationship Id="rId9" Type="http://schemas.openxmlformats.org/officeDocument/2006/relationships/image" Target="../media/image17.emf"/><Relationship Id="rId14" Type="http://schemas.openxmlformats.org/officeDocument/2006/relationships/slide" Target="slide37.xml"/></Relationships>
</file>

<file path=ppt/slides/_rels/slide4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48.xml"/><Relationship Id="rId7" Type="http://schemas.openxmlformats.org/officeDocument/2006/relationships/oleObject" Target="../embeddings/oleObject12.bin"/><Relationship Id="rId12" Type="http://schemas.openxmlformats.org/officeDocument/2006/relationships/slide" Target="slide37.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slideLayout" Target="../slideLayouts/slideLayout43.xml"/><Relationship Id="rId11" Type="http://schemas.openxmlformats.org/officeDocument/2006/relationships/slide" Target="slide15.xml"/><Relationship Id="rId5" Type="http://schemas.openxmlformats.org/officeDocument/2006/relationships/tags" Target="../tags/tag350.xml"/><Relationship Id="rId10" Type="http://schemas.openxmlformats.org/officeDocument/2006/relationships/slide" Target="slide5.xml"/><Relationship Id="rId4" Type="http://schemas.openxmlformats.org/officeDocument/2006/relationships/tags" Target="../tags/tag349.xml"/><Relationship Id="rId9" Type="http://schemas.openxmlformats.org/officeDocument/2006/relationships/image" Target="../media/image50.emf"/><Relationship Id="rId14" Type="http://schemas.openxmlformats.org/officeDocument/2006/relationships/slide" Target="slide52.xml"/></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slide" Target="slide5.xml"/><Relationship Id="rId3" Type="http://schemas.openxmlformats.org/officeDocument/2006/relationships/tags" Target="../tags/tag353.xml"/><Relationship Id="rId7" Type="http://schemas.openxmlformats.org/officeDocument/2006/relationships/slideLayout" Target="../slideLayouts/slideLayout43.xml"/><Relationship Id="rId12" Type="http://schemas.openxmlformats.org/officeDocument/2006/relationships/image" Target="../media/image52.emf"/><Relationship Id="rId17" Type="http://schemas.openxmlformats.org/officeDocument/2006/relationships/slide" Target="slide52.xml"/><Relationship Id="rId2" Type="http://schemas.openxmlformats.org/officeDocument/2006/relationships/tags" Target="../tags/tag352.xml"/><Relationship Id="rId16" Type="http://schemas.openxmlformats.org/officeDocument/2006/relationships/slide" Target="slide49.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image" Target="../media/image51.png"/><Relationship Id="rId5" Type="http://schemas.openxmlformats.org/officeDocument/2006/relationships/tags" Target="../tags/tag355.xml"/><Relationship Id="rId15" Type="http://schemas.openxmlformats.org/officeDocument/2006/relationships/slide" Target="slide37.xml"/><Relationship Id="rId10" Type="http://schemas.openxmlformats.org/officeDocument/2006/relationships/image" Target="../media/image17.emf"/><Relationship Id="rId4" Type="http://schemas.openxmlformats.org/officeDocument/2006/relationships/tags" Target="../tags/tag354.xml"/><Relationship Id="rId9" Type="http://schemas.openxmlformats.org/officeDocument/2006/relationships/oleObject" Target="../embeddings/oleObject12.bin"/><Relationship Id="rId14" Type="http://schemas.openxmlformats.org/officeDocument/2006/relationships/slide" Target="slide15.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slide" Target="slide37.xml"/><Relationship Id="rId3" Type="http://schemas.openxmlformats.org/officeDocument/2006/relationships/tags" Target="../tags/tag359.xml"/><Relationship Id="rId7" Type="http://schemas.openxmlformats.org/officeDocument/2006/relationships/notesSlide" Target="../notesSlides/notesSlide5.xml"/><Relationship Id="rId12" Type="http://schemas.openxmlformats.org/officeDocument/2006/relationships/slide" Target="slide15.xml"/><Relationship Id="rId2" Type="http://schemas.openxmlformats.org/officeDocument/2006/relationships/tags" Target="../tags/tag358.xml"/><Relationship Id="rId1" Type="http://schemas.openxmlformats.org/officeDocument/2006/relationships/tags" Target="../tags/tag357.xml"/><Relationship Id="rId6" Type="http://schemas.openxmlformats.org/officeDocument/2006/relationships/slideLayout" Target="../slideLayouts/slideLayout43.xml"/><Relationship Id="rId11" Type="http://schemas.openxmlformats.org/officeDocument/2006/relationships/slide" Target="slide5.xml"/><Relationship Id="rId5" Type="http://schemas.openxmlformats.org/officeDocument/2006/relationships/tags" Target="../tags/tag361.xml"/><Relationship Id="rId15" Type="http://schemas.openxmlformats.org/officeDocument/2006/relationships/slide" Target="slide52.xml"/><Relationship Id="rId10" Type="http://schemas.openxmlformats.org/officeDocument/2006/relationships/image" Target="../media/image52.emf"/><Relationship Id="rId4" Type="http://schemas.openxmlformats.org/officeDocument/2006/relationships/tags" Target="../tags/tag360.xml"/><Relationship Id="rId9" Type="http://schemas.openxmlformats.org/officeDocument/2006/relationships/image" Target="../media/image17.emf"/><Relationship Id="rId14" Type="http://schemas.openxmlformats.org/officeDocument/2006/relationships/slide" Target="slide49.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slide" Target="slide15.xml"/><Relationship Id="rId3" Type="http://schemas.openxmlformats.org/officeDocument/2006/relationships/tags" Target="../tags/tag364.xml"/><Relationship Id="rId7" Type="http://schemas.openxmlformats.org/officeDocument/2006/relationships/slideLayout" Target="../slideLayouts/slideLayout43.xml"/><Relationship Id="rId12" Type="http://schemas.openxmlformats.org/officeDocument/2006/relationships/slide" Target="slide5.xml"/><Relationship Id="rId2" Type="http://schemas.openxmlformats.org/officeDocument/2006/relationships/tags" Target="../tags/tag363.xml"/><Relationship Id="rId16" Type="http://schemas.openxmlformats.org/officeDocument/2006/relationships/slide" Target="slide52.xml"/><Relationship Id="rId1" Type="http://schemas.openxmlformats.org/officeDocument/2006/relationships/tags" Target="../tags/tag362.xml"/><Relationship Id="rId6" Type="http://schemas.openxmlformats.org/officeDocument/2006/relationships/tags" Target="../tags/tag367.xml"/><Relationship Id="rId11" Type="http://schemas.openxmlformats.org/officeDocument/2006/relationships/image" Target="../media/image54.png"/><Relationship Id="rId5" Type="http://schemas.openxmlformats.org/officeDocument/2006/relationships/tags" Target="../tags/tag366.xml"/><Relationship Id="rId15" Type="http://schemas.openxmlformats.org/officeDocument/2006/relationships/slide" Target="slide49.xml"/><Relationship Id="rId10" Type="http://schemas.openxmlformats.org/officeDocument/2006/relationships/image" Target="../media/image53.emf"/><Relationship Id="rId4" Type="http://schemas.openxmlformats.org/officeDocument/2006/relationships/tags" Target="../tags/tag365.xml"/><Relationship Id="rId9" Type="http://schemas.openxmlformats.org/officeDocument/2006/relationships/image" Target="../media/image17.emf"/><Relationship Id="rId14" Type="http://schemas.openxmlformats.org/officeDocument/2006/relationships/slide" Target="slide37.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slide" Target="slide15.xml"/><Relationship Id="rId3" Type="http://schemas.openxmlformats.org/officeDocument/2006/relationships/tags" Target="../tags/tag370.xml"/><Relationship Id="rId7" Type="http://schemas.openxmlformats.org/officeDocument/2006/relationships/slideLayout" Target="../slideLayouts/slideLayout43.xml"/><Relationship Id="rId12" Type="http://schemas.openxmlformats.org/officeDocument/2006/relationships/slide" Target="slide5.xml"/><Relationship Id="rId2" Type="http://schemas.openxmlformats.org/officeDocument/2006/relationships/tags" Target="../tags/tag369.xml"/><Relationship Id="rId16" Type="http://schemas.openxmlformats.org/officeDocument/2006/relationships/slide" Target="slide52.xml"/><Relationship Id="rId1" Type="http://schemas.openxmlformats.org/officeDocument/2006/relationships/tags" Target="../tags/tag368.xml"/><Relationship Id="rId6" Type="http://schemas.openxmlformats.org/officeDocument/2006/relationships/tags" Target="../tags/tag373.xml"/><Relationship Id="rId11" Type="http://schemas.openxmlformats.org/officeDocument/2006/relationships/image" Target="../media/image55.emf"/><Relationship Id="rId5" Type="http://schemas.openxmlformats.org/officeDocument/2006/relationships/tags" Target="../tags/tag372.xml"/><Relationship Id="rId15" Type="http://schemas.openxmlformats.org/officeDocument/2006/relationships/slide" Target="slide49.xml"/><Relationship Id="rId10" Type="http://schemas.openxmlformats.org/officeDocument/2006/relationships/image" Target="../media/image53.emf"/><Relationship Id="rId4" Type="http://schemas.openxmlformats.org/officeDocument/2006/relationships/tags" Target="../tags/tag371.xml"/><Relationship Id="rId9" Type="http://schemas.openxmlformats.org/officeDocument/2006/relationships/image" Target="../media/image17.emf"/><Relationship Id="rId14" Type="http://schemas.openxmlformats.org/officeDocument/2006/relationships/slide" Target="slide37.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slide" Target="slide15.xml"/><Relationship Id="rId3" Type="http://schemas.openxmlformats.org/officeDocument/2006/relationships/tags" Target="../tags/tag376.xml"/><Relationship Id="rId7" Type="http://schemas.openxmlformats.org/officeDocument/2006/relationships/slideLayout" Target="../slideLayouts/slideLayout47.xml"/><Relationship Id="rId12" Type="http://schemas.openxmlformats.org/officeDocument/2006/relationships/slide" Target="slide5.xml"/><Relationship Id="rId2" Type="http://schemas.openxmlformats.org/officeDocument/2006/relationships/tags" Target="../tags/tag375.xml"/><Relationship Id="rId16" Type="http://schemas.openxmlformats.org/officeDocument/2006/relationships/slide" Target="slide52.xml"/><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image" Target="../media/image57.emf"/><Relationship Id="rId5" Type="http://schemas.openxmlformats.org/officeDocument/2006/relationships/tags" Target="../tags/tag378.xml"/><Relationship Id="rId15" Type="http://schemas.openxmlformats.org/officeDocument/2006/relationships/slide" Target="slide49.xml"/><Relationship Id="rId10" Type="http://schemas.openxmlformats.org/officeDocument/2006/relationships/image" Target="../media/image56.png"/><Relationship Id="rId4" Type="http://schemas.openxmlformats.org/officeDocument/2006/relationships/tags" Target="../tags/tag377.xml"/><Relationship Id="rId9" Type="http://schemas.openxmlformats.org/officeDocument/2006/relationships/image" Target="../media/image17.emf"/><Relationship Id="rId14" Type="http://schemas.openxmlformats.org/officeDocument/2006/relationships/slide" Target="slide37.xml"/></Relationships>
</file>

<file path=ppt/slides/_rels/slide47.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82.xml"/><Relationship Id="rId7" Type="http://schemas.openxmlformats.org/officeDocument/2006/relationships/oleObject" Target="../embeddings/oleObject13.bin"/><Relationship Id="rId12" Type="http://schemas.openxmlformats.org/officeDocument/2006/relationships/slide" Target="slide37.xml"/><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slideLayout" Target="../slideLayouts/slideLayout47.xml"/><Relationship Id="rId11" Type="http://schemas.openxmlformats.org/officeDocument/2006/relationships/slide" Target="slide15.xml"/><Relationship Id="rId5" Type="http://schemas.openxmlformats.org/officeDocument/2006/relationships/tags" Target="../tags/tag384.xml"/><Relationship Id="rId10" Type="http://schemas.openxmlformats.org/officeDocument/2006/relationships/slide" Target="slide5.xml"/><Relationship Id="rId4" Type="http://schemas.openxmlformats.org/officeDocument/2006/relationships/tags" Target="../tags/tag383.xml"/><Relationship Id="rId9" Type="http://schemas.openxmlformats.org/officeDocument/2006/relationships/image" Target="../media/image57.emf"/><Relationship Id="rId14" Type="http://schemas.openxmlformats.org/officeDocument/2006/relationships/slide" Target="slide52.xml"/></Relationships>
</file>

<file path=ppt/slides/_rels/slide48.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387.xml"/><Relationship Id="rId7" Type="http://schemas.openxmlformats.org/officeDocument/2006/relationships/oleObject" Target="../embeddings/oleObject13.bin"/><Relationship Id="rId12" Type="http://schemas.openxmlformats.org/officeDocument/2006/relationships/slide" Target="slide37.xml"/><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slideLayout" Target="../slideLayouts/slideLayout47.xml"/><Relationship Id="rId11" Type="http://schemas.openxmlformats.org/officeDocument/2006/relationships/slide" Target="slide15.xml"/><Relationship Id="rId5" Type="http://schemas.openxmlformats.org/officeDocument/2006/relationships/tags" Target="../tags/tag389.xml"/><Relationship Id="rId10" Type="http://schemas.openxmlformats.org/officeDocument/2006/relationships/slide" Target="slide5.xml"/><Relationship Id="rId4" Type="http://schemas.openxmlformats.org/officeDocument/2006/relationships/tags" Target="../tags/tag388.xml"/><Relationship Id="rId9" Type="http://schemas.openxmlformats.org/officeDocument/2006/relationships/image" Target="../media/image57.emf"/><Relationship Id="rId14" Type="http://schemas.openxmlformats.org/officeDocument/2006/relationships/slide" Target="slide52.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392.xml"/><Relationship Id="rId7" Type="http://schemas.openxmlformats.org/officeDocument/2006/relationships/tags" Target="../tags/tag396.xml"/><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5" Type="http://schemas.openxmlformats.org/officeDocument/2006/relationships/tags" Target="../tags/tag394.xml"/><Relationship Id="rId10" Type="http://schemas.openxmlformats.org/officeDocument/2006/relationships/slide" Target="slide50.xml"/><Relationship Id="rId4" Type="http://schemas.openxmlformats.org/officeDocument/2006/relationships/tags" Target="../tags/tag393.xml"/><Relationship Id="rId9" Type="http://schemas.openxmlformats.org/officeDocument/2006/relationships/slide" Target="slide49.xml"/></Relationships>
</file>

<file path=ppt/slides/_rels/slide50.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399.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oleObject" Target="../embeddings/oleObject14.bin"/><Relationship Id="rId11" Type="http://schemas.openxmlformats.org/officeDocument/2006/relationships/slide" Target="slide49.xml"/><Relationship Id="rId5" Type="http://schemas.openxmlformats.org/officeDocument/2006/relationships/slideLayout" Target="../slideLayouts/slideLayout48.xml"/><Relationship Id="rId10" Type="http://schemas.openxmlformats.org/officeDocument/2006/relationships/slide" Target="slide37.xml"/><Relationship Id="rId4" Type="http://schemas.openxmlformats.org/officeDocument/2006/relationships/tags" Target="../tags/tag400.xml"/><Relationship Id="rId9" Type="http://schemas.openxmlformats.org/officeDocument/2006/relationships/slide" Target="slide15.xml"/></Relationships>
</file>

<file path=ppt/slides/_rels/slide51.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403.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402.xml"/><Relationship Id="rId1" Type="http://schemas.openxmlformats.org/officeDocument/2006/relationships/tags" Target="../tags/tag401.xml"/><Relationship Id="rId6" Type="http://schemas.openxmlformats.org/officeDocument/2006/relationships/oleObject" Target="../embeddings/oleObject14.bin"/><Relationship Id="rId11" Type="http://schemas.openxmlformats.org/officeDocument/2006/relationships/slide" Target="slide49.xml"/><Relationship Id="rId5" Type="http://schemas.openxmlformats.org/officeDocument/2006/relationships/slideLayout" Target="../slideLayouts/slideLayout48.xml"/><Relationship Id="rId10" Type="http://schemas.openxmlformats.org/officeDocument/2006/relationships/slide" Target="slide37.xml"/><Relationship Id="rId4" Type="http://schemas.openxmlformats.org/officeDocument/2006/relationships/tags" Target="../tags/tag404.xml"/><Relationship Id="rId9" Type="http://schemas.openxmlformats.org/officeDocument/2006/relationships/slide" Target="slide15.xml"/></Relationships>
</file>

<file path=ppt/slides/_rels/slide52.xml.rels><?xml version="1.0" encoding="UTF-8" standalone="yes"?>
<Relationships xmlns="http://schemas.openxmlformats.org/package/2006/relationships"><Relationship Id="rId13" Type="http://schemas.openxmlformats.org/officeDocument/2006/relationships/tags" Target="../tags/tag417.xml"/><Relationship Id="rId18" Type="http://schemas.openxmlformats.org/officeDocument/2006/relationships/tags" Target="../tags/tag422.xml"/><Relationship Id="rId26" Type="http://schemas.openxmlformats.org/officeDocument/2006/relationships/tags" Target="../tags/tag430.xml"/><Relationship Id="rId39" Type="http://schemas.openxmlformats.org/officeDocument/2006/relationships/slide" Target="slide61.xml"/><Relationship Id="rId21" Type="http://schemas.openxmlformats.org/officeDocument/2006/relationships/tags" Target="../tags/tag425.xml"/><Relationship Id="rId34" Type="http://schemas.openxmlformats.org/officeDocument/2006/relationships/slide" Target="slide53.xml"/><Relationship Id="rId42" Type="http://schemas.openxmlformats.org/officeDocument/2006/relationships/slide" Target="slide70.xml"/><Relationship Id="rId7" Type="http://schemas.openxmlformats.org/officeDocument/2006/relationships/tags" Target="../tags/tag411.xml"/><Relationship Id="rId2" Type="http://schemas.openxmlformats.org/officeDocument/2006/relationships/tags" Target="../tags/tag406.xml"/><Relationship Id="rId16" Type="http://schemas.openxmlformats.org/officeDocument/2006/relationships/tags" Target="../tags/tag420.xml"/><Relationship Id="rId20" Type="http://schemas.openxmlformats.org/officeDocument/2006/relationships/tags" Target="../tags/tag424.xml"/><Relationship Id="rId29" Type="http://schemas.openxmlformats.org/officeDocument/2006/relationships/tags" Target="../tags/tag433.xml"/><Relationship Id="rId41" Type="http://schemas.openxmlformats.org/officeDocument/2006/relationships/slide" Target="slide64.xml"/><Relationship Id="rId1" Type="http://schemas.openxmlformats.org/officeDocument/2006/relationships/tags" Target="../tags/tag405.xml"/><Relationship Id="rId6" Type="http://schemas.openxmlformats.org/officeDocument/2006/relationships/tags" Target="../tags/tag410.xml"/><Relationship Id="rId11" Type="http://schemas.openxmlformats.org/officeDocument/2006/relationships/tags" Target="../tags/tag415.xml"/><Relationship Id="rId24" Type="http://schemas.openxmlformats.org/officeDocument/2006/relationships/tags" Target="../tags/tag428.xml"/><Relationship Id="rId32" Type="http://schemas.openxmlformats.org/officeDocument/2006/relationships/slideLayout" Target="../slideLayouts/slideLayout34.xml"/><Relationship Id="rId37" Type="http://schemas.openxmlformats.org/officeDocument/2006/relationships/slide" Target="slide59.xml"/><Relationship Id="rId40" Type="http://schemas.openxmlformats.org/officeDocument/2006/relationships/slide" Target="slide63.xml"/><Relationship Id="rId5" Type="http://schemas.openxmlformats.org/officeDocument/2006/relationships/tags" Target="../tags/tag409.xml"/><Relationship Id="rId15" Type="http://schemas.openxmlformats.org/officeDocument/2006/relationships/tags" Target="../tags/tag419.xml"/><Relationship Id="rId23" Type="http://schemas.openxmlformats.org/officeDocument/2006/relationships/tags" Target="../tags/tag427.xml"/><Relationship Id="rId28" Type="http://schemas.openxmlformats.org/officeDocument/2006/relationships/tags" Target="../tags/tag432.xml"/><Relationship Id="rId36" Type="http://schemas.openxmlformats.org/officeDocument/2006/relationships/slide" Target="slide58.xml"/><Relationship Id="rId10" Type="http://schemas.openxmlformats.org/officeDocument/2006/relationships/tags" Target="../tags/tag414.xml"/><Relationship Id="rId19" Type="http://schemas.openxmlformats.org/officeDocument/2006/relationships/tags" Target="../tags/tag423.xml"/><Relationship Id="rId31" Type="http://schemas.openxmlformats.org/officeDocument/2006/relationships/tags" Target="../tags/tag435.xml"/><Relationship Id="rId4" Type="http://schemas.openxmlformats.org/officeDocument/2006/relationships/tags" Target="../tags/tag408.xml"/><Relationship Id="rId9" Type="http://schemas.openxmlformats.org/officeDocument/2006/relationships/tags" Target="../tags/tag413.xml"/><Relationship Id="rId14" Type="http://schemas.openxmlformats.org/officeDocument/2006/relationships/tags" Target="../tags/tag418.xml"/><Relationship Id="rId22" Type="http://schemas.openxmlformats.org/officeDocument/2006/relationships/tags" Target="../tags/tag426.xml"/><Relationship Id="rId27" Type="http://schemas.openxmlformats.org/officeDocument/2006/relationships/tags" Target="../tags/tag431.xml"/><Relationship Id="rId30" Type="http://schemas.openxmlformats.org/officeDocument/2006/relationships/tags" Target="../tags/tag434.xml"/><Relationship Id="rId35" Type="http://schemas.openxmlformats.org/officeDocument/2006/relationships/slide" Target="slide57.xml"/><Relationship Id="rId8" Type="http://schemas.openxmlformats.org/officeDocument/2006/relationships/tags" Target="../tags/tag412.xml"/><Relationship Id="rId3" Type="http://schemas.openxmlformats.org/officeDocument/2006/relationships/tags" Target="../tags/tag407.xml"/><Relationship Id="rId12" Type="http://schemas.openxmlformats.org/officeDocument/2006/relationships/tags" Target="../tags/tag416.xml"/><Relationship Id="rId17" Type="http://schemas.openxmlformats.org/officeDocument/2006/relationships/tags" Target="../tags/tag421.xml"/><Relationship Id="rId25" Type="http://schemas.openxmlformats.org/officeDocument/2006/relationships/tags" Target="../tags/tag429.xml"/><Relationship Id="rId33" Type="http://schemas.openxmlformats.org/officeDocument/2006/relationships/slide" Target="slide52.xml"/><Relationship Id="rId38" Type="http://schemas.openxmlformats.org/officeDocument/2006/relationships/slide" Target="slide60.xml"/></Relationships>
</file>

<file path=ppt/slides/_rels/slide53.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38.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37.xml"/><Relationship Id="rId1" Type="http://schemas.openxmlformats.org/officeDocument/2006/relationships/tags" Target="../tags/tag436.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40.xml"/><Relationship Id="rId10" Type="http://schemas.openxmlformats.org/officeDocument/2006/relationships/slide" Target="slide5.xml"/><Relationship Id="rId4" Type="http://schemas.openxmlformats.org/officeDocument/2006/relationships/tags" Target="../tags/tag439.xml"/><Relationship Id="rId9" Type="http://schemas.openxmlformats.org/officeDocument/2006/relationships/image" Target="../media/image58.emf"/><Relationship Id="rId14" Type="http://schemas.openxmlformats.org/officeDocument/2006/relationships/slide" Target="slide52.xml"/></Relationships>
</file>

<file path=ppt/slides/_rels/slide54.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43.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42.xml"/><Relationship Id="rId1" Type="http://schemas.openxmlformats.org/officeDocument/2006/relationships/tags" Target="../tags/tag441.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45.xml"/><Relationship Id="rId10" Type="http://schemas.openxmlformats.org/officeDocument/2006/relationships/slide" Target="slide5.xml"/><Relationship Id="rId4" Type="http://schemas.openxmlformats.org/officeDocument/2006/relationships/tags" Target="../tags/tag444.xml"/><Relationship Id="rId9" Type="http://schemas.openxmlformats.org/officeDocument/2006/relationships/image" Target="../media/image59.emf"/><Relationship Id="rId14" Type="http://schemas.openxmlformats.org/officeDocument/2006/relationships/slide" Target="slide52.xml"/></Relationships>
</file>

<file path=ppt/slides/_rels/slide55.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48.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50.xml"/><Relationship Id="rId10" Type="http://schemas.openxmlformats.org/officeDocument/2006/relationships/slide" Target="slide5.xml"/><Relationship Id="rId4" Type="http://schemas.openxmlformats.org/officeDocument/2006/relationships/tags" Target="../tags/tag449.xml"/><Relationship Id="rId9" Type="http://schemas.openxmlformats.org/officeDocument/2006/relationships/image" Target="../media/image60.emf"/><Relationship Id="rId14" Type="http://schemas.openxmlformats.org/officeDocument/2006/relationships/slide" Target="slide52.xml"/></Relationships>
</file>

<file path=ppt/slides/_rels/slide56.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53.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55.xml"/><Relationship Id="rId10" Type="http://schemas.openxmlformats.org/officeDocument/2006/relationships/slide" Target="slide5.xml"/><Relationship Id="rId4" Type="http://schemas.openxmlformats.org/officeDocument/2006/relationships/tags" Target="../tags/tag454.xml"/><Relationship Id="rId9" Type="http://schemas.openxmlformats.org/officeDocument/2006/relationships/image" Target="../media/image61.emf"/><Relationship Id="rId14" Type="http://schemas.openxmlformats.org/officeDocument/2006/relationships/slide" Target="slide52.xml"/></Relationships>
</file>

<file path=ppt/slides/_rels/slide57.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58.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57.xml"/><Relationship Id="rId1" Type="http://schemas.openxmlformats.org/officeDocument/2006/relationships/tags" Target="../tags/tag456.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60.xml"/><Relationship Id="rId10" Type="http://schemas.openxmlformats.org/officeDocument/2006/relationships/slide" Target="slide5.xml"/><Relationship Id="rId4" Type="http://schemas.openxmlformats.org/officeDocument/2006/relationships/tags" Target="../tags/tag459.xml"/><Relationship Id="rId9" Type="http://schemas.openxmlformats.org/officeDocument/2006/relationships/image" Target="../media/image62.emf"/><Relationship Id="rId14" Type="http://schemas.openxmlformats.org/officeDocument/2006/relationships/slide" Target="slide52.xml"/></Relationships>
</file>

<file path=ppt/slides/_rels/slide58.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63.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65.xml"/><Relationship Id="rId10" Type="http://schemas.openxmlformats.org/officeDocument/2006/relationships/slide" Target="slide5.xml"/><Relationship Id="rId4" Type="http://schemas.openxmlformats.org/officeDocument/2006/relationships/tags" Target="../tags/tag464.xml"/><Relationship Id="rId9" Type="http://schemas.openxmlformats.org/officeDocument/2006/relationships/image" Target="../media/image63.emf"/><Relationship Id="rId14" Type="http://schemas.openxmlformats.org/officeDocument/2006/relationships/slide" Target="slide52.xml"/></Relationships>
</file>

<file path=ppt/slides/_rels/slide59.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49.xml"/><Relationship Id="rId3" Type="http://schemas.openxmlformats.org/officeDocument/2006/relationships/tags" Target="../tags/tag468.xml"/><Relationship Id="rId7" Type="http://schemas.openxmlformats.org/officeDocument/2006/relationships/oleObject" Target="../embeddings/oleObject15.bin"/><Relationship Id="rId12" Type="http://schemas.openxmlformats.org/officeDocument/2006/relationships/slide" Target="slide37.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slideLayout" Target="../slideLayouts/slideLayout49.xml"/><Relationship Id="rId11" Type="http://schemas.openxmlformats.org/officeDocument/2006/relationships/slide" Target="slide15.xml"/><Relationship Id="rId5" Type="http://schemas.openxmlformats.org/officeDocument/2006/relationships/tags" Target="../tags/tag470.xml"/><Relationship Id="rId10" Type="http://schemas.openxmlformats.org/officeDocument/2006/relationships/slide" Target="slide5.xml"/><Relationship Id="rId4" Type="http://schemas.openxmlformats.org/officeDocument/2006/relationships/tags" Target="../tags/tag469.xml"/><Relationship Id="rId9" Type="http://schemas.openxmlformats.org/officeDocument/2006/relationships/image" Target="../media/image64.emf"/><Relationship Id="rId14" Type="http://schemas.openxmlformats.org/officeDocument/2006/relationships/slide" Target="slide5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slide" Target="slide15.xml"/><Relationship Id="rId3" Type="http://schemas.openxmlformats.org/officeDocument/2006/relationships/tags" Target="../tags/tag473.xml"/><Relationship Id="rId7" Type="http://schemas.openxmlformats.org/officeDocument/2006/relationships/slideLayout" Target="../slideLayouts/slideLayout49.xml"/><Relationship Id="rId12" Type="http://schemas.openxmlformats.org/officeDocument/2006/relationships/slide" Target="slide5.xml"/><Relationship Id="rId2" Type="http://schemas.openxmlformats.org/officeDocument/2006/relationships/tags" Target="../tags/tag472.xml"/><Relationship Id="rId16" Type="http://schemas.openxmlformats.org/officeDocument/2006/relationships/slide" Target="slide52.xml"/><Relationship Id="rId1" Type="http://schemas.openxmlformats.org/officeDocument/2006/relationships/tags" Target="../tags/tag471.xml"/><Relationship Id="rId6" Type="http://schemas.openxmlformats.org/officeDocument/2006/relationships/tags" Target="../tags/tag476.xml"/><Relationship Id="rId11" Type="http://schemas.openxmlformats.org/officeDocument/2006/relationships/image" Target="../media/image66.emf"/><Relationship Id="rId5" Type="http://schemas.openxmlformats.org/officeDocument/2006/relationships/tags" Target="../tags/tag475.xml"/><Relationship Id="rId15" Type="http://schemas.openxmlformats.org/officeDocument/2006/relationships/slide" Target="slide49.xml"/><Relationship Id="rId10" Type="http://schemas.openxmlformats.org/officeDocument/2006/relationships/image" Target="../media/image65.emf"/><Relationship Id="rId4" Type="http://schemas.openxmlformats.org/officeDocument/2006/relationships/tags" Target="../tags/tag474.xml"/><Relationship Id="rId9" Type="http://schemas.openxmlformats.org/officeDocument/2006/relationships/image" Target="../media/image17.emf"/><Relationship Id="rId14" Type="http://schemas.openxmlformats.org/officeDocument/2006/relationships/slide" Target="slide37.xml"/></Relationships>
</file>

<file path=ppt/slides/_rels/slide6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52.xml"/><Relationship Id="rId3" Type="http://schemas.openxmlformats.org/officeDocument/2006/relationships/tags" Target="../tags/tag479.xml"/><Relationship Id="rId7" Type="http://schemas.openxmlformats.org/officeDocument/2006/relationships/oleObject" Target="../embeddings/oleObject15.bin"/><Relationship Id="rId12" Type="http://schemas.openxmlformats.org/officeDocument/2006/relationships/slide" Target="slide49.xml"/><Relationship Id="rId2" Type="http://schemas.openxmlformats.org/officeDocument/2006/relationships/tags" Target="../tags/tag478.xml"/><Relationship Id="rId1" Type="http://schemas.openxmlformats.org/officeDocument/2006/relationships/tags" Target="../tags/tag477.xml"/><Relationship Id="rId6" Type="http://schemas.openxmlformats.org/officeDocument/2006/relationships/notesSlide" Target="../notesSlides/notesSlide6.xml"/><Relationship Id="rId11" Type="http://schemas.openxmlformats.org/officeDocument/2006/relationships/slide" Target="slide37.xml"/><Relationship Id="rId5" Type="http://schemas.openxmlformats.org/officeDocument/2006/relationships/slideLayout" Target="../slideLayouts/slideLayout49.xml"/><Relationship Id="rId10" Type="http://schemas.openxmlformats.org/officeDocument/2006/relationships/slide" Target="slide15.xml"/><Relationship Id="rId4" Type="http://schemas.openxmlformats.org/officeDocument/2006/relationships/tags" Target="../tags/tag480.xml"/><Relationship Id="rId9" Type="http://schemas.openxmlformats.org/officeDocument/2006/relationships/slide" Target="slide5.xml"/></Relationships>
</file>

<file path=ppt/slides/_rels/slide62.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slide" Target="slide52.xml"/><Relationship Id="rId3" Type="http://schemas.openxmlformats.org/officeDocument/2006/relationships/tags" Target="../tags/tag483.xml"/><Relationship Id="rId7" Type="http://schemas.openxmlformats.org/officeDocument/2006/relationships/oleObject" Target="../embeddings/oleObject15.bin"/><Relationship Id="rId12" Type="http://schemas.openxmlformats.org/officeDocument/2006/relationships/slide" Target="slide49.xml"/><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notesSlide" Target="../notesSlides/notesSlide7.xml"/><Relationship Id="rId11" Type="http://schemas.openxmlformats.org/officeDocument/2006/relationships/slide" Target="slide37.xml"/><Relationship Id="rId5" Type="http://schemas.openxmlformats.org/officeDocument/2006/relationships/slideLayout" Target="../slideLayouts/slideLayout49.xml"/><Relationship Id="rId10" Type="http://schemas.openxmlformats.org/officeDocument/2006/relationships/slide" Target="slide15.xml"/><Relationship Id="rId4" Type="http://schemas.openxmlformats.org/officeDocument/2006/relationships/tags" Target="../tags/tag484.xml"/><Relationship Id="rId9" Type="http://schemas.openxmlformats.org/officeDocument/2006/relationships/slide" Target="slide5.xml"/></Relationships>
</file>

<file path=ppt/slides/_rels/slide63.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tags" Target="../tags/tag487.xml"/><Relationship Id="rId7" Type="http://schemas.openxmlformats.org/officeDocument/2006/relationships/slide" Target="slide37.xml"/><Relationship Id="rId2" Type="http://schemas.openxmlformats.org/officeDocument/2006/relationships/tags" Target="../tags/tag486.xml"/><Relationship Id="rId1" Type="http://schemas.openxmlformats.org/officeDocument/2006/relationships/tags" Target="../tags/tag485.xml"/><Relationship Id="rId6" Type="http://schemas.openxmlformats.org/officeDocument/2006/relationships/slide" Target="slide15.xml"/><Relationship Id="rId5" Type="http://schemas.openxmlformats.org/officeDocument/2006/relationships/slide" Target="slide5.xml"/><Relationship Id="rId4" Type="http://schemas.openxmlformats.org/officeDocument/2006/relationships/slideLayout" Target="../slideLayouts/slideLayout9.xml"/><Relationship Id="rId9" Type="http://schemas.openxmlformats.org/officeDocument/2006/relationships/slide" Target="slide52.xml"/></Relationships>
</file>

<file path=ppt/slides/_rels/slide64.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490.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491.xml"/><Relationship Id="rId9" Type="http://schemas.openxmlformats.org/officeDocument/2006/relationships/slide" Target="slide15.xml"/></Relationships>
</file>

<file path=ppt/slides/_rels/slide65.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494.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493.xml"/><Relationship Id="rId1" Type="http://schemas.openxmlformats.org/officeDocument/2006/relationships/tags" Target="../tags/tag492.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495.xml"/><Relationship Id="rId9" Type="http://schemas.openxmlformats.org/officeDocument/2006/relationships/slide" Target="slide15.xml"/></Relationships>
</file>

<file path=ppt/slides/_rels/slide66.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498.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497.xml"/><Relationship Id="rId1" Type="http://schemas.openxmlformats.org/officeDocument/2006/relationships/tags" Target="../tags/tag496.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499.xml"/><Relationship Id="rId9" Type="http://schemas.openxmlformats.org/officeDocument/2006/relationships/slide" Target="slide15.xml"/></Relationships>
</file>

<file path=ppt/slides/_rels/slide67.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502.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501.xml"/><Relationship Id="rId1" Type="http://schemas.openxmlformats.org/officeDocument/2006/relationships/tags" Target="../tags/tag500.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503.xml"/><Relationship Id="rId9" Type="http://schemas.openxmlformats.org/officeDocument/2006/relationships/slide" Target="slide15.xml"/></Relationships>
</file>

<file path=ppt/slides/_rels/slide68.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506.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505.xml"/><Relationship Id="rId1" Type="http://schemas.openxmlformats.org/officeDocument/2006/relationships/tags" Target="../tags/tag504.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507.xml"/><Relationship Id="rId9" Type="http://schemas.openxmlformats.org/officeDocument/2006/relationships/slide" Target="slide15.xml"/></Relationships>
</file>

<file path=ppt/slides/_rels/slide69.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510.xml"/><Relationship Id="rId7" Type="http://schemas.openxmlformats.org/officeDocument/2006/relationships/image" Target="../media/image17.emf"/><Relationship Id="rId12" Type="http://schemas.openxmlformats.org/officeDocument/2006/relationships/slide" Target="slide52.xml"/><Relationship Id="rId2" Type="http://schemas.openxmlformats.org/officeDocument/2006/relationships/tags" Target="../tags/tag509.xml"/><Relationship Id="rId1" Type="http://schemas.openxmlformats.org/officeDocument/2006/relationships/tags" Target="../tags/tag508.xml"/><Relationship Id="rId6" Type="http://schemas.openxmlformats.org/officeDocument/2006/relationships/oleObject" Target="../embeddings/oleObject16.bin"/><Relationship Id="rId11" Type="http://schemas.openxmlformats.org/officeDocument/2006/relationships/slide" Target="slide49.xml"/><Relationship Id="rId5" Type="http://schemas.openxmlformats.org/officeDocument/2006/relationships/slideLayout" Target="../slideLayouts/slideLayout9.xml"/><Relationship Id="rId10" Type="http://schemas.openxmlformats.org/officeDocument/2006/relationships/slide" Target="slide37.xml"/><Relationship Id="rId4" Type="http://schemas.openxmlformats.org/officeDocument/2006/relationships/tags" Target="../tags/tag511.xml"/><Relationship Id="rId9" Type="http://schemas.openxmlformats.org/officeDocument/2006/relationships/slide" Target="slide15.xml"/></Relationships>
</file>

<file path=ppt/slides/_rels/slide70.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514.xml"/><Relationship Id="rId7" Type="http://schemas.openxmlformats.org/officeDocument/2006/relationships/slide" Target="slide5.xml"/><Relationship Id="rId2" Type="http://schemas.openxmlformats.org/officeDocument/2006/relationships/tags" Target="../tags/tag513.xml"/><Relationship Id="rId1" Type="http://schemas.openxmlformats.org/officeDocument/2006/relationships/tags" Target="../tags/tag512.xml"/><Relationship Id="rId6" Type="http://schemas.openxmlformats.org/officeDocument/2006/relationships/image" Target="../media/image17.emf"/><Relationship Id="rId11" Type="http://schemas.openxmlformats.org/officeDocument/2006/relationships/slide" Target="slide52.xml"/><Relationship Id="rId5" Type="http://schemas.openxmlformats.org/officeDocument/2006/relationships/oleObject" Target="../embeddings/oleObject17.bin"/><Relationship Id="rId10" Type="http://schemas.openxmlformats.org/officeDocument/2006/relationships/slide" Target="slide49.xml"/><Relationship Id="rId4" Type="http://schemas.openxmlformats.org/officeDocument/2006/relationships/slideLayout" Target="../slideLayouts/slideLayout9.xml"/><Relationship Id="rId9" Type="http://schemas.openxmlformats.org/officeDocument/2006/relationships/slide" Target="slide37.xml"/></Relationships>
</file>

<file path=ppt/slides/_rels/slide71.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517.xml"/><Relationship Id="rId7" Type="http://schemas.openxmlformats.org/officeDocument/2006/relationships/slide" Target="slide5.xml"/><Relationship Id="rId2" Type="http://schemas.openxmlformats.org/officeDocument/2006/relationships/tags" Target="../tags/tag516.xml"/><Relationship Id="rId1" Type="http://schemas.openxmlformats.org/officeDocument/2006/relationships/tags" Target="../tags/tag515.xml"/><Relationship Id="rId6" Type="http://schemas.openxmlformats.org/officeDocument/2006/relationships/image" Target="../media/image17.emf"/><Relationship Id="rId11" Type="http://schemas.openxmlformats.org/officeDocument/2006/relationships/slide" Target="slide52.xml"/><Relationship Id="rId5" Type="http://schemas.openxmlformats.org/officeDocument/2006/relationships/oleObject" Target="../embeddings/oleObject17.bin"/><Relationship Id="rId10" Type="http://schemas.openxmlformats.org/officeDocument/2006/relationships/slide" Target="slide49.xml"/><Relationship Id="rId4" Type="http://schemas.openxmlformats.org/officeDocument/2006/relationships/slideLayout" Target="../slideLayouts/slideLayout9.xml"/><Relationship Id="rId9" Type="http://schemas.openxmlformats.org/officeDocument/2006/relationships/slide" Target="slide37.xml"/></Relationships>
</file>

<file path=ppt/slides/_rels/slide7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tags" Target="../tags/tag520.xml"/><Relationship Id="rId7" Type="http://schemas.openxmlformats.org/officeDocument/2006/relationships/slide" Target="slide5.xml"/><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image" Target="../media/image17.emf"/><Relationship Id="rId11" Type="http://schemas.openxmlformats.org/officeDocument/2006/relationships/slide" Target="slide52.xml"/><Relationship Id="rId5" Type="http://schemas.openxmlformats.org/officeDocument/2006/relationships/oleObject" Target="../embeddings/oleObject17.bin"/><Relationship Id="rId10" Type="http://schemas.openxmlformats.org/officeDocument/2006/relationships/slide" Target="slide49.xml"/><Relationship Id="rId4" Type="http://schemas.openxmlformats.org/officeDocument/2006/relationships/slideLayout" Target="../slideLayouts/slideLayout9.xml"/><Relationship Id="rId9" Type="http://schemas.openxmlformats.org/officeDocument/2006/relationships/slide" Target="slide37.xml"/></Relationships>
</file>

<file path=ppt/slides/_rels/slide73.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39.xml"/><Relationship Id="rId1" Type="http://schemas.openxmlformats.org/officeDocument/2006/relationships/tags" Target="../tags/tag52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274841" y="1759937"/>
            <a:ext cx="5765982" cy="2903488"/>
          </a:xfrm>
        </p:spPr>
        <p:txBody>
          <a:bodyPr vert="horz"/>
          <a:lstStyle/>
          <a:p>
            <a:pPr>
              <a:buClr>
                <a:schemeClr val="dk1">
                  <a:lumMod val="100000"/>
                </a:schemeClr>
              </a:buClr>
            </a:pPr>
            <a:r>
              <a:rPr lang="en-US" dirty="0"/>
              <a:t>Project Skyrocket</a:t>
            </a:r>
            <a:br>
              <a:rPr lang="en-US" dirty="0"/>
            </a:br>
            <a:br>
              <a:rPr lang="en-US" sz="2000" dirty="0"/>
            </a:br>
            <a:r>
              <a:rPr lang="en-US" sz="4800" dirty="0"/>
              <a:t>DRAFT</a:t>
            </a:r>
            <a:endParaRPr lang="en-US" dirty="0"/>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1274841" y="4752153"/>
            <a:ext cx="5765982" cy="816606"/>
          </a:xfrm>
        </p:spPr>
        <p:txBody>
          <a:bodyPr/>
          <a:lstStyle/>
          <a:p>
            <a:pPr lvl="1">
              <a:buClr>
                <a:schemeClr val="dk1">
                  <a:lumMod val="100000"/>
                </a:schemeClr>
              </a:buClr>
            </a:pPr>
            <a:r>
              <a:rPr lang="en-US" noProof="0" dirty="0"/>
              <a:t>Financial due diligence</a:t>
            </a:r>
          </a:p>
          <a:p>
            <a:pPr lvl="1">
              <a:buClr>
                <a:schemeClr val="dk1">
                  <a:lumMod val="100000"/>
                </a:schemeClr>
              </a:buClr>
            </a:pPr>
            <a:r>
              <a:rPr lang="en-US" noProof="0" dirty="0"/>
              <a:t>—</a:t>
            </a:r>
          </a:p>
          <a:p>
            <a:pPr lvl="1">
              <a:buClr>
                <a:schemeClr val="dk1">
                  <a:lumMod val="100000"/>
                </a:schemeClr>
              </a:buClr>
            </a:pPr>
            <a:r>
              <a:rPr lang="en-US" dirty="0"/>
              <a:t>March 13, 2025</a:t>
            </a:r>
            <a:endParaRPr lang="en-US" noProof="0" dirty="0"/>
          </a:p>
        </p:txBody>
      </p:sp>
      <p:sp>
        <p:nvSpPr>
          <p:cNvPr id="4" name="Rectangle 3">
            <a:extLst>
              <a:ext uri="{FF2B5EF4-FFF2-40B4-BE49-F238E27FC236}">
                <a16:creationId xmlns:a16="http://schemas.microsoft.com/office/drawing/2014/main" id="{873C19B7-FEE6-AD04-3B42-D850D797FCE4}"/>
              </a:ext>
            </a:extLst>
          </p:cNvPr>
          <p:cNvSpPr/>
          <p:nvPr/>
        </p:nvSpPr>
        <p:spPr>
          <a:xfrm>
            <a:off x="12466891" y="1759937"/>
            <a:ext cx="3677785" cy="4325299"/>
          </a:xfrm>
          <a:prstGeom prst="rect">
            <a:avLst/>
          </a:prstGeom>
          <a:solidFill>
            <a:schemeClr val="bg1"/>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a:lnSpc>
                <a:spcPts val="1400"/>
              </a:lnSpc>
              <a:spcAft>
                <a:spcPts val="600"/>
              </a:spcAft>
            </a:pPr>
            <a:r>
              <a:rPr lang="en-US" sz="1200" b="1" dirty="0">
                <a:solidFill>
                  <a:srgbClr val="BC204B"/>
                </a:solidFill>
              </a:rPr>
              <a:t>Important steps before the first use!</a:t>
            </a:r>
            <a:endParaRPr lang="en-US" sz="1200" dirty="0">
              <a:solidFill>
                <a:srgbClr val="BC204B"/>
              </a:solidFill>
            </a:endParaRPr>
          </a:p>
          <a:p>
            <a:pPr>
              <a:lnSpc>
                <a:spcPts val="1400"/>
              </a:lnSpc>
              <a:spcAft>
                <a:spcPts val="600"/>
              </a:spcAft>
            </a:pPr>
            <a:r>
              <a:rPr lang="en-US" sz="1000" dirty="0">
                <a:solidFill>
                  <a:srgbClr val="BC204B"/>
                </a:solidFill>
              </a:rPr>
              <a:t>Review compliance with your local risk management. For example, update the wording for:</a:t>
            </a:r>
          </a:p>
          <a:p>
            <a:pPr marL="285744" indent="-285744">
              <a:lnSpc>
                <a:spcPts val="1400"/>
              </a:lnSpc>
              <a:spcAft>
                <a:spcPts val="600"/>
              </a:spcAft>
              <a:buFont typeface="Arial" panose="020B0604020202020204" pitchFamily="34" charset="0"/>
              <a:buChar char="•"/>
            </a:pPr>
            <a:r>
              <a:rPr lang="en-US" sz="1000" dirty="0">
                <a:solidFill>
                  <a:srgbClr val="BC204B"/>
                </a:solidFill>
              </a:rPr>
              <a:t>Disclaimers and copyright;</a:t>
            </a:r>
          </a:p>
          <a:p>
            <a:pPr marL="285744" indent="-285744">
              <a:lnSpc>
                <a:spcPts val="1400"/>
              </a:lnSpc>
              <a:spcAft>
                <a:spcPts val="600"/>
              </a:spcAft>
              <a:buFont typeface="Arial" panose="020B0604020202020204" pitchFamily="34" charset="0"/>
              <a:buChar char="•"/>
            </a:pPr>
            <a:r>
              <a:rPr lang="en-US" sz="1000" dirty="0">
                <a:solidFill>
                  <a:srgbClr val="BC204B"/>
                </a:solidFill>
              </a:rPr>
              <a:t>Transmittal letters for each report type;</a:t>
            </a:r>
          </a:p>
          <a:p>
            <a:pPr marL="285744" indent="-285744">
              <a:lnSpc>
                <a:spcPts val="1400"/>
              </a:lnSpc>
              <a:spcAft>
                <a:spcPts val="600"/>
              </a:spcAft>
              <a:buFont typeface="Arial" panose="020B0604020202020204" pitchFamily="34" charset="0"/>
              <a:buChar char="•"/>
            </a:pPr>
            <a:r>
              <a:rPr lang="en-US" sz="1000" dirty="0">
                <a:solidFill>
                  <a:srgbClr val="BC204B"/>
                </a:solidFill>
              </a:rPr>
              <a:t>Important notice;</a:t>
            </a:r>
          </a:p>
          <a:p>
            <a:pPr marL="285744" indent="-285744">
              <a:lnSpc>
                <a:spcPts val="1400"/>
              </a:lnSpc>
              <a:spcAft>
                <a:spcPts val="600"/>
              </a:spcAft>
              <a:buFont typeface="Arial" panose="020B0604020202020204" pitchFamily="34" charset="0"/>
              <a:buChar char="•"/>
            </a:pPr>
            <a:r>
              <a:rPr lang="en-US" sz="1000" dirty="0">
                <a:solidFill>
                  <a:srgbClr val="BC204B"/>
                </a:solidFill>
              </a:rPr>
              <a:t>Basis of preparation.</a:t>
            </a:r>
          </a:p>
          <a:p>
            <a:pPr indent="-174621">
              <a:lnSpc>
                <a:spcPts val="1400"/>
              </a:lnSpc>
              <a:spcAft>
                <a:spcPts val="600"/>
              </a:spcAft>
            </a:pPr>
            <a:r>
              <a:rPr lang="en-US" sz="1000" dirty="0">
                <a:solidFill>
                  <a:srgbClr val="BC204B"/>
                </a:solidFill>
              </a:rPr>
              <a:t>Agree on the policies and use of the updated reporting structure, including:</a:t>
            </a:r>
          </a:p>
          <a:p>
            <a:pPr marL="285744" indent="-285744">
              <a:lnSpc>
                <a:spcPts val="1400"/>
              </a:lnSpc>
              <a:spcAft>
                <a:spcPts val="600"/>
              </a:spcAft>
              <a:buFont typeface="Arial" panose="020B0604020202020204" pitchFamily="34" charset="0"/>
              <a:buChar char="•"/>
            </a:pPr>
            <a:r>
              <a:rPr lang="en-US" sz="1000" dirty="0">
                <a:solidFill>
                  <a:srgbClr val="BC204B"/>
                </a:solidFill>
              </a:rPr>
              <a:t>Moving the Important notice and Basis of preparation pages to appendices;</a:t>
            </a:r>
          </a:p>
          <a:p>
            <a:pPr marL="285744" indent="-285744">
              <a:lnSpc>
                <a:spcPts val="1400"/>
              </a:lnSpc>
              <a:spcAft>
                <a:spcPts val="600"/>
              </a:spcAft>
              <a:buFont typeface="Arial" panose="020B0604020202020204" pitchFamily="34" charset="0"/>
              <a:buChar char="•"/>
            </a:pPr>
            <a:r>
              <a:rPr lang="en-US" sz="1000" dirty="0">
                <a:solidFill>
                  <a:srgbClr val="BC204B"/>
                </a:solidFill>
              </a:rPr>
              <a:t>Adding hyperlinks to Excel databooks or Power BI dashboards.</a:t>
            </a:r>
          </a:p>
          <a:p>
            <a:pPr>
              <a:lnSpc>
                <a:spcPts val="1400"/>
              </a:lnSpc>
              <a:spcAft>
                <a:spcPts val="600"/>
              </a:spcAft>
            </a:pPr>
            <a:r>
              <a:rPr lang="en-US" sz="1000" dirty="0">
                <a:solidFill>
                  <a:srgbClr val="BC204B"/>
                </a:solidFill>
              </a:rPr>
              <a:t>After the review, share the localized template locally through relevant channels for your team to use.</a:t>
            </a:r>
          </a:p>
          <a:p>
            <a:pPr>
              <a:lnSpc>
                <a:spcPts val="1400"/>
              </a:lnSpc>
              <a:spcAft>
                <a:spcPts val="600"/>
              </a:spcAft>
            </a:pPr>
            <a:r>
              <a:rPr lang="en-US" sz="1000" dirty="0">
                <a:solidFill>
                  <a:srgbClr val="BC204B"/>
                </a:solidFill>
              </a:rPr>
              <a:t>Please remove all instructions (notes in boxes with red border) before sharing externally.</a:t>
            </a:r>
          </a:p>
        </p:txBody>
      </p:sp>
    </p:spTree>
    <p:extLst>
      <p:ext uri="{BB962C8B-B14F-4D97-AF65-F5344CB8AC3E}">
        <p14:creationId xmlns:p14="http://schemas.microsoft.com/office/powerpoint/2010/main" val="285625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5F4781-D2DD-79B6-D79D-71DF47DE7CA0}"/>
              </a:ext>
            </a:extLst>
          </p:cNvPr>
          <p:cNvSpPr>
            <a:spLocks noGrp="1"/>
          </p:cNvSpPr>
          <p:nvPr>
            <p:ph type="body" sz="quarter" idx="10"/>
          </p:nvPr>
        </p:nvSpPr>
        <p:spPr>
          <a:xfrm>
            <a:off x="984345" y="1330325"/>
            <a:ext cx="10204451" cy="4546799"/>
          </a:xfrm>
        </p:spPr>
        <p:txBody>
          <a:bodyPr/>
          <a:lstStyle/>
          <a:p>
            <a:pPr algn="just">
              <a:buClr>
                <a:schemeClr val="dk1">
                  <a:lumMod val="100000"/>
                </a:schemeClr>
              </a:buClr>
            </a:pPr>
            <a:r>
              <a:rPr kumimoji="0" lang="en-US" sz="1000" b="0" i="0" strike="noStrike" kern="1200" cap="none" spc="0" normalizeH="0" baseline="0" dirty="0">
                <a:ln>
                  <a:noFill/>
                </a:ln>
                <a:solidFill>
                  <a:srgbClr val="00338D"/>
                </a:solidFill>
                <a:effectLst/>
                <a:uLnTx/>
                <a:uFillTx/>
                <a:latin typeface="Arial" panose="020B0604020202020204"/>
                <a:ea typeface="+mn-ea"/>
                <a:cs typeface="+mn-cs"/>
              </a:rPr>
              <a:t>This report is provided to Ares Capital Management LLC (“Client") pursuant to our </a:t>
            </a:r>
            <a:r>
              <a:rPr lang="en-US" b="0" dirty="0">
                <a:solidFill>
                  <a:srgbClr val="00338D"/>
                </a:solidFill>
                <a:latin typeface="Arial" panose="020B0604020202020204"/>
              </a:rPr>
              <a:t>e</a:t>
            </a:r>
            <a:r>
              <a:rPr kumimoji="0" lang="en-US" sz="1000" b="0" i="0" strike="noStrike" kern="1200" cap="none" spc="0" normalizeH="0" baseline="0" dirty="0">
                <a:ln>
                  <a:noFill/>
                </a:ln>
                <a:solidFill>
                  <a:srgbClr val="00338D"/>
                </a:solidFill>
                <a:effectLst/>
                <a:uLnTx/>
                <a:uFillTx/>
                <a:latin typeface="Arial" panose="020B0604020202020204"/>
                <a:ea typeface="+mn-ea"/>
                <a:cs typeface="+mn-cs"/>
              </a:rPr>
              <a:t>ngagement </a:t>
            </a:r>
            <a:r>
              <a:rPr lang="en-US" b="0" dirty="0">
                <a:solidFill>
                  <a:srgbClr val="00338D"/>
                </a:solidFill>
                <a:latin typeface="Arial" panose="020B0604020202020204"/>
              </a:rPr>
              <a:t>l</a:t>
            </a:r>
            <a:r>
              <a:rPr kumimoji="0" lang="en-US" sz="1000" b="0" i="0" strike="noStrike" kern="1200" cap="none" spc="0" normalizeH="0" baseline="0" dirty="0">
                <a:ln>
                  <a:noFill/>
                </a:ln>
                <a:solidFill>
                  <a:srgbClr val="00338D"/>
                </a:solidFill>
                <a:effectLst/>
                <a:uLnTx/>
                <a:uFillTx/>
                <a:latin typeface="Arial" panose="020B0604020202020204"/>
                <a:ea typeface="+mn-ea"/>
                <a:cs typeface="+mn-cs"/>
              </a:rPr>
              <a:t>etter dated February 20, 2025, and is subject in all respects to the terms and conditions of that engagement letter, including restrictions on use of this report by third parties. If this report is received by anyone other than Client, the recipient is placed on notice that the report has been prepared solely for Client’s benefit and its own use. KPMG does not authorize recipient or any other party to rely on this report and any such reliance shall be at recipient’s sole risk. Therefore, KPMG LLP shall have no liability or responsibility in respect of the advice, recommendations, or other information in the report to recipient or any other party other than Client. Further, this report and its contents may not be shared with or disclosed by the recipient to anyone without the express written consent of Client.</a:t>
            </a:r>
            <a:endParaRPr lang="en-US" b="0" dirty="0"/>
          </a:p>
          <a:p>
            <a:pPr>
              <a:buClr>
                <a:schemeClr val="dk1">
                  <a:lumMod val="100000"/>
                </a:schemeClr>
              </a:buClr>
            </a:pPr>
            <a:r>
              <a:rPr lang="en-US" dirty="0"/>
              <a:t>Important Notice Regarding Quality of Earnings / Adjusted Working Capital Analyses</a:t>
            </a:r>
            <a:endParaRPr lang="en-US" b="0" dirty="0"/>
          </a:p>
          <a:p>
            <a:r>
              <a:rPr lang="en-US" b="0" dirty="0"/>
              <a:t>Our Quality of Earnings / Adjusted Working Capital analyses are intended to highlight items and analyze potential adjustments that have been identified that you may consider in your analysis of historical earnings and trends within the business. This may include adjustments for items identified that may be considered usual, non-recurring or otherwise not reflective of current or normal trends in the business. Our analysis may also include items identified that are considered run-rate or pro forma type adjustments. These items have been presented to analyze the potential impact to the business of certain actions, or events as if those actions or events had occurred at the beginning of the period presented.</a:t>
            </a:r>
          </a:p>
          <a:p>
            <a:r>
              <a:rPr lang="en-US" b="0" dirty="0"/>
              <a:t>There is no authoritative or common standard for a Quality of Earnings / Adjusted Working Capital Analysis or the types of adjustments that are shown in the analysis. The adjustments are being shown for illustrative purposes to help you evaluate the potential impact to the business of certain transactions, actions or events. We make no representation that similar items will not occur in the future or that the resulting analysis is reflective of normal or future results. Further, while our analysis has attempted to highlight and quantify the potential impact of a transaction, activity of event, there may be other consequences which cannot be identified, quantified or predicted. You should make your own determination about how you consider these items in your analysis of the business.</a:t>
            </a:r>
          </a:p>
          <a:p>
            <a:r>
              <a:rPr lang="en-US" b="0" dirty="0"/>
              <a:t>The potential adjustments and items identified in our analysis are based upon the procedures performed and may not be inclusive of all potential adjustments or items that may be relevant to your analysis. Further work may identify additional items or potential adjustments or changes to the items or potential adjustments identified.</a:t>
            </a:r>
          </a:p>
          <a:p>
            <a:r>
              <a:rPr lang="en-US" dirty="0"/>
              <a:t>Important Notice Regarding Net Debt Analysis</a:t>
            </a:r>
            <a:endParaRPr lang="en-US" b="0" dirty="0"/>
          </a:p>
          <a:p>
            <a:r>
              <a:rPr lang="en-US" b="0" dirty="0"/>
              <a:t>The net debt analysis has been prepared to assist in considering those items which may be ‘debt like’. There is no authoritative literature or common standard with respect to the identification of items which may form part of ‘debt’ or ‘net debt’, and the decision as to what items should be included or excluded is highly judgmental. Accordingly, there is no basis on which to state whether in the analysis of net debt, all appropriate and comparable items have been included, and that there are no items that might be judged by some to be inappropriate or that all appropriate adjustments have been made. We have set out in our report the basis on which items have been included, excluded, or adjusted in the net debt analysis. You may choose to analyze the information presented differently.</a:t>
            </a:r>
          </a:p>
          <a:p>
            <a:endParaRPr lang="en-US" dirty="0"/>
          </a:p>
        </p:txBody>
      </p:sp>
      <p:sp>
        <p:nvSpPr>
          <p:cNvPr id="3" name="Title 2">
            <a:extLst>
              <a:ext uri="{FF2B5EF4-FFF2-40B4-BE49-F238E27FC236}">
                <a16:creationId xmlns:a16="http://schemas.microsoft.com/office/drawing/2014/main" id="{EAE3AF01-B180-01C0-1436-51B574B87F2B}"/>
              </a:ext>
            </a:extLst>
          </p:cNvPr>
          <p:cNvSpPr>
            <a:spLocks noGrp="1"/>
          </p:cNvSpPr>
          <p:nvPr>
            <p:ph type="title"/>
          </p:nvPr>
        </p:nvSpPr>
        <p:spPr>
          <a:xfrm>
            <a:off x="995362" y="431800"/>
            <a:ext cx="10204452" cy="539750"/>
          </a:xfrm>
        </p:spPr>
        <p:txBody>
          <a:bodyPr/>
          <a:lstStyle/>
          <a:p>
            <a:pPr>
              <a:buClr>
                <a:schemeClr val="dk1">
                  <a:lumMod val="100000"/>
                </a:schemeClr>
              </a:buClr>
            </a:pPr>
            <a:r>
              <a:rPr lang="en-US" dirty="0"/>
              <a:t>Disclaimer</a:t>
            </a:r>
          </a:p>
        </p:txBody>
      </p:sp>
      <p:sp>
        <p:nvSpPr>
          <p:cNvPr id="5" name="Rectangle 4">
            <a:extLst>
              <a:ext uri="{FF2B5EF4-FFF2-40B4-BE49-F238E27FC236}">
                <a16:creationId xmlns:a16="http://schemas.microsoft.com/office/drawing/2014/main" id="{849F3827-9888-C9FB-EFBC-3DF9365D4CCD}"/>
              </a:ext>
            </a:extLst>
          </p:cNvPr>
          <p:cNvSpPr/>
          <p:nvPr/>
        </p:nvSpPr>
        <p:spPr>
          <a:xfrm>
            <a:off x="10142290" y="127320"/>
            <a:ext cx="981512" cy="539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sp>
        <p:nvSpPr>
          <p:cNvPr id="4" name="UpSlide SubSection Marker" hidden="1">
            <a:extLst>
              <a:ext uri="{FF2B5EF4-FFF2-40B4-BE49-F238E27FC236}">
                <a16:creationId xmlns:a16="http://schemas.microsoft.com/office/drawing/2014/main" id="{C322964A-D747-13BA-E24F-9F6CDBECF04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spTree>
    <p:custDataLst>
      <p:tags r:id="rId1"/>
    </p:custDataLst>
    <p:extLst>
      <p:ext uri="{BB962C8B-B14F-4D97-AF65-F5344CB8AC3E}">
        <p14:creationId xmlns:p14="http://schemas.microsoft.com/office/powerpoint/2010/main" val="1516384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BDDD34A-FE2B-FAC8-6E43-AA37CD74237A}"/>
              </a:ext>
            </a:extLst>
          </p:cNvPr>
          <p:cNvSpPr>
            <a:spLocks noGrp="1"/>
          </p:cNvSpPr>
          <p:nvPr>
            <p:ph type="body" sz="quarter" idx="10"/>
          </p:nvPr>
        </p:nvSpPr>
        <p:spPr>
          <a:xfrm>
            <a:off x="995363" y="1330325"/>
            <a:ext cx="4975837" cy="4546600"/>
          </a:xfrm>
        </p:spPr>
        <p:txBody>
          <a:bodyPr/>
          <a:lstStyle/>
          <a:p>
            <a:pPr lvl="1">
              <a:buClr>
                <a:schemeClr val="dk1">
                  <a:lumMod val="100000"/>
                </a:schemeClr>
              </a:buClr>
            </a:pPr>
            <a:r>
              <a:rPr lang="en-US" sz="700" dirty="0"/>
              <a:t>March 13, 2025</a:t>
            </a:r>
          </a:p>
          <a:p>
            <a:pPr lvl="1">
              <a:buClr>
                <a:schemeClr val="dk1">
                  <a:lumMod val="100000"/>
                </a:schemeClr>
              </a:buClr>
            </a:pPr>
            <a:r>
              <a:rPr lang="en-US" sz="700" b="1" dirty="0">
                <a:solidFill>
                  <a:schemeClr val="tx1"/>
                </a:solidFill>
              </a:rPr>
              <a:t>PRIVATE </a:t>
            </a:r>
            <a:endParaRPr lang="en-US" sz="700" dirty="0">
              <a:solidFill>
                <a:schemeClr val="tx1"/>
              </a:solidFill>
            </a:endParaRPr>
          </a:p>
          <a:p>
            <a:pPr lvl="1">
              <a:spcAft>
                <a:spcPts val="0"/>
              </a:spcAft>
              <a:buClr>
                <a:schemeClr val="dk1">
                  <a:lumMod val="100000"/>
                </a:schemeClr>
              </a:buClr>
            </a:pPr>
            <a:r>
              <a:rPr lang="en-US" sz="700" dirty="0"/>
              <a:t>General Counsel</a:t>
            </a:r>
          </a:p>
          <a:p>
            <a:pPr lvl="1">
              <a:spcAft>
                <a:spcPts val="0"/>
              </a:spcAft>
              <a:buClr>
                <a:schemeClr val="dk1">
                  <a:lumMod val="100000"/>
                </a:schemeClr>
              </a:buClr>
            </a:pPr>
            <a:r>
              <a:rPr lang="en-US" sz="700" dirty="0">
                <a:solidFill>
                  <a:schemeClr val="tx1"/>
                </a:solidFill>
              </a:rPr>
              <a:t>Ares Capital Management LLC</a:t>
            </a:r>
          </a:p>
          <a:p>
            <a:pPr lvl="1">
              <a:spcAft>
                <a:spcPts val="0"/>
              </a:spcAft>
              <a:buClr>
                <a:schemeClr val="dk1">
                  <a:lumMod val="100000"/>
                </a:schemeClr>
              </a:buClr>
            </a:pPr>
            <a:r>
              <a:rPr lang="en-US" sz="700" dirty="0"/>
              <a:t>245 Park Avenue, 44</a:t>
            </a:r>
            <a:r>
              <a:rPr lang="en-US" sz="700" baseline="30000" dirty="0"/>
              <a:t>th</a:t>
            </a:r>
            <a:r>
              <a:rPr lang="en-US" sz="700" dirty="0"/>
              <a:t> Floor</a:t>
            </a:r>
          </a:p>
          <a:p>
            <a:pPr lvl="1">
              <a:spcAft>
                <a:spcPts val="0"/>
              </a:spcAft>
              <a:buClr>
                <a:schemeClr val="dk1">
                  <a:lumMod val="100000"/>
                </a:schemeClr>
              </a:buClr>
            </a:pPr>
            <a:r>
              <a:rPr lang="en-US" sz="700" dirty="0"/>
              <a:t>New York, NY 10167</a:t>
            </a:r>
          </a:p>
          <a:p>
            <a:pPr lvl="1">
              <a:spcAft>
                <a:spcPts val="0"/>
              </a:spcAft>
            </a:pPr>
            <a:endParaRPr lang="en-US" sz="700" dirty="0">
              <a:solidFill>
                <a:schemeClr val="tx1"/>
              </a:solidFill>
            </a:endParaRPr>
          </a:p>
          <a:p>
            <a:pPr lvl="1"/>
            <a:r>
              <a:rPr lang="en-US" sz="700" dirty="0">
                <a:solidFill>
                  <a:schemeClr val="tx1"/>
                </a:solidFill>
              </a:rPr>
              <a:t>Dear </a:t>
            </a:r>
            <a:r>
              <a:rPr lang="en-US" sz="700" dirty="0"/>
              <a:t>Sirs</a:t>
            </a:r>
            <a:r>
              <a:rPr lang="en-US" sz="700" dirty="0">
                <a:solidFill>
                  <a:schemeClr val="tx1"/>
                </a:solidFill>
              </a:rPr>
              <a:t>;</a:t>
            </a:r>
          </a:p>
          <a:p>
            <a:pPr lvl="1" algn="just">
              <a:buClr>
                <a:schemeClr val="dk1">
                  <a:lumMod val="100000"/>
                </a:schemeClr>
              </a:buClr>
            </a:pPr>
            <a:r>
              <a:rPr lang="en-US" sz="700" dirty="0"/>
              <a:t>We have substantially completed our engagement to assist Ares Capital Management LLC (“Client” or “you”)  in performing due diligence of Synex Benefits Solutions Inc. (“Target” or the “Company”) in accordance with the terms of our engagement letter dated February 20, 2025, including its Standard Terms and Conditions.  Please note we are still in process of completing our tax procedures, which will be provided under separate cover.</a:t>
            </a:r>
          </a:p>
          <a:p>
            <a:pPr lvl="1" algn="just">
              <a:buClr>
                <a:schemeClr val="dk1">
                  <a:lumMod val="100000"/>
                </a:schemeClr>
              </a:buClr>
            </a:pPr>
            <a:r>
              <a:rPr lang="en-US" sz="700" b="1" dirty="0"/>
              <a:t>Objective</a:t>
            </a:r>
            <a:endParaRPr lang="en-US" sz="700" dirty="0"/>
          </a:p>
          <a:p>
            <a:pPr lvl="1" algn="just">
              <a:buClr>
                <a:schemeClr val="dk1">
                  <a:lumMod val="100000"/>
                </a:schemeClr>
              </a:buClr>
            </a:pPr>
            <a:r>
              <a:rPr lang="en-US" sz="700" dirty="0"/>
              <a:t>The objective of our engagement was to assist you with your assessment of the risks and opportunities of your proposed investment in Target. Our work was conducted via online dataroom provided by Target and virtual meetings with Target management. The primary scope of our engagement was to obtain, read, make inquiries concerning, and comment on information that you and Target provided to us, directed toward those business activities and related financial data that you identified as important to your investment decision.</a:t>
            </a:r>
            <a:endParaRPr lang="en-US" sz="700" b="1" dirty="0"/>
          </a:p>
          <a:p>
            <a:pPr lvl="1" algn="just">
              <a:buClr>
                <a:schemeClr val="dk1">
                  <a:lumMod val="100000"/>
                </a:schemeClr>
              </a:buClr>
            </a:pPr>
            <a:r>
              <a:rPr lang="en-US" sz="700" b="1" dirty="0"/>
              <a:t>Basis of information</a:t>
            </a:r>
            <a:endParaRPr lang="en-US" sz="700" dirty="0"/>
          </a:p>
          <a:p>
            <a:pPr lvl="1" algn="just"/>
            <a:r>
              <a:rPr lang="en-US" sz="700" dirty="0"/>
              <a:t>Our engagement letter describes the procedures we were to perform; a summary of those procedures is included as an appendix to this report. Those procedures were selected by you and were limited in nature and extent to those that you determined best fit your needs.  We make no representation regarding the sufficiency for your purposes of the procedures you selected, and those procedures will not necessarily disclose all significant matters about Target or reveal errors in the underlying information, instances of fraud, or illegal acts, if any.  We have indicated in our report any instances in which procedures you requested could not be performed.  This document was prepared by us on the basis that you provided us with all relevant information you received concerning Target.  You have agreed to review promptly this draft of our report to confirm that the procedures we performed were consistent with those requested by you, and to advise us on a timely basis of any additional procedures you would like us to perform or areas you would like us to address.</a:t>
            </a:r>
          </a:p>
          <a:p>
            <a:pPr lvl="1" algn="just"/>
            <a:r>
              <a:rPr lang="en-US" sz="700" dirty="0"/>
              <a:t>The procedures we performed do not constitute an audit, examination or review in accordance with standards established by the American Institute of Certified Public Accountants (“AICPA”), and we have not otherwise verified the information we obtained or presented in this report. Also, any procedures we performed with respect to Target’s internal control over financial reporting were substantially less in scope than an examination of internal control conducted in accordance with Statements on Standards for Attestation Engagements issued by the AICPA. Therefore, we express no opinion or any other form of assurance on the Target’s internal control over financial reporting or on the information presented in our report and make no representations concerning its accuracy or completeness.</a:t>
            </a:r>
          </a:p>
        </p:txBody>
      </p:sp>
      <p:sp>
        <p:nvSpPr>
          <p:cNvPr id="5" name="Text Placeholder 4">
            <a:extLst>
              <a:ext uri="{FF2B5EF4-FFF2-40B4-BE49-F238E27FC236}">
                <a16:creationId xmlns:a16="http://schemas.microsoft.com/office/drawing/2014/main" id="{E461713B-D8EB-4980-3AF5-CD3E55ED1B23}"/>
              </a:ext>
            </a:extLst>
          </p:cNvPr>
          <p:cNvSpPr>
            <a:spLocks noGrp="1"/>
          </p:cNvSpPr>
          <p:nvPr>
            <p:ph type="body" sz="quarter" idx="11"/>
          </p:nvPr>
        </p:nvSpPr>
        <p:spPr>
          <a:xfrm>
            <a:off x="6220800" y="2508250"/>
            <a:ext cx="4968000" cy="3368676"/>
          </a:xfrm>
        </p:spPr>
        <p:txBody>
          <a:bodyPr/>
          <a:lstStyle/>
          <a:p>
            <a:pPr lvl="1" algn="just"/>
            <a:r>
              <a:rPr lang="en-US" sz="700" dirty="0"/>
              <a:t>Furthermore, we have not compiled, examined, or applied other procedures in accordance with Statements on Standards for Attestation Engagements issued by the AICPA to prospective information contained in this report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 </a:t>
            </a:r>
          </a:p>
          <a:p>
            <a:pPr lvl="1" algn="just"/>
            <a:r>
              <a:rPr lang="en-US" sz="700" dirty="0"/>
              <a:t>Our procedures concentrated on the following financial information:</a:t>
            </a:r>
          </a:p>
          <a:p>
            <a:pPr marL="171450" lvl="1" indent="-171450" algn="just">
              <a:buFont typeface="Arial" panose="020B0604020202020204" pitchFamily="34" charset="0"/>
              <a:buChar char="•"/>
            </a:pPr>
            <a:r>
              <a:rPr lang="en-US" sz="700" dirty="0"/>
              <a:t>Sell-side due diligence report and accompanying datapack prepared by EY covering the fiscal years ended December 31, 2022 and December 31, 2023, and the ten month period ended October 31, 2024;</a:t>
            </a:r>
          </a:p>
          <a:p>
            <a:pPr marL="171450" lvl="1" indent="-171450" algn="just">
              <a:buFont typeface="Arial" panose="020B0604020202020204" pitchFamily="34" charset="0"/>
              <a:buChar char="•"/>
            </a:pPr>
            <a:r>
              <a:rPr lang="en-US" sz="700" dirty="0"/>
              <a:t>Sell-side due diligence roll-forward quality of earnings and net working capital analyses prepared by EY for the year ended December 31, 2024; and</a:t>
            </a:r>
          </a:p>
          <a:p>
            <a:pPr marL="171450" lvl="1" indent="-171450" algn="just">
              <a:buFont typeface="Arial" panose="020B0604020202020204" pitchFamily="34" charset="0"/>
              <a:buChar char="•"/>
            </a:pPr>
            <a:r>
              <a:rPr lang="en-US" sz="700" dirty="0"/>
              <a:t>Audited income statement and balance sheet for the years ended and as of December 31, 2022 and December 31, 2023.</a:t>
            </a:r>
          </a:p>
          <a:p>
            <a:pPr lvl="1" algn="just"/>
            <a:r>
              <a:rPr lang="en-US" sz="700" dirty="0"/>
              <a:t>Note our work over the minority interest calculations provided by the Company is continuing as at the date of the report.</a:t>
            </a:r>
          </a:p>
          <a:p>
            <a:pPr lvl="1" algn="just"/>
            <a:r>
              <a:rPr lang="en-US" sz="700" dirty="0"/>
              <a:t>Specific Target officers and management interviewed included: Yan Charbonneau (CVO), Sylvie Lambert (CFO), Marc Noel (SVP of Finance), and Emile Sauvageau (VP of M&amp;A and Finance).</a:t>
            </a:r>
            <a:endParaRPr lang="en-US" sz="700" dirty="0">
              <a:solidFill>
                <a:srgbClr val="FF0000"/>
              </a:solidFill>
            </a:endParaRPr>
          </a:p>
          <a:p>
            <a:pPr lvl="1" algn="just"/>
            <a:r>
              <a:rPr lang="en-US" sz="700" dirty="0"/>
              <a:t>The data included in this report was obtained from you and Target on or before March 13, 2025.  Since many aspects of the proposed transaction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subsequent to March 13, 2025. We have not reviewed a draft of this report with Target management for the purpose of confirming the factual accuracy of the information we presented. </a:t>
            </a:r>
          </a:p>
          <a:p>
            <a:pPr lvl="1" algn="just"/>
            <a:r>
              <a:rPr lang="en-US" sz="700" dirty="0"/>
              <a:t>We presented our interim findings to you in various phone conversations and emails throughout the course of our work.  Because of its special nature, this report is not suited for any purpose other than to assist you in your evaluation of Target and, as such, and as agreed in the </a:t>
            </a:r>
            <a:r>
              <a:rPr lang="en-US" sz="700" dirty="0">
                <a:solidFill>
                  <a:schemeClr val="tx1"/>
                </a:solidFill>
              </a:rPr>
              <a:t>statement of work</a:t>
            </a:r>
            <a:r>
              <a:rPr lang="en-US" sz="700" dirty="0"/>
              <a:t>, has been prepared solely for your benefit and use and we do not authorize any other party to rely on this report.</a:t>
            </a:r>
          </a:p>
          <a:p>
            <a:pPr lvl="1" algn="just"/>
            <a:r>
              <a:rPr lang="en-US" sz="700" dirty="0"/>
              <a:t>Please contact Michael Scherer at (732) 956-0756 or Georges Pigeon at (514) 840-2178 if you have any questions or comments on this report. We look forward to continuing to provide service to you in the future. </a:t>
            </a:r>
          </a:p>
        </p:txBody>
      </p:sp>
      <p:sp>
        <p:nvSpPr>
          <p:cNvPr id="2" name="Text Placeholder 1">
            <a:extLst>
              <a:ext uri="{FF2B5EF4-FFF2-40B4-BE49-F238E27FC236}">
                <a16:creationId xmlns:a16="http://schemas.microsoft.com/office/drawing/2014/main" id="{B9AFA7BD-8159-2AB1-DD2E-9EAA57272A36}"/>
              </a:ext>
            </a:extLst>
          </p:cNvPr>
          <p:cNvSpPr>
            <a:spLocks noGrp="1"/>
          </p:cNvSpPr>
          <p:nvPr>
            <p:ph type="body" sz="quarter" idx="13"/>
          </p:nvPr>
        </p:nvSpPr>
        <p:spPr>
          <a:xfrm>
            <a:off x="1009215" y="431800"/>
            <a:ext cx="3294062" cy="549275"/>
          </a:xfrm>
        </p:spPr>
        <p:txBody>
          <a:bodyPr/>
          <a:lstStyle/>
          <a:p>
            <a:r>
              <a:rPr lang="en-US" sz="800" dirty="0"/>
              <a:t>KPMG LLP</a:t>
            </a:r>
          </a:p>
          <a:p>
            <a:pPr>
              <a:spcAft>
                <a:spcPts val="0"/>
              </a:spcAft>
            </a:pPr>
            <a:r>
              <a:rPr lang="en-US" sz="800" b="0" dirty="0"/>
              <a:t>1350 Avenue of the Americas</a:t>
            </a:r>
          </a:p>
          <a:p>
            <a:pPr>
              <a:spcAft>
                <a:spcPts val="0"/>
              </a:spcAft>
            </a:pPr>
            <a:r>
              <a:rPr lang="en-US" sz="800" b="0" dirty="0"/>
              <a:t>New York, NY 10019</a:t>
            </a:r>
          </a:p>
          <a:p>
            <a:endParaRPr lang="en-US" dirty="0"/>
          </a:p>
        </p:txBody>
      </p:sp>
      <p:sp>
        <p:nvSpPr>
          <p:cNvPr id="3" name="Text Placeholder 2">
            <a:extLst>
              <a:ext uri="{FF2B5EF4-FFF2-40B4-BE49-F238E27FC236}">
                <a16:creationId xmlns:a16="http://schemas.microsoft.com/office/drawing/2014/main" id="{54BDF594-3307-B226-FF31-69FFF259D391}"/>
              </a:ext>
            </a:extLst>
          </p:cNvPr>
          <p:cNvSpPr>
            <a:spLocks noGrp="1"/>
          </p:cNvSpPr>
          <p:nvPr>
            <p:ph type="body" sz="quarter" idx="14"/>
          </p:nvPr>
        </p:nvSpPr>
        <p:spPr>
          <a:xfrm>
            <a:off x="6220800" y="431800"/>
            <a:ext cx="3294062" cy="549275"/>
          </a:xfrm>
        </p:spPr>
        <p:txBody>
          <a:bodyPr/>
          <a:lstStyle/>
          <a:p>
            <a:pPr>
              <a:spcAft>
                <a:spcPts val="0"/>
              </a:spcAft>
            </a:pPr>
            <a:r>
              <a:rPr lang="en-US" sz="800" b="0" dirty="0"/>
              <a:t>Telephone  212-997-0500</a:t>
            </a:r>
          </a:p>
          <a:p>
            <a:pPr>
              <a:spcAft>
                <a:spcPts val="0"/>
              </a:spcAft>
            </a:pPr>
            <a:r>
              <a:rPr lang="en-US" sz="800" b="0" dirty="0"/>
              <a:t>Fax             212-730-6892</a:t>
            </a:r>
          </a:p>
          <a:p>
            <a:endParaRPr lang="en-US" dirty="0"/>
          </a:p>
        </p:txBody>
      </p:sp>
      <p:sp>
        <p:nvSpPr>
          <p:cNvPr id="7" name="Text Placeholder 6">
            <a:extLst>
              <a:ext uri="{FF2B5EF4-FFF2-40B4-BE49-F238E27FC236}">
                <a16:creationId xmlns:a16="http://schemas.microsoft.com/office/drawing/2014/main" id="{6783822F-A1EA-6B60-C1A9-2C19F4855E59}"/>
              </a:ext>
            </a:extLst>
          </p:cNvPr>
          <p:cNvSpPr txBox="1">
            <a:spLocks/>
          </p:cNvSpPr>
          <p:nvPr/>
        </p:nvSpPr>
        <p:spPr>
          <a:xfrm>
            <a:off x="1955801" y="302982"/>
            <a:ext cx="4068763" cy="36535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0"/>
              </a:spcAft>
            </a:pPr>
            <a:endParaRPr lang="en-US" sz="700" b="0" dirty="0"/>
          </a:p>
        </p:txBody>
      </p:sp>
      <p:sp>
        <p:nvSpPr>
          <p:cNvPr id="8" name="Rectangle 7">
            <a:extLst>
              <a:ext uri="{FF2B5EF4-FFF2-40B4-BE49-F238E27FC236}">
                <a16:creationId xmlns:a16="http://schemas.microsoft.com/office/drawing/2014/main" id="{066062D0-9CD7-0BE8-8D64-133E1C4C743B}"/>
              </a:ext>
            </a:extLst>
          </p:cNvPr>
          <p:cNvSpPr/>
          <p:nvPr/>
        </p:nvSpPr>
        <p:spPr>
          <a:xfrm>
            <a:off x="10301681" y="125835"/>
            <a:ext cx="881104" cy="5425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sp>
        <p:nvSpPr>
          <p:cNvPr id="6" name="UpSlide SubSection Marker" hidden="1">
            <a:extLst>
              <a:ext uri="{FF2B5EF4-FFF2-40B4-BE49-F238E27FC236}">
                <a16:creationId xmlns:a16="http://schemas.microsoft.com/office/drawing/2014/main" id="{7209FD02-3DEF-CEA5-DA01-31EBAF0ACA3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spTree>
    <p:custDataLst>
      <p:tags r:id="rId1"/>
    </p:custDataLst>
    <p:extLst>
      <p:ext uri="{BB962C8B-B14F-4D97-AF65-F5344CB8AC3E}">
        <p14:creationId xmlns:p14="http://schemas.microsoft.com/office/powerpoint/2010/main" val="4280099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dirty="0"/>
              <a:t>Contents</a:t>
            </a:r>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dirty="0">
                <a:solidFill>
                  <a:schemeClr val="tx2"/>
                </a:solidFill>
              </a:rPr>
              <a:t>Glossary</a:t>
            </a:r>
          </a:p>
        </p:txBody>
      </p:sp>
      <p:pic>
        <p:nvPicPr>
          <p:cNvPr id="3637" name="Picture 3636">
            <a:hlinkClick r:id="rId75"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76"/>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69369"/>
            <a:ext cx="886461" cy="153888"/>
          </a:xfrm>
          <a:prstGeom prst="rect">
            <a:avLst/>
          </a:prstGeom>
        </p:spPr>
        <p:txBody>
          <a:bodyPr wrap="none" lIns="0" tIns="0" rIns="0" bIns="0" anchor="ctr">
            <a:spAutoFit/>
          </a:bodyPr>
          <a:lstStyle/>
          <a:p>
            <a:pPr algn="r"/>
            <a:r>
              <a:rPr lang="en-US" sz="1000" dirty="0">
                <a:solidFill>
                  <a:schemeClr val="tx2"/>
                </a:solidFill>
              </a:rPr>
              <a:t>KPMG contacts</a:t>
            </a:r>
          </a:p>
        </p:txBody>
      </p:sp>
      <p:pic>
        <p:nvPicPr>
          <p:cNvPr id="3638" name="Picture 3637">
            <a:hlinkClick r:id="rId77"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78"/>
          <a:stretch>
            <a:fillRect/>
          </a:stretch>
        </p:blipFill>
        <p:spPr>
          <a:xfrm>
            <a:off x="11828635" y="1039584"/>
            <a:ext cx="254677" cy="254677"/>
          </a:xfrm>
          <a:prstGeom prst="rect">
            <a:avLst/>
          </a:prstGeom>
        </p:spPr>
      </p:pic>
      <p:sp>
        <p:nvSpPr>
          <p:cNvPr id="3590" name="TextBox 3589">
            <a:hlinkClick r:id="rId79" action="ppaction://hlinksldjump"/>
            <a:extLst>
              <a:ext uri="{FF2B5EF4-FFF2-40B4-BE49-F238E27FC236}">
                <a16:creationId xmlns:a16="http://schemas.microsoft.com/office/drawing/2014/main" id="{EE862ABD-82E9-A960-FE50-15548363A882}"/>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US" sz="2400" b="0" dirty="0">
                <a:solidFill>
                  <a:schemeClr val="tx2"/>
                </a:solidFill>
                <a:latin typeface="+mj-lt"/>
                <a:cs typeface="Arial" panose="020B0604020202020204" pitchFamily="34" charset="0"/>
              </a:rPr>
              <a:t>Executive summary</a:t>
            </a:r>
          </a:p>
        </p:txBody>
      </p:sp>
      <p:sp>
        <p:nvSpPr>
          <p:cNvPr id="3591" name="TextBox 3590">
            <a:hlinkClick r:id="rId80" action="ppaction://hlinksldjump"/>
            <a:extLst>
              <a:ext uri="{FF2B5EF4-FFF2-40B4-BE49-F238E27FC236}">
                <a16:creationId xmlns:a16="http://schemas.microsoft.com/office/drawing/2014/main" id="{CEF7EC91-2CE5-1AFD-533C-F92CF871A53D}"/>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Business overview</a:t>
            </a:r>
          </a:p>
        </p:txBody>
      </p:sp>
      <p:sp>
        <p:nvSpPr>
          <p:cNvPr id="3592" name="TextBox 3591">
            <a:hlinkClick r:id="rId81" action="ppaction://hlinksldjump"/>
            <a:extLst>
              <a:ext uri="{FF2B5EF4-FFF2-40B4-BE49-F238E27FC236}">
                <a16:creationId xmlns:a16="http://schemas.microsoft.com/office/drawing/2014/main" id="{CED4711C-5782-249C-E5FC-D0284D5217AA}"/>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Summary financials</a:t>
            </a:r>
          </a:p>
        </p:txBody>
      </p:sp>
      <p:sp>
        <p:nvSpPr>
          <p:cNvPr id="3593" name="TextBox 3592">
            <a:hlinkClick r:id="rId82" action="ppaction://hlinksldjump"/>
            <a:extLst>
              <a:ext uri="{FF2B5EF4-FFF2-40B4-BE49-F238E27FC236}">
                <a16:creationId xmlns:a16="http://schemas.microsoft.com/office/drawing/2014/main" id="{8801917F-73A6-EE29-88B9-EDA27D925CC5}"/>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Key findings</a:t>
            </a:r>
          </a:p>
        </p:txBody>
      </p:sp>
      <p:sp>
        <p:nvSpPr>
          <p:cNvPr id="3594" name="TextBox 3593">
            <a:hlinkClick r:id="rId83" action="ppaction://hlinksldjump"/>
            <a:extLst>
              <a:ext uri="{FF2B5EF4-FFF2-40B4-BE49-F238E27FC236}">
                <a16:creationId xmlns:a16="http://schemas.microsoft.com/office/drawing/2014/main" id="{73AD5BC3-AAAB-1738-1D82-67377E000DDA}"/>
              </a:ext>
            </a:extLst>
          </p:cNvPr>
          <p:cNvSpPr txBox="1"/>
          <p:nvPr>
            <p:custDataLst>
              <p:tags r:id="rId6"/>
            </p:custDataLst>
          </p:nvPr>
        </p:nvSpPr>
        <p:spPr>
          <a:xfrm>
            <a:off x="1249682" y="2074720"/>
            <a:ext cx="3942077" cy="347289"/>
          </a:xfrm>
          <a:prstGeom prst="rect">
            <a:avLst/>
          </a:prstGeom>
          <a:noFill/>
        </p:spPr>
        <p:txBody>
          <a:bodyPr vert="horz" wrap="square" lIns="0" tIns="0" rIns="0" bIns="0" rtlCol="0" anchor="t">
            <a:noAutofit/>
          </a:bodyPr>
          <a:lstStyle/>
          <a:p>
            <a:pPr algn="l"/>
            <a:r>
              <a:rPr lang="en-US" sz="2400" b="0" dirty="0">
                <a:solidFill>
                  <a:schemeClr val="tx2"/>
                </a:solidFill>
                <a:latin typeface="+mj-lt"/>
                <a:cs typeface="Arial" panose="020B0604020202020204" pitchFamily="34" charset="0"/>
              </a:rPr>
              <a:t>Quality of earnings</a:t>
            </a:r>
          </a:p>
        </p:txBody>
      </p:sp>
      <p:sp>
        <p:nvSpPr>
          <p:cNvPr id="3595" name="TextBox 3594">
            <a:hlinkClick r:id="rId84" action="ppaction://hlinksldjump"/>
            <a:extLst>
              <a:ext uri="{FF2B5EF4-FFF2-40B4-BE49-F238E27FC236}">
                <a16:creationId xmlns:a16="http://schemas.microsoft.com/office/drawing/2014/main" id="{3B652229-2673-D0D0-587C-D6F190BF4624}"/>
              </a:ext>
            </a:extLst>
          </p:cNvPr>
          <p:cNvSpPr txBox="1"/>
          <p:nvPr>
            <p:custDataLst>
              <p:tags r:id="rId7"/>
            </p:custDataLst>
          </p:nvPr>
        </p:nvSpPr>
        <p:spPr>
          <a:xfrm>
            <a:off x="1249682" y="24531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Quality of earnings</a:t>
            </a:r>
          </a:p>
        </p:txBody>
      </p:sp>
      <p:sp>
        <p:nvSpPr>
          <p:cNvPr id="3596" name="TextBox 3595">
            <a:hlinkClick r:id="rId85" action="ppaction://hlinksldjump"/>
            <a:extLst>
              <a:ext uri="{FF2B5EF4-FFF2-40B4-BE49-F238E27FC236}">
                <a16:creationId xmlns:a16="http://schemas.microsoft.com/office/drawing/2014/main" id="{655E68B7-AFCC-2325-05D2-3ACBCA904C0D}"/>
              </a:ext>
            </a:extLst>
          </p:cNvPr>
          <p:cNvSpPr txBox="1"/>
          <p:nvPr>
            <p:custDataLst>
              <p:tags r:id="rId8"/>
            </p:custDataLst>
          </p:nvPr>
        </p:nvSpPr>
        <p:spPr>
          <a:xfrm>
            <a:off x="1249682" y="25918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Adjusted income statement</a:t>
            </a:r>
          </a:p>
        </p:txBody>
      </p:sp>
      <p:sp>
        <p:nvSpPr>
          <p:cNvPr id="3597" name="TextBox 3596">
            <a:hlinkClick r:id="rId86" action="ppaction://hlinksldjump"/>
            <a:extLst>
              <a:ext uri="{FF2B5EF4-FFF2-40B4-BE49-F238E27FC236}">
                <a16:creationId xmlns:a16="http://schemas.microsoft.com/office/drawing/2014/main" id="{F7124BF3-B752-A056-E3BD-EC3B70CA611A}"/>
              </a:ext>
            </a:extLst>
          </p:cNvPr>
          <p:cNvSpPr txBox="1"/>
          <p:nvPr>
            <p:custDataLst>
              <p:tags r:id="rId9"/>
            </p:custDataLst>
          </p:nvPr>
        </p:nvSpPr>
        <p:spPr>
          <a:xfrm>
            <a:off x="1249682" y="27305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Adjusted EBITDA by source</a:t>
            </a:r>
          </a:p>
        </p:txBody>
      </p:sp>
      <p:sp>
        <p:nvSpPr>
          <p:cNvPr id="3598" name="TextBox 3597">
            <a:hlinkClick r:id="rId87" action="ppaction://hlinksldjump"/>
            <a:extLst>
              <a:ext uri="{FF2B5EF4-FFF2-40B4-BE49-F238E27FC236}">
                <a16:creationId xmlns:a16="http://schemas.microsoft.com/office/drawing/2014/main" id="{9D90FAF7-16A3-E695-4AC0-DD4487E2AD35}"/>
              </a:ext>
            </a:extLst>
          </p:cNvPr>
          <p:cNvSpPr txBox="1"/>
          <p:nvPr>
            <p:custDataLst>
              <p:tags r:id="rId10"/>
            </p:custDataLst>
          </p:nvPr>
        </p:nvSpPr>
        <p:spPr>
          <a:xfrm>
            <a:off x="1249682" y="2920080"/>
            <a:ext cx="3942077" cy="347289"/>
          </a:xfrm>
          <a:prstGeom prst="rect">
            <a:avLst/>
          </a:prstGeom>
          <a:noFill/>
        </p:spPr>
        <p:txBody>
          <a:bodyPr vert="horz" wrap="square" lIns="0" tIns="0" rIns="0" bIns="0" rtlCol="0" anchor="t">
            <a:noAutofit/>
          </a:bodyPr>
          <a:lstStyle/>
          <a:p>
            <a:pPr algn="l"/>
            <a:r>
              <a:rPr lang="en-US" sz="2400" b="0" dirty="0">
                <a:solidFill>
                  <a:schemeClr val="tx2"/>
                </a:solidFill>
                <a:latin typeface="+mj-lt"/>
                <a:cs typeface="Arial" panose="020B0604020202020204" pitchFamily="34" charset="0"/>
              </a:rPr>
              <a:t>Net working capital and net debt</a:t>
            </a:r>
          </a:p>
        </p:txBody>
      </p:sp>
      <p:sp>
        <p:nvSpPr>
          <p:cNvPr id="3599" name="TextBox 3598">
            <a:hlinkClick r:id="rId88" action="ppaction://hlinksldjump"/>
            <a:extLst>
              <a:ext uri="{FF2B5EF4-FFF2-40B4-BE49-F238E27FC236}">
                <a16:creationId xmlns:a16="http://schemas.microsoft.com/office/drawing/2014/main" id="{9ADB3C56-A3B2-3200-CE09-15178A67B596}"/>
              </a:ext>
            </a:extLst>
          </p:cNvPr>
          <p:cNvSpPr txBox="1"/>
          <p:nvPr>
            <p:custDataLst>
              <p:tags r:id="rId11"/>
            </p:custDataLst>
          </p:nvPr>
        </p:nvSpPr>
        <p:spPr>
          <a:xfrm>
            <a:off x="1249682" y="32985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Net working capital</a:t>
            </a:r>
          </a:p>
        </p:txBody>
      </p:sp>
      <p:sp>
        <p:nvSpPr>
          <p:cNvPr id="3600" name="TextBox 3599">
            <a:hlinkClick r:id="rId89" action="ppaction://hlinksldjump"/>
            <a:extLst>
              <a:ext uri="{FF2B5EF4-FFF2-40B4-BE49-F238E27FC236}">
                <a16:creationId xmlns:a16="http://schemas.microsoft.com/office/drawing/2014/main" id="{8B774AA7-23B6-ED8C-FD72-D9C933B6111E}"/>
              </a:ext>
            </a:extLst>
          </p:cNvPr>
          <p:cNvSpPr txBox="1"/>
          <p:nvPr>
            <p:custDataLst>
              <p:tags r:id="rId12"/>
            </p:custDataLst>
          </p:nvPr>
        </p:nvSpPr>
        <p:spPr>
          <a:xfrm>
            <a:off x="1249682" y="34372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Adjusted net working capital</a:t>
            </a:r>
          </a:p>
        </p:txBody>
      </p:sp>
      <p:sp>
        <p:nvSpPr>
          <p:cNvPr id="3601" name="TextBox 3600">
            <a:hlinkClick r:id="rId90" action="ppaction://hlinksldjump"/>
            <a:extLst>
              <a:ext uri="{FF2B5EF4-FFF2-40B4-BE49-F238E27FC236}">
                <a16:creationId xmlns:a16="http://schemas.microsoft.com/office/drawing/2014/main" id="{4B0FE47C-E4D7-3C70-E504-BE65A2097E93}"/>
              </a:ext>
            </a:extLst>
          </p:cNvPr>
          <p:cNvSpPr txBox="1"/>
          <p:nvPr>
            <p:custDataLst>
              <p:tags r:id="rId13"/>
            </p:custDataLst>
          </p:nvPr>
        </p:nvSpPr>
        <p:spPr>
          <a:xfrm>
            <a:off x="1249682" y="35759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Net debt</a:t>
            </a:r>
          </a:p>
        </p:txBody>
      </p:sp>
      <p:sp>
        <p:nvSpPr>
          <p:cNvPr id="3602" name="TextBox 3601">
            <a:hlinkClick r:id="rId91" action="ppaction://hlinksldjump"/>
            <a:extLst>
              <a:ext uri="{FF2B5EF4-FFF2-40B4-BE49-F238E27FC236}">
                <a16:creationId xmlns:a16="http://schemas.microsoft.com/office/drawing/2014/main" id="{CFB298BA-4F17-F767-915F-D1C8866D2E47}"/>
              </a:ext>
            </a:extLst>
          </p:cNvPr>
          <p:cNvSpPr txBox="1"/>
          <p:nvPr>
            <p:custDataLst>
              <p:tags r:id="rId14"/>
            </p:custDataLst>
          </p:nvPr>
        </p:nvSpPr>
        <p:spPr>
          <a:xfrm>
            <a:off x="1249682" y="3765441"/>
            <a:ext cx="3942077" cy="347289"/>
          </a:xfrm>
          <a:prstGeom prst="rect">
            <a:avLst/>
          </a:prstGeom>
          <a:noFill/>
        </p:spPr>
        <p:txBody>
          <a:bodyPr vert="horz" wrap="square" lIns="0" tIns="0" rIns="0" bIns="0" rtlCol="0" anchor="t">
            <a:noAutofit/>
          </a:bodyPr>
          <a:lstStyle/>
          <a:p>
            <a:pPr algn="l"/>
            <a:r>
              <a:rPr lang="en-US" sz="2400" b="0" dirty="0">
                <a:solidFill>
                  <a:schemeClr val="tx2"/>
                </a:solidFill>
                <a:latin typeface="+mj-lt"/>
                <a:cs typeface="Arial" panose="020B0604020202020204" pitchFamily="34" charset="0"/>
              </a:rPr>
              <a:t>Reporting</a:t>
            </a:r>
          </a:p>
        </p:txBody>
      </p:sp>
      <p:sp>
        <p:nvSpPr>
          <p:cNvPr id="3603" name="TextBox 3602">
            <a:hlinkClick r:id="rId92" action="ppaction://hlinksldjump"/>
            <a:extLst>
              <a:ext uri="{FF2B5EF4-FFF2-40B4-BE49-F238E27FC236}">
                <a16:creationId xmlns:a16="http://schemas.microsoft.com/office/drawing/2014/main" id="{46583249-136C-7373-4E64-58B9C6D8B500}"/>
              </a:ext>
            </a:extLst>
          </p:cNvPr>
          <p:cNvSpPr txBox="1"/>
          <p:nvPr>
            <p:custDataLst>
              <p:tags r:id="rId15"/>
            </p:custDataLst>
          </p:nvPr>
        </p:nvSpPr>
        <p:spPr>
          <a:xfrm>
            <a:off x="1249682" y="41439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Financial reporting environment</a:t>
            </a:r>
          </a:p>
        </p:txBody>
      </p:sp>
      <p:sp>
        <p:nvSpPr>
          <p:cNvPr id="3604" name="TextBox 3603">
            <a:hlinkClick r:id="rId93" action="ppaction://hlinksldjump"/>
            <a:extLst>
              <a:ext uri="{FF2B5EF4-FFF2-40B4-BE49-F238E27FC236}">
                <a16:creationId xmlns:a16="http://schemas.microsoft.com/office/drawing/2014/main" id="{7F4F57F9-B43A-9859-8877-E4E3EA8373A1}"/>
              </a:ext>
            </a:extLst>
          </p:cNvPr>
          <p:cNvSpPr txBox="1"/>
          <p:nvPr>
            <p:custDataLst>
              <p:tags r:id="rId16"/>
            </p:custDataLst>
          </p:nvPr>
        </p:nvSpPr>
        <p:spPr>
          <a:xfrm>
            <a:off x="1249682" y="4333401"/>
            <a:ext cx="3942077" cy="347289"/>
          </a:xfrm>
          <a:prstGeom prst="rect">
            <a:avLst/>
          </a:prstGeom>
          <a:noFill/>
        </p:spPr>
        <p:txBody>
          <a:bodyPr vert="horz" wrap="square" lIns="0" tIns="0" rIns="0" bIns="0" rtlCol="0" anchor="t">
            <a:noAutofit/>
          </a:bodyPr>
          <a:lstStyle/>
          <a:p>
            <a:pPr algn="l"/>
            <a:r>
              <a:rPr lang="en-US" sz="2400" b="0" dirty="0">
                <a:solidFill>
                  <a:schemeClr val="tx2"/>
                </a:solidFill>
                <a:latin typeface="+mj-lt"/>
                <a:cs typeface="Arial" panose="020B0604020202020204" pitchFamily="34" charset="0"/>
              </a:rPr>
              <a:t>Appendices</a:t>
            </a:r>
          </a:p>
        </p:txBody>
      </p:sp>
      <p:sp>
        <p:nvSpPr>
          <p:cNvPr id="3605" name="TextBox 3604">
            <a:hlinkClick r:id="rId94" action="ppaction://hlinksldjump"/>
            <a:extLst>
              <a:ext uri="{FF2B5EF4-FFF2-40B4-BE49-F238E27FC236}">
                <a16:creationId xmlns:a16="http://schemas.microsoft.com/office/drawing/2014/main" id="{0913847E-FE0D-2F55-B8AC-3A92A10AB417}"/>
              </a:ext>
            </a:extLst>
          </p:cNvPr>
          <p:cNvSpPr txBox="1"/>
          <p:nvPr>
            <p:custDataLst>
              <p:tags r:id="rId17"/>
            </p:custDataLst>
          </p:nvPr>
        </p:nvSpPr>
        <p:spPr>
          <a:xfrm>
            <a:off x="1249682" y="47118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Reconciliation to audited financial statements</a:t>
            </a:r>
          </a:p>
        </p:txBody>
      </p:sp>
      <p:sp>
        <p:nvSpPr>
          <p:cNvPr id="3606" name="TextBox 3605">
            <a:hlinkClick r:id="rId95" action="ppaction://hlinksldjump"/>
            <a:extLst>
              <a:ext uri="{FF2B5EF4-FFF2-40B4-BE49-F238E27FC236}">
                <a16:creationId xmlns:a16="http://schemas.microsoft.com/office/drawing/2014/main" id="{182FA990-3E3B-8408-CFF1-95C09D76F027}"/>
              </a:ext>
            </a:extLst>
          </p:cNvPr>
          <p:cNvSpPr txBox="1"/>
          <p:nvPr>
            <p:custDataLst>
              <p:tags r:id="rId18"/>
            </p:custDataLst>
          </p:nvPr>
        </p:nvSpPr>
        <p:spPr>
          <a:xfrm>
            <a:off x="1249682" y="48505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Sell-side challenges overview</a:t>
            </a:r>
          </a:p>
        </p:txBody>
      </p:sp>
      <p:sp>
        <p:nvSpPr>
          <p:cNvPr id="3607" name="TextBox 3606">
            <a:hlinkClick r:id="rId96" action="ppaction://hlinksldjump"/>
            <a:extLst>
              <a:ext uri="{FF2B5EF4-FFF2-40B4-BE49-F238E27FC236}">
                <a16:creationId xmlns:a16="http://schemas.microsoft.com/office/drawing/2014/main" id="{D2B45CBF-AC34-7EB6-8AB6-2BB9BAC256FD}"/>
              </a:ext>
            </a:extLst>
          </p:cNvPr>
          <p:cNvSpPr txBox="1"/>
          <p:nvPr>
            <p:custDataLst>
              <p:tags r:id="rId19"/>
            </p:custDataLst>
          </p:nvPr>
        </p:nvSpPr>
        <p:spPr>
          <a:xfrm>
            <a:off x="1249682" y="49892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New producer compensation</a:t>
            </a:r>
          </a:p>
        </p:txBody>
      </p:sp>
      <p:sp>
        <p:nvSpPr>
          <p:cNvPr id="3608" name="TextBox 3607">
            <a:hlinkClick r:id="rId97" action="ppaction://hlinksldjump"/>
            <a:extLst>
              <a:ext uri="{FF2B5EF4-FFF2-40B4-BE49-F238E27FC236}">
                <a16:creationId xmlns:a16="http://schemas.microsoft.com/office/drawing/2014/main" id="{46E655AD-78A5-3356-C3EF-F67EC13BAD2E}"/>
              </a:ext>
            </a:extLst>
          </p:cNvPr>
          <p:cNvSpPr txBox="1"/>
          <p:nvPr>
            <p:custDataLst>
              <p:tags r:id="rId20"/>
            </p:custDataLst>
          </p:nvPr>
        </p:nvSpPr>
        <p:spPr>
          <a:xfrm>
            <a:off x="1249682" y="51279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Net working capital</a:t>
            </a:r>
          </a:p>
        </p:txBody>
      </p:sp>
      <p:sp>
        <p:nvSpPr>
          <p:cNvPr id="3609" name="TextBox 3608">
            <a:hlinkClick r:id="rId98" action="ppaction://hlinksldjump"/>
            <a:extLst>
              <a:ext uri="{FF2B5EF4-FFF2-40B4-BE49-F238E27FC236}">
                <a16:creationId xmlns:a16="http://schemas.microsoft.com/office/drawing/2014/main" id="{C25A9AFB-5404-F526-8138-13B606ED075C}"/>
              </a:ext>
            </a:extLst>
          </p:cNvPr>
          <p:cNvSpPr txBox="1"/>
          <p:nvPr>
            <p:custDataLst>
              <p:tags r:id="rId21"/>
            </p:custDataLst>
          </p:nvPr>
        </p:nvSpPr>
        <p:spPr>
          <a:xfrm>
            <a:off x="1249682" y="52666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Net debt</a:t>
            </a:r>
          </a:p>
        </p:txBody>
      </p:sp>
      <p:sp>
        <p:nvSpPr>
          <p:cNvPr id="3610" name="TextBox 3609">
            <a:hlinkClick r:id="rId99" action="ppaction://hlinksldjump"/>
            <a:extLst>
              <a:ext uri="{FF2B5EF4-FFF2-40B4-BE49-F238E27FC236}">
                <a16:creationId xmlns:a16="http://schemas.microsoft.com/office/drawing/2014/main" id="{946A16B8-885F-F50E-BCE8-F778574759F2}"/>
              </a:ext>
            </a:extLst>
          </p:cNvPr>
          <p:cNvSpPr txBox="1"/>
          <p:nvPr>
            <p:custDataLst>
              <p:tags r:id="rId22"/>
            </p:custDataLst>
          </p:nvPr>
        </p:nvSpPr>
        <p:spPr>
          <a:xfrm>
            <a:off x="1249682" y="54053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Legal structure</a:t>
            </a:r>
          </a:p>
        </p:txBody>
      </p:sp>
      <p:sp>
        <p:nvSpPr>
          <p:cNvPr id="3611" name="TextBox 3610">
            <a:hlinkClick r:id="rId100" action="ppaction://hlinksldjump"/>
            <a:extLst>
              <a:ext uri="{FF2B5EF4-FFF2-40B4-BE49-F238E27FC236}">
                <a16:creationId xmlns:a16="http://schemas.microsoft.com/office/drawing/2014/main" id="{ED742029-47A7-B7B6-DF35-97156FDD73C0}"/>
              </a:ext>
            </a:extLst>
          </p:cNvPr>
          <p:cNvSpPr txBox="1"/>
          <p:nvPr>
            <p:custDataLst>
              <p:tags r:id="rId23"/>
            </p:custDataLst>
          </p:nvPr>
        </p:nvSpPr>
        <p:spPr>
          <a:xfrm>
            <a:off x="1249682" y="55440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Basis of preparation</a:t>
            </a:r>
          </a:p>
        </p:txBody>
      </p:sp>
      <p:sp>
        <p:nvSpPr>
          <p:cNvPr id="3612" name="TextBox 3611">
            <a:hlinkClick r:id="rId77" action="ppaction://hlinksldjump"/>
            <a:extLst>
              <a:ext uri="{FF2B5EF4-FFF2-40B4-BE49-F238E27FC236}">
                <a16:creationId xmlns:a16="http://schemas.microsoft.com/office/drawing/2014/main" id="{304B3DFE-415B-B16D-B428-9231D9400AB6}"/>
              </a:ext>
            </a:extLst>
          </p:cNvPr>
          <p:cNvSpPr txBox="1"/>
          <p:nvPr>
            <p:custDataLst>
              <p:tags r:id="rId24"/>
            </p:custDataLst>
          </p:nvPr>
        </p:nvSpPr>
        <p:spPr>
          <a:xfrm>
            <a:off x="1249682" y="56827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Scope of work</a:t>
            </a:r>
          </a:p>
        </p:txBody>
      </p:sp>
      <p:sp>
        <p:nvSpPr>
          <p:cNvPr id="3613" name="TextBox 3612">
            <a:hlinkClick r:id="rId101" action="ppaction://hlinksldjump"/>
            <a:extLst>
              <a:ext uri="{FF2B5EF4-FFF2-40B4-BE49-F238E27FC236}">
                <a16:creationId xmlns:a16="http://schemas.microsoft.com/office/drawing/2014/main" id="{8DBA5EC9-62B0-D382-F74C-A11FC801A3BA}"/>
              </a:ext>
            </a:extLst>
          </p:cNvPr>
          <p:cNvSpPr txBox="1"/>
          <p:nvPr>
            <p:custDataLst>
              <p:tags r:id="rId25"/>
            </p:custDataLst>
          </p:nvPr>
        </p:nvSpPr>
        <p:spPr>
          <a:xfrm>
            <a:off x="5904464" y="1229360"/>
            <a:ext cx="445273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Glossary</a:t>
            </a:r>
          </a:p>
        </p:txBody>
      </p:sp>
      <p:sp>
        <p:nvSpPr>
          <p:cNvPr id="3614" name="TextBox 3613">
            <a:hlinkClick r:id="rId79" action="ppaction://hlinksldjump"/>
            <a:extLst>
              <a:ext uri="{FF2B5EF4-FFF2-40B4-BE49-F238E27FC236}">
                <a16:creationId xmlns:a16="http://schemas.microsoft.com/office/drawing/2014/main" id="{FD248850-88A0-8218-AEB9-B480C583C43B}"/>
              </a:ext>
            </a:extLst>
          </p:cNvPr>
          <p:cNvSpPr txBox="1"/>
          <p:nvPr>
            <p:custDataLst>
              <p:tags r:id="rId26"/>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01</a:t>
            </a:r>
          </a:p>
        </p:txBody>
      </p:sp>
      <p:sp>
        <p:nvSpPr>
          <p:cNvPr id="3615" name="TextBox 3614">
            <a:hlinkClick r:id="rId83" action="ppaction://hlinksldjump"/>
            <a:extLst>
              <a:ext uri="{FF2B5EF4-FFF2-40B4-BE49-F238E27FC236}">
                <a16:creationId xmlns:a16="http://schemas.microsoft.com/office/drawing/2014/main" id="{A99811BA-938C-DCA3-8260-0BA90E8F84D3}"/>
              </a:ext>
            </a:extLst>
          </p:cNvPr>
          <p:cNvSpPr txBox="1"/>
          <p:nvPr>
            <p:custDataLst>
              <p:tags r:id="rId27"/>
            </p:custDataLst>
          </p:nvPr>
        </p:nvSpPr>
        <p:spPr>
          <a:xfrm>
            <a:off x="798977" y="2074720"/>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02</a:t>
            </a:r>
          </a:p>
        </p:txBody>
      </p:sp>
      <p:sp>
        <p:nvSpPr>
          <p:cNvPr id="3616" name="TextBox 3615">
            <a:hlinkClick r:id="rId87" action="ppaction://hlinksldjump"/>
            <a:extLst>
              <a:ext uri="{FF2B5EF4-FFF2-40B4-BE49-F238E27FC236}">
                <a16:creationId xmlns:a16="http://schemas.microsoft.com/office/drawing/2014/main" id="{5E164723-62D6-88F2-58B3-D4631CE6C334}"/>
              </a:ext>
            </a:extLst>
          </p:cNvPr>
          <p:cNvSpPr txBox="1"/>
          <p:nvPr>
            <p:custDataLst>
              <p:tags r:id="rId28"/>
            </p:custDataLst>
          </p:nvPr>
        </p:nvSpPr>
        <p:spPr>
          <a:xfrm>
            <a:off x="798977" y="2920080"/>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03</a:t>
            </a:r>
          </a:p>
        </p:txBody>
      </p:sp>
      <p:sp>
        <p:nvSpPr>
          <p:cNvPr id="3617" name="TextBox 3616">
            <a:hlinkClick r:id="rId91" action="ppaction://hlinksldjump"/>
            <a:extLst>
              <a:ext uri="{FF2B5EF4-FFF2-40B4-BE49-F238E27FC236}">
                <a16:creationId xmlns:a16="http://schemas.microsoft.com/office/drawing/2014/main" id="{21ABEB26-6641-2A9E-D6FF-69DDE606C5E0}"/>
              </a:ext>
            </a:extLst>
          </p:cNvPr>
          <p:cNvSpPr txBox="1"/>
          <p:nvPr>
            <p:custDataLst>
              <p:tags r:id="rId29"/>
            </p:custDataLst>
          </p:nvPr>
        </p:nvSpPr>
        <p:spPr>
          <a:xfrm>
            <a:off x="798977" y="3765441"/>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04</a:t>
            </a:r>
          </a:p>
        </p:txBody>
      </p:sp>
      <p:sp>
        <p:nvSpPr>
          <p:cNvPr id="3618" name="TextBox 3617">
            <a:hlinkClick r:id="rId93" action="ppaction://hlinksldjump"/>
            <a:extLst>
              <a:ext uri="{FF2B5EF4-FFF2-40B4-BE49-F238E27FC236}">
                <a16:creationId xmlns:a16="http://schemas.microsoft.com/office/drawing/2014/main" id="{E8F9D359-1F27-3604-3126-006197029AE7}"/>
              </a:ext>
            </a:extLst>
          </p:cNvPr>
          <p:cNvSpPr txBox="1"/>
          <p:nvPr>
            <p:custDataLst>
              <p:tags r:id="rId30"/>
            </p:custDataLst>
          </p:nvPr>
        </p:nvSpPr>
        <p:spPr>
          <a:xfrm>
            <a:off x="798977" y="4333401"/>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05</a:t>
            </a:r>
          </a:p>
        </p:txBody>
      </p:sp>
      <p:sp>
        <p:nvSpPr>
          <p:cNvPr id="3619" name="TextBox 3618">
            <a:hlinkClick r:id="rId79" action="ppaction://hlinksldjump"/>
            <a:extLst>
              <a:ext uri="{FF2B5EF4-FFF2-40B4-BE49-F238E27FC236}">
                <a16:creationId xmlns:a16="http://schemas.microsoft.com/office/drawing/2014/main" id="{5EE85575-902C-0EFA-C4F7-696DC3B328A3}"/>
              </a:ext>
            </a:extLst>
          </p:cNvPr>
          <p:cNvSpPr txBox="1"/>
          <p:nvPr>
            <p:custDataLst>
              <p:tags r:id="rId31"/>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4</a:t>
            </a:r>
          </a:p>
        </p:txBody>
      </p:sp>
      <p:sp>
        <p:nvSpPr>
          <p:cNvPr id="3620" name="TextBox 3619">
            <a:hlinkClick r:id="rId83" action="ppaction://hlinksldjump"/>
            <a:extLst>
              <a:ext uri="{FF2B5EF4-FFF2-40B4-BE49-F238E27FC236}">
                <a16:creationId xmlns:a16="http://schemas.microsoft.com/office/drawing/2014/main" id="{AF729640-A9F4-9B2B-0910-9663A6CC402B}"/>
              </a:ext>
            </a:extLst>
          </p:cNvPr>
          <p:cNvSpPr txBox="1"/>
          <p:nvPr>
            <p:custDataLst>
              <p:tags r:id="rId32"/>
            </p:custDataLst>
          </p:nvPr>
        </p:nvSpPr>
        <p:spPr>
          <a:xfrm>
            <a:off x="5245758" y="2072809"/>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14</a:t>
            </a:r>
          </a:p>
        </p:txBody>
      </p:sp>
      <p:sp>
        <p:nvSpPr>
          <p:cNvPr id="3621" name="TextBox 3620">
            <a:hlinkClick r:id="rId87" action="ppaction://hlinksldjump"/>
            <a:extLst>
              <a:ext uri="{FF2B5EF4-FFF2-40B4-BE49-F238E27FC236}">
                <a16:creationId xmlns:a16="http://schemas.microsoft.com/office/drawing/2014/main" id="{F8D0A36A-CE41-1F51-884D-52D0ADDC1AEB}"/>
              </a:ext>
            </a:extLst>
          </p:cNvPr>
          <p:cNvSpPr txBox="1"/>
          <p:nvPr>
            <p:custDataLst>
              <p:tags r:id="rId33"/>
            </p:custDataLst>
          </p:nvPr>
        </p:nvSpPr>
        <p:spPr>
          <a:xfrm>
            <a:off x="5245758" y="2918169"/>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36</a:t>
            </a:r>
          </a:p>
        </p:txBody>
      </p:sp>
      <p:sp>
        <p:nvSpPr>
          <p:cNvPr id="3622" name="TextBox 3621">
            <a:hlinkClick r:id="rId91" action="ppaction://hlinksldjump"/>
            <a:extLst>
              <a:ext uri="{FF2B5EF4-FFF2-40B4-BE49-F238E27FC236}">
                <a16:creationId xmlns:a16="http://schemas.microsoft.com/office/drawing/2014/main" id="{F0B4D2CE-8B9D-51ED-2F60-35F597302EDF}"/>
              </a:ext>
            </a:extLst>
          </p:cNvPr>
          <p:cNvSpPr txBox="1"/>
          <p:nvPr>
            <p:custDataLst>
              <p:tags r:id="rId34"/>
            </p:custDataLst>
          </p:nvPr>
        </p:nvSpPr>
        <p:spPr>
          <a:xfrm>
            <a:off x="5245758" y="3763530"/>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48</a:t>
            </a:r>
          </a:p>
        </p:txBody>
      </p:sp>
      <p:sp>
        <p:nvSpPr>
          <p:cNvPr id="3623" name="TextBox 3622">
            <a:hlinkClick r:id="rId93" action="ppaction://hlinksldjump"/>
            <a:extLst>
              <a:ext uri="{FF2B5EF4-FFF2-40B4-BE49-F238E27FC236}">
                <a16:creationId xmlns:a16="http://schemas.microsoft.com/office/drawing/2014/main" id="{73772BDC-14A5-BA94-338D-DE165378D71F}"/>
              </a:ext>
            </a:extLst>
          </p:cNvPr>
          <p:cNvSpPr txBox="1"/>
          <p:nvPr>
            <p:custDataLst>
              <p:tags r:id="rId35"/>
            </p:custDataLst>
          </p:nvPr>
        </p:nvSpPr>
        <p:spPr>
          <a:xfrm>
            <a:off x="5245758" y="4331490"/>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51</a:t>
            </a:r>
          </a:p>
        </p:txBody>
      </p:sp>
      <p:sp>
        <p:nvSpPr>
          <p:cNvPr id="3624" name="TextBox 3623">
            <a:hlinkClick r:id="rId80" action="ppaction://hlinksldjump"/>
            <a:extLst>
              <a:ext uri="{FF2B5EF4-FFF2-40B4-BE49-F238E27FC236}">
                <a16:creationId xmlns:a16="http://schemas.microsoft.com/office/drawing/2014/main" id="{6F24FDD0-7722-4586-2427-E161A7184062}"/>
              </a:ext>
            </a:extLst>
          </p:cNvPr>
          <p:cNvSpPr txBox="1"/>
          <p:nvPr>
            <p:custDataLst>
              <p:tags r:id="rId36"/>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1.1</a:t>
            </a:r>
          </a:p>
        </p:txBody>
      </p:sp>
      <p:sp>
        <p:nvSpPr>
          <p:cNvPr id="3625" name="TextBox 3624">
            <a:hlinkClick r:id="rId81" action="ppaction://hlinksldjump"/>
            <a:extLst>
              <a:ext uri="{FF2B5EF4-FFF2-40B4-BE49-F238E27FC236}">
                <a16:creationId xmlns:a16="http://schemas.microsoft.com/office/drawing/2014/main" id="{C3A3BA91-A347-7AF6-1261-68DF245467DE}"/>
              </a:ext>
            </a:extLst>
          </p:cNvPr>
          <p:cNvSpPr txBox="1"/>
          <p:nvPr>
            <p:custDataLst>
              <p:tags r:id="rId37"/>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1.2</a:t>
            </a:r>
          </a:p>
        </p:txBody>
      </p:sp>
      <p:sp>
        <p:nvSpPr>
          <p:cNvPr id="3626" name="TextBox 3625">
            <a:hlinkClick r:id="rId82" action="ppaction://hlinksldjump"/>
            <a:extLst>
              <a:ext uri="{FF2B5EF4-FFF2-40B4-BE49-F238E27FC236}">
                <a16:creationId xmlns:a16="http://schemas.microsoft.com/office/drawing/2014/main" id="{689EC62F-27B2-CE91-79C7-8FD56602FCCC}"/>
              </a:ext>
            </a:extLst>
          </p:cNvPr>
          <p:cNvSpPr txBox="1"/>
          <p:nvPr>
            <p:custDataLst>
              <p:tags r:id="rId38"/>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1.3</a:t>
            </a:r>
          </a:p>
        </p:txBody>
      </p:sp>
      <p:sp>
        <p:nvSpPr>
          <p:cNvPr id="3627" name="TextBox 3626">
            <a:hlinkClick r:id="rId84" action="ppaction://hlinksldjump"/>
            <a:extLst>
              <a:ext uri="{FF2B5EF4-FFF2-40B4-BE49-F238E27FC236}">
                <a16:creationId xmlns:a16="http://schemas.microsoft.com/office/drawing/2014/main" id="{942FBF96-3E50-2DEB-F5AF-650C7526041E}"/>
              </a:ext>
            </a:extLst>
          </p:cNvPr>
          <p:cNvSpPr txBox="1"/>
          <p:nvPr>
            <p:custDataLst>
              <p:tags r:id="rId39"/>
            </p:custDataLst>
          </p:nvPr>
        </p:nvSpPr>
        <p:spPr>
          <a:xfrm>
            <a:off x="296316" y="245318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2.1</a:t>
            </a:r>
          </a:p>
        </p:txBody>
      </p:sp>
      <p:sp>
        <p:nvSpPr>
          <p:cNvPr id="3628" name="TextBox 3627">
            <a:hlinkClick r:id="rId85" action="ppaction://hlinksldjump"/>
            <a:extLst>
              <a:ext uri="{FF2B5EF4-FFF2-40B4-BE49-F238E27FC236}">
                <a16:creationId xmlns:a16="http://schemas.microsoft.com/office/drawing/2014/main" id="{E35AEB2A-5B7D-3E56-EE9D-7723515E98F1}"/>
              </a:ext>
            </a:extLst>
          </p:cNvPr>
          <p:cNvSpPr txBox="1"/>
          <p:nvPr>
            <p:custDataLst>
              <p:tags r:id="rId40"/>
            </p:custDataLst>
          </p:nvPr>
        </p:nvSpPr>
        <p:spPr>
          <a:xfrm>
            <a:off x="296316" y="259188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2.2</a:t>
            </a:r>
          </a:p>
        </p:txBody>
      </p:sp>
      <p:sp>
        <p:nvSpPr>
          <p:cNvPr id="3629" name="TextBox 3628">
            <a:hlinkClick r:id="rId86" action="ppaction://hlinksldjump"/>
            <a:extLst>
              <a:ext uri="{FF2B5EF4-FFF2-40B4-BE49-F238E27FC236}">
                <a16:creationId xmlns:a16="http://schemas.microsoft.com/office/drawing/2014/main" id="{081E3425-09C2-F6F6-1B01-426F3F59C7E7}"/>
              </a:ext>
            </a:extLst>
          </p:cNvPr>
          <p:cNvSpPr txBox="1"/>
          <p:nvPr>
            <p:custDataLst>
              <p:tags r:id="rId41"/>
            </p:custDataLst>
          </p:nvPr>
        </p:nvSpPr>
        <p:spPr>
          <a:xfrm>
            <a:off x="296316" y="273058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2.3</a:t>
            </a:r>
          </a:p>
        </p:txBody>
      </p:sp>
      <p:sp>
        <p:nvSpPr>
          <p:cNvPr id="3630" name="TextBox 3629">
            <a:hlinkClick r:id="rId88" action="ppaction://hlinksldjump"/>
            <a:extLst>
              <a:ext uri="{FF2B5EF4-FFF2-40B4-BE49-F238E27FC236}">
                <a16:creationId xmlns:a16="http://schemas.microsoft.com/office/drawing/2014/main" id="{257270BB-380A-E41F-B0AB-B31ACE34BFD1}"/>
              </a:ext>
            </a:extLst>
          </p:cNvPr>
          <p:cNvSpPr txBox="1"/>
          <p:nvPr>
            <p:custDataLst>
              <p:tags r:id="rId42"/>
            </p:custDataLst>
          </p:nvPr>
        </p:nvSpPr>
        <p:spPr>
          <a:xfrm>
            <a:off x="296316" y="329854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3.1</a:t>
            </a:r>
          </a:p>
        </p:txBody>
      </p:sp>
      <p:sp>
        <p:nvSpPr>
          <p:cNvPr id="3631" name="TextBox 3630">
            <a:hlinkClick r:id="rId89" action="ppaction://hlinksldjump"/>
            <a:extLst>
              <a:ext uri="{FF2B5EF4-FFF2-40B4-BE49-F238E27FC236}">
                <a16:creationId xmlns:a16="http://schemas.microsoft.com/office/drawing/2014/main" id="{E998C1AE-08D6-5A52-6DD2-BD1CB906021A}"/>
              </a:ext>
            </a:extLst>
          </p:cNvPr>
          <p:cNvSpPr txBox="1"/>
          <p:nvPr>
            <p:custDataLst>
              <p:tags r:id="rId43"/>
            </p:custDataLst>
          </p:nvPr>
        </p:nvSpPr>
        <p:spPr>
          <a:xfrm>
            <a:off x="296316" y="343724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3.2</a:t>
            </a:r>
          </a:p>
        </p:txBody>
      </p:sp>
      <p:sp>
        <p:nvSpPr>
          <p:cNvPr id="3632" name="TextBox 3631">
            <a:hlinkClick r:id="rId90" action="ppaction://hlinksldjump"/>
            <a:extLst>
              <a:ext uri="{FF2B5EF4-FFF2-40B4-BE49-F238E27FC236}">
                <a16:creationId xmlns:a16="http://schemas.microsoft.com/office/drawing/2014/main" id="{6175EC81-16C7-4F9D-31F0-A51A41535ABB}"/>
              </a:ext>
            </a:extLst>
          </p:cNvPr>
          <p:cNvSpPr txBox="1"/>
          <p:nvPr>
            <p:custDataLst>
              <p:tags r:id="rId44"/>
            </p:custDataLst>
          </p:nvPr>
        </p:nvSpPr>
        <p:spPr>
          <a:xfrm>
            <a:off x="296316" y="357594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3.3</a:t>
            </a:r>
          </a:p>
        </p:txBody>
      </p:sp>
      <p:sp>
        <p:nvSpPr>
          <p:cNvPr id="3633" name="TextBox 3632">
            <a:hlinkClick r:id="rId92" action="ppaction://hlinksldjump"/>
            <a:extLst>
              <a:ext uri="{FF2B5EF4-FFF2-40B4-BE49-F238E27FC236}">
                <a16:creationId xmlns:a16="http://schemas.microsoft.com/office/drawing/2014/main" id="{C383110C-90E0-93FA-8A06-90D8C05B0D68}"/>
              </a:ext>
            </a:extLst>
          </p:cNvPr>
          <p:cNvSpPr txBox="1"/>
          <p:nvPr>
            <p:custDataLst>
              <p:tags r:id="rId45"/>
            </p:custDataLst>
          </p:nvPr>
        </p:nvSpPr>
        <p:spPr>
          <a:xfrm>
            <a:off x="296316" y="414390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4.1</a:t>
            </a:r>
          </a:p>
        </p:txBody>
      </p:sp>
      <p:sp>
        <p:nvSpPr>
          <p:cNvPr id="3636" name="TextBox 3635">
            <a:hlinkClick r:id="rId94" action="ppaction://hlinksldjump"/>
            <a:extLst>
              <a:ext uri="{FF2B5EF4-FFF2-40B4-BE49-F238E27FC236}">
                <a16:creationId xmlns:a16="http://schemas.microsoft.com/office/drawing/2014/main" id="{352AA5CA-974C-681A-F424-4BC063701BB3}"/>
              </a:ext>
            </a:extLst>
          </p:cNvPr>
          <p:cNvSpPr txBox="1"/>
          <p:nvPr>
            <p:custDataLst>
              <p:tags r:id="rId46"/>
            </p:custDataLst>
          </p:nvPr>
        </p:nvSpPr>
        <p:spPr>
          <a:xfrm>
            <a:off x="296316" y="471186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5.1</a:t>
            </a:r>
          </a:p>
        </p:txBody>
      </p:sp>
      <p:sp>
        <p:nvSpPr>
          <p:cNvPr id="3639" name="TextBox 3638">
            <a:hlinkClick r:id="rId95" action="ppaction://hlinksldjump"/>
            <a:extLst>
              <a:ext uri="{FF2B5EF4-FFF2-40B4-BE49-F238E27FC236}">
                <a16:creationId xmlns:a16="http://schemas.microsoft.com/office/drawing/2014/main" id="{370EF62D-52A6-157D-BAD3-9FCEC7729AF5}"/>
              </a:ext>
            </a:extLst>
          </p:cNvPr>
          <p:cNvSpPr txBox="1"/>
          <p:nvPr>
            <p:custDataLst>
              <p:tags r:id="rId47"/>
            </p:custDataLst>
          </p:nvPr>
        </p:nvSpPr>
        <p:spPr>
          <a:xfrm>
            <a:off x="296316" y="48505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5.2</a:t>
            </a:r>
          </a:p>
        </p:txBody>
      </p:sp>
      <p:sp>
        <p:nvSpPr>
          <p:cNvPr id="3640" name="TextBox 3639">
            <a:hlinkClick r:id="rId96" action="ppaction://hlinksldjump"/>
            <a:extLst>
              <a:ext uri="{FF2B5EF4-FFF2-40B4-BE49-F238E27FC236}">
                <a16:creationId xmlns:a16="http://schemas.microsoft.com/office/drawing/2014/main" id="{FD4EDD29-6E22-9A6D-8D1C-879F5A99C4A3}"/>
              </a:ext>
            </a:extLst>
          </p:cNvPr>
          <p:cNvSpPr txBox="1"/>
          <p:nvPr>
            <p:custDataLst>
              <p:tags r:id="rId48"/>
            </p:custDataLst>
          </p:nvPr>
        </p:nvSpPr>
        <p:spPr>
          <a:xfrm>
            <a:off x="296316" y="49892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5.3</a:t>
            </a:r>
          </a:p>
        </p:txBody>
      </p:sp>
      <p:sp>
        <p:nvSpPr>
          <p:cNvPr id="3641" name="TextBox 3640">
            <a:hlinkClick r:id="rId97" action="ppaction://hlinksldjump"/>
            <a:extLst>
              <a:ext uri="{FF2B5EF4-FFF2-40B4-BE49-F238E27FC236}">
                <a16:creationId xmlns:a16="http://schemas.microsoft.com/office/drawing/2014/main" id="{C4E4485B-D232-8B86-2C2F-753FD14EF31B}"/>
              </a:ext>
            </a:extLst>
          </p:cNvPr>
          <p:cNvSpPr txBox="1"/>
          <p:nvPr>
            <p:custDataLst>
              <p:tags r:id="rId49"/>
            </p:custDataLst>
          </p:nvPr>
        </p:nvSpPr>
        <p:spPr>
          <a:xfrm>
            <a:off x="296316" y="51279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5.4</a:t>
            </a:r>
          </a:p>
        </p:txBody>
      </p:sp>
      <p:sp>
        <p:nvSpPr>
          <p:cNvPr id="3642" name="TextBox 3641">
            <a:hlinkClick r:id="rId98" action="ppaction://hlinksldjump"/>
            <a:extLst>
              <a:ext uri="{FF2B5EF4-FFF2-40B4-BE49-F238E27FC236}">
                <a16:creationId xmlns:a16="http://schemas.microsoft.com/office/drawing/2014/main" id="{3E76DA14-E546-E251-3305-ECDE0CF1AC5D}"/>
              </a:ext>
            </a:extLst>
          </p:cNvPr>
          <p:cNvSpPr txBox="1"/>
          <p:nvPr>
            <p:custDataLst>
              <p:tags r:id="rId50"/>
            </p:custDataLst>
          </p:nvPr>
        </p:nvSpPr>
        <p:spPr>
          <a:xfrm>
            <a:off x="296316" y="52666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5.5</a:t>
            </a:r>
          </a:p>
        </p:txBody>
      </p:sp>
      <p:sp>
        <p:nvSpPr>
          <p:cNvPr id="3643" name="TextBox 3642">
            <a:hlinkClick r:id="rId99" action="ppaction://hlinksldjump"/>
            <a:extLst>
              <a:ext uri="{FF2B5EF4-FFF2-40B4-BE49-F238E27FC236}">
                <a16:creationId xmlns:a16="http://schemas.microsoft.com/office/drawing/2014/main" id="{E41A6DEC-8368-E50A-BC12-8799C2ABC8D4}"/>
              </a:ext>
            </a:extLst>
          </p:cNvPr>
          <p:cNvSpPr txBox="1"/>
          <p:nvPr>
            <p:custDataLst>
              <p:tags r:id="rId51"/>
            </p:custDataLst>
          </p:nvPr>
        </p:nvSpPr>
        <p:spPr>
          <a:xfrm>
            <a:off x="296316" y="54053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5.6</a:t>
            </a:r>
          </a:p>
        </p:txBody>
      </p:sp>
      <p:sp>
        <p:nvSpPr>
          <p:cNvPr id="3644" name="TextBox 3643">
            <a:hlinkClick r:id="rId100" action="ppaction://hlinksldjump"/>
            <a:extLst>
              <a:ext uri="{FF2B5EF4-FFF2-40B4-BE49-F238E27FC236}">
                <a16:creationId xmlns:a16="http://schemas.microsoft.com/office/drawing/2014/main" id="{C7631686-EB7B-CD2A-284A-8241DF790487}"/>
              </a:ext>
            </a:extLst>
          </p:cNvPr>
          <p:cNvSpPr txBox="1"/>
          <p:nvPr>
            <p:custDataLst>
              <p:tags r:id="rId52"/>
            </p:custDataLst>
          </p:nvPr>
        </p:nvSpPr>
        <p:spPr>
          <a:xfrm>
            <a:off x="296316" y="55440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5.7</a:t>
            </a:r>
          </a:p>
        </p:txBody>
      </p:sp>
      <p:sp>
        <p:nvSpPr>
          <p:cNvPr id="3645" name="TextBox 3644">
            <a:hlinkClick r:id="rId77" action="ppaction://hlinksldjump"/>
            <a:extLst>
              <a:ext uri="{FF2B5EF4-FFF2-40B4-BE49-F238E27FC236}">
                <a16:creationId xmlns:a16="http://schemas.microsoft.com/office/drawing/2014/main" id="{785DD118-F2F4-7AB5-19B9-113ECE41D235}"/>
              </a:ext>
            </a:extLst>
          </p:cNvPr>
          <p:cNvSpPr txBox="1"/>
          <p:nvPr>
            <p:custDataLst>
              <p:tags r:id="rId53"/>
            </p:custDataLst>
          </p:nvPr>
        </p:nvSpPr>
        <p:spPr>
          <a:xfrm>
            <a:off x="296316" y="5682761"/>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5.8</a:t>
            </a:r>
          </a:p>
        </p:txBody>
      </p:sp>
      <p:sp>
        <p:nvSpPr>
          <p:cNvPr id="3646" name="TextBox 3645">
            <a:hlinkClick r:id="rId101" action="ppaction://hlinksldjump"/>
            <a:extLst>
              <a:ext uri="{FF2B5EF4-FFF2-40B4-BE49-F238E27FC236}">
                <a16:creationId xmlns:a16="http://schemas.microsoft.com/office/drawing/2014/main" id="{F5C09B21-B19B-9AF4-44D5-30EE9ACD4690}"/>
              </a:ext>
            </a:extLst>
          </p:cNvPr>
          <p:cNvSpPr txBox="1"/>
          <p:nvPr>
            <p:custDataLst>
              <p:tags r:id="rId54"/>
            </p:custDataLst>
          </p:nvPr>
        </p:nvSpPr>
        <p:spPr>
          <a:xfrm>
            <a:off x="4951098" y="1229360"/>
            <a:ext cx="0" cy="0"/>
          </a:xfrm>
          <a:prstGeom prst="rect">
            <a:avLst/>
          </a:prstGeom>
          <a:noFill/>
          <a:ln>
            <a:noFill/>
          </a:ln>
        </p:spPr>
        <p:txBody>
          <a:bodyPr vert="horz" wrap="none" lIns="0" tIns="0" rIns="0" bIns="0" rtlCol="0" anchor="b" anchorCtr="0">
            <a:noAutofit/>
          </a:bodyPr>
          <a:lstStyle/>
          <a:p>
            <a:pPr algn="l"/>
            <a:r>
              <a:rPr lang="en-US" sz="100" b="0" dirty="0">
                <a:ln>
                  <a:noFill/>
                </a:ln>
                <a:noFill/>
                <a:latin typeface="+mn-lt"/>
                <a:cs typeface="Arial" panose="020B0604020202020204" pitchFamily="34" charset="0"/>
              </a:rPr>
              <a:t>5.9</a:t>
            </a:r>
          </a:p>
        </p:txBody>
      </p:sp>
      <p:sp>
        <p:nvSpPr>
          <p:cNvPr id="3647" name="TextBox 3646">
            <a:hlinkClick r:id="rId80" action="ppaction://hlinksldjump"/>
            <a:extLst>
              <a:ext uri="{FF2B5EF4-FFF2-40B4-BE49-F238E27FC236}">
                <a16:creationId xmlns:a16="http://schemas.microsoft.com/office/drawing/2014/main" id="{686E40BF-68ED-9500-F821-078C28BA4D9B}"/>
              </a:ext>
            </a:extLst>
          </p:cNvPr>
          <p:cNvSpPr txBox="1"/>
          <p:nvPr>
            <p:custDataLst>
              <p:tags r:id="rId55"/>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a:t>
            </a:r>
          </a:p>
        </p:txBody>
      </p:sp>
      <p:sp>
        <p:nvSpPr>
          <p:cNvPr id="31872" name="TextBox 31871">
            <a:hlinkClick r:id="rId81" action="ppaction://hlinksldjump"/>
            <a:extLst>
              <a:ext uri="{FF2B5EF4-FFF2-40B4-BE49-F238E27FC236}">
                <a16:creationId xmlns:a16="http://schemas.microsoft.com/office/drawing/2014/main" id="{64F06828-D0D9-DBC2-8448-475F7BB2055C}"/>
              </a:ext>
            </a:extLst>
          </p:cNvPr>
          <p:cNvSpPr txBox="1"/>
          <p:nvPr>
            <p:custDataLst>
              <p:tags r:id="rId56"/>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8</a:t>
            </a:r>
          </a:p>
        </p:txBody>
      </p:sp>
      <p:sp>
        <p:nvSpPr>
          <p:cNvPr id="31873" name="TextBox 31872">
            <a:hlinkClick r:id="rId82" action="ppaction://hlinksldjump"/>
            <a:extLst>
              <a:ext uri="{FF2B5EF4-FFF2-40B4-BE49-F238E27FC236}">
                <a16:creationId xmlns:a16="http://schemas.microsoft.com/office/drawing/2014/main" id="{CCC4C429-FA91-054C-53CC-79DBEC0B4931}"/>
              </a:ext>
            </a:extLst>
          </p:cNvPr>
          <p:cNvSpPr txBox="1"/>
          <p:nvPr>
            <p:custDataLst>
              <p:tags r:id="rId57"/>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9</a:t>
            </a:r>
          </a:p>
        </p:txBody>
      </p:sp>
      <p:sp>
        <p:nvSpPr>
          <p:cNvPr id="31874" name="TextBox 31873">
            <a:hlinkClick r:id="rId84" action="ppaction://hlinksldjump"/>
            <a:extLst>
              <a:ext uri="{FF2B5EF4-FFF2-40B4-BE49-F238E27FC236}">
                <a16:creationId xmlns:a16="http://schemas.microsoft.com/office/drawing/2014/main" id="{023B8157-9E88-7F24-D58D-FB5372A415B4}"/>
              </a:ext>
            </a:extLst>
          </p:cNvPr>
          <p:cNvSpPr txBox="1"/>
          <p:nvPr>
            <p:custDataLst>
              <p:tags r:id="rId58"/>
            </p:custDataLst>
          </p:nvPr>
        </p:nvSpPr>
        <p:spPr>
          <a:xfrm>
            <a:off x="5245758" y="245318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15</a:t>
            </a:r>
          </a:p>
        </p:txBody>
      </p:sp>
      <p:sp>
        <p:nvSpPr>
          <p:cNvPr id="31894" name="TextBox 31893">
            <a:hlinkClick r:id="rId85" action="ppaction://hlinksldjump"/>
            <a:extLst>
              <a:ext uri="{FF2B5EF4-FFF2-40B4-BE49-F238E27FC236}">
                <a16:creationId xmlns:a16="http://schemas.microsoft.com/office/drawing/2014/main" id="{E1D54A0C-63BD-F8D7-B15F-ED3AF959C4D7}"/>
              </a:ext>
            </a:extLst>
          </p:cNvPr>
          <p:cNvSpPr txBox="1"/>
          <p:nvPr>
            <p:custDataLst>
              <p:tags r:id="rId59"/>
            </p:custDataLst>
          </p:nvPr>
        </p:nvSpPr>
        <p:spPr>
          <a:xfrm>
            <a:off x="5245758" y="259188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31</a:t>
            </a:r>
          </a:p>
        </p:txBody>
      </p:sp>
      <p:sp>
        <p:nvSpPr>
          <p:cNvPr id="31895" name="TextBox 31894">
            <a:hlinkClick r:id="rId86" action="ppaction://hlinksldjump"/>
            <a:extLst>
              <a:ext uri="{FF2B5EF4-FFF2-40B4-BE49-F238E27FC236}">
                <a16:creationId xmlns:a16="http://schemas.microsoft.com/office/drawing/2014/main" id="{C92430B3-03D8-C78D-4F8D-B5578E9666DC}"/>
              </a:ext>
            </a:extLst>
          </p:cNvPr>
          <p:cNvSpPr txBox="1"/>
          <p:nvPr>
            <p:custDataLst>
              <p:tags r:id="rId60"/>
            </p:custDataLst>
          </p:nvPr>
        </p:nvSpPr>
        <p:spPr>
          <a:xfrm>
            <a:off x="5245758" y="273058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35</a:t>
            </a:r>
          </a:p>
        </p:txBody>
      </p:sp>
      <p:sp>
        <p:nvSpPr>
          <p:cNvPr id="31896" name="TextBox 31895">
            <a:hlinkClick r:id="rId88" action="ppaction://hlinksldjump"/>
            <a:extLst>
              <a:ext uri="{FF2B5EF4-FFF2-40B4-BE49-F238E27FC236}">
                <a16:creationId xmlns:a16="http://schemas.microsoft.com/office/drawing/2014/main" id="{A303C457-4A3F-D4F6-E269-1C4D20545BF5}"/>
              </a:ext>
            </a:extLst>
          </p:cNvPr>
          <p:cNvSpPr txBox="1"/>
          <p:nvPr>
            <p:custDataLst>
              <p:tags r:id="rId61"/>
            </p:custDataLst>
          </p:nvPr>
        </p:nvSpPr>
        <p:spPr>
          <a:xfrm>
            <a:off x="5245758" y="329854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37</a:t>
            </a:r>
          </a:p>
        </p:txBody>
      </p:sp>
      <p:sp>
        <p:nvSpPr>
          <p:cNvPr id="31897" name="TextBox 31896">
            <a:hlinkClick r:id="rId89" action="ppaction://hlinksldjump"/>
            <a:extLst>
              <a:ext uri="{FF2B5EF4-FFF2-40B4-BE49-F238E27FC236}">
                <a16:creationId xmlns:a16="http://schemas.microsoft.com/office/drawing/2014/main" id="{65B1EDE7-AF0A-6695-3B4D-85C1A028A2AD}"/>
              </a:ext>
            </a:extLst>
          </p:cNvPr>
          <p:cNvSpPr txBox="1"/>
          <p:nvPr>
            <p:custDataLst>
              <p:tags r:id="rId62"/>
            </p:custDataLst>
          </p:nvPr>
        </p:nvSpPr>
        <p:spPr>
          <a:xfrm>
            <a:off x="5245758" y="343724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43</a:t>
            </a:r>
          </a:p>
        </p:txBody>
      </p:sp>
      <p:sp>
        <p:nvSpPr>
          <p:cNvPr id="31898" name="TextBox 31897">
            <a:hlinkClick r:id="rId90" action="ppaction://hlinksldjump"/>
            <a:extLst>
              <a:ext uri="{FF2B5EF4-FFF2-40B4-BE49-F238E27FC236}">
                <a16:creationId xmlns:a16="http://schemas.microsoft.com/office/drawing/2014/main" id="{0AB6EE52-AC79-AC86-70C3-0A8D2D6F132E}"/>
              </a:ext>
            </a:extLst>
          </p:cNvPr>
          <p:cNvSpPr txBox="1"/>
          <p:nvPr>
            <p:custDataLst>
              <p:tags r:id="rId63"/>
            </p:custDataLst>
          </p:nvPr>
        </p:nvSpPr>
        <p:spPr>
          <a:xfrm>
            <a:off x="5245758" y="357594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45</a:t>
            </a:r>
          </a:p>
        </p:txBody>
      </p:sp>
      <p:sp>
        <p:nvSpPr>
          <p:cNvPr id="31899" name="TextBox 31898">
            <a:hlinkClick r:id="rId92" action="ppaction://hlinksldjump"/>
            <a:extLst>
              <a:ext uri="{FF2B5EF4-FFF2-40B4-BE49-F238E27FC236}">
                <a16:creationId xmlns:a16="http://schemas.microsoft.com/office/drawing/2014/main" id="{60477FB4-5B15-42A4-3ED0-5DF7D71E8216}"/>
              </a:ext>
            </a:extLst>
          </p:cNvPr>
          <p:cNvSpPr txBox="1"/>
          <p:nvPr>
            <p:custDataLst>
              <p:tags r:id="rId64"/>
            </p:custDataLst>
          </p:nvPr>
        </p:nvSpPr>
        <p:spPr>
          <a:xfrm>
            <a:off x="5245758" y="414390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49</a:t>
            </a:r>
          </a:p>
        </p:txBody>
      </p:sp>
      <p:sp>
        <p:nvSpPr>
          <p:cNvPr id="31900" name="TextBox 31899">
            <a:hlinkClick r:id="rId94" action="ppaction://hlinksldjump"/>
            <a:extLst>
              <a:ext uri="{FF2B5EF4-FFF2-40B4-BE49-F238E27FC236}">
                <a16:creationId xmlns:a16="http://schemas.microsoft.com/office/drawing/2014/main" id="{955EDDF8-A77F-2C11-628D-6D7957A2CC69}"/>
              </a:ext>
            </a:extLst>
          </p:cNvPr>
          <p:cNvSpPr txBox="1"/>
          <p:nvPr>
            <p:custDataLst>
              <p:tags r:id="rId65"/>
            </p:custDataLst>
          </p:nvPr>
        </p:nvSpPr>
        <p:spPr>
          <a:xfrm>
            <a:off x="5245758" y="471186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52</a:t>
            </a:r>
          </a:p>
        </p:txBody>
      </p:sp>
      <p:sp>
        <p:nvSpPr>
          <p:cNvPr id="31901" name="TextBox 31900">
            <a:hlinkClick r:id="rId95" action="ppaction://hlinksldjump"/>
            <a:extLst>
              <a:ext uri="{FF2B5EF4-FFF2-40B4-BE49-F238E27FC236}">
                <a16:creationId xmlns:a16="http://schemas.microsoft.com/office/drawing/2014/main" id="{4C99C15E-1C8B-7EFD-0834-EB97BC29CED1}"/>
              </a:ext>
            </a:extLst>
          </p:cNvPr>
          <p:cNvSpPr txBox="1"/>
          <p:nvPr>
            <p:custDataLst>
              <p:tags r:id="rId66"/>
            </p:custDataLst>
          </p:nvPr>
        </p:nvSpPr>
        <p:spPr>
          <a:xfrm>
            <a:off x="5245758" y="48505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56</a:t>
            </a:r>
          </a:p>
        </p:txBody>
      </p:sp>
      <p:sp>
        <p:nvSpPr>
          <p:cNvPr id="31902" name="TextBox 31901">
            <a:hlinkClick r:id="rId96" action="ppaction://hlinksldjump"/>
            <a:extLst>
              <a:ext uri="{FF2B5EF4-FFF2-40B4-BE49-F238E27FC236}">
                <a16:creationId xmlns:a16="http://schemas.microsoft.com/office/drawing/2014/main" id="{F0E68EFA-D11C-2594-3FCC-B8DA7F8BA0D4}"/>
              </a:ext>
            </a:extLst>
          </p:cNvPr>
          <p:cNvSpPr txBox="1"/>
          <p:nvPr>
            <p:custDataLst>
              <p:tags r:id="rId67"/>
            </p:custDataLst>
          </p:nvPr>
        </p:nvSpPr>
        <p:spPr>
          <a:xfrm>
            <a:off x="5245758" y="49892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57</a:t>
            </a:r>
          </a:p>
        </p:txBody>
      </p:sp>
      <p:sp>
        <p:nvSpPr>
          <p:cNvPr id="31903" name="TextBox 31902">
            <a:hlinkClick r:id="rId97" action="ppaction://hlinksldjump"/>
            <a:extLst>
              <a:ext uri="{FF2B5EF4-FFF2-40B4-BE49-F238E27FC236}">
                <a16:creationId xmlns:a16="http://schemas.microsoft.com/office/drawing/2014/main" id="{9826D020-A407-6D01-7F79-1A6CD2CC0DCD}"/>
              </a:ext>
            </a:extLst>
          </p:cNvPr>
          <p:cNvSpPr txBox="1"/>
          <p:nvPr>
            <p:custDataLst>
              <p:tags r:id="rId68"/>
            </p:custDataLst>
          </p:nvPr>
        </p:nvSpPr>
        <p:spPr>
          <a:xfrm>
            <a:off x="5245758" y="51279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58</a:t>
            </a:r>
          </a:p>
        </p:txBody>
      </p:sp>
      <p:sp>
        <p:nvSpPr>
          <p:cNvPr id="31904" name="TextBox 31903">
            <a:hlinkClick r:id="rId98" action="ppaction://hlinksldjump"/>
            <a:extLst>
              <a:ext uri="{FF2B5EF4-FFF2-40B4-BE49-F238E27FC236}">
                <a16:creationId xmlns:a16="http://schemas.microsoft.com/office/drawing/2014/main" id="{48EFB26D-B269-E529-5537-2C6D01575DC3}"/>
              </a:ext>
            </a:extLst>
          </p:cNvPr>
          <p:cNvSpPr txBox="1"/>
          <p:nvPr>
            <p:custDataLst>
              <p:tags r:id="rId69"/>
            </p:custDataLst>
          </p:nvPr>
        </p:nvSpPr>
        <p:spPr>
          <a:xfrm>
            <a:off x="5245758" y="52666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59</a:t>
            </a:r>
          </a:p>
        </p:txBody>
      </p:sp>
      <p:sp>
        <p:nvSpPr>
          <p:cNvPr id="31905" name="TextBox 31904">
            <a:hlinkClick r:id="rId99" action="ppaction://hlinksldjump"/>
            <a:extLst>
              <a:ext uri="{FF2B5EF4-FFF2-40B4-BE49-F238E27FC236}">
                <a16:creationId xmlns:a16="http://schemas.microsoft.com/office/drawing/2014/main" id="{F51D39FF-318E-017F-70E3-99090F5F5414}"/>
              </a:ext>
            </a:extLst>
          </p:cNvPr>
          <p:cNvSpPr txBox="1"/>
          <p:nvPr>
            <p:custDataLst>
              <p:tags r:id="rId70"/>
            </p:custDataLst>
          </p:nvPr>
        </p:nvSpPr>
        <p:spPr>
          <a:xfrm>
            <a:off x="5245758" y="54053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60</a:t>
            </a:r>
          </a:p>
        </p:txBody>
      </p:sp>
      <p:sp>
        <p:nvSpPr>
          <p:cNvPr id="31906" name="TextBox 31905">
            <a:hlinkClick r:id="rId100" action="ppaction://hlinksldjump"/>
            <a:extLst>
              <a:ext uri="{FF2B5EF4-FFF2-40B4-BE49-F238E27FC236}">
                <a16:creationId xmlns:a16="http://schemas.microsoft.com/office/drawing/2014/main" id="{4CBB1427-EDC7-2AA4-168B-DECAD38726A2}"/>
              </a:ext>
            </a:extLst>
          </p:cNvPr>
          <p:cNvSpPr txBox="1"/>
          <p:nvPr>
            <p:custDataLst>
              <p:tags r:id="rId71"/>
            </p:custDataLst>
          </p:nvPr>
        </p:nvSpPr>
        <p:spPr>
          <a:xfrm>
            <a:off x="5245758" y="55440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62</a:t>
            </a:r>
          </a:p>
        </p:txBody>
      </p:sp>
      <p:sp>
        <p:nvSpPr>
          <p:cNvPr id="31907" name="TextBox 31906">
            <a:hlinkClick r:id="rId77" action="ppaction://hlinksldjump"/>
            <a:extLst>
              <a:ext uri="{FF2B5EF4-FFF2-40B4-BE49-F238E27FC236}">
                <a16:creationId xmlns:a16="http://schemas.microsoft.com/office/drawing/2014/main" id="{AE24957B-63D3-F43E-3402-A5DECD013590}"/>
              </a:ext>
            </a:extLst>
          </p:cNvPr>
          <p:cNvSpPr txBox="1"/>
          <p:nvPr>
            <p:custDataLst>
              <p:tags r:id="rId72"/>
            </p:custDataLst>
          </p:nvPr>
        </p:nvSpPr>
        <p:spPr>
          <a:xfrm>
            <a:off x="5245758" y="5682761"/>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63</a:t>
            </a:r>
          </a:p>
        </p:txBody>
      </p:sp>
      <p:sp>
        <p:nvSpPr>
          <p:cNvPr id="31908" name="TextBox 31907">
            <a:hlinkClick r:id="rId101" action="ppaction://hlinksldjump"/>
            <a:extLst>
              <a:ext uri="{FF2B5EF4-FFF2-40B4-BE49-F238E27FC236}">
                <a16:creationId xmlns:a16="http://schemas.microsoft.com/office/drawing/2014/main" id="{B92F036F-A320-A1A3-06E0-3547991A8A27}"/>
              </a:ext>
            </a:extLst>
          </p:cNvPr>
          <p:cNvSpPr txBox="1"/>
          <p:nvPr>
            <p:custDataLst>
              <p:tags r:id="rId73"/>
            </p:custDataLst>
          </p:nvPr>
        </p:nvSpPr>
        <p:spPr>
          <a:xfrm>
            <a:off x="10374885" y="1229360"/>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69</a:t>
            </a: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ZONE?" hidden="1">
            <a:extLst>
              <a:ext uri="{FF2B5EF4-FFF2-40B4-BE49-F238E27FC236}">
                <a16:creationId xmlns:a16="http://schemas.microsoft.com/office/drawing/2014/main" id="{D9F1535F-6DC3-F59D-5DE4-C9748B195A7A}"/>
              </a:ext>
            </a:extLst>
          </p:cNvPr>
          <p:cNvSpPr>
            <a:spLocks/>
          </p:cNvSpPr>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37" name="???" hidden="1">
            <a:hlinkClick r:id="" action="ppaction://noaction"/>
            <a:extLst>
              <a:ext uri="{FF2B5EF4-FFF2-40B4-BE49-F238E27FC236}">
                <a16:creationId xmlns:a16="http://schemas.microsoft.com/office/drawing/2014/main" id="{6EA31614-8248-54E2-75F7-BCE99EDBDAC1}"/>
              </a:ext>
            </a:extLst>
          </p:cNvPr>
          <p:cNvSpPr txBox="1">
            <a:spLocks/>
          </p:cNvSpPr>
          <p:nvPr/>
        </p:nvSpPr>
        <p:spPr>
          <a:xfrm>
            <a:off x="10931809" y="3594256"/>
            <a:ext cx="0" cy="356616"/>
          </a:xfrm>
          <a:prstGeom prst="rect">
            <a:avLst/>
          </a:prstGeom>
          <a:noFill/>
          <a:ln>
            <a:noFill/>
          </a:ln>
        </p:spPr>
        <p:txBody>
          <a:bodyPr vert="horz" wrap="non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00" dirty="0">
                <a:ln>
                  <a:noFill/>
                </a:ln>
                <a:noFill/>
                <a:latin typeface="+mj-lt"/>
              </a:rPr>
              <a:t>4</a:t>
            </a:r>
          </a:p>
        </p:txBody>
      </p:sp>
      <p:sp>
        <p:nvSpPr>
          <p:cNvPr id="38" name="section number" hidden="1">
            <a:extLst>
              <a:ext uri="{FF2B5EF4-FFF2-40B4-BE49-F238E27FC236}">
                <a16:creationId xmlns:a16="http://schemas.microsoft.com/office/drawing/2014/main" id="{57EC5908-94D7-C379-C9C3-7740D7A96534}"/>
              </a:ext>
            </a:extLst>
          </p:cNvPr>
          <p:cNvSpPr txBox="1">
            <a:spLocks/>
          </p:cNvSpPr>
          <p:nvPr/>
        </p:nvSpPr>
        <p:spPr>
          <a:xfrm>
            <a:off x="1289304" y="3617406"/>
            <a:ext cx="3952700" cy="0"/>
          </a:xfrm>
          <a:prstGeom prst="rect">
            <a:avLst/>
          </a:prstGeom>
        </p:spPr>
        <p:txBody>
          <a:bodyPr vert="horz" wrap="square" lIns="0" tIns="0" rIns="0" bIns="43891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spcAft>
                <a:spcPts val="600"/>
              </a:spcAft>
            </a:pPr>
            <a:r>
              <a:rPr lang="en-GB" sz="6600" b="1" dirty="0">
                <a:solidFill>
                  <a:srgbClr val="FFFFFF"/>
                </a:solidFill>
                <a:latin typeface="+mj-lt"/>
              </a:rPr>
              <a:t>01</a:t>
            </a:r>
          </a:p>
        </p:txBody>
      </p:sp>
      <p:sp>
        <p:nvSpPr>
          <p:cNvPr id="39" name="section title" hidden="1">
            <a:hlinkClick r:id="" action="ppaction://noaction"/>
            <a:extLst>
              <a:ext uri="{FF2B5EF4-FFF2-40B4-BE49-F238E27FC236}">
                <a16:creationId xmlns:a16="http://schemas.microsoft.com/office/drawing/2014/main" id="{6CE66D06-AAD4-3162-968D-96422DD5983D}"/>
              </a:ext>
            </a:extLst>
          </p:cNvPr>
          <p:cNvSpPr txBox="1">
            <a:spLocks/>
          </p:cNvSpPr>
          <p:nvPr>
            <p:custDataLst>
              <p:tags r:id="rId2"/>
            </p:custDataLst>
          </p:nvPr>
        </p:nvSpPr>
        <p:spPr>
          <a:xfrm>
            <a:off x="1289860" y="3617406"/>
            <a:ext cx="9747504" cy="0"/>
          </a:xfrm>
          <a:prstGeom prst="rect">
            <a:avLst/>
          </a:prstGeom>
          <a:noFill/>
        </p:spPr>
        <p:txBody>
          <a:bodyPr vert="horz" wrap="square" lIns="0" tIns="0" rIns="0" bIns="228600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en-US" sz="6600" dirty="0">
                <a:solidFill>
                  <a:srgbClr val="FFFFFF"/>
                </a:solidFill>
                <a:latin typeface="+mj-lt"/>
              </a:rPr>
              <a:t>Executive summary</a:t>
            </a:r>
          </a:p>
        </p:txBody>
      </p:sp>
      <p:sp>
        <p:nvSpPr>
          <p:cNvPr id="40" name="slide page number" hidden="1">
            <a:extLst>
              <a:ext uri="{FF2B5EF4-FFF2-40B4-BE49-F238E27FC236}">
                <a16:creationId xmlns:a16="http://schemas.microsoft.com/office/drawing/2014/main" id="{0EE227B2-BC76-59B8-60FA-57F408CD615B}"/>
              </a:ext>
            </a:extLst>
          </p:cNvPr>
          <p:cNvSpPr txBox="1">
            <a:spLocks/>
          </p:cNvSpPr>
          <p:nvPr/>
        </p:nvSpPr>
        <p:spPr>
          <a:xfrm>
            <a:off x="10188234" y="5027889"/>
            <a:ext cx="182880"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1400" i="0" dirty="0">
                <a:solidFill>
                  <a:schemeClr val="bg1"/>
                </a:solidFill>
                <a:latin typeface="+mn-lt"/>
              </a:rPr>
              <a:t>1</a:t>
            </a:r>
          </a:p>
        </p:txBody>
      </p:sp>
      <p:sp>
        <p:nvSpPr>
          <p:cNvPr id="41" name="ZoneTexte 19" hidden="1">
            <a:extLst>
              <a:ext uri="{FF2B5EF4-FFF2-40B4-BE49-F238E27FC236}">
                <a16:creationId xmlns:a16="http://schemas.microsoft.com/office/drawing/2014/main" id="{E1EB7D89-468C-377D-8E01-E8D8EE6FCEDA}"/>
              </a:ext>
            </a:extLst>
          </p:cNvPr>
          <p:cNvSpPr txBox="1">
            <a:spLocks/>
          </p:cNvSpPr>
          <p:nvPr/>
        </p:nvSpPr>
        <p:spPr>
          <a:xfrm>
            <a:off x="1174065" y="5027889"/>
            <a:ext cx="9892129"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200" i="0" dirty="0">
                <a:solidFill>
                  <a:schemeClr val="bg1"/>
                </a:solidFill>
                <a:latin typeface="Arial" panose="020B0604020202020204" pitchFamily="34" charset="0"/>
              </a:rPr>
              <a:t>A</a:t>
            </a:r>
          </a:p>
        </p:txBody>
      </p:sp>
      <p:sp>
        <p:nvSpPr>
          <p:cNvPr id="42" name="subsection page number" hidden="1">
            <a:hlinkClick r:id="" action="ppaction://noaction"/>
            <a:extLst>
              <a:ext uri="{FF2B5EF4-FFF2-40B4-BE49-F238E27FC236}">
                <a16:creationId xmlns:a16="http://schemas.microsoft.com/office/drawing/2014/main" id="{FF1A2828-1104-A597-003B-DABE01462957}"/>
              </a:ext>
            </a:extLst>
          </p:cNvPr>
          <p:cNvSpPr txBox="1">
            <a:spLocks/>
          </p:cNvSpPr>
          <p:nvPr/>
        </p:nvSpPr>
        <p:spPr>
          <a:xfrm>
            <a:off x="7428269" y="3594256"/>
            <a:ext cx="0" cy="356616"/>
          </a:xfrm>
          <a:prstGeom prst="rect">
            <a:avLst/>
          </a:prstGeom>
          <a:noFill/>
        </p:spPr>
        <p:txBody>
          <a:bodyPr vert="horz" wrap="square" lIns="1005840" tIns="0" rIns="109728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Font typeface="Arial" panose="020B0604020202020204" pitchFamily="34" charset="0"/>
              <a:buNone/>
            </a:pPr>
            <a:r>
              <a:rPr lang="fr-FR" sz="1400" dirty="0">
                <a:solidFill>
                  <a:srgbClr val="FFFFFF"/>
                </a:solidFill>
                <a:effectLst/>
                <a:latin typeface="+mn-lt"/>
              </a:rPr>
              <a:t>5</a:t>
            </a:r>
          </a:p>
        </p:txBody>
      </p:sp>
      <p:sp>
        <p:nvSpPr>
          <p:cNvPr id="43" name="subsection number" hidden="1">
            <a:extLst>
              <a:ext uri="{FF2B5EF4-FFF2-40B4-BE49-F238E27FC236}">
                <a16:creationId xmlns:a16="http://schemas.microsoft.com/office/drawing/2014/main" id="{E9ECBCC0-9069-D5A3-766B-8EBF1EA207CC}"/>
              </a:ext>
            </a:extLst>
          </p:cNvPr>
          <p:cNvSpPr txBox="1">
            <a:spLocks noChangeArrowheads="1"/>
          </p:cNvSpPr>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dirty="0">
                <a:solidFill>
                  <a:schemeClr val="bg1"/>
                </a:solidFill>
                <a:latin typeface="+mj-lt"/>
              </a:rPr>
              <a:t>1.1</a:t>
            </a:r>
          </a:p>
        </p:txBody>
      </p:sp>
      <p:sp>
        <p:nvSpPr>
          <p:cNvPr id="44" name="subsection title" hidden="1">
            <a:hlinkClick r:id="" action="ppaction://noaction"/>
            <a:extLst>
              <a:ext uri="{FF2B5EF4-FFF2-40B4-BE49-F238E27FC236}">
                <a16:creationId xmlns:a16="http://schemas.microsoft.com/office/drawing/2014/main" id="{67ADA6D5-A44C-6AD3-5EE0-73DCA81FB516}"/>
              </a:ext>
            </a:extLst>
          </p:cNvPr>
          <p:cNvSpPr txBox="1">
            <a:spLocks/>
          </p:cNvSpPr>
          <p:nvPr>
            <p:custDataLst>
              <p:tags r:id="rId3"/>
            </p:custDataLst>
          </p:nvPr>
        </p:nvSpPr>
        <p:spPr>
          <a:xfrm>
            <a:off x="1714809" y="3594256"/>
            <a:ext cx="2504494" cy="356616"/>
          </a:xfrm>
          <a:prstGeom prst="rect">
            <a:avLst/>
          </a:prstGeom>
          <a:noFill/>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rgbClr val="FFFFFF"/>
                </a:solidFill>
                <a:effectLst/>
                <a:latin typeface="+mn-lt"/>
              </a:rPr>
              <a:t>Subsection Title</a:t>
            </a:r>
          </a:p>
        </p:txBody>
      </p:sp>
      <p:sp>
        <p:nvSpPr>
          <p:cNvPr id="1354" name="TextBox 1353">
            <a:extLst>
              <a:ext uri="{FF2B5EF4-FFF2-40B4-BE49-F238E27FC236}">
                <a16:creationId xmlns:a16="http://schemas.microsoft.com/office/drawing/2014/main" id="{3D462AD2-EEED-1709-2D80-DBCF14CA7E8A}"/>
              </a:ext>
            </a:extLst>
          </p:cNvPr>
          <p:cNvSpPr txBox="1"/>
          <p:nvPr/>
        </p:nvSpPr>
        <p:spPr>
          <a:xfrm>
            <a:off x="1402915" y="2348630"/>
            <a:ext cx="4922729" cy="1080370"/>
          </a:xfrm>
          <a:prstGeom prst="rect">
            <a:avLst/>
          </a:prstGeom>
        </p:spPr>
        <p:txBody>
          <a:bodyPr vert="horz" wrap="square" lIns="0" tIns="0" rIns="0" bIns="0" rtlCol="0" anchor="t" anchorCtr="0">
            <a:noAutofit/>
          </a:bodyPr>
          <a:lstStyle/>
          <a:p>
            <a:pPr algn="l">
              <a:spcAft>
                <a:spcPts val="600"/>
              </a:spcAft>
            </a:pPr>
            <a:endParaRPr lang="en-US" sz="1500" b="1" dirty="0">
              <a:solidFill>
                <a:schemeClr val="tx2"/>
              </a:solidFill>
            </a:endParaRPr>
          </a:p>
        </p:txBody>
      </p:sp>
      <p:sp>
        <p:nvSpPr>
          <p:cNvPr id="1355" name="TextBox 1354">
            <a:extLst>
              <a:ext uri="{FF2B5EF4-FFF2-40B4-BE49-F238E27FC236}">
                <a16:creationId xmlns:a16="http://schemas.microsoft.com/office/drawing/2014/main" id="{E9E0BF94-F03D-F699-5815-6C9727476997}"/>
              </a:ext>
            </a:extLst>
          </p:cNvPr>
          <p:cNvSpPr txBox="1"/>
          <p:nvPr/>
        </p:nvSpPr>
        <p:spPr>
          <a:xfrm>
            <a:off x="1289304" y="2374392"/>
            <a:ext cx="5805814" cy="726810"/>
          </a:xfrm>
          <a:prstGeom prst="rect">
            <a:avLst/>
          </a:prstGeom>
        </p:spPr>
        <p:txBody>
          <a:bodyPr vert="horz" wrap="square" lIns="0" tIns="0" rIns="0" bIns="0" rtlCol="0" anchor="t" anchorCtr="0">
            <a:noAutofit/>
          </a:bodyPr>
          <a:lstStyle/>
          <a:p>
            <a:pPr>
              <a:spcAft>
                <a:spcPts val="600"/>
              </a:spcAft>
            </a:pPr>
            <a:r>
              <a:rPr lang="en-US" sz="6600" b="0" dirty="0">
                <a:solidFill>
                  <a:schemeClr val="bg1"/>
                </a:solidFill>
                <a:latin typeface="+mj-lt"/>
                <a:cs typeface="Arial" panose="020B0604020202020204" pitchFamily="34" charset="0"/>
              </a:rPr>
              <a:t>Executive summary</a:t>
            </a:r>
          </a:p>
          <a:p>
            <a:pPr algn="l">
              <a:spcAft>
                <a:spcPts val="600"/>
              </a:spcAft>
            </a:pPr>
            <a:endParaRPr lang="en-US" sz="6600" b="1" dirty="0">
              <a:solidFill>
                <a:schemeClr val="bg1"/>
              </a:solidFill>
            </a:endParaRPr>
          </a:p>
        </p:txBody>
      </p:sp>
      <p:sp>
        <p:nvSpPr>
          <p:cNvPr id="58" name="TextBox 57">
            <a:hlinkClick r:id="rId16" action="ppaction://hlinksldjump"/>
            <a:extLst>
              <a:ext uri="{FF2B5EF4-FFF2-40B4-BE49-F238E27FC236}">
                <a16:creationId xmlns:a16="http://schemas.microsoft.com/office/drawing/2014/main" id="{9A51AB7E-B52E-18AA-9BF1-1972E5FA639A}"/>
              </a:ext>
            </a:extLst>
          </p:cNvPr>
          <p:cNvSpPr txBox="1"/>
          <p:nvPr>
            <p:custDataLst>
              <p:tags r:id="rId4"/>
            </p:custDataLst>
          </p:nvPr>
        </p:nvSpPr>
        <p:spPr>
          <a:xfrm>
            <a:off x="1714809" y="386988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Business overview</a:t>
            </a:r>
          </a:p>
        </p:txBody>
      </p:sp>
      <p:sp>
        <p:nvSpPr>
          <p:cNvPr id="59" name="TextBox 58">
            <a:hlinkClick r:id="rId17" action="ppaction://hlinksldjump"/>
            <a:extLst>
              <a:ext uri="{FF2B5EF4-FFF2-40B4-BE49-F238E27FC236}">
                <a16:creationId xmlns:a16="http://schemas.microsoft.com/office/drawing/2014/main" id="{99120063-522C-8200-D8A7-7CE03A5D10FE}"/>
              </a:ext>
            </a:extLst>
          </p:cNvPr>
          <p:cNvSpPr txBox="1"/>
          <p:nvPr>
            <p:custDataLst>
              <p:tags r:id="rId5"/>
            </p:custDataLst>
          </p:nvPr>
        </p:nvSpPr>
        <p:spPr>
          <a:xfrm>
            <a:off x="1714809" y="426459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Summary financials</a:t>
            </a:r>
          </a:p>
        </p:txBody>
      </p:sp>
      <p:sp>
        <p:nvSpPr>
          <p:cNvPr id="60" name="TextBox 59">
            <a:hlinkClick r:id="rId18" action="ppaction://hlinksldjump"/>
            <a:extLst>
              <a:ext uri="{FF2B5EF4-FFF2-40B4-BE49-F238E27FC236}">
                <a16:creationId xmlns:a16="http://schemas.microsoft.com/office/drawing/2014/main" id="{41AFC6DF-C29C-431A-61C7-9C774C4E1329}"/>
              </a:ext>
            </a:extLst>
          </p:cNvPr>
          <p:cNvSpPr txBox="1"/>
          <p:nvPr>
            <p:custDataLst>
              <p:tags r:id="rId6"/>
            </p:custDataLst>
          </p:nvPr>
        </p:nvSpPr>
        <p:spPr>
          <a:xfrm>
            <a:off x="1714809" y="4659314"/>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Key findings</a:t>
            </a:r>
          </a:p>
        </p:txBody>
      </p:sp>
      <p:sp>
        <p:nvSpPr>
          <p:cNvPr id="61" name="TextBox 60">
            <a:hlinkClick r:id="rId19" action="ppaction://hlinksldjump"/>
            <a:extLst>
              <a:ext uri="{FF2B5EF4-FFF2-40B4-BE49-F238E27FC236}">
                <a16:creationId xmlns:a16="http://schemas.microsoft.com/office/drawing/2014/main" id="{09C35A78-B389-C39E-5475-F1409C846411}"/>
              </a:ext>
            </a:extLst>
          </p:cNvPr>
          <p:cNvSpPr txBox="1"/>
          <p:nvPr>
            <p:custDataLst>
              <p:tags r:id="rId7"/>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dirty="0">
                <a:solidFill>
                  <a:srgbClr val="FFFFFF"/>
                </a:solidFill>
                <a:latin typeface="+mj-lt"/>
              </a:rPr>
              <a:t>01</a:t>
            </a:r>
          </a:p>
        </p:txBody>
      </p:sp>
      <p:sp>
        <p:nvSpPr>
          <p:cNvPr id="62" name="TextBox 61">
            <a:hlinkClick r:id="rId19" action="ppaction://hlinksldjump"/>
            <a:extLst>
              <a:ext uri="{FF2B5EF4-FFF2-40B4-BE49-F238E27FC236}">
                <a16:creationId xmlns:a16="http://schemas.microsoft.com/office/drawing/2014/main" id="{A84F1D6A-2F10-E368-7A64-E7B44D8169B6}"/>
              </a:ext>
            </a:extLst>
          </p:cNvPr>
          <p:cNvSpPr txBox="1"/>
          <p:nvPr>
            <p:custDataLst>
              <p:tags r:id="rId8"/>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dirty="0">
                <a:ln>
                  <a:noFill/>
                </a:ln>
                <a:noFill/>
                <a:latin typeface="+mj-lt"/>
              </a:rPr>
              <a:t>4</a:t>
            </a:r>
          </a:p>
        </p:txBody>
      </p:sp>
      <p:sp>
        <p:nvSpPr>
          <p:cNvPr id="63" name="TextBox 62">
            <a:hlinkClick r:id="rId16" action="ppaction://hlinksldjump"/>
            <a:extLst>
              <a:ext uri="{FF2B5EF4-FFF2-40B4-BE49-F238E27FC236}">
                <a16:creationId xmlns:a16="http://schemas.microsoft.com/office/drawing/2014/main" id="{11C6665F-D0CA-05C8-E121-301A76FC1792}"/>
              </a:ext>
            </a:extLst>
          </p:cNvPr>
          <p:cNvSpPr txBox="1"/>
          <p:nvPr>
            <p:custDataLst>
              <p:tags r:id="rId9"/>
            </p:custDataLst>
          </p:nvPr>
        </p:nvSpPr>
        <p:spPr bwMode="auto">
          <a:xfrm>
            <a:off x="1332373" y="38698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1.1</a:t>
            </a:r>
          </a:p>
        </p:txBody>
      </p:sp>
      <p:sp>
        <p:nvSpPr>
          <p:cNvPr id="1344" name="TextBox 1343">
            <a:hlinkClick r:id="rId17" action="ppaction://hlinksldjump"/>
            <a:extLst>
              <a:ext uri="{FF2B5EF4-FFF2-40B4-BE49-F238E27FC236}">
                <a16:creationId xmlns:a16="http://schemas.microsoft.com/office/drawing/2014/main" id="{6B06A6EB-B97E-5FC1-307C-1F8551823ACC}"/>
              </a:ext>
            </a:extLst>
          </p:cNvPr>
          <p:cNvSpPr txBox="1"/>
          <p:nvPr>
            <p:custDataLst>
              <p:tags r:id="rId10"/>
            </p:custDataLst>
          </p:nvPr>
        </p:nvSpPr>
        <p:spPr bwMode="auto">
          <a:xfrm>
            <a:off x="1332373" y="42645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1.2</a:t>
            </a:r>
          </a:p>
        </p:txBody>
      </p:sp>
      <p:sp>
        <p:nvSpPr>
          <p:cNvPr id="1345" name="TextBox 1344">
            <a:hlinkClick r:id="rId18" action="ppaction://hlinksldjump"/>
            <a:extLst>
              <a:ext uri="{FF2B5EF4-FFF2-40B4-BE49-F238E27FC236}">
                <a16:creationId xmlns:a16="http://schemas.microsoft.com/office/drawing/2014/main" id="{D38F1A83-24EF-5FD2-58EC-B4D654EFDE65}"/>
              </a:ext>
            </a:extLst>
          </p:cNvPr>
          <p:cNvSpPr txBox="1"/>
          <p:nvPr>
            <p:custDataLst>
              <p:tags r:id="rId11"/>
            </p:custDataLst>
          </p:nvPr>
        </p:nvSpPr>
        <p:spPr bwMode="auto">
          <a:xfrm>
            <a:off x="1332373" y="46593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1.3</a:t>
            </a:r>
          </a:p>
        </p:txBody>
      </p:sp>
      <p:sp>
        <p:nvSpPr>
          <p:cNvPr id="1346" name="TextBox 1345">
            <a:hlinkClick r:id="rId16" action="ppaction://hlinksldjump"/>
            <a:extLst>
              <a:ext uri="{FF2B5EF4-FFF2-40B4-BE49-F238E27FC236}">
                <a16:creationId xmlns:a16="http://schemas.microsoft.com/office/drawing/2014/main" id="{071C822B-457D-3C69-EF1C-3AAB6DF40BDE}"/>
              </a:ext>
            </a:extLst>
          </p:cNvPr>
          <p:cNvSpPr txBox="1"/>
          <p:nvPr>
            <p:custDataLst>
              <p:tags r:id="rId12"/>
            </p:custDataLst>
          </p:nvPr>
        </p:nvSpPr>
        <p:spPr>
          <a:xfrm>
            <a:off x="6163612" y="386988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a:t>
            </a:r>
          </a:p>
        </p:txBody>
      </p:sp>
      <p:sp>
        <p:nvSpPr>
          <p:cNvPr id="1347" name="TextBox 1346">
            <a:hlinkClick r:id="rId17" action="ppaction://hlinksldjump"/>
            <a:extLst>
              <a:ext uri="{FF2B5EF4-FFF2-40B4-BE49-F238E27FC236}">
                <a16:creationId xmlns:a16="http://schemas.microsoft.com/office/drawing/2014/main" id="{64A8DB22-4561-AC09-F4F4-1460D5CFBD7E}"/>
              </a:ext>
            </a:extLst>
          </p:cNvPr>
          <p:cNvSpPr txBox="1"/>
          <p:nvPr>
            <p:custDataLst>
              <p:tags r:id="rId13"/>
            </p:custDataLst>
          </p:nvPr>
        </p:nvSpPr>
        <p:spPr>
          <a:xfrm>
            <a:off x="6163612" y="426459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8</a:t>
            </a:r>
          </a:p>
        </p:txBody>
      </p:sp>
      <p:sp>
        <p:nvSpPr>
          <p:cNvPr id="1348" name="TextBox 1347">
            <a:hlinkClick r:id="rId18" action="ppaction://hlinksldjump"/>
            <a:extLst>
              <a:ext uri="{FF2B5EF4-FFF2-40B4-BE49-F238E27FC236}">
                <a16:creationId xmlns:a16="http://schemas.microsoft.com/office/drawing/2014/main" id="{42BA1DE8-6E17-4B13-2575-7E3A89037009}"/>
              </a:ext>
            </a:extLst>
          </p:cNvPr>
          <p:cNvSpPr txBox="1"/>
          <p:nvPr>
            <p:custDataLst>
              <p:tags r:id="rId14"/>
            </p:custDataLst>
          </p:nvPr>
        </p:nvSpPr>
        <p:spPr>
          <a:xfrm>
            <a:off x="6163612" y="4659314"/>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9</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397C880E-0788-2837-8FA4-B3592E84ED25}"/>
              </a:ext>
            </a:extLst>
          </p:cNvPr>
          <p:cNvSpPr/>
          <p:nvPr/>
        </p:nvSpPr>
        <p:spPr>
          <a:xfrm>
            <a:off x="1015434" y="2091752"/>
            <a:ext cx="4945284" cy="1477619"/>
          </a:xfrm>
          <a:prstGeom prst="rect">
            <a:avLst/>
          </a:prstGeom>
          <a:noFill/>
          <a:ln>
            <a:solidFill>
              <a:srgbClr val="0091DA"/>
            </a:solidFill>
            <a:prstDash val="sysDot"/>
          </a:ln>
        </p:spPr>
        <p:style>
          <a:lnRef idx="2">
            <a:schemeClr val="accent4"/>
          </a:lnRef>
          <a:fillRef idx="1">
            <a:schemeClr val="lt1"/>
          </a:fillRef>
          <a:effectRef idx="0">
            <a:schemeClr val="accent4"/>
          </a:effectRef>
          <a:fontRef idx="minor">
            <a:schemeClr val="dk1"/>
          </a:fontRef>
        </p:style>
        <p:txBody>
          <a:bodyPr lIns="91440" tIns="91440" rIns="91440" bIns="91440" rtlCol="0" anchor="t">
            <a:noAutofit/>
          </a:bodyPr>
          <a:lstStyle/>
          <a:p>
            <a:r>
              <a:rPr lang="en-US" sz="1000" dirty="0">
                <a:ln w="0"/>
                <a:solidFill>
                  <a:srgbClr val="0091DA"/>
                </a:solidFill>
              </a:rPr>
              <a:t>Transaction perimeter</a:t>
            </a:r>
          </a:p>
        </p:txBody>
      </p:sp>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4" y="432525"/>
            <a:ext cx="10204452" cy="539750"/>
          </a:xfrm>
        </p:spPr>
        <p:txBody>
          <a:bodyPr vert="horz"/>
          <a:lstStyle/>
          <a:p>
            <a:pPr>
              <a:buClr>
                <a:schemeClr val="dk1">
                  <a:lumMod val="100000"/>
                </a:schemeClr>
              </a:buClr>
            </a:pPr>
            <a:r>
              <a:rPr lang="en-US" dirty="0"/>
              <a:t>Business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Business overview</a:t>
            </a:r>
          </a:p>
        </p:txBody>
      </p:sp>
      <p:sp>
        <p:nvSpPr>
          <p:cNvPr id="15" name="TextBox 14">
            <a:extLst>
              <a:ext uri="{FF2B5EF4-FFF2-40B4-BE49-F238E27FC236}">
                <a16:creationId xmlns:a16="http://schemas.microsoft.com/office/drawing/2014/main" id="{A6CD8178-5D45-A60E-7015-84F6A30CD54E}"/>
              </a:ext>
            </a:extLst>
          </p:cNvPr>
          <p:cNvSpPr txBox="1">
            <a:spLocks/>
          </p:cNvSpPr>
          <p:nvPr/>
        </p:nvSpPr>
        <p:spPr>
          <a:xfrm>
            <a:off x="1005279" y="3517847"/>
            <a:ext cx="4219935" cy="369332"/>
          </a:xfrm>
          <a:prstGeom prst="rect">
            <a:avLst/>
          </a:prstGeom>
          <a:noFill/>
        </p:spPr>
        <p:txBody>
          <a:bodyPr wrap="square" lIns="0" tIns="0" rIns="0" bIns="0">
            <a:spAutoFit/>
          </a:bodyPr>
          <a:lstStyle/>
          <a:p>
            <a:r>
              <a:rPr lang="en-US" sz="2400" b="1" dirty="0">
                <a:solidFill>
                  <a:schemeClr val="accent1"/>
                </a:solidFill>
                <a:latin typeface="+mj-lt"/>
              </a:rPr>
              <a:t>Company overview</a:t>
            </a:r>
          </a:p>
        </p:txBody>
      </p:sp>
      <p:sp>
        <p:nvSpPr>
          <p:cNvPr id="102" name="TextBox 101">
            <a:extLst>
              <a:ext uri="{FF2B5EF4-FFF2-40B4-BE49-F238E27FC236}">
                <a16:creationId xmlns:a16="http://schemas.microsoft.com/office/drawing/2014/main" id="{8EBDACA5-D695-5AB5-865E-B96C52D2813A}"/>
              </a:ext>
            </a:extLst>
          </p:cNvPr>
          <p:cNvSpPr txBox="1">
            <a:spLocks/>
          </p:cNvSpPr>
          <p:nvPr/>
        </p:nvSpPr>
        <p:spPr>
          <a:xfrm>
            <a:off x="998401" y="1202688"/>
            <a:ext cx="4219935" cy="295466"/>
          </a:xfrm>
          <a:prstGeom prst="rect">
            <a:avLst/>
          </a:prstGeom>
          <a:noFill/>
        </p:spPr>
        <p:txBody>
          <a:bodyPr wrap="square" lIns="0" tIns="0" rIns="0" bIns="0" anchor="t">
            <a:spAutoFit/>
          </a:bodyPr>
          <a:lstStyle/>
          <a:p>
            <a:pPr>
              <a:lnSpc>
                <a:spcPct val="80000"/>
              </a:lnSpc>
            </a:pPr>
            <a:r>
              <a:rPr lang="en-US" sz="2400" dirty="0">
                <a:solidFill>
                  <a:schemeClr val="accent1"/>
                </a:solidFill>
                <a:latin typeface="+mj-lt"/>
              </a:rPr>
              <a:t>Legal chart</a:t>
            </a:r>
          </a:p>
        </p:txBody>
      </p:sp>
      <p:grpSp>
        <p:nvGrpSpPr>
          <p:cNvPr id="167" name="Group 166">
            <a:extLst>
              <a:ext uri="{FF2B5EF4-FFF2-40B4-BE49-F238E27FC236}">
                <a16:creationId xmlns:a16="http://schemas.microsoft.com/office/drawing/2014/main" id="{4BE7ECC5-DCEF-9598-38CF-3F3F1625183F}"/>
              </a:ext>
            </a:extLst>
          </p:cNvPr>
          <p:cNvGrpSpPr/>
          <p:nvPr/>
        </p:nvGrpSpPr>
        <p:grpSpPr>
          <a:xfrm>
            <a:off x="6222572" y="1347636"/>
            <a:ext cx="4953139" cy="4546600"/>
            <a:chOff x="6237061" y="1347689"/>
            <a:chExt cx="4953139" cy="4546600"/>
          </a:xfrm>
        </p:grpSpPr>
        <p:sp>
          <p:nvSpPr>
            <p:cNvPr id="168" name="Rectangle 167">
              <a:extLst>
                <a:ext uri="{FF2B5EF4-FFF2-40B4-BE49-F238E27FC236}">
                  <a16:creationId xmlns:a16="http://schemas.microsoft.com/office/drawing/2014/main" id="{85D94972-37A3-9D73-B646-BC35B7A355EE}"/>
                </a:ext>
              </a:extLst>
            </p:cNvPr>
            <p:cNvSpPr/>
            <p:nvPr/>
          </p:nvSpPr>
          <p:spPr>
            <a:xfrm>
              <a:off x="6237061" y="1347689"/>
              <a:ext cx="4953139" cy="4546600"/>
            </a:xfrm>
            <a:prstGeom prst="rect">
              <a:avLst/>
            </a:prstGeom>
            <a:solidFill>
              <a:srgbClr val="00338D"/>
            </a:solidFill>
            <a:ln w="12700" cap="flat" cmpd="sng" algn="ctr">
              <a:noFill/>
              <a:prstDash val="solid"/>
              <a:miter lim="800000"/>
            </a:ln>
            <a:effectLst/>
          </p:spPr>
          <p:txBody>
            <a:bodyPr lIns="54611" tIns="54611" rIns="54611" bIns="54611"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500" b="0" i="0" u="none" strike="noStrike" kern="0" cap="none" spc="0" normalizeH="0" baseline="0" noProof="0" dirty="0">
                <a:ln>
                  <a:noFill/>
                </a:ln>
                <a:solidFill>
                  <a:srgbClr val="FFFFFF"/>
                </a:solidFill>
                <a:effectLst/>
                <a:uLnTx/>
                <a:uFillTx/>
                <a:latin typeface="Arial"/>
                <a:ea typeface="+mn-ea"/>
                <a:cs typeface="+mn-cs"/>
              </a:endParaRPr>
            </a:p>
          </p:txBody>
        </p:sp>
        <p:sp>
          <p:nvSpPr>
            <p:cNvPr id="169" name="TextBox 168">
              <a:extLst>
                <a:ext uri="{FF2B5EF4-FFF2-40B4-BE49-F238E27FC236}">
                  <a16:creationId xmlns:a16="http://schemas.microsoft.com/office/drawing/2014/main" id="{3C09B32D-B9B5-9B68-D47C-354424F5AB96}"/>
                </a:ext>
              </a:extLst>
            </p:cNvPr>
            <p:cNvSpPr txBox="1">
              <a:spLocks/>
            </p:cNvSpPr>
            <p:nvPr/>
          </p:nvSpPr>
          <p:spPr bwMode="white">
            <a:xfrm>
              <a:off x="6472161" y="1368589"/>
              <a:ext cx="4476756" cy="320922"/>
            </a:xfrm>
            <a:prstGeom prst="rect">
              <a:avLst/>
            </a:prstGeom>
            <a:noFill/>
          </p:spPr>
          <p:txBody>
            <a:bodyPr wrap="square" lIns="0" tIns="0" rIns="0" bIns="0">
              <a:spAutoFit/>
            </a:bodyPr>
            <a:lstStyle/>
            <a:p>
              <a:pPr marL="0" marR="0" lvl="0" indent="0" defTabSz="914400" eaLnBrk="1" fontAlgn="auto" latinLnBrk="0" hangingPunct="1">
                <a:lnSpc>
                  <a:spcPts val="2880"/>
                </a:lnSpc>
                <a:spcBef>
                  <a:spcPts val="0"/>
                </a:spcBef>
                <a:spcAft>
                  <a:spcPts val="0"/>
                </a:spcAft>
                <a:buClrTx/>
                <a:buSzTx/>
                <a:buFontTx/>
                <a:buNone/>
                <a:tabLst/>
                <a:defRPr/>
              </a:pPr>
              <a:r>
                <a:rPr kumimoji="0" lang="en-US" sz="2400" b="1" i="0" strike="noStrike" kern="0" cap="none" spc="0" normalizeH="0" baseline="0" noProof="0" dirty="0">
                  <a:ln>
                    <a:noFill/>
                  </a:ln>
                  <a:solidFill>
                    <a:srgbClr val="FFFFFF"/>
                  </a:solidFill>
                  <a:effectLst/>
                  <a:uLnTx/>
                  <a:uFillTx/>
                  <a:latin typeface="KPMG Bold"/>
                </a:rPr>
                <a:t>Geographical footprint: Base commission (FY24)</a:t>
              </a:r>
            </a:p>
          </p:txBody>
        </p:sp>
        <p:sp>
          <p:nvSpPr>
            <p:cNvPr id="170" name="Rectangle 169">
              <a:extLst>
                <a:ext uri="{FF2B5EF4-FFF2-40B4-BE49-F238E27FC236}">
                  <a16:creationId xmlns:a16="http://schemas.microsoft.com/office/drawing/2014/main" id="{25C3BE72-2AE2-22C4-72B7-FDFE3245BC70}"/>
                </a:ext>
              </a:extLst>
            </p:cNvPr>
            <p:cNvSpPr/>
            <p:nvPr/>
          </p:nvSpPr>
          <p:spPr bwMode="white">
            <a:xfrm>
              <a:off x="6501154" y="1933159"/>
              <a:ext cx="1000940" cy="453137"/>
            </a:xfrm>
            <a:prstGeom prst="rect">
              <a:avLst/>
            </a:prstGeom>
            <a:noFill/>
            <a:ln w="12700" cap="flat" cmpd="sng" algn="ctr">
              <a:noFill/>
              <a:prstDash val="solid"/>
              <a:miter lim="800000"/>
            </a:ln>
            <a:effectLst/>
          </p:spPr>
          <p:txBody>
            <a:bodyPr wrap="square" lIns="0" tIns="0" rIns="0" bIns="0" rtlCol="0" anchor="t" anchorCtr="0">
              <a:spAutoFit/>
            </a:bodyPr>
            <a:lstStyle/>
            <a:p>
              <a:pPr marL="0" marR="0" lvl="0" indent="0" defTabSz="914400" eaLnBrk="1" fontAlgn="auto" latinLnBrk="0" hangingPunct="1">
                <a:lnSpc>
                  <a:spcPct val="70000"/>
                </a:lnSpc>
                <a:spcBef>
                  <a:spcPts val="0"/>
                </a:spcBef>
                <a:spcAft>
                  <a:spcPts val="300"/>
                </a:spcAft>
                <a:buClrTx/>
                <a:buSzTx/>
                <a:buFontTx/>
                <a:buNone/>
                <a:tabLst/>
                <a:defRPr/>
              </a:pPr>
              <a:r>
                <a:rPr kumimoji="0" lang="en-US" sz="2400" b="0" i="0" strike="noStrike" kern="0" cap="none" spc="0" normalizeH="0" baseline="0" noProof="0" dirty="0">
                  <a:ln>
                    <a:noFill/>
                  </a:ln>
                  <a:solidFill>
                    <a:srgbClr val="FFFFFF"/>
                  </a:solidFill>
                  <a:effectLst/>
                  <a:uLnTx/>
                  <a:uFillTx/>
                  <a:latin typeface="KPMG Bold"/>
                  <a:ea typeface="+mn-ea"/>
                  <a:cs typeface="+mn-cs"/>
                </a:rPr>
                <a:t>$</a:t>
              </a:r>
              <a:r>
                <a:rPr lang="en-US" sz="2400" kern="0" dirty="0">
                  <a:solidFill>
                    <a:srgbClr val="FFFFFF"/>
                  </a:solidFill>
                  <a:latin typeface="KPMG Bold"/>
                </a:rPr>
                <a:t>6.8</a:t>
              </a:r>
              <a:r>
                <a:rPr kumimoji="0" lang="en-US" sz="2400" b="0" i="0" strike="noStrike" kern="0" cap="none" spc="0" normalizeH="0" baseline="0" noProof="0" dirty="0">
                  <a:ln>
                    <a:noFill/>
                  </a:ln>
                  <a:solidFill>
                    <a:srgbClr val="FFFFFF"/>
                  </a:solidFill>
                  <a:effectLst/>
                  <a:uLnTx/>
                  <a:uFillTx/>
                  <a:latin typeface="KPMG Bold"/>
                  <a:ea typeface="+mn-ea"/>
                  <a:cs typeface="+mn-cs"/>
                </a:rPr>
                <a:t>m </a:t>
              </a:r>
            </a:p>
            <a:p>
              <a:pPr marL="0" marR="0" lvl="0" indent="0" defTabSz="914400" eaLnBrk="1" fontAlgn="auto" latinLnBrk="0" hangingPunct="1">
                <a:lnSpc>
                  <a:spcPct val="110000"/>
                </a:lnSpc>
                <a:spcBef>
                  <a:spcPts val="0"/>
                </a:spcBef>
                <a:spcAft>
                  <a:spcPts val="300"/>
                </a:spcAft>
                <a:buClrTx/>
                <a:buSzTx/>
                <a:buFontTx/>
                <a:buNone/>
                <a:tabLst/>
                <a:defRPr/>
              </a:pPr>
              <a:r>
                <a:rPr kumimoji="0" lang="en-US" sz="1000" b="0" i="0" strike="noStrike" kern="0" cap="none" spc="0" normalizeH="0" baseline="0" noProof="0" dirty="0">
                  <a:ln>
                    <a:noFill/>
                  </a:ln>
                  <a:solidFill>
                    <a:srgbClr val="FFFFFF"/>
                  </a:solidFill>
                  <a:effectLst/>
                  <a:uLnTx/>
                  <a:uFillTx/>
                  <a:latin typeface="Arial"/>
                  <a:ea typeface="+mn-ea"/>
                  <a:cs typeface="+mn-cs"/>
                </a:rPr>
                <a:t>British Columbia</a:t>
              </a:r>
            </a:p>
          </p:txBody>
        </p:sp>
        <p:sp>
          <p:nvSpPr>
            <p:cNvPr id="171" name="Rectangle 170">
              <a:extLst>
                <a:ext uri="{FF2B5EF4-FFF2-40B4-BE49-F238E27FC236}">
                  <a16:creationId xmlns:a16="http://schemas.microsoft.com/office/drawing/2014/main" id="{632606F9-49E6-8984-3E19-B2D29985C024}"/>
                </a:ext>
              </a:extLst>
            </p:cNvPr>
            <p:cNvSpPr/>
            <p:nvPr/>
          </p:nvSpPr>
          <p:spPr bwMode="white">
            <a:xfrm>
              <a:off x="6472161" y="4682698"/>
              <a:ext cx="1000940" cy="453137"/>
            </a:xfrm>
            <a:prstGeom prst="rect">
              <a:avLst/>
            </a:prstGeom>
            <a:noFill/>
            <a:ln w="12700" cap="flat" cmpd="sng" algn="ctr">
              <a:noFill/>
              <a:prstDash val="solid"/>
              <a:miter lim="800000"/>
            </a:ln>
            <a:effectLst/>
          </p:spPr>
          <p:txBody>
            <a:bodyPr wrap="square" lIns="0" tIns="0" rIns="0" bIns="0" rtlCol="0" anchor="t" anchorCtr="0">
              <a:spAutoFit/>
            </a:bodyPr>
            <a:lstStyle/>
            <a:p>
              <a:pPr marL="0" marR="0" lvl="0" indent="0" defTabSz="914400" eaLnBrk="1" fontAlgn="auto" latinLnBrk="0" hangingPunct="1">
                <a:lnSpc>
                  <a:spcPct val="70000"/>
                </a:lnSpc>
                <a:spcBef>
                  <a:spcPts val="0"/>
                </a:spcBef>
                <a:spcAft>
                  <a:spcPts val="300"/>
                </a:spcAft>
                <a:buClrTx/>
                <a:buSzTx/>
                <a:buFontTx/>
                <a:buNone/>
                <a:tabLst/>
                <a:defRPr/>
              </a:pPr>
              <a:r>
                <a:rPr kumimoji="0" lang="en-US" sz="2400" b="0" i="0" strike="noStrike" kern="0" cap="none" spc="0" normalizeH="0" baseline="0" noProof="0" dirty="0">
                  <a:ln>
                    <a:noFill/>
                  </a:ln>
                  <a:solidFill>
                    <a:srgbClr val="FFFFFF"/>
                  </a:solidFill>
                  <a:effectLst/>
                  <a:uLnTx/>
                  <a:uFillTx/>
                  <a:latin typeface="KPMG Bold"/>
                  <a:ea typeface="+mn-ea"/>
                  <a:cs typeface="+mn-cs"/>
                </a:rPr>
                <a:t>$7</a:t>
              </a:r>
              <a:r>
                <a:rPr lang="en-US" sz="2400" kern="0" dirty="0">
                  <a:solidFill>
                    <a:srgbClr val="FFFFFF"/>
                  </a:solidFill>
                  <a:latin typeface="KPMG Bold"/>
                </a:rPr>
                <a:t>.1</a:t>
              </a:r>
              <a:r>
                <a:rPr kumimoji="0" lang="en-US" sz="2400" b="0" i="0" strike="noStrike" kern="0" cap="none" spc="0" normalizeH="0" baseline="0" noProof="0" dirty="0">
                  <a:ln>
                    <a:noFill/>
                  </a:ln>
                  <a:solidFill>
                    <a:srgbClr val="FFFFFF"/>
                  </a:solidFill>
                  <a:effectLst/>
                  <a:uLnTx/>
                  <a:uFillTx/>
                  <a:latin typeface="KPMG Bold"/>
                  <a:ea typeface="+mn-ea"/>
                  <a:cs typeface="+mn-cs"/>
                </a:rPr>
                <a:t>m </a:t>
              </a:r>
            </a:p>
            <a:p>
              <a:pPr marL="0" marR="0" lvl="0" indent="0" defTabSz="914400" eaLnBrk="1" fontAlgn="auto" latinLnBrk="0" hangingPunct="1">
                <a:lnSpc>
                  <a:spcPct val="110000"/>
                </a:lnSpc>
                <a:spcBef>
                  <a:spcPts val="0"/>
                </a:spcBef>
                <a:spcAft>
                  <a:spcPts val="300"/>
                </a:spcAft>
                <a:buClrTx/>
                <a:buSzTx/>
                <a:buFontTx/>
                <a:buNone/>
                <a:tabLst/>
                <a:defRPr/>
              </a:pPr>
              <a:r>
                <a:rPr kumimoji="0" lang="en-US" sz="1000" b="0" i="0" strike="noStrike" kern="0" cap="none" spc="0" normalizeH="0" baseline="0" noProof="0" dirty="0">
                  <a:ln>
                    <a:noFill/>
                  </a:ln>
                  <a:solidFill>
                    <a:srgbClr val="FFFFFF"/>
                  </a:solidFill>
                  <a:effectLst/>
                  <a:uLnTx/>
                  <a:uFillTx/>
                  <a:latin typeface="Arial"/>
                  <a:ea typeface="+mn-ea"/>
                  <a:cs typeface="+mn-cs"/>
                </a:rPr>
                <a:t>Alberta </a:t>
              </a:r>
            </a:p>
          </p:txBody>
        </p:sp>
        <p:sp>
          <p:nvSpPr>
            <p:cNvPr id="172" name="Rectangle 171">
              <a:extLst>
                <a:ext uri="{FF2B5EF4-FFF2-40B4-BE49-F238E27FC236}">
                  <a16:creationId xmlns:a16="http://schemas.microsoft.com/office/drawing/2014/main" id="{BA484238-1492-4C74-AB03-0FAE7F065056}"/>
                </a:ext>
              </a:extLst>
            </p:cNvPr>
            <p:cNvSpPr>
              <a:spLocks/>
            </p:cNvSpPr>
            <p:nvPr/>
          </p:nvSpPr>
          <p:spPr bwMode="white">
            <a:xfrm>
              <a:off x="10017009" y="1918291"/>
              <a:ext cx="933397" cy="622414"/>
            </a:xfrm>
            <a:prstGeom prst="rect">
              <a:avLst/>
            </a:prstGeom>
            <a:noFill/>
            <a:ln w="12700" cap="flat" cmpd="sng" algn="ctr">
              <a:noFill/>
              <a:prstDash val="solid"/>
              <a:miter lim="800000"/>
            </a:ln>
            <a:effectLst/>
          </p:spPr>
          <p:txBody>
            <a:bodyPr wrap="square" lIns="0" tIns="0" rIns="0" bIns="0" rtlCol="0" anchor="t" anchorCtr="0">
              <a:spAutoFit/>
            </a:bodyPr>
            <a:lstStyle/>
            <a:p>
              <a:pPr marL="0" marR="0" lvl="0" indent="0" algn="r" defTabSz="914400" eaLnBrk="1" fontAlgn="auto" latinLnBrk="0" hangingPunct="1">
                <a:lnSpc>
                  <a:spcPct val="70000"/>
                </a:lnSpc>
                <a:spcBef>
                  <a:spcPts val="0"/>
                </a:spcBef>
                <a:spcAft>
                  <a:spcPts val="300"/>
                </a:spcAft>
                <a:buClrTx/>
                <a:buSzTx/>
                <a:buFontTx/>
                <a:buNone/>
                <a:tabLst/>
                <a:defRPr/>
              </a:pPr>
              <a:r>
                <a:rPr kumimoji="0" lang="en-US" sz="2400" b="0" i="0" strike="noStrike" kern="0" cap="none" spc="0" normalizeH="0" baseline="0" noProof="0" dirty="0">
                  <a:ln>
                    <a:noFill/>
                  </a:ln>
                  <a:solidFill>
                    <a:srgbClr val="FFFFFF"/>
                  </a:solidFill>
                  <a:effectLst/>
                  <a:uLnTx/>
                  <a:uFillTx/>
                  <a:latin typeface="KPMG Bold"/>
                  <a:ea typeface="+mn-ea"/>
                  <a:cs typeface="+mn-cs"/>
                </a:rPr>
                <a:t>$17.0m </a:t>
              </a:r>
            </a:p>
            <a:p>
              <a:pPr marL="0" marR="0" lvl="0" indent="0" algn="r" defTabSz="914400" eaLnBrk="1" fontAlgn="auto" latinLnBrk="0" hangingPunct="1">
                <a:lnSpc>
                  <a:spcPct val="110000"/>
                </a:lnSpc>
                <a:spcBef>
                  <a:spcPts val="0"/>
                </a:spcBef>
                <a:spcAft>
                  <a:spcPts val="300"/>
                </a:spcAft>
                <a:buClrTx/>
                <a:buSzTx/>
                <a:buFontTx/>
                <a:buNone/>
                <a:tabLst/>
                <a:defRPr/>
              </a:pPr>
              <a:r>
                <a:rPr kumimoji="0" lang="en-US" sz="1000" b="0" i="0" strike="noStrike" kern="0" cap="none" spc="0" normalizeH="0" baseline="0" noProof="0" dirty="0">
                  <a:ln>
                    <a:noFill/>
                  </a:ln>
                  <a:solidFill>
                    <a:srgbClr val="FFFFFF"/>
                  </a:solidFill>
                  <a:effectLst/>
                  <a:uLnTx/>
                  <a:uFillTx/>
                  <a:latin typeface="Arial"/>
                  <a:ea typeface="+mn-ea"/>
                  <a:cs typeface="+mn-cs"/>
                </a:rPr>
                <a:t>Atlantic Provinces </a:t>
              </a:r>
            </a:p>
          </p:txBody>
        </p:sp>
        <p:sp>
          <p:nvSpPr>
            <p:cNvPr id="173" name="Rectangle 172">
              <a:extLst>
                <a:ext uri="{FF2B5EF4-FFF2-40B4-BE49-F238E27FC236}">
                  <a16:creationId xmlns:a16="http://schemas.microsoft.com/office/drawing/2014/main" id="{EF50588B-6699-69ED-6B6B-841005C5223E}"/>
                </a:ext>
              </a:extLst>
            </p:cNvPr>
            <p:cNvSpPr>
              <a:spLocks/>
            </p:cNvSpPr>
            <p:nvPr/>
          </p:nvSpPr>
          <p:spPr bwMode="white">
            <a:xfrm>
              <a:off x="10021552" y="4682698"/>
              <a:ext cx="933397" cy="453137"/>
            </a:xfrm>
            <a:prstGeom prst="rect">
              <a:avLst/>
            </a:prstGeom>
            <a:noFill/>
            <a:ln w="12700" cap="flat" cmpd="sng" algn="ctr">
              <a:noFill/>
              <a:prstDash val="solid"/>
              <a:miter lim="800000"/>
            </a:ln>
            <a:effectLst/>
          </p:spPr>
          <p:txBody>
            <a:bodyPr wrap="square" lIns="0" tIns="0" rIns="0" bIns="0" rtlCol="0" anchor="t" anchorCtr="0">
              <a:spAutoFit/>
            </a:bodyPr>
            <a:lstStyle/>
            <a:p>
              <a:pPr marL="0" marR="0" lvl="0" indent="0" algn="r" defTabSz="914400" eaLnBrk="1" fontAlgn="auto" latinLnBrk="0" hangingPunct="1">
                <a:lnSpc>
                  <a:spcPct val="70000"/>
                </a:lnSpc>
                <a:spcBef>
                  <a:spcPts val="0"/>
                </a:spcBef>
                <a:spcAft>
                  <a:spcPts val="300"/>
                </a:spcAft>
                <a:buClrTx/>
                <a:buSzTx/>
                <a:buFontTx/>
                <a:buNone/>
                <a:tabLst/>
                <a:defRPr/>
              </a:pPr>
              <a:r>
                <a:rPr kumimoji="0" lang="en-US" sz="2400" b="0" i="0" strike="noStrike" kern="0" cap="none" spc="0" normalizeH="0" baseline="0" noProof="0" dirty="0">
                  <a:ln>
                    <a:noFill/>
                  </a:ln>
                  <a:solidFill>
                    <a:srgbClr val="FFFFFF"/>
                  </a:solidFill>
                  <a:effectLst/>
                  <a:uLnTx/>
                  <a:uFillTx/>
                  <a:latin typeface="KPMG Bold"/>
                  <a:ea typeface="+mn-ea"/>
                  <a:cs typeface="+mn-cs"/>
                </a:rPr>
                <a:t>$84.5m </a:t>
              </a:r>
            </a:p>
            <a:p>
              <a:pPr marL="0" marR="0" lvl="0" indent="0" algn="r" defTabSz="914400" eaLnBrk="1" fontAlgn="auto" latinLnBrk="0" hangingPunct="1">
                <a:lnSpc>
                  <a:spcPct val="110000"/>
                </a:lnSpc>
                <a:spcBef>
                  <a:spcPts val="0"/>
                </a:spcBef>
                <a:spcAft>
                  <a:spcPts val="300"/>
                </a:spcAft>
                <a:buClrTx/>
                <a:buSzTx/>
                <a:buFontTx/>
                <a:buNone/>
                <a:tabLst/>
                <a:defRPr/>
              </a:pPr>
              <a:r>
                <a:rPr kumimoji="0" lang="en-US" sz="1000" b="0" i="0" strike="noStrike" kern="0" cap="none" spc="0" normalizeH="0" baseline="0" noProof="0" dirty="0">
                  <a:ln>
                    <a:noFill/>
                  </a:ln>
                  <a:solidFill>
                    <a:srgbClr val="FFFFFF"/>
                  </a:solidFill>
                  <a:effectLst/>
                  <a:uLnTx/>
                  <a:uFillTx/>
                  <a:latin typeface="Arial"/>
                  <a:ea typeface="+mn-ea"/>
                  <a:cs typeface="+mn-cs"/>
                </a:rPr>
                <a:t>Quebec </a:t>
              </a:r>
            </a:p>
          </p:txBody>
        </p:sp>
        <p:grpSp>
          <p:nvGrpSpPr>
            <p:cNvPr id="178" name="Canada">
              <a:extLst>
                <a:ext uri="{FF2B5EF4-FFF2-40B4-BE49-F238E27FC236}">
                  <a16:creationId xmlns:a16="http://schemas.microsoft.com/office/drawing/2014/main" id="{29154C39-1264-7545-CD81-667B0A122A30}"/>
                </a:ext>
              </a:extLst>
            </p:cNvPr>
            <p:cNvGrpSpPr/>
            <p:nvPr>
              <p:custDataLst>
                <p:tags r:id="rId4"/>
              </p:custDataLst>
            </p:nvPr>
          </p:nvGrpSpPr>
          <p:grpSpPr>
            <a:xfrm>
              <a:off x="7204876" y="2456093"/>
              <a:ext cx="3319494" cy="2303729"/>
              <a:chOff x="2058988" y="1423989"/>
              <a:chExt cx="5702306" cy="4597399"/>
            </a:xfrm>
          </p:grpSpPr>
          <p:sp>
            <p:nvSpPr>
              <p:cNvPr id="179" name="Freeform 4">
                <a:extLst>
                  <a:ext uri="{FF2B5EF4-FFF2-40B4-BE49-F238E27FC236}">
                    <a16:creationId xmlns:a16="http://schemas.microsoft.com/office/drawing/2014/main" id="{A052AB8D-656D-A95E-839E-2B3F85FAC047}"/>
                  </a:ext>
                </a:extLst>
              </p:cNvPr>
              <p:cNvSpPr>
                <a:spLocks/>
              </p:cNvSpPr>
              <p:nvPr/>
            </p:nvSpPr>
            <p:spPr bwMode="auto">
              <a:xfrm>
                <a:off x="2938463" y="4025900"/>
                <a:ext cx="755650" cy="1381125"/>
              </a:xfrm>
              <a:custGeom>
                <a:avLst/>
                <a:gdLst>
                  <a:gd name="T0" fmla="*/ 605162 w 20000"/>
                  <a:gd name="T1" fmla="*/ 1381125 h 20000"/>
                  <a:gd name="T2" fmla="*/ 742955 w 20000"/>
                  <a:gd name="T3" fmla="*/ 232443 h 20000"/>
                  <a:gd name="T4" fmla="*/ 746771 w 20000"/>
                  <a:gd name="T5" fmla="*/ 191769 h 20000"/>
                  <a:gd name="T6" fmla="*/ 755650 w 20000"/>
                  <a:gd name="T7" fmla="*/ 113667 h 20000"/>
                  <a:gd name="T8" fmla="*/ 191784 w 20000"/>
                  <a:gd name="T9" fmla="*/ 0 h 20000"/>
                  <a:gd name="T10" fmla="*/ 1285 w 20000"/>
                  <a:gd name="T11" fmla="*/ 701059 h 20000"/>
                  <a:gd name="T12" fmla="*/ 11448 w 20000"/>
                  <a:gd name="T13" fmla="*/ 723917 h 20000"/>
                  <a:gd name="T14" fmla="*/ 0 w 20000"/>
                  <a:gd name="T15" fmla="*/ 731513 h 20000"/>
                  <a:gd name="T16" fmla="*/ 26674 w 20000"/>
                  <a:gd name="T17" fmla="*/ 761967 h 20000"/>
                  <a:gd name="T18" fmla="*/ 30490 w 20000"/>
                  <a:gd name="T19" fmla="*/ 779783 h 20000"/>
                  <a:gd name="T20" fmla="*/ 43185 w 20000"/>
                  <a:gd name="T21" fmla="*/ 784893 h 20000"/>
                  <a:gd name="T22" fmla="*/ 50817 w 20000"/>
                  <a:gd name="T23" fmla="*/ 779783 h 20000"/>
                  <a:gd name="T24" fmla="*/ 58412 w 20000"/>
                  <a:gd name="T25" fmla="*/ 800086 h 20000"/>
                  <a:gd name="T26" fmla="*/ 65402 w 20000"/>
                  <a:gd name="T27" fmla="*/ 823565 h 20000"/>
                  <a:gd name="T28" fmla="*/ 76850 w 20000"/>
                  <a:gd name="T29" fmla="*/ 833785 h 20000"/>
                  <a:gd name="T30" fmla="*/ 76850 w 20000"/>
                  <a:gd name="T31" fmla="*/ 856643 h 20000"/>
                  <a:gd name="T32" fmla="*/ 78096 w 20000"/>
                  <a:gd name="T33" fmla="*/ 888340 h 20000"/>
                  <a:gd name="T34" fmla="*/ 95892 w 20000"/>
                  <a:gd name="T35" fmla="*/ 880743 h 20000"/>
                  <a:gd name="T36" fmla="*/ 111118 w 20000"/>
                  <a:gd name="T37" fmla="*/ 899803 h 20000"/>
                  <a:gd name="T38" fmla="*/ 99708 w 20000"/>
                  <a:gd name="T39" fmla="*/ 911197 h 20000"/>
                  <a:gd name="T40" fmla="*/ 122566 w 20000"/>
                  <a:gd name="T41" fmla="*/ 926459 h 20000"/>
                  <a:gd name="T42" fmla="*/ 133977 w 20000"/>
                  <a:gd name="T43" fmla="*/ 925216 h 20000"/>
                  <a:gd name="T44" fmla="*/ 135261 w 20000"/>
                  <a:gd name="T45" fmla="*/ 949938 h 20000"/>
                  <a:gd name="T46" fmla="*/ 149241 w 20000"/>
                  <a:gd name="T47" fmla="*/ 984259 h 20000"/>
                  <a:gd name="T48" fmla="*/ 169530 w 20000"/>
                  <a:gd name="T49" fmla="*/ 980461 h 20000"/>
                  <a:gd name="T50" fmla="*/ 200663 w 20000"/>
                  <a:gd name="T51" fmla="*/ 1056630 h 20000"/>
                  <a:gd name="T52" fmla="*/ 204479 w 20000"/>
                  <a:gd name="T53" fmla="*/ 1071270 h 20000"/>
                  <a:gd name="T54" fmla="*/ 219705 w 20000"/>
                  <a:gd name="T55" fmla="*/ 1080109 h 20000"/>
                  <a:gd name="T56" fmla="*/ 226053 w 20000"/>
                  <a:gd name="T57" fmla="*/ 1097925 h 20000"/>
                  <a:gd name="T58" fmla="*/ 222237 w 20000"/>
                  <a:gd name="T59" fmla="*/ 1102966 h 20000"/>
                  <a:gd name="T60" fmla="*/ 241317 w 20000"/>
                  <a:gd name="T61" fmla="*/ 1129691 h 20000"/>
                  <a:gd name="T62" fmla="*/ 245095 w 20000"/>
                  <a:gd name="T63" fmla="*/ 1141085 h 20000"/>
                  <a:gd name="T64" fmla="*/ 257828 w 20000"/>
                  <a:gd name="T65" fmla="*/ 1144884 h 20000"/>
                  <a:gd name="T66" fmla="*/ 269238 w 20000"/>
                  <a:gd name="T67" fmla="*/ 1177892 h 20000"/>
                  <a:gd name="T68" fmla="*/ 261606 w 20000"/>
                  <a:gd name="T69" fmla="*/ 1252197 h 20000"/>
                  <a:gd name="T70" fmla="*/ 267953 w 20000"/>
                  <a:gd name="T71" fmla="*/ 1263660 h 20000"/>
                  <a:gd name="T72" fmla="*/ 267953 w 20000"/>
                  <a:gd name="T73" fmla="*/ 1285206 h 20000"/>
                  <a:gd name="T74" fmla="*/ 280686 w 20000"/>
                  <a:gd name="T75" fmla="*/ 1309376 h 20000"/>
                  <a:gd name="T76" fmla="*/ 292097 w 20000"/>
                  <a:gd name="T77" fmla="*/ 1332855 h 20000"/>
                  <a:gd name="T78" fmla="*/ 294628 w 20000"/>
                  <a:gd name="T79" fmla="*/ 1332855 h 20000"/>
                  <a:gd name="T80" fmla="*/ 436237 w 20000"/>
                  <a:gd name="T81" fmla="*/ 1358267 h 20000"/>
                  <a:gd name="T82" fmla="*/ 505454 w 20000"/>
                  <a:gd name="T83" fmla="*/ 1367176 h 20000"/>
                  <a:gd name="T84" fmla="*/ 544824 w 20000"/>
                  <a:gd name="T85" fmla="*/ 1373529 h 20000"/>
                  <a:gd name="T86" fmla="*/ 605162 w 20000"/>
                  <a:gd name="T87" fmla="*/ 1381125 h 200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00"/>
                  <a:gd name="T133" fmla="*/ 0 h 20000"/>
                  <a:gd name="T134" fmla="*/ 20000 w 20000"/>
                  <a:gd name="T135" fmla="*/ 20000 h 2000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00" h="20000">
                    <a:moveTo>
                      <a:pt x="16017" y="20000"/>
                    </a:moveTo>
                    <a:lnTo>
                      <a:pt x="19664" y="3366"/>
                    </a:lnTo>
                    <a:lnTo>
                      <a:pt x="19765" y="2777"/>
                    </a:lnTo>
                    <a:lnTo>
                      <a:pt x="20000" y="1646"/>
                    </a:lnTo>
                    <a:lnTo>
                      <a:pt x="5076" y="0"/>
                    </a:lnTo>
                    <a:lnTo>
                      <a:pt x="34" y="10152"/>
                    </a:lnTo>
                    <a:lnTo>
                      <a:pt x="303" y="10483"/>
                    </a:lnTo>
                    <a:lnTo>
                      <a:pt x="0" y="10593"/>
                    </a:lnTo>
                    <a:lnTo>
                      <a:pt x="706" y="11034"/>
                    </a:lnTo>
                    <a:lnTo>
                      <a:pt x="807" y="11292"/>
                    </a:lnTo>
                    <a:lnTo>
                      <a:pt x="1143" y="11366"/>
                    </a:lnTo>
                    <a:lnTo>
                      <a:pt x="1345" y="11292"/>
                    </a:lnTo>
                    <a:lnTo>
                      <a:pt x="1546" y="11586"/>
                    </a:lnTo>
                    <a:lnTo>
                      <a:pt x="1731" y="11926"/>
                    </a:lnTo>
                    <a:lnTo>
                      <a:pt x="2034" y="12074"/>
                    </a:lnTo>
                    <a:lnTo>
                      <a:pt x="2034" y="12405"/>
                    </a:lnTo>
                    <a:lnTo>
                      <a:pt x="2067" y="12864"/>
                    </a:lnTo>
                    <a:lnTo>
                      <a:pt x="2538" y="12754"/>
                    </a:lnTo>
                    <a:lnTo>
                      <a:pt x="2941" y="13030"/>
                    </a:lnTo>
                    <a:lnTo>
                      <a:pt x="2639" y="13195"/>
                    </a:lnTo>
                    <a:lnTo>
                      <a:pt x="3244" y="13416"/>
                    </a:lnTo>
                    <a:lnTo>
                      <a:pt x="3546" y="13398"/>
                    </a:lnTo>
                    <a:lnTo>
                      <a:pt x="3580" y="13756"/>
                    </a:lnTo>
                    <a:lnTo>
                      <a:pt x="3950" y="14253"/>
                    </a:lnTo>
                    <a:lnTo>
                      <a:pt x="4487" y="14198"/>
                    </a:lnTo>
                    <a:lnTo>
                      <a:pt x="5311" y="15301"/>
                    </a:lnTo>
                    <a:lnTo>
                      <a:pt x="5412" y="15513"/>
                    </a:lnTo>
                    <a:lnTo>
                      <a:pt x="5815" y="15641"/>
                    </a:lnTo>
                    <a:lnTo>
                      <a:pt x="5983" y="15899"/>
                    </a:lnTo>
                    <a:lnTo>
                      <a:pt x="5882" y="15972"/>
                    </a:lnTo>
                    <a:lnTo>
                      <a:pt x="6387" y="16359"/>
                    </a:lnTo>
                    <a:lnTo>
                      <a:pt x="6487" y="16524"/>
                    </a:lnTo>
                    <a:lnTo>
                      <a:pt x="6824" y="16579"/>
                    </a:lnTo>
                    <a:lnTo>
                      <a:pt x="7126" y="17057"/>
                    </a:lnTo>
                    <a:lnTo>
                      <a:pt x="6924" y="18133"/>
                    </a:lnTo>
                    <a:lnTo>
                      <a:pt x="7092" y="18299"/>
                    </a:lnTo>
                    <a:lnTo>
                      <a:pt x="7092" y="18611"/>
                    </a:lnTo>
                    <a:lnTo>
                      <a:pt x="7429" y="18961"/>
                    </a:lnTo>
                    <a:lnTo>
                      <a:pt x="7731" y="19301"/>
                    </a:lnTo>
                    <a:lnTo>
                      <a:pt x="7798" y="19301"/>
                    </a:lnTo>
                    <a:lnTo>
                      <a:pt x="11546" y="19669"/>
                    </a:lnTo>
                    <a:lnTo>
                      <a:pt x="13378" y="19798"/>
                    </a:lnTo>
                    <a:lnTo>
                      <a:pt x="14420" y="19890"/>
                    </a:lnTo>
                    <a:lnTo>
                      <a:pt x="16017" y="20000"/>
                    </a:lnTo>
                    <a:close/>
                  </a:path>
                </a:pathLst>
              </a:custGeom>
              <a:solidFill>
                <a:schemeClr val="accent5">
                  <a:lumMod val="60000"/>
                  <a:lumOff val="4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180" name="Group 179">
                <a:extLst>
                  <a:ext uri="{FF2B5EF4-FFF2-40B4-BE49-F238E27FC236}">
                    <a16:creationId xmlns:a16="http://schemas.microsoft.com/office/drawing/2014/main" id="{5AC89C1D-6F99-03C8-775F-1C07BA078328}"/>
                  </a:ext>
                </a:extLst>
              </p:cNvPr>
              <p:cNvGrpSpPr>
                <a:grpSpLocks/>
              </p:cNvGrpSpPr>
              <p:nvPr/>
            </p:nvGrpSpPr>
            <p:grpSpPr bwMode="auto">
              <a:xfrm>
                <a:off x="2100263" y="3587750"/>
                <a:ext cx="1131887" cy="1770063"/>
                <a:chOff x="1323" y="2260"/>
                <a:chExt cx="713" cy="1115"/>
              </a:xfrm>
            </p:grpSpPr>
            <p:sp>
              <p:nvSpPr>
                <p:cNvPr id="259" name="Freeform 6">
                  <a:extLst>
                    <a:ext uri="{FF2B5EF4-FFF2-40B4-BE49-F238E27FC236}">
                      <a16:creationId xmlns:a16="http://schemas.microsoft.com/office/drawing/2014/main" id="{ED78EDCF-4A8E-411F-349F-33F2BB316A29}"/>
                    </a:ext>
                  </a:extLst>
                </p:cNvPr>
                <p:cNvSpPr>
                  <a:spLocks/>
                </p:cNvSpPr>
                <p:nvPr/>
              </p:nvSpPr>
              <p:spPr bwMode="auto">
                <a:xfrm>
                  <a:off x="1343" y="2260"/>
                  <a:ext cx="693" cy="1115"/>
                </a:xfrm>
                <a:custGeom>
                  <a:avLst/>
                  <a:gdLst>
                    <a:gd name="T0" fmla="*/ 601 w 20000"/>
                    <a:gd name="T1" fmla="*/ 1097 h 20000"/>
                    <a:gd name="T2" fmla="*/ 693 w 20000"/>
                    <a:gd name="T3" fmla="*/ 1115 h 20000"/>
                    <a:gd name="T4" fmla="*/ 678 w 20000"/>
                    <a:gd name="T5" fmla="*/ 1085 h 20000"/>
                    <a:gd name="T6" fmla="*/ 674 w 20000"/>
                    <a:gd name="T7" fmla="*/ 1064 h 20000"/>
                    <a:gd name="T8" fmla="*/ 671 w 20000"/>
                    <a:gd name="T9" fmla="*/ 997 h 20000"/>
                    <a:gd name="T10" fmla="*/ 661 w 20000"/>
                    <a:gd name="T11" fmla="*/ 987 h 20000"/>
                    <a:gd name="T12" fmla="*/ 651 w 20000"/>
                    <a:gd name="T13" fmla="*/ 967 h 20000"/>
                    <a:gd name="T14" fmla="*/ 637 w 20000"/>
                    <a:gd name="T15" fmla="*/ 950 h 20000"/>
                    <a:gd name="T16" fmla="*/ 616 w 20000"/>
                    <a:gd name="T17" fmla="*/ 893 h 20000"/>
                    <a:gd name="T18" fmla="*/ 594 w 20000"/>
                    <a:gd name="T19" fmla="*/ 874 h 20000"/>
                    <a:gd name="T20" fmla="*/ 586 w 20000"/>
                    <a:gd name="T21" fmla="*/ 860 h 20000"/>
                    <a:gd name="T22" fmla="*/ 579 w 20000"/>
                    <a:gd name="T23" fmla="*/ 842 h 20000"/>
                    <a:gd name="T24" fmla="*/ 558 w 20000"/>
                    <a:gd name="T25" fmla="*/ 835 h 20000"/>
                    <a:gd name="T26" fmla="*/ 557 w 20000"/>
                    <a:gd name="T27" fmla="*/ 801 h 20000"/>
                    <a:gd name="T28" fmla="*/ 546 w 20000"/>
                    <a:gd name="T29" fmla="*/ 780 h 20000"/>
                    <a:gd name="T30" fmla="*/ 536 w 20000"/>
                    <a:gd name="T31" fmla="*/ 770 h 20000"/>
                    <a:gd name="T32" fmla="*/ 526 w 20000"/>
                    <a:gd name="T33" fmla="*/ 756 h 20000"/>
                    <a:gd name="T34" fmla="*/ 516 w 20000"/>
                    <a:gd name="T35" fmla="*/ 732 h 20000"/>
                    <a:gd name="T36" fmla="*/ 629 w 20000"/>
                    <a:gd name="T37" fmla="*/ 276 h 20000"/>
                    <a:gd name="T38" fmla="*/ 0 w 20000"/>
                    <a:gd name="T39" fmla="*/ 0 h 20000"/>
                    <a:gd name="T40" fmla="*/ 14 w 20000"/>
                    <a:gd name="T41" fmla="*/ 76 h 20000"/>
                    <a:gd name="T42" fmla="*/ 51 w 20000"/>
                    <a:gd name="T43" fmla="*/ 95 h 20000"/>
                    <a:gd name="T44" fmla="*/ 100 w 20000"/>
                    <a:gd name="T45" fmla="*/ 77 h 20000"/>
                    <a:gd name="T46" fmla="*/ 113 w 20000"/>
                    <a:gd name="T47" fmla="*/ 148 h 20000"/>
                    <a:gd name="T48" fmla="*/ 125 w 20000"/>
                    <a:gd name="T49" fmla="*/ 205 h 20000"/>
                    <a:gd name="T50" fmla="*/ 115 w 20000"/>
                    <a:gd name="T51" fmla="*/ 311 h 20000"/>
                    <a:gd name="T52" fmla="*/ 120 w 20000"/>
                    <a:gd name="T53" fmla="*/ 352 h 20000"/>
                    <a:gd name="T54" fmla="*/ 140 w 20000"/>
                    <a:gd name="T55" fmla="*/ 387 h 20000"/>
                    <a:gd name="T56" fmla="*/ 168 w 20000"/>
                    <a:gd name="T57" fmla="*/ 413 h 20000"/>
                    <a:gd name="T58" fmla="*/ 157 w 20000"/>
                    <a:gd name="T59" fmla="*/ 433 h 20000"/>
                    <a:gd name="T60" fmla="*/ 135 w 20000"/>
                    <a:gd name="T61" fmla="*/ 480 h 20000"/>
                    <a:gd name="T62" fmla="*/ 100 w 20000"/>
                    <a:gd name="T63" fmla="*/ 519 h 20000"/>
                    <a:gd name="T64" fmla="*/ 103 w 20000"/>
                    <a:gd name="T65" fmla="*/ 535 h 20000"/>
                    <a:gd name="T66" fmla="*/ 101 w 20000"/>
                    <a:gd name="T67" fmla="*/ 557 h 20000"/>
                    <a:gd name="T68" fmla="*/ 133 w 20000"/>
                    <a:gd name="T69" fmla="*/ 618 h 20000"/>
                    <a:gd name="T70" fmla="*/ 137 w 20000"/>
                    <a:gd name="T71" fmla="*/ 658 h 20000"/>
                    <a:gd name="T72" fmla="*/ 139 w 20000"/>
                    <a:gd name="T73" fmla="*/ 690 h 20000"/>
                    <a:gd name="T74" fmla="*/ 133 w 20000"/>
                    <a:gd name="T75" fmla="*/ 734 h 20000"/>
                    <a:gd name="T76" fmla="*/ 127 w 20000"/>
                    <a:gd name="T77" fmla="*/ 758 h 20000"/>
                    <a:gd name="T78" fmla="*/ 119 w 20000"/>
                    <a:gd name="T79" fmla="*/ 780 h 20000"/>
                    <a:gd name="T80" fmla="*/ 125 w 20000"/>
                    <a:gd name="T81" fmla="*/ 799 h 20000"/>
                    <a:gd name="T82" fmla="*/ 167 w 20000"/>
                    <a:gd name="T83" fmla="*/ 854 h 20000"/>
                    <a:gd name="T84" fmla="*/ 187 w 20000"/>
                    <a:gd name="T85" fmla="*/ 868 h 20000"/>
                    <a:gd name="T86" fmla="*/ 214 w 20000"/>
                    <a:gd name="T87" fmla="*/ 880 h 20000"/>
                    <a:gd name="T88" fmla="*/ 227 w 20000"/>
                    <a:gd name="T89" fmla="*/ 891 h 20000"/>
                    <a:gd name="T90" fmla="*/ 217 w 20000"/>
                    <a:gd name="T91" fmla="*/ 910 h 20000"/>
                    <a:gd name="T92" fmla="*/ 251 w 20000"/>
                    <a:gd name="T93" fmla="*/ 939 h 20000"/>
                    <a:gd name="T94" fmla="*/ 244 w 20000"/>
                    <a:gd name="T95" fmla="*/ 960 h 20000"/>
                    <a:gd name="T96" fmla="*/ 270 w 20000"/>
                    <a:gd name="T97" fmla="*/ 986 h 20000"/>
                    <a:gd name="T98" fmla="*/ 270 w 20000"/>
                    <a:gd name="T99" fmla="*/ 1001 h 20000"/>
                    <a:gd name="T100" fmla="*/ 280 w 20000"/>
                    <a:gd name="T101" fmla="*/ 1011 h 20000"/>
                    <a:gd name="T102" fmla="*/ 374 w 20000"/>
                    <a:gd name="T103" fmla="*/ 1039 h 20000"/>
                    <a:gd name="T104" fmla="*/ 499 w 20000"/>
                    <a:gd name="T105" fmla="*/ 1073 h 20000"/>
                    <a:gd name="T106" fmla="*/ 553 w 20000"/>
                    <a:gd name="T107" fmla="*/ 1086 h 200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000"/>
                    <a:gd name="T163" fmla="*/ 0 h 20000"/>
                    <a:gd name="T164" fmla="*/ 20000 w 20000"/>
                    <a:gd name="T165" fmla="*/ 20000 h 200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000" h="20000">
                      <a:moveTo>
                        <a:pt x="15956" y="19484"/>
                      </a:moveTo>
                      <a:lnTo>
                        <a:pt x="17331" y="19684"/>
                      </a:lnTo>
                      <a:lnTo>
                        <a:pt x="19145" y="19900"/>
                      </a:lnTo>
                      <a:lnTo>
                        <a:pt x="20000" y="20000"/>
                      </a:lnTo>
                      <a:lnTo>
                        <a:pt x="19792" y="19742"/>
                      </a:lnTo>
                      <a:lnTo>
                        <a:pt x="19561" y="19469"/>
                      </a:lnTo>
                      <a:lnTo>
                        <a:pt x="19561" y="19218"/>
                      </a:lnTo>
                      <a:lnTo>
                        <a:pt x="19445" y="19089"/>
                      </a:lnTo>
                      <a:lnTo>
                        <a:pt x="19584" y="18257"/>
                      </a:lnTo>
                      <a:lnTo>
                        <a:pt x="19376" y="17877"/>
                      </a:lnTo>
                      <a:lnTo>
                        <a:pt x="19145" y="17834"/>
                      </a:lnTo>
                      <a:lnTo>
                        <a:pt x="19076" y="17705"/>
                      </a:lnTo>
                      <a:lnTo>
                        <a:pt x="18718" y="17404"/>
                      </a:lnTo>
                      <a:lnTo>
                        <a:pt x="18787" y="17347"/>
                      </a:lnTo>
                      <a:lnTo>
                        <a:pt x="18671" y="17146"/>
                      </a:lnTo>
                      <a:lnTo>
                        <a:pt x="18394" y="17046"/>
                      </a:lnTo>
                      <a:lnTo>
                        <a:pt x="18325" y="16888"/>
                      </a:lnTo>
                      <a:lnTo>
                        <a:pt x="17770" y="16020"/>
                      </a:lnTo>
                      <a:lnTo>
                        <a:pt x="17400" y="16063"/>
                      </a:lnTo>
                      <a:lnTo>
                        <a:pt x="17146" y="15676"/>
                      </a:lnTo>
                      <a:lnTo>
                        <a:pt x="17123" y="15403"/>
                      </a:lnTo>
                      <a:lnTo>
                        <a:pt x="16915" y="15418"/>
                      </a:lnTo>
                      <a:lnTo>
                        <a:pt x="16488" y="15238"/>
                      </a:lnTo>
                      <a:lnTo>
                        <a:pt x="16707" y="15109"/>
                      </a:lnTo>
                      <a:lnTo>
                        <a:pt x="16418" y="14894"/>
                      </a:lnTo>
                      <a:lnTo>
                        <a:pt x="16095" y="14980"/>
                      </a:lnTo>
                      <a:lnTo>
                        <a:pt x="16072" y="14622"/>
                      </a:lnTo>
                      <a:lnTo>
                        <a:pt x="16072" y="14364"/>
                      </a:lnTo>
                      <a:lnTo>
                        <a:pt x="15864" y="14249"/>
                      </a:lnTo>
                      <a:lnTo>
                        <a:pt x="15748" y="13984"/>
                      </a:lnTo>
                      <a:lnTo>
                        <a:pt x="15609" y="13754"/>
                      </a:lnTo>
                      <a:lnTo>
                        <a:pt x="15471" y="13811"/>
                      </a:lnTo>
                      <a:lnTo>
                        <a:pt x="15240" y="13754"/>
                      </a:lnTo>
                      <a:lnTo>
                        <a:pt x="15170" y="13553"/>
                      </a:lnTo>
                      <a:lnTo>
                        <a:pt x="14685" y="13209"/>
                      </a:lnTo>
                      <a:lnTo>
                        <a:pt x="14893" y="13123"/>
                      </a:lnTo>
                      <a:lnTo>
                        <a:pt x="14708" y="12865"/>
                      </a:lnTo>
                      <a:lnTo>
                        <a:pt x="18163" y="4948"/>
                      </a:lnTo>
                      <a:lnTo>
                        <a:pt x="14188" y="4166"/>
                      </a:lnTo>
                      <a:lnTo>
                        <a:pt x="0" y="0"/>
                      </a:lnTo>
                      <a:lnTo>
                        <a:pt x="0" y="43"/>
                      </a:lnTo>
                      <a:lnTo>
                        <a:pt x="416" y="1355"/>
                      </a:lnTo>
                      <a:lnTo>
                        <a:pt x="185" y="1786"/>
                      </a:lnTo>
                      <a:lnTo>
                        <a:pt x="1467" y="1700"/>
                      </a:lnTo>
                      <a:lnTo>
                        <a:pt x="1999" y="1470"/>
                      </a:lnTo>
                      <a:lnTo>
                        <a:pt x="2900" y="1384"/>
                      </a:lnTo>
                      <a:lnTo>
                        <a:pt x="2923" y="2180"/>
                      </a:lnTo>
                      <a:lnTo>
                        <a:pt x="3247" y="2653"/>
                      </a:lnTo>
                      <a:lnTo>
                        <a:pt x="3177" y="2868"/>
                      </a:lnTo>
                      <a:lnTo>
                        <a:pt x="3605" y="3679"/>
                      </a:lnTo>
                      <a:lnTo>
                        <a:pt x="3559" y="5464"/>
                      </a:lnTo>
                      <a:lnTo>
                        <a:pt x="3316" y="5579"/>
                      </a:lnTo>
                      <a:lnTo>
                        <a:pt x="3397" y="5895"/>
                      </a:lnTo>
                      <a:lnTo>
                        <a:pt x="3466" y="6318"/>
                      </a:lnTo>
                      <a:lnTo>
                        <a:pt x="3697" y="6375"/>
                      </a:lnTo>
                      <a:lnTo>
                        <a:pt x="4044" y="6934"/>
                      </a:lnTo>
                      <a:lnTo>
                        <a:pt x="4529" y="7264"/>
                      </a:lnTo>
                      <a:lnTo>
                        <a:pt x="4853" y="7401"/>
                      </a:lnTo>
                      <a:lnTo>
                        <a:pt x="4853" y="7573"/>
                      </a:lnTo>
                      <a:lnTo>
                        <a:pt x="4529" y="7759"/>
                      </a:lnTo>
                      <a:lnTo>
                        <a:pt x="4252" y="8404"/>
                      </a:lnTo>
                      <a:lnTo>
                        <a:pt x="3882" y="8605"/>
                      </a:lnTo>
                      <a:lnTo>
                        <a:pt x="3039" y="8914"/>
                      </a:lnTo>
                      <a:lnTo>
                        <a:pt x="2900" y="9315"/>
                      </a:lnTo>
                      <a:lnTo>
                        <a:pt x="2992" y="9444"/>
                      </a:lnTo>
                      <a:lnTo>
                        <a:pt x="2969" y="9602"/>
                      </a:lnTo>
                      <a:lnTo>
                        <a:pt x="3108" y="9731"/>
                      </a:lnTo>
                      <a:lnTo>
                        <a:pt x="2923" y="9989"/>
                      </a:lnTo>
                      <a:lnTo>
                        <a:pt x="3420" y="10914"/>
                      </a:lnTo>
                      <a:lnTo>
                        <a:pt x="3836" y="11086"/>
                      </a:lnTo>
                      <a:lnTo>
                        <a:pt x="4021" y="11352"/>
                      </a:lnTo>
                      <a:lnTo>
                        <a:pt x="3951" y="11811"/>
                      </a:lnTo>
                      <a:lnTo>
                        <a:pt x="3605" y="12556"/>
                      </a:lnTo>
                      <a:lnTo>
                        <a:pt x="4021" y="12384"/>
                      </a:lnTo>
                      <a:lnTo>
                        <a:pt x="4090" y="12779"/>
                      </a:lnTo>
                      <a:lnTo>
                        <a:pt x="3836" y="13166"/>
                      </a:lnTo>
                      <a:lnTo>
                        <a:pt x="3697" y="13467"/>
                      </a:lnTo>
                      <a:lnTo>
                        <a:pt x="3674" y="13596"/>
                      </a:lnTo>
                      <a:lnTo>
                        <a:pt x="3559" y="13811"/>
                      </a:lnTo>
                      <a:lnTo>
                        <a:pt x="3420" y="13984"/>
                      </a:lnTo>
                      <a:lnTo>
                        <a:pt x="3628" y="14234"/>
                      </a:lnTo>
                      <a:lnTo>
                        <a:pt x="3605" y="14335"/>
                      </a:lnTo>
                      <a:lnTo>
                        <a:pt x="4021" y="14708"/>
                      </a:lnTo>
                      <a:lnTo>
                        <a:pt x="4806" y="15310"/>
                      </a:lnTo>
                      <a:lnTo>
                        <a:pt x="5338" y="15461"/>
                      </a:lnTo>
                      <a:lnTo>
                        <a:pt x="5407" y="15575"/>
                      </a:lnTo>
                      <a:lnTo>
                        <a:pt x="5927" y="15633"/>
                      </a:lnTo>
                      <a:lnTo>
                        <a:pt x="6181" y="15791"/>
                      </a:lnTo>
                      <a:lnTo>
                        <a:pt x="6135" y="15877"/>
                      </a:lnTo>
                      <a:lnTo>
                        <a:pt x="6551" y="15977"/>
                      </a:lnTo>
                      <a:lnTo>
                        <a:pt x="6690" y="16135"/>
                      </a:lnTo>
                      <a:lnTo>
                        <a:pt x="6274" y="16321"/>
                      </a:lnTo>
                      <a:lnTo>
                        <a:pt x="6551" y="16744"/>
                      </a:lnTo>
                      <a:lnTo>
                        <a:pt x="7244" y="16845"/>
                      </a:lnTo>
                      <a:lnTo>
                        <a:pt x="7036" y="16931"/>
                      </a:lnTo>
                      <a:lnTo>
                        <a:pt x="7036" y="17218"/>
                      </a:lnTo>
                      <a:lnTo>
                        <a:pt x="7452" y="17476"/>
                      </a:lnTo>
                      <a:lnTo>
                        <a:pt x="7787" y="17691"/>
                      </a:lnTo>
                      <a:lnTo>
                        <a:pt x="7787" y="17791"/>
                      </a:lnTo>
                      <a:lnTo>
                        <a:pt x="7787" y="17949"/>
                      </a:lnTo>
                      <a:lnTo>
                        <a:pt x="7811" y="18042"/>
                      </a:lnTo>
                      <a:lnTo>
                        <a:pt x="8088" y="18128"/>
                      </a:lnTo>
                      <a:lnTo>
                        <a:pt x="8273" y="18171"/>
                      </a:lnTo>
                      <a:lnTo>
                        <a:pt x="10803" y="18645"/>
                      </a:lnTo>
                      <a:lnTo>
                        <a:pt x="13518" y="19118"/>
                      </a:lnTo>
                      <a:lnTo>
                        <a:pt x="14396" y="19247"/>
                      </a:lnTo>
                      <a:lnTo>
                        <a:pt x="15448" y="19398"/>
                      </a:lnTo>
                      <a:lnTo>
                        <a:pt x="15956" y="19484"/>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0" name="Freeform 7">
                  <a:extLst>
                    <a:ext uri="{FF2B5EF4-FFF2-40B4-BE49-F238E27FC236}">
                      <a16:creationId xmlns:a16="http://schemas.microsoft.com/office/drawing/2014/main" id="{8AACB196-567F-6405-AF95-5E058C9C55BC}"/>
                    </a:ext>
                  </a:extLst>
                </p:cNvPr>
                <p:cNvSpPr>
                  <a:spLocks/>
                </p:cNvSpPr>
                <p:nvPr/>
              </p:nvSpPr>
              <p:spPr bwMode="auto">
                <a:xfrm>
                  <a:off x="1423" y="3059"/>
                  <a:ext cx="170" cy="248"/>
                </a:xfrm>
                <a:custGeom>
                  <a:avLst/>
                  <a:gdLst>
                    <a:gd name="T0" fmla="*/ 115 w 20000"/>
                    <a:gd name="T1" fmla="*/ 94 h 20000"/>
                    <a:gd name="T2" fmla="*/ 125 w 20000"/>
                    <a:gd name="T3" fmla="*/ 130 h 20000"/>
                    <a:gd name="T4" fmla="*/ 122 w 20000"/>
                    <a:gd name="T5" fmla="*/ 134 h 20000"/>
                    <a:gd name="T6" fmla="*/ 124 w 20000"/>
                    <a:gd name="T7" fmla="*/ 150 h 20000"/>
                    <a:gd name="T8" fmla="*/ 149 w 20000"/>
                    <a:gd name="T9" fmla="*/ 176 h 20000"/>
                    <a:gd name="T10" fmla="*/ 160 w 20000"/>
                    <a:gd name="T11" fmla="*/ 191 h 20000"/>
                    <a:gd name="T12" fmla="*/ 163 w 20000"/>
                    <a:gd name="T13" fmla="*/ 230 h 20000"/>
                    <a:gd name="T14" fmla="*/ 166 w 20000"/>
                    <a:gd name="T15" fmla="*/ 225 h 20000"/>
                    <a:gd name="T16" fmla="*/ 170 w 20000"/>
                    <a:gd name="T17" fmla="*/ 243 h 20000"/>
                    <a:gd name="T18" fmla="*/ 164 w 20000"/>
                    <a:gd name="T19" fmla="*/ 244 h 20000"/>
                    <a:gd name="T20" fmla="*/ 156 w 20000"/>
                    <a:gd name="T21" fmla="*/ 248 h 20000"/>
                    <a:gd name="T22" fmla="*/ 144 w 20000"/>
                    <a:gd name="T23" fmla="*/ 242 h 20000"/>
                    <a:gd name="T24" fmla="*/ 91 w 20000"/>
                    <a:gd name="T25" fmla="*/ 190 h 20000"/>
                    <a:gd name="T26" fmla="*/ 79 w 20000"/>
                    <a:gd name="T27" fmla="*/ 176 h 20000"/>
                    <a:gd name="T28" fmla="*/ 65 w 20000"/>
                    <a:gd name="T29" fmla="*/ 152 h 20000"/>
                    <a:gd name="T30" fmla="*/ 65 w 20000"/>
                    <a:gd name="T31" fmla="*/ 146 h 20000"/>
                    <a:gd name="T32" fmla="*/ 65 w 20000"/>
                    <a:gd name="T33" fmla="*/ 133 h 20000"/>
                    <a:gd name="T34" fmla="*/ 55 w 20000"/>
                    <a:gd name="T35" fmla="*/ 133 h 20000"/>
                    <a:gd name="T36" fmla="*/ 47 w 20000"/>
                    <a:gd name="T37" fmla="*/ 127 h 20000"/>
                    <a:gd name="T38" fmla="*/ 45 w 20000"/>
                    <a:gd name="T39" fmla="*/ 121 h 20000"/>
                    <a:gd name="T40" fmla="*/ 31 w 20000"/>
                    <a:gd name="T41" fmla="*/ 86 h 20000"/>
                    <a:gd name="T42" fmla="*/ 28 w 20000"/>
                    <a:gd name="T43" fmla="*/ 75 h 20000"/>
                    <a:gd name="T44" fmla="*/ 24 w 20000"/>
                    <a:gd name="T45" fmla="*/ 69 h 20000"/>
                    <a:gd name="T46" fmla="*/ 21 w 20000"/>
                    <a:gd name="T47" fmla="*/ 60 h 20000"/>
                    <a:gd name="T48" fmla="*/ 6 w 20000"/>
                    <a:gd name="T49" fmla="*/ 57 h 20000"/>
                    <a:gd name="T50" fmla="*/ 4 w 20000"/>
                    <a:gd name="T51" fmla="*/ 52 h 20000"/>
                    <a:gd name="T52" fmla="*/ 11 w 20000"/>
                    <a:gd name="T53" fmla="*/ 48 h 20000"/>
                    <a:gd name="T54" fmla="*/ 7 w 20000"/>
                    <a:gd name="T55" fmla="*/ 36 h 20000"/>
                    <a:gd name="T56" fmla="*/ 5 w 20000"/>
                    <a:gd name="T57" fmla="*/ 28 h 20000"/>
                    <a:gd name="T58" fmla="*/ 0 w 20000"/>
                    <a:gd name="T59" fmla="*/ 0 h 20000"/>
                    <a:gd name="T60" fmla="*/ 19 w 20000"/>
                    <a:gd name="T61" fmla="*/ 2 h 20000"/>
                    <a:gd name="T62" fmla="*/ 38 w 20000"/>
                    <a:gd name="T63" fmla="*/ 14 h 20000"/>
                    <a:gd name="T64" fmla="*/ 51 w 20000"/>
                    <a:gd name="T65" fmla="*/ 34 h 20000"/>
                    <a:gd name="T66" fmla="*/ 115 w 20000"/>
                    <a:gd name="T67" fmla="*/ 79 h 20000"/>
                    <a:gd name="T68" fmla="*/ 115 w 20000"/>
                    <a:gd name="T69" fmla="*/ 94 h 200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000"/>
                    <a:gd name="T106" fmla="*/ 0 h 20000"/>
                    <a:gd name="T107" fmla="*/ 20000 w 20000"/>
                    <a:gd name="T108" fmla="*/ 20000 h 200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000" h="20000">
                      <a:moveTo>
                        <a:pt x="13474" y="7613"/>
                      </a:moveTo>
                      <a:lnTo>
                        <a:pt x="14695" y="10452"/>
                      </a:lnTo>
                      <a:lnTo>
                        <a:pt x="14319" y="10839"/>
                      </a:lnTo>
                      <a:lnTo>
                        <a:pt x="14601" y="12065"/>
                      </a:lnTo>
                      <a:lnTo>
                        <a:pt x="17559" y="14161"/>
                      </a:lnTo>
                      <a:lnTo>
                        <a:pt x="18873" y="15387"/>
                      </a:lnTo>
                      <a:lnTo>
                        <a:pt x="19155" y="18516"/>
                      </a:lnTo>
                      <a:lnTo>
                        <a:pt x="19531" y="18129"/>
                      </a:lnTo>
                      <a:lnTo>
                        <a:pt x="20000" y="19613"/>
                      </a:lnTo>
                      <a:lnTo>
                        <a:pt x="19249" y="19677"/>
                      </a:lnTo>
                      <a:lnTo>
                        <a:pt x="18310" y="20000"/>
                      </a:lnTo>
                      <a:lnTo>
                        <a:pt x="16901" y="19484"/>
                      </a:lnTo>
                      <a:lnTo>
                        <a:pt x="10657" y="15323"/>
                      </a:lnTo>
                      <a:lnTo>
                        <a:pt x="9249" y="14161"/>
                      </a:lnTo>
                      <a:lnTo>
                        <a:pt x="7653" y="12258"/>
                      </a:lnTo>
                      <a:lnTo>
                        <a:pt x="7653" y="11806"/>
                      </a:lnTo>
                      <a:lnTo>
                        <a:pt x="7653" y="10710"/>
                      </a:lnTo>
                      <a:lnTo>
                        <a:pt x="6526" y="10710"/>
                      </a:lnTo>
                      <a:lnTo>
                        <a:pt x="5587" y="10258"/>
                      </a:lnTo>
                      <a:lnTo>
                        <a:pt x="5305" y="9742"/>
                      </a:lnTo>
                      <a:lnTo>
                        <a:pt x="3662" y="6935"/>
                      </a:lnTo>
                      <a:lnTo>
                        <a:pt x="3286" y="6032"/>
                      </a:lnTo>
                      <a:lnTo>
                        <a:pt x="2817" y="5581"/>
                      </a:lnTo>
                      <a:lnTo>
                        <a:pt x="2441" y="4806"/>
                      </a:lnTo>
                      <a:lnTo>
                        <a:pt x="751" y="4613"/>
                      </a:lnTo>
                      <a:lnTo>
                        <a:pt x="469" y="4226"/>
                      </a:lnTo>
                      <a:lnTo>
                        <a:pt x="1315" y="3839"/>
                      </a:lnTo>
                      <a:lnTo>
                        <a:pt x="845" y="2935"/>
                      </a:lnTo>
                      <a:lnTo>
                        <a:pt x="563" y="2258"/>
                      </a:lnTo>
                      <a:lnTo>
                        <a:pt x="0" y="0"/>
                      </a:lnTo>
                      <a:lnTo>
                        <a:pt x="2254" y="129"/>
                      </a:lnTo>
                      <a:lnTo>
                        <a:pt x="4413" y="1097"/>
                      </a:lnTo>
                      <a:lnTo>
                        <a:pt x="5962" y="2742"/>
                      </a:lnTo>
                      <a:lnTo>
                        <a:pt x="13474" y="6355"/>
                      </a:lnTo>
                      <a:lnTo>
                        <a:pt x="13474" y="7613"/>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1" name="Freeform 8">
                  <a:extLst>
                    <a:ext uri="{FF2B5EF4-FFF2-40B4-BE49-F238E27FC236}">
                      <a16:creationId xmlns:a16="http://schemas.microsoft.com/office/drawing/2014/main" id="{65471E43-8D2C-04BC-2C94-6B10AB34BC68}"/>
                    </a:ext>
                  </a:extLst>
                </p:cNvPr>
                <p:cNvSpPr>
                  <a:spLocks/>
                </p:cNvSpPr>
                <p:nvPr/>
              </p:nvSpPr>
              <p:spPr bwMode="auto">
                <a:xfrm>
                  <a:off x="1323" y="2747"/>
                  <a:ext cx="66" cy="172"/>
                </a:xfrm>
                <a:custGeom>
                  <a:avLst/>
                  <a:gdLst>
                    <a:gd name="T0" fmla="*/ 3 w 20000"/>
                    <a:gd name="T1" fmla="*/ 78 h 20000"/>
                    <a:gd name="T2" fmla="*/ 0 w 20000"/>
                    <a:gd name="T3" fmla="*/ 61 h 20000"/>
                    <a:gd name="T4" fmla="*/ 0 w 20000"/>
                    <a:gd name="T5" fmla="*/ 49 h 20000"/>
                    <a:gd name="T6" fmla="*/ 5 w 20000"/>
                    <a:gd name="T7" fmla="*/ 14 h 20000"/>
                    <a:gd name="T8" fmla="*/ 15 w 20000"/>
                    <a:gd name="T9" fmla="*/ 0 h 20000"/>
                    <a:gd name="T10" fmla="*/ 32 w 20000"/>
                    <a:gd name="T11" fmla="*/ 12 h 20000"/>
                    <a:gd name="T12" fmla="*/ 42 w 20000"/>
                    <a:gd name="T13" fmla="*/ 20 h 20000"/>
                    <a:gd name="T14" fmla="*/ 56 w 20000"/>
                    <a:gd name="T15" fmla="*/ 32 h 20000"/>
                    <a:gd name="T16" fmla="*/ 66 w 20000"/>
                    <a:gd name="T17" fmla="*/ 32 h 20000"/>
                    <a:gd name="T18" fmla="*/ 37 w 20000"/>
                    <a:gd name="T19" fmla="*/ 64 h 20000"/>
                    <a:gd name="T20" fmla="*/ 35 w 20000"/>
                    <a:gd name="T21" fmla="*/ 85 h 20000"/>
                    <a:gd name="T22" fmla="*/ 35 w 20000"/>
                    <a:gd name="T23" fmla="*/ 102 h 20000"/>
                    <a:gd name="T24" fmla="*/ 26 w 20000"/>
                    <a:gd name="T25" fmla="*/ 97 h 20000"/>
                    <a:gd name="T26" fmla="*/ 20 w 20000"/>
                    <a:gd name="T27" fmla="*/ 119 h 20000"/>
                    <a:gd name="T28" fmla="*/ 19 w 20000"/>
                    <a:gd name="T29" fmla="*/ 136 h 20000"/>
                    <a:gd name="T30" fmla="*/ 27 w 20000"/>
                    <a:gd name="T31" fmla="*/ 160 h 20000"/>
                    <a:gd name="T32" fmla="*/ 32 w 20000"/>
                    <a:gd name="T33" fmla="*/ 163 h 20000"/>
                    <a:gd name="T34" fmla="*/ 31 w 20000"/>
                    <a:gd name="T35" fmla="*/ 172 h 20000"/>
                    <a:gd name="T36" fmla="*/ 22 w 20000"/>
                    <a:gd name="T37" fmla="*/ 170 h 20000"/>
                    <a:gd name="T38" fmla="*/ 3 w 20000"/>
                    <a:gd name="T39" fmla="*/ 95 h 20000"/>
                    <a:gd name="T40" fmla="*/ 0 w 20000"/>
                    <a:gd name="T41" fmla="*/ 81 h 20000"/>
                    <a:gd name="T42" fmla="*/ 3 w 20000"/>
                    <a:gd name="T43" fmla="*/ 78 h 200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000"/>
                    <a:gd name="T67" fmla="*/ 0 h 20000"/>
                    <a:gd name="T68" fmla="*/ 20000 w 20000"/>
                    <a:gd name="T69" fmla="*/ 20000 h 200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000" h="20000">
                      <a:moveTo>
                        <a:pt x="970" y="9091"/>
                      </a:moveTo>
                      <a:lnTo>
                        <a:pt x="0" y="7133"/>
                      </a:lnTo>
                      <a:lnTo>
                        <a:pt x="0" y="5734"/>
                      </a:lnTo>
                      <a:lnTo>
                        <a:pt x="1455" y="1678"/>
                      </a:lnTo>
                      <a:lnTo>
                        <a:pt x="4606" y="0"/>
                      </a:lnTo>
                      <a:lnTo>
                        <a:pt x="9697" y="1399"/>
                      </a:lnTo>
                      <a:lnTo>
                        <a:pt x="12727" y="2331"/>
                      </a:lnTo>
                      <a:lnTo>
                        <a:pt x="17091" y="3683"/>
                      </a:lnTo>
                      <a:lnTo>
                        <a:pt x="20000" y="3683"/>
                      </a:lnTo>
                      <a:lnTo>
                        <a:pt x="11273" y="7413"/>
                      </a:lnTo>
                      <a:lnTo>
                        <a:pt x="10545" y="9930"/>
                      </a:lnTo>
                      <a:lnTo>
                        <a:pt x="10545" y="11841"/>
                      </a:lnTo>
                      <a:lnTo>
                        <a:pt x="8000" y="11282"/>
                      </a:lnTo>
                      <a:lnTo>
                        <a:pt x="6061" y="13800"/>
                      </a:lnTo>
                      <a:lnTo>
                        <a:pt x="5818" y="15758"/>
                      </a:lnTo>
                      <a:lnTo>
                        <a:pt x="8242" y="18601"/>
                      </a:lnTo>
                      <a:lnTo>
                        <a:pt x="9697" y="18974"/>
                      </a:lnTo>
                      <a:lnTo>
                        <a:pt x="9455" y="20000"/>
                      </a:lnTo>
                      <a:lnTo>
                        <a:pt x="6545" y="19814"/>
                      </a:lnTo>
                      <a:lnTo>
                        <a:pt x="970" y="11002"/>
                      </a:lnTo>
                      <a:lnTo>
                        <a:pt x="0" y="9371"/>
                      </a:lnTo>
                      <a:lnTo>
                        <a:pt x="970" y="9091"/>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2" name="Freeform 9">
                  <a:extLst>
                    <a:ext uri="{FF2B5EF4-FFF2-40B4-BE49-F238E27FC236}">
                      <a16:creationId xmlns:a16="http://schemas.microsoft.com/office/drawing/2014/main" id="{23C75AC7-AB34-7432-440E-13F4BC88AE73}"/>
                    </a:ext>
                  </a:extLst>
                </p:cNvPr>
                <p:cNvSpPr>
                  <a:spLocks/>
                </p:cNvSpPr>
                <p:nvPr/>
              </p:nvSpPr>
              <p:spPr bwMode="auto">
                <a:xfrm>
                  <a:off x="1416" y="2803"/>
                  <a:ext cx="38" cy="73"/>
                </a:xfrm>
                <a:custGeom>
                  <a:avLst/>
                  <a:gdLst>
                    <a:gd name="T0" fmla="*/ 4 w 20000"/>
                    <a:gd name="T1" fmla="*/ 6 h 20000"/>
                    <a:gd name="T2" fmla="*/ 9 w 20000"/>
                    <a:gd name="T3" fmla="*/ 1 h 20000"/>
                    <a:gd name="T4" fmla="*/ 24 w 20000"/>
                    <a:gd name="T5" fmla="*/ 0 h 20000"/>
                    <a:gd name="T6" fmla="*/ 24 w 20000"/>
                    <a:gd name="T7" fmla="*/ 13 h 20000"/>
                    <a:gd name="T8" fmla="*/ 26 w 20000"/>
                    <a:gd name="T9" fmla="*/ 19 h 20000"/>
                    <a:gd name="T10" fmla="*/ 38 w 20000"/>
                    <a:gd name="T11" fmla="*/ 63 h 20000"/>
                    <a:gd name="T12" fmla="*/ 31 w 20000"/>
                    <a:gd name="T13" fmla="*/ 73 h 20000"/>
                    <a:gd name="T14" fmla="*/ 21 w 20000"/>
                    <a:gd name="T15" fmla="*/ 71 h 20000"/>
                    <a:gd name="T16" fmla="*/ 12 w 20000"/>
                    <a:gd name="T17" fmla="*/ 68 h 20000"/>
                    <a:gd name="T18" fmla="*/ 0 w 20000"/>
                    <a:gd name="T19" fmla="*/ 31 h 20000"/>
                    <a:gd name="T20" fmla="*/ 4 w 20000"/>
                    <a:gd name="T21" fmla="*/ 6 h 2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000"/>
                    <a:gd name="T34" fmla="*/ 0 h 20000"/>
                    <a:gd name="T35" fmla="*/ 20000 w 20000"/>
                    <a:gd name="T36" fmla="*/ 20000 h 200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000" h="20000">
                      <a:moveTo>
                        <a:pt x="2083" y="1530"/>
                      </a:moveTo>
                      <a:lnTo>
                        <a:pt x="4583" y="219"/>
                      </a:lnTo>
                      <a:lnTo>
                        <a:pt x="12500" y="0"/>
                      </a:lnTo>
                      <a:lnTo>
                        <a:pt x="12500" y="3497"/>
                      </a:lnTo>
                      <a:lnTo>
                        <a:pt x="13750" y="5246"/>
                      </a:lnTo>
                      <a:lnTo>
                        <a:pt x="20000" y="17377"/>
                      </a:lnTo>
                      <a:lnTo>
                        <a:pt x="16250" y="20000"/>
                      </a:lnTo>
                      <a:lnTo>
                        <a:pt x="10833" y="19344"/>
                      </a:lnTo>
                      <a:lnTo>
                        <a:pt x="6250" y="18689"/>
                      </a:lnTo>
                      <a:lnTo>
                        <a:pt x="0" y="8525"/>
                      </a:lnTo>
                      <a:lnTo>
                        <a:pt x="2083" y="1530"/>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3" name="Freeform 10">
                  <a:extLst>
                    <a:ext uri="{FF2B5EF4-FFF2-40B4-BE49-F238E27FC236}">
                      <a16:creationId xmlns:a16="http://schemas.microsoft.com/office/drawing/2014/main" id="{C9FBB51D-EF63-140B-D63B-4D44E8293CB6}"/>
                    </a:ext>
                  </a:extLst>
                </p:cNvPr>
                <p:cNvSpPr>
                  <a:spLocks/>
                </p:cNvSpPr>
                <p:nvPr/>
              </p:nvSpPr>
              <p:spPr bwMode="auto">
                <a:xfrm>
                  <a:off x="1452" y="2880"/>
                  <a:ext cx="29" cy="51"/>
                </a:xfrm>
                <a:custGeom>
                  <a:avLst/>
                  <a:gdLst>
                    <a:gd name="T0" fmla="*/ 16 w 20000"/>
                    <a:gd name="T1" fmla="*/ 51 h 20000"/>
                    <a:gd name="T2" fmla="*/ 4 w 20000"/>
                    <a:gd name="T3" fmla="*/ 44 h 20000"/>
                    <a:gd name="T4" fmla="*/ 0 w 20000"/>
                    <a:gd name="T5" fmla="*/ 19 h 20000"/>
                    <a:gd name="T6" fmla="*/ 12 w 20000"/>
                    <a:gd name="T7" fmla="*/ 8 h 20000"/>
                    <a:gd name="T8" fmla="*/ 16 w 20000"/>
                    <a:gd name="T9" fmla="*/ 0 h 20000"/>
                    <a:gd name="T10" fmla="*/ 29 w 20000"/>
                    <a:gd name="T11" fmla="*/ 20 h 20000"/>
                    <a:gd name="T12" fmla="*/ 16 w 20000"/>
                    <a:gd name="T13" fmla="*/ 51 h 20000"/>
                    <a:gd name="T14" fmla="*/ 0 60000 65536"/>
                    <a:gd name="T15" fmla="*/ 0 60000 65536"/>
                    <a:gd name="T16" fmla="*/ 0 60000 65536"/>
                    <a:gd name="T17" fmla="*/ 0 60000 65536"/>
                    <a:gd name="T18" fmla="*/ 0 60000 65536"/>
                    <a:gd name="T19" fmla="*/ 0 60000 65536"/>
                    <a:gd name="T20" fmla="*/ 0 60000 65536"/>
                    <a:gd name="T21" fmla="*/ 0 w 20000"/>
                    <a:gd name="T22" fmla="*/ 0 h 20000"/>
                    <a:gd name="T23" fmla="*/ 20000 w 20000"/>
                    <a:gd name="T24" fmla="*/ 20000 h 200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0" h="20000">
                      <a:moveTo>
                        <a:pt x="11111" y="20000"/>
                      </a:moveTo>
                      <a:lnTo>
                        <a:pt x="2778" y="17209"/>
                      </a:lnTo>
                      <a:lnTo>
                        <a:pt x="0" y="7442"/>
                      </a:lnTo>
                      <a:lnTo>
                        <a:pt x="8333" y="3101"/>
                      </a:lnTo>
                      <a:lnTo>
                        <a:pt x="11111" y="0"/>
                      </a:lnTo>
                      <a:lnTo>
                        <a:pt x="20000" y="7752"/>
                      </a:lnTo>
                      <a:lnTo>
                        <a:pt x="11111" y="20000"/>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4" name="Freeform 11">
                  <a:extLst>
                    <a:ext uri="{FF2B5EF4-FFF2-40B4-BE49-F238E27FC236}">
                      <a16:creationId xmlns:a16="http://schemas.microsoft.com/office/drawing/2014/main" id="{EFA5F029-872D-90CE-1DF7-20DC47D7D390}"/>
                    </a:ext>
                  </a:extLst>
                </p:cNvPr>
                <p:cNvSpPr>
                  <a:spLocks/>
                </p:cNvSpPr>
                <p:nvPr/>
              </p:nvSpPr>
              <p:spPr bwMode="auto">
                <a:xfrm>
                  <a:off x="1456" y="3003"/>
                  <a:ext cx="10" cy="22"/>
                </a:xfrm>
                <a:custGeom>
                  <a:avLst/>
                  <a:gdLst>
                    <a:gd name="T0" fmla="*/ 8 w 20000"/>
                    <a:gd name="T1" fmla="*/ 22 h 20000"/>
                    <a:gd name="T2" fmla="*/ 0 w 20000"/>
                    <a:gd name="T3" fmla="*/ 13 h 20000"/>
                    <a:gd name="T4" fmla="*/ 2 w 20000"/>
                    <a:gd name="T5" fmla="*/ 2 h 20000"/>
                    <a:gd name="T6" fmla="*/ 10 w 20000"/>
                    <a:gd name="T7" fmla="*/ 0 h 20000"/>
                    <a:gd name="T8" fmla="*/ 8 w 20000"/>
                    <a:gd name="T9" fmla="*/ 22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5385" y="20000"/>
                      </a:moveTo>
                      <a:lnTo>
                        <a:pt x="0" y="11852"/>
                      </a:lnTo>
                      <a:lnTo>
                        <a:pt x="4615" y="2222"/>
                      </a:lnTo>
                      <a:lnTo>
                        <a:pt x="20000" y="0"/>
                      </a:lnTo>
                      <a:lnTo>
                        <a:pt x="15385" y="20000"/>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5" name="Freeform 12">
                  <a:extLst>
                    <a:ext uri="{FF2B5EF4-FFF2-40B4-BE49-F238E27FC236}">
                      <a16:creationId xmlns:a16="http://schemas.microsoft.com/office/drawing/2014/main" id="{CC978B62-769A-79E1-818D-FC662CC73272}"/>
                    </a:ext>
                  </a:extLst>
                </p:cNvPr>
                <p:cNvSpPr>
                  <a:spLocks/>
                </p:cNvSpPr>
                <p:nvPr/>
              </p:nvSpPr>
              <p:spPr bwMode="auto">
                <a:xfrm>
                  <a:off x="1461" y="2979"/>
                  <a:ext cx="16" cy="19"/>
                </a:xfrm>
                <a:custGeom>
                  <a:avLst/>
                  <a:gdLst>
                    <a:gd name="T0" fmla="*/ 16 w 20000"/>
                    <a:gd name="T1" fmla="*/ 1 h 20000"/>
                    <a:gd name="T2" fmla="*/ 6 w 20000"/>
                    <a:gd name="T3" fmla="*/ 0 h 20000"/>
                    <a:gd name="T4" fmla="*/ 0 w 20000"/>
                    <a:gd name="T5" fmla="*/ 10 h 20000"/>
                    <a:gd name="T6" fmla="*/ 4 w 20000"/>
                    <a:gd name="T7" fmla="*/ 19 h 20000"/>
                    <a:gd name="T8" fmla="*/ 16 w 20000"/>
                    <a:gd name="T9" fmla="*/ 1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20000" y="816"/>
                      </a:moveTo>
                      <a:lnTo>
                        <a:pt x="8000" y="0"/>
                      </a:lnTo>
                      <a:lnTo>
                        <a:pt x="0" y="11020"/>
                      </a:lnTo>
                      <a:lnTo>
                        <a:pt x="5000" y="20000"/>
                      </a:lnTo>
                      <a:lnTo>
                        <a:pt x="20000" y="816"/>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6" name="Freeform 13">
                  <a:extLst>
                    <a:ext uri="{FF2B5EF4-FFF2-40B4-BE49-F238E27FC236}">
                      <a16:creationId xmlns:a16="http://schemas.microsoft.com/office/drawing/2014/main" id="{98623E47-C748-76DB-5C1F-A5A4049BC4D3}"/>
                    </a:ext>
                  </a:extLst>
                </p:cNvPr>
                <p:cNvSpPr>
                  <a:spLocks/>
                </p:cNvSpPr>
                <p:nvPr/>
              </p:nvSpPr>
              <p:spPr bwMode="auto">
                <a:xfrm>
                  <a:off x="1562" y="3189"/>
                  <a:ext cx="17" cy="27"/>
                </a:xfrm>
                <a:custGeom>
                  <a:avLst/>
                  <a:gdLst>
                    <a:gd name="T0" fmla="*/ 0 w 20000"/>
                    <a:gd name="T1" fmla="*/ 6 h 20000"/>
                    <a:gd name="T2" fmla="*/ 17 w 20000"/>
                    <a:gd name="T3" fmla="*/ 27 h 20000"/>
                    <a:gd name="T4" fmla="*/ 15 w 20000"/>
                    <a:gd name="T5" fmla="*/ 19 h 20000"/>
                    <a:gd name="T6" fmla="*/ 2 w 20000"/>
                    <a:gd name="T7" fmla="*/ 0 h 20000"/>
                    <a:gd name="T8" fmla="*/ 0 w 20000"/>
                    <a:gd name="T9" fmla="*/ 6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0" y="4118"/>
                      </a:moveTo>
                      <a:lnTo>
                        <a:pt x="20000" y="20000"/>
                      </a:lnTo>
                      <a:lnTo>
                        <a:pt x="17209" y="14118"/>
                      </a:lnTo>
                      <a:lnTo>
                        <a:pt x="2791" y="0"/>
                      </a:lnTo>
                      <a:lnTo>
                        <a:pt x="0" y="4118"/>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7" name="Freeform 14">
                  <a:extLst>
                    <a:ext uri="{FF2B5EF4-FFF2-40B4-BE49-F238E27FC236}">
                      <a16:creationId xmlns:a16="http://schemas.microsoft.com/office/drawing/2014/main" id="{EE3FBECE-A96A-7F76-89AE-FCDD306FFDD7}"/>
                    </a:ext>
                  </a:extLst>
                </p:cNvPr>
                <p:cNvSpPr>
                  <a:spLocks/>
                </p:cNvSpPr>
                <p:nvPr/>
              </p:nvSpPr>
              <p:spPr bwMode="auto">
                <a:xfrm>
                  <a:off x="1552" y="3151"/>
                  <a:ext cx="13" cy="17"/>
                </a:xfrm>
                <a:custGeom>
                  <a:avLst/>
                  <a:gdLst>
                    <a:gd name="T0" fmla="*/ 13 w 20000"/>
                    <a:gd name="T1" fmla="*/ 11 h 20000"/>
                    <a:gd name="T2" fmla="*/ 7 w 20000"/>
                    <a:gd name="T3" fmla="*/ 11 h 20000"/>
                    <a:gd name="T4" fmla="*/ 3 w 20000"/>
                    <a:gd name="T5" fmla="*/ 17 h 20000"/>
                    <a:gd name="T6" fmla="*/ 0 w 20000"/>
                    <a:gd name="T7" fmla="*/ 10 h 20000"/>
                    <a:gd name="T8" fmla="*/ 10 w 20000"/>
                    <a:gd name="T9" fmla="*/ 0 h 20000"/>
                    <a:gd name="T10" fmla="*/ 13 w 20000"/>
                    <a:gd name="T11" fmla="*/ 11 h 20000"/>
                    <a:gd name="T12" fmla="*/ 0 60000 65536"/>
                    <a:gd name="T13" fmla="*/ 0 60000 65536"/>
                    <a:gd name="T14" fmla="*/ 0 60000 65536"/>
                    <a:gd name="T15" fmla="*/ 0 60000 65536"/>
                    <a:gd name="T16" fmla="*/ 0 60000 65536"/>
                    <a:gd name="T17" fmla="*/ 0 60000 65536"/>
                    <a:gd name="T18" fmla="*/ 0 w 20000"/>
                    <a:gd name="T19" fmla="*/ 0 h 20000"/>
                    <a:gd name="T20" fmla="*/ 20000 w 20000"/>
                    <a:gd name="T21" fmla="*/ 20000 h 20000"/>
                  </a:gdLst>
                  <a:ahLst/>
                  <a:cxnLst>
                    <a:cxn ang="T12">
                      <a:pos x="T0" y="T1"/>
                    </a:cxn>
                    <a:cxn ang="T13">
                      <a:pos x="T2" y="T3"/>
                    </a:cxn>
                    <a:cxn ang="T14">
                      <a:pos x="T4" y="T5"/>
                    </a:cxn>
                    <a:cxn ang="T15">
                      <a:pos x="T6" y="T7"/>
                    </a:cxn>
                    <a:cxn ang="T16">
                      <a:pos x="T8" y="T9"/>
                    </a:cxn>
                    <a:cxn ang="T17">
                      <a:pos x="T10" y="T11"/>
                    </a:cxn>
                  </a:cxnLst>
                  <a:rect l="T18" t="T19" r="T20" b="T21"/>
                  <a:pathLst>
                    <a:path w="20000" h="20000">
                      <a:moveTo>
                        <a:pt x="20000" y="13333"/>
                      </a:moveTo>
                      <a:lnTo>
                        <a:pt x="11515" y="13333"/>
                      </a:lnTo>
                      <a:lnTo>
                        <a:pt x="4848" y="20000"/>
                      </a:lnTo>
                      <a:lnTo>
                        <a:pt x="0" y="11429"/>
                      </a:lnTo>
                      <a:lnTo>
                        <a:pt x="15152" y="0"/>
                      </a:lnTo>
                      <a:lnTo>
                        <a:pt x="20000" y="13333"/>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8" name="Freeform 15">
                  <a:extLst>
                    <a:ext uri="{FF2B5EF4-FFF2-40B4-BE49-F238E27FC236}">
                      <a16:creationId xmlns:a16="http://schemas.microsoft.com/office/drawing/2014/main" id="{F3540686-ACE4-179F-DDD5-70B7A84C29E1}"/>
                    </a:ext>
                  </a:extLst>
                </p:cNvPr>
                <p:cNvSpPr>
                  <a:spLocks/>
                </p:cNvSpPr>
                <p:nvPr/>
              </p:nvSpPr>
              <p:spPr bwMode="auto">
                <a:xfrm>
                  <a:off x="1543" y="3143"/>
                  <a:ext cx="8" cy="22"/>
                </a:xfrm>
                <a:custGeom>
                  <a:avLst/>
                  <a:gdLst>
                    <a:gd name="T0" fmla="*/ 0 w 20000"/>
                    <a:gd name="T1" fmla="*/ 17 h 20000"/>
                    <a:gd name="T2" fmla="*/ 4 w 20000"/>
                    <a:gd name="T3" fmla="*/ 22 h 20000"/>
                    <a:gd name="T4" fmla="*/ 8 w 20000"/>
                    <a:gd name="T5" fmla="*/ 8 h 20000"/>
                    <a:gd name="T6" fmla="*/ 2 w 20000"/>
                    <a:gd name="T7" fmla="*/ 0 h 20000"/>
                    <a:gd name="T8" fmla="*/ 0 w 20000"/>
                    <a:gd name="T9" fmla="*/ 17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0" y="15636"/>
                      </a:moveTo>
                      <a:lnTo>
                        <a:pt x="11111" y="20000"/>
                      </a:lnTo>
                      <a:lnTo>
                        <a:pt x="20000" y="7273"/>
                      </a:lnTo>
                      <a:lnTo>
                        <a:pt x="4444" y="0"/>
                      </a:lnTo>
                      <a:lnTo>
                        <a:pt x="0" y="15636"/>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69" name="Freeform 16">
                  <a:extLst>
                    <a:ext uri="{FF2B5EF4-FFF2-40B4-BE49-F238E27FC236}">
                      <a16:creationId xmlns:a16="http://schemas.microsoft.com/office/drawing/2014/main" id="{3EBD19CE-3E65-3888-2C94-7EAA26638F32}"/>
                    </a:ext>
                  </a:extLst>
                </p:cNvPr>
                <p:cNvSpPr>
                  <a:spLocks/>
                </p:cNvSpPr>
                <p:nvPr/>
              </p:nvSpPr>
              <p:spPr bwMode="auto">
                <a:xfrm>
                  <a:off x="1589" y="3263"/>
                  <a:ext cx="5" cy="15"/>
                </a:xfrm>
                <a:custGeom>
                  <a:avLst/>
                  <a:gdLst>
                    <a:gd name="T0" fmla="*/ 5 w 20000"/>
                    <a:gd name="T1" fmla="*/ 13 h 20000"/>
                    <a:gd name="T2" fmla="*/ 0 w 20000"/>
                    <a:gd name="T3" fmla="*/ 15 h 20000"/>
                    <a:gd name="T4" fmla="*/ 2 w 20000"/>
                    <a:gd name="T5" fmla="*/ 0 h 20000"/>
                    <a:gd name="T6" fmla="*/ 5 w 20000"/>
                    <a:gd name="T7" fmla="*/ 13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20000" y="17778"/>
                      </a:moveTo>
                      <a:lnTo>
                        <a:pt x="0" y="20000"/>
                      </a:lnTo>
                      <a:lnTo>
                        <a:pt x="6667" y="0"/>
                      </a:lnTo>
                      <a:lnTo>
                        <a:pt x="20000" y="17778"/>
                      </a:lnTo>
                      <a:close/>
                    </a:path>
                  </a:pathLst>
                </a:custGeom>
                <a:solidFill>
                  <a:schemeClr val="accent5">
                    <a:lumMod val="40000"/>
                    <a:lumOff val="6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81" name="Freeform 17">
                <a:extLst>
                  <a:ext uri="{FF2B5EF4-FFF2-40B4-BE49-F238E27FC236}">
                    <a16:creationId xmlns:a16="http://schemas.microsoft.com/office/drawing/2014/main" id="{6D4C577C-005A-1368-DA23-7DCF3ADAE1FB}"/>
                  </a:ext>
                </a:extLst>
              </p:cNvPr>
              <p:cNvSpPr>
                <a:spLocks/>
              </p:cNvSpPr>
              <p:nvPr/>
            </p:nvSpPr>
            <p:spPr bwMode="auto">
              <a:xfrm>
                <a:off x="6169025" y="3535363"/>
                <a:ext cx="1028700" cy="879475"/>
              </a:xfrm>
              <a:custGeom>
                <a:avLst/>
                <a:gdLst>
                  <a:gd name="T0" fmla="*/ 98447 w 20000"/>
                  <a:gd name="T1" fmla="*/ 147840 h 20000"/>
                  <a:gd name="T2" fmla="*/ 94640 w 20000"/>
                  <a:gd name="T3" fmla="*/ 125017 h 20000"/>
                  <a:gd name="T4" fmla="*/ 36827 w 20000"/>
                  <a:gd name="T5" fmla="*/ 79329 h 20000"/>
                  <a:gd name="T6" fmla="*/ 19031 w 20000"/>
                  <a:gd name="T7" fmla="*/ 26648 h 20000"/>
                  <a:gd name="T8" fmla="*/ 29215 w 20000"/>
                  <a:gd name="T9" fmla="*/ 22822 h 20000"/>
                  <a:gd name="T10" fmla="*/ 98447 w 20000"/>
                  <a:gd name="T11" fmla="*/ 60288 h 20000"/>
                  <a:gd name="T12" fmla="*/ 145407 w 20000"/>
                  <a:gd name="T13" fmla="*/ 90718 h 20000"/>
                  <a:gd name="T14" fmla="*/ 201934 w 20000"/>
                  <a:gd name="T15" fmla="*/ 140232 h 20000"/>
                  <a:gd name="T16" fmla="*/ 248945 w 20000"/>
                  <a:gd name="T17" fmla="*/ 152941 h 20000"/>
                  <a:gd name="T18" fmla="*/ 313702 w 20000"/>
                  <a:gd name="T19" fmla="*/ 178929 h 20000"/>
                  <a:gd name="T20" fmla="*/ 366372 w 20000"/>
                  <a:gd name="T21" fmla="*/ 213185 h 20000"/>
                  <a:gd name="T22" fmla="*/ 396872 w 20000"/>
                  <a:gd name="T23" fmla="*/ 279849 h 20000"/>
                  <a:gd name="T24" fmla="*/ 431180 w 20000"/>
                  <a:gd name="T25" fmla="*/ 302671 h 20000"/>
                  <a:gd name="T26" fmla="*/ 513064 w 20000"/>
                  <a:gd name="T27" fmla="*/ 314104 h 20000"/>
                  <a:gd name="T28" fmla="*/ 547371 w 20000"/>
                  <a:gd name="T29" fmla="*/ 324262 h 20000"/>
                  <a:gd name="T30" fmla="*/ 589908 w 20000"/>
                  <a:gd name="T31" fmla="*/ 329319 h 20000"/>
                  <a:gd name="T32" fmla="*/ 635634 w 20000"/>
                  <a:gd name="T33" fmla="*/ 310279 h 20000"/>
                  <a:gd name="T34" fmla="*/ 718804 w 20000"/>
                  <a:gd name="T35" fmla="*/ 290007 h 20000"/>
                  <a:gd name="T36" fmla="*/ 758203 w 20000"/>
                  <a:gd name="T37" fmla="*/ 325538 h 20000"/>
                  <a:gd name="T38" fmla="*/ 868068 w 20000"/>
                  <a:gd name="T39" fmla="*/ 328044 h 20000"/>
                  <a:gd name="T40" fmla="*/ 951856 w 20000"/>
                  <a:gd name="T41" fmla="*/ 344534 h 20000"/>
                  <a:gd name="T42" fmla="*/ 1010903 w 20000"/>
                  <a:gd name="T43" fmla="*/ 425138 h 20000"/>
                  <a:gd name="T44" fmla="*/ 1003291 w 20000"/>
                  <a:gd name="T45" fmla="*/ 566646 h 20000"/>
                  <a:gd name="T46" fmla="*/ 576586 w 20000"/>
                  <a:gd name="T47" fmla="*/ 787482 h 20000"/>
                  <a:gd name="T48" fmla="*/ 553698 w 20000"/>
                  <a:gd name="T49" fmla="*/ 720202 h 20000"/>
                  <a:gd name="T50" fmla="*/ 516870 w 20000"/>
                  <a:gd name="T51" fmla="*/ 758283 h 20000"/>
                  <a:gd name="T52" fmla="*/ 546085 w 20000"/>
                  <a:gd name="T53" fmla="*/ 814130 h 20000"/>
                  <a:gd name="T54" fmla="*/ 535953 w 20000"/>
                  <a:gd name="T55" fmla="*/ 857884 h 20000"/>
                  <a:gd name="T56" fmla="*/ 466104 w 20000"/>
                  <a:gd name="T57" fmla="*/ 850276 h 20000"/>
                  <a:gd name="T58" fmla="*/ 428608 w 20000"/>
                  <a:gd name="T59" fmla="*/ 873143 h 20000"/>
                  <a:gd name="T60" fmla="*/ 390546 w 20000"/>
                  <a:gd name="T61" fmla="*/ 865535 h 20000"/>
                  <a:gd name="T62" fmla="*/ 374035 w 20000"/>
                  <a:gd name="T63" fmla="*/ 807754 h 20000"/>
                  <a:gd name="T64" fmla="*/ 351147 w 20000"/>
                  <a:gd name="T65" fmla="*/ 821737 h 20000"/>
                  <a:gd name="T66" fmla="*/ 333350 w 20000"/>
                  <a:gd name="T67" fmla="*/ 842669 h 20000"/>
                  <a:gd name="T68" fmla="*/ 290813 w 20000"/>
                  <a:gd name="T69" fmla="*/ 821737 h 20000"/>
                  <a:gd name="T70" fmla="*/ 302283 w 20000"/>
                  <a:gd name="T71" fmla="*/ 772223 h 20000"/>
                  <a:gd name="T72" fmla="*/ 243853 w 20000"/>
                  <a:gd name="T73" fmla="*/ 750676 h 20000"/>
                  <a:gd name="T74" fmla="*/ 194321 w 20000"/>
                  <a:gd name="T75" fmla="*/ 700546 h 20000"/>
                  <a:gd name="T76" fmla="*/ 218444 w 20000"/>
                  <a:gd name="T77" fmla="*/ 651031 h 20000"/>
                  <a:gd name="T78" fmla="*/ 236241 w 20000"/>
                  <a:gd name="T79" fmla="*/ 624383 h 20000"/>
                  <a:gd name="T80" fmla="*/ 207026 w 20000"/>
                  <a:gd name="T81" fmla="*/ 585686 h 20000"/>
                  <a:gd name="T82" fmla="*/ 293385 w 20000"/>
                  <a:gd name="T83" fmla="*/ 597120 h 20000"/>
                  <a:gd name="T84" fmla="*/ 335922 w 20000"/>
                  <a:gd name="T85" fmla="*/ 557763 h 20000"/>
                  <a:gd name="T86" fmla="*/ 398158 w 20000"/>
                  <a:gd name="T87" fmla="*/ 551431 h 20000"/>
                  <a:gd name="T88" fmla="*/ 401965 w 20000"/>
                  <a:gd name="T89" fmla="*/ 504467 h 20000"/>
                  <a:gd name="T90" fmla="*/ 375270 w 20000"/>
                  <a:gd name="T91" fmla="*/ 465770 h 20000"/>
                  <a:gd name="T92" fmla="*/ 352433 w 20000"/>
                  <a:gd name="T93" fmla="*/ 440353 h 20000"/>
                  <a:gd name="T94" fmla="*/ 339728 w 20000"/>
                  <a:gd name="T95" fmla="*/ 390883 h 20000"/>
                  <a:gd name="T96" fmla="*/ 297191 w 20000"/>
                  <a:gd name="T97" fmla="*/ 385782 h 20000"/>
                  <a:gd name="T98" fmla="*/ 262884 w 20000"/>
                  <a:gd name="T99" fmla="*/ 352186 h 20000"/>
                  <a:gd name="T100" fmla="*/ 240047 w 20000"/>
                  <a:gd name="T101" fmla="*/ 290007 h 20000"/>
                  <a:gd name="T102" fmla="*/ 167009 w 20000"/>
                  <a:gd name="T103" fmla="*/ 222111 h 20000"/>
                  <a:gd name="T104" fmla="*/ 160632 w 20000"/>
                  <a:gd name="T105" fmla="*/ 163099 h 20000"/>
                  <a:gd name="T106" fmla="*/ 160632 w 20000"/>
                  <a:gd name="T107" fmla="*/ 126293 h 200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000"/>
                  <a:gd name="T163" fmla="*/ 0 h 20000"/>
                  <a:gd name="T164" fmla="*/ 20000 w 20000"/>
                  <a:gd name="T165" fmla="*/ 20000 h 200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000" h="20000">
                    <a:moveTo>
                      <a:pt x="2679" y="2843"/>
                    </a:moveTo>
                    <a:lnTo>
                      <a:pt x="2506" y="3391"/>
                    </a:lnTo>
                    <a:lnTo>
                      <a:pt x="2284" y="3218"/>
                    </a:lnTo>
                    <a:lnTo>
                      <a:pt x="1914" y="3362"/>
                    </a:lnTo>
                    <a:lnTo>
                      <a:pt x="1642" y="3535"/>
                    </a:lnTo>
                    <a:lnTo>
                      <a:pt x="1494" y="3218"/>
                    </a:lnTo>
                    <a:lnTo>
                      <a:pt x="2062" y="2929"/>
                    </a:lnTo>
                    <a:lnTo>
                      <a:pt x="1840" y="2843"/>
                    </a:lnTo>
                    <a:lnTo>
                      <a:pt x="1395" y="2266"/>
                    </a:lnTo>
                    <a:lnTo>
                      <a:pt x="1160" y="2179"/>
                    </a:lnTo>
                    <a:lnTo>
                      <a:pt x="790" y="2092"/>
                    </a:lnTo>
                    <a:lnTo>
                      <a:pt x="716" y="1804"/>
                    </a:lnTo>
                    <a:lnTo>
                      <a:pt x="593" y="1544"/>
                    </a:lnTo>
                    <a:lnTo>
                      <a:pt x="593" y="1183"/>
                    </a:lnTo>
                    <a:lnTo>
                      <a:pt x="222" y="1010"/>
                    </a:lnTo>
                    <a:lnTo>
                      <a:pt x="370" y="606"/>
                    </a:lnTo>
                    <a:lnTo>
                      <a:pt x="0" y="577"/>
                    </a:lnTo>
                    <a:lnTo>
                      <a:pt x="222" y="173"/>
                    </a:lnTo>
                    <a:lnTo>
                      <a:pt x="198" y="0"/>
                    </a:lnTo>
                    <a:lnTo>
                      <a:pt x="568" y="519"/>
                    </a:lnTo>
                    <a:lnTo>
                      <a:pt x="864" y="519"/>
                    </a:lnTo>
                    <a:lnTo>
                      <a:pt x="1235" y="866"/>
                    </a:lnTo>
                    <a:lnTo>
                      <a:pt x="1494" y="1126"/>
                    </a:lnTo>
                    <a:lnTo>
                      <a:pt x="1914" y="1371"/>
                    </a:lnTo>
                    <a:lnTo>
                      <a:pt x="2012" y="1659"/>
                    </a:lnTo>
                    <a:lnTo>
                      <a:pt x="2235" y="1659"/>
                    </a:lnTo>
                    <a:lnTo>
                      <a:pt x="2679" y="1804"/>
                    </a:lnTo>
                    <a:lnTo>
                      <a:pt x="2827" y="2063"/>
                    </a:lnTo>
                    <a:lnTo>
                      <a:pt x="3568" y="2266"/>
                    </a:lnTo>
                    <a:lnTo>
                      <a:pt x="3852" y="2525"/>
                    </a:lnTo>
                    <a:lnTo>
                      <a:pt x="3802" y="3016"/>
                    </a:lnTo>
                    <a:lnTo>
                      <a:pt x="3926" y="3189"/>
                    </a:lnTo>
                    <a:lnTo>
                      <a:pt x="4148" y="2929"/>
                    </a:lnTo>
                    <a:lnTo>
                      <a:pt x="4395" y="2843"/>
                    </a:lnTo>
                    <a:lnTo>
                      <a:pt x="4593" y="3362"/>
                    </a:lnTo>
                    <a:lnTo>
                      <a:pt x="4840" y="3478"/>
                    </a:lnTo>
                    <a:lnTo>
                      <a:pt x="5210" y="3709"/>
                    </a:lnTo>
                    <a:lnTo>
                      <a:pt x="5778" y="3564"/>
                    </a:lnTo>
                    <a:lnTo>
                      <a:pt x="5926" y="4012"/>
                    </a:lnTo>
                    <a:lnTo>
                      <a:pt x="6099" y="4069"/>
                    </a:lnTo>
                    <a:lnTo>
                      <a:pt x="6074" y="4762"/>
                    </a:lnTo>
                    <a:lnTo>
                      <a:pt x="6481" y="4675"/>
                    </a:lnTo>
                    <a:lnTo>
                      <a:pt x="6605" y="5051"/>
                    </a:lnTo>
                    <a:lnTo>
                      <a:pt x="7123" y="4848"/>
                    </a:lnTo>
                    <a:lnTo>
                      <a:pt x="7444" y="4964"/>
                    </a:lnTo>
                    <a:lnTo>
                      <a:pt x="7370" y="5570"/>
                    </a:lnTo>
                    <a:lnTo>
                      <a:pt x="7593" y="6147"/>
                    </a:lnTo>
                    <a:lnTo>
                      <a:pt x="7716" y="6364"/>
                    </a:lnTo>
                    <a:lnTo>
                      <a:pt x="7716" y="6537"/>
                    </a:lnTo>
                    <a:lnTo>
                      <a:pt x="7716" y="6768"/>
                    </a:lnTo>
                    <a:lnTo>
                      <a:pt x="8037" y="7027"/>
                    </a:lnTo>
                    <a:lnTo>
                      <a:pt x="8383" y="6883"/>
                    </a:lnTo>
                    <a:lnTo>
                      <a:pt x="8531" y="6883"/>
                    </a:lnTo>
                    <a:lnTo>
                      <a:pt x="8864" y="7201"/>
                    </a:lnTo>
                    <a:lnTo>
                      <a:pt x="9457" y="7056"/>
                    </a:lnTo>
                    <a:lnTo>
                      <a:pt x="9975" y="7143"/>
                    </a:lnTo>
                    <a:lnTo>
                      <a:pt x="9951" y="6941"/>
                    </a:lnTo>
                    <a:lnTo>
                      <a:pt x="10173" y="6941"/>
                    </a:lnTo>
                    <a:lnTo>
                      <a:pt x="10272" y="7287"/>
                    </a:lnTo>
                    <a:lnTo>
                      <a:pt x="10642" y="7374"/>
                    </a:lnTo>
                    <a:lnTo>
                      <a:pt x="10988" y="7807"/>
                    </a:lnTo>
                    <a:lnTo>
                      <a:pt x="11210" y="7720"/>
                    </a:lnTo>
                    <a:lnTo>
                      <a:pt x="11370" y="7374"/>
                    </a:lnTo>
                    <a:lnTo>
                      <a:pt x="11469" y="7489"/>
                    </a:lnTo>
                    <a:lnTo>
                      <a:pt x="11691" y="7374"/>
                    </a:lnTo>
                    <a:lnTo>
                      <a:pt x="11963" y="7460"/>
                    </a:lnTo>
                    <a:lnTo>
                      <a:pt x="12111" y="6970"/>
                    </a:lnTo>
                    <a:lnTo>
                      <a:pt x="12358" y="7056"/>
                    </a:lnTo>
                    <a:lnTo>
                      <a:pt x="12926" y="7547"/>
                    </a:lnTo>
                    <a:lnTo>
                      <a:pt x="13593" y="7027"/>
                    </a:lnTo>
                    <a:lnTo>
                      <a:pt x="13778" y="6508"/>
                    </a:lnTo>
                    <a:lnTo>
                      <a:pt x="13975" y="6595"/>
                    </a:lnTo>
                    <a:lnTo>
                      <a:pt x="14420" y="6854"/>
                    </a:lnTo>
                    <a:lnTo>
                      <a:pt x="14716" y="6623"/>
                    </a:lnTo>
                    <a:lnTo>
                      <a:pt x="14963" y="6681"/>
                    </a:lnTo>
                    <a:lnTo>
                      <a:pt x="14741" y="7403"/>
                    </a:lnTo>
                    <a:lnTo>
                      <a:pt x="15259" y="7547"/>
                    </a:lnTo>
                    <a:lnTo>
                      <a:pt x="16148" y="8240"/>
                    </a:lnTo>
                    <a:lnTo>
                      <a:pt x="16383" y="8009"/>
                    </a:lnTo>
                    <a:lnTo>
                      <a:pt x="16877" y="7460"/>
                    </a:lnTo>
                    <a:lnTo>
                      <a:pt x="16901" y="7807"/>
                    </a:lnTo>
                    <a:lnTo>
                      <a:pt x="17617" y="7403"/>
                    </a:lnTo>
                    <a:lnTo>
                      <a:pt x="17716" y="7547"/>
                    </a:lnTo>
                    <a:lnTo>
                      <a:pt x="18506" y="7835"/>
                    </a:lnTo>
                    <a:lnTo>
                      <a:pt x="18889" y="8802"/>
                    </a:lnTo>
                    <a:lnTo>
                      <a:pt x="18728" y="9149"/>
                    </a:lnTo>
                    <a:lnTo>
                      <a:pt x="19704" y="9408"/>
                    </a:lnTo>
                    <a:lnTo>
                      <a:pt x="19654" y="9668"/>
                    </a:lnTo>
                    <a:lnTo>
                      <a:pt x="20000" y="9812"/>
                    </a:lnTo>
                    <a:lnTo>
                      <a:pt x="19951" y="11227"/>
                    </a:lnTo>
                    <a:lnTo>
                      <a:pt x="19704" y="12424"/>
                    </a:lnTo>
                    <a:lnTo>
                      <a:pt x="19506" y="12886"/>
                    </a:lnTo>
                    <a:lnTo>
                      <a:pt x="18679" y="11732"/>
                    </a:lnTo>
                    <a:lnTo>
                      <a:pt x="11136" y="18110"/>
                    </a:lnTo>
                    <a:lnTo>
                      <a:pt x="10988" y="17937"/>
                    </a:lnTo>
                    <a:lnTo>
                      <a:pt x="11210" y="17908"/>
                    </a:lnTo>
                    <a:lnTo>
                      <a:pt x="10765" y="17417"/>
                    </a:lnTo>
                    <a:lnTo>
                      <a:pt x="10395" y="17475"/>
                    </a:lnTo>
                    <a:lnTo>
                      <a:pt x="10173" y="17071"/>
                    </a:lnTo>
                    <a:lnTo>
                      <a:pt x="10765" y="16378"/>
                    </a:lnTo>
                    <a:lnTo>
                      <a:pt x="10346" y="16075"/>
                    </a:lnTo>
                    <a:lnTo>
                      <a:pt x="9975" y="16638"/>
                    </a:lnTo>
                    <a:lnTo>
                      <a:pt x="9901" y="16955"/>
                    </a:lnTo>
                    <a:lnTo>
                      <a:pt x="10049" y="17244"/>
                    </a:lnTo>
                    <a:lnTo>
                      <a:pt x="10346" y="17821"/>
                    </a:lnTo>
                    <a:lnTo>
                      <a:pt x="10543" y="18110"/>
                    </a:lnTo>
                    <a:lnTo>
                      <a:pt x="10469" y="18167"/>
                    </a:lnTo>
                    <a:lnTo>
                      <a:pt x="10617" y="18514"/>
                    </a:lnTo>
                    <a:lnTo>
                      <a:pt x="10543" y="18543"/>
                    </a:lnTo>
                    <a:lnTo>
                      <a:pt x="10864" y="19076"/>
                    </a:lnTo>
                    <a:lnTo>
                      <a:pt x="10765" y="19654"/>
                    </a:lnTo>
                    <a:lnTo>
                      <a:pt x="10420" y="19509"/>
                    </a:lnTo>
                    <a:lnTo>
                      <a:pt x="9802" y="19827"/>
                    </a:lnTo>
                    <a:lnTo>
                      <a:pt x="9531" y="19769"/>
                    </a:lnTo>
                    <a:lnTo>
                      <a:pt x="9284" y="19509"/>
                    </a:lnTo>
                    <a:lnTo>
                      <a:pt x="9062" y="19336"/>
                    </a:lnTo>
                    <a:lnTo>
                      <a:pt x="8988" y="19654"/>
                    </a:lnTo>
                    <a:lnTo>
                      <a:pt x="8704" y="19567"/>
                    </a:lnTo>
                    <a:lnTo>
                      <a:pt x="8531" y="19856"/>
                    </a:lnTo>
                    <a:lnTo>
                      <a:pt x="8333" y="19856"/>
                    </a:lnTo>
                    <a:lnTo>
                      <a:pt x="8259" y="19740"/>
                    </a:lnTo>
                    <a:lnTo>
                      <a:pt x="7889" y="19567"/>
                    </a:lnTo>
                    <a:lnTo>
                      <a:pt x="8012" y="20000"/>
                    </a:lnTo>
                    <a:lnTo>
                      <a:pt x="7593" y="19683"/>
                    </a:lnTo>
                    <a:lnTo>
                      <a:pt x="7642" y="19509"/>
                    </a:lnTo>
                    <a:lnTo>
                      <a:pt x="7296" y="18903"/>
                    </a:lnTo>
                    <a:lnTo>
                      <a:pt x="7074" y="18427"/>
                    </a:lnTo>
                    <a:lnTo>
                      <a:pt x="7272" y="18369"/>
                    </a:lnTo>
                    <a:lnTo>
                      <a:pt x="7198" y="18196"/>
                    </a:lnTo>
                    <a:lnTo>
                      <a:pt x="6778" y="18023"/>
                    </a:lnTo>
                    <a:lnTo>
                      <a:pt x="6778" y="18369"/>
                    </a:lnTo>
                    <a:lnTo>
                      <a:pt x="6827" y="18687"/>
                    </a:lnTo>
                    <a:lnTo>
                      <a:pt x="6778" y="18874"/>
                    </a:lnTo>
                    <a:lnTo>
                      <a:pt x="6852" y="19048"/>
                    </a:lnTo>
                    <a:lnTo>
                      <a:pt x="6778" y="19163"/>
                    </a:lnTo>
                    <a:lnTo>
                      <a:pt x="6481" y="19163"/>
                    </a:lnTo>
                    <a:lnTo>
                      <a:pt x="6333" y="18990"/>
                    </a:lnTo>
                    <a:lnTo>
                      <a:pt x="6000" y="19134"/>
                    </a:lnTo>
                    <a:lnTo>
                      <a:pt x="5926" y="18817"/>
                    </a:lnTo>
                    <a:lnTo>
                      <a:pt x="5654" y="18687"/>
                    </a:lnTo>
                    <a:lnTo>
                      <a:pt x="5704" y="18369"/>
                    </a:lnTo>
                    <a:lnTo>
                      <a:pt x="6099" y="18427"/>
                    </a:lnTo>
                    <a:lnTo>
                      <a:pt x="5852" y="17850"/>
                    </a:lnTo>
                    <a:lnTo>
                      <a:pt x="5877" y="17561"/>
                    </a:lnTo>
                    <a:lnTo>
                      <a:pt x="5704" y="17417"/>
                    </a:lnTo>
                    <a:lnTo>
                      <a:pt x="5358" y="17504"/>
                    </a:lnTo>
                    <a:lnTo>
                      <a:pt x="4667" y="17302"/>
                    </a:lnTo>
                    <a:lnTo>
                      <a:pt x="4741" y="17071"/>
                    </a:lnTo>
                    <a:lnTo>
                      <a:pt x="4222" y="16898"/>
                    </a:lnTo>
                    <a:lnTo>
                      <a:pt x="4099" y="16638"/>
                    </a:lnTo>
                    <a:lnTo>
                      <a:pt x="4173" y="16436"/>
                    </a:lnTo>
                    <a:lnTo>
                      <a:pt x="3778" y="15931"/>
                    </a:lnTo>
                    <a:lnTo>
                      <a:pt x="3926" y="15584"/>
                    </a:lnTo>
                    <a:lnTo>
                      <a:pt x="3926" y="15411"/>
                    </a:lnTo>
                    <a:lnTo>
                      <a:pt x="4173" y="15238"/>
                    </a:lnTo>
                    <a:lnTo>
                      <a:pt x="4247" y="14805"/>
                    </a:lnTo>
                    <a:lnTo>
                      <a:pt x="3346" y="14199"/>
                    </a:lnTo>
                    <a:lnTo>
                      <a:pt x="3617" y="14113"/>
                    </a:lnTo>
                    <a:lnTo>
                      <a:pt x="4593" y="14372"/>
                    </a:lnTo>
                    <a:lnTo>
                      <a:pt x="4593" y="14199"/>
                    </a:lnTo>
                    <a:lnTo>
                      <a:pt x="4296" y="13853"/>
                    </a:lnTo>
                    <a:lnTo>
                      <a:pt x="4370" y="13766"/>
                    </a:lnTo>
                    <a:lnTo>
                      <a:pt x="4148" y="13636"/>
                    </a:lnTo>
                    <a:lnTo>
                      <a:pt x="4025" y="13319"/>
                    </a:lnTo>
                    <a:lnTo>
                      <a:pt x="3778" y="13059"/>
                    </a:lnTo>
                    <a:lnTo>
                      <a:pt x="4765" y="13405"/>
                    </a:lnTo>
                    <a:lnTo>
                      <a:pt x="5210" y="13319"/>
                    </a:lnTo>
                    <a:lnTo>
                      <a:pt x="5704" y="13579"/>
                    </a:lnTo>
                    <a:lnTo>
                      <a:pt x="5926" y="13463"/>
                    </a:lnTo>
                    <a:lnTo>
                      <a:pt x="5852" y="13232"/>
                    </a:lnTo>
                    <a:lnTo>
                      <a:pt x="6074" y="12626"/>
                    </a:lnTo>
                    <a:lnTo>
                      <a:pt x="6531" y="12684"/>
                    </a:lnTo>
                    <a:lnTo>
                      <a:pt x="6778" y="12857"/>
                    </a:lnTo>
                    <a:lnTo>
                      <a:pt x="7000" y="12540"/>
                    </a:lnTo>
                    <a:lnTo>
                      <a:pt x="7222" y="12424"/>
                    </a:lnTo>
                    <a:lnTo>
                      <a:pt x="7741" y="12540"/>
                    </a:lnTo>
                    <a:lnTo>
                      <a:pt x="7963" y="12165"/>
                    </a:lnTo>
                    <a:lnTo>
                      <a:pt x="7642" y="11991"/>
                    </a:lnTo>
                    <a:lnTo>
                      <a:pt x="7568" y="11587"/>
                    </a:lnTo>
                    <a:lnTo>
                      <a:pt x="7815" y="11472"/>
                    </a:lnTo>
                    <a:lnTo>
                      <a:pt x="7494" y="10851"/>
                    </a:lnTo>
                    <a:lnTo>
                      <a:pt x="7568" y="10592"/>
                    </a:lnTo>
                    <a:lnTo>
                      <a:pt x="7272" y="10794"/>
                    </a:lnTo>
                    <a:lnTo>
                      <a:pt x="7296" y="10592"/>
                    </a:lnTo>
                    <a:lnTo>
                      <a:pt x="7519" y="10274"/>
                    </a:lnTo>
                    <a:lnTo>
                      <a:pt x="7296" y="10274"/>
                    </a:lnTo>
                    <a:lnTo>
                      <a:pt x="6901" y="10418"/>
                    </a:lnTo>
                    <a:lnTo>
                      <a:pt x="6852" y="10014"/>
                    </a:lnTo>
                    <a:lnTo>
                      <a:pt x="6679" y="9841"/>
                    </a:lnTo>
                    <a:lnTo>
                      <a:pt x="6605" y="9668"/>
                    </a:lnTo>
                    <a:lnTo>
                      <a:pt x="6309" y="9495"/>
                    </a:lnTo>
                    <a:lnTo>
                      <a:pt x="6605" y="8889"/>
                    </a:lnTo>
                    <a:lnTo>
                      <a:pt x="6099" y="9062"/>
                    </a:lnTo>
                    <a:lnTo>
                      <a:pt x="5877" y="9293"/>
                    </a:lnTo>
                    <a:lnTo>
                      <a:pt x="5877" y="8947"/>
                    </a:lnTo>
                    <a:lnTo>
                      <a:pt x="5778" y="8773"/>
                    </a:lnTo>
                    <a:lnTo>
                      <a:pt x="5481" y="8860"/>
                    </a:lnTo>
                    <a:lnTo>
                      <a:pt x="5333" y="8528"/>
                    </a:lnTo>
                    <a:lnTo>
                      <a:pt x="5630" y="8326"/>
                    </a:lnTo>
                    <a:lnTo>
                      <a:pt x="5111" y="8009"/>
                    </a:lnTo>
                    <a:lnTo>
                      <a:pt x="4988" y="7749"/>
                    </a:lnTo>
                    <a:lnTo>
                      <a:pt x="5062" y="7374"/>
                    </a:lnTo>
                    <a:lnTo>
                      <a:pt x="4889" y="6854"/>
                    </a:lnTo>
                    <a:lnTo>
                      <a:pt x="4667" y="6595"/>
                    </a:lnTo>
                    <a:lnTo>
                      <a:pt x="4593" y="6234"/>
                    </a:lnTo>
                    <a:lnTo>
                      <a:pt x="4370" y="5570"/>
                    </a:lnTo>
                    <a:lnTo>
                      <a:pt x="3778" y="5455"/>
                    </a:lnTo>
                    <a:lnTo>
                      <a:pt x="3247" y="5051"/>
                    </a:lnTo>
                    <a:lnTo>
                      <a:pt x="3049" y="5108"/>
                    </a:lnTo>
                    <a:lnTo>
                      <a:pt x="2951" y="4762"/>
                    </a:lnTo>
                    <a:lnTo>
                      <a:pt x="3025" y="4185"/>
                    </a:lnTo>
                    <a:lnTo>
                      <a:pt x="3123" y="3709"/>
                    </a:lnTo>
                    <a:lnTo>
                      <a:pt x="2951" y="3651"/>
                    </a:lnTo>
                    <a:lnTo>
                      <a:pt x="2753" y="3737"/>
                    </a:lnTo>
                    <a:lnTo>
                      <a:pt x="2753" y="3391"/>
                    </a:lnTo>
                    <a:lnTo>
                      <a:pt x="3123" y="2872"/>
                    </a:lnTo>
                    <a:lnTo>
                      <a:pt x="2679" y="2843"/>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2" name="Freeform 18">
                <a:extLst>
                  <a:ext uri="{FF2B5EF4-FFF2-40B4-BE49-F238E27FC236}">
                    <a16:creationId xmlns:a16="http://schemas.microsoft.com/office/drawing/2014/main" id="{07E4EE44-CAEE-9EE1-DB9B-C74C13058222}"/>
                  </a:ext>
                </a:extLst>
              </p:cNvPr>
              <p:cNvSpPr>
                <a:spLocks/>
              </p:cNvSpPr>
              <p:nvPr/>
            </p:nvSpPr>
            <p:spPr bwMode="auto">
              <a:xfrm>
                <a:off x="4587875" y="2473325"/>
                <a:ext cx="1431925" cy="985838"/>
              </a:xfrm>
              <a:custGeom>
                <a:avLst/>
                <a:gdLst>
                  <a:gd name="T0" fmla="*/ 49473 w 20000"/>
                  <a:gd name="T1" fmla="*/ 376689 h 20000"/>
                  <a:gd name="T2" fmla="*/ 117418 w 20000"/>
                  <a:gd name="T3" fmla="*/ 438304 h 20000"/>
                  <a:gd name="T4" fmla="*/ 175840 w 20000"/>
                  <a:gd name="T5" fmla="*/ 430023 h 20000"/>
                  <a:gd name="T6" fmla="*/ 245002 w 20000"/>
                  <a:gd name="T7" fmla="*/ 433227 h 20000"/>
                  <a:gd name="T8" fmla="*/ 356048 w 20000"/>
                  <a:gd name="T9" fmla="*/ 428741 h 20000"/>
                  <a:gd name="T10" fmla="*/ 409387 w 20000"/>
                  <a:gd name="T11" fmla="*/ 418587 h 20000"/>
                  <a:gd name="T12" fmla="*/ 484921 w 20000"/>
                  <a:gd name="T13" fmla="*/ 367767 h 20000"/>
                  <a:gd name="T14" fmla="*/ 573128 w 20000"/>
                  <a:gd name="T15" fmla="*/ 380484 h 20000"/>
                  <a:gd name="T16" fmla="*/ 626467 w 20000"/>
                  <a:gd name="T17" fmla="*/ 472611 h 20000"/>
                  <a:gd name="T18" fmla="*/ 677873 w 20000"/>
                  <a:gd name="T19" fmla="*/ 426227 h 20000"/>
                  <a:gd name="T20" fmla="*/ 723552 w 20000"/>
                  <a:gd name="T21" fmla="*/ 442099 h 20000"/>
                  <a:gd name="T22" fmla="*/ 792785 w 20000"/>
                  <a:gd name="T23" fmla="*/ 486560 h 20000"/>
                  <a:gd name="T24" fmla="*/ 825791 w 20000"/>
                  <a:gd name="T25" fmla="*/ 518304 h 20000"/>
                  <a:gd name="T26" fmla="*/ 853714 w 20000"/>
                  <a:gd name="T27" fmla="*/ 621867 h 20000"/>
                  <a:gd name="T28" fmla="*/ 861303 w 20000"/>
                  <a:gd name="T29" fmla="*/ 771122 h 20000"/>
                  <a:gd name="T30" fmla="*/ 827008 w 20000"/>
                  <a:gd name="T31" fmla="*/ 813711 h 20000"/>
                  <a:gd name="T32" fmla="*/ 718468 w 20000"/>
                  <a:gd name="T33" fmla="*/ 848018 h 20000"/>
                  <a:gd name="T34" fmla="*/ 712168 w 20000"/>
                  <a:gd name="T35" fmla="*/ 932504 h 20000"/>
                  <a:gd name="T36" fmla="*/ 768013 w 20000"/>
                  <a:gd name="T37" fmla="*/ 966762 h 20000"/>
                  <a:gd name="T38" fmla="*/ 840970 w 20000"/>
                  <a:gd name="T39" fmla="*/ 927378 h 20000"/>
                  <a:gd name="T40" fmla="*/ 919081 w 20000"/>
                  <a:gd name="T41" fmla="*/ 896275 h 20000"/>
                  <a:gd name="T42" fmla="*/ 974926 w 20000"/>
                  <a:gd name="T43" fmla="*/ 893711 h 20000"/>
                  <a:gd name="T44" fmla="*/ 1032704 w 20000"/>
                  <a:gd name="T45" fmla="*/ 919146 h 20000"/>
                  <a:gd name="T46" fmla="*/ 1089838 w 20000"/>
                  <a:gd name="T47" fmla="*/ 969325 h 20000"/>
                  <a:gd name="T48" fmla="*/ 1216134 w 20000"/>
                  <a:gd name="T49" fmla="*/ 974402 h 20000"/>
                  <a:gd name="T50" fmla="*/ 1400208 w 20000"/>
                  <a:gd name="T51" fmla="*/ 966762 h 20000"/>
                  <a:gd name="T52" fmla="*/ 1411592 w 20000"/>
                  <a:gd name="T53" fmla="*/ 924864 h 20000"/>
                  <a:gd name="T54" fmla="*/ 1424336 w 20000"/>
                  <a:gd name="T55" fmla="*/ 821302 h 20000"/>
                  <a:gd name="T56" fmla="*/ 1373502 w 20000"/>
                  <a:gd name="T57" fmla="*/ 735583 h 20000"/>
                  <a:gd name="T58" fmla="*/ 1275129 w 20000"/>
                  <a:gd name="T59" fmla="*/ 666328 h 20000"/>
                  <a:gd name="T60" fmla="*/ 1346224 w 20000"/>
                  <a:gd name="T61" fmla="*/ 591355 h 20000"/>
                  <a:gd name="T62" fmla="*/ 1328468 w 20000"/>
                  <a:gd name="T63" fmla="*/ 468766 h 20000"/>
                  <a:gd name="T64" fmla="*/ 1328468 w 20000"/>
                  <a:gd name="T65" fmla="*/ 394483 h 20000"/>
                  <a:gd name="T66" fmla="*/ 1216134 w 20000"/>
                  <a:gd name="T67" fmla="*/ 350022 h 20000"/>
                  <a:gd name="T68" fmla="*/ 1141244 w 20000"/>
                  <a:gd name="T69" fmla="*/ 341100 h 20000"/>
                  <a:gd name="T70" fmla="*/ 1089838 w 20000"/>
                  <a:gd name="T71" fmla="*/ 323306 h 20000"/>
                  <a:gd name="T72" fmla="*/ 1017454 w 20000"/>
                  <a:gd name="T73" fmla="*/ 346177 h 20000"/>
                  <a:gd name="T74" fmla="*/ 945715 w 20000"/>
                  <a:gd name="T75" fmla="*/ 306152 h 20000"/>
                  <a:gd name="T76" fmla="*/ 964759 w 20000"/>
                  <a:gd name="T77" fmla="*/ 227384 h 20000"/>
                  <a:gd name="T78" fmla="*/ 852425 w 20000"/>
                  <a:gd name="T79" fmla="*/ 156896 h 20000"/>
                  <a:gd name="T80" fmla="*/ 756558 w 20000"/>
                  <a:gd name="T81" fmla="*/ 135306 h 20000"/>
                  <a:gd name="T82" fmla="*/ 696918 w 20000"/>
                  <a:gd name="T83" fmla="*/ 111153 h 20000"/>
                  <a:gd name="T84" fmla="*/ 584583 w 20000"/>
                  <a:gd name="T85" fmla="*/ 103562 h 20000"/>
                  <a:gd name="T86" fmla="*/ 519216 w 20000"/>
                  <a:gd name="T87" fmla="*/ 74332 h 20000"/>
                  <a:gd name="T88" fmla="*/ 465877 w 20000"/>
                  <a:gd name="T89" fmla="*/ 54615 h 20000"/>
                  <a:gd name="T90" fmla="*/ 386548 w 20000"/>
                  <a:gd name="T91" fmla="*/ 92127 h 20000"/>
                  <a:gd name="T92" fmla="*/ 350965 w 20000"/>
                  <a:gd name="T93" fmla="*/ 118793 h 20000"/>
                  <a:gd name="T94" fmla="*/ 305286 w 20000"/>
                  <a:gd name="T95" fmla="*/ 76846 h 20000"/>
                  <a:gd name="T96" fmla="*/ 251374 w 20000"/>
                  <a:gd name="T97" fmla="*/ 0 h 20000"/>
                  <a:gd name="T98" fmla="*/ 136462 w 20000"/>
                  <a:gd name="T99" fmla="*/ 30512 h 20000"/>
                  <a:gd name="T100" fmla="*/ 29211 w 20000"/>
                  <a:gd name="T101" fmla="*/ 74332 h 20000"/>
                  <a:gd name="T102" fmla="*/ 3795 w 20000"/>
                  <a:gd name="T103" fmla="*/ 172127 h 20000"/>
                  <a:gd name="T104" fmla="*/ 2506 w 20000"/>
                  <a:gd name="T105" fmla="*/ 231228 h 20000"/>
                  <a:gd name="T106" fmla="*/ 17756 w 20000"/>
                  <a:gd name="T107" fmla="*/ 290921 h 20000"/>
                  <a:gd name="T108" fmla="*/ 41884 w 20000"/>
                  <a:gd name="T109" fmla="*/ 357613 h 200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000"/>
                  <a:gd name="T166" fmla="*/ 0 h 20000"/>
                  <a:gd name="T167" fmla="*/ 20000 w 20000"/>
                  <a:gd name="T168" fmla="*/ 20000 h 200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000" h="20000">
                    <a:moveTo>
                      <a:pt x="585" y="7255"/>
                    </a:moveTo>
                    <a:lnTo>
                      <a:pt x="780" y="7487"/>
                    </a:lnTo>
                    <a:lnTo>
                      <a:pt x="691" y="7642"/>
                    </a:lnTo>
                    <a:lnTo>
                      <a:pt x="1126" y="8466"/>
                    </a:lnTo>
                    <a:lnTo>
                      <a:pt x="1551" y="8789"/>
                    </a:lnTo>
                    <a:lnTo>
                      <a:pt x="1640" y="8892"/>
                    </a:lnTo>
                    <a:lnTo>
                      <a:pt x="1853" y="8814"/>
                    </a:lnTo>
                    <a:lnTo>
                      <a:pt x="2172" y="8698"/>
                    </a:lnTo>
                    <a:lnTo>
                      <a:pt x="2456" y="8724"/>
                    </a:lnTo>
                    <a:lnTo>
                      <a:pt x="2766" y="9021"/>
                    </a:lnTo>
                    <a:lnTo>
                      <a:pt x="3209" y="9046"/>
                    </a:lnTo>
                    <a:lnTo>
                      <a:pt x="3422" y="8789"/>
                    </a:lnTo>
                    <a:lnTo>
                      <a:pt x="3883" y="8789"/>
                    </a:lnTo>
                    <a:lnTo>
                      <a:pt x="4388" y="8492"/>
                    </a:lnTo>
                    <a:lnTo>
                      <a:pt x="4973" y="8698"/>
                    </a:lnTo>
                    <a:lnTo>
                      <a:pt x="5080" y="8570"/>
                    </a:lnTo>
                    <a:lnTo>
                      <a:pt x="5488" y="8466"/>
                    </a:lnTo>
                    <a:lnTo>
                      <a:pt x="5718" y="8492"/>
                    </a:lnTo>
                    <a:lnTo>
                      <a:pt x="6206" y="7925"/>
                    </a:lnTo>
                    <a:lnTo>
                      <a:pt x="6667" y="7719"/>
                    </a:lnTo>
                    <a:lnTo>
                      <a:pt x="6773" y="7461"/>
                    </a:lnTo>
                    <a:lnTo>
                      <a:pt x="7429" y="7642"/>
                    </a:lnTo>
                    <a:lnTo>
                      <a:pt x="7739" y="7693"/>
                    </a:lnTo>
                    <a:lnTo>
                      <a:pt x="8005" y="7719"/>
                    </a:lnTo>
                    <a:lnTo>
                      <a:pt x="8431" y="8892"/>
                    </a:lnTo>
                    <a:lnTo>
                      <a:pt x="8555" y="9562"/>
                    </a:lnTo>
                    <a:lnTo>
                      <a:pt x="8750" y="9588"/>
                    </a:lnTo>
                    <a:lnTo>
                      <a:pt x="8980" y="9021"/>
                    </a:lnTo>
                    <a:lnTo>
                      <a:pt x="9255" y="8647"/>
                    </a:lnTo>
                    <a:lnTo>
                      <a:pt x="9468" y="8647"/>
                    </a:lnTo>
                    <a:lnTo>
                      <a:pt x="9787" y="9098"/>
                    </a:lnTo>
                    <a:lnTo>
                      <a:pt x="10053" y="9175"/>
                    </a:lnTo>
                    <a:lnTo>
                      <a:pt x="10106" y="8969"/>
                    </a:lnTo>
                    <a:lnTo>
                      <a:pt x="10319" y="9407"/>
                    </a:lnTo>
                    <a:lnTo>
                      <a:pt x="10860" y="9433"/>
                    </a:lnTo>
                    <a:lnTo>
                      <a:pt x="11073" y="9871"/>
                    </a:lnTo>
                    <a:lnTo>
                      <a:pt x="11321" y="10129"/>
                    </a:lnTo>
                    <a:lnTo>
                      <a:pt x="11427" y="10412"/>
                    </a:lnTo>
                    <a:lnTo>
                      <a:pt x="11534" y="10515"/>
                    </a:lnTo>
                    <a:lnTo>
                      <a:pt x="11977" y="11508"/>
                    </a:lnTo>
                    <a:lnTo>
                      <a:pt x="11817" y="11817"/>
                    </a:lnTo>
                    <a:lnTo>
                      <a:pt x="11924" y="12616"/>
                    </a:lnTo>
                    <a:lnTo>
                      <a:pt x="11498" y="14175"/>
                    </a:lnTo>
                    <a:lnTo>
                      <a:pt x="11534" y="14536"/>
                    </a:lnTo>
                    <a:lnTo>
                      <a:pt x="12030" y="15644"/>
                    </a:lnTo>
                    <a:lnTo>
                      <a:pt x="11977" y="15954"/>
                    </a:lnTo>
                    <a:lnTo>
                      <a:pt x="11534" y="16327"/>
                    </a:lnTo>
                    <a:lnTo>
                      <a:pt x="11551" y="16508"/>
                    </a:lnTo>
                    <a:lnTo>
                      <a:pt x="11020" y="16791"/>
                    </a:lnTo>
                    <a:lnTo>
                      <a:pt x="10053" y="16972"/>
                    </a:lnTo>
                    <a:lnTo>
                      <a:pt x="10035" y="17204"/>
                    </a:lnTo>
                    <a:lnTo>
                      <a:pt x="10213" y="17513"/>
                    </a:lnTo>
                    <a:lnTo>
                      <a:pt x="9840" y="18363"/>
                    </a:lnTo>
                    <a:lnTo>
                      <a:pt x="9947" y="18918"/>
                    </a:lnTo>
                    <a:lnTo>
                      <a:pt x="10160" y="19304"/>
                    </a:lnTo>
                    <a:lnTo>
                      <a:pt x="10479" y="19588"/>
                    </a:lnTo>
                    <a:lnTo>
                      <a:pt x="10727" y="19613"/>
                    </a:lnTo>
                    <a:lnTo>
                      <a:pt x="11374" y="19510"/>
                    </a:lnTo>
                    <a:lnTo>
                      <a:pt x="11445" y="19149"/>
                    </a:lnTo>
                    <a:lnTo>
                      <a:pt x="11746" y="18814"/>
                    </a:lnTo>
                    <a:lnTo>
                      <a:pt x="12030" y="18363"/>
                    </a:lnTo>
                    <a:lnTo>
                      <a:pt x="12456" y="18209"/>
                    </a:lnTo>
                    <a:lnTo>
                      <a:pt x="12837" y="18183"/>
                    </a:lnTo>
                    <a:lnTo>
                      <a:pt x="13085" y="17951"/>
                    </a:lnTo>
                    <a:lnTo>
                      <a:pt x="13298" y="17977"/>
                    </a:lnTo>
                    <a:lnTo>
                      <a:pt x="13617" y="18131"/>
                    </a:lnTo>
                    <a:lnTo>
                      <a:pt x="13777" y="18260"/>
                    </a:lnTo>
                    <a:lnTo>
                      <a:pt x="14282" y="18724"/>
                    </a:lnTo>
                    <a:lnTo>
                      <a:pt x="14424" y="18647"/>
                    </a:lnTo>
                    <a:lnTo>
                      <a:pt x="14601" y="18724"/>
                    </a:lnTo>
                    <a:lnTo>
                      <a:pt x="14902" y="19201"/>
                    </a:lnTo>
                    <a:lnTo>
                      <a:pt x="15222" y="19665"/>
                    </a:lnTo>
                    <a:lnTo>
                      <a:pt x="16365" y="19845"/>
                    </a:lnTo>
                    <a:lnTo>
                      <a:pt x="16933" y="19459"/>
                    </a:lnTo>
                    <a:lnTo>
                      <a:pt x="16986" y="19768"/>
                    </a:lnTo>
                    <a:lnTo>
                      <a:pt x="17465" y="20000"/>
                    </a:lnTo>
                    <a:lnTo>
                      <a:pt x="18449" y="19820"/>
                    </a:lnTo>
                    <a:lnTo>
                      <a:pt x="19557" y="19613"/>
                    </a:lnTo>
                    <a:lnTo>
                      <a:pt x="19876" y="19510"/>
                    </a:lnTo>
                    <a:lnTo>
                      <a:pt x="19716" y="19124"/>
                    </a:lnTo>
                    <a:lnTo>
                      <a:pt x="19716" y="18763"/>
                    </a:lnTo>
                    <a:lnTo>
                      <a:pt x="20000" y="17436"/>
                    </a:lnTo>
                    <a:lnTo>
                      <a:pt x="19982" y="17255"/>
                    </a:lnTo>
                    <a:lnTo>
                      <a:pt x="19894" y="16662"/>
                    </a:lnTo>
                    <a:lnTo>
                      <a:pt x="19610" y="15851"/>
                    </a:lnTo>
                    <a:lnTo>
                      <a:pt x="19450" y="15155"/>
                    </a:lnTo>
                    <a:lnTo>
                      <a:pt x="19184" y="14923"/>
                    </a:lnTo>
                    <a:lnTo>
                      <a:pt x="18874" y="14536"/>
                    </a:lnTo>
                    <a:lnTo>
                      <a:pt x="18271" y="13698"/>
                    </a:lnTo>
                    <a:lnTo>
                      <a:pt x="17810" y="13518"/>
                    </a:lnTo>
                    <a:lnTo>
                      <a:pt x="17970" y="12152"/>
                    </a:lnTo>
                    <a:lnTo>
                      <a:pt x="18112" y="11972"/>
                    </a:lnTo>
                    <a:lnTo>
                      <a:pt x="18803" y="11997"/>
                    </a:lnTo>
                    <a:lnTo>
                      <a:pt x="18661" y="11430"/>
                    </a:lnTo>
                    <a:lnTo>
                      <a:pt x="18644" y="10129"/>
                    </a:lnTo>
                    <a:lnTo>
                      <a:pt x="18555" y="9510"/>
                    </a:lnTo>
                    <a:lnTo>
                      <a:pt x="18590" y="8943"/>
                    </a:lnTo>
                    <a:lnTo>
                      <a:pt x="18608" y="8157"/>
                    </a:lnTo>
                    <a:lnTo>
                      <a:pt x="18555" y="8003"/>
                    </a:lnTo>
                    <a:lnTo>
                      <a:pt x="18395" y="7410"/>
                    </a:lnTo>
                    <a:lnTo>
                      <a:pt x="17633" y="7075"/>
                    </a:lnTo>
                    <a:lnTo>
                      <a:pt x="16986" y="7101"/>
                    </a:lnTo>
                    <a:lnTo>
                      <a:pt x="16667" y="6843"/>
                    </a:lnTo>
                    <a:lnTo>
                      <a:pt x="16259" y="6765"/>
                    </a:lnTo>
                    <a:lnTo>
                      <a:pt x="15940" y="6920"/>
                    </a:lnTo>
                    <a:lnTo>
                      <a:pt x="15612" y="6791"/>
                    </a:lnTo>
                    <a:lnTo>
                      <a:pt x="15346" y="6534"/>
                    </a:lnTo>
                    <a:lnTo>
                      <a:pt x="15222" y="6559"/>
                    </a:lnTo>
                    <a:lnTo>
                      <a:pt x="14956" y="6920"/>
                    </a:lnTo>
                    <a:lnTo>
                      <a:pt x="14371" y="7023"/>
                    </a:lnTo>
                    <a:lnTo>
                      <a:pt x="14211" y="7023"/>
                    </a:lnTo>
                    <a:lnTo>
                      <a:pt x="13723" y="6688"/>
                    </a:lnTo>
                    <a:lnTo>
                      <a:pt x="13511" y="6688"/>
                    </a:lnTo>
                    <a:lnTo>
                      <a:pt x="13209" y="6211"/>
                    </a:lnTo>
                    <a:lnTo>
                      <a:pt x="13050" y="5696"/>
                    </a:lnTo>
                    <a:lnTo>
                      <a:pt x="13528" y="4923"/>
                    </a:lnTo>
                    <a:lnTo>
                      <a:pt x="13475" y="4613"/>
                    </a:lnTo>
                    <a:lnTo>
                      <a:pt x="12819" y="3892"/>
                    </a:lnTo>
                    <a:lnTo>
                      <a:pt x="12553" y="3492"/>
                    </a:lnTo>
                    <a:lnTo>
                      <a:pt x="11906" y="3183"/>
                    </a:lnTo>
                    <a:lnTo>
                      <a:pt x="11551" y="2796"/>
                    </a:lnTo>
                    <a:lnTo>
                      <a:pt x="10798" y="2822"/>
                    </a:lnTo>
                    <a:lnTo>
                      <a:pt x="10567" y="2745"/>
                    </a:lnTo>
                    <a:lnTo>
                      <a:pt x="10213" y="2745"/>
                    </a:lnTo>
                    <a:lnTo>
                      <a:pt x="10053" y="2564"/>
                    </a:lnTo>
                    <a:lnTo>
                      <a:pt x="9734" y="2255"/>
                    </a:lnTo>
                    <a:lnTo>
                      <a:pt x="9415" y="1946"/>
                    </a:lnTo>
                    <a:lnTo>
                      <a:pt x="8750" y="1946"/>
                    </a:lnTo>
                    <a:lnTo>
                      <a:pt x="8165" y="2101"/>
                    </a:lnTo>
                    <a:lnTo>
                      <a:pt x="7810" y="1972"/>
                    </a:lnTo>
                    <a:lnTo>
                      <a:pt x="7704" y="1740"/>
                    </a:lnTo>
                    <a:lnTo>
                      <a:pt x="7252" y="1508"/>
                    </a:lnTo>
                    <a:lnTo>
                      <a:pt x="7004" y="1005"/>
                    </a:lnTo>
                    <a:lnTo>
                      <a:pt x="6631" y="1005"/>
                    </a:lnTo>
                    <a:lnTo>
                      <a:pt x="6507" y="1108"/>
                    </a:lnTo>
                    <a:lnTo>
                      <a:pt x="5887" y="1031"/>
                    </a:lnTo>
                    <a:lnTo>
                      <a:pt x="5594" y="1327"/>
                    </a:lnTo>
                    <a:lnTo>
                      <a:pt x="5399" y="1869"/>
                    </a:lnTo>
                    <a:lnTo>
                      <a:pt x="5399" y="1972"/>
                    </a:lnTo>
                    <a:lnTo>
                      <a:pt x="5115" y="2410"/>
                    </a:lnTo>
                    <a:lnTo>
                      <a:pt x="4902" y="2410"/>
                    </a:lnTo>
                    <a:lnTo>
                      <a:pt x="4743" y="2281"/>
                    </a:lnTo>
                    <a:lnTo>
                      <a:pt x="4477" y="1817"/>
                    </a:lnTo>
                    <a:lnTo>
                      <a:pt x="4264" y="1559"/>
                    </a:lnTo>
                    <a:lnTo>
                      <a:pt x="4060" y="1031"/>
                    </a:lnTo>
                    <a:lnTo>
                      <a:pt x="3830" y="928"/>
                    </a:lnTo>
                    <a:lnTo>
                      <a:pt x="3511" y="0"/>
                    </a:lnTo>
                    <a:lnTo>
                      <a:pt x="2872" y="155"/>
                    </a:lnTo>
                    <a:lnTo>
                      <a:pt x="2190" y="1160"/>
                    </a:lnTo>
                    <a:lnTo>
                      <a:pt x="1906" y="619"/>
                    </a:lnTo>
                    <a:lnTo>
                      <a:pt x="1534" y="464"/>
                    </a:lnTo>
                    <a:lnTo>
                      <a:pt x="895" y="773"/>
                    </a:lnTo>
                    <a:lnTo>
                      <a:pt x="408" y="1508"/>
                    </a:lnTo>
                    <a:lnTo>
                      <a:pt x="89" y="2719"/>
                    </a:lnTo>
                    <a:lnTo>
                      <a:pt x="142" y="3338"/>
                    </a:lnTo>
                    <a:lnTo>
                      <a:pt x="53" y="3492"/>
                    </a:lnTo>
                    <a:lnTo>
                      <a:pt x="89" y="3647"/>
                    </a:lnTo>
                    <a:lnTo>
                      <a:pt x="0" y="3918"/>
                    </a:lnTo>
                    <a:lnTo>
                      <a:pt x="35" y="4691"/>
                    </a:lnTo>
                    <a:lnTo>
                      <a:pt x="0" y="5000"/>
                    </a:lnTo>
                    <a:lnTo>
                      <a:pt x="106" y="5515"/>
                    </a:lnTo>
                    <a:lnTo>
                      <a:pt x="248" y="5902"/>
                    </a:lnTo>
                    <a:lnTo>
                      <a:pt x="195" y="6211"/>
                    </a:lnTo>
                    <a:lnTo>
                      <a:pt x="355" y="6765"/>
                    </a:lnTo>
                    <a:lnTo>
                      <a:pt x="585" y="7255"/>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3" name="Freeform 19">
                <a:extLst>
                  <a:ext uri="{FF2B5EF4-FFF2-40B4-BE49-F238E27FC236}">
                    <a16:creationId xmlns:a16="http://schemas.microsoft.com/office/drawing/2014/main" id="{34528667-4927-1B0B-2DAC-DD9C8033ACE4}"/>
                  </a:ext>
                </a:extLst>
              </p:cNvPr>
              <p:cNvSpPr>
                <a:spLocks/>
              </p:cNvSpPr>
              <p:nvPr/>
            </p:nvSpPr>
            <p:spPr bwMode="auto">
              <a:xfrm>
                <a:off x="4903788" y="3378200"/>
                <a:ext cx="341312" cy="315913"/>
              </a:xfrm>
              <a:custGeom>
                <a:avLst/>
                <a:gdLst>
                  <a:gd name="T0" fmla="*/ 101062 w 20000"/>
                  <a:gd name="T1" fmla="*/ 49377 h 20000"/>
                  <a:gd name="T2" fmla="*/ 78178 w 20000"/>
                  <a:gd name="T3" fmla="*/ 40516 h 20000"/>
                  <a:gd name="T4" fmla="*/ 76915 w 20000"/>
                  <a:gd name="T5" fmla="*/ 71538 h 20000"/>
                  <a:gd name="T6" fmla="*/ 65464 w 20000"/>
                  <a:gd name="T7" fmla="*/ 63941 h 20000"/>
                  <a:gd name="T8" fmla="*/ 57835 w 20000"/>
                  <a:gd name="T9" fmla="*/ 48114 h 20000"/>
                  <a:gd name="T10" fmla="*/ 43227 w 20000"/>
                  <a:gd name="T11" fmla="*/ 37989 h 20000"/>
                  <a:gd name="T12" fmla="*/ 50855 w 20000"/>
                  <a:gd name="T13" fmla="*/ 29127 h 20000"/>
                  <a:gd name="T14" fmla="*/ 39404 w 20000"/>
                  <a:gd name="T15" fmla="*/ 10125 h 20000"/>
                  <a:gd name="T16" fmla="*/ 24148 w 20000"/>
                  <a:gd name="T17" fmla="*/ 10125 h 20000"/>
                  <a:gd name="T18" fmla="*/ 22885 w 20000"/>
                  <a:gd name="T19" fmla="*/ 0 h 20000"/>
                  <a:gd name="T20" fmla="*/ 5086 w 20000"/>
                  <a:gd name="T21" fmla="*/ 29127 h 20000"/>
                  <a:gd name="T22" fmla="*/ 19062 w 20000"/>
                  <a:gd name="T23" fmla="*/ 148779 h 20000"/>
                  <a:gd name="T24" fmla="*/ 27971 w 20000"/>
                  <a:gd name="T25" fmla="*/ 194997 h 20000"/>
                  <a:gd name="T26" fmla="*/ 39404 w 20000"/>
                  <a:gd name="T27" fmla="*/ 216511 h 20000"/>
                  <a:gd name="T28" fmla="*/ 11434 w 20000"/>
                  <a:gd name="T29" fmla="*/ 239304 h 20000"/>
                  <a:gd name="T30" fmla="*/ 0 w 20000"/>
                  <a:gd name="T31" fmla="*/ 259570 h 20000"/>
                  <a:gd name="T32" fmla="*/ 3806 w 20000"/>
                  <a:gd name="T33" fmla="*/ 282995 h 20000"/>
                  <a:gd name="T34" fmla="*/ 20342 w 20000"/>
                  <a:gd name="T35" fmla="*/ 274134 h 20000"/>
                  <a:gd name="T36" fmla="*/ 74372 w 20000"/>
                  <a:gd name="T37" fmla="*/ 255763 h 20000"/>
                  <a:gd name="T38" fmla="*/ 95977 w 20000"/>
                  <a:gd name="T39" fmla="*/ 313386 h 20000"/>
                  <a:gd name="T40" fmla="*/ 108691 w 20000"/>
                  <a:gd name="T41" fmla="*/ 315913 h 20000"/>
                  <a:gd name="T42" fmla="*/ 139187 w 20000"/>
                  <a:gd name="T43" fmla="*/ 277924 h 20000"/>
                  <a:gd name="T44" fmla="*/ 143010 w 20000"/>
                  <a:gd name="T45" fmla="*/ 243111 h 20000"/>
                  <a:gd name="T46" fmla="*/ 160809 w 20000"/>
                  <a:gd name="T47" fmla="*/ 231706 h 20000"/>
                  <a:gd name="T48" fmla="*/ 172875 w 20000"/>
                  <a:gd name="T49" fmla="*/ 210193 h 20000"/>
                  <a:gd name="T50" fmla="*/ 165895 w 20000"/>
                  <a:gd name="T51" fmla="*/ 179802 h 20000"/>
                  <a:gd name="T52" fmla="*/ 191954 w 20000"/>
                  <a:gd name="T53" fmla="*/ 167134 h 20000"/>
                  <a:gd name="T54" fmla="*/ 193217 w 20000"/>
                  <a:gd name="T55" fmla="*/ 187400 h 20000"/>
                  <a:gd name="T56" fmla="*/ 226273 w 20000"/>
                  <a:gd name="T57" fmla="*/ 201316 h 20000"/>
                  <a:gd name="T58" fmla="*/ 238987 w 20000"/>
                  <a:gd name="T59" fmla="*/ 212720 h 20000"/>
                  <a:gd name="T60" fmla="*/ 269483 w 20000"/>
                  <a:gd name="T61" fmla="*/ 205122 h 20000"/>
                  <a:gd name="T62" fmla="*/ 312079 w 20000"/>
                  <a:gd name="T63" fmla="*/ 212720 h 20000"/>
                  <a:gd name="T64" fmla="*/ 334964 w 20000"/>
                  <a:gd name="T65" fmla="*/ 170941 h 20000"/>
                  <a:gd name="T66" fmla="*/ 341312 w 20000"/>
                  <a:gd name="T67" fmla="*/ 164606 h 20000"/>
                  <a:gd name="T68" fmla="*/ 315884 w 20000"/>
                  <a:gd name="T69" fmla="*/ 148779 h 20000"/>
                  <a:gd name="T70" fmla="*/ 295542 w 20000"/>
                  <a:gd name="T71" fmla="*/ 143709 h 20000"/>
                  <a:gd name="T72" fmla="*/ 272026 w 20000"/>
                  <a:gd name="T73" fmla="*/ 152570 h 20000"/>
                  <a:gd name="T74" fmla="*/ 261872 w 20000"/>
                  <a:gd name="T75" fmla="*/ 144972 h 20000"/>
                  <a:gd name="T76" fmla="*/ 242792 w 20000"/>
                  <a:gd name="T77" fmla="*/ 113318 h 20000"/>
                  <a:gd name="T78" fmla="*/ 204668 w 20000"/>
                  <a:gd name="T79" fmla="*/ 90525 h 20000"/>
                  <a:gd name="T80" fmla="*/ 184326 w 20000"/>
                  <a:gd name="T81" fmla="*/ 90525 h 20000"/>
                  <a:gd name="T82" fmla="*/ 158266 w 20000"/>
                  <a:gd name="T83" fmla="*/ 80400 h 20000"/>
                  <a:gd name="T84" fmla="*/ 143010 w 20000"/>
                  <a:gd name="T85" fmla="*/ 63941 h 20000"/>
                  <a:gd name="T86" fmla="*/ 101062 w 20000"/>
                  <a:gd name="T87" fmla="*/ 60150 h 20000"/>
                  <a:gd name="T88" fmla="*/ 101062 w 20000"/>
                  <a:gd name="T89" fmla="*/ 49377 h 2000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000"/>
                  <a:gd name="T136" fmla="*/ 0 h 20000"/>
                  <a:gd name="T137" fmla="*/ 20000 w 20000"/>
                  <a:gd name="T138" fmla="*/ 20000 h 2000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000" h="20000">
                    <a:moveTo>
                      <a:pt x="5922" y="3126"/>
                    </a:moveTo>
                    <a:lnTo>
                      <a:pt x="4581" y="2565"/>
                    </a:lnTo>
                    <a:lnTo>
                      <a:pt x="4507" y="4529"/>
                    </a:lnTo>
                    <a:lnTo>
                      <a:pt x="3836" y="4048"/>
                    </a:lnTo>
                    <a:lnTo>
                      <a:pt x="3389" y="3046"/>
                    </a:lnTo>
                    <a:lnTo>
                      <a:pt x="2533" y="2405"/>
                    </a:lnTo>
                    <a:lnTo>
                      <a:pt x="2980" y="1844"/>
                    </a:lnTo>
                    <a:lnTo>
                      <a:pt x="2309" y="641"/>
                    </a:lnTo>
                    <a:lnTo>
                      <a:pt x="1415" y="641"/>
                    </a:lnTo>
                    <a:lnTo>
                      <a:pt x="1341" y="0"/>
                    </a:lnTo>
                    <a:lnTo>
                      <a:pt x="298" y="1844"/>
                    </a:lnTo>
                    <a:lnTo>
                      <a:pt x="1117" y="9419"/>
                    </a:lnTo>
                    <a:lnTo>
                      <a:pt x="1639" y="12345"/>
                    </a:lnTo>
                    <a:lnTo>
                      <a:pt x="2309" y="13707"/>
                    </a:lnTo>
                    <a:lnTo>
                      <a:pt x="670" y="15150"/>
                    </a:lnTo>
                    <a:lnTo>
                      <a:pt x="0" y="16433"/>
                    </a:lnTo>
                    <a:lnTo>
                      <a:pt x="223" y="17916"/>
                    </a:lnTo>
                    <a:lnTo>
                      <a:pt x="1192" y="17355"/>
                    </a:lnTo>
                    <a:lnTo>
                      <a:pt x="4358" y="16192"/>
                    </a:lnTo>
                    <a:lnTo>
                      <a:pt x="5624" y="19840"/>
                    </a:lnTo>
                    <a:lnTo>
                      <a:pt x="6369" y="20000"/>
                    </a:lnTo>
                    <a:lnTo>
                      <a:pt x="8156" y="17595"/>
                    </a:lnTo>
                    <a:lnTo>
                      <a:pt x="8380" y="15391"/>
                    </a:lnTo>
                    <a:lnTo>
                      <a:pt x="9423" y="14669"/>
                    </a:lnTo>
                    <a:lnTo>
                      <a:pt x="10130" y="13307"/>
                    </a:lnTo>
                    <a:lnTo>
                      <a:pt x="9721" y="11383"/>
                    </a:lnTo>
                    <a:lnTo>
                      <a:pt x="11248" y="10581"/>
                    </a:lnTo>
                    <a:lnTo>
                      <a:pt x="11322" y="11864"/>
                    </a:lnTo>
                    <a:lnTo>
                      <a:pt x="13259" y="12745"/>
                    </a:lnTo>
                    <a:lnTo>
                      <a:pt x="14004" y="13467"/>
                    </a:lnTo>
                    <a:lnTo>
                      <a:pt x="15791" y="12986"/>
                    </a:lnTo>
                    <a:lnTo>
                      <a:pt x="18287" y="13467"/>
                    </a:lnTo>
                    <a:lnTo>
                      <a:pt x="19628" y="10822"/>
                    </a:lnTo>
                    <a:lnTo>
                      <a:pt x="20000" y="10421"/>
                    </a:lnTo>
                    <a:lnTo>
                      <a:pt x="18510" y="9419"/>
                    </a:lnTo>
                    <a:lnTo>
                      <a:pt x="17318" y="9098"/>
                    </a:lnTo>
                    <a:lnTo>
                      <a:pt x="15940" y="9659"/>
                    </a:lnTo>
                    <a:lnTo>
                      <a:pt x="15345" y="9178"/>
                    </a:lnTo>
                    <a:lnTo>
                      <a:pt x="14227" y="7174"/>
                    </a:lnTo>
                    <a:lnTo>
                      <a:pt x="11993" y="5731"/>
                    </a:lnTo>
                    <a:lnTo>
                      <a:pt x="10801" y="5731"/>
                    </a:lnTo>
                    <a:lnTo>
                      <a:pt x="9274" y="5090"/>
                    </a:lnTo>
                    <a:lnTo>
                      <a:pt x="8380" y="4048"/>
                    </a:lnTo>
                    <a:lnTo>
                      <a:pt x="5922" y="3808"/>
                    </a:lnTo>
                    <a:lnTo>
                      <a:pt x="5922" y="3126"/>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4" name="Freeform 20">
                <a:extLst>
                  <a:ext uri="{FF2B5EF4-FFF2-40B4-BE49-F238E27FC236}">
                    <a16:creationId xmlns:a16="http://schemas.microsoft.com/office/drawing/2014/main" id="{D86142EE-6D61-8AF2-A827-CD23E1E7FA19}"/>
                  </a:ext>
                </a:extLst>
              </p:cNvPr>
              <p:cNvSpPr>
                <a:spLocks/>
              </p:cNvSpPr>
              <p:nvPr/>
            </p:nvSpPr>
            <p:spPr bwMode="auto">
              <a:xfrm>
                <a:off x="4862513" y="2441575"/>
                <a:ext cx="177800" cy="109538"/>
              </a:xfrm>
              <a:custGeom>
                <a:avLst/>
                <a:gdLst>
                  <a:gd name="T0" fmla="*/ 0 w 20000"/>
                  <a:gd name="T1" fmla="*/ 16655 h 20000"/>
                  <a:gd name="T2" fmla="*/ 0 w 20000"/>
                  <a:gd name="T3" fmla="*/ 28184 h 20000"/>
                  <a:gd name="T4" fmla="*/ 12704 w 20000"/>
                  <a:gd name="T5" fmla="*/ 69825 h 20000"/>
                  <a:gd name="T6" fmla="*/ 31746 w 20000"/>
                  <a:gd name="T7" fmla="*/ 69825 h 20000"/>
                  <a:gd name="T8" fmla="*/ 38103 w 20000"/>
                  <a:gd name="T9" fmla="*/ 86475 h 20000"/>
                  <a:gd name="T10" fmla="*/ 53971 w 20000"/>
                  <a:gd name="T11" fmla="*/ 105693 h 20000"/>
                  <a:gd name="T12" fmla="*/ 76836 w 20000"/>
                  <a:gd name="T13" fmla="*/ 109538 h 20000"/>
                  <a:gd name="T14" fmla="*/ 100964 w 20000"/>
                  <a:gd name="T15" fmla="*/ 85199 h 20000"/>
                  <a:gd name="T16" fmla="*/ 166367 w 20000"/>
                  <a:gd name="T17" fmla="*/ 67262 h 20000"/>
                  <a:gd name="T18" fmla="*/ 177800 w 20000"/>
                  <a:gd name="T19" fmla="*/ 58291 h 20000"/>
                  <a:gd name="T20" fmla="*/ 176529 w 20000"/>
                  <a:gd name="T21" fmla="*/ 51247 h 20000"/>
                  <a:gd name="T22" fmla="*/ 168910 w 20000"/>
                  <a:gd name="T23" fmla="*/ 49966 h 20000"/>
                  <a:gd name="T24" fmla="*/ 165096 w 20000"/>
                  <a:gd name="T25" fmla="*/ 38437 h 20000"/>
                  <a:gd name="T26" fmla="*/ 151130 w 20000"/>
                  <a:gd name="T27" fmla="*/ 35874 h 20000"/>
                  <a:gd name="T28" fmla="*/ 142240 w 20000"/>
                  <a:gd name="T29" fmla="*/ 19218 h 20000"/>
                  <a:gd name="T30" fmla="*/ 131448 w 20000"/>
                  <a:gd name="T31" fmla="*/ 19218 h 20000"/>
                  <a:gd name="T32" fmla="*/ 111125 w 20000"/>
                  <a:gd name="T33" fmla="*/ 3845 h 20000"/>
                  <a:gd name="T34" fmla="*/ 80641 w 20000"/>
                  <a:gd name="T35" fmla="*/ 0 h 20000"/>
                  <a:gd name="T36" fmla="*/ 53971 w 20000"/>
                  <a:gd name="T37" fmla="*/ 12810 h 20000"/>
                  <a:gd name="T38" fmla="*/ 0 w 20000"/>
                  <a:gd name="T39" fmla="*/ 16655 h 2000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000"/>
                  <a:gd name="T61" fmla="*/ 0 h 20000"/>
                  <a:gd name="T62" fmla="*/ 20000 w 20000"/>
                  <a:gd name="T63" fmla="*/ 20000 h 2000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000" h="20000">
                    <a:moveTo>
                      <a:pt x="0" y="3041"/>
                    </a:moveTo>
                    <a:lnTo>
                      <a:pt x="0" y="5146"/>
                    </a:lnTo>
                    <a:lnTo>
                      <a:pt x="1429" y="12749"/>
                    </a:lnTo>
                    <a:lnTo>
                      <a:pt x="3571" y="12749"/>
                    </a:lnTo>
                    <a:lnTo>
                      <a:pt x="4286" y="15789"/>
                    </a:lnTo>
                    <a:lnTo>
                      <a:pt x="6071" y="19298"/>
                    </a:lnTo>
                    <a:lnTo>
                      <a:pt x="8643" y="20000"/>
                    </a:lnTo>
                    <a:lnTo>
                      <a:pt x="11357" y="15556"/>
                    </a:lnTo>
                    <a:lnTo>
                      <a:pt x="18714" y="12281"/>
                    </a:lnTo>
                    <a:lnTo>
                      <a:pt x="20000" y="10643"/>
                    </a:lnTo>
                    <a:lnTo>
                      <a:pt x="19857" y="9357"/>
                    </a:lnTo>
                    <a:lnTo>
                      <a:pt x="19000" y="9123"/>
                    </a:lnTo>
                    <a:lnTo>
                      <a:pt x="18571" y="7018"/>
                    </a:lnTo>
                    <a:lnTo>
                      <a:pt x="17000" y="6550"/>
                    </a:lnTo>
                    <a:lnTo>
                      <a:pt x="16000" y="3509"/>
                    </a:lnTo>
                    <a:lnTo>
                      <a:pt x="14786" y="3509"/>
                    </a:lnTo>
                    <a:lnTo>
                      <a:pt x="12500" y="702"/>
                    </a:lnTo>
                    <a:lnTo>
                      <a:pt x="9071" y="0"/>
                    </a:lnTo>
                    <a:lnTo>
                      <a:pt x="6071" y="2339"/>
                    </a:lnTo>
                    <a:lnTo>
                      <a:pt x="0" y="304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5" name="Freeform 21">
                <a:extLst>
                  <a:ext uri="{FF2B5EF4-FFF2-40B4-BE49-F238E27FC236}">
                    <a16:creationId xmlns:a16="http://schemas.microsoft.com/office/drawing/2014/main" id="{8DF64929-FC88-0E41-DE4A-AA4BE2BDA8D2}"/>
                  </a:ext>
                </a:extLst>
              </p:cNvPr>
              <p:cNvSpPr>
                <a:spLocks/>
              </p:cNvSpPr>
              <p:nvPr/>
            </p:nvSpPr>
            <p:spPr bwMode="auto">
              <a:xfrm>
                <a:off x="5214938" y="2974975"/>
                <a:ext cx="95250" cy="133350"/>
              </a:xfrm>
              <a:custGeom>
                <a:avLst/>
                <a:gdLst>
                  <a:gd name="T0" fmla="*/ 29404 w 20000"/>
                  <a:gd name="T1" fmla="*/ 133350 h 20000"/>
                  <a:gd name="T2" fmla="*/ 14064 w 20000"/>
                  <a:gd name="T3" fmla="*/ 115654 h 20000"/>
                  <a:gd name="T4" fmla="*/ 0 w 20000"/>
                  <a:gd name="T5" fmla="*/ 65728 h 20000"/>
                  <a:gd name="T6" fmla="*/ 2557 w 20000"/>
                  <a:gd name="T7" fmla="*/ 24016 h 20000"/>
                  <a:gd name="T8" fmla="*/ 30685 w 20000"/>
                  <a:gd name="T9" fmla="*/ 0 h 20000"/>
                  <a:gd name="T10" fmla="*/ 73514 w 20000"/>
                  <a:gd name="T11" fmla="*/ 3794 h 20000"/>
                  <a:gd name="T12" fmla="*/ 83744 w 20000"/>
                  <a:gd name="T13" fmla="*/ 39185 h 20000"/>
                  <a:gd name="T14" fmla="*/ 95250 w 20000"/>
                  <a:gd name="T15" fmla="*/ 58141 h 20000"/>
                  <a:gd name="T16" fmla="*/ 95250 w 20000"/>
                  <a:gd name="T17" fmla="*/ 92905 h 20000"/>
                  <a:gd name="T18" fmla="*/ 72238 w 20000"/>
                  <a:gd name="T19" fmla="*/ 119448 h 20000"/>
                  <a:gd name="T20" fmla="*/ 29404 w 20000"/>
                  <a:gd name="T21" fmla="*/ 133350 h 2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000"/>
                  <a:gd name="T34" fmla="*/ 0 h 20000"/>
                  <a:gd name="T35" fmla="*/ 20000 w 20000"/>
                  <a:gd name="T36" fmla="*/ 20000 h 200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000" h="20000">
                    <a:moveTo>
                      <a:pt x="6174" y="20000"/>
                    </a:moveTo>
                    <a:lnTo>
                      <a:pt x="2953" y="17346"/>
                    </a:lnTo>
                    <a:lnTo>
                      <a:pt x="0" y="9858"/>
                    </a:lnTo>
                    <a:lnTo>
                      <a:pt x="537" y="3602"/>
                    </a:lnTo>
                    <a:lnTo>
                      <a:pt x="6443" y="0"/>
                    </a:lnTo>
                    <a:lnTo>
                      <a:pt x="15436" y="569"/>
                    </a:lnTo>
                    <a:lnTo>
                      <a:pt x="17584" y="5877"/>
                    </a:lnTo>
                    <a:lnTo>
                      <a:pt x="20000" y="8720"/>
                    </a:lnTo>
                    <a:lnTo>
                      <a:pt x="20000" y="13934"/>
                    </a:lnTo>
                    <a:lnTo>
                      <a:pt x="15168" y="17915"/>
                    </a:lnTo>
                    <a:lnTo>
                      <a:pt x="6174"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6" name="Freeform 22">
                <a:extLst>
                  <a:ext uri="{FF2B5EF4-FFF2-40B4-BE49-F238E27FC236}">
                    <a16:creationId xmlns:a16="http://schemas.microsoft.com/office/drawing/2014/main" id="{26F98712-BA7E-261A-7C51-9B753E9DD630}"/>
                  </a:ext>
                </a:extLst>
              </p:cNvPr>
              <p:cNvSpPr>
                <a:spLocks/>
              </p:cNvSpPr>
              <p:nvPr/>
            </p:nvSpPr>
            <p:spPr bwMode="auto">
              <a:xfrm>
                <a:off x="5100638" y="3663950"/>
                <a:ext cx="95250" cy="114300"/>
              </a:xfrm>
              <a:custGeom>
                <a:avLst/>
                <a:gdLst>
                  <a:gd name="T0" fmla="*/ 11506 w 20000"/>
                  <a:gd name="T1" fmla="*/ 92709 h 20000"/>
                  <a:gd name="T2" fmla="*/ 0 w 20000"/>
                  <a:gd name="T3" fmla="*/ 81279 h 20000"/>
                  <a:gd name="T4" fmla="*/ 11506 w 20000"/>
                  <a:gd name="T5" fmla="*/ 53338 h 20000"/>
                  <a:gd name="T6" fmla="*/ 17897 w 20000"/>
                  <a:gd name="T7" fmla="*/ 24129 h 20000"/>
                  <a:gd name="T8" fmla="*/ 37076 w 20000"/>
                  <a:gd name="T9" fmla="*/ 24129 h 20000"/>
                  <a:gd name="T10" fmla="*/ 72238 w 20000"/>
                  <a:gd name="T11" fmla="*/ 0 h 20000"/>
                  <a:gd name="T12" fmla="*/ 88859 w 20000"/>
                  <a:gd name="T13" fmla="*/ 1269 h 20000"/>
                  <a:gd name="T14" fmla="*/ 95250 w 20000"/>
                  <a:gd name="T15" fmla="*/ 27941 h 20000"/>
                  <a:gd name="T16" fmla="*/ 77353 w 20000"/>
                  <a:gd name="T17" fmla="*/ 53338 h 20000"/>
                  <a:gd name="T18" fmla="*/ 65846 w 20000"/>
                  <a:gd name="T19" fmla="*/ 87628 h 20000"/>
                  <a:gd name="T20" fmla="*/ 50502 w 20000"/>
                  <a:gd name="T21" fmla="*/ 102870 h 20000"/>
                  <a:gd name="T22" fmla="*/ 33242 w 20000"/>
                  <a:gd name="T23" fmla="*/ 99058 h 20000"/>
                  <a:gd name="T24" fmla="*/ 21736 w 20000"/>
                  <a:gd name="T25" fmla="*/ 114300 h 20000"/>
                  <a:gd name="T26" fmla="*/ 11506 w 20000"/>
                  <a:gd name="T27" fmla="*/ 92709 h 20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000"/>
                  <a:gd name="T43" fmla="*/ 0 h 20000"/>
                  <a:gd name="T44" fmla="*/ 20000 w 20000"/>
                  <a:gd name="T45" fmla="*/ 20000 h 20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000" h="20000">
                    <a:moveTo>
                      <a:pt x="2416" y="16222"/>
                    </a:moveTo>
                    <a:lnTo>
                      <a:pt x="0" y="14222"/>
                    </a:lnTo>
                    <a:lnTo>
                      <a:pt x="2416" y="9333"/>
                    </a:lnTo>
                    <a:lnTo>
                      <a:pt x="3758" y="4222"/>
                    </a:lnTo>
                    <a:lnTo>
                      <a:pt x="7785" y="4222"/>
                    </a:lnTo>
                    <a:lnTo>
                      <a:pt x="15168" y="0"/>
                    </a:lnTo>
                    <a:lnTo>
                      <a:pt x="18658" y="222"/>
                    </a:lnTo>
                    <a:lnTo>
                      <a:pt x="20000" y="4889"/>
                    </a:lnTo>
                    <a:lnTo>
                      <a:pt x="16242" y="9333"/>
                    </a:lnTo>
                    <a:lnTo>
                      <a:pt x="13826" y="15333"/>
                    </a:lnTo>
                    <a:lnTo>
                      <a:pt x="10604" y="18000"/>
                    </a:lnTo>
                    <a:lnTo>
                      <a:pt x="6980" y="17333"/>
                    </a:lnTo>
                    <a:lnTo>
                      <a:pt x="4564" y="20000"/>
                    </a:lnTo>
                    <a:lnTo>
                      <a:pt x="2416" y="16222"/>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7" name="Freeform 23">
                <a:extLst>
                  <a:ext uri="{FF2B5EF4-FFF2-40B4-BE49-F238E27FC236}">
                    <a16:creationId xmlns:a16="http://schemas.microsoft.com/office/drawing/2014/main" id="{B3FC9E50-C355-6A64-7004-938240EA718B}"/>
                  </a:ext>
                </a:extLst>
              </p:cNvPr>
              <p:cNvSpPr>
                <a:spLocks/>
              </p:cNvSpPr>
              <p:nvPr/>
            </p:nvSpPr>
            <p:spPr bwMode="auto">
              <a:xfrm>
                <a:off x="2805113" y="2722563"/>
                <a:ext cx="100012" cy="65087"/>
              </a:xfrm>
              <a:custGeom>
                <a:avLst/>
                <a:gdLst>
                  <a:gd name="T0" fmla="*/ 80900 w 20000"/>
                  <a:gd name="T1" fmla="*/ 3827 h 20000"/>
                  <a:gd name="T2" fmla="*/ 63063 w 20000"/>
                  <a:gd name="T3" fmla="*/ 15315 h 20000"/>
                  <a:gd name="T4" fmla="*/ 35674 w 20000"/>
                  <a:gd name="T5" fmla="*/ 10209 h 20000"/>
                  <a:gd name="T6" fmla="*/ 0 w 20000"/>
                  <a:gd name="T7" fmla="*/ 22972 h 20000"/>
                  <a:gd name="T8" fmla="*/ 8916 w 20000"/>
                  <a:gd name="T9" fmla="*/ 45945 h 20000"/>
                  <a:gd name="T10" fmla="*/ 20382 w 20000"/>
                  <a:gd name="T11" fmla="*/ 65087 h 20000"/>
                  <a:gd name="T12" fmla="*/ 80900 w 20000"/>
                  <a:gd name="T13" fmla="*/ 40839 h 20000"/>
                  <a:gd name="T14" fmla="*/ 100012 w 20000"/>
                  <a:gd name="T15" fmla="*/ 29354 h 20000"/>
                  <a:gd name="T16" fmla="*/ 85995 w 20000"/>
                  <a:gd name="T17" fmla="*/ 17866 h 20000"/>
                  <a:gd name="T18" fmla="*/ 89821 w 20000"/>
                  <a:gd name="T19" fmla="*/ 2551 h 20000"/>
                  <a:gd name="T20" fmla="*/ 82175 w 20000"/>
                  <a:gd name="T21" fmla="*/ 0 h 20000"/>
                  <a:gd name="T22" fmla="*/ 80900 w 20000"/>
                  <a:gd name="T23" fmla="*/ 3827 h 200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00"/>
                  <a:gd name="T37" fmla="*/ 0 h 20000"/>
                  <a:gd name="T38" fmla="*/ 20000 w 20000"/>
                  <a:gd name="T39" fmla="*/ 20000 h 200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00" h="20000">
                    <a:moveTo>
                      <a:pt x="16178" y="1176"/>
                    </a:moveTo>
                    <a:lnTo>
                      <a:pt x="12611" y="4706"/>
                    </a:lnTo>
                    <a:lnTo>
                      <a:pt x="7134" y="3137"/>
                    </a:lnTo>
                    <a:lnTo>
                      <a:pt x="0" y="7059"/>
                    </a:lnTo>
                    <a:lnTo>
                      <a:pt x="1783" y="14118"/>
                    </a:lnTo>
                    <a:lnTo>
                      <a:pt x="4076" y="20000"/>
                    </a:lnTo>
                    <a:lnTo>
                      <a:pt x="16178" y="12549"/>
                    </a:lnTo>
                    <a:lnTo>
                      <a:pt x="20000" y="9020"/>
                    </a:lnTo>
                    <a:lnTo>
                      <a:pt x="17197" y="5490"/>
                    </a:lnTo>
                    <a:lnTo>
                      <a:pt x="17962" y="784"/>
                    </a:lnTo>
                    <a:lnTo>
                      <a:pt x="16433" y="0"/>
                    </a:lnTo>
                    <a:lnTo>
                      <a:pt x="16178" y="1176"/>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8" name="Freeform 24">
                <a:extLst>
                  <a:ext uri="{FF2B5EF4-FFF2-40B4-BE49-F238E27FC236}">
                    <a16:creationId xmlns:a16="http://schemas.microsoft.com/office/drawing/2014/main" id="{A3D3870E-5BCA-F833-1C7E-CCB9A0324F93}"/>
                  </a:ext>
                </a:extLst>
              </p:cNvPr>
              <p:cNvSpPr>
                <a:spLocks/>
              </p:cNvSpPr>
              <p:nvPr/>
            </p:nvSpPr>
            <p:spPr bwMode="auto">
              <a:xfrm>
                <a:off x="5303838" y="3684588"/>
                <a:ext cx="47625" cy="92075"/>
              </a:xfrm>
              <a:custGeom>
                <a:avLst/>
                <a:gdLst>
                  <a:gd name="T0" fmla="*/ 47625 w 20000"/>
                  <a:gd name="T1" fmla="*/ 44758 h 20000"/>
                  <a:gd name="T2" fmla="*/ 43865 w 20000"/>
                  <a:gd name="T3" fmla="*/ 92075 h 20000"/>
                  <a:gd name="T4" fmla="*/ 33840 w 20000"/>
                  <a:gd name="T5" fmla="*/ 88240 h 20000"/>
                  <a:gd name="T6" fmla="*/ 7520 w 20000"/>
                  <a:gd name="T7" fmla="*/ 72891 h 20000"/>
                  <a:gd name="T8" fmla="*/ 0 w 20000"/>
                  <a:gd name="T9" fmla="*/ 26854 h 20000"/>
                  <a:gd name="T10" fmla="*/ 6267 w 20000"/>
                  <a:gd name="T11" fmla="*/ 6395 h 20000"/>
                  <a:gd name="T12" fmla="*/ 33840 w 20000"/>
                  <a:gd name="T13" fmla="*/ 0 h 20000"/>
                  <a:gd name="T14" fmla="*/ 43865 w 20000"/>
                  <a:gd name="T15" fmla="*/ 11509 h 20000"/>
                  <a:gd name="T16" fmla="*/ 47625 w 20000"/>
                  <a:gd name="T17" fmla="*/ 44758 h 20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000"/>
                  <a:gd name="T28" fmla="*/ 0 h 20000"/>
                  <a:gd name="T29" fmla="*/ 20000 w 20000"/>
                  <a:gd name="T30" fmla="*/ 20000 h 20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000" h="20000">
                    <a:moveTo>
                      <a:pt x="20000" y="9722"/>
                    </a:moveTo>
                    <a:lnTo>
                      <a:pt x="18421" y="20000"/>
                    </a:lnTo>
                    <a:lnTo>
                      <a:pt x="14211" y="19167"/>
                    </a:lnTo>
                    <a:lnTo>
                      <a:pt x="3158" y="15833"/>
                    </a:lnTo>
                    <a:lnTo>
                      <a:pt x="0" y="5833"/>
                    </a:lnTo>
                    <a:lnTo>
                      <a:pt x="2632" y="1389"/>
                    </a:lnTo>
                    <a:lnTo>
                      <a:pt x="14211" y="0"/>
                    </a:lnTo>
                    <a:lnTo>
                      <a:pt x="18421" y="2500"/>
                    </a:lnTo>
                    <a:lnTo>
                      <a:pt x="20000" y="9722"/>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89" name="Freeform 25">
                <a:extLst>
                  <a:ext uri="{FF2B5EF4-FFF2-40B4-BE49-F238E27FC236}">
                    <a16:creationId xmlns:a16="http://schemas.microsoft.com/office/drawing/2014/main" id="{B2F491D9-0317-1723-C4AE-5D6C4DD0A458}"/>
                  </a:ext>
                </a:extLst>
              </p:cNvPr>
              <p:cNvSpPr>
                <a:spLocks/>
              </p:cNvSpPr>
              <p:nvPr/>
            </p:nvSpPr>
            <p:spPr bwMode="auto">
              <a:xfrm>
                <a:off x="5553075" y="4316413"/>
                <a:ext cx="52388" cy="101600"/>
              </a:xfrm>
              <a:custGeom>
                <a:avLst/>
                <a:gdLst>
                  <a:gd name="T0" fmla="*/ 15334 w 20000"/>
                  <a:gd name="T1" fmla="*/ 0 h 20000"/>
                  <a:gd name="T2" fmla="*/ 11499 w 20000"/>
                  <a:gd name="T3" fmla="*/ 11359 h 20000"/>
                  <a:gd name="T4" fmla="*/ 10221 w 20000"/>
                  <a:gd name="T5" fmla="*/ 53640 h 20000"/>
                  <a:gd name="T6" fmla="*/ 10221 w 20000"/>
                  <a:gd name="T7" fmla="*/ 75098 h 20000"/>
                  <a:gd name="T8" fmla="*/ 0 w 20000"/>
                  <a:gd name="T9" fmla="*/ 95291 h 20000"/>
                  <a:gd name="T10" fmla="*/ 10221 w 20000"/>
                  <a:gd name="T11" fmla="*/ 99075 h 20000"/>
                  <a:gd name="T12" fmla="*/ 21723 w 20000"/>
                  <a:gd name="T13" fmla="*/ 101600 h 20000"/>
                  <a:gd name="T14" fmla="*/ 52388 w 20000"/>
                  <a:gd name="T15" fmla="*/ 87716 h 20000"/>
                  <a:gd name="T16" fmla="*/ 49831 w 20000"/>
                  <a:gd name="T17" fmla="*/ 17668 h 20000"/>
                  <a:gd name="T18" fmla="*/ 15334 w 20000"/>
                  <a:gd name="T19" fmla="*/ 0 h 20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00"/>
                  <a:gd name="T31" fmla="*/ 0 h 20000"/>
                  <a:gd name="T32" fmla="*/ 20000 w 20000"/>
                  <a:gd name="T33" fmla="*/ 20000 h 20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00" h="20000">
                    <a:moveTo>
                      <a:pt x="5854" y="0"/>
                    </a:moveTo>
                    <a:lnTo>
                      <a:pt x="4390" y="2236"/>
                    </a:lnTo>
                    <a:lnTo>
                      <a:pt x="3902" y="10559"/>
                    </a:lnTo>
                    <a:lnTo>
                      <a:pt x="3902" y="14783"/>
                    </a:lnTo>
                    <a:lnTo>
                      <a:pt x="0" y="18758"/>
                    </a:lnTo>
                    <a:lnTo>
                      <a:pt x="3902" y="19503"/>
                    </a:lnTo>
                    <a:lnTo>
                      <a:pt x="8293" y="20000"/>
                    </a:lnTo>
                    <a:lnTo>
                      <a:pt x="20000" y="17267"/>
                    </a:lnTo>
                    <a:lnTo>
                      <a:pt x="19024" y="3478"/>
                    </a:lnTo>
                    <a:lnTo>
                      <a:pt x="5854"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0" name="Freeform 26">
                <a:extLst>
                  <a:ext uri="{FF2B5EF4-FFF2-40B4-BE49-F238E27FC236}">
                    <a16:creationId xmlns:a16="http://schemas.microsoft.com/office/drawing/2014/main" id="{F5EDC9E7-CAB8-23B2-E7B6-BE31AC1A277E}"/>
                  </a:ext>
                </a:extLst>
              </p:cNvPr>
              <p:cNvSpPr>
                <a:spLocks/>
              </p:cNvSpPr>
              <p:nvPr/>
            </p:nvSpPr>
            <p:spPr bwMode="auto">
              <a:xfrm>
                <a:off x="5526088" y="4733925"/>
                <a:ext cx="101600" cy="42863"/>
              </a:xfrm>
              <a:custGeom>
                <a:avLst/>
                <a:gdLst>
                  <a:gd name="T0" fmla="*/ 63500 w 20000"/>
                  <a:gd name="T1" fmla="*/ 0 h 20000"/>
                  <a:gd name="T2" fmla="*/ 29210 w 20000"/>
                  <a:gd name="T3" fmla="*/ 2559 h 20000"/>
                  <a:gd name="T4" fmla="*/ 0 w 20000"/>
                  <a:gd name="T5" fmla="*/ 23671 h 20000"/>
                  <a:gd name="T6" fmla="*/ 2540 w 20000"/>
                  <a:gd name="T7" fmla="*/ 39025 h 20000"/>
                  <a:gd name="T8" fmla="*/ 101600 w 20000"/>
                  <a:gd name="T9" fmla="*/ 42863 h 20000"/>
                  <a:gd name="T10" fmla="*/ 78740 w 20000"/>
                  <a:gd name="T11" fmla="*/ 14074 h 20000"/>
                  <a:gd name="T12" fmla="*/ 63500 w 20000"/>
                  <a:gd name="T13" fmla="*/ 0 h 20000"/>
                  <a:gd name="T14" fmla="*/ 0 60000 65536"/>
                  <a:gd name="T15" fmla="*/ 0 60000 65536"/>
                  <a:gd name="T16" fmla="*/ 0 60000 65536"/>
                  <a:gd name="T17" fmla="*/ 0 60000 65536"/>
                  <a:gd name="T18" fmla="*/ 0 60000 65536"/>
                  <a:gd name="T19" fmla="*/ 0 60000 65536"/>
                  <a:gd name="T20" fmla="*/ 0 60000 65536"/>
                  <a:gd name="T21" fmla="*/ 0 w 20000"/>
                  <a:gd name="T22" fmla="*/ 0 h 20000"/>
                  <a:gd name="T23" fmla="*/ 20000 w 20000"/>
                  <a:gd name="T24" fmla="*/ 20000 h 200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0" h="20000">
                    <a:moveTo>
                      <a:pt x="12500" y="0"/>
                    </a:moveTo>
                    <a:lnTo>
                      <a:pt x="5750" y="1194"/>
                    </a:lnTo>
                    <a:lnTo>
                      <a:pt x="0" y="11045"/>
                    </a:lnTo>
                    <a:lnTo>
                      <a:pt x="500" y="18209"/>
                    </a:lnTo>
                    <a:lnTo>
                      <a:pt x="20000" y="20000"/>
                    </a:lnTo>
                    <a:lnTo>
                      <a:pt x="15500" y="6567"/>
                    </a:lnTo>
                    <a:lnTo>
                      <a:pt x="1250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1" name="Freeform 27">
                <a:extLst>
                  <a:ext uri="{FF2B5EF4-FFF2-40B4-BE49-F238E27FC236}">
                    <a16:creationId xmlns:a16="http://schemas.microsoft.com/office/drawing/2014/main" id="{C688A115-670B-B142-684A-83B36B6312AD}"/>
                  </a:ext>
                </a:extLst>
              </p:cNvPr>
              <p:cNvSpPr>
                <a:spLocks/>
              </p:cNvSpPr>
              <p:nvPr/>
            </p:nvSpPr>
            <p:spPr bwMode="auto">
              <a:xfrm>
                <a:off x="4965700" y="3341688"/>
                <a:ext cx="68263" cy="42862"/>
              </a:xfrm>
              <a:custGeom>
                <a:avLst/>
                <a:gdLst>
                  <a:gd name="T0" fmla="*/ 15032 w 20000"/>
                  <a:gd name="T1" fmla="*/ 11691 h 20000"/>
                  <a:gd name="T2" fmla="*/ 0 w 20000"/>
                  <a:gd name="T3" fmla="*/ 0 h 20000"/>
                  <a:gd name="T4" fmla="*/ 26302 w 20000"/>
                  <a:gd name="T5" fmla="*/ 3896 h 20000"/>
                  <a:gd name="T6" fmla="*/ 41961 w 20000"/>
                  <a:gd name="T7" fmla="*/ 15587 h 20000"/>
                  <a:gd name="T8" fmla="*/ 68263 w 20000"/>
                  <a:gd name="T9" fmla="*/ 31171 h 20000"/>
                  <a:gd name="T10" fmla="*/ 64505 w 20000"/>
                  <a:gd name="T11" fmla="*/ 42862 h 20000"/>
                  <a:gd name="T12" fmla="*/ 41961 w 20000"/>
                  <a:gd name="T13" fmla="*/ 40265 h 20000"/>
                  <a:gd name="T14" fmla="*/ 23796 w 20000"/>
                  <a:gd name="T15" fmla="*/ 35070 h 20000"/>
                  <a:gd name="T16" fmla="*/ 22547 w 20000"/>
                  <a:gd name="T17" fmla="*/ 24678 h 20000"/>
                  <a:gd name="T18" fmla="*/ 15032 w 20000"/>
                  <a:gd name="T19" fmla="*/ 11691 h 20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00"/>
                  <a:gd name="T31" fmla="*/ 0 h 20000"/>
                  <a:gd name="T32" fmla="*/ 20000 w 20000"/>
                  <a:gd name="T33" fmla="*/ 20000 h 20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00" h="20000">
                    <a:moveTo>
                      <a:pt x="4404" y="5455"/>
                    </a:moveTo>
                    <a:lnTo>
                      <a:pt x="0" y="0"/>
                    </a:lnTo>
                    <a:lnTo>
                      <a:pt x="7706" y="1818"/>
                    </a:lnTo>
                    <a:lnTo>
                      <a:pt x="12294" y="7273"/>
                    </a:lnTo>
                    <a:lnTo>
                      <a:pt x="20000" y="14545"/>
                    </a:lnTo>
                    <a:lnTo>
                      <a:pt x="18899" y="20000"/>
                    </a:lnTo>
                    <a:lnTo>
                      <a:pt x="12294" y="18788"/>
                    </a:lnTo>
                    <a:lnTo>
                      <a:pt x="6972" y="16364"/>
                    </a:lnTo>
                    <a:lnTo>
                      <a:pt x="6606" y="11515"/>
                    </a:lnTo>
                    <a:lnTo>
                      <a:pt x="4404" y="5455"/>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2" name="Freeform 28">
                <a:extLst>
                  <a:ext uri="{FF2B5EF4-FFF2-40B4-BE49-F238E27FC236}">
                    <a16:creationId xmlns:a16="http://schemas.microsoft.com/office/drawing/2014/main" id="{19A611DF-77A6-61A0-D0A8-974AA18074E1}"/>
                  </a:ext>
                </a:extLst>
              </p:cNvPr>
              <p:cNvSpPr>
                <a:spLocks/>
              </p:cNvSpPr>
              <p:nvPr/>
            </p:nvSpPr>
            <p:spPr bwMode="auto">
              <a:xfrm>
                <a:off x="5338763" y="3541713"/>
                <a:ext cx="57150" cy="34925"/>
              </a:xfrm>
              <a:custGeom>
                <a:avLst/>
                <a:gdLst>
                  <a:gd name="T0" fmla="*/ 48357 w 20000"/>
                  <a:gd name="T1" fmla="*/ 0 h 20000"/>
                  <a:gd name="T2" fmla="*/ 13816 w 20000"/>
                  <a:gd name="T3" fmla="*/ 0 h 20000"/>
                  <a:gd name="T4" fmla="*/ 0 w 20000"/>
                  <a:gd name="T5" fmla="*/ 11227 h 20000"/>
                  <a:gd name="T6" fmla="*/ 25120 w 20000"/>
                  <a:gd name="T7" fmla="*/ 26194 h 20000"/>
                  <a:gd name="T8" fmla="*/ 37053 w 20000"/>
                  <a:gd name="T9" fmla="*/ 34925 h 20000"/>
                  <a:gd name="T10" fmla="*/ 57150 w 20000"/>
                  <a:gd name="T11" fmla="*/ 22452 h 20000"/>
                  <a:gd name="T12" fmla="*/ 48357 w 20000"/>
                  <a:gd name="T13" fmla="*/ 0 h 20000"/>
                  <a:gd name="T14" fmla="*/ 0 60000 65536"/>
                  <a:gd name="T15" fmla="*/ 0 60000 65536"/>
                  <a:gd name="T16" fmla="*/ 0 60000 65536"/>
                  <a:gd name="T17" fmla="*/ 0 60000 65536"/>
                  <a:gd name="T18" fmla="*/ 0 60000 65536"/>
                  <a:gd name="T19" fmla="*/ 0 60000 65536"/>
                  <a:gd name="T20" fmla="*/ 0 60000 65536"/>
                  <a:gd name="T21" fmla="*/ 0 w 20000"/>
                  <a:gd name="T22" fmla="*/ 0 h 20000"/>
                  <a:gd name="T23" fmla="*/ 20000 w 20000"/>
                  <a:gd name="T24" fmla="*/ 20000 h 200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0" h="20000">
                    <a:moveTo>
                      <a:pt x="16923" y="0"/>
                    </a:moveTo>
                    <a:lnTo>
                      <a:pt x="4835" y="0"/>
                    </a:lnTo>
                    <a:lnTo>
                      <a:pt x="0" y="6429"/>
                    </a:lnTo>
                    <a:lnTo>
                      <a:pt x="8791" y="15000"/>
                    </a:lnTo>
                    <a:lnTo>
                      <a:pt x="12967" y="20000"/>
                    </a:lnTo>
                    <a:lnTo>
                      <a:pt x="20000" y="12857"/>
                    </a:lnTo>
                    <a:lnTo>
                      <a:pt x="16923"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193" name="Group 192">
                <a:extLst>
                  <a:ext uri="{FF2B5EF4-FFF2-40B4-BE49-F238E27FC236}">
                    <a16:creationId xmlns:a16="http://schemas.microsoft.com/office/drawing/2014/main" id="{D2011C4A-D07E-0009-D547-F425912F33E1}"/>
                  </a:ext>
                </a:extLst>
              </p:cNvPr>
              <p:cNvGrpSpPr>
                <a:grpSpLocks/>
              </p:cNvGrpSpPr>
              <p:nvPr/>
            </p:nvGrpSpPr>
            <p:grpSpPr bwMode="auto">
              <a:xfrm>
                <a:off x="3303586" y="1423989"/>
                <a:ext cx="1627186" cy="1758951"/>
                <a:chOff x="2081" y="897"/>
                <a:chExt cx="1025" cy="1108"/>
              </a:xfrm>
            </p:grpSpPr>
            <p:sp>
              <p:nvSpPr>
                <p:cNvPr id="237" name="Freeform 30">
                  <a:extLst>
                    <a:ext uri="{FF2B5EF4-FFF2-40B4-BE49-F238E27FC236}">
                      <a16:creationId xmlns:a16="http://schemas.microsoft.com/office/drawing/2014/main" id="{BD7BB47B-7DC7-989D-028D-1F64F8C41957}"/>
                    </a:ext>
                  </a:extLst>
                </p:cNvPr>
                <p:cNvSpPr>
                  <a:spLocks/>
                </p:cNvSpPr>
                <p:nvPr/>
              </p:nvSpPr>
              <p:spPr bwMode="auto">
                <a:xfrm>
                  <a:off x="2749" y="897"/>
                  <a:ext cx="357" cy="511"/>
                </a:xfrm>
                <a:custGeom>
                  <a:avLst/>
                  <a:gdLst>
                    <a:gd name="T0" fmla="*/ 345 w 20000"/>
                    <a:gd name="T1" fmla="*/ 68 h 20000"/>
                    <a:gd name="T2" fmla="*/ 335 w 20000"/>
                    <a:gd name="T3" fmla="*/ 111 h 20000"/>
                    <a:gd name="T4" fmla="*/ 321 w 20000"/>
                    <a:gd name="T5" fmla="*/ 161 h 20000"/>
                    <a:gd name="T6" fmla="*/ 314 w 20000"/>
                    <a:gd name="T7" fmla="*/ 188 h 20000"/>
                    <a:gd name="T8" fmla="*/ 311 w 20000"/>
                    <a:gd name="T9" fmla="*/ 212 h 20000"/>
                    <a:gd name="T10" fmla="*/ 289 w 20000"/>
                    <a:gd name="T11" fmla="*/ 239 h 20000"/>
                    <a:gd name="T12" fmla="*/ 273 w 20000"/>
                    <a:gd name="T13" fmla="*/ 256 h 20000"/>
                    <a:gd name="T14" fmla="*/ 292 w 20000"/>
                    <a:gd name="T15" fmla="*/ 275 h 20000"/>
                    <a:gd name="T16" fmla="*/ 297 w 20000"/>
                    <a:gd name="T17" fmla="*/ 301 h 20000"/>
                    <a:gd name="T18" fmla="*/ 295 w 20000"/>
                    <a:gd name="T19" fmla="*/ 323 h 20000"/>
                    <a:gd name="T20" fmla="*/ 297 w 20000"/>
                    <a:gd name="T21" fmla="*/ 342 h 20000"/>
                    <a:gd name="T22" fmla="*/ 285 w 20000"/>
                    <a:gd name="T23" fmla="*/ 355 h 20000"/>
                    <a:gd name="T24" fmla="*/ 264 w 20000"/>
                    <a:gd name="T25" fmla="*/ 371 h 20000"/>
                    <a:gd name="T26" fmla="*/ 273 w 20000"/>
                    <a:gd name="T27" fmla="*/ 383 h 20000"/>
                    <a:gd name="T28" fmla="*/ 268 w 20000"/>
                    <a:gd name="T29" fmla="*/ 401 h 20000"/>
                    <a:gd name="T30" fmla="*/ 263 w 20000"/>
                    <a:gd name="T31" fmla="*/ 418 h 20000"/>
                    <a:gd name="T32" fmla="*/ 288 w 20000"/>
                    <a:gd name="T33" fmla="*/ 427 h 20000"/>
                    <a:gd name="T34" fmla="*/ 288 w 20000"/>
                    <a:gd name="T35" fmla="*/ 458 h 20000"/>
                    <a:gd name="T36" fmla="*/ 278 w 20000"/>
                    <a:gd name="T37" fmla="*/ 473 h 20000"/>
                    <a:gd name="T38" fmla="*/ 249 w 20000"/>
                    <a:gd name="T39" fmla="*/ 473 h 20000"/>
                    <a:gd name="T40" fmla="*/ 225 w 20000"/>
                    <a:gd name="T41" fmla="*/ 473 h 20000"/>
                    <a:gd name="T42" fmla="*/ 205 w 20000"/>
                    <a:gd name="T43" fmla="*/ 488 h 20000"/>
                    <a:gd name="T44" fmla="*/ 181 w 20000"/>
                    <a:gd name="T45" fmla="*/ 493 h 20000"/>
                    <a:gd name="T46" fmla="*/ 150 w 20000"/>
                    <a:gd name="T47" fmla="*/ 504 h 20000"/>
                    <a:gd name="T48" fmla="*/ 129 w 20000"/>
                    <a:gd name="T49" fmla="*/ 511 h 20000"/>
                    <a:gd name="T50" fmla="*/ 101 w 20000"/>
                    <a:gd name="T51" fmla="*/ 511 h 20000"/>
                    <a:gd name="T52" fmla="*/ 104 w 20000"/>
                    <a:gd name="T53" fmla="*/ 461 h 20000"/>
                    <a:gd name="T54" fmla="*/ 112 w 20000"/>
                    <a:gd name="T55" fmla="*/ 444 h 20000"/>
                    <a:gd name="T56" fmla="*/ 100 w 20000"/>
                    <a:gd name="T57" fmla="*/ 417 h 20000"/>
                    <a:gd name="T58" fmla="*/ 104 w 20000"/>
                    <a:gd name="T59" fmla="*/ 390 h 20000"/>
                    <a:gd name="T60" fmla="*/ 111 w 20000"/>
                    <a:gd name="T61" fmla="*/ 348 h 20000"/>
                    <a:gd name="T62" fmla="*/ 135 w 20000"/>
                    <a:gd name="T63" fmla="*/ 323 h 20000"/>
                    <a:gd name="T64" fmla="*/ 118 w 20000"/>
                    <a:gd name="T65" fmla="*/ 290 h 20000"/>
                    <a:gd name="T66" fmla="*/ 102 w 20000"/>
                    <a:gd name="T67" fmla="*/ 273 h 20000"/>
                    <a:gd name="T68" fmla="*/ 96 w 20000"/>
                    <a:gd name="T69" fmla="*/ 250 h 20000"/>
                    <a:gd name="T70" fmla="*/ 47 w 20000"/>
                    <a:gd name="T71" fmla="*/ 231 h 20000"/>
                    <a:gd name="T72" fmla="*/ 25 w 20000"/>
                    <a:gd name="T73" fmla="*/ 215 h 20000"/>
                    <a:gd name="T74" fmla="*/ 29 w 20000"/>
                    <a:gd name="T75" fmla="*/ 202 h 20000"/>
                    <a:gd name="T76" fmla="*/ 8 w 20000"/>
                    <a:gd name="T77" fmla="*/ 195 h 20000"/>
                    <a:gd name="T78" fmla="*/ 7 w 20000"/>
                    <a:gd name="T79" fmla="*/ 181 h 20000"/>
                    <a:gd name="T80" fmla="*/ 30 w 20000"/>
                    <a:gd name="T81" fmla="*/ 173 h 20000"/>
                    <a:gd name="T82" fmla="*/ 59 w 20000"/>
                    <a:gd name="T83" fmla="*/ 147 h 20000"/>
                    <a:gd name="T84" fmla="*/ 70 w 20000"/>
                    <a:gd name="T85" fmla="*/ 130 h 20000"/>
                    <a:gd name="T86" fmla="*/ 87 w 20000"/>
                    <a:gd name="T87" fmla="*/ 128 h 20000"/>
                    <a:gd name="T88" fmla="*/ 111 w 20000"/>
                    <a:gd name="T89" fmla="*/ 115 h 20000"/>
                    <a:gd name="T90" fmla="*/ 118 w 20000"/>
                    <a:gd name="T91" fmla="*/ 99 h 20000"/>
                    <a:gd name="T92" fmla="*/ 134 w 20000"/>
                    <a:gd name="T93" fmla="*/ 82 h 20000"/>
                    <a:gd name="T94" fmla="*/ 162 w 20000"/>
                    <a:gd name="T95" fmla="*/ 64 h 20000"/>
                    <a:gd name="T96" fmla="*/ 220 w 20000"/>
                    <a:gd name="T97" fmla="*/ 39 h 20000"/>
                    <a:gd name="T98" fmla="*/ 241 w 20000"/>
                    <a:gd name="T99" fmla="*/ 30 h 20000"/>
                    <a:gd name="T100" fmla="*/ 294 w 20000"/>
                    <a:gd name="T101" fmla="*/ 9 h 20000"/>
                    <a:gd name="T102" fmla="*/ 306 w 20000"/>
                    <a:gd name="T103" fmla="*/ 10 h 20000"/>
                    <a:gd name="T104" fmla="*/ 317 w 20000"/>
                    <a:gd name="T105" fmla="*/ 5 h 20000"/>
                    <a:gd name="T106" fmla="*/ 331 w 20000"/>
                    <a:gd name="T107" fmla="*/ 12 h 20000"/>
                    <a:gd name="T108" fmla="*/ 357 w 20000"/>
                    <a:gd name="T109" fmla="*/ 10 h 200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000"/>
                    <a:gd name="T166" fmla="*/ 0 h 20000"/>
                    <a:gd name="T167" fmla="*/ 20000 w 20000"/>
                    <a:gd name="T168" fmla="*/ 20000 h 200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000" h="20000">
                      <a:moveTo>
                        <a:pt x="19507" y="1519"/>
                      </a:moveTo>
                      <a:lnTo>
                        <a:pt x="19059" y="2146"/>
                      </a:lnTo>
                      <a:lnTo>
                        <a:pt x="19328" y="2647"/>
                      </a:lnTo>
                      <a:lnTo>
                        <a:pt x="19373" y="3179"/>
                      </a:lnTo>
                      <a:lnTo>
                        <a:pt x="18970" y="3649"/>
                      </a:lnTo>
                      <a:lnTo>
                        <a:pt x="18791" y="4354"/>
                      </a:lnTo>
                      <a:lnTo>
                        <a:pt x="18387" y="4699"/>
                      </a:lnTo>
                      <a:lnTo>
                        <a:pt x="17828" y="6139"/>
                      </a:lnTo>
                      <a:lnTo>
                        <a:pt x="17962" y="6296"/>
                      </a:lnTo>
                      <a:lnTo>
                        <a:pt x="17693" y="6703"/>
                      </a:lnTo>
                      <a:lnTo>
                        <a:pt x="17693" y="6954"/>
                      </a:lnTo>
                      <a:lnTo>
                        <a:pt x="17604" y="7377"/>
                      </a:lnTo>
                      <a:lnTo>
                        <a:pt x="17066" y="8128"/>
                      </a:lnTo>
                      <a:lnTo>
                        <a:pt x="17200" y="8003"/>
                      </a:lnTo>
                      <a:lnTo>
                        <a:pt x="17424" y="8316"/>
                      </a:lnTo>
                      <a:lnTo>
                        <a:pt x="16394" y="8755"/>
                      </a:lnTo>
                      <a:lnTo>
                        <a:pt x="16394" y="9162"/>
                      </a:lnTo>
                      <a:lnTo>
                        <a:pt x="16215" y="9350"/>
                      </a:lnTo>
                      <a:lnTo>
                        <a:pt x="15857" y="9601"/>
                      </a:lnTo>
                      <a:lnTo>
                        <a:pt x="15543" y="9726"/>
                      </a:lnTo>
                      <a:lnTo>
                        <a:pt x="15319" y="10023"/>
                      </a:lnTo>
                      <a:lnTo>
                        <a:pt x="15722" y="10274"/>
                      </a:lnTo>
                      <a:lnTo>
                        <a:pt x="15543" y="10462"/>
                      </a:lnTo>
                      <a:lnTo>
                        <a:pt x="16349" y="10744"/>
                      </a:lnTo>
                      <a:lnTo>
                        <a:pt x="16260" y="11308"/>
                      </a:lnTo>
                      <a:lnTo>
                        <a:pt x="16394" y="11433"/>
                      </a:lnTo>
                      <a:lnTo>
                        <a:pt x="16618" y="11778"/>
                      </a:lnTo>
                      <a:lnTo>
                        <a:pt x="16753" y="11778"/>
                      </a:lnTo>
                      <a:lnTo>
                        <a:pt x="16663" y="12467"/>
                      </a:lnTo>
                      <a:lnTo>
                        <a:pt x="16529" y="12655"/>
                      </a:lnTo>
                      <a:lnTo>
                        <a:pt x="16529" y="12952"/>
                      </a:lnTo>
                      <a:lnTo>
                        <a:pt x="16529" y="13203"/>
                      </a:lnTo>
                      <a:lnTo>
                        <a:pt x="16663" y="13391"/>
                      </a:lnTo>
                      <a:lnTo>
                        <a:pt x="16484" y="13610"/>
                      </a:lnTo>
                      <a:lnTo>
                        <a:pt x="16125" y="13610"/>
                      </a:lnTo>
                      <a:lnTo>
                        <a:pt x="15946" y="13892"/>
                      </a:lnTo>
                      <a:lnTo>
                        <a:pt x="14468" y="14236"/>
                      </a:lnTo>
                      <a:lnTo>
                        <a:pt x="14647" y="14424"/>
                      </a:lnTo>
                      <a:lnTo>
                        <a:pt x="14782" y="14518"/>
                      </a:lnTo>
                      <a:lnTo>
                        <a:pt x="14916" y="14800"/>
                      </a:lnTo>
                      <a:lnTo>
                        <a:pt x="15274" y="14738"/>
                      </a:lnTo>
                      <a:lnTo>
                        <a:pt x="15319" y="14988"/>
                      </a:lnTo>
                      <a:lnTo>
                        <a:pt x="15006" y="15458"/>
                      </a:lnTo>
                      <a:lnTo>
                        <a:pt x="15140" y="15646"/>
                      </a:lnTo>
                      <a:lnTo>
                        <a:pt x="15006" y="15677"/>
                      </a:lnTo>
                      <a:lnTo>
                        <a:pt x="14647" y="15756"/>
                      </a:lnTo>
                      <a:lnTo>
                        <a:pt x="14602" y="15944"/>
                      </a:lnTo>
                      <a:lnTo>
                        <a:pt x="14737" y="16351"/>
                      </a:lnTo>
                      <a:lnTo>
                        <a:pt x="15454" y="16633"/>
                      </a:lnTo>
                      <a:lnTo>
                        <a:pt x="15857" y="16413"/>
                      </a:lnTo>
                      <a:lnTo>
                        <a:pt x="16125" y="16695"/>
                      </a:lnTo>
                      <a:lnTo>
                        <a:pt x="16484" y="17259"/>
                      </a:lnTo>
                      <a:lnTo>
                        <a:pt x="16349" y="17572"/>
                      </a:lnTo>
                      <a:lnTo>
                        <a:pt x="16125" y="17917"/>
                      </a:lnTo>
                      <a:lnTo>
                        <a:pt x="15946" y="17854"/>
                      </a:lnTo>
                      <a:lnTo>
                        <a:pt x="15677" y="18293"/>
                      </a:lnTo>
                      <a:lnTo>
                        <a:pt x="15588" y="18512"/>
                      </a:lnTo>
                      <a:lnTo>
                        <a:pt x="13953" y="19436"/>
                      </a:lnTo>
                      <a:lnTo>
                        <a:pt x="13908" y="19154"/>
                      </a:lnTo>
                      <a:lnTo>
                        <a:pt x="13953" y="18512"/>
                      </a:lnTo>
                      <a:lnTo>
                        <a:pt x="13639" y="18387"/>
                      </a:lnTo>
                      <a:lnTo>
                        <a:pt x="13371" y="18481"/>
                      </a:lnTo>
                      <a:lnTo>
                        <a:pt x="12609" y="18512"/>
                      </a:lnTo>
                      <a:lnTo>
                        <a:pt x="12475" y="18904"/>
                      </a:lnTo>
                      <a:lnTo>
                        <a:pt x="12027" y="19154"/>
                      </a:lnTo>
                      <a:lnTo>
                        <a:pt x="11489" y="19092"/>
                      </a:lnTo>
                      <a:lnTo>
                        <a:pt x="10683" y="18904"/>
                      </a:lnTo>
                      <a:lnTo>
                        <a:pt x="10459" y="19154"/>
                      </a:lnTo>
                      <a:lnTo>
                        <a:pt x="10146" y="19280"/>
                      </a:lnTo>
                      <a:lnTo>
                        <a:pt x="10280" y="19561"/>
                      </a:lnTo>
                      <a:lnTo>
                        <a:pt x="9899" y="19749"/>
                      </a:lnTo>
                      <a:lnTo>
                        <a:pt x="8421" y="19718"/>
                      </a:lnTo>
                      <a:lnTo>
                        <a:pt x="8018" y="19812"/>
                      </a:lnTo>
                      <a:lnTo>
                        <a:pt x="7570" y="19812"/>
                      </a:lnTo>
                      <a:lnTo>
                        <a:pt x="7212" y="20000"/>
                      </a:lnTo>
                      <a:lnTo>
                        <a:pt x="6405" y="19937"/>
                      </a:lnTo>
                      <a:lnTo>
                        <a:pt x="6092" y="19937"/>
                      </a:lnTo>
                      <a:lnTo>
                        <a:pt x="5666" y="20000"/>
                      </a:lnTo>
                      <a:lnTo>
                        <a:pt x="5174" y="19812"/>
                      </a:lnTo>
                      <a:lnTo>
                        <a:pt x="4905" y="18810"/>
                      </a:lnTo>
                      <a:lnTo>
                        <a:pt x="5801" y="18042"/>
                      </a:lnTo>
                      <a:lnTo>
                        <a:pt x="6898" y="17760"/>
                      </a:lnTo>
                      <a:lnTo>
                        <a:pt x="6764" y="17384"/>
                      </a:lnTo>
                      <a:lnTo>
                        <a:pt x="6271" y="17384"/>
                      </a:lnTo>
                      <a:lnTo>
                        <a:pt x="6271" y="17009"/>
                      </a:lnTo>
                      <a:lnTo>
                        <a:pt x="5666" y="16727"/>
                      </a:lnTo>
                      <a:lnTo>
                        <a:pt x="5577" y="16319"/>
                      </a:lnTo>
                      <a:lnTo>
                        <a:pt x="5935" y="15395"/>
                      </a:lnTo>
                      <a:lnTo>
                        <a:pt x="6137" y="15208"/>
                      </a:lnTo>
                      <a:lnTo>
                        <a:pt x="5801" y="15270"/>
                      </a:lnTo>
                      <a:lnTo>
                        <a:pt x="5711" y="14832"/>
                      </a:lnTo>
                      <a:lnTo>
                        <a:pt x="5935" y="13892"/>
                      </a:lnTo>
                      <a:lnTo>
                        <a:pt x="6226" y="13610"/>
                      </a:lnTo>
                      <a:lnTo>
                        <a:pt x="7436" y="13109"/>
                      </a:lnTo>
                      <a:lnTo>
                        <a:pt x="7704" y="12811"/>
                      </a:lnTo>
                      <a:lnTo>
                        <a:pt x="7570" y="12655"/>
                      </a:lnTo>
                      <a:lnTo>
                        <a:pt x="7615" y="12467"/>
                      </a:lnTo>
                      <a:lnTo>
                        <a:pt x="7749" y="12153"/>
                      </a:lnTo>
                      <a:lnTo>
                        <a:pt x="6629" y="11339"/>
                      </a:lnTo>
                      <a:lnTo>
                        <a:pt x="5174" y="11057"/>
                      </a:lnTo>
                      <a:lnTo>
                        <a:pt x="5263" y="10775"/>
                      </a:lnTo>
                      <a:lnTo>
                        <a:pt x="5711" y="10681"/>
                      </a:lnTo>
                      <a:lnTo>
                        <a:pt x="4905" y="10462"/>
                      </a:lnTo>
                      <a:lnTo>
                        <a:pt x="4994" y="9977"/>
                      </a:lnTo>
                      <a:lnTo>
                        <a:pt x="5398" y="9789"/>
                      </a:lnTo>
                      <a:lnTo>
                        <a:pt x="4591" y="9256"/>
                      </a:lnTo>
                      <a:lnTo>
                        <a:pt x="4054" y="9225"/>
                      </a:lnTo>
                      <a:lnTo>
                        <a:pt x="2620" y="9037"/>
                      </a:lnTo>
                      <a:lnTo>
                        <a:pt x="2307" y="8786"/>
                      </a:lnTo>
                      <a:lnTo>
                        <a:pt x="1926" y="8598"/>
                      </a:lnTo>
                      <a:lnTo>
                        <a:pt x="1389" y="8410"/>
                      </a:lnTo>
                      <a:lnTo>
                        <a:pt x="1344" y="8222"/>
                      </a:lnTo>
                      <a:lnTo>
                        <a:pt x="2217" y="8003"/>
                      </a:lnTo>
                      <a:lnTo>
                        <a:pt x="1613" y="7909"/>
                      </a:lnTo>
                      <a:lnTo>
                        <a:pt x="1120" y="7815"/>
                      </a:lnTo>
                      <a:lnTo>
                        <a:pt x="851" y="7659"/>
                      </a:lnTo>
                      <a:lnTo>
                        <a:pt x="448" y="7627"/>
                      </a:lnTo>
                      <a:lnTo>
                        <a:pt x="0" y="7439"/>
                      </a:lnTo>
                      <a:lnTo>
                        <a:pt x="179" y="7079"/>
                      </a:lnTo>
                      <a:lnTo>
                        <a:pt x="403" y="7079"/>
                      </a:lnTo>
                      <a:lnTo>
                        <a:pt x="403" y="6954"/>
                      </a:lnTo>
                      <a:lnTo>
                        <a:pt x="1389" y="6609"/>
                      </a:lnTo>
                      <a:lnTo>
                        <a:pt x="1657" y="6766"/>
                      </a:lnTo>
                      <a:lnTo>
                        <a:pt x="1881" y="6327"/>
                      </a:lnTo>
                      <a:lnTo>
                        <a:pt x="2441" y="6045"/>
                      </a:lnTo>
                      <a:lnTo>
                        <a:pt x="3292" y="5764"/>
                      </a:lnTo>
                      <a:lnTo>
                        <a:pt x="3247" y="5638"/>
                      </a:lnTo>
                      <a:lnTo>
                        <a:pt x="4188" y="5356"/>
                      </a:lnTo>
                      <a:lnTo>
                        <a:pt x="3919" y="5106"/>
                      </a:lnTo>
                      <a:lnTo>
                        <a:pt x="3695" y="5074"/>
                      </a:lnTo>
                      <a:lnTo>
                        <a:pt x="4636" y="4886"/>
                      </a:lnTo>
                      <a:lnTo>
                        <a:pt x="4860" y="5012"/>
                      </a:lnTo>
                      <a:lnTo>
                        <a:pt x="5532" y="5074"/>
                      </a:lnTo>
                      <a:lnTo>
                        <a:pt x="6092" y="4824"/>
                      </a:lnTo>
                      <a:lnTo>
                        <a:pt x="6226" y="4511"/>
                      </a:lnTo>
                      <a:lnTo>
                        <a:pt x="6226" y="4323"/>
                      </a:lnTo>
                      <a:lnTo>
                        <a:pt x="6226" y="4150"/>
                      </a:lnTo>
                      <a:lnTo>
                        <a:pt x="6629" y="3868"/>
                      </a:lnTo>
                      <a:lnTo>
                        <a:pt x="6629" y="3774"/>
                      </a:lnTo>
                      <a:lnTo>
                        <a:pt x="7167" y="3555"/>
                      </a:lnTo>
                      <a:lnTo>
                        <a:pt x="7480" y="3211"/>
                      </a:lnTo>
                      <a:lnTo>
                        <a:pt x="7749" y="3117"/>
                      </a:lnTo>
                      <a:lnTo>
                        <a:pt x="8914" y="2741"/>
                      </a:lnTo>
                      <a:lnTo>
                        <a:pt x="9093" y="2522"/>
                      </a:lnTo>
                      <a:lnTo>
                        <a:pt x="11400" y="2146"/>
                      </a:lnTo>
                      <a:lnTo>
                        <a:pt x="11624" y="1801"/>
                      </a:lnTo>
                      <a:lnTo>
                        <a:pt x="12340" y="1519"/>
                      </a:lnTo>
                      <a:lnTo>
                        <a:pt x="12296" y="1707"/>
                      </a:lnTo>
                      <a:lnTo>
                        <a:pt x="12833" y="1222"/>
                      </a:lnTo>
                      <a:lnTo>
                        <a:pt x="13505" y="1190"/>
                      </a:lnTo>
                      <a:lnTo>
                        <a:pt x="14199" y="1002"/>
                      </a:lnTo>
                      <a:lnTo>
                        <a:pt x="15857" y="564"/>
                      </a:lnTo>
                      <a:lnTo>
                        <a:pt x="16484" y="345"/>
                      </a:lnTo>
                      <a:lnTo>
                        <a:pt x="16887" y="251"/>
                      </a:lnTo>
                      <a:lnTo>
                        <a:pt x="16887" y="345"/>
                      </a:lnTo>
                      <a:lnTo>
                        <a:pt x="17156" y="376"/>
                      </a:lnTo>
                      <a:lnTo>
                        <a:pt x="17424" y="0"/>
                      </a:lnTo>
                      <a:lnTo>
                        <a:pt x="17693" y="63"/>
                      </a:lnTo>
                      <a:lnTo>
                        <a:pt x="17738" y="188"/>
                      </a:lnTo>
                      <a:lnTo>
                        <a:pt x="17559" y="345"/>
                      </a:lnTo>
                      <a:lnTo>
                        <a:pt x="18298" y="345"/>
                      </a:lnTo>
                      <a:lnTo>
                        <a:pt x="18522" y="470"/>
                      </a:lnTo>
                      <a:lnTo>
                        <a:pt x="18656" y="282"/>
                      </a:lnTo>
                      <a:lnTo>
                        <a:pt x="19731" y="94"/>
                      </a:lnTo>
                      <a:lnTo>
                        <a:pt x="20000" y="376"/>
                      </a:lnTo>
                      <a:lnTo>
                        <a:pt x="19507" y="1519"/>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8" name="Freeform 31">
                  <a:extLst>
                    <a:ext uri="{FF2B5EF4-FFF2-40B4-BE49-F238E27FC236}">
                      <a16:creationId xmlns:a16="http://schemas.microsoft.com/office/drawing/2014/main" id="{468D06A1-0D86-1962-3682-BECBECF8FEF5}"/>
                    </a:ext>
                  </a:extLst>
                </p:cNvPr>
                <p:cNvSpPr>
                  <a:spLocks/>
                </p:cNvSpPr>
                <p:nvPr/>
              </p:nvSpPr>
              <p:spPr bwMode="auto">
                <a:xfrm>
                  <a:off x="2221" y="1624"/>
                  <a:ext cx="424" cy="357"/>
                </a:xfrm>
                <a:custGeom>
                  <a:avLst/>
                  <a:gdLst>
                    <a:gd name="T0" fmla="*/ 226 w 20000"/>
                    <a:gd name="T1" fmla="*/ 46 h 20000"/>
                    <a:gd name="T2" fmla="*/ 262 w 20000"/>
                    <a:gd name="T3" fmla="*/ 21 h 20000"/>
                    <a:gd name="T4" fmla="*/ 296 w 20000"/>
                    <a:gd name="T5" fmla="*/ 30 h 20000"/>
                    <a:gd name="T6" fmla="*/ 310 w 20000"/>
                    <a:gd name="T7" fmla="*/ 46 h 20000"/>
                    <a:gd name="T8" fmla="*/ 318 w 20000"/>
                    <a:gd name="T9" fmla="*/ 65 h 20000"/>
                    <a:gd name="T10" fmla="*/ 340 w 20000"/>
                    <a:gd name="T11" fmla="*/ 144 h 20000"/>
                    <a:gd name="T12" fmla="*/ 338 w 20000"/>
                    <a:gd name="T13" fmla="*/ 179 h 20000"/>
                    <a:gd name="T14" fmla="*/ 343 w 20000"/>
                    <a:gd name="T15" fmla="*/ 195 h 20000"/>
                    <a:gd name="T16" fmla="*/ 360 w 20000"/>
                    <a:gd name="T17" fmla="*/ 224 h 20000"/>
                    <a:gd name="T18" fmla="*/ 373 w 20000"/>
                    <a:gd name="T19" fmla="*/ 219 h 20000"/>
                    <a:gd name="T20" fmla="*/ 393 w 20000"/>
                    <a:gd name="T21" fmla="*/ 241 h 20000"/>
                    <a:gd name="T22" fmla="*/ 422 w 20000"/>
                    <a:gd name="T23" fmla="*/ 253 h 20000"/>
                    <a:gd name="T24" fmla="*/ 414 w 20000"/>
                    <a:gd name="T25" fmla="*/ 289 h 20000"/>
                    <a:gd name="T26" fmla="*/ 403 w 20000"/>
                    <a:gd name="T27" fmla="*/ 331 h 20000"/>
                    <a:gd name="T28" fmla="*/ 386 w 20000"/>
                    <a:gd name="T29" fmla="*/ 345 h 20000"/>
                    <a:gd name="T30" fmla="*/ 378 w 20000"/>
                    <a:gd name="T31" fmla="*/ 350 h 20000"/>
                    <a:gd name="T32" fmla="*/ 361 w 20000"/>
                    <a:gd name="T33" fmla="*/ 355 h 20000"/>
                    <a:gd name="T34" fmla="*/ 328 w 20000"/>
                    <a:gd name="T35" fmla="*/ 349 h 20000"/>
                    <a:gd name="T36" fmla="*/ 314 w 20000"/>
                    <a:gd name="T37" fmla="*/ 338 h 20000"/>
                    <a:gd name="T38" fmla="*/ 292 w 20000"/>
                    <a:gd name="T39" fmla="*/ 326 h 20000"/>
                    <a:gd name="T40" fmla="*/ 268 w 20000"/>
                    <a:gd name="T41" fmla="*/ 318 h 20000"/>
                    <a:gd name="T42" fmla="*/ 224 w 20000"/>
                    <a:gd name="T43" fmla="*/ 337 h 20000"/>
                    <a:gd name="T44" fmla="*/ 169 w 20000"/>
                    <a:gd name="T45" fmla="*/ 354 h 20000"/>
                    <a:gd name="T46" fmla="*/ 150 w 20000"/>
                    <a:gd name="T47" fmla="*/ 357 h 20000"/>
                    <a:gd name="T48" fmla="*/ 93 w 20000"/>
                    <a:gd name="T49" fmla="*/ 339 h 20000"/>
                    <a:gd name="T50" fmla="*/ 92 w 20000"/>
                    <a:gd name="T51" fmla="*/ 299 h 20000"/>
                    <a:gd name="T52" fmla="*/ 36 w 20000"/>
                    <a:gd name="T53" fmla="*/ 279 h 20000"/>
                    <a:gd name="T54" fmla="*/ 24 w 20000"/>
                    <a:gd name="T55" fmla="*/ 258 h 20000"/>
                    <a:gd name="T56" fmla="*/ 11 w 20000"/>
                    <a:gd name="T57" fmla="*/ 236 h 20000"/>
                    <a:gd name="T58" fmla="*/ 18 w 20000"/>
                    <a:gd name="T59" fmla="*/ 179 h 20000"/>
                    <a:gd name="T60" fmla="*/ 14 w 20000"/>
                    <a:gd name="T61" fmla="*/ 118 h 20000"/>
                    <a:gd name="T62" fmla="*/ 5 w 20000"/>
                    <a:gd name="T63" fmla="*/ 99 h 20000"/>
                    <a:gd name="T64" fmla="*/ 4 w 20000"/>
                    <a:gd name="T65" fmla="*/ 81 h 20000"/>
                    <a:gd name="T66" fmla="*/ 31 w 20000"/>
                    <a:gd name="T67" fmla="*/ 60 h 20000"/>
                    <a:gd name="T68" fmla="*/ 30 w 20000"/>
                    <a:gd name="T69" fmla="*/ 38 h 20000"/>
                    <a:gd name="T70" fmla="*/ 122 w 20000"/>
                    <a:gd name="T71" fmla="*/ 0 h 20000"/>
                    <a:gd name="T72" fmla="*/ 147 w 20000"/>
                    <a:gd name="T73" fmla="*/ 30 h 20000"/>
                    <a:gd name="T74" fmla="*/ 204 w 20000"/>
                    <a:gd name="T75" fmla="*/ 40 h 200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000"/>
                    <a:gd name="T115" fmla="*/ 0 h 20000"/>
                    <a:gd name="T116" fmla="*/ 20000 w 20000"/>
                    <a:gd name="T117" fmla="*/ 20000 h 200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000" h="20000">
                      <a:moveTo>
                        <a:pt x="9642" y="2242"/>
                      </a:moveTo>
                      <a:lnTo>
                        <a:pt x="10660" y="2578"/>
                      </a:lnTo>
                      <a:lnTo>
                        <a:pt x="12189" y="1883"/>
                      </a:lnTo>
                      <a:lnTo>
                        <a:pt x="12377" y="1166"/>
                      </a:lnTo>
                      <a:lnTo>
                        <a:pt x="13434" y="1435"/>
                      </a:lnTo>
                      <a:lnTo>
                        <a:pt x="13962" y="1704"/>
                      </a:lnTo>
                      <a:lnTo>
                        <a:pt x="14226" y="2287"/>
                      </a:lnTo>
                      <a:lnTo>
                        <a:pt x="14642" y="2578"/>
                      </a:lnTo>
                      <a:lnTo>
                        <a:pt x="15113" y="3475"/>
                      </a:lnTo>
                      <a:lnTo>
                        <a:pt x="14981" y="3655"/>
                      </a:lnTo>
                      <a:lnTo>
                        <a:pt x="15604" y="7242"/>
                      </a:lnTo>
                      <a:lnTo>
                        <a:pt x="16019" y="8072"/>
                      </a:lnTo>
                      <a:lnTo>
                        <a:pt x="16170" y="9417"/>
                      </a:lnTo>
                      <a:lnTo>
                        <a:pt x="15943" y="10000"/>
                      </a:lnTo>
                      <a:lnTo>
                        <a:pt x="15717" y="10269"/>
                      </a:lnTo>
                      <a:lnTo>
                        <a:pt x="16170" y="10942"/>
                      </a:lnTo>
                      <a:lnTo>
                        <a:pt x="16396" y="11704"/>
                      </a:lnTo>
                      <a:lnTo>
                        <a:pt x="16962" y="12534"/>
                      </a:lnTo>
                      <a:lnTo>
                        <a:pt x="17415" y="12242"/>
                      </a:lnTo>
                      <a:lnTo>
                        <a:pt x="17604" y="12242"/>
                      </a:lnTo>
                      <a:lnTo>
                        <a:pt x="17755" y="12848"/>
                      </a:lnTo>
                      <a:lnTo>
                        <a:pt x="18528" y="13520"/>
                      </a:lnTo>
                      <a:lnTo>
                        <a:pt x="19208" y="13789"/>
                      </a:lnTo>
                      <a:lnTo>
                        <a:pt x="19887" y="14148"/>
                      </a:lnTo>
                      <a:lnTo>
                        <a:pt x="20000" y="16166"/>
                      </a:lnTo>
                      <a:lnTo>
                        <a:pt x="19547" y="16211"/>
                      </a:lnTo>
                      <a:lnTo>
                        <a:pt x="18868" y="18072"/>
                      </a:lnTo>
                      <a:lnTo>
                        <a:pt x="19019" y="18520"/>
                      </a:lnTo>
                      <a:lnTo>
                        <a:pt x="18868" y="19058"/>
                      </a:lnTo>
                      <a:lnTo>
                        <a:pt x="18208" y="19327"/>
                      </a:lnTo>
                      <a:lnTo>
                        <a:pt x="17981" y="19596"/>
                      </a:lnTo>
                      <a:lnTo>
                        <a:pt x="17830" y="19596"/>
                      </a:lnTo>
                      <a:lnTo>
                        <a:pt x="17377" y="19821"/>
                      </a:lnTo>
                      <a:lnTo>
                        <a:pt x="17038" y="19865"/>
                      </a:lnTo>
                      <a:lnTo>
                        <a:pt x="15679" y="19193"/>
                      </a:lnTo>
                      <a:lnTo>
                        <a:pt x="15453" y="19552"/>
                      </a:lnTo>
                      <a:lnTo>
                        <a:pt x="14792" y="19327"/>
                      </a:lnTo>
                      <a:lnTo>
                        <a:pt x="14792" y="18924"/>
                      </a:lnTo>
                      <a:lnTo>
                        <a:pt x="14415" y="18386"/>
                      </a:lnTo>
                      <a:lnTo>
                        <a:pt x="13774" y="18251"/>
                      </a:lnTo>
                      <a:lnTo>
                        <a:pt x="13283" y="18072"/>
                      </a:lnTo>
                      <a:lnTo>
                        <a:pt x="12642" y="17803"/>
                      </a:lnTo>
                      <a:lnTo>
                        <a:pt x="11811" y="18789"/>
                      </a:lnTo>
                      <a:lnTo>
                        <a:pt x="10547" y="18879"/>
                      </a:lnTo>
                      <a:lnTo>
                        <a:pt x="9792" y="19596"/>
                      </a:lnTo>
                      <a:lnTo>
                        <a:pt x="7962" y="19821"/>
                      </a:lnTo>
                      <a:lnTo>
                        <a:pt x="7358" y="19821"/>
                      </a:lnTo>
                      <a:lnTo>
                        <a:pt x="7057" y="20000"/>
                      </a:lnTo>
                      <a:lnTo>
                        <a:pt x="4509" y="19686"/>
                      </a:lnTo>
                      <a:lnTo>
                        <a:pt x="4396" y="19013"/>
                      </a:lnTo>
                      <a:lnTo>
                        <a:pt x="4283" y="17982"/>
                      </a:lnTo>
                      <a:lnTo>
                        <a:pt x="4321" y="16749"/>
                      </a:lnTo>
                      <a:lnTo>
                        <a:pt x="3491" y="16166"/>
                      </a:lnTo>
                      <a:lnTo>
                        <a:pt x="1717" y="15628"/>
                      </a:lnTo>
                      <a:lnTo>
                        <a:pt x="1019" y="14731"/>
                      </a:lnTo>
                      <a:lnTo>
                        <a:pt x="1132" y="14462"/>
                      </a:lnTo>
                      <a:lnTo>
                        <a:pt x="868" y="14148"/>
                      </a:lnTo>
                      <a:lnTo>
                        <a:pt x="528" y="13206"/>
                      </a:lnTo>
                      <a:lnTo>
                        <a:pt x="566" y="12377"/>
                      </a:lnTo>
                      <a:lnTo>
                        <a:pt x="868" y="10000"/>
                      </a:lnTo>
                      <a:lnTo>
                        <a:pt x="189" y="8206"/>
                      </a:lnTo>
                      <a:lnTo>
                        <a:pt x="679" y="6614"/>
                      </a:lnTo>
                      <a:lnTo>
                        <a:pt x="755" y="6300"/>
                      </a:lnTo>
                      <a:lnTo>
                        <a:pt x="226" y="5538"/>
                      </a:lnTo>
                      <a:lnTo>
                        <a:pt x="0" y="5269"/>
                      </a:lnTo>
                      <a:lnTo>
                        <a:pt x="189" y="4552"/>
                      </a:lnTo>
                      <a:lnTo>
                        <a:pt x="1019" y="3520"/>
                      </a:lnTo>
                      <a:lnTo>
                        <a:pt x="1472" y="3341"/>
                      </a:lnTo>
                      <a:lnTo>
                        <a:pt x="1019" y="2668"/>
                      </a:lnTo>
                      <a:lnTo>
                        <a:pt x="1434" y="2108"/>
                      </a:lnTo>
                      <a:lnTo>
                        <a:pt x="2849" y="1031"/>
                      </a:lnTo>
                      <a:lnTo>
                        <a:pt x="5774" y="0"/>
                      </a:lnTo>
                      <a:lnTo>
                        <a:pt x="6226" y="359"/>
                      </a:lnTo>
                      <a:lnTo>
                        <a:pt x="6943" y="1704"/>
                      </a:lnTo>
                      <a:lnTo>
                        <a:pt x="8189" y="2422"/>
                      </a:lnTo>
                      <a:lnTo>
                        <a:pt x="9642" y="2242"/>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9" name="Freeform 32">
                  <a:extLst>
                    <a:ext uri="{FF2B5EF4-FFF2-40B4-BE49-F238E27FC236}">
                      <a16:creationId xmlns:a16="http://schemas.microsoft.com/office/drawing/2014/main" id="{1F96CB76-A54D-B44E-BD63-47E6E4D7EAEF}"/>
                    </a:ext>
                  </a:extLst>
                </p:cNvPr>
                <p:cNvSpPr>
                  <a:spLocks/>
                </p:cNvSpPr>
                <p:nvPr/>
              </p:nvSpPr>
              <p:spPr bwMode="auto">
                <a:xfrm>
                  <a:off x="2693" y="1107"/>
                  <a:ext cx="184" cy="196"/>
                </a:xfrm>
                <a:custGeom>
                  <a:avLst/>
                  <a:gdLst>
                    <a:gd name="T0" fmla="*/ 145 w 20000"/>
                    <a:gd name="T1" fmla="*/ 70 h 20000"/>
                    <a:gd name="T2" fmla="*/ 145 w 20000"/>
                    <a:gd name="T3" fmla="*/ 78 h 20000"/>
                    <a:gd name="T4" fmla="*/ 146 w 20000"/>
                    <a:gd name="T5" fmla="*/ 80 h 20000"/>
                    <a:gd name="T6" fmla="*/ 146 w 20000"/>
                    <a:gd name="T7" fmla="*/ 85 h 20000"/>
                    <a:gd name="T8" fmla="*/ 151 w 20000"/>
                    <a:gd name="T9" fmla="*/ 85 h 20000"/>
                    <a:gd name="T10" fmla="*/ 161 w 20000"/>
                    <a:gd name="T11" fmla="*/ 84 h 20000"/>
                    <a:gd name="T12" fmla="*/ 167 w 20000"/>
                    <a:gd name="T13" fmla="*/ 83 h 20000"/>
                    <a:gd name="T14" fmla="*/ 184 w 20000"/>
                    <a:gd name="T15" fmla="*/ 101 h 20000"/>
                    <a:gd name="T16" fmla="*/ 179 w 20000"/>
                    <a:gd name="T17" fmla="*/ 109 h 20000"/>
                    <a:gd name="T18" fmla="*/ 165 w 20000"/>
                    <a:gd name="T19" fmla="*/ 124 h 20000"/>
                    <a:gd name="T20" fmla="*/ 163 w 20000"/>
                    <a:gd name="T21" fmla="*/ 128 h 20000"/>
                    <a:gd name="T22" fmla="*/ 161 w 20000"/>
                    <a:gd name="T23" fmla="*/ 132 h 20000"/>
                    <a:gd name="T24" fmla="*/ 156 w 20000"/>
                    <a:gd name="T25" fmla="*/ 138 h 20000"/>
                    <a:gd name="T26" fmla="*/ 154 w 20000"/>
                    <a:gd name="T27" fmla="*/ 150 h 20000"/>
                    <a:gd name="T28" fmla="*/ 148 w 20000"/>
                    <a:gd name="T29" fmla="*/ 162 h 20000"/>
                    <a:gd name="T30" fmla="*/ 145 w 20000"/>
                    <a:gd name="T31" fmla="*/ 167 h 20000"/>
                    <a:gd name="T32" fmla="*/ 141 w 20000"/>
                    <a:gd name="T33" fmla="*/ 178 h 20000"/>
                    <a:gd name="T34" fmla="*/ 139 w 20000"/>
                    <a:gd name="T35" fmla="*/ 190 h 20000"/>
                    <a:gd name="T36" fmla="*/ 129 w 20000"/>
                    <a:gd name="T37" fmla="*/ 191 h 20000"/>
                    <a:gd name="T38" fmla="*/ 112 w 20000"/>
                    <a:gd name="T39" fmla="*/ 196 h 20000"/>
                    <a:gd name="T40" fmla="*/ 85 w 20000"/>
                    <a:gd name="T41" fmla="*/ 194 h 20000"/>
                    <a:gd name="T42" fmla="*/ 68 w 20000"/>
                    <a:gd name="T43" fmla="*/ 176 h 20000"/>
                    <a:gd name="T44" fmla="*/ 61 w 20000"/>
                    <a:gd name="T45" fmla="*/ 170 h 20000"/>
                    <a:gd name="T46" fmla="*/ 52 w 20000"/>
                    <a:gd name="T47" fmla="*/ 162 h 20000"/>
                    <a:gd name="T48" fmla="*/ 49 w 20000"/>
                    <a:gd name="T49" fmla="*/ 155 h 20000"/>
                    <a:gd name="T50" fmla="*/ 44 w 20000"/>
                    <a:gd name="T51" fmla="*/ 147 h 20000"/>
                    <a:gd name="T52" fmla="*/ 27 w 20000"/>
                    <a:gd name="T53" fmla="*/ 131 h 20000"/>
                    <a:gd name="T54" fmla="*/ 25 w 20000"/>
                    <a:gd name="T55" fmla="*/ 125 h 20000"/>
                    <a:gd name="T56" fmla="*/ 15 w 20000"/>
                    <a:gd name="T57" fmla="*/ 121 h 20000"/>
                    <a:gd name="T58" fmla="*/ 15 w 20000"/>
                    <a:gd name="T59" fmla="*/ 113 h 20000"/>
                    <a:gd name="T60" fmla="*/ 14 w 20000"/>
                    <a:gd name="T61" fmla="*/ 107 h 20000"/>
                    <a:gd name="T62" fmla="*/ 0 w 20000"/>
                    <a:gd name="T63" fmla="*/ 94 h 20000"/>
                    <a:gd name="T64" fmla="*/ 1 w 20000"/>
                    <a:gd name="T65" fmla="*/ 89 h 20000"/>
                    <a:gd name="T66" fmla="*/ 0 w 20000"/>
                    <a:gd name="T67" fmla="*/ 77 h 20000"/>
                    <a:gd name="T68" fmla="*/ 2 w 20000"/>
                    <a:gd name="T69" fmla="*/ 71 h 20000"/>
                    <a:gd name="T70" fmla="*/ 0 w 20000"/>
                    <a:gd name="T71" fmla="*/ 65 h 20000"/>
                    <a:gd name="T72" fmla="*/ 6 w 20000"/>
                    <a:gd name="T73" fmla="*/ 56 h 20000"/>
                    <a:gd name="T74" fmla="*/ 7 w 20000"/>
                    <a:gd name="T75" fmla="*/ 49 h 20000"/>
                    <a:gd name="T76" fmla="*/ 13 w 20000"/>
                    <a:gd name="T77" fmla="*/ 34 h 20000"/>
                    <a:gd name="T78" fmla="*/ 14 w 20000"/>
                    <a:gd name="T79" fmla="*/ 32 h 20000"/>
                    <a:gd name="T80" fmla="*/ 12 w 20000"/>
                    <a:gd name="T81" fmla="*/ 30 h 20000"/>
                    <a:gd name="T82" fmla="*/ 18 w 20000"/>
                    <a:gd name="T83" fmla="*/ 20 h 20000"/>
                    <a:gd name="T84" fmla="*/ 24 w 20000"/>
                    <a:gd name="T85" fmla="*/ 8 h 20000"/>
                    <a:gd name="T86" fmla="*/ 27 w 20000"/>
                    <a:gd name="T87" fmla="*/ 1 h 20000"/>
                    <a:gd name="T88" fmla="*/ 34 w 20000"/>
                    <a:gd name="T89" fmla="*/ 0 h 20000"/>
                    <a:gd name="T90" fmla="*/ 46 w 20000"/>
                    <a:gd name="T91" fmla="*/ 2 h 20000"/>
                    <a:gd name="T92" fmla="*/ 61 w 20000"/>
                    <a:gd name="T93" fmla="*/ 8 h 20000"/>
                    <a:gd name="T94" fmla="*/ 61 w 20000"/>
                    <a:gd name="T95" fmla="*/ 14 h 20000"/>
                    <a:gd name="T96" fmla="*/ 83 w 20000"/>
                    <a:gd name="T97" fmla="*/ 34 h 20000"/>
                    <a:gd name="T98" fmla="*/ 97 w 20000"/>
                    <a:gd name="T99" fmla="*/ 39 h 20000"/>
                    <a:gd name="T100" fmla="*/ 104 w 20000"/>
                    <a:gd name="T101" fmla="*/ 38 h 20000"/>
                    <a:gd name="T102" fmla="*/ 117 w 20000"/>
                    <a:gd name="T103" fmla="*/ 41 h 20000"/>
                    <a:gd name="T104" fmla="*/ 131 w 20000"/>
                    <a:gd name="T105" fmla="*/ 41 h 20000"/>
                    <a:gd name="T106" fmla="*/ 133 w 20000"/>
                    <a:gd name="T107" fmla="*/ 54 h 20000"/>
                    <a:gd name="T108" fmla="*/ 139 w 20000"/>
                    <a:gd name="T109" fmla="*/ 61 h 20000"/>
                    <a:gd name="T110" fmla="*/ 143 w 20000"/>
                    <a:gd name="T111" fmla="*/ 68 h 20000"/>
                    <a:gd name="T112" fmla="*/ 145 w 20000"/>
                    <a:gd name="T113" fmla="*/ 70 h 2000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0000"/>
                    <a:gd name="T172" fmla="*/ 0 h 20000"/>
                    <a:gd name="T173" fmla="*/ 20000 w 20000"/>
                    <a:gd name="T174" fmla="*/ 20000 h 2000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0000" h="20000">
                      <a:moveTo>
                        <a:pt x="15773" y="7143"/>
                      </a:moveTo>
                      <a:lnTo>
                        <a:pt x="15773" y="7959"/>
                      </a:lnTo>
                      <a:lnTo>
                        <a:pt x="15861" y="8204"/>
                      </a:lnTo>
                      <a:lnTo>
                        <a:pt x="15861" y="8694"/>
                      </a:lnTo>
                      <a:lnTo>
                        <a:pt x="16383" y="8694"/>
                      </a:lnTo>
                      <a:lnTo>
                        <a:pt x="17473" y="8612"/>
                      </a:lnTo>
                      <a:lnTo>
                        <a:pt x="18170" y="8449"/>
                      </a:lnTo>
                      <a:lnTo>
                        <a:pt x="20000" y="10327"/>
                      </a:lnTo>
                      <a:lnTo>
                        <a:pt x="19477" y="11143"/>
                      </a:lnTo>
                      <a:lnTo>
                        <a:pt x="17908" y="12612"/>
                      </a:lnTo>
                      <a:lnTo>
                        <a:pt x="17734" y="13102"/>
                      </a:lnTo>
                      <a:lnTo>
                        <a:pt x="17473" y="13510"/>
                      </a:lnTo>
                      <a:lnTo>
                        <a:pt x="16950" y="14082"/>
                      </a:lnTo>
                      <a:lnTo>
                        <a:pt x="16688" y="15347"/>
                      </a:lnTo>
                      <a:lnTo>
                        <a:pt x="16122" y="16490"/>
                      </a:lnTo>
                      <a:lnTo>
                        <a:pt x="15773" y="17061"/>
                      </a:lnTo>
                      <a:lnTo>
                        <a:pt x="15338" y="18204"/>
                      </a:lnTo>
                      <a:lnTo>
                        <a:pt x="15076" y="19429"/>
                      </a:lnTo>
                      <a:lnTo>
                        <a:pt x="14031" y="19510"/>
                      </a:lnTo>
                      <a:lnTo>
                        <a:pt x="12200" y="20000"/>
                      </a:lnTo>
                      <a:lnTo>
                        <a:pt x="9281" y="19755"/>
                      </a:lnTo>
                      <a:lnTo>
                        <a:pt x="7364" y="17959"/>
                      </a:lnTo>
                      <a:lnTo>
                        <a:pt x="6580" y="17306"/>
                      </a:lnTo>
                      <a:lnTo>
                        <a:pt x="5621" y="16490"/>
                      </a:lnTo>
                      <a:lnTo>
                        <a:pt x="5359" y="15837"/>
                      </a:lnTo>
                      <a:lnTo>
                        <a:pt x="4749" y="15020"/>
                      </a:lnTo>
                      <a:lnTo>
                        <a:pt x="2963" y="13347"/>
                      </a:lnTo>
                      <a:lnTo>
                        <a:pt x="2702" y="12776"/>
                      </a:lnTo>
                      <a:lnTo>
                        <a:pt x="1656" y="12367"/>
                      </a:lnTo>
                      <a:lnTo>
                        <a:pt x="1656" y="11551"/>
                      </a:lnTo>
                      <a:lnTo>
                        <a:pt x="1569" y="10898"/>
                      </a:lnTo>
                      <a:lnTo>
                        <a:pt x="0" y="9592"/>
                      </a:lnTo>
                      <a:lnTo>
                        <a:pt x="87" y="9102"/>
                      </a:lnTo>
                      <a:lnTo>
                        <a:pt x="0" y="7878"/>
                      </a:lnTo>
                      <a:lnTo>
                        <a:pt x="261" y="7224"/>
                      </a:lnTo>
                      <a:lnTo>
                        <a:pt x="0" y="6653"/>
                      </a:lnTo>
                      <a:lnTo>
                        <a:pt x="610" y="5673"/>
                      </a:lnTo>
                      <a:lnTo>
                        <a:pt x="784" y="5020"/>
                      </a:lnTo>
                      <a:lnTo>
                        <a:pt x="1394" y="3510"/>
                      </a:lnTo>
                      <a:lnTo>
                        <a:pt x="1569" y="3265"/>
                      </a:lnTo>
                      <a:lnTo>
                        <a:pt x="1307" y="3020"/>
                      </a:lnTo>
                      <a:lnTo>
                        <a:pt x="1917" y="2041"/>
                      </a:lnTo>
                      <a:lnTo>
                        <a:pt x="2614" y="816"/>
                      </a:lnTo>
                      <a:lnTo>
                        <a:pt x="2963" y="82"/>
                      </a:lnTo>
                      <a:lnTo>
                        <a:pt x="3704" y="0"/>
                      </a:lnTo>
                      <a:lnTo>
                        <a:pt x="5011" y="245"/>
                      </a:lnTo>
                      <a:lnTo>
                        <a:pt x="6580" y="816"/>
                      </a:lnTo>
                      <a:lnTo>
                        <a:pt x="6667" y="1469"/>
                      </a:lnTo>
                      <a:lnTo>
                        <a:pt x="9020" y="3429"/>
                      </a:lnTo>
                      <a:lnTo>
                        <a:pt x="10545" y="4000"/>
                      </a:lnTo>
                      <a:lnTo>
                        <a:pt x="11329" y="3918"/>
                      </a:lnTo>
                      <a:lnTo>
                        <a:pt x="12723" y="4163"/>
                      </a:lnTo>
                      <a:lnTo>
                        <a:pt x="14205" y="4163"/>
                      </a:lnTo>
                      <a:lnTo>
                        <a:pt x="14466" y="5510"/>
                      </a:lnTo>
                      <a:lnTo>
                        <a:pt x="15076" y="6245"/>
                      </a:lnTo>
                      <a:lnTo>
                        <a:pt x="15512" y="6898"/>
                      </a:lnTo>
                      <a:lnTo>
                        <a:pt x="15773" y="7143"/>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0" name="Freeform 33">
                  <a:extLst>
                    <a:ext uri="{FF2B5EF4-FFF2-40B4-BE49-F238E27FC236}">
                      <a16:creationId xmlns:a16="http://schemas.microsoft.com/office/drawing/2014/main" id="{911CED07-60B9-B7D4-393E-8A1CECBEC682}"/>
                    </a:ext>
                  </a:extLst>
                </p:cNvPr>
                <p:cNvSpPr>
                  <a:spLocks/>
                </p:cNvSpPr>
                <p:nvPr/>
              </p:nvSpPr>
              <p:spPr bwMode="auto">
                <a:xfrm>
                  <a:off x="2081" y="1502"/>
                  <a:ext cx="251" cy="232"/>
                </a:xfrm>
                <a:custGeom>
                  <a:avLst/>
                  <a:gdLst>
                    <a:gd name="T0" fmla="*/ 145 w 20000"/>
                    <a:gd name="T1" fmla="*/ 8 h 20000"/>
                    <a:gd name="T2" fmla="*/ 77 w 20000"/>
                    <a:gd name="T3" fmla="*/ 0 h 20000"/>
                    <a:gd name="T4" fmla="*/ 78 w 20000"/>
                    <a:gd name="T5" fmla="*/ 3 h 20000"/>
                    <a:gd name="T6" fmla="*/ 76 w 20000"/>
                    <a:gd name="T7" fmla="*/ 20 h 20000"/>
                    <a:gd name="T8" fmla="*/ 80 w 20000"/>
                    <a:gd name="T9" fmla="*/ 39 h 20000"/>
                    <a:gd name="T10" fmla="*/ 80 w 20000"/>
                    <a:gd name="T11" fmla="*/ 46 h 20000"/>
                    <a:gd name="T12" fmla="*/ 44 w 20000"/>
                    <a:gd name="T13" fmla="*/ 82 h 20000"/>
                    <a:gd name="T14" fmla="*/ 36 w 20000"/>
                    <a:gd name="T15" fmla="*/ 95 h 20000"/>
                    <a:gd name="T16" fmla="*/ 32 w 20000"/>
                    <a:gd name="T17" fmla="*/ 113 h 20000"/>
                    <a:gd name="T18" fmla="*/ 15 w 20000"/>
                    <a:gd name="T19" fmla="*/ 127 h 20000"/>
                    <a:gd name="T20" fmla="*/ 0 w 20000"/>
                    <a:gd name="T21" fmla="*/ 148 h 20000"/>
                    <a:gd name="T22" fmla="*/ 10 w 20000"/>
                    <a:gd name="T23" fmla="*/ 152 h 20000"/>
                    <a:gd name="T24" fmla="*/ 29 w 20000"/>
                    <a:gd name="T25" fmla="*/ 176 h 20000"/>
                    <a:gd name="T26" fmla="*/ 36 w 20000"/>
                    <a:gd name="T27" fmla="*/ 199 h 20000"/>
                    <a:gd name="T28" fmla="*/ 35 w 20000"/>
                    <a:gd name="T29" fmla="*/ 226 h 20000"/>
                    <a:gd name="T30" fmla="*/ 42 w 20000"/>
                    <a:gd name="T31" fmla="*/ 232 h 20000"/>
                    <a:gd name="T32" fmla="*/ 80 w 20000"/>
                    <a:gd name="T33" fmla="*/ 215 h 20000"/>
                    <a:gd name="T34" fmla="*/ 83 w 20000"/>
                    <a:gd name="T35" fmla="*/ 221 h 20000"/>
                    <a:gd name="T36" fmla="*/ 106 w 20000"/>
                    <a:gd name="T37" fmla="*/ 218 h 20000"/>
                    <a:gd name="T38" fmla="*/ 116 w 20000"/>
                    <a:gd name="T39" fmla="*/ 189 h 20000"/>
                    <a:gd name="T40" fmla="*/ 124 w 20000"/>
                    <a:gd name="T41" fmla="*/ 184 h 20000"/>
                    <a:gd name="T42" fmla="*/ 126 w 20000"/>
                    <a:gd name="T43" fmla="*/ 172 h 20000"/>
                    <a:gd name="T44" fmla="*/ 145 w 20000"/>
                    <a:gd name="T45" fmla="*/ 170 h 20000"/>
                    <a:gd name="T46" fmla="*/ 155 w 20000"/>
                    <a:gd name="T47" fmla="*/ 152 h 20000"/>
                    <a:gd name="T48" fmla="*/ 172 w 20000"/>
                    <a:gd name="T49" fmla="*/ 145 h 20000"/>
                    <a:gd name="T50" fmla="*/ 174 w 20000"/>
                    <a:gd name="T51" fmla="*/ 143 h 20000"/>
                    <a:gd name="T52" fmla="*/ 239 w 20000"/>
                    <a:gd name="T53" fmla="*/ 119 h 20000"/>
                    <a:gd name="T54" fmla="*/ 251 w 20000"/>
                    <a:gd name="T55" fmla="*/ 107 h 20000"/>
                    <a:gd name="T56" fmla="*/ 232 w 20000"/>
                    <a:gd name="T57" fmla="*/ 69 h 20000"/>
                    <a:gd name="T58" fmla="*/ 212 w 20000"/>
                    <a:gd name="T59" fmla="*/ 44 h 20000"/>
                    <a:gd name="T60" fmla="*/ 191 w 20000"/>
                    <a:gd name="T61" fmla="*/ 44 h 20000"/>
                    <a:gd name="T62" fmla="*/ 183 w 20000"/>
                    <a:gd name="T63" fmla="*/ 42 h 20000"/>
                    <a:gd name="T64" fmla="*/ 176 w 20000"/>
                    <a:gd name="T65" fmla="*/ 41 h 20000"/>
                    <a:gd name="T66" fmla="*/ 172 w 20000"/>
                    <a:gd name="T67" fmla="*/ 37 h 20000"/>
                    <a:gd name="T68" fmla="*/ 145 w 20000"/>
                    <a:gd name="T69" fmla="*/ 8 h 200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000"/>
                    <a:gd name="T106" fmla="*/ 0 h 20000"/>
                    <a:gd name="T107" fmla="*/ 20000 w 20000"/>
                    <a:gd name="T108" fmla="*/ 20000 h 200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000" h="20000">
                      <a:moveTo>
                        <a:pt x="11592" y="691"/>
                      </a:moveTo>
                      <a:lnTo>
                        <a:pt x="6146" y="0"/>
                      </a:lnTo>
                      <a:lnTo>
                        <a:pt x="6210" y="276"/>
                      </a:lnTo>
                      <a:lnTo>
                        <a:pt x="6019" y="1727"/>
                      </a:lnTo>
                      <a:lnTo>
                        <a:pt x="6338" y="3351"/>
                      </a:lnTo>
                      <a:lnTo>
                        <a:pt x="6338" y="3972"/>
                      </a:lnTo>
                      <a:lnTo>
                        <a:pt x="3535" y="7081"/>
                      </a:lnTo>
                      <a:lnTo>
                        <a:pt x="2898" y="8187"/>
                      </a:lnTo>
                      <a:lnTo>
                        <a:pt x="2516" y="9775"/>
                      </a:lnTo>
                      <a:lnTo>
                        <a:pt x="1210" y="10915"/>
                      </a:lnTo>
                      <a:lnTo>
                        <a:pt x="0" y="12781"/>
                      </a:lnTo>
                      <a:lnTo>
                        <a:pt x="828" y="13126"/>
                      </a:lnTo>
                      <a:lnTo>
                        <a:pt x="2293" y="15199"/>
                      </a:lnTo>
                      <a:lnTo>
                        <a:pt x="2898" y="17168"/>
                      </a:lnTo>
                      <a:lnTo>
                        <a:pt x="2771" y="19447"/>
                      </a:lnTo>
                      <a:lnTo>
                        <a:pt x="3344" y="20000"/>
                      </a:lnTo>
                      <a:lnTo>
                        <a:pt x="6338" y="18549"/>
                      </a:lnTo>
                      <a:lnTo>
                        <a:pt x="6592" y="19033"/>
                      </a:lnTo>
                      <a:lnTo>
                        <a:pt x="8471" y="18756"/>
                      </a:lnTo>
                      <a:lnTo>
                        <a:pt x="9236" y="16304"/>
                      </a:lnTo>
                      <a:lnTo>
                        <a:pt x="9873" y="15820"/>
                      </a:lnTo>
                      <a:lnTo>
                        <a:pt x="10000" y="14853"/>
                      </a:lnTo>
                      <a:lnTo>
                        <a:pt x="11529" y="14646"/>
                      </a:lnTo>
                      <a:lnTo>
                        <a:pt x="12357" y="13126"/>
                      </a:lnTo>
                      <a:lnTo>
                        <a:pt x="13726" y="12504"/>
                      </a:lnTo>
                      <a:lnTo>
                        <a:pt x="13854" y="12366"/>
                      </a:lnTo>
                      <a:lnTo>
                        <a:pt x="19045" y="10225"/>
                      </a:lnTo>
                      <a:lnTo>
                        <a:pt x="20000" y="9223"/>
                      </a:lnTo>
                      <a:lnTo>
                        <a:pt x="18471" y="5907"/>
                      </a:lnTo>
                      <a:lnTo>
                        <a:pt x="16911" y="3834"/>
                      </a:lnTo>
                      <a:lnTo>
                        <a:pt x="15191" y="3834"/>
                      </a:lnTo>
                      <a:lnTo>
                        <a:pt x="14618" y="3627"/>
                      </a:lnTo>
                      <a:lnTo>
                        <a:pt x="14045" y="3558"/>
                      </a:lnTo>
                      <a:lnTo>
                        <a:pt x="13726" y="3178"/>
                      </a:lnTo>
                      <a:lnTo>
                        <a:pt x="11592" y="69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1" name="Freeform 34">
                  <a:extLst>
                    <a:ext uri="{FF2B5EF4-FFF2-40B4-BE49-F238E27FC236}">
                      <a16:creationId xmlns:a16="http://schemas.microsoft.com/office/drawing/2014/main" id="{FAC235D7-66B5-42F8-B8D3-C2E892E9DF90}"/>
                    </a:ext>
                  </a:extLst>
                </p:cNvPr>
                <p:cNvSpPr>
                  <a:spLocks/>
                </p:cNvSpPr>
                <p:nvPr/>
              </p:nvSpPr>
              <p:spPr bwMode="auto">
                <a:xfrm>
                  <a:off x="2705" y="1389"/>
                  <a:ext cx="356" cy="154"/>
                </a:xfrm>
                <a:custGeom>
                  <a:avLst/>
                  <a:gdLst>
                    <a:gd name="T0" fmla="*/ 164 w 20000"/>
                    <a:gd name="T1" fmla="*/ 71 h 20000"/>
                    <a:gd name="T2" fmla="*/ 143 w 20000"/>
                    <a:gd name="T3" fmla="*/ 63 h 20000"/>
                    <a:gd name="T4" fmla="*/ 127 w 20000"/>
                    <a:gd name="T5" fmla="*/ 49 h 20000"/>
                    <a:gd name="T6" fmla="*/ 146 w 20000"/>
                    <a:gd name="T7" fmla="*/ 32 h 20000"/>
                    <a:gd name="T8" fmla="*/ 117 w 20000"/>
                    <a:gd name="T9" fmla="*/ 18 h 20000"/>
                    <a:gd name="T10" fmla="*/ 77 w 20000"/>
                    <a:gd name="T11" fmla="*/ 22 h 20000"/>
                    <a:gd name="T12" fmla="*/ 65 w 20000"/>
                    <a:gd name="T13" fmla="*/ 14 h 20000"/>
                    <a:gd name="T14" fmla="*/ 46 w 20000"/>
                    <a:gd name="T15" fmla="*/ 6 h 20000"/>
                    <a:gd name="T16" fmla="*/ 10 w 20000"/>
                    <a:gd name="T17" fmla="*/ 0 h 20000"/>
                    <a:gd name="T18" fmla="*/ 2 w 20000"/>
                    <a:gd name="T19" fmla="*/ 10 h 20000"/>
                    <a:gd name="T20" fmla="*/ 1 w 20000"/>
                    <a:gd name="T21" fmla="*/ 24 h 20000"/>
                    <a:gd name="T22" fmla="*/ 19 w 20000"/>
                    <a:gd name="T23" fmla="*/ 39 h 20000"/>
                    <a:gd name="T24" fmla="*/ 36 w 20000"/>
                    <a:gd name="T25" fmla="*/ 48 h 20000"/>
                    <a:gd name="T26" fmla="*/ 41 w 20000"/>
                    <a:gd name="T27" fmla="*/ 51 h 20000"/>
                    <a:gd name="T28" fmla="*/ 61 w 20000"/>
                    <a:gd name="T29" fmla="*/ 47 h 20000"/>
                    <a:gd name="T30" fmla="*/ 83 w 20000"/>
                    <a:gd name="T31" fmla="*/ 54 h 20000"/>
                    <a:gd name="T32" fmla="*/ 97 w 20000"/>
                    <a:gd name="T33" fmla="*/ 75 h 20000"/>
                    <a:gd name="T34" fmla="*/ 94 w 20000"/>
                    <a:gd name="T35" fmla="*/ 103 h 20000"/>
                    <a:gd name="T36" fmla="*/ 105 w 20000"/>
                    <a:gd name="T37" fmla="*/ 123 h 20000"/>
                    <a:gd name="T38" fmla="*/ 114 w 20000"/>
                    <a:gd name="T39" fmla="*/ 148 h 20000"/>
                    <a:gd name="T40" fmla="*/ 131 w 20000"/>
                    <a:gd name="T41" fmla="*/ 145 h 20000"/>
                    <a:gd name="T42" fmla="*/ 167 w 20000"/>
                    <a:gd name="T43" fmla="*/ 147 h 20000"/>
                    <a:gd name="T44" fmla="*/ 201 w 20000"/>
                    <a:gd name="T45" fmla="*/ 149 h 20000"/>
                    <a:gd name="T46" fmla="*/ 220 w 20000"/>
                    <a:gd name="T47" fmla="*/ 142 h 20000"/>
                    <a:gd name="T48" fmla="*/ 233 w 20000"/>
                    <a:gd name="T49" fmla="*/ 140 h 20000"/>
                    <a:gd name="T50" fmla="*/ 249 w 20000"/>
                    <a:gd name="T51" fmla="*/ 136 h 20000"/>
                    <a:gd name="T52" fmla="*/ 281 w 20000"/>
                    <a:gd name="T53" fmla="*/ 121 h 20000"/>
                    <a:gd name="T54" fmla="*/ 319 w 20000"/>
                    <a:gd name="T55" fmla="*/ 119 h 20000"/>
                    <a:gd name="T56" fmla="*/ 346 w 20000"/>
                    <a:gd name="T57" fmla="*/ 99 h 20000"/>
                    <a:gd name="T58" fmla="*/ 348 w 20000"/>
                    <a:gd name="T59" fmla="*/ 83 h 20000"/>
                    <a:gd name="T60" fmla="*/ 346 w 20000"/>
                    <a:gd name="T61" fmla="*/ 70 h 20000"/>
                    <a:gd name="T62" fmla="*/ 343 w 20000"/>
                    <a:gd name="T63" fmla="*/ 49 h 20000"/>
                    <a:gd name="T64" fmla="*/ 332 w 20000"/>
                    <a:gd name="T65" fmla="*/ 40 h 20000"/>
                    <a:gd name="T66" fmla="*/ 317 w 20000"/>
                    <a:gd name="T67" fmla="*/ 32 h 20000"/>
                    <a:gd name="T68" fmla="*/ 302 w 20000"/>
                    <a:gd name="T69" fmla="*/ 27 h 20000"/>
                    <a:gd name="T70" fmla="*/ 262 w 20000"/>
                    <a:gd name="T71" fmla="*/ 42 h 20000"/>
                    <a:gd name="T72" fmla="*/ 239 w 20000"/>
                    <a:gd name="T73" fmla="*/ 56 h 20000"/>
                    <a:gd name="T74" fmla="*/ 215 w 20000"/>
                    <a:gd name="T75" fmla="*/ 71 h 20000"/>
                    <a:gd name="T76" fmla="*/ 189 w 20000"/>
                    <a:gd name="T77" fmla="*/ 70 h 200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0000"/>
                    <a:gd name="T118" fmla="*/ 0 h 20000"/>
                    <a:gd name="T119" fmla="*/ 20000 w 20000"/>
                    <a:gd name="T120" fmla="*/ 20000 h 2000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0000" h="20000">
                      <a:moveTo>
                        <a:pt x="10191" y="9689"/>
                      </a:moveTo>
                      <a:lnTo>
                        <a:pt x="9224" y="9171"/>
                      </a:lnTo>
                      <a:lnTo>
                        <a:pt x="8459" y="8549"/>
                      </a:lnTo>
                      <a:lnTo>
                        <a:pt x="8054" y="8135"/>
                      </a:lnTo>
                      <a:lnTo>
                        <a:pt x="7649" y="7202"/>
                      </a:lnTo>
                      <a:lnTo>
                        <a:pt x="7109" y="6373"/>
                      </a:lnTo>
                      <a:lnTo>
                        <a:pt x="8189" y="4767"/>
                      </a:lnTo>
                      <a:lnTo>
                        <a:pt x="8189" y="4145"/>
                      </a:lnTo>
                      <a:lnTo>
                        <a:pt x="6659" y="2902"/>
                      </a:lnTo>
                      <a:lnTo>
                        <a:pt x="6569" y="2280"/>
                      </a:lnTo>
                      <a:lnTo>
                        <a:pt x="5467" y="1554"/>
                      </a:lnTo>
                      <a:lnTo>
                        <a:pt x="4342" y="2798"/>
                      </a:lnTo>
                      <a:lnTo>
                        <a:pt x="3847" y="2902"/>
                      </a:lnTo>
                      <a:lnTo>
                        <a:pt x="3667" y="1865"/>
                      </a:lnTo>
                      <a:lnTo>
                        <a:pt x="2992" y="415"/>
                      </a:lnTo>
                      <a:lnTo>
                        <a:pt x="2587" y="725"/>
                      </a:lnTo>
                      <a:lnTo>
                        <a:pt x="2092" y="104"/>
                      </a:lnTo>
                      <a:lnTo>
                        <a:pt x="585" y="0"/>
                      </a:lnTo>
                      <a:lnTo>
                        <a:pt x="270" y="622"/>
                      </a:lnTo>
                      <a:lnTo>
                        <a:pt x="135" y="1347"/>
                      </a:lnTo>
                      <a:lnTo>
                        <a:pt x="0" y="2280"/>
                      </a:lnTo>
                      <a:lnTo>
                        <a:pt x="45" y="3109"/>
                      </a:lnTo>
                      <a:lnTo>
                        <a:pt x="1125" y="4145"/>
                      </a:lnTo>
                      <a:lnTo>
                        <a:pt x="1080" y="5026"/>
                      </a:lnTo>
                      <a:lnTo>
                        <a:pt x="1755" y="5959"/>
                      </a:lnTo>
                      <a:lnTo>
                        <a:pt x="2047" y="6269"/>
                      </a:lnTo>
                      <a:lnTo>
                        <a:pt x="1755" y="6891"/>
                      </a:lnTo>
                      <a:lnTo>
                        <a:pt x="2317" y="6580"/>
                      </a:lnTo>
                      <a:lnTo>
                        <a:pt x="2722" y="6373"/>
                      </a:lnTo>
                      <a:lnTo>
                        <a:pt x="3442" y="6062"/>
                      </a:lnTo>
                      <a:lnTo>
                        <a:pt x="4207" y="5337"/>
                      </a:lnTo>
                      <a:lnTo>
                        <a:pt x="4657" y="6995"/>
                      </a:lnTo>
                      <a:lnTo>
                        <a:pt x="4747" y="7927"/>
                      </a:lnTo>
                      <a:lnTo>
                        <a:pt x="5422" y="9689"/>
                      </a:lnTo>
                      <a:lnTo>
                        <a:pt x="5557" y="11554"/>
                      </a:lnTo>
                      <a:lnTo>
                        <a:pt x="5287" y="13420"/>
                      </a:lnTo>
                      <a:lnTo>
                        <a:pt x="5467" y="15337"/>
                      </a:lnTo>
                      <a:lnTo>
                        <a:pt x="5872" y="15959"/>
                      </a:lnTo>
                      <a:lnTo>
                        <a:pt x="6029" y="18446"/>
                      </a:lnTo>
                      <a:lnTo>
                        <a:pt x="6389" y="19171"/>
                      </a:lnTo>
                      <a:lnTo>
                        <a:pt x="7109" y="19482"/>
                      </a:lnTo>
                      <a:lnTo>
                        <a:pt x="7379" y="18860"/>
                      </a:lnTo>
                      <a:lnTo>
                        <a:pt x="8549" y="20000"/>
                      </a:lnTo>
                      <a:lnTo>
                        <a:pt x="9404" y="19067"/>
                      </a:lnTo>
                      <a:lnTo>
                        <a:pt x="10371" y="19482"/>
                      </a:lnTo>
                      <a:lnTo>
                        <a:pt x="11316" y="19378"/>
                      </a:lnTo>
                      <a:lnTo>
                        <a:pt x="11721" y="19067"/>
                      </a:lnTo>
                      <a:lnTo>
                        <a:pt x="12351" y="18446"/>
                      </a:lnTo>
                      <a:lnTo>
                        <a:pt x="12756" y="18238"/>
                      </a:lnTo>
                      <a:lnTo>
                        <a:pt x="13071" y="18238"/>
                      </a:lnTo>
                      <a:lnTo>
                        <a:pt x="13566" y="17617"/>
                      </a:lnTo>
                      <a:lnTo>
                        <a:pt x="13971" y="17617"/>
                      </a:lnTo>
                      <a:lnTo>
                        <a:pt x="14308" y="17306"/>
                      </a:lnTo>
                      <a:lnTo>
                        <a:pt x="15793" y="15751"/>
                      </a:lnTo>
                      <a:lnTo>
                        <a:pt x="16423" y="15648"/>
                      </a:lnTo>
                      <a:lnTo>
                        <a:pt x="17908" y="15440"/>
                      </a:lnTo>
                      <a:lnTo>
                        <a:pt x="18515" y="13834"/>
                      </a:lnTo>
                      <a:lnTo>
                        <a:pt x="19460" y="12902"/>
                      </a:lnTo>
                      <a:lnTo>
                        <a:pt x="19280" y="11347"/>
                      </a:lnTo>
                      <a:lnTo>
                        <a:pt x="19550" y="10725"/>
                      </a:lnTo>
                      <a:lnTo>
                        <a:pt x="20000" y="9793"/>
                      </a:lnTo>
                      <a:lnTo>
                        <a:pt x="19415" y="9067"/>
                      </a:lnTo>
                      <a:lnTo>
                        <a:pt x="19415" y="6373"/>
                      </a:lnTo>
                      <a:lnTo>
                        <a:pt x="19280" y="6373"/>
                      </a:lnTo>
                      <a:lnTo>
                        <a:pt x="19055" y="5440"/>
                      </a:lnTo>
                      <a:lnTo>
                        <a:pt x="18650" y="5130"/>
                      </a:lnTo>
                      <a:lnTo>
                        <a:pt x="18515" y="4767"/>
                      </a:lnTo>
                      <a:lnTo>
                        <a:pt x="17818" y="4145"/>
                      </a:lnTo>
                      <a:lnTo>
                        <a:pt x="17008" y="4663"/>
                      </a:lnTo>
                      <a:lnTo>
                        <a:pt x="16963" y="3523"/>
                      </a:lnTo>
                      <a:lnTo>
                        <a:pt x="15748" y="3834"/>
                      </a:lnTo>
                      <a:lnTo>
                        <a:pt x="14713" y="5440"/>
                      </a:lnTo>
                      <a:lnTo>
                        <a:pt x="14128" y="5130"/>
                      </a:lnTo>
                      <a:lnTo>
                        <a:pt x="13431" y="7306"/>
                      </a:lnTo>
                      <a:lnTo>
                        <a:pt x="12936" y="7617"/>
                      </a:lnTo>
                      <a:lnTo>
                        <a:pt x="12081" y="9171"/>
                      </a:lnTo>
                      <a:lnTo>
                        <a:pt x="11541" y="9793"/>
                      </a:lnTo>
                      <a:lnTo>
                        <a:pt x="10596" y="9067"/>
                      </a:lnTo>
                      <a:lnTo>
                        <a:pt x="10191" y="9689"/>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2" name="Freeform 35">
                  <a:extLst>
                    <a:ext uri="{FF2B5EF4-FFF2-40B4-BE49-F238E27FC236}">
                      <a16:creationId xmlns:a16="http://schemas.microsoft.com/office/drawing/2014/main" id="{88BFC3A0-379E-4A88-A9F6-D9FD384449A3}"/>
                    </a:ext>
                  </a:extLst>
                </p:cNvPr>
                <p:cNvSpPr>
                  <a:spLocks/>
                </p:cNvSpPr>
                <p:nvPr/>
              </p:nvSpPr>
              <p:spPr bwMode="auto">
                <a:xfrm>
                  <a:off x="2312" y="1403"/>
                  <a:ext cx="240" cy="155"/>
                </a:xfrm>
                <a:custGeom>
                  <a:avLst/>
                  <a:gdLst>
                    <a:gd name="T0" fmla="*/ 215 w 20000"/>
                    <a:gd name="T1" fmla="*/ 54 h 20000"/>
                    <a:gd name="T2" fmla="*/ 204 w 20000"/>
                    <a:gd name="T3" fmla="*/ 64 h 20000"/>
                    <a:gd name="T4" fmla="*/ 198 w 20000"/>
                    <a:gd name="T5" fmla="*/ 57 h 20000"/>
                    <a:gd name="T6" fmla="*/ 191 w 20000"/>
                    <a:gd name="T7" fmla="*/ 51 h 20000"/>
                    <a:gd name="T8" fmla="*/ 184 w 20000"/>
                    <a:gd name="T9" fmla="*/ 49 h 20000"/>
                    <a:gd name="T10" fmla="*/ 184 w 20000"/>
                    <a:gd name="T11" fmla="*/ 44 h 20000"/>
                    <a:gd name="T12" fmla="*/ 191 w 20000"/>
                    <a:gd name="T13" fmla="*/ 39 h 20000"/>
                    <a:gd name="T14" fmla="*/ 191 w 20000"/>
                    <a:gd name="T15" fmla="*/ 30 h 20000"/>
                    <a:gd name="T16" fmla="*/ 184 w 20000"/>
                    <a:gd name="T17" fmla="*/ 25 h 20000"/>
                    <a:gd name="T18" fmla="*/ 186 w 20000"/>
                    <a:gd name="T19" fmla="*/ 10 h 20000"/>
                    <a:gd name="T20" fmla="*/ 186 w 20000"/>
                    <a:gd name="T21" fmla="*/ 1 h 20000"/>
                    <a:gd name="T22" fmla="*/ 171 w 20000"/>
                    <a:gd name="T23" fmla="*/ 0 h 20000"/>
                    <a:gd name="T24" fmla="*/ 167 w 20000"/>
                    <a:gd name="T25" fmla="*/ 12 h 20000"/>
                    <a:gd name="T26" fmla="*/ 163 w 20000"/>
                    <a:gd name="T27" fmla="*/ 17 h 20000"/>
                    <a:gd name="T28" fmla="*/ 148 w 20000"/>
                    <a:gd name="T29" fmla="*/ 22 h 20000"/>
                    <a:gd name="T30" fmla="*/ 148 w 20000"/>
                    <a:gd name="T31" fmla="*/ 31 h 20000"/>
                    <a:gd name="T32" fmla="*/ 155 w 20000"/>
                    <a:gd name="T33" fmla="*/ 39 h 20000"/>
                    <a:gd name="T34" fmla="*/ 164 w 20000"/>
                    <a:gd name="T35" fmla="*/ 42 h 20000"/>
                    <a:gd name="T36" fmla="*/ 167 w 20000"/>
                    <a:gd name="T37" fmla="*/ 49 h 20000"/>
                    <a:gd name="T38" fmla="*/ 158 w 20000"/>
                    <a:gd name="T39" fmla="*/ 57 h 20000"/>
                    <a:gd name="T40" fmla="*/ 155 w 20000"/>
                    <a:gd name="T41" fmla="*/ 61 h 20000"/>
                    <a:gd name="T42" fmla="*/ 124 w 20000"/>
                    <a:gd name="T43" fmla="*/ 61 h 20000"/>
                    <a:gd name="T44" fmla="*/ 119 w 20000"/>
                    <a:gd name="T45" fmla="*/ 52 h 20000"/>
                    <a:gd name="T46" fmla="*/ 109 w 20000"/>
                    <a:gd name="T47" fmla="*/ 41 h 20000"/>
                    <a:gd name="T48" fmla="*/ 109 w 20000"/>
                    <a:gd name="T49" fmla="*/ 32 h 20000"/>
                    <a:gd name="T50" fmla="*/ 100 w 20000"/>
                    <a:gd name="T51" fmla="*/ 27 h 20000"/>
                    <a:gd name="T52" fmla="*/ 82 w 20000"/>
                    <a:gd name="T53" fmla="*/ 10 h 20000"/>
                    <a:gd name="T54" fmla="*/ 66 w 20000"/>
                    <a:gd name="T55" fmla="*/ 2 h 20000"/>
                    <a:gd name="T56" fmla="*/ 48 w 20000"/>
                    <a:gd name="T57" fmla="*/ 10 h 20000"/>
                    <a:gd name="T58" fmla="*/ 47 w 20000"/>
                    <a:gd name="T59" fmla="*/ 15 h 20000"/>
                    <a:gd name="T60" fmla="*/ 38 w 20000"/>
                    <a:gd name="T61" fmla="*/ 20 h 20000"/>
                    <a:gd name="T62" fmla="*/ 30 w 20000"/>
                    <a:gd name="T63" fmla="*/ 25 h 20000"/>
                    <a:gd name="T64" fmla="*/ 32 w 20000"/>
                    <a:gd name="T65" fmla="*/ 32 h 20000"/>
                    <a:gd name="T66" fmla="*/ 27 w 20000"/>
                    <a:gd name="T67" fmla="*/ 36 h 20000"/>
                    <a:gd name="T68" fmla="*/ 22 w 20000"/>
                    <a:gd name="T69" fmla="*/ 45 h 20000"/>
                    <a:gd name="T70" fmla="*/ 14 w 20000"/>
                    <a:gd name="T71" fmla="*/ 58 h 20000"/>
                    <a:gd name="T72" fmla="*/ 8 w 20000"/>
                    <a:gd name="T73" fmla="*/ 66 h 20000"/>
                    <a:gd name="T74" fmla="*/ 0 w 20000"/>
                    <a:gd name="T75" fmla="*/ 75 h 20000"/>
                    <a:gd name="T76" fmla="*/ 10 w 20000"/>
                    <a:gd name="T77" fmla="*/ 87 h 20000"/>
                    <a:gd name="T78" fmla="*/ 26 w 20000"/>
                    <a:gd name="T79" fmla="*/ 98 h 20000"/>
                    <a:gd name="T80" fmla="*/ 37 w 20000"/>
                    <a:gd name="T81" fmla="*/ 102 h 20000"/>
                    <a:gd name="T82" fmla="*/ 44 w 20000"/>
                    <a:gd name="T83" fmla="*/ 106 h 20000"/>
                    <a:gd name="T84" fmla="*/ 54 w 20000"/>
                    <a:gd name="T85" fmla="*/ 127 h 20000"/>
                    <a:gd name="T86" fmla="*/ 56 w 20000"/>
                    <a:gd name="T87" fmla="*/ 137 h 20000"/>
                    <a:gd name="T88" fmla="*/ 69 w 20000"/>
                    <a:gd name="T89" fmla="*/ 150 h 20000"/>
                    <a:gd name="T90" fmla="*/ 97 w 20000"/>
                    <a:gd name="T91" fmla="*/ 155 h 20000"/>
                    <a:gd name="T92" fmla="*/ 129 w 20000"/>
                    <a:gd name="T93" fmla="*/ 139 h 20000"/>
                    <a:gd name="T94" fmla="*/ 129 w 20000"/>
                    <a:gd name="T95" fmla="*/ 134 h 20000"/>
                    <a:gd name="T96" fmla="*/ 155 w 20000"/>
                    <a:gd name="T97" fmla="*/ 129 h 20000"/>
                    <a:gd name="T98" fmla="*/ 175 w 20000"/>
                    <a:gd name="T99" fmla="*/ 128 h 20000"/>
                    <a:gd name="T100" fmla="*/ 184 w 20000"/>
                    <a:gd name="T101" fmla="*/ 128 h 20000"/>
                    <a:gd name="T102" fmla="*/ 198 w 20000"/>
                    <a:gd name="T103" fmla="*/ 133 h 20000"/>
                    <a:gd name="T104" fmla="*/ 225 w 20000"/>
                    <a:gd name="T105" fmla="*/ 124 h 20000"/>
                    <a:gd name="T106" fmla="*/ 232 w 20000"/>
                    <a:gd name="T107" fmla="*/ 105 h 20000"/>
                    <a:gd name="T108" fmla="*/ 234 w 20000"/>
                    <a:gd name="T109" fmla="*/ 93 h 20000"/>
                    <a:gd name="T110" fmla="*/ 240 w 20000"/>
                    <a:gd name="T111" fmla="*/ 85 h 20000"/>
                    <a:gd name="T112" fmla="*/ 237 w 20000"/>
                    <a:gd name="T113" fmla="*/ 65 h 20000"/>
                    <a:gd name="T114" fmla="*/ 222 w 20000"/>
                    <a:gd name="T115" fmla="*/ 53 h 20000"/>
                    <a:gd name="T116" fmla="*/ 215 w 20000"/>
                    <a:gd name="T117" fmla="*/ 54 h 200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0000"/>
                    <a:gd name="T178" fmla="*/ 0 h 20000"/>
                    <a:gd name="T179" fmla="*/ 20000 w 20000"/>
                    <a:gd name="T180" fmla="*/ 20000 h 200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0000" h="20000">
                      <a:moveTo>
                        <a:pt x="17930" y="6995"/>
                      </a:moveTo>
                      <a:lnTo>
                        <a:pt x="16995" y="8238"/>
                      </a:lnTo>
                      <a:lnTo>
                        <a:pt x="16494" y="7306"/>
                      </a:lnTo>
                      <a:lnTo>
                        <a:pt x="15893" y="6580"/>
                      </a:lnTo>
                      <a:lnTo>
                        <a:pt x="15359" y="6373"/>
                      </a:lnTo>
                      <a:lnTo>
                        <a:pt x="15359" y="5648"/>
                      </a:lnTo>
                      <a:lnTo>
                        <a:pt x="15893" y="5026"/>
                      </a:lnTo>
                      <a:lnTo>
                        <a:pt x="15893" y="3834"/>
                      </a:lnTo>
                      <a:lnTo>
                        <a:pt x="15359" y="3212"/>
                      </a:lnTo>
                      <a:lnTo>
                        <a:pt x="15492" y="1244"/>
                      </a:lnTo>
                      <a:lnTo>
                        <a:pt x="15492" y="104"/>
                      </a:lnTo>
                      <a:lnTo>
                        <a:pt x="14290" y="0"/>
                      </a:lnTo>
                      <a:lnTo>
                        <a:pt x="13890" y="1554"/>
                      </a:lnTo>
                      <a:lnTo>
                        <a:pt x="13556" y="2176"/>
                      </a:lnTo>
                      <a:lnTo>
                        <a:pt x="12354" y="2902"/>
                      </a:lnTo>
                      <a:lnTo>
                        <a:pt x="12354" y="4041"/>
                      </a:lnTo>
                      <a:lnTo>
                        <a:pt x="12955" y="5026"/>
                      </a:lnTo>
                      <a:lnTo>
                        <a:pt x="13689" y="5440"/>
                      </a:lnTo>
                      <a:lnTo>
                        <a:pt x="13890" y="6373"/>
                      </a:lnTo>
                      <a:lnTo>
                        <a:pt x="13155" y="7306"/>
                      </a:lnTo>
                      <a:lnTo>
                        <a:pt x="12955" y="7927"/>
                      </a:lnTo>
                      <a:lnTo>
                        <a:pt x="10351" y="7824"/>
                      </a:lnTo>
                      <a:lnTo>
                        <a:pt x="9917" y="6684"/>
                      </a:lnTo>
                      <a:lnTo>
                        <a:pt x="9048" y="5337"/>
                      </a:lnTo>
                      <a:lnTo>
                        <a:pt x="9115" y="4145"/>
                      </a:lnTo>
                      <a:lnTo>
                        <a:pt x="8314" y="3420"/>
                      </a:lnTo>
                      <a:lnTo>
                        <a:pt x="6845" y="1347"/>
                      </a:lnTo>
                      <a:lnTo>
                        <a:pt x="5509" y="311"/>
                      </a:lnTo>
                      <a:lnTo>
                        <a:pt x="4040" y="1244"/>
                      </a:lnTo>
                      <a:lnTo>
                        <a:pt x="3907" y="1969"/>
                      </a:lnTo>
                      <a:lnTo>
                        <a:pt x="3205" y="2591"/>
                      </a:lnTo>
                      <a:lnTo>
                        <a:pt x="2471" y="3212"/>
                      </a:lnTo>
                      <a:lnTo>
                        <a:pt x="2671" y="4145"/>
                      </a:lnTo>
                      <a:lnTo>
                        <a:pt x="2270" y="4663"/>
                      </a:lnTo>
                      <a:lnTo>
                        <a:pt x="1803" y="5751"/>
                      </a:lnTo>
                      <a:lnTo>
                        <a:pt x="1202" y="7513"/>
                      </a:lnTo>
                      <a:lnTo>
                        <a:pt x="668" y="8549"/>
                      </a:lnTo>
                      <a:lnTo>
                        <a:pt x="0" y="9689"/>
                      </a:lnTo>
                      <a:lnTo>
                        <a:pt x="801" y="11244"/>
                      </a:lnTo>
                      <a:lnTo>
                        <a:pt x="2204" y="12591"/>
                      </a:lnTo>
                      <a:lnTo>
                        <a:pt x="3072" y="13212"/>
                      </a:lnTo>
                      <a:lnTo>
                        <a:pt x="3706" y="13731"/>
                      </a:lnTo>
                      <a:lnTo>
                        <a:pt x="4508" y="16373"/>
                      </a:lnTo>
                      <a:lnTo>
                        <a:pt x="4641" y="17617"/>
                      </a:lnTo>
                      <a:lnTo>
                        <a:pt x="5710" y="19378"/>
                      </a:lnTo>
                      <a:lnTo>
                        <a:pt x="8047" y="20000"/>
                      </a:lnTo>
                      <a:lnTo>
                        <a:pt x="10751" y="17927"/>
                      </a:lnTo>
                      <a:lnTo>
                        <a:pt x="10751" y="17306"/>
                      </a:lnTo>
                      <a:lnTo>
                        <a:pt x="12888" y="16684"/>
                      </a:lnTo>
                      <a:lnTo>
                        <a:pt x="14558" y="16580"/>
                      </a:lnTo>
                      <a:lnTo>
                        <a:pt x="15292" y="16580"/>
                      </a:lnTo>
                      <a:lnTo>
                        <a:pt x="16494" y="17202"/>
                      </a:lnTo>
                      <a:lnTo>
                        <a:pt x="18731" y="16062"/>
                      </a:lnTo>
                      <a:lnTo>
                        <a:pt x="19332" y="13523"/>
                      </a:lnTo>
                      <a:lnTo>
                        <a:pt x="19533" y="11969"/>
                      </a:lnTo>
                      <a:lnTo>
                        <a:pt x="20000" y="10933"/>
                      </a:lnTo>
                      <a:lnTo>
                        <a:pt x="19733" y="8446"/>
                      </a:lnTo>
                      <a:lnTo>
                        <a:pt x="18531" y="6891"/>
                      </a:lnTo>
                      <a:lnTo>
                        <a:pt x="17930" y="6995"/>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3" name="Freeform 36">
                  <a:extLst>
                    <a:ext uri="{FF2B5EF4-FFF2-40B4-BE49-F238E27FC236}">
                      <a16:creationId xmlns:a16="http://schemas.microsoft.com/office/drawing/2014/main" id="{7D798239-172D-3DEC-B36C-6F02E8B3F2E5}"/>
                    </a:ext>
                  </a:extLst>
                </p:cNvPr>
                <p:cNvSpPr>
                  <a:spLocks/>
                </p:cNvSpPr>
                <p:nvPr/>
              </p:nvSpPr>
              <p:spPr bwMode="auto">
                <a:xfrm>
                  <a:off x="2607" y="1611"/>
                  <a:ext cx="137" cy="184"/>
                </a:xfrm>
                <a:custGeom>
                  <a:avLst/>
                  <a:gdLst>
                    <a:gd name="T0" fmla="*/ 113 w 20000"/>
                    <a:gd name="T1" fmla="*/ 72 h 20000"/>
                    <a:gd name="T2" fmla="*/ 112 w 20000"/>
                    <a:gd name="T3" fmla="*/ 63 h 20000"/>
                    <a:gd name="T4" fmla="*/ 112 w 20000"/>
                    <a:gd name="T5" fmla="*/ 36 h 20000"/>
                    <a:gd name="T6" fmla="*/ 111 w 20000"/>
                    <a:gd name="T7" fmla="*/ 29 h 20000"/>
                    <a:gd name="T8" fmla="*/ 114 w 20000"/>
                    <a:gd name="T9" fmla="*/ 15 h 20000"/>
                    <a:gd name="T10" fmla="*/ 114 w 20000"/>
                    <a:gd name="T11" fmla="*/ 8 h 20000"/>
                    <a:gd name="T12" fmla="*/ 108 w 20000"/>
                    <a:gd name="T13" fmla="*/ 1 h 20000"/>
                    <a:gd name="T14" fmla="*/ 92 w 20000"/>
                    <a:gd name="T15" fmla="*/ 0 h 20000"/>
                    <a:gd name="T16" fmla="*/ 70 w 20000"/>
                    <a:gd name="T17" fmla="*/ 14 h 20000"/>
                    <a:gd name="T18" fmla="*/ 53 w 20000"/>
                    <a:gd name="T19" fmla="*/ 2 h 20000"/>
                    <a:gd name="T20" fmla="*/ 46 w 20000"/>
                    <a:gd name="T21" fmla="*/ 2 h 20000"/>
                    <a:gd name="T22" fmla="*/ 31 w 20000"/>
                    <a:gd name="T23" fmla="*/ 10 h 20000"/>
                    <a:gd name="T24" fmla="*/ 27 w 20000"/>
                    <a:gd name="T25" fmla="*/ 18 h 20000"/>
                    <a:gd name="T26" fmla="*/ 26 w 20000"/>
                    <a:gd name="T27" fmla="*/ 29 h 20000"/>
                    <a:gd name="T28" fmla="*/ 24 w 20000"/>
                    <a:gd name="T29" fmla="*/ 37 h 20000"/>
                    <a:gd name="T30" fmla="*/ 10 w 20000"/>
                    <a:gd name="T31" fmla="*/ 68 h 20000"/>
                    <a:gd name="T32" fmla="*/ 3 w 20000"/>
                    <a:gd name="T33" fmla="*/ 73 h 20000"/>
                    <a:gd name="T34" fmla="*/ 0 w 20000"/>
                    <a:gd name="T35" fmla="*/ 79 h 20000"/>
                    <a:gd name="T36" fmla="*/ 1 w 20000"/>
                    <a:gd name="T37" fmla="*/ 97 h 20000"/>
                    <a:gd name="T38" fmla="*/ 13 w 20000"/>
                    <a:gd name="T39" fmla="*/ 107 h 20000"/>
                    <a:gd name="T40" fmla="*/ 20 w 20000"/>
                    <a:gd name="T41" fmla="*/ 119 h 20000"/>
                    <a:gd name="T42" fmla="*/ 32 w 20000"/>
                    <a:gd name="T43" fmla="*/ 119 h 20000"/>
                    <a:gd name="T44" fmla="*/ 37 w 20000"/>
                    <a:gd name="T45" fmla="*/ 124 h 20000"/>
                    <a:gd name="T46" fmla="*/ 46 w 20000"/>
                    <a:gd name="T47" fmla="*/ 128 h 20000"/>
                    <a:gd name="T48" fmla="*/ 49 w 20000"/>
                    <a:gd name="T49" fmla="*/ 135 h 20000"/>
                    <a:gd name="T50" fmla="*/ 61 w 20000"/>
                    <a:gd name="T51" fmla="*/ 145 h 20000"/>
                    <a:gd name="T52" fmla="*/ 66 w 20000"/>
                    <a:gd name="T53" fmla="*/ 155 h 20000"/>
                    <a:gd name="T54" fmla="*/ 72 w 20000"/>
                    <a:gd name="T55" fmla="*/ 164 h 20000"/>
                    <a:gd name="T56" fmla="*/ 74 w 20000"/>
                    <a:gd name="T57" fmla="*/ 177 h 20000"/>
                    <a:gd name="T58" fmla="*/ 82 w 20000"/>
                    <a:gd name="T59" fmla="*/ 177 h 20000"/>
                    <a:gd name="T60" fmla="*/ 86 w 20000"/>
                    <a:gd name="T61" fmla="*/ 184 h 20000"/>
                    <a:gd name="T62" fmla="*/ 94 w 20000"/>
                    <a:gd name="T63" fmla="*/ 183 h 20000"/>
                    <a:gd name="T64" fmla="*/ 104 w 20000"/>
                    <a:gd name="T65" fmla="*/ 167 h 20000"/>
                    <a:gd name="T66" fmla="*/ 118 w 20000"/>
                    <a:gd name="T67" fmla="*/ 159 h 20000"/>
                    <a:gd name="T68" fmla="*/ 127 w 20000"/>
                    <a:gd name="T69" fmla="*/ 147 h 20000"/>
                    <a:gd name="T70" fmla="*/ 133 w 20000"/>
                    <a:gd name="T71" fmla="*/ 144 h 20000"/>
                    <a:gd name="T72" fmla="*/ 137 w 20000"/>
                    <a:gd name="T73" fmla="*/ 136 h 20000"/>
                    <a:gd name="T74" fmla="*/ 135 w 20000"/>
                    <a:gd name="T75" fmla="*/ 117 h 20000"/>
                    <a:gd name="T76" fmla="*/ 135 w 20000"/>
                    <a:gd name="T77" fmla="*/ 102 h 20000"/>
                    <a:gd name="T78" fmla="*/ 132 w 20000"/>
                    <a:gd name="T79" fmla="*/ 82 h 20000"/>
                    <a:gd name="T80" fmla="*/ 118 w 20000"/>
                    <a:gd name="T81" fmla="*/ 78 h 20000"/>
                    <a:gd name="T82" fmla="*/ 113 w 20000"/>
                    <a:gd name="T83" fmla="*/ 72 h 200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000"/>
                    <a:gd name="T127" fmla="*/ 0 h 20000"/>
                    <a:gd name="T128" fmla="*/ 20000 w 20000"/>
                    <a:gd name="T129" fmla="*/ 20000 h 2000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000" h="20000">
                      <a:moveTo>
                        <a:pt x="16512" y="7852"/>
                      </a:moveTo>
                      <a:lnTo>
                        <a:pt x="16279" y="6811"/>
                      </a:lnTo>
                      <a:lnTo>
                        <a:pt x="16279" y="3948"/>
                      </a:lnTo>
                      <a:lnTo>
                        <a:pt x="16163" y="3124"/>
                      </a:lnTo>
                      <a:lnTo>
                        <a:pt x="16628" y="1649"/>
                      </a:lnTo>
                      <a:lnTo>
                        <a:pt x="16628" y="868"/>
                      </a:lnTo>
                      <a:lnTo>
                        <a:pt x="15814" y="87"/>
                      </a:lnTo>
                      <a:lnTo>
                        <a:pt x="13430" y="0"/>
                      </a:lnTo>
                      <a:lnTo>
                        <a:pt x="10174" y="1562"/>
                      </a:lnTo>
                      <a:lnTo>
                        <a:pt x="7733" y="260"/>
                      </a:lnTo>
                      <a:lnTo>
                        <a:pt x="6686" y="260"/>
                      </a:lnTo>
                      <a:lnTo>
                        <a:pt x="4535" y="1128"/>
                      </a:lnTo>
                      <a:lnTo>
                        <a:pt x="3953" y="1909"/>
                      </a:lnTo>
                      <a:lnTo>
                        <a:pt x="3837" y="3124"/>
                      </a:lnTo>
                      <a:lnTo>
                        <a:pt x="3488" y="4035"/>
                      </a:lnTo>
                      <a:lnTo>
                        <a:pt x="1512" y="7419"/>
                      </a:lnTo>
                      <a:lnTo>
                        <a:pt x="465" y="7939"/>
                      </a:lnTo>
                      <a:lnTo>
                        <a:pt x="0" y="8633"/>
                      </a:lnTo>
                      <a:lnTo>
                        <a:pt x="116" y="10586"/>
                      </a:lnTo>
                      <a:lnTo>
                        <a:pt x="1860" y="11627"/>
                      </a:lnTo>
                      <a:lnTo>
                        <a:pt x="2907" y="12928"/>
                      </a:lnTo>
                      <a:lnTo>
                        <a:pt x="4651" y="12928"/>
                      </a:lnTo>
                      <a:lnTo>
                        <a:pt x="5407" y="13449"/>
                      </a:lnTo>
                      <a:lnTo>
                        <a:pt x="6686" y="13883"/>
                      </a:lnTo>
                      <a:lnTo>
                        <a:pt x="7151" y="14664"/>
                      </a:lnTo>
                      <a:lnTo>
                        <a:pt x="8895" y="15792"/>
                      </a:lnTo>
                      <a:lnTo>
                        <a:pt x="9593" y="16876"/>
                      </a:lnTo>
                      <a:lnTo>
                        <a:pt x="10523" y="17831"/>
                      </a:lnTo>
                      <a:lnTo>
                        <a:pt x="10872" y="19219"/>
                      </a:lnTo>
                      <a:lnTo>
                        <a:pt x="11919" y="19219"/>
                      </a:lnTo>
                      <a:lnTo>
                        <a:pt x="12616" y="20000"/>
                      </a:lnTo>
                      <a:lnTo>
                        <a:pt x="13663" y="19913"/>
                      </a:lnTo>
                      <a:lnTo>
                        <a:pt x="15116" y="18178"/>
                      </a:lnTo>
                      <a:lnTo>
                        <a:pt x="17209" y="17310"/>
                      </a:lnTo>
                      <a:lnTo>
                        <a:pt x="18605" y="15965"/>
                      </a:lnTo>
                      <a:lnTo>
                        <a:pt x="19419" y="15705"/>
                      </a:lnTo>
                      <a:lnTo>
                        <a:pt x="20000" y="14751"/>
                      </a:lnTo>
                      <a:lnTo>
                        <a:pt x="19651" y="12668"/>
                      </a:lnTo>
                      <a:lnTo>
                        <a:pt x="19651" y="11106"/>
                      </a:lnTo>
                      <a:lnTo>
                        <a:pt x="19302" y="8894"/>
                      </a:lnTo>
                      <a:lnTo>
                        <a:pt x="17209" y="8460"/>
                      </a:lnTo>
                      <a:lnTo>
                        <a:pt x="16512" y="7852"/>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4" name="Freeform 37">
                  <a:extLst>
                    <a:ext uri="{FF2B5EF4-FFF2-40B4-BE49-F238E27FC236}">
                      <a16:creationId xmlns:a16="http://schemas.microsoft.com/office/drawing/2014/main" id="{91C26C65-ADF3-00DA-CB74-2CE3D489703B}"/>
                    </a:ext>
                  </a:extLst>
                </p:cNvPr>
                <p:cNvSpPr>
                  <a:spLocks/>
                </p:cNvSpPr>
                <p:nvPr/>
              </p:nvSpPr>
              <p:spPr bwMode="auto">
                <a:xfrm>
                  <a:off x="2750" y="1583"/>
                  <a:ext cx="112" cy="151"/>
                </a:xfrm>
                <a:custGeom>
                  <a:avLst/>
                  <a:gdLst>
                    <a:gd name="T0" fmla="*/ 52 w 20000"/>
                    <a:gd name="T1" fmla="*/ 132 h 20000"/>
                    <a:gd name="T2" fmla="*/ 45 w 20000"/>
                    <a:gd name="T3" fmla="*/ 145 h 20000"/>
                    <a:gd name="T4" fmla="*/ 47 w 20000"/>
                    <a:gd name="T5" fmla="*/ 149 h 20000"/>
                    <a:gd name="T6" fmla="*/ 22 w 20000"/>
                    <a:gd name="T7" fmla="*/ 151 h 20000"/>
                    <a:gd name="T8" fmla="*/ 17 w 20000"/>
                    <a:gd name="T9" fmla="*/ 118 h 20000"/>
                    <a:gd name="T10" fmla="*/ 7 w 20000"/>
                    <a:gd name="T11" fmla="*/ 106 h 20000"/>
                    <a:gd name="T12" fmla="*/ 0 w 20000"/>
                    <a:gd name="T13" fmla="*/ 33 h 20000"/>
                    <a:gd name="T14" fmla="*/ 4 w 20000"/>
                    <a:gd name="T15" fmla="*/ 14 h 20000"/>
                    <a:gd name="T16" fmla="*/ 23 w 20000"/>
                    <a:gd name="T17" fmla="*/ 2 h 20000"/>
                    <a:gd name="T18" fmla="*/ 36 w 20000"/>
                    <a:gd name="T19" fmla="*/ 0 h 20000"/>
                    <a:gd name="T20" fmla="*/ 60 w 20000"/>
                    <a:gd name="T21" fmla="*/ 0 h 20000"/>
                    <a:gd name="T22" fmla="*/ 69 w 20000"/>
                    <a:gd name="T23" fmla="*/ 7 h 20000"/>
                    <a:gd name="T24" fmla="*/ 84 w 20000"/>
                    <a:gd name="T25" fmla="*/ 2 h 20000"/>
                    <a:gd name="T26" fmla="*/ 112 w 20000"/>
                    <a:gd name="T27" fmla="*/ 5 h 20000"/>
                    <a:gd name="T28" fmla="*/ 105 w 20000"/>
                    <a:gd name="T29" fmla="*/ 31 h 20000"/>
                    <a:gd name="T30" fmla="*/ 96 w 20000"/>
                    <a:gd name="T31" fmla="*/ 55 h 20000"/>
                    <a:gd name="T32" fmla="*/ 96 w 20000"/>
                    <a:gd name="T33" fmla="*/ 60 h 20000"/>
                    <a:gd name="T34" fmla="*/ 88 w 20000"/>
                    <a:gd name="T35" fmla="*/ 91 h 20000"/>
                    <a:gd name="T36" fmla="*/ 83 w 20000"/>
                    <a:gd name="T37" fmla="*/ 95 h 20000"/>
                    <a:gd name="T38" fmla="*/ 58 w 20000"/>
                    <a:gd name="T39" fmla="*/ 120 h 20000"/>
                    <a:gd name="T40" fmla="*/ 52 w 20000"/>
                    <a:gd name="T41" fmla="*/ 132 h 20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000"/>
                    <a:gd name="T64" fmla="*/ 0 h 20000"/>
                    <a:gd name="T65" fmla="*/ 20000 w 20000"/>
                    <a:gd name="T66" fmla="*/ 20000 h 200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000" h="20000">
                      <a:moveTo>
                        <a:pt x="9253" y="17460"/>
                      </a:moveTo>
                      <a:lnTo>
                        <a:pt x="8114" y="19153"/>
                      </a:lnTo>
                      <a:lnTo>
                        <a:pt x="8399" y="19683"/>
                      </a:lnTo>
                      <a:lnTo>
                        <a:pt x="3843" y="20000"/>
                      </a:lnTo>
                      <a:lnTo>
                        <a:pt x="2989" y="15661"/>
                      </a:lnTo>
                      <a:lnTo>
                        <a:pt x="1281" y="14021"/>
                      </a:lnTo>
                      <a:lnTo>
                        <a:pt x="0" y="4339"/>
                      </a:lnTo>
                      <a:lnTo>
                        <a:pt x="712" y="1905"/>
                      </a:lnTo>
                      <a:lnTo>
                        <a:pt x="4128" y="212"/>
                      </a:lnTo>
                      <a:lnTo>
                        <a:pt x="6406" y="0"/>
                      </a:lnTo>
                      <a:lnTo>
                        <a:pt x="10747" y="0"/>
                      </a:lnTo>
                      <a:lnTo>
                        <a:pt x="12313" y="952"/>
                      </a:lnTo>
                      <a:lnTo>
                        <a:pt x="15018" y="317"/>
                      </a:lnTo>
                      <a:lnTo>
                        <a:pt x="20000" y="635"/>
                      </a:lnTo>
                      <a:lnTo>
                        <a:pt x="18719" y="4127"/>
                      </a:lnTo>
                      <a:lnTo>
                        <a:pt x="17153" y="7249"/>
                      </a:lnTo>
                      <a:lnTo>
                        <a:pt x="17153" y="7989"/>
                      </a:lnTo>
                      <a:lnTo>
                        <a:pt x="15730" y="12011"/>
                      </a:lnTo>
                      <a:lnTo>
                        <a:pt x="14875" y="12646"/>
                      </a:lnTo>
                      <a:lnTo>
                        <a:pt x="10320" y="15873"/>
                      </a:lnTo>
                      <a:lnTo>
                        <a:pt x="9253" y="1746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 name="Freeform 38">
                  <a:extLst>
                    <a:ext uri="{FF2B5EF4-FFF2-40B4-BE49-F238E27FC236}">
                      <a16:creationId xmlns:a16="http://schemas.microsoft.com/office/drawing/2014/main" id="{8B3679A5-B66C-73DA-BDDF-76F4E4930BB3}"/>
                    </a:ext>
                  </a:extLst>
                </p:cNvPr>
                <p:cNvSpPr>
                  <a:spLocks/>
                </p:cNvSpPr>
                <p:nvPr/>
              </p:nvSpPr>
              <p:spPr bwMode="auto">
                <a:xfrm>
                  <a:off x="2598" y="1416"/>
                  <a:ext cx="108" cy="118"/>
                </a:xfrm>
                <a:custGeom>
                  <a:avLst/>
                  <a:gdLst>
                    <a:gd name="T0" fmla="*/ 18 w 20000"/>
                    <a:gd name="T1" fmla="*/ 33 h 20000"/>
                    <a:gd name="T2" fmla="*/ 14 w 20000"/>
                    <a:gd name="T3" fmla="*/ 26 h 20000"/>
                    <a:gd name="T4" fmla="*/ 18 w 20000"/>
                    <a:gd name="T5" fmla="*/ 18 h 20000"/>
                    <a:gd name="T6" fmla="*/ 26 w 20000"/>
                    <a:gd name="T7" fmla="*/ 18 h 20000"/>
                    <a:gd name="T8" fmla="*/ 35 w 20000"/>
                    <a:gd name="T9" fmla="*/ 14 h 20000"/>
                    <a:gd name="T10" fmla="*/ 45 w 20000"/>
                    <a:gd name="T11" fmla="*/ 5 h 20000"/>
                    <a:gd name="T12" fmla="*/ 60 w 20000"/>
                    <a:gd name="T13" fmla="*/ 4 h 20000"/>
                    <a:gd name="T14" fmla="*/ 82 w 20000"/>
                    <a:gd name="T15" fmla="*/ 0 h 20000"/>
                    <a:gd name="T16" fmla="*/ 94 w 20000"/>
                    <a:gd name="T17" fmla="*/ 11 h 20000"/>
                    <a:gd name="T18" fmla="*/ 94 w 20000"/>
                    <a:gd name="T19" fmla="*/ 21 h 20000"/>
                    <a:gd name="T20" fmla="*/ 101 w 20000"/>
                    <a:gd name="T21" fmla="*/ 31 h 20000"/>
                    <a:gd name="T22" fmla="*/ 98 w 20000"/>
                    <a:gd name="T23" fmla="*/ 36 h 20000"/>
                    <a:gd name="T24" fmla="*/ 100 w 20000"/>
                    <a:gd name="T25" fmla="*/ 60 h 20000"/>
                    <a:gd name="T26" fmla="*/ 105 w 20000"/>
                    <a:gd name="T27" fmla="*/ 67 h 20000"/>
                    <a:gd name="T28" fmla="*/ 108 w 20000"/>
                    <a:gd name="T29" fmla="*/ 87 h 20000"/>
                    <a:gd name="T30" fmla="*/ 96 w 20000"/>
                    <a:gd name="T31" fmla="*/ 93 h 20000"/>
                    <a:gd name="T32" fmla="*/ 103 w 20000"/>
                    <a:gd name="T33" fmla="*/ 105 h 20000"/>
                    <a:gd name="T34" fmla="*/ 98 w 20000"/>
                    <a:gd name="T35" fmla="*/ 113 h 20000"/>
                    <a:gd name="T36" fmla="*/ 55 w 20000"/>
                    <a:gd name="T37" fmla="*/ 118 h 20000"/>
                    <a:gd name="T38" fmla="*/ 48 w 20000"/>
                    <a:gd name="T39" fmla="*/ 115 h 20000"/>
                    <a:gd name="T40" fmla="*/ 47 w 20000"/>
                    <a:gd name="T41" fmla="*/ 104 h 20000"/>
                    <a:gd name="T42" fmla="*/ 40 w 20000"/>
                    <a:gd name="T43" fmla="*/ 94 h 20000"/>
                    <a:gd name="T44" fmla="*/ 47 w 20000"/>
                    <a:gd name="T45" fmla="*/ 93 h 20000"/>
                    <a:gd name="T46" fmla="*/ 42 w 20000"/>
                    <a:gd name="T47" fmla="*/ 87 h 20000"/>
                    <a:gd name="T48" fmla="*/ 5 w 20000"/>
                    <a:gd name="T49" fmla="*/ 81 h 20000"/>
                    <a:gd name="T50" fmla="*/ 0 w 20000"/>
                    <a:gd name="T51" fmla="*/ 72 h 20000"/>
                    <a:gd name="T52" fmla="*/ 16 w 20000"/>
                    <a:gd name="T53" fmla="*/ 68 h 20000"/>
                    <a:gd name="T54" fmla="*/ 11 w 20000"/>
                    <a:gd name="T55" fmla="*/ 63 h 20000"/>
                    <a:gd name="T56" fmla="*/ 12 w 20000"/>
                    <a:gd name="T57" fmla="*/ 58 h 20000"/>
                    <a:gd name="T58" fmla="*/ 17 w 20000"/>
                    <a:gd name="T59" fmla="*/ 55 h 20000"/>
                    <a:gd name="T60" fmla="*/ 22 w 20000"/>
                    <a:gd name="T61" fmla="*/ 47 h 20000"/>
                    <a:gd name="T62" fmla="*/ 19 w 20000"/>
                    <a:gd name="T63" fmla="*/ 43 h 20000"/>
                    <a:gd name="T64" fmla="*/ 18 w 20000"/>
                    <a:gd name="T65" fmla="*/ 33 h 200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000"/>
                    <a:gd name="T100" fmla="*/ 0 h 20000"/>
                    <a:gd name="T101" fmla="*/ 20000 w 20000"/>
                    <a:gd name="T102" fmla="*/ 20000 h 200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000" h="20000">
                      <a:moveTo>
                        <a:pt x="3395" y="5559"/>
                      </a:moveTo>
                      <a:lnTo>
                        <a:pt x="2657" y="4475"/>
                      </a:lnTo>
                      <a:lnTo>
                        <a:pt x="3395" y="3119"/>
                      </a:lnTo>
                      <a:lnTo>
                        <a:pt x="4871" y="3119"/>
                      </a:lnTo>
                      <a:lnTo>
                        <a:pt x="6494" y="2305"/>
                      </a:lnTo>
                      <a:lnTo>
                        <a:pt x="8266" y="814"/>
                      </a:lnTo>
                      <a:lnTo>
                        <a:pt x="11144" y="678"/>
                      </a:lnTo>
                      <a:lnTo>
                        <a:pt x="15129" y="0"/>
                      </a:lnTo>
                      <a:lnTo>
                        <a:pt x="17343" y="1898"/>
                      </a:lnTo>
                      <a:lnTo>
                        <a:pt x="17343" y="3525"/>
                      </a:lnTo>
                      <a:lnTo>
                        <a:pt x="18672" y="5288"/>
                      </a:lnTo>
                      <a:lnTo>
                        <a:pt x="18229" y="6102"/>
                      </a:lnTo>
                      <a:lnTo>
                        <a:pt x="18524" y="10102"/>
                      </a:lnTo>
                      <a:lnTo>
                        <a:pt x="19410" y="11322"/>
                      </a:lnTo>
                      <a:lnTo>
                        <a:pt x="20000" y="14712"/>
                      </a:lnTo>
                      <a:lnTo>
                        <a:pt x="17786" y="15797"/>
                      </a:lnTo>
                      <a:lnTo>
                        <a:pt x="19114" y="17831"/>
                      </a:lnTo>
                      <a:lnTo>
                        <a:pt x="18229" y="19186"/>
                      </a:lnTo>
                      <a:lnTo>
                        <a:pt x="10111" y="20000"/>
                      </a:lnTo>
                      <a:lnTo>
                        <a:pt x="8856" y="19458"/>
                      </a:lnTo>
                      <a:lnTo>
                        <a:pt x="8708" y="17559"/>
                      </a:lnTo>
                      <a:lnTo>
                        <a:pt x="7380" y="15932"/>
                      </a:lnTo>
                      <a:lnTo>
                        <a:pt x="8708" y="15797"/>
                      </a:lnTo>
                      <a:lnTo>
                        <a:pt x="7823" y="14712"/>
                      </a:lnTo>
                      <a:lnTo>
                        <a:pt x="886" y="13763"/>
                      </a:lnTo>
                      <a:lnTo>
                        <a:pt x="0" y="12136"/>
                      </a:lnTo>
                      <a:lnTo>
                        <a:pt x="2952" y="11458"/>
                      </a:lnTo>
                      <a:lnTo>
                        <a:pt x="2066" y="10644"/>
                      </a:lnTo>
                      <a:lnTo>
                        <a:pt x="2214" y="9763"/>
                      </a:lnTo>
                      <a:lnTo>
                        <a:pt x="3100" y="9356"/>
                      </a:lnTo>
                      <a:lnTo>
                        <a:pt x="3985" y="8000"/>
                      </a:lnTo>
                      <a:lnTo>
                        <a:pt x="3542" y="7322"/>
                      </a:lnTo>
                      <a:lnTo>
                        <a:pt x="3395" y="5559"/>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 name="Freeform 39">
                  <a:extLst>
                    <a:ext uri="{FF2B5EF4-FFF2-40B4-BE49-F238E27FC236}">
                      <a16:creationId xmlns:a16="http://schemas.microsoft.com/office/drawing/2014/main" id="{5EEACCE6-7739-9229-1C30-31EB7494252C}"/>
                    </a:ext>
                  </a:extLst>
                </p:cNvPr>
                <p:cNvSpPr>
                  <a:spLocks/>
                </p:cNvSpPr>
                <p:nvPr/>
              </p:nvSpPr>
              <p:spPr bwMode="auto">
                <a:xfrm>
                  <a:off x="2233" y="1332"/>
                  <a:ext cx="149" cy="99"/>
                </a:xfrm>
                <a:custGeom>
                  <a:avLst/>
                  <a:gdLst>
                    <a:gd name="T0" fmla="*/ 65 w 20000"/>
                    <a:gd name="T1" fmla="*/ 86 h 20000"/>
                    <a:gd name="T2" fmla="*/ 60 w 20000"/>
                    <a:gd name="T3" fmla="*/ 89 h 20000"/>
                    <a:gd name="T4" fmla="*/ 52 w 20000"/>
                    <a:gd name="T5" fmla="*/ 98 h 20000"/>
                    <a:gd name="T6" fmla="*/ 41 w 20000"/>
                    <a:gd name="T7" fmla="*/ 99 h 20000"/>
                    <a:gd name="T8" fmla="*/ 38 w 20000"/>
                    <a:gd name="T9" fmla="*/ 97 h 20000"/>
                    <a:gd name="T10" fmla="*/ 26 w 20000"/>
                    <a:gd name="T11" fmla="*/ 86 h 20000"/>
                    <a:gd name="T12" fmla="*/ 17 w 20000"/>
                    <a:gd name="T13" fmla="*/ 77 h 20000"/>
                    <a:gd name="T14" fmla="*/ 7 w 20000"/>
                    <a:gd name="T15" fmla="*/ 81 h 20000"/>
                    <a:gd name="T16" fmla="*/ 0 w 20000"/>
                    <a:gd name="T17" fmla="*/ 80 h 20000"/>
                    <a:gd name="T18" fmla="*/ 2 w 20000"/>
                    <a:gd name="T19" fmla="*/ 72 h 20000"/>
                    <a:gd name="T20" fmla="*/ 5 w 20000"/>
                    <a:gd name="T21" fmla="*/ 67 h 20000"/>
                    <a:gd name="T22" fmla="*/ 2 w 20000"/>
                    <a:gd name="T23" fmla="*/ 65 h 20000"/>
                    <a:gd name="T24" fmla="*/ 11 w 20000"/>
                    <a:gd name="T25" fmla="*/ 53 h 20000"/>
                    <a:gd name="T26" fmla="*/ 29 w 20000"/>
                    <a:gd name="T27" fmla="*/ 53 h 20000"/>
                    <a:gd name="T28" fmla="*/ 40 w 20000"/>
                    <a:gd name="T29" fmla="*/ 38 h 20000"/>
                    <a:gd name="T30" fmla="*/ 55 w 20000"/>
                    <a:gd name="T31" fmla="*/ 35 h 20000"/>
                    <a:gd name="T32" fmla="*/ 56 w 20000"/>
                    <a:gd name="T33" fmla="*/ 31 h 20000"/>
                    <a:gd name="T34" fmla="*/ 68 w 20000"/>
                    <a:gd name="T35" fmla="*/ 22 h 20000"/>
                    <a:gd name="T36" fmla="*/ 68 w 20000"/>
                    <a:gd name="T37" fmla="*/ 18 h 20000"/>
                    <a:gd name="T38" fmla="*/ 74 w 20000"/>
                    <a:gd name="T39" fmla="*/ 17 h 20000"/>
                    <a:gd name="T40" fmla="*/ 87 w 20000"/>
                    <a:gd name="T41" fmla="*/ 5 h 20000"/>
                    <a:gd name="T42" fmla="*/ 113 w 20000"/>
                    <a:gd name="T43" fmla="*/ 10 h 20000"/>
                    <a:gd name="T44" fmla="*/ 121 w 20000"/>
                    <a:gd name="T45" fmla="*/ 5 h 20000"/>
                    <a:gd name="T46" fmla="*/ 133 w 20000"/>
                    <a:gd name="T47" fmla="*/ 0 h 20000"/>
                    <a:gd name="T48" fmla="*/ 149 w 20000"/>
                    <a:gd name="T49" fmla="*/ 19 h 20000"/>
                    <a:gd name="T50" fmla="*/ 130 w 20000"/>
                    <a:gd name="T51" fmla="*/ 28 h 20000"/>
                    <a:gd name="T52" fmla="*/ 137 w 20000"/>
                    <a:gd name="T53" fmla="*/ 40 h 20000"/>
                    <a:gd name="T54" fmla="*/ 135 w 20000"/>
                    <a:gd name="T55" fmla="*/ 46 h 20000"/>
                    <a:gd name="T56" fmla="*/ 132 w 20000"/>
                    <a:gd name="T57" fmla="*/ 56 h 20000"/>
                    <a:gd name="T58" fmla="*/ 128 w 20000"/>
                    <a:gd name="T59" fmla="*/ 61 h 20000"/>
                    <a:gd name="T60" fmla="*/ 111 w 20000"/>
                    <a:gd name="T61" fmla="*/ 63 h 20000"/>
                    <a:gd name="T62" fmla="*/ 109 w 20000"/>
                    <a:gd name="T63" fmla="*/ 77 h 20000"/>
                    <a:gd name="T64" fmla="*/ 98 w 20000"/>
                    <a:gd name="T65" fmla="*/ 81 h 20000"/>
                    <a:gd name="T66" fmla="*/ 92 w 20000"/>
                    <a:gd name="T67" fmla="*/ 74 h 20000"/>
                    <a:gd name="T68" fmla="*/ 79 w 20000"/>
                    <a:gd name="T69" fmla="*/ 73 h 20000"/>
                    <a:gd name="T70" fmla="*/ 72 w 20000"/>
                    <a:gd name="T71" fmla="*/ 74 h 20000"/>
                    <a:gd name="T72" fmla="*/ 72 w 20000"/>
                    <a:gd name="T73" fmla="*/ 80 h 20000"/>
                    <a:gd name="T74" fmla="*/ 65 w 20000"/>
                    <a:gd name="T75" fmla="*/ 86 h 200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000"/>
                    <a:gd name="T115" fmla="*/ 0 h 20000"/>
                    <a:gd name="T116" fmla="*/ 20000 w 20000"/>
                    <a:gd name="T117" fmla="*/ 20000 h 200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000" h="20000">
                      <a:moveTo>
                        <a:pt x="8763" y="17409"/>
                      </a:moveTo>
                      <a:lnTo>
                        <a:pt x="8011" y="17895"/>
                      </a:lnTo>
                      <a:lnTo>
                        <a:pt x="7043" y="19838"/>
                      </a:lnTo>
                      <a:lnTo>
                        <a:pt x="5538" y="20000"/>
                      </a:lnTo>
                      <a:lnTo>
                        <a:pt x="5108" y="19514"/>
                      </a:lnTo>
                      <a:lnTo>
                        <a:pt x="3548" y="17409"/>
                      </a:lnTo>
                      <a:lnTo>
                        <a:pt x="2258" y="15628"/>
                      </a:lnTo>
                      <a:lnTo>
                        <a:pt x="968" y="16437"/>
                      </a:lnTo>
                      <a:lnTo>
                        <a:pt x="0" y="16113"/>
                      </a:lnTo>
                      <a:lnTo>
                        <a:pt x="323" y="14494"/>
                      </a:lnTo>
                      <a:lnTo>
                        <a:pt x="645" y="13522"/>
                      </a:lnTo>
                      <a:lnTo>
                        <a:pt x="215" y="13036"/>
                      </a:lnTo>
                      <a:lnTo>
                        <a:pt x="1505" y="10607"/>
                      </a:lnTo>
                      <a:lnTo>
                        <a:pt x="3871" y="10607"/>
                      </a:lnTo>
                      <a:lnTo>
                        <a:pt x="5430" y="7773"/>
                      </a:lnTo>
                      <a:lnTo>
                        <a:pt x="7366" y="7126"/>
                      </a:lnTo>
                      <a:lnTo>
                        <a:pt x="7473" y="6316"/>
                      </a:lnTo>
                      <a:lnTo>
                        <a:pt x="9086" y="4372"/>
                      </a:lnTo>
                      <a:lnTo>
                        <a:pt x="9086" y="3725"/>
                      </a:lnTo>
                      <a:lnTo>
                        <a:pt x="9946" y="3401"/>
                      </a:lnTo>
                      <a:lnTo>
                        <a:pt x="11667" y="972"/>
                      </a:lnTo>
                      <a:lnTo>
                        <a:pt x="15161" y="1943"/>
                      </a:lnTo>
                      <a:lnTo>
                        <a:pt x="16237" y="972"/>
                      </a:lnTo>
                      <a:lnTo>
                        <a:pt x="17849" y="0"/>
                      </a:lnTo>
                      <a:lnTo>
                        <a:pt x="20000" y="3887"/>
                      </a:lnTo>
                      <a:lnTo>
                        <a:pt x="17419" y="5668"/>
                      </a:lnTo>
                      <a:lnTo>
                        <a:pt x="18387" y="8097"/>
                      </a:lnTo>
                      <a:lnTo>
                        <a:pt x="18065" y="9231"/>
                      </a:lnTo>
                      <a:lnTo>
                        <a:pt x="17742" y="11255"/>
                      </a:lnTo>
                      <a:lnTo>
                        <a:pt x="17204" y="12227"/>
                      </a:lnTo>
                      <a:lnTo>
                        <a:pt x="14892" y="12713"/>
                      </a:lnTo>
                      <a:lnTo>
                        <a:pt x="14570" y="15466"/>
                      </a:lnTo>
                      <a:lnTo>
                        <a:pt x="13172" y="16437"/>
                      </a:lnTo>
                      <a:lnTo>
                        <a:pt x="12312" y="14980"/>
                      </a:lnTo>
                      <a:lnTo>
                        <a:pt x="10591" y="14656"/>
                      </a:lnTo>
                      <a:lnTo>
                        <a:pt x="9731" y="14980"/>
                      </a:lnTo>
                      <a:lnTo>
                        <a:pt x="9624" y="16113"/>
                      </a:lnTo>
                      <a:lnTo>
                        <a:pt x="8763" y="17409"/>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7" name="Freeform 40">
                  <a:extLst>
                    <a:ext uri="{FF2B5EF4-FFF2-40B4-BE49-F238E27FC236}">
                      <a16:creationId xmlns:a16="http://schemas.microsoft.com/office/drawing/2014/main" id="{5D376D3F-2C27-211C-05AB-F60EFFF47AAC}"/>
                    </a:ext>
                  </a:extLst>
                </p:cNvPr>
                <p:cNvSpPr>
                  <a:spLocks/>
                </p:cNvSpPr>
                <p:nvPr/>
              </p:nvSpPr>
              <p:spPr bwMode="auto">
                <a:xfrm>
                  <a:off x="2559" y="1237"/>
                  <a:ext cx="106" cy="102"/>
                </a:xfrm>
                <a:custGeom>
                  <a:avLst/>
                  <a:gdLst>
                    <a:gd name="T0" fmla="*/ 0 w 20000"/>
                    <a:gd name="T1" fmla="*/ 23 h 20000"/>
                    <a:gd name="T2" fmla="*/ 2 w 20000"/>
                    <a:gd name="T3" fmla="*/ 4 h 20000"/>
                    <a:gd name="T4" fmla="*/ 21 w 20000"/>
                    <a:gd name="T5" fmla="*/ 0 h 20000"/>
                    <a:gd name="T6" fmla="*/ 43 w 20000"/>
                    <a:gd name="T7" fmla="*/ 10 h 20000"/>
                    <a:gd name="T8" fmla="*/ 58 w 20000"/>
                    <a:gd name="T9" fmla="*/ 17 h 20000"/>
                    <a:gd name="T10" fmla="*/ 70 w 20000"/>
                    <a:gd name="T11" fmla="*/ 27 h 20000"/>
                    <a:gd name="T12" fmla="*/ 81 w 20000"/>
                    <a:gd name="T13" fmla="*/ 34 h 20000"/>
                    <a:gd name="T14" fmla="*/ 89 w 20000"/>
                    <a:gd name="T15" fmla="*/ 43 h 20000"/>
                    <a:gd name="T16" fmla="*/ 96 w 20000"/>
                    <a:gd name="T17" fmla="*/ 49 h 20000"/>
                    <a:gd name="T18" fmla="*/ 96 w 20000"/>
                    <a:gd name="T19" fmla="*/ 57 h 20000"/>
                    <a:gd name="T20" fmla="*/ 92 w 20000"/>
                    <a:gd name="T21" fmla="*/ 60 h 20000"/>
                    <a:gd name="T22" fmla="*/ 92 w 20000"/>
                    <a:gd name="T23" fmla="*/ 69 h 20000"/>
                    <a:gd name="T24" fmla="*/ 106 w 20000"/>
                    <a:gd name="T25" fmla="*/ 85 h 20000"/>
                    <a:gd name="T26" fmla="*/ 105 w 20000"/>
                    <a:gd name="T27" fmla="*/ 97 h 20000"/>
                    <a:gd name="T28" fmla="*/ 100 w 20000"/>
                    <a:gd name="T29" fmla="*/ 101 h 20000"/>
                    <a:gd name="T30" fmla="*/ 82 w 20000"/>
                    <a:gd name="T31" fmla="*/ 102 h 20000"/>
                    <a:gd name="T32" fmla="*/ 77 w 20000"/>
                    <a:gd name="T33" fmla="*/ 95 h 20000"/>
                    <a:gd name="T34" fmla="*/ 75 w 20000"/>
                    <a:gd name="T35" fmla="*/ 85 h 20000"/>
                    <a:gd name="T36" fmla="*/ 72 w 20000"/>
                    <a:gd name="T37" fmla="*/ 78 h 20000"/>
                    <a:gd name="T38" fmla="*/ 62 w 20000"/>
                    <a:gd name="T39" fmla="*/ 74 h 20000"/>
                    <a:gd name="T40" fmla="*/ 45 w 20000"/>
                    <a:gd name="T41" fmla="*/ 73 h 20000"/>
                    <a:gd name="T42" fmla="*/ 43 w 20000"/>
                    <a:gd name="T43" fmla="*/ 65 h 20000"/>
                    <a:gd name="T44" fmla="*/ 24 w 20000"/>
                    <a:gd name="T45" fmla="*/ 73 h 20000"/>
                    <a:gd name="T46" fmla="*/ 14 w 20000"/>
                    <a:gd name="T47" fmla="*/ 69 h 20000"/>
                    <a:gd name="T48" fmla="*/ 8 w 20000"/>
                    <a:gd name="T49" fmla="*/ 61 h 20000"/>
                    <a:gd name="T50" fmla="*/ 8 w 20000"/>
                    <a:gd name="T51" fmla="*/ 56 h 20000"/>
                    <a:gd name="T52" fmla="*/ 0 w 20000"/>
                    <a:gd name="T53" fmla="*/ 23 h 200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000"/>
                    <a:gd name="T82" fmla="*/ 0 h 20000"/>
                    <a:gd name="T83" fmla="*/ 20000 w 20000"/>
                    <a:gd name="T84" fmla="*/ 20000 h 200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000" h="20000">
                      <a:moveTo>
                        <a:pt x="0" y="4567"/>
                      </a:moveTo>
                      <a:lnTo>
                        <a:pt x="449" y="787"/>
                      </a:lnTo>
                      <a:lnTo>
                        <a:pt x="4045" y="0"/>
                      </a:lnTo>
                      <a:lnTo>
                        <a:pt x="8090" y="1890"/>
                      </a:lnTo>
                      <a:lnTo>
                        <a:pt x="10861" y="3307"/>
                      </a:lnTo>
                      <a:lnTo>
                        <a:pt x="13258" y="5276"/>
                      </a:lnTo>
                      <a:lnTo>
                        <a:pt x="15356" y="6693"/>
                      </a:lnTo>
                      <a:lnTo>
                        <a:pt x="16854" y="8425"/>
                      </a:lnTo>
                      <a:lnTo>
                        <a:pt x="18052" y="9528"/>
                      </a:lnTo>
                      <a:lnTo>
                        <a:pt x="18052" y="11260"/>
                      </a:lnTo>
                      <a:lnTo>
                        <a:pt x="17303" y="11732"/>
                      </a:lnTo>
                      <a:lnTo>
                        <a:pt x="17303" y="13622"/>
                      </a:lnTo>
                      <a:lnTo>
                        <a:pt x="20000" y="16693"/>
                      </a:lnTo>
                      <a:lnTo>
                        <a:pt x="19850" y="19055"/>
                      </a:lnTo>
                      <a:lnTo>
                        <a:pt x="18951" y="19843"/>
                      </a:lnTo>
                      <a:lnTo>
                        <a:pt x="15506" y="20000"/>
                      </a:lnTo>
                      <a:lnTo>
                        <a:pt x="14457" y="18583"/>
                      </a:lnTo>
                      <a:lnTo>
                        <a:pt x="14157" y="16693"/>
                      </a:lnTo>
                      <a:lnTo>
                        <a:pt x="13558" y="15276"/>
                      </a:lnTo>
                      <a:lnTo>
                        <a:pt x="11760" y="14567"/>
                      </a:lnTo>
                      <a:lnTo>
                        <a:pt x="8539" y="14252"/>
                      </a:lnTo>
                      <a:lnTo>
                        <a:pt x="8090" y="12835"/>
                      </a:lnTo>
                      <a:lnTo>
                        <a:pt x="4494" y="14252"/>
                      </a:lnTo>
                      <a:lnTo>
                        <a:pt x="2697" y="13622"/>
                      </a:lnTo>
                      <a:lnTo>
                        <a:pt x="1498" y="11890"/>
                      </a:lnTo>
                      <a:lnTo>
                        <a:pt x="1498" y="10945"/>
                      </a:lnTo>
                      <a:lnTo>
                        <a:pt x="0" y="4567"/>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8" name="Freeform 41">
                  <a:extLst>
                    <a:ext uri="{FF2B5EF4-FFF2-40B4-BE49-F238E27FC236}">
                      <a16:creationId xmlns:a16="http://schemas.microsoft.com/office/drawing/2014/main" id="{DB5A0BE0-A5DF-1098-E8AE-75BEF3ECD775}"/>
                    </a:ext>
                  </a:extLst>
                </p:cNvPr>
                <p:cNvSpPr>
                  <a:spLocks/>
                </p:cNvSpPr>
                <p:nvPr/>
              </p:nvSpPr>
              <p:spPr bwMode="auto">
                <a:xfrm>
                  <a:off x="2684" y="1895"/>
                  <a:ext cx="113" cy="102"/>
                </a:xfrm>
                <a:custGeom>
                  <a:avLst/>
                  <a:gdLst>
                    <a:gd name="T0" fmla="*/ 18 w 20000"/>
                    <a:gd name="T1" fmla="*/ 76 h 20000"/>
                    <a:gd name="T2" fmla="*/ 13 w 20000"/>
                    <a:gd name="T3" fmla="*/ 76 h 20000"/>
                    <a:gd name="T4" fmla="*/ 3 w 20000"/>
                    <a:gd name="T5" fmla="*/ 75 h 20000"/>
                    <a:gd name="T6" fmla="*/ 0 w 20000"/>
                    <a:gd name="T7" fmla="*/ 59 h 20000"/>
                    <a:gd name="T8" fmla="*/ 12 w 20000"/>
                    <a:gd name="T9" fmla="*/ 56 h 20000"/>
                    <a:gd name="T10" fmla="*/ 20 w 20000"/>
                    <a:gd name="T11" fmla="*/ 47 h 20000"/>
                    <a:gd name="T12" fmla="*/ 27 w 20000"/>
                    <a:gd name="T13" fmla="*/ 42 h 20000"/>
                    <a:gd name="T14" fmla="*/ 22 w 20000"/>
                    <a:gd name="T15" fmla="*/ 34 h 20000"/>
                    <a:gd name="T16" fmla="*/ 26 w 20000"/>
                    <a:gd name="T17" fmla="*/ 31 h 20000"/>
                    <a:gd name="T18" fmla="*/ 22 w 20000"/>
                    <a:gd name="T19" fmla="*/ 27 h 20000"/>
                    <a:gd name="T20" fmla="*/ 22 w 20000"/>
                    <a:gd name="T21" fmla="*/ 23 h 20000"/>
                    <a:gd name="T22" fmla="*/ 29 w 20000"/>
                    <a:gd name="T23" fmla="*/ 19 h 20000"/>
                    <a:gd name="T24" fmla="*/ 35 w 20000"/>
                    <a:gd name="T25" fmla="*/ 0 h 20000"/>
                    <a:gd name="T26" fmla="*/ 49 w 20000"/>
                    <a:gd name="T27" fmla="*/ 7 h 20000"/>
                    <a:gd name="T28" fmla="*/ 54 w 20000"/>
                    <a:gd name="T29" fmla="*/ 13 h 20000"/>
                    <a:gd name="T30" fmla="*/ 60 w 20000"/>
                    <a:gd name="T31" fmla="*/ 19 h 20000"/>
                    <a:gd name="T32" fmla="*/ 84 w 20000"/>
                    <a:gd name="T33" fmla="*/ 37 h 20000"/>
                    <a:gd name="T34" fmla="*/ 89 w 20000"/>
                    <a:gd name="T35" fmla="*/ 46 h 20000"/>
                    <a:gd name="T36" fmla="*/ 96 w 20000"/>
                    <a:gd name="T37" fmla="*/ 68 h 20000"/>
                    <a:gd name="T38" fmla="*/ 99 w 20000"/>
                    <a:gd name="T39" fmla="*/ 69 h 20000"/>
                    <a:gd name="T40" fmla="*/ 109 w 20000"/>
                    <a:gd name="T41" fmla="*/ 66 h 20000"/>
                    <a:gd name="T42" fmla="*/ 113 w 20000"/>
                    <a:gd name="T43" fmla="*/ 69 h 20000"/>
                    <a:gd name="T44" fmla="*/ 106 w 20000"/>
                    <a:gd name="T45" fmla="*/ 81 h 20000"/>
                    <a:gd name="T46" fmla="*/ 97 w 20000"/>
                    <a:gd name="T47" fmla="*/ 88 h 20000"/>
                    <a:gd name="T48" fmla="*/ 84 w 20000"/>
                    <a:gd name="T49" fmla="*/ 102 h 20000"/>
                    <a:gd name="T50" fmla="*/ 66 w 20000"/>
                    <a:gd name="T51" fmla="*/ 92 h 20000"/>
                    <a:gd name="T52" fmla="*/ 66 w 20000"/>
                    <a:gd name="T53" fmla="*/ 97 h 20000"/>
                    <a:gd name="T54" fmla="*/ 51 w 20000"/>
                    <a:gd name="T55" fmla="*/ 92 h 20000"/>
                    <a:gd name="T56" fmla="*/ 39 w 20000"/>
                    <a:gd name="T57" fmla="*/ 88 h 20000"/>
                    <a:gd name="T58" fmla="*/ 30 w 20000"/>
                    <a:gd name="T59" fmla="*/ 83 h 20000"/>
                    <a:gd name="T60" fmla="*/ 18 w 20000"/>
                    <a:gd name="T61" fmla="*/ 76 h 200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000"/>
                    <a:gd name="T94" fmla="*/ 0 h 20000"/>
                    <a:gd name="T95" fmla="*/ 20000 w 20000"/>
                    <a:gd name="T96" fmla="*/ 20000 h 200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000" h="20000">
                      <a:moveTo>
                        <a:pt x="3099" y="14941"/>
                      </a:moveTo>
                      <a:lnTo>
                        <a:pt x="2254" y="14941"/>
                      </a:lnTo>
                      <a:lnTo>
                        <a:pt x="563" y="14783"/>
                      </a:lnTo>
                      <a:lnTo>
                        <a:pt x="0" y="11621"/>
                      </a:lnTo>
                      <a:lnTo>
                        <a:pt x="2113" y="10988"/>
                      </a:lnTo>
                      <a:lnTo>
                        <a:pt x="3521" y="9170"/>
                      </a:lnTo>
                      <a:lnTo>
                        <a:pt x="4789" y="8221"/>
                      </a:lnTo>
                      <a:lnTo>
                        <a:pt x="3944" y="6640"/>
                      </a:lnTo>
                      <a:lnTo>
                        <a:pt x="4648" y="6166"/>
                      </a:lnTo>
                      <a:lnTo>
                        <a:pt x="3944" y="5217"/>
                      </a:lnTo>
                      <a:lnTo>
                        <a:pt x="3944" y="4427"/>
                      </a:lnTo>
                      <a:lnTo>
                        <a:pt x="5141" y="3794"/>
                      </a:lnTo>
                      <a:lnTo>
                        <a:pt x="6127" y="0"/>
                      </a:lnTo>
                      <a:lnTo>
                        <a:pt x="8662" y="1423"/>
                      </a:lnTo>
                      <a:lnTo>
                        <a:pt x="9507" y="2530"/>
                      </a:lnTo>
                      <a:lnTo>
                        <a:pt x="10634" y="3794"/>
                      </a:lnTo>
                      <a:lnTo>
                        <a:pt x="14859" y="7273"/>
                      </a:lnTo>
                      <a:lnTo>
                        <a:pt x="15775" y="9012"/>
                      </a:lnTo>
                      <a:lnTo>
                        <a:pt x="17042" y="13360"/>
                      </a:lnTo>
                      <a:lnTo>
                        <a:pt x="17606" y="13518"/>
                      </a:lnTo>
                      <a:lnTo>
                        <a:pt x="19296" y="12885"/>
                      </a:lnTo>
                      <a:lnTo>
                        <a:pt x="20000" y="13518"/>
                      </a:lnTo>
                      <a:lnTo>
                        <a:pt x="18732" y="15889"/>
                      </a:lnTo>
                      <a:lnTo>
                        <a:pt x="17183" y="17312"/>
                      </a:lnTo>
                      <a:lnTo>
                        <a:pt x="14859" y="20000"/>
                      </a:lnTo>
                      <a:lnTo>
                        <a:pt x="11620" y="18103"/>
                      </a:lnTo>
                      <a:lnTo>
                        <a:pt x="11620" y="19051"/>
                      </a:lnTo>
                      <a:lnTo>
                        <a:pt x="8944" y="18103"/>
                      </a:lnTo>
                      <a:lnTo>
                        <a:pt x="6831" y="17312"/>
                      </a:lnTo>
                      <a:lnTo>
                        <a:pt x="5282" y="16364"/>
                      </a:lnTo>
                      <a:lnTo>
                        <a:pt x="3099" y="1494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9" name="Freeform 42">
                  <a:extLst>
                    <a:ext uri="{FF2B5EF4-FFF2-40B4-BE49-F238E27FC236}">
                      <a16:creationId xmlns:a16="http://schemas.microsoft.com/office/drawing/2014/main" id="{7FE1FAA7-70DE-9495-696A-CC483F192BAF}"/>
                    </a:ext>
                  </a:extLst>
                </p:cNvPr>
                <p:cNvSpPr>
                  <a:spLocks/>
                </p:cNvSpPr>
                <p:nvPr/>
              </p:nvSpPr>
              <p:spPr bwMode="auto">
                <a:xfrm>
                  <a:off x="2674" y="1271"/>
                  <a:ext cx="58" cy="67"/>
                </a:xfrm>
                <a:custGeom>
                  <a:avLst/>
                  <a:gdLst>
                    <a:gd name="T0" fmla="*/ 58 w 20000"/>
                    <a:gd name="T1" fmla="*/ 29 h 20000"/>
                    <a:gd name="T2" fmla="*/ 51 w 20000"/>
                    <a:gd name="T3" fmla="*/ 36 h 20000"/>
                    <a:gd name="T4" fmla="*/ 56 w 20000"/>
                    <a:gd name="T5" fmla="*/ 41 h 20000"/>
                    <a:gd name="T6" fmla="*/ 56 w 20000"/>
                    <a:gd name="T7" fmla="*/ 51 h 20000"/>
                    <a:gd name="T8" fmla="*/ 30 w 20000"/>
                    <a:gd name="T9" fmla="*/ 63 h 20000"/>
                    <a:gd name="T10" fmla="*/ 29 w 20000"/>
                    <a:gd name="T11" fmla="*/ 65 h 20000"/>
                    <a:gd name="T12" fmla="*/ 22 w 20000"/>
                    <a:gd name="T13" fmla="*/ 67 h 20000"/>
                    <a:gd name="T14" fmla="*/ 22 w 20000"/>
                    <a:gd name="T15" fmla="*/ 58 h 20000"/>
                    <a:gd name="T16" fmla="*/ 10 w 20000"/>
                    <a:gd name="T17" fmla="*/ 53 h 20000"/>
                    <a:gd name="T18" fmla="*/ 10 w 20000"/>
                    <a:gd name="T19" fmla="*/ 48 h 20000"/>
                    <a:gd name="T20" fmla="*/ 10 w 20000"/>
                    <a:gd name="T21" fmla="*/ 37 h 20000"/>
                    <a:gd name="T22" fmla="*/ 1 w 20000"/>
                    <a:gd name="T23" fmla="*/ 24 h 20000"/>
                    <a:gd name="T24" fmla="*/ 6 w 20000"/>
                    <a:gd name="T25" fmla="*/ 19 h 20000"/>
                    <a:gd name="T26" fmla="*/ 0 w 20000"/>
                    <a:gd name="T27" fmla="*/ 10 h 20000"/>
                    <a:gd name="T28" fmla="*/ 0 w 20000"/>
                    <a:gd name="T29" fmla="*/ 5 h 20000"/>
                    <a:gd name="T30" fmla="*/ 8 w 20000"/>
                    <a:gd name="T31" fmla="*/ 0 h 20000"/>
                    <a:gd name="T32" fmla="*/ 34 w 20000"/>
                    <a:gd name="T33" fmla="*/ 10 h 20000"/>
                    <a:gd name="T34" fmla="*/ 34 w 20000"/>
                    <a:gd name="T35" fmla="*/ 17 h 20000"/>
                    <a:gd name="T36" fmla="*/ 44 w 20000"/>
                    <a:gd name="T37" fmla="*/ 17 h 20000"/>
                    <a:gd name="T38" fmla="*/ 53 w 20000"/>
                    <a:gd name="T39" fmla="*/ 21 h 20000"/>
                    <a:gd name="T40" fmla="*/ 58 w 20000"/>
                    <a:gd name="T41" fmla="*/ 29 h 20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000"/>
                    <a:gd name="T64" fmla="*/ 0 h 20000"/>
                    <a:gd name="T65" fmla="*/ 20000 w 20000"/>
                    <a:gd name="T66" fmla="*/ 20000 h 200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000" h="20000">
                      <a:moveTo>
                        <a:pt x="20000" y="8521"/>
                      </a:moveTo>
                      <a:lnTo>
                        <a:pt x="17517" y="10769"/>
                      </a:lnTo>
                      <a:lnTo>
                        <a:pt x="19448" y="12189"/>
                      </a:lnTo>
                      <a:lnTo>
                        <a:pt x="19448" y="15266"/>
                      </a:lnTo>
                      <a:lnTo>
                        <a:pt x="10345" y="18817"/>
                      </a:lnTo>
                      <a:lnTo>
                        <a:pt x="10069" y="19527"/>
                      </a:lnTo>
                      <a:lnTo>
                        <a:pt x="7724" y="20000"/>
                      </a:lnTo>
                      <a:lnTo>
                        <a:pt x="7724" y="17396"/>
                      </a:lnTo>
                      <a:lnTo>
                        <a:pt x="3310" y="15740"/>
                      </a:lnTo>
                      <a:lnTo>
                        <a:pt x="3586" y="14320"/>
                      </a:lnTo>
                      <a:lnTo>
                        <a:pt x="3310" y="11006"/>
                      </a:lnTo>
                      <a:lnTo>
                        <a:pt x="276" y="7101"/>
                      </a:lnTo>
                      <a:lnTo>
                        <a:pt x="1931" y="5680"/>
                      </a:lnTo>
                      <a:lnTo>
                        <a:pt x="0" y="2840"/>
                      </a:lnTo>
                      <a:lnTo>
                        <a:pt x="0" y="1420"/>
                      </a:lnTo>
                      <a:lnTo>
                        <a:pt x="2759" y="0"/>
                      </a:lnTo>
                      <a:lnTo>
                        <a:pt x="11724" y="3077"/>
                      </a:lnTo>
                      <a:lnTo>
                        <a:pt x="11724" y="4970"/>
                      </a:lnTo>
                      <a:lnTo>
                        <a:pt x="15310" y="4970"/>
                      </a:lnTo>
                      <a:lnTo>
                        <a:pt x="18345" y="6391"/>
                      </a:lnTo>
                      <a:lnTo>
                        <a:pt x="20000" y="852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0" name="Freeform 43">
                  <a:extLst>
                    <a:ext uri="{FF2B5EF4-FFF2-40B4-BE49-F238E27FC236}">
                      <a16:creationId xmlns:a16="http://schemas.microsoft.com/office/drawing/2014/main" id="{F5F1EC54-6F9C-B376-DECC-DD4CDC88C278}"/>
                    </a:ext>
                  </a:extLst>
                </p:cNvPr>
                <p:cNvSpPr>
                  <a:spLocks/>
                </p:cNvSpPr>
                <p:nvPr/>
              </p:nvSpPr>
              <p:spPr bwMode="auto">
                <a:xfrm>
                  <a:off x="2721" y="1481"/>
                  <a:ext cx="64" cy="67"/>
                </a:xfrm>
                <a:custGeom>
                  <a:avLst/>
                  <a:gdLst>
                    <a:gd name="T0" fmla="*/ 38 w 20000"/>
                    <a:gd name="T1" fmla="*/ 67 h 20000"/>
                    <a:gd name="T2" fmla="*/ 17 w 20000"/>
                    <a:gd name="T3" fmla="*/ 58 h 20000"/>
                    <a:gd name="T4" fmla="*/ 2 w 20000"/>
                    <a:gd name="T5" fmla="*/ 46 h 20000"/>
                    <a:gd name="T6" fmla="*/ 0 w 20000"/>
                    <a:gd name="T7" fmla="*/ 39 h 20000"/>
                    <a:gd name="T8" fmla="*/ 10 w 20000"/>
                    <a:gd name="T9" fmla="*/ 26 h 20000"/>
                    <a:gd name="T10" fmla="*/ 11 w 20000"/>
                    <a:gd name="T11" fmla="*/ 21 h 20000"/>
                    <a:gd name="T12" fmla="*/ 7 w 20000"/>
                    <a:gd name="T13" fmla="*/ 18 h 20000"/>
                    <a:gd name="T14" fmla="*/ 14 w 20000"/>
                    <a:gd name="T15" fmla="*/ 17 h 20000"/>
                    <a:gd name="T16" fmla="*/ 16 w 20000"/>
                    <a:gd name="T17" fmla="*/ 7 h 20000"/>
                    <a:gd name="T18" fmla="*/ 38 w 20000"/>
                    <a:gd name="T19" fmla="*/ 0 h 20000"/>
                    <a:gd name="T20" fmla="*/ 59 w 20000"/>
                    <a:gd name="T21" fmla="*/ 23 h 20000"/>
                    <a:gd name="T22" fmla="*/ 64 w 20000"/>
                    <a:gd name="T23" fmla="*/ 65 h 20000"/>
                    <a:gd name="T24" fmla="*/ 38 w 20000"/>
                    <a:gd name="T25" fmla="*/ 67 h 2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000"/>
                    <a:gd name="T40" fmla="*/ 0 h 20000"/>
                    <a:gd name="T41" fmla="*/ 20000 w 20000"/>
                    <a:gd name="T42" fmla="*/ 20000 h 2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000" h="20000">
                      <a:moveTo>
                        <a:pt x="12000" y="20000"/>
                      </a:moveTo>
                      <a:lnTo>
                        <a:pt x="5250" y="17365"/>
                      </a:lnTo>
                      <a:lnTo>
                        <a:pt x="500" y="13772"/>
                      </a:lnTo>
                      <a:lnTo>
                        <a:pt x="0" y="11617"/>
                      </a:lnTo>
                      <a:lnTo>
                        <a:pt x="3000" y="7665"/>
                      </a:lnTo>
                      <a:lnTo>
                        <a:pt x="3500" y="6228"/>
                      </a:lnTo>
                      <a:lnTo>
                        <a:pt x="2250" y="5509"/>
                      </a:lnTo>
                      <a:lnTo>
                        <a:pt x="4500" y="5030"/>
                      </a:lnTo>
                      <a:lnTo>
                        <a:pt x="5000" y="2156"/>
                      </a:lnTo>
                      <a:lnTo>
                        <a:pt x="11750" y="0"/>
                      </a:lnTo>
                      <a:lnTo>
                        <a:pt x="18500" y="6946"/>
                      </a:lnTo>
                      <a:lnTo>
                        <a:pt x="20000" y="19281"/>
                      </a:lnTo>
                      <a:lnTo>
                        <a:pt x="12000"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1" name="Freeform 44">
                  <a:extLst>
                    <a:ext uri="{FF2B5EF4-FFF2-40B4-BE49-F238E27FC236}">
                      <a16:creationId xmlns:a16="http://schemas.microsoft.com/office/drawing/2014/main" id="{C94FAF44-CFAE-992B-1BC6-8DB628242B17}"/>
                    </a:ext>
                  </a:extLst>
                </p:cNvPr>
                <p:cNvSpPr>
                  <a:spLocks/>
                </p:cNvSpPr>
                <p:nvPr/>
              </p:nvSpPr>
              <p:spPr bwMode="auto">
                <a:xfrm>
                  <a:off x="2423" y="1314"/>
                  <a:ext cx="64" cy="47"/>
                </a:xfrm>
                <a:custGeom>
                  <a:avLst/>
                  <a:gdLst>
                    <a:gd name="T0" fmla="*/ 49 w 20000"/>
                    <a:gd name="T1" fmla="*/ 0 h 20000"/>
                    <a:gd name="T2" fmla="*/ 15 w 20000"/>
                    <a:gd name="T3" fmla="*/ 1 h 20000"/>
                    <a:gd name="T4" fmla="*/ 2 w 20000"/>
                    <a:gd name="T5" fmla="*/ 5 h 20000"/>
                    <a:gd name="T6" fmla="*/ 0 w 20000"/>
                    <a:gd name="T7" fmla="*/ 13 h 20000"/>
                    <a:gd name="T8" fmla="*/ 2 w 20000"/>
                    <a:gd name="T9" fmla="*/ 18 h 20000"/>
                    <a:gd name="T10" fmla="*/ 0 w 20000"/>
                    <a:gd name="T11" fmla="*/ 30 h 20000"/>
                    <a:gd name="T12" fmla="*/ 15 w 20000"/>
                    <a:gd name="T13" fmla="*/ 47 h 20000"/>
                    <a:gd name="T14" fmla="*/ 35 w 20000"/>
                    <a:gd name="T15" fmla="*/ 46 h 20000"/>
                    <a:gd name="T16" fmla="*/ 54 w 20000"/>
                    <a:gd name="T17" fmla="*/ 37 h 20000"/>
                    <a:gd name="T18" fmla="*/ 54 w 20000"/>
                    <a:gd name="T19" fmla="*/ 22 h 20000"/>
                    <a:gd name="T20" fmla="*/ 63 w 20000"/>
                    <a:gd name="T21" fmla="*/ 10 h 20000"/>
                    <a:gd name="T22" fmla="*/ 64 w 20000"/>
                    <a:gd name="T23" fmla="*/ 3 h 20000"/>
                    <a:gd name="T24" fmla="*/ 49 w 20000"/>
                    <a:gd name="T25" fmla="*/ 0 h 2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000"/>
                    <a:gd name="T40" fmla="*/ 0 h 20000"/>
                    <a:gd name="T41" fmla="*/ 20000 w 20000"/>
                    <a:gd name="T42" fmla="*/ 20000 h 2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000" h="20000">
                      <a:moveTo>
                        <a:pt x="15220" y="0"/>
                      </a:moveTo>
                      <a:lnTo>
                        <a:pt x="4780" y="342"/>
                      </a:lnTo>
                      <a:lnTo>
                        <a:pt x="755" y="2051"/>
                      </a:lnTo>
                      <a:lnTo>
                        <a:pt x="0" y="5470"/>
                      </a:lnTo>
                      <a:lnTo>
                        <a:pt x="755" y="7521"/>
                      </a:lnTo>
                      <a:lnTo>
                        <a:pt x="0" y="12821"/>
                      </a:lnTo>
                      <a:lnTo>
                        <a:pt x="4780" y="20000"/>
                      </a:lnTo>
                      <a:lnTo>
                        <a:pt x="10943" y="19658"/>
                      </a:lnTo>
                      <a:lnTo>
                        <a:pt x="16730" y="15556"/>
                      </a:lnTo>
                      <a:lnTo>
                        <a:pt x="16981" y="9231"/>
                      </a:lnTo>
                      <a:lnTo>
                        <a:pt x="19748" y="4444"/>
                      </a:lnTo>
                      <a:lnTo>
                        <a:pt x="20000" y="1368"/>
                      </a:lnTo>
                      <a:lnTo>
                        <a:pt x="1522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2" name="Freeform 45">
                  <a:extLst>
                    <a:ext uri="{FF2B5EF4-FFF2-40B4-BE49-F238E27FC236}">
                      <a16:creationId xmlns:a16="http://schemas.microsoft.com/office/drawing/2014/main" id="{AABBA964-5854-6C3B-019E-81916A0CF3E5}"/>
                    </a:ext>
                  </a:extLst>
                </p:cNvPr>
                <p:cNvSpPr>
                  <a:spLocks/>
                </p:cNvSpPr>
                <p:nvPr/>
              </p:nvSpPr>
              <p:spPr bwMode="auto">
                <a:xfrm>
                  <a:off x="2508" y="1615"/>
                  <a:ext cx="53" cy="64"/>
                </a:xfrm>
                <a:custGeom>
                  <a:avLst/>
                  <a:gdLst>
                    <a:gd name="T0" fmla="*/ 53 w 20000"/>
                    <a:gd name="T1" fmla="*/ 31 h 20000"/>
                    <a:gd name="T2" fmla="*/ 53 w 20000"/>
                    <a:gd name="T3" fmla="*/ 12 h 20000"/>
                    <a:gd name="T4" fmla="*/ 34 w 20000"/>
                    <a:gd name="T5" fmla="*/ 0 h 20000"/>
                    <a:gd name="T6" fmla="*/ 6 w 20000"/>
                    <a:gd name="T7" fmla="*/ 6 h 20000"/>
                    <a:gd name="T8" fmla="*/ 0 w 20000"/>
                    <a:gd name="T9" fmla="*/ 17 h 20000"/>
                    <a:gd name="T10" fmla="*/ 17 w 20000"/>
                    <a:gd name="T11" fmla="*/ 35 h 20000"/>
                    <a:gd name="T12" fmla="*/ 36 w 20000"/>
                    <a:gd name="T13" fmla="*/ 64 h 20000"/>
                    <a:gd name="T14" fmla="*/ 53 w 20000"/>
                    <a:gd name="T15" fmla="*/ 31 h 20000"/>
                    <a:gd name="T16" fmla="*/ 0 60000 65536"/>
                    <a:gd name="T17" fmla="*/ 0 60000 65536"/>
                    <a:gd name="T18" fmla="*/ 0 60000 65536"/>
                    <a:gd name="T19" fmla="*/ 0 60000 65536"/>
                    <a:gd name="T20" fmla="*/ 0 60000 65536"/>
                    <a:gd name="T21" fmla="*/ 0 60000 65536"/>
                    <a:gd name="T22" fmla="*/ 0 60000 65536"/>
                    <a:gd name="T23" fmla="*/ 0 60000 65536"/>
                    <a:gd name="T24" fmla="*/ 0 w 20000"/>
                    <a:gd name="T25" fmla="*/ 0 h 20000"/>
                    <a:gd name="T26" fmla="*/ 20000 w 20000"/>
                    <a:gd name="T27" fmla="*/ 20000 h 20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000" h="20000">
                      <a:moveTo>
                        <a:pt x="20000" y="9811"/>
                      </a:moveTo>
                      <a:lnTo>
                        <a:pt x="20000" y="3774"/>
                      </a:lnTo>
                      <a:lnTo>
                        <a:pt x="12782" y="0"/>
                      </a:lnTo>
                      <a:lnTo>
                        <a:pt x="2105" y="1761"/>
                      </a:lnTo>
                      <a:lnTo>
                        <a:pt x="0" y="5283"/>
                      </a:lnTo>
                      <a:lnTo>
                        <a:pt x="6316" y="10943"/>
                      </a:lnTo>
                      <a:lnTo>
                        <a:pt x="13684" y="20000"/>
                      </a:lnTo>
                      <a:lnTo>
                        <a:pt x="20000" y="981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3" name="Freeform 46">
                  <a:extLst>
                    <a:ext uri="{FF2B5EF4-FFF2-40B4-BE49-F238E27FC236}">
                      <a16:creationId xmlns:a16="http://schemas.microsoft.com/office/drawing/2014/main" id="{4B06C608-515A-BDE4-5C99-A88EEF7F901F}"/>
                    </a:ext>
                  </a:extLst>
                </p:cNvPr>
                <p:cNvSpPr>
                  <a:spLocks/>
                </p:cNvSpPr>
                <p:nvPr/>
              </p:nvSpPr>
              <p:spPr bwMode="auto">
                <a:xfrm>
                  <a:off x="2431" y="1271"/>
                  <a:ext cx="65" cy="32"/>
                </a:xfrm>
                <a:custGeom>
                  <a:avLst/>
                  <a:gdLst>
                    <a:gd name="T0" fmla="*/ 63 w 20000"/>
                    <a:gd name="T1" fmla="*/ 14 h 20000"/>
                    <a:gd name="T2" fmla="*/ 46 w 20000"/>
                    <a:gd name="T3" fmla="*/ 0 h 20000"/>
                    <a:gd name="T4" fmla="*/ 25 w 20000"/>
                    <a:gd name="T5" fmla="*/ 10 h 20000"/>
                    <a:gd name="T6" fmla="*/ 6 w 20000"/>
                    <a:gd name="T7" fmla="*/ 14 h 20000"/>
                    <a:gd name="T8" fmla="*/ 0 w 20000"/>
                    <a:gd name="T9" fmla="*/ 20 h 20000"/>
                    <a:gd name="T10" fmla="*/ 0 w 20000"/>
                    <a:gd name="T11" fmla="*/ 25 h 20000"/>
                    <a:gd name="T12" fmla="*/ 22 w 20000"/>
                    <a:gd name="T13" fmla="*/ 22 h 20000"/>
                    <a:gd name="T14" fmla="*/ 24 w 20000"/>
                    <a:gd name="T15" fmla="*/ 30 h 20000"/>
                    <a:gd name="T16" fmla="*/ 32 w 20000"/>
                    <a:gd name="T17" fmla="*/ 27 h 20000"/>
                    <a:gd name="T18" fmla="*/ 32 w 20000"/>
                    <a:gd name="T19" fmla="*/ 22 h 20000"/>
                    <a:gd name="T20" fmla="*/ 48 w 20000"/>
                    <a:gd name="T21" fmla="*/ 32 h 20000"/>
                    <a:gd name="T22" fmla="*/ 63 w 20000"/>
                    <a:gd name="T23" fmla="*/ 30 h 20000"/>
                    <a:gd name="T24" fmla="*/ 65 w 20000"/>
                    <a:gd name="T25" fmla="*/ 16 h 20000"/>
                    <a:gd name="T26" fmla="*/ 63 w 20000"/>
                    <a:gd name="T27" fmla="*/ 14 h 20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000"/>
                    <a:gd name="T43" fmla="*/ 0 h 20000"/>
                    <a:gd name="T44" fmla="*/ 20000 w 20000"/>
                    <a:gd name="T45" fmla="*/ 20000 h 20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000" h="20000">
                      <a:moveTo>
                        <a:pt x="19264" y="8718"/>
                      </a:moveTo>
                      <a:lnTo>
                        <a:pt x="14110" y="0"/>
                      </a:lnTo>
                      <a:lnTo>
                        <a:pt x="7607" y="6154"/>
                      </a:lnTo>
                      <a:lnTo>
                        <a:pt x="1718" y="8718"/>
                      </a:lnTo>
                      <a:lnTo>
                        <a:pt x="0" y="12308"/>
                      </a:lnTo>
                      <a:lnTo>
                        <a:pt x="0" y="15385"/>
                      </a:lnTo>
                      <a:lnTo>
                        <a:pt x="6626" y="13846"/>
                      </a:lnTo>
                      <a:lnTo>
                        <a:pt x="7362" y="18462"/>
                      </a:lnTo>
                      <a:lnTo>
                        <a:pt x="9816" y="16923"/>
                      </a:lnTo>
                      <a:lnTo>
                        <a:pt x="9816" y="13846"/>
                      </a:lnTo>
                      <a:lnTo>
                        <a:pt x="14847" y="20000"/>
                      </a:lnTo>
                      <a:lnTo>
                        <a:pt x="19509" y="18462"/>
                      </a:lnTo>
                      <a:lnTo>
                        <a:pt x="20000" y="10256"/>
                      </a:lnTo>
                      <a:lnTo>
                        <a:pt x="19264" y="8718"/>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4" name="Freeform 47">
                  <a:extLst>
                    <a:ext uri="{FF2B5EF4-FFF2-40B4-BE49-F238E27FC236}">
                      <a16:creationId xmlns:a16="http://schemas.microsoft.com/office/drawing/2014/main" id="{3BDC3BCD-0A08-E61C-0CA4-CB4129135613}"/>
                    </a:ext>
                  </a:extLst>
                </p:cNvPr>
                <p:cNvSpPr>
                  <a:spLocks/>
                </p:cNvSpPr>
                <p:nvPr/>
              </p:nvSpPr>
              <p:spPr bwMode="auto">
                <a:xfrm>
                  <a:off x="2710" y="1336"/>
                  <a:ext cx="56" cy="22"/>
                </a:xfrm>
                <a:custGeom>
                  <a:avLst/>
                  <a:gdLst>
                    <a:gd name="T0" fmla="*/ 5 w 20000"/>
                    <a:gd name="T1" fmla="*/ 20 h 20000"/>
                    <a:gd name="T2" fmla="*/ 0 w 20000"/>
                    <a:gd name="T3" fmla="*/ 15 h 20000"/>
                    <a:gd name="T4" fmla="*/ 2 w 20000"/>
                    <a:gd name="T5" fmla="*/ 5 h 20000"/>
                    <a:gd name="T6" fmla="*/ 13 w 20000"/>
                    <a:gd name="T7" fmla="*/ 0 h 20000"/>
                    <a:gd name="T8" fmla="*/ 17 w 20000"/>
                    <a:gd name="T9" fmla="*/ 3 h 20000"/>
                    <a:gd name="T10" fmla="*/ 50 w 20000"/>
                    <a:gd name="T11" fmla="*/ 0 h 20000"/>
                    <a:gd name="T12" fmla="*/ 56 w 20000"/>
                    <a:gd name="T13" fmla="*/ 5 h 20000"/>
                    <a:gd name="T14" fmla="*/ 51 w 20000"/>
                    <a:gd name="T15" fmla="*/ 7 h 20000"/>
                    <a:gd name="T16" fmla="*/ 50 w 20000"/>
                    <a:gd name="T17" fmla="*/ 20 h 20000"/>
                    <a:gd name="T18" fmla="*/ 18 w 20000"/>
                    <a:gd name="T19" fmla="*/ 22 h 20000"/>
                    <a:gd name="T20" fmla="*/ 5 w 20000"/>
                    <a:gd name="T21" fmla="*/ 20 h 2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000"/>
                    <a:gd name="T34" fmla="*/ 0 h 20000"/>
                    <a:gd name="T35" fmla="*/ 20000 w 20000"/>
                    <a:gd name="T36" fmla="*/ 20000 h 200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000" h="20000">
                      <a:moveTo>
                        <a:pt x="1727" y="17857"/>
                      </a:moveTo>
                      <a:lnTo>
                        <a:pt x="0" y="13571"/>
                      </a:lnTo>
                      <a:lnTo>
                        <a:pt x="863" y="4286"/>
                      </a:lnTo>
                      <a:lnTo>
                        <a:pt x="4604" y="0"/>
                      </a:lnTo>
                      <a:lnTo>
                        <a:pt x="6043" y="2857"/>
                      </a:lnTo>
                      <a:lnTo>
                        <a:pt x="17698" y="0"/>
                      </a:lnTo>
                      <a:lnTo>
                        <a:pt x="20000" y="4286"/>
                      </a:lnTo>
                      <a:lnTo>
                        <a:pt x="18273" y="6429"/>
                      </a:lnTo>
                      <a:lnTo>
                        <a:pt x="17698" y="17857"/>
                      </a:lnTo>
                      <a:lnTo>
                        <a:pt x="6331" y="20000"/>
                      </a:lnTo>
                      <a:lnTo>
                        <a:pt x="1727" y="17857"/>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5" name="Freeform 48">
                  <a:extLst>
                    <a:ext uri="{FF2B5EF4-FFF2-40B4-BE49-F238E27FC236}">
                      <a16:creationId xmlns:a16="http://schemas.microsoft.com/office/drawing/2014/main" id="{0E752256-FBD1-31DD-7C76-E45B6B8819B7}"/>
                    </a:ext>
                  </a:extLst>
                </p:cNvPr>
                <p:cNvSpPr>
                  <a:spLocks/>
                </p:cNvSpPr>
                <p:nvPr/>
              </p:nvSpPr>
              <p:spPr bwMode="auto">
                <a:xfrm>
                  <a:off x="2796" y="1332"/>
                  <a:ext cx="33" cy="30"/>
                </a:xfrm>
                <a:custGeom>
                  <a:avLst/>
                  <a:gdLst>
                    <a:gd name="T0" fmla="*/ 5 w 20000"/>
                    <a:gd name="T1" fmla="*/ 21 h 20000"/>
                    <a:gd name="T2" fmla="*/ 0 w 20000"/>
                    <a:gd name="T3" fmla="*/ 6 h 20000"/>
                    <a:gd name="T4" fmla="*/ 11 w 20000"/>
                    <a:gd name="T5" fmla="*/ 2 h 20000"/>
                    <a:gd name="T6" fmla="*/ 19 w 20000"/>
                    <a:gd name="T7" fmla="*/ 0 h 20000"/>
                    <a:gd name="T8" fmla="*/ 28 w 20000"/>
                    <a:gd name="T9" fmla="*/ 9 h 20000"/>
                    <a:gd name="T10" fmla="*/ 33 w 20000"/>
                    <a:gd name="T11" fmla="*/ 19 h 20000"/>
                    <a:gd name="T12" fmla="*/ 24 w 20000"/>
                    <a:gd name="T13" fmla="*/ 30 h 20000"/>
                    <a:gd name="T14" fmla="*/ 9 w 20000"/>
                    <a:gd name="T15" fmla="*/ 21 h 20000"/>
                    <a:gd name="T16" fmla="*/ 5 w 20000"/>
                    <a:gd name="T17" fmla="*/ 21 h 20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000"/>
                    <a:gd name="T28" fmla="*/ 0 h 20000"/>
                    <a:gd name="T29" fmla="*/ 20000 w 20000"/>
                    <a:gd name="T30" fmla="*/ 20000 h 20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000" h="20000">
                      <a:moveTo>
                        <a:pt x="2927" y="14211"/>
                      </a:moveTo>
                      <a:lnTo>
                        <a:pt x="0" y="4211"/>
                      </a:lnTo>
                      <a:lnTo>
                        <a:pt x="6829" y="1053"/>
                      </a:lnTo>
                      <a:lnTo>
                        <a:pt x="11707" y="0"/>
                      </a:lnTo>
                      <a:lnTo>
                        <a:pt x="17073" y="6316"/>
                      </a:lnTo>
                      <a:lnTo>
                        <a:pt x="20000" y="12632"/>
                      </a:lnTo>
                      <a:lnTo>
                        <a:pt x="14634" y="20000"/>
                      </a:lnTo>
                      <a:lnTo>
                        <a:pt x="5366" y="14211"/>
                      </a:lnTo>
                      <a:lnTo>
                        <a:pt x="2927" y="1421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6" name="Freeform 49">
                  <a:extLst>
                    <a:ext uri="{FF2B5EF4-FFF2-40B4-BE49-F238E27FC236}">
                      <a16:creationId xmlns:a16="http://schemas.microsoft.com/office/drawing/2014/main" id="{A36B483A-7840-4242-458B-574E66C3E977}"/>
                    </a:ext>
                  </a:extLst>
                </p:cNvPr>
                <p:cNvSpPr>
                  <a:spLocks/>
                </p:cNvSpPr>
                <p:nvPr/>
              </p:nvSpPr>
              <p:spPr bwMode="auto">
                <a:xfrm>
                  <a:off x="2549" y="1344"/>
                  <a:ext cx="26" cy="42"/>
                </a:xfrm>
                <a:custGeom>
                  <a:avLst/>
                  <a:gdLst>
                    <a:gd name="T0" fmla="*/ 20 w 20000"/>
                    <a:gd name="T1" fmla="*/ 42 h 20000"/>
                    <a:gd name="T2" fmla="*/ 12 w 20000"/>
                    <a:gd name="T3" fmla="*/ 40 h 20000"/>
                    <a:gd name="T4" fmla="*/ 3 w 20000"/>
                    <a:gd name="T5" fmla="*/ 24 h 20000"/>
                    <a:gd name="T6" fmla="*/ 3 w 20000"/>
                    <a:gd name="T7" fmla="*/ 14 h 20000"/>
                    <a:gd name="T8" fmla="*/ 2 w 20000"/>
                    <a:gd name="T9" fmla="*/ 13 h 20000"/>
                    <a:gd name="T10" fmla="*/ 0 w 20000"/>
                    <a:gd name="T11" fmla="*/ 0 h 20000"/>
                    <a:gd name="T12" fmla="*/ 12 w 20000"/>
                    <a:gd name="T13" fmla="*/ 6 h 20000"/>
                    <a:gd name="T14" fmla="*/ 15 w 20000"/>
                    <a:gd name="T15" fmla="*/ 11 h 20000"/>
                    <a:gd name="T16" fmla="*/ 17 w 20000"/>
                    <a:gd name="T17" fmla="*/ 19 h 20000"/>
                    <a:gd name="T18" fmla="*/ 26 w 20000"/>
                    <a:gd name="T19" fmla="*/ 30 h 20000"/>
                    <a:gd name="T20" fmla="*/ 26 w 20000"/>
                    <a:gd name="T21" fmla="*/ 38 h 20000"/>
                    <a:gd name="T22" fmla="*/ 20 w 20000"/>
                    <a:gd name="T23" fmla="*/ 42 h 200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00"/>
                    <a:gd name="T37" fmla="*/ 0 h 20000"/>
                    <a:gd name="T38" fmla="*/ 20000 w 20000"/>
                    <a:gd name="T39" fmla="*/ 20000 h 200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00" h="20000">
                      <a:moveTo>
                        <a:pt x="15224" y="20000"/>
                      </a:moveTo>
                      <a:lnTo>
                        <a:pt x="8955" y="18868"/>
                      </a:lnTo>
                      <a:lnTo>
                        <a:pt x="2388" y="11321"/>
                      </a:lnTo>
                      <a:lnTo>
                        <a:pt x="2388" y="6792"/>
                      </a:lnTo>
                      <a:lnTo>
                        <a:pt x="1791" y="6415"/>
                      </a:lnTo>
                      <a:lnTo>
                        <a:pt x="0" y="0"/>
                      </a:lnTo>
                      <a:lnTo>
                        <a:pt x="8955" y="3019"/>
                      </a:lnTo>
                      <a:lnTo>
                        <a:pt x="11642" y="5283"/>
                      </a:lnTo>
                      <a:lnTo>
                        <a:pt x="12836" y="9057"/>
                      </a:lnTo>
                      <a:lnTo>
                        <a:pt x="20000" y="14340"/>
                      </a:lnTo>
                      <a:lnTo>
                        <a:pt x="20000" y="18113"/>
                      </a:lnTo>
                      <a:lnTo>
                        <a:pt x="15224"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7" name="Freeform 50">
                  <a:extLst>
                    <a:ext uri="{FF2B5EF4-FFF2-40B4-BE49-F238E27FC236}">
                      <a16:creationId xmlns:a16="http://schemas.microsoft.com/office/drawing/2014/main" id="{6C25E633-90CE-3077-EE47-B853640C18FD}"/>
                    </a:ext>
                  </a:extLst>
                </p:cNvPr>
                <p:cNvSpPr>
                  <a:spLocks/>
                </p:cNvSpPr>
                <p:nvPr/>
              </p:nvSpPr>
              <p:spPr bwMode="auto">
                <a:xfrm>
                  <a:off x="2639" y="1189"/>
                  <a:ext cx="26" cy="27"/>
                </a:xfrm>
                <a:custGeom>
                  <a:avLst/>
                  <a:gdLst>
                    <a:gd name="T0" fmla="*/ 2 w 20000"/>
                    <a:gd name="T1" fmla="*/ 4 h 20000"/>
                    <a:gd name="T2" fmla="*/ 0 w 20000"/>
                    <a:gd name="T3" fmla="*/ 15 h 20000"/>
                    <a:gd name="T4" fmla="*/ 12 w 20000"/>
                    <a:gd name="T5" fmla="*/ 17 h 20000"/>
                    <a:gd name="T6" fmla="*/ 16 w 20000"/>
                    <a:gd name="T7" fmla="*/ 24 h 20000"/>
                    <a:gd name="T8" fmla="*/ 24 w 20000"/>
                    <a:gd name="T9" fmla="*/ 27 h 20000"/>
                    <a:gd name="T10" fmla="*/ 26 w 20000"/>
                    <a:gd name="T11" fmla="*/ 25 h 20000"/>
                    <a:gd name="T12" fmla="*/ 21 w 20000"/>
                    <a:gd name="T13" fmla="*/ 4 h 20000"/>
                    <a:gd name="T14" fmla="*/ 15 w 20000"/>
                    <a:gd name="T15" fmla="*/ 0 h 20000"/>
                    <a:gd name="T16" fmla="*/ 2 w 20000"/>
                    <a:gd name="T17" fmla="*/ 2 h 20000"/>
                    <a:gd name="T18" fmla="*/ 2 w 20000"/>
                    <a:gd name="T19" fmla="*/ 4 h 20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00"/>
                    <a:gd name="T31" fmla="*/ 0 h 20000"/>
                    <a:gd name="T32" fmla="*/ 20000 w 20000"/>
                    <a:gd name="T33" fmla="*/ 20000 h 20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00" h="20000">
                      <a:moveTo>
                        <a:pt x="1250" y="3030"/>
                      </a:moveTo>
                      <a:lnTo>
                        <a:pt x="0" y="10909"/>
                      </a:lnTo>
                      <a:lnTo>
                        <a:pt x="9375" y="12727"/>
                      </a:lnTo>
                      <a:lnTo>
                        <a:pt x="12500" y="17576"/>
                      </a:lnTo>
                      <a:lnTo>
                        <a:pt x="18125" y="20000"/>
                      </a:lnTo>
                      <a:lnTo>
                        <a:pt x="20000" y="18182"/>
                      </a:lnTo>
                      <a:lnTo>
                        <a:pt x="16250" y="3030"/>
                      </a:lnTo>
                      <a:lnTo>
                        <a:pt x="11250" y="0"/>
                      </a:lnTo>
                      <a:lnTo>
                        <a:pt x="1875" y="1212"/>
                      </a:lnTo>
                      <a:lnTo>
                        <a:pt x="1250" y="303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58" name="Freeform 51">
                  <a:extLst>
                    <a:ext uri="{FF2B5EF4-FFF2-40B4-BE49-F238E27FC236}">
                      <a16:creationId xmlns:a16="http://schemas.microsoft.com/office/drawing/2014/main" id="{677472F7-822D-A1EC-18BB-5E4C9E23B248}"/>
                    </a:ext>
                  </a:extLst>
                </p:cNvPr>
                <p:cNvSpPr>
                  <a:spLocks/>
                </p:cNvSpPr>
                <p:nvPr/>
              </p:nvSpPr>
              <p:spPr bwMode="auto">
                <a:xfrm>
                  <a:off x="3025" y="1968"/>
                  <a:ext cx="16" cy="37"/>
                </a:xfrm>
                <a:custGeom>
                  <a:avLst/>
                  <a:gdLst>
                    <a:gd name="T0" fmla="*/ 10 w 20000"/>
                    <a:gd name="T1" fmla="*/ 37 h 20000"/>
                    <a:gd name="T2" fmla="*/ 2 w 20000"/>
                    <a:gd name="T3" fmla="*/ 25 h 20000"/>
                    <a:gd name="T4" fmla="*/ 0 w 20000"/>
                    <a:gd name="T5" fmla="*/ 10 h 20000"/>
                    <a:gd name="T6" fmla="*/ 5 w 20000"/>
                    <a:gd name="T7" fmla="*/ 0 h 20000"/>
                    <a:gd name="T8" fmla="*/ 12 w 20000"/>
                    <a:gd name="T9" fmla="*/ 7 h 20000"/>
                    <a:gd name="T10" fmla="*/ 16 w 20000"/>
                    <a:gd name="T11" fmla="*/ 35 h 20000"/>
                    <a:gd name="T12" fmla="*/ 10 w 20000"/>
                    <a:gd name="T13" fmla="*/ 37 h 20000"/>
                    <a:gd name="T14" fmla="*/ 0 60000 65536"/>
                    <a:gd name="T15" fmla="*/ 0 60000 65536"/>
                    <a:gd name="T16" fmla="*/ 0 60000 65536"/>
                    <a:gd name="T17" fmla="*/ 0 60000 65536"/>
                    <a:gd name="T18" fmla="*/ 0 60000 65536"/>
                    <a:gd name="T19" fmla="*/ 0 60000 65536"/>
                    <a:gd name="T20" fmla="*/ 0 60000 65536"/>
                    <a:gd name="T21" fmla="*/ 0 w 20000"/>
                    <a:gd name="T22" fmla="*/ 0 h 20000"/>
                    <a:gd name="T23" fmla="*/ 20000 w 20000"/>
                    <a:gd name="T24" fmla="*/ 20000 h 200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0" h="20000">
                      <a:moveTo>
                        <a:pt x="12000" y="20000"/>
                      </a:moveTo>
                      <a:lnTo>
                        <a:pt x="2000" y="13548"/>
                      </a:lnTo>
                      <a:lnTo>
                        <a:pt x="0" y="5161"/>
                      </a:lnTo>
                      <a:lnTo>
                        <a:pt x="6000" y="0"/>
                      </a:lnTo>
                      <a:lnTo>
                        <a:pt x="15000" y="3871"/>
                      </a:lnTo>
                      <a:lnTo>
                        <a:pt x="20000" y="18710"/>
                      </a:lnTo>
                      <a:lnTo>
                        <a:pt x="12000"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94" name="Freeform 52">
                <a:extLst>
                  <a:ext uri="{FF2B5EF4-FFF2-40B4-BE49-F238E27FC236}">
                    <a16:creationId xmlns:a16="http://schemas.microsoft.com/office/drawing/2014/main" id="{4976A6C3-3DB5-40A5-054C-FC0B88E1260E}"/>
                  </a:ext>
                </a:extLst>
              </p:cNvPr>
              <p:cNvSpPr>
                <a:spLocks/>
              </p:cNvSpPr>
              <p:nvPr/>
            </p:nvSpPr>
            <p:spPr bwMode="auto">
              <a:xfrm>
                <a:off x="4935538" y="3360738"/>
                <a:ext cx="38100" cy="50800"/>
              </a:xfrm>
              <a:custGeom>
                <a:avLst/>
                <a:gdLst>
                  <a:gd name="T0" fmla="*/ 38100 w 20000"/>
                  <a:gd name="T1" fmla="*/ 40378 h 20000"/>
                  <a:gd name="T2" fmla="*/ 19050 w 20000"/>
                  <a:gd name="T3" fmla="*/ 11722 h 20000"/>
                  <a:gd name="T4" fmla="*/ 15240 w 20000"/>
                  <a:gd name="T5" fmla="*/ 0 h 20000"/>
                  <a:gd name="T6" fmla="*/ 0 w 20000"/>
                  <a:gd name="T7" fmla="*/ 0 h 20000"/>
                  <a:gd name="T8" fmla="*/ 1271 w 20000"/>
                  <a:gd name="T9" fmla="*/ 9119 h 20000"/>
                  <a:gd name="T10" fmla="*/ 16511 w 20000"/>
                  <a:gd name="T11" fmla="*/ 35169 h 20000"/>
                  <a:gd name="T12" fmla="*/ 31751 w 20000"/>
                  <a:gd name="T13" fmla="*/ 50800 h 20000"/>
                  <a:gd name="T14" fmla="*/ 38100 w 20000"/>
                  <a:gd name="T15" fmla="*/ 40378 h 20000"/>
                  <a:gd name="T16" fmla="*/ 0 60000 65536"/>
                  <a:gd name="T17" fmla="*/ 0 60000 65536"/>
                  <a:gd name="T18" fmla="*/ 0 60000 65536"/>
                  <a:gd name="T19" fmla="*/ 0 60000 65536"/>
                  <a:gd name="T20" fmla="*/ 0 60000 65536"/>
                  <a:gd name="T21" fmla="*/ 0 60000 65536"/>
                  <a:gd name="T22" fmla="*/ 0 60000 65536"/>
                  <a:gd name="T23" fmla="*/ 0 60000 65536"/>
                  <a:gd name="T24" fmla="*/ 0 w 20000"/>
                  <a:gd name="T25" fmla="*/ 0 h 20000"/>
                  <a:gd name="T26" fmla="*/ 20000 w 20000"/>
                  <a:gd name="T27" fmla="*/ 20000 h 20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000" h="20000">
                    <a:moveTo>
                      <a:pt x="20000" y="15897"/>
                    </a:moveTo>
                    <a:lnTo>
                      <a:pt x="10000" y="4615"/>
                    </a:lnTo>
                    <a:lnTo>
                      <a:pt x="8000" y="0"/>
                    </a:lnTo>
                    <a:lnTo>
                      <a:pt x="0" y="0"/>
                    </a:lnTo>
                    <a:lnTo>
                      <a:pt x="667" y="3590"/>
                    </a:lnTo>
                    <a:lnTo>
                      <a:pt x="8667" y="13846"/>
                    </a:lnTo>
                    <a:lnTo>
                      <a:pt x="16667" y="20000"/>
                    </a:lnTo>
                    <a:lnTo>
                      <a:pt x="20000" y="15897"/>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5" name="Freeform 53">
                <a:extLst>
                  <a:ext uri="{FF2B5EF4-FFF2-40B4-BE49-F238E27FC236}">
                    <a16:creationId xmlns:a16="http://schemas.microsoft.com/office/drawing/2014/main" id="{486BCA01-215E-870D-52A0-7F75EDD2C5F3}"/>
                  </a:ext>
                </a:extLst>
              </p:cNvPr>
              <p:cNvSpPr>
                <a:spLocks/>
              </p:cNvSpPr>
              <p:nvPr/>
            </p:nvSpPr>
            <p:spPr bwMode="auto">
              <a:xfrm>
                <a:off x="6054725" y="3416300"/>
                <a:ext cx="46038" cy="36513"/>
              </a:xfrm>
              <a:custGeom>
                <a:avLst/>
                <a:gdLst>
                  <a:gd name="T0" fmla="*/ 46038 w 20000"/>
                  <a:gd name="T1" fmla="*/ 36513 h 20000"/>
                  <a:gd name="T2" fmla="*/ 37086 w 20000"/>
                  <a:gd name="T3" fmla="*/ 29086 h 20000"/>
                  <a:gd name="T4" fmla="*/ 0 w 20000"/>
                  <a:gd name="T5" fmla="*/ 22897 h 20000"/>
                  <a:gd name="T6" fmla="*/ 15347 w 20000"/>
                  <a:gd name="T7" fmla="*/ 3713 h 20000"/>
                  <a:gd name="T8" fmla="*/ 38366 w 20000"/>
                  <a:gd name="T9" fmla="*/ 0 h 20000"/>
                  <a:gd name="T10" fmla="*/ 46038 w 20000"/>
                  <a:gd name="T11" fmla="*/ 36513 h 20000"/>
                  <a:gd name="T12" fmla="*/ 0 60000 65536"/>
                  <a:gd name="T13" fmla="*/ 0 60000 65536"/>
                  <a:gd name="T14" fmla="*/ 0 60000 65536"/>
                  <a:gd name="T15" fmla="*/ 0 60000 65536"/>
                  <a:gd name="T16" fmla="*/ 0 60000 65536"/>
                  <a:gd name="T17" fmla="*/ 0 60000 65536"/>
                  <a:gd name="T18" fmla="*/ 0 w 20000"/>
                  <a:gd name="T19" fmla="*/ 0 h 20000"/>
                  <a:gd name="T20" fmla="*/ 20000 w 20000"/>
                  <a:gd name="T21" fmla="*/ 20000 h 20000"/>
                </a:gdLst>
                <a:ahLst/>
                <a:cxnLst>
                  <a:cxn ang="T12">
                    <a:pos x="T0" y="T1"/>
                  </a:cxn>
                  <a:cxn ang="T13">
                    <a:pos x="T2" y="T3"/>
                  </a:cxn>
                  <a:cxn ang="T14">
                    <a:pos x="T4" y="T5"/>
                  </a:cxn>
                  <a:cxn ang="T15">
                    <a:pos x="T6" y="T7"/>
                  </a:cxn>
                  <a:cxn ang="T16">
                    <a:pos x="T8" y="T9"/>
                  </a:cxn>
                  <a:cxn ang="T17">
                    <a:pos x="T10" y="T11"/>
                  </a:cxn>
                </a:cxnLst>
                <a:rect l="T18" t="T19" r="T20" b="T21"/>
                <a:pathLst>
                  <a:path w="20000" h="20000">
                    <a:moveTo>
                      <a:pt x="20000" y="20000"/>
                    </a:moveTo>
                    <a:lnTo>
                      <a:pt x="16111" y="15932"/>
                    </a:lnTo>
                    <a:lnTo>
                      <a:pt x="0" y="12542"/>
                    </a:lnTo>
                    <a:lnTo>
                      <a:pt x="6667" y="2034"/>
                    </a:lnTo>
                    <a:lnTo>
                      <a:pt x="16667" y="0"/>
                    </a:lnTo>
                    <a:lnTo>
                      <a:pt x="20000"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6" name="Freeform 54">
                <a:extLst>
                  <a:ext uri="{FF2B5EF4-FFF2-40B4-BE49-F238E27FC236}">
                    <a16:creationId xmlns:a16="http://schemas.microsoft.com/office/drawing/2014/main" id="{BA77DD23-32B8-7FA3-578B-F05D4C94011A}"/>
                  </a:ext>
                </a:extLst>
              </p:cNvPr>
              <p:cNvSpPr>
                <a:spLocks/>
              </p:cNvSpPr>
              <p:nvPr/>
            </p:nvSpPr>
            <p:spPr bwMode="auto">
              <a:xfrm>
                <a:off x="5383213" y="3498850"/>
                <a:ext cx="49212" cy="26988"/>
              </a:xfrm>
              <a:custGeom>
                <a:avLst/>
                <a:gdLst>
                  <a:gd name="T0" fmla="*/ 49212 w 20000"/>
                  <a:gd name="T1" fmla="*/ 16707 h 20000"/>
                  <a:gd name="T2" fmla="*/ 39244 w 20000"/>
                  <a:gd name="T3" fmla="*/ 26988 h 20000"/>
                  <a:gd name="T4" fmla="*/ 0 w 20000"/>
                  <a:gd name="T5" fmla="*/ 8996 h 20000"/>
                  <a:gd name="T6" fmla="*/ 7475 w 20000"/>
                  <a:gd name="T7" fmla="*/ 0 h 20000"/>
                  <a:gd name="T8" fmla="*/ 37999 w 20000"/>
                  <a:gd name="T9" fmla="*/ 5141 h 20000"/>
                  <a:gd name="T10" fmla="*/ 49212 w 20000"/>
                  <a:gd name="T11" fmla="*/ 16707 h 20000"/>
                  <a:gd name="T12" fmla="*/ 0 60000 65536"/>
                  <a:gd name="T13" fmla="*/ 0 60000 65536"/>
                  <a:gd name="T14" fmla="*/ 0 60000 65536"/>
                  <a:gd name="T15" fmla="*/ 0 60000 65536"/>
                  <a:gd name="T16" fmla="*/ 0 60000 65536"/>
                  <a:gd name="T17" fmla="*/ 0 60000 65536"/>
                  <a:gd name="T18" fmla="*/ 0 w 20000"/>
                  <a:gd name="T19" fmla="*/ 0 h 20000"/>
                  <a:gd name="T20" fmla="*/ 20000 w 20000"/>
                  <a:gd name="T21" fmla="*/ 20000 h 20000"/>
                </a:gdLst>
                <a:ahLst/>
                <a:cxnLst>
                  <a:cxn ang="T12">
                    <a:pos x="T0" y="T1"/>
                  </a:cxn>
                  <a:cxn ang="T13">
                    <a:pos x="T2" y="T3"/>
                  </a:cxn>
                  <a:cxn ang="T14">
                    <a:pos x="T4" y="T5"/>
                  </a:cxn>
                  <a:cxn ang="T15">
                    <a:pos x="T6" y="T7"/>
                  </a:cxn>
                  <a:cxn ang="T16">
                    <a:pos x="T8" y="T9"/>
                  </a:cxn>
                  <a:cxn ang="T17">
                    <a:pos x="T10" y="T11"/>
                  </a:cxn>
                </a:cxnLst>
                <a:rect l="T18" t="T19" r="T20" b="T21"/>
                <a:pathLst>
                  <a:path w="20000" h="20000">
                    <a:moveTo>
                      <a:pt x="20000" y="12381"/>
                    </a:moveTo>
                    <a:lnTo>
                      <a:pt x="15949" y="20000"/>
                    </a:lnTo>
                    <a:lnTo>
                      <a:pt x="0" y="6667"/>
                    </a:lnTo>
                    <a:lnTo>
                      <a:pt x="3038" y="0"/>
                    </a:lnTo>
                    <a:lnTo>
                      <a:pt x="15443" y="3810"/>
                    </a:lnTo>
                    <a:lnTo>
                      <a:pt x="20000" y="1238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7" name="Freeform 55">
                <a:extLst>
                  <a:ext uri="{FF2B5EF4-FFF2-40B4-BE49-F238E27FC236}">
                    <a16:creationId xmlns:a16="http://schemas.microsoft.com/office/drawing/2014/main" id="{A0E8E765-9280-1707-AE5E-2403AD88EF80}"/>
                  </a:ext>
                </a:extLst>
              </p:cNvPr>
              <p:cNvSpPr>
                <a:spLocks/>
              </p:cNvSpPr>
              <p:nvPr/>
            </p:nvSpPr>
            <p:spPr bwMode="auto">
              <a:xfrm>
                <a:off x="5989638" y="3617913"/>
                <a:ext cx="22225" cy="41275"/>
              </a:xfrm>
              <a:custGeom>
                <a:avLst/>
                <a:gdLst>
                  <a:gd name="T0" fmla="*/ 0 w 20000"/>
                  <a:gd name="T1" fmla="*/ 0 h 20000"/>
                  <a:gd name="T2" fmla="*/ 3604 w 20000"/>
                  <a:gd name="T3" fmla="*/ 41275 h 20000"/>
                  <a:gd name="T4" fmla="*/ 18621 w 20000"/>
                  <a:gd name="T5" fmla="*/ 27516 h 20000"/>
                  <a:gd name="T6" fmla="*/ 22225 w 20000"/>
                  <a:gd name="T7" fmla="*/ 3752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0" y="0"/>
                    </a:moveTo>
                    <a:lnTo>
                      <a:pt x="3243" y="20000"/>
                    </a:lnTo>
                    <a:lnTo>
                      <a:pt x="16757" y="13333"/>
                    </a:lnTo>
                    <a:lnTo>
                      <a:pt x="20000" y="1818"/>
                    </a:lnTo>
                    <a:lnTo>
                      <a:pt x="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8" name="Freeform 56">
                <a:extLst>
                  <a:ext uri="{FF2B5EF4-FFF2-40B4-BE49-F238E27FC236}">
                    <a16:creationId xmlns:a16="http://schemas.microsoft.com/office/drawing/2014/main" id="{50727EF0-82B8-C3BE-2E35-921CE4F73A90}"/>
                  </a:ext>
                </a:extLst>
              </p:cNvPr>
              <p:cNvSpPr>
                <a:spLocks/>
              </p:cNvSpPr>
              <p:nvPr/>
            </p:nvSpPr>
            <p:spPr bwMode="auto">
              <a:xfrm>
                <a:off x="5608638" y="4322763"/>
                <a:ext cx="15875" cy="42862"/>
              </a:xfrm>
              <a:custGeom>
                <a:avLst/>
                <a:gdLst>
                  <a:gd name="T0" fmla="*/ 3969 w 20000"/>
                  <a:gd name="T1" fmla="*/ 0 h 20000"/>
                  <a:gd name="T2" fmla="*/ 0 w 20000"/>
                  <a:gd name="T3" fmla="*/ 30256 h 20000"/>
                  <a:gd name="T4" fmla="*/ 7938 w 20000"/>
                  <a:gd name="T5" fmla="*/ 42862 h 20000"/>
                  <a:gd name="T6" fmla="*/ 15875 w 20000"/>
                  <a:gd name="T7" fmla="*/ 23951 h 20000"/>
                  <a:gd name="T8" fmla="*/ 3969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5000" y="0"/>
                    </a:moveTo>
                    <a:lnTo>
                      <a:pt x="0" y="14118"/>
                    </a:lnTo>
                    <a:lnTo>
                      <a:pt x="10000" y="20000"/>
                    </a:lnTo>
                    <a:lnTo>
                      <a:pt x="20000" y="11176"/>
                    </a:lnTo>
                    <a:lnTo>
                      <a:pt x="500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99" name="Freeform 57">
                <a:extLst>
                  <a:ext uri="{FF2B5EF4-FFF2-40B4-BE49-F238E27FC236}">
                    <a16:creationId xmlns:a16="http://schemas.microsoft.com/office/drawing/2014/main" id="{CC134516-9399-E9FB-2648-483A1AC31D02}"/>
                  </a:ext>
                </a:extLst>
              </p:cNvPr>
              <p:cNvSpPr>
                <a:spLocks/>
              </p:cNvSpPr>
              <p:nvPr/>
            </p:nvSpPr>
            <p:spPr bwMode="auto">
              <a:xfrm>
                <a:off x="4633913" y="4454525"/>
                <a:ext cx="1762125" cy="1546225"/>
              </a:xfrm>
              <a:custGeom>
                <a:avLst/>
                <a:gdLst>
                  <a:gd name="T0" fmla="*/ 92071 w 20000"/>
                  <a:gd name="T1" fmla="*/ 405729 h 20000"/>
                  <a:gd name="T2" fmla="*/ 343526 w 20000"/>
                  <a:gd name="T3" fmla="*/ 0 h 20000"/>
                  <a:gd name="T4" fmla="*/ 433042 w 20000"/>
                  <a:gd name="T5" fmla="*/ 53345 h 20000"/>
                  <a:gd name="T6" fmla="*/ 582294 w 20000"/>
                  <a:gd name="T7" fmla="*/ 99732 h 20000"/>
                  <a:gd name="T8" fmla="*/ 760709 w 20000"/>
                  <a:gd name="T9" fmla="*/ 90841 h 20000"/>
                  <a:gd name="T10" fmla="*/ 810930 w 20000"/>
                  <a:gd name="T11" fmla="*/ 88289 h 20000"/>
                  <a:gd name="T12" fmla="*/ 850225 w 20000"/>
                  <a:gd name="T13" fmla="*/ 213379 h 20000"/>
                  <a:gd name="T14" fmla="*/ 876922 w 20000"/>
                  <a:gd name="T15" fmla="*/ 297803 h 20000"/>
                  <a:gd name="T16" fmla="*/ 942296 w 20000"/>
                  <a:gd name="T17" fmla="*/ 367692 h 20000"/>
                  <a:gd name="T18" fmla="*/ 1007759 w 20000"/>
                  <a:gd name="T19" fmla="*/ 412146 h 20000"/>
                  <a:gd name="T20" fmla="*/ 1113134 w 20000"/>
                  <a:gd name="T21" fmla="*/ 467347 h 20000"/>
                  <a:gd name="T22" fmla="*/ 1270668 w 20000"/>
                  <a:gd name="T23" fmla="*/ 868051 h 20000"/>
                  <a:gd name="T24" fmla="*/ 1339215 w 20000"/>
                  <a:gd name="T25" fmla="*/ 938559 h 20000"/>
                  <a:gd name="T26" fmla="*/ 1501771 w 20000"/>
                  <a:gd name="T27" fmla="*/ 956340 h 20000"/>
                  <a:gd name="T28" fmla="*/ 1534811 w 20000"/>
                  <a:gd name="T29" fmla="*/ 961365 h 20000"/>
                  <a:gd name="T30" fmla="*/ 1596397 w 20000"/>
                  <a:gd name="T31" fmla="*/ 988038 h 20000"/>
                  <a:gd name="T32" fmla="*/ 1695429 w 20000"/>
                  <a:gd name="T33" fmla="*/ 923328 h 20000"/>
                  <a:gd name="T34" fmla="*/ 1762125 w 20000"/>
                  <a:gd name="T35" fmla="*/ 948686 h 20000"/>
                  <a:gd name="T36" fmla="*/ 1680186 w 20000"/>
                  <a:gd name="T37" fmla="*/ 1068673 h 20000"/>
                  <a:gd name="T38" fmla="*/ 1623093 w 20000"/>
                  <a:gd name="T39" fmla="*/ 1136630 h 20000"/>
                  <a:gd name="T40" fmla="*/ 1581772 w 20000"/>
                  <a:gd name="T41" fmla="*/ 1175981 h 20000"/>
                  <a:gd name="T42" fmla="*/ 1443973 w 20000"/>
                  <a:gd name="T43" fmla="*/ 1251592 h 20000"/>
                  <a:gd name="T44" fmla="*/ 1451639 w 20000"/>
                  <a:gd name="T45" fmla="*/ 1316379 h 20000"/>
                  <a:gd name="T46" fmla="*/ 1481418 w 20000"/>
                  <a:gd name="T47" fmla="*/ 1320167 h 20000"/>
                  <a:gd name="T48" fmla="*/ 1486529 w 20000"/>
                  <a:gd name="T49" fmla="*/ 1343051 h 20000"/>
                  <a:gd name="T50" fmla="*/ 1409700 w 20000"/>
                  <a:gd name="T51" fmla="*/ 1408456 h 20000"/>
                  <a:gd name="T52" fmla="*/ 1274457 w 20000"/>
                  <a:gd name="T53" fmla="*/ 1484608 h 20000"/>
                  <a:gd name="T54" fmla="*/ 1206527 w 20000"/>
                  <a:gd name="T55" fmla="*/ 1536097 h 20000"/>
                  <a:gd name="T56" fmla="*/ 1168377 w 20000"/>
                  <a:gd name="T57" fmla="*/ 1520790 h 20000"/>
                  <a:gd name="T58" fmla="*/ 1221769 w 20000"/>
                  <a:gd name="T59" fmla="*/ 1496668 h 20000"/>
                  <a:gd name="T60" fmla="*/ 1206527 w 20000"/>
                  <a:gd name="T61" fmla="*/ 1463038 h 20000"/>
                  <a:gd name="T62" fmla="*/ 1247761 w 20000"/>
                  <a:gd name="T63" fmla="*/ 1362070 h 20000"/>
                  <a:gd name="T64" fmla="*/ 1241417 w 20000"/>
                  <a:gd name="T65" fmla="*/ 1214096 h 20000"/>
                  <a:gd name="T66" fmla="*/ 1186174 w 20000"/>
                  <a:gd name="T67" fmla="*/ 1163302 h 20000"/>
                  <a:gd name="T68" fmla="*/ 1237628 w 20000"/>
                  <a:gd name="T69" fmla="*/ 1178533 h 20000"/>
                  <a:gd name="T70" fmla="*/ 1264325 w 20000"/>
                  <a:gd name="T71" fmla="*/ 1189975 h 20000"/>
                  <a:gd name="T72" fmla="*/ 1344325 w 20000"/>
                  <a:gd name="T73" fmla="*/ 1198866 h 20000"/>
                  <a:gd name="T74" fmla="*/ 1339215 w 20000"/>
                  <a:gd name="T75" fmla="*/ 1156963 h 20000"/>
                  <a:gd name="T76" fmla="*/ 1279567 w 20000"/>
                  <a:gd name="T77" fmla="*/ 1101763 h 20000"/>
                  <a:gd name="T78" fmla="*/ 1163355 w 20000"/>
                  <a:gd name="T79" fmla="*/ 1082667 h 20000"/>
                  <a:gd name="T80" fmla="*/ 1003971 w 20000"/>
                  <a:gd name="T81" fmla="*/ 1095346 h 20000"/>
                  <a:gd name="T82" fmla="*/ 952517 w 20000"/>
                  <a:gd name="T83" fmla="*/ 1075090 h 20000"/>
                  <a:gd name="T84" fmla="*/ 918243 w 20000"/>
                  <a:gd name="T85" fmla="*/ 1080115 h 20000"/>
                  <a:gd name="T86" fmla="*/ 906790 w 20000"/>
                  <a:gd name="T87" fmla="*/ 1044552 h 20000"/>
                  <a:gd name="T88" fmla="*/ 852780 w 20000"/>
                  <a:gd name="T89" fmla="*/ 975359 h 20000"/>
                  <a:gd name="T90" fmla="*/ 739123 w 20000"/>
                  <a:gd name="T91" fmla="*/ 910572 h 20000"/>
                  <a:gd name="T92" fmla="*/ 581061 w 20000"/>
                  <a:gd name="T93" fmla="*/ 879493 h 20000"/>
                  <a:gd name="T94" fmla="*/ 588638 w 20000"/>
                  <a:gd name="T95" fmla="*/ 908021 h 20000"/>
                  <a:gd name="T96" fmla="*/ 559475 w 20000"/>
                  <a:gd name="T97" fmla="*/ 946135 h 20000"/>
                  <a:gd name="T98" fmla="*/ 508021 w 20000"/>
                  <a:gd name="T99" fmla="*/ 995692 h 20000"/>
                  <a:gd name="T100" fmla="*/ 469871 w 20000"/>
                  <a:gd name="T101" fmla="*/ 1017880 h 20000"/>
                  <a:gd name="T102" fmla="*/ 408284 w 20000"/>
                  <a:gd name="T103" fmla="*/ 1014092 h 20000"/>
                  <a:gd name="T104" fmla="*/ 375245 w 20000"/>
                  <a:gd name="T105" fmla="*/ 1011540 h 20000"/>
                  <a:gd name="T106" fmla="*/ 316830 w 20000"/>
                  <a:gd name="T107" fmla="*/ 1019194 h 20000"/>
                  <a:gd name="T108" fmla="*/ 290839 w 20000"/>
                  <a:gd name="T109" fmla="*/ 1003268 h 20000"/>
                  <a:gd name="T110" fmla="*/ 271808 w 20000"/>
                  <a:gd name="T111" fmla="*/ 1022982 h 20000"/>
                  <a:gd name="T112" fmla="*/ 245112 w 20000"/>
                  <a:gd name="T113" fmla="*/ 990589 h 20000"/>
                  <a:gd name="T114" fmla="*/ 210838 w 20000"/>
                  <a:gd name="T115" fmla="*/ 984250 h 20000"/>
                  <a:gd name="T116" fmla="*/ 182909 w 20000"/>
                  <a:gd name="T117" fmla="*/ 995692 h 20000"/>
                  <a:gd name="T118" fmla="*/ 151807 w 20000"/>
                  <a:gd name="T119" fmla="*/ 991903 h 20000"/>
                  <a:gd name="T120" fmla="*/ 106080 w 20000"/>
                  <a:gd name="T121" fmla="*/ 988038 h 20000"/>
                  <a:gd name="T122" fmla="*/ 69252 w 20000"/>
                  <a:gd name="T123" fmla="*/ 922014 h 2000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0000"/>
                  <a:gd name="T187" fmla="*/ 0 h 20000"/>
                  <a:gd name="T188" fmla="*/ 20000 w 20000"/>
                  <a:gd name="T189" fmla="*/ 20000 h 2000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0000" h="20000">
                    <a:moveTo>
                      <a:pt x="505" y="11877"/>
                    </a:moveTo>
                    <a:lnTo>
                      <a:pt x="0" y="6735"/>
                    </a:lnTo>
                    <a:lnTo>
                      <a:pt x="1045" y="5248"/>
                    </a:lnTo>
                    <a:lnTo>
                      <a:pt x="2090" y="3302"/>
                    </a:lnTo>
                    <a:lnTo>
                      <a:pt x="3827" y="0"/>
                    </a:lnTo>
                    <a:lnTo>
                      <a:pt x="3899" y="0"/>
                    </a:lnTo>
                    <a:lnTo>
                      <a:pt x="3986" y="49"/>
                    </a:lnTo>
                    <a:lnTo>
                      <a:pt x="4605" y="378"/>
                    </a:lnTo>
                    <a:lnTo>
                      <a:pt x="4915" y="690"/>
                    </a:lnTo>
                    <a:lnTo>
                      <a:pt x="5160" y="945"/>
                    </a:lnTo>
                    <a:lnTo>
                      <a:pt x="5564" y="994"/>
                    </a:lnTo>
                    <a:lnTo>
                      <a:pt x="6609" y="1290"/>
                    </a:lnTo>
                    <a:lnTo>
                      <a:pt x="7200" y="1569"/>
                    </a:lnTo>
                    <a:lnTo>
                      <a:pt x="7899" y="1290"/>
                    </a:lnTo>
                    <a:lnTo>
                      <a:pt x="8634" y="1175"/>
                    </a:lnTo>
                    <a:lnTo>
                      <a:pt x="8858" y="1175"/>
                    </a:lnTo>
                    <a:lnTo>
                      <a:pt x="9117" y="1125"/>
                    </a:lnTo>
                    <a:lnTo>
                      <a:pt x="9204" y="1142"/>
                    </a:lnTo>
                    <a:lnTo>
                      <a:pt x="9290" y="1487"/>
                    </a:lnTo>
                    <a:lnTo>
                      <a:pt x="9391" y="2415"/>
                    </a:lnTo>
                    <a:lnTo>
                      <a:pt x="9650" y="2760"/>
                    </a:lnTo>
                    <a:lnTo>
                      <a:pt x="9780" y="3154"/>
                    </a:lnTo>
                    <a:lnTo>
                      <a:pt x="10004" y="3762"/>
                    </a:lnTo>
                    <a:lnTo>
                      <a:pt x="9953" y="3852"/>
                    </a:lnTo>
                    <a:lnTo>
                      <a:pt x="10004" y="4214"/>
                    </a:lnTo>
                    <a:lnTo>
                      <a:pt x="10162" y="4312"/>
                    </a:lnTo>
                    <a:lnTo>
                      <a:pt x="10695" y="4756"/>
                    </a:lnTo>
                    <a:lnTo>
                      <a:pt x="10984" y="5150"/>
                    </a:lnTo>
                    <a:lnTo>
                      <a:pt x="11258" y="5232"/>
                    </a:lnTo>
                    <a:lnTo>
                      <a:pt x="11438" y="5331"/>
                    </a:lnTo>
                    <a:lnTo>
                      <a:pt x="11683" y="5380"/>
                    </a:lnTo>
                    <a:lnTo>
                      <a:pt x="12086" y="5996"/>
                    </a:lnTo>
                    <a:lnTo>
                      <a:pt x="12634" y="6045"/>
                    </a:lnTo>
                    <a:lnTo>
                      <a:pt x="12591" y="5832"/>
                    </a:lnTo>
                    <a:lnTo>
                      <a:pt x="12728" y="5552"/>
                    </a:lnTo>
                    <a:lnTo>
                      <a:pt x="14422" y="11228"/>
                    </a:lnTo>
                    <a:lnTo>
                      <a:pt x="14638" y="11441"/>
                    </a:lnTo>
                    <a:lnTo>
                      <a:pt x="14681" y="11647"/>
                    </a:lnTo>
                    <a:lnTo>
                      <a:pt x="15200" y="12140"/>
                    </a:lnTo>
                    <a:lnTo>
                      <a:pt x="15640" y="12468"/>
                    </a:lnTo>
                    <a:lnTo>
                      <a:pt x="16605" y="12320"/>
                    </a:lnTo>
                    <a:lnTo>
                      <a:pt x="17045" y="12370"/>
                    </a:lnTo>
                    <a:lnTo>
                      <a:pt x="17088" y="12468"/>
                    </a:lnTo>
                    <a:lnTo>
                      <a:pt x="17420" y="12583"/>
                    </a:lnTo>
                    <a:lnTo>
                      <a:pt x="17420" y="12435"/>
                    </a:lnTo>
                    <a:lnTo>
                      <a:pt x="17477" y="12370"/>
                    </a:lnTo>
                    <a:lnTo>
                      <a:pt x="17766" y="12715"/>
                    </a:lnTo>
                    <a:lnTo>
                      <a:pt x="18119" y="12780"/>
                    </a:lnTo>
                    <a:lnTo>
                      <a:pt x="18220" y="12616"/>
                    </a:lnTo>
                    <a:lnTo>
                      <a:pt x="18638" y="12665"/>
                    </a:lnTo>
                    <a:lnTo>
                      <a:pt x="19243" y="11943"/>
                    </a:lnTo>
                    <a:lnTo>
                      <a:pt x="19769" y="11795"/>
                    </a:lnTo>
                    <a:lnTo>
                      <a:pt x="19827" y="12189"/>
                    </a:lnTo>
                    <a:lnTo>
                      <a:pt x="20000" y="12271"/>
                    </a:lnTo>
                    <a:lnTo>
                      <a:pt x="19654" y="12731"/>
                    </a:lnTo>
                    <a:lnTo>
                      <a:pt x="19351" y="13133"/>
                    </a:lnTo>
                    <a:lnTo>
                      <a:pt x="19070" y="13823"/>
                    </a:lnTo>
                    <a:lnTo>
                      <a:pt x="19027" y="14021"/>
                    </a:lnTo>
                    <a:lnTo>
                      <a:pt x="18724" y="14464"/>
                    </a:lnTo>
                    <a:lnTo>
                      <a:pt x="18422" y="14702"/>
                    </a:lnTo>
                    <a:lnTo>
                      <a:pt x="18393" y="15064"/>
                    </a:lnTo>
                    <a:lnTo>
                      <a:pt x="18090" y="15294"/>
                    </a:lnTo>
                    <a:lnTo>
                      <a:pt x="17953" y="15211"/>
                    </a:lnTo>
                    <a:lnTo>
                      <a:pt x="17723" y="15294"/>
                    </a:lnTo>
                    <a:lnTo>
                      <a:pt x="17679" y="15211"/>
                    </a:lnTo>
                    <a:lnTo>
                      <a:pt x="16389" y="16189"/>
                    </a:lnTo>
                    <a:lnTo>
                      <a:pt x="16202" y="16485"/>
                    </a:lnTo>
                    <a:lnTo>
                      <a:pt x="16000" y="17043"/>
                    </a:lnTo>
                    <a:lnTo>
                      <a:pt x="16476" y="17027"/>
                    </a:lnTo>
                    <a:lnTo>
                      <a:pt x="16685" y="16846"/>
                    </a:lnTo>
                    <a:lnTo>
                      <a:pt x="16771" y="17043"/>
                    </a:lnTo>
                    <a:lnTo>
                      <a:pt x="16814" y="17076"/>
                    </a:lnTo>
                    <a:lnTo>
                      <a:pt x="16858" y="17191"/>
                    </a:lnTo>
                    <a:lnTo>
                      <a:pt x="16959" y="17224"/>
                    </a:lnTo>
                    <a:lnTo>
                      <a:pt x="16872" y="17372"/>
                    </a:lnTo>
                    <a:lnTo>
                      <a:pt x="15784" y="17971"/>
                    </a:lnTo>
                    <a:lnTo>
                      <a:pt x="15683" y="18267"/>
                    </a:lnTo>
                    <a:lnTo>
                      <a:pt x="16000" y="18218"/>
                    </a:lnTo>
                    <a:lnTo>
                      <a:pt x="14854" y="18480"/>
                    </a:lnTo>
                    <a:lnTo>
                      <a:pt x="14436" y="19023"/>
                    </a:lnTo>
                    <a:lnTo>
                      <a:pt x="14465" y="19203"/>
                    </a:lnTo>
                    <a:lnTo>
                      <a:pt x="13953" y="19655"/>
                    </a:lnTo>
                    <a:lnTo>
                      <a:pt x="13910" y="19852"/>
                    </a:lnTo>
                    <a:lnTo>
                      <a:pt x="13694" y="19869"/>
                    </a:lnTo>
                    <a:lnTo>
                      <a:pt x="13521" y="19967"/>
                    </a:lnTo>
                    <a:lnTo>
                      <a:pt x="13261" y="20000"/>
                    </a:lnTo>
                    <a:lnTo>
                      <a:pt x="13261" y="19671"/>
                    </a:lnTo>
                    <a:lnTo>
                      <a:pt x="13348" y="19507"/>
                    </a:lnTo>
                    <a:lnTo>
                      <a:pt x="13420" y="19458"/>
                    </a:lnTo>
                    <a:lnTo>
                      <a:pt x="13867" y="19359"/>
                    </a:lnTo>
                    <a:lnTo>
                      <a:pt x="13823" y="19121"/>
                    </a:lnTo>
                    <a:lnTo>
                      <a:pt x="13593" y="19154"/>
                    </a:lnTo>
                    <a:lnTo>
                      <a:pt x="13694" y="18924"/>
                    </a:lnTo>
                    <a:lnTo>
                      <a:pt x="13679" y="18415"/>
                    </a:lnTo>
                    <a:lnTo>
                      <a:pt x="13910" y="18136"/>
                    </a:lnTo>
                    <a:lnTo>
                      <a:pt x="14162" y="17618"/>
                    </a:lnTo>
                    <a:lnTo>
                      <a:pt x="13852" y="16682"/>
                    </a:lnTo>
                    <a:lnTo>
                      <a:pt x="13953" y="16131"/>
                    </a:lnTo>
                    <a:lnTo>
                      <a:pt x="14090" y="15704"/>
                    </a:lnTo>
                    <a:lnTo>
                      <a:pt x="13867" y="15294"/>
                    </a:lnTo>
                    <a:lnTo>
                      <a:pt x="13593" y="15064"/>
                    </a:lnTo>
                    <a:lnTo>
                      <a:pt x="13463" y="15047"/>
                    </a:lnTo>
                    <a:lnTo>
                      <a:pt x="13823" y="14867"/>
                    </a:lnTo>
                    <a:lnTo>
                      <a:pt x="13895" y="15064"/>
                    </a:lnTo>
                    <a:lnTo>
                      <a:pt x="14047" y="15244"/>
                    </a:lnTo>
                    <a:lnTo>
                      <a:pt x="14177" y="15261"/>
                    </a:lnTo>
                    <a:lnTo>
                      <a:pt x="14249" y="15195"/>
                    </a:lnTo>
                    <a:lnTo>
                      <a:pt x="14350" y="15392"/>
                    </a:lnTo>
                    <a:lnTo>
                      <a:pt x="14638" y="15409"/>
                    </a:lnTo>
                    <a:lnTo>
                      <a:pt x="14811" y="15507"/>
                    </a:lnTo>
                    <a:lnTo>
                      <a:pt x="15258" y="15507"/>
                    </a:lnTo>
                    <a:lnTo>
                      <a:pt x="15200" y="15195"/>
                    </a:lnTo>
                    <a:lnTo>
                      <a:pt x="15070" y="15097"/>
                    </a:lnTo>
                    <a:lnTo>
                      <a:pt x="15200" y="14965"/>
                    </a:lnTo>
                    <a:lnTo>
                      <a:pt x="15171" y="14817"/>
                    </a:lnTo>
                    <a:lnTo>
                      <a:pt x="14897" y="14546"/>
                    </a:lnTo>
                    <a:lnTo>
                      <a:pt x="14523" y="14251"/>
                    </a:lnTo>
                    <a:lnTo>
                      <a:pt x="14422" y="14168"/>
                    </a:lnTo>
                    <a:lnTo>
                      <a:pt x="14047" y="13758"/>
                    </a:lnTo>
                    <a:lnTo>
                      <a:pt x="13204" y="14004"/>
                    </a:lnTo>
                    <a:lnTo>
                      <a:pt x="13088" y="13906"/>
                    </a:lnTo>
                    <a:lnTo>
                      <a:pt x="12519" y="13922"/>
                    </a:lnTo>
                    <a:lnTo>
                      <a:pt x="11395" y="14168"/>
                    </a:lnTo>
                    <a:lnTo>
                      <a:pt x="10984" y="14021"/>
                    </a:lnTo>
                    <a:lnTo>
                      <a:pt x="10854" y="13955"/>
                    </a:lnTo>
                    <a:lnTo>
                      <a:pt x="10811" y="13906"/>
                    </a:lnTo>
                    <a:lnTo>
                      <a:pt x="10609" y="14021"/>
                    </a:lnTo>
                    <a:lnTo>
                      <a:pt x="10508" y="14021"/>
                    </a:lnTo>
                    <a:lnTo>
                      <a:pt x="10422" y="13971"/>
                    </a:lnTo>
                    <a:lnTo>
                      <a:pt x="10393" y="13807"/>
                    </a:lnTo>
                    <a:lnTo>
                      <a:pt x="10350" y="13626"/>
                    </a:lnTo>
                    <a:lnTo>
                      <a:pt x="10292" y="13511"/>
                    </a:lnTo>
                    <a:lnTo>
                      <a:pt x="10090" y="13462"/>
                    </a:lnTo>
                    <a:lnTo>
                      <a:pt x="10162" y="13010"/>
                    </a:lnTo>
                    <a:lnTo>
                      <a:pt x="9679" y="12616"/>
                    </a:lnTo>
                    <a:lnTo>
                      <a:pt x="9694" y="12123"/>
                    </a:lnTo>
                    <a:lnTo>
                      <a:pt x="8829" y="12320"/>
                    </a:lnTo>
                    <a:lnTo>
                      <a:pt x="8389" y="11778"/>
                    </a:lnTo>
                    <a:lnTo>
                      <a:pt x="8043" y="11326"/>
                    </a:lnTo>
                    <a:lnTo>
                      <a:pt x="7351" y="11474"/>
                    </a:lnTo>
                    <a:lnTo>
                      <a:pt x="6595" y="11376"/>
                    </a:lnTo>
                    <a:lnTo>
                      <a:pt x="6479" y="11425"/>
                    </a:lnTo>
                    <a:lnTo>
                      <a:pt x="6551" y="11598"/>
                    </a:lnTo>
                    <a:lnTo>
                      <a:pt x="6681" y="11745"/>
                    </a:lnTo>
                    <a:lnTo>
                      <a:pt x="6595" y="11975"/>
                    </a:lnTo>
                    <a:lnTo>
                      <a:pt x="6393" y="12123"/>
                    </a:lnTo>
                    <a:lnTo>
                      <a:pt x="6350" y="12238"/>
                    </a:lnTo>
                    <a:lnTo>
                      <a:pt x="6220" y="12435"/>
                    </a:lnTo>
                    <a:lnTo>
                      <a:pt x="6076" y="12485"/>
                    </a:lnTo>
                    <a:lnTo>
                      <a:pt x="5766" y="12879"/>
                    </a:lnTo>
                    <a:lnTo>
                      <a:pt x="5636" y="13060"/>
                    </a:lnTo>
                    <a:lnTo>
                      <a:pt x="5434" y="13084"/>
                    </a:lnTo>
                    <a:lnTo>
                      <a:pt x="5333" y="13166"/>
                    </a:lnTo>
                    <a:lnTo>
                      <a:pt x="5074" y="13027"/>
                    </a:lnTo>
                    <a:lnTo>
                      <a:pt x="4901" y="13084"/>
                    </a:lnTo>
                    <a:lnTo>
                      <a:pt x="4634" y="13117"/>
                    </a:lnTo>
                    <a:lnTo>
                      <a:pt x="4519" y="13166"/>
                    </a:lnTo>
                    <a:lnTo>
                      <a:pt x="4418" y="12961"/>
                    </a:lnTo>
                    <a:lnTo>
                      <a:pt x="4259" y="13084"/>
                    </a:lnTo>
                    <a:lnTo>
                      <a:pt x="4072" y="13281"/>
                    </a:lnTo>
                    <a:lnTo>
                      <a:pt x="3870" y="13331"/>
                    </a:lnTo>
                    <a:lnTo>
                      <a:pt x="3596" y="13183"/>
                    </a:lnTo>
                    <a:lnTo>
                      <a:pt x="3423" y="13133"/>
                    </a:lnTo>
                    <a:lnTo>
                      <a:pt x="3395" y="13027"/>
                    </a:lnTo>
                    <a:lnTo>
                      <a:pt x="3301" y="12977"/>
                    </a:lnTo>
                    <a:lnTo>
                      <a:pt x="3128" y="13027"/>
                    </a:lnTo>
                    <a:lnTo>
                      <a:pt x="3171" y="13183"/>
                    </a:lnTo>
                    <a:lnTo>
                      <a:pt x="3085" y="13232"/>
                    </a:lnTo>
                    <a:lnTo>
                      <a:pt x="2941" y="12928"/>
                    </a:lnTo>
                    <a:lnTo>
                      <a:pt x="2825" y="12961"/>
                    </a:lnTo>
                    <a:lnTo>
                      <a:pt x="2782" y="12813"/>
                    </a:lnTo>
                    <a:lnTo>
                      <a:pt x="2724" y="12813"/>
                    </a:lnTo>
                    <a:lnTo>
                      <a:pt x="2508" y="12715"/>
                    </a:lnTo>
                    <a:lnTo>
                      <a:pt x="2393" y="12731"/>
                    </a:lnTo>
                    <a:lnTo>
                      <a:pt x="2292" y="12731"/>
                    </a:lnTo>
                    <a:lnTo>
                      <a:pt x="2076" y="12830"/>
                    </a:lnTo>
                    <a:lnTo>
                      <a:pt x="2076" y="12879"/>
                    </a:lnTo>
                    <a:lnTo>
                      <a:pt x="2004" y="12928"/>
                    </a:lnTo>
                    <a:lnTo>
                      <a:pt x="1780" y="12977"/>
                    </a:lnTo>
                    <a:lnTo>
                      <a:pt x="1723" y="12830"/>
                    </a:lnTo>
                    <a:lnTo>
                      <a:pt x="1377" y="12830"/>
                    </a:lnTo>
                    <a:lnTo>
                      <a:pt x="1333" y="12780"/>
                    </a:lnTo>
                    <a:lnTo>
                      <a:pt x="1204" y="12780"/>
                    </a:lnTo>
                    <a:lnTo>
                      <a:pt x="1074" y="12780"/>
                    </a:lnTo>
                    <a:lnTo>
                      <a:pt x="959" y="12682"/>
                    </a:lnTo>
                    <a:lnTo>
                      <a:pt x="786" y="11926"/>
                    </a:lnTo>
                    <a:lnTo>
                      <a:pt x="649" y="11877"/>
                    </a:lnTo>
                    <a:lnTo>
                      <a:pt x="505" y="11877"/>
                    </a:lnTo>
                    <a:close/>
                  </a:path>
                </a:pathLst>
              </a:custGeom>
              <a:solidFill>
                <a:schemeClr val="accent5">
                  <a:lumMod val="75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0" name="Freeform 58">
                <a:extLst>
                  <a:ext uri="{FF2B5EF4-FFF2-40B4-BE49-F238E27FC236}">
                    <a16:creationId xmlns:a16="http://schemas.microsoft.com/office/drawing/2014/main" id="{AE1AF046-E4D2-24CC-4A9D-AEA524247606}"/>
                  </a:ext>
                </a:extLst>
              </p:cNvPr>
              <p:cNvSpPr>
                <a:spLocks/>
              </p:cNvSpPr>
              <p:nvPr/>
            </p:nvSpPr>
            <p:spPr bwMode="auto">
              <a:xfrm>
                <a:off x="5678488" y="5540375"/>
                <a:ext cx="130175" cy="47625"/>
              </a:xfrm>
              <a:custGeom>
                <a:avLst/>
                <a:gdLst>
                  <a:gd name="T0" fmla="*/ 68544 w 20000"/>
                  <a:gd name="T1" fmla="*/ 9011 h 20000"/>
                  <a:gd name="T2" fmla="*/ 56600 w 20000"/>
                  <a:gd name="T3" fmla="*/ 16733 h 20000"/>
                  <a:gd name="T4" fmla="*/ 30188 w 20000"/>
                  <a:gd name="T5" fmla="*/ 20595 h 20000"/>
                  <a:gd name="T6" fmla="*/ 0 w 20000"/>
                  <a:gd name="T7" fmla="*/ 38614 h 20000"/>
                  <a:gd name="T8" fmla="*/ 64144 w 20000"/>
                  <a:gd name="T9" fmla="*/ 42477 h 20000"/>
                  <a:gd name="T10" fmla="*/ 121369 w 20000"/>
                  <a:gd name="T11" fmla="*/ 47625 h 20000"/>
                  <a:gd name="T12" fmla="*/ 130175 w 20000"/>
                  <a:gd name="T13" fmla="*/ 12871 h 20000"/>
                  <a:gd name="T14" fmla="*/ 122631 w 20000"/>
                  <a:gd name="T15" fmla="*/ 3862 h 20000"/>
                  <a:gd name="T16" fmla="*/ 99987 w 20000"/>
                  <a:gd name="T17" fmla="*/ 0 h 20000"/>
                  <a:gd name="T18" fmla="*/ 68544 w 20000"/>
                  <a:gd name="T19" fmla="*/ 9011 h 20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00"/>
                  <a:gd name="T31" fmla="*/ 0 h 20000"/>
                  <a:gd name="T32" fmla="*/ 20000 w 20000"/>
                  <a:gd name="T33" fmla="*/ 20000 h 20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00" h="20000">
                    <a:moveTo>
                      <a:pt x="10531" y="3784"/>
                    </a:moveTo>
                    <a:lnTo>
                      <a:pt x="8696" y="7027"/>
                    </a:lnTo>
                    <a:lnTo>
                      <a:pt x="4638" y="8649"/>
                    </a:lnTo>
                    <a:lnTo>
                      <a:pt x="0" y="16216"/>
                    </a:lnTo>
                    <a:lnTo>
                      <a:pt x="9855" y="17838"/>
                    </a:lnTo>
                    <a:lnTo>
                      <a:pt x="18647" y="20000"/>
                    </a:lnTo>
                    <a:lnTo>
                      <a:pt x="20000" y="5405"/>
                    </a:lnTo>
                    <a:lnTo>
                      <a:pt x="18841" y="1622"/>
                    </a:lnTo>
                    <a:lnTo>
                      <a:pt x="15362" y="0"/>
                    </a:lnTo>
                    <a:lnTo>
                      <a:pt x="10531" y="3784"/>
                    </a:lnTo>
                    <a:close/>
                  </a:path>
                </a:pathLst>
              </a:custGeom>
              <a:solidFill>
                <a:schemeClr val="accent5">
                  <a:lumMod val="75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1" name="Freeform 59">
                <a:extLst>
                  <a:ext uri="{FF2B5EF4-FFF2-40B4-BE49-F238E27FC236}">
                    <a16:creationId xmlns:a16="http://schemas.microsoft.com/office/drawing/2014/main" id="{FA6026B3-A195-BC06-7A5E-C6EC4AB049A1}"/>
                  </a:ext>
                </a:extLst>
              </p:cNvPr>
              <p:cNvSpPr>
                <a:spLocks/>
              </p:cNvSpPr>
              <p:nvPr/>
            </p:nvSpPr>
            <p:spPr bwMode="auto">
              <a:xfrm>
                <a:off x="5602288" y="5551488"/>
                <a:ext cx="22225" cy="17462"/>
              </a:xfrm>
              <a:custGeom>
                <a:avLst/>
                <a:gdLst>
                  <a:gd name="T0" fmla="*/ 22225 w 20000"/>
                  <a:gd name="T1" fmla="*/ 12089 h 20000"/>
                  <a:gd name="T2" fmla="*/ 15689 w 20000"/>
                  <a:gd name="T3" fmla="*/ 17462 h 20000"/>
                  <a:gd name="T4" fmla="*/ 0 w 20000"/>
                  <a:gd name="T5" fmla="*/ 4029 h 20000"/>
                  <a:gd name="T6" fmla="*/ 11766 w 20000"/>
                  <a:gd name="T7" fmla="*/ 0 h 20000"/>
                  <a:gd name="T8" fmla="*/ 22225 w 20000"/>
                  <a:gd name="T9" fmla="*/ 12089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20000" y="13846"/>
                    </a:moveTo>
                    <a:lnTo>
                      <a:pt x="14118" y="20000"/>
                    </a:lnTo>
                    <a:lnTo>
                      <a:pt x="0" y="4615"/>
                    </a:lnTo>
                    <a:lnTo>
                      <a:pt x="10588" y="0"/>
                    </a:lnTo>
                    <a:lnTo>
                      <a:pt x="20000" y="13846"/>
                    </a:lnTo>
                    <a:close/>
                  </a:path>
                </a:pathLst>
              </a:custGeom>
              <a:solidFill>
                <a:schemeClr val="accent5">
                  <a:lumMod val="75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2" name="Freeform 60">
                <a:extLst>
                  <a:ext uri="{FF2B5EF4-FFF2-40B4-BE49-F238E27FC236}">
                    <a16:creationId xmlns:a16="http://schemas.microsoft.com/office/drawing/2014/main" id="{AA788C4E-7B59-8C80-CF56-6D65A151C6FE}"/>
                  </a:ext>
                </a:extLst>
              </p:cNvPr>
              <p:cNvSpPr>
                <a:spLocks/>
              </p:cNvSpPr>
              <p:nvPr/>
            </p:nvSpPr>
            <p:spPr bwMode="auto">
              <a:xfrm>
                <a:off x="5410200" y="5422900"/>
                <a:ext cx="26988" cy="14288"/>
              </a:xfrm>
              <a:custGeom>
                <a:avLst/>
                <a:gdLst>
                  <a:gd name="T0" fmla="*/ 26988 w 20000"/>
                  <a:gd name="T1" fmla="*/ 6495 h 20000"/>
                  <a:gd name="T2" fmla="*/ 15947 w 20000"/>
                  <a:gd name="T3" fmla="*/ 0 h 20000"/>
                  <a:gd name="T4" fmla="*/ 0 w 20000"/>
                  <a:gd name="T5" fmla="*/ 14288 h 20000"/>
                  <a:gd name="T6" fmla="*/ 26988 w 20000"/>
                  <a:gd name="T7" fmla="*/ 6495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20000" y="9091"/>
                    </a:moveTo>
                    <a:lnTo>
                      <a:pt x="11818" y="0"/>
                    </a:lnTo>
                    <a:lnTo>
                      <a:pt x="0" y="20000"/>
                    </a:lnTo>
                    <a:lnTo>
                      <a:pt x="20000" y="9091"/>
                    </a:lnTo>
                    <a:close/>
                  </a:path>
                </a:pathLst>
              </a:custGeom>
              <a:solidFill>
                <a:schemeClr val="accent5">
                  <a:lumMod val="75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3" name="Freeform 61">
                <a:extLst>
                  <a:ext uri="{FF2B5EF4-FFF2-40B4-BE49-F238E27FC236}">
                    <a16:creationId xmlns:a16="http://schemas.microsoft.com/office/drawing/2014/main" id="{36EE0DE7-05ED-E5DF-E430-6499AC6CD898}"/>
                  </a:ext>
                </a:extLst>
              </p:cNvPr>
              <p:cNvSpPr>
                <a:spLocks/>
              </p:cNvSpPr>
              <p:nvPr/>
            </p:nvSpPr>
            <p:spPr bwMode="auto">
              <a:xfrm>
                <a:off x="5656263" y="5572125"/>
                <a:ext cx="17462" cy="14288"/>
              </a:xfrm>
              <a:custGeom>
                <a:avLst/>
                <a:gdLst>
                  <a:gd name="T0" fmla="*/ 17462 w 20000"/>
                  <a:gd name="T1" fmla="*/ 10391 h 20000"/>
                  <a:gd name="T2" fmla="*/ 7483 w 20000"/>
                  <a:gd name="T3" fmla="*/ 0 h 20000"/>
                  <a:gd name="T4" fmla="*/ 0 w 20000"/>
                  <a:gd name="T5" fmla="*/ 14288 h 20000"/>
                  <a:gd name="T6" fmla="*/ 13720 w 20000"/>
                  <a:gd name="T7" fmla="*/ 14288 h 20000"/>
                  <a:gd name="T8" fmla="*/ 17462 w 20000"/>
                  <a:gd name="T9" fmla="*/ 10391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20000" y="14545"/>
                    </a:moveTo>
                    <a:lnTo>
                      <a:pt x="8571" y="0"/>
                    </a:lnTo>
                    <a:lnTo>
                      <a:pt x="0" y="20000"/>
                    </a:lnTo>
                    <a:lnTo>
                      <a:pt x="15714" y="20000"/>
                    </a:lnTo>
                    <a:lnTo>
                      <a:pt x="20000" y="14545"/>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4" name="Freeform 62">
                <a:extLst>
                  <a:ext uri="{FF2B5EF4-FFF2-40B4-BE49-F238E27FC236}">
                    <a16:creationId xmlns:a16="http://schemas.microsoft.com/office/drawing/2014/main" id="{2FE70138-4C3D-3597-596B-62EDDD8210D3}"/>
                  </a:ext>
                </a:extLst>
              </p:cNvPr>
              <p:cNvSpPr>
                <a:spLocks/>
              </p:cNvSpPr>
              <p:nvPr/>
            </p:nvSpPr>
            <p:spPr bwMode="auto">
              <a:xfrm>
                <a:off x="5854700" y="6005513"/>
                <a:ext cx="6350" cy="15875"/>
              </a:xfrm>
              <a:custGeom>
                <a:avLst/>
                <a:gdLst>
                  <a:gd name="T0" fmla="*/ 0 w 20000"/>
                  <a:gd name="T1" fmla="*/ 0 h 20000"/>
                  <a:gd name="T2" fmla="*/ 6350 w 20000"/>
                  <a:gd name="T3" fmla="*/ 10583 h 20000"/>
                  <a:gd name="T4" fmla="*/ 2540 w 20000"/>
                  <a:gd name="T5" fmla="*/ 15875 h 20000"/>
                  <a:gd name="T6" fmla="*/ 0 w 20000"/>
                  <a:gd name="T7" fmla="*/ 0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0" y="0"/>
                    </a:moveTo>
                    <a:lnTo>
                      <a:pt x="20000" y="13333"/>
                    </a:lnTo>
                    <a:lnTo>
                      <a:pt x="8000" y="20000"/>
                    </a:lnTo>
                    <a:lnTo>
                      <a:pt x="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5" name="Freeform 63">
                <a:extLst>
                  <a:ext uri="{FF2B5EF4-FFF2-40B4-BE49-F238E27FC236}">
                    <a16:creationId xmlns:a16="http://schemas.microsoft.com/office/drawing/2014/main" id="{925B65E6-FAB8-2FE8-624E-DCB34032BBBE}"/>
                  </a:ext>
                </a:extLst>
              </p:cNvPr>
              <p:cNvSpPr>
                <a:spLocks/>
              </p:cNvSpPr>
              <p:nvPr/>
            </p:nvSpPr>
            <p:spPr bwMode="auto">
              <a:xfrm>
                <a:off x="5402263" y="3543300"/>
                <a:ext cx="1770062" cy="1898650"/>
              </a:xfrm>
              <a:custGeom>
                <a:avLst/>
                <a:gdLst>
                  <a:gd name="T0" fmla="*/ 133994 w 20000"/>
                  <a:gd name="T1" fmla="*/ 79364 h 20000"/>
                  <a:gd name="T2" fmla="*/ 69209 w 20000"/>
                  <a:gd name="T3" fmla="*/ 237426 h 20000"/>
                  <a:gd name="T4" fmla="*/ 126382 w 20000"/>
                  <a:gd name="T5" fmla="*/ 352295 h 20000"/>
                  <a:gd name="T6" fmla="*/ 139038 w 20000"/>
                  <a:gd name="T7" fmla="*/ 454537 h 20000"/>
                  <a:gd name="T8" fmla="*/ 208248 w 20000"/>
                  <a:gd name="T9" fmla="*/ 562380 h 20000"/>
                  <a:gd name="T10" fmla="*/ 330736 w 20000"/>
                  <a:gd name="T11" fmla="*/ 848697 h 20000"/>
                  <a:gd name="T12" fmla="*/ 286927 w 20000"/>
                  <a:gd name="T13" fmla="*/ 1067706 h 20000"/>
                  <a:gd name="T14" fmla="*/ 326930 w 20000"/>
                  <a:gd name="T15" fmla="*/ 1155993 h 20000"/>
                  <a:gd name="T16" fmla="*/ 379059 w 20000"/>
                  <a:gd name="T17" fmla="*/ 1208681 h 20000"/>
                  <a:gd name="T18" fmla="*/ 352331 w 20000"/>
                  <a:gd name="T19" fmla="*/ 1340067 h 20000"/>
                  <a:gd name="T20" fmla="*/ 693953 w 20000"/>
                  <a:gd name="T21" fmla="*/ 1863145 h 20000"/>
                  <a:gd name="T22" fmla="*/ 796174 w 20000"/>
                  <a:gd name="T23" fmla="*/ 1893619 h 20000"/>
                  <a:gd name="T24" fmla="*/ 977694 w 20000"/>
                  <a:gd name="T25" fmla="*/ 1852987 h 20000"/>
                  <a:gd name="T26" fmla="*/ 1034867 w 20000"/>
                  <a:gd name="T27" fmla="*/ 1772295 h 20000"/>
                  <a:gd name="T28" fmla="*/ 1145938 w 20000"/>
                  <a:gd name="T29" fmla="*/ 1583759 h 20000"/>
                  <a:gd name="T30" fmla="*/ 1184083 w 20000"/>
                  <a:gd name="T31" fmla="*/ 1403482 h 20000"/>
                  <a:gd name="T32" fmla="*/ 1229131 w 20000"/>
                  <a:gd name="T33" fmla="*/ 1239059 h 20000"/>
                  <a:gd name="T34" fmla="*/ 1279932 w 20000"/>
                  <a:gd name="T35" fmla="*/ 1070269 h 20000"/>
                  <a:gd name="T36" fmla="*/ 1566859 w 20000"/>
                  <a:gd name="T37" fmla="*/ 886764 h 20000"/>
                  <a:gd name="T38" fmla="*/ 1697047 w 20000"/>
                  <a:gd name="T39" fmla="*/ 712279 h 20000"/>
                  <a:gd name="T40" fmla="*/ 1765017 w 20000"/>
                  <a:gd name="T41" fmla="*/ 564943 h 20000"/>
                  <a:gd name="T42" fmla="*/ 1320555 w 20000"/>
                  <a:gd name="T43" fmla="*/ 757941 h 20000"/>
                  <a:gd name="T44" fmla="*/ 1276126 w 20000"/>
                  <a:gd name="T45" fmla="*/ 737626 h 20000"/>
                  <a:gd name="T46" fmla="*/ 1309138 w 20000"/>
                  <a:gd name="T47" fmla="*/ 807496 h 20000"/>
                  <a:gd name="T48" fmla="*/ 1244354 w 20000"/>
                  <a:gd name="T49" fmla="*/ 850026 h 20000"/>
                  <a:gd name="T50" fmla="*/ 1191694 w 20000"/>
                  <a:gd name="T51" fmla="*/ 860183 h 20000"/>
                  <a:gd name="T52" fmla="*/ 1130716 w 20000"/>
                  <a:gd name="T53" fmla="*/ 802369 h 20000"/>
                  <a:gd name="T54" fmla="*/ 1115493 w 20000"/>
                  <a:gd name="T55" fmla="*/ 821451 h 20000"/>
                  <a:gd name="T56" fmla="*/ 1071684 w 20000"/>
                  <a:gd name="T57" fmla="*/ 818888 h 20000"/>
                  <a:gd name="T58" fmla="*/ 1060267 w 20000"/>
                  <a:gd name="T59" fmla="*/ 757941 h 20000"/>
                  <a:gd name="T60" fmla="*/ 981499 w 20000"/>
                  <a:gd name="T61" fmla="*/ 714747 h 20000"/>
                  <a:gd name="T62" fmla="*/ 939018 w 20000"/>
                  <a:gd name="T63" fmla="*/ 616397 h 20000"/>
                  <a:gd name="T64" fmla="*/ 980260 w 20000"/>
                  <a:gd name="T65" fmla="*/ 592284 h 20000"/>
                  <a:gd name="T66" fmla="*/ 1071684 w 20000"/>
                  <a:gd name="T67" fmla="*/ 584594 h 20000"/>
                  <a:gd name="T68" fmla="*/ 1138327 w 20000"/>
                  <a:gd name="T69" fmla="*/ 538267 h 20000"/>
                  <a:gd name="T70" fmla="*/ 1152310 w 20000"/>
                  <a:gd name="T71" fmla="*/ 469726 h 20000"/>
                  <a:gd name="T72" fmla="*/ 1121865 w 20000"/>
                  <a:gd name="T73" fmla="*/ 450740 h 20000"/>
                  <a:gd name="T74" fmla="*/ 1081242 w 20000"/>
                  <a:gd name="T75" fmla="*/ 390362 h 20000"/>
                  <a:gd name="T76" fmla="*/ 1056462 w 20000"/>
                  <a:gd name="T77" fmla="*/ 358655 h 20000"/>
                  <a:gd name="T78" fmla="*/ 1003094 w 20000"/>
                  <a:gd name="T79" fmla="*/ 266570 h 20000"/>
                  <a:gd name="T80" fmla="*/ 922468 w 20000"/>
                  <a:gd name="T81" fmla="*/ 175815 h 20000"/>
                  <a:gd name="T82" fmla="*/ 904679 w 20000"/>
                  <a:gd name="T83" fmla="*/ 117432 h 20000"/>
                  <a:gd name="T84" fmla="*/ 872995 w 20000"/>
                  <a:gd name="T85" fmla="*/ 121229 h 20000"/>
                  <a:gd name="T86" fmla="*/ 797413 w 20000"/>
                  <a:gd name="T87" fmla="*/ 59713 h 20000"/>
                  <a:gd name="T88" fmla="*/ 759357 w 20000"/>
                  <a:gd name="T89" fmla="*/ 3797 h 20000"/>
                  <a:gd name="T90" fmla="*/ 766968 w 20000"/>
                  <a:gd name="T91" fmla="*/ 73003 h 20000"/>
                  <a:gd name="T92" fmla="*/ 796174 w 20000"/>
                  <a:gd name="T93" fmla="*/ 164423 h 20000"/>
                  <a:gd name="T94" fmla="*/ 782190 w 20000"/>
                  <a:gd name="T95" fmla="*/ 247584 h 20000"/>
                  <a:gd name="T96" fmla="*/ 728823 w 20000"/>
                  <a:gd name="T97" fmla="*/ 281855 h 20000"/>
                  <a:gd name="T98" fmla="*/ 608813 w 20000"/>
                  <a:gd name="T99" fmla="*/ 274260 h 20000"/>
                  <a:gd name="T100" fmla="*/ 562526 w 20000"/>
                  <a:gd name="T101" fmla="*/ 201826 h 20000"/>
                  <a:gd name="T102" fmla="*/ 512964 w 20000"/>
                  <a:gd name="T103" fmla="*/ 117432 h 20000"/>
                  <a:gd name="T104" fmla="*/ 445702 w 20000"/>
                  <a:gd name="T105" fmla="*/ 88192 h 20000"/>
                  <a:gd name="T106" fmla="*/ 340914 w 20000"/>
                  <a:gd name="T107" fmla="*/ 60947 h 20000"/>
                  <a:gd name="T108" fmla="*/ 233648 w 20000"/>
                  <a:gd name="T109" fmla="*/ 21550 h 200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000"/>
                  <a:gd name="T166" fmla="*/ 0 h 20000"/>
                  <a:gd name="T167" fmla="*/ 20000 w 20000"/>
                  <a:gd name="T168" fmla="*/ 20000 h 200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000" h="20000">
                    <a:moveTo>
                      <a:pt x="2425" y="187"/>
                    </a:moveTo>
                    <a:lnTo>
                      <a:pt x="2267" y="428"/>
                    </a:lnTo>
                    <a:lnTo>
                      <a:pt x="2209" y="508"/>
                    </a:lnTo>
                    <a:lnTo>
                      <a:pt x="2001" y="715"/>
                    </a:lnTo>
                    <a:lnTo>
                      <a:pt x="1729" y="729"/>
                    </a:lnTo>
                    <a:lnTo>
                      <a:pt x="1514" y="836"/>
                    </a:lnTo>
                    <a:lnTo>
                      <a:pt x="1098" y="809"/>
                    </a:lnTo>
                    <a:lnTo>
                      <a:pt x="316" y="876"/>
                    </a:lnTo>
                    <a:lnTo>
                      <a:pt x="0" y="1291"/>
                    </a:lnTo>
                    <a:lnTo>
                      <a:pt x="273" y="2006"/>
                    </a:lnTo>
                    <a:lnTo>
                      <a:pt x="646" y="2247"/>
                    </a:lnTo>
                    <a:lnTo>
                      <a:pt x="782" y="2501"/>
                    </a:lnTo>
                    <a:lnTo>
                      <a:pt x="753" y="2742"/>
                    </a:lnTo>
                    <a:lnTo>
                      <a:pt x="689" y="3089"/>
                    </a:lnTo>
                    <a:lnTo>
                      <a:pt x="968" y="3170"/>
                    </a:lnTo>
                    <a:lnTo>
                      <a:pt x="1141" y="3430"/>
                    </a:lnTo>
                    <a:lnTo>
                      <a:pt x="1227" y="3470"/>
                    </a:lnTo>
                    <a:lnTo>
                      <a:pt x="1428" y="3711"/>
                    </a:lnTo>
                    <a:lnTo>
                      <a:pt x="1399" y="3791"/>
                    </a:lnTo>
                    <a:lnTo>
                      <a:pt x="1442" y="4259"/>
                    </a:lnTo>
                    <a:lnTo>
                      <a:pt x="1528" y="4380"/>
                    </a:lnTo>
                    <a:lnTo>
                      <a:pt x="1514" y="4554"/>
                    </a:lnTo>
                    <a:lnTo>
                      <a:pt x="1514" y="4621"/>
                    </a:lnTo>
                    <a:lnTo>
                      <a:pt x="1571" y="4788"/>
                    </a:lnTo>
                    <a:lnTo>
                      <a:pt x="1471" y="5042"/>
                    </a:lnTo>
                    <a:lnTo>
                      <a:pt x="1485" y="5202"/>
                    </a:lnTo>
                    <a:lnTo>
                      <a:pt x="1399" y="5390"/>
                    </a:lnTo>
                    <a:lnTo>
                      <a:pt x="1471" y="5603"/>
                    </a:lnTo>
                    <a:lnTo>
                      <a:pt x="1643" y="5724"/>
                    </a:lnTo>
                    <a:lnTo>
                      <a:pt x="2353" y="5924"/>
                    </a:lnTo>
                    <a:lnTo>
                      <a:pt x="2611" y="6051"/>
                    </a:lnTo>
                    <a:lnTo>
                      <a:pt x="3242" y="6600"/>
                    </a:lnTo>
                    <a:lnTo>
                      <a:pt x="3737" y="7462"/>
                    </a:lnTo>
                    <a:lnTo>
                      <a:pt x="3910" y="8051"/>
                    </a:lnTo>
                    <a:lnTo>
                      <a:pt x="3766" y="8740"/>
                    </a:lnTo>
                    <a:lnTo>
                      <a:pt x="3737" y="8940"/>
                    </a:lnTo>
                    <a:lnTo>
                      <a:pt x="3329" y="9622"/>
                    </a:lnTo>
                    <a:lnTo>
                      <a:pt x="2425" y="10552"/>
                    </a:lnTo>
                    <a:lnTo>
                      <a:pt x="2597" y="10592"/>
                    </a:lnTo>
                    <a:lnTo>
                      <a:pt x="2898" y="10993"/>
                    </a:lnTo>
                    <a:lnTo>
                      <a:pt x="3214" y="11113"/>
                    </a:lnTo>
                    <a:lnTo>
                      <a:pt x="3242" y="11247"/>
                    </a:lnTo>
                    <a:lnTo>
                      <a:pt x="3300" y="11314"/>
                    </a:lnTo>
                    <a:lnTo>
                      <a:pt x="3372" y="11481"/>
                    </a:lnTo>
                    <a:lnTo>
                      <a:pt x="3386" y="11601"/>
                    </a:lnTo>
                    <a:lnTo>
                      <a:pt x="3386" y="11695"/>
                    </a:lnTo>
                    <a:lnTo>
                      <a:pt x="3501" y="11735"/>
                    </a:lnTo>
                    <a:lnTo>
                      <a:pt x="3694" y="12177"/>
                    </a:lnTo>
                    <a:lnTo>
                      <a:pt x="3824" y="12284"/>
                    </a:lnTo>
                    <a:lnTo>
                      <a:pt x="3953" y="12417"/>
                    </a:lnTo>
                    <a:lnTo>
                      <a:pt x="3938" y="12497"/>
                    </a:lnTo>
                    <a:lnTo>
                      <a:pt x="3996" y="12604"/>
                    </a:lnTo>
                    <a:lnTo>
                      <a:pt x="4082" y="12705"/>
                    </a:lnTo>
                    <a:lnTo>
                      <a:pt x="4283" y="12732"/>
                    </a:lnTo>
                    <a:lnTo>
                      <a:pt x="4369" y="13012"/>
                    </a:lnTo>
                    <a:lnTo>
                      <a:pt x="4254" y="13454"/>
                    </a:lnTo>
                    <a:lnTo>
                      <a:pt x="4211" y="13668"/>
                    </a:lnTo>
                    <a:lnTo>
                      <a:pt x="4110" y="13815"/>
                    </a:lnTo>
                    <a:lnTo>
                      <a:pt x="3910" y="13935"/>
                    </a:lnTo>
                    <a:lnTo>
                      <a:pt x="3981" y="14116"/>
                    </a:lnTo>
                    <a:lnTo>
                      <a:pt x="5667" y="18736"/>
                    </a:lnTo>
                    <a:lnTo>
                      <a:pt x="5882" y="18910"/>
                    </a:lnTo>
                    <a:lnTo>
                      <a:pt x="5925" y="19071"/>
                    </a:lnTo>
                    <a:lnTo>
                      <a:pt x="6449" y="19478"/>
                    </a:lnTo>
                    <a:lnTo>
                      <a:pt x="6879" y="19746"/>
                    </a:lnTo>
                    <a:lnTo>
                      <a:pt x="7841" y="19626"/>
                    </a:lnTo>
                    <a:lnTo>
                      <a:pt x="8278" y="19666"/>
                    </a:lnTo>
                    <a:lnTo>
                      <a:pt x="8321" y="19746"/>
                    </a:lnTo>
                    <a:lnTo>
                      <a:pt x="8651" y="19840"/>
                    </a:lnTo>
                    <a:lnTo>
                      <a:pt x="8651" y="19719"/>
                    </a:lnTo>
                    <a:lnTo>
                      <a:pt x="8709" y="19666"/>
                    </a:lnTo>
                    <a:lnTo>
                      <a:pt x="8996" y="19947"/>
                    </a:lnTo>
                    <a:lnTo>
                      <a:pt x="9347" y="20000"/>
                    </a:lnTo>
                    <a:lnTo>
                      <a:pt x="9448" y="19866"/>
                    </a:lnTo>
                    <a:lnTo>
                      <a:pt x="9864" y="19906"/>
                    </a:lnTo>
                    <a:lnTo>
                      <a:pt x="10466" y="19311"/>
                    </a:lnTo>
                    <a:lnTo>
                      <a:pt x="10990" y="19191"/>
                    </a:lnTo>
                    <a:lnTo>
                      <a:pt x="11047" y="19519"/>
                    </a:lnTo>
                    <a:lnTo>
                      <a:pt x="11220" y="19585"/>
                    </a:lnTo>
                    <a:lnTo>
                      <a:pt x="11521" y="19258"/>
                    </a:lnTo>
                    <a:lnTo>
                      <a:pt x="11420" y="19231"/>
                    </a:lnTo>
                    <a:lnTo>
                      <a:pt x="11392" y="19137"/>
                    </a:lnTo>
                    <a:lnTo>
                      <a:pt x="11521" y="19030"/>
                    </a:lnTo>
                    <a:lnTo>
                      <a:pt x="11693" y="18669"/>
                    </a:lnTo>
                    <a:lnTo>
                      <a:pt x="11736" y="18175"/>
                    </a:lnTo>
                    <a:lnTo>
                      <a:pt x="12023" y="17820"/>
                    </a:lnTo>
                    <a:lnTo>
                      <a:pt x="12288" y="17406"/>
                    </a:lnTo>
                    <a:lnTo>
                      <a:pt x="12475" y="17085"/>
                    </a:lnTo>
                    <a:lnTo>
                      <a:pt x="12633" y="17058"/>
                    </a:lnTo>
                    <a:lnTo>
                      <a:pt x="12948" y="16683"/>
                    </a:lnTo>
                    <a:lnTo>
                      <a:pt x="13164" y="16249"/>
                    </a:lnTo>
                    <a:lnTo>
                      <a:pt x="13192" y="15794"/>
                    </a:lnTo>
                    <a:lnTo>
                      <a:pt x="13278" y="15767"/>
                    </a:lnTo>
                    <a:lnTo>
                      <a:pt x="13321" y="15486"/>
                    </a:lnTo>
                    <a:lnTo>
                      <a:pt x="13407" y="15266"/>
                    </a:lnTo>
                    <a:lnTo>
                      <a:pt x="13379" y="14784"/>
                    </a:lnTo>
                    <a:lnTo>
                      <a:pt x="13537" y="14035"/>
                    </a:lnTo>
                    <a:lnTo>
                      <a:pt x="13508" y="13855"/>
                    </a:lnTo>
                    <a:lnTo>
                      <a:pt x="13716" y="13494"/>
                    </a:lnTo>
                    <a:lnTo>
                      <a:pt x="13673" y="13293"/>
                    </a:lnTo>
                    <a:lnTo>
                      <a:pt x="13902" y="13133"/>
                    </a:lnTo>
                    <a:lnTo>
                      <a:pt x="13888" y="13052"/>
                    </a:lnTo>
                    <a:lnTo>
                      <a:pt x="13931" y="12892"/>
                    </a:lnTo>
                    <a:lnTo>
                      <a:pt x="14419" y="12538"/>
                    </a:lnTo>
                    <a:lnTo>
                      <a:pt x="14290" y="11856"/>
                    </a:lnTo>
                    <a:lnTo>
                      <a:pt x="14290" y="11682"/>
                    </a:lnTo>
                    <a:lnTo>
                      <a:pt x="14534" y="11314"/>
                    </a:lnTo>
                    <a:lnTo>
                      <a:pt x="14462" y="11274"/>
                    </a:lnTo>
                    <a:lnTo>
                      <a:pt x="14548" y="11207"/>
                    </a:lnTo>
                    <a:lnTo>
                      <a:pt x="14806" y="11006"/>
                    </a:lnTo>
                    <a:lnTo>
                      <a:pt x="16148" y="10231"/>
                    </a:lnTo>
                    <a:lnTo>
                      <a:pt x="16528" y="10030"/>
                    </a:lnTo>
                    <a:lnTo>
                      <a:pt x="16844" y="9783"/>
                    </a:lnTo>
                    <a:lnTo>
                      <a:pt x="17704" y="9341"/>
                    </a:lnTo>
                    <a:lnTo>
                      <a:pt x="17912" y="9355"/>
                    </a:lnTo>
                    <a:lnTo>
                      <a:pt x="18042" y="9234"/>
                    </a:lnTo>
                    <a:lnTo>
                      <a:pt x="18816" y="8586"/>
                    </a:lnTo>
                    <a:lnTo>
                      <a:pt x="19075" y="8305"/>
                    </a:lnTo>
                    <a:lnTo>
                      <a:pt x="19032" y="8171"/>
                    </a:lnTo>
                    <a:lnTo>
                      <a:pt x="19175" y="7503"/>
                    </a:lnTo>
                    <a:lnTo>
                      <a:pt x="19261" y="7462"/>
                    </a:lnTo>
                    <a:lnTo>
                      <a:pt x="19204" y="7242"/>
                    </a:lnTo>
                    <a:lnTo>
                      <a:pt x="19218" y="6653"/>
                    </a:lnTo>
                    <a:lnTo>
                      <a:pt x="19340" y="6613"/>
                    </a:lnTo>
                    <a:lnTo>
                      <a:pt x="19857" y="5911"/>
                    </a:lnTo>
                    <a:lnTo>
                      <a:pt x="19943" y="5951"/>
                    </a:lnTo>
                    <a:lnTo>
                      <a:pt x="20000" y="5884"/>
                    </a:lnTo>
                    <a:lnTo>
                      <a:pt x="19527" y="5349"/>
                    </a:lnTo>
                    <a:lnTo>
                      <a:pt x="15143" y="8305"/>
                    </a:lnTo>
                    <a:lnTo>
                      <a:pt x="15057" y="8225"/>
                    </a:lnTo>
                    <a:lnTo>
                      <a:pt x="15187" y="8211"/>
                    </a:lnTo>
                    <a:lnTo>
                      <a:pt x="14921" y="7984"/>
                    </a:lnTo>
                    <a:lnTo>
                      <a:pt x="14706" y="8011"/>
                    </a:lnTo>
                    <a:lnTo>
                      <a:pt x="14577" y="7823"/>
                    </a:lnTo>
                    <a:lnTo>
                      <a:pt x="14921" y="7503"/>
                    </a:lnTo>
                    <a:lnTo>
                      <a:pt x="14677" y="7369"/>
                    </a:lnTo>
                    <a:lnTo>
                      <a:pt x="14462" y="7623"/>
                    </a:lnTo>
                    <a:lnTo>
                      <a:pt x="14419" y="7770"/>
                    </a:lnTo>
                    <a:lnTo>
                      <a:pt x="14505" y="7904"/>
                    </a:lnTo>
                    <a:lnTo>
                      <a:pt x="14677" y="8171"/>
                    </a:lnTo>
                    <a:lnTo>
                      <a:pt x="14792" y="8305"/>
                    </a:lnTo>
                    <a:lnTo>
                      <a:pt x="14749" y="8332"/>
                    </a:lnTo>
                    <a:lnTo>
                      <a:pt x="14835" y="8492"/>
                    </a:lnTo>
                    <a:lnTo>
                      <a:pt x="14792" y="8506"/>
                    </a:lnTo>
                    <a:lnTo>
                      <a:pt x="14978" y="8753"/>
                    </a:lnTo>
                    <a:lnTo>
                      <a:pt x="14921" y="9020"/>
                    </a:lnTo>
                    <a:lnTo>
                      <a:pt x="14720" y="8954"/>
                    </a:lnTo>
                    <a:lnTo>
                      <a:pt x="14362" y="9101"/>
                    </a:lnTo>
                    <a:lnTo>
                      <a:pt x="14204" y="9074"/>
                    </a:lnTo>
                    <a:lnTo>
                      <a:pt x="14060" y="8954"/>
                    </a:lnTo>
                    <a:lnTo>
                      <a:pt x="13931" y="8873"/>
                    </a:lnTo>
                    <a:lnTo>
                      <a:pt x="13888" y="9020"/>
                    </a:lnTo>
                    <a:lnTo>
                      <a:pt x="13730" y="8980"/>
                    </a:lnTo>
                    <a:lnTo>
                      <a:pt x="13630" y="9114"/>
                    </a:lnTo>
                    <a:lnTo>
                      <a:pt x="13508" y="9114"/>
                    </a:lnTo>
                    <a:lnTo>
                      <a:pt x="13465" y="9061"/>
                    </a:lnTo>
                    <a:lnTo>
                      <a:pt x="13250" y="8980"/>
                    </a:lnTo>
                    <a:lnTo>
                      <a:pt x="13321" y="9181"/>
                    </a:lnTo>
                    <a:lnTo>
                      <a:pt x="13077" y="9034"/>
                    </a:lnTo>
                    <a:lnTo>
                      <a:pt x="13106" y="8954"/>
                    </a:lnTo>
                    <a:lnTo>
                      <a:pt x="12905" y="8673"/>
                    </a:lnTo>
                    <a:lnTo>
                      <a:pt x="12776" y="8452"/>
                    </a:lnTo>
                    <a:lnTo>
                      <a:pt x="12891" y="8425"/>
                    </a:lnTo>
                    <a:lnTo>
                      <a:pt x="12848" y="8345"/>
                    </a:lnTo>
                    <a:lnTo>
                      <a:pt x="12604" y="8265"/>
                    </a:lnTo>
                    <a:lnTo>
                      <a:pt x="12604" y="8425"/>
                    </a:lnTo>
                    <a:lnTo>
                      <a:pt x="12633" y="8572"/>
                    </a:lnTo>
                    <a:lnTo>
                      <a:pt x="12604" y="8653"/>
                    </a:lnTo>
                    <a:lnTo>
                      <a:pt x="12647" y="8740"/>
                    </a:lnTo>
                    <a:lnTo>
                      <a:pt x="12604" y="8793"/>
                    </a:lnTo>
                    <a:lnTo>
                      <a:pt x="12432" y="8793"/>
                    </a:lnTo>
                    <a:lnTo>
                      <a:pt x="12346" y="8713"/>
                    </a:lnTo>
                    <a:lnTo>
                      <a:pt x="12159" y="8780"/>
                    </a:lnTo>
                    <a:lnTo>
                      <a:pt x="12109" y="8626"/>
                    </a:lnTo>
                    <a:lnTo>
                      <a:pt x="11951" y="8572"/>
                    </a:lnTo>
                    <a:lnTo>
                      <a:pt x="11980" y="8425"/>
                    </a:lnTo>
                    <a:lnTo>
                      <a:pt x="12217" y="8452"/>
                    </a:lnTo>
                    <a:lnTo>
                      <a:pt x="12066" y="8185"/>
                    </a:lnTo>
                    <a:lnTo>
                      <a:pt x="12080" y="8051"/>
                    </a:lnTo>
                    <a:lnTo>
                      <a:pt x="11980" y="7984"/>
                    </a:lnTo>
                    <a:lnTo>
                      <a:pt x="11779" y="8024"/>
                    </a:lnTo>
                    <a:lnTo>
                      <a:pt x="11377" y="7930"/>
                    </a:lnTo>
                    <a:lnTo>
                      <a:pt x="11420" y="7823"/>
                    </a:lnTo>
                    <a:lnTo>
                      <a:pt x="11119" y="7743"/>
                    </a:lnTo>
                    <a:lnTo>
                      <a:pt x="11047" y="7623"/>
                    </a:lnTo>
                    <a:lnTo>
                      <a:pt x="11090" y="7529"/>
                    </a:lnTo>
                    <a:lnTo>
                      <a:pt x="10861" y="7295"/>
                    </a:lnTo>
                    <a:lnTo>
                      <a:pt x="10947" y="7135"/>
                    </a:lnTo>
                    <a:lnTo>
                      <a:pt x="10947" y="7054"/>
                    </a:lnTo>
                    <a:lnTo>
                      <a:pt x="11090" y="6974"/>
                    </a:lnTo>
                    <a:lnTo>
                      <a:pt x="11133" y="6774"/>
                    </a:lnTo>
                    <a:lnTo>
                      <a:pt x="10610" y="6493"/>
                    </a:lnTo>
                    <a:lnTo>
                      <a:pt x="10775" y="6453"/>
                    </a:lnTo>
                    <a:lnTo>
                      <a:pt x="11334" y="6573"/>
                    </a:lnTo>
                    <a:lnTo>
                      <a:pt x="11334" y="6493"/>
                    </a:lnTo>
                    <a:lnTo>
                      <a:pt x="11162" y="6332"/>
                    </a:lnTo>
                    <a:lnTo>
                      <a:pt x="11205" y="6292"/>
                    </a:lnTo>
                    <a:lnTo>
                      <a:pt x="11076" y="6239"/>
                    </a:lnTo>
                    <a:lnTo>
                      <a:pt x="11004" y="6092"/>
                    </a:lnTo>
                    <a:lnTo>
                      <a:pt x="10861" y="5965"/>
                    </a:lnTo>
                    <a:lnTo>
                      <a:pt x="11435" y="6132"/>
                    </a:lnTo>
                    <a:lnTo>
                      <a:pt x="11693" y="6092"/>
                    </a:lnTo>
                    <a:lnTo>
                      <a:pt x="11980" y="6212"/>
                    </a:lnTo>
                    <a:lnTo>
                      <a:pt x="12109" y="6158"/>
                    </a:lnTo>
                    <a:lnTo>
                      <a:pt x="12066" y="6051"/>
                    </a:lnTo>
                    <a:lnTo>
                      <a:pt x="12202" y="5764"/>
                    </a:lnTo>
                    <a:lnTo>
                      <a:pt x="12461" y="5791"/>
                    </a:lnTo>
                    <a:lnTo>
                      <a:pt x="12604" y="5871"/>
                    </a:lnTo>
                    <a:lnTo>
                      <a:pt x="12733" y="5724"/>
                    </a:lnTo>
                    <a:lnTo>
                      <a:pt x="12862" y="5670"/>
                    </a:lnTo>
                    <a:lnTo>
                      <a:pt x="13164" y="5724"/>
                    </a:lnTo>
                    <a:lnTo>
                      <a:pt x="13293" y="5550"/>
                    </a:lnTo>
                    <a:lnTo>
                      <a:pt x="13106" y="5470"/>
                    </a:lnTo>
                    <a:lnTo>
                      <a:pt x="13063" y="5283"/>
                    </a:lnTo>
                    <a:lnTo>
                      <a:pt x="13207" y="5229"/>
                    </a:lnTo>
                    <a:lnTo>
                      <a:pt x="13020" y="4948"/>
                    </a:lnTo>
                    <a:lnTo>
                      <a:pt x="13063" y="4828"/>
                    </a:lnTo>
                    <a:lnTo>
                      <a:pt x="12891" y="4921"/>
                    </a:lnTo>
                    <a:lnTo>
                      <a:pt x="12905" y="4828"/>
                    </a:lnTo>
                    <a:lnTo>
                      <a:pt x="13034" y="4681"/>
                    </a:lnTo>
                    <a:lnTo>
                      <a:pt x="12905" y="4681"/>
                    </a:lnTo>
                    <a:lnTo>
                      <a:pt x="12676" y="4748"/>
                    </a:lnTo>
                    <a:lnTo>
                      <a:pt x="12647" y="4554"/>
                    </a:lnTo>
                    <a:lnTo>
                      <a:pt x="12547" y="4473"/>
                    </a:lnTo>
                    <a:lnTo>
                      <a:pt x="12504" y="4393"/>
                    </a:lnTo>
                    <a:lnTo>
                      <a:pt x="12331" y="4313"/>
                    </a:lnTo>
                    <a:lnTo>
                      <a:pt x="12504" y="4032"/>
                    </a:lnTo>
                    <a:lnTo>
                      <a:pt x="12217" y="4112"/>
                    </a:lnTo>
                    <a:lnTo>
                      <a:pt x="12080" y="4219"/>
                    </a:lnTo>
                    <a:lnTo>
                      <a:pt x="12080" y="4059"/>
                    </a:lnTo>
                    <a:lnTo>
                      <a:pt x="12023" y="3979"/>
                    </a:lnTo>
                    <a:lnTo>
                      <a:pt x="11851" y="4019"/>
                    </a:lnTo>
                    <a:lnTo>
                      <a:pt x="11765" y="3872"/>
                    </a:lnTo>
                    <a:lnTo>
                      <a:pt x="11937" y="3778"/>
                    </a:lnTo>
                    <a:lnTo>
                      <a:pt x="11636" y="3631"/>
                    </a:lnTo>
                    <a:lnTo>
                      <a:pt x="11564" y="3511"/>
                    </a:lnTo>
                    <a:lnTo>
                      <a:pt x="11607" y="3337"/>
                    </a:lnTo>
                    <a:lnTo>
                      <a:pt x="11506" y="3089"/>
                    </a:lnTo>
                    <a:lnTo>
                      <a:pt x="11377" y="2969"/>
                    </a:lnTo>
                    <a:lnTo>
                      <a:pt x="11334" y="2808"/>
                    </a:lnTo>
                    <a:lnTo>
                      <a:pt x="11205" y="2501"/>
                    </a:lnTo>
                    <a:lnTo>
                      <a:pt x="10861" y="2447"/>
                    </a:lnTo>
                    <a:lnTo>
                      <a:pt x="10552" y="2260"/>
                    </a:lnTo>
                    <a:lnTo>
                      <a:pt x="10438" y="2287"/>
                    </a:lnTo>
                    <a:lnTo>
                      <a:pt x="10380" y="2126"/>
                    </a:lnTo>
                    <a:lnTo>
                      <a:pt x="10423" y="1852"/>
                    </a:lnTo>
                    <a:lnTo>
                      <a:pt x="10481" y="1638"/>
                    </a:lnTo>
                    <a:lnTo>
                      <a:pt x="10380" y="1612"/>
                    </a:lnTo>
                    <a:lnTo>
                      <a:pt x="10265" y="1652"/>
                    </a:lnTo>
                    <a:lnTo>
                      <a:pt x="10265" y="1491"/>
                    </a:lnTo>
                    <a:lnTo>
                      <a:pt x="10481" y="1250"/>
                    </a:lnTo>
                    <a:lnTo>
                      <a:pt x="10222" y="1237"/>
                    </a:lnTo>
                    <a:lnTo>
                      <a:pt x="10122" y="1491"/>
                    </a:lnTo>
                    <a:lnTo>
                      <a:pt x="9993" y="1411"/>
                    </a:lnTo>
                    <a:lnTo>
                      <a:pt x="9778" y="1478"/>
                    </a:lnTo>
                    <a:lnTo>
                      <a:pt x="9620" y="1558"/>
                    </a:lnTo>
                    <a:lnTo>
                      <a:pt x="9534" y="1411"/>
                    </a:lnTo>
                    <a:lnTo>
                      <a:pt x="9864" y="1277"/>
                    </a:lnTo>
                    <a:lnTo>
                      <a:pt x="9735" y="1237"/>
                    </a:lnTo>
                    <a:lnTo>
                      <a:pt x="9476" y="970"/>
                    </a:lnTo>
                    <a:lnTo>
                      <a:pt x="9347" y="929"/>
                    </a:lnTo>
                    <a:lnTo>
                      <a:pt x="9125" y="889"/>
                    </a:lnTo>
                    <a:lnTo>
                      <a:pt x="9082" y="756"/>
                    </a:lnTo>
                    <a:lnTo>
                      <a:pt x="9010" y="629"/>
                    </a:lnTo>
                    <a:lnTo>
                      <a:pt x="9010" y="468"/>
                    </a:lnTo>
                    <a:lnTo>
                      <a:pt x="8795" y="388"/>
                    </a:lnTo>
                    <a:lnTo>
                      <a:pt x="8881" y="201"/>
                    </a:lnTo>
                    <a:lnTo>
                      <a:pt x="8666" y="187"/>
                    </a:lnTo>
                    <a:lnTo>
                      <a:pt x="8795" y="0"/>
                    </a:lnTo>
                    <a:lnTo>
                      <a:pt x="8580" y="40"/>
                    </a:lnTo>
                    <a:lnTo>
                      <a:pt x="8694" y="428"/>
                    </a:lnTo>
                    <a:lnTo>
                      <a:pt x="8752" y="548"/>
                    </a:lnTo>
                    <a:lnTo>
                      <a:pt x="8737" y="588"/>
                    </a:lnTo>
                    <a:lnTo>
                      <a:pt x="8780" y="675"/>
                    </a:lnTo>
                    <a:lnTo>
                      <a:pt x="8737" y="715"/>
                    </a:lnTo>
                    <a:lnTo>
                      <a:pt x="8666" y="769"/>
                    </a:lnTo>
                    <a:lnTo>
                      <a:pt x="8666" y="956"/>
                    </a:lnTo>
                    <a:lnTo>
                      <a:pt x="8910" y="1090"/>
                    </a:lnTo>
                    <a:lnTo>
                      <a:pt x="8867" y="1197"/>
                    </a:lnTo>
                    <a:lnTo>
                      <a:pt x="8867" y="1291"/>
                    </a:lnTo>
                    <a:lnTo>
                      <a:pt x="8867" y="1478"/>
                    </a:lnTo>
                    <a:lnTo>
                      <a:pt x="8996" y="1732"/>
                    </a:lnTo>
                    <a:lnTo>
                      <a:pt x="9039" y="1732"/>
                    </a:lnTo>
                    <a:lnTo>
                      <a:pt x="8953" y="1932"/>
                    </a:lnTo>
                    <a:lnTo>
                      <a:pt x="8953" y="2046"/>
                    </a:lnTo>
                    <a:lnTo>
                      <a:pt x="8752" y="2140"/>
                    </a:lnTo>
                    <a:lnTo>
                      <a:pt x="8780" y="2300"/>
                    </a:lnTo>
                    <a:lnTo>
                      <a:pt x="8838" y="2608"/>
                    </a:lnTo>
                    <a:lnTo>
                      <a:pt x="8666" y="2701"/>
                    </a:lnTo>
                    <a:lnTo>
                      <a:pt x="8666" y="2862"/>
                    </a:lnTo>
                    <a:lnTo>
                      <a:pt x="8623" y="2889"/>
                    </a:lnTo>
                    <a:lnTo>
                      <a:pt x="8479" y="3223"/>
                    </a:lnTo>
                    <a:lnTo>
                      <a:pt x="8364" y="3143"/>
                    </a:lnTo>
                    <a:lnTo>
                      <a:pt x="8235" y="2969"/>
                    </a:lnTo>
                    <a:lnTo>
                      <a:pt x="8135" y="2929"/>
                    </a:lnTo>
                    <a:lnTo>
                      <a:pt x="8006" y="2929"/>
                    </a:lnTo>
                    <a:lnTo>
                      <a:pt x="7611" y="2782"/>
                    </a:lnTo>
                    <a:lnTo>
                      <a:pt x="7310" y="2822"/>
                    </a:lnTo>
                    <a:lnTo>
                      <a:pt x="6980" y="3022"/>
                    </a:lnTo>
                    <a:lnTo>
                      <a:pt x="6879" y="2889"/>
                    </a:lnTo>
                    <a:lnTo>
                      <a:pt x="6851" y="2648"/>
                    </a:lnTo>
                    <a:lnTo>
                      <a:pt x="6793" y="2487"/>
                    </a:lnTo>
                    <a:lnTo>
                      <a:pt x="6578" y="2541"/>
                    </a:lnTo>
                    <a:lnTo>
                      <a:pt x="6413" y="2407"/>
                    </a:lnTo>
                    <a:lnTo>
                      <a:pt x="6449" y="2180"/>
                    </a:lnTo>
                    <a:lnTo>
                      <a:pt x="6356" y="2126"/>
                    </a:lnTo>
                    <a:lnTo>
                      <a:pt x="6284" y="1973"/>
                    </a:lnTo>
                    <a:lnTo>
                      <a:pt x="6155" y="1973"/>
                    </a:lnTo>
                    <a:lnTo>
                      <a:pt x="6069" y="1919"/>
                    </a:lnTo>
                    <a:lnTo>
                      <a:pt x="6098" y="1692"/>
                    </a:lnTo>
                    <a:lnTo>
                      <a:pt x="5753" y="1331"/>
                    </a:lnTo>
                    <a:lnTo>
                      <a:pt x="5796" y="1237"/>
                    </a:lnTo>
                    <a:lnTo>
                      <a:pt x="5710" y="1157"/>
                    </a:lnTo>
                    <a:lnTo>
                      <a:pt x="5811" y="929"/>
                    </a:lnTo>
                    <a:lnTo>
                      <a:pt x="5581" y="675"/>
                    </a:lnTo>
                    <a:lnTo>
                      <a:pt x="5495" y="715"/>
                    </a:lnTo>
                    <a:lnTo>
                      <a:pt x="5194" y="809"/>
                    </a:lnTo>
                    <a:lnTo>
                      <a:pt x="5036" y="929"/>
                    </a:lnTo>
                    <a:lnTo>
                      <a:pt x="4928" y="996"/>
                    </a:lnTo>
                    <a:lnTo>
                      <a:pt x="4426" y="1077"/>
                    </a:lnTo>
                    <a:lnTo>
                      <a:pt x="4197" y="996"/>
                    </a:lnTo>
                    <a:lnTo>
                      <a:pt x="4197" y="876"/>
                    </a:lnTo>
                    <a:lnTo>
                      <a:pt x="4110" y="629"/>
                    </a:lnTo>
                    <a:lnTo>
                      <a:pt x="3852" y="642"/>
                    </a:lnTo>
                    <a:lnTo>
                      <a:pt x="3694" y="562"/>
                    </a:lnTo>
                    <a:lnTo>
                      <a:pt x="3329" y="508"/>
                    </a:lnTo>
                    <a:lnTo>
                      <a:pt x="3286" y="388"/>
                    </a:lnTo>
                    <a:lnTo>
                      <a:pt x="3128" y="321"/>
                    </a:lnTo>
                    <a:lnTo>
                      <a:pt x="2999" y="361"/>
                    </a:lnTo>
                    <a:lnTo>
                      <a:pt x="2640" y="227"/>
                    </a:lnTo>
                    <a:lnTo>
                      <a:pt x="2425" y="187"/>
                    </a:lnTo>
                    <a:close/>
                  </a:path>
                </a:pathLst>
              </a:custGeom>
              <a:solidFill>
                <a:schemeClr val="accent5">
                  <a:lumMod val="5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6" name="Freeform 64">
                <a:extLst>
                  <a:ext uri="{FF2B5EF4-FFF2-40B4-BE49-F238E27FC236}">
                    <a16:creationId xmlns:a16="http://schemas.microsoft.com/office/drawing/2014/main" id="{4BB5F6F0-F482-01AC-B116-B4BE6D9D054B}"/>
                  </a:ext>
                </a:extLst>
              </p:cNvPr>
              <p:cNvSpPr>
                <a:spLocks/>
              </p:cNvSpPr>
              <p:nvPr/>
            </p:nvSpPr>
            <p:spPr bwMode="auto">
              <a:xfrm>
                <a:off x="6416675" y="5326063"/>
                <a:ext cx="26988" cy="38100"/>
              </a:xfrm>
              <a:custGeom>
                <a:avLst/>
                <a:gdLst>
                  <a:gd name="T0" fmla="*/ 26988 w 20000"/>
                  <a:gd name="T1" fmla="*/ 26857 h 20000"/>
                  <a:gd name="T2" fmla="*/ 7710 w 20000"/>
                  <a:gd name="T3" fmla="*/ 35603 h 20000"/>
                  <a:gd name="T4" fmla="*/ 0 w 20000"/>
                  <a:gd name="T5" fmla="*/ 38100 h 20000"/>
                  <a:gd name="T6" fmla="*/ 20562 w 20000"/>
                  <a:gd name="T7" fmla="*/ 0 h 20000"/>
                  <a:gd name="T8" fmla="*/ 26988 w 20000"/>
                  <a:gd name="T9" fmla="*/ 26857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20000" y="14098"/>
                    </a:moveTo>
                    <a:lnTo>
                      <a:pt x="5714" y="18689"/>
                    </a:lnTo>
                    <a:lnTo>
                      <a:pt x="0" y="20000"/>
                    </a:lnTo>
                    <a:lnTo>
                      <a:pt x="15238" y="0"/>
                    </a:lnTo>
                    <a:lnTo>
                      <a:pt x="20000" y="14098"/>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207" name="Group 206">
                <a:extLst>
                  <a:ext uri="{FF2B5EF4-FFF2-40B4-BE49-F238E27FC236}">
                    <a16:creationId xmlns:a16="http://schemas.microsoft.com/office/drawing/2014/main" id="{5B096F13-9579-EE80-1F0E-E8CB00FD1956}"/>
                  </a:ext>
                </a:extLst>
              </p:cNvPr>
              <p:cNvGrpSpPr>
                <a:grpSpLocks/>
              </p:cNvGrpSpPr>
              <p:nvPr/>
            </p:nvGrpSpPr>
            <p:grpSpPr bwMode="auto">
              <a:xfrm>
                <a:off x="6362705" y="4011619"/>
                <a:ext cx="1398589" cy="1428752"/>
                <a:chOff x="4008" y="2527"/>
                <a:chExt cx="881" cy="900"/>
              </a:xfrm>
            </p:grpSpPr>
            <p:sp>
              <p:nvSpPr>
                <p:cNvPr id="223" name="Freeform 66">
                  <a:extLst>
                    <a:ext uri="{FF2B5EF4-FFF2-40B4-BE49-F238E27FC236}">
                      <a16:creationId xmlns:a16="http://schemas.microsoft.com/office/drawing/2014/main" id="{80F88C5C-3E38-2D14-6B8D-EF1DF274AA32}"/>
                    </a:ext>
                  </a:extLst>
                </p:cNvPr>
                <p:cNvSpPr>
                  <a:spLocks/>
                </p:cNvSpPr>
                <p:nvPr/>
              </p:nvSpPr>
              <p:spPr bwMode="auto">
                <a:xfrm>
                  <a:off x="4205" y="3013"/>
                  <a:ext cx="275" cy="229"/>
                </a:xfrm>
                <a:custGeom>
                  <a:avLst/>
                  <a:gdLst>
                    <a:gd name="T0" fmla="*/ 0 w 20000"/>
                    <a:gd name="T1" fmla="*/ 137 h 20000"/>
                    <a:gd name="T2" fmla="*/ 11 w 20000"/>
                    <a:gd name="T3" fmla="*/ 126 h 20000"/>
                    <a:gd name="T4" fmla="*/ 22 w 20000"/>
                    <a:gd name="T5" fmla="*/ 104 h 20000"/>
                    <a:gd name="T6" fmla="*/ 9 w 20000"/>
                    <a:gd name="T7" fmla="*/ 82 h 20000"/>
                    <a:gd name="T8" fmla="*/ 21 w 20000"/>
                    <a:gd name="T9" fmla="*/ 75 h 20000"/>
                    <a:gd name="T10" fmla="*/ 17 w 20000"/>
                    <a:gd name="T11" fmla="*/ 70 h 20000"/>
                    <a:gd name="T12" fmla="*/ 40 w 20000"/>
                    <a:gd name="T13" fmla="*/ 59 h 20000"/>
                    <a:gd name="T14" fmla="*/ 53 w 20000"/>
                    <a:gd name="T15" fmla="*/ 60 h 20000"/>
                    <a:gd name="T16" fmla="*/ 63 w 20000"/>
                    <a:gd name="T17" fmla="*/ 51 h 20000"/>
                    <a:gd name="T18" fmla="*/ 72 w 20000"/>
                    <a:gd name="T19" fmla="*/ 48 h 20000"/>
                    <a:gd name="T20" fmla="*/ 69 w 20000"/>
                    <a:gd name="T21" fmla="*/ 44 h 20000"/>
                    <a:gd name="T22" fmla="*/ 81 w 20000"/>
                    <a:gd name="T23" fmla="*/ 31 h 20000"/>
                    <a:gd name="T24" fmla="*/ 91 w 20000"/>
                    <a:gd name="T25" fmla="*/ 24 h 20000"/>
                    <a:gd name="T26" fmla="*/ 118 w 20000"/>
                    <a:gd name="T27" fmla="*/ 19 h 20000"/>
                    <a:gd name="T28" fmla="*/ 138 w 20000"/>
                    <a:gd name="T29" fmla="*/ 27 h 20000"/>
                    <a:gd name="T30" fmla="*/ 144 w 20000"/>
                    <a:gd name="T31" fmla="*/ 15 h 20000"/>
                    <a:gd name="T32" fmla="*/ 157 w 20000"/>
                    <a:gd name="T33" fmla="*/ 3 h 20000"/>
                    <a:gd name="T34" fmla="*/ 161 w 20000"/>
                    <a:gd name="T35" fmla="*/ 0 h 20000"/>
                    <a:gd name="T36" fmla="*/ 174 w 20000"/>
                    <a:gd name="T37" fmla="*/ 0 h 20000"/>
                    <a:gd name="T38" fmla="*/ 173 w 20000"/>
                    <a:gd name="T39" fmla="*/ 3 h 20000"/>
                    <a:gd name="T40" fmla="*/ 178 w 20000"/>
                    <a:gd name="T41" fmla="*/ 29 h 20000"/>
                    <a:gd name="T42" fmla="*/ 171 w 20000"/>
                    <a:gd name="T43" fmla="*/ 56 h 20000"/>
                    <a:gd name="T44" fmla="*/ 195 w 20000"/>
                    <a:gd name="T45" fmla="*/ 44 h 20000"/>
                    <a:gd name="T46" fmla="*/ 199 w 20000"/>
                    <a:gd name="T47" fmla="*/ 61 h 20000"/>
                    <a:gd name="T48" fmla="*/ 207 w 20000"/>
                    <a:gd name="T49" fmla="*/ 65 h 20000"/>
                    <a:gd name="T50" fmla="*/ 235 w 20000"/>
                    <a:gd name="T51" fmla="*/ 83 h 20000"/>
                    <a:gd name="T52" fmla="*/ 275 w 20000"/>
                    <a:gd name="T53" fmla="*/ 71 h 20000"/>
                    <a:gd name="T54" fmla="*/ 265 w 20000"/>
                    <a:gd name="T55" fmla="*/ 83 h 20000"/>
                    <a:gd name="T56" fmla="*/ 268 w 20000"/>
                    <a:gd name="T57" fmla="*/ 87 h 20000"/>
                    <a:gd name="T58" fmla="*/ 265 w 20000"/>
                    <a:gd name="T59" fmla="*/ 104 h 20000"/>
                    <a:gd name="T60" fmla="*/ 261 w 20000"/>
                    <a:gd name="T61" fmla="*/ 102 h 20000"/>
                    <a:gd name="T62" fmla="*/ 257 w 20000"/>
                    <a:gd name="T63" fmla="*/ 116 h 20000"/>
                    <a:gd name="T64" fmla="*/ 251 w 20000"/>
                    <a:gd name="T65" fmla="*/ 129 h 20000"/>
                    <a:gd name="T66" fmla="*/ 211 w 20000"/>
                    <a:gd name="T67" fmla="*/ 186 h 20000"/>
                    <a:gd name="T68" fmla="*/ 198 w 20000"/>
                    <a:gd name="T69" fmla="*/ 206 h 20000"/>
                    <a:gd name="T70" fmla="*/ 188 w 20000"/>
                    <a:gd name="T71" fmla="*/ 211 h 20000"/>
                    <a:gd name="T72" fmla="*/ 175 w 20000"/>
                    <a:gd name="T73" fmla="*/ 220 h 20000"/>
                    <a:gd name="T74" fmla="*/ 169 w 20000"/>
                    <a:gd name="T75" fmla="*/ 217 h 20000"/>
                    <a:gd name="T76" fmla="*/ 164 w 20000"/>
                    <a:gd name="T77" fmla="*/ 224 h 20000"/>
                    <a:gd name="T78" fmla="*/ 153 w 20000"/>
                    <a:gd name="T79" fmla="*/ 224 h 20000"/>
                    <a:gd name="T80" fmla="*/ 154 w 20000"/>
                    <a:gd name="T81" fmla="*/ 227 h 20000"/>
                    <a:gd name="T82" fmla="*/ 153 w 20000"/>
                    <a:gd name="T83" fmla="*/ 229 h 20000"/>
                    <a:gd name="T84" fmla="*/ 144 w 20000"/>
                    <a:gd name="T85" fmla="*/ 225 h 20000"/>
                    <a:gd name="T86" fmla="*/ 132 w 20000"/>
                    <a:gd name="T87" fmla="*/ 203 h 20000"/>
                    <a:gd name="T88" fmla="*/ 130 w 20000"/>
                    <a:gd name="T89" fmla="*/ 205 h 20000"/>
                    <a:gd name="T90" fmla="*/ 114 w 20000"/>
                    <a:gd name="T91" fmla="*/ 207 h 20000"/>
                    <a:gd name="T92" fmla="*/ 64 w 20000"/>
                    <a:gd name="T93" fmla="*/ 121 h 20000"/>
                    <a:gd name="T94" fmla="*/ 60 w 20000"/>
                    <a:gd name="T95" fmla="*/ 121 h 20000"/>
                    <a:gd name="T96" fmla="*/ 53 w 20000"/>
                    <a:gd name="T97" fmla="*/ 116 h 20000"/>
                    <a:gd name="T98" fmla="*/ 34 w 20000"/>
                    <a:gd name="T99" fmla="*/ 114 h 20000"/>
                    <a:gd name="T100" fmla="*/ 30 w 20000"/>
                    <a:gd name="T101" fmla="*/ 116 h 20000"/>
                    <a:gd name="T102" fmla="*/ 23 w 20000"/>
                    <a:gd name="T103" fmla="*/ 129 h 20000"/>
                    <a:gd name="T104" fmla="*/ 6 w 20000"/>
                    <a:gd name="T105" fmla="*/ 140 h 20000"/>
                    <a:gd name="T106" fmla="*/ 0 w 20000"/>
                    <a:gd name="T107" fmla="*/ 137 h 200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000"/>
                    <a:gd name="T163" fmla="*/ 0 h 20000"/>
                    <a:gd name="T164" fmla="*/ 20000 w 20000"/>
                    <a:gd name="T165" fmla="*/ 20000 h 200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000" h="20000">
                      <a:moveTo>
                        <a:pt x="0" y="12007"/>
                      </a:moveTo>
                      <a:lnTo>
                        <a:pt x="814" y="11030"/>
                      </a:lnTo>
                      <a:lnTo>
                        <a:pt x="1570" y="9040"/>
                      </a:lnTo>
                      <a:lnTo>
                        <a:pt x="640" y="7155"/>
                      </a:lnTo>
                      <a:lnTo>
                        <a:pt x="1512" y="6527"/>
                      </a:lnTo>
                      <a:lnTo>
                        <a:pt x="1221" y="6108"/>
                      </a:lnTo>
                      <a:lnTo>
                        <a:pt x="2936" y="5131"/>
                      </a:lnTo>
                      <a:lnTo>
                        <a:pt x="3866" y="5271"/>
                      </a:lnTo>
                      <a:lnTo>
                        <a:pt x="4564" y="4433"/>
                      </a:lnTo>
                      <a:lnTo>
                        <a:pt x="5203" y="4223"/>
                      </a:lnTo>
                      <a:lnTo>
                        <a:pt x="5029" y="3874"/>
                      </a:lnTo>
                      <a:lnTo>
                        <a:pt x="5901" y="2723"/>
                      </a:lnTo>
                      <a:lnTo>
                        <a:pt x="6599" y="2094"/>
                      </a:lnTo>
                      <a:lnTo>
                        <a:pt x="8547" y="1675"/>
                      </a:lnTo>
                      <a:lnTo>
                        <a:pt x="10000" y="2373"/>
                      </a:lnTo>
                      <a:lnTo>
                        <a:pt x="10465" y="1326"/>
                      </a:lnTo>
                      <a:lnTo>
                        <a:pt x="11395" y="279"/>
                      </a:lnTo>
                      <a:lnTo>
                        <a:pt x="11744" y="0"/>
                      </a:lnTo>
                      <a:lnTo>
                        <a:pt x="12645" y="0"/>
                      </a:lnTo>
                      <a:lnTo>
                        <a:pt x="12587" y="279"/>
                      </a:lnTo>
                      <a:lnTo>
                        <a:pt x="12936" y="2513"/>
                      </a:lnTo>
                      <a:lnTo>
                        <a:pt x="12442" y="4921"/>
                      </a:lnTo>
                      <a:lnTo>
                        <a:pt x="14157" y="3805"/>
                      </a:lnTo>
                      <a:lnTo>
                        <a:pt x="14506" y="5340"/>
                      </a:lnTo>
                      <a:lnTo>
                        <a:pt x="15087" y="5689"/>
                      </a:lnTo>
                      <a:lnTo>
                        <a:pt x="17122" y="7225"/>
                      </a:lnTo>
                      <a:lnTo>
                        <a:pt x="20000" y="6178"/>
                      </a:lnTo>
                      <a:lnTo>
                        <a:pt x="19302" y="7225"/>
                      </a:lnTo>
                      <a:lnTo>
                        <a:pt x="19477" y="7574"/>
                      </a:lnTo>
                      <a:lnTo>
                        <a:pt x="19244" y="9040"/>
                      </a:lnTo>
                      <a:lnTo>
                        <a:pt x="18953" y="8901"/>
                      </a:lnTo>
                      <a:lnTo>
                        <a:pt x="18721" y="10122"/>
                      </a:lnTo>
                      <a:lnTo>
                        <a:pt x="18256" y="11239"/>
                      </a:lnTo>
                      <a:lnTo>
                        <a:pt x="15378" y="16265"/>
                      </a:lnTo>
                      <a:lnTo>
                        <a:pt x="14390" y="17976"/>
                      </a:lnTo>
                      <a:lnTo>
                        <a:pt x="13692" y="18394"/>
                      </a:lnTo>
                      <a:lnTo>
                        <a:pt x="12762" y="19232"/>
                      </a:lnTo>
                      <a:lnTo>
                        <a:pt x="12267" y="18953"/>
                      </a:lnTo>
                      <a:lnTo>
                        <a:pt x="11919" y="19581"/>
                      </a:lnTo>
                      <a:lnTo>
                        <a:pt x="11163" y="19581"/>
                      </a:lnTo>
                      <a:lnTo>
                        <a:pt x="11221" y="19860"/>
                      </a:lnTo>
                      <a:lnTo>
                        <a:pt x="11163" y="20000"/>
                      </a:lnTo>
                      <a:lnTo>
                        <a:pt x="10465" y="19651"/>
                      </a:lnTo>
                      <a:lnTo>
                        <a:pt x="9593" y="17696"/>
                      </a:lnTo>
                      <a:lnTo>
                        <a:pt x="9419" y="17906"/>
                      </a:lnTo>
                      <a:lnTo>
                        <a:pt x="8256" y="18115"/>
                      </a:lnTo>
                      <a:lnTo>
                        <a:pt x="4680" y="10541"/>
                      </a:lnTo>
                      <a:lnTo>
                        <a:pt x="4331" y="10541"/>
                      </a:lnTo>
                      <a:lnTo>
                        <a:pt x="3866" y="10122"/>
                      </a:lnTo>
                      <a:lnTo>
                        <a:pt x="2442" y="9948"/>
                      </a:lnTo>
                      <a:lnTo>
                        <a:pt x="2209" y="10122"/>
                      </a:lnTo>
                      <a:lnTo>
                        <a:pt x="1686" y="11239"/>
                      </a:lnTo>
                      <a:lnTo>
                        <a:pt x="465" y="12216"/>
                      </a:lnTo>
                      <a:lnTo>
                        <a:pt x="0" y="12007"/>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4" name="Freeform 67">
                  <a:extLst>
                    <a:ext uri="{FF2B5EF4-FFF2-40B4-BE49-F238E27FC236}">
                      <a16:creationId xmlns:a16="http://schemas.microsoft.com/office/drawing/2014/main" id="{67C9DB09-3AD4-64BC-9895-A06708064916}"/>
                    </a:ext>
                  </a:extLst>
                </p:cNvPr>
                <p:cNvSpPr>
                  <a:spLocks/>
                </p:cNvSpPr>
                <p:nvPr/>
              </p:nvSpPr>
              <p:spPr bwMode="auto">
                <a:xfrm>
                  <a:off x="4395" y="3247"/>
                  <a:ext cx="8" cy="15"/>
                </a:xfrm>
                <a:custGeom>
                  <a:avLst/>
                  <a:gdLst>
                    <a:gd name="T0" fmla="*/ 3 w 20000"/>
                    <a:gd name="T1" fmla="*/ 15 h 20000"/>
                    <a:gd name="T2" fmla="*/ 8 w 20000"/>
                    <a:gd name="T3" fmla="*/ 5 h 20000"/>
                    <a:gd name="T4" fmla="*/ 0 w 20000"/>
                    <a:gd name="T5" fmla="*/ 0 h 20000"/>
                    <a:gd name="T6" fmla="*/ 3 w 20000"/>
                    <a:gd name="T7" fmla="*/ 15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6667" y="20000"/>
                      </a:moveTo>
                      <a:lnTo>
                        <a:pt x="20000" y="6667"/>
                      </a:lnTo>
                      <a:lnTo>
                        <a:pt x="0" y="0"/>
                      </a:lnTo>
                      <a:lnTo>
                        <a:pt x="6667"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5" name="Freeform 68">
                  <a:extLst>
                    <a:ext uri="{FF2B5EF4-FFF2-40B4-BE49-F238E27FC236}">
                      <a16:creationId xmlns:a16="http://schemas.microsoft.com/office/drawing/2014/main" id="{8088961E-6D67-5139-F37A-C8D958AB7DD7}"/>
                    </a:ext>
                  </a:extLst>
                </p:cNvPr>
                <p:cNvSpPr>
                  <a:spLocks/>
                </p:cNvSpPr>
                <p:nvPr/>
              </p:nvSpPr>
              <p:spPr bwMode="auto">
                <a:xfrm>
                  <a:off x="4373" y="2999"/>
                  <a:ext cx="5" cy="12"/>
                </a:xfrm>
                <a:custGeom>
                  <a:avLst/>
                  <a:gdLst>
                    <a:gd name="T0" fmla="*/ 5 w 20000"/>
                    <a:gd name="T1" fmla="*/ 12 h 20000"/>
                    <a:gd name="T2" fmla="*/ 5 w 20000"/>
                    <a:gd name="T3" fmla="*/ 0 h 20000"/>
                    <a:gd name="T4" fmla="*/ 0 w 20000"/>
                    <a:gd name="T5" fmla="*/ 6 h 20000"/>
                    <a:gd name="T6" fmla="*/ 5 w 20000"/>
                    <a:gd name="T7" fmla="*/ 12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20000" y="20000"/>
                      </a:moveTo>
                      <a:lnTo>
                        <a:pt x="20000" y="0"/>
                      </a:lnTo>
                      <a:lnTo>
                        <a:pt x="0" y="10667"/>
                      </a:lnTo>
                      <a:lnTo>
                        <a:pt x="20000" y="2000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6" name="Freeform 69">
                  <a:extLst>
                    <a:ext uri="{FF2B5EF4-FFF2-40B4-BE49-F238E27FC236}">
                      <a16:creationId xmlns:a16="http://schemas.microsoft.com/office/drawing/2014/main" id="{4A7B5301-9431-2E8B-AA14-1E1AF45DA16A}"/>
                    </a:ext>
                  </a:extLst>
                </p:cNvPr>
                <p:cNvSpPr>
                  <a:spLocks/>
                </p:cNvSpPr>
                <p:nvPr/>
              </p:nvSpPr>
              <p:spPr bwMode="auto">
                <a:xfrm>
                  <a:off x="4537" y="2527"/>
                  <a:ext cx="352" cy="337"/>
                </a:xfrm>
                <a:custGeom>
                  <a:avLst/>
                  <a:gdLst>
                    <a:gd name="T0" fmla="*/ 133 w 20000"/>
                    <a:gd name="T1" fmla="*/ 110 h 20000"/>
                    <a:gd name="T2" fmla="*/ 150 w 20000"/>
                    <a:gd name="T3" fmla="*/ 112 h 20000"/>
                    <a:gd name="T4" fmla="*/ 157 w 20000"/>
                    <a:gd name="T5" fmla="*/ 104 h 20000"/>
                    <a:gd name="T6" fmla="*/ 162 w 20000"/>
                    <a:gd name="T7" fmla="*/ 83 h 20000"/>
                    <a:gd name="T8" fmla="*/ 179 w 20000"/>
                    <a:gd name="T9" fmla="*/ 82 h 20000"/>
                    <a:gd name="T10" fmla="*/ 213 w 20000"/>
                    <a:gd name="T11" fmla="*/ 69 h 20000"/>
                    <a:gd name="T12" fmla="*/ 220 w 20000"/>
                    <a:gd name="T13" fmla="*/ 103 h 20000"/>
                    <a:gd name="T14" fmla="*/ 244 w 20000"/>
                    <a:gd name="T15" fmla="*/ 102 h 20000"/>
                    <a:gd name="T16" fmla="*/ 253 w 20000"/>
                    <a:gd name="T17" fmla="*/ 85 h 20000"/>
                    <a:gd name="T18" fmla="*/ 265 w 20000"/>
                    <a:gd name="T19" fmla="*/ 94 h 20000"/>
                    <a:gd name="T20" fmla="*/ 260 w 20000"/>
                    <a:gd name="T21" fmla="*/ 110 h 20000"/>
                    <a:gd name="T22" fmla="*/ 268 w 20000"/>
                    <a:gd name="T23" fmla="*/ 141 h 20000"/>
                    <a:gd name="T24" fmla="*/ 285 w 20000"/>
                    <a:gd name="T25" fmla="*/ 112 h 20000"/>
                    <a:gd name="T26" fmla="*/ 292 w 20000"/>
                    <a:gd name="T27" fmla="*/ 107 h 20000"/>
                    <a:gd name="T28" fmla="*/ 300 w 20000"/>
                    <a:gd name="T29" fmla="*/ 146 h 20000"/>
                    <a:gd name="T30" fmla="*/ 312 w 20000"/>
                    <a:gd name="T31" fmla="*/ 153 h 20000"/>
                    <a:gd name="T32" fmla="*/ 308 w 20000"/>
                    <a:gd name="T33" fmla="*/ 122 h 20000"/>
                    <a:gd name="T34" fmla="*/ 343 w 20000"/>
                    <a:gd name="T35" fmla="*/ 169 h 20000"/>
                    <a:gd name="T36" fmla="*/ 347 w 20000"/>
                    <a:gd name="T37" fmla="*/ 198 h 20000"/>
                    <a:gd name="T38" fmla="*/ 321 w 20000"/>
                    <a:gd name="T39" fmla="*/ 196 h 20000"/>
                    <a:gd name="T40" fmla="*/ 307 w 20000"/>
                    <a:gd name="T41" fmla="*/ 220 h 20000"/>
                    <a:gd name="T42" fmla="*/ 277 w 20000"/>
                    <a:gd name="T43" fmla="*/ 170 h 20000"/>
                    <a:gd name="T44" fmla="*/ 253 w 20000"/>
                    <a:gd name="T45" fmla="*/ 167 h 20000"/>
                    <a:gd name="T46" fmla="*/ 251 w 20000"/>
                    <a:gd name="T47" fmla="*/ 216 h 20000"/>
                    <a:gd name="T48" fmla="*/ 232 w 20000"/>
                    <a:gd name="T49" fmla="*/ 276 h 20000"/>
                    <a:gd name="T50" fmla="*/ 236 w 20000"/>
                    <a:gd name="T51" fmla="*/ 248 h 20000"/>
                    <a:gd name="T52" fmla="*/ 235 w 20000"/>
                    <a:gd name="T53" fmla="*/ 218 h 20000"/>
                    <a:gd name="T54" fmla="*/ 218 w 20000"/>
                    <a:gd name="T55" fmla="*/ 234 h 20000"/>
                    <a:gd name="T56" fmla="*/ 195 w 20000"/>
                    <a:gd name="T57" fmla="*/ 250 h 20000"/>
                    <a:gd name="T58" fmla="*/ 171 w 20000"/>
                    <a:gd name="T59" fmla="*/ 259 h 20000"/>
                    <a:gd name="T60" fmla="*/ 135 w 20000"/>
                    <a:gd name="T61" fmla="*/ 286 h 20000"/>
                    <a:gd name="T62" fmla="*/ 78 w 20000"/>
                    <a:gd name="T63" fmla="*/ 335 h 20000"/>
                    <a:gd name="T64" fmla="*/ 49 w 20000"/>
                    <a:gd name="T65" fmla="*/ 325 h 20000"/>
                    <a:gd name="T66" fmla="*/ 49 w 20000"/>
                    <a:gd name="T67" fmla="*/ 268 h 20000"/>
                    <a:gd name="T68" fmla="*/ 36 w 20000"/>
                    <a:gd name="T69" fmla="*/ 264 h 20000"/>
                    <a:gd name="T70" fmla="*/ 39 w 20000"/>
                    <a:gd name="T71" fmla="*/ 223 h 20000"/>
                    <a:gd name="T72" fmla="*/ 30 w 20000"/>
                    <a:gd name="T73" fmla="*/ 204 h 20000"/>
                    <a:gd name="T74" fmla="*/ 39 w 20000"/>
                    <a:gd name="T75" fmla="*/ 192 h 20000"/>
                    <a:gd name="T76" fmla="*/ 10 w 20000"/>
                    <a:gd name="T77" fmla="*/ 111 h 20000"/>
                    <a:gd name="T78" fmla="*/ 6 w 20000"/>
                    <a:gd name="T79" fmla="*/ 104 h 20000"/>
                    <a:gd name="T80" fmla="*/ 2 w 20000"/>
                    <a:gd name="T81" fmla="*/ 78 h 20000"/>
                    <a:gd name="T82" fmla="*/ 0 w 20000"/>
                    <a:gd name="T83" fmla="*/ 47 h 20000"/>
                    <a:gd name="T84" fmla="*/ 22 w 20000"/>
                    <a:gd name="T85" fmla="*/ 10 h 20000"/>
                    <a:gd name="T86" fmla="*/ 40 w 20000"/>
                    <a:gd name="T87" fmla="*/ 20 h 20000"/>
                    <a:gd name="T88" fmla="*/ 48 w 20000"/>
                    <a:gd name="T89" fmla="*/ 54 h 20000"/>
                    <a:gd name="T90" fmla="*/ 53 w 20000"/>
                    <a:gd name="T91" fmla="*/ 85 h 20000"/>
                    <a:gd name="T92" fmla="*/ 68 w 20000"/>
                    <a:gd name="T93" fmla="*/ 143 h 20000"/>
                    <a:gd name="T94" fmla="*/ 73 w 20000"/>
                    <a:gd name="T95" fmla="*/ 102 h 20000"/>
                    <a:gd name="T96" fmla="*/ 88 w 20000"/>
                    <a:gd name="T97" fmla="*/ 100 h 20000"/>
                    <a:gd name="T98" fmla="*/ 107 w 20000"/>
                    <a:gd name="T99" fmla="*/ 90 h 20000"/>
                    <a:gd name="T100" fmla="*/ 107 w 20000"/>
                    <a:gd name="T101" fmla="*/ 121 h 200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0000"/>
                    <a:gd name="T154" fmla="*/ 0 h 20000"/>
                    <a:gd name="T155" fmla="*/ 20000 w 20000"/>
                    <a:gd name="T156" fmla="*/ 20000 h 200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0000" h="20000">
                      <a:moveTo>
                        <a:pt x="7537" y="6801"/>
                      </a:moveTo>
                      <a:lnTo>
                        <a:pt x="7537" y="6516"/>
                      </a:lnTo>
                      <a:lnTo>
                        <a:pt x="7991" y="6326"/>
                      </a:lnTo>
                      <a:lnTo>
                        <a:pt x="8536" y="6659"/>
                      </a:lnTo>
                      <a:lnTo>
                        <a:pt x="8808" y="6659"/>
                      </a:lnTo>
                      <a:lnTo>
                        <a:pt x="8899" y="6183"/>
                      </a:lnTo>
                      <a:lnTo>
                        <a:pt x="9171" y="6183"/>
                      </a:lnTo>
                      <a:lnTo>
                        <a:pt x="9217" y="4923"/>
                      </a:lnTo>
                      <a:lnTo>
                        <a:pt x="9716" y="5018"/>
                      </a:lnTo>
                      <a:lnTo>
                        <a:pt x="10193" y="4875"/>
                      </a:lnTo>
                      <a:lnTo>
                        <a:pt x="10420" y="4304"/>
                      </a:lnTo>
                      <a:lnTo>
                        <a:pt x="12100" y="4067"/>
                      </a:lnTo>
                      <a:lnTo>
                        <a:pt x="12327" y="4875"/>
                      </a:lnTo>
                      <a:lnTo>
                        <a:pt x="12509" y="6088"/>
                      </a:lnTo>
                      <a:lnTo>
                        <a:pt x="13326" y="6231"/>
                      </a:lnTo>
                      <a:lnTo>
                        <a:pt x="13871" y="6040"/>
                      </a:lnTo>
                      <a:lnTo>
                        <a:pt x="14393" y="5731"/>
                      </a:lnTo>
                      <a:lnTo>
                        <a:pt x="14393" y="5065"/>
                      </a:lnTo>
                      <a:lnTo>
                        <a:pt x="14711" y="5065"/>
                      </a:lnTo>
                      <a:lnTo>
                        <a:pt x="15074" y="5589"/>
                      </a:lnTo>
                      <a:lnTo>
                        <a:pt x="15074" y="6326"/>
                      </a:lnTo>
                      <a:lnTo>
                        <a:pt x="14801" y="6516"/>
                      </a:lnTo>
                      <a:lnTo>
                        <a:pt x="14847" y="8228"/>
                      </a:lnTo>
                      <a:lnTo>
                        <a:pt x="15210" y="8371"/>
                      </a:lnTo>
                      <a:lnTo>
                        <a:pt x="15891" y="7515"/>
                      </a:lnTo>
                      <a:lnTo>
                        <a:pt x="16209" y="6659"/>
                      </a:lnTo>
                      <a:lnTo>
                        <a:pt x="16209" y="6373"/>
                      </a:lnTo>
                      <a:lnTo>
                        <a:pt x="16617" y="6373"/>
                      </a:lnTo>
                      <a:lnTo>
                        <a:pt x="16481" y="7325"/>
                      </a:lnTo>
                      <a:lnTo>
                        <a:pt x="17026" y="8656"/>
                      </a:lnTo>
                      <a:lnTo>
                        <a:pt x="17299" y="8942"/>
                      </a:lnTo>
                      <a:lnTo>
                        <a:pt x="17707" y="9084"/>
                      </a:lnTo>
                      <a:lnTo>
                        <a:pt x="17798" y="7800"/>
                      </a:lnTo>
                      <a:lnTo>
                        <a:pt x="17526" y="7229"/>
                      </a:lnTo>
                      <a:lnTo>
                        <a:pt x="18683" y="8086"/>
                      </a:lnTo>
                      <a:lnTo>
                        <a:pt x="19501" y="10059"/>
                      </a:lnTo>
                      <a:lnTo>
                        <a:pt x="20000" y="11486"/>
                      </a:lnTo>
                      <a:lnTo>
                        <a:pt x="19728" y="11772"/>
                      </a:lnTo>
                      <a:lnTo>
                        <a:pt x="18956" y="12533"/>
                      </a:lnTo>
                      <a:lnTo>
                        <a:pt x="18229" y="11629"/>
                      </a:lnTo>
                      <a:lnTo>
                        <a:pt x="17843" y="11486"/>
                      </a:lnTo>
                      <a:lnTo>
                        <a:pt x="17435" y="13056"/>
                      </a:lnTo>
                      <a:lnTo>
                        <a:pt x="17117" y="13056"/>
                      </a:lnTo>
                      <a:lnTo>
                        <a:pt x="15755" y="10107"/>
                      </a:lnTo>
                      <a:lnTo>
                        <a:pt x="14574" y="9750"/>
                      </a:lnTo>
                      <a:lnTo>
                        <a:pt x="14393" y="9893"/>
                      </a:lnTo>
                      <a:lnTo>
                        <a:pt x="14983" y="11772"/>
                      </a:lnTo>
                      <a:lnTo>
                        <a:pt x="14257" y="12818"/>
                      </a:lnTo>
                      <a:lnTo>
                        <a:pt x="14529" y="15077"/>
                      </a:lnTo>
                      <a:lnTo>
                        <a:pt x="13190" y="16361"/>
                      </a:lnTo>
                      <a:lnTo>
                        <a:pt x="12872" y="16076"/>
                      </a:lnTo>
                      <a:lnTo>
                        <a:pt x="13417" y="14697"/>
                      </a:lnTo>
                      <a:lnTo>
                        <a:pt x="13553" y="13912"/>
                      </a:lnTo>
                      <a:lnTo>
                        <a:pt x="13326" y="12961"/>
                      </a:lnTo>
                      <a:lnTo>
                        <a:pt x="12736" y="13484"/>
                      </a:lnTo>
                      <a:lnTo>
                        <a:pt x="12372" y="13912"/>
                      </a:lnTo>
                      <a:lnTo>
                        <a:pt x="11827" y="14269"/>
                      </a:lnTo>
                      <a:lnTo>
                        <a:pt x="11101" y="14839"/>
                      </a:lnTo>
                      <a:lnTo>
                        <a:pt x="10602" y="14364"/>
                      </a:lnTo>
                      <a:lnTo>
                        <a:pt x="9716" y="15363"/>
                      </a:lnTo>
                      <a:lnTo>
                        <a:pt x="9308" y="15981"/>
                      </a:lnTo>
                      <a:lnTo>
                        <a:pt x="7673" y="16980"/>
                      </a:lnTo>
                      <a:lnTo>
                        <a:pt x="5743" y="18288"/>
                      </a:lnTo>
                      <a:lnTo>
                        <a:pt x="4427" y="19857"/>
                      </a:lnTo>
                      <a:lnTo>
                        <a:pt x="3700" y="20000"/>
                      </a:lnTo>
                      <a:lnTo>
                        <a:pt x="2792" y="19287"/>
                      </a:lnTo>
                      <a:lnTo>
                        <a:pt x="3473" y="15648"/>
                      </a:lnTo>
                      <a:lnTo>
                        <a:pt x="2792" y="15933"/>
                      </a:lnTo>
                      <a:lnTo>
                        <a:pt x="1771" y="16980"/>
                      </a:lnTo>
                      <a:lnTo>
                        <a:pt x="2066" y="15648"/>
                      </a:lnTo>
                      <a:lnTo>
                        <a:pt x="2747" y="15648"/>
                      </a:lnTo>
                      <a:lnTo>
                        <a:pt x="2202" y="13246"/>
                      </a:lnTo>
                      <a:lnTo>
                        <a:pt x="1952" y="12628"/>
                      </a:lnTo>
                      <a:lnTo>
                        <a:pt x="1680" y="12105"/>
                      </a:lnTo>
                      <a:lnTo>
                        <a:pt x="2066" y="11201"/>
                      </a:lnTo>
                      <a:lnTo>
                        <a:pt x="2202" y="11391"/>
                      </a:lnTo>
                      <a:lnTo>
                        <a:pt x="1498" y="10345"/>
                      </a:lnTo>
                      <a:lnTo>
                        <a:pt x="545" y="6611"/>
                      </a:lnTo>
                      <a:lnTo>
                        <a:pt x="590" y="6373"/>
                      </a:lnTo>
                      <a:lnTo>
                        <a:pt x="318" y="6183"/>
                      </a:lnTo>
                      <a:lnTo>
                        <a:pt x="590" y="5065"/>
                      </a:lnTo>
                      <a:lnTo>
                        <a:pt x="136" y="4637"/>
                      </a:lnTo>
                      <a:lnTo>
                        <a:pt x="272" y="4447"/>
                      </a:lnTo>
                      <a:lnTo>
                        <a:pt x="0" y="2782"/>
                      </a:lnTo>
                      <a:lnTo>
                        <a:pt x="953" y="571"/>
                      </a:lnTo>
                      <a:lnTo>
                        <a:pt x="1271" y="571"/>
                      </a:lnTo>
                      <a:lnTo>
                        <a:pt x="1816" y="0"/>
                      </a:lnTo>
                      <a:lnTo>
                        <a:pt x="2247" y="1189"/>
                      </a:lnTo>
                      <a:lnTo>
                        <a:pt x="2338" y="1855"/>
                      </a:lnTo>
                      <a:lnTo>
                        <a:pt x="2747" y="3210"/>
                      </a:lnTo>
                      <a:lnTo>
                        <a:pt x="2656" y="4209"/>
                      </a:lnTo>
                      <a:lnTo>
                        <a:pt x="3019" y="5065"/>
                      </a:lnTo>
                      <a:lnTo>
                        <a:pt x="3428" y="7658"/>
                      </a:lnTo>
                      <a:lnTo>
                        <a:pt x="3882" y="8514"/>
                      </a:lnTo>
                      <a:lnTo>
                        <a:pt x="4291" y="9180"/>
                      </a:lnTo>
                      <a:lnTo>
                        <a:pt x="4154" y="6040"/>
                      </a:lnTo>
                      <a:lnTo>
                        <a:pt x="4654" y="6468"/>
                      </a:lnTo>
                      <a:lnTo>
                        <a:pt x="4972" y="5922"/>
                      </a:lnTo>
                      <a:lnTo>
                        <a:pt x="5653" y="5922"/>
                      </a:lnTo>
                      <a:lnTo>
                        <a:pt x="6084" y="5351"/>
                      </a:lnTo>
                      <a:lnTo>
                        <a:pt x="5607" y="7087"/>
                      </a:lnTo>
                      <a:lnTo>
                        <a:pt x="6084" y="7182"/>
                      </a:lnTo>
                      <a:lnTo>
                        <a:pt x="7537" y="6801"/>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7" name="Freeform 70">
                  <a:extLst>
                    <a:ext uri="{FF2B5EF4-FFF2-40B4-BE49-F238E27FC236}">
                      <a16:creationId xmlns:a16="http://schemas.microsoft.com/office/drawing/2014/main" id="{83C0A7CA-9986-5BC2-8CF2-C302B43BD7F7}"/>
                    </a:ext>
                  </a:extLst>
                </p:cNvPr>
                <p:cNvSpPr>
                  <a:spLocks/>
                </p:cNvSpPr>
                <p:nvPr/>
              </p:nvSpPr>
              <p:spPr bwMode="auto">
                <a:xfrm>
                  <a:off x="4694" y="2581"/>
                  <a:ext cx="20" cy="26"/>
                </a:xfrm>
                <a:custGeom>
                  <a:avLst/>
                  <a:gdLst>
                    <a:gd name="T0" fmla="*/ 18 w 20000"/>
                    <a:gd name="T1" fmla="*/ 7 h 20000"/>
                    <a:gd name="T2" fmla="*/ 20 w 20000"/>
                    <a:gd name="T3" fmla="*/ 21 h 20000"/>
                    <a:gd name="T4" fmla="*/ 5 w 20000"/>
                    <a:gd name="T5" fmla="*/ 26 h 20000"/>
                    <a:gd name="T6" fmla="*/ 0 w 20000"/>
                    <a:gd name="T7" fmla="*/ 20 h 20000"/>
                    <a:gd name="T8" fmla="*/ 0 w 20000"/>
                    <a:gd name="T9" fmla="*/ 10 h 20000"/>
                    <a:gd name="T10" fmla="*/ 7 w 20000"/>
                    <a:gd name="T11" fmla="*/ 0 h 20000"/>
                    <a:gd name="T12" fmla="*/ 7 w 20000"/>
                    <a:gd name="T13" fmla="*/ 7 h 20000"/>
                    <a:gd name="T14" fmla="*/ 18 w 20000"/>
                    <a:gd name="T15" fmla="*/ 7 h 20000"/>
                    <a:gd name="T16" fmla="*/ 0 60000 65536"/>
                    <a:gd name="T17" fmla="*/ 0 60000 65536"/>
                    <a:gd name="T18" fmla="*/ 0 60000 65536"/>
                    <a:gd name="T19" fmla="*/ 0 60000 65536"/>
                    <a:gd name="T20" fmla="*/ 0 60000 65536"/>
                    <a:gd name="T21" fmla="*/ 0 60000 65536"/>
                    <a:gd name="T22" fmla="*/ 0 60000 65536"/>
                    <a:gd name="T23" fmla="*/ 0 60000 65536"/>
                    <a:gd name="T24" fmla="*/ 0 w 20000"/>
                    <a:gd name="T25" fmla="*/ 0 h 20000"/>
                    <a:gd name="T26" fmla="*/ 20000 w 20000"/>
                    <a:gd name="T27" fmla="*/ 20000 h 20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000" h="20000">
                      <a:moveTo>
                        <a:pt x="17551" y="5000"/>
                      </a:moveTo>
                      <a:lnTo>
                        <a:pt x="20000" y="16250"/>
                      </a:lnTo>
                      <a:lnTo>
                        <a:pt x="4898" y="20000"/>
                      </a:lnTo>
                      <a:lnTo>
                        <a:pt x="0" y="15000"/>
                      </a:lnTo>
                      <a:lnTo>
                        <a:pt x="0" y="7500"/>
                      </a:lnTo>
                      <a:lnTo>
                        <a:pt x="6531" y="0"/>
                      </a:lnTo>
                      <a:lnTo>
                        <a:pt x="7347" y="5625"/>
                      </a:lnTo>
                      <a:lnTo>
                        <a:pt x="17551" y="5000"/>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8" name="Freeform 71">
                  <a:extLst>
                    <a:ext uri="{FF2B5EF4-FFF2-40B4-BE49-F238E27FC236}">
                      <a16:creationId xmlns:a16="http://schemas.microsoft.com/office/drawing/2014/main" id="{BED4E7E5-1FC3-CF6D-DEE6-D855A62E1F73}"/>
                    </a:ext>
                  </a:extLst>
                </p:cNvPr>
                <p:cNvSpPr>
                  <a:spLocks/>
                </p:cNvSpPr>
                <p:nvPr/>
              </p:nvSpPr>
              <p:spPr bwMode="auto">
                <a:xfrm>
                  <a:off x="4685" y="2619"/>
                  <a:ext cx="8" cy="8"/>
                </a:xfrm>
                <a:custGeom>
                  <a:avLst/>
                  <a:gdLst>
                    <a:gd name="T0" fmla="*/ 8 w 20000"/>
                    <a:gd name="T1" fmla="*/ 0 h 20000"/>
                    <a:gd name="T2" fmla="*/ 0 w 20000"/>
                    <a:gd name="T3" fmla="*/ 0 h 20000"/>
                    <a:gd name="T4" fmla="*/ 4 w 20000"/>
                    <a:gd name="T5" fmla="*/ 8 h 20000"/>
                    <a:gd name="T6" fmla="*/ 8 w 20000"/>
                    <a:gd name="T7" fmla="*/ 0 h 20000"/>
                    <a:gd name="T8" fmla="*/ 0 60000 65536"/>
                    <a:gd name="T9" fmla="*/ 0 60000 65536"/>
                    <a:gd name="T10" fmla="*/ 0 60000 65536"/>
                    <a:gd name="T11" fmla="*/ 0 60000 65536"/>
                    <a:gd name="T12" fmla="*/ 0 w 20000"/>
                    <a:gd name="T13" fmla="*/ 0 h 20000"/>
                    <a:gd name="T14" fmla="*/ 20000 w 20000"/>
                    <a:gd name="T15" fmla="*/ 20000 h 20000"/>
                  </a:gdLst>
                  <a:ahLst/>
                  <a:cxnLst>
                    <a:cxn ang="T8">
                      <a:pos x="T0" y="T1"/>
                    </a:cxn>
                    <a:cxn ang="T9">
                      <a:pos x="T2" y="T3"/>
                    </a:cxn>
                    <a:cxn ang="T10">
                      <a:pos x="T4" y="T5"/>
                    </a:cxn>
                    <a:cxn ang="T11">
                      <a:pos x="T6" y="T7"/>
                    </a:cxn>
                  </a:cxnLst>
                  <a:rect l="T12" t="T13" r="T14" b="T15"/>
                  <a:pathLst>
                    <a:path w="20000" h="20000">
                      <a:moveTo>
                        <a:pt x="20000" y="0"/>
                      </a:moveTo>
                      <a:lnTo>
                        <a:pt x="0" y="0"/>
                      </a:lnTo>
                      <a:lnTo>
                        <a:pt x="9091" y="20000"/>
                      </a:lnTo>
                      <a:lnTo>
                        <a:pt x="2000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9" name="Freeform 72">
                  <a:extLst>
                    <a:ext uri="{FF2B5EF4-FFF2-40B4-BE49-F238E27FC236}">
                      <a16:creationId xmlns:a16="http://schemas.microsoft.com/office/drawing/2014/main" id="{B9246279-B63A-1C90-A210-44CC3818180C}"/>
                    </a:ext>
                  </a:extLst>
                </p:cNvPr>
                <p:cNvSpPr>
                  <a:spLocks/>
                </p:cNvSpPr>
                <p:nvPr/>
              </p:nvSpPr>
              <p:spPr bwMode="auto">
                <a:xfrm>
                  <a:off x="4438" y="3046"/>
                  <a:ext cx="194" cy="252"/>
                </a:xfrm>
                <a:custGeom>
                  <a:avLst/>
                  <a:gdLst>
                    <a:gd name="T0" fmla="*/ 44 w 20000"/>
                    <a:gd name="T1" fmla="*/ 111 h 20000"/>
                    <a:gd name="T2" fmla="*/ 15 w 20000"/>
                    <a:gd name="T3" fmla="*/ 163 h 20000"/>
                    <a:gd name="T4" fmla="*/ 12 w 20000"/>
                    <a:gd name="T5" fmla="*/ 179 h 20000"/>
                    <a:gd name="T6" fmla="*/ 7 w 20000"/>
                    <a:gd name="T7" fmla="*/ 181 h 20000"/>
                    <a:gd name="T8" fmla="*/ 0 w 20000"/>
                    <a:gd name="T9" fmla="*/ 208 h 20000"/>
                    <a:gd name="T10" fmla="*/ 8 w 20000"/>
                    <a:gd name="T11" fmla="*/ 225 h 20000"/>
                    <a:gd name="T12" fmla="*/ 25 w 20000"/>
                    <a:gd name="T13" fmla="*/ 247 h 20000"/>
                    <a:gd name="T14" fmla="*/ 34 w 20000"/>
                    <a:gd name="T15" fmla="*/ 245 h 20000"/>
                    <a:gd name="T16" fmla="*/ 35 w 20000"/>
                    <a:gd name="T17" fmla="*/ 238 h 20000"/>
                    <a:gd name="T18" fmla="*/ 54 w 20000"/>
                    <a:gd name="T19" fmla="*/ 252 h 20000"/>
                    <a:gd name="T20" fmla="*/ 60 w 20000"/>
                    <a:gd name="T21" fmla="*/ 245 h 20000"/>
                    <a:gd name="T22" fmla="*/ 68 w 20000"/>
                    <a:gd name="T23" fmla="*/ 242 h 20000"/>
                    <a:gd name="T24" fmla="*/ 65 w 20000"/>
                    <a:gd name="T25" fmla="*/ 228 h 20000"/>
                    <a:gd name="T26" fmla="*/ 77 w 20000"/>
                    <a:gd name="T27" fmla="*/ 220 h 20000"/>
                    <a:gd name="T28" fmla="*/ 80 w 20000"/>
                    <a:gd name="T29" fmla="*/ 201 h 20000"/>
                    <a:gd name="T30" fmla="*/ 87 w 20000"/>
                    <a:gd name="T31" fmla="*/ 167 h 20000"/>
                    <a:gd name="T32" fmla="*/ 90 w 20000"/>
                    <a:gd name="T33" fmla="*/ 162 h 20000"/>
                    <a:gd name="T34" fmla="*/ 87 w 20000"/>
                    <a:gd name="T35" fmla="*/ 143 h 20000"/>
                    <a:gd name="T36" fmla="*/ 99 w 20000"/>
                    <a:gd name="T37" fmla="*/ 138 h 20000"/>
                    <a:gd name="T38" fmla="*/ 114 w 20000"/>
                    <a:gd name="T39" fmla="*/ 131 h 20000"/>
                    <a:gd name="T40" fmla="*/ 110 w 20000"/>
                    <a:gd name="T41" fmla="*/ 122 h 20000"/>
                    <a:gd name="T42" fmla="*/ 121 w 20000"/>
                    <a:gd name="T43" fmla="*/ 112 h 20000"/>
                    <a:gd name="T44" fmla="*/ 172 w 20000"/>
                    <a:gd name="T45" fmla="*/ 35 h 20000"/>
                    <a:gd name="T46" fmla="*/ 184 w 20000"/>
                    <a:gd name="T47" fmla="*/ 24 h 20000"/>
                    <a:gd name="T48" fmla="*/ 182 w 20000"/>
                    <a:gd name="T49" fmla="*/ 18 h 20000"/>
                    <a:gd name="T50" fmla="*/ 192 w 20000"/>
                    <a:gd name="T51" fmla="*/ 12 h 20000"/>
                    <a:gd name="T52" fmla="*/ 194 w 20000"/>
                    <a:gd name="T53" fmla="*/ 3 h 20000"/>
                    <a:gd name="T54" fmla="*/ 169 w 20000"/>
                    <a:gd name="T55" fmla="*/ 15 h 20000"/>
                    <a:gd name="T56" fmla="*/ 174 w 20000"/>
                    <a:gd name="T57" fmla="*/ 0 h 20000"/>
                    <a:gd name="T58" fmla="*/ 154 w 20000"/>
                    <a:gd name="T59" fmla="*/ 0 h 20000"/>
                    <a:gd name="T60" fmla="*/ 145 w 20000"/>
                    <a:gd name="T61" fmla="*/ 8 h 20000"/>
                    <a:gd name="T62" fmla="*/ 138 w 20000"/>
                    <a:gd name="T63" fmla="*/ 8 h 20000"/>
                    <a:gd name="T64" fmla="*/ 129 w 20000"/>
                    <a:gd name="T65" fmla="*/ 1 h 20000"/>
                    <a:gd name="T66" fmla="*/ 117 w 20000"/>
                    <a:gd name="T67" fmla="*/ 29 h 20000"/>
                    <a:gd name="T68" fmla="*/ 84 w 20000"/>
                    <a:gd name="T69" fmla="*/ 37 h 20000"/>
                    <a:gd name="T70" fmla="*/ 77 w 20000"/>
                    <a:gd name="T71" fmla="*/ 48 h 20000"/>
                    <a:gd name="T72" fmla="*/ 73 w 20000"/>
                    <a:gd name="T73" fmla="*/ 48 h 20000"/>
                    <a:gd name="T74" fmla="*/ 76 w 20000"/>
                    <a:gd name="T75" fmla="*/ 42 h 20000"/>
                    <a:gd name="T76" fmla="*/ 68 w 20000"/>
                    <a:gd name="T77" fmla="*/ 46 h 20000"/>
                    <a:gd name="T78" fmla="*/ 46 w 20000"/>
                    <a:gd name="T79" fmla="*/ 52 h 20000"/>
                    <a:gd name="T80" fmla="*/ 35 w 20000"/>
                    <a:gd name="T81" fmla="*/ 53 h 20000"/>
                    <a:gd name="T82" fmla="*/ 31 w 20000"/>
                    <a:gd name="T83" fmla="*/ 70 h 20000"/>
                    <a:gd name="T84" fmla="*/ 18 w 20000"/>
                    <a:gd name="T85" fmla="*/ 112 h 20000"/>
                    <a:gd name="T86" fmla="*/ 20 w 20000"/>
                    <a:gd name="T87" fmla="*/ 117 h 20000"/>
                    <a:gd name="T88" fmla="*/ 30 w 20000"/>
                    <a:gd name="T89" fmla="*/ 114 h 20000"/>
                    <a:gd name="T90" fmla="*/ 44 w 20000"/>
                    <a:gd name="T91" fmla="*/ 111 h 200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000"/>
                    <a:gd name="T139" fmla="*/ 0 h 20000"/>
                    <a:gd name="T140" fmla="*/ 20000 w 20000"/>
                    <a:gd name="T141" fmla="*/ 20000 h 2000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000" h="20000">
                      <a:moveTo>
                        <a:pt x="4577" y="8825"/>
                      </a:moveTo>
                      <a:lnTo>
                        <a:pt x="1567" y="12921"/>
                      </a:lnTo>
                      <a:lnTo>
                        <a:pt x="1237" y="14190"/>
                      </a:lnTo>
                      <a:lnTo>
                        <a:pt x="742" y="14381"/>
                      </a:lnTo>
                      <a:lnTo>
                        <a:pt x="0" y="16476"/>
                      </a:lnTo>
                      <a:lnTo>
                        <a:pt x="825" y="17841"/>
                      </a:lnTo>
                      <a:lnTo>
                        <a:pt x="2557" y="19619"/>
                      </a:lnTo>
                      <a:lnTo>
                        <a:pt x="3505" y="19429"/>
                      </a:lnTo>
                      <a:lnTo>
                        <a:pt x="3588" y="18857"/>
                      </a:lnTo>
                      <a:lnTo>
                        <a:pt x="5567" y="20000"/>
                      </a:lnTo>
                      <a:lnTo>
                        <a:pt x="6227" y="19429"/>
                      </a:lnTo>
                      <a:lnTo>
                        <a:pt x="6969" y="19238"/>
                      </a:lnTo>
                      <a:lnTo>
                        <a:pt x="6722" y="18095"/>
                      </a:lnTo>
                      <a:lnTo>
                        <a:pt x="7959" y="17429"/>
                      </a:lnTo>
                      <a:lnTo>
                        <a:pt x="8206" y="15968"/>
                      </a:lnTo>
                      <a:lnTo>
                        <a:pt x="8948" y="13238"/>
                      </a:lnTo>
                      <a:lnTo>
                        <a:pt x="9278" y="12857"/>
                      </a:lnTo>
                      <a:lnTo>
                        <a:pt x="8948" y="11365"/>
                      </a:lnTo>
                      <a:lnTo>
                        <a:pt x="10227" y="10984"/>
                      </a:lnTo>
                      <a:lnTo>
                        <a:pt x="11794" y="10413"/>
                      </a:lnTo>
                      <a:lnTo>
                        <a:pt x="11299" y="9651"/>
                      </a:lnTo>
                      <a:lnTo>
                        <a:pt x="12454" y="8889"/>
                      </a:lnTo>
                      <a:lnTo>
                        <a:pt x="17773" y="2762"/>
                      </a:lnTo>
                      <a:lnTo>
                        <a:pt x="18928" y="1905"/>
                      </a:lnTo>
                      <a:lnTo>
                        <a:pt x="18763" y="1397"/>
                      </a:lnTo>
                      <a:lnTo>
                        <a:pt x="19753" y="952"/>
                      </a:lnTo>
                      <a:lnTo>
                        <a:pt x="20000" y="254"/>
                      </a:lnTo>
                      <a:lnTo>
                        <a:pt x="17443" y="1206"/>
                      </a:lnTo>
                      <a:lnTo>
                        <a:pt x="17938" y="0"/>
                      </a:lnTo>
                      <a:lnTo>
                        <a:pt x="15918" y="0"/>
                      </a:lnTo>
                      <a:lnTo>
                        <a:pt x="14928" y="635"/>
                      </a:lnTo>
                      <a:lnTo>
                        <a:pt x="14186" y="635"/>
                      </a:lnTo>
                      <a:lnTo>
                        <a:pt x="13278" y="63"/>
                      </a:lnTo>
                      <a:lnTo>
                        <a:pt x="12041" y="2286"/>
                      </a:lnTo>
                      <a:lnTo>
                        <a:pt x="8701" y="2952"/>
                      </a:lnTo>
                      <a:lnTo>
                        <a:pt x="7959" y="3841"/>
                      </a:lnTo>
                      <a:lnTo>
                        <a:pt x="7546" y="3841"/>
                      </a:lnTo>
                      <a:lnTo>
                        <a:pt x="7794" y="3333"/>
                      </a:lnTo>
                      <a:lnTo>
                        <a:pt x="6969" y="3651"/>
                      </a:lnTo>
                      <a:lnTo>
                        <a:pt x="4742" y="4095"/>
                      </a:lnTo>
                      <a:lnTo>
                        <a:pt x="3588" y="4222"/>
                      </a:lnTo>
                      <a:lnTo>
                        <a:pt x="3216" y="5556"/>
                      </a:lnTo>
                      <a:lnTo>
                        <a:pt x="1814" y="8889"/>
                      </a:lnTo>
                      <a:lnTo>
                        <a:pt x="2062" y="9270"/>
                      </a:lnTo>
                      <a:lnTo>
                        <a:pt x="3052" y="9016"/>
                      </a:lnTo>
                      <a:lnTo>
                        <a:pt x="4577" y="8825"/>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0" name="Freeform 73">
                  <a:extLst>
                    <a:ext uri="{FF2B5EF4-FFF2-40B4-BE49-F238E27FC236}">
                      <a16:creationId xmlns:a16="http://schemas.microsoft.com/office/drawing/2014/main" id="{195EE340-F89E-90AE-F09F-F050AF5C9EB5}"/>
                    </a:ext>
                  </a:extLst>
                </p:cNvPr>
                <p:cNvSpPr>
                  <a:spLocks/>
                </p:cNvSpPr>
                <p:nvPr/>
              </p:nvSpPr>
              <p:spPr bwMode="auto">
                <a:xfrm>
                  <a:off x="4576" y="2934"/>
                  <a:ext cx="77" cy="111"/>
                </a:xfrm>
                <a:custGeom>
                  <a:avLst/>
                  <a:gdLst>
                    <a:gd name="T0" fmla="*/ 48 w 20000"/>
                    <a:gd name="T1" fmla="*/ 38 h 20000"/>
                    <a:gd name="T2" fmla="*/ 38 w 20000"/>
                    <a:gd name="T3" fmla="*/ 41 h 20000"/>
                    <a:gd name="T4" fmla="*/ 30 w 20000"/>
                    <a:gd name="T5" fmla="*/ 38 h 20000"/>
                    <a:gd name="T6" fmla="*/ 21 w 20000"/>
                    <a:gd name="T7" fmla="*/ 10 h 20000"/>
                    <a:gd name="T8" fmla="*/ 14 w 20000"/>
                    <a:gd name="T9" fmla="*/ 9 h 20000"/>
                    <a:gd name="T10" fmla="*/ 9 w 20000"/>
                    <a:gd name="T11" fmla="*/ 0 h 20000"/>
                    <a:gd name="T12" fmla="*/ 0 w 20000"/>
                    <a:gd name="T13" fmla="*/ 4 h 20000"/>
                    <a:gd name="T14" fmla="*/ 0 w 20000"/>
                    <a:gd name="T15" fmla="*/ 43 h 20000"/>
                    <a:gd name="T16" fmla="*/ 2 w 20000"/>
                    <a:gd name="T17" fmla="*/ 92 h 20000"/>
                    <a:gd name="T18" fmla="*/ 28 w 20000"/>
                    <a:gd name="T19" fmla="*/ 111 h 20000"/>
                    <a:gd name="T20" fmla="*/ 41 w 20000"/>
                    <a:gd name="T21" fmla="*/ 99 h 20000"/>
                    <a:gd name="T22" fmla="*/ 55 w 20000"/>
                    <a:gd name="T23" fmla="*/ 93 h 20000"/>
                    <a:gd name="T24" fmla="*/ 72 w 20000"/>
                    <a:gd name="T25" fmla="*/ 62 h 20000"/>
                    <a:gd name="T26" fmla="*/ 67 w 20000"/>
                    <a:gd name="T27" fmla="*/ 61 h 20000"/>
                    <a:gd name="T28" fmla="*/ 77 w 20000"/>
                    <a:gd name="T29" fmla="*/ 45 h 20000"/>
                    <a:gd name="T30" fmla="*/ 69 w 20000"/>
                    <a:gd name="T31" fmla="*/ 43 h 20000"/>
                    <a:gd name="T32" fmla="*/ 69 w 20000"/>
                    <a:gd name="T33" fmla="*/ 31 h 20000"/>
                    <a:gd name="T34" fmla="*/ 52 w 20000"/>
                    <a:gd name="T35" fmla="*/ 35 h 20000"/>
                    <a:gd name="T36" fmla="*/ 48 w 20000"/>
                    <a:gd name="T37" fmla="*/ 38 h 200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000"/>
                    <a:gd name="T58" fmla="*/ 0 h 20000"/>
                    <a:gd name="T59" fmla="*/ 20000 w 20000"/>
                    <a:gd name="T60" fmla="*/ 20000 h 200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000" h="20000">
                      <a:moveTo>
                        <a:pt x="12539" y="6931"/>
                      </a:moveTo>
                      <a:lnTo>
                        <a:pt x="9741" y="7365"/>
                      </a:lnTo>
                      <a:lnTo>
                        <a:pt x="7876" y="6787"/>
                      </a:lnTo>
                      <a:lnTo>
                        <a:pt x="5389" y="1733"/>
                      </a:lnTo>
                      <a:lnTo>
                        <a:pt x="3523" y="1588"/>
                      </a:lnTo>
                      <a:lnTo>
                        <a:pt x="2280" y="0"/>
                      </a:lnTo>
                      <a:lnTo>
                        <a:pt x="0" y="722"/>
                      </a:lnTo>
                      <a:lnTo>
                        <a:pt x="0" y="7798"/>
                      </a:lnTo>
                      <a:lnTo>
                        <a:pt x="415" y="16534"/>
                      </a:lnTo>
                      <a:lnTo>
                        <a:pt x="7254" y="20000"/>
                      </a:lnTo>
                      <a:lnTo>
                        <a:pt x="10674" y="17834"/>
                      </a:lnTo>
                      <a:lnTo>
                        <a:pt x="14404" y="16823"/>
                      </a:lnTo>
                      <a:lnTo>
                        <a:pt x="18756" y="11191"/>
                      </a:lnTo>
                      <a:lnTo>
                        <a:pt x="17306" y="10903"/>
                      </a:lnTo>
                      <a:lnTo>
                        <a:pt x="20000" y="8087"/>
                      </a:lnTo>
                      <a:lnTo>
                        <a:pt x="17927" y="7798"/>
                      </a:lnTo>
                      <a:lnTo>
                        <a:pt x="17927" y="5632"/>
                      </a:lnTo>
                      <a:lnTo>
                        <a:pt x="13575" y="6354"/>
                      </a:lnTo>
                      <a:lnTo>
                        <a:pt x="12539" y="6931"/>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1" name="Freeform 74">
                  <a:extLst>
                    <a:ext uri="{FF2B5EF4-FFF2-40B4-BE49-F238E27FC236}">
                      <a16:creationId xmlns:a16="http://schemas.microsoft.com/office/drawing/2014/main" id="{51D8BBF9-E4AB-95AE-FABA-58E4941C7FDC}"/>
                    </a:ext>
                  </a:extLst>
                </p:cNvPr>
                <p:cNvSpPr>
                  <a:spLocks/>
                </p:cNvSpPr>
                <p:nvPr/>
              </p:nvSpPr>
              <p:spPr bwMode="auto">
                <a:xfrm>
                  <a:off x="4723" y="3087"/>
                  <a:ext cx="19" cy="16"/>
                </a:xfrm>
                <a:custGeom>
                  <a:avLst/>
                  <a:gdLst>
                    <a:gd name="T0" fmla="*/ 19 w 20000"/>
                    <a:gd name="T1" fmla="*/ 0 h 20000"/>
                    <a:gd name="T2" fmla="*/ 17 w 20000"/>
                    <a:gd name="T3" fmla="*/ 3 h 20000"/>
                    <a:gd name="T4" fmla="*/ 2 w 20000"/>
                    <a:gd name="T5" fmla="*/ 16 h 20000"/>
                    <a:gd name="T6" fmla="*/ 0 w 20000"/>
                    <a:gd name="T7" fmla="*/ 13 h 20000"/>
                    <a:gd name="T8" fmla="*/ 15 w 20000"/>
                    <a:gd name="T9" fmla="*/ 3 h 20000"/>
                    <a:gd name="T10" fmla="*/ 19 w 20000"/>
                    <a:gd name="T11" fmla="*/ 0 h 20000"/>
                    <a:gd name="T12" fmla="*/ 0 60000 65536"/>
                    <a:gd name="T13" fmla="*/ 0 60000 65536"/>
                    <a:gd name="T14" fmla="*/ 0 60000 65536"/>
                    <a:gd name="T15" fmla="*/ 0 60000 65536"/>
                    <a:gd name="T16" fmla="*/ 0 60000 65536"/>
                    <a:gd name="T17" fmla="*/ 0 60000 65536"/>
                    <a:gd name="T18" fmla="*/ 0 w 20000"/>
                    <a:gd name="T19" fmla="*/ 0 h 20000"/>
                    <a:gd name="T20" fmla="*/ 20000 w 20000"/>
                    <a:gd name="T21" fmla="*/ 20000 h 20000"/>
                  </a:gdLst>
                  <a:ahLst/>
                  <a:cxnLst>
                    <a:cxn ang="T12">
                      <a:pos x="T0" y="T1"/>
                    </a:cxn>
                    <a:cxn ang="T13">
                      <a:pos x="T2" y="T3"/>
                    </a:cxn>
                    <a:cxn ang="T14">
                      <a:pos x="T4" y="T5"/>
                    </a:cxn>
                    <a:cxn ang="T15">
                      <a:pos x="T6" y="T7"/>
                    </a:cxn>
                    <a:cxn ang="T16">
                      <a:pos x="T8" y="T9"/>
                    </a:cxn>
                    <a:cxn ang="T17">
                      <a:pos x="T10" y="T11"/>
                    </a:cxn>
                  </a:cxnLst>
                  <a:rect l="T18" t="T19" r="T20" b="T21"/>
                  <a:pathLst>
                    <a:path w="20000" h="20000">
                      <a:moveTo>
                        <a:pt x="20000" y="0"/>
                      </a:moveTo>
                      <a:lnTo>
                        <a:pt x="18261" y="4211"/>
                      </a:lnTo>
                      <a:lnTo>
                        <a:pt x="1739" y="20000"/>
                      </a:lnTo>
                      <a:lnTo>
                        <a:pt x="0" y="16842"/>
                      </a:lnTo>
                      <a:lnTo>
                        <a:pt x="15652" y="3158"/>
                      </a:lnTo>
                      <a:lnTo>
                        <a:pt x="20000"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2" name="Freeform 75">
                  <a:extLst>
                    <a:ext uri="{FF2B5EF4-FFF2-40B4-BE49-F238E27FC236}">
                      <a16:creationId xmlns:a16="http://schemas.microsoft.com/office/drawing/2014/main" id="{46F6F9F9-2F0E-6F30-03BC-11E72E95ED13}"/>
                    </a:ext>
                  </a:extLst>
                </p:cNvPr>
                <p:cNvSpPr>
                  <a:spLocks/>
                </p:cNvSpPr>
                <p:nvPr/>
              </p:nvSpPr>
              <p:spPr bwMode="auto">
                <a:xfrm>
                  <a:off x="4615" y="3033"/>
                  <a:ext cx="10" cy="9"/>
                </a:xfrm>
                <a:custGeom>
                  <a:avLst/>
                  <a:gdLst>
                    <a:gd name="T0" fmla="*/ 10 w 20000"/>
                    <a:gd name="T1" fmla="*/ 6 h 20000"/>
                    <a:gd name="T2" fmla="*/ 10 w 20000"/>
                    <a:gd name="T3" fmla="*/ 0 h 20000"/>
                    <a:gd name="T4" fmla="*/ 0 w 20000"/>
                    <a:gd name="T5" fmla="*/ 7 h 20000"/>
                    <a:gd name="T6" fmla="*/ 8 w 20000"/>
                    <a:gd name="T7" fmla="*/ 9 h 20000"/>
                    <a:gd name="T8" fmla="*/ 10 w 20000"/>
                    <a:gd name="T9" fmla="*/ 6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20000" y="13333"/>
                      </a:moveTo>
                      <a:lnTo>
                        <a:pt x="20000" y="0"/>
                      </a:lnTo>
                      <a:lnTo>
                        <a:pt x="0" y="15000"/>
                      </a:lnTo>
                      <a:lnTo>
                        <a:pt x="15200" y="20000"/>
                      </a:lnTo>
                      <a:lnTo>
                        <a:pt x="20000" y="13333"/>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3" name="Freeform 76">
                  <a:extLst>
                    <a:ext uri="{FF2B5EF4-FFF2-40B4-BE49-F238E27FC236}">
                      <a16:creationId xmlns:a16="http://schemas.microsoft.com/office/drawing/2014/main" id="{C4A580FD-70AB-E490-BD7E-8ECD783EB9AA}"/>
                    </a:ext>
                  </a:extLst>
                </p:cNvPr>
                <p:cNvSpPr>
                  <a:spLocks/>
                </p:cNvSpPr>
                <p:nvPr/>
              </p:nvSpPr>
              <p:spPr bwMode="auto">
                <a:xfrm>
                  <a:off x="4429" y="3015"/>
                  <a:ext cx="112" cy="60"/>
                </a:xfrm>
                <a:custGeom>
                  <a:avLst/>
                  <a:gdLst>
                    <a:gd name="T0" fmla="*/ 72 w 20000"/>
                    <a:gd name="T1" fmla="*/ 54 h 20000"/>
                    <a:gd name="T2" fmla="*/ 41 w 20000"/>
                    <a:gd name="T3" fmla="*/ 58 h 20000"/>
                    <a:gd name="T4" fmla="*/ 37 w 20000"/>
                    <a:gd name="T5" fmla="*/ 54 h 20000"/>
                    <a:gd name="T6" fmla="*/ 22 w 20000"/>
                    <a:gd name="T7" fmla="*/ 60 h 20000"/>
                    <a:gd name="T8" fmla="*/ 18 w 20000"/>
                    <a:gd name="T9" fmla="*/ 49 h 20000"/>
                    <a:gd name="T10" fmla="*/ 4 w 20000"/>
                    <a:gd name="T11" fmla="*/ 56 h 20000"/>
                    <a:gd name="T12" fmla="*/ 0 w 20000"/>
                    <a:gd name="T13" fmla="*/ 49 h 20000"/>
                    <a:gd name="T14" fmla="*/ 4 w 20000"/>
                    <a:gd name="T15" fmla="*/ 19 h 20000"/>
                    <a:gd name="T16" fmla="*/ 17 w 20000"/>
                    <a:gd name="T17" fmla="*/ 39 h 20000"/>
                    <a:gd name="T18" fmla="*/ 28 w 20000"/>
                    <a:gd name="T19" fmla="*/ 44 h 20000"/>
                    <a:gd name="T20" fmla="*/ 36 w 20000"/>
                    <a:gd name="T21" fmla="*/ 41 h 20000"/>
                    <a:gd name="T22" fmla="*/ 71 w 20000"/>
                    <a:gd name="T23" fmla="*/ 29 h 20000"/>
                    <a:gd name="T24" fmla="*/ 112 w 20000"/>
                    <a:gd name="T25" fmla="*/ 0 h 20000"/>
                    <a:gd name="T26" fmla="*/ 102 w 20000"/>
                    <a:gd name="T27" fmla="*/ 15 h 20000"/>
                    <a:gd name="T28" fmla="*/ 106 w 20000"/>
                    <a:gd name="T29" fmla="*/ 32 h 20000"/>
                    <a:gd name="T30" fmla="*/ 108 w 20000"/>
                    <a:gd name="T31" fmla="*/ 42 h 20000"/>
                    <a:gd name="T32" fmla="*/ 95 w 20000"/>
                    <a:gd name="T33" fmla="*/ 51 h 20000"/>
                    <a:gd name="T34" fmla="*/ 86 w 20000"/>
                    <a:gd name="T35" fmla="*/ 50 h 20000"/>
                    <a:gd name="T36" fmla="*/ 72 w 20000"/>
                    <a:gd name="T37" fmla="*/ 54 h 200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000"/>
                    <a:gd name="T58" fmla="*/ 0 h 20000"/>
                    <a:gd name="T59" fmla="*/ 20000 w 20000"/>
                    <a:gd name="T60" fmla="*/ 20000 h 200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000" h="20000">
                      <a:moveTo>
                        <a:pt x="12883" y="17881"/>
                      </a:moveTo>
                      <a:lnTo>
                        <a:pt x="7260" y="19205"/>
                      </a:lnTo>
                      <a:lnTo>
                        <a:pt x="6690" y="17881"/>
                      </a:lnTo>
                      <a:lnTo>
                        <a:pt x="3843" y="20000"/>
                      </a:lnTo>
                      <a:lnTo>
                        <a:pt x="3274" y="16291"/>
                      </a:lnTo>
                      <a:lnTo>
                        <a:pt x="712" y="18675"/>
                      </a:lnTo>
                      <a:lnTo>
                        <a:pt x="0" y="16291"/>
                      </a:lnTo>
                      <a:lnTo>
                        <a:pt x="712" y="6358"/>
                      </a:lnTo>
                      <a:lnTo>
                        <a:pt x="2989" y="13113"/>
                      </a:lnTo>
                      <a:lnTo>
                        <a:pt x="4982" y="14702"/>
                      </a:lnTo>
                      <a:lnTo>
                        <a:pt x="6406" y="13642"/>
                      </a:lnTo>
                      <a:lnTo>
                        <a:pt x="12740" y="9801"/>
                      </a:lnTo>
                      <a:lnTo>
                        <a:pt x="20000" y="0"/>
                      </a:lnTo>
                      <a:lnTo>
                        <a:pt x="18292" y="5033"/>
                      </a:lnTo>
                      <a:lnTo>
                        <a:pt x="18861" y="10728"/>
                      </a:lnTo>
                      <a:lnTo>
                        <a:pt x="19288" y="13907"/>
                      </a:lnTo>
                      <a:lnTo>
                        <a:pt x="17011" y="17086"/>
                      </a:lnTo>
                      <a:lnTo>
                        <a:pt x="15302" y="16821"/>
                      </a:lnTo>
                      <a:lnTo>
                        <a:pt x="12883" y="17881"/>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4" name="Freeform 77">
                  <a:extLst>
                    <a:ext uri="{FF2B5EF4-FFF2-40B4-BE49-F238E27FC236}">
                      <a16:creationId xmlns:a16="http://schemas.microsoft.com/office/drawing/2014/main" id="{FDDD5ABE-D4D5-38E5-81E7-317E2399BC25}"/>
                    </a:ext>
                  </a:extLst>
                </p:cNvPr>
                <p:cNvSpPr>
                  <a:spLocks/>
                </p:cNvSpPr>
                <p:nvPr/>
              </p:nvSpPr>
              <p:spPr bwMode="auto">
                <a:xfrm>
                  <a:off x="4008" y="2926"/>
                  <a:ext cx="358" cy="501"/>
                </a:xfrm>
                <a:custGeom>
                  <a:avLst/>
                  <a:gdLst>
                    <a:gd name="T0" fmla="*/ 157 w 20000"/>
                    <a:gd name="T1" fmla="*/ 410 h 20000"/>
                    <a:gd name="T2" fmla="*/ 166 w 20000"/>
                    <a:gd name="T3" fmla="*/ 405 h 20000"/>
                    <a:gd name="T4" fmla="*/ 171 w 20000"/>
                    <a:gd name="T5" fmla="*/ 398 h 20000"/>
                    <a:gd name="T6" fmla="*/ 174 w 20000"/>
                    <a:gd name="T7" fmla="*/ 394 h 20000"/>
                    <a:gd name="T8" fmla="*/ 184 w 20000"/>
                    <a:gd name="T9" fmla="*/ 394 h 20000"/>
                    <a:gd name="T10" fmla="*/ 189 w 20000"/>
                    <a:gd name="T11" fmla="*/ 381 h 20000"/>
                    <a:gd name="T12" fmla="*/ 184 w 20000"/>
                    <a:gd name="T13" fmla="*/ 362 h 20000"/>
                    <a:gd name="T14" fmla="*/ 189 w 20000"/>
                    <a:gd name="T15" fmla="*/ 337 h 20000"/>
                    <a:gd name="T16" fmla="*/ 184 w 20000"/>
                    <a:gd name="T17" fmla="*/ 326 h 20000"/>
                    <a:gd name="T18" fmla="*/ 182 w 20000"/>
                    <a:gd name="T19" fmla="*/ 302 h 20000"/>
                    <a:gd name="T20" fmla="*/ 176 w 20000"/>
                    <a:gd name="T21" fmla="*/ 282 h 20000"/>
                    <a:gd name="T22" fmla="*/ 196 w 20000"/>
                    <a:gd name="T23" fmla="*/ 224 h 20000"/>
                    <a:gd name="T24" fmla="*/ 218 w 20000"/>
                    <a:gd name="T25" fmla="*/ 190 h 20000"/>
                    <a:gd name="T26" fmla="*/ 217 w 20000"/>
                    <a:gd name="T27" fmla="*/ 161 h 20000"/>
                    <a:gd name="T28" fmla="*/ 236 w 20000"/>
                    <a:gd name="T29" fmla="*/ 145 h 20000"/>
                    <a:gd name="T30" fmla="*/ 259 w 20000"/>
                    <a:gd name="T31" fmla="*/ 137 h 20000"/>
                    <a:gd name="T32" fmla="*/ 266 w 20000"/>
                    <a:gd name="T33" fmla="*/ 131 h 20000"/>
                    <a:gd name="T34" fmla="*/ 280 w 20000"/>
                    <a:gd name="T35" fmla="*/ 111 h 20000"/>
                    <a:gd name="T36" fmla="*/ 300 w 20000"/>
                    <a:gd name="T37" fmla="*/ 90 h 20000"/>
                    <a:gd name="T38" fmla="*/ 348 w 20000"/>
                    <a:gd name="T39" fmla="*/ 54 h 20000"/>
                    <a:gd name="T40" fmla="*/ 355 w 20000"/>
                    <a:gd name="T41" fmla="*/ 20 h 20000"/>
                    <a:gd name="T42" fmla="*/ 348 w 20000"/>
                    <a:gd name="T43" fmla="*/ 7 h 20000"/>
                    <a:gd name="T44" fmla="*/ 295 w 20000"/>
                    <a:gd name="T45" fmla="*/ 6 h 20000"/>
                    <a:gd name="T46" fmla="*/ 193 w 20000"/>
                    <a:gd name="T47" fmla="*/ 114 h 20000"/>
                    <a:gd name="T48" fmla="*/ 154 w 20000"/>
                    <a:gd name="T49" fmla="*/ 202 h 20000"/>
                    <a:gd name="T50" fmla="*/ 142 w 20000"/>
                    <a:gd name="T51" fmla="*/ 272 h 20000"/>
                    <a:gd name="T52" fmla="*/ 114 w 20000"/>
                    <a:gd name="T53" fmla="*/ 313 h 20000"/>
                    <a:gd name="T54" fmla="*/ 82 w 20000"/>
                    <a:gd name="T55" fmla="*/ 352 h 20000"/>
                    <a:gd name="T56" fmla="*/ 49 w 20000"/>
                    <a:gd name="T57" fmla="*/ 425 h 20000"/>
                    <a:gd name="T58" fmla="*/ 34 w 20000"/>
                    <a:gd name="T59" fmla="*/ 466 h 20000"/>
                    <a:gd name="T60" fmla="*/ 7 w 20000"/>
                    <a:gd name="T61" fmla="*/ 499 h 20000"/>
                    <a:gd name="T62" fmla="*/ 41 w 20000"/>
                    <a:gd name="T63" fmla="*/ 484 h 20000"/>
                    <a:gd name="T64" fmla="*/ 60 w 20000"/>
                    <a:gd name="T65" fmla="*/ 475 h 20000"/>
                    <a:gd name="T66" fmla="*/ 78 w 20000"/>
                    <a:gd name="T67" fmla="*/ 466 h 20000"/>
                    <a:gd name="T68" fmla="*/ 111 w 20000"/>
                    <a:gd name="T69" fmla="*/ 450 h 20000"/>
                    <a:gd name="T70" fmla="*/ 160 w 20000"/>
                    <a:gd name="T71" fmla="*/ 426 h 200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0000"/>
                    <a:gd name="T109" fmla="*/ 0 h 20000"/>
                    <a:gd name="T110" fmla="*/ 20000 w 20000"/>
                    <a:gd name="T111" fmla="*/ 20000 h 2000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0000" h="20000">
                      <a:moveTo>
                        <a:pt x="8939" y="17018"/>
                      </a:moveTo>
                      <a:lnTo>
                        <a:pt x="8760" y="16380"/>
                      </a:lnTo>
                      <a:lnTo>
                        <a:pt x="9207" y="16093"/>
                      </a:lnTo>
                      <a:lnTo>
                        <a:pt x="9296" y="16156"/>
                      </a:lnTo>
                      <a:lnTo>
                        <a:pt x="9564" y="16061"/>
                      </a:lnTo>
                      <a:lnTo>
                        <a:pt x="9564" y="15901"/>
                      </a:lnTo>
                      <a:lnTo>
                        <a:pt x="9698" y="15997"/>
                      </a:lnTo>
                      <a:lnTo>
                        <a:pt x="9698" y="15710"/>
                      </a:lnTo>
                      <a:lnTo>
                        <a:pt x="10302" y="15869"/>
                      </a:lnTo>
                      <a:lnTo>
                        <a:pt x="10257" y="15710"/>
                      </a:lnTo>
                      <a:lnTo>
                        <a:pt x="10257" y="15231"/>
                      </a:lnTo>
                      <a:lnTo>
                        <a:pt x="10570" y="15199"/>
                      </a:lnTo>
                      <a:lnTo>
                        <a:pt x="10257" y="14641"/>
                      </a:lnTo>
                      <a:lnTo>
                        <a:pt x="10302" y="14450"/>
                      </a:lnTo>
                      <a:lnTo>
                        <a:pt x="10570" y="14067"/>
                      </a:lnTo>
                      <a:lnTo>
                        <a:pt x="10570" y="13461"/>
                      </a:lnTo>
                      <a:lnTo>
                        <a:pt x="10302" y="13365"/>
                      </a:lnTo>
                      <a:lnTo>
                        <a:pt x="10257" y="13014"/>
                      </a:lnTo>
                      <a:lnTo>
                        <a:pt x="9966" y="12695"/>
                      </a:lnTo>
                      <a:lnTo>
                        <a:pt x="10168" y="12057"/>
                      </a:lnTo>
                      <a:lnTo>
                        <a:pt x="9966" y="11627"/>
                      </a:lnTo>
                      <a:lnTo>
                        <a:pt x="9832" y="11276"/>
                      </a:lnTo>
                      <a:lnTo>
                        <a:pt x="10302" y="8660"/>
                      </a:lnTo>
                      <a:lnTo>
                        <a:pt x="10972" y="8947"/>
                      </a:lnTo>
                      <a:lnTo>
                        <a:pt x="11598" y="8501"/>
                      </a:lnTo>
                      <a:lnTo>
                        <a:pt x="12179" y="7592"/>
                      </a:lnTo>
                      <a:lnTo>
                        <a:pt x="11464" y="6730"/>
                      </a:lnTo>
                      <a:lnTo>
                        <a:pt x="12134" y="6443"/>
                      </a:lnTo>
                      <a:lnTo>
                        <a:pt x="11911" y="6252"/>
                      </a:lnTo>
                      <a:lnTo>
                        <a:pt x="13207" y="5805"/>
                      </a:lnTo>
                      <a:lnTo>
                        <a:pt x="13922" y="5869"/>
                      </a:lnTo>
                      <a:lnTo>
                        <a:pt x="14480" y="5486"/>
                      </a:lnTo>
                      <a:lnTo>
                        <a:pt x="14972" y="5391"/>
                      </a:lnTo>
                      <a:lnTo>
                        <a:pt x="14838" y="5231"/>
                      </a:lnTo>
                      <a:lnTo>
                        <a:pt x="15508" y="4705"/>
                      </a:lnTo>
                      <a:lnTo>
                        <a:pt x="15642" y="4450"/>
                      </a:lnTo>
                      <a:lnTo>
                        <a:pt x="16447" y="4035"/>
                      </a:lnTo>
                      <a:lnTo>
                        <a:pt x="16760" y="3589"/>
                      </a:lnTo>
                      <a:lnTo>
                        <a:pt x="18615" y="3461"/>
                      </a:lnTo>
                      <a:lnTo>
                        <a:pt x="19419" y="2153"/>
                      </a:lnTo>
                      <a:lnTo>
                        <a:pt x="20000" y="1435"/>
                      </a:lnTo>
                      <a:lnTo>
                        <a:pt x="19821" y="797"/>
                      </a:lnTo>
                      <a:lnTo>
                        <a:pt x="18793" y="510"/>
                      </a:lnTo>
                      <a:lnTo>
                        <a:pt x="19464" y="287"/>
                      </a:lnTo>
                      <a:lnTo>
                        <a:pt x="17922" y="0"/>
                      </a:lnTo>
                      <a:lnTo>
                        <a:pt x="16492" y="223"/>
                      </a:lnTo>
                      <a:lnTo>
                        <a:pt x="14078" y="1435"/>
                      </a:lnTo>
                      <a:lnTo>
                        <a:pt x="10793" y="4545"/>
                      </a:lnTo>
                      <a:lnTo>
                        <a:pt x="8804" y="7337"/>
                      </a:lnTo>
                      <a:lnTo>
                        <a:pt x="8626" y="8070"/>
                      </a:lnTo>
                      <a:lnTo>
                        <a:pt x="8358" y="9234"/>
                      </a:lnTo>
                      <a:lnTo>
                        <a:pt x="7955" y="10861"/>
                      </a:lnTo>
                      <a:lnTo>
                        <a:pt x="6659" y="12026"/>
                      </a:lnTo>
                      <a:lnTo>
                        <a:pt x="6391" y="12504"/>
                      </a:lnTo>
                      <a:lnTo>
                        <a:pt x="4581" y="13652"/>
                      </a:lnTo>
                      <a:lnTo>
                        <a:pt x="4581" y="14035"/>
                      </a:lnTo>
                      <a:lnTo>
                        <a:pt x="2883" y="15805"/>
                      </a:lnTo>
                      <a:lnTo>
                        <a:pt x="2749" y="16954"/>
                      </a:lnTo>
                      <a:lnTo>
                        <a:pt x="2972" y="17719"/>
                      </a:lnTo>
                      <a:lnTo>
                        <a:pt x="1877" y="18596"/>
                      </a:lnTo>
                      <a:lnTo>
                        <a:pt x="0" y="20000"/>
                      </a:lnTo>
                      <a:lnTo>
                        <a:pt x="402" y="19904"/>
                      </a:lnTo>
                      <a:lnTo>
                        <a:pt x="447" y="19841"/>
                      </a:lnTo>
                      <a:lnTo>
                        <a:pt x="2302" y="19330"/>
                      </a:lnTo>
                      <a:lnTo>
                        <a:pt x="2346" y="19266"/>
                      </a:lnTo>
                      <a:lnTo>
                        <a:pt x="3374" y="18947"/>
                      </a:lnTo>
                      <a:lnTo>
                        <a:pt x="4089" y="18692"/>
                      </a:lnTo>
                      <a:lnTo>
                        <a:pt x="4358" y="18596"/>
                      </a:lnTo>
                      <a:lnTo>
                        <a:pt x="4492" y="18565"/>
                      </a:lnTo>
                      <a:lnTo>
                        <a:pt x="6212" y="17974"/>
                      </a:lnTo>
                      <a:lnTo>
                        <a:pt x="7955" y="17400"/>
                      </a:lnTo>
                      <a:lnTo>
                        <a:pt x="8939" y="17018"/>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5" name="Freeform 78">
                  <a:extLst>
                    <a:ext uri="{FF2B5EF4-FFF2-40B4-BE49-F238E27FC236}">
                      <a16:creationId xmlns:a16="http://schemas.microsoft.com/office/drawing/2014/main" id="{49770624-8DBD-831A-7118-D1934BEA27E7}"/>
                    </a:ext>
                  </a:extLst>
                </p:cNvPr>
                <p:cNvSpPr>
                  <a:spLocks/>
                </p:cNvSpPr>
                <p:nvPr/>
              </p:nvSpPr>
              <p:spPr bwMode="auto">
                <a:xfrm>
                  <a:off x="4303" y="2842"/>
                  <a:ext cx="143" cy="40"/>
                </a:xfrm>
                <a:custGeom>
                  <a:avLst/>
                  <a:gdLst>
                    <a:gd name="T0" fmla="*/ 65 w 20000"/>
                    <a:gd name="T1" fmla="*/ 38 h 20000"/>
                    <a:gd name="T2" fmla="*/ 56 w 20000"/>
                    <a:gd name="T3" fmla="*/ 40 h 20000"/>
                    <a:gd name="T4" fmla="*/ 37 w 20000"/>
                    <a:gd name="T5" fmla="*/ 31 h 20000"/>
                    <a:gd name="T6" fmla="*/ 0 w 20000"/>
                    <a:gd name="T7" fmla="*/ 35 h 20000"/>
                    <a:gd name="T8" fmla="*/ 18 w 20000"/>
                    <a:gd name="T9" fmla="*/ 18 h 20000"/>
                    <a:gd name="T10" fmla="*/ 91 w 20000"/>
                    <a:gd name="T11" fmla="*/ 0 h 20000"/>
                    <a:gd name="T12" fmla="*/ 133 w 20000"/>
                    <a:gd name="T13" fmla="*/ 0 h 20000"/>
                    <a:gd name="T14" fmla="*/ 143 w 20000"/>
                    <a:gd name="T15" fmla="*/ 7 h 20000"/>
                    <a:gd name="T16" fmla="*/ 123 w 20000"/>
                    <a:gd name="T17" fmla="*/ 24 h 20000"/>
                    <a:gd name="T18" fmla="*/ 74 w 20000"/>
                    <a:gd name="T19" fmla="*/ 38 h 20000"/>
                    <a:gd name="T20" fmla="*/ 65 w 20000"/>
                    <a:gd name="T21" fmla="*/ 38 h 2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000"/>
                    <a:gd name="T34" fmla="*/ 0 h 20000"/>
                    <a:gd name="T35" fmla="*/ 20000 w 20000"/>
                    <a:gd name="T36" fmla="*/ 20000 h 200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000" h="20000">
                      <a:moveTo>
                        <a:pt x="9045" y="18800"/>
                      </a:moveTo>
                      <a:lnTo>
                        <a:pt x="7809" y="20000"/>
                      </a:lnTo>
                      <a:lnTo>
                        <a:pt x="5112" y="15600"/>
                      </a:lnTo>
                      <a:lnTo>
                        <a:pt x="0" y="17600"/>
                      </a:lnTo>
                      <a:lnTo>
                        <a:pt x="2584" y="9200"/>
                      </a:lnTo>
                      <a:lnTo>
                        <a:pt x="12753" y="0"/>
                      </a:lnTo>
                      <a:lnTo>
                        <a:pt x="18539" y="0"/>
                      </a:lnTo>
                      <a:lnTo>
                        <a:pt x="20000" y="3600"/>
                      </a:lnTo>
                      <a:lnTo>
                        <a:pt x="17191" y="12000"/>
                      </a:lnTo>
                      <a:lnTo>
                        <a:pt x="10393" y="18800"/>
                      </a:lnTo>
                      <a:lnTo>
                        <a:pt x="9045" y="18800"/>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36" name="Freeform 79">
                  <a:extLst>
                    <a:ext uri="{FF2B5EF4-FFF2-40B4-BE49-F238E27FC236}">
                      <a16:creationId xmlns:a16="http://schemas.microsoft.com/office/drawing/2014/main" id="{D4C6D37B-9C82-F571-5897-C1EA7245F599}"/>
                    </a:ext>
                  </a:extLst>
                </p:cNvPr>
                <p:cNvSpPr>
                  <a:spLocks/>
                </p:cNvSpPr>
                <p:nvPr/>
              </p:nvSpPr>
              <p:spPr bwMode="auto">
                <a:xfrm>
                  <a:off x="4509" y="2931"/>
                  <a:ext cx="9" cy="38"/>
                </a:xfrm>
                <a:custGeom>
                  <a:avLst/>
                  <a:gdLst>
                    <a:gd name="T0" fmla="*/ 9 w 20000"/>
                    <a:gd name="T1" fmla="*/ 1 h 20000"/>
                    <a:gd name="T2" fmla="*/ 7 w 20000"/>
                    <a:gd name="T3" fmla="*/ 7 h 20000"/>
                    <a:gd name="T4" fmla="*/ 2 w 20000"/>
                    <a:gd name="T5" fmla="*/ 32 h 20000"/>
                    <a:gd name="T6" fmla="*/ 9 w 20000"/>
                    <a:gd name="T7" fmla="*/ 33 h 20000"/>
                    <a:gd name="T8" fmla="*/ 1 w 20000"/>
                    <a:gd name="T9" fmla="*/ 38 h 20000"/>
                    <a:gd name="T10" fmla="*/ 0 w 20000"/>
                    <a:gd name="T11" fmla="*/ 19 h 20000"/>
                    <a:gd name="T12" fmla="*/ 7 w 20000"/>
                    <a:gd name="T13" fmla="*/ 0 h 20000"/>
                    <a:gd name="T14" fmla="*/ 9 w 20000"/>
                    <a:gd name="T15" fmla="*/ 1 h 20000"/>
                    <a:gd name="T16" fmla="*/ 0 60000 65536"/>
                    <a:gd name="T17" fmla="*/ 0 60000 65536"/>
                    <a:gd name="T18" fmla="*/ 0 60000 65536"/>
                    <a:gd name="T19" fmla="*/ 0 60000 65536"/>
                    <a:gd name="T20" fmla="*/ 0 60000 65536"/>
                    <a:gd name="T21" fmla="*/ 0 60000 65536"/>
                    <a:gd name="T22" fmla="*/ 0 60000 65536"/>
                    <a:gd name="T23" fmla="*/ 0 60000 65536"/>
                    <a:gd name="T24" fmla="*/ 0 w 20000"/>
                    <a:gd name="T25" fmla="*/ 0 h 20000"/>
                    <a:gd name="T26" fmla="*/ 20000 w 20000"/>
                    <a:gd name="T27" fmla="*/ 20000 h 20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000" h="20000">
                      <a:moveTo>
                        <a:pt x="20000" y="417"/>
                      </a:moveTo>
                      <a:lnTo>
                        <a:pt x="15000" y="3750"/>
                      </a:lnTo>
                      <a:lnTo>
                        <a:pt x="5000" y="16667"/>
                      </a:lnTo>
                      <a:lnTo>
                        <a:pt x="20000" y="17500"/>
                      </a:lnTo>
                      <a:lnTo>
                        <a:pt x="3333" y="20000"/>
                      </a:lnTo>
                      <a:lnTo>
                        <a:pt x="0" y="10000"/>
                      </a:lnTo>
                      <a:lnTo>
                        <a:pt x="15000" y="0"/>
                      </a:lnTo>
                      <a:lnTo>
                        <a:pt x="20000" y="417"/>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08" name="Freeform 80">
                <a:extLst>
                  <a:ext uri="{FF2B5EF4-FFF2-40B4-BE49-F238E27FC236}">
                    <a16:creationId xmlns:a16="http://schemas.microsoft.com/office/drawing/2014/main" id="{66A6E2A4-7760-E677-87C3-32298F77586B}"/>
                  </a:ext>
                </a:extLst>
              </p:cNvPr>
              <p:cNvSpPr>
                <a:spLocks/>
              </p:cNvSpPr>
              <p:nvPr/>
            </p:nvSpPr>
            <p:spPr bwMode="auto">
              <a:xfrm>
                <a:off x="2058988" y="2587625"/>
                <a:ext cx="858837" cy="1368425"/>
              </a:xfrm>
              <a:custGeom>
                <a:avLst/>
                <a:gdLst>
                  <a:gd name="T0" fmla="*/ 757924 w 20000"/>
                  <a:gd name="T1" fmla="*/ 1240819 h 20000"/>
                  <a:gd name="T2" fmla="*/ 736324 w 20000"/>
                  <a:gd name="T3" fmla="*/ 1195046 h 20000"/>
                  <a:gd name="T4" fmla="*/ 723613 w 20000"/>
                  <a:gd name="T5" fmla="*/ 1127103 h 20000"/>
                  <a:gd name="T6" fmla="*/ 713479 w 20000"/>
                  <a:gd name="T7" fmla="*/ 1087761 h 20000"/>
                  <a:gd name="T8" fmla="*/ 704590 w 20000"/>
                  <a:gd name="T9" fmla="*/ 1045203 h 20000"/>
                  <a:gd name="T10" fmla="*/ 670966 w 20000"/>
                  <a:gd name="T11" fmla="*/ 1026182 h 20000"/>
                  <a:gd name="T12" fmla="*/ 682990 w 20000"/>
                  <a:gd name="T13" fmla="*/ 1007092 h 20000"/>
                  <a:gd name="T14" fmla="*/ 681745 w 20000"/>
                  <a:gd name="T15" fmla="*/ 976645 h 20000"/>
                  <a:gd name="T16" fmla="*/ 696989 w 20000"/>
                  <a:gd name="T17" fmla="*/ 922661 h 20000"/>
                  <a:gd name="T18" fmla="*/ 682990 w 20000"/>
                  <a:gd name="T19" fmla="*/ 893445 h 20000"/>
                  <a:gd name="T20" fmla="*/ 705878 w 20000"/>
                  <a:gd name="T21" fmla="*/ 874424 h 20000"/>
                  <a:gd name="T22" fmla="*/ 702056 w 20000"/>
                  <a:gd name="T23" fmla="*/ 847739 h 20000"/>
                  <a:gd name="T24" fmla="*/ 708412 w 20000"/>
                  <a:gd name="T25" fmla="*/ 827418 h 20000"/>
                  <a:gd name="T26" fmla="*/ 685567 w 20000"/>
                  <a:gd name="T27" fmla="*/ 800118 h 20000"/>
                  <a:gd name="T28" fmla="*/ 690634 w 20000"/>
                  <a:gd name="T29" fmla="*/ 777265 h 20000"/>
                  <a:gd name="T30" fmla="*/ 677923 w 20000"/>
                  <a:gd name="T31" fmla="*/ 739155 h 20000"/>
                  <a:gd name="T32" fmla="*/ 662077 w 20000"/>
                  <a:gd name="T33" fmla="*/ 712470 h 20000"/>
                  <a:gd name="T34" fmla="*/ 644300 w 20000"/>
                  <a:gd name="T35" fmla="*/ 673744 h 20000"/>
                  <a:gd name="T36" fmla="*/ 670966 w 20000"/>
                  <a:gd name="T37" fmla="*/ 652123 h 20000"/>
                  <a:gd name="T38" fmla="*/ 675389 w 20000"/>
                  <a:gd name="T39" fmla="*/ 621675 h 20000"/>
                  <a:gd name="T40" fmla="*/ 705878 w 20000"/>
                  <a:gd name="T41" fmla="*/ 593691 h 20000"/>
                  <a:gd name="T42" fmla="*/ 719834 w 20000"/>
                  <a:gd name="T43" fmla="*/ 558796 h 20000"/>
                  <a:gd name="T44" fmla="*/ 698234 w 20000"/>
                  <a:gd name="T45" fmla="*/ 551202 h 20000"/>
                  <a:gd name="T46" fmla="*/ 663323 w 20000"/>
                  <a:gd name="T47" fmla="*/ 535944 h 20000"/>
                  <a:gd name="T48" fmla="*/ 681745 w 20000"/>
                  <a:gd name="T49" fmla="*/ 502896 h 20000"/>
                  <a:gd name="T50" fmla="*/ 686812 w 20000"/>
                  <a:gd name="T51" fmla="*/ 483875 h 20000"/>
                  <a:gd name="T52" fmla="*/ 694413 w 20000"/>
                  <a:gd name="T53" fmla="*/ 448296 h 20000"/>
                  <a:gd name="T54" fmla="*/ 709657 w 20000"/>
                  <a:gd name="T55" fmla="*/ 422296 h 20000"/>
                  <a:gd name="T56" fmla="*/ 627767 w 20000"/>
                  <a:gd name="T57" fmla="*/ 352438 h 20000"/>
                  <a:gd name="T58" fmla="*/ 648078 w 20000"/>
                  <a:gd name="T59" fmla="*/ 303517 h 20000"/>
                  <a:gd name="T60" fmla="*/ 712191 w 20000"/>
                  <a:gd name="T61" fmla="*/ 169548 h 20000"/>
                  <a:gd name="T62" fmla="*/ 686812 w 20000"/>
                  <a:gd name="T63" fmla="*/ 145395 h 20000"/>
                  <a:gd name="T64" fmla="*/ 662077 w 20000"/>
                  <a:gd name="T65" fmla="*/ 92095 h 20000"/>
                  <a:gd name="T66" fmla="*/ 644300 w 20000"/>
                  <a:gd name="T67" fmla="*/ 38111 h 20000"/>
                  <a:gd name="T68" fmla="*/ 0 w 20000"/>
                  <a:gd name="T69" fmla="*/ 912466 h 20000"/>
                  <a:gd name="T70" fmla="*/ 24133 w 20000"/>
                  <a:gd name="T71" fmla="*/ 926492 h 20000"/>
                  <a:gd name="T72" fmla="*/ 65400 w 20000"/>
                  <a:gd name="T73" fmla="*/ 949961 h 20000"/>
                  <a:gd name="T74" fmla="*/ 74246 w 20000"/>
                  <a:gd name="T75" fmla="*/ 999498 h 20000"/>
                  <a:gd name="T76" fmla="*/ 858837 w 20000"/>
                  <a:gd name="T77" fmla="*/ 1315056 h 20000"/>
                  <a:gd name="T78" fmla="*/ 847414 w 20000"/>
                  <a:gd name="T79" fmla="*/ 1280162 h 20000"/>
                  <a:gd name="T80" fmla="*/ 855015 w 20000"/>
                  <a:gd name="T81" fmla="*/ 1252246 h 20000"/>
                  <a:gd name="T82" fmla="*/ 838526 w 20000"/>
                  <a:gd name="T83" fmla="*/ 1259840 h 20000"/>
                  <a:gd name="T84" fmla="*/ 793437 w 20000"/>
                  <a:gd name="T85" fmla="*/ 1245883 h 20000"/>
                  <a:gd name="T86" fmla="*/ 766813 w 20000"/>
                  <a:gd name="T87" fmla="*/ 1233156 h 200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00"/>
                  <a:gd name="T133" fmla="*/ 0 h 20000"/>
                  <a:gd name="T134" fmla="*/ 20000 w 20000"/>
                  <a:gd name="T135" fmla="*/ 20000 h 2000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00" h="20000">
                    <a:moveTo>
                      <a:pt x="17857" y="18023"/>
                    </a:moveTo>
                    <a:lnTo>
                      <a:pt x="17650" y="18135"/>
                    </a:lnTo>
                    <a:lnTo>
                      <a:pt x="17029" y="17912"/>
                    </a:lnTo>
                    <a:lnTo>
                      <a:pt x="17147" y="17466"/>
                    </a:lnTo>
                    <a:lnTo>
                      <a:pt x="17384" y="16789"/>
                    </a:lnTo>
                    <a:lnTo>
                      <a:pt x="16851" y="16473"/>
                    </a:lnTo>
                    <a:lnTo>
                      <a:pt x="16615" y="16139"/>
                    </a:lnTo>
                    <a:lnTo>
                      <a:pt x="16615" y="15898"/>
                    </a:lnTo>
                    <a:lnTo>
                      <a:pt x="16497" y="15805"/>
                    </a:lnTo>
                    <a:lnTo>
                      <a:pt x="16408" y="15276"/>
                    </a:lnTo>
                    <a:lnTo>
                      <a:pt x="16053" y="15276"/>
                    </a:lnTo>
                    <a:lnTo>
                      <a:pt x="15625" y="14998"/>
                    </a:lnTo>
                    <a:lnTo>
                      <a:pt x="15728" y="14886"/>
                    </a:lnTo>
                    <a:lnTo>
                      <a:pt x="15905" y="14719"/>
                    </a:lnTo>
                    <a:lnTo>
                      <a:pt x="16053" y="14515"/>
                    </a:lnTo>
                    <a:lnTo>
                      <a:pt x="15876" y="14274"/>
                    </a:lnTo>
                    <a:lnTo>
                      <a:pt x="15905" y="13680"/>
                    </a:lnTo>
                    <a:lnTo>
                      <a:pt x="16231" y="13485"/>
                    </a:lnTo>
                    <a:lnTo>
                      <a:pt x="15994" y="13318"/>
                    </a:lnTo>
                    <a:lnTo>
                      <a:pt x="15905" y="13058"/>
                    </a:lnTo>
                    <a:lnTo>
                      <a:pt x="16260" y="12928"/>
                    </a:lnTo>
                    <a:lnTo>
                      <a:pt x="16438" y="12780"/>
                    </a:lnTo>
                    <a:lnTo>
                      <a:pt x="16408" y="12501"/>
                    </a:lnTo>
                    <a:lnTo>
                      <a:pt x="16349" y="12390"/>
                    </a:lnTo>
                    <a:lnTo>
                      <a:pt x="16438" y="12260"/>
                    </a:lnTo>
                    <a:lnTo>
                      <a:pt x="16497" y="12093"/>
                    </a:lnTo>
                    <a:lnTo>
                      <a:pt x="16260" y="12056"/>
                    </a:lnTo>
                    <a:lnTo>
                      <a:pt x="15965" y="11694"/>
                    </a:lnTo>
                    <a:lnTo>
                      <a:pt x="15994" y="11638"/>
                    </a:lnTo>
                    <a:lnTo>
                      <a:pt x="16083" y="11360"/>
                    </a:lnTo>
                    <a:lnTo>
                      <a:pt x="16053" y="10933"/>
                    </a:lnTo>
                    <a:lnTo>
                      <a:pt x="15787" y="10803"/>
                    </a:lnTo>
                    <a:lnTo>
                      <a:pt x="15595" y="10599"/>
                    </a:lnTo>
                    <a:lnTo>
                      <a:pt x="15418" y="10413"/>
                    </a:lnTo>
                    <a:lnTo>
                      <a:pt x="15447" y="10209"/>
                    </a:lnTo>
                    <a:lnTo>
                      <a:pt x="15004" y="9847"/>
                    </a:lnTo>
                    <a:lnTo>
                      <a:pt x="15270" y="9735"/>
                    </a:lnTo>
                    <a:lnTo>
                      <a:pt x="15625" y="9531"/>
                    </a:lnTo>
                    <a:lnTo>
                      <a:pt x="15536" y="9309"/>
                    </a:lnTo>
                    <a:lnTo>
                      <a:pt x="15728" y="9086"/>
                    </a:lnTo>
                    <a:lnTo>
                      <a:pt x="16231" y="8900"/>
                    </a:lnTo>
                    <a:lnTo>
                      <a:pt x="16438" y="8677"/>
                    </a:lnTo>
                    <a:lnTo>
                      <a:pt x="16349" y="8288"/>
                    </a:lnTo>
                    <a:lnTo>
                      <a:pt x="16763" y="8167"/>
                    </a:lnTo>
                    <a:lnTo>
                      <a:pt x="16526" y="8074"/>
                    </a:lnTo>
                    <a:lnTo>
                      <a:pt x="16260" y="8056"/>
                    </a:lnTo>
                    <a:lnTo>
                      <a:pt x="16171" y="7907"/>
                    </a:lnTo>
                    <a:lnTo>
                      <a:pt x="15447" y="7833"/>
                    </a:lnTo>
                    <a:lnTo>
                      <a:pt x="15595" y="7666"/>
                    </a:lnTo>
                    <a:lnTo>
                      <a:pt x="15876" y="7350"/>
                    </a:lnTo>
                    <a:lnTo>
                      <a:pt x="15684" y="7183"/>
                    </a:lnTo>
                    <a:lnTo>
                      <a:pt x="15994" y="7072"/>
                    </a:lnTo>
                    <a:lnTo>
                      <a:pt x="16231" y="6886"/>
                    </a:lnTo>
                    <a:lnTo>
                      <a:pt x="16171" y="6552"/>
                    </a:lnTo>
                    <a:lnTo>
                      <a:pt x="16319" y="6339"/>
                    </a:lnTo>
                    <a:lnTo>
                      <a:pt x="16526" y="6172"/>
                    </a:lnTo>
                    <a:lnTo>
                      <a:pt x="14442" y="5374"/>
                    </a:lnTo>
                    <a:lnTo>
                      <a:pt x="14619" y="5151"/>
                    </a:lnTo>
                    <a:lnTo>
                      <a:pt x="14885" y="4835"/>
                    </a:lnTo>
                    <a:lnTo>
                      <a:pt x="15092" y="4436"/>
                    </a:lnTo>
                    <a:lnTo>
                      <a:pt x="14974" y="4362"/>
                    </a:lnTo>
                    <a:lnTo>
                      <a:pt x="16585" y="2478"/>
                    </a:lnTo>
                    <a:lnTo>
                      <a:pt x="16231" y="2404"/>
                    </a:lnTo>
                    <a:lnTo>
                      <a:pt x="15994" y="2125"/>
                    </a:lnTo>
                    <a:lnTo>
                      <a:pt x="15595" y="1531"/>
                    </a:lnTo>
                    <a:lnTo>
                      <a:pt x="15418" y="1346"/>
                    </a:lnTo>
                    <a:lnTo>
                      <a:pt x="15329" y="1086"/>
                    </a:lnTo>
                    <a:lnTo>
                      <a:pt x="15004" y="557"/>
                    </a:lnTo>
                    <a:lnTo>
                      <a:pt x="14028" y="0"/>
                    </a:lnTo>
                    <a:lnTo>
                      <a:pt x="0" y="13336"/>
                    </a:lnTo>
                    <a:lnTo>
                      <a:pt x="355" y="13615"/>
                    </a:lnTo>
                    <a:lnTo>
                      <a:pt x="562" y="13541"/>
                    </a:lnTo>
                    <a:lnTo>
                      <a:pt x="976" y="13958"/>
                    </a:lnTo>
                    <a:lnTo>
                      <a:pt x="1523" y="13884"/>
                    </a:lnTo>
                    <a:lnTo>
                      <a:pt x="2173" y="14125"/>
                    </a:lnTo>
                    <a:lnTo>
                      <a:pt x="1729" y="14608"/>
                    </a:lnTo>
                    <a:lnTo>
                      <a:pt x="19882" y="20000"/>
                    </a:lnTo>
                    <a:lnTo>
                      <a:pt x="20000" y="19220"/>
                    </a:lnTo>
                    <a:lnTo>
                      <a:pt x="19734" y="19146"/>
                    </a:lnTo>
                    <a:lnTo>
                      <a:pt x="19734" y="18710"/>
                    </a:lnTo>
                    <a:lnTo>
                      <a:pt x="19911" y="18580"/>
                    </a:lnTo>
                    <a:lnTo>
                      <a:pt x="19911" y="18302"/>
                    </a:lnTo>
                    <a:lnTo>
                      <a:pt x="19616" y="18302"/>
                    </a:lnTo>
                    <a:lnTo>
                      <a:pt x="19527" y="18413"/>
                    </a:lnTo>
                    <a:lnTo>
                      <a:pt x="19024" y="18376"/>
                    </a:lnTo>
                    <a:lnTo>
                      <a:pt x="18477" y="18209"/>
                    </a:lnTo>
                    <a:lnTo>
                      <a:pt x="18211" y="18079"/>
                    </a:lnTo>
                    <a:lnTo>
                      <a:pt x="17857" y="18023"/>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209" name="Group 208">
                <a:extLst>
                  <a:ext uri="{FF2B5EF4-FFF2-40B4-BE49-F238E27FC236}">
                    <a16:creationId xmlns:a16="http://schemas.microsoft.com/office/drawing/2014/main" id="{28BE151B-D650-E507-6429-CCE66373F134}"/>
                  </a:ext>
                </a:extLst>
              </p:cNvPr>
              <p:cNvGrpSpPr>
                <a:grpSpLocks/>
              </p:cNvGrpSpPr>
              <p:nvPr/>
            </p:nvGrpSpPr>
            <p:grpSpPr bwMode="auto">
              <a:xfrm>
                <a:off x="2678113" y="2741613"/>
                <a:ext cx="2390775" cy="1423987"/>
                <a:chOff x="1687" y="1727"/>
                <a:chExt cx="1506" cy="897"/>
              </a:xfrm>
            </p:grpSpPr>
            <p:sp>
              <p:nvSpPr>
                <p:cNvPr id="220" name="Freeform 82">
                  <a:extLst>
                    <a:ext uri="{FF2B5EF4-FFF2-40B4-BE49-F238E27FC236}">
                      <a16:creationId xmlns:a16="http://schemas.microsoft.com/office/drawing/2014/main" id="{1148B581-68C1-69CE-B024-C9DE40B1AC58}"/>
                    </a:ext>
                  </a:extLst>
                </p:cNvPr>
                <p:cNvSpPr>
                  <a:spLocks/>
                </p:cNvSpPr>
                <p:nvPr/>
              </p:nvSpPr>
              <p:spPr bwMode="auto">
                <a:xfrm>
                  <a:off x="1687" y="1727"/>
                  <a:ext cx="1506" cy="897"/>
                </a:xfrm>
                <a:custGeom>
                  <a:avLst/>
                  <a:gdLst>
                    <a:gd name="T0" fmla="*/ 1190 w 20000"/>
                    <a:gd name="T1" fmla="*/ 133 h 20000"/>
                    <a:gd name="T2" fmla="*/ 1168 w 20000"/>
                    <a:gd name="T3" fmla="*/ 104 h 20000"/>
                    <a:gd name="T4" fmla="*/ 1118 w 20000"/>
                    <a:gd name="T5" fmla="*/ 26 h 20000"/>
                    <a:gd name="T6" fmla="*/ 1101 w 20000"/>
                    <a:gd name="T7" fmla="*/ 18 h 20000"/>
                    <a:gd name="T8" fmla="*/ 1067 w 20000"/>
                    <a:gd name="T9" fmla="*/ 54 h 20000"/>
                    <a:gd name="T10" fmla="*/ 1072 w 20000"/>
                    <a:gd name="T11" fmla="*/ 118 h 20000"/>
                    <a:gd name="T12" fmla="*/ 1076 w 20000"/>
                    <a:gd name="T13" fmla="*/ 166 h 20000"/>
                    <a:gd name="T14" fmla="*/ 1130 w 20000"/>
                    <a:gd name="T15" fmla="*/ 199 h 20000"/>
                    <a:gd name="T16" fmla="*/ 1150 w 20000"/>
                    <a:gd name="T17" fmla="*/ 244 h 20000"/>
                    <a:gd name="T18" fmla="*/ 1091 w 20000"/>
                    <a:gd name="T19" fmla="*/ 285 h 20000"/>
                    <a:gd name="T20" fmla="*/ 1038 w 20000"/>
                    <a:gd name="T21" fmla="*/ 266 h 20000"/>
                    <a:gd name="T22" fmla="*/ 1019 w 20000"/>
                    <a:gd name="T23" fmla="*/ 301 h 20000"/>
                    <a:gd name="T24" fmla="*/ 966 w 20000"/>
                    <a:gd name="T25" fmla="*/ 325 h 20000"/>
                    <a:gd name="T26" fmla="*/ 915 w 20000"/>
                    <a:gd name="T27" fmla="*/ 323 h 20000"/>
                    <a:gd name="T28" fmla="*/ 857 w 20000"/>
                    <a:gd name="T29" fmla="*/ 292 h 20000"/>
                    <a:gd name="T30" fmla="*/ 818 w 20000"/>
                    <a:gd name="T31" fmla="*/ 237 h 20000"/>
                    <a:gd name="T32" fmla="*/ 677 w 20000"/>
                    <a:gd name="T33" fmla="*/ 309 h 20000"/>
                    <a:gd name="T34" fmla="*/ 604 w 20000"/>
                    <a:gd name="T35" fmla="*/ 261 h 20000"/>
                    <a:gd name="T36" fmla="*/ 565 w 20000"/>
                    <a:gd name="T37" fmla="*/ 203 h 20000"/>
                    <a:gd name="T38" fmla="*/ 463 w 20000"/>
                    <a:gd name="T39" fmla="*/ 145 h 20000"/>
                    <a:gd name="T40" fmla="*/ 380 w 20000"/>
                    <a:gd name="T41" fmla="*/ 59 h 20000"/>
                    <a:gd name="T42" fmla="*/ 355 w 20000"/>
                    <a:gd name="T43" fmla="*/ 72 h 20000"/>
                    <a:gd name="T44" fmla="*/ 314 w 20000"/>
                    <a:gd name="T45" fmla="*/ 40 h 20000"/>
                    <a:gd name="T46" fmla="*/ 266 w 20000"/>
                    <a:gd name="T47" fmla="*/ 31 h 20000"/>
                    <a:gd name="T48" fmla="*/ 223 w 20000"/>
                    <a:gd name="T49" fmla="*/ 5 h 20000"/>
                    <a:gd name="T50" fmla="*/ 158 w 20000"/>
                    <a:gd name="T51" fmla="*/ 19 h 20000"/>
                    <a:gd name="T52" fmla="*/ 78 w 20000"/>
                    <a:gd name="T53" fmla="*/ 32 h 20000"/>
                    <a:gd name="T54" fmla="*/ 12 w 20000"/>
                    <a:gd name="T55" fmla="*/ 112 h 20000"/>
                    <a:gd name="T56" fmla="*/ 47 w 20000"/>
                    <a:gd name="T57" fmla="*/ 185 h 20000"/>
                    <a:gd name="T58" fmla="*/ 31 w 20000"/>
                    <a:gd name="T59" fmla="*/ 234 h 20000"/>
                    <a:gd name="T60" fmla="*/ 63 w 20000"/>
                    <a:gd name="T61" fmla="*/ 255 h 20000"/>
                    <a:gd name="T62" fmla="*/ 30 w 20000"/>
                    <a:gd name="T63" fmla="*/ 305 h 20000"/>
                    <a:gd name="T64" fmla="*/ 26 w 20000"/>
                    <a:gd name="T65" fmla="*/ 352 h 20000"/>
                    <a:gd name="T66" fmla="*/ 42 w 20000"/>
                    <a:gd name="T67" fmla="*/ 405 h 20000"/>
                    <a:gd name="T68" fmla="*/ 52 w 20000"/>
                    <a:gd name="T69" fmla="*/ 437 h 20000"/>
                    <a:gd name="T70" fmla="*/ 42 w 20000"/>
                    <a:gd name="T71" fmla="*/ 477 h 20000"/>
                    <a:gd name="T72" fmla="*/ 40 w 20000"/>
                    <a:gd name="T73" fmla="*/ 538 h 20000"/>
                    <a:gd name="T74" fmla="*/ 56 w 20000"/>
                    <a:gd name="T75" fmla="*/ 584 h 20000"/>
                    <a:gd name="T76" fmla="*/ 73 w 20000"/>
                    <a:gd name="T77" fmla="*/ 656 h 20000"/>
                    <a:gd name="T78" fmla="*/ 109 w 20000"/>
                    <a:gd name="T79" fmla="*/ 688 h 20000"/>
                    <a:gd name="T80" fmla="*/ 148 w 20000"/>
                    <a:gd name="T81" fmla="*/ 704 h 20000"/>
                    <a:gd name="T82" fmla="*/ 285 w 20000"/>
                    <a:gd name="T83" fmla="*/ 809 h 20000"/>
                    <a:gd name="T84" fmla="*/ 1193 w 20000"/>
                    <a:gd name="T85" fmla="*/ 842 h 20000"/>
                    <a:gd name="T86" fmla="*/ 1228 w 20000"/>
                    <a:gd name="T87" fmla="*/ 746 h 20000"/>
                    <a:gd name="T88" fmla="*/ 1256 w 20000"/>
                    <a:gd name="T89" fmla="*/ 699 h 20000"/>
                    <a:gd name="T90" fmla="*/ 1298 w 20000"/>
                    <a:gd name="T91" fmla="*/ 652 h 20000"/>
                    <a:gd name="T92" fmla="*/ 1315 w 20000"/>
                    <a:gd name="T93" fmla="*/ 572 h 20000"/>
                    <a:gd name="T94" fmla="*/ 1371 w 20000"/>
                    <a:gd name="T95" fmla="*/ 517 h 20000"/>
                    <a:gd name="T96" fmla="*/ 1388 w 20000"/>
                    <a:gd name="T97" fmla="*/ 428 h 20000"/>
                    <a:gd name="T98" fmla="*/ 1415 w 20000"/>
                    <a:gd name="T99" fmla="*/ 371 h 20000"/>
                    <a:gd name="T100" fmla="*/ 1476 w 20000"/>
                    <a:gd name="T101" fmla="*/ 335 h 20000"/>
                    <a:gd name="T102" fmla="*/ 1506 w 20000"/>
                    <a:gd name="T103" fmla="*/ 288 h 20000"/>
                    <a:gd name="T104" fmla="*/ 1463 w 20000"/>
                    <a:gd name="T105" fmla="*/ 195 h 20000"/>
                    <a:gd name="T106" fmla="*/ 1420 w 20000"/>
                    <a:gd name="T107" fmla="*/ 114 h 20000"/>
                    <a:gd name="T108" fmla="*/ 1356 w 20000"/>
                    <a:gd name="T109" fmla="*/ 162 h 20000"/>
                    <a:gd name="T110" fmla="*/ 1361 w 20000"/>
                    <a:gd name="T111" fmla="*/ 254 h 20000"/>
                    <a:gd name="T112" fmla="*/ 1348 w 20000"/>
                    <a:gd name="T113" fmla="*/ 316 h 20000"/>
                    <a:gd name="T114" fmla="*/ 1311 w 20000"/>
                    <a:gd name="T115" fmla="*/ 248 h 20000"/>
                    <a:gd name="T116" fmla="*/ 1250 w 20000"/>
                    <a:gd name="T117" fmla="*/ 206 h 20000"/>
                    <a:gd name="T118" fmla="*/ 1231 w 20000"/>
                    <a:gd name="T119" fmla="*/ 215 h 20000"/>
                    <a:gd name="T120" fmla="*/ 1224 w 20000"/>
                    <a:gd name="T121" fmla="*/ 173 h 20000"/>
                    <a:gd name="T122" fmla="*/ 1179 w 20000"/>
                    <a:gd name="T123" fmla="*/ 174 h 2000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0000"/>
                    <a:gd name="T187" fmla="*/ 0 h 20000"/>
                    <a:gd name="T188" fmla="*/ 20000 w 20000"/>
                    <a:gd name="T189" fmla="*/ 20000 h 2000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0000" h="20000">
                      <a:moveTo>
                        <a:pt x="15654" y="3886"/>
                      </a:moveTo>
                      <a:lnTo>
                        <a:pt x="15457" y="3725"/>
                      </a:lnTo>
                      <a:lnTo>
                        <a:pt x="15579" y="3512"/>
                      </a:lnTo>
                      <a:lnTo>
                        <a:pt x="15654" y="3137"/>
                      </a:lnTo>
                      <a:lnTo>
                        <a:pt x="15802" y="2959"/>
                      </a:lnTo>
                      <a:lnTo>
                        <a:pt x="15749" y="2870"/>
                      </a:lnTo>
                      <a:lnTo>
                        <a:pt x="15707" y="2656"/>
                      </a:lnTo>
                      <a:lnTo>
                        <a:pt x="15675" y="2745"/>
                      </a:lnTo>
                      <a:lnTo>
                        <a:pt x="15579" y="2585"/>
                      </a:lnTo>
                      <a:lnTo>
                        <a:pt x="15515" y="2326"/>
                      </a:lnTo>
                      <a:lnTo>
                        <a:pt x="15361" y="2166"/>
                      </a:lnTo>
                      <a:lnTo>
                        <a:pt x="15255" y="1988"/>
                      </a:lnTo>
                      <a:lnTo>
                        <a:pt x="15191" y="1257"/>
                      </a:lnTo>
                      <a:lnTo>
                        <a:pt x="14883" y="713"/>
                      </a:lnTo>
                      <a:lnTo>
                        <a:pt x="14851" y="588"/>
                      </a:lnTo>
                      <a:lnTo>
                        <a:pt x="14724" y="535"/>
                      </a:lnTo>
                      <a:lnTo>
                        <a:pt x="14692" y="660"/>
                      </a:lnTo>
                      <a:lnTo>
                        <a:pt x="14660" y="535"/>
                      </a:lnTo>
                      <a:lnTo>
                        <a:pt x="14649" y="588"/>
                      </a:lnTo>
                      <a:lnTo>
                        <a:pt x="14628" y="392"/>
                      </a:lnTo>
                      <a:lnTo>
                        <a:pt x="14596" y="232"/>
                      </a:lnTo>
                      <a:lnTo>
                        <a:pt x="14400" y="392"/>
                      </a:lnTo>
                      <a:lnTo>
                        <a:pt x="14421" y="606"/>
                      </a:lnTo>
                      <a:lnTo>
                        <a:pt x="14208" y="882"/>
                      </a:lnTo>
                      <a:lnTo>
                        <a:pt x="14176" y="1203"/>
                      </a:lnTo>
                      <a:lnTo>
                        <a:pt x="14145" y="1417"/>
                      </a:lnTo>
                      <a:lnTo>
                        <a:pt x="14070" y="1453"/>
                      </a:lnTo>
                      <a:lnTo>
                        <a:pt x="14070" y="2219"/>
                      </a:lnTo>
                      <a:lnTo>
                        <a:pt x="14176" y="2433"/>
                      </a:lnTo>
                      <a:lnTo>
                        <a:pt x="14230" y="2638"/>
                      </a:lnTo>
                      <a:lnTo>
                        <a:pt x="14198" y="2709"/>
                      </a:lnTo>
                      <a:lnTo>
                        <a:pt x="14113" y="2906"/>
                      </a:lnTo>
                      <a:lnTo>
                        <a:pt x="14145" y="3280"/>
                      </a:lnTo>
                      <a:lnTo>
                        <a:pt x="14293" y="3547"/>
                      </a:lnTo>
                      <a:lnTo>
                        <a:pt x="14293" y="3708"/>
                      </a:lnTo>
                      <a:lnTo>
                        <a:pt x="14368" y="3832"/>
                      </a:lnTo>
                      <a:lnTo>
                        <a:pt x="14431" y="3815"/>
                      </a:lnTo>
                      <a:lnTo>
                        <a:pt x="14787" y="4082"/>
                      </a:lnTo>
                      <a:lnTo>
                        <a:pt x="14979" y="4251"/>
                      </a:lnTo>
                      <a:lnTo>
                        <a:pt x="15011" y="4430"/>
                      </a:lnTo>
                      <a:lnTo>
                        <a:pt x="15011" y="4697"/>
                      </a:lnTo>
                      <a:lnTo>
                        <a:pt x="14947" y="5018"/>
                      </a:lnTo>
                      <a:lnTo>
                        <a:pt x="14936" y="5339"/>
                      </a:lnTo>
                      <a:lnTo>
                        <a:pt x="15138" y="5285"/>
                      </a:lnTo>
                      <a:lnTo>
                        <a:pt x="15266" y="5446"/>
                      </a:lnTo>
                      <a:lnTo>
                        <a:pt x="15159" y="5865"/>
                      </a:lnTo>
                      <a:lnTo>
                        <a:pt x="15128" y="6132"/>
                      </a:lnTo>
                      <a:lnTo>
                        <a:pt x="14947" y="6524"/>
                      </a:lnTo>
                      <a:lnTo>
                        <a:pt x="14724" y="6560"/>
                      </a:lnTo>
                      <a:lnTo>
                        <a:pt x="14495" y="6346"/>
                      </a:lnTo>
                      <a:lnTo>
                        <a:pt x="14495" y="6292"/>
                      </a:lnTo>
                      <a:lnTo>
                        <a:pt x="14357" y="6239"/>
                      </a:lnTo>
                      <a:lnTo>
                        <a:pt x="14166" y="6310"/>
                      </a:lnTo>
                      <a:lnTo>
                        <a:pt x="14049" y="6043"/>
                      </a:lnTo>
                      <a:lnTo>
                        <a:pt x="13783" y="5936"/>
                      </a:lnTo>
                      <a:lnTo>
                        <a:pt x="13815" y="6203"/>
                      </a:lnTo>
                      <a:lnTo>
                        <a:pt x="13719" y="6257"/>
                      </a:lnTo>
                      <a:lnTo>
                        <a:pt x="13528" y="6185"/>
                      </a:lnTo>
                      <a:lnTo>
                        <a:pt x="13592" y="6453"/>
                      </a:lnTo>
                      <a:lnTo>
                        <a:pt x="13528" y="6720"/>
                      </a:lnTo>
                      <a:lnTo>
                        <a:pt x="13571" y="7041"/>
                      </a:lnTo>
                      <a:lnTo>
                        <a:pt x="13470" y="7255"/>
                      </a:lnTo>
                      <a:lnTo>
                        <a:pt x="13310" y="7219"/>
                      </a:lnTo>
                      <a:lnTo>
                        <a:pt x="12896" y="7148"/>
                      </a:lnTo>
                      <a:lnTo>
                        <a:pt x="12832" y="7255"/>
                      </a:lnTo>
                      <a:lnTo>
                        <a:pt x="12800" y="7201"/>
                      </a:lnTo>
                      <a:lnTo>
                        <a:pt x="12465" y="7362"/>
                      </a:lnTo>
                      <a:lnTo>
                        <a:pt x="12349" y="7255"/>
                      </a:lnTo>
                      <a:lnTo>
                        <a:pt x="12274" y="7362"/>
                      </a:lnTo>
                      <a:lnTo>
                        <a:pt x="12147" y="7201"/>
                      </a:lnTo>
                      <a:lnTo>
                        <a:pt x="11892" y="6934"/>
                      </a:lnTo>
                      <a:lnTo>
                        <a:pt x="11838" y="6631"/>
                      </a:lnTo>
                      <a:lnTo>
                        <a:pt x="11637" y="6791"/>
                      </a:lnTo>
                      <a:lnTo>
                        <a:pt x="11419" y="6738"/>
                      </a:lnTo>
                      <a:lnTo>
                        <a:pt x="11387" y="6506"/>
                      </a:lnTo>
                      <a:lnTo>
                        <a:pt x="11153" y="6257"/>
                      </a:lnTo>
                      <a:lnTo>
                        <a:pt x="11068" y="6025"/>
                      </a:lnTo>
                      <a:lnTo>
                        <a:pt x="11132" y="6025"/>
                      </a:lnTo>
                      <a:lnTo>
                        <a:pt x="11089" y="5553"/>
                      </a:lnTo>
                      <a:lnTo>
                        <a:pt x="10866" y="5285"/>
                      </a:lnTo>
                      <a:lnTo>
                        <a:pt x="10547" y="5588"/>
                      </a:lnTo>
                      <a:lnTo>
                        <a:pt x="10074" y="5695"/>
                      </a:lnTo>
                      <a:lnTo>
                        <a:pt x="9883" y="6239"/>
                      </a:lnTo>
                      <a:lnTo>
                        <a:pt x="9389" y="6560"/>
                      </a:lnTo>
                      <a:lnTo>
                        <a:pt x="8985" y="6881"/>
                      </a:lnTo>
                      <a:lnTo>
                        <a:pt x="8985" y="6791"/>
                      </a:lnTo>
                      <a:lnTo>
                        <a:pt x="8889" y="6934"/>
                      </a:lnTo>
                      <a:lnTo>
                        <a:pt x="8459" y="6881"/>
                      </a:lnTo>
                      <a:lnTo>
                        <a:pt x="7896" y="6667"/>
                      </a:lnTo>
                      <a:lnTo>
                        <a:pt x="8023" y="5820"/>
                      </a:lnTo>
                      <a:lnTo>
                        <a:pt x="8077" y="5588"/>
                      </a:lnTo>
                      <a:lnTo>
                        <a:pt x="7991" y="5285"/>
                      </a:lnTo>
                      <a:lnTo>
                        <a:pt x="7790" y="4733"/>
                      </a:lnTo>
                      <a:lnTo>
                        <a:pt x="7535" y="4465"/>
                      </a:lnTo>
                      <a:lnTo>
                        <a:pt x="7503" y="4519"/>
                      </a:lnTo>
                      <a:lnTo>
                        <a:pt x="7412" y="4412"/>
                      </a:lnTo>
                      <a:lnTo>
                        <a:pt x="7370" y="4483"/>
                      </a:lnTo>
                      <a:lnTo>
                        <a:pt x="6828" y="4153"/>
                      </a:lnTo>
                      <a:lnTo>
                        <a:pt x="6647" y="3708"/>
                      </a:lnTo>
                      <a:lnTo>
                        <a:pt x="6153" y="3226"/>
                      </a:lnTo>
                      <a:lnTo>
                        <a:pt x="5877" y="2433"/>
                      </a:lnTo>
                      <a:lnTo>
                        <a:pt x="5383" y="2112"/>
                      </a:lnTo>
                      <a:lnTo>
                        <a:pt x="5032" y="2059"/>
                      </a:lnTo>
                      <a:lnTo>
                        <a:pt x="4872" y="1952"/>
                      </a:lnTo>
                      <a:lnTo>
                        <a:pt x="5043" y="1310"/>
                      </a:lnTo>
                      <a:lnTo>
                        <a:pt x="4947" y="1185"/>
                      </a:lnTo>
                      <a:lnTo>
                        <a:pt x="4915" y="1364"/>
                      </a:lnTo>
                      <a:lnTo>
                        <a:pt x="4745" y="1399"/>
                      </a:lnTo>
                      <a:lnTo>
                        <a:pt x="4745" y="1471"/>
                      </a:lnTo>
                      <a:lnTo>
                        <a:pt x="4713" y="1613"/>
                      </a:lnTo>
                      <a:lnTo>
                        <a:pt x="4649" y="1684"/>
                      </a:lnTo>
                      <a:lnTo>
                        <a:pt x="4554" y="1881"/>
                      </a:lnTo>
                      <a:lnTo>
                        <a:pt x="4198" y="1578"/>
                      </a:lnTo>
                      <a:lnTo>
                        <a:pt x="4198" y="1185"/>
                      </a:lnTo>
                      <a:lnTo>
                        <a:pt x="4176" y="882"/>
                      </a:lnTo>
                      <a:lnTo>
                        <a:pt x="4230" y="695"/>
                      </a:lnTo>
                      <a:lnTo>
                        <a:pt x="4081" y="0"/>
                      </a:lnTo>
                      <a:lnTo>
                        <a:pt x="3943" y="125"/>
                      </a:lnTo>
                      <a:lnTo>
                        <a:pt x="3794" y="535"/>
                      </a:lnTo>
                      <a:lnTo>
                        <a:pt x="3539" y="695"/>
                      </a:lnTo>
                      <a:lnTo>
                        <a:pt x="3438" y="392"/>
                      </a:lnTo>
                      <a:lnTo>
                        <a:pt x="3427" y="71"/>
                      </a:lnTo>
                      <a:lnTo>
                        <a:pt x="3300" y="267"/>
                      </a:lnTo>
                      <a:lnTo>
                        <a:pt x="3087" y="53"/>
                      </a:lnTo>
                      <a:lnTo>
                        <a:pt x="2960" y="107"/>
                      </a:lnTo>
                      <a:lnTo>
                        <a:pt x="2790" y="125"/>
                      </a:lnTo>
                      <a:lnTo>
                        <a:pt x="2444" y="267"/>
                      </a:lnTo>
                      <a:lnTo>
                        <a:pt x="2338" y="160"/>
                      </a:lnTo>
                      <a:lnTo>
                        <a:pt x="2189" y="178"/>
                      </a:lnTo>
                      <a:lnTo>
                        <a:pt x="2094" y="428"/>
                      </a:lnTo>
                      <a:lnTo>
                        <a:pt x="1743" y="392"/>
                      </a:lnTo>
                      <a:lnTo>
                        <a:pt x="1387" y="695"/>
                      </a:lnTo>
                      <a:lnTo>
                        <a:pt x="1291" y="713"/>
                      </a:lnTo>
                      <a:lnTo>
                        <a:pt x="1185" y="695"/>
                      </a:lnTo>
                      <a:lnTo>
                        <a:pt x="1036" y="713"/>
                      </a:lnTo>
                      <a:lnTo>
                        <a:pt x="834" y="178"/>
                      </a:lnTo>
                      <a:lnTo>
                        <a:pt x="770" y="232"/>
                      </a:lnTo>
                      <a:lnTo>
                        <a:pt x="191" y="2041"/>
                      </a:lnTo>
                      <a:lnTo>
                        <a:pt x="234" y="2112"/>
                      </a:lnTo>
                      <a:lnTo>
                        <a:pt x="159" y="2487"/>
                      </a:lnTo>
                      <a:lnTo>
                        <a:pt x="64" y="2799"/>
                      </a:lnTo>
                      <a:lnTo>
                        <a:pt x="0" y="3012"/>
                      </a:lnTo>
                      <a:lnTo>
                        <a:pt x="749" y="3779"/>
                      </a:lnTo>
                      <a:lnTo>
                        <a:pt x="675" y="3939"/>
                      </a:lnTo>
                      <a:lnTo>
                        <a:pt x="622" y="4135"/>
                      </a:lnTo>
                      <a:lnTo>
                        <a:pt x="643" y="4465"/>
                      </a:lnTo>
                      <a:lnTo>
                        <a:pt x="558" y="4643"/>
                      </a:lnTo>
                      <a:lnTo>
                        <a:pt x="446" y="4750"/>
                      </a:lnTo>
                      <a:lnTo>
                        <a:pt x="515" y="4911"/>
                      </a:lnTo>
                      <a:lnTo>
                        <a:pt x="414" y="5214"/>
                      </a:lnTo>
                      <a:lnTo>
                        <a:pt x="361" y="5374"/>
                      </a:lnTo>
                      <a:lnTo>
                        <a:pt x="622" y="5446"/>
                      </a:lnTo>
                      <a:lnTo>
                        <a:pt x="654" y="5588"/>
                      </a:lnTo>
                      <a:lnTo>
                        <a:pt x="749" y="5606"/>
                      </a:lnTo>
                      <a:lnTo>
                        <a:pt x="834" y="5695"/>
                      </a:lnTo>
                      <a:lnTo>
                        <a:pt x="685" y="5802"/>
                      </a:lnTo>
                      <a:lnTo>
                        <a:pt x="717" y="6185"/>
                      </a:lnTo>
                      <a:lnTo>
                        <a:pt x="643" y="6399"/>
                      </a:lnTo>
                      <a:lnTo>
                        <a:pt x="457" y="6578"/>
                      </a:lnTo>
                      <a:lnTo>
                        <a:pt x="393" y="6791"/>
                      </a:lnTo>
                      <a:lnTo>
                        <a:pt x="425" y="7005"/>
                      </a:lnTo>
                      <a:lnTo>
                        <a:pt x="298" y="7201"/>
                      </a:lnTo>
                      <a:lnTo>
                        <a:pt x="202" y="7308"/>
                      </a:lnTo>
                      <a:lnTo>
                        <a:pt x="361" y="7656"/>
                      </a:lnTo>
                      <a:lnTo>
                        <a:pt x="351" y="7852"/>
                      </a:lnTo>
                      <a:lnTo>
                        <a:pt x="414" y="8030"/>
                      </a:lnTo>
                      <a:lnTo>
                        <a:pt x="478" y="8226"/>
                      </a:lnTo>
                      <a:lnTo>
                        <a:pt x="579" y="8351"/>
                      </a:lnTo>
                      <a:lnTo>
                        <a:pt x="590" y="8761"/>
                      </a:lnTo>
                      <a:lnTo>
                        <a:pt x="558" y="9029"/>
                      </a:lnTo>
                      <a:lnTo>
                        <a:pt x="547" y="9082"/>
                      </a:lnTo>
                      <a:lnTo>
                        <a:pt x="654" y="9430"/>
                      </a:lnTo>
                      <a:lnTo>
                        <a:pt x="739" y="9465"/>
                      </a:lnTo>
                      <a:lnTo>
                        <a:pt x="717" y="9626"/>
                      </a:lnTo>
                      <a:lnTo>
                        <a:pt x="685" y="9750"/>
                      </a:lnTo>
                      <a:lnTo>
                        <a:pt x="707" y="9857"/>
                      </a:lnTo>
                      <a:lnTo>
                        <a:pt x="717" y="10125"/>
                      </a:lnTo>
                      <a:lnTo>
                        <a:pt x="654" y="10267"/>
                      </a:lnTo>
                      <a:lnTo>
                        <a:pt x="526" y="10392"/>
                      </a:lnTo>
                      <a:lnTo>
                        <a:pt x="558" y="10642"/>
                      </a:lnTo>
                      <a:lnTo>
                        <a:pt x="643" y="10802"/>
                      </a:lnTo>
                      <a:lnTo>
                        <a:pt x="526" y="10989"/>
                      </a:lnTo>
                      <a:lnTo>
                        <a:pt x="515" y="11560"/>
                      </a:lnTo>
                      <a:lnTo>
                        <a:pt x="579" y="11791"/>
                      </a:lnTo>
                      <a:lnTo>
                        <a:pt x="526" y="11988"/>
                      </a:lnTo>
                      <a:lnTo>
                        <a:pt x="457" y="12148"/>
                      </a:lnTo>
                      <a:lnTo>
                        <a:pt x="425" y="12255"/>
                      </a:lnTo>
                      <a:lnTo>
                        <a:pt x="579" y="12531"/>
                      </a:lnTo>
                      <a:lnTo>
                        <a:pt x="707" y="12531"/>
                      </a:lnTo>
                      <a:lnTo>
                        <a:pt x="739" y="13030"/>
                      </a:lnTo>
                      <a:lnTo>
                        <a:pt x="781" y="13119"/>
                      </a:lnTo>
                      <a:lnTo>
                        <a:pt x="781" y="13351"/>
                      </a:lnTo>
                      <a:lnTo>
                        <a:pt x="866" y="13672"/>
                      </a:lnTo>
                      <a:lnTo>
                        <a:pt x="1057" y="13975"/>
                      </a:lnTo>
                      <a:lnTo>
                        <a:pt x="972" y="14626"/>
                      </a:lnTo>
                      <a:lnTo>
                        <a:pt x="930" y="15053"/>
                      </a:lnTo>
                      <a:lnTo>
                        <a:pt x="1153" y="15267"/>
                      </a:lnTo>
                      <a:lnTo>
                        <a:pt x="1227" y="15160"/>
                      </a:lnTo>
                      <a:lnTo>
                        <a:pt x="1355" y="15214"/>
                      </a:lnTo>
                      <a:lnTo>
                        <a:pt x="1451" y="15339"/>
                      </a:lnTo>
                      <a:lnTo>
                        <a:pt x="1647" y="15499"/>
                      </a:lnTo>
                      <a:lnTo>
                        <a:pt x="1828" y="15535"/>
                      </a:lnTo>
                      <a:lnTo>
                        <a:pt x="1860" y="15428"/>
                      </a:lnTo>
                      <a:lnTo>
                        <a:pt x="1966" y="15428"/>
                      </a:lnTo>
                      <a:lnTo>
                        <a:pt x="1966" y="15695"/>
                      </a:lnTo>
                      <a:lnTo>
                        <a:pt x="1902" y="15820"/>
                      </a:lnTo>
                      <a:lnTo>
                        <a:pt x="1902" y="16239"/>
                      </a:lnTo>
                      <a:lnTo>
                        <a:pt x="1998" y="16310"/>
                      </a:lnTo>
                      <a:lnTo>
                        <a:pt x="1955" y="17059"/>
                      </a:lnTo>
                      <a:lnTo>
                        <a:pt x="3783" y="18030"/>
                      </a:lnTo>
                      <a:lnTo>
                        <a:pt x="8507" y="19626"/>
                      </a:lnTo>
                      <a:lnTo>
                        <a:pt x="12349" y="20000"/>
                      </a:lnTo>
                      <a:lnTo>
                        <a:pt x="15802" y="19697"/>
                      </a:lnTo>
                      <a:lnTo>
                        <a:pt x="15813" y="18975"/>
                      </a:lnTo>
                      <a:lnTo>
                        <a:pt x="15845" y="18779"/>
                      </a:lnTo>
                      <a:lnTo>
                        <a:pt x="15994" y="17870"/>
                      </a:lnTo>
                      <a:lnTo>
                        <a:pt x="16089" y="17433"/>
                      </a:lnTo>
                      <a:lnTo>
                        <a:pt x="16164" y="16845"/>
                      </a:lnTo>
                      <a:lnTo>
                        <a:pt x="16281" y="16774"/>
                      </a:lnTo>
                      <a:lnTo>
                        <a:pt x="16312" y="16631"/>
                      </a:lnTo>
                      <a:lnTo>
                        <a:pt x="16312" y="16292"/>
                      </a:lnTo>
                      <a:lnTo>
                        <a:pt x="16355" y="16096"/>
                      </a:lnTo>
                      <a:lnTo>
                        <a:pt x="16451" y="15882"/>
                      </a:lnTo>
                      <a:lnTo>
                        <a:pt x="16552" y="15820"/>
                      </a:lnTo>
                      <a:lnTo>
                        <a:pt x="16679" y="15588"/>
                      </a:lnTo>
                      <a:lnTo>
                        <a:pt x="16807" y="15267"/>
                      </a:lnTo>
                      <a:lnTo>
                        <a:pt x="16775" y="15107"/>
                      </a:lnTo>
                      <a:lnTo>
                        <a:pt x="16998" y="14733"/>
                      </a:lnTo>
                      <a:lnTo>
                        <a:pt x="17125" y="14519"/>
                      </a:lnTo>
                      <a:lnTo>
                        <a:pt x="17242" y="14537"/>
                      </a:lnTo>
                      <a:lnTo>
                        <a:pt x="17285" y="14323"/>
                      </a:lnTo>
                      <a:lnTo>
                        <a:pt x="17157" y="13761"/>
                      </a:lnTo>
                      <a:lnTo>
                        <a:pt x="17380" y="13298"/>
                      </a:lnTo>
                      <a:lnTo>
                        <a:pt x="17412" y="12959"/>
                      </a:lnTo>
                      <a:lnTo>
                        <a:pt x="17465" y="12763"/>
                      </a:lnTo>
                      <a:lnTo>
                        <a:pt x="17577" y="12549"/>
                      </a:lnTo>
                      <a:lnTo>
                        <a:pt x="17758" y="12602"/>
                      </a:lnTo>
                      <a:lnTo>
                        <a:pt x="17917" y="12549"/>
                      </a:lnTo>
                      <a:lnTo>
                        <a:pt x="18151" y="12148"/>
                      </a:lnTo>
                      <a:lnTo>
                        <a:pt x="18204" y="11524"/>
                      </a:lnTo>
                      <a:lnTo>
                        <a:pt x="18300" y="11364"/>
                      </a:lnTo>
                      <a:lnTo>
                        <a:pt x="18300" y="11185"/>
                      </a:lnTo>
                      <a:lnTo>
                        <a:pt x="18427" y="10428"/>
                      </a:lnTo>
                      <a:lnTo>
                        <a:pt x="18247" y="9911"/>
                      </a:lnTo>
                      <a:lnTo>
                        <a:pt x="18438" y="9537"/>
                      </a:lnTo>
                      <a:lnTo>
                        <a:pt x="18438" y="9100"/>
                      </a:lnTo>
                      <a:lnTo>
                        <a:pt x="18571" y="8832"/>
                      </a:lnTo>
                      <a:lnTo>
                        <a:pt x="18539" y="8725"/>
                      </a:lnTo>
                      <a:lnTo>
                        <a:pt x="18592" y="8619"/>
                      </a:lnTo>
                      <a:lnTo>
                        <a:pt x="18794" y="8280"/>
                      </a:lnTo>
                      <a:lnTo>
                        <a:pt x="19049" y="8244"/>
                      </a:lnTo>
                      <a:lnTo>
                        <a:pt x="19176" y="8244"/>
                      </a:lnTo>
                      <a:lnTo>
                        <a:pt x="19421" y="8173"/>
                      </a:lnTo>
                      <a:lnTo>
                        <a:pt x="19453" y="7852"/>
                      </a:lnTo>
                      <a:lnTo>
                        <a:pt x="19596" y="7469"/>
                      </a:lnTo>
                      <a:lnTo>
                        <a:pt x="19724" y="7415"/>
                      </a:lnTo>
                      <a:lnTo>
                        <a:pt x="19756" y="7112"/>
                      </a:lnTo>
                      <a:lnTo>
                        <a:pt x="19841" y="7094"/>
                      </a:lnTo>
                      <a:lnTo>
                        <a:pt x="19841" y="6667"/>
                      </a:lnTo>
                      <a:lnTo>
                        <a:pt x="20000" y="6417"/>
                      </a:lnTo>
                      <a:lnTo>
                        <a:pt x="19979" y="5695"/>
                      </a:lnTo>
                      <a:lnTo>
                        <a:pt x="19485" y="5107"/>
                      </a:lnTo>
                      <a:lnTo>
                        <a:pt x="19463" y="4911"/>
                      </a:lnTo>
                      <a:lnTo>
                        <a:pt x="19325" y="4679"/>
                      </a:lnTo>
                      <a:lnTo>
                        <a:pt x="19431" y="4358"/>
                      </a:lnTo>
                      <a:lnTo>
                        <a:pt x="19586" y="4046"/>
                      </a:lnTo>
                      <a:lnTo>
                        <a:pt x="19596" y="3886"/>
                      </a:lnTo>
                      <a:lnTo>
                        <a:pt x="19463" y="3226"/>
                      </a:lnTo>
                      <a:lnTo>
                        <a:pt x="19325" y="2852"/>
                      </a:lnTo>
                      <a:lnTo>
                        <a:pt x="18858" y="2531"/>
                      </a:lnTo>
                      <a:lnTo>
                        <a:pt x="18236" y="2487"/>
                      </a:lnTo>
                      <a:lnTo>
                        <a:pt x="18045" y="2656"/>
                      </a:lnTo>
                      <a:lnTo>
                        <a:pt x="17853" y="2638"/>
                      </a:lnTo>
                      <a:lnTo>
                        <a:pt x="17896" y="2709"/>
                      </a:lnTo>
                      <a:lnTo>
                        <a:pt x="18013" y="3601"/>
                      </a:lnTo>
                      <a:lnTo>
                        <a:pt x="18183" y="4029"/>
                      </a:lnTo>
                      <a:lnTo>
                        <a:pt x="18204" y="4135"/>
                      </a:lnTo>
                      <a:lnTo>
                        <a:pt x="18077" y="4376"/>
                      </a:lnTo>
                      <a:lnTo>
                        <a:pt x="18119" y="5606"/>
                      </a:lnTo>
                      <a:lnTo>
                        <a:pt x="18077" y="5660"/>
                      </a:lnTo>
                      <a:lnTo>
                        <a:pt x="17991" y="6257"/>
                      </a:lnTo>
                      <a:lnTo>
                        <a:pt x="18077" y="6738"/>
                      </a:lnTo>
                      <a:lnTo>
                        <a:pt x="17949" y="6720"/>
                      </a:lnTo>
                      <a:lnTo>
                        <a:pt x="17885" y="6845"/>
                      </a:lnTo>
                      <a:lnTo>
                        <a:pt x="17896" y="7041"/>
                      </a:lnTo>
                      <a:lnTo>
                        <a:pt x="17790" y="7005"/>
                      </a:lnTo>
                      <a:lnTo>
                        <a:pt x="17412" y="6453"/>
                      </a:lnTo>
                      <a:lnTo>
                        <a:pt x="17253" y="5918"/>
                      </a:lnTo>
                      <a:lnTo>
                        <a:pt x="17380" y="5660"/>
                      </a:lnTo>
                      <a:lnTo>
                        <a:pt x="17412" y="5535"/>
                      </a:lnTo>
                      <a:lnTo>
                        <a:pt x="17242" y="4697"/>
                      </a:lnTo>
                      <a:lnTo>
                        <a:pt x="16902" y="4358"/>
                      </a:lnTo>
                      <a:lnTo>
                        <a:pt x="16807" y="4100"/>
                      </a:lnTo>
                      <a:lnTo>
                        <a:pt x="16700" y="4153"/>
                      </a:lnTo>
                      <a:lnTo>
                        <a:pt x="16605" y="4590"/>
                      </a:lnTo>
                      <a:lnTo>
                        <a:pt x="16615" y="5107"/>
                      </a:lnTo>
                      <a:lnTo>
                        <a:pt x="16637" y="5588"/>
                      </a:lnTo>
                      <a:lnTo>
                        <a:pt x="16482" y="5660"/>
                      </a:lnTo>
                      <a:lnTo>
                        <a:pt x="16408" y="5553"/>
                      </a:lnTo>
                      <a:lnTo>
                        <a:pt x="16344" y="4804"/>
                      </a:lnTo>
                      <a:lnTo>
                        <a:pt x="16281" y="4697"/>
                      </a:lnTo>
                      <a:lnTo>
                        <a:pt x="16217" y="4465"/>
                      </a:lnTo>
                      <a:lnTo>
                        <a:pt x="16153" y="4216"/>
                      </a:lnTo>
                      <a:lnTo>
                        <a:pt x="16196" y="3939"/>
                      </a:lnTo>
                      <a:lnTo>
                        <a:pt x="16259" y="3868"/>
                      </a:lnTo>
                      <a:lnTo>
                        <a:pt x="16217" y="3815"/>
                      </a:lnTo>
                      <a:lnTo>
                        <a:pt x="15962" y="3725"/>
                      </a:lnTo>
                      <a:lnTo>
                        <a:pt x="15877" y="3779"/>
                      </a:lnTo>
                      <a:lnTo>
                        <a:pt x="15813" y="3975"/>
                      </a:lnTo>
                      <a:lnTo>
                        <a:pt x="15654" y="3886"/>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1" name="Freeform 83">
                  <a:extLst>
                    <a:ext uri="{FF2B5EF4-FFF2-40B4-BE49-F238E27FC236}">
                      <a16:creationId xmlns:a16="http://schemas.microsoft.com/office/drawing/2014/main" id="{E7E814DF-02F6-42F5-8177-6BEFD49B299F}"/>
                    </a:ext>
                  </a:extLst>
                </p:cNvPr>
                <p:cNvSpPr>
                  <a:spLocks/>
                </p:cNvSpPr>
                <p:nvPr/>
              </p:nvSpPr>
              <p:spPr bwMode="auto">
                <a:xfrm>
                  <a:off x="1949" y="2040"/>
                  <a:ext cx="217" cy="146"/>
                </a:xfrm>
                <a:custGeom>
                  <a:avLst/>
                  <a:gdLst>
                    <a:gd name="T0" fmla="*/ 192 w 20000"/>
                    <a:gd name="T1" fmla="*/ 107 h 20000"/>
                    <a:gd name="T2" fmla="*/ 175 w 20000"/>
                    <a:gd name="T3" fmla="*/ 106 h 20000"/>
                    <a:gd name="T4" fmla="*/ 167 w 20000"/>
                    <a:gd name="T5" fmla="*/ 94 h 20000"/>
                    <a:gd name="T6" fmla="*/ 149 w 20000"/>
                    <a:gd name="T7" fmla="*/ 90 h 20000"/>
                    <a:gd name="T8" fmla="*/ 146 w 20000"/>
                    <a:gd name="T9" fmla="*/ 94 h 20000"/>
                    <a:gd name="T10" fmla="*/ 134 w 20000"/>
                    <a:gd name="T11" fmla="*/ 99 h 20000"/>
                    <a:gd name="T12" fmla="*/ 144 w 20000"/>
                    <a:gd name="T13" fmla="*/ 122 h 20000"/>
                    <a:gd name="T14" fmla="*/ 137 w 20000"/>
                    <a:gd name="T15" fmla="*/ 121 h 20000"/>
                    <a:gd name="T16" fmla="*/ 80 w 20000"/>
                    <a:gd name="T17" fmla="*/ 146 h 20000"/>
                    <a:gd name="T18" fmla="*/ 75 w 20000"/>
                    <a:gd name="T19" fmla="*/ 136 h 20000"/>
                    <a:gd name="T20" fmla="*/ 87 w 20000"/>
                    <a:gd name="T21" fmla="*/ 133 h 20000"/>
                    <a:gd name="T22" fmla="*/ 98 w 20000"/>
                    <a:gd name="T23" fmla="*/ 126 h 20000"/>
                    <a:gd name="T24" fmla="*/ 109 w 20000"/>
                    <a:gd name="T25" fmla="*/ 120 h 20000"/>
                    <a:gd name="T26" fmla="*/ 120 w 20000"/>
                    <a:gd name="T27" fmla="*/ 101 h 20000"/>
                    <a:gd name="T28" fmla="*/ 113 w 20000"/>
                    <a:gd name="T29" fmla="*/ 95 h 20000"/>
                    <a:gd name="T30" fmla="*/ 84 w 20000"/>
                    <a:gd name="T31" fmla="*/ 102 h 20000"/>
                    <a:gd name="T32" fmla="*/ 74 w 20000"/>
                    <a:gd name="T33" fmla="*/ 124 h 20000"/>
                    <a:gd name="T34" fmla="*/ 60 w 20000"/>
                    <a:gd name="T35" fmla="*/ 127 h 20000"/>
                    <a:gd name="T36" fmla="*/ 55 w 20000"/>
                    <a:gd name="T37" fmla="*/ 122 h 20000"/>
                    <a:gd name="T38" fmla="*/ 45 w 20000"/>
                    <a:gd name="T39" fmla="*/ 120 h 20000"/>
                    <a:gd name="T40" fmla="*/ 23 w 20000"/>
                    <a:gd name="T41" fmla="*/ 99 h 20000"/>
                    <a:gd name="T42" fmla="*/ 46 w 20000"/>
                    <a:gd name="T43" fmla="*/ 94 h 20000"/>
                    <a:gd name="T44" fmla="*/ 50 w 20000"/>
                    <a:gd name="T45" fmla="*/ 83 h 20000"/>
                    <a:gd name="T46" fmla="*/ 64 w 20000"/>
                    <a:gd name="T47" fmla="*/ 80 h 20000"/>
                    <a:gd name="T48" fmla="*/ 76 w 20000"/>
                    <a:gd name="T49" fmla="*/ 69 h 20000"/>
                    <a:gd name="T50" fmla="*/ 67 w 20000"/>
                    <a:gd name="T51" fmla="*/ 53 h 20000"/>
                    <a:gd name="T52" fmla="*/ 68 w 20000"/>
                    <a:gd name="T53" fmla="*/ 49 h 20000"/>
                    <a:gd name="T54" fmla="*/ 80 w 20000"/>
                    <a:gd name="T55" fmla="*/ 56 h 20000"/>
                    <a:gd name="T56" fmla="*/ 101 w 20000"/>
                    <a:gd name="T57" fmla="*/ 64 h 20000"/>
                    <a:gd name="T58" fmla="*/ 108 w 20000"/>
                    <a:gd name="T59" fmla="*/ 59 h 20000"/>
                    <a:gd name="T60" fmla="*/ 99 w 20000"/>
                    <a:gd name="T61" fmla="*/ 53 h 20000"/>
                    <a:gd name="T62" fmla="*/ 89 w 20000"/>
                    <a:gd name="T63" fmla="*/ 36 h 20000"/>
                    <a:gd name="T64" fmla="*/ 60 w 20000"/>
                    <a:gd name="T65" fmla="*/ 29 h 20000"/>
                    <a:gd name="T66" fmla="*/ 60 w 20000"/>
                    <a:gd name="T67" fmla="*/ 34 h 20000"/>
                    <a:gd name="T68" fmla="*/ 53 w 20000"/>
                    <a:gd name="T69" fmla="*/ 40 h 20000"/>
                    <a:gd name="T70" fmla="*/ 52 w 20000"/>
                    <a:gd name="T71" fmla="*/ 34 h 20000"/>
                    <a:gd name="T72" fmla="*/ 31 w 20000"/>
                    <a:gd name="T73" fmla="*/ 30 h 20000"/>
                    <a:gd name="T74" fmla="*/ 22 w 20000"/>
                    <a:gd name="T75" fmla="*/ 22 h 20000"/>
                    <a:gd name="T76" fmla="*/ 11 w 20000"/>
                    <a:gd name="T77" fmla="*/ 26 h 20000"/>
                    <a:gd name="T78" fmla="*/ 0 w 20000"/>
                    <a:gd name="T79" fmla="*/ 29 h 20000"/>
                    <a:gd name="T80" fmla="*/ 2 w 20000"/>
                    <a:gd name="T81" fmla="*/ 10 h 20000"/>
                    <a:gd name="T82" fmla="*/ 24 w 20000"/>
                    <a:gd name="T83" fmla="*/ 12 h 20000"/>
                    <a:gd name="T84" fmla="*/ 30 w 20000"/>
                    <a:gd name="T85" fmla="*/ 13 h 20000"/>
                    <a:gd name="T86" fmla="*/ 159 w 20000"/>
                    <a:gd name="T87" fmla="*/ 0 h 20000"/>
                    <a:gd name="T88" fmla="*/ 186 w 20000"/>
                    <a:gd name="T89" fmla="*/ 17 h 20000"/>
                    <a:gd name="T90" fmla="*/ 139 w 20000"/>
                    <a:gd name="T91" fmla="*/ 34 h 20000"/>
                    <a:gd name="T92" fmla="*/ 139 w 20000"/>
                    <a:gd name="T93" fmla="*/ 44 h 20000"/>
                    <a:gd name="T94" fmla="*/ 179 w 20000"/>
                    <a:gd name="T95" fmla="*/ 59 h 20000"/>
                    <a:gd name="T96" fmla="*/ 202 w 20000"/>
                    <a:gd name="T97" fmla="*/ 57 h 20000"/>
                    <a:gd name="T98" fmla="*/ 205 w 20000"/>
                    <a:gd name="T99" fmla="*/ 45 h 20000"/>
                    <a:gd name="T100" fmla="*/ 217 w 20000"/>
                    <a:gd name="T101" fmla="*/ 44 h 20000"/>
                    <a:gd name="T102" fmla="*/ 210 w 20000"/>
                    <a:gd name="T103" fmla="*/ 57 h 20000"/>
                    <a:gd name="T104" fmla="*/ 217 w 20000"/>
                    <a:gd name="T105" fmla="*/ 57 h 20000"/>
                    <a:gd name="T106" fmla="*/ 207 w 20000"/>
                    <a:gd name="T107" fmla="*/ 80 h 20000"/>
                    <a:gd name="T108" fmla="*/ 195 w 20000"/>
                    <a:gd name="T109" fmla="*/ 85 h 20000"/>
                    <a:gd name="T110" fmla="*/ 190 w 20000"/>
                    <a:gd name="T111" fmla="*/ 94 h 20000"/>
                    <a:gd name="T112" fmla="*/ 200 w 20000"/>
                    <a:gd name="T113" fmla="*/ 97 h 20000"/>
                    <a:gd name="T114" fmla="*/ 192 w 20000"/>
                    <a:gd name="T115" fmla="*/ 107 h 200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0000"/>
                    <a:gd name="T175" fmla="*/ 0 h 20000"/>
                    <a:gd name="T176" fmla="*/ 20000 w 20000"/>
                    <a:gd name="T177" fmla="*/ 20000 h 200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0000" h="20000">
                      <a:moveTo>
                        <a:pt x="17712" y="14670"/>
                      </a:moveTo>
                      <a:lnTo>
                        <a:pt x="16162" y="14560"/>
                      </a:lnTo>
                      <a:lnTo>
                        <a:pt x="15351" y="12912"/>
                      </a:lnTo>
                      <a:lnTo>
                        <a:pt x="13690" y="12363"/>
                      </a:lnTo>
                      <a:lnTo>
                        <a:pt x="13469" y="12912"/>
                      </a:lnTo>
                      <a:lnTo>
                        <a:pt x="12362" y="13571"/>
                      </a:lnTo>
                      <a:lnTo>
                        <a:pt x="13247" y="16703"/>
                      </a:lnTo>
                      <a:lnTo>
                        <a:pt x="12583" y="16593"/>
                      </a:lnTo>
                      <a:lnTo>
                        <a:pt x="7343" y="20000"/>
                      </a:lnTo>
                      <a:lnTo>
                        <a:pt x="6900" y="18571"/>
                      </a:lnTo>
                      <a:lnTo>
                        <a:pt x="8007" y="18242"/>
                      </a:lnTo>
                      <a:lnTo>
                        <a:pt x="9041" y="17253"/>
                      </a:lnTo>
                      <a:lnTo>
                        <a:pt x="10000" y="16374"/>
                      </a:lnTo>
                      <a:lnTo>
                        <a:pt x="11033" y="13901"/>
                      </a:lnTo>
                      <a:lnTo>
                        <a:pt x="10369" y="13022"/>
                      </a:lnTo>
                      <a:lnTo>
                        <a:pt x="7712" y="14011"/>
                      </a:lnTo>
                      <a:lnTo>
                        <a:pt x="6827" y="16923"/>
                      </a:lnTo>
                      <a:lnTo>
                        <a:pt x="5498" y="17363"/>
                      </a:lnTo>
                      <a:lnTo>
                        <a:pt x="5055" y="16703"/>
                      </a:lnTo>
                      <a:lnTo>
                        <a:pt x="4133" y="16374"/>
                      </a:lnTo>
                      <a:lnTo>
                        <a:pt x="2140" y="13571"/>
                      </a:lnTo>
                      <a:lnTo>
                        <a:pt x="4207" y="12912"/>
                      </a:lnTo>
                      <a:lnTo>
                        <a:pt x="4576" y="11374"/>
                      </a:lnTo>
                      <a:lnTo>
                        <a:pt x="5941" y="10934"/>
                      </a:lnTo>
                      <a:lnTo>
                        <a:pt x="7048" y="9396"/>
                      </a:lnTo>
                      <a:lnTo>
                        <a:pt x="6162" y="7308"/>
                      </a:lnTo>
                      <a:lnTo>
                        <a:pt x="6236" y="6758"/>
                      </a:lnTo>
                      <a:lnTo>
                        <a:pt x="7343" y="7637"/>
                      </a:lnTo>
                      <a:lnTo>
                        <a:pt x="9336" y="8736"/>
                      </a:lnTo>
                      <a:lnTo>
                        <a:pt x="9926" y="8077"/>
                      </a:lnTo>
                      <a:lnTo>
                        <a:pt x="9114" y="7308"/>
                      </a:lnTo>
                      <a:lnTo>
                        <a:pt x="8229" y="4945"/>
                      </a:lnTo>
                      <a:lnTo>
                        <a:pt x="5572" y="3956"/>
                      </a:lnTo>
                      <a:lnTo>
                        <a:pt x="5572" y="4615"/>
                      </a:lnTo>
                      <a:lnTo>
                        <a:pt x="4871" y="5440"/>
                      </a:lnTo>
                      <a:lnTo>
                        <a:pt x="4797" y="4725"/>
                      </a:lnTo>
                      <a:lnTo>
                        <a:pt x="2878" y="4066"/>
                      </a:lnTo>
                      <a:lnTo>
                        <a:pt x="1993" y="2967"/>
                      </a:lnTo>
                      <a:lnTo>
                        <a:pt x="1033" y="3626"/>
                      </a:lnTo>
                      <a:lnTo>
                        <a:pt x="0" y="3956"/>
                      </a:lnTo>
                      <a:lnTo>
                        <a:pt x="148" y="1319"/>
                      </a:lnTo>
                      <a:lnTo>
                        <a:pt x="2214" y="1648"/>
                      </a:lnTo>
                      <a:lnTo>
                        <a:pt x="2804" y="1758"/>
                      </a:lnTo>
                      <a:lnTo>
                        <a:pt x="14649" y="0"/>
                      </a:lnTo>
                      <a:lnTo>
                        <a:pt x="17122" y="2308"/>
                      </a:lnTo>
                      <a:lnTo>
                        <a:pt x="12804" y="4725"/>
                      </a:lnTo>
                      <a:lnTo>
                        <a:pt x="12804" y="5989"/>
                      </a:lnTo>
                      <a:lnTo>
                        <a:pt x="16458" y="8077"/>
                      </a:lnTo>
                      <a:lnTo>
                        <a:pt x="18598" y="7747"/>
                      </a:lnTo>
                      <a:lnTo>
                        <a:pt x="18893" y="6099"/>
                      </a:lnTo>
                      <a:lnTo>
                        <a:pt x="20000" y="5989"/>
                      </a:lnTo>
                      <a:lnTo>
                        <a:pt x="19336" y="7747"/>
                      </a:lnTo>
                      <a:lnTo>
                        <a:pt x="20000" y="7747"/>
                      </a:lnTo>
                      <a:lnTo>
                        <a:pt x="19114" y="10934"/>
                      </a:lnTo>
                      <a:lnTo>
                        <a:pt x="18007" y="11593"/>
                      </a:lnTo>
                      <a:lnTo>
                        <a:pt x="17491" y="12912"/>
                      </a:lnTo>
                      <a:lnTo>
                        <a:pt x="18450" y="13242"/>
                      </a:lnTo>
                      <a:lnTo>
                        <a:pt x="17712" y="1467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2" name="Freeform 84">
                  <a:extLst>
                    <a:ext uri="{FF2B5EF4-FFF2-40B4-BE49-F238E27FC236}">
                      <a16:creationId xmlns:a16="http://schemas.microsoft.com/office/drawing/2014/main" id="{50390913-61BC-68D3-51DF-F63411B72E64}"/>
                    </a:ext>
                  </a:extLst>
                </p:cNvPr>
                <p:cNvSpPr>
                  <a:spLocks/>
                </p:cNvSpPr>
                <p:nvPr/>
              </p:nvSpPr>
              <p:spPr bwMode="auto">
                <a:xfrm>
                  <a:off x="2085" y="2354"/>
                  <a:ext cx="296" cy="161"/>
                </a:xfrm>
                <a:custGeom>
                  <a:avLst/>
                  <a:gdLst>
                    <a:gd name="T0" fmla="*/ 215 w 20000"/>
                    <a:gd name="T1" fmla="*/ 56 h 20000"/>
                    <a:gd name="T2" fmla="*/ 209 w 20000"/>
                    <a:gd name="T3" fmla="*/ 71 h 20000"/>
                    <a:gd name="T4" fmla="*/ 220 w 20000"/>
                    <a:gd name="T5" fmla="*/ 58 h 20000"/>
                    <a:gd name="T6" fmla="*/ 262 w 20000"/>
                    <a:gd name="T7" fmla="*/ 53 h 20000"/>
                    <a:gd name="T8" fmla="*/ 270 w 20000"/>
                    <a:gd name="T9" fmla="*/ 56 h 20000"/>
                    <a:gd name="T10" fmla="*/ 254 w 20000"/>
                    <a:gd name="T11" fmla="*/ 63 h 20000"/>
                    <a:gd name="T12" fmla="*/ 238 w 20000"/>
                    <a:gd name="T13" fmla="*/ 68 h 20000"/>
                    <a:gd name="T14" fmla="*/ 245 w 20000"/>
                    <a:gd name="T15" fmla="*/ 73 h 20000"/>
                    <a:gd name="T16" fmla="*/ 262 w 20000"/>
                    <a:gd name="T17" fmla="*/ 68 h 20000"/>
                    <a:gd name="T18" fmla="*/ 262 w 20000"/>
                    <a:gd name="T19" fmla="*/ 73 h 20000"/>
                    <a:gd name="T20" fmla="*/ 220 w 20000"/>
                    <a:gd name="T21" fmla="*/ 82 h 20000"/>
                    <a:gd name="T22" fmla="*/ 208 w 20000"/>
                    <a:gd name="T23" fmla="*/ 99 h 20000"/>
                    <a:gd name="T24" fmla="*/ 158 w 20000"/>
                    <a:gd name="T25" fmla="*/ 137 h 20000"/>
                    <a:gd name="T26" fmla="*/ 140 w 20000"/>
                    <a:gd name="T27" fmla="*/ 130 h 20000"/>
                    <a:gd name="T28" fmla="*/ 133 w 20000"/>
                    <a:gd name="T29" fmla="*/ 135 h 20000"/>
                    <a:gd name="T30" fmla="*/ 121 w 20000"/>
                    <a:gd name="T31" fmla="*/ 157 h 20000"/>
                    <a:gd name="T32" fmla="*/ 99 w 20000"/>
                    <a:gd name="T33" fmla="*/ 159 h 20000"/>
                    <a:gd name="T34" fmla="*/ 49 w 20000"/>
                    <a:gd name="T35" fmla="*/ 161 h 20000"/>
                    <a:gd name="T36" fmla="*/ 27 w 20000"/>
                    <a:gd name="T37" fmla="*/ 144 h 20000"/>
                    <a:gd name="T38" fmla="*/ 1 w 20000"/>
                    <a:gd name="T39" fmla="*/ 130 h 20000"/>
                    <a:gd name="T40" fmla="*/ 0 w 20000"/>
                    <a:gd name="T41" fmla="*/ 118 h 20000"/>
                    <a:gd name="T42" fmla="*/ 20 w 20000"/>
                    <a:gd name="T43" fmla="*/ 123 h 20000"/>
                    <a:gd name="T44" fmla="*/ 22 w 20000"/>
                    <a:gd name="T45" fmla="*/ 116 h 20000"/>
                    <a:gd name="T46" fmla="*/ 49 w 20000"/>
                    <a:gd name="T47" fmla="*/ 128 h 20000"/>
                    <a:gd name="T48" fmla="*/ 49 w 20000"/>
                    <a:gd name="T49" fmla="*/ 118 h 20000"/>
                    <a:gd name="T50" fmla="*/ 61 w 20000"/>
                    <a:gd name="T51" fmla="*/ 113 h 20000"/>
                    <a:gd name="T52" fmla="*/ 73 w 20000"/>
                    <a:gd name="T53" fmla="*/ 94 h 20000"/>
                    <a:gd name="T54" fmla="*/ 97 w 20000"/>
                    <a:gd name="T55" fmla="*/ 98 h 20000"/>
                    <a:gd name="T56" fmla="*/ 101 w 20000"/>
                    <a:gd name="T57" fmla="*/ 91 h 20000"/>
                    <a:gd name="T58" fmla="*/ 87 w 20000"/>
                    <a:gd name="T59" fmla="*/ 46 h 20000"/>
                    <a:gd name="T60" fmla="*/ 71 w 20000"/>
                    <a:gd name="T61" fmla="*/ 31 h 20000"/>
                    <a:gd name="T62" fmla="*/ 61 w 20000"/>
                    <a:gd name="T63" fmla="*/ 0 h 20000"/>
                    <a:gd name="T64" fmla="*/ 65 w 20000"/>
                    <a:gd name="T65" fmla="*/ 0 h 20000"/>
                    <a:gd name="T66" fmla="*/ 73 w 20000"/>
                    <a:gd name="T67" fmla="*/ 22 h 20000"/>
                    <a:gd name="T68" fmla="*/ 81 w 20000"/>
                    <a:gd name="T69" fmla="*/ 26 h 20000"/>
                    <a:gd name="T70" fmla="*/ 105 w 20000"/>
                    <a:gd name="T71" fmla="*/ 51 h 20000"/>
                    <a:gd name="T72" fmla="*/ 120 w 20000"/>
                    <a:gd name="T73" fmla="*/ 56 h 20000"/>
                    <a:gd name="T74" fmla="*/ 134 w 20000"/>
                    <a:gd name="T75" fmla="*/ 82 h 20000"/>
                    <a:gd name="T76" fmla="*/ 176 w 20000"/>
                    <a:gd name="T77" fmla="*/ 89 h 20000"/>
                    <a:gd name="T78" fmla="*/ 192 w 20000"/>
                    <a:gd name="T79" fmla="*/ 79 h 20000"/>
                    <a:gd name="T80" fmla="*/ 208 w 20000"/>
                    <a:gd name="T81" fmla="*/ 63 h 20000"/>
                    <a:gd name="T82" fmla="*/ 220 w 20000"/>
                    <a:gd name="T83" fmla="*/ 43 h 20000"/>
                    <a:gd name="T84" fmla="*/ 252 w 20000"/>
                    <a:gd name="T85" fmla="*/ 36 h 20000"/>
                    <a:gd name="T86" fmla="*/ 277 w 20000"/>
                    <a:gd name="T87" fmla="*/ 39 h 20000"/>
                    <a:gd name="T88" fmla="*/ 296 w 20000"/>
                    <a:gd name="T89" fmla="*/ 51 h 20000"/>
                    <a:gd name="T90" fmla="*/ 290 w 20000"/>
                    <a:gd name="T91" fmla="*/ 67 h 20000"/>
                    <a:gd name="T92" fmla="*/ 286 w 20000"/>
                    <a:gd name="T93" fmla="*/ 65 h 20000"/>
                    <a:gd name="T94" fmla="*/ 286 w 20000"/>
                    <a:gd name="T95" fmla="*/ 61 h 20000"/>
                    <a:gd name="T96" fmla="*/ 256 w 20000"/>
                    <a:gd name="T97" fmla="*/ 47 h 20000"/>
                    <a:gd name="T98" fmla="*/ 215 w 20000"/>
                    <a:gd name="T99" fmla="*/ 56 h 2000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000"/>
                    <a:gd name="T151" fmla="*/ 0 h 20000"/>
                    <a:gd name="T152" fmla="*/ 20000 w 20000"/>
                    <a:gd name="T153" fmla="*/ 20000 h 2000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000" h="20000">
                      <a:moveTo>
                        <a:pt x="14553" y="6980"/>
                      </a:moveTo>
                      <a:lnTo>
                        <a:pt x="14119" y="8762"/>
                      </a:lnTo>
                      <a:lnTo>
                        <a:pt x="14878" y="7178"/>
                      </a:lnTo>
                      <a:lnTo>
                        <a:pt x="17724" y="6584"/>
                      </a:lnTo>
                      <a:lnTo>
                        <a:pt x="18211" y="6980"/>
                      </a:lnTo>
                      <a:lnTo>
                        <a:pt x="17154" y="7871"/>
                      </a:lnTo>
                      <a:lnTo>
                        <a:pt x="16070" y="8465"/>
                      </a:lnTo>
                      <a:lnTo>
                        <a:pt x="16558" y="9059"/>
                      </a:lnTo>
                      <a:lnTo>
                        <a:pt x="17669" y="8465"/>
                      </a:lnTo>
                      <a:lnTo>
                        <a:pt x="17724" y="9059"/>
                      </a:lnTo>
                      <a:lnTo>
                        <a:pt x="14878" y="10149"/>
                      </a:lnTo>
                      <a:lnTo>
                        <a:pt x="14065" y="12327"/>
                      </a:lnTo>
                      <a:lnTo>
                        <a:pt x="10678" y="17030"/>
                      </a:lnTo>
                      <a:lnTo>
                        <a:pt x="9485" y="16139"/>
                      </a:lnTo>
                      <a:lnTo>
                        <a:pt x="8997" y="16733"/>
                      </a:lnTo>
                      <a:lnTo>
                        <a:pt x="8184" y="19505"/>
                      </a:lnTo>
                      <a:lnTo>
                        <a:pt x="6694" y="19802"/>
                      </a:lnTo>
                      <a:lnTo>
                        <a:pt x="3333" y="20000"/>
                      </a:lnTo>
                      <a:lnTo>
                        <a:pt x="1843" y="17921"/>
                      </a:lnTo>
                      <a:lnTo>
                        <a:pt x="54" y="16139"/>
                      </a:lnTo>
                      <a:lnTo>
                        <a:pt x="0" y="14703"/>
                      </a:lnTo>
                      <a:lnTo>
                        <a:pt x="1355" y="15248"/>
                      </a:lnTo>
                      <a:lnTo>
                        <a:pt x="1518" y="14406"/>
                      </a:lnTo>
                      <a:lnTo>
                        <a:pt x="3279" y="15842"/>
                      </a:lnTo>
                      <a:lnTo>
                        <a:pt x="3333" y="14604"/>
                      </a:lnTo>
                      <a:lnTo>
                        <a:pt x="4092" y="14010"/>
                      </a:lnTo>
                      <a:lnTo>
                        <a:pt x="4905" y="11634"/>
                      </a:lnTo>
                      <a:lnTo>
                        <a:pt x="6531" y="12228"/>
                      </a:lnTo>
                      <a:lnTo>
                        <a:pt x="6856" y="11337"/>
                      </a:lnTo>
                      <a:lnTo>
                        <a:pt x="5881" y="5693"/>
                      </a:lnTo>
                      <a:lnTo>
                        <a:pt x="4797" y="3861"/>
                      </a:lnTo>
                      <a:lnTo>
                        <a:pt x="4092" y="0"/>
                      </a:lnTo>
                      <a:lnTo>
                        <a:pt x="4417" y="0"/>
                      </a:lnTo>
                      <a:lnTo>
                        <a:pt x="4959" y="2673"/>
                      </a:lnTo>
                      <a:lnTo>
                        <a:pt x="5447" y="3267"/>
                      </a:lnTo>
                      <a:lnTo>
                        <a:pt x="7073" y="6386"/>
                      </a:lnTo>
                      <a:lnTo>
                        <a:pt x="8076" y="6980"/>
                      </a:lnTo>
                      <a:lnTo>
                        <a:pt x="9051" y="10149"/>
                      </a:lnTo>
                      <a:lnTo>
                        <a:pt x="11924" y="11040"/>
                      </a:lnTo>
                      <a:lnTo>
                        <a:pt x="12981" y="9851"/>
                      </a:lnTo>
                      <a:lnTo>
                        <a:pt x="14065" y="7871"/>
                      </a:lnTo>
                      <a:lnTo>
                        <a:pt x="14878" y="5396"/>
                      </a:lnTo>
                      <a:lnTo>
                        <a:pt x="17046" y="4455"/>
                      </a:lnTo>
                      <a:lnTo>
                        <a:pt x="18699" y="4851"/>
                      </a:lnTo>
                      <a:lnTo>
                        <a:pt x="20000" y="6386"/>
                      </a:lnTo>
                      <a:lnTo>
                        <a:pt x="19621" y="8366"/>
                      </a:lnTo>
                      <a:lnTo>
                        <a:pt x="19295" y="8069"/>
                      </a:lnTo>
                      <a:lnTo>
                        <a:pt x="19350" y="7574"/>
                      </a:lnTo>
                      <a:lnTo>
                        <a:pt x="17317" y="5792"/>
                      </a:lnTo>
                      <a:lnTo>
                        <a:pt x="14553" y="698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grpSp>
            <p:nvGrpSpPr>
              <p:cNvPr id="210" name="Group 209">
                <a:extLst>
                  <a:ext uri="{FF2B5EF4-FFF2-40B4-BE49-F238E27FC236}">
                    <a16:creationId xmlns:a16="http://schemas.microsoft.com/office/drawing/2014/main" id="{2BB8CAB1-5130-DDEE-7C09-D1E25279C914}"/>
                  </a:ext>
                </a:extLst>
              </p:cNvPr>
              <p:cNvGrpSpPr>
                <a:grpSpLocks/>
              </p:cNvGrpSpPr>
              <p:nvPr/>
            </p:nvGrpSpPr>
            <p:grpSpPr bwMode="auto">
              <a:xfrm>
                <a:off x="4154489" y="4143375"/>
                <a:ext cx="815975" cy="1298575"/>
                <a:chOff x="2617" y="2610"/>
                <a:chExt cx="514" cy="818"/>
              </a:xfrm>
            </p:grpSpPr>
            <p:sp>
              <p:nvSpPr>
                <p:cNvPr id="216" name="Freeform 86">
                  <a:extLst>
                    <a:ext uri="{FF2B5EF4-FFF2-40B4-BE49-F238E27FC236}">
                      <a16:creationId xmlns:a16="http://schemas.microsoft.com/office/drawing/2014/main" id="{971041BC-E811-D09E-520F-7F9BCEFAB44A}"/>
                    </a:ext>
                  </a:extLst>
                </p:cNvPr>
                <p:cNvSpPr>
                  <a:spLocks/>
                </p:cNvSpPr>
                <p:nvPr/>
              </p:nvSpPr>
              <p:spPr bwMode="auto">
                <a:xfrm>
                  <a:off x="2617" y="2610"/>
                  <a:ext cx="514" cy="818"/>
                </a:xfrm>
                <a:custGeom>
                  <a:avLst/>
                  <a:gdLst>
                    <a:gd name="T0" fmla="*/ 231 w 20000"/>
                    <a:gd name="T1" fmla="*/ 810 h 20000"/>
                    <a:gd name="T2" fmla="*/ 270 w 20000"/>
                    <a:gd name="T3" fmla="*/ 808 h 20000"/>
                    <a:gd name="T4" fmla="*/ 323 w 20000"/>
                    <a:gd name="T5" fmla="*/ 803 h 20000"/>
                    <a:gd name="T6" fmla="*/ 331 w 20000"/>
                    <a:gd name="T7" fmla="*/ 801 h 20000"/>
                    <a:gd name="T8" fmla="*/ 328 w 20000"/>
                    <a:gd name="T9" fmla="*/ 774 h 20000"/>
                    <a:gd name="T10" fmla="*/ 330 w 20000"/>
                    <a:gd name="T11" fmla="*/ 774 h 20000"/>
                    <a:gd name="T12" fmla="*/ 302 w 20000"/>
                    <a:gd name="T13" fmla="*/ 524 h 20000"/>
                    <a:gd name="T14" fmla="*/ 360 w 20000"/>
                    <a:gd name="T15" fmla="*/ 451 h 20000"/>
                    <a:gd name="T16" fmla="*/ 418 w 20000"/>
                    <a:gd name="T17" fmla="*/ 356 h 20000"/>
                    <a:gd name="T18" fmla="*/ 514 w 20000"/>
                    <a:gd name="T19" fmla="*/ 196 h 20000"/>
                    <a:gd name="T20" fmla="*/ 494 w 20000"/>
                    <a:gd name="T21" fmla="*/ 193 h 20000"/>
                    <a:gd name="T22" fmla="*/ 438 w 20000"/>
                    <a:gd name="T23" fmla="*/ 178 h 20000"/>
                    <a:gd name="T24" fmla="*/ 406 w 20000"/>
                    <a:gd name="T25" fmla="*/ 193 h 20000"/>
                    <a:gd name="T26" fmla="*/ 373 w 20000"/>
                    <a:gd name="T27" fmla="*/ 207 h 20000"/>
                    <a:gd name="T28" fmla="*/ 376 w 20000"/>
                    <a:gd name="T29" fmla="*/ 181 h 20000"/>
                    <a:gd name="T30" fmla="*/ 330 w 20000"/>
                    <a:gd name="T31" fmla="*/ 81 h 20000"/>
                    <a:gd name="T32" fmla="*/ 292 w 20000"/>
                    <a:gd name="T33" fmla="*/ 84 h 20000"/>
                    <a:gd name="T34" fmla="*/ 279 w 20000"/>
                    <a:gd name="T35" fmla="*/ 79 h 20000"/>
                    <a:gd name="T36" fmla="*/ 272 w 20000"/>
                    <a:gd name="T37" fmla="*/ 72 h 20000"/>
                    <a:gd name="T38" fmla="*/ 272 w 20000"/>
                    <a:gd name="T39" fmla="*/ 46 h 20000"/>
                    <a:gd name="T40" fmla="*/ 260 w 20000"/>
                    <a:gd name="T41" fmla="*/ 0 h 20000"/>
                    <a:gd name="T42" fmla="*/ 0 w 20000"/>
                    <a:gd name="T43" fmla="*/ 14 h 20000"/>
                    <a:gd name="T44" fmla="*/ 0 w 20000"/>
                    <a:gd name="T45" fmla="*/ 166 h 20000"/>
                    <a:gd name="T46" fmla="*/ 0 w 20000"/>
                    <a:gd name="T47" fmla="*/ 198 h 20000"/>
                    <a:gd name="T48" fmla="*/ 0 w 20000"/>
                    <a:gd name="T49" fmla="*/ 322 h 20000"/>
                    <a:gd name="T50" fmla="*/ 31 w 20000"/>
                    <a:gd name="T51" fmla="*/ 818 h 20000"/>
                    <a:gd name="T52" fmla="*/ 88 w 20000"/>
                    <a:gd name="T53" fmla="*/ 817 h 20000"/>
                    <a:gd name="T54" fmla="*/ 120 w 20000"/>
                    <a:gd name="T55" fmla="*/ 816 h 20000"/>
                    <a:gd name="T56" fmla="*/ 145 w 20000"/>
                    <a:gd name="T57" fmla="*/ 815 h 20000"/>
                    <a:gd name="T58" fmla="*/ 197 w 20000"/>
                    <a:gd name="T59" fmla="*/ 812 h 20000"/>
                    <a:gd name="T60" fmla="*/ 231 w 20000"/>
                    <a:gd name="T61" fmla="*/ 810 h 200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000"/>
                    <a:gd name="T94" fmla="*/ 0 h 20000"/>
                    <a:gd name="T95" fmla="*/ 20000 w 20000"/>
                    <a:gd name="T96" fmla="*/ 20000 h 200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000" h="20000">
                      <a:moveTo>
                        <a:pt x="8981" y="19804"/>
                      </a:moveTo>
                      <a:lnTo>
                        <a:pt x="10521" y="19746"/>
                      </a:lnTo>
                      <a:lnTo>
                        <a:pt x="12576" y="19628"/>
                      </a:lnTo>
                      <a:lnTo>
                        <a:pt x="12872" y="19589"/>
                      </a:lnTo>
                      <a:lnTo>
                        <a:pt x="12763" y="18914"/>
                      </a:lnTo>
                      <a:lnTo>
                        <a:pt x="12825" y="18914"/>
                      </a:lnTo>
                      <a:lnTo>
                        <a:pt x="11735" y="12802"/>
                      </a:lnTo>
                      <a:lnTo>
                        <a:pt x="13992" y="11032"/>
                      </a:lnTo>
                      <a:lnTo>
                        <a:pt x="16249" y="8714"/>
                      </a:lnTo>
                      <a:lnTo>
                        <a:pt x="20000" y="4782"/>
                      </a:lnTo>
                      <a:lnTo>
                        <a:pt x="19222" y="4724"/>
                      </a:lnTo>
                      <a:lnTo>
                        <a:pt x="17058" y="4362"/>
                      </a:lnTo>
                      <a:lnTo>
                        <a:pt x="15782" y="4724"/>
                      </a:lnTo>
                      <a:lnTo>
                        <a:pt x="14521" y="5056"/>
                      </a:lnTo>
                      <a:lnTo>
                        <a:pt x="14615" y="4421"/>
                      </a:lnTo>
                      <a:lnTo>
                        <a:pt x="12825" y="1985"/>
                      </a:lnTo>
                      <a:lnTo>
                        <a:pt x="11362" y="2044"/>
                      </a:lnTo>
                      <a:lnTo>
                        <a:pt x="10864" y="1927"/>
                      </a:lnTo>
                      <a:lnTo>
                        <a:pt x="10584" y="1770"/>
                      </a:lnTo>
                      <a:lnTo>
                        <a:pt x="10584" y="1125"/>
                      </a:lnTo>
                      <a:lnTo>
                        <a:pt x="10117" y="0"/>
                      </a:lnTo>
                      <a:lnTo>
                        <a:pt x="0" y="333"/>
                      </a:lnTo>
                      <a:lnTo>
                        <a:pt x="0" y="4068"/>
                      </a:lnTo>
                      <a:lnTo>
                        <a:pt x="0" y="4841"/>
                      </a:lnTo>
                      <a:lnTo>
                        <a:pt x="0" y="7883"/>
                      </a:lnTo>
                      <a:lnTo>
                        <a:pt x="1214" y="20000"/>
                      </a:lnTo>
                      <a:lnTo>
                        <a:pt x="3440" y="19980"/>
                      </a:lnTo>
                      <a:lnTo>
                        <a:pt x="4669" y="19941"/>
                      </a:lnTo>
                      <a:lnTo>
                        <a:pt x="5634" y="19922"/>
                      </a:lnTo>
                      <a:lnTo>
                        <a:pt x="7673" y="19863"/>
                      </a:lnTo>
                      <a:lnTo>
                        <a:pt x="8981" y="19804"/>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7" name="Freeform 87">
                  <a:extLst>
                    <a:ext uri="{FF2B5EF4-FFF2-40B4-BE49-F238E27FC236}">
                      <a16:creationId xmlns:a16="http://schemas.microsoft.com/office/drawing/2014/main" id="{0A5593C4-2952-CAE3-17FF-AF32CF0F456F}"/>
                    </a:ext>
                  </a:extLst>
                </p:cNvPr>
                <p:cNvSpPr>
                  <a:spLocks/>
                </p:cNvSpPr>
                <p:nvPr/>
              </p:nvSpPr>
              <p:spPr bwMode="auto">
                <a:xfrm>
                  <a:off x="2730" y="3223"/>
                  <a:ext cx="75" cy="116"/>
                </a:xfrm>
                <a:custGeom>
                  <a:avLst/>
                  <a:gdLst>
                    <a:gd name="T0" fmla="*/ 1 w 20000"/>
                    <a:gd name="T1" fmla="*/ 0 h 20000"/>
                    <a:gd name="T2" fmla="*/ 0 w 20000"/>
                    <a:gd name="T3" fmla="*/ 21 h 20000"/>
                    <a:gd name="T4" fmla="*/ 2 w 20000"/>
                    <a:gd name="T5" fmla="*/ 14 h 20000"/>
                    <a:gd name="T6" fmla="*/ 10 w 20000"/>
                    <a:gd name="T7" fmla="*/ 16 h 20000"/>
                    <a:gd name="T8" fmla="*/ 15 w 20000"/>
                    <a:gd name="T9" fmla="*/ 18 h 20000"/>
                    <a:gd name="T10" fmla="*/ 25 w 20000"/>
                    <a:gd name="T11" fmla="*/ 43 h 20000"/>
                    <a:gd name="T12" fmla="*/ 29 w 20000"/>
                    <a:gd name="T13" fmla="*/ 41 h 20000"/>
                    <a:gd name="T14" fmla="*/ 32 w 20000"/>
                    <a:gd name="T15" fmla="*/ 62 h 20000"/>
                    <a:gd name="T16" fmla="*/ 42 w 20000"/>
                    <a:gd name="T17" fmla="*/ 82 h 20000"/>
                    <a:gd name="T18" fmla="*/ 48 w 20000"/>
                    <a:gd name="T19" fmla="*/ 96 h 20000"/>
                    <a:gd name="T20" fmla="*/ 48 w 20000"/>
                    <a:gd name="T21" fmla="*/ 110 h 20000"/>
                    <a:gd name="T22" fmla="*/ 58 w 20000"/>
                    <a:gd name="T23" fmla="*/ 116 h 20000"/>
                    <a:gd name="T24" fmla="*/ 75 w 20000"/>
                    <a:gd name="T25" fmla="*/ 104 h 20000"/>
                    <a:gd name="T26" fmla="*/ 61 w 20000"/>
                    <a:gd name="T27" fmla="*/ 77 h 20000"/>
                    <a:gd name="T28" fmla="*/ 39 w 20000"/>
                    <a:gd name="T29" fmla="*/ 65 h 20000"/>
                    <a:gd name="T30" fmla="*/ 37 w 20000"/>
                    <a:gd name="T31" fmla="*/ 47 h 20000"/>
                    <a:gd name="T32" fmla="*/ 43 w 20000"/>
                    <a:gd name="T33" fmla="*/ 40 h 20000"/>
                    <a:gd name="T34" fmla="*/ 36 w 20000"/>
                    <a:gd name="T35" fmla="*/ 35 h 20000"/>
                    <a:gd name="T36" fmla="*/ 34 w 20000"/>
                    <a:gd name="T37" fmla="*/ 19 h 20000"/>
                    <a:gd name="T38" fmla="*/ 27 w 20000"/>
                    <a:gd name="T39" fmla="*/ 5 h 20000"/>
                    <a:gd name="T40" fmla="*/ 27 w 20000"/>
                    <a:gd name="T41" fmla="*/ 26 h 20000"/>
                    <a:gd name="T42" fmla="*/ 21 w 20000"/>
                    <a:gd name="T43" fmla="*/ 10 h 20000"/>
                    <a:gd name="T44" fmla="*/ 15 w 20000"/>
                    <a:gd name="T45" fmla="*/ 10 h 20000"/>
                    <a:gd name="T46" fmla="*/ 10 w 20000"/>
                    <a:gd name="T47" fmla="*/ 4 h 20000"/>
                    <a:gd name="T48" fmla="*/ 1 w 20000"/>
                    <a:gd name="T49" fmla="*/ 0 h 2000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000"/>
                    <a:gd name="T76" fmla="*/ 0 h 20000"/>
                    <a:gd name="T77" fmla="*/ 20000 w 20000"/>
                    <a:gd name="T78" fmla="*/ 20000 h 2000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000" h="20000">
                      <a:moveTo>
                        <a:pt x="212" y="0"/>
                      </a:moveTo>
                      <a:lnTo>
                        <a:pt x="0" y="3599"/>
                      </a:lnTo>
                      <a:lnTo>
                        <a:pt x="635" y="2353"/>
                      </a:lnTo>
                      <a:lnTo>
                        <a:pt x="2540" y="2768"/>
                      </a:lnTo>
                      <a:lnTo>
                        <a:pt x="4021" y="3183"/>
                      </a:lnTo>
                      <a:lnTo>
                        <a:pt x="6561" y="7474"/>
                      </a:lnTo>
                      <a:lnTo>
                        <a:pt x="7619" y="7059"/>
                      </a:lnTo>
                      <a:lnTo>
                        <a:pt x="8466" y="10727"/>
                      </a:lnTo>
                      <a:lnTo>
                        <a:pt x="11111" y="14187"/>
                      </a:lnTo>
                      <a:lnTo>
                        <a:pt x="12804" y="16540"/>
                      </a:lnTo>
                      <a:lnTo>
                        <a:pt x="12804" y="19031"/>
                      </a:lnTo>
                      <a:lnTo>
                        <a:pt x="15556" y="20000"/>
                      </a:lnTo>
                      <a:lnTo>
                        <a:pt x="20000" y="17924"/>
                      </a:lnTo>
                      <a:lnTo>
                        <a:pt x="16190" y="13356"/>
                      </a:lnTo>
                      <a:lnTo>
                        <a:pt x="10476" y="11142"/>
                      </a:lnTo>
                      <a:lnTo>
                        <a:pt x="9735" y="8166"/>
                      </a:lnTo>
                      <a:lnTo>
                        <a:pt x="11534" y="6920"/>
                      </a:lnTo>
                      <a:lnTo>
                        <a:pt x="9524" y="6090"/>
                      </a:lnTo>
                      <a:lnTo>
                        <a:pt x="9101" y="3322"/>
                      </a:lnTo>
                      <a:lnTo>
                        <a:pt x="7196" y="830"/>
                      </a:lnTo>
                      <a:lnTo>
                        <a:pt x="7196" y="4429"/>
                      </a:lnTo>
                      <a:lnTo>
                        <a:pt x="5714" y="1661"/>
                      </a:lnTo>
                      <a:lnTo>
                        <a:pt x="4021" y="1661"/>
                      </a:lnTo>
                      <a:lnTo>
                        <a:pt x="2540" y="692"/>
                      </a:lnTo>
                      <a:lnTo>
                        <a:pt x="212" y="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8" name="Freeform 88">
                  <a:extLst>
                    <a:ext uri="{FF2B5EF4-FFF2-40B4-BE49-F238E27FC236}">
                      <a16:creationId xmlns:a16="http://schemas.microsoft.com/office/drawing/2014/main" id="{1FCA14A4-256B-19FA-1C19-2A624C940588}"/>
                    </a:ext>
                  </a:extLst>
                </p:cNvPr>
                <p:cNvSpPr>
                  <a:spLocks/>
                </p:cNvSpPr>
                <p:nvPr/>
              </p:nvSpPr>
              <p:spPr bwMode="auto">
                <a:xfrm>
                  <a:off x="2663" y="3071"/>
                  <a:ext cx="216" cy="248"/>
                </a:xfrm>
                <a:custGeom>
                  <a:avLst/>
                  <a:gdLst>
                    <a:gd name="T0" fmla="*/ 168 w 20000"/>
                    <a:gd name="T1" fmla="*/ 174 h 20000"/>
                    <a:gd name="T2" fmla="*/ 164 w 20000"/>
                    <a:gd name="T3" fmla="*/ 133 h 20000"/>
                    <a:gd name="T4" fmla="*/ 159 w 20000"/>
                    <a:gd name="T5" fmla="*/ 131 h 20000"/>
                    <a:gd name="T6" fmla="*/ 154 w 20000"/>
                    <a:gd name="T7" fmla="*/ 141 h 20000"/>
                    <a:gd name="T8" fmla="*/ 151 w 20000"/>
                    <a:gd name="T9" fmla="*/ 131 h 20000"/>
                    <a:gd name="T10" fmla="*/ 156 w 20000"/>
                    <a:gd name="T11" fmla="*/ 123 h 20000"/>
                    <a:gd name="T12" fmla="*/ 145 w 20000"/>
                    <a:gd name="T13" fmla="*/ 125 h 20000"/>
                    <a:gd name="T14" fmla="*/ 144 w 20000"/>
                    <a:gd name="T15" fmla="*/ 145 h 20000"/>
                    <a:gd name="T16" fmla="*/ 132 w 20000"/>
                    <a:gd name="T17" fmla="*/ 136 h 20000"/>
                    <a:gd name="T18" fmla="*/ 120 w 20000"/>
                    <a:gd name="T19" fmla="*/ 113 h 20000"/>
                    <a:gd name="T20" fmla="*/ 111 w 20000"/>
                    <a:gd name="T21" fmla="*/ 107 h 20000"/>
                    <a:gd name="T22" fmla="*/ 93 w 20000"/>
                    <a:gd name="T23" fmla="*/ 85 h 20000"/>
                    <a:gd name="T24" fmla="*/ 91 w 20000"/>
                    <a:gd name="T25" fmla="*/ 67 h 20000"/>
                    <a:gd name="T26" fmla="*/ 110 w 20000"/>
                    <a:gd name="T27" fmla="*/ 60 h 20000"/>
                    <a:gd name="T28" fmla="*/ 83 w 20000"/>
                    <a:gd name="T29" fmla="*/ 61 h 20000"/>
                    <a:gd name="T30" fmla="*/ 74 w 20000"/>
                    <a:gd name="T31" fmla="*/ 54 h 20000"/>
                    <a:gd name="T32" fmla="*/ 60 w 20000"/>
                    <a:gd name="T33" fmla="*/ 63 h 20000"/>
                    <a:gd name="T34" fmla="*/ 55 w 20000"/>
                    <a:gd name="T35" fmla="*/ 52 h 20000"/>
                    <a:gd name="T36" fmla="*/ 46 w 20000"/>
                    <a:gd name="T37" fmla="*/ 61 h 20000"/>
                    <a:gd name="T38" fmla="*/ 28 w 20000"/>
                    <a:gd name="T39" fmla="*/ 56 h 20000"/>
                    <a:gd name="T40" fmla="*/ 23 w 20000"/>
                    <a:gd name="T41" fmla="*/ 47 h 20000"/>
                    <a:gd name="T42" fmla="*/ 0 w 20000"/>
                    <a:gd name="T43" fmla="*/ 34 h 20000"/>
                    <a:gd name="T44" fmla="*/ 12 w 20000"/>
                    <a:gd name="T45" fmla="*/ 30 h 20000"/>
                    <a:gd name="T46" fmla="*/ 14 w 20000"/>
                    <a:gd name="T47" fmla="*/ 22 h 20000"/>
                    <a:gd name="T48" fmla="*/ 34 w 20000"/>
                    <a:gd name="T49" fmla="*/ 22 h 20000"/>
                    <a:gd name="T50" fmla="*/ 45 w 20000"/>
                    <a:gd name="T51" fmla="*/ 38 h 20000"/>
                    <a:gd name="T52" fmla="*/ 46 w 20000"/>
                    <a:gd name="T53" fmla="*/ 49 h 20000"/>
                    <a:gd name="T54" fmla="*/ 53 w 20000"/>
                    <a:gd name="T55" fmla="*/ 44 h 20000"/>
                    <a:gd name="T56" fmla="*/ 60 w 20000"/>
                    <a:gd name="T57" fmla="*/ 44 h 20000"/>
                    <a:gd name="T58" fmla="*/ 67 w 20000"/>
                    <a:gd name="T59" fmla="*/ 39 h 20000"/>
                    <a:gd name="T60" fmla="*/ 65 w 20000"/>
                    <a:gd name="T61" fmla="*/ 51 h 20000"/>
                    <a:gd name="T62" fmla="*/ 72 w 20000"/>
                    <a:gd name="T63" fmla="*/ 52 h 20000"/>
                    <a:gd name="T64" fmla="*/ 83 w 20000"/>
                    <a:gd name="T65" fmla="*/ 10 h 20000"/>
                    <a:gd name="T66" fmla="*/ 106 w 20000"/>
                    <a:gd name="T67" fmla="*/ 0 h 20000"/>
                    <a:gd name="T68" fmla="*/ 134 w 20000"/>
                    <a:gd name="T69" fmla="*/ 15 h 20000"/>
                    <a:gd name="T70" fmla="*/ 153 w 20000"/>
                    <a:gd name="T71" fmla="*/ 51 h 20000"/>
                    <a:gd name="T72" fmla="*/ 157 w 20000"/>
                    <a:gd name="T73" fmla="*/ 60 h 20000"/>
                    <a:gd name="T74" fmla="*/ 158 w 20000"/>
                    <a:gd name="T75" fmla="*/ 73 h 20000"/>
                    <a:gd name="T76" fmla="*/ 173 w 20000"/>
                    <a:gd name="T77" fmla="*/ 104 h 20000"/>
                    <a:gd name="T78" fmla="*/ 172 w 20000"/>
                    <a:gd name="T79" fmla="*/ 114 h 20000"/>
                    <a:gd name="T80" fmla="*/ 187 w 20000"/>
                    <a:gd name="T81" fmla="*/ 135 h 20000"/>
                    <a:gd name="T82" fmla="*/ 185 w 20000"/>
                    <a:gd name="T83" fmla="*/ 141 h 20000"/>
                    <a:gd name="T84" fmla="*/ 192 w 20000"/>
                    <a:gd name="T85" fmla="*/ 149 h 20000"/>
                    <a:gd name="T86" fmla="*/ 216 w 20000"/>
                    <a:gd name="T87" fmla="*/ 186 h 20000"/>
                    <a:gd name="T88" fmla="*/ 211 w 20000"/>
                    <a:gd name="T89" fmla="*/ 197 h 20000"/>
                    <a:gd name="T90" fmla="*/ 214 w 20000"/>
                    <a:gd name="T91" fmla="*/ 229 h 20000"/>
                    <a:gd name="T92" fmla="*/ 206 w 20000"/>
                    <a:gd name="T93" fmla="*/ 225 h 20000"/>
                    <a:gd name="T94" fmla="*/ 206 w 20000"/>
                    <a:gd name="T95" fmla="*/ 244 h 20000"/>
                    <a:gd name="T96" fmla="*/ 202 w 20000"/>
                    <a:gd name="T97" fmla="*/ 248 h 20000"/>
                    <a:gd name="T98" fmla="*/ 190 w 20000"/>
                    <a:gd name="T99" fmla="*/ 246 h 20000"/>
                    <a:gd name="T100" fmla="*/ 186 w 20000"/>
                    <a:gd name="T101" fmla="*/ 205 h 20000"/>
                    <a:gd name="T102" fmla="*/ 199 w 20000"/>
                    <a:gd name="T103" fmla="*/ 177 h 20000"/>
                    <a:gd name="T104" fmla="*/ 192 w 20000"/>
                    <a:gd name="T105" fmla="*/ 183 h 20000"/>
                    <a:gd name="T106" fmla="*/ 182 w 20000"/>
                    <a:gd name="T107" fmla="*/ 192 h 20000"/>
                    <a:gd name="T108" fmla="*/ 192 w 20000"/>
                    <a:gd name="T109" fmla="*/ 164 h 20000"/>
                    <a:gd name="T110" fmla="*/ 185 w 20000"/>
                    <a:gd name="T111" fmla="*/ 153 h 20000"/>
                    <a:gd name="T112" fmla="*/ 168 w 20000"/>
                    <a:gd name="T113" fmla="*/ 174 h 2000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0000"/>
                    <a:gd name="T172" fmla="*/ 0 h 20000"/>
                    <a:gd name="T173" fmla="*/ 20000 w 20000"/>
                    <a:gd name="T174" fmla="*/ 20000 h 2000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0000" h="20000">
                      <a:moveTo>
                        <a:pt x="15601" y="14042"/>
                      </a:moveTo>
                      <a:lnTo>
                        <a:pt x="15157" y="10692"/>
                      </a:lnTo>
                      <a:lnTo>
                        <a:pt x="14713" y="10564"/>
                      </a:lnTo>
                      <a:lnTo>
                        <a:pt x="14270" y="11337"/>
                      </a:lnTo>
                      <a:lnTo>
                        <a:pt x="13974" y="10564"/>
                      </a:lnTo>
                      <a:lnTo>
                        <a:pt x="14418" y="9952"/>
                      </a:lnTo>
                      <a:lnTo>
                        <a:pt x="13383" y="10113"/>
                      </a:lnTo>
                      <a:lnTo>
                        <a:pt x="13309" y="11659"/>
                      </a:lnTo>
                      <a:lnTo>
                        <a:pt x="12200" y="10950"/>
                      </a:lnTo>
                      <a:lnTo>
                        <a:pt x="11091" y="9114"/>
                      </a:lnTo>
                      <a:lnTo>
                        <a:pt x="10277" y="8599"/>
                      </a:lnTo>
                      <a:lnTo>
                        <a:pt x="8614" y="6860"/>
                      </a:lnTo>
                      <a:lnTo>
                        <a:pt x="8392" y="5443"/>
                      </a:lnTo>
                      <a:lnTo>
                        <a:pt x="10203" y="4863"/>
                      </a:lnTo>
                      <a:lnTo>
                        <a:pt x="7726" y="4928"/>
                      </a:lnTo>
                      <a:lnTo>
                        <a:pt x="6839" y="4348"/>
                      </a:lnTo>
                      <a:lnTo>
                        <a:pt x="5582" y="5056"/>
                      </a:lnTo>
                      <a:lnTo>
                        <a:pt x="5065" y="4155"/>
                      </a:lnTo>
                      <a:lnTo>
                        <a:pt x="4251" y="4928"/>
                      </a:lnTo>
                      <a:lnTo>
                        <a:pt x="2588" y="4477"/>
                      </a:lnTo>
                      <a:lnTo>
                        <a:pt x="2144" y="3768"/>
                      </a:lnTo>
                      <a:lnTo>
                        <a:pt x="0" y="2705"/>
                      </a:lnTo>
                      <a:lnTo>
                        <a:pt x="1109" y="2383"/>
                      </a:lnTo>
                      <a:lnTo>
                        <a:pt x="1257" y="1804"/>
                      </a:lnTo>
                      <a:lnTo>
                        <a:pt x="3105" y="1804"/>
                      </a:lnTo>
                      <a:lnTo>
                        <a:pt x="4177" y="3092"/>
                      </a:lnTo>
                      <a:lnTo>
                        <a:pt x="4251" y="3961"/>
                      </a:lnTo>
                      <a:lnTo>
                        <a:pt x="4917" y="3510"/>
                      </a:lnTo>
                      <a:lnTo>
                        <a:pt x="5582" y="3510"/>
                      </a:lnTo>
                      <a:lnTo>
                        <a:pt x="6174" y="3156"/>
                      </a:lnTo>
                      <a:lnTo>
                        <a:pt x="6026" y="4090"/>
                      </a:lnTo>
                      <a:lnTo>
                        <a:pt x="6691" y="4155"/>
                      </a:lnTo>
                      <a:lnTo>
                        <a:pt x="7726" y="773"/>
                      </a:lnTo>
                      <a:lnTo>
                        <a:pt x="9797" y="0"/>
                      </a:lnTo>
                      <a:lnTo>
                        <a:pt x="12421" y="1224"/>
                      </a:lnTo>
                      <a:lnTo>
                        <a:pt x="14196" y="4090"/>
                      </a:lnTo>
                      <a:lnTo>
                        <a:pt x="14492" y="4863"/>
                      </a:lnTo>
                      <a:lnTo>
                        <a:pt x="14640" y="5894"/>
                      </a:lnTo>
                      <a:lnTo>
                        <a:pt x="16044" y="8406"/>
                      </a:lnTo>
                      <a:lnTo>
                        <a:pt x="15970" y="9179"/>
                      </a:lnTo>
                      <a:lnTo>
                        <a:pt x="17338" y="10886"/>
                      </a:lnTo>
                      <a:lnTo>
                        <a:pt x="17116" y="11337"/>
                      </a:lnTo>
                      <a:lnTo>
                        <a:pt x="17782" y="12045"/>
                      </a:lnTo>
                      <a:lnTo>
                        <a:pt x="20000" y="15008"/>
                      </a:lnTo>
                      <a:lnTo>
                        <a:pt x="19556" y="15910"/>
                      </a:lnTo>
                      <a:lnTo>
                        <a:pt x="19852" y="18454"/>
                      </a:lnTo>
                      <a:lnTo>
                        <a:pt x="19113" y="18132"/>
                      </a:lnTo>
                      <a:lnTo>
                        <a:pt x="19113" y="19678"/>
                      </a:lnTo>
                      <a:lnTo>
                        <a:pt x="18743" y="20000"/>
                      </a:lnTo>
                      <a:lnTo>
                        <a:pt x="17634" y="19807"/>
                      </a:lnTo>
                      <a:lnTo>
                        <a:pt x="17190" y="16554"/>
                      </a:lnTo>
                      <a:lnTo>
                        <a:pt x="18447" y="14235"/>
                      </a:lnTo>
                      <a:lnTo>
                        <a:pt x="17782" y="14750"/>
                      </a:lnTo>
                      <a:lnTo>
                        <a:pt x="16895" y="15523"/>
                      </a:lnTo>
                      <a:lnTo>
                        <a:pt x="17782" y="13205"/>
                      </a:lnTo>
                      <a:lnTo>
                        <a:pt x="17116" y="12303"/>
                      </a:lnTo>
                      <a:lnTo>
                        <a:pt x="15601" y="14042"/>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9" name="Freeform 89">
                  <a:extLst>
                    <a:ext uri="{FF2B5EF4-FFF2-40B4-BE49-F238E27FC236}">
                      <a16:creationId xmlns:a16="http://schemas.microsoft.com/office/drawing/2014/main" id="{2584E00B-B29A-BF86-43CA-14DA2402541D}"/>
                    </a:ext>
                  </a:extLst>
                </p:cNvPr>
                <p:cNvSpPr>
                  <a:spLocks/>
                </p:cNvSpPr>
                <p:nvPr/>
              </p:nvSpPr>
              <p:spPr bwMode="auto">
                <a:xfrm>
                  <a:off x="2656" y="3126"/>
                  <a:ext cx="67" cy="112"/>
                </a:xfrm>
                <a:custGeom>
                  <a:avLst/>
                  <a:gdLst>
                    <a:gd name="T0" fmla="*/ 59 w 20000"/>
                    <a:gd name="T1" fmla="*/ 111 h 20000"/>
                    <a:gd name="T2" fmla="*/ 50 w 20000"/>
                    <a:gd name="T3" fmla="*/ 83 h 20000"/>
                    <a:gd name="T4" fmla="*/ 50 w 20000"/>
                    <a:gd name="T5" fmla="*/ 105 h 20000"/>
                    <a:gd name="T6" fmla="*/ 42 w 20000"/>
                    <a:gd name="T7" fmla="*/ 61 h 20000"/>
                    <a:gd name="T8" fmla="*/ 50 w 20000"/>
                    <a:gd name="T9" fmla="*/ 44 h 20000"/>
                    <a:gd name="T10" fmla="*/ 42 w 20000"/>
                    <a:gd name="T11" fmla="*/ 24 h 20000"/>
                    <a:gd name="T12" fmla="*/ 36 w 20000"/>
                    <a:gd name="T13" fmla="*/ 20 h 20000"/>
                    <a:gd name="T14" fmla="*/ 36 w 20000"/>
                    <a:gd name="T15" fmla="*/ 39 h 20000"/>
                    <a:gd name="T16" fmla="*/ 34 w 20000"/>
                    <a:gd name="T17" fmla="*/ 37 h 20000"/>
                    <a:gd name="T18" fmla="*/ 30 w 20000"/>
                    <a:gd name="T19" fmla="*/ 14 h 20000"/>
                    <a:gd name="T20" fmla="*/ 17 w 20000"/>
                    <a:gd name="T21" fmla="*/ 13 h 20000"/>
                    <a:gd name="T22" fmla="*/ 19 w 20000"/>
                    <a:gd name="T23" fmla="*/ 27 h 20000"/>
                    <a:gd name="T24" fmla="*/ 12 w 20000"/>
                    <a:gd name="T25" fmla="*/ 27 h 20000"/>
                    <a:gd name="T26" fmla="*/ 4 w 20000"/>
                    <a:gd name="T27" fmla="*/ 20 h 20000"/>
                    <a:gd name="T28" fmla="*/ 6 w 20000"/>
                    <a:gd name="T29" fmla="*/ 10 h 20000"/>
                    <a:gd name="T30" fmla="*/ 0 w 20000"/>
                    <a:gd name="T31" fmla="*/ 6 h 20000"/>
                    <a:gd name="T32" fmla="*/ 6 w 20000"/>
                    <a:gd name="T33" fmla="*/ 1 h 20000"/>
                    <a:gd name="T34" fmla="*/ 10 w 20000"/>
                    <a:gd name="T35" fmla="*/ 6 h 20000"/>
                    <a:gd name="T36" fmla="*/ 29 w 20000"/>
                    <a:gd name="T37" fmla="*/ 0 h 20000"/>
                    <a:gd name="T38" fmla="*/ 59 w 20000"/>
                    <a:gd name="T39" fmla="*/ 12 h 20000"/>
                    <a:gd name="T40" fmla="*/ 66 w 20000"/>
                    <a:gd name="T41" fmla="*/ 48 h 20000"/>
                    <a:gd name="T42" fmla="*/ 57 w 20000"/>
                    <a:gd name="T43" fmla="*/ 77 h 20000"/>
                    <a:gd name="T44" fmla="*/ 59 w 20000"/>
                    <a:gd name="T45" fmla="*/ 92 h 20000"/>
                    <a:gd name="T46" fmla="*/ 61 w 20000"/>
                    <a:gd name="T47" fmla="*/ 102 h 20000"/>
                    <a:gd name="T48" fmla="*/ 67 w 20000"/>
                    <a:gd name="T49" fmla="*/ 92 h 20000"/>
                    <a:gd name="T50" fmla="*/ 67 w 20000"/>
                    <a:gd name="T51" fmla="*/ 112 h 20000"/>
                    <a:gd name="T52" fmla="*/ 59 w 20000"/>
                    <a:gd name="T53" fmla="*/ 111 h 200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000"/>
                    <a:gd name="T82" fmla="*/ 0 h 20000"/>
                    <a:gd name="T83" fmla="*/ 20000 w 20000"/>
                    <a:gd name="T84" fmla="*/ 20000 h 200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000" h="20000">
                      <a:moveTo>
                        <a:pt x="17633" y="19857"/>
                      </a:moveTo>
                      <a:lnTo>
                        <a:pt x="15030" y="14786"/>
                      </a:lnTo>
                      <a:lnTo>
                        <a:pt x="15030" y="18714"/>
                      </a:lnTo>
                      <a:lnTo>
                        <a:pt x="12663" y="10929"/>
                      </a:lnTo>
                      <a:lnTo>
                        <a:pt x="14793" y="7929"/>
                      </a:lnTo>
                      <a:lnTo>
                        <a:pt x="12663" y="4286"/>
                      </a:lnTo>
                      <a:lnTo>
                        <a:pt x="10769" y="3571"/>
                      </a:lnTo>
                      <a:lnTo>
                        <a:pt x="10769" y="6929"/>
                      </a:lnTo>
                      <a:lnTo>
                        <a:pt x="10059" y="6643"/>
                      </a:lnTo>
                      <a:lnTo>
                        <a:pt x="8994" y="2571"/>
                      </a:lnTo>
                      <a:lnTo>
                        <a:pt x="4970" y="2286"/>
                      </a:lnTo>
                      <a:lnTo>
                        <a:pt x="5680" y="4857"/>
                      </a:lnTo>
                      <a:lnTo>
                        <a:pt x="3550" y="4857"/>
                      </a:lnTo>
                      <a:lnTo>
                        <a:pt x="1183" y="3571"/>
                      </a:lnTo>
                      <a:lnTo>
                        <a:pt x="1893" y="1714"/>
                      </a:lnTo>
                      <a:lnTo>
                        <a:pt x="0" y="1000"/>
                      </a:lnTo>
                      <a:lnTo>
                        <a:pt x="1893" y="143"/>
                      </a:lnTo>
                      <a:lnTo>
                        <a:pt x="2840" y="1000"/>
                      </a:lnTo>
                      <a:lnTo>
                        <a:pt x="8521" y="0"/>
                      </a:lnTo>
                      <a:lnTo>
                        <a:pt x="17633" y="2143"/>
                      </a:lnTo>
                      <a:lnTo>
                        <a:pt x="19763" y="8643"/>
                      </a:lnTo>
                      <a:lnTo>
                        <a:pt x="17160" y="13786"/>
                      </a:lnTo>
                      <a:lnTo>
                        <a:pt x="17633" y="16429"/>
                      </a:lnTo>
                      <a:lnTo>
                        <a:pt x="18343" y="18286"/>
                      </a:lnTo>
                      <a:lnTo>
                        <a:pt x="20000" y="16429"/>
                      </a:lnTo>
                      <a:lnTo>
                        <a:pt x="20000" y="20000"/>
                      </a:lnTo>
                      <a:lnTo>
                        <a:pt x="17633" y="19857"/>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11" name="Freeform 90">
                <a:extLst>
                  <a:ext uri="{FF2B5EF4-FFF2-40B4-BE49-F238E27FC236}">
                    <a16:creationId xmlns:a16="http://schemas.microsoft.com/office/drawing/2014/main" id="{84CB8C6B-3999-7609-F12F-A6FCE3F29CAE}"/>
                  </a:ext>
                </a:extLst>
              </p:cNvPr>
              <p:cNvSpPr>
                <a:spLocks/>
              </p:cNvSpPr>
              <p:nvPr/>
            </p:nvSpPr>
            <p:spPr bwMode="auto">
              <a:xfrm>
                <a:off x="6491288" y="4078288"/>
                <a:ext cx="168275" cy="133350"/>
              </a:xfrm>
              <a:custGeom>
                <a:avLst/>
                <a:gdLst>
                  <a:gd name="T0" fmla="*/ 64769 w 20000"/>
                  <a:gd name="T1" fmla="*/ 53087 h 20000"/>
                  <a:gd name="T2" fmla="*/ 52073 w 20000"/>
                  <a:gd name="T3" fmla="*/ 54353 h 20000"/>
                  <a:gd name="T4" fmla="*/ 45720 w 20000"/>
                  <a:gd name="T5" fmla="*/ 65728 h 20000"/>
                  <a:gd name="T6" fmla="*/ 55884 w 20000"/>
                  <a:gd name="T7" fmla="*/ 76470 h 20000"/>
                  <a:gd name="T8" fmla="*/ 30483 w 20000"/>
                  <a:gd name="T9" fmla="*/ 70149 h 20000"/>
                  <a:gd name="T10" fmla="*/ 21590 w 20000"/>
                  <a:gd name="T11" fmla="*/ 68889 h 20000"/>
                  <a:gd name="T12" fmla="*/ 30483 w 20000"/>
                  <a:gd name="T13" fmla="*/ 96692 h 20000"/>
                  <a:gd name="T14" fmla="*/ 17778 w 20000"/>
                  <a:gd name="T15" fmla="*/ 114388 h 20000"/>
                  <a:gd name="T16" fmla="*/ 3811 w 20000"/>
                  <a:gd name="T17" fmla="*/ 111861 h 20000"/>
                  <a:gd name="T18" fmla="*/ 0 w 20000"/>
                  <a:gd name="T19" fmla="*/ 121975 h 20000"/>
                  <a:gd name="T20" fmla="*/ 57146 w 20000"/>
                  <a:gd name="T21" fmla="*/ 133350 h 20000"/>
                  <a:gd name="T22" fmla="*/ 72392 w 20000"/>
                  <a:gd name="T23" fmla="*/ 104280 h 20000"/>
                  <a:gd name="T24" fmla="*/ 88269 w 20000"/>
                  <a:gd name="T25" fmla="*/ 92905 h 20000"/>
                  <a:gd name="T26" fmla="*/ 80006 w 20000"/>
                  <a:gd name="T27" fmla="*/ 81524 h 20000"/>
                  <a:gd name="T28" fmla="*/ 103506 w 20000"/>
                  <a:gd name="T29" fmla="*/ 72676 h 20000"/>
                  <a:gd name="T30" fmla="*/ 122555 w 20000"/>
                  <a:gd name="T31" fmla="*/ 89111 h 20000"/>
                  <a:gd name="T32" fmla="*/ 145415 w 20000"/>
                  <a:gd name="T33" fmla="*/ 58141 h 20000"/>
                  <a:gd name="T34" fmla="*/ 140333 w 20000"/>
                  <a:gd name="T35" fmla="*/ 49293 h 20000"/>
                  <a:gd name="T36" fmla="*/ 168275 w 20000"/>
                  <a:gd name="T37" fmla="*/ 37918 h 20000"/>
                  <a:gd name="T38" fmla="*/ 163193 w 20000"/>
                  <a:gd name="T39" fmla="*/ 30337 h 20000"/>
                  <a:gd name="T40" fmla="*/ 140333 w 20000"/>
                  <a:gd name="T41" fmla="*/ 12642 h 20000"/>
                  <a:gd name="T42" fmla="*/ 130178 w 20000"/>
                  <a:gd name="T43" fmla="*/ 0 h 20000"/>
                  <a:gd name="T44" fmla="*/ 111129 w 20000"/>
                  <a:gd name="T45" fmla="*/ 31597 h 20000"/>
                  <a:gd name="T46" fmla="*/ 125096 w 20000"/>
                  <a:gd name="T47" fmla="*/ 31597 h 20000"/>
                  <a:gd name="T48" fmla="*/ 113661 w 20000"/>
                  <a:gd name="T49" fmla="*/ 46766 h 20000"/>
                  <a:gd name="T50" fmla="*/ 64769 w 20000"/>
                  <a:gd name="T51" fmla="*/ 22750 h 20000"/>
                  <a:gd name="T52" fmla="*/ 55884 w 20000"/>
                  <a:gd name="T53" fmla="*/ 11375 h 20000"/>
                  <a:gd name="T54" fmla="*/ 45720 w 20000"/>
                  <a:gd name="T55" fmla="*/ 15169 h 20000"/>
                  <a:gd name="T56" fmla="*/ 57146 w 20000"/>
                  <a:gd name="T57" fmla="*/ 26543 h 20000"/>
                  <a:gd name="T58" fmla="*/ 64769 w 20000"/>
                  <a:gd name="T59" fmla="*/ 53087 h 200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000"/>
                  <a:gd name="T91" fmla="*/ 0 h 20000"/>
                  <a:gd name="T92" fmla="*/ 20000 w 20000"/>
                  <a:gd name="T93" fmla="*/ 20000 h 200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000" h="20000">
                    <a:moveTo>
                      <a:pt x="7698" y="7962"/>
                    </a:moveTo>
                    <a:lnTo>
                      <a:pt x="6189" y="8152"/>
                    </a:lnTo>
                    <a:lnTo>
                      <a:pt x="5434" y="9858"/>
                    </a:lnTo>
                    <a:lnTo>
                      <a:pt x="6642" y="11469"/>
                    </a:lnTo>
                    <a:lnTo>
                      <a:pt x="3623" y="10521"/>
                    </a:lnTo>
                    <a:lnTo>
                      <a:pt x="2566" y="10332"/>
                    </a:lnTo>
                    <a:lnTo>
                      <a:pt x="3623" y="14502"/>
                    </a:lnTo>
                    <a:lnTo>
                      <a:pt x="2113" y="17156"/>
                    </a:lnTo>
                    <a:lnTo>
                      <a:pt x="453" y="16777"/>
                    </a:lnTo>
                    <a:lnTo>
                      <a:pt x="0" y="18294"/>
                    </a:lnTo>
                    <a:lnTo>
                      <a:pt x="6792" y="20000"/>
                    </a:lnTo>
                    <a:lnTo>
                      <a:pt x="8604" y="15640"/>
                    </a:lnTo>
                    <a:lnTo>
                      <a:pt x="10491" y="13934"/>
                    </a:lnTo>
                    <a:lnTo>
                      <a:pt x="9509" y="12227"/>
                    </a:lnTo>
                    <a:lnTo>
                      <a:pt x="12302" y="10900"/>
                    </a:lnTo>
                    <a:lnTo>
                      <a:pt x="14566" y="13365"/>
                    </a:lnTo>
                    <a:lnTo>
                      <a:pt x="17283" y="8720"/>
                    </a:lnTo>
                    <a:lnTo>
                      <a:pt x="16679" y="7393"/>
                    </a:lnTo>
                    <a:lnTo>
                      <a:pt x="20000" y="5687"/>
                    </a:lnTo>
                    <a:lnTo>
                      <a:pt x="19396" y="4550"/>
                    </a:lnTo>
                    <a:lnTo>
                      <a:pt x="16679" y="1896"/>
                    </a:lnTo>
                    <a:lnTo>
                      <a:pt x="15472" y="0"/>
                    </a:lnTo>
                    <a:lnTo>
                      <a:pt x="13208" y="4739"/>
                    </a:lnTo>
                    <a:lnTo>
                      <a:pt x="14868" y="4739"/>
                    </a:lnTo>
                    <a:lnTo>
                      <a:pt x="13509" y="7014"/>
                    </a:lnTo>
                    <a:lnTo>
                      <a:pt x="7698" y="3412"/>
                    </a:lnTo>
                    <a:lnTo>
                      <a:pt x="6642" y="1706"/>
                    </a:lnTo>
                    <a:lnTo>
                      <a:pt x="5434" y="2275"/>
                    </a:lnTo>
                    <a:lnTo>
                      <a:pt x="6792" y="3981"/>
                    </a:lnTo>
                    <a:lnTo>
                      <a:pt x="7698" y="7962"/>
                    </a:lnTo>
                    <a:close/>
                  </a:path>
                </a:pathLst>
              </a:custGeom>
              <a:solidFill>
                <a:schemeClr val="accent6">
                  <a:lumMod val="20000"/>
                  <a:lumOff val="80000"/>
                </a:schemeClr>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212" name="Group 211">
                <a:extLst>
                  <a:ext uri="{FF2B5EF4-FFF2-40B4-BE49-F238E27FC236}">
                    <a16:creationId xmlns:a16="http://schemas.microsoft.com/office/drawing/2014/main" id="{0C7F2074-3174-A98F-FB7E-FC8B9FD65948}"/>
                  </a:ext>
                </a:extLst>
              </p:cNvPr>
              <p:cNvGrpSpPr>
                <a:grpSpLocks/>
              </p:cNvGrpSpPr>
              <p:nvPr/>
            </p:nvGrpSpPr>
            <p:grpSpPr bwMode="auto">
              <a:xfrm>
                <a:off x="3544888" y="4138613"/>
                <a:ext cx="660400" cy="1303337"/>
                <a:chOff x="2233" y="2607"/>
                <a:chExt cx="416" cy="821"/>
              </a:xfrm>
            </p:grpSpPr>
            <p:sp>
              <p:nvSpPr>
                <p:cNvPr id="213" name="Freeform 92">
                  <a:extLst>
                    <a:ext uri="{FF2B5EF4-FFF2-40B4-BE49-F238E27FC236}">
                      <a16:creationId xmlns:a16="http://schemas.microsoft.com/office/drawing/2014/main" id="{15070F67-B198-619C-5997-8C740030CE04}"/>
                    </a:ext>
                  </a:extLst>
                </p:cNvPr>
                <p:cNvSpPr>
                  <a:spLocks/>
                </p:cNvSpPr>
                <p:nvPr/>
              </p:nvSpPr>
              <p:spPr bwMode="auto">
                <a:xfrm>
                  <a:off x="2233" y="2607"/>
                  <a:ext cx="416" cy="821"/>
                </a:xfrm>
                <a:custGeom>
                  <a:avLst/>
                  <a:gdLst>
                    <a:gd name="T0" fmla="*/ 286 w 20000"/>
                    <a:gd name="T1" fmla="*/ 820 h 20000"/>
                    <a:gd name="T2" fmla="*/ 237 w 20000"/>
                    <a:gd name="T3" fmla="*/ 818 h 20000"/>
                    <a:gd name="T4" fmla="*/ 186 w 20000"/>
                    <a:gd name="T5" fmla="*/ 815 h 20000"/>
                    <a:gd name="T6" fmla="*/ 134 w 20000"/>
                    <a:gd name="T7" fmla="*/ 811 h 20000"/>
                    <a:gd name="T8" fmla="*/ 83 w 20000"/>
                    <a:gd name="T9" fmla="*/ 807 h 20000"/>
                    <a:gd name="T10" fmla="*/ 22 w 20000"/>
                    <a:gd name="T11" fmla="*/ 801 h 20000"/>
                    <a:gd name="T12" fmla="*/ 0 w 20000"/>
                    <a:gd name="T13" fmla="*/ 799 h 20000"/>
                    <a:gd name="T14" fmla="*/ 87 w 20000"/>
                    <a:gd name="T15" fmla="*/ 75 h 20000"/>
                    <a:gd name="T16" fmla="*/ 89 w 20000"/>
                    <a:gd name="T17" fmla="*/ 49 h 20000"/>
                    <a:gd name="T18" fmla="*/ 95 w 20000"/>
                    <a:gd name="T19" fmla="*/ 0 h 20000"/>
                    <a:gd name="T20" fmla="*/ 385 w 20000"/>
                    <a:gd name="T21" fmla="*/ 17 h 20000"/>
                    <a:gd name="T22" fmla="*/ 385 w 20000"/>
                    <a:gd name="T23" fmla="*/ 170 h 20000"/>
                    <a:gd name="T24" fmla="*/ 385 w 20000"/>
                    <a:gd name="T25" fmla="*/ 201 h 20000"/>
                    <a:gd name="T26" fmla="*/ 385 w 20000"/>
                    <a:gd name="T27" fmla="*/ 326 h 20000"/>
                    <a:gd name="T28" fmla="*/ 416 w 20000"/>
                    <a:gd name="T29" fmla="*/ 821 h 20000"/>
                    <a:gd name="T30" fmla="*/ 409 w 20000"/>
                    <a:gd name="T31" fmla="*/ 821 h 20000"/>
                    <a:gd name="T32" fmla="*/ 384 w 20000"/>
                    <a:gd name="T33" fmla="*/ 821 h 20000"/>
                    <a:gd name="T34" fmla="*/ 340 w 20000"/>
                    <a:gd name="T35" fmla="*/ 821 h 20000"/>
                    <a:gd name="T36" fmla="*/ 286 w 20000"/>
                    <a:gd name="T37" fmla="*/ 820 h 200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000"/>
                    <a:gd name="T58" fmla="*/ 0 h 20000"/>
                    <a:gd name="T59" fmla="*/ 20000 w 20000"/>
                    <a:gd name="T60" fmla="*/ 20000 h 200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000" h="20000">
                      <a:moveTo>
                        <a:pt x="13731" y="19981"/>
                      </a:moveTo>
                      <a:lnTo>
                        <a:pt x="11404" y="19922"/>
                      </a:lnTo>
                      <a:lnTo>
                        <a:pt x="8942" y="19864"/>
                      </a:lnTo>
                      <a:lnTo>
                        <a:pt x="6423" y="19766"/>
                      </a:lnTo>
                      <a:lnTo>
                        <a:pt x="3981" y="19649"/>
                      </a:lnTo>
                      <a:lnTo>
                        <a:pt x="1077" y="19513"/>
                      </a:lnTo>
                      <a:lnTo>
                        <a:pt x="0" y="19454"/>
                      </a:lnTo>
                      <a:lnTo>
                        <a:pt x="4173" y="1822"/>
                      </a:lnTo>
                      <a:lnTo>
                        <a:pt x="4288" y="1198"/>
                      </a:lnTo>
                      <a:lnTo>
                        <a:pt x="4558" y="0"/>
                      </a:lnTo>
                      <a:lnTo>
                        <a:pt x="18500" y="409"/>
                      </a:lnTo>
                      <a:lnTo>
                        <a:pt x="18500" y="4131"/>
                      </a:lnTo>
                      <a:lnTo>
                        <a:pt x="18500" y="4900"/>
                      </a:lnTo>
                      <a:lnTo>
                        <a:pt x="18500" y="7930"/>
                      </a:lnTo>
                      <a:lnTo>
                        <a:pt x="20000" y="20000"/>
                      </a:lnTo>
                      <a:lnTo>
                        <a:pt x="19654" y="20000"/>
                      </a:lnTo>
                      <a:lnTo>
                        <a:pt x="18462" y="20000"/>
                      </a:lnTo>
                      <a:lnTo>
                        <a:pt x="16365" y="20000"/>
                      </a:lnTo>
                      <a:lnTo>
                        <a:pt x="13731" y="19981"/>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4" name="Freeform 93">
                  <a:extLst>
                    <a:ext uri="{FF2B5EF4-FFF2-40B4-BE49-F238E27FC236}">
                      <a16:creationId xmlns:a16="http://schemas.microsoft.com/office/drawing/2014/main" id="{00F6AE5A-91D1-1083-5456-1B35A222EF78}"/>
                    </a:ext>
                  </a:extLst>
                </p:cNvPr>
                <p:cNvSpPr>
                  <a:spLocks/>
                </p:cNvSpPr>
                <p:nvPr/>
              </p:nvSpPr>
              <p:spPr bwMode="auto">
                <a:xfrm>
                  <a:off x="2267" y="2639"/>
                  <a:ext cx="200" cy="66"/>
                </a:xfrm>
                <a:custGeom>
                  <a:avLst/>
                  <a:gdLst>
                    <a:gd name="T0" fmla="*/ 53 w 20000"/>
                    <a:gd name="T1" fmla="*/ 43 h 20000"/>
                    <a:gd name="T2" fmla="*/ 33 w 20000"/>
                    <a:gd name="T3" fmla="*/ 56 h 20000"/>
                    <a:gd name="T4" fmla="*/ 28 w 20000"/>
                    <a:gd name="T5" fmla="*/ 66 h 20000"/>
                    <a:gd name="T6" fmla="*/ 5 w 20000"/>
                    <a:gd name="T7" fmla="*/ 63 h 20000"/>
                    <a:gd name="T8" fmla="*/ 0 w 20000"/>
                    <a:gd name="T9" fmla="*/ 51 h 20000"/>
                    <a:gd name="T10" fmla="*/ 5 w 20000"/>
                    <a:gd name="T11" fmla="*/ 51 h 20000"/>
                    <a:gd name="T12" fmla="*/ 6 w 20000"/>
                    <a:gd name="T13" fmla="*/ 56 h 20000"/>
                    <a:gd name="T14" fmla="*/ 23 w 20000"/>
                    <a:gd name="T15" fmla="*/ 43 h 20000"/>
                    <a:gd name="T16" fmla="*/ 33 w 20000"/>
                    <a:gd name="T17" fmla="*/ 29 h 20000"/>
                    <a:gd name="T18" fmla="*/ 55 w 20000"/>
                    <a:gd name="T19" fmla="*/ 17 h 20000"/>
                    <a:gd name="T20" fmla="*/ 73 w 20000"/>
                    <a:gd name="T21" fmla="*/ 0 h 20000"/>
                    <a:gd name="T22" fmla="*/ 87 w 20000"/>
                    <a:gd name="T23" fmla="*/ 0 h 20000"/>
                    <a:gd name="T24" fmla="*/ 90 w 20000"/>
                    <a:gd name="T25" fmla="*/ 7 h 20000"/>
                    <a:gd name="T26" fmla="*/ 101 w 20000"/>
                    <a:gd name="T27" fmla="*/ 9 h 20000"/>
                    <a:gd name="T28" fmla="*/ 94 w 20000"/>
                    <a:gd name="T29" fmla="*/ 19 h 20000"/>
                    <a:gd name="T30" fmla="*/ 122 w 20000"/>
                    <a:gd name="T31" fmla="*/ 14 h 20000"/>
                    <a:gd name="T32" fmla="*/ 200 w 20000"/>
                    <a:gd name="T33" fmla="*/ 34 h 20000"/>
                    <a:gd name="T34" fmla="*/ 143 w 20000"/>
                    <a:gd name="T35" fmla="*/ 28 h 20000"/>
                    <a:gd name="T36" fmla="*/ 137 w 20000"/>
                    <a:gd name="T37" fmla="*/ 26 h 20000"/>
                    <a:gd name="T38" fmla="*/ 132 w 20000"/>
                    <a:gd name="T39" fmla="*/ 34 h 20000"/>
                    <a:gd name="T40" fmla="*/ 82 w 20000"/>
                    <a:gd name="T41" fmla="*/ 38 h 20000"/>
                    <a:gd name="T42" fmla="*/ 78 w 20000"/>
                    <a:gd name="T43" fmla="*/ 36 h 20000"/>
                    <a:gd name="T44" fmla="*/ 53 w 20000"/>
                    <a:gd name="T45" fmla="*/ 43 h 200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000"/>
                    <a:gd name="T70" fmla="*/ 0 h 20000"/>
                    <a:gd name="T71" fmla="*/ 20000 w 20000"/>
                    <a:gd name="T72" fmla="*/ 20000 h 200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000" h="20000">
                      <a:moveTo>
                        <a:pt x="5261" y="13129"/>
                      </a:moveTo>
                      <a:lnTo>
                        <a:pt x="3293" y="17055"/>
                      </a:lnTo>
                      <a:lnTo>
                        <a:pt x="2811" y="20000"/>
                      </a:lnTo>
                      <a:lnTo>
                        <a:pt x="482" y="19018"/>
                      </a:lnTo>
                      <a:lnTo>
                        <a:pt x="0" y="15583"/>
                      </a:lnTo>
                      <a:lnTo>
                        <a:pt x="482" y="15583"/>
                      </a:lnTo>
                      <a:lnTo>
                        <a:pt x="643" y="17055"/>
                      </a:lnTo>
                      <a:lnTo>
                        <a:pt x="2329" y="13129"/>
                      </a:lnTo>
                      <a:lnTo>
                        <a:pt x="3293" y="8834"/>
                      </a:lnTo>
                      <a:lnTo>
                        <a:pt x="5502" y="5153"/>
                      </a:lnTo>
                      <a:lnTo>
                        <a:pt x="7269" y="0"/>
                      </a:lnTo>
                      <a:lnTo>
                        <a:pt x="8715" y="0"/>
                      </a:lnTo>
                      <a:lnTo>
                        <a:pt x="8956" y="2209"/>
                      </a:lnTo>
                      <a:lnTo>
                        <a:pt x="10080" y="2699"/>
                      </a:lnTo>
                      <a:lnTo>
                        <a:pt x="9438" y="5644"/>
                      </a:lnTo>
                      <a:lnTo>
                        <a:pt x="12249" y="4172"/>
                      </a:lnTo>
                      <a:lnTo>
                        <a:pt x="20000" y="10184"/>
                      </a:lnTo>
                      <a:lnTo>
                        <a:pt x="14257" y="8589"/>
                      </a:lnTo>
                      <a:lnTo>
                        <a:pt x="13695" y="7853"/>
                      </a:lnTo>
                      <a:lnTo>
                        <a:pt x="13213" y="10184"/>
                      </a:lnTo>
                      <a:lnTo>
                        <a:pt x="8153" y="11656"/>
                      </a:lnTo>
                      <a:lnTo>
                        <a:pt x="7751" y="10920"/>
                      </a:lnTo>
                      <a:lnTo>
                        <a:pt x="5261" y="13129"/>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5" name="Freeform 94">
                  <a:extLst>
                    <a:ext uri="{FF2B5EF4-FFF2-40B4-BE49-F238E27FC236}">
                      <a16:creationId xmlns:a16="http://schemas.microsoft.com/office/drawing/2014/main" id="{4AEE41A4-AE05-91FD-22ED-0511EE00DD55}"/>
                    </a:ext>
                  </a:extLst>
                </p:cNvPr>
                <p:cNvSpPr>
                  <a:spLocks/>
                </p:cNvSpPr>
                <p:nvPr/>
              </p:nvSpPr>
              <p:spPr bwMode="auto">
                <a:xfrm>
                  <a:off x="2563" y="2762"/>
                  <a:ext cx="71" cy="135"/>
                </a:xfrm>
                <a:custGeom>
                  <a:avLst/>
                  <a:gdLst>
                    <a:gd name="T0" fmla="*/ 54 w 20000"/>
                    <a:gd name="T1" fmla="*/ 14 h 20000"/>
                    <a:gd name="T2" fmla="*/ 61 w 20000"/>
                    <a:gd name="T3" fmla="*/ 10 h 20000"/>
                    <a:gd name="T4" fmla="*/ 59 w 20000"/>
                    <a:gd name="T5" fmla="*/ 24 h 20000"/>
                    <a:gd name="T6" fmla="*/ 68 w 20000"/>
                    <a:gd name="T7" fmla="*/ 17 h 20000"/>
                    <a:gd name="T8" fmla="*/ 71 w 20000"/>
                    <a:gd name="T9" fmla="*/ 22 h 20000"/>
                    <a:gd name="T10" fmla="*/ 63 w 20000"/>
                    <a:gd name="T11" fmla="*/ 43 h 20000"/>
                    <a:gd name="T12" fmla="*/ 54 w 20000"/>
                    <a:gd name="T13" fmla="*/ 46 h 20000"/>
                    <a:gd name="T14" fmla="*/ 49 w 20000"/>
                    <a:gd name="T15" fmla="*/ 46 h 20000"/>
                    <a:gd name="T16" fmla="*/ 52 w 20000"/>
                    <a:gd name="T17" fmla="*/ 65 h 20000"/>
                    <a:gd name="T18" fmla="*/ 49 w 20000"/>
                    <a:gd name="T19" fmla="*/ 88 h 20000"/>
                    <a:gd name="T20" fmla="*/ 42 w 20000"/>
                    <a:gd name="T21" fmla="*/ 93 h 20000"/>
                    <a:gd name="T22" fmla="*/ 32 w 20000"/>
                    <a:gd name="T23" fmla="*/ 113 h 20000"/>
                    <a:gd name="T24" fmla="*/ 17 w 20000"/>
                    <a:gd name="T25" fmla="*/ 121 h 20000"/>
                    <a:gd name="T26" fmla="*/ 15 w 20000"/>
                    <a:gd name="T27" fmla="*/ 129 h 20000"/>
                    <a:gd name="T28" fmla="*/ 8 w 20000"/>
                    <a:gd name="T29" fmla="*/ 125 h 20000"/>
                    <a:gd name="T30" fmla="*/ 3 w 20000"/>
                    <a:gd name="T31" fmla="*/ 135 h 20000"/>
                    <a:gd name="T32" fmla="*/ 3 w 20000"/>
                    <a:gd name="T33" fmla="*/ 125 h 20000"/>
                    <a:gd name="T34" fmla="*/ 0 w 20000"/>
                    <a:gd name="T35" fmla="*/ 113 h 20000"/>
                    <a:gd name="T36" fmla="*/ 5 w 20000"/>
                    <a:gd name="T37" fmla="*/ 116 h 20000"/>
                    <a:gd name="T38" fmla="*/ 10 w 20000"/>
                    <a:gd name="T39" fmla="*/ 104 h 20000"/>
                    <a:gd name="T40" fmla="*/ 8 w 20000"/>
                    <a:gd name="T41" fmla="*/ 121 h 20000"/>
                    <a:gd name="T42" fmla="*/ 31 w 20000"/>
                    <a:gd name="T43" fmla="*/ 93 h 20000"/>
                    <a:gd name="T44" fmla="*/ 29 w 20000"/>
                    <a:gd name="T45" fmla="*/ 75 h 20000"/>
                    <a:gd name="T46" fmla="*/ 27 w 20000"/>
                    <a:gd name="T47" fmla="*/ 65 h 20000"/>
                    <a:gd name="T48" fmla="*/ 20 w 20000"/>
                    <a:gd name="T49" fmla="*/ 65 h 20000"/>
                    <a:gd name="T50" fmla="*/ 22 w 20000"/>
                    <a:gd name="T51" fmla="*/ 60 h 20000"/>
                    <a:gd name="T52" fmla="*/ 17 w 20000"/>
                    <a:gd name="T53" fmla="*/ 62 h 20000"/>
                    <a:gd name="T54" fmla="*/ 18 w 20000"/>
                    <a:gd name="T55" fmla="*/ 51 h 20000"/>
                    <a:gd name="T56" fmla="*/ 27 w 20000"/>
                    <a:gd name="T57" fmla="*/ 43 h 20000"/>
                    <a:gd name="T58" fmla="*/ 25 w 20000"/>
                    <a:gd name="T59" fmla="*/ 34 h 20000"/>
                    <a:gd name="T60" fmla="*/ 31 w 20000"/>
                    <a:gd name="T61" fmla="*/ 31 h 20000"/>
                    <a:gd name="T62" fmla="*/ 36 w 20000"/>
                    <a:gd name="T63" fmla="*/ 22 h 20000"/>
                    <a:gd name="T64" fmla="*/ 42 w 20000"/>
                    <a:gd name="T65" fmla="*/ 22 h 20000"/>
                    <a:gd name="T66" fmla="*/ 52 w 20000"/>
                    <a:gd name="T67" fmla="*/ 0 h 20000"/>
                    <a:gd name="T68" fmla="*/ 51 w 20000"/>
                    <a:gd name="T69" fmla="*/ 10 h 20000"/>
                    <a:gd name="T70" fmla="*/ 54 w 20000"/>
                    <a:gd name="T71" fmla="*/ 14 h 200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0000"/>
                    <a:gd name="T109" fmla="*/ 0 h 20000"/>
                    <a:gd name="T110" fmla="*/ 20000 w 20000"/>
                    <a:gd name="T111" fmla="*/ 20000 h 2000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0000" h="20000">
                      <a:moveTo>
                        <a:pt x="15227" y="2130"/>
                      </a:moveTo>
                      <a:lnTo>
                        <a:pt x="17273" y="1420"/>
                      </a:lnTo>
                      <a:lnTo>
                        <a:pt x="16591" y="3550"/>
                      </a:lnTo>
                      <a:lnTo>
                        <a:pt x="19091" y="2485"/>
                      </a:lnTo>
                      <a:lnTo>
                        <a:pt x="20000" y="3195"/>
                      </a:lnTo>
                      <a:lnTo>
                        <a:pt x="17727" y="6331"/>
                      </a:lnTo>
                      <a:lnTo>
                        <a:pt x="15227" y="6805"/>
                      </a:lnTo>
                      <a:lnTo>
                        <a:pt x="13864" y="6805"/>
                      </a:lnTo>
                      <a:lnTo>
                        <a:pt x="14545" y="9645"/>
                      </a:lnTo>
                      <a:lnTo>
                        <a:pt x="13864" y="13077"/>
                      </a:lnTo>
                      <a:lnTo>
                        <a:pt x="11818" y="13787"/>
                      </a:lnTo>
                      <a:lnTo>
                        <a:pt x="9091" y="16686"/>
                      </a:lnTo>
                      <a:lnTo>
                        <a:pt x="4773" y="17870"/>
                      </a:lnTo>
                      <a:lnTo>
                        <a:pt x="4091" y="19172"/>
                      </a:lnTo>
                      <a:lnTo>
                        <a:pt x="2273" y="18462"/>
                      </a:lnTo>
                      <a:lnTo>
                        <a:pt x="909" y="20000"/>
                      </a:lnTo>
                      <a:lnTo>
                        <a:pt x="909" y="18462"/>
                      </a:lnTo>
                      <a:lnTo>
                        <a:pt x="0" y="16686"/>
                      </a:lnTo>
                      <a:lnTo>
                        <a:pt x="1364" y="17160"/>
                      </a:lnTo>
                      <a:lnTo>
                        <a:pt x="2727" y="15385"/>
                      </a:lnTo>
                      <a:lnTo>
                        <a:pt x="2273" y="17870"/>
                      </a:lnTo>
                      <a:lnTo>
                        <a:pt x="8864" y="13787"/>
                      </a:lnTo>
                      <a:lnTo>
                        <a:pt x="8182" y="11065"/>
                      </a:lnTo>
                      <a:lnTo>
                        <a:pt x="7500" y="9645"/>
                      </a:lnTo>
                      <a:lnTo>
                        <a:pt x="5682" y="9645"/>
                      </a:lnTo>
                      <a:lnTo>
                        <a:pt x="6136" y="8817"/>
                      </a:lnTo>
                      <a:lnTo>
                        <a:pt x="4773" y="9172"/>
                      </a:lnTo>
                      <a:lnTo>
                        <a:pt x="5000" y="7515"/>
                      </a:lnTo>
                      <a:lnTo>
                        <a:pt x="7500" y="6331"/>
                      </a:lnTo>
                      <a:lnTo>
                        <a:pt x="7045" y="5030"/>
                      </a:lnTo>
                      <a:lnTo>
                        <a:pt x="8864" y="4615"/>
                      </a:lnTo>
                      <a:lnTo>
                        <a:pt x="10227" y="3195"/>
                      </a:lnTo>
                      <a:lnTo>
                        <a:pt x="11818" y="3195"/>
                      </a:lnTo>
                      <a:lnTo>
                        <a:pt x="14545" y="0"/>
                      </a:lnTo>
                      <a:lnTo>
                        <a:pt x="14318" y="1420"/>
                      </a:lnTo>
                      <a:lnTo>
                        <a:pt x="15227" y="2130"/>
                      </a:lnTo>
                      <a:close/>
                    </a:path>
                  </a:pathLst>
                </a:custGeom>
                <a:solidFill>
                  <a:srgbClr val="0091DA"/>
                </a:solidFill>
                <a:ln w="0" cap="flat">
                  <a:solidFill>
                    <a:srgbClr val="FFFFFF"/>
                  </a:solidFill>
                  <a:prstDash val="solid"/>
                  <a:round/>
                  <a:headEnd type="none" w="med" len="med"/>
                  <a:tailEnd type="none" w="med" len="med"/>
                </a:ln>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a:ea typeface="+mn-ea"/>
                    <a:cs typeface="+mn-cs"/>
                  </a:endParaRPr>
                </a:p>
              </p:txBody>
            </p:sp>
          </p:grpSp>
        </p:grpSp>
      </p:grpSp>
      <p:sp>
        <p:nvSpPr>
          <p:cNvPr id="2" name="Rectangle 1">
            <a:extLst>
              <a:ext uri="{FF2B5EF4-FFF2-40B4-BE49-F238E27FC236}">
                <a16:creationId xmlns:a16="http://schemas.microsoft.com/office/drawing/2014/main" id="{0E473B1E-C35C-49B7-1CB2-8DED4B1052D1}"/>
              </a:ext>
            </a:extLst>
          </p:cNvPr>
          <p:cNvSpPr/>
          <p:nvPr/>
        </p:nvSpPr>
        <p:spPr>
          <a:xfrm>
            <a:off x="6434638" y="-1531327"/>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Include:</a:t>
            </a:r>
          </a:p>
          <a:p>
            <a:pPr algn="ctr"/>
            <a:r>
              <a:rPr lang="en-US" sz="900" dirty="0">
                <a:solidFill>
                  <a:schemeClr val="bg1"/>
                </a:solidFill>
              </a:rPr>
              <a:t>- Summary org chart by BU (incl. ref to minority interests)</a:t>
            </a:r>
          </a:p>
          <a:p>
            <a:pPr algn="ctr"/>
            <a:r>
              <a:rPr lang="en-US" sz="900" dirty="0">
                <a:solidFill>
                  <a:schemeClr val="bg1"/>
                </a:solidFill>
              </a:rPr>
              <a:t>- Map: Op segment locations and revenue</a:t>
            </a:r>
          </a:p>
          <a:p>
            <a:pPr algn="ctr"/>
            <a:r>
              <a:rPr lang="en-US" sz="900" dirty="0">
                <a:solidFill>
                  <a:schemeClr val="bg1"/>
                </a:solidFill>
              </a:rPr>
              <a:t>- Overview: Emphasize: M&amp;A, segments, locations, insurance lines, customer/ carrier relationships, headcount &amp; split, Ops: standalone subs &amp; central support</a:t>
            </a:r>
          </a:p>
          <a:p>
            <a:pPr algn="ctr"/>
            <a:endParaRPr lang="en-US" sz="900" dirty="0">
              <a:solidFill>
                <a:schemeClr val="bg1"/>
              </a:solidFill>
            </a:endParaRPr>
          </a:p>
          <a:p>
            <a:pPr algn="ctr"/>
            <a:r>
              <a:rPr lang="en-US" sz="900" dirty="0">
                <a:solidFill>
                  <a:schemeClr val="bg1"/>
                </a:solidFill>
              </a:rPr>
              <a:t>Update: slides numbers for Legal</a:t>
            </a:r>
          </a:p>
        </p:txBody>
      </p:sp>
      <p:cxnSp>
        <p:nvCxnSpPr>
          <p:cNvPr id="4" name="Connector: Elbow 3">
            <a:extLst>
              <a:ext uri="{FF2B5EF4-FFF2-40B4-BE49-F238E27FC236}">
                <a16:creationId xmlns:a16="http://schemas.microsoft.com/office/drawing/2014/main" id="{AA3024DD-DFD2-928F-A443-150BB65B4853}"/>
              </a:ext>
            </a:extLst>
          </p:cNvPr>
          <p:cNvCxnSpPr>
            <a:cxnSpLocks/>
          </p:cNvCxnSpPr>
          <p:nvPr/>
        </p:nvCxnSpPr>
        <p:spPr bwMode="white">
          <a:xfrm rot="16200000" flipV="1">
            <a:off x="6644212" y="2896491"/>
            <a:ext cx="1023337" cy="605789"/>
          </a:xfrm>
          <a:prstGeom prst="bentConnector3">
            <a:avLst>
              <a:gd name="adj1" fmla="val 50000"/>
            </a:avLst>
          </a:prstGeom>
          <a:noFill/>
          <a:ln w="3175" cap="flat" cmpd="sng" algn="ctr">
            <a:solidFill>
              <a:srgbClr val="FD349C"/>
            </a:solidFill>
            <a:prstDash val="solid"/>
            <a:miter lim="800000"/>
            <a:headEnd type="oval"/>
          </a:ln>
          <a:effectLst/>
        </p:spPr>
      </p:cxnSp>
      <p:cxnSp>
        <p:nvCxnSpPr>
          <p:cNvPr id="14" name="Connector: Elbow 13">
            <a:extLst>
              <a:ext uri="{FF2B5EF4-FFF2-40B4-BE49-F238E27FC236}">
                <a16:creationId xmlns:a16="http://schemas.microsoft.com/office/drawing/2014/main" id="{F1518F88-01B2-CCE0-4F79-8A0196DBE5B7}"/>
              </a:ext>
            </a:extLst>
          </p:cNvPr>
          <p:cNvCxnSpPr>
            <a:cxnSpLocks/>
          </p:cNvCxnSpPr>
          <p:nvPr/>
        </p:nvCxnSpPr>
        <p:spPr bwMode="white">
          <a:xfrm rot="16200000" flipV="1">
            <a:off x="7974494" y="2997798"/>
            <a:ext cx="1670874" cy="631186"/>
          </a:xfrm>
          <a:prstGeom prst="bentConnector3">
            <a:avLst>
              <a:gd name="adj1" fmla="val 99801"/>
            </a:avLst>
          </a:prstGeom>
          <a:noFill/>
          <a:ln w="3175" cap="flat" cmpd="sng" algn="ctr">
            <a:solidFill>
              <a:srgbClr val="FD349C"/>
            </a:solidFill>
            <a:prstDash val="solid"/>
            <a:miter lim="800000"/>
            <a:headEnd type="oval"/>
          </a:ln>
          <a:effectLst/>
        </p:spPr>
      </p:cxnSp>
      <p:cxnSp>
        <p:nvCxnSpPr>
          <p:cNvPr id="19" name="Connector: Elbow 18">
            <a:extLst>
              <a:ext uri="{FF2B5EF4-FFF2-40B4-BE49-F238E27FC236}">
                <a16:creationId xmlns:a16="http://schemas.microsoft.com/office/drawing/2014/main" id="{F44A35EC-D99C-42E0-D2A5-8822055396D0}"/>
              </a:ext>
            </a:extLst>
          </p:cNvPr>
          <p:cNvCxnSpPr>
            <a:cxnSpLocks/>
          </p:cNvCxnSpPr>
          <p:nvPr/>
        </p:nvCxnSpPr>
        <p:spPr bwMode="white">
          <a:xfrm rot="5400000">
            <a:off x="7232236" y="4243793"/>
            <a:ext cx="812436" cy="710011"/>
          </a:xfrm>
          <a:prstGeom prst="bentConnector3">
            <a:avLst>
              <a:gd name="adj1" fmla="val 96791"/>
            </a:avLst>
          </a:prstGeom>
          <a:noFill/>
          <a:ln w="3175" cap="flat" cmpd="sng" algn="ctr">
            <a:solidFill>
              <a:srgbClr val="FD349C"/>
            </a:solidFill>
            <a:prstDash val="solid"/>
            <a:miter lim="800000"/>
            <a:headEnd type="oval"/>
          </a:ln>
          <a:effectLst/>
        </p:spPr>
      </p:cxnSp>
      <p:cxnSp>
        <p:nvCxnSpPr>
          <p:cNvPr id="23" name="Connector: Elbow 22">
            <a:extLst>
              <a:ext uri="{FF2B5EF4-FFF2-40B4-BE49-F238E27FC236}">
                <a16:creationId xmlns:a16="http://schemas.microsoft.com/office/drawing/2014/main" id="{DC71EC28-9319-1168-3ADB-D8B2D2B70DE5}"/>
              </a:ext>
            </a:extLst>
          </p:cNvPr>
          <p:cNvCxnSpPr>
            <a:cxnSpLocks/>
          </p:cNvCxnSpPr>
          <p:nvPr/>
        </p:nvCxnSpPr>
        <p:spPr bwMode="white">
          <a:xfrm rot="16200000" flipH="1">
            <a:off x="9485620" y="4341716"/>
            <a:ext cx="855735" cy="677117"/>
          </a:xfrm>
          <a:prstGeom prst="bentConnector3">
            <a:avLst>
              <a:gd name="adj1" fmla="val 99226"/>
            </a:avLst>
          </a:prstGeom>
          <a:noFill/>
          <a:ln w="3175" cap="flat" cmpd="sng" algn="ctr">
            <a:solidFill>
              <a:srgbClr val="FD349C"/>
            </a:solidFill>
            <a:prstDash val="solid"/>
            <a:miter lim="800000"/>
            <a:headEnd type="oval"/>
          </a:ln>
          <a:effectLst/>
        </p:spPr>
      </p:cxnSp>
      <p:cxnSp>
        <p:nvCxnSpPr>
          <p:cNvPr id="35" name="Connector: Elbow 34">
            <a:extLst>
              <a:ext uri="{FF2B5EF4-FFF2-40B4-BE49-F238E27FC236}">
                <a16:creationId xmlns:a16="http://schemas.microsoft.com/office/drawing/2014/main" id="{BF74092B-3908-D463-A3C6-623CDBFBED3F}"/>
              </a:ext>
            </a:extLst>
          </p:cNvPr>
          <p:cNvCxnSpPr>
            <a:cxnSpLocks/>
          </p:cNvCxnSpPr>
          <p:nvPr/>
        </p:nvCxnSpPr>
        <p:spPr bwMode="white">
          <a:xfrm rot="5400000" flipH="1" flipV="1">
            <a:off x="9792872" y="2894638"/>
            <a:ext cx="1020133" cy="650455"/>
          </a:xfrm>
          <a:prstGeom prst="bentConnector3">
            <a:avLst>
              <a:gd name="adj1" fmla="val 50000"/>
            </a:avLst>
          </a:prstGeom>
          <a:noFill/>
          <a:ln w="3175" cap="flat" cmpd="sng" algn="ctr">
            <a:solidFill>
              <a:srgbClr val="FD349C"/>
            </a:solidFill>
            <a:prstDash val="solid"/>
            <a:miter lim="800000"/>
            <a:headEnd type="oval"/>
          </a:ln>
          <a:effectLst/>
        </p:spPr>
      </p:cxnSp>
      <p:sp>
        <p:nvSpPr>
          <p:cNvPr id="41" name="Text Placeholder 12">
            <a:extLst>
              <a:ext uri="{FF2B5EF4-FFF2-40B4-BE49-F238E27FC236}">
                <a16:creationId xmlns:a16="http://schemas.microsoft.com/office/drawing/2014/main" id="{06114477-5174-714C-1D61-1C803B734D57}"/>
              </a:ext>
            </a:extLst>
          </p:cNvPr>
          <p:cNvSpPr txBox="1">
            <a:spLocks/>
          </p:cNvSpPr>
          <p:nvPr/>
        </p:nvSpPr>
        <p:spPr>
          <a:xfrm>
            <a:off x="6219548" y="5983863"/>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grpSp>
        <p:nvGrpSpPr>
          <p:cNvPr id="162" name="Group 161">
            <a:extLst>
              <a:ext uri="{FF2B5EF4-FFF2-40B4-BE49-F238E27FC236}">
                <a16:creationId xmlns:a16="http://schemas.microsoft.com/office/drawing/2014/main" id="{E3F224FD-C734-4B41-DB96-B272C06F1515}"/>
              </a:ext>
            </a:extLst>
          </p:cNvPr>
          <p:cNvGrpSpPr/>
          <p:nvPr/>
        </p:nvGrpSpPr>
        <p:grpSpPr>
          <a:xfrm>
            <a:off x="1214788" y="1591622"/>
            <a:ext cx="4601890" cy="1860361"/>
            <a:chOff x="1010860" y="1574813"/>
            <a:chExt cx="4601890" cy="1860361"/>
          </a:xfrm>
        </p:grpSpPr>
        <p:grpSp>
          <p:nvGrpSpPr>
            <p:cNvPr id="125" name="Group 124">
              <a:extLst>
                <a:ext uri="{FF2B5EF4-FFF2-40B4-BE49-F238E27FC236}">
                  <a16:creationId xmlns:a16="http://schemas.microsoft.com/office/drawing/2014/main" id="{B2C69D18-D0D7-0C06-8755-30BA02F722F1}"/>
                </a:ext>
              </a:extLst>
            </p:cNvPr>
            <p:cNvGrpSpPr/>
            <p:nvPr/>
          </p:nvGrpSpPr>
          <p:grpSpPr>
            <a:xfrm>
              <a:off x="1053644" y="1574813"/>
              <a:ext cx="4544740" cy="1361818"/>
              <a:chOff x="1034227" y="1769242"/>
              <a:chExt cx="4544740" cy="1361818"/>
            </a:xfrm>
          </p:grpSpPr>
          <p:grpSp>
            <p:nvGrpSpPr>
              <p:cNvPr id="42" name="Group 41">
                <a:extLst>
                  <a:ext uri="{FF2B5EF4-FFF2-40B4-BE49-F238E27FC236}">
                    <a16:creationId xmlns:a16="http://schemas.microsoft.com/office/drawing/2014/main" id="{6384558D-B0C3-C9DF-FA34-E8B1C1350E14}"/>
                  </a:ext>
                </a:extLst>
              </p:cNvPr>
              <p:cNvGrpSpPr/>
              <p:nvPr/>
            </p:nvGrpSpPr>
            <p:grpSpPr>
              <a:xfrm>
                <a:off x="1034227" y="1769242"/>
                <a:ext cx="4544740" cy="1361818"/>
                <a:chOff x="3393532" y="1345914"/>
                <a:chExt cx="5597128" cy="1837639"/>
              </a:xfrm>
            </p:grpSpPr>
            <p:sp>
              <p:nvSpPr>
                <p:cNvPr id="43" name="Rectangle 42">
                  <a:extLst>
                    <a:ext uri="{FF2B5EF4-FFF2-40B4-BE49-F238E27FC236}">
                      <a16:creationId xmlns:a16="http://schemas.microsoft.com/office/drawing/2014/main" id="{4DD48E64-8B63-60F4-541D-E55A91ACD55D}"/>
                    </a:ext>
                  </a:extLst>
                </p:cNvPr>
                <p:cNvSpPr/>
                <p:nvPr/>
              </p:nvSpPr>
              <p:spPr>
                <a:xfrm>
                  <a:off x="3393532" y="1345914"/>
                  <a:ext cx="1189084" cy="460799"/>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1000" baseline="30000" dirty="0">
                    <a:solidFill>
                      <a:schemeClr val="bg1"/>
                    </a:solidFill>
                  </a:endParaRPr>
                </a:p>
                <a:p>
                  <a:pPr algn="ctr"/>
                  <a:r>
                    <a:rPr lang="en-US" sz="1000" baseline="30000" dirty="0">
                      <a:solidFill>
                        <a:schemeClr val="bg1"/>
                      </a:solidFill>
                    </a:rPr>
                    <a:t>Synex</a:t>
                  </a:r>
                </a:p>
                <a:p>
                  <a:pPr algn="ctr"/>
                  <a:r>
                    <a:rPr lang="en-US" sz="1000" baseline="30000" dirty="0">
                      <a:solidFill>
                        <a:schemeClr val="bg1"/>
                      </a:solidFill>
                    </a:rPr>
                    <a:t>Performances</a:t>
                  </a:r>
                </a:p>
                <a:p>
                  <a:pPr algn="ctr"/>
                  <a:r>
                    <a:rPr lang="en-US" sz="1000" baseline="30000" dirty="0">
                      <a:solidFill>
                        <a:schemeClr val="bg1"/>
                      </a:solidFill>
                    </a:rPr>
                    <a:t>d'Affaires inc.</a:t>
                  </a:r>
                </a:p>
              </p:txBody>
            </p:sp>
            <p:sp>
              <p:nvSpPr>
                <p:cNvPr id="44" name="Rectangle 43">
                  <a:extLst>
                    <a:ext uri="{FF2B5EF4-FFF2-40B4-BE49-F238E27FC236}">
                      <a16:creationId xmlns:a16="http://schemas.microsoft.com/office/drawing/2014/main" id="{9515026E-4CCA-34B9-E983-D64CAEE7BC73}"/>
                    </a:ext>
                  </a:extLst>
                </p:cNvPr>
                <p:cNvSpPr/>
                <p:nvPr/>
              </p:nvSpPr>
              <p:spPr>
                <a:xfrm>
                  <a:off x="3393532" y="2722752"/>
                  <a:ext cx="1189084" cy="4608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pt-BR" sz="1000" baseline="30000">
                    <a:solidFill>
                      <a:schemeClr val="bg1"/>
                    </a:solidFill>
                    <a:latin typeface="Arial "/>
                  </a:endParaRPr>
                </a:p>
                <a:p>
                  <a:pPr algn="ctr"/>
                  <a:r>
                    <a:rPr lang="pt-BR" sz="1000" baseline="30000">
                      <a:solidFill>
                        <a:schemeClr val="bg1"/>
                      </a:solidFill>
                      <a:latin typeface="Arial "/>
                    </a:rPr>
                    <a:t>15187796 Canada</a:t>
                  </a:r>
                </a:p>
                <a:p>
                  <a:pPr algn="ctr"/>
                  <a:r>
                    <a:rPr lang="pt-BR" sz="1000" baseline="30000">
                      <a:solidFill>
                        <a:schemeClr val="bg1"/>
                      </a:solidFill>
                      <a:latin typeface="Arial "/>
                    </a:rPr>
                    <a:t>inc. (Synex Assurance</a:t>
                  </a:r>
                </a:p>
                <a:p>
                  <a:pPr algn="ctr"/>
                  <a:r>
                    <a:rPr lang="pt-BR" sz="1000" baseline="30000">
                      <a:solidFill>
                        <a:schemeClr val="bg1"/>
                      </a:solidFill>
                      <a:latin typeface="Arial "/>
                    </a:rPr>
                    <a:t>Canada)</a:t>
                  </a:r>
                  <a:endParaRPr lang="en-US" sz="1000" baseline="30000" dirty="0">
                    <a:solidFill>
                      <a:schemeClr val="bg1"/>
                    </a:solidFill>
                    <a:latin typeface="Arial "/>
                  </a:endParaRPr>
                </a:p>
              </p:txBody>
            </p:sp>
            <p:sp>
              <p:nvSpPr>
                <p:cNvPr id="46" name="Rectangle 45">
                  <a:extLst>
                    <a:ext uri="{FF2B5EF4-FFF2-40B4-BE49-F238E27FC236}">
                      <a16:creationId xmlns:a16="http://schemas.microsoft.com/office/drawing/2014/main" id="{A9A800B9-7BAE-F248-E223-B579EE6178D4}"/>
                    </a:ext>
                  </a:extLst>
                </p:cNvPr>
                <p:cNvSpPr/>
                <p:nvPr/>
              </p:nvSpPr>
              <p:spPr>
                <a:xfrm>
                  <a:off x="7801576" y="2722752"/>
                  <a:ext cx="1189084" cy="4608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r-FR" sz="1000" baseline="30000" dirty="0">
                    <a:solidFill>
                      <a:schemeClr val="bg1"/>
                    </a:solidFill>
                  </a:endParaRPr>
                </a:p>
                <a:p>
                  <a:pPr algn="ctr"/>
                  <a:r>
                    <a:rPr lang="fr-FR" sz="1000" baseline="30000" dirty="0">
                      <a:solidFill>
                        <a:schemeClr val="bg1"/>
                      </a:solidFill>
                    </a:rPr>
                    <a:t>Synex Solutions</a:t>
                  </a:r>
                </a:p>
                <a:p>
                  <a:pPr algn="ctr"/>
                  <a:r>
                    <a:rPr lang="fr-FR" sz="1000" baseline="30000" dirty="0">
                      <a:solidFill>
                        <a:schemeClr val="bg1"/>
                      </a:solidFill>
                    </a:rPr>
                    <a:t>Collectives Canada Inc.</a:t>
                  </a:r>
                  <a:endParaRPr lang="en-US" sz="1000" baseline="30000" dirty="0">
                    <a:solidFill>
                      <a:schemeClr val="bg1"/>
                    </a:solidFill>
                  </a:endParaRPr>
                </a:p>
              </p:txBody>
            </p:sp>
            <p:sp>
              <p:nvSpPr>
                <p:cNvPr id="47" name="Rectangle 46">
                  <a:extLst>
                    <a:ext uri="{FF2B5EF4-FFF2-40B4-BE49-F238E27FC236}">
                      <a16:creationId xmlns:a16="http://schemas.microsoft.com/office/drawing/2014/main" id="{7889EC13-37B0-4FC9-F3F2-365D75A6376D}"/>
                    </a:ext>
                  </a:extLst>
                </p:cNvPr>
                <p:cNvSpPr/>
                <p:nvPr/>
              </p:nvSpPr>
              <p:spPr>
                <a:xfrm>
                  <a:off x="7801576" y="1389888"/>
                  <a:ext cx="1189084" cy="46080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Brown Brothers</a:t>
                  </a:r>
                </a:p>
                <a:p>
                  <a:pPr algn="ctr"/>
                  <a:r>
                    <a:rPr lang="en-US" sz="1000" baseline="30000" dirty="0">
                      <a:solidFill>
                        <a:schemeClr val="bg1"/>
                      </a:solidFill>
                    </a:rPr>
                    <a:t>Harriman (BBH)</a:t>
                  </a:r>
                </a:p>
              </p:txBody>
            </p:sp>
          </p:grpSp>
          <p:cxnSp>
            <p:nvCxnSpPr>
              <p:cNvPr id="115" name="Connector: Elbow 114">
                <a:extLst>
                  <a:ext uri="{FF2B5EF4-FFF2-40B4-BE49-F238E27FC236}">
                    <a16:creationId xmlns:a16="http://schemas.microsoft.com/office/drawing/2014/main" id="{9AA9DB7E-02BA-BFBF-323F-08FDDA3C80F0}"/>
                  </a:ext>
                </a:extLst>
              </p:cNvPr>
              <p:cNvCxnSpPr>
                <a:cxnSpLocks/>
              </p:cNvCxnSpPr>
              <p:nvPr/>
            </p:nvCxnSpPr>
            <p:spPr>
              <a:xfrm rot="16200000" flipH="1">
                <a:off x="2297158" y="1310281"/>
                <a:ext cx="182880" cy="1828800"/>
              </a:xfrm>
              <a:prstGeom prst="bentConnector3">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134B3669-CFEE-1E0A-9124-EC633293EC40}"/>
                  </a:ext>
                </a:extLst>
              </p:cNvPr>
              <p:cNvCxnSpPr>
                <a:cxnSpLocks/>
              </p:cNvCxnSpPr>
              <p:nvPr/>
            </p:nvCxnSpPr>
            <p:spPr>
              <a:xfrm rot="5400000">
                <a:off x="4126711" y="1309682"/>
                <a:ext cx="182880" cy="1828800"/>
              </a:xfrm>
              <a:prstGeom prst="bentConnector3">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6B15F59-BBEE-0640-535B-477C4A14237A}"/>
                  </a:ext>
                </a:extLst>
              </p:cNvPr>
              <p:cNvCxnSpPr>
                <a:cxnSpLocks/>
                <a:endCxn id="46" idx="0"/>
              </p:cNvCxnSpPr>
              <p:nvPr/>
            </p:nvCxnSpPr>
            <p:spPr>
              <a:xfrm>
                <a:off x="3691554" y="2588463"/>
                <a:ext cx="1404657" cy="201110"/>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126" name="Rectangle 125">
              <a:extLst>
                <a:ext uri="{FF2B5EF4-FFF2-40B4-BE49-F238E27FC236}">
                  <a16:creationId xmlns:a16="http://schemas.microsoft.com/office/drawing/2014/main" id="{9B943898-9E68-6B31-34BC-A1702DC7E77D}"/>
                </a:ext>
              </a:extLst>
            </p:cNvPr>
            <p:cNvSpPr/>
            <p:nvPr/>
          </p:nvSpPr>
          <p:spPr>
            <a:xfrm>
              <a:off x="4647241" y="3093689"/>
              <a:ext cx="965509" cy="341485"/>
            </a:xfrm>
            <a:prstGeom prst="rect">
              <a:avLst/>
            </a:prstGeom>
            <a:ln>
              <a:prstDash val="dash"/>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r-FR" sz="1000" baseline="30000" dirty="0">
                <a:ln w="0"/>
                <a:solidFill>
                  <a:schemeClr val="tx1"/>
                </a:solidFill>
              </a:endParaRPr>
            </a:p>
            <a:p>
              <a:pPr algn="ctr"/>
              <a:r>
                <a:rPr lang="fr-FR" sz="1000" baseline="30000" dirty="0">
                  <a:ln w="0"/>
                  <a:solidFill>
                    <a:schemeClr val="tx1"/>
                  </a:solidFill>
                </a:rPr>
                <a:t>Seven operating entities</a:t>
              </a:r>
            </a:p>
            <a:p>
              <a:pPr algn="ctr"/>
              <a:r>
                <a:rPr lang="fr-FR" sz="1000" baseline="30000" dirty="0">
                  <a:ln w="0"/>
                  <a:solidFill>
                    <a:schemeClr val="tx1"/>
                  </a:solidFill>
                </a:rPr>
                <a:t>(Appendix 6)</a:t>
              </a:r>
              <a:endParaRPr lang="en-US" sz="1000" baseline="30000" dirty="0">
                <a:ln w="0"/>
                <a:solidFill>
                  <a:schemeClr val="tx1"/>
                </a:solidFill>
              </a:endParaRPr>
            </a:p>
          </p:txBody>
        </p:sp>
        <p:cxnSp>
          <p:nvCxnSpPr>
            <p:cNvPr id="138" name="Straight Arrow Connector 137">
              <a:extLst>
                <a:ext uri="{FF2B5EF4-FFF2-40B4-BE49-F238E27FC236}">
                  <a16:creationId xmlns:a16="http://schemas.microsoft.com/office/drawing/2014/main" id="{5EACDD9D-AFD1-5396-874B-70751EA6035F}"/>
                </a:ext>
              </a:extLst>
            </p:cNvPr>
            <p:cNvCxnSpPr>
              <a:cxnSpLocks/>
            </p:cNvCxnSpPr>
            <p:nvPr/>
          </p:nvCxnSpPr>
          <p:spPr>
            <a:xfrm>
              <a:off x="5108738" y="2971405"/>
              <a:ext cx="0" cy="12100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96352352-D32D-F452-C850-4663B6B990D8}"/>
                </a:ext>
              </a:extLst>
            </p:cNvPr>
            <p:cNvCxnSpPr>
              <a:cxnSpLocks/>
            </p:cNvCxnSpPr>
            <p:nvPr/>
          </p:nvCxnSpPr>
          <p:spPr>
            <a:xfrm flipH="1">
              <a:off x="1493615" y="2394034"/>
              <a:ext cx="1404657" cy="201110"/>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8682B63D-19EE-9621-725A-A2AEBA1322B1}"/>
                </a:ext>
              </a:extLst>
            </p:cNvPr>
            <p:cNvSpPr/>
            <p:nvPr/>
          </p:nvSpPr>
          <p:spPr>
            <a:xfrm>
              <a:off x="2806366" y="2125100"/>
              <a:ext cx="965509" cy="34148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1000" baseline="30000" dirty="0">
                <a:solidFill>
                  <a:schemeClr val="bg1"/>
                </a:solidFill>
                <a:latin typeface="Arial "/>
              </a:endParaRPr>
            </a:p>
            <a:p>
              <a:pPr algn="ctr"/>
              <a:r>
                <a:rPr lang="en-US" sz="1000" baseline="30000" dirty="0">
                  <a:solidFill>
                    <a:schemeClr val="bg1"/>
                  </a:solidFill>
                  <a:latin typeface="Arial "/>
                </a:rPr>
                <a:t>13410706 Canada</a:t>
              </a:r>
            </a:p>
            <a:p>
              <a:pPr algn="ctr"/>
              <a:r>
                <a:rPr lang="en-US" sz="1000" baseline="30000" dirty="0">
                  <a:solidFill>
                    <a:schemeClr val="bg1"/>
                  </a:solidFill>
                  <a:latin typeface="Arial "/>
                </a:rPr>
                <a:t>inc. (Synex</a:t>
              </a:r>
            </a:p>
            <a:p>
              <a:pPr algn="ctr"/>
              <a:r>
                <a:rPr lang="en-US" sz="1000" baseline="30000" dirty="0">
                  <a:solidFill>
                    <a:schemeClr val="bg1"/>
                  </a:solidFill>
                  <a:latin typeface="Arial "/>
                </a:rPr>
                <a:t>AcquisiCo)</a:t>
              </a:r>
            </a:p>
          </p:txBody>
        </p:sp>
        <p:sp>
          <p:nvSpPr>
            <p:cNvPr id="148" name="Rectangle 147">
              <a:extLst>
                <a:ext uri="{FF2B5EF4-FFF2-40B4-BE49-F238E27FC236}">
                  <a16:creationId xmlns:a16="http://schemas.microsoft.com/office/drawing/2014/main" id="{60BB0C36-FF3C-53DE-E22E-38873A9E5B6F}"/>
                </a:ext>
              </a:extLst>
            </p:cNvPr>
            <p:cNvSpPr/>
            <p:nvPr/>
          </p:nvSpPr>
          <p:spPr>
            <a:xfrm>
              <a:off x="1010860" y="3093689"/>
              <a:ext cx="965509" cy="341485"/>
            </a:xfrm>
            <a:prstGeom prst="rect">
              <a:avLst/>
            </a:prstGeom>
            <a:ln>
              <a:prstDash val="dash"/>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r-FR" sz="1000" baseline="30000" dirty="0">
                <a:ln w="0"/>
                <a:solidFill>
                  <a:schemeClr val="tx1"/>
                </a:solidFill>
              </a:endParaRPr>
            </a:p>
            <a:p>
              <a:pPr algn="ctr"/>
              <a:r>
                <a:rPr lang="fr-FR" sz="1000" baseline="30000" dirty="0">
                  <a:ln w="0"/>
                  <a:solidFill>
                    <a:schemeClr val="tx1"/>
                  </a:solidFill>
                </a:rPr>
                <a:t>Ten operating entities</a:t>
              </a:r>
            </a:p>
            <a:p>
              <a:pPr algn="ctr"/>
              <a:r>
                <a:rPr lang="fr-FR" sz="1000" baseline="30000" dirty="0">
                  <a:ln w="0"/>
                  <a:solidFill>
                    <a:schemeClr val="tx1"/>
                  </a:solidFill>
                </a:rPr>
                <a:t>(Appendix 6)</a:t>
              </a:r>
              <a:endParaRPr lang="en-US" sz="1000" baseline="30000" dirty="0">
                <a:ln w="0"/>
                <a:solidFill>
                  <a:schemeClr val="tx1"/>
                </a:solidFill>
              </a:endParaRPr>
            </a:p>
          </p:txBody>
        </p:sp>
        <p:cxnSp>
          <p:nvCxnSpPr>
            <p:cNvPr id="149" name="Straight Arrow Connector 148">
              <a:extLst>
                <a:ext uri="{FF2B5EF4-FFF2-40B4-BE49-F238E27FC236}">
                  <a16:creationId xmlns:a16="http://schemas.microsoft.com/office/drawing/2014/main" id="{C0913E79-8CA6-8610-D127-CB41010891A6}"/>
                </a:ext>
              </a:extLst>
            </p:cNvPr>
            <p:cNvCxnSpPr>
              <a:cxnSpLocks/>
            </p:cNvCxnSpPr>
            <p:nvPr/>
          </p:nvCxnSpPr>
          <p:spPr>
            <a:xfrm>
              <a:off x="1472357" y="2953214"/>
              <a:ext cx="0" cy="12100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C241D0E7-DC0B-7B5A-7EAE-2845A2F2F9A6}"/>
                </a:ext>
              </a:extLst>
            </p:cNvPr>
            <p:cNvSpPr/>
            <p:nvPr/>
          </p:nvSpPr>
          <p:spPr>
            <a:xfrm>
              <a:off x="2806366" y="2611769"/>
              <a:ext cx="965509" cy="3414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1000" baseline="30000" dirty="0">
                <a:solidFill>
                  <a:schemeClr val="bg1"/>
                </a:solidFill>
              </a:endParaRPr>
            </a:p>
            <a:p>
              <a:pPr algn="ctr"/>
              <a:r>
                <a:rPr lang="en-US" sz="1000" baseline="30000" dirty="0">
                  <a:solidFill>
                    <a:schemeClr val="bg1"/>
                  </a:solidFill>
                </a:rPr>
                <a:t>9479-4666 Québec</a:t>
              </a:r>
            </a:p>
            <a:p>
              <a:pPr algn="ctr"/>
              <a:r>
                <a:rPr lang="en-US" sz="1000" baseline="30000" dirty="0">
                  <a:solidFill>
                    <a:schemeClr val="bg1"/>
                  </a:solidFill>
                </a:rPr>
                <a:t>inc. (IT Co)</a:t>
              </a:r>
            </a:p>
          </p:txBody>
        </p:sp>
        <p:cxnSp>
          <p:nvCxnSpPr>
            <p:cNvPr id="152" name="Straight Arrow Connector 151">
              <a:extLst>
                <a:ext uri="{FF2B5EF4-FFF2-40B4-BE49-F238E27FC236}">
                  <a16:creationId xmlns:a16="http://schemas.microsoft.com/office/drawing/2014/main" id="{A3F48BCC-D369-390C-645C-2DEAAEB0D1D5}"/>
                </a:ext>
              </a:extLst>
            </p:cNvPr>
            <p:cNvCxnSpPr>
              <a:cxnSpLocks/>
            </p:cNvCxnSpPr>
            <p:nvPr/>
          </p:nvCxnSpPr>
          <p:spPr>
            <a:xfrm>
              <a:off x="3307375" y="2493368"/>
              <a:ext cx="0" cy="12100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31614BFD-FC46-FC5A-F6F8-0182B4842157}"/>
                </a:ext>
              </a:extLst>
            </p:cNvPr>
            <p:cNvSpPr txBox="1"/>
            <p:nvPr/>
          </p:nvSpPr>
          <p:spPr>
            <a:xfrm>
              <a:off x="2263313" y="1907941"/>
              <a:ext cx="263361" cy="107163"/>
            </a:xfrm>
            <a:prstGeom prst="rect">
              <a:avLst/>
            </a:prstGeom>
          </p:spPr>
          <p:txBody>
            <a:bodyPr vert="horz" wrap="square" lIns="0" tIns="0" rIns="0" bIns="0" rtlCol="0" anchor="t" anchorCtr="0">
              <a:noAutofit/>
            </a:bodyPr>
            <a:lstStyle/>
            <a:p>
              <a:pPr algn="ctr">
                <a:spcAft>
                  <a:spcPts val="600"/>
                </a:spcAft>
              </a:pPr>
              <a:r>
                <a:rPr lang="en-US" sz="700" b="1" i="1" dirty="0">
                  <a:solidFill>
                    <a:schemeClr val="tx2"/>
                  </a:solidFill>
                  <a:latin typeface="Arial "/>
                </a:rPr>
                <a:t>75%</a:t>
              </a:r>
            </a:p>
            <a:p>
              <a:pPr algn="l">
                <a:spcAft>
                  <a:spcPts val="600"/>
                </a:spcAft>
              </a:pPr>
              <a:endParaRPr lang="en-US" sz="700" b="1" i="1" dirty="0">
                <a:solidFill>
                  <a:schemeClr val="tx2"/>
                </a:solidFill>
                <a:latin typeface="Arial "/>
              </a:endParaRPr>
            </a:p>
          </p:txBody>
        </p:sp>
        <p:sp>
          <p:nvSpPr>
            <p:cNvPr id="154" name="TextBox 153">
              <a:extLst>
                <a:ext uri="{FF2B5EF4-FFF2-40B4-BE49-F238E27FC236}">
                  <a16:creationId xmlns:a16="http://schemas.microsoft.com/office/drawing/2014/main" id="{EA5A9D1F-755C-248E-DAA8-B6740AB3FE40}"/>
                </a:ext>
              </a:extLst>
            </p:cNvPr>
            <p:cNvSpPr txBox="1"/>
            <p:nvPr/>
          </p:nvSpPr>
          <p:spPr>
            <a:xfrm>
              <a:off x="4319099" y="1907941"/>
              <a:ext cx="263361" cy="107163"/>
            </a:xfrm>
            <a:prstGeom prst="rect">
              <a:avLst/>
            </a:prstGeom>
          </p:spPr>
          <p:txBody>
            <a:bodyPr vert="horz" wrap="square" lIns="0" tIns="0" rIns="0" bIns="0" rtlCol="0" anchor="t" anchorCtr="0">
              <a:noAutofit/>
            </a:bodyPr>
            <a:lstStyle/>
            <a:p>
              <a:pPr algn="ctr">
                <a:spcAft>
                  <a:spcPts val="600"/>
                </a:spcAft>
              </a:pPr>
              <a:r>
                <a:rPr lang="en-US" sz="700" b="1" i="1" dirty="0">
                  <a:solidFill>
                    <a:schemeClr val="tx2"/>
                  </a:solidFill>
                  <a:latin typeface="Arial "/>
                </a:rPr>
                <a:t>25%</a:t>
              </a:r>
            </a:p>
          </p:txBody>
        </p:sp>
        <p:sp>
          <p:nvSpPr>
            <p:cNvPr id="155" name="TextBox 154">
              <a:extLst>
                <a:ext uri="{FF2B5EF4-FFF2-40B4-BE49-F238E27FC236}">
                  <a16:creationId xmlns:a16="http://schemas.microsoft.com/office/drawing/2014/main" id="{8ED3813D-DC34-F4CC-4C83-DA52FDD6C006}"/>
                </a:ext>
              </a:extLst>
            </p:cNvPr>
            <p:cNvSpPr txBox="1"/>
            <p:nvPr/>
          </p:nvSpPr>
          <p:spPr>
            <a:xfrm>
              <a:off x="2223414" y="2284394"/>
              <a:ext cx="343158" cy="107536"/>
            </a:xfrm>
            <a:prstGeom prst="rect">
              <a:avLst/>
            </a:prstGeom>
          </p:spPr>
          <p:txBody>
            <a:bodyPr vert="horz" wrap="square" lIns="0" tIns="0" rIns="0" bIns="0" rtlCol="0" anchor="t" anchorCtr="0">
              <a:noAutofit/>
            </a:bodyPr>
            <a:lstStyle/>
            <a:p>
              <a:pPr algn="ctr">
                <a:spcAft>
                  <a:spcPts val="600"/>
                </a:spcAft>
              </a:pPr>
              <a:r>
                <a:rPr lang="en-US" sz="700" b="1" i="1" dirty="0">
                  <a:solidFill>
                    <a:schemeClr val="tx2"/>
                  </a:solidFill>
                  <a:latin typeface="Arial "/>
                </a:rPr>
                <a:t>93%</a:t>
              </a:r>
            </a:p>
          </p:txBody>
        </p:sp>
        <p:sp>
          <p:nvSpPr>
            <p:cNvPr id="156" name="TextBox 155">
              <a:extLst>
                <a:ext uri="{FF2B5EF4-FFF2-40B4-BE49-F238E27FC236}">
                  <a16:creationId xmlns:a16="http://schemas.microsoft.com/office/drawing/2014/main" id="{59345E2B-E6D3-6302-A08B-A30DEE96305A}"/>
                </a:ext>
              </a:extLst>
            </p:cNvPr>
            <p:cNvSpPr txBox="1"/>
            <p:nvPr/>
          </p:nvSpPr>
          <p:spPr>
            <a:xfrm>
              <a:off x="4319099" y="2277737"/>
              <a:ext cx="263361" cy="107163"/>
            </a:xfrm>
            <a:prstGeom prst="rect">
              <a:avLst/>
            </a:prstGeom>
          </p:spPr>
          <p:txBody>
            <a:bodyPr vert="horz" wrap="square" lIns="0" tIns="0" rIns="0" bIns="0" rtlCol="0" anchor="t" anchorCtr="0">
              <a:noAutofit/>
            </a:bodyPr>
            <a:lstStyle/>
            <a:p>
              <a:pPr algn="ctr">
                <a:spcAft>
                  <a:spcPts val="600"/>
                </a:spcAft>
              </a:pPr>
              <a:r>
                <a:rPr lang="en-US" sz="700" b="1" i="1" dirty="0">
                  <a:solidFill>
                    <a:schemeClr val="tx2"/>
                  </a:solidFill>
                  <a:latin typeface="Arial "/>
                </a:rPr>
                <a:t>95%</a:t>
              </a:r>
            </a:p>
          </p:txBody>
        </p:sp>
        <p:sp>
          <p:nvSpPr>
            <p:cNvPr id="157" name="TextBox 156">
              <a:extLst>
                <a:ext uri="{FF2B5EF4-FFF2-40B4-BE49-F238E27FC236}">
                  <a16:creationId xmlns:a16="http://schemas.microsoft.com/office/drawing/2014/main" id="{1AB15CED-B03E-20CF-2CB2-F89D28EDF718}"/>
                </a:ext>
              </a:extLst>
            </p:cNvPr>
            <p:cNvSpPr txBox="1"/>
            <p:nvPr/>
          </p:nvSpPr>
          <p:spPr>
            <a:xfrm>
              <a:off x="3333220" y="2486193"/>
              <a:ext cx="343158" cy="107536"/>
            </a:xfrm>
            <a:prstGeom prst="rect">
              <a:avLst/>
            </a:prstGeom>
          </p:spPr>
          <p:txBody>
            <a:bodyPr vert="horz" wrap="square" lIns="0" tIns="0" rIns="0" bIns="0" rtlCol="0" anchor="t" anchorCtr="0">
              <a:noAutofit/>
            </a:bodyPr>
            <a:lstStyle/>
            <a:p>
              <a:pPr algn="ctr">
                <a:spcAft>
                  <a:spcPts val="600"/>
                </a:spcAft>
              </a:pPr>
              <a:r>
                <a:rPr lang="en-US" sz="700" b="1" i="1" dirty="0">
                  <a:solidFill>
                    <a:schemeClr val="tx2"/>
                  </a:solidFill>
                  <a:latin typeface="Arial "/>
                </a:rPr>
                <a:t>100%</a:t>
              </a:r>
            </a:p>
          </p:txBody>
        </p:sp>
      </p:grpSp>
      <p:sp>
        <p:nvSpPr>
          <p:cNvPr id="5" name="Rectangle 4">
            <a:extLst>
              <a:ext uri="{FF2B5EF4-FFF2-40B4-BE49-F238E27FC236}">
                <a16:creationId xmlns:a16="http://schemas.microsoft.com/office/drawing/2014/main" id="{FF115B0F-D7DB-78F9-7A13-37318045FF9E}"/>
              </a:ext>
            </a:extLst>
          </p:cNvPr>
          <p:cNvSpPr/>
          <p:nvPr/>
        </p:nvSpPr>
        <p:spPr bwMode="white">
          <a:xfrm>
            <a:off x="8360068" y="1929259"/>
            <a:ext cx="1000940" cy="453137"/>
          </a:xfrm>
          <a:prstGeom prst="rect">
            <a:avLst/>
          </a:prstGeom>
          <a:noFill/>
          <a:ln w="12700" cap="flat" cmpd="sng" algn="ctr">
            <a:noFill/>
            <a:prstDash val="solid"/>
            <a:miter lim="800000"/>
          </a:ln>
          <a:effectLst/>
        </p:spPr>
        <p:txBody>
          <a:bodyPr wrap="square" lIns="0" tIns="0" rIns="0" bIns="0" rtlCol="0" anchor="t" anchorCtr="0">
            <a:spAutoFit/>
          </a:bodyPr>
          <a:lstStyle/>
          <a:p>
            <a:pPr marL="0" marR="0" lvl="0" indent="0" defTabSz="914400" eaLnBrk="1" fontAlgn="auto" latinLnBrk="0" hangingPunct="1">
              <a:lnSpc>
                <a:spcPct val="70000"/>
              </a:lnSpc>
              <a:spcBef>
                <a:spcPts val="0"/>
              </a:spcBef>
              <a:spcAft>
                <a:spcPts val="300"/>
              </a:spcAft>
              <a:buClrTx/>
              <a:buSzTx/>
              <a:buFontTx/>
              <a:buNone/>
              <a:tabLst/>
              <a:defRPr/>
            </a:pPr>
            <a:r>
              <a:rPr kumimoji="0" lang="en-US" sz="2400" b="0" i="0" strike="noStrike" kern="0" cap="none" spc="0" normalizeH="0" baseline="0" noProof="0" dirty="0">
                <a:ln>
                  <a:noFill/>
                </a:ln>
                <a:solidFill>
                  <a:srgbClr val="FFFFFF"/>
                </a:solidFill>
                <a:effectLst/>
                <a:uLnTx/>
                <a:uFillTx/>
                <a:latin typeface="KPMG Bold"/>
                <a:ea typeface="+mn-ea"/>
                <a:cs typeface="+mn-cs"/>
              </a:rPr>
              <a:t>$7.7m </a:t>
            </a:r>
          </a:p>
          <a:p>
            <a:pPr marL="0" marR="0" lvl="0" indent="0" defTabSz="914400" eaLnBrk="1" fontAlgn="auto" latinLnBrk="0" hangingPunct="1">
              <a:lnSpc>
                <a:spcPct val="110000"/>
              </a:lnSpc>
              <a:spcBef>
                <a:spcPts val="0"/>
              </a:spcBef>
              <a:spcAft>
                <a:spcPts val="300"/>
              </a:spcAft>
              <a:buClrTx/>
              <a:buSzTx/>
              <a:buFontTx/>
              <a:buNone/>
              <a:tabLst/>
              <a:defRPr/>
            </a:pPr>
            <a:r>
              <a:rPr kumimoji="0" lang="en-US" sz="1000" b="0" i="0" strike="noStrike" kern="0" cap="none" spc="0" normalizeH="0" baseline="0" noProof="0" dirty="0">
                <a:ln>
                  <a:noFill/>
                </a:ln>
                <a:solidFill>
                  <a:srgbClr val="FFFFFF"/>
                </a:solidFill>
                <a:effectLst/>
                <a:uLnTx/>
                <a:uFillTx/>
                <a:latin typeface="Arial"/>
                <a:ea typeface="+mn-ea"/>
                <a:cs typeface="+mn-cs"/>
              </a:rPr>
              <a:t>Ontario</a:t>
            </a:r>
          </a:p>
        </p:txBody>
      </p:sp>
      <p:sp>
        <p:nvSpPr>
          <p:cNvPr id="6" name="TextBox 5">
            <a:extLst>
              <a:ext uri="{FF2B5EF4-FFF2-40B4-BE49-F238E27FC236}">
                <a16:creationId xmlns:a16="http://schemas.microsoft.com/office/drawing/2014/main" id="{029B5CD0-59F9-00EF-D1E9-23CE95C05A4B}"/>
              </a:ext>
            </a:extLst>
          </p:cNvPr>
          <p:cNvSpPr txBox="1">
            <a:spLocks/>
          </p:cNvSpPr>
          <p:nvPr/>
        </p:nvSpPr>
        <p:spPr>
          <a:xfrm>
            <a:off x="1029319" y="3907236"/>
            <a:ext cx="4940037" cy="2385268"/>
          </a:xfrm>
          <a:prstGeom prst="rect">
            <a:avLst/>
          </a:prstGeom>
          <a:noFill/>
        </p:spPr>
        <p:txBody>
          <a:bodyPr wrap="square" lIns="0" tIns="0" rIns="0" bIns="0">
            <a:spAutoFit/>
          </a:bodyPr>
          <a:lstStyle/>
          <a:p>
            <a:pPr defTabSz="914377">
              <a:lnSpc>
                <a:spcPts val="1200"/>
              </a:lnSpc>
              <a:spcAft>
                <a:spcPts val="600"/>
              </a:spcAft>
              <a:defRPr/>
            </a:pPr>
            <a:r>
              <a:rPr lang="en-US" sz="1000" dirty="0">
                <a:latin typeface="Arial"/>
              </a:rPr>
              <a:t>Synex Performances d’Affaires Inc., headquartered in Quebec City, QC, is the principal shareholder of Synex Acquisico (“Synex” or the “Company”), which is the holding company of a consolidated group of insurance brokerage businesses specializing in the sale of commercial and personal P&amp;C and group benefits products, with 22 individual operations located across Alberta, British Columbia, Ontario, Quebec, and Atlantic Canada. Historical growth in the Company’s core operations has been achieved through a combination of bolt-on acquisitions and post-acquisition organic growth in acquired businesses, including 14 acquisitions completed in the FY22 to FY24 period. </a:t>
            </a:r>
          </a:p>
          <a:p>
            <a:pPr defTabSz="914377">
              <a:lnSpc>
                <a:spcPts val="1200"/>
              </a:lnSpc>
              <a:spcAft>
                <a:spcPts val="600"/>
              </a:spcAft>
              <a:defRPr/>
            </a:pPr>
            <a:r>
              <a:rPr lang="en-US" sz="1000" dirty="0">
                <a:latin typeface="Arial"/>
              </a:rPr>
              <a:t>Each of the Company’s brokerage businesses operate mostly on a standalone basis, with certain support services provided by head office. There are a number of minority shareholdings in the group, certain of which will be bought out as part of a pre-completion reorganization. Other minority shareholdings in operating companies are expected to remain in the group structure after transaction close. Refer overleaf for summary financial and operational metrics relating to each of the Company’s operating subsidiaries. </a:t>
            </a:r>
          </a:p>
        </p:txBody>
      </p:sp>
      <p:grpSp>
        <p:nvGrpSpPr>
          <p:cNvPr id="30" name="Group 29">
            <a:extLst>
              <a:ext uri="{FF2B5EF4-FFF2-40B4-BE49-F238E27FC236}">
                <a16:creationId xmlns:a16="http://schemas.microsoft.com/office/drawing/2014/main" id="{D14FFD9B-E8F2-5181-DDD0-C3245B51EFD4}"/>
              </a:ext>
            </a:extLst>
          </p:cNvPr>
          <p:cNvGrpSpPr/>
          <p:nvPr>
            <p:custDataLst>
              <p:tags r:id="rId3"/>
            </p:custDataLst>
          </p:nvPr>
        </p:nvGrpSpPr>
        <p:grpSpPr>
          <a:xfrm>
            <a:off x="995364" y="153170"/>
            <a:ext cx="5024685" cy="195814"/>
            <a:chOff x="995364" y="153170"/>
            <a:chExt cx="5024685" cy="195814"/>
          </a:xfrm>
        </p:grpSpPr>
        <p:sp>
          <p:nvSpPr>
            <p:cNvPr id="24" name="Current Section1">
              <a:hlinkClick r:id="rId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2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8"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9"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2848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Business overview –  Summary of entities (1/2)</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Business overview</a:t>
            </a:r>
          </a:p>
        </p:txBody>
      </p:sp>
      <p:sp>
        <p:nvSpPr>
          <p:cNvPr id="4" name="Rectangle 3">
            <a:extLst>
              <a:ext uri="{FF2B5EF4-FFF2-40B4-BE49-F238E27FC236}">
                <a16:creationId xmlns:a16="http://schemas.microsoft.com/office/drawing/2014/main" id="{BC8CDE1D-A3E6-1855-3F41-F573E51FE8A3}"/>
              </a:ext>
            </a:extLst>
          </p:cNvPr>
          <p:cNvSpPr/>
          <p:nvPr/>
        </p:nvSpPr>
        <p:spPr>
          <a:xfrm>
            <a:off x="6913562" y="6936396"/>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Insert table which lists all OpCos &amp; includes: location, TTM Oct-24 revenue (split between base comm, CPCs and others), effective minority interest, acq date, entity type (P&amp;B, GB, Holdco)</a:t>
            </a:r>
          </a:p>
        </p:txBody>
      </p:sp>
      <p:sp>
        <p:nvSpPr>
          <p:cNvPr id="5" name="Text Placeholder 12">
            <a:extLst>
              <a:ext uri="{FF2B5EF4-FFF2-40B4-BE49-F238E27FC236}">
                <a16:creationId xmlns:a16="http://schemas.microsoft.com/office/drawing/2014/main" id="{BE81B427-9D22-208C-E237-E8FADAD89AFD}"/>
              </a:ext>
            </a:extLst>
          </p:cNvPr>
          <p:cNvSpPr txBox="1">
            <a:spLocks/>
          </p:cNvSpPr>
          <p:nvPr/>
        </p:nvSpPr>
        <p:spPr>
          <a:xfrm>
            <a:off x="999942" y="5593671"/>
            <a:ext cx="7880349" cy="21031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Note: Ownership % metrics above relate to effective ownership at the Synex AcquisiCo level. Headcount information is based on payroll report data as at Oct-24.</a:t>
            </a:r>
          </a:p>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6" name="Picture 5">
            <a:extLst>
              <a:ext uri="{FF2B5EF4-FFF2-40B4-BE49-F238E27FC236}">
                <a16:creationId xmlns:a16="http://schemas.microsoft.com/office/drawing/2014/main" id="{D92D56F3-E92E-B46A-EB16-7C885FE24F98}"/>
              </a:ext>
            </a:extLst>
          </p:cNvPr>
          <p:cNvPicPr>
            <a:picLocks noChangeAspect="1"/>
          </p:cNvPicPr>
          <p:nvPr>
            <p:custDataLst>
              <p:tags r:id="rId3"/>
            </p:custDataLst>
          </p:nvPr>
        </p:nvPicPr>
        <p:blipFill>
          <a:blip r:embed="rId8"/>
          <a:stretch>
            <a:fillRect/>
          </a:stretch>
        </p:blipFill>
        <p:spPr>
          <a:xfrm>
            <a:off x="999942" y="1323423"/>
            <a:ext cx="8848792" cy="4270248"/>
          </a:xfrm>
          <a:prstGeom prst="rect">
            <a:avLst/>
          </a:prstGeom>
        </p:spPr>
      </p:pic>
      <p:grpSp>
        <p:nvGrpSpPr>
          <p:cNvPr id="17" name="Group 16">
            <a:extLst>
              <a:ext uri="{FF2B5EF4-FFF2-40B4-BE49-F238E27FC236}">
                <a16:creationId xmlns:a16="http://schemas.microsoft.com/office/drawing/2014/main" id="{D14FFD9B-E8F2-5181-DDD0-C3245B51EFD4}"/>
              </a:ext>
            </a:extLst>
          </p:cNvPr>
          <p:cNvGrpSpPr/>
          <p:nvPr>
            <p:custDataLst>
              <p:tags r:id="rId4"/>
            </p:custDataLst>
          </p:nvPr>
        </p:nvGrpSpPr>
        <p:grpSpPr>
          <a:xfrm>
            <a:off x="995364" y="153170"/>
            <a:ext cx="5024685" cy="195814"/>
            <a:chOff x="995364" y="153170"/>
            <a:chExt cx="5024685" cy="195814"/>
          </a:xfrm>
        </p:grpSpPr>
        <p:sp>
          <p:nvSpPr>
            <p:cNvPr id="20" name="Current Section1">
              <a:hlinkClick r:id="rId9"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2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2"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68183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Business overview –  Summary of entities (2/2)</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Business overview</a:t>
            </a:r>
          </a:p>
        </p:txBody>
      </p:sp>
      <p:sp>
        <p:nvSpPr>
          <p:cNvPr id="4" name="Rectangle 3">
            <a:extLst>
              <a:ext uri="{FF2B5EF4-FFF2-40B4-BE49-F238E27FC236}">
                <a16:creationId xmlns:a16="http://schemas.microsoft.com/office/drawing/2014/main" id="{BC8CDE1D-A3E6-1855-3F41-F573E51FE8A3}"/>
              </a:ext>
            </a:extLst>
          </p:cNvPr>
          <p:cNvSpPr/>
          <p:nvPr/>
        </p:nvSpPr>
        <p:spPr>
          <a:xfrm>
            <a:off x="3807632" y="7011326"/>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Insert table which lists all OpCos &amp; includes: location, TTM Oct-24 revenue (split between base comm, CPCs and others), effective minority interest, acq date, entity type (P&amp;B, GB, Holdco)</a:t>
            </a:r>
          </a:p>
        </p:txBody>
      </p:sp>
      <p:sp>
        <p:nvSpPr>
          <p:cNvPr id="10" name="Text Placeholder 33">
            <a:extLst>
              <a:ext uri="{FF2B5EF4-FFF2-40B4-BE49-F238E27FC236}">
                <a16:creationId xmlns:a16="http://schemas.microsoft.com/office/drawing/2014/main" id="{3D9FD04A-37D7-A9DC-99DE-D9E139C4F56D}"/>
              </a:ext>
            </a:extLst>
          </p:cNvPr>
          <p:cNvSpPr txBox="1">
            <a:spLocks/>
          </p:cNvSpPr>
          <p:nvPr/>
        </p:nvSpPr>
        <p:spPr>
          <a:xfrm>
            <a:off x="8875712" y="1263974"/>
            <a:ext cx="2258361" cy="26107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300"/>
              </a:spcAft>
              <a:defRPr/>
            </a:pPr>
            <a:endParaRPr lang="en-US" b="0" dirty="0">
              <a:solidFill>
                <a:schemeClr val="tx1"/>
              </a:solidFill>
            </a:endParaRPr>
          </a:p>
        </p:txBody>
      </p:sp>
      <p:sp>
        <p:nvSpPr>
          <p:cNvPr id="14" name="Rectangle 13">
            <a:extLst>
              <a:ext uri="{FF2B5EF4-FFF2-40B4-BE49-F238E27FC236}">
                <a16:creationId xmlns:a16="http://schemas.microsoft.com/office/drawing/2014/main" id="{D74393EE-9568-7BCB-418B-975892984B3E}"/>
              </a:ext>
            </a:extLst>
          </p:cNvPr>
          <p:cNvSpPr/>
          <p:nvPr/>
        </p:nvSpPr>
        <p:spPr>
          <a:xfrm>
            <a:off x="8000311" y="7027015"/>
            <a:ext cx="2734758"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This tables excludes non-consolidated entities: GTW and LAFLA.</a:t>
            </a:r>
          </a:p>
        </p:txBody>
      </p:sp>
      <p:sp>
        <p:nvSpPr>
          <p:cNvPr id="6" name="Text Placeholder 12">
            <a:extLst>
              <a:ext uri="{FF2B5EF4-FFF2-40B4-BE49-F238E27FC236}">
                <a16:creationId xmlns:a16="http://schemas.microsoft.com/office/drawing/2014/main" id="{F31BBDFD-C0CF-2A18-E348-250A526D01A7}"/>
              </a:ext>
            </a:extLst>
          </p:cNvPr>
          <p:cNvSpPr txBox="1">
            <a:spLocks/>
          </p:cNvSpPr>
          <p:nvPr/>
        </p:nvSpPr>
        <p:spPr>
          <a:xfrm>
            <a:off x="995363" y="4905873"/>
            <a:ext cx="7880349" cy="21031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Note: Ownership % metrics above relate to effective ownership at the Synex Acquisico level. Headcount information is based on payroll report data as at Oct-24.</a:t>
            </a:r>
          </a:p>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5" name="Picture 4">
            <a:extLst>
              <a:ext uri="{FF2B5EF4-FFF2-40B4-BE49-F238E27FC236}">
                <a16:creationId xmlns:a16="http://schemas.microsoft.com/office/drawing/2014/main" id="{F9303B21-A941-2D65-0444-55FC04F1BF6A}"/>
              </a:ext>
            </a:extLst>
          </p:cNvPr>
          <p:cNvPicPr>
            <a:picLocks noChangeAspect="1"/>
          </p:cNvPicPr>
          <p:nvPr>
            <p:custDataLst>
              <p:tags r:id="rId3"/>
            </p:custDataLst>
          </p:nvPr>
        </p:nvPicPr>
        <p:blipFill>
          <a:blip r:embed="rId8"/>
          <a:stretch>
            <a:fillRect/>
          </a:stretch>
        </p:blipFill>
        <p:spPr>
          <a:xfrm>
            <a:off x="995362" y="1311281"/>
            <a:ext cx="9201150" cy="3572509"/>
          </a:xfrm>
          <a:prstGeom prst="rect">
            <a:avLst/>
          </a:prstGeom>
        </p:spPr>
      </p:pic>
      <p:sp>
        <p:nvSpPr>
          <p:cNvPr id="8" name="Rectangle 7">
            <a:extLst>
              <a:ext uri="{FF2B5EF4-FFF2-40B4-BE49-F238E27FC236}">
                <a16:creationId xmlns:a16="http://schemas.microsoft.com/office/drawing/2014/main" id="{AFEFA732-F987-B739-968C-427563941459}"/>
              </a:ext>
            </a:extLst>
          </p:cNvPr>
          <p:cNvSpPr/>
          <p:nvPr/>
        </p:nvSpPr>
        <p:spPr>
          <a:xfrm>
            <a:off x="10289897" y="3006568"/>
            <a:ext cx="1863926" cy="11420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CPC income retained in Synex Assurances represents the total contingent commission synergy derived from the combined volume of the group. This bonus income is not allocated to the individual operating companies in the group.</a:t>
            </a:r>
          </a:p>
        </p:txBody>
      </p:sp>
      <p:cxnSp>
        <p:nvCxnSpPr>
          <p:cNvPr id="9" name="Connector: Elbow 8">
            <a:extLst>
              <a:ext uri="{FF2B5EF4-FFF2-40B4-BE49-F238E27FC236}">
                <a16:creationId xmlns:a16="http://schemas.microsoft.com/office/drawing/2014/main" id="{81D12BBA-773F-A7C4-5C40-45B14AB04B51}"/>
              </a:ext>
            </a:extLst>
          </p:cNvPr>
          <p:cNvCxnSpPr>
            <a:cxnSpLocks/>
            <a:stCxn id="8" idx="1"/>
            <a:endCxn id="11" idx="0"/>
          </p:cNvCxnSpPr>
          <p:nvPr/>
        </p:nvCxnSpPr>
        <p:spPr>
          <a:xfrm rot="10800000" flipV="1">
            <a:off x="8350685" y="3577578"/>
            <a:ext cx="1939213" cy="131595"/>
          </a:xfrm>
          <a:prstGeom prst="bentConnector2">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9D48A816-02BA-3008-2C15-7A68949E6AA1}"/>
              </a:ext>
            </a:extLst>
          </p:cNvPr>
          <p:cNvSpPr/>
          <p:nvPr/>
        </p:nvSpPr>
        <p:spPr>
          <a:xfrm>
            <a:off x="8136371" y="3709174"/>
            <a:ext cx="428625" cy="161925"/>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grpSp>
        <p:nvGrpSpPr>
          <p:cNvPr id="24" name="Group 23">
            <a:extLst>
              <a:ext uri="{FF2B5EF4-FFF2-40B4-BE49-F238E27FC236}">
                <a16:creationId xmlns:a16="http://schemas.microsoft.com/office/drawing/2014/main" id="{D14FFD9B-E8F2-5181-DDD0-C3245B51EFD4}"/>
              </a:ext>
            </a:extLst>
          </p:cNvPr>
          <p:cNvGrpSpPr/>
          <p:nvPr>
            <p:custDataLst>
              <p:tags r:id="rId4"/>
            </p:custDataLst>
          </p:nvPr>
        </p:nvGrpSpPr>
        <p:grpSpPr>
          <a:xfrm>
            <a:off x="995364" y="153170"/>
            <a:ext cx="5024685" cy="195814"/>
            <a:chOff x="995364" y="153170"/>
            <a:chExt cx="5024685" cy="195814"/>
          </a:xfrm>
        </p:grpSpPr>
        <p:sp>
          <p:nvSpPr>
            <p:cNvPr id="25" name="Current Section1">
              <a:hlinkClick r:id="rId9"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26"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8"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9"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0"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24052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EEC9FA-9870-2F15-3C3E-1BC6EB6CC609}"/>
              </a:ext>
            </a:extLst>
          </p:cNvPr>
          <p:cNvSpPr>
            <a:spLocks noGrp="1"/>
          </p:cNvSpPr>
          <p:nvPr>
            <p:ph type="title"/>
          </p:nvPr>
        </p:nvSpPr>
        <p:spPr/>
        <p:txBody>
          <a:bodyPr/>
          <a:lstStyle/>
          <a:p>
            <a:r>
              <a:rPr lang="en-US" dirty="0"/>
              <a:t>Summary financials – Income statement and balance sheet</a:t>
            </a:r>
          </a:p>
        </p:txBody>
      </p:sp>
      <p:sp>
        <p:nvSpPr>
          <p:cNvPr id="6" name="Text Placeholder 11">
            <a:extLst>
              <a:ext uri="{FF2B5EF4-FFF2-40B4-BE49-F238E27FC236}">
                <a16:creationId xmlns:a16="http://schemas.microsoft.com/office/drawing/2014/main" id="{1C244F95-1816-C437-E5A5-FA01B9D49DD6}"/>
              </a:ext>
            </a:extLst>
          </p:cNvPr>
          <p:cNvSpPr txBox="1">
            <a:spLocks/>
          </p:cNvSpPr>
          <p:nvPr/>
        </p:nvSpPr>
        <p:spPr>
          <a:xfrm>
            <a:off x="1019574" y="1294057"/>
            <a:ext cx="10180240" cy="844728"/>
          </a:xfrm>
          <a:prstGeom prst="rect">
            <a:avLst/>
          </a:prstGeom>
        </p:spPr>
        <p:txBody>
          <a:bodyPr vert="horz" lIns="0" tIns="0" rIns="0" bIns="0" rtlCol="0" anchor="t" anchorCtr="0">
            <a:noAutofit/>
          </a:bodyPr>
          <a:lstStyle>
            <a:lvl1pPr indent="0" defTabSz="914377">
              <a:lnSpc>
                <a:spcPct val="100000"/>
              </a:lnSpc>
              <a:spcBef>
                <a:spcPts val="0"/>
              </a:spcBef>
              <a:spcAft>
                <a:spcPts val="300"/>
              </a:spcAft>
              <a:buFontTx/>
              <a:buNone/>
              <a:defRPr lang="en-US" sz="1000" b="1" dirty="0" smtClean="0">
                <a:solidFill>
                  <a:srgbClr val="1E49E2"/>
                </a:solidFill>
              </a:defRPr>
            </a:lvl1pPr>
            <a:lvl2pPr marL="0" indent="0" defTabSz="914377">
              <a:lnSpc>
                <a:spcPct val="100000"/>
              </a:lnSpc>
              <a:spcBef>
                <a:spcPts val="0"/>
              </a:spcBef>
              <a:spcAft>
                <a:spcPts val="300"/>
              </a:spcAft>
              <a:buFontTx/>
              <a:buNone/>
              <a:defRPr lang="en-US" sz="1000" b="1" dirty="0" smtClean="0">
                <a:solidFill>
                  <a:schemeClr val="accent2"/>
                </a:solidFill>
              </a:defRPr>
            </a:lvl2pPr>
            <a:lvl3pPr marL="0" indent="0" defTabSz="914377">
              <a:lnSpc>
                <a:spcPct val="100000"/>
              </a:lnSpc>
              <a:spcBef>
                <a:spcPts val="0"/>
              </a:spcBef>
              <a:spcAft>
                <a:spcPts val="300"/>
              </a:spcAft>
              <a:buClrTx/>
              <a:buFontTx/>
              <a:buNone/>
              <a:defRPr lang="en-US" sz="1000" b="1" dirty="0" smtClean="0">
                <a:solidFill>
                  <a:schemeClr val="accent2"/>
                </a:solidFill>
              </a:defRPr>
            </a:lvl3pPr>
            <a:lvl4pPr marL="0" indent="0" defTabSz="914377">
              <a:lnSpc>
                <a:spcPct val="100000"/>
              </a:lnSpc>
              <a:spcBef>
                <a:spcPts val="0"/>
              </a:spcBef>
              <a:spcAft>
                <a:spcPts val="300"/>
              </a:spcAft>
              <a:buClrTx/>
              <a:buFontTx/>
              <a:buNone/>
              <a:defRPr lang="en-US" sz="1000" b="1" dirty="0" smtClean="0">
                <a:solidFill>
                  <a:schemeClr val="accent2"/>
                </a:solidFill>
              </a:defRPr>
            </a:lvl4pPr>
            <a:lvl5pPr marL="0" indent="0" defTabSz="914377">
              <a:lnSpc>
                <a:spcPct val="100000"/>
              </a:lnSpc>
              <a:spcBef>
                <a:spcPts val="0"/>
              </a:spcBef>
              <a:spcAft>
                <a:spcPts val="300"/>
              </a:spcAft>
              <a:buClrTx/>
              <a:buFontTx/>
              <a:buNone/>
              <a:defRPr lang="fi-FI" sz="1000" b="1" baseline="0" dirty="0">
                <a:solidFill>
                  <a:schemeClr val="accent2"/>
                </a:solidFill>
              </a:defRPr>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US" dirty="0"/>
              <a:t>The summary income statement and summary balance sheet below reflect the consolidated financial information of the Company for FY22, FY23, and FY24, in addition to TTM Oct-24 (collectively, the “Historical Period”) based on trial balance data. The financial statements for FY22 and FY23 have been subject to audit by Deloitte, and the audit for FY24 is currently ongoing. Refer to Appendix 1 for a reconciliation between the trial balances and the audited financial statements for FY22 and FY23. The Company’s financial statements are prepared under ASPE and are reported in CAD which is the functional currency of the group.  </a:t>
            </a:r>
          </a:p>
        </p:txBody>
      </p:sp>
      <p:sp>
        <p:nvSpPr>
          <p:cNvPr id="10" name="UpSlide SubSection Marker" hidden="1">
            <a:extLst>
              <a:ext uri="{FF2B5EF4-FFF2-40B4-BE49-F238E27FC236}">
                <a16:creationId xmlns:a16="http://schemas.microsoft.com/office/drawing/2014/main" id="{4630A661-4607-C52F-7F59-8739B269D10E}"/>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financials</a:t>
            </a:r>
          </a:p>
        </p:txBody>
      </p:sp>
      <p:sp>
        <p:nvSpPr>
          <p:cNvPr id="2" name="Rectangle 1">
            <a:extLst>
              <a:ext uri="{FF2B5EF4-FFF2-40B4-BE49-F238E27FC236}">
                <a16:creationId xmlns:a16="http://schemas.microsoft.com/office/drawing/2014/main" id="{CD318667-26E7-E594-EC13-30516CAD49FD}"/>
              </a:ext>
            </a:extLst>
          </p:cNvPr>
          <p:cNvSpPr/>
          <p:nvPr/>
        </p:nvSpPr>
        <p:spPr>
          <a:xfrm>
            <a:off x="8958043" y="-1402360"/>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IS and BS: FY22-FY24 on consol basis (assuming we get roll-forward info)</a:t>
            </a:r>
          </a:p>
          <a:p>
            <a:pPr algn="ctr"/>
            <a:r>
              <a:rPr lang="en-US" sz="900" dirty="0">
                <a:solidFill>
                  <a:schemeClr val="bg1"/>
                </a:solidFill>
              </a:rPr>
              <a:t>KPIs: Margins, # subs, total volume, avg. comm %, # FTEs</a:t>
            </a:r>
          </a:p>
        </p:txBody>
      </p:sp>
      <p:sp>
        <p:nvSpPr>
          <p:cNvPr id="18" name="Text Placeholder 12">
            <a:extLst>
              <a:ext uri="{FF2B5EF4-FFF2-40B4-BE49-F238E27FC236}">
                <a16:creationId xmlns:a16="http://schemas.microsoft.com/office/drawing/2014/main" id="{578B6E77-ECBF-F342-2DB8-B95581594C64}"/>
              </a:ext>
            </a:extLst>
          </p:cNvPr>
          <p:cNvSpPr txBox="1">
            <a:spLocks/>
          </p:cNvSpPr>
          <p:nvPr/>
        </p:nvSpPr>
        <p:spPr>
          <a:xfrm>
            <a:off x="1031875" y="5704649"/>
            <a:ext cx="3600000"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19" name="Text Placeholder 12">
            <a:extLst>
              <a:ext uri="{FF2B5EF4-FFF2-40B4-BE49-F238E27FC236}">
                <a16:creationId xmlns:a16="http://schemas.microsoft.com/office/drawing/2014/main" id="{2C30ADD0-D9A0-8F48-A8E9-9B20937857A9}"/>
              </a:ext>
            </a:extLst>
          </p:cNvPr>
          <p:cNvSpPr txBox="1">
            <a:spLocks/>
          </p:cNvSpPr>
          <p:nvPr/>
        </p:nvSpPr>
        <p:spPr>
          <a:xfrm>
            <a:off x="6028187" y="5612316"/>
            <a:ext cx="3600000"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8" name="Picture 7">
            <a:extLst>
              <a:ext uri="{FF2B5EF4-FFF2-40B4-BE49-F238E27FC236}">
                <a16:creationId xmlns:a16="http://schemas.microsoft.com/office/drawing/2014/main" id="{A046756C-4C78-2A5D-5F8B-0411904695C1}"/>
              </a:ext>
            </a:extLst>
          </p:cNvPr>
          <p:cNvPicPr>
            <a:picLocks noChangeAspect="1"/>
          </p:cNvPicPr>
          <p:nvPr>
            <p:custDataLst>
              <p:tags r:id="rId2"/>
            </p:custDataLst>
          </p:nvPr>
        </p:nvPicPr>
        <p:blipFill>
          <a:blip r:embed="rId6"/>
          <a:stretch>
            <a:fillRect/>
          </a:stretch>
        </p:blipFill>
        <p:spPr>
          <a:xfrm>
            <a:off x="6028187" y="1972939"/>
            <a:ext cx="5152377" cy="3639377"/>
          </a:xfrm>
          <a:prstGeom prst="rect">
            <a:avLst/>
          </a:prstGeom>
        </p:spPr>
      </p:pic>
      <p:pic>
        <p:nvPicPr>
          <p:cNvPr id="3" name="Picture 2">
            <a:extLst>
              <a:ext uri="{FF2B5EF4-FFF2-40B4-BE49-F238E27FC236}">
                <a16:creationId xmlns:a16="http://schemas.microsoft.com/office/drawing/2014/main" id="{254628B8-BF28-AC4E-629A-D29FB8D73858}"/>
              </a:ext>
            </a:extLst>
          </p:cNvPr>
          <p:cNvPicPr>
            <a:picLocks noChangeAspect="1"/>
          </p:cNvPicPr>
          <p:nvPr>
            <p:custDataLst>
              <p:tags r:id="rId3"/>
            </p:custDataLst>
          </p:nvPr>
        </p:nvPicPr>
        <p:blipFill>
          <a:blip r:embed="rId7"/>
          <a:stretch>
            <a:fillRect/>
          </a:stretch>
        </p:blipFill>
        <p:spPr>
          <a:xfrm>
            <a:off x="1031875" y="1972939"/>
            <a:ext cx="4179935" cy="3730752"/>
          </a:xfrm>
          <a:prstGeom prst="rect">
            <a:avLst/>
          </a:prstGeom>
        </p:spPr>
      </p:pic>
      <p:grpSp>
        <p:nvGrpSpPr>
          <p:cNvPr id="22" name="Group 21">
            <a:extLst>
              <a:ext uri="{FF2B5EF4-FFF2-40B4-BE49-F238E27FC236}">
                <a16:creationId xmlns:a16="http://schemas.microsoft.com/office/drawing/2014/main" id="{D14FFD9B-E8F2-5181-DDD0-C3245B51EFD4}"/>
              </a:ext>
            </a:extLst>
          </p:cNvPr>
          <p:cNvGrpSpPr/>
          <p:nvPr>
            <p:custDataLst>
              <p:tags r:id="rId4"/>
            </p:custDataLst>
          </p:nvPr>
        </p:nvGrpSpPr>
        <p:grpSpPr>
          <a:xfrm>
            <a:off x="995364" y="153170"/>
            <a:ext cx="5024685" cy="195814"/>
            <a:chOff x="995364" y="153170"/>
            <a:chExt cx="5024685" cy="195814"/>
          </a:xfrm>
        </p:grpSpPr>
        <p:sp>
          <p:nvSpPr>
            <p:cNvPr id="23" name="Current Section1">
              <a:hlinkClick r:id="rId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68952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33">
            <a:extLst>
              <a:ext uri="{FF2B5EF4-FFF2-40B4-BE49-F238E27FC236}">
                <a16:creationId xmlns:a16="http://schemas.microsoft.com/office/drawing/2014/main" id="{80F7A11C-2F2C-C54F-52A3-2667D4FD5191}"/>
              </a:ext>
            </a:extLst>
          </p:cNvPr>
          <p:cNvSpPr>
            <a:spLocks noGrp="1"/>
          </p:cNvSpPr>
          <p:nvPr>
            <p:ph type="body" sz="quarter" idx="24"/>
          </p:nvPr>
        </p:nvSpPr>
        <p:spPr>
          <a:xfrm>
            <a:off x="6171674" y="3372997"/>
            <a:ext cx="5036400" cy="3485003"/>
          </a:xfrm>
        </p:spPr>
        <p:txBody>
          <a:bodyPr/>
          <a:lstStyle/>
          <a:p>
            <a:pPr>
              <a:spcAft>
                <a:spcPts val="200"/>
              </a:spcAft>
              <a:defRPr/>
            </a:pPr>
            <a:r>
              <a:rPr lang="en-US" b="0" dirty="0">
                <a:solidFill>
                  <a:schemeClr val="tx1"/>
                </a:solidFill>
              </a:rPr>
              <a:t>The summary adjusted income statement above allocates the results of the Company between core operations (main P&amp;C and group benefits brokerage activities), CPCs and bonus commissions, and other items (largely comprising interest income generated on trust bank balances and on premium financing arrangements). Revenue and earnings performance over the Historical Period are underpinned by the following trends:</a:t>
            </a:r>
          </a:p>
          <a:p>
            <a:pPr marL="171450" indent="-171450">
              <a:spcAft>
                <a:spcPts val="200"/>
              </a:spcAft>
              <a:buFont typeface="Arial" panose="020B0604020202020204" pitchFamily="34" charset="0"/>
              <a:buChar char="•"/>
              <a:defRPr/>
            </a:pPr>
            <a:r>
              <a:rPr lang="en-US" b="0" dirty="0">
                <a:solidFill>
                  <a:schemeClr val="tx1"/>
                </a:solidFill>
              </a:rPr>
              <a:t>year-on-year growth in P&amp;C base commissions as a result of increased production and policy pricing upside (CAGR: 9.0%); </a:t>
            </a:r>
          </a:p>
          <a:p>
            <a:pPr marL="171450" indent="-171450">
              <a:spcAft>
                <a:spcPts val="200"/>
              </a:spcAft>
              <a:buFont typeface="Arial" panose="020B0604020202020204" pitchFamily="34" charset="0"/>
              <a:buChar char="•"/>
              <a:defRPr/>
            </a:pPr>
            <a:r>
              <a:rPr lang="en-US" b="0" dirty="0">
                <a:solidFill>
                  <a:schemeClr val="tx1"/>
                </a:solidFill>
              </a:rPr>
              <a:t>stable base commissions in group benefits, with more limited annual increase between FY23 and FY24 (CAGR: 1.5%);</a:t>
            </a:r>
          </a:p>
          <a:p>
            <a:pPr marL="171450" indent="-171450">
              <a:spcAft>
                <a:spcPts val="200"/>
              </a:spcAft>
              <a:buFont typeface="Arial" panose="020B0604020202020204" pitchFamily="34" charset="0"/>
              <a:buChar char="•"/>
              <a:defRPr/>
            </a:pPr>
            <a:r>
              <a:rPr lang="en-US" b="0" dirty="0">
                <a:solidFill>
                  <a:schemeClr val="tx1"/>
                </a:solidFill>
              </a:rPr>
              <a:t>annual step-ups in operating expenses which trended broadly in line with revenue from FY22 to FY24, notably with respect to producer commissions (paid relative to revenue) and indirect headcount which increased by approximately 21% (+121 FTEs) between FY22 and FY24.</a:t>
            </a:r>
          </a:p>
          <a:p>
            <a:pPr marL="171450" indent="-171450">
              <a:spcAft>
                <a:spcPts val="200"/>
              </a:spcAft>
              <a:buFont typeface="Arial" panose="020B0604020202020204" pitchFamily="34" charset="0"/>
              <a:buChar char="•"/>
              <a:defRPr/>
            </a:pPr>
            <a:r>
              <a:rPr lang="en-US" b="0" dirty="0">
                <a:solidFill>
                  <a:schemeClr val="tx1"/>
                </a:solidFill>
              </a:rPr>
              <a:t>moderate upside in CPC and bonus commissions between FY22 and FY24 driven by incremental volume, offset by annual variability in carrier loss ratios.</a:t>
            </a:r>
          </a:p>
          <a:p>
            <a:pPr>
              <a:spcAft>
                <a:spcPts val="200"/>
              </a:spcAft>
              <a:defRPr/>
            </a:pPr>
            <a:r>
              <a:rPr lang="en-US" b="0" dirty="0">
                <a:solidFill>
                  <a:schemeClr val="tx1"/>
                </a:solidFill>
              </a:rPr>
              <a:t>Notwithstanding revenue growth of 14.9% achieved over the Historical Period, pro forma adjusted EBITDA recorded modest growth of $0.9 million between FY22 and FY24, with increased operating costs weighing on earnings performance.</a:t>
            </a:r>
          </a:p>
        </p:txBody>
      </p:sp>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vert="horz"/>
          <a:lstStyle/>
          <a:p>
            <a:r>
              <a:rPr lang="en-US" dirty="0"/>
              <a:t>Key findings — Quality of earnings</a:t>
            </a:r>
          </a:p>
        </p:txBody>
      </p:sp>
      <p:sp>
        <p:nvSpPr>
          <p:cNvPr id="35" name="Chart Placeholder 34">
            <a:extLst>
              <a:ext uri="{FF2B5EF4-FFF2-40B4-BE49-F238E27FC236}">
                <a16:creationId xmlns:a16="http://schemas.microsoft.com/office/drawing/2014/main" id="{FF8C0A72-F9DE-6828-F8E6-D886AEEDEB62}"/>
              </a:ext>
            </a:extLst>
          </p:cNvPr>
          <p:cNvSpPr>
            <a:spLocks noGrp="1"/>
          </p:cNvSpPr>
          <p:nvPr>
            <p:ph type="chart" sz="quarter" idx="12"/>
          </p:nvPr>
        </p:nvSpPr>
        <p:spPr/>
        <p:txBody>
          <a:bodyPr/>
          <a:lstStyle/>
          <a:p>
            <a:endParaRPr lang="fi-FI"/>
          </a:p>
        </p:txBody>
      </p:sp>
      <p:sp>
        <p:nvSpPr>
          <p:cNvPr id="36" name="Chart Placeholder 35">
            <a:extLst>
              <a:ext uri="{FF2B5EF4-FFF2-40B4-BE49-F238E27FC236}">
                <a16:creationId xmlns:a16="http://schemas.microsoft.com/office/drawing/2014/main" id="{3B3358A9-ADD1-775E-DE5C-2A437E56E53E}"/>
              </a:ext>
            </a:extLst>
          </p:cNvPr>
          <p:cNvSpPr>
            <a:spLocks noGrp="1"/>
          </p:cNvSpPr>
          <p:nvPr>
            <p:ph type="chart" sz="quarter" idx="13"/>
          </p:nvPr>
        </p:nvSpPr>
        <p:spPr/>
        <p:txBody>
          <a:bodyPr/>
          <a:lstStyle/>
          <a:p>
            <a:endParaRPr lang="fi-FI"/>
          </a:p>
        </p:txBody>
      </p:sp>
      <p:sp>
        <p:nvSpPr>
          <p:cNvPr id="32" name="Text Placeholder 31">
            <a:extLst>
              <a:ext uri="{FF2B5EF4-FFF2-40B4-BE49-F238E27FC236}">
                <a16:creationId xmlns:a16="http://schemas.microsoft.com/office/drawing/2014/main" id="{67188667-C043-7FC6-0B48-F0045B59675F}"/>
              </a:ext>
            </a:extLst>
          </p:cNvPr>
          <p:cNvSpPr>
            <a:spLocks noGrp="1"/>
          </p:cNvSpPr>
          <p:nvPr>
            <p:ph type="body" sz="quarter" idx="11"/>
          </p:nvPr>
        </p:nvSpPr>
        <p:spPr/>
        <p:txBody>
          <a:bodyPr/>
          <a:lstStyle/>
          <a:p>
            <a:r>
              <a:rPr lang="fi-FI"/>
              <a:t>Adjusted income statement</a:t>
            </a:r>
          </a:p>
        </p:txBody>
      </p:sp>
      <p:sp>
        <p:nvSpPr>
          <p:cNvPr id="37" name="Text Placeholder 36">
            <a:extLst>
              <a:ext uri="{FF2B5EF4-FFF2-40B4-BE49-F238E27FC236}">
                <a16:creationId xmlns:a16="http://schemas.microsoft.com/office/drawing/2014/main" id="{B7138AE8-D087-80FF-5D07-DE1B910C4DA7}"/>
              </a:ext>
            </a:extLst>
          </p:cNvPr>
          <p:cNvSpPr>
            <a:spLocks noGrp="1"/>
          </p:cNvSpPr>
          <p:nvPr>
            <p:ph type="body" sz="quarter" idx="25"/>
          </p:nvPr>
        </p:nvSpPr>
        <p:spPr>
          <a:xfrm>
            <a:off x="995359" y="1179513"/>
            <a:ext cx="5036400" cy="252000"/>
          </a:xfrm>
        </p:spPr>
        <p:txBody>
          <a:bodyPr/>
          <a:lstStyle/>
          <a:p>
            <a:r>
              <a:rPr lang="fi-FI"/>
              <a:t>Quality of earnings summary</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5" name="Rectangle: Rounded Corners 84">
            <a:hlinkClick r:id="rId10" action="ppaction://hlinksldjump"/>
            <a:extLst>
              <a:ext uri="{FF2B5EF4-FFF2-40B4-BE49-F238E27FC236}">
                <a16:creationId xmlns:a16="http://schemas.microsoft.com/office/drawing/2014/main" id="{7C08350A-4EE7-45B0-8513-3427DC01DD31}"/>
              </a:ext>
            </a:extLst>
          </p:cNvPr>
          <p:cNvSpPr/>
          <p:nvPr/>
        </p:nvSpPr>
        <p:spPr>
          <a:xfrm>
            <a:off x="5313519"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6" name="Rectangle: Rounded Corners 85">
            <a:hlinkClick r:id="rId11" action="ppaction://hlinksldjump"/>
            <a:extLst>
              <a:ext uri="{FF2B5EF4-FFF2-40B4-BE49-F238E27FC236}">
                <a16:creationId xmlns:a16="http://schemas.microsoft.com/office/drawing/2014/main" id="{360D12C8-1842-45CF-82AF-1F164CF12920}"/>
              </a:ext>
            </a:extLst>
          </p:cNvPr>
          <p:cNvSpPr/>
          <p:nvPr/>
        </p:nvSpPr>
        <p:spPr>
          <a:xfrm>
            <a:off x="10478403"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0" name="Text Placeholder 7">
            <a:extLst>
              <a:ext uri="{FF2B5EF4-FFF2-40B4-BE49-F238E27FC236}">
                <a16:creationId xmlns:a16="http://schemas.microsoft.com/office/drawing/2014/main" id="{84A4F519-4750-D41C-E215-F48A888A922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11" name="Text Placeholder 12">
            <a:extLst>
              <a:ext uri="{FF2B5EF4-FFF2-40B4-BE49-F238E27FC236}">
                <a16:creationId xmlns:a16="http://schemas.microsoft.com/office/drawing/2014/main" id="{C7810D3E-911B-2FE4-C6D1-8C9C367E4162}"/>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2" name="Rounded Rectangle 7">
            <a:extLst>
              <a:ext uri="{FF2B5EF4-FFF2-40B4-BE49-F238E27FC236}">
                <a16:creationId xmlns:a16="http://schemas.microsoft.com/office/drawing/2014/main" id="{6D267081-5299-E4DB-8B69-ECB9DAB6F8C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6" name="Rectangle 15">
            <a:extLst>
              <a:ext uri="{FF2B5EF4-FFF2-40B4-BE49-F238E27FC236}">
                <a16:creationId xmlns:a16="http://schemas.microsoft.com/office/drawing/2014/main" id="{3C9FEBDB-7315-DDB5-5990-6E8CD52FFB6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89B46E51-4BD2-9D16-17B1-3FFFA6DB89C9}"/>
              </a:ext>
            </a:extLst>
          </p:cNvPr>
          <p:cNvCxnSpPr>
            <a:cxnSpLocks/>
            <a:stCxn id="16" idx="2"/>
            <a:endCxn id="12"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1AE0AD91-42BF-ECD2-C866-BA66CDA74626}"/>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UpSlide SubSection Marker" hidden="1">
            <a:extLst>
              <a:ext uri="{FF2B5EF4-FFF2-40B4-BE49-F238E27FC236}">
                <a16:creationId xmlns:a16="http://schemas.microsoft.com/office/drawing/2014/main" id="{C99A15ED-B8CC-3C8E-BAAD-3D0F8FA893F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Key findings</a:t>
            </a:r>
          </a:p>
        </p:txBody>
      </p:sp>
      <p:sp>
        <p:nvSpPr>
          <p:cNvPr id="2" name="Rectangle 1">
            <a:extLst>
              <a:ext uri="{FF2B5EF4-FFF2-40B4-BE49-F238E27FC236}">
                <a16:creationId xmlns:a16="http://schemas.microsoft.com/office/drawing/2014/main" id="{F8857333-D216-391E-77A8-70BE8CF10628}"/>
              </a:ext>
            </a:extLst>
          </p:cNvPr>
          <p:cNvSpPr/>
          <p:nvPr/>
        </p:nvSpPr>
        <p:spPr>
          <a:xfrm>
            <a:off x="1141200" y="7251894"/>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To include tables for QofE summary and adjusted IS:</a:t>
            </a:r>
          </a:p>
          <a:p>
            <a:pPr algn="ctr"/>
            <a:r>
              <a:rPr lang="en-US" sz="900" dirty="0">
                <a:solidFill>
                  <a:schemeClr val="bg1"/>
                </a:solidFill>
              </a:rPr>
              <a:t>- QofE summary: FY22-FY24 – start at reported EBITDA and summarize groupings (e.g. sell-side diligence adjs., sell-side PF adjs., challenges, potential, etc.)</a:t>
            </a:r>
          </a:p>
          <a:p>
            <a:pPr algn="ctr"/>
            <a:r>
              <a:rPr lang="en-US" sz="900" dirty="0">
                <a:solidFill>
                  <a:schemeClr val="bg1"/>
                </a:solidFill>
              </a:rPr>
              <a:t>- Adj IS: Summarized view – revenue – base &amp; bonus comms, payroll costs, other operating expenses, EBITDA, and KPIs – margins</a:t>
            </a:r>
          </a:p>
        </p:txBody>
      </p:sp>
      <p:sp>
        <p:nvSpPr>
          <p:cNvPr id="63" name="Text Placeholder 12">
            <a:extLst>
              <a:ext uri="{FF2B5EF4-FFF2-40B4-BE49-F238E27FC236}">
                <a16:creationId xmlns:a16="http://schemas.microsoft.com/office/drawing/2014/main" id="{45319E3D-D508-221B-D6FF-5DF5BDB2679C}"/>
              </a:ext>
            </a:extLst>
          </p:cNvPr>
          <p:cNvSpPr txBox="1">
            <a:spLocks/>
          </p:cNvSpPr>
          <p:nvPr/>
        </p:nvSpPr>
        <p:spPr>
          <a:xfrm>
            <a:off x="6196724" y="3305888"/>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22" name="Text Placeholder 32">
            <a:extLst>
              <a:ext uri="{FF2B5EF4-FFF2-40B4-BE49-F238E27FC236}">
                <a16:creationId xmlns:a16="http://schemas.microsoft.com/office/drawing/2014/main" id="{F559AC9D-8072-DBD7-CD74-9AD83F0A45A3}"/>
              </a:ext>
            </a:extLst>
          </p:cNvPr>
          <p:cNvSpPr>
            <a:spLocks noGrp="1"/>
          </p:cNvSpPr>
          <p:nvPr>
            <p:ph type="body" sz="quarter" idx="23"/>
          </p:nvPr>
        </p:nvSpPr>
        <p:spPr>
          <a:xfrm>
            <a:off x="809625" y="3370264"/>
            <a:ext cx="5368049" cy="3278185"/>
          </a:xfrm>
        </p:spPr>
        <p:txBody>
          <a:bodyPr/>
          <a:lstStyle/>
          <a:p>
            <a:pPr>
              <a:spcAft>
                <a:spcPts val="200"/>
              </a:spcAft>
              <a:defRPr/>
            </a:pPr>
            <a:r>
              <a:rPr lang="en-US" b="0" dirty="0">
                <a:solidFill>
                  <a:schemeClr val="tx1"/>
                </a:solidFill>
              </a:rPr>
              <a:t>Adjustments to reported EBITDA per our quality of earnings analysis are classified as follows:</a:t>
            </a:r>
          </a:p>
          <a:p>
            <a:pPr marL="171450" indent="-171450">
              <a:spcAft>
                <a:spcPts val="200"/>
              </a:spcAft>
              <a:buFont typeface="Arial" panose="020B0604020202020204" pitchFamily="34" charset="0"/>
              <a:buChar char="•"/>
              <a:defRPr/>
            </a:pPr>
            <a:r>
              <a:rPr lang="en-US" b="0" dirty="0">
                <a:solidFill>
                  <a:schemeClr val="tx1"/>
                </a:solidFill>
              </a:rPr>
              <a:t>Sell-side and pro forma sell-side diligence adjustments: Reflect the adjustments presented in the sell-side due diligence report prepared by EY, which include certain items designated as “non-recurring” in Management’s internal reporting (FY24: $5.2 million), and other adjustments identified through the sell-side due diligence process (FY24: $6.2 million).</a:t>
            </a:r>
          </a:p>
          <a:p>
            <a:pPr marL="171450" indent="-171450">
              <a:spcAft>
                <a:spcPts val="200"/>
              </a:spcAft>
              <a:buFont typeface="Arial" panose="020B0604020202020204" pitchFamily="34" charset="0"/>
              <a:buChar char="•"/>
              <a:defRPr/>
            </a:pPr>
            <a:r>
              <a:rPr lang="en-US" sz="1000" b="0" dirty="0">
                <a:solidFill>
                  <a:schemeClr val="tx1"/>
                </a:solidFill>
              </a:rPr>
              <a:t>Challenges to sell-side adjustments</a:t>
            </a:r>
            <a:r>
              <a:rPr lang="en-US" b="0" dirty="0">
                <a:solidFill>
                  <a:schemeClr val="tx1"/>
                </a:solidFill>
              </a:rPr>
              <a:t>: Comprise the reversal of certain adjustments presented in sell-side due diligence, totaling $5.5 million in FY24, in particular, certain sell-side expense add-backs which exhibit a recurring profile and are considered to be part of the Company’s normal operating cost base.</a:t>
            </a:r>
          </a:p>
          <a:p>
            <a:pPr marL="171450" indent="-171450">
              <a:spcAft>
                <a:spcPts val="200"/>
              </a:spcAft>
              <a:buFont typeface="Arial" panose="020B0604020202020204" pitchFamily="34" charset="0"/>
              <a:buChar char="•"/>
              <a:defRPr/>
            </a:pPr>
            <a:r>
              <a:rPr lang="en-US" sz="1000" b="0" dirty="0">
                <a:solidFill>
                  <a:schemeClr val="tx1"/>
                </a:solidFill>
              </a:rPr>
              <a:t>Other potential adjustments: Include additional items identified as part of our due diligence work, the most significant of which relate to the exclusion of override revenues ($4.1 million), and an </a:t>
            </a:r>
            <a:r>
              <a:rPr lang="en-US" b="0" dirty="0">
                <a:solidFill>
                  <a:schemeClr val="tx1"/>
                </a:solidFill>
              </a:rPr>
              <a:t>allocation of annual transaction costs to EBITDA (FY24: $1.2 million)</a:t>
            </a:r>
            <a:r>
              <a:rPr lang="en-US" sz="1000" b="0" dirty="0">
                <a:solidFill>
                  <a:schemeClr val="tx1"/>
                </a:solidFill>
              </a:rPr>
              <a:t>.</a:t>
            </a:r>
          </a:p>
          <a:p>
            <a:pPr marL="171450" indent="-171450">
              <a:spcAft>
                <a:spcPts val="200"/>
              </a:spcAft>
              <a:buFont typeface="Arial" panose="020B0604020202020204" pitchFamily="34" charset="0"/>
              <a:buChar char="•"/>
              <a:defRPr/>
            </a:pPr>
            <a:r>
              <a:rPr lang="en-US" b="0" dirty="0">
                <a:solidFill>
                  <a:schemeClr val="tx1"/>
                </a:solidFill>
              </a:rPr>
              <a:t>Pro forma adjustments: Present the estimated historical EBITDA impact of two acquisitions completed in 2025, mainly relating to BMB Assurances (FY24: $1.0 million).</a:t>
            </a:r>
            <a:endParaRPr lang="en-US" sz="1000" b="0" dirty="0">
              <a:solidFill>
                <a:schemeClr val="tx1"/>
              </a:solidFill>
            </a:endParaRPr>
          </a:p>
          <a:p>
            <a:pPr lvl="1" defTabSz="914377">
              <a:spcAft>
                <a:spcPts val="200"/>
              </a:spcAft>
              <a:defRPr/>
            </a:pPr>
            <a:r>
              <a:rPr lang="en-US" dirty="0"/>
              <a:t>While we have sought to capture costs associated with the operation of an inorganic growth focused enterprise in our presentation of adjusted EBITDA, there may be certain sell-side add-backs which have an M&amp;A component but could not be specifically isolated and hence reflected in our adjustment for an estimated recurring cost burden.</a:t>
            </a:r>
          </a:p>
        </p:txBody>
      </p:sp>
      <p:sp>
        <p:nvSpPr>
          <p:cNvPr id="3" name="Text Placeholder 12">
            <a:extLst>
              <a:ext uri="{FF2B5EF4-FFF2-40B4-BE49-F238E27FC236}">
                <a16:creationId xmlns:a16="http://schemas.microsoft.com/office/drawing/2014/main" id="{816A0A97-B0B9-5497-B762-33A786238F61}"/>
              </a:ext>
            </a:extLst>
          </p:cNvPr>
          <p:cNvSpPr txBox="1">
            <a:spLocks/>
          </p:cNvSpPr>
          <p:nvPr/>
        </p:nvSpPr>
        <p:spPr>
          <a:xfrm>
            <a:off x="1004884" y="3286970"/>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6" name="Picture 5">
            <a:extLst>
              <a:ext uri="{FF2B5EF4-FFF2-40B4-BE49-F238E27FC236}">
                <a16:creationId xmlns:a16="http://schemas.microsoft.com/office/drawing/2014/main" id="{C6EF7EAB-B239-AAA6-8A2D-695B7DDAA2C9}"/>
              </a:ext>
            </a:extLst>
          </p:cNvPr>
          <p:cNvPicPr>
            <a:picLocks noChangeAspect="1"/>
          </p:cNvPicPr>
          <p:nvPr>
            <p:custDataLst>
              <p:tags r:id="rId4"/>
            </p:custDataLst>
          </p:nvPr>
        </p:nvPicPr>
        <p:blipFill>
          <a:blip r:embed="rId12"/>
          <a:stretch>
            <a:fillRect/>
          </a:stretch>
        </p:blipFill>
        <p:spPr>
          <a:xfrm>
            <a:off x="995357" y="1430830"/>
            <a:ext cx="5054601" cy="1846928"/>
          </a:xfrm>
          <a:prstGeom prst="rect">
            <a:avLst/>
          </a:prstGeom>
        </p:spPr>
      </p:pic>
      <p:pic>
        <p:nvPicPr>
          <p:cNvPr id="17" name="Picture 16">
            <a:extLst>
              <a:ext uri="{FF2B5EF4-FFF2-40B4-BE49-F238E27FC236}">
                <a16:creationId xmlns:a16="http://schemas.microsoft.com/office/drawing/2014/main" id="{87425EA4-6EB4-A33E-1113-D53EF7BC8547}"/>
              </a:ext>
            </a:extLst>
          </p:cNvPr>
          <p:cNvPicPr>
            <a:picLocks noChangeAspect="1"/>
          </p:cNvPicPr>
          <p:nvPr>
            <p:custDataLst>
              <p:tags r:id="rId5"/>
            </p:custDataLst>
          </p:nvPr>
        </p:nvPicPr>
        <p:blipFill>
          <a:blip r:embed="rId13"/>
          <a:stretch>
            <a:fillRect/>
          </a:stretch>
        </p:blipFill>
        <p:spPr>
          <a:xfrm>
            <a:off x="6160243" y="1430830"/>
            <a:ext cx="5036398" cy="1858623"/>
          </a:xfrm>
          <a:prstGeom prst="rect">
            <a:avLst/>
          </a:prstGeom>
        </p:spPr>
      </p:pic>
      <p:grpSp>
        <p:nvGrpSpPr>
          <p:cNvPr id="29" name="Group 28">
            <a:extLst>
              <a:ext uri="{FF2B5EF4-FFF2-40B4-BE49-F238E27FC236}">
                <a16:creationId xmlns:a16="http://schemas.microsoft.com/office/drawing/2014/main" id="{D14FFD9B-E8F2-5181-DDD0-C3245B51EFD4}"/>
              </a:ext>
            </a:extLst>
          </p:cNvPr>
          <p:cNvGrpSpPr/>
          <p:nvPr>
            <p:custDataLst>
              <p:tags r:id="rId6"/>
            </p:custDataLst>
          </p:nvPr>
        </p:nvGrpSpPr>
        <p:grpSpPr>
          <a:xfrm>
            <a:off x="995364" y="153170"/>
            <a:ext cx="5024685" cy="195814"/>
            <a:chOff x="995364" y="153170"/>
            <a:chExt cx="5024685" cy="195814"/>
          </a:xfrm>
        </p:grpSpPr>
        <p:sp>
          <p:nvSpPr>
            <p:cNvPr id="30" name="Current Section1">
              <a:hlinkClick r:id="rId14"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31"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3"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3726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268EF1A0-4914-84A3-7A1D-D4CFE6C4F0CB}"/>
              </a:ext>
            </a:extLst>
          </p:cNvPr>
          <p:cNvGraphicFramePr>
            <a:graphicFrameLocks/>
          </p:cNvGraphicFramePr>
          <p:nvPr>
            <p:extLst>
              <p:ext uri="{D42A27DB-BD31-4B8C-83A1-F6EECF244321}">
                <p14:modId xmlns:p14="http://schemas.microsoft.com/office/powerpoint/2010/main" val="807236242"/>
              </p:ext>
            </p:extLst>
          </p:nvPr>
        </p:nvGraphicFramePr>
        <p:xfrm>
          <a:off x="819150" y="1439965"/>
          <a:ext cx="5177773" cy="2382735"/>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 Placeholder 33">
            <a:extLst>
              <a:ext uri="{FF2B5EF4-FFF2-40B4-BE49-F238E27FC236}">
                <a16:creationId xmlns:a16="http://schemas.microsoft.com/office/drawing/2014/main" id="{A0F49258-4A47-7D2C-A9F1-0E0199E00A30}"/>
              </a:ext>
            </a:extLst>
          </p:cNvPr>
          <p:cNvSpPr>
            <a:spLocks noGrp="1"/>
          </p:cNvSpPr>
          <p:nvPr>
            <p:ph type="body" sz="quarter" idx="24"/>
          </p:nvPr>
        </p:nvSpPr>
        <p:spPr>
          <a:xfrm>
            <a:off x="6151550" y="3534514"/>
            <a:ext cx="5036400" cy="2610779"/>
          </a:xfrm>
        </p:spPr>
        <p:txBody>
          <a:bodyPr/>
          <a:lstStyle/>
          <a:p>
            <a:pPr>
              <a:spcAft>
                <a:spcPts val="300"/>
              </a:spcAft>
              <a:defRPr/>
            </a:pPr>
            <a:r>
              <a:rPr lang="en-US" b="0" dirty="0">
                <a:solidFill>
                  <a:schemeClr val="tx1"/>
                </a:solidFill>
              </a:rPr>
              <a:t>Despite demonstrating year-on-year increase between FY22 and FY23 of 34.6% (mainly as a result of acquisitions), group benefits base commission income delivered limited annual growth in FY24 (+0.4%), partly as a result of client churn in some larger accounts.</a:t>
            </a:r>
          </a:p>
          <a:p>
            <a:pPr>
              <a:spcAft>
                <a:spcPts val="300"/>
              </a:spcAft>
              <a:defRPr/>
            </a:pPr>
            <a:r>
              <a:rPr lang="en-US" b="0" dirty="0">
                <a:solidFill>
                  <a:schemeClr val="tx1"/>
                </a:solidFill>
              </a:rPr>
              <a:t>We understand base commission revenue associated with group benefits is recognized at inception of the policy regardless of policy term, with any true-ups for participant coverage selections or membership population at the end of the policy term recognized out-of-period. Management indicated that the historical quantum of out-of-period commission true-ups associated with group benefits plans was not significant but could not provide supporting documentation to verify this assertion.</a:t>
            </a:r>
          </a:p>
          <a:p>
            <a:pPr>
              <a:spcAft>
                <a:spcPts val="300"/>
              </a:spcAft>
              <a:defRPr/>
            </a:pPr>
            <a:r>
              <a:rPr lang="en-US" b="0" dirty="0">
                <a:solidFill>
                  <a:schemeClr val="tx1"/>
                </a:solidFill>
              </a:rPr>
              <a:t>Management represents that group benefits commission has historically been higher in October in each year, coinciding with the renewal dates of a large pool of clients in ZLC. </a:t>
            </a:r>
          </a:p>
          <a:p>
            <a:pPr>
              <a:spcAft>
                <a:spcPts val="300"/>
              </a:spcAft>
              <a:defRPr/>
            </a:pPr>
            <a:r>
              <a:rPr lang="en-US" b="0" dirty="0">
                <a:solidFill>
                  <a:schemeClr val="tx1"/>
                </a:solidFill>
              </a:rPr>
              <a:t>We note current limitations in the Company’s capacity to generate a comprehensive  database of group benefits information across all operating companies on a consistent basis. The sell-side due diligence did not appear to perform any meaningful work over historical trends in the Company’s group benefits portfolio.</a:t>
            </a:r>
          </a:p>
        </p:txBody>
      </p:sp>
      <p:sp>
        <p:nvSpPr>
          <p:cNvPr id="22" name="Text Placeholder 32">
            <a:extLst>
              <a:ext uri="{FF2B5EF4-FFF2-40B4-BE49-F238E27FC236}">
                <a16:creationId xmlns:a16="http://schemas.microsoft.com/office/drawing/2014/main" id="{F674420D-D322-28EC-0495-1AB89E54A7E7}"/>
              </a:ext>
            </a:extLst>
          </p:cNvPr>
          <p:cNvSpPr>
            <a:spLocks noGrp="1"/>
          </p:cNvSpPr>
          <p:nvPr>
            <p:ph type="body" sz="quarter" idx="23"/>
          </p:nvPr>
        </p:nvSpPr>
        <p:spPr>
          <a:xfrm>
            <a:off x="960523" y="3524769"/>
            <a:ext cx="5036400" cy="2872856"/>
          </a:xfrm>
        </p:spPr>
        <p:txBody>
          <a:bodyPr/>
          <a:lstStyle/>
          <a:p>
            <a:pPr>
              <a:spcAft>
                <a:spcPts val="300"/>
              </a:spcAft>
              <a:defRPr/>
            </a:pPr>
            <a:r>
              <a:rPr lang="en-US" b="0" dirty="0">
                <a:solidFill>
                  <a:schemeClr val="tx1"/>
                </a:solidFill>
              </a:rPr>
              <a:t>Base commissions generated in P&amp;C brokerage increased at a CAGR of 14.3% over the Historical Period, driven by a combination of:</a:t>
            </a:r>
          </a:p>
          <a:p>
            <a:pPr marL="171450" indent="-171450">
              <a:spcAft>
                <a:spcPts val="300"/>
              </a:spcAft>
              <a:buFont typeface="Arial" panose="020B0604020202020204" pitchFamily="34" charset="0"/>
              <a:buChar char="•"/>
              <a:defRPr/>
            </a:pPr>
            <a:r>
              <a:rPr lang="en-US" b="0" dirty="0">
                <a:solidFill>
                  <a:schemeClr val="tx1"/>
                </a:solidFill>
              </a:rPr>
              <a:t>business acquisitions, most notably between FY22 and FY23 when 13 acquisitions approx. $10.0 million of total $15.0 million year-on-year revenue upside; and</a:t>
            </a:r>
          </a:p>
          <a:p>
            <a:pPr marL="171450" indent="-171450">
              <a:spcAft>
                <a:spcPts val="300"/>
              </a:spcAft>
              <a:buFont typeface="Arial" panose="020B0604020202020204" pitchFamily="34" charset="0"/>
              <a:buChar char="•"/>
              <a:defRPr/>
            </a:pPr>
            <a:r>
              <a:rPr lang="en-US" b="0" dirty="0">
                <a:solidFill>
                  <a:schemeClr val="tx1"/>
                </a:solidFill>
              </a:rPr>
              <a:t>increase in net new clients and policy pricing growth, although the contribution of each has not been specifically split in this report. </a:t>
            </a:r>
          </a:p>
          <a:p>
            <a:pPr>
              <a:spcAft>
                <a:spcPts val="300"/>
              </a:spcAft>
              <a:defRPr/>
            </a:pPr>
            <a:r>
              <a:rPr lang="en-US" b="0" dirty="0">
                <a:solidFill>
                  <a:schemeClr val="tx1"/>
                </a:solidFill>
              </a:rPr>
              <a:t>Average commission rates have remained largely static from FY22 through FY24 at approx. 15.7% to 15.8% despite some changes in carrier mix and variations in the composition of policies sold each year. Businesses acquired during FY22 generally outperformed pre-existing P&amp;C operations in subsequent periods, indicative of realization of revenue synergies and efficiencies implemented post-integration.</a:t>
            </a:r>
          </a:p>
          <a:p>
            <a:pPr>
              <a:spcAft>
                <a:spcPts val="300"/>
              </a:spcAft>
              <a:defRPr/>
            </a:pPr>
            <a:r>
              <a:rPr lang="en-US" b="0" dirty="0">
                <a:solidFill>
                  <a:schemeClr val="tx1"/>
                </a:solidFill>
              </a:rPr>
              <a:t>P&amp;C base commissions have historically exhibited distinct seasonality driven by commercial policy renewals arising </a:t>
            </a:r>
            <a:r>
              <a:rPr lang="en-US" b="0">
                <a:solidFill>
                  <a:schemeClr val="tx1"/>
                </a:solidFill>
              </a:rPr>
              <a:t>substantially along calendar quarter-ends</a:t>
            </a:r>
            <a:r>
              <a:rPr lang="en-US" b="0" dirty="0">
                <a:solidFill>
                  <a:schemeClr val="tx1"/>
                </a:solidFill>
              </a:rPr>
              <a:t>, with sales of personal insurance products concentrated in the April to June period. </a:t>
            </a:r>
          </a:p>
          <a:p>
            <a:pPr>
              <a:spcAft>
                <a:spcPts val="300"/>
              </a:spcAft>
              <a:defRPr/>
            </a:pPr>
            <a:endParaRPr lang="en-US" b="0" dirty="0">
              <a:solidFill>
                <a:schemeClr val="tx1"/>
              </a:solidFill>
            </a:endParaRPr>
          </a:p>
          <a:p>
            <a:pPr>
              <a:spcAft>
                <a:spcPts val="300"/>
              </a:spcAft>
              <a:defRPr/>
            </a:pPr>
            <a:endParaRPr lang="en-US" b="0" dirty="0">
              <a:solidFill>
                <a:schemeClr val="tx1"/>
              </a:solidFill>
            </a:endParaRPr>
          </a:p>
        </p:txBody>
      </p:sp>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vert="horz"/>
          <a:lstStyle/>
          <a:p>
            <a:r>
              <a:rPr lang="en-US" dirty="0"/>
              <a:t>Key findings — Base commissions</a:t>
            </a:r>
          </a:p>
        </p:txBody>
      </p:sp>
      <p:sp>
        <p:nvSpPr>
          <p:cNvPr id="32" name="Text Placeholder 31">
            <a:extLst>
              <a:ext uri="{FF2B5EF4-FFF2-40B4-BE49-F238E27FC236}">
                <a16:creationId xmlns:a16="http://schemas.microsoft.com/office/drawing/2014/main" id="{67188667-C043-7FC6-0B48-F0045B59675F}"/>
              </a:ext>
            </a:extLst>
          </p:cNvPr>
          <p:cNvSpPr>
            <a:spLocks noGrp="1"/>
          </p:cNvSpPr>
          <p:nvPr>
            <p:ph type="body" sz="quarter" idx="11"/>
          </p:nvPr>
        </p:nvSpPr>
        <p:spPr/>
        <p:txBody>
          <a:bodyPr/>
          <a:lstStyle/>
          <a:p>
            <a:r>
              <a:rPr lang="fi-FI"/>
              <a:t>Group benefits revenue – Reported</a:t>
            </a:r>
          </a:p>
        </p:txBody>
      </p:sp>
      <p:sp>
        <p:nvSpPr>
          <p:cNvPr id="37" name="Text Placeholder 36">
            <a:extLst>
              <a:ext uri="{FF2B5EF4-FFF2-40B4-BE49-F238E27FC236}">
                <a16:creationId xmlns:a16="http://schemas.microsoft.com/office/drawing/2014/main" id="{B7138AE8-D087-80FF-5D07-DE1B910C4DA7}"/>
              </a:ext>
            </a:extLst>
          </p:cNvPr>
          <p:cNvSpPr>
            <a:spLocks noGrp="1"/>
          </p:cNvSpPr>
          <p:nvPr>
            <p:ph type="body" sz="quarter" idx="25"/>
          </p:nvPr>
        </p:nvSpPr>
        <p:spPr>
          <a:xfrm>
            <a:off x="995359" y="1179513"/>
            <a:ext cx="5036400" cy="252000"/>
          </a:xfrm>
        </p:spPr>
        <p:txBody>
          <a:bodyPr/>
          <a:lstStyle/>
          <a:p>
            <a:r>
              <a:rPr lang="fi-FI"/>
              <a:t>Net commission revenue (P&amp;C) – Reported</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5" name="Rectangle: Rounded Corners 84">
            <a:hlinkClick r:id="rId9" action="ppaction://hlinksldjump"/>
            <a:extLst>
              <a:ext uri="{FF2B5EF4-FFF2-40B4-BE49-F238E27FC236}">
                <a16:creationId xmlns:a16="http://schemas.microsoft.com/office/drawing/2014/main" id="{7C08350A-4EE7-45B0-8513-3427DC01DD31}"/>
              </a:ext>
            </a:extLst>
          </p:cNvPr>
          <p:cNvSpPr/>
          <p:nvPr/>
        </p:nvSpPr>
        <p:spPr>
          <a:xfrm>
            <a:off x="5313519"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6" name="Rectangle: Rounded Corners 85">
            <a:hlinkClick r:id="rId9" action="ppaction://hlinksldjump"/>
            <a:extLst>
              <a:ext uri="{FF2B5EF4-FFF2-40B4-BE49-F238E27FC236}">
                <a16:creationId xmlns:a16="http://schemas.microsoft.com/office/drawing/2014/main" id="{360D12C8-1842-45CF-82AF-1F164CF12920}"/>
              </a:ext>
            </a:extLst>
          </p:cNvPr>
          <p:cNvSpPr/>
          <p:nvPr/>
        </p:nvSpPr>
        <p:spPr>
          <a:xfrm>
            <a:off x="10478403"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0" name="Text Placeholder 7">
            <a:extLst>
              <a:ext uri="{FF2B5EF4-FFF2-40B4-BE49-F238E27FC236}">
                <a16:creationId xmlns:a16="http://schemas.microsoft.com/office/drawing/2014/main" id="{84A4F519-4750-D41C-E215-F48A888A922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11" name="Text Placeholder 12">
            <a:extLst>
              <a:ext uri="{FF2B5EF4-FFF2-40B4-BE49-F238E27FC236}">
                <a16:creationId xmlns:a16="http://schemas.microsoft.com/office/drawing/2014/main" id="{C7810D3E-911B-2FE4-C6D1-8C9C367E4162}"/>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2" name="Rounded Rectangle 7">
            <a:extLst>
              <a:ext uri="{FF2B5EF4-FFF2-40B4-BE49-F238E27FC236}">
                <a16:creationId xmlns:a16="http://schemas.microsoft.com/office/drawing/2014/main" id="{6D267081-5299-E4DB-8B69-ECB9DAB6F8C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6" name="Rectangle 15">
            <a:extLst>
              <a:ext uri="{FF2B5EF4-FFF2-40B4-BE49-F238E27FC236}">
                <a16:creationId xmlns:a16="http://schemas.microsoft.com/office/drawing/2014/main" id="{3C9FEBDB-7315-DDB5-5990-6E8CD52FFB6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89B46E51-4BD2-9D16-17B1-3FFFA6DB89C9}"/>
              </a:ext>
            </a:extLst>
          </p:cNvPr>
          <p:cNvCxnSpPr>
            <a:cxnSpLocks/>
            <a:stCxn id="16" idx="2"/>
            <a:endCxn id="12"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1AE0AD91-42BF-ECD2-C866-BA66CDA74626}"/>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UpSlide SubSection Marker" hidden="1">
            <a:extLst>
              <a:ext uri="{FF2B5EF4-FFF2-40B4-BE49-F238E27FC236}">
                <a16:creationId xmlns:a16="http://schemas.microsoft.com/office/drawing/2014/main" id="{C99A15ED-B8CC-3C8E-BAAD-3D0F8FA893F9}"/>
              </a:ext>
            </a:extLst>
          </p:cNvPr>
          <p:cNvSpPr/>
          <p:nvPr>
            <p:custDataLst>
              <p:tags r:id="rId3"/>
            </p:custDataLst>
          </p:nvPr>
        </p:nvSpPr>
        <p:spPr>
          <a:xfrm rot="10800000" flipV="1">
            <a:off x="86282" y="1926000"/>
            <a:ext cx="4118978"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Key findings</a:t>
            </a:r>
          </a:p>
        </p:txBody>
      </p:sp>
      <p:sp>
        <p:nvSpPr>
          <p:cNvPr id="2" name="Rectangle 1">
            <a:extLst>
              <a:ext uri="{FF2B5EF4-FFF2-40B4-BE49-F238E27FC236}">
                <a16:creationId xmlns:a16="http://schemas.microsoft.com/office/drawing/2014/main" id="{F8857333-D216-391E-77A8-70BE8CF10628}"/>
              </a:ext>
            </a:extLst>
          </p:cNvPr>
          <p:cNvSpPr/>
          <p:nvPr/>
        </p:nvSpPr>
        <p:spPr>
          <a:xfrm>
            <a:off x="7750192" y="7145429"/>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Split P&amp;C vs. group bens; seasonality YoY; accounting policies; trends / drivers</a:t>
            </a:r>
          </a:p>
          <a:p>
            <a:pPr algn="ctr"/>
            <a:r>
              <a:rPr lang="en-US" sz="900" dirty="0">
                <a:solidFill>
                  <a:schemeClr val="bg1"/>
                </a:solidFill>
              </a:rPr>
              <a:t>Ref producer comms: %s, policies, and trends</a:t>
            </a:r>
          </a:p>
        </p:txBody>
      </p:sp>
      <p:graphicFrame>
        <p:nvGraphicFramePr>
          <p:cNvPr id="9" name="Chart 8">
            <a:extLst>
              <a:ext uri="{FF2B5EF4-FFF2-40B4-BE49-F238E27FC236}">
                <a16:creationId xmlns:a16="http://schemas.microsoft.com/office/drawing/2014/main" id="{99F0B095-04ED-4FC2-8D19-9EF2E496B2F6}"/>
              </a:ext>
            </a:extLst>
          </p:cNvPr>
          <p:cNvGraphicFramePr>
            <a:graphicFrameLocks/>
          </p:cNvGraphicFramePr>
          <p:nvPr>
            <p:extLst>
              <p:ext uri="{D42A27DB-BD31-4B8C-83A1-F6EECF244321}">
                <p14:modId xmlns:p14="http://schemas.microsoft.com/office/powerpoint/2010/main" val="1493445787"/>
              </p:ext>
            </p:extLst>
          </p:nvPr>
        </p:nvGraphicFramePr>
        <p:xfrm>
          <a:off x="6243145" y="1280490"/>
          <a:ext cx="4918662" cy="2061091"/>
        </p:xfrm>
        <a:graphic>
          <a:graphicData uri="http://schemas.openxmlformats.org/drawingml/2006/chart">
            <c:chart xmlns:c="http://schemas.openxmlformats.org/drawingml/2006/chart" xmlns:r="http://schemas.openxmlformats.org/officeDocument/2006/relationships" r:id="rId10"/>
          </a:graphicData>
        </a:graphic>
      </p:graphicFrame>
      <p:sp>
        <p:nvSpPr>
          <p:cNvPr id="26" name="Text Placeholder 12">
            <a:extLst>
              <a:ext uri="{FF2B5EF4-FFF2-40B4-BE49-F238E27FC236}">
                <a16:creationId xmlns:a16="http://schemas.microsoft.com/office/drawing/2014/main" id="{36D51193-BC13-8CAF-FC94-FB93714BC19C}"/>
              </a:ext>
            </a:extLst>
          </p:cNvPr>
          <p:cNvSpPr txBox="1">
            <a:spLocks/>
          </p:cNvSpPr>
          <p:nvPr/>
        </p:nvSpPr>
        <p:spPr>
          <a:xfrm rot="10800000" flipV="1">
            <a:off x="1097352" y="3382395"/>
            <a:ext cx="4038909"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0"/>
              </a:spcAft>
            </a:pPr>
            <a:r>
              <a:rPr lang="en-US" sz="600" b="0" dirty="0">
                <a:solidFill>
                  <a:schemeClr val="tx2"/>
                </a:solidFill>
                <a:latin typeface="Arial" panose="020B0604020202020204" pitchFamily="34" charset="0"/>
                <a:cs typeface="Arial" panose="020B0604020202020204" pitchFamily="34" charset="0"/>
                <a:sym typeface="Arial" panose="020B0604020202020204" pitchFamily="34" charset="0"/>
              </a:rPr>
              <a:t>Source: Management provided information, KPMG analysis</a:t>
            </a:r>
          </a:p>
          <a:p>
            <a:pPr>
              <a:spcAft>
                <a:spcPts val="0"/>
              </a:spcAft>
            </a:pPr>
            <a:endParaRPr lang="en-US" sz="600" b="0" dirty="0">
              <a:solidFill>
                <a:schemeClr val="tx2"/>
              </a:solidFill>
              <a:latin typeface="Arial" panose="020B0604020202020204" pitchFamily="34" charset="0"/>
            </a:endParaRPr>
          </a:p>
        </p:txBody>
      </p:sp>
      <p:graphicFrame>
        <p:nvGraphicFramePr>
          <p:cNvPr id="6" name="Chart 5">
            <a:extLst>
              <a:ext uri="{FF2B5EF4-FFF2-40B4-BE49-F238E27FC236}">
                <a16:creationId xmlns:a16="http://schemas.microsoft.com/office/drawing/2014/main" id="{FA920724-9645-238F-8375-D6186042D907}"/>
              </a:ext>
            </a:extLst>
          </p:cNvPr>
          <p:cNvGraphicFramePr>
            <a:graphicFrameLocks/>
          </p:cNvGraphicFramePr>
          <p:nvPr>
            <p:extLst>
              <p:ext uri="{D42A27DB-BD31-4B8C-83A1-F6EECF244321}">
                <p14:modId xmlns:p14="http://schemas.microsoft.com/office/powerpoint/2010/main" val="2590024127"/>
              </p:ext>
            </p:extLst>
          </p:nvPr>
        </p:nvGraphicFramePr>
        <p:xfrm>
          <a:off x="5988198" y="1411403"/>
          <a:ext cx="5191027" cy="2177099"/>
        </p:xfrm>
        <a:graphic>
          <a:graphicData uri="http://schemas.openxmlformats.org/drawingml/2006/chart">
            <c:chart xmlns:c="http://schemas.openxmlformats.org/drawingml/2006/chart" xmlns:r="http://schemas.openxmlformats.org/officeDocument/2006/relationships" r:id="rId11"/>
          </a:graphicData>
        </a:graphic>
      </p:graphicFrame>
      <p:sp>
        <p:nvSpPr>
          <p:cNvPr id="21" name="Text Placeholder 12">
            <a:extLst>
              <a:ext uri="{FF2B5EF4-FFF2-40B4-BE49-F238E27FC236}">
                <a16:creationId xmlns:a16="http://schemas.microsoft.com/office/drawing/2014/main" id="{B20B6AC6-EDCD-BFB0-14E5-601BE966A5F2}"/>
              </a:ext>
            </a:extLst>
          </p:cNvPr>
          <p:cNvSpPr txBox="1">
            <a:spLocks/>
          </p:cNvSpPr>
          <p:nvPr/>
        </p:nvSpPr>
        <p:spPr>
          <a:xfrm rot="10800000" flipV="1">
            <a:off x="6489625" y="3382396"/>
            <a:ext cx="4038909"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0"/>
              </a:spcAft>
            </a:pPr>
            <a:r>
              <a:rPr lang="en-US" sz="600" b="0" dirty="0">
                <a:solidFill>
                  <a:schemeClr val="tx2"/>
                </a:solidFill>
                <a:latin typeface="Arial" panose="020B0604020202020204" pitchFamily="34" charset="0"/>
                <a:cs typeface="Arial" panose="020B0604020202020204" pitchFamily="34" charset="0"/>
                <a:sym typeface="Arial" panose="020B0604020202020204" pitchFamily="34" charset="0"/>
              </a:rPr>
              <a:t>Source: Management provided information, KPMG analysis</a:t>
            </a:r>
          </a:p>
          <a:p>
            <a:pPr>
              <a:spcAft>
                <a:spcPts val="0"/>
              </a:spcAft>
            </a:pPr>
            <a:endParaRPr lang="en-US" sz="600" b="0" dirty="0">
              <a:solidFill>
                <a:schemeClr val="tx2"/>
              </a:solidFill>
              <a:latin typeface="Arial" panose="020B0604020202020204" pitchFamily="34" charset="0"/>
            </a:endParaRPr>
          </a:p>
        </p:txBody>
      </p:sp>
      <p:grpSp>
        <p:nvGrpSpPr>
          <p:cNvPr id="33" name="Group 32">
            <a:extLst>
              <a:ext uri="{FF2B5EF4-FFF2-40B4-BE49-F238E27FC236}">
                <a16:creationId xmlns:a16="http://schemas.microsoft.com/office/drawing/2014/main" id="{D14FFD9B-E8F2-5181-DDD0-C3245B51EFD4}"/>
              </a:ext>
            </a:extLst>
          </p:cNvPr>
          <p:cNvGrpSpPr/>
          <p:nvPr>
            <p:custDataLst>
              <p:tags r:id="rId4"/>
            </p:custDataLst>
          </p:nvPr>
        </p:nvGrpSpPr>
        <p:grpSpPr>
          <a:xfrm>
            <a:off x="995364" y="153170"/>
            <a:ext cx="5024685" cy="195814"/>
            <a:chOff x="995364" y="153170"/>
            <a:chExt cx="5024685" cy="195814"/>
          </a:xfrm>
        </p:grpSpPr>
        <p:sp>
          <p:nvSpPr>
            <p:cNvPr id="34" name="Current Section1">
              <a:hlinkClick r:id="rId12"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35"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8"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78556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32">
            <a:extLst>
              <a:ext uri="{FF2B5EF4-FFF2-40B4-BE49-F238E27FC236}">
                <a16:creationId xmlns:a16="http://schemas.microsoft.com/office/drawing/2014/main" id="{C2B515D5-BAB7-9004-7BBB-974F6FA6F6A0}"/>
              </a:ext>
            </a:extLst>
          </p:cNvPr>
          <p:cNvSpPr>
            <a:spLocks noGrp="1"/>
          </p:cNvSpPr>
          <p:nvPr>
            <p:ph type="body" sz="quarter" idx="23"/>
          </p:nvPr>
        </p:nvSpPr>
        <p:spPr>
          <a:xfrm>
            <a:off x="995359" y="3352516"/>
            <a:ext cx="5036400" cy="2789607"/>
          </a:xfrm>
        </p:spPr>
        <p:txBody>
          <a:bodyPr/>
          <a:lstStyle/>
          <a:p>
            <a:pPr>
              <a:spcAft>
                <a:spcPts val="300"/>
              </a:spcAft>
              <a:defRPr/>
            </a:pPr>
            <a:r>
              <a:rPr lang="en-US" b="0" dirty="0">
                <a:solidFill>
                  <a:schemeClr val="tx1"/>
                </a:solidFill>
              </a:rPr>
              <a:t>CPC commissions are generated from the Company’s insurance carrier partners based on specific performance metrics which consider production volume, new business development, loss ratios on policies sold, among other factors. Overall, CPC revenues trended lower in FY23 relative to FY22, mainly as a result of higher losses incurred by carriers across the market which normalized through FY24.</a:t>
            </a:r>
          </a:p>
          <a:p>
            <a:pPr>
              <a:spcAft>
                <a:spcPts val="300"/>
              </a:spcAft>
              <a:defRPr/>
            </a:pPr>
            <a:r>
              <a:rPr lang="en-US" b="0">
                <a:solidFill>
                  <a:schemeClr val="tx1"/>
                </a:solidFill>
              </a:rPr>
              <a:t>Management estimates and accrues </a:t>
            </a:r>
            <a:r>
              <a:rPr lang="en-US" b="0" dirty="0">
                <a:solidFill>
                  <a:schemeClr val="tx1"/>
                </a:solidFill>
              </a:rPr>
              <a:t>CPC commissions in the P&amp;C business through the calendar year</a:t>
            </a:r>
            <a:r>
              <a:rPr lang="en-US" b="0">
                <a:solidFill>
                  <a:schemeClr val="tx1"/>
                </a:solidFill>
              </a:rPr>
              <a:t>, with collection</a:t>
            </a:r>
            <a:r>
              <a:rPr lang="en-US" b="0" dirty="0">
                <a:solidFill>
                  <a:schemeClr val="tx1"/>
                </a:solidFill>
              </a:rPr>
              <a:t> in March / April of each subsequent period once computations are finalized by carriers. Revenue has historically been subject to periodic true-up during the fiscal year as visibility over the full year amount becomes available, with a final adjustment recognized at year end to align CPC revenue with amounts confirmed by carriers. CPC income recorded for FY24 reflects Management’s forecast bonuses for the 2024 risk year, with in excess of 85% confirmed with carriers at the time of reporting. </a:t>
            </a:r>
          </a:p>
          <a:p>
            <a:pPr>
              <a:spcAft>
                <a:spcPts val="300"/>
              </a:spcAft>
              <a:defRPr/>
            </a:pPr>
            <a:r>
              <a:rPr lang="en-US" b="0" dirty="0">
                <a:solidFill>
                  <a:schemeClr val="tx1"/>
                </a:solidFill>
              </a:rPr>
              <a:t>Group benefits bonus commissions exhibited more stable year-on-year growth through the Historical Period, underpinned by gains from incremental volume contributed in FY23 from previous year acquisitions, alongside a catch-up $0.2 million bonus in FY24 related to </a:t>
            </a:r>
            <a:r>
              <a:rPr lang="en-US" b="0">
                <a:solidFill>
                  <a:schemeClr val="tx1"/>
                </a:solidFill>
              </a:rPr>
              <a:t>FY23</a:t>
            </a:r>
            <a:r>
              <a:rPr lang="en-US" b="0" dirty="0">
                <a:solidFill>
                  <a:schemeClr val="tx1"/>
                </a:solidFill>
              </a:rPr>
              <a:t>. </a:t>
            </a:r>
          </a:p>
          <a:p>
            <a:pPr>
              <a:spcAft>
                <a:spcPts val="300"/>
              </a:spcAft>
              <a:defRPr/>
            </a:pPr>
            <a:endParaRPr lang="en-US" b="0" dirty="0">
              <a:solidFill>
                <a:schemeClr val="tx1"/>
              </a:solidFill>
            </a:endParaRPr>
          </a:p>
        </p:txBody>
      </p:sp>
      <p:sp>
        <p:nvSpPr>
          <p:cNvPr id="15" name="Title 14">
            <a:extLst>
              <a:ext uri="{FF2B5EF4-FFF2-40B4-BE49-F238E27FC236}">
                <a16:creationId xmlns:a16="http://schemas.microsoft.com/office/drawing/2014/main" id="{AFF9D3A8-E8C6-4E53-AD90-84B8F7AF03AA}"/>
              </a:ext>
            </a:extLst>
          </p:cNvPr>
          <p:cNvSpPr>
            <a:spLocks noGrp="1"/>
          </p:cNvSpPr>
          <p:nvPr>
            <p:ph type="title"/>
          </p:nvPr>
        </p:nvSpPr>
        <p:spPr/>
        <p:txBody>
          <a:bodyPr vert="horz"/>
          <a:lstStyle/>
          <a:p>
            <a:r>
              <a:rPr lang="en-US" dirty="0"/>
              <a:t>Key findings — CPC income and overrides</a:t>
            </a:r>
          </a:p>
        </p:txBody>
      </p:sp>
      <p:sp>
        <p:nvSpPr>
          <p:cNvPr id="36" name="Chart Placeholder 35">
            <a:extLst>
              <a:ext uri="{FF2B5EF4-FFF2-40B4-BE49-F238E27FC236}">
                <a16:creationId xmlns:a16="http://schemas.microsoft.com/office/drawing/2014/main" id="{3B3358A9-ADD1-775E-DE5C-2A437E56E53E}"/>
              </a:ext>
            </a:extLst>
          </p:cNvPr>
          <p:cNvSpPr>
            <a:spLocks noGrp="1"/>
          </p:cNvSpPr>
          <p:nvPr>
            <p:ph type="chart" sz="quarter" idx="13"/>
          </p:nvPr>
        </p:nvSpPr>
        <p:spPr/>
        <p:txBody>
          <a:bodyPr/>
          <a:lstStyle/>
          <a:p>
            <a:endParaRPr lang="fi-FI"/>
          </a:p>
        </p:txBody>
      </p:sp>
      <p:sp>
        <p:nvSpPr>
          <p:cNvPr id="32" name="Text Placeholder 31">
            <a:extLst>
              <a:ext uri="{FF2B5EF4-FFF2-40B4-BE49-F238E27FC236}">
                <a16:creationId xmlns:a16="http://schemas.microsoft.com/office/drawing/2014/main" id="{67188667-C043-7FC6-0B48-F0045B59675F}"/>
              </a:ext>
            </a:extLst>
          </p:cNvPr>
          <p:cNvSpPr>
            <a:spLocks noGrp="1"/>
          </p:cNvSpPr>
          <p:nvPr>
            <p:ph type="body" sz="quarter" idx="11"/>
          </p:nvPr>
        </p:nvSpPr>
        <p:spPr/>
        <p:txBody>
          <a:bodyPr/>
          <a:lstStyle/>
          <a:p>
            <a:r>
              <a:rPr lang="fi-FI"/>
              <a:t>Portfolio transfer contract summary</a:t>
            </a:r>
          </a:p>
        </p:txBody>
      </p:sp>
      <p:sp>
        <p:nvSpPr>
          <p:cNvPr id="37" name="Text Placeholder 36">
            <a:extLst>
              <a:ext uri="{FF2B5EF4-FFF2-40B4-BE49-F238E27FC236}">
                <a16:creationId xmlns:a16="http://schemas.microsoft.com/office/drawing/2014/main" id="{B7138AE8-D087-80FF-5D07-DE1B910C4DA7}"/>
              </a:ext>
            </a:extLst>
          </p:cNvPr>
          <p:cNvSpPr>
            <a:spLocks noGrp="1"/>
          </p:cNvSpPr>
          <p:nvPr>
            <p:ph type="body" sz="quarter" idx="25"/>
          </p:nvPr>
        </p:nvSpPr>
        <p:spPr>
          <a:xfrm>
            <a:off x="995359" y="1179513"/>
            <a:ext cx="5036400" cy="252000"/>
          </a:xfrm>
        </p:spPr>
        <p:txBody>
          <a:bodyPr/>
          <a:lstStyle/>
          <a:p>
            <a:r>
              <a:rPr lang="fi-FI"/>
              <a:t>CPC income summary – Reported </a:t>
            </a:r>
          </a:p>
        </p:txBody>
      </p:sp>
      <p:graphicFrame>
        <p:nvGraphicFramePr>
          <p:cNvPr id="14" name="Object 13" hidden="1">
            <a:extLst>
              <a:ext uri="{FF2B5EF4-FFF2-40B4-BE49-F238E27FC236}">
                <a16:creationId xmlns:a16="http://schemas.microsoft.com/office/drawing/2014/main" id="{6222DE79-1CF9-433D-A361-D1C1C7478EB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6222DE79-1CF9-433D-A361-D1C1C7478EB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5" name="Rectangle: Rounded Corners 84">
            <a:hlinkClick r:id="rId10" action="ppaction://hlinksldjump"/>
            <a:extLst>
              <a:ext uri="{FF2B5EF4-FFF2-40B4-BE49-F238E27FC236}">
                <a16:creationId xmlns:a16="http://schemas.microsoft.com/office/drawing/2014/main" id="{7C08350A-4EE7-45B0-8513-3427DC01DD31}"/>
              </a:ext>
            </a:extLst>
          </p:cNvPr>
          <p:cNvSpPr/>
          <p:nvPr/>
        </p:nvSpPr>
        <p:spPr>
          <a:xfrm>
            <a:off x="5313519"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6" name="Rectangle: Rounded Corners 85">
            <a:hlinkClick r:id="rId11" action="ppaction://hlinksldjump"/>
            <a:extLst>
              <a:ext uri="{FF2B5EF4-FFF2-40B4-BE49-F238E27FC236}">
                <a16:creationId xmlns:a16="http://schemas.microsoft.com/office/drawing/2014/main" id="{360D12C8-1842-45CF-82AF-1F164CF12920}"/>
              </a:ext>
            </a:extLst>
          </p:cNvPr>
          <p:cNvSpPr/>
          <p:nvPr/>
        </p:nvSpPr>
        <p:spPr>
          <a:xfrm>
            <a:off x="10478403"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0" name="Text Placeholder 7">
            <a:extLst>
              <a:ext uri="{FF2B5EF4-FFF2-40B4-BE49-F238E27FC236}">
                <a16:creationId xmlns:a16="http://schemas.microsoft.com/office/drawing/2014/main" id="{84A4F519-4750-D41C-E215-F48A888A922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11" name="Text Placeholder 12">
            <a:extLst>
              <a:ext uri="{FF2B5EF4-FFF2-40B4-BE49-F238E27FC236}">
                <a16:creationId xmlns:a16="http://schemas.microsoft.com/office/drawing/2014/main" id="{C7810D3E-911B-2FE4-C6D1-8C9C367E4162}"/>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2" name="Rounded Rectangle 7">
            <a:extLst>
              <a:ext uri="{FF2B5EF4-FFF2-40B4-BE49-F238E27FC236}">
                <a16:creationId xmlns:a16="http://schemas.microsoft.com/office/drawing/2014/main" id="{6D267081-5299-E4DB-8B69-ECB9DAB6F8C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6" name="Rectangle 15">
            <a:extLst>
              <a:ext uri="{FF2B5EF4-FFF2-40B4-BE49-F238E27FC236}">
                <a16:creationId xmlns:a16="http://schemas.microsoft.com/office/drawing/2014/main" id="{3C9FEBDB-7315-DDB5-5990-6E8CD52FFB6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89B46E51-4BD2-9D16-17B1-3FFFA6DB89C9}"/>
              </a:ext>
            </a:extLst>
          </p:cNvPr>
          <p:cNvCxnSpPr>
            <a:cxnSpLocks/>
            <a:stCxn id="16" idx="2"/>
            <a:endCxn id="12"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1AE0AD91-42BF-ECD2-C866-BA66CDA74626}"/>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UpSlide SubSection Marker" hidden="1">
            <a:extLst>
              <a:ext uri="{FF2B5EF4-FFF2-40B4-BE49-F238E27FC236}">
                <a16:creationId xmlns:a16="http://schemas.microsoft.com/office/drawing/2014/main" id="{C99A15ED-B8CC-3C8E-BAAD-3D0F8FA893F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Key findings</a:t>
            </a:r>
          </a:p>
        </p:txBody>
      </p:sp>
      <p:sp>
        <p:nvSpPr>
          <p:cNvPr id="2" name="Rectangle 1">
            <a:extLst>
              <a:ext uri="{FF2B5EF4-FFF2-40B4-BE49-F238E27FC236}">
                <a16:creationId xmlns:a16="http://schemas.microsoft.com/office/drawing/2014/main" id="{F8857333-D216-391E-77A8-70BE8CF10628}"/>
              </a:ext>
            </a:extLst>
          </p:cNvPr>
          <p:cNvSpPr/>
          <p:nvPr/>
        </p:nvSpPr>
        <p:spPr>
          <a:xfrm>
            <a:off x="1380010" y="7184403"/>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KF on CPCs and overrides: CPC by carrier vs and rate (vs premium); OpCo vs. HoldCo split; P&amp;C vs GBs; accounting policies</a:t>
            </a:r>
          </a:p>
          <a:p>
            <a:pPr algn="ctr"/>
            <a:r>
              <a:rPr lang="en-US" sz="900" dirty="0">
                <a:solidFill>
                  <a:schemeClr val="bg1"/>
                </a:solidFill>
              </a:rPr>
              <a:t>Overrides: b/d by transfer agreement; [offset vs. CPCs], accounting policies; </a:t>
            </a:r>
          </a:p>
        </p:txBody>
      </p:sp>
      <p:sp>
        <p:nvSpPr>
          <p:cNvPr id="7" name="Chart Placeholder 6">
            <a:extLst>
              <a:ext uri="{FF2B5EF4-FFF2-40B4-BE49-F238E27FC236}">
                <a16:creationId xmlns:a16="http://schemas.microsoft.com/office/drawing/2014/main" id="{42143166-3896-EBBA-D32B-42908BCEAF8C}"/>
              </a:ext>
            </a:extLst>
          </p:cNvPr>
          <p:cNvSpPr>
            <a:spLocks noGrp="1"/>
          </p:cNvSpPr>
          <p:nvPr>
            <p:ph type="chart" sz="quarter" idx="12"/>
          </p:nvPr>
        </p:nvSpPr>
        <p:spPr>
          <a:xfrm>
            <a:off x="995359" y="1493727"/>
            <a:ext cx="5036400" cy="1720476"/>
          </a:xfrm>
        </p:spPr>
        <p:txBody>
          <a:bodyPr/>
          <a:lstStyle/>
          <a:p>
            <a:endParaRPr lang="en-US" dirty="0"/>
          </a:p>
        </p:txBody>
      </p:sp>
      <p:sp>
        <p:nvSpPr>
          <p:cNvPr id="30" name="Text Placeholder 12">
            <a:extLst>
              <a:ext uri="{FF2B5EF4-FFF2-40B4-BE49-F238E27FC236}">
                <a16:creationId xmlns:a16="http://schemas.microsoft.com/office/drawing/2014/main" id="{A3AF4B53-3A62-F41D-A0A3-B65FC61B92FB}"/>
              </a:ext>
            </a:extLst>
          </p:cNvPr>
          <p:cNvSpPr txBox="1">
            <a:spLocks/>
          </p:cNvSpPr>
          <p:nvPr/>
        </p:nvSpPr>
        <p:spPr>
          <a:xfrm>
            <a:off x="984806" y="328832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31" name="Text Placeholder 12">
            <a:extLst>
              <a:ext uri="{FF2B5EF4-FFF2-40B4-BE49-F238E27FC236}">
                <a16:creationId xmlns:a16="http://schemas.microsoft.com/office/drawing/2014/main" id="{F52FE442-5D73-E96A-A5D2-1CD0F8D0E399}"/>
              </a:ext>
            </a:extLst>
          </p:cNvPr>
          <p:cNvSpPr txBox="1">
            <a:spLocks/>
          </p:cNvSpPr>
          <p:nvPr/>
        </p:nvSpPr>
        <p:spPr>
          <a:xfrm>
            <a:off x="6159302" y="3288252"/>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24" name="Text Placeholder 33">
            <a:extLst>
              <a:ext uri="{FF2B5EF4-FFF2-40B4-BE49-F238E27FC236}">
                <a16:creationId xmlns:a16="http://schemas.microsoft.com/office/drawing/2014/main" id="{811B223C-04E0-5DEA-A156-C13E02914031}"/>
              </a:ext>
            </a:extLst>
          </p:cNvPr>
          <p:cNvSpPr>
            <a:spLocks noGrp="1"/>
          </p:cNvSpPr>
          <p:nvPr>
            <p:ph type="body" sz="quarter" idx="24"/>
          </p:nvPr>
        </p:nvSpPr>
        <p:spPr>
          <a:xfrm>
            <a:off x="6160243" y="3362744"/>
            <a:ext cx="5036400" cy="2531405"/>
          </a:xfrm>
        </p:spPr>
        <p:txBody>
          <a:bodyPr/>
          <a:lstStyle/>
          <a:p>
            <a:pPr>
              <a:spcAft>
                <a:spcPts val="300"/>
              </a:spcAft>
              <a:defRPr/>
            </a:pPr>
            <a:r>
              <a:rPr lang="en-US" b="0" dirty="0">
                <a:solidFill>
                  <a:schemeClr val="tx1"/>
                </a:solidFill>
              </a:rPr>
              <a:t>During FY22 to FY24, the Company recognized revenue of $4.9 million related to overrides arising on the transfer of certain insurance portfolios between carriers, comprising six individual agreements over the Historical Period. </a:t>
            </a:r>
          </a:p>
          <a:p>
            <a:pPr>
              <a:spcAft>
                <a:spcPts val="300"/>
              </a:spcAft>
              <a:defRPr/>
            </a:pPr>
            <a:r>
              <a:rPr lang="en-US" b="0" dirty="0">
                <a:solidFill>
                  <a:schemeClr val="tx1"/>
                </a:solidFill>
              </a:rPr>
              <a:t>While Management views override income as a recurring source of revenue in its assessment of adjusted EBITDA, we believe override income should instead be considered as one-time in nature and not a sustainable source of revenue in perpetuity notwithstanding the potential short-term opportunity to generate additional override revenue from the transfer of certain volume between carriers. Ultimately, the Company’s ability to continue to generate override income in future periods will be limited by regulatory restrictions on policy transfer activities and fiduciary obligations with respect to serving clients’ best interests in arranging insurance packages.</a:t>
            </a:r>
          </a:p>
          <a:p>
            <a:pPr>
              <a:spcAft>
                <a:spcPts val="300"/>
              </a:spcAft>
              <a:defRPr/>
            </a:pPr>
            <a:r>
              <a:rPr lang="en-US" b="0" dirty="0">
                <a:solidFill>
                  <a:schemeClr val="tx1"/>
                </a:solidFill>
              </a:rPr>
              <a:t>We understand override revenue recognized in Historical Periods was not commissionable at the producer level and was largely retained at corporate head office. As a result, the full amount of override income is equivalent to its EBITDA contribution. Management noted that receipt of override income from carriers was not expected to impact CPC revenue earned.</a:t>
            </a:r>
          </a:p>
        </p:txBody>
      </p:sp>
      <p:pic>
        <p:nvPicPr>
          <p:cNvPr id="38" name="Picture 37">
            <a:extLst>
              <a:ext uri="{FF2B5EF4-FFF2-40B4-BE49-F238E27FC236}">
                <a16:creationId xmlns:a16="http://schemas.microsoft.com/office/drawing/2014/main" id="{21A6627D-60EB-F756-B5CE-52BD75AA00D6}"/>
              </a:ext>
            </a:extLst>
          </p:cNvPr>
          <p:cNvPicPr>
            <a:picLocks noChangeAspect="1"/>
          </p:cNvPicPr>
          <p:nvPr>
            <p:custDataLst>
              <p:tags r:id="rId4"/>
            </p:custDataLst>
          </p:nvPr>
        </p:nvPicPr>
        <p:blipFill>
          <a:blip r:embed="rId12"/>
          <a:stretch>
            <a:fillRect/>
          </a:stretch>
        </p:blipFill>
        <p:spPr>
          <a:xfrm>
            <a:off x="6160243" y="1425562"/>
            <a:ext cx="5035459" cy="1878825"/>
          </a:xfrm>
          <a:prstGeom prst="rect">
            <a:avLst/>
          </a:prstGeom>
        </p:spPr>
      </p:pic>
      <p:pic>
        <p:nvPicPr>
          <p:cNvPr id="8" name="Picture 7">
            <a:extLst>
              <a:ext uri="{FF2B5EF4-FFF2-40B4-BE49-F238E27FC236}">
                <a16:creationId xmlns:a16="http://schemas.microsoft.com/office/drawing/2014/main" id="{B175E8B9-5BF0-CF0F-BFB8-97670487B159}"/>
              </a:ext>
            </a:extLst>
          </p:cNvPr>
          <p:cNvPicPr>
            <a:picLocks noChangeAspect="1"/>
          </p:cNvPicPr>
          <p:nvPr>
            <p:custDataLst>
              <p:tags r:id="rId5"/>
            </p:custDataLst>
          </p:nvPr>
        </p:nvPicPr>
        <p:blipFill>
          <a:blip r:embed="rId13"/>
          <a:stretch>
            <a:fillRect/>
          </a:stretch>
        </p:blipFill>
        <p:spPr>
          <a:xfrm>
            <a:off x="985747" y="1425562"/>
            <a:ext cx="5029714" cy="1864911"/>
          </a:xfrm>
          <a:prstGeom prst="rect">
            <a:avLst/>
          </a:prstGeom>
        </p:spPr>
      </p:pic>
      <p:grpSp>
        <p:nvGrpSpPr>
          <p:cNvPr id="21" name="Group 20">
            <a:extLst>
              <a:ext uri="{FF2B5EF4-FFF2-40B4-BE49-F238E27FC236}">
                <a16:creationId xmlns:a16="http://schemas.microsoft.com/office/drawing/2014/main" id="{D14FFD9B-E8F2-5181-DDD0-C3245B51EFD4}"/>
              </a:ext>
            </a:extLst>
          </p:cNvPr>
          <p:cNvGrpSpPr/>
          <p:nvPr>
            <p:custDataLst>
              <p:tags r:id="rId6"/>
            </p:custDataLst>
          </p:nvPr>
        </p:nvGrpSpPr>
        <p:grpSpPr>
          <a:xfrm>
            <a:off x="995364" y="153170"/>
            <a:ext cx="5024685" cy="195814"/>
            <a:chOff x="995364" y="153170"/>
            <a:chExt cx="5024685" cy="195814"/>
          </a:xfrm>
        </p:grpSpPr>
        <p:sp>
          <p:nvSpPr>
            <p:cNvPr id="22" name="Current Section1">
              <a:hlinkClick r:id="rId14"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25"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6"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5"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455882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148553E-2813-426A-A304-13532246791A}"/>
              </a:ext>
            </a:extLst>
          </p:cNvPr>
          <p:cNvSpPr>
            <a:spLocks noGrp="1"/>
          </p:cNvSpPr>
          <p:nvPr>
            <p:ph type="title"/>
          </p:nvPr>
        </p:nvSpPr>
        <p:spPr/>
        <p:txBody>
          <a:bodyPr vert="horz"/>
          <a:lstStyle/>
          <a:p>
            <a:r>
              <a:rPr lang="en-US" dirty="0"/>
              <a:t>Key findings — Net working capital</a:t>
            </a:r>
          </a:p>
        </p:txBody>
      </p:sp>
      <p:sp>
        <p:nvSpPr>
          <p:cNvPr id="20" name="Text Placeholder 19">
            <a:extLst>
              <a:ext uri="{FF2B5EF4-FFF2-40B4-BE49-F238E27FC236}">
                <a16:creationId xmlns:a16="http://schemas.microsoft.com/office/drawing/2014/main" id="{5784BAE6-EAC5-04EE-70BA-745AA4732101}"/>
              </a:ext>
            </a:extLst>
          </p:cNvPr>
          <p:cNvSpPr>
            <a:spLocks noGrp="1"/>
          </p:cNvSpPr>
          <p:nvPr>
            <p:ph type="body" sz="quarter" idx="25"/>
          </p:nvPr>
        </p:nvSpPr>
        <p:spPr>
          <a:xfrm>
            <a:off x="995359" y="1179513"/>
            <a:ext cx="5024690" cy="252000"/>
          </a:xfrm>
        </p:spPr>
        <p:txBody>
          <a:bodyPr/>
          <a:lstStyle/>
          <a:p>
            <a:r>
              <a:rPr lang="fi-FI"/>
              <a:t>Net working capital adjustments</a:t>
            </a:r>
          </a:p>
        </p:txBody>
      </p:sp>
      <p:graphicFrame>
        <p:nvGraphicFramePr>
          <p:cNvPr id="22" name="Object 21" hidden="1">
            <a:extLst>
              <a:ext uri="{FF2B5EF4-FFF2-40B4-BE49-F238E27FC236}">
                <a16:creationId xmlns:a16="http://schemas.microsoft.com/office/drawing/2014/main" id="{35739DAD-DCFA-4B49-84B8-425F2D4612A4}"/>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22" name="Object 21" hidden="1">
                        <a:extLst>
                          <a:ext uri="{FF2B5EF4-FFF2-40B4-BE49-F238E27FC236}">
                            <a16:creationId xmlns:a16="http://schemas.microsoft.com/office/drawing/2014/main" id="{35739DAD-DCFA-4B49-84B8-425F2D4612A4}"/>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78" name="Rectangle: Rounded Corners 77">
            <a:hlinkClick r:id="rId11" action="ppaction://hlinksldjump"/>
            <a:extLst>
              <a:ext uri="{FF2B5EF4-FFF2-40B4-BE49-F238E27FC236}">
                <a16:creationId xmlns:a16="http://schemas.microsoft.com/office/drawing/2014/main" id="{55534CFF-EA70-41DA-A069-56EEE7C666E1}"/>
              </a:ext>
            </a:extLst>
          </p:cNvPr>
          <p:cNvSpPr/>
          <p:nvPr/>
        </p:nvSpPr>
        <p:spPr>
          <a:xfrm>
            <a:off x="5323044"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 name="Text Placeholder 7">
            <a:extLst>
              <a:ext uri="{FF2B5EF4-FFF2-40B4-BE49-F238E27FC236}">
                <a16:creationId xmlns:a16="http://schemas.microsoft.com/office/drawing/2014/main" id="{7FAA5FED-07CC-6362-2462-1702C6DE8CD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9" name="Text Placeholder 12">
            <a:extLst>
              <a:ext uri="{FF2B5EF4-FFF2-40B4-BE49-F238E27FC236}">
                <a16:creationId xmlns:a16="http://schemas.microsoft.com/office/drawing/2014/main" id="{E4943D54-78D7-8E7A-DF4E-AB3E6E82CB85}"/>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0" name="Rounded Rectangle 7">
            <a:extLst>
              <a:ext uri="{FF2B5EF4-FFF2-40B4-BE49-F238E27FC236}">
                <a16:creationId xmlns:a16="http://schemas.microsoft.com/office/drawing/2014/main" id="{322F6615-201A-8771-3BFD-970359498DF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BD665451-3D87-0733-8504-B473E9F1DC2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2" name="Straight Arrow Connector 11">
            <a:extLst>
              <a:ext uri="{FF2B5EF4-FFF2-40B4-BE49-F238E27FC236}">
                <a16:creationId xmlns:a16="http://schemas.microsoft.com/office/drawing/2014/main" id="{BAA61F47-9F27-EA90-ED1A-FB0D8E59A6E2}"/>
              </a:ext>
            </a:extLst>
          </p:cNvPr>
          <p:cNvCxnSpPr>
            <a:cxnSpLocks/>
            <a:stCxn id="11"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AD73C31B-9FF1-E556-091A-BBD17054873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UpSlide SubSection Marker" hidden="1">
            <a:extLst>
              <a:ext uri="{FF2B5EF4-FFF2-40B4-BE49-F238E27FC236}">
                <a16:creationId xmlns:a16="http://schemas.microsoft.com/office/drawing/2014/main" id="{0AD320FE-ED69-C65E-FEDE-ECFDC174E41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Key findings</a:t>
            </a:r>
          </a:p>
        </p:txBody>
      </p:sp>
      <p:sp>
        <p:nvSpPr>
          <p:cNvPr id="27" name="Text Placeholder 12">
            <a:extLst>
              <a:ext uri="{FF2B5EF4-FFF2-40B4-BE49-F238E27FC236}">
                <a16:creationId xmlns:a16="http://schemas.microsoft.com/office/drawing/2014/main" id="{FD0326C7-C99C-2F17-C6C5-8C345F40683D}"/>
              </a:ext>
            </a:extLst>
          </p:cNvPr>
          <p:cNvSpPr txBox="1">
            <a:spLocks/>
          </p:cNvSpPr>
          <p:nvPr/>
        </p:nvSpPr>
        <p:spPr>
          <a:xfrm>
            <a:off x="985936" y="3042422"/>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36" name="Text Placeholder 35">
            <a:extLst>
              <a:ext uri="{FF2B5EF4-FFF2-40B4-BE49-F238E27FC236}">
                <a16:creationId xmlns:a16="http://schemas.microsoft.com/office/drawing/2014/main" id="{2DCA6A9D-6CBC-C602-E5FF-0D6834D6F2D0}"/>
              </a:ext>
            </a:extLst>
          </p:cNvPr>
          <p:cNvSpPr>
            <a:spLocks noGrp="1"/>
          </p:cNvSpPr>
          <p:nvPr>
            <p:ph type="body" sz="quarter" idx="11"/>
          </p:nvPr>
        </p:nvSpPr>
        <p:spPr>
          <a:xfrm>
            <a:off x="6170613" y="1184507"/>
            <a:ext cx="5029200" cy="252000"/>
          </a:xfrm>
        </p:spPr>
        <p:txBody>
          <a:bodyPr/>
          <a:lstStyle/>
          <a:p>
            <a:r>
              <a:rPr lang="en-US" dirty="0"/>
              <a:t>Adjusted net working capital</a:t>
            </a:r>
          </a:p>
        </p:txBody>
      </p:sp>
      <p:sp>
        <p:nvSpPr>
          <p:cNvPr id="7" name="Text Placeholder 17">
            <a:extLst>
              <a:ext uri="{FF2B5EF4-FFF2-40B4-BE49-F238E27FC236}">
                <a16:creationId xmlns:a16="http://schemas.microsoft.com/office/drawing/2014/main" id="{E853760B-E681-19DE-6BD1-4973E3C7BDE7}"/>
              </a:ext>
            </a:extLst>
          </p:cNvPr>
          <p:cNvSpPr txBox="1">
            <a:spLocks/>
          </p:cNvSpPr>
          <p:nvPr/>
        </p:nvSpPr>
        <p:spPr>
          <a:xfrm>
            <a:off x="995359" y="3180224"/>
            <a:ext cx="9863141" cy="3009717"/>
          </a:xfrm>
          <a:prstGeom prst="rect">
            <a:avLst/>
          </a:prstGeom>
        </p:spPr>
        <p:txBody>
          <a:bodyPr vert="horz" lIns="72000" tIns="36000" rIns="0" bIns="0" numCol="2"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300"/>
              </a:spcAft>
              <a:defRPr/>
            </a:pPr>
            <a:r>
              <a:rPr lang="en-US" b="0" dirty="0">
                <a:solidFill>
                  <a:schemeClr val="tx1"/>
                </a:solidFill>
              </a:rPr>
              <a:t>The summary analysis of net working capital above provides a reconciliation from reported to adjusted net working capital as presented in this report. Adjustments to reported net working capital are summarized as follows:</a:t>
            </a:r>
          </a:p>
          <a:p>
            <a:pPr marL="171450" indent="-171450">
              <a:spcAft>
                <a:spcPts val="300"/>
              </a:spcAft>
              <a:buFont typeface="Arial" panose="020B0604020202020204" pitchFamily="34" charset="0"/>
              <a:buChar char="•"/>
              <a:defRPr/>
            </a:pPr>
            <a:r>
              <a:rPr lang="en-US" b="0" dirty="0">
                <a:solidFill>
                  <a:schemeClr val="tx1"/>
                </a:solidFill>
              </a:rPr>
              <a:t>Definitional adjustments: Comprises the add-back of various cash-, debt-, and capital-like balances presented within current assets and current liabilities in the consolidated balance sheet.</a:t>
            </a:r>
          </a:p>
          <a:p>
            <a:pPr marL="171450" indent="-171450">
              <a:spcAft>
                <a:spcPts val="300"/>
              </a:spcAft>
              <a:buFont typeface="Arial" panose="020B0604020202020204" pitchFamily="34" charset="0"/>
              <a:buChar char="•"/>
              <a:defRPr/>
            </a:pPr>
            <a:r>
              <a:rPr lang="en-US" b="0" dirty="0">
                <a:solidFill>
                  <a:schemeClr val="tx1"/>
                </a:solidFill>
              </a:rPr>
              <a:t>Sell-side adjustments: Working capital adjustments presented in the sell-side due diligence report mainly correspond to adjustments quantified as part of the sell-side quality of earnings analysis, including the true-up of monthly CPC receivables ($0.4 million) and exclusion of non-recurring items ($0.5 million). Sell-side adjusted net working capital position also adjusts cash held in trust accounts to required minimum levels in each operating company, with an average impact of $4.3 million in FY24.</a:t>
            </a:r>
          </a:p>
          <a:p>
            <a:pPr marL="171450" indent="-171450">
              <a:spcAft>
                <a:spcPts val="300"/>
              </a:spcAft>
              <a:buFont typeface="Arial" panose="020B0604020202020204" pitchFamily="34" charset="0"/>
              <a:buChar char="•"/>
              <a:defRPr/>
            </a:pPr>
            <a:r>
              <a:rPr lang="en-US" b="0">
                <a:solidFill>
                  <a:schemeClr val="tx1"/>
                </a:solidFill>
              </a:rPr>
              <a:t>Challenges to sell-side adjustments: Pertain principally to the reversal of sell-side adjustments to maintain consistency with treatment in the quality of earnings analysis. We also quantify an adjustment to reflect the estimated impact of premiums aged greater than 90 days which are disallowed in the computation of the net trust position (FY24 average: $0.7 million).</a:t>
            </a:r>
          </a:p>
          <a:p>
            <a:pPr marL="171450" indent="-171450">
              <a:spcAft>
                <a:spcPts val="300"/>
              </a:spcAft>
              <a:buFont typeface="Arial" panose="020B0604020202020204" pitchFamily="34" charset="0"/>
              <a:buChar char="•"/>
              <a:defRPr/>
            </a:pPr>
            <a:endParaRPr lang="en-US" b="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a:p>
            <a:pPr marL="171450" indent="-171450">
              <a:spcAft>
                <a:spcPts val="300"/>
              </a:spcAft>
              <a:buFont typeface="Arial" panose="020B0604020202020204" pitchFamily="34" charset="0"/>
              <a:buChar char="•"/>
              <a:defRPr/>
            </a:pPr>
            <a:endParaRPr lang="en-US" b="0" dirty="0">
              <a:solidFill>
                <a:schemeClr val="tx1"/>
              </a:solidFill>
            </a:endParaRPr>
          </a:p>
        </p:txBody>
      </p:sp>
      <p:pic>
        <p:nvPicPr>
          <p:cNvPr id="25" name="Picture 24">
            <a:extLst>
              <a:ext uri="{FF2B5EF4-FFF2-40B4-BE49-F238E27FC236}">
                <a16:creationId xmlns:a16="http://schemas.microsoft.com/office/drawing/2014/main" id="{2C3EBB5F-9C25-A43A-DDE2-F3108C3E74E5}"/>
              </a:ext>
            </a:extLst>
          </p:cNvPr>
          <p:cNvPicPr>
            <a:picLocks noChangeAspect="1"/>
          </p:cNvPicPr>
          <p:nvPr>
            <p:custDataLst>
              <p:tags r:id="rId4"/>
            </p:custDataLst>
          </p:nvPr>
        </p:nvPicPr>
        <p:blipFill>
          <a:blip r:embed="rId12"/>
          <a:stretch>
            <a:fillRect/>
          </a:stretch>
        </p:blipFill>
        <p:spPr>
          <a:xfrm>
            <a:off x="-2793400" y="2526538"/>
            <a:ext cx="2030144" cy="2267909"/>
          </a:xfrm>
          <a:prstGeom prst="rect">
            <a:avLst/>
          </a:prstGeom>
        </p:spPr>
      </p:pic>
      <p:sp>
        <p:nvSpPr>
          <p:cNvPr id="23" name="Text Placeholder 12">
            <a:extLst>
              <a:ext uri="{FF2B5EF4-FFF2-40B4-BE49-F238E27FC236}">
                <a16:creationId xmlns:a16="http://schemas.microsoft.com/office/drawing/2014/main" id="{1A471D2D-6023-B733-83FE-CFE751AF69C9}"/>
              </a:ext>
            </a:extLst>
          </p:cNvPr>
          <p:cNvSpPr txBox="1">
            <a:spLocks/>
          </p:cNvSpPr>
          <p:nvPr/>
        </p:nvSpPr>
        <p:spPr>
          <a:xfrm>
            <a:off x="6157011" y="302438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5" name="Text Placeholder 33">
            <a:extLst>
              <a:ext uri="{FF2B5EF4-FFF2-40B4-BE49-F238E27FC236}">
                <a16:creationId xmlns:a16="http://schemas.microsoft.com/office/drawing/2014/main" id="{88A6B993-E50F-64F8-4B3D-DF0BB5F02D1A}"/>
              </a:ext>
            </a:extLst>
          </p:cNvPr>
          <p:cNvSpPr txBox="1">
            <a:spLocks/>
          </p:cNvSpPr>
          <p:nvPr/>
        </p:nvSpPr>
        <p:spPr>
          <a:xfrm>
            <a:off x="6171674" y="3180225"/>
            <a:ext cx="5036400" cy="2706225"/>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spcAft>
                <a:spcPts val="300"/>
              </a:spcAft>
              <a:buFont typeface="Arial" panose="020B0604020202020204" pitchFamily="34" charset="0"/>
              <a:buChar char="•"/>
              <a:defRPr/>
            </a:pPr>
            <a:r>
              <a:rPr lang="en-US" b="0" dirty="0">
                <a:solidFill>
                  <a:schemeClr val="tx1"/>
                </a:solidFill>
              </a:rPr>
              <a:t>Other adjustments: Other adjustments identified as part of our work are </a:t>
            </a:r>
            <a:r>
              <a:rPr lang="en-US" b="0">
                <a:solidFill>
                  <a:schemeClr val="tx1"/>
                </a:solidFill>
              </a:rPr>
              <a:t>mostly</a:t>
            </a:r>
            <a:r>
              <a:rPr lang="en-US" b="0" dirty="0">
                <a:solidFill>
                  <a:schemeClr val="tx1"/>
                </a:solidFill>
              </a:rPr>
              <a:t> aligned to adjustments presented in quality of earnings, including the add-back of deferred revenue balances related to overrides (FY24 </a:t>
            </a:r>
            <a:r>
              <a:rPr lang="en-US" b="0">
                <a:solidFill>
                  <a:schemeClr val="tx1"/>
                </a:solidFill>
              </a:rPr>
              <a:t>average: </a:t>
            </a:r>
            <a:r>
              <a:rPr lang="en-US" b="0" dirty="0">
                <a:solidFill>
                  <a:schemeClr val="tx1"/>
                </a:solidFill>
              </a:rPr>
              <a:t>$1.7 million), and pro forma adjustment for the BMB Assurances acquisition (FY24 </a:t>
            </a:r>
            <a:r>
              <a:rPr lang="en-US" b="0">
                <a:solidFill>
                  <a:schemeClr val="tx1"/>
                </a:solidFill>
              </a:rPr>
              <a:t>average:</a:t>
            </a:r>
            <a:r>
              <a:rPr lang="en-US" b="0" dirty="0">
                <a:solidFill>
                  <a:schemeClr val="tx1"/>
                </a:solidFill>
              </a:rPr>
              <a:t> $0.5 million).</a:t>
            </a:r>
          </a:p>
          <a:p>
            <a:pPr>
              <a:spcAft>
                <a:spcPts val="300"/>
              </a:spcAft>
              <a:defRPr/>
            </a:pPr>
            <a:r>
              <a:rPr lang="en-US" b="0" dirty="0">
                <a:solidFill>
                  <a:schemeClr val="tx1"/>
                </a:solidFill>
              </a:rPr>
              <a:t>On an adjusted basis, net working capital exhibited a consistent positive profile through the Historical Period driven by significant CPC receivables which are received annually in March / April. Adjusted net working capital increased moderately as a % of revenue between FY23 (9.1%) and FY24 (9.5%), mainly driven by movement in the net trust position.</a:t>
            </a:r>
            <a:r>
              <a:rPr lang="en-US" b="0">
                <a:solidFill>
                  <a:schemeClr val="tx1"/>
                </a:solidFill>
              </a:rPr>
              <a:t> </a:t>
            </a:r>
          </a:p>
          <a:p>
            <a:pPr>
              <a:spcAft>
                <a:spcPts val="300"/>
              </a:spcAft>
              <a:defRPr/>
            </a:pPr>
            <a:r>
              <a:rPr lang="en-US" b="0">
                <a:solidFill>
                  <a:schemeClr val="tx1"/>
                </a:solidFill>
              </a:rPr>
              <a:t>Adjusted net working capital consists essentially of accrued CPC receivable, accounts receivable (such as direct bill receivable), trade payable and accruals, and a positive net trust position.  The net trust position</a:t>
            </a:r>
            <a:r>
              <a:rPr lang="en-US" b="0" dirty="0">
                <a:solidFill>
                  <a:schemeClr val="tx1"/>
                </a:solidFill>
              </a:rPr>
              <a:t> </a:t>
            </a:r>
            <a:r>
              <a:rPr lang="en-US" b="0">
                <a:solidFill>
                  <a:schemeClr val="tx1"/>
                </a:solidFill>
              </a:rPr>
              <a:t>component arises from aged / over 90 days premium receivable balances and otherwise insufficient cash balances in certain legal entities to fully extract the otherwise positive net trust position.  These characteristics suggest suboptimal management of receivables, creating a net working capital requirement, and thus inclusion in adjusted net working capital averages (which typically form the basis for “target net working capital” for closing date adjustment purposes).  </a:t>
            </a:r>
            <a:endParaRPr lang="en-US" b="0" dirty="0">
              <a:solidFill>
                <a:schemeClr val="tx1"/>
              </a:solidFill>
            </a:endParaRPr>
          </a:p>
        </p:txBody>
      </p:sp>
      <p:sp>
        <p:nvSpPr>
          <p:cNvPr id="15" name="Rectangle: Rounded Corners 14">
            <a:hlinkClick r:id="rId13" action="ppaction://hlinksldjump"/>
            <a:extLst>
              <a:ext uri="{FF2B5EF4-FFF2-40B4-BE49-F238E27FC236}">
                <a16:creationId xmlns:a16="http://schemas.microsoft.com/office/drawing/2014/main" id="{59DC2391-0C4F-BD54-AFDC-D13FF6B500D8}"/>
              </a:ext>
            </a:extLst>
          </p:cNvPr>
          <p:cNvSpPr/>
          <p:nvPr/>
        </p:nvSpPr>
        <p:spPr>
          <a:xfrm>
            <a:off x="10483949" y="1217001"/>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pic>
        <p:nvPicPr>
          <p:cNvPr id="2" name="Picture 1">
            <a:extLst>
              <a:ext uri="{FF2B5EF4-FFF2-40B4-BE49-F238E27FC236}">
                <a16:creationId xmlns:a16="http://schemas.microsoft.com/office/drawing/2014/main" id="{F72BBC3B-5195-DA62-6490-6BD29B13EBBB}"/>
              </a:ext>
            </a:extLst>
          </p:cNvPr>
          <p:cNvPicPr>
            <a:picLocks noChangeAspect="1"/>
          </p:cNvPicPr>
          <p:nvPr>
            <p:custDataLst>
              <p:tags r:id="rId5"/>
            </p:custDataLst>
          </p:nvPr>
        </p:nvPicPr>
        <p:blipFill>
          <a:blip r:embed="rId14"/>
          <a:stretch>
            <a:fillRect/>
          </a:stretch>
        </p:blipFill>
        <p:spPr>
          <a:xfrm>
            <a:off x="985936" y="1426158"/>
            <a:ext cx="5020056" cy="1590863"/>
          </a:xfrm>
          <a:prstGeom prst="rect">
            <a:avLst/>
          </a:prstGeom>
        </p:spPr>
      </p:pic>
      <p:pic>
        <p:nvPicPr>
          <p:cNvPr id="17" name="Picture 16">
            <a:extLst>
              <a:ext uri="{FF2B5EF4-FFF2-40B4-BE49-F238E27FC236}">
                <a16:creationId xmlns:a16="http://schemas.microsoft.com/office/drawing/2014/main" id="{DD59C6F7-A1D4-7498-BDD7-2C2037B0F921}"/>
              </a:ext>
            </a:extLst>
          </p:cNvPr>
          <p:cNvPicPr>
            <a:picLocks noChangeAspect="1"/>
          </p:cNvPicPr>
          <p:nvPr>
            <p:custDataLst>
              <p:tags r:id="rId6"/>
            </p:custDataLst>
          </p:nvPr>
        </p:nvPicPr>
        <p:blipFill>
          <a:blip r:embed="rId15"/>
          <a:stretch>
            <a:fillRect/>
          </a:stretch>
        </p:blipFill>
        <p:spPr>
          <a:xfrm>
            <a:off x="6157011" y="1419706"/>
            <a:ext cx="5042802" cy="1581945"/>
          </a:xfrm>
          <a:prstGeom prst="rect">
            <a:avLst/>
          </a:prstGeom>
        </p:spPr>
      </p:pic>
      <p:grpSp>
        <p:nvGrpSpPr>
          <p:cNvPr id="32" name="Group 31">
            <a:extLst>
              <a:ext uri="{FF2B5EF4-FFF2-40B4-BE49-F238E27FC236}">
                <a16:creationId xmlns:a16="http://schemas.microsoft.com/office/drawing/2014/main" id="{D14FFD9B-E8F2-5181-DDD0-C3245B51EFD4}"/>
              </a:ext>
            </a:extLst>
          </p:cNvPr>
          <p:cNvGrpSpPr/>
          <p:nvPr>
            <p:custDataLst>
              <p:tags r:id="rId7"/>
            </p:custDataLst>
          </p:nvPr>
        </p:nvGrpSpPr>
        <p:grpSpPr>
          <a:xfrm>
            <a:off x="995364" y="153170"/>
            <a:ext cx="5024685" cy="195814"/>
            <a:chOff x="995364" y="153170"/>
            <a:chExt cx="5024685" cy="195814"/>
          </a:xfrm>
        </p:grpSpPr>
        <p:sp>
          <p:nvSpPr>
            <p:cNvPr id="33" name="Current Section1">
              <a:hlinkClick r:id="rId16"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34" name="Other Sections2">
              <a:hlinkClick r:id="rId17"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5" name="Other Sections3">
              <a:hlinkClick r:id="rId18"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7" name="Other Sections4">
              <a:hlinkClick r:id="rId19"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8" name="Other Sections5">
              <a:hlinkClick r:id="rId20"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38779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148553E-2813-426A-A304-13532246791A}"/>
              </a:ext>
            </a:extLst>
          </p:cNvPr>
          <p:cNvSpPr>
            <a:spLocks noGrp="1"/>
          </p:cNvSpPr>
          <p:nvPr>
            <p:ph type="title"/>
          </p:nvPr>
        </p:nvSpPr>
        <p:spPr/>
        <p:txBody>
          <a:bodyPr vert="horz"/>
          <a:lstStyle/>
          <a:p>
            <a:r>
              <a:rPr lang="en-US" dirty="0"/>
              <a:t>Key findings — Net debt and minority interests</a:t>
            </a:r>
          </a:p>
        </p:txBody>
      </p:sp>
      <p:sp>
        <p:nvSpPr>
          <p:cNvPr id="19" name="Text Placeholder 18">
            <a:extLst>
              <a:ext uri="{FF2B5EF4-FFF2-40B4-BE49-F238E27FC236}">
                <a16:creationId xmlns:a16="http://schemas.microsoft.com/office/drawing/2014/main" id="{CDDBE2DC-3DFE-479F-800B-CFBDB6A76C6A}"/>
              </a:ext>
            </a:extLst>
          </p:cNvPr>
          <p:cNvSpPr>
            <a:spLocks noGrp="1"/>
          </p:cNvSpPr>
          <p:nvPr>
            <p:ph type="body" sz="quarter" idx="24"/>
          </p:nvPr>
        </p:nvSpPr>
        <p:spPr>
          <a:xfrm>
            <a:off x="6161606" y="2956438"/>
            <a:ext cx="5036400" cy="2170040"/>
          </a:xfrm>
        </p:spPr>
        <p:txBody>
          <a:bodyPr/>
          <a:lstStyle/>
          <a:p>
            <a:pPr>
              <a:defRPr/>
            </a:pPr>
            <a:r>
              <a:rPr lang="en-US" b="0" dirty="0">
                <a:solidFill>
                  <a:schemeClr val="tx1"/>
                </a:solidFill>
              </a:rPr>
              <a:t>There are significant minority interests held within the Company’s group structure, mainly relating to former owners and management teams in operating subsidiaries which were acquired by the Company in historical periods. Each of the minority participants in the group has entered into a standard shareholder agreement which specifies the drag-along rights and purchase price consideration arising on a change of control of the Company. </a:t>
            </a:r>
          </a:p>
          <a:p>
            <a:pPr>
              <a:defRPr/>
            </a:pPr>
            <a:r>
              <a:rPr lang="en-US" b="0" dirty="0">
                <a:solidFill>
                  <a:schemeClr val="tx1"/>
                </a:solidFill>
              </a:rPr>
              <a:t>Management’s computation of minority interest equity value at $[63.0] million is based on financial performance in the TTM Oct-24 period, [which reconciles to the sell-side due diligence adjusted income statement metrics]. However, the calculation of minority interests relies on a number of critical assumptions which should be subject to validation as part of your purchase price negotiations:</a:t>
            </a:r>
          </a:p>
          <a:p>
            <a:pPr>
              <a:defRPr/>
            </a:pPr>
            <a:r>
              <a:rPr lang="en-US" b="0" dirty="0">
                <a:solidFill>
                  <a:schemeClr val="tx1"/>
                </a:solidFill>
              </a:rPr>
              <a:t>-  TTM Oct-24 vs FY24</a:t>
            </a:r>
          </a:p>
          <a:p>
            <a:pPr>
              <a:defRPr/>
            </a:pPr>
            <a:r>
              <a:rPr lang="en-US" b="0" dirty="0">
                <a:solidFill>
                  <a:schemeClr val="tx1"/>
                </a:solidFill>
              </a:rPr>
              <a:t>- Company EBITDA multiple</a:t>
            </a:r>
          </a:p>
          <a:p>
            <a:pPr>
              <a:defRPr/>
            </a:pPr>
            <a:r>
              <a:rPr lang="en-US" b="0" dirty="0">
                <a:solidFill>
                  <a:schemeClr val="tx1"/>
                </a:solidFill>
              </a:rPr>
              <a:t>- Definition of EBITDA / PF adjusted EBITDA</a:t>
            </a:r>
          </a:p>
          <a:p>
            <a:pPr>
              <a:defRPr/>
            </a:pPr>
            <a:r>
              <a:rPr lang="en-US" b="0" dirty="0">
                <a:solidFill>
                  <a:schemeClr val="tx1"/>
                </a:solidFill>
              </a:rPr>
              <a:t>- Allocation of head office staff costs to operating companies</a:t>
            </a:r>
          </a:p>
        </p:txBody>
      </p:sp>
      <p:sp>
        <p:nvSpPr>
          <p:cNvPr id="16" name="Text Placeholder 15">
            <a:extLst>
              <a:ext uri="{FF2B5EF4-FFF2-40B4-BE49-F238E27FC236}">
                <a16:creationId xmlns:a16="http://schemas.microsoft.com/office/drawing/2014/main" id="{67FAF70E-449B-CA04-743F-37D9F7BE28C9}"/>
              </a:ext>
            </a:extLst>
          </p:cNvPr>
          <p:cNvSpPr>
            <a:spLocks noGrp="1"/>
          </p:cNvSpPr>
          <p:nvPr>
            <p:ph type="body" sz="quarter" idx="11"/>
          </p:nvPr>
        </p:nvSpPr>
        <p:spPr>
          <a:xfrm>
            <a:off x="6161606" y="1179513"/>
            <a:ext cx="5036400" cy="252000"/>
          </a:xfrm>
        </p:spPr>
        <p:txBody>
          <a:bodyPr/>
          <a:lstStyle/>
          <a:p>
            <a:r>
              <a:rPr lang="fi-FI"/>
              <a:t>Minority interests</a:t>
            </a:r>
          </a:p>
        </p:txBody>
      </p:sp>
      <p:sp>
        <p:nvSpPr>
          <p:cNvPr id="20" name="Text Placeholder 19">
            <a:extLst>
              <a:ext uri="{FF2B5EF4-FFF2-40B4-BE49-F238E27FC236}">
                <a16:creationId xmlns:a16="http://schemas.microsoft.com/office/drawing/2014/main" id="{5784BAE6-EAC5-04EE-70BA-745AA4732101}"/>
              </a:ext>
            </a:extLst>
          </p:cNvPr>
          <p:cNvSpPr>
            <a:spLocks noGrp="1"/>
          </p:cNvSpPr>
          <p:nvPr>
            <p:ph type="body" sz="quarter" idx="25"/>
          </p:nvPr>
        </p:nvSpPr>
        <p:spPr/>
        <p:txBody>
          <a:bodyPr/>
          <a:lstStyle/>
          <a:p>
            <a:r>
              <a:rPr lang="fi-FI"/>
              <a:t>Net debt</a:t>
            </a:r>
          </a:p>
        </p:txBody>
      </p:sp>
      <p:graphicFrame>
        <p:nvGraphicFramePr>
          <p:cNvPr id="22" name="Object 21" hidden="1">
            <a:extLst>
              <a:ext uri="{FF2B5EF4-FFF2-40B4-BE49-F238E27FC236}">
                <a16:creationId xmlns:a16="http://schemas.microsoft.com/office/drawing/2014/main" id="{35739DAD-DCFA-4B49-84B8-425F2D4612A4}"/>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22" name="Object 21" hidden="1">
                        <a:extLst>
                          <a:ext uri="{FF2B5EF4-FFF2-40B4-BE49-F238E27FC236}">
                            <a16:creationId xmlns:a16="http://schemas.microsoft.com/office/drawing/2014/main" id="{35739DAD-DCFA-4B49-84B8-425F2D4612A4}"/>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78" name="Rectangle: Rounded Corners 77">
            <a:hlinkClick r:id="rId10" action="ppaction://hlinksldjump"/>
            <a:extLst>
              <a:ext uri="{FF2B5EF4-FFF2-40B4-BE49-F238E27FC236}">
                <a16:creationId xmlns:a16="http://schemas.microsoft.com/office/drawing/2014/main" id="{55534CFF-EA70-41DA-A069-56EEE7C666E1}"/>
              </a:ext>
            </a:extLst>
          </p:cNvPr>
          <p:cNvSpPr/>
          <p:nvPr/>
        </p:nvSpPr>
        <p:spPr>
          <a:xfrm>
            <a:off x="5313519"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79" name="Rectangle: Rounded Corners 78">
            <a:extLst>
              <a:ext uri="{FF2B5EF4-FFF2-40B4-BE49-F238E27FC236}">
                <a16:creationId xmlns:a16="http://schemas.microsoft.com/office/drawing/2014/main" id="{65B27DC1-9156-486B-ADC9-60B473417F1A}"/>
              </a:ext>
            </a:extLst>
          </p:cNvPr>
          <p:cNvSpPr/>
          <p:nvPr/>
        </p:nvSpPr>
        <p:spPr>
          <a:xfrm>
            <a:off x="10479766"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8" name="Text Placeholder 7">
            <a:extLst>
              <a:ext uri="{FF2B5EF4-FFF2-40B4-BE49-F238E27FC236}">
                <a16:creationId xmlns:a16="http://schemas.microsoft.com/office/drawing/2014/main" id="{7FAA5FED-07CC-6362-2462-1702C6DE8CD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9" name="Text Placeholder 12">
            <a:extLst>
              <a:ext uri="{FF2B5EF4-FFF2-40B4-BE49-F238E27FC236}">
                <a16:creationId xmlns:a16="http://schemas.microsoft.com/office/drawing/2014/main" id="{E4943D54-78D7-8E7A-DF4E-AB3E6E82CB85}"/>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0" name="Rounded Rectangle 7">
            <a:extLst>
              <a:ext uri="{FF2B5EF4-FFF2-40B4-BE49-F238E27FC236}">
                <a16:creationId xmlns:a16="http://schemas.microsoft.com/office/drawing/2014/main" id="{322F6615-201A-8771-3BFD-970359498DF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BD665451-3D87-0733-8504-B473E9F1DC2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2" name="Straight Arrow Connector 11">
            <a:extLst>
              <a:ext uri="{FF2B5EF4-FFF2-40B4-BE49-F238E27FC236}">
                <a16:creationId xmlns:a16="http://schemas.microsoft.com/office/drawing/2014/main" id="{BAA61F47-9F27-EA90-ED1A-FB0D8E59A6E2}"/>
              </a:ext>
            </a:extLst>
          </p:cNvPr>
          <p:cNvCxnSpPr>
            <a:cxnSpLocks/>
            <a:stCxn id="11"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AD73C31B-9FF1-E556-091A-BBD17054873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UpSlide SubSection Marker" hidden="1">
            <a:extLst>
              <a:ext uri="{FF2B5EF4-FFF2-40B4-BE49-F238E27FC236}">
                <a16:creationId xmlns:a16="http://schemas.microsoft.com/office/drawing/2014/main" id="{0AD320FE-ED69-C65E-FEDE-ECFDC174E41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Key findings</a:t>
            </a:r>
          </a:p>
        </p:txBody>
      </p:sp>
      <p:sp>
        <p:nvSpPr>
          <p:cNvPr id="2" name="Rectangle 1">
            <a:extLst>
              <a:ext uri="{FF2B5EF4-FFF2-40B4-BE49-F238E27FC236}">
                <a16:creationId xmlns:a16="http://schemas.microsoft.com/office/drawing/2014/main" id="{77F398A5-5F84-470D-AD53-8B25E3A4F75F}"/>
              </a:ext>
            </a:extLst>
          </p:cNvPr>
          <p:cNvSpPr/>
          <p:nvPr/>
        </p:nvSpPr>
        <p:spPr>
          <a:xfrm>
            <a:off x="5802446" y="6929162"/>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To include:</a:t>
            </a:r>
          </a:p>
          <a:p>
            <a:pPr algn="ctr"/>
            <a:r>
              <a:rPr lang="en-US" sz="900" dirty="0">
                <a:solidFill>
                  <a:schemeClr val="bg1"/>
                </a:solidFill>
              </a:rPr>
              <a:t>- Net debt summary: as at Oct-24/ Dec-24 only – reported net debt and top adjustments (group smaller others)</a:t>
            </a:r>
          </a:p>
          <a:p>
            <a:pPr algn="ctr"/>
            <a:r>
              <a:rPr lang="en-US" sz="900" dirty="0">
                <a:solidFill>
                  <a:schemeClr val="bg1"/>
                </a:solidFill>
              </a:rPr>
              <a:t>- Minority interests: Summary of minority interests and value in ND schedule, incl. basis / source of valuation</a:t>
            </a:r>
          </a:p>
        </p:txBody>
      </p:sp>
      <p:sp>
        <p:nvSpPr>
          <p:cNvPr id="7" name="Text Placeholder 17">
            <a:extLst>
              <a:ext uri="{FF2B5EF4-FFF2-40B4-BE49-F238E27FC236}">
                <a16:creationId xmlns:a16="http://schemas.microsoft.com/office/drawing/2014/main" id="{BFC0049A-8CC4-69E6-A073-E54963734D7B}"/>
              </a:ext>
            </a:extLst>
          </p:cNvPr>
          <p:cNvSpPr txBox="1">
            <a:spLocks/>
          </p:cNvSpPr>
          <p:nvPr/>
        </p:nvSpPr>
        <p:spPr>
          <a:xfrm>
            <a:off x="990983" y="3452844"/>
            <a:ext cx="5160278" cy="3251986"/>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300"/>
              </a:spcAft>
              <a:defRPr/>
            </a:pPr>
            <a:r>
              <a:rPr lang="en-US" b="0" dirty="0">
                <a:solidFill>
                  <a:schemeClr val="tx1"/>
                </a:solidFill>
              </a:rPr>
              <a:t>The Company’s adjusted net debt amounted to $514.6 million as at Dec-24, including balances outstanding on credit facilities held with the Company’s lenders ($258.3 million) and payables related to preference shares ($241.9 million), offset by cash held in operating accounts ($8.3 million).</a:t>
            </a:r>
          </a:p>
          <a:p>
            <a:pPr>
              <a:spcAft>
                <a:spcPts val="300"/>
              </a:spcAft>
              <a:defRPr/>
            </a:pPr>
            <a:r>
              <a:rPr lang="en-US" b="0" dirty="0">
                <a:solidFill>
                  <a:schemeClr val="tx1"/>
                </a:solidFill>
              </a:rPr>
              <a:t>Other reclass items which you may wish to consider as part of your purchase price negotiations include the following:</a:t>
            </a:r>
          </a:p>
          <a:p>
            <a:pPr marL="171450" indent="-171450">
              <a:spcAft>
                <a:spcPts val="300"/>
              </a:spcAft>
              <a:buFont typeface="Arial" panose="020B0604020202020204" pitchFamily="34" charset="0"/>
              <a:buChar char="•"/>
              <a:defRPr/>
            </a:pPr>
            <a:r>
              <a:rPr lang="en-US" b="0" dirty="0">
                <a:solidFill>
                  <a:schemeClr val="tx1"/>
                </a:solidFill>
              </a:rPr>
              <a:t>deferred income balances related to upfront receipt of override income from carriers which is contingent on portfolio transfers proceeding as expected (Dec-24: $2.1 million);</a:t>
            </a:r>
          </a:p>
          <a:p>
            <a:pPr marL="171450" indent="-171450">
              <a:spcAft>
                <a:spcPts val="300"/>
              </a:spcAft>
              <a:buFont typeface="Arial" panose="020B0604020202020204" pitchFamily="34" charset="0"/>
              <a:buChar char="•"/>
              <a:defRPr/>
            </a:pPr>
            <a:r>
              <a:rPr lang="en-US" b="0" dirty="0">
                <a:solidFill>
                  <a:schemeClr val="tx1"/>
                </a:solidFill>
              </a:rPr>
              <a:t>surplus cash above minimum in trust thresholds in operating subsidiaries (Dec-24: $7.0 million); and</a:t>
            </a:r>
          </a:p>
          <a:p>
            <a:pPr marL="171450" indent="-171450">
              <a:spcAft>
                <a:spcPts val="300"/>
              </a:spcAft>
              <a:buFont typeface="Arial" panose="020B0604020202020204" pitchFamily="34" charset="0"/>
              <a:buChar char="•"/>
              <a:defRPr/>
            </a:pPr>
            <a:r>
              <a:rPr lang="en-US" b="0" dirty="0">
                <a:solidFill>
                  <a:schemeClr val="tx1"/>
                </a:solidFill>
              </a:rPr>
              <a:t>supplier balances relating to capital expenditure incurred pre-closing (Dec-24: $0.1 million).</a:t>
            </a:r>
          </a:p>
          <a:p>
            <a:pPr>
              <a:spcAft>
                <a:spcPts val="300"/>
              </a:spcAft>
              <a:defRPr/>
            </a:pPr>
            <a:r>
              <a:rPr lang="en-US" b="0" dirty="0">
                <a:solidFill>
                  <a:schemeClr val="tx1"/>
                </a:solidFill>
              </a:rPr>
              <a:t>There may also be argument for the negotiation of other items which may warrant purchase price deduction but could be fully quantified as at the date of reporting including unpaid contractual dividends on preference shares, residual IT systems migration and upgrade costs associated with past acquisitions, and purchase consideration payable with respect to acquisitions which completed in early 2025.</a:t>
            </a:r>
          </a:p>
        </p:txBody>
      </p:sp>
      <p:sp>
        <p:nvSpPr>
          <p:cNvPr id="15" name="Rectangle 14">
            <a:extLst>
              <a:ext uri="{FF2B5EF4-FFF2-40B4-BE49-F238E27FC236}">
                <a16:creationId xmlns:a16="http://schemas.microsoft.com/office/drawing/2014/main" id="{DEF88E5A-A04A-B45E-E8F0-D46CDC75B296}"/>
              </a:ext>
            </a:extLst>
          </p:cNvPr>
          <p:cNvSpPr/>
          <p:nvPr/>
        </p:nvSpPr>
        <p:spPr>
          <a:xfrm>
            <a:off x="6173316" y="1431513"/>
            <a:ext cx="5035035" cy="4329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i="1" dirty="0">
                <a:solidFill>
                  <a:schemeClr val="bg1"/>
                </a:solidFill>
              </a:rPr>
              <a:t>[Our working is continuing on validating the inputs to the minority equity and minority debt calculations provided by the Vendors.]</a:t>
            </a:r>
            <a:endParaRPr lang="en-US" sz="1050" dirty="0">
              <a:solidFill>
                <a:schemeClr val="bg1"/>
              </a:solidFill>
            </a:endParaRPr>
          </a:p>
        </p:txBody>
      </p:sp>
      <p:pic>
        <p:nvPicPr>
          <p:cNvPr id="25" name="Picture 24">
            <a:extLst>
              <a:ext uri="{FF2B5EF4-FFF2-40B4-BE49-F238E27FC236}">
                <a16:creationId xmlns:a16="http://schemas.microsoft.com/office/drawing/2014/main" id="{BE78E598-10F9-0266-D82C-366BD7A381AC}"/>
              </a:ext>
            </a:extLst>
          </p:cNvPr>
          <p:cNvPicPr>
            <a:picLocks noChangeAspect="1"/>
          </p:cNvPicPr>
          <p:nvPr>
            <p:custDataLst>
              <p:tags r:id="rId4"/>
            </p:custDataLst>
          </p:nvPr>
        </p:nvPicPr>
        <p:blipFill>
          <a:blip r:embed="rId11"/>
          <a:stretch>
            <a:fillRect/>
          </a:stretch>
        </p:blipFill>
        <p:spPr>
          <a:xfrm>
            <a:off x="-2793400" y="2972308"/>
            <a:ext cx="2030144" cy="2267909"/>
          </a:xfrm>
          <a:prstGeom prst="rect">
            <a:avLst/>
          </a:prstGeom>
        </p:spPr>
      </p:pic>
      <p:sp>
        <p:nvSpPr>
          <p:cNvPr id="27" name="Text Placeholder 12">
            <a:extLst>
              <a:ext uri="{FF2B5EF4-FFF2-40B4-BE49-F238E27FC236}">
                <a16:creationId xmlns:a16="http://schemas.microsoft.com/office/drawing/2014/main" id="{D58CCF89-1E37-22B8-E0BB-6151684636B4}"/>
              </a:ext>
            </a:extLst>
          </p:cNvPr>
          <p:cNvSpPr txBox="1">
            <a:spLocks/>
          </p:cNvSpPr>
          <p:nvPr/>
        </p:nvSpPr>
        <p:spPr>
          <a:xfrm>
            <a:off x="990983" y="3330092"/>
            <a:ext cx="3600000"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6" name="Picture 5">
            <a:extLst>
              <a:ext uri="{FF2B5EF4-FFF2-40B4-BE49-F238E27FC236}">
                <a16:creationId xmlns:a16="http://schemas.microsoft.com/office/drawing/2014/main" id="{41C86A41-B5F7-E680-929B-ED8FBADF7718}"/>
              </a:ext>
            </a:extLst>
          </p:cNvPr>
          <p:cNvPicPr>
            <a:picLocks noChangeAspect="1"/>
          </p:cNvPicPr>
          <p:nvPr>
            <p:custDataLst>
              <p:tags r:id="rId5"/>
            </p:custDataLst>
          </p:nvPr>
        </p:nvPicPr>
        <p:blipFill>
          <a:blip r:embed="rId12"/>
          <a:stretch>
            <a:fillRect/>
          </a:stretch>
        </p:blipFill>
        <p:spPr>
          <a:xfrm>
            <a:off x="990983" y="1419954"/>
            <a:ext cx="2971800" cy="1921698"/>
          </a:xfrm>
          <a:prstGeom prst="rect">
            <a:avLst/>
          </a:prstGeom>
        </p:spPr>
      </p:pic>
      <p:grpSp>
        <p:nvGrpSpPr>
          <p:cNvPr id="32" name="Group 31">
            <a:extLst>
              <a:ext uri="{FF2B5EF4-FFF2-40B4-BE49-F238E27FC236}">
                <a16:creationId xmlns:a16="http://schemas.microsoft.com/office/drawing/2014/main" id="{D14FFD9B-E8F2-5181-DDD0-C3245B51EFD4}"/>
              </a:ext>
            </a:extLst>
          </p:cNvPr>
          <p:cNvGrpSpPr/>
          <p:nvPr>
            <p:custDataLst>
              <p:tags r:id="rId6"/>
            </p:custDataLst>
          </p:nvPr>
        </p:nvGrpSpPr>
        <p:grpSpPr>
          <a:xfrm>
            <a:off x="995364" y="153170"/>
            <a:ext cx="5024685" cy="195814"/>
            <a:chOff x="995364" y="153170"/>
            <a:chExt cx="5024685" cy="195814"/>
          </a:xfrm>
        </p:grpSpPr>
        <p:sp>
          <p:nvSpPr>
            <p:cNvPr id="33" name="Current Section1">
              <a:hlinkClick r:id="rId13"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Executive summary</a:t>
              </a:r>
            </a:p>
          </p:txBody>
        </p:sp>
        <p:sp>
          <p:nvSpPr>
            <p:cNvPr id="34"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5"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116807"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6"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738579"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7"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3122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93274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hlinkClick r:id="rId15" action="ppaction://hlinksldjump"/>
            <a:extLst>
              <a:ext uri="{FF2B5EF4-FFF2-40B4-BE49-F238E27FC236}">
                <a16:creationId xmlns:a16="http://schemas.microsoft.com/office/drawing/2014/main" id="{A9CF5A46-0653-8075-9B43-E02F08CBCEDB}"/>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dirty="0">
                <a:solidFill>
                  <a:srgbClr val="FFFFFF"/>
                </a:solidFill>
                <a:latin typeface="+mj-lt"/>
              </a:rPr>
              <a:t>Quality of earnings</a:t>
            </a:r>
          </a:p>
        </p:txBody>
      </p:sp>
      <p:sp>
        <p:nvSpPr>
          <p:cNvPr id="17" name="TextBox 16">
            <a:hlinkClick r:id="rId16" action="ppaction://hlinksldjump"/>
            <a:extLst>
              <a:ext uri="{FF2B5EF4-FFF2-40B4-BE49-F238E27FC236}">
                <a16:creationId xmlns:a16="http://schemas.microsoft.com/office/drawing/2014/main" id="{E2EDEF3A-B02F-2314-35AA-22424EDAEF03}"/>
              </a:ext>
            </a:extLst>
          </p:cNvPr>
          <p:cNvSpPr txBox="1"/>
          <p:nvPr>
            <p:custDataLst>
              <p:tags r:id="rId3"/>
            </p:custDataLst>
          </p:nvPr>
        </p:nvSpPr>
        <p:spPr>
          <a:xfrm>
            <a:off x="1714809" y="360470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Quality of earnings</a:t>
            </a:r>
          </a:p>
        </p:txBody>
      </p:sp>
      <p:sp>
        <p:nvSpPr>
          <p:cNvPr id="18" name="TextBox 17">
            <a:hlinkClick r:id="rId17" action="ppaction://hlinksldjump"/>
            <a:extLst>
              <a:ext uri="{FF2B5EF4-FFF2-40B4-BE49-F238E27FC236}">
                <a16:creationId xmlns:a16="http://schemas.microsoft.com/office/drawing/2014/main" id="{7DE485BB-E86B-7553-BCCA-746E17D66945}"/>
              </a:ext>
            </a:extLst>
          </p:cNvPr>
          <p:cNvSpPr txBox="1"/>
          <p:nvPr>
            <p:custDataLst>
              <p:tags r:id="rId4"/>
            </p:custDataLst>
          </p:nvPr>
        </p:nvSpPr>
        <p:spPr>
          <a:xfrm>
            <a:off x="1714809" y="399942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Adjusted income statement</a:t>
            </a:r>
          </a:p>
        </p:txBody>
      </p:sp>
      <p:sp>
        <p:nvSpPr>
          <p:cNvPr id="19" name="TextBox 18">
            <a:hlinkClick r:id="rId18" action="ppaction://hlinksldjump"/>
            <a:extLst>
              <a:ext uri="{FF2B5EF4-FFF2-40B4-BE49-F238E27FC236}">
                <a16:creationId xmlns:a16="http://schemas.microsoft.com/office/drawing/2014/main" id="{057B11D8-D370-37BD-8CFC-9157AED16810}"/>
              </a:ext>
            </a:extLst>
          </p:cNvPr>
          <p:cNvSpPr txBox="1"/>
          <p:nvPr>
            <p:custDataLst>
              <p:tags r:id="rId5"/>
            </p:custDataLst>
          </p:nvPr>
        </p:nvSpPr>
        <p:spPr>
          <a:xfrm>
            <a:off x="1714809" y="439413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Adjusted EBITDA by source</a:t>
            </a:r>
          </a:p>
        </p:txBody>
      </p:sp>
      <p:sp>
        <p:nvSpPr>
          <p:cNvPr id="20" name="TextBox 19">
            <a:hlinkClick r:id="rId15" action="ppaction://hlinksldjump"/>
            <a:extLst>
              <a:ext uri="{FF2B5EF4-FFF2-40B4-BE49-F238E27FC236}">
                <a16:creationId xmlns:a16="http://schemas.microsoft.com/office/drawing/2014/main" id="{BDE7019D-39BD-B478-200B-2B5A5CF2E1D3}"/>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dirty="0">
                <a:solidFill>
                  <a:srgbClr val="FFFFFF"/>
                </a:solidFill>
                <a:latin typeface="+mj-lt"/>
              </a:rPr>
              <a:t>02</a:t>
            </a:r>
          </a:p>
        </p:txBody>
      </p:sp>
      <p:sp>
        <p:nvSpPr>
          <p:cNvPr id="21" name="TextBox 20">
            <a:hlinkClick r:id="rId15" action="ppaction://hlinksldjump"/>
            <a:extLst>
              <a:ext uri="{FF2B5EF4-FFF2-40B4-BE49-F238E27FC236}">
                <a16:creationId xmlns:a16="http://schemas.microsoft.com/office/drawing/2014/main" id="{644AD00A-FE04-B3EC-D5BF-84A2EC33FBE2}"/>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dirty="0">
                <a:ln>
                  <a:noFill/>
                </a:ln>
                <a:noFill/>
                <a:latin typeface="+mj-lt"/>
              </a:rPr>
              <a:t>14</a:t>
            </a:r>
          </a:p>
        </p:txBody>
      </p:sp>
      <p:sp>
        <p:nvSpPr>
          <p:cNvPr id="22" name="TextBox 21">
            <a:hlinkClick r:id="rId16" action="ppaction://hlinksldjump"/>
            <a:extLst>
              <a:ext uri="{FF2B5EF4-FFF2-40B4-BE49-F238E27FC236}">
                <a16:creationId xmlns:a16="http://schemas.microsoft.com/office/drawing/2014/main" id="{8E79147B-AF43-FCF8-24DC-6BA36F64CB86}"/>
              </a:ext>
            </a:extLst>
          </p:cNvPr>
          <p:cNvSpPr txBox="1"/>
          <p:nvPr>
            <p:custDataLst>
              <p:tags r:id="rId8"/>
            </p:custDataLst>
          </p:nvPr>
        </p:nvSpPr>
        <p:spPr bwMode="auto">
          <a:xfrm>
            <a:off x="1332373" y="36047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2.1</a:t>
            </a:r>
          </a:p>
        </p:txBody>
      </p:sp>
      <p:sp>
        <p:nvSpPr>
          <p:cNvPr id="23" name="TextBox 22">
            <a:hlinkClick r:id="rId17" action="ppaction://hlinksldjump"/>
            <a:extLst>
              <a:ext uri="{FF2B5EF4-FFF2-40B4-BE49-F238E27FC236}">
                <a16:creationId xmlns:a16="http://schemas.microsoft.com/office/drawing/2014/main" id="{23E83595-10D9-6BF2-7885-E67715152C0B}"/>
              </a:ext>
            </a:extLst>
          </p:cNvPr>
          <p:cNvSpPr txBox="1"/>
          <p:nvPr>
            <p:custDataLst>
              <p:tags r:id="rId9"/>
            </p:custDataLst>
          </p:nvPr>
        </p:nvSpPr>
        <p:spPr bwMode="auto">
          <a:xfrm>
            <a:off x="1332373" y="39994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2.2</a:t>
            </a:r>
          </a:p>
        </p:txBody>
      </p:sp>
      <p:sp>
        <p:nvSpPr>
          <p:cNvPr id="24" name="TextBox 23">
            <a:hlinkClick r:id="rId18" action="ppaction://hlinksldjump"/>
            <a:extLst>
              <a:ext uri="{FF2B5EF4-FFF2-40B4-BE49-F238E27FC236}">
                <a16:creationId xmlns:a16="http://schemas.microsoft.com/office/drawing/2014/main" id="{B28D1949-CC12-23E9-DA14-06CD1AEBD6CE}"/>
              </a:ext>
            </a:extLst>
          </p:cNvPr>
          <p:cNvSpPr txBox="1"/>
          <p:nvPr>
            <p:custDataLst>
              <p:tags r:id="rId10"/>
            </p:custDataLst>
          </p:nvPr>
        </p:nvSpPr>
        <p:spPr bwMode="auto">
          <a:xfrm>
            <a:off x="1332373" y="43941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2.3</a:t>
            </a:r>
          </a:p>
        </p:txBody>
      </p:sp>
      <p:sp>
        <p:nvSpPr>
          <p:cNvPr id="25" name="TextBox 24">
            <a:hlinkClick r:id="rId16" action="ppaction://hlinksldjump"/>
            <a:extLst>
              <a:ext uri="{FF2B5EF4-FFF2-40B4-BE49-F238E27FC236}">
                <a16:creationId xmlns:a16="http://schemas.microsoft.com/office/drawing/2014/main" id="{EE35DEEB-B1E4-9D9D-6D8A-0F5890033A17}"/>
              </a:ext>
            </a:extLst>
          </p:cNvPr>
          <p:cNvSpPr txBox="1"/>
          <p:nvPr>
            <p:custDataLst>
              <p:tags r:id="rId11"/>
            </p:custDataLst>
          </p:nvPr>
        </p:nvSpPr>
        <p:spPr>
          <a:xfrm>
            <a:off x="6163612" y="36047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15</a:t>
            </a:r>
          </a:p>
        </p:txBody>
      </p:sp>
      <p:sp>
        <p:nvSpPr>
          <p:cNvPr id="26" name="TextBox 25">
            <a:hlinkClick r:id="rId17" action="ppaction://hlinksldjump"/>
            <a:extLst>
              <a:ext uri="{FF2B5EF4-FFF2-40B4-BE49-F238E27FC236}">
                <a16:creationId xmlns:a16="http://schemas.microsoft.com/office/drawing/2014/main" id="{9C6E96CE-9B24-BCD3-33CB-5E31DD31CB04}"/>
              </a:ext>
            </a:extLst>
          </p:cNvPr>
          <p:cNvSpPr txBox="1"/>
          <p:nvPr>
            <p:custDataLst>
              <p:tags r:id="rId12"/>
            </p:custDataLst>
          </p:nvPr>
        </p:nvSpPr>
        <p:spPr>
          <a:xfrm>
            <a:off x="6163612" y="39994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31</a:t>
            </a:r>
          </a:p>
        </p:txBody>
      </p:sp>
      <p:sp>
        <p:nvSpPr>
          <p:cNvPr id="27" name="TextBox 26">
            <a:hlinkClick r:id="rId18" action="ppaction://hlinksldjump"/>
            <a:extLst>
              <a:ext uri="{FF2B5EF4-FFF2-40B4-BE49-F238E27FC236}">
                <a16:creationId xmlns:a16="http://schemas.microsoft.com/office/drawing/2014/main" id="{4653F5C5-09F6-8D83-64B0-AFF0C2AD90B9}"/>
              </a:ext>
            </a:extLst>
          </p:cNvPr>
          <p:cNvSpPr txBox="1"/>
          <p:nvPr>
            <p:custDataLst>
              <p:tags r:id="rId13"/>
            </p:custDataLst>
          </p:nvPr>
        </p:nvSpPr>
        <p:spPr>
          <a:xfrm>
            <a:off x="6163612" y="43941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35</a:t>
            </a:r>
          </a:p>
        </p:txBody>
      </p:sp>
    </p:spTree>
    <p:custDataLst>
      <p:tags r:id="rId1"/>
    </p:custDataLst>
    <p:extLst>
      <p:ext uri="{BB962C8B-B14F-4D97-AF65-F5344CB8AC3E}">
        <p14:creationId xmlns:p14="http://schemas.microsoft.com/office/powerpoint/2010/main" val="2671633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overview (1/2)</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3" y="982857"/>
            <a:ext cx="10195200" cy="638596"/>
          </a:xfrm>
        </p:spPr>
        <p:txBody>
          <a:bodyPr/>
          <a:lstStyle/>
          <a:p>
            <a:r>
              <a:rPr lang="en-US" dirty="0"/>
              <a:t>The sell-side due diligence report presented a total of $11.4 million in adjustments to reported EBITDA in FY24 (TTM Oct-24: $13.3 million). Adjustments to the sell-side pro forma adjusted EBITDA identified as part of our work include a number of challenges to the adjustments presented in the sell-side due diligence report (FY24: $5.5 million), alongside other potential and pro forma adjustments which have been quantified as part of our analysis, amounting to $4.8 million in FY24.</a:t>
            </a:r>
            <a:endParaRPr lang="fi-FI"/>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924837" y="7379894"/>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QofE schedule (FY22-24): Total for each grouping of adjustments and supporting commentary. Sell-side adjs to refer back to EY report</a:t>
            </a:r>
          </a:p>
        </p:txBody>
      </p:sp>
      <p:sp>
        <p:nvSpPr>
          <p:cNvPr id="29" name="Text Placeholder 16">
            <a:extLst>
              <a:ext uri="{FF2B5EF4-FFF2-40B4-BE49-F238E27FC236}">
                <a16:creationId xmlns:a16="http://schemas.microsoft.com/office/drawing/2014/main" id="{A717FB53-32DA-ED84-229D-37599589D80B}"/>
              </a:ext>
            </a:extLst>
          </p:cNvPr>
          <p:cNvSpPr>
            <a:spLocks noGrp="1"/>
          </p:cNvSpPr>
          <p:nvPr>
            <p:ph type="body" sz="quarter" idx="11"/>
          </p:nvPr>
        </p:nvSpPr>
        <p:spPr>
          <a:xfrm>
            <a:off x="5484813" y="1473073"/>
            <a:ext cx="5715000" cy="252000"/>
          </a:xfrm>
        </p:spPr>
        <p:txBody>
          <a:bodyPr/>
          <a:lstStyle/>
          <a:p>
            <a:r>
              <a:rPr lang="fi-FI"/>
              <a:t>Basis of preparation</a:t>
            </a:r>
          </a:p>
        </p:txBody>
      </p:sp>
      <p:sp>
        <p:nvSpPr>
          <p:cNvPr id="30" name="Text Placeholder 5">
            <a:extLst>
              <a:ext uri="{FF2B5EF4-FFF2-40B4-BE49-F238E27FC236}">
                <a16:creationId xmlns:a16="http://schemas.microsoft.com/office/drawing/2014/main" id="{0D495A0A-8095-C886-6CEE-C5B1A4669D27}"/>
              </a:ext>
            </a:extLst>
          </p:cNvPr>
          <p:cNvSpPr>
            <a:spLocks noGrp="1"/>
          </p:cNvSpPr>
          <p:nvPr>
            <p:ph type="body" sz="quarter" idx="26"/>
          </p:nvPr>
        </p:nvSpPr>
        <p:spPr>
          <a:xfrm>
            <a:off x="5484813" y="1764143"/>
            <a:ext cx="5624608" cy="3864416"/>
          </a:xfrm>
        </p:spPr>
        <p:txBody>
          <a:bodyPr/>
          <a:lstStyle/>
          <a:p>
            <a:pPr marL="0" lvl="2" indent="0">
              <a:buNone/>
            </a:pPr>
            <a:r>
              <a:rPr lang="en-US" dirty="0"/>
              <a:t>The quality of earnings analysis presents pro forma adjusted EBITDA for FY22, FY23, TTM Oct-24, and FY24. Pro forma adjusted EBITDA comprises of the following components:</a:t>
            </a:r>
          </a:p>
          <a:p>
            <a:pPr lvl="2"/>
            <a:r>
              <a:rPr lang="en-US" sz="1000" b="1" dirty="0"/>
              <a:t>Reported EBITDA</a:t>
            </a:r>
            <a:r>
              <a:rPr lang="en-US" sz="1000" dirty="0"/>
              <a:t>: Reflects the Company’s reported earnings before, tax, interest expense, depreciation and amortization charges. Interest expense includes both interest on </a:t>
            </a:r>
            <a:r>
              <a:rPr lang="en-US" dirty="0"/>
              <a:t>bank loans </a:t>
            </a:r>
            <a:r>
              <a:rPr lang="en-US" sz="1000" dirty="0"/>
              <a:t>and dividends on retractable or mandatorily redeemable preferred shares</a:t>
            </a:r>
            <a:r>
              <a:rPr lang="en-US" dirty="0"/>
              <a:t>.</a:t>
            </a:r>
          </a:p>
          <a:p>
            <a:pPr lvl="2"/>
            <a:r>
              <a:rPr lang="en-US" sz="1000" b="1" dirty="0"/>
              <a:t>Sell-side adjustments</a:t>
            </a:r>
            <a:r>
              <a:rPr lang="en-US" sz="1000" dirty="0"/>
              <a:t>: The sell-side due diligence report prepared by EY presented earnings </a:t>
            </a:r>
            <a:r>
              <a:rPr lang="en-US" dirty="0"/>
              <a:t>adjustments for FY22, FY23, and TTM Oct-24. The most significant adjustments include extraordinary and non-recurring items (FY24: $4.5 million), non-recurring salaries and benefits (FY24: $1.5 million), shareholder expenses (FY24: $1.7 million), and transaction costs (FY24: $1.2 million). Refer to Appendix 2 and the sell-side due diligence report for further commentary.</a:t>
            </a:r>
            <a:endParaRPr lang="en-US" sz="1000" dirty="0"/>
          </a:p>
          <a:p>
            <a:pPr lvl="2"/>
            <a:r>
              <a:rPr lang="en-US" b="1" dirty="0"/>
              <a:t>Pro forma sell-side adjustments</a:t>
            </a:r>
            <a:r>
              <a:rPr lang="en-US" dirty="0"/>
              <a:t>: Pro forma adjustments presented in the sell-side due diligence report mainly relate to pre-acquisition earnings for businesses which were acquired during the Historical Period (FY24: $1.1 million); and other potential cost savings in rent, audit fees, and IT costs as a result of BMS migration initiatives. Refer to Appendix 2 and the sell-side due diligence report for further commentary.</a:t>
            </a:r>
          </a:p>
          <a:p>
            <a:pPr lvl="2"/>
            <a:r>
              <a:rPr lang="en-US" sz="1000" b="1" dirty="0"/>
              <a:t>Challenges to sell-side adjustments</a:t>
            </a:r>
            <a:r>
              <a:rPr lang="en-US" sz="1000" dirty="0"/>
              <a:t>: Reflect </a:t>
            </a:r>
            <a:r>
              <a:rPr lang="en-US" dirty="0"/>
              <a:t>quantified</a:t>
            </a:r>
            <a:r>
              <a:rPr lang="en-US" sz="1000" dirty="0"/>
              <a:t> reversals and refinements to EBITDA adjustments presented in the sell-side </a:t>
            </a:r>
            <a:r>
              <a:rPr lang="en-US" dirty="0"/>
              <a:t>d</a:t>
            </a:r>
            <a:r>
              <a:rPr lang="en-US" sz="1000" dirty="0"/>
              <a:t>iligence report. </a:t>
            </a:r>
            <a:r>
              <a:rPr lang="en-US" dirty="0"/>
              <a:t>Our</a:t>
            </a:r>
            <a:r>
              <a:rPr lang="en-US" sz="1000" dirty="0"/>
              <a:t> challenges primarily relate to certain </a:t>
            </a:r>
            <a:r>
              <a:rPr lang="en-US" dirty="0"/>
              <a:t>professional fees, IT costs, advertising, and salaries which are characterized as non-recurring in the sell-side due diligence report but appear to be incurred at a consistent level across FY22 to FY24 or relate to normal course business activities. Refer to pages 18-22 for commentary.</a:t>
            </a:r>
            <a:endParaRPr lang="en-US" sz="1000" dirty="0"/>
          </a:p>
          <a:p>
            <a:pPr marL="0" lvl="2" indent="0">
              <a:buNone/>
            </a:pPr>
            <a:endParaRPr lang="en-US" sz="1000" dirty="0"/>
          </a:p>
        </p:txBody>
      </p:sp>
      <p:sp>
        <p:nvSpPr>
          <p:cNvPr id="26" name="Text Placeholder 12">
            <a:extLst>
              <a:ext uri="{FF2B5EF4-FFF2-40B4-BE49-F238E27FC236}">
                <a16:creationId xmlns:a16="http://schemas.microsoft.com/office/drawing/2014/main" id="{62501F08-AA4C-5020-AEEC-A6FF264DA34A}"/>
              </a:ext>
            </a:extLst>
          </p:cNvPr>
          <p:cNvSpPr txBox="1">
            <a:spLocks/>
          </p:cNvSpPr>
          <p:nvPr/>
        </p:nvSpPr>
        <p:spPr>
          <a:xfrm>
            <a:off x="1003312" y="3929614"/>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7" name="Picture 16">
            <a:extLst>
              <a:ext uri="{FF2B5EF4-FFF2-40B4-BE49-F238E27FC236}">
                <a16:creationId xmlns:a16="http://schemas.microsoft.com/office/drawing/2014/main" id="{407D8BAC-EDF8-4A2E-FBB2-E75C0BD1259C}"/>
              </a:ext>
            </a:extLst>
          </p:cNvPr>
          <p:cNvPicPr>
            <a:picLocks noChangeAspect="1"/>
          </p:cNvPicPr>
          <p:nvPr>
            <p:custDataLst>
              <p:tags r:id="rId4"/>
            </p:custDataLst>
          </p:nvPr>
        </p:nvPicPr>
        <p:blipFill>
          <a:blip r:embed="rId10"/>
          <a:stretch>
            <a:fillRect/>
          </a:stretch>
        </p:blipFill>
        <p:spPr>
          <a:xfrm>
            <a:off x="1003312" y="1472396"/>
            <a:ext cx="4342871" cy="2423160"/>
          </a:xfrm>
          <a:prstGeom prst="rect">
            <a:avLst/>
          </a:prstGeom>
        </p:spPr>
      </p:pic>
      <p:grpSp>
        <p:nvGrpSpPr>
          <p:cNvPr id="36" name="Group 35">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28"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674604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overview (2/2)</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279236" y="7010531"/>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QofE schedule (FY22-24): Total for each grouping of adjustments and supporting commentary. Sell-side adjs to refer back to EY report</a:t>
            </a:r>
          </a:p>
        </p:txBody>
      </p:sp>
      <p:sp>
        <p:nvSpPr>
          <p:cNvPr id="29" name="Text Placeholder 16">
            <a:extLst>
              <a:ext uri="{FF2B5EF4-FFF2-40B4-BE49-F238E27FC236}">
                <a16:creationId xmlns:a16="http://schemas.microsoft.com/office/drawing/2014/main" id="{A717FB53-32DA-ED84-229D-37599589D80B}"/>
              </a:ext>
            </a:extLst>
          </p:cNvPr>
          <p:cNvSpPr>
            <a:spLocks noGrp="1"/>
          </p:cNvSpPr>
          <p:nvPr>
            <p:ph type="body" sz="quarter" idx="11"/>
          </p:nvPr>
        </p:nvSpPr>
        <p:spPr>
          <a:xfrm>
            <a:off x="5484813" y="1330325"/>
            <a:ext cx="5715000" cy="252000"/>
          </a:xfrm>
        </p:spPr>
        <p:txBody>
          <a:bodyPr/>
          <a:lstStyle/>
          <a:p>
            <a:r>
              <a:rPr lang="fi-FI"/>
              <a:t>Basis of preparation (continued)</a:t>
            </a:r>
          </a:p>
        </p:txBody>
      </p:sp>
      <p:sp>
        <p:nvSpPr>
          <p:cNvPr id="30" name="Text Placeholder 5">
            <a:extLst>
              <a:ext uri="{FF2B5EF4-FFF2-40B4-BE49-F238E27FC236}">
                <a16:creationId xmlns:a16="http://schemas.microsoft.com/office/drawing/2014/main" id="{0D495A0A-8095-C886-6CEE-C5B1A4669D27}"/>
              </a:ext>
            </a:extLst>
          </p:cNvPr>
          <p:cNvSpPr>
            <a:spLocks noGrp="1"/>
          </p:cNvSpPr>
          <p:nvPr>
            <p:ph type="body" sz="quarter" idx="26"/>
          </p:nvPr>
        </p:nvSpPr>
        <p:spPr>
          <a:xfrm>
            <a:off x="5478600" y="1582325"/>
            <a:ext cx="5715000" cy="3864416"/>
          </a:xfrm>
        </p:spPr>
        <p:txBody>
          <a:bodyPr/>
          <a:lstStyle/>
          <a:p>
            <a:pPr lvl="2"/>
            <a:r>
              <a:rPr lang="en-US" b="1" dirty="0"/>
              <a:t>Other potential adjustments</a:t>
            </a:r>
            <a:r>
              <a:rPr lang="en-US" dirty="0"/>
              <a:t>: : Comprise other adjustments to EBITDA that have been identified through the course of our work including reversal of override income considered to be one-time in nature (FY24: $4.1 million), overlay of an average annual transaction costs amount to support inorganic growth (FY24: $1.2 million), and other non-recurring income and expenses recorded in the Historical Period. Refer to pages 23-26 for commentary.</a:t>
            </a:r>
          </a:p>
          <a:p>
            <a:pPr lvl="2"/>
            <a:r>
              <a:rPr lang="en-US" b="1" dirty="0"/>
              <a:t>P</a:t>
            </a:r>
            <a:r>
              <a:rPr lang="en-US" sz="1000" b="1" dirty="0"/>
              <a:t>ro forma adjustments</a:t>
            </a:r>
            <a:r>
              <a:rPr lang="en-US" sz="1000" dirty="0"/>
              <a:t>: Adjustments are made to illustrate the full-year impact of recently completed acquisitions of BMB Assurances and Daniel Belley</a:t>
            </a:r>
            <a:r>
              <a:rPr lang="en-US" dirty="0"/>
              <a:t> </a:t>
            </a:r>
            <a:r>
              <a:rPr lang="en-US" sz="1000" dirty="0"/>
              <a:t>and the corresponding effect on historical earnings. Refer to page 27 for commentary.</a:t>
            </a:r>
          </a:p>
          <a:p>
            <a:pPr lvl="2"/>
            <a:r>
              <a:rPr lang="en-US" b="1" dirty="0"/>
              <a:t>Other considerations</a:t>
            </a:r>
            <a:r>
              <a:rPr lang="en-US" dirty="0"/>
              <a:t>: Represent other items which should be considered in your assessment of EBITDA of the Company, although these predominately relate to go forward operations or could not be fully quantified at the date of reporting. Refer to pages 28-30 for commentary.</a:t>
            </a:r>
            <a:endParaRPr lang="en-US" sz="1000" dirty="0"/>
          </a:p>
          <a:p>
            <a:pPr marL="0" lvl="2" indent="0">
              <a:buNone/>
            </a:pPr>
            <a:endParaRPr lang="en-US" sz="1000" dirty="0"/>
          </a:p>
        </p:txBody>
      </p:sp>
      <p:sp>
        <p:nvSpPr>
          <p:cNvPr id="9" name="Text Placeholder 12">
            <a:extLst>
              <a:ext uri="{FF2B5EF4-FFF2-40B4-BE49-F238E27FC236}">
                <a16:creationId xmlns:a16="http://schemas.microsoft.com/office/drawing/2014/main" id="{E822AF8E-BF42-9164-9A52-74762AF27184}"/>
              </a:ext>
            </a:extLst>
          </p:cNvPr>
          <p:cNvSpPr txBox="1">
            <a:spLocks/>
          </p:cNvSpPr>
          <p:nvPr/>
        </p:nvSpPr>
        <p:spPr>
          <a:xfrm>
            <a:off x="1003312" y="3787543"/>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6" name="Picture 15">
            <a:extLst>
              <a:ext uri="{FF2B5EF4-FFF2-40B4-BE49-F238E27FC236}">
                <a16:creationId xmlns:a16="http://schemas.microsoft.com/office/drawing/2014/main" id="{CD02C188-C711-D101-9EFB-F80869987B0E}"/>
              </a:ext>
            </a:extLst>
          </p:cNvPr>
          <p:cNvPicPr>
            <a:picLocks noChangeAspect="1"/>
          </p:cNvPicPr>
          <p:nvPr>
            <p:custDataLst>
              <p:tags r:id="rId4"/>
            </p:custDataLst>
          </p:nvPr>
        </p:nvPicPr>
        <p:blipFill>
          <a:blip r:embed="rId10"/>
          <a:stretch>
            <a:fillRect/>
          </a:stretch>
        </p:blipFill>
        <p:spPr>
          <a:xfrm>
            <a:off x="1003312" y="1330325"/>
            <a:ext cx="4342871" cy="2423160"/>
          </a:xfrm>
          <a:prstGeom prst="rect">
            <a:avLst/>
          </a:prstGeom>
        </p:spPr>
      </p:pic>
      <p:grpSp>
        <p:nvGrpSpPr>
          <p:cNvPr id="25" name="Group 24">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6"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80051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nature of adjustments</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1018628" y="997981"/>
            <a:ext cx="10170060" cy="533400"/>
          </a:xfrm>
        </p:spPr>
        <p:txBody>
          <a:bodyPr/>
          <a:lstStyle/>
          <a:p>
            <a:r>
              <a:rPr lang="en-US" dirty="0"/>
              <a:t>The table below presents a complementary view of the quality of earnings analysis, where adjustments are categorized between computational errors, reversal of override income, and differences between sell-side due diligence adjustments and our perspectives thereon combined with other potential adjustments noted during the course of our due diligence work. Most adjustments presented herein can be interpreted as differences in perspective.</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327312" y="7052222"/>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QofE schedule (FY22-24): Alternative grouping of adjustments and supporting commentary (i.e. calculation errors / issues from Management / EY pack; overrides elimination; and other adjustments / differences of opinion)</a:t>
            </a:r>
          </a:p>
        </p:txBody>
      </p:sp>
      <p:sp>
        <p:nvSpPr>
          <p:cNvPr id="34" name="Text Placeholder 16">
            <a:extLst>
              <a:ext uri="{FF2B5EF4-FFF2-40B4-BE49-F238E27FC236}">
                <a16:creationId xmlns:a16="http://schemas.microsoft.com/office/drawing/2014/main" id="{BD7C713F-AE90-E46E-ECC0-7FEC5247F441}"/>
              </a:ext>
            </a:extLst>
          </p:cNvPr>
          <p:cNvSpPr>
            <a:spLocks noGrp="1"/>
          </p:cNvSpPr>
          <p:nvPr>
            <p:ph type="body" sz="quarter" idx="11"/>
          </p:nvPr>
        </p:nvSpPr>
        <p:spPr>
          <a:xfrm>
            <a:off x="5484813" y="1499584"/>
            <a:ext cx="5715000" cy="252000"/>
          </a:xfrm>
        </p:spPr>
        <p:txBody>
          <a:bodyPr/>
          <a:lstStyle/>
          <a:p>
            <a:r>
              <a:rPr lang="fi-FI"/>
              <a:t>Alternative view of adjustments</a:t>
            </a:r>
          </a:p>
        </p:txBody>
      </p:sp>
      <p:sp>
        <p:nvSpPr>
          <p:cNvPr id="35" name="Text Placeholder 5">
            <a:extLst>
              <a:ext uri="{FF2B5EF4-FFF2-40B4-BE49-F238E27FC236}">
                <a16:creationId xmlns:a16="http://schemas.microsoft.com/office/drawing/2014/main" id="{71035AE6-AD3E-800D-A47E-821ADA2C9676}"/>
              </a:ext>
            </a:extLst>
          </p:cNvPr>
          <p:cNvSpPr>
            <a:spLocks noGrp="1"/>
          </p:cNvSpPr>
          <p:nvPr>
            <p:ph type="body" sz="quarter" idx="26"/>
          </p:nvPr>
        </p:nvSpPr>
        <p:spPr>
          <a:xfrm>
            <a:off x="5484812" y="1786580"/>
            <a:ext cx="5706845" cy="3864416"/>
          </a:xfrm>
        </p:spPr>
        <p:txBody>
          <a:bodyPr/>
          <a:lstStyle/>
          <a:p>
            <a:pPr marL="0" lvl="2" indent="0">
              <a:buNone/>
            </a:pPr>
            <a:r>
              <a:rPr lang="en-US" sz="1000" b="1" dirty="0"/>
              <a:t>Overview</a:t>
            </a:r>
          </a:p>
          <a:p>
            <a:pPr marL="0" lvl="2" indent="0">
              <a:buNone/>
            </a:pPr>
            <a:r>
              <a:rPr lang="en-US" sz="1000" dirty="0"/>
              <a:t>The </a:t>
            </a:r>
            <a:r>
              <a:rPr lang="en-US" dirty="0"/>
              <a:t>analysis presented opposite illustrates a complementary view of our quality of earnings analysis. Adjustment groupings presented opposite are summarized as follows:</a:t>
            </a:r>
          </a:p>
          <a:p>
            <a:pPr lvl="2"/>
            <a:r>
              <a:rPr lang="en-US" b="1" dirty="0"/>
              <a:t>Computational errors</a:t>
            </a:r>
            <a:r>
              <a:rPr lang="en-US" dirty="0"/>
              <a:t>: Reflect calculation errors and or formulaic issues with adjustments presented in the sell-side due diligence report which, although we substantially agree with in principle, contained certain computational errors further to our analysis of the supporting workings provided. This includes instances where adjustments were double-counted, unreconciled to relevant supporting workings, or indicated potential shortcomings in the allocation of adjustment amounts on a monthly basis.</a:t>
            </a:r>
          </a:p>
          <a:p>
            <a:pPr lvl="2"/>
            <a:r>
              <a:rPr lang="en-US" sz="1000" b="1" dirty="0"/>
              <a:t>Override elimination: </a:t>
            </a:r>
            <a:r>
              <a:rPr lang="en-US" sz="1000" dirty="0"/>
              <a:t>We present our adjustments related to override revenue separately in this </a:t>
            </a:r>
            <a:r>
              <a:rPr lang="en-US" dirty="0"/>
              <a:t>quality of earnings schedule, which includes </a:t>
            </a:r>
            <a:r>
              <a:rPr lang="en-US" sz="1000" dirty="0"/>
              <a:t>the reversal of the sell-side adjustment to true-up override revenue and the </a:t>
            </a:r>
            <a:r>
              <a:rPr lang="en-US" dirty="0"/>
              <a:t>exclusion of </a:t>
            </a:r>
            <a:r>
              <a:rPr lang="en-US" sz="1000" dirty="0"/>
              <a:t>reported override income from EBITDA. Override income recognized in FY23 and FY24 is deemed to be one-time in nature and not a sustainable source of recurring revenue. </a:t>
            </a:r>
          </a:p>
          <a:p>
            <a:pPr lvl="2"/>
            <a:r>
              <a:rPr lang="en-US" b="1" dirty="0"/>
              <a:t>Other adjustments:</a:t>
            </a:r>
            <a:r>
              <a:rPr lang="en-US" dirty="0"/>
              <a:t> Differences of perspectives include adjustments where we fundamentally disagree with the basis or rationale of other adjustments presented in the sell-side due diligence report, in addition to other adjustments identified through the course of our work which were not considered in sell-side pro forma adjusted EBITDA. This primarily relates to expenses identified as non-recurring or specifically related to bolt-on transaction activity in the sell-side due diligence report that we categorize as part of ordinary course operations (FY24: $4.2 million) on the basis that Synex strategic growth is based on both organic initiatives and M&amp;A.</a:t>
            </a:r>
            <a:endParaRPr lang="en-US" sz="1000" dirty="0"/>
          </a:p>
        </p:txBody>
      </p:sp>
      <p:sp>
        <p:nvSpPr>
          <p:cNvPr id="6" name="Text Placeholder 12">
            <a:extLst>
              <a:ext uri="{FF2B5EF4-FFF2-40B4-BE49-F238E27FC236}">
                <a16:creationId xmlns:a16="http://schemas.microsoft.com/office/drawing/2014/main" id="{2E0C1B31-7C9D-F64F-62E3-5377FEE4B0CB}"/>
              </a:ext>
            </a:extLst>
          </p:cNvPr>
          <p:cNvSpPr txBox="1">
            <a:spLocks/>
          </p:cNvSpPr>
          <p:nvPr/>
        </p:nvSpPr>
        <p:spPr>
          <a:xfrm>
            <a:off x="1018628" y="372056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A002C157-3758-5B97-091B-7226700AD06D}"/>
              </a:ext>
            </a:extLst>
          </p:cNvPr>
          <p:cNvPicPr>
            <a:picLocks noChangeAspect="1"/>
          </p:cNvPicPr>
          <p:nvPr>
            <p:custDataLst>
              <p:tags r:id="rId4"/>
            </p:custDataLst>
          </p:nvPr>
        </p:nvPicPr>
        <p:blipFill>
          <a:blip r:embed="rId9"/>
          <a:stretch>
            <a:fillRect/>
          </a:stretch>
        </p:blipFill>
        <p:spPr>
          <a:xfrm>
            <a:off x="1007503" y="1499584"/>
            <a:ext cx="4343400" cy="2193467"/>
          </a:xfrm>
          <a:prstGeom prst="rect">
            <a:avLst/>
          </a:prstGeom>
        </p:spPr>
      </p:pic>
      <p:grpSp>
        <p:nvGrpSpPr>
          <p:cNvPr id="27" name="Group 26">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56218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challenges to sell-side adjustments (1/5)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719008" y="7289459"/>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challenges to sell-side adjustments (FY22-24). Commentary to focus on basis of challenge and alternative view (as relevant)</a:t>
            </a:r>
          </a:p>
        </p:txBody>
      </p:sp>
      <p:sp>
        <p:nvSpPr>
          <p:cNvPr id="26" name="Text Placeholder 16">
            <a:extLst>
              <a:ext uri="{FF2B5EF4-FFF2-40B4-BE49-F238E27FC236}">
                <a16:creationId xmlns:a16="http://schemas.microsoft.com/office/drawing/2014/main" id="{ABE8C2E4-8F6C-DBFE-7E3A-F0095DA083E3}"/>
              </a:ext>
            </a:extLst>
          </p:cNvPr>
          <p:cNvSpPr>
            <a:spLocks noGrp="1"/>
          </p:cNvSpPr>
          <p:nvPr>
            <p:ph type="body" sz="quarter" idx="11"/>
          </p:nvPr>
        </p:nvSpPr>
        <p:spPr>
          <a:xfrm>
            <a:off x="5505790" y="1343646"/>
            <a:ext cx="5715000" cy="252000"/>
          </a:xfrm>
        </p:spPr>
        <p:txBody>
          <a:bodyPr/>
          <a:lstStyle/>
          <a:p>
            <a:r>
              <a:rPr lang="en-US" dirty="0"/>
              <a:t>Challenges to sell-side quality of earnings adjustments</a:t>
            </a:r>
          </a:p>
        </p:txBody>
      </p:sp>
      <p:sp>
        <p:nvSpPr>
          <p:cNvPr id="7" name="Text Placeholder 6">
            <a:extLst>
              <a:ext uri="{FF2B5EF4-FFF2-40B4-BE49-F238E27FC236}">
                <a16:creationId xmlns:a16="http://schemas.microsoft.com/office/drawing/2014/main" id="{AD3ED35E-B96F-24EB-31A5-D451F7A52D08}"/>
              </a:ext>
            </a:extLst>
          </p:cNvPr>
          <p:cNvSpPr>
            <a:spLocks noGrp="1"/>
          </p:cNvSpPr>
          <p:nvPr>
            <p:ph type="body" sz="quarter" idx="27"/>
          </p:nvPr>
        </p:nvSpPr>
        <p:spPr>
          <a:xfrm>
            <a:off x="5505790" y="1583658"/>
            <a:ext cx="5640358" cy="4516866"/>
          </a:xfrm>
        </p:spPr>
        <p:txBody>
          <a:bodyPr/>
          <a:lstStyle/>
          <a:p>
            <a:pPr marL="228600" indent="-228600">
              <a:buFont typeface="+mj-lt"/>
              <a:buAutoNum type="arabicPeriod"/>
            </a:pPr>
            <a:r>
              <a:rPr lang="en-US" dirty="0">
                <a:solidFill>
                  <a:schemeClr val="tx1"/>
                </a:solidFill>
              </a:rPr>
              <a:t>Extraordinary and non-recurring items</a:t>
            </a:r>
          </a:p>
          <a:p>
            <a:pPr marL="285750" indent="-285750">
              <a:buFont typeface="+mj-lt"/>
              <a:buAutoNum type="romanLcPeriod"/>
            </a:pPr>
            <a:r>
              <a:rPr lang="en-US" b="0" i="1" dirty="0">
                <a:solidFill>
                  <a:schemeClr val="tx1"/>
                </a:solidFill>
              </a:rPr>
              <a:t>Non-recurring professional fees</a:t>
            </a:r>
            <a:r>
              <a:rPr lang="en-US" b="0" dirty="0">
                <a:solidFill>
                  <a:schemeClr val="tx1"/>
                </a:solidFill>
              </a:rPr>
              <a:t>: Reversal of sell-side add-backs pertaining to items identified as non-recurring by Management which appear to relate to normal course business activities and have been incurred consistently by the Company through the Historical Period. The sell-side adjustment also includes add-backs related to external provider costs which have been internalized in subsequent periods. The historical cost impact of the current internal resource is considered in adjustment #29. This adjustment comprises of the following components:</a:t>
            </a:r>
          </a:p>
          <a:p>
            <a:pPr marL="533400" lvl="3" indent="-171450"/>
            <a:r>
              <a:rPr lang="en-US" b="0" dirty="0">
                <a:solidFill>
                  <a:schemeClr val="tx1"/>
                </a:solidFill>
              </a:rPr>
              <a:t>Legal fees: </a:t>
            </a:r>
            <a:r>
              <a:rPr lang="en-US" dirty="0"/>
              <a:t>reversal of an add-back for compliance and litigation fees which are incurred in each period ranging from $0.1 million to $0.2 million per annum.</a:t>
            </a:r>
          </a:p>
          <a:p>
            <a:pPr marL="533400" lvl="3" indent="-171450"/>
            <a:r>
              <a:rPr lang="en-US" b="0" dirty="0">
                <a:solidFill>
                  <a:schemeClr val="tx1"/>
                </a:solidFill>
              </a:rPr>
              <a:t>Accounting fees: </a:t>
            </a:r>
            <a:r>
              <a:rPr lang="en-US" dirty="0"/>
              <a:t>reversal of add-back proposed for interim audit fees incurred in December 2024 ($0.1 million).</a:t>
            </a:r>
            <a:endParaRPr lang="en-US" dirty="0">
              <a:solidFill>
                <a:srgbClr val="FF0000"/>
              </a:solidFill>
            </a:endParaRPr>
          </a:p>
          <a:p>
            <a:pPr marL="533400" lvl="3" indent="-171450"/>
            <a:r>
              <a:rPr lang="en-US" dirty="0"/>
              <a:t>Recruiting fees: reversal of add-back of headhunter costs on account of their annual recurrence ($0.3 million to $0.4 million recorded in each year).</a:t>
            </a:r>
          </a:p>
          <a:p>
            <a:pPr marL="533400" lvl="3" indent="-171450"/>
            <a:r>
              <a:rPr lang="en-US" dirty="0"/>
              <a:t>Other: reversal of sell-side add-back for uncategorized “other” professional fees ($0.1 million in each year)</a:t>
            </a:r>
            <a:endParaRPr lang="en-US" b="0" dirty="0">
              <a:solidFill>
                <a:schemeClr val="tx1"/>
              </a:solidFill>
            </a:endParaRPr>
          </a:p>
          <a:p>
            <a:pPr marL="285750" indent="-285750">
              <a:buFont typeface="+mj-lt"/>
              <a:buAutoNum type="romanLcPeriod"/>
            </a:pPr>
            <a:r>
              <a:rPr lang="en-US" b="0" i="1" dirty="0">
                <a:solidFill>
                  <a:schemeClr val="tx1"/>
                </a:solidFill>
              </a:rPr>
              <a:t>IT costs</a:t>
            </a:r>
            <a:r>
              <a:rPr lang="en-US" dirty="0">
                <a:solidFill>
                  <a:schemeClr val="tx1"/>
                </a:solidFill>
              </a:rPr>
              <a:t>: </a:t>
            </a:r>
            <a:r>
              <a:rPr lang="en-US" b="0" dirty="0">
                <a:solidFill>
                  <a:schemeClr val="tx1"/>
                </a:solidFill>
              </a:rPr>
              <a:t>Adjustment to Management's add-back for non-recurring IT costs for items which are potentially recurring in nature and have collectively amounted to approx. $0.5 million per annum through the Historical Period, including system support costs, licenses, cybersecurity and maintenance expenses. The adjustment also reflects an amount of unspecified “other” IT costs which were not attributed to specific IT projects, but simply accepted as non-recurring, in the sell-side due diligence report.</a:t>
            </a:r>
          </a:p>
          <a:p>
            <a:pPr marL="285750" indent="-285750">
              <a:buFont typeface="+mj-lt"/>
              <a:buAutoNum type="romanLcPeriod"/>
            </a:pPr>
            <a:r>
              <a:rPr lang="en-US" b="0" i="1" dirty="0">
                <a:solidFill>
                  <a:schemeClr val="tx1"/>
                </a:solidFill>
              </a:rPr>
              <a:t>Advertising and entertainment: </a:t>
            </a:r>
            <a:r>
              <a:rPr lang="en-US" b="0" dirty="0">
                <a:solidFill>
                  <a:schemeClr val="tx1"/>
                </a:solidFill>
              </a:rPr>
              <a:t>Reversal of Management's add-back for non-recurring advertising and entertainment expenses since these appear to relate to normal course business activities. These items include conferences, internal events, marketing expenses and sponsorship costs. </a:t>
            </a:r>
          </a:p>
          <a:p>
            <a:pPr marL="285750" indent="-285750">
              <a:buFont typeface="+mj-lt"/>
              <a:buAutoNum type="romanLcPeriod"/>
            </a:pPr>
            <a:endParaRPr lang="en-US" b="0" dirty="0">
              <a:solidFill>
                <a:schemeClr val="tx1"/>
              </a:solidFill>
            </a:endParaRPr>
          </a:p>
        </p:txBody>
      </p:sp>
      <p:sp>
        <p:nvSpPr>
          <p:cNvPr id="22" name="Text Placeholder 12">
            <a:extLst>
              <a:ext uri="{FF2B5EF4-FFF2-40B4-BE49-F238E27FC236}">
                <a16:creationId xmlns:a16="http://schemas.microsoft.com/office/drawing/2014/main" id="{DBD4DA20-8457-4EFB-2804-0EC76D77B4F7}"/>
              </a:ext>
            </a:extLst>
          </p:cNvPr>
          <p:cNvSpPr txBox="1">
            <a:spLocks/>
          </p:cNvSpPr>
          <p:nvPr/>
        </p:nvSpPr>
        <p:spPr>
          <a:xfrm>
            <a:off x="990122" y="5646713"/>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6" name="Picture 5">
            <a:extLst>
              <a:ext uri="{FF2B5EF4-FFF2-40B4-BE49-F238E27FC236}">
                <a16:creationId xmlns:a16="http://schemas.microsoft.com/office/drawing/2014/main" id="{667C5108-F2B4-8087-072B-07A94DF8B134}"/>
              </a:ext>
            </a:extLst>
          </p:cNvPr>
          <p:cNvPicPr>
            <a:picLocks noChangeAspect="1"/>
          </p:cNvPicPr>
          <p:nvPr>
            <p:custDataLst>
              <p:tags r:id="rId4"/>
            </p:custDataLst>
          </p:nvPr>
        </p:nvPicPr>
        <p:blipFill>
          <a:blip r:embed="rId9"/>
          <a:stretch>
            <a:fillRect/>
          </a:stretch>
        </p:blipFill>
        <p:spPr>
          <a:xfrm>
            <a:off x="1003312" y="1358896"/>
            <a:ext cx="4379976" cy="4270512"/>
          </a:xfrm>
          <a:prstGeom prst="rect">
            <a:avLst/>
          </a:prstGeom>
        </p:spPr>
      </p:pic>
      <p:grpSp>
        <p:nvGrpSpPr>
          <p:cNvPr id="29" name="Group 28">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31"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13229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challenges to sell-side adjustments (2/5)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512142" y="7350202"/>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challenges to sell-side adjustments (FY22-24). Commentary to focus on basis of challenge and alternative view (as relevant)</a:t>
            </a:r>
          </a:p>
        </p:txBody>
      </p:sp>
      <p:sp>
        <p:nvSpPr>
          <p:cNvPr id="26" name="Text Placeholder 16">
            <a:extLst>
              <a:ext uri="{FF2B5EF4-FFF2-40B4-BE49-F238E27FC236}">
                <a16:creationId xmlns:a16="http://schemas.microsoft.com/office/drawing/2014/main" id="{ABE8C2E4-8F6C-DBFE-7E3A-F0095DA083E3}"/>
              </a:ext>
            </a:extLst>
          </p:cNvPr>
          <p:cNvSpPr>
            <a:spLocks noGrp="1"/>
          </p:cNvSpPr>
          <p:nvPr>
            <p:ph type="body" sz="quarter" idx="11"/>
          </p:nvPr>
        </p:nvSpPr>
        <p:spPr>
          <a:xfrm>
            <a:off x="5484813" y="1345273"/>
            <a:ext cx="5715000" cy="252000"/>
          </a:xfrm>
        </p:spPr>
        <p:txBody>
          <a:bodyPr/>
          <a:lstStyle/>
          <a:p>
            <a:r>
              <a:rPr lang="en-US" dirty="0"/>
              <a:t>Challenges to sell-side quality of earnings adjustments (continued)</a:t>
            </a:r>
          </a:p>
        </p:txBody>
      </p:sp>
      <p:sp>
        <p:nvSpPr>
          <p:cNvPr id="7" name="Text Placeholder 6">
            <a:extLst>
              <a:ext uri="{FF2B5EF4-FFF2-40B4-BE49-F238E27FC236}">
                <a16:creationId xmlns:a16="http://schemas.microsoft.com/office/drawing/2014/main" id="{AD3ED35E-B96F-24EB-31A5-D451F7A52D08}"/>
              </a:ext>
            </a:extLst>
          </p:cNvPr>
          <p:cNvSpPr>
            <a:spLocks noGrp="1"/>
          </p:cNvSpPr>
          <p:nvPr>
            <p:ph type="body" sz="quarter" idx="27"/>
          </p:nvPr>
        </p:nvSpPr>
        <p:spPr>
          <a:xfrm>
            <a:off x="5484813" y="1563258"/>
            <a:ext cx="5661335" cy="4240903"/>
          </a:xfrm>
        </p:spPr>
        <p:txBody>
          <a:bodyPr/>
          <a:lstStyle/>
          <a:p>
            <a:pPr marL="228600" indent="-228600">
              <a:buFont typeface="+mj-lt"/>
              <a:buAutoNum type="arabicPeriod"/>
            </a:pPr>
            <a:r>
              <a:rPr lang="en-US" dirty="0">
                <a:solidFill>
                  <a:schemeClr val="tx1"/>
                </a:solidFill>
              </a:rPr>
              <a:t>Extraordinary and non-recurring items (continued)</a:t>
            </a:r>
          </a:p>
          <a:p>
            <a:pPr marL="285750" indent="-285750">
              <a:buFont typeface="+mj-lt"/>
              <a:buAutoNum type="romanLcPeriod" startAt="4"/>
            </a:pPr>
            <a:r>
              <a:rPr lang="en-US" b="0" i="1" dirty="0">
                <a:solidFill>
                  <a:schemeClr val="tx1"/>
                </a:solidFill>
              </a:rPr>
              <a:t>Settlement payments: </a:t>
            </a:r>
            <a:r>
              <a:rPr lang="en-US" b="0" dirty="0">
                <a:solidFill>
                  <a:schemeClr val="tx1"/>
                </a:solidFill>
              </a:rPr>
              <a:t>Revision to the sell-side add-back for non-recurring settlement payments to reflect customer settlement expenses which have been incurred. The customer settlements are considered to be recurring operational expenses as no specific explanation supporting their non-recurrence was provided.</a:t>
            </a:r>
            <a:endParaRPr lang="en-US" b="0" i="1" dirty="0">
              <a:solidFill>
                <a:schemeClr val="tx1"/>
              </a:solidFill>
            </a:endParaRPr>
          </a:p>
          <a:p>
            <a:pPr marL="285750" indent="-285750">
              <a:buFont typeface="+mj-lt"/>
              <a:buAutoNum type="romanLcPeriod" startAt="4"/>
            </a:pPr>
            <a:r>
              <a:rPr lang="en-US" b="0" i="1" dirty="0">
                <a:solidFill>
                  <a:schemeClr val="tx1"/>
                </a:solidFill>
              </a:rPr>
              <a:t>Extraordinary items</a:t>
            </a:r>
            <a:r>
              <a:rPr lang="en-US" b="0" dirty="0">
                <a:solidFill>
                  <a:schemeClr val="tx1"/>
                </a:solidFill>
              </a:rPr>
              <a:t>: Revision to the sell-side add-back for extraordinary items which are not attributed to any particular item.</a:t>
            </a:r>
          </a:p>
          <a:p>
            <a:pPr marL="285750" indent="-285750">
              <a:buFont typeface="+mj-lt"/>
              <a:buAutoNum type="romanLcPeriod" startAt="6"/>
            </a:pPr>
            <a:r>
              <a:rPr lang="en-US" b="0" i="1" dirty="0">
                <a:solidFill>
                  <a:schemeClr val="tx1"/>
                </a:solidFill>
              </a:rPr>
              <a:t>Other adjustments: </a:t>
            </a:r>
            <a:r>
              <a:rPr lang="en-US" b="0" dirty="0">
                <a:solidFill>
                  <a:schemeClr val="tx1"/>
                </a:solidFill>
              </a:rPr>
              <a:t>Similar to adjustment for advertising and entertainment, the sell-side "other adjustments" amount includes a component of events and travel costs which could be considered as normal course business activities.</a:t>
            </a:r>
          </a:p>
          <a:p>
            <a:pPr marL="228600" indent="-228600">
              <a:buFont typeface="+mj-lt"/>
              <a:buAutoNum type="arabicPeriod" startAt="2"/>
            </a:pPr>
            <a:r>
              <a:rPr lang="en-US" dirty="0">
                <a:solidFill>
                  <a:schemeClr val="tx1"/>
                </a:solidFill>
              </a:rPr>
              <a:t>Non-recurring salaries and benefits</a:t>
            </a:r>
            <a:r>
              <a:rPr lang="en-US" b="0" dirty="0">
                <a:solidFill>
                  <a:schemeClr val="tx1"/>
                </a:solidFill>
              </a:rPr>
              <a:t>: Reverses the sell-side add-back for:</a:t>
            </a:r>
          </a:p>
          <a:p>
            <a:pPr marL="409575" lvl="2" indent="-228600"/>
            <a:r>
              <a:rPr lang="en-US" b="0" dirty="0">
                <a:solidFill>
                  <a:schemeClr val="tx1"/>
                </a:solidFill>
              </a:rPr>
              <a:t>payroll and expenses associated with the Company's M&amp;A department, with such costs being considered recurring given the Company’s expectation of continued growth through M&amp;A; and</a:t>
            </a:r>
          </a:p>
          <a:p>
            <a:pPr marL="409575" lvl="2" indent="-228600"/>
            <a:r>
              <a:rPr lang="en-US" b="0" dirty="0">
                <a:solidFill>
                  <a:schemeClr val="tx1"/>
                </a:solidFill>
              </a:rPr>
              <a:t>the portion of the CVO's time which is assumed to relate to corporate development activities on the basis of its arbitrary allocation and the expectation of continued senior executive involvement in M&amp;A activity.</a:t>
            </a:r>
          </a:p>
          <a:p>
            <a:pPr marL="228600" lvl="2" indent="0">
              <a:buNone/>
            </a:pPr>
            <a:r>
              <a:rPr lang="en-US" b="0" dirty="0"/>
              <a:t>Refer to other consideration </a:t>
            </a:r>
            <a:r>
              <a:rPr lang="en-US" dirty="0"/>
              <a:t>F </a:t>
            </a:r>
            <a:r>
              <a:rPr lang="en-US" b="0" dirty="0"/>
              <a:t>for further discussion on other salaries and benefits expenses which are adjusted out of reported EBITDA in the sell-side due diligence analysis.</a:t>
            </a:r>
          </a:p>
          <a:p>
            <a:pPr marL="228600" indent="-228600">
              <a:buFont typeface="+mj-lt"/>
              <a:buAutoNum type="arabicPeriod" startAt="2"/>
            </a:pPr>
            <a:r>
              <a:rPr lang="en-US" dirty="0">
                <a:solidFill>
                  <a:schemeClr val="tx1"/>
                </a:solidFill>
              </a:rPr>
              <a:t>Shareholder expenses: </a:t>
            </a:r>
            <a:r>
              <a:rPr lang="en-US" b="0" dirty="0">
                <a:solidFill>
                  <a:schemeClr val="tx1"/>
                </a:solidFill>
              </a:rPr>
              <a:t>The sell-side adjustment for shareholders expenses includes an add-back for expenses associated with the three management individuals who are expected to depart upon transaction completion. However, it is assumed that individuals assuming these roles post-transaction will incur a similar level of expense going forward.</a:t>
            </a:r>
          </a:p>
          <a:p>
            <a:pPr marL="228600" indent="-228600">
              <a:buFont typeface="+mj-lt"/>
              <a:buAutoNum type="arabicPeriod" startAt="2"/>
            </a:pPr>
            <a:endParaRPr lang="en-US" b="0" dirty="0">
              <a:solidFill>
                <a:schemeClr val="tx1"/>
              </a:solidFill>
            </a:endParaRPr>
          </a:p>
          <a:p>
            <a:pPr marL="228600" indent="-228600">
              <a:buFont typeface="+mj-lt"/>
              <a:buAutoNum type="arabicPeriod" startAt="2"/>
            </a:pPr>
            <a:endParaRPr lang="en-US" dirty="0">
              <a:solidFill>
                <a:schemeClr val="tx1"/>
              </a:solidFill>
            </a:endParaRPr>
          </a:p>
        </p:txBody>
      </p:sp>
      <p:sp>
        <p:nvSpPr>
          <p:cNvPr id="16" name="Text Placeholder 12">
            <a:extLst>
              <a:ext uri="{FF2B5EF4-FFF2-40B4-BE49-F238E27FC236}">
                <a16:creationId xmlns:a16="http://schemas.microsoft.com/office/drawing/2014/main" id="{FD3C8A03-C8F6-11AF-4A90-25EF59D84E4E}"/>
              </a:ext>
            </a:extLst>
          </p:cNvPr>
          <p:cNvSpPr txBox="1">
            <a:spLocks/>
          </p:cNvSpPr>
          <p:nvPr/>
        </p:nvSpPr>
        <p:spPr>
          <a:xfrm>
            <a:off x="990122" y="5646713"/>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7" name="Picture 16">
            <a:extLst>
              <a:ext uri="{FF2B5EF4-FFF2-40B4-BE49-F238E27FC236}">
                <a16:creationId xmlns:a16="http://schemas.microsoft.com/office/drawing/2014/main" id="{3CADEBF6-2705-15CD-B6EE-585C677E06B6}"/>
              </a:ext>
            </a:extLst>
          </p:cNvPr>
          <p:cNvPicPr>
            <a:picLocks noChangeAspect="1"/>
          </p:cNvPicPr>
          <p:nvPr>
            <p:custDataLst>
              <p:tags r:id="rId4"/>
            </p:custDataLst>
          </p:nvPr>
        </p:nvPicPr>
        <p:blipFill>
          <a:blip r:embed="rId9"/>
          <a:stretch>
            <a:fillRect/>
          </a:stretch>
        </p:blipFill>
        <p:spPr>
          <a:xfrm>
            <a:off x="1003312" y="1358896"/>
            <a:ext cx="4379976" cy="4270512"/>
          </a:xfrm>
          <a:prstGeom prst="rect">
            <a:avLst/>
          </a:prstGeom>
        </p:spPr>
      </p:pic>
      <p:grpSp>
        <p:nvGrpSpPr>
          <p:cNvPr id="28" name="Group 27">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34197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challenges to sell-side adjustments (3/5)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995364" y="7184664"/>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challenges to sell-side adjustments (FY22-24). Commentary to focus on basis of challenge and alternative view (as relevant)</a:t>
            </a:r>
          </a:p>
        </p:txBody>
      </p:sp>
      <p:sp>
        <p:nvSpPr>
          <p:cNvPr id="26" name="Text Placeholder 16">
            <a:extLst>
              <a:ext uri="{FF2B5EF4-FFF2-40B4-BE49-F238E27FC236}">
                <a16:creationId xmlns:a16="http://schemas.microsoft.com/office/drawing/2014/main" id="{ABE8C2E4-8F6C-DBFE-7E3A-F0095DA083E3}"/>
              </a:ext>
            </a:extLst>
          </p:cNvPr>
          <p:cNvSpPr>
            <a:spLocks noGrp="1"/>
          </p:cNvSpPr>
          <p:nvPr>
            <p:ph type="body" sz="quarter" idx="11"/>
          </p:nvPr>
        </p:nvSpPr>
        <p:spPr>
          <a:xfrm>
            <a:off x="5484813" y="1340775"/>
            <a:ext cx="5715000" cy="252000"/>
          </a:xfrm>
        </p:spPr>
        <p:txBody>
          <a:bodyPr/>
          <a:lstStyle/>
          <a:p>
            <a:r>
              <a:rPr lang="en-US" dirty="0"/>
              <a:t>Challenges to sell-side quality of earnings adjustments (continued)</a:t>
            </a:r>
          </a:p>
        </p:txBody>
      </p:sp>
      <p:sp>
        <p:nvSpPr>
          <p:cNvPr id="7" name="Text Placeholder 6">
            <a:extLst>
              <a:ext uri="{FF2B5EF4-FFF2-40B4-BE49-F238E27FC236}">
                <a16:creationId xmlns:a16="http://schemas.microsoft.com/office/drawing/2014/main" id="{AD3ED35E-B96F-24EB-31A5-D451F7A52D08}"/>
              </a:ext>
            </a:extLst>
          </p:cNvPr>
          <p:cNvSpPr>
            <a:spLocks noGrp="1"/>
          </p:cNvSpPr>
          <p:nvPr>
            <p:ph type="body" sz="quarter" idx="27"/>
          </p:nvPr>
        </p:nvSpPr>
        <p:spPr>
          <a:xfrm>
            <a:off x="5484813" y="1570697"/>
            <a:ext cx="5661335" cy="4799116"/>
          </a:xfrm>
        </p:spPr>
        <p:txBody>
          <a:bodyPr/>
          <a:lstStyle/>
          <a:p>
            <a:pPr marL="228600" indent="-228600">
              <a:buFont typeface="+mj-lt"/>
              <a:buAutoNum type="arabicPeriod" startAt="4"/>
            </a:pPr>
            <a:r>
              <a:rPr lang="en-US" dirty="0">
                <a:solidFill>
                  <a:schemeClr val="tx1"/>
                </a:solidFill>
              </a:rPr>
              <a:t>Non-cash incentive compensation (LTIP): </a:t>
            </a:r>
            <a:r>
              <a:rPr lang="en-US" b="0" dirty="0">
                <a:solidFill>
                  <a:schemeClr val="tx1"/>
                </a:solidFill>
              </a:rPr>
              <a:t>The</a:t>
            </a:r>
            <a:r>
              <a:rPr lang="en-US" dirty="0">
                <a:solidFill>
                  <a:schemeClr val="tx1"/>
                </a:solidFill>
              </a:rPr>
              <a:t> </a:t>
            </a:r>
            <a:r>
              <a:rPr lang="en-US" b="0" dirty="0">
                <a:solidFill>
                  <a:schemeClr val="tx1"/>
                </a:solidFill>
              </a:rPr>
              <a:t>sell-side add-back for non-cash incentive compensation includes both (i) share-based payment expenses associated with stock options plans in place in certain operating companies; and (ii) accruals for amounts owing to four producers under a long-term incentive plan. The component of the sell-side add-back relating to the producer LTIP is reflected as an adjustment opposite, amounting to $1.1 million in FY24. We understand the plan is based on commission revenue growth achieved by participating producers between 2023 and 2029, and will be payable in June 2029.  </a:t>
            </a:r>
            <a:endParaRPr lang="en-US" dirty="0">
              <a:solidFill>
                <a:schemeClr val="tx1"/>
              </a:solidFill>
            </a:endParaRPr>
          </a:p>
          <a:p>
            <a:pPr marL="228600" lvl="2" indent="0">
              <a:buNone/>
            </a:pPr>
            <a:r>
              <a:rPr lang="en-US" dirty="0"/>
              <a:t>Replacement considerations for stock-based compensation are discussed in potential adjustment #20.</a:t>
            </a:r>
          </a:p>
          <a:p>
            <a:pPr marL="228600" lvl="2" indent="-228600">
              <a:buFont typeface="+mj-lt"/>
              <a:buAutoNum type="arabicPeriod" startAt="5"/>
            </a:pPr>
            <a:r>
              <a:rPr lang="en-US" b="1" dirty="0"/>
              <a:t>Transaction costs: </a:t>
            </a:r>
            <a:r>
              <a:rPr lang="en-US" dirty="0"/>
              <a:t>Comprises M&amp;A staff salaries and travel expenses included in Management's add-back for transaction expenses in FY22 with such costs being considered recurring given the Company’s expectation of continued growth through M&amp;A. Refer to potential adjustment #18 or further discussion on transaction expenses.</a:t>
            </a:r>
          </a:p>
          <a:p>
            <a:pPr marL="228600" lvl="2" indent="-228600">
              <a:buFont typeface="+mj-lt"/>
              <a:buAutoNum type="arabicPeriod" startAt="5"/>
            </a:pPr>
            <a:r>
              <a:rPr lang="en-US" b="1" dirty="0">
                <a:solidFill>
                  <a:schemeClr val="tx1"/>
                </a:solidFill>
              </a:rPr>
              <a:t>CPC revenue true-up</a:t>
            </a:r>
            <a:r>
              <a:rPr lang="en-US" b="0" dirty="0">
                <a:solidFill>
                  <a:schemeClr val="tx1"/>
                </a:solidFill>
              </a:rPr>
              <a:t>: The sell-side due diligence adjustment for out-of-period true-ups of CPC income phases the impact on a straight-line basis over the relevant fiscal year. We present an alternative approach whereby CPC income true-ups are distributed monthly based on the quantum of commissions and benefits revenue recognized in the month relative to total net commissions and benefits revenue reported in the year. Note this adjustment has a nil impact on fiscal years since all true-ups occur in-year but results in an upward adjustment of $0.5 million in TTM Oct-24. See adjustment #25 for discussion on a further true-up of CPC income in FY24.</a:t>
            </a:r>
            <a:endParaRPr lang="en-US" dirty="0">
              <a:solidFill>
                <a:schemeClr val="tx1"/>
              </a:solidFill>
            </a:endParaRPr>
          </a:p>
          <a:p>
            <a:pPr marL="228600" indent="-228600">
              <a:buFont typeface="+mj-lt"/>
              <a:buAutoNum type="arabicPeriod" startAt="7"/>
            </a:pPr>
            <a:r>
              <a:rPr lang="en-US" dirty="0">
                <a:solidFill>
                  <a:schemeClr val="tx1"/>
                </a:solidFill>
              </a:rPr>
              <a:t>Override</a:t>
            </a:r>
            <a:r>
              <a:rPr lang="en-US" b="0" dirty="0">
                <a:solidFill>
                  <a:schemeClr val="tx1"/>
                </a:solidFill>
              </a:rPr>
              <a:t>: Comprises the reversal of the sell-side quality of earnings adjustment related to override income since the entire amount of override revenue is considered to be non-recurring. Refer to potential adjustment #18 for further discussion.</a:t>
            </a:r>
            <a:endParaRPr lang="en-US" dirty="0">
              <a:solidFill>
                <a:schemeClr val="tx1"/>
              </a:solidFill>
            </a:endParaRPr>
          </a:p>
          <a:p>
            <a:pPr marL="228600" lvl="2" indent="-228600">
              <a:buFont typeface="+mj-lt"/>
              <a:buAutoNum type="arabicPeriod" startAt="5"/>
            </a:pPr>
            <a:endParaRPr lang="en-US" dirty="0"/>
          </a:p>
          <a:p>
            <a:endParaRPr lang="en-US" b="0" dirty="0">
              <a:solidFill>
                <a:schemeClr val="tx1"/>
              </a:solidFill>
            </a:endParaRPr>
          </a:p>
          <a:p>
            <a:pPr marL="228600" indent="-228600">
              <a:buFont typeface="+mj-lt"/>
              <a:buAutoNum type="arabicPeriod" startAt="13"/>
            </a:pPr>
            <a:endParaRPr lang="en-US" b="0" dirty="0">
              <a:solidFill>
                <a:schemeClr val="tx1"/>
              </a:solidFill>
            </a:endParaRPr>
          </a:p>
          <a:p>
            <a:endParaRPr lang="en-US" b="0" dirty="0">
              <a:solidFill>
                <a:srgbClr val="FF0000"/>
              </a:solidFill>
            </a:endParaRPr>
          </a:p>
        </p:txBody>
      </p:sp>
      <p:sp>
        <p:nvSpPr>
          <p:cNvPr id="19" name="Text Placeholder 12">
            <a:extLst>
              <a:ext uri="{FF2B5EF4-FFF2-40B4-BE49-F238E27FC236}">
                <a16:creationId xmlns:a16="http://schemas.microsoft.com/office/drawing/2014/main" id="{97968EA6-AD41-5A53-E27C-E7E41081060B}"/>
              </a:ext>
            </a:extLst>
          </p:cNvPr>
          <p:cNvSpPr txBox="1">
            <a:spLocks/>
          </p:cNvSpPr>
          <p:nvPr/>
        </p:nvSpPr>
        <p:spPr>
          <a:xfrm>
            <a:off x="993767" y="4783061"/>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9" name="Picture 8">
            <a:extLst>
              <a:ext uri="{FF2B5EF4-FFF2-40B4-BE49-F238E27FC236}">
                <a16:creationId xmlns:a16="http://schemas.microsoft.com/office/drawing/2014/main" id="{CDCE6AAC-606D-04F8-273C-3EEB5471F1B5}"/>
              </a:ext>
            </a:extLst>
          </p:cNvPr>
          <p:cNvPicPr>
            <a:picLocks noChangeAspect="1"/>
          </p:cNvPicPr>
          <p:nvPr>
            <p:custDataLst>
              <p:tags r:id="rId4"/>
            </p:custDataLst>
          </p:nvPr>
        </p:nvPicPr>
        <p:blipFill>
          <a:blip r:embed="rId9"/>
          <a:stretch>
            <a:fillRect/>
          </a:stretch>
        </p:blipFill>
        <p:spPr>
          <a:xfrm>
            <a:off x="992187" y="1358142"/>
            <a:ext cx="4379976" cy="3400487"/>
          </a:xfrm>
          <a:prstGeom prst="rect">
            <a:avLst/>
          </a:prstGeom>
        </p:spPr>
      </p:pic>
      <p:grpSp>
        <p:nvGrpSpPr>
          <p:cNvPr id="29" name="Group 28">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31"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53237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challenges to sell-side adjustments (4/5)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444222" y="6972299"/>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challenges to sell-side adjustments (FY22-24). Commentary to focus on basis of challenge and alternative view (as relevant)</a:t>
            </a:r>
          </a:p>
        </p:txBody>
      </p:sp>
      <p:sp>
        <p:nvSpPr>
          <p:cNvPr id="26" name="Text Placeholder 16">
            <a:extLst>
              <a:ext uri="{FF2B5EF4-FFF2-40B4-BE49-F238E27FC236}">
                <a16:creationId xmlns:a16="http://schemas.microsoft.com/office/drawing/2014/main" id="{ABE8C2E4-8F6C-DBFE-7E3A-F0095DA083E3}"/>
              </a:ext>
            </a:extLst>
          </p:cNvPr>
          <p:cNvSpPr>
            <a:spLocks noGrp="1"/>
          </p:cNvSpPr>
          <p:nvPr>
            <p:ph type="body" sz="quarter" idx="11"/>
          </p:nvPr>
        </p:nvSpPr>
        <p:spPr>
          <a:xfrm>
            <a:off x="5484813" y="1341999"/>
            <a:ext cx="5715000" cy="252000"/>
          </a:xfrm>
        </p:spPr>
        <p:txBody>
          <a:bodyPr/>
          <a:lstStyle/>
          <a:p>
            <a:r>
              <a:rPr lang="en-US" dirty="0"/>
              <a:t>Challenges to sell-side quality of earnings adjustments (continued)</a:t>
            </a:r>
          </a:p>
        </p:txBody>
      </p:sp>
      <p:sp>
        <p:nvSpPr>
          <p:cNvPr id="7" name="Text Placeholder 6">
            <a:extLst>
              <a:ext uri="{FF2B5EF4-FFF2-40B4-BE49-F238E27FC236}">
                <a16:creationId xmlns:a16="http://schemas.microsoft.com/office/drawing/2014/main" id="{AD3ED35E-B96F-24EB-31A5-D451F7A52D08}"/>
              </a:ext>
            </a:extLst>
          </p:cNvPr>
          <p:cNvSpPr>
            <a:spLocks noGrp="1"/>
          </p:cNvSpPr>
          <p:nvPr>
            <p:ph type="body" sz="quarter" idx="27"/>
          </p:nvPr>
        </p:nvSpPr>
        <p:spPr>
          <a:xfrm>
            <a:off x="5484813" y="1586634"/>
            <a:ext cx="5708787" cy="3864416"/>
          </a:xfrm>
        </p:spPr>
        <p:txBody>
          <a:bodyPr/>
          <a:lstStyle/>
          <a:p>
            <a:pPr marL="228600" indent="-228600">
              <a:buFont typeface="+mj-lt"/>
              <a:buAutoNum type="arabicPeriod" startAt="8"/>
            </a:pPr>
            <a:r>
              <a:rPr lang="en-US" dirty="0">
                <a:solidFill>
                  <a:schemeClr val="tx1"/>
                </a:solidFill>
              </a:rPr>
              <a:t>Accounting corrections: </a:t>
            </a:r>
            <a:r>
              <a:rPr lang="en-US" b="0" dirty="0">
                <a:solidFill>
                  <a:schemeClr val="tx1"/>
                </a:solidFill>
              </a:rPr>
              <a:t>Includes two components:</a:t>
            </a:r>
          </a:p>
          <a:p>
            <a:pPr marL="409575" lvl="2" indent="-228600"/>
            <a:r>
              <a:rPr lang="en-US" b="0" dirty="0">
                <a:solidFill>
                  <a:schemeClr val="tx1"/>
                </a:solidFill>
              </a:rPr>
              <a:t>reversal of a sell-side adjustment for other revenue in FY22 which is double-counted in the sell-side quality of earnings analysis (FY22: $0.4 million); and</a:t>
            </a:r>
          </a:p>
          <a:p>
            <a:pPr marL="409575" lvl="2" indent="-228600"/>
            <a:r>
              <a:rPr lang="en-US" b="0" dirty="0">
                <a:solidFill>
                  <a:schemeClr val="tx1"/>
                </a:solidFill>
              </a:rPr>
              <a:t>exclusion of an adjustment to EBITDA in TTM Oct-24 related to intercompany expense eliminations which is not accurate. See adjustment #23 for further refinement to intercompany eliminations.</a:t>
            </a:r>
          </a:p>
          <a:p>
            <a:pPr marL="228600" indent="-228600">
              <a:buFont typeface="+mj-lt"/>
              <a:buAutoNum type="arabicPeriod" startAt="8"/>
            </a:pPr>
            <a:r>
              <a:rPr lang="en-US" dirty="0">
                <a:solidFill>
                  <a:schemeClr val="tx1"/>
                </a:solidFill>
              </a:rPr>
              <a:t>Montreal office project</a:t>
            </a:r>
            <a:r>
              <a:rPr lang="en-US" b="0" dirty="0">
                <a:solidFill>
                  <a:schemeClr val="tx1"/>
                </a:solidFill>
              </a:rPr>
              <a:t>: The sell-side due diligence report includes an add-back for costs attributable to a new office in Montreal which opened in February 2024 and is being used to drive growth in the region. A reversal of this sell-side adjustment is proposed since the opening of this office is considered to relate to normal business development activities given the Company contemplates growth through organic initiatives (which this office opening could represent).</a:t>
            </a:r>
          </a:p>
          <a:p>
            <a:pPr marL="228600" indent="-228600">
              <a:buFont typeface="+mj-lt"/>
              <a:buAutoNum type="arabicPeriod" startAt="8"/>
            </a:pPr>
            <a:r>
              <a:rPr lang="en-US" dirty="0">
                <a:solidFill>
                  <a:schemeClr val="tx1"/>
                </a:solidFill>
              </a:rPr>
              <a:t>Adjusted EBITDA – Pre-acquisition: </a:t>
            </a:r>
            <a:r>
              <a:rPr lang="en-US" b="0" dirty="0">
                <a:solidFill>
                  <a:schemeClr val="tx1"/>
                </a:solidFill>
              </a:rPr>
              <a:t>Refines the sell-side pro forma adjustment for pre-acquisition earnings to exclude a share of historical EBITDA related to a recent minority investment made in CLI. The sell-side quality of earnings includes EBITDA contribution of $1.0 million in FY24 associated with this acquisition which we understand represents a 14% share of the historical EBITDA generated by the business, consistent with the % ownership purchased by the Company in its recent investment. The Company’s accounting policies specify that minority interests are initially recognized at cost, with subsequent returns on investment only recognized to the extent they are received or receivable. Our assessment of the context of the Company’s recent investment in CLI indicates that there are no guarantees to receipt of income generated by the business in its position as a minority investor. Additionally, in FY22 sell-side adjustments include pre-acquisition CPCs related to three acquired entities (GTI, ASI and Alliance) which exceed post-acquisition performance in FY22. We propose normalizing pre-acquisition months in FY22 to eliminate the impact of potential out-of-period CPC true-ups in periods preceding the Company’s acquisition. The impact of this adjustment is $0.8 million in FY22.</a:t>
            </a:r>
          </a:p>
          <a:p>
            <a:pPr marL="228600"/>
            <a:r>
              <a:rPr lang="en-US" b="0" dirty="0">
                <a:solidFill>
                  <a:schemeClr val="tx1"/>
                </a:solidFill>
              </a:rPr>
              <a:t>Separately, this challenge includes $0.1 million R&amp;D tax credit income recognized in Alliance in the period prior to its acquisition in FY22 which is not assumed to be part of recurring income.</a:t>
            </a:r>
            <a:endParaRPr lang="en-US" dirty="0">
              <a:solidFill>
                <a:schemeClr val="tx1"/>
              </a:solidFill>
            </a:endParaRPr>
          </a:p>
          <a:p>
            <a:pPr marL="228600" indent="-228600">
              <a:buFont typeface="+mj-lt"/>
              <a:buAutoNum type="arabicPeriod" startAt="7"/>
            </a:pPr>
            <a:endParaRPr lang="en-US" b="0" dirty="0">
              <a:solidFill>
                <a:schemeClr val="tx1"/>
              </a:solidFill>
            </a:endParaRPr>
          </a:p>
          <a:p>
            <a:endParaRPr lang="en-US" b="0" dirty="0">
              <a:solidFill>
                <a:schemeClr val="tx1"/>
              </a:solidFill>
            </a:endParaRPr>
          </a:p>
          <a:p>
            <a:endParaRPr lang="en-US" b="0" dirty="0">
              <a:solidFill>
                <a:srgbClr val="FF0000"/>
              </a:solidFill>
            </a:endParaRPr>
          </a:p>
        </p:txBody>
      </p:sp>
      <p:sp>
        <p:nvSpPr>
          <p:cNvPr id="16" name="Text Placeholder 12">
            <a:extLst>
              <a:ext uri="{FF2B5EF4-FFF2-40B4-BE49-F238E27FC236}">
                <a16:creationId xmlns:a16="http://schemas.microsoft.com/office/drawing/2014/main" id="{9D01FAB6-6A87-13F4-4FF0-408CC5328583}"/>
              </a:ext>
            </a:extLst>
          </p:cNvPr>
          <p:cNvSpPr txBox="1">
            <a:spLocks/>
          </p:cNvSpPr>
          <p:nvPr/>
        </p:nvSpPr>
        <p:spPr>
          <a:xfrm>
            <a:off x="993767" y="4783061"/>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7" name="Picture 16">
            <a:extLst>
              <a:ext uri="{FF2B5EF4-FFF2-40B4-BE49-F238E27FC236}">
                <a16:creationId xmlns:a16="http://schemas.microsoft.com/office/drawing/2014/main" id="{5ABEB20E-48E3-C10D-CD26-10A556058A16}"/>
              </a:ext>
            </a:extLst>
          </p:cNvPr>
          <p:cNvPicPr>
            <a:picLocks noChangeAspect="1"/>
          </p:cNvPicPr>
          <p:nvPr>
            <p:custDataLst>
              <p:tags r:id="rId4"/>
            </p:custDataLst>
          </p:nvPr>
        </p:nvPicPr>
        <p:blipFill>
          <a:blip r:embed="rId9"/>
          <a:stretch>
            <a:fillRect/>
          </a:stretch>
        </p:blipFill>
        <p:spPr>
          <a:xfrm>
            <a:off x="992187" y="1358142"/>
            <a:ext cx="4379976" cy="3400487"/>
          </a:xfrm>
          <a:prstGeom prst="rect">
            <a:avLst/>
          </a:prstGeom>
        </p:spPr>
      </p:pic>
      <p:grpSp>
        <p:nvGrpSpPr>
          <p:cNvPr id="28" name="Group 27">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917715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challenges to sell-side adjustments (5/5)</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083686" y="6941054"/>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challenges to sell-side adjustments (FY22-24). Commentary to focus on basis of challenge and alternative view (as relevant)</a:t>
            </a:r>
          </a:p>
        </p:txBody>
      </p:sp>
      <p:sp>
        <p:nvSpPr>
          <p:cNvPr id="26" name="Text Placeholder 16">
            <a:extLst>
              <a:ext uri="{FF2B5EF4-FFF2-40B4-BE49-F238E27FC236}">
                <a16:creationId xmlns:a16="http://schemas.microsoft.com/office/drawing/2014/main" id="{ABE8C2E4-8F6C-DBFE-7E3A-F0095DA083E3}"/>
              </a:ext>
            </a:extLst>
          </p:cNvPr>
          <p:cNvSpPr>
            <a:spLocks noGrp="1"/>
          </p:cNvSpPr>
          <p:nvPr>
            <p:ph type="body" sz="quarter" idx="11"/>
          </p:nvPr>
        </p:nvSpPr>
        <p:spPr>
          <a:xfrm>
            <a:off x="5484813" y="1347936"/>
            <a:ext cx="5715000" cy="252000"/>
          </a:xfrm>
        </p:spPr>
        <p:txBody>
          <a:bodyPr/>
          <a:lstStyle/>
          <a:p>
            <a:r>
              <a:rPr lang="en-US" dirty="0"/>
              <a:t>Challenges to sell-side quality of earnings adjustments (continued)</a:t>
            </a:r>
          </a:p>
        </p:txBody>
      </p:sp>
      <p:sp>
        <p:nvSpPr>
          <p:cNvPr id="7" name="Text Placeholder 6">
            <a:extLst>
              <a:ext uri="{FF2B5EF4-FFF2-40B4-BE49-F238E27FC236}">
                <a16:creationId xmlns:a16="http://schemas.microsoft.com/office/drawing/2014/main" id="{AD3ED35E-B96F-24EB-31A5-D451F7A52D08}"/>
              </a:ext>
            </a:extLst>
          </p:cNvPr>
          <p:cNvSpPr>
            <a:spLocks noGrp="1"/>
          </p:cNvSpPr>
          <p:nvPr>
            <p:ph type="body" sz="quarter" idx="27"/>
          </p:nvPr>
        </p:nvSpPr>
        <p:spPr>
          <a:xfrm>
            <a:off x="5484813" y="1592571"/>
            <a:ext cx="5661335" cy="3864416"/>
          </a:xfrm>
        </p:spPr>
        <p:txBody>
          <a:bodyPr/>
          <a:lstStyle/>
          <a:p>
            <a:pPr marL="228600" indent="-228600">
              <a:buFont typeface="+mj-lt"/>
              <a:buAutoNum type="arabicPeriod" startAt="11"/>
            </a:pPr>
            <a:r>
              <a:rPr lang="en-US" dirty="0">
                <a:solidFill>
                  <a:schemeClr val="tx1"/>
                </a:solidFill>
              </a:rPr>
              <a:t>PF recurring audit costs: </a:t>
            </a:r>
            <a:r>
              <a:rPr lang="en-US" b="0" dirty="0">
                <a:solidFill>
                  <a:schemeClr val="tx1"/>
                </a:solidFill>
              </a:rPr>
              <a:t>The sell-side due diligence report adds-back one-off accounting and audit costs related to acquisitions, PPA assistance, and the establishment of stock options plans (FY23: $1.1 million) which is reflected in adjusted EBITDA. The sell-side due diligence report further reduces the audit costs in FY23 and FY24 to align with the base fee quote received for the FY24 audit of $0.4 million. We propose reversing this adjustment for FY23 as the quote provided is relevant to the FY24 audit exclusively.</a:t>
            </a:r>
          </a:p>
          <a:p>
            <a:pPr marL="228600" indent="-228600">
              <a:buFont typeface="+mj-lt"/>
              <a:buAutoNum type="arabicPeriod" startAt="11"/>
            </a:pPr>
            <a:r>
              <a:rPr lang="en-US" dirty="0">
                <a:solidFill>
                  <a:schemeClr val="tx1"/>
                </a:solidFill>
              </a:rPr>
              <a:t>PF rent adjustments</a:t>
            </a:r>
            <a:r>
              <a:rPr lang="en-US" b="0" dirty="0">
                <a:solidFill>
                  <a:schemeClr val="tx1"/>
                </a:solidFill>
              </a:rPr>
              <a:t>: The sell-side due diligence report presented a pro forma adjustment for rent expenses in ASI arising from the consolidation of office locations with Soplex. We propose a minor refinement to this adjustment since we note the monthly rent cost in the Soplex office to exhibited an increase immediately after the relocation of ASI employees thereby offsetting the savings realized from vacating the previous ASI location. The revised adjustment reflects the net cost saving arising from the combination of the ASI and Soplex office locations.</a:t>
            </a:r>
          </a:p>
          <a:p>
            <a:endParaRPr lang="en-US" b="0" dirty="0">
              <a:solidFill>
                <a:schemeClr val="tx1"/>
              </a:solidFill>
            </a:endParaRPr>
          </a:p>
          <a:p>
            <a:endParaRPr lang="en-US" b="0" dirty="0">
              <a:solidFill>
                <a:srgbClr val="FF0000"/>
              </a:solidFill>
            </a:endParaRPr>
          </a:p>
        </p:txBody>
      </p:sp>
      <p:sp>
        <p:nvSpPr>
          <p:cNvPr id="9" name="Text Placeholder 12">
            <a:extLst>
              <a:ext uri="{FF2B5EF4-FFF2-40B4-BE49-F238E27FC236}">
                <a16:creationId xmlns:a16="http://schemas.microsoft.com/office/drawing/2014/main" id="{467A0D40-9C82-830D-EC91-BA02379365AE}"/>
              </a:ext>
            </a:extLst>
          </p:cNvPr>
          <p:cNvSpPr txBox="1">
            <a:spLocks/>
          </p:cNvSpPr>
          <p:nvPr/>
        </p:nvSpPr>
        <p:spPr>
          <a:xfrm>
            <a:off x="993767" y="4783061"/>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7" name="Picture 16">
            <a:extLst>
              <a:ext uri="{FF2B5EF4-FFF2-40B4-BE49-F238E27FC236}">
                <a16:creationId xmlns:a16="http://schemas.microsoft.com/office/drawing/2014/main" id="{52E98C94-0E25-C668-BCF4-259FD8814C98}"/>
              </a:ext>
            </a:extLst>
          </p:cNvPr>
          <p:cNvPicPr>
            <a:picLocks noChangeAspect="1"/>
          </p:cNvPicPr>
          <p:nvPr>
            <p:custDataLst>
              <p:tags r:id="rId4"/>
            </p:custDataLst>
          </p:nvPr>
        </p:nvPicPr>
        <p:blipFill>
          <a:blip r:embed="rId9"/>
          <a:stretch>
            <a:fillRect/>
          </a:stretch>
        </p:blipFill>
        <p:spPr>
          <a:xfrm>
            <a:off x="992187" y="1358142"/>
            <a:ext cx="4379976" cy="3400487"/>
          </a:xfrm>
          <a:prstGeom prst="rect">
            <a:avLst/>
          </a:prstGeom>
        </p:spPr>
      </p:pic>
      <p:grpSp>
        <p:nvGrpSpPr>
          <p:cNvPr id="28" name="Group 27">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27790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potential adjustments (1/4)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30" name="Text Placeholder 16">
            <a:extLst>
              <a:ext uri="{FF2B5EF4-FFF2-40B4-BE49-F238E27FC236}">
                <a16:creationId xmlns:a16="http://schemas.microsoft.com/office/drawing/2014/main" id="{9B8B4F18-09BD-45A9-F897-C2A5BFC4EBD1}"/>
              </a:ext>
            </a:extLst>
          </p:cNvPr>
          <p:cNvSpPr>
            <a:spLocks noGrp="1"/>
          </p:cNvSpPr>
          <p:nvPr>
            <p:ph type="body" sz="quarter" idx="11"/>
          </p:nvPr>
        </p:nvSpPr>
        <p:spPr>
          <a:xfrm>
            <a:off x="5478286" y="1348052"/>
            <a:ext cx="5715000" cy="252000"/>
          </a:xfrm>
        </p:spPr>
        <p:txBody>
          <a:bodyPr/>
          <a:lstStyle/>
          <a:p>
            <a:r>
              <a:rPr lang="fi-FI"/>
              <a:t>Potential adjustments</a:t>
            </a:r>
          </a:p>
        </p:txBody>
      </p:sp>
      <p:sp>
        <p:nvSpPr>
          <p:cNvPr id="31" name="Text Placeholder 5">
            <a:extLst>
              <a:ext uri="{FF2B5EF4-FFF2-40B4-BE49-F238E27FC236}">
                <a16:creationId xmlns:a16="http://schemas.microsoft.com/office/drawing/2014/main" id="{467598F9-06A5-8348-AA76-E8968D4BE6CF}"/>
              </a:ext>
            </a:extLst>
          </p:cNvPr>
          <p:cNvSpPr>
            <a:spLocks noGrp="1"/>
          </p:cNvSpPr>
          <p:nvPr>
            <p:ph type="body" sz="quarter" idx="26"/>
          </p:nvPr>
        </p:nvSpPr>
        <p:spPr>
          <a:xfrm>
            <a:off x="5478286" y="1623094"/>
            <a:ext cx="5715000" cy="4056346"/>
          </a:xfrm>
        </p:spPr>
        <p:txBody>
          <a:bodyPr/>
          <a:lstStyle/>
          <a:p>
            <a:pPr marL="228600" lvl="2" indent="-228600">
              <a:buFont typeface="+mj-lt"/>
              <a:buAutoNum type="arabicPeriod" startAt="13"/>
            </a:pPr>
            <a:r>
              <a:rPr lang="en-US" b="1" dirty="0"/>
              <a:t>Other interest income: </a:t>
            </a:r>
            <a:r>
              <a:rPr lang="en-US" dirty="0"/>
              <a:t>The sell-side quality of earnings schedule includes an adjustment to eliminate interest income earned on operating cash balances held in subsidiaries from reported EBITDA. A further adjustment is proposed to exclude interest income recorded in holding companies or certain other operating companies that were omitted in the sell-side workings.</a:t>
            </a:r>
          </a:p>
          <a:p>
            <a:pPr marL="228600" lvl="2" indent="-228600">
              <a:buFont typeface="+mj-lt"/>
              <a:buAutoNum type="arabicPeriod" startAt="13"/>
            </a:pPr>
            <a:r>
              <a:rPr lang="en-US" b="1" dirty="0"/>
              <a:t>CBN CPC income: </a:t>
            </a:r>
            <a:r>
              <a:rPr lang="en-US" dirty="0"/>
              <a:t>CPC income recognized in FY23 included a $72,000 catch-up payment from Aviva which related to a legacy error in the computation of bonus commissions. This CPC revenue is considered to be out-of-period income in FY23.</a:t>
            </a:r>
          </a:p>
          <a:p>
            <a:pPr marL="228600" lvl="2" indent="-228600">
              <a:buFont typeface="+mj-lt"/>
              <a:buAutoNum type="arabicPeriod" startAt="13"/>
            </a:pPr>
            <a:r>
              <a:rPr lang="en-US" b="1" dirty="0"/>
              <a:t>Capitalized labor costs: </a:t>
            </a:r>
            <a:r>
              <a:rPr lang="en-US" dirty="0"/>
              <a:t>Management indicated that certain internal IT staff costs were capitalized during FY24 relating to the development of a new broker management system in GTI. We present the total $0.1 million internal labor costs capitalized as a quality of earnings adjustment in FY24 given it represents a recurring cash cost in the business. </a:t>
            </a:r>
          </a:p>
          <a:p>
            <a:pPr marL="228600" lvl="2" indent="-228600">
              <a:buFont typeface="+mj-lt"/>
              <a:buAutoNum type="arabicPeriod" startAt="13"/>
            </a:pPr>
            <a:r>
              <a:rPr lang="en-US" b="1" dirty="0"/>
              <a:t>Reconciliation to audited financial statements: </a:t>
            </a:r>
            <a:r>
              <a:rPr lang="en-US" dirty="0"/>
              <a:t>Relates to a $0.4 million variance in reported EBITDA for FY22 as presented in the sell-side due diligence report compared to the audited financial statements for the same period. Management was not able to fully explain the nature of the difference identified. See Appendix 1 for a reconciliation to the audited financial statements.</a:t>
            </a:r>
          </a:p>
          <a:p>
            <a:pPr marL="228600" lvl="2" indent="-228600">
              <a:buFont typeface="+mj-lt"/>
              <a:buAutoNum type="arabicPeriod" startAt="13"/>
            </a:pPr>
            <a:r>
              <a:rPr lang="en-US" sz="1000" b="1" dirty="0">
                <a:latin typeface="Arial" panose="020B0604020202020204" pitchFamily="34" charset="0"/>
                <a:cs typeface="Arial" panose="020B0604020202020204" pitchFamily="34" charset="0"/>
              </a:rPr>
              <a:t>Override income: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Company recognized override income in FY23 and FY24 arising on the transfer of certain client policy portfolios between carriers, equivalent to 15% to 25% of transferred premiums. Overrides are received upfront and recognized in revenue over the transfer period. </a:t>
            </a:r>
            <a:r>
              <a:rPr lang="en-US" sz="1000" dirty="0">
                <a:latin typeface="Arial" panose="020B0604020202020204" pitchFamily="34" charset="0"/>
                <a:cs typeface="Arial" panose="020B0604020202020204" pitchFamily="34" charset="0"/>
              </a:rPr>
              <a:t>We propose excluding override revenue from earnings in Historical </a:t>
            </a:r>
            <a:r>
              <a:rPr lang="en-US" dirty="0">
                <a:latin typeface="Arial" panose="020B0604020202020204" pitchFamily="34" charset="0"/>
                <a:cs typeface="Arial" panose="020B0604020202020204" pitchFamily="34" charset="0"/>
              </a:rPr>
              <a:t>P</a:t>
            </a:r>
            <a:r>
              <a:rPr lang="en-US" sz="1000" dirty="0">
                <a:latin typeface="Arial" panose="020B0604020202020204" pitchFamily="34" charset="0"/>
                <a:cs typeface="Arial" panose="020B0604020202020204" pitchFamily="34" charset="0"/>
              </a:rPr>
              <a:t>eriods due to its non-recurring nature as the potential for sustained portfolio transfers may  be limited over the long-term.</a:t>
            </a:r>
          </a:p>
        </p:txBody>
      </p:sp>
      <p:sp>
        <p:nvSpPr>
          <p:cNvPr id="6" name="Text Placeholder 12">
            <a:extLst>
              <a:ext uri="{FF2B5EF4-FFF2-40B4-BE49-F238E27FC236}">
                <a16:creationId xmlns:a16="http://schemas.microsoft.com/office/drawing/2014/main" id="{B731EC38-1B1E-5E72-D9AA-B1666D64A908}"/>
              </a:ext>
            </a:extLst>
          </p:cNvPr>
          <p:cNvSpPr txBox="1">
            <a:spLocks/>
          </p:cNvSpPr>
          <p:nvPr/>
        </p:nvSpPr>
        <p:spPr>
          <a:xfrm>
            <a:off x="1003312" y="520181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34E8FA2C-F63E-7473-509E-A6A6E6D37239}"/>
              </a:ext>
            </a:extLst>
          </p:cNvPr>
          <p:cNvPicPr>
            <a:picLocks noChangeAspect="1"/>
          </p:cNvPicPr>
          <p:nvPr>
            <p:custDataLst>
              <p:tags r:id="rId4"/>
            </p:custDataLst>
          </p:nvPr>
        </p:nvPicPr>
        <p:blipFill>
          <a:blip r:embed="rId9"/>
          <a:stretch>
            <a:fillRect/>
          </a:stretch>
        </p:blipFill>
        <p:spPr>
          <a:xfrm>
            <a:off x="1003312" y="1348052"/>
            <a:ext cx="4379976" cy="3835500"/>
          </a:xfrm>
          <a:prstGeom prst="rect">
            <a:avLst/>
          </a:prstGeom>
        </p:spPr>
      </p:pic>
      <p:grpSp>
        <p:nvGrpSpPr>
          <p:cNvPr id="26" name="Group 25">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05483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potential adjustments (2/4)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30" name="Text Placeholder 16">
            <a:extLst>
              <a:ext uri="{FF2B5EF4-FFF2-40B4-BE49-F238E27FC236}">
                <a16:creationId xmlns:a16="http://schemas.microsoft.com/office/drawing/2014/main" id="{9B8B4F18-09BD-45A9-F897-C2A5BFC4EBD1}"/>
              </a:ext>
            </a:extLst>
          </p:cNvPr>
          <p:cNvSpPr>
            <a:spLocks noGrp="1"/>
          </p:cNvSpPr>
          <p:nvPr>
            <p:ph type="body" sz="quarter" idx="11"/>
          </p:nvPr>
        </p:nvSpPr>
        <p:spPr>
          <a:xfrm>
            <a:off x="5484813" y="1348226"/>
            <a:ext cx="5715000" cy="252000"/>
          </a:xfrm>
        </p:spPr>
        <p:txBody>
          <a:bodyPr/>
          <a:lstStyle/>
          <a:p>
            <a:r>
              <a:rPr lang="fi-FI"/>
              <a:t>Potential adjustments (continued)</a:t>
            </a:r>
          </a:p>
        </p:txBody>
      </p:sp>
      <p:sp>
        <p:nvSpPr>
          <p:cNvPr id="31" name="Text Placeholder 5">
            <a:extLst>
              <a:ext uri="{FF2B5EF4-FFF2-40B4-BE49-F238E27FC236}">
                <a16:creationId xmlns:a16="http://schemas.microsoft.com/office/drawing/2014/main" id="{467598F9-06A5-8348-AA76-E8968D4BE6CF}"/>
              </a:ext>
            </a:extLst>
          </p:cNvPr>
          <p:cNvSpPr>
            <a:spLocks noGrp="1"/>
          </p:cNvSpPr>
          <p:nvPr>
            <p:ph type="body" sz="quarter" idx="26"/>
          </p:nvPr>
        </p:nvSpPr>
        <p:spPr>
          <a:xfrm>
            <a:off x="5484813" y="1621078"/>
            <a:ext cx="5708473" cy="4056346"/>
          </a:xfrm>
        </p:spPr>
        <p:txBody>
          <a:bodyPr/>
          <a:lstStyle/>
          <a:p>
            <a:pPr marL="228600" lvl="2" indent="-228600">
              <a:buFont typeface="+mj-lt"/>
              <a:buAutoNum type="arabicPeriod" startAt="18"/>
            </a:pPr>
            <a:r>
              <a:rPr lang="en-US" b="1" dirty="0">
                <a:latin typeface="Arial" panose="020B0604020202020204" pitchFamily="34" charset="0"/>
                <a:cs typeface="Arial" panose="020B0604020202020204" pitchFamily="34" charset="0"/>
              </a:rPr>
              <a:t>Transaction costs: </a:t>
            </a:r>
            <a:r>
              <a:rPr lang="en-US" dirty="0"/>
              <a:t>Since the Company's strategy is focused on growth through M&amp;A, you may wish to consider overlaying a recurring quantum of transaction costs in each year as the business pursues new acquisition opportunities. Our analysis indicates that the Company expended $3.5 million in third party transaction costs on the 14 acquisitions completed in the Historical Period, averaging $1.2 million per annum. Assuming that the Company will continue pursuing growth via acquisition at a rate similar to recent years, a recurring cash cost to the business to support M&amp;A could be incurred, which forms the basis to the proposed adjustment.</a:t>
            </a:r>
          </a:p>
          <a:p>
            <a:pPr marL="228600" lvl="2" indent="-228600">
              <a:buFont typeface="+mj-lt"/>
              <a:buAutoNum type="arabicPeriod" startAt="18"/>
            </a:pPr>
            <a:r>
              <a:rPr lang="en-US" b="1" dirty="0"/>
              <a:t>Share-based payment replacement:</a:t>
            </a:r>
            <a:r>
              <a:rPr lang="en-US" dirty="0"/>
              <a:t> The replacement of the Company's existing share-based compensation plans with an alternative arrangement post-acquisition may warrant consideration in the assessment of go forward EBITDA. We understand there were four individual stock options plans in operation during the Historical Period, with a total of 16 participants. Share options issued in Deslauriers &amp; Associes and Verrier were fully exercised during FY24 following the completion of a corporate reorganization, resulting in the closure of options plans. There are two plans which remain active as at Dec-24.</a:t>
            </a:r>
          </a:p>
          <a:p>
            <a:pPr marL="228600" lvl="2" indent="-228600">
              <a:buFont typeface="+mj-lt"/>
              <a:buAutoNum type="arabicPeriod" startAt="18"/>
            </a:pPr>
            <a:r>
              <a:rPr lang="en-US" b="1" dirty="0"/>
              <a:t>Unadjusted audit differences: </a:t>
            </a:r>
            <a:r>
              <a:rPr lang="en-US" dirty="0"/>
              <a:t>We present the impact of unadjusted audit differences in FY23 identified in the management letter, mainly relating to revenue and expense reconciliation items arising from audit testing. The FY24 audit is currently ongoing, with draft financial statements expected to be available in April 2025. While we have not had any interactions with the Company’s auditors as part of our work, Management has asserted that no material matters have been raised by the audit team to date. Any adjustments impacting EBITDA which arise from the FY24 audit should be considered in the analysis of adjusted EBITDA to the extent they are not already addressed as part of quality of earnings.</a:t>
            </a:r>
          </a:p>
        </p:txBody>
      </p:sp>
      <p:sp>
        <p:nvSpPr>
          <p:cNvPr id="6" name="Text Placeholder 12">
            <a:extLst>
              <a:ext uri="{FF2B5EF4-FFF2-40B4-BE49-F238E27FC236}">
                <a16:creationId xmlns:a16="http://schemas.microsoft.com/office/drawing/2014/main" id="{447B95D4-020F-DBD6-AB4C-ECB26425FB28}"/>
              </a:ext>
            </a:extLst>
          </p:cNvPr>
          <p:cNvSpPr txBox="1">
            <a:spLocks/>
          </p:cNvSpPr>
          <p:nvPr/>
        </p:nvSpPr>
        <p:spPr>
          <a:xfrm>
            <a:off x="1003312" y="520181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3A1027AE-BFF1-57A1-12A7-476C63A3891F}"/>
              </a:ext>
            </a:extLst>
          </p:cNvPr>
          <p:cNvPicPr>
            <a:picLocks noChangeAspect="1"/>
          </p:cNvPicPr>
          <p:nvPr>
            <p:custDataLst>
              <p:tags r:id="rId4"/>
            </p:custDataLst>
          </p:nvPr>
        </p:nvPicPr>
        <p:blipFill>
          <a:blip r:embed="rId9"/>
          <a:stretch>
            <a:fillRect/>
          </a:stretch>
        </p:blipFill>
        <p:spPr>
          <a:xfrm>
            <a:off x="1003312" y="1348052"/>
            <a:ext cx="4379976" cy="3835500"/>
          </a:xfrm>
          <a:prstGeom prst="rect">
            <a:avLst/>
          </a:prstGeom>
        </p:spPr>
      </p:pic>
      <p:grpSp>
        <p:nvGrpSpPr>
          <p:cNvPr id="25" name="Group 24">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6"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791143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potential adjustments (3/4)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30" name="Text Placeholder 16">
            <a:extLst>
              <a:ext uri="{FF2B5EF4-FFF2-40B4-BE49-F238E27FC236}">
                <a16:creationId xmlns:a16="http://schemas.microsoft.com/office/drawing/2014/main" id="{9B8B4F18-09BD-45A9-F897-C2A5BFC4EBD1}"/>
              </a:ext>
            </a:extLst>
          </p:cNvPr>
          <p:cNvSpPr>
            <a:spLocks noGrp="1"/>
          </p:cNvSpPr>
          <p:nvPr>
            <p:ph type="body" sz="quarter" idx="11"/>
          </p:nvPr>
        </p:nvSpPr>
        <p:spPr>
          <a:xfrm>
            <a:off x="5484813" y="1349257"/>
            <a:ext cx="5715000" cy="252000"/>
          </a:xfrm>
        </p:spPr>
        <p:txBody>
          <a:bodyPr/>
          <a:lstStyle/>
          <a:p>
            <a:r>
              <a:rPr lang="fi-FI"/>
              <a:t>Potential adjustments (continued)</a:t>
            </a:r>
          </a:p>
        </p:txBody>
      </p:sp>
      <p:sp>
        <p:nvSpPr>
          <p:cNvPr id="31" name="Text Placeholder 5">
            <a:extLst>
              <a:ext uri="{FF2B5EF4-FFF2-40B4-BE49-F238E27FC236}">
                <a16:creationId xmlns:a16="http://schemas.microsoft.com/office/drawing/2014/main" id="{467598F9-06A5-8348-AA76-E8968D4BE6CF}"/>
              </a:ext>
            </a:extLst>
          </p:cNvPr>
          <p:cNvSpPr>
            <a:spLocks noGrp="1"/>
          </p:cNvSpPr>
          <p:nvPr>
            <p:ph type="body" sz="quarter" idx="26"/>
          </p:nvPr>
        </p:nvSpPr>
        <p:spPr>
          <a:xfrm>
            <a:off x="5484813" y="1616831"/>
            <a:ext cx="5708473" cy="4515008"/>
          </a:xfrm>
        </p:spPr>
        <p:txBody>
          <a:bodyPr/>
          <a:lstStyle/>
          <a:p>
            <a:pPr marL="228600" lvl="2" indent="-228600">
              <a:buFont typeface="+mj-lt"/>
              <a:buAutoNum type="arabicPeriod" startAt="21"/>
            </a:pPr>
            <a:r>
              <a:rPr lang="en-US" b="1" dirty="0"/>
              <a:t>Intercompany elimination reconciliation: </a:t>
            </a:r>
            <a:r>
              <a:rPr lang="en-US" dirty="0"/>
              <a:t>We have noted an error in the Company’s consolidation elimination for intercompany expenses charged by Synex Tech, an IT company, to other entities in the group. The adjustment opposite restates the intercompany expense elimination in FY23, TTM Oct-24, and FY24 through full reconciliation of the intercompany income and corresponding intercompany expense in each period.</a:t>
            </a:r>
            <a:endParaRPr lang="en-US" dirty="0">
              <a:solidFill>
                <a:srgbClr val="FF0000"/>
              </a:solidFill>
            </a:endParaRPr>
          </a:p>
          <a:p>
            <a:pPr marL="228600" lvl="2" indent="-228600">
              <a:buFont typeface="+mj-lt"/>
              <a:buAutoNum type="arabicPeriod" startAt="21"/>
            </a:pPr>
            <a:r>
              <a:rPr lang="en-US" b="1" dirty="0"/>
              <a:t>Other non-recurring revenue</a:t>
            </a:r>
            <a:r>
              <a:rPr lang="en-US" dirty="0"/>
              <a:t>:</a:t>
            </a:r>
            <a:r>
              <a:rPr lang="en-US" dirty="0">
                <a:solidFill>
                  <a:srgbClr val="FF0000"/>
                </a:solidFill>
              </a:rPr>
              <a:t> </a:t>
            </a:r>
            <a:r>
              <a:rPr lang="en-US" dirty="0"/>
              <a:t>Other revenue recognized in operating subsidiaries includes certain miscellaneous income items which exhibit significant monthly variability and may not relate to core brokerage or ancillary activities.</a:t>
            </a:r>
            <a:r>
              <a:rPr lang="en-US" dirty="0">
                <a:solidFill>
                  <a:srgbClr val="FF0000"/>
                </a:solidFill>
              </a:rPr>
              <a:t> </a:t>
            </a:r>
            <a:r>
              <a:rPr lang="en-US" dirty="0"/>
              <a:t>The adjustment also includes income of $0.2 million reported in FY22 arising from the disposal of a life insurance book of business in FY22 which is considered to be a one-off item.</a:t>
            </a:r>
          </a:p>
          <a:p>
            <a:pPr marL="228600" lvl="2" indent="-228600">
              <a:buFont typeface="+mj-lt"/>
              <a:buAutoNum type="arabicPeriod" startAt="21"/>
            </a:pPr>
            <a:r>
              <a:rPr lang="en-US" b="1" dirty="0"/>
              <a:t>CPC revenue true-up</a:t>
            </a:r>
            <a:r>
              <a:rPr lang="en-US" dirty="0"/>
              <a:t>:</a:t>
            </a:r>
            <a:r>
              <a:rPr lang="en-US" dirty="0">
                <a:solidFill>
                  <a:srgbClr val="FF0000"/>
                </a:solidFill>
              </a:rPr>
              <a:t> </a:t>
            </a:r>
            <a:r>
              <a:rPr lang="en-US" dirty="0"/>
              <a:t>Management’s latest forecast for CPC income relating to risk year 2024 indicates potential $0.3 million upside to the amount reflected in pro forma adjusted EBITDA for FY24 resulting from updates to the calculations driving CPC income by carrier. Management expressed a high degree of confidence in receiving the full amount of CPC income per the latest forecast, and represented that in excess of 85% of the total FY24 forecast amount was either collected from, or confirmed with carriers, as at the date of this report. Notwithstanding, approx. $2.9 million of CPC revenue recognized in FY24 remains subject to carrier confirmation.</a:t>
            </a:r>
          </a:p>
          <a:p>
            <a:pPr marL="228600" lvl="2" indent="-228600">
              <a:buFont typeface="+mj-lt"/>
              <a:buAutoNum type="arabicPeriod" startAt="24"/>
            </a:pPr>
            <a:r>
              <a:rPr lang="en-US" b="1" dirty="0"/>
              <a:t>Synex Re Ltd</a:t>
            </a:r>
            <a:r>
              <a:rPr lang="en-US" dirty="0"/>
              <a:t>: The Company incorporated a captive reinsurance entity in Barbados in April 2024 for the purposes of sharing in the returns on certain risks underwritten by its MGA operations with its primary insurance partner. The revenue and costs associated with this entity are not included in the reported EBITDA of the Company or presented as a separate adjustment in the sell-side quality of earnings analysis. We understand the reinsurance entity is part of the proposed transaction perimeter and, as a result, we have presented an adjustment for earnings reported by the business in the period subsequent to its incorporation.</a:t>
            </a:r>
          </a:p>
          <a:p>
            <a:pPr marL="0" lvl="2" indent="0">
              <a:buNone/>
            </a:pPr>
            <a:endParaRPr lang="en-US" dirty="0"/>
          </a:p>
          <a:p>
            <a:pPr marL="228600" lvl="2" indent="-228600">
              <a:buFont typeface="+mj-lt"/>
              <a:buAutoNum type="arabicPeriod" startAt="33"/>
            </a:pPr>
            <a:endParaRPr lang="en-US" dirty="0"/>
          </a:p>
        </p:txBody>
      </p:sp>
      <p:sp>
        <p:nvSpPr>
          <p:cNvPr id="6" name="Text Placeholder 12">
            <a:extLst>
              <a:ext uri="{FF2B5EF4-FFF2-40B4-BE49-F238E27FC236}">
                <a16:creationId xmlns:a16="http://schemas.microsoft.com/office/drawing/2014/main" id="{A8778361-4231-EBC3-B509-765B775F75BC}"/>
              </a:ext>
            </a:extLst>
          </p:cNvPr>
          <p:cNvSpPr txBox="1">
            <a:spLocks/>
          </p:cNvSpPr>
          <p:nvPr/>
        </p:nvSpPr>
        <p:spPr>
          <a:xfrm>
            <a:off x="1003312" y="520181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0341E283-7DD7-0F76-A5AE-963F57CBA2C0}"/>
              </a:ext>
            </a:extLst>
          </p:cNvPr>
          <p:cNvPicPr>
            <a:picLocks noChangeAspect="1"/>
          </p:cNvPicPr>
          <p:nvPr>
            <p:custDataLst>
              <p:tags r:id="rId4"/>
            </p:custDataLst>
          </p:nvPr>
        </p:nvPicPr>
        <p:blipFill>
          <a:blip r:embed="rId9"/>
          <a:stretch>
            <a:fillRect/>
          </a:stretch>
        </p:blipFill>
        <p:spPr>
          <a:xfrm>
            <a:off x="1003312" y="1348052"/>
            <a:ext cx="4379976" cy="3835500"/>
          </a:xfrm>
          <a:prstGeom prst="rect">
            <a:avLst/>
          </a:prstGeom>
        </p:spPr>
      </p:pic>
      <p:grpSp>
        <p:nvGrpSpPr>
          <p:cNvPr id="25" name="Group 24">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6"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43486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potential adjustments (4/4)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30" name="Text Placeholder 16">
            <a:extLst>
              <a:ext uri="{FF2B5EF4-FFF2-40B4-BE49-F238E27FC236}">
                <a16:creationId xmlns:a16="http://schemas.microsoft.com/office/drawing/2014/main" id="{9B8B4F18-09BD-45A9-F897-C2A5BFC4EBD1}"/>
              </a:ext>
            </a:extLst>
          </p:cNvPr>
          <p:cNvSpPr>
            <a:spLocks noGrp="1"/>
          </p:cNvSpPr>
          <p:nvPr>
            <p:ph type="body" sz="quarter" idx="11"/>
          </p:nvPr>
        </p:nvSpPr>
        <p:spPr>
          <a:xfrm>
            <a:off x="5484813" y="1346042"/>
            <a:ext cx="5715000" cy="252000"/>
          </a:xfrm>
        </p:spPr>
        <p:txBody>
          <a:bodyPr/>
          <a:lstStyle/>
          <a:p>
            <a:r>
              <a:rPr lang="fi-FI"/>
              <a:t>Potential adjustments (continued)</a:t>
            </a:r>
          </a:p>
        </p:txBody>
      </p:sp>
      <p:sp>
        <p:nvSpPr>
          <p:cNvPr id="31" name="Text Placeholder 5">
            <a:extLst>
              <a:ext uri="{FF2B5EF4-FFF2-40B4-BE49-F238E27FC236}">
                <a16:creationId xmlns:a16="http://schemas.microsoft.com/office/drawing/2014/main" id="{467598F9-06A5-8348-AA76-E8968D4BE6CF}"/>
              </a:ext>
            </a:extLst>
          </p:cNvPr>
          <p:cNvSpPr>
            <a:spLocks noGrp="1"/>
          </p:cNvSpPr>
          <p:nvPr>
            <p:ph type="body" sz="quarter" idx="26"/>
          </p:nvPr>
        </p:nvSpPr>
        <p:spPr>
          <a:xfrm>
            <a:off x="5484813" y="1598042"/>
            <a:ext cx="5708473" cy="4056346"/>
          </a:xfrm>
        </p:spPr>
        <p:txBody>
          <a:bodyPr/>
          <a:lstStyle/>
          <a:p>
            <a:pPr marL="228600" lvl="2" indent="-228600">
              <a:buFont typeface="+mj-lt"/>
              <a:buAutoNum type="arabicPeriod" startAt="25"/>
            </a:pPr>
            <a:r>
              <a:rPr lang="en-US" b="1" dirty="0"/>
              <a:t>Internal replacement costs: </a:t>
            </a:r>
            <a:r>
              <a:rPr lang="en-US" dirty="0"/>
              <a:t>The sell-side quality of earnings adjustment for non-recurring professional fees (adjustment #1) includes certain third party accounting and IT costs for services which have recently been replaced with internal staff resource (for example, PPA work, stock options accounting, and general IT support). Headcount in the accounting / finance team increased from four FTEs in FY22 to eight FTEs in FY24, while a number of more experienced hires were made into the IT department over the same period. An adjustment is proposed to reflect the cost base of current accounting and IT departments through the Historical Period to capture the internal cost impact of fulfilling accounting and IT responsibilities historically supported by third party providers.</a:t>
            </a:r>
          </a:p>
          <a:p>
            <a:pPr marL="228600" lvl="2" indent="-228600">
              <a:buFont typeface="+mj-lt"/>
              <a:buAutoNum type="arabicPeriod" startAt="25"/>
            </a:pPr>
            <a:r>
              <a:rPr lang="en-US" b="1" dirty="0"/>
              <a:t>GTI salaries true-up: </a:t>
            </a:r>
            <a:r>
              <a:rPr lang="en-US" dirty="0"/>
              <a:t>We understand a payroll expense true-up was recognized in December 2024 in GTI Broker Group inc. which related to the full year. The adjustment quantified opposite re-allocates the true-up to the months it relates to in FY24 on a straight-line basis. This adjustment does not impact FY24 EBITDA given the expense true-up related to the full period.</a:t>
            </a:r>
          </a:p>
          <a:p>
            <a:pPr marL="228600" lvl="2" indent="-228600">
              <a:buFont typeface="+mj-lt"/>
              <a:buAutoNum type="arabicPeriod" startAt="25"/>
            </a:pPr>
            <a:r>
              <a:rPr lang="en-US" b="1" dirty="0"/>
              <a:t>Out-of-period benefits bonus</a:t>
            </a:r>
            <a:r>
              <a:rPr lang="en-US" dirty="0"/>
              <a:t>: The Company recognized $0.2 million of benefits bonus income from Canada Life in FY24 that related to FY23. This adjustment re-allocates the bonus income to the appropriate period. On an adjusted basis, the Canada Life bonus income is consistent at $0.5 million per annum, aligned to overall trends in base group benefits commissions. </a:t>
            </a:r>
          </a:p>
          <a:p>
            <a:pPr marL="228600" lvl="2" indent="0">
              <a:buNone/>
            </a:pPr>
            <a:r>
              <a:rPr lang="en-US" dirty="0"/>
              <a:t>In addition, the Company released a $0.1 million accrual in FY24 related to commissions shared with producers which were over-estimated in the prior year. The adjustment opposite also re-allocates this accrual reversal to FY23.</a:t>
            </a:r>
          </a:p>
        </p:txBody>
      </p:sp>
      <p:sp>
        <p:nvSpPr>
          <p:cNvPr id="6" name="Text Placeholder 12">
            <a:extLst>
              <a:ext uri="{FF2B5EF4-FFF2-40B4-BE49-F238E27FC236}">
                <a16:creationId xmlns:a16="http://schemas.microsoft.com/office/drawing/2014/main" id="{D04AEA2A-13A5-6C5A-F812-E8EBC6B37F3E}"/>
              </a:ext>
            </a:extLst>
          </p:cNvPr>
          <p:cNvSpPr txBox="1">
            <a:spLocks/>
          </p:cNvSpPr>
          <p:nvPr/>
        </p:nvSpPr>
        <p:spPr>
          <a:xfrm>
            <a:off x="1003312" y="520181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29EEDCB7-8945-7B6E-D86F-CA76DF6E692E}"/>
              </a:ext>
            </a:extLst>
          </p:cNvPr>
          <p:cNvPicPr>
            <a:picLocks noChangeAspect="1"/>
          </p:cNvPicPr>
          <p:nvPr>
            <p:custDataLst>
              <p:tags r:id="rId4"/>
            </p:custDataLst>
          </p:nvPr>
        </p:nvPicPr>
        <p:blipFill>
          <a:blip r:embed="rId9"/>
          <a:stretch>
            <a:fillRect/>
          </a:stretch>
        </p:blipFill>
        <p:spPr>
          <a:xfrm>
            <a:off x="1003312" y="1348052"/>
            <a:ext cx="4379976" cy="3835500"/>
          </a:xfrm>
          <a:prstGeom prst="rect">
            <a:avLst/>
          </a:prstGeom>
        </p:spPr>
      </p:pic>
      <p:grpSp>
        <p:nvGrpSpPr>
          <p:cNvPr id="25" name="Group 24">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6"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22876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pro forma adjustments </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30" name="Text Placeholder 16">
            <a:extLst>
              <a:ext uri="{FF2B5EF4-FFF2-40B4-BE49-F238E27FC236}">
                <a16:creationId xmlns:a16="http://schemas.microsoft.com/office/drawing/2014/main" id="{9B8B4F18-09BD-45A9-F897-C2A5BFC4EBD1}"/>
              </a:ext>
            </a:extLst>
          </p:cNvPr>
          <p:cNvSpPr>
            <a:spLocks noGrp="1"/>
          </p:cNvSpPr>
          <p:nvPr>
            <p:ph type="body" sz="quarter" idx="11"/>
          </p:nvPr>
        </p:nvSpPr>
        <p:spPr>
          <a:xfrm>
            <a:off x="5484813" y="1344591"/>
            <a:ext cx="5715000" cy="251999"/>
          </a:xfrm>
        </p:spPr>
        <p:txBody>
          <a:bodyPr/>
          <a:lstStyle/>
          <a:p>
            <a:r>
              <a:rPr lang="fi-FI"/>
              <a:t>Pro forma adjustments</a:t>
            </a:r>
          </a:p>
        </p:txBody>
      </p:sp>
      <p:sp>
        <p:nvSpPr>
          <p:cNvPr id="31" name="Text Placeholder 5">
            <a:extLst>
              <a:ext uri="{FF2B5EF4-FFF2-40B4-BE49-F238E27FC236}">
                <a16:creationId xmlns:a16="http://schemas.microsoft.com/office/drawing/2014/main" id="{467598F9-06A5-8348-AA76-E8968D4BE6CF}"/>
              </a:ext>
            </a:extLst>
          </p:cNvPr>
          <p:cNvSpPr>
            <a:spLocks noGrp="1"/>
          </p:cNvSpPr>
          <p:nvPr>
            <p:ph type="body" sz="quarter" idx="26"/>
          </p:nvPr>
        </p:nvSpPr>
        <p:spPr>
          <a:xfrm>
            <a:off x="5478600" y="1625399"/>
            <a:ext cx="5715000" cy="4210826"/>
          </a:xfrm>
        </p:spPr>
        <p:txBody>
          <a:bodyPr/>
          <a:lstStyle/>
          <a:p>
            <a:pPr marL="228600" lvl="2" indent="-228600">
              <a:buFont typeface="+mj-lt"/>
              <a:buAutoNum type="arabicPeriod" startAt="28"/>
            </a:pPr>
            <a:r>
              <a:rPr lang="en-US" b="1" dirty="0"/>
              <a:t>New completed acquisitions: </a:t>
            </a:r>
            <a:r>
              <a:rPr lang="en-US" dirty="0"/>
              <a:t>For consistency with sell-side pro forma adjustment #17, pre-acquisition historical EBITDA associated with completed business acquisitions in the period subsequent to December 2024 is presented on a pro forma basis. We understand there were two new acquisitions closed in January 2025 and February 2025, summarized below:</a:t>
            </a:r>
          </a:p>
          <a:p>
            <a:pPr marL="285750" lvl="2" indent="-285750">
              <a:buFont typeface="+mj-lt"/>
              <a:buAutoNum type="romanLcPeriod"/>
            </a:pPr>
            <a:r>
              <a:rPr lang="en-US" i="1" dirty="0"/>
              <a:t>BMB Assurances</a:t>
            </a:r>
            <a:r>
              <a:rPr lang="en-US" dirty="0"/>
              <a:t>: P&amp;C business acquired in February 2025 located in Quebec. The pre-acquisition EBITDA associated with BMB Assurances is based on historical financial information presented in a third party financial due diligence report commissioned by the Company. BMB Assurances fiscal year end is October 31. The pro forma adjustment for pre-acquisition earnings in BMB Assurances reflects a combination of the following:</a:t>
            </a:r>
          </a:p>
          <a:p>
            <a:pPr lvl="3"/>
            <a:r>
              <a:rPr lang="en-US" dirty="0"/>
              <a:t>Jan-22 to Oct-23: Reported annual figures allocated on a straight-line basis over each fiscal period.</a:t>
            </a:r>
          </a:p>
          <a:p>
            <a:pPr lvl="3"/>
            <a:r>
              <a:rPr lang="en-US" dirty="0"/>
              <a:t>Nov-23 to Oct-24: Adjusted annual earnings allocated evenly over the period. The adjustments applied to reported EBITDA primarily relate to the normalization of shareholder costs, totaling  $0.1 million in TTM Oct-24.</a:t>
            </a:r>
          </a:p>
          <a:p>
            <a:pPr lvl="3"/>
            <a:r>
              <a:rPr lang="en-US" dirty="0"/>
              <a:t>Nov-24 and Dec-24: Extrapolation of average monthly adjusted EBITDA quantified for the Nov-23-Oct-24 period.</a:t>
            </a:r>
          </a:p>
          <a:p>
            <a:pPr marL="285750" lvl="2" indent="-285750">
              <a:buFont typeface="+mj-lt"/>
              <a:buAutoNum type="romanLcPeriod"/>
            </a:pPr>
            <a:r>
              <a:rPr lang="en-US" i="1" dirty="0"/>
              <a:t>Daniel Belley: </a:t>
            </a:r>
            <a:r>
              <a:rPr lang="en-US" dirty="0"/>
              <a:t>The Company acquired a book of business in Jan-25 for a purchase price of $0.1 million. The purchase agreement indicates that the producer generates annual commissions of approx. $0.1 million which are included as a pro forma adjustment, net of assumed 30% commission paid on income earned. </a:t>
            </a:r>
          </a:p>
          <a:p>
            <a:pPr marL="228600" lvl="2" indent="0">
              <a:buNone/>
            </a:pPr>
            <a:r>
              <a:rPr lang="en-US" dirty="0"/>
              <a:t>The pro forma earnings impact associated with recently completed acquisitions does not include any potential CPC upside arising from the migration of acquired volume to higher grids with carriers.</a:t>
            </a:r>
          </a:p>
        </p:txBody>
      </p:sp>
      <p:sp>
        <p:nvSpPr>
          <p:cNvPr id="17" name="Text Placeholder 12">
            <a:extLst>
              <a:ext uri="{FF2B5EF4-FFF2-40B4-BE49-F238E27FC236}">
                <a16:creationId xmlns:a16="http://schemas.microsoft.com/office/drawing/2014/main" id="{3CAFAA91-7AAA-C381-E55E-8829B9F59851}"/>
              </a:ext>
            </a:extLst>
          </p:cNvPr>
          <p:cNvSpPr txBox="1">
            <a:spLocks/>
          </p:cNvSpPr>
          <p:nvPr/>
        </p:nvSpPr>
        <p:spPr>
          <a:xfrm>
            <a:off x="992187" y="3469372"/>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84F90091-7475-5CA5-C552-40984781949E}"/>
              </a:ext>
            </a:extLst>
          </p:cNvPr>
          <p:cNvPicPr>
            <a:picLocks noChangeAspect="1"/>
          </p:cNvPicPr>
          <p:nvPr>
            <p:custDataLst>
              <p:tags r:id="rId4"/>
            </p:custDataLst>
          </p:nvPr>
        </p:nvPicPr>
        <p:blipFill>
          <a:blip r:embed="rId9"/>
          <a:stretch>
            <a:fillRect/>
          </a:stretch>
        </p:blipFill>
        <p:spPr>
          <a:xfrm>
            <a:off x="992187" y="1354736"/>
            <a:ext cx="4379976" cy="2095451"/>
          </a:xfrm>
          <a:prstGeom prst="rect">
            <a:avLst/>
          </a:prstGeom>
        </p:spPr>
      </p:pic>
      <p:grpSp>
        <p:nvGrpSpPr>
          <p:cNvPr id="26" name="Group 25">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61729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other considerations (1/3)</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484813" y="1333379"/>
            <a:ext cx="5715000" cy="252000"/>
          </a:xfrm>
        </p:spPr>
        <p:txBody>
          <a:bodyPr/>
          <a:lstStyle/>
          <a:p>
            <a:r>
              <a:rPr lang="fi-FI"/>
              <a:t>Other considerations</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327312" y="7178172"/>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other considerations (FY22-24). Commentary focus on other consideration identified</a:t>
            </a:r>
          </a:p>
        </p:txBody>
      </p:sp>
      <p:sp>
        <p:nvSpPr>
          <p:cNvPr id="26" name="Text Placeholder 5">
            <a:extLst>
              <a:ext uri="{FF2B5EF4-FFF2-40B4-BE49-F238E27FC236}">
                <a16:creationId xmlns:a16="http://schemas.microsoft.com/office/drawing/2014/main" id="{336BF905-D2A2-BE62-9D9B-9549C150619F}"/>
              </a:ext>
            </a:extLst>
          </p:cNvPr>
          <p:cNvSpPr>
            <a:spLocks noGrp="1"/>
          </p:cNvSpPr>
          <p:nvPr>
            <p:ph type="body" sz="quarter" idx="26"/>
          </p:nvPr>
        </p:nvSpPr>
        <p:spPr>
          <a:xfrm>
            <a:off x="5484813" y="1610596"/>
            <a:ext cx="5715000" cy="4388551"/>
          </a:xfrm>
        </p:spPr>
        <p:txBody>
          <a:bodyPr/>
          <a:lstStyle/>
          <a:p>
            <a:pPr marL="228600" lvl="2" indent="-228600">
              <a:buFont typeface="+mj-lt"/>
              <a:buAutoNum type="alphaUcPeriod"/>
            </a:pPr>
            <a:r>
              <a:rPr lang="en-US" b="1" dirty="0"/>
              <a:t>Replacement costs for shareholders</a:t>
            </a:r>
            <a:r>
              <a:rPr lang="en-US" dirty="0"/>
              <a:t>: Management has proposed an add-back of costs for former shareholders in certain operating companies who serve as ambassadors in the business with no replacement costs considered. These individuals may serve in a business development or relationship manager capacity presently, although the potential earnings impact of their departure does not appear to be specifically considered in the sell-side due diligence report. Additionally, an adjustment is proposed for current shareholders with active roles in the Company offset by replacement costs which are notably lower than incumbent remuneration. There may be incremental costs incurred in future periods to replace the roles of both current shareholders and former shareholders who contribute to business activities. </a:t>
            </a:r>
          </a:p>
          <a:p>
            <a:pPr marL="228600" lvl="2" indent="-228600">
              <a:buFont typeface="+mj-lt"/>
              <a:buAutoNum type="alphaUcPeriod"/>
            </a:pPr>
            <a:r>
              <a:rPr lang="en-US" b="1" dirty="0"/>
              <a:t>Integration costs</a:t>
            </a:r>
            <a:r>
              <a:rPr lang="en-US" dirty="0"/>
              <a:t>: Given the Company regularly engages in M&amp;A activity, there may be a level of recurring integration and migration costs required to facilitate absorption of acquired businesses into the wider group, including broker management, financial, and compliance systems. </a:t>
            </a:r>
            <a:endParaRPr lang="en-US" b="1" dirty="0"/>
          </a:p>
          <a:p>
            <a:pPr marL="228600" lvl="2" indent="-228600">
              <a:buFont typeface="+mj-lt"/>
              <a:buAutoNum type="alphaUcPeriod" startAt="3"/>
            </a:pPr>
            <a:r>
              <a:rPr lang="en-US" b="1" dirty="0"/>
              <a:t>Cancellation provision: </a:t>
            </a:r>
            <a:r>
              <a:rPr lang="en-US" dirty="0"/>
              <a:t>The Company does not recognize a provision for commission clawback on policies which are cancelled within term or prior to policies taking effect. Management indicated that this amount is not significant on an annual basis and does not vary materially year-over-year (approximately $3 million to $4 million annually in premiums through the Historical Period).</a:t>
            </a:r>
          </a:p>
          <a:p>
            <a:pPr marL="228600" lvl="2" indent="-228600">
              <a:buFont typeface="+mj-lt"/>
              <a:buAutoNum type="alphaUcPeriod" startAt="3"/>
            </a:pPr>
            <a:r>
              <a:rPr lang="en-US" b="1" dirty="0">
                <a:solidFill>
                  <a:schemeClr val="tx1"/>
                </a:solidFill>
              </a:rPr>
              <a:t>New producer compensation: </a:t>
            </a:r>
            <a:r>
              <a:rPr lang="en-US" b="0" dirty="0">
                <a:solidFill>
                  <a:schemeClr val="tx1"/>
                </a:solidFill>
              </a:rPr>
              <a:t>The sell-side quality of earnings analysis presents an add-back for the excess of salary paid over revenue generated for new producers in the business. Although these costs are not expected to arise once new producers reach their run rate production levels, it could be argued that the business will always have a cohort of producers in the early stages of their career development who are required to be subsidized by the Company before reaching break-even. Management indicated the typical ramp-up period for new producers is one year to be neutral and two years to be cash positive. See Appendix 3 for further details on the net producer costs included in the sell-side adjustment.</a:t>
            </a:r>
          </a:p>
          <a:p>
            <a:pPr marL="228600" lvl="2" indent="-228600">
              <a:buFont typeface="+mj-lt"/>
              <a:buAutoNum type="alphaUcPeriod" startAt="3"/>
            </a:pPr>
            <a:endParaRPr lang="en-US" dirty="0"/>
          </a:p>
        </p:txBody>
      </p:sp>
      <p:sp>
        <p:nvSpPr>
          <p:cNvPr id="28" name="Text Placeholder 12">
            <a:extLst>
              <a:ext uri="{FF2B5EF4-FFF2-40B4-BE49-F238E27FC236}">
                <a16:creationId xmlns:a16="http://schemas.microsoft.com/office/drawing/2014/main" id="{9BFA7E29-4EAD-DDCE-CD71-7D30C23C2749}"/>
              </a:ext>
            </a:extLst>
          </p:cNvPr>
          <p:cNvSpPr txBox="1">
            <a:spLocks/>
          </p:cNvSpPr>
          <p:nvPr/>
        </p:nvSpPr>
        <p:spPr>
          <a:xfrm>
            <a:off x="992187" y="417588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38D83336-7A11-420C-1432-7692E2A692E1}"/>
              </a:ext>
            </a:extLst>
          </p:cNvPr>
          <p:cNvPicPr>
            <a:picLocks noChangeAspect="1"/>
          </p:cNvPicPr>
          <p:nvPr>
            <p:custDataLst>
              <p:tags r:id="rId4"/>
            </p:custDataLst>
          </p:nvPr>
        </p:nvPicPr>
        <p:blipFill>
          <a:blip r:embed="rId9"/>
          <a:stretch>
            <a:fillRect/>
          </a:stretch>
        </p:blipFill>
        <p:spPr>
          <a:xfrm>
            <a:off x="1003312" y="1333379"/>
            <a:ext cx="4379976" cy="2820471"/>
          </a:xfrm>
          <a:prstGeom prst="rect">
            <a:avLst/>
          </a:prstGeom>
        </p:spPr>
      </p:pic>
      <p:grpSp>
        <p:nvGrpSpPr>
          <p:cNvPr id="27" name="Group 26">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30"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1904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other considerations (2/3)</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484813" y="1345905"/>
            <a:ext cx="5715000" cy="252000"/>
          </a:xfrm>
        </p:spPr>
        <p:txBody>
          <a:bodyPr/>
          <a:lstStyle/>
          <a:p>
            <a:r>
              <a:rPr lang="fi-FI"/>
              <a:t>Other considerations (continued)</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188142" y="6858000"/>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other considerations (FY22-24). Commentary focus on other consideration identified</a:t>
            </a:r>
          </a:p>
        </p:txBody>
      </p:sp>
      <p:sp>
        <p:nvSpPr>
          <p:cNvPr id="26" name="Text Placeholder 5">
            <a:extLst>
              <a:ext uri="{FF2B5EF4-FFF2-40B4-BE49-F238E27FC236}">
                <a16:creationId xmlns:a16="http://schemas.microsoft.com/office/drawing/2014/main" id="{336BF905-D2A2-BE62-9D9B-9549C150619F}"/>
              </a:ext>
            </a:extLst>
          </p:cNvPr>
          <p:cNvSpPr>
            <a:spLocks noGrp="1"/>
          </p:cNvSpPr>
          <p:nvPr>
            <p:ph type="body" sz="quarter" idx="26"/>
          </p:nvPr>
        </p:nvSpPr>
        <p:spPr>
          <a:xfrm>
            <a:off x="5484813" y="1623123"/>
            <a:ext cx="5715000" cy="3864416"/>
          </a:xfrm>
        </p:spPr>
        <p:txBody>
          <a:bodyPr/>
          <a:lstStyle/>
          <a:p>
            <a:pPr marL="228600" lvl="2" indent="-228600">
              <a:buFont typeface="+mj-lt"/>
              <a:buAutoNum type="alphaUcPeriod" startAt="5"/>
            </a:pPr>
            <a:r>
              <a:rPr lang="en-US" b="1" dirty="0"/>
              <a:t>Potential acquisitions</a:t>
            </a:r>
            <a:r>
              <a:rPr lang="en-US" dirty="0"/>
              <a:t>: We understand the Company is currently in negotiations for three other brokerage businesses, with signed LOI in place for each. The incremental EBITDA associated with these acquisitions should be considered in the context of your financial projections, with high level information related to these target companies set out below: </a:t>
            </a:r>
          </a:p>
          <a:p>
            <a:pPr marL="228600" lvl="2" indent="-228600">
              <a:buFont typeface="+mj-lt"/>
              <a:buAutoNum type="alphaUcPeriod" startAt="5"/>
            </a:pPr>
            <a:endParaRPr lang="en-US" dirty="0"/>
          </a:p>
          <a:p>
            <a:pPr marL="0" lvl="2" indent="0">
              <a:buNone/>
            </a:pPr>
            <a:endParaRPr lang="en-US" dirty="0"/>
          </a:p>
          <a:p>
            <a:pPr marL="0" lvl="2" indent="0">
              <a:buNone/>
            </a:pPr>
            <a:endParaRPr lang="en-US" dirty="0"/>
          </a:p>
          <a:p>
            <a:pPr marL="0" lvl="2" indent="0">
              <a:buNone/>
            </a:pPr>
            <a:endParaRPr lang="en-US" dirty="0"/>
          </a:p>
          <a:p>
            <a:pPr marL="228600" lvl="2" indent="-228600">
              <a:buFont typeface="+mj-lt"/>
              <a:buAutoNum type="alphaUcPeriod" startAt="6"/>
            </a:pPr>
            <a:r>
              <a:rPr lang="en-US" b="1" dirty="0"/>
              <a:t>Departures and eliminated positions</a:t>
            </a:r>
            <a:r>
              <a:rPr lang="en-US" dirty="0"/>
              <a:t>: The sell-side adjustments remove salary costs related to 18 individuals who are deemed redundant in the business and will not be required on a go-forward basis. We understand 10 of the 18 individuals have already departed and have not required subsequent replacement; although there may be a future cost burden for re-hiring in these positions which is not compensated in adjusted EBITDA. For illustrative purposes we have included 35% of the costs of these individuals as an other earnings consideration. Since these individuals will either depart on close or have departed in recent periods, there is an insufficient track record to indicate these positions will not require replacement. </a:t>
            </a:r>
          </a:p>
          <a:p>
            <a:pPr marL="228600" lvl="2" indent="-228600">
              <a:buFont typeface="+mj-lt"/>
              <a:buAutoNum type="alphaUcPeriod" startAt="6"/>
            </a:pPr>
            <a:r>
              <a:rPr lang="en-US" b="1" dirty="0"/>
              <a:t>Group benefits revenue true up: </a:t>
            </a:r>
            <a:r>
              <a:rPr lang="en-US" dirty="0"/>
              <a:t>We understand group benefits revenue is periodically subject to out-of-period true-ups at the completion of policy terms. Such potential adjustment has typically been, in our experience where sufficient data has been provided, not significant.  However, in the absence of data, a complete analysis thereof cannot be completed. </a:t>
            </a:r>
            <a:endParaRPr lang="en-US" b="1" dirty="0"/>
          </a:p>
          <a:p>
            <a:pPr marL="228600" lvl="2" indent="-228600">
              <a:buFont typeface="+mj-lt"/>
              <a:buAutoNum type="alphaUcPeriod" startAt="6"/>
            </a:pPr>
            <a:endParaRPr lang="en-US" dirty="0"/>
          </a:p>
        </p:txBody>
      </p:sp>
      <p:pic>
        <p:nvPicPr>
          <p:cNvPr id="10" name="Picture 9">
            <a:extLst>
              <a:ext uri="{FF2B5EF4-FFF2-40B4-BE49-F238E27FC236}">
                <a16:creationId xmlns:a16="http://schemas.microsoft.com/office/drawing/2014/main" id="{5F5DF128-DFBA-E426-0529-BFC6CCD86FA3}"/>
              </a:ext>
            </a:extLst>
          </p:cNvPr>
          <p:cNvPicPr>
            <a:picLocks noChangeAspect="1"/>
          </p:cNvPicPr>
          <p:nvPr>
            <p:custDataLst>
              <p:tags r:id="rId4"/>
            </p:custDataLst>
          </p:nvPr>
        </p:nvPicPr>
        <p:blipFill>
          <a:blip r:embed="rId10"/>
          <a:stretch>
            <a:fillRect/>
          </a:stretch>
        </p:blipFill>
        <p:spPr>
          <a:xfrm>
            <a:off x="5812202" y="2346861"/>
            <a:ext cx="3886200" cy="852692"/>
          </a:xfrm>
          <a:prstGeom prst="rect">
            <a:avLst/>
          </a:prstGeom>
        </p:spPr>
      </p:pic>
      <p:sp>
        <p:nvSpPr>
          <p:cNvPr id="9" name="Text Placeholder 12">
            <a:extLst>
              <a:ext uri="{FF2B5EF4-FFF2-40B4-BE49-F238E27FC236}">
                <a16:creationId xmlns:a16="http://schemas.microsoft.com/office/drawing/2014/main" id="{A22F9A62-9016-CD0D-3762-A88FF6F35124}"/>
              </a:ext>
            </a:extLst>
          </p:cNvPr>
          <p:cNvSpPr txBox="1">
            <a:spLocks/>
          </p:cNvSpPr>
          <p:nvPr/>
        </p:nvSpPr>
        <p:spPr>
          <a:xfrm>
            <a:off x="992187" y="417588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6" name="Picture 15">
            <a:extLst>
              <a:ext uri="{FF2B5EF4-FFF2-40B4-BE49-F238E27FC236}">
                <a16:creationId xmlns:a16="http://schemas.microsoft.com/office/drawing/2014/main" id="{932339D6-EA7A-A17B-3DCA-2FBC2523747D}"/>
              </a:ext>
            </a:extLst>
          </p:cNvPr>
          <p:cNvPicPr>
            <a:picLocks noChangeAspect="1"/>
          </p:cNvPicPr>
          <p:nvPr>
            <p:custDataLst>
              <p:tags r:id="rId5"/>
            </p:custDataLst>
          </p:nvPr>
        </p:nvPicPr>
        <p:blipFill>
          <a:blip r:embed="rId11"/>
          <a:stretch>
            <a:fillRect/>
          </a:stretch>
        </p:blipFill>
        <p:spPr>
          <a:xfrm>
            <a:off x="1003312" y="1333379"/>
            <a:ext cx="4379976" cy="2820471"/>
          </a:xfrm>
          <a:prstGeom prst="rect">
            <a:avLst/>
          </a:prstGeom>
        </p:spPr>
      </p:pic>
      <p:grpSp>
        <p:nvGrpSpPr>
          <p:cNvPr id="28" name="Group 27">
            <a:extLst>
              <a:ext uri="{FF2B5EF4-FFF2-40B4-BE49-F238E27FC236}">
                <a16:creationId xmlns:a16="http://schemas.microsoft.com/office/drawing/2014/main" id="{E9FA07AC-A2D2-EE0E-1FFA-43F58DC90002}"/>
              </a:ext>
            </a:extLst>
          </p:cNvPr>
          <p:cNvGrpSpPr/>
          <p:nvPr>
            <p:custDataLst>
              <p:tags r:id="rId6"/>
            </p:custDataLst>
          </p:nvPr>
        </p:nvGrpSpPr>
        <p:grpSpPr>
          <a:xfrm>
            <a:off x="995364" y="153170"/>
            <a:ext cx="5024684" cy="195814"/>
            <a:chOff x="995364" y="153170"/>
            <a:chExt cx="5024684" cy="195814"/>
          </a:xfrm>
        </p:grpSpPr>
        <p:sp>
          <p:nvSpPr>
            <p:cNvPr id="29"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869985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Quality of earnings – other considerations (3/3)</a:t>
            </a:r>
          </a:p>
        </p:txBody>
      </p:sp>
      <p:sp>
        <p:nvSpPr>
          <p:cNvPr id="17" name="Text Placeholder 16">
            <a:extLst>
              <a:ext uri="{FF2B5EF4-FFF2-40B4-BE49-F238E27FC236}">
                <a16:creationId xmlns:a16="http://schemas.microsoft.com/office/drawing/2014/main" id="{369D0C06-681C-C96C-F751-62A145C0E8D0}"/>
              </a:ext>
            </a:extLst>
          </p:cNvPr>
          <p:cNvSpPr>
            <a:spLocks noGrp="1"/>
          </p:cNvSpPr>
          <p:nvPr>
            <p:ph type="body" sz="quarter" idx="11"/>
          </p:nvPr>
        </p:nvSpPr>
        <p:spPr>
          <a:xfrm>
            <a:off x="5484813" y="1335404"/>
            <a:ext cx="5715000" cy="252000"/>
          </a:xfrm>
        </p:spPr>
        <p:txBody>
          <a:bodyPr/>
          <a:lstStyle/>
          <a:p>
            <a:r>
              <a:rPr lang="fi-FI"/>
              <a:t>Other considerations (continued)</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Quality of earnings</a:t>
            </a:r>
          </a:p>
        </p:txBody>
      </p:sp>
      <p:sp>
        <p:nvSpPr>
          <p:cNvPr id="20" name="Rectangle 19">
            <a:extLst>
              <a:ext uri="{FF2B5EF4-FFF2-40B4-BE49-F238E27FC236}">
                <a16:creationId xmlns:a16="http://schemas.microsoft.com/office/drawing/2014/main" id="{43FD659C-4E6F-461B-DB03-BB91BCDC7731}"/>
              </a:ext>
            </a:extLst>
          </p:cNvPr>
          <p:cNvSpPr/>
          <p:nvPr/>
        </p:nvSpPr>
        <p:spPr>
          <a:xfrm>
            <a:off x="1188142" y="6858000"/>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QofE detail showing break-out of other considerations (FY22-24). Commentary focus on other consideration identified</a:t>
            </a:r>
          </a:p>
        </p:txBody>
      </p:sp>
      <p:sp>
        <p:nvSpPr>
          <p:cNvPr id="26" name="Text Placeholder 5">
            <a:extLst>
              <a:ext uri="{FF2B5EF4-FFF2-40B4-BE49-F238E27FC236}">
                <a16:creationId xmlns:a16="http://schemas.microsoft.com/office/drawing/2014/main" id="{336BF905-D2A2-BE62-9D9B-9549C150619F}"/>
              </a:ext>
            </a:extLst>
          </p:cNvPr>
          <p:cNvSpPr>
            <a:spLocks noGrp="1"/>
          </p:cNvSpPr>
          <p:nvPr>
            <p:ph type="body" sz="quarter" idx="26"/>
          </p:nvPr>
        </p:nvSpPr>
        <p:spPr>
          <a:xfrm>
            <a:off x="5484813" y="1612622"/>
            <a:ext cx="5715000" cy="3864416"/>
          </a:xfrm>
        </p:spPr>
        <p:txBody>
          <a:bodyPr/>
          <a:lstStyle/>
          <a:p>
            <a:pPr marL="228600" lvl="2" indent="-228600">
              <a:buFont typeface="+mj-lt"/>
              <a:buAutoNum type="alphaUcPeriod" startAt="8"/>
            </a:pPr>
            <a:r>
              <a:rPr lang="en-US" b="1" dirty="0"/>
              <a:t>Group benefits new contracts: </a:t>
            </a:r>
            <a:r>
              <a:rPr lang="en-US" dirty="0"/>
              <a:t>Given the Company recognizes all commission income arising on new group benefits policies upfront (despite a holdback component), there is a risk that revenue in certain years includes a greater proportion of contracts with terms greater than 12 months which may be distortive of underlying base commission trends. Management has indicated that group benefit contracts entered into have typically been 12 months in term. However, Management has not been able to provide a sales database relating to group benefit activities to validate this assertion. </a:t>
            </a:r>
          </a:p>
        </p:txBody>
      </p:sp>
      <p:sp>
        <p:nvSpPr>
          <p:cNvPr id="9" name="Text Placeholder 12">
            <a:extLst>
              <a:ext uri="{FF2B5EF4-FFF2-40B4-BE49-F238E27FC236}">
                <a16:creationId xmlns:a16="http://schemas.microsoft.com/office/drawing/2014/main" id="{47AD9541-69F8-7096-1985-D79DC3F93A0B}"/>
              </a:ext>
            </a:extLst>
          </p:cNvPr>
          <p:cNvSpPr txBox="1">
            <a:spLocks/>
          </p:cNvSpPr>
          <p:nvPr/>
        </p:nvSpPr>
        <p:spPr>
          <a:xfrm>
            <a:off x="992187" y="417588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0" name="Picture 9">
            <a:extLst>
              <a:ext uri="{FF2B5EF4-FFF2-40B4-BE49-F238E27FC236}">
                <a16:creationId xmlns:a16="http://schemas.microsoft.com/office/drawing/2014/main" id="{BCA7AA4A-45D1-0AFE-0F59-E6C272B9A9C8}"/>
              </a:ext>
            </a:extLst>
          </p:cNvPr>
          <p:cNvPicPr>
            <a:picLocks noChangeAspect="1"/>
          </p:cNvPicPr>
          <p:nvPr>
            <p:custDataLst>
              <p:tags r:id="rId4"/>
            </p:custDataLst>
          </p:nvPr>
        </p:nvPicPr>
        <p:blipFill>
          <a:blip r:embed="rId9"/>
          <a:stretch>
            <a:fillRect/>
          </a:stretch>
        </p:blipFill>
        <p:spPr>
          <a:xfrm>
            <a:off x="1003312" y="1333379"/>
            <a:ext cx="4379976" cy="2820471"/>
          </a:xfrm>
          <a:prstGeom prst="rect">
            <a:avLst/>
          </a:prstGeom>
        </p:spPr>
      </p:pic>
      <p:grpSp>
        <p:nvGrpSpPr>
          <p:cNvPr id="27" name="Group 26">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20660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Adjusted income statement (1/4)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income statement</a:t>
            </a:r>
          </a:p>
        </p:txBody>
      </p:sp>
      <p:sp>
        <p:nvSpPr>
          <p:cNvPr id="21" name="Rectangle 20">
            <a:extLst>
              <a:ext uri="{FF2B5EF4-FFF2-40B4-BE49-F238E27FC236}">
                <a16:creationId xmlns:a16="http://schemas.microsoft.com/office/drawing/2014/main" id="{5ED8DB86-BA49-A7AE-11A0-9609478C44AF}"/>
              </a:ext>
            </a:extLst>
          </p:cNvPr>
          <p:cNvSpPr/>
          <p:nvPr/>
        </p:nvSpPr>
        <p:spPr>
          <a:xfrm>
            <a:off x="2839749" y="7223428"/>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IS: FY22-24 – full breakout of captions</a:t>
            </a:r>
          </a:p>
          <a:p>
            <a:pPr algn="ctr"/>
            <a:r>
              <a:rPr lang="en-US" sz="900" dirty="0">
                <a:solidFill>
                  <a:schemeClr val="bg1"/>
                </a:solidFill>
              </a:rPr>
              <a:t>Commentary to focus on drivers of trends incl. impact of adjustments, KPIs and margins (incl. M&amp;A – organic vs inorganic growth, volumes / price / mix, commission %s, payroll – producer comp &amp; headcount, opex)</a:t>
            </a:r>
          </a:p>
          <a:p>
            <a:pPr algn="ctr"/>
            <a:r>
              <a:rPr lang="en-US" sz="900" dirty="0">
                <a:solidFill>
                  <a:schemeClr val="bg1"/>
                </a:solidFill>
              </a:rPr>
              <a:t>Incl. KPIs: same as KFs</a:t>
            </a:r>
          </a:p>
          <a:p>
            <a:pPr algn="ctr"/>
            <a:r>
              <a:rPr lang="en-US" sz="900" dirty="0">
                <a:solidFill>
                  <a:schemeClr val="bg1"/>
                </a:solidFill>
              </a:rPr>
              <a:t>(cross ref to appendix for full bridge)</a:t>
            </a:r>
          </a:p>
          <a:p>
            <a:pPr algn="ctr"/>
            <a:endParaRPr lang="en-US" sz="900" dirty="0">
              <a:solidFill>
                <a:schemeClr val="bg1"/>
              </a:solidFill>
            </a:endParaRPr>
          </a:p>
          <a:p>
            <a:pPr algn="ctr"/>
            <a:endParaRPr lang="en-US" sz="900" dirty="0">
              <a:solidFill>
                <a:schemeClr val="bg1"/>
              </a:solidFill>
            </a:endParaRPr>
          </a:p>
          <a:p>
            <a:pPr algn="ctr"/>
            <a:r>
              <a:rPr lang="en-US" sz="900" dirty="0">
                <a:solidFill>
                  <a:schemeClr val="bg1"/>
                </a:solidFill>
              </a:rPr>
              <a:t>Adjusted EY vs our Adjuste</a:t>
            </a:r>
          </a:p>
        </p:txBody>
      </p:sp>
      <p:sp>
        <p:nvSpPr>
          <p:cNvPr id="19" name="Text Placeholder 18">
            <a:extLst>
              <a:ext uri="{FF2B5EF4-FFF2-40B4-BE49-F238E27FC236}">
                <a16:creationId xmlns:a16="http://schemas.microsoft.com/office/drawing/2014/main" id="{CC4A0EBD-1543-6AEA-9F3B-B1EDADEFF0B1}"/>
              </a:ext>
            </a:extLst>
          </p:cNvPr>
          <p:cNvSpPr>
            <a:spLocks noGrp="1"/>
          </p:cNvSpPr>
          <p:nvPr>
            <p:ph type="body" sz="quarter" idx="10"/>
          </p:nvPr>
        </p:nvSpPr>
        <p:spPr>
          <a:xfrm>
            <a:off x="995121" y="1092340"/>
            <a:ext cx="10149129" cy="675972"/>
          </a:xfrm>
        </p:spPr>
        <p:txBody>
          <a:bodyPr/>
          <a:lstStyle/>
          <a:p>
            <a:r>
              <a:rPr lang="en-US" dirty="0"/>
              <a:t>The adjustments identified as part of our quality of earnings analysis are allocated to their relevant income statement captions in the schedule below. This schedule bridges the sell-side pro forma adjusted income statement to our revised view of pro forma adjusted EBITDA of $46.5 million in FY24, with the following pages setting out the key drivers of differences between sell-side adjusted income statement captions compared to the pro forma adjusted view arising from our work.</a:t>
            </a:r>
          </a:p>
        </p:txBody>
      </p:sp>
      <p:sp>
        <p:nvSpPr>
          <p:cNvPr id="28" name="Text Placeholder 27">
            <a:extLst>
              <a:ext uri="{FF2B5EF4-FFF2-40B4-BE49-F238E27FC236}">
                <a16:creationId xmlns:a16="http://schemas.microsoft.com/office/drawing/2014/main" id="{EAC762AC-D12F-2997-97C4-2C0C66FCE886}"/>
              </a:ext>
            </a:extLst>
          </p:cNvPr>
          <p:cNvSpPr>
            <a:spLocks noGrp="1"/>
          </p:cNvSpPr>
          <p:nvPr>
            <p:ph type="body" sz="quarter" idx="11"/>
          </p:nvPr>
        </p:nvSpPr>
        <p:spPr>
          <a:xfrm>
            <a:off x="7577470" y="1708556"/>
            <a:ext cx="3616130" cy="295028"/>
          </a:xfrm>
        </p:spPr>
        <p:txBody>
          <a:bodyPr/>
          <a:lstStyle/>
          <a:p>
            <a:r>
              <a:rPr lang="en-US" dirty="0"/>
              <a:t>Overview</a:t>
            </a:r>
          </a:p>
        </p:txBody>
      </p:sp>
      <p:sp>
        <p:nvSpPr>
          <p:cNvPr id="31" name="Text Placeholder 5">
            <a:extLst>
              <a:ext uri="{FF2B5EF4-FFF2-40B4-BE49-F238E27FC236}">
                <a16:creationId xmlns:a16="http://schemas.microsoft.com/office/drawing/2014/main" id="{84189E34-DE6E-4437-2FCD-4CDFD8F8131C}"/>
              </a:ext>
            </a:extLst>
          </p:cNvPr>
          <p:cNvSpPr>
            <a:spLocks noGrp="1"/>
          </p:cNvSpPr>
          <p:nvPr>
            <p:ph type="body" sz="quarter" idx="26"/>
          </p:nvPr>
        </p:nvSpPr>
        <p:spPr>
          <a:xfrm>
            <a:off x="7527851" y="1986494"/>
            <a:ext cx="3759273" cy="3864416"/>
          </a:xfrm>
        </p:spPr>
        <p:txBody>
          <a:bodyPr/>
          <a:lstStyle/>
          <a:p>
            <a:pPr marL="0" lvl="2" indent="0">
              <a:spcAft>
                <a:spcPts val="300"/>
              </a:spcAft>
              <a:buNone/>
            </a:pPr>
            <a:r>
              <a:rPr lang="en-US" b="1" dirty="0"/>
              <a:t>Revenue</a:t>
            </a:r>
          </a:p>
          <a:p>
            <a:pPr lvl="2">
              <a:spcAft>
                <a:spcPts val="300"/>
              </a:spcAft>
            </a:pPr>
            <a:r>
              <a:rPr lang="en-US" b="1" dirty="0"/>
              <a:t>Net commission revenue:</a:t>
            </a:r>
            <a:r>
              <a:rPr lang="en-US" dirty="0"/>
              <a:t> The variance between sell-side and pro forma adjusted view is primarily driven by the following factors: </a:t>
            </a:r>
          </a:p>
          <a:p>
            <a:pPr lvl="3">
              <a:spcAft>
                <a:spcPts val="300"/>
              </a:spcAft>
            </a:pPr>
            <a:r>
              <a:rPr lang="en-US" dirty="0"/>
              <a:t>inclusion of BMB Assurances commissions in historical periods on a pro forma basis (FY24: $2.5 million); and</a:t>
            </a:r>
          </a:p>
          <a:p>
            <a:pPr lvl="3">
              <a:spcAft>
                <a:spcPts val="300"/>
              </a:spcAft>
            </a:pPr>
            <a:r>
              <a:rPr lang="en-US" dirty="0"/>
              <a:t>the exclusion of the sell-side adjustment for a share of revenue in CLI (FY24: $3.3 million).</a:t>
            </a:r>
          </a:p>
          <a:p>
            <a:pPr lvl="2">
              <a:spcAft>
                <a:spcPts val="300"/>
              </a:spcAft>
            </a:pPr>
            <a:r>
              <a:rPr lang="en-US" b="1" dirty="0"/>
              <a:t>Contingent commissions</a:t>
            </a:r>
            <a:r>
              <a:rPr lang="en-US" dirty="0"/>
              <a:t>: Similar to net commissions revenue, the variance is driven by pre-acquisition BMB Assurances CPC income ($0.3 million in each period), in addition to normalizing for out-of-period true-ups in all years.</a:t>
            </a:r>
          </a:p>
          <a:p>
            <a:pPr lvl="2">
              <a:spcAft>
                <a:spcPts val="300"/>
              </a:spcAft>
            </a:pPr>
            <a:r>
              <a:rPr lang="en-US" b="1" dirty="0"/>
              <a:t>Override</a:t>
            </a:r>
            <a:r>
              <a:rPr lang="en-US" dirty="0"/>
              <a:t>: Override income is eliminated in pro forma adjusted view due to its non-recurring nature.</a:t>
            </a:r>
          </a:p>
          <a:p>
            <a:pPr lvl="2">
              <a:spcAft>
                <a:spcPts val="300"/>
              </a:spcAft>
            </a:pPr>
            <a:r>
              <a:rPr lang="en-US" b="1" dirty="0"/>
              <a:t>Benefits revenue</a:t>
            </a:r>
            <a:r>
              <a:rPr lang="en-US" dirty="0"/>
              <a:t>: Due to limited information availability for benefits production, there is no quantifiable adjustment to sell-side adjusted benefits revenue.</a:t>
            </a:r>
          </a:p>
          <a:p>
            <a:pPr marL="0" lvl="2" indent="0">
              <a:spcAft>
                <a:spcPts val="300"/>
              </a:spcAft>
              <a:buNone/>
            </a:pPr>
            <a:r>
              <a:rPr lang="en-US" b="1" dirty="0"/>
              <a:t>Salaries, commissions and benefits</a:t>
            </a:r>
          </a:p>
          <a:p>
            <a:pPr lvl="2">
              <a:spcAft>
                <a:spcPts val="300"/>
              </a:spcAft>
            </a:pPr>
            <a:r>
              <a:rPr lang="en-US" b="1" dirty="0"/>
              <a:t>Commissions</a:t>
            </a:r>
            <a:r>
              <a:rPr lang="en-US" dirty="0"/>
              <a:t>: Increase driven by exclusion of CLI commissions expense (TTM Oct-24: $1.9 million; FY24: $2.4 million), slightly offset by inclusion of commission expense in the Synex Re entity (TTM Oct-24 and FY24: $0.2 million).</a:t>
            </a:r>
          </a:p>
          <a:p>
            <a:pPr lvl="2">
              <a:spcAft>
                <a:spcPts val="300"/>
              </a:spcAft>
            </a:pPr>
            <a:endParaRPr lang="en-US" dirty="0"/>
          </a:p>
          <a:p>
            <a:pPr lvl="2">
              <a:spcAft>
                <a:spcPts val="300"/>
              </a:spcAft>
            </a:pPr>
            <a:endParaRPr lang="en-US" dirty="0"/>
          </a:p>
          <a:p>
            <a:pPr lvl="2">
              <a:spcAft>
                <a:spcPts val="300"/>
              </a:spcAft>
            </a:pPr>
            <a:endParaRPr lang="en-US" dirty="0"/>
          </a:p>
        </p:txBody>
      </p:sp>
      <p:sp>
        <p:nvSpPr>
          <p:cNvPr id="6" name="Text Placeholder 12">
            <a:extLst>
              <a:ext uri="{FF2B5EF4-FFF2-40B4-BE49-F238E27FC236}">
                <a16:creationId xmlns:a16="http://schemas.microsoft.com/office/drawing/2014/main" id="{9C199B90-D127-C004-1BC7-157A6EC7C9B5}"/>
              </a:ext>
            </a:extLst>
          </p:cNvPr>
          <p:cNvSpPr txBox="1">
            <a:spLocks/>
          </p:cNvSpPr>
          <p:nvPr/>
        </p:nvSpPr>
        <p:spPr>
          <a:xfrm>
            <a:off x="1003312" y="4913170"/>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9" name="Picture 8">
            <a:extLst>
              <a:ext uri="{FF2B5EF4-FFF2-40B4-BE49-F238E27FC236}">
                <a16:creationId xmlns:a16="http://schemas.microsoft.com/office/drawing/2014/main" id="{BB005F73-39CA-0A82-CC11-DEC602475564}"/>
              </a:ext>
            </a:extLst>
          </p:cNvPr>
          <p:cNvPicPr>
            <a:picLocks noChangeAspect="1"/>
          </p:cNvPicPr>
          <p:nvPr>
            <p:custDataLst>
              <p:tags r:id="rId4"/>
            </p:custDataLst>
          </p:nvPr>
        </p:nvPicPr>
        <p:blipFill>
          <a:blip r:embed="rId9"/>
          <a:stretch>
            <a:fillRect/>
          </a:stretch>
        </p:blipFill>
        <p:spPr>
          <a:xfrm>
            <a:off x="1003312" y="1708556"/>
            <a:ext cx="6400800" cy="3204614"/>
          </a:xfrm>
          <a:prstGeom prst="rect">
            <a:avLst/>
          </a:prstGeom>
        </p:spPr>
      </p:pic>
      <p:grpSp>
        <p:nvGrpSpPr>
          <p:cNvPr id="27" name="Group 26">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3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61110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Adjusted income statement (2/4)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income statement</a:t>
            </a:r>
          </a:p>
        </p:txBody>
      </p:sp>
      <p:sp>
        <p:nvSpPr>
          <p:cNvPr id="21" name="Rectangle 20">
            <a:extLst>
              <a:ext uri="{FF2B5EF4-FFF2-40B4-BE49-F238E27FC236}">
                <a16:creationId xmlns:a16="http://schemas.microsoft.com/office/drawing/2014/main" id="{5ED8DB86-BA49-A7AE-11A0-9609478C44AF}"/>
              </a:ext>
            </a:extLst>
          </p:cNvPr>
          <p:cNvSpPr/>
          <p:nvPr/>
        </p:nvSpPr>
        <p:spPr>
          <a:xfrm>
            <a:off x="3004123" y="7162030"/>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IS: FY22-24 – full breakout of captions</a:t>
            </a:r>
          </a:p>
          <a:p>
            <a:pPr algn="ctr"/>
            <a:r>
              <a:rPr lang="en-US" sz="900" dirty="0">
                <a:solidFill>
                  <a:schemeClr val="bg1"/>
                </a:solidFill>
              </a:rPr>
              <a:t>Commentary to focus on drivers of trends incl. impact of adjustments, KPIs and margins (incl. M&amp;A – organic vs inorganic growth, volumes / price / mix, commission %s, payroll – producer comp &amp; headcount, opex)</a:t>
            </a:r>
          </a:p>
          <a:p>
            <a:pPr algn="ctr"/>
            <a:r>
              <a:rPr lang="en-US" sz="900" dirty="0">
                <a:solidFill>
                  <a:schemeClr val="bg1"/>
                </a:solidFill>
              </a:rPr>
              <a:t>Incl. KPIs: same as KFs</a:t>
            </a:r>
          </a:p>
          <a:p>
            <a:pPr algn="ctr"/>
            <a:r>
              <a:rPr lang="en-US" sz="900" dirty="0">
                <a:solidFill>
                  <a:schemeClr val="bg1"/>
                </a:solidFill>
              </a:rPr>
              <a:t>(cross ref to appendix for full bridge)</a:t>
            </a:r>
          </a:p>
          <a:p>
            <a:pPr algn="ctr"/>
            <a:endParaRPr lang="en-US" sz="900" dirty="0">
              <a:solidFill>
                <a:schemeClr val="bg1"/>
              </a:solidFill>
            </a:endParaRPr>
          </a:p>
          <a:p>
            <a:pPr algn="ctr"/>
            <a:endParaRPr lang="en-US" sz="900" dirty="0">
              <a:solidFill>
                <a:schemeClr val="bg1"/>
              </a:solidFill>
            </a:endParaRPr>
          </a:p>
          <a:p>
            <a:pPr algn="ctr"/>
            <a:r>
              <a:rPr lang="en-US" sz="900" dirty="0">
                <a:solidFill>
                  <a:schemeClr val="bg1"/>
                </a:solidFill>
              </a:rPr>
              <a:t>Adjusted EY vs our Adjuste</a:t>
            </a:r>
          </a:p>
        </p:txBody>
      </p:sp>
      <p:sp>
        <p:nvSpPr>
          <p:cNvPr id="28" name="Text Placeholder 27">
            <a:extLst>
              <a:ext uri="{FF2B5EF4-FFF2-40B4-BE49-F238E27FC236}">
                <a16:creationId xmlns:a16="http://schemas.microsoft.com/office/drawing/2014/main" id="{EAC762AC-D12F-2997-97C4-2C0C66FCE886}"/>
              </a:ext>
            </a:extLst>
          </p:cNvPr>
          <p:cNvSpPr>
            <a:spLocks noGrp="1"/>
          </p:cNvSpPr>
          <p:nvPr>
            <p:ph type="body" sz="quarter" idx="11"/>
          </p:nvPr>
        </p:nvSpPr>
        <p:spPr>
          <a:xfrm>
            <a:off x="7577470" y="1345302"/>
            <a:ext cx="3616130" cy="295028"/>
          </a:xfrm>
        </p:spPr>
        <p:txBody>
          <a:bodyPr/>
          <a:lstStyle/>
          <a:p>
            <a:r>
              <a:rPr lang="en-US" dirty="0"/>
              <a:t>Overview </a:t>
            </a:r>
            <a:r>
              <a:rPr lang="fi-FI"/>
              <a:t>(continued)</a:t>
            </a:r>
            <a:endParaRPr lang="en-US" dirty="0"/>
          </a:p>
        </p:txBody>
      </p:sp>
      <p:sp>
        <p:nvSpPr>
          <p:cNvPr id="31" name="Text Placeholder 5">
            <a:extLst>
              <a:ext uri="{FF2B5EF4-FFF2-40B4-BE49-F238E27FC236}">
                <a16:creationId xmlns:a16="http://schemas.microsoft.com/office/drawing/2014/main" id="{84189E34-DE6E-4437-2FCD-4CDFD8F8131C}"/>
              </a:ext>
            </a:extLst>
          </p:cNvPr>
          <p:cNvSpPr>
            <a:spLocks noGrp="1"/>
          </p:cNvSpPr>
          <p:nvPr>
            <p:ph type="body" sz="quarter" idx="26"/>
          </p:nvPr>
        </p:nvSpPr>
        <p:spPr>
          <a:xfrm>
            <a:off x="7527852" y="1623240"/>
            <a:ext cx="3671962" cy="3864416"/>
          </a:xfrm>
        </p:spPr>
        <p:txBody>
          <a:bodyPr/>
          <a:lstStyle/>
          <a:p>
            <a:pPr marL="0" lvl="2" indent="0">
              <a:buNone/>
            </a:pPr>
            <a:r>
              <a:rPr lang="en-US" b="1" dirty="0"/>
              <a:t>Salaries, commissions and benefits (continued)</a:t>
            </a:r>
          </a:p>
          <a:p>
            <a:pPr lvl="2"/>
            <a:r>
              <a:rPr lang="en-US" b="1" dirty="0"/>
              <a:t>Salaries and benefits: </a:t>
            </a:r>
            <a:r>
              <a:rPr lang="en-US" dirty="0"/>
              <a:t>Increase in salaries and benefits is mainly attributed to the following adjustments:</a:t>
            </a:r>
          </a:p>
          <a:p>
            <a:pPr marL="466725" lvl="3" indent="-285750">
              <a:buFont typeface="+mj-lt"/>
              <a:buAutoNum type="romanLcPeriod"/>
            </a:pPr>
            <a:r>
              <a:rPr lang="en-US" dirty="0"/>
              <a:t>pre-acquisition salaries expense in BMB Assurances on a pro forma basis, ranging between $0.9 million and $1.3 million p.a.;</a:t>
            </a:r>
          </a:p>
          <a:p>
            <a:pPr marL="466725" lvl="3" indent="-285750">
              <a:buFont typeface="+mj-lt"/>
              <a:buAutoNum type="romanLcPeriod"/>
            </a:pPr>
            <a:r>
              <a:rPr lang="en-US" dirty="0"/>
              <a:t>internal replacement costs in the IT and accounting department (FY22: $1.1 million; FY23: $0.5 million; TTM Oct-24 and FY24: $0.1 million);</a:t>
            </a:r>
          </a:p>
          <a:p>
            <a:pPr marL="466725" lvl="3" indent="-285750">
              <a:buFont typeface="+mj-lt"/>
              <a:buAutoNum type="romanLcPeriod"/>
            </a:pPr>
            <a:r>
              <a:rPr lang="en-US" dirty="0"/>
              <a:t>historical expense associated with the long-term incentive plan (FY24: $1.1 million);</a:t>
            </a:r>
          </a:p>
          <a:p>
            <a:pPr marL="466725" lvl="3" indent="-285750">
              <a:buFont typeface="+mj-lt"/>
              <a:buAutoNum type="romanLcPeriod"/>
            </a:pPr>
            <a:r>
              <a:rPr lang="en-US" dirty="0"/>
              <a:t>capitalized labor costs relating to internal staff (FY24: $0.1 million);</a:t>
            </a:r>
          </a:p>
          <a:p>
            <a:pPr marL="466725" lvl="3" indent="-285750">
              <a:buFont typeface="+mj-lt"/>
              <a:buAutoNum type="romanLcPeriod"/>
            </a:pPr>
            <a:r>
              <a:rPr lang="en-US" dirty="0"/>
              <a:t>unadjusted audit difference in payroll costs (FY23: $0.1 million); and</a:t>
            </a:r>
          </a:p>
          <a:p>
            <a:pPr marL="466725" lvl="3" indent="-285750">
              <a:buFont typeface="+mj-lt"/>
              <a:buAutoNum type="romanLcPeriod"/>
            </a:pPr>
            <a:r>
              <a:rPr lang="en-US" dirty="0"/>
              <a:t>GTI salaries true-up recorded in Dec-24 (TTM Oct-24: $0.4 million).</a:t>
            </a:r>
          </a:p>
          <a:p>
            <a:pPr lvl="2"/>
            <a:r>
              <a:rPr lang="en-US" b="1" dirty="0"/>
              <a:t>Management salaries: </a:t>
            </a:r>
            <a:r>
              <a:rPr lang="en-US" dirty="0"/>
              <a:t>Increase is primarily driven by the inclusion of M&amp;A department salaries and the portion of CVO salary allocated to M&amp;A activity which was adjusted out of earnings in the sell-side due diligence report.</a:t>
            </a:r>
          </a:p>
          <a:p>
            <a:pPr lvl="2"/>
            <a:endParaRPr lang="en-US" dirty="0"/>
          </a:p>
          <a:p>
            <a:pPr lvl="2"/>
            <a:endParaRPr lang="en-US" dirty="0"/>
          </a:p>
        </p:txBody>
      </p:sp>
      <p:sp>
        <p:nvSpPr>
          <p:cNvPr id="7" name="Text Placeholder 12">
            <a:extLst>
              <a:ext uri="{FF2B5EF4-FFF2-40B4-BE49-F238E27FC236}">
                <a16:creationId xmlns:a16="http://schemas.microsoft.com/office/drawing/2014/main" id="{82131B68-D90C-E593-25A2-F750ACF804DF}"/>
              </a:ext>
            </a:extLst>
          </p:cNvPr>
          <p:cNvSpPr txBox="1">
            <a:spLocks/>
          </p:cNvSpPr>
          <p:nvPr/>
        </p:nvSpPr>
        <p:spPr>
          <a:xfrm>
            <a:off x="992186" y="454991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8" name="Picture 17">
            <a:extLst>
              <a:ext uri="{FF2B5EF4-FFF2-40B4-BE49-F238E27FC236}">
                <a16:creationId xmlns:a16="http://schemas.microsoft.com/office/drawing/2014/main" id="{773F716A-6C4C-6680-F7AA-BE2634BFC4F3}"/>
              </a:ext>
            </a:extLst>
          </p:cNvPr>
          <p:cNvPicPr>
            <a:picLocks noChangeAspect="1"/>
          </p:cNvPicPr>
          <p:nvPr>
            <p:custDataLst>
              <p:tags r:id="rId4"/>
            </p:custDataLst>
          </p:nvPr>
        </p:nvPicPr>
        <p:blipFill>
          <a:blip r:embed="rId9"/>
          <a:stretch>
            <a:fillRect/>
          </a:stretch>
        </p:blipFill>
        <p:spPr>
          <a:xfrm>
            <a:off x="992186" y="1345302"/>
            <a:ext cx="6400800" cy="3204614"/>
          </a:xfrm>
          <a:prstGeom prst="rect">
            <a:avLst/>
          </a:prstGeom>
        </p:spPr>
      </p:pic>
      <p:grpSp>
        <p:nvGrpSpPr>
          <p:cNvPr id="27" name="Group 26">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3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66863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Adjusted income statement (3/4)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income statement</a:t>
            </a:r>
          </a:p>
        </p:txBody>
      </p:sp>
      <p:sp>
        <p:nvSpPr>
          <p:cNvPr id="28" name="Text Placeholder 27">
            <a:extLst>
              <a:ext uri="{FF2B5EF4-FFF2-40B4-BE49-F238E27FC236}">
                <a16:creationId xmlns:a16="http://schemas.microsoft.com/office/drawing/2014/main" id="{EAC762AC-D12F-2997-97C4-2C0C66FCE886}"/>
              </a:ext>
            </a:extLst>
          </p:cNvPr>
          <p:cNvSpPr>
            <a:spLocks noGrp="1"/>
          </p:cNvSpPr>
          <p:nvPr>
            <p:ph type="body" sz="quarter" idx="11"/>
          </p:nvPr>
        </p:nvSpPr>
        <p:spPr>
          <a:xfrm>
            <a:off x="7577470" y="1334483"/>
            <a:ext cx="3616130" cy="295028"/>
          </a:xfrm>
        </p:spPr>
        <p:txBody>
          <a:bodyPr/>
          <a:lstStyle/>
          <a:p>
            <a:r>
              <a:rPr lang="en-US" dirty="0"/>
              <a:t>Overview </a:t>
            </a:r>
            <a:r>
              <a:rPr lang="fi-FI"/>
              <a:t>(continued)</a:t>
            </a:r>
            <a:endParaRPr lang="en-US" dirty="0"/>
          </a:p>
        </p:txBody>
      </p:sp>
      <p:sp>
        <p:nvSpPr>
          <p:cNvPr id="31" name="Text Placeholder 5">
            <a:extLst>
              <a:ext uri="{FF2B5EF4-FFF2-40B4-BE49-F238E27FC236}">
                <a16:creationId xmlns:a16="http://schemas.microsoft.com/office/drawing/2014/main" id="{84189E34-DE6E-4437-2FCD-4CDFD8F8131C}"/>
              </a:ext>
            </a:extLst>
          </p:cNvPr>
          <p:cNvSpPr>
            <a:spLocks noGrp="1"/>
          </p:cNvSpPr>
          <p:nvPr>
            <p:ph type="body" sz="quarter" idx="26"/>
          </p:nvPr>
        </p:nvSpPr>
        <p:spPr>
          <a:xfrm>
            <a:off x="7527852" y="1612421"/>
            <a:ext cx="3671962" cy="3864416"/>
          </a:xfrm>
        </p:spPr>
        <p:txBody>
          <a:bodyPr/>
          <a:lstStyle/>
          <a:p>
            <a:pPr marL="0" lvl="2" indent="0">
              <a:buNone/>
            </a:pPr>
            <a:r>
              <a:rPr lang="en-US" b="1" dirty="0"/>
              <a:t>Selling expenses</a:t>
            </a:r>
          </a:p>
          <a:p>
            <a:pPr lvl="2"/>
            <a:r>
              <a:rPr lang="en-US" b="1" dirty="0"/>
              <a:t>Marketing: </a:t>
            </a:r>
            <a:r>
              <a:rPr lang="en-US" dirty="0"/>
              <a:t>No adjustment proposed.</a:t>
            </a:r>
          </a:p>
          <a:p>
            <a:pPr lvl="2"/>
            <a:r>
              <a:rPr lang="en-US" b="1" dirty="0"/>
              <a:t>Advertising and entertainment: </a:t>
            </a:r>
            <a:r>
              <a:rPr lang="en-US" dirty="0"/>
              <a:t>Adjustments resulting in increase primarily relate to the BMB Assurances acquisition (FY22 and FY23: $0.2 million) and reversal of sell-side adjustment for non-recurring advertising and entertainment due to their assumed operational nature (TTM Oct-24 and FY24: $0.7 million).</a:t>
            </a:r>
          </a:p>
          <a:p>
            <a:pPr lvl="2"/>
            <a:r>
              <a:rPr lang="en-US" b="1" dirty="0"/>
              <a:t>Travel:</a:t>
            </a:r>
            <a:r>
              <a:rPr lang="en-US" dirty="0"/>
              <a:t> Travel increase can be attributed to reversal of the sell-side adjustment for M&amp;A department costs and the portion of CVO travel costs allocated to M&amp;A. Additionally, this cost increase include the reversal of exit shareholder expenses and travel costs incurred in BMB Assurances in pre-acquisition periods.</a:t>
            </a:r>
          </a:p>
          <a:p>
            <a:pPr lvl="2"/>
            <a:r>
              <a:rPr lang="en-US" b="1" dirty="0"/>
              <a:t>Licenses and general</a:t>
            </a:r>
            <a:r>
              <a:rPr lang="en-US" dirty="0"/>
              <a:t>: Adjustments increasing licenses and general relates to the inclusion of BMB Assurances licenses and general costs historically on a pro forma basis.</a:t>
            </a:r>
          </a:p>
          <a:p>
            <a:pPr marL="0" lvl="2" indent="0">
              <a:buNone/>
            </a:pPr>
            <a:r>
              <a:rPr lang="en-US" b="1" dirty="0"/>
              <a:t>General and administrative expenses</a:t>
            </a:r>
          </a:p>
          <a:p>
            <a:pPr lvl="2"/>
            <a:r>
              <a:rPr lang="en-US" b="1" dirty="0"/>
              <a:t>Rent:</a:t>
            </a:r>
            <a:r>
              <a:rPr lang="en-US" dirty="0"/>
              <a:t> Rent increase relates to reversal of Montreal office project adjustment and inclusion of BMB Assurances rent expense historically on a pro forma basis.</a:t>
            </a:r>
          </a:p>
          <a:p>
            <a:pPr lvl="2"/>
            <a:r>
              <a:rPr lang="en-US" b="1" dirty="0"/>
              <a:t>Supplies and office expenses</a:t>
            </a:r>
            <a:r>
              <a:rPr lang="en-US" dirty="0"/>
              <a:t>: Include BMB Assurances costs historically on a pro forma basis.</a:t>
            </a:r>
          </a:p>
          <a:p>
            <a:pPr lvl="2"/>
            <a:endParaRPr lang="en-US" dirty="0"/>
          </a:p>
        </p:txBody>
      </p:sp>
      <p:sp>
        <p:nvSpPr>
          <p:cNvPr id="16" name="Text Placeholder 12">
            <a:extLst>
              <a:ext uri="{FF2B5EF4-FFF2-40B4-BE49-F238E27FC236}">
                <a16:creationId xmlns:a16="http://schemas.microsoft.com/office/drawing/2014/main" id="{AFC35380-AA40-FC0B-D934-4216C6A72C0E}"/>
              </a:ext>
            </a:extLst>
          </p:cNvPr>
          <p:cNvSpPr txBox="1">
            <a:spLocks/>
          </p:cNvSpPr>
          <p:nvPr/>
        </p:nvSpPr>
        <p:spPr>
          <a:xfrm>
            <a:off x="1003312" y="533976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6" name="Picture 5">
            <a:extLst>
              <a:ext uri="{FF2B5EF4-FFF2-40B4-BE49-F238E27FC236}">
                <a16:creationId xmlns:a16="http://schemas.microsoft.com/office/drawing/2014/main" id="{7AEE08D2-99B4-7B6B-53B0-AE0454646576}"/>
              </a:ext>
            </a:extLst>
          </p:cNvPr>
          <p:cNvPicPr>
            <a:picLocks noChangeAspect="1"/>
          </p:cNvPicPr>
          <p:nvPr>
            <p:custDataLst>
              <p:tags r:id="rId4"/>
            </p:custDataLst>
          </p:nvPr>
        </p:nvPicPr>
        <p:blipFill>
          <a:blip r:embed="rId9"/>
          <a:stretch>
            <a:fillRect/>
          </a:stretch>
        </p:blipFill>
        <p:spPr>
          <a:xfrm>
            <a:off x="992186" y="1340620"/>
            <a:ext cx="6400800" cy="3999146"/>
          </a:xfrm>
          <a:prstGeom prst="rect">
            <a:avLst/>
          </a:prstGeom>
        </p:spPr>
      </p:pic>
      <p:grpSp>
        <p:nvGrpSpPr>
          <p:cNvPr id="25" name="Group 24">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6"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929428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Adjusted income statement (4/4)</a:t>
            </a:r>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income statement</a:t>
            </a:r>
          </a:p>
        </p:txBody>
      </p:sp>
      <p:sp>
        <p:nvSpPr>
          <p:cNvPr id="28" name="Text Placeholder 27">
            <a:extLst>
              <a:ext uri="{FF2B5EF4-FFF2-40B4-BE49-F238E27FC236}">
                <a16:creationId xmlns:a16="http://schemas.microsoft.com/office/drawing/2014/main" id="{EAC762AC-D12F-2997-97C4-2C0C66FCE886}"/>
              </a:ext>
            </a:extLst>
          </p:cNvPr>
          <p:cNvSpPr>
            <a:spLocks noGrp="1"/>
          </p:cNvSpPr>
          <p:nvPr>
            <p:ph type="body" sz="quarter" idx="11"/>
          </p:nvPr>
        </p:nvSpPr>
        <p:spPr>
          <a:xfrm>
            <a:off x="7577470" y="1328549"/>
            <a:ext cx="3616130" cy="295028"/>
          </a:xfrm>
        </p:spPr>
        <p:txBody>
          <a:bodyPr/>
          <a:lstStyle/>
          <a:p>
            <a:r>
              <a:rPr lang="en-US" dirty="0"/>
              <a:t>Overview (continued)</a:t>
            </a:r>
          </a:p>
        </p:txBody>
      </p:sp>
      <p:sp>
        <p:nvSpPr>
          <p:cNvPr id="31" name="Text Placeholder 5">
            <a:extLst>
              <a:ext uri="{FF2B5EF4-FFF2-40B4-BE49-F238E27FC236}">
                <a16:creationId xmlns:a16="http://schemas.microsoft.com/office/drawing/2014/main" id="{84189E34-DE6E-4437-2FCD-4CDFD8F8131C}"/>
              </a:ext>
            </a:extLst>
          </p:cNvPr>
          <p:cNvSpPr>
            <a:spLocks noGrp="1"/>
          </p:cNvSpPr>
          <p:nvPr>
            <p:ph type="body" sz="quarter" idx="26"/>
          </p:nvPr>
        </p:nvSpPr>
        <p:spPr>
          <a:xfrm>
            <a:off x="7527852" y="1606487"/>
            <a:ext cx="3671962" cy="3864416"/>
          </a:xfrm>
        </p:spPr>
        <p:txBody>
          <a:bodyPr/>
          <a:lstStyle/>
          <a:p>
            <a:pPr marL="0" lvl="2" indent="0">
              <a:buNone/>
            </a:pPr>
            <a:r>
              <a:rPr lang="en-US" b="1" dirty="0"/>
              <a:t>General and administrative expense (continued)</a:t>
            </a:r>
          </a:p>
          <a:p>
            <a:pPr lvl="2"/>
            <a:r>
              <a:rPr lang="en-US" b="1" dirty="0"/>
              <a:t>IT costs: </a:t>
            </a:r>
            <a:r>
              <a:rPr lang="en-US" dirty="0"/>
              <a:t>Adjustments pertain to intercompany elimination reconciliation for the Synex Tech entity (TTM Oct-24 and FY24: $0.4 million), inclusion of IT costs categorized in sell-side adjustment as non-recurring which relate to operational IT costs. </a:t>
            </a:r>
            <a:endParaRPr lang="en-US" b="1" dirty="0"/>
          </a:p>
          <a:p>
            <a:pPr lvl="2"/>
            <a:r>
              <a:rPr lang="en-US" b="1" dirty="0"/>
              <a:t>Banking fees, telecommunications, insurance</a:t>
            </a:r>
            <a:r>
              <a:rPr lang="en-US" dirty="0"/>
              <a:t>: Include pre-acquisition costs in BMB Assurances. </a:t>
            </a:r>
          </a:p>
          <a:p>
            <a:pPr lvl="2"/>
            <a:r>
              <a:rPr lang="en-US" b="1" dirty="0"/>
              <a:t>Professional services:</a:t>
            </a:r>
            <a:r>
              <a:rPr lang="en-US" dirty="0"/>
              <a:t> Primarily relates to inclusion of recurring level of transaction costs in each period ($1.2 million). Cost increase also relates to reversal of sell-side pro forma adjustment of applying current audit costs to previous periods and inclusion of BMB Assurances and Synex Re Ltd. costs on a pro forma basis.</a:t>
            </a:r>
          </a:p>
          <a:p>
            <a:pPr lvl="2"/>
            <a:r>
              <a:rPr lang="en-US" b="1" dirty="0"/>
              <a:t>Penalties</a:t>
            </a:r>
            <a:r>
              <a:rPr lang="en-US" dirty="0"/>
              <a:t>: Sell-side pro forma presentation shows nil penalties in each period. Our adjustment includes regular customer settlement expenses incurred in the Historical Period.</a:t>
            </a:r>
          </a:p>
          <a:p>
            <a:pPr lvl="2"/>
            <a:r>
              <a:rPr lang="en-US" b="1" dirty="0"/>
              <a:t>Bad debts and training</a:t>
            </a:r>
            <a:r>
              <a:rPr lang="en-US" dirty="0"/>
              <a:t>: Relates to inclusion of BMB Assurances costs historically on a pro forma basis.</a:t>
            </a:r>
          </a:p>
          <a:p>
            <a:pPr lvl="2"/>
            <a:r>
              <a:rPr lang="en-US" b="1" dirty="0"/>
              <a:t>Financial expenses</a:t>
            </a:r>
            <a:r>
              <a:rPr lang="en-US" dirty="0"/>
              <a:t>: No adjustments presented. </a:t>
            </a:r>
          </a:p>
          <a:p>
            <a:pPr lvl="2"/>
            <a:r>
              <a:rPr lang="en-US" b="1" dirty="0"/>
              <a:t>Other expenses</a:t>
            </a:r>
            <a:r>
              <a:rPr lang="en-US" dirty="0"/>
              <a:t>: Adjustments comprise reclasses from ‘non-recurring accounts’ to the relevant income statement caption.</a:t>
            </a:r>
          </a:p>
          <a:p>
            <a:pPr lvl="2"/>
            <a:endParaRPr lang="en-US" dirty="0"/>
          </a:p>
          <a:p>
            <a:pPr lvl="2"/>
            <a:endParaRPr lang="en-US" dirty="0"/>
          </a:p>
          <a:p>
            <a:pPr lvl="2"/>
            <a:endParaRPr lang="en-US" dirty="0"/>
          </a:p>
        </p:txBody>
      </p:sp>
      <p:sp>
        <p:nvSpPr>
          <p:cNvPr id="6" name="Text Placeholder 12">
            <a:extLst>
              <a:ext uri="{FF2B5EF4-FFF2-40B4-BE49-F238E27FC236}">
                <a16:creationId xmlns:a16="http://schemas.microsoft.com/office/drawing/2014/main" id="{3E799052-B5E2-4B99-B463-12AB87667050}"/>
              </a:ext>
            </a:extLst>
          </p:cNvPr>
          <p:cNvSpPr txBox="1">
            <a:spLocks/>
          </p:cNvSpPr>
          <p:nvPr/>
        </p:nvSpPr>
        <p:spPr>
          <a:xfrm>
            <a:off x="1003312" y="533976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7" name="Picture 6">
            <a:extLst>
              <a:ext uri="{FF2B5EF4-FFF2-40B4-BE49-F238E27FC236}">
                <a16:creationId xmlns:a16="http://schemas.microsoft.com/office/drawing/2014/main" id="{3A66DE08-D29B-B26F-472C-11EC918EC805}"/>
              </a:ext>
            </a:extLst>
          </p:cNvPr>
          <p:cNvPicPr>
            <a:picLocks noChangeAspect="1"/>
          </p:cNvPicPr>
          <p:nvPr>
            <p:custDataLst>
              <p:tags r:id="rId4"/>
            </p:custDataLst>
          </p:nvPr>
        </p:nvPicPr>
        <p:blipFill>
          <a:blip r:embed="rId9"/>
          <a:stretch>
            <a:fillRect/>
          </a:stretch>
        </p:blipFill>
        <p:spPr>
          <a:xfrm>
            <a:off x="992186" y="1340620"/>
            <a:ext cx="6400800" cy="3999146"/>
          </a:xfrm>
          <a:prstGeom prst="rect">
            <a:avLst/>
          </a:prstGeom>
        </p:spPr>
      </p:pic>
      <p:grpSp>
        <p:nvGrpSpPr>
          <p:cNvPr id="24" name="Group 23">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34"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5"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88997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dirty="0"/>
              <a:t>Adjusted EBITDA by source</a:t>
            </a:r>
          </a:p>
        </p:txBody>
      </p:sp>
      <p:sp>
        <p:nvSpPr>
          <p:cNvPr id="16" name="Text Placeholder 15">
            <a:extLst>
              <a:ext uri="{FF2B5EF4-FFF2-40B4-BE49-F238E27FC236}">
                <a16:creationId xmlns:a16="http://schemas.microsoft.com/office/drawing/2014/main" id="{27C922A0-712E-D49A-91C8-6325519BB78F}"/>
              </a:ext>
            </a:extLst>
          </p:cNvPr>
          <p:cNvSpPr>
            <a:spLocks noGrp="1"/>
          </p:cNvSpPr>
          <p:nvPr>
            <p:ph type="body" sz="quarter" idx="10"/>
          </p:nvPr>
        </p:nvSpPr>
        <p:spPr>
          <a:xfrm>
            <a:off x="995363" y="1331937"/>
            <a:ext cx="10195200" cy="460800"/>
          </a:xfrm>
        </p:spPr>
        <p:txBody>
          <a:bodyPr/>
          <a:lstStyle/>
          <a:p>
            <a:r>
              <a:rPr lang="en-US" dirty="0"/>
              <a:t>Pro forma adjusted EBITDA as presented below is allocated between core operations (P&amp;C and benefits base commissions and Company operating costs), CPC income and other income, the latter two of which are assumed to have no associated costs.</a:t>
            </a:r>
            <a:endParaRPr lang="fi-FI"/>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45" name="UpSlide SubSection Marker" hidden="1">
            <a:extLst>
              <a:ext uri="{FF2B5EF4-FFF2-40B4-BE49-F238E27FC236}">
                <a16:creationId xmlns:a16="http://schemas.microsoft.com/office/drawing/2014/main" id="{0EB4BBE4-4697-4F21-3C77-A8C8FAADAD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EBITDA by source</a:t>
            </a:r>
          </a:p>
        </p:txBody>
      </p:sp>
      <p:sp>
        <p:nvSpPr>
          <p:cNvPr id="7" name="Text Placeholder 12">
            <a:extLst>
              <a:ext uri="{FF2B5EF4-FFF2-40B4-BE49-F238E27FC236}">
                <a16:creationId xmlns:a16="http://schemas.microsoft.com/office/drawing/2014/main" id="{3EC05D67-0CF3-7349-2A93-D7992ABB2422}"/>
              </a:ext>
            </a:extLst>
          </p:cNvPr>
          <p:cNvSpPr txBox="1">
            <a:spLocks/>
          </p:cNvSpPr>
          <p:nvPr/>
        </p:nvSpPr>
        <p:spPr>
          <a:xfrm>
            <a:off x="987823" y="363175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19" name="Text Placeholder 5">
            <a:extLst>
              <a:ext uri="{FF2B5EF4-FFF2-40B4-BE49-F238E27FC236}">
                <a16:creationId xmlns:a16="http://schemas.microsoft.com/office/drawing/2014/main" id="{D521EB23-B6A9-A335-A2A9-2B9E2B1611F6}"/>
              </a:ext>
            </a:extLst>
          </p:cNvPr>
          <p:cNvSpPr txBox="1">
            <a:spLocks/>
          </p:cNvSpPr>
          <p:nvPr/>
        </p:nvSpPr>
        <p:spPr>
          <a:xfrm>
            <a:off x="820605" y="4058212"/>
            <a:ext cx="10544715" cy="2190376"/>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0975" lvl="3" indent="0">
              <a:spcAft>
                <a:spcPts val="300"/>
              </a:spcAft>
              <a:buNone/>
            </a:pPr>
            <a:r>
              <a:rPr lang="en-US" b="1" i="1" dirty="0"/>
              <a:t>Core operations</a:t>
            </a:r>
          </a:p>
          <a:p>
            <a:pPr lvl="4">
              <a:spcAft>
                <a:spcPts val="300"/>
              </a:spcAft>
            </a:pPr>
            <a:r>
              <a:rPr lang="en-US" i="1" dirty="0"/>
              <a:t>P&amp;C revenue:</a:t>
            </a:r>
            <a:r>
              <a:rPr lang="en-US" b="1" dirty="0"/>
              <a:t> </a:t>
            </a:r>
            <a:r>
              <a:rPr lang="en-US" dirty="0"/>
              <a:t>On a pro forma adjusted basis, P&amp;C base commissions contributed $17.2 million (+18.7%) incremental revenue between FY22 and FY24, indicative of organic growth in core brokerage activities and post-integration sales synergies realized from FY22 acquisitions. We understand organic revenue growth over the Historical Period comprised a combination of robust momentum in volumes, complemented by pricing upside from policy premiums.</a:t>
            </a:r>
          </a:p>
          <a:p>
            <a:pPr lvl="4">
              <a:spcAft>
                <a:spcPts val="300"/>
              </a:spcAft>
            </a:pPr>
            <a:r>
              <a:rPr lang="en-US" i="1" dirty="0"/>
              <a:t>Benefits revenue: </a:t>
            </a:r>
            <a:r>
              <a:rPr lang="en-US" dirty="0"/>
              <a:t>Group benefits base commissions remained largely static between FY23 and FY24 following the $0.5 million year-on-year increase from FY22. Management noted certain customers who did not renew policies in FY24 as a partial explanation for weaker headline sales performance in FY24. </a:t>
            </a:r>
          </a:p>
          <a:p>
            <a:pPr lvl="4">
              <a:spcAft>
                <a:spcPts val="300"/>
              </a:spcAft>
            </a:pPr>
            <a:r>
              <a:rPr lang="en-US" i="1" dirty="0"/>
              <a:t>Operating costs</a:t>
            </a:r>
            <a:r>
              <a:rPr lang="en-US" dirty="0"/>
              <a:t>: Operating costs largely trended in line with base commission revenue through the Historical Period, weighing on EBITDA margins generated on core operations. The increase in operating expenses from $81.6 million in FY22 to $99.6 million in FY24 is reflective of increasing payroll expenditure in line with headcount expansion and producer commissions paid, and a $2.0 million increase in IT expenses to support improved infrastructure in certain operating companies. </a:t>
            </a:r>
          </a:p>
          <a:p>
            <a:pPr marL="180975" lvl="3" indent="0">
              <a:spcAft>
                <a:spcPts val="300"/>
              </a:spcAft>
              <a:buNone/>
            </a:pPr>
            <a:r>
              <a:rPr lang="en-US" b="1" dirty="0"/>
              <a:t>CPC</a:t>
            </a:r>
            <a:r>
              <a:rPr lang="en-US" dirty="0"/>
              <a:t>: Although annual CPC income exhibited a degree of variability over the Historical Period, largely driven by insurer loss ratios, the $1.0 million increase from FY22 to FY24 is indicative of additional volume generated and a normalization of insurance losses in more recent periods, particularly with respect to P&amp;C business. Bonus commissions associated with group benefits have increased as a percentage of base commissions over the Historical Period, with acquired volumes in FY22 compensated at higher grids in subsequent periods.</a:t>
            </a:r>
          </a:p>
          <a:p>
            <a:pPr marL="180975" lvl="3" indent="0">
              <a:spcAft>
                <a:spcPts val="300"/>
              </a:spcAft>
              <a:buNone/>
            </a:pPr>
            <a:r>
              <a:rPr lang="en-US" b="1" dirty="0"/>
              <a:t>Other income</a:t>
            </a:r>
            <a:r>
              <a:rPr lang="en-US" dirty="0"/>
              <a:t>: Largely comprises interest income on in trust cash and returns on premium financing arrangements, which increased over the Historical Period in line with interest rates. </a:t>
            </a:r>
          </a:p>
          <a:p>
            <a:pPr marL="180975" lvl="3" indent="0">
              <a:spcAft>
                <a:spcPts val="300"/>
              </a:spcAft>
              <a:buNone/>
            </a:pPr>
            <a:endParaRPr lang="en-US" dirty="0"/>
          </a:p>
          <a:p>
            <a:pPr lvl="3">
              <a:spcAft>
                <a:spcPts val="300"/>
              </a:spcAft>
              <a:buFont typeface="Arial" panose="020B0604020202020204" pitchFamily="34" charset="0"/>
              <a:buChar char="•"/>
            </a:pPr>
            <a:endParaRPr lang="en-US" dirty="0"/>
          </a:p>
        </p:txBody>
      </p:sp>
      <p:sp>
        <p:nvSpPr>
          <p:cNvPr id="23" name="Text Placeholder 27">
            <a:extLst>
              <a:ext uri="{FF2B5EF4-FFF2-40B4-BE49-F238E27FC236}">
                <a16:creationId xmlns:a16="http://schemas.microsoft.com/office/drawing/2014/main" id="{18825F38-496E-7E29-6862-A210034012E6}"/>
              </a:ext>
            </a:extLst>
          </p:cNvPr>
          <p:cNvSpPr>
            <a:spLocks noGrp="1"/>
          </p:cNvSpPr>
          <p:nvPr>
            <p:ph type="body" sz="quarter" idx="11"/>
          </p:nvPr>
        </p:nvSpPr>
        <p:spPr>
          <a:xfrm>
            <a:off x="1003312" y="3765604"/>
            <a:ext cx="10192163" cy="292608"/>
          </a:xfrm>
        </p:spPr>
        <p:txBody>
          <a:bodyPr/>
          <a:lstStyle/>
          <a:p>
            <a:r>
              <a:rPr lang="en-US" dirty="0"/>
              <a:t>Key trends</a:t>
            </a:r>
          </a:p>
        </p:txBody>
      </p:sp>
      <p:sp>
        <p:nvSpPr>
          <p:cNvPr id="101" name="Rectangle 100">
            <a:extLst>
              <a:ext uri="{FF2B5EF4-FFF2-40B4-BE49-F238E27FC236}">
                <a16:creationId xmlns:a16="http://schemas.microsoft.com/office/drawing/2014/main" id="{39A61111-4931-20C6-4115-E416EC46E293}"/>
              </a:ext>
            </a:extLst>
          </p:cNvPr>
          <p:cNvSpPr/>
          <p:nvPr/>
        </p:nvSpPr>
        <p:spPr>
          <a:xfrm>
            <a:off x="7634460" y="-1333850"/>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Breakout of adjusted EBITDA between CPCs, other income, core operations (FY22-24)</a:t>
            </a:r>
          </a:p>
          <a:p>
            <a:pPr algn="ctr"/>
            <a:r>
              <a:rPr lang="en-US" sz="900" dirty="0">
                <a:solidFill>
                  <a:schemeClr val="bg1"/>
                </a:solidFill>
              </a:rPr>
              <a:t>Commentary to focus on drivers of trends and changes in drivers of EBITDA year-on-year</a:t>
            </a:r>
          </a:p>
        </p:txBody>
      </p:sp>
      <p:pic>
        <p:nvPicPr>
          <p:cNvPr id="6" name="Picture 5">
            <a:extLst>
              <a:ext uri="{FF2B5EF4-FFF2-40B4-BE49-F238E27FC236}">
                <a16:creationId xmlns:a16="http://schemas.microsoft.com/office/drawing/2014/main" id="{182DA082-FDDA-7D59-1969-37D6D0B3ADD7}"/>
              </a:ext>
            </a:extLst>
          </p:cNvPr>
          <p:cNvPicPr>
            <a:picLocks noChangeAspect="1"/>
          </p:cNvPicPr>
          <p:nvPr>
            <p:custDataLst>
              <p:tags r:id="rId4"/>
            </p:custDataLst>
          </p:nvPr>
        </p:nvPicPr>
        <p:blipFill>
          <a:blip r:embed="rId9"/>
          <a:stretch>
            <a:fillRect/>
          </a:stretch>
        </p:blipFill>
        <p:spPr>
          <a:xfrm>
            <a:off x="1003312" y="1634990"/>
            <a:ext cx="8686800" cy="1996584"/>
          </a:xfrm>
          <a:prstGeom prst="rect">
            <a:avLst/>
          </a:prstGeom>
        </p:spPr>
      </p:pic>
      <p:grpSp>
        <p:nvGrpSpPr>
          <p:cNvPr id="24" name="Group 23">
            <a:extLst>
              <a:ext uri="{FF2B5EF4-FFF2-40B4-BE49-F238E27FC236}">
                <a16:creationId xmlns:a16="http://schemas.microsoft.com/office/drawing/2014/main" id="{E9FA07AC-A2D2-EE0E-1FFA-43F58DC90002}"/>
              </a:ext>
            </a:extLst>
          </p:cNvPr>
          <p:cNvGrpSpPr/>
          <p:nvPr>
            <p:custDataLst>
              <p:tags r:id="rId5"/>
            </p:custDataLst>
          </p:nvPr>
        </p:nvGrpSpPr>
        <p:grpSpPr>
          <a:xfrm>
            <a:off x="995364" y="153170"/>
            <a:ext cx="5024684" cy="195814"/>
            <a:chOff x="995364" y="153170"/>
            <a:chExt cx="5024684" cy="195814"/>
          </a:xfrm>
        </p:grpSpPr>
        <p:sp>
          <p:nvSpPr>
            <p:cNvPr id="2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107835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Quality of earnings</a:t>
              </a:r>
            </a:p>
          </p:txBody>
        </p:sp>
        <p:sp>
          <p:nvSpPr>
            <p:cNvPr id="2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116806"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38578"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3122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89194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15" action="ppaction://hlinksldjump"/>
            <a:extLst>
              <a:ext uri="{FF2B5EF4-FFF2-40B4-BE49-F238E27FC236}">
                <a16:creationId xmlns:a16="http://schemas.microsoft.com/office/drawing/2014/main" id="{34BAE215-99A8-915F-06CF-0429C836BCC8}"/>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dirty="0">
                <a:solidFill>
                  <a:srgbClr val="FFFFFF"/>
                </a:solidFill>
                <a:latin typeface="+mj-lt"/>
              </a:rPr>
              <a:t>Net working capital and net debt</a:t>
            </a:r>
          </a:p>
        </p:txBody>
      </p:sp>
      <p:sp>
        <p:nvSpPr>
          <p:cNvPr id="5" name="TextBox 4">
            <a:hlinkClick r:id="rId16" action="ppaction://hlinksldjump"/>
            <a:extLst>
              <a:ext uri="{FF2B5EF4-FFF2-40B4-BE49-F238E27FC236}">
                <a16:creationId xmlns:a16="http://schemas.microsoft.com/office/drawing/2014/main" id="{5A62B69F-51B7-7581-C329-8489DF2D3B06}"/>
              </a:ext>
            </a:extLst>
          </p:cNvPr>
          <p:cNvSpPr txBox="1"/>
          <p:nvPr>
            <p:custDataLst>
              <p:tags r:id="rId3"/>
            </p:custDataLst>
          </p:nvPr>
        </p:nvSpPr>
        <p:spPr>
          <a:xfrm>
            <a:off x="1714809" y="386988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Net working capital</a:t>
            </a:r>
          </a:p>
        </p:txBody>
      </p:sp>
      <p:sp>
        <p:nvSpPr>
          <p:cNvPr id="6" name="TextBox 5">
            <a:hlinkClick r:id="rId17" action="ppaction://hlinksldjump"/>
            <a:extLst>
              <a:ext uri="{FF2B5EF4-FFF2-40B4-BE49-F238E27FC236}">
                <a16:creationId xmlns:a16="http://schemas.microsoft.com/office/drawing/2014/main" id="{BDF9040A-3005-420E-D235-7637B4B5F925}"/>
              </a:ext>
            </a:extLst>
          </p:cNvPr>
          <p:cNvSpPr txBox="1"/>
          <p:nvPr>
            <p:custDataLst>
              <p:tags r:id="rId4"/>
            </p:custDataLst>
          </p:nvPr>
        </p:nvSpPr>
        <p:spPr>
          <a:xfrm>
            <a:off x="1714809" y="426459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Adjusted net working capital</a:t>
            </a:r>
          </a:p>
        </p:txBody>
      </p:sp>
      <p:sp>
        <p:nvSpPr>
          <p:cNvPr id="7" name="TextBox 6">
            <a:hlinkClick r:id="rId18" action="ppaction://hlinksldjump"/>
            <a:extLst>
              <a:ext uri="{FF2B5EF4-FFF2-40B4-BE49-F238E27FC236}">
                <a16:creationId xmlns:a16="http://schemas.microsoft.com/office/drawing/2014/main" id="{AA1ED7B6-6765-91B2-F65C-3298F1CE90E0}"/>
              </a:ext>
            </a:extLst>
          </p:cNvPr>
          <p:cNvSpPr txBox="1"/>
          <p:nvPr>
            <p:custDataLst>
              <p:tags r:id="rId5"/>
            </p:custDataLst>
          </p:nvPr>
        </p:nvSpPr>
        <p:spPr>
          <a:xfrm>
            <a:off x="1714809" y="4659314"/>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Net debt</a:t>
            </a:r>
          </a:p>
        </p:txBody>
      </p:sp>
      <p:sp>
        <p:nvSpPr>
          <p:cNvPr id="8" name="TextBox 7">
            <a:hlinkClick r:id="rId15" action="ppaction://hlinksldjump"/>
            <a:extLst>
              <a:ext uri="{FF2B5EF4-FFF2-40B4-BE49-F238E27FC236}">
                <a16:creationId xmlns:a16="http://schemas.microsoft.com/office/drawing/2014/main" id="{515DFFD9-156D-F61B-7B53-6B24989509A6}"/>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dirty="0">
                <a:solidFill>
                  <a:srgbClr val="FFFFFF"/>
                </a:solidFill>
                <a:latin typeface="+mj-lt"/>
              </a:rPr>
              <a:t>03</a:t>
            </a:r>
          </a:p>
        </p:txBody>
      </p:sp>
      <p:sp>
        <p:nvSpPr>
          <p:cNvPr id="9" name="TextBox 8">
            <a:hlinkClick r:id="rId15" action="ppaction://hlinksldjump"/>
            <a:extLst>
              <a:ext uri="{FF2B5EF4-FFF2-40B4-BE49-F238E27FC236}">
                <a16:creationId xmlns:a16="http://schemas.microsoft.com/office/drawing/2014/main" id="{F09F8DA8-E2F8-B715-466C-25340AB5FEFD}"/>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dirty="0">
                <a:ln>
                  <a:noFill/>
                </a:ln>
                <a:noFill/>
                <a:latin typeface="+mj-lt"/>
              </a:rPr>
              <a:t>36</a:t>
            </a:r>
          </a:p>
        </p:txBody>
      </p:sp>
      <p:sp>
        <p:nvSpPr>
          <p:cNvPr id="10" name="TextBox 9">
            <a:hlinkClick r:id="rId16" action="ppaction://hlinksldjump"/>
            <a:extLst>
              <a:ext uri="{FF2B5EF4-FFF2-40B4-BE49-F238E27FC236}">
                <a16:creationId xmlns:a16="http://schemas.microsoft.com/office/drawing/2014/main" id="{0B4D22A3-9571-020B-CE28-32C1C3BE45A1}"/>
              </a:ext>
            </a:extLst>
          </p:cNvPr>
          <p:cNvSpPr txBox="1"/>
          <p:nvPr>
            <p:custDataLst>
              <p:tags r:id="rId8"/>
            </p:custDataLst>
          </p:nvPr>
        </p:nvSpPr>
        <p:spPr bwMode="auto">
          <a:xfrm>
            <a:off x="1332373" y="38698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3.1</a:t>
            </a:r>
          </a:p>
        </p:txBody>
      </p:sp>
      <p:sp>
        <p:nvSpPr>
          <p:cNvPr id="11" name="TextBox 10">
            <a:hlinkClick r:id="rId17" action="ppaction://hlinksldjump"/>
            <a:extLst>
              <a:ext uri="{FF2B5EF4-FFF2-40B4-BE49-F238E27FC236}">
                <a16:creationId xmlns:a16="http://schemas.microsoft.com/office/drawing/2014/main" id="{94761720-CDAA-A975-8A13-3BF553B05307}"/>
              </a:ext>
            </a:extLst>
          </p:cNvPr>
          <p:cNvSpPr txBox="1"/>
          <p:nvPr>
            <p:custDataLst>
              <p:tags r:id="rId9"/>
            </p:custDataLst>
          </p:nvPr>
        </p:nvSpPr>
        <p:spPr bwMode="auto">
          <a:xfrm>
            <a:off x="1332373" y="42645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3.2</a:t>
            </a:r>
          </a:p>
        </p:txBody>
      </p:sp>
      <p:sp>
        <p:nvSpPr>
          <p:cNvPr id="12" name="TextBox 11">
            <a:hlinkClick r:id="rId18" action="ppaction://hlinksldjump"/>
            <a:extLst>
              <a:ext uri="{FF2B5EF4-FFF2-40B4-BE49-F238E27FC236}">
                <a16:creationId xmlns:a16="http://schemas.microsoft.com/office/drawing/2014/main" id="{DA39BD1B-8B9B-361C-4226-D0F65F212CE4}"/>
              </a:ext>
            </a:extLst>
          </p:cNvPr>
          <p:cNvSpPr txBox="1"/>
          <p:nvPr>
            <p:custDataLst>
              <p:tags r:id="rId10"/>
            </p:custDataLst>
          </p:nvPr>
        </p:nvSpPr>
        <p:spPr bwMode="auto">
          <a:xfrm>
            <a:off x="1332373" y="46593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3.3</a:t>
            </a:r>
          </a:p>
        </p:txBody>
      </p:sp>
      <p:sp>
        <p:nvSpPr>
          <p:cNvPr id="13" name="TextBox 12">
            <a:hlinkClick r:id="rId16" action="ppaction://hlinksldjump"/>
            <a:extLst>
              <a:ext uri="{FF2B5EF4-FFF2-40B4-BE49-F238E27FC236}">
                <a16:creationId xmlns:a16="http://schemas.microsoft.com/office/drawing/2014/main" id="{C7B49650-5F2E-270D-84C5-C6EAE7256309}"/>
              </a:ext>
            </a:extLst>
          </p:cNvPr>
          <p:cNvSpPr txBox="1"/>
          <p:nvPr>
            <p:custDataLst>
              <p:tags r:id="rId11"/>
            </p:custDataLst>
          </p:nvPr>
        </p:nvSpPr>
        <p:spPr>
          <a:xfrm>
            <a:off x="6163612" y="386988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37</a:t>
            </a:r>
          </a:p>
        </p:txBody>
      </p:sp>
      <p:sp>
        <p:nvSpPr>
          <p:cNvPr id="14" name="TextBox 13">
            <a:hlinkClick r:id="rId17" action="ppaction://hlinksldjump"/>
            <a:extLst>
              <a:ext uri="{FF2B5EF4-FFF2-40B4-BE49-F238E27FC236}">
                <a16:creationId xmlns:a16="http://schemas.microsoft.com/office/drawing/2014/main" id="{36665AA9-C3E0-E6B3-46F9-177BEC06D8BD}"/>
              </a:ext>
            </a:extLst>
          </p:cNvPr>
          <p:cNvSpPr txBox="1"/>
          <p:nvPr>
            <p:custDataLst>
              <p:tags r:id="rId12"/>
            </p:custDataLst>
          </p:nvPr>
        </p:nvSpPr>
        <p:spPr>
          <a:xfrm>
            <a:off x="6163612" y="426459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43</a:t>
            </a:r>
          </a:p>
        </p:txBody>
      </p:sp>
      <p:sp>
        <p:nvSpPr>
          <p:cNvPr id="15" name="TextBox 14">
            <a:hlinkClick r:id="rId18" action="ppaction://hlinksldjump"/>
            <a:extLst>
              <a:ext uri="{FF2B5EF4-FFF2-40B4-BE49-F238E27FC236}">
                <a16:creationId xmlns:a16="http://schemas.microsoft.com/office/drawing/2014/main" id="{27C44756-F425-1FBB-8719-815483B427C5}"/>
              </a:ext>
            </a:extLst>
          </p:cNvPr>
          <p:cNvSpPr txBox="1"/>
          <p:nvPr>
            <p:custDataLst>
              <p:tags r:id="rId13"/>
            </p:custDataLst>
          </p:nvPr>
        </p:nvSpPr>
        <p:spPr>
          <a:xfrm>
            <a:off x="6163612" y="4659314"/>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45</a:t>
            </a:r>
          </a:p>
        </p:txBody>
      </p:sp>
    </p:spTree>
    <p:custDataLst>
      <p:tags r:id="rId1"/>
    </p:custDataLst>
    <p:extLst>
      <p:ext uri="{BB962C8B-B14F-4D97-AF65-F5344CB8AC3E}">
        <p14:creationId xmlns:p14="http://schemas.microsoft.com/office/powerpoint/2010/main" val="2585192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overview (1/2)</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6055314" y="1330716"/>
            <a:ext cx="5145346" cy="252000"/>
          </a:xfrm>
        </p:spPr>
        <p:txBody>
          <a:bodyPr/>
          <a:lstStyle/>
          <a:p>
            <a:r>
              <a:rPr lang="fi-FI"/>
              <a:t>Basis of preparation</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1003312" y="980249"/>
            <a:ext cx="10198717" cy="460800"/>
          </a:xfrm>
        </p:spPr>
        <p:txBody>
          <a:bodyPr/>
          <a:lstStyle/>
          <a:p>
            <a:r>
              <a:rPr lang="fi-FI"/>
              <a:t>Adjusted average net working capital was $13.9 million for FY24 (FY23: $12.4 million) which includes $39.7 million of definitional adjustments and ($0.4) million of due diligence adjustments.</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6055314" y="1589342"/>
            <a:ext cx="5145346" cy="4538081"/>
          </a:xfrm>
        </p:spPr>
        <p:txBody>
          <a:bodyPr/>
          <a:lstStyle/>
          <a:p>
            <a:pPr lvl="1" defTabSz="914377">
              <a:spcAft>
                <a:spcPts val="300"/>
              </a:spcAft>
              <a:defRPr/>
            </a:pPr>
            <a:r>
              <a:rPr lang="en-US" dirty="0"/>
              <a:t>The summary adjusted net working capital schedule opposite presents reported, sell-side adjusted, and pro forma adjusted net working capital as at December 31, 2023, October 31, 2024, and December 31, 2024 as well as averages for FY23, TTM Oct-24, and FY24. Adjustments to reported net working capital presented in the sell-side due diligence report are summarized as follows, with details on adjustments presented as part of our work discussed over the following pages.</a:t>
            </a:r>
          </a:p>
          <a:p>
            <a:pPr lvl="1" defTabSz="914377">
              <a:spcAft>
                <a:spcPts val="300"/>
              </a:spcAft>
              <a:defRPr/>
            </a:pPr>
            <a:r>
              <a:rPr lang="en-US" sz="1000" b="1" dirty="0">
                <a:solidFill>
                  <a:schemeClr val="tx2"/>
                </a:solidFill>
              </a:rPr>
              <a:t>Definitional adjustments</a:t>
            </a:r>
          </a:p>
          <a:p>
            <a:pPr lvl="1" defTabSz="914377">
              <a:spcAft>
                <a:spcPts val="300"/>
              </a:spcAft>
              <a:defRPr/>
            </a:pPr>
            <a:r>
              <a:rPr lang="en-US" dirty="0"/>
              <a:t>The definitional adjustments presented in the sell-side due diligence report primarily relate to certain cash- and debt-like balances included in reported net working capital. The main definitional adjustments impacting average net working capital in FY24 include:</a:t>
            </a:r>
          </a:p>
          <a:p>
            <a:pPr marL="171450" lvl="1" indent="-171450" defTabSz="914377">
              <a:spcAft>
                <a:spcPts val="300"/>
              </a:spcAft>
              <a:buFont typeface="Arial" panose="020B0604020202020204" pitchFamily="34" charset="0"/>
              <a:buChar char="•"/>
              <a:defRPr/>
            </a:pPr>
            <a:r>
              <a:rPr lang="en-US" dirty="0"/>
              <a:t>$29.1 million add-back related to income tax payables (FY23: $26.5 million);</a:t>
            </a:r>
          </a:p>
          <a:p>
            <a:pPr marL="171450" lvl="1" indent="-171450" defTabSz="914377">
              <a:spcAft>
                <a:spcPts val="300"/>
              </a:spcAft>
              <a:buFont typeface="Arial" panose="020B0604020202020204" pitchFamily="34" charset="0"/>
              <a:buChar char="•"/>
              <a:defRPr/>
            </a:pPr>
            <a:r>
              <a:rPr lang="en-US" dirty="0"/>
              <a:t>$12.2 million add-back for the current portion of long-term debt presented as part of current liabilities (FY23: $12.2 million);</a:t>
            </a:r>
          </a:p>
          <a:p>
            <a:pPr marL="171450" lvl="1" indent="-171450" defTabSz="914377">
              <a:spcAft>
                <a:spcPts val="300"/>
              </a:spcAft>
              <a:buFont typeface="Arial" panose="020B0604020202020204" pitchFamily="34" charset="0"/>
              <a:buChar char="•"/>
              <a:defRPr/>
            </a:pPr>
            <a:r>
              <a:rPr lang="en-US" dirty="0"/>
              <a:t>$9.1 million adjustment related to a line of credit balance (FY23: $8.2 million); and</a:t>
            </a:r>
          </a:p>
          <a:p>
            <a:pPr marL="171450" lvl="1" indent="-171450" defTabSz="914377">
              <a:spcAft>
                <a:spcPts val="300"/>
              </a:spcAft>
              <a:buFont typeface="Arial" panose="020B0604020202020204" pitchFamily="34" charset="0"/>
              <a:buChar char="•"/>
              <a:defRPr/>
            </a:pPr>
            <a:r>
              <a:rPr lang="en-US" dirty="0"/>
              <a:t>($10.8) million exclusion of reported operating cash and reclassification to net debt (FY23: ($10.5) million).</a:t>
            </a:r>
          </a:p>
          <a:p>
            <a:pPr lvl="1" defTabSz="914377">
              <a:spcAft>
                <a:spcPts val="300"/>
              </a:spcAft>
              <a:defRPr/>
            </a:pPr>
            <a:r>
              <a:rPr lang="en-US" dirty="0"/>
              <a:t>Refer to the sell-side due diligence report for further commentary with respect to definitional adjustments. </a:t>
            </a:r>
          </a:p>
          <a:p>
            <a:pPr lvl="1" defTabSz="914377">
              <a:spcAft>
                <a:spcPts val="300"/>
              </a:spcAft>
              <a:defRPr/>
            </a:pPr>
            <a:endParaRPr lang="en-US" dirty="0"/>
          </a:p>
          <a:p>
            <a:pPr lvl="1" defTabSz="914377">
              <a:spcAft>
                <a:spcPts val="300"/>
              </a:spcAft>
              <a:defRPr/>
            </a:pPr>
            <a:endParaRPr lang="en-US" dirty="0"/>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86D3A1E9-D342-AC6C-1D51-381EED03EA42}"/>
              </a:ext>
            </a:extLst>
          </p:cNvPr>
          <p:cNvSpPr/>
          <p:nvPr/>
        </p:nvSpPr>
        <p:spPr>
          <a:xfrm>
            <a:off x="8545607" y="-1125810"/>
            <a:ext cx="2643081" cy="10464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NWC schedule (avg. FY22-24 and year ends): Total for each grouping of adjustments and supporting commentary. Sell-side adjs to refer back to EY report</a:t>
            </a:r>
          </a:p>
        </p:txBody>
      </p:sp>
      <p:sp>
        <p:nvSpPr>
          <p:cNvPr id="25" name="Text Placeholder 12">
            <a:extLst>
              <a:ext uri="{FF2B5EF4-FFF2-40B4-BE49-F238E27FC236}">
                <a16:creationId xmlns:a16="http://schemas.microsoft.com/office/drawing/2014/main" id="{8FF0A2D2-4DDF-94B7-38EB-058CD14050D7}"/>
              </a:ext>
            </a:extLst>
          </p:cNvPr>
          <p:cNvSpPr txBox="1">
            <a:spLocks/>
          </p:cNvSpPr>
          <p:nvPr/>
        </p:nvSpPr>
        <p:spPr>
          <a:xfrm>
            <a:off x="1003312" y="3403922"/>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22" name="Picture 21">
            <a:extLst>
              <a:ext uri="{FF2B5EF4-FFF2-40B4-BE49-F238E27FC236}">
                <a16:creationId xmlns:a16="http://schemas.microsoft.com/office/drawing/2014/main" id="{E22190BF-F4B8-0BBF-4627-5DEB2F38667D}"/>
              </a:ext>
            </a:extLst>
          </p:cNvPr>
          <p:cNvPicPr>
            <a:picLocks noChangeAspect="1"/>
          </p:cNvPicPr>
          <p:nvPr>
            <p:custDataLst>
              <p:tags r:id="rId4"/>
            </p:custDataLst>
          </p:nvPr>
        </p:nvPicPr>
        <p:blipFill>
          <a:blip r:embed="rId11"/>
          <a:stretch>
            <a:fillRect/>
          </a:stretch>
        </p:blipFill>
        <p:spPr>
          <a:xfrm>
            <a:off x="-2793400" y="2526538"/>
            <a:ext cx="2030144" cy="2267909"/>
          </a:xfrm>
          <a:prstGeom prst="rect">
            <a:avLst/>
          </a:prstGeom>
        </p:spPr>
      </p:pic>
      <p:pic>
        <p:nvPicPr>
          <p:cNvPr id="27" name="Picture 26">
            <a:extLst>
              <a:ext uri="{FF2B5EF4-FFF2-40B4-BE49-F238E27FC236}">
                <a16:creationId xmlns:a16="http://schemas.microsoft.com/office/drawing/2014/main" id="{D8E6121A-D1B1-9CD1-9B0F-CFADC033BE4E}"/>
              </a:ext>
            </a:extLst>
          </p:cNvPr>
          <p:cNvPicPr>
            <a:picLocks noChangeAspect="1"/>
          </p:cNvPicPr>
          <p:nvPr>
            <p:custDataLst>
              <p:tags r:id="rId5"/>
            </p:custDataLst>
          </p:nvPr>
        </p:nvPicPr>
        <p:blipFill>
          <a:blip r:embed="rId12"/>
          <a:stretch>
            <a:fillRect/>
          </a:stretch>
        </p:blipFill>
        <p:spPr>
          <a:xfrm>
            <a:off x="-2793400" y="2915158"/>
            <a:ext cx="2030144" cy="2274005"/>
          </a:xfrm>
          <a:prstGeom prst="rect">
            <a:avLst/>
          </a:prstGeom>
        </p:spPr>
      </p:pic>
      <p:pic>
        <p:nvPicPr>
          <p:cNvPr id="13" name="Picture 12">
            <a:extLst>
              <a:ext uri="{FF2B5EF4-FFF2-40B4-BE49-F238E27FC236}">
                <a16:creationId xmlns:a16="http://schemas.microsoft.com/office/drawing/2014/main" id="{60C4AEBD-1FB5-1353-5851-7C6B08E80C0B}"/>
              </a:ext>
            </a:extLst>
          </p:cNvPr>
          <p:cNvPicPr>
            <a:picLocks noChangeAspect="1"/>
          </p:cNvPicPr>
          <p:nvPr>
            <p:custDataLst>
              <p:tags r:id="rId6"/>
            </p:custDataLst>
          </p:nvPr>
        </p:nvPicPr>
        <p:blipFill>
          <a:blip r:embed="rId13"/>
          <a:stretch>
            <a:fillRect/>
          </a:stretch>
        </p:blipFill>
        <p:spPr>
          <a:xfrm>
            <a:off x="989971" y="1326903"/>
            <a:ext cx="5029200" cy="2055492"/>
          </a:xfrm>
          <a:prstGeom prst="rect">
            <a:avLst/>
          </a:prstGeom>
        </p:spPr>
      </p:pic>
      <p:grpSp>
        <p:nvGrpSpPr>
          <p:cNvPr id="39" name="Group 38">
            <a:extLst>
              <a:ext uri="{FF2B5EF4-FFF2-40B4-BE49-F238E27FC236}">
                <a16:creationId xmlns:a16="http://schemas.microsoft.com/office/drawing/2014/main" id="{F057A340-9EEA-2B81-4724-484D62FD61B0}"/>
              </a:ext>
            </a:extLst>
          </p:cNvPr>
          <p:cNvGrpSpPr/>
          <p:nvPr>
            <p:custDataLst>
              <p:tags r:id="rId7"/>
            </p:custDataLst>
          </p:nvPr>
        </p:nvGrpSpPr>
        <p:grpSpPr>
          <a:xfrm>
            <a:off x="995364" y="153170"/>
            <a:ext cx="5059950" cy="195814"/>
            <a:chOff x="995364" y="153170"/>
            <a:chExt cx="5059950" cy="195814"/>
          </a:xfrm>
        </p:grpSpPr>
        <p:sp>
          <p:nvSpPr>
            <p:cNvPr id="33"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6" name="Current Section3">
              <a:hlinkClick r:id="rId16"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7"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26721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overview (2/2)</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5897617" y="1330716"/>
            <a:ext cx="5303043" cy="252000"/>
          </a:xfrm>
        </p:spPr>
        <p:txBody>
          <a:bodyPr/>
          <a:lstStyle/>
          <a:p>
            <a:r>
              <a:rPr lang="fi-FI"/>
              <a:t>Basis of preparation (continued)</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885645" y="1589190"/>
            <a:ext cx="5303043" cy="4538081"/>
          </a:xfrm>
        </p:spPr>
        <p:txBody>
          <a:bodyPr/>
          <a:lstStyle/>
          <a:p>
            <a:pPr lvl="1" defTabSz="914377">
              <a:spcAft>
                <a:spcPts val="300"/>
              </a:spcAft>
              <a:defRPr/>
            </a:pPr>
            <a:r>
              <a:rPr lang="en-US" sz="1000" b="1" dirty="0">
                <a:solidFill>
                  <a:schemeClr val="tx2"/>
                </a:solidFill>
              </a:rPr>
              <a:t>Sell-side due diligence adjustments</a:t>
            </a:r>
            <a:endParaRPr lang="en-US" dirty="0"/>
          </a:p>
          <a:p>
            <a:pPr lvl="1" defTabSz="914377">
              <a:spcAft>
                <a:spcPts val="300"/>
              </a:spcAft>
              <a:defRPr/>
            </a:pPr>
            <a:r>
              <a:rPr lang="en-US" dirty="0"/>
              <a:t>Sell-side adjustments to net working capital presented in the due diligence report largely reflect the working capital impact of items adjusted as part of quality of earnings analysis. While there are certain assumptions applied in estimating the working capital impact of the items adjusted in the quality of earnings  analysis, the key assumptions and methodologies underpinning adjustments set out in the sell-side net working capital analysis appear substantiated. The main sell-side due diligence adjustments in FY24 include, on an average basis:</a:t>
            </a:r>
          </a:p>
          <a:p>
            <a:pPr marL="171450" lvl="1" indent="-171450" defTabSz="914377">
              <a:spcAft>
                <a:spcPts val="300"/>
              </a:spcAft>
              <a:buFont typeface="Arial" panose="020B0604020202020204" pitchFamily="34" charset="0"/>
              <a:buChar char="•"/>
              <a:defRPr/>
            </a:pPr>
            <a:r>
              <a:rPr lang="en-US" dirty="0"/>
              <a:t>$0.5 million add-back of extraordinary and non-recurring payables which primarily relate to professional fees and IT costs adjusted as part of the sell-side quality of earnings  analysis</a:t>
            </a:r>
          </a:p>
          <a:p>
            <a:pPr marL="171450" lvl="1" indent="-171450" defTabSz="914377">
              <a:spcAft>
                <a:spcPts val="300"/>
              </a:spcAft>
              <a:buFont typeface="Arial" panose="020B0604020202020204" pitchFamily="34" charset="0"/>
              <a:buChar char="•"/>
              <a:defRPr/>
            </a:pPr>
            <a:r>
              <a:rPr lang="en-US" dirty="0"/>
              <a:t>$0.4 million upward adjustment to the CPC receivable as a result of the re-allocation of out-of-period income true-ups through the year;</a:t>
            </a:r>
          </a:p>
          <a:p>
            <a:pPr marL="171450" lvl="1" indent="-171450" defTabSz="914377">
              <a:spcAft>
                <a:spcPts val="300"/>
              </a:spcAft>
              <a:buFont typeface="Arial" panose="020B0604020202020204" pitchFamily="34" charset="0"/>
              <a:buChar char="•"/>
              <a:defRPr/>
            </a:pPr>
            <a:r>
              <a:rPr lang="en-US" dirty="0"/>
              <a:t>$0.2 million add-back adjustment for non recurring transaction costs incurred by Management in relation to acquisitions over the Historical Period; and</a:t>
            </a:r>
          </a:p>
          <a:p>
            <a:pPr marL="171450" lvl="1" indent="-171450" defTabSz="914377">
              <a:spcAft>
                <a:spcPts val="300"/>
              </a:spcAft>
              <a:buFont typeface="Arial" panose="020B0604020202020204" pitchFamily="34" charset="0"/>
              <a:buChar char="•"/>
              <a:defRPr/>
            </a:pPr>
            <a:r>
              <a:rPr lang="en-US" dirty="0"/>
              <a:t>exclusion of ($4.3) million in surplus cash held in trust accounts across the business relative to minimum in trust requirements. Refer to adjustment #8 where we consider the potential impact of premiums receivable aged greater than 90 days.</a:t>
            </a:r>
          </a:p>
          <a:p>
            <a:pPr lvl="1" defTabSz="914377">
              <a:spcAft>
                <a:spcPts val="300"/>
              </a:spcAft>
              <a:defRPr/>
            </a:pPr>
            <a:r>
              <a:rPr lang="en-US" dirty="0"/>
              <a:t>Refer to the sell-side due diligence report for further details with respect to sell-side net working capital adjustments. </a:t>
            </a:r>
            <a:endParaRPr lang="en-US" i="1" dirty="0"/>
          </a:p>
          <a:p>
            <a:pPr lvl="1" defTabSz="914377">
              <a:spcAft>
                <a:spcPts val="300"/>
              </a:spcAft>
              <a:defRPr/>
            </a:pPr>
            <a:endParaRPr lang="en-US" dirty="0"/>
          </a:p>
          <a:p>
            <a:pPr lvl="1" defTabSz="914377">
              <a:spcAft>
                <a:spcPts val="300"/>
              </a:spcAft>
              <a:defRPr/>
            </a:pPr>
            <a:endParaRPr lang="en-US" dirty="0"/>
          </a:p>
          <a:p>
            <a:pPr lvl="1" defTabSz="914377">
              <a:spcAft>
                <a:spcPts val="300"/>
              </a:spcAft>
              <a:defRPr/>
            </a:pPr>
            <a:endParaRPr lang="en-US" dirty="0"/>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86D3A1E9-D342-AC6C-1D51-381EED03EA42}"/>
              </a:ext>
            </a:extLst>
          </p:cNvPr>
          <p:cNvSpPr/>
          <p:nvPr/>
        </p:nvSpPr>
        <p:spPr>
          <a:xfrm>
            <a:off x="8545607" y="-1125810"/>
            <a:ext cx="2643081" cy="10464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Summary NWC schedule (avg. FY22-24 and year ends): Total for each grouping of adjustments and supporting commentary. Sell-side adjs to refer back to EY report</a:t>
            </a:r>
          </a:p>
        </p:txBody>
      </p:sp>
      <p:sp>
        <p:nvSpPr>
          <p:cNvPr id="25" name="Text Placeholder 12">
            <a:extLst>
              <a:ext uri="{FF2B5EF4-FFF2-40B4-BE49-F238E27FC236}">
                <a16:creationId xmlns:a16="http://schemas.microsoft.com/office/drawing/2014/main" id="{8FF0A2D2-4DDF-94B7-38EB-058CD14050D7}"/>
              </a:ext>
            </a:extLst>
          </p:cNvPr>
          <p:cNvSpPr txBox="1">
            <a:spLocks/>
          </p:cNvSpPr>
          <p:nvPr/>
        </p:nvSpPr>
        <p:spPr>
          <a:xfrm>
            <a:off x="1021018" y="5053768"/>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22" name="Picture 21">
            <a:extLst>
              <a:ext uri="{FF2B5EF4-FFF2-40B4-BE49-F238E27FC236}">
                <a16:creationId xmlns:a16="http://schemas.microsoft.com/office/drawing/2014/main" id="{E22190BF-F4B8-0BBF-4627-5DEB2F38667D}"/>
              </a:ext>
            </a:extLst>
          </p:cNvPr>
          <p:cNvPicPr>
            <a:picLocks noChangeAspect="1"/>
          </p:cNvPicPr>
          <p:nvPr>
            <p:custDataLst>
              <p:tags r:id="rId4"/>
            </p:custDataLst>
          </p:nvPr>
        </p:nvPicPr>
        <p:blipFill>
          <a:blip r:embed="rId11"/>
          <a:stretch>
            <a:fillRect/>
          </a:stretch>
        </p:blipFill>
        <p:spPr>
          <a:xfrm>
            <a:off x="-2793400" y="2526538"/>
            <a:ext cx="2030144" cy="2267909"/>
          </a:xfrm>
          <a:prstGeom prst="rect">
            <a:avLst/>
          </a:prstGeom>
        </p:spPr>
      </p:pic>
      <p:pic>
        <p:nvPicPr>
          <p:cNvPr id="27" name="Picture 26">
            <a:extLst>
              <a:ext uri="{FF2B5EF4-FFF2-40B4-BE49-F238E27FC236}">
                <a16:creationId xmlns:a16="http://schemas.microsoft.com/office/drawing/2014/main" id="{D8E6121A-D1B1-9CD1-9B0F-CFADC033BE4E}"/>
              </a:ext>
            </a:extLst>
          </p:cNvPr>
          <p:cNvPicPr>
            <a:picLocks noChangeAspect="1"/>
          </p:cNvPicPr>
          <p:nvPr>
            <p:custDataLst>
              <p:tags r:id="rId5"/>
            </p:custDataLst>
          </p:nvPr>
        </p:nvPicPr>
        <p:blipFill>
          <a:blip r:embed="rId12"/>
          <a:stretch>
            <a:fillRect/>
          </a:stretch>
        </p:blipFill>
        <p:spPr>
          <a:xfrm>
            <a:off x="-2793400" y="2915158"/>
            <a:ext cx="2030144" cy="2274005"/>
          </a:xfrm>
          <a:prstGeom prst="rect">
            <a:avLst/>
          </a:prstGeom>
        </p:spPr>
      </p:pic>
      <p:sp>
        <p:nvSpPr>
          <p:cNvPr id="15" name="Text Placeholder 14">
            <a:extLst>
              <a:ext uri="{FF2B5EF4-FFF2-40B4-BE49-F238E27FC236}">
                <a16:creationId xmlns:a16="http://schemas.microsoft.com/office/drawing/2014/main" id="{537E8F98-FE1B-7F34-B44E-AE9E1AE26B15}"/>
              </a:ext>
            </a:extLst>
          </p:cNvPr>
          <p:cNvSpPr>
            <a:spLocks noGrp="1"/>
          </p:cNvSpPr>
          <p:nvPr>
            <p:ph type="body" sz="quarter" idx="10"/>
          </p:nvPr>
        </p:nvSpPr>
        <p:spPr>
          <a:xfrm>
            <a:off x="1021018" y="978176"/>
            <a:ext cx="10167670" cy="315225"/>
          </a:xfrm>
        </p:spPr>
        <p:txBody>
          <a:bodyPr/>
          <a:lstStyle/>
          <a:p>
            <a:r>
              <a:rPr lang="en-US" dirty="0"/>
              <a:t>Sell-side due diligence adjustments have a total impact of $3.3 million on average net working capital for FY24, the most significant components of which comprise costs related to the ongoing transaction and excess cash balances.</a:t>
            </a:r>
          </a:p>
        </p:txBody>
      </p:sp>
      <p:pic>
        <p:nvPicPr>
          <p:cNvPr id="13" name="Picture 12">
            <a:extLst>
              <a:ext uri="{FF2B5EF4-FFF2-40B4-BE49-F238E27FC236}">
                <a16:creationId xmlns:a16="http://schemas.microsoft.com/office/drawing/2014/main" id="{1E79FA68-32FE-E458-CED6-28ECE2851665}"/>
              </a:ext>
            </a:extLst>
          </p:cNvPr>
          <p:cNvPicPr>
            <a:picLocks noChangeAspect="1"/>
          </p:cNvPicPr>
          <p:nvPr>
            <p:custDataLst>
              <p:tags r:id="rId6"/>
            </p:custDataLst>
          </p:nvPr>
        </p:nvPicPr>
        <p:blipFill>
          <a:blip r:embed="rId13"/>
          <a:stretch>
            <a:fillRect/>
          </a:stretch>
        </p:blipFill>
        <p:spPr>
          <a:xfrm>
            <a:off x="991340" y="1330716"/>
            <a:ext cx="4764024" cy="3723052"/>
          </a:xfrm>
          <a:prstGeom prst="rect">
            <a:avLst/>
          </a:prstGeom>
        </p:spPr>
      </p:pic>
      <p:grpSp>
        <p:nvGrpSpPr>
          <p:cNvPr id="32" name="Group 31">
            <a:extLst>
              <a:ext uri="{FF2B5EF4-FFF2-40B4-BE49-F238E27FC236}">
                <a16:creationId xmlns:a16="http://schemas.microsoft.com/office/drawing/2014/main" id="{F057A340-9EEA-2B81-4724-484D62FD61B0}"/>
              </a:ext>
            </a:extLst>
          </p:cNvPr>
          <p:cNvGrpSpPr/>
          <p:nvPr>
            <p:custDataLst>
              <p:tags r:id="rId7"/>
            </p:custDataLst>
          </p:nvPr>
        </p:nvGrpSpPr>
        <p:grpSpPr>
          <a:xfrm>
            <a:off x="995364" y="153170"/>
            <a:ext cx="5059950" cy="195814"/>
            <a:chOff x="995364" y="153170"/>
            <a:chExt cx="5059950" cy="195814"/>
          </a:xfrm>
        </p:grpSpPr>
        <p:sp>
          <p:nvSpPr>
            <p:cNvPr id="33"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7" name="Current Section3">
              <a:hlinkClick r:id="rId16"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8"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7763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challenges to sell-side adjustments (1/2</a:t>
            </a:r>
            <a:r>
              <a:rPr lang="en-CA" dirty="0"/>
              <a:t>)</a:t>
            </a:r>
            <a:endParaRPr lang="en-US" dirty="0"/>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5856282" y="1330359"/>
            <a:ext cx="5343944" cy="252000"/>
          </a:xfrm>
        </p:spPr>
        <p:txBody>
          <a:bodyPr/>
          <a:lstStyle/>
          <a:p>
            <a:r>
              <a:rPr lang="fi-FI"/>
              <a:t>Challenges to sell-side adjustments</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849656" y="1595611"/>
            <a:ext cx="5343944" cy="3865371"/>
          </a:xfrm>
        </p:spPr>
        <p:txBody>
          <a:bodyPr/>
          <a:lstStyle/>
          <a:p>
            <a:pPr marL="228600" lvl="1" indent="-228600" defTabSz="914377">
              <a:buFont typeface="+mj-lt"/>
              <a:buAutoNum type="arabicPeriod"/>
              <a:defRPr/>
            </a:pPr>
            <a:r>
              <a:rPr lang="en-US" b="1" dirty="0">
                <a:solidFill>
                  <a:srgbClr val="000000"/>
                </a:solidFill>
              </a:rPr>
              <a:t>Extraordinary and non-recurring items:</a:t>
            </a:r>
            <a:r>
              <a:rPr lang="en-US" dirty="0">
                <a:solidFill>
                  <a:srgbClr val="000000"/>
                </a:solidFill>
              </a:rPr>
              <a:t> Reverses net working capital adjustments corresponding to items challenged as part of quality of earnings analysis, including: (i) $63,000 in IT costs relating primarily to </a:t>
            </a:r>
            <a:r>
              <a:rPr lang="en-US" b="0" dirty="0">
                <a:solidFill>
                  <a:schemeClr val="tx1"/>
                </a:solidFill>
              </a:rPr>
              <a:t>system support, licenses, cybersecurity and maintenance</a:t>
            </a:r>
            <a:r>
              <a:rPr lang="en-US" dirty="0">
                <a:solidFill>
                  <a:srgbClr val="000000"/>
                </a:solidFill>
              </a:rPr>
              <a:t>; (ii) $42,000 in advertising and entertainment expenses considered to be of a recurring nature; and (iii) $30,000 in recurring recruitment fees.</a:t>
            </a:r>
          </a:p>
          <a:p>
            <a:pPr marL="228600" lvl="1" indent="-228600" defTabSz="914377">
              <a:buFont typeface="+mj-lt"/>
              <a:buAutoNum type="arabicPeriod"/>
              <a:defRPr/>
            </a:pPr>
            <a:r>
              <a:rPr lang="en-US" b="1" dirty="0">
                <a:solidFill>
                  <a:srgbClr val="000000"/>
                </a:solidFill>
              </a:rPr>
              <a:t>Non-recurring salaries and benefits: </a:t>
            </a:r>
            <a:r>
              <a:rPr lang="en-US" dirty="0">
                <a:solidFill>
                  <a:srgbClr val="000000"/>
                </a:solidFill>
              </a:rPr>
              <a:t>Offsets the sell-side net working capital add-back for payroll and expenses accruals associated with the Company's M&amp;A department and the portion of the CVO's time which is assumed to relate to corporate development activities based on the normal payroll cycle in the business. These accruals are continuing in the business on a go forward basis. </a:t>
            </a:r>
          </a:p>
          <a:p>
            <a:pPr marL="228600" lvl="1" indent="-228600" defTabSz="914377">
              <a:buFont typeface="+mj-lt"/>
              <a:buAutoNum type="arabicPeriod"/>
              <a:defRPr/>
            </a:pPr>
            <a:r>
              <a:rPr lang="en-US" b="1" dirty="0">
                <a:solidFill>
                  <a:srgbClr val="000000"/>
                </a:solidFill>
              </a:rPr>
              <a:t>Shareholders expenses: </a:t>
            </a:r>
            <a:r>
              <a:rPr lang="en-US" dirty="0">
                <a:solidFill>
                  <a:srgbClr val="000000"/>
                </a:solidFill>
              </a:rPr>
              <a:t>Sell-side adjusted net working capital includes an add-back for business expenses associated with the three management individuals who are expected to depart upon transaction completion. Since our presentation of adjusted EBITDA includes these expenses, we have made corresponding adjustment to net working capital based on an assumed DPO of 45 days.</a:t>
            </a:r>
          </a:p>
          <a:p>
            <a:pPr marL="228600" lvl="1" indent="-228600" defTabSz="914377">
              <a:buFont typeface="+mj-lt"/>
              <a:buAutoNum type="arabicPeriod"/>
              <a:defRPr/>
            </a:pPr>
            <a:r>
              <a:rPr lang="en-US" b="1" dirty="0">
                <a:solidFill>
                  <a:srgbClr val="000000"/>
                </a:solidFill>
              </a:rPr>
              <a:t>Contingent revenue true-up impact:</a:t>
            </a:r>
            <a:r>
              <a:rPr lang="en-US" b="0" dirty="0">
                <a:solidFill>
                  <a:schemeClr val="tx1"/>
                </a:solidFill>
              </a:rPr>
              <a:t> The sell-side quality of earnings adjustment related </a:t>
            </a:r>
            <a:r>
              <a:rPr lang="en-US" dirty="0"/>
              <a:t>to CPC income true-ups implied that the year end adjustment to reconcile reported CPC income to confirmed income with carriers was accrued on a straight-line basis over the year. However, we have revised the monthly phasing of the CPC revenue true-up impact by reference to monthly base commission revenue relative to annual base commissions for each year, resulting in a $0.2 million decrease to the average CPC receivable in FY24.</a:t>
            </a:r>
            <a:endParaRPr lang="en-US" b="1" dirty="0">
              <a:solidFill>
                <a:srgbClr val="000000"/>
              </a:solidFill>
            </a:endParaRPr>
          </a:p>
          <a:p>
            <a:pPr marL="228600" lvl="1" indent="-228600" defTabSz="914377">
              <a:buFont typeface="+mj-lt"/>
              <a:buAutoNum type="arabicPeriod"/>
              <a:defRPr/>
            </a:pPr>
            <a:endParaRPr lang="en-US" dirty="0">
              <a:solidFill>
                <a:srgbClr val="000000"/>
              </a:solidFill>
            </a:endParaRPr>
          </a:p>
          <a:p>
            <a:pPr marL="228600" lvl="1" indent="-228600" defTabSz="914377">
              <a:buFont typeface="+mj-lt"/>
              <a:buAutoNum type="arabicPeriod"/>
              <a:defRPr/>
            </a:pPr>
            <a:endParaRPr lang="en-US" dirty="0">
              <a:solidFill>
                <a:srgbClr val="000000"/>
              </a:solidFill>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A8FFD01A-DB4A-F039-A942-1A8A24876523}"/>
              </a:ext>
            </a:extLst>
          </p:cNvPr>
          <p:cNvSpPr/>
          <p:nvPr/>
        </p:nvSpPr>
        <p:spPr>
          <a:xfrm>
            <a:off x="9001693" y="-917313"/>
            <a:ext cx="2682082" cy="704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NWC detail showing break-out of challenges to sell-side adjustments (avg. FY22-24 and year ends). Commentary to focus on basis of challenge and alternative view (as relevant)</a:t>
            </a:r>
          </a:p>
        </p:txBody>
      </p:sp>
      <p:pic>
        <p:nvPicPr>
          <p:cNvPr id="20" name="Picture 19">
            <a:extLst>
              <a:ext uri="{FF2B5EF4-FFF2-40B4-BE49-F238E27FC236}">
                <a16:creationId xmlns:a16="http://schemas.microsoft.com/office/drawing/2014/main" id="{AAA755DC-BC47-CA42-1CF7-E3FAB9FF8B90}"/>
              </a:ext>
            </a:extLst>
          </p:cNvPr>
          <p:cNvPicPr>
            <a:picLocks noChangeAspect="1"/>
          </p:cNvPicPr>
          <p:nvPr>
            <p:custDataLst>
              <p:tags r:id="rId4"/>
            </p:custDataLst>
          </p:nvPr>
        </p:nvPicPr>
        <p:blipFill>
          <a:blip r:embed="rId10"/>
          <a:stretch>
            <a:fillRect/>
          </a:stretch>
        </p:blipFill>
        <p:spPr>
          <a:xfrm>
            <a:off x="-2793400" y="1642618"/>
            <a:ext cx="2030144" cy="2267909"/>
          </a:xfrm>
          <a:prstGeom prst="rect">
            <a:avLst/>
          </a:prstGeom>
        </p:spPr>
      </p:pic>
      <p:sp>
        <p:nvSpPr>
          <p:cNvPr id="7" name="Text Placeholder 12">
            <a:extLst>
              <a:ext uri="{FF2B5EF4-FFF2-40B4-BE49-F238E27FC236}">
                <a16:creationId xmlns:a16="http://schemas.microsoft.com/office/drawing/2014/main" id="{DC1E107D-07D3-C4A3-525F-873AB41693DE}"/>
              </a:ext>
            </a:extLst>
          </p:cNvPr>
          <p:cNvSpPr txBox="1">
            <a:spLocks/>
          </p:cNvSpPr>
          <p:nvPr/>
        </p:nvSpPr>
        <p:spPr>
          <a:xfrm>
            <a:off x="998400" y="423964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3" name="Picture 12">
            <a:extLst>
              <a:ext uri="{FF2B5EF4-FFF2-40B4-BE49-F238E27FC236}">
                <a16:creationId xmlns:a16="http://schemas.microsoft.com/office/drawing/2014/main" id="{9EA537CB-0C6B-FEFA-0421-EB4C10DAF3F6}"/>
              </a:ext>
            </a:extLst>
          </p:cNvPr>
          <p:cNvPicPr>
            <a:picLocks noChangeAspect="1"/>
          </p:cNvPicPr>
          <p:nvPr>
            <p:custDataLst>
              <p:tags r:id="rId5"/>
            </p:custDataLst>
          </p:nvPr>
        </p:nvPicPr>
        <p:blipFill>
          <a:blip r:embed="rId11"/>
          <a:stretch>
            <a:fillRect/>
          </a:stretch>
        </p:blipFill>
        <p:spPr>
          <a:xfrm>
            <a:off x="991774" y="1330359"/>
            <a:ext cx="4764024" cy="2909290"/>
          </a:xfrm>
          <a:prstGeom prst="rect">
            <a:avLst/>
          </a:prstGeom>
        </p:spPr>
      </p:pic>
      <p:grpSp>
        <p:nvGrpSpPr>
          <p:cNvPr id="31" name="Group 30">
            <a:extLst>
              <a:ext uri="{FF2B5EF4-FFF2-40B4-BE49-F238E27FC236}">
                <a16:creationId xmlns:a16="http://schemas.microsoft.com/office/drawing/2014/main" id="{F057A340-9EEA-2B81-4724-484D62FD61B0}"/>
              </a:ext>
            </a:extLst>
          </p:cNvPr>
          <p:cNvGrpSpPr/>
          <p:nvPr>
            <p:custDataLst>
              <p:tags r:id="rId6"/>
            </p:custDataLst>
          </p:nvPr>
        </p:nvGrpSpPr>
        <p:grpSpPr>
          <a:xfrm>
            <a:off x="995364" y="153170"/>
            <a:ext cx="5059950" cy="195814"/>
            <a:chOff x="995364" y="153170"/>
            <a:chExt cx="5059950" cy="195814"/>
          </a:xfrm>
        </p:grpSpPr>
        <p:sp>
          <p:nvSpPr>
            <p:cNvPr id="33"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5" name="Current Section3">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6"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7"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43440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challenges to sell-side adjustments (2/2</a:t>
            </a:r>
            <a:r>
              <a:rPr lang="en-CA" dirty="0"/>
              <a:t>)</a:t>
            </a:r>
            <a:endParaRPr lang="en-US" dirty="0"/>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856282" y="1588985"/>
            <a:ext cx="5337318" cy="4585572"/>
          </a:xfrm>
        </p:spPr>
        <p:txBody>
          <a:bodyPr/>
          <a:lstStyle/>
          <a:p>
            <a:pPr marL="228600" lvl="1" indent="-228600" defTabSz="914377">
              <a:buFont typeface="+mj-lt"/>
              <a:buAutoNum type="arabicPeriod" startAt="5"/>
              <a:defRPr/>
            </a:pPr>
            <a:r>
              <a:rPr lang="en-US" b="1" dirty="0">
                <a:solidFill>
                  <a:srgbClr val="000000"/>
                </a:solidFill>
              </a:rPr>
              <a:t>Override: </a:t>
            </a:r>
            <a:r>
              <a:rPr lang="en-US" dirty="0">
                <a:solidFill>
                  <a:srgbClr val="000000"/>
                </a:solidFill>
              </a:rPr>
              <a:t>Consistent with our quality of earnings  analysis, we have added back the net working capital impact of the sell-side adjustments pertaining to override revenue on the basis that this income is considered to be one-time in nature. Refer to adj. #10 where we discuss the amounts in reported net working capital pertaining to overrides are discussed.</a:t>
            </a:r>
            <a:r>
              <a:rPr lang="en-US" b="1" dirty="0">
                <a:solidFill>
                  <a:srgbClr val="000000"/>
                </a:solidFill>
              </a:rPr>
              <a:t> </a:t>
            </a:r>
          </a:p>
          <a:p>
            <a:pPr marL="228600" lvl="1" indent="-228600" defTabSz="914377">
              <a:buFont typeface="+mj-lt"/>
              <a:buAutoNum type="arabicPeriod" startAt="5"/>
              <a:defRPr/>
            </a:pPr>
            <a:r>
              <a:rPr lang="en-US" b="1" dirty="0">
                <a:solidFill>
                  <a:srgbClr val="000000"/>
                </a:solidFill>
              </a:rPr>
              <a:t>PF recurring audit costs: </a:t>
            </a:r>
            <a:r>
              <a:rPr lang="en-US" dirty="0">
                <a:solidFill>
                  <a:srgbClr val="000000"/>
                </a:solidFill>
              </a:rPr>
              <a:t>Reflects the net working capital impact of reversing the sell-side quality of earnings  adjustment for audit fees normalization in FY23, which is assumed to be settled on 45 day payment terms in the sell-side due diligence analysis. </a:t>
            </a:r>
            <a:endParaRPr lang="en-US" b="1" dirty="0">
              <a:solidFill>
                <a:srgbClr val="000000"/>
              </a:solidFill>
            </a:endParaRPr>
          </a:p>
          <a:p>
            <a:pPr marL="228600" lvl="1" indent="-228600" defTabSz="914377">
              <a:buFont typeface="+mj-lt"/>
              <a:buAutoNum type="arabicPeriod" startAt="5"/>
              <a:defRPr/>
            </a:pPr>
            <a:r>
              <a:rPr lang="en-US" b="1" dirty="0">
                <a:solidFill>
                  <a:srgbClr val="000000"/>
                </a:solidFill>
              </a:rPr>
              <a:t>Excess cash – Paul Senay: </a:t>
            </a:r>
            <a:r>
              <a:rPr lang="en-US" dirty="0">
                <a:solidFill>
                  <a:srgbClr val="000000"/>
                </a:solidFill>
              </a:rPr>
              <a:t>The sell-side net working capital analysis included a pro forma adjustment to include pre-acquisition working capital reported by the Paul Senay business which was acquired in December 2023. However, this adjustment did not reflect the normalization of excess cash held in trust in the business during periods prior to its acquisition, consistent with the other sell-side adjustment pertaining to excess cash. Our calculations indicate that elimination of excess cash from pre-acquisition reported working capital in Paul Senay would result in a $0.1 million downward adjustment to average net working capital in FY23.</a:t>
            </a:r>
            <a:r>
              <a:rPr lang="en-US" b="1" dirty="0">
                <a:solidFill>
                  <a:srgbClr val="000000"/>
                </a:solidFill>
              </a:rPr>
              <a:t> </a:t>
            </a:r>
          </a:p>
          <a:p>
            <a:pPr marL="228600" lvl="1" indent="-228600" defTabSz="914377">
              <a:buFont typeface="+mj-lt"/>
              <a:buAutoNum type="arabicPeriod" startAt="5"/>
              <a:defRPr/>
            </a:pPr>
            <a:r>
              <a:rPr lang="en-US" b="1" dirty="0">
                <a:solidFill>
                  <a:srgbClr val="000000"/>
                </a:solidFill>
              </a:rPr>
              <a:t>Excess cash – premiums aged over 90 days: </a:t>
            </a:r>
            <a:r>
              <a:rPr lang="en-US" dirty="0">
                <a:solidFill>
                  <a:srgbClr val="000000"/>
                </a:solidFill>
              </a:rPr>
              <a:t>The sell-side adjustment to exclude surplus funds held in trust accounts did not consider premiums receivable aged greater than 90 days which are disallowed in the computation of monthly in trust requirements. We estimate the impact of excluding premiums receivable aged for more than 90 days in minimum trust calculations by reference to aging schedules of operating companies at </a:t>
            </a:r>
            <a:r>
              <a:rPr lang="en-US">
                <a:solidFill>
                  <a:srgbClr val="000000"/>
                </a:solidFill>
              </a:rPr>
              <a:t>December 31, 2023 </a:t>
            </a:r>
            <a:r>
              <a:rPr lang="en-US" dirty="0">
                <a:solidFill>
                  <a:srgbClr val="000000"/>
                </a:solidFill>
              </a:rPr>
              <a:t>which indicated average premiums receivable more than 90 days outstanding was </a:t>
            </a:r>
            <a:r>
              <a:rPr lang="en-US">
                <a:solidFill>
                  <a:srgbClr val="000000"/>
                </a:solidFill>
              </a:rPr>
              <a:t>approximately</a:t>
            </a:r>
            <a:r>
              <a:rPr lang="en-US" dirty="0">
                <a:solidFill>
                  <a:srgbClr val="000000"/>
                </a:solidFill>
              </a:rPr>
              <a:t> 3.9% of the total balance. </a:t>
            </a:r>
            <a:endParaRPr lang="en-US" b="1" dirty="0">
              <a:solidFill>
                <a:srgbClr val="000000"/>
              </a:solidFill>
            </a:endParaRP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A8FFD01A-DB4A-F039-A942-1A8A24876523}"/>
              </a:ext>
            </a:extLst>
          </p:cNvPr>
          <p:cNvSpPr/>
          <p:nvPr/>
        </p:nvSpPr>
        <p:spPr>
          <a:xfrm>
            <a:off x="7545173" y="-1115811"/>
            <a:ext cx="2682082" cy="704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NWC detail showing break-out of challenges to sell-side adjustments (avg. FY22-24 and year ends). Commentary to focus on basis of challenge and alternative view (as relevant)</a:t>
            </a:r>
          </a:p>
        </p:txBody>
      </p:sp>
      <p:sp>
        <p:nvSpPr>
          <p:cNvPr id="29" name="Text Placeholder 11">
            <a:extLst>
              <a:ext uri="{FF2B5EF4-FFF2-40B4-BE49-F238E27FC236}">
                <a16:creationId xmlns:a16="http://schemas.microsoft.com/office/drawing/2014/main" id="{EC5E8EE9-5AF1-5049-CA3F-CB18DFE61FFA}"/>
              </a:ext>
            </a:extLst>
          </p:cNvPr>
          <p:cNvSpPr>
            <a:spLocks noGrp="1"/>
          </p:cNvSpPr>
          <p:nvPr>
            <p:ph type="body" sz="quarter" idx="11"/>
          </p:nvPr>
        </p:nvSpPr>
        <p:spPr>
          <a:xfrm>
            <a:off x="5886408" y="1333228"/>
            <a:ext cx="5313405" cy="252000"/>
          </a:xfrm>
        </p:spPr>
        <p:txBody>
          <a:bodyPr/>
          <a:lstStyle/>
          <a:p>
            <a:r>
              <a:rPr lang="fi-FI"/>
              <a:t>Challenges to sell-side adjustments (continued)</a:t>
            </a:r>
          </a:p>
        </p:txBody>
      </p:sp>
      <p:sp>
        <p:nvSpPr>
          <p:cNvPr id="12" name="Text Placeholder 12">
            <a:extLst>
              <a:ext uri="{FF2B5EF4-FFF2-40B4-BE49-F238E27FC236}">
                <a16:creationId xmlns:a16="http://schemas.microsoft.com/office/drawing/2014/main" id="{BC0AE94A-A4B0-C2AB-DAD1-50D30FB9F2CC}"/>
              </a:ext>
            </a:extLst>
          </p:cNvPr>
          <p:cNvSpPr txBox="1">
            <a:spLocks/>
          </p:cNvSpPr>
          <p:nvPr/>
        </p:nvSpPr>
        <p:spPr>
          <a:xfrm>
            <a:off x="998400" y="423964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3" name="Picture 12">
            <a:extLst>
              <a:ext uri="{FF2B5EF4-FFF2-40B4-BE49-F238E27FC236}">
                <a16:creationId xmlns:a16="http://schemas.microsoft.com/office/drawing/2014/main" id="{B4A4A896-AEC1-B927-B37E-8A5C2B435F4E}"/>
              </a:ext>
            </a:extLst>
          </p:cNvPr>
          <p:cNvPicPr>
            <a:picLocks noChangeAspect="1"/>
          </p:cNvPicPr>
          <p:nvPr>
            <p:custDataLst>
              <p:tags r:id="rId4"/>
            </p:custDataLst>
          </p:nvPr>
        </p:nvPicPr>
        <p:blipFill>
          <a:blip r:embed="rId9"/>
          <a:stretch>
            <a:fillRect/>
          </a:stretch>
        </p:blipFill>
        <p:spPr>
          <a:xfrm>
            <a:off x="991774" y="1330359"/>
            <a:ext cx="4764024" cy="2909290"/>
          </a:xfrm>
          <a:prstGeom prst="rect">
            <a:avLst/>
          </a:prstGeom>
        </p:spPr>
      </p:pic>
      <p:grpSp>
        <p:nvGrpSpPr>
          <p:cNvPr id="26" name="Group 25">
            <a:extLst>
              <a:ext uri="{FF2B5EF4-FFF2-40B4-BE49-F238E27FC236}">
                <a16:creationId xmlns:a16="http://schemas.microsoft.com/office/drawing/2014/main" id="{F057A340-9EEA-2B81-4724-484D62FD61B0}"/>
              </a:ext>
            </a:extLst>
          </p:cNvPr>
          <p:cNvGrpSpPr/>
          <p:nvPr>
            <p:custDataLst>
              <p:tags r:id="rId5"/>
            </p:custDataLst>
          </p:nvPr>
        </p:nvGrpSpPr>
        <p:grpSpPr>
          <a:xfrm>
            <a:off x="995364" y="153170"/>
            <a:ext cx="5059950" cy="195814"/>
            <a:chOff x="995364" y="153170"/>
            <a:chExt cx="5059950" cy="195814"/>
          </a:xfrm>
        </p:grpSpPr>
        <p:sp>
          <p:nvSpPr>
            <p:cNvPr id="30"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4"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5"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37218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395" imgH="394" progId="TCLayout.ActiveDocument.1">
                  <p:embed/>
                </p:oleObj>
              </mc:Choice>
              <mc:Fallback>
                <p:oleObj name="think-cell Slide" r:id="rId9"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other potential adjustments (1/2) </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5886408" y="1333228"/>
            <a:ext cx="5313405" cy="252000"/>
          </a:xfrm>
        </p:spPr>
        <p:txBody>
          <a:bodyPr/>
          <a:lstStyle/>
          <a:p>
            <a:r>
              <a:rPr lang="fi-FI"/>
              <a:t>Other potential adjustments (continued)</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893496" y="1585228"/>
            <a:ext cx="5313405" cy="5117230"/>
          </a:xfrm>
        </p:spPr>
        <p:txBody>
          <a:bodyPr/>
          <a:lstStyle/>
          <a:p>
            <a:pPr marL="228600" lvl="1" indent="-228600" defTabSz="914377">
              <a:buFont typeface="+mj-lt"/>
              <a:buAutoNum type="arabicPeriod" startAt="9"/>
              <a:defRPr/>
            </a:pPr>
            <a:r>
              <a:rPr lang="en-US" b="1" dirty="0"/>
              <a:t>CBN CPC income: </a:t>
            </a:r>
            <a:r>
              <a:rPr lang="en-US" dirty="0"/>
              <a:t>Illustrates the impact on CPC receivable of removing the out-of-period catch-up income from Aviva, consistent with its treatment in the quality of earnings analysis. </a:t>
            </a:r>
          </a:p>
          <a:p>
            <a:pPr marL="228600" lvl="1" indent="-228600" defTabSz="914377">
              <a:buFont typeface="+mj-lt"/>
              <a:buAutoNum type="arabicPeriod" startAt="9"/>
              <a:defRPr/>
            </a:pPr>
            <a:r>
              <a:rPr lang="en-US" b="1" dirty="0">
                <a:solidFill>
                  <a:srgbClr val="000000"/>
                </a:solidFill>
              </a:rPr>
              <a:t>Override: </a:t>
            </a:r>
            <a:r>
              <a:rPr lang="en-US" dirty="0">
                <a:solidFill>
                  <a:srgbClr val="000000"/>
                </a:solidFill>
              </a:rPr>
              <a:t>Override income generated on portfolio transfers between carriers has historically been received upfront, with Management deferring the recognition of override revenue until portfolio transfers are completed, typically in the twelve month period from the date of the agreement. Since all income associated with overrides is removed from EBITDA in the quality of earnings analysis, an adjustment to net working capital is proposed to add back deferred income balances related to advance override receipts, with average net working capital impact of $1.7 million in FY24. </a:t>
            </a:r>
          </a:p>
          <a:p>
            <a:pPr marL="228600" lvl="1" indent="-228600" defTabSz="914377">
              <a:buFont typeface="+mj-lt"/>
              <a:buAutoNum type="arabicPeriod" startAt="9"/>
              <a:defRPr/>
            </a:pPr>
            <a:r>
              <a:rPr lang="en-US" b="1" dirty="0"/>
              <a:t>Transaction costs: </a:t>
            </a:r>
            <a:r>
              <a:rPr lang="en-US" dirty="0"/>
              <a:t>Estimates the working capital impact if transaction expenses related to bolt-on acquisitions were included in the Company’s recurring cost base and incurred evenly over Historical Periods. The quantum of average annual transaction expenditure is based on actual costs incurred between FY22 and FY24.</a:t>
            </a:r>
          </a:p>
          <a:p>
            <a:pPr marL="228600" lvl="1" indent="-228600" defTabSz="914377">
              <a:buFont typeface="+mj-lt"/>
              <a:buAutoNum type="arabicPeriod" startAt="9"/>
              <a:defRPr/>
            </a:pPr>
            <a:r>
              <a:rPr lang="en-US" b="1" dirty="0"/>
              <a:t>CPC FY24 forecast:</a:t>
            </a:r>
            <a:r>
              <a:rPr lang="en-US" dirty="0"/>
              <a:t> CPC receivable is further adjusted to capture the impact of Management’s latest forecast for CPC income relating to risk year 2024 ($0.2 million) which is allocated over the period Jan-24-Dec-24 in line with base commission revenue. </a:t>
            </a:r>
          </a:p>
          <a:p>
            <a:pPr marL="228600" lvl="1" indent="-228600" defTabSz="914377">
              <a:buFont typeface="+mj-lt"/>
              <a:buAutoNum type="arabicPeriod" startAt="9"/>
              <a:defRPr/>
            </a:pPr>
            <a:r>
              <a:rPr lang="en-US" sz="1000" b="1" dirty="0">
                <a:solidFill>
                  <a:srgbClr val="000000"/>
                </a:solidFill>
              </a:rPr>
              <a:t>Synex Re: </a:t>
            </a:r>
            <a:r>
              <a:rPr lang="en-US" dirty="0"/>
              <a:t>As discussed in our quality of earnings analysis, the financial information of Synex Re Ltd. is not captured as part of the sell-side pro forma adjusted results. We present adjustment to include the net working capital impact associated with this entity based on trial balance information for the period since its incorporation.</a:t>
            </a: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27E20D28-DDD8-5CEF-423C-47F8B352ADA2}"/>
              </a:ext>
            </a:extLst>
          </p:cNvPr>
          <p:cNvSpPr/>
          <p:nvPr/>
        </p:nvSpPr>
        <p:spPr>
          <a:xfrm>
            <a:off x="8715813" y="-1301290"/>
            <a:ext cx="2985585" cy="10422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NWC detail showing break-out of potential adjustments (avg. FY22-24 and year ends). Commentary to describe new adjs. identified</a:t>
            </a:r>
          </a:p>
        </p:txBody>
      </p:sp>
      <p:pic>
        <p:nvPicPr>
          <p:cNvPr id="23" name="Picture 22">
            <a:extLst>
              <a:ext uri="{FF2B5EF4-FFF2-40B4-BE49-F238E27FC236}">
                <a16:creationId xmlns:a16="http://schemas.microsoft.com/office/drawing/2014/main" id="{E40F4F8D-72EC-48F8-494C-380040F122AC}"/>
              </a:ext>
            </a:extLst>
          </p:cNvPr>
          <p:cNvPicPr>
            <a:picLocks noChangeAspect="1"/>
          </p:cNvPicPr>
          <p:nvPr>
            <p:custDataLst>
              <p:tags r:id="rId4"/>
            </p:custDataLst>
          </p:nvPr>
        </p:nvPicPr>
        <p:blipFill>
          <a:blip r:embed="rId11"/>
          <a:stretch>
            <a:fillRect/>
          </a:stretch>
        </p:blipFill>
        <p:spPr>
          <a:xfrm>
            <a:off x="-2793400" y="2000758"/>
            <a:ext cx="2030144" cy="2274005"/>
          </a:xfrm>
          <a:prstGeom prst="rect">
            <a:avLst/>
          </a:prstGeom>
        </p:spPr>
      </p:pic>
      <p:sp>
        <p:nvSpPr>
          <p:cNvPr id="7" name="Text Placeholder 12">
            <a:extLst>
              <a:ext uri="{FF2B5EF4-FFF2-40B4-BE49-F238E27FC236}">
                <a16:creationId xmlns:a16="http://schemas.microsoft.com/office/drawing/2014/main" id="{6E24B14D-D192-538E-BC61-3C77322FB7CA}"/>
              </a:ext>
            </a:extLst>
          </p:cNvPr>
          <p:cNvSpPr txBox="1">
            <a:spLocks/>
          </p:cNvSpPr>
          <p:nvPr/>
        </p:nvSpPr>
        <p:spPr>
          <a:xfrm>
            <a:off x="997799" y="445755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3" name="Picture 12">
            <a:extLst>
              <a:ext uri="{FF2B5EF4-FFF2-40B4-BE49-F238E27FC236}">
                <a16:creationId xmlns:a16="http://schemas.microsoft.com/office/drawing/2014/main" id="{637A63DB-2C34-43D9-D22D-6366A403B273}"/>
              </a:ext>
            </a:extLst>
          </p:cNvPr>
          <p:cNvPicPr>
            <a:picLocks noChangeAspect="1"/>
          </p:cNvPicPr>
          <p:nvPr>
            <p:custDataLst>
              <p:tags r:id="rId5"/>
            </p:custDataLst>
          </p:nvPr>
        </p:nvPicPr>
        <p:blipFill>
          <a:blip r:embed="rId12"/>
          <a:stretch>
            <a:fillRect/>
          </a:stretch>
        </p:blipFill>
        <p:spPr>
          <a:xfrm>
            <a:off x="992187" y="1333228"/>
            <a:ext cx="4764024" cy="3117978"/>
          </a:xfrm>
          <a:prstGeom prst="rect">
            <a:avLst/>
          </a:prstGeom>
        </p:spPr>
      </p:pic>
      <p:grpSp>
        <p:nvGrpSpPr>
          <p:cNvPr id="31" name="Group 30">
            <a:extLst>
              <a:ext uri="{FF2B5EF4-FFF2-40B4-BE49-F238E27FC236}">
                <a16:creationId xmlns:a16="http://schemas.microsoft.com/office/drawing/2014/main" id="{F057A340-9EEA-2B81-4724-484D62FD61B0}"/>
              </a:ext>
            </a:extLst>
          </p:cNvPr>
          <p:cNvGrpSpPr/>
          <p:nvPr>
            <p:custDataLst>
              <p:tags r:id="rId6"/>
            </p:custDataLst>
          </p:nvPr>
        </p:nvGrpSpPr>
        <p:grpSpPr>
          <a:xfrm>
            <a:off x="995364" y="153170"/>
            <a:ext cx="5059950" cy="195814"/>
            <a:chOff x="995364" y="153170"/>
            <a:chExt cx="5059950" cy="195814"/>
          </a:xfrm>
        </p:grpSpPr>
        <p:sp>
          <p:nvSpPr>
            <p:cNvPr id="33"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5" name="Current Section3">
              <a:hlinkClick r:id="rId15"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6"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7"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958392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Net working capital — other potential adjustments (2/2) </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893496" y="1585228"/>
            <a:ext cx="5313405" cy="5117230"/>
          </a:xfrm>
        </p:spPr>
        <p:txBody>
          <a:bodyPr/>
          <a:lstStyle/>
          <a:p>
            <a:pPr marL="228600" lvl="1" indent="-228600" defTabSz="914377">
              <a:buFont typeface="+mj-lt"/>
              <a:buAutoNum type="arabicPeriod" startAt="14"/>
              <a:defRPr/>
            </a:pPr>
            <a:r>
              <a:rPr lang="en-US" b="1" dirty="0"/>
              <a:t>Internal replacement costs: </a:t>
            </a:r>
            <a:r>
              <a:rPr lang="en-US" dirty="0"/>
              <a:t>The quality of earnings analysis presents an adjustment to reflect the cost base of current accounting and IT departments through all Historical Periods in order to capture the internal cost impact of fulfilling accounting and IT responsibilities which were historically supported by third party providers. The adjustment opposite reflects the impact of these costs on monthly payroll accruals in FY23 and TTM Oct-24.</a:t>
            </a:r>
            <a:endParaRPr lang="en-US" b="1" dirty="0"/>
          </a:p>
          <a:p>
            <a:pPr marL="228600" lvl="1" indent="-228600" defTabSz="914377">
              <a:buFont typeface="+mj-lt"/>
              <a:buAutoNum type="arabicPeriod" startAt="14"/>
              <a:defRPr/>
            </a:pPr>
            <a:r>
              <a:rPr lang="en-US" b="1" dirty="0"/>
              <a:t>GTI salaries true-up: </a:t>
            </a:r>
            <a:r>
              <a:rPr lang="en-US" dirty="0"/>
              <a:t>We understand a payroll expense true-up was recognized in December 2024 in GTI Broker Group Inc. which related to the full year FY24. The impact of this adjustment to net working capital is quantified opposite by re-allocating the true-up over FY24 and estimating the resulting payroll accrual impact. </a:t>
            </a:r>
          </a:p>
          <a:p>
            <a:pPr marL="228600" lvl="1" indent="-228600" defTabSz="914377">
              <a:buFont typeface="+mj-lt"/>
              <a:buAutoNum type="arabicPeriod" startAt="14"/>
              <a:defRPr/>
            </a:pPr>
            <a:r>
              <a:rPr lang="en-CA" b="1" dirty="0"/>
              <a:t>BMB Assurances acquisition</a:t>
            </a:r>
            <a:r>
              <a:rPr lang="en-US" b="1" dirty="0"/>
              <a:t>: </a:t>
            </a:r>
            <a:r>
              <a:rPr lang="en-US" dirty="0"/>
              <a:t>Consistent with our quality of earnings analysis, we include monthly pre-acquisition net working capital associated with BMB Assurances which was acquired in Feb-25. The historical working capital reported by this business is based on the sell-side due diligence report relating to the business which indicated average net working capital of $0.5 million for FY24. The purchase of a small book of business related to Daniel Belley in Jan-25 is expected to have a negligible working capital impact and, as a result, has not been quantified.</a:t>
            </a:r>
          </a:p>
          <a:p>
            <a:pPr marL="228600" lvl="1" indent="-228600" defTabSz="914377">
              <a:buFont typeface="+mj-lt"/>
              <a:buAutoNum type="arabicPeriod" startAt="14"/>
              <a:defRPr/>
            </a:pPr>
            <a:r>
              <a:rPr lang="en-US" sz="1000" b="1" dirty="0">
                <a:solidFill>
                  <a:srgbClr val="000000"/>
                </a:solidFill>
              </a:rPr>
              <a:t>Adjusting entries in current assets:</a:t>
            </a:r>
            <a:r>
              <a:rPr lang="en-US" sz="1000" b="1" i="1" dirty="0">
                <a:solidFill>
                  <a:srgbClr val="000000"/>
                </a:solidFill>
              </a:rPr>
              <a:t> </a:t>
            </a:r>
            <a:r>
              <a:rPr lang="en-US" sz="1000" i="1" dirty="0">
                <a:solidFill>
                  <a:srgbClr val="FF0000"/>
                </a:solidFill>
              </a:rPr>
              <a:t>[Waiting on management responses.]</a:t>
            </a:r>
          </a:p>
          <a:p>
            <a:pPr marL="228600" lvl="1" indent="-228600" defTabSz="914377">
              <a:buFont typeface="+mj-lt"/>
              <a:buAutoNum type="arabicPeriod" startAt="14"/>
              <a:defRPr/>
            </a:pPr>
            <a:r>
              <a:rPr lang="en-US" b="1" dirty="0">
                <a:solidFill>
                  <a:srgbClr val="000000"/>
                </a:solidFill>
              </a:rPr>
              <a:t>Capex payables:</a:t>
            </a:r>
            <a:r>
              <a:rPr lang="en-US" dirty="0">
                <a:solidFill>
                  <a:srgbClr val="000000"/>
                </a:solidFill>
              </a:rPr>
              <a:t> We present an adjustment to sell-side adjusted net working capital to exclude capital supplier payable balances in the Historical Period which are not related to core business operations.</a:t>
            </a:r>
            <a:r>
              <a:rPr lang="en-US" dirty="0"/>
              <a:t> Management also indicated that certain internal IT staff costs were capitalized during FY24 relating to the development of a new broker management system in GTI. </a:t>
            </a:r>
            <a:r>
              <a:rPr lang="en-US" dirty="0">
                <a:solidFill>
                  <a:srgbClr val="000000"/>
                </a:solidFill>
              </a:rPr>
              <a:t>The adjustment quantified is based on actual monthly capex spend incurred between January 2023 and October 2024 and average vendor payment terms of 45 days. Capex incurred through the Historical Period mainly related to purchases of IT equipment and software. Refer to Appendix 4 for breakdown of capital spending.</a:t>
            </a:r>
          </a:p>
          <a:p>
            <a:pPr marL="228600" lvl="1" indent="-228600" defTabSz="914377">
              <a:buFont typeface="+mj-lt"/>
              <a:buAutoNum type="arabicPeriod" startAt="14"/>
              <a:defRPr/>
            </a:pPr>
            <a:endParaRPr lang="en-US" dirty="0"/>
          </a:p>
          <a:p>
            <a:pPr marL="228600" lvl="2" indent="-228600">
              <a:buFont typeface="+mj-lt"/>
              <a:buAutoNum type="arabicPeriod" startAt="14"/>
            </a:pPr>
            <a:endParaRPr lang="en-US" dirty="0"/>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sp>
        <p:nvSpPr>
          <p:cNvPr id="19" name="Rectangle 18">
            <a:extLst>
              <a:ext uri="{FF2B5EF4-FFF2-40B4-BE49-F238E27FC236}">
                <a16:creationId xmlns:a16="http://schemas.microsoft.com/office/drawing/2014/main" id="{27E20D28-DDD8-5CEF-423C-47F8B352ADA2}"/>
              </a:ext>
            </a:extLst>
          </p:cNvPr>
          <p:cNvSpPr/>
          <p:nvPr/>
        </p:nvSpPr>
        <p:spPr>
          <a:xfrm>
            <a:off x="8627400" y="-1093629"/>
            <a:ext cx="2985585" cy="10422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NWC detail showing break-out of potential adjustments (avg. FY22-24 and year ends). Commentary to describe new adjs. identified</a:t>
            </a:r>
          </a:p>
        </p:txBody>
      </p:sp>
      <p:sp>
        <p:nvSpPr>
          <p:cNvPr id="24" name="Text Placeholder 11">
            <a:extLst>
              <a:ext uri="{FF2B5EF4-FFF2-40B4-BE49-F238E27FC236}">
                <a16:creationId xmlns:a16="http://schemas.microsoft.com/office/drawing/2014/main" id="{CC2D7D72-85FB-EFA6-5576-F9F64379BDD9}"/>
              </a:ext>
            </a:extLst>
          </p:cNvPr>
          <p:cNvSpPr>
            <a:spLocks noGrp="1"/>
          </p:cNvSpPr>
          <p:nvPr>
            <p:ph type="body" sz="quarter" idx="11"/>
          </p:nvPr>
        </p:nvSpPr>
        <p:spPr>
          <a:xfrm>
            <a:off x="5886408" y="1333228"/>
            <a:ext cx="5313405" cy="252000"/>
          </a:xfrm>
        </p:spPr>
        <p:txBody>
          <a:bodyPr/>
          <a:lstStyle/>
          <a:p>
            <a:r>
              <a:rPr lang="fi-FI"/>
              <a:t>Other potential adjustments (continued)</a:t>
            </a:r>
          </a:p>
        </p:txBody>
      </p:sp>
      <p:sp>
        <p:nvSpPr>
          <p:cNvPr id="11" name="Text Placeholder 12">
            <a:extLst>
              <a:ext uri="{FF2B5EF4-FFF2-40B4-BE49-F238E27FC236}">
                <a16:creationId xmlns:a16="http://schemas.microsoft.com/office/drawing/2014/main" id="{9978ABE5-38A1-85C8-636D-0E974869D28E}"/>
              </a:ext>
            </a:extLst>
          </p:cNvPr>
          <p:cNvSpPr txBox="1">
            <a:spLocks/>
          </p:cNvSpPr>
          <p:nvPr/>
        </p:nvSpPr>
        <p:spPr>
          <a:xfrm>
            <a:off x="997799" y="445755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2" name="Picture 11">
            <a:extLst>
              <a:ext uri="{FF2B5EF4-FFF2-40B4-BE49-F238E27FC236}">
                <a16:creationId xmlns:a16="http://schemas.microsoft.com/office/drawing/2014/main" id="{A8FBE113-241F-2C13-0550-A06E71FB98C1}"/>
              </a:ext>
            </a:extLst>
          </p:cNvPr>
          <p:cNvPicPr>
            <a:picLocks noChangeAspect="1"/>
          </p:cNvPicPr>
          <p:nvPr>
            <p:custDataLst>
              <p:tags r:id="rId4"/>
            </p:custDataLst>
          </p:nvPr>
        </p:nvPicPr>
        <p:blipFill>
          <a:blip r:embed="rId10"/>
          <a:stretch>
            <a:fillRect/>
          </a:stretch>
        </p:blipFill>
        <p:spPr>
          <a:xfrm>
            <a:off x="992187" y="1333228"/>
            <a:ext cx="4764024" cy="3117978"/>
          </a:xfrm>
          <a:prstGeom prst="rect">
            <a:avLst/>
          </a:prstGeom>
        </p:spPr>
      </p:pic>
      <p:grpSp>
        <p:nvGrpSpPr>
          <p:cNvPr id="28" name="Group 27">
            <a:extLst>
              <a:ext uri="{FF2B5EF4-FFF2-40B4-BE49-F238E27FC236}">
                <a16:creationId xmlns:a16="http://schemas.microsoft.com/office/drawing/2014/main" id="{F057A340-9EEA-2B81-4724-484D62FD61B0}"/>
              </a:ext>
            </a:extLst>
          </p:cNvPr>
          <p:cNvGrpSpPr/>
          <p:nvPr>
            <p:custDataLst>
              <p:tags r:id="rId5"/>
            </p:custDataLst>
          </p:nvPr>
        </p:nvGrpSpPr>
        <p:grpSpPr>
          <a:xfrm>
            <a:off x="995364" y="153170"/>
            <a:ext cx="5059950" cy="195814"/>
            <a:chOff x="995364" y="153170"/>
            <a:chExt cx="5059950" cy="195814"/>
          </a:xfrm>
        </p:grpSpPr>
        <p:sp>
          <p:nvSpPr>
            <p:cNvPr id="29"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4"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00827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Adjusted net working capital (1/2)</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5463356" y="1333228"/>
            <a:ext cx="5736457" cy="252000"/>
          </a:xfrm>
        </p:spPr>
        <p:txBody>
          <a:bodyPr/>
          <a:lstStyle/>
          <a:p>
            <a:r>
              <a:rPr lang="fi-FI"/>
              <a:t>Overview</a:t>
            </a:r>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a:xfrm>
            <a:off x="993145" y="993896"/>
            <a:ext cx="10206668" cy="460800"/>
          </a:xfrm>
        </p:spPr>
        <p:txBody>
          <a:bodyPr/>
          <a:lstStyle/>
          <a:p>
            <a:r>
              <a:rPr lang="fi-FI"/>
              <a:t>Average adjusted net working capital increased to $13.9 million in FY24 (FY23: $12.4 million) primarily as a result of an increase of $2.0 million in CPC receivables.</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463356" y="1597104"/>
            <a:ext cx="5736457" cy="3865371"/>
          </a:xfrm>
        </p:spPr>
        <p:txBody>
          <a:bodyPr/>
          <a:lstStyle/>
          <a:p>
            <a:pPr lvl="1" defTabSz="914377">
              <a:defRPr/>
            </a:pPr>
            <a:r>
              <a:rPr lang="en-US" b="1" dirty="0"/>
              <a:t>Cash separated from brokerage:</a:t>
            </a:r>
            <a:r>
              <a:rPr lang="en-US" dirty="0"/>
              <a:t> Cash separated from brokerage reflects cash balances held in brokerage accounts to cover both net premiums payable to carriers under agency billing arrangements; and government payables. The decrease in average cash in brokerage accounts between FY23 and FY24 is offset by corresponding growth in net premiums owing. The month-end in trust cash requirement is separately computed for each operating entity in the Company through the Historical Period.</a:t>
            </a:r>
          </a:p>
          <a:p>
            <a:pPr lvl="1" defTabSz="914377">
              <a:defRPr/>
            </a:pPr>
            <a:r>
              <a:rPr lang="en-US" b="1" dirty="0"/>
              <a:t>Accounts receivable: </a:t>
            </a:r>
            <a:r>
              <a:rPr lang="en-US" dirty="0"/>
              <a:t>Include base commission amounts due from carriers under direct billing arrangements which are typically recovered within 60 days of policy sale. The increase from an average monthly balance of $6.0 million in FY23 to $6.4 million in FY24 is aligned to growth in base commission revenue over the same period.</a:t>
            </a:r>
            <a:endParaRPr lang="en-US" b="1" dirty="0"/>
          </a:p>
          <a:p>
            <a:pPr lvl="1" defTabSz="914377">
              <a:defRPr/>
            </a:pPr>
            <a:r>
              <a:rPr lang="en-US" b="1" dirty="0"/>
              <a:t>CPC receivable: </a:t>
            </a:r>
            <a:r>
              <a:rPr lang="en-US" dirty="0"/>
              <a:t>Contingent commissions are typically received annually from carriers and accrued on a monthly basis through the year. Management indicated there were no overdue or legacy balances included in adjusted CPC receivables through the Historical Period.</a:t>
            </a:r>
          </a:p>
          <a:p>
            <a:pPr lvl="1" defTabSz="914377">
              <a:defRPr/>
            </a:pPr>
            <a:r>
              <a:rPr lang="en-US" b="1" dirty="0"/>
              <a:t>Premiums receivable and premiums payable:</a:t>
            </a:r>
            <a:r>
              <a:rPr lang="en-US" dirty="0"/>
              <a:t> Premiums receivable from customers were largely offset by corresponding amounts payable to carriers on an average basis through the Historical Period, with any funds deficit compensated through cash held in trust. Growth in net premiums due from customers between FY23 and FY24 is attributed to year-on-year base commission growth in P&amp;C brokerage.</a:t>
            </a:r>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net working capital</a:t>
            </a:r>
          </a:p>
        </p:txBody>
      </p:sp>
      <p:sp>
        <p:nvSpPr>
          <p:cNvPr id="7" name="Rectangle 6">
            <a:extLst>
              <a:ext uri="{FF2B5EF4-FFF2-40B4-BE49-F238E27FC236}">
                <a16:creationId xmlns:a16="http://schemas.microsoft.com/office/drawing/2014/main" id="{C31D25DE-0935-D391-72A0-73E619ECF301}"/>
              </a:ext>
            </a:extLst>
          </p:cNvPr>
          <p:cNvSpPr/>
          <p:nvPr/>
        </p:nvSpPr>
        <p:spPr>
          <a:xfrm>
            <a:off x="8715813" y="-1279903"/>
            <a:ext cx="3353417" cy="11118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NWC: avg. FY22-24 and year ends – full breakout of captions</a:t>
            </a:r>
          </a:p>
          <a:p>
            <a:pPr algn="ctr"/>
            <a:r>
              <a:rPr lang="en-US" sz="900" dirty="0">
                <a:solidFill>
                  <a:schemeClr val="bg1"/>
                </a:solidFill>
              </a:rPr>
              <a:t>Monthly chart for LTM &amp; line for NWC</a:t>
            </a:r>
          </a:p>
          <a:p>
            <a:pPr algn="ctr"/>
            <a:r>
              <a:rPr lang="en-US" sz="900" dirty="0">
                <a:solidFill>
                  <a:schemeClr val="bg1"/>
                </a:solidFill>
              </a:rPr>
              <a:t>Commentary to focus on drivers of trends, KPIs and days</a:t>
            </a:r>
          </a:p>
          <a:p>
            <a:pPr algn="ctr"/>
            <a:r>
              <a:rPr lang="en-US" sz="900" dirty="0">
                <a:solidFill>
                  <a:schemeClr val="bg1"/>
                </a:solidFill>
              </a:rPr>
              <a:t>(cross ref to appendix for full bridge)</a:t>
            </a:r>
          </a:p>
        </p:txBody>
      </p:sp>
      <p:sp>
        <p:nvSpPr>
          <p:cNvPr id="20" name="Text Placeholder 12">
            <a:extLst>
              <a:ext uri="{FF2B5EF4-FFF2-40B4-BE49-F238E27FC236}">
                <a16:creationId xmlns:a16="http://schemas.microsoft.com/office/drawing/2014/main" id="{731E59F2-779C-8412-CD84-B4DFD98EDE7A}"/>
              </a:ext>
            </a:extLst>
          </p:cNvPr>
          <p:cNvSpPr txBox="1">
            <a:spLocks/>
          </p:cNvSpPr>
          <p:nvPr/>
        </p:nvSpPr>
        <p:spPr>
          <a:xfrm>
            <a:off x="1003312" y="414216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9" name="Picture 18">
            <a:extLst>
              <a:ext uri="{FF2B5EF4-FFF2-40B4-BE49-F238E27FC236}">
                <a16:creationId xmlns:a16="http://schemas.microsoft.com/office/drawing/2014/main" id="{8AF3EBD7-1AC8-3B21-554D-ED81498A8A05}"/>
              </a:ext>
            </a:extLst>
          </p:cNvPr>
          <p:cNvPicPr>
            <a:picLocks noChangeAspect="1"/>
          </p:cNvPicPr>
          <p:nvPr>
            <p:custDataLst>
              <p:tags r:id="rId4"/>
            </p:custDataLst>
          </p:nvPr>
        </p:nvPicPr>
        <p:blipFill>
          <a:blip r:embed="rId10"/>
          <a:stretch>
            <a:fillRect/>
          </a:stretch>
        </p:blipFill>
        <p:spPr>
          <a:xfrm>
            <a:off x="992187" y="1305513"/>
            <a:ext cx="4151376" cy="2817223"/>
          </a:xfrm>
          <a:prstGeom prst="rect">
            <a:avLst/>
          </a:prstGeom>
        </p:spPr>
      </p:pic>
      <p:pic>
        <p:nvPicPr>
          <p:cNvPr id="25" name="Picture 24">
            <a:extLst>
              <a:ext uri="{FF2B5EF4-FFF2-40B4-BE49-F238E27FC236}">
                <a16:creationId xmlns:a16="http://schemas.microsoft.com/office/drawing/2014/main" id="{F7699E53-C86C-13FD-EEE3-85A00DA02737}"/>
              </a:ext>
            </a:extLst>
          </p:cNvPr>
          <p:cNvPicPr>
            <a:picLocks noChangeAspect="1"/>
          </p:cNvPicPr>
          <p:nvPr>
            <p:custDataLst>
              <p:tags r:id="rId5"/>
            </p:custDataLst>
          </p:nvPr>
        </p:nvPicPr>
        <p:blipFill>
          <a:blip r:embed="rId11"/>
          <a:stretch>
            <a:fillRect/>
          </a:stretch>
        </p:blipFill>
        <p:spPr>
          <a:xfrm>
            <a:off x="-2793400" y="2354326"/>
            <a:ext cx="2030144" cy="2274005"/>
          </a:xfrm>
          <a:prstGeom prst="rect">
            <a:avLst/>
          </a:prstGeom>
        </p:spPr>
      </p:pic>
      <p:grpSp>
        <p:nvGrpSpPr>
          <p:cNvPr id="36" name="Group 35">
            <a:extLst>
              <a:ext uri="{FF2B5EF4-FFF2-40B4-BE49-F238E27FC236}">
                <a16:creationId xmlns:a16="http://schemas.microsoft.com/office/drawing/2014/main" id="{F057A340-9EEA-2B81-4724-484D62FD61B0}"/>
              </a:ext>
            </a:extLst>
          </p:cNvPr>
          <p:cNvGrpSpPr/>
          <p:nvPr>
            <p:custDataLst>
              <p:tags r:id="rId6"/>
            </p:custDataLst>
          </p:nvPr>
        </p:nvGrpSpPr>
        <p:grpSpPr>
          <a:xfrm>
            <a:off x="995364" y="153170"/>
            <a:ext cx="5059950" cy="195814"/>
            <a:chOff x="995364" y="153170"/>
            <a:chExt cx="5059950" cy="195814"/>
          </a:xfrm>
        </p:grpSpPr>
        <p:sp>
          <p:nvSpPr>
            <p:cNvPr id="37"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9" name="Current Section3">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40"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41"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536838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dirty="0"/>
              <a:t>Adjusted net working capital (2/2)</a:t>
            </a:r>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a:xfrm>
            <a:off x="5463356" y="1333228"/>
            <a:ext cx="5736457" cy="252000"/>
          </a:xfrm>
        </p:spPr>
        <p:txBody>
          <a:bodyPr/>
          <a:lstStyle/>
          <a:p>
            <a:r>
              <a:rPr lang="fi-FI"/>
              <a:t>Overview (continued)</a:t>
            </a:r>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a:xfrm>
            <a:off x="5463356" y="1597104"/>
            <a:ext cx="5736457" cy="3865371"/>
          </a:xfrm>
        </p:spPr>
        <p:txBody>
          <a:bodyPr/>
          <a:lstStyle/>
          <a:p>
            <a:pPr lvl="1" defTabSz="914377">
              <a:defRPr/>
            </a:pPr>
            <a:r>
              <a:rPr lang="en-US" b="1" dirty="0"/>
              <a:t>Other receivables and prepaid expenses: </a:t>
            </a:r>
            <a:r>
              <a:rPr lang="en-US" dirty="0"/>
              <a:t>Other receivables includes commission receivable amounts in certain operating companies, while prepaid expenses primarily relates to IT licenses and subscriptions paid in advance.</a:t>
            </a:r>
          </a:p>
          <a:p>
            <a:pPr lvl="1" defTabSz="914377">
              <a:defRPr/>
            </a:pPr>
            <a:r>
              <a:rPr lang="en-US" b="1" dirty="0"/>
              <a:t>Accounts payable:</a:t>
            </a:r>
            <a:r>
              <a:rPr lang="en-US" dirty="0"/>
              <a:t> Represent amounts owing to employees of the Company, including commission and bonus accruals, alongside balances payable to third party suppliers. We understand producer commissions are paid monthly in arrears, while staff bonuses are paid annually. Management indicated suppliers are generally paid on 45 day terms which remained consistent through the Historical Period.</a:t>
            </a:r>
            <a:endParaRPr lang="en-US" b="1" dirty="0"/>
          </a:p>
          <a:p>
            <a:pPr lvl="1" defTabSz="914377">
              <a:defRPr/>
            </a:pPr>
            <a:r>
              <a:rPr lang="en-US" b="1" dirty="0"/>
              <a:t>Commissions received in advance: </a:t>
            </a:r>
            <a:r>
              <a:rPr lang="en-US" dirty="0"/>
              <a:t>Relates to upfront commissions received from carriers in situations where commissions are partly paid by carriers at the time of policy sale.</a:t>
            </a:r>
          </a:p>
          <a:p>
            <a:pPr lvl="1" defTabSz="914377">
              <a:defRPr/>
            </a:pPr>
            <a:r>
              <a:rPr lang="en-US" b="1" dirty="0"/>
              <a:t>Government payables: </a:t>
            </a:r>
            <a:r>
              <a:rPr lang="en-US" dirty="0"/>
              <a:t>Includes federal remittances due with respect to sales and payroll taxes which have generally remained static at $2.6 million to $2.7 million throughout the Historical Period.</a:t>
            </a:r>
            <a:r>
              <a:rPr lang="en-US"/>
              <a:t>  Further details would be required to ascertain the extent of government payables to include herein.</a:t>
            </a:r>
            <a:endParaRPr lang="en-US" dirty="0"/>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64C6078F-2534-8AED-56E5-0EAA986AACBC}"/>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net working capital</a:t>
            </a:r>
          </a:p>
        </p:txBody>
      </p:sp>
      <p:sp>
        <p:nvSpPr>
          <p:cNvPr id="7" name="Rectangle 6">
            <a:extLst>
              <a:ext uri="{FF2B5EF4-FFF2-40B4-BE49-F238E27FC236}">
                <a16:creationId xmlns:a16="http://schemas.microsoft.com/office/drawing/2014/main" id="{C31D25DE-0935-D391-72A0-73E619ECF301}"/>
              </a:ext>
            </a:extLst>
          </p:cNvPr>
          <p:cNvSpPr/>
          <p:nvPr/>
        </p:nvSpPr>
        <p:spPr>
          <a:xfrm>
            <a:off x="8715813" y="-1279903"/>
            <a:ext cx="3353417" cy="11118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Adjusted NWC: avg. FY22-24 and year ends – full breakout of captions</a:t>
            </a:r>
          </a:p>
          <a:p>
            <a:pPr algn="ctr"/>
            <a:r>
              <a:rPr lang="en-US" sz="900" dirty="0">
                <a:solidFill>
                  <a:schemeClr val="bg1"/>
                </a:solidFill>
              </a:rPr>
              <a:t>Monthly chart for LTM &amp; line for NWC</a:t>
            </a:r>
          </a:p>
          <a:p>
            <a:pPr algn="ctr"/>
            <a:r>
              <a:rPr lang="en-US" sz="900" dirty="0">
                <a:solidFill>
                  <a:schemeClr val="bg1"/>
                </a:solidFill>
              </a:rPr>
              <a:t>Commentary to focus on drivers of trends, KPIs and days</a:t>
            </a:r>
          </a:p>
          <a:p>
            <a:pPr algn="ctr"/>
            <a:r>
              <a:rPr lang="en-US" sz="900" dirty="0">
                <a:solidFill>
                  <a:schemeClr val="bg1"/>
                </a:solidFill>
              </a:rPr>
              <a:t>(cross ref to appendix for full bridge)</a:t>
            </a:r>
          </a:p>
        </p:txBody>
      </p:sp>
      <p:sp>
        <p:nvSpPr>
          <p:cNvPr id="15" name="Text Placeholder 12">
            <a:extLst>
              <a:ext uri="{FF2B5EF4-FFF2-40B4-BE49-F238E27FC236}">
                <a16:creationId xmlns:a16="http://schemas.microsoft.com/office/drawing/2014/main" id="{4BC3CC30-153D-1E72-0325-AF3730CAA322}"/>
              </a:ext>
            </a:extLst>
          </p:cNvPr>
          <p:cNvSpPr txBox="1">
            <a:spLocks/>
          </p:cNvSpPr>
          <p:nvPr/>
        </p:nvSpPr>
        <p:spPr>
          <a:xfrm>
            <a:off x="1003312" y="414216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9" name="Picture 18">
            <a:extLst>
              <a:ext uri="{FF2B5EF4-FFF2-40B4-BE49-F238E27FC236}">
                <a16:creationId xmlns:a16="http://schemas.microsoft.com/office/drawing/2014/main" id="{A57A0A7D-8745-9EC2-85CA-42C61EE1451C}"/>
              </a:ext>
            </a:extLst>
          </p:cNvPr>
          <p:cNvPicPr>
            <a:picLocks noChangeAspect="1"/>
          </p:cNvPicPr>
          <p:nvPr>
            <p:custDataLst>
              <p:tags r:id="rId4"/>
            </p:custDataLst>
          </p:nvPr>
        </p:nvPicPr>
        <p:blipFill>
          <a:blip r:embed="rId10"/>
          <a:stretch>
            <a:fillRect/>
          </a:stretch>
        </p:blipFill>
        <p:spPr>
          <a:xfrm>
            <a:off x="992187" y="1305513"/>
            <a:ext cx="4151376" cy="2817223"/>
          </a:xfrm>
          <a:prstGeom prst="rect">
            <a:avLst/>
          </a:prstGeom>
        </p:spPr>
      </p:pic>
      <p:pic>
        <p:nvPicPr>
          <p:cNvPr id="13" name="Picture 12">
            <a:extLst>
              <a:ext uri="{FF2B5EF4-FFF2-40B4-BE49-F238E27FC236}">
                <a16:creationId xmlns:a16="http://schemas.microsoft.com/office/drawing/2014/main" id="{1F18586C-2222-8F83-20CD-F0584F23ACF6}"/>
              </a:ext>
            </a:extLst>
          </p:cNvPr>
          <p:cNvPicPr>
            <a:picLocks noChangeAspect="1"/>
          </p:cNvPicPr>
          <p:nvPr>
            <p:custDataLst>
              <p:tags r:id="rId5"/>
            </p:custDataLst>
          </p:nvPr>
        </p:nvPicPr>
        <p:blipFill>
          <a:blip r:embed="rId11"/>
          <a:stretch>
            <a:fillRect/>
          </a:stretch>
        </p:blipFill>
        <p:spPr>
          <a:xfrm>
            <a:off x="984739" y="4246983"/>
            <a:ext cx="4153814" cy="1922678"/>
          </a:xfrm>
          <a:prstGeom prst="rect">
            <a:avLst/>
          </a:prstGeom>
        </p:spPr>
      </p:pic>
      <p:sp>
        <p:nvSpPr>
          <p:cNvPr id="23" name="Text Placeholder 12">
            <a:extLst>
              <a:ext uri="{FF2B5EF4-FFF2-40B4-BE49-F238E27FC236}">
                <a16:creationId xmlns:a16="http://schemas.microsoft.com/office/drawing/2014/main" id="{A3F1923B-7E81-0AD7-CD05-7E81BEE82056}"/>
              </a:ext>
            </a:extLst>
          </p:cNvPr>
          <p:cNvSpPr txBox="1">
            <a:spLocks/>
          </p:cNvSpPr>
          <p:nvPr/>
        </p:nvSpPr>
        <p:spPr>
          <a:xfrm>
            <a:off x="1003312" y="6164553"/>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24" name="Rectangle 23">
            <a:extLst>
              <a:ext uri="{FF2B5EF4-FFF2-40B4-BE49-F238E27FC236}">
                <a16:creationId xmlns:a16="http://schemas.microsoft.com/office/drawing/2014/main" id="{7006E2B8-4566-FA4D-3BD4-3649F75B2F5F}"/>
              </a:ext>
            </a:extLst>
          </p:cNvPr>
          <p:cNvSpPr/>
          <p:nvPr/>
        </p:nvSpPr>
        <p:spPr>
          <a:xfrm>
            <a:off x="6606278" y="5105400"/>
            <a:ext cx="2766321" cy="5031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Premiums aged greater than 90 days are disregarded in the determination of surplus cash in trust available for distribution.</a:t>
            </a:r>
          </a:p>
        </p:txBody>
      </p:sp>
      <p:sp>
        <p:nvSpPr>
          <p:cNvPr id="26" name="Rectangle: Rounded Corners 25">
            <a:extLst>
              <a:ext uri="{FF2B5EF4-FFF2-40B4-BE49-F238E27FC236}">
                <a16:creationId xmlns:a16="http://schemas.microsoft.com/office/drawing/2014/main" id="{C6860532-87D7-15BF-D459-22A4981CE9E7}"/>
              </a:ext>
            </a:extLst>
          </p:cNvPr>
          <p:cNvSpPr/>
          <p:nvPr/>
        </p:nvSpPr>
        <p:spPr>
          <a:xfrm>
            <a:off x="1116855" y="5281612"/>
            <a:ext cx="4021698" cy="133351"/>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dirty="0">
              <a:solidFill>
                <a:schemeClr val="bg1"/>
              </a:solidFill>
            </a:endParaRPr>
          </a:p>
        </p:txBody>
      </p:sp>
      <p:cxnSp>
        <p:nvCxnSpPr>
          <p:cNvPr id="41" name="Straight Arrow Connector 40">
            <a:extLst>
              <a:ext uri="{FF2B5EF4-FFF2-40B4-BE49-F238E27FC236}">
                <a16:creationId xmlns:a16="http://schemas.microsoft.com/office/drawing/2014/main" id="{E5618639-EC4B-1914-4683-BA21CB5FA3FD}"/>
              </a:ext>
            </a:extLst>
          </p:cNvPr>
          <p:cNvCxnSpPr>
            <a:cxnSpLocks/>
            <a:stCxn id="24" idx="1"/>
            <a:endCxn id="26" idx="3"/>
          </p:cNvCxnSpPr>
          <p:nvPr/>
        </p:nvCxnSpPr>
        <p:spPr>
          <a:xfrm flipH="1" flipV="1">
            <a:off x="5138553" y="5348288"/>
            <a:ext cx="1467725" cy="8708"/>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F057A340-9EEA-2B81-4724-484D62FD61B0}"/>
              </a:ext>
            </a:extLst>
          </p:cNvPr>
          <p:cNvGrpSpPr/>
          <p:nvPr>
            <p:custDataLst>
              <p:tags r:id="rId6"/>
            </p:custDataLst>
          </p:nvPr>
        </p:nvGrpSpPr>
        <p:grpSpPr>
          <a:xfrm>
            <a:off x="995364" y="153170"/>
            <a:ext cx="5059950" cy="195814"/>
            <a:chOff x="995364" y="153170"/>
            <a:chExt cx="5059950" cy="195814"/>
          </a:xfrm>
        </p:grpSpPr>
        <p:sp>
          <p:nvSpPr>
            <p:cNvPr id="49"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50"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51" name="Current Section3">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52"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53"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564866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2D79D81B-8754-DDFF-D0FB-0D6F80779BED}"/>
              </a:ext>
            </a:extLst>
          </p:cNvPr>
          <p:cNvSpPr txBox="1">
            <a:spLocks/>
          </p:cNvSpPr>
          <p:nvPr/>
        </p:nvSpPr>
        <p:spPr>
          <a:xfrm>
            <a:off x="3695701" y="1589302"/>
            <a:ext cx="7497900" cy="4287623"/>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defRPr/>
            </a:pPr>
            <a:r>
              <a:rPr lang="en-US" dirty="0">
                <a:solidFill>
                  <a:srgbClr val="000000"/>
                </a:solidFill>
              </a:rPr>
              <a:t>The schedule opposite illustrates the net indebtedness position of the Company as at December 31, 2024 which includes operating cash, bank and shareholder debt, and other long-term obligations presented on the balance sheet. Additionally, we present total </a:t>
            </a:r>
            <a:r>
              <a:rPr lang="en-US" dirty="0"/>
              <a:t>$1.7 </a:t>
            </a:r>
            <a:r>
              <a:rPr lang="en-US" dirty="0">
                <a:solidFill>
                  <a:srgbClr val="000000"/>
                </a:solidFill>
              </a:rPr>
              <a:t>million of other reclasses from net working capital identified as part of our work which should be considered in your purchase price negotiations. Each of the components of net debt as presented opposite is discussed below. </a:t>
            </a:r>
          </a:p>
          <a:p>
            <a:pPr lvl="1" defTabSz="914377">
              <a:defRPr/>
            </a:pPr>
            <a:r>
              <a:rPr lang="en-US" b="1" dirty="0">
                <a:solidFill>
                  <a:schemeClr val="tx2"/>
                </a:solidFill>
              </a:rPr>
              <a:t>Financial indebtedness</a:t>
            </a:r>
          </a:p>
          <a:p>
            <a:pPr lvl="1" defTabSz="914377">
              <a:defRPr/>
            </a:pPr>
            <a:r>
              <a:rPr lang="en-US" dirty="0"/>
              <a:t>The Company’s financial indebtedness comprises largely operating lines of credit and long-term debt facilities held with the lending syndicate. It also takes into account $241.9 million of retractable redeemable shares held by shareholders of the Company and certain operating subsidiaries which are presented at the paid-up capital plus cumulative dividend value.</a:t>
            </a:r>
          </a:p>
          <a:p>
            <a:pPr lvl="1" defTabSz="914377">
              <a:defRPr/>
            </a:pPr>
            <a:r>
              <a:rPr lang="en-US" b="1" dirty="0">
                <a:solidFill>
                  <a:schemeClr val="tx2"/>
                </a:solidFill>
              </a:rPr>
              <a:t>Definitional reclasses from net working capital</a:t>
            </a:r>
            <a:endParaRPr lang="en-US" dirty="0">
              <a:solidFill>
                <a:srgbClr val="000000"/>
              </a:solidFill>
            </a:endParaRPr>
          </a:p>
          <a:p>
            <a:pPr lvl="1" defTabSz="914377">
              <a:defRPr/>
            </a:pPr>
            <a:r>
              <a:rPr lang="en-US" b="1" dirty="0"/>
              <a:t>Cash:</a:t>
            </a:r>
            <a:r>
              <a:rPr lang="en-US" dirty="0"/>
              <a:t> As at Dec-24, the Company has a reported operating cash balance of $8.3 million. This cash is separate from balances maintained in trust accounts in operating subsidiaries.</a:t>
            </a:r>
            <a:endParaRPr lang="en-US" b="1" dirty="0"/>
          </a:p>
          <a:p>
            <a:pPr lvl="1" defTabSz="914377">
              <a:defRPr/>
            </a:pPr>
            <a:r>
              <a:rPr lang="en-US" b="1" dirty="0"/>
              <a:t>Obligations related to historical acquisitions: </a:t>
            </a:r>
            <a:r>
              <a:rPr lang="en-US" dirty="0"/>
              <a:t>Represents balances owing with respect to various acquisitions completed in Historical Periods.</a:t>
            </a:r>
          </a:p>
          <a:p>
            <a:pPr marL="171450" lvl="1" indent="-171450" defTabSz="914377">
              <a:buFont typeface="Arial" panose="020B0604020202020204" pitchFamily="34" charset="0"/>
              <a:buChar char="•"/>
              <a:defRPr/>
            </a:pPr>
            <a:r>
              <a:rPr lang="en-US" b="1" dirty="0">
                <a:solidFill>
                  <a:srgbClr val="000000"/>
                </a:solidFill>
              </a:rPr>
              <a:t>Earn-out payable:</a:t>
            </a:r>
            <a:r>
              <a:rPr lang="en-US" dirty="0">
                <a:solidFill>
                  <a:srgbClr val="000000"/>
                </a:solidFill>
              </a:rPr>
              <a:t> Earn-outs payable on past acquisitions totaled $1.5 million at December 31, 2024, details of which is presented in Appendix 5. We understand earn-out amounts payable are stated at fair value and adjusted based on latest forecasts – the assumptions underpinning expected earn-outs payable in future periods should be subject to specific review at closing and adjusted as appropriate to reflect latest financial projections for the relevant businesses.</a:t>
            </a:r>
          </a:p>
          <a:p>
            <a:pPr marL="171450" lvl="1" indent="-171450" defTabSz="914377">
              <a:buFont typeface="Arial" panose="020B0604020202020204" pitchFamily="34" charset="0"/>
              <a:buChar char="•"/>
              <a:defRPr/>
            </a:pPr>
            <a:r>
              <a:rPr lang="en-US" b="1" dirty="0">
                <a:solidFill>
                  <a:srgbClr val="000000"/>
                </a:solidFill>
              </a:rPr>
              <a:t>Purchase price payable: </a:t>
            </a:r>
            <a:r>
              <a:rPr lang="en-US" dirty="0">
                <a:solidFill>
                  <a:srgbClr val="000000"/>
                </a:solidFill>
              </a:rPr>
              <a:t>Purchase price payable as at December 31, 2024 of $0.2 million reflected the aggregate amount of consideration owed to vendors of acquired operations which was partly deferred under the applicable purchase agreements. We understand the amounts will only be subject to adjustment if specific retention metrics are not achieved. Refer to Appendix 5 for further details.</a:t>
            </a:r>
          </a:p>
          <a:p>
            <a:pPr lvl="1" defTabSz="914377">
              <a:defRPr/>
            </a:pPr>
            <a:r>
              <a:rPr lang="en-US" b="1" dirty="0"/>
              <a:t>Related party indebtedness: </a:t>
            </a:r>
            <a:r>
              <a:rPr lang="en-US" dirty="0"/>
              <a:t>This account refers balances due from related parties, mainly comprising loans advanced to minority shareholders in operating companies to participate in company buyouts.</a:t>
            </a:r>
          </a:p>
          <a:p>
            <a:pPr lvl="1" defTabSz="914377">
              <a:defRPr/>
            </a:pPr>
            <a:endParaRPr lang="en-US" b="1" dirty="0">
              <a:solidFill>
                <a:srgbClr val="000000"/>
              </a:solidFill>
            </a:endParaRPr>
          </a:p>
          <a:p>
            <a:pPr lvl="1" defTabSz="914377">
              <a:defRPr/>
            </a:pPr>
            <a:endParaRPr lang="en-US" b="1" dirty="0">
              <a:solidFill>
                <a:srgbClr val="000000"/>
              </a:solidFill>
            </a:endParaRPr>
          </a:p>
          <a:p>
            <a:pPr lvl="1" defTabSz="914377">
              <a:defRPr/>
            </a:pPr>
            <a:endParaRPr lang="en-US" b="1" dirty="0">
              <a:solidFill>
                <a:srgbClr val="000000"/>
              </a:solidFill>
            </a:endParaRPr>
          </a:p>
          <a:p>
            <a:pPr lvl="1" defTabSz="914377">
              <a:defRPr/>
            </a:pPr>
            <a:endParaRPr lang="en-US" i="1" dirty="0">
              <a:solidFill>
                <a:srgbClr val="FF0000"/>
              </a:solidFill>
            </a:endParaRPr>
          </a:p>
        </p:txBody>
      </p:sp>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a:xfrm>
            <a:off x="1000167" y="987546"/>
            <a:ext cx="10201589" cy="460800"/>
          </a:xfrm>
        </p:spPr>
        <p:txBody>
          <a:bodyPr/>
          <a:lstStyle/>
          <a:p>
            <a:r>
              <a:rPr lang="fi-FI"/>
              <a:t>The main definitional net debt items include $241.9 million of retractable redeemable shares, long-term debt of $258.3 million, and $12.8 million on a line of credit, offset by operating cash amounting to $8.3 million at December 31, 2024.</a:t>
            </a:r>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debt – definitional items (1/2)</a:t>
            </a: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a:t>
            </a:r>
          </a:p>
        </p:txBody>
      </p:sp>
      <p:sp>
        <p:nvSpPr>
          <p:cNvPr id="12" name="Rectangle 11">
            <a:extLst>
              <a:ext uri="{FF2B5EF4-FFF2-40B4-BE49-F238E27FC236}">
                <a16:creationId xmlns:a16="http://schemas.microsoft.com/office/drawing/2014/main" id="{EF19FBA4-8720-B3C3-8263-2299A5DF80D4}"/>
              </a:ext>
            </a:extLst>
          </p:cNvPr>
          <p:cNvSpPr/>
          <p:nvPr/>
        </p:nvSpPr>
        <p:spPr>
          <a:xfrm>
            <a:off x="8627400" y="-1144838"/>
            <a:ext cx="2828367" cy="1041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 summary: as at Oct-24/ Dec-24 only – reported net debt and other potential debt-like items.</a:t>
            </a:r>
          </a:p>
          <a:p>
            <a:pPr algn="ctr"/>
            <a:r>
              <a:rPr lang="en-US" sz="900" dirty="0">
                <a:solidFill>
                  <a:schemeClr val="bg1"/>
                </a:solidFill>
              </a:rPr>
              <a:t>Commentary to focus on potential debt-like items identified.</a:t>
            </a:r>
          </a:p>
        </p:txBody>
      </p:sp>
      <p:pic>
        <p:nvPicPr>
          <p:cNvPr id="16" name="Picture 15">
            <a:extLst>
              <a:ext uri="{FF2B5EF4-FFF2-40B4-BE49-F238E27FC236}">
                <a16:creationId xmlns:a16="http://schemas.microsoft.com/office/drawing/2014/main" id="{97DBCC49-2D1E-3D32-6B2E-BA540FBE60C8}"/>
              </a:ext>
            </a:extLst>
          </p:cNvPr>
          <p:cNvPicPr>
            <a:picLocks noChangeAspect="1"/>
          </p:cNvPicPr>
          <p:nvPr>
            <p:custDataLst>
              <p:tags r:id="rId4"/>
            </p:custDataLst>
          </p:nvPr>
        </p:nvPicPr>
        <p:blipFill>
          <a:blip r:embed="rId10"/>
          <a:stretch>
            <a:fillRect/>
          </a:stretch>
        </p:blipFill>
        <p:spPr>
          <a:xfrm>
            <a:off x="-2793400" y="1833118"/>
            <a:ext cx="2030144" cy="2274005"/>
          </a:xfrm>
          <a:prstGeom prst="rect">
            <a:avLst/>
          </a:prstGeom>
        </p:spPr>
      </p:pic>
      <p:sp>
        <p:nvSpPr>
          <p:cNvPr id="15" name="Text Placeholder 12">
            <a:extLst>
              <a:ext uri="{FF2B5EF4-FFF2-40B4-BE49-F238E27FC236}">
                <a16:creationId xmlns:a16="http://schemas.microsoft.com/office/drawing/2014/main" id="{410EE816-CC4E-384F-8996-5ACEE2C13FD4}"/>
              </a:ext>
            </a:extLst>
          </p:cNvPr>
          <p:cNvSpPr txBox="1">
            <a:spLocks/>
          </p:cNvSpPr>
          <p:nvPr/>
        </p:nvSpPr>
        <p:spPr>
          <a:xfrm>
            <a:off x="1003312" y="441745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sp>
        <p:nvSpPr>
          <p:cNvPr id="26" name="Text Placeholder 13">
            <a:extLst>
              <a:ext uri="{FF2B5EF4-FFF2-40B4-BE49-F238E27FC236}">
                <a16:creationId xmlns:a16="http://schemas.microsoft.com/office/drawing/2014/main" id="{77251F6B-C53B-C537-8F33-675078453AC8}"/>
              </a:ext>
            </a:extLst>
          </p:cNvPr>
          <p:cNvSpPr txBox="1">
            <a:spLocks/>
          </p:cNvSpPr>
          <p:nvPr/>
        </p:nvSpPr>
        <p:spPr>
          <a:xfrm>
            <a:off x="3696553" y="1331440"/>
            <a:ext cx="74979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Overview</a:t>
            </a:r>
            <a:endParaRPr lang="fi-FI"/>
          </a:p>
        </p:txBody>
      </p:sp>
      <p:pic>
        <p:nvPicPr>
          <p:cNvPr id="35" name="Picture 34">
            <a:extLst>
              <a:ext uri="{FF2B5EF4-FFF2-40B4-BE49-F238E27FC236}">
                <a16:creationId xmlns:a16="http://schemas.microsoft.com/office/drawing/2014/main" id="{48BC7379-DAF7-8A3B-D548-D79B2DB3C448}"/>
              </a:ext>
            </a:extLst>
          </p:cNvPr>
          <p:cNvPicPr>
            <a:picLocks noChangeAspect="1"/>
          </p:cNvPicPr>
          <p:nvPr>
            <p:custDataLst>
              <p:tags r:id="rId5"/>
            </p:custDataLst>
          </p:nvPr>
        </p:nvPicPr>
        <p:blipFill>
          <a:blip r:embed="rId11"/>
          <a:stretch>
            <a:fillRect/>
          </a:stretch>
        </p:blipFill>
        <p:spPr>
          <a:xfrm>
            <a:off x="997547" y="1362603"/>
            <a:ext cx="2532888" cy="3050683"/>
          </a:xfrm>
          <a:prstGeom prst="rect">
            <a:avLst/>
          </a:prstGeom>
        </p:spPr>
      </p:pic>
      <p:grpSp>
        <p:nvGrpSpPr>
          <p:cNvPr id="24" name="Group 23">
            <a:extLst>
              <a:ext uri="{FF2B5EF4-FFF2-40B4-BE49-F238E27FC236}">
                <a16:creationId xmlns:a16="http://schemas.microsoft.com/office/drawing/2014/main" id="{F057A340-9EEA-2B81-4724-484D62FD61B0}"/>
              </a:ext>
            </a:extLst>
          </p:cNvPr>
          <p:cNvGrpSpPr/>
          <p:nvPr>
            <p:custDataLst>
              <p:tags r:id="rId6"/>
            </p:custDataLst>
          </p:nvPr>
        </p:nvGrpSpPr>
        <p:grpSpPr>
          <a:xfrm>
            <a:off x="995364" y="153170"/>
            <a:ext cx="5059950" cy="195814"/>
            <a:chOff x="995364" y="153170"/>
            <a:chExt cx="5059950" cy="195814"/>
          </a:xfrm>
        </p:grpSpPr>
        <p:sp>
          <p:nvSpPr>
            <p:cNvPr id="2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8" name="Current Section3">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29"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0"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94933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debt – definitional items (2/2)</a:t>
            </a: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a:t>
            </a:r>
          </a:p>
        </p:txBody>
      </p:sp>
      <p:sp>
        <p:nvSpPr>
          <p:cNvPr id="12" name="Rectangle 11">
            <a:extLst>
              <a:ext uri="{FF2B5EF4-FFF2-40B4-BE49-F238E27FC236}">
                <a16:creationId xmlns:a16="http://schemas.microsoft.com/office/drawing/2014/main" id="{EF19FBA4-8720-B3C3-8263-2299A5DF80D4}"/>
              </a:ext>
            </a:extLst>
          </p:cNvPr>
          <p:cNvSpPr/>
          <p:nvPr/>
        </p:nvSpPr>
        <p:spPr>
          <a:xfrm>
            <a:off x="8700602" y="-1083607"/>
            <a:ext cx="2828367" cy="1041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 summary: as at Oct-24/ Dec-24 only – reported net debt and other potential debt-like items.</a:t>
            </a:r>
          </a:p>
          <a:p>
            <a:pPr algn="ctr"/>
            <a:r>
              <a:rPr lang="en-US" sz="900" dirty="0">
                <a:solidFill>
                  <a:schemeClr val="bg1"/>
                </a:solidFill>
              </a:rPr>
              <a:t>Commentary to focus on potential debt-like items identified.</a:t>
            </a:r>
          </a:p>
        </p:txBody>
      </p:sp>
      <p:sp>
        <p:nvSpPr>
          <p:cNvPr id="14" name="Text Placeholder 13">
            <a:extLst>
              <a:ext uri="{FF2B5EF4-FFF2-40B4-BE49-F238E27FC236}">
                <a16:creationId xmlns:a16="http://schemas.microsoft.com/office/drawing/2014/main" id="{9917A508-80C2-06F4-60D5-7C2C15450C0D}"/>
              </a:ext>
            </a:extLst>
          </p:cNvPr>
          <p:cNvSpPr txBox="1">
            <a:spLocks/>
          </p:cNvSpPr>
          <p:nvPr/>
        </p:nvSpPr>
        <p:spPr>
          <a:xfrm>
            <a:off x="3695700" y="1331440"/>
            <a:ext cx="74979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Definitional reclasses from net working capital (continued)</a:t>
            </a:r>
            <a:endParaRPr lang="fi-FI"/>
          </a:p>
        </p:txBody>
      </p:sp>
      <p:sp>
        <p:nvSpPr>
          <p:cNvPr id="15" name="Text Placeholder 6">
            <a:extLst>
              <a:ext uri="{FF2B5EF4-FFF2-40B4-BE49-F238E27FC236}">
                <a16:creationId xmlns:a16="http://schemas.microsoft.com/office/drawing/2014/main" id="{4DB6E678-15D0-1ED5-B101-2C48FD11557A}"/>
              </a:ext>
            </a:extLst>
          </p:cNvPr>
          <p:cNvSpPr txBox="1">
            <a:spLocks/>
          </p:cNvSpPr>
          <p:nvPr/>
        </p:nvSpPr>
        <p:spPr>
          <a:xfrm>
            <a:off x="3695702" y="1589302"/>
            <a:ext cx="7497899" cy="4555124"/>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914377">
              <a:defRPr/>
            </a:pPr>
            <a:r>
              <a:rPr lang="en-US" b="1" dirty="0"/>
              <a:t>Other items: </a:t>
            </a:r>
            <a:r>
              <a:rPr lang="en-US" dirty="0"/>
              <a:t>Include current income tax obligations and stock options liabilities:</a:t>
            </a:r>
          </a:p>
          <a:p>
            <a:pPr marL="171450" lvl="1" indent="-171450" defTabSz="914377">
              <a:buFont typeface="Arial" panose="020B0604020202020204" pitchFamily="34" charset="0"/>
              <a:buChar char="•"/>
              <a:defRPr/>
            </a:pPr>
            <a:r>
              <a:rPr lang="en-US" b="1" dirty="0">
                <a:solidFill>
                  <a:srgbClr val="000000"/>
                </a:solidFill>
              </a:rPr>
              <a:t>Income tax payable:</a:t>
            </a:r>
            <a:r>
              <a:rPr lang="en-US" dirty="0">
                <a:solidFill>
                  <a:srgbClr val="000000"/>
                </a:solidFill>
              </a:rPr>
              <a:t> Includes current income taxes payable as at Dec-24 which pertain to profits earned pre-acquisition and should be for the account of the Vendor (December 31, 2024: $9.7 million). Since the Company’s current income tax obligations are not subject to full computation until financial year end as part of the audit process, the amount of unpaid income taxes relating to earnings generated in all periods prior to completion will be required to be accurately estimated at the closing date. </a:t>
            </a:r>
            <a:endParaRPr lang="en-US" dirty="0"/>
          </a:p>
          <a:p>
            <a:pPr marL="171450" lvl="1" indent="-171450" defTabSz="914377">
              <a:buFont typeface="Arial" panose="020B0604020202020204" pitchFamily="34" charset="0"/>
              <a:buChar char="•"/>
              <a:defRPr/>
            </a:pPr>
            <a:r>
              <a:rPr lang="en-US" b="1" dirty="0"/>
              <a:t>Stock options liability: </a:t>
            </a:r>
            <a:r>
              <a:rPr lang="en-US" dirty="0"/>
              <a:t>The Company has a stock-based compensation program in place for select employees which historically granted share options in a number of operating companies. It is assumed that obligations outstanding under issued stock options will crystallize upon a change of control event in the Company. We also understand the reported amount includes amounts owing under a LTIP in effect for four producer employees. The combined balance as at </a:t>
            </a:r>
            <a:r>
              <a:rPr lang="en-US"/>
              <a:t>December 31, 2024 </a:t>
            </a:r>
            <a:r>
              <a:rPr lang="en-US" dirty="0"/>
              <a:t>amounted to $1.9 million.</a:t>
            </a:r>
          </a:p>
          <a:p>
            <a:pPr lvl="1" defTabSz="914377">
              <a:defRPr/>
            </a:pPr>
            <a:r>
              <a:rPr lang="en-US" b="1" dirty="0">
                <a:solidFill>
                  <a:schemeClr val="tx2"/>
                </a:solidFill>
              </a:rPr>
              <a:t>Other reclasses from net working capital</a:t>
            </a:r>
          </a:p>
          <a:p>
            <a:pPr lvl="1" defTabSz="914377">
              <a:defRPr/>
            </a:pPr>
            <a:r>
              <a:rPr lang="en-US" b="1" dirty="0"/>
              <a:t>Extraordinary items:</a:t>
            </a:r>
            <a:r>
              <a:rPr lang="en-US" dirty="0"/>
              <a:t> The balance associated with “extraordinary items” opposite relates to non-recurring, non-trade, or one-time amounts in reported working capital which are added-back in the determination of adjusted EBITDA. Accordingly, any associated remaining balances at the closing date should be treated as debt-like and deducted from purchase consideration.</a:t>
            </a:r>
            <a:endParaRPr lang="en-US" b="1" dirty="0"/>
          </a:p>
          <a:p>
            <a:pPr lvl="1" defTabSz="914377">
              <a:defRPr/>
            </a:pPr>
            <a:r>
              <a:rPr lang="en-US" b="1" dirty="0">
                <a:solidFill>
                  <a:srgbClr val="000000"/>
                </a:solidFill>
              </a:rPr>
              <a:t>Excess cash:</a:t>
            </a:r>
            <a:r>
              <a:rPr lang="en-US" dirty="0">
                <a:solidFill>
                  <a:srgbClr val="000000"/>
                </a:solidFill>
              </a:rPr>
              <a:t> Our analysis indicates that the business held surplus funds in its brokerage accounts at each month end through the Historical Period which is transferred to operating accounts in the first few days of each month. The excess cash in trust represents extra headroom maintained over minimum regulatory requirements. The reclass of surplus funds in brokerage accounts proposes to designate excess cash as available in operations and/or for financing activities (including distribution to shareholders).</a:t>
            </a:r>
            <a:endParaRPr lang="en-US" b="1" dirty="0"/>
          </a:p>
          <a:p>
            <a:pPr lvl="1" defTabSz="914377">
              <a:defRPr/>
            </a:pPr>
            <a:r>
              <a:rPr lang="en-US" b="1" dirty="0"/>
              <a:t>Override: </a:t>
            </a:r>
            <a:r>
              <a:rPr lang="en-US" dirty="0"/>
              <a:t>Consistent with our proposed treatment in net working capital, we present the residual amount of unearned override income as an item of indebtedness given it has been paid upfront and reflected in operating cash, and is potentially subject to clawback in future periods if the portfolio transfers do not materialize as originally anticipated.</a:t>
            </a:r>
          </a:p>
          <a:p>
            <a:pPr lvl="1" defTabSz="914377">
              <a:defRPr/>
            </a:pPr>
            <a:r>
              <a:rPr lang="en-US" b="1" dirty="0"/>
              <a:t>Transaction costs</a:t>
            </a:r>
            <a:r>
              <a:rPr lang="en-US" dirty="0"/>
              <a:t>: A $1.6 million accrual was recognized in </a:t>
            </a:r>
            <a:r>
              <a:rPr lang="en-US"/>
              <a:t>December 31, 2024</a:t>
            </a:r>
            <a:r>
              <a:rPr lang="en-US" dirty="0"/>
              <a:t> for professional fees relating to the contemplated divestiture. This amount is presented as indebtedness in the schedule opposite.</a:t>
            </a:r>
          </a:p>
          <a:p>
            <a:pPr lvl="1" defTabSz="914377">
              <a:defRPr/>
            </a:pPr>
            <a:r>
              <a:rPr lang="en-US" b="1" dirty="0">
                <a:solidFill>
                  <a:srgbClr val="000000"/>
                </a:solidFill>
              </a:rPr>
              <a:t>Capex payables: </a:t>
            </a:r>
            <a:r>
              <a:rPr lang="en-US" dirty="0">
                <a:solidFill>
                  <a:srgbClr val="000000"/>
                </a:solidFill>
              </a:rPr>
              <a:t>The estimated outstanding amount payable to capital suppliers as at Dec-24 is reclassified from net working capital and presented as a debt-like item given it relates to non-trade activities. </a:t>
            </a:r>
          </a:p>
          <a:p>
            <a:pPr lvl="1" defTabSz="914377">
              <a:defRPr/>
            </a:pPr>
            <a:endParaRPr lang="en-US" dirty="0"/>
          </a:p>
          <a:p>
            <a:pPr lvl="1" defTabSz="914377">
              <a:defRPr/>
            </a:pPr>
            <a:endParaRPr lang="en-US" dirty="0"/>
          </a:p>
          <a:p>
            <a:pPr lvl="1" defTabSz="914377">
              <a:defRPr/>
            </a:pPr>
            <a:endParaRPr lang="en-US" dirty="0"/>
          </a:p>
          <a:p>
            <a:pPr lvl="1" defTabSz="914377">
              <a:defRPr/>
            </a:pPr>
            <a:endParaRPr lang="en-US" b="1" dirty="0">
              <a:solidFill>
                <a:schemeClr val="tx2"/>
              </a:solidFill>
            </a:endParaRPr>
          </a:p>
        </p:txBody>
      </p:sp>
      <p:sp>
        <p:nvSpPr>
          <p:cNvPr id="17" name="Text Placeholder 12">
            <a:extLst>
              <a:ext uri="{FF2B5EF4-FFF2-40B4-BE49-F238E27FC236}">
                <a16:creationId xmlns:a16="http://schemas.microsoft.com/office/drawing/2014/main" id="{92F055AE-EF66-4044-637B-1CF99A13EF00}"/>
              </a:ext>
            </a:extLst>
          </p:cNvPr>
          <p:cNvSpPr txBox="1">
            <a:spLocks/>
          </p:cNvSpPr>
          <p:nvPr/>
        </p:nvSpPr>
        <p:spPr>
          <a:xfrm>
            <a:off x="1003312" y="441745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21" name="Picture 20">
            <a:extLst>
              <a:ext uri="{FF2B5EF4-FFF2-40B4-BE49-F238E27FC236}">
                <a16:creationId xmlns:a16="http://schemas.microsoft.com/office/drawing/2014/main" id="{D217A090-FA05-373A-BCA1-95254D867665}"/>
              </a:ext>
            </a:extLst>
          </p:cNvPr>
          <p:cNvPicPr>
            <a:picLocks noChangeAspect="1"/>
          </p:cNvPicPr>
          <p:nvPr>
            <p:custDataLst>
              <p:tags r:id="rId4"/>
            </p:custDataLst>
          </p:nvPr>
        </p:nvPicPr>
        <p:blipFill>
          <a:blip r:embed="rId9"/>
          <a:stretch>
            <a:fillRect/>
          </a:stretch>
        </p:blipFill>
        <p:spPr>
          <a:xfrm>
            <a:off x="997547" y="1362603"/>
            <a:ext cx="2532888" cy="3050683"/>
          </a:xfrm>
          <a:prstGeom prst="rect">
            <a:avLst/>
          </a:prstGeom>
        </p:spPr>
      </p:pic>
      <p:grpSp>
        <p:nvGrpSpPr>
          <p:cNvPr id="24" name="Group 23">
            <a:extLst>
              <a:ext uri="{FF2B5EF4-FFF2-40B4-BE49-F238E27FC236}">
                <a16:creationId xmlns:a16="http://schemas.microsoft.com/office/drawing/2014/main" id="{F057A340-9EEA-2B81-4724-484D62FD61B0}"/>
              </a:ext>
            </a:extLst>
          </p:cNvPr>
          <p:cNvGrpSpPr/>
          <p:nvPr>
            <p:custDataLst>
              <p:tags r:id="rId5"/>
            </p:custDataLst>
          </p:nvPr>
        </p:nvGrpSpPr>
        <p:grpSpPr>
          <a:xfrm>
            <a:off x="995364" y="153170"/>
            <a:ext cx="5059950" cy="195814"/>
            <a:chOff x="995364" y="153170"/>
            <a:chExt cx="5059950" cy="195814"/>
          </a:xfrm>
        </p:grpSpPr>
        <p:sp>
          <p:nvSpPr>
            <p:cNvPr id="2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7"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4"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093499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dirty="0"/>
              <a:t>Net debt – other potential debt-like items </a:t>
            </a:r>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18" name="UpSlide SubSection Marker" hidden="1">
            <a:extLst>
              <a:ext uri="{FF2B5EF4-FFF2-40B4-BE49-F238E27FC236}">
                <a16:creationId xmlns:a16="http://schemas.microsoft.com/office/drawing/2014/main" id="{6D93FB3D-4DDF-E55D-AD2A-CC9797A73E75}"/>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a:t>
            </a:r>
          </a:p>
        </p:txBody>
      </p:sp>
      <p:sp>
        <p:nvSpPr>
          <p:cNvPr id="12" name="Rectangle 11">
            <a:extLst>
              <a:ext uri="{FF2B5EF4-FFF2-40B4-BE49-F238E27FC236}">
                <a16:creationId xmlns:a16="http://schemas.microsoft.com/office/drawing/2014/main" id="{EF19FBA4-8720-B3C3-8263-2299A5DF80D4}"/>
              </a:ext>
            </a:extLst>
          </p:cNvPr>
          <p:cNvSpPr/>
          <p:nvPr/>
        </p:nvSpPr>
        <p:spPr>
          <a:xfrm>
            <a:off x="8715813" y="-1132102"/>
            <a:ext cx="2828367" cy="1041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 summary: as at Oct-24/ Dec-24 only – reported net debt and other potential debt-like items.</a:t>
            </a:r>
          </a:p>
          <a:p>
            <a:pPr algn="ctr"/>
            <a:r>
              <a:rPr lang="en-US" sz="900" dirty="0">
                <a:solidFill>
                  <a:schemeClr val="bg1"/>
                </a:solidFill>
              </a:rPr>
              <a:t>Commentary to focus on potential debt-like items identified.</a:t>
            </a:r>
          </a:p>
        </p:txBody>
      </p:sp>
      <p:sp>
        <p:nvSpPr>
          <p:cNvPr id="15" name="Text Placeholder 14">
            <a:extLst>
              <a:ext uri="{FF2B5EF4-FFF2-40B4-BE49-F238E27FC236}">
                <a16:creationId xmlns:a16="http://schemas.microsoft.com/office/drawing/2014/main" id="{94B470DA-6124-5943-8366-65B728B76134}"/>
              </a:ext>
            </a:extLst>
          </p:cNvPr>
          <p:cNvSpPr>
            <a:spLocks noGrp="1"/>
          </p:cNvSpPr>
          <p:nvPr>
            <p:ph type="body" sz="quarter" idx="10"/>
          </p:nvPr>
        </p:nvSpPr>
        <p:spPr>
          <a:xfrm>
            <a:off x="1021394" y="871298"/>
            <a:ext cx="10180006" cy="490776"/>
          </a:xfrm>
        </p:spPr>
        <p:txBody>
          <a:bodyPr/>
          <a:lstStyle/>
          <a:p>
            <a:r>
              <a:rPr lang="en-US" dirty="0"/>
              <a:t>In addition to adjusted net debt, we highlight a number of other potential debt-like items for your consideration, including notes receivable, unpaid dividends, and near-term IT investment plans. The portion of consolidated indebtedness attributable to minority interests which will remain in the business should be appropriately accounted for at closing.</a:t>
            </a:r>
            <a:endParaRPr lang="en-US" b="0" i="1" dirty="0">
              <a:solidFill>
                <a:srgbClr val="FF0000"/>
              </a:solidFill>
            </a:endParaRPr>
          </a:p>
        </p:txBody>
      </p:sp>
      <p:sp>
        <p:nvSpPr>
          <p:cNvPr id="22" name="Text Placeholder 13">
            <a:extLst>
              <a:ext uri="{FF2B5EF4-FFF2-40B4-BE49-F238E27FC236}">
                <a16:creationId xmlns:a16="http://schemas.microsoft.com/office/drawing/2014/main" id="{F06A0E97-AEFE-952E-4B71-ECFE8D1BC7EC}"/>
              </a:ext>
            </a:extLst>
          </p:cNvPr>
          <p:cNvSpPr txBox="1">
            <a:spLocks/>
          </p:cNvSpPr>
          <p:nvPr/>
        </p:nvSpPr>
        <p:spPr>
          <a:xfrm>
            <a:off x="3696553" y="1331440"/>
            <a:ext cx="7497900" cy="252000"/>
          </a:xfrm>
          <a:prstGeom prst="rect">
            <a:avLst/>
          </a:prstGeom>
          <a:solidFill>
            <a:schemeClr val="tx2"/>
          </a:solidFill>
        </p:spPr>
        <p:txBody>
          <a:bodyPr vert="horz" lIns="72000" tIns="0" rIns="72000" bIns="0" rtlCol="0" anchor="ctr"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Other potential debt-like items</a:t>
            </a:r>
            <a:endParaRPr lang="fi-FI"/>
          </a:p>
        </p:txBody>
      </p:sp>
      <p:sp>
        <p:nvSpPr>
          <p:cNvPr id="14" name="Text Placeholder 6">
            <a:extLst>
              <a:ext uri="{FF2B5EF4-FFF2-40B4-BE49-F238E27FC236}">
                <a16:creationId xmlns:a16="http://schemas.microsoft.com/office/drawing/2014/main" id="{0CB99781-72AF-E7C9-6879-A00A8D63B429}"/>
              </a:ext>
            </a:extLst>
          </p:cNvPr>
          <p:cNvSpPr txBox="1">
            <a:spLocks/>
          </p:cNvSpPr>
          <p:nvPr/>
        </p:nvSpPr>
        <p:spPr>
          <a:xfrm>
            <a:off x="3696553" y="1589303"/>
            <a:ext cx="7497049" cy="4706722"/>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defTabSz="914377">
              <a:spcAft>
                <a:spcPts val="300"/>
              </a:spcAft>
              <a:buFont typeface="+mj-lt"/>
              <a:buAutoNum type="arabicPeriod"/>
              <a:defRPr/>
            </a:pPr>
            <a:r>
              <a:rPr lang="en-US" b="1" dirty="0"/>
              <a:t>Note receivable:</a:t>
            </a:r>
            <a:r>
              <a:rPr lang="en-US" dirty="0"/>
              <a:t> This non-current asset includes the following components as at Dec-24:</a:t>
            </a:r>
          </a:p>
          <a:p>
            <a:pPr marL="409575" lvl="2" indent="-228600" defTabSz="914377">
              <a:spcAft>
                <a:spcPts val="300"/>
              </a:spcAft>
              <a:defRPr/>
            </a:pPr>
            <a:r>
              <a:rPr lang="en-US" dirty="0"/>
              <a:t>a sales price adjustment of $0.7 million owed by a former shareholder in relation to the Sharp acquisition;</a:t>
            </a:r>
          </a:p>
          <a:p>
            <a:pPr marL="409575" lvl="2" indent="-228600" defTabSz="914377">
              <a:spcAft>
                <a:spcPts val="300"/>
              </a:spcAft>
              <a:defRPr/>
            </a:pPr>
            <a:r>
              <a:rPr lang="en-US" dirty="0"/>
              <a:t>an amount recoverable from a former shareholder in Renaud arising from a tax audit relating to pre-acquisition periods ($0.2 million); and</a:t>
            </a:r>
          </a:p>
          <a:p>
            <a:pPr marL="409575" lvl="2" indent="-228600" defTabSz="914377">
              <a:spcAft>
                <a:spcPts val="300"/>
              </a:spcAft>
              <a:defRPr/>
            </a:pPr>
            <a:r>
              <a:rPr lang="en-US" dirty="0"/>
              <a:t>a $0.2 million loan to two individuals to finance their purchase of shares in GTI.</a:t>
            </a:r>
          </a:p>
          <a:p>
            <a:pPr marL="228600" lvl="1" defTabSz="914377">
              <a:spcAft>
                <a:spcPts val="300"/>
              </a:spcAft>
              <a:defRPr/>
            </a:pPr>
            <a:r>
              <a:rPr lang="en-US" dirty="0"/>
              <a:t>The collectability of these balances should be assessed at the closing date to determine their implications in the context of purchase price consideration payable.</a:t>
            </a:r>
          </a:p>
          <a:p>
            <a:pPr marL="228600" lvl="1" indent="-228600" defTabSz="914377">
              <a:spcAft>
                <a:spcPts val="300"/>
              </a:spcAft>
              <a:buFont typeface="+mj-lt"/>
              <a:buAutoNum type="arabicPeriod" startAt="2"/>
              <a:defRPr/>
            </a:pPr>
            <a:r>
              <a:rPr lang="en-US" b="1" dirty="0"/>
              <a:t>Synex Re: </a:t>
            </a:r>
            <a:r>
              <a:rPr lang="en-US" dirty="0"/>
              <a:t>Comprises reported net cash in Synex Re as at Dec-24 which is not incorporated in Company financial results.</a:t>
            </a:r>
          </a:p>
          <a:p>
            <a:pPr marL="228600" lvl="1" indent="-228600" defTabSz="914377">
              <a:spcAft>
                <a:spcPts val="300"/>
              </a:spcAft>
              <a:buFont typeface="+mj-lt"/>
              <a:buAutoNum type="arabicPeriod" startAt="2"/>
              <a:defRPr/>
            </a:pPr>
            <a:r>
              <a:rPr lang="en-US" b="1" dirty="0"/>
              <a:t>Transaction costs: </a:t>
            </a:r>
            <a:r>
              <a:rPr lang="en-US" dirty="0"/>
              <a:t>Consideration should be given to treating as indebtedness any unpaid Vendor professional fees at completion relating to the proposed transaction. We understand an accrual of $1.6 million for accounting and legal fees related to the current divestiture was included in the December 2024 balance sheet and is reflected in the schedule opposite. In addition, any transaction bonus payable to employees or severance payable to any senior management individual expected to depart upon transaction completion should also be captured in net debt. </a:t>
            </a:r>
          </a:p>
          <a:p>
            <a:pPr marL="228600" lvl="1" indent="-228600" defTabSz="914377">
              <a:spcAft>
                <a:spcPts val="300"/>
              </a:spcAft>
              <a:buFont typeface="+mj-lt"/>
              <a:buAutoNum type="arabicPeriod" startAt="2"/>
              <a:defRPr/>
            </a:pPr>
            <a:r>
              <a:rPr lang="en-US" b="1" dirty="0"/>
              <a:t>Unpaid dividends: </a:t>
            </a:r>
            <a:r>
              <a:rPr lang="en-US" dirty="0"/>
              <a:t>Any dividend amounts due to shareholders of the Company should be fully paid out in advance of transaction completion or treated as a debt-like distribution in the closing funds flow. We understand the preference shareholders of the Company have contractual rights to receive annual dividends which must be fully paid-up at closing.</a:t>
            </a:r>
          </a:p>
          <a:p>
            <a:pPr marL="228600" lvl="1" indent="-228600" defTabSz="914377">
              <a:spcAft>
                <a:spcPts val="300"/>
              </a:spcAft>
              <a:buFont typeface="+mj-lt"/>
              <a:buAutoNum type="arabicPeriod" startAt="2"/>
              <a:defRPr/>
            </a:pPr>
            <a:r>
              <a:rPr lang="en-US" b="1" dirty="0"/>
              <a:t>BMS / IT systems upgrade</a:t>
            </a:r>
            <a:r>
              <a:rPr lang="en-US" dirty="0"/>
              <a:t>: Management represents that the Company has invested significantly in the upgrade of its IT systems in recent periods, notably with respect to operating companies which were acquired in recent years. Certain of the IT infrastructure upgrade projects are continuing, including in GTI. Since future investment in IT systems will be borne by the purchaser, you may want to consider proposing a purchase price adjustment for known future IT capex spend relating to legacy acquisitions which have not yet been completed. Any potential near-term investment requirements in IT systems should be assessed as part of your IT due diligence.</a:t>
            </a:r>
          </a:p>
          <a:p>
            <a:pPr marL="228600" lvl="1" indent="-228600" defTabSz="914377">
              <a:spcAft>
                <a:spcPts val="300"/>
              </a:spcAft>
              <a:buFont typeface="+mj-lt"/>
              <a:buAutoNum type="arabicPeriod" startAt="2"/>
              <a:defRPr/>
            </a:pPr>
            <a:r>
              <a:rPr lang="en-US" b="1" dirty="0"/>
              <a:t>Purchase consideration for new acquisitions: </a:t>
            </a:r>
            <a:r>
              <a:rPr lang="en-US" dirty="0"/>
              <a:t>Purchase consideration paid for acquisitions which completed in early 2025 should be considered as debt-like (net of cash acquired), including any deferred or contingent components of purchase price agreed.</a:t>
            </a:r>
          </a:p>
          <a:p>
            <a:pPr lvl="1" defTabSz="914377">
              <a:spcAft>
                <a:spcPts val="300"/>
              </a:spcAft>
              <a:defRPr/>
            </a:pPr>
            <a:r>
              <a:rPr lang="en-US" b="1" dirty="0"/>
              <a:t>Minority interests: </a:t>
            </a:r>
            <a:r>
              <a:rPr lang="en-US" dirty="0"/>
              <a:t>Our working is continuing on validating the inputs to the minority equity and minority debt calculations provided by the Vendors.</a:t>
            </a:r>
            <a:endParaRPr lang="en-US" dirty="0">
              <a:solidFill>
                <a:srgbClr val="FF0000"/>
              </a:solidFill>
            </a:endParaRPr>
          </a:p>
          <a:p>
            <a:pPr marL="228600" lvl="1" indent="-228600" defTabSz="914377">
              <a:spcAft>
                <a:spcPts val="300"/>
              </a:spcAft>
              <a:buFont typeface="+mj-lt"/>
              <a:buAutoNum type="arabicPeriod" startAt="2"/>
              <a:defRPr/>
            </a:pPr>
            <a:endParaRPr lang="en-US" dirty="0"/>
          </a:p>
        </p:txBody>
      </p:sp>
      <p:sp>
        <p:nvSpPr>
          <p:cNvPr id="17" name="Text Placeholder 12">
            <a:extLst>
              <a:ext uri="{FF2B5EF4-FFF2-40B4-BE49-F238E27FC236}">
                <a16:creationId xmlns:a16="http://schemas.microsoft.com/office/drawing/2014/main" id="{D57CFD1A-D425-ABF3-AF28-3F3ED1A184B5}"/>
              </a:ext>
            </a:extLst>
          </p:cNvPr>
          <p:cNvSpPr txBox="1">
            <a:spLocks/>
          </p:cNvSpPr>
          <p:nvPr/>
        </p:nvSpPr>
        <p:spPr>
          <a:xfrm>
            <a:off x="1003312" y="441745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21" name="Picture 20">
            <a:extLst>
              <a:ext uri="{FF2B5EF4-FFF2-40B4-BE49-F238E27FC236}">
                <a16:creationId xmlns:a16="http://schemas.microsoft.com/office/drawing/2014/main" id="{29AB895C-7D76-BFB8-0A19-9A25AE5D2E0C}"/>
              </a:ext>
            </a:extLst>
          </p:cNvPr>
          <p:cNvPicPr>
            <a:picLocks noChangeAspect="1"/>
          </p:cNvPicPr>
          <p:nvPr>
            <p:custDataLst>
              <p:tags r:id="rId4"/>
            </p:custDataLst>
          </p:nvPr>
        </p:nvPicPr>
        <p:blipFill>
          <a:blip r:embed="rId9"/>
          <a:stretch>
            <a:fillRect/>
          </a:stretch>
        </p:blipFill>
        <p:spPr>
          <a:xfrm>
            <a:off x="997547" y="1362603"/>
            <a:ext cx="2532888" cy="3050683"/>
          </a:xfrm>
          <a:prstGeom prst="rect">
            <a:avLst/>
          </a:prstGeom>
        </p:spPr>
      </p:pic>
      <p:grpSp>
        <p:nvGrpSpPr>
          <p:cNvPr id="25" name="Group 24">
            <a:extLst>
              <a:ext uri="{FF2B5EF4-FFF2-40B4-BE49-F238E27FC236}">
                <a16:creationId xmlns:a16="http://schemas.microsoft.com/office/drawing/2014/main" id="{F057A340-9EEA-2B81-4724-484D62FD61B0}"/>
              </a:ext>
            </a:extLst>
          </p:cNvPr>
          <p:cNvGrpSpPr/>
          <p:nvPr>
            <p:custDataLst>
              <p:tags r:id="rId5"/>
            </p:custDataLst>
          </p:nvPr>
        </p:nvGrpSpPr>
        <p:grpSpPr>
          <a:xfrm>
            <a:off x="995364" y="153170"/>
            <a:ext cx="5059950" cy="195814"/>
            <a:chOff x="995364" y="153170"/>
            <a:chExt cx="5059950" cy="195814"/>
          </a:xfrm>
        </p:grpSpPr>
        <p:sp>
          <p:nvSpPr>
            <p:cNvPr id="26"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8"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044671" y="153170"/>
              <a:ext cx="172917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Net working capital and net debt</a:t>
              </a:r>
            </a:p>
          </p:txBody>
        </p:sp>
        <p:sp>
          <p:nvSpPr>
            <p:cNvPr id="35"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73844"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664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474725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9" action="ppaction://hlinksldjump"/>
            <a:extLst>
              <a:ext uri="{FF2B5EF4-FFF2-40B4-BE49-F238E27FC236}">
                <a16:creationId xmlns:a16="http://schemas.microsoft.com/office/drawing/2014/main" id="{02F6BC7F-3310-D1C4-D183-687331886B1F}"/>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dirty="0">
                <a:solidFill>
                  <a:srgbClr val="FFFFFF"/>
                </a:solidFill>
                <a:latin typeface="+mj-lt"/>
              </a:rPr>
              <a:t>Reporting</a:t>
            </a:r>
          </a:p>
        </p:txBody>
      </p:sp>
      <p:sp>
        <p:nvSpPr>
          <p:cNvPr id="5" name="TextBox 4">
            <a:hlinkClick r:id="rId10" action="ppaction://hlinksldjump"/>
            <a:extLst>
              <a:ext uri="{FF2B5EF4-FFF2-40B4-BE49-F238E27FC236}">
                <a16:creationId xmlns:a16="http://schemas.microsoft.com/office/drawing/2014/main" id="{21652CF5-AE33-2E73-5316-2ACF73C57341}"/>
              </a:ext>
            </a:extLst>
          </p:cNvPr>
          <p:cNvSpPr txBox="1"/>
          <p:nvPr>
            <p:custDataLst>
              <p:tags r:id="rId3"/>
            </p:custDataLst>
          </p:nvPr>
        </p:nvSpPr>
        <p:spPr>
          <a:xfrm>
            <a:off x="1714809" y="360470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Financial reporting environment</a:t>
            </a:r>
          </a:p>
        </p:txBody>
      </p:sp>
      <p:sp>
        <p:nvSpPr>
          <p:cNvPr id="6" name="TextBox 5">
            <a:hlinkClick r:id="rId9" action="ppaction://hlinksldjump"/>
            <a:extLst>
              <a:ext uri="{FF2B5EF4-FFF2-40B4-BE49-F238E27FC236}">
                <a16:creationId xmlns:a16="http://schemas.microsoft.com/office/drawing/2014/main" id="{4B97224D-5AF6-47C2-F836-B2A986644F71}"/>
              </a:ext>
            </a:extLst>
          </p:cNvPr>
          <p:cNvSpPr txBox="1"/>
          <p:nvPr>
            <p:custDataLst>
              <p:tags r:id="rId4"/>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dirty="0">
                <a:solidFill>
                  <a:srgbClr val="FFFFFF"/>
                </a:solidFill>
                <a:latin typeface="+mj-lt"/>
              </a:rPr>
              <a:t>04</a:t>
            </a:r>
          </a:p>
        </p:txBody>
      </p:sp>
      <p:sp>
        <p:nvSpPr>
          <p:cNvPr id="7" name="TextBox 6">
            <a:hlinkClick r:id="rId9" action="ppaction://hlinksldjump"/>
            <a:extLst>
              <a:ext uri="{FF2B5EF4-FFF2-40B4-BE49-F238E27FC236}">
                <a16:creationId xmlns:a16="http://schemas.microsoft.com/office/drawing/2014/main" id="{5710CF0B-D705-B332-54FE-6B56AD794CCE}"/>
              </a:ext>
            </a:extLst>
          </p:cNvPr>
          <p:cNvSpPr txBox="1"/>
          <p:nvPr>
            <p:custDataLst>
              <p:tags r:id="rId5"/>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dirty="0">
                <a:ln>
                  <a:noFill/>
                </a:ln>
                <a:noFill/>
                <a:latin typeface="+mj-lt"/>
              </a:rPr>
              <a:t>48</a:t>
            </a:r>
          </a:p>
        </p:txBody>
      </p:sp>
      <p:sp>
        <p:nvSpPr>
          <p:cNvPr id="8" name="TextBox 7">
            <a:hlinkClick r:id="rId10" action="ppaction://hlinksldjump"/>
            <a:extLst>
              <a:ext uri="{FF2B5EF4-FFF2-40B4-BE49-F238E27FC236}">
                <a16:creationId xmlns:a16="http://schemas.microsoft.com/office/drawing/2014/main" id="{D407D906-AA1C-81F4-7020-177B87870A21}"/>
              </a:ext>
            </a:extLst>
          </p:cNvPr>
          <p:cNvSpPr txBox="1"/>
          <p:nvPr>
            <p:custDataLst>
              <p:tags r:id="rId6"/>
            </p:custDataLst>
          </p:nvPr>
        </p:nvSpPr>
        <p:spPr bwMode="auto">
          <a:xfrm>
            <a:off x="1332373" y="36047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4.1</a:t>
            </a:r>
          </a:p>
        </p:txBody>
      </p:sp>
      <p:sp>
        <p:nvSpPr>
          <p:cNvPr id="9" name="TextBox 8">
            <a:hlinkClick r:id="rId10" action="ppaction://hlinksldjump"/>
            <a:extLst>
              <a:ext uri="{FF2B5EF4-FFF2-40B4-BE49-F238E27FC236}">
                <a16:creationId xmlns:a16="http://schemas.microsoft.com/office/drawing/2014/main" id="{EFED09D2-C73C-B038-F40C-D4EFFEFFA360}"/>
              </a:ext>
            </a:extLst>
          </p:cNvPr>
          <p:cNvSpPr txBox="1"/>
          <p:nvPr>
            <p:custDataLst>
              <p:tags r:id="rId7"/>
            </p:custDataLst>
          </p:nvPr>
        </p:nvSpPr>
        <p:spPr>
          <a:xfrm>
            <a:off x="6163612" y="36047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49</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vert="horz"/>
          <a:lstStyle/>
          <a:p>
            <a:r>
              <a:rPr lang="en-US" dirty="0"/>
              <a:t>Financial reporting environment (1/2)</a:t>
            </a:r>
          </a:p>
        </p:txBody>
      </p:sp>
      <p:sp>
        <p:nvSpPr>
          <p:cNvPr id="26" name="Text Placeholder 25">
            <a:extLst>
              <a:ext uri="{FF2B5EF4-FFF2-40B4-BE49-F238E27FC236}">
                <a16:creationId xmlns:a16="http://schemas.microsoft.com/office/drawing/2014/main" id="{B6D0E93A-345D-D88D-BB63-389473DFF5BA}"/>
              </a:ext>
            </a:extLst>
          </p:cNvPr>
          <p:cNvSpPr>
            <a:spLocks noGrp="1"/>
          </p:cNvSpPr>
          <p:nvPr>
            <p:ph type="body" sz="quarter" idx="23"/>
          </p:nvPr>
        </p:nvSpPr>
        <p:spPr>
          <a:xfrm>
            <a:off x="995361" y="1588805"/>
            <a:ext cx="5031012" cy="3799009"/>
          </a:xfrm>
        </p:spPr>
        <p:txBody>
          <a:bodyPr/>
          <a:lstStyle/>
          <a:p>
            <a:r>
              <a:rPr lang="en-US" b="0" dirty="0">
                <a:solidFill>
                  <a:schemeClr val="tx1"/>
                </a:solidFill>
              </a:rPr>
              <a:t>The financial information presented in this report is primarily based on data contained in the sell-side due diligence datapacks prepared by EY relating to the periods FY22, FY23, and FY24. Reported financial information contained in the sell-side due diligence datapacks was exported from monthly trial balances provided by Management.</a:t>
            </a:r>
          </a:p>
          <a:p>
            <a:r>
              <a:rPr lang="en-US" b="0" dirty="0">
                <a:solidFill>
                  <a:schemeClr val="tx1"/>
                </a:solidFill>
              </a:rPr>
              <a:t>The accounting and finance department in the Company currently comprises eight individuals, and has been subject to significant expansion over the Historical Period in order to internalize certain functions and improve internal financial reporting practices, with team size increasing from an average of 3.5 FTEs in FY22 to 7.4 FTEs in FY24. The finance team is currently led by Sylvie Lambert (CFO) who, we understand, is expected to depart upon transaction completion and will be replaced by Marc Noel (current VP of Finance) who has been part of the business since April 2023. </a:t>
            </a:r>
          </a:p>
          <a:p>
            <a:r>
              <a:rPr lang="en-US" b="0" dirty="0">
                <a:solidFill>
                  <a:schemeClr val="tx1"/>
                </a:solidFill>
              </a:rPr>
              <a:t>We understand the Company prepares consolidated financial information on a monthly basis, reflecting an aggregation of standalone financial reports submitted by finance teams in each of the operating subsidiaries and adjusted at the head office level to exclude certain intercompany transactions between group companies. There are a number of different accounting systems used by the operating subsidiaries in the business, resulting in some account classification and financial statement mapping variations across individual entities. There is limited integration between the accounting system and other IT platforms used in the group including payroll and broker management systems.</a:t>
            </a:r>
          </a:p>
          <a:p>
            <a:r>
              <a:rPr lang="en-US" b="0" dirty="0">
                <a:solidFill>
                  <a:schemeClr val="tx1"/>
                </a:solidFill>
              </a:rPr>
              <a:t>Management represented there are no significant differences between the month end and year end close processes.</a:t>
            </a:r>
          </a:p>
        </p:txBody>
      </p:sp>
      <p:sp>
        <p:nvSpPr>
          <p:cNvPr id="28" name="Text Placeholder 27">
            <a:extLst>
              <a:ext uri="{FF2B5EF4-FFF2-40B4-BE49-F238E27FC236}">
                <a16:creationId xmlns:a16="http://schemas.microsoft.com/office/drawing/2014/main" id="{04147A3E-131E-C8A6-2992-FA1CC63D40D7}"/>
              </a:ext>
            </a:extLst>
          </p:cNvPr>
          <p:cNvSpPr>
            <a:spLocks noGrp="1"/>
          </p:cNvSpPr>
          <p:nvPr>
            <p:ph type="body" sz="quarter" idx="27"/>
          </p:nvPr>
        </p:nvSpPr>
        <p:spPr>
          <a:xfrm>
            <a:off x="6175864" y="1588804"/>
            <a:ext cx="5036400" cy="2910767"/>
          </a:xfrm>
        </p:spPr>
        <p:txBody>
          <a:bodyPr/>
          <a:lstStyle/>
          <a:p>
            <a:pPr lvl="1"/>
            <a:r>
              <a:rPr lang="en-US" dirty="0"/>
              <a:t>The consolidated financial statements of the Company are subject to annual audit by Deloitte. Additionally, Deloitte performs compilation procedures with respect to the standalone financial statements of each of the operating subsidiaries in the group. Financial statements of both the group and its individual subsidiaries are prepared under ASPE, except for the application of different bases of balance sheet presentation for retractable redeemable shares relating to shareholders of the Company and those attributable to non-controlling interests in subsidiaries. </a:t>
            </a:r>
          </a:p>
          <a:p>
            <a:pPr lvl="1"/>
            <a:r>
              <a:rPr lang="en-US" dirty="0"/>
              <a:t>The auditor issued a qualified audit opinion over the consolidated financial statements for the Company with respect to the year ended December 31, 2022 relating to the computation of purchase price accounting adjustments for acquisitions completed during FY22. The consolidated audited financial statements for the year ended December 31, 2023 included a restatement of prior period results for revised purchase price accounting adjustments. Refer to Appendix 1 for a reconciliation of trial balances to audited financial statements for the years ended December 31, 2022 and 2023.</a:t>
            </a:r>
          </a:p>
          <a:p>
            <a:pPr lvl="1"/>
            <a:r>
              <a:rPr lang="en-US" dirty="0"/>
              <a:t>We understand the audit related to the year ended December 31, 2024 is currently ongoing, with Management expecting draft financial statements to be available in early April 2025. Management has not been informed of any material items arising from audit fieldwork completed to date.</a:t>
            </a:r>
          </a:p>
        </p:txBody>
      </p:sp>
      <p:sp>
        <p:nvSpPr>
          <p:cNvPr id="32" name="Text Placeholder 31">
            <a:extLst>
              <a:ext uri="{FF2B5EF4-FFF2-40B4-BE49-F238E27FC236}">
                <a16:creationId xmlns:a16="http://schemas.microsoft.com/office/drawing/2014/main" id="{7BF3631D-182B-9749-6EB3-2183298B1FE2}"/>
              </a:ext>
            </a:extLst>
          </p:cNvPr>
          <p:cNvSpPr>
            <a:spLocks noGrp="1"/>
          </p:cNvSpPr>
          <p:nvPr>
            <p:ph type="body" sz="quarter" idx="11"/>
          </p:nvPr>
        </p:nvSpPr>
        <p:spPr>
          <a:xfrm>
            <a:off x="6165629" y="1336805"/>
            <a:ext cx="5036400" cy="252000"/>
          </a:xfrm>
        </p:spPr>
        <p:txBody>
          <a:bodyPr/>
          <a:lstStyle/>
          <a:p>
            <a:r>
              <a:rPr lang="en-US" dirty="0"/>
              <a:t>Audit experience</a:t>
            </a:r>
          </a:p>
        </p:txBody>
      </p:sp>
      <p:sp>
        <p:nvSpPr>
          <p:cNvPr id="33" name="Text Placeholder 32">
            <a:extLst>
              <a:ext uri="{FF2B5EF4-FFF2-40B4-BE49-F238E27FC236}">
                <a16:creationId xmlns:a16="http://schemas.microsoft.com/office/drawing/2014/main" id="{304B027B-399A-A368-022D-53FB67040DFB}"/>
              </a:ext>
            </a:extLst>
          </p:cNvPr>
          <p:cNvSpPr>
            <a:spLocks noGrp="1"/>
          </p:cNvSpPr>
          <p:nvPr>
            <p:ph type="body" sz="quarter" idx="25"/>
          </p:nvPr>
        </p:nvSpPr>
        <p:spPr>
          <a:xfrm>
            <a:off x="995361" y="1336805"/>
            <a:ext cx="5036400" cy="252000"/>
          </a:xfrm>
        </p:spPr>
        <p:txBody>
          <a:bodyPr/>
          <a:lstStyle/>
          <a:p>
            <a:r>
              <a:rPr lang="en-US" dirty="0"/>
              <a:t>Organization and reporting process</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6" name="Text Placeholder 7">
            <a:extLst>
              <a:ext uri="{FF2B5EF4-FFF2-40B4-BE49-F238E27FC236}">
                <a16:creationId xmlns:a16="http://schemas.microsoft.com/office/drawing/2014/main" id="{9347D54E-E18F-4415-A582-3D3E064141CD}"/>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7" name="Text Placeholder 12">
            <a:extLst>
              <a:ext uri="{FF2B5EF4-FFF2-40B4-BE49-F238E27FC236}">
                <a16:creationId xmlns:a16="http://schemas.microsoft.com/office/drawing/2014/main" id="{D705460B-5775-C4C2-7802-EE939917B1E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8" name="Rounded Rectangle 7">
            <a:extLst>
              <a:ext uri="{FF2B5EF4-FFF2-40B4-BE49-F238E27FC236}">
                <a16:creationId xmlns:a16="http://schemas.microsoft.com/office/drawing/2014/main" id="{D971B535-6649-B156-57F6-59CA621C5B1B}"/>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9" name="Rectangle 8">
            <a:extLst>
              <a:ext uri="{FF2B5EF4-FFF2-40B4-BE49-F238E27FC236}">
                <a16:creationId xmlns:a16="http://schemas.microsoft.com/office/drawing/2014/main" id="{A2C75C68-EF93-B0FA-9701-E1AA2B29126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0" name="Straight Arrow Connector 9">
            <a:extLst>
              <a:ext uri="{FF2B5EF4-FFF2-40B4-BE49-F238E27FC236}">
                <a16:creationId xmlns:a16="http://schemas.microsoft.com/office/drawing/2014/main" id="{7CC966DB-0715-C495-08A4-8034D9C49C92}"/>
              </a:ext>
            </a:extLst>
          </p:cNvPr>
          <p:cNvCxnSpPr>
            <a:cxnSpLocks/>
            <a:stCxn id="9"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CCAF7A7-70ED-AE9F-EA7D-8BF63F3F821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Rectangle 3">
            <a:extLst>
              <a:ext uri="{FF2B5EF4-FFF2-40B4-BE49-F238E27FC236}">
                <a16:creationId xmlns:a16="http://schemas.microsoft.com/office/drawing/2014/main" id="{A0F0BF8F-510C-83A8-8944-352DE566B92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7180C6A8-EDDF-320A-3033-E946E2A2089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33311AA3-A0A5-AE11-3497-9516FC36FA2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16" name="UpSlide SubSection Marker" hidden="1">
            <a:extLst>
              <a:ext uri="{FF2B5EF4-FFF2-40B4-BE49-F238E27FC236}">
                <a16:creationId xmlns:a16="http://schemas.microsoft.com/office/drawing/2014/main" id="{01A7DC40-6C99-A443-1402-25576B62D29F}"/>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Financial reporting environment</a:t>
            </a:r>
          </a:p>
        </p:txBody>
      </p:sp>
      <p:sp>
        <p:nvSpPr>
          <p:cNvPr id="3" name="Rectangle 2">
            <a:extLst>
              <a:ext uri="{FF2B5EF4-FFF2-40B4-BE49-F238E27FC236}">
                <a16:creationId xmlns:a16="http://schemas.microsoft.com/office/drawing/2014/main" id="{00EDDA6D-B1F2-A545-EEFF-92B2E7458FE2}"/>
              </a:ext>
            </a:extLst>
          </p:cNvPr>
          <p:cNvSpPr/>
          <p:nvPr/>
        </p:nvSpPr>
        <p:spPr>
          <a:xfrm>
            <a:off x="1879950" y="6925521"/>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To populate as needed (no duplication with sell-side report): observations on FR environment / team</a:t>
            </a:r>
          </a:p>
          <a:p>
            <a:pPr algn="ctr"/>
            <a:r>
              <a:rPr lang="en-US" sz="900" dirty="0">
                <a:solidFill>
                  <a:schemeClr val="bg1"/>
                </a:solidFill>
              </a:rPr>
              <a:t>Accounting policies: deviations, rev rec (base and CPCs), producer comms, premium financing, uniformity across group,</a:t>
            </a:r>
          </a:p>
        </p:txBody>
      </p:sp>
      <p:grpSp>
        <p:nvGrpSpPr>
          <p:cNvPr id="36" name="Group 35">
            <a:extLst>
              <a:ext uri="{FF2B5EF4-FFF2-40B4-BE49-F238E27FC236}">
                <a16:creationId xmlns:a16="http://schemas.microsoft.com/office/drawing/2014/main" id="{934AC5B2-C89B-763D-EE7F-48821CFF9479}"/>
              </a:ext>
            </a:extLst>
          </p:cNvPr>
          <p:cNvGrpSpPr/>
          <p:nvPr>
            <p:custDataLst>
              <p:tags r:id="rId4"/>
            </p:custDataLst>
          </p:nvPr>
        </p:nvGrpSpPr>
        <p:grpSpPr>
          <a:xfrm>
            <a:off x="995364" y="153170"/>
            <a:ext cx="4989417" cy="195814"/>
            <a:chOff x="995364" y="153170"/>
            <a:chExt cx="4989417"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4666443" y="153170"/>
              <a:ext cx="62951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Reporting</a:t>
              </a:r>
            </a:p>
          </p:txBody>
        </p:sp>
        <p:sp>
          <p:nvSpPr>
            <p:cNvPr id="3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5956"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02383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vert="horz"/>
          <a:lstStyle/>
          <a:p>
            <a:r>
              <a:rPr lang="en-US" dirty="0"/>
              <a:t>Financial reporting environment (2/2)</a:t>
            </a:r>
          </a:p>
        </p:txBody>
      </p:sp>
      <p:sp>
        <p:nvSpPr>
          <p:cNvPr id="27" name="Text Placeholder 26">
            <a:extLst>
              <a:ext uri="{FF2B5EF4-FFF2-40B4-BE49-F238E27FC236}">
                <a16:creationId xmlns:a16="http://schemas.microsoft.com/office/drawing/2014/main" id="{382D9D77-366A-F78E-3086-4760FC4ED6BB}"/>
              </a:ext>
            </a:extLst>
          </p:cNvPr>
          <p:cNvSpPr>
            <a:spLocks noGrp="1"/>
          </p:cNvSpPr>
          <p:nvPr>
            <p:ph type="body" sz="quarter" idx="24"/>
          </p:nvPr>
        </p:nvSpPr>
        <p:spPr>
          <a:xfrm>
            <a:off x="979736" y="1588805"/>
            <a:ext cx="5116264" cy="1764000"/>
          </a:xfrm>
        </p:spPr>
        <p:txBody>
          <a:bodyPr/>
          <a:lstStyle/>
          <a:p>
            <a:r>
              <a:rPr lang="en-US" b="0" dirty="0">
                <a:solidFill>
                  <a:schemeClr val="tx1"/>
                </a:solidFill>
              </a:rPr>
              <a:t>The key accounting policies applied in preparing the Company’s financial statements are set out below:</a:t>
            </a:r>
          </a:p>
          <a:p>
            <a:pPr marL="171450" indent="-171450">
              <a:buFont typeface="Arial" panose="020B0604020202020204" pitchFamily="34" charset="0"/>
              <a:buChar char="•"/>
            </a:pPr>
            <a:r>
              <a:rPr lang="en-US" b="0" dirty="0">
                <a:solidFill>
                  <a:schemeClr val="tx1"/>
                </a:solidFill>
              </a:rPr>
              <a:t>Revenue recognition: Base commission revenue is recognized when contracts are issued to clients, services have been rendered, and there is reasonable certainty that contracts will be signed. All commission revenue is recognized at the point of contract inception, irrespective of the term to which the policy relates. The Company does not recognize a cancellation provision for policies terminated prior to the end of their term. Contingent and bonus commissions are accrued based on Management’s best estimates during the year and subject to periodic adjustment as additional information becomes available. Management recognizes a true-up adjustment at each fiscal year end to align reported CPC revenue with amounts confirmed by carriers at the beginning of each calendar year.</a:t>
            </a:r>
          </a:p>
          <a:p>
            <a:pPr marL="171450" indent="-171450">
              <a:buFont typeface="Arial" panose="020B0604020202020204" pitchFamily="34" charset="0"/>
              <a:buChar char="•"/>
            </a:pPr>
            <a:r>
              <a:rPr lang="en-US" b="0" dirty="0">
                <a:solidFill>
                  <a:schemeClr val="tx1"/>
                </a:solidFill>
              </a:rPr>
              <a:t>Producer commissions: Commissions payable to producers are accrued on a monthly basis by reference to their agreed compensation terms, with commission payments typically occurring one month in arrears.</a:t>
            </a:r>
          </a:p>
          <a:p>
            <a:pPr marL="171450" indent="-171450">
              <a:buFont typeface="Arial" panose="020B0604020202020204" pitchFamily="34" charset="0"/>
              <a:buChar char="•"/>
            </a:pPr>
            <a:r>
              <a:rPr lang="en-US" b="0" dirty="0">
                <a:solidFill>
                  <a:schemeClr val="tx1"/>
                </a:solidFill>
              </a:rPr>
              <a:t>Shareholdings and minority interests: Entities in which the Company is deemed to have control are fully consolidated into the group financial statements, with the portion of net income attributable to non-controlling interests presented below consolidated net income and allocated to NCI within equity. Where control does not exist, the Company applies the cost method and recognizes the carrying value of its investment at cost less accumulated impairment. Returns from minority interests held by the Company are only recognized in the income statement to the extent they are received or receivable.</a:t>
            </a:r>
          </a:p>
          <a:p>
            <a:pPr marL="171450" indent="-171450">
              <a:buFont typeface="Arial" panose="020B0604020202020204" pitchFamily="34" charset="0"/>
              <a:buChar char="•"/>
            </a:pPr>
            <a:r>
              <a:rPr lang="en-US" b="0" dirty="0">
                <a:solidFill>
                  <a:schemeClr val="tx1"/>
                </a:solidFill>
              </a:rPr>
              <a:t>Cash in trust / restricted cash: Cash balances maintained in designated brokerage accounts in subsidiaries are presented as restricted cash on the balance sheet.</a:t>
            </a:r>
          </a:p>
          <a:p>
            <a:r>
              <a:rPr lang="en-US" b="0" dirty="0">
                <a:solidFill>
                  <a:schemeClr val="tx1"/>
                </a:solidFill>
              </a:rPr>
              <a:t>Management represented that accounting policies are applied uniformly across the group.</a:t>
            </a:r>
          </a:p>
        </p:txBody>
      </p:sp>
      <p:sp>
        <p:nvSpPr>
          <p:cNvPr id="33" name="Text Placeholder 32">
            <a:extLst>
              <a:ext uri="{FF2B5EF4-FFF2-40B4-BE49-F238E27FC236}">
                <a16:creationId xmlns:a16="http://schemas.microsoft.com/office/drawing/2014/main" id="{304B027B-399A-A368-022D-53FB67040DFB}"/>
              </a:ext>
            </a:extLst>
          </p:cNvPr>
          <p:cNvSpPr>
            <a:spLocks noGrp="1"/>
          </p:cNvSpPr>
          <p:nvPr>
            <p:ph type="body" sz="quarter" idx="25"/>
          </p:nvPr>
        </p:nvSpPr>
        <p:spPr>
          <a:xfrm>
            <a:off x="995361" y="1336805"/>
            <a:ext cx="5036400" cy="252000"/>
          </a:xfrm>
        </p:spPr>
        <p:txBody>
          <a:bodyPr/>
          <a:lstStyle/>
          <a:p>
            <a:r>
              <a:rPr lang="en-US" dirty="0"/>
              <a:t>Key accounting policies</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6" name="Text Placeholder 7">
            <a:extLst>
              <a:ext uri="{FF2B5EF4-FFF2-40B4-BE49-F238E27FC236}">
                <a16:creationId xmlns:a16="http://schemas.microsoft.com/office/drawing/2014/main" id="{9347D54E-E18F-4415-A582-3D3E064141CD}"/>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7" name="Text Placeholder 12">
            <a:extLst>
              <a:ext uri="{FF2B5EF4-FFF2-40B4-BE49-F238E27FC236}">
                <a16:creationId xmlns:a16="http://schemas.microsoft.com/office/drawing/2014/main" id="{D705460B-5775-C4C2-7802-EE939917B1E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8" name="Rounded Rectangle 7">
            <a:extLst>
              <a:ext uri="{FF2B5EF4-FFF2-40B4-BE49-F238E27FC236}">
                <a16:creationId xmlns:a16="http://schemas.microsoft.com/office/drawing/2014/main" id="{D971B535-6649-B156-57F6-59CA621C5B1B}"/>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9" name="Rectangle 8">
            <a:extLst>
              <a:ext uri="{FF2B5EF4-FFF2-40B4-BE49-F238E27FC236}">
                <a16:creationId xmlns:a16="http://schemas.microsoft.com/office/drawing/2014/main" id="{A2C75C68-EF93-B0FA-9701-E1AA2B29126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0" name="Straight Arrow Connector 9">
            <a:extLst>
              <a:ext uri="{FF2B5EF4-FFF2-40B4-BE49-F238E27FC236}">
                <a16:creationId xmlns:a16="http://schemas.microsoft.com/office/drawing/2014/main" id="{7CC966DB-0715-C495-08A4-8034D9C49C92}"/>
              </a:ext>
            </a:extLst>
          </p:cNvPr>
          <p:cNvCxnSpPr>
            <a:cxnSpLocks/>
            <a:stCxn id="9"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CCAF7A7-70ED-AE9F-EA7D-8BF63F3F821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4" name="Rectangle 3">
            <a:extLst>
              <a:ext uri="{FF2B5EF4-FFF2-40B4-BE49-F238E27FC236}">
                <a16:creationId xmlns:a16="http://schemas.microsoft.com/office/drawing/2014/main" id="{A0F0BF8F-510C-83A8-8944-352DE566B92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7180C6A8-EDDF-320A-3033-E946E2A2089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33311AA3-A0A5-AE11-3497-9516FC36FA2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16" name="UpSlide SubSection Marker" hidden="1">
            <a:extLst>
              <a:ext uri="{FF2B5EF4-FFF2-40B4-BE49-F238E27FC236}">
                <a16:creationId xmlns:a16="http://schemas.microsoft.com/office/drawing/2014/main" id="{01A7DC40-6C99-A443-1402-25576B62D29F}"/>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Financial reporting environment</a:t>
            </a:r>
          </a:p>
        </p:txBody>
      </p:sp>
      <p:sp>
        <p:nvSpPr>
          <p:cNvPr id="3" name="Rectangle 2">
            <a:extLst>
              <a:ext uri="{FF2B5EF4-FFF2-40B4-BE49-F238E27FC236}">
                <a16:creationId xmlns:a16="http://schemas.microsoft.com/office/drawing/2014/main" id="{00EDDA6D-B1F2-A545-EEFF-92B2E7458FE2}"/>
              </a:ext>
            </a:extLst>
          </p:cNvPr>
          <p:cNvSpPr/>
          <p:nvPr/>
        </p:nvSpPr>
        <p:spPr>
          <a:xfrm>
            <a:off x="1879950" y="6925521"/>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To populate as needed (no duplication with sell-side report): observations on FR environment / team</a:t>
            </a:r>
          </a:p>
          <a:p>
            <a:pPr algn="ctr"/>
            <a:r>
              <a:rPr lang="en-US" sz="900" dirty="0">
                <a:solidFill>
                  <a:schemeClr val="bg1"/>
                </a:solidFill>
              </a:rPr>
              <a:t>Accounting policies: deviations, rev rec (base and CPCs), producer comms, premium financing, uniformity across group,</a:t>
            </a:r>
          </a:p>
        </p:txBody>
      </p:sp>
      <p:grpSp>
        <p:nvGrpSpPr>
          <p:cNvPr id="28" name="Group 27">
            <a:extLst>
              <a:ext uri="{FF2B5EF4-FFF2-40B4-BE49-F238E27FC236}">
                <a16:creationId xmlns:a16="http://schemas.microsoft.com/office/drawing/2014/main" id="{934AC5B2-C89B-763D-EE7F-48821CFF9479}"/>
              </a:ext>
            </a:extLst>
          </p:cNvPr>
          <p:cNvGrpSpPr/>
          <p:nvPr>
            <p:custDataLst>
              <p:tags r:id="rId4"/>
            </p:custDataLst>
          </p:nvPr>
        </p:nvGrpSpPr>
        <p:grpSpPr>
          <a:xfrm>
            <a:off x="995364" y="153170"/>
            <a:ext cx="4989417" cy="195814"/>
            <a:chOff x="995364" y="153170"/>
            <a:chExt cx="4989417"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Current Section4">
              <a:hlinkClick r:id="rId11" action="ppaction://hlinksldjump"/>
              <a:extLst>
                <a:ext uri="{FF2B5EF4-FFF2-40B4-BE49-F238E27FC236}">
                  <a16:creationId xmlns:a16="http://schemas.microsoft.com/office/drawing/2014/main" id="{89A61135-1F00-E77F-7C78-5FBA241A5742}"/>
                </a:ext>
              </a:extLst>
            </p:cNvPr>
            <p:cNvSpPr>
              <a:spLocks/>
            </p:cNvSpPr>
            <p:nvPr/>
          </p:nvSpPr>
          <p:spPr>
            <a:xfrm>
              <a:off x="4666443" y="153170"/>
              <a:ext cx="62951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Reporting</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5956"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637269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C7E9FF-421C-5221-9368-C1034BAAD6BF}"/>
              </a:ext>
            </a:extLst>
          </p:cNvPr>
          <p:cNvSpPr/>
          <p:nvPr/>
        </p:nvSpPr>
        <p:spPr>
          <a:xfrm>
            <a:off x="7311983" y="-1461121"/>
            <a:ext cx="3951214" cy="1333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Appendices to include:</a:t>
            </a:r>
          </a:p>
          <a:p>
            <a:pPr algn="ctr"/>
            <a:r>
              <a:rPr lang="en-US" sz="900" dirty="0">
                <a:solidFill>
                  <a:schemeClr val="bg1"/>
                </a:solidFill>
              </a:rPr>
              <a:t>- FS recs (IS and BS)</a:t>
            </a:r>
          </a:p>
          <a:p>
            <a:pPr algn="ctr"/>
            <a:r>
              <a:rPr lang="en-US" sz="900" dirty="0">
                <a:solidFill>
                  <a:schemeClr val="bg1"/>
                </a:solidFill>
              </a:rPr>
              <a:t>- Net income to reported EBITDA rec</a:t>
            </a:r>
          </a:p>
          <a:p>
            <a:pPr algn="ctr"/>
            <a:r>
              <a:rPr lang="en-US" sz="900" dirty="0">
                <a:solidFill>
                  <a:schemeClr val="bg1"/>
                </a:solidFill>
              </a:rPr>
              <a:t>- Adjusted IS / NWC</a:t>
            </a:r>
          </a:p>
          <a:p>
            <a:pPr algn="ctr"/>
            <a:r>
              <a:rPr lang="en-US" sz="900" dirty="0">
                <a:solidFill>
                  <a:schemeClr val="bg1"/>
                </a:solidFill>
              </a:rPr>
              <a:t>- CPC by carrier p.a.</a:t>
            </a:r>
          </a:p>
        </p:txBody>
      </p:sp>
      <p:sp>
        <p:nvSpPr>
          <p:cNvPr id="38" name="TextBox 37">
            <a:hlinkClick r:id="rId33" action="ppaction://hlinksldjump"/>
            <a:extLst>
              <a:ext uri="{FF2B5EF4-FFF2-40B4-BE49-F238E27FC236}">
                <a16:creationId xmlns:a16="http://schemas.microsoft.com/office/drawing/2014/main" id="{182D1BCC-C98C-5BD9-6A90-41D29963AF71}"/>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dirty="0">
                <a:solidFill>
                  <a:srgbClr val="FFFFFF"/>
                </a:solidFill>
                <a:latin typeface="+mj-lt"/>
              </a:rPr>
              <a:t>Appendices</a:t>
            </a:r>
          </a:p>
        </p:txBody>
      </p:sp>
      <p:sp>
        <p:nvSpPr>
          <p:cNvPr id="39" name="TextBox 38">
            <a:hlinkClick r:id="rId34" action="ppaction://hlinksldjump"/>
            <a:extLst>
              <a:ext uri="{FF2B5EF4-FFF2-40B4-BE49-F238E27FC236}">
                <a16:creationId xmlns:a16="http://schemas.microsoft.com/office/drawing/2014/main" id="{EEFE56A4-7D4E-1C3E-06C7-C9027A776A8B}"/>
              </a:ext>
            </a:extLst>
          </p:cNvPr>
          <p:cNvSpPr txBox="1"/>
          <p:nvPr>
            <p:custDataLst>
              <p:tags r:id="rId3"/>
            </p:custDataLst>
          </p:nvPr>
        </p:nvSpPr>
        <p:spPr>
          <a:xfrm>
            <a:off x="1714809" y="3604706"/>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Reconciliation to audited financial statements</a:t>
            </a:r>
          </a:p>
        </p:txBody>
      </p:sp>
      <p:sp>
        <p:nvSpPr>
          <p:cNvPr id="40" name="TextBox 39">
            <a:hlinkClick r:id="rId35" action="ppaction://hlinksldjump"/>
            <a:extLst>
              <a:ext uri="{FF2B5EF4-FFF2-40B4-BE49-F238E27FC236}">
                <a16:creationId xmlns:a16="http://schemas.microsoft.com/office/drawing/2014/main" id="{2A1BC3C1-7266-0BC5-E6E7-8C1E5E51933D}"/>
              </a:ext>
            </a:extLst>
          </p:cNvPr>
          <p:cNvSpPr txBox="1"/>
          <p:nvPr>
            <p:custDataLst>
              <p:tags r:id="rId4"/>
            </p:custDataLst>
          </p:nvPr>
        </p:nvSpPr>
        <p:spPr>
          <a:xfrm>
            <a:off x="1714809" y="3999422"/>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Sell-side challenges overview</a:t>
            </a:r>
          </a:p>
        </p:txBody>
      </p:sp>
      <p:sp>
        <p:nvSpPr>
          <p:cNvPr id="41" name="TextBox 40">
            <a:hlinkClick r:id="rId36" action="ppaction://hlinksldjump"/>
            <a:extLst>
              <a:ext uri="{FF2B5EF4-FFF2-40B4-BE49-F238E27FC236}">
                <a16:creationId xmlns:a16="http://schemas.microsoft.com/office/drawing/2014/main" id="{F1D739BA-BA89-A94E-AADF-49EAFAB7ACCE}"/>
              </a:ext>
            </a:extLst>
          </p:cNvPr>
          <p:cNvSpPr txBox="1"/>
          <p:nvPr>
            <p:custDataLst>
              <p:tags r:id="rId5"/>
            </p:custDataLst>
          </p:nvPr>
        </p:nvSpPr>
        <p:spPr>
          <a:xfrm>
            <a:off x="1714809" y="4394138"/>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New producer compensation</a:t>
            </a:r>
          </a:p>
        </p:txBody>
      </p:sp>
      <p:sp>
        <p:nvSpPr>
          <p:cNvPr id="42" name="TextBox 41">
            <a:hlinkClick r:id="rId37" action="ppaction://hlinksldjump"/>
            <a:extLst>
              <a:ext uri="{FF2B5EF4-FFF2-40B4-BE49-F238E27FC236}">
                <a16:creationId xmlns:a16="http://schemas.microsoft.com/office/drawing/2014/main" id="{67212277-F25A-BB39-4C9C-2FC8B686863E}"/>
              </a:ext>
            </a:extLst>
          </p:cNvPr>
          <p:cNvSpPr txBox="1"/>
          <p:nvPr>
            <p:custDataLst>
              <p:tags r:id="rId6"/>
            </p:custDataLst>
          </p:nvPr>
        </p:nvSpPr>
        <p:spPr>
          <a:xfrm>
            <a:off x="1714809" y="4788853"/>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Net working capital</a:t>
            </a:r>
          </a:p>
        </p:txBody>
      </p:sp>
      <p:sp>
        <p:nvSpPr>
          <p:cNvPr id="43" name="TextBox 42">
            <a:hlinkClick r:id="rId38" action="ppaction://hlinksldjump"/>
            <a:extLst>
              <a:ext uri="{FF2B5EF4-FFF2-40B4-BE49-F238E27FC236}">
                <a16:creationId xmlns:a16="http://schemas.microsoft.com/office/drawing/2014/main" id="{03C99DA8-181E-2F9A-3062-7E0B3A10EDD8}"/>
              </a:ext>
            </a:extLst>
          </p:cNvPr>
          <p:cNvSpPr txBox="1"/>
          <p:nvPr>
            <p:custDataLst>
              <p:tags r:id="rId7"/>
            </p:custDataLst>
          </p:nvPr>
        </p:nvSpPr>
        <p:spPr>
          <a:xfrm>
            <a:off x="1714809" y="5183569"/>
            <a:ext cx="4448803"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Net debt</a:t>
            </a:r>
          </a:p>
        </p:txBody>
      </p:sp>
      <p:sp>
        <p:nvSpPr>
          <p:cNvPr id="44" name="TextBox 43">
            <a:hlinkClick r:id="rId39" action="ppaction://hlinksldjump"/>
            <a:extLst>
              <a:ext uri="{FF2B5EF4-FFF2-40B4-BE49-F238E27FC236}">
                <a16:creationId xmlns:a16="http://schemas.microsoft.com/office/drawing/2014/main" id="{73CC9946-C058-E412-F9FA-0C860C4D8BAF}"/>
              </a:ext>
            </a:extLst>
          </p:cNvPr>
          <p:cNvSpPr txBox="1"/>
          <p:nvPr>
            <p:custDataLst>
              <p:tags r:id="rId8"/>
            </p:custDataLst>
          </p:nvPr>
        </p:nvSpPr>
        <p:spPr>
          <a:xfrm>
            <a:off x="6716117" y="3566606"/>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Legal structure</a:t>
            </a:r>
          </a:p>
        </p:txBody>
      </p:sp>
      <p:sp>
        <p:nvSpPr>
          <p:cNvPr id="45" name="TextBox 44">
            <a:hlinkClick r:id="rId40" action="ppaction://hlinksldjump"/>
            <a:extLst>
              <a:ext uri="{FF2B5EF4-FFF2-40B4-BE49-F238E27FC236}">
                <a16:creationId xmlns:a16="http://schemas.microsoft.com/office/drawing/2014/main" id="{90467D47-91A4-2D4E-2440-56AD9B7EE370}"/>
              </a:ext>
            </a:extLst>
          </p:cNvPr>
          <p:cNvSpPr txBox="1"/>
          <p:nvPr>
            <p:custDataLst>
              <p:tags r:id="rId9"/>
            </p:custDataLst>
          </p:nvPr>
        </p:nvSpPr>
        <p:spPr>
          <a:xfrm>
            <a:off x="6716117" y="3961322"/>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Basis of preparation</a:t>
            </a:r>
          </a:p>
        </p:txBody>
      </p:sp>
      <p:sp>
        <p:nvSpPr>
          <p:cNvPr id="46" name="TextBox 45">
            <a:hlinkClick r:id="rId41" action="ppaction://hlinksldjump"/>
            <a:extLst>
              <a:ext uri="{FF2B5EF4-FFF2-40B4-BE49-F238E27FC236}">
                <a16:creationId xmlns:a16="http://schemas.microsoft.com/office/drawing/2014/main" id="{E08CCEED-9EF2-EFD0-F933-A484B7A666AD}"/>
              </a:ext>
            </a:extLst>
          </p:cNvPr>
          <p:cNvSpPr txBox="1"/>
          <p:nvPr>
            <p:custDataLst>
              <p:tags r:id="rId10"/>
            </p:custDataLst>
          </p:nvPr>
        </p:nvSpPr>
        <p:spPr>
          <a:xfrm>
            <a:off x="6716117" y="4356038"/>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Scope of work</a:t>
            </a:r>
          </a:p>
        </p:txBody>
      </p:sp>
      <p:sp>
        <p:nvSpPr>
          <p:cNvPr id="47" name="TextBox 46">
            <a:hlinkClick r:id="rId42" action="ppaction://hlinksldjump"/>
            <a:extLst>
              <a:ext uri="{FF2B5EF4-FFF2-40B4-BE49-F238E27FC236}">
                <a16:creationId xmlns:a16="http://schemas.microsoft.com/office/drawing/2014/main" id="{55B15B6A-42C0-FB19-53CE-1395A66BEB7F}"/>
              </a:ext>
            </a:extLst>
          </p:cNvPr>
          <p:cNvSpPr txBox="1"/>
          <p:nvPr>
            <p:custDataLst>
              <p:tags r:id="rId11"/>
            </p:custDataLst>
          </p:nvPr>
        </p:nvSpPr>
        <p:spPr>
          <a:xfrm>
            <a:off x="6716117" y="4750753"/>
            <a:ext cx="4321247" cy="356616"/>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US" sz="1600" dirty="0">
                <a:solidFill>
                  <a:srgbClr val="FFFFFF"/>
                </a:solidFill>
                <a:effectLst/>
                <a:latin typeface="+mn-lt"/>
              </a:rPr>
              <a:t>Glossary</a:t>
            </a:r>
          </a:p>
        </p:txBody>
      </p:sp>
      <p:sp>
        <p:nvSpPr>
          <p:cNvPr id="48" name="TextBox 47">
            <a:hlinkClick r:id="rId33" action="ppaction://hlinksldjump"/>
            <a:extLst>
              <a:ext uri="{FF2B5EF4-FFF2-40B4-BE49-F238E27FC236}">
                <a16:creationId xmlns:a16="http://schemas.microsoft.com/office/drawing/2014/main" id="{E3964B52-DAAA-8AF2-7169-3F7C3E49AB80}"/>
              </a:ext>
            </a:extLst>
          </p:cNvPr>
          <p:cNvSpPr txBox="1"/>
          <p:nvPr>
            <p:custDataLst>
              <p:tags r:id="rId12"/>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dirty="0">
                <a:solidFill>
                  <a:srgbClr val="FFFFFF"/>
                </a:solidFill>
                <a:latin typeface="+mj-lt"/>
              </a:rPr>
              <a:t>05</a:t>
            </a:r>
          </a:p>
        </p:txBody>
      </p:sp>
      <p:sp>
        <p:nvSpPr>
          <p:cNvPr id="49" name="TextBox 48">
            <a:hlinkClick r:id="rId33" action="ppaction://hlinksldjump"/>
            <a:extLst>
              <a:ext uri="{FF2B5EF4-FFF2-40B4-BE49-F238E27FC236}">
                <a16:creationId xmlns:a16="http://schemas.microsoft.com/office/drawing/2014/main" id="{348FA1C4-F5FC-E735-8435-F0C2CC3AF840}"/>
              </a:ext>
            </a:extLst>
          </p:cNvPr>
          <p:cNvSpPr txBox="1"/>
          <p:nvPr>
            <p:custDataLst>
              <p:tags r:id="rId13"/>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dirty="0">
                <a:ln>
                  <a:noFill/>
                </a:ln>
                <a:noFill/>
                <a:latin typeface="+mj-lt"/>
              </a:rPr>
              <a:t>51</a:t>
            </a:r>
          </a:p>
        </p:txBody>
      </p:sp>
      <p:sp>
        <p:nvSpPr>
          <p:cNvPr id="50" name="TextBox 49">
            <a:hlinkClick r:id="rId34" action="ppaction://hlinksldjump"/>
            <a:extLst>
              <a:ext uri="{FF2B5EF4-FFF2-40B4-BE49-F238E27FC236}">
                <a16:creationId xmlns:a16="http://schemas.microsoft.com/office/drawing/2014/main" id="{55EC361C-5331-CCAC-F6FF-CA6F4766F436}"/>
              </a:ext>
            </a:extLst>
          </p:cNvPr>
          <p:cNvSpPr txBox="1"/>
          <p:nvPr>
            <p:custDataLst>
              <p:tags r:id="rId14"/>
            </p:custDataLst>
          </p:nvPr>
        </p:nvSpPr>
        <p:spPr bwMode="auto">
          <a:xfrm>
            <a:off x="1332373" y="36047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5.1</a:t>
            </a:r>
          </a:p>
        </p:txBody>
      </p:sp>
      <p:sp>
        <p:nvSpPr>
          <p:cNvPr id="51" name="TextBox 50">
            <a:hlinkClick r:id="rId35" action="ppaction://hlinksldjump"/>
            <a:extLst>
              <a:ext uri="{FF2B5EF4-FFF2-40B4-BE49-F238E27FC236}">
                <a16:creationId xmlns:a16="http://schemas.microsoft.com/office/drawing/2014/main" id="{DED247DC-C65A-F2EF-359C-2C378AB52D01}"/>
              </a:ext>
            </a:extLst>
          </p:cNvPr>
          <p:cNvSpPr txBox="1"/>
          <p:nvPr>
            <p:custDataLst>
              <p:tags r:id="rId15"/>
            </p:custDataLst>
          </p:nvPr>
        </p:nvSpPr>
        <p:spPr bwMode="auto">
          <a:xfrm>
            <a:off x="1332373" y="39994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5.2</a:t>
            </a:r>
          </a:p>
        </p:txBody>
      </p:sp>
      <p:sp>
        <p:nvSpPr>
          <p:cNvPr id="52" name="TextBox 51">
            <a:hlinkClick r:id="rId36" action="ppaction://hlinksldjump"/>
            <a:extLst>
              <a:ext uri="{FF2B5EF4-FFF2-40B4-BE49-F238E27FC236}">
                <a16:creationId xmlns:a16="http://schemas.microsoft.com/office/drawing/2014/main" id="{92C0C7A4-973F-4224-DC47-FFA8ED1259D4}"/>
              </a:ext>
            </a:extLst>
          </p:cNvPr>
          <p:cNvSpPr txBox="1"/>
          <p:nvPr>
            <p:custDataLst>
              <p:tags r:id="rId16"/>
            </p:custDataLst>
          </p:nvPr>
        </p:nvSpPr>
        <p:spPr bwMode="auto">
          <a:xfrm>
            <a:off x="1332373" y="43941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5.3</a:t>
            </a:r>
          </a:p>
        </p:txBody>
      </p:sp>
      <p:sp>
        <p:nvSpPr>
          <p:cNvPr id="53" name="TextBox 52">
            <a:hlinkClick r:id="rId37" action="ppaction://hlinksldjump"/>
            <a:extLst>
              <a:ext uri="{FF2B5EF4-FFF2-40B4-BE49-F238E27FC236}">
                <a16:creationId xmlns:a16="http://schemas.microsoft.com/office/drawing/2014/main" id="{F58F45B7-E9CD-C7D0-6A34-1C51BF89C61B}"/>
              </a:ext>
            </a:extLst>
          </p:cNvPr>
          <p:cNvSpPr txBox="1"/>
          <p:nvPr>
            <p:custDataLst>
              <p:tags r:id="rId17"/>
            </p:custDataLst>
          </p:nvPr>
        </p:nvSpPr>
        <p:spPr bwMode="auto">
          <a:xfrm>
            <a:off x="1332373" y="47888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5.4</a:t>
            </a:r>
          </a:p>
        </p:txBody>
      </p:sp>
      <p:sp>
        <p:nvSpPr>
          <p:cNvPr id="54" name="TextBox 53">
            <a:hlinkClick r:id="rId38" action="ppaction://hlinksldjump"/>
            <a:extLst>
              <a:ext uri="{FF2B5EF4-FFF2-40B4-BE49-F238E27FC236}">
                <a16:creationId xmlns:a16="http://schemas.microsoft.com/office/drawing/2014/main" id="{A2CC0169-8686-4633-2134-3E8088CEC35D}"/>
              </a:ext>
            </a:extLst>
          </p:cNvPr>
          <p:cNvSpPr txBox="1"/>
          <p:nvPr>
            <p:custDataLst>
              <p:tags r:id="rId18"/>
            </p:custDataLst>
          </p:nvPr>
        </p:nvSpPr>
        <p:spPr bwMode="auto">
          <a:xfrm>
            <a:off x="1332373" y="51835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5.5</a:t>
            </a:r>
          </a:p>
        </p:txBody>
      </p:sp>
      <p:sp>
        <p:nvSpPr>
          <p:cNvPr id="55" name="TextBox 54">
            <a:hlinkClick r:id="rId39" action="ppaction://hlinksldjump"/>
            <a:extLst>
              <a:ext uri="{FF2B5EF4-FFF2-40B4-BE49-F238E27FC236}">
                <a16:creationId xmlns:a16="http://schemas.microsoft.com/office/drawing/2014/main" id="{110CFE89-EA4C-843B-B7EC-399582A49AAA}"/>
              </a:ext>
            </a:extLst>
          </p:cNvPr>
          <p:cNvSpPr txBox="1"/>
          <p:nvPr>
            <p:custDataLst>
              <p:tags r:id="rId19"/>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5.6</a:t>
            </a:r>
          </a:p>
        </p:txBody>
      </p:sp>
      <p:sp>
        <p:nvSpPr>
          <p:cNvPr id="56" name="TextBox 55">
            <a:hlinkClick r:id="rId40" action="ppaction://hlinksldjump"/>
            <a:extLst>
              <a:ext uri="{FF2B5EF4-FFF2-40B4-BE49-F238E27FC236}">
                <a16:creationId xmlns:a16="http://schemas.microsoft.com/office/drawing/2014/main" id="{91F74DC7-8BE4-88D9-6C33-F9B3DE685D25}"/>
              </a:ext>
            </a:extLst>
          </p:cNvPr>
          <p:cNvSpPr txBox="1"/>
          <p:nvPr>
            <p:custDataLst>
              <p:tags r:id="rId20"/>
            </p:custDataLst>
          </p:nvPr>
        </p:nvSpPr>
        <p:spPr bwMode="auto">
          <a:xfrm>
            <a:off x="6333681" y="39613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5.7</a:t>
            </a:r>
          </a:p>
        </p:txBody>
      </p:sp>
      <p:sp>
        <p:nvSpPr>
          <p:cNvPr id="57" name="TextBox 56">
            <a:hlinkClick r:id="rId41" action="ppaction://hlinksldjump"/>
            <a:extLst>
              <a:ext uri="{FF2B5EF4-FFF2-40B4-BE49-F238E27FC236}">
                <a16:creationId xmlns:a16="http://schemas.microsoft.com/office/drawing/2014/main" id="{48FA7C2D-BCE3-B95A-E06B-CE1A61CE6B63}"/>
              </a:ext>
            </a:extLst>
          </p:cNvPr>
          <p:cNvSpPr txBox="1"/>
          <p:nvPr>
            <p:custDataLst>
              <p:tags r:id="rId21"/>
            </p:custDataLst>
          </p:nvPr>
        </p:nvSpPr>
        <p:spPr bwMode="auto">
          <a:xfrm>
            <a:off x="6333681" y="43560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5.8</a:t>
            </a:r>
          </a:p>
        </p:txBody>
      </p:sp>
      <p:sp>
        <p:nvSpPr>
          <p:cNvPr id="58" name="TextBox 57">
            <a:hlinkClick r:id="rId42" action="ppaction://hlinksldjump"/>
            <a:extLst>
              <a:ext uri="{FF2B5EF4-FFF2-40B4-BE49-F238E27FC236}">
                <a16:creationId xmlns:a16="http://schemas.microsoft.com/office/drawing/2014/main" id="{9DED721F-81DC-9D5F-32D8-A3B443B74A66}"/>
              </a:ext>
            </a:extLst>
          </p:cNvPr>
          <p:cNvSpPr txBox="1"/>
          <p:nvPr>
            <p:custDataLst>
              <p:tags r:id="rId22"/>
            </p:custDataLst>
          </p:nvPr>
        </p:nvSpPr>
        <p:spPr bwMode="auto">
          <a:xfrm>
            <a:off x="6333681" y="47507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dirty="0">
                <a:solidFill>
                  <a:schemeClr val="bg1"/>
                </a:solidFill>
                <a:latin typeface="+mj-lt"/>
              </a:rPr>
              <a:t>5.9</a:t>
            </a:r>
          </a:p>
        </p:txBody>
      </p:sp>
      <p:sp>
        <p:nvSpPr>
          <p:cNvPr id="59" name="TextBox 58">
            <a:hlinkClick r:id="rId34" action="ppaction://hlinksldjump"/>
            <a:extLst>
              <a:ext uri="{FF2B5EF4-FFF2-40B4-BE49-F238E27FC236}">
                <a16:creationId xmlns:a16="http://schemas.microsoft.com/office/drawing/2014/main" id="{BCBB0A56-551B-E980-4C97-CFD91714709F}"/>
              </a:ext>
            </a:extLst>
          </p:cNvPr>
          <p:cNvSpPr txBox="1"/>
          <p:nvPr>
            <p:custDataLst>
              <p:tags r:id="rId23"/>
            </p:custDataLst>
          </p:nvPr>
        </p:nvSpPr>
        <p:spPr>
          <a:xfrm>
            <a:off x="6163612" y="36047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52</a:t>
            </a:r>
          </a:p>
        </p:txBody>
      </p:sp>
      <p:sp>
        <p:nvSpPr>
          <p:cNvPr id="60" name="TextBox 59">
            <a:hlinkClick r:id="rId35" action="ppaction://hlinksldjump"/>
            <a:extLst>
              <a:ext uri="{FF2B5EF4-FFF2-40B4-BE49-F238E27FC236}">
                <a16:creationId xmlns:a16="http://schemas.microsoft.com/office/drawing/2014/main" id="{2383CBE2-2BB8-D45E-9008-5ACCD3C57937}"/>
              </a:ext>
            </a:extLst>
          </p:cNvPr>
          <p:cNvSpPr txBox="1"/>
          <p:nvPr>
            <p:custDataLst>
              <p:tags r:id="rId24"/>
            </p:custDataLst>
          </p:nvPr>
        </p:nvSpPr>
        <p:spPr>
          <a:xfrm>
            <a:off x="6163612" y="39994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56</a:t>
            </a:r>
          </a:p>
        </p:txBody>
      </p:sp>
      <p:sp>
        <p:nvSpPr>
          <p:cNvPr id="61" name="TextBox 60">
            <a:hlinkClick r:id="rId36" action="ppaction://hlinksldjump"/>
            <a:extLst>
              <a:ext uri="{FF2B5EF4-FFF2-40B4-BE49-F238E27FC236}">
                <a16:creationId xmlns:a16="http://schemas.microsoft.com/office/drawing/2014/main" id="{6A4694A5-2B89-AA99-6D4F-721A60DF09F4}"/>
              </a:ext>
            </a:extLst>
          </p:cNvPr>
          <p:cNvSpPr txBox="1"/>
          <p:nvPr>
            <p:custDataLst>
              <p:tags r:id="rId25"/>
            </p:custDataLst>
          </p:nvPr>
        </p:nvSpPr>
        <p:spPr>
          <a:xfrm>
            <a:off x="6163612" y="43941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57</a:t>
            </a:r>
          </a:p>
        </p:txBody>
      </p:sp>
      <p:sp>
        <p:nvSpPr>
          <p:cNvPr id="62" name="TextBox 61">
            <a:hlinkClick r:id="rId37" action="ppaction://hlinksldjump"/>
            <a:extLst>
              <a:ext uri="{FF2B5EF4-FFF2-40B4-BE49-F238E27FC236}">
                <a16:creationId xmlns:a16="http://schemas.microsoft.com/office/drawing/2014/main" id="{1C16AE90-694F-74AA-E8C6-B7BFDEA25AFA}"/>
              </a:ext>
            </a:extLst>
          </p:cNvPr>
          <p:cNvSpPr txBox="1"/>
          <p:nvPr>
            <p:custDataLst>
              <p:tags r:id="rId26"/>
            </p:custDataLst>
          </p:nvPr>
        </p:nvSpPr>
        <p:spPr>
          <a:xfrm>
            <a:off x="6163612" y="4788853"/>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58</a:t>
            </a:r>
          </a:p>
        </p:txBody>
      </p:sp>
      <p:sp>
        <p:nvSpPr>
          <p:cNvPr id="63" name="TextBox 62">
            <a:hlinkClick r:id="rId38" action="ppaction://hlinksldjump"/>
            <a:extLst>
              <a:ext uri="{FF2B5EF4-FFF2-40B4-BE49-F238E27FC236}">
                <a16:creationId xmlns:a16="http://schemas.microsoft.com/office/drawing/2014/main" id="{9D5167F3-5AA5-6040-C82A-1A0AB5E79A74}"/>
              </a:ext>
            </a:extLst>
          </p:cNvPr>
          <p:cNvSpPr txBox="1"/>
          <p:nvPr>
            <p:custDataLst>
              <p:tags r:id="rId27"/>
            </p:custDataLst>
          </p:nvPr>
        </p:nvSpPr>
        <p:spPr>
          <a:xfrm>
            <a:off x="6163612" y="5183569"/>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59</a:t>
            </a:r>
          </a:p>
        </p:txBody>
      </p:sp>
      <p:sp>
        <p:nvSpPr>
          <p:cNvPr id="64" name="TextBox 63">
            <a:hlinkClick r:id="rId39" action="ppaction://hlinksldjump"/>
            <a:extLst>
              <a:ext uri="{FF2B5EF4-FFF2-40B4-BE49-F238E27FC236}">
                <a16:creationId xmlns:a16="http://schemas.microsoft.com/office/drawing/2014/main" id="{31FE7ECA-5730-2285-BC28-5F0C88552CDA}"/>
              </a:ext>
            </a:extLst>
          </p:cNvPr>
          <p:cNvSpPr txBox="1"/>
          <p:nvPr>
            <p:custDataLst>
              <p:tags r:id="rId28"/>
            </p:custDataLst>
          </p:nvPr>
        </p:nvSpPr>
        <p:spPr>
          <a:xfrm>
            <a:off x="10931809" y="3566606"/>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60</a:t>
            </a:r>
          </a:p>
        </p:txBody>
      </p:sp>
      <p:sp>
        <p:nvSpPr>
          <p:cNvPr id="65" name="TextBox 64">
            <a:hlinkClick r:id="rId40" action="ppaction://hlinksldjump"/>
            <a:extLst>
              <a:ext uri="{FF2B5EF4-FFF2-40B4-BE49-F238E27FC236}">
                <a16:creationId xmlns:a16="http://schemas.microsoft.com/office/drawing/2014/main" id="{B2EE299C-DCFB-6993-4B1F-2809F114C9DF}"/>
              </a:ext>
            </a:extLst>
          </p:cNvPr>
          <p:cNvSpPr txBox="1"/>
          <p:nvPr>
            <p:custDataLst>
              <p:tags r:id="rId29"/>
            </p:custDataLst>
          </p:nvPr>
        </p:nvSpPr>
        <p:spPr>
          <a:xfrm>
            <a:off x="10931809" y="3961322"/>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62</a:t>
            </a:r>
          </a:p>
        </p:txBody>
      </p:sp>
      <p:sp>
        <p:nvSpPr>
          <p:cNvPr id="66" name="TextBox 65">
            <a:hlinkClick r:id="rId41" action="ppaction://hlinksldjump"/>
            <a:extLst>
              <a:ext uri="{FF2B5EF4-FFF2-40B4-BE49-F238E27FC236}">
                <a16:creationId xmlns:a16="http://schemas.microsoft.com/office/drawing/2014/main" id="{17E5E4F0-94C0-A7AD-D937-2289083A6DA1}"/>
              </a:ext>
            </a:extLst>
          </p:cNvPr>
          <p:cNvSpPr txBox="1"/>
          <p:nvPr>
            <p:custDataLst>
              <p:tags r:id="rId30"/>
            </p:custDataLst>
          </p:nvPr>
        </p:nvSpPr>
        <p:spPr>
          <a:xfrm>
            <a:off x="10931809" y="4356038"/>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63</a:t>
            </a:r>
          </a:p>
        </p:txBody>
      </p:sp>
      <p:sp>
        <p:nvSpPr>
          <p:cNvPr id="67" name="TextBox 66">
            <a:hlinkClick r:id="rId42" action="ppaction://hlinksldjump"/>
            <a:extLst>
              <a:ext uri="{FF2B5EF4-FFF2-40B4-BE49-F238E27FC236}">
                <a16:creationId xmlns:a16="http://schemas.microsoft.com/office/drawing/2014/main" id="{CCAC2E81-3F3D-6F5D-4E2A-70E6F8199B4D}"/>
              </a:ext>
            </a:extLst>
          </p:cNvPr>
          <p:cNvSpPr txBox="1"/>
          <p:nvPr>
            <p:custDataLst>
              <p:tags r:id="rId31"/>
            </p:custDataLst>
          </p:nvPr>
        </p:nvSpPr>
        <p:spPr>
          <a:xfrm>
            <a:off x="10931809" y="4750753"/>
            <a:ext cx="0" cy="356616"/>
          </a:xfrm>
          <a:prstGeom prst="rect">
            <a:avLst/>
          </a:prstGeom>
          <a:noFill/>
        </p:spPr>
        <p:txBody>
          <a:bodyPr vert="horz" wrap="none" lIns="1005840" tIns="0" rIns="1097280" bIns="0" rtlCol="0" anchor="t" anchorCtr="0">
            <a:noAutofit/>
          </a:bodyPr>
          <a:lstStyle/>
          <a:p>
            <a:pPr marL="0" indent="0" algn="r">
              <a:buFont typeface="Arial" panose="020B0604020202020204" pitchFamily="34" charset="0"/>
              <a:buNone/>
            </a:pPr>
            <a:r>
              <a:rPr lang="en-US" sz="1400" dirty="0">
                <a:solidFill>
                  <a:srgbClr val="FFFFFF"/>
                </a:solidFill>
                <a:effectLst/>
                <a:latin typeface="+mn-lt"/>
              </a:rPr>
              <a:t>69</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dirty="0"/>
              <a:t>Income statement reconciliation to audited financial statements – FY22</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Reconciliation to audited financial statements</a:t>
            </a:r>
          </a:p>
        </p:txBody>
      </p:sp>
      <p:sp>
        <p:nvSpPr>
          <p:cNvPr id="53" name="Text Placeholder 48">
            <a:extLst>
              <a:ext uri="{FF2B5EF4-FFF2-40B4-BE49-F238E27FC236}">
                <a16:creationId xmlns:a16="http://schemas.microsoft.com/office/drawing/2014/main" id="{8FC8E43F-9476-33F0-CDFC-A05EB7AB2E6D}"/>
              </a:ext>
            </a:extLst>
          </p:cNvPr>
          <p:cNvSpPr txBox="1">
            <a:spLocks/>
          </p:cNvSpPr>
          <p:nvPr/>
        </p:nvSpPr>
        <p:spPr>
          <a:xfrm>
            <a:off x="7162187" y="2832573"/>
            <a:ext cx="5029813" cy="365390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dirty="0"/>
              <a:t>Add text here</a:t>
            </a:r>
          </a:p>
          <a:p>
            <a:pPr lvl="2"/>
            <a:r>
              <a:rPr lang="en-US" dirty="0"/>
              <a:t>Third level</a:t>
            </a:r>
          </a:p>
          <a:p>
            <a:pPr lvl="3"/>
            <a:r>
              <a:rPr lang="en-US" dirty="0"/>
              <a:t>Fourth level</a:t>
            </a:r>
          </a:p>
          <a:p>
            <a:pPr lvl="4"/>
            <a:r>
              <a:rPr lang="en-US" dirty="0"/>
              <a:t>Fifth level</a:t>
            </a:r>
          </a:p>
        </p:txBody>
      </p:sp>
      <p:sp>
        <p:nvSpPr>
          <p:cNvPr id="24" name="Text Placeholder 12">
            <a:extLst>
              <a:ext uri="{FF2B5EF4-FFF2-40B4-BE49-F238E27FC236}">
                <a16:creationId xmlns:a16="http://schemas.microsoft.com/office/drawing/2014/main" id="{51F5C36E-37D8-BD9F-92AC-BA0AFC00ECF4}"/>
              </a:ext>
            </a:extLst>
          </p:cNvPr>
          <p:cNvSpPr txBox="1">
            <a:spLocks/>
          </p:cNvSpPr>
          <p:nvPr/>
        </p:nvSpPr>
        <p:spPr>
          <a:xfrm>
            <a:off x="1003312" y="4613358"/>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Consolidated Audited financial statements</a:t>
            </a:r>
          </a:p>
        </p:txBody>
      </p:sp>
      <p:sp>
        <p:nvSpPr>
          <p:cNvPr id="25" name="Text Placeholder 5">
            <a:extLst>
              <a:ext uri="{FF2B5EF4-FFF2-40B4-BE49-F238E27FC236}">
                <a16:creationId xmlns:a16="http://schemas.microsoft.com/office/drawing/2014/main" id="{C18B023F-C5DE-7BBE-371E-DF41C32D2B97}"/>
              </a:ext>
            </a:extLst>
          </p:cNvPr>
          <p:cNvSpPr txBox="1">
            <a:spLocks/>
          </p:cNvSpPr>
          <p:nvPr/>
        </p:nvSpPr>
        <p:spPr>
          <a:xfrm>
            <a:off x="8393860" y="1305513"/>
            <a:ext cx="2805953" cy="4666662"/>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b="1" dirty="0"/>
              <a:t>Overview</a:t>
            </a:r>
          </a:p>
          <a:p>
            <a:pPr marL="0" lvl="2" indent="0">
              <a:buNone/>
            </a:pPr>
            <a:r>
              <a:rPr lang="en-US" dirty="0"/>
              <a:t>The audited financial statement reconciliation presented opposite illustrates a bridge from the consolidated income statement presented in this report to the audited financial statements, showing the impact of various reclassifications and adjustments. Additionally, the schedule presents a reconciliation from the audited financial statements to the restated financial statements for FY22.</a:t>
            </a:r>
          </a:p>
          <a:p>
            <a:pPr marL="0" lvl="2" indent="0">
              <a:buNone/>
            </a:pPr>
            <a:r>
              <a:rPr lang="en-US" dirty="0"/>
              <a:t>A reconciling difference of $0.4 million between EBITDA per the financials and EBITDA per the consolidated income statement has been noted, for which a potential adjustment to EBITDA has been proposed at adjustment #17 in our quality of earnings analysis. </a:t>
            </a:r>
          </a:p>
          <a:p>
            <a:pPr marL="0" lvl="2" indent="0">
              <a:buNone/>
            </a:pPr>
            <a:r>
              <a:rPr lang="en-US" dirty="0"/>
              <a:t>Note Management has not provided full explanation for the nature of items presented as “other reclasses” opposite.</a:t>
            </a:r>
          </a:p>
          <a:p>
            <a:pPr marL="0" lvl="2" indent="0">
              <a:buNone/>
            </a:pPr>
            <a:r>
              <a:rPr lang="en-US" b="1" dirty="0"/>
              <a:t>Restatement</a:t>
            </a:r>
          </a:p>
          <a:p>
            <a:pPr marL="0" lvl="2" indent="0">
              <a:buNone/>
            </a:pPr>
            <a:r>
              <a:rPr lang="en-US" dirty="0"/>
              <a:t>The audited financial statements for FY22 were restated in the FY23 financial statements to adjust for a purchase price allocation amount which had not been quantified as at December 31, 2022. The restatement also reflected the impact of a change in accounting policy regarding the presentation of commission income / commission expense. </a:t>
            </a:r>
          </a:p>
          <a:p>
            <a:pPr marL="0" lvl="2" indent="0">
              <a:buNone/>
            </a:pPr>
            <a:endParaRPr lang="en-US" dirty="0"/>
          </a:p>
          <a:p>
            <a:pPr lvl="2"/>
            <a:endParaRPr lang="en-US" dirty="0"/>
          </a:p>
        </p:txBody>
      </p:sp>
      <p:pic>
        <p:nvPicPr>
          <p:cNvPr id="2" name="Picture 1">
            <a:extLst>
              <a:ext uri="{FF2B5EF4-FFF2-40B4-BE49-F238E27FC236}">
                <a16:creationId xmlns:a16="http://schemas.microsoft.com/office/drawing/2014/main" id="{A7770389-191A-F52A-41B9-091BAA4902E7}"/>
              </a:ext>
            </a:extLst>
          </p:cNvPr>
          <p:cNvPicPr>
            <a:picLocks noChangeAspect="1"/>
          </p:cNvPicPr>
          <p:nvPr>
            <p:custDataLst>
              <p:tags r:id="rId4"/>
            </p:custDataLst>
          </p:nvPr>
        </p:nvPicPr>
        <p:blipFill>
          <a:blip r:embed="rId9"/>
          <a:stretch>
            <a:fillRect/>
          </a:stretch>
        </p:blipFill>
        <p:spPr>
          <a:xfrm>
            <a:off x="992187" y="1330324"/>
            <a:ext cx="7421347" cy="3300032"/>
          </a:xfrm>
          <a:prstGeom prst="rect">
            <a:avLst/>
          </a:prstGeom>
        </p:spPr>
      </p:pic>
      <p:grpSp>
        <p:nvGrpSpPr>
          <p:cNvPr id="34" name="Group 33">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3"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15455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dirty="0"/>
              <a:t>Income statement reconciliation to audited financial statements – FY23</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Reconciliation to audited financial statements</a:t>
            </a:r>
          </a:p>
        </p:txBody>
      </p:sp>
      <p:sp>
        <p:nvSpPr>
          <p:cNvPr id="24" name="Text Placeholder 5">
            <a:extLst>
              <a:ext uri="{FF2B5EF4-FFF2-40B4-BE49-F238E27FC236}">
                <a16:creationId xmlns:a16="http://schemas.microsoft.com/office/drawing/2014/main" id="{E9E4F6C8-5584-5E36-8FA4-8B51F78DAC8B}"/>
              </a:ext>
            </a:extLst>
          </p:cNvPr>
          <p:cNvSpPr txBox="1">
            <a:spLocks/>
          </p:cNvSpPr>
          <p:nvPr/>
        </p:nvSpPr>
        <p:spPr>
          <a:xfrm>
            <a:off x="5987987" y="1363486"/>
            <a:ext cx="5103813" cy="3864416"/>
          </a:xfrm>
          <a:prstGeom prst="rect">
            <a:avLst/>
          </a:prstGeom>
        </p:spPr>
        <p:txBody>
          <a:bodyPr vert="horz" lIns="72000" tIns="36000" rIns="0" bIns="0" rtlCol="0" anchor="t" anchorCtr="0">
            <a:noAutofit/>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b="1" dirty="0"/>
              <a:t>Overview</a:t>
            </a:r>
          </a:p>
          <a:p>
            <a:pPr marL="0" lvl="2" indent="0">
              <a:buNone/>
            </a:pPr>
            <a:r>
              <a:rPr lang="en-US" dirty="0"/>
              <a:t>The audited financial statement reconciliation presented opposite illustrates a bridge from the consolidated income statement presented in this report to the audited financial statements, showing the impact of various reclassifications and adjustments. </a:t>
            </a:r>
          </a:p>
          <a:p>
            <a:pPr marL="0" lvl="2" indent="0">
              <a:buNone/>
            </a:pPr>
            <a:r>
              <a:rPr lang="en-US" b="1" dirty="0"/>
              <a:t>Reclasses</a:t>
            </a:r>
          </a:p>
          <a:p>
            <a:pPr lvl="2"/>
            <a:r>
              <a:rPr lang="en-US" dirty="0"/>
              <a:t>The reclassifications primarily relate to presentation differences between revenue and expense captions which net to nil at the reported EBITDA level.</a:t>
            </a:r>
          </a:p>
          <a:p>
            <a:pPr lvl="2"/>
            <a:r>
              <a:rPr lang="en-US" dirty="0"/>
              <a:t>The main reclassification includes a $1.9 million adjustment that reallocates the portion of contingent commission that relates to group benefits to bonus commission income which is presented separately in the audited financial statements. </a:t>
            </a:r>
          </a:p>
          <a:p>
            <a:pPr lvl="2"/>
            <a:r>
              <a:rPr lang="en-US" dirty="0"/>
              <a:t>The other reclassifications section includes a $1.5 million adjustment under operating expenses related to the stock-based compensation plan established in 9484-0857 Quebec Inc., Palladium Insurance Brokers Ltd., and 9114-5219 Quebec Inc., subsidiaries where certain employees were granted stock options. This reclassification was made from non-operating to operating expenses.</a:t>
            </a:r>
          </a:p>
          <a:p>
            <a:pPr lvl="2"/>
            <a:r>
              <a:rPr lang="en-US" dirty="0"/>
              <a:t>Management has not provided full explanation for the nature of other items presented as “other reclasses” opposite.</a:t>
            </a:r>
          </a:p>
          <a:p>
            <a:pPr lvl="2"/>
            <a:endParaRPr lang="en-US" dirty="0"/>
          </a:p>
        </p:txBody>
      </p:sp>
      <p:pic>
        <p:nvPicPr>
          <p:cNvPr id="7" name="Picture 6">
            <a:extLst>
              <a:ext uri="{FF2B5EF4-FFF2-40B4-BE49-F238E27FC236}">
                <a16:creationId xmlns:a16="http://schemas.microsoft.com/office/drawing/2014/main" id="{99955AFA-9699-A494-DA5F-CD419522DDCF}"/>
              </a:ext>
            </a:extLst>
          </p:cNvPr>
          <p:cNvPicPr>
            <a:picLocks noChangeAspect="1"/>
          </p:cNvPicPr>
          <p:nvPr>
            <p:custDataLst>
              <p:tags r:id="rId4"/>
            </p:custDataLst>
          </p:nvPr>
        </p:nvPicPr>
        <p:blipFill>
          <a:blip r:embed="rId9"/>
          <a:stretch>
            <a:fillRect/>
          </a:stretch>
        </p:blipFill>
        <p:spPr>
          <a:xfrm>
            <a:off x="995122" y="1305514"/>
            <a:ext cx="4224299" cy="3054553"/>
          </a:xfrm>
          <a:prstGeom prst="rect">
            <a:avLst/>
          </a:prstGeom>
        </p:spPr>
      </p:pic>
      <p:sp>
        <p:nvSpPr>
          <p:cNvPr id="11" name="Text Placeholder 12">
            <a:extLst>
              <a:ext uri="{FF2B5EF4-FFF2-40B4-BE49-F238E27FC236}">
                <a16:creationId xmlns:a16="http://schemas.microsoft.com/office/drawing/2014/main" id="{0DFA1372-B8C4-B2CA-6D35-C93E64134145}"/>
              </a:ext>
            </a:extLst>
          </p:cNvPr>
          <p:cNvSpPr txBox="1">
            <a:spLocks/>
          </p:cNvSpPr>
          <p:nvPr/>
        </p:nvSpPr>
        <p:spPr>
          <a:xfrm>
            <a:off x="1003312" y="436006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Consolidated Audited financial statements</a:t>
            </a:r>
          </a:p>
        </p:txBody>
      </p:sp>
      <p:grpSp>
        <p:nvGrpSpPr>
          <p:cNvPr id="29" name="Group 28">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30"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42372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dirty="0"/>
              <a:t>Balance sheet reconciliation to audited financial statements – Dec-22</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Reconciliation to audited financial statements</a:t>
            </a:r>
          </a:p>
        </p:txBody>
      </p:sp>
      <p:sp>
        <p:nvSpPr>
          <p:cNvPr id="205" name="Text Placeholder 4">
            <a:extLst>
              <a:ext uri="{FF2B5EF4-FFF2-40B4-BE49-F238E27FC236}">
                <a16:creationId xmlns:a16="http://schemas.microsoft.com/office/drawing/2014/main" id="{E0462543-A95F-561F-FED8-E2B8CCC6FC61}"/>
              </a:ext>
            </a:extLst>
          </p:cNvPr>
          <p:cNvSpPr>
            <a:spLocks noGrp="1"/>
          </p:cNvSpPr>
          <p:nvPr>
            <p:ph type="body" sz="quarter" idx="10"/>
          </p:nvPr>
        </p:nvSpPr>
        <p:spPr>
          <a:xfrm>
            <a:off x="7477846" y="1316015"/>
            <a:ext cx="3743646" cy="4227535"/>
          </a:xfrm>
        </p:spPr>
        <p:txBody>
          <a:bodyPr/>
          <a:lstStyle/>
          <a:p>
            <a:pPr marL="0" lvl="2" indent="0">
              <a:spcAft>
                <a:spcPts val="600"/>
              </a:spcAft>
              <a:buNone/>
            </a:pPr>
            <a:r>
              <a:rPr lang="en-US" dirty="0">
                <a:solidFill>
                  <a:schemeClr val="tx1"/>
                </a:solidFill>
              </a:rPr>
              <a:t>Overview</a:t>
            </a:r>
          </a:p>
          <a:p>
            <a:pPr marL="0" lvl="2" indent="0">
              <a:spcAft>
                <a:spcPts val="600"/>
              </a:spcAft>
              <a:buNone/>
            </a:pPr>
            <a:r>
              <a:rPr lang="en-US" b="0" dirty="0">
                <a:solidFill>
                  <a:schemeClr val="tx1"/>
                </a:solidFill>
              </a:rPr>
              <a:t>The audited financial statement reconciliation presented opposite illustrates a bridge from the consolidated balance sheet presented in this report to the audited financial statements, showing the impact of various reclassifications and adjustments. </a:t>
            </a:r>
          </a:p>
          <a:p>
            <a:pPr marL="0" lvl="2" indent="0">
              <a:spcAft>
                <a:spcPts val="600"/>
              </a:spcAft>
              <a:buNone/>
            </a:pPr>
            <a:r>
              <a:rPr lang="en-US" b="0" dirty="0">
                <a:solidFill>
                  <a:schemeClr val="tx1"/>
                </a:solidFill>
              </a:rPr>
              <a:t>Note Management has yet to provide a full explanation with respect to the items shown as “reclasses” opposite.</a:t>
            </a:r>
          </a:p>
          <a:p>
            <a:pPr marL="0" lvl="2" indent="0">
              <a:spcAft>
                <a:spcPts val="600"/>
              </a:spcAft>
              <a:buNone/>
            </a:pPr>
            <a:r>
              <a:rPr lang="en-US" dirty="0">
                <a:solidFill>
                  <a:schemeClr val="tx1"/>
                </a:solidFill>
              </a:rPr>
              <a:t>Restatement </a:t>
            </a:r>
            <a:endParaRPr lang="en-US" b="0" dirty="0">
              <a:solidFill>
                <a:schemeClr val="tx1"/>
              </a:solidFill>
            </a:endParaRPr>
          </a:p>
          <a:p>
            <a:pPr>
              <a:spcAft>
                <a:spcPts val="600"/>
              </a:spcAft>
            </a:pPr>
            <a:r>
              <a:rPr lang="en-US" b="0" dirty="0">
                <a:solidFill>
                  <a:schemeClr val="tx1"/>
                </a:solidFill>
              </a:rPr>
              <a:t>The audited financial statements for FY22 were restated in the FY23 financial statements to adjust for a purchase price allocation amount which had not been quantified as at December 31, 2022. The restatement resulted in the following impact on the Dec-22 balance sheet:</a:t>
            </a:r>
          </a:p>
          <a:p>
            <a:pPr marL="171450" indent="-171450">
              <a:spcAft>
                <a:spcPts val="600"/>
              </a:spcAft>
              <a:buFont typeface="Arial" panose="020B0604020202020204" pitchFamily="34" charset="0"/>
              <a:buChar char="•"/>
            </a:pPr>
            <a:r>
              <a:rPr lang="en-US" b="0" dirty="0">
                <a:solidFill>
                  <a:schemeClr val="tx1"/>
                </a:solidFill>
              </a:rPr>
              <a:t>a $40.8 million adjustment to deferred tax assets arising from a change in accounting policy for future income taxes. </a:t>
            </a:r>
          </a:p>
          <a:p>
            <a:pPr marL="171450" indent="-171450">
              <a:spcAft>
                <a:spcPts val="600"/>
              </a:spcAft>
              <a:buFont typeface="Arial" panose="020B0604020202020204" pitchFamily="34" charset="0"/>
              <a:buChar char="•"/>
            </a:pPr>
            <a:r>
              <a:rPr lang="en-US" b="0" dirty="0">
                <a:solidFill>
                  <a:schemeClr val="tx1"/>
                </a:solidFill>
              </a:rPr>
              <a:t>a net impact of $5.1 million relating to purchase price allocation revisions and corresponding adjustment to goodwill. </a:t>
            </a:r>
          </a:p>
          <a:p>
            <a:pPr marL="171450" indent="-171450">
              <a:spcAft>
                <a:spcPts val="600"/>
              </a:spcAft>
              <a:buFont typeface="Arial" panose="020B0604020202020204" pitchFamily="34" charset="0"/>
              <a:buChar char="•"/>
            </a:pPr>
            <a:r>
              <a:rPr lang="en-US" b="0" dirty="0">
                <a:solidFill>
                  <a:schemeClr val="tx1"/>
                </a:solidFill>
              </a:rPr>
              <a:t>a reclassification of $0.3 million between equity and liability accounts resulting from revised purchase price accounting workings.</a:t>
            </a:r>
            <a:endParaRPr lang="fi-FI" b="0">
              <a:solidFill>
                <a:schemeClr val="tx1"/>
              </a:solidFill>
            </a:endParaRPr>
          </a:p>
        </p:txBody>
      </p:sp>
      <p:sp>
        <p:nvSpPr>
          <p:cNvPr id="11" name="Text Placeholder 12">
            <a:extLst>
              <a:ext uri="{FF2B5EF4-FFF2-40B4-BE49-F238E27FC236}">
                <a16:creationId xmlns:a16="http://schemas.microsoft.com/office/drawing/2014/main" id="{EBB1D1F1-EB52-F8AA-ACE1-A137C54EAF9B}"/>
              </a:ext>
            </a:extLst>
          </p:cNvPr>
          <p:cNvSpPr txBox="1">
            <a:spLocks/>
          </p:cNvSpPr>
          <p:nvPr/>
        </p:nvSpPr>
        <p:spPr>
          <a:xfrm>
            <a:off x="1003312" y="593871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Consolidated Audited financial statements </a:t>
            </a:r>
          </a:p>
        </p:txBody>
      </p:sp>
      <p:pic>
        <p:nvPicPr>
          <p:cNvPr id="22" name="Picture 21">
            <a:extLst>
              <a:ext uri="{FF2B5EF4-FFF2-40B4-BE49-F238E27FC236}">
                <a16:creationId xmlns:a16="http://schemas.microsoft.com/office/drawing/2014/main" id="{DDDCC81F-1D2D-54CD-41C4-B214BAF2227B}"/>
              </a:ext>
            </a:extLst>
          </p:cNvPr>
          <p:cNvPicPr>
            <a:picLocks noChangeAspect="1"/>
          </p:cNvPicPr>
          <p:nvPr>
            <p:custDataLst>
              <p:tags r:id="rId4"/>
            </p:custDataLst>
          </p:nvPr>
        </p:nvPicPr>
        <p:blipFill>
          <a:blip r:embed="rId9"/>
          <a:stretch>
            <a:fillRect/>
          </a:stretch>
        </p:blipFill>
        <p:spPr>
          <a:xfrm>
            <a:off x="1003312" y="1338895"/>
            <a:ext cx="6103821" cy="4599820"/>
          </a:xfrm>
          <a:prstGeom prst="rect">
            <a:avLst/>
          </a:prstGeom>
        </p:spPr>
      </p:pic>
      <p:grpSp>
        <p:nvGrpSpPr>
          <p:cNvPr id="28" name="Group 27">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3"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0293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US" dirty="0"/>
              <a:t>Balance sheet reconciliation to audited financial statements – Dec-23</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Reconciliation to audited financial statements</a:t>
            </a:r>
          </a:p>
        </p:txBody>
      </p:sp>
      <p:sp>
        <p:nvSpPr>
          <p:cNvPr id="10" name="Text Placeholder 4">
            <a:extLst>
              <a:ext uri="{FF2B5EF4-FFF2-40B4-BE49-F238E27FC236}">
                <a16:creationId xmlns:a16="http://schemas.microsoft.com/office/drawing/2014/main" id="{D0FB3245-7607-8719-3213-DBAD1C8C9015}"/>
              </a:ext>
            </a:extLst>
          </p:cNvPr>
          <p:cNvSpPr>
            <a:spLocks noGrp="1"/>
          </p:cNvSpPr>
          <p:nvPr>
            <p:ph type="body" sz="quarter" idx="10"/>
          </p:nvPr>
        </p:nvSpPr>
        <p:spPr>
          <a:xfrm>
            <a:off x="6823864" y="1339044"/>
            <a:ext cx="4364824" cy="4567921"/>
          </a:xfrm>
        </p:spPr>
        <p:txBody>
          <a:bodyPr/>
          <a:lstStyle/>
          <a:p>
            <a:pPr marL="0" lvl="2" indent="0">
              <a:spcAft>
                <a:spcPts val="600"/>
              </a:spcAft>
              <a:buNone/>
            </a:pPr>
            <a:r>
              <a:rPr lang="en-US" dirty="0">
                <a:solidFill>
                  <a:schemeClr val="tx1"/>
                </a:solidFill>
              </a:rPr>
              <a:t>Overview</a:t>
            </a:r>
          </a:p>
          <a:p>
            <a:pPr marL="0" lvl="2" indent="0">
              <a:spcAft>
                <a:spcPts val="600"/>
              </a:spcAft>
              <a:buNone/>
            </a:pPr>
            <a:r>
              <a:rPr lang="en-US" b="0" dirty="0">
                <a:solidFill>
                  <a:schemeClr val="tx1"/>
                </a:solidFill>
              </a:rPr>
              <a:t>The audited financial statement reconciliation presented opposite illustrates a bridge from the consolidated balance sheet presented in this report to the audited financial statements, showing the impact of various reclassifications and adjustments. </a:t>
            </a:r>
          </a:p>
          <a:p>
            <a:pPr marL="0" lvl="2" indent="0">
              <a:spcAft>
                <a:spcPts val="600"/>
              </a:spcAft>
              <a:buNone/>
            </a:pPr>
            <a:r>
              <a:rPr lang="en-US" b="0" dirty="0">
                <a:solidFill>
                  <a:schemeClr val="tx1"/>
                </a:solidFill>
              </a:rPr>
              <a:t>Note Management has yet to provide a full explanation with respect to the items shown as “reclasses” opposite.</a:t>
            </a:r>
          </a:p>
          <a:p>
            <a:pPr>
              <a:spcAft>
                <a:spcPts val="600"/>
              </a:spcAft>
            </a:pPr>
            <a:endParaRPr lang="en-US" b="0" dirty="0">
              <a:solidFill>
                <a:srgbClr val="FF0000"/>
              </a:solidFill>
            </a:endParaRPr>
          </a:p>
        </p:txBody>
      </p:sp>
      <p:sp>
        <p:nvSpPr>
          <p:cNvPr id="11" name="Text Placeholder 12">
            <a:extLst>
              <a:ext uri="{FF2B5EF4-FFF2-40B4-BE49-F238E27FC236}">
                <a16:creationId xmlns:a16="http://schemas.microsoft.com/office/drawing/2014/main" id="{2D20843B-12A3-F45B-2C22-958120EA235D}"/>
              </a:ext>
            </a:extLst>
          </p:cNvPr>
          <p:cNvSpPr txBox="1">
            <a:spLocks/>
          </p:cNvSpPr>
          <p:nvPr/>
        </p:nvSpPr>
        <p:spPr>
          <a:xfrm>
            <a:off x="1003312" y="590696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Consolidated Audited financial statements </a:t>
            </a:r>
          </a:p>
        </p:txBody>
      </p:sp>
      <p:pic>
        <p:nvPicPr>
          <p:cNvPr id="23" name="Picture 22">
            <a:extLst>
              <a:ext uri="{FF2B5EF4-FFF2-40B4-BE49-F238E27FC236}">
                <a16:creationId xmlns:a16="http://schemas.microsoft.com/office/drawing/2014/main" id="{38F3F99C-ED02-EF39-1D05-8B6FCD79C2E5}"/>
              </a:ext>
            </a:extLst>
          </p:cNvPr>
          <p:cNvPicPr>
            <a:picLocks noChangeAspect="1"/>
          </p:cNvPicPr>
          <p:nvPr>
            <p:custDataLst>
              <p:tags r:id="rId4"/>
            </p:custDataLst>
          </p:nvPr>
        </p:nvPicPr>
        <p:blipFill>
          <a:blip r:embed="rId9"/>
          <a:stretch>
            <a:fillRect/>
          </a:stretch>
        </p:blipFill>
        <p:spPr>
          <a:xfrm>
            <a:off x="1003312" y="1339044"/>
            <a:ext cx="3734885" cy="4535217"/>
          </a:xfrm>
          <a:prstGeom prst="rect">
            <a:avLst/>
          </a:prstGeom>
        </p:spPr>
      </p:pic>
      <p:grpSp>
        <p:nvGrpSpPr>
          <p:cNvPr id="29" name="Group 28">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30"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4"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823134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fi-FI"/>
              <a:t>Sell-side challenges overview</a:t>
            </a:r>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Sell-side challenges overview</a:t>
            </a:r>
          </a:p>
        </p:txBody>
      </p:sp>
      <p:sp>
        <p:nvSpPr>
          <p:cNvPr id="10" name="Text Placeholder 12">
            <a:extLst>
              <a:ext uri="{FF2B5EF4-FFF2-40B4-BE49-F238E27FC236}">
                <a16:creationId xmlns:a16="http://schemas.microsoft.com/office/drawing/2014/main" id="{D7E0FB28-07CC-E33B-A8AC-3593479F2CDA}"/>
              </a:ext>
            </a:extLst>
          </p:cNvPr>
          <p:cNvSpPr txBox="1">
            <a:spLocks/>
          </p:cNvSpPr>
          <p:nvPr/>
        </p:nvSpPr>
        <p:spPr>
          <a:xfrm>
            <a:off x="1003312" y="5802656"/>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30" name="Picture 29">
            <a:extLst>
              <a:ext uri="{FF2B5EF4-FFF2-40B4-BE49-F238E27FC236}">
                <a16:creationId xmlns:a16="http://schemas.microsoft.com/office/drawing/2014/main" id="{47BFE872-9562-8D29-8321-4CFF3B4B88F1}"/>
              </a:ext>
            </a:extLst>
          </p:cNvPr>
          <p:cNvPicPr>
            <a:picLocks noChangeAspect="1"/>
          </p:cNvPicPr>
          <p:nvPr>
            <p:custDataLst>
              <p:tags r:id="rId4"/>
            </p:custDataLst>
          </p:nvPr>
        </p:nvPicPr>
        <p:blipFill>
          <a:blip r:embed="rId9"/>
          <a:stretch>
            <a:fillRect/>
          </a:stretch>
        </p:blipFill>
        <p:spPr>
          <a:xfrm>
            <a:off x="1003312" y="1228777"/>
            <a:ext cx="8731250" cy="4573879"/>
          </a:xfrm>
          <a:prstGeom prst="rect">
            <a:avLst/>
          </a:prstGeom>
        </p:spPr>
      </p:pic>
      <p:grpSp>
        <p:nvGrpSpPr>
          <p:cNvPr id="27" name="Group 26">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3"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62724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fi-FI"/>
              <a:t>New producer compensation</a:t>
            </a:r>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New producer compensation</a:t>
            </a:r>
          </a:p>
        </p:txBody>
      </p:sp>
      <p:sp>
        <p:nvSpPr>
          <p:cNvPr id="22" name="Text Placeholder 12">
            <a:extLst>
              <a:ext uri="{FF2B5EF4-FFF2-40B4-BE49-F238E27FC236}">
                <a16:creationId xmlns:a16="http://schemas.microsoft.com/office/drawing/2014/main" id="{5885333A-A033-5444-18B9-546E75E3F534}"/>
              </a:ext>
            </a:extLst>
          </p:cNvPr>
          <p:cNvSpPr txBox="1">
            <a:spLocks/>
          </p:cNvSpPr>
          <p:nvPr/>
        </p:nvSpPr>
        <p:spPr>
          <a:xfrm>
            <a:off x="1025014" y="304588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2" name="Picture 1">
            <a:extLst>
              <a:ext uri="{FF2B5EF4-FFF2-40B4-BE49-F238E27FC236}">
                <a16:creationId xmlns:a16="http://schemas.microsoft.com/office/drawing/2014/main" id="{12A4D31C-F8D5-2F2D-2A00-50DA53C395F0}"/>
              </a:ext>
            </a:extLst>
          </p:cNvPr>
          <p:cNvPicPr>
            <a:picLocks noChangeAspect="1"/>
          </p:cNvPicPr>
          <p:nvPr>
            <p:custDataLst>
              <p:tags r:id="rId4"/>
            </p:custDataLst>
          </p:nvPr>
        </p:nvPicPr>
        <p:blipFill>
          <a:blip r:embed="rId9"/>
          <a:stretch>
            <a:fillRect/>
          </a:stretch>
        </p:blipFill>
        <p:spPr>
          <a:xfrm>
            <a:off x="995362" y="1330325"/>
            <a:ext cx="5432908" cy="1703451"/>
          </a:xfrm>
          <a:prstGeom prst="rect">
            <a:avLst/>
          </a:prstGeom>
        </p:spPr>
      </p:pic>
      <p:grpSp>
        <p:nvGrpSpPr>
          <p:cNvPr id="28" name="Group 27">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3"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980946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CA" dirty="0"/>
              <a:t>Net working capital support – Capex</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working capital</a:t>
            </a:r>
          </a:p>
        </p:txBody>
      </p:sp>
      <p:pic>
        <p:nvPicPr>
          <p:cNvPr id="15" name="Picture 14">
            <a:extLst>
              <a:ext uri="{FF2B5EF4-FFF2-40B4-BE49-F238E27FC236}">
                <a16:creationId xmlns:a16="http://schemas.microsoft.com/office/drawing/2014/main" id="{E06BD5FC-EC8F-DA66-C8C8-981FCC1AE898}"/>
              </a:ext>
            </a:extLst>
          </p:cNvPr>
          <p:cNvPicPr>
            <a:picLocks noChangeAspect="1"/>
          </p:cNvPicPr>
          <p:nvPr>
            <p:custDataLst>
              <p:tags r:id="rId4"/>
            </p:custDataLst>
          </p:nvPr>
        </p:nvPicPr>
        <p:blipFill>
          <a:blip r:embed="rId9"/>
          <a:stretch>
            <a:fillRect/>
          </a:stretch>
        </p:blipFill>
        <p:spPr>
          <a:xfrm>
            <a:off x="1003312" y="1327196"/>
            <a:ext cx="1976133" cy="1017537"/>
          </a:xfrm>
          <a:prstGeom prst="rect">
            <a:avLst/>
          </a:prstGeom>
        </p:spPr>
      </p:pic>
      <p:sp>
        <p:nvSpPr>
          <p:cNvPr id="22" name="Text Placeholder 12">
            <a:extLst>
              <a:ext uri="{FF2B5EF4-FFF2-40B4-BE49-F238E27FC236}">
                <a16:creationId xmlns:a16="http://schemas.microsoft.com/office/drawing/2014/main" id="{5885333A-A033-5444-18B9-546E75E3F534}"/>
              </a:ext>
            </a:extLst>
          </p:cNvPr>
          <p:cNvSpPr txBox="1">
            <a:spLocks/>
          </p:cNvSpPr>
          <p:nvPr/>
        </p:nvSpPr>
        <p:spPr>
          <a:xfrm>
            <a:off x="987844" y="237019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grpSp>
        <p:nvGrpSpPr>
          <p:cNvPr id="28" name="Group 27">
            <a:extLst>
              <a:ext uri="{FF2B5EF4-FFF2-40B4-BE49-F238E27FC236}">
                <a16:creationId xmlns:a16="http://schemas.microsoft.com/office/drawing/2014/main" id="{42FAF721-65D4-24C2-BBE1-37CCCF80BCD1}"/>
              </a:ext>
            </a:extLst>
          </p:cNvPr>
          <p:cNvGrpSpPr/>
          <p:nvPr>
            <p:custDataLst>
              <p:tags r:id="rId5"/>
            </p:custDataLst>
          </p:nvPr>
        </p:nvGrpSpPr>
        <p:grpSpPr>
          <a:xfrm>
            <a:off x="995364" y="153170"/>
            <a:ext cx="4992623" cy="195814"/>
            <a:chOff x="995364" y="153170"/>
            <a:chExt cx="4992623"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3" name="Current Section5">
              <a:hlinkClick r:id="rId14"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988052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9"/>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r>
              <a:rPr lang="en-CA" dirty="0"/>
              <a:t>Net debt support – Obligations related to past acquisitions</a:t>
            </a:r>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79B1CC1-AB5F-95F4-AECF-1195010C34C9}"/>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Net debt</a:t>
            </a:r>
          </a:p>
        </p:txBody>
      </p:sp>
      <p:sp>
        <p:nvSpPr>
          <p:cNvPr id="2" name="Text Placeholder 12">
            <a:extLst>
              <a:ext uri="{FF2B5EF4-FFF2-40B4-BE49-F238E27FC236}">
                <a16:creationId xmlns:a16="http://schemas.microsoft.com/office/drawing/2014/main" id="{A94D3DBD-4A8F-DEF6-68DB-B6F03DDF4AEC}"/>
              </a:ext>
            </a:extLst>
          </p:cNvPr>
          <p:cNvSpPr txBox="1">
            <a:spLocks/>
          </p:cNvSpPr>
          <p:nvPr/>
        </p:nvSpPr>
        <p:spPr>
          <a:xfrm>
            <a:off x="1015068" y="2330015"/>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5" name="Picture 4">
            <a:extLst>
              <a:ext uri="{FF2B5EF4-FFF2-40B4-BE49-F238E27FC236}">
                <a16:creationId xmlns:a16="http://schemas.microsoft.com/office/drawing/2014/main" id="{E53B347E-EBC4-9512-E2F0-9EB798781677}"/>
              </a:ext>
            </a:extLst>
          </p:cNvPr>
          <p:cNvPicPr>
            <a:picLocks noChangeAspect="1"/>
          </p:cNvPicPr>
          <p:nvPr>
            <p:custDataLst>
              <p:tags r:id="rId4"/>
            </p:custDataLst>
          </p:nvPr>
        </p:nvPicPr>
        <p:blipFill>
          <a:blip r:embed="rId10"/>
          <a:stretch>
            <a:fillRect/>
          </a:stretch>
        </p:blipFill>
        <p:spPr>
          <a:xfrm>
            <a:off x="995362" y="1330325"/>
            <a:ext cx="2210600" cy="1009117"/>
          </a:xfrm>
          <a:prstGeom prst="rect">
            <a:avLst/>
          </a:prstGeom>
        </p:spPr>
      </p:pic>
      <p:sp>
        <p:nvSpPr>
          <p:cNvPr id="7" name="Text Placeholder 12">
            <a:extLst>
              <a:ext uri="{FF2B5EF4-FFF2-40B4-BE49-F238E27FC236}">
                <a16:creationId xmlns:a16="http://schemas.microsoft.com/office/drawing/2014/main" id="{00337259-DC93-1FF5-96BE-DF5148BC4597}"/>
              </a:ext>
            </a:extLst>
          </p:cNvPr>
          <p:cNvSpPr txBox="1">
            <a:spLocks/>
          </p:cNvSpPr>
          <p:nvPr/>
        </p:nvSpPr>
        <p:spPr>
          <a:xfrm>
            <a:off x="985310" y="3385327"/>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pic>
        <p:nvPicPr>
          <p:cNvPr id="10" name="Picture 9">
            <a:extLst>
              <a:ext uri="{FF2B5EF4-FFF2-40B4-BE49-F238E27FC236}">
                <a16:creationId xmlns:a16="http://schemas.microsoft.com/office/drawing/2014/main" id="{7195FA9D-54AE-C2B0-C105-2FFC144ED5CD}"/>
              </a:ext>
            </a:extLst>
          </p:cNvPr>
          <p:cNvPicPr>
            <a:picLocks noChangeAspect="1"/>
          </p:cNvPicPr>
          <p:nvPr>
            <p:custDataLst>
              <p:tags r:id="rId5"/>
            </p:custDataLst>
          </p:nvPr>
        </p:nvPicPr>
        <p:blipFill>
          <a:blip r:embed="rId11"/>
          <a:stretch>
            <a:fillRect/>
          </a:stretch>
        </p:blipFill>
        <p:spPr>
          <a:xfrm>
            <a:off x="1003312" y="2589610"/>
            <a:ext cx="2210600" cy="792785"/>
          </a:xfrm>
          <a:prstGeom prst="rect">
            <a:avLst/>
          </a:prstGeom>
        </p:spPr>
      </p:pic>
      <p:grpSp>
        <p:nvGrpSpPr>
          <p:cNvPr id="30" name="Group 29">
            <a:extLst>
              <a:ext uri="{FF2B5EF4-FFF2-40B4-BE49-F238E27FC236}">
                <a16:creationId xmlns:a16="http://schemas.microsoft.com/office/drawing/2014/main" id="{42FAF721-65D4-24C2-BBE1-37CCCF80BCD1}"/>
              </a:ext>
            </a:extLst>
          </p:cNvPr>
          <p:cNvGrpSpPr/>
          <p:nvPr>
            <p:custDataLst>
              <p:tags r:id="rId6"/>
            </p:custDataLst>
          </p:nvPr>
        </p:nvGrpSpPr>
        <p:grpSpPr>
          <a:xfrm>
            <a:off x="995364" y="153170"/>
            <a:ext cx="4992623" cy="195814"/>
            <a:chOff x="995364" y="153170"/>
            <a:chExt cx="4992623" cy="195814"/>
          </a:xfrm>
        </p:grpSpPr>
        <p:sp>
          <p:nvSpPr>
            <p:cNvPr id="31"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3"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4"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5" name="Current Section5">
              <a:hlinkClick r:id="rId16"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396648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7F5B4-B05B-9A45-CC6E-CEE9E8DA70C1}"/>
            </a:ext>
          </a:extLst>
        </p:cNvPr>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3F4C1EB1-A7DF-CD45-8806-98148C8D662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3F4C1EB1-A7DF-CD45-8806-98148C8D662C}"/>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1E63079-1EC0-B5AB-5FD4-4453923E2FFF}"/>
              </a:ext>
            </a:extLst>
          </p:cNvPr>
          <p:cNvSpPr>
            <a:spLocks noGrp="1"/>
          </p:cNvSpPr>
          <p:nvPr>
            <p:ph type="title"/>
          </p:nvPr>
        </p:nvSpPr>
        <p:spPr/>
        <p:txBody>
          <a:bodyPr/>
          <a:lstStyle/>
          <a:p>
            <a:r>
              <a:rPr lang="en-US" dirty="0"/>
              <a:t>Legal structure (1/2) – P&amp;C</a:t>
            </a:r>
            <a:endParaRPr lang="fi-FI"/>
          </a:p>
        </p:txBody>
      </p:sp>
      <p:sp>
        <p:nvSpPr>
          <p:cNvPr id="51" name="Rectangle 50">
            <a:extLst>
              <a:ext uri="{FF2B5EF4-FFF2-40B4-BE49-F238E27FC236}">
                <a16:creationId xmlns:a16="http://schemas.microsoft.com/office/drawing/2014/main" id="{4D4AB42F-3724-3E5C-887B-A0796AEBBC77}"/>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6AD3C658-72B6-0945-60D9-1F983047312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208CB74A-360A-F3D2-305A-EDB820453A9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68E5DD5E-0853-A8F7-7B2C-D7CEE27E241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7C618B52-17AD-E3CE-B667-9E284D67504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018088C5-7EAA-6439-6247-81F779F5985D}"/>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D939E0EF-3608-F9C5-4BF5-889C227B245F}"/>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771AA1AE-2EB3-68D2-1502-5129E868DA49}"/>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CE87D0FA-9163-81D8-B599-38156C980685}"/>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3BAA133D-F168-3622-17A0-FAA557018F0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C1229329-1D68-5BA4-DA1A-D1B82A7FF19E}"/>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DCF8AA2-B467-AC56-A9AC-2EAD81DD9FD4}"/>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ED8564DB-2C1A-22CE-2F90-03FE74BBFE2B}"/>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61E3BC9F-0307-6C92-5FB0-4DF47C5CA3E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C14FCACA-7911-CF91-5AAB-C11DD3B005CB}"/>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416C5E71-3365-7C83-8755-1C33CCE58798}"/>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Legal structure</a:t>
            </a:r>
          </a:p>
        </p:txBody>
      </p:sp>
      <p:sp>
        <p:nvSpPr>
          <p:cNvPr id="195" name="Text Placeholder 4">
            <a:extLst>
              <a:ext uri="{FF2B5EF4-FFF2-40B4-BE49-F238E27FC236}">
                <a16:creationId xmlns:a16="http://schemas.microsoft.com/office/drawing/2014/main" id="{E92FFDDB-D00B-F731-6D1B-C2A28988DE1A}"/>
              </a:ext>
            </a:extLst>
          </p:cNvPr>
          <p:cNvSpPr txBox="1">
            <a:spLocks/>
          </p:cNvSpPr>
          <p:nvPr/>
        </p:nvSpPr>
        <p:spPr>
          <a:xfrm>
            <a:off x="890387" y="1179513"/>
            <a:ext cx="10016655" cy="365213"/>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fi-FI"/>
          </a:p>
        </p:txBody>
      </p:sp>
      <p:sp>
        <p:nvSpPr>
          <p:cNvPr id="197" name="Text Placeholder 4">
            <a:extLst>
              <a:ext uri="{FF2B5EF4-FFF2-40B4-BE49-F238E27FC236}">
                <a16:creationId xmlns:a16="http://schemas.microsoft.com/office/drawing/2014/main" id="{1CA1E131-2CAD-863B-D2E1-A07CC8E9E31B}"/>
              </a:ext>
            </a:extLst>
          </p:cNvPr>
          <p:cNvSpPr txBox="1">
            <a:spLocks/>
          </p:cNvSpPr>
          <p:nvPr/>
        </p:nvSpPr>
        <p:spPr>
          <a:xfrm>
            <a:off x="918682" y="1190480"/>
            <a:ext cx="10016655" cy="365213"/>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fi-FI"/>
          </a:p>
        </p:txBody>
      </p:sp>
      <p:grpSp>
        <p:nvGrpSpPr>
          <p:cNvPr id="2" name="Group 1">
            <a:extLst>
              <a:ext uri="{FF2B5EF4-FFF2-40B4-BE49-F238E27FC236}">
                <a16:creationId xmlns:a16="http://schemas.microsoft.com/office/drawing/2014/main" id="{30AB4545-BC5E-A91A-E609-EA4DC16F66AB}"/>
              </a:ext>
            </a:extLst>
          </p:cNvPr>
          <p:cNvGrpSpPr/>
          <p:nvPr/>
        </p:nvGrpSpPr>
        <p:grpSpPr>
          <a:xfrm>
            <a:off x="1003312" y="1361362"/>
            <a:ext cx="8333588" cy="4923345"/>
            <a:chOff x="1003312" y="1361362"/>
            <a:chExt cx="8333588" cy="4923345"/>
          </a:xfrm>
        </p:grpSpPr>
        <p:sp>
          <p:nvSpPr>
            <p:cNvPr id="5" name="Rectangle 4">
              <a:extLst>
                <a:ext uri="{FF2B5EF4-FFF2-40B4-BE49-F238E27FC236}">
                  <a16:creationId xmlns:a16="http://schemas.microsoft.com/office/drawing/2014/main" id="{96029569-B332-59CD-33B1-9461A795066E}"/>
                </a:ext>
              </a:extLst>
            </p:cNvPr>
            <p:cNvSpPr/>
            <p:nvPr/>
          </p:nvSpPr>
          <p:spPr>
            <a:xfrm>
              <a:off x="2855100" y="1361362"/>
              <a:ext cx="1168260" cy="36521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Synex</a:t>
              </a:r>
            </a:p>
            <a:p>
              <a:pPr algn="ctr"/>
              <a:r>
                <a:rPr lang="en-US" sz="1000" baseline="30000" dirty="0">
                  <a:solidFill>
                    <a:schemeClr val="bg1"/>
                  </a:solidFill>
                </a:rPr>
                <a:t>Performances</a:t>
              </a:r>
            </a:p>
            <a:p>
              <a:pPr algn="ctr"/>
              <a:r>
                <a:rPr lang="en-US" sz="1000" baseline="30000" dirty="0">
                  <a:solidFill>
                    <a:schemeClr val="bg1"/>
                  </a:solidFill>
                </a:rPr>
                <a:t>d'Affaires inc.</a:t>
              </a:r>
            </a:p>
          </p:txBody>
        </p:sp>
        <p:sp>
          <p:nvSpPr>
            <p:cNvPr id="33" name="Rectangle 32">
              <a:extLst>
                <a:ext uri="{FF2B5EF4-FFF2-40B4-BE49-F238E27FC236}">
                  <a16:creationId xmlns:a16="http://schemas.microsoft.com/office/drawing/2014/main" id="{D727312A-6A41-145F-8D98-B6A49C329036}"/>
                </a:ext>
              </a:extLst>
            </p:cNvPr>
            <p:cNvSpPr/>
            <p:nvPr/>
          </p:nvSpPr>
          <p:spPr>
            <a:xfrm>
              <a:off x="2835885" y="2736056"/>
              <a:ext cx="1168260" cy="3652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9479-4666 Québec</a:t>
              </a:r>
            </a:p>
            <a:p>
              <a:pPr algn="ctr"/>
              <a:r>
                <a:rPr lang="en-US" sz="1000" baseline="30000" dirty="0">
                  <a:solidFill>
                    <a:schemeClr val="bg1"/>
                  </a:solidFill>
                </a:rPr>
                <a:t>inc. (IT Co)</a:t>
              </a:r>
            </a:p>
          </p:txBody>
        </p:sp>
        <p:sp>
          <p:nvSpPr>
            <p:cNvPr id="34" name="Rectangle 33">
              <a:extLst>
                <a:ext uri="{FF2B5EF4-FFF2-40B4-BE49-F238E27FC236}">
                  <a16:creationId xmlns:a16="http://schemas.microsoft.com/office/drawing/2014/main" id="{C8A8B7DA-6121-B97B-0673-28548B1524D6}"/>
                </a:ext>
              </a:extLst>
            </p:cNvPr>
            <p:cNvSpPr/>
            <p:nvPr/>
          </p:nvSpPr>
          <p:spPr>
            <a:xfrm>
              <a:off x="4626280" y="34316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1000" baseline="30000" dirty="0">
                <a:solidFill>
                  <a:schemeClr val="bg1"/>
                </a:solidFill>
              </a:endParaRPr>
            </a:p>
            <a:p>
              <a:pPr algn="ctr"/>
              <a:r>
                <a:rPr lang="en-US" sz="1000" baseline="30000" dirty="0">
                  <a:solidFill>
                    <a:schemeClr val="bg1"/>
                  </a:solidFill>
                </a:rPr>
                <a:t>15552010 Canada</a:t>
              </a:r>
            </a:p>
            <a:p>
              <a:pPr algn="ctr"/>
              <a:r>
                <a:rPr lang="en-US" sz="1000" baseline="30000" dirty="0">
                  <a:solidFill>
                    <a:schemeClr val="bg1"/>
                  </a:solidFill>
                </a:rPr>
                <a:t>inc. (Holding</a:t>
              </a:r>
            </a:p>
            <a:p>
              <a:pPr algn="ctr"/>
              <a:r>
                <a:rPr lang="en-US" sz="1000" baseline="30000" dirty="0">
                  <a:solidFill>
                    <a:schemeClr val="bg1"/>
                  </a:solidFill>
                </a:rPr>
                <a:t>Captive)</a:t>
              </a:r>
            </a:p>
          </p:txBody>
        </p:sp>
        <p:sp>
          <p:nvSpPr>
            <p:cNvPr id="42" name="Rectangle 41">
              <a:extLst>
                <a:ext uri="{FF2B5EF4-FFF2-40B4-BE49-F238E27FC236}">
                  <a16:creationId xmlns:a16="http://schemas.microsoft.com/office/drawing/2014/main" id="{656BAE70-E429-2FFC-4876-4B55FA013BE2}"/>
                </a:ext>
              </a:extLst>
            </p:cNvPr>
            <p:cNvSpPr/>
            <p:nvPr/>
          </p:nvSpPr>
          <p:spPr>
            <a:xfrm>
              <a:off x="2855100" y="5299710"/>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GoTo Benefits Inc.</a:t>
              </a:r>
            </a:p>
          </p:txBody>
        </p:sp>
        <p:sp>
          <p:nvSpPr>
            <p:cNvPr id="44" name="Rectangle 43">
              <a:extLst>
                <a:ext uri="{FF2B5EF4-FFF2-40B4-BE49-F238E27FC236}">
                  <a16:creationId xmlns:a16="http://schemas.microsoft.com/office/drawing/2014/main" id="{F4E2D116-3D62-AC15-D11F-90DC0BFDCF05}"/>
                </a:ext>
              </a:extLst>
            </p:cNvPr>
            <p:cNvSpPr/>
            <p:nvPr/>
          </p:nvSpPr>
          <p:spPr>
            <a:xfrm>
              <a:off x="2855100" y="40543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Palladium</a:t>
              </a:r>
            </a:p>
            <a:p>
              <a:pPr algn="ctr"/>
              <a:r>
                <a:rPr lang="en-US" sz="1000" baseline="30000" dirty="0">
                  <a:solidFill>
                    <a:schemeClr val="bg1"/>
                  </a:solidFill>
                </a:rPr>
                <a:t>Insurance Brokers</a:t>
              </a:r>
            </a:p>
            <a:p>
              <a:pPr algn="ctr"/>
              <a:r>
                <a:rPr lang="en-US" sz="1000" baseline="30000" dirty="0">
                  <a:solidFill>
                    <a:schemeClr val="bg1"/>
                  </a:solidFill>
                </a:rPr>
                <a:t>Ltd.</a:t>
              </a:r>
            </a:p>
          </p:txBody>
        </p:sp>
        <p:sp>
          <p:nvSpPr>
            <p:cNvPr id="45" name="Rectangle 44">
              <a:extLst>
                <a:ext uri="{FF2B5EF4-FFF2-40B4-BE49-F238E27FC236}">
                  <a16:creationId xmlns:a16="http://schemas.microsoft.com/office/drawing/2014/main" id="{6736A86E-D7BD-F70F-F883-73E3ABC56DE8}"/>
                </a:ext>
              </a:extLst>
            </p:cNvPr>
            <p:cNvSpPr/>
            <p:nvPr/>
          </p:nvSpPr>
          <p:spPr>
            <a:xfrm>
              <a:off x="2855100" y="34316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Sharp Insurance</a:t>
              </a:r>
            </a:p>
            <a:p>
              <a:pPr algn="ctr"/>
              <a:r>
                <a:rPr lang="en-US" sz="1000" baseline="30000" dirty="0">
                  <a:solidFill>
                    <a:schemeClr val="bg1"/>
                  </a:solidFill>
                </a:rPr>
                <a:t>Brokers Inc.</a:t>
              </a:r>
            </a:p>
          </p:txBody>
        </p:sp>
        <p:sp>
          <p:nvSpPr>
            <p:cNvPr id="46" name="Rectangle 45">
              <a:extLst>
                <a:ext uri="{FF2B5EF4-FFF2-40B4-BE49-F238E27FC236}">
                  <a16:creationId xmlns:a16="http://schemas.microsoft.com/office/drawing/2014/main" id="{2BF4C206-AF86-053E-FB41-0CD9C3FA8FBF}"/>
                </a:ext>
              </a:extLst>
            </p:cNvPr>
            <p:cNvSpPr/>
            <p:nvPr/>
          </p:nvSpPr>
          <p:spPr>
            <a:xfrm>
              <a:off x="5511870" y="2045137"/>
              <a:ext cx="1168260" cy="365213"/>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13410706 Canada</a:t>
              </a:r>
            </a:p>
            <a:p>
              <a:pPr algn="ctr"/>
              <a:r>
                <a:rPr lang="en-US" sz="1000" baseline="30000" dirty="0">
                  <a:solidFill>
                    <a:schemeClr val="bg1"/>
                  </a:solidFill>
                </a:rPr>
                <a:t>inc. (Synex</a:t>
              </a:r>
            </a:p>
            <a:p>
              <a:pPr algn="ctr"/>
              <a:r>
                <a:rPr lang="en-US" sz="1000" baseline="30000" dirty="0">
                  <a:solidFill>
                    <a:schemeClr val="bg1"/>
                  </a:solidFill>
                </a:rPr>
                <a:t>AcquisiCo)</a:t>
              </a:r>
            </a:p>
          </p:txBody>
        </p:sp>
        <p:sp>
          <p:nvSpPr>
            <p:cNvPr id="47" name="Rectangle 46">
              <a:extLst>
                <a:ext uri="{FF2B5EF4-FFF2-40B4-BE49-F238E27FC236}">
                  <a16:creationId xmlns:a16="http://schemas.microsoft.com/office/drawing/2014/main" id="{52F503FD-480E-4533-64E8-69FA6A4A9A42}"/>
                </a:ext>
              </a:extLst>
            </p:cNvPr>
            <p:cNvSpPr/>
            <p:nvPr/>
          </p:nvSpPr>
          <p:spPr>
            <a:xfrm>
              <a:off x="4539133" y="2736056"/>
              <a:ext cx="1168260" cy="3652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pt-BR" sz="1000" baseline="30000">
                  <a:solidFill>
                    <a:schemeClr val="bg1"/>
                  </a:solidFill>
                </a:rPr>
                <a:t>15187796 Canada</a:t>
              </a:r>
            </a:p>
            <a:p>
              <a:pPr algn="ctr"/>
              <a:r>
                <a:rPr lang="pt-BR" sz="1000" baseline="30000">
                  <a:solidFill>
                    <a:schemeClr val="bg1"/>
                  </a:solidFill>
                </a:rPr>
                <a:t>inc. (Synex Assurance</a:t>
              </a:r>
            </a:p>
            <a:p>
              <a:pPr algn="ctr"/>
              <a:r>
                <a:rPr lang="pt-BR" sz="1000" baseline="30000">
                  <a:solidFill>
                    <a:schemeClr val="bg1"/>
                  </a:solidFill>
                </a:rPr>
                <a:t>Canada)</a:t>
              </a:r>
              <a:endParaRPr lang="en-US" sz="1000" baseline="30000" dirty="0">
                <a:solidFill>
                  <a:schemeClr val="bg1"/>
                </a:solidFill>
              </a:endParaRPr>
            </a:p>
          </p:txBody>
        </p:sp>
        <p:sp>
          <p:nvSpPr>
            <p:cNvPr id="48" name="Rectangle 47">
              <a:extLst>
                <a:ext uri="{FF2B5EF4-FFF2-40B4-BE49-F238E27FC236}">
                  <a16:creationId xmlns:a16="http://schemas.microsoft.com/office/drawing/2014/main" id="{3EE325F0-D250-9AB0-2426-C73FC6EB1935}"/>
                </a:ext>
              </a:extLst>
            </p:cNvPr>
            <p:cNvSpPr/>
            <p:nvPr/>
          </p:nvSpPr>
          <p:spPr>
            <a:xfrm>
              <a:off x="8168640" y="34316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000" baseline="30000" dirty="0">
                  <a:solidFill>
                    <a:schemeClr val="bg1"/>
                  </a:solidFill>
                </a:rPr>
                <a:t>9484-0857 Québec</a:t>
              </a:r>
            </a:p>
            <a:p>
              <a:pPr algn="ctr"/>
              <a:r>
                <a:rPr lang="fr-FR" sz="1000" baseline="30000" dirty="0">
                  <a:solidFill>
                    <a:schemeClr val="bg1"/>
                  </a:solidFill>
                </a:rPr>
                <a:t>Inc. (former CRA)</a:t>
              </a:r>
              <a:endParaRPr lang="en-US" sz="1000" baseline="30000" dirty="0">
                <a:solidFill>
                  <a:schemeClr val="bg1"/>
                </a:solidFill>
              </a:endParaRPr>
            </a:p>
          </p:txBody>
        </p:sp>
        <p:sp>
          <p:nvSpPr>
            <p:cNvPr id="49" name="Rectangle 48">
              <a:extLst>
                <a:ext uri="{FF2B5EF4-FFF2-40B4-BE49-F238E27FC236}">
                  <a16:creationId xmlns:a16="http://schemas.microsoft.com/office/drawing/2014/main" id="{FCF37DAA-0EF4-22DD-8E44-AA1E0001250B}"/>
                </a:ext>
              </a:extLst>
            </p:cNvPr>
            <p:cNvSpPr/>
            <p:nvPr/>
          </p:nvSpPr>
          <p:spPr>
            <a:xfrm>
              <a:off x="2855100" y="46770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G.T.I. Broker Group Inc.</a:t>
              </a:r>
            </a:p>
          </p:txBody>
        </p:sp>
        <p:sp>
          <p:nvSpPr>
            <p:cNvPr id="50" name="Rectangle 49">
              <a:extLst>
                <a:ext uri="{FF2B5EF4-FFF2-40B4-BE49-F238E27FC236}">
                  <a16:creationId xmlns:a16="http://schemas.microsoft.com/office/drawing/2014/main" id="{63B5C503-C95B-F480-70EA-D00F5E819281}"/>
                </a:ext>
              </a:extLst>
            </p:cNvPr>
            <p:cNvSpPr/>
            <p:nvPr/>
          </p:nvSpPr>
          <p:spPr>
            <a:xfrm>
              <a:off x="4637698" y="40543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1000" baseline="30000" dirty="0">
                <a:solidFill>
                  <a:schemeClr val="bg1"/>
                </a:solidFill>
              </a:endParaRPr>
            </a:p>
            <a:p>
              <a:pPr algn="ctr"/>
              <a:r>
                <a:rPr lang="en-US" sz="1000" baseline="30000" dirty="0">
                  <a:solidFill>
                    <a:schemeClr val="bg1"/>
                  </a:solidFill>
                </a:rPr>
                <a:t>14885503 Canada</a:t>
              </a:r>
            </a:p>
            <a:p>
              <a:pPr algn="ctr"/>
              <a:r>
                <a:rPr lang="en-US" sz="1000" baseline="30000" dirty="0">
                  <a:solidFill>
                    <a:schemeClr val="bg1"/>
                  </a:solidFill>
                </a:rPr>
                <a:t>inc. (Soplex</a:t>
              </a:r>
            </a:p>
            <a:p>
              <a:pPr algn="ctr"/>
              <a:r>
                <a:rPr lang="en-US" sz="1000" baseline="30000" dirty="0">
                  <a:solidFill>
                    <a:schemeClr val="bg1"/>
                  </a:solidFill>
                </a:rPr>
                <a:t>Ontario)</a:t>
              </a:r>
            </a:p>
          </p:txBody>
        </p:sp>
        <p:sp>
          <p:nvSpPr>
            <p:cNvPr id="55" name="Rectangle 54">
              <a:extLst>
                <a:ext uri="{FF2B5EF4-FFF2-40B4-BE49-F238E27FC236}">
                  <a16:creationId xmlns:a16="http://schemas.microsoft.com/office/drawing/2014/main" id="{1E8FFECC-5809-4139-853E-9EC2F582BB09}"/>
                </a:ext>
              </a:extLst>
            </p:cNvPr>
            <p:cNvSpPr/>
            <p:nvPr/>
          </p:nvSpPr>
          <p:spPr>
            <a:xfrm>
              <a:off x="4637698" y="5299710"/>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GoTo Wealth Inc.</a:t>
              </a:r>
            </a:p>
          </p:txBody>
        </p:sp>
        <p:sp>
          <p:nvSpPr>
            <p:cNvPr id="59" name="Rectangle 58">
              <a:extLst>
                <a:ext uri="{FF2B5EF4-FFF2-40B4-BE49-F238E27FC236}">
                  <a16:creationId xmlns:a16="http://schemas.microsoft.com/office/drawing/2014/main" id="{83DE9D3A-6CD0-054B-C40A-99F2A29E68AB}"/>
                </a:ext>
              </a:extLst>
            </p:cNvPr>
            <p:cNvSpPr/>
            <p:nvPr/>
          </p:nvSpPr>
          <p:spPr>
            <a:xfrm>
              <a:off x="4637698" y="4677011"/>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15742153 Canada Inc.</a:t>
              </a:r>
            </a:p>
          </p:txBody>
        </p:sp>
        <p:sp>
          <p:nvSpPr>
            <p:cNvPr id="62" name="Rectangle 61">
              <a:extLst>
                <a:ext uri="{FF2B5EF4-FFF2-40B4-BE49-F238E27FC236}">
                  <a16:creationId xmlns:a16="http://schemas.microsoft.com/office/drawing/2014/main" id="{110F9847-218C-75E5-40CB-00C10ECB0C8C}"/>
                </a:ext>
              </a:extLst>
            </p:cNvPr>
            <p:cNvSpPr/>
            <p:nvPr/>
          </p:nvSpPr>
          <p:spPr>
            <a:xfrm>
              <a:off x="6420295" y="4053582"/>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000" baseline="30000" dirty="0">
                  <a:solidFill>
                    <a:schemeClr val="bg1"/>
                  </a:solidFill>
                </a:rPr>
                <a:t>Girard, Tremblay et</a:t>
              </a:r>
            </a:p>
            <a:p>
              <a:pPr algn="ctr"/>
              <a:r>
                <a:rPr lang="fr-FR" sz="1000" baseline="30000" dirty="0">
                  <a:solidFill>
                    <a:schemeClr val="bg1"/>
                  </a:solidFill>
                </a:rPr>
                <a:t>Associés Inc.</a:t>
              </a:r>
              <a:endParaRPr lang="en-US" sz="1000" baseline="30000" dirty="0">
                <a:solidFill>
                  <a:schemeClr val="bg1"/>
                </a:solidFill>
              </a:endParaRPr>
            </a:p>
          </p:txBody>
        </p:sp>
        <p:sp>
          <p:nvSpPr>
            <p:cNvPr id="63" name="Rectangle 62">
              <a:extLst>
                <a:ext uri="{FF2B5EF4-FFF2-40B4-BE49-F238E27FC236}">
                  <a16:creationId xmlns:a16="http://schemas.microsoft.com/office/drawing/2014/main" id="{C85D4698-CD17-84BA-86DC-C8F22348CA47}"/>
                </a:ext>
              </a:extLst>
            </p:cNvPr>
            <p:cNvSpPr/>
            <p:nvPr/>
          </p:nvSpPr>
          <p:spPr>
            <a:xfrm>
              <a:off x="6420295" y="5297524"/>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Synex Auto</a:t>
              </a:r>
            </a:p>
            <a:p>
              <a:pPr algn="ctr"/>
              <a:r>
                <a:rPr lang="en-US" sz="1000" baseline="30000" dirty="0">
                  <a:solidFill>
                    <a:schemeClr val="bg1"/>
                  </a:solidFill>
                </a:rPr>
                <a:t>Habitation inc.</a:t>
              </a:r>
            </a:p>
          </p:txBody>
        </p:sp>
        <p:sp>
          <p:nvSpPr>
            <p:cNvPr id="192" name="Rectangle 191">
              <a:extLst>
                <a:ext uri="{FF2B5EF4-FFF2-40B4-BE49-F238E27FC236}">
                  <a16:creationId xmlns:a16="http://schemas.microsoft.com/office/drawing/2014/main" id="{7F719991-4216-6CCE-1A42-0B1640FAD7A4}"/>
                </a:ext>
              </a:extLst>
            </p:cNvPr>
            <p:cNvSpPr/>
            <p:nvPr/>
          </p:nvSpPr>
          <p:spPr>
            <a:xfrm>
              <a:off x="6420295" y="4675553"/>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Soplex Solutions</a:t>
              </a:r>
            </a:p>
            <a:p>
              <a:pPr algn="ctr"/>
              <a:r>
                <a:rPr lang="en-US" sz="1000" baseline="30000" dirty="0">
                  <a:solidFill>
                    <a:schemeClr val="bg1"/>
                  </a:solidFill>
                </a:rPr>
                <a:t>d'assurances inc.</a:t>
              </a:r>
            </a:p>
          </p:txBody>
        </p:sp>
        <p:sp>
          <p:nvSpPr>
            <p:cNvPr id="196" name="Rectangle 195">
              <a:extLst>
                <a:ext uri="{FF2B5EF4-FFF2-40B4-BE49-F238E27FC236}">
                  <a16:creationId xmlns:a16="http://schemas.microsoft.com/office/drawing/2014/main" id="{1A06DDC8-682D-599A-FE8D-27D1A6883784}"/>
                </a:ext>
              </a:extLst>
            </p:cNvPr>
            <p:cNvSpPr/>
            <p:nvPr/>
          </p:nvSpPr>
          <p:spPr>
            <a:xfrm>
              <a:off x="8168640" y="1361362"/>
              <a:ext cx="1168260" cy="36521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Brown Brothers</a:t>
              </a:r>
            </a:p>
            <a:p>
              <a:pPr algn="ctr"/>
              <a:r>
                <a:rPr lang="en-US" sz="1000" baseline="30000" dirty="0">
                  <a:solidFill>
                    <a:schemeClr val="bg1"/>
                  </a:solidFill>
                </a:rPr>
                <a:t>Harriman (BBH)</a:t>
              </a:r>
            </a:p>
          </p:txBody>
        </p:sp>
        <p:cxnSp>
          <p:nvCxnSpPr>
            <p:cNvPr id="204" name="Connector: Elbow 203">
              <a:extLst>
                <a:ext uri="{FF2B5EF4-FFF2-40B4-BE49-F238E27FC236}">
                  <a16:creationId xmlns:a16="http://schemas.microsoft.com/office/drawing/2014/main" id="{0D57075C-B8D7-7F20-91D4-3F46B1B0F9C3}"/>
                </a:ext>
              </a:extLst>
            </p:cNvPr>
            <p:cNvCxnSpPr>
              <a:cxnSpLocks/>
              <a:stCxn id="5" idx="2"/>
              <a:endCxn id="46" idx="0"/>
            </p:cNvCxnSpPr>
            <p:nvPr/>
          </p:nvCxnSpPr>
          <p:spPr>
            <a:xfrm rot="16200000" flipH="1">
              <a:off x="4608334" y="557471"/>
              <a:ext cx="318562" cy="2656770"/>
            </a:xfrm>
            <a:prstGeom prst="bentConnector3">
              <a:avLst>
                <a:gd name="adj1" fmla="val 5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551CF816-193A-3AFE-3D8E-BCBBC7DD8143}"/>
                </a:ext>
              </a:extLst>
            </p:cNvPr>
            <p:cNvCxnSpPr>
              <a:cxnSpLocks/>
              <a:stCxn id="196" idx="2"/>
              <a:endCxn id="46" idx="0"/>
            </p:cNvCxnSpPr>
            <p:nvPr/>
          </p:nvCxnSpPr>
          <p:spPr>
            <a:xfrm rot="5400000">
              <a:off x="7265104" y="557471"/>
              <a:ext cx="318562" cy="2656770"/>
            </a:xfrm>
            <a:prstGeom prst="bentConnector3">
              <a:avLst>
                <a:gd name="adj1" fmla="val 5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Connector: Elbow 197">
              <a:extLst>
                <a:ext uri="{FF2B5EF4-FFF2-40B4-BE49-F238E27FC236}">
                  <a16:creationId xmlns:a16="http://schemas.microsoft.com/office/drawing/2014/main" id="{48AE50A8-38FA-181B-B1D8-14D86A8AC26C}"/>
                </a:ext>
              </a:extLst>
            </p:cNvPr>
            <p:cNvCxnSpPr>
              <a:cxnSpLocks/>
              <a:stCxn id="46" idx="1"/>
              <a:endCxn id="33" idx="0"/>
            </p:cNvCxnSpPr>
            <p:nvPr/>
          </p:nvCxnSpPr>
          <p:spPr>
            <a:xfrm rot="10800000" flipV="1">
              <a:off x="3420016" y="2227744"/>
              <a:ext cx="2091855" cy="508312"/>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Connector: Elbow 207">
              <a:extLst>
                <a:ext uri="{FF2B5EF4-FFF2-40B4-BE49-F238E27FC236}">
                  <a16:creationId xmlns:a16="http://schemas.microsoft.com/office/drawing/2014/main" id="{DBB4534E-ECA3-A1F0-C6E2-BBCD1CCD98F5}"/>
                </a:ext>
              </a:extLst>
            </p:cNvPr>
            <p:cNvCxnSpPr>
              <a:cxnSpLocks/>
              <a:stCxn id="46" idx="3"/>
              <a:endCxn id="48" idx="0"/>
            </p:cNvCxnSpPr>
            <p:nvPr/>
          </p:nvCxnSpPr>
          <p:spPr>
            <a:xfrm>
              <a:off x="6680130" y="2227744"/>
              <a:ext cx="2072640" cy="1203867"/>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Connector: Elbow 213">
              <a:extLst>
                <a:ext uri="{FF2B5EF4-FFF2-40B4-BE49-F238E27FC236}">
                  <a16:creationId xmlns:a16="http://schemas.microsoft.com/office/drawing/2014/main" id="{332BBA8C-24A7-AF75-DB07-BF48A1D2346D}"/>
                </a:ext>
              </a:extLst>
            </p:cNvPr>
            <p:cNvCxnSpPr>
              <a:cxnSpLocks/>
              <a:stCxn id="47" idx="2"/>
              <a:endCxn id="45" idx="1"/>
            </p:cNvCxnSpPr>
            <p:nvPr/>
          </p:nvCxnSpPr>
          <p:spPr>
            <a:xfrm rot="5400000">
              <a:off x="3732708" y="2223662"/>
              <a:ext cx="512949" cy="2268163"/>
            </a:xfrm>
            <a:prstGeom prst="bentConnector4">
              <a:avLst>
                <a:gd name="adj1" fmla="val 32200"/>
                <a:gd name="adj2" fmla="val 110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Connector: Elbow 226">
              <a:extLst>
                <a:ext uri="{FF2B5EF4-FFF2-40B4-BE49-F238E27FC236}">
                  <a16:creationId xmlns:a16="http://schemas.microsoft.com/office/drawing/2014/main" id="{221F75A7-17A6-F8CE-E0C1-959D3D47C0AD}"/>
                </a:ext>
              </a:extLst>
            </p:cNvPr>
            <p:cNvCxnSpPr>
              <a:cxnSpLocks/>
              <a:stCxn id="47" idx="2"/>
              <a:endCxn id="44" idx="1"/>
            </p:cNvCxnSpPr>
            <p:nvPr/>
          </p:nvCxnSpPr>
          <p:spPr>
            <a:xfrm rot="5400000">
              <a:off x="3421358" y="2535012"/>
              <a:ext cx="1135649" cy="2268163"/>
            </a:xfrm>
            <a:prstGeom prst="bentConnector4">
              <a:avLst>
                <a:gd name="adj1" fmla="val 14838"/>
                <a:gd name="adj2" fmla="val 110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Connector: Elbow 232">
              <a:extLst>
                <a:ext uri="{FF2B5EF4-FFF2-40B4-BE49-F238E27FC236}">
                  <a16:creationId xmlns:a16="http://schemas.microsoft.com/office/drawing/2014/main" id="{7918FACA-D7EB-C93B-6A00-7EA360F1C5BB}"/>
                </a:ext>
              </a:extLst>
            </p:cNvPr>
            <p:cNvCxnSpPr>
              <a:cxnSpLocks/>
              <a:stCxn id="47" idx="2"/>
              <a:endCxn id="49" idx="1"/>
            </p:cNvCxnSpPr>
            <p:nvPr/>
          </p:nvCxnSpPr>
          <p:spPr>
            <a:xfrm rot="5400000">
              <a:off x="3110008" y="2846362"/>
              <a:ext cx="1758349" cy="2268163"/>
            </a:xfrm>
            <a:prstGeom prst="bentConnector4">
              <a:avLst>
                <a:gd name="adj1" fmla="val 9773"/>
                <a:gd name="adj2" fmla="val 110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Connector: Elbow 239">
              <a:extLst>
                <a:ext uri="{FF2B5EF4-FFF2-40B4-BE49-F238E27FC236}">
                  <a16:creationId xmlns:a16="http://schemas.microsoft.com/office/drawing/2014/main" id="{82B7D48A-B59B-2EBA-3A70-F59040022E76}"/>
                </a:ext>
              </a:extLst>
            </p:cNvPr>
            <p:cNvCxnSpPr>
              <a:cxnSpLocks/>
              <a:stCxn id="47" idx="2"/>
              <a:endCxn id="42" idx="1"/>
            </p:cNvCxnSpPr>
            <p:nvPr/>
          </p:nvCxnSpPr>
          <p:spPr>
            <a:xfrm rot="5400000">
              <a:off x="2798658" y="3157712"/>
              <a:ext cx="2381048" cy="2268163"/>
            </a:xfrm>
            <a:prstGeom prst="bentConnector4">
              <a:avLst>
                <a:gd name="adj1" fmla="val 7357"/>
                <a:gd name="adj2" fmla="val 110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Connector: Elbow 245">
              <a:extLst>
                <a:ext uri="{FF2B5EF4-FFF2-40B4-BE49-F238E27FC236}">
                  <a16:creationId xmlns:a16="http://schemas.microsoft.com/office/drawing/2014/main" id="{78066D0D-840A-5F14-2469-73161B5CAFBA}"/>
                </a:ext>
              </a:extLst>
            </p:cNvPr>
            <p:cNvCxnSpPr>
              <a:cxnSpLocks/>
              <a:stCxn id="47" idx="2"/>
              <a:endCxn id="59" idx="1"/>
            </p:cNvCxnSpPr>
            <p:nvPr/>
          </p:nvCxnSpPr>
          <p:spPr>
            <a:xfrm rot="5400000">
              <a:off x="4001307" y="3737661"/>
              <a:ext cx="1758349" cy="485565"/>
            </a:xfrm>
            <a:prstGeom prst="bentConnector4">
              <a:avLst>
                <a:gd name="adj1" fmla="val 10321"/>
                <a:gd name="adj2" fmla="val 147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Connector: Elbow 251">
              <a:extLst>
                <a:ext uri="{FF2B5EF4-FFF2-40B4-BE49-F238E27FC236}">
                  <a16:creationId xmlns:a16="http://schemas.microsoft.com/office/drawing/2014/main" id="{3A014CA5-8A56-AAE9-0978-2EBD481F0D07}"/>
                </a:ext>
              </a:extLst>
            </p:cNvPr>
            <p:cNvCxnSpPr>
              <a:cxnSpLocks/>
              <a:stCxn id="47" idx="2"/>
              <a:endCxn id="50" idx="1"/>
            </p:cNvCxnSpPr>
            <p:nvPr/>
          </p:nvCxnSpPr>
          <p:spPr>
            <a:xfrm rot="5400000">
              <a:off x="4312657" y="3426311"/>
              <a:ext cx="1135649" cy="485565"/>
            </a:xfrm>
            <a:prstGeom prst="bentConnector4">
              <a:avLst>
                <a:gd name="adj1" fmla="val 14838"/>
                <a:gd name="adj2" fmla="val 147079"/>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Connector: Elbow 259">
              <a:extLst>
                <a:ext uri="{FF2B5EF4-FFF2-40B4-BE49-F238E27FC236}">
                  <a16:creationId xmlns:a16="http://schemas.microsoft.com/office/drawing/2014/main" id="{5319861F-C2CA-B07D-F6C7-BD0456C83A1D}"/>
                </a:ext>
              </a:extLst>
            </p:cNvPr>
            <p:cNvCxnSpPr>
              <a:cxnSpLocks/>
              <a:stCxn id="47" idx="2"/>
              <a:endCxn id="34" idx="1"/>
            </p:cNvCxnSpPr>
            <p:nvPr/>
          </p:nvCxnSpPr>
          <p:spPr>
            <a:xfrm rot="5400000">
              <a:off x="4618298" y="3109252"/>
              <a:ext cx="512949" cy="496983"/>
            </a:xfrm>
            <a:prstGeom prst="bentConnector4">
              <a:avLst>
                <a:gd name="adj1" fmla="val 32200"/>
                <a:gd name="adj2" fmla="val 145998"/>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Straight Arrow Connector 264">
              <a:extLst>
                <a:ext uri="{FF2B5EF4-FFF2-40B4-BE49-F238E27FC236}">
                  <a16:creationId xmlns:a16="http://schemas.microsoft.com/office/drawing/2014/main" id="{6594D498-B81C-5B0D-D826-1DF5B03F13BD}"/>
                </a:ext>
              </a:extLst>
            </p:cNvPr>
            <p:cNvCxnSpPr>
              <a:stCxn id="42" idx="3"/>
              <a:endCxn id="55" idx="1"/>
            </p:cNvCxnSpPr>
            <p:nvPr/>
          </p:nvCxnSpPr>
          <p:spPr>
            <a:xfrm>
              <a:off x="4023360" y="5482317"/>
              <a:ext cx="614338"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DBE10045-0090-999A-C291-85054BFBD881}"/>
                </a:ext>
              </a:extLst>
            </p:cNvPr>
            <p:cNvCxnSpPr>
              <a:cxnSpLocks/>
              <a:endCxn id="48" idx="1"/>
            </p:cNvCxnSpPr>
            <p:nvPr/>
          </p:nvCxnSpPr>
          <p:spPr>
            <a:xfrm>
              <a:off x="7565720" y="3614218"/>
              <a:ext cx="60292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Connector: Elbow 274">
              <a:extLst>
                <a:ext uri="{FF2B5EF4-FFF2-40B4-BE49-F238E27FC236}">
                  <a16:creationId xmlns:a16="http://schemas.microsoft.com/office/drawing/2014/main" id="{3093C80E-51D9-17A5-FBF0-3308457262E8}"/>
                </a:ext>
              </a:extLst>
            </p:cNvPr>
            <p:cNvCxnSpPr>
              <a:cxnSpLocks/>
              <a:stCxn id="46" idx="1"/>
              <a:endCxn id="47" idx="0"/>
            </p:cNvCxnSpPr>
            <p:nvPr/>
          </p:nvCxnSpPr>
          <p:spPr>
            <a:xfrm rot="10800000" flipV="1">
              <a:off x="5123264" y="2227744"/>
              <a:ext cx="388607" cy="508312"/>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Connector: Elbow 315">
              <a:extLst>
                <a:ext uri="{FF2B5EF4-FFF2-40B4-BE49-F238E27FC236}">
                  <a16:creationId xmlns:a16="http://schemas.microsoft.com/office/drawing/2014/main" id="{0FBF8289-5AC0-66E4-BF28-7AE23BC6D80A}"/>
                </a:ext>
              </a:extLst>
            </p:cNvPr>
            <p:cNvCxnSpPr>
              <a:cxnSpLocks/>
              <a:stCxn id="47" idx="2"/>
            </p:cNvCxnSpPr>
            <p:nvPr/>
          </p:nvCxnSpPr>
          <p:spPr>
            <a:xfrm rot="16200000" flipH="1">
              <a:off x="5887255" y="2337276"/>
              <a:ext cx="330342" cy="1858327"/>
            </a:xfrm>
            <a:prstGeom prst="bentConnector3">
              <a:avLst>
                <a:gd name="adj1" fmla="val 5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0" name="Connector: Elbow 319">
              <a:extLst>
                <a:ext uri="{FF2B5EF4-FFF2-40B4-BE49-F238E27FC236}">
                  <a16:creationId xmlns:a16="http://schemas.microsoft.com/office/drawing/2014/main" id="{F75BB77B-6004-0274-1385-5B51B9332028}"/>
                </a:ext>
              </a:extLst>
            </p:cNvPr>
            <p:cNvCxnSpPr>
              <a:cxnSpLocks/>
              <a:endCxn id="62" idx="1"/>
            </p:cNvCxnSpPr>
            <p:nvPr/>
          </p:nvCxnSpPr>
          <p:spPr>
            <a:xfrm rot="10800000" flipH="1" flipV="1">
              <a:off x="6397459" y="3614217"/>
              <a:ext cx="22835" cy="621971"/>
            </a:xfrm>
            <a:prstGeom prst="bentConnector3">
              <a:avLst>
                <a:gd name="adj1" fmla="val -1001095"/>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3" name="Connector: Elbow 322">
              <a:extLst>
                <a:ext uri="{FF2B5EF4-FFF2-40B4-BE49-F238E27FC236}">
                  <a16:creationId xmlns:a16="http://schemas.microsoft.com/office/drawing/2014/main" id="{2C8C28A6-6525-5C22-58BA-5B477D0843C6}"/>
                </a:ext>
              </a:extLst>
            </p:cNvPr>
            <p:cNvCxnSpPr>
              <a:cxnSpLocks/>
              <a:endCxn id="192" idx="1"/>
            </p:cNvCxnSpPr>
            <p:nvPr/>
          </p:nvCxnSpPr>
          <p:spPr>
            <a:xfrm rot="10800000" flipH="1" flipV="1">
              <a:off x="6397459" y="3614218"/>
              <a:ext cx="22835" cy="1243942"/>
            </a:xfrm>
            <a:prstGeom prst="bentConnector3">
              <a:avLst>
                <a:gd name="adj1" fmla="val -1001095"/>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Connector: Elbow 327">
              <a:extLst>
                <a:ext uri="{FF2B5EF4-FFF2-40B4-BE49-F238E27FC236}">
                  <a16:creationId xmlns:a16="http://schemas.microsoft.com/office/drawing/2014/main" id="{C35F4A5F-F268-7DFD-EC6F-02AC8E9C4976}"/>
                </a:ext>
              </a:extLst>
            </p:cNvPr>
            <p:cNvCxnSpPr>
              <a:cxnSpLocks/>
              <a:endCxn id="63" idx="1"/>
            </p:cNvCxnSpPr>
            <p:nvPr/>
          </p:nvCxnSpPr>
          <p:spPr>
            <a:xfrm rot="10800000" flipH="1" flipV="1">
              <a:off x="6397459" y="3614217"/>
              <a:ext cx="22835" cy="1865913"/>
            </a:xfrm>
            <a:prstGeom prst="bentConnector3">
              <a:avLst>
                <a:gd name="adj1" fmla="val -1001095"/>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Connector: Elbow 330">
              <a:extLst>
                <a:ext uri="{FF2B5EF4-FFF2-40B4-BE49-F238E27FC236}">
                  <a16:creationId xmlns:a16="http://schemas.microsoft.com/office/drawing/2014/main" id="{523E1923-43BA-C756-7A91-047CCEBEF116}"/>
                </a:ext>
              </a:extLst>
            </p:cNvPr>
            <p:cNvCxnSpPr>
              <a:cxnSpLocks/>
              <a:endCxn id="421" idx="1"/>
            </p:cNvCxnSpPr>
            <p:nvPr/>
          </p:nvCxnSpPr>
          <p:spPr>
            <a:xfrm rot="10800000" flipH="1" flipV="1">
              <a:off x="6397460" y="3614217"/>
              <a:ext cx="30046" cy="2487883"/>
            </a:xfrm>
            <a:prstGeom prst="bentConnector3">
              <a:avLst>
                <a:gd name="adj1" fmla="val -760833"/>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21" name="Rectangle 420">
              <a:extLst>
                <a:ext uri="{FF2B5EF4-FFF2-40B4-BE49-F238E27FC236}">
                  <a16:creationId xmlns:a16="http://schemas.microsoft.com/office/drawing/2014/main" id="{4E577ED2-60FF-CCAA-89C6-EB31534B2F05}"/>
                </a:ext>
              </a:extLst>
            </p:cNvPr>
            <p:cNvSpPr/>
            <p:nvPr/>
          </p:nvSpPr>
          <p:spPr>
            <a:xfrm>
              <a:off x="6427506" y="5919494"/>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r-FR" sz="1000" baseline="30000" dirty="0">
                <a:solidFill>
                  <a:schemeClr val="bg1"/>
                </a:solidFill>
              </a:endParaRPr>
            </a:p>
            <a:p>
              <a:pPr algn="ctr"/>
              <a:r>
                <a:rPr lang="fr-FR" sz="1000" baseline="30000" dirty="0">
                  <a:solidFill>
                    <a:schemeClr val="bg1"/>
                  </a:solidFill>
                </a:rPr>
                <a:t>9496-8856 Québec</a:t>
              </a:r>
            </a:p>
            <a:p>
              <a:pPr algn="ctr"/>
              <a:r>
                <a:rPr lang="fr-FR" sz="1000" baseline="30000" dirty="0">
                  <a:solidFill>
                    <a:schemeClr val="bg1"/>
                  </a:solidFill>
                </a:rPr>
                <a:t>Inc.</a:t>
              </a:r>
            </a:p>
            <a:p>
              <a:pPr algn="ctr"/>
              <a:r>
                <a:rPr lang="fr-FR" sz="1000" baseline="30000" dirty="0">
                  <a:solidFill>
                    <a:schemeClr val="bg1"/>
                  </a:solidFill>
                </a:rPr>
                <a:t>(MKH Solutions)</a:t>
              </a:r>
              <a:endParaRPr lang="en-US" sz="1000" baseline="30000" dirty="0">
                <a:solidFill>
                  <a:schemeClr val="bg1"/>
                </a:solidFill>
              </a:endParaRPr>
            </a:p>
            <a:p>
              <a:pPr algn="ctr"/>
              <a:endParaRPr lang="en-US" sz="1000" baseline="30000" dirty="0">
                <a:solidFill>
                  <a:schemeClr val="bg1"/>
                </a:solidFill>
              </a:endParaRPr>
            </a:p>
          </p:txBody>
        </p:sp>
        <p:sp>
          <p:nvSpPr>
            <p:cNvPr id="487" name="TextBox 486">
              <a:extLst>
                <a:ext uri="{FF2B5EF4-FFF2-40B4-BE49-F238E27FC236}">
                  <a16:creationId xmlns:a16="http://schemas.microsoft.com/office/drawing/2014/main" id="{CDF48D43-BB52-C04E-6AC0-F3F64833A0BD}"/>
                </a:ext>
              </a:extLst>
            </p:cNvPr>
            <p:cNvSpPr txBox="1"/>
            <p:nvPr/>
          </p:nvSpPr>
          <p:spPr>
            <a:xfrm>
              <a:off x="5740327" y="1910382"/>
              <a:ext cx="263361" cy="107163"/>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75%</a:t>
              </a:r>
            </a:p>
            <a:p>
              <a:pPr algn="l">
                <a:spcAft>
                  <a:spcPts val="600"/>
                </a:spcAft>
              </a:pPr>
              <a:endParaRPr lang="en-US" sz="700" b="1" i="1" dirty="0">
                <a:solidFill>
                  <a:schemeClr val="tx2"/>
                </a:solidFill>
                <a:latin typeface="Arial "/>
              </a:endParaRPr>
            </a:p>
          </p:txBody>
        </p:sp>
        <p:sp>
          <p:nvSpPr>
            <p:cNvPr id="488" name="TextBox 487">
              <a:extLst>
                <a:ext uri="{FF2B5EF4-FFF2-40B4-BE49-F238E27FC236}">
                  <a16:creationId xmlns:a16="http://schemas.microsoft.com/office/drawing/2014/main" id="{207AC6BE-9226-00C3-7D52-E8FFDFC2F8F4}"/>
                </a:ext>
              </a:extLst>
            </p:cNvPr>
            <p:cNvSpPr txBox="1"/>
            <p:nvPr/>
          </p:nvSpPr>
          <p:spPr>
            <a:xfrm>
              <a:off x="6256384" y="1910382"/>
              <a:ext cx="263361" cy="107163"/>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25%</a:t>
              </a:r>
            </a:p>
          </p:txBody>
        </p:sp>
        <p:sp>
          <p:nvSpPr>
            <p:cNvPr id="489" name="TextBox 488">
              <a:extLst>
                <a:ext uri="{FF2B5EF4-FFF2-40B4-BE49-F238E27FC236}">
                  <a16:creationId xmlns:a16="http://schemas.microsoft.com/office/drawing/2014/main" id="{6D69D9BB-C820-143B-8B8E-02C79BAD8674}"/>
                </a:ext>
              </a:extLst>
            </p:cNvPr>
            <p:cNvSpPr txBox="1"/>
            <p:nvPr/>
          </p:nvSpPr>
          <p:spPr>
            <a:xfrm>
              <a:off x="3110876" y="2571388"/>
              <a:ext cx="343158" cy="107536"/>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100%</a:t>
              </a:r>
            </a:p>
          </p:txBody>
        </p:sp>
        <p:sp>
          <p:nvSpPr>
            <p:cNvPr id="490" name="TextBox 489">
              <a:extLst>
                <a:ext uri="{FF2B5EF4-FFF2-40B4-BE49-F238E27FC236}">
                  <a16:creationId xmlns:a16="http://schemas.microsoft.com/office/drawing/2014/main" id="{44602556-9442-EA8B-3009-34A4BE29EF21}"/>
                </a:ext>
              </a:extLst>
            </p:cNvPr>
            <p:cNvSpPr txBox="1"/>
            <p:nvPr/>
          </p:nvSpPr>
          <p:spPr>
            <a:xfrm>
              <a:off x="4889420" y="2571388"/>
              <a:ext cx="343158" cy="107536"/>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93%</a:t>
              </a:r>
            </a:p>
          </p:txBody>
        </p:sp>
        <p:sp>
          <p:nvSpPr>
            <p:cNvPr id="491" name="TextBox 490">
              <a:extLst>
                <a:ext uri="{FF2B5EF4-FFF2-40B4-BE49-F238E27FC236}">
                  <a16:creationId xmlns:a16="http://schemas.microsoft.com/office/drawing/2014/main" id="{FBF573D5-3A8B-9DAD-F5F7-82DADCF10DE0}"/>
                </a:ext>
              </a:extLst>
            </p:cNvPr>
            <p:cNvSpPr txBox="1"/>
            <p:nvPr/>
          </p:nvSpPr>
          <p:spPr>
            <a:xfrm>
              <a:off x="8435536" y="3272037"/>
              <a:ext cx="560553" cy="85874"/>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4.53%</a:t>
              </a:r>
            </a:p>
          </p:txBody>
        </p:sp>
        <p:sp>
          <p:nvSpPr>
            <p:cNvPr id="492" name="TextBox 491">
              <a:extLst>
                <a:ext uri="{FF2B5EF4-FFF2-40B4-BE49-F238E27FC236}">
                  <a16:creationId xmlns:a16="http://schemas.microsoft.com/office/drawing/2014/main" id="{76844A09-DE08-CC97-8997-1711E113F73E}"/>
                </a:ext>
              </a:extLst>
            </p:cNvPr>
            <p:cNvSpPr txBox="1"/>
            <p:nvPr/>
          </p:nvSpPr>
          <p:spPr>
            <a:xfrm>
              <a:off x="7055197" y="3261206"/>
              <a:ext cx="343158" cy="107536"/>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98%</a:t>
              </a:r>
            </a:p>
          </p:txBody>
        </p:sp>
        <p:sp>
          <p:nvSpPr>
            <p:cNvPr id="493" name="TextBox 492">
              <a:extLst>
                <a:ext uri="{FF2B5EF4-FFF2-40B4-BE49-F238E27FC236}">
                  <a16:creationId xmlns:a16="http://schemas.microsoft.com/office/drawing/2014/main" id="{6494BD65-279E-E83C-5AC4-45724841391A}"/>
                </a:ext>
              </a:extLst>
            </p:cNvPr>
            <p:cNvSpPr txBox="1"/>
            <p:nvPr/>
          </p:nvSpPr>
          <p:spPr>
            <a:xfrm>
              <a:off x="4421537" y="3452560"/>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51%</a:t>
              </a:r>
            </a:p>
          </p:txBody>
        </p:sp>
        <p:sp>
          <p:nvSpPr>
            <p:cNvPr id="494" name="TextBox 493">
              <a:extLst>
                <a:ext uri="{FF2B5EF4-FFF2-40B4-BE49-F238E27FC236}">
                  <a16:creationId xmlns:a16="http://schemas.microsoft.com/office/drawing/2014/main" id="{4812D442-F142-2621-0CF3-8C67353E7C97}"/>
                </a:ext>
              </a:extLst>
            </p:cNvPr>
            <p:cNvSpPr txBox="1"/>
            <p:nvPr/>
          </p:nvSpPr>
          <p:spPr>
            <a:xfrm>
              <a:off x="4421327" y="4095139"/>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77%</a:t>
              </a:r>
            </a:p>
          </p:txBody>
        </p:sp>
        <p:sp>
          <p:nvSpPr>
            <p:cNvPr id="495" name="TextBox 494">
              <a:extLst>
                <a:ext uri="{FF2B5EF4-FFF2-40B4-BE49-F238E27FC236}">
                  <a16:creationId xmlns:a16="http://schemas.microsoft.com/office/drawing/2014/main" id="{2AF7F529-FBE9-C453-91E0-D3EC2D6738B9}"/>
                </a:ext>
              </a:extLst>
            </p:cNvPr>
            <p:cNvSpPr txBox="1"/>
            <p:nvPr/>
          </p:nvSpPr>
          <p:spPr>
            <a:xfrm>
              <a:off x="4419283" y="4717466"/>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100</a:t>
              </a:r>
              <a:r>
                <a:rPr lang="en-US" sz="700" b="1" i="1" dirty="0">
                  <a:solidFill>
                    <a:schemeClr val="tx2"/>
                  </a:solidFill>
                </a:rPr>
                <a:t>%</a:t>
              </a:r>
            </a:p>
          </p:txBody>
        </p:sp>
        <p:sp>
          <p:nvSpPr>
            <p:cNvPr id="496" name="TextBox 495">
              <a:extLst>
                <a:ext uri="{FF2B5EF4-FFF2-40B4-BE49-F238E27FC236}">
                  <a16:creationId xmlns:a16="http://schemas.microsoft.com/office/drawing/2014/main" id="{6789216B-224C-B6DB-3F66-69167B59ED11}"/>
                </a:ext>
              </a:extLst>
            </p:cNvPr>
            <p:cNvSpPr txBox="1"/>
            <p:nvPr/>
          </p:nvSpPr>
          <p:spPr>
            <a:xfrm>
              <a:off x="2647845" y="3454983"/>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51.7%</a:t>
              </a:r>
            </a:p>
          </p:txBody>
        </p:sp>
        <p:sp>
          <p:nvSpPr>
            <p:cNvPr id="497" name="TextBox 496">
              <a:extLst>
                <a:ext uri="{FF2B5EF4-FFF2-40B4-BE49-F238E27FC236}">
                  <a16:creationId xmlns:a16="http://schemas.microsoft.com/office/drawing/2014/main" id="{793A8851-05A7-9402-6D54-CB9920AD1ED9}"/>
                </a:ext>
              </a:extLst>
            </p:cNvPr>
            <p:cNvSpPr txBox="1"/>
            <p:nvPr/>
          </p:nvSpPr>
          <p:spPr>
            <a:xfrm>
              <a:off x="2627734" y="4095139"/>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100%</a:t>
              </a:r>
            </a:p>
          </p:txBody>
        </p:sp>
        <p:sp>
          <p:nvSpPr>
            <p:cNvPr id="498" name="TextBox 497">
              <a:extLst>
                <a:ext uri="{FF2B5EF4-FFF2-40B4-BE49-F238E27FC236}">
                  <a16:creationId xmlns:a16="http://schemas.microsoft.com/office/drawing/2014/main" id="{7731834E-8A41-C739-3F02-6C1CB6007193}"/>
                </a:ext>
              </a:extLst>
            </p:cNvPr>
            <p:cNvSpPr txBox="1"/>
            <p:nvPr/>
          </p:nvSpPr>
          <p:spPr>
            <a:xfrm>
              <a:off x="2647845" y="4717466"/>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64.75%</a:t>
              </a:r>
            </a:p>
          </p:txBody>
        </p:sp>
        <p:sp>
          <p:nvSpPr>
            <p:cNvPr id="499" name="TextBox 498">
              <a:extLst>
                <a:ext uri="{FF2B5EF4-FFF2-40B4-BE49-F238E27FC236}">
                  <a16:creationId xmlns:a16="http://schemas.microsoft.com/office/drawing/2014/main" id="{6727109C-3928-2FB7-7D4C-3F47F8C05518}"/>
                </a:ext>
              </a:extLst>
            </p:cNvPr>
            <p:cNvSpPr txBox="1"/>
            <p:nvPr/>
          </p:nvSpPr>
          <p:spPr>
            <a:xfrm>
              <a:off x="2637291" y="5352971"/>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64.75%</a:t>
              </a:r>
            </a:p>
          </p:txBody>
        </p:sp>
        <p:sp>
          <p:nvSpPr>
            <p:cNvPr id="500" name="TextBox 499">
              <a:extLst>
                <a:ext uri="{FF2B5EF4-FFF2-40B4-BE49-F238E27FC236}">
                  <a16:creationId xmlns:a16="http://schemas.microsoft.com/office/drawing/2014/main" id="{AC49DA7A-C2D0-A35C-9C56-CBDA12568035}"/>
                </a:ext>
              </a:extLst>
            </p:cNvPr>
            <p:cNvSpPr txBox="1"/>
            <p:nvPr/>
          </p:nvSpPr>
          <p:spPr>
            <a:xfrm>
              <a:off x="4214771" y="5352971"/>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50%</a:t>
              </a:r>
            </a:p>
          </p:txBody>
        </p:sp>
        <p:sp>
          <p:nvSpPr>
            <p:cNvPr id="501" name="TextBox 500">
              <a:extLst>
                <a:ext uri="{FF2B5EF4-FFF2-40B4-BE49-F238E27FC236}">
                  <a16:creationId xmlns:a16="http://schemas.microsoft.com/office/drawing/2014/main" id="{34FE9B8D-E87F-D055-1F11-5C240888EA22}"/>
                </a:ext>
              </a:extLst>
            </p:cNvPr>
            <p:cNvSpPr txBox="1"/>
            <p:nvPr/>
          </p:nvSpPr>
          <p:spPr>
            <a:xfrm>
              <a:off x="6171836" y="5352971"/>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100%</a:t>
              </a:r>
            </a:p>
          </p:txBody>
        </p:sp>
        <p:sp>
          <p:nvSpPr>
            <p:cNvPr id="502" name="TextBox 501">
              <a:extLst>
                <a:ext uri="{FF2B5EF4-FFF2-40B4-BE49-F238E27FC236}">
                  <a16:creationId xmlns:a16="http://schemas.microsoft.com/office/drawing/2014/main" id="{07268239-7394-58DC-004A-E30E7A89B2B5}"/>
                </a:ext>
              </a:extLst>
            </p:cNvPr>
            <p:cNvSpPr txBox="1"/>
            <p:nvPr/>
          </p:nvSpPr>
          <p:spPr>
            <a:xfrm>
              <a:off x="6183814" y="4717466"/>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70%</a:t>
              </a:r>
            </a:p>
          </p:txBody>
        </p:sp>
        <p:sp>
          <p:nvSpPr>
            <p:cNvPr id="503" name="TextBox 502">
              <a:extLst>
                <a:ext uri="{FF2B5EF4-FFF2-40B4-BE49-F238E27FC236}">
                  <a16:creationId xmlns:a16="http://schemas.microsoft.com/office/drawing/2014/main" id="{77CB8D22-A1A2-B461-23DE-844C1834C8F9}"/>
                </a:ext>
              </a:extLst>
            </p:cNvPr>
            <p:cNvSpPr txBox="1"/>
            <p:nvPr/>
          </p:nvSpPr>
          <p:spPr>
            <a:xfrm>
              <a:off x="6190465" y="4095139"/>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60%</a:t>
              </a:r>
            </a:p>
          </p:txBody>
        </p:sp>
        <p:sp>
          <p:nvSpPr>
            <p:cNvPr id="504" name="TextBox 503">
              <a:extLst>
                <a:ext uri="{FF2B5EF4-FFF2-40B4-BE49-F238E27FC236}">
                  <a16:creationId xmlns:a16="http://schemas.microsoft.com/office/drawing/2014/main" id="{3DE1D8F3-0A6B-014C-401F-16B1FDF21814}"/>
                </a:ext>
              </a:extLst>
            </p:cNvPr>
            <p:cNvSpPr txBox="1"/>
            <p:nvPr/>
          </p:nvSpPr>
          <p:spPr>
            <a:xfrm>
              <a:off x="6190465" y="5969520"/>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60</a:t>
              </a:r>
              <a:r>
                <a:rPr lang="en-US" sz="800" b="1" i="1" dirty="0">
                  <a:solidFill>
                    <a:schemeClr val="tx2"/>
                  </a:solidFill>
                  <a:latin typeface="Arial "/>
                </a:rPr>
                <a:t>%</a:t>
              </a:r>
            </a:p>
          </p:txBody>
        </p:sp>
        <p:sp>
          <p:nvSpPr>
            <p:cNvPr id="505" name="TextBox 504">
              <a:extLst>
                <a:ext uri="{FF2B5EF4-FFF2-40B4-BE49-F238E27FC236}">
                  <a16:creationId xmlns:a16="http://schemas.microsoft.com/office/drawing/2014/main" id="{0CB1032C-F7E6-161D-C8B7-9EAB88582960}"/>
                </a:ext>
              </a:extLst>
            </p:cNvPr>
            <p:cNvSpPr txBox="1"/>
            <p:nvPr/>
          </p:nvSpPr>
          <p:spPr>
            <a:xfrm>
              <a:off x="7716450" y="3497814"/>
              <a:ext cx="474082" cy="47120"/>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85.53%</a:t>
              </a:r>
            </a:p>
          </p:txBody>
        </p:sp>
        <p:sp>
          <p:nvSpPr>
            <p:cNvPr id="10" name="Text Placeholder 12">
              <a:extLst>
                <a:ext uri="{FF2B5EF4-FFF2-40B4-BE49-F238E27FC236}">
                  <a16:creationId xmlns:a16="http://schemas.microsoft.com/office/drawing/2014/main" id="{A08275EC-8A04-2783-EF5A-C08E37900E71}"/>
                </a:ext>
              </a:extLst>
            </p:cNvPr>
            <p:cNvSpPr txBox="1">
              <a:spLocks/>
            </p:cNvSpPr>
            <p:nvPr/>
          </p:nvSpPr>
          <p:spPr>
            <a:xfrm>
              <a:off x="1003312" y="5946620"/>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grpSp>
      <p:cxnSp>
        <p:nvCxnSpPr>
          <p:cNvPr id="15" name="Connector: Elbow 14">
            <a:extLst>
              <a:ext uri="{FF2B5EF4-FFF2-40B4-BE49-F238E27FC236}">
                <a16:creationId xmlns:a16="http://schemas.microsoft.com/office/drawing/2014/main" id="{6D8BE93C-BF85-7795-4B07-8644FB830D94}"/>
              </a:ext>
            </a:extLst>
          </p:cNvPr>
          <p:cNvCxnSpPr>
            <a:cxnSpLocks/>
          </p:cNvCxnSpPr>
          <p:nvPr/>
        </p:nvCxnSpPr>
        <p:spPr>
          <a:xfrm>
            <a:off x="5782371" y="3586847"/>
            <a:ext cx="2377440" cy="1600200"/>
          </a:xfrm>
          <a:prstGeom prst="bentConnector3">
            <a:avLst>
              <a:gd name="adj1" fmla="val 4457"/>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E6BCDDA-7F04-D6B2-8D54-5EAFBFE0C023}"/>
              </a:ext>
            </a:extLst>
          </p:cNvPr>
          <p:cNvSpPr/>
          <p:nvPr/>
        </p:nvSpPr>
        <p:spPr>
          <a:xfrm>
            <a:off x="6420295" y="3432827"/>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r-FR" sz="1000" baseline="30000" dirty="0">
              <a:solidFill>
                <a:schemeClr val="bg1"/>
              </a:solidFill>
            </a:endParaRPr>
          </a:p>
          <a:p>
            <a:pPr algn="ctr"/>
            <a:r>
              <a:rPr lang="fr-FR" sz="1000" baseline="30000" dirty="0">
                <a:solidFill>
                  <a:schemeClr val="bg1"/>
                </a:solidFill>
              </a:rPr>
              <a:t>9427-6755 Québec</a:t>
            </a:r>
          </a:p>
          <a:p>
            <a:pPr algn="ctr"/>
            <a:r>
              <a:rPr lang="fr-FR" sz="1000" baseline="30000" dirty="0">
                <a:solidFill>
                  <a:schemeClr val="bg1"/>
                </a:solidFill>
              </a:rPr>
              <a:t>Inc. (Synex</a:t>
            </a:r>
          </a:p>
          <a:p>
            <a:pPr algn="ctr"/>
            <a:r>
              <a:rPr lang="fr-FR" sz="1000" baseline="30000" dirty="0">
                <a:solidFill>
                  <a:schemeClr val="bg1"/>
                </a:solidFill>
              </a:rPr>
              <a:t>Assurance)</a:t>
            </a:r>
            <a:endParaRPr lang="en-US" sz="1000" baseline="30000" dirty="0">
              <a:solidFill>
                <a:schemeClr val="bg1"/>
              </a:solidFill>
            </a:endParaRPr>
          </a:p>
        </p:txBody>
      </p:sp>
      <p:sp>
        <p:nvSpPr>
          <p:cNvPr id="39" name="Rectangle 38">
            <a:extLst>
              <a:ext uri="{FF2B5EF4-FFF2-40B4-BE49-F238E27FC236}">
                <a16:creationId xmlns:a16="http://schemas.microsoft.com/office/drawing/2014/main" id="{02E9A2E1-0F14-5778-DAD2-7B44C1D29151}"/>
              </a:ext>
            </a:extLst>
          </p:cNvPr>
          <p:cNvSpPr/>
          <p:nvPr/>
        </p:nvSpPr>
        <p:spPr>
          <a:xfrm>
            <a:off x="8156206" y="5004707"/>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000" baseline="30000" dirty="0">
                <a:solidFill>
                  <a:schemeClr val="bg1"/>
                </a:solidFill>
              </a:rPr>
              <a:t>Synex Re Limited</a:t>
            </a:r>
          </a:p>
          <a:p>
            <a:pPr algn="ctr"/>
            <a:r>
              <a:rPr lang="fr-FR" sz="1000" baseline="30000" dirty="0">
                <a:solidFill>
                  <a:schemeClr val="bg1"/>
                </a:solidFill>
              </a:rPr>
              <a:t>(Captive)</a:t>
            </a:r>
          </a:p>
        </p:txBody>
      </p:sp>
      <p:sp>
        <p:nvSpPr>
          <p:cNvPr id="40" name="TextBox 39">
            <a:extLst>
              <a:ext uri="{FF2B5EF4-FFF2-40B4-BE49-F238E27FC236}">
                <a16:creationId xmlns:a16="http://schemas.microsoft.com/office/drawing/2014/main" id="{7E46EAA4-7DF0-D90A-A7B5-1D32D3A08552}"/>
              </a:ext>
            </a:extLst>
          </p:cNvPr>
          <p:cNvSpPr txBox="1"/>
          <p:nvPr/>
        </p:nvSpPr>
        <p:spPr>
          <a:xfrm>
            <a:off x="7759830" y="5076173"/>
            <a:ext cx="560553" cy="85874"/>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100%</a:t>
            </a:r>
          </a:p>
        </p:txBody>
      </p:sp>
      <p:sp>
        <p:nvSpPr>
          <p:cNvPr id="53" name="Rectangle 52">
            <a:extLst>
              <a:ext uri="{FF2B5EF4-FFF2-40B4-BE49-F238E27FC236}">
                <a16:creationId xmlns:a16="http://schemas.microsoft.com/office/drawing/2014/main" id="{08E2EF6C-158F-FB50-79F6-E5707DB536D9}"/>
              </a:ext>
            </a:extLst>
          </p:cNvPr>
          <p:cNvSpPr/>
          <p:nvPr/>
        </p:nvSpPr>
        <p:spPr>
          <a:xfrm>
            <a:off x="8156206" y="4040729"/>
            <a:ext cx="1168260" cy="36521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000" baseline="30000" dirty="0">
                <a:solidFill>
                  <a:schemeClr val="bg1"/>
                </a:solidFill>
              </a:rPr>
              <a:t>9471-7741</a:t>
            </a:r>
          </a:p>
          <a:p>
            <a:pPr algn="ctr"/>
            <a:r>
              <a:rPr lang="en-US" sz="1000" baseline="30000" dirty="0">
                <a:solidFill>
                  <a:schemeClr val="bg1"/>
                </a:solidFill>
              </a:rPr>
              <a:t>Quebec inc.</a:t>
            </a:r>
          </a:p>
        </p:txBody>
      </p:sp>
      <p:sp>
        <p:nvSpPr>
          <p:cNvPr id="54" name="TextBox 53">
            <a:extLst>
              <a:ext uri="{FF2B5EF4-FFF2-40B4-BE49-F238E27FC236}">
                <a16:creationId xmlns:a16="http://schemas.microsoft.com/office/drawing/2014/main" id="{F6697A51-DAB8-905D-D18C-3955577B4274}"/>
              </a:ext>
            </a:extLst>
          </p:cNvPr>
          <p:cNvSpPr txBox="1"/>
          <p:nvPr/>
        </p:nvSpPr>
        <p:spPr>
          <a:xfrm>
            <a:off x="8460059" y="3898244"/>
            <a:ext cx="560553" cy="85874"/>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latin typeface="Arial "/>
              </a:rPr>
              <a:t>51%</a:t>
            </a:r>
          </a:p>
        </p:txBody>
      </p:sp>
      <p:cxnSp>
        <p:nvCxnSpPr>
          <p:cNvPr id="61" name="Straight Arrow Connector 60">
            <a:extLst>
              <a:ext uri="{FF2B5EF4-FFF2-40B4-BE49-F238E27FC236}">
                <a16:creationId xmlns:a16="http://schemas.microsoft.com/office/drawing/2014/main" id="{CDC95C1A-7A6E-9C14-3C78-D9C7F2901D16}"/>
              </a:ext>
            </a:extLst>
          </p:cNvPr>
          <p:cNvCxnSpPr>
            <a:cxnSpLocks/>
            <a:stCxn id="48" idx="2"/>
            <a:endCxn id="53" idx="0"/>
          </p:cNvCxnSpPr>
          <p:nvPr/>
        </p:nvCxnSpPr>
        <p:spPr>
          <a:xfrm flipH="1">
            <a:off x="8740336" y="3796824"/>
            <a:ext cx="12434" cy="2439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35"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43" name="Current Section5">
              <a:hlinkClick r:id="rId13"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264912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1D26E-F8DE-F269-68D2-7E8E405D8D3C}"/>
            </a:ext>
          </a:extLst>
        </p:cNvPr>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78E2F2F-2E75-5FC4-7E07-182691405CC8}"/>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9" name="Object 8" hidden="1">
                        <a:extLst>
                          <a:ext uri="{FF2B5EF4-FFF2-40B4-BE49-F238E27FC236}">
                            <a16:creationId xmlns:a16="http://schemas.microsoft.com/office/drawing/2014/main" id="{F78E2F2F-2E75-5FC4-7E07-182691405CC8}"/>
                          </a:ext>
                        </a:extLst>
                      </p:cNvPr>
                      <p:cNvPicPr/>
                      <p:nvPr/>
                    </p:nvPicPr>
                    <p:blipFill>
                      <a:blip r:embed="rId8"/>
                      <a:stretch>
                        <a:fillRect/>
                      </a:stretch>
                    </p:blipFill>
                    <p:spPr>
                      <a:xfrm>
                        <a:off x="1589" y="1589"/>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3998E33-AE23-5F93-96D5-187CCDC6D359}"/>
              </a:ext>
            </a:extLst>
          </p:cNvPr>
          <p:cNvSpPr>
            <a:spLocks noGrp="1"/>
          </p:cNvSpPr>
          <p:nvPr>
            <p:ph type="title"/>
          </p:nvPr>
        </p:nvSpPr>
        <p:spPr>
          <a:xfrm>
            <a:off x="995361" y="431800"/>
            <a:ext cx="10685009" cy="805234"/>
          </a:xfrm>
        </p:spPr>
        <p:txBody>
          <a:bodyPr/>
          <a:lstStyle/>
          <a:p>
            <a:r>
              <a:rPr lang="en-US" dirty="0"/>
              <a:t>Legal structure (2/2) – Group benefits</a:t>
            </a:r>
            <a:endParaRPr lang="fi-FI"/>
          </a:p>
        </p:txBody>
      </p:sp>
      <p:sp>
        <p:nvSpPr>
          <p:cNvPr id="51" name="Rectangle 50">
            <a:extLst>
              <a:ext uri="{FF2B5EF4-FFF2-40B4-BE49-F238E27FC236}">
                <a16:creationId xmlns:a16="http://schemas.microsoft.com/office/drawing/2014/main" id="{5EADCE22-7314-D627-2AED-EDC9ED5B6E8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Left</a:t>
            </a:r>
          </a:p>
        </p:txBody>
      </p:sp>
      <p:sp>
        <p:nvSpPr>
          <p:cNvPr id="52" name="Rectangle 51">
            <a:extLst>
              <a:ext uri="{FF2B5EF4-FFF2-40B4-BE49-F238E27FC236}">
                <a16:creationId xmlns:a16="http://schemas.microsoft.com/office/drawing/2014/main" id="{40035E0E-9711-360E-57B6-4CDD7267B87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2/3 text box</a:t>
            </a:r>
          </a:p>
        </p:txBody>
      </p:sp>
      <p:sp>
        <p:nvSpPr>
          <p:cNvPr id="56" name="Rectangle 55">
            <a:extLst>
              <a:ext uri="{FF2B5EF4-FFF2-40B4-BE49-F238E27FC236}">
                <a16:creationId xmlns:a16="http://schemas.microsoft.com/office/drawing/2014/main" id="{65ABA952-37DF-96A6-A7E8-B612CE471DDC}"/>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Right</a:t>
            </a:r>
          </a:p>
        </p:txBody>
      </p:sp>
      <p:sp>
        <p:nvSpPr>
          <p:cNvPr id="57" name="Rectangle 56">
            <a:extLst>
              <a:ext uri="{FF2B5EF4-FFF2-40B4-BE49-F238E27FC236}">
                <a16:creationId xmlns:a16="http://schemas.microsoft.com/office/drawing/2014/main" id="{51C072AC-7CB8-8F6A-7F75-1D2228DFF481}"/>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Second text column</a:t>
            </a:r>
          </a:p>
        </p:txBody>
      </p:sp>
      <p:sp>
        <p:nvSpPr>
          <p:cNvPr id="58" name="Rectangle 57">
            <a:extLst>
              <a:ext uri="{FF2B5EF4-FFF2-40B4-BE49-F238E27FC236}">
                <a16:creationId xmlns:a16="http://schemas.microsoft.com/office/drawing/2014/main" id="{7CD30779-8F2E-DD5D-AB00-AF2DAACF3905}"/>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1"/>
                </a:solidFill>
              </a:rPr>
              <a:t>50-50</a:t>
            </a:r>
          </a:p>
          <a:p>
            <a:pPr algn="ctr"/>
            <a:r>
              <a:rPr lang="en-US" sz="800" dirty="0">
                <a:solidFill>
                  <a:schemeClr val="bg1"/>
                </a:solidFill>
              </a:rPr>
              <a:t>text box</a:t>
            </a:r>
          </a:p>
        </p:txBody>
      </p:sp>
      <p:sp>
        <p:nvSpPr>
          <p:cNvPr id="41" name="Rectangle 40">
            <a:hlinkClick r:id="" action="ppaction://noaction"/>
            <a:extLst>
              <a:ext uri="{FF2B5EF4-FFF2-40B4-BE49-F238E27FC236}">
                <a16:creationId xmlns:a16="http://schemas.microsoft.com/office/drawing/2014/main" id="{D9EC1BA3-270B-87D4-F7B4-BD437D3082EC}"/>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Text Placeholder 7">
            <a:extLst>
              <a:ext uri="{FF2B5EF4-FFF2-40B4-BE49-F238E27FC236}">
                <a16:creationId xmlns:a16="http://schemas.microsoft.com/office/drawing/2014/main" id="{52262CB0-F798-C774-4115-542970514A5C}"/>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sz="1000" dirty="0"/>
          </a:p>
        </p:txBody>
      </p:sp>
      <p:sp>
        <p:nvSpPr>
          <p:cNvPr id="8" name="Text Placeholder 12">
            <a:extLst>
              <a:ext uri="{FF2B5EF4-FFF2-40B4-BE49-F238E27FC236}">
                <a16:creationId xmlns:a16="http://schemas.microsoft.com/office/drawing/2014/main" id="{4CAE565E-E7BA-9E81-41F3-33976581C8E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dirty="0"/>
              <a:t>First item</a:t>
            </a:r>
          </a:p>
          <a:p>
            <a:pPr marL="182558" lvl="2" indent="-182558">
              <a:buFont typeface="+mj-lt"/>
              <a:buAutoNum type="arabicPeriod"/>
            </a:pPr>
            <a:r>
              <a:rPr lang="en-US" sz="1000" dirty="0"/>
              <a:t>Second item</a:t>
            </a:r>
          </a:p>
          <a:p>
            <a:pPr marL="182558" lvl="2" indent="-182558">
              <a:buFont typeface="+mj-lt"/>
              <a:buAutoNum type="arabicPeriod"/>
            </a:pPr>
            <a:r>
              <a:rPr lang="en-US" sz="1000" dirty="0"/>
              <a:t>Third item</a:t>
            </a:r>
          </a:p>
        </p:txBody>
      </p:sp>
      <p:sp>
        <p:nvSpPr>
          <p:cNvPr id="16" name="Rounded Rectangle 7">
            <a:extLst>
              <a:ext uri="{FF2B5EF4-FFF2-40B4-BE49-F238E27FC236}">
                <a16:creationId xmlns:a16="http://schemas.microsoft.com/office/drawing/2014/main" id="{1EB69271-1C9F-7C05-6C22-75F3D37F8F6F}"/>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dirty="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F7BBB96B-7F63-6829-B61A-8FF3D1087A8D}"/>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dirty="0">
                <a:solidFill>
                  <a:sysClr val="windowText" lastClr="000000"/>
                </a:solidFill>
              </a:rPr>
              <a:t>Call-out box.</a:t>
            </a:r>
          </a:p>
        </p:txBody>
      </p:sp>
      <p:cxnSp>
        <p:nvCxnSpPr>
          <p:cNvPr id="18" name="Straight Arrow Connector 17">
            <a:extLst>
              <a:ext uri="{FF2B5EF4-FFF2-40B4-BE49-F238E27FC236}">
                <a16:creationId xmlns:a16="http://schemas.microsoft.com/office/drawing/2014/main" id="{F52C851A-BA5F-F141-4D5B-994CBE683974}"/>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F6B375BE-AF68-41A4-6917-201030543666}"/>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dirty="0">
                <a:solidFill>
                  <a:schemeClr val="bg1"/>
                </a:solidFill>
              </a:rPr>
              <a:t>1</a:t>
            </a:r>
          </a:p>
        </p:txBody>
      </p:sp>
      <p:sp>
        <p:nvSpPr>
          <p:cNvPr id="3" name="Rectangle 2">
            <a:extLst>
              <a:ext uri="{FF2B5EF4-FFF2-40B4-BE49-F238E27FC236}">
                <a16:creationId xmlns:a16="http://schemas.microsoft.com/office/drawing/2014/main" id="{86ABA832-AF96-13D6-E333-D233354CAE3F}"/>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Table/ chart</a:t>
            </a:r>
          </a:p>
        </p:txBody>
      </p:sp>
      <p:sp>
        <p:nvSpPr>
          <p:cNvPr id="12" name="Rectangle 11">
            <a:extLst>
              <a:ext uri="{FF2B5EF4-FFF2-40B4-BE49-F238E27FC236}">
                <a16:creationId xmlns:a16="http://schemas.microsoft.com/office/drawing/2014/main" id="{1FEB564F-1F5A-6233-C2B7-E8F88443A97E}"/>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Strapline</a:t>
            </a:r>
          </a:p>
        </p:txBody>
      </p:sp>
      <p:sp>
        <p:nvSpPr>
          <p:cNvPr id="13" name="Rectangle 12">
            <a:extLst>
              <a:ext uri="{FF2B5EF4-FFF2-40B4-BE49-F238E27FC236}">
                <a16:creationId xmlns:a16="http://schemas.microsoft.com/office/drawing/2014/main" id="{9167BE42-484F-743A-BF8F-DD8B478BD3D6}"/>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dirty="0">
                <a:solidFill>
                  <a:schemeClr val="bg1"/>
                </a:solidFill>
              </a:rPr>
              <a:t>Text box/chart</a:t>
            </a:r>
          </a:p>
        </p:txBody>
      </p:sp>
      <p:sp>
        <p:nvSpPr>
          <p:cNvPr id="21" name="UpSlide SubSection Marker" hidden="1">
            <a:extLst>
              <a:ext uri="{FF2B5EF4-FFF2-40B4-BE49-F238E27FC236}">
                <a16:creationId xmlns:a16="http://schemas.microsoft.com/office/drawing/2014/main" id="{2504A6AD-C140-2AC8-12F2-D592A6CE58F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chemeClr val="bg1"/>
                </a:solidFill>
              </a:rPr>
              <a:t>Legal structure</a:t>
            </a:r>
          </a:p>
        </p:txBody>
      </p:sp>
      <p:sp>
        <p:nvSpPr>
          <p:cNvPr id="195" name="Text Placeholder 4">
            <a:extLst>
              <a:ext uri="{FF2B5EF4-FFF2-40B4-BE49-F238E27FC236}">
                <a16:creationId xmlns:a16="http://schemas.microsoft.com/office/drawing/2014/main" id="{F2187286-B90E-AFFB-D2B5-AEF3FAA8B67E}"/>
              </a:ext>
            </a:extLst>
          </p:cNvPr>
          <p:cNvSpPr txBox="1">
            <a:spLocks/>
          </p:cNvSpPr>
          <p:nvPr/>
        </p:nvSpPr>
        <p:spPr>
          <a:xfrm>
            <a:off x="890387" y="1179513"/>
            <a:ext cx="10195200" cy="460800"/>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fi-FI"/>
          </a:p>
        </p:txBody>
      </p:sp>
      <p:sp>
        <p:nvSpPr>
          <p:cNvPr id="197" name="Text Placeholder 4">
            <a:extLst>
              <a:ext uri="{FF2B5EF4-FFF2-40B4-BE49-F238E27FC236}">
                <a16:creationId xmlns:a16="http://schemas.microsoft.com/office/drawing/2014/main" id="{ED594E02-2276-1B1B-3A3E-FDC92CEC69A8}"/>
              </a:ext>
            </a:extLst>
          </p:cNvPr>
          <p:cNvSpPr txBox="1">
            <a:spLocks/>
          </p:cNvSpPr>
          <p:nvPr/>
        </p:nvSpPr>
        <p:spPr>
          <a:xfrm>
            <a:off x="918682" y="1190480"/>
            <a:ext cx="10195200" cy="460800"/>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fi-FI"/>
          </a:p>
        </p:txBody>
      </p:sp>
      <p:grpSp>
        <p:nvGrpSpPr>
          <p:cNvPr id="2" name="Group 1">
            <a:extLst>
              <a:ext uri="{FF2B5EF4-FFF2-40B4-BE49-F238E27FC236}">
                <a16:creationId xmlns:a16="http://schemas.microsoft.com/office/drawing/2014/main" id="{AF9FAB72-C4F2-E9D0-88D1-86BC24CACFCB}"/>
              </a:ext>
            </a:extLst>
          </p:cNvPr>
          <p:cNvGrpSpPr/>
          <p:nvPr/>
        </p:nvGrpSpPr>
        <p:grpSpPr>
          <a:xfrm>
            <a:off x="1066443" y="1389888"/>
            <a:ext cx="7924217" cy="4617534"/>
            <a:chOff x="1066443" y="1389888"/>
            <a:chExt cx="7924217" cy="4617534"/>
          </a:xfrm>
        </p:grpSpPr>
        <p:sp>
          <p:nvSpPr>
            <p:cNvPr id="5" name="Rectangle 4">
              <a:extLst>
                <a:ext uri="{FF2B5EF4-FFF2-40B4-BE49-F238E27FC236}">
                  <a16:creationId xmlns:a16="http://schemas.microsoft.com/office/drawing/2014/main" id="{BAE60AED-F997-DB53-D239-C4EB8EC35F2D}"/>
                </a:ext>
              </a:extLst>
            </p:cNvPr>
            <p:cNvSpPr/>
            <p:nvPr/>
          </p:nvSpPr>
          <p:spPr>
            <a:xfrm>
              <a:off x="3345671" y="1389888"/>
              <a:ext cx="1189084" cy="460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Synex</a:t>
              </a:r>
            </a:p>
            <a:p>
              <a:pPr algn="ctr"/>
              <a:r>
                <a:rPr lang="en-US" sz="1200" baseline="30000" dirty="0">
                  <a:solidFill>
                    <a:schemeClr val="bg1"/>
                  </a:solidFill>
                </a:rPr>
                <a:t>Performances</a:t>
              </a:r>
            </a:p>
            <a:p>
              <a:pPr algn="ctr"/>
              <a:r>
                <a:rPr lang="en-US" sz="1200" baseline="30000" dirty="0">
                  <a:solidFill>
                    <a:schemeClr val="bg1"/>
                  </a:solidFill>
                </a:rPr>
                <a:t>d'Affaires inc.</a:t>
              </a:r>
            </a:p>
          </p:txBody>
        </p:sp>
        <p:sp>
          <p:nvSpPr>
            <p:cNvPr id="33" name="Rectangle 32">
              <a:extLst>
                <a:ext uri="{FF2B5EF4-FFF2-40B4-BE49-F238E27FC236}">
                  <a16:creationId xmlns:a16="http://schemas.microsoft.com/office/drawing/2014/main" id="{8CD9BEF6-4061-3910-BB2C-16CF86C49131}"/>
                </a:ext>
              </a:extLst>
            </p:cNvPr>
            <p:cNvSpPr/>
            <p:nvPr/>
          </p:nvSpPr>
          <p:spPr>
            <a:xfrm>
              <a:off x="3345671" y="2526392"/>
              <a:ext cx="1189084" cy="460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9479-4666 Québec</a:t>
              </a:r>
            </a:p>
            <a:p>
              <a:pPr algn="ctr"/>
              <a:r>
                <a:rPr lang="en-US" sz="1200" baseline="30000" dirty="0">
                  <a:solidFill>
                    <a:schemeClr val="bg1"/>
                  </a:solidFill>
                </a:rPr>
                <a:t>inc. (IT Co)</a:t>
              </a:r>
            </a:p>
          </p:txBody>
        </p:sp>
        <p:sp>
          <p:nvSpPr>
            <p:cNvPr id="46" name="Rectangle 45">
              <a:extLst>
                <a:ext uri="{FF2B5EF4-FFF2-40B4-BE49-F238E27FC236}">
                  <a16:creationId xmlns:a16="http://schemas.microsoft.com/office/drawing/2014/main" id="{D0F83A8C-532E-6BED-A8B8-6EDAAC1E24AD}"/>
                </a:ext>
              </a:extLst>
            </p:cNvPr>
            <p:cNvSpPr/>
            <p:nvPr/>
          </p:nvSpPr>
          <p:spPr>
            <a:xfrm>
              <a:off x="5501458" y="2059434"/>
              <a:ext cx="1189084" cy="460800"/>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13410706 Canada</a:t>
              </a:r>
            </a:p>
            <a:p>
              <a:pPr algn="ctr"/>
              <a:r>
                <a:rPr lang="en-US" sz="1200" baseline="30000" dirty="0">
                  <a:solidFill>
                    <a:schemeClr val="bg1"/>
                  </a:solidFill>
                </a:rPr>
                <a:t>inc. (Synex</a:t>
              </a:r>
            </a:p>
            <a:p>
              <a:pPr algn="ctr"/>
              <a:r>
                <a:rPr lang="en-US" sz="1200" baseline="30000" dirty="0">
                  <a:solidFill>
                    <a:schemeClr val="bg1"/>
                  </a:solidFill>
                </a:rPr>
                <a:t>AcquisiCo)</a:t>
              </a:r>
            </a:p>
          </p:txBody>
        </p:sp>
        <p:sp>
          <p:nvSpPr>
            <p:cNvPr id="48" name="Rectangle 47">
              <a:extLst>
                <a:ext uri="{FF2B5EF4-FFF2-40B4-BE49-F238E27FC236}">
                  <a16:creationId xmlns:a16="http://schemas.microsoft.com/office/drawing/2014/main" id="{E5D7405B-7F86-EF3B-8F51-AE7F02558092}"/>
                </a:ext>
              </a:extLst>
            </p:cNvPr>
            <p:cNvSpPr/>
            <p:nvPr/>
          </p:nvSpPr>
          <p:spPr>
            <a:xfrm>
              <a:off x="7801576" y="2526392"/>
              <a:ext cx="1189084" cy="460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200" baseline="30000" dirty="0">
                  <a:solidFill>
                    <a:schemeClr val="bg1"/>
                  </a:solidFill>
                </a:rPr>
                <a:t>Synex Solutions</a:t>
              </a:r>
            </a:p>
            <a:p>
              <a:pPr algn="ctr"/>
              <a:r>
                <a:rPr lang="fr-FR" sz="1200" baseline="30000" dirty="0">
                  <a:solidFill>
                    <a:schemeClr val="bg1"/>
                  </a:solidFill>
                </a:rPr>
                <a:t>Collectives Canada Inc.</a:t>
              </a:r>
              <a:endParaRPr lang="en-US" sz="1200" baseline="30000" dirty="0">
                <a:solidFill>
                  <a:schemeClr val="bg1"/>
                </a:solidFill>
              </a:endParaRPr>
            </a:p>
          </p:txBody>
        </p:sp>
        <p:sp>
          <p:nvSpPr>
            <p:cNvPr id="63" name="Rectangle 62">
              <a:extLst>
                <a:ext uri="{FF2B5EF4-FFF2-40B4-BE49-F238E27FC236}">
                  <a16:creationId xmlns:a16="http://schemas.microsoft.com/office/drawing/2014/main" id="{23E96636-32E0-AAA7-CC64-26B50CD3EDFA}"/>
                </a:ext>
              </a:extLst>
            </p:cNvPr>
            <p:cNvSpPr/>
            <p:nvPr/>
          </p:nvSpPr>
          <p:spPr>
            <a:xfrm>
              <a:off x="4509358" y="3171413"/>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Synex Benefits</a:t>
              </a:r>
            </a:p>
            <a:p>
              <a:pPr algn="ctr"/>
              <a:r>
                <a:rPr lang="en-US" sz="1200" baseline="30000" dirty="0">
                  <a:solidFill>
                    <a:schemeClr val="bg1"/>
                  </a:solidFill>
                </a:rPr>
                <a:t>Solutions West Inc.</a:t>
              </a:r>
            </a:p>
          </p:txBody>
        </p:sp>
        <p:sp>
          <p:nvSpPr>
            <p:cNvPr id="192" name="Rectangle 191">
              <a:extLst>
                <a:ext uri="{FF2B5EF4-FFF2-40B4-BE49-F238E27FC236}">
                  <a16:creationId xmlns:a16="http://schemas.microsoft.com/office/drawing/2014/main" id="{891336F8-D990-F9C6-E594-C3B4BE971861}"/>
                </a:ext>
              </a:extLst>
            </p:cNvPr>
            <p:cNvSpPr/>
            <p:nvPr/>
          </p:nvSpPr>
          <p:spPr>
            <a:xfrm>
              <a:off x="6160798" y="3171413"/>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200" baseline="30000" dirty="0">
                  <a:solidFill>
                    <a:schemeClr val="bg1"/>
                  </a:solidFill>
                </a:rPr>
                <a:t>Synex Solutions</a:t>
              </a:r>
            </a:p>
            <a:p>
              <a:pPr algn="ctr"/>
              <a:r>
                <a:rPr lang="fr-FR" sz="1200" baseline="30000" dirty="0">
                  <a:solidFill>
                    <a:schemeClr val="bg1"/>
                  </a:solidFill>
                </a:rPr>
                <a:t>Collectives Inc.</a:t>
              </a:r>
            </a:p>
            <a:p>
              <a:pPr algn="ctr"/>
              <a:r>
                <a:rPr lang="fr-FR" sz="1200" baseline="30000" dirty="0">
                  <a:solidFill>
                    <a:schemeClr val="bg1"/>
                  </a:solidFill>
                </a:rPr>
                <a:t>(Québec)</a:t>
              </a:r>
              <a:endParaRPr lang="en-US" sz="1200" baseline="30000" dirty="0">
                <a:solidFill>
                  <a:schemeClr val="bg1"/>
                </a:solidFill>
              </a:endParaRPr>
            </a:p>
          </p:txBody>
        </p:sp>
        <p:sp>
          <p:nvSpPr>
            <p:cNvPr id="196" name="Rectangle 195">
              <a:extLst>
                <a:ext uri="{FF2B5EF4-FFF2-40B4-BE49-F238E27FC236}">
                  <a16:creationId xmlns:a16="http://schemas.microsoft.com/office/drawing/2014/main" id="{27FEF249-75BE-2814-A743-3755A3FF80C3}"/>
                </a:ext>
              </a:extLst>
            </p:cNvPr>
            <p:cNvSpPr/>
            <p:nvPr/>
          </p:nvSpPr>
          <p:spPr>
            <a:xfrm>
              <a:off x="7801576" y="1389888"/>
              <a:ext cx="1189084" cy="460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Brown Brothers</a:t>
              </a:r>
            </a:p>
            <a:p>
              <a:pPr algn="ctr"/>
              <a:r>
                <a:rPr lang="en-US" sz="1200" baseline="30000" dirty="0">
                  <a:solidFill>
                    <a:schemeClr val="bg1"/>
                  </a:solidFill>
                </a:rPr>
                <a:t>Harriman (BBH)</a:t>
              </a:r>
            </a:p>
          </p:txBody>
        </p:sp>
        <p:cxnSp>
          <p:nvCxnSpPr>
            <p:cNvPr id="252" name="Connector: Elbow 251">
              <a:extLst>
                <a:ext uri="{FF2B5EF4-FFF2-40B4-BE49-F238E27FC236}">
                  <a16:creationId xmlns:a16="http://schemas.microsoft.com/office/drawing/2014/main" id="{6AFA9640-0E1F-AB2C-3E29-0E92ABEE0331}"/>
                </a:ext>
              </a:extLst>
            </p:cNvPr>
            <p:cNvCxnSpPr>
              <a:cxnSpLocks/>
              <a:stCxn id="192" idx="0"/>
              <a:endCxn id="48" idx="1"/>
            </p:cNvCxnSpPr>
            <p:nvPr/>
          </p:nvCxnSpPr>
          <p:spPr>
            <a:xfrm rot="5400000" flipH="1" flipV="1">
              <a:off x="7071148" y="2440985"/>
              <a:ext cx="414621" cy="1046236"/>
            </a:xfrm>
            <a:prstGeom prst="bentConnector2">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721CE1CF-DB9F-C269-1654-44A1F8AA412C}"/>
                </a:ext>
              </a:extLst>
            </p:cNvPr>
            <p:cNvSpPr/>
            <p:nvPr/>
          </p:nvSpPr>
          <p:spPr>
            <a:xfrm>
              <a:off x="4509358" y="3886200"/>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ZLC Employee</a:t>
              </a:r>
            </a:p>
            <a:p>
              <a:pPr algn="ctr"/>
              <a:r>
                <a:rPr lang="en-US" sz="1200" baseline="30000" dirty="0">
                  <a:solidFill>
                    <a:schemeClr val="bg1"/>
                  </a:solidFill>
                </a:rPr>
                <a:t>Benefits Solutions Ltd.</a:t>
              </a:r>
            </a:p>
          </p:txBody>
        </p:sp>
        <p:sp>
          <p:nvSpPr>
            <p:cNvPr id="204" name="Rectangle 203">
              <a:extLst>
                <a:ext uri="{FF2B5EF4-FFF2-40B4-BE49-F238E27FC236}">
                  <a16:creationId xmlns:a16="http://schemas.microsoft.com/office/drawing/2014/main" id="{3395F97D-4F8C-F148-A1C5-DE2C5AB3F472}"/>
                </a:ext>
              </a:extLst>
            </p:cNvPr>
            <p:cNvSpPr/>
            <p:nvPr/>
          </p:nvSpPr>
          <p:spPr>
            <a:xfrm>
              <a:off x="6160798" y="5312337"/>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200" baseline="30000" dirty="0">
                  <a:solidFill>
                    <a:schemeClr val="bg1"/>
                  </a:solidFill>
                </a:rPr>
                <a:t>9114-5219 Québec Inc.</a:t>
              </a:r>
            </a:p>
            <a:p>
              <a:pPr algn="ctr"/>
              <a:r>
                <a:rPr lang="fr-FR" sz="1200" baseline="30000" dirty="0">
                  <a:solidFill>
                    <a:schemeClr val="bg1"/>
                  </a:solidFill>
                </a:rPr>
                <a:t>(Alliance Services</a:t>
              </a:r>
            </a:p>
            <a:p>
              <a:pPr algn="ctr"/>
              <a:r>
                <a:rPr lang="fr-FR" sz="1200" baseline="30000" dirty="0">
                  <a:solidFill>
                    <a:schemeClr val="bg1"/>
                  </a:solidFill>
                </a:rPr>
                <a:t>Intégrés)</a:t>
              </a:r>
              <a:endParaRPr lang="en-US" sz="1200" baseline="30000" dirty="0">
                <a:solidFill>
                  <a:schemeClr val="bg1"/>
                </a:solidFill>
              </a:endParaRPr>
            </a:p>
          </p:txBody>
        </p:sp>
        <p:sp>
          <p:nvSpPr>
            <p:cNvPr id="207" name="Rectangle 206">
              <a:extLst>
                <a:ext uri="{FF2B5EF4-FFF2-40B4-BE49-F238E27FC236}">
                  <a16:creationId xmlns:a16="http://schemas.microsoft.com/office/drawing/2014/main" id="{D80C048D-884B-D5BA-19C9-1575118218C9}"/>
                </a:ext>
              </a:extLst>
            </p:cNvPr>
            <p:cNvSpPr/>
            <p:nvPr/>
          </p:nvSpPr>
          <p:spPr>
            <a:xfrm>
              <a:off x="6160798" y="4598695"/>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1200" baseline="30000" dirty="0">
                  <a:solidFill>
                    <a:schemeClr val="bg1"/>
                  </a:solidFill>
                </a:rPr>
                <a:t>Alliance SMG inc.</a:t>
              </a:r>
            </a:p>
          </p:txBody>
        </p:sp>
        <p:sp>
          <p:nvSpPr>
            <p:cNvPr id="208" name="Rectangle 207">
              <a:extLst>
                <a:ext uri="{FF2B5EF4-FFF2-40B4-BE49-F238E27FC236}">
                  <a16:creationId xmlns:a16="http://schemas.microsoft.com/office/drawing/2014/main" id="{52CBC992-84E3-B733-2A9D-97E3F3C24EF4}"/>
                </a:ext>
              </a:extLst>
            </p:cNvPr>
            <p:cNvSpPr/>
            <p:nvPr/>
          </p:nvSpPr>
          <p:spPr>
            <a:xfrm>
              <a:off x="6160798" y="3885054"/>
              <a:ext cx="1189084" cy="4608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r-FR" sz="1200" baseline="30000" dirty="0">
                  <a:solidFill>
                    <a:schemeClr val="bg1"/>
                  </a:solidFill>
                </a:rPr>
                <a:t>Les Services</a:t>
              </a:r>
            </a:p>
            <a:p>
              <a:pPr algn="ctr"/>
              <a:r>
                <a:rPr lang="fr-FR" sz="1200" baseline="30000" dirty="0">
                  <a:solidFill>
                    <a:schemeClr val="bg1"/>
                  </a:solidFill>
                </a:rPr>
                <a:t>Financiers Éric Levert</a:t>
              </a:r>
            </a:p>
            <a:p>
              <a:pPr algn="ctr"/>
              <a:r>
                <a:rPr lang="fr-FR" sz="1200" baseline="30000" dirty="0">
                  <a:solidFill>
                    <a:schemeClr val="bg1"/>
                  </a:solidFill>
                </a:rPr>
                <a:t>Inc.</a:t>
              </a:r>
              <a:endParaRPr lang="en-US" sz="1200" baseline="30000" dirty="0">
                <a:solidFill>
                  <a:schemeClr val="bg1"/>
                </a:solidFill>
              </a:endParaRPr>
            </a:p>
          </p:txBody>
        </p:sp>
        <p:cxnSp>
          <p:nvCxnSpPr>
            <p:cNvPr id="223" name="Connector: Elbow 222">
              <a:extLst>
                <a:ext uri="{FF2B5EF4-FFF2-40B4-BE49-F238E27FC236}">
                  <a16:creationId xmlns:a16="http://schemas.microsoft.com/office/drawing/2014/main" id="{4EB125DD-0CAB-B8B5-E640-6CC902BF2459}"/>
                </a:ext>
              </a:extLst>
            </p:cNvPr>
            <p:cNvCxnSpPr>
              <a:cxnSpLocks/>
              <a:stCxn id="5" idx="2"/>
              <a:endCxn id="46" idx="0"/>
            </p:cNvCxnSpPr>
            <p:nvPr/>
          </p:nvCxnSpPr>
          <p:spPr>
            <a:xfrm rot="16200000" flipH="1">
              <a:off x="4913733" y="877167"/>
              <a:ext cx="208746" cy="2155787"/>
            </a:xfrm>
            <a:prstGeom prst="bentConnector3">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Connector: Elbow 223">
              <a:extLst>
                <a:ext uri="{FF2B5EF4-FFF2-40B4-BE49-F238E27FC236}">
                  <a16:creationId xmlns:a16="http://schemas.microsoft.com/office/drawing/2014/main" id="{D1C02871-76AD-A7E4-71F2-C2F61D9223A1}"/>
                </a:ext>
              </a:extLst>
            </p:cNvPr>
            <p:cNvCxnSpPr>
              <a:cxnSpLocks/>
              <a:stCxn id="196" idx="2"/>
              <a:endCxn id="46" idx="0"/>
            </p:cNvCxnSpPr>
            <p:nvPr/>
          </p:nvCxnSpPr>
          <p:spPr>
            <a:xfrm rot="5400000">
              <a:off x="7141686" y="805002"/>
              <a:ext cx="208746" cy="2300118"/>
            </a:xfrm>
            <a:prstGeom prst="bentConnector3">
              <a:avLst>
                <a:gd name="adj1" fmla="val 5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Connector: Elbow 265">
              <a:extLst>
                <a:ext uri="{FF2B5EF4-FFF2-40B4-BE49-F238E27FC236}">
                  <a16:creationId xmlns:a16="http://schemas.microsoft.com/office/drawing/2014/main" id="{026F52A4-C7A1-A68B-53DE-400A2C95AA14}"/>
                </a:ext>
              </a:extLst>
            </p:cNvPr>
            <p:cNvCxnSpPr>
              <a:cxnSpLocks/>
              <a:stCxn id="46" idx="3"/>
              <a:endCxn id="48" idx="0"/>
            </p:cNvCxnSpPr>
            <p:nvPr/>
          </p:nvCxnSpPr>
          <p:spPr>
            <a:xfrm>
              <a:off x="6690542" y="2289834"/>
              <a:ext cx="1705576" cy="236558"/>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Connector: Elbow 266">
              <a:extLst>
                <a:ext uri="{FF2B5EF4-FFF2-40B4-BE49-F238E27FC236}">
                  <a16:creationId xmlns:a16="http://schemas.microsoft.com/office/drawing/2014/main" id="{377FED1A-C662-4FDE-F65C-C4ECBEB4CAEA}"/>
                </a:ext>
              </a:extLst>
            </p:cNvPr>
            <p:cNvCxnSpPr>
              <a:cxnSpLocks/>
              <a:stCxn id="46" idx="1"/>
              <a:endCxn id="33" idx="0"/>
            </p:cNvCxnSpPr>
            <p:nvPr/>
          </p:nvCxnSpPr>
          <p:spPr>
            <a:xfrm rot="10800000" flipV="1">
              <a:off x="3940214" y="2289834"/>
              <a:ext cx="1561245" cy="236558"/>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4" name="Connector: Elbow 303">
              <a:extLst>
                <a:ext uri="{FF2B5EF4-FFF2-40B4-BE49-F238E27FC236}">
                  <a16:creationId xmlns:a16="http://schemas.microsoft.com/office/drawing/2014/main" id="{EE0B9F57-6416-7B05-43E9-19F2D63A1685}"/>
                </a:ext>
              </a:extLst>
            </p:cNvPr>
            <p:cNvCxnSpPr>
              <a:cxnSpLocks/>
              <a:stCxn id="48" idx="1"/>
              <a:endCxn id="63" idx="0"/>
            </p:cNvCxnSpPr>
            <p:nvPr/>
          </p:nvCxnSpPr>
          <p:spPr>
            <a:xfrm rot="10800000" flipV="1">
              <a:off x="5103900" y="2756791"/>
              <a:ext cx="2697676" cy="414621"/>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Connector: Elbow 307">
              <a:extLst>
                <a:ext uri="{FF2B5EF4-FFF2-40B4-BE49-F238E27FC236}">
                  <a16:creationId xmlns:a16="http://schemas.microsoft.com/office/drawing/2014/main" id="{DF196585-7A86-06F4-3A61-3DA5703A480A}"/>
                </a:ext>
              </a:extLst>
            </p:cNvPr>
            <p:cNvCxnSpPr>
              <a:cxnSpLocks/>
              <a:stCxn id="48" idx="1"/>
              <a:endCxn id="192" idx="0"/>
            </p:cNvCxnSpPr>
            <p:nvPr/>
          </p:nvCxnSpPr>
          <p:spPr>
            <a:xfrm rot="10800000" flipV="1">
              <a:off x="6755340" y="2756791"/>
              <a:ext cx="1046236" cy="414621"/>
            </a:xfrm>
            <a:prstGeom prst="bentConnector2">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3" name="Connector: Elbow 322">
              <a:extLst>
                <a:ext uri="{FF2B5EF4-FFF2-40B4-BE49-F238E27FC236}">
                  <a16:creationId xmlns:a16="http://schemas.microsoft.com/office/drawing/2014/main" id="{86F3C086-061B-7DC4-F1C1-ABBC2217FBC5}"/>
                </a:ext>
              </a:extLst>
            </p:cNvPr>
            <p:cNvCxnSpPr>
              <a:cxnSpLocks/>
              <a:stCxn id="192" idx="1"/>
              <a:endCxn id="208" idx="1"/>
            </p:cNvCxnSpPr>
            <p:nvPr/>
          </p:nvCxnSpPr>
          <p:spPr>
            <a:xfrm rot="10800000" flipV="1">
              <a:off x="6160798" y="3401812"/>
              <a:ext cx="12700" cy="713641"/>
            </a:xfrm>
            <a:prstGeom prst="bentConnector3">
              <a:avLst>
                <a:gd name="adj1" fmla="val 180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Connector: Elbow 323">
              <a:extLst>
                <a:ext uri="{FF2B5EF4-FFF2-40B4-BE49-F238E27FC236}">
                  <a16:creationId xmlns:a16="http://schemas.microsoft.com/office/drawing/2014/main" id="{865C1FF3-00E1-48AD-2135-E4FA9172616E}"/>
                </a:ext>
              </a:extLst>
            </p:cNvPr>
            <p:cNvCxnSpPr>
              <a:cxnSpLocks/>
              <a:stCxn id="192" idx="1"/>
              <a:endCxn id="207" idx="1"/>
            </p:cNvCxnSpPr>
            <p:nvPr/>
          </p:nvCxnSpPr>
          <p:spPr>
            <a:xfrm rot="10800000" flipV="1">
              <a:off x="6160798" y="3401813"/>
              <a:ext cx="12700" cy="1427282"/>
            </a:xfrm>
            <a:prstGeom prst="bentConnector3">
              <a:avLst>
                <a:gd name="adj1" fmla="val 180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Connector: Elbow 327">
              <a:extLst>
                <a:ext uri="{FF2B5EF4-FFF2-40B4-BE49-F238E27FC236}">
                  <a16:creationId xmlns:a16="http://schemas.microsoft.com/office/drawing/2014/main" id="{6A0C8082-AC92-B9F1-0DAB-5148CF12DFAD}"/>
                </a:ext>
              </a:extLst>
            </p:cNvPr>
            <p:cNvCxnSpPr>
              <a:cxnSpLocks/>
              <a:stCxn id="192" idx="1"/>
              <a:endCxn id="204" idx="1"/>
            </p:cNvCxnSpPr>
            <p:nvPr/>
          </p:nvCxnSpPr>
          <p:spPr>
            <a:xfrm rot="10800000" flipV="1">
              <a:off x="6160798" y="3401813"/>
              <a:ext cx="12700" cy="2140924"/>
            </a:xfrm>
            <a:prstGeom prst="bentConnector3">
              <a:avLst>
                <a:gd name="adj1" fmla="val 1800000"/>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276A8847-80F5-03D3-B970-8836A26B385F}"/>
                </a:ext>
              </a:extLst>
            </p:cNvPr>
            <p:cNvCxnSpPr>
              <a:cxnSpLocks/>
              <a:stCxn id="63" idx="2"/>
              <a:endCxn id="32" idx="0"/>
            </p:cNvCxnSpPr>
            <p:nvPr/>
          </p:nvCxnSpPr>
          <p:spPr>
            <a:xfrm>
              <a:off x="5103900" y="3632213"/>
              <a:ext cx="0" cy="25398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36" name="TextBox 335">
              <a:extLst>
                <a:ext uri="{FF2B5EF4-FFF2-40B4-BE49-F238E27FC236}">
                  <a16:creationId xmlns:a16="http://schemas.microsoft.com/office/drawing/2014/main" id="{6590E769-27CB-B3AF-1BA0-FC525E022D0C}"/>
                </a:ext>
              </a:extLst>
            </p:cNvPr>
            <p:cNvSpPr txBox="1"/>
            <p:nvPr/>
          </p:nvSpPr>
          <p:spPr>
            <a:xfrm>
              <a:off x="5007675" y="1843448"/>
              <a:ext cx="263361" cy="107163"/>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75%</a:t>
              </a:r>
            </a:p>
            <a:p>
              <a:pPr algn="l">
                <a:spcAft>
                  <a:spcPts val="600"/>
                </a:spcAft>
              </a:pPr>
              <a:endParaRPr lang="en-US" sz="800" b="1" i="1" dirty="0">
                <a:solidFill>
                  <a:schemeClr val="tx2"/>
                </a:solidFill>
              </a:endParaRPr>
            </a:p>
          </p:txBody>
        </p:sp>
        <p:sp>
          <p:nvSpPr>
            <p:cNvPr id="338" name="TextBox 337">
              <a:extLst>
                <a:ext uri="{FF2B5EF4-FFF2-40B4-BE49-F238E27FC236}">
                  <a16:creationId xmlns:a16="http://schemas.microsoft.com/office/drawing/2014/main" id="{B23DEEA4-44EE-4EEA-3523-077C0CFB81CA}"/>
                </a:ext>
              </a:extLst>
            </p:cNvPr>
            <p:cNvSpPr txBox="1"/>
            <p:nvPr/>
          </p:nvSpPr>
          <p:spPr>
            <a:xfrm>
              <a:off x="7114378" y="1843448"/>
              <a:ext cx="263361" cy="107163"/>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25%</a:t>
              </a:r>
            </a:p>
          </p:txBody>
        </p:sp>
        <p:sp>
          <p:nvSpPr>
            <p:cNvPr id="339" name="TextBox 338">
              <a:extLst>
                <a:ext uri="{FF2B5EF4-FFF2-40B4-BE49-F238E27FC236}">
                  <a16:creationId xmlns:a16="http://schemas.microsoft.com/office/drawing/2014/main" id="{5A78C5CA-A58D-595C-A36D-3C4166D170A3}"/>
                </a:ext>
              </a:extLst>
            </p:cNvPr>
            <p:cNvSpPr txBox="1"/>
            <p:nvPr/>
          </p:nvSpPr>
          <p:spPr>
            <a:xfrm>
              <a:off x="4615932" y="2164359"/>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100%</a:t>
              </a:r>
            </a:p>
          </p:txBody>
        </p:sp>
        <p:sp>
          <p:nvSpPr>
            <p:cNvPr id="340" name="TextBox 339">
              <a:extLst>
                <a:ext uri="{FF2B5EF4-FFF2-40B4-BE49-F238E27FC236}">
                  <a16:creationId xmlns:a16="http://schemas.microsoft.com/office/drawing/2014/main" id="{F327587B-79BB-E3AA-5C2D-94DB7915F768}"/>
                </a:ext>
              </a:extLst>
            </p:cNvPr>
            <p:cNvSpPr txBox="1"/>
            <p:nvPr/>
          </p:nvSpPr>
          <p:spPr>
            <a:xfrm>
              <a:off x="7377739" y="2164546"/>
              <a:ext cx="263361" cy="107163"/>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95%</a:t>
              </a:r>
            </a:p>
          </p:txBody>
        </p:sp>
        <p:sp>
          <p:nvSpPr>
            <p:cNvPr id="342" name="TextBox 341">
              <a:extLst>
                <a:ext uri="{FF2B5EF4-FFF2-40B4-BE49-F238E27FC236}">
                  <a16:creationId xmlns:a16="http://schemas.microsoft.com/office/drawing/2014/main" id="{B5A10052-7DE7-786B-2A2A-14AC0728DEB7}"/>
                </a:ext>
              </a:extLst>
            </p:cNvPr>
            <p:cNvSpPr txBox="1"/>
            <p:nvPr/>
          </p:nvSpPr>
          <p:spPr>
            <a:xfrm>
              <a:off x="4836096" y="2928734"/>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100%</a:t>
              </a:r>
            </a:p>
          </p:txBody>
        </p:sp>
        <p:sp>
          <p:nvSpPr>
            <p:cNvPr id="401" name="TextBox 400">
              <a:extLst>
                <a:ext uri="{FF2B5EF4-FFF2-40B4-BE49-F238E27FC236}">
                  <a16:creationId xmlns:a16="http://schemas.microsoft.com/office/drawing/2014/main" id="{7B557A6E-E089-F55F-396F-4E05DA751D9C}"/>
                </a:ext>
              </a:extLst>
            </p:cNvPr>
            <p:cNvSpPr txBox="1"/>
            <p:nvPr/>
          </p:nvSpPr>
          <p:spPr>
            <a:xfrm>
              <a:off x="6487536" y="2928734"/>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100%</a:t>
              </a:r>
            </a:p>
          </p:txBody>
        </p:sp>
        <p:sp>
          <p:nvSpPr>
            <p:cNvPr id="402" name="TextBox 401">
              <a:extLst>
                <a:ext uri="{FF2B5EF4-FFF2-40B4-BE49-F238E27FC236}">
                  <a16:creationId xmlns:a16="http://schemas.microsoft.com/office/drawing/2014/main" id="{1E63D329-A64A-0926-08E5-1C7163141585}"/>
                </a:ext>
              </a:extLst>
            </p:cNvPr>
            <p:cNvSpPr txBox="1"/>
            <p:nvPr/>
          </p:nvSpPr>
          <p:spPr>
            <a:xfrm>
              <a:off x="4836096" y="3693644"/>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100%</a:t>
              </a:r>
            </a:p>
          </p:txBody>
        </p:sp>
        <p:sp>
          <p:nvSpPr>
            <p:cNvPr id="403" name="TextBox 402">
              <a:extLst>
                <a:ext uri="{FF2B5EF4-FFF2-40B4-BE49-F238E27FC236}">
                  <a16:creationId xmlns:a16="http://schemas.microsoft.com/office/drawing/2014/main" id="{815B2C12-ABE6-977D-4D8E-7E7DE31CCD2E}"/>
                </a:ext>
              </a:extLst>
            </p:cNvPr>
            <p:cNvSpPr txBox="1"/>
            <p:nvPr/>
          </p:nvSpPr>
          <p:spPr>
            <a:xfrm>
              <a:off x="5971923" y="3954150"/>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75%</a:t>
              </a:r>
            </a:p>
          </p:txBody>
        </p:sp>
        <p:sp>
          <p:nvSpPr>
            <p:cNvPr id="404" name="TextBox 403">
              <a:extLst>
                <a:ext uri="{FF2B5EF4-FFF2-40B4-BE49-F238E27FC236}">
                  <a16:creationId xmlns:a16="http://schemas.microsoft.com/office/drawing/2014/main" id="{DAD57F04-19E9-0C29-5B84-10A72AE0EDE5}"/>
                </a:ext>
              </a:extLst>
            </p:cNvPr>
            <p:cNvSpPr txBox="1"/>
            <p:nvPr/>
          </p:nvSpPr>
          <p:spPr>
            <a:xfrm>
              <a:off x="5971923" y="4636465"/>
              <a:ext cx="343158" cy="107536"/>
            </a:xfrm>
            <a:prstGeom prst="rect">
              <a:avLst/>
            </a:prstGeom>
          </p:spPr>
          <p:txBody>
            <a:bodyPr vert="horz" wrap="square" lIns="0" tIns="0" rIns="0" bIns="0" rtlCol="0" anchor="t" anchorCtr="0">
              <a:noAutofit/>
            </a:bodyPr>
            <a:lstStyle/>
            <a:p>
              <a:pPr algn="l">
                <a:spcAft>
                  <a:spcPts val="600"/>
                </a:spcAft>
              </a:pPr>
              <a:r>
                <a:rPr lang="en-US" sz="800" b="1" i="1" dirty="0">
                  <a:solidFill>
                    <a:schemeClr val="tx2"/>
                  </a:solidFill>
                </a:rPr>
                <a:t>88%</a:t>
              </a:r>
            </a:p>
          </p:txBody>
        </p:sp>
        <p:sp>
          <p:nvSpPr>
            <p:cNvPr id="405" name="TextBox 404">
              <a:extLst>
                <a:ext uri="{FF2B5EF4-FFF2-40B4-BE49-F238E27FC236}">
                  <a16:creationId xmlns:a16="http://schemas.microsoft.com/office/drawing/2014/main" id="{624DFE0C-9E79-B2F4-D2FD-B9627E9B5977}"/>
                </a:ext>
              </a:extLst>
            </p:cNvPr>
            <p:cNvSpPr txBox="1"/>
            <p:nvPr/>
          </p:nvSpPr>
          <p:spPr>
            <a:xfrm>
              <a:off x="5971923" y="5381432"/>
              <a:ext cx="343158" cy="107536"/>
            </a:xfrm>
            <a:prstGeom prst="rect">
              <a:avLst/>
            </a:prstGeom>
          </p:spPr>
          <p:txBody>
            <a:bodyPr vert="horz" wrap="square" lIns="0" tIns="0" rIns="0" bIns="0" rtlCol="0" anchor="t" anchorCtr="0">
              <a:noAutofit/>
            </a:bodyPr>
            <a:lstStyle/>
            <a:p>
              <a:pPr algn="l">
                <a:spcAft>
                  <a:spcPts val="600"/>
                </a:spcAft>
              </a:pPr>
              <a:r>
                <a:rPr lang="en-US" sz="700" b="1" i="1" dirty="0">
                  <a:solidFill>
                    <a:schemeClr val="tx2"/>
                  </a:solidFill>
                </a:rPr>
                <a:t>100</a:t>
              </a:r>
              <a:r>
                <a:rPr lang="en-US" sz="800" b="1" i="1" dirty="0">
                  <a:solidFill>
                    <a:schemeClr val="tx2"/>
                  </a:solidFill>
                </a:rPr>
                <a:t>%</a:t>
              </a:r>
            </a:p>
          </p:txBody>
        </p:sp>
        <p:sp>
          <p:nvSpPr>
            <p:cNvPr id="7" name="Text Placeholder 12">
              <a:extLst>
                <a:ext uri="{FF2B5EF4-FFF2-40B4-BE49-F238E27FC236}">
                  <a16:creationId xmlns:a16="http://schemas.microsoft.com/office/drawing/2014/main" id="{FE80B4EF-F5DB-6FD8-8C02-3C2F897073F8}"/>
                </a:ext>
              </a:extLst>
            </p:cNvPr>
            <p:cNvSpPr txBox="1">
              <a:spLocks/>
            </p:cNvSpPr>
            <p:nvPr/>
          </p:nvSpPr>
          <p:spPr>
            <a:xfrm>
              <a:off x="1066443" y="5915089"/>
              <a:ext cx="36000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Source: Management provided information, KPMG analysis</a:t>
              </a:r>
            </a:p>
          </p:txBody>
        </p:sp>
      </p:grpSp>
      <p:grpSp>
        <p:nvGrpSpPr>
          <p:cNvPr id="29" name="Group 28">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3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34"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35"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36" name="Current Section5">
              <a:hlinkClick r:id="rId13"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61629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8400" y="431800"/>
            <a:ext cx="10195200" cy="533400"/>
          </a:xfrm>
        </p:spPr>
        <p:txBody>
          <a:bodyPr/>
          <a:lstStyle/>
          <a:p>
            <a:r>
              <a:rPr lang="en-US" dirty="0"/>
              <a:t>Basis of preparation</a:t>
            </a:r>
          </a:p>
        </p:txBody>
      </p:sp>
      <p:sp>
        <p:nvSpPr>
          <p:cNvPr id="96" name="UpSlide SubSection Marker" hidden="1">
            <a:extLst>
              <a:ext uri="{FF2B5EF4-FFF2-40B4-BE49-F238E27FC236}">
                <a16:creationId xmlns:a16="http://schemas.microsoft.com/office/drawing/2014/main" id="{DCD4B608-2B7A-E89E-AC22-AFC9E18579F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Basis of preparation</a:t>
            </a:r>
          </a:p>
        </p:txBody>
      </p:sp>
      <p:grpSp>
        <p:nvGrpSpPr>
          <p:cNvPr id="72" name="Group 71">
            <a:extLst>
              <a:ext uri="{FF2B5EF4-FFF2-40B4-BE49-F238E27FC236}">
                <a16:creationId xmlns:a16="http://schemas.microsoft.com/office/drawing/2014/main" id="{29B621E3-61D1-201E-CD9E-6C34ABEA0956}"/>
              </a:ext>
            </a:extLst>
          </p:cNvPr>
          <p:cNvGrpSpPr/>
          <p:nvPr/>
        </p:nvGrpSpPr>
        <p:grpSpPr>
          <a:xfrm>
            <a:off x="1000409" y="1742445"/>
            <a:ext cx="2340001" cy="512811"/>
            <a:chOff x="2098102" y="1901069"/>
            <a:chExt cx="2340001" cy="512811"/>
          </a:xfrm>
        </p:grpSpPr>
        <p:sp>
          <p:nvSpPr>
            <p:cNvPr id="73" name="Rectangle: Rounded Corners 72">
              <a:extLst>
                <a:ext uri="{FF2B5EF4-FFF2-40B4-BE49-F238E27FC236}">
                  <a16:creationId xmlns:a16="http://schemas.microsoft.com/office/drawing/2014/main" id="{6E723B00-C023-C3DB-EBCA-50EA442140B5}"/>
                </a:ext>
              </a:extLst>
            </p:cNvPr>
            <p:cNvSpPr/>
            <p:nvPr/>
          </p:nvSpPr>
          <p:spPr>
            <a:xfrm>
              <a:off x="2098103" y="1965217"/>
              <a:ext cx="2340000" cy="159705"/>
            </a:xfrm>
            <a:prstGeom prst="roundRect">
              <a:avLst>
                <a:gd name="adj" fmla="val 50000"/>
              </a:avLst>
            </a:prstGeom>
            <a:solidFill>
              <a:srgbClr val="FFFFFF"/>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4" name="Text Placeholder 6">
              <a:extLst>
                <a:ext uri="{FF2B5EF4-FFF2-40B4-BE49-F238E27FC236}">
                  <a16:creationId xmlns:a16="http://schemas.microsoft.com/office/drawing/2014/main" id="{F2D60E36-550D-9CFC-38DE-623F283B9855}"/>
                </a:ext>
              </a:extLst>
            </p:cNvPr>
            <p:cNvSpPr txBox="1">
              <a:spLocks/>
            </p:cNvSpPr>
            <p:nvPr/>
          </p:nvSpPr>
          <p:spPr>
            <a:xfrm>
              <a:off x="2098102" y="2259992"/>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00338D"/>
                  </a:solidFill>
                  <a:effectLst/>
                  <a:uLnTx/>
                  <a:uFillTx/>
                  <a:latin typeface="Arial"/>
                  <a:ea typeface="+mn-ea"/>
                  <a:cs typeface="+mn-cs"/>
                </a:rPr>
                <a:t>Limited </a:t>
              </a:r>
            </a:p>
          </p:txBody>
        </p:sp>
        <p:sp>
          <p:nvSpPr>
            <p:cNvPr id="75" name="Text Placeholder 6">
              <a:extLst>
                <a:ext uri="{FF2B5EF4-FFF2-40B4-BE49-F238E27FC236}">
                  <a16:creationId xmlns:a16="http://schemas.microsoft.com/office/drawing/2014/main" id="{C7E67A91-0757-59D6-0698-54119D3EAA8C}"/>
                </a:ext>
              </a:extLst>
            </p:cNvPr>
            <p:cNvSpPr txBox="1">
              <a:spLocks/>
            </p:cNvSpPr>
            <p:nvPr/>
          </p:nvSpPr>
          <p:spPr>
            <a:xfrm>
              <a:off x="3867410" y="2259992"/>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00338D"/>
                  </a:solidFill>
                  <a:effectLst/>
                  <a:uLnTx/>
                  <a:uFillTx/>
                  <a:latin typeface="Arial"/>
                  <a:ea typeface="+mn-ea"/>
                  <a:cs typeface="+mn-cs"/>
                </a:rPr>
                <a:t>Extensive</a:t>
              </a:r>
            </a:p>
          </p:txBody>
        </p:sp>
        <p:sp>
          <p:nvSpPr>
            <p:cNvPr id="76" name="Oval 75">
              <a:extLst>
                <a:ext uri="{FF2B5EF4-FFF2-40B4-BE49-F238E27FC236}">
                  <a16:creationId xmlns:a16="http://schemas.microsoft.com/office/drawing/2014/main" id="{44835C28-5CE6-6CE9-FBC4-60EC20EB331B}"/>
                </a:ext>
              </a:extLst>
            </p:cNvPr>
            <p:cNvSpPr/>
            <p:nvPr/>
          </p:nvSpPr>
          <p:spPr>
            <a:xfrm>
              <a:off x="3535102" y="1901069"/>
              <a:ext cx="288000" cy="288000"/>
            </a:xfrm>
            <a:prstGeom prst="ellips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77" name="Rectangle: Rounded Corners 33">
            <a:extLst>
              <a:ext uri="{FF2B5EF4-FFF2-40B4-BE49-F238E27FC236}">
                <a16:creationId xmlns:a16="http://schemas.microsoft.com/office/drawing/2014/main" id="{C7CF5B90-E6E1-106F-4E81-C13DF57916F6}"/>
              </a:ext>
            </a:extLst>
          </p:cNvPr>
          <p:cNvSpPr/>
          <p:nvPr/>
        </p:nvSpPr>
        <p:spPr>
          <a:xfrm>
            <a:off x="1000410" y="1806254"/>
            <a:ext cx="1534855" cy="159705"/>
          </a:xfrm>
          <a:prstGeom prst="roundRect">
            <a:avLst>
              <a:gd name="adj" fmla="val 50000"/>
            </a:avLst>
          </a:prstGeom>
          <a:solidFill>
            <a:srgbClr val="00338D"/>
          </a:solidFill>
          <a:ln w="12700" cap="flat" cmpd="sng" algn="ctr">
            <a:solidFill>
              <a:srgbClr val="00338D"/>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78" name="Text Placeholder 5">
            <a:extLst>
              <a:ext uri="{FF2B5EF4-FFF2-40B4-BE49-F238E27FC236}">
                <a16:creationId xmlns:a16="http://schemas.microsoft.com/office/drawing/2014/main" id="{92F9C0EB-31B7-3146-99B5-4B19DF8904E9}"/>
              </a:ext>
            </a:extLst>
          </p:cNvPr>
          <p:cNvSpPr txBox="1">
            <a:spLocks/>
          </p:cNvSpPr>
          <p:nvPr/>
        </p:nvSpPr>
        <p:spPr>
          <a:xfrm>
            <a:off x="3683979" y="1330326"/>
            <a:ext cx="7509485" cy="1709765"/>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KPMG LLP (‘KPMG’) has been engaged by </a:t>
            </a:r>
            <a:r>
              <a:rPr lang="en-US" dirty="0">
                <a:solidFill>
                  <a:srgbClr val="000000"/>
                </a:solidFill>
                <a:latin typeface="Arial"/>
              </a:rPr>
              <a:t>Client (Ares Capital Management LLC)</a:t>
            </a:r>
            <a:r>
              <a:rPr kumimoji="0" lang="en-US" sz="1000" b="0" i="0" strike="noStrike" kern="1200" cap="none" spc="0" normalizeH="0" baseline="0" noProof="0" dirty="0">
                <a:ln>
                  <a:noFill/>
                </a:ln>
                <a:solidFill>
                  <a:srgbClr val="000000"/>
                </a:solidFill>
                <a:effectLst/>
                <a:uLnTx/>
                <a:uFillTx/>
                <a:latin typeface="Arial"/>
                <a:ea typeface="+mn-ea"/>
                <a:cs typeface="+mn-cs"/>
              </a:rPr>
              <a:t> to prepare a financial due diligence report in connection with the potential acquisition </a:t>
            </a:r>
            <a:r>
              <a:rPr kumimoji="0" lang="en-US" sz="1000" b="0" i="0" strike="noStrike" kern="1200" cap="none" spc="0" normalizeH="0" baseline="0" noProof="0" dirty="0">
                <a:ln>
                  <a:noFill/>
                </a:ln>
                <a:effectLst/>
                <a:uLnTx/>
                <a:uFillTx/>
                <a:latin typeface="Arial"/>
                <a:ea typeface="+mn-ea"/>
                <a:cs typeface="+mn-cs"/>
              </a:rPr>
              <a:t>of </a:t>
            </a:r>
            <a:r>
              <a:rPr lang="en-US" dirty="0">
                <a:latin typeface="Arial"/>
              </a:rPr>
              <a:t>Synex Benefits Solutions Inc.</a:t>
            </a:r>
            <a:r>
              <a:rPr kumimoji="0" lang="en-US" sz="1000" b="0" i="0" strike="noStrike" kern="1200" cap="none" spc="0" normalizeH="0" baseline="0" noProof="0" dirty="0">
                <a:ln>
                  <a:noFill/>
                </a:ln>
                <a:effectLst/>
                <a:uLnTx/>
                <a:uFillTx/>
                <a:latin typeface="Arial"/>
                <a:ea typeface="+mn-ea"/>
                <a:cs typeface="+mn-cs"/>
              </a:rPr>
              <a:t> (‘Target’ or the ‘Company’). </a:t>
            </a:r>
            <a:r>
              <a:rPr kumimoji="0" lang="en-US" sz="1000" b="0" i="0" strike="noStrike" kern="1200" cap="none" spc="0" normalizeH="0" baseline="0" noProof="0" dirty="0">
                <a:ln>
                  <a:noFill/>
                </a:ln>
                <a:solidFill>
                  <a:srgbClr val="000000"/>
                </a:solidFill>
                <a:effectLst/>
                <a:uLnTx/>
                <a:uFillTx/>
                <a:latin typeface="Arial"/>
                <a:ea typeface="+mn-ea"/>
                <a:cs typeface="+mn-cs"/>
              </a:rPr>
              <a:t>The report has been prepared in accordance with our engagement letter dated </a:t>
            </a:r>
            <a:r>
              <a:rPr lang="en-US" dirty="0">
                <a:solidFill>
                  <a:srgbClr val="000000"/>
                </a:solidFill>
                <a:latin typeface="Arial"/>
              </a:rPr>
              <a:t>February 20, 2025.</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Our work on historical financial performance comprises the fiscal </a:t>
            </a:r>
            <a:r>
              <a:rPr lang="en-US" dirty="0">
                <a:solidFill>
                  <a:srgbClr val="000000"/>
                </a:solidFill>
                <a:latin typeface="Arial"/>
              </a:rPr>
              <a:t>years FY22, FY23, and FY24, and the trailing twelve month period ended October 31, 2024 (collectively, the “Historical Period”)</a:t>
            </a:r>
            <a:r>
              <a:rPr kumimoji="0" lang="en-US" sz="1000" b="0" i="0" strike="noStrike" kern="1200" cap="none" spc="0" normalizeH="0" baseline="0" noProof="0" dirty="0">
                <a:ln>
                  <a:noFill/>
                </a:ln>
                <a:solidFill>
                  <a:srgbClr val="000000"/>
                </a:solidFill>
                <a:effectLst/>
                <a:uLnTx/>
                <a:uFillTx/>
                <a:latin typeface="Arial"/>
                <a:ea typeface="+mn-ea"/>
                <a:cs typeface="+mn-cs"/>
              </a:rPr>
              <a:t>. We have analyzed the balance sheet as at December 31, </a:t>
            </a:r>
            <a:r>
              <a:rPr lang="en-US" dirty="0">
                <a:solidFill>
                  <a:srgbClr val="000000"/>
                </a:solidFill>
                <a:latin typeface="Arial"/>
              </a:rPr>
              <a:t>2023</a:t>
            </a:r>
            <a:r>
              <a:rPr kumimoji="0" lang="en-US" sz="1000" b="0" i="0" strike="noStrike" kern="1200" cap="none" spc="0" normalizeH="0" baseline="0" noProof="0" dirty="0">
                <a:ln>
                  <a:noFill/>
                </a:ln>
                <a:solidFill>
                  <a:srgbClr val="000000"/>
                </a:solidFill>
                <a:effectLst/>
                <a:uLnTx/>
                <a:uFillTx/>
                <a:latin typeface="Arial"/>
                <a:ea typeface="+mn-ea"/>
                <a:cs typeface="+mn-cs"/>
              </a:rPr>
              <a:t>, December 31, 2024, and October 31, 2024 and our analysis of net working capital was performed on monthly balance sheet captions for the pe</a:t>
            </a:r>
            <a:r>
              <a:rPr kumimoji="0" lang="en-US" sz="1000" b="0" i="0" strike="noStrike" kern="1200" cap="none" spc="0" normalizeH="0" baseline="0" noProof="0" dirty="0">
                <a:ln>
                  <a:noFill/>
                </a:ln>
                <a:effectLst/>
                <a:uLnTx/>
                <a:uFillTx/>
                <a:latin typeface="Arial"/>
                <a:ea typeface="+mn-ea"/>
                <a:cs typeface="+mn-cs"/>
              </a:rPr>
              <a:t>riod January 2023 to December 2024</a:t>
            </a:r>
            <a:r>
              <a:rPr lang="en-US" dirty="0">
                <a:latin typeface="Arial"/>
              </a:rPr>
              <a:t>. </a:t>
            </a:r>
          </a:p>
          <a:p>
            <a:pPr marL="0" marR="0" lvl="0" indent="0" algn="l" defTabSz="914377" rtl="0" eaLnBrk="1" fontAlgn="auto" latinLnBrk="0" hangingPunct="1">
              <a:lnSpc>
                <a:spcPct val="100000"/>
              </a:lnSpc>
              <a:spcBef>
                <a:spcPts val="0"/>
              </a:spcBef>
              <a:spcAft>
                <a:spcPts val="600"/>
              </a:spcAft>
              <a:buClrTx/>
              <a:buSzTx/>
              <a:buFontTx/>
              <a:buNone/>
              <a:tabLst/>
              <a:defRPr/>
            </a:pPr>
            <a:r>
              <a:rPr lang="en-US" dirty="0">
                <a:latin typeface="Arial"/>
              </a:rPr>
              <a:t>Our scope of work for the current phase did not include analysis of the sales cube / book of business for the Historical Period.</a:t>
            </a:r>
            <a:endParaRPr kumimoji="0" lang="en-US" sz="1000" b="0" i="0" strike="noStrike" kern="1200" cap="none" spc="0" normalizeH="0" baseline="0" noProof="0" dirty="0">
              <a:ln>
                <a:noFill/>
              </a:ln>
              <a:effectLst/>
              <a:uLnTx/>
              <a:uFillTx/>
              <a:latin typeface="Arial"/>
              <a:ea typeface="+mn-ea"/>
              <a:cs typeface="+mn-cs"/>
            </a:endParaRP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Please refer to Appendix 8 for full details on the scope of our work.</a:t>
            </a:r>
          </a:p>
        </p:txBody>
      </p:sp>
      <p:sp>
        <p:nvSpPr>
          <p:cNvPr id="79" name="Text Placeholder 11">
            <a:extLst>
              <a:ext uri="{FF2B5EF4-FFF2-40B4-BE49-F238E27FC236}">
                <a16:creationId xmlns:a16="http://schemas.microsoft.com/office/drawing/2014/main" id="{63D4B6AA-403B-45C1-3F4B-312E981A07E2}"/>
              </a:ext>
            </a:extLst>
          </p:cNvPr>
          <p:cNvSpPr txBox="1">
            <a:spLocks/>
          </p:cNvSpPr>
          <p:nvPr/>
        </p:nvSpPr>
        <p:spPr>
          <a:xfrm>
            <a:off x="3685258" y="3067420"/>
            <a:ext cx="7515836"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During the course of our work our main points of contact have been </a:t>
            </a:r>
            <a:r>
              <a:rPr lang="en-US" dirty="0">
                <a:solidFill>
                  <a:srgbClr val="000000"/>
                </a:solidFill>
                <a:latin typeface="Arial"/>
              </a:rPr>
              <a:t>representatives from the </a:t>
            </a:r>
            <a:r>
              <a:rPr kumimoji="0" lang="en-US" sz="1000" b="0" i="0" strike="noStrike" kern="1200" cap="none" spc="0" normalizeH="0" baseline="0" noProof="0" dirty="0">
                <a:ln>
                  <a:noFill/>
                </a:ln>
                <a:solidFill>
                  <a:srgbClr val="000000"/>
                </a:solidFill>
                <a:effectLst/>
                <a:uLnTx/>
                <a:uFillTx/>
                <a:latin typeface="Arial"/>
                <a:ea typeface="+mn-ea"/>
                <a:cs typeface="+mn-cs"/>
              </a:rPr>
              <a:t>EY sell-side diligence team, including by Julie Marineau (Partner) and David Orloff (Senior Manager)</a:t>
            </a:r>
            <a:r>
              <a:rPr lang="en-US" dirty="0">
                <a:solidFill>
                  <a:srgbClr val="000000"/>
                </a:solidFill>
                <a:latin typeface="Arial"/>
              </a:rPr>
              <a:t>, </a:t>
            </a:r>
            <a:r>
              <a:rPr kumimoji="0" lang="en-US" sz="1000" b="0" i="0" strike="noStrike" kern="1200" cap="none" spc="0" normalizeH="0" baseline="0" noProof="0" dirty="0">
                <a:ln>
                  <a:noFill/>
                </a:ln>
                <a:solidFill>
                  <a:srgbClr val="000000"/>
                </a:solidFill>
                <a:effectLst/>
                <a:uLnTx/>
                <a:uFillTx/>
                <a:latin typeface="Arial"/>
                <a:ea typeface="+mn-ea"/>
                <a:cs typeface="+mn-cs"/>
              </a:rPr>
              <a:t>and Management of Target, represented by Yan </a:t>
            </a:r>
            <a:r>
              <a:rPr lang="en-US" dirty="0">
                <a:solidFill>
                  <a:srgbClr val="000000"/>
                </a:solidFill>
                <a:latin typeface="Arial"/>
              </a:rPr>
              <a:t>Charbonneau</a:t>
            </a:r>
            <a:r>
              <a:rPr kumimoji="0" lang="en-US" sz="1000" b="0" i="0" strike="noStrike" kern="1200" cap="none" spc="0" normalizeH="0" baseline="0" noProof="0" dirty="0">
                <a:ln>
                  <a:noFill/>
                </a:ln>
                <a:solidFill>
                  <a:srgbClr val="000000"/>
                </a:solidFill>
                <a:effectLst/>
                <a:uLnTx/>
                <a:uFillTx/>
                <a:latin typeface="Arial"/>
                <a:ea typeface="+mn-ea"/>
                <a:cs typeface="+mn-cs"/>
              </a:rPr>
              <a:t> (CVO), Sylvie Lambert (CFO), Marc Noel (SVP of Finance), and Emile Sauvageau (VP of M&amp;A and Finance).</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We held an initial call with Management on </a:t>
            </a:r>
            <a:r>
              <a:rPr lang="en-US" dirty="0">
                <a:solidFill>
                  <a:srgbClr val="000000"/>
                </a:solidFill>
                <a:latin typeface="Arial"/>
              </a:rPr>
              <a:t>February 20</a:t>
            </a:r>
            <a:r>
              <a:rPr kumimoji="0" lang="en-US" sz="1000" b="0" i="0" strike="noStrike" kern="1200" cap="none" spc="0" normalizeH="0" baseline="0" noProof="0" dirty="0">
                <a:ln>
                  <a:noFill/>
                </a:ln>
                <a:solidFill>
                  <a:srgbClr val="000000"/>
                </a:solidFill>
                <a:effectLst/>
                <a:uLnTx/>
                <a:uFillTx/>
                <a:latin typeface="Arial"/>
                <a:ea typeface="+mn-ea"/>
                <a:cs typeface="+mn-cs"/>
              </a:rPr>
              <a:t>, 2025, and arranged a follow up call which took place on March 5, 2025.</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effectLst/>
                <a:uLnTx/>
                <a:uFillTx/>
                <a:latin typeface="Arial"/>
                <a:ea typeface="+mn-ea"/>
                <a:cs typeface="+mn-cs"/>
              </a:rPr>
              <a:t>Overall, we have had </a:t>
            </a:r>
            <a:r>
              <a:rPr lang="en-US" dirty="0">
                <a:latin typeface="Arial"/>
              </a:rPr>
              <a:t>reasonable</a:t>
            </a:r>
            <a:r>
              <a:rPr kumimoji="0" lang="en-US" sz="1000" b="0" i="0" strike="noStrike" kern="1200" cap="none" spc="0" normalizeH="0" baseline="0" noProof="0" dirty="0">
                <a:ln>
                  <a:noFill/>
                </a:ln>
                <a:effectLst/>
                <a:uLnTx/>
                <a:uFillTx/>
                <a:latin typeface="Arial"/>
                <a:ea typeface="+mn-ea"/>
                <a:cs typeface="+mn-cs"/>
              </a:rPr>
              <a:t> access to both the Management and the EY sell-side due diligence teams, which have been co-operative in providing various information requests and responding to our questions in a timely manner.</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effectLst/>
                <a:uLnTx/>
                <a:uFillTx/>
                <a:latin typeface="Arial"/>
                <a:ea typeface="+mn-ea"/>
                <a:cs typeface="+mn-cs"/>
              </a:rPr>
              <a:t>The contents of our report have not been reviewed by the Management of Target and the factual accuracy of this report has not been confirmed by the Management.</a:t>
            </a:r>
          </a:p>
        </p:txBody>
      </p:sp>
      <p:sp>
        <p:nvSpPr>
          <p:cNvPr id="80" name="Text Placeholder 12">
            <a:extLst>
              <a:ext uri="{FF2B5EF4-FFF2-40B4-BE49-F238E27FC236}">
                <a16:creationId xmlns:a16="http://schemas.microsoft.com/office/drawing/2014/main" id="{D94C1F1B-1020-A7DD-D421-DAC1E1933B24}"/>
              </a:ext>
            </a:extLst>
          </p:cNvPr>
          <p:cNvSpPr txBox="1">
            <a:spLocks/>
          </p:cNvSpPr>
          <p:nvPr/>
        </p:nvSpPr>
        <p:spPr>
          <a:xfrm>
            <a:off x="3683979" y="4634513"/>
            <a:ext cx="7509484" cy="1613885"/>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The requested information has been provided through the virtual data room to which we have had unrestricted access. As of the date of this report, </a:t>
            </a:r>
            <a:r>
              <a:rPr lang="en-US" dirty="0">
                <a:solidFill>
                  <a:srgbClr val="000000"/>
                </a:solidFill>
                <a:latin typeface="Arial"/>
              </a:rPr>
              <a:t>certain information requests and questions remain outstanding with Management.</a:t>
            </a:r>
          </a:p>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dirty="0">
                <a:ln>
                  <a:noFill/>
                </a:ln>
                <a:solidFill>
                  <a:srgbClr val="000000"/>
                </a:solidFill>
                <a:effectLst/>
                <a:uLnTx/>
                <a:uFillTx/>
                <a:latin typeface="Arial"/>
                <a:ea typeface="+mn-ea"/>
                <a:cs typeface="+mn-cs"/>
              </a:rPr>
              <a:t>Our work has relied on certain key sources of information including, but not limited to; (i) </a:t>
            </a:r>
            <a:r>
              <a:rPr lang="en-US" dirty="0">
                <a:solidFill>
                  <a:srgbClr val="000000"/>
                </a:solidFill>
                <a:latin typeface="Arial"/>
              </a:rPr>
              <a:t>EY sell-side due diligence report and  corresponding datapack covering periods up to October 31, 202</a:t>
            </a:r>
            <a:r>
              <a:rPr lang="en-US" dirty="0">
                <a:latin typeface="Arial"/>
              </a:rPr>
              <a:t>4</a:t>
            </a:r>
            <a:r>
              <a:rPr kumimoji="0" lang="en-US" sz="1000" b="0" i="0" strike="noStrike" kern="1200" cap="none" spc="0" normalizeH="0" baseline="0" noProof="0" dirty="0">
                <a:ln>
                  <a:noFill/>
                </a:ln>
                <a:effectLst/>
                <a:uLnTx/>
                <a:uFillTx/>
                <a:latin typeface="Arial"/>
                <a:ea typeface="+mn-ea"/>
                <a:cs typeface="+mn-cs"/>
              </a:rPr>
              <a:t>, (ii) EY sell-side due diligence roll-forward quality of earnings and </a:t>
            </a:r>
            <a:r>
              <a:rPr lang="en-US" dirty="0">
                <a:latin typeface="Arial"/>
              </a:rPr>
              <a:t>net working capital datapacks prepared to December 31, 2024; </a:t>
            </a:r>
            <a:r>
              <a:rPr kumimoji="0" lang="en-US" sz="1000" b="0" i="0" strike="noStrike" kern="1200" cap="none" spc="0" normalizeH="0" baseline="0" noProof="0" dirty="0">
                <a:ln>
                  <a:noFill/>
                </a:ln>
                <a:effectLst/>
                <a:uLnTx/>
                <a:uFillTx/>
                <a:latin typeface="Arial"/>
                <a:ea typeface="+mn-ea"/>
                <a:cs typeface="+mn-cs"/>
              </a:rPr>
              <a:t>(iii) </a:t>
            </a:r>
            <a:r>
              <a:rPr lang="en-US" dirty="0">
                <a:latin typeface="Arial"/>
              </a:rPr>
              <a:t>consolidated audited financial statements for the Company for the years ended December 31, 2022 and December 31, 2023; (iv) various account breakdowns and supporting schedules provided by Management and EY</a:t>
            </a:r>
            <a:r>
              <a:rPr kumimoji="0" lang="en-US" sz="1000" b="0" i="0" strike="noStrike" kern="1200" cap="none" spc="0" normalizeH="0" baseline="0" noProof="0" dirty="0">
                <a:ln>
                  <a:noFill/>
                </a:ln>
                <a:effectLst/>
                <a:uLnTx/>
                <a:uFillTx/>
                <a:latin typeface="Arial"/>
                <a:ea typeface="+mn-ea"/>
                <a:cs typeface="+mn-cs"/>
              </a:rPr>
              <a:t>. </a:t>
            </a:r>
            <a:r>
              <a:rPr kumimoji="0" lang="en-US" sz="1000" b="0" i="0" strike="noStrike" kern="1200" cap="none" spc="0" normalizeH="0" baseline="0" noProof="0" dirty="0">
                <a:ln>
                  <a:noFill/>
                </a:ln>
                <a:solidFill>
                  <a:srgbClr val="000000"/>
                </a:solidFill>
                <a:effectLst/>
                <a:uLnTx/>
                <a:uFillTx/>
                <a:latin typeface="Arial"/>
                <a:ea typeface="+mn-ea"/>
                <a:cs typeface="+mn-cs"/>
              </a:rPr>
              <a:t>We note some areas where Management could not provide requested information which was fully reconcilable to the internal financial statements, specifically with respect to: (i) consolidated balance sheet listings at year end dates; (ii) analysis of base and bonus commission income for group benefits for all Historical Periods; and (iii) consolidated schedule of historical payroll costs for all periods in the scope of our work. </a:t>
            </a:r>
          </a:p>
        </p:txBody>
      </p:sp>
      <p:sp>
        <p:nvSpPr>
          <p:cNvPr id="81" name="Text Placeholder 13">
            <a:extLst>
              <a:ext uri="{FF2B5EF4-FFF2-40B4-BE49-F238E27FC236}">
                <a16:creationId xmlns:a16="http://schemas.microsoft.com/office/drawing/2014/main" id="{FF311E7C-79D6-E071-2529-DF1B38A9EFF3}"/>
              </a:ext>
            </a:extLst>
          </p:cNvPr>
          <p:cNvSpPr txBox="1">
            <a:spLocks/>
          </p:cNvSpPr>
          <p:nvPr/>
        </p:nvSpPr>
        <p:spPr>
          <a:xfrm>
            <a:off x="998401" y="1330324"/>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strike="noStrike" kern="1200" cap="none" spc="0" normalizeH="0" baseline="0" noProof="0" dirty="0">
                <a:ln>
                  <a:noFill/>
                </a:ln>
                <a:solidFill>
                  <a:srgbClr val="00338D"/>
                </a:solidFill>
                <a:effectLst/>
                <a:uLnTx/>
                <a:uFillTx/>
                <a:latin typeface="KPMG Bold"/>
                <a:ea typeface="+mn-ea"/>
                <a:cs typeface="+mn-cs"/>
              </a:rPr>
              <a:t>Scope of work</a:t>
            </a:r>
          </a:p>
        </p:txBody>
      </p:sp>
      <p:sp>
        <p:nvSpPr>
          <p:cNvPr id="82" name="Text Placeholder 14">
            <a:extLst>
              <a:ext uri="{FF2B5EF4-FFF2-40B4-BE49-F238E27FC236}">
                <a16:creationId xmlns:a16="http://schemas.microsoft.com/office/drawing/2014/main" id="{FA15E99B-69C6-8DB2-FB94-6511BBA1FF88}"/>
              </a:ext>
            </a:extLst>
          </p:cNvPr>
          <p:cNvSpPr txBox="1">
            <a:spLocks/>
          </p:cNvSpPr>
          <p:nvPr/>
        </p:nvSpPr>
        <p:spPr>
          <a:xfrm>
            <a:off x="998401" y="3145667"/>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strike="noStrike" kern="1200" cap="none" spc="0" normalizeH="0" baseline="0" noProof="0" dirty="0">
                <a:ln>
                  <a:noFill/>
                </a:ln>
                <a:solidFill>
                  <a:srgbClr val="00B8F5"/>
                </a:solidFill>
                <a:effectLst/>
                <a:uLnTx/>
                <a:uFillTx/>
                <a:latin typeface="KPMG Bold"/>
                <a:ea typeface="+mn-ea"/>
                <a:cs typeface="+mn-cs"/>
              </a:rPr>
              <a:t>Access to management</a:t>
            </a:r>
          </a:p>
        </p:txBody>
      </p:sp>
      <p:sp>
        <p:nvSpPr>
          <p:cNvPr id="83" name="Text Placeholder 15">
            <a:extLst>
              <a:ext uri="{FF2B5EF4-FFF2-40B4-BE49-F238E27FC236}">
                <a16:creationId xmlns:a16="http://schemas.microsoft.com/office/drawing/2014/main" id="{231F8A83-990F-466C-B96C-C89489FBEE8B}"/>
              </a:ext>
            </a:extLst>
          </p:cNvPr>
          <p:cNvSpPr txBox="1">
            <a:spLocks/>
          </p:cNvSpPr>
          <p:nvPr/>
        </p:nvSpPr>
        <p:spPr>
          <a:xfrm>
            <a:off x="998401" y="4620481"/>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strike="noStrike" kern="1200" cap="none" spc="0" normalizeH="0" baseline="0" noProof="0" dirty="0">
                <a:ln>
                  <a:noFill/>
                </a:ln>
                <a:solidFill>
                  <a:srgbClr val="7213EA"/>
                </a:solidFill>
                <a:effectLst/>
                <a:uLnTx/>
                <a:uFillTx/>
                <a:latin typeface="KPMG Bold"/>
                <a:ea typeface="+mn-ea"/>
                <a:cs typeface="+mn-cs"/>
              </a:rPr>
              <a:t>Quality of information</a:t>
            </a:r>
          </a:p>
        </p:txBody>
      </p:sp>
      <p:grpSp>
        <p:nvGrpSpPr>
          <p:cNvPr id="84" name="Group 83">
            <a:extLst>
              <a:ext uri="{FF2B5EF4-FFF2-40B4-BE49-F238E27FC236}">
                <a16:creationId xmlns:a16="http://schemas.microsoft.com/office/drawing/2014/main" id="{D0418B04-6D70-CD5A-C07D-3F085B8F55E5}"/>
              </a:ext>
            </a:extLst>
          </p:cNvPr>
          <p:cNvGrpSpPr/>
          <p:nvPr/>
        </p:nvGrpSpPr>
        <p:grpSpPr>
          <a:xfrm>
            <a:off x="990905" y="3569799"/>
            <a:ext cx="2340001" cy="515719"/>
            <a:chOff x="2098102" y="3569798"/>
            <a:chExt cx="2340001" cy="515719"/>
          </a:xfrm>
        </p:grpSpPr>
        <p:sp>
          <p:nvSpPr>
            <p:cNvPr id="85" name="Text Placeholder 6">
              <a:extLst>
                <a:ext uri="{FF2B5EF4-FFF2-40B4-BE49-F238E27FC236}">
                  <a16:creationId xmlns:a16="http://schemas.microsoft.com/office/drawing/2014/main" id="{77E3D815-64E3-21E7-BB93-EF51DE319CAA}"/>
                </a:ext>
              </a:extLst>
            </p:cNvPr>
            <p:cNvSpPr txBox="1">
              <a:spLocks/>
            </p:cNvSpPr>
            <p:nvPr/>
          </p:nvSpPr>
          <p:spPr>
            <a:xfrm>
              <a:off x="2098102" y="3931629"/>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00B8F5"/>
                  </a:solidFill>
                  <a:effectLst/>
                  <a:uLnTx/>
                  <a:uFillTx/>
                  <a:latin typeface="Arial"/>
                  <a:ea typeface="+mn-ea"/>
                  <a:cs typeface="+mn-cs"/>
                </a:rPr>
                <a:t>Limited </a:t>
              </a:r>
            </a:p>
          </p:txBody>
        </p:sp>
        <p:sp>
          <p:nvSpPr>
            <p:cNvPr id="86" name="Text Placeholder 6">
              <a:extLst>
                <a:ext uri="{FF2B5EF4-FFF2-40B4-BE49-F238E27FC236}">
                  <a16:creationId xmlns:a16="http://schemas.microsoft.com/office/drawing/2014/main" id="{FB22B7F6-AA6E-DEE6-8C68-36695BB18165}"/>
                </a:ext>
              </a:extLst>
            </p:cNvPr>
            <p:cNvSpPr txBox="1">
              <a:spLocks/>
            </p:cNvSpPr>
            <p:nvPr/>
          </p:nvSpPr>
          <p:spPr>
            <a:xfrm>
              <a:off x="3867410" y="3931629"/>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00B8F5"/>
                  </a:solidFill>
                  <a:effectLst/>
                  <a:uLnTx/>
                  <a:uFillTx/>
                  <a:latin typeface="Arial"/>
                  <a:ea typeface="+mn-ea"/>
                  <a:cs typeface="+mn-cs"/>
                </a:rPr>
                <a:t>Extensive</a:t>
              </a:r>
            </a:p>
          </p:txBody>
        </p:sp>
        <p:sp>
          <p:nvSpPr>
            <p:cNvPr id="87" name="Rectangle: Rounded Corners 86">
              <a:extLst>
                <a:ext uri="{FF2B5EF4-FFF2-40B4-BE49-F238E27FC236}">
                  <a16:creationId xmlns:a16="http://schemas.microsoft.com/office/drawing/2014/main" id="{175B60C5-45D1-7585-C625-AEED270C965A}"/>
                </a:ext>
              </a:extLst>
            </p:cNvPr>
            <p:cNvSpPr/>
            <p:nvPr/>
          </p:nvSpPr>
          <p:spPr>
            <a:xfrm>
              <a:off x="2098103" y="3636854"/>
              <a:ext cx="2340000" cy="159705"/>
            </a:xfrm>
            <a:prstGeom prst="roundRect">
              <a:avLst>
                <a:gd name="adj" fmla="val 50000"/>
              </a:avLst>
            </a:prstGeom>
            <a:solidFill>
              <a:srgbClr val="FFFFFF"/>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21572846-DEF8-2DBF-B068-694EC6405D65}"/>
                </a:ext>
              </a:extLst>
            </p:cNvPr>
            <p:cNvSpPr/>
            <p:nvPr/>
          </p:nvSpPr>
          <p:spPr>
            <a:xfrm>
              <a:off x="3064841" y="3569798"/>
              <a:ext cx="288000" cy="288000"/>
            </a:xfrm>
            <a:prstGeom prst="ellipse">
              <a:avLst/>
            </a:prstGeom>
            <a:solidFill>
              <a:srgbClr val="00B8F5"/>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grpSp>
        <p:nvGrpSpPr>
          <p:cNvPr id="89" name="Group 88">
            <a:extLst>
              <a:ext uri="{FF2B5EF4-FFF2-40B4-BE49-F238E27FC236}">
                <a16:creationId xmlns:a16="http://schemas.microsoft.com/office/drawing/2014/main" id="{CB8777DF-442D-2E63-BF2C-66E48A6818AE}"/>
              </a:ext>
            </a:extLst>
          </p:cNvPr>
          <p:cNvGrpSpPr/>
          <p:nvPr/>
        </p:nvGrpSpPr>
        <p:grpSpPr>
          <a:xfrm>
            <a:off x="1000824" y="5127656"/>
            <a:ext cx="2340001" cy="526122"/>
            <a:chOff x="2098102" y="5005545"/>
            <a:chExt cx="2340001" cy="526122"/>
          </a:xfrm>
        </p:grpSpPr>
        <p:sp>
          <p:nvSpPr>
            <p:cNvPr id="90" name="Text Placeholder 6">
              <a:extLst>
                <a:ext uri="{FF2B5EF4-FFF2-40B4-BE49-F238E27FC236}">
                  <a16:creationId xmlns:a16="http://schemas.microsoft.com/office/drawing/2014/main" id="{3BEF9EFD-76B4-78C8-BECB-324231CA9668}"/>
                </a:ext>
              </a:extLst>
            </p:cNvPr>
            <p:cNvSpPr txBox="1">
              <a:spLocks/>
            </p:cNvSpPr>
            <p:nvPr/>
          </p:nvSpPr>
          <p:spPr>
            <a:xfrm>
              <a:off x="2098102" y="5377779"/>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7213EA"/>
                  </a:solidFill>
                  <a:effectLst/>
                  <a:uLnTx/>
                  <a:uFillTx/>
                  <a:latin typeface="Arial"/>
                  <a:ea typeface="+mn-ea"/>
                  <a:cs typeface="+mn-cs"/>
                </a:rPr>
                <a:t>Low</a:t>
              </a:r>
            </a:p>
          </p:txBody>
        </p:sp>
        <p:sp>
          <p:nvSpPr>
            <p:cNvPr id="91" name="Text Placeholder 6">
              <a:extLst>
                <a:ext uri="{FF2B5EF4-FFF2-40B4-BE49-F238E27FC236}">
                  <a16:creationId xmlns:a16="http://schemas.microsoft.com/office/drawing/2014/main" id="{8E3E8956-810F-D69A-FA71-7011884AC7D6}"/>
                </a:ext>
              </a:extLst>
            </p:cNvPr>
            <p:cNvSpPr txBox="1">
              <a:spLocks/>
            </p:cNvSpPr>
            <p:nvPr/>
          </p:nvSpPr>
          <p:spPr>
            <a:xfrm>
              <a:off x="4157555" y="5377779"/>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strike="noStrike" kern="1200" cap="none" spc="0" normalizeH="0" baseline="0" noProof="0" dirty="0">
                  <a:ln>
                    <a:noFill/>
                  </a:ln>
                  <a:solidFill>
                    <a:srgbClr val="7213EA"/>
                  </a:solidFill>
                  <a:effectLst/>
                  <a:uLnTx/>
                  <a:uFillTx/>
                  <a:latin typeface="Arial"/>
                  <a:ea typeface="+mn-ea"/>
                  <a:cs typeface="+mn-cs"/>
                </a:rPr>
                <a:t>High</a:t>
              </a:r>
            </a:p>
          </p:txBody>
        </p:sp>
        <p:sp>
          <p:nvSpPr>
            <p:cNvPr id="92" name="Rectangle: Rounded Corners 91">
              <a:extLst>
                <a:ext uri="{FF2B5EF4-FFF2-40B4-BE49-F238E27FC236}">
                  <a16:creationId xmlns:a16="http://schemas.microsoft.com/office/drawing/2014/main" id="{43562CAB-C98C-E4CB-3F4F-B2117295C272}"/>
                </a:ext>
              </a:extLst>
            </p:cNvPr>
            <p:cNvSpPr/>
            <p:nvPr/>
          </p:nvSpPr>
          <p:spPr>
            <a:xfrm>
              <a:off x="2098103" y="5083004"/>
              <a:ext cx="2340000" cy="159705"/>
            </a:xfrm>
            <a:prstGeom prst="roundRect">
              <a:avLst>
                <a:gd name="adj" fmla="val 50000"/>
              </a:avLst>
            </a:prstGeom>
            <a:solidFill>
              <a:srgbClr val="FFFFFF"/>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a:ln>
                  <a:noFill/>
                </a:ln>
                <a:solidFill>
                  <a:srgbClr val="FFFFFF"/>
                </a:solidFill>
                <a:effectLst/>
                <a:uLnTx/>
                <a:uFillTx/>
                <a:latin typeface="Arial"/>
                <a:ea typeface="+mn-ea"/>
                <a:cs typeface="+mn-cs"/>
              </a:endParaRPr>
            </a:p>
          </p:txBody>
        </p:sp>
        <p:sp>
          <p:nvSpPr>
            <p:cNvPr id="93" name="Oval 92">
              <a:extLst>
                <a:ext uri="{FF2B5EF4-FFF2-40B4-BE49-F238E27FC236}">
                  <a16:creationId xmlns:a16="http://schemas.microsoft.com/office/drawing/2014/main" id="{BAFB22FA-182D-022C-04CB-3C41CA7BDB93}"/>
                </a:ext>
              </a:extLst>
            </p:cNvPr>
            <p:cNvSpPr/>
            <p:nvPr/>
          </p:nvSpPr>
          <p:spPr>
            <a:xfrm>
              <a:off x="3198922" y="5005545"/>
              <a:ext cx="288000" cy="288000"/>
            </a:xfrm>
            <a:prstGeom prst="ellipse">
              <a:avLst/>
            </a:prstGeom>
            <a:solidFill>
              <a:srgbClr val="7213E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grpSp>
      <p:sp>
        <p:nvSpPr>
          <p:cNvPr id="94" name="Rectangle: Rounded Corners 44">
            <a:extLst>
              <a:ext uri="{FF2B5EF4-FFF2-40B4-BE49-F238E27FC236}">
                <a16:creationId xmlns:a16="http://schemas.microsoft.com/office/drawing/2014/main" id="{39B238ED-99E3-D9CB-A31C-086E12BDD9D3}"/>
              </a:ext>
            </a:extLst>
          </p:cNvPr>
          <p:cNvSpPr/>
          <p:nvPr/>
        </p:nvSpPr>
        <p:spPr>
          <a:xfrm>
            <a:off x="990904" y="3636855"/>
            <a:ext cx="1043089" cy="153888"/>
          </a:xfrm>
          <a:prstGeom prst="roundRect">
            <a:avLst>
              <a:gd name="adj" fmla="val 50000"/>
            </a:avLst>
          </a:prstGeom>
          <a:solidFill>
            <a:srgbClr val="00B8F5"/>
          </a:solidFill>
          <a:ln w="12700" cap="flat" cmpd="sng" algn="ctr">
            <a:solidFill>
              <a:srgbClr val="00B8F5"/>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err="1">
              <a:ln>
                <a:noFill/>
              </a:ln>
              <a:solidFill>
                <a:srgbClr val="FFFFFF"/>
              </a:solidFill>
              <a:effectLst/>
              <a:uLnTx/>
              <a:uFillTx/>
              <a:latin typeface="Arial"/>
              <a:ea typeface="+mn-ea"/>
              <a:cs typeface="+mn-cs"/>
            </a:endParaRPr>
          </a:p>
        </p:txBody>
      </p:sp>
      <p:sp>
        <p:nvSpPr>
          <p:cNvPr id="95" name="Rectangle: Rounded Corners 50">
            <a:extLst>
              <a:ext uri="{FF2B5EF4-FFF2-40B4-BE49-F238E27FC236}">
                <a16:creationId xmlns:a16="http://schemas.microsoft.com/office/drawing/2014/main" id="{661408E6-F2D8-6A8C-6CC2-D82F8EE100D0}"/>
              </a:ext>
            </a:extLst>
          </p:cNvPr>
          <p:cNvSpPr/>
          <p:nvPr/>
        </p:nvSpPr>
        <p:spPr>
          <a:xfrm>
            <a:off x="1000411" y="5205117"/>
            <a:ext cx="1279728" cy="153888"/>
          </a:xfrm>
          <a:prstGeom prst="roundRect">
            <a:avLst>
              <a:gd name="adj" fmla="val 50000"/>
            </a:avLst>
          </a:prstGeom>
          <a:solidFill>
            <a:srgbClr val="7213EA"/>
          </a:solidFill>
          <a:ln w="12700" cap="flat" cmpd="sng" algn="ctr">
            <a:solidFill>
              <a:srgbClr val="7213EA"/>
            </a:solid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b-NO" sz="900" b="0" i="0" u="none" strike="noStrike" kern="0" cap="none" spc="0" normalizeH="0" baseline="0" noProof="0">
              <a:ln>
                <a:noFill/>
              </a:ln>
              <a:solidFill>
                <a:srgbClr val="FFFFFF"/>
              </a:solidFill>
              <a:effectLst/>
              <a:uLnTx/>
              <a:uFillTx/>
              <a:latin typeface="Arial"/>
              <a:ea typeface="+mn-ea"/>
              <a:cs typeface="+mn-cs"/>
            </a:endParaRPr>
          </a:p>
        </p:txBody>
      </p:sp>
      <p:cxnSp>
        <p:nvCxnSpPr>
          <p:cNvPr id="436" name="Straight Connector 435">
            <a:extLst>
              <a:ext uri="{FF2B5EF4-FFF2-40B4-BE49-F238E27FC236}">
                <a16:creationId xmlns:a16="http://schemas.microsoft.com/office/drawing/2014/main" id="{6A76E5FF-347A-A99C-46E9-DDAB5F517118}"/>
              </a:ext>
            </a:extLst>
          </p:cNvPr>
          <p:cNvCxnSpPr>
            <a:cxnSpLocks/>
          </p:cNvCxnSpPr>
          <p:nvPr/>
        </p:nvCxnSpPr>
        <p:spPr>
          <a:xfrm>
            <a:off x="998400" y="3040091"/>
            <a:ext cx="10195200" cy="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3E96CEE3-FAB5-91E6-A9AB-3BE7C70BC3E7}"/>
              </a:ext>
            </a:extLst>
          </p:cNvPr>
          <p:cNvCxnSpPr>
            <a:cxnSpLocks/>
          </p:cNvCxnSpPr>
          <p:nvPr/>
        </p:nvCxnSpPr>
        <p:spPr>
          <a:xfrm>
            <a:off x="998400" y="4515189"/>
            <a:ext cx="10195200" cy="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42FAF721-65D4-24C2-BBE1-37CCCF80BCD1}"/>
              </a:ext>
            </a:extLst>
          </p:cNvPr>
          <p:cNvGrpSpPr/>
          <p:nvPr>
            <p:custDataLst>
              <p:tags r:id="rId3"/>
            </p:custDataLst>
          </p:nvPr>
        </p:nvGrpSpPr>
        <p:grpSpPr>
          <a:xfrm>
            <a:off x="995364" y="153170"/>
            <a:ext cx="4992623" cy="195814"/>
            <a:chOff x="995364" y="153170"/>
            <a:chExt cx="4992623" cy="195814"/>
          </a:xfrm>
        </p:grpSpPr>
        <p:sp>
          <p:nvSpPr>
            <p:cNvPr id="16"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7"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18"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19"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0" name="Current Section5">
              <a:hlinkClick r:id="rId9"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4859697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1848738618"/>
              </p:ext>
            </p:extLst>
          </p:nvPr>
        </p:nvGraphicFramePr>
        <p:xfrm>
          <a:off x="998399" y="1484632"/>
          <a:ext cx="10195201" cy="4569098"/>
        </p:xfrm>
        <a:graphic>
          <a:graphicData uri="http://schemas.openxmlformats.org/drawingml/2006/table">
            <a:tbl>
              <a:tblPr firstRow="1" bandRow="1">
                <a:tableStyleId>{5C22544A-7EE6-4342-B048-85BDC9FD1C3A}</a:tableStyleId>
              </a:tblPr>
              <a:tblGrid>
                <a:gridCol w="1931433">
                  <a:extLst>
                    <a:ext uri="{9D8B030D-6E8A-4147-A177-3AD203B41FA5}">
                      <a16:colId xmlns:a16="http://schemas.microsoft.com/office/drawing/2014/main" val="20000"/>
                    </a:ext>
                  </a:extLst>
                </a:gridCol>
                <a:gridCol w="8263768">
                  <a:extLst>
                    <a:ext uri="{9D8B030D-6E8A-4147-A177-3AD203B41FA5}">
                      <a16:colId xmlns:a16="http://schemas.microsoft.com/office/drawing/2014/main" val="20001"/>
                    </a:ext>
                  </a:extLst>
                </a:gridCol>
              </a:tblGrid>
              <a:tr h="170432">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2300246">
                <a:tc>
                  <a:txBody>
                    <a:bodyPr/>
                    <a:lstStyle/>
                    <a:p>
                      <a:pPr>
                        <a:lnSpc>
                          <a:spcPct val="100000"/>
                        </a:lnSpc>
                        <a:spcBef>
                          <a:spcPts val="0"/>
                        </a:spcBef>
                        <a:spcAft>
                          <a:spcPts val="600"/>
                        </a:spcAft>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1. Read information provided by management to obtain background information about the Company, including its: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History;</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Organizational structure and management reporting relationships;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Marketing and distribution channels;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Range of products and services;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Range of regions served;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Business risks and opportunities;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Acquisition history;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Information systems.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977024">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2. Read the Company's financial statements and inquire about accounting policies and practices, including: </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Significant accounting policies, including assumptions utilized in revenue recognition; contingent commissions, allowance for cancellations, other provisions / reserves;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Accounting for past acquisitions and divestures;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Recent or contemplated changes in accounting principles, procedures, or estimates;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Related party transactions, if any;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Internal control environment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900" b="0" i="0" u="none" strike="noStrike" kern="1200" cap="none" spc="0" normalizeH="0" baseline="0" noProof="0">
                        <a:ln>
                          <a:noFill/>
                        </a:ln>
                        <a:solidFill>
                          <a:schemeClr val="tx2"/>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(1/6)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8637381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3501148378"/>
              </p:ext>
            </p:extLst>
          </p:nvPr>
        </p:nvGraphicFramePr>
        <p:xfrm>
          <a:off x="998400" y="1484632"/>
          <a:ext cx="10195200" cy="4424530"/>
        </p:xfrm>
        <a:graphic>
          <a:graphicData uri="http://schemas.openxmlformats.org/drawingml/2006/table">
            <a:tbl>
              <a:tblPr firstRow="1" bandRow="1">
                <a:tableStyleId>{5C22544A-7EE6-4342-B048-85BDC9FD1C3A}</a:tableStyleId>
              </a:tblPr>
              <a:tblGrid>
                <a:gridCol w="1931432">
                  <a:extLst>
                    <a:ext uri="{9D8B030D-6E8A-4147-A177-3AD203B41FA5}">
                      <a16:colId xmlns:a16="http://schemas.microsoft.com/office/drawing/2014/main" val="20000"/>
                    </a:ext>
                  </a:extLst>
                </a:gridCol>
                <a:gridCol w="8263768">
                  <a:extLst>
                    <a:ext uri="{9D8B030D-6E8A-4147-A177-3AD203B41FA5}">
                      <a16:colId xmlns:a16="http://schemas.microsoft.com/office/drawing/2014/main" val="20001"/>
                    </a:ext>
                  </a:extLst>
                </a:gridCol>
              </a:tblGrid>
              <a:tr h="254432">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639480">
                <a:tc>
                  <a:txBody>
                    <a:bodyPr/>
                    <a:lstStyle/>
                    <a:p>
                      <a:pPr>
                        <a:lnSpc>
                          <a:spcPct val="100000"/>
                        </a:lnSpc>
                        <a:spcBef>
                          <a:spcPts val="0"/>
                        </a:spcBef>
                        <a:spcAft>
                          <a:spcPts val="600"/>
                        </a:spcAft>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3. Read Company’s sell-side advisor’s Financial Due Diligence Report. Discuss management, due diligence and pro forma adjustments and related supporting analysis with Management and sell-side advisor.</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684011">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4. Comment on the sell-side quality of earnings report and adjustments proposed by Management and sell-side advisor.</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84011">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5. If available, read the Company's auditors' workpapers, management letter, and reports to the audit committee for the most recently completed audit.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000" b="0" i="0" u="none" strike="noStrike" kern="1200" cap="none" spc="0" normalizeH="0" baseline="0">
                        <a:ln>
                          <a:noFill/>
                        </a:ln>
                        <a:solidFill>
                          <a:srgbClr val="000000"/>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007617"/>
                  </a:ext>
                </a:extLst>
              </a:tr>
              <a:tr h="1852866">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6. Obtain and read an analysis of the Company’s revenues and inquire about: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Commission and fee income trends and recognition;</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Contingent commissions trends and recognition (including by carrier);</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Service and other fee income and their respective cancellation provision, if any;</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Treatment of interest income;</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Treatment of commission splits, if any;</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Cut off;</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Sales, marketing, and advertising activities;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Non-recurring, unusual and/or extraordinary items.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8370805"/>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(2/6)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061216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1303887927"/>
              </p:ext>
            </p:extLst>
          </p:nvPr>
        </p:nvGraphicFramePr>
        <p:xfrm>
          <a:off x="998400" y="1484633"/>
          <a:ext cx="10195200" cy="4385366"/>
        </p:xfrm>
        <a:graphic>
          <a:graphicData uri="http://schemas.openxmlformats.org/drawingml/2006/table">
            <a:tbl>
              <a:tblPr firstRow="1" bandRow="1">
                <a:tableStyleId>{5C22544A-7EE6-4342-B048-85BDC9FD1C3A}</a:tableStyleId>
              </a:tblPr>
              <a:tblGrid>
                <a:gridCol w="1931432">
                  <a:extLst>
                    <a:ext uri="{9D8B030D-6E8A-4147-A177-3AD203B41FA5}">
                      <a16:colId xmlns:a16="http://schemas.microsoft.com/office/drawing/2014/main" val="20000"/>
                    </a:ext>
                  </a:extLst>
                </a:gridCol>
                <a:gridCol w="8263768">
                  <a:extLst>
                    <a:ext uri="{9D8B030D-6E8A-4147-A177-3AD203B41FA5}">
                      <a16:colId xmlns:a16="http://schemas.microsoft.com/office/drawing/2014/main" val="20001"/>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917654">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7. Obtain and read an analysis of the proforma financial statements and inquire about organic vs. acquired revenue growth including:</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Components of organic growth</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Subsequent performance of acquisitions compared to projections at acquisition date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2075356">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sz="1000" b="1" u="none">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8. Obtain and read an analysis of the Company’s expenses and inquire about: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Employee compensation, including incentive bonuses, draws on producer;</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Producer concentration;</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Deferred consideration provided to acquired producer groups;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Transaction expenses;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Other operating and non-operating costs;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Cut off;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Non-recurring, unusual and/or extraordinary items.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5457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9. Obtain analysis of historical headcount and employee compensation (including bonus expense and commission) by office by department.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007617"/>
                  </a:ext>
                </a:extLst>
              </a:tr>
              <a:tr h="645955">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10. Obtain the underlying supporting analysis (i.e. underlying preparation assumptions or due diligence reports) of the impact of prior acquisitions and acquired producers on reported results as if the acquisitions/producers were acquired on January 1,2023.</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8370805"/>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(3/6)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494435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2889615429"/>
              </p:ext>
            </p:extLst>
          </p:nvPr>
        </p:nvGraphicFramePr>
        <p:xfrm>
          <a:off x="998400" y="1484633"/>
          <a:ext cx="10195200" cy="4607939"/>
        </p:xfrm>
        <a:graphic>
          <a:graphicData uri="http://schemas.openxmlformats.org/drawingml/2006/table">
            <a:tbl>
              <a:tblPr firstRow="1" bandRow="1">
                <a:tableStyleId>{5C22544A-7EE6-4342-B048-85BDC9FD1C3A}</a:tableStyleId>
              </a:tblPr>
              <a:tblGrid>
                <a:gridCol w="1931432">
                  <a:extLst>
                    <a:ext uri="{9D8B030D-6E8A-4147-A177-3AD203B41FA5}">
                      <a16:colId xmlns:a16="http://schemas.microsoft.com/office/drawing/2014/main" val="20000"/>
                    </a:ext>
                  </a:extLst>
                </a:gridCol>
                <a:gridCol w="8263768">
                  <a:extLst>
                    <a:ext uri="{9D8B030D-6E8A-4147-A177-3AD203B41FA5}">
                      <a16:colId xmlns:a16="http://schemas.microsoft.com/office/drawing/2014/main" val="20001"/>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73148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performance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11. Summarize potential adjustments identified regarding the profit and loss performance of the Company for 2023, 2024 and LTM 25 in the form of a quality of earnings analysis, summarizing identified risks that may impact earnings before interest, taxes, depreciation and amortization (“EBITDA”).</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654322">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12. Obtain and read an analysis of the Company’s premiums and commissions receivable and other assets and inquire about: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Aging analysis;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Carrier advances;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History of cancellation due to premium delinquency;</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Prepaid expenses;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Other accounts receivable.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930302">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13. Obtain and read an analysis of the Company’s premiums due to insurance companies and other liabilities and inquire about:</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Premiums payable and aging;</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Deferred compensation accrual;</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Accrual for incentive compensation and commission true ups, if any;</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Accrued expenses;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Float position and average balance, if applicable;</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Other current and non-current liabilities; and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007617"/>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(4/6)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508066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4143645894"/>
              </p:ext>
            </p:extLst>
          </p:nvPr>
        </p:nvGraphicFramePr>
        <p:xfrm>
          <a:off x="998400" y="1484633"/>
          <a:ext cx="10195200" cy="4348807"/>
        </p:xfrm>
        <a:graphic>
          <a:graphicData uri="http://schemas.openxmlformats.org/drawingml/2006/table">
            <a:tbl>
              <a:tblPr firstRow="1" bandRow="1">
                <a:tableStyleId>{5C22544A-7EE6-4342-B048-85BDC9FD1C3A}</a:tableStyleId>
              </a:tblPr>
              <a:tblGrid>
                <a:gridCol w="1931432">
                  <a:extLst>
                    <a:ext uri="{9D8B030D-6E8A-4147-A177-3AD203B41FA5}">
                      <a16:colId xmlns:a16="http://schemas.microsoft.com/office/drawing/2014/main" val="20000"/>
                    </a:ext>
                  </a:extLst>
                </a:gridCol>
                <a:gridCol w="8263768">
                  <a:extLst>
                    <a:ext uri="{9D8B030D-6E8A-4147-A177-3AD203B41FA5}">
                      <a16:colId xmlns:a16="http://schemas.microsoft.com/office/drawing/2014/main" val="20001"/>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898402">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14. Inquire about contingent earnout liabilities related to historical acquisitions including:</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Details of each earnout agreement and historical tracking analysis;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Current obligation under US GAAP;</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Expected obligation based on current performance of acquisitions;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Expected obligation based on future performance of acquisitions;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Roll forward of contingent earnout liability as of the most recent month-end;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 Change of control provisions.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215857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15. Inquire about significant commitments and contingent liabilities including:</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Self-insurance;</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Incentive program (including change of control provisions);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Post-retirement benefits;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Unfunded pension;</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Deferred/contingent acquisition costs and earn-outs: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Pending or threatened litigation or investigations by regulatory or other authorities; and</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 Capital expenditures.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(5/6)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31842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2916565654"/>
              </p:ext>
            </p:extLst>
          </p:nvPr>
        </p:nvGraphicFramePr>
        <p:xfrm>
          <a:off x="998220" y="1484633"/>
          <a:ext cx="10195380" cy="4386406"/>
        </p:xfrm>
        <a:graphic>
          <a:graphicData uri="http://schemas.openxmlformats.org/drawingml/2006/table">
            <a:tbl>
              <a:tblPr firstRow="1" bandRow="1">
                <a:tableStyleId>{5C22544A-7EE6-4342-B048-85BDC9FD1C3A}</a:tableStyleId>
              </a:tblPr>
              <a:tblGrid>
                <a:gridCol w="1919067">
                  <a:extLst>
                    <a:ext uri="{9D8B030D-6E8A-4147-A177-3AD203B41FA5}">
                      <a16:colId xmlns:a16="http://schemas.microsoft.com/office/drawing/2014/main" val="20000"/>
                    </a:ext>
                  </a:extLst>
                </a:gridCol>
                <a:gridCol w="8276313">
                  <a:extLst>
                    <a:ext uri="{9D8B030D-6E8A-4147-A177-3AD203B41FA5}">
                      <a16:colId xmlns:a16="http://schemas.microsoft.com/office/drawing/2014/main" val="20001"/>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30212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16. Inquire about whether the Company has entered into leases, sales and purchase commitments or contracts, or has otherwise restricted the use of Company’s assets or has incurred liabilities otherwise not disclosed. Inquire about change-in-control provisions in significant contracts, including employment and union contracts and other equity-related agreements.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20504">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17. Based upon the procedures performed, summarize items identified that you may consider as “debt-like” for consideration in your overall evaluation of the business.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771947">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Financial position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a:ln>
                            <a:noFill/>
                          </a:ln>
                          <a:solidFill>
                            <a:srgbClr val="000000"/>
                          </a:solidFill>
                          <a:effectLst/>
                          <a:uLnTx/>
                          <a:uFillTx/>
                          <a:latin typeface="+mn-lt"/>
                          <a:ea typeface="+mn-ea"/>
                          <a:cs typeface="+mn-cs"/>
                        </a:rPr>
                        <a:t>18. Obtain an analysis of the monthly working capital components for the last two fiscal years and latest year- to-date period and provide comments regarding working capital needs, seasonality and trends identified.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015297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 (6/6)</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Scope of work</a:t>
            </a:r>
          </a:p>
        </p:txBody>
      </p:sp>
      <p:grpSp>
        <p:nvGrpSpPr>
          <p:cNvPr id="17" name="Group 16">
            <a:extLst>
              <a:ext uri="{FF2B5EF4-FFF2-40B4-BE49-F238E27FC236}">
                <a16:creationId xmlns:a16="http://schemas.microsoft.com/office/drawing/2014/main" id="{42FAF721-65D4-24C2-BBE1-37CCCF80BCD1}"/>
              </a:ext>
            </a:extLst>
          </p:cNvPr>
          <p:cNvGrpSpPr/>
          <p:nvPr>
            <p:custDataLst>
              <p:tags r:id="rId4"/>
            </p:custDataLst>
          </p:nvPr>
        </p:nvGrpSpPr>
        <p:grpSpPr>
          <a:xfrm>
            <a:off x="995364" y="153170"/>
            <a:ext cx="4992623" cy="195814"/>
            <a:chOff x="995364" y="153170"/>
            <a:chExt cx="4992623" cy="195814"/>
          </a:xfrm>
        </p:grpSpPr>
        <p:sp>
          <p:nvSpPr>
            <p:cNvPr id="1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2"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638708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2F3C-2862-D0D1-A747-13B964811E2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1C8344-E47D-BA6D-7BB1-C454C2C95E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D21C8344-E47D-BA6D-7BB1-C454C2C95E6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1446B669-2294-89C9-70BE-8BD861C0FC7E}"/>
              </a:ext>
            </a:extLst>
          </p:cNvPr>
          <p:cNvSpPr>
            <a:spLocks noGrp="1"/>
          </p:cNvSpPr>
          <p:nvPr>
            <p:ph type="title"/>
          </p:nvPr>
        </p:nvSpPr>
        <p:spPr>
          <a:xfrm>
            <a:off x="998400" y="431800"/>
            <a:ext cx="10195200" cy="533400"/>
          </a:xfrm>
        </p:spPr>
        <p:txBody>
          <a:bodyPr vert="horz"/>
          <a:lstStyle/>
          <a:p>
            <a:r>
              <a:rPr lang="en-US" dirty="0"/>
              <a:t>Glossary of terms and abbreviations – list of entities</a:t>
            </a:r>
          </a:p>
        </p:txBody>
      </p:sp>
      <p:sp>
        <p:nvSpPr>
          <p:cNvPr id="77" name="UpSlide SubSection Marker" hidden="1">
            <a:extLst>
              <a:ext uri="{FF2B5EF4-FFF2-40B4-BE49-F238E27FC236}">
                <a16:creationId xmlns:a16="http://schemas.microsoft.com/office/drawing/2014/main" id="{7F7D77E4-D5B3-4A8E-9530-CF1E238E94D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Glossary</a:t>
            </a:r>
          </a:p>
        </p:txBody>
      </p:sp>
      <p:graphicFrame>
        <p:nvGraphicFramePr>
          <p:cNvPr id="2" name="Table 1">
            <a:extLst>
              <a:ext uri="{FF2B5EF4-FFF2-40B4-BE49-F238E27FC236}">
                <a16:creationId xmlns:a16="http://schemas.microsoft.com/office/drawing/2014/main" id="{54088FBA-49D8-BF9D-21C3-ABB2ADB5BBDD}"/>
              </a:ext>
            </a:extLst>
          </p:cNvPr>
          <p:cNvGraphicFramePr>
            <a:graphicFrameLocks noGrp="1"/>
          </p:cNvGraphicFramePr>
          <p:nvPr>
            <p:extLst>
              <p:ext uri="{D42A27DB-BD31-4B8C-83A1-F6EECF244321}">
                <p14:modId xmlns:p14="http://schemas.microsoft.com/office/powerpoint/2010/main" val="2176362810"/>
              </p:ext>
            </p:extLst>
          </p:nvPr>
        </p:nvGraphicFramePr>
        <p:xfrm>
          <a:off x="1005649" y="1439586"/>
          <a:ext cx="4975680" cy="2504630"/>
        </p:xfrm>
        <a:graphic>
          <a:graphicData uri="http://schemas.openxmlformats.org/drawingml/2006/table">
            <a:tbl>
              <a:tblPr firstRow="1" bandRow="1"/>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50463">
                <a:tc>
                  <a:txBody>
                    <a:bodyPr/>
                    <a:lstStyle/>
                    <a:p>
                      <a:pPr algn="l" fontAlgn="b"/>
                      <a:r>
                        <a:rPr lang="en-US" sz="900" b="1" i="0" u="none" strike="noStrike" kern="1200">
                          <a:solidFill>
                            <a:schemeClr val="tx2"/>
                          </a:solidFill>
                          <a:effectLst/>
                          <a:latin typeface="+mn-lt"/>
                          <a:ea typeface="+mn-ea"/>
                          <a:cs typeface="+mn-cs"/>
                        </a:rPr>
                        <a:t>AFL</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AFL Groupe Financier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463">
                <a:tc>
                  <a:txBody>
                    <a:bodyPr/>
                    <a:lstStyle/>
                    <a:p>
                      <a:pPr algn="l" fontAlgn="b"/>
                      <a:r>
                        <a:rPr lang="en-US" sz="900" b="1" i="0" u="none" strike="noStrike" kern="1200">
                          <a:solidFill>
                            <a:schemeClr val="tx2"/>
                          </a:solidFill>
                          <a:effectLst/>
                          <a:latin typeface="+mn-lt"/>
                          <a:ea typeface="+mn-ea"/>
                          <a:cs typeface="+mn-cs"/>
                        </a:rPr>
                        <a:t>ASI</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a:solidFill>
                            <a:schemeClr val="tx1"/>
                          </a:solidFill>
                          <a:latin typeface="+mn-lt"/>
                          <a:ea typeface="+mn-ea"/>
                          <a:cs typeface="+mn-cs"/>
                        </a:rPr>
                        <a:t>9114-5219 Québec Inc. (Avantages sociaux intégrés (ASI))</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463">
                <a:tc>
                  <a:txBody>
                    <a:bodyPr/>
                    <a:lstStyle/>
                    <a:p>
                      <a:pPr algn="l" fontAlgn="b"/>
                      <a:r>
                        <a:rPr lang="en-US" sz="900" b="1" i="0" u="none" strike="noStrike" kern="1200">
                          <a:solidFill>
                            <a:schemeClr val="tx2"/>
                          </a:solidFill>
                          <a:effectLst/>
                          <a:latin typeface="+mn-lt"/>
                          <a:ea typeface="+mn-ea"/>
                          <a:cs typeface="+mn-cs"/>
                        </a:rPr>
                        <a:t>CRA </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Couture Rochette &amp; Associés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463">
                <a:tc>
                  <a:txBody>
                    <a:bodyPr/>
                    <a:lstStyle/>
                    <a:p>
                      <a:pPr algn="l" fontAlgn="b"/>
                      <a:r>
                        <a:rPr lang="en-US" sz="900" b="1" i="0" u="none" strike="noStrike" kern="1200">
                          <a:solidFill>
                            <a:schemeClr val="tx2"/>
                          </a:solidFill>
                          <a:effectLst/>
                          <a:latin typeface="+mn-lt"/>
                          <a:ea typeface="+mn-ea"/>
                          <a:cs typeface="+mn-cs"/>
                        </a:rPr>
                        <a:t>DA</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a:solidFill>
                            <a:schemeClr val="tx1"/>
                          </a:solidFill>
                          <a:latin typeface="+mn-lt"/>
                          <a:ea typeface="+mn-ea"/>
                          <a:cs typeface="+mn-cs"/>
                        </a:rPr>
                        <a:t>Deslauriers Assurances Inc. / Deslauriers &amp; Associés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463">
                <a:tc>
                  <a:txBody>
                    <a:bodyPr/>
                    <a:lstStyle/>
                    <a:p>
                      <a:pPr algn="l" fontAlgn="b"/>
                      <a:r>
                        <a:rPr lang="en-US" sz="900" b="1" i="0" u="none" strike="noStrike" kern="1200">
                          <a:solidFill>
                            <a:schemeClr val="tx2"/>
                          </a:solidFill>
                          <a:effectLst/>
                          <a:latin typeface="+mn-lt"/>
                          <a:ea typeface="+mn-ea"/>
                          <a:cs typeface="+mn-cs"/>
                        </a:rPr>
                        <a:t>GTA</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Girard Tremblay &amp; Associés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463">
                <a:tc>
                  <a:txBody>
                    <a:bodyPr/>
                    <a:lstStyle/>
                    <a:p>
                      <a:pPr algn="l" fontAlgn="b"/>
                      <a:r>
                        <a:rPr lang="en-US" sz="900" b="1" i="0" u="none" strike="noStrike" kern="1200">
                          <a:solidFill>
                            <a:schemeClr val="tx2"/>
                          </a:solidFill>
                          <a:effectLst/>
                          <a:latin typeface="+mn-lt"/>
                          <a:ea typeface="+mn-ea"/>
                          <a:cs typeface="+mn-cs"/>
                        </a:rPr>
                        <a:t>GTB</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Goto Benefits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463">
                <a:tc>
                  <a:txBody>
                    <a:bodyPr/>
                    <a:lstStyle/>
                    <a:p>
                      <a:pPr algn="l" fontAlgn="b"/>
                      <a:r>
                        <a:rPr lang="en-US" sz="900" b="1" i="0" u="none" strike="noStrike" kern="1200">
                          <a:solidFill>
                            <a:schemeClr val="tx2"/>
                          </a:solidFill>
                          <a:effectLst/>
                          <a:latin typeface="+mn-lt"/>
                          <a:ea typeface="+mn-ea"/>
                          <a:cs typeface="+mn-cs"/>
                        </a:rPr>
                        <a:t>GTI</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GTI Broker Group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463">
                <a:tc>
                  <a:txBody>
                    <a:bodyPr/>
                    <a:lstStyle/>
                    <a:p>
                      <a:pPr algn="l" fontAlgn="b"/>
                      <a:r>
                        <a:rPr lang="en-US" sz="900" b="1" i="0" u="none" strike="noStrike" kern="1200">
                          <a:solidFill>
                            <a:schemeClr val="tx2"/>
                          </a:solidFill>
                          <a:effectLst/>
                          <a:latin typeface="+mn-lt"/>
                          <a:ea typeface="+mn-ea"/>
                          <a:cs typeface="+mn-cs"/>
                        </a:rPr>
                        <a:t>GTW</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GTW</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463">
                <a:tc>
                  <a:txBody>
                    <a:bodyPr/>
                    <a:lstStyle/>
                    <a:p>
                      <a:pPr algn="l" fontAlgn="b"/>
                      <a:r>
                        <a:rPr lang="en-US" sz="900" b="1" i="0" u="none" strike="noStrike" kern="1200">
                          <a:solidFill>
                            <a:schemeClr val="tx2"/>
                          </a:solidFill>
                          <a:effectLst/>
                          <a:latin typeface="+mn-lt"/>
                          <a:ea typeface="+mn-ea"/>
                          <a:cs typeface="+mn-cs"/>
                        </a:rPr>
                        <a:t>Invessa</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a:solidFill>
                            <a:schemeClr val="tx1"/>
                          </a:solidFill>
                          <a:latin typeface="+mn-lt"/>
                          <a:ea typeface="+mn-ea"/>
                          <a:cs typeface="+mn-cs"/>
                        </a:rPr>
                        <a:t>Invessa Assurances et Services Financiers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463">
                <a:tc>
                  <a:txBody>
                    <a:bodyPr/>
                    <a:lstStyle/>
                    <a:p>
                      <a:pPr algn="l" fontAlgn="b"/>
                      <a:r>
                        <a:rPr lang="en-US" sz="900" b="1" i="0" u="none" strike="noStrike" kern="1200">
                          <a:solidFill>
                            <a:schemeClr val="tx2"/>
                          </a:solidFill>
                          <a:effectLst/>
                          <a:latin typeface="+mn-lt"/>
                          <a:ea typeface="+mn-ea"/>
                          <a:cs typeface="+mn-cs"/>
                        </a:rPr>
                        <a:t>JDF</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a:solidFill>
                            <a:schemeClr val="tx1"/>
                          </a:solidFill>
                          <a:latin typeface="+mn-lt"/>
                          <a:ea typeface="+mn-ea"/>
                          <a:cs typeface="+mn-cs"/>
                        </a:rPr>
                        <a:t>Services financiers JDF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bl>
          </a:graphicData>
        </a:graphic>
      </p:graphicFrame>
      <p:graphicFrame>
        <p:nvGraphicFramePr>
          <p:cNvPr id="12" name="Table 11">
            <a:extLst>
              <a:ext uri="{FF2B5EF4-FFF2-40B4-BE49-F238E27FC236}">
                <a16:creationId xmlns:a16="http://schemas.microsoft.com/office/drawing/2014/main" id="{8E764271-766A-29A4-B0B3-610479B3D35D}"/>
              </a:ext>
            </a:extLst>
          </p:cNvPr>
          <p:cNvGraphicFramePr>
            <a:graphicFrameLocks noGrp="1"/>
          </p:cNvGraphicFramePr>
          <p:nvPr>
            <p:extLst>
              <p:ext uri="{D42A27DB-BD31-4B8C-83A1-F6EECF244321}">
                <p14:modId xmlns:p14="http://schemas.microsoft.com/office/powerpoint/2010/main" val="46661551"/>
              </p:ext>
            </p:extLst>
          </p:nvPr>
        </p:nvGraphicFramePr>
        <p:xfrm>
          <a:off x="6210671" y="1439586"/>
          <a:ext cx="4975680" cy="2504630"/>
        </p:xfrm>
        <a:graphic>
          <a:graphicData uri="http://schemas.openxmlformats.org/drawingml/2006/table">
            <a:tbl>
              <a:tblPr firstRow="1" bandRow="1"/>
              <a:tblGrid>
                <a:gridCol w="1472608">
                  <a:extLst>
                    <a:ext uri="{9D8B030D-6E8A-4147-A177-3AD203B41FA5}">
                      <a16:colId xmlns:a16="http://schemas.microsoft.com/office/drawing/2014/main" val="131748500"/>
                    </a:ext>
                  </a:extLst>
                </a:gridCol>
                <a:gridCol w="3503072">
                  <a:extLst>
                    <a:ext uri="{9D8B030D-6E8A-4147-A177-3AD203B41FA5}">
                      <a16:colId xmlns:a16="http://schemas.microsoft.com/office/drawing/2014/main" val="513532496"/>
                    </a:ext>
                  </a:extLst>
                </a:gridCol>
              </a:tblGrid>
              <a:tr h="250463">
                <a:tc>
                  <a:txBody>
                    <a:bodyPr/>
                    <a:lstStyle/>
                    <a:p>
                      <a:pPr marL="0" algn="l" defTabSz="914400" rtl="0" eaLnBrk="1" fontAlgn="b" latinLnBrk="0" hangingPunct="1"/>
                      <a:r>
                        <a:rPr lang="en-US" sz="900" b="1" i="0" u="none" strike="noStrike" kern="1200" dirty="0">
                          <a:solidFill>
                            <a:schemeClr val="tx2"/>
                          </a:solidFill>
                          <a:effectLst/>
                          <a:latin typeface="+mn-lt"/>
                          <a:ea typeface="+mn-ea"/>
                          <a:cs typeface="+mn-cs"/>
                        </a:rPr>
                        <a:t>JM</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b" latinLnBrk="0" hangingPunct="1"/>
                      <a:r>
                        <a:rPr lang="en-US" sz="900" u="none" kern="1200" dirty="0">
                          <a:solidFill>
                            <a:schemeClr val="tx1"/>
                          </a:solidFill>
                          <a:latin typeface="+mn-lt"/>
                          <a:ea typeface="+mn-ea"/>
                          <a:cs typeface="+mn-cs"/>
                        </a:rPr>
                        <a:t>J.M. &amp; C.W. Hope Grant Ltd.</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9849245"/>
                  </a:ext>
                </a:extLst>
              </a:tr>
              <a:tr h="250463">
                <a:tc>
                  <a:txBody>
                    <a:bodyPr/>
                    <a:lstStyle/>
                    <a:p>
                      <a:pPr algn="l" fontAlgn="b"/>
                      <a:r>
                        <a:rPr lang="en-US" sz="900" b="1" i="0" u="none" strike="noStrike" kern="1200" dirty="0">
                          <a:solidFill>
                            <a:schemeClr val="tx2"/>
                          </a:solidFill>
                          <a:effectLst/>
                          <a:latin typeface="+mn-lt"/>
                          <a:ea typeface="+mn-ea"/>
                          <a:cs typeface="+mn-cs"/>
                        </a:rPr>
                        <a:t>MKH</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MKH Solutions</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4017776"/>
                  </a:ext>
                </a:extLst>
              </a:tr>
              <a:tr h="250463">
                <a:tc>
                  <a:txBody>
                    <a:bodyPr/>
                    <a:lstStyle/>
                    <a:p>
                      <a:pPr algn="l" fontAlgn="b"/>
                      <a:r>
                        <a:rPr lang="en-US" sz="900" b="1" i="0" u="none" strike="noStrike" kern="1200" dirty="0">
                          <a:solidFill>
                            <a:schemeClr val="tx2"/>
                          </a:solidFill>
                          <a:effectLst/>
                          <a:latin typeface="+mn-lt"/>
                          <a:ea typeface="+mn-ea"/>
                          <a:cs typeface="+mn-cs"/>
                        </a:rPr>
                        <a:t>PlanB</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dirty="0">
                          <a:solidFill>
                            <a:schemeClr val="tx1"/>
                          </a:solidFill>
                          <a:latin typeface="+mn-lt"/>
                          <a:ea typeface="+mn-ea"/>
                          <a:cs typeface="+mn-cs"/>
                        </a:rPr>
                        <a:t>Plan B Solutions d'assurances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1701401"/>
                  </a:ext>
                </a:extLst>
              </a:tr>
              <a:tr h="250463">
                <a:tc>
                  <a:txBody>
                    <a:bodyPr/>
                    <a:lstStyle/>
                    <a:p>
                      <a:pPr algn="l" fontAlgn="b"/>
                      <a:r>
                        <a:rPr lang="en-US" sz="900" b="1" i="0" u="none" strike="noStrike" kern="1200" dirty="0">
                          <a:solidFill>
                            <a:schemeClr val="tx2"/>
                          </a:solidFill>
                          <a:effectLst/>
                          <a:latin typeface="+mn-lt"/>
                          <a:ea typeface="+mn-ea"/>
                          <a:cs typeface="+mn-cs"/>
                        </a:rPr>
                        <a:t>RAG</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dirty="0">
                          <a:solidFill>
                            <a:schemeClr val="tx1"/>
                          </a:solidFill>
                          <a:latin typeface="+mn-lt"/>
                          <a:ea typeface="+mn-ea"/>
                          <a:cs typeface="+mn-cs"/>
                        </a:rPr>
                        <a:t>Renaud Assurance et Gestion de Risques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9428844"/>
                  </a:ext>
                </a:extLst>
              </a:tr>
              <a:tr h="250463">
                <a:tc>
                  <a:txBody>
                    <a:bodyPr/>
                    <a:lstStyle/>
                    <a:p>
                      <a:pPr algn="l" fontAlgn="b"/>
                      <a:r>
                        <a:rPr lang="en-US" sz="900" b="1" i="0" u="none" strike="noStrike" kern="1200" dirty="0">
                          <a:solidFill>
                            <a:schemeClr val="tx2"/>
                          </a:solidFill>
                          <a:effectLst/>
                          <a:latin typeface="+mn-lt"/>
                          <a:ea typeface="+mn-ea"/>
                          <a:cs typeface="+mn-cs"/>
                        </a:rPr>
                        <a:t>SAC</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Synex Assurance Canada</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8562580"/>
                  </a:ext>
                </a:extLst>
              </a:tr>
              <a:tr h="250463">
                <a:tc>
                  <a:txBody>
                    <a:bodyPr/>
                    <a:lstStyle/>
                    <a:p>
                      <a:pPr algn="l" fontAlgn="b"/>
                      <a:r>
                        <a:rPr lang="en-US" sz="900" b="1" i="0" u="none" strike="noStrike" kern="1200" dirty="0">
                          <a:solidFill>
                            <a:schemeClr val="tx2"/>
                          </a:solidFill>
                          <a:effectLst/>
                          <a:latin typeface="+mn-lt"/>
                          <a:ea typeface="+mn-ea"/>
                          <a:cs typeface="+mn-cs"/>
                        </a:rPr>
                        <a:t>SAH </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Synex Auto Habitation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2791094"/>
                  </a:ext>
                </a:extLst>
              </a:tr>
              <a:tr h="250463">
                <a:tc>
                  <a:txBody>
                    <a:bodyPr/>
                    <a:lstStyle/>
                    <a:p>
                      <a:pPr algn="l" fontAlgn="b"/>
                      <a:r>
                        <a:rPr lang="en-US" sz="900" b="1" i="0" u="none" strike="noStrike" kern="1200" dirty="0">
                          <a:solidFill>
                            <a:schemeClr val="tx2"/>
                          </a:solidFill>
                          <a:effectLst/>
                          <a:latin typeface="+mn-lt"/>
                          <a:ea typeface="+mn-ea"/>
                          <a:cs typeface="+mn-cs"/>
                        </a:rPr>
                        <a:t>SFEL</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fr-FR" sz="900" u="none" kern="1200" dirty="0">
                          <a:solidFill>
                            <a:schemeClr val="tx1"/>
                          </a:solidFill>
                          <a:latin typeface="+mn-lt"/>
                          <a:ea typeface="+mn-ea"/>
                          <a:cs typeface="+mn-cs"/>
                        </a:rPr>
                        <a:t>Les services financiers Éric Lervert Inc. </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5673350"/>
                  </a:ext>
                </a:extLst>
              </a:tr>
              <a:tr h="250463">
                <a:tc>
                  <a:txBody>
                    <a:bodyPr/>
                    <a:lstStyle/>
                    <a:p>
                      <a:pPr algn="l" fontAlgn="b"/>
                      <a:r>
                        <a:rPr lang="en-US" sz="900" b="1" i="0" u="none" strike="noStrike" kern="1200" dirty="0">
                          <a:solidFill>
                            <a:schemeClr val="tx2"/>
                          </a:solidFill>
                          <a:effectLst/>
                          <a:latin typeface="+mn-lt"/>
                          <a:ea typeface="+mn-ea"/>
                          <a:cs typeface="+mn-cs"/>
                        </a:rPr>
                        <a:t>Sharp</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Sharp Insurance Brokers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746679"/>
                  </a:ext>
                </a:extLst>
              </a:tr>
              <a:tr h="250463">
                <a:tc>
                  <a:txBody>
                    <a:bodyPr/>
                    <a:lstStyle/>
                    <a:p>
                      <a:pPr algn="l" fontAlgn="b"/>
                      <a:r>
                        <a:rPr lang="en-US" sz="900" b="1" i="0" u="none" strike="noStrike" kern="1200" dirty="0">
                          <a:solidFill>
                            <a:schemeClr val="tx2"/>
                          </a:solidFill>
                          <a:effectLst/>
                          <a:latin typeface="+mn-lt"/>
                          <a:ea typeface="+mn-ea"/>
                          <a:cs typeface="+mn-cs"/>
                        </a:rPr>
                        <a:t>SMG</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Alliance SMG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4360591"/>
                  </a:ext>
                </a:extLst>
              </a:tr>
              <a:tr h="250463">
                <a:tc>
                  <a:txBody>
                    <a:bodyPr/>
                    <a:lstStyle/>
                    <a:p>
                      <a:pPr algn="l" fontAlgn="b"/>
                      <a:r>
                        <a:rPr lang="en-US" sz="900" b="1" i="0" u="none" strike="noStrike" kern="1200" dirty="0">
                          <a:solidFill>
                            <a:schemeClr val="tx2"/>
                          </a:solidFill>
                          <a:effectLst/>
                          <a:latin typeface="+mn-lt"/>
                          <a:ea typeface="+mn-ea"/>
                          <a:cs typeface="+mn-cs"/>
                        </a:rPr>
                        <a:t>ZLC </a:t>
                      </a:r>
                    </a:p>
                  </a:txBody>
                  <a:tcPr marL="6350" marR="6350" marT="635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kern="1200" dirty="0">
                          <a:solidFill>
                            <a:schemeClr val="tx1"/>
                          </a:solidFill>
                          <a:latin typeface="+mn-lt"/>
                          <a:ea typeface="+mn-ea"/>
                          <a:cs typeface="+mn-cs"/>
                        </a:rPr>
                        <a:t>ZLC Employee Benefits Solutions inc.</a:t>
                      </a:r>
                    </a:p>
                  </a:txBody>
                  <a:tcPr marL="6350" marR="6350" marT="635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5773099"/>
                  </a:ext>
                </a:extLst>
              </a:tr>
            </a:tbl>
          </a:graphicData>
        </a:graphic>
      </p:graphicFrame>
      <p:grpSp>
        <p:nvGrpSpPr>
          <p:cNvPr id="18" name="Group 17">
            <a:extLst>
              <a:ext uri="{FF2B5EF4-FFF2-40B4-BE49-F238E27FC236}">
                <a16:creationId xmlns:a16="http://schemas.microsoft.com/office/drawing/2014/main" id="{42FAF721-65D4-24C2-BBE1-37CCCF80BCD1}"/>
              </a:ext>
            </a:extLst>
          </p:cNvPr>
          <p:cNvGrpSpPr/>
          <p:nvPr>
            <p:custDataLst>
              <p:tags r:id="rId3"/>
            </p:custDataLst>
          </p:nvPr>
        </p:nvGrpSpPr>
        <p:grpSpPr>
          <a:xfrm>
            <a:off x="995364" y="153170"/>
            <a:ext cx="4992623" cy="195814"/>
            <a:chOff x="995364" y="153170"/>
            <a:chExt cx="4992623" cy="195814"/>
          </a:xfrm>
        </p:grpSpPr>
        <p:sp>
          <p:nvSpPr>
            <p:cNvPr id="1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2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1"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3" name="Current Section5">
              <a:hlinkClick r:id="rId11"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220601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 (1/2)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Glossary</a:t>
            </a:r>
          </a:p>
        </p:txBody>
      </p:sp>
      <p:graphicFrame>
        <p:nvGraphicFramePr>
          <p:cNvPr id="417" name="Table 416">
            <a:extLst>
              <a:ext uri="{FF2B5EF4-FFF2-40B4-BE49-F238E27FC236}">
                <a16:creationId xmlns:a16="http://schemas.microsoft.com/office/drawing/2014/main" id="{C77E942C-D445-2B0F-C377-AB767B06E16B}"/>
              </a:ext>
            </a:extLst>
          </p:cNvPr>
          <p:cNvGraphicFramePr>
            <a:graphicFrameLocks noGrp="1"/>
          </p:cNvGraphicFramePr>
          <p:nvPr>
            <p:extLst>
              <p:ext uri="{D42A27DB-BD31-4B8C-83A1-F6EECF244321}">
                <p14:modId xmlns:p14="http://schemas.microsoft.com/office/powerpoint/2010/main" val="3277739427"/>
              </p:ext>
            </p:extLst>
          </p:nvPr>
        </p:nvGraphicFramePr>
        <p:xfrm>
          <a:off x="6220960" y="1377525"/>
          <a:ext cx="4975680" cy="4490720"/>
        </p:xfrm>
        <a:graphic>
          <a:graphicData uri="http://schemas.openxmlformats.org/drawingml/2006/table">
            <a:tbl>
              <a:tblPr firstRow="1" bandRow="1"/>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80670">
                <a:tc>
                  <a:txBody>
                    <a:bodyPr/>
                    <a:lstStyle/>
                    <a:p>
                      <a:pPr algn="l" rtl="0" fontAlgn="b"/>
                      <a:r>
                        <a:rPr lang="en-US" sz="900" b="1" i="0" u="none" strike="noStrike">
                          <a:solidFill>
                            <a:srgbClr val="00338D"/>
                          </a:solidFill>
                          <a:effectLst/>
                          <a:latin typeface="Arial" panose="020B0604020202020204" pitchFamily="34" charset="0"/>
                        </a:rPr>
                        <a:t>FY</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Financial year-end</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0670">
                <a:tc>
                  <a:txBody>
                    <a:bodyPr/>
                    <a:lstStyle/>
                    <a:p>
                      <a:pPr algn="l" rtl="0" fontAlgn="b"/>
                      <a:r>
                        <a:rPr lang="en-US" sz="900" b="1" i="0" u="none" strike="noStrike">
                          <a:solidFill>
                            <a:srgbClr val="00338D"/>
                          </a:solidFill>
                          <a:effectLst/>
                          <a:latin typeface="Arial" panose="020B0604020202020204" pitchFamily="34" charset="0"/>
                        </a:rPr>
                        <a:t>KPI</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Key performance indicator</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9853040"/>
                  </a:ext>
                </a:extLst>
              </a:tr>
              <a:tr h="280670">
                <a:tc>
                  <a:txBody>
                    <a:bodyPr/>
                    <a:lstStyle/>
                    <a:p>
                      <a:pPr algn="l" rtl="0" fontAlgn="b"/>
                      <a:r>
                        <a:rPr lang="en-US" sz="900" b="1" i="0" u="none" strike="noStrike">
                          <a:solidFill>
                            <a:srgbClr val="00338D"/>
                          </a:solidFill>
                          <a:effectLst/>
                          <a:latin typeface="Arial" panose="020B0604020202020204" pitchFamily="34" charset="0"/>
                        </a:rPr>
                        <a:t>LLC</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Limited Liability Corporation</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941951"/>
                  </a:ext>
                </a:extLst>
              </a:tr>
              <a:tr h="280670">
                <a:tc>
                  <a:txBody>
                    <a:bodyPr/>
                    <a:lstStyle/>
                    <a:p>
                      <a:pPr algn="l" rtl="0" fontAlgn="b"/>
                      <a:r>
                        <a:rPr lang="en-US" sz="900" b="1" i="0" u="none" strike="noStrike">
                          <a:solidFill>
                            <a:srgbClr val="00338D"/>
                          </a:solidFill>
                          <a:effectLst/>
                          <a:latin typeface="Arial" panose="020B0604020202020204" pitchFamily="34" charset="0"/>
                        </a:rPr>
                        <a:t>LLP</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Limited liability Partnership</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0471840"/>
                  </a:ext>
                </a:extLst>
              </a:tr>
              <a:tr h="280670">
                <a:tc>
                  <a:txBody>
                    <a:bodyPr/>
                    <a:lstStyle/>
                    <a:p>
                      <a:pPr algn="l" rtl="0" fontAlgn="b"/>
                      <a:r>
                        <a:rPr lang="en-US" sz="900" b="1" i="0" u="none" strike="noStrike">
                          <a:solidFill>
                            <a:srgbClr val="00338D"/>
                          </a:solidFill>
                          <a:effectLst/>
                          <a:latin typeface="Arial" panose="020B0604020202020204" pitchFamily="34" charset="0"/>
                        </a:rPr>
                        <a:t>LOI</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Letter of intent</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0925564"/>
                  </a:ext>
                </a:extLst>
              </a:tr>
              <a:tr h="280670">
                <a:tc>
                  <a:txBody>
                    <a:bodyPr/>
                    <a:lstStyle/>
                    <a:p>
                      <a:pPr algn="l" rtl="0" fontAlgn="b"/>
                      <a:r>
                        <a:rPr lang="en-US" sz="900" b="1" i="0" u="none" strike="noStrike">
                          <a:solidFill>
                            <a:srgbClr val="00338D"/>
                          </a:solidFill>
                          <a:effectLst/>
                          <a:latin typeface="Arial" panose="020B0604020202020204" pitchFamily="34" charset="0"/>
                        </a:rPr>
                        <a:t>LTIP</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Long-term incentive plan</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1869071"/>
                  </a:ext>
                </a:extLst>
              </a:tr>
              <a:tr h="280670">
                <a:tc>
                  <a:txBody>
                    <a:bodyPr/>
                    <a:lstStyle/>
                    <a:p>
                      <a:pPr algn="l" rtl="0" fontAlgn="b"/>
                      <a:r>
                        <a:rPr lang="en-US" sz="900" b="1" i="0" u="none" strike="noStrike">
                          <a:solidFill>
                            <a:srgbClr val="00338D"/>
                          </a:solidFill>
                          <a:effectLst/>
                          <a:latin typeface="Arial" panose="020B0604020202020204" pitchFamily="34" charset="0"/>
                        </a:rPr>
                        <a:t>LTM</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Last twelve months</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551502"/>
                  </a:ext>
                </a:extLst>
              </a:tr>
              <a:tr h="280670">
                <a:tc>
                  <a:txBody>
                    <a:bodyPr/>
                    <a:lstStyle/>
                    <a:p>
                      <a:pPr algn="l" rtl="0" fontAlgn="b"/>
                      <a:r>
                        <a:rPr lang="en-US" sz="900" b="1" i="0" u="none" strike="noStrike">
                          <a:solidFill>
                            <a:srgbClr val="00338D"/>
                          </a:solidFill>
                          <a:effectLst/>
                          <a:latin typeface="Arial" panose="020B0604020202020204" pitchFamily="34" charset="0"/>
                        </a:rPr>
                        <a:t>M&amp;A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Merger and acquisition</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8668406"/>
                  </a:ext>
                </a:extLst>
              </a:tr>
              <a:tr h="280670">
                <a:tc>
                  <a:txBody>
                    <a:bodyPr/>
                    <a:lstStyle/>
                    <a:p>
                      <a:pPr algn="l" rtl="0" fontAlgn="b"/>
                      <a:r>
                        <a:rPr lang="en-US" sz="900" b="1" i="0" u="none" strike="noStrike">
                          <a:solidFill>
                            <a:srgbClr val="00338D"/>
                          </a:solidFill>
                          <a:effectLst/>
                          <a:latin typeface="Arial" panose="020B0604020202020204" pitchFamily="34" charset="0"/>
                        </a:rPr>
                        <a:t>Management</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Management of the Company</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80670">
                <a:tc>
                  <a:txBody>
                    <a:bodyPr/>
                    <a:lstStyle/>
                    <a:p>
                      <a:pPr algn="l" rtl="0" fontAlgn="b"/>
                      <a:r>
                        <a:rPr lang="en-US" sz="900" b="1" i="0" u="none" strike="noStrike">
                          <a:solidFill>
                            <a:srgbClr val="00338D"/>
                          </a:solidFill>
                          <a:effectLst/>
                          <a:latin typeface="Arial" panose="020B0604020202020204" pitchFamily="34" charset="0"/>
                        </a:rPr>
                        <a:t>MGA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Managing general agent </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80670">
                <a:tc>
                  <a:txBody>
                    <a:bodyPr/>
                    <a:lstStyle/>
                    <a:p>
                      <a:pPr algn="l" rtl="0" fontAlgn="b"/>
                      <a:r>
                        <a:rPr lang="en-US" sz="900" b="1" i="0" u="none" strike="noStrike">
                          <a:solidFill>
                            <a:srgbClr val="00338D"/>
                          </a:solidFill>
                          <a:effectLst/>
                          <a:latin typeface="Arial" panose="020B0604020202020204" pitchFamily="34" charset="0"/>
                        </a:rPr>
                        <a:t>NWC</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Net working capital</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80670">
                <a:tc>
                  <a:txBody>
                    <a:bodyPr/>
                    <a:lstStyle/>
                    <a:p>
                      <a:pPr algn="l" rtl="0" fontAlgn="b"/>
                      <a:r>
                        <a:rPr lang="en-US" sz="900" b="1" i="0" u="none" strike="noStrike">
                          <a:solidFill>
                            <a:srgbClr val="00338D"/>
                          </a:solidFill>
                          <a:effectLst/>
                          <a:latin typeface="Arial" panose="020B0604020202020204" pitchFamily="34" charset="0"/>
                        </a:rPr>
                        <a:t>P&amp;C</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Property and casualty</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80670">
                <a:tc>
                  <a:txBody>
                    <a:bodyPr/>
                    <a:lstStyle/>
                    <a:p>
                      <a:pPr algn="l" rtl="0" fontAlgn="b"/>
                      <a:r>
                        <a:rPr lang="en-US" sz="900" b="1" i="0" u="none" strike="noStrike">
                          <a:solidFill>
                            <a:srgbClr val="00338D"/>
                          </a:solidFill>
                          <a:effectLst/>
                          <a:latin typeface="Arial" panose="020B0604020202020204" pitchFamily="34" charset="0"/>
                        </a:rPr>
                        <a:t>p.a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per annum</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80670">
                <a:tc>
                  <a:txBody>
                    <a:bodyPr/>
                    <a:lstStyle/>
                    <a:p>
                      <a:pPr algn="l" rtl="0" fontAlgn="b"/>
                      <a:r>
                        <a:rPr lang="en-US" sz="900" b="1" i="0" u="none" strike="noStrike">
                          <a:solidFill>
                            <a:srgbClr val="00338D"/>
                          </a:solidFill>
                          <a:effectLst/>
                          <a:latin typeface="Arial" panose="020B0604020202020204" pitchFamily="34" charset="0"/>
                        </a:rPr>
                        <a:t>PF</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Pro forma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80670">
                <a:tc>
                  <a:txBody>
                    <a:bodyPr/>
                    <a:lstStyle/>
                    <a:p>
                      <a:pPr algn="l" rtl="0" fontAlgn="b"/>
                      <a:r>
                        <a:rPr lang="en-US" sz="900" b="1" i="0" u="none" strike="noStrike">
                          <a:solidFill>
                            <a:srgbClr val="00338D"/>
                          </a:solidFill>
                          <a:effectLst/>
                          <a:latin typeface="Arial" panose="020B0604020202020204" pitchFamily="34" charset="0"/>
                        </a:rPr>
                        <a:t>QoE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Quality of earnings</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80670">
                <a:tc>
                  <a:txBody>
                    <a:bodyPr/>
                    <a:lstStyle/>
                    <a:p>
                      <a:pPr algn="l" rtl="0" fontAlgn="b"/>
                      <a:r>
                        <a:rPr lang="en-US" sz="900" b="1" i="0" u="none" strike="noStrike">
                          <a:solidFill>
                            <a:srgbClr val="00338D"/>
                          </a:solidFill>
                          <a:effectLst/>
                          <a:latin typeface="Arial" panose="020B0604020202020204" pitchFamily="34" charset="0"/>
                        </a:rPr>
                        <a:t>R&amp;D</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Research and development</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616051"/>
                  </a:ext>
                </a:extLst>
              </a:tr>
            </a:tbl>
          </a:graphicData>
        </a:graphic>
      </p:graphicFrame>
      <p:graphicFrame>
        <p:nvGraphicFramePr>
          <p:cNvPr id="10" name="Table 9">
            <a:extLst>
              <a:ext uri="{FF2B5EF4-FFF2-40B4-BE49-F238E27FC236}">
                <a16:creationId xmlns:a16="http://schemas.microsoft.com/office/drawing/2014/main" id="{57512170-743C-537E-C992-A9523BCBC883}"/>
              </a:ext>
            </a:extLst>
          </p:cNvPr>
          <p:cNvGraphicFramePr>
            <a:graphicFrameLocks noGrp="1"/>
          </p:cNvGraphicFramePr>
          <p:nvPr>
            <p:extLst>
              <p:ext uri="{D42A27DB-BD31-4B8C-83A1-F6EECF244321}">
                <p14:modId xmlns:p14="http://schemas.microsoft.com/office/powerpoint/2010/main" val="4099393221"/>
              </p:ext>
            </p:extLst>
          </p:nvPr>
        </p:nvGraphicFramePr>
        <p:xfrm>
          <a:off x="995361" y="1377525"/>
          <a:ext cx="4975680" cy="4490720"/>
        </p:xfrm>
        <a:graphic>
          <a:graphicData uri="http://schemas.openxmlformats.org/drawingml/2006/table">
            <a:tbl>
              <a:tblPr firstRow="1" bandRow="1"/>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80670">
                <a:tc>
                  <a:txBody>
                    <a:bodyPr/>
                    <a:lstStyle/>
                    <a:p>
                      <a:pPr algn="l" rtl="0" fontAlgn="b"/>
                      <a:r>
                        <a:rPr lang="en-US" sz="900" b="1" i="0" u="none" strike="noStrike">
                          <a:solidFill>
                            <a:srgbClr val="00338D"/>
                          </a:solidFill>
                          <a:effectLst/>
                          <a:latin typeface="Arial" panose="020B0604020202020204" pitchFamily="34" charset="0"/>
                        </a:rPr>
                        <a:t>AP</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Accounts payable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0670">
                <a:tc>
                  <a:txBody>
                    <a:bodyPr/>
                    <a:lstStyle/>
                    <a:p>
                      <a:pPr algn="l" rtl="0" fontAlgn="b"/>
                      <a:r>
                        <a:rPr lang="en-US" sz="900" b="1" i="0" u="none" strike="noStrike">
                          <a:solidFill>
                            <a:srgbClr val="00338D"/>
                          </a:solidFill>
                          <a:effectLst/>
                          <a:latin typeface="Arial" panose="020B0604020202020204" pitchFamily="34" charset="0"/>
                        </a:rPr>
                        <a:t>AR</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Accounts receivable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9853040"/>
                  </a:ext>
                </a:extLst>
              </a:tr>
              <a:tr h="280670">
                <a:tc>
                  <a:txBody>
                    <a:bodyPr/>
                    <a:lstStyle/>
                    <a:p>
                      <a:pPr algn="l" rtl="0" fontAlgn="b"/>
                      <a:r>
                        <a:rPr lang="en-US" sz="900" b="1" i="0" u="none" strike="noStrike">
                          <a:solidFill>
                            <a:srgbClr val="00338D"/>
                          </a:solidFill>
                          <a:effectLst/>
                          <a:latin typeface="Arial" panose="020B0604020202020204" pitchFamily="34" charset="0"/>
                        </a:rPr>
                        <a:t>ASPE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Accounting standards for private enterprises</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941951"/>
                  </a:ext>
                </a:extLst>
              </a:tr>
              <a:tr h="280670">
                <a:tc>
                  <a:txBody>
                    <a:bodyPr/>
                    <a:lstStyle/>
                    <a:p>
                      <a:pPr algn="l" rtl="0" fontAlgn="b"/>
                      <a:r>
                        <a:rPr lang="en-US" sz="900" b="1" i="0" u="none" strike="noStrike">
                          <a:solidFill>
                            <a:srgbClr val="00338D"/>
                          </a:solidFill>
                          <a:effectLst/>
                          <a:latin typeface="Arial" panose="020B0604020202020204" pitchFamily="34" charset="0"/>
                        </a:rPr>
                        <a:t>BMB</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BMB Assurances Inc. </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0471840"/>
                  </a:ext>
                </a:extLst>
              </a:tr>
              <a:tr h="280670">
                <a:tc>
                  <a:txBody>
                    <a:bodyPr/>
                    <a:lstStyle/>
                    <a:p>
                      <a:pPr algn="l" rtl="0" fontAlgn="b"/>
                      <a:r>
                        <a:rPr lang="en-US" sz="900" b="1" i="0" u="none" strike="noStrike">
                          <a:solidFill>
                            <a:srgbClr val="00338D"/>
                          </a:solidFill>
                          <a:effectLst/>
                          <a:latin typeface="Arial" panose="020B0604020202020204" pitchFamily="34" charset="0"/>
                        </a:rPr>
                        <a:t>CAD</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Canadian Dollar</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0925564"/>
                  </a:ext>
                </a:extLst>
              </a:tr>
              <a:tr h="280670">
                <a:tc>
                  <a:txBody>
                    <a:bodyPr/>
                    <a:lstStyle/>
                    <a:p>
                      <a:pPr algn="l" rtl="0" fontAlgn="b"/>
                      <a:r>
                        <a:rPr lang="en-US" sz="900" b="1" i="0" u="none" strike="noStrike">
                          <a:solidFill>
                            <a:srgbClr val="00338D"/>
                          </a:solidFill>
                          <a:effectLst/>
                          <a:latin typeface="Arial" panose="020B0604020202020204" pitchFamily="34" charset="0"/>
                        </a:rPr>
                        <a:t>CAGR</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Compound annual growth rate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1869071"/>
                  </a:ext>
                </a:extLst>
              </a:tr>
              <a:tr h="280670">
                <a:tc>
                  <a:txBody>
                    <a:bodyPr/>
                    <a:lstStyle/>
                    <a:p>
                      <a:pPr algn="l" rtl="0" fontAlgn="b"/>
                      <a:r>
                        <a:rPr lang="en-US" sz="900" b="1" i="0" u="none" strike="noStrike">
                          <a:solidFill>
                            <a:srgbClr val="00338D"/>
                          </a:solidFill>
                          <a:effectLst/>
                          <a:latin typeface="Arial" panose="020B0604020202020204" pitchFamily="34" charset="0"/>
                        </a:rPr>
                        <a:t>Capex</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Capital expenditure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551502"/>
                  </a:ext>
                </a:extLst>
              </a:tr>
              <a:tr h="280670">
                <a:tc>
                  <a:txBody>
                    <a:bodyPr/>
                    <a:lstStyle/>
                    <a:p>
                      <a:pPr algn="l" rtl="0" fontAlgn="b"/>
                      <a:r>
                        <a:rPr lang="en-US" sz="900" b="1" i="0" u="none" strike="noStrike">
                          <a:solidFill>
                            <a:srgbClr val="00338D"/>
                          </a:solidFill>
                          <a:effectLst/>
                          <a:latin typeface="Arial" panose="020B0604020202020204" pitchFamily="34" charset="0"/>
                        </a:rPr>
                        <a:t>CBN</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Canadian Broker Network</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8668406"/>
                  </a:ext>
                </a:extLst>
              </a:tr>
              <a:tr h="280670">
                <a:tc>
                  <a:txBody>
                    <a:bodyPr/>
                    <a:lstStyle/>
                    <a:p>
                      <a:pPr algn="l" rtl="0" fontAlgn="b"/>
                      <a:r>
                        <a:rPr lang="en-US" sz="900" b="1" i="0" u="none" strike="noStrike">
                          <a:solidFill>
                            <a:srgbClr val="00338D"/>
                          </a:solidFill>
                          <a:effectLst/>
                          <a:latin typeface="Arial" panose="020B0604020202020204" pitchFamily="34" charset="0"/>
                        </a:rPr>
                        <a:t>CLI</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Cal LeGrow Insurance &amp; Financial Group</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80670">
                <a:tc>
                  <a:txBody>
                    <a:bodyPr/>
                    <a:lstStyle/>
                    <a:p>
                      <a:pPr algn="l" rtl="0" fontAlgn="b"/>
                      <a:r>
                        <a:rPr lang="en-US" sz="900" b="1" i="0" u="none" strike="noStrike">
                          <a:solidFill>
                            <a:srgbClr val="00338D"/>
                          </a:solidFill>
                          <a:effectLst/>
                          <a:latin typeface="Arial" panose="020B0604020202020204" pitchFamily="34" charset="0"/>
                        </a:rPr>
                        <a:t>CPC</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Contingent profit commission </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80670">
                <a:tc>
                  <a:txBody>
                    <a:bodyPr/>
                    <a:lstStyle/>
                    <a:p>
                      <a:pPr algn="l" rtl="0" fontAlgn="b"/>
                      <a:r>
                        <a:rPr lang="en-US" sz="900" b="1" i="0" u="none" strike="noStrike">
                          <a:solidFill>
                            <a:srgbClr val="00338D"/>
                          </a:solidFill>
                          <a:effectLst/>
                          <a:latin typeface="Arial" panose="020B0604020202020204" pitchFamily="34" charset="0"/>
                        </a:rPr>
                        <a:t>CVO</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Chief  Vision Officer</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80670">
                <a:tc>
                  <a:txBody>
                    <a:bodyPr/>
                    <a:lstStyle/>
                    <a:p>
                      <a:pPr algn="l" rtl="0" fontAlgn="b"/>
                      <a:r>
                        <a:rPr lang="en-US" sz="900" b="1" i="0" u="none" strike="noStrike">
                          <a:solidFill>
                            <a:srgbClr val="00338D"/>
                          </a:solidFill>
                          <a:effectLst/>
                          <a:latin typeface="Arial" panose="020B0604020202020204" pitchFamily="34" charset="0"/>
                        </a:rPr>
                        <a:t>DPO</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Days payable outstanding</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80670">
                <a:tc>
                  <a:txBody>
                    <a:bodyPr/>
                    <a:lstStyle/>
                    <a:p>
                      <a:pPr algn="l" rtl="0" fontAlgn="b"/>
                      <a:r>
                        <a:rPr lang="en-US" sz="900" b="1" i="0" u="none" strike="noStrike">
                          <a:solidFill>
                            <a:srgbClr val="00338D"/>
                          </a:solidFill>
                          <a:effectLst/>
                          <a:latin typeface="Arial" panose="020B0604020202020204" pitchFamily="34" charset="0"/>
                        </a:rPr>
                        <a:t>EBITDA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Earnings before interest, tax, depreciation and amortization</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80670">
                <a:tc>
                  <a:txBody>
                    <a:bodyPr/>
                    <a:lstStyle/>
                    <a:p>
                      <a:pPr algn="l" rtl="0" fontAlgn="b"/>
                      <a:r>
                        <a:rPr lang="en-US" sz="900" b="1" i="0" u="none" strike="noStrike">
                          <a:solidFill>
                            <a:srgbClr val="00338D"/>
                          </a:solidFill>
                          <a:effectLst/>
                          <a:latin typeface="Arial" panose="020B0604020202020204" pitchFamily="34" charset="0"/>
                        </a:rPr>
                        <a:t>EY</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Ernst and Young</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80670">
                <a:tc>
                  <a:txBody>
                    <a:bodyPr/>
                    <a:lstStyle/>
                    <a:p>
                      <a:pPr algn="l" rtl="0" fontAlgn="b"/>
                      <a:r>
                        <a:rPr lang="en-US" sz="900" b="1" i="0" u="none" strike="noStrike">
                          <a:solidFill>
                            <a:srgbClr val="00338D"/>
                          </a:solidFill>
                          <a:effectLst/>
                          <a:latin typeface="Arial" panose="020B0604020202020204" pitchFamily="34" charset="0"/>
                        </a:rPr>
                        <a:t>FTE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Full-time equivalent</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80670">
                <a:tc>
                  <a:txBody>
                    <a:bodyPr/>
                    <a:lstStyle/>
                    <a:p>
                      <a:pPr algn="l" rtl="0" fontAlgn="b"/>
                      <a:r>
                        <a:rPr lang="en-US" sz="900" b="1" i="0" u="none" strike="noStrike">
                          <a:solidFill>
                            <a:srgbClr val="00338D"/>
                          </a:solidFill>
                          <a:effectLst/>
                          <a:latin typeface="Arial" panose="020B0604020202020204" pitchFamily="34" charset="0"/>
                        </a:rPr>
                        <a:t>FX</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Foreign exchange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616051"/>
                  </a:ext>
                </a:extLst>
              </a:tr>
            </a:tbl>
          </a:graphicData>
        </a:graphic>
      </p:graphicFrame>
      <p:grpSp>
        <p:nvGrpSpPr>
          <p:cNvPr id="17" name="Group 16">
            <a:extLst>
              <a:ext uri="{FF2B5EF4-FFF2-40B4-BE49-F238E27FC236}">
                <a16:creationId xmlns:a16="http://schemas.microsoft.com/office/drawing/2014/main" id="{42FAF721-65D4-24C2-BBE1-37CCCF80BCD1}"/>
              </a:ext>
            </a:extLst>
          </p:cNvPr>
          <p:cNvGrpSpPr/>
          <p:nvPr>
            <p:custDataLst>
              <p:tags r:id="rId3"/>
            </p:custDataLst>
          </p:nvPr>
        </p:nvGrpSpPr>
        <p:grpSpPr>
          <a:xfrm>
            <a:off x="995364" y="153170"/>
            <a:ext cx="4992623" cy="195814"/>
            <a:chOff x="995364" y="153170"/>
            <a:chExt cx="4992623" cy="195814"/>
          </a:xfrm>
        </p:grpSpPr>
        <p:sp>
          <p:nvSpPr>
            <p:cNvPr id="18"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9"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20"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1"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2" name="Current Section5">
              <a:hlinkClick r:id="rId11"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136385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 (2/2)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Glossary</a:t>
            </a:r>
          </a:p>
        </p:txBody>
      </p:sp>
      <p:graphicFrame>
        <p:nvGraphicFramePr>
          <p:cNvPr id="417" name="Table 416">
            <a:extLst>
              <a:ext uri="{FF2B5EF4-FFF2-40B4-BE49-F238E27FC236}">
                <a16:creationId xmlns:a16="http://schemas.microsoft.com/office/drawing/2014/main" id="{C77E942C-D445-2B0F-C377-AB767B06E16B}"/>
              </a:ext>
            </a:extLst>
          </p:cNvPr>
          <p:cNvGraphicFramePr>
            <a:graphicFrameLocks noGrp="1"/>
          </p:cNvGraphicFramePr>
          <p:nvPr>
            <p:extLst>
              <p:ext uri="{D42A27DB-BD31-4B8C-83A1-F6EECF244321}">
                <p14:modId xmlns:p14="http://schemas.microsoft.com/office/powerpoint/2010/main" val="4014472825"/>
              </p:ext>
            </p:extLst>
          </p:nvPr>
        </p:nvGraphicFramePr>
        <p:xfrm>
          <a:off x="1012307" y="1359822"/>
          <a:ext cx="4975680" cy="1122680"/>
        </p:xfrm>
        <a:graphic>
          <a:graphicData uri="http://schemas.openxmlformats.org/drawingml/2006/table">
            <a:tbl>
              <a:tblPr firstRow="1" bandRow="1"/>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80670">
                <a:tc>
                  <a:txBody>
                    <a:bodyPr/>
                    <a:lstStyle/>
                    <a:p>
                      <a:pPr algn="l" rtl="0" fontAlgn="b"/>
                      <a:r>
                        <a:rPr lang="en-US" sz="900" b="1" i="0" u="none" strike="noStrike">
                          <a:solidFill>
                            <a:srgbClr val="00338D"/>
                          </a:solidFill>
                          <a:effectLst/>
                          <a:latin typeface="Arial" panose="020B0604020202020204" pitchFamily="34" charset="0"/>
                        </a:rPr>
                        <a:t>SPA</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Share purchase agreement</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80670">
                <a:tc>
                  <a:txBody>
                    <a:bodyPr/>
                    <a:lstStyle/>
                    <a:p>
                      <a:pPr algn="l" rtl="0" fontAlgn="b"/>
                      <a:r>
                        <a:rPr lang="en-US" sz="900" b="1" i="0" u="none" strike="noStrike">
                          <a:solidFill>
                            <a:srgbClr val="00338D"/>
                          </a:solidFill>
                          <a:effectLst/>
                          <a:latin typeface="Arial" panose="020B0604020202020204" pitchFamily="34" charset="0"/>
                        </a:rPr>
                        <a:t>SUAD</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Schedule of unadjusted audit differences </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0670">
                <a:tc>
                  <a:txBody>
                    <a:bodyPr/>
                    <a:lstStyle/>
                    <a:p>
                      <a:pPr algn="l" rtl="0" fontAlgn="b"/>
                      <a:r>
                        <a:rPr lang="en-US" sz="900" b="1" i="0" u="none" strike="noStrike">
                          <a:solidFill>
                            <a:srgbClr val="00338D"/>
                          </a:solidFill>
                          <a:effectLst/>
                          <a:latin typeface="Arial" panose="020B0604020202020204" pitchFamily="34" charset="0"/>
                        </a:rPr>
                        <a:t>TTM</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Trailing twelve months</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0670">
                <a:tc>
                  <a:txBody>
                    <a:bodyPr/>
                    <a:lstStyle/>
                    <a:p>
                      <a:pPr algn="l" rtl="0" fontAlgn="b"/>
                      <a:r>
                        <a:rPr lang="en-US" sz="900" b="1" i="0" u="none" strike="noStrike">
                          <a:solidFill>
                            <a:srgbClr val="00338D"/>
                          </a:solidFill>
                          <a:effectLst/>
                          <a:latin typeface="Arial" panose="020B0604020202020204" pitchFamily="34" charset="0"/>
                        </a:rPr>
                        <a:t>YTD</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900" b="0" i="0" u="none" strike="noStrike">
                          <a:solidFill>
                            <a:srgbClr val="000000"/>
                          </a:solidFill>
                          <a:effectLst/>
                          <a:latin typeface="Arial" panose="020B0604020202020204" pitchFamily="34" charset="0"/>
                        </a:rPr>
                        <a:t>Year to date</a:t>
                      </a: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pSp>
        <p:nvGrpSpPr>
          <p:cNvPr id="15" name="Group 14">
            <a:extLst>
              <a:ext uri="{FF2B5EF4-FFF2-40B4-BE49-F238E27FC236}">
                <a16:creationId xmlns:a16="http://schemas.microsoft.com/office/drawing/2014/main" id="{42FAF721-65D4-24C2-BBE1-37CCCF80BCD1}"/>
              </a:ext>
            </a:extLst>
          </p:cNvPr>
          <p:cNvGrpSpPr/>
          <p:nvPr>
            <p:custDataLst>
              <p:tags r:id="rId3"/>
            </p:custDataLst>
          </p:nvPr>
        </p:nvGrpSpPr>
        <p:grpSpPr>
          <a:xfrm>
            <a:off x="995364" y="153170"/>
            <a:ext cx="4992623" cy="195814"/>
            <a:chOff x="995364" y="153170"/>
            <a:chExt cx="4992623" cy="195814"/>
          </a:xfrm>
        </p:grpSpPr>
        <p:sp>
          <p:nvSpPr>
            <p:cNvPr id="17"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Executive summary</a:t>
              </a:r>
            </a:p>
          </p:txBody>
        </p:sp>
        <p:sp>
          <p:nvSpPr>
            <p:cNvPr id="18"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100621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Quality of earnings</a:t>
              </a:r>
            </a:p>
          </p:txBody>
        </p:sp>
        <p:sp>
          <p:nvSpPr>
            <p:cNvPr id="19"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44671" y="153170"/>
              <a:ext cx="162177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Net working capital and net debt</a:t>
              </a:r>
            </a:p>
          </p:txBody>
        </p:sp>
        <p:sp>
          <p:nvSpPr>
            <p:cNvPr id="20"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666443" y="153170"/>
              <a:ext cx="59264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dirty="0">
                  <a:solidFill>
                    <a:schemeClr val="bg2">
                      <a:lumMod val="75000"/>
                    </a:schemeClr>
                  </a:solidFill>
                  <a:latin typeface="Arial" panose="020B0604020202020204" pitchFamily="34" charset="0"/>
                  <a:cs typeface="Arial" panose="020B0604020202020204" pitchFamily="34" charset="0"/>
                </a:rPr>
                <a:t>Reporting</a:t>
              </a:r>
            </a:p>
          </p:txBody>
        </p:sp>
        <p:sp>
          <p:nvSpPr>
            <p:cNvPr id="21" name="Current Section5">
              <a:hlinkClick r:id="rId11" action="ppaction://hlinksldjump"/>
              <a:extLst>
                <a:ext uri="{FF2B5EF4-FFF2-40B4-BE49-F238E27FC236}">
                  <a16:creationId xmlns:a16="http://schemas.microsoft.com/office/drawing/2014/main" id="{89A61135-1F00-E77F-7C78-5FBA241A5742}"/>
                </a:ext>
              </a:extLst>
            </p:cNvPr>
            <p:cNvSpPr>
              <a:spLocks/>
            </p:cNvSpPr>
            <p:nvPr/>
          </p:nvSpPr>
          <p:spPr>
            <a:xfrm>
              <a:off x="5259088"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dirty="0">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266594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dirty="0"/>
              <a:t>© 2025 KPMG LLP, a Delaware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a:t>
            </a:r>
            <a:r>
              <a:rPr lang="en-US" altLang="en-US" dirty="0">
                <a:hlinkClick r:id="rId3" action="ppaction://hlinkfile">
                  <a:extLst>
                    <a:ext uri="{A12FA001-AC4F-418D-AE19-62706E023703}">
                      <ahyp:hlinkClr xmlns:ahyp="http://schemas.microsoft.com/office/drawing/2018/hyperlinkcolor" val="tx"/>
                    </a:ext>
                  </a:extLst>
                </a:hlinkClick>
              </a:rPr>
              <a:t>kpmg.com/governance</a:t>
            </a:r>
            <a:r>
              <a:rPr lang="en-US" altLang="en-US" dirty="0"/>
              <a:t>.</a:t>
            </a:r>
          </a:p>
          <a:p>
            <a:pPr lvl="1"/>
            <a:r>
              <a:rPr lang="en-US" altLang="en-US" dirty="0"/>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dirty="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dirty="0">
                <a:solidFill>
                  <a:schemeClr val="bg1"/>
                </a:solidFill>
              </a:rPr>
              <a:t>Glossary</a:t>
            </a:r>
          </a:p>
        </p:txBody>
      </p:sp>
      <p:sp>
        <p:nvSpPr>
          <p:cNvPr id="5" name="Text Placeholder 23">
            <a:extLst>
              <a:ext uri="{FF2B5EF4-FFF2-40B4-BE49-F238E27FC236}">
                <a16:creationId xmlns:a16="http://schemas.microsoft.com/office/drawing/2014/main" id="{4D9978D0-203B-3C56-0652-19B2D80700D8}"/>
              </a:ext>
            </a:extLst>
          </p:cNvPr>
          <p:cNvSpPr txBox="1">
            <a:spLocks/>
          </p:cNvSpPr>
          <p:nvPr/>
        </p:nvSpPr>
        <p:spPr>
          <a:xfrm>
            <a:off x="8831312" y="257493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Michael Duggan</a:t>
            </a:r>
          </a:p>
          <a:p>
            <a:pPr lvl="1">
              <a:spcAft>
                <a:spcPts val="300"/>
              </a:spcAft>
            </a:pPr>
            <a:r>
              <a:rPr lang="en-US" sz="900" dirty="0">
                <a:solidFill>
                  <a:schemeClr val="bg1"/>
                </a:solidFill>
                <a:latin typeface="+mn-lt"/>
              </a:rPr>
              <a:t>Senior Manager, Financial Due Diligence</a:t>
            </a:r>
          </a:p>
          <a:p>
            <a:pPr lvl="1" defTabSz="269868">
              <a:spcAft>
                <a:spcPts val="300"/>
              </a:spcAft>
            </a:pPr>
            <a:r>
              <a:rPr lang="en-US" sz="900" b="1" dirty="0">
                <a:solidFill>
                  <a:schemeClr val="bg1"/>
                </a:solidFill>
                <a:latin typeface="+mn-lt"/>
              </a:rPr>
              <a:t>T: </a:t>
            </a:r>
            <a:r>
              <a:rPr lang="en-US" sz="900" dirty="0">
                <a:solidFill>
                  <a:schemeClr val="bg1"/>
                </a:solidFill>
                <a:latin typeface="+mn-lt"/>
              </a:rPr>
              <a:t>+1 778 370 7449</a:t>
            </a:r>
          </a:p>
          <a:p>
            <a:pPr lvl="1" defTabSz="269868">
              <a:spcAft>
                <a:spcPts val="300"/>
              </a:spcAft>
            </a:pPr>
            <a:r>
              <a:rPr lang="en-US" sz="900" b="1" dirty="0">
                <a:solidFill>
                  <a:schemeClr val="bg1"/>
                </a:solidFill>
                <a:latin typeface="+mn-lt"/>
              </a:rPr>
              <a:t>E: </a:t>
            </a:r>
            <a:r>
              <a:rPr lang="en-US" sz="900" dirty="0">
                <a:solidFill>
                  <a:schemeClr val="bg1"/>
                </a:solidFill>
                <a:latin typeface="+mn-lt"/>
              </a:rPr>
              <a:t>michaelduggan@kpmg.ca</a:t>
            </a: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995364" y="257493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Michael Scherer</a:t>
            </a:r>
          </a:p>
          <a:p>
            <a:pPr lvl="1">
              <a:spcAft>
                <a:spcPts val="300"/>
              </a:spcAft>
            </a:pPr>
            <a:r>
              <a:rPr lang="en-US" sz="900" dirty="0">
                <a:solidFill>
                  <a:schemeClr val="bg1"/>
                </a:solidFill>
                <a:latin typeface="+mn-lt"/>
              </a:rPr>
              <a:t>Partner, Financial Due Diligence</a:t>
            </a:r>
          </a:p>
          <a:p>
            <a:pPr lvl="1" defTabSz="269868">
              <a:spcAft>
                <a:spcPts val="300"/>
              </a:spcAft>
            </a:pPr>
            <a:r>
              <a:rPr lang="en-US" sz="900" b="1" dirty="0">
                <a:solidFill>
                  <a:schemeClr val="bg1"/>
                </a:solidFill>
                <a:latin typeface="+mn-lt"/>
              </a:rPr>
              <a:t>T: </a:t>
            </a:r>
            <a:r>
              <a:rPr lang="en-US" sz="900" dirty="0">
                <a:solidFill>
                  <a:schemeClr val="bg1"/>
                </a:solidFill>
                <a:latin typeface="+mn-lt"/>
              </a:rPr>
              <a:t>+1 212 954 6285</a:t>
            </a:r>
          </a:p>
          <a:p>
            <a:pPr lvl="1" defTabSz="269868">
              <a:spcAft>
                <a:spcPts val="300"/>
              </a:spcAft>
            </a:pPr>
            <a:r>
              <a:rPr lang="en-US" sz="900" b="1" dirty="0">
                <a:solidFill>
                  <a:schemeClr val="bg1"/>
                </a:solidFill>
                <a:latin typeface="+mn-lt"/>
              </a:rPr>
              <a:t>E: </a:t>
            </a:r>
            <a:r>
              <a:rPr lang="en-US" sz="900" dirty="0">
                <a:solidFill>
                  <a:schemeClr val="bg1"/>
                </a:solidFill>
                <a:latin typeface="+mn-lt"/>
              </a:rPr>
              <a:t>mscherer@kpmg.com</a:t>
            </a:r>
          </a:p>
        </p:txBody>
      </p:sp>
      <p:sp>
        <p:nvSpPr>
          <p:cNvPr id="7" name="Text Placeholder 21">
            <a:extLst>
              <a:ext uri="{FF2B5EF4-FFF2-40B4-BE49-F238E27FC236}">
                <a16:creationId xmlns:a16="http://schemas.microsoft.com/office/drawing/2014/main" id="{EE2113E4-E907-46B0-9588-FFEC5307AFA0}"/>
              </a:ext>
            </a:extLst>
          </p:cNvPr>
          <p:cNvSpPr txBox="1">
            <a:spLocks/>
          </p:cNvSpPr>
          <p:nvPr/>
        </p:nvSpPr>
        <p:spPr>
          <a:xfrm>
            <a:off x="4913338" y="2574930"/>
            <a:ext cx="2359251" cy="630942"/>
          </a:xfrm>
          <a:prstGeom prst="rect">
            <a:avLst/>
          </a:prstGeom>
        </p:spPr>
        <p:txBody>
          <a:bodyPr lIns="0" tIns="0" rIns="0" bIns="0">
            <a:spAutoFit/>
          </a:bodyPr>
          <a:lstStyle>
            <a:defPPr>
              <a:defRPr lang="en-US"/>
            </a:defPPr>
            <a:lvl1pPr indent="0" defTabSz="914423">
              <a:lnSpc>
                <a:spcPct val="100000"/>
              </a:lnSpc>
              <a:spcBef>
                <a:spcPts val="0"/>
              </a:spcBef>
              <a:spcAft>
                <a:spcPts val="300"/>
              </a:spcAft>
              <a:buFontTx/>
              <a:buNone/>
              <a:defRPr sz="900" b="1">
                <a:solidFill>
                  <a:schemeClr val="bg1"/>
                </a:solidFill>
              </a:defRPr>
            </a:lvl1pPr>
            <a:lvl2pPr marL="0" lvl="1" indent="0" defTabSz="914423">
              <a:lnSpc>
                <a:spcPct val="100000"/>
              </a:lnSpc>
              <a:spcBef>
                <a:spcPts val="0"/>
              </a:spcBef>
              <a:spcAft>
                <a:spcPts val="300"/>
              </a:spcAft>
              <a:buClrTx/>
              <a:buFontTx/>
              <a:buNone/>
              <a:defRPr sz="900">
                <a:solidFill>
                  <a:schemeClr val="bg1"/>
                </a:solidFill>
              </a:defRPr>
            </a:lvl2pPr>
            <a:lvl3pPr marL="172800" indent="-172800" defTabSz="914423">
              <a:lnSpc>
                <a:spcPct val="100000"/>
              </a:lnSpc>
              <a:spcBef>
                <a:spcPts val="0"/>
              </a:spcBef>
              <a:spcAft>
                <a:spcPts val="600"/>
              </a:spcAft>
              <a:buClrTx/>
              <a:buFont typeface="Arial" panose="020B0604020202020204" pitchFamily="34" charset="0"/>
              <a:buChar char="—"/>
              <a:defRPr sz="1000">
                <a:latin typeface="Univers Condensed Light" panose="020B0306020202040204" pitchFamily="34" charset="0"/>
              </a:defRPr>
            </a:lvl3pPr>
            <a:lvl4pPr marL="360009" indent="-144003" defTabSz="914423">
              <a:lnSpc>
                <a:spcPct val="100000"/>
              </a:lnSpc>
              <a:spcBef>
                <a:spcPts val="0"/>
              </a:spcBef>
              <a:spcAft>
                <a:spcPts val="600"/>
              </a:spcAft>
              <a:buClrTx/>
              <a:buFont typeface="Arial" panose="020B0604020202020204" pitchFamily="34" charset="0"/>
              <a:buChar char="-"/>
              <a:defRPr sz="1000">
                <a:latin typeface="Univers Condensed Light" panose="020B0306020202040204" pitchFamily="34" charset="0"/>
              </a:defRPr>
            </a:lvl4pPr>
            <a:lvl5pPr marL="576015" indent="-216006" defTabSz="914423">
              <a:lnSpc>
                <a:spcPct val="100000"/>
              </a:lnSpc>
              <a:spcBef>
                <a:spcPts val="0"/>
              </a:spcBef>
              <a:spcAft>
                <a:spcPts val="600"/>
              </a:spcAft>
              <a:buClrTx/>
              <a:buFont typeface="Arial" panose="020B0604020202020204" pitchFamily="34" charset="0"/>
              <a:buChar char="—"/>
              <a:defRPr sz="1000" baseline="0">
                <a:latin typeface="Univers Condensed Light" panose="020B0306020202040204" pitchFamily="34" charset="0"/>
              </a:defRPr>
            </a:lvl5pPr>
            <a:lvl6pPr marL="1098027" indent="-230406" defTabSz="914423">
              <a:lnSpc>
                <a:spcPct val="100000"/>
              </a:lnSpc>
              <a:spcBef>
                <a:spcPts val="0"/>
              </a:spcBef>
              <a:spcAft>
                <a:spcPts val="600"/>
              </a:spcAft>
              <a:buClr>
                <a:schemeClr val="tx2"/>
              </a:buClr>
              <a:buFont typeface="Arial" panose="020B0604020202020204" pitchFamily="34" charset="0"/>
              <a:buChar char="-"/>
              <a:defRPr sz="900">
                <a:solidFill>
                  <a:schemeClr val="tx2"/>
                </a:solidFill>
              </a:defRPr>
            </a:lvl6pPr>
            <a:lvl7pPr marL="1371634" indent="-284408" defTabSz="914423">
              <a:lnSpc>
                <a:spcPct val="100000"/>
              </a:lnSpc>
              <a:spcBef>
                <a:spcPts val="0"/>
              </a:spcBef>
              <a:spcAft>
                <a:spcPts val="600"/>
              </a:spcAft>
              <a:buClr>
                <a:schemeClr val="tx2"/>
              </a:buClr>
              <a:buFont typeface="Arial" panose="020B0604020202020204" pitchFamily="34" charset="0"/>
              <a:buChar char="—"/>
              <a:defRPr sz="900">
                <a:solidFill>
                  <a:schemeClr val="tx2"/>
                </a:solidFill>
              </a:defRPr>
            </a:lvl7pPr>
            <a:lvl8pPr marL="1645241" indent="-228606" defTabSz="914423">
              <a:lnSpc>
                <a:spcPct val="100000"/>
              </a:lnSpc>
              <a:spcBef>
                <a:spcPts val="0"/>
              </a:spcBef>
              <a:spcAft>
                <a:spcPts val="600"/>
              </a:spcAft>
              <a:buClr>
                <a:schemeClr val="tx2"/>
              </a:buClr>
              <a:buFont typeface="Arial" panose="020B0604020202020204" pitchFamily="34" charset="0"/>
              <a:buChar char="-"/>
              <a:defRPr sz="900">
                <a:solidFill>
                  <a:schemeClr val="tx2"/>
                </a:solidFill>
              </a:defRPr>
            </a:lvl8pPr>
            <a:lvl9pPr marL="3886297" indent="-228606" defTabSz="914423">
              <a:lnSpc>
                <a:spcPct val="90000"/>
              </a:lnSpc>
              <a:spcBef>
                <a:spcPts val="500"/>
              </a:spcBef>
              <a:buFont typeface="Arial" panose="020B0604020202020204" pitchFamily="34" charset="0"/>
              <a:buChar char="•"/>
            </a:lvl9pPr>
          </a:lstStyle>
          <a:p>
            <a:r>
              <a:rPr lang="en-US" dirty="0"/>
              <a:t>Georges Pigeon</a:t>
            </a:r>
          </a:p>
          <a:p>
            <a:pPr lvl="1"/>
            <a:r>
              <a:rPr lang="en-US" dirty="0"/>
              <a:t>Partner, Financial Due Diligence</a:t>
            </a:r>
            <a:br>
              <a:rPr lang="en-US" dirty="0"/>
            </a:br>
            <a:r>
              <a:rPr lang="en-US" b="1" dirty="0"/>
              <a:t>T: </a:t>
            </a:r>
            <a:r>
              <a:rPr lang="en-US" dirty="0"/>
              <a:t>+1 514 840 2178</a:t>
            </a:r>
          </a:p>
          <a:p>
            <a:pPr lvl="1"/>
            <a:r>
              <a:rPr lang="en-US" b="1" dirty="0"/>
              <a:t>E:</a:t>
            </a:r>
            <a:r>
              <a:rPr lang="en-US" dirty="0"/>
              <a:t> georgespigeon@kpmg.ca</a:t>
            </a:r>
          </a:p>
        </p:txBody>
      </p:sp>
    </p:spTree>
    <p:extLst>
      <p:ext uri="{BB962C8B-B14F-4D97-AF65-F5344CB8AC3E}">
        <p14:creationId xmlns:p14="http://schemas.microsoft.com/office/powerpoint/2010/main" val="3103968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UPSLIDE" val="KPM02442_Diligence + Template V2_10-05-2023"/>
  <p:tag name="TEMPLATESHORTNAMETAG" val="Diligence+ Template"/>
  <p:tag name="TEMPLATEFULLNAMETAG" val="Diligence+ Template"/>
  <p:tag name="TEMPLATEDETAILSTAG" val="Diligence+ Template"/>
  <p:tag name="UPSLIDEPRINTFACINGPAGESDESIGN" val="KPMG Widescreen - UpSlide"/>
  <p:tag name="UPSLIDEPRINTFACINGPAGESLAYOUT" val="TITLE SLIDE Left Horizontal Window_KPMG Blue"/>
  <p:tag name="UPSLIDEVERSION" val="6.9.1.2"/>
  <p:tag name="UPSLIDEFOOTNOTEOPTIONS" val="{&#10;  &quot;Multiline&quot;: false,&#10;  &quot;Enabled&quot;: false,&#10;  &quot;SuperscriptFormat&quot;: 0&#10;}"/>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 /&gt;&#10;        &lt;BeforeSecNum&gt;0&lt;/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3&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23.xml><?xml version="1.0" encoding="utf-8"?>
<p:tagLst xmlns:a="http://schemas.openxmlformats.org/drawingml/2006/main" xmlns:r="http://schemas.openxmlformats.org/officeDocument/2006/relationships" xmlns:p="http://schemas.openxmlformats.org/presentationml/2006/main">
  <p:tag name="ADV_DRAFT" val="TRUE"/>
</p:tagLst>
</file>

<file path=ppt/tags/tag2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5.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6.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7.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8.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9.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30.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31.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2.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33.xml><?xml version="1.0" encoding="utf-8"?>
<p:tagLst xmlns:a="http://schemas.openxmlformats.org/drawingml/2006/main" xmlns:r="http://schemas.openxmlformats.org/officeDocument/2006/relationships" xmlns:p="http://schemas.openxmlformats.org/presentationml/2006/main">
  <p:tag name="HIDETOC" val="true"/>
</p:tagLst>
</file>

<file path=ppt/tags/tag34.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5.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6.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7.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8.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9.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0.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41.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42.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43.xml><?xml version="1.0" encoding="utf-8"?>
<p:tagLst xmlns:a="http://schemas.openxmlformats.org/drawingml/2006/main" xmlns:r="http://schemas.openxmlformats.org/officeDocument/2006/relationships" xmlns:p="http://schemas.openxmlformats.org/presentationml/2006/main">
  <p:tag name="HIDETOC" val="true"/>
</p:tagLst>
</file>

<file path=ppt/tags/tag44.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5.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9.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50.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51.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52.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53.xml><?xml version="1.0" encoding="utf-8"?>
<p:tagLst xmlns:a="http://schemas.openxmlformats.org/drawingml/2006/main" xmlns:r="http://schemas.openxmlformats.org/officeDocument/2006/relationships" xmlns:p="http://schemas.openxmlformats.org/presentationml/2006/main">
  <p:tag name="HIDETOC" val="true"/>
</p:tagLst>
</file>

<file path=ppt/tags/tag54.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55.xml><?xml version="1.0" encoding="utf-8"?>
<p:tagLst xmlns:a="http://schemas.openxmlformats.org/drawingml/2006/main" xmlns:r="http://schemas.openxmlformats.org/officeDocument/2006/relationships" xmlns:p="http://schemas.openxmlformats.org/presentationml/2006/main">
  <p:tag name="HIDETOC" val="true"/>
</p:tagLst>
</file>

<file path=ppt/tags/tag56.xml><?xml version="1.0" encoding="utf-8"?>
<p:tagLst xmlns:a="http://schemas.openxmlformats.org/drawingml/2006/main" xmlns:r="http://schemas.openxmlformats.org/officeDocument/2006/relationships" xmlns:p="http://schemas.openxmlformats.org/presentationml/2006/main">
  <p:tag name="HIDETOC" val="tru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UPSLIDESLIDELIBITEMNAME" val="Project [name]"/>
  <p:tag name="UPSLIDESLIDELIBITEMLASTCREATOR" val="lpi"/>
  <p:tag name="UPSLIDESLIDELIBITEMEDITIONDATE" val="638632596904801954"/>
  <p:tag name="UPSLIDESLIDELIBITEMINSERTIONID" val="49f298dc-64a9-4fc8-a84b-a6b1bc5c5642"/>
  <p:tag name="UPSLIDESLIDELIBRARYITEMPARTINDEX" val="2"/>
  <p:tag name="UPSLIDESLIDELIBRARYITEMID" val="a6e82c34-06c3-4cc5-9691-be90c50e07a8"/>
  <p:tag name="UPSLIDESTOREDSLIDELOCATION" val="https://kpmgus.sharepoint.com/sites/US-US_DAS_UpSlide_Templates/ContentLibrary/2 Report templates/1 General/Ascend Case Study.pptlib"/>
  <p:tag name="UPSLIDEINDIVIDUALSLIDE" val="False"/>
</p:tagLst>
</file>

<file path=ppt/tags/tag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xml><?xml version="1.0" encoding="utf-8"?>
<p:tagLst xmlns:a="http://schemas.openxmlformats.org/drawingml/2006/main" xmlns:r="http://schemas.openxmlformats.org/officeDocument/2006/relationships" xmlns:p="http://schemas.openxmlformats.org/presentationml/2006/main">
  <p:tag name="UPSLIDESLIDELIBITEMNAME" val="Project [name]"/>
  <p:tag name="UPSLIDESLIDELIBITEMLASTCREATOR" val="lpi"/>
  <p:tag name="UPSLIDESLIDELIBITEMEDITIONDATE" val="638632596904801954"/>
  <p:tag name="UPSLIDESLIDELIBITEMINSERTIONID" val="49f298dc-64a9-4fc8-a84b-a6b1bc5c5642"/>
  <p:tag name="UPSLIDESLIDELIBRARYITEMPARTINDEX" val="3"/>
  <p:tag name="UPSLIDESLIDELIBRARYITEMID" val="a6e82c34-06c3-4cc5-9691-be90c50e07a8"/>
  <p:tag name="UPSLIDESTOREDSLIDELOCATION" val="https://kpmgus.sharepoint.com/sites/US-US_DAS_UpSlide_Templates/ContentLibrary/2 Report templates/1 General/Ascend Case Study.pptlib"/>
  <p:tag name="UPSLIDEINDIVIDUALSLIDE" val="False"/>
</p:tagLst>
</file>

<file path=ppt/tags/tag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2.xml><?xml version="1.0" encoding="utf-8"?>
<p:tagLst xmlns:a="http://schemas.openxmlformats.org/drawingml/2006/main" xmlns:r="http://schemas.openxmlformats.org/officeDocument/2006/relationships" xmlns:p="http://schemas.openxmlformats.org/presentationml/2006/main">
  <p:tag name="TOCSLIDE" val="1"/>
</p:tagLst>
</file>

<file path=ppt/tags/tag6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93.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94.xml><?xml version="1.0" encoding="utf-8"?>
<p:tagLst xmlns:a="http://schemas.openxmlformats.org/drawingml/2006/main" xmlns:r="http://schemas.openxmlformats.org/officeDocument/2006/relationships" xmlns:p="http://schemas.openxmlformats.org/presentationml/2006/main">
  <p:tag name="TOCSHAPE" val="2147470003"/>
  <p:tag name="SLIDEINDEX" val="2147470003"/>
</p:tagLst>
</file>

<file path=ppt/tags/tag95.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96.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97.xml><?xml version="1.0" encoding="utf-8"?>
<p:tagLst xmlns:a="http://schemas.openxmlformats.org/drawingml/2006/main" xmlns:r="http://schemas.openxmlformats.org/officeDocument/2006/relationships" xmlns:p="http://schemas.openxmlformats.org/presentationml/2006/main">
  <p:tag name="TOCSHAPE" val="AA"/>
</p:tagLst>
</file>

<file path=ppt/tags/tag98.xml><?xml version="1.0" encoding="utf-8"?>
<p:tagLst xmlns:a="http://schemas.openxmlformats.org/drawingml/2006/main" xmlns:r="http://schemas.openxmlformats.org/officeDocument/2006/relationships" xmlns:p="http://schemas.openxmlformats.org/presentationml/2006/main">
  <p:tag name="TOCSHAPE" val="AA"/>
</p:tagLst>
</file>

<file path=ppt/tags/tag99.xml><?xml version="1.0" encoding="utf-8"?>
<p:tagLst xmlns:a="http://schemas.openxmlformats.org/drawingml/2006/main" xmlns:r="http://schemas.openxmlformats.org/officeDocument/2006/relationships" xmlns:p="http://schemas.openxmlformats.org/presentationml/2006/main">
  <p:tag name="TOCSHAPE" val="AA"/>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AA"/>
</p:tagLst>
</file>

<file path=ppt/tags/tag106.xml><?xml version="1.0" encoding="utf-8"?>
<p:tagLst xmlns:a="http://schemas.openxmlformats.org/drawingml/2006/main" xmlns:r="http://schemas.openxmlformats.org/officeDocument/2006/relationships" xmlns:p="http://schemas.openxmlformats.org/presentationml/2006/main">
  <p:tag name="TOCSHAPE" val="AA"/>
</p:tagLst>
</file>

<file path=ppt/tags/tag107.xml><?xml version="1.0" encoding="utf-8"?>
<p:tagLst xmlns:a="http://schemas.openxmlformats.org/drawingml/2006/main" xmlns:r="http://schemas.openxmlformats.org/officeDocument/2006/relationships" xmlns:p="http://schemas.openxmlformats.org/presentationml/2006/main">
  <p:tag name="TOCSHAPE" val="AA"/>
</p:tagLst>
</file>

<file path=ppt/tags/tag108.xml><?xml version="1.0" encoding="utf-8"?>
<p:tagLst xmlns:a="http://schemas.openxmlformats.org/drawingml/2006/main" xmlns:r="http://schemas.openxmlformats.org/officeDocument/2006/relationships" xmlns:p="http://schemas.openxmlformats.org/presentationml/2006/main">
  <p:tag name="TOCSHAPE" val="AA"/>
</p:tagLst>
</file>

<file path=ppt/tags/tag109.xml><?xml version="1.0" encoding="utf-8"?>
<p:tagLst xmlns:a="http://schemas.openxmlformats.org/drawingml/2006/main" xmlns:r="http://schemas.openxmlformats.org/officeDocument/2006/relationships" xmlns:p="http://schemas.openxmlformats.org/presentationml/2006/main">
  <p:tag name="TOCSHAPE" val="AA"/>
</p:tagLst>
</file>

<file path=ppt/tags/tag110.xml><?xml version="1.0" encoding="utf-8"?>
<p:tagLst xmlns:a="http://schemas.openxmlformats.org/drawingml/2006/main" xmlns:r="http://schemas.openxmlformats.org/officeDocument/2006/relationships" xmlns:p="http://schemas.openxmlformats.org/presentationml/2006/main">
  <p:tag name="TOCSHAPE" val="AA"/>
</p:tagLst>
</file>

<file path=ppt/tags/tag111.xml><?xml version="1.0" encoding="utf-8"?>
<p:tagLst xmlns:a="http://schemas.openxmlformats.org/drawingml/2006/main" xmlns:r="http://schemas.openxmlformats.org/officeDocument/2006/relationships" xmlns:p="http://schemas.openxmlformats.org/presentationml/2006/main">
  <p:tag name="TOCSHAPE" val="AA"/>
</p:tagLst>
</file>

<file path=ppt/tags/tag112.xml><?xml version="1.0" encoding="utf-8"?>
<p:tagLst xmlns:a="http://schemas.openxmlformats.org/drawingml/2006/main" xmlns:r="http://schemas.openxmlformats.org/officeDocument/2006/relationships" xmlns:p="http://schemas.openxmlformats.org/presentationml/2006/main">
  <p:tag name="TOCSHAPE" val="AA"/>
</p:tagLst>
</file>

<file path=ppt/tags/tag113.xml><?xml version="1.0" encoding="utf-8"?>
<p:tagLst xmlns:a="http://schemas.openxmlformats.org/drawingml/2006/main" xmlns:r="http://schemas.openxmlformats.org/officeDocument/2006/relationships" xmlns:p="http://schemas.openxmlformats.org/presentationml/2006/main">
  <p:tag name="TOCSHAPE" val="AA"/>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2147469951"/>
  <p:tag name="SLIDEINDEX" val="2147469951"/>
</p:tagLst>
</file>

<file path=ppt/tags/tag117.xml><?xml version="1.0" encoding="utf-8"?>
<p:tagLst xmlns:a="http://schemas.openxmlformats.org/drawingml/2006/main" xmlns:r="http://schemas.openxmlformats.org/officeDocument/2006/relationships" xmlns:p="http://schemas.openxmlformats.org/presentationml/2006/main">
  <p:tag name="TOCSHAPE" val="2147469925"/>
  <p:tag name="SLIDEINDEX" val="2147469925"/>
</p:tagLst>
</file>

<file path=ppt/tags/tag118.xml><?xml version="1.0" encoding="utf-8"?>
<p:tagLst xmlns:a="http://schemas.openxmlformats.org/drawingml/2006/main" xmlns:r="http://schemas.openxmlformats.org/officeDocument/2006/relationships" xmlns:p="http://schemas.openxmlformats.org/presentationml/2006/main">
  <p:tag name="TOCSHAPE" val="718"/>
  <p:tag name="SLIDEINDEX" val="718"/>
</p:tagLst>
</file>

<file path=ppt/tags/tag119.xml><?xml version="1.0" encoding="utf-8"?>
<p:tagLst xmlns:a="http://schemas.openxmlformats.org/drawingml/2006/main" xmlns:r="http://schemas.openxmlformats.org/officeDocument/2006/relationships" xmlns:p="http://schemas.openxmlformats.org/presentationml/2006/main">
  <p:tag name="TOCSHAPE" val="2147469986"/>
  <p:tag name="SLIDEINDEX" val="2147469986"/>
</p:tagLst>
</file>

<file path=ppt/tags/tag120.xml><?xml version="1.0" encoding="utf-8"?>
<p:tagLst xmlns:a="http://schemas.openxmlformats.org/drawingml/2006/main" xmlns:r="http://schemas.openxmlformats.org/officeDocument/2006/relationships" xmlns:p="http://schemas.openxmlformats.org/presentationml/2006/main">
  <p:tag name="TOCSHAPE" val="2147469998"/>
  <p:tag name="SLIDEINDEX" val="2147469998"/>
</p:tagLst>
</file>

<file path=ppt/tags/tag121.xml><?xml version="1.0" encoding="utf-8"?>
<p:tagLst xmlns:a="http://schemas.openxmlformats.org/drawingml/2006/main" xmlns:r="http://schemas.openxmlformats.org/officeDocument/2006/relationships" xmlns:p="http://schemas.openxmlformats.org/presentationml/2006/main">
  <p:tag name="TOCSHAPE" val="2147470002"/>
  <p:tag name="SLIDEINDEX" val="2147470002"/>
</p:tagLst>
</file>

<file path=ppt/tags/tag122.xml><?xml version="1.0" encoding="utf-8"?>
<p:tagLst xmlns:a="http://schemas.openxmlformats.org/drawingml/2006/main" xmlns:r="http://schemas.openxmlformats.org/officeDocument/2006/relationships" xmlns:p="http://schemas.openxmlformats.org/presentationml/2006/main">
  <p:tag name="TOCSHAPE" val="2147470004"/>
  <p:tag name="SLIDEINDEX" val="2147470004"/>
</p:tagLst>
</file>

<file path=ppt/tags/tag123.xml><?xml version="1.0" encoding="utf-8"?>
<p:tagLst xmlns:a="http://schemas.openxmlformats.org/drawingml/2006/main" xmlns:r="http://schemas.openxmlformats.org/officeDocument/2006/relationships" xmlns:p="http://schemas.openxmlformats.org/presentationml/2006/main">
  <p:tag name="TOCSHAPE" val="2147470008"/>
  <p:tag name="SLIDEINDEX" val="2147470008"/>
</p:tagLst>
</file>

<file path=ppt/tags/tag124.xml><?xml version="1.0" encoding="utf-8"?>
<p:tagLst xmlns:a="http://schemas.openxmlformats.org/drawingml/2006/main" xmlns:r="http://schemas.openxmlformats.org/officeDocument/2006/relationships" xmlns:p="http://schemas.openxmlformats.org/presentationml/2006/main">
  <p:tag name="TOCSHAPE" val="2147470011"/>
  <p:tag name="SLIDEINDEX" val="2147470011"/>
</p:tagLst>
</file>

<file path=ppt/tags/tag125.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126.xml><?xml version="1.0" encoding="utf-8"?>
<p:tagLst xmlns:a="http://schemas.openxmlformats.org/drawingml/2006/main" xmlns:r="http://schemas.openxmlformats.org/officeDocument/2006/relationships" xmlns:p="http://schemas.openxmlformats.org/presentationml/2006/main">
  <p:tag name="TOCSHAPE" val="2147469919"/>
  <p:tag name="SLIDEINDEX" val="2147469919"/>
</p:tagLst>
</file>

<file path=ppt/tags/tag127.xml><?xml version="1.0" encoding="utf-8"?>
<p:tagLst xmlns:a="http://schemas.openxmlformats.org/drawingml/2006/main" xmlns:r="http://schemas.openxmlformats.org/officeDocument/2006/relationships" xmlns:p="http://schemas.openxmlformats.org/presentationml/2006/main">
  <p:tag name="TOCSHAPE" val="2147470036"/>
  <p:tag name="SLIDEINDEX" val="2147470036"/>
</p:tagLst>
</file>

<file path=ppt/tags/tag128.xml><?xml version="1.0" encoding="utf-8"?>
<p:tagLst xmlns:a="http://schemas.openxmlformats.org/drawingml/2006/main" xmlns:r="http://schemas.openxmlformats.org/officeDocument/2006/relationships" xmlns:p="http://schemas.openxmlformats.org/presentationml/2006/main">
  <p:tag name="TOCSHAPE" val="2147470035"/>
  <p:tag name="SLIDEINDEX" val="2147470035"/>
</p:tagLst>
</file>

<file path=ppt/tags/tag129.xml><?xml version="1.0" encoding="utf-8"?>
<p:tagLst xmlns:a="http://schemas.openxmlformats.org/drawingml/2006/main" xmlns:r="http://schemas.openxmlformats.org/officeDocument/2006/relationships" xmlns:p="http://schemas.openxmlformats.org/presentationml/2006/main">
  <p:tag name="TOCSHAPE" val="2147470028"/>
  <p:tag name="SLIDEINDEX" val="2147470028"/>
</p:tagLst>
</file>

<file path=ppt/tags/tag130.xml><?xml version="1.0" encoding="utf-8"?>
<p:tagLst xmlns:a="http://schemas.openxmlformats.org/drawingml/2006/main" xmlns:r="http://schemas.openxmlformats.org/officeDocument/2006/relationships" xmlns:p="http://schemas.openxmlformats.org/presentationml/2006/main">
  <p:tag name="TOCSHAPE" val="2147470037"/>
  <p:tag name="SLIDEINDEX" val="2147470037"/>
</p:tagLst>
</file>

<file path=ppt/tags/tag131.xml><?xml version="1.0" encoding="utf-8"?>
<p:tagLst xmlns:a="http://schemas.openxmlformats.org/drawingml/2006/main" xmlns:r="http://schemas.openxmlformats.org/officeDocument/2006/relationships" xmlns:p="http://schemas.openxmlformats.org/presentationml/2006/main">
  <p:tag name="TOCSHAPE" val="2147469983"/>
  <p:tag name="SLIDEINDEX" val="2147469983"/>
</p:tagLst>
</file>

<file path=ppt/tags/tag132.xml><?xml version="1.0" encoding="utf-8"?>
<p:tagLst xmlns:a="http://schemas.openxmlformats.org/drawingml/2006/main" xmlns:r="http://schemas.openxmlformats.org/officeDocument/2006/relationships" xmlns:p="http://schemas.openxmlformats.org/presentationml/2006/main">
  <p:tag name="TOCSHAPE" val="652"/>
  <p:tag name="SLIDEINDEX" val="652"/>
</p:tagLst>
</file>

<file path=ppt/tags/tag133.xml><?xml version="1.0" encoding="utf-8"?>
<p:tagLst xmlns:a="http://schemas.openxmlformats.org/drawingml/2006/main" xmlns:r="http://schemas.openxmlformats.org/officeDocument/2006/relationships" xmlns:p="http://schemas.openxmlformats.org/presentationml/2006/main">
  <p:tag name="TOCSHAPE" val="2147469976"/>
  <p:tag name="SLIDEINDEX" val="2147469976"/>
</p:tagLst>
</file>

<file path=ppt/tags/tag134.xml><?xml version="1.0" encoding="utf-8"?>
<p:tagLst xmlns:a="http://schemas.openxmlformats.org/drawingml/2006/main" xmlns:r="http://schemas.openxmlformats.org/officeDocument/2006/relationships" xmlns:p="http://schemas.openxmlformats.org/presentationml/2006/main">
  <p:tag name="TOCSHAPE" val="2147470012"/>
  <p:tag name="SLIDEINDEX" val="2147470012"/>
</p:tagLst>
</file>

<file path=ppt/tags/tag135.xml><?xml version="1.0" encoding="utf-8"?>
<p:tagLst xmlns:a="http://schemas.openxmlformats.org/drawingml/2006/main" xmlns:r="http://schemas.openxmlformats.org/officeDocument/2006/relationships" xmlns:p="http://schemas.openxmlformats.org/presentationml/2006/main">
  <p:tag name="CROSSREFGUID" val="d46926f3-4e60-4369-b8b8-4188edaf2f9a"/>
  <p:tag name="SECTION" val="1"/>
  <p:tag name="NAME" val="Executive summary"/>
</p:tagLst>
</file>

<file path=ppt/tags/tag136.xml><?xml version="1.0" encoding="utf-8"?>
<p:tagLst xmlns:a="http://schemas.openxmlformats.org/drawingml/2006/main" xmlns:r="http://schemas.openxmlformats.org/officeDocument/2006/relationships" xmlns:p="http://schemas.openxmlformats.org/presentationml/2006/main">
  <p:tag name="SHAPETYPE" val="SECTIONTITLE"/>
</p:tagLst>
</file>

<file path=ppt/tags/tag137.xml><?xml version="1.0" encoding="utf-8"?>
<p:tagLst xmlns:a="http://schemas.openxmlformats.org/drawingml/2006/main" xmlns:r="http://schemas.openxmlformats.org/officeDocument/2006/relationships" xmlns:p="http://schemas.openxmlformats.org/presentationml/2006/main">
  <p:tag name="SHAPETYPE" val="SUBSECTIONTITLE"/>
</p:tagLst>
</file>

<file path=ppt/tags/tag13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3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1.xml><?xml version="1.0" encoding="utf-8"?>
<p:tagLst xmlns:a="http://schemas.openxmlformats.org/drawingml/2006/main" xmlns:r="http://schemas.openxmlformats.org/officeDocument/2006/relationships" xmlns:p="http://schemas.openxmlformats.org/presentationml/2006/main">
  <p:tag name="TOCSHAPE" val="AA"/>
</p:tagLst>
</file>

<file path=ppt/tags/tag142.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43.xml><?xml version="1.0" encoding="utf-8"?>
<p:tagLst xmlns:a="http://schemas.openxmlformats.org/drawingml/2006/main" xmlns:r="http://schemas.openxmlformats.org/officeDocument/2006/relationships" xmlns:p="http://schemas.openxmlformats.org/presentationml/2006/main">
  <p:tag name="TOCSHAPE" val="AA"/>
</p:tagLst>
</file>

<file path=ppt/tags/tag144.xml><?xml version="1.0" encoding="utf-8"?>
<p:tagLst xmlns:a="http://schemas.openxmlformats.org/drawingml/2006/main" xmlns:r="http://schemas.openxmlformats.org/officeDocument/2006/relationships" xmlns:p="http://schemas.openxmlformats.org/presentationml/2006/main">
  <p:tag name="TOCSHAPE" val="AA"/>
</p:tagLst>
</file>

<file path=ppt/tags/tag145.xml><?xml version="1.0" encoding="utf-8"?>
<p:tagLst xmlns:a="http://schemas.openxmlformats.org/drawingml/2006/main" xmlns:r="http://schemas.openxmlformats.org/officeDocument/2006/relationships" xmlns:p="http://schemas.openxmlformats.org/presentationml/2006/main">
  <p:tag name="TOCSHAPE" val="AA"/>
</p:tagLst>
</file>

<file path=ppt/tags/tag146.xml><?xml version="1.0" encoding="utf-8"?>
<p:tagLst xmlns:a="http://schemas.openxmlformats.org/drawingml/2006/main" xmlns:r="http://schemas.openxmlformats.org/officeDocument/2006/relationships" xmlns:p="http://schemas.openxmlformats.org/presentationml/2006/main">
  <p:tag name="TOCSHAPE" val="2147469951"/>
  <p:tag name="SLIDEINDEX" val="2147469951"/>
</p:tagLst>
</file>

<file path=ppt/tags/tag147.xml><?xml version="1.0" encoding="utf-8"?>
<p:tagLst xmlns:a="http://schemas.openxmlformats.org/drawingml/2006/main" xmlns:r="http://schemas.openxmlformats.org/officeDocument/2006/relationships" xmlns:p="http://schemas.openxmlformats.org/presentationml/2006/main">
  <p:tag name="TOCSHAPE" val="2147469925"/>
  <p:tag name="SLIDEINDEX" val="2147469925"/>
</p:tagLst>
</file>

<file path=ppt/tags/tag148.xml><?xml version="1.0" encoding="utf-8"?>
<p:tagLst xmlns:a="http://schemas.openxmlformats.org/drawingml/2006/main" xmlns:r="http://schemas.openxmlformats.org/officeDocument/2006/relationships" xmlns:p="http://schemas.openxmlformats.org/presentationml/2006/main">
  <p:tag name="TOCSHAPE" val="718"/>
  <p:tag name="SLIDEINDEX" val="718"/>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51.xml><?xml version="1.0" encoding="utf-8"?>
<p:tagLst xmlns:a="http://schemas.openxmlformats.org/drawingml/2006/main" xmlns:r="http://schemas.openxmlformats.org/officeDocument/2006/relationships" xmlns:p="http://schemas.openxmlformats.org/presentationml/2006/main">
  <p:tag name="SHAPETYPE" val="BREADCRUMB"/>
</p:tagLst>
</file>

<file path=ppt/tags/tag152.xml><?xml version="1.0" encoding="utf-8"?>
<p:tagLst xmlns:a="http://schemas.openxmlformats.org/drawingml/2006/main" xmlns:r="http://schemas.openxmlformats.org/officeDocument/2006/relationships" xmlns:p="http://schemas.openxmlformats.org/presentationml/2006/main">
  <p:tag name="UPSLIDESHAPELIBITEMID" val="Canada_635072570278775245_745158836"/>
  <p:tag name="UPSLIDESHAPELIBITEMEDITIONDATE" val="635072570278775245"/>
  <p:tag name="UPSLIDESHAPELIBITEMLASTCREATOR" val="Elsa Martinez"/>
  <p:tag name="UPSLIDESHAPELIBITEMNAME" val="Canada"/>
  <p:tag name="UPSLIDESTOREDSHAPELOCATION" val="\\cagtafsr04\_advisory\transactions advisory\applications &amp; tools\upslide\transaction services\library (do not delete or move)\00. Shapes\Maps\America.lib"/>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55.xml><?xml version="1.0" encoding="utf-8"?>
<p:tagLst xmlns:a="http://schemas.openxmlformats.org/drawingml/2006/main" xmlns:r="http://schemas.openxmlformats.org/officeDocument/2006/relationships" xmlns:p="http://schemas.openxmlformats.org/presentationml/2006/main">
  <p:tag name="LAST UPDATE DATE" val="479591354.447715"/>
  <p:tag name="IMPORTID" val="5244479380048.04723"/>
  <p:tag name="WBLAST" val="https://kpmgcan.sharepoint.com/sites/CA-ProjectSkyrocket-TS/Shared Documents/2. Engagement Delivery and Execution/06_Analysis_and_Working_Papers/Report/Report tables and charts/Table Business Overview F24.xlsx"/>
  <p:tag name="USER NAME" val="anastasiianechaieva"/>
  <p:tag name="TYPE" val="1"/>
  <p:tag name="SOURCENAME" val="Business overview"/>
  <p:tag name="SHEETID" val="Business overview | FY24"/>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ptos Narrow&quot;,&#10;      &quot;Size&quot;: 11.0,&#10;      &quot;Color&quot;: 0,&#10;      &quot;IsBold&quot;: false,&#10;      &quot;IsItalic&quot;: false,&#10;      &quot;Underline&quot;: -4142&#10;    },&#10;    &quot;Printer&quot;: &quot;Microsoft Print to PDF on Ne02:&quot;&#10;  }&#10;}"/>
</p:tagLst>
</file>

<file path=ppt/tags/tag1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59.xml><?xml version="1.0" encoding="utf-8"?>
<p:tagLst xmlns:a="http://schemas.openxmlformats.org/drawingml/2006/main" xmlns:r="http://schemas.openxmlformats.org/officeDocument/2006/relationships" xmlns:p="http://schemas.openxmlformats.org/presentationml/2006/main">
  <p:tag name="LAST UPDATE DATE" val="479591415.014762"/>
  <p:tag name="IMPORTID" val="1900479380078.729272"/>
  <p:tag name="WBLAST" val="https://kpmgcan.sharepoint.com/sites/CA-ProjectSkyrocket-TS/Shared Documents/2. Engagement Delivery and Execution/06_Analysis_and_Working_Papers/Report/Report tables and charts/Table Business Overview F24.xlsx"/>
  <p:tag name="USER NAME" val="anastasiianechaieva"/>
  <p:tag name="TYPE" val="1"/>
  <p:tag name="SOURCENAME" val="Business overview"/>
  <p:tag name="SHEETID" val="Business overview | FY24"/>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ptos Narrow&quot;,&#10;      &quot;Size&quot;: 11.0,&#10;      &quot;Color&quot;: 0,&#10;      &quot;IsBold&quot;: false,&#10;      &quot;IsItalic&quot;: false,&#10;      &quot;Underline&quot;: -4142&#10;    },&#10;    &quot;Printer&quot;: &quot;Microsoft Print to PDF on Ne02:&quot;&#10;  }&#10;}"/>
</p:tagLst>
</file>

<file path=ppt/tags/tag1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62.xml><?xml version="1.0" encoding="utf-8"?>
<p:tagLst xmlns:a="http://schemas.openxmlformats.org/drawingml/2006/main" xmlns:r="http://schemas.openxmlformats.org/officeDocument/2006/relationships" xmlns:p="http://schemas.openxmlformats.org/presentationml/2006/main">
  <p:tag name="LAST UPDATE DATE" val="479434337.420609"/>
  <p:tag name="IMPORTID" val="5560478889522.55667"/>
  <p:tag name="WBLAST" val="https://kpmgcan.sharepoint.com/sites/CA-ProjectSkyrocket-TS/Shared Documents/2. Engagement Delivery and Execution/06_Analysis_and_Working_Papers/Report/Report tables and charts/Summary of tables.xlsx"/>
  <p:tag name="USER NAME" val="anastasiianechaieva"/>
  <p:tag name="TYPE" val="1"/>
  <p:tag name="SOURCENAME" val="Balance sheet | Consolidated"/>
  <p:tag name="SHEETID" val="BS | Consolidated "/>
  <p:tag name="PICTUREAPPEARANCE" val="xlPrinter"/>
  <p:tag name="NORESIZEONUPDATE" val="False"/>
  <p:tag name="EXPORTANDSETTINGINFO" val="{&#10;  &quot;PrimaryDisplay&quot;: {&#10;    &quot;IsDisplay1&quot;: false,&#10;    &quot;Resolution&quot;: {&#10;      &quot;Width&quot;: 1920,&#10;      &quot;Height&quot;: 1080&#10;    },&#10;    &quot;ResolutionToWorkingAreaRatio&quot;: 1.0&#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63.xml><?xml version="1.0" encoding="utf-8"?>
<p:tagLst xmlns:a="http://schemas.openxmlformats.org/drawingml/2006/main" xmlns:r="http://schemas.openxmlformats.org/officeDocument/2006/relationships" xmlns:p="http://schemas.openxmlformats.org/presentationml/2006/main">
  <p:tag name="LAST UPDATE DATE" val="479591765.200548"/>
  <p:tag name="IMPORTID" val="7156479093289.729138"/>
  <p:tag name="WBLAST" val="https://kpmgcan.sharepoint.com/sites/CA-ProjectSkyrocket-TS/Shared Documents/2. Engagement Delivery and Execution/06_Analysis_and_Working_Papers/Report/Report tables and charts/Summary of tables.xlsx"/>
  <p:tag name="USER NAME" val="anastasiianechaieva"/>
  <p:tag name="TYPE" val="1"/>
  <p:tag name="SOURCENAME" val="Income statement | Consolidated"/>
  <p:tag name="SHEETID" val="Summary financials "/>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64.xml><?xml version="1.0" encoding="utf-8"?>
<p:tagLst xmlns:a="http://schemas.openxmlformats.org/drawingml/2006/main" xmlns:r="http://schemas.openxmlformats.org/officeDocument/2006/relationships" xmlns:p="http://schemas.openxmlformats.org/presentationml/2006/main">
  <p:tag name="SHAPETYPE" val="BREADCRUMB"/>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68.xml><?xml version="1.0" encoding="utf-8"?>
<p:tagLst xmlns:a="http://schemas.openxmlformats.org/drawingml/2006/main" xmlns:r="http://schemas.openxmlformats.org/officeDocument/2006/relationships" xmlns:p="http://schemas.openxmlformats.org/presentationml/2006/main">
  <p:tag name="LAST UPDATE DATE" val="479591844.317368"/>
  <p:tag name="IMPORTID" val="6899479097135.940138"/>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000"/>
  <p:tag name="SHEETID" val="Qofe Summary"/>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69.xml><?xml version="1.0" encoding="utf-8"?>
<p:tagLst xmlns:a="http://schemas.openxmlformats.org/drawingml/2006/main" xmlns:r="http://schemas.openxmlformats.org/officeDocument/2006/relationships" xmlns:p="http://schemas.openxmlformats.org/presentationml/2006/main">
  <p:tag name="LAST UPDATE DATE" val="479592012.301246"/>
  <p:tag name="IMPORTID" val="6306479364649.504568"/>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000"/>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8.xml><?xml version="1.0" encoding="utf-8"?>
<p:tagLst xmlns:a="http://schemas.openxmlformats.org/drawingml/2006/main" xmlns:r="http://schemas.openxmlformats.org/officeDocument/2006/relationships" xmlns:p="http://schemas.openxmlformats.org/presentationml/2006/main">
  <p:tag name="LAST UPDATE DATE" val="479422172.912059"/>
  <p:tag name="IMPORTID" val="8515479098369.032707"/>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Insurer from "/>
  <p:tag name="SHEETID" val="CPC top 5"/>
  <p:tag name="PICTUREAPPEARANCE" val="xlPrinter"/>
  <p:tag name="NORESIZEONUPDATE" val="False"/>
  <p:tag name="EXPORTANDSETTINGINFO" val="{&#10;  &quot;PrimaryDisplay&quot;: {&#10;    &quot;IsDisplay1&quot;: false,&#10;    &quot;Resolution&quot;: {&#10;      &quot;Width&quot;: 1920,&#10;      &quot;Height&quot;: 1080&#10;    },&#10;    &quot;ResolutionToWorkingAreaRatio&quot;: 1.0&#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79.xml><?xml version="1.0" encoding="utf-8"?>
<p:tagLst xmlns:a="http://schemas.openxmlformats.org/drawingml/2006/main" xmlns:r="http://schemas.openxmlformats.org/officeDocument/2006/relationships" xmlns:p="http://schemas.openxmlformats.org/presentationml/2006/main">
  <p:tag name="LAST UPDATE DATE" val="479591026.258224"/>
  <p:tag name="IMPORTID" val="6325479349879.769433"/>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000"/>
  <p:tag name="SHEETID" val="CPC -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8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8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4.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Summary!$C$7:$I$20"/>
  <p:tag name="WASTB" val="TRUE"/>
</p:tagLst>
</file>

<file path=ppt/tags/tag185.xml><?xml version="1.0" encoding="utf-8"?>
<p:tagLst xmlns:a="http://schemas.openxmlformats.org/drawingml/2006/main" xmlns:r="http://schemas.openxmlformats.org/officeDocument/2006/relationships" xmlns:p="http://schemas.openxmlformats.org/presentationml/2006/main">
  <p:tag name="LAST UPDATE DATE" val="479595542.913105"/>
  <p:tag name="IMPORTID" val="387479498085.148629"/>
  <p:tag name="WBLAST" val="https://kpmgcan.sharepoint.com/sites/CA-ProjectSkyrocket-TS/Shared Documents/2. Engagement Delivery and Execution/06_Analysis_and_Working_Papers/Project Skyrocket Master databook_March 4.xlsx"/>
  <p:tag name="USER NAME" val="anastasiianechaieva"/>
  <p:tag name="TYPE" val="1"/>
  <p:tag name="SHEETID" val="NWC | Summary"/>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86.xml><?xml version="1.0" encoding="utf-8"?>
<p:tagLst xmlns:a="http://schemas.openxmlformats.org/drawingml/2006/main" xmlns:r="http://schemas.openxmlformats.org/officeDocument/2006/relationships" xmlns:p="http://schemas.openxmlformats.org/presentationml/2006/main">
  <p:tag name="LAST UPDATE DATE" val="479595608.082377"/>
  <p:tag name="IMPORTID" val="3702479497626.515065"/>
  <p:tag name="WBLAST" val="https://kpmgcan.sharepoint.com/sites/CA-ProjectSkyrocket-TS/Shared Documents/2. Engagement Delivery and Execution/06_Analysis_and_Working_Papers/Project Skyrocket Master databook_March 4.xlsx"/>
  <p:tag name="USER NAME" val="anastasiianechaieva"/>
  <p:tag name="TYPE" val="1"/>
  <p:tag name="SHEETID" val="NWC | Adjusted"/>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9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1.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et debt!$C$7:$I$44"/>
  <p:tag name="WASTB" val="TRUE"/>
</p:tagLst>
</file>

<file path=ppt/tags/tag192.xml><?xml version="1.0" encoding="utf-8"?>
<p:tagLst xmlns:a="http://schemas.openxmlformats.org/drawingml/2006/main" xmlns:r="http://schemas.openxmlformats.org/officeDocument/2006/relationships" xmlns:p="http://schemas.openxmlformats.org/presentationml/2006/main">
  <p:tag name="LAST UPDATE DATE" val="479595364.789465"/>
  <p:tag name="IMPORTID" val="6372479595314.771722"/>
  <p:tag name="WBLAST" val="https://kpmgcan.sharepoint.com/sites/CA-ProjectSkyrocket-TS/Shared Documents/2. Engagement Delivery and Execution/06_Analysis_and_Working_Papers/Project Skyrocket Master databook_March 4.xlsx"/>
  <p:tag name="USER NAME" val="anastasiianechaieva"/>
  <p:tag name="TYPE" val="1"/>
  <p:tag name="SHEETID" val="Net debt (slide 12)"/>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19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94.xml><?xml version="1.0" encoding="utf-8"?>
<p:tagLst xmlns:a="http://schemas.openxmlformats.org/drawingml/2006/main" xmlns:r="http://schemas.openxmlformats.org/officeDocument/2006/relationships" xmlns:p="http://schemas.openxmlformats.org/presentationml/2006/main">
  <p:tag name="SECTION" val="2"/>
  <p:tag name="NAME" val="Quality of earnings"/>
</p:tagLst>
</file>

<file path=ppt/tags/tag19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9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9.xml><?xml version="1.0" encoding="utf-8"?>
<p:tagLst xmlns:a="http://schemas.openxmlformats.org/drawingml/2006/main" xmlns:r="http://schemas.openxmlformats.org/officeDocument/2006/relationships" xmlns:p="http://schemas.openxmlformats.org/presentationml/2006/main">
  <p:tag name="TOCSHAPE" val="AA"/>
</p:tagLst>
</file>

<file path=ppt/tags/tag200.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201.xml><?xml version="1.0" encoding="utf-8"?>
<p:tagLst xmlns:a="http://schemas.openxmlformats.org/drawingml/2006/main" xmlns:r="http://schemas.openxmlformats.org/officeDocument/2006/relationships" xmlns:p="http://schemas.openxmlformats.org/presentationml/2006/main">
  <p:tag name="TOCSHAPE" val="AA"/>
</p:tagLst>
</file>

<file path=ppt/tags/tag202.xml><?xml version="1.0" encoding="utf-8"?>
<p:tagLst xmlns:a="http://schemas.openxmlformats.org/drawingml/2006/main" xmlns:r="http://schemas.openxmlformats.org/officeDocument/2006/relationships" xmlns:p="http://schemas.openxmlformats.org/presentationml/2006/main">
  <p:tag name="TOCSHAPE" val="AA"/>
</p:tagLst>
</file>

<file path=ppt/tags/tag203.xml><?xml version="1.0" encoding="utf-8"?>
<p:tagLst xmlns:a="http://schemas.openxmlformats.org/drawingml/2006/main" xmlns:r="http://schemas.openxmlformats.org/officeDocument/2006/relationships" xmlns:p="http://schemas.openxmlformats.org/presentationml/2006/main">
  <p:tag name="TOCSHAPE" val="AA"/>
</p:tagLst>
</file>

<file path=ppt/tags/tag204.xml><?xml version="1.0" encoding="utf-8"?>
<p:tagLst xmlns:a="http://schemas.openxmlformats.org/drawingml/2006/main" xmlns:r="http://schemas.openxmlformats.org/officeDocument/2006/relationships" xmlns:p="http://schemas.openxmlformats.org/presentationml/2006/main">
  <p:tag name="TOCSHAPE" val="2147469986"/>
  <p:tag name="SLIDEINDEX" val="2147469986"/>
</p:tagLst>
</file>

<file path=ppt/tags/tag205.xml><?xml version="1.0" encoding="utf-8"?>
<p:tagLst xmlns:a="http://schemas.openxmlformats.org/drawingml/2006/main" xmlns:r="http://schemas.openxmlformats.org/officeDocument/2006/relationships" xmlns:p="http://schemas.openxmlformats.org/presentationml/2006/main">
  <p:tag name="TOCSHAPE" val="2147469998"/>
  <p:tag name="SLIDEINDEX" val="2147469998"/>
</p:tagLst>
</file>

<file path=ppt/tags/tag206.xml><?xml version="1.0" encoding="utf-8"?>
<p:tagLst xmlns:a="http://schemas.openxmlformats.org/drawingml/2006/main" xmlns:r="http://schemas.openxmlformats.org/officeDocument/2006/relationships" xmlns:p="http://schemas.openxmlformats.org/presentationml/2006/main">
  <p:tag name="TOCSHAPE" val="2147470002"/>
  <p:tag name="SLIDEINDEX" val="2147470002"/>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0.xml><?xml version="1.0" encoding="utf-8"?>
<p:tagLst xmlns:a="http://schemas.openxmlformats.org/drawingml/2006/main" xmlns:r="http://schemas.openxmlformats.org/officeDocument/2006/relationships" xmlns:p="http://schemas.openxmlformats.org/presentationml/2006/main">
  <p:tag name="LAST UPDATE DATE" val="479593022.985562"/>
  <p:tag name="IMPORTID" val="4693478765324.75454"/>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 summary"/>
  <p:tag name="SHEETID" val="Qofe Summary"/>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5.xml><?xml version="1.0" encoding="utf-8"?>
<p:tagLst xmlns:a="http://schemas.openxmlformats.org/drawingml/2006/main" xmlns:r="http://schemas.openxmlformats.org/officeDocument/2006/relationships" xmlns:p="http://schemas.openxmlformats.org/presentationml/2006/main">
  <p:tag name="LAST UPDATE DATE" val="479593022.985562"/>
  <p:tag name="IMPORTID" val="4693478765324.75454"/>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 summary"/>
  <p:tag name="SHEETID" val="Qofe Summary"/>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1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0.xml><?xml version="1.0" encoding="utf-8"?>
<p:tagLst xmlns:a="http://schemas.openxmlformats.org/drawingml/2006/main" xmlns:r="http://schemas.openxmlformats.org/officeDocument/2006/relationships" xmlns:p="http://schemas.openxmlformats.org/presentationml/2006/main">
  <p:tag name="LAST UPDATE DATE" val="479595663.061158"/>
  <p:tag name="IMPORTID" val="6650478901428.698447"/>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View 2"/>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5.xml><?xml version="1.0" encoding="utf-8"?>
<p:tagLst xmlns:a="http://schemas.openxmlformats.org/drawingml/2006/main" xmlns:r="http://schemas.openxmlformats.org/officeDocument/2006/relationships" xmlns:p="http://schemas.openxmlformats.org/presentationml/2006/main">
  <p:tag name="LAST UPDATE DATE" val="479593190.006573"/>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2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0.xml><?xml version="1.0" encoding="utf-8"?>
<p:tagLst xmlns:a="http://schemas.openxmlformats.org/drawingml/2006/main" xmlns:r="http://schemas.openxmlformats.org/officeDocument/2006/relationships" xmlns:p="http://schemas.openxmlformats.org/presentationml/2006/main">
  <p:tag name="LAST UPDATE DATE" val="479593190.006573"/>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3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5.xml><?xml version="1.0" encoding="utf-8"?>
<p:tagLst xmlns:a="http://schemas.openxmlformats.org/drawingml/2006/main" xmlns:r="http://schemas.openxmlformats.org/officeDocument/2006/relationships" xmlns:p="http://schemas.openxmlformats.org/presentationml/2006/main">
  <p:tag name="LAST UPDATE DATE" val="479593272.158456"/>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0.xml><?xml version="1.0" encoding="utf-8"?>
<p:tagLst xmlns:a="http://schemas.openxmlformats.org/drawingml/2006/main" xmlns:r="http://schemas.openxmlformats.org/officeDocument/2006/relationships" xmlns:p="http://schemas.openxmlformats.org/presentationml/2006/main">
  <p:tag name="LAST UPDATE DATE" val="479593272.158456"/>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4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5.xml><?xml version="1.0" encoding="utf-8"?>
<p:tagLst xmlns:a="http://schemas.openxmlformats.org/drawingml/2006/main" xmlns:r="http://schemas.openxmlformats.org/officeDocument/2006/relationships" xmlns:p="http://schemas.openxmlformats.org/presentationml/2006/main">
  <p:tag name="LAST UPDATE DATE" val="479593272.158456"/>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4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0.xml><?xml version="1.0" encoding="utf-8"?>
<p:tagLst xmlns:a="http://schemas.openxmlformats.org/drawingml/2006/main" xmlns:r="http://schemas.openxmlformats.org/officeDocument/2006/relationships" xmlns:p="http://schemas.openxmlformats.org/presentationml/2006/main">
  <p:tag name="LAST UPDATE DATE" val="479593425.561054"/>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5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5.xml><?xml version="1.0" encoding="utf-8"?>
<p:tagLst xmlns:a="http://schemas.openxmlformats.org/drawingml/2006/main" xmlns:r="http://schemas.openxmlformats.org/officeDocument/2006/relationships" xmlns:p="http://schemas.openxmlformats.org/presentationml/2006/main">
  <p:tag name="LAST UPDATE DATE" val="479593425.561054"/>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0.xml><?xml version="1.0" encoding="utf-8"?>
<p:tagLst xmlns:a="http://schemas.openxmlformats.org/drawingml/2006/main" xmlns:r="http://schemas.openxmlformats.org/officeDocument/2006/relationships" xmlns:p="http://schemas.openxmlformats.org/presentationml/2006/main">
  <p:tag name="LAST UPDATE DATE" val="479593425.561054"/>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6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5.xml><?xml version="1.0" encoding="utf-8"?>
<p:tagLst xmlns:a="http://schemas.openxmlformats.org/drawingml/2006/main" xmlns:r="http://schemas.openxmlformats.org/officeDocument/2006/relationships" xmlns:p="http://schemas.openxmlformats.org/presentationml/2006/main">
  <p:tag name="LAST UPDATE DATE" val="479593425.561054"/>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0.xml><?xml version="1.0" encoding="utf-8"?>
<p:tagLst xmlns:a="http://schemas.openxmlformats.org/drawingml/2006/main" xmlns:r="http://schemas.openxmlformats.org/officeDocument/2006/relationships" xmlns:p="http://schemas.openxmlformats.org/presentationml/2006/main">
  <p:tag name="LAST UPDATE DATE" val="479593613.41232"/>
  <p:tag name="IMPORTID" val="3985478902310.9550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5.xml><?xml version="1.0" encoding="utf-8"?>
<p:tagLst xmlns:a="http://schemas.openxmlformats.org/drawingml/2006/main" xmlns:r="http://schemas.openxmlformats.org/officeDocument/2006/relationships" xmlns:p="http://schemas.openxmlformats.org/presentationml/2006/main">
  <p:tag name="LAST UPDATE DATE" val="479593659.195776"/>
  <p:tag name="IMPORTID" val="7712479362276.6805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0.xml><?xml version="1.0" encoding="utf-8"?>
<p:tagLst xmlns:a="http://schemas.openxmlformats.org/drawingml/2006/main" xmlns:r="http://schemas.openxmlformats.org/officeDocument/2006/relationships" xmlns:p="http://schemas.openxmlformats.org/presentationml/2006/main">
  <p:tag name="LAST UPDATE DATE" val="479101511.611435"/>
  <p:tag name="IMPORTID" val="7991479096903.370812"/>
  <p:tag name="WBLAST" val="https://kpmgcan.sharepoint.com/sites/CA-ProjectSkyrocket-TS/Shared Documents/2. Engagement Delivery and Execution/06_Analysis_and_Working_Papers/Project Skyrocket Master databook_March 4.xlsx"/>
  <p:tag name="USER NAME" val="deidrebartlett"/>
  <p:tag name="TYPE" val="1"/>
  <p:tag name="SOURCENAME" val="Potential acquisitions"/>
  <p:tag name="SHEETID" val="Shareholders"/>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Adobe PDF on Ne04:&quot;&#10;  }&#10;}"/>
</p:tagLst>
</file>

<file path=ppt/tags/tag281.xml><?xml version="1.0" encoding="utf-8"?>
<p:tagLst xmlns:a="http://schemas.openxmlformats.org/drawingml/2006/main" xmlns:r="http://schemas.openxmlformats.org/officeDocument/2006/relationships" xmlns:p="http://schemas.openxmlformats.org/presentationml/2006/main">
  <p:tag name="LAST UPDATE DATE" val="479593659.195776"/>
  <p:tag name="IMPORTID" val="7712479362276.6805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8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6.xml><?xml version="1.0" encoding="utf-8"?>
<p:tagLst xmlns:a="http://schemas.openxmlformats.org/drawingml/2006/main" xmlns:r="http://schemas.openxmlformats.org/officeDocument/2006/relationships" xmlns:p="http://schemas.openxmlformats.org/presentationml/2006/main">
  <p:tag name="LAST UPDATE DATE" val="479593659.195776"/>
  <p:tag name="IMPORTID" val="7712479362276.680531"/>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p:tag name="SHEETID" val="QofE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1.xml><?xml version="1.0" encoding="utf-8"?>
<p:tagLst xmlns:a="http://schemas.openxmlformats.org/drawingml/2006/main" xmlns:r="http://schemas.openxmlformats.org/officeDocument/2006/relationships" xmlns:p="http://schemas.openxmlformats.org/presentationml/2006/main">
  <p:tag name="LAST UPDATE DATE" val="479599658.663505"/>
  <p:tag name="IMPORTID" val="2494478923842.481422"/>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Adjusted income statement"/>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9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6.xml><?xml version="1.0" encoding="utf-8"?>
<p:tagLst xmlns:a="http://schemas.openxmlformats.org/drawingml/2006/main" xmlns:r="http://schemas.openxmlformats.org/officeDocument/2006/relationships" xmlns:p="http://schemas.openxmlformats.org/presentationml/2006/main">
  <p:tag name="LAST UPDATE DATE" val="479599658.663505"/>
  <p:tag name="IMPORTID" val="2494478923842.481422"/>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Adjusted income statement"/>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2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1.xml><?xml version="1.0" encoding="utf-8"?>
<p:tagLst xmlns:a="http://schemas.openxmlformats.org/drawingml/2006/main" xmlns:r="http://schemas.openxmlformats.org/officeDocument/2006/relationships" xmlns:p="http://schemas.openxmlformats.org/presentationml/2006/main">
  <p:tag name="LAST UPDATE DATE" val="479599725.655251"/>
  <p:tag name="IMPORTID" val="2494478923842.481422"/>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Adjusted income statement"/>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0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6.xml><?xml version="1.0" encoding="utf-8"?>
<p:tagLst xmlns:a="http://schemas.openxmlformats.org/drawingml/2006/main" xmlns:r="http://schemas.openxmlformats.org/officeDocument/2006/relationships" xmlns:p="http://schemas.openxmlformats.org/presentationml/2006/main">
  <p:tag name="LAST UPDATE DATE" val="479599725.655251"/>
  <p:tag name="IMPORTID" val="2494478923842.481422"/>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Adjusted income statement"/>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0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1.xml><?xml version="1.0" encoding="utf-8"?>
<p:tagLst xmlns:a="http://schemas.openxmlformats.org/drawingml/2006/main" xmlns:r="http://schemas.openxmlformats.org/officeDocument/2006/relationships" xmlns:p="http://schemas.openxmlformats.org/presentationml/2006/main">
  <p:tag name="LAST UPDATE DATE" val="479596628.637097"/>
  <p:tag name="IMPORTID" val="2482478946100.8084"/>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Adjusted EBITDA by source"/>
  <p:tag name="SHEETID" val="Adjusted IS |repor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1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3.xml><?xml version="1.0" encoding="utf-8"?>
<p:tagLst xmlns:a="http://schemas.openxmlformats.org/drawingml/2006/main" xmlns:r="http://schemas.openxmlformats.org/officeDocument/2006/relationships" xmlns:p="http://schemas.openxmlformats.org/presentationml/2006/main">
  <p:tag name="SECTION" val="3"/>
  <p:tag name="NAME" val="Net working capital and net debt"/>
</p:tagLst>
</file>

<file path=ppt/tags/tag31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8.xml><?xml version="1.0" encoding="utf-8"?>
<p:tagLst xmlns:a="http://schemas.openxmlformats.org/drawingml/2006/main" xmlns:r="http://schemas.openxmlformats.org/officeDocument/2006/relationships" xmlns:p="http://schemas.openxmlformats.org/presentationml/2006/main">
  <p:tag name="TOCSHAPE" val="AA"/>
</p:tagLst>
</file>

<file path=ppt/tags/tag319.xml><?xml version="1.0" encoding="utf-8"?>
<p:tagLst xmlns:a="http://schemas.openxmlformats.org/drawingml/2006/main" xmlns:r="http://schemas.openxmlformats.org/officeDocument/2006/relationships" xmlns:p="http://schemas.openxmlformats.org/presentationml/2006/main">
  <p:tag name="TOCSHAPE" val="2147470003"/>
  <p:tag name="SLIDEINDEX" val="2147470003"/>
</p:tagLst>
</file>

<file path=ppt/tags/tag320.xml><?xml version="1.0" encoding="utf-8"?>
<p:tagLst xmlns:a="http://schemas.openxmlformats.org/drawingml/2006/main" xmlns:r="http://schemas.openxmlformats.org/officeDocument/2006/relationships" xmlns:p="http://schemas.openxmlformats.org/presentationml/2006/main">
  <p:tag name="TOCSHAPE" val="AA"/>
</p:tagLst>
</file>

<file path=ppt/tags/tag321.xml><?xml version="1.0" encoding="utf-8"?>
<p:tagLst xmlns:a="http://schemas.openxmlformats.org/drawingml/2006/main" xmlns:r="http://schemas.openxmlformats.org/officeDocument/2006/relationships" xmlns:p="http://schemas.openxmlformats.org/presentationml/2006/main">
  <p:tag name="TOCSHAPE" val="AA"/>
</p:tagLst>
</file>

<file path=ppt/tags/tag322.xml><?xml version="1.0" encoding="utf-8"?>
<p:tagLst xmlns:a="http://schemas.openxmlformats.org/drawingml/2006/main" xmlns:r="http://schemas.openxmlformats.org/officeDocument/2006/relationships" xmlns:p="http://schemas.openxmlformats.org/presentationml/2006/main">
  <p:tag name="TOCSHAPE" val="AA"/>
</p:tagLst>
</file>

<file path=ppt/tags/tag323.xml><?xml version="1.0" encoding="utf-8"?>
<p:tagLst xmlns:a="http://schemas.openxmlformats.org/drawingml/2006/main" xmlns:r="http://schemas.openxmlformats.org/officeDocument/2006/relationships" xmlns:p="http://schemas.openxmlformats.org/presentationml/2006/main">
  <p:tag name="TOCSHAPE" val="2147470004"/>
  <p:tag name="SLIDEINDEX" val="2147470004"/>
</p:tagLst>
</file>

<file path=ppt/tags/tag324.xml><?xml version="1.0" encoding="utf-8"?>
<p:tagLst xmlns:a="http://schemas.openxmlformats.org/drawingml/2006/main" xmlns:r="http://schemas.openxmlformats.org/officeDocument/2006/relationships" xmlns:p="http://schemas.openxmlformats.org/presentationml/2006/main">
  <p:tag name="TOCSHAPE" val="2147470008"/>
  <p:tag name="SLIDEINDEX" val="2147470008"/>
</p:tagLst>
</file>

<file path=ppt/tags/tag325.xml><?xml version="1.0" encoding="utf-8"?>
<p:tagLst xmlns:a="http://schemas.openxmlformats.org/drawingml/2006/main" xmlns:r="http://schemas.openxmlformats.org/officeDocument/2006/relationships" xmlns:p="http://schemas.openxmlformats.org/presentationml/2006/main">
  <p:tag name="TOCSHAPE" val="2147470011"/>
  <p:tag name="SLIDEINDEX" val="2147470011"/>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9.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Summary!$C$7:$I$20"/>
  <p:tag name="WASTB" val="TRUE"/>
</p:tagLst>
</file>

<file path=ppt/tags/tag330.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Adjusted!$C$52:$AS$69"/>
  <p:tag name="WASTB" val="TRUE"/>
</p:tagLst>
</file>

<file path=ppt/tags/tag331.xml><?xml version="1.0" encoding="utf-8"?>
<p:tagLst xmlns:a="http://schemas.openxmlformats.org/drawingml/2006/main" xmlns:r="http://schemas.openxmlformats.org/officeDocument/2006/relationships" xmlns:p="http://schemas.openxmlformats.org/presentationml/2006/main">
  <p:tag name="LAST UPDATE DATE" val="479594408.531616"/>
  <p:tag name="IMPORTID" val="4683479340602.251652"/>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p:tag name="SHEETID" val="NWC | Summary (view2 sl.36)"/>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3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6.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Summary!$C$7:$I$20"/>
  <p:tag name="WASTB" val="TRUE"/>
</p:tagLst>
</file>

<file path=ppt/tags/tag337.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Adjusted!$C$52:$AS$69"/>
  <p:tag name="WASTB" val="TRUE"/>
</p:tagLst>
</file>

<file path=ppt/tags/tag338.xml><?xml version="1.0" encoding="utf-8"?>
<p:tagLst xmlns:a="http://schemas.openxmlformats.org/drawingml/2006/main" xmlns:r="http://schemas.openxmlformats.org/officeDocument/2006/relationships" xmlns:p="http://schemas.openxmlformats.org/presentationml/2006/main">
  <p:tag name="LAST UPDATE DATE" val="479594504.681703"/>
  <p:tag name="IMPORTID" val="8763479341295.097965"/>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detail"/>
  <p:tag name="SHEETID" val="NWC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3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3.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Detail!$C$7:$AX$153"/>
  <p:tag name="WASTB" val="TRUE"/>
</p:tagLst>
</file>

<file path=ppt/tags/tag344.xml><?xml version="1.0" encoding="utf-8"?>
<p:tagLst xmlns:a="http://schemas.openxmlformats.org/drawingml/2006/main" xmlns:r="http://schemas.openxmlformats.org/officeDocument/2006/relationships" xmlns:p="http://schemas.openxmlformats.org/presentationml/2006/main">
  <p:tag name="LAST UPDATE DATE" val="479594573.248831"/>
  <p:tag name="IMPORTID" val="8763479341295.097965"/>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detail"/>
  <p:tag name="SHEETID" val="NWC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9.xml><?xml version="1.0" encoding="utf-8"?>
<p:tagLst xmlns:a="http://schemas.openxmlformats.org/drawingml/2006/main" xmlns:r="http://schemas.openxmlformats.org/officeDocument/2006/relationships" xmlns:p="http://schemas.openxmlformats.org/presentationml/2006/main">
  <p:tag name="LAST UPDATE DATE" val="479594573.248831"/>
  <p:tag name="IMPORTID" val="8763479341295.097965"/>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detail"/>
  <p:tag name="SHEETID" val="NWC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4.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Detail!$C$7:$AX$151"/>
  <p:tag name="WASTB" val="TRUE"/>
</p:tagLst>
</file>

<file path=ppt/tags/tag355.xml><?xml version="1.0" encoding="utf-8"?>
<p:tagLst xmlns:a="http://schemas.openxmlformats.org/drawingml/2006/main" xmlns:r="http://schemas.openxmlformats.org/officeDocument/2006/relationships" xmlns:p="http://schemas.openxmlformats.org/presentationml/2006/main">
  <p:tag name="LAST UPDATE DATE" val="479594645.032437"/>
  <p:tag name="IMPORTID" val="8763479341295.097965"/>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detail"/>
  <p:tag name="SHEETID" val="NWC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0.xml><?xml version="1.0" encoding="utf-8"?>
<p:tagLst xmlns:a="http://schemas.openxmlformats.org/drawingml/2006/main" xmlns:r="http://schemas.openxmlformats.org/officeDocument/2006/relationships" xmlns:p="http://schemas.openxmlformats.org/presentationml/2006/main">
  <p:tag name="LAST UPDATE DATE" val="479594645.032437"/>
  <p:tag name="IMPORTID" val="8763479341295.097965"/>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detail"/>
  <p:tag name="SHEETID" val="NWC | Detail"/>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6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5.xml><?xml version="1.0" encoding="utf-8"?>
<p:tagLst xmlns:a="http://schemas.openxmlformats.org/drawingml/2006/main" xmlns:r="http://schemas.openxmlformats.org/officeDocument/2006/relationships" xmlns:p="http://schemas.openxmlformats.org/presentationml/2006/main">
  <p:tag name="LAST UPDATE DATE" val="479594941.882833"/>
  <p:tag name="IMPORTID" val="9435479357057.593544"/>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adjusted"/>
  <p:tag name="SHEETID" val="NWC | Adjusted"/>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66.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Adjusted!$C$76:$AU$95"/>
  <p:tag name="WASTB" val="TRUE"/>
</p:tagLst>
</file>

<file path=ppt/tags/tag36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1.xml><?xml version="1.0" encoding="utf-8"?>
<p:tagLst xmlns:a="http://schemas.openxmlformats.org/drawingml/2006/main" xmlns:r="http://schemas.openxmlformats.org/officeDocument/2006/relationships" xmlns:p="http://schemas.openxmlformats.org/presentationml/2006/main">
  <p:tag name="LAST UPDATE DATE" val="479594941.882833"/>
  <p:tag name="IMPORTID" val="9435479357057.593544"/>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working capital, adjusted"/>
  <p:tag name="SHEETID" val="NWC | Adjusted"/>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72.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WC | Adjusted!$C$76:$AU$95"/>
</p:tagLst>
</file>

<file path=ppt/tags/tag37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7.xml><?xml version="1.0" encoding="utf-8"?>
<p:tagLst xmlns:a="http://schemas.openxmlformats.org/drawingml/2006/main" xmlns:r="http://schemas.openxmlformats.org/officeDocument/2006/relationships" xmlns:p="http://schemas.openxmlformats.org/presentationml/2006/main">
  <p:tag name="XLNAME" val="[https://kpmgcan.sharepoint.com/sites/CA-ProjectSkyrocket-TS/Shared Documents/2. Engagement Delivery and Execution/06_Analysis_and_Working_Papers\Project Skyrocket Master databook_March 4.xlsx]Net debt!$C$7:$I$44"/>
  <p:tag name="WASTB" val="TRUE"/>
</p:tagLst>
</file>

<file path=ppt/tags/tag378.xml><?xml version="1.0" encoding="utf-8"?>
<p:tagLst xmlns:a="http://schemas.openxmlformats.org/drawingml/2006/main" xmlns:r="http://schemas.openxmlformats.org/officeDocument/2006/relationships" xmlns:p="http://schemas.openxmlformats.org/presentationml/2006/main">
  <p:tag name="LAST UPDATE DATE" val="479596404.118189"/>
  <p:tag name="IMPORTID" val="7838479595729.762077"/>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debt"/>
  <p:tag name="SHEETID" val="Net deb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7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3.xml><?xml version="1.0" encoding="utf-8"?>
<p:tagLst xmlns:a="http://schemas.openxmlformats.org/drawingml/2006/main" xmlns:r="http://schemas.openxmlformats.org/officeDocument/2006/relationships" xmlns:p="http://schemas.openxmlformats.org/presentationml/2006/main">
  <p:tag name="LAST UPDATE DATE" val="479596404.118189"/>
  <p:tag name="IMPORTID" val="7838479595729.762077"/>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debt"/>
  <p:tag name="SHEETID" val="Net deb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8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8.xml><?xml version="1.0" encoding="utf-8"?>
<p:tagLst xmlns:a="http://schemas.openxmlformats.org/drawingml/2006/main" xmlns:r="http://schemas.openxmlformats.org/officeDocument/2006/relationships" xmlns:p="http://schemas.openxmlformats.org/presentationml/2006/main">
  <p:tag name="LAST UPDATE DATE" val="479596404.118189"/>
  <p:tag name="IMPORTID" val="7838479595729.762077"/>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Net debt"/>
  <p:tag name="SHEETID" val="Net debt"/>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38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0.xml><?xml version="1.0" encoding="utf-8"?>
<p:tagLst xmlns:a="http://schemas.openxmlformats.org/drawingml/2006/main" xmlns:r="http://schemas.openxmlformats.org/officeDocument/2006/relationships" xmlns:p="http://schemas.openxmlformats.org/presentationml/2006/main">
  <p:tag name="NAME" val="Reporting"/>
  <p:tag name="SECTION" val="4"/>
</p:tagLst>
</file>

<file path=ppt/tags/tag391.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9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93.xml><?xml version="1.0" encoding="utf-8"?>
<p:tagLst xmlns:a="http://schemas.openxmlformats.org/drawingml/2006/main" xmlns:r="http://schemas.openxmlformats.org/officeDocument/2006/relationships" xmlns:p="http://schemas.openxmlformats.org/presentationml/2006/main">
  <p:tag name="TOCSHAPE" val="AA"/>
</p:tagLst>
</file>

<file path=ppt/tags/tag394.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395.xml><?xml version="1.0" encoding="utf-8"?>
<p:tagLst xmlns:a="http://schemas.openxmlformats.org/drawingml/2006/main" xmlns:r="http://schemas.openxmlformats.org/officeDocument/2006/relationships" xmlns:p="http://schemas.openxmlformats.org/presentationml/2006/main">
  <p:tag name="TOCSHAPE" val="AA"/>
</p:tagLst>
</file>

<file path=ppt/tags/tag396.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5.xml><?xml version="1.0" encoding="utf-8"?>
<p:tagLst xmlns:a="http://schemas.openxmlformats.org/drawingml/2006/main" xmlns:r="http://schemas.openxmlformats.org/officeDocument/2006/relationships" xmlns:p="http://schemas.openxmlformats.org/presentationml/2006/main">
  <p:tag name="NAME" val="Appendices"/>
  <p:tag name="SECTION" val="5"/>
</p:tagLst>
</file>

<file path=ppt/tags/tag40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0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0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0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6.xml><?xml version="1.0" encoding="utf-8"?>
<p:tagLst xmlns:a="http://schemas.openxmlformats.org/drawingml/2006/main" xmlns:r="http://schemas.openxmlformats.org/officeDocument/2006/relationships" xmlns:p="http://schemas.openxmlformats.org/presentationml/2006/main">
  <p:tag name="TOCSHAPE" val="AA"/>
</p:tagLst>
</file>

<file path=ppt/tags/tag417.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418.xml><?xml version="1.0" encoding="utf-8"?>
<p:tagLst xmlns:a="http://schemas.openxmlformats.org/drawingml/2006/main" xmlns:r="http://schemas.openxmlformats.org/officeDocument/2006/relationships" xmlns:p="http://schemas.openxmlformats.org/presentationml/2006/main">
  <p:tag name="TOCSHAPE" val="AA"/>
</p:tagLst>
</file>

<file path=ppt/tags/tag419.xml><?xml version="1.0" encoding="utf-8"?>
<p:tagLst xmlns:a="http://schemas.openxmlformats.org/drawingml/2006/main" xmlns:r="http://schemas.openxmlformats.org/officeDocument/2006/relationships" xmlns:p="http://schemas.openxmlformats.org/presentationml/2006/main">
  <p:tag name="TOCSHAPE" val="AA"/>
</p:tagLst>
</file>

<file path=ppt/tags/tag420.xml><?xml version="1.0" encoding="utf-8"?>
<p:tagLst xmlns:a="http://schemas.openxmlformats.org/drawingml/2006/main" xmlns:r="http://schemas.openxmlformats.org/officeDocument/2006/relationships" xmlns:p="http://schemas.openxmlformats.org/presentationml/2006/main">
  <p:tag name="TOCSHAPE" val="AA"/>
</p:tagLst>
</file>

<file path=ppt/tags/tag421.xml><?xml version="1.0" encoding="utf-8"?>
<p:tagLst xmlns:a="http://schemas.openxmlformats.org/drawingml/2006/main" xmlns:r="http://schemas.openxmlformats.org/officeDocument/2006/relationships" xmlns:p="http://schemas.openxmlformats.org/presentationml/2006/main">
  <p:tag name="TOCSHAPE" val="AA"/>
</p:tagLst>
</file>

<file path=ppt/tags/tag422.xml><?xml version="1.0" encoding="utf-8"?>
<p:tagLst xmlns:a="http://schemas.openxmlformats.org/drawingml/2006/main" xmlns:r="http://schemas.openxmlformats.org/officeDocument/2006/relationships" xmlns:p="http://schemas.openxmlformats.org/presentationml/2006/main">
  <p:tag name="TOCSHAPE" val="AA"/>
</p:tagLst>
</file>

<file path=ppt/tags/tag423.xml><?xml version="1.0" encoding="utf-8"?>
<p:tagLst xmlns:a="http://schemas.openxmlformats.org/drawingml/2006/main" xmlns:r="http://schemas.openxmlformats.org/officeDocument/2006/relationships" xmlns:p="http://schemas.openxmlformats.org/presentationml/2006/main">
  <p:tag name="TOCSHAPE" val="AA"/>
</p:tagLst>
</file>

<file path=ppt/tags/tag424.xml><?xml version="1.0" encoding="utf-8"?>
<p:tagLst xmlns:a="http://schemas.openxmlformats.org/drawingml/2006/main" xmlns:r="http://schemas.openxmlformats.org/officeDocument/2006/relationships" xmlns:p="http://schemas.openxmlformats.org/presentationml/2006/main">
  <p:tag name="TOCSHAPE" val="AA"/>
</p:tagLst>
</file>

<file path=ppt/tags/tag425.xml><?xml version="1.0" encoding="utf-8"?>
<p:tagLst xmlns:a="http://schemas.openxmlformats.org/drawingml/2006/main" xmlns:r="http://schemas.openxmlformats.org/officeDocument/2006/relationships" xmlns:p="http://schemas.openxmlformats.org/presentationml/2006/main">
  <p:tag name="TOCSHAPE" val="AA"/>
</p:tagLst>
</file>

<file path=ppt/tags/tag426.xml><?xml version="1.0" encoding="utf-8"?>
<p:tagLst xmlns:a="http://schemas.openxmlformats.org/drawingml/2006/main" xmlns:r="http://schemas.openxmlformats.org/officeDocument/2006/relationships" xmlns:p="http://schemas.openxmlformats.org/presentationml/2006/main">
  <p:tag name="TOCSHAPE" val="AA"/>
</p:tagLst>
</file>

<file path=ppt/tags/tag427.xml><?xml version="1.0" encoding="utf-8"?>
<p:tagLst xmlns:a="http://schemas.openxmlformats.org/drawingml/2006/main" xmlns:r="http://schemas.openxmlformats.org/officeDocument/2006/relationships" xmlns:p="http://schemas.openxmlformats.org/presentationml/2006/main">
  <p:tag name="TOCSHAPE" val="2147469919"/>
  <p:tag name="SLIDEINDEX" val="2147469919"/>
</p:tagLst>
</file>

<file path=ppt/tags/tag428.xml><?xml version="1.0" encoding="utf-8"?>
<p:tagLst xmlns:a="http://schemas.openxmlformats.org/drawingml/2006/main" xmlns:r="http://schemas.openxmlformats.org/officeDocument/2006/relationships" xmlns:p="http://schemas.openxmlformats.org/presentationml/2006/main">
  <p:tag name="TOCSHAPE" val="2147470036"/>
  <p:tag name="SLIDEINDEX" val="2147470036"/>
</p:tagLst>
</file>

<file path=ppt/tags/tag429.xml><?xml version="1.0" encoding="utf-8"?>
<p:tagLst xmlns:a="http://schemas.openxmlformats.org/drawingml/2006/main" xmlns:r="http://schemas.openxmlformats.org/officeDocument/2006/relationships" xmlns:p="http://schemas.openxmlformats.org/presentationml/2006/main">
  <p:tag name="TOCSHAPE" val="2147470035"/>
  <p:tag name="SLIDEINDEX" val="2147470035"/>
</p:tagLst>
</file>

<file path=ppt/tags/tag430.xml><?xml version="1.0" encoding="utf-8"?>
<p:tagLst xmlns:a="http://schemas.openxmlformats.org/drawingml/2006/main" xmlns:r="http://schemas.openxmlformats.org/officeDocument/2006/relationships" xmlns:p="http://schemas.openxmlformats.org/presentationml/2006/main">
  <p:tag name="TOCSHAPE" val="2147470028"/>
  <p:tag name="SLIDEINDEX" val="2147470028"/>
</p:tagLst>
</file>

<file path=ppt/tags/tag431.xml><?xml version="1.0" encoding="utf-8"?>
<p:tagLst xmlns:a="http://schemas.openxmlformats.org/drawingml/2006/main" xmlns:r="http://schemas.openxmlformats.org/officeDocument/2006/relationships" xmlns:p="http://schemas.openxmlformats.org/presentationml/2006/main">
  <p:tag name="TOCSHAPE" val="2147470037"/>
  <p:tag name="SLIDEINDEX" val="2147470037"/>
</p:tagLst>
</file>

<file path=ppt/tags/tag432.xml><?xml version="1.0" encoding="utf-8"?>
<p:tagLst xmlns:a="http://schemas.openxmlformats.org/drawingml/2006/main" xmlns:r="http://schemas.openxmlformats.org/officeDocument/2006/relationships" xmlns:p="http://schemas.openxmlformats.org/presentationml/2006/main">
  <p:tag name="TOCSHAPE" val="2147469983"/>
  <p:tag name="SLIDEINDEX" val="2147469983"/>
</p:tagLst>
</file>

<file path=ppt/tags/tag433.xml><?xml version="1.0" encoding="utf-8"?>
<p:tagLst xmlns:a="http://schemas.openxmlformats.org/drawingml/2006/main" xmlns:r="http://schemas.openxmlformats.org/officeDocument/2006/relationships" xmlns:p="http://schemas.openxmlformats.org/presentationml/2006/main">
  <p:tag name="TOCSHAPE" val="652"/>
  <p:tag name="SLIDEINDEX" val="652"/>
</p:tagLst>
</file>

<file path=ppt/tags/tag434.xml><?xml version="1.0" encoding="utf-8"?>
<p:tagLst xmlns:a="http://schemas.openxmlformats.org/drawingml/2006/main" xmlns:r="http://schemas.openxmlformats.org/officeDocument/2006/relationships" xmlns:p="http://schemas.openxmlformats.org/presentationml/2006/main">
  <p:tag name="TOCSHAPE" val="2147469976"/>
  <p:tag name="SLIDEINDEX" val="2147469976"/>
</p:tagLst>
</file>

<file path=ppt/tags/tag435.xml><?xml version="1.0" encoding="utf-8"?>
<p:tagLst xmlns:a="http://schemas.openxmlformats.org/drawingml/2006/main" xmlns:r="http://schemas.openxmlformats.org/officeDocument/2006/relationships" xmlns:p="http://schemas.openxmlformats.org/presentationml/2006/main">
  <p:tag name="TOCSHAPE" val="2147470012"/>
  <p:tag name="SLIDEINDEX" val="2147470012"/>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3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39.xml><?xml version="1.0" encoding="utf-8"?>
<p:tagLst xmlns:a="http://schemas.openxmlformats.org/drawingml/2006/main" xmlns:r="http://schemas.openxmlformats.org/officeDocument/2006/relationships" xmlns:p="http://schemas.openxmlformats.org/presentationml/2006/main">
  <p:tag name="LAST UPDATE DATE" val="479414101.414309"/>
  <p:tag name="IMPORTID" val="8457478954716.437471"/>
  <p:tag name="WBLAST" val="https://kpmgcan.sharepoint.com/sites/CA-ProjectSkyrocket-TS/Shared Documents/2. Engagement Delivery and Execution/06_Analysis_and_Working_Papers/Project Skyrocket Master databook_March 4.xlsx"/>
  <p:tag name="USER NAME" val="deidrebartlett"/>
  <p:tag name="TYPE" val="1"/>
  <p:tag name="SOURCENAME" val="Income statement reconciliation FY22"/>
  <p:tag name="SHEETID" val="P&amp;L rec FY22"/>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Adobe PDF on Ne04:&quot;&#10;  }&#10;}"/>
</p:tagLst>
</file>

<file path=ppt/tags/tag4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4.xml><?xml version="1.0" encoding="utf-8"?>
<p:tagLst xmlns:a="http://schemas.openxmlformats.org/drawingml/2006/main" xmlns:r="http://schemas.openxmlformats.org/officeDocument/2006/relationships" xmlns:p="http://schemas.openxmlformats.org/presentationml/2006/main">
  <p:tag name="LAST UPDATE DATE" val="479414458.496513"/>
  <p:tag name="IMPORTID" val="6652478957112.987831"/>
  <p:tag name="WBLAST" val="https://kpmgcan.sharepoint.com/sites/CA-ProjectSkyrocket-TS/Shared Documents/2. Engagement Delivery and Execution/06_Analysis_and_Working_Papers/Project Skyrocket Master databook_March 4.xlsx"/>
  <p:tag name="USER NAME" val="deidrebartlett"/>
  <p:tag name="TYPE" val="1"/>
  <p:tag name="SOURCENAME" val="Income statement reconciliation FY23"/>
  <p:tag name="SHEETID" val="P&amp;L Rec FY23"/>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Adobe PDF on Ne04:&quot;&#10;  }&#10;}"/>
</p:tagLst>
</file>

<file path=ppt/tags/tag4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9.xml><?xml version="1.0" encoding="utf-8"?>
<p:tagLst xmlns:a="http://schemas.openxmlformats.org/drawingml/2006/main" xmlns:r="http://schemas.openxmlformats.org/officeDocument/2006/relationships" xmlns:p="http://schemas.openxmlformats.org/presentationml/2006/main">
  <p:tag name="LAST UPDATE DATE" val="479524034.639997"/>
  <p:tag name="IMPORTID" val="4067478917279.392355"/>
  <p:tag name="WBLAST" val="https://kpmgcan-my.sharepoint.com/personal/anastasiianechaieva_kpmg_ca/Documents/7. Project Skyrocket/Report. Storyboard/Rec in Appendix.xlsx"/>
  <p:tag name="USER NAME" val="anastasiianechaieva"/>
  <p:tag name="TYPE" val="1"/>
  <p:tag name="SOURCENAME" val="Balance sheet reconciliation FY22"/>
  <p:tag name="SHEETID" val="BS |   Rec 22 (updated)"/>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Calibri&quot;,&#10;      &quot;Size&quot;: 11.0,&#10;      &quot;Color&quot;: 0,&#10;      &quot;IsBold&quot;: false,&#10;      &quot;IsItalic&quot;: false,&#10;      &quot;Underline&quot;: -4142&#10;    },&#10;    &quot;Printer&quot;: &quot;Microsoft Print to PDF on Ne02:&quot;&#10;  }&#10;}"/>
</p:tagLst>
</file>

<file path=ppt/tags/tag4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4.xml><?xml version="1.0" encoding="utf-8"?>
<p:tagLst xmlns:a="http://schemas.openxmlformats.org/drawingml/2006/main" xmlns:r="http://schemas.openxmlformats.org/officeDocument/2006/relationships" xmlns:p="http://schemas.openxmlformats.org/presentationml/2006/main">
  <p:tag name="LAST UPDATE DATE" val="479527959.014504"/>
  <p:tag name="IMPORTID" val="972478947349.637143"/>
  <p:tag name="WBLAST" val="https://kpmgcan-my.sharepoint.com/personal/anastasiianechaieva_kpmg_ca/Documents/7. Project Skyrocket/Report. Storyboard/Rec in Appendix.xlsx"/>
  <p:tag name="USER NAME" val="anastasiianechaieva"/>
  <p:tag name="TYPE" val="1"/>
  <p:tag name="SOURCENAME" val="Balance sheet reconciliation FY23"/>
  <p:tag name="SHEETID" val="BS |   Rec 23"/>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Calibri&quot;,&#10;      &quot;Size&quot;: 11.0,&#10;      &quot;Color&quot;: 0,&#10;      &quot;IsBold&quot;: false,&#10;      &quot;IsItalic&quot;: false,&#10;      &quot;Underline&quot;: -4142&#10;    },&#10;    &quot;Printer&quot;: &quot;Microsoft Print to PDF on Ne02:&quot;&#10;  }&#10;}"/>
</p:tagLst>
</file>

<file path=ppt/tags/tag45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9.xml><?xml version="1.0" encoding="utf-8"?>
<p:tagLst xmlns:a="http://schemas.openxmlformats.org/drawingml/2006/main" xmlns:r="http://schemas.openxmlformats.org/officeDocument/2006/relationships" xmlns:p="http://schemas.openxmlformats.org/presentationml/2006/main">
  <p:tag name="LAST UPDATE DATE" val="479597570.611453"/>
  <p:tag name="IMPORTID" val="1010479350947.848166"/>
  <p:tag name="WBLAST" val="https://kpmgcan.sharepoint.com/sites/CA-ProjectSkyrocket-TS/Shared Documents/2. Engagement Delivery and Execution/06_Analysis_and_Working_Papers/Project Skyrocket Master databook_March 4.xlsx"/>
  <p:tag name="USER NAME" val="anastasiianechaieva"/>
  <p:tag name="TYPE" val="1"/>
  <p:tag name="SOURCENAME" val="Quality of earnings - challenges overview"/>
  <p:tag name="SHEETID" val="Challenge sum."/>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Microsoft Print to PDF on Ne02:&quot;&#10;  }&#10;}"/>
</p:tagLst>
</file>

<file path=ppt/tags/tag4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4.xml><?xml version="1.0" encoding="utf-8"?>
<p:tagLst xmlns:a="http://schemas.openxmlformats.org/drawingml/2006/main" xmlns:r="http://schemas.openxmlformats.org/officeDocument/2006/relationships" xmlns:p="http://schemas.openxmlformats.org/presentationml/2006/main">
  <p:tag name="LAST UPDATE DATE" val="479350547.181424"/>
  <p:tag name="IMPORTID" val="2644479350547.181424"/>
  <p:tag name="WBLAST" val="https://kpmgcan.sharepoint.com/sites/CA-ProjectSkyrocket-TS/Shared Documents/2. Engagement Delivery and Execution/06_Analysis_and_Working_Papers/Project Skyrocket Master databook_March 4.xlsx"/>
  <p:tag name="USER NAME" val="deidrebartlett"/>
  <p:tag name="TYPE" val="1"/>
  <p:tag name="SOURCENAME" val="New producer compensation"/>
  <p:tag name="SHEETID" val="report charts"/>
  <p:tag name="PICTUREAPPEARANCE" val="xlPrinter"/>
  <p:tag name="NORESIZEONUPDATE" val="False"/>
  <p:tag name="EXPORTANDSETTINGINFO" val="{&#10;  &quot;PrimaryDisplay&quot;: {&#10;    &quot;IsDisplay1&quot;: true,&#10;    &quot;Resolution&quot;: {&#10;      &quot;Width&quot;: 1280,&#10;      &quot;Height&quot;: 800&#10;    },&#10;    &quot;ResolutionToWorkingAreaRatio&quot;: 1.5&#10;  },&#10;  &quot;ResizeRatio&quot;: 1.0,&#10;  &quot;UndoAutoColor&quot;: false,&#10;  &quot;CustomAutoColor&quot;: false,&#10;  &quot;ExcelInfo&quot;: {&#10;    &quot;NormalFontStyle&quot;: {&#10;      &quot;Name&quot;: &quot;Arial&quot;,&#10;      &quot;Size&quot;: 8.0,&#10;      &quot;Color&quot;: 0,&#10;      &quot;IsBold&quot;: false,&#10;      &quot;IsItalic&quot;: false,&#10;      &quot;Underline&quot;: -4142&#10;    },&#10;    &quot;Printer&quot;: &quot;Adobe PDF on Ne04:&quot;&#10;  }&#10;}"/>
</p:tagLst>
</file>

<file path=ppt/tags/tag46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9.xml><?xml version="1.0" encoding="utf-8"?>
<p:tagLst xmlns:a="http://schemas.openxmlformats.org/drawingml/2006/main" xmlns:r="http://schemas.openxmlformats.org/officeDocument/2006/relationships" xmlns:p="http://schemas.openxmlformats.org/presentationml/2006/main">
  <p:tag name="LAST UPDATE DATE" val="478907253.561328"/>
  <p:tag name="IMPORTID" val="501478907196.329353"/>
  <p:tag name="WBLAST" val="https://kpmgcan.sharepoint.com/sites/CA-ProjectSkyrocket-TS/Shared Documents/2. Engagement Delivery and Execution/06_Analysis_and_Working_Papers/NWC/NWC databook_March 5.xlsx"/>
  <p:tag name="USER NAME" val="mdelisle"/>
  <p:tag name="TYPE" val="1"/>
  <p:tag name="SOURCENAME" val="CAPEX capital spending breakdown"/>
  <p:tag name="SHEETID" val="NWC | CAPEX breakdown"/>
  <p:tag name="PICTUREAPPEARANCE" val="xlPrinter"/>
  <p:tag name="NORESIZEONUPDATE" val="False"/>
</p:tagLst>
</file>

<file path=ppt/tags/tag4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4.xml><?xml version="1.0" encoding="utf-8"?>
<p:tagLst xmlns:a="http://schemas.openxmlformats.org/drawingml/2006/main" xmlns:r="http://schemas.openxmlformats.org/officeDocument/2006/relationships" xmlns:p="http://schemas.openxmlformats.org/presentationml/2006/main">
  <p:tag name="LAST UPDATE DATE" val="479078810.572079"/>
  <p:tag name="IMPORTID" val="7275479062805.884237"/>
  <p:tag name="WBLAST" val="https://kpmgcan.sharepoint.com/sites/CA-ProjectSkyrocket-TS/Shared Documents/2. Engagement Delivery and Execution/06_Analysis_and_Working_Papers/Project Skyrocket Master databook_March 4.xlsx"/>
  <p:tag name="USER NAME" val="mdelisle"/>
  <p:tag name="TYPE" val="1"/>
  <p:tag name="SOURCENAME" val="Earn-out payables breakdown"/>
  <p:tag name="SHEETID" val="Net debt | NWC adj impact"/>
  <p:tag name="PICTUREAPPEARANCE" val="xlPrinter"/>
  <p:tag name="NORESIZEONUPDATE" val="False"/>
</p:tagLst>
</file>

<file path=ppt/tags/tag475.xml><?xml version="1.0" encoding="utf-8"?>
<p:tagLst xmlns:a="http://schemas.openxmlformats.org/drawingml/2006/main" xmlns:r="http://schemas.openxmlformats.org/officeDocument/2006/relationships" xmlns:p="http://schemas.openxmlformats.org/presentationml/2006/main">
  <p:tag name="LAST UPDATE DATE" val="479100005.368116"/>
  <p:tag name="IMPORTID" val="5021479078845.506036"/>
  <p:tag name="WBLAST" val="C:\Users\mdelisle\Desktop\Project Skyrocket Master databook_March 4.xlsx"/>
  <p:tag name="USER NAME" val="mdelisle"/>
  <p:tag name="TYPE" val="1"/>
  <p:tag name="SOURCENAME" val="Purchase price balance breakdown"/>
  <p:tag name="SHEETID" val="Net debt | NWC adj impact"/>
  <p:tag name="PICTUREAPPEARANCE" val="xlPrinter"/>
  <p:tag name="NORESIZEONUPDATE" val="False"/>
</p:tagLst>
</file>

<file path=ppt/tags/tag4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8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8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8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85.xml><?xml version="1.0" encoding="utf-8"?>
<p:tagLst xmlns:a="http://schemas.openxmlformats.org/drawingml/2006/main" xmlns:r="http://schemas.openxmlformats.org/officeDocument/2006/relationships" xmlns:p="http://schemas.openxmlformats.org/presentationml/2006/main">
  <p:tag name="CROSSREFGUID" val="ddb72b19-fda2-4358-bb0e-8633705c0354"/>
</p:tagLst>
</file>

<file path=ppt/tags/tag48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9.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9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9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3.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9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9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7.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49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99.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1.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0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3.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0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9.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Diligence+ report template (2025).potx  -  Read-Only" id="{E2D6A7C7-1298-44DA-A23D-E6E2C88579B7}" vid="{ED5181F6-9966-491D-A817-72CF5F2DD9D3}"/>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Diligence+ report template (2025).potx  -  Read-Only" id="{E2D6A7C7-1298-44DA-A23D-E6E2C88579B7}" vid="{2949C7CA-45ED-450A-A1E1-D429F6A957B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2.xml><?xml version="1.0" encoding="utf-8"?>
<ds:datastoreItem xmlns:ds="http://schemas.openxmlformats.org/officeDocument/2006/customXml" ds:itemID="{C814192D-94D1-473A-9C6D-864DB427DF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996f19-b754-4f90-98d6-c022be1420b3"/>
    <ds:schemaRef ds:uri="ce774d3a-0da9-40f3-b86d-c9c3902288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E72566-D19C-46FB-9549-7A2AD2EE2DB9}">
  <ds:schemaRefs>
    <ds:schemaRef ds:uri="c2d49c12-af68-41ba-b557-40ba1200ec19"/>
    <ds:schemaRef ds:uri="c939030d-1106-4a6e-81ec-1cca44ae52a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30996f19-b754-4f90-98d6-c022be1420b3"/>
    <ds:schemaRef ds:uri="ce774d3a-0da9-40f3-b86d-c9c3902288d7"/>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Diligence+ report template (2025)</Template>
  <TotalTime>4</TotalTime>
  <Words>22653</Words>
  <Application>Microsoft Macintosh PowerPoint</Application>
  <PresentationFormat>Widescreen</PresentationFormat>
  <Paragraphs>2436</Paragraphs>
  <Slides>73</Slides>
  <Notes>7</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73</vt:i4>
      </vt:variant>
    </vt:vector>
  </HeadingPairs>
  <TitlesOfParts>
    <vt:vector size="79" baseType="lpstr">
      <vt:lpstr>Arial</vt:lpstr>
      <vt:lpstr>Arial </vt:lpstr>
      <vt:lpstr>KPMG Bold</vt:lpstr>
      <vt:lpstr>KPMG Widescreen - UpSlide</vt:lpstr>
      <vt:lpstr>UpSlide Table Of Content Master (do not edit)</vt:lpstr>
      <vt:lpstr>think-cell Slide</vt:lpstr>
      <vt:lpstr>Project Skyrocket  DRAFT</vt:lpstr>
      <vt:lpstr>Disclaimer</vt:lpstr>
      <vt:lpstr>PowerPoint Presentation</vt:lpstr>
      <vt:lpstr>Contents</vt:lpstr>
      <vt:lpstr>PowerPoint Presentation</vt:lpstr>
      <vt:lpstr>Business overview</vt:lpstr>
      <vt:lpstr>Business overview –  Summary of entities (1/2)</vt:lpstr>
      <vt:lpstr>Business overview –  Summary of entities (2/2)</vt:lpstr>
      <vt:lpstr>Summary financials – Income statement and balance sheet</vt:lpstr>
      <vt:lpstr>Key findings — Quality of earnings</vt:lpstr>
      <vt:lpstr>Key findings — Base commissions</vt:lpstr>
      <vt:lpstr>Key findings — CPC income and overrides</vt:lpstr>
      <vt:lpstr>Key findings — Net working capital</vt:lpstr>
      <vt:lpstr>Key findings — Net debt and minority interests</vt:lpstr>
      <vt:lpstr>PowerPoint Presentation</vt:lpstr>
      <vt:lpstr>Quality of earnings – overview (1/2)</vt:lpstr>
      <vt:lpstr>Quality of earnings – overview (2/2)</vt:lpstr>
      <vt:lpstr>Quality of earnings – nature of adjustments</vt:lpstr>
      <vt:lpstr>Quality of earnings – challenges to sell-side adjustments (1/5)</vt:lpstr>
      <vt:lpstr>Quality of earnings – challenges to sell-side adjustments (2/5)</vt:lpstr>
      <vt:lpstr>Quality of earnings – challenges to sell-side adjustments (3/5)</vt:lpstr>
      <vt:lpstr>Quality of earnings – challenges to sell-side adjustments (4/5)</vt:lpstr>
      <vt:lpstr>Quality of earnings – challenges to sell-side adjustments (5/5)</vt:lpstr>
      <vt:lpstr>Quality of earnings – potential adjustments (1/4)</vt:lpstr>
      <vt:lpstr>Quality of earnings – potential adjustments (2/4)</vt:lpstr>
      <vt:lpstr>Quality of earnings – potential adjustments (3/4)</vt:lpstr>
      <vt:lpstr>Quality of earnings – potential adjustments (4/4)</vt:lpstr>
      <vt:lpstr>Quality of earnings – pro forma adjustments </vt:lpstr>
      <vt:lpstr>Quality of earnings – other considerations (1/3)</vt:lpstr>
      <vt:lpstr>Quality of earnings – other considerations (2/3)</vt:lpstr>
      <vt:lpstr>Quality of earnings – other considerations (3/3)</vt:lpstr>
      <vt:lpstr>Adjusted income statement (1/4)</vt:lpstr>
      <vt:lpstr>Adjusted income statement (2/4)</vt:lpstr>
      <vt:lpstr>Adjusted income statement (3/4)</vt:lpstr>
      <vt:lpstr>Adjusted income statement (4/4)</vt:lpstr>
      <vt:lpstr>Adjusted EBITDA by source</vt:lpstr>
      <vt:lpstr>PowerPoint Presentation</vt:lpstr>
      <vt:lpstr>Net working capital — overview (1/2)</vt:lpstr>
      <vt:lpstr>Net working capital — overview (2/2)</vt:lpstr>
      <vt:lpstr>Net working capital - challenges to sell-side adjustments (1/2)</vt:lpstr>
      <vt:lpstr>Net working capital - challenges to sell-side adjustments (2/2)</vt:lpstr>
      <vt:lpstr>Net working capital — other potential adjustments (1/2) </vt:lpstr>
      <vt:lpstr>Net working capital — other potential adjustments (2/2) </vt:lpstr>
      <vt:lpstr>Adjusted net working capital (1/2)</vt:lpstr>
      <vt:lpstr>Adjusted net working capital (2/2)</vt:lpstr>
      <vt:lpstr>Net debt – definitional items (1/2)</vt:lpstr>
      <vt:lpstr>Net debt – definitional items (2/2)</vt:lpstr>
      <vt:lpstr>Net debt – other potential debt-like items </vt:lpstr>
      <vt:lpstr>PowerPoint Presentation</vt:lpstr>
      <vt:lpstr>Financial reporting environment (1/2)</vt:lpstr>
      <vt:lpstr>Financial reporting environment (2/2)</vt:lpstr>
      <vt:lpstr>PowerPoint Presentation</vt:lpstr>
      <vt:lpstr>Income statement reconciliation to audited financial statements – FY22</vt:lpstr>
      <vt:lpstr>Income statement reconciliation to audited financial statements – FY23</vt:lpstr>
      <vt:lpstr>Balance sheet reconciliation to audited financial statements – Dec-22</vt:lpstr>
      <vt:lpstr>Balance sheet reconciliation to audited financial statements – Dec-23</vt:lpstr>
      <vt:lpstr>Sell-side challenges overview</vt:lpstr>
      <vt:lpstr>New producer compensation</vt:lpstr>
      <vt:lpstr>Net working capital support – Capex</vt:lpstr>
      <vt:lpstr>Net debt support – Obligations related to past acquisitions</vt:lpstr>
      <vt:lpstr>Legal structure (1/2) – P&amp;C</vt:lpstr>
      <vt:lpstr>Legal structure (2/2) – Group benefits</vt:lpstr>
      <vt:lpstr>Basis of preparation</vt:lpstr>
      <vt:lpstr>Scope of work (1/6)</vt:lpstr>
      <vt:lpstr>Scope of work (2/6)</vt:lpstr>
      <vt:lpstr>Scope of work (3/6)</vt:lpstr>
      <vt:lpstr>Scope of work (4/6)</vt:lpstr>
      <vt:lpstr>Scope of work (5/6)</vt:lpstr>
      <vt:lpstr>Scope of work (6/6)</vt:lpstr>
      <vt:lpstr>Glossary of terms and abbreviations – list of entities</vt:lpstr>
      <vt:lpstr>Glossary of terms and abbreviations (1/2)</vt:lpstr>
      <vt:lpstr>Glossary of terms and abbreviations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DRAFT</dc:title>
  <dc:creator>Weatherill, Tom</dc:creator>
  <cp:lastModifiedBy>Sharma, Rishi</cp:lastModifiedBy>
  <cp:revision>2</cp:revision>
  <cp:lastPrinted>2025-03-13T00:03:44Z</cp:lastPrinted>
  <dcterms:created xsi:type="dcterms:W3CDTF">2025-01-13T17:48:17Z</dcterms:created>
  <dcterms:modified xsi:type="dcterms:W3CDTF">2026-01-12T18:12:03Z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y fmtid="{D5CDD505-2E9C-101B-9397-08002B2CF9AE}" pid="4" name="KPMG_LayoutGrid">
    <vt:lpwstr>0</vt:lpwstr>
  </property>
</Properties>
</file>