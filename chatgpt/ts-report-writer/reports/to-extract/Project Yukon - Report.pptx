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2.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6.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1.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2.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13.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14.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5.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6.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17.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8.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9.xml" ContentType="application/vnd.openxmlformats-officedocument.presentationml.notesSlide+xml"/>
  <Override PartName="/ppt/tags/tag74.xml" ContentType="application/vnd.openxmlformats-officedocument.presentationml.tags+xml"/>
  <Override PartName="/ppt/notesSlides/notesSlide20.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83.xml" ContentType="application/vnd.openxmlformats-officedocument.presentationml.tags+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5"/>
  </p:notesMasterIdLst>
  <p:sldIdLst>
    <p:sldId id="1069" r:id="rId5"/>
    <p:sldId id="1070" r:id="rId6"/>
    <p:sldId id="1226" r:id="rId7"/>
    <p:sldId id="1853" r:id="rId8"/>
    <p:sldId id="910" r:id="rId9"/>
    <p:sldId id="1850" r:id="rId10"/>
    <p:sldId id="1506" r:id="rId11"/>
    <p:sldId id="1855" r:id="rId12"/>
    <p:sldId id="1854" r:id="rId13"/>
    <p:sldId id="1852" r:id="rId14"/>
    <p:sldId id="1167" r:id="rId15"/>
    <p:sldId id="1473" r:id="rId16"/>
    <p:sldId id="1846" r:id="rId17"/>
    <p:sldId id="1847" r:id="rId18"/>
    <p:sldId id="1848" r:id="rId19"/>
    <p:sldId id="1849" r:id="rId20"/>
    <p:sldId id="1858" r:id="rId21"/>
    <p:sldId id="1478" r:id="rId22"/>
    <p:sldId id="1479" r:id="rId23"/>
    <p:sldId id="1480" r:id="rId24"/>
    <p:sldId id="1489" r:id="rId25"/>
    <p:sldId id="1562" r:id="rId26"/>
    <p:sldId id="1843" r:id="rId27"/>
    <p:sldId id="1851" r:id="rId28"/>
    <p:sldId id="1841" r:id="rId29"/>
    <p:sldId id="1856" r:id="rId30"/>
    <p:sldId id="1859" r:id="rId31"/>
    <p:sldId id="1782" r:id="rId32"/>
    <p:sldId id="941" r:id="rId33"/>
    <p:sldId id="1087" r:id="rId34"/>
  </p:sldIdLst>
  <p:sldSz cx="9144000" cy="6858000" type="letter"/>
  <p:notesSz cx="7010400" cy="92964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292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n, Eddie" initials="CE" lastIdx="16" clrIdx="0">
    <p:extLst>
      <p:ext uri="{19B8F6BF-5375-455C-9EA6-DF929625EA0E}">
        <p15:presenceInfo xmlns:p15="http://schemas.microsoft.com/office/powerpoint/2012/main" userId="S::eddiechan@kpmg.ca::908114d7-42cd-4f78-8408-b2da84c2cce0" providerId="AD"/>
      </p:ext>
    </p:extLst>
  </p:cmAuthor>
  <p:cmAuthor id="2" name="Vivolo, Matthew H" initials="VMH" lastIdx="1" clrIdx="1">
    <p:extLst>
      <p:ext uri="{19B8F6BF-5375-455C-9EA6-DF929625EA0E}">
        <p15:presenceInfo xmlns:p15="http://schemas.microsoft.com/office/powerpoint/2012/main" userId="S::mvivolo@kpmg.ca::a8d5a910-bfc5-486c-94b8-6a48d0201fb6" providerId="AD"/>
      </p:ext>
    </p:extLst>
  </p:cmAuthor>
  <p:cmAuthor id="3" name="Lnu, Juliana" initials="LJ" lastIdx="10" clrIdx="2">
    <p:extLst>
      <p:ext uri="{19B8F6BF-5375-455C-9EA6-DF929625EA0E}">
        <p15:presenceInfo xmlns:p15="http://schemas.microsoft.com/office/powerpoint/2012/main" userId="S::jlnu@kpmg.ca::0796bc17-1cfe-40ac-9d40-4c2067b1459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clrMode="bw"/>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204B"/>
    <a:srgbClr val="0091DA"/>
    <a:srgbClr val="F68D2E"/>
    <a:srgbClr val="EAAA00"/>
    <a:srgbClr val="43B02A"/>
    <a:srgbClr val="009A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28" autoAdjust="0"/>
    <p:restoredTop sz="96133" autoAdjust="0"/>
  </p:normalViewPr>
  <p:slideViewPr>
    <p:cSldViewPr snapToGrid="0" showGuides="1">
      <p:cViewPr varScale="1">
        <p:scale>
          <a:sx n="72" d="100"/>
          <a:sy n="72" d="100"/>
        </p:scale>
        <p:origin x="1356" y="60"/>
      </p:cViewPr>
      <p:guideLst>
        <p:guide orient="horz" pos="3360"/>
        <p:guide pos="2928"/>
      </p:guideLst>
    </p:cSldViewPr>
  </p:slideViewPr>
  <p:outlineViewPr>
    <p:cViewPr>
      <p:scale>
        <a:sx n="33" d="100"/>
        <a:sy n="33" d="100"/>
      </p:scale>
      <p:origin x="0" y="-16746"/>
    </p:cViewPr>
  </p:outlineViewPr>
  <p:notesTextViewPr>
    <p:cViewPr>
      <p:scale>
        <a:sx n="3" d="2"/>
        <a:sy n="3" d="2"/>
      </p:scale>
      <p:origin x="0" y="0"/>
    </p:cViewPr>
  </p:notesTextViewPr>
  <p:sorterViewPr>
    <p:cViewPr varScale="1">
      <p:scale>
        <a:sx n="1" d="1"/>
        <a:sy n="1" d="1"/>
      </p:scale>
      <p:origin x="0" y="-190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3.vml.rels><?xml version="1.0" encoding="UTF-8" standalone="yes"?>
<Relationships xmlns="http://schemas.openxmlformats.org/package/2006/relationships"><Relationship Id="rId1" Type="http://schemas.openxmlformats.org/officeDocument/2006/relationships/image" Target="NULL"/></Relationships>
</file>

<file path=ppt/drawings/_rels/vmlDrawing14.vml.rels><?xml version="1.0" encoding="UTF-8" standalone="yes"?>
<Relationships xmlns="http://schemas.openxmlformats.org/package/2006/relationships"><Relationship Id="rId1" Type="http://schemas.openxmlformats.org/officeDocument/2006/relationships/image" Target="NULL"/></Relationships>
</file>

<file path=ppt/drawings/_rels/vmlDrawing15.vml.rels><?xml version="1.0" encoding="UTF-8" standalone="yes"?>
<Relationships xmlns="http://schemas.openxmlformats.org/package/2006/relationships"><Relationship Id="rId1" Type="http://schemas.openxmlformats.org/officeDocument/2006/relationships/image" Target="NULL"/></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1"/>
            <a:ext cx="3037840" cy="466434"/>
          </a:xfrm>
          <a:prstGeom prst="rect">
            <a:avLst/>
          </a:prstGeom>
        </p:spPr>
        <p:txBody>
          <a:bodyPr vert="horz" lIns="93177" tIns="46589" rIns="93177" bIns="46589" rtlCol="0"/>
          <a:lstStyle>
            <a:lvl1pPr algn="l">
              <a:defRPr sz="1200"/>
            </a:lvl1pPr>
          </a:lstStyle>
          <a:p>
            <a:endParaRPr lang="en-CA" dirty="0"/>
          </a:p>
        </p:txBody>
      </p:sp>
      <p:sp>
        <p:nvSpPr>
          <p:cNvPr id="3" name="Espace réservé de la date 2"/>
          <p:cNvSpPr>
            <a:spLocks noGrp="1"/>
          </p:cNvSpPr>
          <p:nvPr>
            <p:ph type="dt" idx="1"/>
          </p:nvPr>
        </p:nvSpPr>
        <p:spPr>
          <a:xfrm>
            <a:off x="3970939" y="1"/>
            <a:ext cx="3037840" cy="466434"/>
          </a:xfrm>
          <a:prstGeom prst="rect">
            <a:avLst/>
          </a:prstGeom>
        </p:spPr>
        <p:txBody>
          <a:bodyPr vert="horz" lIns="93177" tIns="46589" rIns="93177" bIns="46589" rtlCol="0"/>
          <a:lstStyle>
            <a:lvl1pPr algn="r">
              <a:defRPr sz="1200"/>
            </a:lvl1pPr>
          </a:lstStyle>
          <a:p>
            <a:fld id="{DE3BE6DB-D452-43FD-85F4-C135BF52E16A}" type="datetimeFigureOut">
              <a:rPr lang="en-CA" smtClean="0"/>
              <a:t>2021-02-08</a:t>
            </a:fld>
            <a:endParaRPr lang="en-CA" dirty="0"/>
          </a:p>
        </p:txBody>
      </p:sp>
      <p:sp>
        <p:nvSpPr>
          <p:cNvPr id="4" name="Espace réservé de l'image des diapositives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fr-CA" dirty="0"/>
          </a:p>
        </p:txBody>
      </p:sp>
      <p:sp>
        <p:nvSpPr>
          <p:cNvPr id="5" name="Espace réservé des commentaires 4"/>
          <p:cNvSpPr>
            <a:spLocks noGrp="1"/>
          </p:cNvSpPr>
          <p:nvPr>
            <p:ph type="body" sz="quarter" idx="3"/>
          </p:nvPr>
        </p:nvSpPr>
        <p:spPr>
          <a:xfrm>
            <a:off x="701041" y="4473893"/>
            <a:ext cx="5608320" cy="3660458"/>
          </a:xfrm>
          <a:prstGeom prst="rect">
            <a:avLst/>
          </a:prstGeom>
        </p:spPr>
        <p:txBody>
          <a:bodyPr vert="horz" lIns="93177" tIns="46589" rIns="93177" bIns="46589" rtlCol="0"/>
          <a:lstStyle/>
          <a:p>
            <a:pPr lvl="0"/>
            <a:r>
              <a:rPr lang="en-CA" dirty="0" err="1"/>
              <a:t>Modifiez</a:t>
            </a:r>
            <a:r>
              <a:rPr lang="en-CA" dirty="0"/>
              <a:t> les styles du </a:t>
            </a:r>
            <a:r>
              <a:rPr lang="en-CA" dirty="0" err="1"/>
              <a:t>texte</a:t>
            </a:r>
            <a:r>
              <a:rPr lang="en-CA" dirty="0"/>
              <a:t> du masque</a:t>
            </a:r>
          </a:p>
          <a:p>
            <a:pPr lvl="1"/>
            <a:r>
              <a:rPr lang="en-CA" dirty="0" err="1"/>
              <a:t>Deuxième</a:t>
            </a:r>
            <a:r>
              <a:rPr lang="en-CA" dirty="0"/>
              <a:t> </a:t>
            </a:r>
            <a:r>
              <a:rPr lang="en-CA" dirty="0" err="1"/>
              <a:t>niveau</a:t>
            </a:r>
            <a:endParaRPr lang="en-CA" dirty="0"/>
          </a:p>
          <a:p>
            <a:pPr lvl="2"/>
            <a:r>
              <a:rPr lang="en-CA" dirty="0" err="1"/>
              <a:t>Troisième</a:t>
            </a:r>
            <a:r>
              <a:rPr lang="en-CA" dirty="0"/>
              <a:t> </a:t>
            </a:r>
            <a:r>
              <a:rPr lang="en-CA" dirty="0" err="1"/>
              <a:t>niveau</a:t>
            </a:r>
            <a:endParaRPr lang="en-CA" dirty="0"/>
          </a:p>
          <a:p>
            <a:pPr lvl="3"/>
            <a:r>
              <a:rPr lang="en-CA" dirty="0" err="1"/>
              <a:t>Quatrième</a:t>
            </a:r>
            <a:r>
              <a:rPr lang="en-CA" dirty="0"/>
              <a:t> </a:t>
            </a:r>
            <a:r>
              <a:rPr lang="en-CA" dirty="0" err="1"/>
              <a:t>niveau</a:t>
            </a:r>
            <a:endParaRPr lang="en-CA" dirty="0"/>
          </a:p>
          <a:p>
            <a:pPr lvl="4"/>
            <a:r>
              <a:rPr lang="en-CA" dirty="0" err="1"/>
              <a:t>Cinquième</a:t>
            </a:r>
            <a:r>
              <a:rPr lang="en-CA" dirty="0"/>
              <a:t> </a:t>
            </a:r>
            <a:r>
              <a:rPr lang="en-CA" dirty="0" err="1"/>
              <a:t>niveau</a:t>
            </a:r>
            <a:endParaRPr lang="en-CA" dirty="0"/>
          </a:p>
        </p:txBody>
      </p:sp>
      <p:sp>
        <p:nvSpPr>
          <p:cNvPr id="6" name="Espace réservé du pied de page 5"/>
          <p:cNvSpPr>
            <a:spLocks noGrp="1"/>
          </p:cNvSpPr>
          <p:nvPr>
            <p:ph type="ftr" sz="quarter" idx="4"/>
          </p:nvPr>
        </p:nvSpPr>
        <p:spPr>
          <a:xfrm>
            <a:off x="1" y="8829968"/>
            <a:ext cx="3037840" cy="466433"/>
          </a:xfrm>
          <a:prstGeom prst="rect">
            <a:avLst/>
          </a:prstGeom>
        </p:spPr>
        <p:txBody>
          <a:bodyPr vert="horz" lIns="93177" tIns="46589" rIns="93177" bIns="46589" rtlCol="0" anchor="b"/>
          <a:lstStyle>
            <a:lvl1pPr algn="l">
              <a:defRPr sz="1200"/>
            </a:lvl1pPr>
          </a:lstStyle>
          <a:p>
            <a:endParaRPr lang="en-CA" dirty="0"/>
          </a:p>
        </p:txBody>
      </p:sp>
      <p:sp>
        <p:nvSpPr>
          <p:cNvPr id="7" name="Espace réservé du numéro de diapositive 6"/>
          <p:cNvSpPr>
            <a:spLocks noGrp="1"/>
          </p:cNvSpPr>
          <p:nvPr>
            <p:ph type="sldNum" sz="quarter" idx="5"/>
          </p:nvPr>
        </p:nvSpPr>
        <p:spPr>
          <a:xfrm>
            <a:off x="3970939" y="8829968"/>
            <a:ext cx="3037840" cy="466433"/>
          </a:xfrm>
          <a:prstGeom prst="rect">
            <a:avLst/>
          </a:prstGeom>
        </p:spPr>
        <p:txBody>
          <a:bodyPr vert="horz" lIns="93177" tIns="46589" rIns="93177" bIns="46589" rtlCol="0" anchor="b"/>
          <a:lstStyle>
            <a:lvl1pPr algn="r">
              <a:defRPr sz="1200"/>
            </a:lvl1pPr>
          </a:lstStyle>
          <a:p>
            <a:fld id="{427F0981-8270-4661-92A6-60BF2B81C7CA}" type="slidenum">
              <a:rPr lang="en-CA" smtClean="0"/>
              <a:t>‹#›</a:t>
            </a:fld>
            <a:endParaRPr lang="en-CA" dirty="0"/>
          </a:p>
        </p:txBody>
      </p:sp>
    </p:spTree>
    <p:extLst>
      <p:ext uri="{BB962C8B-B14F-4D97-AF65-F5344CB8AC3E}">
        <p14:creationId xmlns:p14="http://schemas.microsoft.com/office/powerpoint/2010/main" val="1018745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1</a:t>
            </a:fld>
            <a:endParaRPr lang="en-CA" dirty="0"/>
          </a:p>
        </p:txBody>
      </p:sp>
    </p:spTree>
    <p:extLst>
      <p:ext uri="{BB962C8B-B14F-4D97-AF65-F5344CB8AC3E}">
        <p14:creationId xmlns:p14="http://schemas.microsoft.com/office/powerpoint/2010/main" val="1290040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2</a:t>
            </a:fld>
            <a:endParaRPr lang="en-CA" dirty="0"/>
          </a:p>
        </p:txBody>
      </p:sp>
    </p:spTree>
    <p:extLst>
      <p:ext uri="{BB962C8B-B14F-4D97-AF65-F5344CB8AC3E}">
        <p14:creationId xmlns:p14="http://schemas.microsoft.com/office/powerpoint/2010/main" val="3389980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3</a:t>
            </a:fld>
            <a:endParaRPr lang="en-CA" dirty="0"/>
          </a:p>
        </p:txBody>
      </p:sp>
    </p:spTree>
    <p:extLst>
      <p:ext uri="{BB962C8B-B14F-4D97-AF65-F5344CB8AC3E}">
        <p14:creationId xmlns:p14="http://schemas.microsoft.com/office/powerpoint/2010/main" val="955667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4</a:t>
            </a:fld>
            <a:endParaRPr lang="en-CA" dirty="0"/>
          </a:p>
        </p:txBody>
      </p:sp>
    </p:spTree>
    <p:extLst>
      <p:ext uri="{BB962C8B-B14F-4D97-AF65-F5344CB8AC3E}">
        <p14:creationId xmlns:p14="http://schemas.microsoft.com/office/powerpoint/2010/main" val="1078494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5</a:t>
            </a:fld>
            <a:endParaRPr lang="en-CA" dirty="0"/>
          </a:p>
        </p:txBody>
      </p:sp>
    </p:spTree>
    <p:extLst>
      <p:ext uri="{BB962C8B-B14F-4D97-AF65-F5344CB8AC3E}">
        <p14:creationId xmlns:p14="http://schemas.microsoft.com/office/powerpoint/2010/main" val="1947721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7</a:t>
            </a:fld>
            <a:endParaRPr lang="en-CA" dirty="0"/>
          </a:p>
        </p:txBody>
      </p:sp>
    </p:spTree>
    <p:extLst>
      <p:ext uri="{BB962C8B-B14F-4D97-AF65-F5344CB8AC3E}">
        <p14:creationId xmlns:p14="http://schemas.microsoft.com/office/powerpoint/2010/main" val="1661029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8</a:t>
            </a:fld>
            <a:endParaRPr lang="en-CA" dirty="0"/>
          </a:p>
        </p:txBody>
      </p:sp>
    </p:spTree>
    <p:extLst>
      <p:ext uri="{BB962C8B-B14F-4D97-AF65-F5344CB8AC3E}">
        <p14:creationId xmlns:p14="http://schemas.microsoft.com/office/powerpoint/2010/main" val="4090891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9</a:t>
            </a:fld>
            <a:endParaRPr lang="en-CA" dirty="0"/>
          </a:p>
        </p:txBody>
      </p:sp>
    </p:spTree>
    <p:extLst>
      <p:ext uri="{BB962C8B-B14F-4D97-AF65-F5344CB8AC3E}">
        <p14:creationId xmlns:p14="http://schemas.microsoft.com/office/powerpoint/2010/main" val="4132618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10</a:t>
            </a:fld>
            <a:endParaRPr lang="en-CA" dirty="0"/>
          </a:p>
        </p:txBody>
      </p:sp>
    </p:spTree>
    <p:extLst>
      <p:ext uri="{BB962C8B-B14F-4D97-AF65-F5344CB8AC3E}">
        <p14:creationId xmlns:p14="http://schemas.microsoft.com/office/powerpoint/2010/main" val="3417967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11</a:t>
            </a:fld>
            <a:endParaRPr lang="en-CA" dirty="0"/>
          </a:p>
        </p:txBody>
      </p:sp>
    </p:spTree>
    <p:extLst>
      <p:ext uri="{BB962C8B-B14F-4D97-AF65-F5344CB8AC3E}">
        <p14:creationId xmlns:p14="http://schemas.microsoft.com/office/powerpoint/2010/main" val="1028480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12</a:t>
            </a:fld>
            <a:endParaRPr lang="en-CA" dirty="0">
              <a:solidFill>
                <a:prstClr val="black"/>
              </a:solidFill>
            </a:endParaRPr>
          </a:p>
        </p:txBody>
      </p:sp>
    </p:spTree>
    <p:extLst>
      <p:ext uri="{BB962C8B-B14F-4D97-AF65-F5344CB8AC3E}">
        <p14:creationId xmlns:p14="http://schemas.microsoft.com/office/powerpoint/2010/main" val="1637077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13</a:t>
            </a:fld>
            <a:endParaRPr lang="en-CA" dirty="0">
              <a:solidFill>
                <a:prstClr val="black"/>
              </a:solidFill>
            </a:endParaRPr>
          </a:p>
        </p:txBody>
      </p:sp>
    </p:spTree>
    <p:extLst>
      <p:ext uri="{BB962C8B-B14F-4D97-AF65-F5344CB8AC3E}">
        <p14:creationId xmlns:p14="http://schemas.microsoft.com/office/powerpoint/2010/main" val="2580873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14</a:t>
            </a:fld>
            <a:endParaRPr lang="en-CA" dirty="0">
              <a:solidFill>
                <a:prstClr val="black"/>
              </a:solidFill>
            </a:endParaRPr>
          </a:p>
        </p:txBody>
      </p:sp>
    </p:spTree>
    <p:extLst>
      <p:ext uri="{BB962C8B-B14F-4D97-AF65-F5344CB8AC3E}">
        <p14:creationId xmlns:p14="http://schemas.microsoft.com/office/powerpoint/2010/main" val="3709503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15</a:t>
            </a:fld>
            <a:endParaRPr lang="en-CA" dirty="0">
              <a:solidFill>
                <a:prstClr val="black"/>
              </a:solidFill>
            </a:endParaRPr>
          </a:p>
        </p:txBody>
      </p:sp>
    </p:spTree>
    <p:extLst>
      <p:ext uri="{BB962C8B-B14F-4D97-AF65-F5344CB8AC3E}">
        <p14:creationId xmlns:p14="http://schemas.microsoft.com/office/powerpoint/2010/main" val="178008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16</a:t>
            </a:fld>
            <a:endParaRPr lang="en-CA" dirty="0">
              <a:solidFill>
                <a:prstClr val="black"/>
              </a:solidFill>
            </a:endParaRPr>
          </a:p>
        </p:txBody>
      </p:sp>
    </p:spTree>
    <p:extLst>
      <p:ext uri="{BB962C8B-B14F-4D97-AF65-F5344CB8AC3E}">
        <p14:creationId xmlns:p14="http://schemas.microsoft.com/office/powerpoint/2010/main" val="2562898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17</a:t>
            </a:fld>
            <a:endParaRPr lang="en-CA" dirty="0">
              <a:solidFill>
                <a:prstClr val="black"/>
              </a:solidFill>
            </a:endParaRPr>
          </a:p>
        </p:txBody>
      </p:sp>
    </p:spTree>
    <p:extLst>
      <p:ext uri="{BB962C8B-B14F-4D97-AF65-F5344CB8AC3E}">
        <p14:creationId xmlns:p14="http://schemas.microsoft.com/office/powerpoint/2010/main" val="3533927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18</a:t>
            </a:fld>
            <a:endParaRPr lang="en-CA" dirty="0">
              <a:solidFill>
                <a:prstClr val="black"/>
              </a:solidFill>
            </a:endParaRPr>
          </a:p>
        </p:txBody>
      </p:sp>
    </p:spTree>
    <p:extLst>
      <p:ext uri="{BB962C8B-B14F-4D97-AF65-F5344CB8AC3E}">
        <p14:creationId xmlns:p14="http://schemas.microsoft.com/office/powerpoint/2010/main" val="8515141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19</a:t>
            </a:fld>
            <a:endParaRPr lang="en-CA" dirty="0">
              <a:solidFill>
                <a:prstClr val="black"/>
              </a:solidFill>
            </a:endParaRPr>
          </a:p>
        </p:txBody>
      </p:sp>
    </p:spTree>
    <p:extLst>
      <p:ext uri="{BB962C8B-B14F-4D97-AF65-F5344CB8AC3E}">
        <p14:creationId xmlns:p14="http://schemas.microsoft.com/office/powerpoint/2010/main" val="6273124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solidFill>
                  <a:prstClr val="black"/>
                </a:solidFill>
              </a:rPr>
              <a:pPr/>
              <a:t>21</a:t>
            </a:fld>
            <a:endParaRPr lang="en-CA" dirty="0">
              <a:solidFill>
                <a:prstClr val="black"/>
              </a:solidFill>
            </a:endParaRPr>
          </a:p>
        </p:txBody>
      </p:sp>
    </p:spTree>
    <p:extLst>
      <p:ext uri="{BB962C8B-B14F-4D97-AF65-F5344CB8AC3E}">
        <p14:creationId xmlns:p14="http://schemas.microsoft.com/office/powerpoint/2010/main" val="31427941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22</a:t>
            </a:fld>
            <a:endParaRPr lang="en-CA" dirty="0"/>
          </a:p>
        </p:txBody>
      </p:sp>
    </p:spTree>
    <p:extLst>
      <p:ext uri="{BB962C8B-B14F-4D97-AF65-F5344CB8AC3E}">
        <p14:creationId xmlns:p14="http://schemas.microsoft.com/office/powerpoint/2010/main" val="1081479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7F0981-8270-4661-92A6-60BF2B81C7CA}" type="slidenum">
              <a:rPr lang="en-CA" smtClean="0"/>
              <a:t>26</a:t>
            </a:fld>
            <a:endParaRPr lang="en-CA" dirty="0"/>
          </a:p>
        </p:txBody>
      </p:sp>
    </p:spTree>
    <p:extLst>
      <p:ext uri="{BB962C8B-B14F-4D97-AF65-F5344CB8AC3E}">
        <p14:creationId xmlns:p14="http://schemas.microsoft.com/office/powerpoint/2010/main" val="1136214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7F0981-8270-4661-92A6-60BF2B81C7CA}" type="slidenum">
              <a:rPr lang="en-CA" smtClean="0"/>
              <a:t>27</a:t>
            </a:fld>
            <a:endParaRPr lang="en-CA" dirty="0"/>
          </a:p>
        </p:txBody>
      </p:sp>
    </p:spTree>
    <p:extLst>
      <p:ext uri="{BB962C8B-B14F-4D97-AF65-F5344CB8AC3E}">
        <p14:creationId xmlns:p14="http://schemas.microsoft.com/office/powerpoint/2010/main" val="38855593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28</a:t>
            </a:fld>
            <a:endParaRPr lang="en-CA" dirty="0"/>
          </a:p>
        </p:txBody>
      </p:sp>
    </p:spTree>
    <p:extLst>
      <p:ext uri="{BB962C8B-B14F-4D97-AF65-F5344CB8AC3E}">
        <p14:creationId xmlns:p14="http://schemas.microsoft.com/office/powerpoint/2010/main" val="28643657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29</a:t>
            </a:fld>
            <a:endParaRPr lang="en-CA" dirty="0"/>
          </a:p>
        </p:txBody>
      </p:sp>
    </p:spTree>
    <p:extLst>
      <p:ext uri="{BB962C8B-B14F-4D97-AF65-F5344CB8AC3E}">
        <p14:creationId xmlns:p14="http://schemas.microsoft.com/office/powerpoint/2010/main" val="2485736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30</a:t>
            </a:fld>
            <a:endParaRPr lang="en-CA" dirty="0"/>
          </a:p>
        </p:txBody>
      </p:sp>
    </p:spTree>
    <p:extLst>
      <p:ext uri="{BB962C8B-B14F-4D97-AF65-F5344CB8AC3E}">
        <p14:creationId xmlns:p14="http://schemas.microsoft.com/office/powerpoint/2010/main" val="446420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2.vml"/><Relationship Id="rId6" Type="http://schemas.openxmlformats.org/officeDocument/2006/relationships/image" Target="../media/image2.jp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image" Target="../media/image2.jp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4.vml"/><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5.v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8.v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9.v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0.vml"/><Relationship Id="rId6" Type="http://schemas.openxmlformats.org/officeDocument/2006/relationships/image" Target="../media/image2.jp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33.xml.rels><?xml version="1.0" encoding="UTF-8" standalone="yes"?>
<Relationships xmlns="http://schemas.openxmlformats.org/package/2006/relationships"><Relationship Id="rId2" Type="http://schemas.openxmlformats.org/officeDocument/2006/relationships/hyperlink" Target="http://kpmg.com/socialmedia" TargetMode="Externa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1.vml"/><Relationship Id="rId5" Type="http://schemas.openxmlformats.org/officeDocument/2006/relationships/image" Target="../media/image6.emf"/><Relationship Id="rId4" Type="http://schemas.openxmlformats.org/officeDocument/2006/relationships/oleObject" Target="../embeddings/oleObject11.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 Right light vertical image">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142433333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191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4" name="Image 3"/>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Freeform 19"/>
          <p:cNvSpPr>
            <a:spLocks noEditPoints="1"/>
          </p:cNvSpPr>
          <p:nvPr userDrawn="1"/>
        </p:nvSpPr>
        <p:spPr bwMode="gray">
          <a:xfrm>
            <a:off x="759455"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solidFill>
                <a:srgbClr val="00338D"/>
              </a:solidFill>
            </a:endParaRPr>
          </a:p>
        </p:txBody>
      </p:sp>
      <p:sp>
        <p:nvSpPr>
          <p:cNvPr id="2" name="Title 1"/>
          <p:cNvSpPr>
            <a:spLocks noGrp="1"/>
          </p:cNvSpPr>
          <p:nvPr>
            <p:ph type="ctrTitle" hasCustomPrompt="1"/>
          </p:nvPr>
        </p:nvSpPr>
        <p:spPr bwMode="gray">
          <a:xfrm>
            <a:off x="727200" y="1339200"/>
            <a:ext cx="6192000" cy="3510000"/>
          </a:xfrm>
        </p:spPr>
        <p:txBody>
          <a:bodyPr anchor="t" anchorCtr="0"/>
          <a:lstStyle>
            <a:lvl1pPr algn="l">
              <a:defRPr sz="11000">
                <a:solidFill>
                  <a:schemeClr val="tx2"/>
                </a:solidFill>
              </a:defRPr>
            </a:lvl1pPr>
          </a:lstStyle>
          <a:p>
            <a:r>
              <a:rPr lang="en-CA" dirty="0"/>
              <a:t>Title slide 1</a:t>
            </a:r>
            <a:br>
              <a:rPr lang="en-CA" dirty="0"/>
            </a:br>
            <a:r>
              <a:rPr lang="en-CA" dirty="0"/>
              <a:t>light right vertical image</a:t>
            </a:r>
          </a:p>
        </p:txBody>
      </p:sp>
      <p:sp>
        <p:nvSpPr>
          <p:cNvPr id="10" name="Text Placeholder 3"/>
          <p:cNvSpPr>
            <a:spLocks noGrp="1"/>
          </p:cNvSpPr>
          <p:nvPr>
            <p:ph type="body" sz="quarter" idx="11"/>
          </p:nvPr>
        </p:nvSpPr>
        <p:spPr bwMode="gray">
          <a:xfrm>
            <a:off x="756000" y="5036400"/>
            <a:ext cx="6163200" cy="216000"/>
          </a:xfrm>
        </p:spPr>
        <p:txBody>
          <a:bodyPr/>
          <a:lstStyle>
            <a:lvl1pPr>
              <a:defRPr sz="1100">
                <a:solidFill>
                  <a:schemeClr val="tx2"/>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835608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 Right dark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2" y="0"/>
            <a:ext cx="9144001" cy="6858000"/>
          </a:xfrm>
          <a:prstGeom prst="rect">
            <a:avLst/>
          </a:prstGeom>
        </p:spPr>
      </p:pic>
      <p:sp>
        <p:nvSpPr>
          <p:cNvPr id="2" name="Title 1"/>
          <p:cNvSpPr>
            <a:spLocks noGrp="1"/>
          </p:cNvSpPr>
          <p:nvPr>
            <p:ph type="ctrTitle" hasCustomPrompt="1"/>
          </p:nvPr>
        </p:nvSpPr>
        <p:spPr bwMode="gray">
          <a:xfrm>
            <a:off x="727200" y="1339200"/>
            <a:ext cx="6192000" cy="3510000"/>
          </a:xfrm>
        </p:spPr>
        <p:txBody>
          <a:bodyPr anchor="t" anchorCtr="0"/>
          <a:lstStyle>
            <a:lvl1pPr algn="l">
              <a:defRPr sz="11000">
                <a:solidFill>
                  <a:schemeClr val="bg1"/>
                </a:solidFill>
              </a:defRPr>
            </a:lvl1pPr>
          </a:lstStyle>
          <a:p>
            <a:r>
              <a:rPr lang="en-CA" dirty="0"/>
              <a:t>Title slide 2</a:t>
            </a:r>
            <a:br>
              <a:rPr lang="en-CA" dirty="0"/>
            </a:br>
            <a:r>
              <a:rPr lang="en-CA" dirty="0"/>
              <a:t>right dark vertical image</a:t>
            </a:r>
          </a:p>
        </p:txBody>
      </p:sp>
      <p:sp>
        <p:nvSpPr>
          <p:cNvPr id="9" name="Freeform 19"/>
          <p:cNvSpPr>
            <a:spLocks noEditPoints="1"/>
          </p:cNvSpPr>
          <p:nvPr userDrawn="1"/>
        </p:nvSpPr>
        <p:spPr bwMode="gray">
          <a:xfrm>
            <a:off x="7560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6" name="Text Placeholder 3"/>
          <p:cNvSpPr>
            <a:spLocks noGrp="1"/>
          </p:cNvSpPr>
          <p:nvPr>
            <p:ph type="body" sz="quarter" idx="11"/>
          </p:nvPr>
        </p:nvSpPr>
        <p:spPr bwMode="gray">
          <a:xfrm>
            <a:off x="756000" y="5036400"/>
            <a:ext cx="61632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164097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 Left light vertical image">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2089383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294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7" name="Image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flipH="1">
            <a:off x="0" y="0"/>
            <a:ext cx="9144000" cy="6858000"/>
          </a:xfrm>
          <a:prstGeom prst="rect">
            <a:avLst/>
          </a:prstGeom>
        </p:spPr>
      </p:pic>
      <p:sp>
        <p:nvSpPr>
          <p:cNvPr id="9" name="Freeform 19"/>
          <p:cNvSpPr>
            <a:spLocks noEditPoints="1"/>
          </p:cNvSpPr>
          <p:nvPr userDrawn="1"/>
        </p:nvSpPr>
        <p:spPr bwMode="gray">
          <a:xfrm>
            <a:off x="3673571"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solidFill>
                <a:srgbClr val="00338D"/>
              </a:solidFill>
            </a:endParaRPr>
          </a:p>
        </p:txBody>
      </p:sp>
      <p:sp>
        <p:nvSpPr>
          <p:cNvPr id="2" name="Title 1"/>
          <p:cNvSpPr>
            <a:spLocks noGrp="1"/>
          </p:cNvSpPr>
          <p:nvPr>
            <p:ph type="ctrTitle" hasCustomPrompt="1"/>
          </p:nvPr>
        </p:nvSpPr>
        <p:spPr bwMode="gray">
          <a:xfrm>
            <a:off x="3668954" y="1339200"/>
            <a:ext cx="5029200" cy="3510000"/>
          </a:xfrm>
        </p:spPr>
        <p:txBody>
          <a:bodyPr anchor="t" anchorCtr="0"/>
          <a:lstStyle>
            <a:lvl1pPr algn="l">
              <a:defRPr sz="11000">
                <a:solidFill>
                  <a:schemeClr val="tx2"/>
                </a:solidFill>
              </a:defRPr>
            </a:lvl1pPr>
          </a:lstStyle>
          <a:p>
            <a:r>
              <a:rPr lang="en-CA" dirty="0"/>
              <a:t>Title slide 3</a:t>
            </a:r>
            <a:br>
              <a:rPr lang="en-CA" dirty="0"/>
            </a:br>
            <a:r>
              <a:rPr lang="en-CA" dirty="0"/>
              <a:t>left light vertical image</a:t>
            </a:r>
          </a:p>
        </p:txBody>
      </p:sp>
      <p:sp>
        <p:nvSpPr>
          <p:cNvPr id="8" name="Text Placeholder 3"/>
          <p:cNvSpPr>
            <a:spLocks noGrp="1"/>
          </p:cNvSpPr>
          <p:nvPr>
            <p:ph type="body" sz="quarter" idx="11"/>
          </p:nvPr>
        </p:nvSpPr>
        <p:spPr bwMode="gray">
          <a:xfrm>
            <a:off x="3697754" y="5036400"/>
            <a:ext cx="5000400" cy="216000"/>
          </a:xfrm>
        </p:spPr>
        <p:txBody>
          <a:bodyPr/>
          <a:lstStyle>
            <a:lvl1pPr>
              <a:defRPr sz="1100">
                <a:solidFill>
                  <a:schemeClr val="tx2"/>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555135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 Left dark vertical ima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flipH="1">
            <a:off x="-2" y="0"/>
            <a:ext cx="9144001" cy="6858000"/>
          </a:xfrm>
          <a:prstGeom prst="rect">
            <a:avLst/>
          </a:prstGeom>
        </p:spPr>
      </p:pic>
      <p:sp>
        <p:nvSpPr>
          <p:cNvPr id="2" name="Title 1"/>
          <p:cNvSpPr>
            <a:spLocks noGrp="1"/>
          </p:cNvSpPr>
          <p:nvPr>
            <p:ph type="ctrTitle" hasCustomPrompt="1"/>
          </p:nvPr>
        </p:nvSpPr>
        <p:spPr bwMode="gray">
          <a:xfrm>
            <a:off x="3668954" y="1339200"/>
            <a:ext cx="5029200" cy="3510000"/>
          </a:xfrm>
        </p:spPr>
        <p:txBody>
          <a:bodyPr anchor="t" anchorCtr="0"/>
          <a:lstStyle>
            <a:lvl1pPr algn="l">
              <a:defRPr sz="11000">
                <a:solidFill>
                  <a:schemeClr val="bg1"/>
                </a:solidFill>
              </a:defRPr>
            </a:lvl1pPr>
          </a:lstStyle>
          <a:p>
            <a:r>
              <a:rPr lang="en-CA" dirty="0"/>
              <a:t>Title slide 4</a:t>
            </a:r>
            <a:br>
              <a:rPr lang="en-CA" dirty="0"/>
            </a:br>
            <a:r>
              <a:rPr lang="en-CA" dirty="0"/>
              <a:t>left dark vertical image</a:t>
            </a:r>
          </a:p>
        </p:txBody>
      </p:sp>
      <p:sp>
        <p:nvSpPr>
          <p:cNvPr id="5" name="Freeform 19"/>
          <p:cNvSpPr>
            <a:spLocks noEditPoints="1"/>
          </p:cNvSpPr>
          <p:nvPr userDrawn="1"/>
        </p:nvSpPr>
        <p:spPr bwMode="gray">
          <a:xfrm>
            <a:off x="3697754"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 Placeholder 3"/>
          <p:cNvSpPr>
            <a:spLocks noGrp="1"/>
          </p:cNvSpPr>
          <p:nvPr>
            <p:ph type="body" sz="quarter" idx="11"/>
          </p:nvPr>
        </p:nvSpPr>
        <p:spPr bwMode="gray">
          <a:xfrm>
            <a:off x="3697754" y="5036400"/>
            <a:ext cx="50004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374907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FBCC2F82-B054-468F-AB29-C0F83AF62405}"/>
              </a:ext>
            </a:extLst>
          </p:cNvPr>
          <p:cNvGraphicFramePr>
            <a:graphicFrameLocks noChangeAspect="1"/>
          </p:cNvGraphicFramePr>
          <p:nvPr userDrawn="1">
            <p:custDataLst>
              <p:tags r:id="rId2"/>
            </p:custDataLst>
            <p:extLst>
              <p:ext uri="{D42A27DB-BD31-4B8C-83A1-F6EECF244321}">
                <p14:modId xmlns:p14="http://schemas.microsoft.com/office/powerpoint/2010/main" val="43302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07077" name="think-cell Slide" r:id="rId5" imgW="498" imgH="499" progId="TCLayout.ActiveDocument.1">
                  <p:embed/>
                </p:oleObj>
              </mc:Choice>
              <mc:Fallback>
                <p:oleObj name="think-cell Slide" r:id="rId5" imgW="498" imgH="499"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A2A8B07-635F-495D-ABFF-4893421EB6B3}"/>
              </a:ext>
            </a:extLst>
          </p:cNvPr>
          <p:cNvSpPr/>
          <p:nvPr userDrawn="1">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a:endParaRPr lang="en-CA" sz="11000" b="0" i="0" baseline="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8" name="Rectangle 7">
            <a:extLst>
              <a:ext uri="{FF2B5EF4-FFF2-40B4-BE49-F238E27FC236}">
                <a16:creationId xmlns:a16="http://schemas.microsoft.com/office/drawing/2014/main" id="{C87DBF4E-02B5-45AB-9A5C-32048F8DE394}"/>
              </a:ext>
            </a:extLst>
          </p:cNvPr>
          <p:cNvSpPr/>
          <p:nvPr userDrawn="1"/>
        </p:nvSpPr>
        <p:spPr bwMode="gray">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Title slide 5</a:t>
            </a:r>
            <a:br>
              <a:rPr lang="en-CA" dirty="0"/>
            </a:br>
            <a:r>
              <a:rPr lang="en-CA" dirty="0"/>
              <a:t>singular </a:t>
            </a:r>
            <a:br>
              <a:rPr lang="en-CA" dirty="0"/>
            </a:br>
            <a:r>
              <a:rPr lang="en-CA" dirty="0"/>
              <a:t>image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 Placeholder 3"/>
          <p:cNvSpPr>
            <a:spLocks noGrp="1"/>
          </p:cNvSpPr>
          <p:nvPr>
            <p:ph type="body" sz="quarter" idx="11"/>
          </p:nvPr>
        </p:nvSpPr>
        <p:spPr bwMode="gray">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826430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spTree>
      <p:nvGrpSpPr>
        <p:cNvPr id="1" name=""/>
        <p:cNvGrpSpPr/>
        <p:nvPr/>
      </p:nvGrpSpPr>
      <p:grpSpPr>
        <a:xfrm>
          <a:off x="0" y="0"/>
          <a:ext cx="0" cy="0"/>
          <a:chOff x="0" y="0"/>
          <a:chExt cx="0" cy="0"/>
        </a:xfrm>
      </p:grpSpPr>
      <p:graphicFrame>
        <p:nvGraphicFramePr>
          <p:cNvPr id="5" name="Objet 4" hidden="1"/>
          <p:cNvGraphicFramePr>
            <a:graphicFrameLocks noChangeAspect="1"/>
          </p:cNvGraphicFramePr>
          <p:nvPr userDrawn="1">
            <p:custDataLst>
              <p:tags r:id="rId2"/>
            </p:custDataLst>
            <p:extLst>
              <p:ext uri="{D42A27DB-BD31-4B8C-83A1-F6EECF244321}">
                <p14:modId xmlns:p14="http://schemas.microsoft.com/office/powerpoint/2010/main" val="10858767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6238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userDrawn="1"/>
        </p:nvSpPr>
        <p:spPr bwMode="gray">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Title slide 6</a:t>
            </a:r>
            <a:br>
              <a:rPr lang="en-CA" dirty="0"/>
            </a:br>
            <a:r>
              <a:rPr lang="en-CA" dirty="0"/>
              <a:t>no image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 Placeholder 3"/>
          <p:cNvSpPr>
            <a:spLocks noGrp="1"/>
          </p:cNvSpPr>
          <p:nvPr>
            <p:ph type="body" sz="quarter" idx="11"/>
          </p:nvPr>
        </p:nvSpPr>
        <p:spPr bwMode="gray">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06058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Letter two column">
    <p:spTree>
      <p:nvGrpSpPr>
        <p:cNvPr id="1" name=""/>
        <p:cNvGrpSpPr/>
        <p:nvPr/>
      </p:nvGrpSpPr>
      <p:grpSpPr>
        <a:xfrm>
          <a:off x="0" y="0"/>
          <a:ext cx="0" cy="0"/>
          <a:chOff x="0" y="0"/>
          <a:chExt cx="0" cy="0"/>
        </a:xfrm>
      </p:grpSpPr>
      <p:sp>
        <p:nvSpPr>
          <p:cNvPr id="25" name="Text Placeholder 24"/>
          <p:cNvSpPr>
            <a:spLocks noGrp="1"/>
          </p:cNvSpPr>
          <p:nvPr>
            <p:ph type="body" sz="quarter" idx="14"/>
          </p:nvPr>
        </p:nvSpPr>
        <p:spPr>
          <a:xfrm>
            <a:off x="4643439" y="302982"/>
            <a:ext cx="4075444"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6" name="Text Placeholder 24"/>
          <p:cNvSpPr>
            <a:spLocks noGrp="1"/>
          </p:cNvSpPr>
          <p:nvPr>
            <p:ph type="body" sz="quarter" idx="15"/>
          </p:nvPr>
        </p:nvSpPr>
        <p:spPr>
          <a:xfrm>
            <a:off x="431799" y="302982"/>
            <a:ext cx="4068763"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5" name="Freeform 19"/>
          <p:cNvSpPr>
            <a:spLocks noEditPoints="1"/>
          </p:cNvSpPr>
          <p:nvPr userDrawn="1"/>
        </p:nvSpPr>
        <p:spPr bwMode="auto">
          <a:xfrm>
            <a:off x="431800" y="6320118"/>
            <a:ext cx="424800" cy="149412"/>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9" name="Text Placeholder 8"/>
          <p:cNvSpPr>
            <a:spLocks noGrp="1"/>
          </p:cNvSpPr>
          <p:nvPr>
            <p:ph type="body" sz="quarter" idx="10" hasCustomPrompt="1"/>
          </p:nvPr>
        </p:nvSpPr>
        <p:spPr>
          <a:xfrm>
            <a:off x="431799" y="1130531"/>
            <a:ext cx="4068763" cy="4878928"/>
          </a:xfrm>
        </p:spPr>
        <p:txBody>
          <a:bodyPr tIns="72000"/>
          <a:lstStyle>
            <a:lvl1pPr>
              <a:defRPr sz="800"/>
            </a:lvl1pPr>
            <a:lvl2pPr>
              <a:defRPr sz="800"/>
            </a:lvl2pPr>
            <a:lvl3pPr>
              <a:defRPr sz="800"/>
            </a:lvl3pPr>
            <a:lvl4pPr>
              <a:defRPr sz="800"/>
            </a:lvl4pPr>
            <a:lvl5pPr>
              <a:defRPr sz="800"/>
            </a:lvl5pPr>
          </a:lstStyle>
          <a:p>
            <a:pPr lvl="0"/>
            <a:r>
              <a:rPr lang="en-CA" dirty="0"/>
              <a:t>Private and confidential</a:t>
            </a:r>
          </a:p>
          <a:p>
            <a:pPr lvl="1"/>
            <a:r>
              <a:rPr lang="en-CA" dirty="0"/>
              <a:t>Second level</a:t>
            </a:r>
          </a:p>
          <a:p>
            <a:pPr lvl="2"/>
            <a:r>
              <a:rPr lang="en-CA" dirty="0"/>
              <a:t>Third level</a:t>
            </a:r>
          </a:p>
          <a:p>
            <a:pPr lvl="3"/>
            <a:r>
              <a:rPr lang="en-CA" dirty="0"/>
              <a:t>Fourth level</a:t>
            </a:r>
          </a:p>
          <a:p>
            <a:pPr lvl="4"/>
            <a:r>
              <a:rPr lang="en-CA" dirty="0"/>
              <a:t>Fifth level</a:t>
            </a:r>
          </a:p>
        </p:txBody>
      </p:sp>
      <p:sp>
        <p:nvSpPr>
          <p:cNvPr id="20" name="Text Placeholder 8"/>
          <p:cNvSpPr>
            <a:spLocks noGrp="1"/>
          </p:cNvSpPr>
          <p:nvPr>
            <p:ph type="body" sz="quarter" idx="11" hasCustomPrompt="1"/>
          </p:nvPr>
        </p:nvSpPr>
        <p:spPr>
          <a:xfrm>
            <a:off x="4643438" y="1130531"/>
            <a:ext cx="4068762" cy="4878928"/>
          </a:xfrm>
          <a:ln w="6350">
            <a:solidFill>
              <a:schemeClr val="tx2"/>
            </a:solidFill>
          </a:ln>
        </p:spPr>
        <p:txBody>
          <a:bodyPr lIns="144000" tIns="72000"/>
          <a:lstStyle>
            <a:lvl1pPr>
              <a:defRPr sz="800"/>
            </a:lvl1pPr>
            <a:lvl2pPr>
              <a:defRPr sz="800"/>
            </a:lvl2pPr>
            <a:lvl3pPr>
              <a:defRPr sz="800"/>
            </a:lvl3pPr>
            <a:lvl4pPr>
              <a:defRPr sz="800"/>
            </a:lvl4pPr>
            <a:lvl5pPr>
              <a:defRPr sz="800"/>
            </a:lvl5pPr>
          </a:lstStyle>
          <a:p>
            <a:pPr lvl="0"/>
            <a:r>
              <a:rPr lang="en-CA" dirty="0"/>
              <a:t>Important Notice</a:t>
            </a:r>
            <a:br>
              <a:rPr lang="en-CA" dirty="0"/>
            </a:br>
            <a:r>
              <a:rPr lang="en-CA" dirty="0"/>
              <a:t>Details and content must be edited to reflect nature of engagement and local office/country information.</a:t>
            </a:r>
          </a:p>
          <a:p>
            <a:pPr lvl="1"/>
            <a:r>
              <a:rPr lang="en-CA" dirty="0"/>
              <a:t>Second level</a:t>
            </a:r>
          </a:p>
          <a:p>
            <a:pPr lvl="2"/>
            <a:r>
              <a:rPr lang="en-CA" dirty="0"/>
              <a:t>Third level</a:t>
            </a:r>
          </a:p>
          <a:p>
            <a:pPr lvl="3"/>
            <a:r>
              <a:rPr lang="en-CA" dirty="0"/>
              <a:t>Fourth level</a:t>
            </a:r>
          </a:p>
          <a:p>
            <a:pPr lvl="4"/>
            <a:r>
              <a:rPr lang="en-CA" dirty="0"/>
              <a:t>Fifth level</a:t>
            </a:r>
          </a:p>
        </p:txBody>
      </p:sp>
      <p:sp>
        <p:nvSpPr>
          <p:cNvPr id="21" name="Rectangle 20"/>
          <p:cNvSpPr/>
          <p:nvPr userDrawn="1"/>
        </p:nvSpPr>
        <p:spPr>
          <a:xfrm>
            <a:off x="4643438" y="1130531"/>
            <a:ext cx="84075" cy="4878928"/>
          </a:xfrm>
          <a:prstGeom prst="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eaLnBrk="1"/>
            <a:endParaRPr lang="en-CA" sz="800" dirty="0">
              <a:solidFill>
                <a:schemeClr val="bg1"/>
              </a:solidFill>
            </a:endParaRPr>
          </a:p>
        </p:txBody>
      </p:sp>
      <p:sp>
        <p:nvSpPr>
          <p:cNvPr id="27"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0"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2017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257974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Letter continuatio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130531"/>
            <a:ext cx="4068763" cy="4878928"/>
          </a:xfrm>
        </p:spPr>
        <p:txBody>
          <a:bodyPr tIns="72000"/>
          <a:lstStyle>
            <a:lvl1pPr>
              <a:defRPr sz="800"/>
            </a:lvl1pPr>
            <a:lvl2pPr>
              <a:defRPr sz="800"/>
            </a:lvl2pPr>
            <a:lvl3pPr>
              <a:defRPr sz="800"/>
            </a:lvl3pPr>
            <a:lvl4pPr>
              <a:defRPr sz="800"/>
            </a:lvl4pPr>
            <a:lvl5pPr>
              <a:defRPr sz="800"/>
            </a:lvl5pPr>
            <a:lvl6pPr>
              <a:defRPr sz="8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8"/>
          <p:cNvSpPr>
            <a:spLocks noGrp="1"/>
          </p:cNvSpPr>
          <p:nvPr>
            <p:ph type="body" sz="quarter" idx="11"/>
          </p:nvPr>
        </p:nvSpPr>
        <p:spPr>
          <a:xfrm>
            <a:off x="4643438" y="1130531"/>
            <a:ext cx="4068762" cy="4878928"/>
          </a:xfrm>
          <a:ln w="6350">
            <a:solidFill>
              <a:schemeClr val="tx2"/>
            </a:solidFill>
          </a:ln>
        </p:spPr>
        <p:txBody>
          <a:bodyPr lIns="144000" tIns="72000"/>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8" name="Rectangle 17"/>
          <p:cNvSpPr/>
          <p:nvPr userDrawn="1"/>
        </p:nvSpPr>
        <p:spPr>
          <a:xfrm>
            <a:off x="4652403" y="1130531"/>
            <a:ext cx="84075" cy="4878928"/>
          </a:xfrm>
          <a:prstGeom prst="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eaLnBrk="1"/>
            <a:endParaRPr lang="en-CA" sz="800" dirty="0">
              <a:solidFill>
                <a:schemeClr val="bg1"/>
              </a:solidFill>
            </a:endParaRPr>
          </a:p>
        </p:txBody>
      </p:sp>
      <p:sp>
        <p:nvSpPr>
          <p:cNvPr id="15" name="Text Placeholder 24"/>
          <p:cNvSpPr>
            <a:spLocks noGrp="1"/>
          </p:cNvSpPr>
          <p:nvPr>
            <p:ph type="body" sz="quarter" idx="14"/>
          </p:nvPr>
        </p:nvSpPr>
        <p:spPr>
          <a:xfrm>
            <a:off x="4643719" y="302982"/>
            <a:ext cx="4075164"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19" name="Text Placeholder 24"/>
          <p:cNvSpPr>
            <a:spLocks noGrp="1"/>
          </p:cNvSpPr>
          <p:nvPr>
            <p:ph type="body" sz="quarter" idx="15"/>
          </p:nvPr>
        </p:nvSpPr>
        <p:spPr>
          <a:xfrm>
            <a:off x="431799" y="302982"/>
            <a:ext cx="4068763"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0"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0"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2017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1106940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tter important notice combination">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431800" y="1130531"/>
            <a:ext cx="4046600" cy="4878928"/>
          </a:xfrm>
        </p:spPr>
        <p:txBody>
          <a:bodyPr/>
          <a:lstStyle>
            <a:lvl1pPr>
              <a:defRPr sz="800"/>
            </a:lvl1pPr>
            <a:lvl2pPr>
              <a:defRPr sz="800"/>
            </a:lvl2pPr>
            <a:lvl3pPr>
              <a:defRPr sz="800"/>
            </a:lvl3pPr>
            <a:lvl4pPr>
              <a:defRPr sz="800"/>
            </a:lvl4pPr>
            <a:lvl5pPr>
              <a:defRPr sz="800"/>
            </a:lvl5pPr>
          </a:lstStyle>
          <a:p>
            <a:pPr lvl="0"/>
            <a:r>
              <a:rPr lang="en-CA" dirty="0"/>
              <a:t>Use this slide if your Cover Letter runs onto more than one page. </a:t>
            </a:r>
            <a:br>
              <a:rPr lang="en-CA" dirty="0"/>
            </a:br>
            <a:r>
              <a:rPr lang="en-CA" dirty="0"/>
              <a:t>Delete if not needed.</a:t>
            </a:r>
          </a:p>
          <a:p>
            <a:pPr lvl="1"/>
            <a:r>
              <a:rPr lang="en-CA" dirty="0"/>
              <a:t>Second level</a:t>
            </a:r>
          </a:p>
          <a:p>
            <a:pPr lvl="2"/>
            <a:r>
              <a:rPr lang="en-CA" dirty="0"/>
              <a:t>Third level</a:t>
            </a:r>
          </a:p>
          <a:p>
            <a:pPr lvl="3"/>
            <a:r>
              <a:rPr lang="en-CA" dirty="0"/>
              <a:t>Fourth level</a:t>
            </a:r>
          </a:p>
          <a:p>
            <a:pPr lvl="4"/>
            <a:r>
              <a:rPr lang="en-CA" dirty="0"/>
              <a:t>Fifth level</a:t>
            </a:r>
          </a:p>
        </p:txBody>
      </p:sp>
      <p:sp>
        <p:nvSpPr>
          <p:cNvPr id="4" name="Text Placeholder 8"/>
          <p:cNvSpPr>
            <a:spLocks noGrp="1"/>
          </p:cNvSpPr>
          <p:nvPr>
            <p:ph type="body" sz="quarter" idx="11"/>
          </p:nvPr>
        </p:nvSpPr>
        <p:spPr>
          <a:xfrm>
            <a:off x="4671752" y="1130531"/>
            <a:ext cx="4040448" cy="4878928"/>
          </a:xfrm>
          <a:ln w="6350">
            <a:noFill/>
          </a:ln>
        </p:spPr>
        <p:txBody>
          <a:bodyPr lIns="0" tIns="0"/>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9" name="Text Placeholder 24"/>
          <p:cNvSpPr>
            <a:spLocks noGrp="1"/>
          </p:cNvSpPr>
          <p:nvPr>
            <p:ph type="body" sz="quarter" idx="15"/>
          </p:nvPr>
        </p:nvSpPr>
        <p:spPr>
          <a:xfrm>
            <a:off x="431800" y="302982"/>
            <a:ext cx="4046600"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0"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8"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2017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1985192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KEY MESSAGE">
    <p:bg bwMode="gray">
      <p:bgRef idx="1001">
        <a:schemeClr val="bg1"/>
      </p:bgRef>
    </p:bg>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bwMode="gray">
          <a:xfrm>
            <a:off x="43180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1"/>
          </p:nvPr>
        </p:nvSpPr>
        <p:spPr bwMode="gray">
          <a:xfrm>
            <a:off x="2103121" y="1426659"/>
            <a:ext cx="6609080"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4"/>
          <p:cNvSpPr>
            <a:spLocks noGrp="1"/>
          </p:cNvSpPr>
          <p:nvPr>
            <p:ph type="body" sz="quarter" idx="12" hasCustomPrompt="1"/>
          </p:nvPr>
        </p:nvSpPr>
        <p:spPr bwMode="gray">
          <a:xfrm>
            <a:off x="431800" y="227993"/>
            <a:ext cx="8280400" cy="173736"/>
          </a:xfrm>
        </p:spPr>
        <p:txBody>
          <a:bodyPr anchor="b"/>
          <a:lstStyle>
            <a:lvl1pPr>
              <a:spcAft>
                <a:spcPts val="0"/>
              </a:spcAft>
              <a:defRPr sz="1200"/>
            </a:lvl1pPr>
          </a:lstStyle>
          <a:p>
            <a:pPr lvl="0"/>
            <a:r>
              <a:rPr lang="en-CA" dirty="0"/>
              <a:t>Super title here</a:t>
            </a:r>
          </a:p>
        </p:txBody>
      </p:sp>
      <p:sp>
        <p:nvSpPr>
          <p:cNvPr id="3" name="Title 2"/>
          <p:cNvSpPr>
            <a:spLocks noGrp="1"/>
          </p:cNvSpPr>
          <p:nvPr>
            <p:ph type="title"/>
          </p:nvPr>
        </p:nvSpPr>
        <p:spPr bwMode="gray"/>
        <p:txBody>
          <a:bodyPr/>
          <a:lstStyle/>
          <a:p>
            <a:r>
              <a:rPr lang="en-US"/>
              <a:t>Click to edit Master title style</a:t>
            </a:r>
            <a:endParaRPr lang="en-CA" dirty="0"/>
          </a:p>
        </p:txBody>
      </p:sp>
    </p:spTree>
    <p:extLst>
      <p:ext uri="{BB962C8B-B14F-4D97-AF65-F5344CB8AC3E}">
        <p14:creationId xmlns:p14="http://schemas.microsoft.com/office/powerpoint/2010/main" val="187155488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KEY MESSAGE: Graph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1"/>
          </p:nvPr>
        </p:nvSpPr>
        <p:spPr>
          <a:xfrm>
            <a:off x="5466080" y="1426659"/>
            <a:ext cx="3246120"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1214003177"/>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KEY MESSAGE 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434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1"/>
          </p:nvPr>
        </p:nvSpPr>
        <p:spPr>
          <a:xfrm>
            <a:off x="2099178" y="1426659"/>
            <a:ext cx="3244347"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8"/>
          <p:cNvSpPr>
            <a:spLocks noGrp="1"/>
          </p:cNvSpPr>
          <p:nvPr>
            <p:ph type="body" sz="quarter" idx="12"/>
          </p:nvPr>
        </p:nvSpPr>
        <p:spPr>
          <a:xfrm>
            <a:off x="5465763" y="1426659"/>
            <a:ext cx="3246437"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7" name="Text Placeholder 4"/>
          <p:cNvSpPr>
            <a:spLocks noGrp="1"/>
          </p:cNvSpPr>
          <p:nvPr>
            <p:ph type="body" sz="quarter" idx="13"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264360914"/>
      </p:ext>
    </p:extLst>
  </p:cSld>
  <p:clrMapOvr>
    <a:masterClrMapping/>
  </p:clrMapOvr>
  <p:extLst>
    <p:ext uri="{DCECCB84-F9BA-43D5-87BE-67443E8EF086}">
      <p15:sldGuideLst xmlns:p15="http://schemas.microsoft.com/office/powerpoint/2012/main">
        <p15:guide id="1" pos="1224" userDrawn="1">
          <p15:clr>
            <a:srgbClr val="FBAE40"/>
          </p15:clr>
        </p15:guide>
        <p15:guide id="2" pos="1320" userDrawn="1">
          <p15:clr>
            <a:srgbClr val="FBAE40"/>
          </p15:clr>
        </p15:guide>
        <p15:guide id="3" pos="3443" userDrawn="1">
          <p15:clr>
            <a:srgbClr val="FBAE40"/>
          </p15:clr>
        </p15:guide>
        <p15:guide id="4" pos="336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endParaRPr lang="en-CA" dirty="0"/>
          </a:p>
        </p:txBody>
      </p:sp>
      <p:sp>
        <p:nvSpPr>
          <p:cNvPr id="4"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1086707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dirty="0"/>
          </a:p>
        </p:txBody>
      </p:sp>
      <p:sp>
        <p:nvSpPr>
          <p:cNvPr id="9" name="Text Placeholder 8"/>
          <p:cNvSpPr>
            <a:spLocks noGrp="1"/>
          </p:cNvSpPr>
          <p:nvPr>
            <p:ph type="body" sz="quarter" idx="10"/>
          </p:nvPr>
        </p:nvSpPr>
        <p:spPr>
          <a:xfrm>
            <a:off x="431800" y="1426659"/>
            <a:ext cx="82804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26043585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8"/>
          <p:cNvSpPr>
            <a:spLocks noGrp="1"/>
          </p:cNvSpPr>
          <p:nvPr>
            <p:ph type="body" sz="quarter" idx="11"/>
          </p:nvPr>
        </p:nvSpPr>
        <p:spPr>
          <a:xfrm>
            <a:off x="4643438" y="1426659"/>
            <a:ext cx="4068762"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5"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760996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Chart Placeholder 5"/>
          <p:cNvSpPr>
            <a:spLocks noGrp="1"/>
          </p:cNvSpPr>
          <p:nvPr>
            <p:ph type="chart" sz="quarter" idx="13"/>
          </p:nvPr>
        </p:nvSpPr>
        <p:spPr>
          <a:xfrm>
            <a:off x="4643438" y="1426658"/>
            <a:ext cx="4068762" cy="4593600"/>
          </a:xfrm>
        </p:spPr>
        <p:txBody>
          <a:bodyPr anchor="ctr"/>
          <a:lstStyle>
            <a:lvl1pPr algn="ctr">
              <a:defRPr/>
            </a:lvl1pPr>
          </a:lstStyle>
          <a:p>
            <a:r>
              <a:rPr lang="en-US" dirty="0"/>
              <a:t>Click icon to add chart</a:t>
            </a:r>
            <a:endParaRPr lang="en-CA" dirty="0"/>
          </a:p>
        </p:txBody>
      </p:sp>
      <p:sp>
        <p:nvSpPr>
          <p:cNvPr id="5"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2" name="Title 1"/>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1468853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3824884"/>
            <a:ext cx="82804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Chart Placeholder 4"/>
          <p:cNvSpPr>
            <a:spLocks noGrp="1"/>
          </p:cNvSpPr>
          <p:nvPr>
            <p:ph type="chart" sz="quarter" idx="11"/>
          </p:nvPr>
        </p:nvSpPr>
        <p:spPr>
          <a:xfrm>
            <a:off x="431800" y="1426659"/>
            <a:ext cx="8280400" cy="2196000"/>
          </a:xfrm>
        </p:spPr>
        <p:txBody>
          <a:bodyPr anchor="ctr"/>
          <a:lstStyle>
            <a:lvl1pPr algn="ctr">
              <a:defRPr/>
            </a:lvl1pPr>
          </a:lstStyle>
          <a:p>
            <a:r>
              <a:rPr lang="en-US" dirty="0"/>
              <a:t>Click icon to add chart</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6"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7786615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3249000" y="1426659"/>
            <a:ext cx="2646000" cy="2185200"/>
          </a:xfrm>
        </p:spPr>
        <p:txBody>
          <a:bodyPr anchor="ctr"/>
          <a:lstStyle>
            <a:lvl1pPr algn="ctr">
              <a:defRPr/>
            </a:lvl1pPr>
          </a:lstStyle>
          <a:p>
            <a:r>
              <a:rPr lang="en-US" dirty="0"/>
              <a:t>Click icon to add chart</a:t>
            </a:r>
            <a:endParaRPr lang="en-CA" dirty="0"/>
          </a:p>
        </p:txBody>
      </p:sp>
      <p:sp>
        <p:nvSpPr>
          <p:cNvPr id="6" name="Chart Placeholder 4"/>
          <p:cNvSpPr>
            <a:spLocks noGrp="1"/>
          </p:cNvSpPr>
          <p:nvPr>
            <p:ph type="chart" sz="quarter" idx="12"/>
          </p:nvPr>
        </p:nvSpPr>
        <p:spPr>
          <a:xfrm>
            <a:off x="431800" y="1426659"/>
            <a:ext cx="2646000" cy="2185200"/>
          </a:xfrm>
        </p:spPr>
        <p:txBody>
          <a:bodyPr anchor="ctr"/>
          <a:lstStyle>
            <a:lvl1pPr algn="ctr">
              <a:defRPr/>
            </a:lvl1pPr>
          </a:lstStyle>
          <a:p>
            <a:r>
              <a:rPr lang="en-US" dirty="0"/>
              <a:t>Click icon to add chart</a:t>
            </a:r>
            <a:endParaRPr lang="en-CA" dirty="0"/>
          </a:p>
        </p:txBody>
      </p:sp>
      <p:sp>
        <p:nvSpPr>
          <p:cNvPr id="7" name="Text Placeholder 8"/>
          <p:cNvSpPr>
            <a:spLocks noGrp="1"/>
          </p:cNvSpPr>
          <p:nvPr>
            <p:ph type="body" sz="quarter" idx="10"/>
          </p:nvPr>
        </p:nvSpPr>
        <p:spPr>
          <a:xfrm>
            <a:off x="431800" y="3824884"/>
            <a:ext cx="2646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8" name="Chart Placeholder 4"/>
          <p:cNvSpPr>
            <a:spLocks noGrp="1"/>
          </p:cNvSpPr>
          <p:nvPr>
            <p:ph type="chart" sz="quarter" idx="13"/>
          </p:nvPr>
        </p:nvSpPr>
        <p:spPr>
          <a:xfrm>
            <a:off x="6066200" y="1426659"/>
            <a:ext cx="2646000" cy="2185200"/>
          </a:xfrm>
        </p:spPr>
        <p:txBody>
          <a:bodyPr anchor="ctr"/>
          <a:lstStyle>
            <a:lvl1pPr algn="ctr">
              <a:defRPr/>
            </a:lvl1pPr>
          </a:lstStyle>
          <a:p>
            <a:r>
              <a:rPr lang="en-US" dirty="0"/>
              <a:t>Click icon to add chart</a:t>
            </a:r>
            <a:endParaRPr lang="en-CA" dirty="0"/>
          </a:p>
        </p:txBody>
      </p:sp>
      <p:sp>
        <p:nvSpPr>
          <p:cNvPr id="9" name="Text Placeholder 8"/>
          <p:cNvSpPr>
            <a:spLocks noGrp="1"/>
          </p:cNvSpPr>
          <p:nvPr>
            <p:ph type="body" sz="quarter" idx="14"/>
          </p:nvPr>
        </p:nvSpPr>
        <p:spPr>
          <a:xfrm>
            <a:off x="3246853" y="3824884"/>
            <a:ext cx="2646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0" name="Text Placeholder 8"/>
          <p:cNvSpPr>
            <a:spLocks noGrp="1"/>
          </p:cNvSpPr>
          <p:nvPr>
            <p:ph type="body" sz="quarter" idx="15"/>
          </p:nvPr>
        </p:nvSpPr>
        <p:spPr>
          <a:xfrm>
            <a:off x="6061906" y="3824884"/>
            <a:ext cx="2646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11" name="Text Placeholder 4"/>
          <p:cNvSpPr>
            <a:spLocks noGrp="1"/>
          </p:cNvSpPr>
          <p:nvPr>
            <p:ph type="body" sz="quarter" idx="16"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3441336973"/>
      </p:ext>
    </p:extLst>
  </p:cSld>
  <p:clrMapOvr>
    <a:masterClrMapping/>
  </p:clrMapOvr>
  <p:extLst>
    <p:ext uri="{DCECCB84-F9BA-43D5-87BE-67443E8EF086}">
      <p15:sldGuideLst xmlns:p15="http://schemas.microsoft.com/office/powerpoint/2012/main">
        <p15:guide id="1" orient="horz" pos="2273" userDrawn="1">
          <p15:clr>
            <a:srgbClr val="FBAE40"/>
          </p15:clr>
        </p15:guide>
        <p15:guide id="2" orient="horz" pos="240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31800" y="1427284"/>
            <a:ext cx="8280400" cy="4593600"/>
          </a:xfrm>
        </p:spPr>
        <p:txBody>
          <a:bodyPr anchor="ctr"/>
          <a:lstStyle>
            <a:lvl1pPr algn="ctr">
              <a:defRPr/>
            </a:lvl1pPr>
          </a:lstStyle>
          <a:p>
            <a:r>
              <a:rPr lang="en-US" dirty="0"/>
              <a:t>Click icon to add picture</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5"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15466858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8"/>
          <p:cNvSpPr>
            <a:spLocks noGrp="1"/>
          </p:cNvSpPr>
          <p:nvPr>
            <p:ph type="body" sz="quarter" idx="11"/>
          </p:nvPr>
        </p:nvSpPr>
        <p:spPr>
          <a:xfrm>
            <a:off x="21194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2"/>
          </p:nvPr>
        </p:nvSpPr>
        <p:spPr>
          <a:xfrm>
            <a:off x="38070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8"/>
          <p:cNvSpPr>
            <a:spLocks noGrp="1"/>
          </p:cNvSpPr>
          <p:nvPr>
            <p:ph type="body" sz="quarter" idx="13"/>
          </p:nvPr>
        </p:nvSpPr>
        <p:spPr>
          <a:xfrm>
            <a:off x="54946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3" name="Text Placeholder 12"/>
          <p:cNvSpPr>
            <a:spLocks noGrp="1"/>
          </p:cNvSpPr>
          <p:nvPr>
            <p:ph type="body" sz="quarter" idx="14" hasCustomPrompt="1"/>
          </p:nvPr>
        </p:nvSpPr>
        <p:spPr>
          <a:xfrm>
            <a:off x="431800" y="1426659"/>
            <a:ext cx="1530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5" name="Text Placeholder 12"/>
          <p:cNvSpPr>
            <a:spLocks noGrp="1"/>
          </p:cNvSpPr>
          <p:nvPr>
            <p:ph type="body" sz="quarter" idx="15" hasCustomPrompt="1"/>
          </p:nvPr>
        </p:nvSpPr>
        <p:spPr>
          <a:xfrm>
            <a:off x="21194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6" name="Text Placeholder 12"/>
          <p:cNvSpPr>
            <a:spLocks noGrp="1"/>
          </p:cNvSpPr>
          <p:nvPr>
            <p:ph type="body" sz="quarter" idx="16" hasCustomPrompt="1"/>
          </p:nvPr>
        </p:nvSpPr>
        <p:spPr>
          <a:xfrm>
            <a:off x="38070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7" name="Text Placeholder 12"/>
          <p:cNvSpPr>
            <a:spLocks noGrp="1"/>
          </p:cNvSpPr>
          <p:nvPr>
            <p:ph type="body" sz="quarter" idx="17" hasCustomPrompt="1"/>
          </p:nvPr>
        </p:nvSpPr>
        <p:spPr>
          <a:xfrm>
            <a:off x="54946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1" name="Text Placeholder 12"/>
          <p:cNvSpPr>
            <a:spLocks noGrp="1"/>
          </p:cNvSpPr>
          <p:nvPr>
            <p:ph type="body" sz="quarter" idx="18" hasCustomPrompt="1"/>
          </p:nvPr>
        </p:nvSpPr>
        <p:spPr>
          <a:xfrm>
            <a:off x="71822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2" name="Text Placeholder 8"/>
          <p:cNvSpPr>
            <a:spLocks noGrp="1"/>
          </p:cNvSpPr>
          <p:nvPr>
            <p:ph type="body" sz="quarter" idx="19"/>
          </p:nvPr>
        </p:nvSpPr>
        <p:spPr>
          <a:xfrm>
            <a:off x="71822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14" name="Text Placeholder 4"/>
          <p:cNvSpPr>
            <a:spLocks noGrp="1"/>
          </p:cNvSpPr>
          <p:nvPr>
            <p:ph type="body" sz="quarter" idx="20"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2877598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8"/>
          <p:cNvSpPr>
            <a:spLocks noGrp="1"/>
          </p:cNvSpPr>
          <p:nvPr>
            <p:ph type="body" sz="quarter" idx="11"/>
          </p:nvPr>
        </p:nvSpPr>
        <p:spPr>
          <a:xfrm>
            <a:off x="2543933"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2"/>
          </p:nvPr>
        </p:nvSpPr>
        <p:spPr>
          <a:xfrm>
            <a:off x="4656066"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8"/>
          <p:cNvSpPr>
            <a:spLocks noGrp="1"/>
          </p:cNvSpPr>
          <p:nvPr>
            <p:ph type="body" sz="quarter" idx="13"/>
          </p:nvPr>
        </p:nvSpPr>
        <p:spPr>
          <a:xfrm>
            <a:off x="6768200"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3" name="Text Placeholder 12"/>
          <p:cNvSpPr>
            <a:spLocks noGrp="1"/>
          </p:cNvSpPr>
          <p:nvPr>
            <p:ph type="body" sz="quarter" idx="14" hasCustomPrompt="1"/>
          </p:nvPr>
        </p:nvSpPr>
        <p:spPr>
          <a:xfrm>
            <a:off x="431800" y="1426659"/>
            <a:ext cx="1944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5" name="Text Placeholder 12"/>
          <p:cNvSpPr>
            <a:spLocks noGrp="1"/>
          </p:cNvSpPr>
          <p:nvPr>
            <p:ph type="body" sz="quarter" idx="15" hasCustomPrompt="1"/>
          </p:nvPr>
        </p:nvSpPr>
        <p:spPr>
          <a:xfrm>
            <a:off x="2543933" y="1426659"/>
            <a:ext cx="1944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6" name="Text Placeholder 12"/>
          <p:cNvSpPr>
            <a:spLocks noGrp="1"/>
          </p:cNvSpPr>
          <p:nvPr>
            <p:ph type="body" sz="quarter" idx="16" hasCustomPrompt="1"/>
          </p:nvPr>
        </p:nvSpPr>
        <p:spPr>
          <a:xfrm>
            <a:off x="4656066" y="1426659"/>
            <a:ext cx="1944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7" name="Text Placeholder 12"/>
          <p:cNvSpPr>
            <a:spLocks noGrp="1"/>
          </p:cNvSpPr>
          <p:nvPr>
            <p:ph type="body" sz="quarter" idx="17" hasCustomPrompt="1"/>
          </p:nvPr>
        </p:nvSpPr>
        <p:spPr>
          <a:xfrm>
            <a:off x="6768200" y="1426659"/>
            <a:ext cx="1944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3" name="Title 2"/>
          <p:cNvSpPr>
            <a:spLocks noGrp="1"/>
          </p:cNvSpPr>
          <p:nvPr>
            <p:ph type="title"/>
          </p:nvPr>
        </p:nvSpPr>
        <p:spPr/>
        <p:txBody>
          <a:bodyPr/>
          <a:lstStyle/>
          <a:p>
            <a:r>
              <a:rPr lang="en-US"/>
              <a:t>Click to edit Master title style</a:t>
            </a:r>
            <a:endParaRPr lang="en-CA" dirty="0"/>
          </a:p>
        </p:txBody>
      </p:sp>
      <p:sp>
        <p:nvSpPr>
          <p:cNvPr id="11" name="Text Placeholder 4"/>
          <p:cNvSpPr>
            <a:spLocks noGrp="1"/>
          </p:cNvSpPr>
          <p:nvPr>
            <p:ph type="body" sz="quarter" idx="18"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26838659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504400" y="4400575"/>
            <a:ext cx="3207800" cy="1606525"/>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6" name="Text Placeholder 8"/>
          <p:cNvSpPr>
            <a:spLocks noGrp="1"/>
          </p:cNvSpPr>
          <p:nvPr>
            <p:ph type="body" sz="quarter" idx="13"/>
          </p:nvPr>
        </p:nvSpPr>
        <p:spPr>
          <a:xfrm>
            <a:off x="5504400" y="1657033"/>
            <a:ext cx="3207800" cy="1612800"/>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3" name="Text Placeholder 12"/>
          <p:cNvSpPr>
            <a:spLocks noGrp="1"/>
          </p:cNvSpPr>
          <p:nvPr>
            <p:ph type="body" sz="quarter" idx="14" hasCustomPrompt="1"/>
          </p:nvPr>
        </p:nvSpPr>
        <p:spPr>
          <a:xfrm>
            <a:off x="3976201" y="3191933"/>
            <a:ext cx="1191600" cy="1191600"/>
          </a:xfrm>
          <a:prstGeom prst="ellipse">
            <a:avLst/>
          </a:prstGeom>
          <a:solidFill>
            <a:schemeClr val="accent1"/>
          </a:solidFill>
        </p:spPr>
        <p:txBody>
          <a:bodyPr lIns="54000" tIns="54000" rIns="54000" bIns="54000" anchor="ctr"/>
          <a:lstStyle>
            <a:lvl1pPr algn="ctr">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1" name="Text Placeholder 8"/>
          <p:cNvSpPr>
            <a:spLocks noGrp="1"/>
          </p:cNvSpPr>
          <p:nvPr>
            <p:ph type="body" sz="quarter" idx="15"/>
          </p:nvPr>
        </p:nvSpPr>
        <p:spPr>
          <a:xfrm>
            <a:off x="5504400" y="1428430"/>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2" name="Text Placeholder 8"/>
          <p:cNvSpPr>
            <a:spLocks noGrp="1"/>
          </p:cNvSpPr>
          <p:nvPr>
            <p:ph type="body" sz="quarter" idx="16"/>
          </p:nvPr>
        </p:nvSpPr>
        <p:spPr>
          <a:xfrm>
            <a:off x="5504400" y="4173277"/>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4" name="Text Placeholder 8"/>
          <p:cNvSpPr>
            <a:spLocks noGrp="1"/>
          </p:cNvSpPr>
          <p:nvPr>
            <p:ph type="body" sz="quarter" idx="17"/>
          </p:nvPr>
        </p:nvSpPr>
        <p:spPr>
          <a:xfrm>
            <a:off x="431800" y="4400575"/>
            <a:ext cx="3207800" cy="1606525"/>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8" name="Text Placeholder 8"/>
          <p:cNvSpPr>
            <a:spLocks noGrp="1"/>
          </p:cNvSpPr>
          <p:nvPr>
            <p:ph type="body" sz="quarter" idx="18"/>
          </p:nvPr>
        </p:nvSpPr>
        <p:spPr>
          <a:xfrm>
            <a:off x="431800" y="4173277"/>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8"/>
          <p:cNvSpPr>
            <a:spLocks noGrp="1"/>
          </p:cNvSpPr>
          <p:nvPr>
            <p:ph type="body" sz="quarter" idx="19"/>
          </p:nvPr>
        </p:nvSpPr>
        <p:spPr>
          <a:xfrm>
            <a:off x="431800" y="1657033"/>
            <a:ext cx="3207800" cy="1612800"/>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0" name="Text Placeholder 8"/>
          <p:cNvSpPr>
            <a:spLocks noGrp="1"/>
          </p:cNvSpPr>
          <p:nvPr>
            <p:ph type="body" sz="quarter" idx="20"/>
          </p:nvPr>
        </p:nvSpPr>
        <p:spPr>
          <a:xfrm>
            <a:off x="431800" y="1428430"/>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Right Arrow 2"/>
          <p:cNvSpPr/>
          <p:nvPr userDrawn="1"/>
        </p:nvSpPr>
        <p:spPr>
          <a:xfrm rot="2655894">
            <a:off x="3785399" y="2812312"/>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21" name="Right Arrow 20"/>
          <p:cNvSpPr/>
          <p:nvPr userDrawn="1"/>
        </p:nvSpPr>
        <p:spPr>
          <a:xfrm rot="18944106" flipH="1">
            <a:off x="4977002" y="2812312"/>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22" name="Right Arrow 21"/>
          <p:cNvSpPr/>
          <p:nvPr userDrawn="1"/>
        </p:nvSpPr>
        <p:spPr>
          <a:xfrm rot="18944106" flipV="1">
            <a:off x="3785399" y="4385153"/>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23" name="Right Arrow 22"/>
          <p:cNvSpPr/>
          <p:nvPr userDrawn="1"/>
        </p:nvSpPr>
        <p:spPr>
          <a:xfrm rot="2655894" flipH="1" flipV="1">
            <a:off x="4977002" y="4385153"/>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4" name="Title 3"/>
          <p:cNvSpPr>
            <a:spLocks noGrp="1"/>
          </p:cNvSpPr>
          <p:nvPr>
            <p:ph type="title"/>
          </p:nvPr>
        </p:nvSpPr>
        <p:spPr/>
        <p:txBody>
          <a:bodyPr/>
          <a:lstStyle/>
          <a:p>
            <a:r>
              <a:rPr lang="en-US"/>
              <a:t>Click to edit Master title style</a:t>
            </a:r>
            <a:endParaRPr lang="en-CA" dirty="0"/>
          </a:p>
        </p:txBody>
      </p:sp>
      <p:sp>
        <p:nvSpPr>
          <p:cNvPr id="17" name="Text Placeholder 4"/>
          <p:cNvSpPr>
            <a:spLocks noGrp="1"/>
          </p:cNvSpPr>
          <p:nvPr>
            <p:ph type="body" sz="quarter" idx="21"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4248635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431800" y="1657033"/>
            <a:ext cx="4068763" cy="4357241"/>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0" name="Text Placeholder 8"/>
          <p:cNvSpPr>
            <a:spLocks noGrp="1"/>
          </p:cNvSpPr>
          <p:nvPr>
            <p:ph type="body" sz="quarter" idx="20"/>
          </p:nvPr>
        </p:nvSpPr>
        <p:spPr>
          <a:xfrm>
            <a:off x="431799" y="1426659"/>
            <a:ext cx="4068763"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4643438" y="1657033"/>
            <a:ext cx="4068762" cy="4357241"/>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7" name="Text Placeholder 8"/>
          <p:cNvSpPr>
            <a:spLocks noGrp="1"/>
          </p:cNvSpPr>
          <p:nvPr>
            <p:ph type="body" sz="quarter" idx="22"/>
          </p:nvPr>
        </p:nvSpPr>
        <p:spPr>
          <a:xfrm>
            <a:off x="4643438" y="1426659"/>
            <a:ext cx="4068762"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lang="en-CA" dirty="0"/>
          </a:p>
        </p:txBody>
      </p:sp>
      <p:sp>
        <p:nvSpPr>
          <p:cNvPr id="8"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35625604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graphicFrame>
        <p:nvGraphicFramePr>
          <p:cNvPr id="7" name="Objet 6" hidden="1"/>
          <p:cNvGraphicFramePr>
            <a:graphicFrameLocks noChangeAspect="1"/>
          </p:cNvGraphicFramePr>
          <p:nvPr userDrawn="1">
            <p:custDataLst>
              <p:tags r:id="rId2"/>
            </p:custDataLst>
            <p:extLst>
              <p:ext uri="{D42A27DB-BD31-4B8C-83A1-F6EECF244321}">
                <p14:modId xmlns:p14="http://schemas.microsoft.com/office/powerpoint/2010/main" val="131131647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6340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Section divider one title style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3869611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113160134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6443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Section divider two title style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9627710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3">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23790721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6545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Section divider three title style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18981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4">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105075403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6647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Section divider four title style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9811532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QUAD">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431799" y="1649859"/>
            <a:ext cx="4068763" cy="1956328"/>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0" name="Text Placeholder 8"/>
          <p:cNvSpPr>
            <a:spLocks noGrp="1"/>
          </p:cNvSpPr>
          <p:nvPr>
            <p:ph type="body" sz="quarter" idx="20"/>
          </p:nvPr>
        </p:nvSpPr>
        <p:spPr>
          <a:xfrm>
            <a:off x="431799" y="1426659"/>
            <a:ext cx="4068763"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4643438" y="1649859"/>
            <a:ext cx="4068762" cy="1956328"/>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7" name="Text Placeholder 8"/>
          <p:cNvSpPr>
            <a:spLocks noGrp="1"/>
          </p:cNvSpPr>
          <p:nvPr>
            <p:ph type="body" sz="quarter" idx="22"/>
          </p:nvPr>
        </p:nvSpPr>
        <p:spPr>
          <a:xfrm>
            <a:off x="4643438" y="1426659"/>
            <a:ext cx="4068762"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 name="Text Placeholder 8"/>
          <p:cNvSpPr>
            <a:spLocks noGrp="1"/>
          </p:cNvSpPr>
          <p:nvPr>
            <p:ph type="body" sz="quarter" idx="23"/>
          </p:nvPr>
        </p:nvSpPr>
        <p:spPr>
          <a:xfrm>
            <a:off x="431799" y="4055088"/>
            <a:ext cx="4068763" cy="1956327"/>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8" name="Text Placeholder 8"/>
          <p:cNvSpPr>
            <a:spLocks noGrp="1"/>
          </p:cNvSpPr>
          <p:nvPr>
            <p:ph type="body" sz="quarter" idx="24"/>
          </p:nvPr>
        </p:nvSpPr>
        <p:spPr>
          <a:xfrm>
            <a:off x="431799" y="3835137"/>
            <a:ext cx="4068763"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9" name="Text Placeholder 8"/>
          <p:cNvSpPr>
            <a:spLocks noGrp="1"/>
          </p:cNvSpPr>
          <p:nvPr>
            <p:ph type="body" sz="quarter" idx="25"/>
          </p:nvPr>
        </p:nvSpPr>
        <p:spPr>
          <a:xfrm>
            <a:off x="4643438" y="4055088"/>
            <a:ext cx="4068762" cy="1956328"/>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0" name="Text Placeholder 8"/>
          <p:cNvSpPr>
            <a:spLocks noGrp="1"/>
          </p:cNvSpPr>
          <p:nvPr>
            <p:ph type="body" sz="quarter" idx="26"/>
          </p:nvPr>
        </p:nvSpPr>
        <p:spPr>
          <a:xfrm>
            <a:off x="4643438" y="3835137"/>
            <a:ext cx="4068762"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lang="en-CA" dirty="0"/>
          </a:p>
        </p:txBody>
      </p:sp>
      <p:sp>
        <p:nvSpPr>
          <p:cNvPr id="11"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21"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22"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15"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2018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955695692"/>
      </p:ext>
    </p:extLst>
  </p:cSld>
  <p:clrMapOvr>
    <a:masterClrMapping/>
  </p:clrMapOvr>
  <p:extLst>
    <p:ext uri="{DCECCB84-F9BA-43D5-87BE-67443E8EF086}">
      <p15:sldGuideLst xmlns:p15="http://schemas.microsoft.com/office/powerpoint/2012/main">
        <p15:guide id="1" orient="horz" pos="2273" userDrawn="1">
          <p15:clr>
            <a:srgbClr val="FBAE40"/>
          </p15:clr>
        </p15:guide>
        <p15:guide id="2" orient="horz" pos="2409"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REPORT 2 COLUMN AND COVER LETTER RUNOVER">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Text Placeholder 8"/>
          <p:cNvSpPr>
            <a:spLocks noGrp="1"/>
          </p:cNvSpPr>
          <p:nvPr>
            <p:ph type="body" sz="quarter" idx="11"/>
          </p:nvPr>
        </p:nvSpPr>
        <p:spPr>
          <a:xfrm>
            <a:off x="4643438" y="1426659"/>
            <a:ext cx="4068762"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12"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3"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15"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0"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2018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32672883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REPORT 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CA" dirty="0"/>
          </a:p>
        </p:txBody>
      </p:sp>
      <p:sp>
        <p:nvSpPr>
          <p:cNvPr id="12"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9"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14"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2018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21562581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EPORT TITL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dirty="0"/>
          </a:p>
        </p:txBody>
      </p:sp>
      <p:sp>
        <p:nvSpPr>
          <p:cNvPr id="9" name="Text Placeholder 8"/>
          <p:cNvSpPr>
            <a:spLocks noGrp="1"/>
          </p:cNvSpPr>
          <p:nvPr>
            <p:ph type="body" sz="quarter" idx="10"/>
          </p:nvPr>
        </p:nvSpPr>
        <p:spPr>
          <a:xfrm>
            <a:off x="431800" y="1426659"/>
            <a:ext cx="82804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1"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2"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8" name="TextBox 29"/>
          <p:cNvSpPr txBox="1"/>
          <p:nvPr userDrawn="1"/>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600" kern="1200" noProof="0" dirty="0">
                <a:solidFill>
                  <a:schemeClr val="bg1">
                    <a:lumMod val="65000"/>
                  </a:schemeClr>
                </a:solidFill>
                <a:latin typeface="+mn-lt"/>
                <a:ea typeface="+mn-ea"/>
                <a:cs typeface="+mn-cs"/>
              </a:rPr>
              <a:t>© 2018 KPMG LLP, a Canadian limited liability partnership and a member firm of the KPMG network of independent member firms affiliated with KPMG International Cooperative </a:t>
            </a:r>
            <a:br>
              <a:rPr lang="en-CA" sz="600" kern="1200" noProof="0" dirty="0">
                <a:solidFill>
                  <a:schemeClr val="bg1">
                    <a:lumMod val="65000"/>
                  </a:schemeClr>
                </a:solidFill>
                <a:latin typeface="+mn-lt"/>
                <a:ea typeface="+mn-ea"/>
                <a:cs typeface="+mn-cs"/>
              </a:rPr>
            </a:br>
            <a:r>
              <a:rPr lang="en-CA"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22427722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acts">
    <p:spTree>
      <p:nvGrpSpPr>
        <p:cNvPr id="1" name=""/>
        <p:cNvGrpSpPr/>
        <p:nvPr/>
      </p:nvGrpSpPr>
      <p:grpSpPr>
        <a:xfrm>
          <a:off x="0" y="0"/>
          <a:ext cx="0" cy="0"/>
          <a:chOff x="0" y="0"/>
          <a:chExt cx="0" cy="0"/>
        </a:xfrm>
      </p:grpSpPr>
      <p:graphicFrame>
        <p:nvGraphicFramePr>
          <p:cNvPr id="2" name="Objet 1" hidden="1"/>
          <p:cNvGraphicFramePr>
            <a:graphicFrameLocks noChangeAspect="1"/>
          </p:cNvGraphicFramePr>
          <p:nvPr userDrawn="1">
            <p:custDataLst>
              <p:tags r:id="rId2"/>
            </p:custDataLst>
            <p:extLst>
              <p:ext uri="{D42A27DB-BD31-4B8C-83A1-F6EECF244321}">
                <p14:modId xmlns:p14="http://schemas.microsoft.com/office/powerpoint/2010/main" val="391506443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396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Image 8"/>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flipH="1">
            <a:off x="0" y="0"/>
            <a:ext cx="9144000" cy="6858000"/>
          </a:xfrm>
          <a:prstGeom prst="rect">
            <a:avLst/>
          </a:prstGeom>
        </p:spPr>
      </p:pic>
      <p:sp>
        <p:nvSpPr>
          <p:cNvPr id="7" name="Text Placeholder 6"/>
          <p:cNvSpPr>
            <a:spLocks noGrp="1"/>
          </p:cNvSpPr>
          <p:nvPr>
            <p:ph type="body" sz="quarter" idx="10"/>
          </p:nvPr>
        </p:nvSpPr>
        <p:spPr>
          <a:xfrm>
            <a:off x="4659580" y="1700956"/>
            <a:ext cx="3739884" cy="754061"/>
          </a:xfrm>
        </p:spPr>
        <p:txBody>
          <a:bodyPr/>
          <a:lstStyle>
            <a:lvl1pPr>
              <a:lnSpc>
                <a:spcPct val="70000"/>
              </a:lnSpc>
              <a:defRPr sz="4400" b="0">
                <a:solidFill>
                  <a:schemeClr val="tx2"/>
                </a:solidFill>
                <a:latin typeface="+mj-lt"/>
              </a:defRPr>
            </a:lvl1pPr>
          </a:lstStyle>
          <a:p>
            <a:pPr lvl="0"/>
            <a:r>
              <a:rPr lang="en-US"/>
              <a:t>Click to edit Master text styles</a:t>
            </a:r>
          </a:p>
        </p:txBody>
      </p:sp>
      <p:sp>
        <p:nvSpPr>
          <p:cNvPr id="11" name="Text Placeholder 10"/>
          <p:cNvSpPr>
            <a:spLocks noGrp="1"/>
          </p:cNvSpPr>
          <p:nvPr>
            <p:ph type="body" sz="quarter" idx="11"/>
          </p:nvPr>
        </p:nvSpPr>
        <p:spPr>
          <a:xfrm>
            <a:off x="4659580" y="2315952"/>
            <a:ext cx="3740400" cy="3267075"/>
          </a:xfrm>
        </p:spPr>
        <p:txBody>
          <a:bodyPr/>
          <a:lstStyle>
            <a:lvl1pPr>
              <a:defRPr>
                <a:solidFill>
                  <a:schemeClr val="tx2"/>
                </a:solidFill>
              </a:defRPr>
            </a:lvl1pPr>
            <a:lvl2pP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0" name="Freeform 19"/>
          <p:cNvSpPr>
            <a:spLocks noEditPoints="1"/>
          </p:cNvSpPr>
          <p:nvPr userDrawn="1"/>
        </p:nvSpPr>
        <p:spPr bwMode="auto">
          <a:xfrm>
            <a:off x="462630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578825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bwMode="gray">
          <a:xfrm>
            <a:off x="2" y="0"/>
            <a:ext cx="74771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400" dirty="0">
              <a:latin typeface="Arial" panose="020B0604020202020204" pitchFamily="34" charset="0"/>
              <a:sym typeface="Arial" panose="020B0604020202020204" pitchFamily="34" charset="0"/>
            </a:endParaRPr>
          </a:p>
        </p:txBody>
      </p:sp>
      <p:sp>
        <p:nvSpPr>
          <p:cNvPr id="11" name="Freeform 19"/>
          <p:cNvSpPr>
            <a:spLocks noEditPoints="1"/>
          </p:cNvSpPr>
          <p:nvPr userDrawn="1"/>
        </p:nvSpPr>
        <p:spPr bwMode="gray">
          <a:xfrm>
            <a:off x="15840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9" name="Text Placeholder 2"/>
          <p:cNvSpPr>
            <a:spLocks noGrp="1"/>
          </p:cNvSpPr>
          <p:nvPr>
            <p:ph type="body" sz="quarter" idx="13"/>
          </p:nvPr>
        </p:nvSpPr>
        <p:spPr bwMode="auto">
          <a:xfrm>
            <a:off x="1584000" y="4058433"/>
            <a:ext cx="6815463" cy="659335"/>
          </a:xfrm>
        </p:spPr>
        <p:txBody>
          <a:bodyPr/>
          <a:lstStyle>
            <a:lvl1pPr eaLnBrk="1">
              <a:spcBef>
                <a:spcPts val="0"/>
              </a:spcBef>
              <a:spcAft>
                <a:spcPts val="600"/>
              </a:spcAft>
              <a:buFontTx/>
              <a:buNone/>
              <a:defRPr sz="1000" b="0">
                <a:solidFill>
                  <a:schemeClr val="bg1">
                    <a:lumMod val="65000"/>
                  </a:schemeClr>
                </a:solidFill>
              </a:defRPr>
            </a:lvl1pPr>
            <a:lvl2pPr>
              <a:spcBef>
                <a:spcPts val="300"/>
              </a:spcBef>
              <a:spcAft>
                <a:spcPts val="0"/>
              </a:spcAft>
              <a:buFontTx/>
              <a:buNone/>
              <a:defRPr sz="10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grpSp>
        <p:nvGrpSpPr>
          <p:cNvPr id="33" name="Groupe 32"/>
          <p:cNvGrpSpPr/>
          <p:nvPr userDrawn="1"/>
        </p:nvGrpSpPr>
        <p:grpSpPr bwMode="gray">
          <a:xfrm>
            <a:off x="1584000" y="3364065"/>
            <a:ext cx="1296000" cy="303444"/>
            <a:chOff x="3899909" y="1033938"/>
            <a:chExt cx="2101851" cy="492125"/>
          </a:xfrm>
        </p:grpSpPr>
        <p:grpSp>
          <p:nvGrpSpPr>
            <p:cNvPr id="34" name="Group 53"/>
            <p:cNvGrpSpPr/>
            <p:nvPr userDrawn="1"/>
          </p:nvGrpSpPr>
          <p:grpSpPr bwMode="gray">
            <a:xfrm>
              <a:off x="4982584" y="1033938"/>
              <a:ext cx="477838" cy="492125"/>
              <a:chOff x="5102225" y="3725863"/>
              <a:chExt cx="477838" cy="492125"/>
            </a:xfrm>
          </p:grpSpPr>
          <p:sp>
            <p:nvSpPr>
              <p:cNvPr id="46" name="Freeform 6"/>
              <p:cNvSpPr>
                <a:spLocks/>
              </p:cNvSpPr>
              <p:nvPr/>
            </p:nvSpPr>
            <p:spPr bwMode="gray">
              <a:xfrm>
                <a:off x="5102225" y="3725863"/>
                <a:ext cx="477838" cy="492125"/>
              </a:xfrm>
              <a:custGeom>
                <a:avLst/>
                <a:gdLst>
                  <a:gd name="T0" fmla="*/ 118 w 127"/>
                  <a:gd name="T1" fmla="*/ 0 h 128"/>
                  <a:gd name="T2" fmla="*/ 9 w 127"/>
                  <a:gd name="T3" fmla="*/ 0 h 128"/>
                  <a:gd name="T4" fmla="*/ 0 w 127"/>
                  <a:gd name="T5" fmla="*/ 10 h 128"/>
                  <a:gd name="T6" fmla="*/ 0 w 127"/>
                  <a:gd name="T7" fmla="*/ 119 h 128"/>
                  <a:gd name="T8" fmla="*/ 9 w 127"/>
                  <a:gd name="T9" fmla="*/ 128 h 128"/>
                  <a:gd name="T10" fmla="*/ 118 w 127"/>
                  <a:gd name="T11" fmla="*/ 128 h 128"/>
                  <a:gd name="T12" fmla="*/ 127 w 127"/>
                  <a:gd name="T13" fmla="*/ 119 h 128"/>
                  <a:gd name="T14" fmla="*/ 127 w 127"/>
                  <a:gd name="T15" fmla="*/ 10 h 128"/>
                  <a:gd name="T16" fmla="*/ 118 w 127"/>
                  <a:gd name="T1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128">
                    <a:moveTo>
                      <a:pt x="118" y="0"/>
                    </a:moveTo>
                    <a:cubicBezTo>
                      <a:pt x="9" y="0"/>
                      <a:pt x="9" y="0"/>
                      <a:pt x="9" y="0"/>
                    </a:cubicBezTo>
                    <a:cubicBezTo>
                      <a:pt x="4" y="0"/>
                      <a:pt x="0" y="5"/>
                      <a:pt x="0" y="10"/>
                    </a:cubicBezTo>
                    <a:cubicBezTo>
                      <a:pt x="0" y="119"/>
                      <a:pt x="0" y="119"/>
                      <a:pt x="0" y="119"/>
                    </a:cubicBezTo>
                    <a:cubicBezTo>
                      <a:pt x="0" y="124"/>
                      <a:pt x="4" y="128"/>
                      <a:pt x="9" y="128"/>
                    </a:cubicBezTo>
                    <a:cubicBezTo>
                      <a:pt x="118" y="128"/>
                      <a:pt x="118" y="128"/>
                      <a:pt x="118" y="128"/>
                    </a:cubicBezTo>
                    <a:cubicBezTo>
                      <a:pt x="123" y="128"/>
                      <a:pt x="127" y="124"/>
                      <a:pt x="127" y="119"/>
                    </a:cubicBezTo>
                    <a:cubicBezTo>
                      <a:pt x="127" y="10"/>
                      <a:pt x="127" y="10"/>
                      <a:pt x="127" y="10"/>
                    </a:cubicBezTo>
                    <a:cubicBezTo>
                      <a:pt x="127" y="5"/>
                      <a:pt x="123" y="0"/>
                      <a:pt x="118" y="0"/>
                    </a:cubicBezTo>
                  </a:path>
                </a:pathLst>
              </a:custGeom>
              <a:solidFill>
                <a:srgbClr val="E532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47" name="Freeform 7"/>
              <p:cNvSpPr>
                <a:spLocks noEditPoints="1"/>
              </p:cNvSpPr>
              <p:nvPr/>
            </p:nvSpPr>
            <p:spPr bwMode="gray">
              <a:xfrm>
                <a:off x="5187950" y="3849688"/>
                <a:ext cx="315913" cy="246063"/>
              </a:xfrm>
              <a:custGeom>
                <a:avLst/>
                <a:gdLst>
                  <a:gd name="T0" fmla="*/ 30 w 84"/>
                  <a:gd name="T1" fmla="*/ 46 h 64"/>
                  <a:gd name="T2" fmla="*/ 30 w 84"/>
                  <a:gd name="T3" fmla="*/ 18 h 64"/>
                  <a:gd name="T4" fmla="*/ 54 w 84"/>
                  <a:gd name="T5" fmla="*/ 32 h 64"/>
                  <a:gd name="T6" fmla="*/ 30 w 84"/>
                  <a:gd name="T7" fmla="*/ 46 h 64"/>
                  <a:gd name="T8" fmla="*/ 71 w 84"/>
                  <a:gd name="T9" fmla="*/ 0 h 64"/>
                  <a:gd name="T10" fmla="*/ 12 w 84"/>
                  <a:gd name="T11" fmla="*/ 0 h 64"/>
                  <a:gd name="T12" fmla="*/ 0 w 84"/>
                  <a:gd name="T13" fmla="*/ 13 h 64"/>
                  <a:gd name="T14" fmla="*/ 0 w 84"/>
                  <a:gd name="T15" fmla="*/ 51 h 64"/>
                  <a:gd name="T16" fmla="*/ 12 w 84"/>
                  <a:gd name="T17" fmla="*/ 64 h 64"/>
                  <a:gd name="T18" fmla="*/ 71 w 84"/>
                  <a:gd name="T19" fmla="*/ 64 h 64"/>
                  <a:gd name="T20" fmla="*/ 84 w 84"/>
                  <a:gd name="T21" fmla="*/ 51 h 64"/>
                  <a:gd name="T22" fmla="*/ 84 w 84"/>
                  <a:gd name="T23" fmla="*/ 13 h 64"/>
                  <a:gd name="T24" fmla="*/ 71 w 84"/>
                  <a:gd name="T25"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64">
                    <a:moveTo>
                      <a:pt x="30" y="46"/>
                    </a:moveTo>
                    <a:cubicBezTo>
                      <a:pt x="30" y="18"/>
                      <a:pt x="30" y="18"/>
                      <a:pt x="30" y="18"/>
                    </a:cubicBezTo>
                    <a:cubicBezTo>
                      <a:pt x="54" y="32"/>
                      <a:pt x="54" y="32"/>
                      <a:pt x="54" y="32"/>
                    </a:cubicBezTo>
                    <a:lnTo>
                      <a:pt x="30" y="46"/>
                    </a:lnTo>
                    <a:close/>
                    <a:moveTo>
                      <a:pt x="71" y="0"/>
                    </a:moveTo>
                    <a:cubicBezTo>
                      <a:pt x="12" y="0"/>
                      <a:pt x="12" y="0"/>
                      <a:pt x="12" y="0"/>
                    </a:cubicBezTo>
                    <a:cubicBezTo>
                      <a:pt x="5" y="0"/>
                      <a:pt x="0" y="6"/>
                      <a:pt x="0" y="13"/>
                    </a:cubicBezTo>
                    <a:cubicBezTo>
                      <a:pt x="0" y="51"/>
                      <a:pt x="0" y="51"/>
                      <a:pt x="0" y="51"/>
                    </a:cubicBezTo>
                    <a:cubicBezTo>
                      <a:pt x="0" y="58"/>
                      <a:pt x="5" y="64"/>
                      <a:pt x="12" y="64"/>
                    </a:cubicBezTo>
                    <a:cubicBezTo>
                      <a:pt x="71" y="64"/>
                      <a:pt x="71" y="64"/>
                      <a:pt x="71" y="64"/>
                    </a:cubicBezTo>
                    <a:cubicBezTo>
                      <a:pt x="78" y="64"/>
                      <a:pt x="84" y="58"/>
                      <a:pt x="84" y="51"/>
                    </a:cubicBezTo>
                    <a:cubicBezTo>
                      <a:pt x="84" y="13"/>
                      <a:pt x="84" y="13"/>
                      <a:pt x="84" y="13"/>
                    </a:cubicBezTo>
                    <a:cubicBezTo>
                      <a:pt x="84" y="6"/>
                      <a:pt x="78" y="0"/>
                      <a:pt x="7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nvGrpSpPr>
            <p:cNvPr id="35" name="Group 52"/>
            <p:cNvGrpSpPr/>
            <p:nvPr userDrawn="1"/>
          </p:nvGrpSpPr>
          <p:grpSpPr bwMode="gray">
            <a:xfrm>
              <a:off x="4441247" y="1033938"/>
              <a:ext cx="481013" cy="492125"/>
              <a:chOff x="4560888" y="3725863"/>
              <a:chExt cx="481013" cy="492125"/>
            </a:xfrm>
          </p:grpSpPr>
          <p:sp>
            <p:nvSpPr>
              <p:cNvPr id="44" name="Freeform 5"/>
              <p:cNvSpPr>
                <a:spLocks/>
              </p:cNvSpPr>
              <p:nvPr/>
            </p:nvSpPr>
            <p:spPr bwMode="gray">
              <a:xfrm>
                <a:off x="4560888" y="3725863"/>
                <a:ext cx="481013" cy="492125"/>
              </a:xfrm>
              <a:custGeom>
                <a:avLst/>
                <a:gdLst>
                  <a:gd name="T0" fmla="*/ 118 w 128"/>
                  <a:gd name="T1" fmla="*/ 0 h 128"/>
                  <a:gd name="T2" fmla="*/ 9 w 128"/>
                  <a:gd name="T3" fmla="*/ 0 h 128"/>
                  <a:gd name="T4" fmla="*/ 0 w 128"/>
                  <a:gd name="T5" fmla="*/ 10 h 128"/>
                  <a:gd name="T6" fmla="*/ 0 w 128"/>
                  <a:gd name="T7" fmla="*/ 119 h 128"/>
                  <a:gd name="T8" fmla="*/ 9 w 128"/>
                  <a:gd name="T9" fmla="*/ 128 h 128"/>
                  <a:gd name="T10" fmla="*/ 118 w 128"/>
                  <a:gd name="T11" fmla="*/ 128 h 128"/>
                  <a:gd name="T12" fmla="*/ 128 w 128"/>
                  <a:gd name="T13" fmla="*/ 119 h 128"/>
                  <a:gd name="T14" fmla="*/ 128 w 128"/>
                  <a:gd name="T15" fmla="*/ 10 h 128"/>
                  <a:gd name="T16" fmla="*/ 118 w 128"/>
                  <a:gd name="T1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28">
                    <a:moveTo>
                      <a:pt x="118" y="0"/>
                    </a:moveTo>
                    <a:cubicBezTo>
                      <a:pt x="9" y="0"/>
                      <a:pt x="9" y="0"/>
                      <a:pt x="9" y="0"/>
                    </a:cubicBezTo>
                    <a:cubicBezTo>
                      <a:pt x="4" y="0"/>
                      <a:pt x="0" y="5"/>
                      <a:pt x="0" y="10"/>
                    </a:cubicBezTo>
                    <a:cubicBezTo>
                      <a:pt x="0" y="119"/>
                      <a:pt x="0" y="119"/>
                      <a:pt x="0" y="119"/>
                    </a:cubicBezTo>
                    <a:cubicBezTo>
                      <a:pt x="0" y="124"/>
                      <a:pt x="4" y="128"/>
                      <a:pt x="9" y="128"/>
                    </a:cubicBezTo>
                    <a:cubicBezTo>
                      <a:pt x="118" y="128"/>
                      <a:pt x="118" y="128"/>
                      <a:pt x="118" y="128"/>
                    </a:cubicBezTo>
                    <a:cubicBezTo>
                      <a:pt x="123" y="128"/>
                      <a:pt x="128" y="124"/>
                      <a:pt x="128" y="119"/>
                    </a:cubicBezTo>
                    <a:cubicBezTo>
                      <a:pt x="128" y="10"/>
                      <a:pt x="128" y="10"/>
                      <a:pt x="128" y="10"/>
                    </a:cubicBezTo>
                    <a:cubicBezTo>
                      <a:pt x="128" y="5"/>
                      <a:pt x="123" y="0"/>
                      <a:pt x="118" y="0"/>
                    </a:cubicBezTo>
                  </a:path>
                </a:pathLst>
              </a:custGeom>
              <a:solidFill>
                <a:srgbClr val="61A8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45" name="Freeform 8"/>
              <p:cNvSpPr>
                <a:spLocks/>
              </p:cNvSpPr>
              <p:nvPr/>
            </p:nvSpPr>
            <p:spPr bwMode="gray">
              <a:xfrm>
                <a:off x="4635500" y="3833813"/>
                <a:ext cx="338138" cy="280988"/>
              </a:xfrm>
              <a:custGeom>
                <a:avLst/>
                <a:gdLst>
                  <a:gd name="T0" fmla="*/ 90 w 90"/>
                  <a:gd name="T1" fmla="*/ 9 h 73"/>
                  <a:gd name="T2" fmla="*/ 79 w 90"/>
                  <a:gd name="T3" fmla="*/ 11 h 73"/>
                  <a:gd name="T4" fmla="*/ 88 w 90"/>
                  <a:gd name="T5" fmla="*/ 1 h 73"/>
                  <a:gd name="T6" fmla="*/ 76 w 90"/>
                  <a:gd name="T7" fmla="*/ 6 h 73"/>
                  <a:gd name="T8" fmla="*/ 62 w 90"/>
                  <a:gd name="T9" fmla="*/ 0 h 73"/>
                  <a:gd name="T10" fmla="*/ 44 w 90"/>
                  <a:gd name="T11" fmla="*/ 18 h 73"/>
                  <a:gd name="T12" fmla="*/ 44 w 90"/>
                  <a:gd name="T13" fmla="*/ 23 h 73"/>
                  <a:gd name="T14" fmla="*/ 6 w 90"/>
                  <a:gd name="T15" fmla="*/ 3 h 73"/>
                  <a:gd name="T16" fmla="*/ 3 w 90"/>
                  <a:gd name="T17" fmla="*/ 13 h 73"/>
                  <a:gd name="T18" fmla="*/ 12 w 90"/>
                  <a:gd name="T19" fmla="*/ 28 h 73"/>
                  <a:gd name="T20" fmla="*/ 3 w 90"/>
                  <a:gd name="T21" fmla="*/ 26 h 73"/>
                  <a:gd name="T22" fmla="*/ 3 w 90"/>
                  <a:gd name="T23" fmla="*/ 26 h 73"/>
                  <a:gd name="T24" fmla="*/ 18 w 90"/>
                  <a:gd name="T25" fmla="*/ 44 h 73"/>
                  <a:gd name="T26" fmla="*/ 13 w 90"/>
                  <a:gd name="T27" fmla="*/ 45 h 73"/>
                  <a:gd name="T28" fmla="*/ 10 w 90"/>
                  <a:gd name="T29" fmla="*/ 44 h 73"/>
                  <a:gd name="T30" fmla="*/ 27 w 90"/>
                  <a:gd name="T31" fmla="*/ 57 h 73"/>
                  <a:gd name="T32" fmla="*/ 4 w 90"/>
                  <a:gd name="T33" fmla="*/ 65 h 73"/>
                  <a:gd name="T34" fmla="*/ 0 w 90"/>
                  <a:gd name="T35" fmla="*/ 65 h 73"/>
                  <a:gd name="T36" fmla="*/ 28 w 90"/>
                  <a:gd name="T37" fmla="*/ 73 h 73"/>
                  <a:gd name="T38" fmla="*/ 81 w 90"/>
                  <a:gd name="T39" fmla="*/ 21 h 73"/>
                  <a:gd name="T40" fmla="*/ 81 w 90"/>
                  <a:gd name="T41" fmla="*/ 18 h 73"/>
                  <a:gd name="T42" fmla="*/ 90 w 90"/>
                  <a:gd name="T43" fmla="*/ 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0" h="73">
                    <a:moveTo>
                      <a:pt x="90" y="9"/>
                    </a:moveTo>
                    <a:cubicBezTo>
                      <a:pt x="87" y="10"/>
                      <a:pt x="83" y="11"/>
                      <a:pt x="79" y="11"/>
                    </a:cubicBezTo>
                    <a:cubicBezTo>
                      <a:pt x="83" y="9"/>
                      <a:pt x="86" y="6"/>
                      <a:pt x="88" y="1"/>
                    </a:cubicBezTo>
                    <a:cubicBezTo>
                      <a:pt x="84" y="3"/>
                      <a:pt x="80" y="5"/>
                      <a:pt x="76" y="6"/>
                    </a:cubicBezTo>
                    <a:cubicBezTo>
                      <a:pt x="72" y="2"/>
                      <a:pt x="68" y="0"/>
                      <a:pt x="62" y="0"/>
                    </a:cubicBezTo>
                    <a:cubicBezTo>
                      <a:pt x="52" y="0"/>
                      <a:pt x="44" y="8"/>
                      <a:pt x="44" y="18"/>
                    </a:cubicBezTo>
                    <a:cubicBezTo>
                      <a:pt x="44" y="20"/>
                      <a:pt x="44" y="21"/>
                      <a:pt x="44" y="23"/>
                    </a:cubicBezTo>
                    <a:cubicBezTo>
                      <a:pt x="29" y="22"/>
                      <a:pt x="15" y="14"/>
                      <a:pt x="6" y="3"/>
                    </a:cubicBezTo>
                    <a:cubicBezTo>
                      <a:pt x="4" y="6"/>
                      <a:pt x="3" y="9"/>
                      <a:pt x="3" y="13"/>
                    </a:cubicBezTo>
                    <a:cubicBezTo>
                      <a:pt x="3" y="19"/>
                      <a:pt x="7" y="25"/>
                      <a:pt x="12" y="28"/>
                    </a:cubicBezTo>
                    <a:cubicBezTo>
                      <a:pt x="9" y="28"/>
                      <a:pt x="6" y="27"/>
                      <a:pt x="3" y="26"/>
                    </a:cubicBezTo>
                    <a:cubicBezTo>
                      <a:pt x="3" y="26"/>
                      <a:pt x="3" y="26"/>
                      <a:pt x="3" y="26"/>
                    </a:cubicBezTo>
                    <a:cubicBezTo>
                      <a:pt x="3" y="35"/>
                      <a:pt x="10" y="42"/>
                      <a:pt x="18" y="44"/>
                    </a:cubicBezTo>
                    <a:cubicBezTo>
                      <a:pt x="17" y="45"/>
                      <a:pt x="15" y="45"/>
                      <a:pt x="13" y="45"/>
                    </a:cubicBezTo>
                    <a:cubicBezTo>
                      <a:pt x="12" y="45"/>
                      <a:pt x="11" y="45"/>
                      <a:pt x="10" y="44"/>
                    </a:cubicBezTo>
                    <a:cubicBezTo>
                      <a:pt x="12" y="52"/>
                      <a:pt x="19" y="57"/>
                      <a:pt x="27" y="57"/>
                    </a:cubicBezTo>
                    <a:cubicBezTo>
                      <a:pt x="21" y="62"/>
                      <a:pt x="13" y="65"/>
                      <a:pt x="4" y="65"/>
                    </a:cubicBezTo>
                    <a:cubicBezTo>
                      <a:pt x="2" y="65"/>
                      <a:pt x="1" y="65"/>
                      <a:pt x="0" y="65"/>
                    </a:cubicBezTo>
                    <a:cubicBezTo>
                      <a:pt x="8" y="70"/>
                      <a:pt x="18" y="73"/>
                      <a:pt x="28" y="73"/>
                    </a:cubicBezTo>
                    <a:cubicBezTo>
                      <a:pt x="62" y="73"/>
                      <a:pt x="81" y="45"/>
                      <a:pt x="81" y="21"/>
                    </a:cubicBezTo>
                    <a:cubicBezTo>
                      <a:pt x="81" y="20"/>
                      <a:pt x="81" y="19"/>
                      <a:pt x="81" y="18"/>
                    </a:cubicBezTo>
                    <a:cubicBezTo>
                      <a:pt x="84" y="16"/>
                      <a:pt x="88" y="12"/>
                      <a:pt x="90" y="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nvGrpSpPr>
            <p:cNvPr id="36" name="Group 51"/>
            <p:cNvGrpSpPr/>
            <p:nvPr userDrawn="1"/>
          </p:nvGrpSpPr>
          <p:grpSpPr bwMode="gray">
            <a:xfrm>
              <a:off x="3899909" y="1033938"/>
              <a:ext cx="481013" cy="492125"/>
              <a:chOff x="4019550" y="3725863"/>
              <a:chExt cx="481013" cy="492125"/>
            </a:xfrm>
          </p:grpSpPr>
          <p:sp>
            <p:nvSpPr>
              <p:cNvPr id="41" name="Freeform 9"/>
              <p:cNvSpPr>
                <a:spLocks/>
              </p:cNvSpPr>
              <p:nvPr/>
            </p:nvSpPr>
            <p:spPr bwMode="gray">
              <a:xfrm>
                <a:off x="4019550" y="3725863"/>
                <a:ext cx="481013" cy="492125"/>
              </a:xfrm>
              <a:custGeom>
                <a:avLst/>
                <a:gdLst>
                  <a:gd name="T0" fmla="*/ 118 w 128"/>
                  <a:gd name="T1" fmla="*/ 0 h 128"/>
                  <a:gd name="T2" fmla="*/ 9 w 128"/>
                  <a:gd name="T3" fmla="*/ 0 h 128"/>
                  <a:gd name="T4" fmla="*/ 0 w 128"/>
                  <a:gd name="T5" fmla="*/ 10 h 128"/>
                  <a:gd name="T6" fmla="*/ 0 w 128"/>
                  <a:gd name="T7" fmla="*/ 119 h 128"/>
                  <a:gd name="T8" fmla="*/ 9 w 128"/>
                  <a:gd name="T9" fmla="*/ 128 h 128"/>
                  <a:gd name="T10" fmla="*/ 118 w 128"/>
                  <a:gd name="T11" fmla="*/ 128 h 128"/>
                  <a:gd name="T12" fmla="*/ 128 w 128"/>
                  <a:gd name="T13" fmla="*/ 119 h 128"/>
                  <a:gd name="T14" fmla="*/ 128 w 128"/>
                  <a:gd name="T15" fmla="*/ 10 h 128"/>
                  <a:gd name="T16" fmla="*/ 118 w 128"/>
                  <a:gd name="T1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28">
                    <a:moveTo>
                      <a:pt x="118" y="0"/>
                    </a:moveTo>
                    <a:cubicBezTo>
                      <a:pt x="9" y="0"/>
                      <a:pt x="9" y="0"/>
                      <a:pt x="9" y="0"/>
                    </a:cubicBezTo>
                    <a:cubicBezTo>
                      <a:pt x="4" y="0"/>
                      <a:pt x="0" y="5"/>
                      <a:pt x="0" y="10"/>
                    </a:cubicBezTo>
                    <a:cubicBezTo>
                      <a:pt x="0" y="119"/>
                      <a:pt x="0" y="119"/>
                      <a:pt x="0" y="119"/>
                    </a:cubicBezTo>
                    <a:cubicBezTo>
                      <a:pt x="0" y="124"/>
                      <a:pt x="4" y="128"/>
                      <a:pt x="9" y="128"/>
                    </a:cubicBezTo>
                    <a:cubicBezTo>
                      <a:pt x="118" y="128"/>
                      <a:pt x="118" y="128"/>
                      <a:pt x="118" y="128"/>
                    </a:cubicBezTo>
                    <a:cubicBezTo>
                      <a:pt x="123" y="128"/>
                      <a:pt x="128" y="124"/>
                      <a:pt x="128" y="119"/>
                    </a:cubicBezTo>
                    <a:cubicBezTo>
                      <a:pt x="128" y="10"/>
                      <a:pt x="128" y="10"/>
                      <a:pt x="128" y="10"/>
                    </a:cubicBezTo>
                    <a:cubicBezTo>
                      <a:pt x="128" y="5"/>
                      <a:pt x="123" y="0"/>
                      <a:pt x="118" y="0"/>
                    </a:cubicBezTo>
                  </a:path>
                </a:pathLst>
              </a:custGeom>
              <a:solidFill>
                <a:srgbClr val="047C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42" name="Freeform 13"/>
              <p:cNvSpPr>
                <a:spLocks noEditPoints="1"/>
              </p:cNvSpPr>
              <p:nvPr/>
            </p:nvSpPr>
            <p:spPr bwMode="gray">
              <a:xfrm>
                <a:off x="4083050" y="3795713"/>
                <a:ext cx="82550" cy="349250"/>
              </a:xfrm>
              <a:custGeom>
                <a:avLst/>
                <a:gdLst>
                  <a:gd name="T0" fmla="*/ 11 w 22"/>
                  <a:gd name="T1" fmla="*/ 0 h 91"/>
                  <a:gd name="T2" fmla="*/ 22 w 22"/>
                  <a:gd name="T3" fmla="*/ 11 h 91"/>
                  <a:gd name="T4" fmla="*/ 11 w 22"/>
                  <a:gd name="T5" fmla="*/ 22 h 91"/>
                  <a:gd name="T6" fmla="*/ 0 w 22"/>
                  <a:gd name="T7" fmla="*/ 11 h 91"/>
                  <a:gd name="T8" fmla="*/ 11 w 22"/>
                  <a:gd name="T9" fmla="*/ 0 h 91"/>
                  <a:gd name="T10" fmla="*/ 2 w 22"/>
                  <a:gd name="T11" fmla="*/ 30 h 91"/>
                  <a:gd name="T12" fmla="*/ 21 w 22"/>
                  <a:gd name="T13" fmla="*/ 30 h 91"/>
                  <a:gd name="T14" fmla="*/ 21 w 22"/>
                  <a:gd name="T15" fmla="*/ 91 h 91"/>
                  <a:gd name="T16" fmla="*/ 2 w 22"/>
                  <a:gd name="T17" fmla="*/ 91 h 91"/>
                  <a:gd name="T18" fmla="*/ 2 w 22"/>
                  <a:gd name="T19" fmla="*/ 3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91">
                    <a:moveTo>
                      <a:pt x="11" y="0"/>
                    </a:moveTo>
                    <a:cubicBezTo>
                      <a:pt x="17" y="0"/>
                      <a:pt x="22" y="5"/>
                      <a:pt x="22" y="11"/>
                    </a:cubicBezTo>
                    <a:cubicBezTo>
                      <a:pt x="22" y="17"/>
                      <a:pt x="17" y="22"/>
                      <a:pt x="11" y="22"/>
                    </a:cubicBezTo>
                    <a:cubicBezTo>
                      <a:pt x="5" y="22"/>
                      <a:pt x="0" y="17"/>
                      <a:pt x="0" y="11"/>
                    </a:cubicBezTo>
                    <a:cubicBezTo>
                      <a:pt x="0" y="5"/>
                      <a:pt x="5" y="0"/>
                      <a:pt x="11" y="0"/>
                    </a:cubicBezTo>
                    <a:moveTo>
                      <a:pt x="2" y="30"/>
                    </a:moveTo>
                    <a:cubicBezTo>
                      <a:pt x="21" y="30"/>
                      <a:pt x="21" y="30"/>
                      <a:pt x="21" y="30"/>
                    </a:cubicBezTo>
                    <a:cubicBezTo>
                      <a:pt x="21" y="91"/>
                      <a:pt x="21" y="91"/>
                      <a:pt x="21" y="91"/>
                    </a:cubicBezTo>
                    <a:cubicBezTo>
                      <a:pt x="2" y="91"/>
                      <a:pt x="2" y="91"/>
                      <a:pt x="2" y="91"/>
                    </a:cubicBezTo>
                    <a:lnTo>
                      <a:pt x="2"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43" name="Freeform 14"/>
              <p:cNvSpPr>
                <a:spLocks/>
              </p:cNvSpPr>
              <p:nvPr/>
            </p:nvSpPr>
            <p:spPr bwMode="gray">
              <a:xfrm>
                <a:off x="4206875" y="3906838"/>
                <a:ext cx="222250" cy="238125"/>
              </a:xfrm>
              <a:custGeom>
                <a:avLst/>
                <a:gdLst>
                  <a:gd name="T0" fmla="*/ 0 w 59"/>
                  <a:gd name="T1" fmla="*/ 1 h 62"/>
                  <a:gd name="T2" fmla="*/ 18 w 59"/>
                  <a:gd name="T3" fmla="*/ 1 h 62"/>
                  <a:gd name="T4" fmla="*/ 18 w 59"/>
                  <a:gd name="T5" fmla="*/ 10 h 62"/>
                  <a:gd name="T6" fmla="*/ 18 w 59"/>
                  <a:gd name="T7" fmla="*/ 10 h 62"/>
                  <a:gd name="T8" fmla="*/ 36 w 59"/>
                  <a:gd name="T9" fmla="*/ 0 h 62"/>
                  <a:gd name="T10" fmla="*/ 59 w 59"/>
                  <a:gd name="T11" fmla="*/ 29 h 62"/>
                  <a:gd name="T12" fmla="*/ 59 w 59"/>
                  <a:gd name="T13" fmla="*/ 62 h 62"/>
                  <a:gd name="T14" fmla="*/ 40 w 59"/>
                  <a:gd name="T15" fmla="*/ 62 h 62"/>
                  <a:gd name="T16" fmla="*/ 40 w 59"/>
                  <a:gd name="T17" fmla="*/ 33 h 62"/>
                  <a:gd name="T18" fmla="*/ 30 w 59"/>
                  <a:gd name="T19" fmla="*/ 16 h 62"/>
                  <a:gd name="T20" fmla="*/ 19 w 59"/>
                  <a:gd name="T21" fmla="*/ 32 h 62"/>
                  <a:gd name="T22" fmla="*/ 19 w 59"/>
                  <a:gd name="T23" fmla="*/ 62 h 62"/>
                  <a:gd name="T24" fmla="*/ 0 w 59"/>
                  <a:gd name="T25" fmla="*/ 62 h 62"/>
                  <a:gd name="T26" fmla="*/ 0 w 59"/>
                  <a:gd name="T27" fmla="*/ 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 h="62">
                    <a:moveTo>
                      <a:pt x="0" y="1"/>
                    </a:moveTo>
                    <a:cubicBezTo>
                      <a:pt x="18" y="1"/>
                      <a:pt x="18" y="1"/>
                      <a:pt x="18" y="1"/>
                    </a:cubicBezTo>
                    <a:cubicBezTo>
                      <a:pt x="18" y="10"/>
                      <a:pt x="18" y="10"/>
                      <a:pt x="18" y="10"/>
                    </a:cubicBezTo>
                    <a:cubicBezTo>
                      <a:pt x="18" y="10"/>
                      <a:pt x="18" y="10"/>
                      <a:pt x="18" y="10"/>
                    </a:cubicBezTo>
                    <a:cubicBezTo>
                      <a:pt x="21" y="5"/>
                      <a:pt x="27" y="0"/>
                      <a:pt x="36" y="0"/>
                    </a:cubicBezTo>
                    <a:cubicBezTo>
                      <a:pt x="55" y="0"/>
                      <a:pt x="59" y="12"/>
                      <a:pt x="59" y="29"/>
                    </a:cubicBezTo>
                    <a:cubicBezTo>
                      <a:pt x="59" y="62"/>
                      <a:pt x="59" y="62"/>
                      <a:pt x="59" y="62"/>
                    </a:cubicBezTo>
                    <a:cubicBezTo>
                      <a:pt x="40" y="62"/>
                      <a:pt x="40" y="62"/>
                      <a:pt x="40" y="62"/>
                    </a:cubicBezTo>
                    <a:cubicBezTo>
                      <a:pt x="40" y="33"/>
                      <a:pt x="40" y="33"/>
                      <a:pt x="40" y="33"/>
                    </a:cubicBezTo>
                    <a:cubicBezTo>
                      <a:pt x="40" y="25"/>
                      <a:pt x="40" y="16"/>
                      <a:pt x="30" y="16"/>
                    </a:cubicBezTo>
                    <a:cubicBezTo>
                      <a:pt x="20" y="16"/>
                      <a:pt x="19" y="24"/>
                      <a:pt x="19" y="32"/>
                    </a:cubicBezTo>
                    <a:cubicBezTo>
                      <a:pt x="19" y="62"/>
                      <a:pt x="19" y="62"/>
                      <a:pt x="19" y="62"/>
                    </a:cubicBezTo>
                    <a:cubicBezTo>
                      <a:pt x="0" y="62"/>
                      <a:pt x="0" y="62"/>
                      <a:pt x="0" y="62"/>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nvGrpSpPr>
            <p:cNvPr id="37" name="Group 54"/>
            <p:cNvGrpSpPr/>
            <p:nvPr userDrawn="1"/>
          </p:nvGrpSpPr>
          <p:grpSpPr bwMode="gray">
            <a:xfrm>
              <a:off x="5523922" y="1033938"/>
              <a:ext cx="477838" cy="492125"/>
              <a:chOff x="5643563" y="3725863"/>
              <a:chExt cx="477838" cy="492125"/>
            </a:xfrm>
          </p:grpSpPr>
          <p:sp>
            <p:nvSpPr>
              <p:cNvPr id="38" name="Freeform 10"/>
              <p:cNvSpPr>
                <a:spLocks/>
              </p:cNvSpPr>
              <p:nvPr/>
            </p:nvSpPr>
            <p:spPr bwMode="gray">
              <a:xfrm>
                <a:off x="5643563" y="3725863"/>
                <a:ext cx="477838" cy="492125"/>
              </a:xfrm>
              <a:custGeom>
                <a:avLst/>
                <a:gdLst>
                  <a:gd name="T0" fmla="*/ 118 w 127"/>
                  <a:gd name="T1" fmla="*/ 0 h 128"/>
                  <a:gd name="T2" fmla="*/ 9 w 127"/>
                  <a:gd name="T3" fmla="*/ 0 h 128"/>
                  <a:gd name="T4" fmla="*/ 0 w 127"/>
                  <a:gd name="T5" fmla="*/ 10 h 128"/>
                  <a:gd name="T6" fmla="*/ 0 w 127"/>
                  <a:gd name="T7" fmla="*/ 119 h 128"/>
                  <a:gd name="T8" fmla="*/ 9 w 127"/>
                  <a:gd name="T9" fmla="*/ 128 h 128"/>
                  <a:gd name="T10" fmla="*/ 118 w 127"/>
                  <a:gd name="T11" fmla="*/ 128 h 128"/>
                  <a:gd name="T12" fmla="*/ 127 w 127"/>
                  <a:gd name="T13" fmla="*/ 119 h 128"/>
                  <a:gd name="T14" fmla="*/ 127 w 127"/>
                  <a:gd name="T15" fmla="*/ 10 h 128"/>
                  <a:gd name="T16" fmla="*/ 118 w 127"/>
                  <a:gd name="T1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128">
                    <a:moveTo>
                      <a:pt x="118" y="0"/>
                    </a:moveTo>
                    <a:cubicBezTo>
                      <a:pt x="9" y="0"/>
                      <a:pt x="9" y="0"/>
                      <a:pt x="9" y="0"/>
                    </a:cubicBezTo>
                    <a:cubicBezTo>
                      <a:pt x="4" y="0"/>
                      <a:pt x="0" y="5"/>
                      <a:pt x="0" y="10"/>
                    </a:cubicBezTo>
                    <a:cubicBezTo>
                      <a:pt x="0" y="119"/>
                      <a:pt x="0" y="119"/>
                      <a:pt x="0" y="119"/>
                    </a:cubicBezTo>
                    <a:cubicBezTo>
                      <a:pt x="0" y="124"/>
                      <a:pt x="4" y="128"/>
                      <a:pt x="9" y="128"/>
                    </a:cubicBezTo>
                    <a:cubicBezTo>
                      <a:pt x="118" y="128"/>
                      <a:pt x="118" y="128"/>
                      <a:pt x="118" y="128"/>
                    </a:cubicBezTo>
                    <a:cubicBezTo>
                      <a:pt x="123" y="128"/>
                      <a:pt x="127" y="124"/>
                      <a:pt x="127" y="119"/>
                    </a:cubicBezTo>
                    <a:cubicBezTo>
                      <a:pt x="127" y="10"/>
                      <a:pt x="127" y="10"/>
                      <a:pt x="127" y="10"/>
                    </a:cubicBezTo>
                    <a:cubicBezTo>
                      <a:pt x="127" y="5"/>
                      <a:pt x="123" y="0"/>
                      <a:pt x="118" y="0"/>
                    </a:cubicBezTo>
                  </a:path>
                </a:pathLst>
              </a:custGeom>
              <a:solidFill>
                <a:srgbClr val="DC4F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39" name="Freeform 15"/>
              <p:cNvSpPr>
                <a:spLocks/>
              </p:cNvSpPr>
              <p:nvPr/>
            </p:nvSpPr>
            <p:spPr bwMode="gray">
              <a:xfrm>
                <a:off x="5943600" y="3937001"/>
                <a:ext cx="71438" cy="73025"/>
              </a:xfrm>
              <a:custGeom>
                <a:avLst/>
                <a:gdLst>
                  <a:gd name="T0" fmla="*/ 31 w 45"/>
                  <a:gd name="T1" fmla="*/ 0 h 46"/>
                  <a:gd name="T2" fmla="*/ 31 w 45"/>
                  <a:gd name="T3" fmla="*/ 17 h 46"/>
                  <a:gd name="T4" fmla="*/ 45 w 45"/>
                  <a:gd name="T5" fmla="*/ 17 h 46"/>
                  <a:gd name="T6" fmla="*/ 45 w 45"/>
                  <a:gd name="T7" fmla="*/ 32 h 46"/>
                  <a:gd name="T8" fmla="*/ 31 w 45"/>
                  <a:gd name="T9" fmla="*/ 32 h 46"/>
                  <a:gd name="T10" fmla="*/ 31 w 45"/>
                  <a:gd name="T11" fmla="*/ 46 h 46"/>
                  <a:gd name="T12" fmla="*/ 17 w 45"/>
                  <a:gd name="T13" fmla="*/ 46 h 46"/>
                  <a:gd name="T14" fmla="*/ 17 w 45"/>
                  <a:gd name="T15" fmla="*/ 32 h 46"/>
                  <a:gd name="T16" fmla="*/ 0 w 45"/>
                  <a:gd name="T17" fmla="*/ 32 h 46"/>
                  <a:gd name="T18" fmla="*/ 0 w 45"/>
                  <a:gd name="T19" fmla="*/ 17 h 46"/>
                  <a:gd name="T20" fmla="*/ 17 w 45"/>
                  <a:gd name="T21" fmla="*/ 17 h 46"/>
                  <a:gd name="T22" fmla="*/ 17 w 45"/>
                  <a:gd name="T23" fmla="*/ 0 h 46"/>
                  <a:gd name="T24" fmla="*/ 31 w 45"/>
                  <a:gd name="T25"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6">
                    <a:moveTo>
                      <a:pt x="31" y="0"/>
                    </a:moveTo>
                    <a:lnTo>
                      <a:pt x="31" y="17"/>
                    </a:lnTo>
                    <a:lnTo>
                      <a:pt x="45" y="17"/>
                    </a:lnTo>
                    <a:lnTo>
                      <a:pt x="45" y="32"/>
                    </a:lnTo>
                    <a:lnTo>
                      <a:pt x="31" y="32"/>
                    </a:lnTo>
                    <a:lnTo>
                      <a:pt x="31" y="46"/>
                    </a:lnTo>
                    <a:lnTo>
                      <a:pt x="17" y="46"/>
                    </a:lnTo>
                    <a:lnTo>
                      <a:pt x="17" y="32"/>
                    </a:lnTo>
                    <a:lnTo>
                      <a:pt x="0" y="32"/>
                    </a:lnTo>
                    <a:lnTo>
                      <a:pt x="0" y="17"/>
                    </a:lnTo>
                    <a:lnTo>
                      <a:pt x="17" y="17"/>
                    </a:lnTo>
                    <a:lnTo>
                      <a:pt x="17" y="0"/>
                    </a:lnTo>
                    <a:lnTo>
                      <a:pt x="3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sp>
            <p:nvSpPr>
              <p:cNvPr id="40" name="Freeform 16"/>
              <p:cNvSpPr>
                <a:spLocks/>
              </p:cNvSpPr>
              <p:nvPr/>
            </p:nvSpPr>
            <p:spPr bwMode="gray">
              <a:xfrm>
                <a:off x="5745163" y="3884613"/>
                <a:ext cx="168275" cy="184150"/>
              </a:xfrm>
              <a:custGeom>
                <a:avLst/>
                <a:gdLst>
                  <a:gd name="T0" fmla="*/ 9 w 45"/>
                  <a:gd name="T1" fmla="*/ 39 h 48"/>
                  <a:gd name="T2" fmla="*/ 9 w 45"/>
                  <a:gd name="T3" fmla="*/ 8 h 48"/>
                  <a:gd name="T4" fmla="*/ 32 w 45"/>
                  <a:gd name="T5" fmla="*/ 3 h 48"/>
                  <a:gd name="T6" fmla="*/ 36 w 45"/>
                  <a:gd name="T7" fmla="*/ 5 h 48"/>
                  <a:gd name="T8" fmla="*/ 39 w 45"/>
                  <a:gd name="T9" fmla="*/ 7 h 48"/>
                  <a:gd name="T10" fmla="*/ 33 w 45"/>
                  <a:gd name="T11" fmla="*/ 13 h 48"/>
                  <a:gd name="T12" fmla="*/ 31 w 45"/>
                  <a:gd name="T13" fmla="*/ 12 h 48"/>
                  <a:gd name="T14" fmla="*/ 15 w 45"/>
                  <a:gd name="T15" fmla="*/ 14 h 48"/>
                  <a:gd name="T16" fmla="*/ 14 w 45"/>
                  <a:gd name="T17" fmla="*/ 34 h 48"/>
                  <a:gd name="T18" fmla="*/ 34 w 45"/>
                  <a:gd name="T19" fmla="*/ 34 h 48"/>
                  <a:gd name="T20" fmla="*/ 37 w 45"/>
                  <a:gd name="T21" fmla="*/ 29 h 48"/>
                  <a:gd name="T22" fmla="*/ 37 w 45"/>
                  <a:gd name="T23" fmla="*/ 28 h 48"/>
                  <a:gd name="T24" fmla="*/ 25 w 45"/>
                  <a:gd name="T25" fmla="*/ 28 h 48"/>
                  <a:gd name="T26" fmla="*/ 25 w 45"/>
                  <a:gd name="T27" fmla="*/ 21 h 48"/>
                  <a:gd name="T28" fmla="*/ 45 w 45"/>
                  <a:gd name="T29" fmla="*/ 21 h 48"/>
                  <a:gd name="T30" fmla="*/ 45 w 45"/>
                  <a:gd name="T31" fmla="*/ 23 h 48"/>
                  <a:gd name="T32" fmla="*/ 45 w 45"/>
                  <a:gd name="T33" fmla="*/ 27 h 48"/>
                  <a:gd name="T34" fmla="*/ 40 w 45"/>
                  <a:gd name="T35" fmla="*/ 40 h 48"/>
                  <a:gd name="T36" fmla="*/ 9 w 45"/>
                  <a:gd name="T37" fmla="*/ 3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 h="48">
                    <a:moveTo>
                      <a:pt x="9" y="39"/>
                    </a:moveTo>
                    <a:cubicBezTo>
                      <a:pt x="0" y="31"/>
                      <a:pt x="0" y="17"/>
                      <a:pt x="9" y="8"/>
                    </a:cubicBezTo>
                    <a:cubicBezTo>
                      <a:pt x="15" y="2"/>
                      <a:pt x="24" y="0"/>
                      <a:pt x="32" y="3"/>
                    </a:cubicBezTo>
                    <a:cubicBezTo>
                      <a:pt x="36" y="5"/>
                      <a:pt x="36" y="5"/>
                      <a:pt x="36" y="5"/>
                    </a:cubicBezTo>
                    <a:cubicBezTo>
                      <a:pt x="39" y="7"/>
                      <a:pt x="39" y="7"/>
                      <a:pt x="39" y="7"/>
                    </a:cubicBezTo>
                    <a:cubicBezTo>
                      <a:pt x="33" y="13"/>
                      <a:pt x="33" y="13"/>
                      <a:pt x="33" y="13"/>
                    </a:cubicBezTo>
                    <a:cubicBezTo>
                      <a:pt x="31" y="12"/>
                      <a:pt x="31" y="12"/>
                      <a:pt x="31" y="12"/>
                    </a:cubicBezTo>
                    <a:cubicBezTo>
                      <a:pt x="26" y="8"/>
                      <a:pt x="19" y="9"/>
                      <a:pt x="15" y="14"/>
                    </a:cubicBezTo>
                    <a:cubicBezTo>
                      <a:pt x="9" y="19"/>
                      <a:pt x="9" y="28"/>
                      <a:pt x="14" y="34"/>
                    </a:cubicBezTo>
                    <a:cubicBezTo>
                      <a:pt x="20" y="39"/>
                      <a:pt x="29" y="39"/>
                      <a:pt x="34" y="34"/>
                    </a:cubicBezTo>
                    <a:cubicBezTo>
                      <a:pt x="36" y="32"/>
                      <a:pt x="37" y="31"/>
                      <a:pt x="37" y="29"/>
                    </a:cubicBezTo>
                    <a:cubicBezTo>
                      <a:pt x="37" y="28"/>
                      <a:pt x="37" y="28"/>
                      <a:pt x="37" y="28"/>
                    </a:cubicBezTo>
                    <a:cubicBezTo>
                      <a:pt x="25" y="28"/>
                      <a:pt x="25" y="28"/>
                      <a:pt x="25" y="28"/>
                    </a:cubicBezTo>
                    <a:cubicBezTo>
                      <a:pt x="25" y="21"/>
                      <a:pt x="25" y="21"/>
                      <a:pt x="25" y="21"/>
                    </a:cubicBezTo>
                    <a:cubicBezTo>
                      <a:pt x="45" y="21"/>
                      <a:pt x="45" y="21"/>
                      <a:pt x="45" y="21"/>
                    </a:cubicBezTo>
                    <a:cubicBezTo>
                      <a:pt x="45" y="23"/>
                      <a:pt x="45" y="23"/>
                      <a:pt x="45" y="23"/>
                    </a:cubicBezTo>
                    <a:cubicBezTo>
                      <a:pt x="45" y="27"/>
                      <a:pt x="45" y="27"/>
                      <a:pt x="45" y="27"/>
                    </a:cubicBezTo>
                    <a:cubicBezTo>
                      <a:pt x="45" y="32"/>
                      <a:pt x="43" y="36"/>
                      <a:pt x="40" y="40"/>
                    </a:cubicBezTo>
                    <a:cubicBezTo>
                      <a:pt x="32" y="48"/>
                      <a:pt x="17" y="48"/>
                      <a:pt x="9" y="3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CA" dirty="0"/>
              </a:p>
            </p:txBody>
          </p:sp>
        </p:grpSp>
      </p:grpSp>
      <p:sp>
        <p:nvSpPr>
          <p:cNvPr id="48" name="Rectangle 47">
            <a:hlinkClick r:id="rId2"/>
          </p:cNvPr>
          <p:cNvSpPr>
            <a:spLocks noChangeArrowheads="1"/>
          </p:cNvSpPr>
          <p:nvPr userDrawn="1"/>
        </p:nvSpPr>
        <p:spPr bwMode="gray">
          <a:xfrm>
            <a:off x="1584000" y="3065360"/>
            <a:ext cx="1752293" cy="184666"/>
          </a:xfrm>
          <a:prstGeom prst="rect">
            <a:avLst/>
          </a:prstGeom>
          <a:noFill/>
          <a:ln w="9525">
            <a:noFill/>
            <a:miter lim="800000"/>
            <a:headEnd/>
            <a:tailEnd/>
          </a:ln>
          <a:effectLst/>
        </p:spPr>
        <p:txBody>
          <a:bodyPr wrap="square" lIns="0" tIns="0" rIns="0" bIns="0" anchor="ctr">
            <a:spAutoFit/>
          </a:bodyPr>
          <a:lstStyle/>
          <a:p>
            <a:pPr>
              <a:defRPr/>
            </a:pPr>
            <a:r>
              <a:rPr lang="en-CA" sz="1200" b="1" i="0" kern="0" dirty="0">
                <a:solidFill>
                  <a:schemeClr val="tx2"/>
                </a:solidFill>
                <a:latin typeface="+mn-lt"/>
                <a:ea typeface="Times New Roman" pitchFamily="18" charset="0"/>
                <a:cs typeface="Univers for KPMG"/>
              </a:rPr>
              <a:t>kpmg.ca</a:t>
            </a:r>
            <a:endParaRPr lang="en-CA" sz="1200" b="1" i="0" kern="0" dirty="0">
              <a:solidFill>
                <a:schemeClr val="tx2"/>
              </a:solidFill>
              <a:latin typeface="+mn-lt"/>
              <a:cs typeface="Univers for KPMG"/>
            </a:endParaRPr>
          </a:p>
        </p:txBody>
      </p:sp>
    </p:spTree>
    <p:extLst>
      <p:ext uri="{BB962C8B-B14F-4D97-AF65-F5344CB8AC3E}">
        <p14:creationId xmlns:p14="http://schemas.microsoft.com/office/powerpoint/2010/main" val="3267273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DIVIDER 1">
    <p:spTree>
      <p:nvGrpSpPr>
        <p:cNvPr id="1" name=""/>
        <p:cNvGrpSpPr/>
        <p:nvPr/>
      </p:nvGrpSpPr>
      <p:grpSpPr>
        <a:xfrm>
          <a:off x="0" y="0"/>
          <a:ext cx="0" cy="0"/>
          <a:chOff x="0" y="0"/>
          <a:chExt cx="0" cy="0"/>
        </a:xfrm>
      </p:grpSpPr>
      <p:sp>
        <p:nvSpPr>
          <p:cNvPr id="4" name="object 3"/>
          <p:cNvSpPr/>
          <p:nvPr userDrawn="1"/>
        </p:nvSpPr>
        <p:spPr bwMode="gray">
          <a:xfrm>
            <a:off x="0" y="0"/>
            <a:ext cx="9144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tx2"/>
          </a:solidFill>
        </p:spPr>
        <p:txBody>
          <a:bodyPr wrap="square" lIns="0" tIns="0" rIns="0" bIns="0" rtlCol="0">
            <a:noAutofit/>
          </a:bodyPr>
          <a:lstStyle/>
          <a:p>
            <a:pPr eaLnBrk="1"/>
            <a:endParaRPr lang="en-CA" dirty="0">
              <a:latin typeface="Arial" panose="020B0604020202020204" pitchFamily="34" charset="0"/>
            </a:endParaRPr>
          </a:p>
        </p:txBody>
      </p:sp>
      <p:sp>
        <p:nvSpPr>
          <p:cNvPr id="6" name="Text Placeholder 6"/>
          <p:cNvSpPr>
            <a:spLocks noGrp="1"/>
          </p:cNvSpPr>
          <p:nvPr>
            <p:ph type="body" sz="quarter" idx="11"/>
          </p:nvPr>
        </p:nvSpPr>
        <p:spPr bwMode="gray">
          <a:xfrm>
            <a:off x="1995055" y="3859200"/>
            <a:ext cx="6165273" cy="672353"/>
          </a:xfrm>
          <a:prstGeom prst="rect">
            <a:avLst/>
          </a:prstGeom>
        </p:spPr>
        <p:txBody>
          <a:bodyPr vert="horz" lIns="0" tIns="0" rIns="0" bIns="0"/>
          <a:lstStyle>
            <a:lvl1pPr>
              <a:spcBef>
                <a:spcPts val="0"/>
              </a:spcBef>
              <a:spcAft>
                <a:spcPts val="0"/>
              </a:spcAft>
              <a:defRPr sz="1600" b="1" i="0">
                <a:solidFill>
                  <a:srgbClr val="FFFFFF"/>
                </a:solidFill>
                <a:latin typeface="+mn-lt"/>
                <a:cs typeface="Univers for KPMG" panose="020B0603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noProof="0"/>
              <a:t>Click to edit Master text styles</a:t>
            </a:r>
          </a:p>
        </p:txBody>
      </p:sp>
      <p:sp>
        <p:nvSpPr>
          <p:cNvPr id="7" name="Title 1"/>
          <p:cNvSpPr>
            <a:spLocks noGrp="1"/>
          </p:cNvSpPr>
          <p:nvPr>
            <p:ph type="title"/>
          </p:nvPr>
        </p:nvSpPr>
        <p:spPr bwMode="gray">
          <a:xfrm>
            <a:off x="1995055" y="1337703"/>
            <a:ext cx="6192982" cy="2068259"/>
          </a:xfrm>
        </p:spPr>
        <p:txBody>
          <a:bodyPr anchor="t" anchorCtr="0"/>
          <a:lstStyle>
            <a:lvl1pPr>
              <a:lnSpc>
                <a:spcPct val="70000"/>
              </a:lnSpc>
              <a:defRPr sz="9600">
                <a:solidFill>
                  <a:srgbClr val="FFFFFF"/>
                </a:solidFill>
                <a:latin typeface="KPMG Extralight" panose="020B0303030202040204" pitchFamily="34" charset="0"/>
              </a:defRPr>
            </a:lvl1pPr>
          </a:lstStyle>
          <a:p>
            <a:r>
              <a:rPr lang="en-US" noProof="0"/>
              <a:t>Click to edit Master title style</a:t>
            </a:r>
            <a:endParaRPr lang="en-CA" noProof="0" dirty="0"/>
          </a:p>
        </p:txBody>
      </p:sp>
      <p:pic>
        <p:nvPicPr>
          <p:cNvPr id="8" name="Picture 4" descr="KPMG_NoCP_white_US_283_6780.eps"/>
          <p:cNvPicPr>
            <a:picLocks noChangeAspect="1"/>
          </p:cNvPicPr>
          <p:nvPr userDrawn="1"/>
        </p:nvPicPr>
        <p:blipFill rotWithShape="1">
          <a:blip r:embed="rId2" cstate="email">
            <a:extLst>
              <a:ext uri="{28A0092B-C50C-407E-A947-70E740481C1C}">
                <a14:useLocalDpi xmlns:a14="http://schemas.microsoft.com/office/drawing/2010/main"/>
              </a:ext>
            </a:extLst>
          </a:blip>
          <a:srcRect l="7816" t="22176" r="7816" b="22176"/>
          <a:stretch/>
        </p:blipFill>
        <p:spPr>
          <a:xfrm>
            <a:off x="1995055" y="612639"/>
            <a:ext cx="979460" cy="463126"/>
          </a:xfrm>
          <a:prstGeom prst="rect">
            <a:avLst/>
          </a:prstGeom>
        </p:spPr>
      </p:pic>
      <p:sp>
        <p:nvSpPr>
          <p:cNvPr id="9" name="object 3"/>
          <p:cNvSpPr/>
          <p:nvPr userDrawn="1"/>
        </p:nvSpPr>
        <p:spPr bwMode="gray">
          <a:xfrm>
            <a:off x="0" y="0"/>
            <a:ext cx="157321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eaLnBrk="1"/>
            <a:endParaRPr lang="en-CA" dirty="0">
              <a:latin typeface="Arial" panose="020B0604020202020204" pitchFamily="34" charset="0"/>
            </a:endParaRPr>
          </a:p>
        </p:txBody>
      </p:sp>
    </p:spTree>
    <p:extLst>
      <p:ext uri="{BB962C8B-B14F-4D97-AF65-F5344CB8AC3E}">
        <p14:creationId xmlns:p14="http://schemas.microsoft.com/office/powerpoint/2010/main" val="3111453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4643438" y="1426659"/>
            <a:ext cx="4068762"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18312630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 Column Comparison">
    <p:spTree>
      <p:nvGrpSpPr>
        <p:cNvPr id="1" name=""/>
        <p:cNvGrpSpPr/>
        <p:nvPr/>
      </p:nvGrpSpPr>
      <p:grpSpPr>
        <a:xfrm>
          <a:off x="0" y="0"/>
          <a:ext cx="0" cy="0"/>
          <a:chOff x="0" y="0"/>
          <a:chExt cx="0" cy="0"/>
        </a:xfrm>
      </p:grpSpPr>
      <p:sp>
        <p:nvSpPr>
          <p:cNvPr id="2" name="Title 1"/>
          <p:cNvSpPr>
            <a:spLocks noGrp="1"/>
          </p:cNvSpPr>
          <p:nvPr>
            <p:ph type="title"/>
          </p:nvPr>
        </p:nvSpPr>
        <p:spPr>
          <a:xfrm>
            <a:off x="324000" y="396000"/>
            <a:ext cx="8496000" cy="470898"/>
          </a:xfrm>
        </p:spPr>
        <p:txBody>
          <a:bodyPr/>
          <a:lstStyle/>
          <a:p>
            <a:r>
              <a:rPr lang="en-US" noProof="0"/>
              <a:t>Click to edit Master title style</a:t>
            </a:r>
            <a:endParaRPr lang="en-CA" noProof="0" dirty="0"/>
          </a:p>
        </p:txBody>
      </p:sp>
      <p:sp>
        <p:nvSpPr>
          <p:cNvPr id="5" name="Text Placeholder 20"/>
          <p:cNvSpPr>
            <a:spLocks noGrp="1"/>
          </p:cNvSpPr>
          <p:nvPr>
            <p:ph type="body" sz="quarter" idx="26"/>
          </p:nvPr>
        </p:nvSpPr>
        <p:spPr bwMode="gray">
          <a:xfrm>
            <a:off x="324000" y="1476000"/>
            <a:ext cx="4068000" cy="468000"/>
          </a:xfrm>
          <a:prstGeom prst="rect">
            <a:avLst/>
          </a:prstGeom>
          <a:solidFill>
            <a:schemeClr val="tx2"/>
          </a:solidFill>
          <a:ln w="12700">
            <a:noFill/>
          </a:ln>
        </p:spPr>
        <p:txBody>
          <a:bodyPr vert="horz" lIns="72000" tIns="36000" rIns="36000" bIns="36000" rtlCol="0" anchor="ctr" anchorCtr="0">
            <a:noAutofit/>
          </a:bodyPr>
          <a:lstStyle>
            <a:lvl1pPr algn="l">
              <a:lnSpc>
                <a:spcPct val="90000"/>
              </a:lnSpc>
              <a:spcBef>
                <a:spcPts val="0"/>
              </a:spcBef>
              <a:defRPr lang="en-US" sz="1200" b="1" i="0" kern="1200" noProof="0" dirty="0" smtClean="0">
                <a:solidFill>
                  <a:schemeClr val="bg1"/>
                </a:solidFill>
                <a:latin typeface="Univers for KPMG"/>
                <a:ea typeface="+mn-ea"/>
                <a:cs typeface="Univers for KPMG"/>
              </a:defRPr>
            </a:lvl1pPr>
            <a:lvl5pPr>
              <a:defRPr/>
            </a:lvl5pPr>
            <a:lvl6pPr>
              <a:defRPr baseline="0"/>
            </a:lvl6pPr>
            <a:lvl7pPr>
              <a:defRPr baseline="0"/>
            </a:lvl7pPr>
            <a:lvl8pPr>
              <a:defRPr baseline="0"/>
            </a:lvl8pPr>
          </a:lstStyle>
          <a:p>
            <a:pPr marL="0" lvl="0" indent="0" algn="l" defTabSz="820583" rtl="0" eaLnBrk="1" latinLnBrk="0" hangingPunct="1">
              <a:lnSpc>
                <a:spcPct val="100000"/>
              </a:lnSpc>
              <a:spcBef>
                <a:spcPts val="538"/>
              </a:spcBef>
              <a:buFont typeface="Arial" pitchFamily="34" charset="0"/>
              <a:buNone/>
            </a:pPr>
            <a:r>
              <a:rPr lang="en-US" noProof="0"/>
              <a:t>Click to edit Master text styles</a:t>
            </a:r>
          </a:p>
        </p:txBody>
      </p:sp>
      <p:sp>
        <p:nvSpPr>
          <p:cNvPr id="6" name="Text Placeholder 20"/>
          <p:cNvSpPr>
            <a:spLocks noGrp="1"/>
          </p:cNvSpPr>
          <p:nvPr>
            <p:ph type="body" sz="quarter" idx="27"/>
          </p:nvPr>
        </p:nvSpPr>
        <p:spPr bwMode="gray">
          <a:xfrm>
            <a:off x="4720001" y="1476000"/>
            <a:ext cx="4068000" cy="468000"/>
          </a:xfrm>
          <a:prstGeom prst="rect">
            <a:avLst/>
          </a:prstGeom>
          <a:solidFill>
            <a:schemeClr val="tx2"/>
          </a:solidFill>
          <a:ln w="12700">
            <a:noFill/>
          </a:ln>
        </p:spPr>
        <p:txBody>
          <a:bodyPr vert="horz" lIns="72000" tIns="36000" rIns="36000" bIns="36000" rtlCol="0" anchor="ctr" anchorCtr="0">
            <a:noAutofit/>
          </a:bodyPr>
          <a:lstStyle>
            <a:lvl1pPr algn="l">
              <a:lnSpc>
                <a:spcPct val="90000"/>
              </a:lnSpc>
              <a:spcBef>
                <a:spcPts val="0"/>
              </a:spcBef>
              <a:defRPr lang="en-US" sz="1200" b="1" i="0" kern="1200" noProof="0" dirty="0" smtClean="0">
                <a:solidFill>
                  <a:schemeClr val="bg1"/>
                </a:solidFill>
                <a:latin typeface="Univers for KPMG"/>
                <a:ea typeface="+mn-ea"/>
                <a:cs typeface="Univers for KPMG"/>
              </a:defRPr>
            </a:lvl1pPr>
            <a:lvl5pPr>
              <a:defRPr/>
            </a:lvl5pPr>
            <a:lvl6pPr>
              <a:defRPr baseline="0"/>
            </a:lvl6pPr>
            <a:lvl7pPr>
              <a:defRPr baseline="0"/>
            </a:lvl7pPr>
            <a:lvl8pPr>
              <a:defRPr baseline="0"/>
            </a:lvl8pPr>
          </a:lstStyle>
          <a:p>
            <a:pPr marL="0" lvl="0" indent="0" algn="l" defTabSz="820583" rtl="0" eaLnBrk="1" latinLnBrk="0" hangingPunct="1">
              <a:lnSpc>
                <a:spcPct val="100000"/>
              </a:lnSpc>
              <a:spcBef>
                <a:spcPts val="538"/>
              </a:spcBef>
              <a:buFont typeface="Arial" pitchFamily="34" charset="0"/>
              <a:buNone/>
            </a:pPr>
            <a:r>
              <a:rPr lang="en-US" noProof="0"/>
              <a:t>Click to edit Master text styles</a:t>
            </a:r>
          </a:p>
        </p:txBody>
      </p:sp>
      <p:sp>
        <p:nvSpPr>
          <p:cNvPr id="8" name="Text Placeholder 7"/>
          <p:cNvSpPr>
            <a:spLocks noGrp="1"/>
          </p:cNvSpPr>
          <p:nvPr>
            <p:ph type="body" sz="quarter" idx="15"/>
          </p:nvPr>
        </p:nvSpPr>
        <p:spPr>
          <a:xfrm>
            <a:off x="323999" y="2008261"/>
            <a:ext cx="4068000" cy="4178893"/>
          </a:xfrm>
          <a:prstGeom prst="rect">
            <a:avLst/>
          </a:prstGeom>
        </p:spPr>
        <p:txBody>
          <a:bodyPr vert="horz" lIns="72000" tIns="72000" rIns="72000" bIns="72000"/>
          <a:lstStyle>
            <a:lvl1pPr>
              <a:spcBef>
                <a:spcPts val="600"/>
              </a:spcBef>
              <a:defRPr b="1" i="0">
                <a:solidFill>
                  <a:srgbClr val="00338D"/>
                </a:solidFill>
                <a:latin typeface="Univers for KPMG" panose="020B0603020202020204" pitchFamily="34" charset="0"/>
                <a:cs typeface="Univers for KPMG" panose="020B0603020202020204" pitchFamily="34" charset="0"/>
              </a:defRPr>
            </a:lvl1pPr>
            <a:lvl2pPr marL="0" indent="0">
              <a:buFontTx/>
              <a:buNone/>
              <a:defRPr>
                <a:solidFill>
                  <a:srgbClr val="00338D"/>
                </a:solidFill>
                <a:latin typeface="+mn-lt"/>
                <a:cs typeface="Univers for KPMG Light"/>
              </a:defRPr>
            </a:lvl2pPr>
            <a:lvl3pPr marL="270000" indent="-270000">
              <a:spcBef>
                <a:spcPts val="300"/>
              </a:spcBef>
              <a:buFont typeface="Univers for KPMG Light" panose="020B0403020202020204" pitchFamily="34" charset="0"/>
              <a:buChar char="—"/>
              <a:defRPr>
                <a:solidFill>
                  <a:srgbClr val="00338D"/>
                </a:solidFill>
                <a:latin typeface="+mn-lt"/>
                <a:cs typeface="Univers for KPMG Light"/>
              </a:defRPr>
            </a:lvl3pPr>
            <a:lvl4pPr marL="630000" indent="-270000">
              <a:spcBef>
                <a:spcPts val="200"/>
              </a:spcBef>
              <a:buFont typeface="Univers for KPMG Light" panose="020B0403020202020204" pitchFamily="34" charset="0"/>
              <a:buChar char="—"/>
              <a:defRPr>
                <a:solidFill>
                  <a:srgbClr val="00338D"/>
                </a:solidFill>
                <a:latin typeface="+mn-lt"/>
                <a:cs typeface="Univers for KPMG Light"/>
              </a:defRPr>
            </a:lvl4pPr>
            <a:lvl5pPr>
              <a:spcBef>
                <a:spcPts val="200"/>
              </a:spcBef>
              <a:defRPr lang="en-US" sz="900" b="0" i="0" dirty="0" smtClean="0">
                <a:solidFill>
                  <a:srgbClr val="00338D"/>
                </a:solidFill>
                <a:latin typeface="+mn-lt"/>
                <a:cs typeface="Univers for KPMG Ligh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9" name="Text Placeholder 7"/>
          <p:cNvSpPr>
            <a:spLocks noGrp="1"/>
          </p:cNvSpPr>
          <p:nvPr>
            <p:ph type="body" sz="quarter" idx="28"/>
          </p:nvPr>
        </p:nvSpPr>
        <p:spPr>
          <a:xfrm>
            <a:off x="4720001" y="2008261"/>
            <a:ext cx="4068000" cy="4178893"/>
          </a:xfrm>
          <a:prstGeom prst="rect">
            <a:avLst/>
          </a:prstGeom>
        </p:spPr>
        <p:txBody>
          <a:bodyPr vert="horz" lIns="72000" tIns="72000" rIns="72000" bIns="72000"/>
          <a:lstStyle>
            <a:lvl1pPr>
              <a:spcBef>
                <a:spcPts val="600"/>
              </a:spcBef>
              <a:defRPr b="1" i="0">
                <a:solidFill>
                  <a:srgbClr val="00338D"/>
                </a:solidFill>
                <a:latin typeface="Univers for KPMG" panose="020B0603020202020204" pitchFamily="34" charset="0"/>
                <a:cs typeface="Univers for KPMG" panose="020B0603020202020204" pitchFamily="34" charset="0"/>
              </a:defRPr>
            </a:lvl1pPr>
            <a:lvl2pPr marL="0" indent="0">
              <a:buFontTx/>
              <a:buNone/>
              <a:defRPr>
                <a:solidFill>
                  <a:srgbClr val="00338D"/>
                </a:solidFill>
                <a:latin typeface="+mn-lt"/>
                <a:cs typeface="Univers for KPMG Light"/>
              </a:defRPr>
            </a:lvl2pPr>
            <a:lvl3pPr marL="270000" indent="-270000">
              <a:spcBef>
                <a:spcPts val="300"/>
              </a:spcBef>
              <a:buFont typeface="Univers for KPMG Light" panose="020B0403020202020204" pitchFamily="34" charset="0"/>
              <a:buChar char="—"/>
              <a:defRPr>
                <a:solidFill>
                  <a:srgbClr val="00338D"/>
                </a:solidFill>
                <a:latin typeface="+mn-lt"/>
                <a:cs typeface="Univers for KPMG Light"/>
              </a:defRPr>
            </a:lvl3pPr>
            <a:lvl4pPr marL="630000" indent="-270000">
              <a:spcBef>
                <a:spcPts val="200"/>
              </a:spcBef>
              <a:buFont typeface="Univers for KPMG Light" panose="020B0403020202020204" pitchFamily="34" charset="0"/>
              <a:buChar char="—"/>
              <a:defRPr>
                <a:solidFill>
                  <a:srgbClr val="00338D"/>
                </a:solidFill>
                <a:latin typeface="+mn-lt"/>
                <a:cs typeface="Univers for KPMG Light"/>
              </a:defRPr>
            </a:lvl4pPr>
            <a:lvl5pPr>
              <a:spcBef>
                <a:spcPts val="200"/>
              </a:spcBef>
              <a:defRPr lang="en-US" sz="900" b="0" i="0" dirty="0" smtClean="0">
                <a:solidFill>
                  <a:srgbClr val="00338D"/>
                </a:solidFill>
                <a:latin typeface="+mn-lt"/>
                <a:cs typeface="Univers for KPMG Ligh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Tree>
    <p:extLst>
      <p:ext uri="{BB962C8B-B14F-4D97-AF65-F5344CB8AC3E}">
        <p14:creationId xmlns:p14="http://schemas.microsoft.com/office/powerpoint/2010/main" val="5236008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KEY MESSAGE: Graph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rgbClr val="FFFFFF"/>
                </a:solidFill>
              </a:defRPr>
            </a:lvl1pPr>
            <a:lvl2pPr>
              <a:buClr>
                <a:schemeClr val="bg1"/>
              </a:buClr>
              <a:defRPr>
                <a:solidFill>
                  <a:srgbClr val="FFFFFF"/>
                </a:solidFill>
              </a:defRPr>
            </a:lvl2pPr>
            <a:lvl3pPr>
              <a:buClr>
                <a:schemeClr val="bg1"/>
              </a:buClr>
              <a:defRPr>
                <a:solidFill>
                  <a:srgbClr val="FFFFFF"/>
                </a:solidFill>
              </a:defRPr>
            </a:lvl3pPr>
            <a:lvl4pPr>
              <a:buClr>
                <a:schemeClr val="bg1"/>
              </a:buClr>
              <a:defRPr>
                <a:solidFill>
                  <a:srgbClr val="FFFFFF"/>
                </a:solidFill>
              </a:defRPr>
            </a:lvl4pPr>
            <a:lvl5pPr>
              <a:buClr>
                <a:schemeClr val="bg1"/>
              </a:buClr>
              <a:defRPr>
                <a:solidFill>
                  <a:srgbClr val="FFFFFF"/>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8"/>
          <p:cNvSpPr>
            <a:spLocks noGrp="1"/>
          </p:cNvSpPr>
          <p:nvPr>
            <p:ph type="body" sz="quarter" idx="11"/>
          </p:nvPr>
        </p:nvSpPr>
        <p:spPr>
          <a:xfrm>
            <a:off x="5466080" y="1426659"/>
            <a:ext cx="3246120"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2679846643"/>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5_2 Column Comparison">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5251" name="think-cell Slide" r:id="rId4" imgW="395" imgH="396" progId="TCLayout.ActiveDocument.1">
                  <p:embed/>
                </p:oleObj>
              </mc:Choice>
              <mc:Fallback>
                <p:oleObj name="think-cell Slide" r:id="rId4" imgW="395" imgH="396"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324000" y="396000"/>
            <a:ext cx="8496000" cy="470898"/>
          </a:xfrm>
        </p:spPr>
        <p:txBody>
          <a:bodyPr/>
          <a:lstStyle/>
          <a:p>
            <a:r>
              <a:rPr lang="en-US" noProof="0"/>
              <a:t>Click to edit Master title style</a:t>
            </a:r>
            <a:endParaRPr lang="en-CA" noProof="0" dirty="0"/>
          </a:p>
        </p:txBody>
      </p:sp>
      <p:sp>
        <p:nvSpPr>
          <p:cNvPr id="6" name="Text Placeholder 20"/>
          <p:cNvSpPr>
            <a:spLocks noGrp="1"/>
          </p:cNvSpPr>
          <p:nvPr>
            <p:ph type="body" sz="quarter" idx="27"/>
          </p:nvPr>
        </p:nvSpPr>
        <p:spPr bwMode="gray">
          <a:xfrm>
            <a:off x="4720001" y="1476000"/>
            <a:ext cx="4068000" cy="468000"/>
          </a:xfrm>
          <a:prstGeom prst="rect">
            <a:avLst/>
          </a:prstGeom>
          <a:solidFill>
            <a:schemeClr val="tx2"/>
          </a:solidFill>
          <a:ln w="12700">
            <a:noFill/>
          </a:ln>
        </p:spPr>
        <p:txBody>
          <a:bodyPr vert="horz" lIns="72000" tIns="36000" rIns="36000" bIns="36000" rtlCol="0" anchor="ctr" anchorCtr="0">
            <a:noAutofit/>
          </a:bodyPr>
          <a:lstStyle>
            <a:lvl1pPr algn="l">
              <a:lnSpc>
                <a:spcPct val="90000"/>
              </a:lnSpc>
              <a:spcBef>
                <a:spcPts val="0"/>
              </a:spcBef>
              <a:defRPr lang="en-US" sz="1200" b="1" i="0" kern="1200" noProof="0" dirty="0" smtClean="0">
                <a:solidFill>
                  <a:schemeClr val="bg1"/>
                </a:solidFill>
                <a:latin typeface="Univers for KPMG"/>
                <a:ea typeface="+mn-ea"/>
                <a:cs typeface="Univers for KPMG"/>
              </a:defRPr>
            </a:lvl1pPr>
            <a:lvl5pPr>
              <a:defRPr/>
            </a:lvl5pPr>
            <a:lvl6pPr>
              <a:defRPr baseline="0"/>
            </a:lvl6pPr>
            <a:lvl7pPr>
              <a:defRPr baseline="0"/>
            </a:lvl7pPr>
            <a:lvl8pPr>
              <a:defRPr baseline="0"/>
            </a:lvl8pPr>
          </a:lstStyle>
          <a:p>
            <a:pPr marL="0" lvl="0" indent="0" algn="l" defTabSz="820583" rtl="0" eaLnBrk="1" latinLnBrk="0" hangingPunct="1">
              <a:lnSpc>
                <a:spcPct val="100000"/>
              </a:lnSpc>
              <a:spcBef>
                <a:spcPts val="538"/>
              </a:spcBef>
              <a:buFont typeface="Arial" pitchFamily="34" charset="0"/>
              <a:buNone/>
            </a:pPr>
            <a:r>
              <a:rPr lang="en-US" noProof="0" dirty="0"/>
              <a:t>Click to edit Master text styles</a:t>
            </a:r>
          </a:p>
        </p:txBody>
      </p:sp>
      <p:sp>
        <p:nvSpPr>
          <p:cNvPr id="8" name="Text Placeholder 7"/>
          <p:cNvSpPr>
            <a:spLocks noGrp="1"/>
          </p:cNvSpPr>
          <p:nvPr>
            <p:ph type="body" sz="quarter" idx="15"/>
          </p:nvPr>
        </p:nvSpPr>
        <p:spPr>
          <a:xfrm>
            <a:off x="323999" y="2008261"/>
            <a:ext cx="4068000" cy="4178893"/>
          </a:xfrm>
          <a:prstGeom prst="rect">
            <a:avLst/>
          </a:prstGeom>
        </p:spPr>
        <p:txBody>
          <a:bodyPr vert="horz" lIns="72000" tIns="72000" rIns="72000" bIns="72000"/>
          <a:lstStyle>
            <a:lvl1pPr>
              <a:spcBef>
                <a:spcPts val="600"/>
              </a:spcBef>
              <a:defRPr b="1" i="0">
                <a:solidFill>
                  <a:srgbClr val="00338D"/>
                </a:solidFill>
                <a:latin typeface="Univers for KPMG" panose="020B0603020202020204" pitchFamily="34" charset="0"/>
                <a:cs typeface="Univers for KPMG" panose="020B0603020202020204" pitchFamily="34" charset="0"/>
              </a:defRPr>
            </a:lvl1pPr>
            <a:lvl2pPr marL="0" indent="0">
              <a:buFontTx/>
              <a:buNone/>
              <a:defRPr>
                <a:solidFill>
                  <a:srgbClr val="00338D"/>
                </a:solidFill>
                <a:latin typeface="+mn-lt"/>
                <a:cs typeface="Univers for KPMG Light"/>
              </a:defRPr>
            </a:lvl2pPr>
            <a:lvl3pPr marL="270000" indent="-270000">
              <a:spcBef>
                <a:spcPts val="300"/>
              </a:spcBef>
              <a:buFont typeface="Univers for KPMG Light" panose="020B0403020202020204" pitchFamily="34" charset="0"/>
              <a:buChar char="—"/>
              <a:defRPr>
                <a:solidFill>
                  <a:srgbClr val="00338D"/>
                </a:solidFill>
                <a:latin typeface="+mn-lt"/>
                <a:cs typeface="Univers for KPMG Light"/>
              </a:defRPr>
            </a:lvl3pPr>
            <a:lvl4pPr marL="630000" indent="-270000">
              <a:spcBef>
                <a:spcPts val="200"/>
              </a:spcBef>
              <a:buFont typeface="Univers for KPMG Light" panose="020B0403020202020204" pitchFamily="34" charset="0"/>
              <a:buChar char="—"/>
              <a:defRPr>
                <a:solidFill>
                  <a:srgbClr val="00338D"/>
                </a:solidFill>
                <a:latin typeface="+mn-lt"/>
                <a:cs typeface="Univers for KPMG Light"/>
              </a:defRPr>
            </a:lvl4pPr>
            <a:lvl5pPr>
              <a:spcBef>
                <a:spcPts val="200"/>
              </a:spcBef>
              <a:defRPr lang="en-US" sz="900" b="0" i="0" dirty="0" smtClean="0">
                <a:solidFill>
                  <a:srgbClr val="00338D"/>
                </a:solidFill>
                <a:latin typeface="+mn-lt"/>
                <a:cs typeface="Univers for KPMG Ligh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9" name="Text Placeholder 7"/>
          <p:cNvSpPr>
            <a:spLocks noGrp="1"/>
          </p:cNvSpPr>
          <p:nvPr>
            <p:ph type="body" sz="quarter" idx="28"/>
          </p:nvPr>
        </p:nvSpPr>
        <p:spPr>
          <a:xfrm>
            <a:off x="4720001" y="2008261"/>
            <a:ext cx="4068000" cy="4178893"/>
          </a:xfrm>
          <a:prstGeom prst="rect">
            <a:avLst/>
          </a:prstGeom>
        </p:spPr>
        <p:txBody>
          <a:bodyPr vert="horz" lIns="72000" tIns="72000" rIns="72000" bIns="72000"/>
          <a:lstStyle>
            <a:lvl1pPr>
              <a:spcBef>
                <a:spcPts val="600"/>
              </a:spcBef>
              <a:defRPr b="1" i="0">
                <a:solidFill>
                  <a:srgbClr val="00338D"/>
                </a:solidFill>
                <a:latin typeface="Univers for KPMG" panose="020B0603020202020204" pitchFamily="34" charset="0"/>
                <a:cs typeface="Univers for KPMG" panose="020B0603020202020204" pitchFamily="34" charset="0"/>
              </a:defRPr>
            </a:lvl1pPr>
            <a:lvl2pPr marL="0" indent="0">
              <a:buFontTx/>
              <a:buNone/>
              <a:defRPr>
                <a:solidFill>
                  <a:srgbClr val="00338D"/>
                </a:solidFill>
                <a:latin typeface="+mn-lt"/>
                <a:cs typeface="Univers for KPMG Light"/>
              </a:defRPr>
            </a:lvl2pPr>
            <a:lvl3pPr marL="270000" indent="-270000">
              <a:spcBef>
                <a:spcPts val="300"/>
              </a:spcBef>
              <a:buFont typeface="Univers for KPMG Light" panose="020B0403020202020204" pitchFamily="34" charset="0"/>
              <a:buChar char="—"/>
              <a:defRPr>
                <a:solidFill>
                  <a:srgbClr val="00338D"/>
                </a:solidFill>
                <a:latin typeface="+mn-lt"/>
                <a:cs typeface="Univers for KPMG Light"/>
              </a:defRPr>
            </a:lvl3pPr>
            <a:lvl4pPr marL="630000" indent="-270000">
              <a:spcBef>
                <a:spcPts val="200"/>
              </a:spcBef>
              <a:buFont typeface="Univers for KPMG Light" panose="020B0403020202020204" pitchFamily="34" charset="0"/>
              <a:buChar char="—"/>
              <a:defRPr>
                <a:solidFill>
                  <a:srgbClr val="00338D"/>
                </a:solidFill>
                <a:latin typeface="+mn-lt"/>
                <a:cs typeface="Univers for KPMG Light"/>
              </a:defRPr>
            </a:lvl4pPr>
            <a:lvl5pPr>
              <a:spcBef>
                <a:spcPts val="200"/>
              </a:spcBef>
              <a:defRPr lang="en-US" sz="900" b="0" i="0" dirty="0" smtClean="0">
                <a:solidFill>
                  <a:srgbClr val="00338D"/>
                </a:solidFill>
                <a:latin typeface="+mn-lt"/>
                <a:cs typeface="Univers for KPMG Ligh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Tree>
    <p:extLst>
      <p:ext uri="{BB962C8B-B14F-4D97-AF65-F5344CB8AC3E}">
        <p14:creationId xmlns:p14="http://schemas.microsoft.com/office/powerpoint/2010/main" val="160774591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ags" Target="../tags/tag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vmlDrawing" Target="../drawings/vmlDrawing1.v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4.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t 3" hidden="1"/>
          <p:cNvGraphicFramePr>
            <a:graphicFrameLocks noChangeAspect="1"/>
          </p:cNvGraphicFramePr>
          <p:nvPr userDrawn="1">
            <p:custDataLst>
              <p:tags r:id="rId41"/>
            </p:custDataLst>
            <p:extLst>
              <p:ext uri="{D42A27DB-BD31-4B8C-83A1-F6EECF244321}">
                <p14:modId xmlns:p14="http://schemas.microsoft.com/office/powerpoint/2010/main" val="80522123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0919" name="think-cell Slide" r:id="rId44" imgW="270" imgH="270" progId="TCLayout.ActiveDocument.1">
                  <p:embed/>
                </p:oleObj>
              </mc:Choice>
              <mc:Fallback>
                <p:oleObj name="think-cell Slide" r:id="rId44" imgW="270" imgH="270" progId="TCLayout.ActiveDocument.1">
                  <p:embed/>
                  <p:pic>
                    <p:nvPicPr>
                      <p:cNvPr id="0" name=""/>
                      <p:cNvPicPr/>
                      <p:nvPr/>
                    </p:nvPicPr>
                    <p:blipFill>
                      <a:blip r:embed="rId45"/>
                      <a:stretch>
                        <a:fillRect/>
                      </a:stretch>
                    </p:blipFill>
                    <p:spPr>
                      <a:xfrm>
                        <a:off x="1588" y="1588"/>
                        <a:ext cx="1587"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CDA55D8-3993-4941-A465-5F12EFDF00C4}"/>
              </a:ext>
            </a:extLst>
          </p:cNvPr>
          <p:cNvSpPr/>
          <p:nvPr userDrawn="1">
            <p:custDataLst>
              <p:tags r:id="rId4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a:endParaRPr lang="en-CA" sz="3800" b="0" i="0" baseline="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2" name="Title Placeholder 1"/>
          <p:cNvSpPr>
            <a:spLocks noGrp="1"/>
          </p:cNvSpPr>
          <p:nvPr>
            <p:ph type="title"/>
          </p:nvPr>
        </p:nvSpPr>
        <p:spPr bwMode="gray">
          <a:xfrm>
            <a:off x="431800" y="480476"/>
            <a:ext cx="8280400" cy="734400"/>
          </a:xfrm>
          <a:prstGeom prst="rect">
            <a:avLst/>
          </a:prstGeom>
        </p:spPr>
        <p:txBody>
          <a:bodyPr vert="horz" lIns="0" tIns="0" rIns="0" bIns="0" rtlCol="0" anchor="t" anchorCtr="0">
            <a:noAutofit/>
          </a:bodyPr>
          <a:lstStyle/>
          <a:p>
            <a:r>
              <a:rPr lang="en-CA" noProof="0" dirty="0" err="1"/>
              <a:t>Modifiez</a:t>
            </a:r>
            <a:r>
              <a:rPr lang="en-CA" noProof="0" dirty="0"/>
              <a:t> le style du titre</a:t>
            </a:r>
          </a:p>
        </p:txBody>
      </p:sp>
      <p:sp>
        <p:nvSpPr>
          <p:cNvPr id="3" name="Text Placeholder 2"/>
          <p:cNvSpPr>
            <a:spLocks noGrp="1"/>
          </p:cNvSpPr>
          <p:nvPr>
            <p:ph type="body" idx="1"/>
          </p:nvPr>
        </p:nvSpPr>
        <p:spPr bwMode="gray">
          <a:xfrm>
            <a:off x="431800" y="1426659"/>
            <a:ext cx="8280400" cy="4582800"/>
          </a:xfrm>
          <a:prstGeom prst="rect">
            <a:avLst/>
          </a:prstGeom>
        </p:spPr>
        <p:txBody>
          <a:bodyPr vert="horz" lIns="0" tIns="0" rIns="0" bIns="0" rtlCol="0" anchor="t" anchorCtr="0">
            <a:noAutofit/>
          </a:bodyPr>
          <a:lstStyle/>
          <a:p>
            <a:pPr lvl="0"/>
            <a:r>
              <a:rPr lang="en-CA" noProof="0" dirty="0" err="1"/>
              <a:t>Modifiez</a:t>
            </a:r>
            <a:r>
              <a:rPr lang="en-CA" noProof="0" dirty="0"/>
              <a:t> les styles du </a:t>
            </a:r>
            <a:r>
              <a:rPr lang="en-CA" noProof="0" dirty="0" err="1"/>
              <a:t>texte</a:t>
            </a:r>
            <a:r>
              <a:rPr lang="en-CA" noProof="0" dirty="0"/>
              <a:t> du masque</a:t>
            </a:r>
          </a:p>
          <a:p>
            <a:pPr lvl="1"/>
            <a:r>
              <a:rPr lang="en-CA" noProof="0" dirty="0" err="1"/>
              <a:t>Deuxième</a:t>
            </a:r>
            <a:r>
              <a:rPr lang="en-CA" noProof="0" dirty="0"/>
              <a:t> </a:t>
            </a:r>
            <a:r>
              <a:rPr lang="en-CA" noProof="0" dirty="0" err="1"/>
              <a:t>niveau</a:t>
            </a:r>
            <a:endParaRPr lang="en-CA" noProof="0" dirty="0"/>
          </a:p>
          <a:p>
            <a:pPr lvl="2"/>
            <a:r>
              <a:rPr lang="en-CA" noProof="0" dirty="0" err="1"/>
              <a:t>Troisième</a:t>
            </a:r>
            <a:r>
              <a:rPr lang="en-CA" noProof="0" dirty="0"/>
              <a:t> </a:t>
            </a:r>
            <a:r>
              <a:rPr lang="en-CA" noProof="0" dirty="0" err="1"/>
              <a:t>niveau</a:t>
            </a:r>
            <a:endParaRPr lang="en-CA" noProof="0" dirty="0"/>
          </a:p>
          <a:p>
            <a:pPr lvl="3"/>
            <a:r>
              <a:rPr lang="en-CA" noProof="0" dirty="0" err="1"/>
              <a:t>Quatrième</a:t>
            </a:r>
            <a:r>
              <a:rPr lang="en-CA" noProof="0" dirty="0"/>
              <a:t> </a:t>
            </a:r>
            <a:r>
              <a:rPr lang="en-CA" noProof="0" dirty="0" err="1"/>
              <a:t>niveau</a:t>
            </a:r>
            <a:endParaRPr lang="en-CA" noProof="0" dirty="0"/>
          </a:p>
          <a:p>
            <a:pPr lvl="4"/>
            <a:r>
              <a:rPr lang="en-CA" noProof="0" dirty="0" err="1"/>
              <a:t>Cinquième</a:t>
            </a:r>
            <a:r>
              <a:rPr lang="en-CA" noProof="0" dirty="0"/>
              <a:t> </a:t>
            </a:r>
            <a:r>
              <a:rPr lang="en-CA" noProof="0" dirty="0" err="1"/>
              <a:t>niveau</a:t>
            </a:r>
            <a:endParaRPr lang="en-CA" noProof="0" dirty="0"/>
          </a:p>
        </p:txBody>
      </p:sp>
      <p:sp>
        <p:nvSpPr>
          <p:cNvPr id="28"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29" name="Shape 8"/>
          <p:cNvSpPr txBox="1">
            <a:spLocks/>
          </p:cNvSpPr>
          <p:nvPr userDrawn="1"/>
        </p:nvSpPr>
        <p:spPr bwMode="gray">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30" name="TextBox 29"/>
          <p:cNvSpPr txBox="1"/>
          <p:nvPr userDrawn="1">
            <p:custDataLst>
              <p:tags r:id="rId43"/>
            </p:custDataLst>
          </p:nvPr>
        </p:nvSpPr>
        <p:spPr bwMode="auto">
          <a:xfrm>
            <a:off x="1731600" y="6336273"/>
            <a:ext cx="6318000" cy="184666"/>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2020 KPMG LLP, a Canadian limited liability partnership and a member firm of the KPMG network of independent member firms affiliated with KPMG International Cooperative </a:t>
            </a:r>
            <a:br>
              <a:rPr lang="en-US" sz="600" kern="1200" noProof="0" dirty="0">
                <a:solidFill>
                  <a:schemeClr val="bg1">
                    <a:lumMod val="65000"/>
                  </a:schemeClr>
                </a:solidFill>
                <a:latin typeface="+mn-lt"/>
                <a:ea typeface="+mn-ea"/>
                <a:cs typeface="+mn-cs"/>
              </a:rPr>
            </a:br>
            <a:r>
              <a:rPr lang="en-US" sz="600" kern="1200" noProof="0" dirty="0">
                <a:solidFill>
                  <a:schemeClr val="bg1">
                    <a:lumMod val="65000"/>
                  </a:schemeClr>
                </a:solidFill>
                <a:latin typeface="+mn-lt"/>
                <a:ea typeface="+mn-ea"/>
                <a:cs typeface="+mn-cs"/>
              </a:rPr>
              <a:t>(“KPMG International”), a Swiss entity. All rights reserved. The KPMG name and logo are registered trademarks or trademarks of KPMG International.</a:t>
            </a:r>
            <a:endParaRPr lang="en-CA" sz="600" kern="1200" noProof="0" dirty="0">
              <a:solidFill>
                <a:schemeClr val="bg1">
                  <a:lumMod val="65000"/>
                </a:schemeClr>
              </a:solidFill>
              <a:latin typeface="+mn-lt"/>
              <a:ea typeface="+mn-ea"/>
              <a:cs typeface="+mn-cs"/>
            </a:endParaRP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24" r:id="rId1"/>
    <p:sldLayoutId id="2147483726" r:id="rId2"/>
    <p:sldLayoutId id="2147483725" r:id="rId3"/>
    <p:sldLayoutId id="2147483727" r:id="rId4"/>
    <p:sldLayoutId id="2147483729" r:id="rId5"/>
    <p:sldLayoutId id="2147483728" r:id="rId6"/>
    <p:sldLayoutId id="2147483707" r:id="rId7"/>
    <p:sldLayoutId id="2147483708" r:id="rId8"/>
    <p:sldLayoutId id="2147483709" r:id="rId9"/>
    <p:sldLayoutId id="2147483719" r:id="rId10"/>
    <p:sldLayoutId id="2147483732" r:id="rId11"/>
    <p:sldLayoutId id="2147483722" r:id="rId12"/>
    <p:sldLayoutId id="2147483666" r:id="rId13"/>
    <p:sldLayoutId id="2147483664" r:id="rId14"/>
    <p:sldLayoutId id="2147483689" r:id="rId15"/>
    <p:sldLayoutId id="2147483690" r:id="rId16"/>
    <p:sldLayoutId id="2147483692" r:id="rId17"/>
    <p:sldLayoutId id="2147483693" r:id="rId18"/>
    <p:sldLayoutId id="2147483694" r:id="rId19"/>
    <p:sldLayoutId id="2147483701" r:id="rId20"/>
    <p:sldLayoutId id="2147483697" r:id="rId21"/>
    <p:sldLayoutId id="2147483730" r:id="rId22"/>
    <p:sldLayoutId id="2147483731" r:id="rId23"/>
    <p:sldLayoutId id="2147483682" r:id="rId24"/>
    <p:sldLayoutId id="2147483683" r:id="rId25"/>
    <p:sldLayoutId id="2147483684" r:id="rId26"/>
    <p:sldLayoutId id="2147483685" r:id="rId27"/>
    <p:sldLayoutId id="2147483700" r:id="rId28"/>
    <p:sldLayoutId id="2147483710" r:id="rId29"/>
    <p:sldLayoutId id="2147483711" r:id="rId30"/>
    <p:sldLayoutId id="2147483712" r:id="rId31"/>
    <p:sldLayoutId id="2147483713" r:id="rId32"/>
    <p:sldLayoutId id="2147483667" r:id="rId33"/>
    <p:sldLayoutId id="2147483733" r:id="rId34"/>
    <p:sldLayoutId id="2147483748" r:id="rId35"/>
    <p:sldLayoutId id="2147483776" r:id="rId36"/>
    <p:sldLayoutId id="2147483777" r:id="rId37"/>
    <p:sldLayoutId id="2147483778" r:id="rId38"/>
  </p:sldLayoutIdLst>
  <p:txStyles>
    <p:titleStyle>
      <a:lvl1pPr algn="l" defTabSz="914400" rtl="0" eaLnBrk="1" latinLnBrk="0" hangingPunct="1">
        <a:lnSpc>
          <a:spcPct val="70000"/>
        </a:lnSpc>
        <a:spcBef>
          <a:spcPct val="0"/>
        </a:spcBef>
        <a:buNone/>
        <a:defRPr sz="3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84" userDrawn="1">
          <p15:clr>
            <a:srgbClr val="F26B43"/>
          </p15:clr>
        </p15:guide>
        <p15:guide id="2" pos="272" userDrawn="1">
          <p15:clr>
            <a:srgbClr val="F26B43"/>
          </p15:clr>
        </p15:guide>
        <p15:guide id="3" pos="5488" userDrawn="1">
          <p15:clr>
            <a:srgbClr val="F26B43"/>
          </p15:clr>
        </p15:guide>
        <p15:guide id="4" orient="horz" pos="763" userDrawn="1">
          <p15:clr>
            <a:srgbClr val="F26B43"/>
          </p15:clr>
        </p15:guide>
        <p15:guide id="6" orient="horz" pos="300" userDrawn="1">
          <p15:clr>
            <a:srgbClr val="F26B43"/>
          </p15:clr>
        </p15:guide>
        <p15:guide id="7" orient="horz" pos="896" userDrawn="1">
          <p15:clr>
            <a:srgbClr val="F26B43"/>
          </p15:clr>
        </p15:guide>
        <p15:guide id="8" pos="2925" userDrawn="1">
          <p15:clr>
            <a:srgbClr val="F26B43"/>
          </p15:clr>
        </p15:guide>
        <p15:guide id="9" pos="283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4.emf"/><Relationship Id="rId2" Type="http://schemas.openxmlformats.org/officeDocument/2006/relationships/tags" Target="../tags/tag16.xml"/><Relationship Id="rId1" Type="http://schemas.openxmlformats.org/officeDocument/2006/relationships/vmlDrawing" Target="../drawings/vmlDrawing12.vml"/><Relationship Id="rId6" Type="http://schemas.openxmlformats.org/officeDocument/2006/relationships/oleObject" Target="../embeddings/oleObject12.bin"/><Relationship Id="rId5" Type="http://schemas.openxmlformats.org/officeDocument/2006/relationships/notesSlide" Target="../notesSlides/notesSlide1.xml"/><Relationship Id="rId4"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9.emf"/><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tags" Target="../tags/tag22.xml"/><Relationship Id="rId7" Type="http://schemas.openxmlformats.org/officeDocument/2006/relationships/notesSlide" Target="../notesSlides/notesSlide6.xml"/><Relationship Id="rId2" Type="http://schemas.openxmlformats.org/officeDocument/2006/relationships/tags" Target="../tags/tag21.xml"/><Relationship Id="rId1" Type="http://schemas.openxmlformats.org/officeDocument/2006/relationships/vmlDrawing" Target="../drawings/vmlDrawing13.vml"/><Relationship Id="rId6" Type="http://schemas.openxmlformats.org/officeDocument/2006/relationships/slideLayout" Target="../slideLayouts/slideLayout12.xml"/><Relationship Id="rId11" Type="http://schemas.openxmlformats.org/officeDocument/2006/relationships/image" Target="../media/image11.emf"/><Relationship Id="rId5" Type="http://schemas.openxmlformats.org/officeDocument/2006/relationships/tags" Target="../tags/tag24.xml"/><Relationship Id="rId10" Type="http://schemas.openxmlformats.org/officeDocument/2006/relationships/image" Target="../media/image10.emf"/><Relationship Id="rId4" Type="http://schemas.openxmlformats.org/officeDocument/2006/relationships/tags" Target="../tags/tag23.xml"/><Relationship Id="rId9" Type="http://schemas.openxmlformats.org/officeDocument/2006/relationships/image" Target="NUL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7.xml"/><Relationship Id="rId13" Type="http://schemas.openxmlformats.org/officeDocument/2006/relationships/image" Target="../media/image14.emf"/><Relationship Id="rId3" Type="http://schemas.openxmlformats.org/officeDocument/2006/relationships/tags" Target="../tags/tag26.xml"/><Relationship Id="rId7" Type="http://schemas.openxmlformats.org/officeDocument/2006/relationships/slideLayout" Target="../slideLayouts/slideLayout12.xml"/><Relationship Id="rId12" Type="http://schemas.openxmlformats.org/officeDocument/2006/relationships/image" Target="../media/image13.emf"/><Relationship Id="rId2" Type="http://schemas.openxmlformats.org/officeDocument/2006/relationships/tags" Target="../tags/tag25.xml"/><Relationship Id="rId1" Type="http://schemas.openxmlformats.org/officeDocument/2006/relationships/vmlDrawing" Target="../drawings/vmlDrawing14.vml"/><Relationship Id="rId6" Type="http://schemas.openxmlformats.org/officeDocument/2006/relationships/tags" Target="../tags/tag29.xml"/><Relationship Id="rId11" Type="http://schemas.openxmlformats.org/officeDocument/2006/relationships/image" Target="../media/image12.emf"/><Relationship Id="rId5" Type="http://schemas.openxmlformats.org/officeDocument/2006/relationships/tags" Target="../tags/tag28.xml"/><Relationship Id="rId10" Type="http://schemas.openxmlformats.org/officeDocument/2006/relationships/image" Target="NULL"/><Relationship Id="rId4" Type="http://schemas.openxmlformats.org/officeDocument/2006/relationships/tags" Target="../tags/tag27.xml"/><Relationship Id="rId9" Type="http://schemas.openxmlformats.org/officeDocument/2006/relationships/oleObject" Target="../embeddings/oleObject14.bin"/></Relationships>
</file>

<file path=ppt/slides/_rels/slide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tags" Target="../tags/tag31.xml"/><Relationship Id="rId7" Type="http://schemas.openxmlformats.org/officeDocument/2006/relationships/oleObject" Target="../embeddings/oleObject15.bin"/><Relationship Id="rId2" Type="http://schemas.openxmlformats.org/officeDocument/2006/relationships/tags" Target="../tags/tag30.xml"/><Relationship Id="rId1" Type="http://schemas.openxmlformats.org/officeDocument/2006/relationships/vmlDrawing" Target="../drawings/vmlDrawing15.vml"/><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tags" Target="../tags/tag32.xml"/><Relationship Id="rId9" Type="http://schemas.openxmlformats.org/officeDocument/2006/relationships/image" Target="../media/image15.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tags" Target="../tags/tag34.xml"/><Relationship Id="rId7" Type="http://schemas.openxmlformats.org/officeDocument/2006/relationships/image" Target="../media/image17.emf"/><Relationship Id="rId2" Type="http://schemas.openxmlformats.org/officeDocument/2006/relationships/tags" Target="../tags/tag33.xml"/><Relationship Id="rId1" Type="http://schemas.openxmlformats.org/officeDocument/2006/relationships/vmlDrawing" Target="../drawings/vmlDrawing16.vml"/><Relationship Id="rId6" Type="http://schemas.openxmlformats.org/officeDocument/2006/relationships/notesSlide" Target="../notesSlides/notesSlide9.xml"/><Relationship Id="rId5" Type="http://schemas.openxmlformats.org/officeDocument/2006/relationships/slideLayout" Target="../slideLayouts/slideLayout38.xml"/><Relationship Id="rId4" Type="http://schemas.openxmlformats.org/officeDocument/2006/relationships/tags" Target="../tags/tag35.xml"/><Relationship Id="rId9" Type="http://schemas.openxmlformats.org/officeDocument/2006/relationships/image" Target="../media/image16.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tags" Target="../tags/tag37.xml"/><Relationship Id="rId7" Type="http://schemas.openxmlformats.org/officeDocument/2006/relationships/notesSlide" Target="../notesSlides/notesSlide11.xml"/><Relationship Id="rId2" Type="http://schemas.openxmlformats.org/officeDocument/2006/relationships/tags" Target="../tags/tag36.xml"/><Relationship Id="rId1" Type="http://schemas.openxmlformats.org/officeDocument/2006/relationships/vmlDrawing" Target="../drawings/vmlDrawing17.vml"/><Relationship Id="rId6" Type="http://schemas.openxmlformats.org/officeDocument/2006/relationships/slideLayout" Target="../slideLayouts/slideLayout36.xml"/><Relationship Id="rId5" Type="http://schemas.openxmlformats.org/officeDocument/2006/relationships/tags" Target="../tags/tag39.xml"/><Relationship Id="rId10" Type="http://schemas.openxmlformats.org/officeDocument/2006/relationships/image" Target="../media/image18.emf"/><Relationship Id="rId4" Type="http://schemas.openxmlformats.org/officeDocument/2006/relationships/tags" Target="../tags/tag38.xml"/><Relationship Id="rId9" Type="http://schemas.openxmlformats.org/officeDocument/2006/relationships/image" Target="../media/image4.emf"/></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2.xml"/><Relationship Id="rId13" Type="http://schemas.openxmlformats.org/officeDocument/2006/relationships/image" Target="../media/image21.emf"/><Relationship Id="rId3" Type="http://schemas.openxmlformats.org/officeDocument/2006/relationships/tags" Target="../tags/tag41.xml"/><Relationship Id="rId7" Type="http://schemas.openxmlformats.org/officeDocument/2006/relationships/slideLayout" Target="../slideLayouts/slideLayout36.xml"/><Relationship Id="rId12" Type="http://schemas.openxmlformats.org/officeDocument/2006/relationships/image" Target="../media/image20.emf"/><Relationship Id="rId2" Type="http://schemas.openxmlformats.org/officeDocument/2006/relationships/tags" Target="../tags/tag40.xml"/><Relationship Id="rId1" Type="http://schemas.openxmlformats.org/officeDocument/2006/relationships/vmlDrawing" Target="../drawings/vmlDrawing18.vml"/><Relationship Id="rId6" Type="http://schemas.openxmlformats.org/officeDocument/2006/relationships/tags" Target="../tags/tag44.xml"/><Relationship Id="rId11" Type="http://schemas.openxmlformats.org/officeDocument/2006/relationships/image" Target="../media/image19.emf"/><Relationship Id="rId5" Type="http://schemas.openxmlformats.org/officeDocument/2006/relationships/tags" Target="../tags/tag43.xml"/><Relationship Id="rId10" Type="http://schemas.openxmlformats.org/officeDocument/2006/relationships/image" Target="../media/image4.emf"/><Relationship Id="rId4" Type="http://schemas.openxmlformats.org/officeDocument/2006/relationships/tags" Target="../tags/tag42.xml"/><Relationship Id="rId9" Type="http://schemas.openxmlformats.org/officeDocument/2006/relationships/oleObject" Target="../embeddings/oleObject18.bin"/></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3.xml"/><Relationship Id="rId13" Type="http://schemas.openxmlformats.org/officeDocument/2006/relationships/image" Target="../media/image23.emf"/><Relationship Id="rId3" Type="http://schemas.openxmlformats.org/officeDocument/2006/relationships/tags" Target="../tags/tag46.xml"/><Relationship Id="rId7" Type="http://schemas.openxmlformats.org/officeDocument/2006/relationships/slideLayout" Target="../slideLayouts/slideLayout36.xml"/><Relationship Id="rId12" Type="http://schemas.openxmlformats.org/officeDocument/2006/relationships/image" Target="../media/image22.emf"/><Relationship Id="rId2" Type="http://schemas.openxmlformats.org/officeDocument/2006/relationships/tags" Target="../tags/tag45.xml"/><Relationship Id="rId1" Type="http://schemas.openxmlformats.org/officeDocument/2006/relationships/vmlDrawing" Target="../drawings/vmlDrawing19.vml"/><Relationship Id="rId6" Type="http://schemas.openxmlformats.org/officeDocument/2006/relationships/tags" Target="../tags/tag49.xml"/><Relationship Id="rId11" Type="http://schemas.openxmlformats.org/officeDocument/2006/relationships/image" Target="../media/image4.emf"/><Relationship Id="rId5" Type="http://schemas.openxmlformats.org/officeDocument/2006/relationships/tags" Target="../tags/tag48.xml"/><Relationship Id="rId10" Type="http://schemas.openxmlformats.org/officeDocument/2006/relationships/oleObject" Target="../embeddings/oleObject19.bin"/><Relationship Id="rId4" Type="http://schemas.openxmlformats.org/officeDocument/2006/relationships/tags" Target="../tags/tag47.xml"/><Relationship Id="rId9" Type="http://schemas.openxmlformats.org/officeDocument/2006/relationships/image" Target="../media/image19.emf"/></Relationships>
</file>

<file path=ppt/slides/_rels/slide15.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tags" Target="../tags/tag51.xml"/><Relationship Id="rId7" Type="http://schemas.openxmlformats.org/officeDocument/2006/relationships/notesSlide" Target="../notesSlides/notesSlide14.xml"/><Relationship Id="rId2" Type="http://schemas.openxmlformats.org/officeDocument/2006/relationships/tags" Target="../tags/tag50.xml"/><Relationship Id="rId1" Type="http://schemas.openxmlformats.org/officeDocument/2006/relationships/vmlDrawing" Target="../drawings/vmlDrawing20.vml"/><Relationship Id="rId6" Type="http://schemas.openxmlformats.org/officeDocument/2006/relationships/slideLayout" Target="../slideLayouts/slideLayout36.xml"/><Relationship Id="rId11" Type="http://schemas.openxmlformats.org/officeDocument/2006/relationships/image" Target="../media/image24.emf"/><Relationship Id="rId5" Type="http://schemas.openxmlformats.org/officeDocument/2006/relationships/tags" Target="../tags/tag53.xml"/><Relationship Id="rId10" Type="http://schemas.openxmlformats.org/officeDocument/2006/relationships/image" Target="../media/image4.emf"/><Relationship Id="rId4" Type="http://schemas.openxmlformats.org/officeDocument/2006/relationships/tags" Target="../tags/tag52.xml"/><Relationship Id="rId9" Type="http://schemas.openxmlformats.org/officeDocument/2006/relationships/oleObject" Target="../embeddings/oleObject20.bin"/></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5.xml"/><Relationship Id="rId13" Type="http://schemas.openxmlformats.org/officeDocument/2006/relationships/image" Target="../media/image19.emf"/><Relationship Id="rId3" Type="http://schemas.openxmlformats.org/officeDocument/2006/relationships/tags" Target="../tags/tag55.xml"/><Relationship Id="rId7" Type="http://schemas.openxmlformats.org/officeDocument/2006/relationships/slideLayout" Target="../slideLayouts/slideLayout36.xml"/><Relationship Id="rId12" Type="http://schemas.openxmlformats.org/officeDocument/2006/relationships/image" Target="../media/image26.emf"/><Relationship Id="rId2" Type="http://schemas.openxmlformats.org/officeDocument/2006/relationships/tags" Target="../tags/tag54.xml"/><Relationship Id="rId1" Type="http://schemas.openxmlformats.org/officeDocument/2006/relationships/vmlDrawing" Target="../drawings/vmlDrawing21.vml"/><Relationship Id="rId6" Type="http://schemas.openxmlformats.org/officeDocument/2006/relationships/tags" Target="../tags/tag58.xml"/><Relationship Id="rId11" Type="http://schemas.openxmlformats.org/officeDocument/2006/relationships/image" Target="../media/image25.emf"/><Relationship Id="rId5" Type="http://schemas.openxmlformats.org/officeDocument/2006/relationships/tags" Target="../tags/tag57.xml"/><Relationship Id="rId10" Type="http://schemas.openxmlformats.org/officeDocument/2006/relationships/image" Target="../media/image4.emf"/><Relationship Id="rId4" Type="http://schemas.openxmlformats.org/officeDocument/2006/relationships/tags" Target="../tags/tag56.xml"/><Relationship Id="rId9" Type="http://schemas.openxmlformats.org/officeDocument/2006/relationships/oleObject" Target="../embeddings/oleObject21.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tags" Target="../tags/tag60.xml"/><Relationship Id="rId7" Type="http://schemas.openxmlformats.org/officeDocument/2006/relationships/notesSlide" Target="../notesSlides/notesSlide16.xml"/><Relationship Id="rId2" Type="http://schemas.openxmlformats.org/officeDocument/2006/relationships/tags" Target="../tags/tag59.xml"/><Relationship Id="rId1" Type="http://schemas.openxmlformats.org/officeDocument/2006/relationships/vmlDrawing" Target="../drawings/vmlDrawing22.vml"/><Relationship Id="rId6" Type="http://schemas.openxmlformats.org/officeDocument/2006/relationships/slideLayout" Target="../slideLayouts/slideLayout36.xml"/><Relationship Id="rId11" Type="http://schemas.openxmlformats.org/officeDocument/2006/relationships/image" Target="../media/image28.emf"/><Relationship Id="rId5" Type="http://schemas.openxmlformats.org/officeDocument/2006/relationships/tags" Target="../tags/tag62.xml"/><Relationship Id="rId10" Type="http://schemas.openxmlformats.org/officeDocument/2006/relationships/image" Target="../media/image27.emf"/><Relationship Id="rId4" Type="http://schemas.openxmlformats.org/officeDocument/2006/relationships/tags" Target="../tags/tag61.xml"/><Relationship Id="rId9" Type="http://schemas.openxmlformats.org/officeDocument/2006/relationships/image" Target="../media/image4.emf"/></Relationships>
</file>

<file path=ppt/slides/_rels/slide18.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4.emf"/><Relationship Id="rId2" Type="http://schemas.openxmlformats.org/officeDocument/2006/relationships/tags" Target="../tags/tag63.xml"/><Relationship Id="rId1" Type="http://schemas.openxmlformats.org/officeDocument/2006/relationships/vmlDrawing" Target="../drawings/vmlDrawing23.vml"/><Relationship Id="rId6" Type="http://schemas.openxmlformats.org/officeDocument/2006/relationships/oleObject" Target="../embeddings/oleObject23.bin"/><Relationship Id="rId5" Type="http://schemas.openxmlformats.org/officeDocument/2006/relationships/notesSlide" Target="../notesSlides/notesSlide17.xml"/><Relationship Id="rId4"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66.xml"/><Relationship Id="rId7" Type="http://schemas.openxmlformats.org/officeDocument/2006/relationships/oleObject" Target="../embeddings/oleObject24.bin"/><Relationship Id="rId2" Type="http://schemas.openxmlformats.org/officeDocument/2006/relationships/tags" Target="../tags/tag65.xml"/><Relationship Id="rId1" Type="http://schemas.openxmlformats.org/officeDocument/2006/relationships/vmlDrawing" Target="../drawings/vmlDrawing24.vml"/><Relationship Id="rId6" Type="http://schemas.openxmlformats.org/officeDocument/2006/relationships/notesSlide" Target="../notesSlides/notesSlide18.xml"/><Relationship Id="rId5" Type="http://schemas.openxmlformats.org/officeDocument/2006/relationships/slideLayout" Target="../slideLayouts/slideLayout38.xml"/><Relationship Id="rId4" Type="http://schemas.openxmlformats.org/officeDocument/2006/relationships/tags" Target="../tags/tag67.xml"/><Relationship Id="rId9" Type="http://schemas.openxmlformats.org/officeDocument/2006/relationships/image" Target="../media/image29.emf"/></Relationships>
</file>

<file path=ppt/slides/_rels/slide20.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tags" Target="../tags/tag72.xml"/><Relationship Id="rId7" Type="http://schemas.openxmlformats.org/officeDocument/2006/relationships/image" Target="../media/image32.emf"/><Relationship Id="rId2" Type="http://schemas.openxmlformats.org/officeDocument/2006/relationships/tags" Target="../tags/tag71.xml"/><Relationship Id="rId1" Type="http://schemas.openxmlformats.org/officeDocument/2006/relationships/vmlDrawing" Target="../drawings/vmlDrawing25.vml"/><Relationship Id="rId6" Type="http://schemas.openxmlformats.org/officeDocument/2006/relationships/notesSlide" Target="../notesSlides/notesSlide19.xml"/><Relationship Id="rId5" Type="http://schemas.openxmlformats.org/officeDocument/2006/relationships/slideLayout" Target="../slideLayouts/slideLayout38.xml"/><Relationship Id="rId4" Type="http://schemas.openxmlformats.org/officeDocument/2006/relationships/tags" Target="../tags/tag73.xml"/><Relationship Id="rId9" Type="http://schemas.openxmlformats.org/officeDocument/2006/relationships/image" Target="../media/image6.emf"/></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74.xml"/><Relationship Id="rId1" Type="http://schemas.openxmlformats.org/officeDocument/2006/relationships/vmlDrawing" Target="../drawings/vmlDrawing26.vml"/><Relationship Id="rId6" Type="http://schemas.openxmlformats.org/officeDocument/2006/relationships/image" Target="../media/image4.emf"/><Relationship Id="rId5" Type="http://schemas.openxmlformats.org/officeDocument/2006/relationships/oleObject" Target="../embeddings/oleObject26.bin"/><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slideLayout" Target="../slideLayouts/slideLayout35.xml"/><Relationship Id="rId1" Type="http://schemas.openxmlformats.org/officeDocument/2006/relationships/tags" Target="../tags/tag75.xml"/></Relationships>
</file>

<file path=ppt/slides/_rels/slide24.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tags" Target="../tags/tag77.xml"/><Relationship Id="rId7" Type="http://schemas.openxmlformats.org/officeDocument/2006/relationships/image" Target="../media/image4.emf"/><Relationship Id="rId2" Type="http://schemas.openxmlformats.org/officeDocument/2006/relationships/tags" Target="../tags/tag76.xml"/><Relationship Id="rId1" Type="http://schemas.openxmlformats.org/officeDocument/2006/relationships/vmlDrawing" Target="../drawings/vmlDrawing27.vml"/><Relationship Id="rId6" Type="http://schemas.openxmlformats.org/officeDocument/2006/relationships/oleObject" Target="../embeddings/oleObject27.bin"/><Relationship Id="rId5" Type="http://schemas.openxmlformats.org/officeDocument/2006/relationships/slideLayout" Target="../slideLayouts/slideLayout35.xml"/><Relationship Id="rId4" Type="http://schemas.openxmlformats.org/officeDocument/2006/relationships/tags" Target="../tags/tag78.xml"/><Relationship Id="rId9" Type="http://schemas.openxmlformats.org/officeDocument/2006/relationships/image" Target="../media/image35.emf"/></Relationships>
</file>

<file path=ppt/slides/_rels/slide25.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tags" Target="../tags/tag80.xml"/><Relationship Id="rId7" Type="http://schemas.openxmlformats.org/officeDocument/2006/relationships/image" Target="../media/image4.emf"/><Relationship Id="rId2" Type="http://schemas.openxmlformats.org/officeDocument/2006/relationships/tags" Target="../tags/tag79.xml"/><Relationship Id="rId1" Type="http://schemas.openxmlformats.org/officeDocument/2006/relationships/vmlDrawing" Target="../drawings/vmlDrawing28.vml"/><Relationship Id="rId6" Type="http://schemas.openxmlformats.org/officeDocument/2006/relationships/oleObject" Target="../embeddings/oleObject28.bin"/><Relationship Id="rId5" Type="http://schemas.openxmlformats.org/officeDocument/2006/relationships/slideLayout" Target="../slideLayouts/slideLayout35.xml"/><Relationship Id="rId4" Type="http://schemas.openxmlformats.org/officeDocument/2006/relationships/tags" Target="../tags/tag81.xml"/><Relationship Id="rId9" Type="http://schemas.openxmlformats.org/officeDocument/2006/relationships/image" Target="../media/image37.e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5.xml"/><Relationship Id="rId1" Type="http://schemas.openxmlformats.org/officeDocument/2006/relationships/tags" Target="../tags/tag82.xml"/><Relationship Id="rId4" Type="http://schemas.openxmlformats.org/officeDocument/2006/relationships/image" Target="../media/image38.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3.xml"/><Relationship Id="rId1" Type="http://schemas.openxmlformats.org/officeDocument/2006/relationships/tags" Target="../tags/tag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ext uri="{D42A27DB-BD31-4B8C-83A1-F6EECF244321}">
                <p14:modId xmlns:p14="http://schemas.microsoft.com/office/powerpoint/2010/main" val="7438497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54244" name="think-cell Slide" r:id="rId6" imgW="498" imgH="499" progId="TCLayout.ActiveDocument.1">
                  <p:embed/>
                </p:oleObj>
              </mc:Choice>
              <mc:Fallback>
                <p:oleObj name="think-cell Slide" r:id="rId6" imgW="498" imgH="499"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5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4" name="Title 3"/>
          <p:cNvSpPr>
            <a:spLocks noGrp="1"/>
          </p:cNvSpPr>
          <p:nvPr>
            <p:ph type="ctrTitle"/>
          </p:nvPr>
        </p:nvSpPr>
        <p:spPr/>
        <p:txBody>
          <a:bodyPr/>
          <a:lstStyle/>
          <a:p>
            <a:r>
              <a:rPr lang="en-CA" sz="8800" noProof="0" dirty="0"/>
              <a:t>Project Yukon	         </a:t>
            </a:r>
            <a:r>
              <a:rPr lang="en-CA" sz="5400" dirty="0"/>
              <a:t>Due diligence assistance</a:t>
            </a:r>
            <a:br>
              <a:rPr lang="en-CA" sz="9600" noProof="0" dirty="0"/>
            </a:br>
            <a:endParaRPr lang="en-CA" sz="6000" noProof="0" dirty="0"/>
          </a:p>
        </p:txBody>
      </p:sp>
      <p:sp>
        <p:nvSpPr>
          <p:cNvPr id="7" name="Subtitle 4"/>
          <p:cNvSpPr txBox="1">
            <a:spLocks/>
          </p:cNvSpPr>
          <p:nvPr/>
        </p:nvSpPr>
        <p:spPr bwMode="gray">
          <a:xfrm>
            <a:off x="2064100" y="3424961"/>
            <a:ext cx="6172700" cy="300221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1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100" kern="1200">
                <a:solidFill>
                  <a:schemeClr val="bg1"/>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baseline="0">
                <a:solidFill>
                  <a:schemeClr val="bg1"/>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CA" dirty="0"/>
          </a:p>
          <a:p>
            <a:endParaRPr lang="en-CA" dirty="0"/>
          </a:p>
          <a:p>
            <a:endParaRPr lang="en-CA" dirty="0"/>
          </a:p>
          <a:p>
            <a:endParaRPr lang="en-CA" dirty="0"/>
          </a:p>
          <a:p>
            <a:endParaRPr lang="en-CA" dirty="0"/>
          </a:p>
          <a:p>
            <a:r>
              <a:rPr lang="en-US" sz="1000" dirty="0"/>
              <a:t>  </a:t>
            </a:r>
            <a:endParaRPr lang="en-CA" dirty="0"/>
          </a:p>
          <a:p>
            <a:r>
              <a:rPr lang="en-CA" dirty="0"/>
              <a:t>Deal Advisory</a:t>
            </a:r>
          </a:p>
          <a:p>
            <a:r>
              <a:rPr lang="en-CA" dirty="0"/>
              <a:t>—</a:t>
            </a:r>
          </a:p>
          <a:p>
            <a:r>
              <a:rPr lang="en-CA" dirty="0"/>
              <a:t>October 6, 2020</a:t>
            </a:r>
          </a:p>
        </p:txBody>
      </p:sp>
    </p:spTree>
    <p:extLst>
      <p:ext uri="{BB962C8B-B14F-4D97-AF65-F5344CB8AC3E}">
        <p14:creationId xmlns:p14="http://schemas.microsoft.com/office/powerpoint/2010/main" val="4003411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p:cNvSpPr>
            <a:spLocks noGrp="1"/>
          </p:cNvSpPr>
          <p:nvPr>
            <p:ph type="title"/>
          </p:nvPr>
        </p:nvSpPr>
        <p:spPr/>
        <p:txBody>
          <a:bodyPr tIns="91440"/>
          <a:lstStyle/>
          <a:p>
            <a:r>
              <a:rPr lang="en-CA" noProof="0" dirty="0"/>
              <a:t>Important notice</a:t>
            </a:r>
          </a:p>
        </p:txBody>
      </p:sp>
      <p:sp>
        <p:nvSpPr>
          <p:cNvPr id="8" name="Text Placeholder 2"/>
          <p:cNvSpPr>
            <a:spLocks noGrp="1"/>
          </p:cNvSpPr>
          <p:nvPr>
            <p:ph type="body" sz="quarter" idx="11"/>
          </p:nvPr>
        </p:nvSpPr>
        <p:spPr>
          <a:xfrm>
            <a:off x="451678" y="1207320"/>
            <a:ext cx="8280400" cy="4644000"/>
          </a:xfrm>
          <a:ln>
            <a:noFill/>
          </a:ln>
        </p:spPr>
        <p:txBody>
          <a:bodyPr lIns="0" tIns="0" rIns="0" bIns="0"/>
          <a:lstStyle/>
          <a:p>
            <a:pPr>
              <a:spcBef>
                <a:spcPts val="600"/>
              </a:spcBef>
            </a:pPr>
            <a:r>
              <a:rPr lang="en-US" sz="1000" b="0" dirty="0">
                <a:latin typeface="Univers for KPMG" panose="020B0603020202020204" pitchFamily="34" charset="0"/>
              </a:rPr>
              <a:t>This report has been prepared by KPMG LLP (“KPMG”) for the internal use of D+H Mortgage Technology Corporation (“Client”) on a confidential basis pursuant to our </a:t>
            </a:r>
            <a:r>
              <a:rPr lang="en-US" sz="1000" b="0" dirty="0">
                <a:solidFill>
                  <a:srgbClr val="00338D"/>
                </a:solidFill>
                <a:latin typeface="Univers for KPMG" panose="020B0603020202020204" pitchFamily="34" charset="0"/>
              </a:rPr>
              <a:t>engagement lett</a:t>
            </a:r>
            <a:r>
              <a:rPr lang="en-US" sz="1000" b="0" dirty="0">
                <a:latin typeface="Univers for KPMG" panose="020B0603020202020204" pitchFamily="34" charset="0"/>
              </a:rPr>
              <a:t>er dated September 9, 2020 </a:t>
            </a:r>
            <a:r>
              <a:rPr lang="en-US" sz="1000" b="0" dirty="0">
                <a:solidFill>
                  <a:srgbClr val="00338D"/>
                </a:solidFill>
                <a:latin typeface="Univers for KPMG" panose="020B0603020202020204" pitchFamily="34" charset="0"/>
              </a:rPr>
              <a:t>(“Engagement Agreement”) and is subject in all respects to the terms and conditions of the Engagement Agreement, including </a:t>
            </a:r>
            <a:r>
              <a:rPr lang="en-US" sz="1000" b="0" dirty="0">
                <a:latin typeface="Univers for KPMG" panose="020B0603020202020204" pitchFamily="34" charset="0"/>
              </a:rPr>
              <a:t>restrictions on use of this report by third parties. This report is being provided to Client on a confidential basis and may not be disclosed to any other person or entity without the express written consent of KPMG and Client.  KPMG neither warrants nor represents that the information contained in this Update is accurate, complete, sufficient or appropriate for use by any person or entity other than Client  or for any purpose other than set out in the Engagement Agreement.  This report may not be relied upon by any person or entity other than Client, and KPMG hereby expressly disclaims any and all responsibility or liability to any person or entity other than Client in connection with their use of this Update.</a:t>
            </a:r>
          </a:p>
          <a:p>
            <a:pPr>
              <a:spcBef>
                <a:spcPts val="600"/>
              </a:spcBef>
            </a:pPr>
            <a:r>
              <a:rPr lang="en-US" sz="1000" b="0" dirty="0">
                <a:latin typeface="Univers for KPMG" panose="020B0603020202020204" pitchFamily="34" charset="0"/>
              </a:rPr>
              <a:t>This engagement is not an assurance engagement conducted in accordance with any generally accepted assurance standards and consequently no assurance opinion is expressed.</a:t>
            </a:r>
          </a:p>
          <a:p>
            <a:pPr lvl="0">
              <a:spcBef>
                <a:spcPts val="600"/>
              </a:spcBef>
              <a:defRPr/>
            </a:pPr>
            <a:r>
              <a:rPr lang="en-US" sz="1000" b="0" dirty="0">
                <a:latin typeface="Univers for KPMG" panose="020B0603020202020204" pitchFamily="34" charset="0"/>
              </a:rPr>
              <a:t>The quality of earnings and working capital analyses are for indicative purposes only. We have sought to illustrate the effect on earnings and working capital of adjusting for those items identified in the course of our work that may be considered to be 'non-recurring' or 'exceptional'. However, the selection and quantification of such adjustments is necessarily judgmental. Because there is no authoritative literature or common standard with respect to the calculation of 'underlying' earnings, there is no basis to state whether all appropriate and comparable adjustments have been made. In addition, while the adjustments may indeed relate to items which are 'non-recurring’ or 'exceptional' or otherwise unrepresentative of the trend, it is possible that earnings and working capital trends for future periods may be affected by such items, which may be different from the historical items.</a:t>
            </a:r>
          </a:p>
        </p:txBody>
      </p:sp>
    </p:spTree>
    <p:extLst>
      <p:ext uri="{BB962C8B-B14F-4D97-AF65-F5344CB8AC3E}">
        <p14:creationId xmlns:p14="http://schemas.microsoft.com/office/powerpoint/2010/main" val="2428098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8"/>
          <p:cNvSpPr>
            <a:spLocks noGrp="1"/>
          </p:cNvSpPr>
          <p:nvPr>
            <p:ph type="body" sz="quarter" idx="4294967295"/>
          </p:nvPr>
        </p:nvSpPr>
        <p:spPr>
          <a:xfrm>
            <a:off x="4643438" y="1232021"/>
            <a:ext cx="4060947" cy="4897846"/>
          </a:xfrm>
          <a:prstGeom prst="rect">
            <a:avLst/>
          </a:prstGeom>
        </p:spPr>
        <p:txBody>
          <a:bodyPr lIns="0" tIns="0" rIns="0" bIns="0"/>
          <a:lstStyle/>
          <a:p>
            <a:pPr lvl="0"/>
            <a:r>
              <a:rPr lang="en-US" sz="800" b="0" dirty="0">
                <a:solidFill>
                  <a:schemeClr val="tx1"/>
                </a:solidFill>
                <a:latin typeface="Univers for KPMG" panose="020B0603020202020204" pitchFamily="34" charset="0"/>
              </a:rPr>
              <a:t>The procedures we performed do not constitute an audit, examination or review in accordance with standards established by the Auditing and Assurance Standards Board (“AASB”) in Canada, and we have not otherwise verified the information we obtained or presented in this report. We express no opinion or any other form of assurance on Target’s internal control over financial reporting or on the information presented in our report, and make no representations concerning its accuracy or completeness.</a:t>
            </a:r>
          </a:p>
          <a:p>
            <a:pPr lvl="0"/>
            <a:r>
              <a:rPr lang="en-US" sz="800" b="0" dirty="0">
                <a:solidFill>
                  <a:schemeClr val="tx1"/>
                </a:solidFill>
                <a:latin typeface="Univers for KPMG" panose="020B0603020202020204" pitchFamily="34" charset="0"/>
              </a:rPr>
              <a:t>We have not compiled, examined, or applied other procedures in accordance with the Assurance and Related Services Guidelines issued by the AASB to prospective information contained in this document and, accordingly, express no opinion or any other form of assurance or representations concerning the accuracy, completeness or presentation format of such prospective information. There will usually be differences between projected and actual results, because events and circumstances frequently do not occur as expected, and those differences may be material.</a:t>
            </a:r>
          </a:p>
          <a:p>
            <a:pPr lvl="0"/>
            <a:r>
              <a:rPr lang="en-US" sz="800" b="0" dirty="0">
                <a:solidFill>
                  <a:schemeClr val="tx1"/>
                </a:solidFill>
                <a:latin typeface="Univers for KPMG" panose="020B0603020202020204" pitchFamily="34" charset="0"/>
              </a:rPr>
              <a:t>The data included in this report was obtained from you and/or Target from September 9, 2020 to October 6, 2020, inclusive. Since many aspects of the transaction with Target have either not been finalized or are not yet documented, changes may occur that materially affect the financial and other information we received and reported to you. We have no obligation to update our report or to revise the information contained herein to reflect events and transactions occurring subsequent to September 25, 2020. We have not reviewed this report with Target Management for the purpose of confirming the factual accuracy of the information we presented.</a:t>
            </a:r>
          </a:p>
          <a:p>
            <a:pPr lvl="0"/>
            <a:r>
              <a:rPr lang="en-US" sz="800" b="0" dirty="0">
                <a:solidFill>
                  <a:schemeClr val="tx1"/>
                </a:solidFill>
                <a:latin typeface="Univers for KPMG" panose="020B0603020202020204" pitchFamily="34" charset="0"/>
              </a:rPr>
              <a:t>Because of its special nature, this report is not suited for any purpose other than to assist Client in its evaluation of Target and, as such and as agreed in the engagement letter, is restricted for your internal use only. Accordingly, KPMG does not accept any liability or responsibility to any third party who may use or place reliance on our report.</a:t>
            </a:r>
          </a:p>
          <a:p>
            <a:pPr lvl="0"/>
            <a:endParaRPr lang="en-US" sz="800" b="0" dirty="0">
              <a:solidFill>
                <a:schemeClr val="tx1"/>
              </a:solidFill>
              <a:latin typeface="Univers for KPMG" panose="020B0603020202020204" pitchFamily="34" charset="0"/>
            </a:endParaRPr>
          </a:p>
          <a:p>
            <a:pPr lvl="0"/>
            <a:r>
              <a:rPr lang="en-US" sz="800" b="0" dirty="0">
                <a:solidFill>
                  <a:schemeClr val="tx1"/>
                </a:solidFill>
                <a:latin typeface="Univers for KPMG" panose="020B0603020202020204" pitchFamily="34" charset="0"/>
              </a:rPr>
              <a:t>Yours truly,</a:t>
            </a:r>
          </a:p>
          <a:p>
            <a:pPr lvl="0"/>
            <a:endParaRPr lang="en-US" sz="800" b="0" dirty="0">
              <a:solidFill>
                <a:schemeClr val="tx1"/>
              </a:solidFill>
              <a:latin typeface="Univers for KPMG" panose="020B0603020202020204" pitchFamily="34" charset="0"/>
            </a:endParaRPr>
          </a:p>
          <a:p>
            <a:pPr lvl="0"/>
            <a:endParaRPr lang="en-US" sz="800" b="0" dirty="0">
              <a:solidFill>
                <a:schemeClr val="tx1"/>
              </a:solidFill>
              <a:latin typeface="Univers for KPMG" panose="020B0603020202020204" pitchFamily="34" charset="0"/>
            </a:endParaRPr>
          </a:p>
          <a:p>
            <a:pPr lvl="0"/>
            <a:endParaRPr lang="en-US" sz="800" b="0" dirty="0">
              <a:solidFill>
                <a:schemeClr val="tx1"/>
              </a:solidFill>
              <a:latin typeface="Univers for KPMG" panose="020B0603020202020204" pitchFamily="34" charset="0"/>
            </a:endParaRPr>
          </a:p>
          <a:p>
            <a:pPr lvl="0"/>
            <a:r>
              <a:rPr lang="en-US" sz="800" b="0" dirty="0">
                <a:solidFill>
                  <a:schemeClr val="tx1"/>
                </a:solidFill>
                <a:latin typeface="Univers for KPMG" panose="020B0603020202020204" pitchFamily="34" charset="0"/>
              </a:rPr>
              <a:t>KPMG LLP</a:t>
            </a:r>
          </a:p>
          <a:p>
            <a:pPr lvl="0"/>
            <a:endParaRPr lang="en-US" sz="800" b="0" dirty="0">
              <a:solidFill>
                <a:schemeClr val="tx1"/>
              </a:solidFill>
              <a:latin typeface="Univers for KPMG" panose="020B0603020202020204" pitchFamily="34" charset="0"/>
            </a:endParaRPr>
          </a:p>
          <a:p>
            <a:pPr lvl="1"/>
            <a:endParaRPr lang="en-CA" b="1" dirty="0">
              <a:solidFill>
                <a:schemeClr val="tx1"/>
              </a:solidFill>
            </a:endParaRPr>
          </a:p>
          <a:p>
            <a:pPr lvl="1"/>
            <a:endParaRPr lang="en-US" b="1" dirty="0">
              <a:solidFill>
                <a:schemeClr val="tx1"/>
              </a:solidFill>
              <a:latin typeface="Univers for KPMG" panose="020B0603020202020204" pitchFamily="34" charset="0"/>
            </a:endParaRPr>
          </a:p>
        </p:txBody>
      </p:sp>
      <p:sp>
        <p:nvSpPr>
          <p:cNvPr id="7" name="Espace réservé du texte 8"/>
          <p:cNvSpPr>
            <a:spLocks noGrp="1"/>
          </p:cNvSpPr>
          <p:nvPr>
            <p:ph type="body" sz="quarter" idx="4294967295"/>
          </p:nvPr>
        </p:nvSpPr>
        <p:spPr>
          <a:xfrm>
            <a:off x="430823" y="1217564"/>
            <a:ext cx="4007976" cy="4524315"/>
          </a:xfrm>
          <a:prstGeom prst="rect">
            <a:avLst/>
          </a:prstGeom>
        </p:spPr>
        <p:txBody>
          <a:bodyPr wrap="square" lIns="0" tIns="0" rIns="0" bIns="0">
            <a:spAutoFit/>
          </a:bodyPr>
          <a:lstStyle/>
          <a:p>
            <a:pPr lvl="0">
              <a:spcAft>
                <a:spcPts val="0"/>
              </a:spcAft>
            </a:pPr>
            <a:r>
              <a:rPr lang="en-CA" sz="800" dirty="0">
                <a:latin typeface="Univers for KPMG" panose="020B0603020202020204" pitchFamily="34" charset="0"/>
              </a:rPr>
              <a:t>Private and confidential</a:t>
            </a:r>
            <a:br>
              <a:rPr lang="en-CA" sz="800" dirty="0">
                <a:solidFill>
                  <a:schemeClr val="tx1"/>
                </a:solidFill>
                <a:latin typeface="Univers for KPMG" panose="020B0603020202020204" pitchFamily="34" charset="0"/>
              </a:rPr>
            </a:br>
            <a:endParaRPr lang="en-CA" sz="800" dirty="0">
              <a:solidFill>
                <a:schemeClr val="tx1"/>
              </a:solidFill>
              <a:latin typeface="Univers for KPMG" panose="020B0603020202020204" pitchFamily="34" charset="0"/>
            </a:endParaRPr>
          </a:p>
          <a:p>
            <a:pPr lvl="1">
              <a:spcAft>
                <a:spcPts val="0"/>
              </a:spcAft>
            </a:pPr>
            <a:r>
              <a:rPr lang="en-US" sz="800" dirty="0">
                <a:solidFill>
                  <a:schemeClr val="tx1"/>
                </a:solidFill>
                <a:latin typeface="Univers for KPMG" panose="020B0603020202020204" pitchFamily="34" charset="0"/>
              </a:rPr>
              <a:t>Mr. Simon Percival</a:t>
            </a:r>
          </a:p>
          <a:p>
            <a:pPr lvl="1">
              <a:spcAft>
                <a:spcPts val="0"/>
              </a:spcAft>
            </a:pPr>
            <a:r>
              <a:rPr lang="en-US" sz="800" dirty="0">
                <a:solidFill>
                  <a:schemeClr val="tx1"/>
                </a:solidFill>
                <a:latin typeface="Univers for KPMG" panose="020B0603020202020204" pitchFamily="34" charset="0"/>
              </a:rPr>
              <a:t>D+H Mortgage Technology Corporation</a:t>
            </a:r>
          </a:p>
          <a:p>
            <a:pPr lvl="1">
              <a:spcAft>
                <a:spcPts val="0"/>
              </a:spcAft>
            </a:pPr>
            <a:r>
              <a:rPr lang="en-US" sz="800" dirty="0">
                <a:solidFill>
                  <a:schemeClr val="tx1"/>
                </a:solidFill>
                <a:latin typeface="Univers for KPMG" panose="020B0603020202020204" pitchFamily="34" charset="0"/>
              </a:rPr>
              <a:t>199 Bay Street, Suite 4400</a:t>
            </a:r>
          </a:p>
          <a:p>
            <a:pPr lvl="1">
              <a:spcAft>
                <a:spcPts val="0"/>
              </a:spcAft>
            </a:pPr>
            <a:r>
              <a:rPr lang="en-US" sz="800" dirty="0">
                <a:solidFill>
                  <a:schemeClr val="tx1"/>
                </a:solidFill>
                <a:latin typeface="Univers for KPMG" panose="020B0603020202020204" pitchFamily="34" charset="0"/>
              </a:rPr>
              <a:t>Toronto, Ontario, Canada</a:t>
            </a:r>
          </a:p>
          <a:p>
            <a:pPr lvl="1">
              <a:spcAft>
                <a:spcPts val="0"/>
              </a:spcAft>
            </a:pPr>
            <a:r>
              <a:rPr lang="en-US" sz="800" dirty="0">
                <a:solidFill>
                  <a:schemeClr val="tx1"/>
                </a:solidFill>
                <a:latin typeface="Univers for KPMG" panose="020B0603020202020204" pitchFamily="34" charset="0"/>
              </a:rPr>
              <a:t>M5L 1E2</a:t>
            </a:r>
          </a:p>
          <a:p>
            <a:pPr lvl="1">
              <a:spcAft>
                <a:spcPts val="0"/>
              </a:spcAft>
            </a:pPr>
            <a:endParaRPr lang="en-US" sz="800" dirty="0">
              <a:solidFill>
                <a:schemeClr val="tx1"/>
              </a:solidFill>
              <a:latin typeface="Univers for KPMG" panose="020B0603020202020204" pitchFamily="34" charset="0"/>
            </a:endParaRPr>
          </a:p>
          <a:p>
            <a:pPr lvl="1"/>
            <a:r>
              <a:rPr lang="en-US" sz="800" dirty="0">
                <a:solidFill>
                  <a:schemeClr val="tx1"/>
                </a:solidFill>
                <a:latin typeface="Univers for KPMG" panose="020B0603020202020204" pitchFamily="34" charset="0"/>
              </a:rPr>
              <a:t>October 6, 2020</a:t>
            </a:r>
          </a:p>
          <a:p>
            <a:pPr lvl="1"/>
            <a:r>
              <a:rPr lang="en-CA" sz="800" dirty="0">
                <a:solidFill>
                  <a:schemeClr val="tx1"/>
                </a:solidFill>
                <a:latin typeface="Univers for KPMG" panose="020B0603020202020204" pitchFamily="34" charset="0"/>
              </a:rPr>
              <a:t>Dear Mr. Percival,</a:t>
            </a:r>
          </a:p>
          <a:p>
            <a:pPr lvl="1"/>
            <a:r>
              <a:rPr lang="en-US" sz="800" b="0" dirty="0">
                <a:solidFill>
                  <a:schemeClr val="tx1"/>
                </a:solidFill>
                <a:latin typeface="Univers for KPMG" panose="020B0603020202020204" pitchFamily="34" charset="0"/>
              </a:rPr>
              <a:t>We have substantially completed certain procedures (quality of earnings analysis) to assist D+H Mortgage Technology Corporation (“Client” or “you”) in performing financial due diligence in connection with your prospective investment (the “Transaction”) in </a:t>
            </a:r>
            <a:r>
              <a:rPr lang="en-US" sz="800" dirty="0">
                <a:solidFill>
                  <a:schemeClr val="tx1"/>
                </a:solidFill>
                <a:latin typeface="Univers for KPMG" panose="020B0603020202020204" pitchFamily="34" charset="0"/>
              </a:rPr>
              <a:t>Moregidge, Inc and </a:t>
            </a:r>
            <a:r>
              <a:rPr lang="en-US" sz="800" b="0" dirty="0">
                <a:solidFill>
                  <a:schemeClr val="tx1"/>
                </a:solidFill>
                <a:latin typeface="Univers for KPMG" panose="020B0603020202020204" pitchFamily="34" charset="0"/>
              </a:rPr>
              <a:t>its subsidiaries (collectively the “Company” or “Target”), in </a:t>
            </a:r>
            <a:r>
              <a:rPr lang="en-US" sz="800" dirty="0">
                <a:solidFill>
                  <a:schemeClr val="tx1"/>
                </a:solidFill>
                <a:latin typeface="Univers for KPMG" panose="020B0603020202020204" pitchFamily="34" charset="0"/>
              </a:rPr>
              <a:t>accordance with the terms of our engagement letter dated September 9, 2020, including its Terms and Conditions. </a:t>
            </a:r>
          </a:p>
          <a:p>
            <a:r>
              <a:rPr lang="en-US" sz="800" dirty="0">
                <a:solidFill>
                  <a:schemeClr val="tx1"/>
                </a:solidFill>
                <a:latin typeface="Univers for KPMG" panose="020B0603020202020204" pitchFamily="34" charset="0"/>
              </a:rPr>
              <a:t>Objective</a:t>
            </a:r>
            <a:endParaRPr lang="en-US" sz="800" b="0" dirty="0">
              <a:solidFill>
                <a:schemeClr val="tx1"/>
              </a:solidFill>
              <a:latin typeface="Univers for KPMG" panose="020B0603020202020204" pitchFamily="34" charset="0"/>
            </a:endParaRPr>
          </a:p>
          <a:p>
            <a:r>
              <a:rPr lang="en-US" sz="800" b="0" dirty="0">
                <a:solidFill>
                  <a:schemeClr val="tx1"/>
                </a:solidFill>
                <a:latin typeface="Univers for KPMG" panose="020B0603020202020204" pitchFamily="34" charset="0"/>
              </a:rPr>
              <a:t>The objective of our engagement was to assist you with your assessment of the risks and opportunities of your prospective acquisition of Target. Our work in this report was based on information provided by you and obtained in an electronic data room, discussions/meetings with Target Management. The primary scope of our engagement was to make inquiries and perform analyses based on information made available to us, directed toward those business activities and related financial data of interest to you. </a:t>
            </a:r>
          </a:p>
          <a:p>
            <a:pPr lvl="1"/>
            <a:r>
              <a:rPr lang="en-US" sz="800" b="1" dirty="0">
                <a:solidFill>
                  <a:schemeClr val="tx1"/>
                </a:solidFill>
                <a:latin typeface="Univers for KPMG" panose="020B0603020202020204" pitchFamily="34" charset="0"/>
              </a:rPr>
              <a:t>Basis of Information</a:t>
            </a:r>
          </a:p>
          <a:p>
            <a:pPr lvl="1"/>
            <a:r>
              <a:rPr lang="en-US" sz="800" dirty="0">
                <a:solidFill>
                  <a:schemeClr val="tx1"/>
                </a:solidFill>
                <a:latin typeface="Univers for KPMG" panose="020B0603020202020204" pitchFamily="34" charset="0"/>
              </a:rPr>
              <a:t>The engagement letter describes the procedures we were to perform. Those procedures were selected by you and were limited in nature and extent to those that you determined best fit your needs. We make no representation regarding the sufficiency for your purposes of the procedures selected, and those procedures will not necessarily disclose all significant matters about Target or reveal errors in the underlying information, instances of fraud, or illegal acts, if any. This report was prepared by us on the basis that you provided us with all relevant information you received concerning Target.</a:t>
            </a:r>
          </a:p>
        </p:txBody>
      </p:sp>
      <p:sp>
        <p:nvSpPr>
          <p:cNvPr id="8" name="Text Box 7"/>
          <p:cNvSpPr txBox="1">
            <a:spLocks noChangeArrowheads="1"/>
          </p:cNvSpPr>
          <p:nvPr/>
        </p:nvSpPr>
        <p:spPr bwMode="auto">
          <a:xfrm>
            <a:off x="1544271" y="333093"/>
            <a:ext cx="1455072" cy="633111"/>
          </a:xfrm>
          <a:prstGeom prst="rect">
            <a:avLst/>
          </a:prstGeom>
          <a:noFill/>
          <a:ln w="6350">
            <a:noFill/>
            <a:miter lim="800000"/>
            <a:headEnd/>
            <a:tailEnd/>
          </a:ln>
        </p:spPr>
        <p:txBody>
          <a:bodyPr wrap="square" lIns="93587" tIns="46794" rIns="93587" bIns="46794">
            <a:spAutoFit/>
          </a:bodyPr>
          <a:lstStyle/>
          <a:p>
            <a:pPr defTabSz="762000" eaLnBrk="0" hangingPunct="0">
              <a:buClr>
                <a:srgbClr val="003399"/>
              </a:buClr>
              <a:buSzPct val="85000"/>
            </a:pPr>
            <a:r>
              <a:rPr lang="en-US" sz="700" b="1" dirty="0">
                <a:solidFill>
                  <a:srgbClr val="00338D"/>
                </a:solidFill>
                <a:latin typeface="Univers for KPMG" panose="020B0603020202020204" pitchFamily="34" charset="0"/>
                <a:cs typeface="Angsana New" pitchFamily="18" charset="-34"/>
              </a:rPr>
              <a:t>KPMG LLP</a:t>
            </a:r>
          </a:p>
          <a:p>
            <a:pPr defTabSz="762000"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Bay Adelaide Centre</a:t>
            </a:r>
          </a:p>
          <a:p>
            <a:pPr defTabSz="762000"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333 Bay Street Suite 4600</a:t>
            </a:r>
          </a:p>
          <a:p>
            <a:pPr defTabSz="762000"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Toronto ON  M5H 2S5</a:t>
            </a:r>
          </a:p>
          <a:p>
            <a:pPr defTabSz="762000"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Canada</a:t>
            </a:r>
          </a:p>
        </p:txBody>
      </p:sp>
      <p:sp>
        <p:nvSpPr>
          <p:cNvPr id="9" name="Text Box 8"/>
          <p:cNvSpPr txBox="1">
            <a:spLocks noChangeArrowheads="1"/>
          </p:cNvSpPr>
          <p:nvPr/>
        </p:nvSpPr>
        <p:spPr bwMode="auto">
          <a:xfrm>
            <a:off x="2547408" y="333093"/>
            <a:ext cx="1891391" cy="568478"/>
          </a:xfrm>
          <a:prstGeom prst="rect">
            <a:avLst/>
          </a:prstGeom>
          <a:noFill/>
          <a:ln w="6350">
            <a:noFill/>
            <a:miter lim="800000"/>
            <a:headEnd/>
            <a:tailEnd/>
          </a:ln>
        </p:spPr>
        <p:txBody>
          <a:bodyPr wrap="none" lIns="93587" tIns="46794" rIns="93587" bIns="46794">
            <a:spAutoFit/>
          </a:bodyPr>
          <a:lstStyle/>
          <a:p>
            <a:pPr indent="457200" defTabSz="485775"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Telephone +1 (416) 777-8500</a:t>
            </a:r>
          </a:p>
          <a:p>
            <a:pPr indent="457200" defTabSz="485775"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Fax +1 (416) 777-8818</a:t>
            </a:r>
          </a:p>
          <a:p>
            <a:pPr indent="457200" defTabSz="485775" eaLnBrk="0" hangingPunct="0">
              <a:buClr>
                <a:srgbClr val="003399"/>
              </a:buClr>
              <a:buSzPct val="85000"/>
              <a:buFont typeface="Times New Roman" pitchFamily="18" charset="0"/>
              <a:buNone/>
            </a:pPr>
            <a:r>
              <a:rPr lang="en-US" sz="700" dirty="0">
                <a:solidFill>
                  <a:srgbClr val="00338D"/>
                </a:solidFill>
                <a:latin typeface="Univers for KPMG" panose="020B0603020202020204" pitchFamily="34" charset="0"/>
                <a:cs typeface="Angsana New" pitchFamily="18" charset="-34"/>
              </a:rPr>
              <a:t>www.kpmg.ca</a:t>
            </a:r>
          </a:p>
          <a:p>
            <a:pPr indent="457200" defTabSz="762000" eaLnBrk="0" hangingPunct="0">
              <a:spcBef>
                <a:spcPct val="40000"/>
              </a:spcBef>
              <a:buClr>
                <a:srgbClr val="003399"/>
              </a:buClr>
              <a:buSzPct val="85000"/>
              <a:buFont typeface="Times New Roman" pitchFamily="18" charset="0"/>
              <a:buNone/>
            </a:pPr>
            <a:endParaRPr lang="en-US" sz="700" dirty="0">
              <a:latin typeface="Univers for KPMG" panose="020B0603020202020204" pitchFamily="34" charset="0"/>
              <a:cs typeface="Angsana New" pitchFamily="18" charset="-34"/>
            </a:endParaRPr>
          </a:p>
        </p:txBody>
      </p:sp>
      <p:grpSp>
        <p:nvGrpSpPr>
          <p:cNvPr id="10" name="Group 9"/>
          <p:cNvGrpSpPr/>
          <p:nvPr/>
        </p:nvGrpSpPr>
        <p:grpSpPr bwMode="gray">
          <a:xfrm>
            <a:off x="368520" y="166294"/>
            <a:ext cx="889489" cy="695325"/>
            <a:chOff x="175518" y="0"/>
            <a:chExt cx="963613" cy="695325"/>
          </a:xfrm>
        </p:grpSpPr>
        <p:sp>
          <p:nvSpPr>
            <p:cNvPr id="11" name="Freeform 6"/>
            <p:cNvSpPr>
              <a:spLocks noEditPoints="1"/>
            </p:cNvSpPr>
            <p:nvPr userDrawn="1"/>
          </p:nvSpPr>
          <p:spPr bwMode="gray">
            <a:xfrm>
              <a:off x="286643" y="215900"/>
              <a:ext cx="700088" cy="271463"/>
            </a:xfrm>
            <a:custGeom>
              <a:avLst/>
              <a:gdLst/>
              <a:ahLst/>
              <a:cxnLst>
                <a:cxn ang="0">
                  <a:pos x="6130" y="2584"/>
                </a:cxn>
                <a:cxn ang="0">
                  <a:pos x="6106" y="2594"/>
                </a:cxn>
                <a:cxn ang="0">
                  <a:pos x="5549" y="2661"/>
                </a:cxn>
                <a:cxn ang="0">
                  <a:pos x="5025" y="2423"/>
                </a:cxn>
                <a:cxn ang="0">
                  <a:pos x="4926" y="2101"/>
                </a:cxn>
                <a:cxn ang="0">
                  <a:pos x="4756" y="2101"/>
                </a:cxn>
                <a:cxn ang="0">
                  <a:pos x="4625" y="2625"/>
                </a:cxn>
                <a:cxn ang="0">
                  <a:pos x="4182" y="2625"/>
                </a:cxn>
                <a:cxn ang="0">
                  <a:pos x="4338" y="2101"/>
                </a:cxn>
                <a:cxn ang="0">
                  <a:pos x="4197" y="2101"/>
                </a:cxn>
                <a:cxn ang="0">
                  <a:pos x="3859" y="2625"/>
                </a:cxn>
                <a:cxn ang="0">
                  <a:pos x="3503" y="2625"/>
                </a:cxn>
                <a:cxn ang="0">
                  <a:pos x="3471" y="2101"/>
                </a:cxn>
                <a:cxn ang="0">
                  <a:pos x="3314" y="2101"/>
                </a:cxn>
                <a:cxn ang="0">
                  <a:pos x="3159" y="2625"/>
                </a:cxn>
                <a:cxn ang="0">
                  <a:pos x="2780" y="2625"/>
                </a:cxn>
                <a:cxn ang="0">
                  <a:pos x="2940" y="2101"/>
                </a:cxn>
                <a:cxn ang="0">
                  <a:pos x="2047" y="2101"/>
                </a:cxn>
                <a:cxn ang="0">
                  <a:pos x="2047" y="2093"/>
                </a:cxn>
                <a:cxn ang="0">
                  <a:pos x="1888" y="2626"/>
                </a:cxn>
                <a:cxn ang="0">
                  <a:pos x="1484" y="2626"/>
                </a:cxn>
                <a:cxn ang="0">
                  <a:pos x="1642" y="2101"/>
                </a:cxn>
                <a:cxn ang="0">
                  <a:pos x="1148" y="2101"/>
                </a:cxn>
                <a:cxn ang="0">
                  <a:pos x="1394" y="2626"/>
                </a:cxn>
                <a:cxn ang="0">
                  <a:pos x="927" y="2626"/>
                </a:cxn>
                <a:cxn ang="0">
                  <a:pos x="715" y="2101"/>
                </a:cxn>
                <a:cxn ang="0">
                  <a:pos x="588" y="2101"/>
                </a:cxn>
                <a:cxn ang="0">
                  <a:pos x="442" y="2583"/>
                </a:cxn>
                <a:cxn ang="0">
                  <a:pos x="434" y="2626"/>
                </a:cxn>
                <a:cxn ang="0">
                  <a:pos x="0" y="2626"/>
                </a:cxn>
                <a:cxn ang="0">
                  <a:pos x="397" y="1303"/>
                </a:cxn>
                <a:cxn ang="0">
                  <a:pos x="397" y="0"/>
                </a:cxn>
                <a:cxn ang="0">
                  <a:pos x="1888" y="0"/>
                </a:cxn>
                <a:cxn ang="0">
                  <a:pos x="1888" y="1287"/>
                </a:cxn>
                <a:cxn ang="0">
                  <a:pos x="1944" y="1098"/>
                </a:cxn>
                <a:cxn ang="0">
                  <a:pos x="2047" y="1098"/>
                </a:cxn>
                <a:cxn ang="0">
                  <a:pos x="2047" y="0"/>
                </a:cxn>
                <a:cxn ang="0">
                  <a:pos x="3534" y="0"/>
                </a:cxn>
                <a:cxn ang="0">
                  <a:pos x="3534" y="1098"/>
                </a:cxn>
                <a:cxn ang="0">
                  <a:pos x="3694" y="1098"/>
                </a:cxn>
                <a:cxn ang="0">
                  <a:pos x="3694" y="0"/>
                </a:cxn>
                <a:cxn ang="0">
                  <a:pos x="5180" y="0"/>
                </a:cxn>
                <a:cxn ang="0">
                  <a:pos x="5180" y="1388"/>
                </a:cxn>
                <a:cxn ang="0">
                  <a:pos x="5340" y="1222"/>
                </a:cxn>
                <a:cxn ang="0">
                  <a:pos x="5340" y="0"/>
                </a:cxn>
                <a:cxn ang="0">
                  <a:pos x="6827" y="0"/>
                </a:cxn>
                <a:cxn ang="0">
                  <a:pos x="6827" y="2101"/>
                </a:cxn>
                <a:cxn ang="0">
                  <a:pos x="6266" y="2101"/>
                </a:cxn>
                <a:cxn ang="0">
                  <a:pos x="6130" y="2584"/>
                </a:cxn>
                <a:cxn ang="0">
                  <a:pos x="5342" y="2101"/>
                </a:cxn>
                <a:cxn ang="0">
                  <a:pos x="5386" y="2264"/>
                </a:cxn>
                <a:cxn ang="0">
                  <a:pos x="5610" y="2349"/>
                </a:cxn>
                <a:cxn ang="0">
                  <a:pos x="5788" y="2330"/>
                </a:cxn>
                <a:cxn ang="0">
                  <a:pos x="5861" y="2101"/>
                </a:cxn>
                <a:cxn ang="0">
                  <a:pos x="5342" y="2101"/>
                </a:cxn>
              </a:cxnLst>
              <a:rect l="0" t="0" r="r" b="b"/>
              <a:pathLst>
                <a:path w="6827" h="2661">
                  <a:moveTo>
                    <a:pt x="6130" y="2584"/>
                  </a:moveTo>
                  <a:cubicBezTo>
                    <a:pt x="6106" y="2594"/>
                    <a:pt x="6106" y="2594"/>
                    <a:pt x="6106" y="2594"/>
                  </a:cubicBezTo>
                  <a:cubicBezTo>
                    <a:pt x="6010" y="2632"/>
                    <a:pt x="5728" y="2661"/>
                    <a:pt x="5549" y="2661"/>
                  </a:cubicBezTo>
                  <a:cubicBezTo>
                    <a:pt x="5381" y="2661"/>
                    <a:pt x="5156" y="2599"/>
                    <a:pt x="5025" y="2423"/>
                  </a:cubicBezTo>
                  <a:cubicBezTo>
                    <a:pt x="4975" y="2355"/>
                    <a:pt x="4927" y="2250"/>
                    <a:pt x="4926" y="2101"/>
                  </a:cubicBezTo>
                  <a:cubicBezTo>
                    <a:pt x="4756" y="2101"/>
                    <a:pt x="4756" y="2101"/>
                    <a:pt x="4756" y="2101"/>
                  </a:cubicBezTo>
                  <a:cubicBezTo>
                    <a:pt x="4625" y="2625"/>
                    <a:pt x="4625" y="2625"/>
                    <a:pt x="4625" y="2625"/>
                  </a:cubicBezTo>
                  <a:cubicBezTo>
                    <a:pt x="4182" y="2625"/>
                    <a:pt x="4182" y="2625"/>
                    <a:pt x="4182" y="2625"/>
                  </a:cubicBezTo>
                  <a:cubicBezTo>
                    <a:pt x="4338" y="2101"/>
                    <a:pt x="4338" y="2101"/>
                    <a:pt x="4338" y="2101"/>
                  </a:cubicBezTo>
                  <a:cubicBezTo>
                    <a:pt x="4197" y="2101"/>
                    <a:pt x="4197" y="2101"/>
                    <a:pt x="4197" y="2101"/>
                  </a:cubicBezTo>
                  <a:cubicBezTo>
                    <a:pt x="3859" y="2625"/>
                    <a:pt x="3859" y="2625"/>
                    <a:pt x="3859" y="2625"/>
                  </a:cubicBezTo>
                  <a:cubicBezTo>
                    <a:pt x="3503" y="2625"/>
                    <a:pt x="3503" y="2625"/>
                    <a:pt x="3503" y="2625"/>
                  </a:cubicBezTo>
                  <a:cubicBezTo>
                    <a:pt x="3471" y="2101"/>
                    <a:pt x="3471" y="2101"/>
                    <a:pt x="3471" y="2101"/>
                  </a:cubicBezTo>
                  <a:cubicBezTo>
                    <a:pt x="3314" y="2101"/>
                    <a:pt x="3314" y="2101"/>
                    <a:pt x="3314" y="2101"/>
                  </a:cubicBezTo>
                  <a:cubicBezTo>
                    <a:pt x="3159" y="2625"/>
                    <a:pt x="3159" y="2625"/>
                    <a:pt x="3159" y="2625"/>
                  </a:cubicBezTo>
                  <a:cubicBezTo>
                    <a:pt x="2780" y="2625"/>
                    <a:pt x="2780" y="2625"/>
                    <a:pt x="2780" y="2625"/>
                  </a:cubicBezTo>
                  <a:cubicBezTo>
                    <a:pt x="2940" y="2101"/>
                    <a:pt x="2940" y="2101"/>
                    <a:pt x="2940" y="2101"/>
                  </a:cubicBezTo>
                  <a:cubicBezTo>
                    <a:pt x="2047" y="2101"/>
                    <a:pt x="2047" y="2101"/>
                    <a:pt x="2047" y="2101"/>
                  </a:cubicBezTo>
                  <a:cubicBezTo>
                    <a:pt x="2047" y="2093"/>
                    <a:pt x="2047" y="2093"/>
                    <a:pt x="2047" y="2093"/>
                  </a:cubicBezTo>
                  <a:cubicBezTo>
                    <a:pt x="1888" y="2626"/>
                    <a:pt x="1888" y="2626"/>
                    <a:pt x="1888" y="2626"/>
                  </a:cubicBezTo>
                  <a:cubicBezTo>
                    <a:pt x="1484" y="2626"/>
                    <a:pt x="1484" y="2626"/>
                    <a:pt x="1484" y="2626"/>
                  </a:cubicBezTo>
                  <a:cubicBezTo>
                    <a:pt x="1642" y="2101"/>
                    <a:pt x="1642" y="2101"/>
                    <a:pt x="1642" y="2101"/>
                  </a:cubicBezTo>
                  <a:cubicBezTo>
                    <a:pt x="1148" y="2101"/>
                    <a:pt x="1148" y="2101"/>
                    <a:pt x="1148" y="2101"/>
                  </a:cubicBezTo>
                  <a:cubicBezTo>
                    <a:pt x="1394" y="2626"/>
                    <a:pt x="1394" y="2626"/>
                    <a:pt x="1394" y="2626"/>
                  </a:cubicBezTo>
                  <a:cubicBezTo>
                    <a:pt x="927" y="2626"/>
                    <a:pt x="927" y="2626"/>
                    <a:pt x="927" y="2626"/>
                  </a:cubicBezTo>
                  <a:cubicBezTo>
                    <a:pt x="715" y="2101"/>
                    <a:pt x="715" y="2101"/>
                    <a:pt x="715" y="2101"/>
                  </a:cubicBezTo>
                  <a:cubicBezTo>
                    <a:pt x="588" y="2101"/>
                    <a:pt x="588" y="2101"/>
                    <a:pt x="588" y="2101"/>
                  </a:cubicBezTo>
                  <a:cubicBezTo>
                    <a:pt x="509" y="2359"/>
                    <a:pt x="447" y="2567"/>
                    <a:pt x="442" y="2583"/>
                  </a:cubicBezTo>
                  <a:cubicBezTo>
                    <a:pt x="434" y="2626"/>
                    <a:pt x="434" y="2626"/>
                    <a:pt x="434" y="2626"/>
                  </a:cubicBezTo>
                  <a:cubicBezTo>
                    <a:pt x="0" y="2626"/>
                    <a:pt x="0" y="2626"/>
                    <a:pt x="0" y="2626"/>
                  </a:cubicBezTo>
                  <a:cubicBezTo>
                    <a:pt x="397" y="1303"/>
                    <a:pt x="397" y="1303"/>
                    <a:pt x="397" y="1303"/>
                  </a:cubicBezTo>
                  <a:cubicBezTo>
                    <a:pt x="397" y="0"/>
                    <a:pt x="397" y="0"/>
                    <a:pt x="397" y="0"/>
                  </a:cubicBezTo>
                  <a:cubicBezTo>
                    <a:pt x="1888" y="0"/>
                    <a:pt x="1888" y="0"/>
                    <a:pt x="1888" y="0"/>
                  </a:cubicBezTo>
                  <a:cubicBezTo>
                    <a:pt x="1888" y="1287"/>
                    <a:pt x="1888" y="1287"/>
                    <a:pt x="1888" y="1287"/>
                  </a:cubicBezTo>
                  <a:cubicBezTo>
                    <a:pt x="1944" y="1098"/>
                    <a:pt x="1944" y="1098"/>
                    <a:pt x="1944" y="1098"/>
                  </a:cubicBezTo>
                  <a:cubicBezTo>
                    <a:pt x="2047" y="1098"/>
                    <a:pt x="2047" y="1098"/>
                    <a:pt x="2047" y="1098"/>
                  </a:cubicBezTo>
                  <a:cubicBezTo>
                    <a:pt x="2047" y="0"/>
                    <a:pt x="2047" y="0"/>
                    <a:pt x="2047" y="0"/>
                  </a:cubicBezTo>
                  <a:cubicBezTo>
                    <a:pt x="3534" y="0"/>
                    <a:pt x="3534" y="0"/>
                    <a:pt x="3534" y="0"/>
                  </a:cubicBezTo>
                  <a:cubicBezTo>
                    <a:pt x="3534" y="1098"/>
                    <a:pt x="3534" y="1098"/>
                    <a:pt x="3534" y="1098"/>
                  </a:cubicBezTo>
                  <a:cubicBezTo>
                    <a:pt x="3694" y="1098"/>
                    <a:pt x="3694" y="1098"/>
                    <a:pt x="3694" y="1098"/>
                  </a:cubicBezTo>
                  <a:cubicBezTo>
                    <a:pt x="3694" y="0"/>
                    <a:pt x="3694" y="0"/>
                    <a:pt x="3694" y="0"/>
                  </a:cubicBezTo>
                  <a:cubicBezTo>
                    <a:pt x="5180" y="0"/>
                    <a:pt x="5180" y="0"/>
                    <a:pt x="5180" y="0"/>
                  </a:cubicBezTo>
                  <a:cubicBezTo>
                    <a:pt x="5180" y="1388"/>
                    <a:pt x="5180" y="1388"/>
                    <a:pt x="5180" y="1388"/>
                  </a:cubicBezTo>
                  <a:cubicBezTo>
                    <a:pt x="5231" y="1319"/>
                    <a:pt x="5285" y="1264"/>
                    <a:pt x="5340" y="1222"/>
                  </a:cubicBezTo>
                  <a:cubicBezTo>
                    <a:pt x="5340" y="0"/>
                    <a:pt x="5340" y="0"/>
                    <a:pt x="5340" y="0"/>
                  </a:cubicBezTo>
                  <a:cubicBezTo>
                    <a:pt x="6827" y="0"/>
                    <a:pt x="6827" y="0"/>
                    <a:pt x="6827" y="0"/>
                  </a:cubicBezTo>
                  <a:cubicBezTo>
                    <a:pt x="6827" y="2101"/>
                    <a:pt x="6827" y="2101"/>
                    <a:pt x="6827" y="2101"/>
                  </a:cubicBezTo>
                  <a:cubicBezTo>
                    <a:pt x="6266" y="2101"/>
                    <a:pt x="6266" y="2101"/>
                    <a:pt x="6266" y="2101"/>
                  </a:cubicBezTo>
                  <a:lnTo>
                    <a:pt x="6130" y="2584"/>
                  </a:lnTo>
                  <a:close/>
                  <a:moveTo>
                    <a:pt x="5342" y="2101"/>
                  </a:moveTo>
                  <a:cubicBezTo>
                    <a:pt x="5344" y="2169"/>
                    <a:pt x="5356" y="2226"/>
                    <a:pt x="5386" y="2264"/>
                  </a:cubicBezTo>
                  <a:cubicBezTo>
                    <a:pt x="5429" y="2321"/>
                    <a:pt x="5503" y="2349"/>
                    <a:pt x="5610" y="2349"/>
                  </a:cubicBezTo>
                  <a:cubicBezTo>
                    <a:pt x="5728" y="2349"/>
                    <a:pt x="5773" y="2336"/>
                    <a:pt x="5788" y="2330"/>
                  </a:cubicBezTo>
                  <a:cubicBezTo>
                    <a:pt x="5861" y="2101"/>
                    <a:pt x="5861" y="2101"/>
                    <a:pt x="5861" y="2101"/>
                  </a:cubicBezTo>
                  <a:lnTo>
                    <a:pt x="5342" y="2101"/>
                  </a:lnTo>
                  <a:close/>
                </a:path>
              </a:pathLst>
            </a:custGeom>
            <a:solidFill>
              <a:srgbClr val="00338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2" name="Freeform 7"/>
            <p:cNvSpPr>
              <a:spLocks noEditPoints="1"/>
            </p:cNvSpPr>
            <p:nvPr userDrawn="1"/>
          </p:nvSpPr>
          <p:spPr bwMode="gray">
            <a:xfrm>
              <a:off x="294581" y="330200"/>
              <a:ext cx="650875" cy="152400"/>
            </a:xfrm>
            <a:custGeom>
              <a:avLst/>
              <a:gdLst/>
              <a:ahLst/>
              <a:cxnLst>
                <a:cxn ang="0">
                  <a:pos x="2581" y="459"/>
                </a:cxn>
                <a:cxn ang="0">
                  <a:pos x="2254" y="682"/>
                </a:cxn>
                <a:cxn ang="0">
                  <a:pos x="2000" y="681"/>
                </a:cxn>
                <a:cxn ang="0">
                  <a:pos x="2130" y="234"/>
                </a:cxn>
                <a:cxn ang="0">
                  <a:pos x="2581" y="459"/>
                </a:cxn>
                <a:cxn ang="0">
                  <a:pos x="749" y="30"/>
                </a:cxn>
                <a:cxn ang="0">
                  <a:pos x="427" y="30"/>
                </a:cxn>
                <a:cxn ang="0">
                  <a:pos x="0" y="1452"/>
                </a:cxn>
                <a:cxn ang="0">
                  <a:pos x="319" y="1452"/>
                </a:cxn>
                <a:cxn ang="0">
                  <a:pos x="749" y="30"/>
                </a:cxn>
                <a:cxn ang="0">
                  <a:pos x="1585" y="30"/>
                </a:cxn>
                <a:cxn ang="0">
                  <a:pos x="1194" y="30"/>
                </a:cxn>
                <a:cxn ang="0">
                  <a:pos x="571" y="658"/>
                </a:cxn>
                <a:cxn ang="0">
                  <a:pos x="571" y="657"/>
                </a:cxn>
                <a:cxn ang="0">
                  <a:pos x="571" y="658"/>
                </a:cxn>
                <a:cxn ang="0">
                  <a:pos x="571" y="658"/>
                </a:cxn>
                <a:cxn ang="0">
                  <a:pos x="571" y="658"/>
                </a:cxn>
                <a:cxn ang="0">
                  <a:pos x="571" y="658"/>
                </a:cxn>
                <a:cxn ang="0">
                  <a:pos x="571" y="658"/>
                </a:cxn>
                <a:cxn ang="0">
                  <a:pos x="892" y="1452"/>
                </a:cxn>
                <a:cxn ang="0">
                  <a:pos x="1239" y="1452"/>
                </a:cxn>
                <a:cxn ang="0">
                  <a:pos x="881" y="688"/>
                </a:cxn>
                <a:cxn ang="0">
                  <a:pos x="1585" y="30"/>
                </a:cxn>
                <a:cxn ang="0">
                  <a:pos x="2875" y="459"/>
                </a:cxn>
                <a:cxn ang="0">
                  <a:pos x="2275" y="30"/>
                </a:cxn>
                <a:cxn ang="0">
                  <a:pos x="1913" y="30"/>
                </a:cxn>
                <a:cxn ang="0">
                  <a:pos x="1484" y="1452"/>
                </a:cxn>
                <a:cxn ang="0">
                  <a:pos x="1777" y="1452"/>
                </a:cxn>
                <a:cxn ang="0">
                  <a:pos x="1945" y="890"/>
                </a:cxn>
                <a:cxn ang="0">
                  <a:pos x="2179" y="890"/>
                </a:cxn>
                <a:cxn ang="0">
                  <a:pos x="2875" y="459"/>
                </a:cxn>
                <a:cxn ang="0">
                  <a:pos x="4866" y="30"/>
                </a:cxn>
                <a:cxn ang="0">
                  <a:pos x="4400" y="30"/>
                </a:cxn>
                <a:cxn ang="0">
                  <a:pos x="3694" y="1259"/>
                </a:cxn>
                <a:cxn ang="0">
                  <a:pos x="3678" y="30"/>
                </a:cxn>
                <a:cxn ang="0">
                  <a:pos x="3216" y="30"/>
                </a:cxn>
                <a:cxn ang="0">
                  <a:pos x="2781" y="1451"/>
                </a:cxn>
                <a:cxn ang="0">
                  <a:pos x="3048" y="1451"/>
                </a:cxn>
                <a:cxn ang="0">
                  <a:pos x="3408" y="234"/>
                </a:cxn>
                <a:cxn ang="0">
                  <a:pos x="3482" y="1451"/>
                </a:cxn>
                <a:cxn ang="0">
                  <a:pos x="3758" y="1451"/>
                </a:cxn>
                <a:cxn ang="0">
                  <a:pos x="4544" y="234"/>
                </a:cxn>
                <a:cxn ang="0">
                  <a:pos x="4183" y="1451"/>
                </a:cxn>
                <a:cxn ang="0">
                  <a:pos x="4512" y="1451"/>
                </a:cxn>
                <a:cxn ang="0">
                  <a:pos x="4866" y="30"/>
                </a:cxn>
                <a:cxn ang="0">
                  <a:pos x="5792" y="0"/>
                </a:cxn>
                <a:cxn ang="0">
                  <a:pos x="4947" y="735"/>
                </a:cxn>
                <a:cxn ang="0">
                  <a:pos x="5478" y="1487"/>
                </a:cxn>
                <a:cxn ang="0">
                  <a:pos x="6015" y="1424"/>
                </a:cxn>
                <a:cxn ang="0">
                  <a:pos x="6217" y="706"/>
                </a:cxn>
                <a:cxn ang="0">
                  <a:pos x="5614" y="706"/>
                </a:cxn>
                <a:cxn ang="0">
                  <a:pos x="5547" y="920"/>
                </a:cxn>
                <a:cxn ang="0">
                  <a:pos x="5865" y="920"/>
                </a:cxn>
                <a:cxn ang="0">
                  <a:pos x="5766" y="1232"/>
                </a:cxn>
                <a:cxn ang="0">
                  <a:pos x="5540" y="1282"/>
                </a:cxn>
                <a:cxn ang="0">
                  <a:pos x="5254" y="727"/>
                </a:cxn>
                <a:cxn ang="0">
                  <a:pos x="5764" y="205"/>
                </a:cxn>
                <a:cxn ang="0">
                  <a:pos x="6001" y="451"/>
                </a:cxn>
                <a:cxn ang="0">
                  <a:pos x="5991" y="487"/>
                </a:cxn>
                <a:cxn ang="0">
                  <a:pos x="6284" y="487"/>
                </a:cxn>
                <a:cxn ang="0">
                  <a:pos x="5792" y="0"/>
                </a:cxn>
              </a:cxnLst>
              <a:rect l="0" t="0" r="r" b="b"/>
              <a:pathLst>
                <a:path w="6358" h="1487">
                  <a:moveTo>
                    <a:pt x="2581" y="459"/>
                  </a:moveTo>
                  <a:cubicBezTo>
                    <a:pt x="2533" y="604"/>
                    <a:pt x="2468" y="678"/>
                    <a:pt x="2254" y="682"/>
                  </a:cubicBezTo>
                  <a:cubicBezTo>
                    <a:pt x="2183" y="683"/>
                    <a:pt x="2106" y="681"/>
                    <a:pt x="2000" y="681"/>
                  </a:cubicBezTo>
                  <a:cubicBezTo>
                    <a:pt x="2130" y="234"/>
                    <a:pt x="2130" y="234"/>
                    <a:pt x="2130" y="234"/>
                  </a:cubicBezTo>
                  <a:cubicBezTo>
                    <a:pt x="2451" y="234"/>
                    <a:pt x="2665" y="208"/>
                    <a:pt x="2581" y="459"/>
                  </a:cubicBezTo>
                  <a:moveTo>
                    <a:pt x="749" y="30"/>
                  </a:moveTo>
                  <a:cubicBezTo>
                    <a:pt x="427" y="30"/>
                    <a:pt x="427" y="30"/>
                    <a:pt x="427" y="30"/>
                  </a:cubicBezTo>
                  <a:cubicBezTo>
                    <a:pt x="0" y="1452"/>
                    <a:pt x="0" y="1452"/>
                    <a:pt x="0" y="1452"/>
                  </a:cubicBezTo>
                  <a:cubicBezTo>
                    <a:pt x="319" y="1452"/>
                    <a:pt x="319" y="1452"/>
                    <a:pt x="319" y="1452"/>
                  </a:cubicBezTo>
                  <a:cubicBezTo>
                    <a:pt x="325" y="1422"/>
                    <a:pt x="749" y="30"/>
                    <a:pt x="749" y="30"/>
                  </a:cubicBezTo>
                  <a:moveTo>
                    <a:pt x="1585" y="30"/>
                  </a:moveTo>
                  <a:cubicBezTo>
                    <a:pt x="1194" y="30"/>
                    <a:pt x="1194" y="30"/>
                    <a:pt x="1194" y="30"/>
                  </a:cubicBezTo>
                  <a:cubicBezTo>
                    <a:pt x="571" y="658"/>
                    <a:pt x="571" y="658"/>
                    <a:pt x="571" y="658"/>
                  </a:cubicBezTo>
                  <a:cubicBezTo>
                    <a:pt x="571" y="657"/>
                    <a:pt x="571" y="657"/>
                    <a:pt x="571" y="657"/>
                  </a:cubicBezTo>
                  <a:cubicBezTo>
                    <a:pt x="571" y="658"/>
                    <a:pt x="571" y="658"/>
                    <a:pt x="571" y="658"/>
                  </a:cubicBezTo>
                  <a:cubicBezTo>
                    <a:pt x="571" y="658"/>
                    <a:pt x="571" y="658"/>
                    <a:pt x="571" y="658"/>
                  </a:cubicBezTo>
                  <a:cubicBezTo>
                    <a:pt x="571" y="658"/>
                    <a:pt x="571" y="658"/>
                    <a:pt x="571" y="658"/>
                  </a:cubicBezTo>
                  <a:cubicBezTo>
                    <a:pt x="571" y="658"/>
                    <a:pt x="571" y="658"/>
                    <a:pt x="571" y="658"/>
                  </a:cubicBezTo>
                  <a:cubicBezTo>
                    <a:pt x="571" y="658"/>
                    <a:pt x="571" y="658"/>
                    <a:pt x="571" y="658"/>
                  </a:cubicBezTo>
                  <a:cubicBezTo>
                    <a:pt x="892" y="1452"/>
                    <a:pt x="892" y="1452"/>
                    <a:pt x="892" y="1452"/>
                  </a:cubicBezTo>
                  <a:cubicBezTo>
                    <a:pt x="1239" y="1452"/>
                    <a:pt x="1239" y="1452"/>
                    <a:pt x="1239" y="1452"/>
                  </a:cubicBezTo>
                  <a:cubicBezTo>
                    <a:pt x="881" y="688"/>
                    <a:pt x="881" y="688"/>
                    <a:pt x="881" y="688"/>
                  </a:cubicBezTo>
                  <a:lnTo>
                    <a:pt x="1585" y="30"/>
                  </a:lnTo>
                  <a:close/>
                  <a:moveTo>
                    <a:pt x="2875" y="459"/>
                  </a:moveTo>
                  <a:cubicBezTo>
                    <a:pt x="2956" y="21"/>
                    <a:pt x="2603" y="26"/>
                    <a:pt x="2275" y="30"/>
                  </a:cubicBezTo>
                  <a:cubicBezTo>
                    <a:pt x="1913" y="30"/>
                    <a:pt x="1913" y="30"/>
                    <a:pt x="1913" y="30"/>
                  </a:cubicBezTo>
                  <a:cubicBezTo>
                    <a:pt x="1484" y="1452"/>
                    <a:pt x="1484" y="1452"/>
                    <a:pt x="1484" y="1452"/>
                  </a:cubicBezTo>
                  <a:cubicBezTo>
                    <a:pt x="1777" y="1452"/>
                    <a:pt x="1777" y="1452"/>
                    <a:pt x="1777" y="1452"/>
                  </a:cubicBezTo>
                  <a:cubicBezTo>
                    <a:pt x="1945" y="890"/>
                    <a:pt x="1945" y="890"/>
                    <a:pt x="1945" y="890"/>
                  </a:cubicBezTo>
                  <a:cubicBezTo>
                    <a:pt x="2179" y="890"/>
                    <a:pt x="2179" y="890"/>
                    <a:pt x="2179" y="890"/>
                  </a:cubicBezTo>
                  <a:cubicBezTo>
                    <a:pt x="2633" y="890"/>
                    <a:pt x="2833" y="689"/>
                    <a:pt x="2875" y="459"/>
                  </a:cubicBezTo>
                  <a:moveTo>
                    <a:pt x="4866" y="30"/>
                  </a:moveTo>
                  <a:cubicBezTo>
                    <a:pt x="4400" y="30"/>
                    <a:pt x="4400" y="30"/>
                    <a:pt x="4400" y="30"/>
                  </a:cubicBezTo>
                  <a:cubicBezTo>
                    <a:pt x="3832" y="817"/>
                    <a:pt x="3694" y="1259"/>
                    <a:pt x="3694" y="1259"/>
                  </a:cubicBezTo>
                  <a:cubicBezTo>
                    <a:pt x="3749" y="759"/>
                    <a:pt x="3678" y="30"/>
                    <a:pt x="3678" y="30"/>
                  </a:cubicBezTo>
                  <a:cubicBezTo>
                    <a:pt x="3216" y="30"/>
                    <a:pt x="3216" y="30"/>
                    <a:pt x="3216" y="30"/>
                  </a:cubicBezTo>
                  <a:cubicBezTo>
                    <a:pt x="2781" y="1451"/>
                    <a:pt x="2781" y="1451"/>
                    <a:pt x="2781" y="1451"/>
                  </a:cubicBezTo>
                  <a:cubicBezTo>
                    <a:pt x="3048" y="1451"/>
                    <a:pt x="3048" y="1451"/>
                    <a:pt x="3048" y="1451"/>
                  </a:cubicBezTo>
                  <a:cubicBezTo>
                    <a:pt x="3408" y="234"/>
                    <a:pt x="3408" y="234"/>
                    <a:pt x="3408" y="234"/>
                  </a:cubicBezTo>
                  <a:cubicBezTo>
                    <a:pt x="3482" y="1451"/>
                    <a:pt x="3482" y="1451"/>
                    <a:pt x="3482" y="1451"/>
                  </a:cubicBezTo>
                  <a:cubicBezTo>
                    <a:pt x="3758" y="1451"/>
                    <a:pt x="3758" y="1451"/>
                    <a:pt x="3758" y="1451"/>
                  </a:cubicBezTo>
                  <a:cubicBezTo>
                    <a:pt x="4544" y="234"/>
                    <a:pt x="4544" y="234"/>
                    <a:pt x="4544" y="234"/>
                  </a:cubicBezTo>
                  <a:cubicBezTo>
                    <a:pt x="4183" y="1451"/>
                    <a:pt x="4183" y="1451"/>
                    <a:pt x="4183" y="1451"/>
                  </a:cubicBezTo>
                  <a:cubicBezTo>
                    <a:pt x="4512" y="1451"/>
                    <a:pt x="4512" y="1451"/>
                    <a:pt x="4512" y="1451"/>
                  </a:cubicBezTo>
                  <a:lnTo>
                    <a:pt x="4866" y="30"/>
                  </a:lnTo>
                  <a:close/>
                  <a:moveTo>
                    <a:pt x="5792" y="0"/>
                  </a:moveTo>
                  <a:cubicBezTo>
                    <a:pt x="5506" y="0"/>
                    <a:pt x="5151" y="64"/>
                    <a:pt x="4947" y="735"/>
                  </a:cubicBezTo>
                  <a:cubicBezTo>
                    <a:pt x="4777" y="1296"/>
                    <a:pt x="5191" y="1487"/>
                    <a:pt x="5478" y="1487"/>
                  </a:cubicBezTo>
                  <a:cubicBezTo>
                    <a:pt x="5667" y="1487"/>
                    <a:pt x="5935" y="1455"/>
                    <a:pt x="6015" y="1424"/>
                  </a:cubicBezTo>
                  <a:cubicBezTo>
                    <a:pt x="6217" y="706"/>
                    <a:pt x="6217" y="706"/>
                    <a:pt x="6217" y="706"/>
                  </a:cubicBezTo>
                  <a:cubicBezTo>
                    <a:pt x="5614" y="706"/>
                    <a:pt x="5614" y="706"/>
                    <a:pt x="5614" y="706"/>
                  </a:cubicBezTo>
                  <a:cubicBezTo>
                    <a:pt x="5547" y="920"/>
                    <a:pt x="5547" y="920"/>
                    <a:pt x="5547" y="920"/>
                  </a:cubicBezTo>
                  <a:cubicBezTo>
                    <a:pt x="5865" y="920"/>
                    <a:pt x="5865" y="920"/>
                    <a:pt x="5865" y="920"/>
                  </a:cubicBezTo>
                  <a:cubicBezTo>
                    <a:pt x="5766" y="1232"/>
                    <a:pt x="5766" y="1232"/>
                    <a:pt x="5766" y="1232"/>
                  </a:cubicBezTo>
                  <a:cubicBezTo>
                    <a:pt x="5766" y="1232"/>
                    <a:pt x="5779" y="1281"/>
                    <a:pt x="5540" y="1282"/>
                  </a:cubicBezTo>
                  <a:cubicBezTo>
                    <a:pt x="5238" y="1283"/>
                    <a:pt x="5155" y="1072"/>
                    <a:pt x="5254" y="727"/>
                  </a:cubicBezTo>
                  <a:cubicBezTo>
                    <a:pt x="5346" y="407"/>
                    <a:pt x="5493" y="192"/>
                    <a:pt x="5764" y="205"/>
                  </a:cubicBezTo>
                  <a:cubicBezTo>
                    <a:pt x="5947" y="214"/>
                    <a:pt x="6052" y="282"/>
                    <a:pt x="6001" y="451"/>
                  </a:cubicBezTo>
                  <a:cubicBezTo>
                    <a:pt x="5998" y="463"/>
                    <a:pt x="5996" y="477"/>
                    <a:pt x="5991" y="487"/>
                  </a:cubicBezTo>
                  <a:cubicBezTo>
                    <a:pt x="6284" y="487"/>
                    <a:pt x="6284" y="487"/>
                    <a:pt x="6284" y="487"/>
                  </a:cubicBezTo>
                  <a:cubicBezTo>
                    <a:pt x="6358" y="270"/>
                    <a:pt x="6210" y="0"/>
                    <a:pt x="5792" y="0"/>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3" name="Freeform 8"/>
            <p:cNvSpPr>
              <a:spLocks noEditPoints="1"/>
            </p:cNvSpPr>
            <p:nvPr userDrawn="1"/>
          </p:nvSpPr>
          <p:spPr bwMode="gray">
            <a:xfrm>
              <a:off x="175518" y="0"/>
              <a:ext cx="963613" cy="695325"/>
            </a:xfrm>
            <a:custGeom>
              <a:avLst/>
              <a:gdLst/>
              <a:ahLst/>
              <a:cxnLst>
                <a:cxn ang="0">
                  <a:pos x="607" y="136"/>
                </a:cxn>
                <a:cxn ang="0">
                  <a:pos x="511" y="136"/>
                </a:cxn>
                <a:cxn ang="0">
                  <a:pos x="511" y="0"/>
                </a:cxn>
                <a:cxn ang="0">
                  <a:pos x="607" y="0"/>
                </a:cxn>
                <a:cxn ang="0">
                  <a:pos x="607" y="136"/>
                </a:cxn>
                <a:cxn ang="0">
                  <a:pos x="607" y="302"/>
                </a:cxn>
                <a:cxn ang="0">
                  <a:pos x="511" y="302"/>
                </a:cxn>
                <a:cxn ang="0">
                  <a:pos x="511" y="438"/>
                </a:cxn>
                <a:cxn ang="0">
                  <a:pos x="607" y="438"/>
                </a:cxn>
                <a:cxn ang="0">
                  <a:pos x="607" y="302"/>
                </a:cxn>
                <a:cxn ang="0">
                  <a:pos x="96" y="0"/>
                </a:cxn>
                <a:cxn ang="0">
                  <a:pos x="0" y="0"/>
                </a:cxn>
                <a:cxn ang="0">
                  <a:pos x="0" y="136"/>
                </a:cxn>
                <a:cxn ang="0">
                  <a:pos x="96" y="136"/>
                </a:cxn>
                <a:cxn ang="0">
                  <a:pos x="96" y="0"/>
                </a:cxn>
                <a:cxn ang="0">
                  <a:pos x="96" y="302"/>
                </a:cxn>
                <a:cxn ang="0">
                  <a:pos x="0" y="302"/>
                </a:cxn>
                <a:cxn ang="0">
                  <a:pos x="0" y="438"/>
                </a:cxn>
                <a:cxn ang="0">
                  <a:pos x="96" y="438"/>
                </a:cxn>
                <a:cxn ang="0">
                  <a:pos x="96" y="302"/>
                </a:cxn>
              </a:cxnLst>
              <a:rect l="0" t="0" r="r" b="b"/>
              <a:pathLst>
                <a:path w="607" h="438">
                  <a:moveTo>
                    <a:pt x="607" y="136"/>
                  </a:moveTo>
                  <a:lnTo>
                    <a:pt x="511" y="136"/>
                  </a:lnTo>
                  <a:lnTo>
                    <a:pt x="511" y="0"/>
                  </a:lnTo>
                  <a:lnTo>
                    <a:pt x="607" y="0"/>
                  </a:lnTo>
                  <a:lnTo>
                    <a:pt x="607" y="136"/>
                  </a:lnTo>
                  <a:close/>
                  <a:moveTo>
                    <a:pt x="607" y="302"/>
                  </a:moveTo>
                  <a:lnTo>
                    <a:pt x="511" y="302"/>
                  </a:lnTo>
                  <a:lnTo>
                    <a:pt x="511" y="438"/>
                  </a:lnTo>
                  <a:lnTo>
                    <a:pt x="607" y="438"/>
                  </a:lnTo>
                  <a:lnTo>
                    <a:pt x="607" y="302"/>
                  </a:lnTo>
                  <a:close/>
                  <a:moveTo>
                    <a:pt x="96" y="0"/>
                  </a:moveTo>
                  <a:lnTo>
                    <a:pt x="0" y="0"/>
                  </a:lnTo>
                  <a:lnTo>
                    <a:pt x="0" y="136"/>
                  </a:lnTo>
                  <a:lnTo>
                    <a:pt x="96" y="136"/>
                  </a:lnTo>
                  <a:lnTo>
                    <a:pt x="96" y="0"/>
                  </a:lnTo>
                  <a:close/>
                  <a:moveTo>
                    <a:pt x="96" y="302"/>
                  </a:moveTo>
                  <a:lnTo>
                    <a:pt x="0" y="302"/>
                  </a:lnTo>
                  <a:lnTo>
                    <a:pt x="0" y="438"/>
                  </a:lnTo>
                  <a:lnTo>
                    <a:pt x="96" y="438"/>
                  </a:lnTo>
                  <a:lnTo>
                    <a:pt x="96" y="302"/>
                  </a:lnTo>
                  <a:close/>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14" name="ZoneTexte 11">
            <a:extLst>
              <a:ext uri="{FF2B5EF4-FFF2-40B4-BE49-F238E27FC236}">
                <a16:creationId xmlns:a16="http://schemas.microsoft.com/office/drawing/2014/main" id="{7577DE97-5A75-4378-A31E-1D92352C56FC}"/>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pic>
        <p:nvPicPr>
          <p:cNvPr id="3" name="Picture 2">
            <a:extLst>
              <a:ext uri="{FF2B5EF4-FFF2-40B4-BE49-F238E27FC236}">
                <a16:creationId xmlns:a16="http://schemas.microsoft.com/office/drawing/2014/main" id="{C5768F27-A82F-4D0A-A8AE-BFADAD786A9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0" y="5367867"/>
            <a:ext cx="1426132" cy="482600"/>
          </a:xfrm>
          <a:prstGeom prst="rect">
            <a:avLst/>
          </a:prstGeom>
        </p:spPr>
      </p:pic>
    </p:spTree>
    <p:extLst>
      <p:ext uri="{BB962C8B-B14F-4D97-AF65-F5344CB8AC3E}">
        <p14:creationId xmlns:p14="http://schemas.microsoft.com/office/powerpoint/2010/main" val="33158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5"/>
          <p:cNvSpPr>
            <a:spLocks noGrp="1"/>
          </p:cNvSpPr>
          <p:nvPr>
            <p:ph type="title"/>
          </p:nvPr>
        </p:nvSpPr>
        <p:spPr>
          <a:xfrm>
            <a:off x="431800" y="228600"/>
            <a:ext cx="8280400" cy="784830"/>
          </a:xfrm>
        </p:spPr>
        <p:txBody>
          <a:bodyPr/>
          <a:lstStyle/>
          <a:p>
            <a:r>
              <a:rPr lang="en-CA" sz="2400" dirty="0">
                <a:solidFill>
                  <a:schemeClr val="bg1"/>
                </a:solidFill>
              </a:rPr>
              <a:t>.</a:t>
            </a:r>
            <a:br>
              <a:rPr lang="en-CA" dirty="0"/>
            </a:br>
            <a:r>
              <a:rPr lang="en-CA" sz="4400" dirty="0"/>
              <a:t>Contents</a:t>
            </a:r>
          </a:p>
        </p:txBody>
      </p:sp>
      <p:graphicFrame>
        <p:nvGraphicFramePr>
          <p:cNvPr id="5" name="Group 2"/>
          <p:cNvGraphicFramePr>
            <a:graphicFrameLocks noGrp="1"/>
          </p:cNvGraphicFramePr>
          <p:nvPr>
            <p:extLst>
              <p:ext uri="{D42A27DB-BD31-4B8C-83A1-F6EECF244321}">
                <p14:modId xmlns:p14="http://schemas.microsoft.com/office/powerpoint/2010/main" val="1842653247"/>
              </p:ext>
            </p:extLst>
          </p:nvPr>
        </p:nvGraphicFramePr>
        <p:xfrm>
          <a:off x="992038" y="1193075"/>
          <a:ext cx="7203056" cy="3040200"/>
        </p:xfrm>
        <a:graphic>
          <a:graphicData uri="http://schemas.openxmlformats.org/drawingml/2006/table">
            <a:tbl>
              <a:tblPr/>
              <a:tblGrid>
                <a:gridCol w="5986661">
                  <a:extLst>
                    <a:ext uri="{9D8B030D-6E8A-4147-A177-3AD203B41FA5}">
                      <a16:colId xmlns:a16="http://schemas.microsoft.com/office/drawing/2014/main" val="20000"/>
                    </a:ext>
                  </a:extLst>
                </a:gridCol>
                <a:gridCol w="1216395">
                  <a:extLst>
                    <a:ext uri="{9D8B030D-6E8A-4147-A177-3AD203B41FA5}">
                      <a16:colId xmlns:a16="http://schemas.microsoft.com/office/drawing/2014/main" val="20001"/>
                    </a:ext>
                  </a:extLst>
                </a:gridCol>
              </a:tblGrid>
              <a:tr h="0">
                <a:tc>
                  <a:txBody>
                    <a:bodyPr/>
                    <a:lstStyle/>
                    <a:p>
                      <a:pPr marL="0" marR="0" lvl="0" indent="0" algn="l" defTabSz="762000" rtl="0" eaLnBrk="1" fontAlgn="base" latinLnBrk="0" hangingPunct="1">
                        <a:lnSpc>
                          <a:spcPct val="100000"/>
                        </a:lnSpc>
                        <a:spcBef>
                          <a:spcPct val="40000"/>
                        </a:spcBef>
                        <a:spcAft>
                          <a:spcPct val="0"/>
                        </a:spcAft>
                        <a:buClrTx/>
                        <a:buSzTx/>
                        <a:buFontTx/>
                        <a:buNone/>
                        <a:tabLst/>
                      </a:pPr>
                      <a:endParaRPr kumimoji="0" lang="en-CA" sz="1050" b="1" i="1" u="none" strike="noStrike" cap="none" normalizeH="0" baseline="0" noProof="0" dirty="0">
                        <a:ln>
                          <a:noFill/>
                        </a:ln>
                        <a:solidFill>
                          <a:srgbClr val="00338D"/>
                        </a:solidFill>
                        <a:effectLst/>
                        <a:latin typeface="Univers for KPMG" panose="020B0603020202020204" pitchFamily="34" charset="0"/>
                        <a:cs typeface="Univers for KPMG"/>
                      </a:endParaRPr>
                    </a:p>
                  </a:txBody>
                  <a:tcPr marL="72000" marR="72000" marT="72000" marB="72000" anchor="ctr" horzOverflow="overflow">
                    <a:lnL cap="flat">
                      <a:noFill/>
                    </a:lnL>
                    <a:lnR>
                      <a:noFill/>
                    </a:lnR>
                    <a:lnT cap="flat">
                      <a:noFill/>
                    </a:lnT>
                    <a:lnB>
                      <a:noFill/>
                    </a:lnB>
                    <a:lnTlToBr>
                      <a:noFill/>
                    </a:lnTlToBr>
                    <a:lnBlToTr>
                      <a:noFill/>
                    </a:lnBlToTr>
                    <a:noFill/>
                  </a:tcPr>
                </a:tc>
                <a:tc>
                  <a:txBody>
                    <a:bodyPr/>
                    <a:lstStyle/>
                    <a:p>
                      <a:pPr marL="0" marR="0" lvl="0" indent="0" algn="r" defTabSz="762000" rtl="0" eaLnBrk="1" fontAlgn="base" latinLnBrk="0" hangingPunct="1">
                        <a:lnSpc>
                          <a:spcPct val="100000"/>
                        </a:lnSpc>
                        <a:spcBef>
                          <a:spcPct val="40000"/>
                        </a:spcBef>
                        <a:spcAft>
                          <a:spcPct val="0"/>
                        </a:spcAft>
                        <a:buClrTx/>
                        <a:buSzTx/>
                        <a:buFontTx/>
                        <a:buNone/>
                        <a:tabLst/>
                      </a:pPr>
                      <a:r>
                        <a:rPr lang="en-CA" sz="1050" b="1" kern="1200" noProof="0" dirty="0">
                          <a:solidFill>
                            <a:srgbClr val="00338D"/>
                          </a:solidFill>
                          <a:latin typeface="Univers for KPMG" panose="020B0603020202020204" pitchFamily="34" charset="0"/>
                          <a:ea typeface="+mn-ea"/>
                          <a:cs typeface="Univers for KPMG"/>
                        </a:rPr>
                        <a:t> Page</a:t>
                      </a:r>
                    </a:p>
                  </a:txBody>
                  <a:tcPr marL="72000" marR="72000" marT="72000" marB="72000" anchor="ct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762000" rtl="0" eaLnBrk="1" fontAlgn="base" latinLnBrk="0" hangingPunct="1">
                        <a:lnSpc>
                          <a:spcPct val="100000"/>
                        </a:lnSpc>
                        <a:spcBef>
                          <a:spcPct val="40000"/>
                        </a:spcBef>
                        <a:spcAft>
                          <a:spcPct val="0"/>
                        </a:spcAft>
                        <a:buClrTx/>
                        <a:buSzTx/>
                        <a:buFontTx/>
                        <a:buNone/>
                        <a:tabLst/>
                      </a:pPr>
                      <a:r>
                        <a:rPr lang="en-CA" sz="1050" b="1" kern="1200" noProof="0" dirty="0">
                          <a:solidFill>
                            <a:srgbClr val="00338D"/>
                          </a:solidFill>
                          <a:latin typeface="Univers for KPMG" panose="020B0603020202020204" pitchFamily="34" charset="0"/>
                          <a:ea typeface="+mn-ea"/>
                          <a:cs typeface="Univers for KPMG"/>
                        </a:rPr>
                        <a:t>Executive summary</a:t>
                      </a:r>
                    </a:p>
                  </a:txBody>
                  <a:tcPr marL="72000" marR="72000" marT="72000" marB="72000" anchor="ctr" horzOverflow="overflow">
                    <a:lnL cap="flat">
                      <a:noFill/>
                    </a:lnL>
                    <a:lnR>
                      <a:noFill/>
                    </a:lnR>
                    <a:lnT cap="fla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endParaRPr lang="en-CA" sz="1050" b="0" kern="1200" noProof="0" dirty="0">
                        <a:solidFill>
                          <a:srgbClr val="00338D"/>
                        </a:solidFill>
                        <a:latin typeface="Univers for KPMG" panose="020B0603020202020204" pitchFamily="34" charset="0"/>
                        <a:ea typeface="+mn-ea"/>
                        <a:cs typeface="Univers for KPMG"/>
                      </a:endParaRPr>
                    </a:p>
                  </a:txBody>
                  <a:tcPr marL="72000" marR="72000" marT="72000" marB="72000" anchor="ct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1"/>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defRPr/>
                      </a:pPr>
                      <a:r>
                        <a:rPr lang="en-CA" sz="1050" b="0" kern="1200" noProof="0" dirty="0">
                          <a:solidFill>
                            <a:srgbClr val="00338D"/>
                          </a:solidFill>
                          <a:latin typeface="Univers for KPMG" panose="020B0603020202020204" pitchFamily="34" charset="0"/>
                          <a:ea typeface="+mn-ea"/>
                          <a:cs typeface="Univers for KPMG"/>
                        </a:rPr>
                        <a:t>Basis of presentation</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5</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defRPr/>
                      </a:pPr>
                      <a:r>
                        <a:rPr lang="en-CA" sz="1050" b="0" kern="1200" noProof="0" dirty="0">
                          <a:solidFill>
                            <a:srgbClr val="00338D"/>
                          </a:solidFill>
                          <a:latin typeface="Univers for KPMG" panose="020B0603020202020204" pitchFamily="34" charset="0"/>
                          <a:ea typeface="+mn-ea"/>
                          <a:cs typeface="Univers for KPMG"/>
                        </a:rPr>
                        <a:t>Summary income statement and balance sheet</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6</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2837390695"/>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defRPr/>
                      </a:pPr>
                      <a:r>
                        <a:rPr lang="en-CA" sz="1050" b="0" kern="1200" noProof="0" dirty="0">
                          <a:solidFill>
                            <a:srgbClr val="00338D"/>
                          </a:solidFill>
                          <a:latin typeface="Univers for KPMG" panose="020B0603020202020204" pitchFamily="34" charset="0"/>
                          <a:ea typeface="+mn-ea"/>
                          <a:cs typeface="Univers for KPMG"/>
                        </a:rPr>
                        <a:t>Headlines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7</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defRPr/>
                      </a:pPr>
                      <a:r>
                        <a:rPr lang="en-CA" sz="1050" b="0" kern="1200" noProof="0" dirty="0">
                          <a:solidFill>
                            <a:srgbClr val="00338D"/>
                          </a:solidFill>
                          <a:latin typeface="Univers for KPMG" panose="020B0603020202020204" pitchFamily="34" charset="0"/>
                          <a:ea typeface="+mn-ea"/>
                          <a:cs typeface="Univers for KPMG"/>
                        </a:rPr>
                        <a:t>Run-rate P&amp;L</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10</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0">
                <a:tc>
                  <a:txBody>
                    <a:bodyPr/>
                    <a:lstStyle/>
                    <a:p>
                      <a:pPr marL="187325" marR="0" lvl="1" indent="-185738" algn="l"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1" kern="1200" noProof="0" dirty="0">
                          <a:solidFill>
                            <a:srgbClr val="00338D"/>
                          </a:solidFill>
                          <a:latin typeface="Univers for KPMG" panose="020B0603020202020204" pitchFamily="34" charset="0"/>
                          <a:ea typeface="+mn-ea"/>
                          <a:cs typeface="Univers for KPMG"/>
                        </a:rPr>
                        <a:t>Supporting analysis</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endParaRPr lang="en-CA" sz="1050" b="0" kern="1200" noProof="0" dirty="0">
                        <a:solidFill>
                          <a:srgbClr val="00338D"/>
                        </a:solidFill>
                        <a:latin typeface="Univers for KPMG" panose="020B0603020202020204" pitchFamily="34" charset="0"/>
                        <a:ea typeface="+mn-ea"/>
                        <a:cs typeface="Univers for KPMG"/>
                      </a:endParaRP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pPr>
                      <a:r>
                        <a:rPr lang="en-CA" sz="1050" b="0" kern="1200" noProof="0" dirty="0">
                          <a:solidFill>
                            <a:srgbClr val="00338D"/>
                          </a:solidFill>
                          <a:latin typeface="Univers for KPMG" panose="020B0603020202020204" pitchFamily="34" charset="0"/>
                          <a:ea typeface="+mn-ea"/>
                          <a:cs typeface="Univers for KPMG"/>
                        </a:rPr>
                        <a:t>Quality of earnings </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12</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0">
                <a:tc>
                  <a:txBody>
                    <a:bodyPr/>
                    <a:lstStyle/>
                    <a:p>
                      <a:pPr marL="177800" marR="0" lvl="2" indent="-177800" algn="l" defTabSz="914400" rtl="0" eaLnBrk="1" fontAlgn="base" latinLnBrk="0" hangingPunct="1">
                        <a:lnSpc>
                          <a:spcPct val="100000"/>
                        </a:lnSpc>
                        <a:spcBef>
                          <a:spcPts val="600"/>
                        </a:spcBef>
                        <a:spcAft>
                          <a:spcPct val="0"/>
                        </a:spcAft>
                        <a:buClr>
                          <a:schemeClr val="tx2"/>
                        </a:buClr>
                        <a:buSzPct val="100000"/>
                        <a:buFont typeface="Univers for KPMG Light" panose="020B0403020202020204" pitchFamily="34" charset="0"/>
                        <a:buChar char="—"/>
                        <a:tabLst/>
                      </a:pPr>
                      <a:r>
                        <a:rPr lang="en-CA" sz="1050" b="0" kern="1200" noProof="0" dirty="0">
                          <a:solidFill>
                            <a:srgbClr val="00338D"/>
                          </a:solidFill>
                          <a:latin typeface="Univers for KPMG" panose="020B0603020202020204" pitchFamily="34" charset="0"/>
                          <a:ea typeface="+mn-ea"/>
                          <a:cs typeface="Univers for KPMG"/>
                        </a:rPr>
                        <a:t>Balance Sheet and Net working Capital</a:t>
                      </a:r>
                    </a:p>
                  </a:txBody>
                  <a:tcPr marL="72000" marR="72000" marT="72000" marB="72000" anchor="ctr" horzOverflow="overflow">
                    <a:lnL cap="flat">
                      <a:noFill/>
                    </a:lnL>
                    <a:lnR>
                      <a:noFill/>
                    </a:lnR>
                    <a:lnT>
                      <a:noFill/>
                    </a:lnT>
                    <a:lnB>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CA" sz="1050" b="0" kern="1200" noProof="0" dirty="0">
                          <a:solidFill>
                            <a:srgbClr val="00338D"/>
                          </a:solidFill>
                          <a:latin typeface="Univers for KPMG" panose="020B0603020202020204" pitchFamily="34" charset="0"/>
                          <a:ea typeface="+mn-ea"/>
                          <a:cs typeface="Univers for KPMG"/>
                        </a:rPr>
                        <a:t>19</a:t>
                      </a:r>
                    </a:p>
                  </a:txBody>
                  <a:tcPr marL="72000" marR="72000" marT="72000" marB="720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761201074"/>
                  </a:ext>
                </a:extLst>
              </a:tr>
              <a:tr h="0">
                <a:tc>
                  <a:txBody>
                    <a:bodyPr/>
                    <a:lstStyle/>
                    <a:p>
                      <a:pPr marL="187325" marR="0" lvl="1" indent="-185738" algn="l" defTabSz="762000" rtl="0" eaLnBrk="1" fontAlgn="base" latinLnBrk="0" hangingPunct="1">
                        <a:lnSpc>
                          <a:spcPct val="100000"/>
                        </a:lnSpc>
                        <a:spcBef>
                          <a:spcPct val="100000"/>
                        </a:spcBef>
                        <a:spcAft>
                          <a:spcPct val="0"/>
                        </a:spcAft>
                        <a:buClr>
                          <a:schemeClr val="tx2"/>
                        </a:buClr>
                        <a:buSzPct val="85000"/>
                        <a:buFont typeface="Wingdings" pitchFamily="2" charset="2"/>
                        <a:buNone/>
                        <a:tabLst/>
                      </a:pPr>
                      <a:r>
                        <a:rPr lang="en-CA" sz="1050" b="1" kern="1200" noProof="0" dirty="0">
                          <a:solidFill>
                            <a:srgbClr val="00338D"/>
                          </a:solidFill>
                          <a:latin typeface="Univers for KPMG" panose="020B0603020202020204" pitchFamily="34" charset="0"/>
                          <a:ea typeface="+mn-ea"/>
                          <a:cs typeface="Univers for KPMG"/>
                        </a:rPr>
                        <a:t>Appendices</a:t>
                      </a:r>
                    </a:p>
                  </a:txBody>
                  <a:tcPr marL="72000" marR="72000" marT="72000" marB="72000" anchor="ctr" horzOverflow="overflow">
                    <a:lnL cap="flat">
                      <a:noFill/>
                    </a:lnL>
                    <a:lnR>
                      <a:noFill/>
                    </a:lnR>
                    <a:lnT>
                      <a:noFill/>
                    </a:lnT>
                    <a:lnB cap="flat">
                      <a:noFill/>
                    </a:lnB>
                    <a:lnTlToBr>
                      <a:noFill/>
                    </a:lnTlToBr>
                    <a:lnBlToTr>
                      <a:noFill/>
                    </a:lnBlToTr>
                    <a:noFill/>
                  </a:tcPr>
                </a:tc>
                <a:tc>
                  <a:txBody>
                    <a:bodyPr/>
                    <a:lstStyle/>
                    <a:p>
                      <a:pPr marL="187325" marR="0" lvl="1" indent="-185738" algn="r" defTabSz="762000" rtl="0" eaLnBrk="1" fontAlgn="base" latinLnBrk="0" hangingPunct="1">
                        <a:lnSpc>
                          <a:spcPct val="100000"/>
                        </a:lnSpc>
                        <a:spcBef>
                          <a:spcPct val="100000"/>
                        </a:spcBef>
                        <a:spcAft>
                          <a:spcPct val="0"/>
                        </a:spcAft>
                        <a:buClr>
                          <a:schemeClr val="tx2"/>
                        </a:buClr>
                        <a:buSzPct val="85000"/>
                        <a:buFont typeface="Wingdings" pitchFamily="2" charset="2"/>
                        <a:buNone/>
                        <a:tabLst/>
                        <a:defRPr/>
                      </a:pPr>
                      <a:r>
                        <a:rPr lang="en-CA" sz="1050" b="0" kern="1200" noProof="0" dirty="0">
                          <a:solidFill>
                            <a:srgbClr val="00338D"/>
                          </a:solidFill>
                          <a:latin typeface="Univers for KPMG" panose="020B0603020202020204" pitchFamily="34" charset="0"/>
                          <a:ea typeface="+mn-ea"/>
                          <a:cs typeface="Univers for KPMG"/>
                        </a:rPr>
                        <a:t>23</a:t>
                      </a:r>
                    </a:p>
                  </a:txBody>
                  <a:tcPr marL="72000" marR="72000" marT="72000" marB="72000"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65432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369008" y="214756"/>
            <a:ext cx="8280400" cy="784830"/>
          </a:xfrm>
        </p:spPr>
        <p:txBody>
          <a:bodyPr/>
          <a:lstStyle/>
          <a:p>
            <a:r>
              <a:rPr lang="en-US" sz="2400" dirty="0">
                <a:solidFill>
                  <a:schemeClr val="bg1">
                    <a:lumMod val="50000"/>
                  </a:schemeClr>
                </a:solidFill>
              </a:rPr>
              <a:t>Overview</a:t>
            </a:r>
            <a:br>
              <a:rPr lang="en-CA" sz="2400" dirty="0"/>
            </a:br>
            <a:r>
              <a:rPr lang="en-CA" sz="4400" dirty="0"/>
              <a:t>Basis of presentation</a:t>
            </a:r>
          </a:p>
        </p:txBody>
      </p:sp>
      <p:graphicFrame>
        <p:nvGraphicFramePr>
          <p:cNvPr id="5" name="Table 4"/>
          <p:cNvGraphicFramePr>
            <a:graphicFrameLocks noGrp="1"/>
          </p:cNvGraphicFramePr>
          <p:nvPr>
            <p:extLst>
              <p:ext uri="{D42A27DB-BD31-4B8C-83A1-F6EECF244321}">
                <p14:modId xmlns:p14="http://schemas.microsoft.com/office/powerpoint/2010/main" val="795875135"/>
              </p:ext>
            </p:extLst>
          </p:nvPr>
        </p:nvGraphicFramePr>
        <p:xfrm>
          <a:off x="383675" y="1126513"/>
          <a:ext cx="8280400" cy="5099206"/>
        </p:xfrm>
        <a:graphic>
          <a:graphicData uri="http://schemas.openxmlformats.org/drawingml/2006/table">
            <a:tbl>
              <a:tblPr firstRow="1" bandRow="1">
                <a:tableStyleId>{5C22544A-7EE6-4342-B048-85BDC9FD1C3A}</a:tableStyleId>
              </a:tblPr>
              <a:tblGrid>
                <a:gridCol w="1026689">
                  <a:extLst>
                    <a:ext uri="{9D8B030D-6E8A-4147-A177-3AD203B41FA5}">
                      <a16:colId xmlns:a16="http://schemas.microsoft.com/office/drawing/2014/main" val="20000"/>
                    </a:ext>
                  </a:extLst>
                </a:gridCol>
                <a:gridCol w="7253711">
                  <a:extLst>
                    <a:ext uri="{9D8B030D-6E8A-4147-A177-3AD203B41FA5}">
                      <a16:colId xmlns:a16="http://schemas.microsoft.com/office/drawing/2014/main" val="20001"/>
                    </a:ext>
                  </a:extLst>
                </a:gridCol>
              </a:tblGrid>
              <a:tr h="14926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u="none" dirty="0">
                          <a:solidFill>
                            <a:schemeClr val="bg1"/>
                          </a:solidFill>
                          <a:latin typeface="Univers for KPMG" panose="020B0603020202020204" pitchFamily="34" charset="0"/>
                        </a:rPr>
                        <a:t>Business</a:t>
                      </a:r>
                      <a:r>
                        <a:rPr lang="en-GB" sz="900" b="1" u="none" baseline="0" dirty="0">
                          <a:solidFill>
                            <a:schemeClr val="bg1"/>
                          </a:solidFill>
                          <a:latin typeface="Univers for KPMG" panose="020B0603020202020204" pitchFamily="34" charset="0"/>
                        </a:rPr>
                        <a:t> and information overview</a:t>
                      </a:r>
                      <a:endParaRPr lang="en-GB" sz="900" b="1" u="none" dirty="0">
                        <a:solidFill>
                          <a:schemeClr val="bg1"/>
                        </a:solidFill>
                        <a:latin typeface="Univers for KPMG" panose="020B0603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US" sz="900" b="0" u="none" kern="1200" dirty="0">
                          <a:solidFill>
                            <a:schemeClr val="tx1"/>
                          </a:solidFill>
                          <a:latin typeface="Univers for KPMG" panose="020B0603020202020204" pitchFamily="34" charset="0"/>
                          <a:ea typeface="+mn-ea"/>
                          <a:cs typeface="+mn-cs"/>
                        </a:rPr>
                        <a:t>Morgidge Inc. (dba Doorr) is a provider of digital mortgage platform, assisting brokers and agents to connect with realtors and clients (i.e. end-buyers or sellers). The Company also assists clients to arrange their mortgage (e.g. pre-approvals, refinances, purchases etc.) and increases efficiencies through data access sharing with the agents.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US" sz="900" b="0" u="none" kern="1200" dirty="0">
                          <a:solidFill>
                            <a:schemeClr val="tx1"/>
                          </a:solidFill>
                          <a:latin typeface="Univers for KPMG" panose="020B0603020202020204" pitchFamily="34" charset="0"/>
                          <a:ea typeface="+mn-ea"/>
                          <a:cs typeface="+mn-cs"/>
                        </a:rPr>
                        <a:t>The Company is established in Toronto and services mortgage brokers nationally. It started operations in February 2018, however, started generating revenue October 2018.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US" sz="900" b="0" u="none" kern="1200" dirty="0">
                          <a:solidFill>
                            <a:schemeClr val="tx1"/>
                          </a:solidFill>
                          <a:latin typeface="Univers for KPMG" panose="020B0603020202020204" pitchFamily="34" charset="0"/>
                          <a:ea typeface="+mn-ea"/>
                          <a:cs typeface="+mn-cs"/>
                        </a:rPr>
                        <a:t>The company’s financial statements are neither audited nor reviewed by independent third party auditor. </a:t>
                      </a:r>
                    </a:p>
                    <a:p>
                      <a:pPr marL="177800" lvl="2" indent="-177800">
                        <a:spcBef>
                          <a:spcPts val="300"/>
                        </a:spcBef>
                        <a:spcAft>
                          <a:spcPts val="300"/>
                        </a:spcAft>
                        <a:buClr>
                          <a:srgbClr val="97989A"/>
                        </a:buClr>
                        <a:buFont typeface="Arial" panose="020B0604020202020204" pitchFamily="34" charset="0"/>
                        <a:buChar char="■"/>
                        <a:defRPr/>
                      </a:pPr>
                      <a:r>
                        <a:rPr lang="en-US" sz="900" b="0" dirty="0">
                          <a:solidFill>
                            <a:schemeClr val="tx1"/>
                          </a:solidFill>
                          <a:latin typeface="Univers for KPMG" panose="020B0603020202020204" pitchFamily="34" charset="0"/>
                          <a:cs typeface="Arial" pitchFamily="34" charset="0"/>
                        </a:rPr>
                        <a:t>The analysis in this report is prepared based on the following sources of information: </a:t>
                      </a:r>
                    </a:p>
                    <a:p>
                      <a:pPr marL="347663" marR="0" lvl="2" indent="-177800" algn="l" defTabSz="914400" rtl="0" eaLnBrk="1" fontAlgn="auto" latinLnBrk="0" hangingPunct="1">
                        <a:lnSpc>
                          <a:spcPts val="1000"/>
                        </a:lnSpc>
                        <a:spcBef>
                          <a:spcPts val="300"/>
                        </a:spcBef>
                        <a:spcAft>
                          <a:spcPts val="0"/>
                        </a:spcAft>
                        <a:buClr>
                          <a:srgbClr val="97989A"/>
                        </a:buClr>
                        <a:buSzTx/>
                        <a:buFont typeface="Arial" pitchFamily="34" charset="0"/>
                        <a:buChar char="–"/>
                        <a:tabLst/>
                        <a:defRPr/>
                      </a:pPr>
                      <a:r>
                        <a:rPr lang="en-US" sz="900" b="0" i="0" u="none" kern="1200" dirty="0">
                          <a:solidFill>
                            <a:schemeClr val="tx1"/>
                          </a:solidFill>
                          <a:latin typeface="Univers for KPMG" panose="020B0603020202020204" pitchFamily="34" charset="0"/>
                          <a:ea typeface="+mn-ea"/>
                          <a:cs typeface="+mn-cs"/>
                        </a:rPr>
                        <a:t>Information provided in a Virtual Data room including trial balances, internal financial statements, subscriber listing and other supporting details; and </a:t>
                      </a:r>
                    </a:p>
                    <a:p>
                      <a:pPr marL="347663" marR="0" lvl="2" indent="-177800" algn="l" defTabSz="914400" rtl="0" eaLnBrk="1" fontAlgn="auto" latinLnBrk="0" hangingPunct="1">
                        <a:lnSpc>
                          <a:spcPts val="1000"/>
                        </a:lnSpc>
                        <a:spcBef>
                          <a:spcPts val="300"/>
                        </a:spcBef>
                        <a:spcAft>
                          <a:spcPts val="0"/>
                        </a:spcAft>
                        <a:buClr>
                          <a:srgbClr val="97989A"/>
                        </a:buClr>
                        <a:buSzTx/>
                        <a:buFont typeface="Arial" pitchFamily="34" charset="0"/>
                        <a:buChar char="–"/>
                        <a:tabLst/>
                        <a:defRPr/>
                      </a:pPr>
                      <a:r>
                        <a:rPr lang="en-US" sz="900" b="0" i="0" u="none" kern="1200" dirty="0">
                          <a:solidFill>
                            <a:schemeClr val="tx1"/>
                          </a:solidFill>
                          <a:latin typeface="Univers for KPMG" panose="020B0603020202020204" pitchFamily="34" charset="0"/>
                          <a:ea typeface="+mn-ea"/>
                          <a:cs typeface="+mn-cs"/>
                        </a:rPr>
                        <a:t>Discussions held with Management and bookkeeper. </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0208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solidFill>
                            <a:schemeClr val="bg1"/>
                          </a:solidFill>
                          <a:latin typeface="Univers for KPMG" panose="020B0603020202020204" pitchFamily="34" charset="0"/>
                        </a:rPr>
                        <a:t>Accounting overview</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0" i="0" u="none" kern="1200" baseline="0" dirty="0">
                          <a:solidFill>
                            <a:schemeClr val="tx1"/>
                          </a:solidFill>
                          <a:latin typeface="Univers for KPMG" panose="020B0603020202020204" pitchFamily="34" charset="0"/>
                          <a:ea typeface="+mn-ea"/>
                          <a:cs typeface="+mn-cs"/>
                        </a:rPr>
                        <a:t>The Company’s accounting is managed by an external bookkeeper on a part-time basis and implies the accounting can be absorbed by Client’s accounting team if required. The bookkeeper cost is </a:t>
                      </a:r>
                      <a:r>
                        <a:rPr lang="en-US" sz="900" b="0" i="0" u="none" kern="1200" baseline="0" dirty="0">
                          <a:solidFill>
                            <a:schemeClr val="tx1"/>
                          </a:solidFill>
                          <a:latin typeface="Univers for KPMG" panose="020B0603020202020204" pitchFamily="34" charset="0"/>
                          <a:ea typeface="+mn-ea"/>
                          <a:cs typeface="+mn-cs"/>
                        </a:rPr>
                        <a:t>$50/hour and costs approximately $300-400/month.</a:t>
                      </a:r>
                      <a:endParaRPr lang="en-GB" sz="900" b="1" u="none" kern="1200" baseline="0" dirty="0">
                        <a:solidFill>
                          <a:schemeClr val="tx1"/>
                        </a:solidFill>
                        <a:latin typeface="Univers for KPMG" panose="020B0603020202020204" pitchFamily="34" charset="0"/>
                        <a:ea typeface="+mn-ea"/>
                        <a:cs typeface="+mn-cs"/>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u="none" kern="1200" baseline="0" dirty="0">
                          <a:solidFill>
                            <a:schemeClr val="tx1"/>
                          </a:solidFill>
                          <a:latin typeface="Univers for KPMG" panose="020B0603020202020204" pitchFamily="34" charset="0"/>
                          <a:ea typeface="+mn-ea"/>
                          <a:cs typeface="+mn-cs"/>
                        </a:rPr>
                        <a:t>Accounting system: </a:t>
                      </a:r>
                      <a:r>
                        <a:rPr lang="en-GB" sz="900" b="0" u="none" kern="1200" baseline="0" dirty="0">
                          <a:solidFill>
                            <a:schemeClr val="tx1"/>
                          </a:solidFill>
                          <a:latin typeface="Univers for KPMG" panose="020B0603020202020204" pitchFamily="34" charset="0"/>
                          <a:ea typeface="+mn-ea"/>
                          <a:cs typeface="+mn-cs"/>
                        </a:rPr>
                        <a:t>The Company uses QuickBooks Online to manage its accounting and payroll.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i="0" u="none" kern="1200" baseline="0" dirty="0">
                          <a:solidFill>
                            <a:schemeClr val="tx1"/>
                          </a:solidFill>
                          <a:latin typeface="Univers for KPMG" panose="020B0603020202020204" pitchFamily="34" charset="0"/>
                          <a:ea typeface="+mn-ea"/>
                          <a:cs typeface="+mn-cs"/>
                        </a:rPr>
                        <a:t>Authorization and review:</a:t>
                      </a:r>
                      <a:r>
                        <a:rPr lang="en-GB" sz="900" b="0" i="0" u="none" kern="1200" baseline="0" dirty="0">
                          <a:solidFill>
                            <a:schemeClr val="tx1"/>
                          </a:solidFill>
                          <a:latin typeface="Univers for KPMG" panose="020B0603020202020204" pitchFamily="34" charset="0"/>
                          <a:ea typeface="+mn-ea"/>
                          <a:cs typeface="+mn-cs"/>
                        </a:rPr>
                        <a:t> All expense reports and significant journal entries have to be approved by Management.</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i="0" u="none" kern="1200" baseline="0" dirty="0">
                          <a:solidFill>
                            <a:schemeClr val="tx1"/>
                          </a:solidFill>
                          <a:latin typeface="Univers for KPMG" panose="020B0603020202020204" pitchFamily="34" charset="0"/>
                          <a:ea typeface="+mn-ea"/>
                          <a:cs typeface="+mn-cs"/>
                        </a:rPr>
                        <a:t>Month-end and year-end close</a:t>
                      </a:r>
                      <a:r>
                        <a:rPr lang="en-GB" sz="900" b="0" i="0" u="none" kern="1200" baseline="0" dirty="0">
                          <a:solidFill>
                            <a:schemeClr val="tx1"/>
                          </a:solidFill>
                          <a:latin typeface="Univers for KPMG" panose="020B0603020202020204" pitchFamily="34" charset="0"/>
                          <a:ea typeface="+mn-ea"/>
                          <a:cs typeface="+mn-cs"/>
                        </a:rPr>
                        <a:t>: Monthly soft close of the books, except for year-end. Monthly financials are published two-weeks after month-end close and year-end financials are published three months after year end. </a:t>
                      </a:r>
                      <a:endParaRPr lang="en-GB" sz="900" b="0" u="none" kern="1200" baseline="0" dirty="0">
                        <a:solidFill>
                          <a:schemeClr val="tx1"/>
                        </a:solidFill>
                        <a:latin typeface="Univers for KPMG" panose="020B0603020202020204" pitchFamily="34" charset="0"/>
                        <a:ea typeface="+mn-ea"/>
                        <a:cs typeface="+mn-cs"/>
                      </a:endParaRP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u="none" kern="1200" baseline="0" dirty="0">
                          <a:solidFill>
                            <a:schemeClr val="tx1"/>
                          </a:solidFill>
                          <a:latin typeface="Univers for KPMG" panose="020B0603020202020204" pitchFamily="34" charset="0"/>
                          <a:ea typeface="+mn-ea"/>
                          <a:cs typeface="+mn-cs"/>
                        </a:rPr>
                        <a:t>Revenue recognition:</a:t>
                      </a:r>
                      <a:r>
                        <a:rPr lang="en-GB" sz="900" b="0" u="none" kern="1200" baseline="0" dirty="0">
                          <a:solidFill>
                            <a:schemeClr val="tx1"/>
                          </a:solidFill>
                          <a:latin typeface="Univers for KPMG" panose="020B0603020202020204" pitchFamily="34" charset="0"/>
                          <a:ea typeface="+mn-ea"/>
                          <a:cs typeface="+mn-cs"/>
                        </a:rPr>
                        <a:t> The Company recognizes revenue at the time of billing for monthly subscriptions. Majority of the Company’s users are monthly subscribers with the exception of one customer who pays one year in advance for an annual subscription. For cash received in advance, deferred revenue is recognized and the balance is amortized to income as service is performed monthly.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u="none" kern="1200" baseline="0" dirty="0">
                          <a:solidFill>
                            <a:schemeClr val="tx1"/>
                          </a:solidFill>
                          <a:latin typeface="Univers for KPMG" panose="020B0603020202020204" pitchFamily="34" charset="0"/>
                          <a:ea typeface="+mn-ea"/>
                          <a:cs typeface="+mn-cs"/>
                        </a:rPr>
                        <a:t>Payroll: </a:t>
                      </a:r>
                      <a:r>
                        <a:rPr lang="en-GB" sz="900" b="0" u="none" kern="1200" baseline="0" dirty="0">
                          <a:solidFill>
                            <a:schemeClr val="tx1"/>
                          </a:solidFill>
                          <a:latin typeface="Univers for KPMG" panose="020B0603020202020204" pitchFamily="34" charset="0"/>
                          <a:ea typeface="+mn-ea"/>
                          <a:cs typeface="+mn-cs"/>
                        </a:rPr>
                        <a:t>The Company’s payroll is semi-monthly, paid on the 15</a:t>
                      </a:r>
                      <a:r>
                        <a:rPr lang="en-GB" sz="900" b="0" u="none" kern="1200" baseline="30000" dirty="0">
                          <a:solidFill>
                            <a:schemeClr val="tx1"/>
                          </a:solidFill>
                          <a:latin typeface="Univers for KPMG" panose="020B0603020202020204" pitchFamily="34" charset="0"/>
                          <a:ea typeface="+mn-ea"/>
                          <a:cs typeface="+mn-cs"/>
                        </a:rPr>
                        <a:t>th</a:t>
                      </a:r>
                      <a:r>
                        <a:rPr lang="en-GB" sz="900" b="0" u="none" kern="1200" baseline="0" dirty="0">
                          <a:solidFill>
                            <a:schemeClr val="tx1"/>
                          </a:solidFill>
                          <a:latin typeface="Univers for KPMG" panose="020B0603020202020204" pitchFamily="34" charset="0"/>
                          <a:ea typeface="+mn-ea"/>
                          <a:cs typeface="+mn-cs"/>
                        </a:rPr>
                        <a:t> and 30</a:t>
                      </a:r>
                      <a:r>
                        <a:rPr lang="en-GB" sz="900" b="0" u="none" kern="1200" baseline="30000" dirty="0">
                          <a:solidFill>
                            <a:schemeClr val="tx1"/>
                          </a:solidFill>
                          <a:latin typeface="Univers for KPMG" panose="020B0603020202020204" pitchFamily="34" charset="0"/>
                          <a:ea typeface="+mn-ea"/>
                          <a:cs typeface="+mn-cs"/>
                        </a:rPr>
                        <a:t>th</a:t>
                      </a:r>
                      <a:r>
                        <a:rPr lang="en-GB" sz="900" b="0" u="none" kern="1200" baseline="0" dirty="0">
                          <a:solidFill>
                            <a:schemeClr val="tx1"/>
                          </a:solidFill>
                          <a:latin typeface="Univers for KPMG" panose="020B0603020202020204" pitchFamily="34" charset="0"/>
                          <a:ea typeface="+mn-ea"/>
                          <a:cs typeface="+mn-cs"/>
                        </a:rPr>
                        <a:t> of the month.  </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i="0" u="none" kern="1200" baseline="0" dirty="0">
                          <a:solidFill>
                            <a:schemeClr val="tx1"/>
                          </a:solidFill>
                          <a:latin typeface="Univers for KPMG" panose="020B0603020202020204" pitchFamily="34" charset="0"/>
                          <a:ea typeface="+mn-ea"/>
                          <a:cs typeface="+mn-cs"/>
                        </a:rPr>
                        <a:t>R&amp;D capitalization: </a:t>
                      </a:r>
                      <a:r>
                        <a:rPr lang="en-GB" sz="900" b="0" i="0" u="none" kern="1200" baseline="0" dirty="0">
                          <a:solidFill>
                            <a:schemeClr val="tx1"/>
                          </a:solidFill>
                          <a:latin typeface="Univers for KPMG" panose="020B0603020202020204" pitchFamily="34" charset="0"/>
                          <a:ea typeface="+mn-ea"/>
                          <a:cs typeface="+mn-cs"/>
                        </a:rPr>
                        <a:t>No expenses from R&amp;D activities are capitalized.</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1" i="0" u="none" kern="1200" baseline="0" dirty="0">
                          <a:solidFill>
                            <a:schemeClr val="tx1"/>
                          </a:solidFill>
                          <a:latin typeface="Univers for KPMG" panose="020B0603020202020204" pitchFamily="34" charset="0"/>
                          <a:ea typeface="+mn-ea"/>
                          <a:cs typeface="+mn-cs"/>
                        </a:rPr>
                        <a:t>Bank and credit card reconciliation: </a:t>
                      </a:r>
                      <a:r>
                        <a:rPr lang="en-GB" sz="900" b="0" i="0" u="none" kern="1200" baseline="0" dirty="0">
                          <a:solidFill>
                            <a:schemeClr val="tx1"/>
                          </a:solidFill>
                          <a:latin typeface="Univers for KPMG" panose="020B0603020202020204" pitchFamily="34" charset="0"/>
                          <a:ea typeface="+mn-ea"/>
                          <a:cs typeface="+mn-cs"/>
                        </a:rPr>
                        <a:t>Performed monthly by a bookkeeper.</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6824260"/>
                  </a:ext>
                </a:extLst>
              </a:tr>
              <a:tr h="387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solidFill>
                            <a:schemeClr val="bg1"/>
                          </a:solidFill>
                          <a:latin typeface="Univers for KPMG" panose="020B0603020202020204" pitchFamily="34" charset="0"/>
                        </a:rPr>
                        <a:t>Fiscal</a:t>
                      </a:r>
                      <a:r>
                        <a:rPr lang="en-GB" sz="900" b="1" baseline="0" dirty="0">
                          <a:solidFill>
                            <a:schemeClr val="bg1"/>
                          </a:solidFill>
                          <a:latin typeface="Univers for KPMG" panose="020B0603020202020204" pitchFamily="34" charset="0"/>
                        </a:rPr>
                        <a:t> year end</a:t>
                      </a:r>
                      <a:endParaRPr lang="en-GB" sz="900" b="1" dirty="0">
                        <a:solidFill>
                          <a:schemeClr val="bg1"/>
                        </a:solidFill>
                        <a:latin typeface="Univers for KPMG" panose="020B0603020202020204" pitchFamily="34" charset="0"/>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0" u="none" kern="1200" baseline="0" dirty="0">
                          <a:solidFill>
                            <a:schemeClr val="tx1"/>
                          </a:solidFill>
                          <a:latin typeface="Univers for KPMG" panose="020B0603020202020204" pitchFamily="34" charset="0"/>
                          <a:ea typeface="+mn-ea"/>
                          <a:cs typeface="+mn-cs"/>
                        </a:rPr>
                        <a:t>The Company’s fiscal year end is December 31.</a:t>
                      </a:r>
                    </a:p>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GB" sz="900" b="0" u="none" kern="1200" baseline="0" dirty="0">
                          <a:solidFill>
                            <a:schemeClr val="tx1"/>
                          </a:solidFill>
                          <a:latin typeface="Univers for KPMG" panose="020B0603020202020204" pitchFamily="34" charset="0"/>
                          <a:ea typeface="+mn-ea"/>
                          <a:cs typeface="+mn-cs"/>
                        </a:rPr>
                        <a:t>The periods in scope are FY18, FY19 and TTM Aug-20.  </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99950543"/>
                  </a:ext>
                </a:extLst>
              </a:tr>
              <a:tr h="2884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solidFill>
                            <a:schemeClr val="bg1"/>
                          </a:solidFill>
                          <a:latin typeface="Univers for KPMG" panose="020B0603020202020204" pitchFamily="34" charset="0"/>
                        </a:rPr>
                        <a:t>Currency</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US" sz="900" b="0" u="none" kern="1200" dirty="0">
                          <a:solidFill>
                            <a:schemeClr val="tx1"/>
                          </a:solidFill>
                          <a:latin typeface="Univers for KPMG" panose="020B0603020202020204" pitchFamily="34" charset="0"/>
                          <a:ea typeface="+mn-ea"/>
                          <a:cs typeface="+mn-cs"/>
                        </a:rPr>
                        <a:t>Figures throughout this report are presented in Canadian dollars, unless otherwise noted.</a:t>
                      </a:r>
                      <a:endParaRPr lang="en-GB" sz="900" b="0" u="none" kern="1200" baseline="0" dirty="0">
                        <a:solidFill>
                          <a:schemeClr val="tx1"/>
                        </a:solidFill>
                        <a:latin typeface="Univers for KPMG" panose="020B0603020202020204" pitchFamily="34" charset="0"/>
                        <a:ea typeface="+mn-ea"/>
                        <a:cs typeface="+mn-cs"/>
                      </a:endParaRP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51649819"/>
                  </a:ext>
                </a:extLst>
              </a:tr>
              <a:tr h="337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solidFill>
                            <a:schemeClr val="bg1"/>
                          </a:solidFill>
                          <a:latin typeface="Univers for KPMG" panose="020B0603020202020204" pitchFamily="34" charset="0"/>
                        </a:rPr>
                        <a:t>Pro forma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solidFill>
                            <a:schemeClr val="bg1"/>
                          </a:solidFill>
                          <a:latin typeface="Univers for KPMG" panose="020B0603020202020204" pitchFamily="34" charset="0"/>
                        </a:rPr>
                        <a:t>adjustments</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177800" marR="0" lvl="2" indent="-177800" algn="l" defTabSz="914400" rtl="0" eaLnBrk="1" fontAlgn="auto" latinLnBrk="0" hangingPunct="1">
                        <a:lnSpc>
                          <a:spcPts val="1000"/>
                        </a:lnSpc>
                        <a:spcBef>
                          <a:spcPts val="600"/>
                        </a:spcBef>
                        <a:spcAft>
                          <a:spcPts val="0"/>
                        </a:spcAft>
                        <a:buClr>
                          <a:srgbClr val="97989A"/>
                        </a:buClr>
                        <a:buSzTx/>
                        <a:buFont typeface="Arial" pitchFamily="34" charset="0"/>
                        <a:buChar char="■"/>
                        <a:tabLst/>
                        <a:defRPr/>
                      </a:pPr>
                      <a:r>
                        <a:rPr lang="en-US" sz="900" dirty="0">
                          <a:solidFill>
                            <a:schemeClr val="tx1"/>
                          </a:solidFill>
                          <a:latin typeface="Univers for KPMG" panose="020B0603020202020204" pitchFamily="34" charset="0"/>
                        </a:rPr>
                        <a:t>The reference to the term “pro forma” in this report is generally used to refer to the adjustments made for specific items</a:t>
                      </a:r>
                      <a:r>
                        <a:rPr lang="en-US" sz="900" baseline="0" dirty="0">
                          <a:solidFill>
                            <a:schemeClr val="tx1"/>
                          </a:solidFill>
                          <a:latin typeface="Univers for KPMG" panose="020B0603020202020204" pitchFamily="34" charset="0"/>
                        </a:rPr>
                        <a:t> and are </a:t>
                      </a:r>
                      <a:r>
                        <a:rPr lang="en-US" sz="900" dirty="0">
                          <a:solidFill>
                            <a:schemeClr val="tx1"/>
                          </a:solidFill>
                          <a:latin typeface="Univers for KPMG" panose="020B0603020202020204" pitchFamily="34" charset="0"/>
                        </a:rPr>
                        <a:t>quantified only for the TTM Aug-20</a:t>
                      </a:r>
                      <a:r>
                        <a:rPr lang="en-US" sz="900" baseline="0" dirty="0">
                          <a:solidFill>
                            <a:schemeClr val="tx1"/>
                          </a:solidFill>
                          <a:latin typeface="Univers for KPMG" panose="020B0603020202020204" pitchFamily="34" charset="0"/>
                        </a:rPr>
                        <a:t> period.</a:t>
                      </a:r>
                    </a:p>
                  </a:txBody>
                  <a:tcPr marL="54610" marR="54610" marT="54610" marB="54610">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51733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Overview</a:t>
            </a:r>
            <a:br>
              <a:rPr lang="en-CA" sz="2400" dirty="0">
                <a:solidFill>
                  <a:schemeClr val="bg1">
                    <a:lumMod val="50000"/>
                  </a:schemeClr>
                </a:solidFill>
              </a:rPr>
            </a:br>
            <a:r>
              <a:rPr lang="en-US" sz="4400" dirty="0"/>
              <a:t>Reported income statement and balance sheet</a:t>
            </a:r>
            <a:endParaRPr lang="en-CA" sz="4400" dirty="0"/>
          </a:p>
        </p:txBody>
      </p:sp>
      <p:sp>
        <p:nvSpPr>
          <p:cNvPr id="15" name="TextBox 14">
            <a:extLst>
              <a:ext uri="{FF2B5EF4-FFF2-40B4-BE49-F238E27FC236}">
                <a16:creationId xmlns:a16="http://schemas.microsoft.com/office/drawing/2014/main" id="{D5C0AD61-0761-45AB-BB10-8742A0340AB8}"/>
              </a:ext>
            </a:extLst>
          </p:cNvPr>
          <p:cNvSpPr txBox="1"/>
          <p:nvPr/>
        </p:nvSpPr>
        <p:spPr>
          <a:xfrm>
            <a:off x="431799" y="5878237"/>
            <a:ext cx="2260602" cy="92333"/>
          </a:xfrm>
          <a:prstGeom prst="rect">
            <a:avLst/>
          </a:prstGeom>
          <a:noFill/>
        </p:spPr>
        <p:txBody>
          <a:bodyPr wrap="square" lIns="0" tIns="0" rIns="0" bIns="0" rtlCol="0">
            <a:spAutoFit/>
          </a:bodyPr>
          <a:lstStyle/>
          <a:p>
            <a:pPr defTabSz="914400"/>
            <a:r>
              <a:rPr lang="en-US" sz="600" i="1" dirty="0">
                <a:solidFill>
                  <a:srgbClr val="000000"/>
                </a:solidFill>
                <a:cs typeface="Arial" pitchFamily="34" charset="0"/>
              </a:rPr>
              <a:t>Source: Management provided information.</a:t>
            </a:r>
          </a:p>
        </p:txBody>
      </p:sp>
      <p:pic>
        <p:nvPicPr>
          <p:cNvPr id="16" name="Picture 15">
            <a:extLst>
              <a:ext uri="{FF2B5EF4-FFF2-40B4-BE49-F238E27FC236}">
                <a16:creationId xmlns:a16="http://schemas.microsoft.com/office/drawing/2014/main" id="{379E83CA-140F-42AF-8EEB-462BDD4A1044}"/>
              </a:ext>
            </a:extLst>
          </p:cNvPr>
          <p:cNvPicPr>
            <a:picLocks noChangeAspect="1"/>
          </p:cNvPicPr>
          <p:nvPr>
            <p:custDataLst>
              <p:tags r:id="rId1"/>
            </p:custDataLst>
          </p:nvPr>
        </p:nvPicPr>
        <p:blipFill>
          <a:blip r:embed="rId4"/>
          <a:stretch>
            <a:fillRect/>
          </a:stretch>
        </p:blipFill>
        <p:spPr>
          <a:xfrm>
            <a:off x="431799" y="1211263"/>
            <a:ext cx="2686786" cy="4666974"/>
          </a:xfrm>
          <a:prstGeom prst="rect">
            <a:avLst/>
          </a:prstGeom>
        </p:spPr>
      </p:pic>
      <p:pic>
        <p:nvPicPr>
          <p:cNvPr id="8" name="Picture 7">
            <a:extLst>
              <a:ext uri="{FF2B5EF4-FFF2-40B4-BE49-F238E27FC236}">
                <a16:creationId xmlns:a16="http://schemas.microsoft.com/office/drawing/2014/main" id="{BF6D94BF-0D7C-4853-B502-BA4F4C469C40}"/>
              </a:ext>
            </a:extLst>
          </p:cNvPr>
          <p:cNvPicPr>
            <a:picLocks noChangeAspect="1"/>
          </p:cNvPicPr>
          <p:nvPr>
            <p:custDataLst>
              <p:tags r:id="rId2"/>
            </p:custDataLst>
          </p:nvPr>
        </p:nvPicPr>
        <p:blipFill>
          <a:blip r:embed="rId5"/>
          <a:stretch>
            <a:fillRect/>
          </a:stretch>
        </p:blipFill>
        <p:spPr>
          <a:xfrm>
            <a:off x="3308697" y="1211263"/>
            <a:ext cx="4372264" cy="3182760"/>
          </a:xfrm>
          <a:prstGeom prst="rect">
            <a:avLst/>
          </a:prstGeom>
        </p:spPr>
      </p:pic>
      <p:sp>
        <p:nvSpPr>
          <p:cNvPr id="10" name="TextBox 9">
            <a:extLst>
              <a:ext uri="{FF2B5EF4-FFF2-40B4-BE49-F238E27FC236}">
                <a16:creationId xmlns:a16="http://schemas.microsoft.com/office/drawing/2014/main" id="{475E1526-B9BA-452E-BC3C-9FE498FE33A2}"/>
              </a:ext>
            </a:extLst>
          </p:cNvPr>
          <p:cNvSpPr txBox="1"/>
          <p:nvPr/>
        </p:nvSpPr>
        <p:spPr>
          <a:xfrm>
            <a:off x="3308697" y="4410957"/>
            <a:ext cx="2260602" cy="92333"/>
          </a:xfrm>
          <a:prstGeom prst="rect">
            <a:avLst/>
          </a:prstGeom>
          <a:noFill/>
        </p:spPr>
        <p:txBody>
          <a:bodyPr wrap="square" lIns="0" tIns="0" rIns="0" bIns="0" rtlCol="0">
            <a:spAutoFit/>
          </a:bodyPr>
          <a:lstStyle/>
          <a:p>
            <a:pPr defTabSz="914400"/>
            <a:r>
              <a:rPr lang="en-US" sz="600" i="1" dirty="0">
                <a:solidFill>
                  <a:srgbClr val="000000"/>
                </a:solidFill>
                <a:cs typeface="Arial" pitchFamily="34" charset="0"/>
              </a:rPr>
              <a:t>Source: Management provided information.</a:t>
            </a:r>
          </a:p>
        </p:txBody>
      </p:sp>
    </p:spTree>
    <p:extLst>
      <p:ext uri="{BB962C8B-B14F-4D97-AF65-F5344CB8AC3E}">
        <p14:creationId xmlns:p14="http://schemas.microsoft.com/office/powerpoint/2010/main" val="1285001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3145712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0358" name="think-cell Slide" r:id="rId8" imgW="498" imgH="499" progId="TCLayout.ActiveDocument.1">
                  <p:embed/>
                </p:oleObj>
              </mc:Choice>
              <mc:Fallback>
                <p:oleObj name="think-cell Slide" r:id="rId8" imgW="498" imgH="499" progId="TCLayout.ActiveDocument.1">
                  <p:embed/>
                  <p:pic>
                    <p:nvPicPr>
                      <p:cNvPr id="7" name="Object 6" hidden="1"/>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US"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13" name="Titre 5"/>
          <p:cNvSpPr>
            <a:spLocks noGrp="1"/>
          </p:cNvSpPr>
          <p:nvPr>
            <p:ph type="title"/>
          </p:nvPr>
        </p:nvSpPr>
        <p:spPr>
          <a:xfrm>
            <a:off x="431800" y="228600"/>
            <a:ext cx="8280400" cy="784830"/>
          </a:xfrm>
        </p:spPr>
        <p:txBody>
          <a:bodyPr/>
          <a:lstStyle/>
          <a:p>
            <a:r>
              <a:rPr lang="en-US" sz="2400" dirty="0">
                <a:solidFill>
                  <a:schemeClr val="bg1">
                    <a:lumMod val="50000"/>
                  </a:schemeClr>
                </a:solidFill>
              </a:rPr>
              <a:t>Overview</a:t>
            </a:r>
            <a:br>
              <a:rPr lang="en-US" sz="2400" dirty="0">
                <a:solidFill>
                  <a:schemeClr val="bg1">
                    <a:lumMod val="50000"/>
                  </a:schemeClr>
                </a:solidFill>
              </a:rPr>
            </a:br>
            <a:r>
              <a:rPr lang="en-US" sz="4400" dirty="0"/>
              <a:t>Headlines (1)</a:t>
            </a:r>
          </a:p>
        </p:txBody>
      </p:sp>
      <p:graphicFrame>
        <p:nvGraphicFramePr>
          <p:cNvPr id="9" name="Group 3"/>
          <p:cNvGraphicFramePr>
            <a:graphicFrameLocks noGrp="1"/>
          </p:cNvGraphicFramePr>
          <p:nvPr>
            <p:extLst>
              <p:ext uri="{D42A27DB-BD31-4B8C-83A1-F6EECF244321}">
                <p14:modId xmlns:p14="http://schemas.microsoft.com/office/powerpoint/2010/main" val="1698023806"/>
              </p:ext>
            </p:extLst>
          </p:nvPr>
        </p:nvGraphicFramePr>
        <p:xfrm>
          <a:off x="445788" y="1219200"/>
          <a:ext cx="8535652" cy="5034379"/>
        </p:xfrm>
        <a:graphic>
          <a:graphicData uri="http://schemas.openxmlformats.org/drawingml/2006/table">
            <a:tbl>
              <a:tblPr/>
              <a:tblGrid>
                <a:gridCol w="1149911">
                  <a:extLst>
                    <a:ext uri="{9D8B030D-6E8A-4147-A177-3AD203B41FA5}">
                      <a16:colId xmlns:a16="http://schemas.microsoft.com/office/drawing/2014/main" val="20000"/>
                    </a:ext>
                  </a:extLst>
                </a:gridCol>
                <a:gridCol w="6618644">
                  <a:extLst>
                    <a:ext uri="{9D8B030D-6E8A-4147-A177-3AD203B41FA5}">
                      <a16:colId xmlns:a16="http://schemas.microsoft.com/office/drawing/2014/main" val="20001"/>
                    </a:ext>
                  </a:extLst>
                </a:gridCol>
                <a:gridCol w="767097">
                  <a:extLst>
                    <a:ext uri="{9D8B030D-6E8A-4147-A177-3AD203B41FA5}">
                      <a16:colId xmlns:a16="http://schemas.microsoft.com/office/drawing/2014/main" val="20002"/>
                    </a:ext>
                  </a:extLst>
                </a:gridCol>
              </a:tblGrid>
              <a:tr h="274419">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u="none" kern="1200" dirty="0">
                          <a:solidFill>
                            <a:schemeClr val="bg1"/>
                          </a:solidFill>
                          <a:latin typeface="Univers for KPMG" panose="020B0603020202020204" pitchFamily="34" charset="0"/>
                          <a:ea typeface="+mn-ea"/>
                          <a:cs typeface="+mn-cs"/>
                        </a:rPr>
                        <a:t>Issue</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extLst>
                  <a:ext uri="{0D108BD9-81ED-4DB2-BD59-A6C34878D82A}">
                    <a16:rowId xmlns:a16="http://schemas.microsoft.com/office/drawing/2014/main" val="10000"/>
                  </a:ext>
                </a:extLst>
              </a:tr>
              <a:tr h="1884581">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i="0" kern="1200" spc="15" dirty="0">
                          <a:solidFill>
                            <a:schemeClr val="tx2"/>
                          </a:solidFill>
                          <a:latin typeface="Univers for KPMG" panose="020B0603020202020204" pitchFamily="34" charset="0"/>
                          <a:ea typeface="+mn-ea"/>
                          <a:cs typeface="Univers for KPMG"/>
                        </a:rPr>
                        <a:t>Quality of earnings</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Based on August 2020 subscriber count, the annualized revenue is approximately $400,000 with an operating cost base of approximately $1.1 million.</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TTM Aug-20 pro forma adjusted EBITDA is negative $742,000.  </a:t>
                      </a:r>
                    </a:p>
                    <a:p>
                      <a:pPr marL="0" marR="0" lvl="1" indent="0" algn="l" defTabSz="914400" rtl="0" eaLnBrk="1" fontAlgn="base" latinLnBrk="0" hangingPunct="1">
                        <a:lnSpc>
                          <a:spcPct val="100000"/>
                        </a:lnSpc>
                        <a:spcBef>
                          <a:spcPts val="0"/>
                        </a:spcBef>
                        <a:spcAft>
                          <a:spcPts val="600"/>
                        </a:spcAft>
                        <a:buClrTx/>
                        <a:buSzTx/>
                        <a:buFontTx/>
                        <a:buNone/>
                        <a:tabLst/>
                        <a:defRPr/>
                      </a:pPr>
                      <a:endParaRPr lang="en-US" sz="900" b="0" i="1" u="none" kern="1200" baseline="0" dirty="0">
                        <a:solidFill>
                          <a:schemeClr val="tx2"/>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1" dirty="0">
                          <a:latin typeface="Univers for KPMG" panose="020B0603020202020204" pitchFamily="34" charset="0"/>
                        </a:rPr>
                        <a:t>pp. 10, 12 to 17</a:t>
                      </a:r>
                      <a:endParaRPr lang="en-US" sz="900" b="0" u="none" dirty="0">
                        <a:solidFill>
                          <a:schemeClr val="tx1"/>
                        </a:solidFill>
                        <a:latin typeface="Univers for KPMG" panose="020B0603020202020204"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890296">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u="none" kern="1200" baseline="0" dirty="0">
                          <a:solidFill>
                            <a:srgbClr val="00338D"/>
                          </a:solidFill>
                          <a:latin typeface="Univers for KPMG" panose="020B0603020202020204" pitchFamily="34" charset="0"/>
                          <a:ea typeface="+mn-ea"/>
                          <a:cs typeface="+mn-cs"/>
                        </a:rPr>
                        <a:t>Net debt</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i="1" dirty="0">
                          <a:solidFill>
                            <a:schemeClr val="tx2"/>
                          </a:solidFill>
                          <a:latin typeface="Univers for KPMG" panose="020B0603020202020204" pitchFamily="34" charset="0"/>
                        </a:rPr>
                        <a:t>As at August 31, 2020, the Company is in a net cash position of $1.1 million after considered debt-like items.</a:t>
                      </a:r>
                      <a:endParaRPr lang="en-US" sz="900" b="0" i="1" u="none" kern="1200" baseline="0" dirty="0">
                        <a:solidFill>
                          <a:schemeClr val="tx2"/>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p>
                      <a:pPr marL="177800" lvl="2" indent="-177800">
                        <a:spcBef>
                          <a:spcPts val="400"/>
                        </a:spcBef>
                        <a:buClr>
                          <a:srgbClr val="97989A"/>
                        </a:buClr>
                        <a:buFont typeface="Arial" pitchFamily="34" charset="0"/>
                        <a:buChar char="■"/>
                        <a:defRPr/>
                      </a:pPr>
                      <a:endParaRPr lang="en-US" sz="900" dirty="0">
                        <a:solidFill>
                          <a:schemeClr val="tx1"/>
                        </a:solidFill>
                        <a:latin typeface="Univers for KPMG" panose="020B0603020202020204" pitchFamily="34" charset="0"/>
                        <a:cs typeface="Arial"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0" marR="0" indent="0" algn="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1" dirty="0"/>
                        <a:t>pp. 21</a:t>
                      </a:r>
                      <a:endParaRPr lang="en-US" sz="900" b="0" u="none" dirty="0">
                        <a:solidFill>
                          <a:schemeClr val="tx1"/>
                        </a:solidFill>
                        <a:latin typeface="Univers for KPMG" panose="020B0603020202020204"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0" name="Espace réservé du texte 3">
            <a:extLst>
              <a:ext uri="{FF2B5EF4-FFF2-40B4-BE49-F238E27FC236}">
                <a16:creationId xmlns:a16="http://schemas.microsoft.com/office/drawing/2014/main" id="{93513D1D-4040-4249-826D-475ACB1615BB}"/>
              </a:ext>
            </a:extLst>
          </p:cNvPr>
          <p:cNvSpPr txBox="1">
            <a:spLocks/>
          </p:cNvSpPr>
          <p:nvPr/>
        </p:nvSpPr>
        <p:spPr bwMode="gray">
          <a:xfrm>
            <a:off x="5609922" y="1577793"/>
            <a:ext cx="2587808" cy="2186991"/>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spcBef>
                <a:spcPts val="200"/>
              </a:spcBef>
              <a:spcAft>
                <a:spcPts val="200"/>
              </a:spcAft>
              <a:buClr>
                <a:srgbClr val="97989A"/>
              </a:buClr>
              <a:buFont typeface="Arial" pitchFamily="34" charset="0"/>
              <a:buChar char="■"/>
              <a:defRPr/>
            </a:pPr>
            <a:r>
              <a:rPr lang="en-US" dirty="0">
                <a:solidFill>
                  <a:schemeClr val="tx1"/>
                </a:solidFill>
                <a:latin typeface="Univers for KPMG" panose="020B0603020202020204" pitchFamily="34" charset="0"/>
              </a:rPr>
              <a:t>The pro forma reflects annualized revenue (volume), payroll, and certain other expenses as at August 2020.</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Revenue: </a:t>
            </a:r>
            <a:r>
              <a:rPr lang="en-US" dirty="0">
                <a:solidFill>
                  <a:schemeClr val="tx1"/>
                </a:solidFill>
                <a:latin typeface="Univers for KPMG" panose="020B0603020202020204" pitchFamily="34" charset="0"/>
              </a:rPr>
              <a:t>The growth in revenue from $52,000 in FY19 to $182,000 in TTM Aug-20 is driven by volume. Subscription volume increases by 375% from 77 in December 2019 to 366 in Aug-20.</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EBITDA:</a:t>
            </a:r>
            <a:r>
              <a:rPr lang="en-US" dirty="0">
                <a:solidFill>
                  <a:schemeClr val="tx1"/>
                </a:solidFill>
                <a:latin typeface="Univers for KPMG" panose="020B0603020202020204" pitchFamily="34" charset="0"/>
              </a:rPr>
              <a:t> The decline in EBITDA is attributable to the increase in direct expenses, rent, payroll and subcontractors. Further discussion on expenses run-rate can be found in the following pages. </a:t>
            </a:r>
          </a:p>
        </p:txBody>
      </p:sp>
      <p:sp>
        <p:nvSpPr>
          <p:cNvPr id="14" name="TextBox 13">
            <a:extLst>
              <a:ext uri="{FF2B5EF4-FFF2-40B4-BE49-F238E27FC236}">
                <a16:creationId xmlns:a16="http://schemas.microsoft.com/office/drawing/2014/main" id="{CC88FDBE-55D1-4C04-8A06-B83771BE7511}"/>
              </a:ext>
            </a:extLst>
          </p:cNvPr>
          <p:cNvSpPr txBox="1"/>
          <p:nvPr/>
        </p:nvSpPr>
        <p:spPr>
          <a:xfrm>
            <a:off x="1773274" y="3442118"/>
            <a:ext cx="2587808" cy="92333"/>
          </a:xfrm>
          <a:prstGeom prst="rect">
            <a:avLst/>
          </a:prstGeom>
          <a:noFill/>
        </p:spPr>
        <p:txBody>
          <a:bodyPr wrap="square" lIns="0" tIns="0" rIns="0" bIns="0" rtlCol="0">
            <a:spAutoFit/>
          </a:bodyPr>
          <a:lstStyle/>
          <a:p>
            <a:pPr>
              <a:tabLst>
                <a:tab pos="396875" algn="l"/>
              </a:tabLst>
            </a:pPr>
            <a:r>
              <a:rPr lang="en-US" sz="600" i="1" dirty="0">
                <a:latin typeface="Univers for KPMG" panose="020B0603020202020204" pitchFamily="34" charset="0"/>
                <a:cs typeface="Arial" pitchFamily="34" charset="0"/>
              </a:rPr>
              <a:t>Source: Information provided by Management</a:t>
            </a:r>
          </a:p>
        </p:txBody>
      </p:sp>
      <p:pic>
        <p:nvPicPr>
          <p:cNvPr id="2" name="Picture 1">
            <a:extLst>
              <a:ext uri="{FF2B5EF4-FFF2-40B4-BE49-F238E27FC236}">
                <a16:creationId xmlns:a16="http://schemas.microsoft.com/office/drawing/2014/main" id="{CABD556C-54A8-486A-95E6-A111E7FCC29D}"/>
              </a:ext>
            </a:extLst>
          </p:cNvPr>
          <p:cNvPicPr>
            <a:picLocks noChangeAspect="1"/>
          </p:cNvPicPr>
          <p:nvPr>
            <p:custDataLst>
              <p:tags r:id="rId4"/>
            </p:custDataLst>
          </p:nvPr>
        </p:nvPicPr>
        <p:blipFill>
          <a:blip r:embed="rId10"/>
          <a:stretch>
            <a:fillRect/>
          </a:stretch>
        </p:blipFill>
        <p:spPr>
          <a:xfrm>
            <a:off x="1811511" y="4296293"/>
            <a:ext cx="2549568" cy="1462212"/>
          </a:xfrm>
          <a:prstGeom prst="rect">
            <a:avLst/>
          </a:prstGeom>
        </p:spPr>
      </p:pic>
      <p:sp>
        <p:nvSpPr>
          <p:cNvPr id="17" name="TextBox 16">
            <a:extLst>
              <a:ext uri="{FF2B5EF4-FFF2-40B4-BE49-F238E27FC236}">
                <a16:creationId xmlns:a16="http://schemas.microsoft.com/office/drawing/2014/main" id="{D04211CF-3646-4B5A-A20D-C9972D247AF0}"/>
              </a:ext>
            </a:extLst>
          </p:cNvPr>
          <p:cNvSpPr txBox="1"/>
          <p:nvPr/>
        </p:nvSpPr>
        <p:spPr>
          <a:xfrm>
            <a:off x="1811511" y="5745805"/>
            <a:ext cx="2587808" cy="92333"/>
          </a:xfrm>
          <a:prstGeom prst="rect">
            <a:avLst/>
          </a:prstGeom>
          <a:noFill/>
        </p:spPr>
        <p:txBody>
          <a:bodyPr wrap="square" lIns="0" tIns="0" rIns="0" bIns="0" rtlCol="0">
            <a:spAutoFit/>
          </a:bodyPr>
          <a:lstStyle/>
          <a:p>
            <a:pPr>
              <a:tabLst>
                <a:tab pos="396875" algn="l"/>
              </a:tabLst>
            </a:pPr>
            <a:r>
              <a:rPr lang="en-US" sz="600" i="1" dirty="0">
                <a:latin typeface="Univers for KPMG" panose="020B0603020202020204" pitchFamily="34" charset="0"/>
                <a:cs typeface="Arial" pitchFamily="34" charset="0"/>
              </a:rPr>
              <a:t>Source: Information provided by Management</a:t>
            </a:r>
          </a:p>
        </p:txBody>
      </p:sp>
      <p:sp>
        <p:nvSpPr>
          <p:cNvPr id="18" name="Espace réservé du texte 3">
            <a:extLst>
              <a:ext uri="{FF2B5EF4-FFF2-40B4-BE49-F238E27FC236}">
                <a16:creationId xmlns:a16="http://schemas.microsoft.com/office/drawing/2014/main" id="{49159C6A-D777-43C4-921D-4569B67376FF}"/>
              </a:ext>
            </a:extLst>
          </p:cNvPr>
          <p:cNvSpPr txBox="1">
            <a:spLocks/>
          </p:cNvSpPr>
          <p:nvPr/>
        </p:nvSpPr>
        <p:spPr bwMode="gray">
          <a:xfrm>
            <a:off x="4473677" y="4248751"/>
            <a:ext cx="3724053" cy="1027699"/>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Net cash reported: </a:t>
            </a:r>
            <a:r>
              <a:rPr lang="en-US" dirty="0">
                <a:solidFill>
                  <a:schemeClr val="tx1"/>
                </a:solidFill>
                <a:latin typeface="Univers for KPMG" panose="020B0603020202020204" pitchFamily="34" charset="0"/>
              </a:rPr>
              <a:t>Cash is net of $189,000 liability that should be classified as an equity item and not a debt-like liability.</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Net debt adjustments:</a:t>
            </a:r>
            <a:r>
              <a:rPr lang="en-US" dirty="0">
                <a:solidFill>
                  <a:schemeClr val="tx1"/>
                </a:solidFill>
                <a:latin typeface="Univers for KPMG" panose="020B0603020202020204" pitchFamily="34" charset="0"/>
              </a:rPr>
              <a:t> Primarily comprised of reclassification of initial and pre-seed funding incorrectly recorded to debt, outstanding rent payables and transaction bonus liability to be paid to two employees (one of whom a senior employee). </a:t>
            </a:r>
          </a:p>
        </p:txBody>
      </p:sp>
      <p:pic>
        <p:nvPicPr>
          <p:cNvPr id="4" name="Picture 3">
            <a:extLst>
              <a:ext uri="{FF2B5EF4-FFF2-40B4-BE49-F238E27FC236}">
                <a16:creationId xmlns:a16="http://schemas.microsoft.com/office/drawing/2014/main" id="{5D9078D7-D08A-47A7-83AE-36D7E8287070}"/>
              </a:ext>
            </a:extLst>
          </p:cNvPr>
          <p:cNvPicPr>
            <a:picLocks noChangeAspect="1"/>
          </p:cNvPicPr>
          <p:nvPr>
            <p:custDataLst>
              <p:tags r:id="rId5"/>
            </p:custDataLst>
          </p:nvPr>
        </p:nvPicPr>
        <p:blipFill>
          <a:blip r:embed="rId11"/>
          <a:stretch>
            <a:fillRect/>
          </a:stretch>
        </p:blipFill>
        <p:spPr>
          <a:xfrm>
            <a:off x="1773274" y="1616061"/>
            <a:ext cx="3739818" cy="1784359"/>
          </a:xfrm>
          <a:prstGeom prst="rect">
            <a:avLst/>
          </a:prstGeom>
        </p:spPr>
      </p:pic>
    </p:spTree>
    <p:extLst>
      <p:ext uri="{BB962C8B-B14F-4D97-AF65-F5344CB8AC3E}">
        <p14:creationId xmlns:p14="http://schemas.microsoft.com/office/powerpoint/2010/main" val="163892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42644196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2378" name="think-cell Slide" r:id="rId9" imgW="498" imgH="499" progId="TCLayout.ActiveDocument.1">
                  <p:embed/>
                </p:oleObj>
              </mc:Choice>
              <mc:Fallback>
                <p:oleObj name="think-cell Slide" r:id="rId9" imgW="498" imgH="499" progId="TCLayout.ActiveDocument.1">
                  <p:embed/>
                  <p:pic>
                    <p:nvPicPr>
                      <p:cNvPr id="7" name="Object 6" hidden="1"/>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US"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13" name="Titre 5"/>
          <p:cNvSpPr>
            <a:spLocks noGrp="1"/>
          </p:cNvSpPr>
          <p:nvPr>
            <p:ph type="title"/>
          </p:nvPr>
        </p:nvSpPr>
        <p:spPr>
          <a:xfrm>
            <a:off x="431800" y="228600"/>
            <a:ext cx="8280400" cy="784830"/>
          </a:xfrm>
        </p:spPr>
        <p:txBody>
          <a:bodyPr/>
          <a:lstStyle/>
          <a:p>
            <a:r>
              <a:rPr lang="en-US" sz="2400" dirty="0">
                <a:solidFill>
                  <a:schemeClr val="bg1">
                    <a:lumMod val="50000"/>
                  </a:schemeClr>
                </a:solidFill>
              </a:rPr>
              <a:t>Overview</a:t>
            </a:r>
            <a:br>
              <a:rPr lang="en-US" sz="2400" dirty="0">
                <a:solidFill>
                  <a:schemeClr val="bg1">
                    <a:lumMod val="50000"/>
                  </a:schemeClr>
                </a:solidFill>
              </a:rPr>
            </a:br>
            <a:r>
              <a:rPr lang="en-US" sz="4400" dirty="0"/>
              <a:t>Headlines (2)</a:t>
            </a:r>
          </a:p>
        </p:txBody>
      </p:sp>
      <p:graphicFrame>
        <p:nvGraphicFramePr>
          <p:cNvPr id="9" name="Group 3"/>
          <p:cNvGraphicFramePr>
            <a:graphicFrameLocks noGrp="1"/>
          </p:cNvGraphicFramePr>
          <p:nvPr>
            <p:extLst>
              <p:ext uri="{D42A27DB-BD31-4B8C-83A1-F6EECF244321}">
                <p14:modId xmlns:p14="http://schemas.microsoft.com/office/powerpoint/2010/main" val="3553899724"/>
              </p:ext>
            </p:extLst>
          </p:nvPr>
        </p:nvGraphicFramePr>
        <p:xfrm>
          <a:off x="445788" y="1219200"/>
          <a:ext cx="8535652" cy="5014059"/>
        </p:xfrm>
        <a:graphic>
          <a:graphicData uri="http://schemas.openxmlformats.org/drawingml/2006/table">
            <a:tbl>
              <a:tblPr/>
              <a:tblGrid>
                <a:gridCol w="1149911">
                  <a:extLst>
                    <a:ext uri="{9D8B030D-6E8A-4147-A177-3AD203B41FA5}">
                      <a16:colId xmlns:a16="http://schemas.microsoft.com/office/drawing/2014/main" val="20000"/>
                    </a:ext>
                  </a:extLst>
                </a:gridCol>
                <a:gridCol w="6618644">
                  <a:extLst>
                    <a:ext uri="{9D8B030D-6E8A-4147-A177-3AD203B41FA5}">
                      <a16:colId xmlns:a16="http://schemas.microsoft.com/office/drawing/2014/main" val="20001"/>
                    </a:ext>
                  </a:extLst>
                </a:gridCol>
                <a:gridCol w="767097">
                  <a:extLst>
                    <a:ext uri="{9D8B030D-6E8A-4147-A177-3AD203B41FA5}">
                      <a16:colId xmlns:a16="http://schemas.microsoft.com/office/drawing/2014/main" val="20002"/>
                    </a:ext>
                  </a:extLst>
                </a:gridCol>
              </a:tblGrid>
              <a:tr h="274419">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u="none" kern="1200" dirty="0">
                          <a:solidFill>
                            <a:schemeClr val="bg1"/>
                          </a:solidFill>
                          <a:latin typeface="Univers for KPMG" panose="020B0603020202020204" pitchFamily="34" charset="0"/>
                          <a:ea typeface="+mn-ea"/>
                          <a:cs typeface="+mn-cs"/>
                        </a:rPr>
                        <a:t>Issue</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extLst>
                  <a:ext uri="{0D108BD9-81ED-4DB2-BD59-A6C34878D82A}">
                    <a16:rowId xmlns:a16="http://schemas.microsoft.com/office/drawing/2014/main" val="10000"/>
                  </a:ext>
                </a:extLst>
              </a:tr>
              <a:tr h="1884581">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i="0" kern="1200" spc="15" dirty="0">
                          <a:solidFill>
                            <a:schemeClr val="tx2"/>
                          </a:solidFill>
                          <a:latin typeface="Univers for KPMG" panose="020B0603020202020204" pitchFamily="34" charset="0"/>
                          <a:ea typeface="+mn-ea"/>
                          <a:cs typeface="Univers for KPMG"/>
                        </a:rPr>
                        <a:t>Subscriber volume and pricing</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Subscribers increased from 77 in Dec-19 to 366 in Aug-20 (i.e. an increase of 375%). </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The average price during TTM Aug-20 is $91.77 per subscriber. The deviation from their standard price of $99 reflects discounts offered to certain customers for marketing and retention.</a:t>
                      </a:r>
                    </a:p>
                    <a:p>
                      <a:pPr marL="0" marR="0" lvl="1" indent="0" algn="l" defTabSz="914400" rtl="0" eaLnBrk="1" fontAlgn="base" latinLnBrk="0" hangingPunct="1">
                        <a:lnSpc>
                          <a:spcPct val="100000"/>
                        </a:lnSpc>
                        <a:spcBef>
                          <a:spcPts val="0"/>
                        </a:spcBef>
                        <a:spcAft>
                          <a:spcPts val="600"/>
                        </a:spcAft>
                        <a:buClrTx/>
                        <a:buSzTx/>
                        <a:buFontTx/>
                        <a:buNone/>
                        <a:tabLst/>
                        <a:defRPr/>
                      </a:pPr>
                      <a:endParaRPr lang="en-US" sz="900" b="0" i="1" u="none" kern="1200" baseline="0" dirty="0">
                        <a:solidFill>
                          <a:schemeClr val="tx2"/>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1" dirty="0">
                          <a:latin typeface="Univers for KPMG" panose="020B0603020202020204" pitchFamily="34" charset="0"/>
                        </a:rPr>
                        <a:t>Appendix 2</a:t>
                      </a:r>
                      <a:endParaRPr lang="en-US" sz="900" b="0" u="none" dirty="0">
                        <a:solidFill>
                          <a:schemeClr val="tx1"/>
                        </a:solidFill>
                        <a:latin typeface="Univers for KPMG" panose="020B0603020202020204"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14" name="TextBox 13">
            <a:extLst>
              <a:ext uri="{FF2B5EF4-FFF2-40B4-BE49-F238E27FC236}">
                <a16:creationId xmlns:a16="http://schemas.microsoft.com/office/drawing/2014/main" id="{CC88FDBE-55D1-4C04-8A06-B83771BE7511}"/>
              </a:ext>
            </a:extLst>
          </p:cNvPr>
          <p:cNvSpPr txBox="1"/>
          <p:nvPr/>
        </p:nvSpPr>
        <p:spPr>
          <a:xfrm>
            <a:off x="1948534" y="5910998"/>
            <a:ext cx="2587808" cy="92333"/>
          </a:xfrm>
          <a:prstGeom prst="rect">
            <a:avLst/>
          </a:prstGeom>
          <a:noFill/>
        </p:spPr>
        <p:txBody>
          <a:bodyPr wrap="square" lIns="0" tIns="0" rIns="0" bIns="0" rtlCol="0">
            <a:spAutoFit/>
          </a:bodyPr>
          <a:lstStyle/>
          <a:p>
            <a:pPr>
              <a:tabLst>
                <a:tab pos="396875" algn="l"/>
              </a:tabLst>
            </a:pPr>
            <a:r>
              <a:rPr lang="en-US" sz="600" i="1" dirty="0">
                <a:latin typeface="Univers for KPMG" panose="020B0603020202020204" pitchFamily="34" charset="0"/>
                <a:cs typeface="Arial" pitchFamily="34" charset="0"/>
              </a:rPr>
              <a:t>Source: Information provided by Management</a:t>
            </a:r>
          </a:p>
        </p:txBody>
      </p:sp>
      <p:sp>
        <p:nvSpPr>
          <p:cNvPr id="10" name="Espace réservé du texte 3">
            <a:extLst>
              <a:ext uri="{FF2B5EF4-FFF2-40B4-BE49-F238E27FC236}">
                <a16:creationId xmlns:a16="http://schemas.microsoft.com/office/drawing/2014/main" id="{93513D1D-4040-4249-826D-475ACB1615BB}"/>
              </a:ext>
            </a:extLst>
          </p:cNvPr>
          <p:cNvSpPr txBox="1">
            <a:spLocks/>
          </p:cNvSpPr>
          <p:nvPr/>
        </p:nvSpPr>
        <p:spPr bwMode="gray">
          <a:xfrm>
            <a:off x="5250426" y="1577793"/>
            <a:ext cx="2947304" cy="4623555"/>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Revenue: </a:t>
            </a:r>
            <a:r>
              <a:rPr lang="en-US" dirty="0">
                <a:solidFill>
                  <a:schemeClr val="tx1"/>
                </a:solidFill>
                <a:latin typeface="Univers for KPMG" panose="020B0603020202020204" pitchFamily="34" charset="0"/>
              </a:rPr>
              <a:t>The underlying growth in revenue is driven by the increase in volume through website, social media and forums.</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Price:</a:t>
            </a:r>
            <a:r>
              <a:rPr lang="en-US" dirty="0">
                <a:solidFill>
                  <a:schemeClr val="tx1"/>
                </a:solidFill>
                <a:latin typeface="Univers for KPMG" panose="020B0603020202020204" pitchFamily="34" charset="0"/>
              </a:rPr>
              <a:t> The price charged to customers are consistent at $99 per month throughout historical periods. However, Management does provide discounts (e.g. $50 or $79 per month for the first three or six months) on ad-hoc basis to certain customers for retention and marketing purpose, hence lowering the average revenue per username.</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Posted price:</a:t>
            </a:r>
            <a:r>
              <a:rPr lang="en-US" dirty="0">
                <a:solidFill>
                  <a:schemeClr val="tx1"/>
                </a:solidFill>
                <a:latin typeface="Univers for KPMG" panose="020B0603020202020204" pitchFamily="34" charset="0"/>
              </a:rPr>
              <a:t> The current posted price listed on the Company’s website is $199/month (monthly subscription) and $179/month (annual subscription) is primarily marketing related. The Company will continue to charge $99/month for existing customers in the foreseeable future.</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Churn: </a:t>
            </a:r>
            <a:r>
              <a:rPr lang="en-CA" dirty="0">
                <a:solidFill>
                  <a:schemeClr val="tx1"/>
                </a:solidFill>
                <a:latin typeface="Univers for KPMG" panose="020B0603020202020204" pitchFamily="34" charset="0"/>
              </a:rPr>
              <a:t>There are 19 churned subscriptions (from six usernames) historically and additional 13 subscriptions terminated less than six months of usage  (included in “Other”)</a:t>
            </a:r>
            <a:r>
              <a:rPr lang="en-US" dirty="0">
                <a:solidFill>
                  <a:schemeClr val="tx1"/>
                </a:solidFill>
                <a:latin typeface="Univers for KPMG" panose="020B0603020202020204" pitchFamily="34" charset="0"/>
              </a:rPr>
              <a:t>. </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Pipeline:</a:t>
            </a:r>
            <a:r>
              <a:rPr lang="en-US" dirty="0">
                <a:solidFill>
                  <a:schemeClr val="tx1"/>
                </a:solidFill>
                <a:latin typeface="Univers for KPMG" panose="020B0603020202020204" pitchFamily="34" charset="0"/>
              </a:rPr>
              <a:t> Management have provided the following subscriber pipeline update as at September 24, 2020 (# of accounts):</a:t>
            </a:r>
            <a:endParaRPr lang="en-US" b="1" dirty="0">
              <a:solidFill>
                <a:schemeClr val="tx1"/>
              </a:solidFill>
              <a:latin typeface="Univers for KPMG" panose="020B0603020202020204" pitchFamily="34" charset="0"/>
            </a:endParaRPr>
          </a:p>
          <a:p>
            <a:pPr marL="338137" lvl="3" indent="-171450">
              <a:spcAft>
                <a:spcPts val="20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Lead: 79</a:t>
            </a:r>
          </a:p>
          <a:p>
            <a:pPr marL="338137" lvl="3" indent="-171450">
              <a:spcAft>
                <a:spcPts val="20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In Contact: 69</a:t>
            </a:r>
          </a:p>
          <a:p>
            <a:pPr marL="338137" lvl="3" indent="-171450">
              <a:spcAft>
                <a:spcPts val="20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Demo Booked: 61</a:t>
            </a:r>
          </a:p>
          <a:p>
            <a:pPr marL="338137" lvl="3" indent="-171450">
              <a:spcAft>
                <a:spcPts val="20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Platform Trial: 5</a:t>
            </a:r>
          </a:p>
          <a:p>
            <a:pPr marL="338137" lvl="3" indent="-171450">
              <a:spcAft>
                <a:spcPts val="20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Onboarding: 44</a:t>
            </a:r>
          </a:p>
        </p:txBody>
      </p:sp>
      <p:pic>
        <p:nvPicPr>
          <p:cNvPr id="2" name="Picture 1">
            <a:extLst>
              <a:ext uri="{FF2B5EF4-FFF2-40B4-BE49-F238E27FC236}">
                <a16:creationId xmlns:a16="http://schemas.microsoft.com/office/drawing/2014/main" id="{771BE07D-6ECB-45BC-B9DA-9353D74491C3}"/>
              </a:ext>
            </a:extLst>
          </p:cNvPr>
          <p:cNvPicPr>
            <a:picLocks noChangeAspect="1"/>
          </p:cNvPicPr>
          <p:nvPr>
            <p:custDataLst>
              <p:tags r:id="rId4"/>
            </p:custDataLst>
          </p:nvPr>
        </p:nvPicPr>
        <p:blipFill>
          <a:blip r:embed="rId11"/>
          <a:stretch>
            <a:fillRect/>
          </a:stretch>
        </p:blipFill>
        <p:spPr>
          <a:xfrm>
            <a:off x="1563780" y="1545881"/>
            <a:ext cx="5256120" cy="2305165"/>
          </a:xfrm>
          <a:prstGeom prst="rect">
            <a:avLst/>
          </a:prstGeom>
        </p:spPr>
      </p:pic>
      <p:pic>
        <p:nvPicPr>
          <p:cNvPr id="6" name="Picture 5">
            <a:extLst>
              <a:ext uri="{FF2B5EF4-FFF2-40B4-BE49-F238E27FC236}">
                <a16:creationId xmlns:a16="http://schemas.microsoft.com/office/drawing/2014/main" id="{41512032-2F03-4C9B-97C8-300FDD19DDE3}"/>
              </a:ext>
            </a:extLst>
          </p:cNvPr>
          <p:cNvPicPr>
            <a:picLocks noChangeAspect="1"/>
          </p:cNvPicPr>
          <p:nvPr>
            <p:custDataLst>
              <p:tags r:id="rId5"/>
            </p:custDataLst>
          </p:nvPr>
        </p:nvPicPr>
        <p:blipFill>
          <a:blip r:embed="rId12"/>
          <a:stretch>
            <a:fillRect/>
          </a:stretch>
        </p:blipFill>
        <p:spPr>
          <a:xfrm>
            <a:off x="1874816" y="4928808"/>
            <a:ext cx="3249757" cy="896003"/>
          </a:xfrm>
          <a:prstGeom prst="rect">
            <a:avLst/>
          </a:prstGeom>
        </p:spPr>
      </p:pic>
      <p:pic>
        <p:nvPicPr>
          <p:cNvPr id="15" name="Picture 14">
            <a:extLst>
              <a:ext uri="{FF2B5EF4-FFF2-40B4-BE49-F238E27FC236}">
                <a16:creationId xmlns:a16="http://schemas.microsoft.com/office/drawing/2014/main" id="{6C5B417D-1AC3-495C-957B-35CAFF8608F8}"/>
              </a:ext>
            </a:extLst>
          </p:cNvPr>
          <p:cNvPicPr>
            <a:picLocks noChangeAspect="1"/>
          </p:cNvPicPr>
          <p:nvPr>
            <p:custDataLst>
              <p:tags r:id="rId6"/>
            </p:custDataLst>
          </p:nvPr>
        </p:nvPicPr>
        <p:blipFill>
          <a:blip r:embed="rId13"/>
          <a:stretch>
            <a:fillRect/>
          </a:stretch>
        </p:blipFill>
        <p:spPr>
          <a:xfrm>
            <a:off x="1591749" y="3329990"/>
            <a:ext cx="3406972" cy="1598818"/>
          </a:xfrm>
          <a:prstGeom prst="rect">
            <a:avLst/>
          </a:prstGeom>
        </p:spPr>
      </p:pic>
    </p:spTree>
    <p:extLst>
      <p:ext uri="{BB962C8B-B14F-4D97-AF65-F5344CB8AC3E}">
        <p14:creationId xmlns:p14="http://schemas.microsoft.com/office/powerpoint/2010/main" val="2045985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14738195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1377" name="think-cell Slide" r:id="rId7" imgW="498" imgH="499" progId="TCLayout.ActiveDocument.1">
                  <p:embed/>
                </p:oleObj>
              </mc:Choice>
              <mc:Fallback>
                <p:oleObj name="think-cell Slide" r:id="rId7" imgW="498" imgH="499" progId="TCLayout.ActiveDocument.1">
                  <p:embed/>
                  <p:pic>
                    <p:nvPicPr>
                      <p:cNvPr id="7" name="Object 6"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US"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13" name="Titre 5"/>
          <p:cNvSpPr>
            <a:spLocks noGrp="1"/>
          </p:cNvSpPr>
          <p:nvPr>
            <p:ph type="title"/>
          </p:nvPr>
        </p:nvSpPr>
        <p:spPr>
          <a:xfrm>
            <a:off x="431800" y="228600"/>
            <a:ext cx="8280400" cy="784830"/>
          </a:xfrm>
        </p:spPr>
        <p:txBody>
          <a:bodyPr/>
          <a:lstStyle/>
          <a:p>
            <a:r>
              <a:rPr lang="en-US" sz="2400" dirty="0">
                <a:solidFill>
                  <a:schemeClr val="bg1">
                    <a:lumMod val="50000"/>
                  </a:schemeClr>
                </a:solidFill>
              </a:rPr>
              <a:t>Overview</a:t>
            </a:r>
            <a:br>
              <a:rPr lang="en-US" sz="2400" dirty="0">
                <a:solidFill>
                  <a:schemeClr val="bg1">
                    <a:lumMod val="50000"/>
                  </a:schemeClr>
                </a:solidFill>
              </a:rPr>
            </a:br>
            <a:r>
              <a:rPr lang="en-US" sz="4400" dirty="0"/>
              <a:t>Headlines (3)</a:t>
            </a:r>
          </a:p>
        </p:txBody>
      </p:sp>
      <p:graphicFrame>
        <p:nvGraphicFramePr>
          <p:cNvPr id="9" name="Group 3"/>
          <p:cNvGraphicFramePr>
            <a:graphicFrameLocks noGrp="1"/>
          </p:cNvGraphicFramePr>
          <p:nvPr>
            <p:extLst>
              <p:ext uri="{D42A27DB-BD31-4B8C-83A1-F6EECF244321}">
                <p14:modId xmlns:p14="http://schemas.microsoft.com/office/powerpoint/2010/main" val="1432480801"/>
              </p:ext>
            </p:extLst>
          </p:nvPr>
        </p:nvGraphicFramePr>
        <p:xfrm>
          <a:off x="445788" y="1219201"/>
          <a:ext cx="8535652" cy="3825240"/>
        </p:xfrm>
        <a:graphic>
          <a:graphicData uri="http://schemas.openxmlformats.org/drawingml/2006/table">
            <a:tbl>
              <a:tblPr/>
              <a:tblGrid>
                <a:gridCol w="1149911">
                  <a:extLst>
                    <a:ext uri="{9D8B030D-6E8A-4147-A177-3AD203B41FA5}">
                      <a16:colId xmlns:a16="http://schemas.microsoft.com/office/drawing/2014/main" val="20000"/>
                    </a:ext>
                  </a:extLst>
                </a:gridCol>
                <a:gridCol w="6618644">
                  <a:extLst>
                    <a:ext uri="{9D8B030D-6E8A-4147-A177-3AD203B41FA5}">
                      <a16:colId xmlns:a16="http://schemas.microsoft.com/office/drawing/2014/main" val="20001"/>
                    </a:ext>
                  </a:extLst>
                </a:gridCol>
                <a:gridCol w="767097">
                  <a:extLst>
                    <a:ext uri="{9D8B030D-6E8A-4147-A177-3AD203B41FA5}">
                      <a16:colId xmlns:a16="http://schemas.microsoft.com/office/drawing/2014/main" val="20002"/>
                    </a:ext>
                  </a:extLst>
                </a:gridCol>
              </a:tblGrid>
              <a:tr h="197566">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u="none" kern="1200" dirty="0">
                          <a:solidFill>
                            <a:schemeClr val="bg1"/>
                          </a:solidFill>
                          <a:latin typeface="Univers for KPMG" panose="020B0603020202020204" pitchFamily="34" charset="0"/>
                          <a:ea typeface="+mn-ea"/>
                          <a:cs typeface="+mn-cs"/>
                        </a:rPr>
                        <a:t>Issue</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extLst>
                  <a:ext uri="{0D108BD9-81ED-4DB2-BD59-A6C34878D82A}">
                    <a16:rowId xmlns:a16="http://schemas.microsoft.com/office/drawing/2014/main" val="10000"/>
                  </a:ext>
                </a:extLst>
              </a:tr>
              <a:tr h="1872987">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i="0" kern="1200" spc="15" dirty="0">
                          <a:solidFill>
                            <a:schemeClr val="tx2"/>
                          </a:solidFill>
                          <a:latin typeface="Univers for KPMG" panose="020B0603020202020204" pitchFamily="34" charset="0"/>
                          <a:ea typeface="+mn-ea"/>
                          <a:cs typeface="Univers for KPMG"/>
                        </a:rPr>
                        <a:t>Net working capital</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Average adjusted net working capital for the twelve months ended August 31, 2020 is negative $15,000.</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1" kern="0" dirty="0">
                          <a:solidFill>
                            <a:schemeClr val="tx2"/>
                          </a:solidFill>
                          <a:latin typeface="Univers for KPMG" panose="020B0603020202020204" pitchFamily="34" charset="0"/>
                        </a:rPr>
                        <a:t> </a:t>
                      </a:r>
                    </a:p>
                    <a:p>
                      <a:pPr marL="0" marR="0" lvl="1" indent="0" algn="l" defTabSz="914400" rtl="0" eaLnBrk="1" fontAlgn="base" latinLnBrk="0" hangingPunct="1">
                        <a:lnSpc>
                          <a:spcPct val="100000"/>
                        </a:lnSpc>
                        <a:spcBef>
                          <a:spcPts val="0"/>
                        </a:spcBef>
                        <a:spcAft>
                          <a:spcPts val="600"/>
                        </a:spcAft>
                        <a:buClrTx/>
                        <a:buSzTx/>
                        <a:buFontTx/>
                        <a:buNone/>
                        <a:tabLst/>
                        <a:defRPr/>
                      </a:pPr>
                      <a:endParaRPr lang="en-US" sz="900" b="0" i="1" u="none" kern="1200" baseline="0" dirty="0">
                        <a:solidFill>
                          <a:schemeClr val="tx2"/>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177800" lvl="2" indent="-177800">
                        <a:spcBef>
                          <a:spcPts val="400"/>
                        </a:spcBef>
                        <a:buClr>
                          <a:srgbClr val="97989A"/>
                        </a:buClr>
                        <a:buFont typeface="Arial" pitchFamily="34" charset="0"/>
                        <a:buChar char="■"/>
                        <a:defRPr/>
                      </a:pPr>
                      <a:endParaRPr lang="en-US" sz="900" baseline="0" dirty="0">
                        <a:solidFill>
                          <a:schemeClr val="tx1"/>
                        </a:solidFill>
                        <a:latin typeface="Univers for KPMG"/>
                        <a:cs typeface="Univers for KPMG"/>
                      </a:endParaRPr>
                    </a:p>
                    <a:p>
                      <a:pPr marL="0" lvl="2" indent="0">
                        <a:spcBef>
                          <a:spcPts val="400"/>
                        </a:spcBef>
                        <a:spcAft>
                          <a:spcPts val="0"/>
                        </a:spcAft>
                        <a:buClr>
                          <a:srgbClr val="97989A"/>
                        </a:buClr>
                        <a:buFont typeface="Arial" pitchFamily="34" charset="0"/>
                        <a:buNone/>
                        <a:defRPr/>
                      </a:pPr>
                      <a:endParaRPr lang="en-US" sz="900" b="1" dirty="0">
                        <a:solidFill>
                          <a:schemeClr val="tx1"/>
                        </a:solidFill>
                        <a:latin typeface="Univers for KPMG" panose="020B0603020202020204" pitchFamily="34" charset="0"/>
                        <a:cs typeface="Arial" pitchFamily="34" charset="0"/>
                      </a:endParaRPr>
                    </a:p>
                    <a:p>
                      <a:pPr marL="177800" lvl="2" indent="-177800">
                        <a:spcBef>
                          <a:spcPts val="400"/>
                        </a:spcBef>
                        <a:spcAft>
                          <a:spcPts val="0"/>
                        </a:spcAft>
                        <a:buClr>
                          <a:srgbClr val="97989A"/>
                        </a:buClr>
                        <a:buFont typeface="Arial" pitchFamily="34" charset="0"/>
                        <a:buChar char="■"/>
                        <a:defRPr/>
                      </a:pPr>
                      <a:r>
                        <a:rPr lang="en-US" sz="900" b="1" dirty="0">
                          <a:solidFill>
                            <a:schemeClr val="tx1"/>
                          </a:solidFill>
                          <a:latin typeface="Univers for KPMG" panose="020B0603020202020204" pitchFamily="34" charset="0"/>
                          <a:cs typeface="Arial" pitchFamily="34" charset="0"/>
                        </a:rPr>
                        <a:t>Current assets: </a:t>
                      </a:r>
                      <a:r>
                        <a:rPr lang="en-US" sz="900" dirty="0">
                          <a:solidFill>
                            <a:schemeClr val="tx1"/>
                          </a:solidFill>
                          <a:latin typeface="Univers for KPMG" panose="020B0603020202020204" pitchFamily="34" charset="0"/>
                          <a:cs typeface="Arial" pitchFamily="34" charset="0"/>
                        </a:rPr>
                        <a:t>Is comprised of prepaid rent expense. </a:t>
                      </a:r>
                      <a:r>
                        <a:rPr lang="en-US" sz="900" dirty="0">
                          <a:latin typeface="Univers for KPMG" panose="020B0603020202020204" pitchFamily="34" charset="0"/>
                        </a:rPr>
                        <a:t>Due to the nature of the business (paid immediately through credit card upon subscription), the Company does not carry accounts receivable.</a:t>
                      </a:r>
                    </a:p>
                    <a:p>
                      <a:pPr marL="177800" lvl="2" indent="-177800">
                        <a:spcBef>
                          <a:spcPts val="400"/>
                        </a:spcBef>
                        <a:buClr>
                          <a:srgbClr val="97989A"/>
                        </a:buClr>
                        <a:buFont typeface="Arial" pitchFamily="34" charset="0"/>
                        <a:buChar char="■"/>
                        <a:defRPr/>
                      </a:pPr>
                      <a:r>
                        <a:rPr lang="en-US" sz="900" b="1" dirty="0">
                          <a:solidFill>
                            <a:schemeClr val="tx1"/>
                          </a:solidFill>
                          <a:latin typeface="Univers for KPMG" panose="020B0603020202020204" pitchFamily="34" charset="0"/>
                          <a:cs typeface="Arial" pitchFamily="34" charset="0"/>
                        </a:rPr>
                        <a:t>Current liabilities: </a:t>
                      </a:r>
                      <a:r>
                        <a:rPr lang="en-US" sz="900" dirty="0">
                          <a:solidFill>
                            <a:schemeClr val="tx1"/>
                          </a:solidFill>
                          <a:latin typeface="Univers for KPMG" panose="020B0603020202020204" pitchFamily="34" charset="0"/>
                          <a:cs typeface="Arial" pitchFamily="34" charset="0"/>
                        </a:rPr>
                        <a:t>Is primarily comprised of credit card liabilities, net sales and payroll taxes receivables (payables).</a:t>
                      </a:r>
                    </a:p>
                    <a:p>
                      <a:pPr marL="177800" lvl="2" indent="-177800">
                        <a:spcBef>
                          <a:spcPts val="400"/>
                        </a:spcBef>
                        <a:buClr>
                          <a:srgbClr val="97989A"/>
                        </a:buClr>
                        <a:buFont typeface="Arial" pitchFamily="34" charset="0"/>
                        <a:buChar char="■"/>
                        <a:defRPr/>
                      </a:pPr>
                      <a:r>
                        <a:rPr lang="en-US" sz="900" b="1" dirty="0">
                          <a:solidFill>
                            <a:schemeClr val="tx1"/>
                          </a:solidFill>
                          <a:latin typeface="Univers for KPMG" panose="020B0603020202020204" pitchFamily="34" charset="0"/>
                          <a:cs typeface="Arial" pitchFamily="34" charset="0"/>
                        </a:rPr>
                        <a:t>Net working capital adjustments</a:t>
                      </a:r>
                      <a:r>
                        <a:rPr lang="en-US" sz="900" dirty="0">
                          <a:solidFill>
                            <a:schemeClr val="tx1"/>
                          </a:solidFill>
                          <a:latin typeface="Univers for KPMG" panose="020B0603020202020204" pitchFamily="34" charset="0"/>
                          <a:cs typeface="Arial" pitchFamily="34" charset="0"/>
                        </a:rPr>
                        <a:t>: </a:t>
                      </a:r>
                    </a:p>
                    <a:p>
                      <a:pPr marL="685800" lvl="3" indent="-228600">
                        <a:spcBef>
                          <a:spcPts val="400"/>
                        </a:spcBef>
                        <a:buClr>
                          <a:srgbClr val="97989A"/>
                        </a:buClr>
                        <a:buFont typeface="+mj-lt"/>
                        <a:buAutoNum type="arabicPeriod"/>
                        <a:defRPr/>
                      </a:pPr>
                      <a:r>
                        <a:rPr lang="en-US" sz="900" b="1" dirty="0">
                          <a:solidFill>
                            <a:schemeClr val="tx1"/>
                          </a:solidFill>
                          <a:latin typeface="Univers for KPMG" panose="020B0603020202020204" pitchFamily="34" charset="0"/>
                          <a:cs typeface="Arial" pitchFamily="34" charset="0"/>
                        </a:rPr>
                        <a:t>Vacation accrual: </a:t>
                      </a:r>
                      <a:r>
                        <a:rPr lang="en-US" sz="900" b="1" dirty="0">
                          <a:solidFill>
                            <a:schemeClr val="tx1"/>
                          </a:solidFill>
                          <a:latin typeface="Univers for KPMG" panose="020B0603020202020204" pitchFamily="34" charset="0"/>
                        </a:rPr>
                        <a:t>Vacation accrual</a:t>
                      </a:r>
                      <a:r>
                        <a:rPr lang="en-US" sz="900" dirty="0">
                          <a:solidFill>
                            <a:schemeClr val="tx1"/>
                          </a:solidFill>
                          <a:latin typeface="Univers for KPMG" panose="020B0603020202020204" pitchFamily="34" charset="0"/>
                        </a:rPr>
                        <a:t>: Relates to the vacation accrual of the three owners and two permanent employees, assuming 20 vacation days annually taken throughout the year.</a:t>
                      </a:r>
                      <a:endParaRPr lang="en-US" sz="900" dirty="0">
                        <a:solidFill>
                          <a:schemeClr val="tx1"/>
                        </a:solidFill>
                      </a:endParaRPr>
                    </a:p>
                    <a:p>
                      <a:pPr marL="685800" lvl="3" indent="-228600">
                        <a:spcBef>
                          <a:spcPts val="400"/>
                        </a:spcBef>
                        <a:buClr>
                          <a:srgbClr val="97989A"/>
                        </a:buClr>
                        <a:buFont typeface="+mj-lt"/>
                        <a:buAutoNum type="arabicPeriod"/>
                        <a:defRPr/>
                      </a:pPr>
                      <a:r>
                        <a:rPr lang="en-US" sz="900" b="1" dirty="0">
                          <a:latin typeface="Univers for KPMG" panose="020B0603020202020204" pitchFamily="34" charset="0"/>
                        </a:rPr>
                        <a:t>Sales taxes</a:t>
                      </a:r>
                      <a:r>
                        <a:rPr lang="en-US" sz="900" dirty="0">
                          <a:latin typeface="Univers for KPMG" panose="020B0603020202020204" pitchFamily="34" charset="0"/>
                        </a:rPr>
                        <a:t>: We excluded the net HST receivable balance prior to January 2020 as the Company is not able to claim refund prior to being registered. </a:t>
                      </a:r>
                    </a:p>
                    <a:p>
                      <a:pPr marL="177800" marR="0" lvl="2" indent="-177800" algn="l"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r>
                        <a:rPr lang="en-US" sz="900" b="0" i="0" u="none" kern="1200" baseline="0" dirty="0">
                          <a:solidFill>
                            <a:schemeClr val="tx1"/>
                          </a:solidFill>
                          <a:latin typeface="Univers for KPMG" panose="020B0603020202020204" pitchFamily="34" charset="0"/>
                          <a:ea typeface="+mn-ea"/>
                          <a:cs typeface="+mn-cs"/>
                        </a:rPr>
                        <a:t>The Company can </a:t>
                      </a:r>
                      <a:r>
                        <a:rPr lang="en-US" sz="900" i="0" dirty="0">
                          <a:solidFill>
                            <a:schemeClr val="tx1"/>
                          </a:solidFill>
                          <a:latin typeface="Univers for KPMG" panose="020B0603020202020204" pitchFamily="34" charset="0"/>
                        </a:rPr>
                        <a:t>increase the average cash on hand by increasing the days outstanding for its payables instead of paying immediately using credit card. </a:t>
                      </a:r>
                      <a:endParaRPr lang="en-US" sz="900" b="0" i="0" u="none" kern="1200" baseline="0" dirty="0">
                        <a:solidFill>
                          <a:schemeClr val="tx1"/>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1" dirty="0">
                          <a:latin typeface="Univers for KPMG" panose="020B0603020202020204" pitchFamily="34" charset="0"/>
                        </a:rPr>
                        <a:t>pp. 19, 20</a:t>
                      </a:r>
                      <a:endParaRPr lang="en-US" sz="900" b="0" u="none" dirty="0">
                        <a:solidFill>
                          <a:schemeClr val="tx1"/>
                        </a:solidFill>
                        <a:latin typeface="Univers for KPMG" panose="020B0603020202020204"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14" name="TextBox 13">
            <a:extLst>
              <a:ext uri="{FF2B5EF4-FFF2-40B4-BE49-F238E27FC236}">
                <a16:creationId xmlns:a16="http://schemas.microsoft.com/office/drawing/2014/main" id="{CC88FDBE-55D1-4C04-8A06-B83771BE7511}"/>
              </a:ext>
            </a:extLst>
          </p:cNvPr>
          <p:cNvSpPr txBox="1"/>
          <p:nvPr/>
        </p:nvSpPr>
        <p:spPr>
          <a:xfrm>
            <a:off x="1756342" y="3196429"/>
            <a:ext cx="2587808" cy="92333"/>
          </a:xfrm>
          <a:prstGeom prst="rect">
            <a:avLst/>
          </a:prstGeom>
          <a:noFill/>
        </p:spPr>
        <p:txBody>
          <a:bodyPr wrap="square" lIns="0" tIns="0" rIns="0" bIns="0" rtlCol="0">
            <a:spAutoFit/>
          </a:bodyPr>
          <a:lstStyle/>
          <a:p>
            <a:pPr>
              <a:tabLst>
                <a:tab pos="396875" algn="l"/>
              </a:tabLst>
            </a:pPr>
            <a:r>
              <a:rPr lang="en-US" sz="600" i="1" dirty="0">
                <a:latin typeface="Univers for KPMG" panose="020B0603020202020204" pitchFamily="34" charset="0"/>
                <a:cs typeface="Arial" pitchFamily="34" charset="0"/>
              </a:rPr>
              <a:t>Source: Information provided by Management</a:t>
            </a:r>
          </a:p>
        </p:txBody>
      </p:sp>
      <p:pic>
        <p:nvPicPr>
          <p:cNvPr id="3" name="Picture 2">
            <a:extLst>
              <a:ext uri="{FF2B5EF4-FFF2-40B4-BE49-F238E27FC236}">
                <a16:creationId xmlns:a16="http://schemas.microsoft.com/office/drawing/2014/main" id="{B47615DD-0808-4054-9F7B-0B58AF2E6893}"/>
              </a:ext>
            </a:extLst>
          </p:cNvPr>
          <p:cNvPicPr>
            <a:picLocks noChangeAspect="1"/>
          </p:cNvPicPr>
          <p:nvPr>
            <p:custDataLst>
              <p:tags r:id="rId4"/>
            </p:custDataLst>
          </p:nvPr>
        </p:nvPicPr>
        <p:blipFill>
          <a:blip r:embed="rId9"/>
          <a:stretch>
            <a:fillRect/>
          </a:stretch>
        </p:blipFill>
        <p:spPr>
          <a:xfrm>
            <a:off x="1756345" y="1507201"/>
            <a:ext cx="4589999" cy="1689231"/>
          </a:xfrm>
          <a:prstGeom prst="rect">
            <a:avLst/>
          </a:prstGeom>
        </p:spPr>
      </p:pic>
    </p:spTree>
    <p:extLst>
      <p:ext uri="{BB962C8B-B14F-4D97-AF65-F5344CB8AC3E}">
        <p14:creationId xmlns:p14="http://schemas.microsoft.com/office/powerpoint/2010/main" val="827727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8D2E2F-C81C-4AD7-8B33-2D9B51C39553}"/>
              </a:ext>
            </a:extLst>
          </p:cNvPr>
          <p:cNvPicPr>
            <a:picLocks noChangeAspect="1"/>
          </p:cNvPicPr>
          <p:nvPr>
            <p:custDataLst>
              <p:tags r:id="rId2"/>
            </p:custDataLst>
          </p:nvPr>
        </p:nvPicPr>
        <p:blipFill>
          <a:blip r:embed="rId7"/>
          <a:stretch>
            <a:fillRect/>
          </a:stretch>
        </p:blipFill>
        <p:spPr>
          <a:xfrm>
            <a:off x="431801" y="1203084"/>
            <a:ext cx="4972050" cy="3236467"/>
          </a:xfrm>
          <a:prstGeom prst="rect">
            <a:avLst/>
          </a:prstGeom>
        </p:spPr>
      </p:pic>
      <p:graphicFrame>
        <p:nvGraphicFramePr>
          <p:cNvPr id="4" name="Object 3" hidden="1"/>
          <p:cNvGraphicFramePr>
            <a:graphicFrameLocks noChangeAspect="1"/>
          </p:cNvGraphicFramePr>
          <p:nvPr>
            <p:custDataLst>
              <p:tags r:id="rId3"/>
            </p:custDataLst>
            <p:extLst>
              <p:ext uri="{D42A27DB-BD31-4B8C-83A1-F6EECF244321}">
                <p14:modId xmlns:p14="http://schemas.microsoft.com/office/powerpoint/2010/main" val="169554706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9347" name="think-cell Slide" r:id="rId8" imgW="270" imgH="270" progId="TCLayout.ActiveDocument.1">
                  <p:embed/>
                </p:oleObj>
              </mc:Choice>
              <mc:Fallback>
                <p:oleObj name="think-cell Slide" r:id="rId8" imgW="270" imgH="270" progId="TCLayout.ActiveDocument.1">
                  <p:embed/>
                  <p:pic>
                    <p:nvPicPr>
                      <p:cNvPr id="4" name="Object 3" hidden="1"/>
                      <p:cNvPicPr/>
                      <p:nvPr/>
                    </p:nvPicPr>
                    <p:blipFill>
                      <a:blip r:embed="rId9"/>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4"/>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38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1" y="250125"/>
            <a:ext cx="8496000" cy="784830"/>
          </a:xfrm>
        </p:spPr>
        <p:txBody>
          <a:bodyPr/>
          <a:lstStyle/>
          <a:p>
            <a:r>
              <a:rPr lang="en-CA" sz="2400" dirty="0">
                <a:solidFill>
                  <a:schemeClr val="bg1">
                    <a:lumMod val="50000"/>
                  </a:schemeClr>
                </a:solidFill>
              </a:rPr>
              <a:t>Overview</a:t>
            </a:r>
            <a:br>
              <a:rPr lang="en-CA" dirty="0"/>
            </a:br>
            <a:r>
              <a:rPr lang="en-CA" dirty="0"/>
              <a:t>Run-rate P&amp;L</a:t>
            </a:r>
            <a:endParaRPr lang="en-CA" sz="4400" dirty="0"/>
          </a:p>
        </p:txBody>
      </p:sp>
      <p:sp>
        <p:nvSpPr>
          <p:cNvPr id="15" name="Text Placeholder 6"/>
          <p:cNvSpPr txBox="1">
            <a:spLocks/>
          </p:cNvSpPr>
          <p:nvPr/>
        </p:nvSpPr>
        <p:spPr bwMode="gray">
          <a:xfrm>
            <a:off x="425110" y="902200"/>
            <a:ext cx="8718890" cy="392415"/>
          </a:xfrm>
          <a:prstGeom prst="rect">
            <a:avLst/>
          </a:prstGeom>
        </p:spPr>
        <p:txBody>
          <a:bodyPr vert="horz" wrap="square" lIns="0" tIns="0" rIns="0" bIns="0" rtlCol="0">
            <a:spAutoFit/>
          </a:bodyPr>
          <a:lstStyle>
            <a:lvl1pPr algn="l" eaLnBrk="1" hangingPunct="1">
              <a:spcBef>
                <a:spcPts val="900"/>
              </a:spcBef>
              <a:spcAft>
                <a:spcPts val="0"/>
              </a:spcAft>
              <a:defRPr sz="1200" b="1" i="0">
                <a:solidFill>
                  <a:srgbClr val="00338D"/>
                </a:solidFill>
                <a:latin typeface="Univers for KPMG" panose="020B0603020202020204" pitchFamily="34" charset="0"/>
                <a:cs typeface="Arial" panose="020B0604020202020204" pitchFamily="34" charset="0"/>
              </a:defRPr>
            </a:lvl1pPr>
            <a:lvl2pPr marL="0" indent="0" algn="l" eaLnBrk="1" hangingPunct="1">
              <a:spcBef>
                <a:spcPts val="600"/>
              </a:spcBef>
              <a:spcAft>
                <a:spcPts val="0"/>
              </a:spcAft>
              <a:buFont typeface="Univers for KPMG"/>
              <a:buNone/>
              <a:defRPr sz="1200" b="0" i="0">
                <a:solidFill>
                  <a:srgbClr val="00338D"/>
                </a:solidFill>
                <a:latin typeface="+mn-lt"/>
                <a:cs typeface="Arial" panose="020B0604020202020204" pitchFamily="34" charset="0"/>
              </a:defRPr>
            </a:lvl2pPr>
            <a:lvl3pPr marL="270000" indent="-270000" algn="l" eaLnBrk="1" hangingPunct="1">
              <a:spcBef>
                <a:spcPts val="300"/>
              </a:spcBef>
              <a:spcAft>
                <a:spcPts val="0"/>
              </a:spcAft>
              <a:buClr>
                <a:schemeClr val="tx2"/>
              </a:buClr>
              <a:buFont typeface="Univers for KPMG Light" panose="020B0403020202020204" pitchFamily="34" charset="0"/>
              <a:buChar char="—"/>
              <a:defRPr sz="1100" b="0" i="0">
                <a:solidFill>
                  <a:srgbClr val="00338D"/>
                </a:solidFill>
                <a:latin typeface="+mn-lt"/>
                <a:cs typeface="Arial" panose="020B0604020202020204" pitchFamily="34" charset="0"/>
              </a:defRPr>
            </a:lvl3pPr>
            <a:lvl4pPr marL="630000" indent="-270000" algn="l" eaLnBrk="1" hangingPunct="1">
              <a:spcBef>
                <a:spcPts val="200"/>
              </a:spcBef>
              <a:spcAft>
                <a:spcPts val="0"/>
              </a:spcAft>
              <a:buClr>
                <a:schemeClr val="tx2"/>
              </a:buClr>
              <a:buFont typeface="Univers for KPMG Light" panose="020B0403020202020204" pitchFamily="34" charset="0"/>
              <a:buChar char="—"/>
              <a:defRPr lang="en-US" sz="1000" b="0" i="0" dirty="0" smtClean="0">
                <a:solidFill>
                  <a:srgbClr val="00338D"/>
                </a:solidFill>
                <a:latin typeface="+mn-lt"/>
                <a:cs typeface="Arial" panose="020B0604020202020204" pitchFamily="34" charset="0"/>
              </a:defRPr>
            </a:lvl4pPr>
            <a:lvl5pPr marL="990000" indent="-270000" algn="l" eaLnBrk="1" hangingPunct="1">
              <a:spcBef>
                <a:spcPts val="200"/>
              </a:spcBef>
              <a:spcAft>
                <a:spcPts val="0"/>
              </a:spcAft>
              <a:buClr>
                <a:schemeClr val="tx2"/>
              </a:buClr>
              <a:buFont typeface="Univers for KPMG Light" panose="020B0403020202020204" pitchFamily="34" charset="0"/>
              <a:buChar char="—"/>
              <a:defRPr lang="en-CA" sz="900" b="0" i="0" dirty="0">
                <a:solidFill>
                  <a:srgbClr val="00338D"/>
                </a:solidFill>
                <a:latin typeface="+mn-lt"/>
                <a:cs typeface="Arial" panose="020B0604020202020204" pitchFamily="34" charset="0"/>
              </a:defRPr>
            </a:lvl5pPr>
            <a:lvl6pPr marL="1166813"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6pPr>
            <a:lvl7pPr marL="1524000"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7pPr>
            <a:lvl8pPr marL="1881188"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8pPr>
            <a:lvl9pPr marL="2238375"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9pPr>
          </a:lstStyle>
          <a:p>
            <a:r>
              <a:rPr lang="en-US" sz="900" b="0" dirty="0">
                <a:solidFill>
                  <a:srgbClr val="6D2077"/>
                </a:solidFill>
              </a:rPr>
              <a:t>Based on August 2020 subscriber count, the annualized revenue is approximately $400,000 with an operating cost base of approximately $1,052,000.</a:t>
            </a:r>
            <a:endParaRPr lang="en-US" sz="900" b="0" dirty="0">
              <a:solidFill>
                <a:srgbClr val="FF0000"/>
              </a:solidFill>
            </a:endParaRPr>
          </a:p>
          <a:p>
            <a:endParaRPr lang="en-US" sz="900" b="0" kern="0" dirty="0">
              <a:solidFill>
                <a:srgbClr val="6D2077"/>
              </a:solidFill>
            </a:endParaRPr>
          </a:p>
        </p:txBody>
      </p:sp>
      <p:sp>
        <p:nvSpPr>
          <p:cNvPr id="17" name="Espace réservé du texte 3">
            <a:extLst>
              <a:ext uri="{FF2B5EF4-FFF2-40B4-BE49-F238E27FC236}">
                <a16:creationId xmlns:a16="http://schemas.microsoft.com/office/drawing/2014/main" id="{0A6C3B81-1566-4A62-88B1-14B7B6B7E869}"/>
              </a:ext>
            </a:extLst>
          </p:cNvPr>
          <p:cNvSpPr txBox="1">
            <a:spLocks/>
          </p:cNvSpPr>
          <p:nvPr/>
        </p:nvSpPr>
        <p:spPr bwMode="gray">
          <a:xfrm>
            <a:off x="5555226" y="1203084"/>
            <a:ext cx="3163664" cy="4915943"/>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spcBef>
                <a:spcPts val="200"/>
              </a:spcBef>
              <a:spcAft>
                <a:spcPts val="200"/>
              </a:spcAft>
              <a:buClr>
                <a:srgbClr val="97989A"/>
              </a:buClr>
              <a:buFont typeface="Arial" pitchFamily="34" charset="0"/>
              <a:buChar char="■"/>
              <a:defRPr/>
            </a:pPr>
            <a:r>
              <a:rPr lang="en-US" b="1" kern="0" dirty="0">
                <a:solidFill>
                  <a:schemeClr val="tx1"/>
                </a:solidFill>
              </a:rPr>
              <a:t>Revenue: </a:t>
            </a:r>
            <a:r>
              <a:rPr lang="en-US" b="0" kern="0" dirty="0">
                <a:solidFill>
                  <a:schemeClr val="tx1"/>
                </a:solidFill>
              </a:rPr>
              <a:t>The run-rate revenue is based on the annualized Aug-20 revenue, based on </a:t>
            </a:r>
            <a:r>
              <a:rPr lang="en-US" b="0" dirty="0">
                <a:solidFill>
                  <a:schemeClr val="tx1"/>
                </a:solidFill>
              </a:rPr>
              <a:t>366 subscription at $92 average monthly rate.</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rPr>
              <a:t>Payroll &amp; subcontractors:</a:t>
            </a:r>
            <a:r>
              <a:rPr lang="en-US" dirty="0">
                <a:solidFill>
                  <a:schemeClr val="tx1"/>
                </a:solidFill>
              </a:rPr>
              <a:t> </a:t>
            </a:r>
            <a:r>
              <a:rPr lang="en-US" b="0" dirty="0">
                <a:solidFill>
                  <a:schemeClr val="tx1"/>
                </a:solidFill>
              </a:rPr>
              <a:t>The Company recently expanded the business development and customer success departments, and restructured and outsourced the engineering, operations and quality assurance departments. Further details on the basis of calculation for expense run-rate can be found in the </a:t>
            </a:r>
            <a:r>
              <a:rPr lang="en-US" b="0" dirty="0" err="1">
                <a:solidFill>
                  <a:schemeClr val="tx1"/>
                </a:solidFill>
              </a:rPr>
              <a:t>QofE</a:t>
            </a:r>
            <a:r>
              <a:rPr lang="en-US" b="0" dirty="0">
                <a:solidFill>
                  <a:schemeClr val="tx1"/>
                </a:solidFill>
              </a:rPr>
              <a:t> section. </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rPr>
              <a:t>Rent:</a:t>
            </a:r>
            <a:r>
              <a:rPr lang="en-US" dirty="0">
                <a:solidFill>
                  <a:schemeClr val="tx1"/>
                </a:solidFill>
              </a:rPr>
              <a:t> </a:t>
            </a:r>
            <a:r>
              <a:rPr lang="en-US" b="0" dirty="0">
                <a:solidFill>
                  <a:schemeClr val="tx1"/>
                </a:solidFill>
              </a:rPr>
              <a:t>Reflects the current monthly rent expense of $4,300 across all months in the TTM Aug-20 period.</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rPr>
              <a:t>Software licenses, hosting and service charges (direct expenses):</a:t>
            </a:r>
            <a:r>
              <a:rPr lang="en-US" dirty="0">
                <a:solidFill>
                  <a:schemeClr val="tx1"/>
                </a:solidFill>
              </a:rPr>
              <a:t> </a:t>
            </a:r>
            <a:r>
              <a:rPr lang="en-US" b="0" dirty="0">
                <a:solidFill>
                  <a:schemeClr val="tx1"/>
                </a:solidFill>
              </a:rPr>
              <a:t>We normalize the software license fees and service charges based on the Aug-20 expense and adjust the hosting fees to reflect the monthly expense run-rate of $2,800</a:t>
            </a:r>
            <a:r>
              <a:rPr lang="en-US" dirty="0">
                <a:solidFill>
                  <a:schemeClr val="tx1"/>
                </a:solidFill>
              </a:rPr>
              <a:t>. Further details on the basis of calculation for expense run-rate can be found in the QofE section and Appendix 4.</a:t>
            </a:r>
          </a:p>
          <a:p>
            <a:pPr marL="177800" lvl="2" indent="-177800">
              <a:spcBef>
                <a:spcPts val="200"/>
              </a:spcBef>
              <a:spcAft>
                <a:spcPts val="200"/>
              </a:spcAft>
              <a:buClr>
                <a:srgbClr val="97989A"/>
              </a:buClr>
              <a:buFont typeface="Arial" pitchFamily="34" charset="0"/>
              <a:buChar char="■"/>
              <a:defRPr/>
            </a:pPr>
            <a:r>
              <a:rPr lang="en-US" dirty="0">
                <a:solidFill>
                  <a:schemeClr val="tx1"/>
                </a:solidFill>
              </a:rPr>
              <a:t>Going forward, Management expects the Company to realize 85% margin (i.e. 15% direct expense per subscriber) on a run-rate basis. Management did not provide a timeline of when this may transpire.</a:t>
            </a:r>
          </a:p>
          <a:p>
            <a:pPr marL="177800" lvl="2" indent="-177800">
              <a:spcBef>
                <a:spcPts val="200"/>
              </a:spcBef>
              <a:spcAft>
                <a:spcPts val="200"/>
              </a:spcAft>
              <a:buClr>
                <a:srgbClr val="97989A"/>
              </a:buClr>
              <a:buFont typeface="Arial" pitchFamily="34" charset="0"/>
              <a:buChar char="■"/>
              <a:defRPr/>
            </a:pPr>
            <a:endParaRPr lang="en-US" b="0"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b="0"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b="0"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b="0" dirty="0">
              <a:solidFill>
                <a:schemeClr val="tx1"/>
              </a:solidFill>
            </a:endParaRPr>
          </a:p>
          <a:p>
            <a:pPr marL="177800" lvl="2" indent="-177800">
              <a:spcBef>
                <a:spcPts val="200"/>
              </a:spcBef>
              <a:spcAft>
                <a:spcPts val="200"/>
              </a:spcAft>
              <a:buClr>
                <a:srgbClr val="97989A"/>
              </a:buClr>
              <a:buFont typeface="Arial" pitchFamily="34" charset="0"/>
              <a:buChar char="■"/>
              <a:defRPr/>
            </a:pPr>
            <a:endParaRPr lang="en-US" b="0" dirty="0">
              <a:solidFill>
                <a:schemeClr val="tx1"/>
              </a:solidFill>
            </a:endParaRPr>
          </a:p>
        </p:txBody>
      </p:sp>
      <p:sp>
        <p:nvSpPr>
          <p:cNvPr id="19" name="TextBox 18">
            <a:extLst>
              <a:ext uri="{FF2B5EF4-FFF2-40B4-BE49-F238E27FC236}">
                <a16:creationId xmlns:a16="http://schemas.microsoft.com/office/drawing/2014/main" id="{F9500590-B6E1-49C9-8104-F2D60C832E53}"/>
              </a:ext>
            </a:extLst>
          </p:cNvPr>
          <p:cNvSpPr txBox="1"/>
          <p:nvPr/>
        </p:nvSpPr>
        <p:spPr>
          <a:xfrm>
            <a:off x="431801" y="4465551"/>
            <a:ext cx="3437467" cy="92333"/>
          </a:xfrm>
          <a:prstGeom prst="rect">
            <a:avLst/>
          </a:prstGeom>
          <a:noFill/>
        </p:spPr>
        <p:txBody>
          <a:bodyPr wrap="square" lIns="0" tIns="0" rIns="0" bIns="0" rtlCol="0">
            <a:spAutoFit/>
          </a:bodyPr>
          <a:lstStyle/>
          <a:p>
            <a:pPr>
              <a:tabLst>
                <a:tab pos="396875" algn="l"/>
              </a:tabLst>
            </a:pPr>
            <a:r>
              <a:rPr lang="en-US" sz="600" i="1" dirty="0">
                <a:latin typeface="Univers for KPMG" panose="020B0603020202020204" pitchFamily="34" charset="0"/>
                <a:cs typeface="Arial" pitchFamily="34" charset="0"/>
              </a:rPr>
              <a:t>Source: Management provided information</a:t>
            </a:r>
          </a:p>
        </p:txBody>
      </p:sp>
      <p:sp>
        <p:nvSpPr>
          <p:cNvPr id="9" name="Rectangle 8">
            <a:extLst>
              <a:ext uri="{FF2B5EF4-FFF2-40B4-BE49-F238E27FC236}">
                <a16:creationId xmlns:a16="http://schemas.microsoft.com/office/drawing/2014/main" id="{0DDB9229-52F9-41B4-AEFF-F11833C24878}"/>
              </a:ext>
            </a:extLst>
          </p:cNvPr>
          <p:cNvSpPr/>
          <p:nvPr/>
        </p:nvSpPr>
        <p:spPr>
          <a:xfrm>
            <a:off x="4356894" y="1985475"/>
            <a:ext cx="529738" cy="528387"/>
          </a:xfrm>
          <a:prstGeom prst="rect">
            <a:avLst/>
          </a:prstGeom>
          <a:noFill/>
          <a:ln w="127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0" name="Rectangle 9">
            <a:extLst>
              <a:ext uri="{FF2B5EF4-FFF2-40B4-BE49-F238E27FC236}">
                <a16:creationId xmlns:a16="http://schemas.microsoft.com/office/drawing/2014/main" id="{6C8635A6-56A3-42CE-AB87-95CEFF4F08F5}"/>
              </a:ext>
            </a:extLst>
          </p:cNvPr>
          <p:cNvSpPr/>
          <p:nvPr/>
        </p:nvSpPr>
        <p:spPr>
          <a:xfrm>
            <a:off x="4354206" y="2938544"/>
            <a:ext cx="529738" cy="258116"/>
          </a:xfrm>
          <a:prstGeom prst="rect">
            <a:avLst/>
          </a:prstGeom>
          <a:noFill/>
          <a:ln w="127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1" name="Rectangle 10">
            <a:extLst>
              <a:ext uri="{FF2B5EF4-FFF2-40B4-BE49-F238E27FC236}">
                <a16:creationId xmlns:a16="http://schemas.microsoft.com/office/drawing/2014/main" id="{96C39FE1-4F6F-4788-A094-34D4B86C32EB}"/>
              </a:ext>
            </a:extLst>
          </p:cNvPr>
          <p:cNvSpPr/>
          <p:nvPr/>
        </p:nvSpPr>
        <p:spPr>
          <a:xfrm>
            <a:off x="4368957" y="3585289"/>
            <a:ext cx="529738" cy="164708"/>
          </a:xfrm>
          <a:prstGeom prst="rect">
            <a:avLst/>
          </a:prstGeom>
          <a:noFill/>
          <a:ln w="127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Tree>
    <p:extLst>
      <p:ext uri="{BB962C8B-B14F-4D97-AF65-F5344CB8AC3E}">
        <p14:creationId xmlns:p14="http://schemas.microsoft.com/office/powerpoint/2010/main" val="1506904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995055" y="1337703"/>
            <a:ext cx="6192982" cy="581698"/>
          </a:xfrm>
        </p:spPr>
        <p:txBody>
          <a:bodyPr/>
          <a:lstStyle/>
          <a:p>
            <a:r>
              <a:rPr lang="en-CA" sz="5400" dirty="0"/>
              <a:t>Quality of earnings</a:t>
            </a:r>
          </a:p>
        </p:txBody>
      </p:sp>
    </p:spTree>
    <p:extLst>
      <p:ext uri="{BB962C8B-B14F-4D97-AF65-F5344CB8AC3E}">
        <p14:creationId xmlns:p14="http://schemas.microsoft.com/office/powerpoint/2010/main" val="983641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09122" name="think-cell Slide" r:id="rId8" imgW="498" imgH="499" progId="TCLayout.ActiveDocument.1">
                  <p:embed/>
                </p:oleObj>
              </mc:Choice>
              <mc:Fallback>
                <p:oleObj name="think-cell Slide" r:id="rId8" imgW="498" imgH="499" progId="TCLayout.ActiveDocument.1">
                  <p:embed/>
                  <p:pic>
                    <p:nvPicPr>
                      <p:cNvPr id="5" name="Object 4" hidden="1"/>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(1) – </a:t>
            </a:r>
            <a:r>
              <a:rPr lang="en-CA" sz="4400" i="1" dirty="0">
                <a:solidFill>
                  <a:srgbClr val="00338D"/>
                </a:solidFill>
              </a:rPr>
              <a:t>Overview</a:t>
            </a:r>
            <a:endParaRPr lang="en-CA" sz="4400" i="1" dirty="0"/>
          </a:p>
        </p:txBody>
      </p:sp>
      <p:sp>
        <p:nvSpPr>
          <p:cNvPr id="11" name="Rectangle 4"/>
          <p:cNvSpPr>
            <a:spLocks noChangeArrowheads="1"/>
          </p:cNvSpPr>
          <p:nvPr>
            <p:custDataLst>
              <p:tags r:id="rId4"/>
            </p:custDataLst>
          </p:nvPr>
        </p:nvSpPr>
        <p:spPr bwMode="gray">
          <a:xfrm>
            <a:off x="431800" y="3208544"/>
            <a:ext cx="2927839" cy="1217050"/>
          </a:xfrm>
          <a:prstGeom prst="rect">
            <a:avLst/>
          </a:prstGeom>
          <a:noFill/>
          <a:ln w="6350">
            <a:solidFill>
              <a:srgbClr val="00338D"/>
            </a:solidFill>
            <a:miter lim="800000"/>
            <a:headEnd/>
            <a:tailEnd/>
          </a:ln>
          <a:effectLst/>
        </p:spPr>
        <p:txBody>
          <a:bodyPr wrap="square" lIns="54000" tIns="54000" rIns="54000" bIns="54000" anchor="ctr" anchorCtr="1">
            <a:spAutoFit/>
          </a:bodyPr>
          <a:lstStyle/>
          <a:p>
            <a:pPr defTabSz="762000" eaLnBrk="0" hangingPunct="0">
              <a:lnSpc>
                <a:spcPct val="90000"/>
              </a:lnSpc>
            </a:pPr>
            <a:r>
              <a:rPr lang="en-US" sz="800" b="1" dirty="0">
                <a:solidFill>
                  <a:srgbClr val="00338D"/>
                </a:solidFill>
                <a:latin typeface="Univers for KPMG" panose="020B0603020202020204" pitchFamily="34" charset="0"/>
              </a:rPr>
              <a:t>Basis of preparation – </a:t>
            </a:r>
            <a:r>
              <a:rPr lang="en-US" sz="800" dirty="0">
                <a:solidFill>
                  <a:srgbClr val="00338D"/>
                </a:solidFill>
                <a:latin typeface="Univers for KPMG" panose="020B0603020202020204" pitchFamily="34" charset="0"/>
              </a:rPr>
              <a:t>The above Quality of Earnings schedule illustrates potential EBITDA adjustments which were identified for the fiscal years ended December 31, 2018 and 2019, and the trailing twelve month period ended August 31, 2020. The proposed adjustments are not necessarily all-inclusive and are based on information provided by Management to date. The validity of these potential adjustments and other factors raised for your consideration may require further investigation to understand the potential impact on your valuation model. </a:t>
            </a:r>
          </a:p>
        </p:txBody>
      </p:sp>
      <p:sp>
        <p:nvSpPr>
          <p:cNvPr id="3" name="TextBox 2"/>
          <p:cNvSpPr txBox="1"/>
          <p:nvPr/>
        </p:nvSpPr>
        <p:spPr>
          <a:xfrm>
            <a:off x="372124" y="901323"/>
            <a:ext cx="8280400" cy="281970"/>
          </a:xfrm>
          <a:prstGeom prst="rect">
            <a:avLst/>
          </a:prstGeom>
          <a:noFill/>
        </p:spPr>
        <p:txBody>
          <a:bodyPr wrap="square" lIns="54610" tIns="54610" rIns="54610" bIns="54610" rtlCol="0">
            <a:noAutofit/>
          </a:bodyPr>
          <a:lstStyle/>
          <a:p>
            <a:pPr>
              <a:spcAft>
                <a:spcPts val="600"/>
              </a:spcAft>
            </a:pPr>
            <a:r>
              <a:rPr lang="en-US" sz="900" dirty="0">
                <a:solidFill>
                  <a:srgbClr val="470A68"/>
                </a:solidFill>
                <a:latin typeface="Univers for KPMG" panose="020B0603020202020204" pitchFamily="34" charset="0"/>
              </a:rPr>
              <a:t>Diligence and pro forma adjustments identified during diligence results in a consistent EBITDA as reported of negative $742,000.</a:t>
            </a:r>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3640667" y="1211263"/>
            <a:ext cx="5071533" cy="2581971"/>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Overview</a:t>
            </a:r>
            <a:endParaRPr lang="en-CA" dirty="0">
              <a:solidFill>
                <a:schemeClr val="tx1"/>
              </a:solidFill>
            </a:endParaRPr>
          </a:p>
          <a:p>
            <a:pPr marL="177800" lvl="2" indent="-177800">
              <a:spcBef>
                <a:spcPts val="200"/>
              </a:spcBef>
              <a:spcAft>
                <a:spcPts val="200"/>
              </a:spcAft>
              <a:buClr>
                <a:srgbClr val="97989A"/>
              </a:buClr>
              <a:buFont typeface="Arial" pitchFamily="34" charset="0"/>
              <a:buChar char="■"/>
              <a:defRPr/>
            </a:pPr>
            <a:r>
              <a:rPr lang="en-US" dirty="0">
                <a:solidFill>
                  <a:schemeClr val="tx1"/>
                </a:solidFill>
                <a:latin typeface="Univers for KPMG" panose="020B0603020202020204" pitchFamily="34" charset="0"/>
              </a:rPr>
              <a:t>The quality of earnings schedule illustrates EBITDA adjustments and other factors to be considered which were identified for the trailing 12 month ended August 31, 2020, fiscal years ended December 31, 2018 and 2019.</a:t>
            </a:r>
          </a:p>
          <a:p>
            <a:pPr marL="177800" lvl="2" indent="-177800">
              <a:spcBef>
                <a:spcPts val="200"/>
              </a:spcBef>
              <a:spcAft>
                <a:spcPts val="200"/>
              </a:spcAft>
              <a:buClr>
                <a:srgbClr val="97989A"/>
              </a:buClr>
              <a:buFont typeface="Arial" pitchFamily="34" charset="0"/>
              <a:buChar char="■"/>
              <a:defRPr/>
            </a:pPr>
            <a:r>
              <a:rPr lang="en-US" dirty="0">
                <a:solidFill>
                  <a:schemeClr val="tx1"/>
                </a:solidFill>
                <a:latin typeface="Univers for KPMG" panose="020B0603020202020204" pitchFamily="34" charset="0"/>
              </a:rPr>
              <a:t>The suitability of these adjustments as it pertains to the proposed transaction and other factors raised for consideration may require further investigation to understand the impact on buyer’s business model.</a:t>
            </a:r>
          </a:p>
          <a:p>
            <a:pPr marL="0" lvl="2" indent="0">
              <a:spcBef>
                <a:spcPts val="200"/>
              </a:spcBef>
              <a:spcAft>
                <a:spcPts val="200"/>
              </a:spcAft>
              <a:buClr>
                <a:srgbClr val="97989A"/>
              </a:buClr>
              <a:buFont typeface="Univers for KPMG Light" panose="020B0403020202020204" pitchFamily="34" charset="0"/>
              <a:buNone/>
              <a:defRPr/>
            </a:pPr>
            <a:r>
              <a:rPr lang="en-US" b="1" dirty="0">
                <a:latin typeface="Univers for KPMG" panose="020B0603020202020204" pitchFamily="34" charset="0"/>
              </a:rPr>
              <a:t>Adjustment overview</a:t>
            </a:r>
            <a:endParaRPr lang="en-CA" b="1" dirty="0">
              <a:solidFill>
                <a:schemeClr val="tx1"/>
              </a:solidFill>
              <a:latin typeface="Univers for KPMG" panose="020B0603020202020204" pitchFamily="34" charset="0"/>
            </a:endParaRPr>
          </a:p>
          <a:p>
            <a:pPr marL="177800" lvl="2" indent="-177800">
              <a:spcBef>
                <a:spcPts val="200"/>
              </a:spcBef>
              <a:spcAft>
                <a:spcPts val="200"/>
              </a:spcAft>
              <a:buClr>
                <a:srgbClr val="97989A"/>
              </a:buClr>
              <a:buFont typeface="Arial" pitchFamily="34" charset="0"/>
              <a:buChar char="■"/>
              <a:defRPr/>
            </a:pPr>
            <a:r>
              <a:rPr lang="en-CA" dirty="0">
                <a:solidFill>
                  <a:schemeClr val="tx1"/>
                </a:solidFill>
                <a:latin typeface="Univers for KPMG" panose="020B0603020202020204" pitchFamily="34" charset="0"/>
              </a:rPr>
              <a:t>The nature of adjustments included in the quality of earnings analysis are as follows:  </a:t>
            </a:r>
          </a:p>
          <a:p>
            <a:pPr marL="347663" lvl="2" indent="-177800">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Diligence adjusted EBITDA: </a:t>
            </a:r>
            <a:r>
              <a:rPr lang="en-US" dirty="0">
                <a:solidFill>
                  <a:schemeClr val="tx1"/>
                </a:solidFill>
                <a:latin typeface="Univers for KPMG" panose="020B0603020202020204" pitchFamily="34" charset="0"/>
              </a:rPr>
              <a:t>Represent non-recurring, out of period and other normalization items identified during diligence.</a:t>
            </a:r>
          </a:p>
          <a:p>
            <a:pPr marL="347663" lvl="2" indent="-177800">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Pro-forma adjusted EBITDA: </a:t>
            </a:r>
            <a:r>
              <a:rPr lang="en-US" dirty="0">
                <a:solidFill>
                  <a:schemeClr val="tx1"/>
                </a:solidFill>
                <a:latin typeface="Univers for KPMG" panose="020B0603020202020204" pitchFamily="34" charset="0"/>
                <a:cs typeface="Arial" pitchFamily="34" charset="0"/>
              </a:rPr>
              <a:t>Includes additional run-rate adjustments to reflect the current state of the business.</a:t>
            </a:r>
          </a:p>
          <a:p>
            <a:pPr marL="177800" lvl="2" indent="-177800">
              <a:spcBef>
                <a:spcPts val="200"/>
              </a:spcBef>
              <a:spcAft>
                <a:spcPts val="200"/>
              </a:spcAft>
              <a:buClr>
                <a:srgbClr val="97989A"/>
              </a:buClr>
              <a:buFont typeface="Arial" pitchFamily="34" charset="0"/>
              <a:buChar char="■"/>
              <a:defRPr/>
            </a:pPr>
            <a:r>
              <a:rPr lang="en-CA" dirty="0">
                <a:solidFill>
                  <a:schemeClr val="tx1"/>
                </a:solidFill>
                <a:latin typeface="Univers for KPMG" panose="020B0603020202020204" pitchFamily="34" charset="0"/>
              </a:rPr>
              <a:t>Significant </a:t>
            </a:r>
            <a:r>
              <a:rPr lang="en-US" dirty="0">
                <a:solidFill>
                  <a:schemeClr val="tx1"/>
                </a:solidFill>
                <a:latin typeface="Univers for KPMG" panose="020B0603020202020204" pitchFamily="34" charset="0"/>
              </a:rPr>
              <a:t>adjustments are discussed further on the following pages. Also, see ‘Other Considerations’ for additional factors to consider.</a:t>
            </a:r>
          </a:p>
        </p:txBody>
      </p:sp>
      <p:pic>
        <p:nvPicPr>
          <p:cNvPr id="2" name="Picture 1">
            <a:extLst>
              <a:ext uri="{FF2B5EF4-FFF2-40B4-BE49-F238E27FC236}">
                <a16:creationId xmlns:a16="http://schemas.microsoft.com/office/drawing/2014/main" id="{BBA3F300-89DD-441A-AF22-7F17D99EE2EA}"/>
              </a:ext>
            </a:extLst>
          </p:cNvPr>
          <p:cNvPicPr>
            <a:picLocks noChangeAspect="1"/>
          </p:cNvPicPr>
          <p:nvPr>
            <p:custDataLst>
              <p:tags r:id="rId5"/>
            </p:custDataLst>
          </p:nvPr>
        </p:nvPicPr>
        <p:blipFill>
          <a:blip r:embed="rId10"/>
          <a:stretch>
            <a:fillRect/>
          </a:stretch>
        </p:blipFill>
        <p:spPr>
          <a:xfrm>
            <a:off x="431800" y="1216968"/>
            <a:ext cx="2927839" cy="1751826"/>
          </a:xfrm>
          <a:prstGeom prst="rect">
            <a:avLst/>
          </a:prstGeom>
        </p:spPr>
      </p:pic>
      <p:sp>
        <p:nvSpPr>
          <p:cNvPr id="12" name="TextBox 11">
            <a:extLst>
              <a:ext uri="{FF2B5EF4-FFF2-40B4-BE49-F238E27FC236}">
                <a16:creationId xmlns:a16="http://schemas.microsoft.com/office/drawing/2014/main" id="{247D941C-9EF2-4EA7-8C64-DC66784D7795}"/>
              </a:ext>
            </a:extLst>
          </p:cNvPr>
          <p:cNvSpPr txBox="1"/>
          <p:nvPr/>
        </p:nvSpPr>
        <p:spPr>
          <a:xfrm>
            <a:off x="372124" y="3000782"/>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Tree>
    <p:extLst>
      <p:ext uri="{BB962C8B-B14F-4D97-AF65-F5344CB8AC3E}">
        <p14:creationId xmlns:p14="http://schemas.microsoft.com/office/powerpoint/2010/main" val="557938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1170" name="think-cell Slide" r:id="rId9" imgW="498" imgH="499" progId="TCLayout.ActiveDocument.1">
                  <p:embed/>
                </p:oleObj>
              </mc:Choice>
              <mc:Fallback>
                <p:oleObj name="think-cell Slide" r:id="rId9" imgW="498" imgH="499" progId="TCLayout.ActiveDocument.1">
                  <p:embed/>
                  <p:pic>
                    <p:nvPicPr>
                      <p:cNvPr id="5" name="Object 4" hidden="1"/>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(2) – </a:t>
            </a:r>
            <a:r>
              <a:rPr lang="en-CA" sz="4400" i="1" dirty="0">
                <a:solidFill>
                  <a:srgbClr val="00338D"/>
                </a:solidFill>
              </a:rPr>
              <a:t>Diligence adjustments</a:t>
            </a:r>
            <a:endParaRPr lang="en-CA" sz="4400" i="1" dirty="0"/>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3640667" y="1211263"/>
            <a:ext cx="5071533" cy="2961562"/>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Diligence adjustments</a:t>
            </a:r>
          </a:p>
          <a:p>
            <a:pPr marL="228600" lvl="2" indent="-228600">
              <a:spcBef>
                <a:spcPts val="200"/>
              </a:spcBef>
              <a:spcAft>
                <a:spcPts val="200"/>
              </a:spcAft>
              <a:buClr>
                <a:srgbClr val="97989A"/>
              </a:buClr>
              <a:buFont typeface="+mj-lt"/>
              <a:buAutoNum type="arabicPeriod"/>
              <a:defRPr/>
            </a:pPr>
            <a:r>
              <a:rPr lang="en-US" b="1" dirty="0">
                <a:solidFill>
                  <a:schemeClr val="tx1"/>
                </a:solidFill>
                <a:latin typeface="Univers for KPMG" panose="020B0603020202020204" pitchFamily="34" charset="0"/>
              </a:rPr>
              <a:t>Rent: </a:t>
            </a:r>
            <a:r>
              <a:rPr lang="en-US" dirty="0">
                <a:solidFill>
                  <a:schemeClr val="tx1"/>
                </a:solidFill>
                <a:latin typeface="Univers for KPMG" panose="020B0603020202020204" pitchFamily="34" charset="0"/>
              </a:rPr>
              <a:t>The Company moved to a new office space in January 2020 with a monthly rent expense of approximately $4,300. Management represents that there have been administrative issues with the Landlord’s bank account and the rent payment remitted  was returned to the Company in error resulting in a credit of $20,000 in August 2020. We adjusted the rent expense to reflect $4,300 rent expense from January 2020 to August 2020. </a:t>
            </a: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a:defRPr/>
            </a:pPr>
            <a:r>
              <a:rPr lang="en-US" b="1" dirty="0">
                <a:solidFill>
                  <a:schemeClr val="tx1"/>
                </a:solidFill>
                <a:latin typeface="Univers for KPMG" panose="020B0603020202020204" pitchFamily="34" charset="0"/>
              </a:rPr>
              <a:t>Professional fees: </a:t>
            </a:r>
            <a:r>
              <a:rPr lang="en-US" dirty="0">
                <a:solidFill>
                  <a:schemeClr val="tx1"/>
                </a:solidFill>
                <a:latin typeface="Univers for KPMG" panose="020B0603020202020204" pitchFamily="34" charset="0"/>
              </a:rPr>
              <a:t>The Company capitalized non-recurring and non-operating legal fees related to capital raise. We excluded from EBITDA the non-recurring expense and the subsequent capitalization. </a:t>
            </a:r>
          </a:p>
          <a:p>
            <a:pPr marL="228600" lvl="2" indent="-228600">
              <a:spcBef>
                <a:spcPts val="200"/>
              </a:spcBef>
              <a:spcAft>
                <a:spcPts val="200"/>
              </a:spcAft>
              <a:buClr>
                <a:srgbClr val="97989A"/>
              </a:buClr>
              <a:buFont typeface="+mj-lt"/>
              <a:buAutoNum type="arabicPeriod"/>
              <a:defRPr/>
            </a:pPr>
            <a:endParaRPr lang="en-US" dirty="0">
              <a:solidFill>
                <a:schemeClr val="tx1"/>
              </a:solidFill>
              <a:latin typeface="Univers for KPMG" panose="020B0603020202020204" pitchFamily="34" charset="0"/>
            </a:endParaRPr>
          </a:p>
        </p:txBody>
      </p:sp>
      <p:sp>
        <p:nvSpPr>
          <p:cNvPr id="12" name="TextBox 11">
            <a:extLst>
              <a:ext uri="{FF2B5EF4-FFF2-40B4-BE49-F238E27FC236}">
                <a16:creationId xmlns:a16="http://schemas.microsoft.com/office/drawing/2014/main" id="{247D941C-9EF2-4EA7-8C64-DC66784D7795}"/>
              </a:ext>
            </a:extLst>
          </p:cNvPr>
          <p:cNvSpPr txBox="1"/>
          <p:nvPr/>
        </p:nvSpPr>
        <p:spPr>
          <a:xfrm>
            <a:off x="397932" y="457496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pic>
        <p:nvPicPr>
          <p:cNvPr id="7" name="Picture 6">
            <a:extLst>
              <a:ext uri="{FF2B5EF4-FFF2-40B4-BE49-F238E27FC236}">
                <a16:creationId xmlns:a16="http://schemas.microsoft.com/office/drawing/2014/main" id="{2044AC3C-D76C-4B61-8603-CC7F17BC9BE7}"/>
              </a:ext>
            </a:extLst>
          </p:cNvPr>
          <p:cNvPicPr>
            <a:picLocks noChangeAspect="1"/>
          </p:cNvPicPr>
          <p:nvPr>
            <p:custDataLst>
              <p:tags r:id="rId4"/>
            </p:custDataLst>
          </p:nvPr>
        </p:nvPicPr>
        <p:blipFill>
          <a:blip r:embed="rId11"/>
          <a:stretch>
            <a:fillRect/>
          </a:stretch>
        </p:blipFill>
        <p:spPr>
          <a:xfrm>
            <a:off x="435506" y="1211264"/>
            <a:ext cx="2927839" cy="3341647"/>
          </a:xfrm>
          <a:prstGeom prst="rect">
            <a:avLst/>
          </a:prstGeom>
        </p:spPr>
      </p:pic>
      <p:pic>
        <p:nvPicPr>
          <p:cNvPr id="10" name="Picture 9">
            <a:extLst>
              <a:ext uri="{FF2B5EF4-FFF2-40B4-BE49-F238E27FC236}">
                <a16:creationId xmlns:a16="http://schemas.microsoft.com/office/drawing/2014/main" id="{F6BA99D0-8033-407A-881F-2166D187EAC8}"/>
              </a:ext>
            </a:extLst>
          </p:cNvPr>
          <p:cNvPicPr>
            <a:picLocks noChangeAspect="1"/>
          </p:cNvPicPr>
          <p:nvPr>
            <p:custDataLst>
              <p:tags r:id="rId5"/>
            </p:custDataLst>
          </p:nvPr>
        </p:nvPicPr>
        <p:blipFill>
          <a:blip r:embed="rId12"/>
          <a:stretch>
            <a:fillRect/>
          </a:stretch>
        </p:blipFill>
        <p:spPr>
          <a:xfrm>
            <a:off x="3942775" y="2319888"/>
            <a:ext cx="4492868" cy="829712"/>
          </a:xfrm>
          <a:prstGeom prst="rect">
            <a:avLst/>
          </a:prstGeom>
        </p:spPr>
      </p:pic>
      <p:sp>
        <p:nvSpPr>
          <p:cNvPr id="13" name="TextBox 12">
            <a:extLst>
              <a:ext uri="{FF2B5EF4-FFF2-40B4-BE49-F238E27FC236}">
                <a16:creationId xmlns:a16="http://schemas.microsoft.com/office/drawing/2014/main" id="{FCBEE3A3-1D29-4AA8-BD24-50EE666E757D}"/>
              </a:ext>
            </a:extLst>
          </p:cNvPr>
          <p:cNvSpPr txBox="1"/>
          <p:nvPr/>
        </p:nvSpPr>
        <p:spPr>
          <a:xfrm>
            <a:off x="3864034" y="3118171"/>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pic>
        <p:nvPicPr>
          <p:cNvPr id="14" name="Picture 13">
            <a:extLst>
              <a:ext uri="{FF2B5EF4-FFF2-40B4-BE49-F238E27FC236}">
                <a16:creationId xmlns:a16="http://schemas.microsoft.com/office/drawing/2014/main" id="{9E76D798-967D-49E8-B007-5817FBE33859}"/>
              </a:ext>
            </a:extLst>
          </p:cNvPr>
          <p:cNvPicPr>
            <a:picLocks noChangeAspect="1"/>
          </p:cNvPicPr>
          <p:nvPr>
            <p:custDataLst>
              <p:tags r:id="rId6"/>
            </p:custDataLst>
          </p:nvPr>
        </p:nvPicPr>
        <p:blipFill>
          <a:blip r:embed="rId13"/>
          <a:stretch>
            <a:fillRect/>
          </a:stretch>
        </p:blipFill>
        <p:spPr>
          <a:xfrm>
            <a:off x="3928612" y="3959178"/>
            <a:ext cx="4507031" cy="747518"/>
          </a:xfrm>
          <a:prstGeom prst="rect">
            <a:avLst/>
          </a:prstGeom>
        </p:spPr>
      </p:pic>
      <p:sp>
        <p:nvSpPr>
          <p:cNvPr id="15" name="TextBox 14">
            <a:extLst>
              <a:ext uri="{FF2B5EF4-FFF2-40B4-BE49-F238E27FC236}">
                <a16:creationId xmlns:a16="http://schemas.microsoft.com/office/drawing/2014/main" id="{DF85C1AD-5AD7-44F5-93E9-7AEF1C882790}"/>
              </a:ext>
            </a:extLst>
          </p:cNvPr>
          <p:cNvSpPr txBox="1"/>
          <p:nvPr/>
        </p:nvSpPr>
        <p:spPr>
          <a:xfrm>
            <a:off x="3869345" y="469476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9" name="Rectangle 18">
            <a:extLst>
              <a:ext uri="{FF2B5EF4-FFF2-40B4-BE49-F238E27FC236}">
                <a16:creationId xmlns:a16="http://schemas.microsoft.com/office/drawing/2014/main" id="{93DEF2DA-D21B-454B-949C-05947647636E}"/>
              </a:ext>
            </a:extLst>
          </p:cNvPr>
          <p:cNvSpPr/>
          <p:nvPr/>
        </p:nvSpPr>
        <p:spPr>
          <a:xfrm>
            <a:off x="397932" y="2836325"/>
            <a:ext cx="2965413" cy="313275"/>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6" name="Rectangle 15">
            <a:extLst>
              <a:ext uri="{FF2B5EF4-FFF2-40B4-BE49-F238E27FC236}">
                <a16:creationId xmlns:a16="http://schemas.microsoft.com/office/drawing/2014/main" id="{474609D0-3353-4085-8652-5C502C0D3FD1}"/>
              </a:ext>
            </a:extLst>
          </p:cNvPr>
          <p:cNvSpPr/>
          <p:nvPr/>
        </p:nvSpPr>
        <p:spPr>
          <a:xfrm>
            <a:off x="3949699" y="2998810"/>
            <a:ext cx="4492868" cy="15079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7" name="Rectangle 16">
            <a:extLst>
              <a:ext uri="{FF2B5EF4-FFF2-40B4-BE49-F238E27FC236}">
                <a16:creationId xmlns:a16="http://schemas.microsoft.com/office/drawing/2014/main" id="{73BDD74F-8D40-41BC-9B4D-5ED68125205D}"/>
              </a:ext>
            </a:extLst>
          </p:cNvPr>
          <p:cNvSpPr/>
          <p:nvPr/>
        </p:nvSpPr>
        <p:spPr>
          <a:xfrm>
            <a:off x="3934459" y="4576150"/>
            <a:ext cx="4492868" cy="15079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Tree>
    <p:extLst>
      <p:ext uri="{BB962C8B-B14F-4D97-AF65-F5344CB8AC3E}">
        <p14:creationId xmlns:p14="http://schemas.microsoft.com/office/powerpoint/2010/main" val="693520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975DCD2B-264E-4E5A-81F8-FD836B5AD4B5}"/>
              </a:ext>
            </a:extLst>
          </p:cNvPr>
          <p:cNvPicPr>
            <a:picLocks noChangeAspect="1"/>
          </p:cNvPicPr>
          <p:nvPr>
            <p:custDataLst>
              <p:tags r:id="rId2"/>
            </p:custDataLst>
          </p:nvPr>
        </p:nvPicPr>
        <p:blipFill>
          <a:blip r:embed="rId9"/>
          <a:stretch>
            <a:fillRect/>
          </a:stretch>
        </p:blipFill>
        <p:spPr>
          <a:xfrm>
            <a:off x="435506" y="1211264"/>
            <a:ext cx="2927839" cy="3341647"/>
          </a:xfrm>
          <a:prstGeom prst="rect">
            <a:avLst/>
          </a:prstGeom>
        </p:spPr>
      </p:pic>
      <p:graphicFrame>
        <p:nvGraphicFramePr>
          <p:cNvPr id="5" name="Object 4" hidden="1"/>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2203" name="think-cell Slide" r:id="rId10" imgW="498" imgH="499" progId="TCLayout.ActiveDocument.1">
                  <p:embed/>
                </p:oleObj>
              </mc:Choice>
              <mc:Fallback>
                <p:oleObj name="think-cell Slide" r:id="rId10" imgW="498" imgH="499" progId="TCLayout.ActiveDocument.1">
                  <p:embed/>
                  <p:pic>
                    <p:nvPicPr>
                      <p:cNvPr id="5" name="Object 4" hidden="1"/>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4"/>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(3) – </a:t>
            </a:r>
            <a:r>
              <a:rPr lang="en-CA" sz="4400" i="1" dirty="0">
                <a:solidFill>
                  <a:srgbClr val="00338D"/>
                </a:solidFill>
              </a:rPr>
              <a:t>Pro forma adjustments</a:t>
            </a:r>
            <a:endParaRPr lang="en-CA" sz="4400" i="1" dirty="0"/>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3640667" y="1211263"/>
            <a:ext cx="5071533" cy="3428356"/>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Pro forma adjustments</a:t>
            </a:r>
          </a:p>
          <a:p>
            <a:pPr marL="228600" lvl="2" indent="-228600">
              <a:spcBef>
                <a:spcPts val="200"/>
              </a:spcBef>
              <a:spcAft>
                <a:spcPts val="200"/>
              </a:spcAft>
              <a:buClr>
                <a:srgbClr val="97989A"/>
              </a:buClr>
              <a:buFont typeface="Wingdings" panose="05000000000000000000" pitchFamily="2" charset="2"/>
              <a:buChar char="§"/>
              <a:defRPr/>
            </a:pPr>
            <a:r>
              <a:rPr lang="en-US" dirty="0">
                <a:solidFill>
                  <a:schemeClr val="tx1"/>
                </a:solidFill>
                <a:latin typeface="Univers for KPMG" panose="020B0603020202020204" pitchFamily="34" charset="0"/>
              </a:rPr>
              <a:t>Pro-forma adjustments include</a:t>
            </a:r>
            <a:r>
              <a:rPr lang="en-US" dirty="0">
                <a:solidFill>
                  <a:schemeClr val="tx1"/>
                </a:solidFill>
                <a:latin typeface="Univers for KPMG" panose="020B0603020202020204" pitchFamily="34" charset="0"/>
                <a:cs typeface="Arial" pitchFamily="34" charset="0"/>
              </a:rPr>
              <a:t> run-rate adjustments to reflect the current state of the business. The analysis is prepared for TTM Aug-20 only.</a:t>
            </a:r>
          </a:p>
          <a:p>
            <a:pPr marL="228600" lvl="2" indent="-228600">
              <a:spcBef>
                <a:spcPts val="200"/>
              </a:spcBef>
              <a:spcAft>
                <a:spcPts val="200"/>
              </a:spcAft>
              <a:buClr>
                <a:srgbClr val="97989A"/>
              </a:buClr>
              <a:buFont typeface="+mj-lt"/>
              <a:buAutoNum type="arabicPeriod" startAt="3"/>
              <a:defRPr/>
            </a:pPr>
            <a:r>
              <a:rPr lang="en-US" b="1" dirty="0">
                <a:solidFill>
                  <a:schemeClr val="tx1"/>
                </a:solidFill>
                <a:latin typeface="Univers for KPMG" panose="020B0603020202020204" pitchFamily="34" charset="0"/>
              </a:rPr>
              <a:t>Subscriber run-rate: </a:t>
            </a:r>
            <a:r>
              <a:rPr lang="en-US" dirty="0">
                <a:solidFill>
                  <a:schemeClr val="tx1"/>
                </a:solidFill>
                <a:latin typeface="Univers for KPMG" panose="020B0603020202020204" pitchFamily="34" charset="0"/>
              </a:rPr>
              <a:t>The Company’s monthly revenue in Aug-20 is approximately $34,000, which is comprised of 366 subscriber at $91.7 rate. We adjust the TTM Aug-20 revenue by annualizing the Aug-20 amount to reflect the revenue run rate as we noted that there have been minimal churn historically.</a:t>
            </a: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r>
              <a:rPr lang="en-US" b="1" dirty="0">
                <a:solidFill>
                  <a:schemeClr val="tx1"/>
                </a:solidFill>
                <a:latin typeface="Univers for KPMG" panose="020B0603020202020204" pitchFamily="34" charset="0"/>
              </a:rPr>
              <a:t>FTE payroll: </a:t>
            </a:r>
            <a:r>
              <a:rPr lang="en-US" dirty="0">
                <a:solidFill>
                  <a:schemeClr val="tx1"/>
                </a:solidFill>
                <a:latin typeface="Univers for KPMG" panose="020B0603020202020204" pitchFamily="34" charset="0"/>
              </a:rPr>
              <a:t>The Company recently expanded the business development and customer success departments to support the growth of the business. The Company also restructured and outsourced the engineering, operations and quality assurance departments to realize cost savings. We adjust the payroll expense to reflect the recent developments in FTE for TTM Aug-20 period. See the following page for details of adjustment and Appendix 3 for further details on FTE analysis. </a:t>
            </a: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3"/>
              <a:defRPr/>
            </a:pPr>
            <a:endParaRPr lang="en-US" dirty="0">
              <a:solidFill>
                <a:schemeClr val="tx1"/>
              </a:solidFill>
              <a:latin typeface="Univers for KPMG" panose="020B0603020202020204" pitchFamily="34" charset="0"/>
            </a:endParaRPr>
          </a:p>
        </p:txBody>
      </p:sp>
      <p:sp>
        <p:nvSpPr>
          <p:cNvPr id="12" name="TextBox 11">
            <a:extLst>
              <a:ext uri="{FF2B5EF4-FFF2-40B4-BE49-F238E27FC236}">
                <a16:creationId xmlns:a16="http://schemas.microsoft.com/office/drawing/2014/main" id="{247D941C-9EF2-4EA7-8C64-DC66784D7795}"/>
              </a:ext>
            </a:extLst>
          </p:cNvPr>
          <p:cNvSpPr txBox="1"/>
          <p:nvPr/>
        </p:nvSpPr>
        <p:spPr>
          <a:xfrm>
            <a:off x="397932" y="457496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3" name="TextBox 12">
            <a:extLst>
              <a:ext uri="{FF2B5EF4-FFF2-40B4-BE49-F238E27FC236}">
                <a16:creationId xmlns:a16="http://schemas.microsoft.com/office/drawing/2014/main" id="{FCBEE3A3-1D29-4AA8-BD24-50EE666E757D}"/>
              </a:ext>
            </a:extLst>
          </p:cNvPr>
          <p:cNvSpPr txBox="1"/>
          <p:nvPr/>
        </p:nvSpPr>
        <p:spPr>
          <a:xfrm>
            <a:off x="3869345" y="3014996"/>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5" name="TextBox 14">
            <a:extLst>
              <a:ext uri="{FF2B5EF4-FFF2-40B4-BE49-F238E27FC236}">
                <a16:creationId xmlns:a16="http://schemas.microsoft.com/office/drawing/2014/main" id="{DF85C1AD-5AD7-44F5-93E9-7AEF1C882790}"/>
              </a:ext>
            </a:extLst>
          </p:cNvPr>
          <p:cNvSpPr txBox="1"/>
          <p:nvPr/>
        </p:nvSpPr>
        <p:spPr>
          <a:xfrm>
            <a:off x="3913371" y="493571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6" name="Rectangle 15">
            <a:extLst>
              <a:ext uri="{FF2B5EF4-FFF2-40B4-BE49-F238E27FC236}">
                <a16:creationId xmlns:a16="http://schemas.microsoft.com/office/drawing/2014/main" id="{A1C72C57-C607-40E3-A054-D6EAAECC6DD1}"/>
              </a:ext>
            </a:extLst>
          </p:cNvPr>
          <p:cNvSpPr/>
          <p:nvPr/>
        </p:nvSpPr>
        <p:spPr>
          <a:xfrm>
            <a:off x="431800" y="2027746"/>
            <a:ext cx="2965413" cy="175774"/>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8" name="Rectangle 17">
            <a:extLst>
              <a:ext uri="{FF2B5EF4-FFF2-40B4-BE49-F238E27FC236}">
                <a16:creationId xmlns:a16="http://schemas.microsoft.com/office/drawing/2014/main" id="{EE0B3A73-F7C2-4AD8-8F26-0B16DA26B06F}"/>
              </a:ext>
            </a:extLst>
          </p:cNvPr>
          <p:cNvSpPr/>
          <p:nvPr/>
        </p:nvSpPr>
        <p:spPr>
          <a:xfrm>
            <a:off x="416718" y="3627946"/>
            <a:ext cx="2965413" cy="30878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pic>
        <p:nvPicPr>
          <p:cNvPr id="3" name="Picture 2">
            <a:extLst>
              <a:ext uri="{FF2B5EF4-FFF2-40B4-BE49-F238E27FC236}">
                <a16:creationId xmlns:a16="http://schemas.microsoft.com/office/drawing/2014/main" id="{DDD818B3-B000-48E3-8191-A8BC07C8DB9D}"/>
              </a:ext>
            </a:extLst>
          </p:cNvPr>
          <p:cNvPicPr>
            <a:picLocks noChangeAspect="1"/>
          </p:cNvPicPr>
          <p:nvPr>
            <p:custDataLst>
              <p:tags r:id="rId5"/>
            </p:custDataLst>
          </p:nvPr>
        </p:nvPicPr>
        <p:blipFill>
          <a:blip r:embed="rId12"/>
          <a:stretch>
            <a:fillRect/>
          </a:stretch>
        </p:blipFill>
        <p:spPr>
          <a:xfrm>
            <a:off x="3928612" y="2397629"/>
            <a:ext cx="4779882" cy="645816"/>
          </a:xfrm>
          <a:prstGeom prst="rect">
            <a:avLst/>
          </a:prstGeom>
        </p:spPr>
      </p:pic>
      <p:sp>
        <p:nvSpPr>
          <p:cNvPr id="14" name="Rectangle 13">
            <a:extLst>
              <a:ext uri="{FF2B5EF4-FFF2-40B4-BE49-F238E27FC236}">
                <a16:creationId xmlns:a16="http://schemas.microsoft.com/office/drawing/2014/main" id="{E1B1B5AE-9479-4E8F-BAFC-640118E0D522}"/>
              </a:ext>
            </a:extLst>
          </p:cNvPr>
          <p:cNvSpPr/>
          <p:nvPr/>
        </p:nvSpPr>
        <p:spPr>
          <a:xfrm>
            <a:off x="3942078" y="2924878"/>
            <a:ext cx="4766415" cy="1185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7" name="Rectangle 16">
            <a:extLst>
              <a:ext uri="{FF2B5EF4-FFF2-40B4-BE49-F238E27FC236}">
                <a16:creationId xmlns:a16="http://schemas.microsoft.com/office/drawing/2014/main" id="{6892C183-2E13-409E-B85C-66AC261E00CF}"/>
              </a:ext>
            </a:extLst>
          </p:cNvPr>
          <p:cNvSpPr/>
          <p:nvPr/>
        </p:nvSpPr>
        <p:spPr>
          <a:xfrm>
            <a:off x="3942077" y="4798651"/>
            <a:ext cx="4766415" cy="11856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pic>
        <p:nvPicPr>
          <p:cNvPr id="7" name="Picture 6">
            <a:extLst>
              <a:ext uri="{FF2B5EF4-FFF2-40B4-BE49-F238E27FC236}">
                <a16:creationId xmlns:a16="http://schemas.microsoft.com/office/drawing/2014/main" id="{86FA5234-61AE-4233-9152-14AA14DC985A}"/>
              </a:ext>
            </a:extLst>
          </p:cNvPr>
          <p:cNvPicPr>
            <a:picLocks noChangeAspect="1"/>
          </p:cNvPicPr>
          <p:nvPr>
            <p:custDataLst>
              <p:tags r:id="rId6"/>
            </p:custDataLst>
          </p:nvPr>
        </p:nvPicPr>
        <p:blipFill>
          <a:blip r:embed="rId13"/>
          <a:stretch>
            <a:fillRect/>
          </a:stretch>
        </p:blipFill>
        <p:spPr>
          <a:xfrm>
            <a:off x="3942079" y="4187789"/>
            <a:ext cx="4751175" cy="725872"/>
          </a:xfrm>
          <a:prstGeom prst="rect">
            <a:avLst/>
          </a:prstGeom>
        </p:spPr>
      </p:pic>
    </p:spTree>
    <p:extLst>
      <p:ext uri="{BB962C8B-B14F-4D97-AF65-F5344CB8AC3E}">
        <p14:creationId xmlns:p14="http://schemas.microsoft.com/office/powerpoint/2010/main" val="1610495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E832847-7B98-463E-9200-2AE59787A6BF}"/>
              </a:ext>
            </a:extLst>
          </p:cNvPr>
          <p:cNvPicPr>
            <a:picLocks noChangeAspect="1"/>
          </p:cNvPicPr>
          <p:nvPr>
            <p:custDataLst>
              <p:tags r:id="rId2"/>
            </p:custDataLst>
          </p:nvPr>
        </p:nvPicPr>
        <p:blipFill>
          <a:blip r:embed="rId8"/>
          <a:stretch>
            <a:fillRect/>
          </a:stretch>
        </p:blipFill>
        <p:spPr>
          <a:xfrm>
            <a:off x="435506" y="1211264"/>
            <a:ext cx="2927839" cy="3341647"/>
          </a:xfrm>
          <a:prstGeom prst="rect">
            <a:avLst/>
          </a:prstGeom>
        </p:spPr>
      </p:pic>
      <p:graphicFrame>
        <p:nvGraphicFramePr>
          <p:cNvPr id="5" name="Object 4" hidden="1"/>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3218" name="think-cell Slide" r:id="rId9" imgW="498" imgH="499" progId="TCLayout.ActiveDocument.1">
                  <p:embed/>
                </p:oleObj>
              </mc:Choice>
              <mc:Fallback>
                <p:oleObj name="think-cell Slide" r:id="rId9" imgW="498" imgH="499" progId="TCLayout.ActiveDocument.1">
                  <p:embed/>
                  <p:pic>
                    <p:nvPicPr>
                      <p:cNvPr id="5" name="Object 4" hidden="1"/>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4"/>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(4) – </a:t>
            </a:r>
            <a:r>
              <a:rPr lang="en-CA" sz="4400" i="1" dirty="0">
                <a:solidFill>
                  <a:srgbClr val="00338D"/>
                </a:solidFill>
              </a:rPr>
              <a:t>Pro forma adjustments</a:t>
            </a:r>
            <a:endParaRPr lang="en-CA" sz="4400" i="1" dirty="0"/>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3640667" y="1211263"/>
            <a:ext cx="5334000" cy="5295534"/>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Pro forma adjustments (continued)</a:t>
            </a:r>
          </a:p>
          <a:p>
            <a:pPr marL="228600" lvl="2" indent="-228600">
              <a:spcBef>
                <a:spcPts val="200"/>
              </a:spcBef>
              <a:spcAft>
                <a:spcPts val="200"/>
              </a:spcAft>
              <a:buClr>
                <a:srgbClr val="97989A"/>
              </a:buClr>
              <a:buFont typeface="+mj-lt"/>
              <a:buAutoNum type="arabicPeriod" startAt="4"/>
              <a:defRPr/>
            </a:pPr>
            <a:r>
              <a:rPr lang="en-US" b="1" dirty="0">
                <a:solidFill>
                  <a:schemeClr val="tx1"/>
                </a:solidFill>
                <a:latin typeface="Univers for KPMG" panose="020B0603020202020204" pitchFamily="34" charset="0"/>
              </a:rPr>
              <a:t>FTE (payroll) continued:</a:t>
            </a:r>
          </a:p>
          <a:p>
            <a:pPr marL="228600" lvl="2" indent="-228600">
              <a:spcBef>
                <a:spcPts val="200"/>
              </a:spcBef>
              <a:spcAft>
                <a:spcPts val="200"/>
              </a:spcAft>
              <a:buClr>
                <a:srgbClr val="97989A"/>
              </a:buClr>
              <a:buFont typeface="+mj-lt"/>
              <a:buAutoNum type="arabicPeriod" startAt="4"/>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b="1" dirty="0">
              <a:solidFill>
                <a:schemeClr val="tx1"/>
              </a:solidFill>
              <a:latin typeface="Univers for KPMG" panose="020B0603020202020204" pitchFamily="34" charset="0"/>
            </a:endParaRPr>
          </a:p>
          <a:p>
            <a:pPr marL="0" lvl="2" indent="0">
              <a:spcBef>
                <a:spcPts val="200"/>
              </a:spcBef>
              <a:spcAft>
                <a:spcPts val="200"/>
              </a:spcAft>
              <a:buClr>
                <a:srgbClr val="97989A"/>
              </a:buClr>
              <a:buNone/>
              <a:defRPr/>
            </a:pPr>
            <a:endParaRPr lang="en-US" b="1" dirty="0">
              <a:solidFill>
                <a:schemeClr val="tx1"/>
              </a:solidFill>
              <a:latin typeface="Univers for KPMG" panose="020B0603020202020204" pitchFamily="34" charset="0"/>
            </a:endParaRPr>
          </a:p>
          <a:p>
            <a:pPr marL="645750" lvl="3" indent="-285750">
              <a:spcAft>
                <a:spcPts val="200"/>
              </a:spcAft>
              <a:buClr>
                <a:srgbClr val="97989A"/>
              </a:buClr>
              <a:buFont typeface="+mj-lt"/>
              <a:buAutoNum type="romanLcPeriod"/>
              <a:defRPr/>
            </a:pPr>
            <a:r>
              <a:rPr lang="en-US" b="1" dirty="0">
                <a:solidFill>
                  <a:schemeClr val="tx1"/>
                </a:solidFill>
                <a:latin typeface="Univers for KPMG" panose="020B0603020202020204" pitchFamily="34" charset="0"/>
              </a:rPr>
              <a:t>Business development: </a:t>
            </a:r>
            <a:r>
              <a:rPr lang="en-US" dirty="0">
                <a:solidFill>
                  <a:schemeClr val="tx1"/>
                </a:solidFill>
                <a:latin typeface="Univers for KPMG" panose="020B0603020202020204" pitchFamily="34" charset="0"/>
              </a:rPr>
              <a:t>The company recruited a business development personnel in Jun-20 to promote sales growth for the business. We reflect the payroll of this personnel throughout TTM Aug-20. Note that this adjustment reflects his base compensation of $40,000 annually, excluding the potential commission (see Appendix 5 for the Company’s planned commission policy).</a:t>
            </a:r>
          </a:p>
          <a:p>
            <a:pPr marL="645750" lvl="3" indent="-285750">
              <a:spcAft>
                <a:spcPts val="200"/>
              </a:spcAft>
              <a:buClr>
                <a:srgbClr val="97989A"/>
              </a:buClr>
              <a:buFont typeface="+mj-lt"/>
              <a:buAutoNum type="romanLcPeriod"/>
              <a:defRPr/>
            </a:pPr>
            <a:r>
              <a:rPr lang="en-US" b="1" dirty="0">
                <a:solidFill>
                  <a:schemeClr val="tx1"/>
                </a:solidFill>
                <a:latin typeface="Univers for KPMG" panose="020B0603020202020204" pitchFamily="34" charset="0"/>
              </a:rPr>
              <a:t>Customer success: </a:t>
            </a:r>
            <a:r>
              <a:rPr lang="en-US" dirty="0">
                <a:solidFill>
                  <a:schemeClr val="tx1"/>
                </a:solidFill>
                <a:latin typeface="Univers for KPMG" panose="020B0603020202020204" pitchFamily="34" charset="0"/>
              </a:rPr>
              <a:t>The Company recruited a customer service representative in Jun-20, however, the employment is terminated after one month and a replacement is subsequently recruited in August. We reflect the payroll of this personnel throughout TTM Aug-20. </a:t>
            </a:r>
          </a:p>
          <a:p>
            <a:pPr marL="645750" lvl="3" indent="-285750">
              <a:spcAft>
                <a:spcPts val="200"/>
              </a:spcAft>
              <a:buClr>
                <a:srgbClr val="97989A"/>
              </a:buClr>
              <a:buFont typeface="+mj-lt"/>
              <a:buAutoNum type="romanLcPeriod"/>
              <a:defRPr/>
            </a:pPr>
            <a:r>
              <a:rPr lang="en-US" b="1" dirty="0">
                <a:solidFill>
                  <a:schemeClr val="tx1"/>
                </a:solidFill>
                <a:latin typeface="Univers for KPMG" panose="020B0603020202020204" pitchFamily="34" charset="0"/>
              </a:rPr>
              <a:t>Engineering: </a:t>
            </a:r>
            <a:r>
              <a:rPr lang="en-US" dirty="0">
                <a:solidFill>
                  <a:schemeClr val="tx1"/>
                </a:solidFill>
                <a:latin typeface="Univers for KPMG" panose="020B0603020202020204" pitchFamily="34" charset="0"/>
              </a:rPr>
              <a:t>The Company has increased the use of overseas engineering resources from South America. Management indicates that they intend to continue this practice to realize further cost savings. We adjust the TTM Aug-20 expense run-rate based on Aug-20 payroll and 11 FTE  (i.e. approximately $36,000 annual salary per FTE, or $397,000 annually). Note that the run-rate for co-op engineering positions is assumed to be four months per year of salary translating to approximately three full time employees.</a:t>
            </a:r>
          </a:p>
          <a:p>
            <a:pPr marL="645750" lvl="3" indent="-285750">
              <a:spcAft>
                <a:spcPts val="200"/>
              </a:spcAft>
              <a:buClr>
                <a:srgbClr val="97989A"/>
              </a:buClr>
              <a:buFont typeface="+mj-lt"/>
              <a:buAutoNum type="romanLcPeriod"/>
              <a:defRPr/>
            </a:pPr>
            <a:r>
              <a:rPr lang="en-US" b="1" dirty="0">
                <a:solidFill>
                  <a:schemeClr val="tx1"/>
                </a:solidFill>
                <a:latin typeface="Univers for KPMG" panose="020B0603020202020204" pitchFamily="34" charset="0"/>
              </a:rPr>
              <a:t>Operations and quality assurance:</a:t>
            </a:r>
            <a:r>
              <a:rPr lang="en-US" dirty="0">
                <a:solidFill>
                  <a:schemeClr val="tx1"/>
                </a:solidFill>
                <a:latin typeface="Univers for KPMG" panose="020B0603020202020204" pitchFamily="34" charset="0"/>
              </a:rPr>
              <a:t> The Company terminated the operations and quality assurance personnel in Mar-20 and Aug-20 respectively (i.e. Canadian employees), and recruited a replacement from South America starting Jul-20. We adjusted the payroll expense to reflect the run-rate of one South American outsourced personnel with $10,000 salary annually. </a:t>
            </a:r>
          </a:p>
          <a:p>
            <a:pPr marL="228600" lvl="2" indent="-228600">
              <a:spcBef>
                <a:spcPts val="200"/>
              </a:spcBef>
              <a:spcAft>
                <a:spcPts val="200"/>
              </a:spcAft>
              <a:buClr>
                <a:srgbClr val="97989A"/>
              </a:buClr>
              <a:buFont typeface="+mj-lt"/>
              <a:buAutoNum type="arabicPeriod" startAt="4"/>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4"/>
              <a:defRPr/>
            </a:pPr>
            <a:endParaRPr lang="en-US" dirty="0">
              <a:solidFill>
                <a:schemeClr val="tx1"/>
              </a:solidFill>
              <a:latin typeface="Univers for KPMG" panose="020B0603020202020204" pitchFamily="34" charset="0"/>
            </a:endParaRPr>
          </a:p>
        </p:txBody>
      </p:sp>
      <p:sp>
        <p:nvSpPr>
          <p:cNvPr id="12" name="TextBox 11">
            <a:extLst>
              <a:ext uri="{FF2B5EF4-FFF2-40B4-BE49-F238E27FC236}">
                <a16:creationId xmlns:a16="http://schemas.microsoft.com/office/drawing/2014/main" id="{247D941C-9EF2-4EA7-8C64-DC66784D7795}"/>
              </a:ext>
            </a:extLst>
          </p:cNvPr>
          <p:cNvSpPr txBox="1"/>
          <p:nvPr/>
        </p:nvSpPr>
        <p:spPr>
          <a:xfrm>
            <a:off x="397932" y="457496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8" name="Rectangle 17">
            <a:extLst>
              <a:ext uri="{FF2B5EF4-FFF2-40B4-BE49-F238E27FC236}">
                <a16:creationId xmlns:a16="http://schemas.microsoft.com/office/drawing/2014/main" id="{EE0B3A73-F7C2-4AD8-8F26-0B16DA26B06F}"/>
              </a:ext>
            </a:extLst>
          </p:cNvPr>
          <p:cNvSpPr/>
          <p:nvPr/>
        </p:nvSpPr>
        <p:spPr>
          <a:xfrm>
            <a:off x="406399" y="3760810"/>
            <a:ext cx="2965413" cy="175774"/>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7" name="TextBox 16">
            <a:extLst>
              <a:ext uri="{FF2B5EF4-FFF2-40B4-BE49-F238E27FC236}">
                <a16:creationId xmlns:a16="http://schemas.microsoft.com/office/drawing/2014/main" id="{70315130-81A0-4B8C-ACD9-61E60FD17678}"/>
              </a:ext>
            </a:extLst>
          </p:cNvPr>
          <p:cNvSpPr txBox="1"/>
          <p:nvPr/>
        </p:nvSpPr>
        <p:spPr>
          <a:xfrm>
            <a:off x="3818547" y="2377687"/>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3" name="Rectangle 12">
            <a:extLst>
              <a:ext uri="{FF2B5EF4-FFF2-40B4-BE49-F238E27FC236}">
                <a16:creationId xmlns:a16="http://schemas.microsoft.com/office/drawing/2014/main" id="{B1A5D7FC-2011-4722-A031-7A082FF1DDFB}"/>
              </a:ext>
            </a:extLst>
          </p:cNvPr>
          <p:cNvSpPr/>
          <p:nvPr/>
        </p:nvSpPr>
        <p:spPr>
          <a:xfrm>
            <a:off x="3932079" y="2266666"/>
            <a:ext cx="4780121" cy="111021"/>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pic>
        <p:nvPicPr>
          <p:cNvPr id="3" name="Picture 2">
            <a:extLst>
              <a:ext uri="{FF2B5EF4-FFF2-40B4-BE49-F238E27FC236}">
                <a16:creationId xmlns:a16="http://schemas.microsoft.com/office/drawing/2014/main" id="{68E9BBB9-89DD-4637-BCFC-EE6D43DDE9F0}"/>
              </a:ext>
            </a:extLst>
          </p:cNvPr>
          <p:cNvPicPr>
            <a:picLocks noChangeAspect="1"/>
          </p:cNvPicPr>
          <p:nvPr>
            <p:custDataLst>
              <p:tags r:id="rId5"/>
            </p:custDataLst>
          </p:nvPr>
        </p:nvPicPr>
        <p:blipFill>
          <a:blip r:embed="rId11"/>
          <a:stretch>
            <a:fillRect/>
          </a:stretch>
        </p:blipFill>
        <p:spPr>
          <a:xfrm>
            <a:off x="3932082" y="1651816"/>
            <a:ext cx="4751175" cy="725872"/>
          </a:xfrm>
          <a:prstGeom prst="rect">
            <a:avLst/>
          </a:prstGeom>
        </p:spPr>
      </p:pic>
    </p:spTree>
    <p:extLst>
      <p:ext uri="{BB962C8B-B14F-4D97-AF65-F5344CB8AC3E}">
        <p14:creationId xmlns:p14="http://schemas.microsoft.com/office/powerpoint/2010/main" val="1966655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4243" name="think-cell Slide" r:id="rId9" imgW="498" imgH="499" progId="TCLayout.ActiveDocument.1">
                  <p:embed/>
                </p:oleObj>
              </mc:Choice>
              <mc:Fallback>
                <p:oleObj name="think-cell Slide" r:id="rId9" imgW="498" imgH="499" progId="TCLayout.ActiveDocument.1">
                  <p:embed/>
                  <p:pic>
                    <p:nvPicPr>
                      <p:cNvPr id="5" name="Object 4" hidden="1"/>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(4) – </a:t>
            </a:r>
            <a:r>
              <a:rPr lang="en-CA" sz="4400" i="1" dirty="0">
                <a:solidFill>
                  <a:srgbClr val="00338D"/>
                </a:solidFill>
              </a:rPr>
              <a:t>Pro forma adjustments and OC</a:t>
            </a:r>
            <a:endParaRPr lang="en-CA" sz="4400" i="1" dirty="0"/>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3640667" y="1211263"/>
            <a:ext cx="5393266" cy="4633814"/>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Pro forma adjustments (continued)</a:t>
            </a:r>
          </a:p>
          <a:p>
            <a:pPr marL="228600" lvl="2" indent="-228600">
              <a:spcBef>
                <a:spcPts val="200"/>
              </a:spcBef>
              <a:spcAft>
                <a:spcPts val="200"/>
              </a:spcAft>
              <a:buClr>
                <a:srgbClr val="97989A"/>
              </a:buClr>
              <a:buFont typeface="+mj-lt"/>
              <a:buAutoNum type="arabicPeriod" startAt="5"/>
              <a:defRPr/>
            </a:pPr>
            <a:r>
              <a:rPr lang="en-US" b="1" dirty="0">
                <a:solidFill>
                  <a:schemeClr val="tx1"/>
                </a:solidFill>
                <a:latin typeface="Univers for KPMG" panose="020B0603020202020204" pitchFamily="34" charset="0"/>
              </a:rPr>
              <a:t>Software and hosting fees: </a:t>
            </a:r>
            <a:r>
              <a:rPr lang="en-US" dirty="0">
                <a:solidFill>
                  <a:schemeClr val="tx1"/>
                </a:solidFill>
                <a:latin typeface="Univers for KPMG" panose="020B0603020202020204" pitchFamily="34" charset="0"/>
              </a:rPr>
              <a:t>The Company received start-up credits and discounts from their suppliers for software licenses and hosting fees related to their platform. We normalize the software license fees based on the Aug-20 expense and adjust the hosting fees to reflect the monthly expense run-rate of $2,800. See below and Appendix 4 for further details: </a:t>
            </a: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rabicPeriod" startAt="5"/>
              <a:defRPr/>
            </a:pPr>
            <a:r>
              <a:rPr lang="en-US" b="1" dirty="0">
                <a:solidFill>
                  <a:schemeClr val="tx1"/>
                </a:solidFill>
                <a:latin typeface="Univers for KPMG" panose="020B0603020202020204" pitchFamily="34" charset="0"/>
              </a:rPr>
              <a:t>Rent: </a:t>
            </a:r>
            <a:r>
              <a:rPr lang="en-US" dirty="0">
                <a:solidFill>
                  <a:schemeClr val="tx1"/>
                </a:solidFill>
                <a:latin typeface="Univers for KPMG" panose="020B0603020202020204" pitchFamily="34" charset="0"/>
              </a:rPr>
              <a:t>In conjunction with diligence adjustment #1,  this adjustment reflects the current monthly rent expense of $4,300 across all months in the TTM Aug-20 period.</a:t>
            </a:r>
          </a:p>
          <a:p>
            <a:pPr marL="228600" lvl="2" indent="-228600">
              <a:spcBef>
                <a:spcPts val="200"/>
              </a:spcBef>
              <a:spcAft>
                <a:spcPts val="200"/>
              </a:spcAft>
              <a:buClr>
                <a:srgbClr val="97989A"/>
              </a:buClr>
              <a:buFont typeface="+mj-lt"/>
              <a:buAutoNum type="arabicPeriod" startAt="5"/>
              <a:defRPr/>
            </a:pPr>
            <a:endParaRPr lang="en-US" b="1" dirty="0">
              <a:solidFill>
                <a:schemeClr val="tx1"/>
              </a:solidFill>
              <a:latin typeface="Univers for KPMG" panose="020B0603020202020204" pitchFamily="34" charset="0"/>
            </a:endParaRPr>
          </a:p>
          <a:p>
            <a:pPr>
              <a:spcBef>
                <a:spcPts val="200"/>
              </a:spcBef>
              <a:spcAft>
                <a:spcPts val="200"/>
              </a:spcAft>
            </a:pPr>
            <a:endParaRPr lang="en-US" dirty="0"/>
          </a:p>
          <a:p>
            <a:pPr>
              <a:spcBef>
                <a:spcPts val="200"/>
              </a:spcBef>
              <a:spcAft>
                <a:spcPts val="200"/>
              </a:spcAft>
            </a:pPr>
            <a:endParaRPr lang="en-US" dirty="0"/>
          </a:p>
          <a:p>
            <a:pPr>
              <a:spcBef>
                <a:spcPts val="200"/>
              </a:spcBef>
              <a:spcAft>
                <a:spcPts val="200"/>
              </a:spcAft>
            </a:pPr>
            <a:endParaRPr lang="en-US" dirty="0"/>
          </a:p>
          <a:p>
            <a:pPr>
              <a:spcBef>
                <a:spcPts val="200"/>
              </a:spcBef>
              <a:spcAft>
                <a:spcPts val="200"/>
              </a:spcAft>
            </a:pPr>
            <a:endParaRPr lang="en-US" dirty="0"/>
          </a:p>
          <a:p>
            <a:pPr marL="0" lvl="2" indent="0">
              <a:spcBef>
                <a:spcPts val="200"/>
              </a:spcBef>
              <a:spcAft>
                <a:spcPts val="200"/>
              </a:spcAft>
              <a:buClr>
                <a:srgbClr val="97989A"/>
              </a:buClr>
              <a:buNone/>
              <a:defRPr/>
            </a:pPr>
            <a:endParaRPr lang="en-US" b="1" dirty="0">
              <a:solidFill>
                <a:schemeClr val="tx1"/>
              </a:solidFill>
              <a:latin typeface="Univers for KPMG" panose="020B0603020202020204" pitchFamily="34" charset="0"/>
            </a:endParaRPr>
          </a:p>
        </p:txBody>
      </p:sp>
      <p:sp>
        <p:nvSpPr>
          <p:cNvPr id="12" name="TextBox 11">
            <a:extLst>
              <a:ext uri="{FF2B5EF4-FFF2-40B4-BE49-F238E27FC236}">
                <a16:creationId xmlns:a16="http://schemas.microsoft.com/office/drawing/2014/main" id="{247D941C-9EF2-4EA7-8C64-DC66784D7795}"/>
              </a:ext>
            </a:extLst>
          </p:cNvPr>
          <p:cNvSpPr txBox="1"/>
          <p:nvPr/>
        </p:nvSpPr>
        <p:spPr>
          <a:xfrm>
            <a:off x="397932" y="457496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8" name="Rectangle 17">
            <a:extLst>
              <a:ext uri="{FF2B5EF4-FFF2-40B4-BE49-F238E27FC236}">
                <a16:creationId xmlns:a16="http://schemas.microsoft.com/office/drawing/2014/main" id="{EE0B3A73-F7C2-4AD8-8F26-0B16DA26B06F}"/>
              </a:ext>
            </a:extLst>
          </p:cNvPr>
          <p:cNvSpPr/>
          <p:nvPr/>
        </p:nvSpPr>
        <p:spPr>
          <a:xfrm>
            <a:off x="416718" y="3925310"/>
            <a:ext cx="2965413" cy="291088"/>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pic>
        <p:nvPicPr>
          <p:cNvPr id="23" name="Picture 22">
            <a:extLst>
              <a:ext uri="{FF2B5EF4-FFF2-40B4-BE49-F238E27FC236}">
                <a16:creationId xmlns:a16="http://schemas.microsoft.com/office/drawing/2014/main" id="{10C74ADD-0809-472D-82DD-9D84128C7DE6}"/>
              </a:ext>
            </a:extLst>
          </p:cNvPr>
          <p:cNvPicPr>
            <a:picLocks noChangeAspect="1"/>
          </p:cNvPicPr>
          <p:nvPr>
            <p:custDataLst>
              <p:tags r:id="rId4"/>
            </p:custDataLst>
          </p:nvPr>
        </p:nvPicPr>
        <p:blipFill>
          <a:blip r:embed="rId11"/>
          <a:stretch>
            <a:fillRect/>
          </a:stretch>
        </p:blipFill>
        <p:spPr>
          <a:xfrm>
            <a:off x="3962401" y="2062113"/>
            <a:ext cx="4885266" cy="2058121"/>
          </a:xfrm>
          <a:prstGeom prst="rect">
            <a:avLst/>
          </a:prstGeom>
        </p:spPr>
      </p:pic>
      <p:sp>
        <p:nvSpPr>
          <p:cNvPr id="16" name="TextBox 15">
            <a:extLst>
              <a:ext uri="{FF2B5EF4-FFF2-40B4-BE49-F238E27FC236}">
                <a16:creationId xmlns:a16="http://schemas.microsoft.com/office/drawing/2014/main" id="{61D3E195-5FA0-424D-9A46-CBF932BA2BBC}"/>
              </a:ext>
            </a:extLst>
          </p:cNvPr>
          <p:cNvSpPr txBox="1"/>
          <p:nvPr/>
        </p:nvSpPr>
        <p:spPr>
          <a:xfrm>
            <a:off x="3937000" y="4095492"/>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pic>
        <p:nvPicPr>
          <p:cNvPr id="19" name="Picture 18">
            <a:extLst>
              <a:ext uri="{FF2B5EF4-FFF2-40B4-BE49-F238E27FC236}">
                <a16:creationId xmlns:a16="http://schemas.microsoft.com/office/drawing/2014/main" id="{AF24C75C-D887-430F-9CCF-A4FC241C750A}"/>
              </a:ext>
            </a:extLst>
          </p:cNvPr>
          <p:cNvPicPr>
            <a:picLocks noChangeAspect="1"/>
          </p:cNvPicPr>
          <p:nvPr>
            <p:custDataLst>
              <p:tags r:id="rId5"/>
            </p:custDataLst>
          </p:nvPr>
        </p:nvPicPr>
        <p:blipFill>
          <a:blip r:embed="rId12"/>
          <a:stretch>
            <a:fillRect/>
          </a:stretch>
        </p:blipFill>
        <p:spPr>
          <a:xfrm>
            <a:off x="3946625" y="4639462"/>
            <a:ext cx="4910667" cy="690261"/>
          </a:xfrm>
          <a:prstGeom prst="rect">
            <a:avLst/>
          </a:prstGeom>
        </p:spPr>
      </p:pic>
      <p:sp>
        <p:nvSpPr>
          <p:cNvPr id="20" name="TextBox 19">
            <a:extLst>
              <a:ext uri="{FF2B5EF4-FFF2-40B4-BE49-F238E27FC236}">
                <a16:creationId xmlns:a16="http://schemas.microsoft.com/office/drawing/2014/main" id="{69BEA18F-A577-4901-A00E-5820B31682C8}"/>
              </a:ext>
            </a:extLst>
          </p:cNvPr>
          <p:cNvSpPr txBox="1"/>
          <p:nvPr/>
        </p:nvSpPr>
        <p:spPr>
          <a:xfrm>
            <a:off x="3878891" y="5299282"/>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
        <p:nvSpPr>
          <p:cNvPr id="13" name="Rectangle 12">
            <a:extLst>
              <a:ext uri="{FF2B5EF4-FFF2-40B4-BE49-F238E27FC236}">
                <a16:creationId xmlns:a16="http://schemas.microsoft.com/office/drawing/2014/main" id="{33AAAB37-69A0-47EA-B023-0352FBC8941F}"/>
              </a:ext>
            </a:extLst>
          </p:cNvPr>
          <p:cNvSpPr/>
          <p:nvPr/>
        </p:nvSpPr>
        <p:spPr>
          <a:xfrm>
            <a:off x="3957318" y="4017963"/>
            <a:ext cx="4885266" cy="10440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4" name="Rectangle 13">
            <a:extLst>
              <a:ext uri="{FF2B5EF4-FFF2-40B4-BE49-F238E27FC236}">
                <a16:creationId xmlns:a16="http://schemas.microsoft.com/office/drawing/2014/main" id="{A7EDD43A-1B60-45C2-861A-F35D6EB2D50A}"/>
              </a:ext>
            </a:extLst>
          </p:cNvPr>
          <p:cNvSpPr/>
          <p:nvPr/>
        </p:nvSpPr>
        <p:spPr>
          <a:xfrm>
            <a:off x="3964938" y="5207530"/>
            <a:ext cx="4885266" cy="104407"/>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pic>
        <p:nvPicPr>
          <p:cNvPr id="15" name="Picture 14">
            <a:extLst>
              <a:ext uri="{FF2B5EF4-FFF2-40B4-BE49-F238E27FC236}">
                <a16:creationId xmlns:a16="http://schemas.microsoft.com/office/drawing/2014/main" id="{22A69753-3762-432D-AD5A-CE225CBC95B7}"/>
              </a:ext>
            </a:extLst>
          </p:cNvPr>
          <p:cNvPicPr>
            <a:picLocks noChangeAspect="1"/>
          </p:cNvPicPr>
          <p:nvPr>
            <p:custDataLst>
              <p:tags r:id="rId6"/>
            </p:custDataLst>
          </p:nvPr>
        </p:nvPicPr>
        <p:blipFill>
          <a:blip r:embed="rId13"/>
          <a:stretch>
            <a:fillRect/>
          </a:stretch>
        </p:blipFill>
        <p:spPr>
          <a:xfrm>
            <a:off x="435506" y="1211264"/>
            <a:ext cx="2927839" cy="3341647"/>
          </a:xfrm>
          <a:prstGeom prst="rect">
            <a:avLst/>
          </a:prstGeom>
        </p:spPr>
      </p:pic>
    </p:spTree>
    <p:extLst>
      <p:ext uri="{BB962C8B-B14F-4D97-AF65-F5344CB8AC3E}">
        <p14:creationId xmlns:p14="http://schemas.microsoft.com/office/powerpoint/2010/main" val="951356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ext uri="{D42A27DB-BD31-4B8C-83A1-F6EECF244321}">
                <p14:modId xmlns:p14="http://schemas.microsoft.com/office/powerpoint/2010/main" val="6044324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3342" name="think-cell Slide" r:id="rId8" imgW="498" imgH="499" progId="TCLayout.ActiveDocument.1">
                  <p:embed/>
                </p:oleObj>
              </mc:Choice>
              <mc:Fallback>
                <p:oleObj name="think-cell Slide" r:id="rId8" imgW="498" imgH="499" progId="TCLayout.ActiveDocument.1">
                  <p:embed/>
                  <p:pic>
                    <p:nvPicPr>
                      <p:cNvPr id="5" name="Object 4" hidden="1"/>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4400" i="1"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228600"/>
            <a:ext cx="8280400" cy="784830"/>
          </a:xfrm>
        </p:spPr>
        <p:txBody>
          <a:bodyPr/>
          <a:lstStyle/>
          <a:p>
            <a:r>
              <a:rPr lang="en-CA" sz="2400" dirty="0">
                <a:solidFill>
                  <a:schemeClr val="bg1">
                    <a:lumMod val="50000"/>
                  </a:schemeClr>
                </a:solidFill>
              </a:rPr>
              <a:t>Supporting analysis</a:t>
            </a:r>
            <a:br>
              <a:rPr lang="en-CA" dirty="0"/>
            </a:br>
            <a:r>
              <a:rPr lang="en-CA" sz="4400" dirty="0">
                <a:solidFill>
                  <a:srgbClr val="00338D"/>
                </a:solidFill>
              </a:rPr>
              <a:t>Quality of earnings (5) – </a:t>
            </a:r>
            <a:r>
              <a:rPr lang="en-CA" sz="4400" i="1" dirty="0">
                <a:solidFill>
                  <a:srgbClr val="00338D"/>
                </a:solidFill>
              </a:rPr>
              <a:t>Other considerations</a:t>
            </a:r>
            <a:endParaRPr lang="en-CA" sz="4400" i="1" dirty="0"/>
          </a:p>
        </p:txBody>
      </p:sp>
      <p:sp>
        <p:nvSpPr>
          <p:cNvPr id="8" name="Espace réservé du texte 3">
            <a:extLst>
              <a:ext uri="{FF2B5EF4-FFF2-40B4-BE49-F238E27FC236}">
                <a16:creationId xmlns:a16="http://schemas.microsoft.com/office/drawing/2014/main" id="{1DC52719-F5BD-4437-AE57-20FCBFD38ABB}"/>
              </a:ext>
            </a:extLst>
          </p:cNvPr>
          <p:cNvSpPr txBox="1">
            <a:spLocks/>
          </p:cNvSpPr>
          <p:nvPr/>
        </p:nvSpPr>
        <p:spPr bwMode="gray">
          <a:xfrm>
            <a:off x="431800" y="1200496"/>
            <a:ext cx="4012381" cy="4536352"/>
          </a:xfrm>
          <a:prstGeom prst="rect">
            <a:avLst/>
          </a:prstGeom>
        </p:spPr>
        <p:txBody>
          <a:bodyPr vert="horz" wrap="square" lIns="72000" tIns="72000" rIns="72000" bIns="72000" rtlCol="0" anchor="t" anchorCtr="0">
            <a:spAutoFit/>
          </a:bodyPr>
          <a:lstStyle>
            <a:lvl1pPr marL="0" indent="0" algn="l" defTabSz="914400" rtl="0" eaLnBrk="1" latinLnBrk="0" hangingPunct="1">
              <a:lnSpc>
                <a:spcPct val="100000"/>
              </a:lnSpc>
              <a:spcBef>
                <a:spcPts val="600"/>
              </a:spcBef>
              <a:spcAft>
                <a:spcPts val="600"/>
              </a:spcAft>
              <a:buFontTx/>
              <a:buNone/>
              <a:defRPr sz="900" b="1" i="0" kern="1200">
                <a:solidFill>
                  <a:srgbClr val="00338D"/>
                </a:solidFill>
                <a:latin typeface="Univers for KPMG" panose="020B0603020202020204" pitchFamily="34" charset="0"/>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00338D"/>
                </a:solidFill>
                <a:latin typeface="+mn-lt"/>
                <a:ea typeface="+mn-ea"/>
                <a:cs typeface="Univers for KPMG Light"/>
              </a:defRPr>
            </a:lvl2pPr>
            <a:lvl3pPr marL="270000" indent="-270000" algn="l" defTabSz="914400" rtl="0" eaLnBrk="1" latinLnBrk="0" hangingPunct="1">
              <a:lnSpc>
                <a:spcPct val="100000"/>
              </a:lnSpc>
              <a:spcBef>
                <a:spcPts val="3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3pPr>
            <a:lvl4pPr marL="630000" indent="-270000" algn="l" defTabSz="914400" rtl="0" eaLnBrk="1" latinLnBrk="0" hangingPunct="1">
              <a:lnSpc>
                <a:spcPct val="100000"/>
              </a:lnSpc>
              <a:spcBef>
                <a:spcPts val="200"/>
              </a:spcBef>
              <a:spcAft>
                <a:spcPts val="600"/>
              </a:spcAft>
              <a:buClr>
                <a:schemeClr val="tx2"/>
              </a:buClr>
              <a:buFont typeface="Univers for KPMG Light" panose="020B0403020202020204" pitchFamily="34" charset="0"/>
              <a:buChar char="—"/>
              <a:defRPr sz="900" kern="1200">
                <a:solidFill>
                  <a:srgbClr val="00338D"/>
                </a:solidFill>
                <a:latin typeface="+mn-lt"/>
                <a:ea typeface="+mn-ea"/>
                <a:cs typeface="Univers for KPMG Light"/>
              </a:defRPr>
            </a:lvl4pPr>
            <a:lvl5pPr marL="538163" indent="-179388" algn="l" defTabSz="914400" rtl="0" eaLnBrk="1" latinLnBrk="0" hangingPunct="1">
              <a:lnSpc>
                <a:spcPct val="100000"/>
              </a:lnSpc>
              <a:spcBef>
                <a:spcPts val="200"/>
              </a:spcBef>
              <a:spcAft>
                <a:spcPts val="600"/>
              </a:spcAft>
              <a:buClr>
                <a:schemeClr val="tx2"/>
              </a:buClr>
              <a:buFont typeface="Arial" panose="020B0604020202020204" pitchFamily="34" charset="0"/>
              <a:buChar char="–"/>
              <a:defRPr lang="en-US" sz="900" b="0" i="0" kern="1200" baseline="0" dirty="0" smtClean="0">
                <a:solidFill>
                  <a:srgbClr val="00338D"/>
                </a:solidFill>
                <a:latin typeface="+mn-lt"/>
                <a:ea typeface="+mn-ea"/>
                <a:cs typeface="Univers for KPMG Light"/>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t>Other considerations</a:t>
            </a:r>
          </a:p>
          <a:p>
            <a:pPr marL="228600" lvl="2" indent="-228600">
              <a:spcBef>
                <a:spcPts val="200"/>
              </a:spcBef>
              <a:spcAft>
                <a:spcPts val="200"/>
              </a:spcAft>
              <a:buClr>
                <a:srgbClr val="97989A"/>
              </a:buClr>
              <a:buFont typeface="+mj-lt"/>
              <a:buAutoNum type="alphaUcPeriod"/>
              <a:defRPr/>
            </a:pPr>
            <a:r>
              <a:rPr lang="en-US" b="1" dirty="0">
                <a:solidFill>
                  <a:schemeClr val="tx1"/>
                </a:solidFill>
                <a:latin typeface="Univers for KPMG" panose="020B0603020202020204" pitchFamily="34" charset="0"/>
              </a:rPr>
              <a:t>Accounting personnel: </a:t>
            </a:r>
            <a:r>
              <a:rPr lang="en-US" dirty="0">
                <a:solidFill>
                  <a:schemeClr val="tx1"/>
                </a:solidFill>
                <a:latin typeface="Univers for KPMG" panose="020B0603020202020204" pitchFamily="34" charset="0"/>
              </a:rPr>
              <a:t>The Company’s accounting is managed by an external bookkeeper on a part-time basis and implies the accounting can be absorbed by Client’s accounting team if required. The bookkeeper cost is $50/hour and costs approximately $300-400/month.</a:t>
            </a:r>
          </a:p>
          <a:p>
            <a:pPr marL="228600" lvl="2" indent="-228600">
              <a:spcBef>
                <a:spcPts val="200"/>
              </a:spcBef>
              <a:spcAft>
                <a:spcPts val="200"/>
              </a:spcAft>
              <a:buClr>
                <a:srgbClr val="97989A"/>
              </a:buClr>
              <a:buFont typeface="+mj-lt"/>
              <a:buAutoNum type="alphaUcPeriod"/>
              <a:defRPr/>
            </a:pPr>
            <a:r>
              <a:rPr lang="en-US" b="1" dirty="0">
                <a:solidFill>
                  <a:schemeClr val="tx1"/>
                </a:solidFill>
                <a:latin typeface="Univers for KPMG" panose="020B0603020202020204" pitchFamily="34" charset="0"/>
              </a:rPr>
              <a:t>BSCI and CSIA (Broker Support Center Inc. &amp; Credit Security Insurance Agency):</a:t>
            </a:r>
            <a:r>
              <a:rPr lang="en-US" dirty="0">
                <a:solidFill>
                  <a:schemeClr val="tx1"/>
                </a:solidFill>
                <a:latin typeface="Univers for KPMG" panose="020B0603020202020204" pitchFamily="34" charset="0"/>
              </a:rPr>
              <a:t> The Company has not generated revenue from these agencies as they started the integration with the agencies recently. Management expect future revenue growth from this relationship.</a:t>
            </a:r>
          </a:p>
          <a:p>
            <a:pPr marL="228600" lvl="2" indent="-228600">
              <a:spcBef>
                <a:spcPts val="200"/>
              </a:spcBef>
              <a:spcAft>
                <a:spcPts val="200"/>
              </a:spcAft>
              <a:buClr>
                <a:srgbClr val="97989A"/>
              </a:buClr>
              <a:buFont typeface="+mj-lt"/>
              <a:buAutoNum type="alphaUcPeriod"/>
              <a:defRPr/>
            </a:pPr>
            <a:r>
              <a:rPr lang="en-US" b="1" dirty="0">
                <a:solidFill>
                  <a:schemeClr val="tx1"/>
                </a:solidFill>
                <a:latin typeface="Univers for KPMG" panose="020B0603020202020204" pitchFamily="34" charset="0"/>
              </a:rPr>
              <a:t>Increase in benefits: </a:t>
            </a:r>
            <a:r>
              <a:rPr lang="en-US" dirty="0">
                <a:solidFill>
                  <a:schemeClr val="tx1"/>
                </a:solidFill>
                <a:latin typeface="Univers for KPMG" panose="020B0603020202020204" pitchFamily="34" charset="0"/>
              </a:rPr>
              <a:t>The Company’s current benefit rate as % salaries and wages is approximately 5.2%, which is comprised of primarily payroll taxes. As the Company grows, it may provide employees with additional benefits such as medical and life insurance. For sensitivity purposes, assuming 15% benefit rate, the Company’s EBITDA may decline by $56,000. </a:t>
            </a: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a:p>
            <a:pPr marL="228600" lvl="2" indent="-228600">
              <a:spcBef>
                <a:spcPts val="200"/>
              </a:spcBef>
              <a:spcAft>
                <a:spcPts val="200"/>
              </a:spcAft>
              <a:buClr>
                <a:srgbClr val="97989A"/>
              </a:buClr>
              <a:buFont typeface="+mj-lt"/>
              <a:buAutoNum type="alphaUcPeriod"/>
              <a:defRPr/>
            </a:pPr>
            <a:r>
              <a:rPr lang="en-US" b="1" dirty="0">
                <a:solidFill>
                  <a:schemeClr val="tx1"/>
                </a:solidFill>
              </a:rPr>
              <a:t>Stock option plan: </a:t>
            </a:r>
            <a:r>
              <a:rPr lang="en-US" altLang="en-US" dirty="0">
                <a:solidFill>
                  <a:srgbClr val="000000"/>
                </a:solidFill>
                <a:cs typeface="Segoe UI" panose="020B0502040204020203" pitchFamily="34" charset="0"/>
              </a:rPr>
              <a:t>The Company has a stock option program for its employees that may need to be replaced with new a incentive programs post closing. See below for details on who received options historically:</a:t>
            </a:r>
            <a:endParaRPr lang="en-US" altLang="en-US" dirty="0">
              <a:solidFill>
                <a:schemeClr val="tx1"/>
              </a:solidFill>
            </a:endParaRPr>
          </a:p>
          <a:p>
            <a:pPr marL="228600" lvl="2" indent="-228600">
              <a:spcBef>
                <a:spcPts val="200"/>
              </a:spcBef>
              <a:spcAft>
                <a:spcPts val="200"/>
              </a:spcAft>
              <a:buClr>
                <a:srgbClr val="97989A"/>
              </a:buClr>
              <a:buFont typeface="+mj-lt"/>
              <a:buAutoNum type="alphaUcPeriod"/>
              <a:defRPr/>
            </a:pPr>
            <a:endParaRPr lang="en-US" dirty="0">
              <a:solidFill>
                <a:schemeClr val="tx1"/>
              </a:solidFill>
              <a:latin typeface="Univers for KPMG" panose="020B0603020202020204" pitchFamily="34" charset="0"/>
            </a:endParaRPr>
          </a:p>
        </p:txBody>
      </p:sp>
      <p:pic>
        <p:nvPicPr>
          <p:cNvPr id="9" name="Picture 8">
            <a:extLst>
              <a:ext uri="{FF2B5EF4-FFF2-40B4-BE49-F238E27FC236}">
                <a16:creationId xmlns:a16="http://schemas.microsoft.com/office/drawing/2014/main" id="{7E5B96F4-2EB6-4241-9680-A571510BC61B}"/>
              </a:ext>
            </a:extLst>
          </p:cNvPr>
          <p:cNvPicPr>
            <a:picLocks noChangeAspect="1"/>
          </p:cNvPicPr>
          <p:nvPr>
            <p:custDataLst>
              <p:tags r:id="rId4"/>
            </p:custDataLst>
          </p:nvPr>
        </p:nvPicPr>
        <p:blipFill>
          <a:blip r:embed="rId10"/>
          <a:stretch>
            <a:fillRect/>
          </a:stretch>
        </p:blipFill>
        <p:spPr>
          <a:xfrm>
            <a:off x="719667" y="3814532"/>
            <a:ext cx="2421466" cy="892704"/>
          </a:xfrm>
          <a:prstGeom prst="rect">
            <a:avLst/>
          </a:prstGeom>
        </p:spPr>
      </p:pic>
      <p:sp>
        <p:nvSpPr>
          <p:cNvPr id="10" name="TextBox 9">
            <a:extLst>
              <a:ext uri="{FF2B5EF4-FFF2-40B4-BE49-F238E27FC236}">
                <a16:creationId xmlns:a16="http://schemas.microsoft.com/office/drawing/2014/main" id="{FDF9797C-4A54-4FE0-896F-C04F1A8BF0A2}"/>
              </a:ext>
            </a:extLst>
          </p:cNvPr>
          <p:cNvSpPr txBox="1"/>
          <p:nvPr/>
        </p:nvSpPr>
        <p:spPr>
          <a:xfrm>
            <a:off x="668865" y="4663293"/>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pic>
        <p:nvPicPr>
          <p:cNvPr id="11" name="Picture 10">
            <a:extLst>
              <a:ext uri="{FF2B5EF4-FFF2-40B4-BE49-F238E27FC236}">
                <a16:creationId xmlns:a16="http://schemas.microsoft.com/office/drawing/2014/main" id="{AAE8C0BF-0DFB-43DC-BBF1-07F6985D2E20}"/>
              </a:ext>
            </a:extLst>
          </p:cNvPr>
          <p:cNvPicPr>
            <a:picLocks noChangeAspect="1"/>
          </p:cNvPicPr>
          <p:nvPr>
            <p:custDataLst>
              <p:tags r:id="rId5"/>
            </p:custDataLst>
          </p:nvPr>
        </p:nvPicPr>
        <p:blipFill>
          <a:blip r:embed="rId11"/>
          <a:stretch>
            <a:fillRect/>
          </a:stretch>
        </p:blipFill>
        <p:spPr>
          <a:xfrm>
            <a:off x="719667" y="5397636"/>
            <a:ext cx="2837592" cy="783242"/>
          </a:xfrm>
          <a:prstGeom prst="rect">
            <a:avLst/>
          </a:prstGeom>
        </p:spPr>
      </p:pic>
      <p:sp>
        <p:nvSpPr>
          <p:cNvPr id="12" name="TextBox 11">
            <a:extLst>
              <a:ext uri="{FF2B5EF4-FFF2-40B4-BE49-F238E27FC236}">
                <a16:creationId xmlns:a16="http://schemas.microsoft.com/office/drawing/2014/main" id="{48D1FC44-9690-417B-8AA6-F1EC923382D2}"/>
              </a:ext>
            </a:extLst>
          </p:cNvPr>
          <p:cNvSpPr txBox="1"/>
          <p:nvPr/>
        </p:nvSpPr>
        <p:spPr>
          <a:xfrm>
            <a:off x="651037" y="6126859"/>
            <a:ext cx="3667528" cy="175774"/>
          </a:xfrm>
          <a:prstGeom prst="rect">
            <a:avLst/>
          </a:prstGeom>
          <a:noFill/>
        </p:spPr>
        <p:txBody>
          <a:bodyPr wrap="square" lIns="54000" tIns="54000" rIns="54000" bIns="54000" rtlCol="0" anchor="ctr">
            <a:noAutofit/>
          </a:bodyPr>
          <a:lstStyle/>
          <a:p>
            <a:pPr marL="346075" indent="-346075">
              <a:tabLst>
                <a:tab pos="346075" algn="l"/>
              </a:tabLst>
            </a:pPr>
            <a:r>
              <a:rPr lang="en-US" sz="700" i="1" dirty="0">
                <a:latin typeface="Univers for KPMG" panose="020B0603020202020204" pitchFamily="34" charset="0"/>
                <a:cs typeface="Arial" pitchFamily="34" charset="0"/>
              </a:rPr>
              <a:t>Source: Management provided information</a:t>
            </a:r>
          </a:p>
        </p:txBody>
      </p:sp>
    </p:spTree>
    <p:extLst>
      <p:ext uri="{BB962C8B-B14F-4D97-AF65-F5344CB8AC3E}">
        <p14:creationId xmlns:p14="http://schemas.microsoft.com/office/powerpoint/2010/main" val="801588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0137" name="think-cell Slide" r:id="rId6" imgW="498" imgH="499" progId="TCLayout.ActiveDocument.1">
                  <p:embed/>
                </p:oleObj>
              </mc:Choice>
              <mc:Fallback>
                <p:oleObj name="think-cell Slide" r:id="rId6" imgW="498" imgH="499" progId="TCLayout.ActiveDocument.1">
                  <p:embed/>
                  <p:pic>
                    <p:nvPicPr>
                      <p:cNvPr id="2" name="Object 1"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endParaRPr lang="en-CA" sz="5400" dirty="0">
              <a:solidFill>
                <a:prstClr val="white"/>
              </a:solidFill>
              <a:latin typeface="KPMG Extralight" panose="020B0303030202040204" pitchFamily="34" charset="0"/>
              <a:sym typeface="KPMG Extralight" panose="020B0303030202040204" pitchFamily="34" charset="0"/>
            </a:endParaRPr>
          </a:p>
        </p:txBody>
      </p:sp>
      <p:sp>
        <p:nvSpPr>
          <p:cNvPr id="7" name="Titre 6"/>
          <p:cNvSpPr>
            <a:spLocks noGrp="1"/>
          </p:cNvSpPr>
          <p:nvPr>
            <p:ph type="title"/>
          </p:nvPr>
        </p:nvSpPr>
        <p:spPr>
          <a:xfrm>
            <a:off x="1995055" y="1337703"/>
            <a:ext cx="6192982" cy="581698"/>
          </a:xfrm>
        </p:spPr>
        <p:txBody>
          <a:bodyPr/>
          <a:lstStyle/>
          <a:p>
            <a:r>
              <a:rPr lang="en-CA" sz="5400" dirty="0"/>
              <a:t>Balance sheet and net working capital</a:t>
            </a:r>
          </a:p>
        </p:txBody>
      </p:sp>
    </p:spTree>
    <p:extLst>
      <p:ext uri="{BB962C8B-B14F-4D97-AF65-F5344CB8AC3E}">
        <p14:creationId xmlns:p14="http://schemas.microsoft.com/office/powerpoint/2010/main" val="1931415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6280" name="think-cell Slide" r:id="rId7" imgW="498" imgH="499" progId="TCLayout.ActiveDocument.1">
                  <p:embed/>
                </p:oleObj>
              </mc:Choice>
              <mc:Fallback>
                <p:oleObj name="think-cell Slide" r:id="rId7" imgW="498" imgH="499" progId="TCLayout.ActiveDocument.1">
                  <p:embed/>
                  <p:pic>
                    <p:nvPicPr>
                      <p:cNvPr id="11" name="Object 10"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endParaRPr lang="en-CA" sz="40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31800" y="195601"/>
            <a:ext cx="8496000" cy="784830"/>
          </a:xfrm>
        </p:spPr>
        <p:txBody>
          <a:bodyPr/>
          <a:lstStyle/>
          <a:p>
            <a:r>
              <a:rPr lang="en-CA" sz="2400" dirty="0">
                <a:solidFill>
                  <a:schemeClr val="bg1">
                    <a:lumMod val="50000"/>
                  </a:schemeClr>
                </a:solidFill>
              </a:rPr>
              <a:t>Supporting analysis</a:t>
            </a:r>
            <a:br>
              <a:rPr lang="en-CA" dirty="0"/>
            </a:br>
            <a:r>
              <a:rPr lang="en-CA" sz="4000" dirty="0"/>
              <a:t>Stratified balance sheet</a:t>
            </a:r>
            <a:endParaRPr lang="en-CA" sz="4000" i="1" dirty="0"/>
          </a:p>
        </p:txBody>
      </p:sp>
      <p:sp>
        <p:nvSpPr>
          <p:cNvPr id="8" name="Text Placeholder 2"/>
          <p:cNvSpPr>
            <a:spLocks noGrp="1"/>
          </p:cNvSpPr>
          <p:nvPr>
            <p:ph type="body" sz="quarter" idx="4294967295"/>
          </p:nvPr>
        </p:nvSpPr>
        <p:spPr>
          <a:xfrm>
            <a:off x="4306529" y="1211293"/>
            <a:ext cx="4405671" cy="3459352"/>
          </a:xfrm>
          <a:prstGeom prst="rect">
            <a:avLst/>
          </a:prstGeom>
        </p:spPr>
        <p:txBody>
          <a:bodyPr/>
          <a:lstStyle/>
          <a:p>
            <a:pPr marL="0" lvl="2" indent="0">
              <a:spcBef>
                <a:spcPts val="200"/>
              </a:spcBef>
              <a:spcAft>
                <a:spcPts val="200"/>
              </a:spcAft>
              <a:buClr>
                <a:srgbClr val="97989A"/>
              </a:buClr>
              <a:buNone/>
              <a:defRPr/>
            </a:pPr>
            <a:r>
              <a:rPr lang="en-US" b="1" dirty="0">
                <a:latin typeface="Univers for KPMG" panose="020B0603020202020204" pitchFamily="34" charset="0"/>
                <a:cs typeface="Univers for KPMG Light"/>
              </a:rPr>
              <a:t>Overview</a:t>
            </a:r>
          </a:p>
          <a:p>
            <a:pPr marL="177800" lvl="2" indent="-177800">
              <a:spcBef>
                <a:spcPts val="200"/>
              </a:spcBef>
              <a:spcAft>
                <a:spcPts val="200"/>
              </a:spcAft>
              <a:buClr>
                <a:srgbClr val="97989A"/>
              </a:buClr>
              <a:buFont typeface="Arial" pitchFamily="34" charset="0"/>
              <a:buChar char="■"/>
              <a:defRPr/>
            </a:pPr>
            <a:r>
              <a:rPr lang="en-US" b="1" dirty="0">
                <a:solidFill>
                  <a:schemeClr val="tx1"/>
                </a:solidFill>
                <a:latin typeface="Univers for KPMG" panose="020B0603020202020204" pitchFamily="34" charset="0"/>
              </a:rPr>
              <a:t>Net working capital (NWC): </a:t>
            </a:r>
            <a:r>
              <a:rPr lang="en-US" dirty="0">
                <a:solidFill>
                  <a:schemeClr val="tx1"/>
                </a:solidFill>
                <a:latin typeface="Univers for KPMG" panose="020B0603020202020204" pitchFamily="34" charset="0"/>
              </a:rPr>
              <a:t>The NWC as defined in the aside table is analyzed further in the following pages. </a:t>
            </a:r>
          </a:p>
          <a:p>
            <a:pPr lvl="3">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Prepaid expenses: </a:t>
            </a:r>
            <a:r>
              <a:rPr lang="en-US" dirty="0">
                <a:solidFill>
                  <a:schemeClr val="tx1"/>
                </a:solidFill>
                <a:latin typeface="Univers for KPMG" panose="020B0603020202020204" pitchFamily="34" charset="0"/>
              </a:rPr>
              <a:t>Is comprised of  prepaid rent related to the Company’s office space. </a:t>
            </a:r>
          </a:p>
          <a:p>
            <a:pPr lvl="3">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Sales taxes: </a:t>
            </a:r>
            <a:r>
              <a:rPr lang="en-US" dirty="0">
                <a:solidFill>
                  <a:schemeClr val="tx1"/>
                </a:solidFill>
                <a:latin typeface="Univers for KPMG" panose="020B0603020202020204" pitchFamily="34" charset="0"/>
              </a:rPr>
              <a:t>Relates to HST receivable not yet claimed. See net working capital analysis for adjustment considerations.</a:t>
            </a:r>
          </a:p>
          <a:p>
            <a:pPr lvl="3">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Payroll taxes liability: </a:t>
            </a:r>
            <a:r>
              <a:rPr lang="en-US" dirty="0">
                <a:solidFill>
                  <a:schemeClr val="tx1"/>
                </a:solidFill>
                <a:latin typeface="Univers for KPMG" panose="020B0603020202020204" pitchFamily="34" charset="0"/>
              </a:rPr>
              <a:t>Reflects timing difference related to payroll taxes withheld from employees not yet remitted. </a:t>
            </a:r>
          </a:p>
          <a:p>
            <a:pPr lvl="3">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Deferred revenue: </a:t>
            </a:r>
            <a:r>
              <a:rPr lang="en-US" dirty="0">
                <a:solidFill>
                  <a:schemeClr val="tx1"/>
                </a:solidFill>
                <a:latin typeface="Univers for KPMG" panose="020B0603020202020204" pitchFamily="34" charset="0"/>
              </a:rPr>
              <a:t>Payment received in advance related to an annual subscription to the Company’s platform. As at Aug-20, this balance relates to one customer which will be fully amortized (recognized to revenue) in Sep-20. </a:t>
            </a:r>
            <a:endParaRPr lang="en-US" b="1" dirty="0">
              <a:solidFill>
                <a:schemeClr val="tx1"/>
              </a:solidFill>
              <a:latin typeface="Univers for KPMG" panose="020B0603020202020204" pitchFamily="34" charset="0"/>
            </a:endParaRPr>
          </a:p>
          <a:p>
            <a:pPr lvl="3">
              <a:spcBef>
                <a:spcPts val="200"/>
              </a:spcBef>
              <a:spcAft>
                <a:spcPts val="20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Credit card liability: </a:t>
            </a:r>
            <a:r>
              <a:rPr lang="en-US" dirty="0">
                <a:solidFill>
                  <a:schemeClr val="tx1"/>
                </a:solidFill>
                <a:latin typeface="Univers for KPMG" panose="020B0603020202020204" pitchFamily="34" charset="0"/>
              </a:rPr>
              <a:t>The Company pays the suppliers through credit card and therefore carries no accounts payable. Management represents that the credit card statements are reconciled monthly. </a:t>
            </a:r>
          </a:p>
          <a:p>
            <a:pPr marL="177800" lvl="2" indent="-177800">
              <a:lnSpc>
                <a:spcPts val="1080"/>
              </a:lnSpc>
              <a:spcBef>
                <a:spcPts val="600"/>
              </a:spcBef>
              <a:spcAft>
                <a:spcPts val="0"/>
              </a:spcAft>
              <a:buClr>
                <a:srgbClr val="97989A"/>
              </a:buClr>
              <a:buFont typeface="Arial" pitchFamily="34" charset="0"/>
              <a:buChar char="■"/>
              <a:defRPr/>
            </a:pPr>
            <a:r>
              <a:rPr lang="en-US" b="1" dirty="0">
                <a:solidFill>
                  <a:schemeClr val="tx1"/>
                </a:solidFill>
                <a:latin typeface="Univers for KPMG" panose="020B0603020202020204" pitchFamily="34" charset="0"/>
              </a:rPr>
              <a:t>Long term liabilities (classified under Other):</a:t>
            </a:r>
            <a:r>
              <a:rPr lang="en-US" dirty="0">
                <a:solidFill>
                  <a:schemeClr val="tx1"/>
                </a:solidFill>
                <a:latin typeface="Univers for KPMG" panose="020B0603020202020204" pitchFamily="34" charset="0"/>
              </a:rPr>
              <a:t> Relates to the initial funding for the Company which is incorrectly classified as liabilities. This is comprised of initial cash from the founders of $32,000 and $157,000 pre seed funding from third party investors totaling $189,000.  This amount should be presented as an equity balance.</a:t>
            </a:r>
          </a:p>
          <a:p>
            <a:pPr marL="177800" lvl="2" indent="-177800">
              <a:lnSpc>
                <a:spcPts val="1080"/>
              </a:lnSpc>
              <a:spcBef>
                <a:spcPts val="600"/>
              </a:spcBef>
              <a:spcAft>
                <a:spcPts val="0"/>
              </a:spcAft>
              <a:buClr>
                <a:srgbClr val="97989A"/>
              </a:buClr>
              <a:buFont typeface="Arial" pitchFamily="34" charset="0"/>
              <a:buChar char="■"/>
              <a:defRPr/>
            </a:pPr>
            <a:r>
              <a:rPr lang="en-US" b="1" dirty="0">
                <a:solidFill>
                  <a:schemeClr val="tx1"/>
                </a:solidFill>
                <a:latin typeface="Univers for KPMG" panose="020B0603020202020204" pitchFamily="34" charset="0"/>
              </a:rPr>
              <a:t>Capital assets: </a:t>
            </a:r>
            <a:r>
              <a:rPr lang="en-US" dirty="0">
                <a:solidFill>
                  <a:schemeClr val="tx1"/>
                </a:solidFill>
                <a:latin typeface="Univers for KPMG" panose="020B0603020202020204" pitchFamily="34" charset="0"/>
              </a:rPr>
              <a:t>Is primarily comprised of furniture and computer hardware.</a:t>
            </a:r>
          </a:p>
        </p:txBody>
      </p:sp>
      <p:sp>
        <p:nvSpPr>
          <p:cNvPr id="10" name="Text Placeholder 6"/>
          <p:cNvSpPr txBox="1">
            <a:spLocks/>
          </p:cNvSpPr>
          <p:nvPr/>
        </p:nvSpPr>
        <p:spPr bwMode="gray">
          <a:xfrm>
            <a:off x="424364" y="880636"/>
            <a:ext cx="8503436" cy="199589"/>
          </a:xfrm>
          <a:prstGeom prst="rect">
            <a:avLst/>
          </a:prstGeom>
        </p:spPr>
        <p:txBody>
          <a:bodyPr vert="horz" lIns="0" tIns="0" rIns="0" bIns="0" rtlCol="0">
            <a:noAutofit/>
          </a:bodyPr>
          <a:lstStyle>
            <a:lvl1pPr algn="l" eaLnBrk="1" hangingPunct="1">
              <a:spcBef>
                <a:spcPts val="900"/>
              </a:spcBef>
              <a:spcAft>
                <a:spcPts val="0"/>
              </a:spcAft>
              <a:defRPr sz="1200" b="1" i="0">
                <a:solidFill>
                  <a:srgbClr val="00338D"/>
                </a:solidFill>
                <a:latin typeface="Univers for KPMG" panose="020B0603020202020204" pitchFamily="34" charset="0"/>
                <a:cs typeface="Arial" panose="020B0604020202020204" pitchFamily="34" charset="0"/>
              </a:defRPr>
            </a:lvl1pPr>
            <a:lvl2pPr marL="0" indent="0" algn="l" eaLnBrk="1" hangingPunct="1">
              <a:spcBef>
                <a:spcPts val="600"/>
              </a:spcBef>
              <a:spcAft>
                <a:spcPts val="0"/>
              </a:spcAft>
              <a:buFont typeface="Univers for KPMG"/>
              <a:buNone/>
              <a:defRPr sz="1200" b="0" i="0">
                <a:solidFill>
                  <a:srgbClr val="00338D"/>
                </a:solidFill>
                <a:latin typeface="+mn-lt"/>
                <a:cs typeface="Arial" panose="020B0604020202020204" pitchFamily="34" charset="0"/>
              </a:defRPr>
            </a:lvl2pPr>
            <a:lvl3pPr marL="270000" indent="-270000" algn="l" eaLnBrk="1" hangingPunct="1">
              <a:spcBef>
                <a:spcPts val="300"/>
              </a:spcBef>
              <a:spcAft>
                <a:spcPts val="0"/>
              </a:spcAft>
              <a:buClr>
                <a:schemeClr val="tx2"/>
              </a:buClr>
              <a:buFont typeface="Univers for KPMG Light" panose="020B0403020202020204" pitchFamily="34" charset="0"/>
              <a:buChar char="—"/>
              <a:defRPr sz="1100" b="0" i="0">
                <a:solidFill>
                  <a:srgbClr val="00338D"/>
                </a:solidFill>
                <a:latin typeface="+mn-lt"/>
                <a:cs typeface="Arial" panose="020B0604020202020204" pitchFamily="34" charset="0"/>
              </a:defRPr>
            </a:lvl3pPr>
            <a:lvl4pPr marL="630000" indent="-270000" algn="l" eaLnBrk="1" hangingPunct="1">
              <a:spcBef>
                <a:spcPts val="200"/>
              </a:spcBef>
              <a:spcAft>
                <a:spcPts val="0"/>
              </a:spcAft>
              <a:buClr>
                <a:schemeClr val="tx2"/>
              </a:buClr>
              <a:buFont typeface="Univers for KPMG Light" panose="020B0403020202020204" pitchFamily="34" charset="0"/>
              <a:buChar char="—"/>
              <a:defRPr lang="en-US" sz="1000" b="0" i="0" dirty="0" smtClean="0">
                <a:solidFill>
                  <a:srgbClr val="00338D"/>
                </a:solidFill>
                <a:latin typeface="+mn-lt"/>
                <a:cs typeface="Arial" panose="020B0604020202020204" pitchFamily="34" charset="0"/>
              </a:defRPr>
            </a:lvl4pPr>
            <a:lvl5pPr marL="990000" indent="-270000" algn="l" eaLnBrk="1" hangingPunct="1">
              <a:spcBef>
                <a:spcPts val="200"/>
              </a:spcBef>
              <a:spcAft>
                <a:spcPts val="0"/>
              </a:spcAft>
              <a:buClr>
                <a:schemeClr val="tx2"/>
              </a:buClr>
              <a:buFont typeface="Univers for KPMG Light" panose="020B0403020202020204" pitchFamily="34" charset="0"/>
              <a:buChar char="—"/>
              <a:defRPr lang="en-CA" sz="900" b="0" i="0" dirty="0">
                <a:solidFill>
                  <a:srgbClr val="00338D"/>
                </a:solidFill>
                <a:latin typeface="+mn-lt"/>
                <a:cs typeface="Arial" panose="020B0604020202020204" pitchFamily="34" charset="0"/>
              </a:defRPr>
            </a:lvl5pPr>
            <a:lvl6pPr marL="1166813"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6pPr>
            <a:lvl7pPr marL="1524000"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7pPr>
            <a:lvl8pPr marL="1881188"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8pPr>
            <a:lvl9pPr marL="2238375"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9pPr>
          </a:lstStyle>
          <a:p>
            <a:r>
              <a:rPr lang="en-US" sz="900" b="0" dirty="0">
                <a:solidFill>
                  <a:srgbClr val="6D2077"/>
                </a:solidFill>
              </a:rPr>
              <a:t>The table below presents the Company’s balance sheet segregated into its components as at July 31, 2020</a:t>
            </a:r>
            <a:endParaRPr lang="en-US" sz="900" b="0" kern="0" dirty="0">
              <a:solidFill>
                <a:srgbClr val="6D2077"/>
              </a:solidFill>
            </a:endParaRPr>
          </a:p>
        </p:txBody>
      </p:sp>
      <p:sp>
        <p:nvSpPr>
          <p:cNvPr id="7" name="TextBox 6"/>
          <p:cNvSpPr txBox="1"/>
          <p:nvPr/>
        </p:nvSpPr>
        <p:spPr>
          <a:xfrm>
            <a:off x="356629" y="4439811"/>
            <a:ext cx="3390383" cy="131039"/>
          </a:xfrm>
          <a:prstGeom prst="rect">
            <a:avLst/>
          </a:prstGeom>
          <a:noFill/>
        </p:spPr>
        <p:txBody>
          <a:bodyPr wrap="square" lIns="54000" tIns="54000" rIns="54000" bIns="54000" rtlCol="0">
            <a:noAutofit/>
          </a:bodyPr>
          <a:lstStyle/>
          <a:p>
            <a:r>
              <a:rPr lang="en-US" sz="600" i="1" dirty="0">
                <a:solidFill>
                  <a:srgbClr val="000000"/>
                </a:solidFill>
                <a:cs typeface="Arial" pitchFamily="34" charset="0"/>
              </a:rPr>
              <a:t>Source: Information provided by Management</a:t>
            </a:r>
          </a:p>
        </p:txBody>
      </p:sp>
      <p:pic>
        <p:nvPicPr>
          <p:cNvPr id="12" name="Picture 11">
            <a:extLst>
              <a:ext uri="{FF2B5EF4-FFF2-40B4-BE49-F238E27FC236}">
                <a16:creationId xmlns:a16="http://schemas.microsoft.com/office/drawing/2014/main" id="{46681C9F-9406-4AEA-8F10-19F6A1B95E3F}"/>
              </a:ext>
            </a:extLst>
          </p:cNvPr>
          <p:cNvPicPr>
            <a:picLocks noChangeAspect="1"/>
          </p:cNvPicPr>
          <p:nvPr>
            <p:custDataLst>
              <p:tags r:id="rId4"/>
            </p:custDataLst>
          </p:nvPr>
        </p:nvPicPr>
        <p:blipFill>
          <a:blip r:embed="rId9"/>
          <a:stretch>
            <a:fillRect/>
          </a:stretch>
        </p:blipFill>
        <p:spPr>
          <a:xfrm>
            <a:off x="424364" y="1211264"/>
            <a:ext cx="3738647" cy="3228549"/>
          </a:xfrm>
          <a:prstGeom prst="rect">
            <a:avLst/>
          </a:prstGeom>
        </p:spPr>
      </p:pic>
    </p:spTree>
    <p:extLst>
      <p:ext uri="{BB962C8B-B14F-4D97-AF65-F5344CB8AC3E}">
        <p14:creationId xmlns:p14="http://schemas.microsoft.com/office/powerpoint/2010/main" val="4065725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4C4892-3969-42C6-B0B7-D901EEE011A5}"/>
              </a:ext>
            </a:extLst>
          </p:cNvPr>
          <p:cNvPicPr>
            <a:picLocks noChangeAspect="1"/>
          </p:cNvPicPr>
          <p:nvPr>
            <p:custDataLst>
              <p:tags r:id="rId1"/>
            </p:custDataLst>
          </p:nvPr>
        </p:nvPicPr>
        <p:blipFill>
          <a:blip r:embed="rId5"/>
          <a:stretch>
            <a:fillRect/>
          </a:stretch>
        </p:blipFill>
        <p:spPr>
          <a:xfrm>
            <a:off x="1940560" y="3349962"/>
            <a:ext cx="5340309" cy="2579244"/>
          </a:xfrm>
          <a:prstGeom prst="rect">
            <a:avLst/>
          </a:prstGeom>
        </p:spPr>
      </p:pic>
      <p:sp>
        <p:nvSpPr>
          <p:cNvPr id="2" name="Text Placeholder 1"/>
          <p:cNvSpPr>
            <a:spLocks noGrp="1"/>
          </p:cNvSpPr>
          <p:nvPr>
            <p:ph type="body" sz="quarter" idx="10"/>
          </p:nvPr>
        </p:nvSpPr>
        <p:spPr>
          <a:xfrm>
            <a:off x="431800" y="1211263"/>
            <a:ext cx="1508760" cy="4594225"/>
          </a:xfrm>
        </p:spPr>
        <p:txBody>
          <a:bodyPr/>
          <a:lstStyle/>
          <a:p>
            <a:r>
              <a:rPr lang="en-US" dirty="0">
                <a:solidFill>
                  <a:srgbClr val="FFFFFF"/>
                </a:solidFill>
                <a:latin typeface="Univers for KPMG" panose="020B0603020202020204" pitchFamily="34" charset="0"/>
              </a:rPr>
              <a:t>The adjacent table summarizes the Company’s net working capital based on the trial balance.</a:t>
            </a:r>
          </a:p>
          <a:p>
            <a:r>
              <a:rPr lang="en-US" dirty="0">
                <a:latin typeface="Univers for KPMG" panose="020B0603020202020204" pitchFamily="34" charset="0"/>
              </a:rPr>
              <a:t>Average adjusted net working capital for the twelve months ended August 31, 2020 is negative $15,000. </a:t>
            </a:r>
          </a:p>
          <a:p>
            <a:r>
              <a:rPr lang="en-US" dirty="0">
                <a:latin typeface="Univers for KPMG" panose="020B0603020202020204" pitchFamily="34" charset="0"/>
              </a:rPr>
              <a:t>Due to the nature of the business (paid immediately through credit card upon subscription), the Company does not carry accounts receivable.</a:t>
            </a:r>
          </a:p>
          <a:p>
            <a:r>
              <a:rPr lang="en-US" dirty="0">
                <a:latin typeface="Univers for KPMG" panose="020B0603020202020204" pitchFamily="34" charset="0"/>
              </a:rPr>
              <a:t>The Company also does not currently carry accounts payable and pays suppliers immediately through credit card. The Company can increase the average cash on hand by increasing the days outstanding for its payables. </a:t>
            </a:r>
            <a:endParaRPr lang="en-US" dirty="0">
              <a:solidFill>
                <a:srgbClr val="FFFFFF"/>
              </a:solidFill>
              <a:latin typeface="Univers for KPMG" panose="020B0603020202020204" pitchFamily="34" charset="0"/>
            </a:endParaRPr>
          </a:p>
        </p:txBody>
      </p:sp>
      <p:sp>
        <p:nvSpPr>
          <p:cNvPr id="7" name="Rectangle 4"/>
          <p:cNvSpPr>
            <a:spLocks noChangeArrowheads="1"/>
          </p:cNvSpPr>
          <p:nvPr>
            <p:custDataLst>
              <p:tags r:id="rId2"/>
            </p:custDataLst>
          </p:nvPr>
        </p:nvSpPr>
        <p:spPr bwMode="gray">
          <a:xfrm>
            <a:off x="7280869" y="3429000"/>
            <a:ext cx="1100614" cy="1658999"/>
          </a:xfrm>
          <a:prstGeom prst="rect">
            <a:avLst/>
          </a:prstGeom>
          <a:noFill/>
          <a:ln w="6350">
            <a:solidFill>
              <a:srgbClr val="00338D"/>
            </a:solidFill>
            <a:miter lim="800000"/>
            <a:headEnd/>
            <a:tailEnd/>
          </a:ln>
          <a:effectLst/>
        </p:spPr>
        <p:txBody>
          <a:bodyPr wrap="square" lIns="54000" tIns="54000" rIns="54000" bIns="54000" anchor="ctr" anchorCtr="1">
            <a:spAutoFit/>
          </a:bodyPr>
          <a:lstStyle/>
          <a:p>
            <a:pPr defTabSz="762000" eaLnBrk="0" hangingPunct="0">
              <a:lnSpc>
                <a:spcPct val="90000"/>
              </a:lnSpc>
            </a:pPr>
            <a:r>
              <a:rPr lang="en-US" sz="800" b="1" i="1" dirty="0">
                <a:solidFill>
                  <a:schemeClr val="tx2"/>
                </a:solidFill>
                <a:latin typeface="Univers for KPMG" panose="020B0603020202020204" pitchFamily="34" charset="0"/>
              </a:rPr>
              <a:t>Basis of Presentation</a:t>
            </a:r>
          </a:p>
          <a:p>
            <a:pPr defTabSz="762000" eaLnBrk="0" hangingPunct="0">
              <a:lnSpc>
                <a:spcPct val="90000"/>
              </a:lnSpc>
            </a:pPr>
            <a:r>
              <a:rPr lang="en-US" sz="800" i="1" dirty="0">
                <a:solidFill>
                  <a:schemeClr val="tx2"/>
                </a:solidFill>
                <a:latin typeface="Univers for KPMG" panose="020B0603020202020204" pitchFamily="34" charset="0"/>
              </a:rPr>
              <a:t>The adjacent schedule summarizes the </a:t>
            </a:r>
            <a:r>
              <a:rPr lang="en-US" sz="800" i="1" u="sng" dirty="0">
                <a:solidFill>
                  <a:schemeClr val="tx2"/>
                </a:solidFill>
                <a:latin typeface="Univers for KPMG" panose="020B0603020202020204" pitchFamily="34" charset="0"/>
              </a:rPr>
              <a:t>reported</a:t>
            </a:r>
            <a:r>
              <a:rPr lang="en-US" sz="800" i="1" dirty="0">
                <a:solidFill>
                  <a:schemeClr val="tx2"/>
                </a:solidFill>
                <a:latin typeface="Univers for KPMG" panose="020B0603020202020204" pitchFamily="34" charset="0"/>
              </a:rPr>
              <a:t> net working capital for the fiscal years ended December 31, 2018, December 31, 2019 and the trailing twelve months ended August 31, 2020.</a:t>
            </a:r>
          </a:p>
        </p:txBody>
      </p:sp>
      <p:sp>
        <p:nvSpPr>
          <p:cNvPr id="13" name="Titre 5">
            <a:extLst>
              <a:ext uri="{FF2B5EF4-FFF2-40B4-BE49-F238E27FC236}">
                <a16:creationId xmlns:a16="http://schemas.microsoft.com/office/drawing/2014/main" id="{078B54D8-B1F1-4211-BFD1-3846404B9C59}"/>
              </a:ext>
            </a:extLst>
          </p:cNvPr>
          <p:cNvSpPr txBox="1">
            <a:spLocks/>
          </p:cNvSpPr>
          <p:nvPr/>
        </p:nvSpPr>
        <p:spPr bwMode="gray">
          <a:xfrm>
            <a:off x="431800" y="228600"/>
            <a:ext cx="84960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prstClr val="white">
                    <a:lumMod val="50000"/>
                  </a:prstClr>
                </a:solidFill>
              </a:rPr>
              <a:t>Supporting analysis</a:t>
            </a:r>
            <a:br>
              <a:rPr lang="en-CA" dirty="0">
                <a:solidFill>
                  <a:srgbClr val="00338D"/>
                </a:solidFill>
              </a:rPr>
            </a:br>
            <a:r>
              <a:rPr lang="en-CA" sz="4400" dirty="0">
                <a:solidFill>
                  <a:srgbClr val="00338D"/>
                </a:solidFill>
              </a:rPr>
              <a:t>Net working capital – Overview </a:t>
            </a:r>
          </a:p>
        </p:txBody>
      </p:sp>
      <p:sp>
        <p:nvSpPr>
          <p:cNvPr id="14" name="TextBox 13"/>
          <p:cNvSpPr txBox="1"/>
          <p:nvPr/>
        </p:nvSpPr>
        <p:spPr>
          <a:xfrm>
            <a:off x="2239961" y="5639040"/>
            <a:ext cx="2260602" cy="92333"/>
          </a:xfrm>
          <a:prstGeom prst="rect">
            <a:avLst/>
          </a:prstGeom>
          <a:noFill/>
        </p:spPr>
        <p:txBody>
          <a:bodyPr wrap="square" lIns="0" tIns="0" rIns="0" bIns="0" rtlCol="0">
            <a:spAutoFit/>
          </a:bodyPr>
          <a:lstStyle/>
          <a:p>
            <a:pPr defTabSz="914400"/>
            <a:r>
              <a:rPr lang="en-US" sz="600" i="1" dirty="0">
                <a:solidFill>
                  <a:srgbClr val="000000"/>
                </a:solidFill>
                <a:cs typeface="Arial" pitchFamily="34" charset="0"/>
              </a:rPr>
              <a:t>Source: Management provided information.</a:t>
            </a:r>
          </a:p>
        </p:txBody>
      </p:sp>
      <p:sp>
        <p:nvSpPr>
          <p:cNvPr id="11" name="TextBox 10"/>
          <p:cNvSpPr txBox="1"/>
          <p:nvPr/>
        </p:nvSpPr>
        <p:spPr>
          <a:xfrm>
            <a:off x="2093477" y="3257629"/>
            <a:ext cx="3567187" cy="92333"/>
          </a:xfrm>
          <a:prstGeom prst="rect">
            <a:avLst/>
          </a:prstGeom>
          <a:noFill/>
        </p:spPr>
        <p:txBody>
          <a:bodyPr wrap="square" lIns="0" tIns="0" rIns="0" bIns="0" rtlCol="0">
            <a:spAutoFit/>
          </a:bodyPr>
          <a:lstStyle/>
          <a:p>
            <a:pPr defTabSz="914400"/>
            <a:r>
              <a:rPr lang="en-US" sz="600" i="1" dirty="0">
                <a:solidFill>
                  <a:srgbClr val="000000"/>
                </a:solidFill>
                <a:cs typeface="Arial" pitchFamily="34" charset="0"/>
              </a:rPr>
              <a:t>Source: Management provided information.</a:t>
            </a:r>
          </a:p>
        </p:txBody>
      </p:sp>
      <p:pic>
        <p:nvPicPr>
          <p:cNvPr id="4" name="Picture 3">
            <a:extLst>
              <a:ext uri="{FF2B5EF4-FFF2-40B4-BE49-F238E27FC236}">
                <a16:creationId xmlns:a16="http://schemas.microsoft.com/office/drawing/2014/main" id="{F02EEA18-E72F-4ED9-BE88-1CAF4ED4877D}"/>
              </a:ext>
            </a:extLst>
          </p:cNvPr>
          <p:cNvPicPr>
            <a:picLocks noChangeAspect="1"/>
          </p:cNvPicPr>
          <p:nvPr>
            <p:custDataLst>
              <p:tags r:id="rId3"/>
            </p:custDataLst>
          </p:nvPr>
        </p:nvPicPr>
        <p:blipFill>
          <a:blip r:embed="rId6"/>
          <a:stretch>
            <a:fillRect/>
          </a:stretch>
        </p:blipFill>
        <p:spPr>
          <a:xfrm>
            <a:off x="2093477" y="1211969"/>
            <a:ext cx="3447786" cy="2033062"/>
          </a:xfrm>
          <a:prstGeom prst="rect">
            <a:avLst/>
          </a:prstGeom>
        </p:spPr>
      </p:pic>
      <p:sp>
        <p:nvSpPr>
          <p:cNvPr id="12" name="Espace réservé du texte 3">
            <a:extLst>
              <a:ext uri="{FF2B5EF4-FFF2-40B4-BE49-F238E27FC236}">
                <a16:creationId xmlns:a16="http://schemas.microsoft.com/office/drawing/2014/main" id="{0DB28146-9B51-41DB-91B9-33053C253E1A}"/>
              </a:ext>
            </a:extLst>
          </p:cNvPr>
          <p:cNvSpPr txBox="1">
            <a:spLocks/>
          </p:cNvSpPr>
          <p:nvPr/>
        </p:nvSpPr>
        <p:spPr>
          <a:xfrm>
            <a:off x="5581466" y="1241678"/>
            <a:ext cx="3232334" cy="1730121"/>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pPr>
            <a:r>
              <a:rPr lang="en-US" dirty="0">
                <a:latin typeface="Univers for KPMG" panose="020B0603020202020204" pitchFamily="34" charset="0"/>
              </a:rPr>
              <a:t>Net working capital adjustments</a:t>
            </a:r>
            <a:endParaRPr lang="en-US" dirty="0">
              <a:solidFill>
                <a:schemeClr val="tx1"/>
              </a:solidFill>
              <a:latin typeface="Univers for KPMG" panose="020B0603020202020204" pitchFamily="34" charset="0"/>
            </a:endParaRPr>
          </a:p>
          <a:p>
            <a:pPr marL="228600" lvl="2" indent="-228600">
              <a:lnSpc>
                <a:spcPts val="1080"/>
              </a:lnSpc>
              <a:spcBef>
                <a:spcPts val="600"/>
              </a:spcBef>
              <a:spcAft>
                <a:spcPts val="0"/>
              </a:spcAft>
              <a:buClr>
                <a:srgbClr val="97989A"/>
              </a:buClr>
              <a:buFont typeface="+mj-lt"/>
              <a:buAutoNum type="arabicPeriod"/>
              <a:defRPr/>
            </a:pPr>
            <a:r>
              <a:rPr lang="en-US" b="1" dirty="0">
                <a:solidFill>
                  <a:schemeClr val="tx1"/>
                </a:solidFill>
                <a:latin typeface="Univers for KPMG" panose="020B0603020202020204" pitchFamily="34" charset="0"/>
              </a:rPr>
              <a:t>Vacation accrual</a:t>
            </a:r>
            <a:r>
              <a:rPr lang="en-US" dirty="0">
                <a:solidFill>
                  <a:schemeClr val="tx1"/>
                </a:solidFill>
                <a:latin typeface="Univers for KPMG" panose="020B0603020202020204" pitchFamily="34" charset="0"/>
              </a:rPr>
              <a:t>: Relates to the vacation accrual of the three owners and two permanent employees, assuming 20 vacation days annually taken throughout the year. </a:t>
            </a:r>
          </a:p>
          <a:p>
            <a:pPr marL="228600" lvl="2" indent="-228600">
              <a:lnSpc>
                <a:spcPts val="1080"/>
              </a:lnSpc>
              <a:spcBef>
                <a:spcPts val="600"/>
              </a:spcBef>
              <a:spcAft>
                <a:spcPts val="0"/>
              </a:spcAft>
              <a:buClr>
                <a:srgbClr val="97989A"/>
              </a:buClr>
              <a:buFont typeface="+mj-lt"/>
              <a:buAutoNum type="arabicPeriod"/>
              <a:defRPr/>
            </a:pPr>
            <a:r>
              <a:rPr lang="en-US" b="1" dirty="0">
                <a:solidFill>
                  <a:schemeClr val="tx1"/>
                </a:solidFill>
                <a:latin typeface="Univers for KPMG" panose="020B0603020202020204" pitchFamily="34" charset="0"/>
              </a:rPr>
              <a:t>Sales taxes: </a:t>
            </a:r>
            <a:r>
              <a:rPr lang="en-US" dirty="0">
                <a:solidFill>
                  <a:schemeClr val="tx1"/>
                </a:solidFill>
                <a:latin typeface="Univers for KPMG" panose="020B0603020202020204" pitchFamily="34" charset="0"/>
              </a:rPr>
              <a:t>The Company registered for HST in January 2020 and is not able to claim refund prior to this period. Therefore, we excluded the net receivable balances recorded in FY18 and FY19. </a:t>
            </a:r>
          </a:p>
        </p:txBody>
      </p:sp>
    </p:spTree>
    <p:extLst>
      <p:ext uri="{BB962C8B-B14F-4D97-AF65-F5344CB8AC3E}">
        <p14:creationId xmlns:p14="http://schemas.microsoft.com/office/powerpoint/2010/main" val="548581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360ADD-17DB-45B7-B363-4487CFABBCC3}"/>
              </a:ext>
            </a:extLst>
          </p:cNvPr>
          <p:cNvPicPr>
            <a:picLocks noChangeAspect="1"/>
          </p:cNvPicPr>
          <p:nvPr>
            <p:custDataLst>
              <p:tags r:id="rId2"/>
            </p:custDataLst>
          </p:nvPr>
        </p:nvPicPr>
        <p:blipFill>
          <a:blip r:embed="rId7"/>
          <a:stretch>
            <a:fillRect/>
          </a:stretch>
        </p:blipFill>
        <p:spPr>
          <a:xfrm>
            <a:off x="431800" y="1201463"/>
            <a:ext cx="2466242" cy="2355157"/>
          </a:xfrm>
          <a:prstGeom prst="rect">
            <a:avLst/>
          </a:prstGeom>
        </p:spPr>
      </p:pic>
      <p:graphicFrame>
        <p:nvGraphicFramePr>
          <p:cNvPr id="5" name="Object 4"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8333" name="think-cell Slide" r:id="rId8" imgW="395" imgH="396" progId="TCLayout.ActiveDocument.1">
                  <p:embed/>
                </p:oleObj>
              </mc:Choice>
              <mc:Fallback>
                <p:oleObj name="think-cell Slide" r:id="rId8" imgW="395" imgH="396" progId="TCLayout.ActiveDocument.1">
                  <p:embed/>
                  <p:pic>
                    <p:nvPicPr>
                      <p:cNvPr id="5" name="Object 4" hidden="1"/>
                      <p:cNvPicPr/>
                      <p:nvPr/>
                    </p:nvPicPr>
                    <p:blipFill>
                      <a:blip r:embed="rId9"/>
                      <a:stretch>
                        <a:fillRect/>
                      </a:stretch>
                    </p:blipFill>
                    <p:spPr>
                      <a:xfrm>
                        <a:off x="1588" y="1588"/>
                        <a:ext cx="1587" cy="1587"/>
                      </a:xfrm>
                      <a:prstGeom prst="rect">
                        <a:avLst/>
                      </a:prstGeom>
                    </p:spPr>
                  </p:pic>
                </p:oleObj>
              </mc:Fallback>
            </mc:AlternateContent>
          </a:graphicData>
        </a:graphic>
      </p:graphicFrame>
      <p:sp>
        <p:nvSpPr>
          <p:cNvPr id="3" name="Rectangle 2" hidden="1"/>
          <p:cNvSpPr/>
          <p:nvPr>
            <p:custDataLst>
              <p:tags r:id="rId4"/>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endParaRPr lang="en-CA" sz="40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6" name="Titre 5"/>
          <p:cNvSpPr>
            <a:spLocks noGrp="1"/>
          </p:cNvSpPr>
          <p:nvPr>
            <p:ph type="title"/>
          </p:nvPr>
        </p:nvSpPr>
        <p:spPr>
          <a:xfrm>
            <a:off x="470909" y="228599"/>
            <a:ext cx="8496000" cy="784830"/>
          </a:xfrm>
        </p:spPr>
        <p:txBody>
          <a:bodyPr/>
          <a:lstStyle/>
          <a:p>
            <a:r>
              <a:rPr lang="en-CA" sz="2400" dirty="0">
                <a:solidFill>
                  <a:schemeClr val="bg1">
                    <a:lumMod val="50000"/>
                  </a:schemeClr>
                </a:solidFill>
              </a:rPr>
              <a:t>Supporting analysis:</a:t>
            </a:r>
            <a:br>
              <a:rPr lang="en-CA" dirty="0"/>
            </a:br>
            <a:r>
              <a:rPr lang="en-CA" sz="4000" dirty="0"/>
              <a:t>Net debt</a:t>
            </a:r>
            <a:endParaRPr lang="en-CA" sz="4000" i="1" dirty="0"/>
          </a:p>
        </p:txBody>
      </p:sp>
      <p:sp>
        <p:nvSpPr>
          <p:cNvPr id="13" name="Espace réservé du texte 3"/>
          <p:cNvSpPr>
            <a:spLocks noGrp="1"/>
          </p:cNvSpPr>
          <p:nvPr>
            <p:ph type="body" sz="quarter" idx="15"/>
          </p:nvPr>
        </p:nvSpPr>
        <p:spPr>
          <a:xfrm>
            <a:off x="3048000" y="1223215"/>
            <a:ext cx="5901267" cy="4874975"/>
          </a:xfrm>
          <a:prstGeom prst="rect">
            <a:avLst/>
          </a:prstGeom>
        </p:spPr>
        <p:txBody>
          <a:bodyPr/>
          <a:lstStyle/>
          <a:p>
            <a:pPr>
              <a:spcBef>
                <a:spcPts val="200"/>
              </a:spcBef>
              <a:spcAft>
                <a:spcPts val="200"/>
              </a:spcAft>
            </a:pPr>
            <a:r>
              <a:rPr lang="en-US" dirty="0"/>
              <a:t>Net debt reported</a:t>
            </a:r>
          </a:p>
          <a:p>
            <a:pPr marL="228600" lvl="2" indent="-228600">
              <a:lnSpc>
                <a:spcPts val="1080"/>
              </a:lnSpc>
              <a:spcBef>
                <a:spcPts val="600"/>
              </a:spcBef>
              <a:spcAft>
                <a:spcPts val="0"/>
              </a:spcAft>
              <a:buClr>
                <a:srgbClr val="97989A"/>
              </a:buClr>
              <a:buFont typeface="Arial" pitchFamily="34" charset="0"/>
              <a:buChar char="■"/>
              <a:defRPr/>
            </a:pPr>
            <a:r>
              <a:rPr lang="en-US" dirty="0">
                <a:solidFill>
                  <a:schemeClr val="tx1"/>
                </a:solidFill>
              </a:rPr>
              <a:t>Cash and cash equivalents: </a:t>
            </a:r>
            <a:r>
              <a:rPr lang="en-US" b="0" dirty="0">
                <a:solidFill>
                  <a:schemeClr val="tx1"/>
                </a:solidFill>
              </a:rPr>
              <a:t>Management represents that no restricted cash balances are held by the Company. The balance is primarily related to $1.75 million of seed financing of which the initial onset of $1.1 million is received in January 2020 and the remaining $0.7. million received thereafter throughout Feb-20 to Aug-20. Management represents that as at Aug-20 all funding has been received from the investors.</a:t>
            </a:r>
          </a:p>
          <a:p>
            <a:pPr marL="228600" lvl="2" indent="-228600">
              <a:lnSpc>
                <a:spcPts val="1080"/>
              </a:lnSpc>
              <a:spcBef>
                <a:spcPts val="600"/>
              </a:spcBef>
              <a:spcAft>
                <a:spcPts val="0"/>
              </a:spcAft>
              <a:buClr>
                <a:srgbClr val="97989A"/>
              </a:buClr>
              <a:buFont typeface="Arial" pitchFamily="34" charset="0"/>
              <a:buChar char="■"/>
              <a:defRPr/>
            </a:pPr>
            <a:r>
              <a:rPr lang="en-US" dirty="0">
                <a:solidFill>
                  <a:schemeClr val="tx1"/>
                </a:solidFill>
              </a:rPr>
              <a:t>Long term liabilities: </a:t>
            </a:r>
            <a:r>
              <a:rPr lang="en-US" b="0" dirty="0">
                <a:solidFill>
                  <a:schemeClr val="tx1"/>
                </a:solidFill>
              </a:rPr>
              <a:t>Relates to the initial funding for the Company which is comprised of initial cash from the founders of $32,000 and $157,000 pre seed funding from third party investors. This is incorrectly recorded as a liability and should be presented as an equity balance – see below #1 for adjustment.</a:t>
            </a:r>
            <a:endParaRPr lang="en-US" dirty="0">
              <a:solidFill>
                <a:schemeClr val="tx1"/>
              </a:solidFill>
            </a:endParaRPr>
          </a:p>
          <a:p>
            <a:pPr>
              <a:spcBef>
                <a:spcPts val="200"/>
              </a:spcBef>
              <a:spcAft>
                <a:spcPts val="200"/>
              </a:spcAft>
              <a:buClr>
                <a:schemeClr val="bg1">
                  <a:lumMod val="50000"/>
                </a:schemeClr>
              </a:buClr>
            </a:pPr>
            <a:r>
              <a:rPr lang="en-US" dirty="0"/>
              <a:t>Diligence adjustments</a:t>
            </a:r>
          </a:p>
          <a:p>
            <a:pPr marL="228600" indent="-228600">
              <a:spcBef>
                <a:spcPts val="200"/>
              </a:spcBef>
              <a:spcAft>
                <a:spcPts val="200"/>
              </a:spcAft>
              <a:buClr>
                <a:schemeClr val="bg1">
                  <a:lumMod val="50000"/>
                </a:schemeClr>
              </a:buClr>
              <a:buFont typeface="+mj-lt"/>
              <a:buAutoNum type="arabicPeriod"/>
            </a:pPr>
            <a:r>
              <a:rPr lang="en-US" dirty="0">
                <a:solidFill>
                  <a:schemeClr val="tx1"/>
                </a:solidFill>
              </a:rPr>
              <a:t>Long term liabilities: </a:t>
            </a:r>
            <a:r>
              <a:rPr lang="en-US" b="0" dirty="0">
                <a:solidFill>
                  <a:schemeClr val="tx1"/>
                </a:solidFill>
              </a:rPr>
              <a:t>The initial funding for the Company is incorrectly classified as liabilities and should have been accounted for as equity.</a:t>
            </a:r>
          </a:p>
          <a:p>
            <a:pPr marL="228600" indent="-228600">
              <a:spcBef>
                <a:spcPts val="200"/>
              </a:spcBef>
              <a:spcAft>
                <a:spcPts val="200"/>
              </a:spcAft>
              <a:buClr>
                <a:schemeClr val="bg1">
                  <a:lumMod val="50000"/>
                </a:schemeClr>
              </a:buClr>
              <a:buFont typeface="+mj-lt"/>
              <a:buAutoNum type="arabicPeriod"/>
            </a:pPr>
            <a:r>
              <a:rPr lang="en-US" dirty="0">
                <a:solidFill>
                  <a:schemeClr val="tx1"/>
                </a:solidFill>
              </a:rPr>
              <a:t>Rent: </a:t>
            </a:r>
            <a:r>
              <a:rPr lang="en-US" b="0" dirty="0">
                <a:solidFill>
                  <a:schemeClr val="tx1"/>
                </a:solidFill>
              </a:rPr>
              <a:t>Relates to outstanding rent payable of the new office space for Jan-20 to Aug-20 periods. (See </a:t>
            </a:r>
            <a:r>
              <a:rPr lang="en-US" b="0" dirty="0" err="1">
                <a:solidFill>
                  <a:schemeClr val="tx1"/>
                </a:solidFill>
              </a:rPr>
              <a:t>QofE</a:t>
            </a:r>
            <a:r>
              <a:rPr lang="en-US" b="0" dirty="0">
                <a:solidFill>
                  <a:schemeClr val="tx1"/>
                </a:solidFill>
              </a:rPr>
              <a:t> adjustment #1 for further discussion on rent expense).</a:t>
            </a:r>
            <a:endParaRPr lang="en-US" dirty="0">
              <a:solidFill>
                <a:schemeClr val="tx1"/>
              </a:solidFill>
            </a:endParaRPr>
          </a:p>
          <a:p>
            <a:pPr marL="228600" indent="-228600">
              <a:spcBef>
                <a:spcPts val="200"/>
              </a:spcBef>
              <a:spcAft>
                <a:spcPts val="200"/>
              </a:spcAft>
              <a:buClr>
                <a:schemeClr val="bg1">
                  <a:lumMod val="50000"/>
                </a:schemeClr>
              </a:buClr>
              <a:buFont typeface="+mj-lt"/>
              <a:buAutoNum type="arabicPeriod"/>
            </a:pPr>
            <a:r>
              <a:rPr lang="en-US" dirty="0">
                <a:solidFill>
                  <a:schemeClr val="tx1"/>
                </a:solidFill>
              </a:rPr>
              <a:t>Transaction bonus liability</a:t>
            </a:r>
            <a:r>
              <a:rPr lang="en-US" b="0" dirty="0">
                <a:solidFill>
                  <a:schemeClr val="tx1"/>
                </a:solidFill>
              </a:rPr>
              <a:t>: Reflects the transaction bonus of $20,000 to be paid to a senior employee and an additional $2,000 (including an estimated 15% payroll taxes) to another employee through payroll.</a:t>
            </a:r>
          </a:p>
          <a:p>
            <a:pPr>
              <a:spcBef>
                <a:spcPts val="200"/>
              </a:spcBef>
              <a:spcAft>
                <a:spcPts val="200"/>
              </a:spcAft>
              <a:buClr>
                <a:schemeClr val="bg1">
                  <a:lumMod val="50000"/>
                </a:schemeClr>
              </a:buClr>
            </a:pPr>
            <a:r>
              <a:rPr lang="en-US" dirty="0"/>
              <a:t>Other consideration</a:t>
            </a:r>
          </a:p>
          <a:p>
            <a:pPr marL="228600" indent="-228600">
              <a:spcBef>
                <a:spcPts val="200"/>
              </a:spcBef>
              <a:spcAft>
                <a:spcPts val="200"/>
              </a:spcAft>
              <a:buClr>
                <a:schemeClr val="bg1">
                  <a:lumMod val="50000"/>
                </a:schemeClr>
              </a:buClr>
              <a:buFont typeface="+mj-lt"/>
              <a:buAutoNum type="alphaUcPeriod"/>
            </a:pPr>
            <a:r>
              <a:rPr lang="en-US" dirty="0">
                <a:solidFill>
                  <a:schemeClr val="tx1"/>
                </a:solidFill>
              </a:rPr>
              <a:t>Software fees</a:t>
            </a:r>
            <a:r>
              <a:rPr lang="en-US" b="0" dirty="0">
                <a:solidFill>
                  <a:schemeClr val="tx1"/>
                </a:solidFill>
              </a:rPr>
              <a:t>: The Company has an arrangement with one of its software vendors, Filogix (a subsidiary of Client), that it will pay $100,000 in implementation fee and $25,000 in annual fee if at the first anniversary of the service effective date (i.e. Mar-21) the total funded loan volume is less than $2 billion. If the Company is acquired by client, the $125,000 fee will be canceled. </a:t>
            </a:r>
          </a:p>
          <a:p>
            <a:pPr marL="228600" indent="-228600">
              <a:spcBef>
                <a:spcPts val="200"/>
              </a:spcBef>
              <a:spcAft>
                <a:spcPts val="200"/>
              </a:spcAft>
              <a:buClr>
                <a:schemeClr val="bg1">
                  <a:lumMod val="50000"/>
                </a:schemeClr>
              </a:buClr>
              <a:buFont typeface="+mj-lt"/>
              <a:buAutoNum type="alphaUcPeriod"/>
            </a:pPr>
            <a:endParaRPr lang="en-US" b="0" dirty="0">
              <a:solidFill>
                <a:schemeClr val="tx1"/>
              </a:solidFill>
            </a:endParaRPr>
          </a:p>
          <a:p>
            <a:pPr marL="228600" indent="-228600">
              <a:spcBef>
                <a:spcPts val="200"/>
              </a:spcBef>
              <a:spcAft>
                <a:spcPts val="200"/>
              </a:spcAft>
              <a:buClr>
                <a:schemeClr val="bg1">
                  <a:lumMod val="50000"/>
                </a:schemeClr>
              </a:buClr>
              <a:buFont typeface="+mj-lt"/>
              <a:buAutoNum type="alphaUcPeriod"/>
            </a:pPr>
            <a:endParaRPr lang="en-US" b="0" dirty="0">
              <a:solidFill>
                <a:schemeClr val="tx1"/>
              </a:solidFill>
            </a:endParaRPr>
          </a:p>
          <a:p>
            <a:pPr marL="228600" indent="-228600">
              <a:spcBef>
                <a:spcPts val="200"/>
              </a:spcBef>
              <a:spcAft>
                <a:spcPts val="200"/>
              </a:spcAft>
              <a:buClr>
                <a:schemeClr val="bg1">
                  <a:lumMod val="50000"/>
                </a:schemeClr>
              </a:buClr>
              <a:buFont typeface="+mj-lt"/>
              <a:buAutoNum type="alphaUcPeriod"/>
            </a:pPr>
            <a:endParaRPr lang="en-US" b="0" dirty="0">
              <a:solidFill>
                <a:schemeClr val="tx1"/>
              </a:solidFill>
            </a:endParaRPr>
          </a:p>
        </p:txBody>
      </p:sp>
      <p:sp>
        <p:nvSpPr>
          <p:cNvPr id="12" name="TextBox 11"/>
          <p:cNvSpPr txBox="1"/>
          <p:nvPr/>
        </p:nvSpPr>
        <p:spPr>
          <a:xfrm>
            <a:off x="470909" y="3556620"/>
            <a:ext cx="2192685" cy="92333"/>
          </a:xfrm>
          <a:prstGeom prst="rect">
            <a:avLst/>
          </a:prstGeom>
          <a:noFill/>
        </p:spPr>
        <p:txBody>
          <a:bodyPr wrap="square" lIns="0" tIns="0" rIns="0" bIns="0" rtlCol="0">
            <a:spAutoFit/>
          </a:bodyPr>
          <a:lstStyle/>
          <a:p>
            <a:r>
              <a:rPr lang="en-US" sz="600" i="1" dirty="0">
                <a:solidFill>
                  <a:srgbClr val="000000"/>
                </a:solidFill>
                <a:latin typeface="Univers for KPMG" panose="020B0603020202020204" pitchFamily="34" charset="0"/>
                <a:cs typeface="Arial" pitchFamily="34" charset="0"/>
              </a:rPr>
              <a:t>Source: Information provided by Management</a:t>
            </a:r>
          </a:p>
        </p:txBody>
      </p:sp>
    </p:spTree>
    <p:extLst>
      <p:ext uri="{BB962C8B-B14F-4D97-AF65-F5344CB8AC3E}">
        <p14:creationId xmlns:p14="http://schemas.microsoft.com/office/powerpoint/2010/main" val="725201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25633" name="think-cell Slide" r:id="rId5" imgW="498" imgH="499" progId="TCLayout.ActiveDocument.1">
                  <p:embed/>
                </p:oleObj>
              </mc:Choice>
              <mc:Fallback>
                <p:oleObj name="think-cell Slide" r:id="rId5" imgW="498" imgH="499"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Titre 6"/>
          <p:cNvSpPr>
            <a:spLocks noGrp="1"/>
          </p:cNvSpPr>
          <p:nvPr>
            <p:ph type="title"/>
          </p:nvPr>
        </p:nvSpPr>
        <p:spPr>
          <a:xfrm>
            <a:off x="1995055" y="1337703"/>
            <a:ext cx="6192982" cy="581698"/>
          </a:xfrm>
        </p:spPr>
        <p:txBody>
          <a:bodyPr/>
          <a:lstStyle/>
          <a:p>
            <a:r>
              <a:rPr lang="en-CA" sz="8800" dirty="0"/>
              <a:t>Appendix</a:t>
            </a:r>
            <a:br>
              <a:rPr lang="en-CA" sz="5400" dirty="0"/>
            </a:br>
            <a:br>
              <a:rPr lang="en-CA" sz="5400" dirty="0"/>
            </a:br>
            <a:endParaRPr lang="en-CA" sz="5400" dirty="0"/>
          </a:p>
        </p:txBody>
      </p:sp>
      <p:sp>
        <p:nvSpPr>
          <p:cNvPr id="4" name="Espace réservé du texte 3"/>
          <p:cNvSpPr>
            <a:spLocks noGrp="1"/>
          </p:cNvSpPr>
          <p:nvPr>
            <p:ph type="body" sz="quarter" idx="4294967295"/>
          </p:nvPr>
        </p:nvSpPr>
        <p:spPr>
          <a:xfrm>
            <a:off x="1995055" y="2461846"/>
            <a:ext cx="4211982" cy="1863970"/>
          </a:xfrm>
          <a:prstGeom prst="rect">
            <a:avLst/>
          </a:prstGeom>
        </p:spPr>
        <p:txBody>
          <a:bodyPr/>
          <a:lstStyle/>
          <a:p>
            <a:pPr marL="174625" lvl="3" indent="-174625">
              <a:lnSpc>
                <a:spcPts val="1000"/>
              </a:lnSpc>
              <a:spcBef>
                <a:spcPts val="600"/>
              </a:spcBef>
              <a:spcAft>
                <a:spcPts val="0"/>
              </a:spcAft>
              <a:buClr>
                <a:srgbClr val="97989A"/>
              </a:buClr>
              <a:buFont typeface="+mj-lt"/>
              <a:buAutoNum type="arabicPeriod"/>
              <a:defRPr/>
            </a:pPr>
            <a:r>
              <a:rPr lang="en-US" sz="1000" b="1" dirty="0">
                <a:solidFill>
                  <a:schemeClr val="bg1"/>
                </a:solidFill>
                <a:latin typeface="Univers for KPMG" panose="020B0603020202020204" pitchFamily="34" charset="0"/>
              </a:rPr>
              <a:t>Adjusted income statement</a:t>
            </a:r>
          </a:p>
          <a:p>
            <a:pPr marL="174625" lvl="3" indent="-174625">
              <a:lnSpc>
                <a:spcPts val="1000"/>
              </a:lnSpc>
              <a:spcBef>
                <a:spcPts val="600"/>
              </a:spcBef>
              <a:spcAft>
                <a:spcPts val="0"/>
              </a:spcAft>
              <a:buClr>
                <a:srgbClr val="97989A"/>
              </a:buClr>
              <a:buFont typeface="+mj-lt"/>
              <a:buAutoNum type="arabicPeriod"/>
              <a:defRPr/>
            </a:pPr>
            <a:r>
              <a:rPr lang="en-US" sz="1000" b="1" dirty="0">
                <a:solidFill>
                  <a:schemeClr val="bg1"/>
                </a:solidFill>
                <a:latin typeface="Univers for KPMG" panose="020B0603020202020204" pitchFamily="34" charset="0"/>
              </a:rPr>
              <a:t>Revenue vintage and churn analysis</a:t>
            </a:r>
          </a:p>
          <a:p>
            <a:pPr marL="174625" lvl="3" indent="-174625">
              <a:lnSpc>
                <a:spcPts val="1000"/>
              </a:lnSpc>
              <a:spcBef>
                <a:spcPts val="600"/>
              </a:spcBef>
              <a:spcAft>
                <a:spcPts val="0"/>
              </a:spcAft>
              <a:buClr>
                <a:srgbClr val="97989A"/>
              </a:buClr>
              <a:buFont typeface="+mj-lt"/>
              <a:buAutoNum type="arabicPeriod"/>
              <a:defRPr/>
            </a:pPr>
            <a:r>
              <a:rPr lang="en-US" sz="1000" b="1" dirty="0">
                <a:solidFill>
                  <a:schemeClr val="bg1"/>
                </a:solidFill>
                <a:latin typeface="Univers for KPMG" panose="020B0603020202020204" pitchFamily="34" charset="0"/>
              </a:rPr>
              <a:t>Payroll and FTE analysis</a:t>
            </a:r>
          </a:p>
          <a:p>
            <a:pPr marL="174625" lvl="3" indent="-174625">
              <a:lnSpc>
                <a:spcPts val="1000"/>
              </a:lnSpc>
              <a:spcBef>
                <a:spcPts val="600"/>
              </a:spcBef>
              <a:spcAft>
                <a:spcPts val="0"/>
              </a:spcAft>
              <a:buClr>
                <a:srgbClr val="97989A"/>
              </a:buClr>
              <a:buFont typeface="+mj-lt"/>
              <a:buAutoNum type="arabicPeriod"/>
              <a:defRPr/>
            </a:pPr>
            <a:r>
              <a:rPr lang="en-US" sz="1000" b="1" dirty="0">
                <a:solidFill>
                  <a:schemeClr val="bg1"/>
                </a:solidFill>
                <a:latin typeface="Univers for KPMG" panose="020B0603020202020204" pitchFamily="34" charset="0"/>
              </a:rPr>
              <a:t>Direct expense run-rate</a:t>
            </a:r>
          </a:p>
          <a:p>
            <a:pPr marL="174625" lvl="3" indent="-174625">
              <a:lnSpc>
                <a:spcPts val="1000"/>
              </a:lnSpc>
              <a:spcBef>
                <a:spcPts val="600"/>
              </a:spcBef>
              <a:spcAft>
                <a:spcPts val="0"/>
              </a:spcAft>
              <a:buClr>
                <a:srgbClr val="97989A"/>
              </a:buClr>
              <a:buFont typeface="+mj-lt"/>
              <a:buAutoNum type="arabicPeriod"/>
              <a:defRPr/>
            </a:pPr>
            <a:r>
              <a:rPr lang="en-US" sz="1000" b="1" dirty="0">
                <a:solidFill>
                  <a:schemeClr val="bg1"/>
                </a:solidFill>
                <a:latin typeface="Univers for KPMG" panose="020B0603020202020204" pitchFamily="34" charset="0"/>
              </a:rPr>
              <a:t>Commission policy</a:t>
            </a:r>
            <a:endParaRPr lang="en-CA" sz="1000" b="1" dirty="0">
              <a:solidFill>
                <a:schemeClr val="bg1"/>
              </a:solidFill>
              <a:latin typeface="Univers for KPMG" panose="020B0603020202020204" pitchFamily="34" charset="0"/>
            </a:endParaRPr>
          </a:p>
        </p:txBody>
      </p:sp>
    </p:spTree>
    <p:extLst>
      <p:ext uri="{BB962C8B-B14F-4D97-AF65-F5344CB8AC3E}">
        <p14:creationId xmlns:p14="http://schemas.microsoft.com/office/powerpoint/2010/main" val="3973821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Appendix 1</a:t>
            </a:r>
            <a:br>
              <a:rPr lang="en-CA" sz="2400" dirty="0">
                <a:solidFill>
                  <a:schemeClr val="bg1">
                    <a:lumMod val="50000"/>
                  </a:schemeClr>
                </a:solidFill>
              </a:rPr>
            </a:br>
            <a:r>
              <a:rPr lang="en-US" sz="4400" dirty="0"/>
              <a:t>Adjusted Income statement</a:t>
            </a:r>
            <a:endParaRPr lang="en-CA" sz="4400" dirty="0"/>
          </a:p>
        </p:txBody>
      </p:sp>
      <p:sp>
        <p:nvSpPr>
          <p:cNvPr id="9" name="TextBox 8">
            <a:extLst>
              <a:ext uri="{FF2B5EF4-FFF2-40B4-BE49-F238E27FC236}">
                <a16:creationId xmlns:a16="http://schemas.microsoft.com/office/drawing/2014/main" id="{1ED516A3-CC04-4A15-B1F1-AEC0AE96B6EE}"/>
              </a:ext>
            </a:extLst>
          </p:cNvPr>
          <p:cNvSpPr txBox="1"/>
          <p:nvPr/>
        </p:nvSpPr>
        <p:spPr>
          <a:xfrm>
            <a:off x="458369" y="932747"/>
            <a:ext cx="7893980" cy="278516"/>
          </a:xfrm>
          <a:prstGeom prst="rect">
            <a:avLst/>
          </a:prstGeom>
          <a:noFill/>
          <a:ln>
            <a:noFill/>
          </a:ln>
          <a:extLst>
            <a:ext uri="{91240B29-F687-4F45-9708-019B960494DF}">
              <a14:hiddenLine xmlns:a14="http://schemas.microsoft.com/office/drawing/2010/main">
                <a:solidFill>
                  <a:srgbClr val="FFFFFF"/>
                </a:solidFill>
              </a14:hiddenLine>
            </a:ext>
          </a:extLst>
        </p:spPr>
        <p:txBody>
          <a:bodyPr wrap="square" lIns="0" tIns="0" rIns="0" bIns="0" rtlCol="0">
            <a:noAutofit/>
          </a:bodyPr>
          <a:lstStyle/>
          <a:p>
            <a:pPr marL="0" lvl="2" algn="just">
              <a:spcAft>
                <a:spcPts val="300"/>
              </a:spcAft>
              <a:buClr>
                <a:srgbClr val="97989A"/>
              </a:buClr>
              <a:defRPr/>
            </a:pPr>
            <a:r>
              <a:rPr lang="en-CA" sz="900" dirty="0">
                <a:solidFill>
                  <a:srgbClr val="6D2077"/>
                </a:solidFill>
                <a:latin typeface="Univers for KPMG" panose="020B0603020202020204" pitchFamily="34" charset="0"/>
              </a:rPr>
              <a:t>The table below shows the income statement after diligence and pro forma (run-rate adjustments)</a:t>
            </a:r>
            <a:endParaRPr lang="en-US" sz="900" dirty="0">
              <a:solidFill>
                <a:srgbClr val="FF0000"/>
              </a:solidFill>
              <a:latin typeface="Univers for KPMG" panose="020B0603020202020204" pitchFamily="34" charset="0"/>
            </a:endParaRPr>
          </a:p>
        </p:txBody>
      </p:sp>
      <p:sp>
        <p:nvSpPr>
          <p:cNvPr id="7" name="TextBox 6">
            <a:extLst>
              <a:ext uri="{FF2B5EF4-FFF2-40B4-BE49-F238E27FC236}">
                <a16:creationId xmlns:a16="http://schemas.microsoft.com/office/drawing/2014/main" id="{41242B90-4386-4121-AAE2-7EFB172C2630}"/>
              </a:ext>
            </a:extLst>
          </p:cNvPr>
          <p:cNvSpPr txBox="1"/>
          <p:nvPr/>
        </p:nvSpPr>
        <p:spPr>
          <a:xfrm>
            <a:off x="458369" y="4224866"/>
            <a:ext cx="4738176" cy="92333"/>
          </a:xfrm>
          <a:prstGeom prst="rect">
            <a:avLst/>
          </a:prstGeom>
          <a:noFill/>
        </p:spPr>
        <p:txBody>
          <a:bodyPr wrap="square" lIns="0" tIns="0" rIns="0" bIns="0" rtlCol="0">
            <a:spAutoFit/>
          </a:bodyPr>
          <a:lstStyle/>
          <a:p>
            <a:pPr defTabSz="914400"/>
            <a:r>
              <a:rPr lang="en-US" sz="600" i="1" dirty="0">
                <a:solidFill>
                  <a:srgbClr val="000000"/>
                </a:solidFill>
                <a:cs typeface="Arial" pitchFamily="34" charset="0"/>
              </a:rPr>
              <a:t>Source: Management provided information.</a:t>
            </a:r>
          </a:p>
        </p:txBody>
      </p:sp>
      <p:pic>
        <p:nvPicPr>
          <p:cNvPr id="3" name="Picture 2">
            <a:extLst>
              <a:ext uri="{FF2B5EF4-FFF2-40B4-BE49-F238E27FC236}">
                <a16:creationId xmlns:a16="http://schemas.microsoft.com/office/drawing/2014/main" id="{FAA69349-10E9-43A3-8B27-EA8B732BFDC2}"/>
              </a:ext>
            </a:extLst>
          </p:cNvPr>
          <p:cNvPicPr>
            <a:picLocks noChangeAspect="1"/>
          </p:cNvPicPr>
          <p:nvPr>
            <p:custDataLst>
              <p:tags r:id="rId1"/>
            </p:custDataLst>
          </p:nvPr>
        </p:nvPicPr>
        <p:blipFill>
          <a:blip r:embed="rId3"/>
          <a:stretch>
            <a:fillRect/>
          </a:stretch>
        </p:blipFill>
        <p:spPr>
          <a:xfrm>
            <a:off x="432336" y="1211263"/>
            <a:ext cx="5803736" cy="2996669"/>
          </a:xfrm>
          <a:prstGeom prst="rect">
            <a:avLst/>
          </a:prstGeom>
        </p:spPr>
      </p:pic>
    </p:spTree>
    <p:extLst>
      <p:ext uri="{BB962C8B-B14F-4D97-AF65-F5344CB8AC3E}">
        <p14:creationId xmlns:p14="http://schemas.microsoft.com/office/powerpoint/2010/main" val="1081861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0F0E2F6-FB1C-462E-9E56-57DDDD4D405B}"/>
              </a:ext>
            </a:extLst>
          </p:cNvPr>
          <p:cNvGraphicFramePr>
            <a:graphicFrameLocks noChangeAspect="1"/>
          </p:cNvGraphicFramePr>
          <p:nvPr>
            <p:custDataLst>
              <p:tags r:id="rId2"/>
            </p:custDataLst>
            <p:extLst>
              <p:ext uri="{D42A27DB-BD31-4B8C-83A1-F6EECF244321}">
                <p14:modId xmlns:p14="http://schemas.microsoft.com/office/powerpoint/2010/main" val="1401236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4343" name="think-cell Slide" r:id="rId6" imgW="498" imgH="499" progId="TCLayout.ActiveDocument.1">
                  <p:embed/>
                </p:oleObj>
              </mc:Choice>
              <mc:Fallback>
                <p:oleObj name="think-cell Slide" r:id="rId6" imgW="498" imgH="499"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C0314E67-1481-40C7-B018-E87EF8343B4F}"/>
              </a:ext>
            </a:extLst>
          </p:cNvPr>
          <p:cNvPicPr>
            <a:picLocks noChangeAspect="1"/>
          </p:cNvPicPr>
          <p:nvPr>
            <p:custDataLst>
              <p:tags r:id="rId3"/>
            </p:custDataLst>
          </p:nvPr>
        </p:nvPicPr>
        <p:blipFill>
          <a:blip r:embed="rId8"/>
          <a:stretch>
            <a:fillRect/>
          </a:stretch>
        </p:blipFill>
        <p:spPr>
          <a:xfrm>
            <a:off x="454661" y="1272225"/>
            <a:ext cx="4907906" cy="2678039"/>
          </a:xfrm>
          <a:prstGeom prst="rect">
            <a:avLst/>
          </a:prstGeom>
        </p:spPr>
      </p:pic>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Appendix 2</a:t>
            </a:r>
            <a:br>
              <a:rPr lang="en-CA" sz="2400" dirty="0">
                <a:solidFill>
                  <a:schemeClr val="bg1">
                    <a:lumMod val="50000"/>
                  </a:schemeClr>
                </a:solidFill>
              </a:rPr>
            </a:br>
            <a:r>
              <a:rPr lang="en-US" sz="4400" dirty="0"/>
              <a:t>Revenue vintage and churn analysis</a:t>
            </a:r>
            <a:endParaRPr lang="en-CA" sz="4400" dirty="0"/>
          </a:p>
        </p:txBody>
      </p:sp>
      <p:sp>
        <p:nvSpPr>
          <p:cNvPr id="9" name="TextBox 8">
            <a:extLst>
              <a:ext uri="{FF2B5EF4-FFF2-40B4-BE49-F238E27FC236}">
                <a16:creationId xmlns:a16="http://schemas.microsoft.com/office/drawing/2014/main" id="{1ED516A3-CC04-4A15-B1F1-AEC0AE96B6EE}"/>
              </a:ext>
            </a:extLst>
          </p:cNvPr>
          <p:cNvSpPr txBox="1"/>
          <p:nvPr/>
        </p:nvSpPr>
        <p:spPr>
          <a:xfrm>
            <a:off x="458369" y="932747"/>
            <a:ext cx="8253830" cy="278516"/>
          </a:xfrm>
          <a:prstGeom prst="rect">
            <a:avLst/>
          </a:prstGeom>
          <a:noFill/>
          <a:ln>
            <a:noFill/>
          </a:ln>
          <a:extLst>
            <a:ext uri="{91240B29-F687-4F45-9708-019B960494DF}">
              <a14:hiddenLine xmlns:a14="http://schemas.microsoft.com/office/drawing/2010/main">
                <a:solidFill>
                  <a:srgbClr val="FFFFFF"/>
                </a:solidFill>
              </a14:hiddenLine>
            </a:ext>
          </a:extLst>
        </p:spPr>
        <p:txBody>
          <a:bodyPr wrap="square" lIns="0" tIns="0" rIns="0" bIns="0" rtlCol="0">
            <a:noAutofit/>
          </a:bodyPr>
          <a:lstStyle/>
          <a:p>
            <a:pPr marL="0" lvl="2" algn="just">
              <a:spcAft>
                <a:spcPts val="300"/>
              </a:spcAft>
              <a:buClr>
                <a:srgbClr val="97989A"/>
              </a:buClr>
              <a:defRPr/>
            </a:pPr>
            <a:r>
              <a:rPr lang="en-CA" sz="900" dirty="0">
                <a:solidFill>
                  <a:srgbClr val="6D2077"/>
                </a:solidFill>
                <a:latin typeface="Univers for KPMG" panose="020B0603020202020204" pitchFamily="34" charset="0"/>
              </a:rPr>
              <a:t>The Company’s subscription increased 375% from 77 in December 2019 to 366 in August 2020. There are 19 churned subscriptions (from six usernames) historically and additional 13 subscriptions terminated within less than six months of usage  (included in “Other”). </a:t>
            </a:r>
            <a:endParaRPr lang="en-US" sz="900" dirty="0">
              <a:solidFill>
                <a:srgbClr val="FF0000"/>
              </a:solidFill>
              <a:latin typeface="Univers for KPMG" panose="020B0603020202020204" pitchFamily="34" charset="0"/>
            </a:endParaRPr>
          </a:p>
        </p:txBody>
      </p:sp>
      <p:sp>
        <p:nvSpPr>
          <p:cNvPr id="7" name="TextBox 6">
            <a:extLst>
              <a:ext uri="{FF2B5EF4-FFF2-40B4-BE49-F238E27FC236}">
                <a16:creationId xmlns:a16="http://schemas.microsoft.com/office/drawing/2014/main" id="{41242B90-4386-4121-AAE2-7EFB172C2630}"/>
              </a:ext>
            </a:extLst>
          </p:cNvPr>
          <p:cNvSpPr txBox="1"/>
          <p:nvPr/>
        </p:nvSpPr>
        <p:spPr>
          <a:xfrm>
            <a:off x="454659" y="5433852"/>
            <a:ext cx="5572762" cy="861774"/>
          </a:xfrm>
          <a:prstGeom prst="rect">
            <a:avLst/>
          </a:prstGeom>
          <a:noFill/>
        </p:spPr>
        <p:txBody>
          <a:bodyPr wrap="square" lIns="0" tIns="0" rIns="0" bIns="0" rtlCol="0">
            <a:spAutoFit/>
          </a:bodyPr>
          <a:lstStyle/>
          <a:p>
            <a:pPr defTabSz="914400"/>
            <a:r>
              <a:rPr lang="en-US" sz="700" i="1" dirty="0">
                <a:solidFill>
                  <a:srgbClr val="000000"/>
                </a:solidFill>
                <a:cs typeface="Arial" pitchFamily="34" charset="0"/>
              </a:rPr>
              <a:t>Source: Management provided information.</a:t>
            </a:r>
          </a:p>
          <a:p>
            <a:pPr defTabSz="914400"/>
            <a:r>
              <a:rPr lang="en-US" sz="700" i="1" dirty="0">
                <a:solidFill>
                  <a:srgbClr val="000000"/>
                </a:solidFill>
                <a:cs typeface="Arial" pitchFamily="34" charset="0"/>
              </a:rPr>
              <a:t>Note1: Total revenue for FY19 and TTM Aug-20 listed above of $37,000 and $172,000 differs from reported revenue of $52,000 and $181,000 respectively. The Company has not provided a reconciliation of the difference.</a:t>
            </a:r>
          </a:p>
          <a:p>
            <a:r>
              <a:rPr lang="en-US" sz="700" i="1" dirty="0"/>
              <a:t>Note2: The current price listed on the Company’s website of $199/month (monthly subscription) and $179/month (annual subscription) is primarily marketing related. The Company will continue to charge $99/month for existing customers in the foreseeable future. The Company intends to eventually increase the price, however, no set timeline as of the date of this report (i.e. depending on the market). </a:t>
            </a:r>
          </a:p>
          <a:p>
            <a:r>
              <a:rPr lang="en-US" sz="700" i="1" dirty="0"/>
              <a:t>Note3: The Company provides discount to customers on ad-hoc basis and no formalized discount structure has been determined as at the date of this report.</a:t>
            </a:r>
          </a:p>
        </p:txBody>
      </p:sp>
      <p:pic>
        <p:nvPicPr>
          <p:cNvPr id="10" name="Picture 9">
            <a:extLst>
              <a:ext uri="{FF2B5EF4-FFF2-40B4-BE49-F238E27FC236}">
                <a16:creationId xmlns:a16="http://schemas.microsoft.com/office/drawing/2014/main" id="{B588014D-A22E-4398-855F-921F6328AF57}"/>
              </a:ext>
            </a:extLst>
          </p:cNvPr>
          <p:cNvPicPr>
            <a:picLocks noChangeAspect="1"/>
          </p:cNvPicPr>
          <p:nvPr>
            <p:custDataLst>
              <p:tags r:id="rId4"/>
            </p:custDataLst>
          </p:nvPr>
        </p:nvPicPr>
        <p:blipFill>
          <a:blip r:embed="rId9"/>
          <a:stretch>
            <a:fillRect/>
          </a:stretch>
        </p:blipFill>
        <p:spPr>
          <a:xfrm>
            <a:off x="454662" y="4013290"/>
            <a:ext cx="4907907" cy="1427914"/>
          </a:xfrm>
          <a:prstGeom prst="rect">
            <a:avLst/>
          </a:prstGeom>
        </p:spPr>
      </p:pic>
    </p:spTree>
    <p:extLst>
      <p:ext uri="{BB962C8B-B14F-4D97-AF65-F5344CB8AC3E}">
        <p14:creationId xmlns:p14="http://schemas.microsoft.com/office/powerpoint/2010/main" val="2481115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039C76A-339C-45EC-B1EC-3488F5F9537C}"/>
              </a:ext>
            </a:extLst>
          </p:cNvPr>
          <p:cNvGraphicFramePr>
            <a:graphicFrameLocks noChangeAspect="1"/>
          </p:cNvGraphicFramePr>
          <p:nvPr>
            <p:custDataLst>
              <p:tags r:id="rId2"/>
            </p:custDataLst>
            <p:extLst>
              <p:ext uri="{D42A27DB-BD31-4B8C-83A1-F6EECF244321}">
                <p14:modId xmlns:p14="http://schemas.microsoft.com/office/powerpoint/2010/main" val="10212305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5364" name="think-cell Slide" r:id="rId6" imgW="498" imgH="499" progId="TCLayout.ActiveDocument.1">
                  <p:embed/>
                </p:oleObj>
              </mc:Choice>
              <mc:Fallback>
                <p:oleObj name="think-cell Slide" r:id="rId6" imgW="498" imgH="499"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B3B641D8-CB75-49E2-96F5-E3108B176644}"/>
              </a:ext>
            </a:extLst>
          </p:cNvPr>
          <p:cNvPicPr>
            <a:picLocks noChangeAspect="1"/>
          </p:cNvPicPr>
          <p:nvPr>
            <p:custDataLst>
              <p:tags r:id="rId3"/>
            </p:custDataLst>
          </p:nvPr>
        </p:nvPicPr>
        <p:blipFill>
          <a:blip r:embed="rId8"/>
          <a:stretch>
            <a:fillRect/>
          </a:stretch>
        </p:blipFill>
        <p:spPr>
          <a:xfrm>
            <a:off x="458368" y="1267389"/>
            <a:ext cx="5663032" cy="2334696"/>
          </a:xfrm>
          <a:prstGeom prst="rect">
            <a:avLst/>
          </a:prstGeom>
        </p:spPr>
      </p:pic>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Appendix 3</a:t>
            </a:r>
            <a:br>
              <a:rPr lang="en-CA" sz="2400" dirty="0">
                <a:solidFill>
                  <a:schemeClr val="bg1">
                    <a:lumMod val="50000"/>
                  </a:schemeClr>
                </a:solidFill>
              </a:rPr>
            </a:br>
            <a:r>
              <a:rPr lang="en-US" sz="4400" dirty="0"/>
              <a:t>Payroll and FTE analysis</a:t>
            </a:r>
            <a:endParaRPr lang="en-CA" sz="4400" dirty="0"/>
          </a:p>
        </p:txBody>
      </p:sp>
      <p:sp>
        <p:nvSpPr>
          <p:cNvPr id="15" name="TextBox 14">
            <a:extLst>
              <a:ext uri="{FF2B5EF4-FFF2-40B4-BE49-F238E27FC236}">
                <a16:creationId xmlns:a16="http://schemas.microsoft.com/office/drawing/2014/main" id="{D5C0AD61-0761-45AB-BB10-8742A0340AB8}"/>
              </a:ext>
            </a:extLst>
          </p:cNvPr>
          <p:cNvSpPr txBox="1"/>
          <p:nvPr/>
        </p:nvSpPr>
        <p:spPr>
          <a:xfrm>
            <a:off x="484939" y="5482890"/>
            <a:ext cx="2260602" cy="107722"/>
          </a:xfrm>
          <a:prstGeom prst="rect">
            <a:avLst/>
          </a:prstGeom>
          <a:noFill/>
        </p:spPr>
        <p:txBody>
          <a:bodyPr wrap="square" lIns="0" tIns="0" rIns="0" bIns="0" rtlCol="0">
            <a:spAutoFit/>
          </a:bodyPr>
          <a:lstStyle/>
          <a:p>
            <a:pPr defTabSz="914400"/>
            <a:r>
              <a:rPr lang="en-US" sz="700" i="1" dirty="0">
                <a:solidFill>
                  <a:srgbClr val="000000"/>
                </a:solidFill>
                <a:cs typeface="Arial" pitchFamily="34" charset="0"/>
              </a:rPr>
              <a:t>Source: Management provided information.</a:t>
            </a:r>
          </a:p>
        </p:txBody>
      </p:sp>
      <p:sp>
        <p:nvSpPr>
          <p:cNvPr id="9" name="TextBox 8">
            <a:extLst>
              <a:ext uri="{FF2B5EF4-FFF2-40B4-BE49-F238E27FC236}">
                <a16:creationId xmlns:a16="http://schemas.microsoft.com/office/drawing/2014/main" id="{1ED516A3-CC04-4A15-B1F1-AEC0AE96B6EE}"/>
              </a:ext>
            </a:extLst>
          </p:cNvPr>
          <p:cNvSpPr txBox="1"/>
          <p:nvPr/>
        </p:nvSpPr>
        <p:spPr>
          <a:xfrm>
            <a:off x="458369" y="979672"/>
            <a:ext cx="8499364" cy="278516"/>
          </a:xfrm>
          <a:prstGeom prst="rect">
            <a:avLst/>
          </a:prstGeom>
          <a:noFill/>
          <a:ln>
            <a:noFill/>
          </a:ln>
          <a:extLst>
            <a:ext uri="{91240B29-F687-4F45-9708-019B960494DF}">
              <a14:hiddenLine xmlns:a14="http://schemas.microsoft.com/office/drawing/2010/main">
                <a:solidFill>
                  <a:srgbClr val="FFFFFF"/>
                </a:solidFill>
              </a14:hiddenLine>
            </a:ext>
          </a:extLst>
        </p:spPr>
        <p:txBody>
          <a:bodyPr wrap="square" lIns="0" tIns="0" rIns="0" bIns="0" rtlCol="0">
            <a:noAutofit/>
          </a:bodyPr>
          <a:lstStyle/>
          <a:p>
            <a:pPr marL="0" lvl="2" algn="just">
              <a:spcAft>
                <a:spcPts val="300"/>
              </a:spcAft>
              <a:buClr>
                <a:srgbClr val="97989A"/>
              </a:buClr>
              <a:defRPr/>
            </a:pPr>
            <a:r>
              <a:rPr lang="en-CA" sz="900" dirty="0">
                <a:solidFill>
                  <a:srgbClr val="6D2077"/>
                </a:solidFill>
                <a:latin typeface="Univers for KPMG" panose="020B0603020202020204" pitchFamily="34" charset="0"/>
              </a:rPr>
              <a:t>Average pay per FTE declined in TTM Aug-20 due to the increased use of overseas resources in Engineering, Operations and Quality Assurance departments.</a:t>
            </a:r>
          </a:p>
          <a:p>
            <a:pPr marL="0" lvl="2" algn="just">
              <a:spcAft>
                <a:spcPts val="300"/>
              </a:spcAft>
              <a:buClr>
                <a:srgbClr val="97989A"/>
              </a:buClr>
              <a:defRPr/>
            </a:pPr>
            <a:endParaRPr lang="en-US" sz="900" dirty="0">
              <a:solidFill>
                <a:srgbClr val="FF0000"/>
              </a:solidFill>
              <a:latin typeface="Univers for KPMG" panose="020B0603020202020204" pitchFamily="34" charset="0"/>
            </a:endParaRPr>
          </a:p>
        </p:txBody>
      </p:sp>
      <p:pic>
        <p:nvPicPr>
          <p:cNvPr id="11" name="Picture 10">
            <a:extLst>
              <a:ext uri="{FF2B5EF4-FFF2-40B4-BE49-F238E27FC236}">
                <a16:creationId xmlns:a16="http://schemas.microsoft.com/office/drawing/2014/main" id="{90C57CDF-144C-4409-B748-582D968788A3}"/>
              </a:ext>
            </a:extLst>
          </p:cNvPr>
          <p:cNvPicPr>
            <a:picLocks noChangeAspect="1"/>
          </p:cNvPicPr>
          <p:nvPr>
            <p:custDataLst>
              <p:tags r:id="rId4"/>
            </p:custDataLst>
          </p:nvPr>
        </p:nvPicPr>
        <p:blipFill>
          <a:blip r:embed="rId9"/>
          <a:stretch>
            <a:fillRect/>
          </a:stretch>
        </p:blipFill>
        <p:spPr>
          <a:xfrm>
            <a:off x="458368" y="4350368"/>
            <a:ext cx="2966365" cy="1095464"/>
          </a:xfrm>
          <a:prstGeom prst="rect">
            <a:avLst/>
          </a:prstGeom>
        </p:spPr>
      </p:pic>
      <p:sp>
        <p:nvSpPr>
          <p:cNvPr id="10" name="TextBox 9">
            <a:extLst>
              <a:ext uri="{FF2B5EF4-FFF2-40B4-BE49-F238E27FC236}">
                <a16:creationId xmlns:a16="http://schemas.microsoft.com/office/drawing/2014/main" id="{59450EA2-841F-4148-8E61-A61562D65479}"/>
              </a:ext>
            </a:extLst>
          </p:cNvPr>
          <p:cNvSpPr txBox="1"/>
          <p:nvPr/>
        </p:nvSpPr>
        <p:spPr>
          <a:xfrm>
            <a:off x="458368" y="3626226"/>
            <a:ext cx="2932177" cy="646331"/>
          </a:xfrm>
          <a:prstGeom prst="rect">
            <a:avLst/>
          </a:prstGeom>
          <a:noFill/>
        </p:spPr>
        <p:txBody>
          <a:bodyPr wrap="square" lIns="0" tIns="0" rIns="0" bIns="0" rtlCol="0">
            <a:spAutoFit/>
          </a:bodyPr>
          <a:lstStyle/>
          <a:p>
            <a:pPr defTabSz="914400"/>
            <a:r>
              <a:rPr lang="en-US" sz="700" i="1" dirty="0">
                <a:solidFill>
                  <a:srgbClr val="000000"/>
                </a:solidFill>
                <a:cs typeface="Arial" pitchFamily="34" charset="0"/>
              </a:rPr>
              <a:t>Source: Management provided information.</a:t>
            </a:r>
          </a:p>
          <a:p>
            <a:pPr defTabSz="914400"/>
            <a:r>
              <a:rPr lang="en-US" sz="700" i="1" dirty="0">
                <a:solidFill>
                  <a:srgbClr val="000000"/>
                </a:solidFill>
                <a:cs typeface="Arial" pitchFamily="34" charset="0"/>
              </a:rPr>
              <a:t>Note The above table is an indicative analysis built based on the current employee census provided by Management. Management represents that TTM Aug-20 and historical variance is due to the census capturing the current higher pay level (including mid-year increase) of the employees as compared to the actual amount paid. </a:t>
            </a:r>
          </a:p>
        </p:txBody>
      </p:sp>
      <p:sp>
        <p:nvSpPr>
          <p:cNvPr id="8" name="Rectangle 7">
            <a:extLst>
              <a:ext uri="{FF2B5EF4-FFF2-40B4-BE49-F238E27FC236}">
                <a16:creationId xmlns:a16="http://schemas.microsoft.com/office/drawing/2014/main" id="{B0BF424A-E800-411A-9DA8-EDFB42EEBFD2}"/>
              </a:ext>
            </a:extLst>
          </p:cNvPr>
          <p:cNvSpPr/>
          <p:nvPr/>
        </p:nvSpPr>
        <p:spPr>
          <a:xfrm>
            <a:off x="3289884" y="1644226"/>
            <a:ext cx="460849" cy="12767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err="1">
              <a:solidFill>
                <a:schemeClr val="bg1"/>
              </a:solidFill>
            </a:endParaRPr>
          </a:p>
        </p:txBody>
      </p:sp>
    </p:spTree>
    <p:extLst>
      <p:ext uri="{BB962C8B-B14F-4D97-AF65-F5344CB8AC3E}">
        <p14:creationId xmlns:p14="http://schemas.microsoft.com/office/powerpoint/2010/main" val="3898681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Appendix 4</a:t>
            </a:r>
            <a:br>
              <a:rPr lang="en-CA" sz="2400" dirty="0">
                <a:solidFill>
                  <a:schemeClr val="bg1">
                    <a:lumMod val="50000"/>
                  </a:schemeClr>
                </a:solidFill>
              </a:rPr>
            </a:br>
            <a:r>
              <a:rPr lang="en-US" sz="4400" dirty="0"/>
              <a:t>Direct expense run-rate</a:t>
            </a:r>
            <a:endParaRPr lang="en-CA" sz="4400" dirty="0"/>
          </a:p>
        </p:txBody>
      </p:sp>
      <p:sp>
        <p:nvSpPr>
          <p:cNvPr id="9" name="TextBox 8">
            <a:extLst>
              <a:ext uri="{FF2B5EF4-FFF2-40B4-BE49-F238E27FC236}">
                <a16:creationId xmlns:a16="http://schemas.microsoft.com/office/drawing/2014/main" id="{1ED516A3-CC04-4A15-B1F1-AEC0AE96B6EE}"/>
              </a:ext>
            </a:extLst>
          </p:cNvPr>
          <p:cNvSpPr txBox="1"/>
          <p:nvPr/>
        </p:nvSpPr>
        <p:spPr>
          <a:xfrm>
            <a:off x="458369" y="979672"/>
            <a:ext cx="8499364" cy="278516"/>
          </a:xfrm>
          <a:prstGeom prst="rect">
            <a:avLst/>
          </a:prstGeom>
          <a:noFill/>
          <a:ln>
            <a:noFill/>
          </a:ln>
          <a:extLst>
            <a:ext uri="{91240B29-F687-4F45-9708-019B960494DF}">
              <a14:hiddenLine xmlns:a14="http://schemas.microsoft.com/office/drawing/2010/main">
                <a:solidFill>
                  <a:srgbClr val="FFFFFF"/>
                </a:solidFill>
              </a14:hiddenLine>
            </a:ext>
          </a:extLst>
        </p:spPr>
        <p:txBody>
          <a:bodyPr wrap="square" lIns="0" tIns="0" rIns="0" bIns="0" rtlCol="0">
            <a:noAutofit/>
          </a:bodyPr>
          <a:lstStyle/>
          <a:p>
            <a:pPr marL="0" lvl="2" algn="just">
              <a:spcAft>
                <a:spcPts val="300"/>
              </a:spcAft>
              <a:buClr>
                <a:srgbClr val="97989A"/>
              </a:buClr>
              <a:defRPr/>
            </a:pPr>
            <a:r>
              <a:rPr lang="en-CA" sz="900" dirty="0">
                <a:solidFill>
                  <a:srgbClr val="6D2077"/>
                </a:solidFill>
                <a:latin typeface="Univers for KPMG" panose="020B0603020202020204" pitchFamily="34" charset="0"/>
              </a:rPr>
              <a:t>The below tables include the basis of calculation for QofE pro forma adjustment #5, software and hosting fees. </a:t>
            </a:r>
            <a:endParaRPr lang="en-US" sz="900" dirty="0">
              <a:solidFill>
                <a:srgbClr val="FF0000"/>
              </a:solidFill>
              <a:latin typeface="Univers for KPMG" panose="020B0603020202020204" pitchFamily="34" charset="0"/>
            </a:endParaRPr>
          </a:p>
        </p:txBody>
      </p:sp>
      <p:sp>
        <p:nvSpPr>
          <p:cNvPr id="12" name="Text Placeholder 2">
            <a:extLst>
              <a:ext uri="{FF2B5EF4-FFF2-40B4-BE49-F238E27FC236}">
                <a16:creationId xmlns:a16="http://schemas.microsoft.com/office/drawing/2014/main" id="{2BD2B637-6AC9-4574-A722-7C83B76D41EB}"/>
              </a:ext>
            </a:extLst>
          </p:cNvPr>
          <p:cNvSpPr txBox="1">
            <a:spLocks/>
          </p:cNvSpPr>
          <p:nvPr/>
        </p:nvSpPr>
        <p:spPr bwMode="gray">
          <a:xfrm>
            <a:off x="458369" y="1422400"/>
            <a:ext cx="3950229" cy="492247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lnSpc>
                <a:spcPts val="1080"/>
              </a:lnSpc>
              <a:spcBef>
                <a:spcPts val="600"/>
              </a:spcBef>
              <a:spcAft>
                <a:spcPts val="0"/>
              </a:spcAft>
              <a:buClr>
                <a:srgbClr val="97989A"/>
              </a:buClr>
              <a:buFont typeface="Arial" pitchFamily="34" charset="0"/>
              <a:buChar char="■"/>
              <a:defRPr/>
            </a:pPr>
            <a:r>
              <a:rPr lang="en-US" b="1" dirty="0">
                <a:solidFill>
                  <a:schemeClr val="tx1"/>
                </a:solidFill>
                <a:latin typeface="Univers for KPMG" panose="020B0603020202020204" pitchFamily="34" charset="0"/>
              </a:rPr>
              <a:t>Direct expenses: </a:t>
            </a:r>
            <a:r>
              <a:rPr lang="en-US" dirty="0">
                <a:solidFill>
                  <a:schemeClr val="tx1"/>
                </a:solidFill>
                <a:latin typeface="Univers for KPMG" panose="020B0603020202020204" pitchFamily="34" charset="0"/>
              </a:rPr>
              <a:t>We normalize the software license fees and service charges based on the Aug-20 expense and adjust the hosting fees to reflect the monthly expense run-rate of $2,800 as represented by Management. See below for basis of adjustment:</a:t>
            </a:r>
          </a:p>
          <a:p>
            <a:pPr marL="177800" lvl="2" indent="-177800">
              <a:lnSpc>
                <a:spcPts val="1080"/>
              </a:lnSpc>
              <a:spcBef>
                <a:spcPts val="600"/>
              </a:spcBef>
              <a:spcAft>
                <a:spcPts val="0"/>
              </a:spcAft>
              <a:buClr>
                <a:srgbClr val="97989A"/>
              </a:buClr>
              <a:buFont typeface="Arial" pitchFamily="34" charset="0"/>
              <a:buChar char="■"/>
              <a:defRPr/>
            </a:pPr>
            <a:endParaRPr lang="en-US" dirty="0">
              <a:solidFill>
                <a:schemeClr val="tx1"/>
              </a:solidFill>
              <a:latin typeface="Univers for KPMG" panose="020B0603020202020204" pitchFamily="34" charset="0"/>
            </a:endParaRPr>
          </a:p>
          <a:p>
            <a:pPr marL="177800" lvl="2" indent="-177800">
              <a:lnSpc>
                <a:spcPts val="1080"/>
              </a:lnSpc>
              <a:spcBef>
                <a:spcPts val="600"/>
              </a:spcBef>
              <a:spcAft>
                <a:spcPts val="0"/>
              </a:spcAft>
              <a:buClr>
                <a:srgbClr val="97989A"/>
              </a:buClr>
              <a:buFont typeface="Arial" pitchFamily="34" charset="0"/>
              <a:buChar char="■"/>
              <a:defRPr/>
            </a:pPr>
            <a:endParaRPr lang="en-US" dirty="0">
              <a:solidFill>
                <a:schemeClr val="tx1"/>
              </a:solidFill>
              <a:latin typeface="Univers for KPMG" panose="020B0603020202020204" pitchFamily="34" charset="0"/>
            </a:endParaRPr>
          </a:p>
          <a:p>
            <a:pPr marL="177800" lvl="2" indent="-177800">
              <a:lnSpc>
                <a:spcPts val="1080"/>
              </a:lnSpc>
              <a:spcBef>
                <a:spcPts val="600"/>
              </a:spcBef>
              <a:spcAft>
                <a:spcPts val="0"/>
              </a:spcAft>
              <a:buClr>
                <a:srgbClr val="97989A"/>
              </a:buClr>
              <a:buFont typeface="Arial" pitchFamily="34" charset="0"/>
              <a:buChar char="■"/>
              <a:defRPr/>
            </a:pPr>
            <a:endParaRPr lang="en-US" dirty="0">
              <a:solidFill>
                <a:schemeClr val="tx1"/>
              </a:solidFill>
              <a:latin typeface="Univers for KPMG" panose="020B0603020202020204" pitchFamily="34" charset="0"/>
            </a:endParaRPr>
          </a:p>
          <a:p>
            <a:pPr marL="177800" lvl="2" indent="-177800">
              <a:lnSpc>
                <a:spcPts val="1080"/>
              </a:lnSpc>
              <a:spcBef>
                <a:spcPts val="600"/>
              </a:spcBef>
              <a:spcAft>
                <a:spcPts val="0"/>
              </a:spcAft>
              <a:buClr>
                <a:srgbClr val="97989A"/>
              </a:buClr>
              <a:buFont typeface="Arial" pitchFamily="34" charset="0"/>
              <a:buChar char="■"/>
              <a:defRPr/>
            </a:pPr>
            <a:endParaRPr lang="en-US" dirty="0">
              <a:solidFill>
                <a:schemeClr val="tx1"/>
              </a:solidFill>
              <a:latin typeface="Univers for KPMG" panose="020B0603020202020204" pitchFamily="34" charset="0"/>
            </a:endParaRPr>
          </a:p>
          <a:p>
            <a:pPr marL="177800" lvl="2" indent="-177800">
              <a:lnSpc>
                <a:spcPts val="1080"/>
              </a:lnSpc>
              <a:spcBef>
                <a:spcPts val="600"/>
              </a:spcBef>
              <a:spcAft>
                <a:spcPts val="0"/>
              </a:spcAft>
              <a:buClr>
                <a:srgbClr val="97989A"/>
              </a:buClr>
              <a:buFont typeface="Arial" pitchFamily="34" charset="0"/>
              <a:buChar char="■"/>
              <a:defRPr/>
            </a:pPr>
            <a:endParaRPr lang="en-US" dirty="0">
              <a:solidFill>
                <a:schemeClr val="tx1"/>
              </a:solidFill>
              <a:latin typeface="Univers for KPMG" panose="020B0603020202020204" pitchFamily="34" charset="0"/>
            </a:endParaRPr>
          </a:p>
          <a:p>
            <a:pPr marL="177800" lvl="2" indent="-177800">
              <a:lnSpc>
                <a:spcPts val="1080"/>
              </a:lnSpc>
              <a:spcBef>
                <a:spcPts val="600"/>
              </a:spcBef>
              <a:spcAft>
                <a:spcPts val="0"/>
              </a:spcAft>
              <a:buClr>
                <a:srgbClr val="97989A"/>
              </a:buClr>
              <a:buFont typeface="Arial" pitchFamily="34" charset="0"/>
              <a:buChar char="■"/>
              <a:defRPr/>
            </a:pPr>
            <a:r>
              <a:rPr lang="en-US" dirty="0">
                <a:solidFill>
                  <a:schemeClr val="tx1"/>
                </a:solidFill>
                <a:latin typeface="Univers for KPMG" panose="020B0603020202020204" pitchFamily="34" charset="0"/>
              </a:rPr>
              <a:t>The Company received start-up credits and discounts from their suppliers for the software license, service charges and hosting fees related to their platform. Below are the details of these expenses:</a:t>
            </a:r>
          </a:p>
          <a:p>
            <a:pPr lvl="3">
              <a:lnSpc>
                <a:spcPts val="1080"/>
              </a:lnSpc>
              <a:spcBef>
                <a:spcPts val="600"/>
              </a:spcBef>
              <a:spcAft>
                <a:spcPts val="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Software licenses: </a:t>
            </a:r>
            <a:r>
              <a:rPr lang="en-US" dirty="0">
                <a:solidFill>
                  <a:schemeClr val="tx1"/>
                </a:solidFill>
                <a:latin typeface="Univers for KPMG" panose="020B0603020202020204" pitchFamily="34" charset="0"/>
              </a:rPr>
              <a:t>Third party licenses of add-on features for the Company’s platform including e-signature, bank statement retrieval, e-mail and calendar integration etc.</a:t>
            </a:r>
          </a:p>
          <a:p>
            <a:pPr lvl="3">
              <a:lnSpc>
                <a:spcPts val="1080"/>
              </a:lnSpc>
              <a:spcBef>
                <a:spcPts val="600"/>
              </a:spcBef>
              <a:spcAft>
                <a:spcPts val="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Hosting: </a:t>
            </a:r>
            <a:r>
              <a:rPr lang="en-US" dirty="0">
                <a:solidFill>
                  <a:schemeClr val="tx1"/>
                </a:solidFill>
                <a:latin typeface="Univers for KPMG" panose="020B0603020202020204" pitchFamily="34" charset="0"/>
              </a:rPr>
              <a:t>Hosting fees for the Company’s website paid to Amazon Web Services.</a:t>
            </a:r>
          </a:p>
          <a:p>
            <a:pPr lvl="3">
              <a:lnSpc>
                <a:spcPts val="1080"/>
              </a:lnSpc>
              <a:spcBef>
                <a:spcPts val="600"/>
              </a:spcBef>
              <a:spcAft>
                <a:spcPts val="0"/>
              </a:spcAft>
              <a:buClr>
                <a:srgbClr val="97989A"/>
              </a:buClr>
              <a:buFont typeface="Arial" panose="020B0604020202020204" pitchFamily="34" charset="0"/>
              <a:buChar char="‒"/>
              <a:defRPr/>
            </a:pPr>
            <a:r>
              <a:rPr lang="en-US" b="1" dirty="0">
                <a:solidFill>
                  <a:schemeClr val="tx1"/>
                </a:solidFill>
                <a:latin typeface="Univers for KPMG" panose="020B0603020202020204" pitchFamily="34" charset="0"/>
              </a:rPr>
              <a:t>Service charges: </a:t>
            </a:r>
            <a:r>
              <a:rPr lang="en-US" dirty="0">
                <a:solidFill>
                  <a:schemeClr val="tx1"/>
                </a:solidFill>
                <a:latin typeface="Univers for KPMG" panose="020B0603020202020204" pitchFamily="34" charset="0"/>
              </a:rPr>
              <a:t>Relate to the payment to Stripe, an online payment processing service provider.</a:t>
            </a:r>
          </a:p>
          <a:p>
            <a:pPr marL="177800" lvl="2" indent="-177800">
              <a:lnSpc>
                <a:spcPts val="1080"/>
              </a:lnSpc>
              <a:spcBef>
                <a:spcPts val="600"/>
              </a:spcBef>
              <a:spcAft>
                <a:spcPts val="0"/>
              </a:spcAft>
              <a:buClr>
                <a:srgbClr val="97989A"/>
              </a:buClr>
              <a:buFont typeface="Arial" pitchFamily="34" charset="0"/>
              <a:buChar char="■"/>
              <a:defRPr/>
            </a:pPr>
            <a:r>
              <a:rPr lang="en-US" dirty="0">
                <a:solidFill>
                  <a:schemeClr val="tx1"/>
                </a:solidFill>
                <a:latin typeface="Univers for KPMG" panose="020B0603020202020204" pitchFamily="34" charset="0"/>
              </a:rPr>
              <a:t>Management represents that these expenses are corelated with volume, however, it is not on a straight-line basis as the pricing is tiered and each supplier has varying threshold. </a:t>
            </a:r>
          </a:p>
          <a:p>
            <a:pPr marL="177800" lvl="2" indent="-177800">
              <a:lnSpc>
                <a:spcPts val="1080"/>
              </a:lnSpc>
              <a:spcBef>
                <a:spcPts val="600"/>
              </a:spcBef>
              <a:spcAft>
                <a:spcPts val="0"/>
              </a:spcAft>
              <a:buClr>
                <a:srgbClr val="97989A"/>
              </a:buClr>
              <a:buFont typeface="Arial" pitchFamily="34" charset="0"/>
              <a:buChar char="■"/>
              <a:defRPr/>
            </a:pPr>
            <a:r>
              <a:rPr lang="en-US" dirty="0">
                <a:solidFill>
                  <a:schemeClr val="tx1"/>
                </a:solidFill>
                <a:latin typeface="Univers for KPMG" panose="020B0603020202020204" pitchFamily="34" charset="0"/>
              </a:rPr>
              <a:t>Management expects to eventually realize 85% margin (i.e. 15% direct expense per subscriber) on a run-rate basis. </a:t>
            </a:r>
          </a:p>
          <a:p>
            <a:pPr lvl="2">
              <a:spcBef>
                <a:spcPts val="200"/>
              </a:spcBef>
              <a:spcAft>
                <a:spcPts val="200"/>
              </a:spcAft>
              <a:buClr>
                <a:schemeClr val="bg1">
                  <a:lumMod val="50000"/>
                </a:schemeClr>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dirty="0">
              <a:solidFill>
                <a:schemeClr val="tx1"/>
              </a:solidFill>
              <a:latin typeface="Univers for KPMG" panose="020B0603020202020204" pitchFamily="34" charset="0"/>
            </a:endParaRPr>
          </a:p>
          <a:p>
            <a:pPr marL="228600" lvl="2" indent="0">
              <a:spcBef>
                <a:spcPts val="200"/>
              </a:spcBef>
              <a:spcAft>
                <a:spcPts val="200"/>
              </a:spcAft>
              <a:buClr>
                <a:srgbClr val="97989A"/>
              </a:buClr>
              <a:buNone/>
              <a:defRPr/>
            </a:pPr>
            <a:endParaRPr lang="en-US" dirty="0">
              <a:solidFill>
                <a:schemeClr val="tx1"/>
              </a:solidFill>
              <a:latin typeface="Univers for KPMG" panose="020B0603020202020204" pitchFamily="34" charset="0"/>
            </a:endParaRPr>
          </a:p>
          <a:p>
            <a:pPr lvl="2">
              <a:spcBef>
                <a:spcPts val="200"/>
              </a:spcBef>
              <a:spcAft>
                <a:spcPts val="200"/>
              </a:spcAft>
              <a:buClr>
                <a:srgbClr val="97989A"/>
              </a:buClr>
              <a:buFont typeface="Wingdings" panose="05000000000000000000" pitchFamily="2" charset="2"/>
              <a:buChar char="§"/>
              <a:defRPr/>
            </a:pPr>
            <a:endParaRPr lang="en-US" b="1" dirty="0">
              <a:solidFill>
                <a:schemeClr val="tx1"/>
              </a:solidFill>
              <a:latin typeface="Univers for KPMG" panose="020B0603020202020204" pitchFamily="34" charset="0"/>
            </a:endParaRPr>
          </a:p>
        </p:txBody>
      </p:sp>
      <p:sp>
        <p:nvSpPr>
          <p:cNvPr id="18" name="TextBox 17">
            <a:extLst>
              <a:ext uri="{FF2B5EF4-FFF2-40B4-BE49-F238E27FC236}">
                <a16:creationId xmlns:a16="http://schemas.microsoft.com/office/drawing/2014/main" id="{3E1B13F6-496B-4B50-9232-3AF01A0B34FD}"/>
              </a:ext>
            </a:extLst>
          </p:cNvPr>
          <p:cNvSpPr txBox="1"/>
          <p:nvPr/>
        </p:nvSpPr>
        <p:spPr>
          <a:xfrm>
            <a:off x="620042" y="2947837"/>
            <a:ext cx="2260602" cy="107722"/>
          </a:xfrm>
          <a:prstGeom prst="rect">
            <a:avLst/>
          </a:prstGeom>
          <a:noFill/>
        </p:spPr>
        <p:txBody>
          <a:bodyPr wrap="square" lIns="0" tIns="0" rIns="0" bIns="0" rtlCol="0">
            <a:spAutoFit/>
          </a:bodyPr>
          <a:lstStyle/>
          <a:p>
            <a:pPr defTabSz="914400"/>
            <a:r>
              <a:rPr lang="en-US" sz="700" i="1" dirty="0">
                <a:solidFill>
                  <a:srgbClr val="000000"/>
                </a:solidFill>
                <a:cs typeface="Arial" pitchFamily="34" charset="0"/>
              </a:rPr>
              <a:t>Source: Management provided information.</a:t>
            </a:r>
          </a:p>
        </p:txBody>
      </p:sp>
      <p:pic>
        <p:nvPicPr>
          <p:cNvPr id="19" name="Picture 18">
            <a:extLst>
              <a:ext uri="{FF2B5EF4-FFF2-40B4-BE49-F238E27FC236}">
                <a16:creationId xmlns:a16="http://schemas.microsoft.com/office/drawing/2014/main" id="{A8B9D756-2641-4F14-91D1-B50463E5B020}"/>
              </a:ext>
            </a:extLst>
          </p:cNvPr>
          <p:cNvPicPr>
            <a:picLocks noChangeAspect="1"/>
          </p:cNvPicPr>
          <p:nvPr>
            <p:custDataLst>
              <p:tags r:id="rId1"/>
            </p:custDataLst>
          </p:nvPr>
        </p:nvPicPr>
        <p:blipFill>
          <a:blip r:embed="rId4"/>
          <a:stretch>
            <a:fillRect/>
          </a:stretch>
        </p:blipFill>
        <p:spPr>
          <a:xfrm>
            <a:off x="620042" y="2081114"/>
            <a:ext cx="3217739" cy="842478"/>
          </a:xfrm>
          <a:prstGeom prst="rect">
            <a:avLst/>
          </a:prstGeom>
        </p:spPr>
      </p:pic>
      <p:sp>
        <p:nvSpPr>
          <p:cNvPr id="20" name="Text Placeholder 2">
            <a:extLst>
              <a:ext uri="{FF2B5EF4-FFF2-40B4-BE49-F238E27FC236}">
                <a16:creationId xmlns:a16="http://schemas.microsoft.com/office/drawing/2014/main" id="{1CA37C11-64EA-4494-9E5A-D72AF3F50C94}"/>
              </a:ext>
            </a:extLst>
          </p:cNvPr>
          <p:cNvSpPr txBox="1">
            <a:spLocks/>
          </p:cNvSpPr>
          <p:nvPr/>
        </p:nvSpPr>
        <p:spPr bwMode="gray">
          <a:xfrm>
            <a:off x="5341269" y="2235855"/>
            <a:ext cx="4043362" cy="2209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spcBef>
                <a:spcPts val="200"/>
              </a:spcBef>
              <a:spcAft>
                <a:spcPts val="200"/>
              </a:spcAft>
              <a:buClr>
                <a:srgbClr val="97989A"/>
              </a:buClr>
              <a:buFont typeface="Wingdings" panose="05000000000000000000" pitchFamily="2" charset="2"/>
              <a:buChar char="§"/>
              <a:defRPr/>
            </a:pPr>
            <a:endParaRPr lang="en-US" b="1" dirty="0">
              <a:solidFill>
                <a:schemeClr val="tx1"/>
              </a:solidFill>
              <a:latin typeface="Univers for KPMG" panose="020B0603020202020204" pitchFamily="34" charset="0"/>
            </a:endParaRPr>
          </a:p>
        </p:txBody>
      </p:sp>
    </p:spTree>
    <p:extLst>
      <p:ext uri="{BB962C8B-B14F-4D97-AF65-F5344CB8AC3E}">
        <p14:creationId xmlns:p14="http://schemas.microsoft.com/office/powerpoint/2010/main" val="907163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5">
            <a:extLst>
              <a:ext uri="{FF2B5EF4-FFF2-40B4-BE49-F238E27FC236}">
                <a16:creationId xmlns:a16="http://schemas.microsoft.com/office/drawing/2014/main" id="{FD20B0D4-3CAC-40DD-BACA-CA95C230E97D}"/>
              </a:ext>
            </a:extLst>
          </p:cNvPr>
          <p:cNvSpPr txBox="1">
            <a:spLocks/>
          </p:cNvSpPr>
          <p:nvPr/>
        </p:nvSpPr>
        <p:spPr bwMode="gray">
          <a:xfrm>
            <a:off x="431799" y="202337"/>
            <a:ext cx="8280400" cy="78483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CA" sz="2400" dirty="0">
                <a:solidFill>
                  <a:schemeClr val="bg1">
                    <a:lumMod val="50000"/>
                  </a:schemeClr>
                </a:solidFill>
              </a:rPr>
              <a:t>Appendix 5</a:t>
            </a:r>
            <a:br>
              <a:rPr lang="en-CA" sz="2400" dirty="0">
                <a:solidFill>
                  <a:schemeClr val="bg1">
                    <a:lumMod val="50000"/>
                  </a:schemeClr>
                </a:solidFill>
              </a:rPr>
            </a:br>
            <a:r>
              <a:rPr lang="en-US" sz="4400" dirty="0"/>
              <a:t>Commission policy</a:t>
            </a:r>
            <a:endParaRPr lang="en-CA" sz="4400" dirty="0"/>
          </a:p>
        </p:txBody>
      </p:sp>
      <p:sp>
        <p:nvSpPr>
          <p:cNvPr id="12" name="Text Placeholder 2">
            <a:extLst>
              <a:ext uri="{FF2B5EF4-FFF2-40B4-BE49-F238E27FC236}">
                <a16:creationId xmlns:a16="http://schemas.microsoft.com/office/drawing/2014/main" id="{2BD2B637-6AC9-4574-A722-7C83B76D41EB}"/>
              </a:ext>
            </a:extLst>
          </p:cNvPr>
          <p:cNvSpPr txBox="1">
            <a:spLocks/>
          </p:cNvSpPr>
          <p:nvPr/>
        </p:nvSpPr>
        <p:spPr bwMode="gray">
          <a:xfrm>
            <a:off x="458369" y="1170940"/>
            <a:ext cx="3950229" cy="492247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2" indent="-177800">
              <a:lnSpc>
                <a:spcPts val="1080"/>
              </a:lnSpc>
              <a:spcBef>
                <a:spcPts val="600"/>
              </a:spcBef>
              <a:spcAft>
                <a:spcPts val="0"/>
              </a:spcAft>
              <a:buClr>
                <a:srgbClr val="97989A"/>
              </a:buClr>
              <a:buFont typeface="Arial" pitchFamily="34" charset="0"/>
              <a:buChar char="■"/>
              <a:defRPr/>
            </a:pPr>
            <a:r>
              <a:rPr lang="en-US" dirty="0">
                <a:solidFill>
                  <a:schemeClr val="tx1"/>
                </a:solidFill>
                <a:latin typeface="Univers for KPMG" panose="020B0603020202020204" pitchFamily="34" charset="0"/>
              </a:rPr>
              <a:t>The Company’s current commission structure is as follows.</a:t>
            </a:r>
          </a:p>
          <a:p>
            <a:pPr marL="177800" lvl="2" indent="-177800">
              <a:lnSpc>
                <a:spcPts val="1080"/>
              </a:lnSpc>
              <a:spcBef>
                <a:spcPts val="600"/>
              </a:spcBef>
              <a:spcAft>
                <a:spcPts val="0"/>
              </a:spcAft>
              <a:buClr>
                <a:srgbClr val="97989A"/>
              </a:buClr>
              <a:buFont typeface="Arial" pitchFamily="34" charset="0"/>
              <a:buChar char="■"/>
              <a:defRPr/>
            </a:pPr>
            <a:r>
              <a:rPr lang="en-US" dirty="0">
                <a:solidFill>
                  <a:schemeClr val="tx1"/>
                </a:solidFill>
                <a:latin typeface="Univers for KPMG" panose="020B0603020202020204" pitchFamily="34" charset="0"/>
              </a:rPr>
              <a:t>10% annual recurring revenue with a built-in exponential multiplier including 50% quota achievement, and a ceiling at 200% quota achievement. Gradual accelerate / decelerate range by using % quota attainment as an exponent in commissions calc. Example:</a:t>
            </a:r>
          </a:p>
          <a:p>
            <a:pPr lvl="3">
              <a:lnSpc>
                <a:spcPts val="1080"/>
              </a:lnSpc>
              <a:spcBef>
                <a:spcPts val="600"/>
              </a:spcBef>
              <a:spcAft>
                <a:spcPts val="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110% of quota achievement in a given month = monthly recurring revenue (MRR) x 10 points (%) ^ 110% = MRR x 12.6% (exponentially higher than 110% of 10 points)</a:t>
            </a:r>
          </a:p>
          <a:p>
            <a:pPr lvl="3">
              <a:lnSpc>
                <a:spcPts val="1080"/>
              </a:lnSpc>
              <a:spcBef>
                <a:spcPts val="600"/>
              </a:spcBef>
              <a:spcAft>
                <a:spcPts val="0"/>
              </a:spcAft>
              <a:buClr>
                <a:srgbClr val="97989A"/>
              </a:buClr>
              <a:buFont typeface="Arial" panose="020B0604020202020204" pitchFamily="34" charset="0"/>
              <a:buChar char="‒"/>
              <a:defRPr/>
            </a:pPr>
            <a:r>
              <a:rPr lang="en-US" dirty="0">
                <a:solidFill>
                  <a:schemeClr val="tx1"/>
                </a:solidFill>
                <a:latin typeface="Univers for KPMG" panose="020B0603020202020204" pitchFamily="34" charset="0"/>
              </a:rPr>
              <a:t>80% of quota achievement in a given month = MRR x 10 points (%) ^ 80% = MRR x 6.3% (exponentially lower than 80% of 10 points).</a:t>
            </a:r>
          </a:p>
          <a:p>
            <a:pPr marL="177800" lvl="2" indent="-177800">
              <a:lnSpc>
                <a:spcPts val="1080"/>
              </a:lnSpc>
              <a:spcBef>
                <a:spcPts val="600"/>
              </a:spcBef>
              <a:spcAft>
                <a:spcPts val="0"/>
              </a:spcAft>
              <a:buClr>
                <a:srgbClr val="97989A"/>
              </a:buClr>
              <a:buFont typeface="Arial" pitchFamily="34" charset="0"/>
              <a:buChar char="■"/>
              <a:defRPr/>
            </a:pPr>
            <a:endParaRPr lang="en-US" b="1" dirty="0">
              <a:solidFill>
                <a:schemeClr val="tx1"/>
              </a:solidFill>
              <a:latin typeface="Univers for KPMG" panose="020B0603020202020204" pitchFamily="34" charset="0"/>
            </a:endParaRPr>
          </a:p>
        </p:txBody>
      </p:sp>
      <p:sp>
        <p:nvSpPr>
          <p:cNvPr id="20" name="Text Placeholder 2">
            <a:extLst>
              <a:ext uri="{FF2B5EF4-FFF2-40B4-BE49-F238E27FC236}">
                <a16:creationId xmlns:a16="http://schemas.microsoft.com/office/drawing/2014/main" id="{1CA37C11-64EA-4494-9E5A-D72AF3F50C94}"/>
              </a:ext>
            </a:extLst>
          </p:cNvPr>
          <p:cNvSpPr txBox="1">
            <a:spLocks/>
          </p:cNvSpPr>
          <p:nvPr/>
        </p:nvSpPr>
        <p:spPr bwMode="gray">
          <a:xfrm>
            <a:off x="5341269" y="2235855"/>
            <a:ext cx="4043362" cy="2209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spcBef>
                <a:spcPts val="200"/>
              </a:spcBef>
              <a:spcAft>
                <a:spcPts val="200"/>
              </a:spcAft>
              <a:buClr>
                <a:srgbClr val="97989A"/>
              </a:buClr>
              <a:buFont typeface="Wingdings" panose="05000000000000000000" pitchFamily="2" charset="2"/>
              <a:buChar char="§"/>
              <a:defRPr/>
            </a:pPr>
            <a:endParaRPr lang="en-US" b="1" dirty="0">
              <a:solidFill>
                <a:schemeClr val="tx1"/>
              </a:solidFill>
              <a:latin typeface="Univers for KPMG" panose="020B0603020202020204" pitchFamily="34" charset="0"/>
            </a:endParaRPr>
          </a:p>
        </p:txBody>
      </p:sp>
    </p:spTree>
    <p:extLst>
      <p:ext uri="{BB962C8B-B14F-4D97-AF65-F5344CB8AC3E}">
        <p14:creationId xmlns:p14="http://schemas.microsoft.com/office/powerpoint/2010/main" val="2418098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sz="4400" noProof="0" dirty="0"/>
              <a:t>Glossary</a:t>
            </a:r>
          </a:p>
        </p:txBody>
      </p:sp>
      <p:sp>
        <p:nvSpPr>
          <p:cNvPr id="7" name="Espace réservé du texte 3">
            <a:extLst>
              <a:ext uri="{FF2B5EF4-FFF2-40B4-BE49-F238E27FC236}">
                <a16:creationId xmlns:a16="http://schemas.microsoft.com/office/drawing/2014/main" id="{FBB74A49-0A40-487D-A3B9-522A84397225}"/>
              </a:ext>
            </a:extLst>
          </p:cNvPr>
          <p:cNvSpPr txBox="1">
            <a:spLocks/>
          </p:cNvSpPr>
          <p:nvPr/>
        </p:nvSpPr>
        <p:spPr>
          <a:xfrm>
            <a:off x="485057" y="5689039"/>
            <a:ext cx="8316762" cy="338554"/>
          </a:xfrm>
          <a:prstGeom prst="rect">
            <a:avLst/>
          </a:prstGeom>
          <a:ln>
            <a:noFill/>
          </a:ln>
        </p:spPr>
        <p:txBody>
          <a:bodyPr wrap="square" lIns="45720" tIns="45720" rIns="45720" bIns="45720">
            <a:sp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ctr">
              <a:spcBef>
                <a:spcPts val="900"/>
              </a:spcBef>
            </a:pPr>
            <a:r>
              <a:rPr lang="en-US" sz="800" i="1" dirty="0">
                <a:solidFill>
                  <a:schemeClr val="tx1"/>
                </a:solidFill>
                <a:latin typeface="Univers for KPMG" panose="020B0603020202020204" pitchFamily="34" charset="0"/>
              </a:rPr>
              <a:t>Our report makes reference to “KPMG analysis”. This indicates only that KPMG has undertaken certain analytical procedures on the underlying data to arrive at the information presented. We do not accept responsibility for the underlying data. Figures throughout this report are presented in CAD, unless otherwise noted.</a:t>
            </a:r>
          </a:p>
        </p:txBody>
      </p:sp>
      <p:graphicFrame>
        <p:nvGraphicFramePr>
          <p:cNvPr id="6" name="Table 5">
            <a:extLst>
              <a:ext uri="{FF2B5EF4-FFF2-40B4-BE49-F238E27FC236}">
                <a16:creationId xmlns:a16="http://schemas.microsoft.com/office/drawing/2014/main" id="{6CDF5A7E-46FC-44F3-9A59-8478BA0109D6}"/>
              </a:ext>
            </a:extLst>
          </p:cNvPr>
          <p:cNvGraphicFramePr>
            <a:graphicFrameLocks noGrp="1"/>
          </p:cNvGraphicFramePr>
          <p:nvPr>
            <p:extLst>
              <p:ext uri="{D42A27DB-BD31-4B8C-83A1-F6EECF244321}">
                <p14:modId xmlns:p14="http://schemas.microsoft.com/office/powerpoint/2010/main" val="2609304008"/>
              </p:ext>
            </p:extLst>
          </p:nvPr>
        </p:nvGraphicFramePr>
        <p:xfrm>
          <a:off x="485057" y="1215406"/>
          <a:ext cx="3443476" cy="3219117"/>
        </p:xfrm>
        <a:graphic>
          <a:graphicData uri="http://schemas.openxmlformats.org/drawingml/2006/table">
            <a:tbl>
              <a:tblPr firstRow="1" bandRow="1">
                <a:tableStyleId>{5C22544A-7EE6-4342-B048-85BDC9FD1C3A}</a:tableStyleId>
              </a:tblPr>
              <a:tblGrid>
                <a:gridCol w="859550">
                  <a:extLst>
                    <a:ext uri="{9D8B030D-6E8A-4147-A177-3AD203B41FA5}">
                      <a16:colId xmlns:a16="http://schemas.microsoft.com/office/drawing/2014/main" val="20000"/>
                    </a:ext>
                  </a:extLst>
                </a:gridCol>
                <a:gridCol w="2583926">
                  <a:extLst>
                    <a:ext uri="{9D8B030D-6E8A-4147-A177-3AD203B41FA5}">
                      <a16:colId xmlns:a16="http://schemas.microsoft.com/office/drawing/2014/main" val="20001"/>
                    </a:ext>
                  </a:extLst>
                </a:gridCol>
              </a:tblGrid>
              <a:tr h="164764">
                <a:tc>
                  <a:txBody>
                    <a:bodyPr/>
                    <a:lstStyle/>
                    <a:p>
                      <a:pPr algn="l" rtl="0" fontAlgn="ctr"/>
                      <a:r>
                        <a:rPr lang="en-US" sz="800" b="1" i="0" u="none" strike="noStrike" dirty="0">
                          <a:solidFill>
                            <a:srgbClr val="00338D"/>
                          </a:solidFill>
                          <a:effectLst/>
                          <a:latin typeface="Univers for KPMG" panose="020B0603020202020204" pitchFamily="34" charset="0"/>
                        </a:rPr>
                        <a:t>$’000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Thousands of dollars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0475665"/>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AASB</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Auditing and Assurance Standards Board</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70051938"/>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Adj.</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Adjusted</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11278439"/>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AFDA</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Allowance for doubtful accounts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9854829"/>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AP</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Accounts payable</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81822702"/>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AR</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Accounts receivable</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4789529"/>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CAD</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Canadian dollars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19599183"/>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Client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D+H Mortgage Technology Corporation</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2971683"/>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EBITDA</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Earnings before interest, tax, depreciation and amortization</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3428277"/>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FTE</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Full Time Equivalent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89197394"/>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FY</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Fiscal year ended on 31-Dec-xx</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42719635"/>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HST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Harmonized sales tax</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00384517"/>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LLP</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Limited liability partnership</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3315031"/>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NWC</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Net working capital</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31217140"/>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P&amp;L</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Profit and loss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8140696"/>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QofE</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Quality of earnings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608651"/>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Target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chemeClr val="tx2"/>
                          </a:solidFill>
                          <a:effectLst/>
                          <a:latin typeface="Univers for KPMG" panose="020B0603020202020204" pitchFamily="34" charset="0"/>
                        </a:rPr>
                        <a:t>Morgidge, Inc</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82479672"/>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TTM</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Trailing twelve months</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33828676"/>
                  </a:ext>
                </a:extLst>
              </a:tr>
              <a:tr h="164764">
                <a:tc>
                  <a:txBody>
                    <a:bodyPr/>
                    <a:lstStyle/>
                    <a:p>
                      <a:pPr algn="l" rtl="0" fontAlgn="ctr"/>
                      <a:r>
                        <a:rPr lang="en-US" sz="800" b="1" i="0" u="none" strike="noStrike" dirty="0">
                          <a:solidFill>
                            <a:srgbClr val="00338D"/>
                          </a:solidFill>
                          <a:effectLst/>
                          <a:latin typeface="Univers for KPMG" panose="020B0603020202020204" pitchFamily="34" charset="0"/>
                        </a:rPr>
                        <a:t>YTD</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ctr"/>
                      <a:r>
                        <a:rPr lang="en-US" sz="800" b="0" i="0" u="none" strike="noStrike" dirty="0">
                          <a:solidFill>
                            <a:srgbClr val="00338D"/>
                          </a:solidFill>
                          <a:effectLst/>
                          <a:latin typeface="Univers for KPMG" panose="020B0603020202020204" pitchFamily="34" charset="0"/>
                        </a:rPr>
                        <a:t>Year to date</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4058278"/>
                  </a:ext>
                </a:extLst>
              </a:tr>
            </a:tbl>
          </a:graphicData>
        </a:graphic>
      </p:graphicFrame>
    </p:spTree>
    <p:extLst>
      <p:ext uri="{BB962C8B-B14F-4D97-AF65-F5344CB8AC3E}">
        <p14:creationId xmlns:p14="http://schemas.microsoft.com/office/powerpoint/2010/main" val="683208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sz="quarter" idx="11"/>
          </p:nvPr>
        </p:nvSpPr>
        <p:spPr>
          <a:xfrm>
            <a:off x="1995055" y="2147047"/>
            <a:ext cx="6165273" cy="2890620"/>
          </a:xfrm>
        </p:spPr>
        <p:txBody>
          <a:bodyPr/>
          <a:lstStyle/>
          <a:p>
            <a:r>
              <a:rPr lang="en-CA" sz="1100" dirty="0"/>
              <a:t>The contacts at KPMG in connection with this report are:</a:t>
            </a:r>
          </a:p>
          <a:p>
            <a:endParaRPr lang="en-CA" sz="1100" dirty="0"/>
          </a:p>
          <a:p>
            <a:endParaRPr lang="en-CA" sz="1100" b="0" i="1" dirty="0"/>
          </a:p>
          <a:p>
            <a:r>
              <a:rPr lang="en-CA" sz="1100" dirty="0"/>
              <a:t>Eddie Chan</a:t>
            </a:r>
          </a:p>
          <a:p>
            <a:r>
              <a:rPr lang="en-CA" sz="1100" b="0" dirty="0"/>
              <a:t>Partner, Transaction Services</a:t>
            </a:r>
          </a:p>
          <a:p>
            <a:r>
              <a:rPr lang="en-CA" sz="1100" b="0" dirty="0"/>
              <a:t>416-777-3301</a:t>
            </a:r>
          </a:p>
          <a:p>
            <a:r>
              <a:rPr lang="en-CA" sz="1100" b="0" i="1" dirty="0"/>
              <a:t>eddiechan@kpmg.ca</a:t>
            </a:r>
          </a:p>
          <a:p>
            <a:endParaRPr lang="en-CA" sz="1100" b="0" dirty="0"/>
          </a:p>
          <a:p>
            <a:r>
              <a:rPr lang="en-CA" sz="1100" dirty="0"/>
              <a:t>Juliana Lnu</a:t>
            </a:r>
          </a:p>
          <a:p>
            <a:r>
              <a:rPr lang="en-CA" sz="1100" b="0" dirty="0"/>
              <a:t>Senior Manager, Transaction Services</a:t>
            </a:r>
          </a:p>
          <a:p>
            <a:r>
              <a:rPr lang="en-CA" sz="1100" b="0" dirty="0"/>
              <a:t>416-218-7979</a:t>
            </a:r>
          </a:p>
          <a:p>
            <a:r>
              <a:rPr lang="en-CA" sz="1100" b="0" i="1" dirty="0"/>
              <a:t>jlnu@kpmg.ca</a:t>
            </a:r>
          </a:p>
          <a:p>
            <a:endParaRPr lang="en-CA" sz="1100" b="0" i="1" dirty="0"/>
          </a:p>
          <a:p>
            <a:endParaRPr lang="en-CA" sz="1100" b="0" i="1" dirty="0"/>
          </a:p>
        </p:txBody>
      </p:sp>
      <p:sp>
        <p:nvSpPr>
          <p:cNvPr id="6" name="Titre 6"/>
          <p:cNvSpPr>
            <a:spLocks noGrp="1"/>
          </p:cNvSpPr>
          <p:nvPr>
            <p:ph type="title"/>
          </p:nvPr>
        </p:nvSpPr>
        <p:spPr>
          <a:xfrm>
            <a:off x="1995055" y="1337703"/>
            <a:ext cx="6192982" cy="581698"/>
          </a:xfrm>
        </p:spPr>
        <p:txBody>
          <a:bodyPr/>
          <a:lstStyle/>
          <a:p>
            <a:r>
              <a:rPr lang="en-CA" sz="5400" dirty="0"/>
              <a:t>Contacts</a:t>
            </a:r>
          </a:p>
        </p:txBody>
      </p:sp>
      <p:sp>
        <p:nvSpPr>
          <p:cNvPr id="4" name="Espace réservé du texte 4"/>
          <p:cNvSpPr txBox="1">
            <a:spLocks/>
          </p:cNvSpPr>
          <p:nvPr/>
        </p:nvSpPr>
        <p:spPr bwMode="gray">
          <a:xfrm>
            <a:off x="4728951" y="2147046"/>
            <a:ext cx="6165273" cy="67235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1600" b="1" i="0" kern="1200">
                <a:solidFill>
                  <a:srgbClr val="FFFFFF"/>
                </a:solidFill>
                <a:latin typeface="+mn-lt"/>
                <a:ea typeface="+mn-ea"/>
                <a:cs typeface="Univers for KPMG" panose="020B0603020202020204" pitchFamily="34" charset="0"/>
              </a:defRPr>
            </a:lvl1pPr>
            <a:lvl2pPr marL="0" indent="0" algn="l" defTabSz="914400" rtl="0" eaLnBrk="1" latinLnBrk="0" hangingPunct="1">
              <a:lnSpc>
                <a:spcPct val="100000"/>
              </a:lnSpc>
              <a:spcBef>
                <a:spcPts val="0"/>
              </a:spcBef>
              <a:spcAft>
                <a:spcPts val="600"/>
              </a:spcAft>
              <a:buFontTx/>
              <a:buNone/>
              <a:defRPr sz="900" kern="1200">
                <a:solidFill>
                  <a:srgbClr val="FFFFFF"/>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rgbClr val="FFFFFF"/>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rgbClr val="FFFFFF"/>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rgbClr val="FFFFFF"/>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CA" sz="1200" dirty="0"/>
          </a:p>
          <a:p>
            <a:endParaRPr lang="en-CA" sz="1200" b="0" i="1" dirty="0"/>
          </a:p>
          <a:p>
            <a:endParaRPr lang="en-CA" sz="1200" b="0" dirty="0"/>
          </a:p>
        </p:txBody>
      </p:sp>
    </p:spTree>
    <p:extLst>
      <p:ext uri="{BB962C8B-B14F-4D97-AF65-F5344CB8AC3E}">
        <p14:creationId xmlns:p14="http://schemas.microsoft.com/office/powerpoint/2010/main" val="2580998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3"/>
            <p:custDataLst>
              <p:tags r:id="rId1"/>
            </p:custDataLst>
          </p:nvPr>
        </p:nvSpPr>
        <p:spPr/>
        <p:txBody>
          <a:bodyPr/>
          <a:lstStyle/>
          <a:p>
            <a:r>
              <a:rPr lang="en-CA" noProof="0" dirty="0"/>
              <a:t>© 2020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19869237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Report"/>
  <p:tag name="KEYWORD" val="REPORT"/>
  <p:tag name="TEMPLATEVERSION" val="10/11/2017 12:44:52"/>
  <p:tag name="UPSLIDELINKMODE" val="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XsejL16rGbY7HIC.DHPbqQ"/>
</p:tagLst>
</file>

<file path=ppt/tags/tag4.xml><?xml version="1.0" encoding="utf-8"?>
<p:tagLst xmlns:a="http://schemas.openxmlformats.org/drawingml/2006/main" xmlns:r="http://schemas.openxmlformats.org/officeDocument/2006/relationships" xmlns:p="http://schemas.openxmlformats.org/presentationml/2006/main">
  <p:tag name="ADV_TOP" val="498.9191"/>
  <p:tag name="ADV_LEFT" val="136.3465"/>
  <p:tag name="ADV_HEIGHT" val="14.54063"/>
  <p:tag name="ADV_WIDTH" val="497.4803"/>
  <p:tag name="ADV_COPYRIGHT" val="TRU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2rsB7E1f88mW4jZiX4aW2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9bSDoJNkPi66fRGV9KL3vQ"/>
</p:tagLst>
</file>

<file path=ppt/tags/tag18.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9.xml><?xml version="1.0" encoding="utf-8"?>
<p:tagLst xmlns:a="http://schemas.openxmlformats.org/drawingml/2006/main" xmlns:r="http://schemas.openxmlformats.org/officeDocument/2006/relationships" xmlns:p="http://schemas.openxmlformats.org/presentationml/2006/main">
  <p:tag name="LAST UPDATE DATE" val="338425716.929978"/>
  <p:tag name="IMPORTID" val="5789338367772.77206"/>
  <p:tag name="WBLAST" val="\\cagtafsr04\_Advisory\Transactions Advisory\Clients\Transaction Services\F\Finastra\Project Yukon\Staff files\Project Yukon_draftdatabook_21 Sep 2020 v2.xlsb"/>
  <p:tag name="USER NAME" val="jlnu"/>
  <p:tag name="TYPE" val="1"/>
  <p:tag name="SOURCENAME" val="Income statement"/>
  <p:tag name="SHEETID" val="Monthly IS"/>
  <p:tag name="PICTUREAPPEARANCE" val="xlPrinter"/>
  <p:tag name="NORESIZEONUPDATE" val="False"/>
  <p:tag name="HIDDENRANGE" val=""/>
</p:tagLst>
</file>

<file path=ppt/tags/tag20.xml><?xml version="1.0" encoding="utf-8"?>
<p:tagLst xmlns:a="http://schemas.openxmlformats.org/drawingml/2006/main" xmlns:r="http://schemas.openxmlformats.org/officeDocument/2006/relationships" xmlns:p="http://schemas.openxmlformats.org/presentationml/2006/main">
  <p:tag name="LAST UPDATE DATE" val="338408382.261755"/>
  <p:tag name="IMPORTID" val="52338368453.267135"/>
  <p:tag name="WBLAST" val="\\cagtafsr04\_Advisory\Transactions Advisory\Clients\Transaction Services\F\Finastra\Project Yukon\Staff files\Project Yukon_draftdatabook_21 Sep 2020 v2.xlsb"/>
  <p:tag name="USER NAME" val="jlnu"/>
  <p:tag name="TYPE" val="1"/>
  <p:tag name="SOURCENAME" val="Balance sheet"/>
  <p:tag name="SHEETID" val="Monthly BS"/>
  <p:tag name="PICTUREAPPEARANCE" val="xlPrinter"/>
  <p:tag name="NORESIZEONUPDATE" val="False"/>
  <p:tag name="HIDDENRANGE" val=""/>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ECzvfHmTU8nZV4ZxZvQCOQ"/>
</p:tagLst>
</file>

<file path=ppt/tags/tag23.xml><?xml version="1.0" encoding="utf-8"?>
<p:tagLst xmlns:a="http://schemas.openxmlformats.org/drawingml/2006/main" xmlns:r="http://schemas.openxmlformats.org/officeDocument/2006/relationships" xmlns:p="http://schemas.openxmlformats.org/presentationml/2006/main">
  <p:tag name="LAST UPDATE DATE" val="339728404.221824"/>
  <p:tag name="IMPORTID" val="2413338395869.227341"/>
  <p:tag name="WBLAST" val="\\cagtafsr04\_Advisory\Transactions Advisory\Clients\Transaction Services\F\Finastra\Project Yukon\Staff files\Project Yukon_draftdatabook_6 Oct 2020.xlsb"/>
  <p:tag name="USER NAME" val="jlnu"/>
  <p:tag name="TYPE" val="1"/>
  <p:tag name="SOURCENAME" val="Net debt"/>
  <p:tag name="SHEETID" val="Net Debt"/>
  <p:tag name="PICTUREAPPEARANCE" val="xlPrinter"/>
  <p:tag name="NORESIZEONUPDATE" val="False"/>
  <p:tag name="HIDDENRANGE" val=""/>
</p:tagLst>
</file>

<file path=ppt/tags/tag24.xml><?xml version="1.0" encoding="utf-8"?>
<p:tagLst xmlns:a="http://schemas.openxmlformats.org/drawingml/2006/main" xmlns:r="http://schemas.openxmlformats.org/officeDocument/2006/relationships" xmlns:p="http://schemas.openxmlformats.org/presentationml/2006/main">
  <p:tag name="LAST UPDATE DATE" val="339699488.605988"/>
  <p:tag name="IMPORTID" val="8712338425201.941023"/>
  <p:tag name="WBLAST" val="\\cagtafsr04\_Advisory\Transactions Advisory\Clients\Transaction Services\F\Finastra\Project Yukon\Staff files\Project Yukon_draftdatabook_6 Oct 2020.xlsb"/>
  <p:tag name="USER NAME" val="jlnu"/>
  <p:tag name="TYPE" val="1"/>
  <p:tag name="SOURCENAME" val="Adjusted income statement"/>
  <p:tag name="SHEETID" val="Adjusted IS - for ES pt"/>
  <p:tag name="PICTUREAPPEARANCE" val="xlPrinter"/>
  <p:tag name="NORESIZEONUPDATE" val="False"/>
  <p:tag name="HIDDENRANGE" val=""/>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ECzvfHmTU8nZV4ZxZvQCOQ"/>
</p:tagLst>
</file>

<file path=ppt/tags/tag27.xml><?xml version="1.0" encoding="utf-8"?>
<p:tagLst xmlns:a="http://schemas.openxmlformats.org/drawingml/2006/main" xmlns:r="http://schemas.openxmlformats.org/officeDocument/2006/relationships" xmlns:p="http://schemas.openxmlformats.org/presentationml/2006/main">
  <p:tag name="LAST UPDATE DATE" val="338656604.025045"/>
  <p:tag name="IMPORTID" val="6139338656604.025045"/>
  <p:tag name="WBLAST" val="\\cagtafsr04\_Advisory\Transactions Advisory\Clients\Transaction Services\F\Finastra\Project Yukon\Staff files\Project Yukon_draftdatabook_24 Sep 2020.xlsb"/>
  <p:tag name="USER NAME" val="jlnu"/>
  <p:tag name="TYPE" val="2"/>
  <p:tag name="SOURCENAME" val="Revenue and subscription (Chart1)"/>
  <p:tag name="SHEETID" val="Subscription | Vintage &amp; count"/>
  <p:tag name="PICTUREAPPEARANCE" val="xlPrinter"/>
  <p:tag name="NORESIZEONUPDATE" val="False"/>
  <p:tag name="HIDDENRANGE" val=""/>
</p:tagLst>
</file>

<file path=ppt/tags/tag28.xml><?xml version="1.0" encoding="utf-8"?>
<p:tagLst xmlns:a="http://schemas.openxmlformats.org/drawingml/2006/main" xmlns:r="http://schemas.openxmlformats.org/officeDocument/2006/relationships" xmlns:p="http://schemas.openxmlformats.org/presentationml/2006/main">
  <p:tag name="LAST UPDATE DATE" val="338734110.425419"/>
  <p:tag name="IMPORTID" val="1411338415711.959628"/>
  <p:tag name="WBLAST" val="\\Cagtafsr04\_advisory\Transactions Advisory\Clients\Transaction Services\F\Finastra\Project Yukon\Staff files\Project Yukon_draftdatabook_24 Sep 2020v2.xlsb"/>
  <p:tag name="USER NAME" val="eddiechan"/>
  <p:tag name="TYPE" val="1"/>
  <p:tag name="SOURCENAME" val="Subscriber summary"/>
  <p:tag name="SHEETID" val="Subscription | Vintage ($)"/>
  <p:tag name="PICTUREAPPEARANCE" val="xlPrinter"/>
  <p:tag name="NORESIZEONUPDATE" val="False"/>
  <p:tag name="HIDDENRANGE" val=""/>
</p:tagLst>
</file>

<file path=ppt/tags/tag29.xml><?xml version="1.0" encoding="utf-8"?>
<p:tagLst xmlns:a="http://schemas.openxmlformats.org/drawingml/2006/main" xmlns:r="http://schemas.openxmlformats.org/officeDocument/2006/relationships" xmlns:p="http://schemas.openxmlformats.org/presentationml/2006/main">
  <p:tag name="LAST UPDATE DATE" val="338734580.267715"/>
  <p:tag name="IMPORTID" val="4220338734453.814617"/>
  <p:tag name="WBLAST" val="\\Cagtafsr04\_advisory\Transactions Advisory\Clients\Transaction Services\F\Finastra\Project Yukon\Staff files\Project Yukon_draftdatabook_24 Sep 2020v2.xlsb"/>
  <p:tag name="USER NAME" val="eddiechan"/>
  <p:tag name="TYPE" val="2"/>
  <p:tag name="SOURCENAME" val=" Avg price per username  (Chart1)"/>
  <p:tag name="SHEETID" val="Subscription | Vintage ($)"/>
  <p:tag name="PICTUREAPPEARANCE" val="xlPrinter"/>
  <p:tag name="NORESIZEONUPDATE" val="False"/>
  <p:tag name="HIDDENRANGE" val=""/>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ECzvfHmTU8nZV4ZxZvQCOQ"/>
</p:tagLst>
</file>

<file path=ppt/tags/tag32.xml><?xml version="1.0" encoding="utf-8"?>
<p:tagLst xmlns:a="http://schemas.openxmlformats.org/drawingml/2006/main" xmlns:r="http://schemas.openxmlformats.org/officeDocument/2006/relationships" xmlns:p="http://schemas.openxmlformats.org/presentationml/2006/main">
  <p:tag name="LAST UPDATE DATE" val="339782729.759888"/>
  <p:tag name="IMPORTID" val="5388339119872.603657"/>
  <p:tag name="WBLAST" val="\\cagtafsr04\_Advisory\Transactions Advisory\Clients\Transaction Services\F\Finastra\Project Yukon\Staff files\Project Yukon_draftdatabook_7 Oct 2020.xlsb"/>
  <p:tag name="USER NAME" val="jlnu"/>
  <p:tag name="TYPE" val="1"/>
  <p:tag name="SOURCENAME" val="Net working capital "/>
  <p:tag name="SHEETID" val="NWC | Detail"/>
  <p:tag name="PICTUREAPPEARANCE" val="xlPrinter"/>
  <p:tag name="NORESIZEONUPDATE" val="False"/>
  <p:tag name="HIDDENRANGE" val=""/>
</p:tagLst>
</file>

<file path=ppt/tags/tag33.xml><?xml version="1.0" encoding="utf-8"?>
<p:tagLst xmlns:a="http://schemas.openxmlformats.org/drawingml/2006/main" xmlns:r="http://schemas.openxmlformats.org/officeDocument/2006/relationships" xmlns:p="http://schemas.openxmlformats.org/presentationml/2006/main">
  <p:tag name="LAST UPDATE DATE" val="339699882.357023"/>
  <p:tag name="IMPORTID" val="8712338425201.941023"/>
  <p:tag name="WBLAST" val="\\cagtafsr04\_Advisory\Transactions Advisory\Clients\Transaction Services\F\Finastra\Project Yukon\Staff files\Project Yukon_draftdatabook_6 Oct 2020.xlsb"/>
  <p:tag name="USER NAME" val="jlnu"/>
  <p:tag name="TYPE" val="1"/>
  <p:tag name="SOURCENAME" val="Adjusted income statement"/>
  <p:tag name="SHEETID" val="Adjusted IS - for ES pt"/>
  <p:tag name="PICTUREAPPEARANCE" val="xlPrinter"/>
  <p:tag name="NORESIZEONUPDATE" val="False"/>
  <p:tag name="HIDDENRANGE" val=""/>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TiZQjS1fD9fDA4VNGuGde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38.xml><?xml version="1.0" encoding="utf-8"?>
<p:tagLst xmlns:a="http://schemas.openxmlformats.org/drawingml/2006/main" xmlns:r="http://schemas.openxmlformats.org/officeDocument/2006/relationships" xmlns:p="http://schemas.openxmlformats.org/presentationml/2006/main">
  <p:tag name="FASFONT" val="Univers55"/>
</p:tagLst>
</file>

<file path=ppt/tags/tag39.xml><?xml version="1.0" encoding="utf-8"?>
<p:tagLst xmlns:a="http://schemas.openxmlformats.org/drawingml/2006/main" xmlns:r="http://schemas.openxmlformats.org/officeDocument/2006/relationships" xmlns:p="http://schemas.openxmlformats.org/presentationml/2006/main">
  <p:tag name="LAST UPDATE DATE" val="339699959.999754"/>
  <p:tag name="IMPORTID" val="5531338349339.276764"/>
  <p:tag name="WBLAST" val="\\cagtafsr04\_Advisory\Transactions Advisory\Clients\Transaction Services\F\Finastra\Project Yukon\Staff files\Project Yukon_draftdatabook_6 Oct 2020.xlsb"/>
  <p:tag name="USER NAME" val="jlnu"/>
  <p:tag name="TYPE" val="1"/>
  <p:tag name="SOURCENAME" val="Quality of Earnings"/>
  <p:tag name="SHEETID" val="QofE | Detail"/>
  <p:tag name="PICTUREAPPEARANCE" val="xlPrinter"/>
  <p:tag name="NORESIZEONUPDATE" val="False"/>
  <p:tag name="HIDDENRANGE" val=""/>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42.xml><?xml version="1.0" encoding="utf-8"?>
<p:tagLst xmlns:a="http://schemas.openxmlformats.org/drawingml/2006/main" xmlns:r="http://schemas.openxmlformats.org/officeDocument/2006/relationships" xmlns:p="http://schemas.openxmlformats.org/presentationml/2006/main">
  <p:tag name="LAST UPDATE DATE" val="339700050.039199"/>
  <p:tag name="IMPORTID" val="5531338349339.276764"/>
  <p:tag name="WBLAST" val="\\cagtafsr04\_Advisory\Transactions Advisory\Clients\Transaction Services\F\Finastra\Project Yukon\Staff files\Project Yukon_draftdatabook_6 Oct 2020.xlsb"/>
  <p:tag name="USER NAME" val="jlnu"/>
  <p:tag name="TYPE" val="1"/>
  <p:tag name="SOURCENAME" val="Quality of Earnings"/>
  <p:tag name="SHEETID" val="QofE | Detail"/>
  <p:tag name="PICTUREAPPEARANCE" val="xlPrinter"/>
  <p:tag name="NORESIZEONUPDATE" val="False"/>
  <p:tag name="HIDDENRANGE" val=""/>
</p:tagLst>
</file>

<file path=ppt/tags/tag43.xml><?xml version="1.0" encoding="utf-8"?>
<p:tagLst xmlns:a="http://schemas.openxmlformats.org/drawingml/2006/main" xmlns:r="http://schemas.openxmlformats.org/officeDocument/2006/relationships" xmlns:p="http://schemas.openxmlformats.org/presentationml/2006/main">
  <p:tag name="LAST UPDATE DATE" val="338350968.530008"/>
  <p:tag name="IMPORTID" val="9327338350948.767717"/>
  <p:tag name="WBLAST" val="\\cagtafsr04\_Advisory\Transactions Advisory\Clients\Transaction Services\F\Finastra\Project Yukon\Staff files\Project Yukon_draftdatabook_20 Sep 2020.xlsb"/>
  <p:tag name="USER NAME" val="jlnu"/>
  <p:tag name="TYPE" val="1"/>
  <p:tag name="SOURCENAME" val="Rent"/>
  <p:tag name="SHEETID" val="QofE adjustment"/>
  <p:tag name="PICTUREAPPEARANCE" val="xlPrinter"/>
  <p:tag name="NORESIZEONUPDATE" val="False"/>
  <p:tag name="HIDDENRANGE" val=""/>
</p:tagLst>
</file>

<file path=ppt/tags/tag44.xml><?xml version="1.0" encoding="utf-8"?>
<p:tagLst xmlns:a="http://schemas.openxmlformats.org/drawingml/2006/main" xmlns:r="http://schemas.openxmlformats.org/officeDocument/2006/relationships" xmlns:p="http://schemas.openxmlformats.org/presentationml/2006/main">
  <p:tag name="LAST UPDATE DATE" val="338351089.603055"/>
  <p:tag name="IMPORTID" val="448338351089.603055"/>
  <p:tag name="WBLAST" val="\\cagtafsr04\_Advisory\Transactions Advisory\Clients\Transaction Services\F\Finastra\Project Yukon\Staff files\Project Yukon_draftdatabook_20 Sep 2020.xlsb"/>
  <p:tag name="USER NAME" val="jlnu"/>
  <p:tag name="TYPE" val="1"/>
  <p:tag name="SOURCENAME" val="Professional fees - accounting"/>
  <p:tag name="SHEETID" val="QofE adjustment"/>
  <p:tag name="PICTUREAPPEARANCE" val="xlPrinter"/>
  <p:tag name="NORESIZEONUPDATE" val="False"/>
  <p:tag name="HIDDENRANGE" val=""/>
</p:tagLst>
</file>

<file path=ppt/tags/tag45.xml><?xml version="1.0" encoding="utf-8"?>
<p:tagLst xmlns:a="http://schemas.openxmlformats.org/drawingml/2006/main" xmlns:r="http://schemas.openxmlformats.org/officeDocument/2006/relationships" xmlns:p="http://schemas.openxmlformats.org/presentationml/2006/main">
  <p:tag name="LAST UPDATE DATE" val="339700050.039199"/>
  <p:tag name="IMPORTID" val="5531338349339.276764"/>
  <p:tag name="WBLAST" val="\\cagtafsr04\_Advisory\Transactions Advisory\Clients\Transaction Services\F\Finastra\Project Yukon\Staff files\Project Yukon_draftdatabook_6 Oct 2020.xlsb"/>
  <p:tag name="USER NAME" val="jlnu"/>
  <p:tag name="TYPE" val="1"/>
  <p:tag name="SOURCENAME" val="Quality of Earnings"/>
  <p:tag name="SHEETID" val="QofE | Detail"/>
  <p:tag name="PICTUREAPPEARANCE" val="xlPrinter"/>
  <p:tag name="NORESIZEONUPDATE" val="False"/>
  <p:tag name="HIDDENRANGE" val=""/>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48.xml><?xml version="1.0" encoding="utf-8"?>
<p:tagLst xmlns:a="http://schemas.openxmlformats.org/drawingml/2006/main" xmlns:r="http://schemas.openxmlformats.org/officeDocument/2006/relationships" xmlns:p="http://schemas.openxmlformats.org/presentationml/2006/main">
  <p:tag name="LAST UPDATE DATE" val="338488619.891511"/>
  <p:tag name="IMPORTID" val="890338352880.371313"/>
  <p:tag name="WBLAST" val="\\cagtafsr04\_Advisory\Transactions Advisory\Clients\Transaction Services\F\Finastra\Project Yukon\Staff files\Project Yukon_draftdatabook_22 Sep 2020.xlsb"/>
  <p:tag name="USER NAME" val="jlnu"/>
  <p:tag name="TYPE" val="1"/>
  <p:tag name="SOURCENAME" val="Subscriber run-rate"/>
  <p:tag name="SHEETID" val="QofE adjustment"/>
  <p:tag name="PICTUREAPPEARANCE" val="xlPrinter"/>
  <p:tag name="NORESIZEONUPDATE" val="False"/>
  <p:tag name="HIDDENRANGE" val=""/>
</p:tagLst>
</file>

<file path=ppt/tags/tag49.xml><?xml version="1.0" encoding="utf-8"?>
<p:tagLst xmlns:a="http://schemas.openxmlformats.org/drawingml/2006/main" xmlns:r="http://schemas.openxmlformats.org/officeDocument/2006/relationships" xmlns:p="http://schemas.openxmlformats.org/presentationml/2006/main">
  <p:tag name="LAST UPDATE DATE" val="339700125.410155"/>
  <p:tag name="IMPORTID" val="1175338659941.963799"/>
  <p:tag name="WBLAST" val="\\cagtafsr04\_Advisory\Transactions Advisory\Clients\Transaction Services\F\Finastra\Project Yukon\Staff files\Project Yukon_draftdatabook_6 Oct 2020.xlsb"/>
  <p:tag name="USER NAME" val="jlnu"/>
  <p:tag name="TYPE" val="1"/>
  <p:tag name="SOURCENAME" val="FTE payroll adjustment"/>
  <p:tag name="SHEETID" val="QofE adjustment"/>
  <p:tag name="PICTUREAPPEARANCE" val="xlPrinter"/>
  <p:tag name="NORESIZEONUPDATE" val="False"/>
  <p:tag name="HIDDENRANGE" val=""/>
</p:tagLst>
</file>

<file path=ppt/tags/tag50.xml><?xml version="1.0" encoding="utf-8"?>
<p:tagLst xmlns:a="http://schemas.openxmlformats.org/drawingml/2006/main" xmlns:r="http://schemas.openxmlformats.org/officeDocument/2006/relationships" xmlns:p="http://schemas.openxmlformats.org/presentationml/2006/main">
  <p:tag name="LAST UPDATE DATE" val="339700050.039199"/>
  <p:tag name="IMPORTID" val="5531338349339.276764"/>
  <p:tag name="WBLAST" val="\\cagtafsr04\_Advisory\Transactions Advisory\Clients\Transaction Services\F\Finastra\Project Yukon\Staff files\Project Yukon_draftdatabook_6 Oct 2020.xlsb"/>
  <p:tag name="USER NAME" val="jlnu"/>
  <p:tag name="TYPE" val="1"/>
  <p:tag name="SOURCENAME" val="Quality of Earnings"/>
  <p:tag name="SHEETID" val="QofE | Detail"/>
  <p:tag name="PICTUREAPPEARANCE" val="xlPrinter"/>
  <p:tag name="NORESIZEONUPDATE" val="False"/>
  <p:tag name="HIDDENRANGE" val=""/>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53.xml><?xml version="1.0" encoding="utf-8"?>
<p:tagLst xmlns:a="http://schemas.openxmlformats.org/drawingml/2006/main" xmlns:r="http://schemas.openxmlformats.org/officeDocument/2006/relationships" xmlns:p="http://schemas.openxmlformats.org/presentationml/2006/main">
  <p:tag name="LAST UPDATE DATE" val="339700142.291861"/>
  <p:tag name="IMPORTID" val="1175338659941.963799"/>
  <p:tag name="WBLAST" val="\\cagtafsr04\_Advisory\Transactions Advisory\Clients\Transaction Services\F\Finastra\Project Yukon\Staff files\Project Yukon_draftdatabook_6 Oct 2020.xlsb"/>
  <p:tag name="USER NAME" val="jlnu"/>
  <p:tag name="TYPE" val="1"/>
  <p:tag name="SOURCENAME" val="FTE payroll adjustment"/>
  <p:tag name="SHEETID" val="QofE adjustment"/>
  <p:tag name="PICTUREAPPEARANCE" val="xlPrinter"/>
  <p:tag name="NORESIZEONUPDATE" val="False"/>
  <p:tag name="HIDDENRANGE" val=""/>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56.xml><?xml version="1.0" encoding="utf-8"?>
<p:tagLst xmlns:a="http://schemas.openxmlformats.org/drawingml/2006/main" xmlns:r="http://schemas.openxmlformats.org/officeDocument/2006/relationships" xmlns:p="http://schemas.openxmlformats.org/presentationml/2006/main">
  <p:tag name="LAST UPDATE DATE" val="338412181.160677"/>
  <p:tag name="IMPORTID" val="7904338357395.846401"/>
  <p:tag name="WBLAST" val="\\cagtafsr04\_Advisory\Transactions Advisory\Clients\Transaction Services\F\Finastra\Project Yukon\Staff files\Project Yukon_draftdatabook_21 Sep 2020 v2.xlsb"/>
  <p:tag name="USER NAME" val="jlnu"/>
  <p:tag name="TYPE" val="1"/>
  <p:tag name="SOURCENAME" val="Software licenses"/>
  <p:tag name="SHEETID" val="QofE adjustment"/>
  <p:tag name="PICTUREAPPEARANCE" val="xlPrinter"/>
  <p:tag name="NORESIZEONUPDATE" val="False"/>
  <p:tag name="HIDDENRANGE" val=""/>
</p:tagLst>
</file>

<file path=ppt/tags/tag57.xml><?xml version="1.0" encoding="utf-8"?>
<p:tagLst xmlns:a="http://schemas.openxmlformats.org/drawingml/2006/main" xmlns:r="http://schemas.openxmlformats.org/officeDocument/2006/relationships" xmlns:p="http://schemas.openxmlformats.org/presentationml/2006/main">
  <p:tag name="LAST UPDATE DATE" val="338358675.32412"/>
  <p:tag name="IMPORTID" val="6824338358608.023066"/>
  <p:tag name="WBLAST" val="\\cagtafsr04\_Advisory\Transactions Advisory\Clients\Transaction Services\F\Finastra\Project Yukon\Staff files\Project Yukon_draftdatabook_20 Sep 2020.xlsb"/>
  <p:tag name="USER NAME" val="jlnu"/>
  <p:tag name="TYPE" val="1"/>
  <p:tag name="SOURCENAME" val="Rent - pro forma"/>
  <p:tag name="SHEETID" val="QofE adjustment"/>
  <p:tag name="PICTUREAPPEARANCE" val="xlPrinter"/>
  <p:tag name="NORESIZEONUPDATE" val="False"/>
  <p:tag name="HIDDENRANGE" val=""/>
</p:tagLst>
</file>

<file path=ppt/tags/tag58.xml><?xml version="1.0" encoding="utf-8"?>
<p:tagLst xmlns:a="http://schemas.openxmlformats.org/drawingml/2006/main" xmlns:r="http://schemas.openxmlformats.org/officeDocument/2006/relationships" xmlns:p="http://schemas.openxmlformats.org/presentationml/2006/main">
  <p:tag name="LAST UPDATE DATE" val="339700050.039199"/>
  <p:tag name="IMPORTID" val="5531338349339.276764"/>
  <p:tag name="WBLAST" val="\\cagtafsr04\_Advisory\Transactions Advisory\Clients\Transaction Services\F\Finastra\Project Yukon\Staff files\Project Yukon_draftdatabook_6 Oct 2020.xlsb"/>
  <p:tag name="USER NAME" val="jlnu"/>
  <p:tag name="TYPE" val="1"/>
  <p:tag name="SOURCENAME" val="Quality of Earnings"/>
  <p:tag name="SHEETID" val="QofE | Detail"/>
  <p:tag name="PICTUREAPPEARANCE" val="xlPrinter"/>
  <p:tag name="NORESIZEONUPDATE" val="False"/>
  <p:tag name="HIDDENRANGE" val=""/>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2O5pyEBTp7sglI14URq2g"/>
</p:tagLst>
</file>

<file path=ppt/tags/tag61.xml><?xml version="1.0" encoding="utf-8"?>
<p:tagLst xmlns:a="http://schemas.openxmlformats.org/drawingml/2006/main" xmlns:r="http://schemas.openxmlformats.org/officeDocument/2006/relationships" xmlns:p="http://schemas.openxmlformats.org/presentationml/2006/main">
  <p:tag name="LAST UPDATE DATE" val="339122442.610623"/>
  <p:tag name="IMPORTID" val="1946339122422.907833"/>
  <p:tag name="WBLAST" val="\\cagtafsr04\_Advisory\Transactions Advisory\Clients\Transaction Services\F\Finastra\Project Yukon\Staff files\Project Yukon_draftdatabook_29 Sep 2020.xlsb"/>
  <p:tag name="USER NAME" val="jlnu"/>
  <p:tag name="TYPE" val="1"/>
  <p:tag name="SOURCENAME" val="Benefits"/>
  <p:tag name="SHEETID" val="Personnel analysis"/>
  <p:tag name="PICTUREAPPEARANCE" val="xlPrinter"/>
  <p:tag name="NORESIZEONUPDATE" val="False"/>
  <p:tag name="HIDDENRANGE" val=""/>
</p:tagLst>
</file>

<file path=ppt/tags/tag62.xml><?xml version="1.0" encoding="utf-8"?>
<p:tagLst xmlns:a="http://schemas.openxmlformats.org/drawingml/2006/main" xmlns:r="http://schemas.openxmlformats.org/officeDocument/2006/relationships" xmlns:p="http://schemas.openxmlformats.org/presentationml/2006/main">
  <p:tag name="LAST UPDATE DATE" val="339701091.763014"/>
  <p:tag name="IMPORTID" val="156339701091.763014"/>
  <p:tag name="WBLAST" val="\\cagtafsr04\_Advisory\Transactions Advisory\Clients\Transaction Services\F\Finastra\Project Yukon\Staff files\Project Yukon_draftdatabook_6 Oct 2020.xlsb"/>
  <p:tag name="USER NAME" val="jlnu"/>
  <p:tag name="TYPE" val="1"/>
  <p:tag name="SOURCENAME" val="Employees with stock options"/>
  <p:tag name="SHEETID" val="FTE analysis actual"/>
  <p:tag name="PICTUREAPPEARANCE" val="xlPrinter"/>
  <p:tag name="NORESIZEONUPDATE" val="False"/>
  <p:tag name="HIDDENRANGE" val=""/>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SrsPYvY9StHDW._QQ3W47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UayNPJ2CfYXqhEpKj3f88Q"/>
</p:tagLst>
</file>

<file path=ppt/tags/tag67.xml><?xml version="1.0" encoding="utf-8"?>
<p:tagLst xmlns:a="http://schemas.openxmlformats.org/drawingml/2006/main" xmlns:r="http://schemas.openxmlformats.org/officeDocument/2006/relationships" xmlns:p="http://schemas.openxmlformats.org/presentationml/2006/main">
  <p:tag name="LAST UPDATE DATE" val="339122691.705803"/>
  <p:tag name="IMPORTID" val="2524339122647.612789"/>
  <p:tag name="WBLAST" val="\\cagtafsr04\_Advisory\Transactions Advisory\Clients\Transaction Services\F\Finastra\Project Yukon\Staff files\Project Yukon_draftdatabook_29 Sep 2020.xlsb"/>
  <p:tag name="USER NAME" val="jlnu"/>
  <p:tag name="TYPE" val="1"/>
  <p:tag name="SOURCENAME" val="Stratified balance sheet"/>
  <p:tag name="SHEETID" val="Stratified BS"/>
  <p:tag name="PICTUREAPPEARANCE" val="xlPrinter"/>
  <p:tag name="NORESIZEONUPDATE" val="False"/>
  <p:tag name="HIDDENRANGE" val=""/>
</p:tagLst>
</file>

<file path=ppt/tags/tag68.xml><?xml version="1.0" encoding="utf-8"?>
<p:tagLst xmlns:a="http://schemas.openxmlformats.org/drawingml/2006/main" xmlns:r="http://schemas.openxmlformats.org/officeDocument/2006/relationships" xmlns:p="http://schemas.openxmlformats.org/presentationml/2006/main">
  <p:tag name="LAST UPDATE DATE" val="338363350.36277"/>
  <p:tag name="IMPORTID" val="2940338363326.969753"/>
  <p:tag name="WBLAST" val="\\cagtafsr04\_Advisory\Transactions Advisory\Clients\Transaction Services\F\Finastra\Project Yukon\Staff files\Project Yukon_draftdatabook_20 Sep 2020.xlsb"/>
  <p:tag name="USER NAME" val="jlnu"/>
  <p:tag name="TYPE" val="2"/>
  <p:tag name="SOURCENAME" val="Net working capital (Chart 1)"/>
  <p:tag name="SHEETID" val="NWC | Adj"/>
  <p:tag name="PICTUREAPPEARANCE" val="xlPrinter"/>
  <p:tag name="NORESIZEONUPDATE" val="False"/>
  <p:tag name="HIDDENRANGE" val=""/>
</p:tagLst>
</file>

<file path=ppt/tags/tag69.xml><?xml version="1.0" encoding="utf-8"?>
<p:tagLst xmlns:a="http://schemas.openxmlformats.org/drawingml/2006/main" xmlns:r="http://schemas.openxmlformats.org/officeDocument/2006/relationships" xmlns:p="http://schemas.openxmlformats.org/presentationml/2006/main">
  <p:tag name="FASFONT" val="Univers55"/>
</p:tagLst>
</file>

<file path=ppt/tags/tag70.xml><?xml version="1.0" encoding="utf-8"?>
<p:tagLst xmlns:a="http://schemas.openxmlformats.org/drawingml/2006/main" xmlns:r="http://schemas.openxmlformats.org/officeDocument/2006/relationships" xmlns:p="http://schemas.openxmlformats.org/presentationml/2006/main">
  <p:tag name="LAST UPDATE DATE" val="339782782.213398"/>
  <p:tag name="IMPORTID" val="5388339119872.603657"/>
  <p:tag name="WBLAST" val="\\cagtafsr04\_Advisory\Transactions Advisory\Clients\Transaction Services\F\Finastra\Project Yukon\Staff files\Project Yukon_draftdatabook_7 Oct 2020.xlsb"/>
  <p:tag name="USER NAME" val="jlnu"/>
  <p:tag name="TYPE" val="1"/>
  <p:tag name="SOURCENAME" val="Net working capital "/>
  <p:tag name="SHEETID" val="NWC | Detail"/>
  <p:tag name="PICTUREAPPEARANCE" val="xlPrinter"/>
  <p:tag name="NORESIZEONUPDATE" val="False"/>
  <p:tag name="HIDDENRANGE" val=""/>
</p:tagLst>
</file>

<file path=ppt/tags/tag71.xml><?xml version="1.0" encoding="utf-8"?>
<p:tagLst xmlns:a="http://schemas.openxmlformats.org/drawingml/2006/main" xmlns:r="http://schemas.openxmlformats.org/officeDocument/2006/relationships" xmlns:p="http://schemas.openxmlformats.org/presentationml/2006/main">
  <p:tag name="LAST UPDATE DATE" val="339728301.568295"/>
  <p:tag name="IMPORTID" val="2413338395869.227341"/>
  <p:tag name="WBLAST" val="\\cagtafsr04\_Advisory\Transactions Advisory\Clients\Transaction Services\F\Finastra\Project Yukon\Staff files\Project Yukon_draftdatabook_6 Oct 2020.xlsb"/>
  <p:tag name="USER NAME" val="jlnu"/>
  <p:tag name="TYPE" val="1"/>
  <p:tag name="SOURCENAME" val="Net debt"/>
  <p:tag name="SHEETID" val="Net Debt"/>
  <p:tag name="PICTUREAPPEARANCE" val="xlPrinter"/>
  <p:tag name="NORESIZEONUPDATE" val="False"/>
  <p:tag name="HIDDENRANGE" val=""/>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2pjq81V7uw4vV.UVfaR2x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LAST UPDATE DATE" val="339701626.502588"/>
  <p:tag name="IMPORTID" val="8712338425201.941023"/>
  <p:tag name="WBLAST" val="\\cagtafsr04\_Advisory\Transactions Advisory\Clients\Transaction Services\F\Finastra\Project Yukon\Staff files\Project Yukon_draftdatabook_6 Oct 2020.xlsb"/>
  <p:tag name="USER NAME" val="jlnu"/>
  <p:tag name="TYPE" val="1"/>
  <p:tag name="SOURCENAME" val="Adjusted income statement"/>
  <p:tag name="SHEETID" val="Adjusted IS"/>
  <p:tag name="PICTUREAPPEARANCE" val="xlPrinter"/>
  <p:tag name="NORESIZEONUPDATE" val="False"/>
  <p:tag name="HIDDENRANGE" val=""/>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LAST UPDATE DATE" val="339122860.107447"/>
  <p:tag name="IMPORTID" val="8082338733929.739725"/>
  <p:tag name="WBLAST" val="\\cagtafsr04\_Advisory\Transactions Advisory\Clients\Transaction Services\F\Finastra\Project Yukon\Staff files\Project Yukon_draftdatabook_29 Sep 2020.xlsb"/>
  <p:tag name="USER NAME" val="jlnu"/>
  <p:tag name="TYPE" val="1"/>
  <p:tag name="SOURCENAME" val="Revenue by subscription vintage"/>
  <p:tag name="SHEETID" val="Subscription | Vintage &amp; count"/>
  <p:tag name="PICTUREAPPEARANCE" val="xlPrinter"/>
  <p:tag name="NORESIZEONUPDATE" val="False"/>
  <p:tag name="HIDDENRANGE" val=""/>
</p:tagLst>
</file>

<file path=ppt/tags/tag78.xml><?xml version="1.0" encoding="utf-8"?>
<p:tagLst xmlns:a="http://schemas.openxmlformats.org/drawingml/2006/main" xmlns:r="http://schemas.openxmlformats.org/officeDocument/2006/relationships" xmlns:p="http://schemas.openxmlformats.org/presentationml/2006/main">
  <p:tag name="LAST UPDATE DATE" val="339122953.990487"/>
  <p:tag name="IMPORTID" val="3661338733901.847728"/>
  <p:tag name="WBLAST" val="\\cagtafsr04\_Advisory\Transactions Advisory\Clients\Transaction Services\F\Finastra\Project Yukon\Staff files\Project Yukon_draftdatabook_29 Sep 2020.xlsb"/>
  <p:tag name="USER NAME" val="jlnu"/>
  <p:tag name="TYPE" val="1"/>
  <p:tag name="SOURCENAME" val="Average revenue per subscription"/>
  <p:tag name="SHEETID" val="Subscription | Vintage ($)"/>
  <p:tag name="PICTUREAPPEARANCE" val="xlPrinter"/>
  <p:tag name="NORESIZEONUPDATE" val="False"/>
  <p:tag name="HIDDENRANGE" val=""/>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LAST UPDATE DATE" val="339701873.518418"/>
  <p:tag name="IMPORTID" val="9630338364815.232136"/>
  <p:tag name="WBLAST" val="\\cagtafsr04\_Advisory\Transactions Advisory\Clients\Transaction Services\F\Finastra\Project Yukon\Staff files\Project Yukon_draftdatabook_6 Oct 2020.xlsb"/>
  <p:tag name="USER NAME" val="jlnu"/>
  <p:tag name="TYPE" val="1"/>
  <p:tag name="SOURCENAME" val="FTE analysis (excluding terminated employees)"/>
  <p:tag name="SHEETID" val="FTE analysis actual"/>
  <p:tag name="PICTUREAPPEARANCE" val="xlPrinter"/>
  <p:tag name="NORESIZEONUPDATE" val="False"/>
  <p:tag name="HIDDENRANGE" val=""/>
</p:tagLst>
</file>

<file path=ppt/tags/tag81.xml><?xml version="1.0" encoding="utf-8"?>
<p:tagLst xmlns:a="http://schemas.openxmlformats.org/drawingml/2006/main" xmlns:r="http://schemas.openxmlformats.org/officeDocument/2006/relationships" xmlns:p="http://schemas.openxmlformats.org/presentationml/2006/main">
  <p:tag name="LAST UPDATE DATE" val="338365007.89413"/>
  <p:tag name="IMPORTID" val="4872338364561.28712"/>
  <p:tag name="WBLAST" val="\\cagtafsr04\_Advisory\Transactions Advisory\Clients\Transaction Services\F\Finastra\Project Yukon\Staff files\Project Yukon_draftdatabook_20 Sep 2020.xlsb"/>
  <p:tag name="USER NAME" val="jlnu"/>
  <p:tag name="TYPE" val="1"/>
  <p:tag name="SOURCENAME" val="Personnel analysis"/>
  <p:tag name="SHEETID" val="Personnel analysis"/>
  <p:tag name="PICTUREAPPEARANCE" val="xlPrinter"/>
  <p:tag name="NORESIZEONUPDATE" val="False"/>
  <p:tag name="HIDDENRANGE" val=""/>
</p:tagLst>
</file>

<file path=ppt/tags/tag82.xml><?xml version="1.0" encoding="utf-8"?>
<p:tagLst xmlns:a="http://schemas.openxmlformats.org/drawingml/2006/main" xmlns:r="http://schemas.openxmlformats.org/officeDocument/2006/relationships" xmlns:p="http://schemas.openxmlformats.org/presentationml/2006/main">
  <p:tag name="LAST UPDATE DATE" val="338421776.230336"/>
  <p:tag name="IMPORTID" val="1559338421776.230336"/>
  <p:tag name="WBLAST" val="\\cagtafsr04\_Advisory\Transactions Advisory\Clients\Transaction Services\F\Finastra\Project Yukon\Staff files\Project Yukon_draftdatabook_21 Sep 2020 v2.xlsb"/>
  <p:tag name="USER NAME" val="jlnu"/>
  <p:tag name="TYPE" val="1"/>
  <p:tag name="SOURCENAME" val="Software licenses, hosting and service charges"/>
  <p:tag name="SHEETID" val="QofE adjustment"/>
  <p:tag name="PICTUREAPPEARANCE" val="xlPrinter"/>
  <p:tag name="NORESIZEONUPDATE" val="False"/>
  <p:tag name="HIDDENRANGE" val=""/>
</p:tagLst>
</file>

<file path=ppt/tags/tag83.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KPMG_Report">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Personnalisé 4">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9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9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EN KPMG Report Template.potx" id="{4F54DAFC-0EC3-4B43-9507-A9B93D227559}" vid="{B0600B8B-3777-4627-9E9B-CB92E23A9FEB}"/>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0ACECE49572E49B9E2B6EEF15646F3" ma:contentTypeVersion="10" ma:contentTypeDescription="Create a new document." ma:contentTypeScope="" ma:versionID="8fdd78ded99f2352216c5d618f5b216c">
  <xsd:schema xmlns:xsd="http://www.w3.org/2001/XMLSchema" xmlns:xs="http://www.w3.org/2001/XMLSchema" xmlns:p="http://schemas.microsoft.com/office/2006/metadata/properties" xmlns:ns2="30996f19-b754-4f90-98d6-c022be1420b3" xmlns:ns3="ce774d3a-0da9-40f3-b86d-c9c3902288d7" targetNamespace="http://schemas.microsoft.com/office/2006/metadata/properties" ma:root="true" ma:fieldsID="412b5359f0c396b6faa7a13f838c7055" ns2:_="" ns3:_="">
    <xsd:import namespace="30996f19-b754-4f90-98d6-c022be1420b3"/>
    <xsd:import namespace="ce774d3a-0da9-40f3-b86d-c9c3902288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996f19-b754-4f90-98d6-c022be1420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e774d3a-0da9-40f3-b86d-c9c3902288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e5af1eb-79bf-4b24-8cd0-115ead010127}" ma:internalName="TaxCatchAll" ma:showField="CatchAllData" ma:web="ce774d3a-0da9-40f3-b86d-c9c3902288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0996f19-b754-4f90-98d6-c022be1420b3">
      <Terms xmlns="http://schemas.microsoft.com/office/infopath/2007/PartnerControls"/>
    </lcf76f155ced4ddcb4097134ff3c332f>
    <TaxCatchAll xmlns="ce774d3a-0da9-40f3-b86d-c9c3902288d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AAC31E-BA78-4E40-8AE9-92D49319F730}"/>
</file>

<file path=customXml/itemProps2.xml><?xml version="1.0" encoding="utf-8"?>
<ds:datastoreItem xmlns:ds="http://schemas.openxmlformats.org/officeDocument/2006/customXml" ds:itemID="{C415980A-3C1A-4E47-ADC9-F60CB808DD2C}">
  <ds:schemaRefs>
    <ds:schemaRef ds:uri="http://purl.org/dc/elements/1.1/"/>
    <ds:schemaRef ds:uri="http://schemas.openxmlformats.org/package/2006/metadata/core-properties"/>
    <ds:schemaRef ds:uri="http://purl.org/dc/dcmitype/"/>
    <ds:schemaRef ds:uri="http://www.w3.org/XML/1998/namespace"/>
    <ds:schemaRef ds:uri="http://purl.org/dc/terms/"/>
    <ds:schemaRef ds:uri="http://schemas.microsoft.com/office/2006/documentManagement/types"/>
    <ds:schemaRef ds:uri="09d49c7e-445b-4910-8492-95beb030dbf4"/>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C60DDA5-C969-4174-9820-D61CEE4025D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EN KPMG Report Template</Template>
  <TotalTime>38593</TotalTime>
  <Words>5528</Words>
  <Application>Microsoft Office PowerPoint</Application>
  <PresentationFormat>Letter Paper (8.5x11 in)</PresentationFormat>
  <Paragraphs>465</Paragraphs>
  <Slides>30</Slides>
  <Notes>25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9" baseType="lpstr">
      <vt:lpstr>Arial</vt:lpstr>
      <vt:lpstr>Calibri</vt:lpstr>
      <vt:lpstr>KPMG Extralight</vt:lpstr>
      <vt:lpstr>Times New Roman</vt:lpstr>
      <vt:lpstr>Univers for KPMG</vt:lpstr>
      <vt:lpstr>Univers for KPMG Light</vt:lpstr>
      <vt:lpstr>Wingdings</vt:lpstr>
      <vt:lpstr>KPMG_Report</vt:lpstr>
      <vt:lpstr>think-cell Slide</vt:lpstr>
      <vt:lpstr>Project Yukon          Due diligence assistance </vt:lpstr>
      <vt:lpstr>Important notice</vt:lpstr>
      <vt:lpstr>PowerPoint Presentation</vt:lpstr>
      <vt:lpstr>. Contents</vt:lpstr>
      <vt:lpstr>Overview Basis of presentation</vt:lpstr>
      <vt:lpstr>PowerPoint Presentation</vt:lpstr>
      <vt:lpstr>Overview Headlines (1)</vt:lpstr>
      <vt:lpstr>Overview Headlines (2)</vt:lpstr>
      <vt:lpstr>Overview Headlines (3)</vt:lpstr>
      <vt:lpstr>Overview Run-rate P&amp;L</vt:lpstr>
      <vt:lpstr>Quality of earnings</vt:lpstr>
      <vt:lpstr>Supporting analysis Quality of earnings (1) – Overview</vt:lpstr>
      <vt:lpstr>Supporting analysis Quality of earnings (2) – Diligence adjustments</vt:lpstr>
      <vt:lpstr>Supporting analysis Quality of earnings (3) – Pro forma adjustments</vt:lpstr>
      <vt:lpstr>Supporting analysis Quality of earnings (4) – Pro forma adjustments</vt:lpstr>
      <vt:lpstr>Supporting analysis Quality of earnings (4) – Pro forma adjustments and OC</vt:lpstr>
      <vt:lpstr>Supporting analysis Quality of earnings (5) – Other considerations</vt:lpstr>
      <vt:lpstr>Balance sheet and net working capital</vt:lpstr>
      <vt:lpstr>Supporting analysis Stratified balance sheet</vt:lpstr>
      <vt:lpstr>PowerPoint Presentation</vt:lpstr>
      <vt:lpstr>Supporting analysis: Net debt</vt:lpstr>
      <vt:lpstr>Appendix  </vt:lpstr>
      <vt:lpstr>PowerPoint Presentation</vt:lpstr>
      <vt:lpstr>PowerPoint Presentation</vt:lpstr>
      <vt:lpstr>PowerPoint Presentation</vt:lpstr>
      <vt:lpstr>PowerPoint Presentation</vt:lpstr>
      <vt:lpstr>PowerPoint Presentation</vt:lpstr>
      <vt:lpstr>Glossary</vt:lpstr>
      <vt:lpstr>Contacts</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Sigma</dc:title>
  <dc:creator>Vivolo, Matthew H</dc:creator>
  <cp:lastModifiedBy>Lnu, Juliana</cp:lastModifiedBy>
  <cp:revision>3372</cp:revision>
  <cp:lastPrinted>2019-11-27T23:19:36Z</cp:lastPrinted>
  <dcterms:created xsi:type="dcterms:W3CDTF">2017-12-11T14:58:08Z</dcterms:created>
  <dcterms:modified xsi:type="dcterms:W3CDTF">2021-02-09T02:59:59Z</dcterms:modified>
  <cp:category>KPMG Confidential</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PMG_LayoutGrid">
    <vt:lpwstr>0</vt:lpwstr>
  </property>
  <property fmtid="{D5CDD505-2E9C-101B-9397-08002B2CF9AE}" pid="3" name="ContentTypeId">
    <vt:lpwstr>0x010100B50ACECE49572E49B9E2B6EEF15646F3</vt:lpwstr>
  </property>
</Properties>
</file>