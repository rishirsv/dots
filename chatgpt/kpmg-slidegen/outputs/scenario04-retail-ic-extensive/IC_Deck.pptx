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2.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3.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4.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charts/chart5.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charts/chart6.xml" ContentType="application/vnd.openxmlformats-officedocument.drawingml.chart+xml"/>
  <Override PartName="/ppt/slideMasters/slideMaster18.xml" ContentType="application/vnd.openxmlformats-officedocument.presentationml.slideMaster+xml"/>
  <Override PartName="/ppt/slides/slide18.xml" ContentType="application/vnd.openxmlformats-officedocument.presentationml.slide+xml"/>
  <Override PartName="/ppt/charts/chart7.xml" ContentType="application/vnd.openxmlformats-officedocument.drawingml.chart+xml"/>
  <Override PartName="/ppt/slideMasters/slideMaster19.xml" ContentType="application/vnd.openxmlformats-officedocument.presentationml.slideMaster+xml"/>
  <Override PartName="/ppt/slides/slide19.xml" ContentType="application/vnd.openxmlformats-officedocument.presentationml.slide+xml"/>
  <Override PartName="/ppt/charts/chart8.xml" ContentType="application/vnd.openxmlformats-officedocument.drawingml.chart+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charts/chart9.xml" ContentType="application/vnd.openxmlformats-officedocument.drawingml.chart+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charts/chart10.xml" ContentType="application/vnd.openxmlformats-officedocument.drawingml.chart+xml"/>
  <Override PartName="/ppt/slideMasters/slideMaster25.xml" ContentType="application/vnd.openxmlformats-officedocument.presentationml.slideMaster+xml"/>
  <Override PartName="/ppt/slides/slide25.xml" ContentType="application/vnd.openxmlformats-officedocument.presentationml.slide+xml"/>
  <Override PartName="/ppt/charts/chart11.xml" ContentType="application/vnd.openxmlformats-officedocument.drawingml.chart+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charts/chart12.xml" ContentType="application/vnd.openxmlformats-officedocument.drawingml.chart+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charts/chart13.xml" ContentType="application/vnd.openxmlformats-officedocument.drawingml.chart+xml"/>
  <Override PartName="/ppt/slideMasters/slideMaster34.xml" ContentType="application/vnd.openxmlformats-officedocument.presentationml.slideMaster+xml"/>
  <Override PartName="/ppt/slides/slide34.xml" ContentType="application/vnd.openxmlformats-officedocument.presentationml.slide+xml"/>
  <Override PartName="/ppt/charts/chart14.xml" ContentType="application/vnd.openxmlformats-officedocument.drawingml.chart+xml"/>
  <Override PartName="/ppt/slideMasters/slideMaster35.xml" ContentType="application/vnd.openxmlformats-officedocument.presentationml.slideMaster+xml"/>
  <Override PartName="/ppt/slides/slide35.xml" ContentType="application/vnd.openxmlformats-officedocument.presentationml.slide+xml"/>
  <Override PartName="/ppt/charts/chart15.xml" ContentType="application/vnd.openxmlformats-officedocument.drawingml.chart+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Lst>
  <p:notesMasterIdLst>
    <p:notesMasterId r:id="rId42"/>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notesMaster" Target="notesMasters/notesMaster1.xml"/><Relationship Id="rId43" Type="http://schemas.openxmlformats.org/officeDocument/2006/relationships/presProps" Target="presProps.xml"/><Relationship Id="rId44" Type="http://schemas.openxmlformats.org/officeDocument/2006/relationships/viewProps" Target="viewProps.xml"/><Relationship Id="rId45" Type="http://schemas.openxmlformats.org/officeDocument/2006/relationships/theme" Target="theme/theme1.xml"/><Relationship Id="rId4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_rels/chart10.xml.rels><?xml version="1.0" encoding="UTF-8" standalone="yes"?><Relationships xmlns="http://schemas.openxmlformats.org/package/2006/relationships"><Relationship Id="rId1" Type="http://schemas.openxmlformats.org/officeDocument/2006/relationships/package" Target="../embeddings/Microsoft_Excel_Worksheet10.xlsx"/></Relationships>
</file>

<file path=ppt/charts/_rels/chart11.xml.rels><?xml version="1.0" encoding="UTF-8" standalone="yes"?><Relationships xmlns="http://schemas.openxmlformats.org/package/2006/relationships"><Relationship Id="rId1" Type="http://schemas.openxmlformats.org/officeDocument/2006/relationships/package" Target="../embeddings/Microsoft_Excel_Worksheet11.xlsx"/></Relationships>
</file>

<file path=ppt/charts/_rels/chart12.xml.rels><?xml version="1.0" encoding="UTF-8" standalone="yes"?><Relationships xmlns="http://schemas.openxmlformats.org/package/2006/relationships"><Relationship Id="rId1" Type="http://schemas.openxmlformats.org/officeDocument/2006/relationships/package" Target="../embeddings/Microsoft_Excel_Worksheet12.xlsx"/></Relationships>
</file>

<file path=ppt/charts/_rels/chart13.xml.rels><?xml version="1.0" encoding="UTF-8" standalone="yes"?><Relationships xmlns="http://schemas.openxmlformats.org/package/2006/relationships"><Relationship Id="rId1" Type="http://schemas.openxmlformats.org/officeDocument/2006/relationships/package" Target="../embeddings/Microsoft_Excel_Worksheet13.xlsx"/></Relationships>
</file>

<file path=ppt/charts/_rels/chart14.xml.rels><?xml version="1.0" encoding="UTF-8" standalone="yes"?><Relationships xmlns="http://schemas.openxmlformats.org/package/2006/relationships"><Relationship Id="rId1" Type="http://schemas.openxmlformats.org/officeDocument/2006/relationships/package" Target="../embeddings/Microsoft_Excel_Worksheet14.xlsx"/></Relationships>
</file>

<file path=ppt/charts/_rels/chart15.xml.rels><?xml version="1.0" encoding="UTF-8" standalone="yes"?><Relationships xmlns="http://schemas.openxmlformats.org/package/2006/relationships"><Relationship Id="rId1" Type="http://schemas.openxmlformats.org/officeDocument/2006/relationships/package" Target="../embeddings/Microsoft_Excel_Worksheet1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Johnson revenue ($M)</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2023</c:v>
                  </c:pt>
                  <c:pt idx="1">
                    <c:v>2024</c:v>
                  </c:pt>
                  <c:pt idx="2">
                    <c:v>2025</c:v>
                  </c:pt>
                </c:lvl>
              </c:multiLvlStrCache>
            </c:multiLvlStrRef>
          </c:cat>
          <c:val>
            <c:numRef>
              <c:f>Sheet1!$B$2:$B$4</c:f>
              <c:numCache>
                <c:formatCode>General</c:formatCode>
                <c:ptCount val="3"/>
                <c:pt idx="0">
                  <c:v>309.9</c:v>
                </c:pt>
                <c:pt idx="1">
                  <c:v>384.8</c:v>
                </c:pt>
                <c:pt idx="2">
                  <c:v>518.5</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Operating margin (%)</c:v>
                </c:pt>
              </c:strCache>
            </c:strRef>
          </c:tx>
          <c:spPr>
            <a:solidFill>
              <a:srgbClr val="00338D"/>
            </a:solidFill>
            <a:ln w="25400" cap="flat">
              <a:solidFill>
                <a:srgbClr val="00338D"/>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00338D"/>
              </a:solidFill>
              <a:ln w="9525" cap="flat">
                <a:solidFill>
                  <a:srgbClr val="00338D"/>
                </a:solidFill>
                <a:prstDash val="solid"/>
                <a:round/>
              </a:ln>
              <a:effectLst/>
            </c:spPr>
          </c:marker>
          <c:cat>
            <c:multiLvlStrRef>
              <c:f>Sheet1!$A$2:$A$4</c:f>
              <c:multiLvlStrCache>
                <c:ptCount val="3"/>
                <c:lvl>
                  <c:pt idx="0">
                    <c:v>2023</c:v>
                  </c:pt>
                  <c:pt idx="1">
                    <c:v>2024</c:v>
                  </c:pt>
                  <c:pt idx="2">
                    <c:v>2025</c:v>
                  </c:pt>
                </c:lvl>
              </c:multiLvlStrCache>
            </c:multiLvlStrRef>
          </c:cat>
          <c:val>
            <c:numRef>
              <c:f>Sheet1!$B$2:$B$4</c:f>
              <c:numCache>
                <c:formatCode>General</c:formatCode>
                <c:ptCount val="3"/>
                <c:pt idx="0">
                  <c:v>18.9</c:v>
                </c:pt>
                <c:pt idx="1">
                  <c:v>19.8</c:v>
                </c:pt>
                <c:pt idx="2">
                  <c:v>18.9</c:v>
                </c:pt>
              </c:numCache>
            </c:numRef>
          </c:val>
          <c:smooth val="0"/>
        </c:ser>
        <c:ser>
          <c:idx val="1"/>
          <c:order val="1"/>
          <c:tx>
            <c:strRef>
              <c:f>Sheet1!$C$1</c:f>
              <c:strCache>
                <c:ptCount val="1"/>
                <c:pt idx="0">
                  <c:v>CFO / Net income (%)</c:v>
                </c:pt>
              </c:strCache>
            </c:strRef>
          </c:tx>
          <c:spPr>
            <a:solidFill>
              <a:srgbClr val="1E49E2"/>
            </a:solidFill>
            <a:ln w="25400" cap="flat">
              <a:solidFill>
                <a:srgbClr val="1E49E2"/>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1E49E2"/>
              </a:solidFill>
              <a:ln w="9525" cap="flat">
                <a:solidFill>
                  <a:srgbClr val="1E49E2"/>
                </a:solidFill>
                <a:prstDash val="solid"/>
                <a:round/>
              </a:ln>
              <a:effectLst/>
            </c:spPr>
          </c:marker>
          <c:cat>
            <c:multiLvlStrRef>
              <c:f>Sheet1!$A$2:$A$4</c:f>
              <c:multiLvlStrCache>
                <c:ptCount val="3"/>
                <c:lvl>
                  <c:pt idx="0">
                    <c:v>2023</c:v>
                  </c:pt>
                  <c:pt idx="1">
                    <c:v>2024</c:v>
                  </c:pt>
                  <c:pt idx="2">
                    <c:v>2025</c:v>
                  </c:pt>
                </c:lvl>
              </c:multiLvlStrCache>
            </c:multiLvlStrRef>
          </c:cat>
          <c:val>
            <c:numRef>
              <c:f>Sheet1!$C$2:$C$4</c:f>
              <c:numCache>
                <c:formatCode>General</c:formatCode>
                <c:ptCount val="3"/>
                <c:pt idx="0">
                  <c:v>-18.2</c:v>
                </c:pt>
                <c:pt idx="1">
                  <c:v>77</c:v>
                </c:pt>
                <c:pt idx="2">
                  <c:v>80.2</c:v>
                </c:pt>
              </c:numCache>
            </c:numRef>
          </c:val>
          <c:smooth val="0"/>
        </c:ser>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One-time revenue ($M)</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2023</c:v>
                  </c:pt>
                  <c:pt idx="1">
                    <c:v>2024</c:v>
                  </c:pt>
                  <c:pt idx="2">
                    <c:v>2025</c:v>
                  </c:pt>
                </c:lvl>
              </c:multiLvlStrCache>
            </c:multiLvlStrRef>
          </c:cat>
          <c:val>
            <c:numRef>
              <c:f>Sheet1!$B$2:$B$4</c:f>
              <c:numCache>
                <c:formatCode>General</c:formatCode>
                <c:ptCount val="3"/>
                <c:pt idx="0">
                  <c:v>6.3</c:v>
                </c:pt>
                <c:pt idx="1">
                  <c:v>1.1</c:v>
                </c:pt>
                <c:pt idx="2">
                  <c:v>5.5</c:v>
                </c:pt>
              </c:numCache>
            </c:numRef>
          </c:val>
        </c:ser>
        <c:ser>
          <c:idx val="1"/>
          <c:order val="1"/>
          <c:tx>
            <c:strRef>
              <c:f>Sheet1!$C$1</c:f>
              <c:strCache>
                <c:ptCount val="1"/>
                <c:pt idx="0">
                  <c:v>Recurring monthly run-rate ($M)</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2023</c:v>
                  </c:pt>
                  <c:pt idx="1">
                    <c:v>2024</c:v>
                  </c:pt>
                  <c:pt idx="2">
                    <c:v>2025</c:v>
                  </c:pt>
                </c:lvl>
              </c:multiLvlStrCache>
            </c:multiLvlStrRef>
          </c:cat>
          <c:val>
            <c:numRef>
              <c:f>Sheet1!$C$2:$C$4</c:f>
              <c:numCache>
                <c:formatCode>General</c:formatCode>
                <c:ptCount val="3"/>
                <c:pt idx="0">
                  <c:v>2.7</c:v>
                </c:pt>
                <c:pt idx="1">
                  <c:v>6</c:v>
                </c:pt>
                <c:pt idx="2">
                  <c:v>9.2</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One-time revenue ($M)</c:v>
                </c:pt>
              </c:strCache>
            </c:strRef>
          </c:tx>
          <c:spPr>
            <a:solidFill>
              <a:srgbClr val="00338D"/>
            </a:solidFill>
            <a:ln w="25400" cap="flat">
              <a:solidFill>
                <a:srgbClr val="00338D"/>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00338D"/>
              </a:solidFill>
              <a:ln w="9525" cap="flat">
                <a:solidFill>
                  <a:srgbClr val="00338D"/>
                </a:solidFill>
                <a:prstDash val="solid"/>
                <a:round/>
              </a:ln>
              <a:effectLst/>
            </c:spPr>
          </c:marker>
          <c:cat>
            <c:multiLvlStrRef>
              <c:f>Sheet1!$A$2:$A$4</c:f>
              <c:multiLvlStrCache>
                <c:ptCount val="3"/>
                <c:lvl>
                  <c:pt idx="0">
                    <c:v>2023</c:v>
                  </c:pt>
                  <c:pt idx="1">
                    <c:v>2024</c:v>
                  </c:pt>
                  <c:pt idx="2">
                    <c:v>2025</c:v>
                  </c:pt>
                </c:lvl>
              </c:multiLvlStrCache>
            </c:multiLvlStrRef>
          </c:cat>
          <c:val>
            <c:numRef>
              <c:f>Sheet1!$B$2:$B$4</c:f>
              <c:numCache>
                <c:formatCode>General</c:formatCode>
                <c:ptCount val="3"/>
                <c:pt idx="0">
                  <c:v>6.3</c:v>
                </c:pt>
                <c:pt idx="1">
                  <c:v>1.1</c:v>
                </c:pt>
                <c:pt idx="2">
                  <c:v>5.5</c:v>
                </c:pt>
              </c:numCache>
            </c:numRef>
          </c:val>
          <c:smooth val="0"/>
        </c:ser>
        <c:ser>
          <c:idx val="1"/>
          <c:order val="1"/>
          <c:tx>
            <c:strRef>
              <c:f>Sheet1!$C$1</c:f>
              <c:strCache>
                <c:ptCount val="1"/>
                <c:pt idx="0">
                  <c:v>Recurring run-rate ($M/mo)</c:v>
                </c:pt>
              </c:strCache>
            </c:strRef>
          </c:tx>
          <c:spPr>
            <a:solidFill>
              <a:srgbClr val="1E49E2"/>
            </a:solidFill>
            <a:ln w="25400" cap="flat">
              <a:solidFill>
                <a:srgbClr val="1E49E2"/>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1E49E2"/>
              </a:solidFill>
              <a:ln w="9525" cap="flat">
                <a:solidFill>
                  <a:srgbClr val="1E49E2"/>
                </a:solidFill>
                <a:prstDash val="solid"/>
                <a:round/>
              </a:ln>
              <a:effectLst/>
            </c:spPr>
          </c:marker>
          <c:cat>
            <c:multiLvlStrRef>
              <c:f>Sheet1!$A$2:$A$4</c:f>
              <c:multiLvlStrCache>
                <c:ptCount val="3"/>
                <c:lvl>
                  <c:pt idx="0">
                    <c:v>2023</c:v>
                  </c:pt>
                  <c:pt idx="1">
                    <c:v>2024</c:v>
                  </c:pt>
                  <c:pt idx="2">
                    <c:v>2025</c:v>
                  </c:pt>
                </c:lvl>
              </c:multiLvlStrCache>
            </c:multiLvlStrRef>
          </c:cat>
          <c:val>
            <c:numRef>
              <c:f>Sheet1!$C$2:$C$4</c:f>
              <c:numCache>
                <c:formatCode>General</c:formatCode>
                <c:ptCount val="3"/>
                <c:pt idx="0">
                  <c:v>2.7</c:v>
                </c:pt>
                <c:pt idx="1">
                  <c:v>6</c:v>
                </c:pt>
                <c:pt idx="2">
                  <c:v>9.2</c:v>
                </c:pt>
              </c:numCache>
            </c:numRef>
          </c:val>
          <c:smooth val="0"/>
        </c:ser>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Revenue ($M)</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2023</c:v>
                  </c:pt>
                  <c:pt idx="1">
                    <c:v>2024</c:v>
                  </c:pt>
                  <c:pt idx="2">
                    <c:v>2025</c:v>
                  </c:pt>
                </c:lvl>
              </c:multiLvlStrCache>
            </c:multiLvlStrRef>
          </c:cat>
          <c:val>
            <c:numRef>
              <c:f>Sheet1!$B$2:$B$4</c:f>
              <c:numCache>
                <c:formatCode>General</c:formatCode>
                <c:ptCount val="3"/>
                <c:pt idx="0">
                  <c:v>309.9</c:v>
                </c:pt>
                <c:pt idx="1">
                  <c:v>384.8</c:v>
                </c:pt>
                <c:pt idx="2">
                  <c:v>518.5</c:v>
                </c:pt>
              </c:numCache>
            </c:numRef>
          </c:val>
        </c:ser>
        <c:ser>
          <c:idx val="1"/>
          <c:order val="1"/>
          <c:tx>
            <c:strRef>
              <c:f>Sheet1!$C$1</c:f>
              <c:strCache>
                <c:ptCount val="1"/>
                <c:pt idx="0">
                  <c:v>Operating income ($M)</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2023</c:v>
                  </c:pt>
                  <c:pt idx="1">
                    <c:v>2024</c:v>
                  </c:pt>
                  <c:pt idx="2">
                    <c:v>2025</c:v>
                  </c:pt>
                </c:lvl>
              </c:multiLvlStrCache>
            </c:multiLvlStrRef>
          </c:cat>
          <c:val>
            <c:numRef>
              <c:f>Sheet1!$C$2:$C$4</c:f>
              <c:numCache>
                <c:formatCode>General</c:formatCode>
                <c:ptCount val="3"/>
                <c:pt idx="0">
                  <c:v>58.6</c:v>
                </c:pt>
                <c:pt idx="1">
                  <c:v>76.2</c:v>
                </c:pt>
                <c:pt idx="2">
                  <c:v>98</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Gross margin (%)</c:v>
                </c:pt>
              </c:strCache>
            </c:strRef>
          </c:tx>
          <c:spPr>
            <a:solidFill>
              <a:srgbClr val="00338D"/>
            </a:solidFill>
            <a:ln w="25400" cap="flat">
              <a:solidFill>
                <a:srgbClr val="00338D"/>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00338D"/>
              </a:solidFill>
              <a:ln w="9525" cap="flat">
                <a:solidFill>
                  <a:srgbClr val="00338D"/>
                </a:solidFill>
                <a:prstDash val="solid"/>
                <a:round/>
              </a:ln>
              <a:effectLst/>
            </c:spPr>
          </c:marker>
          <c:cat>
            <c:multiLvlStrRef>
              <c:f>Sheet1!$A$2:$A$4</c:f>
              <c:multiLvlStrCache>
                <c:ptCount val="3"/>
                <c:lvl>
                  <c:pt idx="0">
                    <c:v>2023</c:v>
                  </c:pt>
                  <c:pt idx="1">
                    <c:v>2024</c:v>
                  </c:pt>
                  <c:pt idx="2">
                    <c:v>2025</c:v>
                  </c:pt>
                </c:lvl>
              </c:multiLvlStrCache>
            </c:multiLvlStrRef>
          </c:cat>
          <c:val>
            <c:numRef>
              <c:f>Sheet1!$B$2:$B$4</c:f>
              <c:numCache>
                <c:formatCode>General</c:formatCode>
                <c:ptCount val="3"/>
                <c:pt idx="0">
                  <c:v>53.9</c:v>
                </c:pt>
                <c:pt idx="1">
                  <c:v>53.9</c:v>
                </c:pt>
                <c:pt idx="2">
                  <c:v>53.9</c:v>
                </c:pt>
              </c:numCache>
            </c:numRef>
          </c:val>
          <c:smooth val="0"/>
        </c:ser>
        <c:ser>
          <c:idx val="1"/>
          <c:order val="1"/>
          <c:tx>
            <c:strRef>
              <c:f>Sheet1!$C$1</c:f>
              <c:strCache>
                <c:ptCount val="1"/>
                <c:pt idx="0">
                  <c:v>Operating margin (%)</c:v>
                </c:pt>
              </c:strCache>
            </c:strRef>
          </c:tx>
          <c:spPr>
            <a:solidFill>
              <a:srgbClr val="1E49E2"/>
            </a:solidFill>
            <a:ln w="25400" cap="flat">
              <a:solidFill>
                <a:srgbClr val="1E49E2"/>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1E49E2"/>
              </a:solidFill>
              <a:ln w="9525" cap="flat">
                <a:solidFill>
                  <a:srgbClr val="1E49E2"/>
                </a:solidFill>
                <a:prstDash val="solid"/>
                <a:round/>
              </a:ln>
              <a:effectLst/>
            </c:spPr>
          </c:marker>
          <c:cat>
            <c:multiLvlStrRef>
              <c:f>Sheet1!$A$2:$A$4</c:f>
              <c:multiLvlStrCache>
                <c:ptCount val="3"/>
                <c:lvl>
                  <c:pt idx="0">
                    <c:v>2023</c:v>
                  </c:pt>
                  <c:pt idx="1">
                    <c:v>2024</c:v>
                  </c:pt>
                  <c:pt idx="2">
                    <c:v>2025</c:v>
                  </c:pt>
                </c:lvl>
              </c:multiLvlStrCache>
            </c:multiLvlStrRef>
          </c:cat>
          <c:val>
            <c:numRef>
              <c:f>Sheet1!$C$2:$C$4</c:f>
              <c:numCache>
                <c:formatCode>General</c:formatCode>
                <c:ptCount val="3"/>
                <c:pt idx="0">
                  <c:v>18.9</c:v>
                </c:pt>
                <c:pt idx="1">
                  <c:v>19.8</c:v>
                </c:pt>
                <c:pt idx="2">
                  <c:v>18.9</c:v>
                </c:pt>
              </c:numCache>
            </c:numRef>
          </c:val>
          <c:smooth val="0"/>
        </c:ser>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Reported EBITDA ($M)</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2023</c:v>
                  </c:pt>
                  <c:pt idx="1">
                    <c:v>2024</c:v>
                  </c:pt>
                  <c:pt idx="2">
                    <c:v>2025</c:v>
                  </c:pt>
                </c:lvl>
              </c:multiLvlStrCache>
            </c:multiLvlStrRef>
          </c:cat>
          <c:val>
            <c:numRef>
              <c:f>Sheet1!$B$2:$B$4</c:f>
              <c:numCache>
                <c:formatCode>General</c:formatCode>
                <c:ptCount val="3"/>
                <c:pt idx="0">
                  <c:v>62.4</c:v>
                </c:pt>
                <c:pt idx="1">
                  <c:v>80.3</c:v>
                </c:pt>
                <c:pt idx="2">
                  <c:v>102.2</c:v>
                </c:pt>
              </c:numCache>
            </c:numRef>
          </c:val>
        </c:ser>
        <c:ser>
          <c:idx val="1"/>
          <c:order val="1"/>
          <c:tx>
            <c:strRef>
              <c:f>Sheet1!$C$1</c:f>
              <c:strCache>
                <c:ptCount val="1"/>
                <c:pt idx="0">
                  <c:v>Normalized EBITDA ($M)</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2023</c:v>
                  </c:pt>
                  <c:pt idx="1">
                    <c:v>2024</c:v>
                  </c:pt>
                  <c:pt idx="2">
                    <c:v>2025</c:v>
                  </c:pt>
                </c:lvl>
              </c:multiLvlStrCache>
            </c:multiLvlStrRef>
          </c:cat>
          <c:val>
            <c:numRef>
              <c:f>Sheet1!$C$2:$C$4</c:f>
              <c:numCache>
                <c:formatCode>General</c:formatCode>
                <c:ptCount val="3"/>
                <c:pt idx="0">
                  <c:v>56.1</c:v>
                </c:pt>
                <c:pt idx="1">
                  <c:v>79.2</c:v>
                </c:pt>
                <c:pt idx="2">
                  <c:v>96.7</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Base normalized EBITDA ($M)</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Sheet1!$A$2:$A$5</c:f>
              <c:multiLvlStrCache>
                <c:ptCount val="4"/>
                <c:lvl>
                  <c:pt idx="0">
                    <c:v>2025 base</c:v>
                  </c:pt>
                  <c:pt idx="1">
                    <c:v>Mild downside</c:v>
                  </c:pt>
                  <c:pt idx="2">
                    <c:v>Downside</c:v>
                  </c:pt>
                  <c:pt idx="3">
                    <c:v>Severe downside</c:v>
                  </c:pt>
                </c:lvl>
              </c:multiLvlStrCache>
            </c:multiLvlStrRef>
          </c:cat>
          <c:val>
            <c:numRef>
              <c:f>Sheet1!$B$2:$B$5</c:f>
              <c:numCache>
                <c:formatCode>General</c:formatCode>
                <c:ptCount val="4"/>
                <c:pt idx="0">
                  <c:v>96.7</c:v>
                </c:pt>
                <c:pt idx="1">
                  <c:v>91.8</c:v>
                </c:pt>
                <c:pt idx="2">
                  <c:v>86.9</c:v>
                </c:pt>
                <c:pt idx="3">
                  <c:v>77.1</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Scenario EBITDA ($M)</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Sheet1!$A$2:$A$5</c:f>
              <c:multiLvlStrCache>
                <c:ptCount val="4"/>
                <c:lvl>
                  <c:pt idx="0">
                    <c:v>Base</c:v>
                  </c:pt>
                  <c:pt idx="1">
                    <c:v>Moderate</c:v>
                  </c:pt>
                  <c:pt idx="2">
                    <c:v>Downside</c:v>
                  </c:pt>
                  <c:pt idx="3">
                    <c:v>Severe</c:v>
                  </c:pt>
                </c:lvl>
              </c:multiLvlStrCache>
            </c:multiLvlStrRef>
          </c:cat>
          <c:val>
            <c:numRef>
              <c:f>Sheet1!$B$2:$B$5</c:f>
              <c:numCache>
                <c:formatCode>General</c:formatCode>
                <c:ptCount val="4"/>
                <c:pt idx="0">
                  <c:v>96.7</c:v>
                </c:pt>
                <c:pt idx="1">
                  <c:v>91.8</c:v>
                </c:pt>
                <c:pt idx="2">
                  <c:v>86.9</c:v>
                </c:pt>
                <c:pt idx="3">
                  <c:v>77.1</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AR aging (%)</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Sheet1!$A$2:$A$6</c:f>
              <c:multiLvlStrCache>
                <c:ptCount val="5"/>
                <c:lvl>
                  <c:pt idx="0">
                    <c:v>Current</c:v>
                  </c:pt>
                  <c:pt idx="1">
                    <c:v>1-30</c:v>
                  </c:pt>
                  <c:pt idx="2">
                    <c:v>31-60</c:v>
                  </c:pt>
                  <c:pt idx="3">
                    <c:v>61-90</c:v>
                  </c:pt>
                  <c:pt idx="4">
                    <c:v>90+</c:v>
                  </c:pt>
                </c:lvl>
              </c:multiLvlStrCache>
            </c:multiLvlStrRef>
          </c:cat>
          <c:val>
            <c:numRef>
              <c:f>Sheet1!$B$2:$B$6</c:f>
              <c:numCache>
                <c:formatCode>General</c:formatCode>
                <c:ptCount val="5"/>
                <c:pt idx="0">
                  <c:v>73.9</c:v>
                </c:pt>
                <c:pt idx="1">
                  <c:v>17.1</c:v>
                </c:pt>
                <c:pt idx="2">
                  <c:v>6.4</c:v>
                </c:pt>
                <c:pt idx="3">
                  <c:v>2.6</c:v>
                </c:pt>
                <c:pt idx="4">
                  <c:v>0</c:v>
                </c:pt>
              </c:numCache>
            </c:numRef>
          </c:val>
        </c:ser>
        <c:ser>
          <c:idx val="1"/>
          <c:order val="1"/>
          <c:tx>
            <c:strRef>
              <c:f>Sheet1!$C$1</c:f>
              <c:strCache>
                <c:ptCount val="1"/>
                <c:pt idx="0">
                  <c:v>AP aging (%)</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Sheet1!$A$2:$A$6</c:f>
              <c:multiLvlStrCache>
                <c:ptCount val="5"/>
                <c:lvl>
                  <c:pt idx="0">
                    <c:v>Current</c:v>
                  </c:pt>
                  <c:pt idx="1">
                    <c:v>1-30</c:v>
                  </c:pt>
                  <c:pt idx="2">
                    <c:v>31-60</c:v>
                  </c:pt>
                  <c:pt idx="3">
                    <c:v>61-90</c:v>
                  </c:pt>
                  <c:pt idx="4">
                    <c:v>90+</c:v>
                  </c:pt>
                </c:lvl>
              </c:multiLvlStrCache>
            </c:multiLvlStrRef>
          </c:cat>
          <c:val>
            <c:numRef>
              <c:f>Sheet1!$C$2:$C$6</c:f>
              <c:numCache>
                <c:formatCode>General</c:formatCode>
                <c:ptCount val="5"/>
                <c:pt idx="0">
                  <c:v>79.7</c:v>
                </c:pt>
                <c:pt idx="1">
                  <c:v>14.3</c:v>
                </c:pt>
                <c:pt idx="2">
                  <c:v>3.8</c:v>
                </c:pt>
                <c:pt idx="3">
                  <c:v>2.2</c:v>
                </c:pt>
                <c:pt idx="4">
                  <c:v>0</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Net income ($M)</c:v>
                </c:pt>
              </c:strCache>
            </c:strRef>
          </c:tx>
          <c:spPr>
            <a:solidFill>
              <a:srgbClr val="00338D"/>
            </a:solidFill>
            <a:ln w="25400" cap="flat">
              <a:solidFill>
                <a:srgbClr val="00338D"/>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00338D"/>
              </a:solidFill>
              <a:ln w="9525" cap="flat">
                <a:solidFill>
                  <a:srgbClr val="00338D"/>
                </a:solidFill>
                <a:prstDash val="solid"/>
                <a:round/>
              </a:ln>
              <a:effectLst/>
            </c:spPr>
          </c:marker>
          <c:cat>
            <c:multiLvlStrRef>
              <c:f>Sheet1!$A$2:$A$4</c:f>
              <c:multiLvlStrCache>
                <c:ptCount val="3"/>
                <c:lvl>
                  <c:pt idx="0">
                    <c:v>2023</c:v>
                  </c:pt>
                  <c:pt idx="1">
                    <c:v>2024</c:v>
                  </c:pt>
                  <c:pt idx="2">
                    <c:v>2025</c:v>
                  </c:pt>
                </c:lvl>
              </c:multiLvlStrCache>
            </c:multiLvlStrRef>
          </c:cat>
          <c:val>
            <c:numRef>
              <c:f>Sheet1!$B$2:$B$4</c:f>
              <c:numCache>
                <c:formatCode>General</c:formatCode>
                <c:ptCount val="3"/>
                <c:pt idx="0">
                  <c:v>58.6</c:v>
                </c:pt>
                <c:pt idx="1">
                  <c:v>76.2</c:v>
                </c:pt>
                <c:pt idx="2">
                  <c:v>98</c:v>
                </c:pt>
              </c:numCache>
            </c:numRef>
          </c:val>
          <c:smooth val="0"/>
        </c:ser>
        <c:ser>
          <c:idx val="1"/>
          <c:order val="1"/>
          <c:tx>
            <c:strRef>
              <c:f>Sheet1!$C$1</c:f>
              <c:strCache>
                <c:ptCount val="1"/>
                <c:pt idx="0">
                  <c:v>Cash from operations ($M)</c:v>
                </c:pt>
              </c:strCache>
            </c:strRef>
          </c:tx>
          <c:spPr>
            <a:solidFill>
              <a:srgbClr val="1E49E2"/>
            </a:solidFill>
            <a:ln w="25400" cap="flat">
              <a:solidFill>
                <a:srgbClr val="1E49E2"/>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1E49E2"/>
              </a:solidFill>
              <a:ln w="9525" cap="flat">
                <a:solidFill>
                  <a:srgbClr val="1E49E2"/>
                </a:solidFill>
                <a:prstDash val="solid"/>
                <a:round/>
              </a:ln>
              <a:effectLst/>
            </c:spPr>
          </c:marker>
          <c:cat>
            <c:multiLvlStrRef>
              <c:f>Sheet1!$A$2:$A$4</c:f>
              <c:multiLvlStrCache>
                <c:ptCount val="3"/>
                <c:lvl>
                  <c:pt idx="0">
                    <c:v>2023</c:v>
                  </c:pt>
                  <c:pt idx="1">
                    <c:v>2024</c:v>
                  </c:pt>
                  <c:pt idx="2">
                    <c:v>2025</c:v>
                  </c:pt>
                </c:lvl>
              </c:multiLvlStrCache>
            </c:multiLvlStrRef>
          </c:cat>
          <c:val>
            <c:numRef>
              <c:f>Sheet1!$C$2:$C$4</c:f>
              <c:numCache>
                <c:formatCode>General</c:formatCode>
                <c:ptCount val="3"/>
                <c:pt idx="0">
                  <c:v>-10.7</c:v>
                </c:pt>
                <c:pt idx="1">
                  <c:v>58.7</c:v>
                </c:pt>
                <c:pt idx="2">
                  <c:v>78.6</c:v>
                </c:pt>
              </c:numCache>
            </c:numRef>
          </c:val>
          <c:smooth val="0"/>
        </c:ser>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Suppliers by payment term</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Net 30</c:v>
                  </c:pt>
                  <c:pt idx="1">
                    <c:v>Net 45</c:v>
                  </c:pt>
                  <c:pt idx="2">
                    <c:v>Net 60</c:v>
                  </c:pt>
                </c:lvl>
              </c:multiLvlStrCache>
            </c:multiLvlStrRef>
          </c:cat>
          <c:val>
            <c:numRef>
              <c:f>Sheet1!$B$2:$B$4</c:f>
              <c:numCache>
                <c:formatCode>General</c:formatCode>
                <c:ptCount val="3"/>
                <c:pt idx="0">
                  <c:v>11</c:v>
                </c:pt>
                <c:pt idx="1">
                  <c:v>11</c:v>
                </c:pt>
                <c:pt idx="2">
                  <c:v>8</c:v>
                </c:pt>
              </c:numCache>
            </c:numRef>
          </c:val>
        </c:ser>
        <c:ser>
          <c:idx val="1"/>
          <c:order val="1"/>
          <c:tx>
            <c:strRef>
              <c:f>Sheet1!$C$1</c:f>
              <c:strCache>
                <c:ptCount val="1"/>
                <c:pt idx="0">
                  <c:v>Lead time (days)</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Average</c:v>
                  </c:pt>
                  <c:pt idx="1">
                    <c:v>Maximum</c:v>
                  </c:pt>
                  <c:pt idx="2">
                    <c:v>Minimum</c:v>
                  </c:pt>
                </c:lvl>
              </c:multiLvlStrCache>
            </c:multiLvlStrRef>
          </c:cat>
          <c:val>
            <c:numRef>
              <c:f>Sheet1!$C$2:$C$4</c:f>
              <c:numCache>
                <c:formatCode>General</c:formatCode>
                <c:ptCount val="3"/>
                <c:pt idx="0">
                  <c:v>32.7</c:v>
                </c:pt>
                <c:pt idx="1">
                  <c:v>57</c:v>
                </c:pt>
                <c:pt idx="2">
                  <c:v>15</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Johnson revenue ($M)</c:v>
                </c:pt>
              </c:strCache>
            </c:strRef>
          </c:tx>
          <c:spPr>
            <a:solidFill>
              <a:srgbClr val="00338D"/>
            </a:solidFill>
            <a:ln w="25400" cap="flat">
              <a:solidFill>
                <a:srgbClr val="00338D"/>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00338D"/>
              </a:solidFill>
              <a:ln w="9525" cap="flat">
                <a:solidFill>
                  <a:srgbClr val="00338D"/>
                </a:solidFill>
                <a:prstDash val="solid"/>
                <a:round/>
              </a:ln>
              <a:effectLst/>
            </c:spPr>
          </c:marker>
          <c:cat>
            <c:multiLvlStrRef>
              <c:f>Sheet1!$A$2:$A$4</c:f>
              <c:multiLvlStrCache>
                <c:ptCount val="3"/>
                <c:lvl>
                  <c:pt idx="0">
                    <c:v>2023</c:v>
                  </c:pt>
                  <c:pt idx="1">
                    <c:v>2024</c:v>
                  </c:pt>
                  <c:pt idx="2">
                    <c:v>2025</c:v>
                  </c:pt>
                </c:lvl>
              </c:multiLvlStrCache>
            </c:multiLvlStrRef>
          </c:cat>
          <c:val>
            <c:numRef>
              <c:f>Sheet1!$B$2:$B$4</c:f>
              <c:numCache>
                <c:formatCode>General</c:formatCode>
                <c:ptCount val="3"/>
                <c:pt idx="0">
                  <c:v>309.9</c:v>
                </c:pt>
                <c:pt idx="1">
                  <c:v>384.8</c:v>
                </c:pt>
                <c:pt idx="2">
                  <c:v>518.5</c:v>
                </c:pt>
              </c:numCache>
            </c:numRef>
          </c:val>
          <c:smooth val="0"/>
        </c:ser>
        <c:ser>
          <c:idx val="1"/>
          <c:order val="1"/>
          <c:tx>
            <c:strRef>
              <c:f>Sheet1!$C$1</c:f>
              <c:strCache>
                <c:ptCount val="1"/>
                <c:pt idx="0">
                  <c:v>SBUX revenue ($B)</c:v>
                </c:pt>
              </c:strCache>
            </c:strRef>
          </c:tx>
          <c:spPr>
            <a:solidFill>
              <a:srgbClr val="1E49E2"/>
            </a:solidFill>
            <a:ln w="25400" cap="flat">
              <a:solidFill>
                <a:srgbClr val="1E49E2"/>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1E49E2"/>
              </a:solidFill>
              <a:ln w="9525" cap="flat">
                <a:solidFill>
                  <a:srgbClr val="1E49E2"/>
                </a:solidFill>
                <a:prstDash val="solid"/>
                <a:round/>
              </a:ln>
              <a:effectLst/>
            </c:spPr>
          </c:marker>
          <c:cat>
            <c:multiLvlStrRef>
              <c:f>Sheet1!$A$2:$A$4</c:f>
              <c:multiLvlStrCache>
                <c:ptCount val="3"/>
                <c:lvl>
                  <c:pt idx="0">
                    <c:v>2023</c:v>
                  </c:pt>
                  <c:pt idx="1">
                    <c:v>2024</c:v>
                  </c:pt>
                  <c:pt idx="2">
                    <c:v>2025</c:v>
                  </c:pt>
                </c:lvl>
              </c:multiLvlStrCache>
            </c:multiLvlStrRef>
          </c:cat>
          <c:val>
            <c:numRef>
              <c:f>Sheet1!$C$2:$C$4</c:f>
              <c:numCache>
                <c:formatCode>General</c:formatCode>
                <c:ptCount val="3"/>
                <c:pt idx="0">
                  <c:v>29.1</c:v>
                </c:pt>
                <c:pt idx="1">
                  <c:v>32.3</c:v>
                </c:pt>
                <c:pt idx="2">
                  <c:v>36</c:v>
                </c:pt>
              </c:numCache>
            </c:numRef>
          </c:val>
          <c:smooth val="0"/>
        </c:ser>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Operating margin (%)</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2023</c:v>
                  </c:pt>
                  <c:pt idx="1">
                    <c:v>2024</c:v>
                  </c:pt>
                  <c:pt idx="2">
                    <c:v>2025</c:v>
                  </c:pt>
                </c:lvl>
              </c:multiLvlStrCache>
            </c:multiLvlStrRef>
          </c:cat>
          <c:val>
            <c:numRef>
              <c:f>Sheet1!$B$2:$B$4</c:f>
              <c:numCache>
                <c:formatCode>General</c:formatCode>
                <c:ptCount val="3"/>
                <c:pt idx="0">
                  <c:v>18.9</c:v>
                </c:pt>
                <c:pt idx="1">
                  <c:v>19.8</c:v>
                </c:pt>
                <c:pt idx="2">
                  <c:v>18.9</c:v>
                </c:pt>
              </c:numCache>
            </c:numRef>
          </c:val>
        </c:ser>
        <c:ser>
          <c:idx val="1"/>
          <c:order val="1"/>
          <c:tx>
            <c:strRef>
              <c:f>Sheet1!$C$1</c:f>
              <c:strCache>
                <c:ptCount val="1"/>
                <c:pt idx="0">
                  <c:v>SBUX operating margin (%)</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2023</c:v>
                  </c:pt>
                  <c:pt idx="1">
                    <c:v>2024</c:v>
                  </c:pt>
                  <c:pt idx="2">
                    <c:v>2025</c:v>
                  </c:pt>
                </c:lvl>
              </c:multiLvlStrCache>
            </c:multiLvlStrRef>
          </c:cat>
          <c:val>
            <c:numRef>
              <c:f>Sheet1!$C$2:$C$4</c:f>
              <c:numCache>
                <c:formatCode>General</c:formatCode>
                <c:ptCount val="3"/>
                <c:pt idx="0">
                  <c:v>16.8</c:v>
                </c:pt>
                <c:pt idx="1">
                  <c:v>14.3</c:v>
                </c:pt>
                <c:pt idx="2">
                  <c:v>16.3</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Scenario EBITDA ($M)</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Base</c:v>
                  </c:pt>
                  <c:pt idx="1">
                    <c:v>Downside</c:v>
                  </c:pt>
                  <c:pt idx="2">
                    <c:v>Severe</c:v>
                  </c:pt>
                </c:lvl>
              </c:multiLvlStrCache>
            </c:multiLvlStrRef>
          </c:cat>
          <c:val>
            <c:numRef>
              <c:f>Sheet1!$B$2:$B$4</c:f>
              <c:numCache>
                <c:formatCode>General</c:formatCode>
                <c:ptCount val="3"/>
                <c:pt idx="0">
                  <c:v>96.7</c:v>
                </c:pt>
                <c:pt idx="1">
                  <c:v>86.9</c:v>
                </c:pt>
                <c:pt idx="2">
                  <c:v>77.1</c:v>
                </c:pt>
              </c:numCache>
            </c:numRef>
          </c:val>
        </c:ser>
        <c:ser>
          <c:idx val="1"/>
          <c:order val="1"/>
          <c:tx>
            <c:strRef>
              <c:f>Sheet1!$C$1</c:f>
              <c:strCache>
                <c:ptCount val="1"/>
                <c:pt idx="0">
                  <c:v>Indicative value (index)</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Base</c:v>
                  </c:pt>
                  <c:pt idx="1">
                    <c:v>Downside</c:v>
                  </c:pt>
                  <c:pt idx="2">
                    <c:v>Severe</c:v>
                  </c:pt>
                </c:lvl>
              </c:multiLvlStrCache>
            </c:multiLvlStrRef>
          </c:cat>
          <c:val>
            <c:numRef>
              <c:f>Sheet1!$C$2:$C$4</c:f>
              <c:numCache>
                <c:formatCode>General</c:formatCode>
                <c:ptCount val="3"/>
                <c:pt idx="0">
                  <c:v>100</c:v>
                </c:pt>
                <c:pt idx="1">
                  <c:v>88</c:v>
                </c:pt>
                <c:pt idx="2">
                  <c:v>76</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store_master.xlsx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verification_report.json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balance_sheet.xlsx, nwc_schedule.xlsx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department_summary.xlsx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data room manifest and SBUX annual metrics extract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verification_report.json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sv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image" Target="../media/image-1003-2.png"/><Relationship Id="rId3" Type="http://schemas.openxmlformats.org/officeDocument/2006/relationships/image" Target="../media/image-1003-3.svg"/><Relationship Id="rId4"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mage-1005-1.png"/><Relationship Id="rId2"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image" Target="../media/image-1006-1.png"/><Relationship Id="rId2"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image" Target="../media/image-1008-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KPMG_WHITE">
    <p:bg>
      <p:bgPr>
        <a:solidFill>
          <a:srgbClr val="FFFFFF"/>
        </a:solidFill>
      </p:bgPr>
    </p:bg>
    <p:spTree>
      <p:nvGrpSpPr>
        <p:cNvPr id="1" name=""/>
        <p:cNvGrpSpPr/>
        <p:nvPr/>
      </p:nvGrpSpPr>
      <p:grpSpPr>
        <a:xfrm>
          <a:off x="0" y="0"/>
          <a:ext cx="0" cy="0"/>
          <a:chOff x="0" y="0"/>
          <a:chExt cx="0" cy="0"/>
        </a:xfrm>
      </p:grpSpPr>
      <p:pic>
        <p:nvPicPr>
          <p:cNvPr id="2" name="Image 0" descr="/Users/rishi/Code/ai-tools/chatgpt/kpmg-slidegen/templates/kpmg-diligence/assets/kpmg-logo.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03097" y="6267298"/>
            <a:ext cx="483718" cy="196596"/>
          </a:xfrm>
          <a:prstGeom prst="rect">
            <a:avLst/>
          </a:prstGeom>
        </p:spPr>
      </p:pic>
      <p:sp>
        <p:nvSpPr>
          <p:cNvPr id="3" name="Text 0"/>
          <p:cNvSpPr/>
          <p:nvPr/>
        </p:nvSpPr>
        <p:spPr>
          <a:xfrm>
            <a:off x="1885493" y="6267298"/>
            <a:ext cx="6343193" cy="184709"/>
          </a:xfrm>
          <a:prstGeom prst="rect">
            <a:avLst/>
          </a:prstGeom>
          <a:noFill/>
          <a:ln/>
        </p:spPr>
        <p:txBody>
          <a:bodyPr wrap="square" rtlCol="0" anchor="ctr"/>
          <a:lstStyle/>
          <a:p>
            <a:pPr indent="0" marL="0">
              <a:buNone/>
            </a:pPr>
            <a:r>
              <a:rPr lang="en-US" sz="600" dirty="0">
                <a:solidFill>
                  <a:srgbClr val="666666"/>
                </a:solidFill>
                <a:latin typeface="Arial" pitchFamily="34" charset="0"/>
                <a:ea typeface="Arial" pitchFamily="34" charset="-122"/>
                <a:cs typeface="Arial" pitchFamily="34" charset="-120"/>
              </a:rPr>
              <a:t>© 2026 KPMG LLP, a Ontario limited liability partnership and a member firm of the KPMG global organization of independent member firms affiliated with KPMG International Limited, a private English company limited by guarantee. All rights reserved.</a:t>
            </a:r>
            <a:endParaRPr lang="en-US" sz="600" dirty="0"/>
          </a:p>
        </p:txBody>
      </p:sp>
      <p:sp>
        <p:nvSpPr>
          <p:cNvPr id="4" name="Text 1"/>
          <p:cNvSpPr/>
          <p:nvPr/>
        </p:nvSpPr>
        <p:spPr>
          <a:xfrm>
            <a:off x="8183880" y="6267298"/>
            <a:ext cx="749808" cy="184709"/>
          </a:xfrm>
          <a:prstGeom prst="rect">
            <a:avLst/>
          </a:prstGeom>
          <a:noFill/>
          <a:ln/>
        </p:spPr>
        <p:txBody>
          <a:bodyPr wrap="square" rtlCol="0" anchor="ctr"/>
          <a:lstStyle/>
          <a:p>
            <a:pPr algn="l" indent="0" marL="0">
              <a:buNone/>
            </a:pPr>
            <a:r>
              <a:rPr lang="en-US" sz="600" dirty="0">
                <a:solidFill>
                  <a:srgbClr val="666666"/>
                </a:solidFill>
                <a:latin typeface="Arial" pitchFamily="34" charset="0"/>
                <a:ea typeface="Arial" pitchFamily="34" charset="-122"/>
                <a:cs typeface="Arial" pitchFamily="34" charset="-120"/>
              </a:rPr>
              <a:t>kpmg.com/ca</a:t>
            </a:r>
            <a:endParaRPr lang="en-US" sz="600" dirty="0"/>
          </a:p>
        </p:txBody>
      </p:sp>
      <p:sp>
        <p:nvSpPr>
          <p:cNvPr id="5" name="Text 2"/>
          <p:cNvSpPr/>
          <p:nvPr/>
        </p:nvSpPr>
        <p:spPr>
          <a:xfrm>
            <a:off x="8967521" y="6267298"/>
            <a:ext cx="1866290" cy="92354"/>
          </a:xfrm>
          <a:prstGeom prst="rect">
            <a:avLst/>
          </a:prstGeom>
          <a:noFill/>
          <a:ln/>
        </p:spPr>
        <p:txBody>
          <a:bodyPr wrap="square" rtlCol="0" anchor="ctr"/>
          <a:lstStyle/>
          <a:p>
            <a:pPr algn="r" indent="0" marL="0">
              <a:buNone/>
            </a:pPr>
            <a:r>
              <a:rPr lang="en-US" sz="600" dirty="0">
                <a:solidFill>
                  <a:srgbClr val="666666"/>
                </a:solidFill>
                <a:latin typeface="Arial" pitchFamily="34" charset="0"/>
                <a:ea typeface="Arial" pitchFamily="34" charset="-122"/>
                <a:cs typeface="Arial" pitchFamily="34" charset="-120"/>
              </a:rPr>
              <a:t>Document Classification: KPMG Confidential</a:t>
            </a:r>
            <a:endParaRPr lang="en-US" sz="600" dirty="0"/>
          </a:p>
        </p:txBody>
      </p:sp>
      <p:sp>
        <p:nvSpPr>
          <p:cNvPr id="6" name="Shape 3"/>
          <p:cNvSpPr/>
          <p:nvPr/>
        </p:nvSpPr>
        <p:spPr>
          <a:xfrm>
            <a:off x="10874045" y="6267298"/>
            <a:ext cx="0" cy="149047"/>
          </a:xfrm>
          <a:prstGeom prst="line">
            <a:avLst/>
          </a:prstGeom>
          <a:noFill/>
          <a:ln w="12700">
            <a:solidFill>
              <a:srgbClr val="1E49E2"/>
            </a:solidFill>
            <a:prstDash val="solid"/>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KPMG_SUMMARY">
    <p:bg>
      <p:bgPr>
        <a:solidFill>
          <a:srgbClr val="FFFFFF"/>
        </a:solidFill>
      </p:bgPr>
    </p:bg>
    <p:spTree>
      <p:nvGrpSpPr>
        <p:cNvPr id="1" name=""/>
        <p:cNvGrpSpPr/>
        <p:nvPr/>
      </p:nvGrpSpPr>
      <p:grpSpPr>
        <a:xfrm>
          <a:off x="0" y="0"/>
          <a:ext cx="0" cy="0"/>
          <a:chOff x="0" y="0"/>
          <a:chExt cx="0" cy="0"/>
        </a:xfrm>
      </p:grpSpPr>
      <p:pic>
        <p:nvPicPr>
          <p:cNvPr id="2" name="Image 0" descr="/Users/rishi/Code/ai-tools/chatgpt/kpmg-slidegen/templates/kpmg-diligence/assets/gradient_accent_chip_300dpi.png">    </p:cNvPr>
          <p:cNvPicPr>
            <a:picLocks noChangeAspect="1"/>
          </p:cNvPicPr>
          <p:nvPr/>
        </p:nvPicPr>
        <p:blipFill>
          <a:blip r:embed="rId1"/>
          <a:stretch>
            <a:fillRect/>
          </a:stretch>
        </p:blipFill>
        <p:spPr>
          <a:xfrm>
            <a:off x="11534242" y="103327"/>
            <a:ext cx="222199" cy="222199"/>
          </a:xfrm>
          <a:prstGeom prst="rect">
            <a:avLst/>
          </a:prstGeom>
        </p:spPr>
      </p:pic>
      <p:pic>
        <p:nvPicPr>
          <p:cNvPr id="3" name="Image 1" descr="/Users/rishi/Code/ai-tools/chatgpt/kpmg-slidegen/templates/kpmg-diligence/assets/kpmg-logo.sv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03097" y="6267298"/>
            <a:ext cx="483718" cy="196596"/>
          </a:xfrm>
          <a:prstGeom prst="rect">
            <a:avLst/>
          </a:prstGeom>
        </p:spPr>
      </p:pic>
      <p:sp>
        <p:nvSpPr>
          <p:cNvPr id="4" name="Text 0"/>
          <p:cNvSpPr/>
          <p:nvPr/>
        </p:nvSpPr>
        <p:spPr>
          <a:xfrm>
            <a:off x="1885493" y="6267298"/>
            <a:ext cx="6343193" cy="184709"/>
          </a:xfrm>
          <a:prstGeom prst="rect">
            <a:avLst/>
          </a:prstGeom>
          <a:noFill/>
          <a:ln/>
        </p:spPr>
        <p:txBody>
          <a:bodyPr wrap="square" rtlCol="0" anchor="ctr"/>
          <a:lstStyle/>
          <a:p>
            <a:pPr indent="0" marL="0">
              <a:buNone/>
            </a:pPr>
            <a:r>
              <a:rPr lang="en-US" sz="600" dirty="0">
                <a:solidFill>
                  <a:srgbClr val="666666"/>
                </a:solidFill>
                <a:latin typeface="Arial" pitchFamily="34" charset="0"/>
                <a:ea typeface="Arial" pitchFamily="34" charset="-122"/>
                <a:cs typeface="Arial" pitchFamily="34" charset="-120"/>
              </a:rPr>
              <a:t>© 2026 KPMG LLP, a Ontario limited liability partnership and a member firm of the KPMG global organization of independent member firms affiliated with KPMG International Limited, a private English company limited by guarantee. All rights reserved.</a:t>
            </a:r>
            <a:endParaRPr lang="en-US" sz="600" dirty="0"/>
          </a:p>
        </p:txBody>
      </p:sp>
      <p:sp>
        <p:nvSpPr>
          <p:cNvPr id="5" name="Text 1"/>
          <p:cNvSpPr/>
          <p:nvPr/>
        </p:nvSpPr>
        <p:spPr>
          <a:xfrm>
            <a:off x="8183880" y="6267298"/>
            <a:ext cx="749808" cy="184709"/>
          </a:xfrm>
          <a:prstGeom prst="rect">
            <a:avLst/>
          </a:prstGeom>
          <a:noFill/>
          <a:ln/>
        </p:spPr>
        <p:txBody>
          <a:bodyPr wrap="square" rtlCol="0" anchor="ctr"/>
          <a:lstStyle/>
          <a:p>
            <a:pPr algn="l" indent="0" marL="0">
              <a:buNone/>
            </a:pPr>
            <a:r>
              <a:rPr lang="en-US" sz="600" dirty="0">
                <a:solidFill>
                  <a:srgbClr val="666666"/>
                </a:solidFill>
                <a:latin typeface="Arial" pitchFamily="34" charset="0"/>
                <a:ea typeface="Arial" pitchFamily="34" charset="-122"/>
                <a:cs typeface="Arial" pitchFamily="34" charset="-120"/>
              </a:rPr>
              <a:t>kpmg.com/ca</a:t>
            </a:r>
            <a:endParaRPr lang="en-US" sz="600" dirty="0"/>
          </a:p>
        </p:txBody>
      </p:sp>
      <p:sp>
        <p:nvSpPr>
          <p:cNvPr id="6" name="Text 2"/>
          <p:cNvSpPr/>
          <p:nvPr/>
        </p:nvSpPr>
        <p:spPr>
          <a:xfrm>
            <a:off x="8967521" y="6267298"/>
            <a:ext cx="1866290" cy="92354"/>
          </a:xfrm>
          <a:prstGeom prst="rect">
            <a:avLst/>
          </a:prstGeom>
          <a:noFill/>
          <a:ln/>
        </p:spPr>
        <p:txBody>
          <a:bodyPr wrap="square" rtlCol="0" anchor="ctr"/>
          <a:lstStyle/>
          <a:p>
            <a:pPr algn="r" indent="0" marL="0">
              <a:buNone/>
            </a:pPr>
            <a:r>
              <a:rPr lang="en-US" sz="600" dirty="0">
                <a:solidFill>
                  <a:srgbClr val="666666"/>
                </a:solidFill>
                <a:latin typeface="Arial" pitchFamily="34" charset="0"/>
                <a:ea typeface="Arial" pitchFamily="34" charset="-122"/>
                <a:cs typeface="Arial" pitchFamily="34" charset="-120"/>
              </a:rPr>
              <a:t>Document Classification: KPMG Confidential</a:t>
            </a:r>
            <a:endParaRPr lang="en-US" sz="600" dirty="0"/>
          </a:p>
        </p:txBody>
      </p:sp>
      <p:sp>
        <p:nvSpPr>
          <p:cNvPr id="7" name="Shape 3"/>
          <p:cNvSpPr/>
          <p:nvPr/>
        </p:nvSpPr>
        <p:spPr>
          <a:xfrm>
            <a:off x="10874045" y="6267298"/>
            <a:ext cx="0" cy="149047"/>
          </a:xfrm>
          <a:prstGeom prst="line">
            <a:avLst/>
          </a:prstGeom>
          <a:noFill/>
          <a:ln w="12700">
            <a:solidFill>
              <a:srgbClr val="1E49E2"/>
            </a:solidFill>
            <a:prstDash val="solid"/>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KPMG_COVER">
    <p:bg>
      <p:bgPr>
        <a:solidFill>
          <a:srgbClr val="1E49E2"/>
        </a:solidFill>
      </p:bgPr>
    </p:bg>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KPMG_SECTION_DARK">
    <p:bg>
      <p:bgPr>
        <a:solidFill>
          <a:srgbClr val="1E49E2"/>
        </a:solidFill>
      </p:bgPr>
    </p:bg>
    <p:spTree>
      <p:nvGrpSpPr>
        <p:cNvPr id="1" name=""/>
        <p:cNvGrpSpPr/>
        <p:nvPr/>
      </p:nvGrpSpPr>
      <p:grpSpPr>
        <a:xfrm>
          <a:off x="0" y="0"/>
          <a:ext cx="0" cy="0"/>
          <a:chOff x="0" y="0"/>
          <a:chExt cx="0" cy="0"/>
        </a:xfrm>
      </p:grpSpPr>
      <p:pic>
        <p:nvPicPr>
          <p:cNvPr id="2" name="Image 0" descr="/Users/rishi/Code/ai-tools/chatgpt/kpmg-slidegen/templates/kpmg-diligence/assets/gradient_divider_window_300dpi.png">    </p:cNvPr>
          <p:cNvPicPr>
            <a:picLocks noChangeAspect="1"/>
          </p:cNvPicPr>
          <p:nvPr/>
        </p:nvPicPr>
        <p:blipFill>
          <a:blip r:embed="rId1"/>
          <a:stretch>
            <a:fillRect/>
          </a:stretch>
        </p:blipFill>
        <p:spPr>
          <a:xfrm>
            <a:off x="998525" y="975665"/>
            <a:ext cx="7061911" cy="4905756"/>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KPMG_SECTION">
    <p:bg>
      <p:bgPr>
        <a:solidFill>
          <a:srgbClr val="1E49E2"/>
        </a:solidFill>
      </p:bgPr>
    </p:bg>
    <p:spTree>
      <p:nvGrpSpPr>
        <p:cNvPr id="1" name=""/>
        <p:cNvGrpSpPr/>
        <p:nvPr/>
      </p:nvGrpSpPr>
      <p:grpSpPr>
        <a:xfrm>
          <a:off x="0" y="0"/>
          <a:ext cx="0" cy="0"/>
          <a:chOff x="0" y="0"/>
          <a:chExt cx="0" cy="0"/>
        </a:xfrm>
      </p:grpSpPr>
      <p:pic>
        <p:nvPicPr>
          <p:cNvPr id="2" name="Image 0" descr="/Users/rishi/Code/ai-tools/chatgpt/kpmg-slidegen/templates/kpmg-diligence/assets/gradient_divider_window_300dpi.png">    </p:cNvPr>
          <p:cNvPicPr>
            <a:picLocks noChangeAspect="1"/>
          </p:cNvPicPr>
          <p:nvPr/>
        </p:nvPicPr>
        <p:blipFill>
          <a:blip r:embed="rId1"/>
          <a:stretch>
            <a:fillRect/>
          </a:stretch>
        </p:blipFill>
        <p:spPr>
          <a:xfrm>
            <a:off x="998525" y="975665"/>
            <a:ext cx="7061911" cy="4905756"/>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KPMG_SECTION_LIGHT">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KPMG_CLOSING">
    <p:bg>
      <p:bgPr>
        <a:solidFill>
          <a:srgbClr val="1E49E2"/>
        </a:solidFill>
      </p:bgPr>
    </p:bg>
    <p:spTree>
      <p:nvGrpSpPr>
        <p:cNvPr id="1" name=""/>
        <p:cNvGrpSpPr/>
        <p:nvPr/>
      </p:nvGrpSpPr>
      <p:grpSpPr>
        <a:xfrm>
          <a:off x="0" y="0"/>
          <a:ext cx="0" cy="0"/>
          <a:chOff x="0" y="0"/>
          <a:chExt cx="0" cy="0"/>
        </a:xfrm>
      </p:grpSpPr>
      <p:pic>
        <p:nvPicPr>
          <p:cNvPr id="2" name="Image 0" descr="/Users/rishi/Code/ai-tools/chatgpt/kpmg-slidegen/templates/kpmg-diligence/assets/gradient_back_cover_300dpi.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jpeg"/><Relationship Id="rId3" Type="http://schemas.openxmlformats.org/officeDocument/2006/relationships/slideLayout" Target="../slideLayouts/slideLayout4.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chart" Target="/ppt/charts/chart8.xml"/><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chart" Target="/ppt/charts/chart9.xml"/><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chart" Target="/ppt/charts/chart10.xml"/><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chart" Target="/ppt/charts/chart11.xml"/><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chart" Target="/ppt/charts/chart12.xml"/><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chart" Target="/ppt/charts/chart13.xml"/><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chart" Target="/ppt/charts/chart14.xml"/><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chart" Target="/ppt/charts/chart15.xml"/><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7" Type="http://schemas.openxmlformats.org/officeDocument/2006/relationships/hyperlink" Target="https://kpmg.com" TargetMode="External"/><Relationship Id="rId1" Type="http://schemas.openxmlformats.org/officeDocument/2006/relationships/image" Target="../media/image-40-1.png"/><Relationship Id="rId2" Type="http://schemas.openxmlformats.org/officeDocument/2006/relationships/image" Target="../media/image-40-2.png"/><Relationship Id="rId3" Type="http://schemas.openxmlformats.org/officeDocument/2006/relationships/image" Target="../media/image-40-3.png"/><Relationship Id="rId4" Type="http://schemas.openxmlformats.org/officeDocument/2006/relationships/image" Target="../media/image-40-4.png"/><Relationship Id="rId5" Type="http://schemas.openxmlformats.org/officeDocument/2006/relationships/image" Target="../media/image-40-5.png"/><Relationship Id="rId6" Type="http://schemas.openxmlformats.org/officeDocument/2006/relationships/image" Target="../media/image-40-6.png"/><Relationship Id="rId8" Type="http://schemas.openxmlformats.org/officeDocument/2006/relationships/slideLayout" Target="../slideLayouts/slideLayout8.xml"/><Relationship Id="rId9" Type="http://schemas.openxmlformats.org/officeDocument/2006/relationships/notesSlide" Target="../notesSlides/notesSlide4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KPMG logo">    </p:cNvPr>
          <p:cNvPicPr>
            <a:picLocks noChangeAspect="1"/>
          </p:cNvPicPr>
          <p:nvPr/>
        </p:nvPicPr>
        <p:blipFill>
          <a:blip r:embed="rId1"/>
          <a:stretch>
            <a:fillRect/>
          </a:stretch>
        </p:blipFill>
        <p:spPr>
          <a:xfrm>
            <a:off x="998476" y="371311"/>
            <a:ext cx="914400" cy="368346"/>
          </a:xfrm>
          <a:prstGeom prst="rect">
            <a:avLst/>
          </a:prstGeom>
        </p:spPr>
      </p:pic>
      <p:sp>
        <p:nvSpPr>
          <p:cNvPr id="3" name="Text 0"/>
          <p:cNvSpPr/>
          <p:nvPr/>
        </p:nvSpPr>
        <p:spPr>
          <a:xfrm>
            <a:off x="998478" y="1456388"/>
            <a:ext cx="3697810" cy="3427743"/>
          </a:xfrm>
          <a:prstGeom prst="rect">
            <a:avLst/>
          </a:prstGeom>
          <a:noFill/>
          <a:ln/>
        </p:spPr>
        <p:txBody>
          <a:bodyPr wrap="square" lIns="0" tIns="0" rIns="0" bIns="0" rtlCol="0" anchor="t"/>
          <a:lstStyle/>
          <a:p>
            <a:pPr algn="l" indent="0" marL="0">
              <a:buNone/>
            </a:pPr>
            <a:r>
              <a:rPr lang="en-US" sz="4000" b="1" dirty="0">
                <a:solidFill>
                  <a:srgbClr val="FFFFFF"/>
                </a:solidFill>
                <a:latin typeface="Arial" pitchFamily="34" charset="0"/>
                <a:ea typeface="Arial" pitchFamily="34" charset="-122"/>
                <a:cs typeface="Arial" pitchFamily="34" charset="-120"/>
              </a:rPr>
              <a:t>Johnson</a:t>
            </a:r>
            <a:endParaRPr lang="en-US" sz="4000" dirty="0"/>
          </a:p>
          <a:p>
            <a:pPr algn="l" indent="0" marL="0">
              <a:buNone/>
            </a:pPr>
            <a:r>
              <a:rPr lang="en-US" sz="4000" b="1" dirty="0">
                <a:solidFill>
                  <a:srgbClr val="FFFFFF"/>
                </a:solidFill>
                <a:latin typeface="Arial" pitchFamily="34" charset="0"/>
                <a:ea typeface="Arial" pitchFamily="34" charset="-122"/>
                <a:cs typeface="Arial" pitchFamily="34" charset="-120"/>
              </a:rPr>
              <a:t>Stores IC</a:t>
            </a:r>
            <a:endParaRPr lang="en-US" sz="4000" dirty="0"/>
          </a:p>
          <a:p>
            <a:pPr algn="l" indent="0" marL="0">
              <a:buNone/>
            </a:pPr>
            <a:r>
              <a:rPr lang="en-US" sz="4000" b="1" dirty="0">
                <a:solidFill>
                  <a:srgbClr val="FFFFFF"/>
                </a:solidFill>
                <a:latin typeface="Arial" pitchFamily="34" charset="0"/>
                <a:ea typeface="Arial" pitchFamily="34" charset="-122"/>
                <a:cs typeface="Arial" pitchFamily="34" charset="-120"/>
              </a:rPr>
              <a:t>Diligence</a:t>
            </a:r>
            <a:endParaRPr lang="en-US" sz="4000" dirty="0"/>
          </a:p>
          <a:p>
            <a:pPr algn="l" indent="0" marL="0">
              <a:buNone/>
            </a:pPr>
            <a:r>
              <a:rPr lang="en-US" sz="4000" b="1" dirty="0">
                <a:solidFill>
                  <a:srgbClr val="FFFFFF"/>
                </a:solidFill>
                <a:latin typeface="Arial" pitchFamily="34" charset="0"/>
                <a:ea typeface="Arial" pitchFamily="34" charset="-122"/>
                <a:cs typeface="Arial" pitchFamily="34" charset="-120"/>
              </a:rPr>
              <a:t>Review</a:t>
            </a:r>
            <a:endParaRPr lang="en-US" sz="4000" dirty="0"/>
          </a:p>
        </p:txBody>
      </p:sp>
      <p:sp>
        <p:nvSpPr>
          <p:cNvPr id="4" name="Text 1"/>
          <p:cNvSpPr/>
          <p:nvPr/>
        </p:nvSpPr>
        <p:spPr>
          <a:xfrm>
            <a:off x="998433" y="5005883"/>
            <a:ext cx="3697834" cy="809976"/>
          </a:xfrm>
          <a:prstGeom prst="rect">
            <a:avLst/>
          </a:prstGeom>
          <a:noFill/>
          <a:ln/>
        </p:spPr>
        <p:txBody>
          <a:bodyPr wrap="square" lIns="0" tIns="0" rIns="0" bIns="0" rtlCol="0" anchor="t"/>
          <a:lstStyle/>
          <a:p>
            <a:pPr algn="l" indent="0" marL="0">
              <a:buNone/>
            </a:pPr>
            <a:r>
              <a:rPr lang="en-US" sz="1400" dirty="0">
                <a:solidFill>
                  <a:srgbClr val="FFFFFF"/>
                </a:solidFill>
                <a:latin typeface="Arial" pitchFamily="34" charset="0"/>
                <a:ea typeface="Arial" pitchFamily="34" charset="-122"/>
                <a:cs typeface="Arial" pitchFamily="34" charset="-120"/>
              </a:rPr>
              <a:t>Extensive investment committee pack covering commercial, QoE, cash, operations, and Starbucks benchmark context</a:t>
            </a:r>
            <a:endParaRPr lang="en-US" sz="1400" dirty="0"/>
          </a:p>
        </p:txBody>
      </p:sp>
      <p:pic>
        <p:nvPicPr>
          <p:cNvPr id="5" name="Image 1" descr="Cover photograph">    </p:cNvPr>
          <p:cNvPicPr>
            <a:picLocks noChangeAspect="1"/>
          </p:cNvPicPr>
          <p:nvPr/>
        </p:nvPicPr>
        <p:blipFill>
          <a:blip r:embed="rId2"/>
          <a:srcRect l="4986" r="4986" t="0" b="0"/>
          <a:stretch/>
        </p:blipFill>
        <p:spPr>
          <a:xfrm>
            <a:off x="4915965" y="1456388"/>
            <a:ext cx="6283848" cy="4364991"/>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995782" y="431597"/>
            <a:ext cx="10191628" cy="565191"/>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Contents</a:t>
            </a:r>
            <a:endParaRPr lang="en-US" sz="3200" dirty="0"/>
          </a:p>
        </p:txBody>
      </p:sp>
      <p:sp>
        <p:nvSpPr>
          <p:cNvPr id="3" name="Text 1"/>
          <p:cNvSpPr/>
          <p:nvPr/>
        </p:nvSpPr>
        <p:spPr>
          <a:xfrm>
            <a:off x="995782" y="1261872"/>
            <a:ext cx="1907987" cy="475488"/>
          </a:xfrm>
          <a:prstGeom prst="rect">
            <a:avLst/>
          </a:prstGeom>
          <a:noFill/>
          <a:ln/>
        </p:spPr>
        <p:txBody>
          <a:bodyPr wrap="square" lIns="0" tIns="0" rIns="0" bIns="0" rtlCol="0" anchor="t"/>
          <a:lstStyle/>
          <a:p>
            <a:pPr indent="0" marL="0">
              <a:buNone/>
            </a:pPr>
            <a:r>
              <a:rPr lang="en-US" sz="3400" b="1" dirty="0">
                <a:solidFill>
                  <a:srgbClr val="00338D"/>
                </a:solidFill>
                <a:latin typeface="Arial" pitchFamily="34" charset="0"/>
                <a:ea typeface="Arial" pitchFamily="34" charset="-122"/>
                <a:cs typeface="Arial" pitchFamily="34" charset="-120"/>
              </a:rPr>
              <a:t>01</a:t>
            </a:r>
            <a:endParaRPr lang="en-US" sz="3400" dirty="0"/>
          </a:p>
        </p:txBody>
      </p:sp>
      <p:sp>
        <p:nvSpPr>
          <p:cNvPr id="4" name="Shape 2"/>
          <p:cNvSpPr/>
          <p:nvPr/>
        </p:nvSpPr>
        <p:spPr>
          <a:xfrm>
            <a:off x="995782" y="1737360"/>
            <a:ext cx="502920" cy="0"/>
          </a:xfrm>
          <a:prstGeom prst="line">
            <a:avLst/>
          </a:prstGeom>
          <a:noFill/>
          <a:ln w="12700">
            <a:solidFill>
              <a:srgbClr val="00338D"/>
            </a:solidFill>
            <a:prstDash val="solid"/>
          </a:ln>
        </p:spPr>
      </p:sp>
      <p:sp>
        <p:nvSpPr>
          <p:cNvPr id="5" name="Text 3"/>
          <p:cNvSpPr/>
          <p:nvPr/>
        </p:nvSpPr>
        <p:spPr>
          <a:xfrm>
            <a:off x="995782" y="1783080"/>
            <a:ext cx="1907987" cy="210312"/>
          </a:xfrm>
          <a:prstGeom prst="rect">
            <a:avLst/>
          </a:prstGeom>
          <a:noFill/>
          <a:ln/>
        </p:spPr>
        <p:txBody>
          <a:bodyPr wrap="square" lIns="0" tIns="0" rIns="0" bIns="0" rtlCol="0" anchor="t"/>
          <a:lstStyle/>
          <a:p>
            <a:pPr indent="0" marL="0">
              <a:buNone/>
            </a:pPr>
            <a:r>
              <a:rPr lang="en-US" sz="1200" b="1" dirty="0">
                <a:solidFill>
                  <a:srgbClr val="00338D"/>
                </a:solidFill>
                <a:latin typeface="Arial" pitchFamily="34" charset="0"/>
                <a:ea typeface="Arial" pitchFamily="34" charset="-122"/>
                <a:cs typeface="Arial" pitchFamily="34" charset="-120"/>
              </a:rPr>
              <a:t>Executive summary</a:t>
            </a:r>
            <a:endParaRPr lang="en-US" sz="1200" dirty="0"/>
          </a:p>
        </p:txBody>
      </p:sp>
      <p:sp>
        <p:nvSpPr>
          <p:cNvPr id="6" name="Text 4"/>
          <p:cNvSpPr/>
          <p:nvPr/>
        </p:nvSpPr>
        <p:spPr>
          <a:xfrm>
            <a:off x="995782" y="2020824"/>
            <a:ext cx="1907987" cy="182880"/>
          </a:xfrm>
          <a:prstGeom prst="rect">
            <a:avLst/>
          </a:prstGeom>
          <a:noFill/>
          <a:ln/>
        </p:spPr>
        <p:txBody>
          <a:bodyPr wrap="square" lIns="0" tIns="0" rIns="0" bIns="0" rtlCol="0" anchor="t"/>
          <a:lstStyle/>
          <a:p>
            <a:pPr indent="0" marL="0">
              <a:buNone/>
            </a:pPr>
            <a:r>
              <a:rPr lang="en-US" sz="1000" b="1" dirty="0">
                <a:solidFill>
                  <a:srgbClr val="00338D"/>
                </a:solidFill>
                <a:latin typeface="Arial" pitchFamily="34" charset="0"/>
                <a:ea typeface="Arial" pitchFamily="34" charset="-122"/>
                <a:cs typeface="Arial" pitchFamily="34" charset="-120"/>
              </a:rPr>
              <a:t>(p. 2-5)</a:t>
            </a:r>
            <a:endParaRPr lang="en-US" sz="1000" dirty="0"/>
          </a:p>
        </p:txBody>
      </p:sp>
      <p:sp>
        <p:nvSpPr>
          <p:cNvPr id="7" name="Text 5"/>
          <p:cNvSpPr/>
          <p:nvPr/>
        </p:nvSpPr>
        <p:spPr>
          <a:xfrm>
            <a:off x="995782" y="2286000"/>
            <a:ext cx="1907987" cy="1124712"/>
          </a:xfrm>
          <a:prstGeom prst="rect">
            <a:avLst/>
          </a:prstGeom>
          <a:noFill/>
          <a:ln/>
        </p:spPr>
        <p:txBody>
          <a:bodyPr wrap="square" lIns="46800" tIns="72000" rIns="90000" bIns="46800" rtlCol="0" anchor="t"/>
          <a:lstStyle/>
          <a:p>
            <a:pPr indent="0" marL="0">
              <a:buNone/>
            </a:pPr>
            <a:r>
              <a:rPr lang="en-US" sz="1000" dirty="0">
                <a:solidFill>
                  <a:srgbClr val="000000"/>
                </a:solidFill>
                <a:latin typeface="Arial" pitchFamily="34" charset="0"/>
                <a:ea typeface="Arial" pitchFamily="34" charset="-122"/>
                <a:cs typeface="Arial" pitchFamily="34" charset="-120"/>
              </a:rPr>
              <a:t>Decision ask and recommendation</a:t>
            </a:r>
            <a:endParaRPr lang="en-US" sz="1000" dirty="0"/>
          </a:p>
          <a:p>
            <a:pPr indent="0" marL="0">
              <a:buNone/>
            </a:pPr>
            <a:r>
              <a:rPr lang="en-US" sz="1000" dirty="0">
                <a:solidFill>
                  <a:srgbClr val="000000"/>
                </a:solidFill>
                <a:latin typeface="Arial" pitchFamily="34" charset="0"/>
                <a:ea typeface="Arial" pitchFamily="34" charset="-122"/>
                <a:cs typeface="Arial" pitchFamily="34" charset="-120"/>
              </a:rPr>
              <a:t>Growth, quality, and risk headline evidence</a:t>
            </a:r>
            <a:endParaRPr lang="en-US" sz="1000" dirty="0"/>
          </a:p>
        </p:txBody>
      </p:sp>
      <p:sp>
        <p:nvSpPr>
          <p:cNvPr id="8" name="Text 6"/>
          <p:cNvSpPr/>
          <p:nvPr/>
        </p:nvSpPr>
        <p:spPr>
          <a:xfrm>
            <a:off x="3068361" y="1261872"/>
            <a:ext cx="1907987" cy="475488"/>
          </a:xfrm>
          <a:prstGeom prst="rect">
            <a:avLst/>
          </a:prstGeom>
          <a:noFill/>
          <a:ln/>
        </p:spPr>
        <p:txBody>
          <a:bodyPr wrap="square" lIns="0" tIns="0" rIns="0" bIns="0" rtlCol="0" anchor="t"/>
          <a:lstStyle/>
          <a:p>
            <a:pPr indent="0" marL="0">
              <a:buNone/>
            </a:pPr>
            <a:r>
              <a:rPr lang="en-US" sz="3400" b="1" dirty="0">
                <a:solidFill>
                  <a:srgbClr val="00338D"/>
                </a:solidFill>
                <a:latin typeface="Arial" pitchFamily="34" charset="0"/>
                <a:ea typeface="Arial" pitchFamily="34" charset="-122"/>
                <a:cs typeface="Arial" pitchFamily="34" charset="-120"/>
              </a:rPr>
              <a:t>02</a:t>
            </a:r>
            <a:endParaRPr lang="en-US" sz="3400" dirty="0"/>
          </a:p>
        </p:txBody>
      </p:sp>
      <p:sp>
        <p:nvSpPr>
          <p:cNvPr id="9" name="Shape 7"/>
          <p:cNvSpPr/>
          <p:nvPr/>
        </p:nvSpPr>
        <p:spPr>
          <a:xfrm>
            <a:off x="3068361" y="1737360"/>
            <a:ext cx="502920" cy="0"/>
          </a:xfrm>
          <a:prstGeom prst="line">
            <a:avLst/>
          </a:prstGeom>
          <a:noFill/>
          <a:ln w="12700">
            <a:solidFill>
              <a:srgbClr val="00338D"/>
            </a:solidFill>
            <a:prstDash val="solid"/>
          </a:ln>
        </p:spPr>
      </p:sp>
      <p:sp>
        <p:nvSpPr>
          <p:cNvPr id="10" name="Text 8"/>
          <p:cNvSpPr/>
          <p:nvPr/>
        </p:nvSpPr>
        <p:spPr>
          <a:xfrm>
            <a:off x="3068361" y="1783080"/>
            <a:ext cx="1907987" cy="210312"/>
          </a:xfrm>
          <a:prstGeom prst="rect">
            <a:avLst/>
          </a:prstGeom>
          <a:noFill/>
          <a:ln/>
        </p:spPr>
        <p:txBody>
          <a:bodyPr wrap="square" lIns="0" tIns="0" rIns="0" bIns="0" rtlCol="0" anchor="t"/>
          <a:lstStyle/>
          <a:p>
            <a:pPr indent="0" marL="0">
              <a:buNone/>
            </a:pPr>
            <a:r>
              <a:rPr lang="en-US" sz="1200" b="1" dirty="0">
                <a:solidFill>
                  <a:srgbClr val="00338D"/>
                </a:solidFill>
                <a:latin typeface="Arial" pitchFamily="34" charset="0"/>
                <a:ea typeface="Arial" pitchFamily="34" charset="-122"/>
                <a:cs typeface="Arial" pitchFamily="34" charset="-120"/>
              </a:rPr>
              <a:t>Business and commercial diligence</a:t>
            </a:r>
            <a:endParaRPr lang="en-US" sz="1200" dirty="0"/>
          </a:p>
        </p:txBody>
      </p:sp>
      <p:sp>
        <p:nvSpPr>
          <p:cNvPr id="11" name="Text 9"/>
          <p:cNvSpPr/>
          <p:nvPr/>
        </p:nvSpPr>
        <p:spPr>
          <a:xfrm>
            <a:off x="3068361" y="2020824"/>
            <a:ext cx="1907987" cy="182880"/>
          </a:xfrm>
          <a:prstGeom prst="rect">
            <a:avLst/>
          </a:prstGeom>
          <a:noFill/>
          <a:ln/>
        </p:spPr>
        <p:txBody>
          <a:bodyPr wrap="square" lIns="0" tIns="0" rIns="0" bIns="0" rtlCol="0" anchor="t"/>
          <a:lstStyle/>
          <a:p>
            <a:pPr indent="0" marL="0">
              <a:buNone/>
            </a:pPr>
            <a:r>
              <a:rPr lang="en-US" sz="1000" b="1" dirty="0">
                <a:solidFill>
                  <a:srgbClr val="00338D"/>
                </a:solidFill>
                <a:latin typeface="Arial" pitchFamily="34" charset="0"/>
                <a:ea typeface="Arial" pitchFamily="34" charset="-122"/>
                <a:cs typeface="Arial" pitchFamily="34" charset="-120"/>
              </a:rPr>
              <a:t>(p. 6-11)</a:t>
            </a:r>
            <a:endParaRPr lang="en-US" sz="1000" dirty="0"/>
          </a:p>
        </p:txBody>
      </p:sp>
      <p:sp>
        <p:nvSpPr>
          <p:cNvPr id="12" name="Text 10"/>
          <p:cNvSpPr/>
          <p:nvPr/>
        </p:nvSpPr>
        <p:spPr>
          <a:xfrm>
            <a:off x="3068361" y="2286000"/>
            <a:ext cx="1907987" cy="1124712"/>
          </a:xfrm>
          <a:prstGeom prst="rect">
            <a:avLst/>
          </a:prstGeom>
          <a:noFill/>
          <a:ln/>
        </p:spPr>
        <p:txBody>
          <a:bodyPr wrap="square" lIns="46800" tIns="72000" rIns="90000" bIns="46800" rtlCol="0" anchor="t"/>
          <a:lstStyle/>
          <a:p>
            <a:pPr indent="0" marL="0">
              <a:buNone/>
            </a:pPr>
            <a:r>
              <a:rPr lang="en-US" sz="1000" dirty="0">
                <a:solidFill>
                  <a:srgbClr val="000000"/>
                </a:solidFill>
                <a:latin typeface="Arial" pitchFamily="34" charset="0"/>
                <a:ea typeface="Arial" pitchFamily="34" charset="-122"/>
                <a:cs typeface="Arial" pitchFamily="34" charset="-120"/>
              </a:rPr>
              <a:t>Business model and footprint</a:t>
            </a:r>
            <a:endParaRPr lang="en-US" sz="1000" dirty="0"/>
          </a:p>
          <a:p>
            <a:pPr indent="0" marL="0">
              <a:buNone/>
            </a:pPr>
            <a:r>
              <a:rPr lang="en-US" sz="1000" dirty="0">
                <a:solidFill>
                  <a:srgbClr val="000000"/>
                </a:solidFill>
                <a:latin typeface="Arial" pitchFamily="34" charset="0"/>
                <a:ea typeface="Arial" pitchFamily="34" charset="-122"/>
                <a:cs typeface="Arial" pitchFamily="34" charset="-120"/>
              </a:rPr>
              <a:t>Customer events and concentration risks</a:t>
            </a:r>
            <a:endParaRPr lang="en-US" sz="1000" dirty="0"/>
          </a:p>
        </p:txBody>
      </p:sp>
      <p:sp>
        <p:nvSpPr>
          <p:cNvPr id="13" name="Text 11"/>
          <p:cNvSpPr/>
          <p:nvPr/>
        </p:nvSpPr>
        <p:spPr>
          <a:xfrm>
            <a:off x="5140940" y="1261872"/>
            <a:ext cx="1907987" cy="475488"/>
          </a:xfrm>
          <a:prstGeom prst="rect">
            <a:avLst/>
          </a:prstGeom>
          <a:noFill/>
          <a:ln/>
        </p:spPr>
        <p:txBody>
          <a:bodyPr wrap="square" lIns="0" tIns="0" rIns="0" bIns="0" rtlCol="0" anchor="t"/>
          <a:lstStyle/>
          <a:p>
            <a:pPr indent="0" marL="0">
              <a:buNone/>
            </a:pPr>
            <a:r>
              <a:rPr lang="en-US" sz="3400" b="1" dirty="0">
                <a:solidFill>
                  <a:srgbClr val="00338D"/>
                </a:solidFill>
                <a:latin typeface="Arial" pitchFamily="34" charset="0"/>
                <a:ea typeface="Arial" pitchFamily="34" charset="-122"/>
                <a:cs typeface="Arial" pitchFamily="34" charset="-120"/>
              </a:rPr>
              <a:t>03</a:t>
            </a:r>
            <a:endParaRPr lang="en-US" sz="3400" dirty="0"/>
          </a:p>
        </p:txBody>
      </p:sp>
      <p:sp>
        <p:nvSpPr>
          <p:cNvPr id="14" name="Shape 12"/>
          <p:cNvSpPr/>
          <p:nvPr/>
        </p:nvSpPr>
        <p:spPr>
          <a:xfrm>
            <a:off x="5140940" y="1737360"/>
            <a:ext cx="502920" cy="0"/>
          </a:xfrm>
          <a:prstGeom prst="line">
            <a:avLst/>
          </a:prstGeom>
          <a:noFill/>
          <a:ln w="12700">
            <a:solidFill>
              <a:srgbClr val="00338D"/>
            </a:solidFill>
            <a:prstDash val="solid"/>
          </a:ln>
        </p:spPr>
      </p:sp>
      <p:sp>
        <p:nvSpPr>
          <p:cNvPr id="15" name="Text 13"/>
          <p:cNvSpPr/>
          <p:nvPr/>
        </p:nvSpPr>
        <p:spPr>
          <a:xfrm>
            <a:off x="5140940" y="1783080"/>
            <a:ext cx="1907987" cy="210312"/>
          </a:xfrm>
          <a:prstGeom prst="rect">
            <a:avLst/>
          </a:prstGeom>
          <a:noFill/>
          <a:ln/>
        </p:spPr>
        <p:txBody>
          <a:bodyPr wrap="square" lIns="0" tIns="0" rIns="0" bIns="0" rtlCol="0" anchor="t"/>
          <a:lstStyle/>
          <a:p>
            <a:pPr indent="0" marL="0">
              <a:buNone/>
            </a:pPr>
            <a:r>
              <a:rPr lang="en-US" sz="1200" b="1" dirty="0">
                <a:solidFill>
                  <a:srgbClr val="00338D"/>
                </a:solidFill>
                <a:latin typeface="Arial" pitchFamily="34" charset="0"/>
                <a:ea typeface="Arial" pitchFamily="34" charset="-122"/>
                <a:cs typeface="Arial" pitchFamily="34" charset="-120"/>
              </a:rPr>
              <a:t>Financial performance and QoE</a:t>
            </a:r>
            <a:endParaRPr lang="en-US" sz="1200" dirty="0"/>
          </a:p>
        </p:txBody>
      </p:sp>
      <p:sp>
        <p:nvSpPr>
          <p:cNvPr id="16" name="Text 14"/>
          <p:cNvSpPr/>
          <p:nvPr/>
        </p:nvSpPr>
        <p:spPr>
          <a:xfrm>
            <a:off x="5140940" y="2020824"/>
            <a:ext cx="1907987" cy="182880"/>
          </a:xfrm>
          <a:prstGeom prst="rect">
            <a:avLst/>
          </a:prstGeom>
          <a:noFill/>
          <a:ln/>
        </p:spPr>
        <p:txBody>
          <a:bodyPr wrap="square" lIns="0" tIns="0" rIns="0" bIns="0" rtlCol="0" anchor="t"/>
          <a:lstStyle/>
          <a:p>
            <a:pPr indent="0" marL="0">
              <a:buNone/>
            </a:pPr>
            <a:r>
              <a:rPr lang="en-US" sz="1000" b="1" dirty="0">
                <a:solidFill>
                  <a:srgbClr val="00338D"/>
                </a:solidFill>
                <a:latin typeface="Arial" pitchFamily="34" charset="0"/>
                <a:ea typeface="Arial" pitchFamily="34" charset="-122"/>
                <a:cs typeface="Arial" pitchFamily="34" charset="-120"/>
              </a:rPr>
              <a:t>(p. 12-17)</a:t>
            </a:r>
            <a:endParaRPr lang="en-US" sz="1000" dirty="0"/>
          </a:p>
        </p:txBody>
      </p:sp>
      <p:sp>
        <p:nvSpPr>
          <p:cNvPr id="17" name="Text 15"/>
          <p:cNvSpPr/>
          <p:nvPr/>
        </p:nvSpPr>
        <p:spPr>
          <a:xfrm>
            <a:off x="5140940" y="2286000"/>
            <a:ext cx="1907987" cy="1124712"/>
          </a:xfrm>
          <a:prstGeom prst="rect">
            <a:avLst/>
          </a:prstGeom>
          <a:noFill/>
          <a:ln/>
        </p:spPr>
        <p:txBody>
          <a:bodyPr wrap="square" lIns="46800" tIns="72000" rIns="90000" bIns="46800" rtlCol="0" anchor="t"/>
          <a:lstStyle/>
          <a:p>
            <a:pPr indent="0" marL="0">
              <a:buNone/>
            </a:pPr>
            <a:r>
              <a:rPr lang="en-US" sz="1000" dirty="0">
                <a:solidFill>
                  <a:srgbClr val="000000"/>
                </a:solidFill>
                <a:latin typeface="Arial" pitchFamily="34" charset="0"/>
                <a:ea typeface="Arial" pitchFamily="34" charset="-122"/>
                <a:cs typeface="Arial" pitchFamily="34" charset="-120"/>
              </a:rPr>
              <a:t>Revenue, margin, and EBITDA bridge</a:t>
            </a:r>
            <a:endParaRPr lang="en-US" sz="1000" dirty="0"/>
          </a:p>
          <a:p>
            <a:pPr indent="0" marL="0">
              <a:buNone/>
            </a:pPr>
            <a:r>
              <a:rPr lang="en-US" sz="1000" dirty="0">
                <a:solidFill>
                  <a:srgbClr val="000000"/>
                </a:solidFill>
                <a:latin typeface="Arial" pitchFamily="34" charset="0"/>
                <a:ea typeface="Arial" pitchFamily="34" charset="-122"/>
                <a:cs typeface="Arial" pitchFamily="34" charset="-120"/>
              </a:rPr>
              <a:t>Scenario downside implications</a:t>
            </a:r>
            <a:endParaRPr lang="en-US" sz="1000" dirty="0"/>
          </a:p>
        </p:txBody>
      </p:sp>
      <p:sp>
        <p:nvSpPr>
          <p:cNvPr id="18" name="Text 16"/>
          <p:cNvSpPr/>
          <p:nvPr/>
        </p:nvSpPr>
        <p:spPr>
          <a:xfrm>
            <a:off x="7213519" y="1261872"/>
            <a:ext cx="1907987" cy="475488"/>
          </a:xfrm>
          <a:prstGeom prst="rect">
            <a:avLst/>
          </a:prstGeom>
          <a:noFill/>
          <a:ln/>
        </p:spPr>
        <p:txBody>
          <a:bodyPr wrap="square" lIns="0" tIns="0" rIns="0" bIns="0" rtlCol="0" anchor="t"/>
          <a:lstStyle/>
          <a:p>
            <a:pPr indent="0" marL="0">
              <a:buNone/>
            </a:pPr>
            <a:r>
              <a:rPr lang="en-US" sz="3400" b="1" dirty="0">
                <a:solidFill>
                  <a:srgbClr val="00338D"/>
                </a:solidFill>
                <a:latin typeface="Arial" pitchFamily="34" charset="0"/>
                <a:ea typeface="Arial" pitchFamily="34" charset="-122"/>
                <a:cs typeface="Arial" pitchFamily="34" charset="-120"/>
              </a:rPr>
              <a:t>04</a:t>
            </a:r>
            <a:endParaRPr lang="en-US" sz="3400" dirty="0"/>
          </a:p>
        </p:txBody>
      </p:sp>
      <p:sp>
        <p:nvSpPr>
          <p:cNvPr id="19" name="Shape 17"/>
          <p:cNvSpPr/>
          <p:nvPr/>
        </p:nvSpPr>
        <p:spPr>
          <a:xfrm>
            <a:off x="7213519" y="1737360"/>
            <a:ext cx="502920" cy="0"/>
          </a:xfrm>
          <a:prstGeom prst="line">
            <a:avLst/>
          </a:prstGeom>
          <a:noFill/>
          <a:ln w="12700">
            <a:solidFill>
              <a:srgbClr val="00338D"/>
            </a:solidFill>
            <a:prstDash val="solid"/>
          </a:ln>
        </p:spPr>
      </p:sp>
      <p:sp>
        <p:nvSpPr>
          <p:cNvPr id="20" name="Text 18"/>
          <p:cNvSpPr/>
          <p:nvPr/>
        </p:nvSpPr>
        <p:spPr>
          <a:xfrm>
            <a:off x="7213519" y="1783080"/>
            <a:ext cx="1907987" cy="210312"/>
          </a:xfrm>
          <a:prstGeom prst="rect">
            <a:avLst/>
          </a:prstGeom>
          <a:noFill/>
          <a:ln/>
        </p:spPr>
        <p:txBody>
          <a:bodyPr wrap="square" lIns="0" tIns="0" rIns="0" bIns="0" rtlCol="0" anchor="t"/>
          <a:lstStyle/>
          <a:p>
            <a:pPr indent="0" marL="0">
              <a:buNone/>
            </a:pPr>
            <a:r>
              <a:rPr lang="en-US" sz="1200" b="1" dirty="0">
                <a:solidFill>
                  <a:srgbClr val="00338D"/>
                </a:solidFill>
                <a:latin typeface="Arial" pitchFamily="34" charset="0"/>
                <a:ea typeface="Arial" pitchFamily="34" charset="-122"/>
                <a:cs typeface="Arial" pitchFamily="34" charset="-120"/>
              </a:rPr>
              <a:t>Working capital and cash</a:t>
            </a:r>
            <a:endParaRPr lang="en-US" sz="1200" dirty="0"/>
          </a:p>
        </p:txBody>
      </p:sp>
      <p:sp>
        <p:nvSpPr>
          <p:cNvPr id="21" name="Text 19"/>
          <p:cNvSpPr/>
          <p:nvPr/>
        </p:nvSpPr>
        <p:spPr>
          <a:xfrm>
            <a:off x="7213519" y="2020824"/>
            <a:ext cx="1907987" cy="182880"/>
          </a:xfrm>
          <a:prstGeom prst="rect">
            <a:avLst/>
          </a:prstGeom>
          <a:noFill/>
          <a:ln/>
        </p:spPr>
        <p:txBody>
          <a:bodyPr wrap="square" lIns="0" tIns="0" rIns="0" bIns="0" rtlCol="0" anchor="t"/>
          <a:lstStyle/>
          <a:p>
            <a:pPr indent="0" marL="0">
              <a:buNone/>
            </a:pPr>
            <a:r>
              <a:rPr lang="en-US" sz="1000" b="1" dirty="0">
                <a:solidFill>
                  <a:srgbClr val="00338D"/>
                </a:solidFill>
                <a:latin typeface="Arial" pitchFamily="34" charset="0"/>
                <a:ea typeface="Arial" pitchFamily="34" charset="-122"/>
                <a:cs typeface="Arial" pitchFamily="34" charset="-120"/>
              </a:rPr>
              <a:t>(p. 18-21)</a:t>
            </a:r>
            <a:endParaRPr lang="en-US" sz="1000" dirty="0"/>
          </a:p>
        </p:txBody>
      </p:sp>
      <p:sp>
        <p:nvSpPr>
          <p:cNvPr id="22" name="Text 20"/>
          <p:cNvSpPr/>
          <p:nvPr/>
        </p:nvSpPr>
        <p:spPr>
          <a:xfrm>
            <a:off x="7213519" y="2286000"/>
            <a:ext cx="1907987" cy="1124712"/>
          </a:xfrm>
          <a:prstGeom prst="rect">
            <a:avLst/>
          </a:prstGeom>
          <a:noFill/>
          <a:ln/>
        </p:spPr>
        <p:txBody>
          <a:bodyPr wrap="square" lIns="46800" tIns="72000" rIns="90000" bIns="46800" rtlCol="0" anchor="t"/>
          <a:lstStyle/>
          <a:p>
            <a:pPr indent="0" marL="0">
              <a:buNone/>
            </a:pPr>
            <a:r>
              <a:rPr lang="en-US" sz="1000" dirty="0">
                <a:solidFill>
                  <a:srgbClr val="000000"/>
                </a:solidFill>
                <a:latin typeface="Arial" pitchFamily="34" charset="0"/>
                <a:ea typeface="Arial" pitchFamily="34" charset="-122"/>
                <a:cs typeface="Arial" pitchFamily="34" charset="-120"/>
              </a:rPr>
              <a:t>NWC build and aging diagnostics</a:t>
            </a:r>
            <a:endParaRPr lang="en-US" sz="1000" dirty="0"/>
          </a:p>
          <a:p>
            <a:pPr indent="0" marL="0">
              <a:buNone/>
            </a:pPr>
            <a:r>
              <a:rPr lang="en-US" sz="1000" dirty="0">
                <a:solidFill>
                  <a:srgbClr val="000000"/>
                </a:solidFill>
                <a:latin typeface="Arial" pitchFamily="34" charset="0"/>
                <a:ea typeface="Arial" pitchFamily="34" charset="-122"/>
                <a:cs typeface="Arial" pitchFamily="34" charset="-120"/>
              </a:rPr>
              <a:t>Cash conversion priorities</a:t>
            </a:r>
            <a:endParaRPr lang="en-US" sz="1000" dirty="0"/>
          </a:p>
        </p:txBody>
      </p:sp>
      <p:sp>
        <p:nvSpPr>
          <p:cNvPr id="23" name="Text 21"/>
          <p:cNvSpPr/>
          <p:nvPr/>
        </p:nvSpPr>
        <p:spPr>
          <a:xfrm>
            <a:off x="9286098" y="1261872"/>
            <a:ext cx="1907987" cy="475488"/>
          </a:xfrm>
          <a:prstGeom prst="rect">
            <a:avLst/>
          </a:prstGeom>
          <a:noFill/>
          <a:ln/>
        </p:spPr>
        <p:txBody>
          <a:bodyPr wrap="square" lIns="0" tIns="0" rIns="0" bIns="0" rtlCol="0" anchor="t"/>
          <a:lstStyle/>
          <a:p>
            <a:pPr indent="0" marL="0">
              <a:buNone/>
            </a:pPr>
            <a:r>
              <a:rPr lang="en-US" sz="3400" b="1" dirty="0">
                <a:solidFill>
                  <a:srgbClr val="00338D"/>
                </a:solidFill>
                <a:latin typeface="Arial" pitchFamily="34" charset="0"/>
                <a:ea typeface="Arial" pitchFamily="34" charset="-122"/>
                <a:cs typeface="Arial" pitchFamily="34" charset="-120"/>
              </a:rPr>
              <a:t>05</a:t>
            </a:r>
            <a:endParaRPr lang="en-US" sz="3400" dirty="0"/>
          </a:p>
        </p:txBody>
      </p:sp>
      <p:sp>
        <p:nvSpPr>
          <p:cNvPr id="24" name="Shape 22"/>
          <p:cNvSpPr/>
          <p:nvPr/>
        </p:nvSpPr>
        <p:spPr>
          <a:xfrm>
            <a:off x="9286098" y="1737360"/>
            <a:ext cx="502920" cy="0"/>
          </a:xfrm>
          <a:prstGeom prst="line">
            <a:avLst/>
          </a:prstGeom>
          <a:noFill/>
          <a:ln w="12700">
            <a:solidFill>
              <a:srgbClr val="00338D"/>
            </a:solidFill>
            <a:prstDash val="solid"/>
          </a:ln>
        </p:spPr>
      </p:sp>
      <p:sp>
        <p:nvSpPr>
          <p:cNvPr id="25" name="Text 23"/>
          <p:cNvSpPr/>
          <p:nvPr/>
        </p:nvSpPr>
        <p:spPr>
          <a:xfrm>
            <a:off x="9286098" y="1783080"/>
            <a:ext cx="1907987" cy="210312"/>
          </a:xfrm>
          <a:prstGeom prst="rect">
            <a:avLst/>
          </a:prstGeom>
          <a:noFill/>
          <a:ln/>
        </p:spPr>
        <p:txBody>
          <a:bodyPr wrap="square" lIns="0" tIns="0" rIns="0" bIns="0" rtlCol="0" anchor="t"/>
          <a:lstStyle/>
          <a:p>
            <a:pPr indent="0" marL="0">
              <a:buNone/>
            </a:pPr>
            <a:r>
              <a:rPr lang="en-US" sz="1200" b="1" dirty="0">
                <a:solidFill>
                  <a:srgbClr val="00338D"/>
                </a:solidFill>
                <a:latin typeface="Arial" pitchFamily="34" charset="0"/>
                <a:ea typeface="Arial" pitchFamily="34" charset="-122"/>
                <a:cs typeface="Arial" pitchFamily="34" charset="-120"/>
              </a:rPr>
              <a:t>Operations and organization</a:t>
            </a:r>
            <a:endParaRPr lang="en-US" sz="1200" dirty="0"/>
          </a:p>
        </p:txBody>
      </p:sp>
      <p:sp>
        <p:nvSpPr>
          <p:cNvPr id="26" name="Text 24"/>
          <p:cNvSpPr/>
          <p:nvPr/>
        </p:nvSpPr>
        <p:spPr>
          <a:xfrm>
            <a:off x="9286098" y="2020824"/>
            <a:ext cx="1907987" cy="182880"/>
          </a:xfrm>
          <a:prstGeom prst="rect">
            <a:avLst/>
          </a:prstGeom>
          <a:noFill/>
          <a:ln/>
        </p:spPr>
        <p:txBody>
          <a:bodyPr wrap="square" lIns="0" tIns="0" rIns="0" bIns="0" rtlCol="0" anchor="t"/>
          <a:lstStyle/>
          <a:p>
            <a:pPr indent="0" marL="0">
              <a:buNone/>
            </a:pPr>
            <a:r>
              <a:rPr lang="en-US" sz="1000" b="1" dirty="0">
                <a:solidFill>
                  <a:srgbClr val="00338D"/>
                </a:solidFill>
                <a:latin typeface="Arial" pitchFamily="34" charset="0"/>
                <a:ea typeface="Arial" pitchFamily="34" charset="-122"/>
                <a:cs typeface="Arial" pitchFamily="34" charset="-120"/>
              </a:rPr>
              <a:t>(p. 22-25)</a:t>
            </a:r>
            <a:endParaRPr lang="en-US" sz="1000" dirty="0"/>
          </a:p>
        </p:txBody>
      </p:sp>
      <p:sp>
        <p:nvSpPr>
          <p:cNvPr id="27" name="Text 25"/>
          <p:cNvSpPr/>
          <p:nvPr/>
        </p:nvSpPr>
        <p:spPr>
          <a:xfrm>
            <a:off x="9286098" y="2286000"/>
            <a:ext cx="1907987" cy="1124712"/>
          </a:xfrm>
          <a:prstGeom prst="rect">
            <a:avLst/>
          </a:prstGeom>
          <a:noFill/>
          <a:ln/>
        </p:spPr>
        <p:txBody>
          <a:bodyPr wrap="square" lIns="46800" tIns="72000" rIns="90000" bIns="46800" rtlCol="0" anchor="t"/>
          <a:lstStyle/>
          <a:p>
            <a:pPr indent="0" marL="0">
              <a:buNone/>
            </a:pPr>
            <a:r>
              <a:rPr lang="en-US" sz="1000" dirty="0">
                <a:solidFill>
                  <a:srgbClr val="000000"/>
                </a:solidFill>
                <a:latin typeface="Arial" pitchFamily="34" charset="0"/>
                <a:ea typeface="Arial" pitchFamily="34" charset="-122"/>
                <a:cs typeface="Arial" pitchFamily="34" charset="-120"/>
              </a:rPr>
              <a:t>Workforce and leadership readiness</a:t>
            </a:r>
            <a:endParaRPr lang="en-US" sz="1000" dirty="0"/>
          </a:p>
          <a:p>
            <a:pPr indent="0" marL="0">
              <a:buNone/>
            </a:pPr>
            <a:r>
              <a:rPr lang="en-US" sz="1000" dirty="0">
                <a:solidFill>
                  <a:srgbClr val="000000"/>
                </a:solidFill>
                <a:latin typeface="Arial" pitchFamily="34" charset="0"/>
                <a:ea typeface="Arial" pitchFamily="34" charset="-122"/>
                <a:cs typeface="Arial" pitchFamily="34" charset="-120"/>
              </a:rPr>
              <a:t>Supplier and inventory pressure points</a:t>
            </a:r>
            <a:endParaRPr lang="en-US" sz="1000" dirty="0"/>
          </a:p>
        </p:txBody>
      </p:sp>
      <p:sp>
        <p:nvSpPr>
          <p:cNvPr id="28" name="Text 26"/>
          <p:cNvSpPr/>
          <p:nvPr/>
        </p:nvSpPr>
        <p:spPr>
          <a:xfrm>
            <a:off x="995782" y="3694176"/>
            <a:ext cx="1907987" cy="475488"/>
          </a:xfrm>
          <a:prstGeom prst="rect">
            <a:avLst/>
          </a:prstGeom>
          <a:noFill/>
          <a:ln/>
        </p:spPr>
        <p:txBody>
          <a:bodyPr wrap="square" lIns="0" tIns="0" rIns="0" bIns="0" rtlCol="0" anchor="t"/>
          <a:lstStyle/>
          <a:p>
            <a:pPr indent="0" marL="0">
              <a:buNone/>
            </a:pPr>
            <a:r>
              <a:rPr lang="en-US" sz="3400" b="1" dirty="0">
                <a:solidFill>
                  <a:srgbClr val="00338D"/>
                </a:solidFill>
                <a:latin typeface="Arial" pitchFamily="34" charset="0"/>
                <a:ea typeface="Arial" pitchFamily="34" charset="-122"/>
                <a:cs typeface="Arial" pitchFamily="34" charset="-120"/>
              </a:rPr>
              <a:t>06</a:t>
            </a:r>
            <a:endParaRPr lang="en-US" sz="3400" dirty="0"/>
          </a:p>
        </p:txBody>
      </p:sp>
      <p:sp>
        <p:nvSpPr>
          <p:cNvPr id="29" name="Shape 27"/>
          <p:cNvSpPr/>
          <p:nvPr/>
        </p:nvSpPr>
        <p:spPr>
          <a:xfrm>
            <a:off x="995782" y="4169664"/>
            <a:ext cx="502920" cy="0"/>
          </a:xfrm>
          <a:prstGeom prst="line">
            <a:avLst/>
          </a:prstGeom>
          <a:noFill/>
          <a:ln w="12700">
            <a:solidFill>
              <a:srgbClr val="00338D"/>
            </a:solidFill>
            <a:prstDash val="solid"/>
          </a:ln>
        </p:spPr>
      </p:sp>
      <p:sp>
        <p:nvSpPr>
          <p:cNvPr id="30" name="Text 28"/>
          <p:cNvSpPr/>
          <p:nvPr/>
        </p:nvSpPr>
        <p:spPr>
          <a:xfrm>
            <a:off x="995782" y="4215384"/>
            <a:ext cx="1907987" cy="210312"/>
          </a:xfrm>
          <a:prstGeom prst="rect">
            <a:avLst/>
          </a:prstGeom>
          <a:noFill/>
          <a:ln/>
        </p:spPr>
        <p:txBody>
          <a:bodyPr wrap="square" lIns="0" tIns="0" rIns="0" bIns="0" rtlCol="0" anchor="t"/>
          <a:lstStyle/>
          <a:p>
            <a:pPr indent="0" marL="0">
              <a:buNone/>
            </a:pPr>
            <a:r>
              <a:rPr lang="en-US" sz="1200" b="1" dirty="0">
                <a:solidFill>
                  <a:srgbClr val="00338D"/>
                </a:solidFill>
                <a:latin typeface="Arial" pitchFamily="34" charset="0"/>
                <a:ea typeface="Arial" pitchFamily="34" charset="-122"/>
                <a:cs typeface="Arial" pitchFamily="34" charset="-120"/>
              </a:rPr>
              <a:t>Benchmark and valuation lens</a:t>
            </a:r>
            <a:endParaRPr lang="en-US" sz="1200" dirty="0"/>
          </a:p>
        </p:txBody>
      </p:sp>
      <p:sp>
        <p:nvSpPr>
          <p:cNvPr id="31" name="Text 29"/>
          <p:cNvSpPr/>
          <p:nvPr/>
        </p:nvSpPr>
        <p:spPr>
          <a:xfrm>
            <a:off x="995782" y="4453128"/>
            <a:ext cx="1907987" cy="182880"/>
          </a:xfrm>
          <a:prstGeom prst="rect">
            <a:avLst/>
          </a:prstGeom>
          <a:noFill/>
          <a:ln/>
        </p:spPr>
        <p:txBody>
          <a:bodyPr wrap="square" lIns="0" tIns="0" rIns="0" bIns="0" rtlCol="0" anchor="t"/>
          <a:lstStyle/>
          <a:p>
            <a:pPr indent="0" marL="0">
              <a:buNone/>
            </a:pPr>
            <a:r>
              <a:rPr lang="en-US" sz="1000" b="1" dirty="0">
                <a:solidFill>
                  <a:srgbClr val="00338D"/>
                </a:solidFill>
                <a:latin typeface="Arial" pitchFamily="34" charset="0"/>
                <a:ea typeface="Arial" pitchFamily="34" charset="-122"/>
                <a:cs typeface="Arial" pitchFamily="34" charset="-120"/>
              </a:rPr>
              <a:t>(p. 26-29)</a:t>
            </a:r>
            <a:endParaRPr lang="en-US" sz="1000" dirty="0"/>
          </a:p>
        </p:txBody>
      </p:sp>
      <p:sp>
        <p:nvSpPr>
          <p:cNvPr id="32" name="Text 30"/>
          <p:cNvSpPr/>
          <p:nvPr/>
        </p:nvSpPr>
        <p:spPr>
          <a:xfrm>
            <a:off x="995782" y="4718304"/>
            <a:ext cx="1907987" cy="1124712"/>
          </a:xfrm>
          <a:prstGeom prst="rect">
            <a:avLst/>
          </a:prstGeom>
          <a:noFill/>
          <a:ln/>
        </p:spPr>
        <p:txBody>
          <a:bodyPr wrap="square" lIns="46800" tIns="72000" rIns="90000" bIns="46800" rtlCol="0" anchor="t"/>
          <a:lstStyle/>
          <a:p>
            <a:pPr indent="0" marL="0">
              <a:buNone/>
            </a:pPr>
            <a:r>
              <a:rPr lang="en-US" sz="1000" dirty="0">
                <a:solidFill>
                  <a:srgbClr val="000000"/>
                </a:solidFill>
                <a:latin typeface="Arial" pitchFamily="34" charset="0"/>
                <a:ea typeface="Arial" pitchFamily="34" charset="-122"/>
                <a:cs typeface="Arial" pitchFamily="34" charset="-120"/>
              </a:rPr>
              <a:t>SBUX context and scale gap</a:t>
            </a:r>
            <a:endParaRPr lang="en-US" sz="1000" dirty="0"/>
          </a:p>
          <a:p>
            <a:pPr indent="0" marL="0">
              <a:buNone/>
            </a:pPr>
            <a:r>
              <a:rPr lang="en-US" sz="1000" dirty="0">
                <a:solidFill>
                  <a:srgbClr val="000000"/>
                </a:solidFill>
                <a:latin typeface="Arial" pitchFamily="34" charset="0"/>
                <a:ea typeface="Arial" pitchFamily="34" charset="-122"/>
                <a:cs typeface="Arial" pitchFamily="34" charset="-120"/>
              </a:rPr>
              <a:t>IC bid guardrails and scenario ranges</a:t>
            </a:r>
            <a:endParaRPr lang="en-US" sz="1000" dirty="0"/>
          </a:p>
        </p:txBody>
      </p:sp>
      <p:sp>
        <p:nvSpPr>
          <p:cNvPr id="33" name="Text 31"/>
          <p:cNvSpPr/>
          <p:nvPr/>
        </p:nvSpPr>
        <p:spPr>
          <a:xfrm>
            <a:off x="3068361" y="3694176"/>
            <a:ext cx="1907987" cy="475488"/>
          </a:xfrm>
          <a:prstGeom prst="rect">
            <a:avLst/>
          </a:prstGeom>
          <a:noFill/>
          <a:ln/>
        </p:spPr>
        <p:txBody>
          <a:bodyPr wrap="square" lIns="0" tIns="0" rIns="0" bIns="0" rtlCol="0" anchor="t"/>
          <a:lstStyle/>
          <a:p>
            <a:pPr indent="0" marL="0">
              <a:buNone/>
            </a:pPr>
            <a:r>
              <a:rPr lang="en-US" sz="3400" b="1" dirty="0">
                <a:solidFill>
                  <a:srgbClr val="00338D"/>
                </a:solidFill>
                <a:latin typeface="Arial" pitchFamily="34" charset="0"/>
                <a:ea typeface="Arial" pitchFamily="34" charset="-122"/>
                <a:cs typeface="Arial" pitchFamily="34" charset="-120"/>
              </a:rPr>
              <a:t>07</a:t>
            </a:r>
            <a:endParaRPr lang="en-US" sz="3400" dirty="0"/>
          </a:p>
        </p:txBody>
      </p:sp>
      <p:sp>
        <p:nvSpPr>
          <p:cNvPr id="34" name="Shape 32"/>
          <p:cNvSpPr/>
          <p:nvPr/>
        </p:nvSpPr>
        <p:spPr>
          <a:xfrm>
            <a:off x="3068361" y="4169664"/>
            <a:ext cx="502920" cy="0"/>
          </a:xfrm>
          <a:prstGeom prst="line">
            <a:avLst/>
          </a:prstGeom>
          <a:noFill/>
          <a:ln w="12700">
            <a:solidFill>
              <a:srgbClr val="00338D"/>
            </a:solidFill>
            <a:prstDash val="solid"/>
          </a:ln>
        </p:spPr>
      </p:sp>
      <p:sp>
        <p:nvSpPr>
          <p:cNvPr id="35" name="Text 33"/>
          <p:cNvSpPr/>
          <p:nvPr/>
        </p:nvSpPr>
        <p:spPr>
          <a:xfrm>
            <a:off x="3068361" y="4215384"/>
            <a:ext cx="1907987" cy="210312"/>
          </a:xfrm>
          <a:prstGeom prst="rect">
            <a:avLst/>
          </a:prstGeom>
          <a:noFill/>
          <a:ln/>
        </p:spPr>
        <p:txBody>
          <a:bodyPr wrap="square" lIns="0" tIns="0" rIns="0" bIns="0" rtlCol="0" anchor="t"/>
          <a:lstStyle/>
          <a:p>
            <a:pPr indent="0" marL="0">
              <a:buNone/>
            </a:pPr>
            <a:r>
              <a:rPr lang="en-US" sz="1200" b="1" dirty="0">
                <a:solidFill>
                  <a:srgbClr val="00338D"/>
                </a:solidFill>
                <a:latin typeface="Arial" pitchFamily="34" charset="0"/>
                <a:ea typeface="Arial" pitchFamily="34" charset="-122"/>
                <a:cs typeface="Arial" pitchFamily="34" charset="-120"/>
              </a:rPr>
              <a:t>Appendix</a:t>
            </a:r>
            <a:endParaRPr lang="en-US" sz="1200" dirty="0"/>
          </a:p>
        </p:txBody>
      </p:sp>
      <p:sp>
        <p:nvSpPr>
          <p:cNvPr id="36" name="Text 34"/>
          <p:cNvSpPr/>
          <p:nvPr/>
        </p:nvSpPr>
        <p:spPr>
          <a:xfrm>
            <a:off x="3068361" y="4453128"/>
            <a:ext cx="1907987" cy="182880"/>
          </a:xfrm>
          <a:prstGeom prst="rect">
            <a:avLst/>
          </a:prstGeom>
          <a:noFill/>
          <a:ln/>
        </p:spPr>
        <p:txBody>
          <a:bodyPr wrap="square" lIns="0" tIns="0" rIns="0" bIns="0" rtlCol="0" anchor="t"/>
          <a:lstStyle/>
          <a:p>
            <a:pPr indent="0" marL="0">
              <a:buNone/>
            </a:pPr>
            <a:r>
              <a:rPr lang="en-US" sz="1000" b="1" dirty="0">
                <a:solidFill>
                  <a:srgbClr val="00338D"/>
                </a:solidFill>
                <a:latin typeface="Arial" pitchFamily="34" charset="0"/>
                <a:ea typeface="Arial" pitchFamily="34" charset="-122"/>
                <a:cs typeface="Arial" pitchFamily="34" charset="-120"/>
              </a:rPr>
              <a:t>(p. 30-31)</a:t>
            </a:r>
            <a:endParaRPr lang="en-US" sz="1000" dirty="0"/>
          </a:p>
        </p:txBody>
      </p:sp>
      <p:sp>
        <p:nvSpPr>
          <p:cNvPr id="37" name="Text 35"/>
          <p:cNvSpPr/>
          <p:nvPr/>
        </p:nvSpPr>
        <p:spPr>
          <a:xfrm>
            <a:off x="3068361" y="4718304"/>
            <a:ext cx="1907987" cy="1124712"/>
          </a:xfrm>
          <a:prstGeom prst="rect">
            <a:avLst/>
          </a:prstGeom>
          <a:noFill/>
          <a:ln/>
        </p:spPr>
        <p:txBody>
          <a:bodyPr wrap="square" lIns="46800" tIns="72000" rIns="90000" bIns="46800" rtlCol="0" anchor="t"/>
          <a:lstStyle/>
          <a:p>
            <a:pPr indent="0" marL="0">
              <a:buNone/>
            </a:pPr>
            <a:r>
              <a:rPr lang="en-US" sz="1000" dirty="0">
                <a:solidFill>
                  <a:srgbClr val="000000"/>
                </a:solidFill>
                <a:latin typeface="Arial" pitchFamily="34" charset="0"/>
                <a:ea typeface="Arial" pitchFamily="34" charset="-122"/>
                <a:cs typeface="Arial" pitchFamily="34" charset="-120"/>
              </a:rPr>
              <a:t>Source index and coverage map</a:t>
            </a:r>
            <a:endParaRPr lang="en-US" sz="1000" dirty="0"/>
          </a:p>
          <a:p>
            <a:pPr indent="0" marL="0">
              <a:buNone/>
            </a:pPr>
            <a:r>
              <a:rPr lang="en-US" sz="1000" dirty="0">
                <a:solidFill>
                  <a:srgbClr val="000000"/>
                </a:solidFill>
                <a:latin typeface="Arial" pitchFamily="34" charset="0"/>
                <a:ea typeface="Arial" pitchFamily="34" charset="-122"/>
                <a:cs typeface="Arial" pitchFamily="34" charset="-120"/>
              </a:rPr>
              <a:t>QoE issue register and status</a:t>
            </a:r>
            <a:endParaRPr lang="en-US" sz="1000" dirty="0"/>
          </a:p>
        </p:txBody>
      </p:sp>
      <p:sp>
        <p:nvSpPr>
          <p:cNvPr id="38" name="Text 36"/>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1289860" y="1140069"/>
            <a:ext cx="1082675" cy="812530"/>
          </a:xfrm>
          <a:prstGeom prst="rect">
            <a:avLst/>
          </a:prstGeom>
          <a:noFill/>
          <a:ln/>
        </p:spPr>
        <p:txBody>
          <a:bodyPr wrap="square" lIns="46800" tIns="72000" rIns="90000" bIns="46800" rtlCol="0" anchor="t"/>
          <a:lstStyle/>
          <a:p>
            <a:pPr algn="l" indent="0" marL="0">
              <a:buNone/>
            </a:pPr>
            <a:r>
              <a:rPr lang="en-US" sz="4800" b="1" dirty="0">
                <a:solidFill>
                  <a:srgbClr val="FFFFFF"/>
                </a:solidFill>
                <a:latin typeface="Arial" pitchFamily="34" charset="0"/>
                <a:ea typeface="Arial" pitchFamily="34" charset="-122"/>
                <a:cs typeface="Arial" pitchFamily="34" charset="-120"/>
              </a:rPr>
              <a:t>01</a:t>
            </a:r>
            <a:endParaRPr lang="en-US" sz="4800" dirty="0"/>
          </a:p>
        </p:txBody>
      </p:sp>
      <p:sp>
        <p:nvSpPr>
          <p:cNvPr id="3" name="Text 1"/>
          <p:cNvSpPr/>
          <p:nvPr/>
        </p:nvSpPr>
        <p:spPr>
          <a:xfrm>
            <a:off x="1289861" y="2180877"/>
            <a:ext cx="6321425" cy="696782"/>
          </a:xfrm>
          <a:prstGeom prst="rect">
            <a:avLst/>
          </a:prstGeom>
          <a:noFill/>
          <a:ln/>
        </p:spPr>
        <p:txBody>
          <a:bodyPr wrap="square" lIns="46800" tIns="72000" rIns="90000" bIns="46800" rtlCol="0" anchor="t"/>
          <a:lstStyle/>
          <a:p>
            <a:pPr algn="l" indent="0" marL="0">
              <a:buNone/>
            </a:pPr>
            <a:r>
              <a:rPr lang="en-US" sz="2400" b="1" dirty="0">
                <a:solidFill>
                  <a:srgbClr val="FFFFFF"/>
                </a:solidFill>
                <a:latin typeface="Arial" pitchFamily="34" charset="0"/>
                <a:ea typeface="Arial" pitchFamily="34" charset="-122"/>
                <a:cs typeface="Arial" pitchFamily="34" charset="-120"/>
              </a:rPr>
              <a:t>Executive summary</a:t>
            </a:r>
            <a:endParaRPr lang="en-US" sz="2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998433" y="431780"/>
            <a:ext cx="10204338" cy="53337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IC readout: growth is strong, quality is mixed</a:t>
            </a:r>
            <a:endParaRPr lang="en-US" sz="3200" dirty="0"/>
          </a:p>
        </p:txBody>
      </p:sp>
      <p:sp>
        <p:nvSpPr>
          <p:cNvPr id="3" name="Text 1"/>
          <p:cNvSpPr/>
          <p:nvPr/>
        </p:nvSpPr>
        <p:spPr>
          <a:xfrm>
            <a:off x="998433" y="1179485"/>
            <a:ext cx="10204338" cy="482437"/>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Johnson Stores has scaled rapidly with strong reported margins, but the committee should anchor valuation to normalized cash earnings and explicit downside scenarios.</a:t>
            </a:r>
            <a:endParaRPr lang="en-US" sz="1000" dirty="0"/>
          </a:p>
        </p:txBody>
      </p:sp>
      <p:sp>
        <p:nvSpPr>
          <p:cNvPr id="4" name="Text 2"/>
          <p:cNvSpPr/>
          <p:nvPr/>
        </p:nvSpPr>
        <p:spPr>
          <a:xfrm>
            <a:off x="998433" y="1716786"/>
            <a:ext cx="2377440" cy="274320"/>
          </a:xfrm>
          <a:prstGeom prst="rect">
            <a:avLst/>
          </a:prstGeom>
          <a:noFill/>
          <a:ln/>
        </p:spPr>
        <p:txBody>
          <a:bodyPr wrap="square" lIns="46800" tIns="72000" rIns="90000" bIns="46800" rtlCol="0" anchor="ctr"/>
          <a:lstStyle/>
          <a:p>
            <a:pPr indent="0" marL="0">
              <a:buNone/>
            </a:pPr>
            <a:r>
              <a:rPr lang="en-US" sz="1000" b="1" dirty="0">
                <a:solidFill>
                  <a:srgbClr val="00338D"/>
                </a:solidFill>
                <a:latin typeface="Arial" pitchFamily="34" charset="0"/>
                <a:ea typeface="Arial" pitchFamily="34" charset="-122"/>
                <a:cs typeface="Arial" pitchFamily="34" charset="-120"/>
              </a:rPr>
              <a:t>Scale</a:t>
            </a:r>
            <a:endParaRPr lang="en-US" sz="1000" dirty="0"/>
          </a:p>
        </p:txBody>
      </p:sp>
      <p:sp>
        <p:nvSpPr>
          <p:cNvPr id="5" name="Text 3"/>
          <p:cNvSpPr/>
          <p:nvPr/>
        </p:nvSpPr>
        <p:spPr>
          <a:xfrm>
            <a:off x="998433" y="2036826"/>
            <a:ext cx="2377440" cy="4139032"/>
          </a:xfrm>
          <a:prstGeom prst="rect">
            <a:avLst/>
          </a:prstGeom>
          <a:noFill/>
          <a:ln/>
        </p:spPr>
        <p:txBody>
          <a:bodyPr wrap="square" lIns="46800" tIns="72000" rIns="90000" bIns="46800" rtlCol="0" anchor="t"/>
          <a:lstStyle/>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Revenue increased from $309.9M in 2023 to $518.5M in 2025, a 29.4% CAGR over two years.</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The business now operates 91 stores across a broad multi-state footprint with 848k square feet of capacity.</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Operating income rose from $58.6M to $98.0M while maintaining approximately 19% operating margin.</a:t>
            </a:r>
            <a:endParaRPr lang="en-US" sz="1000" dirty="0"/>
          </a:p>
          <a:p>
            <a:pPr marL="226800" indent="-226800">
              <a:lnSpc>
                <a:spcPts val="1200"/>
              </a:lnSpc>
              <a:spcAft>
                <a:spcPts val="600"/>
              </a:spcAft>
              <a:buSzPct val="100000"/>
              <a:buChar char="•"/>
            </a:pPr>
            <a:r>
              <a:rPr lang="en-US" sz="1000" b="1" dirty="0">
                <a:solidFill>
                  <a:srgbClr val="000000"/>
                </a:solidFill>
                <a:latin typeface="Arial" pitchFamily="34" charset="0"/>
                <a:ea typeface="Arial" pitchFamily="34" charset="-122"/>
                <a:cs typeface="Arial" pitchFamily="34" charset="-120"/>
              </a:rPr>
              <a:t>Implication:</a:t>
            </a:r>
            <a:pPr indent="0" marL="0">
              <a:spcAft>
                <a:spcPts val="600"/>
              </a:spcAft>
              <a:buNone/>
            </a:pPr>
            <a:r>
              <a:rPr lang="en-US" sz="1000" dirty="0">
                <a:solidFill>
                  <a:srgbClr val="000000"/>
                </a:solidFill>
                <a:latin typeface="Arial" pitchFamily="34" charset="0"/>
                <a:ea typeface="Arial" pitchFamily="34" charset="-122"/>
                <a:cs typeface="Arial" pitchFamily="34" charset="-120"/>
              </a:rPr>
              <a:t> commercial demand and footprint expansion have translated into meaningful scale.</a:t>
            </a:r>
            <a:endParaRPr lang="en-US" sz="1000" dirty="0"/>
          </a:p>
        </p:txBody>
      </p:sp>
      <p:sp>
        <p:nvSpPr>
          <p:cNvPr id="6" name="Text 4"/>
          <p:cNvSpPr/>
          <p:nvPr/>
        </p:nvSpPr>
        <p:spPr>
          <a:xfrm>
            <a:off x="3566160" y="1716786"/>
            <a:ext cx="2377440" cy="274320"/>
          </a:xfrm>
          <a:prstGeom prst="rect">
            <a:avLst/>
          </a:prstGeom>
          <a:noFill/>
          <a:ln/>
        </p:spPr>
        <p:txBody>
          <a:bodyPr wrap="square" lIns="46800" tIns="72000" rIns="90000" bIns="46800" rtlCol="0" anchor="ctr"/>
          <a:lstStyle/>
          <a:p>
            <a:pPr indent="0" marL="0">
              <a:buNone/>
            </a:pPr>
            <a:r>
              <a:rPr lang="en-US" sz="1000" b="1" dirty="0">
                <a:solidFill>
                  <a:srgbClr val="00338D"/>
                </a:solidFill>
                <a:latin typeface="Arial" pitchFamily="34" charset="0"/>
                <a:ea typeface="Arial" pitchFamily="34" charset="-122"/>
                <a:cs typeface="Arial" pitchFamily="34" charset="-120"/>
              </a:rPr>
              <a:t>Quality</a:t>
            </a:r>
            <a:endParaRPr lang="en-US" sz="1000" dirty="0"/>
          </a:p>
        </p:txBody>
      </p:sp>
      <p:sp>
        <p:nvSpPr>
          <p:cNvPr id="7" name="Text 5"/>
          <p:cNvSpPr/>
          <p:nvPr/>
        </p:nvSpPr>
        <p:spPr>
          <a:xfrm>
            <a:off x="3566160" y="2036826"/>
            <a:ext cx="2377440" cy="4139032"/>
          </a:xfrm>
          <a:prstGeom prst="rect">
            <a:avLst/>
          </a:prstGeom>
          <a:noFill/>
          <a:ln/>
        </p:spPr>
        <p:txBody>
          <a:bodyPr wrap="square" lIns="46800" tIns="72000" rIns="90000" bIns="46800" rtlCol="0" anchor="t"/>
          <a:lstStyle/>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All 19 of 19 core verification checks passed, including financial statement tie-outs and ledger consistency tests.</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Gross margin held at 53.9% in each year, indicating stable merchandise economics at reported levels.</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Cash conversion improved materially from negative in 2023 to 80% of net income in 2025.</a:t>
            </a:r>
            <a:endParaRPr lang="en-US" sz="1000" dirty="0"/>
          </a:p>
          <a:p>
            <a:pPr marL="226800" indent="-226800">
              <a:lnSpc>
                <a:spcPts val="1200"/>
              </a:lnSpc>
              <a:spcAft>
                <a:spcPts val="600"/>
              </a:spcAft>
              <a:buSzPct val="100000"/>
              <a:buChar char="•"/>
            </a:pPr>
            <a:r>
              <a:rPr lang="en-US" sz="1000" b="1" dirty="0">
                <a:solidFill>
                  <a:srgbClr val="000000"/>
                </a:solidFill>
                <a:latin typeface="Arial" pitchFamily="34" charset="0"/>
                <a:ea typeface="Arial" pitchFamily="34" charset="-122"/>
                <a:cs typeface="Arial" pitchFamily="34" charset="-120"/>
              </a:rPr>
              <a:t>Implication:</a:t>
            </a:r>
            <a:pPr indent="0" marL="0">
              <a:spcAft>
                <a:spcPts val="600"/>
              </a:spcAft>
              <a:buNone/>
            </a:pPr>
            <a:r>
              <a:rPr lang="en-US" sz="1000" dirty="0">
                <a:solidFill>
                  <a:srgbClr val="000000"/>
                </a:solidFill>
                <a:latin typeface="Arial" pitchFamily="34" charset="0"/>
                <a:ea typeface="Arial" pitchFamily="34" charset="-122"/>
                <a:cs typeface="Arial" pitchFamily="34" charset="-120"/>
              </a:rPr>
              <a:t> core accounting reliability is high, but earnings quality still requires normalization discipline.</a:t>
            </a:r>
            <a:endParaRPr lang="en-US" sz="1000" dirty="0"/>
          </a:p>
        </p:txBody>
      </p:sp>
      <p:sp>
        <p:nvSpPr>
          <p:cNvPr id="8" name="Text 6"/>
          <p:cNvSpPr/>
          <p:nvPr/>
        </p:nvSpPr>
        <p:spPr>
          <a:xfrm>
            <a:off x="6126480" y="1716786"/>
            <a:ext cx="2377440" cy="274320"/>
          </a:xfrm>
          <a:prstGeom prst="rect">
            <a:avLst/>
          </a:prstGeom>
          <a:noFill/>
          <a:ln/>
        </p:spPr>
        <p:txBody>
          <a:bodyPr wrap="square" lIns="46800" tIns="72000" rIns="90000" bIns="46800" rtlCol="0" anchor="ctr"/>
          <a:lstStyle/>
          <a:p>
            <a:pPr indent="0" marL="0">
              <a:buNone/>
            </a:pPr>
            <a:r>
              <a:rPr lang="en-US" sz="1000" b="1" dirty="0">
                <a:solidFill>
                  <a:srgbClr val="00338D"/>
                </a:solidFill>
                <a:latin typeface="Arial" pitchFamily="34" charset="0"/>
                <a:ea typeface="Arial" pitchFamily="34" charset="-122"/>
                <a:cs typeface="Arial" pitchFamily="34" charset="-120"/>
              </a:rPr>
              <a:t>Risk</a:t>
            </a:r>
            <a:endParaRPr lang="en-US" sz="1000" dirty="0"/>
          </a:p>
        </p:txBody>
      </p:sp>
      <p:sp>
        <p:nvSpPr>
          <p:cNvPr id="9" name="Text 7"/>
          <p:cNvSpPr/>
          <p:nvPr/>
        </p:nvSpPr>
        <p:spPr>
          <a:xfrm>
            <a:off x="6126480" y="2036826"/>
            <a:ext cx="2377440" cy="4139032"/>
          </a:xfrm>
          <a:prstGeom prst="rect">
            <a:avLst/>
          </a:prstGeom>
          <a:noFill/>
          <a:ln/>
        </p:spPr>
        <p:txBody>
          <a:bodyPr wrap="square" lIns="46800" tIns="72000" rIns="90000" bIns="46800" rtlCol="0" anchor="t"/>
          <a:lstStyle/>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Verification flags ten QoE issues, including one-time events, churn exposure, and owner-related adjustments requiring evidence.</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Known customer churn risk is quantified at $19.6M aggregate impact, concentrated in 2022 to 2024 losses.</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Working capital intensity remains elevated, with operating NWC reaching $118.2M and 138.4% of monthly revenue at end-2025.</a:t>
            </a:r>
            <a:endParaRPr lang="en-US" sz="1000" dirty="0"/>
          </a:p>
          <a:p>
            <a:pPr marL="226800" indent="-226800">
              <a:lnSpc>
                <a:spcPts val="1200"/>
              </a:lnSpc>
              <a:spcAft>
                <a:spcPts val="600"/>
              </a:spcAft>
              <a:buSzPct val="100000"/>
              <a:buChar char="•"/>
            </a:pPr>
            <a:r>
              <a:rPr lang="en-US" sz="1000" b="1" dirty="0">
                <a:solidFill>
                  <a:srgbClr val="000000"/>
                </a:solidFill>
                <a:latin typeface="Arial" pitchFamily="34" charset="0"/>
                <a:ea typeface="Arial" pitchFamily="34" charset="-122"/>
                <a:cs typeface="Arial" pitchFamily="34" charset="-120"/>
              </a:rPr>
              <a:t>Implication:</a:t>
            </a:r>
            <a:pPr indent="0" marL="0">
              <a:spcAft>
                <a:spcPts val="600"/>
              </a:spcAft>
              <a:buNone/>
            </a:pPr>
            <a:r>
              <a:rPr lang="en-US" sz="1000" dirty="0">
                <a:solidFill>
                  <a:srgbClr val="000000"/>
                </a:solidFill>
                <a:latin typeface="Arial" pitchFamily="34" charset="0"/>
                <a:ea typeface="Arial" pitchFamily="34" charset="-122"/>
                <a:cs typeface="Arial" pitchFamily="34" charset="-120"/>
              </a:rPr>
              <a:t> underwriting should separate proven base economics from unresolved downside drivers.</a:t>
            </a:r>
            <a:endParaRPr lang="en-US" sz="1000" dirty="0"/>
          </a:p>
        </p:txBody>
      </p:sp>
      <p:sp>
        <p:nvSpPr>
          <p:cNvPr id="10" name="Text 8"/>
          <p:cNvSpPr/>
          <p:nvPr/>
        </p:nvSpPr>
        <p:spPr>
          <a:xfrm>
            <a:off x="8686800" y="1716786"/>
            <a:ext cx="2377440" cy="274320"/>
          </a:xfrm>
          <a:prstGeom prst="rect">
            <a:avLst/>
          </a:prstGeom>
          <a:noFill/>
          <a:ln/>
        </p:spPr>
        <p:txBody>
          <a:bodyPr wrap="square" lIns="46800" tIns="72000" rIns="90000" bIns="46800" rtlCol="0" anchor="ctr"/>
          <a:lstStyle/>
          <a:p>
            <a:pPr indent="0" marL="0">
              <a:buNone/>
            </a:pPr>
            <a:r>
              <a:rPr lang="en-US" sz="1000" b="1" dirty="0">
                <a:solidFill>
                  <a:srgbClr val="00338D"/>
                </a:solidFill>
                <a:latin typeface="Arial" pitchFamily="34" charset="0"/>
                <a:ea typeface="Arial" pitchFamily="34" charset="-122"/>
                <a:cs typeface="Arial" pitchFamily="34" charset="-120"/>
              </a:rPr>
              <a:t>Decision</a:t>
            </a:r>
            <a:endParaRPr lang="en-US" sz="1000" dirty="0"/>
          </a:p>
        </p:txBody>
      </p:sp>
      <p:sp>
        <p:nvSpPr>
          <p:cNvPr id="11" name="Text 9"/>
          <p:cNvSpPr/>
          <p:nvPr/>
        </p:nvSpPr>
        <p:spPr>
          <a:xfrm>
            <a:off x="8686800" y="2036826"/>
            <a:ext cx="2377440" cy="4139032"/>
          </a:xfrm>
          <a:prstGeom prst="rect">
            <a:avLst/>
          </a:prstGeom>
          <a:noFill/>
          <a:ln/>
        </p:spPr>
        <p:txBody>
          <a:bodyPr wrap="square" lIns="46800" tIns="72000" rIns="90000" bIns="46800" rtlCol="0" anchor="t"/>
          <a:lstStyle/>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Anchor value on normalized EBITDA and stress tested cash generation rather than headline operating profit growth.</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Use scenario pricing bands tied to churn realization and timing of policy-related QoE adjustments.</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Require pre-close diligence closes on reserves, related-party normalization, and retention plan execution.</a:t>
            </a:r>
            <a:endParaRPr lang="en-US" sz="1000" dirty="0"/>
          </a:p>
          <a:p>
            <a:pPr marL="226800" indent="-226800">
              <a:lnSpc>
                <a:spcPts val="1200"/>
              </a:lnSpc>
              <a:spcAft>
                <a:spcPts val="600"/>
              </a:spcAft>
              <a:buSzPct val="100000"/>
              <a:buChar char="•"/>
            </a:pPr>
            <a:r>
              <a:rPr lang="en-US" sz="1000" b="1" dirty="0">
                <a:solidFill>
                  <a:srgbClr val="000000"/>
                </a:solidFill>
                <a:latin typeface="Arial" pitchFamily="34" charset="0"/>
                <a:ea typeface="Arial" pitchFamily="34" charset="-122"/>
                <a:cs typeface="Arial" pitchFamily="34" charset="-120"/>
              </a:rPr>
              <a:t>Implication:</a:t>
            </a:r>
            <a:pPr indent="0" marL="0">
              <a:spcAft>
                <a:spcPts val="600"/>
              </a:spcAft>
              <a:buNone/>
            </a:pPr>
            <a:r>
              <a:rPr lang="en-US" sz="1000" dirty="0">
                <a:solidFill>
                  <a:srgbClr val="000000"/>
                </a:solidFill>
                <a:latin typeface="Arial" pitchFamily="34" charset="0"/>
                <a:ea typeface="Arial" pitchFamily="34" charset="-122"/>
                <a:cs typeface="Arial" pitchFamily="34" charset="-120"/>
              </a:rPr>
              <a:t> proceed with guarded bid structure, not unconditional multiple expansion.</a:t>
            </a:r>
            <a:endParaRPr lang="en-US" sz="1000" dirty="0"/>
          </a:p>
        </p:txBody>
      </p:sp>
      <p:sp>
        <p:nvSpPr>
          <p:cNvPr id="12" name="Text 10"/>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2</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998433" y="431780"/>
            <a:ext cx="10204338" cy="53337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IC ask and recommended transaction posture</a:t>
            </a:r>
            <a:endParaRPr lang="en-US" sz="3200" dirty="0"/>
          </a:p>
        </p:txBody>
      </p:sp>
      <p:sp>
        <p:nvSpPr>
          <p:cNvPr id="3" name="Text 1"/>
          <p:cNvSpPr/>
          <p:nvPr/>
        </p:nvSpPr>
        <p:spPr>
          <a:xfrm>
            <a:off x="998433" y="1179485"/>
            <a:ext cx="10204338" cy="482437"/>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The transaction is investable with guardrails: proceed on proven operating momentum, but hard-wire downside protection around churn and adjustment uncertainty.</a:t>
            </a:r>
            <a:endParaRPr lang="en-US" sz="1000" dirty="0"/>
          </a:p>
        </p:txBody>
      </p:sp>
      <p:sp>
        <p:nvSpPr>
          <p:cNvPr id="4" name="Text 2"/>
          <p:cNvSpPr/>
          <p:nvPr/>
        </p:nvSpPr>
        <p:spPr>
          <a:xfrm>
            <a:off x="998433" y="1716786"/>
            <a:ext cx="10204338" cy="4248760"/>
          </a:xfrm>
          <a:prstGeom prst="rect">
            <a:avLst/>
          </a:prstGeom>
          <a:noFill/>
          <a:ln/>
        </p:spPr>
        <p:txBody>
          <a:bodyPr wrap="square" lIns="46800" tIns="72000" rIns="90000" bIns="46800" rtlCol="0" anchor="t"/>
          <a:lstStyle/>
          <a:p>
            <a:pPr indent="0" marL="0">
              <a:spcAft>
                <a:spcPts val="600"/>
              </a:spcAft>
              <a:buNone/>
            </a:pPr>
            <a:r>
              <a:rPr lang="en-US" sz="1000" b="1" dirty="0">
                <a:solidFill>
                  <a:srgbClr val="00338D"/>
                </a:solidFill>
                <a:latin typeface="Arial" pitchFamily="34" charset="0"/>
                <a:ea typeface="Arial" pitchFamily="34" charset="-122"/>
                <a:cs typeface="Arial" pitchFamily="34" charset="-120"/>
              </a:rPr>
              <a:t>What is confirmed</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Johnson has demonstrated material scale-up, with revenue up 67% from 2023 to 2025 and operating income growth of nearly $39.4M across the same period.</a:t>
            </a:r>
            <a:endParaRPr lang="en-US" sz="1000" dirty="0"/>
          </a:p>
          <a:p>
            <a:pPr marL="226800" indent="-226800">
              <a:lnSpc>
                <a:spcPts val="1200"/>
              </a:lnSpc>
              <a:spcAft>
                <a:spcPts val="600"/>
              </a:spcAft>
              <a:buSzPct val="100000"/>
              <a:buChar char="•"/>
            </a:pPr>
            <a:r>
              <a:rPr lang="en-US" sz="1000" b="1" dirty="0">
                <a:solidFill>
                  <a:srgbClr val="000000"/>
                </a:solidFill>
                <a:latin typeface="Arial" pitchFamily="34" charset="0"/>
                <a:ea typeface="Arial" pitchFamily="34" charset="-122"/>
                <a:cs typeface="Arial" pitchFamily="34" charset="-120"/>
              </a:rPr>
              <a:t>Data-room integrity is strong:</a:t>
            </a:r>
            <a:pPr indent="0" marL="0">
              <a:spcAft>
                <a:spcPts val="600"/>
              </a:spcAft>
              <a:buNone/>
            </a:pPr>
            <a:r>
              <a:rPr lang="en-US" sz="1000" dirty="0">
                <a:solidFill>
                  <a:srgbClr val="000000"/>
                </a:solidFill>
                <a:latin typeface="Arial" pitchFamily="34" charset="0"/>
                <a:ea typeface="Arial" pitchFamily="34" charset="-122"/>
                <a:cs typeface="Arial" pitchFamily="34" charset="-120"/>
              </a:rPr>
              <a:t> trial balance, cash flow, payroll, and aging schedules reconcile, allowing confidence in baseline arithmetic and trend direction.</a:t>
            </a:r>
            <a:endParaRPr lang="en-US" sz="1000" dirty="0"/>
          </a:p>
          <a:p>
            <a:pPr indent="0" marL="0">
              <a:spcAft>
                <a:spcPts val="600"/>
              </a:spcAft>
              <a:buNone/>
            </a:pPr>
            <a:r>
              <a:rPr lang="en-US" sz="1000" b="1" dirty="0">
                <a:solidFill>
                  <a:srgbClr val="00338D"/>
                </a:solidFill>
                <a:latin typeface="Arial" pitchFamily="34" charset="0"/>
                <a:ea typeface="Arial" pitchFamily="34" charset="-122"/>
                <a:cs typeface="Arial" pitchFamily="34" charset="-120"/>
              </a:rPr>
              <a:t>What is unresolved</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Ten QoE items remain open, including inventory reserve policy, gift-card breakage timing, lease adjustments, and owner add-backs requiring corroboration.</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Customer churn risk of $19.6M is not embedded in base reported performance and should be modeled as explicit downside sensitivity instead of normalized fact.</a:t>
            </a:r>
            <a:endParaRPr lang="en-US" sz="1000" dirty="0"/>
          </a:p>
          <a:p>
            <a:pPr indent="0" marL="0">
              <a:spcAft>
                <a:spcPts val="600"/>
              </a:spcAft>
              <a:buNone/>
            </a:pPr>
            <a:r>
              <a:rPr lang="en-US" sz="1000" b="1" dirty="0">
                <a:solidFill>
                  <a:srgbClr val="00338D"/>
                </a:solidFill>
                <a:latin typeface="Arial" pitchFamily="34" charset="0"/>
                <a:ea typeface="Arial" pitchFamily="34" charset="-122"/>
                <a:cs typeface="Arial" pitchFamily="34" charset="-120"/>
              </a:rPr>
              <a:t>Recommended IC stance</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Advance with a structured bid anchored to normalized earnings, include downside-linked protections, and condition final pricing on closure of evidence gaps.</a:t>
            </a:r>
            <a:endParaRPr lang="en-US" sz="1000" dirty="0"/>
          </a:p>
        </p:txBody>
      </p:sp>
      <p:sp>
        <p:nvSpPr>
          <p:cNvPr id="5" name="Text 3"/>
          <p:cNvSpPr/>
          <p:nvPr/>
        </p:nvSpPr>
        <p:spPr>
          <a:xfrm>
            <a:off x="998433" y="5992978"/>
            <a:ext cx="10204338" cy="182880"/>
          </a:xfrm>
          <a:prstGeom prst="rect">
            <a:avLst/>
          </a:prstGeom>
          <a:noFill/>
          <a:ln/>
        </p:spPr>
        <p:txBody>
          <a:bodyPr wrap="square" lIns="46800" tIns="72000" rIns="90000" bIns="46800" rtlCol="0" anchor="t"/>
          <a:lstStyle/>
          <a:p>
            <a:pPr indent="0" marL="0">
              <a:buNone/>
            </a:pPr>
            <a:r>
              <a:rPr lang="en-US" sz="600" i="1" dirty="0">
                <a:solidFill>
                  <a:srgbClr val="00338D"/>
                </a:solidFill>
                <a:latin typeface="Arial" pitchFamily="34" charset="0"/>
                <a:ea typeface="Arial" pitchFamily="34" charset="-122"/>
                <a:cs typeface="Arial" pitchFamily="34" charset="-120"/>
              </a:rPr>
              <a:t>Source: income_statement.xlsx, cash_flow.xlsx, verification_report.json, company_seed.json</a:t>
            </a:r>
            <a:endParaRPr lang="en-US" sz="600" dirty="0"/>
          </a:p>
        </p:txBody>
      </p:sp>
      <p:sp>
        <p:nvSpPr>
          <p:cNvPr id="6"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3</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998433" y="431780"/>
            <a:ext cx="10204338" cy="53337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Revenue scaled 67% across 2023 to 2025</a:t>
            </a:r>
            <a:endParaRPr lang="en-US" sz="3200" dirty="0"/>
          </a:p>
        </p:txBody>
      </p:sp>
      <p:sp>
        <p:nvSpPr>
          <p:cNvPr id="3" name="Text 1"/>
          <p:cNvSpPr/>
          <p:nvPr/>
        </p:nvSpPr>
        <p:spPr>
          <a:xfrm>
            <a:off x="998433" y="1179485"/>
            <a:ext cx="10204338" cy="482437"/>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The top-line trajectory supports a growth thesis, but the committee should test how much of the step-up is recurring versus event-driven.</a:t>
            </a:r>
            <a:endParaRPr lang="en-US" sz="1000" dirty="0"/>
          </a:p>
        </p:txBody>
      </p:sp>
      <p:sp>
        <p:nvSpPr>
          <p:cNvPr id="4" name="Text 2"/>
          <p:cNvSpPr/>
          <p:nvPr/>
        </p:nvSpPr>
        <p:spPr>
          <a:xfrm>
            <a:off x="998433" y="1716786"/>
            <a:ext cx="5120640" cy="4459072"/>
          </a:xfrm>
          <a:prstGeom prst="rect">
            <a:avLst/>
          </a:prstGeom>
          <a:noFill/>
          <a:ln/>
        </p:spPr>
        <p:txBody>
          <a:bodyPr wrap="square" lIns="46800" tIns="72000" rIns="90000" bIns="46800" rtlCol="0" anchor="t"/>
          <a:lstStyle/>
          <a:p>
            <a:pPr indent="0" marL="0">
              <a:spcAft>
                <a:spcPts val="600"/>
              </a:spcAft>
              <a:buNone/>
            </a:pPr>
            <a:r>
              <a:rPr lang="en-US" sz="1000" b="1" dirty="0">
                <a:solidFill>
                  <a:srgbClr val="00338D"/>
                </a:solidFill>
                <a:latin typeface="Arial" pitchFamily="34" charset="0"/>
                <a:ea typeface="Arial" pitchFamily="34" charset="-122"/>
                <a:cs typeface="Arial" pitchFamily="34" charset="-120"/>
              </a:rPr>
              <a:t>Trend read</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Revenue increased from $309.9M in 2023 to $384.8M in 2024 and $518.5M in 2025, indicating sustained demand and operating throughput expansion.</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The two-year CAGR of 29.4% materially exceeds typical mature retail growth bands and therefore warrants quality-of-growth decomposition.</a:t>
            </a:r>
            <a:endParaRPr lang="en-US" sz="1000" dirty="0"/>
          </a:p>
          <a:p>
            <a:pPr indent="0" marL="0">
              <a:spcAft>
                <a:spcPts val="600"/>
              </a:spcAft>
              <a:buNone/>
            </a:pPr>
            <a:r>
              <a:rPr lang="en-US" sz="1000" b="1" dirty="0">
                <a:solidFill>
                  <a:srgbClr val="00338D"/>
                </a:solidFill>
                <a:latin typeface="Arial" pitchFamily="34" charset="0"/>
                <a:ea typeface="Arial" pitchFamily="34" charset="-122"/>
                <a:cs typeface="Arial" pitchFamily="34" charset="-120"/>
              </a:rPr>
              <a:t>Evidence caveat</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Event impacts include both recurring and non-recurring components, so headline growth should not be fully capitalized without normalization.</a:t>
            </a:r>
            <a:endParaRPr lang="en-US" sz="1000" dirty="0"/>
          </a:p>
          <a:p>
            <a:pPr indent="0" marL="0">
              <a:spcAft>
                <a:spcPts val="600"/>
              </a:spcAft>
              <a:buNone/>
            </a:pPr>
            <a:r>
              <a:rPr lang="en-US" sz="1000" b="1" dirty="0">
                <a:solidFill>
                  <a:srgbClr val="00338D"/>
                </a:solidFill>
                <a:latin typeface="Arial" pitchFamily="34" charset="0"/>
                <a:ea typeface="Arial" pitchFamily="34" charset="-122"/>
                <a:cs typeface="Arial" pitchFamily="34" charset="-120"/>
              </a:rPr>
              <a:t>Implication</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Use growth strength as strategic support, while tying valuation multiple confidence to recurring revenue persistence evidence.</a:t>
            </a:r>
            <a:endParaRPr lang="en-US" sz="1000" dirty="0"/>
          </a:p>
        </p:txBody>
      </p:sp>
      <p:graphicFrame>
        <p:nvGraphicFramePr>
          <p:cNvPr id="5" name="Chart 0" descr=""/>
          <p:cNvGraphicFramePr/>
          <p:nvPr/>
        </p:nvGraphicFramePr>
        <p:xfrm>
          <a:off x="6400800" y="1716786"/>
          <a:ext cx="4800600" cy="4184752"/>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income_statement.xlsx</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4</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998433" y="431780"/>
            <a:ext cx="10204338" cy="53337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Margin profile is stable with cash rebound</a:t>
            </a:r>
            <a:endParaRPr lang="en-US" sz="3200" dirty="0"/>
          </a:p>
        </p:txBody>
      </p:sp>
      <p:sp>
        <p:nvSpPr>
          <p:cNvPr id="3" name="Text 1"/>
          <p:cNvSpPr/>
          <p:nvPr/>
        </p:nvSpPr>
        <p:spPr>
          <a:xfrm>
            <a:off x="998433" y="1179485"/>
            <a:ext cx="10204338" cy="482437"/>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Reported operating margin stayed near 19%, and cash conversion improved after a working-capital-heavy 2023 period.</a:t>
            </a:r>
            <a:endParaRPr lang="en-US" sz="1000" dirty="0"/>
          </a:p>
        </p:txBody>
      </p:sp>
      <p:sp>
        <p:nvSpPr>
          <p:cNvPr id="4" name="Text 2"/>
          <p:cNvSpPr/>
          <p:nvPr/>
        </p:nvSpPr>
        <p:spPr>
          <a:xfrm>
            <a:off x="998433" y="1716786"/>
            <a:ext cx="5120640" cy="4459072"/>
          </a:xfrm>
          <a:prstGeom prst="rect">
            <a:avLst/>
          </a:prstGeom>
          <a:noFill/>
          <a:ln/>
        </p:spPr>
        <p:txBody>
          <a:bodyPr wrap="square" lIns="46800" tIns="72000" rIns="90000" bIns="46800" rtlCol="0" anchor="t"/>
          <a:lstStyle/>
          <a:p>
            <a:pPr indent="0" marL="0">
              <a:spcAft>
                <a:spcPts val="600"/>
              </a:spcAft>
              <a:buNone/>
            </a:pPr>
            <a:r>
              <a:rPr lang="en-US" sz="1000" b="1" dirty="0">
                <a:solidFill>
                  <a:srgbClr val="00338D"/>
                </a:solidFill>
                <a:latin typeface="Arial" pitchFamily="34" charset="0"/>
                <a:ea typeface="Arial" pitchFamily="34" charset="-122"/>
                <a:cs typeface="Arial" pitchFamily="34" charset="-120"/>
              </a:rPr>
              <a:t>Reported margin</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Operating margin held at 18.9% in 2023, 19.8% in 2024, and 18.9% in 2025 while gross margin remained fixed at 53.9% each year.</a:t>
            </a:r>
            <a:endParaRPr lang="en-US" sz="1000" dirty="0"/>
          </a:p>
          <a:p>
            <a:pPr indent="0" marL="0">
              <a:spcAft>
                <a:spcPts val="600"/>
              </a:spcAft>
              <a:buNone/>
            </a:pPr>
            <a:r>
              <a:rPr lang="en-US" sz="1000" b="1" dirty="0">
                <a:solidFill>
                  <a:srgbClr val="00338D"/>
                </a:solidFill>
                <a:latin typeface="Arial" pitchFamily="34" charset="0"/>
                <a:ea typeface="Arial" pitchFamily="34" charset="-122"/>
                <a:cs typeface="Arial" pitchFamily="34" charset="-120"/>
              </a:rPr>
              <a:t>Cash conversion</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Cash from operations moved from negative $10.7M in 2023 to positive $58.7M in 2024 and $78.6M in 2025 as working-capital drag partially normalized.</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CFO to net income reached 80.2% in 2025, signaling improved conversion but still leaving room to close toward best-in-class conversion levels.</a:t>
            </a:r>
            <a:endParaRPr lang="en-US" sz="1000" dirty="0"/>
          </a:p>
          <a:p>
            <a:pPr indent="0" marL="0">
              <a:spcAft>
                <a:spcPts val="600"/>
              </a:spcAft>
              <a:buNone/>
            </a:pPr>
            <a:r>
              <a:rPr lang="en-US" sz="1000" b="1" dirty="0">
                <a:solidFill>
                  <a:srgbClr val="00338D"/>
                </a:solidFill>
                <a:latin typeface="Arial" pitchFamily="34" charset="0"/>
                <a:ea typeface="Arial" pitchFamily="34" charset="-122"/>
                <a:cs typeface="Arial" pitchFamily="34" charset="-120"/>
              </a:rPr>
              <a:t>Implication</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Treat 2024 to 2025 cash profile as improved baseline, but preserve downside reserves for renewed NWC build pressure.</a:t>
            </a:r>
            <a:endParaRPr lang="en-US" sz="1000" dirty="0"/>
          </a:p>
        </p:txBody>
      </p:sp>
      <p:graphicFrame>
        <p:nvGraphicFramePr>
          <p:cNvPr id="5" name="Chart 0" descr=""/>
          <p:cNvGraphicFramePr/>
          <p:nvPr/>
        </p:nvGraphicFramePr>
        <p:xfrm>
          <a:off x="6400800" y="1716786"/>
          <a:ext cx="4800600" cy="4184752"/>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income_statement.xlsx, cash_flow.xlsx</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5</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1289860" y="1140069"/>
            <a:ext cx="1082675" cy="812530"/>
          </a:xfrm>
          <a:prstGeom prst="rect">
            <a:avLst/>
          </a:prstGeom>
          <a:noFill/>
          <a:ln/>
        </p:spPr>
        <p:txBody>
          <a:bodyPr wrap="square" lIns="46800" tIns="72000" rIns="90000" bIns="46800" rtlCol="0" anchor="t"/>
          <a:lstStyle/>
          <a:p>
            <a:pPr algn="l" indent="0" marL="0">
              <a:buNone/>
            </a:pPr>
            <a:r>
              <a:rPr lang="en-US" sz="4800" b="1" dirty="0">
                <a:solidFill>
                  <a:srgbClr val="FFFFFF"/>
                </a:solidFill>
                <a:latin typeface="Arial" pitchFamily="34" charset="0"/>
                <a:ea typeface="Arial" pitchFamily="34" charset="-122"/>
                <a:cs typeface="Arial" pitchFamily="34" charset="-120"/>
              </a:rPr>
              <a:t>02</a:t>
            </a:r>
            <a:endParaRPr lang="en-US" sz="4800" dirty="0"/>
          </a:p>
        </p:txBody>
      </p:sp>
      <p:sp>
        <p:nvSpPr>
          <p:cNvPr id="3" name="Text 1"/>
          <p:cNvSpPr/>
          <p:nvPr/>
        </p:nvSpPr>
        <p:spPr>
          <a:xfrm>
            <a:off x="1289861" y="2180877"/>
            <a:ext cx="6321425" cy="696782"/>
          </a:xfrm>
          <a:prstGeom prst="rect">
            <a:avLst/>
          </a:prstGeom>
          <a:noFill/>
          <a:ln/>
        </p:spPr>
        <p:txBody>
          <a:bodyPr wrap="square" lIns="46800" tIns="72000" rIns="90000" bIns="46800" rtlCol="0" anchor="t"/>
          <a:lstStyle/>
          <a:p>
            <a:pPr algn="l" indent="0" marL="0">
              <a:buNone/>
            </a:pPr>
            <a:r>
              <a:rPr lang="en-US" sz="2400" b="1" dirty="0">
                <a:solidFill>
                  <a:srgbClr val="FFFFFF"/>
                </a:solidFill>
                <a:latin typeface="Arial" pitchFamily="34" charset="0"/>
                <a:ea typeface="Arial" pitchFamily="34" charset="-122"/>
                <a:cs typeface="Arial" pitchFamily="34" charset="-120"/>
              </a:rPr>
              <a:t>Business and commercial diligence</a:t>
            </a:r>
            <a:endParaRPr lang="en-US" sz="2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998433" y="431780"/>
            <a:ext cx="10204338" cy="53337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Business model supports breadth and density</a:t>
            </a:r>
            <a:endParaRPr lang="en-US" sz="3200" dirty="0"/>
          </a:p>
        </p:txBody>
      </p:sp>
      <p:sp>
        <p:nvSpPr>
          <p:cNvPr id="3" name="Text 1"/>
          <p:cNvSpPr/>
          <p:nvPr/>
        </p:nvSpPr>
        <p:spPr>
          <a:xfrm>
            <a:off x="998433" y="1179485"/>
            <a:ext cx="10204338" cy="482437"/>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Johnson combines broad physical coverage with electronics specialization, creating scale opportunities with execution risk in consistency and inventory turns.</a:t>
            </a:r>
            <a:endParaRPr lang="en-US" sz="1000" dirty="0"/>
          </a:p>
        </p:txBody>
      </p:sp>
      <p:sp>
        <p:nvSpPr>
          <p:cNvPr id="4" name="Text 2"/>
          <p:cNvSpPr/>
          <p:nvPr/>
        </p:nvSpPr>
        <p:spPr>
          <a:xfrm>
            <a:off x="998433" y="1716786"/>
            <a:ext cx="10204338" cy="4248760"/>
          </a:xfrm>
          <a:prstGeom prst="rect">
            <a:avLst/>
          </a:prstGeom>
          <a:noFill/>
          <a:ln/>
        </p:spPr>
        <p:txBody>
          <a:bodyPr wrap="square" lIns="46800" tIns="72000" rIns="90000" bIns="46800" rtlCol="0" anchor="t"/>
          <a:lstStyle/>
          <a:p>
            <a:pPr indent="0" marL="0">
              <a:spcAft>
                <a:spcPts val="600"/>
              </a:spcAft>
              <a:buNone/>
            </a:pPr>
            <a:r>
              <a:rPr lang="en-US" sz="1000" b="1" dirty="0">
                <a:solidFill>
                  <a:srgbClr val="00338D"/>
                </a:solidFill>
                <a:latin typeface="Arial" pitchFamily="34" charset="0"/>
                <a:ea typeface="Arial" pitchFamily="34" charset="-122"/>
                <a:cs typeface="Arial" pitchFamily="34" charset="-120"/>
              </a:rPr>
              <a:t>Operating footprint</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The company runs 91 electronics-focused stores totaling approximately 848k square feet, with average store size of roughly 9.3k square feet.</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Fifty-one stores opened in 2019 or later, indicating rapid recent expansion that increases execution complexity in staffing, assortment, and working capital.</a:t>
            </a:r>
            <a:endParaRPr lang="en-US" sz="1000" dirty="0"/>
          </a:p>
          <a:p>
            <a:pPr indent="0" marL="0">
              <a:spcAft>
                <a:spcPts val="600"/>
              </a:spcAft>
              <a:buNone/>
            </a:pPr>
            <a:r>
              <a:rPr lang="en-US" sz="1000" b="1" dirty="0">
                <a:solidFill>
                  <a:srgbClr val="00338D"/>
                </a:solidFill>
                <a:latin typeface="Arial" pitchFamily="34" charset="0"/>
                <a:ea typeface="Arial" pitchFamily="34" charset="-122"/>
                <a:cs typeface="Arial" pitchFamily="34" charset="-120"/>
              </a:rPr>
              <a:t>Commercial architecture</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Revenue is recognized at point of sale with policy overlays for returns, gift cards, and loyalty redemptions, making policy precision critical to comparability.</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Customer event history shows meaningful new-customer additions but only partial recurring quality, with 55.3% of wins tagged as recurring.</a:t>
            </a:r>
            <a:endParaRPr lang="en-US" sz="1000" dirty="0"/>
          </a:p>
          <a:p>
            <a:pPr indent="0" marL="0">
              <a:spcAft>
                <a:spcPts val="600"/>
              </a:spcAft>
              <a:buNone/>
            </a:pPr>
            <a:r>
              <a:rPr lang="en-US" sz="1000" b="1" dirty="0">
                <a:solidFill>
                  <a:srgbClr val="00338D"/>
                </a:solidFill>
                <a:latin typeface="Arial" pitchFamily="34" charset="0"/>
                <a:ea typeface="Arial" pitchFamily="34" charset="-122"/>
                <a:cs typeface="Arial" pitchFamily="34" charset="-120"/>
              </a:rPr>
              <a:t>Implication</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Growth thesis is credible, but diligence should test repeatability of post-opening productivity and recurring customer retention quality.</a:t>
            </a:r>
            <a:endParaRPr lang="en-US" sz="1000" dirty="0"/>
          </a:p>
        </p:txBody>
      </p:sp>
      <p:sp>
        <p:nvSpPr>
          <p:cNvPr id="5" name="Text 3"/>
          <p:cNvSpPr/>
          <p:nvPr/>
        </p:nvSpPr>
        <p:spPr>
          <a:xfrm>
            <a:off x="998433" y="5992978"/>
            <a:ext cx="10204338" cy="182880"/>
          </a:xfrm>
          <a:prstGeom prst="rect">
            <a:avLst/>
          </a:prstGeom>
          <a:noFill/>
          <a:ln/>
        </p:spPr>
        <p:txBody>
          <a:bodyPr wrap="square" lIns="46800" tIns="72000" rIns="90000" bIns="46800" rtlCol="0" anchor="t"/>
          <a:lstStyle/>
          <a:p>
            <a:pPr indent="0" marL="0">
              <a:buNone/>
            </a:pPr>
            <a:r>
              <a:rPr lang="en-US" sz="600" i="1" dirty="0">
                <a:solidFill>
                  <a:srgbClr val="00338D"/>
                </a:solidFill>
                <a:latin typeface="Arial" pitchFamily="34" charset="0"/>
                <a:ea typeface="Arial" pitchFamily="34" charset="-122"/>
                <a:cs typeface="Arial" pitchFamily="34" charset="-120"/>
              </a:rPr>
              <a:t>Source: store_master.xlsx, accounting_policies.md, company_seed.json</a:t>
            </a:r>
            <a:endParaRPr lang="en-US" sz="600" dirty="0"/>
          </a:p>
        </p:txBody>
      </p:sp>
      <p:sp>
        <p:nvSpPr>
          <p:cNvPr id="6"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6</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998400" y="431800"/>
            <a:ext cx="10195200" cy="53340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Store footprint indicates scaled execution scope</a:t>
            </a:r>
            <a:endParaRPr lang="en-US" sz="3200" dirty="0"/>
          </a:p>
        </p:txBody>
      </p:sp>
      <p:sp>
        <p:nvSpPr>
          <p:cNvPr id="3" name="Text 1"/>
          <p:cNvSpPr/>
          <p:nvPr/>
        </p:nvSpPr>
        <p:spPr>
          <a:xfrm>
            <a:off x="995361" y="1179513"/>
            <a:ext cx="10195200" cy="482400"/>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Recent expansion underpins growth but also increases standardization demands across managers, inventory controls, and localized demand forecasting.</a:t>
            </a:r>
            <a:endParaRPr lang="en-US" sz="1000" dirty="0"/>
          </a:p>
        </p:txBody>
      </p:sp>
      <p:sp>
        <p:nvSpPr>
          <p:cNvPr id="4" name="Shape 2"/>
          <p:cNvSpPr/>
          <p:nvPr/>
        </p:nvSpPr>
        <p:spPr>
          <a:xfrm>
            <a:off x="995361" y="1751579"/>
            <a:ext cx="5036396" cy="219456"/>
          </a:xfrm>
          <a:prstGeom prst="rect">
            <a:avLst/>
          </a:prstGeom>
          <a:solidFill>
            <a:srgbClr val="00338D"/>
          </a:solidFill>
          <a:ln w="12700">
            <a:solidFill>
              <a:srgbClr val="00338D">
                <a:alpha val="0"/>
              </a:srgbClr>
            </a:solidFill>
            <a:prstDash val="solid"/>
          </a:ln>
        </p:spPr>
      </p:sp>
      <p:sp>
        <p:nvSpPr>
          <p:cNvPr id="5" name="Text 3"/>
          <p:cNvSpPr/>
          <p:nvPr/>
        </p:nvSpPr>
        <p:spPr>
          <a:xfrm>
            <a:off x="1050225" y="1765295"/>
            <a:ext cx="4926668" cy="201168"/>
          </a:xfrm>
          <a:prstGeom prst="rect">
            <a:avLst/>
          </a:prstGeom>
          <a:noFill/>
          <a:ln/>
        </p:spPr>
        <p:txBody>
          <a:bodyPr wrap="square" lIns="0" tIns="0" rIns="0" bIns="0" rtlCol="0" anchor="ctr"/>
          <a:lstStyle/>
          <a:p>
            <a:pPr indent="0" marL="0">
              <a:buNone/>
            </a:pPr>
            <a:r>
              <a:rPr lang="en-US" sz="900" b="1" dirty="0">
                <a:solidFill>
                  <a:srgbClr val="FFFFFF"/>
                </a:solidFill>
                <a:latin typeface="Arial" pitchFamily="34" charset="0"/>
                <a:ea typeface="Arial" pitchFamily="34" charset="-122"/>
                <a:cs typeface="Arial" pitchFamily="34" charset="-120"/>
              </a:rPr>
              <a:t>Store footprint indicates scaled execution scope</a:t>
            </a:r>
            <a:endParaRPr lang="en-US" sz="900" dirty="0"/>
          </a:p>
        </p:txBody>
      </p:sp>
      <p:sp>
        <p:nvSpPr>
          <p:cNvPr id="6" name="Shape 4"/>
          <p:cNvSpPr/>
          <p:nvPr/>
        </p:nvSpPr>
        <p:spPr>
          <a:xfrm>
            <a:off x="995361" y="1971035"/>
            <a:ext cx="5036396" cy="0"/>
          </a:xfrm>
          <a:prstGeom prst="line">
            <a:avLst/>
          </a:prstGeom>
          <a:noFill/>
          <a:ln w="12700">
            <a:solidFill>
              <a:srgbClr val="00338D"/>
            </a:solidFill>
            <a:prstDash val="solid"/>
          </a:ln>
        </p:spPr>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995361" y="1989323"/>
          <a:ext cx="5036396" cy="3884252"/>
        </p:xfrm>
        <a:graphic>
          <a:graphicData uri="http://schemas.openxmlformats.org/drawingml/2006/table">
            <a:tbl>
              <a:tblPr/>
              <a:tblGrid>
                <a:gridCol w="1770305"/>
                <a:gridCol w="1048367"/>
                <a:gridCol w="2217725"/>
              </a:tblGrid>
              <a:tr h="292608">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Metric</a:t>
                      </a:r>
                      <a:endParaRPr lang="en-US" sz="800" dirty="0">
                        <a:latin typeface="Arial" charset="0"/>
                        <a:ea typeface="Arial" charset="0"/>
                        <a:cs typeface="Arial" charset="0"/>
                      </a:endParaRPr>
                    </a:p>
                  </a:txBody>
                  <a:tcPr marL="50800" marR="50800" marT="25400" marB="25400" anchor="ctr">
                    <a:lnL w="7620" cap="flat" cmpd="sng" algn="ctr">
                      <a:solidFill>
                        <a:srgbClr val="D9D9D9"/>
                      </a:solidFill>
                      <a:prstDash val="solid"/>
                      <a:round/>
                      <a:headEnd type="none" w="med" len="med"/>
                      <a:tailEnd type="none" w="med" len="med"/>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Value</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Comment</a:t>
                      </a:r>
                      <a:endParaRPr lang="en-US" sz="800" dirty="0">
                        <a:latin typeface="Arial" charset="0"/>
                        <a:ea typeface="Arial" charset="0"/>
                        <a:cs typeface="Arial" charset="0"/>
                      </a:endParaRPr>
                    </a:p>
                  </a:txBody>
                  <a:tcPr marL="50800" marR="50800" marT="25400" marB="25400" anchor="ctr">
                    <a:lnL w="0" cap="flat" cmpd="sng" algn="ctr">
                      <a:noFill/>
                    </a:lnL>
                    <a:lnR w="7620" cap="flat" cmpd="sng" algn="ctr">
                      <a:solidFill>
                        <a:srgbClr val="D9D9D9"/>
                      </a:solidFill>
                      <a:prstDash val="solid"/>
                      <a:round/>
                      <a:headEnd type="none" w="med" len="med"/>
                      <a:tailEnd type="none" w="med" len="med"/>
                    </a:lnR>
                    <a:lnT w="0" cap="flat" cmpd="sng" algn="ctr">
                      <a:noFill/>
                    </a:lnT>
                    <a:lnB w="12700" cap="flat" cmpd="sng" algn="ctr">
                      <a:solidFill>
                        <a:srgbClr val="00338D"/>
                      </a:solidFill>
                      <a:prstDash val="solid"/>
                      <a:round/>
                      <a:headEnd type="none" w="med" len="med"/>
                      <a:tailEnd type="none" w="med" len="med"/>
                    </a:lnB>
                    <a:solidFill>
                      <a:srgbClr val="1E49E2"/>
                    </a:solidFill>
                  </a:tcPr>
                </a:tc>
              </a:tr>
              <a:tr h="29057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Total stores</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91</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Nationally distributed operating base</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9057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Total square feet</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848,412</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Large-format electronics presence</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9057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Average store size</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9,323 sqft</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Operationally complex floorplate</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9057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Stores opened 2019+</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51</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56% of footprint added recently</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9057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Openings in 2023</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9</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Expansion remained active recently</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r>
            </a:tbl>
          </a:graphicData>
        </a:graphic>
      </p:graphicFrame>
      <p:sp>
        <p:nvSpPr>
          <p:cNvPr id="8" name="Text 5"/>
          <p:cNvSpPr/>
          <p:nvPr/>
        </p:nvSpPr>
        <p:spPr>
          <a:xfrm>
            <a:off x="6159600" y="1751579"/>
            <a:ext cx="5036396" cy="251999"/>
          </a:xfrm>
          <a:prstGeom prst="rect">
            <a:avLst/>
          </a:prstGeom>
          <a:noFill/>
          <a:ln/>
        </p:spPr>
        <p:txBody>
          <a:bodyPr wrap="square" lIns="46800" tIns="72000" rIns="90000" bIns="46800" rtlCol="0" anchor="t"/>
          <a:lstStyle/>
          <a:p>
            <a:pPr indent="0" marL="0">
              <a:buNone/>
            </a:pPr>
            <a:r>
              <a:rPr lang="en-US" sz="1000" b="1" dirty="0">
                <a:solidFill>
                  <a:srgbClr val="00338D"/>
                </a:solidFill>
                <a:latin typeface="Arial" pitchFamily="34" charset="0"/>
                <a:ea typeface="Arial" pitchFamily="34" charset="-122"/>
                <a:cs typeface="Arial" pitchFamily="34" charset="-120"/>
              </a:rPr>
              <a:t>Key footprint facts</a:t>
            </a:r>
            <a:endParaRPr lang="en-US" sz="1000" dirty="0"/>
          </a:p>
        </p:txBody>
      </p:sp>
      <p:sp>
        <p:nvSpPr>
          <p:cNvPr id="9" name="Text 6"/>
          <p:cNvSpPr/>
          <p:nvPr/>
        </p:nvSpPr>
        <p:spPr>
          <a:xfrm>
            <a:off x="6159600" y="2003588"/>
            <a:ext cx="5036396" cy="3869997"/>
          </a:xfrm>
          <a:prstGeom prst="rect">
            <a:avLst/>
          </a:prstGeom>
          <a:noFill/>
          <a:ln/>
        </p:spPr>
        <p:txBody>
          <a:bodyPr wrap="square" lIns="46800" tIns="72000" rIns="90000" bIns="46800" rtlCol="0" anchor="t"/>
          <a:lstStyle/>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The pace of openings implies that process maturity can lag physical growth, especially for inventory planning and staffing consistency.</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IC diligence should require store-cohort productivity analysis to confirm later cohorts are converging toward mature-store margins.</a:t>
            </a:r>
            <a:endParaRPr lang="en-US" sz="1000" dirty="0"/>
          </a:p>
        </p:txBody>
      </p:sp>
      <p:sp>
        <p:nvSpPr>
          <p:cNvPr id="10" name="Text 7"/>
          <p:cNvSpPr/>
          <p:nvPr/>
        </p:nvSpPr>
        <p:spPr>
          <a:xfrm>
            <a:off x="995361" y="6010735"/>
            <a:ext cx="5036396" cy="165122"/>
          </a:xfrm>
          <a:prstGeom prst="rect">
            <a:avLst/>
          </a:prstGeom>
          <a:noFill/>
          <a:ln/>
        </p:spPr>
        <p:txBody>
          <a:bodyPr wrap="square" rtlCol="0" anchor="t"/>
          <a:lstStyle/>
          <a:p>
            <a:pPr indent="0" marL="0">
              <a:buNone/>
            </a:pPr>
            <a:r>
              <a:rPr lang="en-US" sz="600" i="1" dirty="0">
                <a:solidFill>
                  <a:srgbClr val="333333"/>
                </a:solidFill>
                <a:latin typeface="Arial" pitchFamily="34" charset="0"/>
                <a:ea typeface="Arial" pitchFamily="34" charset="-122"/>
                <a:cs typeface="Arial" pitchFamily="34" charset="-120"/>
              </a:rPr>
              <a:t>Source: store_master.xlsx</a:t>
            </a:r>
            <a:endParaRPr lang="en-US" sz="600" dirty="0"/>
          </a:p>
        </p:txBody>
      </p:sp>
      <p:sp>
        <p:nvSpPr>
          <p:cNvPr id="11" name="Text 8"/>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7</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998433" y="431780"/>
            <a:ext cx="10204338" cy="53337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Customer events drive significant volume swings</a:t>
            </a:r>
            <a:endParaRPr lang="en-US" sz="3200" dirty="0"/>
          </a:p>
        </p:txBody>
      </p:sp>
      <p:sp>
        <p:nvSpPr>
          <p:cNvPr id="3" name="Text 1"/>
          <p:cNvSpPr/>
          <p:nvPr/>
        </p:nvSpPr>
        <p:spPr>
          <a:xfrm>
            <a:off x="998433" y="1179485"/>
            <a:ext cx="10204338" cy="482437"/>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Event-driven inflows are meaningful and include both recurring and non-recurring components, shaping the quality-of-growth debate.</a:t>
            </a:r>
            <a:endParaRPr lang="en-US" sz="1000" dirty="0"/>
          </a:p>
        </p:txBody>
      </p:sp>
      <p:sp>
        <p:nvSpPr>
          <p:cNvPr id="4" name="Text 2"/>
          <p:cNvSpPr/>
          <p:nvPr/>
        </p:nvSpPr>
        <p:spPr>
          <a:xfrm>
            <a:off x="998433" y="1716786"/>
            <a:ext cx="5120640" cy="4459072"/>
          </a:xfrm>
          <a:prstGeom prst="rect">
            <a:avLst/>
          </a:prstGeom>
          <a:noFill/>
          <a:ln/>
        </p:spPr>
        <p:txBody>
          <a:bodyPr wrap="square" lIns="46800" tIns="72000" rIns="90000" bIns="46800" rtlCol="0" anchor="t"/>
          <a:lstStyle/>
          <a:p>
            <a:pPr indent="0" marL="0">
              <a:spcAft>
                <a:spcPts val="600"/>
              </a:spcAft>
              <a:buNone/>
            </a:pPr>
            <a:r>
              <a:rPr lang="en-US" sz="1000" b="1" dirty="0">
                <a:solidFill>
                  <a:srgbClr val="00338D"/>
                </a:solidFill>
                <a:latin typeface="Arial" pitchFamily="34" charset="0"/>
                <a:ea typeface="Arial" pitchFamily="34" charset="-122"/>
                <a:cs typeface="Arial" pitchFamily="34" charset="-120"/>
              </a:rPr>
              <a:t>Event contribution</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Event ledger records 47 customer wins versus 4 losses, with gross win impact of $571.7M and loss impact of $19.6M over the dataset history.</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Running recurring monthly revenue additions increased from $2.7M in 2023 to $9.2M in 2025, indicating improved retention of prior wins.</a:t>
            </a:r>
            <a:endParaRPr lang="en-US" sz="1000" dirty="0"/>
          </a:p>
          <a:p>
            <a:pPr indent="0" marL="0">
              <a:spcAft>
                <a:spcPts val="600"/>
              </a:spcAft>
              <a:buNone/>
            </a:pPr>
            <a:r>
              <a:rPr lang="en-US" sz="1000" b="1" dirty="0">
                <a:solidFill>
                  <a:srgbClr val="00338D"/>
                </a:solidFill>
                <a:latin typeface="Arial" pitchFamily="34" charset="0"/>
                <a:ea typeface="Arial" pitchFamily="34" charset="-122"/>
                <a:cs typeface="Arial" pitchFamily="34" charset="-120"/>
              </a:rPr>
              <a:t>Risk offset</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The four losses remain economically material and are concentrated in years that influence current underwriting assumptions.</a:t>
            </a:r>
            <a:endParaRPr lang="en-US" sz="1000" dirty="0"/>
          </a:p>
          <a:p>
            <a:pPr indent="0" marL="0">
              <a:spcAft>
                <a:spcPts val="600"/>
              </a:spcAft>
              <a:buNone/>
            </a:pPr>
            <a:r>
              <a:rPr lang="en-US" sz="1000" b="1" dirty="0">
                <a:solidFill>
                  <a:srgbClr val="00338D"/>
                </a:solidFill>
                <a:latin typeface="Arial" pitchFamily="34" charset="0"/>
                <a:ea typeface="Arial" pitchFamily="34" charset="-122"/>
                <a:cs typeface="Arial" pitchFamily="34" charset="-120"/>
              </a:rPr>
              <a:t>Implication</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Use a recurring-quality filter in valuation to avoid paying full value for episodic event uplifts.</a:t>
            </a:r>
            <a:endParaRPr lang="en-US" sz="1000" dirty="0"/>
          </a:p>
        </p:txBody>
      </p:sp>
      <p:graphicFrame>
        <p:nvGraphicFramePr>
          <p:cNvPr id="5" name="Chart 0" descr=""/>
          <p:cNvGraphicFramePr/>
          <p:nvPr/>
        </p:nvGraphicFramePr>
        <p:xfrm>
          <a:off x="6400800" y="1716786"/>
          <a:ext cx="4800600" cy="4184752"/>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event_impacts.xlsx</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8</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998433" y="431780"/>
            <a:ext cx="10204338" cy="53337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Churn risk is manageable but valuation-relevant</a:t>
            </a:r>
            <a:endParaRPr lang="en-US" sz="3200" dirty="0"/>
          </a:p>
        </p:txBody>
      </p:sp>
      <p:sp>
        <p:nvSpPr>
          <p:cNvPr id="3" name="Text 1"/>
          <p:cNvSpPr/>
          <p:nvPr/>
        </p:nvSpPr>
        <p:spPr>
          <a:xfrm>
            <a:off x="998433" y="1179485"/>
            <a:ext cx="10204338" cy="482437"/>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Churn is not thesis-breaking in isolation, but it is large enough to shift EBITDA and leverage outcomes under downside cases.</a:t>
            </a:r>
            <a:endParaRPr lang="en-US" sz="1000" dirty="0"/>
          </a:p>
        </p:txBody>
      </p:sp>
      <p:sp>
        <p:nvSpPr>
          <p:cNvPr id="4" name="Text 2"/>
          <p:cNvSpPr/>
          <p:nvPr/>
        </p:nvSpPr>
        <p:spPr>
          <a:xfrm>
            <a:off x="998433" y="1716786"/>
            <a:ext cx="10204338" cy="4248760"/>
          </a:xfrm>
          <a:prstGeom prst="rect">
            <a:avLst/>
          </a:prstGeom>
          <a:noFill/>
          <a:ln/>
        </p:spPr>
        <p:txBody>
          <a:bodyPr wrap="square" lIns="46800" tIns="72000" rIns="90000" bIns="46800" rtlCol="0" anchor="t"/>
          <a:lstStyle/>
          <a:p>
            <a:pPr indent="0" marL="0">
              <a:spcAft>
                <a:spcPts val="600"/>
              </a:spcAft>
              <a:buNone/>
            </a:pPr>
            <a:r>
              <a:rPr lang="en-US" sz="1000" b="1" dirty="0">
                <a:solidFill>
                  <a:srgbClr val="00338D"/>
                </a:solidFill>
                <a:latin typeface="Arial" pitchFamily="34" charset="0"/>
                <a:ea typeface="Arial" pitchFamily="34" charset="-122"/>
                <a:cs typeface="Arial" pitchFamily="34" charset="-120"/>
              </a:rPr>
              <a:t>Observed churn</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Verification flags four lost customers with total impact of $19.6M, including concentration in 2022 and 2024 that can carry into forward-year base setting.</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Loss reasons include price sensitivity and customer budget pressure, indicating both competitive and macro sensitivity channels.</a:t>
            </a:r>
            <a:endParaRPr lang="en-US" sz="1000" dirty="0"/>
          </a:p>
          <a:p>
            <a:pPr indent="0" marL="0">
              <a:spcAft>
                <a:spcPts val="600"/>
              </a:spcAft>
              <a:buNone/>
            </a:pPr>
            <a:r>
              <a:rPr lang="en-US" sz="1000" b="1" dirty="0">
                <a:solidFill>
                  <a:srgbClr val="00338D"/>
                </a:solidFill>
                <a:latin typeface="Arial" pitchFamily="34" charset="0"/>
                <a:ea typeface="Arial" pitchFamily="34" charset="-122"/>
                <a:cs typeface="Arial" pitchFamily="34" charset="-120"/>
              </a:rPr>
              <a:t>Underwriting treatment</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Given the quantified scale, churn should be modeled as explicit scenario stress rather than absorbed implicitly into growth assumptions.</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Retention mitigation plans, pricing discipline, and account-level margin contribution data are necessary before tightening downside bands.</a:t>
            </a:r>
            <a:endParaRPr lang="en-US" sz="1000" dirty="0"/>
          </a:p>
          <a:p>
            <a:pPr indent="0" marL="0">
              <a:spcAft>
                <a:spcPts val="600"/>
              </a:spcAft>
              <a:buNone/>
            </a:pPr>
            <a:r>
              <a:rPr lang="en-US" sz="1000" b="1" dirty="0">
                <a:solidFill>
                  <a:srgbClr val="00338D"/>
                </a:solidFill>
                <a:latin typeface="Arial" pitchFamily="34" charset="0"/>
                <a:ea typeface="Arial" pitchFamily="34" charset="-122"/>
                <a:cs typeface="Arial" pitchFamily="34" charset="-120"/>
              </a:rPr>
              <a:t>Implication</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Preserve downside valuation protection until top-customer renewal visibility is fully documented.</a:t>
            </a:r>
            <a:endParaRPr lang="en-US" sz="1000" dirty="0"/>
          </a:p>
        </p:txBody>
      </p:sp>
      <p:sp>
        <p:nvSpPr>
          <p:cNvPr id="5" name="Text 3"/>
          <p:cNvSpPr/>
          <p:nvPr/>
        </p:nvSpPr>
        <p:spPr>
          <a:xfrm>
            <a:off x="998433" y="5992978"/>
            <a:ext cx="10204338" cy="182880"/>
          </a:xfrm>
          <a:prstGeom prst="rect">
            <a:avLst/>
          </a:prstGeom>
          <a:noFill/>
          <a:ln/>
        </p:spPr>
        <p:txBody>
          <a:bodyPr wrap="square" lIns="46800" tIns="72000" rIns="90000" bIns="46800" rtlCol="0" anchor="t"/>
          <a:lstStyle/>
          <a:p>
            <a:pPr indent="0" marL="0">
              <a:buNone/>
            </a:pPr>
            <a:r>
              <a:rPr lang="en-US" sz="600" i="1" dirty="0">
                <a:solidFill>
                  <a:srgbClr val="00338D"/>
                </a:solidFill>
                <a:latin typeface="Arial" pitchFamily="34" charset="0"/>
                <a:ea typeface="Arial" pitchFamily="34" charset="-122"/>
                <a:cs typeface="Arial" pitchFamily="34" charset="-120"/>
              </a:rPr>
              <a:t>Source: verification_report.json, company_seed.json</a:t>
            </a:r>
            <a:endParaRPr lang="en-US" sz="600" dirty="0"/>
          </a:p>
        </p:txBody>
      </p:sp>
      <p:sp>
        <p:nvSpPr>
          <p:cNvPr id="6"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9</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998433" y="431780"/>
            <a:ext cx="10204338" cy="53337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Event detail explains growth quality variance</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The same headline growth period contains both durable recurring additions and one-time pulses; the committee should value them differently.</a:t>
            </a:r>
            <a:endParaRPr lang="en-US" sz="1000" dirty="0"/>
          </a:p>
        </p:txBody>
      </p:sp>
      <p:sp>
        <p:nvSpPr>
          <p:cNvPr id="4" name="Shape 2"/>
          <p:cNvSpPr/>
          <p:nvPr/>
        </p:nvSpPr>
        <p:spPr>
          <a:xfrm>
            <a:off x="995361" y="1751584"/>
            <a:ext cx="10192299" cy="252000"/>
          </a:xfrm>
          <a:prstGeom prst="rect">
            <a:avLst/>
          </a:prstGeom>
          <a:solidFill>
            <a:srgbClr val="00338D"/>
          </a:solidFill>
          <a:ln w="12700">
            <a:solidFill>
              <a:srgbClr val="00338D"/>
            </a:solidFill>
            <a:prstDash val="solid"/>
          </a:ln>
        </p:spPr>
      </p:sp>
      <p:sp>
        <p:nvSpPr>
          <p:cNvPr id="5" name="Text 3"/>
          <p:cNvSpPr/>
          <p:nvPr/>
        </p:nvSpPr>
        <p:spPr>
          <a:xfrm>
            <a:off x="1068513" y="1769872"/>
            <a:ext cx="10045995" cy="252000"/>
          </a:xfrm>
          <a:prstGeom prst="rect">
            <a:avLst/>
          </a:prstGeom>
          <a:noFill/>
          <a:ln/>
        </p:spPr>
        <p:txBody>
          <a:bodyPr wrap="square" lIns="46800" tIns="72000" rIns="90000" bIns="46800" rtlCol="0" anchor="ctr"/>
          <a:lstStyle/>
          <a:p>
            <a:pPr indent="0" marL="0">
              <a:buNone/>
            </a:pPr>
            <a:r>
              <a:rPr lang="en-US" sz="1000" b="1" dirty="0">
                <a:solidFill>
                  <a:srgbClr val="FFFFFF"/>
                </a:solidFill>
                <a:latin typeface="Arial" pitchFamily="34" charset="0"/>
                <a:ea typeface="Arial" pitchFamily="34" charset="-122"/>
                <a:cs typeface="Arial" pitchFamily="34" charset="-120"/>
              </a:rPr>
              <a:t>Event quality split</a:t>
            </a:r>
            <a:endParaRPr lang="en-US" sz="10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995361" y="3978688"/>
          <a:ext cx="5036400" cy="2197170"/>
        </p:xfrm>
        <a:graphic>
          <a:graphicData uri="http://schemas.openxmlformats.org/drawingml/2006/table">
            <a:tbl>
              <a:tblPr/>
              <a:tblGrid>
                <a:gridCol w="2194560"/>
                <a:gridCol w="947280"/>
                <a:gridCol w="947280"/>
                <a:gridCol w="947280"/>
              </a:tblGrid>
              <a:tr h="292608">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Year</a:t>
                      </a:r>
                      <a:endParaRPr lang="en-US" sz="800" dirty="0">
                        <a:latin typeface="Arial" charset="0"/>
                        <a:ea typeface="Arial" charset="0"/>
                        <a:cs typeface="Arial" charset="0"/>
                      </a:endParaRPr>
                    </a:p>
                  </a:txBody>
                  <a:tcPr marL="50800" marR="50800" marT="25400" marB="25400" anchor="ctr">
                    <a:lnL w="7620" cap="flat" cmpd="sng" algn="ctr">
                      <a:solidFill>
                        <a:srgbClr val="D9D9D9"/>
                      </a:solidFill>
                      <a:prstDash val="solid"/>
                      <a:round/>
                      <a:headEnd type="none" w="med" len="med"/>
                      <a:tailEnd type="none" w="med" len="med"/>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One-time rev ($M)</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Recurring run-rate ($M/mo)</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Event count</a:t>
                      </a:r>
                      <a:endParaRPr lang="en-US" sz="800" dirty="0">
                        <a:latin typeface="Arial" charset="0"/>
                        <a:ea typeface="Arial" charset="0"/>
                        <a:cs typeface="Arial" charset="0"/>
                      </a:endParaRPr>
                    </a:p>
                  </a:txBody>
                  <a:tcPr marL="50800" marR="50800" marT="25400" marB="25400" anchor="ctr">
                    <a:lnL w="0" cap="flat" cmpd="sng" algn="ctr">
                      <a:noFill/>
                    </a:lnL>
                    <a:lnR w="7620" cap="flat" cmpd="sng" algn="ctr">
                      <a:solidFill>
                        <a:srgbClr val="D9D9D9"/>
                      </a:solidFill>
                      <a:prstDash val="solid"/>
                      <a:round/>
                      <a:headEnd type="none" w="med" len="med"/>
                      <a:tailEnd type="none" w="med" len="med"/>
                    </a:lnR>
                    <a:lnT w="0" cap="flat" cmpd="sng" algn="ctr">
                      <a:noFill/>
                    </a:lnT>
                    <a:lnB w="12700" cap="flat" cmpd="sng" algn="ctr">
                      <a:solidFill>
                        <a:srgbClr val="00338D"/>
                      </a:solidFill>
                      <a:prstDash val="solid"/>
                      <a:round/>
                      <a:headEnd type="none" w="med" len="med"/>
                      <a:tailEnd type="none" w="med" len="med"/>
                    </a:lnB>
                    <a:solidFill>
                      <a:srgbClr val="1E49E2"/>
                    </a:solidFill>
                  </a:tcPr>
                </a:tc>
              </a:tr>
              <a:tr h="173736">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2023</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6.28</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2.72</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11</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3736">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2024</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1.10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6.03</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9</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3736">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2025</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5.50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9.20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8</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r>
            </a:tbl>
          </a:graphicData>
        </a:graphic>
      </p:graphicFrame>
      <p:sp>
        <p:nvSpPr>
          <p:cNvPr id="7" name="Text 4"/>
          <p:cNvSpPr/>
          <p:nvPr/>
        </p:nvSpPr>
        <p:spPr>
          <a:xfrm>
            <a:off x="6159600" y="2058448"/>
            <a:ext cx="5033848" cy="1828800"/>
          </a:xfrm>
          <a:prstGeom prst="rect">
            <a:avLst/>
          </a:prstGeom>
          <a:noFill/>
          <a:ln/>
        </p:spPr>
        <p:txBody>
          <a:bodyPr wrap="square" lIns="46800" tIns="72000" rIns="90000" bIns="46800" rtlCol="0" anchor="t"/>
          <a:lstStyle/>
          <a:p>
            <a:pPr indent="0" marL="0">
              <a:spcAft>
                <a:spcPts val="600"/>
              </a:spcAft>
              <a:buNone/>
            </a:pPr>
            <a:r>
              <a:rPr lang="en-US" sz="1000" b="1" dirty="0">
                <a:solidFill>
                  <a:srgbClr val="00338D"/>
                </a:solidFill>
                <a:latin typeface="Arial" pitchFamily="34" charset="0"/>
                <a:ea typeface="Arial" pitchFamily="34" charset="-122"/>
                <a:cs typeface="Arial" pitchFamily="34" charset="-120"/>
              </a:rPr>
              <a:t>What the chart and table show</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One-time revenue varied materially by year, with peaks in 2023 and 2025 that can inflate period-on-period comparisons if not normalized.</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Recurring run-rate additions stepped up each year, suggesting that the customer engine improved even as one-time noise remained present.</a:t>
            </a:r>
            <a:endParaRPr lang="en-US" sz="1000" dirty="0"/>
          </a:p>
          <a:p>
            <a:pPr indent="0" marL="0">
              <a:spcAft>
                <a:spcPts val="600"/>
              </a:spcAft>
              <a:buNone/>
            </a:pPr>
            <a:r>
              <a:rPr lang="en-US" sz="1000" b="1" dirty="0">
                <a:solidFill>
                  <a:srgbClr val="00338D"/>
                </a:solidFill>
                <a:latin typeface="Arial" pitchFamily="34" charset="0"/>
                <a:ea typeface="Arial" pitchFamily="34" charset="-122"/>
                <a:cs typeface="Arial" pitchFamily="34" charset="-120"/>
              </a:rPr>
              <a:t>What this means for IC valuation</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Base-case growth assumptions should rely more heavily on recurring run-rate trends than total event-adjusted reported growth.</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Bid structure can share upside if one-time gains convert to recurring outcomes but should not prepay that conversion today.</a:t>
            </a:r>
            <a:endParaRPr lang="en-US" sz="1000" dirty="0"/>
          </a:p>
        </p:txBody>
      </p:sp>
      <p:graphicFrame>
        <p:nvGraphicFramePr>
          <p:cNvPr id="8" name="Chart 0" descr=""/>
          <p:cNvGraphicFramePr/>
          <p:nvPr/>
        </p:nvGraphicFramePr>
        <p:xfrm>
          <a:off x="995361" y="2058448"/>
          <a:ext cx="5036400" cy="1828800"/>
        </p:xfrm>
        <a:graphic xmlns:a="http://schemas.openxmlformats.org/drawingml/2006/main">
          <a:graphicData uri="http://schemas.openxmlformats.org/drawingml/2006/chart">
            <c:chart xmlns:c="http://schemas.openxmlformats.org/drawingml/2006/chart" r:id="rId1"/>
          </a:graphicData>
        </a:graphic>
      </p:graphicFrame>
      <p:sp>
        <p:nvSpPr>
          <p:cNvPr id="9" name="Text 5"/>
          <p:cNvSpPr/>
          <p:nvPr/>
        </p:nvSpPr>
        <p:spPr>
          <a:xfrm>
            <a:off x="995361" y="3932968"/>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event_impacts.xlsx</a:t>
            </a:r>
            <a:endParaRPr lang="en-US" sz="600" dirty="0"/>
          </a:p>
        </p:txBody>
      </p:sp>
      <p:sp>
        <p:nvSpPr>
          <p:cNvPr id="10" name="Text 6"/>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10</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998433" y="431780"/>
            <a:ext cx="10204338" cy="53337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Commercial upside needs disciplined conversion</a:t>
            </a:r>
            <a:endParaRPr lang="en-US" sz="3200" dirty="0"/>
          </a:p>
        </p:txBody>
      </p:sp>
      <p:sp>
        <p:nvSpPr>
          <p:cNvPr id="3" name="Text 1"/>
          <p:cNvSpPr/>
          <p:nvPr/>
        </p:nvSpPr>
        <p:spPr>
          <a:xfrm>
            <a:off x="998433" y="1179485"/>
            <a:ext cx="10204338" cy="482437"/>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The win engine is active, but value creation depends on converting first-order events into durable recurring revenue and resilient account margins.</a:t>
            </a:r>
            <a:endParaRPr lang="en-US" sz="1000" dirty="0"/>
          </a:p>
        </p:txBody>
      </p:sp>
      <p:sp>
        <p:nvSpPr>
          <p:cNvPr id="4" name="Text 2"/>
          <p:cNvSpPr/>
          <p:nvPr/>
        </p:nvSpPr>
        <p:spPr>
          <a:xfrm>
            <a:off x="998433" y="1716786"/>
            <a:ext cx="10204338" cy="4248760"/>
          </a:xfrm>
          <a:prstGeom prst="rect">
            <a:avLst/>
          </a:prstGeom>
          <a:noFill/>
          <a:ln/>
        </p:spPr>
        <p:txBody>
          <a:bodyPr wrap="square" lIns="46800" tIns="72000" rIns="90000" bIns="46800" rtlCol="0" anchor="t"/>
          <a:lstStyle/>
          <a:p>
            <a:pPr indent="0" marL="0">
              <a:spcAft>
                <a:spcPts val="600"/>
              </a:spcAft>
              <a:buNone/>
            </a:pPr>
            <a:r>
              <a:rPr lang="en-US" sz="1000" b="1" dirty="0">
                <a:solidFill>
                  <a:srgbClr val="00338D"/>
                </a:solidFill>
                <a:latin typeface="Arial" pitchFamily="34" charset="0"/>
                <a:ea typeface="Arial" pitchFamily="34" charset="-122"/>
                <a:cs typeface="Arial" pitchFamily="34" charset="-120"/>
              </a:rPr>
              <a:t>Upside levers</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Recurring win quality appears to be improving based on run-rate build, creating a plausible pathway to sustain high-teens to low-twenties growth trajectories.</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Store density and expanded footprint provide cross-sell and omnichannel opportunities if inventory and pricing discipline are maintained.</a:t>
            </a:r>
            <a:endParaRPr lang="en-US" sz="1000" dirty="0"/>
          </a:p>
          <a:p>
            <a:pPr indent="0" marL="0">
              <a:spcAft>
                <a:spcPts val="600"/>
              </a:spcAft>
              <a:buNone/>
            </a:pPr>
            <a:r>
              <a:rPr lang="en-US" sz="1000" b="1" dirty="0">
                <a:solidFill>
                  <a:srgbClr val="00338D"/>
                </a:solidFill>
                <a:latin typeface="Arial" pitchFamily="34" charset="0"/>
                <a:ea typeface="Arial" pitchFamily="34" charset="-122"/>
                <a:cs typeface="Arial" pitchFamily="34" charset="-120"/>
              </a:rPr>
              <a:t>Execution constraints</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Rapid expansion and mixed event quality increase the risk that reported growth outpaces process maturity in retention, forecasting, and margin governance.</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Without account-level profitability governance, high-volume growth can still dilute cash conversion and working-capital efficiency.</a:t>
            </a:r>
            <a:endParaRPr lang="en-US" sz="1000" dirty="0"/>
          </a:p>
          <a:p>
            <a:pPr indent="0" marL="0">
              <a:spcAft>
                <a:spcPts val="600"/>
              </a:spcAft>
              <a:buNone/>
            </a:pPr>
            <a:r>
              <a:rPr lang="en-US" sz="1000" b="1" dirty="0">
                <a:solidFill>
                  <a:srgbClr val="00338D"/>
                </a:solidFill>
                <a:latin typeface="Arial" pitchFamily="34" charset="0"/>
                <a:ea typeface="Arial" pitchFamily="34" charset="-122"/>
                <a:cs typeface="Arial" pitchFamily="34" charset="-120"/>
              </a:rPr>
              <a:t>IC implication</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Tie upside valuation credit to measurable recurring conversion KPIs, not just gross booking momentum.</a:t>
            </a:r>
            <a:endParaRPr lang="en-US" sz="1000" dirty="0"/>
          </a:p>
        </p:txBody>
      </p:sp>
      <p:sp>
        <p:nvSpPr>
          <p:cNvPr id="5" name="Text 3"/>
          <p:cNvSpPr/>
          <p:nvPr/>
        </p:nvSpPr>
        <p:spPr>
          <a:xfrm>
            <a:off x="998433" y="5992978"/>
            <a:ext cx="10204338" cy="182880"/>
          </a:xfrm>
          <a:prstGeom prst="rect">
            <a:avLst/>
          </a:prstGeom>
          <a:noFill/>
          <a:ln/>
        </p:spPr>
        <p:txBody>
          <a:bodyPr wrap="square" lIns="46800" tIns="72000" rIns="90000" bIns="46800" rtlCol="0" anchor="t"/>
          <a:lstStyle/>
          <a:p>
            <a:pPr indent="0" marL="0">
              <a:buNone/>
            </a:pPr>
            <a:r>
              <a:rPr lang="en-US" sz="600" i="1" dirty="0">
                <a:solidFill>
                  <a:srgbClr val="00338D"/>
                </a:solidFill>
                <a:latin typeface="Arial" pitchFamily="34" charset="0"/>
                <a:ea typeface="Arial" pitchFamily="34" charset="-122"/>
                <a:cs typeface="Arial" pitchFamily="34" charset="-120"/>
              </a:rPr>
              <a:t>Source: store_master.xlsx, event_impacts.xlsx, company_seed.json</a:t>
            </a:r>
            <a:endParaRPr lang="en-US" sz="600" dirty="0"/>
          </a:p>
        </p:txBody>
      </p:sp>
      <p:sp>
        <p:nvSpPr>
          <p:cNvPr id="6"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11</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1289860" y="1140069"/>
            <a:ext cx="1082675" cy="812530"/>
          </a:xfrm>
          <a:prstGeom prst="rect">
            <a:avLst/>
          </a:prstGeom>
          <a:noFill/>
          <a:ln/>
        </p:spPr>
        <p:txBody>
          <a:bodyPr wrap="square" lIns="46800" tIns="72000" rIns="90000" bIns="46800" rtlCol="0" anchor="t"/>
          <a:lstStyle/>
          <a:p>
            <a:pPr algn="l" indent="0" marL="0">
              <a:buNone/>
            </a:pPr>
            <a:r>
              <a:rPr lang="en-US" sz="4800" b="1" dirty="0">
                <a:solidFill>
                  <a:srgbClr val="FFFFFF"/>
                </a:solidFill>
                <a:latin typeface="Arial" pitchFamily="34" charset="0"/>
                <a:ea typeface="Arial" pitchFamily="34" charset="-122"/>
                <a:cs typeface="Arial" pitchFamily="34" charset="-120"/>
              </a:rPr>
              <a:t>03</a:t>
            </a:r>
            <a:endParaRPr lang="en-US" sz="4800" dirty="0"/>
          </a:p>
        </p:txBody>
      </p:sp>
      <p:sp>
        <p:nvSpPr>
          <p:cNvPr id="3" name="Text 1"/>
          <p:cNvSpPr/>
          <p:nvPr/>
        </p:nvSpPr>
        <p:spPr>
          <a:xfrm>
            <a:off x="1289861" y="2180877"/>
            <a:ext cx="6321425" cy="696782"/>
          </a:xfrm>
          <a:prstGeom prst="rect">
            <a:avLst/>
          </a:prstGeom>
          <a:noFill/>
          <a:ln/>
        </p:spPr>
        <p:txBody>
          <a:bodyPr wrap="square" lIns="46800" tIns="72000" rIns="90000" bIns="46800" rtlCol="0" anchor="t"/>
          <a:lstStyle/>
          <a:p>
            <a:pPr algn="l" indent="0" marL="0">
              <a:buNone/>
            </a:pPr>
            <a:r>
              <a:rPr lang="en-US" sz="2400" b="1" dirty="0">
                <a:solidFill>
                  <a:srgbClr val="FFFFFF"/>
                </a:solidFill>
                <a:latin typeface="Arial" pitchFamily="34" charset="0"/>
                <a:ea typeface="Arial" pitchFamily="34" charset="-122"/>
                <a:cs typeface="Arial" pitchFamily="34" charset="-120"/>
              </a:rPr>
              <a:t>Financial performance and QoE</a:t>
            </a:r>
            <a:endParaRPr lang="en-US" sz="2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998433" y="431780"/>
            <a:ext cx="10204338" cy="53337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Financial scale expanded materially in 3 years</a:t>
            </a:r>
            <a:endParaRPr lang="en-US" sz="3200" dirty="0"/>
          </a:p>
        </p:txBody>
      </p:sp>
      <p:sp>
        <p:nvSpPr>
          <p:cNvPr id="3" name="Text 1"/>
          <p:cNvSpPr/>
          <p:nvPr/>
        </p:nvSpPr>
        <p:spPr>
          <a:xfrm>
            <a:off x="998433" y="1179485"/>
            <a:ext cx="10204338" cy="482437"/>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Revenue and operating income both increased significantly, but valuation quality depends on isolating durable earnings from one-time effects.</a:t>
            </a:r>
            <a:endParaRPr lang="en-US" sz="1000" dirty="0"/>
          </a:p>
        </p:txBody>
      </p:sp>
      <p:sp>
        <p:nvSpPr>
          <p:cNvPr id="4" name="Text 2"/>
          <p:cNvSpPr/>
          <p:nvPr/>
        </p:nvSpPr>
        <p:spPr>
          <a:xfrm>
            <a:off x="998433" y="1716786"/>
            <a:ext cx="5120640" cy="4459072"/>
          </a:xfrm>
          <a:prstGeom prst="rect">
            <a:avLst/>
          </a:prstGeom>
          <a:noFill/>
          <a:ln/>
        </p:spPr>
        <p:txBody>
          <a:bodyPr wrap="square" lIns="46800" tIns="72000" rIns="90000" bIns="46800" rtlCol="0" anchor="t"/>
          <a:lstStyle/>
          <a:p>
            <a:pPr indent="0" marL="0">
              <a:spcAft>
                <a:spcPts val="600"/>
              </a:spcAft>
              <a:buNone/>
            </a:pPr>
            <a:r>
              <a:rPr lang="en-US" sz="1000" b="1" dirty="0">
                <a:solidFill>
                  <a:srgbClr val="00338D"/>
                </a:solidFill>
                <a:latin typeface="Arial" pitchFamily="34" charset="0"/>
                <a:ea typeface="Arial" pitchFamily="34" charset="-122"/>
                <a:cs typeface="Arial" pitchFamily="34" charset="-120"/>
              </a:rPr>
              <a:t>Performance trajectory</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Revenue rose from $309.9M to $518.5M while operating income increased from $58.6M to $98.0M between 2023 and 2025.</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Gross profit grew by $112.5M over the period, reflecting both volume growth and stable gross margin mechanics.</a:t>
            </a:r>
            <a:endParaRPr lang="en-US" sz="1000" dirty="0"/>
          </a:p>
          <a:p>
            <a:pPr indent="0" marL="0">
              <a:spcAft>
                <a:spcPts val="600"/>
              </a:spcAft>
              <a:buNone/>
            </a:pPr>
            <a:r>
              <a:rPr lang="en-US" sz="1000" b="1" dirty="0">
                <a:solidFill>
                  <a:srgbClr val="00338D"/>
                </a:solidFill>
                <a:latin typeface="Arial" pitchFamily="34" charset="0"/>
                <a:ea typeface="Arial" pitchFamily="34" charset="-122"/>
                <a:cs typeface="Arial" pitchFamily="34" charset="-120"/>
              </a:rPr>
              <a:t>QoE lens</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Strong reported expansion can mask timing effects; therefore, bridge analysis should isolate recurring run-rate and non-recurring events.</a:t>
            </a:r>
            <a:endParaRPr lang="en-US" sz="1000" dirty="0"/>
          </a:p>
          <a:p>
            <a:pPr indent="0" marL="0">
              <a:spcAft>
                <a:spcPts val="600"/>
              </a:spcAft>
              <a:buNone/>
            </a:pPr>
            <a:r>
              <a:rPr lang="en-US" sz="1000" b="1" dirty="0">
                <a:solidFill>
                  <a:srgbClr val="00338D"/>
                </a:solidFill>
                <a:latin typeface="Arial" pitchFamily="34" charset="0"/>
                <a:ea typeface="Arial" pitchFamily="34" charset="-122"/>
                <a:cs typeface="Arial" pitchFamily="34" charset="-120"/>
              </a:rPr>
              <a:t>Implication</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The IC can underwrite momentum, but only after normalization of event-linked components and downside sensitivity calibration.</a:t>
            </a:r>
            <a:endParaRPr lang="en-US" sz="1000" dirty="0"/>
          </a:p>
        </p:txBody>
      </p:sp>
      <p:graphicFrame>
        <p:nvGraphicFramePr>
          <p:cNvPr id="5" name="Chart 0" descr=""/>
          <p:cNvGraphicFramePr/>
          <p:nvPr/>
        </p:nvGraphicFramePr>
        <p:xfrm>
          <a:off x="6400800" y="1716786"/>
          <a:ext cx="4800600" cy="4184752"/>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income_statement.xlsx</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12</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998433" y="431780"/>
            <a:ext cx="10204338" cy="53337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Reported margin resilience supports base case</a:t>
            </a:r>
            <a:endParaRPr lang="en-US" sz="3200" dirty="0"/>
          </a:p>
        </p:txBody>
      </p:sp>
      <p:sp>
        <p:nvSpPr>
          <p:cNvPr id="3" name="Text 1"/>
          <p:cNvSpPr/>
          <p:nvPr/>
        </p:nvSpPr>
        <p:spPr>
          <a:xfrm>
            <a:off x="998433" y="1179485"/>
            <a:ext cx="10204338" cy="482437"/>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Reported gross and operating margins remained stable through expansion, improving confidence in baseline operating model coherence.</a:t>
            </a:r>
            <a:endParaRPr lang="en-US" sz="1000" dirty="0"/>
          </a:p>
        </p:txBody>
      </p:sp>
      <p:sp>
        <p:nvSpPr>
          <p:cNvPr id="4" name="Text 2"/>
          <p:cNvSpPr/>
          <p:nvPr/>
        </p:nvSpPr>
        <p:spPr>
          <a:xfrm>
            <a:off x="998433" y="1716786"/>
            <a:ext cx="5120640" cy="4459072"/>
          </a:xfrm>
          <a:prstGeom prst="rect">
            <a:avLst/>
          </a:prstGeom>
          <a:noFill/>
          <a:ln/>
        </p:spPr>
        <p:txBody>
          <a:bodyPr wrap="square" lIns="46800" tIns="72000" rIns="90000" bIns="46800" rtlCol="0" anchor="t"/>
          <a:lstStyle/>
          <a:p>
            <a:pPr indent="0" marL="0">
              <a:spcAft>
                <a:spcPts val="600"/>
              </a:spcAft>
              <a:buNone/>
            </a:pPr>
            <a:r>
              <a:rPr lang="en-US" sz="1000" b="1" dirty="0">
                <a:solidFill>
                  <a:srgbClr val="00338D"/>
                </a:solidFill>
                <a:latin typeface="Arial" pitchFamily="34" charset="0"/>
                <a:ea typeface="Arial" pitchFamily="34" charset="-122"/>
                <a:cs typeface="Arial" pitchFamily="34" charset="-120"/>
              </a:rPr>
              <a:t>Margin readout</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Gross margin remained at 53.9% across all three years, while operating margin stayed in a tight 18.9% to 19.8% band.</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Net income tracked operating income closely in the dataset, simplifying reported trend interpretation for IC context.</a:t>
            </a:r>
            <a:endParaRPr lang="en-US" sz="1000" dirty="0"/>
          </a:p>
          <a:p>
            <a:pPr indent="0" marL="0">
              <a:spcAft>
                <a:spcPts val="600"/>
              </a:spcAft>
              <a:buNone/>
            </a:pPr>
            <a:r>
              <a:rPr lang="en-US" sz="1000" b="1" dirty="0">
                <a:solidFill>
                  <a:srgbClr val="00338D"/>
                </a:solidFill>
                <a:latin typeface="Arial" pitchFamily="34" charset="0"/>
                <a:ea typeface="Arial" pitchFamily="34" charset="-122"/>
                <a:cs typeface="Arial" pitchFamily="34" charset="-120"/>
              </a:rPr>
              <a:t>What still matters</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Margin stability does not eliminate QoE risk because policy-sensitive items and event timing can preserve headline margin while altering cash quality.</a:t>
            </a:r>
            <a:endParaRPr lang="en-US" sz="1000" dirty="0"/>
          </a:p>
          <a:p>
            <a:pPr indent="0" marL="0">
              <a:spcAft>
                <a:spcPts val="600"/>
              </a:spcAft>
              <a:buNone/>
            </a:pPr>
            <a:r>
              <a:rPr lang="en-US" sz="1000" b="1" dirty="0">
                <a:solidFill>
                  <a:srgbClr val="00338D"/>
                </a:solidFill>
                <a:latin typeface="Arial" pitchFamily="34" charset="0"/>
                <a:ea typeface="Arial" pitchFamily="34" charset="-122"/>
                <a:cs typeface="Arial" pitchFamily="34" charset="-120"/>
              </a:rPr>
              <a:t>Implication</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Use margin stability as baseline support, but keep normalization and policy diligence in the core decision package.</a:t>
            </a:r>
            <a:endParaRPr lang="en-US" sz="1000" dirty="0"/>
          </a:p>
        </p:txBody>
      </p:sp>
      <p:graphicFrame>
        <p:nvGraphicFramePr>
          <p:cNvPr id="5" name="Chart 0" descr=""/>
          <p:cNvGraphicFramePr/>
          <p:nvPr/>
        </p:nvGraphicFramePr>
        <p:xfrm>
          <a:off x="6400800" y="1716786"/>
          <a:ext cx="4800600" cy="4184752"/>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income_statement.xlsx</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13</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998433" y="431780"/>
            <a:ext cx="10204338" cy="53337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EBITDA bridge: reported to normalized (1/2)</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Normalization begins with reported EBITDA and removes event-driven components that should not be annualized in the base valuation case.</a:t>
            </a:r>
            <a:endParaRPr lang="en-US" sz="1000" dirty="0"/>
          </a:p>
        </p:txBody>
      </p:sp>
      <p:sp>
        <p:nvSpPr>
          <p:cNvPr id="4" name="Shape 2"/>
          <p:cNvSpPr/>
          <p:nvPr/>
        </p:nvSpPr>
        <p:spPr>
          <a:xfrm>
            <a:off x="995361" y="1751584"/>
            <a:ext cx="10192299" cy="252000"/>
          </a:xfrm>
          <a:prstGeom prst="rect">
            <a:avLst/>
          </a:prstGeom>
          <a:solidFill>
            <a:srgbClr val="00338D"/>
          </a:solidFill>
          <a:ln w="12700">
            <a:solidFill>
              <a:srgbClr val="00338D"/>
            </a:solidFill>
            <a:prstDash val="solid"/>
          </a:ln>
        </p:spPr>
      </p:sp>
      <p:sp>
        <p:nvSpPr>
          <p:cNvPr id="5" name="Text 3"/>
          <p:cNvSpPr/>
          <p:nvPr/>
        </p:nvSpPr>
        <p:spPr>
          <a:xfrm>
            <a:off x="1068513" y="1769872"/>
            <a:ext cx="10045995" cy="252000"/>
          </a:xfrm>
          <a:prstGeom prst="rect">
            <a:avLst/>
          </a:prstGeom>
          <a:noFill/>
          <a:ln/>
        </p:spPr>
        <p:txBody>
          <a:bodyPr wrap="square" lIns="46800" tIns="72000" rIns="90000" bIns="46800" rtlCol="0" anchor="ctr"/>
          <a:lstStyle/>
          <a:p>
            <a:pPr indent="0" marL="0">
              <a:buNone/>
            </a:pPr>
            <a:r>
              <a:rPr lang="en-US" sz="1000" b="1" dirty="0">
                <a:solidFill>
                  <a:srgbClr val="FFFFFF"/>
                </a:solidFill>
                <a:latin typeface="Arial" pitchFamily="34" charset="0"/>
                <a:ea typeface="Arial" pitchFamily="34" charset="-122"/>
                <a:cs typeface="Arial" pitchFamily="34" charset="-120"/>
              </a:rPr>
              <a:t>Bridge mechanics by year</a:t>
            </a:r>
            <a:endParaRPr lang="en-US" sz="10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995361" y="3978688"/>
          <a:ext cx="5036400" cy="2197170"/>
        </p:xfrm>
        <a:graphic>
          <a:graphicData uri="http://schemas.openxmlformats.org/drawingml/2006/table">
            <a:tbl>
              <a:tblPr/>
              <a:tblGrid>
                <a:gridCol w="2194560"/>
                <a:gridCol w="947280"/>
                <a:gridCol w="947280"/>
                <a:gridCol w="947280"/>
              </a:tblGrid>
              <a:tr h="292608">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Year</a:t>
                      </a:r>
                      <a:endParaRPr lang="en-US" sz="800" dirty="0">
                        <a:latin typeface="Arial" charset="0"/>
                        <a:ea typeface="Arial" charset="0"/>
                        <a:cs typeface="Arial" charset="0"/>
                      </a:endParaRPr>
                    </a:p>
                  </a:txBody>
                  <a:tcPr marL="50800" marR="50800" marT="25400" marB="25400" anchor="ctr">
                    <a:lnL w="7620" cap="flat" cmpd="sng" algn="ctr">
                      <a:solidFill>
                        <a:srgbClr val="D9D9D9"/>
                      </a:solidFill>
                      <a:prstDash val="solid"/>
                      <a:round/>
                      <a:headEnd type="none" w="med" len="med"/>
                      <a:tailEnd type="none" w="med" len="med"/>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Reported EBITDA</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Less one-time rev</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Normalized EBITDA</a:t>
                      </a:r>
                      <a:endParaRPr lang="en-US" sz="800" dirty="0">
                        <a:latin typeface="Arial" charset="0"/>
                        <a:ea typeface="Arial" charset="0"/>
                        <a:cs typeface="Arial" charset="0"/>
                      </a:endParaRPr>
                    </a:p>
                  </a:txBody>
                  <a:tcPr marL="50800" marR="50800" marT="25400" marB="25400" anchor="ctr">
                    <a:lnL w="0" cap="flat" cmpd="sng" algn="ctr">
                      <a:noFill/>
                    </a:lnL>
                    <a:lnR w="7620" cap="flat" cmpd="sng" algn="ctr">
                      <a:solidFill>
                        <a:srgbClr val="D9D9D9"/>
                      </a:solidFill>
                      <a:prstDash val="solid"/>
                      <a:round/>
                      <a:headEnd type="none" w="med" len="med"/>
                      <a:tailEnd type="none" w="med" len="med"/>
                    </a:lnR>
                    <a:lnT w="0" cap="flat" cmpd="sng" algn="ctr">
                      <a:noFill/>
                    </a:lnT>
                    <a:lnB w="12700" cap="flat" cmpd="sng" algn="ctr">
                      <a:solidFill>
                        <a:srgbClr val="00338D"/>
                      </a:solidFill>
                      <a:prstDash val="solid"/>
                      <a:round/>
                      <a:headEnd type="none" w="med" len="med"/>
                      <a:tailEnd type="none" w="med" len="med"/>
                    </a:lnB>
                    <a:solidFill>
                      <a:srgbClr val="1E49E2"/>
                    </a:solidFill>
                  </a:tcPr>
                </a:tc>
              </a:tr>
              <a:tr h="173736">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2023</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62.4</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(6.3)</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56.1</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3736">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2024</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80.3</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(1.1)</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79.2</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3736">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2025</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102.2</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(5.5)</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96.7</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r>
            </a:tbl>
          </a:graphicData>
        </a:graphic>
      </p:graphicFrame>
      <p:sp>
        <p:nvSpPr>
          <p:cNvPr id="7" name="Text 4"/>
          <p:cNvSpPr/>
          <p:nvPr/>
        </p:nvSpPr>
        <p:spPr>
          <a:xfrm>
            <a:off x="6159600" y="2058448"/>
            <a:ext cx="5033848" cy="1828800"/>
          </a:xfrm>
          <a:prstGeom prst="rect">
            <a:avLst/>
          </a:prstGeom>
          <a:noFill/>
          <a:ln/>
        </p:spPr>
        <p:txBody>
          <a:bodyPr wrap="square" lIns="46800" tIns="72000" rIns="90000" bIns="46800" rtlCol="0" anchor="t"/>
          <a:lstStyle/>
          <a:p>
            <a:pPr indent="0" marL="0">
              <a:spcAft>
                <a:spcPts val="600"/>
              </a:spcAft>
              <a:buNone/>
            </a:pPr>
            <a:r>
              <a:rPr lang="en-US" sz="1000" b="1" dirty="0">
                <a:solidFill>
                  <a:srgbClr val="00338D"/>
                </a:solidFill>
                <a:latin typeface="Arial" pitchFamily="34" charset="0"/>
                <a:ea typeface="Arial" pitchFamily="34" charset="-122"/>
                <a:cs typeface="Arial" pitchFamily="34" charset="-120"/>
              </a:rPr>
              <a:t>Bridge structure</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Reported EBITDA is proxied as operating income plus depreciation and then adjusted for one-time revenue and known non-recurring items.</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One-time revenue is removed from base earnings because repeatability is not yet evidenced at portfolio-level confidence.</a:t>
            </a:r>
            <a:endParaRPr lang="en-US" sz="1000" dirty="0"/>
          </a:p>
          <a:p>
            <a:pPr indent="0" marL="0">
              <a:spcAft>
                <a:spcPts val="600"/>
              </a:spcAft>
              <a:buNone/>
            </a:pPr>
            <a:r>
              <a:rPr lang="en-US" sz="1000" b="1" dirty="0">
                <a:solidFill>
                  <a:srgbClr val="00338D"/>
                </a:solidFill>
                <a:latin typeface="Arial" pitchFamily="34" charset="0"/>
                <a:ea typeface="Arial" pitchFamily="34" charset="-122"/>
                <a:cs typeface="Arial" pitchFamily="34" charset="-120"/>
              </a:rPr>
              <a:t>Interim conclusion</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The normalization delta is meaningful enough to influence leverage sizing and valuation confidence bands.</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IC discussion should focus on which adjustments migrate to base versus remain in sensitivity scenarios.</a:t>
            </a:r>
            <a:endParaRPr lang="en-US" sz="1000" dirty="0"/>
          </a:p>
        </p:txBody>
      </p:sp>
      <p:graphicFrame>
        <p:nvGraphicFramePr>
          <p:cNvPr id="8" name="Chart 0" descr=""/>
          <p:cNvGraphicFramePr/>
          <p:nvPr/>
        </p:nvGraphicFramePr>
        <p:xfrm>
          <a:off x="995361" y="2058448"/>
          <a:ext cx="5036400" cy="1828800"/>
        </p:xfrm>
        <a:graphic xmlns:a="http://schemas.openxmlformats.org/drawingml/2006/main">
          <a:graphicData uri="http://schemas.openxmlformats.org/drawingml/2006/chart">
            <c:chart xmlns:c="http://schemas.openxmlformats.org/drawingml/2006/chart" r:id="rId1"/>
          </a:graphicData>
        </a:graphic>
      </p:graphicFrame>
      <p:sp>
        <p:nvSpPr>
          <p:cNvPr id="9" name="Text 5"/>
          <p:cNvSpPr/>
          <p:nvPr/>
        </p:nvSpPr>
        <p:spPr>
          <a:xfrm>
            <a:off x="995361" y="3932968"/>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income_statement.xlsx, fixed_assets.xlsx, event_impacts.xlsx</a:t>
            </a:r>
            <a:endParaRPr lang="en-US" sz="600" dirty="0"/>
          </a:p>
        </p:txBody>
      </p:sp>
      <p:sp>
        <p:nvSpPr>
          <p:cNvPr id="10" name="Text 6"/>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14</a:t>
            </a:r>
            <a:endParaRPr lang="en-US" sz="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998433" y="431780"/>
            <a:ext cx="10204338" cy="53337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EBITDA bridge: risk overlays and scenarios (2/2)</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After base normalization, the key valuation swing factor is churn realization plus unresolved policy adjustments that remain outside booked base.</a:t>
            </a:r>
            <a:endParaRPr lang="en-US" sz="1000" dirty="0"/>
          </a:p>
        </p:txBody>
      </p:sp>
      <p:sp>
        <p:nvSpPr>
          <p:cNvPr id="4" name="Shape 2"/>
          <p:cNvSpPr/>
          <p:nvPr/>
        </p:nvSpPr>
        <p:spPr>
          <a:xfrm>
            <a:off x="995361" y="1751584"/>
            <a:ext cx="10192299" cy="252000"/>
          </a:xfrm>
          <a:prstGeom prst="rect">
            <a:avLst/>
          </a:prstGeom>
          <a:solidFill>
            <a:srgbClr val="00338D"/>
          </a:solidFill>
          <a:ln w="12700">
            <a:solidFill>
              <a:srgbClr val="00338D"/>
            </a:solidFill>
            <a:prstDash val="solid"/>
          </a:ln>
        </p:spPr>
      </p:sp>
      <p:sp>
        <p:nvSpPr>
          <p:cNvPr id="5" name="Text 3"/>
          <p:cNvSpPr/>
          <p:nvPr/>
        </p:nvSpPr>
        <p:spPr>
          <a:xfrm>
            <a:off x="1068513" y="1769872"/>
            <a:ext cx="10045995" cy="252000"/>
          </a:xfrm>
          <a:prstGeom prst="rect">
            <a:avLst/>
          </a:prstGeom>
          <a:noFill/>
          <a:ln/>
        </p:spPr>
        <p:txBody>
          <a:bodyPr wrap="square" lIns="46800" tIns="72000" rIns="90000" bIns="46800" rtlCol="0" anchor="ctr"/>
          <a:lstStyle/>
          <a:p>
            <a:pPr indent="0" marL="0">
              <a:buNone/>
            </a:pPr>
            <a:r>
              <a:rPr lang="en-US" sz="1000" b="1" dirty="0">
                <a:solidFill>
                  <a:srgbClr val="FFFFFF"/>
                </a:solidFill>
                <a:latin typeface="Arial" pitchFamily="34" charset="0"/>
                <a:ea typeface="Arial" pitchFamily="34" charset="-122"/>
                <a:cs typeface="Arial" pitchFamily="34" charset="-120"/>
              </a:rPr>
              <a:t>Risk overlay bridge</a:t>
            </a:r>
            <a:endParaRPr lang="en-US" sz="10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995361" y="3978688"/>
          <a:ext cx="5036400" cy="2197170"/>
        </p:xfrm>
        <a:graphic>
          <a:graphicData uri="http://schemas.openxmlformats.org/drawingml/2006/table">
            <a:tbl>
              <a:tblPr/>
              <a:tblGrid>
                <a:gridCol w="1401433"/>
                <a:gridCol w="832101"/>
                <a:gridCol w="1401433"/>
                <a:gridCol w="1401433"/>
              </a:tblGrid>
              <a:tr h="292608">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Overlay item</a:t>
                      </a:r>
                      <a:endParaRPr lang="en-US" sz="800" dirty="0">
                        <a:latin typeface="Arial" charset="0"/>
                        <a:ea typeface="Arial" charset="0"/>
                        <a:cs typeface="Arial" charset="0"/>
                      </a:endParaRPr>
                    </a:p>
                  </a:txBody>
                  <a:tcPr marL="50800" marR="50800" marT="25400" marB="25400" anchor="ctr">
                    <a:lnL w="7620" cap="flat" cmpd="sng" algn="ctr">
                      <a:solidFill>
                        <a:srgbClr val="D9D9D9"/>
                      </a:solidFill>
                      <a:prstDash val="solid"/>
                      <a:round/>
                      <a:headEnd type="none" w="med" len="med"/>
                      <a:tailEnd type="none" w="med" len="med"/>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Amount ($M)</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Treatment</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Status</a:t>
                      </a:r>
                      <a:endParaRPr lang="en-US" sz="800" dirty="0">
                        <a:latin typeface="Arial" charset="0"/>
                        <a:ea typeface="Arial" charset="0"/>
                        <a:cs typeface="Arial" charset="0"/>
                      </a:endParaRPr>
                    </a:p>
                  </a:txBody>
                  <a:tcPr marL="50800" marR="50800" marT="25400" marB="25400" anchor="ctr">
                    <a:lnL w="0" cap="flat" cmpd="sng" algn="ctr">
                      <a:noFill/>
                    </a:lnL>
                    <a:lnR w="7620" cap="flat" cmpd="sng" algn="ctr">
                      <a:solidFill>
                        <a:srgbClr val="D9D9D9"/>
                      </a:solidFill>
                      <a:prstDash val="solid"/>
                      <a:round/>
                      <a:headEnd type="none" w="med" len="med"/>
                      <a:tailEnd type="none" w="med" len="med"/>
                    </a:lnR>
                    <a:lnT w="0" cap="flat" cmpd="sng" algn="ctr">
                      <a:noFill/>
                    </a:lnT>
                    <a:lnB w="12700" cap="flat" cmpd="sng" algn="ctr">
                      <a:solidFill>
                        <a:srgbClr val="00338D"/>
                      </a:solidFill>
                      <a:prstDash val="solid"/>
                      <a:round/>
                      <a:headEnd type="none" w="med" len="med"/>
                      <a:tailEnd type="none" w="med" len="med"/>
                    </a:lnB>
                    <a:solidFill>
                      <a:srgbClr val="1E49E2"/>
                    </a:solidFill>
                  </a:tcPr>
                </a:tc>
              </a:tr>
              <a:tr h="29057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Insurance recovery</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+3.5</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Non-recurring classification</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Needs policy memo</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9057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Restructuring cost</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(6.2)</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One-time adjustment</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Needs support detail</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9057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Customer churn</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(19.6)</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Scenario sensitivity</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Retention evidence open</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9057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Policy adjustments</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TBD</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Potential QoE adjustments</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Quantification pending</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r>
            </a:tbl>
          </a:graphicData>
        </a:graphic>
      </p:graphicFrame>
      <p:sp>
        <p:nvSpPr>
          <p:cNvPr id="7" name="Text 4"/>
          <p:cNvSpPr/>
          <p:nvPr/>
        </p:nvSpPr>
        <p:spPr>
          <a:xfrm>
            <a:off x="6159600" y="2058448"/>
            <a:ext cx="5033848" cy="1828800"/>
          </a:xfrm>
          <a:prstGeom prst="rect">
            <a:avLst/>
          </a:prstGeom>
          <a:noFill/>
          <a:ln/>
        </p:spPr>
        <p:txBody>
          <a:bodyPr wrap="square" lIns="46800" tIns="72000" rIns="90000" bIns="46800" rtlCol="0" anchor="t"/>
          <a:lstStyle/>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Insurance recovery (+$3.5M) and restructuring costs (-$6.2M) are identified one-time items that require consistent classification and support.</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Customer churn risk of $19.6M remains outside booked normalization and is modeled as scenario exposure until retention evidence closes.</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Partial churn realization compresses normalized EBITDA materially and can tighten debt sizing and valuation tolerance.</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IC should gate final pricing on closure of these overlay lines and documented policy treatment.</a:t>
            </a:r>
            <a:endParaRPr lang="en-US" sz="1000" dirty="0"/>
          </a:p>
        </p:txBody>
      </p:sp>
      <p:graphicFrame>
        <p:nvGraphicFramePr>
          <p:cNvPr id="8" name="Chart 0" descr=""/>
          <p:cNvGraphicFramePr/>
          <p:nvPr/>
        </p:nvGraphicFramePr>
        <p:xfrm>
          <a:off x="995361" y="2058448"/>
          <a:ext cx="5036400" cy="1828800"/>
        </p:xfrm>
        <a:graphic xmlns:a="http://schemas.openxmlformats.org/drawingml/2006/main">
          <a:graphicData uri="http://schemas.openxmlformats.org/drawingml/2006/chart">
            <c:chart xmlns:c="http://schemas.openxmlformats.org/drawingml/2006/chart" r:id="rId1"/>
          </a:graphicData>
        </a:graphic>
      </p:graphicFrame>
      <p:sp>
        <p:nvSpPr>
          <p:cNvPr id="9" name="Text 5"/>
          <p:cNvSpPr/>
          <p:nvPr/>
        </p:nvSpPr>
        <p:spPr>
          <a:xfrm>
            <a:off x="995361" y="3932968"/>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verification_report.json; scenario modeling assumptions</a:t>
            </a:r>
            <a:endParaRPr lang="en-US" sz="600" dirty="0"/>
          </a:p>
        </p:txBody>
      </p:sp>
      <p:sp>
        <p:nvSpPr>
          <p:cNvPr id="10" name="Text 6"/>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15</a:t>
            </a:r>
            <a:endParaRPr lang="en-US" sz="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998400" y="431800"/>
            <a:ext cx="10195200" cy="53340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QoE issue register is broad but actionable</a:t>
            </a:r>
            <a:endParaRPr lang="en-US" sz="3200" dirty="0"/>
          </a:p>
        </p:txBody>
      </p:sp>
      <p:sp>
        <p:nvSpPr>
          <p:cNvPr id="3" name="Text 1"/>
          <p:cNvSpPr/>
          <p:nvPr/>
        </p:nvSpPr>
        <p:spPr>
          <a:xfrm>
            <a:off x="995361" y="1179513"/>
            <a:ext cx="10195200" cy="482400"/>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The issue set is manageable with targeted diligence, but unresolved items are sufficiently material to require structured pre-close closure criteria.</a:t>
            </a:r>
            <a:endParaRPr lang="en-US" sz="1000" dirty="0"/>
          </a:p>
        </p:txBody>
      </p:sp>
      <p:sp>
        <p:nvSpPr>
          <p:cNvPr id="4" name="Shape 2"/>
          <p:cNvSpPr/>
          <p:nvPr/>
        </p:nvSpPr>
        <p:spPr>
          <a:xfrm>
            <a:off x="995361" y="1751579"/>
            <a:ext cx="5036396" cy="219456"/>
          </a:xfrm>
          <a:prstGeom prst="rect">
            <a:avLst/>
          </a:prstGeom>
          <a:solidFill>
            <a:srgbClr val="00338D"/>
          </a:solidFill>
          <a:ln w="12700">
            <a:solidFill>
              <a:srgbClr val="00338D">
                <a:alpha val="0"/>
              </a:srgbClr>
            </a:solidFill>
            <a:prstDash val="solid"/>
          </a:ln>
        </p:spPr>
      </p:sp>
      <p:sp>
        <p:nvSpPr>
          <p:cNvPr id="5" name="Text 3"/>
          <p:cNvSpPr/>
          <p:nvPr/>
        </p:nvSpPr>
        <p:spPr>
          <a:xfrm>
            <a:off x="1050225" y="1765295"/>
            <a:ext cx="4926668" cy="201168"/>
          </a:xfrm>
          <a:prstGeom prst="rect">
            <a:avLst/>
          </a:prstGeom>
          <a:noFill/>
          <a:ln/>
        </p:spPr>
        <p:txBody>
          <a:bodyPr wrap="square" lIns="0" tIns="0" rIns="0" bIns="0" rtlCol="0" anchor="ctr"/>
          <a:lstStyle/>
          <a:p>
            <a:pPr indent="0" marL="0">
              <a:buNone/>
            </a:pPr>
            <a:r>
              <a:rPr lang="en-US" sz="900" b="1" dirty="0">
                <a:solidFill>
                  <a:srgbClr val="FFFFFF"/>
                </a:solidFill>
                <a:latin typeface="Arial" pitchFamily="34" charset="0"/>
                <a:ea typeface="Arial" pitchFamily="34" charset="-122"/>
                <a:cs typeface="Arial" pitchFamily="34" charset="-120"/>
              </a:rPr>
              <a:t>QoE issue register is broad but actionable</a:t>
            </a:r>
            <a:endParaRPr lang="en-US" sz="900" dirty="0"/>
          </a:p>
        </p:txBody>
      </p:sp>
      <p:sp>
        <p:nvSpPr>
          <p:cNvPr id="6" name="Shape 4"/>
          <p:cNvSpPr/>
          <p:nvPr/>
        </p:nvSpPr>
        <p:spPr>
          <a:xfrm>
            <a:off x="995361" y="1971035"/>
            <a:ext cx="5036396" cy="0"/>
          </a:xfrm>
          <a:prstGeom prst="line">
            <a:avLst/>
          </a:prstGeom>
          <a:noFill/>
          <a:ln w="12700">
            <a:solidFill>
              <a:srgbClr val="00338D"/>
            </a:solidFill>
            <a:prstDash val="solid"/>
          </a:ln>
        </p:spPr>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995361" y="1989323"/>
          <a:ext cx="5036396" cy="3884252"/>
        </p:xfrm>
        <a:graphic>
          <a:graphicData uri="http://schemas.openxmlformats.org/drawingml/2006/table">
            <a:tbl>
              <a:tblPr/>
              <a:tblGrid>
                <a:gridCol w="1401432"/>
                <a:gridCol w="832100"/>
                <a:gridCol w="1401432"/>
                <a:gridCol w="1401432"/>
              </a:tblGrid>
              <a:tr h="292608">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Issue category</a:t>
                      </a:r>
                      <a:endParaRPr lang="en-US" sz="800" dirty="0">
                        <a:latin typeface="Arial" charset="0"/>
                        <a:ea typeface="Arial" charset="0"/>
                        <a:cs typeface="Arial" charset="0"/>
                      </a:endParaRPr>
                    </a:p>
                  </a:txBody>
                  <a:tcPr marL="50800" marR="50800" marT="25400" marB="25400" anchor="ctr">
                    <a:lnL w="7620" cap="flat" cmpd="sng" algn="ctr">
                      <a:solidFill>
                        <a:srgbClr val="D9D9D9"/>
                      </a:solidFill>
                      <a:prstDash val="solid"/>
                      <a:round/>
                      <a:headEnd type="none" w="med" len="med"/>
                      <a:tailEnd type="none" w="med" len="med"/>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Count</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Known quantification</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IC relevance</a:t>
                      </a:r>
                      <a:endParaRPr lang="en-US" sz="800" dirty="0">
                        <a:latin typeface="Arial" charset="0"/>
                        <a:ea typeface="Arial" charset="0"/>
                        <a:cs typeface="Arial" charset="0"/>
                      </a:endParaRPr>
                    </a:p>
                  </a:txBody>
                  <a:tcPr marL="50800" marR="50800" marT="25400" marB="25400" anchor="ctr">
                    <a:lnL w="0" cap="flat" cmpd="sng" algn="ctr">
                      <a:noFill/>
                    </a:lnL>
                    <a:lnR w="7620" cap="flat" cmpd="sng" algn="ctr">
                      <a:solidFill>
                        <a:srgbClr val="D9D9D9"/>
                      </a:solidFill>
                      <a:prstDash val="solid"/>
                      <a:round/>
                      <a:headEnd type="none" w="med" len="med"/>
                      <a:tailEnd type="none" w="med" len="med"/>
                    </a:lnR>
                    <a:lnT w="0" cap="flat" cmpd="sng" algn="ctr">
                      <a:noFill/>
                    </a:lnT>
                    <a:lnB w="12700" cap="flat" cmpd="sng" algn="ctr">
                      <a:solidFill>
                        <a:srgbClr val="00338D"/>
                      </a:solidFill>
                      <a:prstDash val="solid"/>
                      <a:round/>
                      <a:headEnd type="none" w="med" len="med"/>
                      <a:tailEnd type="none" w="med" len="med"/>
                    </a:lnB>
                    <a:solidFill>
                      <a:srgbClr val="1E49E2"/>
                    </a:solidFill>
                  </a:tcPr>
                </a:tc>
              </a:tr>
              <a:tr h="29057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One-time events</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2</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$9.7M gross movement</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Bridge normalization</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9057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Customer churn</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$19.6M risk</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Downside valuation</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9057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Potential adjustments</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4</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Not quantified yet</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Earnings quality confidence</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9057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Owner add-backs</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3</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Not quantified yet</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Normalization credibility</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r>
            </a:tbl>
          </a:graphicData>
        </a:graphic>
      </p:graphicFrame>
      <p:sp>
        <p:nvSpPr>
          <p:cNvPr id="8" name="Text 5"/>
          <p:cNvSpPr/>
          <p:nvPr/>
        </p:nvSpPr>
        <p:spPr>
          <a:xfrm>
            <a:off x="6159600" y="1751579"/>
            <a:ext cx="5036396" cy="251999"/>
          </a:xfrm>
          <a:prstGeom prst="rect">
            <a:avLst/>
          </a:prstGeom>
          <a:noFill/>
          <a:ln/>
        </p:spPr>
        <p:txBody>
          <a:bodyPr wrap="square" lIns="46800" tIns="72000" rIns="90000" bIns="46800" rtlCol="0" anchor="t"/>
          <a:lstStyle/>
          <a:p>
            <a:pPr indent="0" marL="0">
              <a:buNone/>
            </a:pPr>
            <a:r>
              <a:rPr lang="en-US" sz="1000" b="1" dirty="0">
                <a:solidFill>
                  <a:srgbClr val="00338D"/>
                </a:solidFill>
                <a:latin typeface="Arial" pitchFamily="34" charset="0"/>
                <a:ea typeface="Arial" pitchFamily="34" charset="-122"/>
                <a:cs typeface="Arial" pitchFamily="34" charset="-120"/>
              </a:rPr>
              <a:t>Open QoE workstreams</a:t>
            </a:r>
            <a:endParaRPr lang="en-US" sz="1000" dirty="0"/>
          </a:p>
        </p:txBody>
      </p:sp>
      <p:sp>
        <p:nvSpPr>
          <p:cNvPr id="9" name="Text 6"/>
          <p:cNvSpPr/>
          <p:nvPr/>
        </p:nvSpPr>
        <p:spPr>
          <a:xfrm>
            <a:off x="6159600" y="2003588"/>
            <a:ext cx="5036396" cy="3869997"/>
          </a:xfrm>
          <a:prstGeom prst="rect">
            <a:avLst/>
          </a:prstGeom>
          <a:noFill/>
          <a:ln/>
        </p:spPr>
        <p:txBody>
          <a:bodyPr wrap="square" lIns="46800" tIns="72000" rIns="90000" bIns="46800" rtlCol="0" anchor="t"/>
          <a:lstStyle/>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Most open items are not arithmetic failures; they are classification and evidence-quality decisions that directly affect valuation confidence.</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A tightly sequenced diligence sprint can convert this register from uncertainty to bounded decision inputs before final bid.</a:t>
            </a:r>
            <a:endParaRPr lang="en-US" sz="1000" dirty="0"/>
          </a:p>
        </p:txBody>
      </p:sp>
      <p:sp>
        <p:nvSpPr>
          <p:cNvPr id="10" name="Text 7"/>
          <p:cNvSpPr/>
          <p:nvPr/>
        </p:nvSpPr>
        <p:spPr>
          <a:xfrm>
            <a:off x="995361" y="6010735"/>
            <a:ext cx="5036396" cy="165122"/>
          </a:xfrm>
          <a:prstGeom prst="rect">
            <a:avLst/>
          </a:prstGeom>
          <a:noFill/>
          <a:ln/>
        </p:spPr>
        <p:txBody>
          <a:bodyPr wrap="square" rtlCol="0" anchor="t"/>
          <a:lstStyle/>
          <a:p>
            <a:pPr indent="0" marL="0">
              <a:buNone/>
            </a:pPr>
            <a:r>
              <a:rPr lang="en-US" sz="600" i="1" dirty="0">
                <a:solidFill>
                  <a:srgbClr val="333333"/>
                </a:solidFill>
                <a:latin typeface="Arial" pitchFamily="34" charset="0"/>
                <a:ea typeface="Arial" pitchFamily="34" charset="-122"/>
                <a:cs typeface="Arial" pitchFamily="34" charset="-120"/>
              </a:rPr>
              <a:t>Source: verification_report.json</a:t>
            </a:r>
            <a:endParaRPr lang="en-US" sz="600" dirty="0"/>
          </a:p>
        </p:txBody>
      </p:sp>
      <p:sp>
        <p:nvSpPr>
          <p:cNvPr id="11" name="Text 8"/>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16</a:t>
            </a:r>
            <a:endParaRPr lang="en-US" sz="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998433" y="431780"/>
            <a:ext cx="10204338" cy="53337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Downside scenarios are the key IC swing factor</a:t>
            </a:r>
            <a:endParaRPr lang="en-US" sz="3200" dirty="0"/>
          </a:p>
        </p:txBody>
      </p:sp>
      <p:sp>
        <p:nvSpPr>
          <p:cNvPr id="3" name="Text 1"/>
          <p:cNvSpPr/>
          <p:nvPr/>
        </p:nvSpPr>
        <p:spPr>
          <a:xfrm>
            <a:off x="998433" y="1179485"/>
            <a:ext cx="10204338" cy="482437"/>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Even with strong reported momentum, downside realization on churn and policy adjustments can materially alter return profile and leverage safety.</a:t>
            </a:r>
            <a:endParaRPr lang="en-US" sz="1000" dirty="0"/>
          </a:p>
        </p:txBody>
      </p:sp>
      <p:sp>
        <p:nvSpPr>
          <p:cNvPr id="4" name="Text 2"/>
          <p:cNvSpPr/>
          <p:nvPr/>
        </p:nvSpPr>
        <p:spPr>
          <a:xfrm>
            <a:off x="998433" y="1716786"/>
            <a:ext cx="5120640" cy="4459072"/>
          </a:xfrm>
          <a:prstGeom prst="rect">
            <a:avLst/>
          </a:prstGeom>
          <a:noFill/>
          <a:ln/>
        </p:spPr>
        <p:txBody>
          <a:bodyPr wrap="square" lIns="46800" tIns="72000" rIns="90000" bIns="46800" rtlCol="0" anchor="t"/>
          <a:lstStyle/>
          <a:p>
            <a:pPr indent="0" marL="0">
              <a:spcAft>
                <a:spcPts val="600"/>
              </a:spcAft>
              <a:buNone/>
            </a:pPr>
            <a:r>
              <a:rPr lang="en-US" sz="1000" b="1" dirty="0">
                <a:solidFill>
                  <a:srgbClr val="00338D"/>
                </a:solidFill>
                <a:latin typeface="Arial" pitchFamily="34" charset="0"/>
                <a:ea typeface="Arial" pitchFamily="34" charset="-122"/>
                <a:cs typeface="Arial" pitchFamily="34" charset="-120"/>
              </a:rPr>
              <a:t>Scenario logic</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Base case assumes normalized 2025 EBITDA of $96.7M after one-time revenue removal and no additional policy adjustments.</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Downside cases apply incremental churn realization and partial policy reserve actions, reducing EBITDA into the high-70s to high-80s range.</a:t>
            </a:r>
            <a:endParaRPr lang="en-US" sz="1000" dirty="0"/>
          </a:p>
          <a:p>
            <a:pPr indent="0" marL="0">
              <a:spcAft>
                <a:spcPts val="600"/>
              </a:spcAft>
              <a:buNone/>
            </a:pPr>
            <a:r>
              <a:rPr lang="en-US" sz="1000" b="1" dirty="0">
                <a:solidFill>
                  <a:srgbClr val="00338D"/>
                </a:solidFill>
                <a:latin typeface="Arial" pitchFamily="34" charset="0"/>
                <a:ea typeface="Arial" pitchFamily="34" charset="-122"/>
                <a:cs typeface="Arial" pitchFamily="34" charset="-120"/>
              </a:rPr>
              <a:t>IC implication</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Scenario spread is wide enough to justify bid guardrails, earn-out mechanics, or price-step structures linked to post-close retention outcomes.</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Do not collapse scenario outcomes into a single point estimate until customer and policy evidence thresholds are met.</a:t>
            </a:r>
            <a:endParaRPr lang="en-US" sz="1000" dirty="0"/>
          </a:p>
        </p:txBody>
      </p:sp>
      <p:graphicFrame>
        <p:nvGraphicFramePr>
          <p:cNvPr id="5" name="Chart 0" descr=""/>
          <p:cNvGraphicFramePr/>
          <p:nvPr/>
        </p:nvGraphicFramePr>
        <p:xfrm>
          <a:off x="6400800" y="1716786"/>
          <a:ext cx="4800600" cy="4184752"/>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derived from verification_report.json and bridge assumptions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17</a:t>
            </a:r>
            <a:endParaRPr lang="en-US" sz="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1289860" y="1140069"/>
            <a:ext cx="1082675" cy="812530"/>
          </a:xfrm>
          <a:prstGeom prst="rect">
            <a:avLst/>
          </a:prstGeom>
          <a:noFill/>
          <a:ln/>
        </p:spPr>
        <p:txBody>
          <a:bodyPr wrap="square" lIns="46800" tIns="72000" rIns="90000" bIns="46800" rtlCol="0" anchor="t"/>
          <a:lstStyle/>
          <a:p>
            <a:pPr algn="l" indent="0" marL="0">
              <a:buNone/>
            </a:pPr>
            <a:r>
              <a:rPr lang="en-US" sz="4800" b="1" dirty="0">
                <a:solidFill>
                  <a:srgbClr val="FFFFFF"/>
                </a:solidFill>
                <a:latin typeface="Arial" pitchFamily="34" charset="0"/>
                <a:ea typeface="Arial" pitchFamily="34" charset="-122"/>
                <a:cs typeface="Arial" pitchFamily="34" charset="-120"/>
              </a:rPr>
              <a:t>04</a:t>
            </a:r>
            <a:endParaRPr lang="en-US" sz="4800" dirty="0"/>
          </a:p>
        </p:txBody>
      </p:sp>
      <p:sp>
        <p:nvSpPr>
          <p:cNvPr id="3" name="Text 1"/>
          <p:cNvSpPr/>
          <p:nvPr/>
        </p:nvSpPr>
        <p:spPr>
          <a:xfrm>
            <a:off x="1289861" y="2180877"/>
            <a:ext cx="6321425" cy="696782"/>
          </a:xfrm>
          <a:prstGeom prst="rect">
            <a:avLst/>
          </a:prstGeom>
          <a:noFill/>
          <a:ln/>
        </p:spPr>
        <p:txBody>
          <a:bodyPr wrap="square" lIns="46800" tIns="72000" rIns="90000" bIns="46800" rtlCol="0" anchor="t"/>
          <a:lstStyle/>
          <a:p>
            <a:pPr algn="l" indent="0" marL="0">
              <a:buNone/>
            </a:pPr>
            <a:r>
              <a:rPr lang="en-US" sz="2400" b="1" dirty="0">
                <a:solidFill>
                  <a:srgbClr val="FFFFFF"/>
                </a:solidFill>
                <a:latin typeface="Arial" pitchFamily="34" charset="0"/>
                <a:ea typeface="Arial" pitchFamily="34" charset="-122"/>
                <a:cs typeface="Arial" pitchFamily="34" charset="-120"/>
              </a:rPr>
              <a:t>Working capital and cash</a:t>
            </a:r>
            <a:endParaRPr lang="en-US" sz="2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998400" y="431800"/>
            <a:ext cx="10195200" cy="53340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NWC build warrants purchase price discipline</a:t>
            </a:r>
            <a:endParaRPr lang="en-US" sz="3200" dirty="0"/>
          </a:p>
        </p:txBody>
      </p:sp>
      <p:sp>
        <p:nvSpPr>
          <p:cNvPr id="3" name="Text 1"/>
          <p:cNvSpPr/>
          <p:nvPr/>
        </p:nvSpPr>
        <p:spPr>
          <a:xfrm>
            <a:off x="995361" y="1179513"/>
            <a:ext cx="10195200" cy="482400"/>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Operating NWC expanded significantly through growth, which can suppress free cash conversion if not actively managed post-close.</a:t>
            </a:r>
            <a:endParaRPr lang="en-US" sz="1000" dirty="0"/>
          </a:p>
        </p:txBody>
      </p:sp>
      <p:sp>
        <p:nvSpPr>
          <p:cNvPr id="4" name="Shape 2"/>
          <p:cNvSpPr/>
          <p:nvPr/>
        </p:nvSpPr>
        <p:spPr>
          <a:xfrm>
            <a:off x="995361" y="1751579"/>
            <a:ext cx="5036396" cy="219456"/>
          </a:xfrm>
          <a:prstGeom prst="rect">
            <a:avLst/>
          </a:prstGeom>
          <a:solidFill>
            <a:srgbClr val="00338D"/>
          </a:solidFill>
          <a:ln w="12700">
            <a:solidFill>
              <a:srgbClr val="00338D">
                <a:alpha val="0"/>
              </a:srgbClr>
            </a:solidFill>
            <a:prstDash val="solid"/>
          </a:ln>
        </p:spPr>
      </p:sp>
      <p:sp>
        <p:nvSpPr>
          <p:cNvPr id="5" name="Text 3"/>
          <p:cNvSpPr/>
          <p:nvPr/>
        </p:nvSpPr>
        <p:spPr>
          <a:xfrm>
            <a:off x="1050225" y="1765295"/>
            <a:ext cx="4926668" cy="201168"/>
          </a:xfrm>
          <a:prstGeom prst="rect">
            <a:avLst/>
          </a:prstGeom>
          <a:noFill/>
          <a:ln/>
        </p:spPr>
        <p:txBody>
          <a:bodyPr wrap="square" lIns="0" tIns="0" rIns="0" bIns="0" rtlCol="0" anchor="ctr"/>
          <a:lstStyle/>
          <a:p>
            <a:pPr indent="0" marL="0">
              <a:buNone/>
            </a:pPr>
            <a:r>
              <a:rPr lang="en-US" sz="900" b="1" dirty="0">
                <a:solidFill>
                  <a:srgbClr val="FFFFFF"/>
                </a:solidFill>
                <a:latin typeface="Arial" pitchFamily="34" charset="0"/>
                <a:ea typeface="Arial" pitchFamily="34" charset="-122"/>
                <a:cs typeface="Arial" pitchFamily="34" charset="-120"/>
              </a:rPr>
              <a:t>NWC build warrants purchase price discipline</a:t>
            </a:r>
            <a:endParaRPr lang="en-US" sz="900" dirty="0"/>
          </a:p>
        </p:txBody>
      </p:sp>
      <p:sp>
        <p:nvSpPr>
          <p:cNvPr id="6" name="Shape 4"/>
          <p:cNvSpPr/>
          <p:nvPr/>
        </p:nvSpPr>
        <p:spPr>
          <a:xfrm>
            <a:off x="995361" y="1971035"/>
            <a:ext cx="5036396" cy="0"/>
          </a:xfrm>
          <a:prstGeom prst="line">
            <a:avLst/>
          </a:prstGeom>
          <a:noFill/>
          <a:ln w="12700">
            <a:solidFill>
              <a:srgbClr val="00338D"/>
            </a:solidFill>
            <a:prstDash val="solid"/>
          </a:ln>
        </p:spPr>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995361" y="1989323"/>
          <a:ext cx="5036396" cy="3884252"/>
        </p:xfrm>
        <a:graphic>
          <a:graphicData uri="http://schemas.openxmlformats.org/drawingml/2006/table">
            <a:tbl>
              <a:tblPr/>
              <a:tblGrid>
                <a:gridCol w="2194560"/>
                <a:gridCol w="947279"/>
                <a:gridCol w="947279"/>
                <a:gridCol w="947279"/>
              </a:tblGrid>
              <a:tr h="292608">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Metric</a:t>
                      </a:r>
                      <a:endParaRPr lang="en-US" sz="800" dirty="0">
                        <a:latin typeface="Arial" charset="0"/>
                        <a:ea typeface="Arial" charset="0"/>
                        <a:cs typeface="Arial" charset="0"/>
                      </a:endParaRPr>
                    </a:p>
                  </a:txBody>
                  <a:tcPr marL="50800" marR="50800" marT="25400" marB="25400" anchor="ctr">
                    <a:lnL w="7620" cap="flat" cmpd="sng" algn="ctr">
                      <a:solidFill>
                        <a:srgbClr val="D9D9D9"/>
                      </a:solidFill>
                      <a:prstDash val="solid"/>
                      <a:round/>
                      <a:headEnd type="none" w="med" len="med"/>
                      <a:tailEnd type="none" w="med" len="med"/>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2023</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2024</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2025</a:t>
                      </a:r>
                      <a:endParaRPr lang="en-US" sz="800" dirty="0">
                        <a:latin typeface="Arial" charset="0"/>
                        <a:ea typeface="Arial" charset="0"/>
                        <a:cs typeface="Arial" charset="0"/>
                      </a:endParaRPr>
                    </a:p>
                  </a:txBody>
                  <a:tcPr marL="50800" marR="50800" marT="25400" marB="25400" anchor="ctr">
                    <a:lnL w="0" cap="flat" cmpd="sng" algn="ctr">
                      <a:noFill/>
                    </a:lnL>
                    <a:lnR w="7620" cap="flat" cmpd="sng" algn="ctr">
                      <a:solidFill>
                        <a:srgbClr val="D9D9D9"/>
                      </a:solidFill>
                      <a:prstDash val="solid"/>
                      <a:round/>
                      <a:headEnd type="none" w="med" len="med"/>
                      <a:tailEnd type="none" w="med" len="med"/>
                    </a:lnR>
                    <a:lnT w="0" cap="flat" cmpd="sng" algn="ctr">
                      <a:noFill/>
                    </a:lnT>
                    <a:lnB w="12700" cap="flat" cmpd="sng" algn="ctr">
                      <a:solidFill>
                        <a:srgbClr val="00338D"/>
                      </a:solidFill>
                      <a:prstDash val="solid"/>
                      <a:round/>
                      <a:headEnd type="none" w="med" len="med"/>
                      <a:tailEnd type="none" w="med" len="med"/>
                    </a:lnB>
                    <a:solidFill>
                      <a:srgbClr val="1E49E2"/>
                    </a:solidFill>
                  </a:tcPr>
                </a:tc>
              </a:tr>
              <a:tr h="29057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Accounts receivable ($M)</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71.2</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93.2</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129.8</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373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Inventory ($M)</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31.7</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39.8</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45.4</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373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Accounts payable ($M)</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26.9</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34.5</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51.8</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9057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Operating NWC ($M, month-end)</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46.5</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83.0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118.2</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9057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NWC % of monthly revenue</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341.2%</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205.4%</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138.4%</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r>
            </a:tbl>
          </a:graphicData>
        </a:graphic>
      </p:graphicFrame>
      <p:sp>
        <p:nvSpPr>
          <p:cNvPr id="8" name="Text 5"/>
          <p:cNvSpPr/>
          <p:nvPr/>
        </p:nvSpPr>
        <p:spPr>
          <a:xfrm>
            <a:off x="6159600" y="1751579"/>
            <a:ext cx="5036396" cy="251999"/>
          </a:xfrm>
          <a:prstGeom prst="rect">
            <a:avLst/>
          </a:prstGeom>
          <a:noFill/>
          <a:ln/>
        </p:spPr>
        <p:txBody>
          <a:bodyPr wrap="square" lIns="46800" tIns="72000" rIns="90000" bIns="46800" rtlCol="0" anchor="t"/>
          <a:lstStyle/>
          <a:p>
            <a:pPr indent="0" marL="0">
              <a:buNone/>
            </a:pPr>
            <a:r>
              <a:rPr lang="en-US" sz="1000" b="1" dirty="0">
                <a:solidFill>
                  <a:srgbClr val="00338D"/>
                </a:solidFill>
                <a:latin typeface="Arial" pitchFamily="34" charset="0"/>
                <a:ea typeface="Arial" pitchFamily="34" charset="-122"/>
                <a:cs typeface="Arial" pitchFamily="34" charset="-120"/>
              </a:rPr>
              <a:t>Working capital movement</a:t>
            </a:r>
            <a:endParaRPr lang="en-US" sz="1000" dirty="0"/>
          </a:p>
        </p:txBody>
      </p:sp>
      <p:sp>
        <p:nvSpPr>
          <p:cNvPr id="9" name="Text 6"/>
          <p:cNvSpPr/>
          <p:nvPr/>
        </p:nvSpPr>
        <p:spPr>
          <a:xfrm>
            <a:off x="6159600" y="2003588"/>
            <a:ext cx="5036396" cy="3869997"/>
          </a:xfrm>
          <a:prstGeom prst="rect">
            <a:avLst/>
          </a:prstGeom>
          <a:noFill/>
          <a:ln/>
        </p:spPr>
        <p:txBody>
          <a:bodyPr wrap="square" lIns="46800" tIns="72000" rIns="90000" bIns="46800" rtlCol="0" anchor="t"/>
          <a:lstStyle/>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Absolute operating NWC more than doubled to $118.2M by end-2025, creating funding intensity despite improving percentage ratios.</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Closing mechanics should include explicit NWC targets and leakage protection to avoid value transfer via working-capital drift.</a:t>
            </a:r>
            <a:endParaRPr lang="en-US" sz="1000" dirty="0"/>
          </a:p>
        </p:txBody>
      </p:sp>
      <p:sp>
        <p:nvSpPr>
          <p:cNvPr id="10" name="Text 7"/>
          <p:cNvSpPr/>
          <p:nvPr/>
        </p:nvSpPr>
        <p:spPr>
          <a:xfrm>
            <a:off x="995361" y="6010735"/>
            <a:ext cx="5036396" cy="165122"/>
          </a:xfrm>
          <a:prstGeom prst="rect">
            <a:avLst/>
          </a:prstGeom>
          <a:noFill/>
          <a:ln/>
        </p:spPr>
        <p:txBody>
          <a:bodyPr wrap="square" rtlCol="0" anchor="t"/>
          <a:lstStyle/>
          <a:p>
            <a:pPr indent="0" marL="0">
              <a:buNone/>
            </a:pPr>
            <a:r>
              <a:rPr lang="en-US" sz="600" i="1" dirty="0">
                <a:solidFill>
                  <a:srgbClr val="333333"/>
                </a:solidFill>
                <a:latin typeface="Arial" pitchFamily="34" charset="0"/>
                <a:ea typeface="Arial" pitchFamily="34" charset="-122"/>
                <a:cs typeface="Arial" pitchFamily="34" charset="-120"/>
              </a:rPr>
              <a:t>Source: balance_sheet.xlsx, nwc_schedule.xlsx</a:t>
            </a:r>
            <a:endParaRPr lang="en-US" sz="600" dirty="0"/>
          </a:p>
        </p:txBody>
      </p:sp>
      <p:sp>
        <p:nvSpPr>
          <p:cNvPr id="11" name="Text 8"/>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18</a:t>
            </a:r>
            <a:endParaRPr lang="en-US" sz="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998433" y="431780"/>
            <a:ext cx="10204338" cy="53337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Aging profile is healthy with limited tail risk</a:t>
            </a:r>
            <a:endParaRPr lang="en-US" sz="3200" dirty="0"/>
          </a:p>
        </p:txBody>
      </p:sp>
      <p:sp>
        <p:nvSpPr>
          <p:cNvPr id="3" name="Text 1"/>
          <p:cNvSpPr/>
          <p:nvPr/>
        </p:nvSpPr>
        <p:spPr>
          <a:xfrm>
            <a:off x="998433" y="1179485"/>
            <a:ext cx="10204338" cy="482437"/>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AR and AP concentration in current and 1-30 day buckets indicates generally disciplined collections and payables cadence at snapshot date.</a:t>
            </a:r>
            <a:endParaRPr lang="en-US" sz="1000" dirty="0"/>
          </a:p>
        </p:txBody>
      </p:sp>
      <p:sp>
        <p:nvSpPr>
          <p:cNvPr id="4" name="Text 2"/>
          <p:cNvSpPr/>
          <p:nvPr/>
        </p:nvSpPr>
        <p:spPr>
          <a:xfrm>
            <a:off x="998433" y="1716786"/>
            <a:ext cx="5120640" cy="4459072"/>
          </a:xfrm>
          <a:prstGeom prst="rect">
            <a:avLst/>
          </a:prstGeom>
          <a:noFill/>
          <a:ln/>
        </p:spPr>
        <p:txBody>
          <a:bodyPr wrap="square" lIns="46800" tIns="72000" rIns="90000" bIns="46800" rtlCol="0" anchor="t"/>
          <a:lstStyle/>
          <a:p>
            <a:pPr indent="0" marL="0">
              <a:spcAft>
                <a:spcPts val="600"/>
              </a:spcAft>
              <a:buNone/>
            </a:pPr>
            <a:r>
              <a:rPr lang="en-US" sz="1000" b="1" dirty="0">
                <a:solidFill>
                  <a:srgbClr val="00338D"/>
                </a:solidFill>
                <a:latin typeface="Arial" pitchFamily="34" charset="0"/>
                <a:ea typeface="Arial" pitchFamily="34" charset="-122"/>
                <a:cs typeface="Arial" pitchFamily="34" charset="-120"/>
              </a:rPr>
              <a:t>A/R quality</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91.0% of receivables sit in Current or 1-30 day buckets, with no exposure in over-90-day balances at the measured point.</a:t>
            </a:r>
            <a:endParaRPr lang="en-US" sz="1000" dirty="0"/>
          </a:p>
          <a:p>
            <a:pPr indent="0" marL="0">
              <a:spcAft>
                <a:spcPts val="600"/>
              </a:spcAft>
              <a:buNone/>
            </a:pPr>
            <a:r>
              <a:rPr lang="en-US" sz="1000" b="1" dirty="0">
                <a:solidFill>
                  <a:srgbClr val="00338D"/>
                </a:solidFill>
                <a:latin typeface="Arial" pitchFamily="34" charset="0"/>
                <a:ea typeface="Arial" pitchFamily="34" charset="-122"/>
                <a:cs typeface="Arial" pitchFamily="34" charset="-120"/>
              </a:rPr>
              <a:t>A/P profile</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94.0% of payables are also within Current or 1-30 days, suggesting vendor obligations are largely managed within agreed terms.</a:t>
            </a:r>
            <a:endParaRPr lang="en-US" sz="1000" dirty="0"/>
          </a:p>
          <a:p>
            <a:pPr indent="0" marL="0">
              <a:spcAft>
                <a:spcPts val="600"/>
              </a:spcAft>
              <a:buNone/>
            </a:pPr>
            <a:r>
              <a:rPr lang="en-US" sz="1000" b="1" dirty="0">
                <a:solidFill>
                  <a:srgbClr val="00338D"/>
                </a:solidFill>
                <a:latin typeface="Arial" pitchFamily="34" charset="0"/>
                <a:ea typeface="Arial" pitchFamily="34" charset="-122"/>
                <a:cs typeface="Arial" pitchFamily="34" charset="-120"/>
              </a:rPr>
              <a:t>Residual risk</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Healthy aging does not remove risk from rapid scale; monitoring of collections discipline by cohort remains important.</a:t>
            </a:r>
            <a:endParaRPr lang="en-US" sz="1000" dirty="0"/>
          </a:p>
          <a:p>
            <a:pPr indent="0" marL="0">
              <a:spcAft>
                <a:spcPts val="600"/>
              </a:spcAft>
              <a:buNone/>
            </a:pPr>
            <a:r>
              <a:rPr lang="en-US" sz="1000" b="1" dirty="0">
                <a:solidFill>
                  <a:srgbClr val="00338D"/>
                </a:solidFill>
                <a:latin typeface="Arial" pitchFamily="34" charset="0"/>
                <a:ea typeface="Arial" pitchFamily="34" charset="-122"/>
                <a:cs typeface="Arial" pitchFamily="34" charset="-120"/>
              </a:rPr>
              <a:t>Implication</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Use aging quality as supportive evidence, but keep working-capital governance in the first 100-day value creation plan.</a:t>
            </a:r>
            <a:endParaRPr lang="en-US" sz="1000" dirty="0"/>
          </a:p>
        </p:txBody>
      </p:sp>
      <p:graphicFrame>
        <p:nvGraphicFramePr>
          <p:cNvPr id="5" name="Chart 0" descr=""/>
          <p:cNvGraphicFramePr/>
          <p:nvPr/>
        </p:nvGraphicFramePr>
        <p:xfrm>
          <a:off x="6400800" y="1716786"/>
          <a:ext cx="4800600" cy="4184752"/>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ar_aging.xlsx, ap_aging.xlsx</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19</a:t>
            </a:r>
            <a:endParaRPr lang="en-US" sz="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998433" y="431780"/>
            <a:ext cx="10204338" cy="53337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Cash generation improved after 2023 drag</a:t>
            </a:r>
            <a:endParaRPr lang="en-US" sz="3200" dirty="0"/>
          </a:p>
        </p:txBody>
      </p:sp>
      <p:sp>
        <p:nvSpPr>
          <p:cNvPr id="3" name="Text 1"/>
          <p:cNvSpPr/>
          <p:nvPr/>
        </p:nvSpPr>
        <p:spPr>
          <a:xfrm>
            <a:off x="998433" y="1179485"/>
            <a:ext cx="10204338" cy="482437"/>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Operating cash has recovered strongly, but sustained conversion depends on preventing renewed receivable and inventory expansion.</a:t>
            </a:r>
            <a:endParaRPr lang="en-US" sz="1000" dirty="0"/>
          </a:p>
        </p:txBody>
      </p:sp>
      <p:sp>
        <p:nvSpPr>
          <p:cNvPr id="4" name="Text 2"/>
          <p:cNvSpPr/>
          <p:nvPr/>
        </p:nvSpPr>
        <p:spPr>
          <a:xfrm>
            <a:off x="998433" y="1716786"/>
            <a:ext cx="5120640" cy="4459072"/>
          </a:xfrm>
          <a:prstGeom prst="rect">
            <a:avLst/>
          </a:prstGeom>
          <a:noFill/>
          <a:ln/>
        </p:spPr>
        <p:txBody>
          <a:bodyPr wrap="square" lIns="46800" tIns="72000" rIns="90000" bIns="46800" rtlCol="0" anchor="t"/>
          <a:lstStyle/>
          <a:p>
            <a:pPr indent="0" marL="0">
              <a:spcAft>
                <a:spcPts val="600"/>
              </a:spcAft>
              <a:buNone/>
            </a:pPr>
            <a:r>
              <a:rPr lang="en-US" sz="1000" b="1" dirty="0">
                <a:solidFill>
                  <a:srgbClr val="00338D"/>
                </a:solidFill>
                <a:latin typeface="Arial" pitchFamily="34" charset="0"/>
                <a:ea typeface="Arial" pitchFamily="34" charset="-122"/>
                <a:cs typeface="Arial" pitchFamily="34" charset="-120"/>
              </a:rPr>
              <a:t>Cash flow pattern</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Cash from operations moved from negative $10.7M in 2023 to $58.7M in 2024 and $78.6M in 2025 as growth absorption normalized.</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Capex remained relatively stable around $0.9M annually in 2024 and 2025, limiting incremental investment drag on operating cash.</a:t>
            </a:r>
            <a:endParaRPr lang="en-US" sz="1000" dirty="0"/>
          </a:p>
          <a:p>
            <a:pPr indent="0" marL="0">
              <a:spcAft>
                <a:spcPts val="600"/>
              </a:spcAft>
              <a:buNone/>
            </a:pPr>
            <a:r>
              <a:rPr lang="en-US" sz="1000" b="1" dirty="0">
                <a:solidFill>
                  <a:srgbClr val="00338D"/>
                </a:solidFill>
                <a:latin typeface="Arial" pitchFamily="34" charset="0"/>
                <a:ea typeface="Arial" pitchFamily="34" charset="-122"/>
                <a:cs typeface="Arial" pitchFamily="34" charset="-120"/>
              </a:rPr>
              <a:t>Balance sheet impact</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Ending cash reached $98.8M in 2025, supporting liquidity but not eliminating the need for disciplined NWC management.</a:t>
            </a:r>
            <a:endParaRPr lang="en-US" sz="1000" dirty="0"/>
          </a:p>
          <a:p>
            <a:pPr indent="0" marL="0">
              <a:spcAft>
                <a:spcPts val="600"/>
              </a:spcAft>
              <a:buNone/>
            </a:pPr>
            <a:r>
              <a:rPr lang="en-US" sz="1000" b="1" dirty="0">
                <a:solidFill>
                  <a:srgbClr val="00338D"/>
                </a:solidFill>
                <a:latin typeface="Arial" pitchFamily="34" charset="0"/>
                <a:ea typeface="Arial" pitchFamily="34" charset="-122"/>
                <a:cs typeface="Arial" pitchFamily="34" charset="-120"/>
              </a:rPr>
              <a:t>Implication</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IC should underwrite improving cash resilience with explicit downside thresholds tied to NWC behavior.</a:t>
            </a:r>
            <a:endParaRPr lang="en-US" sz="1000" dirty="0"/>
          </a:p>
        </p:txBody>
      </p:sp>
      <p:graphicFrame>
        <p:nvGraphicFramePr>
          <p:cNvPr id="5" name="Chart 0" descr=""/>
          <p:cNvGraphicFramePr/>
          <p:nvPr/>
        </p:nvGraphicFramePr>
        <p:xfrm>
          <a:off x="6400800" y="1716786"/>
          <a:ext cx="4800600" cy="4184752"/>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cash_flow.xlsx</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20</a:t>
            </a:r>
            <a:endParaRPr lang="en-US" sz="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998433" y="431780"/>
            <a:ext cx="10204338" cy="53337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Day-1 cash conversion priorities are clear</a:t>
            </a:r>
            <a:endParaRPr lang="en-US" sz="3200" dirty="0"/>
          </a:p>
        </p:txBody>
      </p:sp>
      <p:sp>
        <p:nvSpPr>
          <p:cNvPr id="3" name="Text 1"/>
          <p:cNvSpPr/>
          <p:nvPr/>
        </p:nvSpPr>
        <p:spPr>
          <a:xfrm>
            <a:off x="998433" y="1179485"/>
            <a:ext cx="10204338" cy="482437"/>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The first operating quarter post-close should focus on receivables velocity, inventory turns, and cohort-level store productivity governance.</a:t>
            </a:r>
            <a:endParaRPr lang="en-US" sz="1000" dirty="0"/>
          </a:p>
        </p:txBody>
      </p:sp>
      <p:sp>
        <p:nvSpPr>
          <p:cNvPr id="4" name="Text 2"/>
          <p:cNvSpPr/>
          <p:nvPr/>
        </p:nvSpPr>
        <p:spPr>
          <a:xfrm>
            <a:off x="998433" y="1716786"/>
            <a:ext cx="10204338" cy="4248760"/>
          </a:xfrm>
          <a:prstGeom prst="rect">
            <a:avLst/>
          </a:prstGeom>
          <a:noFill/>
          <a:ln/>
        </p:spPr>
        <p:txBody>
          <a:bodyPr wrap="square" lIns="46800" tIns="72000" rIns="90000" bIns="46800" rtlCol="0" anchor="t"/>
          <a:lstStyle/>
          <a:p>
            <a:pPr indent="0" marL="0">
              <a:spcAft>
                <a:spcPts val="600"/>
              </a:spcAft>
              <a:buNone/>
            </a:pPr>
            <a:r>
              <a:rPr lang="en-US" sz="1000" b="1" dirty="0">
                <a:solidFill>
                  <a:srgbClr val="00338D"/>
                </a:solidFill>
                <a:latin typeface="Arial" pitchFamily="34" charset="0"/>
                <a:ea typeface="Arial" pitchFamily="34" charset="-122"/>
                <a:cs typeface="Arial" pitchFamily="34" charset="-120"/>
              </a:rPr>
              <a:t>Collections and receivables</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Institute weekly collections governance on top customer accounts and monitor AR days by cohort to prevent expansion-led working-capital leakage.</a:t>
            </a:r>
            <a:endParaRPr lang="en-US" sz="1000" dirty="0"/>
          </a:p>
          <a:p>
            <a:pPr indent="0" marL="0">
              <a:spcAft>
                <a:spcPts val="600"/>
              </a:spcAft>
              <a:buNone/>
            </a:pPr>
            <a:r>
              <a:rPr lang="en-US" sz="1000" b="1" dirty="0">
                <a:solidFill>
                  <a:srgbClr val="00338D"/>
                </a:solidFill>
                <a:latin typeface="Arial" pitchFamily="34" charset="0"/>
                <a:ea typeface="Arial" pitchFamily="34" charset="-122"/>
                <a:cs typeface="Arial" pitchFamily="34" charset="-120"/>
              </a:rPr>
              <a:t>Inventory discipline</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Standardize replenishment parameters and slow-mover reserve governance to reduce cash trapped in inventory and avoid margin-dilutive markdown cycles.</a:t>
            </a:r>
            <a:endParaRPr lang="en-US" sz="1000" dirty="0"/>
          </a:p>
          <a:p>
            <a:pPr indent="0" marL="0">
              <a:spcAft>
                <a:spcPts val="600"/>
              </a:spcAft>
              <a:buNone/>
            </a:pPr>
            <a:r>
              <a:rPr lang="en-US" sz="1000" b="1" dirty="0">
                <a:solidFill>
                  <a:srgbClr val="00338D"/>
                </a:solidFill>
                <a:latin typeface="Arial" pitchFamily="34" charset="0"/>
                <a:ea typeface="Arial" pitchFamily="34" charset="-122"/>
                <a:cs typeface="Arial" pitchFamily="34" charset="-120"/>
              </a:rPr>
              <a:t>Store productivity</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Track new-store ramp curves against mature benchmarks to detect subscale cohorts early and trigger pricing, assortment, or labor corrective action.</a:t>
            </a:r>
            <a:endParaRPr lang="en-US" sz="1000" dirty="0"/>
          </a:p>
          <a:p>
            <a:pPr indent="0" marL="0">
              <a:spcAft>
                <a:spcPts val="600"/>
              </a:spcAft>
              <a:buNone/>
            </a:pPr>
            <a:r>
              <a:rPr lang="en-US" sz="1000" b="1" dirty="0">
                <a:solidFill>
                  <a:srgbClr val="00338D"/>
                </a:solidFill>
                <a:latin typeface="Arial" pitchFamily="34" charset="0"/>
                <a:ea typeface="Arial" pitchFamily="34" charset="-122"/>
                <a:cs typeface="Arial" pitchFamily="34" charset="-120"/>
              </a:rPr>
              <a:t>Governance and ownership</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Assign a joint CFO-COO weekly cash council with quantified targets for CFO conversion and operating NWC release through day 100.</a:t>
            </a:r>
            <a:endParaRPr lang="en-US" sz="1000" dirty="0"/>
          </a:p>
        </p:txBody>
      </p:sp>
      <p:sp>
        <p:nvSpPr>
          <p:cNvPr id="5" name="Text 3"/>
          <p:cNvSpPr/>
          <p:nvPr/>
        </p:nvSpPr>
        <p:spPr>
          <a:xfrm>
            <a:off x="998433" y="5992978"/>
            <a:ext cx="10204338" cy="182880"/>
          </a:xfrm>
          <a:prstGeom prst="rect">
            <a:avLst/>
          </a:prstGeom>
          <a:noFill/>
          <a:ln/>
        </p:spPr>
        <p:txBody>
          <a:bodyPr wrap="square" lIns="46800" tIns="72000" rIns="90000" bIns="46800" rtlCol="0" anchor="t"/>
          <a:lstStyle/>
          <a:p>
            <a:pPr indent="0" marL="0">
              <a:buNone/>
            </a:pPr>
            <a:r>
              <a:rPr lang="en-US" sz="600" i="1" dirty="0">
                <a:solidFill>
                  <a:srgbClr val="00338D"/>
                </a:solidFill>
                <a:latin typeface="Arial" pitchFamily="34" charset="0"/>
                <a:ea typeface="Arial" pitchFamily="34" charset="-122"/>
                <a:cs typeface="Arial" pitchFamily="34" charset="-120"/>
              </a:rPr>
              <a:t>Source: nwc_schedule.xlsx, ar_aging.xlsx, inventory_ledger.xlsx</a:t>
            </a:r>
            <a:endParaRPr lang="en-US" sz="600" dirty="0"/>
          </a:p>
        </p:txBody>
      </p:sp>
      <p:sp>
        <p:nvSpPr>
          <p:cNvPr id="6"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21</a:t>
            </a:r>
            <a:endParaRPr lang="en-US" sz="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1289860" y="1140069"/>
            <a:ext cx="1082675" cy="812530"/>
          </a:xfrm>
          <a:prstGeom prst="rect">
            <a:avLst/>
          </a:prstGeom>
          <a:noFill/>
          <a:ln/>
        </p:spPr>
        <p:txBody>
          <a:bodyPr wrap="square" lIns="46800" tIns="72000" rIns="90000" bIns="46800" rtlCol="0" anchor="t"/>
          <a:lstStyle/>
          <a:p>
            <a:pPr algn="l" indent="0" marL="0">
              <a:buNone/>
            </a:pPr>
            <a:r>
              <a:rPr lang="en-US" sz="4800" b="1" dirty="0">
                <a:solidFill>
                  <a:srgbClr val="FFFFFF"/>
                </a:solidFill>
                <a:latin typeface="Arial" pitchFamily="34" charset="0"/>
                <a:ea typeface="Arial" pitchFamily="34" charset="-122"/>
                <a:cs typeface="Arial" pitchFamily="34" charset="-120"/>
              </a:rPr>
              <a:t>05</a:t>
            </a:r>
            <a:endParaRPr lang="en-US" sz="4800" dirty="0"/>
          </a:p>
        </p:txBody>
      </p:sp>
      <p:sp>
        <p:nvSpPr>
          <p:cNvPr id="3" name="Text 1"/>
          <p:cNvSpPr/>
          <p:nvPr/>
        </p:nvSpPr>
        <p:spPr>
          <a:xfrm>
            <a:off x="1289861" y="2180877"/>
            <a:ext cx="6321425" cy="696782"/>
          </a:xfrm>
          <a:prstGeom prst="rect">
            <a:avLst/>
          </a:prstGeom>
          <a:noFill/>
          <a:ln/>
        </p:spPr>
        <p:txBody>
          <a:bodyPr wrap="square" lIns="46800" tIns="72000" rIns="90000" bIns="46800" rtlCol="0" anchor="t"/>
          <a:lstStyle/>
          <a:p>
            <a:pPr algn="l" indent="0" marL="0">
              <a:buNone/>
            </a:pPr>
            <a:r>
              <a:rPr lang="en-US" sz="2400" b="1" dirty="0">
                <a:solidFill>
                  <a:srgbClr val="FFFFFF"/>
                </a:solidFill>
                <a:latin typeface="Arial" pitchFamily="34" charset="0"/>
                <a:ea typeface="Arial" pitchFamily="34" charset="-122"/>
                <a:cs typeface="Arial" pitchFamily="34" charset="-120"/>
              </a:rPr>
              <a:t>Operations and organization</a:t>
            </a:r>
            <a:endParaRPr lang="en-US" sz="2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998400" y="431800"/>
            <a:ext cx="10195200" cy="53340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Workforce scale supports current footprint</a:t>
            </a:r>
            <a:endParaRPr lang="en-US" sz="3200" dirty="0"/>
          </a:p>
        </p:txBody>
      </p:sp>
      <p:sp>
        <p:nvSpPr>
          <p:cNvPr id="3" name="Text 1"/>
          <p:cNvSpPr/>
          <p:nvPr/>
        </p:nvSpPr>
        <p:spPr>
          <a:xfrm>
            <a:off x="995361" y="1179513"/>
            <a:ext cx="10195200" cy="482400"/>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Headcount composition aligns with a store-led model, with concentration in operations and logistics and a smaller digital and analytics layer.</a:t>
            </a:r>
            <a:endParaRPr lang="en-US" sz="1000" dirty="0"/>
          </a:p>
        </p:txBody>
      </p:sp>
      <p:sp>
        <p:nvSpPr>
          <p:cNvPr id="4" name="Shape 2"/>
          <p:cNvSpPr/>
          <p:nvPr/>
        </p:nvSpPr>
        <p:spPr>
          <a:xfrm>
            <a:off x="995361" y="1751579"/>
            <a:ext cx="5036396" cy="219456"/>
          </a:xfrm>
          <a:prstGeom prst="rect">
            <a:avLst/>
          </a:prstGeom>
          <a:solidFill>
            <a:srgbClr val="00338D"/>
          </a:solidFill>
          <a:ln w="12700">
            <a:solidFill>
              <a:srgbClr val="00338D">
                <a:alpha val="0"/>
              </a:srgbClr>
            </a:solidFill>
            <a:prstDash val="solid"/>
          </a:ln>
        </p:spPr>
      </p:sp>
      <p:sp>
        <p:nvSpPr>
          <p:cNvPr id="5" name="Text 3"/>
          <p:cNvSpPr/>
          <p:nvPr/>
        </p:nvSpPr>
        <p:spPr>
          <a:xfrm>
            <a:off x="1050225" y="1765295"/>
            <a:ext cx="4926668" cy="201168"/>
          </a:xfrm>
          <a:prstGeom prst="rect">
            <a:avLst/>
          </a:prstGeom>
          <a:noFill/>
          <a:ln/>
        </p:spPr>
        <p:txBody>
          <a:bodyPr wrap="square" lIns="0" tIns="0" rIns="0" bIns="0" rtlCol="0" anchor="ctr"/>
          <a:lstStyle/>
          <a:p>
            <a:pPr indent="0" marL="0">
              <a:buNone/>
            </a:pPr>
            <a:r>
              <a:rPr lang="en-US" sz="900" b="1" dirty="0">
                <a:solidFill>
                  <a:srgbClr val="FFFFFF"/>
                </a:solidFill>
                <a:latin typeface="Arial" pitchFamily="34" charset="0"/>
                <a:ea typeface="Arial" pitchFamily="34" charset="-122"/>
                <a:cs typeface="Arial" pitchFamily="34" charset="-120"/>
              </a:rPr>
              <a:t>Workforce scale supports current footprint</a:t>
            </a:r>
            <a:endParaRPr lang="en-US" sz="900" dirty="0"/>
          </a:p>
        </p:txBody>
      </p:sp>
      <p:sp>
        <p:nvSpPr>
          <p:cNvPr id="6" name="Shape 4"/>
          <p:cNvSpPr/>
          <p:nvPr/>
        </p:nvSpPr>
        <p:spPr>
          <a:xfrm>
            <a:off x="995361" y="1971035"/>
            <a:ext cx="5036396" cy="0"/>
          </a:xfrm>
          <a:prstGeom prst="line">
            <a:avLst/>
          </a:prstGeom>
          <a:noFill/>
          <a:ln w="12700">
            <a:solidFill>
              <a:srgbClr val="00338D"/>
            </a:solidFill>
            <a:prstDash val="solid"/>
          </a:ln>
        </p:spPr>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995361" y="1989323"/>
          <a:ext cx="5036396" cy="3884252"/>
        </p:xfrm>
        <a:graphic>
          <a:graphicData uri="http://schemas.openxmlformats.org/drawingml/2006/table">
            <a:tbl>
              <a:tblPr/>
              <a:tblGrid>
                <a:gridCol w="2194560"/>
                <a:gridCol w="947279"/>
                <a:gridCol w="947279"/>
                <a:gridCol w="947279"/>
              </a:tblGrid>
              <a:tr h="292608">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Department</a:t>
                      </a:r>
                      <a:endParaRPr lang="en-US" sz="800" dirty="0">
                        <a:latin typeface="Arial" charset="0"/>
                        <a:ea typeface="Arial" charset="0"/>
                        <a:cs typeface="Arial" charset="0"/>
                      </a:endParaRPr>
                    </a:p>
                  </a:txBody>
                  <a:tcPr marL="50800" marR="50800" marT="25400" marB="25400" anchor="ctr">
                    <a:lnL w="7620" cap="flat" cmpd="sng" algn="ctr">
                      <a:solidFill>
                        <a:srgbClr val="D9D9D9"/>
                      </a:solidFill>
                      <a:prstDash val="solid"/>
                      <a:round/>
                      <a:headEnd type="none" w="med" len="med"/>
                      <a:tailEnd type="none" w="med" len="med"/>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Headcount</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 of total</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Avg salary ($)</a:t>
                      </a:r>
                      <a:endParaRPr lang="en-US" sz="800" dirty="0">
                        <a:latin typeface="Arial" charset="0"/>
                        <a:ea typeface="Arial" charset="0"/>
                        <a:cs typeface="Arial" charset="0"/>
                      </a:endParaRPr>
                    </a:p>
                  </a:txBody>
                  <a:tcPr marL="50800" marR="50800" marT="25400" marB="25400" anchor="ctr">
                    <a:lnL w="0" cap="flat" cmpd="sng" algn="ctr">
                      <a:noFill/>
                    </a:lnL>
                    <a:lnR w="7620" cap="flat" cmpd="sng" algn="ctr">
                      <a:solidFill>
                        <a:srgbClr val="D9D9D9"/>
                      </a:solidFill>
                      <a:prstDash val="solid"/>
                      <a:round/>
                      <a:headEnd type="none" w="med" len="med"/>
                      <a:tailEnd type="none" w="med" len="med"/>
                    </a:lnR>
                    <a:lnT w="0" cap="flat" cmpd="sng" algn="ctr">
                      <a:noFill/>
                    </a:lnT>
                    <a:lnB w="12700" cap="flat" cmpd="sng" algn="ctr">
                      <a:solidFill>
                        <a:srgbClr val="00338D"/>
                      </a:solidFill>
                      <a:prstDash val="solid"/>
                      <a:round/>
                      <a:headEnd type="none" w="med" len="med"/>
                      <a:tailEnd type="none" w="med" len="med"/>
                    </a:lnB>
                    <a:solidFill>
                      <a:srgbClr val="1E49E2"/>
                    </a:solidFill>
                  </a:tcPr>
                </a:tc>
              </a:tr>
              <a:tr h="17373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Store Operations</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498</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60.1%</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68,362</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373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Warehouse &amp; Logistics</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125</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15.1%</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115,796</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373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Buying &amp; Merchandising</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66</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8.0%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122,305</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373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Administration</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58</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7.0%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193,867</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373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E-commerce</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41</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4.9%</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106,586</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373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Marketing</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41</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4.9%</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135,940</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r>
            </a:tbl>
          </a:graphicData>
        </a:graphic>
      </p:graphicFrame>
      <p:sp>
        <p:nvSpPr>
          <p:cNvPr id="8" name="Text 5"/>
          <p:cNvSpPr/>
          <p:nvPr/>
        </p:nvSpPr>
        <p:spPr>
          <a:xfrm>
            <a:off x="6159600" y="1751579"/>
            <a:ext cx="5036396" cy="251999"/>
          </a:xfrm>
          <a:prstGeom prst="rect">
            <a:avLst/>
          </a:prstGeom>
          <a:noFill/>
          <a:ln/>
        </p:spPr>
        <p:txBody>
          <a:bodyPr wrap="square" lIns="46800" tIns="72000" rIns="90000" bIns="46800" rtlCol="0" anchor="t"/>
          <a:lstStyle/>
          <a:p>
            <a:pPr indent="0" marL="0">
              <a:buNone/>
            </a:pPr>
            <a:r>
              <a:rPr lang="en-US" sz="1000" b="1" dirty="0">
                <a:solidFill>
                  <a:srgbClr val="00338D"/>
                </a:solidFill>
                <a:latin typeface="Arial" pitchFamily="34" charset="0"/>
                <a:ea typeface="Arial" pitchFamily="34" charset="-122"/>
                <a:cs typeface="Arial" pitchFamily="34" charset="-120"/>
              </a:rPr>
              <a:t>Department mix</a:t>
            </a:r>
            <a:endParaRPr lang="en-US" sz="1000" dirty="0"/>
          </a:p>
        </p:txBody>
      </p:sp>
      <p:sp>
        <p:nvSpPr>
          <p:cNvPr id="9" name="Text 6"/>
          <p:cNvSpPr/>
          <p:nvPr/>
        </p:nvSpPr>
        <p:spPr>
          <a:xfrm>
            <a:off x="6159600" y="2003588"/>
            <a:ext cx="5036396" cy="3869997"/>
          </a:xfrm>
          <a:prstGeom prst="rect">
            <a:avLst/>
          </a:prstGeom>
          <a:noFill/>
          <a:ln/>
        </p:spPr>
        <p:txBody>
          <a:bodyPr wrap="square" lIns="46800" tIns="72000" rIns="90000" bIns="46800" rtlCol="0" anchor="t"/>
          <a:lstStyle/>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Operational headcount concentration is appropriate for a physical retail model, but digital and analytics capacity remains proportionally modest.</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Talent strategy should prioritize merchandising analytics and e-commerce productivity to sustain growth without proportionate working-capital expansion.</a:t>
            </a:r>
            <a:endParaRPr lang="en-US" sz="1000" dirty="0"/>
          </a:p>
        </p:txBody>
      </p:sp>
      <p:sp>
        <p:nvSpPr>
          <p:cNvPr id="10" name="Text 7"/>
          <p:cNvSpPr/>
          <p:nvPr/>
        </p:nvSpPr>
        <p:spPr>
          <a:xfrm>
            <a:off x="995361" y="6010735"/>
            <a:ext cx="5036396" cy="165122"/>
          </a:xfrm>
          <a:prstGeom prst="rect">
            <a:avLst/>
          </a:prstGeom>
          <a:noFill/>
          <a:ln/>
        </p:spPr>
        <p:txBody>
          <a:bodyPr wrap="square" rtlCol="0" anchor="t"/>
          <a:lstStyle/>
          <a:p>
            <a:pPr indent="0" marL="0">
              <a:buNone/>
            </a:pPr>
            <a:r>
              <a:rPr lang="en-US" sz="600" i="1" dirty="0">
                <a:solidFill>
                  <a:srgbClr val="333333"/>
                </a:solidFill>
                <a:latin typeface="Arial" pitchFamily="34" charset="0"/>
                <a:ea typeface="Arial" pitchFamily="34" charset="-122"/>
                <a:cs typeface="Arial" pitchFamily="34" charset="-120"/>
              </a:rPr>
              <a:t>Source: department_summary.xlsx</a:t>
            </a:r>
            <a:endParaRPr lang="en-US" sz="600" dirty="0"/>
          </a:p>
        </p:txBody>
      </p:sp>
      <p:sp>
        <p:nvSpPr>
          <p:cNvPr id="11" name="Text 8"/>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22</a:t>
            </a:r>
            <a:endParaRPr lang="en-US" sz="8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998433" y="431780"/>
            <a:ext cx="10204338" cy="53337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Leadership bench is credible but stretched</a:t>
            </a:r>
            <a:endParaRPr lang="en-US" sz="3200" dirty="0"/>
          </a:p>
        </p:txBody>
      </p:sp>
      <p:sp>
        <p:nvSpPr>
          <p:cNvPr id="3" name="Text 1"/>
          <p:cNvSpPr/>
          <p:nvPr/>
        </p:nvSpPr>
        <p:spPr>
          <a:xfrm>
            <a:off x="998433" y="1179485"/>
            <a:ext cx="10204338" cy="482437"/>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The core leadership team has relevant tenure and operating experience, yet growth velocity suggests a need for additional execution bandwidth.</a:t>
            </a:r>
            <a:endParaRPr lang="en-US" sz="1000" dirty="0"/>
          </a:p>
        </p:txBody>
      </p:sp>
      <p:sp>
        <p:nvSpPr>
          <p:cNvPr id="4" name="Text 2"/>
          <p:cNvSpPr/>
          <p:nvPr/>
        </p:nvSpPr>
        <p:spPr>
          <a:xfrm>
            <a:off x="998433" y="1716786"/>
            <a:ext cx="10204338" cy="4248760"/>
          </a:xfrm>
          <a:prstGeom prst="rect">
            <a:avLst/>
          </a:prstGeom>
          <a:noFill/>
          <a:ln/>
        </p:spPr>
        <p:txBody>
          <a:bodyPr wrap="square" lIns="46800" tIns="72000" rIns="90000" bIns="46800" rtlCol="0" anchor="t"/>
          <a:lstStyle/>
          <a:p>
            <a:pPr indent="0" marL="0">
              <a:spcAft>
                <a:spcPts val="600"/>
              </a:spcAft>
              <a:buNone/>
            </a:pPr>
            <a:r>
              <a:rPr lang="en-US" sz="1000" b="1" dirty="0">
                <a:solidFill>
                  <a:srgbClr val="00338D"/>
                </a:solidFill>
                <a:latin typeface="Arial" pitchFamily="34" charset="0"/>
                <a:ea typeface="Arial" pitchFamily="34" charset="-122"/>
                <a:cs typeface="Arial" pitchFamily="34" charset="-120"/>
              </a:rPr>
              <a:t>Strengths</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The CEO has 14 years at the company and the CFO and COO each bring seven years of internal context, supporting continuity in strategic execution.</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Current management has overseen significant footprint and revenue expansion, indicating ability to execute growth-oriented plans.</a:t>
            </a:r>
            <a:endParaRPr lang="en-US" sz="1000" dirty="0"/>
          </a:p>
          <a:p>
            <a:pPr indent="0" marL="0">
              <a:spcAft>
                <a:spcPts val="600"/>
              </a:spcAft>
              <a:buNone/>
            </a:pPr>
            <a:r>
              <a:rPr lang="en-US" sz="1000" b="1" dirty="0">
                <a:solidFill>
                  <a:srgbClr val="00338D"/>
                </a:solidFill>
                <a:latin typeface="Arial" pitchFamily="34" charset="0"/>
                <a:ea typeface="Arial" pitchFamily="34" charset="-122"/>
                <a:cs typeface="Arial" pitchFamily="34" charset="-120"/>
              </a:rPr>
              <a:t>Execution pressure points</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Rapid expansion to 91 stores and elevated working-capital demands increase management load across forecasting, controls, and integration of new cohorts.</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The VP Sales tenure of two years is relatively recent; institutionalized retention and pricing governance should reduce key-person dependency.</a:t>
            </a:r>
            <a:endParaRPr lang="en-US" sz="1000" dirty="0"/>
          </a:p>
          <a:p>
            <a:pPr indent="0" marL="0">
              <a:spcAft>
                <a:spcPts val="600"/>
              </a:spcAft>
              <a:buNone/>
            </a:pPr>
            <a:r>
              <a:rPr lang="en-US" sz="1000" b="1" dirty="0">
                <a:solidFill>
                  <a:srgbClr val="00338D"/>
                </a:solidFill>
                <a:latin typeface="Arial" pitchFamily="34" charset="0"/>
                <a:ea typeface="Arial" pitchFamily="34" charset="-122"/>
                <a:cs typeface="Arial" pitchFamily="34" charset="-120"/>
              </a:rPr>
              <a:t>Implication</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Post-close governance should add functional depth in finance operations and commercial analytics to de-risk scale execution.</a:t>
            </a:r>
            <a:endParaRPr lang="en-US" sz="1000" dirty="0"/>
          </a:p>
        </p:txBody>
      </p:sp>
      <p:sp>
        <p:nvSpPr>
          <p:cNvPr id="5" name="Text 3"/>
          <p:cNvSpPr/>
          <p:nvPr/>
        </p:nvSpPr>
        <p:spPr>
          <a:xfrm>
            <a:off x="998433" y="5992978"/>
            <a:ext cx="10204338" cy="182880"/>
          </a:xfrm>
          <a:prstGeom prst="rect">
            <a:avLst/>
          </a:prstGeom>
          <a:noFill/>
          <a:ln/>
        </p:spPr>
        <p:txBody>
          <a:bodyPr wrap="square" lIns="46800" tIns="72000" rIns="90000" bIns="46800" rtlCol="0" anchor="t"/>
          <a:lstStyle/>
          <a:p>
            <a:pPr indent="0" marL="0">
              <a:buNone/>
            </a:pPr>
            <a:r>
              <a:rPr lang="en-US" sz="600" i="1" dirty="0">
                <a:solidFill>
                  <a:srgbClr val="00338D"/>
                </a:solidFill>
                <a:latin typeface="Arial" pitchFamily="34" charset="0"/>
                <a:ea typeface="Arial" pitchFamily="34" charset="-122"/>
                <a:cs typeface="Arial" pitchFamily="34" charset="-120"/>
              </a:rPr>
              <a:t>Source: company_overview.md, company_seed.json</a:t>
            </a:r>
            <a:endParaRPr lang="en-US" sz="600" dirty="0"/>
          </a:p>
        </p:txBody>
      </p:sp>
      <p:sp>
        <p:nvSpPr>
          <p:cNvPr id="6"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23</a:t>
            </a:r>
            <a:endParaRPr lang="en-US" sz="8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998433" y="431780"/>
            <a:ext cx="10204338" cy="53337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Supplier and inventory factors need monitoring</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Vendor terms are generally balanced, but lead-time variability and inventory intensity can amplify cash and service-level volatility.</a:t>
            </a:r>
            <a:endParaRPr lang="en-US" sz="1000" dirty="0"/>
          </a:p>
        </p:txBody>
      </p:sp>
      <p:sp>
        <p:nvSpPr>
          <p:cNvPr id="4" name="Shape 2"/>
          <p:cNvSpPr/>
          <p:nvPr/>
        </p:nvSpPr>
        <p:spPr>
          <a:xfrm>
            <a:off x="995361" y="1751584"/>
            <a:ext cx="10192299" cy="252000"/>
          </a:xfrm>
          <a:prstGeom prst="rect">
            <a:avLst/>
          </a:prstGeom>
          <a:solidFill>
            <a:srgbClr val="00338D"/>
          </a:solidFill>
          <a:ln w="12700">
            <a:solidFill>
              <a:srgbClr val="00338D"/>
            </a:solidFill>
            <a:prstDash val="solid"/>
          </a:ln>
        </p:spPr>
      </p:sp>
      <p:sp>
        <p:nvSpPr>
          <p:cNvPr id="5" name="Text 3"/>
          <p:cNvSpPr/>
          <p:nvPr/>
        </p:nvSpPr>
        <p:spPr>
          <a:xfrm>
            <a:off x="1068513" y="1769872"/>
            <a:ext cx="10045995" cy="252000"/>
          </a:xfrm>
          <a:prstGeom prst="rect">
            <a:avLst/>
          </a:prstGeom>
          <a:noFill/>
          <a:ln/>
        </p:spPr>
        <p:txBody>
          <a:bodyPr wrap="square" lIns="46800" tIns="72000" rIns="90000" bIns="46800" rtlCol="0" anchor="ctr"/>
          <a:lstStyle/>
          <a:p>
            <a:pPr indent="0" marL="0">
              <a:buNone/>
            </a:pPr>
            <a:r>
              <a:rPr lang="en-US" sz="1000" b="1" dirty="0">
                <a:solidFill>
                  <a:srgbClr val="FFFFFF"/>
                </a:solidFill>
                <a:latin typeface="Arial" pitchFamily="34" charset="0"/>
                <a:ea typeface="Arial" pitchFamily="34" charset="-122"/>
                <a:cs typeface="Arial" pitchFamily="34" charset="-120"/>
              </a:rPr>
              <a:t>Supply chain risk signals</a:t>
            </a:r>
            <a:endParaRPr lang="en-US" sz="100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995361" y="3978688"/>
          <a:ext cx="5036400" cy="2197170"/>
        </p:xfrm>
        <a:graphic>
          <a:graphicData uri="http://schemas.openxmlformats.org/drawingml/2006/table">
            <a:tbl>
              <a:tblPr/>
              <a:tblGrid>
                <a:gridCol w="1568821"/>
                <a:gridCol w="1651935"/>
                <a:gridCol w="1815644"/>
              </a:tblGrid>
              <a:tr h="292608">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Metric</a:t>
                      </a:r>
                      <a:endParaRPr lang="en-US" sz="800" dirty="0">
                        <a:latin typeface="Arial" charset="0"/>
                        <a:ea typeface="Arial" charset="0"/>
                        <a:cs typeface="Arial" charset="0"/>
                      </a:endParaRPr>
                    </a:p>
                  </a:txBody>
                  <a:tcPr marL="50800" marR="50800" marT="25400" marB="25400" anchor="ctr">
                    <a:lnL w="7620" cap="flat" cmpd="sng" algn="ctr">
                      <a:solidFill>
                        <a:srgbClr val="D9D9D9"/>
                      </a:solidFill>
                      <a:prstDash val="solid"/>
                      <a:round/>
                      <a:headEnd type="none" w="med" len="med"/>
                      <a:tailEnd type="none" w="med" len="med"/>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Value</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Risk read-through</a:t>
                      </a:r>
                      <a:endParaRPr lang="en-US" sz="800" dirty="0">
                        <a:latin typeface="Arial" charset="0"/>
                        <a:ea typeface="Arial" charset="0"/>
                        <a:cs typeface="Arial" charset="0"/>
                      </a:endParaRPr>
                    </a:p>
                  </a:txBody>
                  <a:tcPr marL="50800" marR="50800" marT="25400" marB="25400" anchor="ctr">
                    <a:lnL w="0" cap="flat" cmpd="sng" algn="ctr">
                      <a:noFill/>
                    </a:lnL>
                    <a:lnR w="7620" cap="flat" cmpd="sng" algn="ctr">
                      <a:solidFill>
                        <a:srgbClr val="D9D9D9"/>
                      </a:solidFill>
                      <a:prstDash val="solid"/>
                      <a:round/>
                      <a:headEnd type="none" w="med" len="med"/>
                      <a:tailEnd type="none" w="med" len="med"/>
                    </a:lnR>
                    <a:lnT w="0" cap="flat" cmpd="sng" algn="ctr">
                      <a:noFill/>
                    </a:lnT>
                    <a:lnB w="12700" cap="flat" cmpd="sng" algn="ctr">
                      <a:solidFill>
                        <a:srgbClr val="00338D"/>
                      </a:solidFill>
                      <a:prstDash val="solid"/>
                      <a:round/>
                      <a:headEnd type="none" w="med" len="med"/>
                      <a:tailEnd type="none" w="med" len="med"/>
                    </a:lnB>
                    <a:solidFill>
                      <a:srgbClr val="1E49E2"/>
                    </a:solidFill>
                  </a:tcPr>
                </a:tc>
              </a:tr>
              <a:tr h="29057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Supplier count</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30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Moderate diversification</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9057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Avg lead time</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32.7 days</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Working-capital planning dependency</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9057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Max lead time</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57 days</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Stock-out and buffer risk</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9057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Term mix</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11/11/8 (30/45/60)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Payables cadence variability</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r>
            </a:tbl>
          </a:graphicData>
        </a:graphic>
      </p:graphicFrame>
      <p:sp>
        <p:nvSpPr>
          <p:cNvPr id="7" name="Text 4"/>
          <p:cNvSpPr/>
          <p:nvPr/>
        </p:nvSpPr>
        <p:spPr>
          <a:xfrm>
            <a:off x="6159600" y="2058448"/>
            <a:ext cx="5033848" cy="1828800"/>
          </a:xfrm>
          <a:prstGeom prst="rect">
            <a:avLst/>
          </a:prstGeom>
          <a:noFill/>
          <a:ln/>
        </p:spPr>
        <p:txBody>
          <a:bodyPr wrap="square" lIns="46800" tIns="72000" rIns="90000" bIns="46800" rtlCol="0" anchor="t"/>
          <a:lstStyle/>
          <a:p>
            <a:pPr indent="0" marL="0">
              <a:spcAft>
                <a:spcPts val="600"/>
              </a:spcAft>
              <a:buNone/>
            </a:pPr>
            <a:r>
              <a:rPr lang="en-US" sz="1000" b="1" dirty="0">
                <a:solidFill>
                  <a:srgbClr val="00338D"/>
                </a:solidFill>
                <a:latin typeface="Arial" pitchFamily="34" charset="0"/>
                <a:ea typeface="Arial" pitchFamily="34" charset="-122"/>
                <a:cs typeface="Arial" pitchFamily="34" charset="-120"/>
              </a:rPr>
              <a:t>What the data suggests</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The supplier base includes 30 vendors with average lead time of 32.7 days and a maximum observed lead time of 57 days.</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Payment terms are mixed across Net 30, Net 45, and Net 60, creating manageable but non-trivial payables timing variability.</a:t>
            </a:r>
            <a:endParaRPr lang="en-US" sz="1000" dirty="0"/>
          </a:p>
          <a:p>
            <a:pPr indent="0" marL="0">
              <a:spcAft>
                <a:spcPts val="600"/>
              </a:spcAft>
              <a:buNone/>
            </a:pPr>
            <a:r>
              <a:rPr lang="en-US" sz="1000" b="1" dirty="0">
                <a:solidFill>
                  <a:srgbClr val="00338D"/>
                </a:solidFill>
                <a:latin typeface="Arial" pitchFamily="34" charset="0"/>
                <a:ea typeface="Arial" pitchFamily="34" charset="-122"/>
                <a:cs typeface="Arial" pitchFamily="34" charset="-120"/>
              </a:rPr>
              <a:t>Why it matters</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Longer lead-time tails combined with rapid store scaling can force higher safety stock and raise inventory carrying costs.</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Supplier concentration and term discipline should be linked to margin protection and NWC release objectives.</a:t>
            </a:r>
            <a:endParaRPr lang="en-US" sz="1000" dirty="0"/>
          </a:p>
        </p:txBody>
      </p:sp>
      <p:graphicFrame>
        <p:nvGraphicFramePr>
          <p:cNvPr id="8" name="Chart 0" descr=""/>
          <p:cNvGraphicFramePr/>
          <p:nvPr/>
        </p:nvGraphicFramePr>
        <p:xfrm>
          <a:off x="995361" y="2058448"/>
          <a:ext cx="5036400" cy="1828800"/>
        </p:xfrm>
        <a:graphic xmlns:a="http://schemas.openxmlformats.org/drawingml/2006/main">
          <a:graphicData uri="http://schemas.openxmlformats.org/drawingml/2006/chart">
            <c:chart xmlns:c="http://schemas.openxmlformats.org/drawingml/2006/chart" r:id="rId1"/>
          </a:graphicData>
        </a:graphic>
      </p:graphicFrame>
      <p:sp>
        <p:nvSpPr>
          <p:cNvPr id="9" name="Text 5"/>
          <p:cNvSpPr/>
          <p:nvPr/>
        </p:nvSpPr>
        <p:spPr>
          <a:xfrm>
            <a:off x="995361" y="3932968"/>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supplier_master.xlsx</a:t>
            </a:r>
            <a:endParaRPr lang="en-US" sz="600" dirty="0"/>
          </a:p>
        </p:txBody>
      </p:sp>
      <p:sp>
        <p:nvSpPr>
          <p:cNvPr id="10" name="Text 6"/>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24</a:t>
            </a:r>
            <a:endParaRPr lang="en-US" sz="8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998433" y="431780"/>
            <a:ext cx="10204338" cy="53337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Operational plan should prioritize control depth</a:t>
            </a:r>
            <a:endParaRPr lang="en-US" sz="3200" dirty="0"/>
          </a:p>
        </p:txBody>
      </p:sp>
      <p:sp>
        <p:nvSpPr>
          <p:cNvPr id="3" name="Text 1"/>
          <p:cNvSpPr/>
          <p:nvPr/>
        </p:nvSpPr>
        <p:spPr>
          <a:xfrm>
            <a:off x="998433" y="1179485"/>
            <a:ext cx="10204338" cy="482437"/>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The value-creation plan should emphasize scalable controls and decision rights so growth does not outpace financial quality and service reliability.</a:t>
            </a:r>
            <a:endParaRPr lang="en-US" sz="1000" dirty="0"/>
          </a:p>
        </p:txBody>
      </p:sp>
      <p:sp>
        <p:nvSpPr>
          <p:cNvPr id="4" name="Text 2"/>
          <p:cNvSpPr/>
          <p:nvPr/>
        </p:nvSpPr>
        <p:spPr>
          <a:xfrm>
            <a:off x="998433" y="1716786"/>
            <a:ext cx="10204338" cy="4248760"/>
          </a:xfrm>
          <a:prstGeom prst="rect">
            <a:avLst/>
          </a:prstGeom>
          <a:noFill/>
          <a:ln/>
        </p:spPr>
        <p:txBody>
          <a:bodyPr wrap="square" lIns="46800" tIns="72000" rIns="90000" bIns="46800" rtlCol="0" anchor="t"/>
          <a:lstStyle/>
          <a:p>
            <a:pPr indent="0" marL="0">
              <a:spcAft>
                <a:spcPts val="600"/>
              </a:spcAft>
              <a:buNone/>
            </a:pPr>
            <a:r>
              <a:rPr lang="en-US" sz="1000" b="1" dirty="0">
                <a:solidFill>
                  <a:srgbClr val="00338D"/>
                </a:solidFill>
                <a:latin typeface="Arial" pitchFamily="34" charset="0"/>
                <a:ea typeface="Arial" pitchFamily="34" charset="-122"/>
                <a:cs typeface="Arial" pitchFamily="34" charset="-120"/>
              </a:rPr>
              <a:t>Control architecture</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Build standardized monthly control packs covering inventory reserves, markdown governance, receivables quality, and store-level contribution margins.</a:t>
            </a:r>
            <a:endParaRPr lang="en-US" sz="1000" dirty="0"/>
          </a:p>
          <a:p>
            <a:pPr indent="0" marL="0">
              <a:spcAft>
                <a:spcPts val="600"/>
              </a:spcAft>
              <a:buNone/>
            </a:pPr>
            <a:r>
              <a:rPr lang="en-US" sz="1000" b="1" dirty="0">
                <a:solidFill>
                  <a:srgbClr val="00338D"/>
                </a:solidFill>
                <a:latin typeface="Arial" pitchFamily="34" charset="0"/>
                <a:ea typeface="Arial" pitchFamily="34" charset="-122"/>
                <a:cs typeface="Arial" pitchFamily="34" charset="-120"/>
              </a:rPr>
              <a:t>Commercial operations</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Implement account-level renewal and pricing governance to reduce churn surprises and improve recurring revenue conversion confidence.</a:t>
            </a:r>
            <a:endParaRPr lang="en-US" sz="1000" dirty="0"/>
          </a:p>
          <a:p>
            <a:pPr indent="0" marL="0">
              <a:spcAft>
                <a:spcPts val="600"/>
              </a:spcAft>
              <a:buNone/>
            </a:pPr>
            <a:r>
              <a:rPr lang="en-US" sz="1000" b="1" dirty="0">
                <a:solidFill>
                  <a:srgbClr val="00338D"/>
                </a:solidFill>
                <a:latin typeface="Arial" pitchFamily="34" charset="0"/>
                <a:ea typeface="Arial" pitchFamily="34" charset="-122"/>
                <a:cs typeface="Arial" pitchFamily="34" charset="-120"/>
              </a:rPr>
              <a:t>People and accountability</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Establish clear owner accountability across CFO, COO, and commercial leads with quantified KPI thresholds and escalation triggers.</a:t>
            </a:r>
            <a:endParaRPr lang="en-US" sz="1000" dirty="0"/>
          </a:p>
          <a:p>
            <a:pPr indent="0" marL="0">
              <a:spcAft>
                <a:spcPts val="600"/>
              </a:spcAft>
              <a:buNone/>
            </a:pPr>
            <a:r>
              <a:rPr lang="en-US" sz="1000" b="1" dirty="0">
                <a:solidFill>
                  <a:srgbClr val="00338D"/>
                </a:solidFill>
                <a:latin typeface="Arial" pitchFamily="34" charset="0"/>
                <a:ea typeface="Arial" pitchFamily="34" charset="-122"/>
                <a:cs typeface="Arial" pitchFamily="34" charset="-120"/>
              </a:rPr>
              <a:t>Outcome expectation</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A control-first integration path should improve earnings quality consistency and narrow valuation uncertainty during the first ownership year.</a:t>
            </a:r>
            <a:endParaRPr lang="en-US" sz="1000" dirty="0"/>
          </a:p>
        </p:txBody>
      </p:sp>
      <p:sp>
        <p:nvSpPr>
          <p:cNvPr id="5" name="Text 3"/>
          <p:cNvSpPr/>
          <p:nvPr/>
        </p:nvSpPr>
        <p:spPr>
          <a:xfrm>
            <a:off x="998433" y="5992978"/>
            <a:ext cx="10204338" cy="182880"/>
          </a:xfrm>
          <a:prstGeom prst="rect">
            <a:avLst/>
          </a:prstGeom>
          <a:noFill/>
          <a:ln/>
        </p:spPr>
        <p:txBody>
          <a:bodyPr wrap="square" lIns="46800" tIns="72000" rIns="90000" bIns="46800" rtlCol="0" anchor="t"/>
          <a:lstStyle/>
          <a:p>
            <a:pPr indent="0" marL="0">
              <a:buNone/>
            </a:pPr>
            <a:r>
              <a:rPr lang="en-US" sz="600" i="1" dirty="0">
                <a:solidFill>
                  <a:srgbClr val="00338D"/>
                </a:solidFill>
                <a:latin typeface="Arial" pitchFamily="34" charset="0"/>
                <a:ea typeface="Arial" pitchFamily="34" charset="-122"/>
                <a:cs typeface="Arial" pitchFamily="34" charset="-120"/>
              </a:rPr>
              <a:t>Source: verification_report.json, department_summary.xlsx</a:t>
            </a:r>
            <a:endParaRPr lang="en-US" sz="600" dirty="0"/>
          </a:p>
        </p:txBody>
      </p:sp>
      <p:sp>
        <p:nvSpPr>
          <p:cNvPr id="6"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25</a:t>
            </a:r>
            <a:endParaRPr lang="en-US" sz="8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1289860" y="1140069"/>
            <a:ext cx="1082675" cy="812530"/>
          </a:xfrm>
          <a:prstGeom prst="rect">
            <a:avLst/>
          </a:prstGeom>
          <a:noFill/>
          <a:ln/>
        </p:spPr>
        <p:txBody>
          <a:bodyPr wrap="square" lIns="46800" tIns="72000" rIns="90000" bIns="46800" rtlCol="0" anchor="t"/>
          <a:lstStyle/>
          <a:p>
            <a:pPr algn="l" indent="0" marL="0">
              <a:buNone/>
            </a:pPr>
            <a:r>
              <a:rPr lang="en-US" sz="4800" b="1" dirty="0">
                <a:solidFill>
                  <a:srgbClr val="FFFFFF"/>
                </a:solidFill>
                <a:latin typeface="Arial" pitchFamily="34" charset="0"/>
                <a:ea typeface="Arial" pitchFamily="34" charset="-122"/>
                <a:cs typeface="Arial" pitchFamily="34" charset="-120"/>
              </a:rPr>
              <a:t>06</a:t>
            </a:r>
            <a:endParaRPr lang="en-US" sz="4800" dirty="0"/>
          </a:p>
        </p:txBody>
      </p:sp>
      <p:sp>
        <p:nvSpPr>
          <p:cNvPr id="3" name="Text 1"/>
          <p:cNvSpPr/>
          <p:nvPr/>
        </p:nvSpPr>
        <p:spPr>
          <a:xfrm>
            <a:off x="1289861" y="2180877"/>
            <a:ext cx="6321425" cy="696782"/>
          </a:xfrm>
          <a:prstGeom prst="rect">
            <a:avLst/>
          </a:prstGeom>
          <a:noFill/>
          <a:ln/>
        </p:spPr>
        <p:txBody>
          <a:bodyPr wrap="square" lIns="46800" tIns="72000" rIns="90000" bIns="46800" rtlCol="0" anchor="t"/>
          <a:lstStyle/>
          <a:p>
            <a:pPr algn="l" indent="0" marL="0">
              <a:buNone/>
            </a:pPr>
            <a:r>
              <a:rPr lang="en-US" sz="2400" b="1" dirty="0">
                <a:solidFill>
                  <a:srgbClr val="FFFFFF"/>
                </a:solidFill>
                <a:latin typeface="Arial" pitchFamily="34" charset="0"/>
                <a:ea typeface="Arial" pitchFamily="34" charset="-122"/>
                <a:cs typeface="Arial" pitchFamily="34" charset="-120"/>
              </a:rPr>
              <a:t>Benchmark and valuation lens</a:t>
            </a:r>
            <a:endParaRPr lang="en-US" sz="24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998433" y="431780"/>
            <a:ext cx="10204338" cy="53337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Johnson growth outpaced SBUX trajectory</a:t>
            </a:r>
            <a:endParaRPr lang="en-US" sz="3200" dirty="0"/>
          </a:p>
        </p:txBody>
      </p:sp>
      <p:sp>
        <p:nvSpPr>
          <p:cNvPr id="3" name="Text 1"/>
          <p:cNvSpPr/>
          <p:nvPr/>
        </p:nvSpPr>
        <p:spPr>
          <a:xfrm>
            <a:off x="998433" y="1179485"/>
            <a:ext cx="10204338" cy="482437"/>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Johnson is much smaller in absolute scale, but its recent growth rate materially exceeds the large-cap benchmark trajectory.</a:t>
            </a:r>
            <a:endParaRPr lang="en-US" sz="1000" dirty="0"/>
          </a:p>
        </p:txBody>
      </p:sp>
      <p:sp>
        <p:nvSpPr>
          <p:cNvPr id="4" name="Text 2"/>
          <p:cNvSpPr/>
          <p:nvPr/>
        </p:nvSpPr>
        <p:spPr>
          <a:xfrm>
            <a:off x="998433" y="1716786"/>
            <a:ext cx="5120640" cy="4459072"/>
          </a:xfrm>
          <a:prstGeom prst="rect">
            <a:avLst/>
          </a:prstGeom>
          <a:noFill/>
          <a:ln/>
        </p:spPr>
        <p:txBody>
          <a:bodyPr wrap="square" lIns="46800" tIns="72000" rIns="90000" bIns="46800" rtlCol="0" anchor="t"/>
          <a:lstStyle/>
          <a:p>
            <a:pPr indent="0" marL="0">
              <a:spcAft>
                <a:spcPts val="600"/>
              </a:spcAft>
              <a:buNone/>
            </a:pPr>
            <a:r>
              <a:rPr lang="en-US" sz="1000" b="1" dirty="0">
                <a:solidFill>
                  <a:srgbClr val="00338D"/>
                </a:solidFill>
                <a:latin typeface="Arial" pitchFamily="34" charset="0"/>
                <a:ea typeface="Arial" pitchFamily="34" charset="-122"/>
                <a:cs typeface="Arial" pitchFamily="34" charset="-120"/>
              </a:rPr>
              <a:t>Growth comparison</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Johnson revenue grew from $309.9M to $518.5M between 2023 and 2025, while SBUX revenue moved from $29.1B to $36.0B over the same fiscal years.</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Johnson's two-year CAGR of 29.4% far exceeds SBUX's growth profile, reflecting earlier-stage scaling dynamics rather than mature-network behavior.</a:t>
            </a:r>
            <a:endParaRPr lang="en-US" sz="1000" dirty="0"/>
          </a:p>
          <a:p>
            <a:pPr indent="0" marL="0">
              <a:spcAft>
                <a:spcPts val="600"/>
              </a:spcAft>
              <a:buNone/>
            </a:pPr>
            <a:r>
              <a:rPr lang="en-US" sz="1000" b="1" dirty="0">
                <a:solidFill>
                  <a:srgbClr val="00338D"/>
                </a:solidFill>
                <a:latin typeface="Arial" pitchFamily="34" charset="0"/>
                <a:ea typeface="Arial" pitchFamily="34" charset="-122"/>
                <a:cs typeface="Arial" pitchFamily="34" charset="-120"/>
              </a:rPr>
              <a:t>Interpretation guardrail</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Higher growth does not imply lower risk; it often coincides with higher working-capital and process-maturity pressures.</a:t>
            </a:r>
            <a:endParaRPr lang="en-US" sz="1000" dirty="0"/>
          </a:p>
          <a:p>
            <a:pPr indent="0" marL="0">
              <a:spcAft>
                <a:spcPts val="600"/>
              </a:spcAft>
              <a:buNone/>
            </a:pPr>
            <a:r>
              <a:rPr lang="en-US" sz="1000" b="1" dirty="0">
                <a:solidFill>
                  <a:srgbClr val="00338D"/>
                </a:solidFill>
                <a:latin typeface="Arial" pitchFamily="34" charset="0"/>
                <a:ea typeface="Arial" pitchFamily="34" charset="-122"/>
                <a:cs typeface="Arial" pitchFamily="34" charset="-120"/>
              </a:rPr>
              <a:t>Implication</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Benchmark should inform direction and ambition, while valuation should remain anchored to Johnson-specific risk-adjusted cash quality.</a:t>
            </a:r>
            <a:endParaRPr lang="en-US" sz="1000" dirty="0"/>
          </a:p>
        </p:txBody>
      </p:sp>
      <p:graphicFrame>
        <p:nvGraphicFramePr>
          <p:cNvPr id="5" name="Chart 0" descr=""/>
          <p:cNvGraphicFramePr/>
          <p:nvPr/>
        </p:nvGraphicFramePr>
        <p:xfrm>
          <a:off x="6400800" y="1716786"/>
          <a:ext cx="4800600" cy="4184752"/>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income_statement.xlsx; testing/data/sec/SBUX/annual_metrics.csv</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26</a:t>
            </a:r>
            <a:endParaRPr lang="en-US" sz="8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998433" y="431780"/>
            <a:ext cx="10204338" cy="53337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Scale gap frames realistic margin ambition</a:t>
            </a:r>
            <a:endParaRPr lang="en-US" sz="3200" dirty="0"/>
          </a:p>
        </p:txBody>
      </p:sp>
      <p:sp>
        <p:nvSpPr>
          <p:cNvPr id="3" name="Text 1"/>
          <p:cNvSpPr/>
          <p:nvPr/>
        </p:nvSpPr>
        <p:spPr>
          <a:xfrm>
            <a:off x="998433" y="1179485"/>
            <a:ext cx="10204338" cy="482437"/>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SBUX provides a benchmark on operating discipline, but Johnson's current size suggests a different path and risk envelope to reach similar resilience.</a:t>
            </a:r>
            <a:endParaRPr lang="en-US" sz="1000" dirty="0"/>
          </a:p>
        </p:txBody>
      </p:sp>
      <p:sp>
        <p:nvSpPr>
          <p:cNvPr id="4" name="Text 2"/>
          <p:cNvSpPr/>
          <p:nvPr/>
        </p:nvSpPr>
        <p:spPr>
          <a:xfrm>
            <a:off x="998433" y="1716786"/>
            <a:ext cx="5120640" cy="4459072"/>
          </a:xfrm>
          <a:prstGeom prst="rect">
            <a:avLst/>
          </a:prstGeom>
          <a:noFill/>
          <a:ln/>
        </p:spPr>
        <p:txBody>
          <a:bodyPr wrap="square" lIns="46800" tIns="72000" rIns="90000" bIns="46800" rtlCol="0" anchor="t"/>
          <a:lstStyle/>
          <a:p>
            <a:pPr indent="0" marL="0">
              <a:spcAft>
                <a:spcPts val="600"/>
              </a:spcAft>
              <a:buNone/>
            </a:pPr>
            <a:r>
              <a:rPr lang="en-US" sz="1000" b="1" dirty="0">
                <a:solidFill>
                  <a:srgbClr val="00338D"/>
                </a:solidFill>
                <a:latin typeface="Arial" pitchFamily="34" charset="0"/>
                <a:ea typeface="Arial" pitchFamily="34" charset="-122"/>
                <a:cs typeface="Arial" pitchFamily="34" charset="-120"/>
              </a:rPr>
              <a:t>Scale context</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In 2025, SBUX revenue is approximately 69x Johnson revenue, highlighting fundamentally different operating leverage and procurement bargaining positions.</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Johnson revenue equals roughly 1.44% of SBUX revenue, indicating that benchmark application must be directional rather than directly transposed.</a:t>
            </a:r>
            <a:endParaRPr lang="en-US" sz="1000" dirty="0"/>
          </a:p>
          <a:p>
            <a:pPr indent="0" marL="0">
              <a:spcAft>
                <a:spcPts val="600"/>
              </a:spcAft>
              <a:buNone/>
            </a:pPr>
            <a:r>
              <a:rPr lang="en-US" sz="1000" b="1" dirty="0">
                <a:solidFill>
                  <a:srgbClr val="00338D"/>
                </a:solidFill>
                <a:latin typeface="Arial" pitchFamily="34" charset="0"/>
                <a:ea typeface="Arial" pitchFamily="34" charset="-122"/>
                <a:cs typeface="Arial" pitchFamily="34" charset="-120"/>
              </a:rPr>
              <a:t>Margin context</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Johnson operating margin around 19% appears strong relative to SBUX 2023-2025 range of 14.3% to 16.8%, but quality-of-earnings proof still matters.</a:t>
            </a:r>
            <a:endParaRPr lang="en-US" sz="1000" dirty="0"/>
          </a:p>
          <a:p>
            <a:pPr indent="0" marL="0">
              <a:spcAft>
                <a:spcPts val="600"/>
              </a:spcAft>
              <a:buNone/>
            </a:pPr>
            <a:r>
              <a:rPr lang="en-US" sz="1000" b="1" dirty="0">
                <a:solidFill>
                  <a:srgbClr val="00338D"/>
                </a:solidFill>
                <a:latin typeface="Arial" pitchFamily="34" charset="0"/>
                <a:ea typeface="Arial" pitchFamily="34" charset="-122"/>
                <a:cs typeface="Arial" pitchFamily="34" charset="-120"/>
              </a:rPr>
              <a:t>Implication</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Set IC targets on durable cash conversion and retention quality before rewarding headline margin premium in final multiple selection.</a:t>
            </a:r>
            <a:endParaRPr lang="en-US" sz="1000" dirty="0"/>
          </a:p>
        </p:txBody>
      </p:sp>
      <p:graphicFrame>
        <p:nvGraphicFramePr>
          <p:cNvPr id="5" name="Chart 0" descr=""/>
          <p:cNvGraphicFramePr/>
          <p:nvPr/>
        </p:nvGraphicFramePr>
        <p:xfrm>
          <a:off x="6400800" y="1716786"/>
          <a:ext cx="4800600" cy="4184752"/>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income_statement.xlsx; annual_metrics.csv</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27</a:t>
            </a:r>
            <a:endParaRPr lang="en-US" sz="8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998433" y="431780"/>
            <a:ext cx="10204338" cy="53337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Benchmark-informed IC valuation scenarios</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Scenario ranges combine Johnson normalized earnings with benchmark-informed discipline on growth quality, cash conversion, and downside tolerance.</a:t>
            </a:r>
            <a:endParaRPr lang="en-US" sz="1000" dirty="0"/>
          </a:p>
        </p:txBody>
      </p:sp>
      <p:sp>
        <p:nvSpPr>
          <p:cNvPr id="4" name="Shape 2"/>
          <p:cNvSpPr/>
          <p:nvPr/>
        </p:nvSpPr>
        <p:spPr>
          <a:xfrm>
            <a:off x="995361" y="1751584"/>
            <a:ext cx="10192299" cy="252000"/>
          </a:xfrm>
          <a:prstGeom prst="rect">
            <a:avLst/>
          </a:prstGeom>
          <a:solidFill>
            <a:srgbClr val="00338D"/>
          </a:solidFill>
          <a:ln w="12700">
            <a:solidFill>
              <a:srgbClr val="00338D"/>
            </a:solidFill>
            <a:prstDash val="solid"/>
          </a:ln>
        </p:spPr>
      </p:sp>
      <p:sp>
        <p:nvSpPr>
          <p:cNvPr id="5" name="Text 3"/>
          <p:cNvSpPr/>
          <p:nvPr/>
        </p:nvSpPr>
        <p:spPr>
          <a:xfrm>
            <a:off x="1068513" y="1769872"/>
            <a:ext cx="10045995" cy="252000"/>
          </a:xfrm>
          <a:prstGeom prst="rect">
            <a:avLst/>
          </a:prstGeom>
          <a:noFill/>
          <a:ln/>
        </p:spPr>
        <p:txBody>
          <a:bodyPr wrap="square" lIns="46800" tIns="72000" rIns="90000" bIns="46800" rtlCol="0" anchor="ctr"/>
          <a:lstStyle/>
          <a:p>
            <a:pPr indent="0" marL="0">
              <a:buNone/>
            </a:pPr>
            <a:r>
              <a:rPr lang="en-US" sz="1000" b="1" dirty="0">
                <a:solidFill>
                  <a:srgbClr val="FFFFFF"/>
                </a:solidFill>
                <a:latin typeface="Arial" pitchFamily="34" charset="0"/>
                <a:ea typeface="Arial" pitchFamily="34" charset="-122"/>
                <a:cs typeface="Arial" pitchFamily="34" charset="-120"/>
              </a:rPr>
              <a:t>Decision bands for pricing</a:t>
            </a:r>
            <a:endParaRPr lang="en-US" sz="100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995361" y="3978688"/>
          <a:ext cx="5036400" cy="2197170"/>
        </p:xfrm>
        <a:graphic>
          <a:graphicData uri="http://schemas.openxmlformats.org/drawingml/2006/table">
            <a:tbl>
              <a:tblPr/>
              <a:tblGrid>
                <a:gridCol w="1401433"/>
                <a:gridCol w="832101"/>
                <a:gridCol w="1401433"/>
                <a:gridCol w="1401433"/>
              </a:tblGrid>
              <a:tr h="292608">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Scenario</a:t>
                      </a:r>
                      <a:endParaRPr lang="en-US" sz="800" dirty="0">
                        <a:latin typeface="Arial" charset="0"/>
                        <a:ea typeface="Arial" charset="0"/>
                        <a:cs typeface="Arial" charset="0"/>
                      </a:endParaRPr>
                    </a:p>
                  </a:txBody>
                  <a:tcPr marL="50800" marR="50800" marT="25400" marB="25400" anchor="ctr">
                    <a:lnL w="7620" cap="flat" cmpd="sng" algn="ctr">
                      <a:solidFill>
                        <a:srgbClr val="D9D9D9"/>
                      </a:solidFill>
                      <a:prstDash val="solid"/>
                      <a:round/>
                      <a:headEnd type="none" w="med" len="med"/>
                      <a:tailEnd type="none" w="med" len="med"/>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EBITDA ($M)</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Risk condition</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Bid posture</a:t>
                      </a:r>
                      <a:endParaRPr lang="en-US" sz="800" dirty="0">
                        <a:latin typeface="Arial" charset="0"/>
                        <a:ea typeface="Arial" charset="0"/>
                        <a:cs typeface="Arial" charset="0"/>
                      </a:endParaRPr>
                    </a:p>
                  </a:txBody>
                  <a:tcPr marL="50800" marR="50800" marT="25400" marB="25400" anchor="ctr">
                    <a:lnL w="0" cap="flat" cmpd="sng" algn="ctr">
                      <a:noFill/>
                    </a:lnL>
                    <a:lnR w="7620" cap="flat" cmpd="sng" algn="ctr">
                      <a:solidFill>
                        <a:srgbClr val="D9D9D9"/>
                      </a:solidFill>
                      <a:prstDash val="solid"/>
                      <a:round/>
                      <a:headEnd type="none" w="med" len="med"/>
                      <a:tailEnd type="none" w="med" len="med"/>
                    </a:lnR>
                    <a:lnT w="0" cap="flat" cmpd="sng" algn="ctr">
                      <a:noFill/>
                    </a:lnT>
                    <a:lnB w="12700" cap="flat" cmpd="sng" algn="ctr">
                      <a:solidFill>
                        <a:srgbClr val="00338D"/>
                      </a:solidFill>
                      <a:prstDash val="solid"/>
                      <a:round/>
                      <a:headEnd type="none" w="med" len="med"/>
                      <a:tailEnd type="none" w="med" len="med"/>
                    </a:lnB>
                    <a:solidFill>
                      <a:srgbClr val="1E49E2"/>
                    </a:solidFill>
                  </a:tcPr>
                </a:tc>
              </a:tr>
              <a:tr h="41757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Base</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96.7</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QoE evidence substantially closed</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Proceed at core range</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41757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Downside</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86.9</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Partial churn/policy drag realized</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Tighten price and terms</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9057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Severe</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77.1</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High churn + WC stress</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Reprice or defer</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r>
            </a:tbl>
          </a:graphicData>
        </a:graphic>
      </p:graphicFrame>
      <p:sp>
        <p:nvSpPr>
          <p:cNvPr id="7" name="Text 4"/>
          <p:cNvSpPr/>
          <p:nvPr/>
        </p:nvSpPr>
        <p:spPr>
          <a:xfrm>
            <a:off x="6159600" y="2058448"/>
            <a:ext cx="5033848" cy="1828800"/>
          </a:xfrm>
          <a:prstGeom prst="rect">
            <a:avLst/>
          </a:prstGeom>
          <a:noFill/>
          <a:ln/>
        </p:spPr>
        <p:txBody>
          <a:bodyPr wrap="square" lIns="46800" tIns="72000" rIns="90000" bIns="46800" rtlCol="0" anchor="t"/>
          <a:lstStyle/>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Base case uses normalized EBITDA of $96.7M with continued margin stability and improving cash conversion discipline.</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Downside case incorporates partial churn realization and selected policy adjustments, reducing EBITDA into the high-$80M range.</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Severe case applies deeper churn and working-capital stress, lowering EBITDA near $77M and pressuring return thresholds.</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Bid structure should link price realization to evidence closure and realized retention quality.</a:t>
            </a:r>
            <a:endParaRPr lang="en-US" sz="1000" dirty="0"/>
          </a:p>
        </p:txBody>
      </p:sp>
      <p:graphicFrame>
        <p:nvGraphicFramePr>
          <p:cNvPr id="8" name="Chart 0" descr=""/>
          <p:cNvGraphicFramePr/>
          <p:nvPr/>
        </p:nvGraphicFramePr>
        <p:xfrm>
          <a:off x="995361" y="2058448"/>
          <a:ext cx="5036400" cy="1828800"/>
        </p:xfrm>
        <a:graphic xmlns:a="http://schemas.openxmlformats.org/drawingml/2006/main">
          <a:graphicData uri="http://schemas.openxmlformats.org/drawingml/2006/chart">
            <c:chart xmlns:c="http://schemas.openxmlformats.org/drawingml/2006/chart" r:id="rId1"/>
          </a:graphicData>
        </a:graphic>
      </p:graphicFrame>
      <p:sp>
        <p:nvSpPr>
          <p:cNvPr id="9" name="Text 5"/>
          <p:cNvSpPr/>
          <p:nvPr/>
        </p:nvSpPr>
        <p:spPr>
          <a:xfrm>
            <a:off x="995361" y="3932968"/>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bridge assumptions and benchmark context</a:t>
            </a:r>
            <a:endParaRPr lang="en-US" sz="600" dirty="0"/>
          </a:p>
        </p:txBody>
      </p:sp>
      <p:sp>
        <p:nvSpPr>
          <p:cNvPr id="10" name="Text 6"/>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28</a:t>
            </a:r>
            <a:endParaRPr lang="en-US" sz="8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998433" y="431780"/>
            <a:ext cx="10204338" cy="53337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IC decision framework and bid guardrails</a:t>
            </a:r>
            <a:endParaRPr lang="en-US" sz="3200" dirty="0"/>
          </a:p>
        </p:txBody>
      </p:sp>
      <p:sp>
        <p:nvSpPr>
          <p:cNvPr id="3" name="Text 1"/>
          <p:cNvSpPr/>
          <p:nvPr/>
        </p:nvSpPr>
        <p:spPr>
          <a:xfrm>
            <a:off x="998433" y="1179485"/>
            <a:ext cx="10204338" cy="482437"/>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The committee should convert diligence uncertainty into explicit pricing and term mechanics rather than absorbing it into narrative confidence.</a:t>
            </a:r>
            <a:endParaRPr lang="en-US" sz="1000" dirty="0"/>
          </a:p>
        </p:txBody>
      </p:sp>
      <p:sp>
        <p:nvSpPr>
          <p:cNvPr id="4" name="Text 2"/>
          <p:cNvSpPr/>
          <p:nvPr/>
        </p:nvSpPr>
        <p:spPr>
          <a:xfrm>
            <a:off x="998433" y="1716786"/>
            <a:ext cx="10204338" cy="4248760"/>
          </a:xfrm>
          <a:prstGeom prst="rect">
            <a:avLst/>
          </a:prstGeom>
          <a:noFill/>
          <a:ln/>
        </p:spPr>
        <p:txBody>
          <a:bodyPr wrap="square" lIns="46800" tIns="72000" rIns="90000" bIns="46800" rtlCol="0" anchor="t"/>
          <a:lstStyle/>
          <a:p>
            <a:pPr indent="0" marL="0">
              <a:spcAft>
                <a:spcPts val="600"/>
              </a:spcAft>
              <a:buNone/>
            </a:pPr>
            <a:r>
              <a:rPr lang="en-US" sz="1000" b="1" dirty="0">
                <a:solidFill>
                  <a:srgbClr val="00338D"/>
                </a:solidFill>
                <a:latin typeface="Arial" pitchFamily="34" charset="0"/>
                <a:ea typeface="Arial" pitchFamily="34" charset="-122"/>
                <a:cs typeface="Arial" pitchFamily="34" charset="-120"/>
              </a:rPr>
              <a:t>Proceed conditions</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Confirm customer retention evidence for top exposure accounts and secure documented treatment for policy-sensitive QoE items before final commitment.</a:t>
            </a:r>
            <a:endParaRPr lang="en-US" sz="1000" dirty="0"/>
          </a:p>
          <a:p>
            <a:pPr indent="0" marL="0">
              <a:spcAft>
                <a:spcPts val="600"/>
              </a:spcAft>
              <a:buNone/>
            </a:pPr>
            <a:r>
              <a:rPr lang="en-US" sz="1000" b="1" dirty="0">
                <a:solidFill>
                  <a:srgbClr val="00338D"/>
                </a:solidFill>
                <a:latin typeface="Arial" pitchFamily="34" charset="0"/>
                <a:ea typeface="Arial" pitchFamily="34" charset="-122"/>
                <a:cs typeface="Arial" pitchFamily="34" charset="-120"/>
              </a:rPr>
              <a:t>Pricing mechanics</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Anchor headline valuation to normalized earnings, apply downside scenario discounting, and reserve upside participation for verified recurring conversion.</a:t>
            </a:r>
            <a:endParaRPr lang="en-US" sz="1000" dirty="0"/>
          </a:p>
          <a:p>
            <a:pPr indent="0" marL="0">
              <a:spcAft>
                <a:spcPts val="600"/>
              </a:spcAft>
              <a:buNone/>
            </a:pPr>
            <a:r>
              <a:rPr lang="en-US" sz="1000" b="1" dirty="0">
                <a:solidFill>
                  <a:srgbClr val="00338D"/>
                </a:solidFill>
                <a:latin typeface="Arial" pitchFamily="34" charset="0"/>
                <a:ea typeface="Arial" pitchFamily="34" charset="-122"/>
                <a:cs typeface="Arial" pitchFamily="34" charset="-120"/>
              </a:rPr>
              <a:t>Term protections</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Incorporate working-capital true-up discipline, targeted indemnities, and potential contingent value features linked to retention outcomes.</a:t>
            </a:r>
            <a:endParaRPr lang="en-US" sz="1000" dirty="0"/>
          </a:p>
          <a:p>
            <a:pPr indent="0" marL="0">
              <a:spcAft>
                <a:spcPts val="600"/>
              </a:spcAft>
              <a:buNone/>
            </a:pPr>
            <a:r>
              <a:rPr lang="en-US" sz="1000" b="1" dirty="0">
                <a:solidFill>
                  <a:srgbClr val="00338D"/>
                </a:solidFill>
                <a:latin typeface="Arial" pitchFamily="34" charset="0"/>
                <a:ea typeface="Arial" pitchFamily="34" charset="-122"/>
                <a:cs typeface="Arial" pitchFamily="34" charset="-120"/>
              </a:rPr>
              <a:t>Decision rule</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Advance only when downside tolerance, evidence quality, and return thresholds align under the same scenario set.</a:t>
            </a:r>
            <a:endParaRPr lang="en-US" sz="1000" dirty="0"/>
          </a:p>
        </p:txBody>
      </p:sp>
      <p:sp>
        <p:nvSpPr>
          <p:cNvPr id="5" name="Text 3"/>
          <p:cNvSpPr/>
          <p:nvPr/>
        </p:nvSpPr>
        <p:spPr>
          <a:xfrm>
            <a:off x="998433" y="5992978"/>
            <a:ext cx="10204338" cy="182880"/>
          </a:xfrm>
          <a:prstGeom prst="rect">
            <a:avLst/>
          </a:prstGeom>
          <a:noFill/>
          <a:ln/>
        </p:spPr>
        <p:txBody>
          <a:bodyPr wrap="square" lIns="46800" tIns="72000" rIns="90000" bIns="46800" rtlCol="0" anchor="t"/>
          <a:lstStyle/>
          <a:p>
            <a:pPr indent="0" marL="0">
              <a:buNone/>
            </a:pPr>
            <a:r>
              <a:rPr lang="en-US" sz="600" i="1" dirty="0">
                <a:solidFill>
                  <a:srgbClr val="00338D"/>
                </a:solidFill>
                <a:latin typeface="Arial" pitchFamily="34" charset="0"/>
                <a:ea typeface="Arial" pitchFamily="34" charset="-122"/>
                <a:cs typeface="Arial" pitchFamily="34" charset="-120"/>
              </a:rPr>
              <a:t>Source: consolidated IC assessment</a:t>
            </a:r>
            <a:endParaRPr lang="en-US" sz="600" dirty="0"/>
          </a:p>
        </p:txBody>
      </p:sp>
      <p:sp>
        <p:nvSpPr>
          <p:cNvPr id="6"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29</a:t>
            </a:r>
            <a:endParaRPr lang="en-US" sz="8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1289860" y="1140069"/>
            <a:ext cx="1082675" cy="812530"/>
          </a:xfrm>
          <a:prstGeom prst="rect">
            <a:avLst/>
          </a:prstGeom>
          <a:noFill/>
          <a:ln/>
        </p:spPr>
        <p:txBody>
          <a:bodyPr wrap="square" lIns="46800" tIns="72000" rIns="90000" bIns="46800" rtlCol="0" anchor="t"/>
          <a:lstStyle/>
          <a:p>
            <a:pPr algn="l" indent="0" marL="0">
              <a:buNone/>
            </a:pPr>
            <a:r>
              <a:rPr lang="en-US" sz="4800" b="1" dirty="0">
                <a:solidFill>
                  <a:srgbClr val="FFFFFF"/>
                </a:solidFill>
                <a:latin typeface="Arial" pitchFamily="34" charset="0"/>
                <a:ea typeface="Arial" pitchFamily="34" charset="-122"/>
                <a:cs typeface="Arial" pitchFamily="34" charset="-120"/>
              </a:rPr>
              <a:t>07</a:t>
            </a:r>
            <a:endParaRPr lang="en-US" sz="4800" dirty="0"/>
          </a:p>
        </p:txBody>
      </p:sp>
      <p:sp>
        <p:nvSpPr>
          <p:cNvPr id="3" name="Text 1"/>
          <p:cNvSpPr/>
          <p:nvPr/>
        </p:nvSpPr>
        <p:spPr>
          <a:xfrm>
            <a:off x="1289861" y="2180877"/>
            <a:ext cx="6321425" cy="696782"/>
          </a:xfrm>
          <a:prstGeom prst="rect">
            <a:avLst/>
          </a:prstGeom>
          <a:noFill/>
          <a:ln/>
        </p:spPr>
        <p:txBody>
          <a:bodyPr wrap="square" lIns="46800" tIns="72000" rIns="90000" bIns="46800" rtlCol="0" anchor="t"/>
          <a:lstStyle/>
          <a:p>
            <a:pPr algn="l" indent="0" marL="0">
              <a:buNone/>
            </a:pPr>
            <a:r>
              <a:rPr lang="en-US" sz="2400" b="1" dirty="0">
                <a:solidFill>
                  <a:srgbClr val="FFFFFF"/>
                </a:solidFill>
                <a:latin typeface="Arial" pitchFamily="34" charset="0"/>
                <a:ea typeface="Arial" pitchFamily="34" charset="-122"/>
                <a:cs typeface="Arial" pitchFamily="34" charset="-120"/>
              </a:rPr>
              <a:t>Appendix</a:t>
            </a:r>
            <a:endParaRPr lang="en-US" sz="24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998400" y="431800"/>
            <a:ext cx="10195200" cy="53340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Source index and coverage by workstream</a:t>
            </a:r>
            <a:endParaRPr lang="en-US" sz="3200" dirty="0"/>
          </a:p>
        </p:txBody>
      </p:sp>
      <p:sp>
        <p:nvSpPr>
          <p:cNvPr id="3" name="Text 1"/>
          <p:cNvSpPr/>
          <p:nvPr/>
        </p:nvSpPr>
        <p:spPr>
          <a:xfrm>
            <a:off x="995361" y="1179513"/>
            <a:ext cx="10195200" cy="482400"/>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Primary claims in this deck map directly to provided data-room and SEC benchmark files to preserve evidentiary traceability for IC review.</a:t>
            </a:r>
            <a:endParaRPr lang="en-US" sz="1000" dirty="0"/>
          </a:p>
        </p:txBody>
      </p:sp>
      <p:sp>
        <p:nvSpPr>
          <p:cNvPr id="4" name="Shape 2"/>
          <p:cNvSpPr/>
          <p:nvPr/>
        </p:nvSpPr>
        <p:spPr>
          <a:xfrm>
            <a:off x="995361" y="1751579"/>
            <a:ext cx="5036396" cy="219456"/>
          </a:xfrm>
          <a:prstGeom prst="rect">
            <a:avLst/>
          </a:prstGeom>
          <a:solidFill>
            <a:srgbClr val="00338D"/>
          </a:solidFill>
          <a:ln w="12700">
            <a:solidFill>
              <a:srgbClr val="00338D">
                <a:alpha val="0"/>
              </a:srgbClr>
            </a:solidFill>
            <a:prstDash val="solid"/>
          </a:ln>
        </p:spPr>
      </p:sp>
      <p:sp>
        <p:nvSpPr>
          <p:cNvPr id="5" name="Text 3"/>
          <p:cNvSpPr/>
          <p:nvPr/>
        </p:nvSpPr>
        <p:spPr>
          <a:xfrm>
            <a:off x="1050225" y="1765295"/>
            <a:ext cx="4926668" cy="201168"/>
          </a:xfrm>
          <a:prstGeom prst="rect">
            <a:avLst/>
          </a:prstGeom>
          <a:noFill/>
          <a:ln/>
        </p:spPr>
        <p:txBody>
          <a:bodyPr wrap="square" lIns="0" tIns="0" rIns="0" bIns="0" rtlCol="0" anchor="ctr"/>
          <a:lstStyle/>
          <a:p>
            <a:pPr indent="0" marL="0">
              <a:buNone/>
            </a:pPr>
            <a:r>
              <a:rPr lang="en-US" sz="900" b="1" dirty="0">
                <a:solidFill>
                  <a:srgbClr val="FFFFFF"/>
                </a:solidFill>
                <a:latin typeface="Arial" pitchFamily="34" charset="0"/>
                <a:ea typeface="Arial" pitchFamily="34" charset="-122"/>
                <a:cs typeface="Arial" pitchFamily="34" charset="-120"/>
              </a:rPr>
              <a:t>Source index and coverage by workstream</a:t>
            </a:r>
            <a:endParaRPr lang="en-US" sz="900" dirty="0"/>
          </a:p>
        </p:txBody>
      </p:sp>
      <p:sp>
        <p:nvSpPr>
          <p:cNvPr id="6" name="Shape 4"/>
          <p:cNvSpPr/>
          <p:nvPr/>
        </p:nvSpPr>
        <p:spPr>
          <a:xfrm>
            <a:off x="995361" y="1971035"/>
            <a:ext cx="5036396" cy="0"/>
          </a:xfrm>
          <a:prstGeom prst="line">
            <a:avLst/>
          </a:prstGeom>
          <a:noFill/>
          <a:ln w="12700">
            <a:solidFill>
              <a:srgbClr val="00338D"/>
            </a:solidFill>
            <a:prstDash val="solid"/>
          </a:ln>
        </p:spPr>
      </p:sp>
      <p:graphicFrame>
        <p:nvGraphicFramePr>
          <p:cNvPr id="39" name="Table 0"/>
          <p:cNvGraphicFramePr>
            <a:graphicFrameLocks noGrp="1"/>
          </p:cNvGraphicFramePr>
          <p:nvPr>
            <p:extLst>
              <p:ext uri="{D42A27DB-BD31-4B8C-83A1-F6EECF244321}">
                <p14:modId xmlns:p14="http://schemas.microsoft.com/office/powerpoint/2010/main" val="1579011935"/>
              </p:ext>
            </p:extLst>
          </p:nvPr>
        </p:nvGraphicFramePr>
        <p:xfrm>
          <a:off x="995361" y="1989323"/>
          <a:ext cx="5036396" cy="3884252"/>
        </p:xfrm>
        <a:graphic>
          <a:graphicData uri="http://schemas.openxmlformats.org/drawingml/2006/table">
            <a:tbl>
              <a:tblPr/>
              <a:tblGrid>
                <a:gridCol w="1595437"/>
                <a:gridCol w="1720479"/>
                <a:gridCol w="1720479"/>
              </a:tblGrid>
              <a:tr h="292608">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Workstream</a:t>
                      </a:r>
                      <a:endParaRPr lang="en-US" sz="800" dirty="0">
                        <a:latin typeface="Arial" charset="0"/>
                        <a:ea typeface="Arial" charset="0"/>
                        <a:cs typeface="Arial" charset="0"/>
                      </a:endParaRPr>
                    </a:p>
                  </a:txBody>
                  <a:tcPr marL="50800" marR="50800" marT="25400" marB="25400" anchor="ctr">
                    <a:lnL w="7620" cap="flat" cmpd="sng" algn="ctr">
                      <a:solidFill>
                        <a:srgbClr val="D9D9D9"/>
                      </a:solidFill>
                      <a:prstDash val="solid"/>
                      <a:round/>
                      <a:headEnd type="none" w="med" len="med"/>
                      <a:tailEnd type="none" w="med" len="med"/>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Primary files used</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Coverage purpose</a:t>
                      </a:r>
                      <a:endParaRPr lang="en-US" sz="800" dirty="0">
                        <a:latin typeface="Arial" charset="0"/>
                        <a:ea typeface="Arial" charset="0"/>
                        <a:cs typeface="Arial" charset="0"/>
                      </a:endParaRPr>
                    </a:p>
                  </a:txBody>
                  <a:tcPr marL="50800" marR="50800" marT="25400" marB="25400" anchor="ctr">
                    <a:lnL w="0" cap="flat" cmpd="sng" algn="ctr">
                      <a:noFill/>
                    </a:lnL>
                    <a:lnR w="7620" cap="flat" cmpd="sng" algn="ctr">
                      <a:solidFill>
                        <a:srgbClr val="D9D9D9"/>
                      </a:solidFill>
                      <a:prstDash val="solid"/>
                      <a:round/>
                      <a:headEnd type="none" w="med" len="med"/>
                      <a:tailEnd type="none" w="med" len="med"/>
                    </a:lnR>
                    <a:lnT w="0" cap="flat" cmpd="sng" algn="ctr">
                      <a:noFill/>
                    </a:lnT>
                    <a:lnB w="12700" cap="flat" cmpd="sng" algn="ctr">
                      <a:solidFill>
                        <a:srgbClr val="00338D"/>
                      </a:solidFill>
                      <a:prstDash val="solid"/>
                      <a:round/>
                      <a:headEnd type="none" w="med" len="med"/>
                      <a:tailEnd type="none" w="med" len="med"/>
                    </a:lnB>
                    <a:solidFill>
                      <a:srgbClr val="1E49E2"/>
                    </a:solidFill>
                  </a:tcPr>
                </a:tc>
              </a:tr>
              <a:tr h="41757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Commercial and footprint</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store_master.xlsx; company_seed.json</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Store scale, opening pace, event history</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41757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Financial performance</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income_statement.xlsx; fixed_assets.xlsx</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Revenue, margin, EBITDA bridge inputs</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41757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Cash and WC</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cash_flow.xlsx; nwc_schedule.xlsx</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Conversion and working-capital intensity</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9057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Aging diagnostics</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ar_aging.xlsx; ap_aging.xlsx</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Collections and payables quality</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41757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Organization</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department_summary.xlsx; tenure_analysis.xlsx</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Headcount composition and capability depth</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9057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Benchmark overlay</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sec/SBUX/annual_metrics.csv</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Scale and margin context</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r>
            </a:tbl>
          </a:graphicData>
        </a:graphic>
      </p:graphicFrame>
      <p:sp>
        <p:nvSpPr>
          <p:cNvPr id="8" name="Text 5"/>
          <p:cNvSpPr/>
          <p:nvPr/>
        </p:nvSpPr>
        <p:spPr>
          <a:xfrm>
            <a:off x="6159600" y="1751579"/>
            <a:ext cx="5036396" cy="251999"/>
          </a:xfrm>
          <a:prstGeom prst="rect">
            <a:avLst/>
          </a:prstGeom>
          <a:noFill/>
          <a:ln/>
        </p:spPr>
        <p:txBody>
          <a:bodyPr wrap="square" lIns="46800" tIns="72000" rIns="90000" bIns="46800" rtlCol="0" anchor="t"/>
          <a:lstStyle/>
          <a:p>
            <a:pPr indent="0" marL="0">
              <a:buNone/>
            </a:pPr>
            <a:r>
              <a:rPr lang="en-US" sz="1000" b="1" dirty="0">
                <a:solidFill>
                  <a:srgbClr val="00338D"/>
                </a:solidFill>
                <a:latin typeface="Arial" pitchFamily="34" charset="0"/>
                <a:ea typeface="Arial" pitchFamily="34" charset="-122"/>
                <a:cs typeface="Arial" pitchFamily="34" charset="-120"/>
              </a:rPr>
              <a:t>Coverage map</a:t>
            </a:r>
            <a:endParaRPr lang="en-US" sz="1000" dirty="0"/>
          </a:p>
        </p:txBody>
      </p:sp>
      <p:sp>
        <p:nvSpPr>
          <p:cNvPr id="9" name="Text 6"/>
          <p:cNvSpPr/>
          <p:nvPr/>
        </p:nvSpPr>
        <p:spPr>
          <a:xfrm>
            <a:off x="6159600" y="2003588"/>
            <a:ext cx="5036396" cy="3869997"/>
          </a:xfrm>
          <a:prstGeom prst="rect">
            <a:avLst/>
          </a:prstGeom>
          <a:noFill/>
          <a:ln/>
        </p:spPr>
        <p:txBody>
          <a:bodyPr wrap="square" lIns="46800" tIns="72000" rIns="90000" bIns="46800" rtlCol="0" anchor="t"/>
          <a:lstStyle/>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All quantitative claims in the core deck are tied to explicit source files, supporting fast verification during committee challenge sessions.</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Where values are scenario-derived, the deck labels them as modeled assumptions rather than historical facts.</a:t>
            </a:r>
            <a:endParaRPr lang="en-US" sz="1000" dirty="0"/>
          </a:p>
        </p:txBody>
      </p:sp>
      <p:sp>
        <p:nvSpPr>
          <p:cNvPr id="10" name="Text 7"/>
          <p:cNvSpPr/>
          <p:nvPr/>
        </p:nvSpPr>
        <p:spPr>
          <a:xfrm>
            <a:off x="995361" y="6010735"/>
            <a:ext cx="5036396" cy="165122"/>
          </a:xfrm>
          <a:prstGeom prst="rect">
            <a:avLst/>
          </a:prstGeom>
          <a:noFill/>
          <a:ln/>
        </p:spPr>
        <p:txBody>
          <a:bodyPr wrap="square" rtlCol="0" anchor="t"/>
          <a:lstStyle/>
          <a:p>
            <a:pPr indent="0" marL="0">
              <a:buNone/>
            </a:pPr>
            <a:r>
              <a:rPr lang="en-US" sz="600" i="1" dirty="0">
                <a:solidFill>
                  <a:srgbClr val="333333"/>
                </a:solidFill>
                <a:latin typeface="Arial" pitchFamily="34" charset="0"/>
                <a:ea typeface="Arial" pitchFamily="34" charset="-122"/>
                <a:cs typeface="Arial" pitchFamily="34" charset="-120"/>
              </a:rPr>
              <a:t>Source: data room manifest and SBUX annual metrics extract</a:t>
            </a:r>
            <a:endParaRPr lang="en-US" sz="600" dirty="0"/>
          </a:p>
        </p:txBody>
      </p:sp>
      <p:sp>
        <p:nvSpPr>
          <p:cNvPr id="11" name="Text 8"/>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30</a:t>
            </a:r>
            <a:endParaRPr lang="en-US" sz="8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998400" y="431800"/>
            <a:ext cx="10195200" cy="53340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QoE issues and diligence closure status</a:t>
            </a:r>
            <a:endParaRPr lang="en-US" sz="3200" dirty="0"/>
          </a:p>
        </p:txBody>
      </p:sp>
      <p:sp>
        <p:nvSpPr>
          <p:cNvPr id="3" name="Text 1"/>
          <p:cNvSpPr/>
          <p:nvPr/>
        </p:nvSpPr>
        <p:spPr>
          <a:xfrm>
            <a:off x="995361" y="1179513"/>
            <a:ext cx="10195200" cy="482400"/>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Issue tracking converts uncertainty into executable diligence actions, helping the committee separate decision-critical open items from monitorable residual risk.</a:t>
            </a:r>
            <a:endParaRPr lang="en-US" sz="1000" dirty="0"/>
          </a:p>
        </p:txBody>
      </p:sp>
      <p:sp>
        <p:nvSpPr>
          <p:cNvPr id="4" name="Shape 2"/>
          <p:cNvSpPr/>
          <p:nvPr/>
        </p:nvSpPr>
        <p:spPr>
          <a:xfrm>
            <a:off x="995361" y="1751579"/>
            <a:ext cx="5036396" cy="219456"/>
          </a:xfrm>
          <a:prstGeom prst="rect">
            <a:avLst/>
          </a:prstGeom>
          <a:solidFill>
            <a:srgbClr val="00338D"/>
          </a:solidFill>
          <a:ln w="12700">
            <a:solidFill>
              <a:srgbClr val="00338D">
                <a:alpha val="0"/>
              </a:srgbClr>
            </a:solidFill>
            <a:prstDash val="solid"/>
          </a:ln>
        </p:spPr>
      </p:sp>
      <p:sp>
        <p:nvSpPr>
          <p:cNvPr id="5" name="Text 3"/>
          <p:cNvSpPr/>
          <p:nvPr/>
        </p:nvSpPr>
        <p:spPr>
          <a:xfrm>
            <a:off x="1050225" y="1765295"/>
            <a:ext cx="4926668" cy="201168"/>
          </a:xfrm>
          <a:prstGeom prst="rect">
            <a:avLst/>
          </a:prstGeom>
          <a:noFill/>
          <a:ln/>
        </p:spPr>
        <p:txBody>
          <a:bodyPr wrap="square" lIns="0" tIns="0" rIns="0" bIns="0" rtlCol="0" anchor="ctr"/>
          <a:lstStyle/>
          <a:p>
            <a:pPr indent="0" marL="0">
              <a:buNone/>
            </a:pPr>
            <a:r>
              <a:rPr lang="en-US" sz="900" b="1" dirty="0">
                <a:solidFill>
                  <a:srgbClr val="FFFFFF"/>
                </a:solidFill>
                <a:latin typeface="Arial" pitchFamily="34" charset="0"/>
                <a:ea typeface="Arial" pitchFamily="34" charset="-122"/>
                <a:cs typeface="Arial" pitchFamily="34" charset="-120"/>
              </a:rPr>
              <a:t>QoE issues and diligence closure status</a:t>
            </a:r>
            <a:endParaRPr lang="en-US" sz="900" dirty="0"/>
          </a:p>
        </p:txBody>
      </p:sp>
      <p:sp>
        <p:nvSpPr>
          <p:cNvPr id="6" name="Shape 4"/>
          <p:cNvSpPr/>
          <p:nvPr/>
        </p:nvSpPr>
        <p:spPr>
          <a:xfrm>
            <a:off x="995361" y="1971035"/>
            <a:ext cx="5036396" cy="0"/>
          </a:xfrm>
          <a:prstGeom prst="line">
            <a:avLst/>
          </a:prstGeom>
          <a:noFill/>
          <a:ln w="12700">
            <a:solidFill>
              <a:srgbClr val="00338D"/>
            </a:solidFill>
            <a:prstDash val="solid"/>
          </a:ln>
        </p:spPr>
      </p:sp>
      <p:graphicFrame>
        <p:nvGraphicFramePr>
          <p:cNvPr id="40" name="Table 0"/>
          <p:cNvGraphicFramePr>
            <a:graphicFrameLocks noGrp="1"/>
          </p:cNvGraphicFramePr>
          <p:nvPr>
            <p:extLst>
              <p:ext uri="{D42A27DB-BD31-4B8C-83A1-F6EECF244321}">
                <p14:modId xmlns:p14="http://schemas.microsoft.com/office/powerpoint/2010/main" val="1579011935"/>
              </p:ext>
            </p:extLst>
          </p:nvPr>
        </p:nvGraphicFramePr>
        <p:xfrm>
          <a:off x="995361" y="1989323"/>
          <a:ext cx="5036396" cy="3884252"/>
        </p:xfrm>
        <a:graphic>
          <a:graphicData uri="http://schemas.openxmlformats.org/drawingml/2006/table">
            <a:tbl>
              <a:tblPr/>
              <a:tblGrid>
                <a:gridCol w="1259099"/>
                <a:gridCol w="1259099"/>
                <a:gridCol w="1259099"/>
                <a:gridCol w="1259099"/>
              </a:tblGrid>
              <a:tr h="292608">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Issue</a:t>
                      </a:r>
                      <a:endParaRPr lang="en-US" sz="800" dirty="0">
                        <a:latin typeface="Arial" charset="0"/>
                        <a:ea typeface="Arial" charset="0"/>
                        <a:cs typeface="Arial" charset="0"/>
                      </a:endParaRPr>
                    </a:p>
                  </a:txBody>
                  <a:tcPr marL="50800" marR="50800" marT="25400" marB="25400" anchor="ctr">
                    <a:lnL w="7620" cap="flat" cmpd="sng" algn="ctr">
                      <a:solidFill>
                        <a:srgbClr val="D9D9D9"/>
                      </a:solidFill>
                      <a:prstDash val="solid"/>
                      <a:round/>
                      <a:headEnd type="none" w="med" len="med"/>
                      <a:tailEnd type="none" w="med" len="med"/>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Category</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Quantification</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Status</a:t>
                      </a:r>
                      <a:endParaRPr lang="en-US" sz="800" dirty="0">
                        <a:latin typeface="Arial" charset="0"/>
                        <a:ea typeface="Arial" charset="0"/>
                        <a:cs typeface="Arial" charset="0"/>
                      </a:endParaRPr>
                    </a:p>
                  </a:txBody>
                  <a:tcPr marL="50800" marR="50800" marT="25400" marB="25400" anchor="ctr">
                    <a:lnL w="0" cap="flat" cmpd="sng" algn="ctr">
                      <a:noFill/>
                    </a:lnL>
                    <a:lnR w="7620" cap="flat" cmpd="sng" algn="ctr">
                      <a:solidFill>
                        <a:srgbClr val="D9D9D9"/>
                      </a:solidFill>
                      <a:prstDash val="solid"/>
                      <a:round/>
                      <a:headEnd type="none" w="med" len="med"/>
                      <a:tailEnd type="none" w="med" len="med"/>
                    </a:lnR>
                    <a:lnT w="0" cap="flat" cmpd="sng" algn="ctr">
                      <a:noFill/>
                    </a:lnT>
                    <a:lnB w="12700" cap="flat" cmpd="sng" algn="ctr">
                      <a:solidFill>
                        <a:srgbClr val="00338D"/>
                      </a:solidFill>
                      <a:prstDash val="solid"/>
                      <a:round/>
                      <a:headEnd type="none" w="med" len="med"/>
                      <a:tailEnd type="none" w="med" len="med"/>
                    </a:lnB>
                    <a:solidFill>
                      <a:srgbClr val="1E49E2"/>
                    </a:solidFill>
                  </a:tcPr>
                </a:tc>
              </a:tr>
              <a:tr h="41757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Insurance and restructuring events</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One-time events</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Net ($2.7M)</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Support package pending</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9057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Customer churn exposure</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Revenue risk</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($19.6M)</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Modeled in downside</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9057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Inventory reserve policy</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Potential adjustment</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TBD</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Quantification open</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41757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Gift card and loyalty timing</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Potential adjustment</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TBD</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Quantification open</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41757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Lease and shrinkage normalization</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Potential adjustment</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TBD</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Quantification open</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41757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Owner compensation and benefits</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Owner add-back</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TBD</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Benchmarking open</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41757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Related-party and personal spend</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Owner add-back</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TBD</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Support open</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r>
            </a:tbl>
          </a:graphicData>
        </a:graphic>
      </p:graphicFrame>
      <p:sp>
        <p:nvSpPr>
          <p:cNvPr id="8" name="Text 5"/>
          <p:cNvSpPr/>
          <p:nvPr/>
        </p:nvSpPr>
        <p:spPr>
          <a:xfrm>
            <a:off x="6159600" y="1751579"/>
            <a:ext cx="5036396" cy="251999"/>
          </a:xfrm>
          <a:prstGeom prst="rect">
            <a:avLst/>
          </a:prstGeom>
          <a:noFill/>
          <a:ln/>
        </p:spPr>
        <p:txBody>
          <a:bodyPr wrap="square" lIns="46800" tIns="72000" rIns="90000" bIns="46800" rtlCol="0" anchor="t"/>
          <a:lstStyle/>
          <a:p>
            <a:pPr indent="0" marL="0">
              <a:buNone/>
            </a:pPr>
            <a:r>
              <a:rPr lang="en-US" sz="1000" b="1" dirty="0">
                <a:solidFill>
                  <a:srgbClr val="00338D"/>
                </a:solidFill>
                <a:latin typeface="Arial" pitchFamily="34" charset="0"/>
                <a:ea typeface="Arial" pitchFamily="34" charset="-122"/>
                <a:cs typeface="Arial" pitchFamily="34" charset="-120"/>
              </a:rPr>
              <a:t>Issue log</a:t>
            </a:r>
            <a:endParaRPr lang="en-US" sz="1000" dirty="0"/>
          </a:p>
        </p:txBody>
      </p:sp>
      <p:sp>
        <p:nvSpPr>
          <p:cNvPr id="9" name="Text 6"/>
          <p:cNvSpPr/>
          <p:nvPr/>
        </p:nvSpPr>
        <p:spPr>
          <a:xfrm>
            <a:off x="6159600" y="2003588"/>
            <a:ext cx="5036396" cy="3869997"/>
          </a:xfrm>
          <a:prstGeom prst="rect">
            <a:avLst/>
          </a:prstGeom>
          <a:noFill/>
          <a:ln/>
        </p:spPr>
        <p:txBody>
          <a:bodyPr wrap="square" lIns="46800" tIns="72000" rIns="90000" bIns="46800" rtlCol="0" anchor="t"/>
          <a:lstStyle/>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The issue list is complete enough to support scenario-based decisioning now, but not yet complete enough for unconditional pricing confidence.</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Closing the top quantified items and at least two major unquantified policy areas should materially narrow valuation uncertainty.</a:t>
            </a:r>
            <a:endParaRPr lang="en-US" sz="1000" dirty="0"/>
          </a:p>
        </p:txBody>
      </p:sp>
      <p:sp>
        <p:nvSpPr>
          <p:cNvPr id="10" name="Text 7"/>
          <p:cNvSpPr/>
          <p:nvPr/>
        </p:nvSpPr>
        <p:spPr>
          <a:xfrm>
            <a:off x="995361" y="6010735"/>
            <a:ext cx="5036396" cy="165122"/>
          </a:xfrm>
          <a:prstGeom prst="rect">
            <a:avLst/>
          </a:prstGeom>
          <a:noFill/>
          <a:ln/>
        </p:spPr>
        <p:txBody>
          <a:bodyPr wrap="square" rtlCol="0" anchor="t"/>
          <a:lstStyle/>
          <a:p>
            <a:pPr indent="0" marL="0">
              <a:buNone/>
            </a:pPr>
            <a:r>
              <a:rPr lang="en-US" sz="600" i="1" dirty="0">
                <a:solidFill>
                  <a:srgbClr val="333333"/>
                </a:solidFill>
                <a:latin typeface="Arial" pitchFamily="34" charset="0"/>
                <a:ea typeface="Arial" pitchFamily="34" charset="-122"/>
                <a:cs typeface="Arial" pitchFamily="34" charset="-120"/>
              </a:rPr>
              <a:t>Source: verification_report.json</a:t>
            </a:r>
            <a:endParaRPr lang="en-US" sz="600" dirty="0"/>
          </a:p>
        </p:txBody>
      </p:sp>
      <p:sp>
        <p:nvSpPr>
          <p:cNvPr id="11" name="Text 8"/>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31</a:t>
            </a:r>
            <a:endParaRPr lang="en-US" sz="8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pic>
        <p:nvPicPr>
          <p:cNvPr id="2" name="Image 0" descr="KPMG logo">    </p:cNvPr>
          <p:cNvPicPr>
            <a:picLocks noChangeAspect="1"/>
          </p:cNvPicPr>
          <p:nvPr/>
        </p:nvPicPr>
        <p:blipFill>
          <a:blip r:embed="rId1"/>
          <a:stretch>
            <a:fillRect/>
          </a:stretch>
        </p:blipFill>
        <p:spPr>
          <a:xfrm>
            <a:off x="1001268" y="411480"/>
            <a:ext cx="1216152" cy="411480"/>
          </a:xfrm>
          <a:prstGeom prst="rect">
            <a:avLst/>
          </a:prstGeom>
        </p:spPr>
      </p:pic>
      <p:sp>
        <p:nvSpPr>
          <p:cNvPr id="3" name="Text 0"/>
          <p:cNvSpPr/>
          <p:nvPr/>
        </p:nvSpPr>
        <p:spPr>
          <a:xfrm>
            <a:off x="1001268" y="1014984"/>
            <a:ext cx="9372600" cy="960120"/>
          </a:xfrm>
          <a:prstGeom prst="rect">
            <a:avLst/>
          </a:prstGeom>
          <a:noFill/>
          <a:ln/>
        </p:spPr>
        <p:txBody>
          <a:bodyPr wrap="square" rtlCol="0" anchor="t"/>
          <a:lstStyle/>
          <a:p>
            <a:pPr indent="0" marL="0">
              <a:buNone/>
            </a:pPr>
            <a:r>
              <a:rPr lang="en-US" sz="3000" b="1" dirty="0">
                <a:solidFill>
                  <a:srgbClr val="FFFFFF"/>
                </a:solidFill>
                <a:latin typeface="Arial" pitchFamily="34" charset="0"/>
                <a:ea typeface="Arial" pitchFamily="34" charset="-122"/>
                <a:cs typeface="Arial" pitchFamily="34" charset="-120"/>
              </a:rPr>
              <a:t>The contacts at KPMG in connection with this report are:</a:t>
            </a:r>
            <a:endParaRPr lang="en-US" sz="3000" dirty="0"/>
          </a:p>
        </p:txBody>
      </p:sp>
      <p:sp>
        <p:nvSpPr>
          <p:cNvPr id="4" name="Text 1"/>
          <p:cNvSpPr/>
          <p:nvPr/>
        </p:nvSpPr>
        <p:spPr>
          <a:xfrm>
            <a:off x="1133856" y="2770632"/>
            <a:ext cx="2331720" cy="201168"/>
          </a:xfrm>
          <a:prstGeom prst="rect">
            <a:avLst/>
          </a:prstGeom>
          <a:noFill/>
          <a:ln/>
        </p:spPr>
        <p:txBody>
          <a:bodyPr wrap="square" lIns="0" tIns="0" rIns="0" bIns="0" rtlCol="0" anchor="t"/>
          <a:lstStyle/>
          <a:p>
            <a:pPr indent="0" marL="0">
              <a:buNone/>
            </a:pPr>
            <a:r>
              <a:rPr lang="en-US" sz="1300" b="1" dirty="0">
                <a:solidFill>
                  <a:srgbClr val="FFFFFF"/>
                </a:solidFill>
                <a:latin typeface="Arial" pitchFamily="34" charset="0"/>
                <a:ea typeface="Arial" pitchFamily="34" charset="-122"/>
                <a:cs typeface="Arial" pitchFamily="34" charset="-120"/>
              </a:rPr>
              <a:t>Firstname Lastname</a:t>
            </a:r>
            <a:endParaRPr lang="en-US" sz="1300" dirty="0"/>
          </a:p>
        </p:txBody>
      </p:sp>
      <p:sp>
        <p:nvSpPr>
          <p:cNvPr id="5" name="Text 2"/>
          <p:cNvSpPr/>
          <p:nvPr/>
        </p:nvSpPr>
        <p:spPr>
          <a:xfrm>
            <a:off x="1133856" y="3026664"/>
            <a:ext cx="2331720" cy="676656"/>
          </a:xfrm>
          <a:prstGeom prst="rect">
            <a:avLst/>
          </a:prstGeom>
          <a:noFill/>
          <a:ln/>
        </p:spPr>
        <p:txBody>
          <a:bodyPr wrap="square" lIns="0" tIns="0" rIns="0" bIns="0" rtlCol="0" anchor="t"/>
          <a:lstStyle/>
          <a:p>
            <a:pPr indent="0" marL="0">
              <a:buNone/>
            </a:pPr>
            <a:r>
              <a:rPr lang="en-US" sz="1100" dirty="0">
                <a:solidFill>
                  <a:srgbClr val="FFFFFF"/>
                </a:solidFill>
                <a:latin typeface="Arial" pitchFamily="34" charset="0"/>
                <a:ea typeface="Arial" pitchFamily="34" charset="-122"/>
                <a:cs typeface="Arial" pitchFamily="34" charset="-120"/>
              </a:rPr>
              <a:t>Job Title</a:t>
            </a:r>
            <a:endParaRPr lang="en-US" sz="1100" dirty="0"/>
          </a:p>
          <a:p>
            <a:pPr indent="0" marL="0">
              <a:buNone/>
            </a:pPr>
            <a:r>
              <a:rPr lang="en-US" sz="1100" dirty="0">
                <a:solidFill>
                  <a:srgbClr val="FFFFFF"/>
                </a:solidFill>
                <a:latin typeface="Arial" pitchFamily="34" charset="0"/>
                <a:ea typeface="Arial" pitchFamily="34" charset="-122"/>
                <a:cs typeface="Arial" pitchFamily="34" charset="-120"/>
              </a:rPr>
              <a:t>T: +1 000 000 0001</a:t>
            </a:r>
            <a:endParaRPr lang="en-US" sz="1100" dirty="0"/>
          </a:p>
          <a:p>
            <a:pPr indent="0" marL="0">
              <a:buNone/>
            </a:pPr>
            <a:r>
              <a:rPr lang="en-US" sz="1100" dirty="0">
                <a:solidFill>
                  <a:srgbClr val="FFFFFF"/>
                </a:solidFill>
                <a:latin typeface="Arial" pitchFamily="34" charset="0"/>
                <a:ea typeface="Arial" pitchFamily="34" charset="-122"/>
                <a:cs typeface="Arial" pitchFamily="34" charset="-120"/>
              </a:rPr>
              <a:t>E: firstname.lastname@kpmg.ca</a:t>
            </a:r>
            <a:endParaRPr lang="en-US" sz="1100" dirty="0"/>
          </a:p>
        </p:txBody>
      </p:sp>
      <p:sp>
        <p:nvSpPr>
          <p:cNvPr id="6" name="Text 3"/>
          <p:cNvSpPr/>
          <p:nvPr/>
        </p:nvSpPr>
        <p:spPr>
          <a:xfrm>
            <a:off x="3465576" y="2770632"/>
            <a:ext cx="2331720" cy="201168"/>
          </a:xfrm>
          <a:prstGeom prst="rect">
            <a:avLst/>
          </a:prstGeom>
          <a:noFill/>
          <a:ln/>
        </p:spPr>
        <p:txBody>
          <a:bodyPr wrap="square" lIns="0" tIns="0" rIns="0" bIns="0" rtlCol="0" anchor="t"/>
          <a:lstStyle/>
          <a:p>
            <a:pPr indent="0" marL="0">
              <a:buNone/>
            </a:pPr>
            <a:r>
              <a:rPr lang="en-US" sz="1300" b="1" dirty="0">
                <a:solidFill>
                  <a:srgbClr val="FFFFFF"/>
                </a:solidFill>
                <a:latin typeface="Arial" pitchFamily="34" charset="0"/>
                <a:ea typeface="Arial" pitchFamily="34" charset="-122"/>
                <a:cs typeface="Arial" pitchFamily="34" charset="-120"/>
              </a:rPr>
              <a:t>Firstname Lastname</a:t>
            </a:r>
            <a:endParaRPr lang="en-US" sz="1300" dirty="0"/>
          </a:p>
        </p:txBody>
      </p:sp>
      <p:sp>
        <p:nvSpPr>
          <p:cNvPr id="7" name="Text 4"/>
          <p:cNvSpPr/>
          <p:nvPr/>
        </p:nvSpPr>
        <p:spPr>
          <a:xfrm>
            <a:off x="3465576" y="3026664"/>
            <a:ext cx="2331720" cy="676656"/>
          </a:xfrm>
          <a:prstGeom prst="rect">
            <a:avLst/>
          </a:prstGeom>
          <a:noFill/>
          <a:ln/>
        </p:spPr>
        <p:txBody>
          <a:bodyPr wrap="square" lIns="0" tIns="0" rIns="0" bIns="0" rtlCol="0" anchor="t"/>
          <a:lstStyle/>
          <a:p>
            <a:pPr indent="0" marL="0">
              <a:buNone/>
            </a:pPr>
            <a:r>
              <a:rPr lang="en-US" sz="1100" dirty="0">
                <a:solidFill>
                  <a:srgbClr val="FFFFFF"/>
                </a:solidFill>
                <a:latin typeface="Arial" pitchFamily="34" charset="0"/>
                <a:ea typeface="Arial" pitchFamily="34" charset="-122"/>
                <a:cs typeface="Arial" pitchFamily="34" charset="-120"/>
              </a:rPr>
              <a:t>Job Title</a:t>
            </a:r>
            <a:endParaRPr lang="en-US" sz="1100" dirty="0"/>
          </a:p>
          <a:p>
            <a:pPr indent="0" marL="0">
              <a:buNone/>
            </a:pPr>
            <a:r>
              <a:rPr lang="en-US" sz="1100" dirty="0">
                <a:solidFill>
                  <a:srgbClr val="FFFFFF"/>
                </a:solidFill>
                <a:latin typeface="Arial" pitchFamily="34" charset="0"/>
                <a:ea typeface="Arial" pitchFamily="34" charset="-122"/>
                <a:cs typeface="Arial" pitchFamily="34" charset="-120"/>
              </a:rPr>
              <a:t>T: +1 000 000 0002</a:t>
            </a:r>
            <a:endParaRPr lang="en-US" sz="1100" dirty="0"/>
          </a:p>
          <a:p>
            <a:pPr indent="0" marL="0">
              <a:buNone/>
            </a:pPr>
            <a:r>
              <a:rPr lang="en-US" sz="1100" dirty="0">
                <a:solidFill>
                  <a:srgbClr val="FFFFFF"/>
                </a:solidFill>
                <a:latin typeface="Arial" pitchFamily="34" charset="0"/>
                <a:ea typeface="Arial" pitchFamily="34" charset="-122"/>
                <a:cs typeface="Arial" pitchFamily="34" charset="-120"/>
              </a:rPr>
              <a:t>E: firstname.lastname@kpmg.ca</a:t>
            </a:r>
            <a:endParaRPr lang="en-US" sz="1100" dirty="0"/>
          </a:p>
        </p:txBody>
      </p:sp>
      <p:sp>
        <p:nvSpPr>
          <p:cNvPr id="8" name="Text 5"/>
          <p:cNvSpPr/>
          <p:nvPr/>
        </p:nvSpPr>
        <p:spPr>
          <a:xfrm>
            <a:off x="5797296" y="2770632"/>
            <a:ext cx="2331720" cy="201168"/>
          </a:xfrm>
          <a:prstGeom prst="rect">
            <a:avLst/>
          </a:prstGeom>
          <a:noFill/>
          <a:ln/>
        </p:spPr>
        <p:txBody>
          <a:bodyPr wrap="square" lIns="0" tIns="0" rIns="0" bIns="0" rtlCol="0" anchor="t"/>
          <a:lstStyle/>
          <a:p>
            <a:pPr indent="0" marL="0">
              <a:buNone/>
            </a:pPr>
            <a:r>
              <a:rPr lang="en-US" sz="1300" b="1" dirty="0">
                <a:solidFill>
                  <a:srgbClr val="FFFFFF"/>
                </a:solidFill>
                <a:latin typeface="Arial" pitchFamily="34" charset="0"/>
                <a:ea typeface="Arial" pitchFamily="34" charset="-122"/>
                <a:cs typeface="Arial" pitchFamily="34" charset="-120"/>
              </a:rPr>
              <a:t>Firstname Lastname</a:t>
            </a:r>
            <a:endParaRPr lang="en-US" sz="1300" dirty="0"/>
          </a:p>
        </p:txBody>
      </p:sp>
      <p:sp>
        <p:nvSpPr>
          <p:cNvPr id="9" name="Text 6"/>
          <p:cNvSpPr/>
          <p:nvPr/>
        </p:nvSpPr>
        <p:spPr>
          <a:xfrm>
            <a:off x="5797296" y="3026664"/>
            <a:ext cx="2331720" cy="676656"/>
          </a:xfrm>
          <a:prstGeom prst="rect">
            <a:avLst/>
          </a:prstGeom>
          <a:noFill/>
          <a:ln/>
        </p:spPr>
        <p:txBody>
          <a:bodyPr wrap="square" lIns="0" tIns="0" rIns="0" bIns="0" rtlCol="0" anchor="t"/>
          <a:lstStyle/>
          <a:p>
            <a:pPr indent="0" marL="0">
              <a:buNone/>
            </a:pPr>
            <a:r>
              <a:rPr lang="en-US" sz="1100" dirty="0">
                <a:solidFill>
                  <a:srgbClr val="FFFFFF"/>
                </a:solidFill>
                <a:latin typeface="Arial" pitchFamily="34" charset="0"/>
                <a:ea typeface="Arial" pitchFamily="34" charset="-122"/>
                <a:cs typeface="Arial" pitchFamily="34" charset="-120"/>
              </a:rPr>
              <a:t>Job Title</a:t>
            </a:r>
            <a:endParaRPr lang="en-US" sz="1100" dirty="0"/>
          </a:p>
          <a:p>
            <a:pPr indent="0" marL="0">
              <a:buNone/>
            </a:pPr>
            <a:r>
              <a:rPr lang="en-US" sz="1100" dirty="0">
                <a:solidFill>
                  <a:srgbClr val="FFFFFF"/>
                </a:solidFill>
                <a:latin typeface="Arial" pitchFamily="34" charset="0"/>
                <a:ea typeface="Arial" pitchFamily="34" charset="-122"/>
                <a:cs typeface="Arial" pitchFamily="34" charset="-120"/>
              </a:rPr>
              <a:t>T: +1 000 000 0003</a:t>
            </a:r>
            <a:endParaRPr lang="en-US" sz="1100" dirty="0"/>
          </a:p>
          <a:p>
            <a:pPr indent="0" marL="0">
              <a:buNone/>
            </a:pPr>
            <a:r>
              <a:rPr lang="en-US" sz="1100" dirty="0">
                <a:solidFill>
                  <a:srgbClr val="FFFFFF"/>
                </a:solidFill>
                <a:latin typeface="Arial" pitchFamily="34" charset="0"/>
                <a:ea typeface="Arial" pitchFamily="34" charset="-122"/>
                <a:cs typeface="Arial" pitchFamily="34" charset="-120"/>
              </a:rPr>
              <a:t>E: firstname.lastname@kpmg.ca</a:t>
            </a:r>
            <a:endParaRPr lang="en-US" sz="1100" dirty="0"/>
          </a:p>
        </p:txBody>
      </p:sp>
      <p:pic>
        <p:nvPicPr>
          <p:cNvPr id="10" name="Image 1" descr="Social icon">    </p:cNvPr>
          <p:cNvPicPr>
            <a:picLocks noChangeAspect="1"/>
          </p:cNvPicPr>
          <p:nvPr/>
        </p:nvPicPr>
        <p:blipFill>
          <a:blip r:embed="rId2"/>
          <a:stretch>
            <a:fillRect/>
          </a:stretch>
        </p:blipFill>
        <p:spPr>
          <a:xfrm>
            <a:off x="996696" y="5394960"/>
            <a:ext cx="329184" cy="329184"/>
          </a:xfrm>
          <a:prstGeom prst="rect">
            <a:avLst/>
          </a:prstGeom>
        </p:spPr>
      </p:pic>
      <p:pic>
        <p:nvPicPr>
          <p:cNvPr id="11" name="Image 2" descr="Social icon">    </p:cNvPr>
          <p:cNvPicPr>
            <a:picLocks noChangeAspect="1"/>
          </p:cNvPicPr>
          <p:nvPr/>
        </p:nvPicPr>
        <p:blipFill>
          <a:blip r:embed="rId3"/>
          <a:stretch>
            <a:fillRect/>
          </a:stretch>
        </p:blipFill>
        <p:spPr>
          <a:xfrm>
            <a:off x="1389888" y="5394960"/>
            <a:ext cx="329184" cy="329184"/>
          </a:xfrm>
          <a:prstGeom prst="rect">
            <a:avLst/>
          </a:prstGeom>
        </p:spPr>
      </p:pic>
      <p:pic>
        <p:nvPicPr>
          <p:cNvPr id="12" name="Image 3" descr="Social icon">    </p:cNvPr>
          <p:cNvPicPr>
            <a:picLocks noChangeAspect="1"/>
          </p:cNvPicPr>
          <p:nvPr/>
        </p:nvPicPr>
        <p:blipFill>
          <a:blip r:embed="rId4"/>
          <a:stretch>
            <a:fillRect/>
          </a:stretch>
        </p:blipFill>
        <p:spPr>
          <a:xfrm>
            <a:off x="1783080" y="5394960"/>
            <a:ext cx="329184" cy="329184"/>
          </a:xfrm>
          <a:prstGeom prst="rect">
            <a:avLst/>
          </a:prstGeom>
        </p:spPr>
      </p:pic>
      <p:pic>
        <p:nvPicPr>
          <p:cNvPr id="13" name="Image 4" descr="Social icon">    </p:cNvPr>
          <p:cNvPicPr>
            <a:picLocks noChangeAspect="1"/>
          </p:cNvPicPr>
          <p:nvPr/>
        </p:nvPicPr>
        <p:blipFill>
          <a:blip r:embed="rId5"/>
          <a:stretch>
            <a:fillRect/>
          </a:stretch>
        </p:blipFill>
        <p:spPr>
          <a:xfrm>
            <a:off x="2176272" y="5394960"/>
            <a:ext cx="329184" cy="329184"/>
          </a:xfrm>
          <a:prstGeom prst="rect">
            <a:avLst/>
          </a:prstGeom>
        </p:spPr>
      </p:pic>
      <p:pic>
        <p:nvPicPr>
          <p:cNvPr id="14" name="Image 5" descr="Social icon">    </p:cNvPr>
          <p:cNvPicPr>
            <a:picLocks noChangeAspect="1"/>
          </p:cNvPicPr>
          <p:nvPr/>
        </p:nvPicPr>
        <p:blipFill>
          <a:blip r:embed="rId6"/>
          <a:stretch>
            <a:fillRect/>
          </a:stretch>
        </p:blipFill>
        <p:spPr>
          <a:xfrm>
            <a:off x="2569464" y="5394960"/>
            <a:ext cx="329184" cy="329184"/>
          </a:xfrm>
          <a:prstGeom prst="rect">
            <a:avLst/>
          </a:prstGeom>
        </p:spPr>
      </p:pic>
      <p:sp>
        <p:nvSpPr>
          <p:cNvPr id="15" name="Text 7"/>
          <p:cNvSpPr/>
          <p:nvPr/>
        </p:nvSpPr>
        <p:spPr>
          <a:xfrm>
            <a:off x="996696" y="5897880"/>
            <a:ext cx="9738360" cy="384048"/>
          </a:xfrm>
          <a:prstGeom prst="rect">
            <a:avLst/>
          </a:prstGeom>
          <a:noFill/>
          <a:ln/>
        </p:spPr>
        <p:txBody>
          <a:bodyPr wrap="square" lIns="0" tIns="0" rIns="0" bIns="0" rtlCol="0" anchor="t"/>
          <a:lstStyle/>
          <a:p>
            <a:pPr indent="0" marL="0">
              <a:buNone/>
            </a:pPr>
            <a:r>
              <a:rPr lang="en-US" sz="900" dirty="0">
                <a:solidFill>
                  <a:srgbClr val="FFFFFF"/>
                </a:solidFill>
                <a:latin typeface="Arial" pitchFamily="34" charset="0"/>
                <a:ea typeface="Arial" pitchFamily="34" charset="-122"/>
                <a:cs typeface="Arial" pitchFamily="34" charset="-120"/>
              </a:rPr>
              <a:t>This material was prepared for discussion purposes and reflects analysis of the provided synthetic diligence data room and benchmark extracts. It does not constitute an audit opinion or investment advice. Distribution is restricted to authorized transaction stakeholders.</a:t>
            </a:r>
            <a:endParaRPr lang="en-US" sz="900" dirty="0"/>
          </a:p>
        </p:txBody>
      </p:sp>
      <p:sp>
        <p:nvSpPr>
          <p:cNvPr id="16" name="Text 8"/>
          <p:cNvSpPr/>
          <p:nvPr/>
        </p:nvSpPr>
        <p:spPr>
          <a:xfrm>
            <a:off x="996696" y="6327648"/>
            <a:ext cx="9601200" cy="182880"/>
          </a:xfrm>
          <a:prstGeom prst="rect">
            <a:avLst/>
          </a:prstGeom>
          <a:noFill/>
          <a:ln/>
        </p:spPr>
        <p:txBody>
          <a:bodyPr wrap="square" lIns="0" tIns="0" rIns="0" bIns="0" rtlCol="0" anchor="t"/>
          <a:lstStyle/>
          <a:p>
            <a:pPr indent="0" marL="0">
              <a:buNone/>
            </a:pPr>
            <a:r>
              <a:rPr lang="en-US" sz="800" dirty="0">
                <a:solidFill>
                  <a:srgbClr val="FFFFFF"/>
                </a:solidFill>
                <a:latin typeface="Arial" pitchFamily="34" charset="0"/>
                <a:ea typeface="Arial" pitchFamily="34" charset="-122"/>
                <a:cs typeface="Arial" pitchFamily="34" charset="-120"/>
              </a:rPr>
              <a:t>The KPMG name and logo are trademarks used under license by the independent member firms of the KPMG global organization.</a:t>
            </a:r>
            <a:endParaRPr lang="en-US" sz="800" dirty="0"/>
          </a:p>
        </p:txBody>
      </p:sp>
      <p:sp>
        <p:nvSpPr>
          <p:cNvPr id="17" name="Text 9"/>
          <p:cNvSpPr/>
          <p:nvPr/>
        </p:nvSpPr>
        <p:spPr>
          <a:xfrm>
            <a:off x="996696" y="6729984"/>
            <a:ext cx="3200400" cy="91440"/>
          </a:xfrm>
          <a:prstGeom prst="rect">
            <a:avLst/>
          </a:prstGeom>
          <a:noFill/>
          <a:ln/>
        </p:spPr>
        <p:txBody>
          <a:bodyPr wrap="square" lIns="0" tIns="0" rIns="0" bIns="0" rtlCol="0" anchor="ctr"/>
          <a:lstStyle/>
          <a:p>
            <a:pPr indent="0" marL="0">
              <a:buNone/>
            </a:pPr>
            <a:r>
              <a:rPr lang="en-US" sz="800" b="1" dirty="0">
                <a:solidFill>
                  <a:srgbClr val="FFFFFF"/>
                </a:solidFill>
                <a:latin typeface="Arial" pitchFamily="34" charset="0"/>
                <a:ea typeface="Arial" pitchFamily="34" charset="-122"/>
                <a:cs typeface="Arial" pitchFamily="34" charset="-120"/>
              </a:rPr>
              <a:t>Document Classification: KPMG Confidential</a:t>
            </a:r>
            <a:endParaRPr lang="en-US" sz="800" dirty="0"/>
          </a:p>
        </p:txBody>
      </p:sp>
      <p:sp>
        <p:nvSpPr>
          <p:cNvPr id="18" name="Text 10">
            <a:hlinkClick r:id="rId7" tooltip=""/>
          </p:cNvPr>
          <p:cNvSpPr/>
          <p:nvPr/>
        </p:nvSpPr>
        <p:spPr>
          <a:xfrm>
            <a:off x="996696" y="6565392"/>
            <a:ext cx="2103120" cy="146304"/>
          </a:xfrm>
          <a:prstGeom prst="rect">
            <a:avLst/>
          </a:prstGeom>
          <a:noFill/>
          <a:ln/>
        </p:spPr>
        <p:txBody>
          <a:bodyPr wrap="square" lIns="0" tIns="0" rIns="0" bIns="0" rtlCol="0" anchor="t"/>
          <a:lstStyle/>
          <a:p>
            <a:pPr indent="0" marL="0">
              <a:buNone/>
            </a:pPr>
            <a:r>
              <a:rPr lang="en-US" sz="1000" b="1" u="sng" dirty="0">
                <a:solidFill>
                  <a:srgbClr val="FFFFFF"/>
                </a:solidFill>
                <a:latin typeface="Arial" pitchFamily="34" charset="0"/>
                <a:ea typeface="Arial" pitchFamily="34" charset="-122"/>
                <a:cs typeface="Arial" pitchFamily="34" charset="-120"/>
                <a:hlinkClick r:id="rId7" invalidUrl="" action="" tgtFrame="" tooltip="" history="1" highlightClick="0" endSnd="0">
                  <a:extLst>
                    <a:ext uri="{A12FA001-AC4F-418D-AE19-62706E023703}">
                      <ahyp:hlinkClr xmlns:ahyp="http://schemas.microsoft.com/office/drawing/2018/hyperlinkcolor" val="tx"/>
                    </a:ext>
                  </a:extLst>
                </a:hlinkClick>
              </a:rPr>
              <a:t>kpmg.com</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40</Slides>
  <Notes>40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40</vt:i4>
      </vt:variant>
    </vt:vector>
  </HeadingPairs>
  <TitlesOfParts>
    <vt:vector size="4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vector>
  </TitlesOfParts>
  <Company>KPMG LLP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Johnson Stores IC Diligence Deck</dc:title>
  <dc:subject>Investment committee diligence review with benchmark overlay</dc:subject>
  <dc:creator>KPMG LLP</dc:creator>
  <cp:lastModifiedBy>KPMG LLP</cp:lastModifiedBy>
  <cp:revision>1</cp:revision>
  <dcterms:created xsi:type="dcterms:W3CDTF">2026-02-25T22:04:57Z</dcterms:created>
  <dcterms:modified xsi:type="dcterms:W3CDTF">2026-02-25T22:04:57Z</dcterms:modified>
</cp:coreProperties>
</file>