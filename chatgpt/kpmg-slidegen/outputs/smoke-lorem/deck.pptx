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3.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4.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charts/chart5.xml" ContentType="application/vnd.openxmlformats-officedocument.drawingml.chart+xml"/>
  <Override PartName="/ppt/slideMasters/slideMaster20.xml" ContentType="application/vnd.openxmlformats-officedocument.presentationml.slideMaster+xml"/>
  <Override PartName="/ppt/slides/slide20.xml" ContentType="application/vnd.openxmlformats-officedocument.presentationml.slide+xml"/>
  <Override PartName="/ppt/charts/chart6.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charts/chart7.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Revenue ($M)</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Sheet1!$B$2:$B$4</c:f>
              <c:numCache>
                <c:formatCode>General</c:formatCode>
                <c:ptCount val="3"/>
                <c:pt idx="0">
                  <c:v>182</c:v>
                </c:pt>
                <c:pt idx="1">
                  <c:v>264</c:v>
                </c:pt>
                <c:pt idx="2">
                  <c:v>347</c:v>
                </c:pt>
              </c:numCache>
            </c:numRef>
          </c:val>
        </c:ser>
        <c:ser>
          <c:idx val="1"/>
          <c:order val="1"/>
          <c:tx>
            <c:strRef>
              <c:f>Sheet1!$C$1</c:f>
              <c:strCache>
                <c:ptCount val="1"/>
                <c:pt idx="0">
                  <c:v>Adjusted EBITDA ($M)</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Sheet1!$A$2:$A$4</c:f>
              <c:multiLvlStrCache>
                <c:ptCount val="3"/>
                <c:lvl>
                  <c:pt idx="0">
                    <c:v>FY2023</c:v>
                  </c:pt>
                  <c:pt idx="1">
                    <c:v>FY2024</c:v>
                  </c:pt>
                  <c:pt idx="2">
                    <c:v>FY2025</c:v>
                  </c:pt>
                </c:lvl>
              </c:multiLvlStrCache>
            </c:multiLvlStrRef>
          </c:cat>
          <c:val>
            <c:numRef>
              <c:f>Sheet1!$C$2:$C$4</c:f>
              <c:numCache>
                <c:formatCode>General</c:formatCode>
                <c:ptCount val="3"/>
                <c:pt idx="0">
                  <c:v>39</c:v>
                </c:pt>
                <c:pt idx="1">
                  <c:v>61</c:v>
                </c:pt>
                <c:pt idx="2">
                  <c:v>74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Reported EBITDA</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Sheet1!$A$2:$A$5</c:f>
              <c:multiLvlStrCache>
                <c:ptCount val="4"/>
                <c:lvl>
                  <c:pt idx="0">
                    <c:v>FY2023</c:v>
                  </c:pt>
                  <c:pt idx="1">
                    <c:v>FY2024</c:v>
                  </c:pt>
                  <c:pt idx="2">
                    <c:v>FY2025</c:v>
                  </c:pt>
                  <c:pt idx="3">
                    <c:v>LTM</c:v>
                  </c:pt>
                </c:lvl>
              </c:multiLvlStrCache>
            </c:multiLvlStrRef>
          </c:cat>
          <c:val>
            <c:numRef>
              <c:f>Sheet1!$B$2:$B$5</c:f>
              <c:numCache>
                <c:formatCode>General</c:formatCode>
                <c:ptCount val="4"/>
                <c:pt idx="0">
                  <c:v>39</c:v>
                </c:pt>
                <c:pt idx="1">
                  <c:v>61</c:v>
                </c:pt>
                <c:pt idx="2">
                  <c:v>70</c:v>
                </c:pt>
                <c:pt idx="3">
                  <c:v>72</c:v>
                </c:pt>
              </c:numCache>
            </c:numRef>
          </c:val>
          <c:smooth val="1"/>
        </c:ser>
        <c:ser>
          <c:idx val="1"/>
          <c:order val="1"/>
          <c:tx>
            <c:strRef>
              <c:f>Sheet1!$C$1</c:f>
              <c:strCache>
                <c:ptCount val="1"/>
                <c:pt idx="0">
                  <c:v>Normalized EBITDA</c:v>
                </c:pt>
              </c:strCache>
            </c:strRef>
          </c:tx>
          <c:spPr>
            <a:solidFill>
              <a:srgbClr val="1E49E2"/>
            </a:solidFill>
            <a:ln w="25400" cap="flat">
              <a:solidFill>
                <a:srgbClr val="1E49E2"/>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1E49E2"/>
              </a:solidFill>
              <a:ln w="9525" cap="flat">
                <a:solidFill>
                  <a:srgbClr val="1E49E2"/>
                </a:solidFill>
                <a:prstDash val="solid"/>
                <a:round/>
              </a:ln>
              <a:effectLst/>
            </c:spPr>
          </c:marker>
          <c:cat>
            <c:multiLvlStrRef>
              <c:f>Sheet1!$A$2:$A$5</c:f>
              <c:multiLvlStrCache>
                <c:ptCount val="4"/>
                <c:lvl>
                  <c:pt idx="0">
                    <c:v>FY2023</c:v>
                  </c:pt>
                  <c:pt idx="1">
                    <c:v>FY2024</c:v>
                  </c:pt>
                  <c:pt idx="2">
                    <c:v>FY2025</c:v>
                  </c:pt>
                  <c:pt idx="3">
                    <c:v>LTM</c:v>
                  </c:pt>
                </c:lvl>
              </c:multiLvlStrCache>
            </c:multiLvlStrRef>
          </c:cat>
          <c:val>
            <c:numRef>
              <c:f>Sheet1!$C$2:$C$5</c:f>
              <c:numCache>
                <c:formatCode>General</c:formatCode>
                <c:ptCount val="4"/>
                <c:pt idx="0">
                  <c:v>42</c:v>
                </c:pt>
                <c:pt idx="1">
                  <c:v>66</c:v>
                </c:pt>
                <c:pt idx="2">
                  <c:v>78</c:v>
                </c:pt>
                <c:pt idx="3">
                  <c:v>81</c:v>
                </c:pt>
              </c:numCache>
            </c:numRef>
          </c:val>
          <c:smooth val="1"/>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Reported EBITDA</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Sheet1!$A$2:$A$5</c:f>
              <c:multiLvlStrCache>
                <c:ptCount val="4"/>
                <c:lvl>
                  <c:pt idx="0">
                    <c:v>FY2023</c:v>
                  </c:pt>
                  <c:pt idx="1">
                    <c:v>FY2024</c:v>
                  </c:pt>
                  <c:pt idx="2">
                    <c:v>FY2025</c:v>
                  </c:pt>
                  <c:pt idx="3">
                    <c:v>LTM</c:v>
                  </c:pt>
                </c:lvl>
              </c:multiLvlStrCache>
            </c:multiLvlStrRef>
          </c:cat>
          <c:val>
            <c:numRef>
              <c:f>Sheet1!$B$2:$B$5</c:f>
              <c:numCache>
                <c:formatCode>General</c:formatCode>
                <c:ptCount val="4"/>
                <c:pt idx="0">
                  <c:v>39</c:v>
                </c:pt>
                <c:pt idx="1">
                  <c:v>61</c:v>
                </c:pt>
                <c:pt idx="2">
                  <c:v>70</c:v>
                </c:pt>
                <c:pt idx="3">
                  <c:v>72</c:v>
                </c:pt>
              </c:numCache>
            </c:numRef>
          </c:val>
          <c:smooth val="1"/>
        </c:ser>
        <c:ser>
          <c:idx val="1"/>
          <c:order val="1"/>
          <c:tx>
            <c:strRef>
              <c:f>Sheet1!$C$1</c:f>
              <c:strCache>
                <c:ptCount val="1"/>
                <c:pt idx="0">
                  <c:v>Normalized EBITDA</c:v>
                </c:pt>
              </c:strCache>
            </c:strRef>
          </c:tx>
          <c:spPr>
            <a:solidFill>
              <a:srgbClr val="1E49E2"/>
            </a:solidFill>
            <a:ln w="25400" cap="flat">
              <a:solidFill>
                <a:srgbClr val="1E49E2"/>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1E49E2"/>
              </a:solidFill>
              <a:ln w="9525" cap="flat">
                <a:solidFill>
                  <a:srgbClr val="1E49E2"/>
                </a:solidFill>
                <a:prstDash val="solid"/>
                <a:round/>
              </a:ln>
              <a:effectLst/>
            </c:spPr>
          </c:marker>
          <c:cat>
            <c:multiLvlStrRef>
              <c:f>Sheet1!$A$2:$A$5</c:f>
              <c:multiLvlStrCache>
                <c:ptCount val="4"/>
                <c:lvl>
                  <c:pt idx="0">
                    <c:v>FY2023</c:v>
                  </c:pt>
                  <c:pt idx="1">
                    <c:v>FY2024</c:v>
                  </c:pt>
                  <c:pt idx="2">
                    <c:v>FY2025</c:v>
                  </c:pt>
                  <c:pt idx="3">
                    <c:v>LTM</c:v>
                  </c:pt>
                </c:lvl>
              </c:multiLvlStrCache>
            </c:multiLvlStrRef>
          </c:cat>
          <c:val>
            <c:numRef>
              <c:f>Sheet1!$C$2:$C$5</c:f>
              <c:numCache>
                <c:formatCode>General</c:formatCode>
                <c:ptCount val="4"/>
                <c:pt idx="0">
                  <c:v>42</c:v>
                </c:pt>
                <c:pt idx="1">
                  <c:v>66</c:v>
                </c:pt>
                <c:pt idx="2">
                  <c:v>78</c:v>
                </c:pt>
                <c:pt idx="3">
                  <c:v>81</c:v>
                </c:pt>
              </c:numCache>
            </c:numRef>
          </c:val>
          <c:smooth val="1"/>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areaChart>
        <c:varyColors val="0"/>
        <c:ser>
          <c:idx val="0"/>
          <c:order val="0"/>
          <c:tx>
            <c:strRef>
              <c:f>Sheet1!$B$1</c:f>
              <c:strCache>
                <c:ptCount val="1"/>
                <c:pt idx="0">
                  <c:v>OCF Conversion (%)</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showLegendKey val="0"/>
            <c:showVal val="1"/>
            <c:showCatName val="0"/>
            <c:showSerName val="0"/>
            <c:showPercent val="0"/>
            <c:showBubbleSize val="0"/>
            <c:showLeaderLines val="0"/>
          </c:dLbls>
          <c:cat>
            <c:multiLvlStrRef>
              <c:f>Sheet1!$A$2:$A$6</c:f>
              <c:multiLvlStrCache>
                <c:ptCount val="5"/>
                <c:lvl>
                  <c:pt idx="0">
                    <c:v>FY2022</c:v>
                  </c:pt>
                  <c:pt idx="1">
                    <c:v>FY2023</c:v>
                  </c:pt>
                  <c:pt idx="2">
                    <c:v>FY2024</c:v>
                  </c:pt>
                  <c:pt idx="3">
                    <c:v>FY2025</c:v>
                  </c:pt>
                  <c:pt idx="4">
                    <c:v>LTM</c:v>
                  </c:pt>
                </c:lvl>
              </c:multiLvlStrCache>
            </c:multiLvlStrRef>
          </c:cat>
          <c:val>
            <c:numRef>
              <c:f>Sheet1!$B$2:$B$6</c:f>
              <c:numCache>
                <c:formatCode>General</c:formatCode>
                <c:ptCount val="5"/>
                <c:pt idx="0">
                  <c:v>74</c:v>
                </c:pt>
                <c:pt idx="1">
                  <c:v>79</c:v>
                </c:pt>
                <c:pt idx="2">
                  <c:v>83</c:v>
                </c:pt>
                <c:pt idx="3">
                  <c:v>86</c:v>
                </c:pt>
                <c:pt idx="4">
                  <c:v>88</c:v>
                </c:pt>
              </c:numCache>
            </c:numRef>
          </c:val>
        </c:ser>
        <c:dLbls>
          <c:numFmt formatCode="#,##0" sourceLinked="0"/>
          <c:txPr>
            <a:bodyPr/>
            <a:lstStyle/>
            <a:p>
              <a:pPr>
                <a:defRPr b="0" i="0" strike="noStrike" sz="700" u="none">
                  <a:solidFill>
                    <a:srgbClr val="FFFFFF"/>
                  </a:solidFill>
                  <a:latin typeface="Arial"/>
                </a:defRPr>
              </a:pPr>
            </a:p>
          </c:txPr>
          <c:showLegendKey val="0"/>
          <c:showVal val="1"/>
          <c:showCatName val="0"/>
          <c:showSerName val="0"/>
          <c:showPercent val="0"/>
          <c:showBubbleSize val="0"/>
          <c:showLeaderLines val="0"/>
        </c:dLbls>
        <c:axId val="2094734554"/>
        <c:axId val="2094734552"/>
        <c:axId val="2094734556"/>
      </c:area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Revenue mix by customer cohort</c:v>
                </c:pt>
              </c:strCache>
            </c:strRef>
          </c:tx>
          <c:spPr>
            <a:solidFill>
              <a:schemeClr val="accent1"/>
            </a:solidFill>
            <a:ln w="9525" cap="flat">
              <a:solidFill>
                <a:srgbClr val="F9F9F9"/>
              </a:solidFill>
              <a:prstDash val="solid"/>
              <a:round/>
            </a:ln>
            <a:effectLst/>
          </c:spPr>
          <c:dPt>
            <c:idx val="0"/>
            <c:bubble3D val="0"/>
            <c:spPr>
              <a:solidFill>
                <a:srgbClr val="00338D"/>
              </a:solidFill>
              <a:ln w="6350" cap="flat">
                <a:solidFill>
                  <a:srgbClr val="FFFFFF"/>
                </a:solidFill>
                <a:prstDash val="solid"/>
                <a:round/>
              </a:ln>
              <a:effectLst/>
            </c:spPr>
          </c:dPt>
          <c:dPt>
            <c:idx val="1"/>
            <c:bubble3D val="0"/>
            <c:spPr>
              <a:solidFill>
                <a:srgbClr val="1E49E2"/>
              </a:solidFill>
              <a:ln w="6350" cap="flat">
                <a:solidFill>
                  <a:srgbClr val="FFFFFF"/>
                </a:solidFill>
                <a:prstDash val="solid"/>
                <a:round/>
              </a:ln>
              <a:effectLst/>
            </c:spPr>
          </c:dPt>
          <c:dPt>
            <c:idx val="2"/>
            <c:bubble3D val="0"/>
            <c:spPr>
              <a:solidFill>
                <a:srgbClr val="00B8F5"/>
              </a:solidFill>
              <a:ln w="6350" cap="flat">
                <a:solidFill>
                  <a:srgbClr val="FFFFFF"/>
                </a:solidFill>
                <a:prstDash val="solid"/>
                <a:round/>
              </a:ln>
              <a:effectLst/>
            </c:spPr>
          </c:dPt>
          <c:dPt>
            <c:idx val="3"/>
            <c:bubble3D val="0"/>
            <c:spPr>
              <a:solidFill>
                <a:srgbClr val="7213EA"/>
              </a:solidFill>
              <a:ln w="6350" cap="flat">
                <a:solidFill>
                  <a:srgbClr val="FFFFFF"/>
                </a:solidFill>
                <a:prstDash val="solid"/>
                <a:round/>
              </a:ln>
              <a:effectLst/>
            </c:spPr>
          </c:dPt>
          <c:dLbls>
            <c:dLbl>
              <c:idx val="0"/>
              <c:numFmt formatCode="0%" sourceLinked="0"/>
              <c:spPr/>
              <c:txPr>
                <a:bodyPr/>
                <a:lstStyle/>
                <a:p>
                  <a:pPr>
                    <a:defRPr sz="700" b="0" i="0" u="none" strike="noStrike">
                      <a:solidFill>
                        <a:srgbClr val="FFFFFF"/>
                      </a:solidFill>
                      <a:latin typeface="Arial"/>
                    </a:defRPr>
                  </a:pPr>
                </a:p>
              </c:txPr>
              <c:showLegendKey val="0"/>
              <c:showVal val="1"/>
              <c:showCatName val="0"/>
              <c:showSerName val="0"/>
              <c:showPercent val="1"/>
              <c:showBubbleSize val="0"/>
            </c:dLbl>
            <c:dLbl>
              <c:idx val="1"/>
              <c:numFmt formatCode="0%" sourceLinked="0"/>
              <c:spPr/>
              <c:txPr>
                <a:bodyPr/>
                <a:lstStyle/>
                <a:p>
                  <a:pPr>
                    <a:defRPr sz="700" b="0" i="0" u="none" strike="noStrike">
                      <a:solidFill>
                        <a:srgbClr val="FFFFFF"/>
                      </a:solidFill>
                      <a:latin typeface="Arial"/>
                    </a:defRPr>
                  </a:pPr>
                </a:p>
              </c:txPr>
              <c:showLegendKey val="0"/>
              <c:showVal val="1"/>
              <c:showCatName val="0"/>
              <c:showSerName val="0"/>
              <c:showPercent val="1"/>
              <c:showBubbleSize val="0"/>
            </c:dLbl>
            <c:dLbl>
              <c:idx val="2"/>
              <c:numFmt formatCode="0%" sourceLinked="0"/>
              <c:spPr/>
              <c:txPr>
                <a:bodyPr/>
                <a:lstStyle/>
                <a:p>
                  <a:pPr>
                    <a:defRPr sz="700" b="0" i="0" u="none" strike="noStrike">
                      <a:solidFill>
                        <a:srgbClr val="FFFFFF"/>
                      </a:solidFill>
                      <a:latin typeface="Arial"/>
                    </a:defRPr>
                  </a:pPr>
                </a:p>
              </c:txPr>
              <c:showLegendKey val="0"/>
              <c:showVal val="1"/>
              <c:showCatName val="0"/>
              <c:showSerName val="0"/>
              <c:showPercent val="1"/>
              <c:showBubbleSize val="0"/>
            </c:dLbl>
            <c:dLbl>
              <c:idx val="3"/>
              <c:numFmt formatCode="0%" sourceLinked="0"/>
              <c:spPr/>
              <c:txPr>
                <a:bodyPr/>
                <a:lstStyle/>
                <a:p>
                  <a:pPr>
                    <a:defRPr sz="700" b="0" i="0" u="none" strike="noStrike">
                      <a:solidFill>
                        <a:srgbClr val="FFFFFF"/>
                      </a:solidFill>
                      <a:latin typeface="Arial"/>
                    </a:defRPr>
                  </a:pPr>
                </a:p>
              </c:txPr>
              <c:showLegendKey val="0"/>
              <c:showVal val="1"/>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Top 2</c:v>
                </c:pt>
                <c:pt idx="1">
                  <c:v>Customers 3-5</c:v>
                </c:pt>
                <c:pt idx="2">
                  <c:v>Customers 6-20</c:v>
                </c:pt>
                <c:pt idx="3">
                  <c:v>Long tail</c:v>
                </c:pt>
              </c:strCache>
            </c:strRef>
          </c:cat>
          <c:val>
            <c:numRef>
              <c:f>Sheet1!$B$2:$B$5</c:f>
              <c:numCache>
                <c:ptCount val="4"/>
                <c:pt idx="0">
                  <c:v>33</c:v>
                </c:pt>
                <c:pt idx="1">
                  <c:v>24</c:v>
                </c:pt>
                <c:pt idx="2">
                  <c:v>27</c:v>
                </c:pt>
                <c:pt idx="3">
                  <c:v>16</c:v>
                </c:pt>
              </c:numCache>
            </c:numRef>
          </c:val>
        </c:ser>
        <c:firstSliceAng val="0"/>
        <c:holeSize val="50"/>
      </c:doughnutChart>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Low case EBITDA ($M)</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Sheet1!$A$2:$A$4</c:f>
              <c:multiLvlStrCache>
                <c:ptCount val="3"/>
                <c:lvl>
                  <c:pt idx="0">
                    <c:v>FY2026</c:v>
                  </c:pt>
                  <c:pt idx="1">
                    <c:v>FY2027</c:v>
                  </c:pt>
                  <c:pt idx="2">
                    <c:v>FY2028</c:v>
                  </c:pt>
                </c:lvl>
              </c:multiLvlStrCache>
            </c:multiLvlStrRef>
          </c:cat>
          <c:val>
            <c:numRef>
              <c:f>Sheet1!$B$2:$B$4</c:f>
              <c:numCache>
                <c:formatCode>General</c:formatCode>
                <c:ptCount val="3"/>
                <c:pt idx="0">
                  <c:v>70</c:v>
                </c:pt>
                <c:pt idx="1">
                  <c:v>73</c:v>
                </c:pt>
                <c:pt idx="2">
                  <c:v>77</c:v>
                </c:pt>
              </c:numCache>
            </c:numRef>
          </c:val>
          <c:smooth val="0"/>
        </c:ser>
        <c:ser>
          <c:idx val="1"/>
          <c:order val="1"/>
          <c:tx>
            <c:strRef>
              <c:f>Sheet1!$C$1</c:f>
              <c:strCache>
                <c:ptCount val="1"/>
                <c:pt idx="0">
                  <c:v>Base case EBITDA ($M)</c:v>
                </c:pt>
              </c:strCache>
            </c:strRef>
          </c:tx>
          <c:spPr>
            <a:solidFill>
              <a:srgbClr val="1E49E2"/>
            </a:solidFill>
            <a:ln w="25400" cap="flat">
              <a:solidFill>
                <a:srgbClr val="1E49E2"/>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1E49E2"/>
              </a:solidFill>
              <a:ln w="9525" cap="flat">
                <a:solidFill>
                  <a:srgbClr val="1E49E2"/>
                </a:solidFill>
                <a:prstDash val="solid"/>
                <a:round/>
              </a:ln>
              <a:effectLst/>
            </c:spPr>
          </c:marker>
          <c:cat>
            <c:multiLvlStrRef>
              <c:f>Sheet1!$A$2:$A$4</c:f>
              <c:multiLvlStrCache>
                <c:ptCount val="3"/>
                <c:lvl>
                  <c:pt idx="0">
                    <c:v>FY2026</c:v>
                  </c:pt>
                  <c:pt idx="1">
                    <c:v>FY2027</c:v>
                  </c:pt>
                  <c:pt idx="2">
                    <c:v>FY2028</c:v>
                  </c:pt>
                </c:lvl>
              </c:multiLvlStrCache>
            </c:multiLvlStrRef>
          </c:cat>
          <c:val>
            <c:numRef>
              <c:f>Sheet1!$C$2:$C$4</c:f>
              <c:numCache>
                <c:formatCode>General</c:formatCode>
                <c:ptCount val="3"/>
                <c:pt idx="0">
                  <c:v>75</c:v>
                </c:pt>
                <c:pt idx="1">
                  <c:v>81</c:v>
                </c:pt>
                <c:pt idx="2">
                  <c:v>88</c:v>
                </c:pt>
              </c:numCache>
            </c:numRef>
          </c:val>
          <c:smooth val="0"/>
        </c:ser>
        <c:ser>
          <c:idx val="2"/>
          <c:order val="2"/>
          <c:tx>
            <c:strRef>
              <c:f>Sheet1!$D$1</c:f>
              <c:strCache>
                <c:ptCount val="1"/>
                <c:pt idx="0">
                  <c:v>High case EBITDA ($M)</c:v>
                </c:pt>
              </c:strCache>
            </c:strRef>
          </c:tx>
          <c:spPr>
            <a:solidFill>
              <a:srgbClr val="00B8F5"/>
            </a:solidFill>
            <a:ln w="25400" cap="flat">
              <a:solidFill>
                <a:srgbClr val="00B8F5"/>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B8F5"/>
              </a:solidFill>
              <a:ln w="9525" cap="flat">
                <a:solidFill>
                  <a:srgbClr val="00B8F5"/>
                </a:solidFill>
                <a:prstDash val="solid"/>
                <a:round/>
              </a:ln>
              <a:effectLst/>
            </c:spPr>
          </c:marker>
          <c:cat>
            <c:multiLvlStrRef>
              <c:f>Sheet1!$A$2:$A$4</c:f>
              <c:multiLvlStrCache>
                <c:ptCount val="3"/>
                <c:lvl>
                  <c:pt idx="0">
                    <c:v>FY2026</c:v>
                  </c:pt>
                  <c:pt idx="1">
                    <c:v>FY2027</c:v>
                  </c:pt>
                  <c:pt idx="2">
                    <c:v>FY2028</c:v>
                  </c:pt>
                </c:lvl>
              </c:multiLvlStrCache>
            </c:multiLvlStrRef>
          </c:cat>
          <c:val>
            <c:numRef>
              <c:f>Sheet1!$D$2:$D$4</c:f>
              <c:numCache>
                <c:formatCode>General</c:formatCode>
                <c:ptCount val="3"/>
                <c:pt idx="0">
                  <c:v>80</c:v>
                </c:pt>
                <c:pt idx="1">
                  <c:v>89</c:v>
                </c:pt>
                <c:pt idx="2">
                  <c:v>99</c:v>
                </c:pt>
              </c:numCache>
            </c:numRef>
          </c:val>
          <c:smooth val="0"/>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Low case EBITDA ($M)</c:v>
                </c:pt>
              </c:strCache>
            </c:strRef>
          </c:tx>
          <c:spPr>
            <a:solidFill>
              <a:srgbClr val="00338D"/>
            </a:solidFill>
            <a:ln w="25400" cap="flat">
              <a:solidFill>
                <a:srgbClr val="00338D"/>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338D"/>
              </a:solidFill>
              <a:ln w="9525" cap="flat">
                <a:solidFill>
                  <a:srgbClr val="00338D"/>
                </a:solidFill>
                <a:prstDash val="solid"/>
                <a:round/>
              </a:ln>
              <a:effectLst/>
            </c:spPr>
          </c:marker>
          <c:cat>
            <c:multiLvlStrRef>
              <c:f>Sheet1!$A$2:$A$4</c:f>
              <c:multiLvlStrCache>
                <c:ptCount val="3"/>
                <c:lvl>
                  <c:pt idx="0">
                    <c:v>FY2026</c:v>
                  </c:pt>
                  <c:pt idx="1">
                    <c:v>FY2027</c:v>
                  </c:pt>
                  <c:pt idx="2">
                    <c:v>FY2028</c:v>
                  </c:pt>
                </c:lvl>
              </c:multiLvlStrCache>
            </c:multiLvlStrRef>
          </c:cat>
          <c:val>
            <c:numRef>
              <c:f>Sheet1!$B$2:$B$4</c:f>
              <c:numCache>
                <c:formatCode>General</c:formatCode>
                <c:ptCount val="3"/>
                <c:pt idx="0">
                  <c:v>70</c:v>
                </c:pt>
                <c:pt idx="1">
                  <c:v>73</c:v>
                </c:pt>
                <c:pt idx="2">
                  <c:v>77</c:v>
                </c:pt>
              </c:numCache>
            </c:numRef>
          </c:val>
          <c:smooth val="0"/>
        </c:ser>
        <c:ser>
          <c:idx val="1"/>
          <c:order val="1"/>
          <c:tx>
            <c:strRef>
              <c:f>Sheet1!$C$1</c:f>
              <c:strCache>
                <c:ptCount val="1"/>
                <c:pt idx="0">
                  <c:v>Base case EBITDA ($M)</c:v>
                </c:pt>
              </c:strCache>
            </c:strRef>
          </c:tx>
          <c:spPr>
            <a:solidFill>
              <a:srgbClr val="1E49E2"/>
            </a:solidFill>
            <a:ln w="25400" cap="flat">
              <a:solidFill>
                <a:srgbClr val="1E49E2"/>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1E49E2"/>
              </a:solidFill>
              <a:ln w="9525" cap="flat">
                <a:solidFill>
                  <a:srgbClr val="1E49E2"/>
                </a:solidFill>
                <a:prstDash val="solid"/>
                <a:round/>
              </a:ln>
              <a:effectLst/>
            </c:spPr>
          </c:marker>
          <c:cat>
            <c:multiLvlStrRef>
              <c:f>Sheet1!$A$2:$A$4</c:f>
              <c:multiLvlStrCache>
                <c:ptCount val="3"/>
                <c:lvl>
                  <c:pt idx="0">
                    <c:v>FY2026</c:v>
                  </c:pt>
                  <c:pt idx="1">
                    <c:v>FY2027</c:v>
                  </c:pt>
                  <c:pt idx="2">
                    <c:v>FY2028</c:v>
                  </c:pt>
                </c:lvl>
              </c:multiLvlStrCache>
            </c:multiLvlStrRef>
          </c:cat>
          <c:val>
            <c:numRef>
              <c:f>Sheet1!$C$2:$C$4</c:f>
              <c:numCache>
                <c:formatCode>General</c:formatCode>
                <c:ptCount val="3"/>
                <c:pt idx="0">
                  <c:v>75</c:v>
                </c:pt>
                <c:pt idx="1">
                  <c:v>81</c:v>
                </c:pt>
                <c:pt idx="2">
                  <c:v>88</c:v>
                </c:pt>
              </c:numCache>
            </c:numRef>
          </c:val>
          <c:smooth val="0"/>
        </c:ser>
        <c:ser>
          <c:idx val="2"/>
          <c:order val="2"/>
          <c:tx>
            <c:strRef>
              <c:f>Sheet1!$D$1</c:f>
              <c:strCache>
                <c:ptCount val="1"/>
                <c:pt idx="0">
                  <c:v>High case EBITDA ($M)</c:v>
                </c:pt>
              </c:strCache>
            </c:strRef>
          </c:tx>
          <c:spPr>
            <a:solidFill>
              <a:srgbClr val="00B8F5"/>
            </a:solidFill>
            <a:ln w="25400" cap="flat">
              <a:solidFill>
                <a:srgbClr val="00B8F5"/>
              </a:solidFill>
              <a:prstDash val="solid"/>
              <a:round/>
            </a:ln>
            <a:effectLst/>
          </c:spPr>
          <c:invertIfNegative val="0"/>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c:symbol val="circle"/>
            <c:size val="6"/>
            <c:spPr>
              <a:solidFill>
                <a:srgbClr val="00B8F5"/>
              </a:solidFill>
              <a:ln w="9525" cap="flat">
                <a:solidFill>
                  <a:srgbClr val="00B8F5"/>
                </a:solidFill>
                <a:prstDash val="solid"/>
                <a:round/>
              </a:ln>
              <a:effectLst/>
            </c:spPr>
          </c:marker>
          <c:cat>
            <c:multiLvlStrRef>
              <c:f>Sheet1!$A$2:$A$4</c:f>
              <c:multiLvlStrCache>
                <c:ptCount val="3"/>
                <c:lvl>
                  <c:pt idx="0">
                    <c:v>FY2026</c:v>
                  </c:pt>
                  <c:pt idx="1">
                    <c:v>FY2027</c:v>
                  </c:pt>
                  <c:pt idx="2">
                    <c:v>FY2028</c:v>
                  </c:pt>
                </c:lvl>
              </c:multiLvlStrCache>
            </c:multiLvlStrRef>
          </c:cat>
          <c:val>
            <c:numRef>
              <c:f>Sheet1!$D$2:$D$4</c:f>
              <c:numCache>
                <c:formatCode>General</c:formatCode>
                <c:ptCount val="3"/>
                <c:pt idx="0">
                  <c:v>80</c:v>
                </c:pt>
                <c:pt idx="1">
                  <c:v>89</c:v>
                </c:pt>
                <c:pt idx="2">
                  <c:v>99</c:v>
                </c:pt>
              </c:numCache>
            </c:numRef>
          </c:val>
          <c:smooth val="0"/>
        </c:ser>
        <c:dLbls>
          <c:numFmt formatCode="#,##0" sourceLinked="0"/>
          <c:txPr>
            <a:bodyPr/>
            <a:lstStyle/>
            <a:p>
              <a:pPr>
                <a:defRPr b="0" i="0" strike="noStrike" sz="700" u="none">
                  <a:solidFill>
                    <a:srgbClr val="000000"/>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KPI set is synthetic and designed for comprehensive layout and density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Driver profile reflects synthetic period-end balances and ratios for layout stress purposes.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image" Target="../media/image-1003-3.sv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png"/><Relationship Id="rId2"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image" Target="../media/image-1008-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PMG_WHITE">
    <p:bg>
      <p:bgPr>
        <a:solidFill>
          <a:srgbClr val="FFFFFF"/>
        </a:solidFill>
      </p:bgPr>
    </p:bg>
    <p:spTree>
      <p:nvGrpSpPr>
        <p:cNvPr id="1" name=""/>
        <p:cNvGrpSpPr/>
        <p:nvPr/>
      </p:nvGrpSpPr>
      <p:grpSpPr>
        <a:xfrm>
          <a:off x="0" y="0"/>
          <a:ext cx="0" cy="0"/>
          <a:chOff x="0" y="0"/>
          <a:chExt cx="0" cy="0"/>
        </a:xfrm>
      </p:grpSpPr>
      <p:pic>
        <p:nvPicPr>
          <p:cNvPr id="2" name="Image 0" descr="/Users/rishi/Code/ai-tools/chatgpt/kpmg-slidegen/templates/kpmg-diligence/assets/kpmg-logo.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3097" y="6267298"/>
            <a:ext cx="483718" cy="196596"/>
          </a:xfrm>
          <a:prstGeom prst="rect">
            <a:avLst/>
          </a:prstGeom>
        </p:spPr>
      </p:pic>
      <p:sp>
        <p:nvSpPr>
          <p:cNvPr id="3" name="Text 0"/>
          <p:cNvSpPr/>
          <p:nvPr/>
        </p:nvSpPr>
        <p:spPr>
          <a:xfrm>
            <a:off x="1885493" y="6267298"/>
            <a:ext cx="6343193" cy="184709"/>
          </a:xfrm>
          <a:prstGeom prst="rect">
            <a:avLst/>
          </a:prstGeom>
          <a:noFill/>
          <a:ln/>
        </p:spPr>
        <p:txBody>
          <a:bodyPr wrap="square" rtlCol="0" anchor="ctr"/>
          <a:lstStyle/>
          <a:p>
            <a:pPr indent="0" marL="0">
              <a:buNone/>
            </a:pPr>
            <a:r>
              <a:rPr lang="en-US" sz="600" dirty="0">
                <a:solidFill>
                  <a:srgbClr val="666666"/>
                </a:solidFill>
                <a:latin typeface="Arial" pitchFamily="34" charset="0"/>
                <a:ea typeface="Arial" pitchFamily="34" charset="-122"/>
                <a:cs typeface="Arial" pitchFamily="34" charset="-120"/>
              </a:rPr>
              <a:t>© 2026 KPMG LLP, a Ontario limited liability partnership and a member firm of the KPMG global organization of independent member firms affiliated with KPMG International Limited, a private English company limited by guarantee. All rights reserved.</a:t>
            </a:r>
            <a:endParaRPr lang="en-US" sz="600" dirty="0"/>
          </a:p>
        </p:txBody>
      </p:sp>
      <p:sp>
        <p:nvSpPr>
          <p:cNvPr id="4" name="Text 1"/>
          <p:cNvSpPr/>
          <p:nvPr/>
        </p:nvSpPr>
        <p:spPr>
          <a:xfrm>
            <a:off x="8183880" y="6267298"/>
            <a:ext cx="749808" cy="184709"/>
          </a:xfrm>
          <a:prstGeom prst="rect">
            <a:avLst/>
          </a:prstGeom>
          <a:noFill/>
          <a:ln/>
        </p:spPr>
        <p:txBody>
          <a:bodyPr wrap="square" rtlCol="0" anchor="ctr"/>
          <a:lstStyle/>
          <a:p>
            <a:pPr algn="l" indent="0" marL="0">
              <a:buNone/>
            </a:pPr>
            <a:r>
              <a:rPr lang="en-US" sz="600" dirty="0">
                <a:solidFill>
                  <a:srgbClr val="666666"/>
                </a:solidFill>
                <a:latin typeface="Arial" pitchFamily="34" charset="0"/>
                <a:ea typeface="Arial" pitchFamily="34" charset="-122"/>
                <a:cs typeface="Arial" pitchFamily="34" charset="-120"/>
              </a:rPr>
              <a:t>kpmg.com/ca</a:t>
            </a:r>
            <a:endParaRPr lang="en-US" sz="600" dirty="0"/>
          </a:p>
        </p:txBody>
      </p:sp>
      <p:sp>
        <p:nvSpPr>
          <p:cNvPr id="5" name="Text 2"/>
          <p:cNvSpPr/>
          <p:nvPr/>
        </p:nvSpPr>
        <p:spPr>
          <a:xfrm>
            <a:off x="8967521" y="6267298"/>
            <a:ext cx="1866290" cy="92354"/>
          </a:xfrm>
          <a:prstGeom prst="rect">
            <a:avLst/>
          </a:prstGeom>
          <a:noFill/>
          <a:ln/>
        </p:spPr>
        <p:txBody>
          <a:bodyPr wrap="square" rtlCol="0" anchor="ctr"/>
          <a:lstStyle/>
          <a:p>
            <a:pPr algn="r" indent="0" marL="0">
              <a:buNone/>
            </a:pPr>
            <a:r>
              <a:rPr lang="en-US" sz="600" dirty="0">
                <a:solidFill>
                  <a:srgbClr val="666666"/>
                </a:solidFill>
                <a:latin typeface="Arial" pitchFamily="34" charset="0"/>
                <a:ea typeface="Arial" pitchFamily="34" charset="-122"/>
                <a:cs typeface="Arial" pitchFamily="34" charset="-120"/>
              </a:rPr>
              <a:t>Document Classification: KPMG Confidential</a:t>
            </a:r>
            <a:endParaRPr lang="en-US" sz="600" dirty="0"/>
          </a:p>
        </p:txBody>
      </p:sp>
      <p:sp>
        <p:nvSpPr>
          <p:cNvPr id="6" name="Shape 3"/>
          <p:cNvSpPr/>
          <p:nvPr/>
        </p:nvSpPr>
        <p:spPr>
          <a:xfrm>
            <a:off x="10874045" y="6267298"/>
            <a:ext cx="0" cy="149047"/>
          </a:xfrm>
          <a:prstGeom prst="line">
            <a:avLst/>
          </a:prstGeom>
          <a:noFill/>
          <a:ln w="12700">
            <a:solidFill>
              <a:srgbClr val="1E49E2"/>
            </a:solidFill>
            <a:prstDash val="solid"/>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PMG_SUMMARY">
    <p:bg>
      <p:bgPr>
        <a:solidFill>
          <a:srgbClr val="FFFFFF"/>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accent_chip_300dpi.png">    </p:cNvPr>
          <p:cNvPicPr>
            <a:picLocks noChangeAspect="1"/>
          </p:cNvPicPr>
          <p:nvPr/>
        </p:nvPicPr>
        <p:blipFill>
          <a:blip r:embed="rId1"/>
          <a:stretch>
            <a:fillRect/>
          </a:stretch>
        </p:blipFill>
        <p:spPr>
          <a:xfrm>
            <a:off x="11534242" y="103327"/>
            <a:ext cx="222199" cy="222199"/>
          </a:xfrm>
          <a:prstGeom prst="rect">
            <a:avLst/>
          </a:prstGeom>
        </p:spPr>
      </p:pic>
      <p:pic>
        <p:nvPicPr>
          <p:cNvPr id="3" name="Image 1" descr="/Users/rishi/Code/ai-tools/chatgpt/kpmg-slidegen/templates/kpmg-diligence/assets/kpmg-logo.sv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3097" y="6267298"/>
            <a:ext cx="483718" cy="196596"/>
          </a:xfrm>
          <a:prstGeom prst="rect">
            <a:avLst/>
          </a:prstGeom>
        </p:spPr>
      </p:pic>
      <p:sp>
        <p:nvSpPr>
          <p:cNvPr id="4" name="Text 0"/>
          <p:cNvSpPr/>
          <p:nvPr/>
        </p:nvSpPr>
        <p:spPr>
          <a:xfrm>
            <a:off x="1885493" y="6267298"/>
            <a:ext cx="6343193" cy="184709"/>
          </a:xfrm>
          <a:prstGeom prst="rect">
            <a:avLst/>
          </a:prstGeom>
          <a:noFill/>
          <a:ln/>
        </p:spPr>
        <p:txBody>
          <a:bodyPr wrap="square" rtlCol="0" anchor="ctr"/>
          <a:lstStyle/>
          <a:p>
            <a:pPr indent="0" marL="0">
              <a:buNone/>
            </a:pPr>
            <a:r>
              <a:rPr lang="en-US" sz="600" dirty="0">
                <a:solidFill>
                  <a:srgbClr val="666666"/>
                </a:solidFill>
                <a:latin typeface="Arial" pitchFamily="34" charset="0"/>
                <a:ea typeface="Arial" pitchFamily="34" charset="-122"/>
                <a:cs typeface="Arial" pitchFamily="34" charset="-120"/>
              </a:rPr>
              <a:t>© 2026 KPMG LLP, a Ontario limited liability partnership and a member firm of the KPMG global organization of independent member firms affiliated with KPMG International Limited, a private English company limited by guarantee. All rights reserved.</a:t>
            </a:r>
            <a:endParaRPr lang="en-US" sz="600" dirty="0"/>
          </a:p>
        </p:txBody>
      </p:sp>
      <p:sp>
        <p:nvSpPr>
          <p:cNvPr id="5" name="Text 1"/>
          <p:cNvSpPr/>
          <p:nvPr/>
        </p:nvSpPr>
        <p:spPr>
          <a:xfrm>
            <a:off x="8183880" y="6267298"/>
            <a:ext cx="749808" cy="184709"/>
          </a:xfrm>
          <a:prstGeom prst="rect">
            <a:avLst/>
          </a:prstGeom>
          <a:noFill/>
          <a:ln/>
        </p:spPr>
        <p:txBody>
          <a:bodyPr wrap="square" rtlCol="0" anchor="ctr"/>
          <a:lstStyle/>
          <a:p>
            <a:pPr algn="l" indent="0" marL="0">
              <a:buNone/>
            </a:pPr>
            <a:r>
              <a:rPr lang="en-US" sz="600" dirty="0">
                <a:solidFill>
                  <a:srgbClr val="666666"/>
                </a:solidFill>
                <a:latin typeface="Arial" pitchFamily="34" charset="0"/>
                <a:ea typeface="Arial" pitchFamily="34" charset="-122"/>
                <a:cs typeface="Arial" pitchFamily="34" charset="-120"/>
              </a:rPr>
              <a:t>kpmg.com/ca</a:t>
            </a:r>
            <a:endParaRPr lang="en-US" sz="600" dirty="0"/>
          </a:p>
        </p:txBody>
      </p:sp>
      <p:sp>
        <p:nvSpPr>
          <p:cNvPr id="6" name="Text 2"/>
          <p:cNvSpPr/>
          <p:nvPr/>
        </p:nvSpPr>
        <p:spPr>
          <a:xfrm>
            <a:off x="8967521" y="6267298"/>
            <a:ext cx="1866290" cy="92354"/>
          </a:xfrm>
          <a:prstGeom prst="rect">
            <a:avLst/>
          </a:prstGeom>
          <a:noFill/>
          <a:ln/>
        </p:spPr>
        <p:txBody>
          <a:bodyPr wrap="square" rtlCol="0" anchor="ctr"/>
          <a:lstStyle/>
          <a:p>
            <a:pPr algn="r" indent="0" marL="0">
              <a:buNone/>
            </a:pPr>
            <a:r>
              <a:rPr lang="en-US" sz="600" dirty="0">
                <a:solidFill>
                  <a:srgbClr val="666666"/>
                </a:solidFill>
                <a:latin typeface="Arial" pitchFamily="34" charset="0"/>
                <a:ea typeface="Arial" pitchFamily="34" charset="-122"/>
                <a:cs typeface="Arial" pitchFamily="34" charset="-120"/>
              </a:rPr>
              <a:t>Document Classification: KPMG Confidential</a:t>
            </a:r>
            <a:endParaRPr lang="en-US" sz="600" dirty="0"/>
          </a:p>
        </p:txBody>
      </p:sp>
      <p:sp>
        <p:nvSpPr>
          <p:cNvPr id="7" name="Shape 3"/>
          <p:cNvSpPr/>
          <p:nvPr/>
        </p:nvSpPr>
        <p:spPr>
          <a:xfrm>
            <a:off x="10874045" y="6267298"/>
            <a:ext cx="0" cy="149047"/>
          </a:xfrm>
          <a:prstGeom prst="line">
            <a:avLst/>
          </a:prstGeom>
          <a:noFill/>
          <a:ln w="12700">
            <a:solidFill>
              <a:srgbClr val="1E49E2"/>
            </a:solidFill>
            <a:prstDash val="solid"/>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PMG_COVER">
    <p:bg>
      <p:bgPr>
        <a:solidFill>
          <a:srgbClr val="1E49E2"/>
        </a:solidFill>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KPMG_SECTION_DARK">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divider_window_300dpi.png">    </p:cNvPr>
          <p:cNvPicPr>
            <a:picLocks noChangeAspect="1"/>
          </p:cNvPicPr>
          <p:nvPr/>
        </p:nvPicPr>
        <p:blipFill>
          <a:blip r:embed="rId1"/>
          <a:stretch>
            <a:fillRect/>
          </a:stretch>
        </p:blipFill>
        <p:spPr>
          <a:xfrm>
            <a:off x="998525" y="975665"/>
            <a:ext cx="7061911" cy="4905756"/>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KPMG_SECTION">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divider_window_300dpi.png">    </p:cNvPr>
          <p:cNvPicPr>
            <a:picLocks noChangeAspect="1"/>
          </p:cNvPicPr>
          <p:nvPr/>
        </p:nvPicPr>
        <p:blipFill>
          <a:blip r:embed="rId1"/>
          <a:stretch>
            <a:fillRect/>
          </a:stretch>
        </p:blipFill>
        <p:spPr>
          <a:xfrm>
            <a:off x="998525" y="975665"/>
            <a:ext cx="7061911" cy="4905756"/>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KPMG_SECTION_LIGHT">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KPMG_CLOSING">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back_cover_300dpi.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e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7" Type="http://schemas.openxmlformats.org/officeDocument/2006/relationships/hyperlink" Target="https://kpmg.com" TargetMode="External"/><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8" Type="http://schemas.openxmlformats.org/officeDocument/2006/relationships/slideLayout" Target="../slideLayouts/slideLayout8.xml"/><Relationship Id="rId9"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KPMG logo">    </p:cNvPr>
          <p:cNvPicPr>
            <a:picLocks noChangeAspect="1"/>
          </p:cNvPicPr>
          <p:nvPr/>
        </p:nvPicPr>
        <p:blipFill>
          <a:blip r:embed="rId1"/>
          <a:stretch>
            <a:fillRect/>
          </a:stretch>
        </p:blipFill>
        <p:spPr>
          <a:xfrm>
            <a:off x="998476" y="371311"/>
            <a:ext cx="914400" cy="368346"/>
          </a:xfrm>
          <a:prstGeom prst="rect">
            <a:avLst/>
          </a:prstGeom>
        </p:spPr>
      </p:pic>
      <p:sp>
        <p:nvSpPr>
          <p:cNvPr id="3" name="Text 0"/>
          <p:cNvSpPr/>
          <p:nvPr/>
        </p:nvSpPr>
        <p:spPr>
          <a:xfrm>
            <a:off x="998478" y="1456388"/>
            <a:ext cx="3697810" cy="3427743"/>
          </a:xfrm>
          <a:prstGeom prst="rect">
            <a:avLst/>
          </a:prstGeom>
          <a:noFill/>
          <a:ln/>
        </p:spPr>
        <p:txBody>
          <a:bodyPr wrap="square" lIns="0" tIns="0" rIns="0" bIns="0" rtlCol="0" anchor="t"/>
          <a:lstStyle/>
          <a:p>
            <a:pPr algn="l" indent="0" marL="0">
              <a:buNone/>
            </a:pPr>
            <a:r>
              <a:rPr lang="en-US" sz="4000" b="1" dirty="0">
                <a:solidFill>
                  <a:srgbClr val="FFFFFF"/>
                </a:solidFill>
                <a:latin typeface="Arial" pitchFamily="34" charset="0"/>
                <a:ea typeface="Arial" pitchFamily="34" charset="-122"/>
                <a:cs typeface="Arial" pitchFamily="34" charset="-120"/>
              </a:rPr>
              <a:t>Atlas</a:t>
            </a:r>
            <a:endParaRPr lang="en-US" sz="4000" dirty="0"/>
          </a:p>
          <a:p>
            <a:pPr algn="l" indent="0" marL="0">
              <a:buNone/>
            </a:pPr>
            <a:r>
              <a:rPr lang="en-US" sz="4000" b="1" dirty="0">
                <a:solidFill>
                  <a:srgbClr val="FFFFFF"/>
                </a:solidFill>
                <a:latin typeface="Arial" pitchFamily="34" charset="0"/>
                <a:ea typeface="Arial" pitchFamily="34" charset="-122"/>
                <a:cs typeface="Arial" pitchFamily="34" charset="-120"/>
              </a:rPr>
              <a:t>Holdco</a:t>
            </a:r>
            <a:endParaRPr lang="en-US" sz="4000" dirty="0"/>
          </a:p>
          <a:p>
            <a:pPr algn="l" indent="0" marL="0">
              <a:buNone/>
            </a:pPr>
            <a:r>
              <a:rPr lang="en-US" sz="4000" b="1" dirty="0">
                <a:solidFill>
                  <a:srgbClr val="FFFFFF"/>
                </a:solidFill>
                <a:latin typeface="Arial" pitchFamily="34" charset="0"/>
                <a:ea typeface="Arial" pitchFamily="34" charset="-122"/>
                <a:cs typeface="Arial" pitchFamily="34" charset="-120"/>
              </a:rPr>
              <a:t>Quality of</a:t>
            </a:r>
            <a:endParaRPr lang="en-US" sz="4000" dirty="0"/>
          </a:p>
          <a:p>
            <a:pPr algn="l" indent="0" marL="0">
              <a:buNone/>
            </a:pPr>
            <a:r>
              <a:rPr lang="en-US" sz="4000" b="1" dirty="0">
                <a:solidFill>
                  <a:srgbClr val="FFFFFF"/>
                </a:solidFill>
                <a:latin typeface="Arial" pitchFamily="34" charset="0"/>
                <a:ea typeface="Arial" pitchFamily="34" charset="-122"/>
                <a:cs typeface="Arial" pitchFamily="34" charset="-120"/>
              </a:rPr>
              <a:t>Earnings</a:t>
            </a:r>
            <a:endParaRPr lang="en-US" sz="4000" dirty="0"/>
          </a:p>
          <a:p>
            <a:pPr algn="l" indent="0" marL="0">
              <a:buNone/>
            </a:pPr>
            <a:r>
              <a:rPr lang="en-US" sz="4000" b="1" dirty="0">
                <a:solidFill>
                  <a:srgbClr val="FFFFFF"/>
                </a:solidFill>
                <a:latin typeface="Arial" pitchFamily="34" charset="0"/>
                <a:ea typeface="Arial" pitchFamily="34" charset="-122"/>
                <a:cs typeface="Arial" pitchFamily="34" charset="-120"/>
              </a:rPr>
              <a:t>Diligence</a:t>
            </a:r>
            <a:endParaRPr lang="en-US" sz="4000" dirty="0"/>
          </a:p>
          <a:p>
            <a:pPr algn="l" indent="0" marL="0">
              <a:buNone/>
            </a:pPr>
            <a:r>
              <a:rPr lang="en-US" sz="4000" b="1" dirty="0">
                <a:solidFill>
                  <a:srgbClr val="FFFFFF"/>
                </a:solidFill>
                <a:latin typeface="Arial" pitchFamily="34" charset="0"/>
                <a:ea typeface="Arial" pitchFamily="34" charset="-122"/>
                <a:cs typeface="Arial" pitchFamily="34" charset="-120"/>
              </a:rPr>
              <a:t>Report</a:t>
            </a:r>
            <a:endParaRPr lang="en-US" sz="4000" dirty="0"/>
          </a:p>
        </p:txBody>
      </p:sp>
      <p:sp>
        <p:nvSpPr>
          <p:cNvPr id="4" name="Text 1"/>
          <p:cNvSpPr/>
          <p:nvPr/>
        </p:nvSpPr>
        <p:spPr>
          <a:xfrm>
            <a:off x="998433" y="5005883"/>
            <a:ext cx="3697834" cy="809976"/>
          </a:xfrm>
          <a:prstGeom prst="rect">
            <a:avLst/>
          </a:prstGeom>
          <a:noFill/>
          <a:ln/>
        </p:spPr>
        <p:txBody>
          <a:bodyPr wrap="square" lIns="0" tIns="0" rIns="0" bIns="0" rtlCol="0" anchor="t"/>
          <a:lstStyle/>
          <a:p>
            <a:pPr algn="l" indent="0" marL="0">
              <a:buNone/>
            </a:pPr>
            <a:r>
              <a:rPr lang="en-US" sz="1400" dirty="0">
                <a:solidFill>
                  <a:srgbClr val="FFFFFF"/>
                </a:solidFill>
                <a:latin typeface="Arial" pitchFamily="34" charset="0"/>
                <a:ea typeface="Arial" pitchFamily="34" charset="-122"/>
                <a:cs typeface="Arial" pitchFamily="34" charset="-120"/>
              </a:rPr>
              <a:t>Integrated financial, operational, and working-capital diligence findings Prepared for investment committee review | March 2026</a:t>
            </a:r>
            <a:endParaRPr lang="en-US" sz="1400" dirty="0"/>
          </a:p>
        </p:txBody>
      </p:sp>
      <p:pic>
        <p:nvPicPr>
          <p:cNvPr id="5" name="Image 1" descr="Cover photograph">    </p:cNvPr>
          <p:cNvPicPr>
            <a:picLocks noChangeAspect="1"/>
          </p:cNvPicPr>
          <p:nvPr/>
        </p:nvPicPr>
        <p:blipFill>
          <a:blip r:embed="rId2"/>
          <a:srcRect l="4986" r="4986" t="0" b="0"/>
          <a:stretch/>
        </p:blipFill>
        <p:spPr>
          <a:xfrm>
            <a:off x="4915965" y="1456388"/>
            <a:ext cx="6283848" cy="436499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01</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Executive Summary</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995782" y="431597"/>
            <a:ext cx="10191628" cy="565191"/>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Contents</a:t>
            </a:r>
            <a:endParaRPr lang="en-US" sz="3200" dirty="0"/>
          </a:p>
        </p:txBody>
      </p:sp>
      <p:sp>
        <p:nvSpPr>
          <p:cNvPr id="3" name="Text 1"/>
          <p:cNvSpPr/>
          <p:nvPr/>
        </p:nvSpPr>
        <p:spPr>
          <a:xfrm>
            <a:off x="995782"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01</a:t>
            </a:r>
            <a:endParaRPr lang="en-US" sz="3400" dirty="0"/>
          </a:p>
        </p:txBody>
      </p:sp>
      <p:sp>
        <p:nvSpPr>
          <p:cNvPr id="4" name="Shape 2"/>
          <p:cNvSpPr/>
          <p:nvPr/>
        </p:nvSpPr>
        <p:spPr>
          <a:xfrm>
            <a:off x="995782" y="1737360"/>
            <a:ext cx="502920" cy="0"/>
          </a:xfrm>
          <a:prstGeom prst="line">
            <a:avLst/>
          </a:prstGeom>
          <a:noFill/>
          <a:ln w="12700">
            <a:solidFill>
              <a:srgbClr val="00338D"/>
            </a:solidFill>
            <a:prstDash val="solid"/>
          </a:ln>
        </p:spPr>
      </p:sp>
      <p:sp>
        <p:nvSpPr>
          <p:cNvPr id="5" name="Text 3"/>
          <p:cNvSpPr/>
          <p:nvPr/>
        </p:nvSpPr>
        <p:spPr>
          <a:xfrm>
            <a:off x="995782"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Executive Summary</a:t>
            </a:r>
            <a:endParaRPr lang="en-US" sz="1200" dirty="0"/>
          </a:p>
        </p:txBody>
      </p:sp>
      <p:sp>
        <p:nvSpPr>
          <p:cNvPr id="6" name="Text 4"/>
          <p:cNvSpPr/>
          <p:nvPr/>
        </p:nvSpPr>
        <p:spPr>
          <a:xfrm>
            <a:off x="995782" y="2084832"/>
            <a:ext cx="1907987" cy="1325880"/>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Headline performance trajectory</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Key diligence conclusions</a:t>
            </a:r>
            <a:endParaRPr lang="en-US" sz="1000" dirty="0"/>
          </a:p>
        </p:txBody>
      </p:sp>
      <p:sp>
        <p:nvSpPr>
          <p:cNvPr id="7" name="Text 5"/>
          <p:cNvSpPr/>
          <p:nvPr/>
        </p:nvSpPr>
        <p:spPr>
          <a:xfrm>
            <a:off x="3068361"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02</a:t>
            </a:r>
            <a:endParaRPr lang="en-US" sz="3400" dirty="0"/>
          </a:p>
        </p:txBody>
      </p:sp>
      <p:sp>
        <p:nvSpPr>
          <p:cNvPr id="8" name="Shape 6"/>
          <p:cNvSpPr/>
          <p:nvPr/>
        </p:nvSpPr>
        <p:spPr>
          <a:xfrm>
            <a:off x="3068361" y="1737360"/>
            <a:ext cx="502920" cy="0"/>
          </a:xfrm>
          <a:prstGeom prst="line">
            <a:avLst/>
          </a:prstGeom>
          <a:noFill/>
          <a:ln w="12700">
            <a:solidFill>
              <a:srgbClr val="00338D"/>
            </a:solidFill>
            <a:prstDash val="solid"/>
          </a:ln>
        </p:spPr>
      </p:sp>
      <p:sp>
        <p:nvSpPr>
          <p:cNvPr id="9" name="Text 7"/>
          <p:cNvSpPr/>
          <p:nvPr/>
        </p:nvSpPr>
        <p:spPr>
          <a:xfrm>
            <a:off x="3068361"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Quality of Earnings</a:t>
            </a:r>
            <a:endParaRPr lang="en-US" sz="1200" dirty="0"/>
          </a:p>
        </p:txBody>
      </p:sp>
      <p:sp>
        <p:nvSpPr>
          <p:cNvPr id="10" name="Text 8"/>
          <p:cNvSpPr/>
          <p:nvPr/>
        </p:nvSpPr>
        <p:spPr>
          <a:xfrm>
            <a:off x="3068361" y="2020824"/>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2-4)</a:t>
            </a:r>
            <a:endParaRPr lang="en-US" sz="1000" dirty="0"/>
          </a:p>
        </p:txBody>
      </p:sp>
      <p:sp>
        <p:nvSpPr>
          <p:cNvPr id="11" name="Text 9"/>
          <p:cNvSpPr/>
          <p:nvPr/>
        </p:nvSpPr>
        <p:spPr>
          <a:xfrm>
            <a:off x="3068361" y="2286000"/>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Normalization framework and bridge</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Adjusted EBITDA trend evidence</a:t>
            </a:r>
            <a:endParaRPr lang="en-US" sz="1000" dirty="0"/>
          </a:p>
        </p:txBody>
      </p:sp>
      <p:sp>
        <p:nvSpPr>
          <p:cNvPr id="12" name="Text 10"/>
          <p:cNvSpPr/>
          <p:nvPr/>
        </p:nvSpPr>
        <p:spPr>
          <a:xfrm>
            <a:off x="5140940"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03</a:t>
            </a:r>
            <a:endParaRPr lang="en-US" sz="3400" dirty="0"/>
          </a:p>
        </p:txBody>
      </p:sp>
      <p:sp>
        <p:nvSpPr>
          <p:cNvPr id="13" name="Shape 11"/>
          <p:cNvSpPr/>
          <p:nvPr/>
        </p:nvSpPr>
        <p:spPr>
          <a:xfrm>
            <a:off x="5140940" y="1737360"/>
            <a:ext cx="502920" cy="0"/>
          </a:xfrm>
          <a:prstGeom prst="line">
            <a:avLst/>
          </a:prstGeom>
          <a:noFill/>
          <a:ln w="12700">
            <a:solidFill>
              <a:srgbClr val="00338D"/>
            </a:solidFill>
            <a:prstDash val="solid"/>
          </a:ln>
        </p:spPr>
      </p:sp>
      <p:sp>
        <p:nvSpPr>
          <p:cNvPr id="14" name="Text 12"/>
          <p:cNvSpPr/>
          <p:nvPr/>
        </p:nvSpPr>
        <p:spPr>
          <a:xfrm>
            <a:off x="5140940"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Working Capital</a:t>
            </a:r>
            <a:endParaRPr lang="en-US" sz="1200" dirty="0"/>
          </a:p>
        </p:txBody>
      </p:sp>
      <p:sp>
        <p:nvSpPr>
          <p:cNvPr id="15" name="Text 13"/>
          <p:cNvSpPr/>
          <p:nvPr/>
        </p:nvSpPr>
        <p:spPr>
          <a:xfrm>
            <a:off x="5140940" y="2020824"/>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5-9)</a:t>
            </a:r>
            <a:endParaRPr lang="en-US" sz="1000" dirty="0"/>
          </a:p>
        </p:txBody>
      </p:sp>
      <p:sp>
        <p:nvSpPr>
          <p:cNvPr id="16" name="Text 14"/>
          <p:cNvSpPr/>
          <p:nvPr/>
        </p:nvSpPr>
        <p:spPr>
          <a:xfrm>
            <a:off x="5140940" y="2286000"/>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NWC dynamics and seasonality</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Cash conversion risk factors</a:t>
            </a:r>
            <a:endParaRPr lang="en-US" sz="1000" dirty="0"/>
          </a:p>
        </p:txBody>
      </p:sp>
      <p:sp>
        <p:nvSpPr>
          <p:cNvPr id="17" name="Text 15"/>
          <p:cNvSpPr/>
          <p:nvPr/>
        </p:nvSpPr>
        <p:spPr>
          <a:xfrm>
            <a:off x="7213519"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04</a:t>
            </a:r>
            <a:endParaRPr lang="en-US" sz="3400" dirty="0"/>
          </a:p>
        </p:txBody>
      </p:sp>
      <p:sp>
        <p:nvSpPr>
          <p:cNvPr id="18" name="Shape 16"/>
          <p:cNvSpPr/>
          <p:nvPr/>
        </p:nvSpPr>
        <p:spPr>
          <a:xfrm>
            <a:off x="7213519" y="1737360"/>
            <a:ext cx="502920" cy="0"/>
          </a:xfrm>
          <a:prstGeom prst="line">
            <a:avLst/>
          </a:prstGeom>
          <a:noFill/>
          <a:ln w="12700">
            <a:solidFill>
              <a:srgbClr val="00338D"/>
            </a:solidFill>
            <a:prstDash val="solid"/>
          </a:ln>
        </p:spPr>
      </p:sp>
      <p:sp>
        <p:nvSpPr>
          <p:cNvPr id="19" name="Text 17"/>
          <p:cNvSpPr/>
          <p:nvPr/>
        </p:nvSpPr>
        <p:spPr>
          <a:xfrm>
            <a:off x="7213519"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Commercial Diligence</a:t>
            </a:r>
            <a:endParaRPr lang="en-US" sz="1200" dirty="0"/>
          </a:p>
        </p:txBody>
      </p:sp>
      <p:sp>
        <p:nvSpPr>
          <p:cNvPr id="20" name="Text 18"/>
          <p:cNvSpPr/>
          <p:nvPr/>
        </p:nvSpPr>
        <p:spPr>
          <a:xfrm>
            <a:off x="7213519" y="2020824"/>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10-12)</a:t>
            </a:r>
            <a:endParaRPr lang="en-US" sz="1000" dirty="0"/>
          </a:p>
        </p:txBody>
      </p:sp>
      <p:sp>
        <p:nvSpPr>
          <p:cNvPr id="21" name="Text 19"/>
          <p:cNvSpPr/>
          <p:nvPr/>
        </p:nvSpPr>
        <p:spPr>
          <a:xfrm>
            <a:off x="7213519" y="2286000"/>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Concentration and churn indicators</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Pricing and mix implications</a:t>
            </a:r>
            <a:endParaRPr lang="en-US" sz="1000" dirty="0"/>
          </a:p>
        </p:txBody>
      </p:sp>
      <p:sp>
        <p:nvSpPr>
          <p:cNvPr id="22" name="Text 20"/>
          <p:cNvSpPr/>
          <p:nvPr/>
        </p:nvSpPr>
        <p:spPr>
          <a:xfrm>
            <a:off x="9286098"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05</a:t>
            </a:r>
            <a:endParaRPr lang="en-US" sz="3400" dirty="0"/>
          </a:p>
        </p:txBody>
      </p:sp>
      <p:sp>
        <p:nvSpPr>
          <p:cNvPr id="23" name="Shape 21"/>
          <p:cNvSpPr/>
          <p:nvPr/>
        </p:nvSpPr>
        <p:spPr>
          <a:xfrm>
            <a:off x="9286098" y="1737360"/>
            <a:ext cx="502920" cy="0"/>
          </a:xfrm>
          <a:prstGeom prst="line">
            <a:avLst/>
          </a:prstGeom>
          <a:noFill/>
          <a:ln w="12700">
            <a:solidFill>
              <a:srgbClr val="00338D"/>
            </a:solidFill>
            <a:prstDash val="solid"/>
          </a:ln>
        </p:spPr>
      </p:sp>
      <p:sp>
        <p:nvSpPr>
          <p:cNvPr id="24" name="Text 22"/>
          <p:cNvSpPr/>
          <p:nvPr/>
        </p:nvSpPr>
        <p:spPr>
          <a:xfrm>
            <a:off x="9286098"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Scenario and Valuation</a:t>
            </a:r>
            <a:endParaRPr lang="en-US" sz="1200" dirty="0"/>
          </a:p>
        </p:txBody>
      </p:sp>
      <p:sp>
        <p:nvSpPr>
          <p:cNvPr id="25" name="Text 23"/>
          <p:cNvSpPr/>
          <p:nvPr/>
        </p:nvSpPr>
        <p:spPr>
          <a:xfrm>
            <a:off x="9286098" y="2020824"/>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13-15)</a:t>
            </a:r>
            <a:endParaRPr lang="en-US" sz="1000" dirty="0"/>
          </a:p>
        </p:txBody>
      </p:sp>
      <p:sp>
        <p:nvSpPr>
          <p:cNvPr id="26" name="Text 24"/>
          <p:cNvSpPr/>
          <p:nvPr/>
        </p:nvSpPr>
        <p:spPr>
          <a:xfrm>
            <a:off x="9286098" y="2286000"/>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Sensitivity architecture</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Downside and upside framing</a:t>
            </a:r>
            <a:endParaRPr lang="en-US" sz="1000" dirty="0"/>
          </a:p>
        </p:txBody>
      </p:sp>
      <p:sp>
        <p:nvSpPr>
          <p:cNvPr id="27" name="Text 25"/>
          <p:cNvSpPr/>
          <p:nvPr/>
        </p:nvSpPr>
        <p:spPr>
          <a:xfrm>
            <a:off x="995782" y="3694176"/>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06</a:t>
            </a:r>
            <a:endParaRPr lang="en-US" sz="3400" dirty="0"/>
          </a:p>
        </p:txBody>
      </p:sp>
      <p:sp>
        <p:nvSpPr>
          <p:cNvPr id="28" name="Shape 26"/>
          <p:cNvSpPr/>
          <p:nvPr/>
        </p:nvSpPr>
        <p:spPr>
          <a:xfrm>
            <a:off x="995782" y="4169664"/>
            <a:ext cx="502920" cy="0"/>
          </a:xfrm>
          <a:prstGeom prst="line">
            <a:avLst/>
          </a:prstGeom>
          <a:noFill/>
          <a:ln w="12700">
            <a:solidFill>
              <a:srgbClr val="00338D"/>
            </a:solidFill>
            <a:prstDash val="solid"/>
          </a:ln>
        </p:spPr>
      </p:sp>
      <p:sp>
        <p:nvSpPr>
          <p:cNvPr id="29" name="Text 27"/>
          <p:cNvSpPr/>
          <p:nvPr/>
        </p:nvSpPr>
        <p:spPr>
          <a:xfrm>
            <a:off x="995782" y="4215384"/>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Operational Workstreams</a:t>
            </a:r>
            <a:endParaRPr lang="en-US" sz="1200" dirty="0"/>
          </a:p>
        </p:txBody>
      </p:sp>
      <p:sp>
        <p:nvSpPr>
          <p:cNvPr id="30" name="Text 28"/>
          <p:cNvSpPr/>
          <p:nvPr/>
        </p:nvSpPr>
        <p:spPr>
          <a:xfrm>
            <a:off x="995782" y="4453128"/>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16-17)</a:t>
            </a:r>
            <a:endParaRPr lang="en-US" sz="1000" dirty="0"/>
          </a:p>
        </p:txBody>
      </p:sp>
      <p:sp>
        <p:nvSpPr>
          <p:cNvPr id="31" name="Text 29"/>
          <p:cNvSpPr/>
          <p:nvPr/>
        </p:nvSpPr>
        <p:spPr>
          <a:xfrm>
            <a:off x="995782" y="4718304"/>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Diligence workplan by pillar</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Execution gating items</a:t>
            </a:r>
            <a:endParaRPr lang="en-US" sz="1000" dirty="0"/>
          </a:p>
        </p:txBody>
      </p:sp>
      <p:sp>
        <p:nvSpPr>
          <p:cNvPr id="32" name="Text 30"/>
          <p:cNvSpPr/>
          <p:nvPr/>
        </p:nvSpPr>
        <p:spPr>
          <a:xfrm>
            <a:off x="3068361" y="3694176"/>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07</a:t>
            </a:r>
            <a:endParaRPr lang="en-US" sz="3400" dirty="0"/>
          </a:p>
        </p:txBody>
      </p:sp>
      <p:sp>
        <p:nvSpPr>
          <p:cNvPr id="33" name="Shape 31"/>
          <p:cNvSpPr/>
          <p:nvPr/>
        </p:nvSpPr>
        <p:spPr>
          <a:xfrm>
            <a:off x="3068361" y="4169664"/>
            <a:ext cx="502920" cy="0"/>
          </a:xfrm>
          <a:prstGeom prst="line">
            <a:avLst/>
          </a:prstGeom>
          <a:noFill/>
          <a:ln w="12700">
            <a:solidFill>
              <a:srgbClr val="00338D"/>
            </a:solidFill>
            <a:prstDash val="solid"/>
          </a:ln>
        </p:spPr>
      </p:sp>
      <p:sp>
        <p:nvSpPr>
          <p:cNvPr id="34" name="Text 32"/>
          <p:cNvSpPr/>
          <p:nvPr/>
        </p:nvSpPr>
        <p:spPr>
          <a:xfrm>
            <a:off x="3068361" y="4215384"/>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Risks and Mitigations</a:t>
            </a:r>
            <a:endParaRPr lang="en-US" sz="1200" dirty="0"/>
          </a:p>
        </p:txBody>
      </p:sp>
      <p:sp>
        <p:nvSpPr>
          <p:cNvPr id="35" name="Text 33"/>
          <p:cNvSpPr/>
          <p:nvPr/>
        </p:nvSpPr>
        <p:spPr>
          <a:xfrm>
            <a:off x="3068361" y="4517136"/>
            <a:ext cx="1907987" cy="1325880"/>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Risk register and ownership</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Mitigation and tracking cadence</a:t>
            </a:r>
            <a:endParaRPr lang="en-US" sz="1000" dirty="0"/>
          </a:p>
        </p:txBody>
      </p:sp>
      <p:sp>
        <p:nvSpPr>
          <p:cNvPr id="36" name="Text 34"/>
          <p:cNvSpPr/>
          <p:nvPr/>
        </p:nvSpPr>
        <p:spPr>
          <a:xfrm>
            <a:off x="5140940" y="3694176"/>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08</a:t>
            </a:r>
            <a:endParaRPr lang="en-US" sz="3400" dirty="0"/>
          </a:p>
        </p:txBody>
      </p:sp>
      <p:sp>
        <p:nvSpPr>
          <p:cNvPr id="37" name="Shape 35"/>
          <p:cNvSpPr/>
          <p:nvPr/>
        </p:nvSpPr>
        <p:spPr>
          <a:xfrm>
            <a:off x="5140940" y="4169664"/>
            <a:ext cx="502920" cy="0"/>
          </a:xfrm>
          <a:prstGeom prst="line">
            <a:avLst/>
          </a:prstGeom>
          <a:noFill/>
          <a:ln w="12700">
            <a:solidFill>
              <a:srgbClr val="00338D"/>
            </a:solidFill>
            <a:prstDash val="solid"/>
          </a:ln>
        </p:spPr>
      </p:sp>
      <p:sp>
        <p:nvSpPr>
          <p:cNvPr id="38" name="Text 36"/>
          <p:cNvSpPr/>
          <p:nvPr/>
        </p:nvSpPr>
        <p:spPr>
          <a:xfrm>
            <a:off x="5140940" y="4215384"/>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Appendix and Closing</a:t>
            </a:r>
            <a:endParaRPr lang="en-US" sz="1200" dirty="0"/>
          </a:p>
        </p:txBody>
      </p:sp>
      <p:sp>
        <p:nvSpPr>
          <p:cNvPr id="39" name="Text 37"/>
          <p:cNvSpPr/>
          <p:nvPr/>
        </p:nvSpPr>
        <p:spPr>
          <a:xfrm>
            <a:off x="5140940" y="4517136"/>
            <a:ext cx="1907987" cy="1325880"/>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Detailed support exhibits</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Legal and contact close</a:t>
            </a:r>
            <a:endParaRPr lang="en-US" sz="1000" dirty="0"/>
          </a:p>
        </p:txBody>
      </p:sp>
      <p:sp>
        <p:nvSpPr>
          <p:cNvPr id="40" name="Text 38"/>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00338D"/>
                </a:solidFill>
                <a:latin typeface="Arial" pitchFamily="34" charset="0"/>
                <a:ea typeface="Arial" pitchFamily="34" charset="-122"/>
                <a:cs typeface="Arial" pitchFamily="34" charset="-120"/>
              </a:rPr>
              <a:t>02</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00338D"/>
                </a:solidFill>
                <a:latin typeface="Arial" pitchFamily="34" charset="0"/>
                <a:ea typeface="Arial" pitchFamily="34" charset="-122"/>
                <a:cs typeface="Arial" pitchFamily="34" charset="-120"/>
              </a:rPr>
              <a:t>Performance Overview</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Executive Summary and Investment Context</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Headline findings indicate strong historical growth with moderating margin profile and concentrated customer exposure</a:t>
            </a:r>
            <a:endParaRPr lang="en-US" sz="1000" dirty="0"/>
          </a:p>
        </p:txBody>
      </p:sp>
      <p:sp>
        <p:nvSpPr>
          <p:cNvPr id="4" name="Text 2"/>
          <p:cNvSpPr/>
          <p:nvPr/>
        </p:nvSpPr>
        <p:spPr>
          <a:xfrm>
            <a:off x="998433" y="1716786"/>
            <a:ext cx="10204338" cy="4248760"/>
          </a:xfrm>
          <a:prstGeom prst="rect">
            <a:avLst/>
          </a:prstGeom>
          <a:noFill/>
          <a:ln/>
        </p:spPr>
        <p:txBody>
          <a:bodyPr wrap="square" lIns="46800" tIns="72000" rIns="90000" bIns="46800" rtlCol="0" anchor="t"/>
          <a:lstStyle/>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Investment thesis context</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Atlas Holdco has demonstrated sustained top-line expansion over the last three fiscal years, supported by recurring enterprise contracts and increasing wallet share within core strategic accounts. Revenue quality is directionally strong, yet a growing share of incremental growth has been sourced from a narrower customer base, which elevates concentration risk under downside stress scenarios.</a:t>
            </a:r>
            <a:endParaRPr lang="en-US" sz="1000" dirty="0"/>
          </a:p>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Diligence synthesis</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Adjusted EBITDA remains resilient after normalization, although reported margin compression in the most recent period reflects both product-mix changes and cost-to-serve pressure in implementation-heavy engagements. Working-capital efficiency has improved sequentially, but seasonality and billing milestone structures continue to create quarter-end volatility that should be addressed in transaction modeling assumptions.</a:t>
            </a:r>
            <a:endParaRPr lang="en-US" sz="1000" dirty="0"/>
          </a:p>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Decision implications</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From a transaction perspective, our current view supports proceeding to confirmatory diligence with a targeted focus on customer durability, contract economics by cohort, and controllability of delivery costs. The valuation range is highly sensitive to margin recovery pace and concentration-adjusted growth, making downside protections and post-close operating plan governance critical to underwriting discipline.</a:t>
            </a:r>
            <a:endParaRPr lang="en-US" sz="1000" dirty="0"/>
          </a:p>
        </p:txBody>
      </p:sp>
      <p:sp>
        <p:nvSpPr>
          <p:cNvPr id="5" name="Text 3"/>
          <p:cNvSpPr/>
          <p:nvPr/>
        </p:nvSpPr>
        <p:spPr>
          <a:xfrm>
            <a:off x="998433" y="5992978"/>
            <a:ext cx="10204338" cy="182880"/>
          </a:xfrm>
          <a:prstGeom prst="rect">
            <a:avLst/>
          </a:prstGeom>
          <a:noFill/>
          <a:ln/>
        </p:spPr>
        <p:txBody>
          <a:bodyPr wrap="square" lIns="46800" tIns="72000" rIns="90000" bIns="46800" rtlCol="0" anchor="t"/>
          <a:lstStyle/>
          <a:p>
            <a:pPr indent="0" marL="0">
              <a:buNone/>
            </a:pPr>
            <a:r>
              <a:rPr lang="en-US" sz="600" i="1" dirty="0">
                <a:solidFill>
                  <a:srgbClr val="00338D"/>
                </a:solidFill>
                <a:latin typeface="Arial" pitchFamily="34" charset="0"/>
                <a:ea typeface="Arial" pitchFamily="34" charset="-122"/>
                <a:cs typeface="Arial" pitchFamily="34" charset="-120"/>
              </a:rPr>
              <a:t>Source: Management interviews, trial balance extracts, and synthetic diligence workpapers</a:t>
            </a:r>
            <a:endParaRPr lang="en-US" sz="600" dirty="0"/>
          </a:p>
        </p:txBody>
      </p:sp>
      <p:sp>
        <p:nvSpPr>
          <p:cNvPr id="6"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Reported Performance Trend Summary</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Three-year trajectory shows robust revenue scaling with moderated EBITDA conversion in the current period</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Observed pattern</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Revenue increased from $182M to $347M across FY2023 to FY2025, reflecting both volume growth in core accounts and expansion of adjacent service lines. EBITDA growth remained positive over the same horizon, though conversion decelerated in FY2025 as implementation intensity increased and utilization normalization lagged onboarding pace.</a:t>
            </a:r>
            <a:endParaRPr lang="en-US" sz="1000" dirty="0"/>
          </a:p>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Interpretive view</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While absolute profitability remains strong, recent trend shape suggests the business has moved from pure scale capture into a phase where operational discipline and mix optimization will determine sustainability. This dynamic is typical for platform businesses crossing into broader enterprise deployment, and it should be explicitly reflected in base-case and downside underwriting assumptions.</a:t>
            </a:r>
            <a:endParaRPr lang="en-US" sz="1000" dirty="0"/>
          </a:p>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Diligence focus</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Confirm customer-level gross margin, isolate one-time delivery burdens, and test whether margin recovery is visible in current run-rate cohorts. Validate that reported growth quality is supported by contract terms and renewal behavior rather than non-repeatable project spikes.</a:t>
            </a:r>
            <a:endParaRPr lang="en-US" sz="1000" dirty="0"/>
          </a:p>
        </p:txBody>
      </p:sp>
      <p:graphicFrame>
        <p:nvGraphicFramePr>
          <p:cNvPr id="5" name="Chart 0" descr=""/>
          <p:cNvGraphicFramePr/>
          <p:nvPr/>
        </p:nvGraphicFramePr>
        <p:xfrm>
          <a:off x="6400800" y="1716786"/>
          <a:ext cx="4800600" cy="4230472"/>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9297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Synthetic management reporting package</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KPI Snapshot and Year-on-Year Movement</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Core KPI panel validates current-period scale, margin profile, and conversion efficiency</a:t>
            </a:r>
            <a:endParaRPr lang="en-US" sz="1000" dirty="0"/>
          </a:p>
        </p:txBody>
      </p:sp>
      <p:sp>
        <p:nvSpPr>
          <p:cNvPr id="4" name="Shape 2"/>
          <p:cNvSpPr/>
          <p:nvPr/>
        </p:nvSpPr>
        <p:spPr>
          <a:xfrm>
            <a:off x="995361" y="1751579"/>
            <a:ext cx="5036396" cy="219456"/>
          </a:xfrm>
          <a:prstGeom prst="rect">
            <a:avLst/>
          </a:prstGeom>
          <a:solidFill>
            <a:srgbClr val="00338D"/>
          </a:solidFill>
          <a:ln w="12700">
            <a:solidFill>
              <a:srgbClr val="00338D">
                <a:alpha val="0"/>
              </a:srgbClr>
            </a:solidFill>
            <a:prstDash val="solid"/>
          </a:ln>
        </p:spPr>
      </p:sp>
      <p:sp>
        <p:nvSpPr>
          <p:cNvPr id="5" name="Text 3"/>
          <p:cNvSpPr/>
          <p:nvPr/>
        </p:nvSpPr>
        <p:spPr>
          <a:xfrm>
            <a:off x="1050225" y="1765295"/>
            <a:ext cx="4926668"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KPI Snapshot and Year-on-Year Movement</a:t>
            </a:r>
            <a:endParaRPr lang="en-US" sz="900" dirty="0"/>
          </a:p>
        </p:txBody>
      </p:sp>
      <p:sp>
        <p:nvSpPr>
          <p:cNvPr id="6" name="Shape 4"/>
          <p:cNvSpPr/>
          <p:nvPr/>
        </p:nvSpPr>
        <p:spPr>
          <a:xfrm>
            <a:off x="995361" y="1971035"/>
            <a:ext cx="5036396" cy="0"/>
          </a:xfrm>
          <a:prstGeom prst="line">
            <a:avLst/>
          </a:prstGeom>
          <a:noFill/>
          <a:ln w="12700">
            <a:solidFill>
              <a:srgbClr val="00338D"/>
            </a:solidFill>
            <a:prstDash val="solid"/>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995361" y="1989323"/>
          <a:ext cx="5036396" cy="3884252"/>
        </p:xfrm>
        <a:graphic>
          <a:graphicData uri="http://schemas.openxmlformats.org/drawingml/2006/table">
            <a:tbl>
              <a:tblPr/>
              <a:tblGrid>
                <a:gridCol w="2194560"/>
                <a:gridCol w="947279"/>
                <a:gridCol w="947279"/>
                <a:gridCol w="947279"/>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Metric</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FY2023</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FY2024</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FY2025</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Revenue ($M)</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182.0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264.0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347.0</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Adjusted EBITDA ($M)</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39.0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61.0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74.0</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Adjusted EBITDA margin</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21.4%</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23.1%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21.3%</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Gross retention</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91.2%</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92.4%</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90.8%</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Net retention</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108.6%</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113.1%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110.4%</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DSO (days)</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67</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63</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61</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DPO (days)</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42</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47</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Inventory days</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18</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22</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1000" b="1" dirty="0">
                <a:solidFill>
                  <a:srgbClr val="00338D"/>
                </a:solidFill>
                <a:latin typeface="Arial" pitchFamily="34" charset="0"/>
                <a:ea typeface="Arial" pitchFamily="34" charset="-122"/>
                <a:cs typeface="Arial" pitchFamily="34" charset="-120"/>
              </a:rPr>
              <a:t>Key takeaways</a:t>
            </a:r>
            <a:endParaRPr lang="en-US" sz="1000" dirty="0"/>
          </a:p>
        </p:txBody>
      </p:sp>
      <p:sp>
        <p:nvSpPr>
          <p:cNvPr id="9" name="Text 6"/>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Scale increased materially across the review period while EBITDA growth remained positive, supporting a resilient headline profile.</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Margin shape suggests operational complexity increased in FY2025, so normalization should focus on delivery burden and mix effects.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Retention remains strong overall, but concentration and working-capital cadence should be tested in downside underwriting.</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KPI outputs should be tied directly to scenario assumptions used in valuation and debt-capacity analysis.</a:t>
            </a:r>
            <a:endParaRPr lang="en-US" sz="1000" dirty="0"/>
          </a:p>
        </p:txBody>
      </p:sp>
      <p:sp>
        <p:nvSpPr>
          <p:cNvPr id="10" name="Text 7"/>
          <p:cNvSpPr/>
          <p:nvPr/>
        </p:nvSpPr>
        <p:spPr>
          <a:xfrm>
            <a:off x="995361" y="6010735"/>
            <a:ext cx="5036396" cy="165122"/>
          </a:xfrm>
          <a:prstGeom prst="rect">
            <a:avLst/>
          </a:prstGeom>
          <a:noFill/>
          <a:ln/>
        </p:spPr>
        <p:txBody>
          <a:bodyPr wrap="square" rtlCol="0" anchor="t"/>
          <a:lstStyle/>
          <a:p>
            <a:pPr indent="0" marL="0">
              <a:buNone/>
            </a:pPr>
            <a:r>
              <a:rPr lang="en-US" sz="600" i="1" dirty="0">
                <a:solidFill>
                  <a:srgbClr val="333333"/>
                </a:solidFill>
                <a:latin typeface="Arial" pitchFamily="34" charset="0"/>
                <a:ea typeface="Arial" pitchFamily="34" charset="-122"/>
                <a:cs typeface="Arial" pitchFamily="34" charset="-120"/>
              </a:rPr>
              <a:t>Note: KPI set is synthetic and designed for comprehensive layout and density validation.</a:t>
            </a:r>
            <a:endParaRPr lang="en-US" sz="600" dirty="0"/>
          </a:p>
        </p:txBody>
      </p:sp>
      <p:sp>
        <p:nvSpPr>
          <p:cNvPr id="11" name="Text 8"/>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03</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Quality of Earnings</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Normalization Framework and Scope</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Normalization logic distinguishes recurring commercial economics from transaction-neutralizing adjustments</a:t>
            </a:r>
            <a:endParaRPr lang="en-US" sz="1000" dirty="0"/>
          </a:p>
        </p:txBody>
      </p:sp>
      <p:sp>
        <p:nvSpPr>
          <p:cNvPr id="4" name="Text 2"/>
          <p:cNvSpPr/>
          <p:nvPr/>
        </p:nvSpPr>
        <p:spPr>
          <a:xfrm>
            <a:off x="997200" y="1716786"/>
            <a:ext cx="5036400" cy="4157127"/>
          </a:xfrm>
          <a:prstGeom prst="rect">
            <a:avLst/>
          </a:prstGeom>
          <a:noFill/>
          <a:ln/>
        </p:spPr>
        <p:txBody>
          <a:bodyPr wrap="square" lIns="46800" tIns="72000" rIns="90000" bIns="46800" rtlCol="0" anchor="t"/>
          <a:lstStyle/>
          <a:p>
            <a:pPr algn="l"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Methodology</a:t>
            </a:r>
            <a:endParaRPr lang="en-US" sz="1000" dirty="0"/>
          </a:p>
          <a:p>
            <a:pPr algn="l"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Our approach begins with reported EBITDA and applies a structured classification framework to separate non-recurring items, accounting reclassifications, and owner-specific economics. Adjustments are only retained where support is auditable and recurrence profile is demonstrably inconsistent with forward-state operations.</a:t>
            </a:r>
            <a:endParaRPr lang="en-US" sz="1000" dirty="0"/>
          </a:p>
          <a:p>
            <a:pPr algn="l"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Each proposed adjustment is evaluated on magnitude, frequency, and causal linkage to core commercial activity. Items that are cyclical yet inherent to the business model are preserved in normalized earnings to avoid optimistic bias in valuation modeling.</a:t>
            </a:r>
            <a:endParaRPr lang="en-US" sz="1000" dirty="0"/>
          </a:p>
          <a:p>
            <a:pPr algn="l"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Evidence threshold</a:t>
            </a:r>
            <a:endParaRPr lang="en-US" sz="1000" dirty="0"/>
          </a:p>
          <a:p>
            <a:pPr algn="l"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All material adjustments require dual support from ledger-level detail and management explanation, with contradictory evidence defaulting to conservative treatment pending confirmatory testing.</a:t>
            </a:r>
            <a:endParaRPr lang="en-US" sz="1000" dirty="0"/>
          </a:p>
        </p:txBody>
      </p:sp>
      <p:sp>
        <p:nvSpPr>
          <p:cNvPr id="5" name="Text 3"/>
          <p:cNvSpPr/>
          <p:nvPr/>
        </p:nvSpPr>
        <p:spPr>
          <a:xfrm>
            <a:off x="6159600" y="1716786"/>
            <a:ext cx="5036400" cy="4157127"/>
          </a:xfrm>
          <a:prstGeom prst="rect">
            <a:avLst/>
          </a:prstGeom>
          <a:noFill/>
          <a:ln/>
        </p:spPr>
        <p:txBody>
          <a:bodyPr wrap="square" lIns="46800" tIns="72000" rIns="90000" bIns="46800" rtlCol="0" anchor="t"/>
          <a:lstStyle/>
          <a:p>
            <a:pPr algn="l"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Adjustment classes</a:t>
            </a:r>
            <a:endParaRPr lang="en-US" sz="1000" dirty="0"/>
          </a:p>
          <a:p>
            <a:pPr algn="l"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Class 1 captures demonstrably non-recurring items such as legal settlement recoveries, one-time restructuring severance, and transaction advisory spend. Class 2 covers accounting normalizations including lease presentation alignment and revenue cut-off corrections identified through period-end testing.</a:t>
            </a:r>
            <a:endParaRPr lang="en-US" sz="1000" dirty="0"/>
          </a:p>
          <a:p>
            <a:pPr algn="l"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Class 3 addresses owner-specific or run-rate distortions including above-market related-party fees, temporary vacancy burden, and launch-phase delivery inefficiencies that are not expected to persist under steady-state operations. Each class is documented with directional impact and confidence rating.</a:t>
            </a:r>
            <a:endParaRPr lang="en-US" sz="1000" dirty="0"/>
          </a:p>
          <a:p>
            <a:pPr algn="l"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Model linkage</a:t>
            </a:r>
            <a:endParaRPr lang="en-US" sz="1000" dirty="0"/>
          </a:p>
          <a:p>
            <a:pPr algn="l"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Normalized outputs are fed directly into scenario architecture to ensure bridge transparency from reported results to valuation-ready earnings.</a:t>
            </a:r>
            <a:endParaRPr lang="en-US" sz="1000" dirty="0"/>
          </a:p>
        </p:txBody>
      </p:sp>
      <p:sp>
        <p:nvSpPr>
          <p:cNvPr id="6"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Revenue Adjustment Commentary and Rationale</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Narrative details revenue normalization considerations, including cut-off alignment and non-core stream exclusions</a:t>
            </a:r>
            <a:endParaRPr lang="en-US" sz="1000" dirty="0"/>
          </a:p>
        </p:txBody>
      </p:sp>
      <p:sp>
        <p:nvSpPr>
          <p:cNvPr id="4" name="Text 2"/>
          <p:cNvSpPr/>
          <p:nvPr/>
        </p:nvSpPr>
        <p:spPr>
          <a:xfrm>
            <a:off x="998433" y="1716786"/>
            <a:ext cx="10204338" cy="4248760"/>
          </a:xfrm>
          <a:prstGeom prst="rect">
            <a:avLst/>
          </a:prstGeom>
          <a:noFill/>
          <a:ln/>
        </p:spPr>
        <p:txBody>
          <a:bodyPr wrap="square" lIns="46800" tIns="72000" rIns="90000" bIns="46800" rtlCol="0" anchor="t"/>
          <a:lstStyle/>
          <a:p>
            <a:pPr indent="0" marL="0">
              <a:spcAft>
                <a:spcPts val="600"/>
              </a:spcAft>
              <a:buNone/>
            </a:pPr>
            <a:r>
              <a:rPr lang="en-US" sz="1000" b="1" dirty="0">
                <a:solidFill>
                  <a:srgbClr val="00338D"/>
                </a:solidFill>
                <a:latin typeface="Arial" pitchFamily="34" charset="0"/>
                <a:ea typeface="Arial" pitchFamily="34" charset="-122"/>
                <a:cs typeface="Arial" pitchFamily="34" charset="-120"/>
              </a:rPr>
              <a:t>Primary revenue adjustments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Deferred revenue release timing in Q4 produced a favorable pull-forward that was normalized to align with underlying service delivery cadence.</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One-time implementation accelerators tied to a specific regulatory deadline were removed from run-rate assumptions given low probability of recurrence.</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Pilot program receipts from a non-core channel were excluded from normalized base due to uncertain conversion and limited strategic alignment.</a:t>
            </a:r>
            <a:endParaRPr lang="en-US" sz="1000" dirty="0"/>
          </a:p>
          <a:p>
            <a:pPr indent="0" marL="0">
              <a:spcAft>
                <a:spcPts val="600"/>
              </a:spcAft>
              <a:buNone/>
            </a:pPr>
            <a:r>
              <a:rPr lang="en-US" sz="1000" b="1" dirty="0">
                <a:solidFill>
                  <a:srgbClr val="00338D"/>
                </a:solidFill>
                <a:latin typeface="Arial" pitchFamily="34" charset="0"/>
                <a:ea typeface="Arial" pitchFamily="34" charset="-122"/>
                <a:cs typeface="Arial" pitchFamily="34" charset="-120"/>
              </a:rPr>
              <a:t>Controls and implications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Cut-off controls are generally effective but depend on manual review for complex milestone contracts, creating moderate execution risk in peak close cycles.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Post-adjustment growth remains strong, but quality is more concentrated in top-tier clients, requiring durability testing in downside case design.</a:t>
            </a:r>
            <a:endParaRPr lang="en-US" sz="1000" dirty="0"/>
          </a:p>
        </p:txBody>
      </p:sp>
      <p:sp>
        <p:nvSpPr>
          <p:cNvPr id="5" name="Text 3"/>
          <p:cNvSpPr/>
          <p:nvPr/>
        </p:nvSpPr>
        <p:spPr>
          <a:xfrm>
            <a:off x="998433" y="5992978"/>
            <a:ext cx="10204338" cy="182880"/>
          </a:xfrm>
          <a:prstGeom prst="rect">
            <a:avLst/>
          </a:prstGeom>
          <a:noFill/>
          <a:ln/>
        </p:spPr>
        <p:txBody>
          <a:bodyPr wrap="square" lIns="46800" tIns="72000" rIns="90000" bIns="46800" rtlCol="0" anchor="t"/>
          <a:lstStyle/>
          <a:p>
            <a:pPr indent="0" marL="0">
              <a:buNone/>
            </a:pPr>
            <a:r>
              <a:rPr lang="en-US" sz="600" i="1" dirty="0">
                <a:solidFill>
                  <a:srgbClr val="00338D"/>
                </a:solidFill>
                <a:latin typeface="Arial" pitchFamily="34" charset="0"/>
                <a:ea typeface="Arial" pitchFamily="34" charset="-122"/>
                <a:cs typeface="Arial" pitchFamily="34" charset="-120"/>
              </a:rPr>
              <a:t>Source: Revenue testing workpapers, contract review, and management walkthroughs</a:t>
            </a:r>
            <a:endParaRPr lang="en-US" sz="600" dirty="0"/>
          </a:p>
        </p:txBody>
      </p:sp>
      <p:sp>
        <p:nvSpPr>
          <p:cNvPr id="6"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Cost and Margin Adjustment Commentary</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Cost normalization isolates non-recurring burdens and clarifies sustainable gross and EBITDA margin trajectory</a:t>
            </a:r>
            <a:endParaRPr lang="en-US" sz="1000" dirty="0"/>
          </a:p>
        </p:txBody>
      </p:sp>
      <p:sp>
        <p:nvSpPr>
          <p:cNvPr id="4" name="Text 2"/>
          <p:cNvSpPr/>
          <p:nvPr/>
        </p:nvSpPr>
        <p:spPr>
          <a:xfrm>
            <a:off x="998433" y="1716786"/>
            <a:ext cx="10204338" cy="4248760"/>
          </a:xfrm>
          <a:prstGeom prst="rect">
            <a:avLst/>
          </a:prstGeom>
          <a:noFill/>
          <a:ln/>
        </p:spPr>
        <p:txBody>
          <a:bodyPr wrap="square" lIns="46800" tIns="72000" rIns="90000" bIns="46800" rtlCol="0" anchor="t"/>
          <a:lstStyle/>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Basis of presentation</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Margin normalization includes removal of clearly non-recurring restructuring costs and transaction-specific diligence spend while preserving recurring implementation burden and expected support ramp for enterprise clients. This treatment results in a conservative yet decision-useful earnings baseline that better reflects forward operating conditions.</a:t>
            </a:r>
            <a:endParaRPr lang="en-US" sz="1000" dirty="0"/>
          </a:p>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Adjustments</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Severance and temporary backfill costs linked to a one-time operating model redesign were adjusted out after validating board-approved restructuring plans and completion status. In contrast, elevated subcontractor spend associated with current delivery complexity was retained because it appears structurally linked to the present client mix and therefore relevant to near-term profitability.</a:t>
            </a:r>
            <a:endParaRPr lang="en-US" sz="1000" dirty="0"/>
          </a:p>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Implication for valuation</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Normalized margin lands below headline management targets, indicating valuation upside relies on demonstrable execution against efficiency initiatives rather than multiple expansion alone.</a:t>
            </a:r>
            <a:endParaRPr lang="en-US" sz="1000" dirty="0"/>
          </a:p>
        </p:txBody>
      </p:sp>
      <p:sp>
        <p:nvSpPr>
          <p:cNvPr id="5" name="Text 3"/>
          <p:cNvSpPr/>
          <p:nvPr/>
        </p:nvSpPr>
        <p:spPr>
          <a:xfrm>
            <a:off x="998433" y="5992978"/>
            <a:ext cx="10204338" cy="182880"/>
          </a:xfrm>
          <a:prstGeom prst="rect">
            <a:avLst/>
          </a:prstGeom>
          <a:noFill/>
          <a:ln/>
        </p:spPr>
        <p:txBody>
          <a:bodyPr wrap="square" lIns="46800" tIns="72000" rIns="90000" bIns="46800" rtlCol="0" anchor="t"/>
          <a:lstStyle/>
          <a:p>
            <a:pPr indent="0" marL="0">
              <a:buNone/>
            </a:pPr>
            <a:r>
              <a:rPr lang="en-US" sz="600" i="1" dirty="0">
                <a:solidFill>
                  <a:srgbClr val="00338D"/>
                </a:solidFill>
                <a:latin typeface="Arial" pitchFamily="34" charset="0"/>
                <a:ea typeface="Arial" pitchFamily="34" charset="-122"/>
                <a:cs typeface="Arial" pitchFamily="34" charset="-120"/>
              </a:rPr>
              <a:t>Source: Payroll detail, GL extracts, and synthetic margin bridge schedules</a:t>
            </a:r>
            <a:endParaRPr lang="en-US" sz="600" dirty="0"/>
          </a:p>
        </p:txBody>
      </p:sp>
      <p:sp>
        <p:nvSpPr>
          <p:cNvPr id="6"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7</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Adjusted EBITDA Bridge and Scenario Anchors</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Bridge presentation links reported earnings to normalized and scenario-ready EBITDA anchors</a:t>
            </a:r>
            <a:endParaRPr lang="en-US" sz="1000" dirty="0"/>
          </a:p>
        </p:txBody>
      </p:sp>
      <p:sp>
        <p:nvSpPr>
          <p:cNvPr id="4" name="Shape 2"/>
          <p:cNvSpPr/>
          <p:nvPr/>
        </p:nvSpPr>
        <p:spPr>
          <a:xfrm>
            <a:off x="995361" y="1751584"/>
            <a:ext cx="10192299" cy="252000"/>
          </a:xfrm>
          <a:prstGeom prst="rect">
            <a:avLst/>
          </a:prstGeom>
          <a:solidFill>
            <a:srgbClr val="00338D"/>
          </a:solidFill>
          <a:ln w="12700">
            <a:solidFill>
              <a:srgbClr val="00338D"/>
            </a:solidFill>
            <a:prstDash val="solid"/>
          </a:ln>
        </p:spPr>
      </p:sp>
      <p:sp>
        <p:nvSpPr>
          <p:cNvPr id="5" name="Text 3"/>
          <p:cNvSpPr/>
          <p:nvPr/>
        </p:nvSpPr>
        <p:spPr>
          <a:xfrm>
            <a:off x="1068513" y="1769872"/>
            <a:ext cx="10045995" cy="252000"/>
          </a:xfrm>
          <a:prstGeom prst="rect">
            <a:avLst/>
          </a:prstGeom>
          <a:noFill/>
          <a:ln/>
        </p:spPr>
        <p:txBody>
          <a:bodyPr wrap="square" lIns="46800" tIns="72000" rIns="90000" bIns="46800" rtlCol="0" anchor="ctr"/>
          <a:lstStyle/>
          <a:p>
            <a:pPr indent="0" marL="0">
              <a:buNone/>
            </a:pPr>
            <a:r>
              <a:rPr lang="en-US" sz="1000" b="1" dirty="0">
                <a:solidFill>
                  <a:srgbClr val="FFFFFF"/>
                </a:solidFill>
                <a:latin typeface="Arial" pitchFamily="34" charset="0"/>
                <a:ea typeface="Arial" pitchFamily="34" charset="-122"/>
                <a:cs typeface="Arial" pitchFamily="34" charset="-120"/>
              </a:rPr>
              <a:t>Illustrative EBITDA bridge and scenario anchor points</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995361" y="4170712"/>
          <a:ext cx="5036400" cy="2005146"/>
        </p:xfrm>
        <a:graphic>
          <a:graphicData uri="http://schemas.openxmlformats.org/drawingml/2006/table">
            <a:tbl>
              <a:tblPr/>
              <a:tblGrid>
                <a:gridCol w="2194560"/>
                <a:gridCol w="947280"/>
                <a:gridCol w="947280"/>
                <a:gridCol w="947280"/>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Bridge item</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FY2024</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FY2025</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LTM</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Reported EBITDA</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61.0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70.0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72.0</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Add back: non-recurring severance</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3.4</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2.8</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Add back: transaction costs</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1.3</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1.9</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Less: revenue cut-off normalization</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(0.8)</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(1.2)</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Normalized EBITDA</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63.6</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73.9</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75.5</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7" name="Text 4"/>
          <p:cNvSpPr/>
          <p:nvPr/>
        </p:nvSpPr>
        <p:spPr>
          <a:xfrm>
            <a:off x="6159600" y="2058448"/>
            <a:ext cx="5033848" cy="1828800"/>
          </a:xfrm>
          <a:prstGeom prst="rect">
            <a:avLst/>
          </a:prstGeom>
          <a:noFill/>
          <a:ln/>
        </p:spPr>
        <p:txBody>
          <a:bodyPr wrap="square" lIns="46800" tIns="72000" rIns="90000" bIns="46800" rtlCol="0" anchor="t"/>
          <a:lstStyle/>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Bridge interpretation</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Bridge outputs indicate that normalized EBITDA remains materially above reported baseline after neutralizing one-time costs, though upside assumptions should be tempered by retained recurring delivery burden. This supports a base case anchored in gradual margin recovery rather than immediate reversion to historical peak conversion.</a:t>
            </a:r>
            <a:endParaRPr lang="en-US" sz="1000" dirty="0"/>
          </a:p>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Scenario implications</a:t>
            </a:r>
            <a:endParaRPr lang="en-US" sz="1000" dirty="0"/>
          </a:p>
        </p:txBody>
      </p:sp>
      <p:graphicFrame>
        <p:nvGraphicFramePr>
          <p:cNvPr id="8" name="Chart 0" descr=""/>
          <p:cNvGraphicFramePr/>
          <p:nvPr/>
        </p:nvGraphicFramePr>
        <p:xfrm>
          <a:off x="995361" y="2058448"/>
          <a:ext cx="5036400" cy="1828800"/>
        </p:xfrm>
        <a:graphic xmlns:a="http://schemas.openxmlformats.org/drawingml/2006/main">
          <a:graphicData uri="http://schemas.openxmlformats.org/drawingml/2006/chart">
            <c:chart xmlns:c="http://schemas.openxmlformats.org/drawingml/2006/chart" r:id="rId1"/>
          </a:graphicData>
        </a:graphic>
      </p:graphicFrame>
      <p:sp>
        <p:nvSpPr>
          <p:cNvPr id="9" name="Text 5"/>
          <p:cNvSpPr/>
          <p:nvPr/>
        </p:nvSpPr>
        <p:spPr>
          <a:xfrm>
            <a:off x="995361" y="3932968"/>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Synthetic QoE bridge workbook</a:t>
            </a:r>
            <a:endParaRPr lang="en-US" sz="600" dirty="0"/>
          </a:p>
        </p:txBody>
      </p:sp>
      <p:sp>
        <p:nvSpPr>
          <p:cNvPr id="10" name="Text 6"/>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8</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Adjusted EBITDA Bridge and Scenario Anchors</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Bridge presentation links reported earnings to normalized and scenario-ready EBITDA anchors</a:t>
            </a:r>
            <a:endParaRPr lang="en-US" sz="1000" dirty="0"/>
          </a:p>
        </p:txBody>
      </p:sp>
      <p:sp>
        <p:nvSpPr>
          <p:cNvPr id="4" name="Shape 2"/>
          <p:cNvSpPr/>
          <p:nvPr/>
        </p:nvSpPr>
        <p:spPr>
          <a:xfrm>
            <a:off x="995361" y="1751584"/>
            <a:ext cx="10192299" cy="252000"/>
          </a:xfrm>
          <a:prstGeom prst="rect">
            <a:avLst/>
          </a:prstGeom>
          <a:solidFill>
            <a:srgbClr val="00338D"/>
          </a:solidFill>
          <a:ln w="12700">
            <a:solidFill>
              <a:srgbClr val="00338D"/>
            </a:solidFill>
            <a:prstDash val="solid"/>
          </a:ln>
        </p:spPr>
      </p:sp>
      <p:sp>
        <p:nvSpPr>
          <p:cNvPr id="5" name="Text 3"/>
          <p:cNvSpPr/>
          <p:nvPr/>
        </p:nvSpPr>
        <p:spPr>
          <a:xfrm>
            <a:off x="1068513" y="1769872"/>
            <a:ext cx="10045995" cy="252000"/>
          </a:xfrm>
          <a:prstGeom prst="rect">
            <a:avLst/>
          </a:prstGeom>
          <a:noFill/>
          <a:ln/>
        </p:spPr>
        <p:txBody>
          <a:bodyPr wrap="square" lIns="46800" tIns="72000" rIns="90000" bIns="46800" rtlCol="0" anchor="ctr"/>
          <a:lstStyle/>
          <a:p>
            <a:pPr indent="0" marL="0">
              <a:buNone/>
            </a:pPr>
            <a:r>
              <a:rPr lang="en-US" sz="1000" b="1" dirty="0">
                <a:solidFill>
                  <a:srgbClr val="FFFFFF"/>
                </a:solidFill>
                <a:latin typeface="Arial" pitchFamily="34" charset="0"/>
                <a:ea typeface="Arial" pitchFamily="34" charset="-122"/>
                <a:cs typeface="Arial" pitchFamily="34" charset="-120"/>
              </a:rPr>
              <a:t>Illustrative EBITDA bridge and scenario anchor points</a:t>
            </a:r>
            <a:endParaRPr lang="en-US" sz="1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995361" y="4170712"/>
          <a:ext cx="5036400" cy="2005146"/>
        </p:xfrm>
        <a:graphic>
          <a:graphicData uri="http://schemas.openxmlformats.org/drawingml/2006/table">
            <a:tbl>
              <a:tblPr/>
              <a:tblGrid>
                <a:gridCol w="2194560"/>
                <a:gridCol w="947280"/>
                <a:gridCol w="947280"/>
                <a:gridCol w="947280"/>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Bridge item</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FY2024</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FY2025</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LTM</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Reported EBITDA</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61.0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70.0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72.0</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Add back: non-recurring severance</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3.4</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2.8</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Add back: transaction costs</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1.3</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1.9</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Less: revenue cut-off normalization</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(0.8)</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(1.2)</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Normalized EBITDA</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63.6</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73.9</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75.5</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7" name="Text 4"/>
          <p:cNvSpPr/>
          <p:nvPr/>
        </p:nvSpPr>
        <p:spPr>
          <a:xfrm>
            <a:off x="6159600" y="2058448"/>
            <a:ext cx="5033848" cy="1828800"/>
          </a:xfrm>
          <a:prstGeom prst="rect">
            <a:avLst/>
          </a:prstGeom>
          <a:noFill/>
          <a:ln/>
        </p:spPr>
        <p:txBody>
          <a:bodyPr wrap="square" lIns="46800" tIns="72000" rIns="90000" bIns="46800" rtlCol="0" anchor="t"/>
          <a:lstStyle/>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Downside and upside cases should flex both revenue quality and execution intensity, as sensitivity is jointly driven by client concentration, pricing durability, and delivery efficiency. The bridge therefore functions as an underwriting control point, ensuring each scenario traces transparently to identifiable operational drivers.</a:t>
            </a:r>
            <a:endParaRPr lang="en-US" sz="1000" dirty="0"/>
          </a:p>
        </p:txBody>
      </p:sp>
      <p:graphicFrame>
        <p:nvGraphicFramePr>
          <p:cNvPr id="8" name="Chart 0" descr=""/>
          <p:cNvGraphicFramePr/>
          <p:nvPr/>
        </p:nvGraphicFramePr>
        <p:xfrm>
          <a:off x="995361" y="2058448"/>
          <a:ext cx="5036400" cy="1828800"/>
        </p:xfrm>
        <a:graphic xmlns:a="http://schemas.openxmlformats.org/drawingml/2006/main">
          <a:graphicData uri="http://schemas.openxmlformats.org/drawingml/2006/chart">
            <c:chart xmlns:c="http://schemas.openxmlformats.org/drawingml/2006/chart" r:id="rId1"/>
          </a:graphicData>
        </a:graphic>
      </p:graphicFrame>
      <p:sp>
        <p:nvSpPr>
          <p:cNvPr id="9" name="Text 5"/>
          <p:cNvSpPr/>
          <p:nvPr/>
        </p:nvSpPr>
        <p:spPr>
          <a:xfrm>
            <a:off x="995361" y="3932968"/>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Synthetic QoE bridge workbook</a:t>
            </a:r>
            <a:endParaRPr lang="en-US" sz="600" dirty="0"/>
          </a:p>
        </p:txBody>
      </p:sp>
      <p:sp>
        <p:nvSpPr>
          <p:cNvPr id="10" name="Text 6"/>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9</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04</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Working Capital and Cash</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Net Working Capital Diagnostic Summary</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Working-capital profile reflects improving collections with persistent quarter-end volatility</a:t>
            </a:r>
            <a:endParaRPr lang="en-US" sz="1000" dirty="0"/>
          </a:p>
        </p:txBody>
      </p:sp>
      <p:sp>
        <p:nvSpPr>
          <p:cNvPr id="4" name="Text 2"/>
          <p:cNvSpPr/>
          <p:nvPr/>
        </p:nvSpPr>
        <p:spPr>
          <a:xfrm>
            <a:off x="997200" y="1716786"/>
            <a:ext cx="5036400" cy="4157127"/>
          </a:xfrm>
          <a:prstGeom prst="rect">
            <a:avLst/>
          </a:prstGeom>
          <a:noFill/>
          <a:ln/>
        </p:spPr>
        <p:txBody>
          <a:bodyPr wrap="square" lIns="46800" tIns="72000" rIns="90000" bIns="46800" rtlCol="0" anchor="t"/>
          <a:lstStyle/>
          <a:p>
            <a:pPr algn="l"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Receivables dynamics</a:t>
            </a:r>
            <a:endParaRPr lang="en-US" sz="1000" dirty="0"/>
          </a:p>
          <a:p>
            <a:pPr algn="l"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DSO has trended favorably over the review period as billing controls and enterprise collection cadence improved, yet concentration in milestone-based contracts still creates periodic step-changes in aging. Receivables quality remains acceptable, though exposure to a limited set of large counterparties increases sensitivity to dispute timing.</a:t>
            </a:r>
            <a:endParaRPr lang="en-US" sz="1000" dirty="0"/>
          </a:p>
          <a:p>
            <a:pPr algn="l"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Aging analysis shows manageable delinquency levels, but long-tail balances are clustered in projects with complex acceptance criteria that can delay formal invoice approval.</a:t>
            </a:r>
            <a:endParaRPr lang="en-US" sz="1000" dirty="0"/>
          </a:p>
          <a:p>
            <a:pPr algn="l"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Payables and accruals</a:t>
            </a:r>
            <a:endParaRPr lang="en-US" sz="1000" dirty="0"/>
          </a:p>
          <a:p>
            <a:pPr algn="l"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Vendor terms have been modestly extended without evidence of distress behavior, supporting stable DPO assumptions in the base case.</a:t>
            </a:r>
            <a:endParaRPr lang="en-US" sz="1000" dirty="0"/>
          </a:p>
        </p:txBody>
      </p:sp>
      <p:sp>
        <p:nvSpPr>
          <p:cNvPr id="5" name="Text 3"/>
          <p:cNvSpPr/>
          <p:nvPr/>
        </p:nvSpPr>
        <p:spPr>
          <a:xfrm>
            <a:off x="6159600" y="1716786"/>
            <a:ext cx="5036400" cy="4157127"/>
          </a:xfrm>
          <a:prstGeom prst="rect">
            <a:avLst/>
          </a:prstGeom>
          <a:noFill/>
          <a:ln/>
        </p:spPr>
        <p:txBody>
          <a:bodyPr wrap="square" lIns="46800" tIns="72000" rIns="90000" bIns="46800" rtlCol="0" anchor="t"/>
          <a:lstStyle/>
          <a:p>
            <a:pPr algn="l"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Inventory and deferred economics</a:t>
            </a:r>
            <a:endParaRPr lang="en-US" sz="1000" dirty="0"/>
          </a:p>
          <a:p>
            <a:pPr algn="l"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Inventory intensity is low in absolute terms but has risen as implementation kits and onboarding buffers were pre-positioned for strategic accounts, increasing temporary cash absorption. Deferred revenue remains a positive cash contributor, though recognition mechanics require contract-level scrutiny to confirm sustainability of the float benefit.</a:t>
            </a:r>
            <a:endParaRPr lang="en-US" sz="1000" dirty="0"/>
          </a:p>
          <a:p>
            <a:pPr algn="l"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Accrual hygiene is generally strong, with only limited true-up volatility observed at quarter close. This supports confidence in cash conversion assumptions once milestone timing is normalized.</a:t>
            </a:r>
            <a:endParaRPr lang="en-US" sz="1000" dirty="0"/>
          </a:p>
          <a:p>
            <a:pPr algn="l"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Transaction implication</a:t>
            </a:r>
            <a:endParaRPr lang="en-US" sz="1000" dirty="0"/>
          </a:p>
          <a:p>
            <a:pPr algn="l"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NWC target-setting should incorporate explicit seasonality bands and concentration-adjusted stress factors rather than a static historical average.</a:t>
            </a:r>
            <a:endParaRPr lang="en-US" sz="1000" dirty="0"/>
          </a:p>
        </p:txBody>
      </p:sp>
      <p:sp>
        <p:nvSpPr>
          <p:cNvPr id="6"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10</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Cash Conversion Trend and Efficiency</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Cash conversion improved overall but remains exposed to contract milestone timing and concentration effects</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Trend readout</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Operating cash flow conversion improved from 74% to 88% over the review period as receivable discipline tightened and non-core spend was rationalized. Improvement is constructive, yet quarter-level dispersion remains notable in periods with heavier implementation launches and delayed acceptance triggers.</a:t>
            </a:r>
            <a:endParaRPr lang="en-US" sz="1000" dirty="0"/>
          </a:p>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Underwriting lens</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Base-case assumptions should recognize continued cash conversion strength while applying moderate volatility buffers to reflect timing risk around key client invoices. Downside case should flex both DSO and milestone slippage to capture plausible stress outcomes.</a:t>
            </a:r>
            <a:endParaRPr lang="en-US" sz="1000" dirty="0"/>
          </a:p>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Execution priorities</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Strengthen contract administration for acceptance documentation, improve pre-bill readiness protocols, and tighten escalation cadence for high-value disputed balances.</a:t>
            </a:r>
            <a:endParaRPr lang="en-US" sz="1000" dirty="0"/>
          </a:p>
        </p:txBody>
      </p:sp>
      <p:graphicFrame>
        <p:nvGraphicFramePr>
          <p:cNvPr id="5" name="Chart 0" descr=""/>
          <p:cNvGraphicFramePr/>
          <p:nvPr/>
        </p:nvGraphicFramePr>
        <p:xfrm>
          <a:off x="6400800" y="1716786"/>
          <a:ext cx="4800600" cy="4230472"/>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9297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Synthetic cash conversion analysis</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11</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Working Capital Driver Table</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Driver-level table supports transaction target-setting and volatility calibration</a:t>
            </a:r>
            <a:endParaRPr lang="en-US" sz="1000" dirty="0"/>
          </a:p>
        </p:txBody>
      </p:sp>
      <p:sp>
        <p:nvSpPr>
          <p:cNvPr id="4" name="Shape 2"/>
          <p:cNvSpPr/>
          <p:nvPr/>
        </p:nvSpPr>
        <p:spPr>
          <a:xfrm>
            <a:off x="995361" y="1751579"/>
            <a:ext cx="5036396" cy="219456"/>
          </a:xfrm>
          <a:prstGeom prst="rect">
            <a:avLst/>
          </a:prstGeom>
          <a:solidFill>
            <a:srgbClr val="00338D"/>
          </a:solidFill>
          <a:ln w="12700">
            <a:solidFill>
              <a:srgbClr val="00338D">
                <a:alpha val="0"/>
              </a:srgbClr>
            </a:solidFill>
            <a:prstDash val="solid"/>
          </a:ln>
        </p:spPr>
      </p:sp>
      <p:sp>
        <p:nvSpPr>
          <p:cNvPr id="5" name="Text 3"/>
          <p:cNvSpPr/>
          <p:nvPr/>
        </p:nvSpPr>
        <p:spPr>
          <a:xfrm>
            <a:off x="1050225" y="1765295"/>
            <a:ext cx="4926668" cy="201168"/>
          </a:xfrm>
          <a:prstGeom prst="rect">
            <a:avLst/>
          </a:prstGeom>
          <a:noFill/>
          <a:ln/>
        </p:spPr>
        <p:txBody>
          <a:bodyPr wrap="square" lIns="0" tIns="0" rIns="0" bIns="0" rtlCol="0" anchor="ctr"/>
          <a:lstStyle/>
          <a:p>
            <a:pPr indent="0" marL="0">
              <a:buNone/>
            </a:pPr>
            <a:r>
              <a:rPr lang="en-US" sz="900" b="1" dirty="0">
                <a:solidFill>
                  <a:srgbClr val="FFFFFF"/>
                </a:solidFill>
                <a:latin typeface="Arial" pitchFamily="34" charset="0"/>
                <a:ea typeface="Arial" pitchFamily="34" charset="-122"/>
                <a:cs typeface="Arial" pitchFamily="34" charset="-120"/>
              </a:rPr>
              <a:t>Working Capital Driver Table</a:t>
            </a:r>
            <a:endParaRPr lang="en-US" sz="900" dirty="0"/>
          </a:p>
        </p:txBody>
      </p:sp>
      <p:sp>
        <p:nvSpPr>
          <p:cNvPr id="6" name="Shape 4"/>
          <p:cNvSpPr/>
          <p:nvPr/>
        </p:nvSpPr>
        <p:spPr>
          <a:xfrm>
            <a:off x="995361" y="1971035"/>
            <a:ext cx="5036396" cy="0"/>
          </a:xfrm>
          <a:prstGeom prst="line">
            <a:avLst/>
          </a:prstGeom>
          <a:noFill/>
          <a:ln w="12700">
            <a:solidFill>
              <a:srgbClr val="00338D"/>
            </a:solidFill>
            <a:prstDash val="solid"/>
          </a:ln>
        </p:spPr>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995361" y="1989323"/>
          <a:ext cx="5036396" cy="3884252"/>
        </p:xfrm>
        <a:graphic>
          <a:graphicData uri="http://schemas.openxmlformats.org/drawingml/2006/table">
            <a:tbl>
              <a:tblPr/>
              <a:tblGrid>
                <a:gridCol w="2194560"/>
                <a:gridCol w="947279"/>
                <a:gridCol w="947279"/>
                <a:gridCol w="947279"/>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Driver</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FY2023</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FY2024</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FY2025</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DSO (days)</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67</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63</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61</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DPO (days)</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42</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47</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Deferred revenue ($M)</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44.2</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58.9</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73.1</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Inventory days</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18</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22</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Accrued expenses ($M)</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21.7</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27.4</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31.6</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Cash conversion (%)</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79</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83</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88</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Text 5"/>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1000" b="1" dirty="0">
                <a:solidFill>
                  <a:srgbClr val="00338D"/>
                </a:solidFill>
                <a:latin typeface="Arial" pitchFamily="34" charset="0"/>
                <a:ea typeface="Arial" pitchFamily="34" charset="-122"/>
                <a:cs typeface="Arial" pitchFamily="34" charset="-120"/>
              </a:rPr>
              <a:t>Key takeaways</a:t>
            </a:r>
            <a:endParaRPr lang="en-US" sz="1000" dirty="0"/>
          </a:p>
        </p:txBody>
      </p:sp>
      <p:sp>
        <p:nvSpPr>
          <p:cNvPr id="9" name="Text 6"/>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Receivable and payable movements trend favorably, indicating stronger cash discipline over the diligence horizon.</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Deferred revenue growth supports visibility but should be reconciled to contract terms and service-delivery obligations.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Inventory and accrual movements introduce potential timing noise that should be reflected in target-setting guardrails.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Working-capital assumptions should include stress bands for concentration and milestone timing volatility.</a:t>
            </a:r>
            <a:endParaRPr lang="en-US" sz="1000" dirty="0"/>
          </a:p>
        </p:txBody>
      </p:sp>
      <p:sp>
        <p:nvSpPr>
          <p:cNvPr id="10" name="Text 7"/>
          <p:cNvSpPr/>
          <p:nvPr/>
        </p:nvSpPr>
        <p:spPr>
          <a:xfrm>
            <a:off x="995361" y="6010735"/>
            <a:ext cx="5036396" cy="165122"/>
          </a:xfrm>
          <a:prstGeom prst="rect">
            <a:avLst/>
          </a:prstGeom>
          <a:noFill/>
          <a:ln/>
        </p:spPr>
        <p:txBody>
          <a:bodyPr wrap="square" rtlCol="0" anchor="t"/>
          <a:lstStyle/>
          <a:p>
            <a:pPr indent="0" marL="0">
              <a:buNone/>
            </a:pPr>
            <a:r>
              <a:rPr lang="en-US" sz="600" i="1" dirty="0">
                <a:solidFill>
                  <a:srgbClr val="333333"/>
                </a:solidFill>
                <a:latin typeface="Arial" pitchFamily="34" charset="0"/>
                <a:ea typeface="Arial" pitchFamily="34" charset="-122"/>
                <a:cs typeface="Arial" pitchFamily="34" charset="-120"/>
              </a:rPr>
              <a:t>Note: Driver profile reflects synthetic period-end balances and ratios for layout stress purposes.</a:t>
            </a:r>
            <a:endParaRPr lang="en-US" sz="600" dirty="0"/>
          </a:p>
        </p:txBody>
      </p:sp>
      <p:sp>
        <p:nvSpPr>
          <p:cNvPr id="11" name="Text 8"/>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12</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00338D"/>
                </a:solidFill>
                <a:latin typeface="Arial" pitchFamily="34" charset="0"/>
                <a:ea typeface="Arial" pitchFamily="34" charset="-122"/>
                <a:cs typeface="Arial" pitchFamily="34" charset="-120"/>
              </a:rPr>
              <a:t>05</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00338D"/>
                </a:solidFill>
                <a:latin typeface="Arial" pitchFamily="34" charset="0"/>
                <a:ea typeface="Arial" pitchFamily="34" charset="-122"/>
                <a:cs typeface="Arial" pitchFamily="34" charset="-120"/>
              </a:rPr>
              <a:t>Commercial and Concentration</a:t>
            </a:r>
            <a:endParaRPr 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Customer Concentration and Churn Signals</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Concentration remains elevated despite strong retention; downside sensitivity centers on top-account durability</a:t>
            </a:r>
            <a:endParaRPr lang="en-US" sz="1000" dirty="0"/>
          </a:p>
        </p:txBody>
      </p:sp>
      <p:sp>
        <p:nvSpPr>
          <p:cNvPr id="4" name="Text 2"/>
          <p:cNvSpPr/>
          <p:nvPr/>
        </p:nvSpPr>
        <p:spPr>
          <a:xfrm>
            <a:off x="998433" y="1716786"/>
            <a:ext cx="5120640" cy="4459072"/>
          </a:xfrm>
          <a:prstGeom prst="rect">
            <a:avLst/>
          </a:prstGeom>
          <a:noFill/>
          <a:ln/>
        </p:spPr>
        <p:txBody>
          <a:bodyPr wrap="square" lIns="46800" tIns="72000" rIns="90000" bIns="46800" rtlCol="0" anchor="t"/>
          <a:lstStyle/>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Concentration profile</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Top-five customers represent 57% of current revenue, with two anchor accounts alone contributing nearly one-third of total billings. Although these relationships show healthy renewal history, concentration at this level requires explicit downside scenario design and covenant headroom awareness.</a:t>
            </a:r>
            <a:endParaRPr lang="en-US" sz="1000" dirty="0"/>
          </a:p>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Retention dynamics</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Gross and net retention remain favorable, indicating meaningful product stickiness and expansion potential in existing cohorts. However, churn severity is lumpy when losses occur, suggesting account-level transition plans should be part of post-close value-protection strategy.</a:t>
            </a:r>
            <a:endParaRPr lang="en-US" sz="1000" dirty="0"/>
          </a:p>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Implication</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Underwriting should pair growth assumptions with concentration stress tests and proactive account governance milestones.</a:t>
            </a:r>
            <a:endParaRPr lang="en-US" sz="1000" dirty="0"/>
          </a:p>
        </p:txBody>
      </p:sp>
      <p:graphicFrame>
        <p:nvGraphicFramePr>
          <p:cNvPr id="5" name="Chart 0" descr=""/>
          <p:cNvGraphicFramePr/>
          <p:nvPr/>
        </p:nvGraphicFramePr>
        <p:xfrm>
          <a:off x="6400800" y="1716786"/>
          <a:ext cx="4800600" cy="4230472"/>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9297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Synthetic customer concentration cube</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13</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Pricing and Mix Scenario Sensitivities</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Integrated scenario view highlights valuation sensitivity to price realization and delivery mix</a:t>
            </a:r>
            <a:endParaRPr lang="en-US" sz="1000" dirty="0"/>
          </a:p>
        </p:txBody>
      </p:sp>
      <p:sp>
        <p:nvSpPr>
          <p:cNvPr id="4" name="Shape 2"/>
          <p:cNvSpPr/>
          <p:nvPr/>
        </p:nvSpPr>
        <p:spPr>
          <a:xfrm>
            <a:off x="995361" y="1751584"/>
            <a:ext cx="10192299" cy="252000"/>
          </a:xfrm>
          <a:prstGeom prst="rect">
            <a:avLst/>
          </a:prstGeom>
          <a:solidFill>
            <a:srgbClr val="00338D"/>
          </a:solidFill>
          <a:ln w="12700">
            <a:solidFill>
              <a:srgbClr val="00338D"/>
            </a:solidFill>
            <a:prstDash val="solid"/>
          </a:ln>
        </p:spPr>
      </p:sp>
      <p:sp>
        <p:nvSpPr>
          <p:cNvPr id="5" name="Text 3"/>
          <p:cNvSpPr/>
          <p:nvPr/>
        </p:nvSpPr>
        <p:spPr>
          <a:xfrm>
            <a:off x="1068513" y="1769872"/>
            <a:ext cx="10045995" cy="252000"/>
          </a:xfrm>
          <a:prstGeom prst="rect">
            <a:avLst/>
          </a:prstGeom>
          <a:noFill/>
          <a:ln/>
        </p:spPr>
        <p:txBody>
          <a:bodyPr wrap="square" lIns="46800" tIns="72000" rIns="90000" bIns="46800" rtlCol="0" anchor="ctr"/>
          <a:lstStyle/>
          <a:p>
            <a:pPr indent="0" marL="0">
              <a:buNone/>
            </a:pPr>
            <a:r>
              <a:rPr lang="en-US" sz="1000" b="1" dirty="0">
                <a:solidFill>
                  <a:srgbClr val="FFFFFF"/>
                </a:solidFill>
                <a:latin typeface="Arial" pitchFamily="34" charset="0"/>
                <a:ea typeface="Arial" pitchFamily="34" charset="-122"/>
                <a:cs typeface="Arial" pitchFamily="34" charset="-120"/>
              </a:rPr>
              <a:t>Illustrative scenario matrix and narrative implications</a:t>
            </a:r>
            <a:endParaRPr lang="en-US" sz="1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995361" y="4170712"/>
          <a:ext cx="5036400" cy="2005146"/>
        </p:xfrm>
        <a:graphic>
          <a:graphicData uri="http://schemas.openxmlformats.org/drawingml/2006/table">
            <a:tbl>
              <a:tblPr/>
              <a:tblGrid>
                <a:gridCol w="2194560"/>
                <a:gridCol w="947280"/>
                <a:gridCol w="947280"/>
                <a:gridCol w="947280"/>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Driver</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Low</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Base</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High</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Price realization</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+1.8%</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Delivery mix shift</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-1.2%</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0.3%</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+1.1%</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Utilization improvement</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+0.4%</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+1.3%</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+2.2%</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Net EBITDA margin impact</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-2.8 pts</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+1.6 pts</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+5.1 pts</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7" name="Text 4"/>
          <p:cNvSpPr/>
          <p:nvPr/>
        </p:nvSpPr>
        <p:spPr>
          <a:xfrm>
            <a:off x="6159600" y="2058448"/>
            <a:ext cx="5033848" cy="1828800"/>
          </a:xfrm>
          <a:prstGeom prst="rect">
            <a:avLst/>
          </a:prstGeom>
          <a:noFill/>
          <a:ln/>
        </p:spPr>
        <p:txBody>
          <a:bodyPr wrap="square" lIns="46800" tIns="72000" rIns="90000" bIns="46800" rtlCol="0" anchor="t"/>
          <a:lstStyle/>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Scenario framing</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The combined view isolates pricing realization and service mix as primary value drivers in the next underwriting horizon. Base case assumes moderate price retention and gradual mix normalization, while downside case incorporates both discount pressure and elevated implementation burden.</a:t>
            </a:r>
            <a:endParaRPr lang="en-US" sz="1000" dirty="0"/>
          </a:p>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Valuation implications</a:t>
            </a:r>
            <a:endParaRPr lang="en-US" sz="1000" dirty="0"/>
          </a:p>
        </p:txBody>
      </p:sp>
      <p:graphicFrame>
        <p:nvGraphicFramePr>
          <p:cNvPr id="8" name="Chart 0" descr=""/>
          <p:cNvGraphicFramePr/>
          <p:nvPr/>
        </p:nvGraphicFramePr>
        <p:xfrm>
          <a:off x="995361" y="2058448"/>
          <a:ext cx="5036400" cy="1828800"/>
        </p:xfrm>
        <a:graphic xmlns:a="http://schemas.openxmlformats.org/drawingml/2006/main">
          <a:graphicData uri="http://schemas.openxmlformats.org/drawingml/2006/chart">
            <c:chart xmlns:c="http://schemas.openxmlformats.org/drawingml/2006/chart" r:id="rId1"/>
          </a:graphicData>
        </a:graphic>
      </p:graphicFrame>
      <p:sp>
        <p:nvSpPr>
          <p:cNvPr id="9" name="Text 5"/>
          <p:cNvSpPr/>
          <p:nvPr/>
        </p:nvSpPr>
        <p:spPr>
          <a:xfrm>
            <a:off x="995361" y="3932968"/>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Synthetic scenario model</a:t>
            </a:r>
            <a:endParaRPr lang="en-US" sz="600" dirty="0"/>
          </a:p>
        </p:txBody>
      </p:sp>
      <p:sp>
        <p:nvSpPr>
          <p:cNvPr id="10" name="Text 6"/>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14</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Pricing and Mix Scenario Sensitivities (cont.)</a:t>
            </a:r>
            <a:endParaRPr lang="en-US" sz="3200" dirty="0"/>
          </a:p>
        </p:txBody>
      </p:sp>
      <p:sp>
        <p:nvSpPr>
          <p:cNvPr id="3" name="Text 1"/>
          <p:cNvSpPr/>
          <p:nvPr/>
        </p:nvSpPr>
        <p:spPr>
          <a:xfrm>
            <a:off x="995361" y="1179513"/>
            <a:ext cx="7587923" cy="482400"/>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Integrated scenario view highlights valuation sensitivity to price realization and delivery mix</a:t>
            </a:r>
            <a:endParaRPr lang="en-US" sz="1000" dirty="0"/>
          </a:p>
        </p:txBody>
      </p:sp>
      <p:sp>
        <p:nvSpPr>
          <p:cNvPr id="4" name="Shape 2"/>
          <p:cNvSpPr/>
          <p:nvPr/>
        </p:nvSpPr>
        <p:spPr>
          <a:xfrm>
            <a:off x="995361" y="1751584"/>
            <a:ext cx="10192299" cy="252000"/>
          </a:xfrm>
          <a:prstGeom prst="rect">
            <a:avLst/>
          </a:prstGeom>
          <a:solidFill>
            <a:srgbClr val="00338D"/>
          </a:solidFill>
          <a:ln w="12700">
            <a:solidFill>
              <a:srgbClr val="00338D"/>
            </a:solidFill>
            <a:prstDash val="solid"/>
          </a:ln>
        </p:spPr>
      </p:sp>
      <p:sp>
        <p:nvSpPr>
          <p:cNvPr id="5" name="Text 3"/>
          <p:cNvSpPr/>
          <p:nvPr/>
        </p:nvSpPr>
        <p:spPr>
          <a:xfrm>
            <a:off x="1068513" y="1769872"/>
            <a:ext cx="10045995" cy="252000"/>
          </a:xfrm>
          <a:prstGeom prst="rect">
            <a:avLst/>
          </a:prstGeom>
          <a:noFill/>
          <a:ln/>
        </p:spPr>
        <p:txBody>
          <a:bodyPr wrap="square" lIns="46800" tIns="72000" rIns="90000" bIns="46800" rtlCol="0" anchor="ctr"/>
          <a:lstStyle/>
          <a:p>
            <a:pPr indent="0" marL="0">
              <a:buNone/>
            </a:pPr>
            <a:r>
              <a:rPr lang="en-US" sz="1000" b="1" dirty="0">
                <a:solidFill>
                  <a:srgbClr val="FFFFFF"/>
                </a:solidFill>
                <a:latin typeface="Arial" pitchFamily="34" charset="0"/>
                <a:ea typeface="Arial" pitchFamily="34" charset="-122"/>
                <a:cs typeface="Arial" pitchFamily="34" charset="-120"/>
              </a:rPr>
              <a:t>Illustrative scenario matrix and narrative implications</a:t>
            </a:r>
            <a:endParaRPr lang="en-US" sz="1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995361" y="4170712"/>
          <a:ext cx="5036400" cy="2005146"/>
        </p:xfrm>
        <a:graphic>
          <a:graphicData uri="http://schemas.openxmlformats.org/drawingml/2006/table">
            <a:tbl>
              <a:tblPr/>
              <a:tblGrid>
                <a:gridCol w="2194560"/>
                <a:gridCol w="947280"/>
                <a:gridCol w="947280"/>
                <a:gridCol w="947280"/>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Driver</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Low</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Base</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0" cap="flat" cmpd="sng" algn="ctr">
                      <a:noFill/>
                    </a:lnT>
                    <a:lnB w="12700" cap="flat" cmpd="sng" algn="ctr">
                      <a:solidFill>
                        <a:srgbClr val="00338D"/>
                      </a:solidFill>
                      <a:prstDash val="solid"/>
                      <a:round/>
                      <a:headEnd type="none" w="med" len="med"/>
                      <a:tailEnd type="none" w="med" len="med"/>
                    </a:lnB>
                    <a:solidFill>
                      <a:srgbClr val="1E49E2"/>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High</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0" cap="flat" cmpd="sng" algn="ctr">
                      <a:noFill/>
                    </a:lnT>
                    <a:lnB w="12700" cap="flat" cmpd="sng" algn="ctr">
                      <a:solidFill>
                        <a:srgbClr val="00338D"/>
                      </a:solidFill>
                      <a:prstDash val="solid"/>
                      <a:round/>
                      <a:headEnd type="none" w="med" len="med"/>
                      <a:tailEnd type="none" w="med" len="med"/>
                    </a:lnB>
                    <a:solidFill>
                      <a:srgbClr val="1E49E2"/>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Price realization</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+1.8%</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17373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Delivery mix shift</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-1.2%</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0.3%</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+1.1%</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Utilization improvement</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+0.4%</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+1.3%</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+2.2%</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90576">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Net EBITDA margin impact</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-2.8 pts</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+1.6 pts</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+5.1 pts</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7" name="Text 4"/>
          <p:cNvSpPr/>
          <p:nvPr/>
        </p:nvSpPr>
        <p:spPr>
          <a:xfrm>
            <a:off x="6159600" y="2058448"/>
            <a:ext cx="5033848" cy="1828800"/>
          </a:xfrm>
          <a:prstGeom prst="rect">
            <a:avLst/>
          </a:prstGeom>
          <a:noFill/>
          <a:ln/>
        </p:spPr>
        <p:txBody>
          <a:bodyPr wrap="square" lIns="46800" tIns="72000" rIns="90000" bIns="46800" rtlCol="0" anchor="t"/>
          <a:lstStyle/>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A one-point shift in blended gross margin has a disproportionate effect on implied value due to operating leverage and limited fixed-cost flexibility in the near term. Decision quality therefore depends on rigorous validation of price governance and delivery mix controls during confirmatory work.</a:t>
            </a:r>
            <a:endParaRPr lang="en-US" sz="1000" dirty="0"/>
          </a:p>
        </p:txBody>
      </p:sp>
      <p:graphicFrame>
        <p:nvGraphicFramePr>
          <p:cNvPr id="8" name="Chart 0" descr=""/>
          <p:cNvGraphicFramePr/>
          <p:nvPr/>
        </p:nvGraphicFramePr>
        <p:xfrm>
          <a:off x="995361" y="2058448"/>
          <a:ext cx="5036400" cy="1828800"/>
        </p:xfrm>
        <a:graphic xmlns:a="http://schemas.openxmlformats.org/drawingml/2006/main">
          <a:graphicData uri="http://schemas.openxmlformats.org/drawingml/2006/chart">
            <c:chart xmlns:c="http://schemas.openxmlformats.org/drawingml/2006/chart" r:id="rId1"/>
          </a:graphicData>
        </a:graphic>
      </p:graphicFrame>
      <p:sp>
        <p:nvSpPr>
          <p:cNvPr id="9" name="Text 5"/>
          <p:cNvSpPr/>
          <p:nvPr/>
        </p:nvSpPr>
        <p:spPr>
          <a:xfrm>
            <a:off x="995361" y="3932968"/>
            <a:ext cx="50364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Source: Synthetic scenario model</a:t>
            </a:r>
            <a:endParaRPr lang="en-US" sz="600" dirty="0"/>
          </a:p>
        </p:txBody>
      </p:sp>
      <p:sp>
        <p:nvSpPr>
          <p:cNvPr id="10" name="Text 6"/>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15</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06</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Execution Workplan</a:t>
            </a:r>
            <a:endParaRPr 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Diligence Workstreams and Ownership Map</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Four-pillar execution plan aligns analytical depth, governance cadence, and decision-readiness deliverables</a:t>
            </a:r>
            <a:endParaRPr lang="en-US" sz="1000" dirty="0"/>
          </a:p>
        </p:txBody>
      </p:sp>
      <p:sp>
        <p:nvSpPr>
          <p:cNvPr id="4" name="Text 2"/>
          <p:cNvSpPr/>
          <p:nvPr/>
        </p:nvSpPr>
        <p:spPr>
          <a:xfrm>
            <a:off x="998433" y="1716786"/>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Financial QoE</a:t>
            </a:r>
            <a:endParaRPr lang="en-US" sz="1000" dirty="0"/>
          </a:p>
        </p:txBody>
      </p:sp>
      <p:sp>
        <p:nvSpPr>
          <p:cNvPr id="5" name="Text 3"/>
          <p:cNvSpPr/>
          <p:nvPr/>
        </p:nvSpPr>
        <p:spPr>
          <a:xfrm>
            <a:off x="998433" y="2036826"/>
            <a:ext cx="2377440" cy="4139032"/>
          </a:xfrm>
          <a:prstGeom prst="rect">
            <a:avLst/>
          </a:prstGeom>
          <a:noFill/>
          <a:ln/>
        </p:spPr>
        <p:txBody>
          <a:bodyPr wrap="square" lIns="46800" tIns="72000" rIns="90000" bIns="46800" rtlCol="0" anchor="t"/>
          <a:lstStyle/>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Scope</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Finalize normalization bridge, validate revenue quality by contract cohort, and reconcile margin variance drivers to ledger support.</a:t>
            </a:r>
            <a:endParaRPr lang="en-US" sz="1000" dirty="0"/>
          </a:p>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Output</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Issue-ready QoE conclusions with base/downside earnings anchors and confidence ratings.</a:t>
            </a:r>
            <a:endParaRPr lang="en-US" sz="1000" dirty="0"/>
          </a:p>
        </p:txBody>
      </p:sp>
      <p:sp>
        <p:nvSpPr>
          <p:cNvPr id="6" name="Text 4"/>
          <p:cNvSpPr/>
          <p:nvPr/>
        </p:nvSpPr>
        <p:spPr>
          <a:xfrm>
            <a:off x="3566160" y="1716786"/>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Working Capital</a:t>
            </a:r>
            <a:endParaRPr lang="en-US" sz="1000" dirty="0"/>
          </a:p>
        </p:txBody>
      </p:sp>
      <p:sp>
        <p:nvSpPr>
          <p:cNvPr id="7" name="Text 5"/>
          <p:cNvSpPr/>
          <p:nvPr/>
        </p:nvSpPr>
        <p:spPr>
          <a:xfrm>
            <a:off x="3566160" y="2036826"/>
            <a:ext cx="2377440" cy="4139032"/>
          </a:xfrm>
          <a:prstGeom prst="rect">
            <a:avLst/>
          </a:prstGeom>
          <a:noFill/>
          <a:ln/>
        </p:spPr>
        <p:txBody>
          <a:bodyPr wrap="square" lIns="46800" tIns="72000" rIns="90000" bIns="46800" rtlCol="0" anchor="t"/>
          <a:lstStyle/>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Scope</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Validate seasonal NWC mechanics, stress collection assumptions, and test milestone billing controls for top-value contracts.</a:t>
            </a:r>
            <a:endParaRPr lang="en-US" sz="1000" dirty="0"/>
          </a:p>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Output</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Transaction NWC target range with volatility bands and cash-risk mitigations.</a:t>
            </a:r>
            <a:endParaRPr lang="en-US" sz="1000" dirty="0"/>
          </a:p>
        </p:txBody>
      </p:sp>
      <p:sp>
        <p:nvSpPr>
          <p:cNvPr id="8" name="Text 6"/>
          <p:cNvSpPr/>
          <p:nvPr/>
        </p:nvSpPr>
        <p:spPr>
          <a:xfrm>
            <a:off x="6126480" y="1716786"/>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Commercial</a:t>
            </a:r>
            <a:endParaRPr lang="en-US" sz="1000" dirty="0"/>
          </a:p>
        </p:txBody>
      </p:sp>
      <p:sp>
        <p:nvSpPr>
          <p:cNvPr id="9" name="Text 7"/>
          <p:cNvSpPr/>
          <p:nvPr/>
        </p:nvSpPr>
        <p:spPr>
          <a:xfrm>
            <a:off x="6126480" y="2036826"/>
            <a:ext cx="2377440" cy="4139032"/>
          </a:xfrm>
          <a:prstGeom prst="rect">
            <a:avLst/>
          </a:prstGeom>
          <a:noFill/>
          <a:ln/>
        </p:spPr>
        <p:txBody>
          <a:bodyPr wrap="square" lIns="46800" tIns="72000" rIns="90000" bIns="46800" rtlCol="0" anchor="t"/>
          <a:lstStyle/>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Scope</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Assess customer durability, churn triggers, pricing governance, and competitive positioning by strategic segment.</a:t>
            </a:r>
            <a:endParaRPr lang="en-US" sz="1000" dirty="0"/>
          </a:p>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Output</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Concentration-adjusted growth view with account-level risk/mitigation plan.</a:t>
            </a:r>
            <a:endParaRPr lang="en-US" sz="1000" dirty="0"/>
          </a:p>
        </p:txBody>
      </p:sp>
      <p:sp>
        <p:nvSpPr>
          <p:cNvPr id="10" name="Text 8"/>
          <p:cNvSpPr/>
          <p:nvPr/>
        </p:nvSpPr>
        <p:spPr>
          <a:xfrm>
            <a:off x="8686800" y="1716786"/>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Operations</a:t>
            </a:r>
            <a:endParaRPr lang="en-US" sz="1000" dirty="0"/>
          </a:p>
        </p:txBody>
      </p:sp>
      <p:sp>
        <p:nvSpPr>
          <p:cNvPr id="11" name="Text 9"/>
          <p:cNvSpPr/>
          <p:nvPr/>
        </p:nvSpPr>
        <p:spPr>
          <a:xfrm>
            <a:off x="8686800" y="2036826"/>
            <a:ext cx="2377440" cy="4139032"/>
          </a:xfrm>
          <a:prstGeom prst="rect">
            <a:avLst/>
          </a:prstGeom>
          <a:noFill/>
          <a:ln/>
        </p:spPr>
        <p:txBody>
          <a:bodyPr wrap="square" lIns="46800" tIns="72000" rIns="90000" bIns="46800" rtlCol="0" anchor="t"/>
          <a:lstStyle/>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Scope</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Evaluate delivery capacity, utilization recovery initiatives, and controllability of subcontractor and support cost base.</a:t>
            </a:r>
            <a:endParaRPr lang="en-US" sz="1000" dirty="0"/>
          </a:p>
          <a:p>
            <a:pPr indent="0" marL="0">
              <a:lnSpc>
                <a:spcPts val="1200"/>
              </a:lnSpc>
              <a:spcAft>
                <a:spcPts val="600"/>
              </a:spcAft>
              <a:buNone/>
            </a:pPr>
            <a:r>
              <a:rPr lang="en-US" sz="1000" b="1" dirty="0">
                <a:solidFill>
                  <a:srgbClr val="00338D"/>
                </a:solidFill>
                <a:latin typeface="Arial" pitchFamily="34" charset="0"/>
                <a:ea typeface="Arial" pitchFamily="34" charset="-122"/>
                <a:cs typeface="Arial" pitchFamily="34" charset="-120"/>
              </a:rPr>
              <a:t>Output</a:t>
            </a:r>
            <a:endParaRPr lang="en-US" sz="1000" dirty="0"/>
          </a:p>
          <a:p>
            <a:pPr indent="0" marL="0">
              <a:lnSpc>
                <a:spcPts val="1200"/>
              </a:lnSpc>
              <a:spcAft>
                <a:spcPts val="600"/>
              </a:spcAft>
              <a:buNone/>
            </a:pPr>
            <a:r>
              <a:rPr lang="en-US" sz="1000" dirty="0">
                <a:solidFill>
                  <a:srgbClr val="000000"/>
                </a:solidFill>
                <a:latin typeface="Arial" pitchFamily="34" charset="0"/>
                <a:ea typeface="Arial" pitchFamily="34" charset="-122"/>
                <a:cs typeface="Arial" pitchFamily="34" charset="-120"/>
              </a:rPr>
              <a:t>Post-close value creation plan with owners, timing, and measurable milestones.</a:t>
            </a:r>
            <a:endParaRPr lang="en-US" sz="1000" dirty="0"/>
          </a:p>
        </p:txBody>
      </p:sp>
      <p:sp>
        <p:nvSpPr>
          <p:cNvPr id="12" name="Text 10"/>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16</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998433" y="431780"/>
            <a:ext cx="10204338" cy="53337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Principal Risks, Mitigants, and Next Steps</a:t>
            </a:r>
            <a:endParaRPr lang="en-US" sz="3200" dirty="0"/>
          </a:p>
        </p:txBody>
      </p:sp>
      <p:sp>
        <p:nvSpPr>
          <p:cNvPr id="3" name="Text 1"/>
          <p:cNvSpPr/>
          <p:nvPr/>
        </p:nvSpPr>
        <p:spPr>
          <a:xfrm>
            <a:off x="998433" y="1179485"/>
            <a:ext cx="10204338" cy="482437"/>
          </a:xfrm>
          <a:prstGeom prst="rect">
            <a:avLst/>
          </a:prstGeom>
          <a:noFill/>
          <a:ln/>
        </p:spPr>
        <p:txBody>
          <a:bodyPr wrap="square" lIns="46800" tIns="72000" rIns="90000" bIns="46800" rtlCol="0" anchor="t"/>
          <a:lstStyle/>
          <a:p>
            <a:pPr indent="0" marL="0">
              <a:buNone/>
            </a:pPr>
            <a:r>
              <a:rPr lang="en-US" sz="1000" b="1" i="1" dirty="0">
                <a:solidFill>
                  <a:srgbClr val="7213EA"/>
                </a:solidFill>
                <a:latin typeface="Arial" pitchFamily="34" charset="0"/>
                <a:ea typeface="Arial" pitchFamily="34" charset="-122"/>
                <a:cs typeface="Arial" pitchFamily="34" charset="-120"/>
              </a:rPr>
              <a:t>Risk register aligns key underwriting exposures with concrete mitigation actions and governance ownership</a:t>
            </a:r>
            <a:endParaRPr lang="en-US" sz="1000" dirty="0"/>
          </a:p>
        </p:txBody>
      </p:sp>
      <p:sp>
        <p:nvSpPr>
          <p:cNvPr id="4" name="Text 2"/>
          <p:cNvSpPr/>
          <p:nvPr/>
        </p:nvSpPr>
        <p:spPr>
          <a:xfrm>
            <a:off x="998433" y="1716786"/>
            <a:ext cx="10204338" cy="4248760"/>
          </a:xfrm>
          <a:prstGeom prst="rect">
            <a:avLst/>
          </a:prstGeom>
          <a:noFill/>
          <a:ln/>
        </p:spPr>
        <p:txBody>
          <a:bodyPr wrap="square" lIns="46800" tIns="72000" rIns="90000" bIns="46800" rtlCol="0" anchor="t"/>
          <a:lstStyle/>
          <a:p>
            <a:pPr indent="0" marL="0">
              <a:spcAft>
                <a:spcPts val="600"/>
              </a:spcAft>
              <a:buNone/>
            </a:pPr>
            <a:r>
              <a:rPr lang="en-US" sz="1000" b="1" dirty="0">
                <a:solidFill>
                  <a:srgbClr val="00338D"/>
                </a:solidFill>
                <a:latin typeface="Arial" pitchFamily="34" charset="0"/>
                <a:ea typeface="Arial" pitchFamily="34" charset="-122"/>
                <a:cs typeface="Arial" pitchFamily="34" charset="-120"/>
              </a:rPr>
              <a:t>Primary underwriting risks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Customer concentration could amplify downside earnings variance if two largest accounts reduce scope or delay renewals.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Margin recovery may underperform plan if delivery mix remains implementation-heavy beyond modeled transition period.</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Working-capital assumptions may be optimistic if milestone acceptance and billing controls do not improve as expected.</a:t>
            </a:r>
            <a:endParaRPr lang="en-US" sz="1000" dirty="0"/>
          </a:p>
          <a:p>
            <a:pPr indent="0" marL="0">
              <a:spcAft>
                <a:spcPts val="600"/>
              </a:spcAft>
              <a:buNone/>
            </a:pPr>
            <a:r>
              <a:rPr lang="en-US" sz="1000" b="1" dirty="0">
                <a:solidFill>
                  <a:srgbClr val="00338D"/>
                </a:solidFill>
                <a:latin typeface="Arial" pitchFamily="34" charset="0"/>
                <a:ea typeface="Arial" pitchFamily="34" charset="-122"/>
                <a:cs typeface="Arial" pitchFamily="34" charset="-120"/>
              </a:rPr>
              <a:t>Mitigation priorities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Embed account governance cadence with executive sponsor ownership and early-warning churn indicators.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Implement delivery productivity program with weekly utilization and subcontractor cost tracking to protect EBITDA conversion.</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Harden billing readiness controls and enforce dispute-resolution SLAs for top-tier contracts to stabilize cash conversion.</a:t>
            </a:r>
            <a:endParaRPr lang="en-US" sz="1000" dirty="0"/>
          </a:p>
          <a:p>
            <a:pPr indent="0" marL="0">
              <a:spcAft>
                <a:spcPts val="600"/>
              </a:spcAft>
              <a:buNone/>
            </a:pPr>
            <a:r>
              <a:rPr lang="en-US" sz="1000" b="1" dirty="0">
                <a:solidFill>
                  <a:srgbClr val="00338D"/>
                </a:solidFill>
                <a:latin typeface="Arial" pitchFamily="34" charset="0"/>
                <a:ea typeface="Arial" pitchFamily="34" charset="-122"/>
                <a:cs typeface="Arial" pitchFamily="34" charset="-120"/>
              </a:rPr>
              <a:t>Immediate next steps</a:t>
            </a:r>
            <a:endParaRPr lang="en-US" sz="1000" dirty="0"/>
          </a:p>
          <a:p>
            <a:pPr marL="226800" indent="-226800">
              <a:lnSpc>
                <a:spcPts val="1200"/>
              </a:lnSpc>
              <a:spcAft>
                <a:spcPts val="600"/>
              </a:spcAft>
              <a:buSzPct val="100000"/>
              <a:buChar char="•"/>
            </a:pPr>
            <a:r>
              <a:rPr lang="en-US" sz="1000" dirty="0">
                <a:solidFill>
                  <a:srgbClr val="000000"/>
                </a:solidFill>
                <a:latin typeface="Arial" pitchFamily="34" charset="0"/>
                <a:ea typeface="Arial" pitchFamily="34" charset="-122"/>
                <a:cs typeface="Arial" pitchFamily="34" charset="-120"/>
              </a:rPr>
              <a:t>Complete confirmatory testing on top ten contracts, finalize downside covenant stress, and align IC memo with scenario-linked valuation ranges.</a:t>
            </a:r>
            <a:endParaRPr lang="en-US" sz="1000" dirty="0"/>
          </a:p>
        </p:txBody>
      </p:sp>
      <p:sp>
        <p:nvSpPr>
          <p:cNvPr id="5" name="Text 3"/>
          <p:cNvSpPr/>
          <p:nvPr/>
        </p:nvSpPr>
        <p:spPr>
          <a:xfrm>
            <a:off x="998433" y="5992978"/>
            <a:ext cx="10204338" cy="182880"/>
          </a:xfrm>
          <a:prstGeom prst="rect">
            <a:avLst/>
          </a:prstGeom>
          <a:noFill/>
          <a:ln/>
        </p:spPr>
        <p:txBody>
          <a:bodyPr wrap="square" lIns="46800" tIns="72000" rIns="90000" bIns="46800" rtlCol="0" anchor="t"/>
          <a:lstStyle/>
          <a:p>
            <a:pPr indent="0" marL="0">
              <a:buNone/>
            </a:pPr>
            <a:r>
              <a:rPr lang="en-US" sz="600" i="1" dirty="0">
                <a:solidFill>
                  <a:srgbClr val="00338D"/>
                </a:solidFill>
                <a:latin typeface="Arial" pitchFamily="34" charset="0"/>
                <a:ea typeface="Arial" pitchFamily="34" charset="-122"/>
                <a:cs typeface="Arial" pitchFamily="34" charset="-120"/>
              </a:rPr>
              <a:t>Source: Integrated synthetic diligence findings and workstream planning outputs</a:t>
            </a:r>
            <a:endParaRPr lang="en-US" sz="600" dirty="0"/>
          </a:p>
        </p:txBody>
      </p:sp>
      <p:sp>
        <p:nvSpPr>
          <p:cNvPr id="6"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17</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KPMG logo">    </p:cNvPr>
          <p:cNvPicPr>
            <a:picLocks noChangeAspect="1"/>
          </p:cNvPicPr>
          <p:nvPr/>
        </p:nvPicPr>
        <p:blipFill>
          <a:blip r:embed="rId1"/>
          <a:stretch>
            <a:fillRect/>
          </a:stretch>
        </p:blipFill>
        <p:spPr>
          <a:xfrm>
            <a:off x="1001268" y="411480"/>
            <a:ext cx="1216152" cy="411480"/>
          </a:xfrm>
          <a:prstGeom prst="rect">
            <a:avLst/>
          </a:prstGeom>
        </p:spPr>
      </p:pic>
      <p:sp>
        <p:nvSpPr>
          <p:cNvPr id="3" name="Text 0"/>
          <p:cNvSpPr/>
          <p:nvPr/>
        </p:nvSpPr>
        <p:spPr>
          <a:xfrm>
            <a:off x="1001268" y="1014984"/>
            <a:ext cx="9372600" cy="960120"/>
          </a:xfrm>
          <a:prstGeom prst="rect">
            <a:avLst/>
          </a:prstGeom>
          <a:noFill/>
          <a:ln/>
        </p:spPr>
        <p:txBody>
          <a:bodyPr wrap="square" rtlCol="0" anchor="t"/>
          <a:lstStyle/>
          <a:p>
            <a:pPr indent="0" marL="0">
              <a:buNone/>
            </a:pPr>
            <a:r>
              <a:rPr lang="en-US" sz="3000" b="1" dirty="0">
                <a:solidFill>
                  <a:srgbClr val="FFFFFF"/>
                </a:solidFill>
                <a:latin typeface="Arial" pitchFamily="34" charset="0"/>
                <a:ea typeface="Arial" pitchFamily="34" charset="-122"/>
                <a:cs typeface="Arial" pitchFamily="34" charset="-120"/>
              </a:rPr>
              <a:t>The contacts at KPMG in connection with this report are:</a:t>
            </a:r>
            <a:endParaRPr lang="en-US" sz="3000" dirty="0"/>
          </a:p>
        </p:txBody>
      </p:sp>
      <p:sp>
        <p:nvSpPr>
          <p:cNvPr id="4" name="Text 1"/>
          <p:cNvSpPr/>
          <p:nvPr/>
        </p:nvSpPr>
        <p:spPr>
          <a:xfrm>
            <a:off x="1133856" y="2770632"/>
            <a:ext cx="2331720" cy="201168"/>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Firstname Lastname</a:t>
            </a:r>
            <a:endParaRPr lang="en-US" sz="1300" dirty="0"/>
          </a:p>
        </p:txBody>
      </p:sp>
      <p:sp>
        <p:nvSpPr>
          <p:cNvPr id="5" name="Text 2"/>
          <p:cNvSpPr/>
          <p:nvPr/>
        </p:nvSpPr>
        <p:spPr>
          <a:xfrm>
            <a:off x="1133856" y="3026664"/>
            <a:ext cx="2331720" cy="676656"/>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Job Title</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T: +1 000 000 0001</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E: firstname.lastname@kpmg.ca</a:t>
            </a:r>
            <a:endParaRPr lang="en-US" sz="1100" dirty="0"/>
          </a:p>
        </p:txBody>
      </p:sp>
      <p:sp>
        <p:nvSpPr>
          <p:cNvPr id="6" name="Text 3"/>
          <p:cNvSpPr/>
          <p:nvPr/>
        </p:nvSpPr>
        <p:spPr>
          <a:xfrm>
            <a:off x="3465576" y="2770632"/>
            <a:ext cx="2331720" cy="201168"/>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Firstname Lastname</a:t>
            </a:r>
            <a:endParaRPr lang="en-US" sz="1300" dirty="0"/>
          </a:p>
        </p:txBody>
      </p:sp>
      <p:sp>
        <p:nvSpPr>
          <p:cNvPr id="7" name="Text 4"/>
          <p:cNvSpPr/>
          <p:nvPr/>
        </p:nvSpPr>
        <p:spPr>
          <a:xfrm>
            <a:off x="3465576" y="3026664"/>
            <a:ext cx="2331720" cy="676656"/>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Job Title</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T: +1 000 000 0002</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E: firstname.lastname@kpmg.ca</a:t>
            </a:r>
            <a:endParaRPr lang="en-US" sz="1100" dirty="0"/>
          </a:p>
        </p:txBody>
      </p:sp>
      <p:sp>
        <p:nvSpPr>
          <p:cNvPr id="8" name="Text 5"/>
          <p:cNvSpPr/>
          <p:nvPr/>
        </p:nvSpPr>
        <p:spPr>
          <a:xfrm>
            <a:off x="5797296" y="2770632"/>
            <a:ext cx="2331720" cy="201168"/>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Firstname Lastname</a:t>
            </a:r>
            <a:endParaRPr lang="en-US" sz="1300" dirty="0"/>
          </a:p>
        </p:txBody>
      </p:sp>
      <p:sp>
        <p:nvSpPr>
          <p:cNvPr id="9" name="Text 6"/>
          <p:cNvSpPr/>
          <p:nvPr/>
        </p:nvSpPr>
        <p:spPr>
          <a:xfrm>
            <a:off x="5797296" y="3026664"/>
            <a:ext cx="2331720" cy="676656"/>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Job Title</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T: +1 000 000 0003</a:t>
            </a:r>
            <a:endParaRPr lang="en-US" sz="1100" dirty="0"/>
          </a:p>
          <a:p>
            <a:pPr indent="0" marL="0">
              <a:buNone/>
            </a:pPr>
            <a:r>
              <a:rPr lang="en-US" sz="1100" dirty="0">
                <a:solidFill>
                  <a:srgbClr val="FFFFFF"/>
                </a:solidFill>
                <a:latin typeface="Arial" pitchFamily="34" charset="0"/>
                <a:ea typeface="Arial" pitchFamily="34" charset="-122"/>
                <a:cs typeface="Arial" pitchFamily="34" charset="-120"/>
              </a:rPr>
              <a:t>E: firstname.lastname@kpmg.ca</a:t>
            </a:r>
            <a:endParaRPr lang="en-US" sz="1100" dirty="0"/>
          </a:p>
        </p:txBody>
      </p:sp>
      <p:pic>
        <p:nvPicPr>
          <p:cNvPr id="10" name="Image 1" descr="Social icon">    </p:cNvPr>
          <p:cNvPicPr>
            <a:picLocks noChangeAspect="1"/>
          </p:cNvPicPr>
          <p:nvPr/>
        </p:nvPicPr>
        <p:blipFill>
          <a:blip r:embed="rId2"/>
          <a:stretch>
            <a:fillRect/>
          </a:stretch>
        </p:blipFill>
        <p:spPr>
          <a:xfrm>
            <a:off x="996696" y="5394960"/>
            <a:ext cx="329184" cy="329184"/>
          </a:xfrm>
          <a:prstGeom prst="rect">
            <a:avLst/>
          </a:prstGeom>
        </p:spPr>
      </p:pic>
      <p:pic>
        <p:nvPicPr>
          <p:cNvPr id="11" name="Image 2" descr="Social icon">    </p:cNvPr>
          <p:cNvPicPr>
            <a:picLocks noChangeAspect="1"/>
          </p:cNvPicPr>
          <p:nvPr/>
        </p:nvPicPr>
        <p:blipFill>
          <a:blip r:embed="rId3"/>
          <a:stretch>
            <a:fillRect/>
          </a:stretch>
        </p:blipFill>
        <p:spPr>
          <a:xfrm>
            <a:off x="1389888" y="5394960"/>
            <a:ext cx="329184" cy="329184"/>
          </a:xfrm>
          <a:prstGeom prst="rect">
            <a:avLst/>
          </a:prstGeom>
        </p:spPr>
      </p:pic>
      <p:pic>
        <p:nvPicPr>
          <p:cNvPr id="12" name="Image 3" descr="Social icon">    </p:cNvPr>
          <p:cNvPicPr>
            <a:picLocks noChangeAspect="1"/>
          </p:cNvPicPr>
          <p:nvPr/>
        </p:nvPicPr>
        <p:blipFill>
          <a:blip r:embed="rId4"/>
          <a:stretch>
            <a:fillRect/>
          </a:stretch>
        </p:blipFill>
        <p:spPr>
          <a:xfrm>
            <a:off x="1783080" y="5394960"/>
            <a:ext cx="329184" cy="329184"/>
          </a:xfrm>
          <a:prstGeom prst="rect">
            <a:avLst/>
          </a:prstGeom>
        </p:spPr>
      </p:pic>
      <p:pic>
        <p:nvPicPr>
          <p:cNvPr id="13" name="Image 4" descr="Social icon">    </p:cNvPr>
          <p:cNvPicPr>
            <a:picLocks noChangeAspect="1"/>
          </p:cNvPicPr>
          <p:nvPr/>
        </p:nvPicPr>
        <p:blipFill>
          <a:blip r:embed="rId5"/>
          <a:stretch>
            <a:fillRect/>
          </a:stretch>
        </p:blipFill>
        <p:spPr>
          <a:xfrm>
            <a:off x="2176272" y="5394960"/>
            <a:ext cx="329184" cy="329184"/>
          </a:xfrm>
          <a:prstGeom prst="rect">
            <a:avLst/>
          </a:prstGeom>
        </p:spPr>
      </p:pic>
      <p:pic>
        <p:nvPicPr>
          <p:cNvPr id="14" name="Image 5" descr="Social icon">    </p:cNvPr>
          <p:cNvPicPr>
            <a:picLocks noChangeAspect="1"/>
          </p:cNvPicPr>
          <p:nvPr/>
        </p:nvPicPr>
        <p:blipFill>
          <a:blip r:embed="rId6"/>
          <a:stretch>
            <a:fillRect/>
          </a:stretch>
        </p:blipFill>
        <p:spPr>
          <a:xfrm>
            <a:off x="2569464" y="5394960"/>
            <a:ext cx="329184" cy="329184"/>
          </a:xfrm>
          <a:prstGeom prst="rect">
            <a:avLst/>
          </a:prstGeom>
        </p:spPr>
      </p:pic>
      <p:sp>
        <p:nvSpPr>
          <p:cNvPr id="15" name="Text 7"/>
          <p:cNvSpPr/>
          <p:nvPr/>
        </p:nvSpPr>
        <p:spPr>
          <a:xfrm>
            <a:off x="996696" y="5897880"/>
            <a:ext cx="9738360" cy="384048"/>
          </a:xfrm>
          <a:prstGeom prst="rect">
            <a:avLst/>
          </a:prstGeom>
          <a:noFill/>
          <a:ln/>
        </p:spPr>
        <p:txBody>
          <a:bodyPr wrap="square" lIns="0" tIns="0" rIns="0" bIns="0" rtlCol="0" anchor="t"/>
          <a:lstStyle/>
          <a:p>
            <a:pPr indent="0" marL="0">
              <a:buNone/>
            </a:pPr>
            <a:r>
              <a:rPr lang="en-US" sz="900" dirty="0">
                <a:solidFill>
                  <a:srgbClr val="FFFFFF"/>
                </a:solidFill>
                <a:latin typeface="Arial" pitchFamily="34" charset="0"/>
                <a:ea typeface="Arial" pitchFamily="34" charset="-122"/>
                <a:cs typeface="Arial" pitchFamily="34" charset="-120"/>
              </a:rPr>
              <a:t>This presentation has been prepared solely for illustrative diligence workflow demonstration. The analyses, metrics, and conclusions shown are synthetic examples designed to validate slide architecture, slot coverage, and reporting density in a transaction-style format. No statements herein should be interpreted as factual financial advice, legal advice, or an actual diligence opinion regarding any real entity or transaction.</a:t>
            </a:r>
            <a:endParaRPr lang="en-US" sz="900" dirty="0"/>
          </a:p>
        </p:txBody>
      </p:sp>
      <p:sp>
        <p:nvSpPr>
          <p:cNvPr id="16" name="Text 8"/>
          <p:cNvSpPr/>
          <p:nvPr/>
        </p:nvSpPr>
        <p:spPr>
          <a:xfrm>
            <a:off x="996696" y="6327648"/>
            <a:ext cx="9601200" cy="182880"/>
          </a:xfrm>
          <a:prstGeom prst="rect">
            <a:avLst/>
          </a:prstGeom>
          <a:noFill/>
          <a:ln/>
        </p:spPr>
        <p:txBody>
          <a:bodyPr wrap="square" lIns="0" tIns="0" rIns="0" bIns="0" rtlCol="0" anchor="t"/>
          <a:lstStyle/>
          <a:p>
            <a:pPr indent="0" marL="0">
              <a:buNone/>
            </a:pPr>
            <a:r>
              <a:rPr lang="en-US" sz="800" dirty="0">
                <a:solidFill>
                  <a:srgbClr val="FFFFFF"/>
                </a:solidFill>
                <a:latin typeface="Arial" pitchFamily="34" charset="0"/>
                <a:ea typeface="Arial" pitchFamily="34" charset="-122"/>
                <a:cs typeface="Arial" pitchFamily="34" charset="-120"/>
              </a:rPr>
              <a:t>The KPMG name and logo are trademarks used under license by the independent member firms of the KPMG global organization.</a:t>
            </a:r>
            <a:endParaRPr lang="en-US" sz="800" dirty="0"/>
          </a:p>
        </p:txBody>
      </p:sp>
      <p:sp>
        <p:nvSpPr>
          <p:cNvPr id="17" name="Text 9"/>
          <p:cNvSpPr/>
          <p:nvPr/>
        </p:nvSpPr>
        <p:spPr>
          <a:xfrm>
            <a:off x="996696" y="6729984"/>
            <a:ext cx="3200400" cy="91440"/>
          </a:xfrm>
          <a:prstGeom prst="rect">
            <a:avLst/>
          </a:prstGeom>
          <a:noFill/>
          <a:ln/>
        </p:spPr>
        <p:txBody>
          <a:bodyPr wrap="square" lIns="0" tIns="0" rIns="0" bIns="0" rtlCol="0" anchor="ctr"/>
          <a:lstStyle/>
          <a:p>
            <a:pPr indent="0" marL="0">
              <a:buNone/>
            </a:pPr>
            <a:r>
              <a:rPr lang="en-US" sz="800" b="1" dirty="0">
                <a:solidFill>
                  <a:srgbClr val="FFFFFF"/>
                </a:solidFill>
                <a:latin typeface="Arial" pitchFamily="34" charset="0"/>
                <a:ea typeface="Arial" pitchFamily="34" charset="-122"/>
                <a:cs typeface="Arial" pitchFamily="34" charset="-120"/>
              </a:rPr>
              <a:t>Document Classification: KPMG Confidential</a:t>
            </a:r>
            <a:endParaRPr lang="en-US" sz="800" dirty="0"/>
          </a:p>
        </p:txBody>
      </p:sp>
      <p:sp>
        <p:nvSpPr>
          <p:cNvPr id="18" name="Text 10">
            <a:hlinkClick r:id="rId7" tooltip=""/>
          </p:cNvPr>
          <p:cNvSpPr/>
          <p:nvPr/>
        </p:nvSpPr>
        <p:spPr>
          <a:xfrm>
            <a:off x="996696" y="6565392"/>
            <a:ext cx="2103120" cy="146304"/>
          </a:xfrm>
          <a:prstGeom prst="rect">
            <a:avLst/>
          </a:prstGeom>
          <a:noFill/>
          <a:ln/>
        </p:spPr>
        <p:txBody>
          <a:bodyPr wrap="square" lIns="0" tIns="0" rIns="0" bIns="0" rtlCol="0" anchor="t"/>
          <a:lstStyle/>
          <a:p>
            <a:pPr indent="0" marL="0">
              <a:buNone/>
            </a:pPr>
            <a:r>
              <a:rPr lang="en-US" sz="1000" b="1" u="sng" dirty="0">
                <a:solidFill>
                  <a:srgbClr val="FFFFFF"/>
                </a:solidFill>
                <a:latin typeface="Arial" pitchFamily="34" charset="0"/>
                <a:ea typeface="Arial" pitchFamily="34" charset="-122"/>
                <a:cs typeface="Arial" pitchFamily="34" charset="-120"/>
                <a:hlinkClick r:id="rId7" invalidUrl="" action="" tgtFrame="" tooltip="" history="1" highlightClick="0" endSnd="0">
                  <a:extLst>
                    <a:ext uri="{A12FA001-AC4F-418D-AE19-62706E023703}">
                      <ahyp:hlinkClr xmlns:ahyp="http://schemas.microsoft.com/office/drawing/2018/hyperlinkcolor" val="tx"/>
                    </a:ext>
                  </a:extLst>
                </a:hlinkClick>
              </a:rPr>
              <a:t>kpmg.com/ca</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KPMG LLP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Comprehensive Diligence Layout Stress Deck</dc:title>
  <dc:subject>Quality of Earnings and Diligence Report</dc:subject>
  <dc:creator>KPMG LLP</dc:creator>
  <cp:lastModifiedBy>KPMG LLP</cp:lastModifiedBy>
  <cp:revision>1</cp:revision>
  <dcterms:created xsi:type="dcterms:W3CDTF">2026-02-24T16:21:29Z</dcterms:created>
  <dcterms:modified xsi:type="dcterms:W3CDTF">2026-02-24T16:21:29Z</dcterms:modified>
</cp:coreProperties>
</file>