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growth %</c:v>
                </c:pt>
              </c:strCache>
            </c:strRef>
          </c:tx>
          <c:spPr>
            <a:solidFill>
              <a:srgbClr val="00338D"/>
            </a:solidFill>
            <a:ln w="254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Q1 FY24</c:v>
                  </c:pt>
                  <c:pt idx="1">
                    <c:v>Q2 FY24</c:v>
                  </c:pt>
                  <c:pt idx="2">
                    <c:v>Q3 FY24</c:v>
                  </c:pt>
                  <c:pt idx="3">
                    <c:v>Q4 FY24</c:v>
                  </c:pt>
                  <c:pt idx="4">
                    <c:v>Q1 FY25</c:v>
                  </c:pt>
                  <c:pt idx="5">
                    <c:v>Q2 FY25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16</c:v>
                </c:pt>
                <c:pt idx="2">
                  <c:v>14</c:v>
                </c:pt>
                <c:pt idx="3">
                  <c:v>12</c:v>
                </c:pt>
                <c:pt idx="4">
                  <c:v>10</c:v>
                </c:pt>
                <c:pt idx="5">
                  <c:v>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1E49E2"/>
            </a:solidFill>
            <a:ln w="25400" cap="flat">
              <a:solidFill>
                <a:srgbClr val="1E49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49E2"/>
              </a:solidFill>
              <a:ln w="9525" cap="flat">
                <a:solidFill>
                  <a:srgbClr val="1E4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Q1 FY24</c:v>
                  </c:pt>
                  <c:pt idx="1">
                    <c:v>Q2 FY24</c:v>
                  </c:pt>
                  <c:pt idx="2">
                    <c:v>Q3 FY24</c:v>
                  </c:pt>
                  <c:pt idx="3">
                    <c:v>Q4 FY24</c:v>
                  </c:pt>
                  <c:pt idx="4">
                    <c:v>Q1 FY25</c:v>
                  </c:pt>
                  <c:pt idx="5">
                    <c:v>Q2 FY25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8</c:v>
                </c:pt>
                <c:pt idx="4">
                  <c:v>9</c:v>
                </c:pt>
                <c:pt idx="5">
                  <c:v>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, a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chatgpt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, a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Revenue quality pressure points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Concentrated churn, price resets, and working-capital drag are tightening quality of revenue in FY2025.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concentration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ten customers represent 61% of recurring revenue and two enterprise contracts are approaching renewal with explicit rebid language.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retention remained high at 94%, but gross dollar retention fell to 86% as legacy contracts were repriced at lower volume commitments.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adjustments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incentives shifted to upfront discounting in Q4, increasing ACV conversion but pulling forward margin impact into the next two quarters.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overruns on three strategic accounts required unplanned service credits and delayed milestone billing by six to eight weeks.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Base-case underwriting should ring-fence near-term revenue confidence to contracted backlog and apply explicit downside sensitivity to FY2026 growth assumptions.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CRM cohort extract, contract register, and monthly bridge pack (FY2024-FY2025).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Risk and mitigation priorities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risk is manageable if commercial controls and delivery governance are tightened in the first 90 days.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72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risk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Repricing cadence is inconsistent across enterprise cohorts, creating avoidable renewal leakage and non-standard discount terms.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staging quality is weak in two regions where close dates are repeatedly rolled without clear owner-level escalation.</a:t>
            </a:r>
            <a:endParaRPr lang="en-US" sz="1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risk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utilization volatility in implementation teams has increased rework and extended cash conversion on fixed-fee projects.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96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controls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approval guardrails for non-standard terms with weekly exception review at CRO and FP&amp;A level.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renewal playbooks by cohort with mandatory deal-margin checkpoints before final quote issuance.</a:t>
            </a:r>
            <a:endParaRPr lang="en-US" sz="1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governance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account-level burn monitoring and milestone gating so scope drift is surfaced before it affects billing confidence.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KPMG-Bold" pitchFamily="34" charset="0"/>
                <a:ea typeface="KPMG-Bold" pitchFamily="34" charset="-122"/>
                <a:cs typeface="KPMG-Bold" pitchFamily="34" charset="-120"/>
              </a:rPr>
              <a:t>Growth slowed after pricing reset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decelerated after the FY2024 price reset while churn remained elevated in lower-margin cohorts.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revenue growth declined from 18% to 9% across the period, with the steepest deceleration in accounts exposed to contract rebasing.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rate remained above the long-run average after Q2 FY2025 despite improved new-logo bookings in mid-market channels.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Discount-heavy renewal tactics preserved volume but compressed realized price and reduced expansion contribution from existing customers.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case should separate temporary pricing actions from structural demand and model a staged recovery path tied to renewal quality improvements.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Management monthly KPI pack, cohort bridge, and revenue analytics cube.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Nested Bullets Dense Baseline</dc:title>
  <dc:subject>PptxGenJS Presentation</dc:subject>
  <dc:creator>PptxGenJS</dc:creator>
  <cp:lastModifiedBy>PptxGenJS</cp:lastModifiedBy>
  <cp:revision>1</cp:revision>
  <dcterms:created xsi:type="dcterms:W3CDTF">2026-02-26T20:59:58Z</dcterms:created>
  <dcterms:modified xsi:type="dcterms:W3CDTF">2026-02-26T20:59:58Z</dcterms:modified>
</cp:coreProperties>
</file>