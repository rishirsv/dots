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00338D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00338D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GOVERN</c:v>
                  </c:pt>
                  <c:pt idx="1">
                    <c:v>IDENTIFY</c:v>
                  </c:pt>
                  <c:pt idx="2">
                    <c:v>PROTECT</c:v>
                  </c:pt>
                  <c:pt idx="3">
                    <c:v>DETECT</c:v>
                  </c:pt>
                  <c:pt idx="4">
                    <c:v>RESPOND</c:v>
                  </c:pt>
                  <c:pt idx="5">
                    <c:v>RECOVER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2.3</c:v>
                </c:pt>
                <c:pt idx="1">
                  <c:v>2.2</c:v>
                </c:pt>
                <c:pt idx="2">
                  <c:v>2.1</c:v>
                </c:pt>
                <c:pt idx="3">
                  <c:v>2</c:v>
                </c:pt>
                <c:pt idx="4">
                  <c:v>2.8</c:v>
                </c:pt>
                <c:pt idx="5">
                  <c:v>2.6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1E49E2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1E49E2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GOVERN</c:v>
                  </c:pt>
                  <c:pt idx="1">
                    <c:v>IDENTIFY</c:v>
                  </c:pt>
                  <c:pt idx="2">
                    <c:v>PROTECT</c:v>
                  </c:pt>
                  <c:pt idx="3">
                    <c:v>DETECT</c:v>
                  </c:pt>
                  <c:pt idx="4">
                    <c:v>RESPOND</c:v>
                  </c:pt>
                  <c:pt idx="5">
                    <c:v>RECOVER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3.1</c:v>
                </c:pt>
                <c:pt idx="1">
                  <c:v>3</c:v>
                </c:pt>
                <c:pt idx="2">
                  <c:v>3</c:v>
                </c:pt>
                <c:pt idx="3">
                  <c:v>2.9</c:v>
                </c:pt>
                <c:pt idx="4">
                  <c:v>3.3</c:v>
                </c:pt>
                <c:pt idx="5">
                  <c:v>3.2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00338D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00338D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GOVERN</c:v>
                  </c:pt>
                  <c:pt idx="1">
                    <c:v>IDENTIFY</c:v>
                  </c:pt>
                  <c:pt idx="2">
                    <c:v>PROTECT</c:v>
                  </c:pt>
                  <c:pt idx="3">
                    <c:v>DETECT</c:v>
                  </c:pt>
                  <c:pt idx="4">
                    <c:v>RESPOND</c:v>
                  </c:pt>
                  <c:pt idx="5">
                    <c:v>RECOVER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2.3</c:v>
                </c:pt>
                <c:pt idx="1">
                  <c:v>2.2</c:v>
                </c:pt>
                <c:pt idx="2">
                  <c:v>2.1</c:v>
                </c:pt>
                <c:pt idx="3">
                  <c:v>2</c:v>
                </c:pt>
                <c:pt idx="4">
                  <c:v>2.8</c:v>
                </c:pt>
                <c:pt idx="5">
                  <c:v>2.6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1E49E2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1E49E2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GOVERN</c:v>
                  </c:pt>
                  <c:pt idx="1">
                    <c:v>IDENTIFY</c:v>
                  </c:pt>
                  <c:pt idx="2">
                    <c:v>PROTECT</c:v>
                  </c:pt>
                  <c:pt idx="3">
                    <c:v>DETECT</c:v>
                  </c:pt>
                  <c:pt idx="4">
                    <c:v>RESPOND</c:v>
                  </c:pt>
                  <c:pt idx="5">
                    <c:v>RECOVER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3.1</c:v>
                </c:pt>
                <c:pt idx="1">
                  <c:v>3</c:v>
                </c:pt>
                <c:pt idx="2">
                  <c:v>3</c:v>
                </c:pt>
                <c:pt idx="3">
                  <c:v>2.9</c:v>
                </c:pt>
                <c:pt idx="4">
                  <c:v>3.3</c:v>
                </c:pt>
                <c:pt idx="5">
                  <c:v>3.2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maturity</c:v>
                </c:pt>
              </c:strCache>
            </c:strRef>
          </c:tx>
          <c:spPr>
            <a:solidFill>
              <a:srgbClr val="00338D"/>
            </a:solidFill>
            <a:ln w="25400" cap="flat">
              <a:solidFill>
                <a:srgbClr val="0033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338D"/>
              </a:solidFill>
              <a:ln w="9525" cap="flat">
                <a:solidFill>
                  <a:srgbClr val="0033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2.1</c:v>
                </c:pt>
                <c:pt idx="1">
                  <c:v>2.2</c:v>
                </c:pt>
                <c:pt idx="2">
                  <c:v>2.4</c:v>
                </c:pt>
                <c:pt idx="3">
                  <c:v>2.5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maturity</c:v>
                </c:pt>
              </c:strCache>
            </c:strRef>
          </c:tx>
          <c:spPr>
            <a:solidFill>
              <a:srgbClr val="00338D"/>
            </a:solidFill>
            <a:ln w="25400" cap="flat">
              <a:solidFill>
                <a:srgbClr val="0033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338D"/>
              </a:solidFill>
              <a:ln w="9525" cap="flat">
                <a:solidFill>
                  <a:srgbClr val="0033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2.1</c:v>
                </c:pt>
                <c:pt idx="1">
                  <c:v>2.2</c:v>
                </c:pt>
                <c:pt idx="2">
                  <c:v>2.4</c:v>
                </c:pt>
                <c:pt idx="3">
                  <c:v>2.5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Notation: Priority reflects expected impact on diligence confidence if evidence remains unavailable at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sv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kpmg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183880" y="6267298"/>
            <a:ext cx="749808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kpmg.com/ca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6" name="Shape 3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accent_chip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4242" y="103327"/>
            <a:ext cx="222199" cy="222199"/>
          </a:xfrm>
          <a:prstGeom prst="rect">
            <a:avLst/>
          </a:prstGeom>
        </p:spPr>
      </p:pic>
      <p:pic>
        <p:nvPicPr>
          <p:cNvPr id="3" name="Image 1" descr="/Users/rishi/Code/ai-tools/chatgpt/kpmg-slidegen/templates/kpmg-diligence/assets/kpmg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8183880" y="6267298"/>
            <a:ext cx="749808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kpmg.com/ca</a:t>
            </a:r>
            <a:endParaRPr lang="en-US" sz="600" dirty="0"/>
          </a:p>
        </p:txBody>
      </p:sp>
      <p:sp>
        <p:nvSpPr>
          <p:cNvPr id="6" name="Text 2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7" name="Shape 3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OVER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DARK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LOSING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back_cover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hyperlink" Target="https://kpmg.com" TargetMode="External"/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8" Type="http://schemas.openxmlformats.org/officeDocument/2006/relationships/slideLayout" Target="../slideLayouts/slideLayout8.xml"/><Relationship Id="rId9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PM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8478" y="1456388"/>
            <a:ext cx="3697810" cy="3427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</a:t>
            </a:r>
            <a:endParaRPr lang="en-US" sz="3900" dirty="0"/>
          </a:p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Risk</a:t>
            </a:r>
            <a:endParaRPr lang="en-US" sz="3900" dirty="0"/>
          </a:p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Control</a:t>
            </a:r>
            <a:endParaRPr lang="en-US" sz="3900" dirty="0"/>
          </a:p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Assurance</a:t>
            </a:r>
            <a:endParaRPr lang="en-US" sz="3900" dirty="0"/>
          </a:p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Readout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998433" y="5005883"/>
            <a:ext cx="3697834" cy="80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summary, maturity scoring, tactical actions, and appendix evidence set for committee review | February 2026</a:t>
            </a:r>
            <a:endParaRPr lang="en-US" sz="1400" dirty="0"/>
          </a:p>
        </p:txBody>
      </p:sp>
      <p:pic>
        <p:nvPicPr>
          <p:cNvPr id="5" name="Image 1" descr="Cover photograph">    </p:cNvPr>
          <p:cNvPicPr>
            <a:picLocks noChangeAspect="1"/>
          </p:cNvPicPr>
          <p:nvPr/>
        </p:nvPicPr>
        <p:blipFill>
          <a:blip r:embed="rId2"/>
          <a:srcRect l="4986" r="4986" t="0" b="0"/>
          <a:stretch/>
        </p:blipFill>
        <p:spPr>
          <a:xfrm>
            <a:off x="4915965" y="1456388"/>
            <a:ext cx="6283848" cy="43649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and Core Findings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5782" y="431597"/>
            <a:ext cx="10191628" cy="565191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782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5782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782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5782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95782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Top-line risk posture and directional trend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design and execution variance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Near-term leadership priorities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68361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3068361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8361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and Scope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68361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2-12)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68361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sources and interview coverage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logic and materiality lens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limitations and residual assumptions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40940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5140940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0940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40940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8-12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40940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ownership and cadence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design and approval pathways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Committee reporting effectiveness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13519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7213519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13519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and Protect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13519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13-18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13519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baseline and policy alignment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execution consistency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quality and traceability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286098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400" dirty="0"/>
          </a:p>
        </p:txBody>
      </p:sp>
      <p:sp>
        <p:nvSpPr>
          <p:cNvPr id="24" name="Shape 22"/>
          <p:cNvSpPr/>
          <p:nvPr/>
        </p:nvSpPr>
        <p:spPr>
          <a:xfrm>
            <a:off x="9286098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86098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and Respond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86098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19-24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86098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effectiveness by domain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and escalation timeliness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Decision-quality under live incidents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95782" y="3694176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400" dirty="0"/>
          </a:p>
        </p:txBody>
      </p:sp>
      <p:sp>
        <p:nvSpPr>
          <p:cNvPr id="29" name="Shape 27"/>
          <p:cNvSpPr/>
          <p:nvPr/>
        </p:nvSpPr>
        <p:spPr>
          <a:xfrm>
            <a:off x="995782" y="4169664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5782" y="4215384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95782" y="4453128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25-28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95782" y="4718304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Restoration governance maturity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Lessons-learned closure behavior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uplift sustainability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068361" y="3694176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3400" dirty="0"/>
          </a:p>
        </p:txBody>
      </p:sp>
      <p:sp>
        <p:nvSpPr>
          <p:cNvPr id="34" name="Shape 32"/>
          <p:cNvSpPr/>
          <p:nvPr/>
        </p:nvSpPr>
        <p:spPr>
          <a:xfrm>
            <a:off x="3068361" y="4169664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68361" y="4215384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Tactical Action Plan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068361" y="4453128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29-33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068361" y="4718304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Sequenced ninety-day actions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checkpoints and owners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and unblock map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40940" y="3694176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3400" dirty="0"/>
          </a:p>
        </p:txBody>
      </p:sp>
      <p:sp>
        <p:nvSpPr>
          <p:cNvPr id="39" name="Shape 37"/>
          <p:cNvSpPr/>
          <p:nvPr/>
        </p:nvSpPr>
        <p:spPr>
          <a:xfrm>
            <a:off x="5140940" y="4169664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0940" y="4215384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Evidence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40940" y="4453128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34-45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40940" y="4718304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Question-level excerpts and mapping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notation and caveat tracking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citation preservation rules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213519" y="3694176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3400" dirty="0"/>
          </a:p>
        </p:txBody>
      </p:sp>
      <p:sp>
        <p:nvSpPr>
          <p:cNvPr id="44" name="Shape 42"/>
          <p:cNvSpPr/>
          <p:nvPr/>
        </p:nvSpPr>
        <p:spPr>
          <a:xfrm>
            <a:off x="7213519" y="4169664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13519" y="4215384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and Release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213519" y="4453128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46-48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213519" y="4718304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report interpretation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controls and handoff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issue log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286098" y="3694176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400" dirty="0"/>
          </a:p>
        </p:txBody>
      </p:sp>
      <p:sp>
        <p:nvSpPr>
          <p:cNvPr id="49" name="Shape 47"/>
          <p:cNvSpPr/>
          <p:nvPr/>
        </p:nvSpPr>
        <p:spPr>
          <a:xfrm>
            <a:off x="9286098" y="4169664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86098" y="4215384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286098" y="4453128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286098" y="4718304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Contacts and follow-up route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links and legal footer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control markers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 and Comparative Readouts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Maturity Movement by Function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Function-level averages highlight where executive attention should concentrate in the next remediation cycle while preserving gains in response and recovery disciplines.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trend indicates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 and Recover remain comparatively stronger, reflecting clearer incident and restoration process structure across assessed artifacts.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and Protect remain primary pressure points where operational execution and documented control design are not consistently aligned.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implication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detection engineering, monitoring governance, and policy-to-practice operating controls while sustaining gains in response pathways.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 quarterly committee updates to measurable control outcomes, unresolved exceptions, and explicit remediation ownership transitions.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decision rationale for deferred controls so future cycles can distinguish accepted risk from delivery slippage.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summary view as directional evidence only; confirm final scoring weights during close-out review with control owners.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 score movement with evidence quality indicators so leaders can separate genuine control uplift from reporting-noise variance.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domain owners to pre-commit target-state actions and closure criteria before the next governance checkpoint to reduce ambiguous follow-up.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unresolved cross-functional dependencies explicitly in committee packs, including blockers, decision asks, and expected unlock dates.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a concise confidence statement for each category so the management team understands data quality limits behind the score trajectory.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consolidatedReport.xlsx Summary tab, Maturity Score by subcategory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Maturity Movement by Function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Function-level averages highlight where executive attention should concentrate in the next remediation cycle while preserving gains in response and recovery disciplines.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categories with repeated variance between documented process and observed practice to a focused remediation workstream with weekly oversight.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 a lightweight assumptions log for inferred controls and mark each assumption with a concrete evidence request and named owner.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consolidatedReport.xlsx Summary tab, Maturity Score by subcategory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00" y="431800"/>
            <a:ext cx="10195200" cy="533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RS.CO Tactical Category Actions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 | Category actions are intentionally dense to stress balancing, continuation, and overlap-safe text region handling.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7200" y="1716786"/>
            <a:ext cx="5036400" cy="415712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actions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incident response playbooks with mandatory executive notification triggers and documented severity thresholds tied to contractual obligations.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one-hour notification sequencing with explicit ownership, backup approvers, and legal-review checkpoints for after-hours escalation scenarios.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post-incident governance reviews to include control owner attestation, implementation status aging, and explicit closure decisions for unresolved risk items.</a:t>
            </a:r>
            <a:endParaRPr lang="en-US" sz="1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controls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cross-border escalation playbooks that reconcile local reporting thresholds with central crisis-management communications.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a recurring exception register that records why policy timing targets were missed, who approved the exception, and when remediation is due.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legal, compliance, and cyber response checklists into one operational flow to reduce duplicate review loops during time-sensitive incidents.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minimum evidence packets for each incident class so timeline reconstruction remains audit-ready without ad hoc document requests.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branch logic for uncertain-impact events to avoid delayed decision-making while waiting for complete technical confirmation.</a:t>
            </a:r>
            <a:endParaRPr lang="en-US" sz="1000" dirty="0"/>
          </a:p>
        </p:txBody>
      </p:sp>
      <p:pic>
        <p:nvPicPr>
          <p:cNvPr id="5" name="Image 0" descr="GPT ic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36464" y="1771650"/>
            <a:ext cx="804672" cy="8046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59600" y="1716786"/>
            <a:ext cx="5036400" cy="415712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actions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 a single communications playbook that reconciles one-hour reporting execution with broader regulatory and contractual timelines.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Clarify approvals for customer notifications when incidents originate in vendor-controlled environments and impact certainty is still evolving.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mandatory content blocks for executive updates so each report includes impact scope, legal posture, decision requests, and milestones.</a:t>
            </a:r>
            <a:endParaRPr lang="en-US" sz="1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safeguards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source-of-truth incident timeline that captures when facts changed, who validated them, and how external communications were adjusted.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monthly audit sampling of closed incidents to verify notification completeness, evidence traceability, and policy conformance.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explicit quality gates before closure to confirm root-cause documentation, control updates, and leadership acknowledgement are complete.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response timeliness by incident class and include exception aging so governance can distinguish one-off misses from structural gaps.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pre-approved messaging guardrails for high-severity scenarios to reduce delays during early-stage uncertainty.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explicit handoffs between technical responders and client-facing teams so communication ownership is never ambiguous.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00" y="431800"/>
            <a:ext cx="10195200" cy="533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RS.CO Tactical Category Actions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 | Category actions are intentionally dense to stress balancing, continuation, and overlap-safe text region handling.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7200" y="1716786"/>
            <a:ext cx="5036400" cy="415712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accountable owners to attest closure readiness using standardized criteria tied to policy obligations and customer commitments.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notification dependencies to vendor response SLAs so external constraints are visible in executive risk discussions.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incident decisions in a searchable register with explicit references to supporting evidence, approvals, and follow-on actions.</a:t>
            </a:r>
            <a:endParaRPr lang="en-US" sz="1000" dirty="0"/>
          </a:p>
        </p:txBody>
      </p:sp>
      <p:pic>
        <p:nvPicPr>
          <p:cNvPr id="5" name="Image 0" descr="GPT ic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36464" y="1771650"/>
            <a:ext cx="804672" cy="8046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59600" y="1716786"/>
            <a:ext cx="5036400" cy="415712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rehearsal outcomes against live-event execution data to validate whether drills are improving real response quality.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post-incident summaries to identify policy, process, and tooling deltas separately so remediation plans remain actionable.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Q8 GV.RM Raw Evidence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 | Full question-level observations and direct citation evidence for this question, intentionally extended so dynamic strapline sizing reduces effective body geometry and exercises continuation behavior.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10204338" cy="424876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senior leaders agree on cybersecurity objectives and use them for measuring and managing risk and performance?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Observations by source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Transcripts: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Bank ABC describes agreement with corporate on how cybersecurity scoring measures operate and states that quarterly metrics are reviewed with executive cadence and checkpoint follow-through.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Transcripts: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Bank ABC states it sets objectives, priorities, and timelines for recommendations and findings, and documents KPI-like targets during annual planning and quarterly review cycles.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Transcripts: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leader meets every week with executives and directors, and cybersecurity topics and incident updates are discussed in recurring management forums.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There is limited corroborating documentation that explicitly confirms leader-level agreement with cybersecurity objectives and linkage to risk performance metrics.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Additional evidence requested includes approved objective statements, governance minutes with explicit approvals, and examples of tied risk indicators.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Questionnaires: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Strategy references and policy approval language indicate directional alignment, but excerpts do not explicitly confirm objective-level agreement and measurement usage.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Questionnaires: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Committee cadence is described, yet evidence remains indirect on whether specific cybersecurity objectives are adopted and tracked by senior leaders.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Questionnaires: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Policy approval statements imply governance maturity, but do not fully establish objective ownership traceability by named senior roles.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note: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This intentionally dense line forces wrapped output and pushes body usage toward effective lower bounds after source reservation is applied.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note: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Additional continuation sentence inserted to emulate evidence-heavy appendix writeups where repeated caveats are expected in formal reporting language.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98433" y="5992978"/>
            <a:ext cx="10204338" cy="182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consolidatedReport.xlsx Observations tab, Question 8. Supplementary context intentionally extended to consume source footprint and test footer-safe body geometry alignment.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Q8 GV.RM Raw Evidence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 | Full question-level observations and direct citation evidence for this question, intentionally extended so dynamic strapline sizing reduces effective body geometry and exercises continuation behavior.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10204338" cy="424876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note: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Final stress sentence to ensure aggregate wrapped lines exceed practical body capacity and trigger deterministic continuation behavior.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98433" y="5992978"/>
            <a:ext cx="10204338" cy="182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consolidatedReport.xlsx Observations tab, Question 8. Supplementary context intentionally extended to consume source footprint and test footer-safe body geometry alignment.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Snapshot and Supporting Detail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361" y="1179513"/>
            <a:ext cx="7587923" cy="482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Function-level summary pairs directional chart movement with tabular detail and narrative interpretation to validate heading, text, chart, table, and note-source coexistence.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95361" y="1751584"/>
            <a:ext cx="10192299" cy="2520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8513" y="1769872"/>
            <a:ext cx="10045995" cy="2520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Function-level snapshot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5361" y="3978688"/>
          <a:ext cx="5036400" cy="2197170"/>
        </p:xfrm>
        <a:graphic>
          <a:graphicData uri="http://schemas.openxmlformats.org/drawingml/2006/table">
            <a:tbl>
              <a:tblPr/>
              <a:tblGrid>
                <a:gridCol w="1526298"/>
                <a:gridCol w="947753"/>
                <a:gridCol w="1605810"/>
                <a:gridCol w="956539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Score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Maturity Band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Categories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RECOVER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159600" y="2058448"/>
            <a:ext cx="5033848" cy="18288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 and Recover remain strongest categories, while Detect and Protect continue to show execution and evidence-traceability pressure.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Current-state variance suggests policy language is ahead of operating practice in select monitoring and escalation domains.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action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detection governance, harmonize escalation playbooks, and sequence remediation by operational dependency rather than policy chronology.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995361" y="2058448"/>
          <a:ext cx="50364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995361" y="3932968"/>
            <a:ext cx="503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consolidatedReport.xlsx Summary tab, quarterly aggregation</a:t>
            </a:r>
            <a:endParaRPr lang="en-US" sz="600" dirty="0"/>
          </a:p>
        </p:txBody>
      </p:sp>
      <p:sp>
        <p:nvSpPr>
          <p:cNvPr id="10" name="Text 6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Snapshot and Supporting Detail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361" y="1179513"/>
            <a:ext cx="7587923" cy="482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Function-level summary pairs directional chart movement with tabular detail and narrative interpretation to validate heading, text, chart, table, and note-source coexistence.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95361" y="1751584"/>
            <a:ext cx="10192299" cy="2520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8513" y="1769872"/>
            <a:ext cx="10045995" cy="2520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Function-level snapshot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5361" y="3978688"/>
          <a:ext cx="5036400" cy="2197170"/>
        </p:xfrm>
        <a:graphic>
          <a:graphicData uri="http://schemas.openxmlformats.org/drawingml/2006/table">
            <a:tbl>
              <a:tblPr/>
              <a:tblGrid>
                <a:gridCol w="1526298"/>
                <a:gridCol w="947753"/>
                <a:gridCol w="1605810"/>
                <a:gridCol w="956539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Score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Maturity Band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Categories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RECOVER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159600" y="2058448"/>
            <a:ext cx="5033848" cy="18288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exception aging and decision rationale in committee reporting so deferred actions retain explicit accountability and expiry expectations.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combined view as a management artifact; retain full excerpts in appendix material for audit-grade review.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995361" y="2058448"/>
          <a:ext cx="50364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995361" y="3932968"/>
            <a:ext cx="503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consolidatedReport.xlsx Summary tab, quarterly aggregation</a:t>
            </a:r>
            <a:endParaRPr lang="en-US" sz="600" dirty="0"/>
          </a:p>
        </p:txBody>
      </p:sp>
      <p:sp>
        <p:nvSpPr>
          <p:cNvPr id="10" name="Text 6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00" y="431800"/>
            <a:ext cx="10195200" cy="533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Request Tracker and Priority 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361" y="1179513"/>
            <a:ext cx="10195200" cy="482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request table with narrative takeaways validates row-height estimation, pagination behavior, and notes placement.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95361" y="1751579"/>
            <a:ext cx="5036396" cy="219456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0225" y="1765295"/>
            <a:ext cx="49266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Request Tracker and Priority 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95361" y="1971035"/>
            <a:ext cx="5036396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5361" y="1989323"/>
          <a:ext cx="5036396" cy="3884252"/>
        </p:xfrm>
        <a:graphic>
          <a:graphicData uri="http://schemas.openxmlformats.org/drawingml/2006/table">
            <a:tbl>
              <a:tblPr/>
              <a:tblGrid>
                <a:gridCol w="868680"/>
                <a:gridCol w="2417275"/>
                <a:gridCol w="1750441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Request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Rationale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Provide twelve months of incident notification logs including timestamped approval trail and audience distribution metadata.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Validates policy-to-practice timing claims and confirms control ownership through real event history.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 committee packs and decision logs for the last four quarterly cyber governance meetings.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Tests whether management action tracking is explicit, aged, and closed with accountable ownership.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49E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Provide cross-border escalation procedures and contract notice obligations by major jurisdiction.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Assesses readiness for geographically mixed incident scenarios and legal sequencing risk.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49E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 evidence of tabletop exercises including participant list, scenario notes, and remediation outcomes.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Confirms whether scenario testing drives practical control improvements instead of one-time compliance artifacts.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159600" y="1751579"/>
            <a:ext cx="5036396" cy="251999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actions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59600" y="2003588"/>
            <a:ext cx="5036396" cy="386999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requests concentrate on evidence that distinguishes documented intent from operationally observed behavior.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materials should enable direct tracing from committee decisions to remediation execution and measured outcomes.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and dependency artifacts are critical for evaluating whether closure timelines are credible under real delivery constraints.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tracker as an active workplan; unresolved high-priority items should gate final confidence scoring.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00" y="431800"/>
            <a:ext cx="10195200" cy="533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Request Tracker and Priority View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361" y="1179513"/>
            <a:ext cx="10195200" cy="482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request table with narrative takeaways validates row-height estimation, pagination behavior, and notes placement.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95361" y="1751579"/>
            <a:ext cx="5036396" cy="219456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0225" y="1765295"/>
            <a:ext cx="49266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Request Tracker and Priority View (cont.)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95361" y="1971035"/>
            <a:ext cx="5036396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5361" y="1989323"/>
          <a:ext cx="5036396" cy="3884252"/>
        </p:xfrm>
        <a:graphic>
          <a:graphicData uri="http://schemas.openxmlformats.org/drawingml/2006/table">
            <a:tbl>
              <a:tblPr/>
              <a:tblGrid>
                <a:gridCol w="868680"/>
                <a:gridCol w="2417275"/>
                <a:gridCol w="1750441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Request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Rationale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Provide standard executive communication templates used for preliminary and confirmed incident updates.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Evaluates consistency of decision-quality information provided to leadership during active response periods.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 exception register entries where notification timing exceeded policy thresholds and include approval rationale.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Validates transparency over misses and whether exceptions are managed as controlled decisions.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49E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Provide remediation dependency mapping for controls requiring external vendor confirmation or legal review.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Tests execution realism and ability to forecast closure risk across multi-party workstreams.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post-incident lessons-learned summaries with assigned owners and verification checkpoints.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Confirms whether closure discipline is measurable and linked to explicit uplift actions.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159600" y="1751579"/>
            <a:ext cx="5036396" cy="251999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actions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59600" y="2003588"/>
            <a:ext cx="5036396" cy="386999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requests concentrate on evidence that distinguishes documented intent from operationally observed behavior.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materials should enable direct tracing from committee decisions to remediation execution and measured outcomes.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and dependency artifacts are critical for evaluating whether closure timelines are credible under real delivery constraints.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tracker as an active workplan; unresolved high-priority items should gate final confidence scoring.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95361" y="6010735"/>
            <a:ext cx="5036396" cy="165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Notation: Priority reflects expected impact on diligence confidence if evidence remains unavailable at close.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Workstream Uplift Blueprint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four-column summary captures sequenced control uplift themes and ownership handoffs for execution planning.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2377440" cy="27432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98433" y="2036826"/>
            <a:ext cx="2377440" cy="413903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objective ownership at committee and control-owner levels.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escalation checkpoints and decision logs.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aging exceptions with explicit expiry and approvals.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566160" y="1716786"/>
            <a:ext cx="2377440" cy="27432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566160" y="2036826"/>
            <a:ext cx="2377440" cy="413903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Rationalize alert taxonomy and severity calibration examples.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 monitoring coverage for third-party dependencies.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 reporting so threshold breaches are audit-ready.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0" y="1716786"/>
            <a:ext cx="2377440" cy="27432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036826"/>
            <a:ext cx="2377440" cy="413903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Unify one-hour notification pathways across legal and operations.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role-based drills with accountable follow-through.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closure criteria before incidents occur.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0" y="1716786"/>
            <a:ext cx="2377440" cy="27432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0" y="2036826"/>
            <a:ext cx="2377440" cy="413903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 restoration milestones to customer-impact reduction metrics.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lessons-learned outcomes as governed control changes.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sustainability through quarterly assurance sampling.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 and Contact Details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PM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411480"/>
            <a:ext cx="1216152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1268" y="1014984"/>
            <a:ext cx="9372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contacts at KPMG in connection with this report are: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133856" y="2770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Firstname Lastname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33856" y="3026664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T: +1 000 000 0001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 firstname.lastname@kpmg.ca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465576" y="2770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Firstname Lastname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465576" y="3026664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T: +1 000 000 0002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 firstname.lastname@kpmg.ca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97296" y="2770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Firstname Lastname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97296" y="3026664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T: +1 000 000 0003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 firstname.lastname@kpmg.ca</a:t>
            </a:r>
            <a:endParaRPr lang="en-US" sz="1100" dirty="0"/>
          </a:p>
        </p:txBody>
      </p:sp>
      <p:pic>
        <p:nvPicPr>
          <p:cNvPr id="10" name="Image 1" descr="Social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5394960"/>
            <a:ext cx="329184" cy="329184"/>
          </a:xfrm>
          <a:prstGeom prst="rect">
            <a:avLst/>
          </a:prstGeom>
        </p:spPr>
      </p:pic>
      <p:pic>
        <p:nvPicPr>
          <p:cNvPr id="11" name="Image 2" descr="Social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5394960"/>
            <a:ext cx="329184" cy="329184"/>
          </a:xfrm>
          <a:prstGeom prst="rect">
            <a:avLst/>
          </a:prstGeom>
        </p:spPr>
      </p:pic>
      <p:pic>
        <p:nvPicPr>
          <p:cNvPr id="12" name="Image 3" descr="Social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5394960"/>
            <a:ext cx="329184" cy="329184"/>
          </a:xfrm>
          <a:prstGeom prst="rect">
            <a:avLst/>
          </a:prstGeom>
        </p:spPr>
      </p:pic>
      <p:pic>
        <p:nvPicPr>
          <p:cNvPr id="13" name="Image 4" descr="Social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6272" y="5394960"/>
            <a:ext cx="329184" cy="329184"/>
          </a:xfrm>
          <a:prstGeom prst="rect">
            <a:avLst/>
          </a:prstGeom>
        </p:spPr>
      </p:pic>
      <p:pic>
        <p:nvPicPr>
          <p:cNvPr id="14" name="Image 5" descr="Social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9464" y="5394960"/>
            <a:ext cx="329184" cy="32918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96696" y="5897880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presentation is generated for controlled QA regression testing. Content is synthetic and used to validate rendering, pagination, and QA-report contract behavior only.</a:t>
            </a:r>
            <a:endParaRPr lang="en-US" sz="900" dirty="0"/>
          </a:p>
        </p:txBody>
      </p:sp>
      <p:sp>
        <p:nvSpPr>
          <p:cNvPr id="16" name="Text 8"/>
          <p:cNvSpPr/>
          <p:nvPr/>
        </p:nvSpPr>
        <p:spPr>
          <a:xfrm>
            <a:off x="996696" y="6327648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KPMG name and logo are trademarks used under license by the independent member firms of the KPMG global organization.</a:t>
            </a:r>
            <a:endParaRPr lang="en-US" sz="800" dirty="0"/>
          </a:p>
        </p:txBody>
      </p:sp>
      <p:sp>
        <p:nvSpPr>
          <p:cNvPr id="17" name="Text 9"/>
          <p:cNvSpPr/>
          <p:nvPr/>
        </p:nvSpPr>
        <p:spPr>
          <a:xfrm>
            <a:off x="996696" y="6729984"/>
            <a:ext cx="3200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800" dirty="0"/>
          </a:p>
        </p:txBody>
      </p:sp>
      <p:sp>
        <p:nvSpPr>
          <p:cNvPr id="18" name="Text 10">
            <a:hlinkClick r:id="rId7" tooltip=""/>
          </p:cNvPr>
          <p:cNvSpPr/>
          <p:nvPr/>
        </p:nvSpPr>
        <p:spPr>
          <a:xfrm>
            <a:off x="996696" y="656539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www.kpmg.com/ca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KPMG LLP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Golden All Layouts Dense Fixture</dc:title>
  <dc:subject>Golden QA contract regression fixture</dc:subject>
  <dc:creator>KPMG LLP</dc:creator>
  <cp:lastModifiedBy>KPMG LLP</cp:lastModifiedBy>
  <cp:revision>1</cp:revision>
  <dcterms:created xsi:type="dcterms:W3CDTF">2026-02-24T19:47:28Z</dcterms:created>
  <dcterms:modified xsi:type="dcterms:W3CDTF">2026-02-24T19:47:28Z</dcterms:modified>
</cp:coreProperties>
</file>