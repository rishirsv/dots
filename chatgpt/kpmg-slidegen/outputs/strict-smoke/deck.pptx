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9.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4.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5.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6.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7.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9.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20.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4.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5.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6.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7.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8.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9.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5.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charts/chart36.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38.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3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Summary" id="{1f419b9b-c173-da12-9322-4f14ae3e875a}">
          <p14:sldIdLst/>
        </p14:section>
        <p14:section name="Default-1" id="{a154e83e-6c98-a689-1264-3fec19541699}">
          <p14:sldIdLst>
            <p14:sldId id="257"/>
            <p14:sldId id="258"/>
            <p14:sldId id="259"/>
            <p14:sldId id="260"/>
            <p14:sldId id="261"/>
            <p14:sldId id="262"/>
          </p14:sldIdLst>
        </p14:section>
        <p14:section name="Financial Overview" id="{ca93942f-2de4-72d3-944e-c990e10b3622}">
          <p14:sldIdLst/>
        </p14:section>
        <p14:section name="Default-2" id="{2a47c140-30ff-0765-30c9-d8d501a01b98}">
          <p14:sldIdLst>
            <p14:sldId id="263"/>
            <p14:sldId id="264"/>
            <p14:sldId id="265"/>
            <p14:sldId id="266"/>
            <p14:sldId id="267"/>
            <p14:sldId id="268"/>
            <p14:sldId id="269"/>
            <p14:sldId id="270"/>
            <p14:sldId id="271"/>
          </p14:sldIdLst>
        </p14:section>
        <p14:section name="Quality of Earnings" id="{154b4b80-9235-eebb-f2eb-2670a144cccb}">
          <p14:sldIdLst/>
        </p14:section>
        <p14:section name="Default-3" id="{2186e7f2-f1f3-7fb3-2c2d-4fdf67bb86a0}">
          <p14:sldIdLst>
            <p14:sldId id="272"/>
            <p14:sldId id="273"/>
            <p14:sldId id="274"/>
            <p14:sldId id="275"/>
            <p14:sldId id="276"/>
            <p14:sldId id="277"/>
            <p14:sldId id="278"/>
            <p14:sldId id="279"/>
            <p14:sldId id="280"/>
            <p14:sldId id="281"/>
            <p14:sldId id="282"/>
            <p14:sldId id="283"/>
            <p14:sldId id="284"/>
          </p14:sldIdLst>
        </p14:section>
        <p14:section name="Working Capital" id="{55b7ac9a-d0de-f146-81c8-a32176d07df0}">
          <p14:sldIdLst/>
        </p14:section>
        <p14:section name="Default-4" id="{e1a4bad4-30de-739c-eb52-05c05579b1d8}">
          <p14:sldIdLst>
            <p14:sldId id="285"/>
            <p14:sldId id="286"/>
            <p14:sldId id="287"/>
            <p14:sldId id="288"/>
            <p14:sldId id="289"/>
            <p14:sldId id="290"/>
            <p14:sldId id="291"/>
            <p14:sldId id="292"/>
            <p14:sldId id="293"/>
          </p14:sldIdLst>
        </p14:section>
        <p14:section name="Risk Assessment" id="{297635f7-2227-bb4b-9462-a8f041cb9198}">
          <p14:sldIdLst/>
        </p14:section>
        <p14:section name="Default-5" id="{aaacd23f-cab1-7260-ca0a-43ef64b265f4}">
          <p14:sldIdLst>
            <p14:sldId id="294"/>
            <p14:sldId id="295"/>
            <p14:sldId id="296"/>
            <p14:sldId id="297"/>
            <p14:sldId id="298"/>
            <p14:sldId id="299"/>
            <p14:sldId id="300"/>
            <p14:sldId id="301"/>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Quarterly Revenue ($B)</c:v>
                </c:pt>
              </c:strCache>
            </c:strRef>
          </c:tx>
          <c:spPr>
            <a:solidFill>
              <a:srgbClr val="1E49E2"/>
            </a:solidFill>
            <a:effectLst/>
          </c:spPr>
          <c:invertIfNegative val="0"/>
          <c:dLbls>
            <c:numFmt formatCode="#,##0" sourceLinked="0"/>
            <c:spPr>
              <a:solidFill>
                <a:srgbClr val="1E49E2"/>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4886325"/>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0-1.png"/><Relationship Id="rId3" Type="http://schemas.openxmlformats.org/officeDocument/2006/relationships/image" Target="../media/image-10-2.sv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1-1.png"/><Relationship Id="rId3" Type="http://schemas.openxmlformats.org/officeDocument/2006/relationships/image" Target="../media/image-11-2.sv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image" Target="../media/image-12-1.png"/><Relationship Id="rId3" Type="http://schemas.openxmlformats.org/officeDocument/2006/relationships/image" Target="../media/image-12-2.sv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3-1.png"/><Relationship Id="rId3" Type="http://schemas.openxmlformats.org/officeDocument/2006/relationships/image" Target="../media/image-13-2.sv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4-1.png"/><Relationship Id="rId3" Type="http://schemas.openxmlformats.org/officeDocument/2006/relationships/image" Target="../media/image-14-2.sv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15-1.png"/><Relationship Id="rId3" Type="http://schemas.openxmlformats.org/officeDocument/2006/relationships/image" Target="../media/image-15-2.sv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image" Target="../media/image-16-1.png"/><Relationship Id="rId3" Type="http://schemas.openxmlformats.org/officeDocument/2006/relationships/image" Target="../media/image-16-2.sv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image" Target="../media/image-18-1.png"/><Relationship Id="rId3" Type="http://schemas.openxmlformats.org/officeDocument/2006/relationships/image" Target="../media/image-18-2.sv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image" Target="../media/image-20-1.png"/><Relationship Id="rId3" Type="http://schemas.openxmlformats.org/officeDocument/2006/relationships/image" Target="../media/image-20-2.sv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image" Target="../media/image-21-1.png"/><Relationship Id="rId3" Type="http://schemas.openxmlformats.org/officeDocument/2006/relationships/image" Target="../media/image-21-2.sv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image" Target="../media/image-22-1.png"/><Relationship Id="rId3" Type="http://schemas.openxmlformats.org/officeDocument/2006/relationships/image" Target="../media/image-22-2.sv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image" Target="../media/image-23-1.png"/><Relationship Id="rId3" Type="http://schemas.openxmlformats.org/officeDocument/2006/relationships/image" Target="../media/image-23-2.sv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image" Target="../media/image-24-1.png"/><Relationship Id="rId3" Type="http://schemas.openxmlformats.org/officeDocument/2006/relationships/image" Target="../media/image-24-2.sv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image" Target="../media/image-25-1.png"/><Relationship Id="rId3" Type="http://schemas.openxmlformats.org/officeDocument/2006/relationships/image" Target="../media/image-25-2.sv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image" Target="../media/image-26-1.png"/><Relationship Id="rId3" Type="http://schemas.openxmlformats.org/officeDocument/2006/relationships/image" Target="../media/image-26-2.sv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image" Target="../media/image-27-1.png"/><Relationship Id="rId3" Type="http://schemas.openxmlformats.org/officeDocument/2006/relationships/image" Target="../media/image-27-2.sv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image" Target="../media/image-28-1.png"/><Relationship Id="rId3" Type="http://schemas.openxmlformats.org/officeDocument/2006/relationships/image" Target="../media/image-28-2.sv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image" Target="../media/image-29-1.png"/><Relationship Id="rId3" Type="http://schemas.openxmlformats.org/officeDocument/2006/relationships/image" Target="../media/image-29-2.sv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image" Target="../media/image-31-1.png"/><Relationship Id="rId3" Type="http://schemas.openxmlformats.org/officeDocument/2006/relationships/image" Target="../media/image-31-2.sv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image" Target="../media/image-32-1.png"/><Relationship Id="rId3" Type="http://schemas.openxmlformats.org/officeDocument/2006/relationships/image" Target="../media/image-32-2.sv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image" Target="../media/image-33-1.png"/><Relationship Id="rId3" Type="http://schemas.openxmlformats.org/officeDocument/2006/relationships/image" Target="../media/image-33-2.sv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image" Target="../media/image-34-1.png"/><Relationship Id="rId3" Type="http://schemas.openxmlformats.org/officeDocument/2006/relationships/image" Target="../media/image-34-2.svg"/><Relationship Id="rId4" Type="http://schemas.openxmlformats.org/officeDocument/2006/relationships/slideLayout" Target="../slideLayouts/slideLayout2.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image" Target="../media/image-35-1.png"/><Relationship Id="rId3" Type="http://schemas.openxmlformats.org/officeDocument/2006/relationships/image" Target="../media/image-35-2.sv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image" Target="../media/image-36-1.png"/><Relationship Id="rId3" Type="http://schemas.openxmlformats.org/officeDocument/2006/relationships/image" Target="../media/image-36-2.svg"/><Relationship Id="rId4" Type="http://schemas.openxmlformats.org/officeDocument/2006/relationships/slideLayout" Target="../slideLayouts/slideLayout2.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image" Target="../media/image-37-1.png"/><Relationship Id="rId3" Type="http://schemas.openxmlformats.org/officeDocument/2006/relationships/image" Target="../media/image-37-2.svg"/><Relationship Id="rId4" Type="http://schemas.openxmlformats.org/officeDocument/2006/relationships/slideLayout" Target="../slideLayouts/slideLayout2.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image" Target="../media/image-38-1.png"/><Relationship Id="rId3" Type="http://schemas.openxmlformats.org/officeDocument/2006/relationships/image" Target="../media/image-38-2.sv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image" Target="../media/image-40-1.png"/><Relationship Id="rId3" Type="http://schemas.openxmlformats.org/officeDocument/2006/relationships/image" Target="../media/image-40-2.sv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image" Target="../media/image-41-1.png"/><Relationship Id="rId3" Type="http://schemas.openxmlformats.org/officeDocument/2006/relationships/image" Target="../media/image-41-2.sv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image" Target="../media/image-42-1.png"/><Relationship Id="rId3" Type="http://schemas.openxmlformats.org/officeDocument/2006/relationships/image" Target="../media/image-42-2.sv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image" Target="../media/image-43-1.png"/><Relationship Id="rId3" Type="http://schemas.openxmlformats.org/officeDocument/2006/relationships/image" Target="../media/image-43-2.svg"/><Relationship Id="rId4" Type="http://schemas.openxmlformats.org/officeDocument/2006/relationships/slideLayout" Target="../slideLayouts/slideLayout2.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image" Target="../media/image-44-1.png"/><Relationship Id="rId3" Type="http://schemas.openxmlformats.org/officeDocument/2006/relationships/image" Target="../media/image-44-2.svg"/><Relationship Id="rId4" Type="http://schemas.openxmlformats.org/officeDocument/2006/relationships/slideLayout" Target="../slideLayouts/slideLayout2.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image" Target="../media/image-46-1.png"/><Relationship Id="rId3" Type="http://schemas.openxmlformats.org/officeDocument/2006/relationships/image" Target="../media/image-46-2.sv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image" Target="../media/image-47-1.png"/><Relationship Id="rId3" Type="http://schemas.openxmlformats.org/officeDocument/2006/relationships/image" Target="../media/image-47-2.sv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image" Target="../media/image-48-1.png"/><Relationship Id="rId3" Type="http://schemas.openxmlformats.org/officeDocument/2006/relationships/image" Target="../media/image-48-2.sv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slideLayout" Target="../slideLayouts/slideLayout2.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5.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image" Target="../media/image-51-1.png"/><Relationship Id="rId3" Type="http://schemas.openxmlformats.org/officeDocument/2006/relationships/image" Target="../media/image-51-2.sv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image" Target="../media/image-52-1.png"/><Relationship Id="rId3" Type="http://schemas.openxmlformats.org/officeDocument/2006/relationships/image" Target="../media/image-52-2.svg"/><Relationship Id="rId4" Type="http://schemas.openxmlformats.org/officeDocument/2006/relationships/slideLayout" Target="../slideLayouts/slideLayout2.xml"/><Relationship Id="rId5"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$130.5B</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FY2025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+114% YoY</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75.0%</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Gross Margin (Peak)</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 to 69.3% in 9M FY2026</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$64.1B</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Operating Cash Flow</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+128% YoY</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61%</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Top-4 Cust. Conc.</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Q3 FY2026</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pic>
        <p:nvPicPr>
          <p:cNvPr id="21"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9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Valuation premium is clear:</a:t>
            </a:r>
            <a:pPr indent="0" marL="0">
              <a:buNone/>
            </a:pPr>
            <a:r>
              <a:rPr lang="en-US" sz="900" dirty="0">
                <a:solidFill>
                  <a:srgbClr val="000000"/>
                </a:solidFill>
                <a:latin typeface="Arial" pitchFamily="34" charset="0"/>
                <a:ea typeface="Arial" pitchFamily="34" charset="-122"/>
                <a:cs typeface="Arial" pitchFamily="34" charset="-120"/>
              </a:rPr>
              <a:t> EV/Revenue 17.2x vs peer median 12.8x.</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Key diligence:</a:t>
            </a:r>
            <a:pPr indent="0" marL="0">
              <a:buNone/>
            </a:pPr>
            <a:r>
              <a:rPr lang="en-US" sz="9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900" dirty="0"/>
          </a:p>
        </p:txBody>
      </p:sp>
      <p:pic>
        <p:nvPicPr>
          <p:cNvPr id="7"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pic>
        <p:nvPicPr>
          <p:cNvPr id="7"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900" dirty="0"/>
          </a:p>
        </p:txBody>
      </p:sp>
      <p:pic>
        <p:nvPicPr>
          <p:cNvPr id="7"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FY2025 Revenue Composition ($130.5B)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Nine Months FY2026 ($147.8B, annualizing to ~$197B)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9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134963"/>
                <a:gridCol w="1134963"/>
                <a:gridCol w="673884"/>
                <a:gridCol w="673884"/>
                <a:gridCol w="780287"/>
                <a:gridCol w="638416"/>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SBC — equity awards (RSU/PSU)</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338D"/>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SBC — ESPP &amp; other programs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338D"/>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Inventory provisions — obsolescence</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0.6</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1.6</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Normalize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338D"/>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Inventory provisions — purchase commits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Normalize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338D"/>
                          </a:solidFill>
                          <a:latin typeface="Arial" pitchFamily="34" charset="0"/>
                          <a:ea typeface="Arial" pitchFamily="34" charset="-122"/>
                          <a:cs typeface="Arial" pitchFamily="34" charset="-120"/>
                        </a:rPr>
                        <a:t>High</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Gains/losses on equity investments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1E49E2"/>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Gains/losses on debt securities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1E49E2"/>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Acquisition amortization (intangibles)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1E49E2"/>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Acquisition integration &amp; deal costs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1E49E2"/>
                          </a:solidFill>
                          <a:latin typeface="Arial" pitchFamily="34" charset="0"/>
                          <a:ea typeface="Arial" pitchFamily="34" charset="-122"/>
                          <a:cs typeface="Arial" pitchFamily="34" charset="-120"/>
                        </a:rPr>
                        <a:t>Medium</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Restructuring / severance</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Lease exit &amp; impairment charges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Add-back</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1945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900" dirty="0">
                <a:solidFill>
                  <a:srgbClr val="000000"/>
                </a:solidFill>
                <a:latin typeface="Arial" pitchFamily="34" charset="0"/>
                <a:ea typeface="Arial" pitchFamily="34" charset="-122"/>
                <a:cs typeface="Arial" pitchFamily="34" charset="-120"/>
              </a:rPr>
              <a:t> stock-based compensation (material and growing).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900" dirty="0"/>
          </a:p>
        </p:txBody>
      </p:sp>
      <p:sp>
        <p:nvSpPr>
          <p:cNvPr id="7" name="Text 4"/>
          <p:cNvSpPr/>
          <p:nvPr/>
        </p:nvSpPr>
        <p:spPr>
          <a:xfrm>
            <a:off x="995361" y="6010735"/>
            <a:ext cx="5036396" cy="161465"/>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pic>
        <p:nvPicPr>
          <p:cNvPr id="8"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Stock-Based Compensation ($3.3B → $4.8B)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Inventory Provisions, Net ($0.9B → $2.4B)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Gains and Losses on Strategic Investments ($0.3B → $0.6B)</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Confirm customer concentration dynamics and renewal visibility.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validate sustainability of growth drivers and backlog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Acquisition-Related Costs ($0.1B → $0.2B)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Restructuring and Other One-Time Items ($0.0B → $0.1B)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Net Adjusted Impact — Summary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Confirm customer concentration dynamics and renewal visibility.</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validate sustainability of growth drivers and backlog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9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9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9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9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pic>
        <p:nvPicPr>
          <p:cNvPr id="6"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pic>
        <p:nvPicPr>
          <p:cNvPr id="6"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pic>
        <p:nvPicPr>
          <p:cNvPr id="6"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pic>
        <p:nvPicPr>
          <p:cNvPr id="7"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Revenue Quality (35%)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900" dirty="0">
                <a:solidFill>
                  <a:srgbClr val="000000"/>
                </a:solidFill>
                <a:latin typeface="Arial" pitchFamily="34" charset="0"/>
                <a:ea typeface="Arial" pitchFamily="34" charset="-122"/>
                <a:cs typeface="Arial" pitchFamily="34" charset="-120"/>
              </a:rPr>
              <a:t> Margin &amp; Cost (25%)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900" dirty="0">
                <a:solidFill>
                  <a:srgbClr val="000000"/>
                </a:solidFill>
                <a:latin typeface="Arial" pitchFamily="34" charset="0"/>
                <a:ea typeface="Arial" pitchFamily="34" charset="-122"/>
                <a:cs typeface="Arial" pitchFamily="34" charset="-120"/>
              </a:rPr>
              <a:t> Working Capital (25%)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900" dirty="0">
                <a:solidFill>
                  <a:srgbClr val="000000"/>
                </a:solidFill>
                <a:latin typeface="Arial" pitchFamily="34" charset="0"/>
                <a:ea typeface="Arial" pitchFamily="34" charset="-122"/>
                <a:cs typeface="Arial" pitchFamily="34" charset="-120"/>
              </a:rPr>
              <a:t> Risk &amp; Controls (15%)</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Weeks 1–2: Kickoff &amp; Data</a:t>
            </a:r>
            <a:endParaRPr lang="en-US" sz="900" dirty="0"/>
          </a:p>
        </p:txBody>
      </p:sp>
      <p:sp>
        <p:nvSpPr>
          <p:cNvPr id="5" name="Text 3"/>
          <p:cNvSpPr/>
          <p:nvPr/>
        </p:nvSpPr>
        <p:spPr>
          <a:xfrm>
            <a:off x="998433" y="1874520"/>
            <a:ext cx="2377440" cy="4297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Execute engagement letter and NDA</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Submit priority data request list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Conduct management kickoff meeting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Begin public filing analysis and industry benchmarking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Set up virtual data room access and review protocols</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Weeks 3–4: Core Analysis</a:t>
            </a:r>
            <a:endParaRPr lang="en-US" sz="900" dirty="0"/>
          </a:p>
        </p:txBody>
      </p:sp>
      <p:sp>
        <p:nvSpPr>
          <p:cNvPr id="7" name="Text 5"/>
          <p:cNvSpPr/>
          <p:nvPr/>
        </p:nvSpPr>
        <p:spPr>
          <a:xfrm>
            <a:off x="3566160" y="1874520"/>
            <a:ext cx="2377440" cy="4297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Build bottom-up revenue model by platform and customer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Construct gross margin bridge and BOM cost decomposition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Complete inventory roll-forward and reserve adequacy testing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Analyze AR aging and cash conversion cycle dynamics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Conduct management interviews on key diligence topics</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Weeks 5–6: Synthesis</a:t>
            </a:r>
            <a:endParaRPr lang="en-US" sz="900" dirty="0"/>
          </a:p>
        </p:txBody>
      </p:sp>
      <p:sp>
        <p:nvSpPr>
          <p:cNvPr id="9" name="Text 7"/>
          <p:cNvSpPr/>
          <p:nvPr/>
        </p:nvSpPr>
        <p:spPr>
          <a:xfrm>
            <a:off x="6126480" y="1874520"/>
            <a:ext cx="2377440" cy="4297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Develop normalized EBITDA and free cash flow bridges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Complete working capital analysis and seasonal adjustments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Finalize export control and regulatory risk assessment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Prepare preliminary findings presentation for deal team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Draft comprehensive FDD report with technical appendices</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Post-Close Support</a:t>
            </a:r>
            <a:endParaRPr lang="en-US" sz="900" dirty="0"/>
          </a:p>
        </p:txBody>
      </p:sp>
      <p:sp>
        <p:nvSpPr>
          <p:cNvPr id="11" name="Text 9"/>
          <p:cNvSpPr/>
          <p:nvPr/>
        </p:nvSpPr>
        <p:spPr>
          <a:xfrm>
            <a:off x="8686800" y="1874520"/>
            <a:ext cx="2377440" cy="42976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Support purchase price allocation and valuation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Assist with integration planning for financial systems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Provide 100-day plan financial monitoring framework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Ad-hoc support on identified risk mitigation items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Ongoing advisory on regulatory compliance matters</a:t>
            </a:r>
            <a:endParaRPr lang="en-US" sz="900" dirty="0"/>
          </a:p>
        </p:txBody>
      </p:sp>
      <p:pic>
        <p:nvPicPr>
          <p:cNvPr id="12" name="Image 0" descr="KPMG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The information contained herein is of a general nature and is not intended to address the circumstances of any particular individual or entity. Although we endeavour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kpmg.com</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056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This chart is illustrative and does not reflect actual results.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Included to expand chart coverage in the migrated deck.</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6400800" y="1691640"/>
          <a:ext cx="48006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3600"/>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Line chart example using the V2 chart renderer.</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900" dirty="0"/>
          </a:p>
        </p:txBody>
      </p:sp>
      <p:graphicFrame>
        <p:nvGraphicFramePr>
          <p:cNvPr id="5" name="Chart 0" descr=""/>
          <p:cNvGraphicFramePr/>
          <p:nvPr/>
        </p:nvGraphicFramePr>
        <p:xfrm>
          <a:off x="998433" y="3794760"/>
          <a:ext cx="10204338" cy="2103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3600"/>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pic>
        <p:nvPicPr>
          <p:cNvPr id="7" name="Image 0" descr="KPMG logo">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 y="6263640"/>
            <a:ext cx="484632" cy="192024"/>
          </a:xfrm>
          <a:prstGeom prst="rect">
            <a:avLst/>
          </a:prstGeom>
        </p:spPr>
      </p:pic>
      <p:sp>
        <p:nvSpPr>
          <p:cNvPr id="25" name="Slide Number Placeholder 0"/>
          <p:cNvSpPr>
            <a:spLocks noGrp="1"/>
          </p:cNvSpPr>
          <p:nvPr>
            <p:ph type="sldNum" sz="quarter" idx="4294967295"/>
          </p:nvPr>
        </p:nvSpPr>
        <p:spPr>
          <a:xfrm>
            <a:off x="11430000" y="651510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2026-02-03T04:40:21Z</dcterms:created>
  <dcterms:modified xsi:type="dcterms:W3CDTF">2026-02-03T04:40:21Z</dcterms:modified>
</cp:coreProperties>
</file>