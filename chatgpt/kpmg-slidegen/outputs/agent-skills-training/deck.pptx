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skills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Research</c:v>
                  </c:pt>
                  <c:pt idx="1">
                    <c:v>Planning</c:v>
                  </c:pt>
                  <c:pt idx="2">
                    <c:v>Implementation</c:v>
                  </c:pt>
                  <c:pt idx="3">
                    <c:v>QA</c:v>
                  </c:pt>
                  <c:pt idx="4">
                    <c:v>Packaging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3.2</c:v>
                </c:pt>
                <c:pt idx="1">
                  <c:v>2.6</c:v>
                </c:pt>
                <c:pt idx="2">
                  <c:v>4.1</c:v>
                </c:pt>
                <c:pt idx="3">
                  <c:v>2.3</c:v>
                </c:pt>
                <c:pt idx="4">
                  <c:v>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skills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Research</c:v>
                  </c:pt>
                  <c:pt idx="1">
                    <c:v>Planning</c:v>
                  </c:pt>
                  <c:pt idx="2">
                    <c:v>Implementation</c:v>
                  </c:pt>
                  <c:pt idx="3">
                    <c:v>QA</c:v>
                  </c:pt>
                  <c:pt idx="4">
                    <c:v>Packaging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1.8</c:v>
                </c:pt>
                <c:pt idx="1">
                  <c:v>1.2</c:v>
                </c:pt>
                <c:pt idx="2">
                  <c:v>2.1</c:v>
                </c:pt>
                <c:pt idx="3">
                  <c:v>1.3</c:v>
                </c:pt>
                <c:pt idx="4">
                  <c:v>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prompt tokens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 5</c:v>
                  </c:pt>
                  <c:pt idx="5">
                    <c:v>Week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620</c:v>
                </c:pt>
                <c:pt idx="1">
                  <c:v>540</c:v>
                </c:pt>
                <c:pt idx="2">
                  <c:v>470</c:v>
                </c:pt>
                <c:pt idx="3">
                  <c:v>420</c:v>
                </c:pt>
                <c:pt idx="4">
                  <c:v>390</c:v>
                </c:pt>
                <c:pt idx="5">
                  <c:v>360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QA pass rate %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 5</c:v>
                  </c:pt>
                  <c:pt idx="5">
                    <c:v>Week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72</c:v>
                </c:pt>
                <c:pt idx="1">
                  <c:v>76</c:v>
                </c:pt>
                <c:pt idx="2">
                  <c:v>81</c:v>
                </c:pt>
                <c:pt idx="3">
                  <c:v>84</c:v>
                </c:pt>
                <c:pt idx="4">
                  <c:v>87</c:v>
                </c:pt>
                <c:pt idx="5">
                  <c:v>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Factual accuracy %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Primary only</c:v>
                  </c:pt>
                  <c:pt idx="1">
                    <c:v>Primary + secondary</c:v>
                  </c:pt>
                  <c:pt idx="2">
                    <c:v>Secondary only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</c:v>
                </c:pt>
                <c:pt idx="1">
                  <c:v>84</c:v>
                </c:pt>
                <c:pt idx="2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Rework hours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Primary only</c:v>
                  </c:pt>
                  <c:pt idx="1">
                    <c:v>Primary + secondary</c:v>
                  </c:pt>
                  <c:pt idx="2">
                    <c:v>Secondary only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1.4</c:v>
                </c:pt>
                <c:pt idx="1">
                  <c:v>2.8</c:v>
                </c:pt>
                <c:pt idx="2">
                  <c:v>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338D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E49E2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00B8F5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7213EA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Trigger ambiguity</c:v>
                </c:pt>
                <c:pt idx="1">
                  <c:v>Execution nondeterminism</c:v>
                </c:pt>
                <c:pt idx="2">
                  <c:v>Insufficient evaluation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29</c:v>
                </c:pt>
                <c:pt idx="2">
                  <c:v>24</c:v>
                </c:pt>
                <c:pt idx="3">
                  <c:v>9</c:v>
                </c:pt>
              </c:numCache>
            </c:numRef>
          </c:val>
        </c:ser>
        <c:firstSliceAng val="0"/>
        <c:holeSize val="50"/>
      </c:doughnut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Trigger precision %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Iteration 1</c:v>
                  </c:pt>
                  <c:pt idx="2">
                    <c:v>Iteration 2</c:v>
                  </c:pt>
                  <c:pt idx="3">
                    <c:v>Iteration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78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Trigger recall %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Iteration 1</c:v>
                  </c:pt>
                  <c:pt idx="2">
                    <c:v>Iteration 2</c:v>
                  </c:pt>
                  <c:pt idx="3">
                    <c:v>Iteration 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69</c:v>
                </c:pt>
                <c:pt idx="1">
                  <c:v>80</c:v>
                </c:pt>
                <c:pt idx="2">
                  <c:v>87</c:v>
                </c:pt>
                <c:pt idx="3">
                  <c:v>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QA pass rate %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</c:v>
                </c:pt>
                <c:pt idx="1">
                  <c:v>79</c:v>
                </c:pt>
                <c:pt idx="2">
                  <c:v>84</c:v>
                </c:pt>
                <c:pt idx="3">
                  <c:v>89</c:v>
                </c:pt>
                <c:pt idx="4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Escaped defects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8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OpenAI skills structure guidance and observed repo maintenance patterns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Training rubric adapted from internal diligence QA practices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hyperlink" Target="https://kpmg.com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Effectively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demo covering architecture, research discipline, implementation patterns, and evaluation loops for production-grade skill systems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5782" y="431597"/>
            <a:ext cx="10191628" cy="565191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782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5782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782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and mental models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782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2-6)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95782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skills are and why modularity matters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Prompt-only versus script-backed execution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8361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068361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8361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8361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7-10)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8361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Primary-source hierarchy and claim quality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patterns observed in agent workflows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40940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140940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0940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architecture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40940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11-15)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40940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contract and progressive disclosure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wording and scope boundaries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13519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7213519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3519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and determinism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13519" y="2084832"/>
            <a:ext cx="1907987" cy="1325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add scripts for repeatability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rigor and strict tool contracts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86098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9286098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6098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and governance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86098" y="2084832"/>
            <a:ext cx="1907987" cy="1325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layering with AGENTS.md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connector controls and approvals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5782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400" dirty="0"/>
          </a:p>
        </p:txBody>
      </p:sp>
      <p:sp>
        <p:nvSpPr>
          <p:cNvPr id="27" name="Shape 25"/>
          <p:cNvSpPr/>
          <p:nvPr/>
        </p:nvSpPr>
        <p:spPr>
          <a:xfrm>
            <a:off x="995782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5782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framework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5782" y="4517136"/>
            <a:ext cx="1907987" cy="1325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eval loops and human calibration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 before production release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68361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400" dirty="0"/>
          </a:p>
        </p:txBody>
      </p:sp>
      <p:sp>
        <p:nvSpPr>
          <p:cNvPr id="31" name="Shape 29"/>
          <p:cNvSpPr/>
          <p:nvPr/>
        </p:nvSpPr>
        <p:spPr>
          <a:xfrm>
            <a:off x="3068361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8361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and adoption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8361" y="4517136"/>
            <a:ext cx="1907987" cy="1325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sequencing and operating cadence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for impact and reliability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40940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5140940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40940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references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40940" y="4517136"/>
            <a:ext cx="1907987" cy="1325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links, assumptions, and glossary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and Mental Models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are capability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 skill as a reusable capability contract with clear triggers, constraints, and execution steps rather than as a long generic prompt.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high-quality skill packages one job, one entry point, and one expected outcome so invocation remains predictable under varying user requests.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blocks should describe when to activate, when not to activate, and what completion quality looks like in observable terms.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implication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gain speed when repeated workflows move from ad-hoc prompting into explicit skill contracts with portable references and scripts.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module boundaries, context bloat grows and agents spend tokens rediscovering execution steps that should be encoded once.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OpenAI Codex Skills documentation and AGENTS.md guidance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stacks and skills are different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comparison to decide when a reusable skill is warranted versus when a one-off prompt is sufficient for low-stakes tasks.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72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stack only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to start for exploratory questions, but drift appears as soon as task complexity or dependency chaining increases.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is trapped in conversation history, which makes reuse, onboarding, and quality assurance inconsistent across teammates.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enforce trigger boundaries, tool permissions, and deterministic output structure under time pressure.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96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Skill-based approach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Encodes repeatable workflow, reusable references, and known-good scripts so execution quality is stable across requests.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progressive disclosure where metadata routes invocation and full instructions load only when relevance is high.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measurable quality gates, versioning, and ownership for continuous improvement over production usage.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adoption accelerates delivery speed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that standardize recurring workflows into skills typically reduce cycle time and handoff ambiguity within the first few sprints.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chart shows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end-to-end completion time drops from 13.5 hours to 7.1 hours after core workflows are moved into reusable skills.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 also declines because output format and acceptance criteria become explicit in SKILL.md instead of inferred from chat context.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high-frequency workflows first, then enforce template-driven skill authoring with a lightweight review checkpoint.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cycle-time delta and quality deltas together so speed gains do not hide regression in factual accuracy.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Synthetic training benchmark based on 120 internal task runs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anatomy should stay minimal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capability package is easier to maintain, easier to invoke correctly, and easier to validate with repeatable tests.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anatomy should stay minimal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1259099"/>
                <a:gridCol w="1259099"/>
                <a:gridCol w="1259099"/>
                <a:gridCol w="125909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if weak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544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SKILL.md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Defines trigger and workflow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activation or inconsistent outputs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scripts/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 execution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drift and tool misuse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references/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Canonical guidance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Hallucinated process details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assets/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Reusable templates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Recreated artifacts every run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 + review 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and freshness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Silent degradation over 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 leverage pattern is instruction-first design with scripts added only where deterministic behavior materially improves reliability.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extra file should earn its keep; complex bundles without a clear runtime purpose usually increase maintenance cost without quality gains.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5361" y="6010735"/>
            <a:ext cx="5036396" cy="165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OpenAI skills structure guidance and observed repo maintenance patterns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shrink prompt surface area over time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7587923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teams codify repeated instructions into skills, average prompt size drops while completion quality and consistency improve.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84"/>
            <a:ext cx="10192299" cy="252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8513" y="1769872"/>
            <a:ext cx="10045995" cy="2520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footprint trend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3978688"/>
          <a:ext cx="5036400" cy="2197170"/>
        </p:xfrm>
        <a:graphic>
          <a:graphicData uri="http://schemas.openxmlformats.org/drawingml/2006/table">
            <a:tbl>
              <a:tblPr/>
              <a:tblGrid>
                <a:gridCol w="2194560"/>
                <a:gridCol w="947280"/>
                <a:gridCol w="947280"/>
                <a:gridCol w="9472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Prompt Tokens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Pass Rate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 Rework Incidents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59600" y="2058448"/>
            <a:ext cx="5033848" cy="1828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000" dirty="0"/>
          </a:p>
          <a:p>
            <a:pPr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often start with long prompts that mix requirements, formatting rules, and environment assumptions in one place.</a:t>
            </a:r>
            <a:endParaRPr lang="en-US" sz="1000" dirty="0"/>
          </a:p>
          <a:p>
            <a:pPr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000" dirty="0"/>
          </a:p>
          <a:p>
            <a:pPr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workflow knowledge is moved into skills, user prompts become intent statements while execution details are loaded contextually.</a:t>
            </a:r>
            <a:endParaRPr lang="en-US" sz="1000" dirty="0"/>
          </a:p>
          <a:p>
            <a:pPr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  <a:p>
            <a:pPr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prompt-length metrics, then target reduction alongside equal-or-better QA pass rates as a production readiness signal.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95361" y="2058448"/>
          <a:ext cx="503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995361" y="3932968"/>
            <a:ext cx="503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Synthetic enablement cohort with weekly quality checks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Evidence Discipline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sources must anchor guidance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skill training depends on current and authoritative references; stale or tertiary summaries quickly compound design errors.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hierarchy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official documentation, maintained specifications, and original research papers before community commentary or derivative blogs.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time-sensitive topics such as APIs, pricing, and product behavior, verify dates explicitly and avoid assuming prior knowledge is current.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implication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teams to cite source links directly in slide notes so claims remain auditable and quickly refreshable during updates.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source-quality checklist prevents persuasive but unsound recommendations from entering production playbooks.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OpenAI documentation guidance and evaluation best-practice materials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quality predicts output quality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cohorts that rely on primary documentation consistently score higher on factual correctness and implementation reliability.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chart shows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Primary-source usage correlates with the highest factual precision and lowest remediation effort after stakeholder review.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Mixed-source approaches can be adequate, but variance rises because contradictory guidance is harder to reconcile quickly.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minimum source quality threshold for every skill and require direct links for technical claims with product impact.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review checklists that explicitly score source type, recency, and traceability before approving training assets.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Synthetic quality audit across 45 workshop submissions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source-tiering scorecard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scorecard helps reviewers classify evidence quality quickly and enforce consistent standards across training cohorts.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source-tiering scorecard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1259099"/>
                <a:gridCol w="1259099"/>
                <a:gridCol w="1259099"/>
                <a:gridCol w="125909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Recency target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Allowed for core claims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API/docs/spec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90 days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blog or release recap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60 days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Tier 1 backup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post or forum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30 days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Unsourced summary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Anecdotal claim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source tiers reduce debate during review because quality expectations are visible before writing starts rather than debated afterward.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factual disputes can be resolved quickly when teams require tier labels and link citations on every quantitative slide artifact.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5361" y="6010735"/>
            <a:ext cx="5036396" cy="165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Training rubric adapted from internal diligence QA practices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 cluster in three areas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7587923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ineffective skills fail due to trigger ambiguity, missing deterministic steps, or weak evaluation loops rather than model capability limits.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84"/>
            <a:ext cx="10192299" cy="252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8513" y="1769872"/>
            <a:ext cx="10045995" cy="2520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breakdown patterns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3978688"/>
          <a:ext cx="5036400" cy="2197170"/>
        </p:xfrm>
        <a:graphic>
          <a:graphicData uri="http://schemas.openxmlformats.org/drawingml/2006/table">
            <a:tbl>
              <a:tblPr/>
              <a:tblGrid>
                <a:gridCol w="1259100"/>
                <a:gridCol w="1259100"/>
                <a:gridCol w="1259100"/>
                <a:gridCol w="12591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mode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Symptom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cause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fix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 ambiguity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skill activates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Vague description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Tighten trigger + non-trigger rules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Nondeterminism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Inconsistent outputs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Manual-only workflow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scripts for critical steps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 gaps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Defects missed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quality gate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automated pass/fail checks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59600" y="2058448"/>
            <a:ext cx="5033848" cy="1828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issues concentrate in activation mistakes, incomplete execution paths, and absent post-run validation routines.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often over-index on wording polish while under-investing in deterministic scripts and measurable acceptance tests.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order should be trigger contract first, then deterministic steps, then eval coverage with explicit pass/fail thresholds.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95361" y="2058448"/>
          <a:ext cx="503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995361" y="3932968"/>
            <a:ext cx="503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Synthetic postmortem coding across 70 failed skill runs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Operationalize Skills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Four-part workflow for durable skills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intent to production by sequencing discovery, contract design, deterministic execution, and measured improvement.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Scope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2036826"/>
            <a:ext cx="2377440" cy="413903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job boundary, acceptance criteria, and excluded scenarios before writing instructions.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user-facing completion state in plain language.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66160" y="1716786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Contract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0" y="2036826"/>
            <a:ext cx="2377440" cy="413903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precise trigger and non-trigger rules with a fast-path workflow and explicit constraints.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only the references needed for reliable execution.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1716786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Determinism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036826"/>
            <a:ext cx="2377440" cy="413903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repeated critical operations into scripts to reduce manual variance and token overhead.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tool schemas strict and inputs validated.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0" y="1716786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Evaluation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0" y="2036826"/>
            <a:ext cx="2377440" cy="413903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automated checks and targeted human review before release to shared usage.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defects and update the skill with clear ownership.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precision improves over iterations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cycle of test prompts and failure analysis usually sharpens activation reliability more than major rewrites.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chart shows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and recall both improve materially after two review cycles once trigger boundaries include explicit negative examples.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drop most when descriptions include disqualifiers and closely related skill boundaries.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a compact trigger test set and re-run it whenever SKILL.md scope text changes.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declining precision as a release blocker because wrong invocation can invalidate otherwise correct workflows.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Synthetic trigger test suite across 200 intent-matching prompts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loops raise release quality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7587923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automated checks with focused human review reduces escaped defects and improves stakeholder trust in generated outputs.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84"/>
            <a:ext cx="10192299" cy="252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8513" y="1769872"/>
            <a:ext cx="10045995" cy="2520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 progression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3978688"/>
          <a:ext cx="5036400" cy="2197170"/>
        </p:xfrm>
        <a:graphic>
          <a:graphicData uri="http://schemas.openxmlformats.org/drawingml/2006/table">
            <a:tbl>
              <a:tblPr/>
              <a:tblGrid>
                <a:gridCol w="1259100"/>
                <a:gridCol w="1259100"/>
                <a:gridCol w="1259100"/>
                <a:gridCol w="12591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check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 threshold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and schema validity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author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pass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Golden-path task completion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 90% pass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Edge-case adversarial prompts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lead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 85% pass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calibration sample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expert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critical defects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59600" y="2058448"/>
            <a:ext cx="5033848" cy="1828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000" dirty="0"/>
          </a:p>
          <a:p>
            <a:pPr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teams often rely on ad-hoc spot checks, which catches obvious defects but misses edge cases and regression patterns.</a:t>
            </a:r>
            <a:endParaRPr lang="en-US" sz="1000" dirty="0"/>
          </a:p>
          <a:p>
            <a:pPr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000" dirty="0"/>
          </a:p>
          <a:p>
            <a:pPr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gate with automated checks first and targeted human calibration second improves quality without slowing throughput.</a:t>
            </a:r>
            <a:endParaRPr lang="en-US" sz="1000" dirty="0"/>
          </a:p>
          <a:p>
            <a:pPr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  <a:p>
            <a:pPr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release thresholds per skill, measure escapes, and prioritize fixes by user impact rather than cosmetic output differences.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95361" y="2058448"/>
          <a:ext cx="503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995361" y="3932968"/>
            <a:ext cx="503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Synthetic pilot program metrics across five monthly releases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should scale with risk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Risk-tiered governance keeps low-risk skills lightweight while ensuring stricter controls for workflows that touch sensitive data or external systems.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72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to moderate risk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lightweight approval, standard templates, and periodic review to preserve speed for internal productivity skills.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source traceability, owner assignment, and automated validation on each release candidate.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only when changes affect tool permissions, data handling scope, or business-critical decision support.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96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explicit approvals for external connectors, data-sharing boundaries, and policy-aligned red-team evaluations.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logging requirements and incident playbooks so failures can be traced and corrected quickly.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dual review across technical and domain owners before production rollout to regulated workflows.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90-day rollout can show measurable ROI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high-frequency workflows, then expand with governance and eval maturity once early wins are proven in production metrics.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0-30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three repeat workflows, publish baseline metrics, and deploy first skills with strict scope and owner accountability.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deterministic scripts for bottlenecks, formalize source-tier rules, and establish weekly quality review cadence.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skill library, enforce release thresholds, and report measurable gains in cycle time, defect rate, and user confidence.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Synthesized implementation roadmap from skills and eval best practices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411480"/>
            <a:ext cx="121615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" y="1014984"/>
            <a:ext cx="9372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contacts at KPMG in connection with this report are: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3385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3385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6557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6557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9729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9729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pic>
        <p:nvPicPr>
          <p:cNvPr id="10" name="Image 1" descr="Soc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5394960"/>
            <a:ext cx="329184" cy="329184"/>
          </a:xfrm>
          <a:prstGeom prst="rect">
            <a:avLst/>
          </a:prstGeom>
        </p:spPr>
      </p:pic>
      <p:pic>
        <p:nvPicPr>
          <p:cNvPr id="11" name="Image 2" descr="Soci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5394960"/>
            <a:ext cx="329184" cy="329184"/>
          </a:xfrm>
          <a:prstGeom prst="rect">
            <a:avLst/>
          </a:prstGeom>
        </p:spPr>
      </p:pic>
      <p:pic>
        <p:nvPicPr>
          <p:cNvPr id="12" name="Image 3" descr="Soc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5394960"/>
            <a:ext cx="329184" cy="329184"/>
          </a:xfrm>
          <a:prstGeom prst="rect">
            <a:avLst/>
          </a:prstGeom>
        </p:spPr>
      </p:pic>
      <p:pic>
        <p:nvPicPr>
          <p:cNvPr id="13" name="Image 4" descr="Socia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5394960"/>
            <a:ext cx="329184" cy="329184"/>
          </a:xfrm>
          <a:prstGeom prst="rect">
            <a:avLst/>
          </a:prstGeom>
        </p:spPr>
      </p:pic>
      <p:pic>
        <p:nvPicPr>
          <p:cNvPr id="14" name="Image 5" descr="Socia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5394960"/>
            <a:ext cx="329184" cy="3291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6696" y="589788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training deck contains synthesized benchmark figures for instructional use and references public guidance on agent workflows. Validate implementation choices against current official documentation and organizational policy before production deployment.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996696" y="632764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KPMG name and logo are trademarks used under license by the independent member firms of the KPMG global organization.</a:t>
            </a:r>
            <a:endParaRPr lang="en-US" sz="800" dirty="0"/>
          </a:p>
        </p:txBody>
      </p:sp>
      <p:sp>
        <p:nvSpPr>
          <p:cNvPr id="17" name="Text 9"/>
          <p:cNvSpPr/>
          <p:nvPr/>
        </p:nvSpPr>
        <p:spPr>
          <a:xfrm>
            <a:off x="996696" y="672998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800" dirty="0"/>
          </a:p>
        </p:txBody>
      </p:sp>
      <p:sp>
        <p:nvSpPr>
          <p:cNvPr id="18" name="Text 10">
            <a:hlinkClick r:id="rId7" tooltip=""/>
          </p:cNvPr>
          <p:cNvSpPr/>
          <p:nvPr/>
        </p:nvSpPr>
        <p:spPr>
          <a:xfrm>
            <a:off x="996696" y="65653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www.kpmg.com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Skills Masterclass</dc:title>
  <dc:subject>Training Demo: Building Effective Agent Skills</dc:subject>
  <dc:creator>KPMG LLP</dc:creator>
  <cp:lastModifiedBy>KPMG LLP</cp:lastModifiedBy>
  <cp:revision>1</cp:revision>
  <dcterms:created xsi:type="dcterms:W3CDTF">2026-02-24T22:54:27Z</dcterms:created>
  <dcterms:modified xsi:type="dcterms:W3CDTF">2026-02-24T22:54:27Z</dcterms:modified>
</cp:coreProperties>
</file>