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FY23</c:v>
                </c:pt>
              </c:strCache>
            </c:strRef>
          </c:tx>
          <c:spPr>
            <a:solidFill>
              <a:srgbClr val="00338D"/>
            </a:solidFill>
            <a:ln w="2540" cap="flat">
              <a:solidFill>
                <a:srgbClr val="FFFFF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Revenue</c:v>
                  </c:pt>
                  <c:pt idx="1">
                    <c:v>Cost of
Revenue</c:v>
                  </c:pt>
                  <c:pt idx="2">
                    <c:v>Gross
Profit</c:v>
                  </c:pt>
                  <c:pt idx="3">
                    <c:v>Op.
Income</c:v>
                  </c:pt>
                  <c:pt idx="4">
                    <c:v>Net
Income</c:v>
                  </c:pt>
                  <c:pt idx="5">
                    <c:v>Op. Cash
Flow</c:v>
                  </c:pt>
                  <c:pt idx="6">
                    <c:v>Current
Assets</c:v>
                  </c:pt>
                </c:lvl>
              </c:multiLvlStrCache>
            </c:multiLvlStrRef>
          </c:cat>
          <c:val>
            <c:numRef>
              <c:f>Sheet1!$B$2:$B$8</c:f>
              <c:numCache>
                <c:formatCode>General</c:formatCode>
                <c:ptCount val="7"/>
                <c:pt idx="0">
                  <c:v>365.8</c:v>
                </c:pt>
                <c:pt idx="1">
                  <c:v>213</c:v>
                </c:pt>
                <c:pt idx="2">
                  <c:v>152.8</c:v>
                </c:pt>
                <c:pt idx="3">
                  <c:v>108.9</c:v>
                </c:pt>
                <c:pt idx="4">
                  <c:v>94.7</c:v>
                </c:pt>
                <c:pt idx="5">
                  <c:v>104</c:v>
                </c:pt>
                <c:pt idx="6">
                  <c:v>135.4</c:v>
                </c:pt>
              </c:numCache>
            </c:numRef>
          </c:val>
        </c:ser>
        <c:ser>
          <c:idx val="1"/>
          <c:order val="1"/>
          <c:tx>
            <c:strRef>
              <c:f>Sheet1!$C$1</c:f>
              <c:strCache>
                <c:ptCount val="1"/>
                <c:pt idx="0">
                  <c:v>FY24</c:v>
                </c:pt>
              </c:strCache>
            </c:strRef>
          </c:tx>
          <c:spPr>
            <a:solidFill>
              <a:srgbClr val="1E49E2"/>
            </a:solidFill>
            <a:ln w="2540" cap="flat">
              <a:solidFill>
                <a:srgbClr val="FFFFF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Revenue</c:v>
                  </c:pt>
                  <c:pt idx="1">
                    <c:v>Cost of
Revenue</c:v>
                  </c:pt>
                  <c:pt idx="2">
                    <c:v>Gross
Profit</c:v>
                  </c:pt>
                  <c:pt idx="3">
                    <c:v>Op.
Income</c:v>
                  </c:pt>
                  <c:pt idx="4">
                    <c:v>Net
Income</c:v>
                  </c:pt>
                  <c:pt idx="5">
                    <c:v>Op. Cash
Flow</c:v>
                  </c:pt>
                  <c:pt idx="6">
                    <c:v>Current
Assets</c:v>
                  </c:pt>
                </c:lvl>
              </c:multiLvlStrCache>
            </c:multiLvlStrRef>
          </c:cat>
          <c:val>
            <c:numRef>
              <c:f>Sheet1!$C$2:$C$8</c:f>
              <c:numCache>
                <c:formatCode>General</c:formatCode>
                <c:ptCount val="7"/>
                <c:pt idx="0">
                  <c:v>394.3</c:v>
                </c:pt>
                <c:pt idx="1">
                  <c:v>223.5</c:v>
                </c:pt>
                <c:pt idx="2">
                  <c:v>170.8</c:v>
                </c:pt>
                <c:pt idx="3">
                  <c:v>119.4</c:v>
                </c:pt>
                <c:pt idx="4">
                  <c:v>99.8</c:v>
                </c:pt>
                <c:pt idx="5">
                  <c:v>122.2</c:v>
                </c:pt>
                <c:pt idx="6">
                  <c:v>143.6</c:v>
                </c:pt>
              </c:numCache>
            </c:numRef>
          </c:val>
        </c:ser>
        <c:ser>
          <c:idx val="2"/>
          <c:order val="2"/>
          <c:tx>
            <c:strRef>
              <c:f>Sheet1!$D$1</c:f>
              <c:strCache>
                <c:ptCount val="1"/>
                <c:pt idx="0">
                  <c:v>FY25</c:v>
                </c:pt>
              </c:strCache>
            </c:strRef>
          </c:tx>
          <c:spPr>
            <a:solidFill>
              <a:srgbClr val="00B8F5"/>
            </a:solidFill>
            <a:ln w="2540" cap="flat">
              <a:solidFill>
                <a:srgbClr val="FFFFF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Revenue</c:v>
                  </c:pt>
                  <c:pt idx="1">
                    <c:v>Cost of
Revenue</c:v>
                  </c:pt>
                  <c:pt idx="2">
                    <c:v>Gross
Profit</c:v>
                  </c:pt>
                  <c:pt idx="3">
                    <c:v>Op.
Income</c:v>
                  </c:pt>
                  <c:pt idx="4">
                    <c:v>Net
Income</c:v>
                  </c:pt>
                  <c:pt idx="5">
                    <c:v>Op. Cash
Flow</c:v>
                  </c:pt>
                  <c:pt idx="6">
                    <c:v>Current
Assets</c:v>
                  </c:pt>
                </c:lvl>
              </c:multiLvlStrCache>
            </c:multiLvlStrRef>
          </c:cat>
          <c:val>
            <c:numRef>
              <c:f>Sheet1!$D$2:$D$8</c:f>
              <c:numCache>
                <c:formatCode>General</c:formatCode>
                <c:ptCount val="7"/>
                <c:pt idx="0">
                  <c:v>383.3</c:v>
                </c:pt>
                <c:pt idx="1">
                  <c:v>214.1</c:v>
                </c:pt>
                <c:pt idx="2">
                  <c:v>169.1</c:v>
                </c:pt>
                <c:pt idx="3">
                  <c:v>114.3</c:v>
                </c:pt>
                <c:pt idx="4">
                  <c:v>97</c:v>
                </c:pt>
                <c:pt idx="5">
                  <c:v>110.5</c:v>
                </c:pt>
                <c:pt idx="6">
                  <c:v>153</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30"/>
          <c:min val="0"/>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600" b="0" i="0" u="none" strike="noStrike">
                <a:solidFill>
                  <a:srgbClr val="000000"/>
                </a:solidFill>
                <a:latin typeface="Arial"/>
              </a:defRPr>
            </a:pPr>
            <a:endParaRPr lang="en-US"/>
          </a:p>
        </c:txPr>
        <c:crossAx val="2094734554"/>
        <c:crosses val="autoZero"/>
        <c:crossBetween val="between"/>
        <c:majorUnit val="50"/>
      </c:valAx>
      <c:spPr>
        <a:solidFill>
          <a:srgbClr val="FFFFFF"/>
        </a:solidFill>
        <a:ln>
          <a:noFill/>
        </a:ln>
        <a:effectLst/>
      </c:spPr>
    </c:plotArea>
    <c:legend>
      <c:legendPos val="t"/>
      <c:overlay val="0"/>
      <c:txPr>
        <a:bodyPr/>
        <a:lstStyle/>
        <a:p>
          <a:pPr>
            <a:defRPr sz="6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sv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8-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PMG_WHITE">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skills/kpmg-slides/assets/slidegen/templates/kpmg-diligence/assets/kpmg-logo.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097" y="6267298"/>
            <a:ext cx="483718" cy="196596"/>
          </a:xfrm>
          <a:prstGeom prst="rect">
            <a:avLst/>
          </a:prstGeom>
        </p:spPr>
      </p:pic>
      <p:sp>
        <p:nvSpPr>
          <p:cNvPr id="3"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2026 KPMG LLP, a Ontario limited liability partnership and a member firm of the KPMG global organization of independent member firms affiliated with KPMG International Limited, a private English company limited by guarantee. All rights reserved.</a:t>
            </a:r>
            <a:endParaRPr lang="en-US" sz="600" dirty="0"/>
          </a:p>
        </p:txBody>
      </p:sp>
      <p:sp>
        <p:nvSpPr>
          <p:cNvPr id="4" name="Text 1"/>
          <p:cNvSpPr/>
          <p:nvPr/>
        </p:nvSpPr>
        <p:spPr>
          <a:xfrm>
            <a:off x="8967521" y="6267298"/>
            <a:ext cx="1866290" cy="92354"/>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5" name="Shape 2"/>
          <p:cNvSpPr/>
          <p:nvPr/>
        </p:nvSpPr>
        <p:spPr>
          <a:xfrm>
            <a:off x="10874045" y="6267298"/>
            <a:ext cx="0" cy="149047"/>
          </a:xfrm>
          <a:prstGeom prst="line">
            <a:avLst/>
          </a:prstGeom>
          <a:noFill/>
          <a:ln w="12700">
            <a:solidFill>
              <a:srgbClr val="1E49E2"/>
            </a:solidFill>
            <a:prstDash val="solid"/>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PMG_SUMMARY">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skills/kpmg-slides/assets/slidegen/templates/kpmg-diligence/assets/gradient_accent_chip_300dpi.png">    </p:cNvPr>
          <p:cNvPicPr>
            <a:picLocks noChangeAspect="1"/>
          </p:cNvPicPr>
          <p:nvPr/>
        </p:nvPicPr>
        <p:blipFill>
          <a:blip r:embed="rId1"/>
          <a:stretch>
            <a:fillRect/>
          </a:stretch>
        </p:blipFill>
        <p:spPr>
          <a:xfrm>
            <a:off x="11534242" y="103327"/>
            <a:ext cx="222199" cy="222199"/>
          </a:xfrm>
          <a:prstGeom prst="rect">
            <a:avLst/>
          </a:prstGeom>
        </p:spPr>
      </p:pic>
      <p:pic>
        <p:nvPicPr>
          <p:cNvPr id="3" name="Image 1" descr="/Users/rishi/Code/ai-tools/chatgpt/kpmg-slidegen/skills/kpmg-slides/assets/slidegen/templates/kpmg-diligence/assets/kpmg-logo.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3097" y="6267298"/>
            <a:ext cx="483718" cy="196596"/>
          </a:xfrm>
          <a:prstGeom prst="rect">
            <a:avLst/>
          </a:prstGeom>
        </p:spPr>
      </p:pic>
      <p:sp>
        <p:nvSpPr>
          <p:cNvPr id="4"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2026 KPMG LLP, a Ontario limited liability partnership and a member firm of the KPMG global organization of independent member firms affiliated with KPMG International Limited, a private English company limited by guarantee. All rights reserved.</a:t>
            </a:r>
            <a:endParaRPr lang="en-US" sz="600" dirty="0"/>
          </a:p>
        </p:txBody>
      </p:sp>
      <p:sp>
        <p:nvSpPr>
          <p:cNvPr id="5" name="Text 1"/>
          <p:cNvSpPr/>
          <p:nvPr/>
        </p:nvSpPr>
        <p:spPr>
          <a:xfrm>
            <a:off x="8967521" y="6267298"/>
            <a:ext cx="1866290" cy="92354"/>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6" name="Shape 2"/>
          <p:cNvSpPr/>
          <p:nvPr/>
        </p:nvSpPr>
        <p:spPr>
          <a:xfrm>
            <a:off x="10874045" y="6267298"/>
            <a:ext cx="0" cy="149047"/>
          </a:xfrm>
          <a:prstGeom prst="line">
            <a:avLst/>
          </a:prstGeom>
          <a:noFill/>
          <a:ln w="12700">
            <a:solidFill>
              <a:srgbClr val="1E49E2"/>
            </a:solidFill>
            <a:prstDash val="solid"/>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PMG_COVER">
    <p:bg>
      <p:bgPr>
        <a:solidFill>
          <a:srgbClr val="1E49E2"/>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PMG_SECTION_DARK">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skills/kpmg-slides/assets/slidegen/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KPMG_SECTION">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skills/kpmg-slides/assets/slidegen/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KPMG_SECTION_LIGH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KPMG_CLOSING">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skills/kpmg-slides/assets/slidegen/templates/kpmg-diligence/assets/gradient_back_cover_300dpi.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941832" y="118872"/>
            <a:ext cx="1115568" cy="192024"/>
          </a:xfrm>
          <a:prstGeom prst="rect">
            <a:avLst/>
          </a:prstGeom>
          <a:solidFill>
            <a:srgbClr val="FFFFFF"/>
          </a:solidFill>
          <a:ln w="12700">
            <a:solidFill>
              <a:srgbClr val="C9D4F8"/>
            </a:solidFill>
            <a:prstDash val="solid"/>
          </a:ln>
        </p:spPr>
      </p:sp>
      <p:sp>
        <p:nvSpPr>
          <p:cNvPr id="3" name="Text 1"/>
          <p:cNvSpPr/>
          <p:nvPr/>
        </p:nvSpPr>
        <p:spPr>
          <a:xfrm>
            <a:off x="978408" y="132588"/>
            <a:ext cx="1042416" cy="164592"/>
          </a:xfrm>
          <a:prstGeom prst="rect">
            <a:avLst/>
          </a:prstGeom>
          <a:noFill/>
          <a:ln/>
        </p:spPr>
        <p:txBody>
          <a:bodyPr wrap="none" lIns="0" tIns="0" rIns="0" bIns="0" rtlCol="0" anchor="ctr">
            <a:normAutofit/>
          </a:bodyPr>
          <a:lstStyle/>
          <a:p>
            <a:pPr algn="ctr" indent="0" marL="0">
              <a:buNone/>
            </a:pPr>
            <a:r>
              <a:rPr lang="en-US" sz="750" b="1" dirty="0">
                <a:solidFill>
                  <a:srgbClr val="00338D"/>
                </a:solidFill>
                <a:latin typeface="Arial" pitchFamily="34" charset="0"/>
                <a:ea typeface="Arial" pitchFamily="34" charset="-122"/>
                <a:cs typeface="Arial" pitchFamily="34" charset="-120"/>
              </a:rPr>
              <a:t>Executive summary</a:t>
            </a:r>
            <a:endParaRPr lang="en-US" sz="750" dirty="0"/>
          </a:p>
        </p:txBody>
      </p:sp>
      <p:sp>
        <p:nvSpPr>
          <p:cNvPr id="4" name="Shape 2"/>
          <p:cNvSpPr/>
          <p:nvPr/>
        </p:nvSpPr>
        <p:spPr>
          <a:xfrm>
            <a:off x="2075688" y="118872"/>
            <a:ext cx="1024128" cy="192024"/>
          </a:xfrm>
          <a:prstGeom prst="rect">
            <a:avLst/>
          </a:prstGeom>
          <a:solidFill>
            <a:srgbClr val="F2F2F2"/>
          </a:solidFill>
          <a:ln w="12700">
            <a:solidFill>
              <a:srgbClr val="DADADA"/>
            </a:solidFill>
            <a:prstDash val="solid"/>
          </a:ln>
        </p:spPr>
      </p:sp>
      <p:sp>
        <p:nvSpPr>
          <p:cNvPr id="5" name="Text 3"/>
          <p:cNvSpPr/>
          <p:nvPr/>
        </p:nvSpPr>
        <p:spPr>
          <a:xfrm>
            <a:off x="2112264" y="132588"/>
            <a:ext cx="950976" cy="164592"/>
          </a:xfrm>
          <a:prstGeom prst="rect">
            <a:avLst/>
          </a:prstGeom>
          <a:noFill/>
          <a:ln/>
        </p:spPr>
        <p:txBody>
          <a:bodyPr wrap="none" lIns="0" tIns="0" rIns="0" bIns="0" rtlCol="0" anchor="ctr">
            <a:normAutofit/>
          </a:bodyPr>
          <a:lstStyle/>
          <a:p>
            <a:pPr algn="ctr" indent="0" marL="0">
              <a:buNone/>
            </a:pPr>
            <a:r>
              <a:rPr lang="en-US" sz="750" dirty="0">
                <a:solidFill>
                  <a:srgbClr val="7F7F7F"/>
                </a:solidFill>
                <a:latin typeface="Arial" pitchFamily="34" charset="0"/>
                <a:ea typeface="Arial" pitchFamily="34" charset="-122"/>
                <a:cs typeface="Arial" pitchFamily="34" charset="-120"/>
              </a:rPr>
              <a:t>Historical trading</a:t>
            </a:r>
            <a:endParaRPr lang="en-US" sz="750" dirty="0"/>
          </a:p>
        </p:txBody>
      </p:sp>
      <p:sp>
        <p:nvSpPr>
          <p:cNvPr id="6" name="Shape 4"/>
          <p:cNvSpPr/>
          <p:nvPr/>
        </p:nvSpPr>
        <p:spPr>
          <a:xfrm>
            <a:off x="3118104" y="118872"/>
            <a:ext cx="960120" cy="192024"/>
          </a:xfrm>
          <a:prstGeom prst="rect">
            <a:avLst/>
          </a:prstGeom>
          <a:solidFill>
            <a:srgbClr val="F2F2F2"/>
          </a:solidFill>
          <a:ln w="12700">
            <a:solidFill>
              <a:srgbClr val="DADADA"/>
            </a:solidFill>
            <a:prstDash val="solid"/>
          </a:ln>
        </p:spPr>
      </p:sp>
      <p:sp>
        <p:nvSpPr>
          <p:cNvPr id="7" name="Text 5"/>
          <p:cNvSpPr/>
          <p:nvPr/>
        </p:nvSpPr>
        <p:spPr>
          <a:xfrm>
            <a:off x="3154680" y="132588"/>
            <a:ext cx="886968" cy="164592"/>
          </a:xfrm>
          <a:prstGeom prst="rect">
            <a:avLst/>
          </a:prstGeom>
          <a:noFill/>
          <a:ln/>
        </p:spPr>
        <p:txBody>
          <a:bodyPr wrap="none" lIns="0" tIns="0" rIns="0" bIns="0" rtlCol="0" anchor="ctr">
            <a:normAutofit/>
          </a:bodyPr>
          <a:lstStyle/>
          <a:p>
            <a:pPr algn="ctr" indent="0" marL="0">
              <a:buNone/>
            </a:pPr>
            <a:r>
              <a:rPr lang="en-US" sz="750" dirty="0">
                <a:solidFill>
                  <a:srgbClr val="7F7F7F"/>
                </a:solidFill>
                <a:latin typeface="Arial" pitchFamily="34" charset="0"/>
                <a:ea typeface="Arial" pitchFamily="34" charset="-122"/>
                <a:cs typeface="Arial" pitchFamily="34" charset="-120"/>
              </a:rPr>
              <a:t>Balance sheet</a:t>
            </a:r>
            <a:endParaRPr lang="en-US" sz="750" dirty="0"/>
          </a:p>
        </p:txBody>
      </p:sp>
      <p:sp>
        <p:nvSpPr>
          <p:cNvPr id="8" name="Shape 6"/>
          <p:cNvSpPr/>
          <p:nvPr/>
        </p:nvSpPr>
        <p:spPr>
          <a:xfrm>
            <a:off x="4096512" y="118872"/>
            <a:ext cx="1389888" cy="192024"/>
          </a:xfrm>
          <a:prstGeom prst="rect">
            <a:avLst/>
          </a:prstGeom>
          <a:solidFill>
            <a:srgbClr val="F2F2F2"/>
          </a:solidFill>
          <a:ln w="12700">
            <a:solidFill>
              <a:srgbClr val="DADADA"/>
            </a:solidFill>
            <a:prstDash val="solid"/>
          </a:ln>
        </p:spPr>
      </p:sp>
      <p:sp>
        <p:nvSpPr>
          <p:cNvPr id="9" name="Text 7"/>
          <p:cNvSpPr/>
          <p:nvPr/>
        </p:nvSpPr>
        <p:spPr>
          <a:xfrm>
            <a:off x="4133088" y="132588"/>
            <a:ext cx="1316736" cy="164592"/>
          </a:xfrm>
          <a:prstGeom prst="rect">
            <a:avLst/>
          </a:prstGeom>
          <a:noFill/>
          <a:ln/>
        </p:spPr>
        <p:txBody>
          <a:bodyPr wrap="none" lIns="0" tIns="0" rIns="0" bIns="0" rtlCol="0" anchor="ctr">
            <a:normAutofit/>
          </a:bodyPr>
          <a:lstStyle/>
          <a:p>
            <a:pPr algn="ctr" indent="0" marL="0">
              <a:buNone/>
            </a:pPr>
            <a:r>
              <a:rPr lang="en-US" sz="750" dirty="0">
                <a:solidFill>
                  <a:srgbClr val="7F7F7F"/>
                </a:solidFill>
                <a:latin typeface="Arial" pitchFamily="34" charset="0"/>
                <a:ea typeface="Arial" pitchFamily="34" charset="-122"/>
                <a:cs typeface="Arial" pitchFamily="34" charset="-120"/>
              </a:rPr>
              <a:t>Reporting environment</a:t>
            </a:r>
            <a:endParaRPr lang="en-US" sz="750" dirty="0"/>
          </a:p>
        </p:txBody>
      </p:sp>
      <p:sp>
        <p:nvSpPr>
          <p:cNvPr id="10" name="Shape 8"/>
          <p:cNvSpPr/>
          <p:nvPr/>
        </p:nvSpPr>
        <p:spPr>
          <a:xfrm>
            <a:off x="5504688" y="118872"/>
            <a:ext cx="1353312" cy="192024"/>
          </a:xfrm>
          <a:prstGeom prst="rect">
            <a:avLst/>
          </a:prstGeom>
          <a:solidFill>
            <a:srgbClr val="F2F2F2"/>
          </a:solidFill>
          <a:ln w="12700">
            <a:solidFill>
              <a:srgbClr val="DADADA"/>
            </a:solidFill>
            <a:prstDash val="solid"/>
          </a:ln>
        </p:spPr>
      </p:sp>
      <p:sp>
        <p:nvSpPr>
          <p:cNvPr id="11" name="Text 9"/>
          <p:cNvSpPr/>
          <p:nvPr/>
        </p:nvSpPr>
        <p:spPr>
          <a:xfrm>
            <a:off x="5541264" y="132588"/>
            <a:ext cx="1280160" cy="164592"/>
          </a:xfrm>
          <a:prstGeom prst="rect">
            <a:avLst/>
          </a:prstGeom>
          <a:noFill/>
          <a:ln/>
        </p:spPr>
        <p:txBody>
          <a:bodyPr wrap="none" lIns="0" tIns="0" rIns="0" bIns="0" rtlCol="0" anchor="ctr">
            <a:normAutofit/>
          </a:bodyPr>
          <a:lstStyle/>
          <a:p>
            <a:pPr algn="ctr" indent="0" marL="0">
              <a:buNone/>
            </a:pPr>
            <a:r>
              <a:rPr lang="en-US" sz="750" dirty="0">
                <a:solidFill>
                  <a:srgbClr val="7F7F7F"/>
                </a:solidFill>
                <a:latin typeface="Arial" pitchFamily="34" charset="0"/>
                <a:ea typeface="Arial" pitchFamily="34" charset="-122"/>
                <a:cs typeface="Arial" pitchFamily="34" charset="-120"/>
              </a:rPr>
              <a:t>Gross margin by LOB</a:t>
            </a:r>
            <a:endParaRPr lang="en-US" sz="750" dirty="0"/>
          </a:p>
        </p:txBody>
      </p:sp>
      <p:sp>
        <p:nvSpPr>
          <p:cNvPr id="12" name="Shape 10"/>
          <p:cNvSpPr/>
          <p:nvPr/>
        </p:nvSpPr>
        <p:spPr>
          <a:xfrm>
            <a:off x="6876288" y="118872"/>
            <a:ext cx="822960" cy="192024"/>
          </a:xfrm>
          <a:prstGeom prst="rect">
            <a:avLst/>
          </a:prstGeom>
          <a:solidFill>
            <a:srgbClr val="F2F2F2"/>
          </a:solidFill>
          <a:ln w="12700">
            <a:solidFill>
              <a:srgbClr val="DADADA"/>
            </a:solidFill>
            <a:prstDash val="solid"/>
          </a:ln>
        </p:spPr>
      </p:sp>
      <p:sp>
        <p:nvSpPr>
          <p:cNvPr id="13" name="Text 11"/>
          <p:cNvSpPr/>
          <p:nvPr/>
        </p:nvSpPr>
        <p:spPr>
          <a:xfrm>
            <a:off x="6912864" y="132588"/>
            <a:ext cx="749808" cy="164592"/>
          </a:xfrm>
          <a:prstGeom prst="rect">
            <a:avLst/>
          </a:prstGeom>
          <a:noFill/>
          <a:ln/>
        </p:spPr>
        <p:txBody>
          <a:bodyPr wrap="none" lIns="0" tIns="0" rIns="0" bIns="0" rtlCol="0" anchor="ctr">
            <a:normAutofit/>
          </a:bodyPr>
          <a:lstStyle/>
          <a:p>
            <a:pPr algn="ctr" indent="0" marL="0">
              <a:buNone/>
            </a:pPr>
            <a:r>
              <a:rPr lang="en-US" sz="750" dirty="0">
                <a:solidFill>
                  <a:srgbClr val="7F7F7F"/>
                </a:solidFill>
                <a:latin typeface="Arial" pitchFamily="34" charset="0"/>
                <a:ea typeface="Arial" pitchFamily="34" charset="-122"/>
                <a:cs typeface="Arial" pitchFamily="34" charset="-120"/>
              </a:rPr>
              <a:t>Appendices</a:t>
            </a:r>
            <a:endParaRPr lang="en-US" sz="750" dirty="0"/>
          </a:p>
        </p:txBody>
      </p:sp>
      <p:sp>
        <p:nvSpPr>
          <p:cNvPr id="14" name="Shape 12"/>
          <p:cNvSpPr/>
          <p:nvPr/>
        </p:nvSpPr>
        <p:spPr>
          <a:xfrm>
            <a:off x="11027664" y="109728"/>
            <a:ext cx="219456" cy="219456"/>
          </a:xfrm>
          <a:prstGeom prst="ellipse">
            <a:avLst/>
          </a:prstGeom>
          <a:solidFill>
            <a:srgbClr val="FFFFFF"/>
          </a:solidFill>
          <a:ln w="12700">
            <a:solidFill>
              <a:srgbClr val="00338D"/>
            </a:solidFill>
            <a:prstDash val="solid"/>
          </a:ln>
        </p:spPr>
      </p:sp>
      <p:sp>
        <p:nvSpPr>
          <p:cNvPr id="15" name="Text 13"/>
          <p:cNvSpPr/>
          <p:nvPr/>
        </p:nvSpPr>
        <p:spPr>
          <a:xfrm>
            <a:off x="11027664" y="114300"/>
            <a:ext cx="219456" cy="219456"/>
          </a:xfrm>
          <a:prstGeom prst="rect">
            <a:avLst/>
          </a:prstGeom>
          <a:noFill/>
          <a:ln/>
        </p:spPr>
        <p:txBody>
          <a:bodyPr wrap="square" lIns="0" tIns="0" rIns="0" bIns="0" rtlCol="0" anchor="ctr"/>
          <a:lstStyle/>
          <a:p>
            <a:pPr algn="ctr" indent="0" marL="0">
              <a:buNone/>
            </a:pPr>
            <a:r>
              <a:rPr lang="en-US" sz="900" b="1" dirty="0">
                <a:solidFill>
                  <a:srgbClr val="00338D"/>
                </a:solidFill>
                <a:latin typeface="Arial" pitchFamily="34" charset="0"/>
                <a:ea typeface="Arial" pitchFamily="34" charset="-122"/>
                <a:cs typeface="Arial" pitchFamily="34" charset="-120"/>
              </a:rPr>
              <a:t>&lt;</a:t>
            </a:r>
            <a:endParaRPr lang="en-US" sz="900" dirty="0"/>
          </a:p>
        </p:txBody>
      </p:sp>
      <p:sp>
        <p:nvSpPr>
          <p:cNvPr id="16" name="Shape 14"/>
          <p:cNvSpPr/>
          <p:nvPr/>
        </p:nvSpPr>
        <p:spPr>
          <a:xfrm>
            <a:off x="11292840" y="109728"/>
            <a:ext cx="219456" cy="219456"/>
          </a:xfrm>
          <a:prstGeom prst="ellipse">
            <a:avLst/>
          </a:prstGeom>
          <a:solidFill>
            <a:srgbClr val="FFFFFF"/>
          </a:solidFill>
          <a:ln w="12700">
            <a:solidFill>
              <a:srgbClr val="00338D"/>
            </a:solidFill>
            <a:prstDash val="solid"/>
          </a:ln>
        </p:spPr>
      </p:sp>
      <p:sp>
        <p:nvSpPr>
          <p:cNvPr id="17" name="Text 15"/>
          <p:cNvSpPr/>
          <p:nvPr/>
        </p:nvSpPr>
        <p:spPr>
          <a:xfrm>
            <a:off x="11292840" y="114300"/>
            <a:ext cx="219456" cy="219456"/>
          </a:xfrm>
          <a:prstGeom prst="rect">
            <a:avLst/>
          </a:prstGeom>
          <a:noFill/>
          <a:ln/>
        </p:spPr>
        <p:txBody>
          <a:bodyPr wrap="square" lIns="0" tIns="0" rIns="0" bIns="0" rtlCol="0" anchor="ctr"/>
          <a:lstStyle/>
          <a:p>
            <a:pPr algn="ctr" indent="0" marL="0">
              <a:buNone/>
            </a:pPr>
            <a:r>
              <a:rPr lang="en-US" sz="900" b="1" dirty="0">
                <a:solidFill>
                  <a:srgbClr val="00338D"/>
                </a:solidFill>
                <a:latin typeface="Arial" pitchFamily="34" charset="0"/>
                <a:ea typeface="Arial" pitchFamily="34" charset="-122"/>
                <a:cs typeface="Arial" pitchFamily="34" charset="-120"/>
              </a:rPr>
              <a:t>H</a:t>
            </a:r>
            <a:endParaRPr lang="en-US" sz="900" dirty="0"/>
          </a:p>
        </p:txBody>
      </p:sp>
      <p:sp>
        <p:nvSpPr>
          <p:cNvPr id="18" name="Shape 16"/>
          <p:cNvSpPr/>
          <p:nvPr/>
        </p:nvSpPr>
        <p:spPr>
          <a:xfrm>
            <a:off x="11558016" y="109728"/>
            <a:ext cx="219456" cy="219456"/>
          </a:xfrm>
          <a:prstGeom prst="ellipse">
            <a:avLst/>
          </a:prstGeom>
          <a:solidFill>
            <a:srgbClr val="FFFFFF"/>
          </a:solidFill>
          <a:ln w="12700">
            <a:solidFill>
              <a:srgbClr val="00338D"/>
            </a:solidFill>
            <a:prstDash val="solid"/>
          </a:ln>
        </p:spPr>
      </p:sp>
      <p:sp>
        <p:nvSpPr>
          <p:cNvPr id="19" name="Text 17"/>
          <p:cNvSpPr/>
          <p:nvPr/>
        </p:nvSpPr>
        <p:spPr>
          <a:xfrm>
            <a:off x="11558016" y="114300"/>
            <a:ext cx="219456" cy="219456"/>
          </a:xfrm>
          <a:prstGeom prst="rect">
            <a:avLst/>
          </a:prstGeom>
          <a:noFill/>
          <a:ln/>
        </p:spPr>
        <p:txBody>
          <a:bodyPr wrap="square" lIns="0" tIns="0" rIns="0" bIns="0" rtlCol="0" anchor="ctr"/>
          <a:lstStyle/>
          <a:p>
            <a:pPr algn="ctr" indent="0" marL="0">
              <a:buNone/>
            </a:pPr>
            <a:r>
              <a:rPr lang="en-US" sz="900" b="1" dirty="0">
                <a:solidFill>
                  <a:srgbClr val="00338D"/>
                </a:solidFill>
                <a:latin typeface="Arial" pitchFamily="34" charset="0"/>
                <a:ea typeface="Arial" pitchFamily="34" charset="-122"/>
                <a:cs typeface="Arial" pitchFamily="34" charset="-120"/>
              </a:rPr>
              <a:t>&gt;</a:t>
            </a:r>
            <a:endParaRPr lang="en-US" sz="900" dirty="0"/>
          </a:p>
        </p:txBody>
      </p:sp>
      <p:sp>
        <p:nvSpPr>
          <p:cNvPr id="20" name="Text 18"/>
          <p:cNvSpPr/>
          <p:nvPr/>
        </p:nvSpPr>
        <p:spPr>
          <a:xfrm>
            <a:off x="941832" y="393192"/>
            <a:ext cx="4754880" cy="292608"/>
          </a:xfrm>
          <a:prstGeom prst="rect">
            <a:avLst/>
          </a:prstGeom>
          <a:noFill/>
          <a:ln/>
        </p:spPr>
        <p:txBody>
          <a:bodyPr wrap="square" lIns="0" tIns="0" rIns="0" bIns="0" rtlCol="0" anchor="t"/>
          <a:lstStyle/>
          <a:p>
            <a:pPr indent="0" marL="0">
              <a:buNone/>
            </a:pPr>
            <a:r>
              <a:rPr lang="en-US" sz="2200" b="1" dirty="0">
                <a:solidFill>
                  <a:srgbClr val="00338D"/>
                </a:solidFill>
                <a:latin typeface="Arial" pitchFamily="34" charset="0"/>
                <a:ea typeface="Arial" pitchFamily="34" charset="-122"/>
                <a:cs typeface="Arial" pitchFamily="34" charset="-120"/>
              </a:rPr>
              <a:t>Business overview</a:t>
            </a:r>
            <a:endParaRPr lang="en-US" sz="2200" dirty="0"/>
          </a:p>
        </p:txBody>
      </p:sp>
      <p:sp>
        <p:nvSpPr>
          <p:cNvPr id="21" name="Text 19"/>
          <p:cNvSpPr/>
          <p:nvPr/>
        </p:nvSpPr>
        <p:spPr>
          <a:xfrm>
            <a:off x="950976" y="987552"/>
            <a:ext cx="4937760" cy="256032"/>
          </a:xfrm>
          <a:prstGeom prst="rect">
            <a:avLst/>
          </a:prstGeom>
          <a:noFill/>
          <a:ln/>
        </p:spPr>
        <p:txBody>
          <a:bodyPr wrap="square" lIns="0" tIns="0" rIns="0" bIns="0" rtlCol="0" anchor="ctr"/>
          <a:lstStyle/>
          <a:p>
            <a:pPr indent="0" marL="0">
              <a:buNone/>
            </a:pPr>
            <a:r>
              <a:rPr lang="en-US" sz="1100" b="1" dirty="0">
                <a:solidFill>
                  <a:srgbClr val="00338D"/>
                </a:solidFill>
                <a:uFill>
                  <a:solidFill>
                    <a:srgbClr val="00338D"/>
                  </a:solidFill>
                </a:uFill>
                <a:latin typeface="Arial" pitchFamily="34" charset="0"/>
                <a:ea typeface="Arial" pitchFamily="34" charset="-122"/>
                <a:cs typeface="Arial" pitchFamily="34" charset="-120"/>
              </a:rPr>
              <a:t>Legal chart</a:t>
            </a:r>
            <a:endParaRPr lang="en-US" sz="1100" dirty="0"/>
          </a:p>
        </p:txBody>
      </p:sp>
      <p:sp>
        <p:nvSpPr>
          <p:cNvPr id="22" name="Text 20"/>
          <p:cNvSpPr/>
          <p:nvPr/>
        </p:nvSpPr>
        <p:spPr>
          <a:xfrm>
            <a:off x="6071616" y="987552"/>
            <a:ext cx="5001768" cy="256032"/>
          </a:xfrm>
          <a:prstGeom prst="rect">
            <a:avLst/>
          </a:prstGeom>
          <a:noFill/>
          <a:ln/>
        </p:spPr>
        <p:txBody>
          <a:bodyPr wrap="square" lIns="0" tIns="0" rIns="0" bIns="0" rtlCol="0" anchor="ctr"/>
          <a:lstStyle/>
          <a:p>
            <a:pPr indent="0" marL="0">
              <a:buNone/>
            </a:pPr>
            <a:r>
              <a:rPr lang="en-US" sz="1100" b="1" dirty="0">
                <a:solidFill>
                  <a:srgbClr val="00338D"/>
                </a:solidFill>
                <a:uFill>
                  <a:solidFill>
                    <a:srgbClr val="00338D"/>
                  </a:solidFill>
                </a:uFill>
                <a:latin typeface="Arial" pitchFamily="34" charset="0"/>
                <a:ea typeface="Arial" pitchFamily="34" charset="-122"/>
                <a:cs typeface="Arial" pitchFamily="34" charset="-120"/>
              </a:rPr>
              <a:t>Company overview</a:t>
            </a:r>
            <a:endParaRPr lang="en-US" sz="1100" dirty="0"/>
          </a:p>
        </p:txBody>
      </p:sp>
      <p:sp>
        <p:nvSpPr>
          <p:cNvPr id="23" name="Shape 21"/>
          <p:cNvSpPr/>
          <p:nvPr/>
        </p:nvSpPr>
        <p:spPr>
          <a:xfrm>
            <a:off x="969264" y="1691640"/>
            <a:ext cx="1517904" cy="512064"/>
          </a:xfrm>
          <a:prstGeom prst="rect">
            <a:avLst/>
          </a:prstGeom>
          <a:solidFill>
            <a:srgbClr val="00338D"/>
          </a:solidFill>
          <a:ln w="12700">
            <a:solidFill>
              <a:srgbClr val="00338D"/>
            </a:solidFill>
            <a:prstDash val="solid"/>
          </a:ln>
        </p:spPr>
      </p:sp>
      <p:sp>
        <p:nvSpPr>
          <p:cNvPr id="24" name="Text 22"/>
          <p:cNvSpPr/>
          <p:nvPr/>
        </p:nvSpPr>
        <p:spPr>
          <a:xfrm>
            <a:off x="1014984" y="1737360"/>
            <a:ext cx="1426464" cy="420624"/>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rial" pitchFamily="34" charset="0"/>
                <a:ea typeface="Arial" pitchFamily="34" charset="-122"/>
                <a:cs typeface="Arial" pitchFamily="34" charset="-120"/>
              </a:rPr>
              <a:t>Apple Inc. (Parent)</a:t>
            </a:r>
            <a:endParaRPr lang="en-US" sz="900" dirty="0"/>
          </a:p>
        </p:txBody>
      </p:sp>
      <p:sp>
        <p:nvSpPr>
          <p:cNvPr id="25" name="Text 23"/>
          <p:cNvSpPr/>
          <p:nvPr/>
        </p:nvSpPr>
        <p:spPr>
          <a:xfrm>
            <a:off x="969264" y="2231136"/>
            <a:ext cx="1517904" cy="137160"/>
          </a:xfrm>
          <a:prstGeom prst="rect">
            <a:avLst/>
          </a:prstGeom>
          <a:noFill/>
          <a:ln/>
        </p:spPr>
        <p:txBody>
          <a:bodyPr wrap="square" lIns="0" tIns="0" rIns="0" bIns="0" rtlCol="0" anchor="ctr"/>
          <a:lstStyle/>
          <a:p>
            <a:pPr algn="ctr" indent="0" marL="0">
              <a:buNone/>
            </a:pPr>
            <a:r>
              <a:rPr lang="en-US" sz="700" dirty="0">
                <a:solidFill>
                  <a:srgbClr val="000000"/>
                </a:solidFill>
                <a:latin typeface="Arial" pitchFamily="34" charset="0"/>
                <a:ea typeface="Arial" pitchFamily="34" charset="-122"/>
                <a:cs typeface="Arial" pitchFamily="34" charset="-120"/>
              </a:rPr>
              <a:t>34%</a:t>
            </a:r>
            <a:endParaRPr lang="en-US" sz="700" dirty="0"/>
          </a:p>
        </p:txBody>
      </p:sp>
      <p:sp>
        <p:nvSpPr>
          <p:cNvPr id="26" name="Shape 24"/>
          <p:cNvSpPr/>
          <p:nvPr/>
        </p:nvSpPr>
        <p:spPr>
          <a:xfrm>
            <a:off x="2615184" y="1691640"/>
            <a:ext cx="1517904" cy="512064"/>
          </a:xfrm>
          <a:prstGeom prst="rect">
            <a:avLst/>
          </a:prstGeom>
          <a:solidFill>
            <a:srgbClr val="00338D"/>
          </a:solidFill>
          <a:ln w="12700">
            <a:solidFill>
              <a:srgbClr val="00338D"/>
            </a:solidFill>
            <a:prstDash val="solid"/>
          </a:ln>
        </p:spPr>
      </p:sp>
      <p:sp>
        <p:nvSpPr>
          <p:cNvPr id="27" name="Text 25"/>
          <p:cNvSpPr/>
          <p:nvPr/>
        </p:nvSpPr>
        <p:spPr>
          <a:xfrm>
            <a:off x="2660904" y="1737360"/>
            <a:ext cx="1426464" cy="420624"/>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rial" pitchFamily="34" charset="0"/>
                <a:ea typeface="Arial" pitchFamily="34" charset="-122"/>
                <a:cs typeface="Arial" pitchFamily="34" charset="-120"/>
              </a:rPr>
              <a:t>Apple Operations</a:t>
            </a:r>
            <a:endParaRPr lang="en-US" sz="900" dirty="0"/>
          </a:p>
          <a:p>
            <a:pPr algn="ctr" indent="0" marL="0">
              <a:buNone/>
            </a:pPr>
            <a:r>
              <a:rPr lang="en-US" sz="900" b="1" dirty="0">
                <a:solidFill>
                  <a:srgbClr val="FFFFFF"/>
                </a:solidFill>
                <a:latin typeface="Arial" pitchFamily="34" charset="0"/>
                <a:ea typeface="Arial" pitchFamily="34" charset="-122"/>
                <a:cs typeface="Arial" pitchFamily="34" charset="-120"/>
              </a:rPr>
              <a:t>International</a:t>
            </a:r>
            <a:endParaRPr lang="en-US" sz="900" dirty="0"/>
          </a:p>
        </p:txBody>
      </p:sp>
      <p:sp>
        <p:nvSpPr>
          <p:cNvPr id="28" name="Text 26"/>
          <p:cNvSpPr/>
          <p:nvPr/>
        </p:nvSpPr>
        <p:spPr>
          <a:xfrm>
            <a:off x="2615184" y="2231136"/>
            <a:ext cx="1517904" cy="137160"/>
          </a:xfrm>
          <a:prstGeom prst="rect">
            <a:avLst/>
          </a:prstGeom>
          <a:noFill/>
          <a:ln/>
        </p:spPr>
        <p:txBody>
          <a:bodyPr wrap="square" lIns="0" tIns="0" rIns="0" bIns="0" rtlCol="0" anchor="ctr"/>
          <a:lstStyle/>
          <a:p>
            <a:pPr algn="ctr" indent="0" marL="0">
              <a:buNone/>
            </a:pPr>
            <a:r>
              <a:rPr lang="en-US" sz="700" dirty="0">
                <a:solidFill>
                  <a:srgbClr val="000000"/>
                </a:solidFill>
                <a:latin typeface="Arial" pitchFamily="34" charset="0"/>
                <a:ea typeface="Arial" pitchFamily="34" charset="-122"/>
                <a:cs typeface="Arial" pitchFamily="34" charset="-120"/>
              </a:rPr>
              <a:t>33%</a:t>
            </a:r>
            <a:endParaRPr lang="en-US" sz="700" dirty="0"/>
          </a:p>
        </p:txBody>
      </p:sp>
      <p:sp>
        <p:nvSpPr>
          <p:cNvPr id="29" name="Shape 27"/>
          <p:cNvSpPr/>
          <p:nvPr/>
        </p:nvSpPr>
        <p:spPr>
          <a:xfrm>
            <a:off x="4261104" y="1691640"/>
            <a:ext cx="1517904" cy="512064"/>
          </a:xfrm>
          <a:prstGeom prst="rect">
            <a:avLst/>
          </a:prstGeom>
          <a:solidFill>
            <a:srgbClr val="00338D"/>
          </a:solidFill>
          <a:ln w="12700">
            <a:solidFill>
              <a:srgbClr val="00338D"/>
            </a:solidFill>
            <a:prstDash val="solid"/>
          </a:ln>
        </p:spPr>
      </p:sp>
      <p:sp>
        <p:nvSpPr>
          <p:cNvPr id="30" name="Text 28"/>
          <p:cNvSpPr/>
          <p:nvPr/>
        </p:nvSpPr>
        <p:spPr>
          <a:xfrm>
            <a:off x="4306824" y="1737360"/>
            <a:ext cx="1426464" cy="420624"/>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rial" pitchFamily="34" charset="0"/>
                <a:ea typeface="Arial" pitchFamily="34" charset="-122"/>
                <a:cs typeface="Arial" pitchFamily="34" charset="-120"/>
              </a:rPr>
              <a:t>Apple Sales</a:t>
            </a:r>
            <a:endParaRPr lang="en-US" sz="900" dirty="0"/>
          </a:p>
          <a:p>
            <a:pPr algn="ctr" indent="0" marL="0">
              <a:buNone/>
            </a:pPr>
            <a:r>
              <a:rPr lang="en-US" sz="900" b="1" dirty="0">
                <a:solidFill>
                  <a:srgbClr val="FFFFFF"/>
                </a:solidFill>
                <a:latin typeface="Arial" pitchFamily="34" charset="0"/>
                <a:ea typeface="Arial" pitchFamily="34" charset="-122"/>
                <a:cs typeface="Arial" pitchFamily="34" charset="-120"/>
              </a:rPr>
              <a:t>International</a:t>
            </a:r>
            <a:endParaRPr lang="en-US" sz="900" dirty="0"/>
          </a:p>
        </p:txBody>
      </p:sp>
      <p:sp>
        <p:nvSpPr>
          <p:cNvPr id="31" name="Text 29"/>
          <p:cNvSpPr/>
          <p:nvPr/>
        </p:nvSpPr>
        <p:spPr>
          <a:xfrm>
            <a:off x="4261104" y="2231136"/>
            <a:ext cx="1517904" cy="137160"/>
          </a:xfrm>
          <a:prstGeom prst="rect">
            <a:avLst/>
          </a:prstGeom>
          <a:noFill/>
          <a:ln/>
        </p:spPr>
        <p:txBody>
          <a:bodyPr wrap="square" lIns="0" tIns="0" rIns="0" bIns="0" rtlCol="0" anchor="ctr"/>
          <a:lstStyle/>
          <a:p>
            <a:pPr algn="ctr" indent="0" marL="0">
              <a:buNone/>
            </a:pPr>
            <a:r>
              <a:rPr lang="en-US" sz="700" dirty="0">
                <a:solidFill>
                  <a:srgbClr val="000000"/>
                </a:solidFill>
                <a:latin typeface="Arial" pitchFamily="34" charset="0"/>
                <a:ea typeface="Arial" pitchFamily="34" charset="-122"/>
                <a:cs typeface="Arial" pitchFamily="34" charset="-120"/>
              </a:rPr>
              <a:t>33%</a:t>
            </a:r>
            <a:endParaRPr lang="en-US" sz="700" dirty="0"/>
          </a:p>
        </p:txBody>
      </p:sp>
      <p:sp>
        <p:nvSpPr>
          <p:cNvPr id="32" name="Shape 30"/>
          <p:cNvSpPr/>
          <p:nvPr/>
        </p:nvSpPr>
        <p:spPr>
          <a:xfrm>
            <a:off x="1572768" y="2743200"/>
            <a:ext cx="2029968" cy="512064"/>
          </a:xfrm>
          <a:prstGeom prst="rect">
            <a:avLst/>
          </a:prstGeom>
          <a:solidFill>
            <a:srgbClr val="1E49E2"/>
          </a:solidFill>
          <a:ln w="12700">
            <a:solidFill>
              <a:srgbClr val="1E49E2"/>
            </a:solidFill>
            <a:prstDash val="solid"/>
          </a:ln>
        </p:spPr>
      </p:sp>
      <p:sp>
        <p:nvSpPr>
          <p:cNvPr id="33" name="Text 31"/>
          <p:cNvSpPr/>
          <p:nvPr/>
        </p:nvSpPr>
        <p:spPr>
          <a:xfrm>
            <a:off x="1618488" y="2788920"/>
            <a:ext cx="1938528" cy="420624"/>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rial" pitchFamily="34" charset="0"/>
                <a:ea typeface="Arial" pitchFamily="34" charset="-122"/>
                <a:cs typeface="Arial" pitchFamily="34" charset="-120"/>
              </a:rPr>
              <a:t>Apple Products Group</a:t>
            </a:r>
            <a:endParaRPr lang="en-US" sz="900" dirty="0"/>
          </a:p>
        </p:txBody>
      </p:sp>
      <p:sp>
        <p:nvSpPr>
          <p:cNvPr id="34" name="Text 32"/>
          <p:cNvSpPr/>
          <p:nvPr/>
        </p:nvSpPr>
        <p:spPr>
          <a:xfrm>
            <a:off x="1572768" y="3282696"/>
            <a:ext cx="2029968" cy="137160"/>
          </a:xfrm>
          <a:prstGeom prst="rect">
            <a:avLst/>
          </a:prstGeom>
          <a:noFill/>
          <a:ln/>
        </p:spPr>
        <p:txBody>
          <a:bodyPr wrap="square" lIns="0" tIns="0" rIns="0" bIns="0" rtlCol="0" anchor="ctr"/>
          <a:lstStyle/>
          <a:p>
            <a:pPr algn="ctr" indent="0" marL="0">
              <a:buNone/>
            </a:pPr>
            <a:r>
              <a:rPr lang="en-US" sz="700" dirty="0">
                <a:solidFill>
                  <a:srgbClr val="000000"/>
                </a:solidFill>
                <a:latin typeface="Arial" pitchFamily="34" charset="0"/>
                <a:ea typeface="Arial" pitchFamily="34" charset="-122"/>
                <a:cs typeface="Arial" pitchFamily="34" charset="-120"/>
              </a:rPr>
              <a:t>75%</a:t>
            </a:r>
            <a:endParaRPr lang="en-US" sz="700" dirty="0"/>
          </a:p>
        </p:txBody>
      </p:sp>
      <p:sp>
        <p:nvSpPr>
          <p:cNvPr id="35" name="Shape 33"/>
          <p:cNvSpPr/>
          <p:nvPr/>
        </p:nvSpPr>
        <p:spPr>
          <a:xfrm>
            <a:off x="3694176" y="2743200"/>
            <a:ext cx="2029968" cy="512064"/>
          </a:xfrm>
          <a:prstGeom prst="rect">
            <a:avLst/>
          </a:prstGeom>
          <a:solidFill>
            <a:srgbClr val="1E49E2"/>
          </a:solidFill>
          <a:ln w="12700">
            <a:solidFill>
              <a:srgbClr val="1E49E2"/>
            </a:solidFill>
            <a:prstDash val="solid"/>
          </a:ln>
        </p:spPr>
      </p:sp>
      <p:sp>
        <p:nvSpPr>
          <p:cNvPr id="36" name="Text 34"/>
          <p:cNvSpPr/>
          <p:nvPr/>
        </p:nvSpPr>
        <p:spPr>
          <a:xfrm>
            <a:off x="3739896" y="2788920"/>
            <a:ext cx="1938528" cy="420624"/>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rial" pitchFamily="34" charset="0"/>
                <a:ea typeface="Arial" pitchFamily="34" charset="-122"/>
                <a:cs typeface="Arial" pitchFamily="34" charset="-120"/>
              </a:rPr>
              <a:t>Apple Services Group</a:t>
            </a:r>
            <a:endParaRPr lang="en-US" sz="900" dirty="0"/>
          </a:p>
        </p:txBody>
      </p:sp>
      <p:sp>
        <p:nvSpPr>
          <p:cNvPr id="37" name="Text 35"/>
          <p:cNvSpPr/>
          <p:nvPr/>
        </p:nvSpPr>
        <p:spPr>
          <a:xfrm>
            <a:off x="3694176" y="3282696"/>
            <a:ext cx="2029968" cy="137160"/>
          </a:xfrm>
          <a:prstGeom prst="rect">
            <a:avLst/>
          </a:prstGeom>
          <a:noFill/>
          <a:ln/>
        </p:spPr>
        <p:txBody>
          <a:bodyPr wrap="square" lIns="0" tIns="0" rIns="0" bIns="0" rtlCol="0" anchor="ctr"/>
          <a:lstStyle/>
          <a:p>
            <a:pPr algn="ctr" indent="0" marL="0">
              <a:buNone/>
            </a:pPr>
            <a:r>
              <a:rPr lang="en-US" sz="700" dirty="0">
                <a:solidFill>
                  <a:srgbClr val="000000"/>
                </a:solidFill>
                <a:latin typeface="Arial" pitchFamily="34" charset="0"/>
                <a:ea typeface="Arial" pitchFamily="34" charset="-122"/>
                <a:cs typeface="Arial" pitchFamily="34" charset="-120"/>
              </a:rPr>
              <a:t>25%</a:t>
            </a:r>
            <a:endParaRPr lang="en-US" sz="700" dirty="0"/>
          </a:p>
        </p:txBody>
      </p:sp>
      <p:sp>
        <p:nvSpPr>
          <p:cNvPr id="38" name="Shape 36"/>
          <p:cNvSpPr/>
          <p:nvPr/>
        </p:nvSpPr>
        <p:spPr>
          <a:xfrm>
            <a:off x="2450592" y="3685032"/>
            <a:ext cx="2395728" cy="585216"/>
          </a:xfrm>
          <a:prstGeom prst="rect">
            <a:avLst/>
          </a:prstGeom>
          <a:solidFill>
            <a:srgbClr val="00B8F5"/>
          </a:solidFill>
          <a:ln w="12700">
            <a:solidFill>
              <a:srgbClr val="00B8F5"/>
            </a:solidFill>
            <a:prstDash val="solid"/>
          </a:ln>
        </p:spPr>
      </p:sp>
      <p:sp>
        <p:nvSpPr>
          <p:cNvPr id="39" name="Text 37"/>
          <p:cNvSpPr/>
          <p:nvPr/>
        </p:nvSpPr>
        <p:spPr>
          <a:xfrm>
            <a:off x="2496312" y="3730752"/>
            <a:ext cx="2304288" cy="493776"/>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rial" pitchFamily="34" charset="0"/>
                <a:ea typeface="Arial" pitchFamily="34" charset="-122"/>
                <a:cs typeface="Arial" pitchFamily="34" charset="-120"/>
              </a:rPr>
              <a:t>Apple consolidated operations</a:t>
            </a:r>
            <a:endParaRPr lang="en-US" sz="900" dirty="0"/>
          </a:p>
          <a:p>
            <a:pPr algn="ctr" indent="0" marL="0">
              <a:buNone/>
            </a:pPr>
            <a:r>
              <a:rPr lang="en-US" sz="900" b="1" dirty="0">
                <a:solidFill>
                  <a:srgbClr val="FFFFFF"/>
                </a:solidFill>
                <a:latin typeface="Arial" pitchFamily="34" charset="0"/>
                <a:ea typeface="Arial" pitchFamily="34" charset="-122"/>
                <a:cs typeface="Arial" pitchFamily="34" charset="-120"/>
              </a:rPr>
              <a:t>FY2023-FY2025</a:t>
            </a:r>
            <a:endParaRPr lang="en-US" sz="900" dirty="0"/>
          </a:p>
        </p:txBody>
      </p:sp>
      <p:sp>
        <p:nvSpPr>
          <p:cNvPr id="40" name="Shape 38"/>
          <p:cNvSpPr/>
          <p:nvPr/>
        </p:nvSpPr>
        <p:spPr>
          <a:xfrm>
            <a:off x="1728216" y="2532888"/>
            <a:ext cx="3291840" cy="0"/>
          </a:xfrm>
          <a:prstGeom prst="line">
            <a:avLst/>
          </a:prstGeom>
          <a:noFill/>
          <a:ln w="12700">
            <a:solidFill>
              <a:srgbClr val="00338D"/>
            </a:solidFill>
            <a:prstDash val="solid"/>
          </a:ln>
        </p:spPr>
      </p:sp>
      <p:sp>
        <p:nvSpPr>
          <p:cNvPr id="41" name="Shape 39"/>
          <p:cNvSpPr/>
          <p:nvPr/>
        </p:nvSpPr>
        <p:spPr>
          <a:xfrm>
            <a:off x="1728216" y="2203704"/>
            <a:ext cx="0" cy="329184"/>
          </a:xfrm>
          <a:prstGeom prst="line">
            <a:avLst/>
          </a:prstGeom>
          <a:noFill/>
          <a:ln w="12700">
            <a:solidFill>
              <a:srgbClr val="00338D"/>
            </a:solidFill>
            <a:prstDash val="solid"/>
          </a:ln>
        </p:spPr>
      </p:sp>
      <p:sp>
        <p:nvSpPr>
          <p:cNvPr id="42" name="Shape 40"/>
          <p:cNvSpPr/>
          <p:nvPr/>
        </p:nvSpPr>
        <p:spPr>
          <a:xfrm>
            <a:off x="3374136" y="2203704"/>
            <a:ext cx="0" cy="329184"/>
          </a:xfrm>
          <a:prstGeom prst="line">
            <a:avLst/>
          </a:prstGeom>
          <a:noFill/>
          <a:ln w="12700">
            <a:solidFill>
              <a:srgbClr val="00338D"/>
            </a:solidFill>
            <a:prstDash val="solid"/>
          </a:ln>
        </p:spPr>
      </p:sp>
      <p:sp>
        <p:nvSpPr>
          <p:cNvPr id="43" name="Shape 41"/>
          <p:cNvSpPr/>
          <p:nvPr/>
        </p:nvSpPr>
        <p:spPr>
          <a:xfrm>
            <a:off x="5020056" y="2203704"/>
            <a:ext cx="0" cy="329184"/>
          </a:xfrm>
          <a:prstGeom prst="line">
            <a:avLst/>
          </a:prstGeom>
          <a:noFill/>
          <a:ln w="12700">
            <a:solidFill>
              <a:srgbClr val="00338D"/>
            </a:solidFill>
            <a:prstDash val="solid"/>
          </a:ln>
        </p:spPr>
      </p:sp>
      <p:sp>
        <p:nvSpPr>
          <p:cNvPr id="44" name="Shape 42"/>
          <p:cNvSpPr/>
          <p:nvPr/>
        </p:nvSpPr>
        <p:spPr>
          <a:xfrm>
            <a:off x="2587752" y="2532888"/>
            <a:ext cx="0" cy="210312"/>
          </a:xfrm>
          <a:prstGeom prst="line">
            <a:avLst/>
          </a:prstGeom>
          <a:noFill/>
          <a:ln w="12700">
            <a:solidFill>
              <a:srgbClr val="00338D"/>
            </a:solidFill>
            <a:prstDash val="solid"/>
          </a:ln>
        </p:spPr>
      </p:sp>
      <p:sp>
        <p:nvSpPr>
          <p:cNvPr id="45" name="Shape 43"/>
          <p:cNvSpPr/>
          <p:nvPr/>
        </p:nvSpPr>
        <p:spPr>
          <a:xfrm>
            <a:off x="4709160" y="2532888"/>
            <a:ext cx="0" cy="210312"/>
          </a:xfrm>
          <a:prstGeom prst="line">
            <a:avLst/>
          </a:prstGeom>
          <a:noFill/>
          <a:ln w="12700">
            <a:solidFill>
              <a:srgbClr val="00338D"/>
            </a:solidFill>
            <a:prstDash val="solid"/>
          </a:ln>
        </p:spPr>
      </p:sp>
      <p:sp>
        <p:nvSpPr>
          <p:cNvPr id="46" name="Shape 44"/>
          <p:cNvSpPr/>
          <p:nvPr/>
        </p:nvSpPr>
        <p:spPr>
          <a:xfrm>
            <a:off x="2587752" y="3255264"/>
            <a:ext cx="1060704" cy="0"/>
          </a:xfrm>
          <a:prstGeom prst="line">
            <a:avLst/>
          </a:prstGeom>
          <a:noFill/>
          <a:ln w="12700">
            <a:solidFill>
              <a:srgbClr val="00338D"/>
            </a:solidFill>
            <a:prstDash val="solid"/>
          </a:ln>
        </p:spPr>
      </p:sp>
      <p:sp>
        <p:nvSpPr>
          <p:cNvPr id="47" name="Shape 45"/>
          <p:cNvSpPr/>
          <p:nvPr/>
        </p:nvSpPr>
        <p:spPr>
          <a:xfrm>
            <a:off x="3648456" y="3255264"/>
            <a:ext cx="0" cy="429768"/>
          </a:xfrm>
          <a:prstGeom prst="line">
            <a:avLst/>
          </a:prstGeom>
          <a:noFill/>
          <a:ln w="12700">
            <a:solidFill>
              <a:srgbClr val="00338D"/>
            </a:solidFill>
            <a:prstDash val="solid"/>
          </a:ln>
        </p:spPr>
      </p:sp>
      <p:sp>
        <p:nvSpPr>
          <p:cNvPr id="48" name="Text 46"/>
          <p:cNvSpPr/>
          <p:nvPr/>
        </p:nvSpPr>
        <p:spPr>
          <a:xfrm>
            <a:off x="969264" y="4361688"/>
            <a:ext cx="5010912" cy="347472"/>
          </a:xfrm>
          <a:prstGeom prst="rect">
            <a:avLst/>
          </a:prstGeom>
          <a:noFill/>
          <a:ln/>
        </p:spPr>
        <p:txBody>
          <a:bodyPr wrap="square" lIns="0" tIns="0" rIns="0" bIns="0" rtlCol="0" anchor="t"/>
          <a:lstStyle/>
          <a:p>
            <a:pPr indent="0" marL="0">
              <a:buNone/>
            </a:pPr>
            <a:r>
              <a:rPr lang="en-US" sz="550" i="1" dirty="0">
                <a:solidFill>
                  <a:srgbClr val="00338D"/>
                </a:solidFill>
                <a:latin typeface="Arial" pitchFamily="34" charset="0"/>
                <a:ea typeface="Arial" pitchFamily="34" charset="-122"/>
                <a:cs typeface="Arial" pitchFamily="34" charset="-120"/>
              </a:rPr>
              <a:t>Note 1: Share percentages are illustrative to mirror legal-chart formatting in this template style.</a:t>
            </a:r>
            <a:endParaRPr lang="en-US" sz="550" dirty="0"/>
          </a:p>
          <a:p>
            <a:pPr indent="0" marL="0">
              <a:buNone/>
            </a:pPr>
            <a:r>
              <a:rPr lang="en-US" sz="550" i="1" dirty="0">
                <a:solidFill>
                  <a:srgbClr val="00338D"/>
                </a:solidFill>
                <a:latin typeface="Arial" pitchFamily="34" charset="0"/>
                <a:ea typeface="Arial" pitchFamily="34" charset="-122"/>
                <a:cs typeface="Arial" pitchFamily="34" charset="-120"/>
              </a:rPr>
              <a:t>Note 2: Financial values are sourced from the FY2023-FY2025 formatted files in tests/financial-overview/formatted.</a:t>
            </a:r>
            <a:endParaRPr lang="en-US" sz="550" dirty="0"/>
          </a:p>
        </p:txBody>
      </p:sp>
      <p:sp>
        <p:nvSpPr>
          <p:cNvPr id="49" name="Text 47"/>
          <p:cNvSpPr/>
          <p:nvPr/>
        </p:nvSpPr>
        <p:spPr>
          <a:xfrm>
            <a:off x="969264" y="4709160"/>
            <a:ext cx="5010912" cy="128016"/>
          </a:xfrm>
          <a:prstGeom prst="rect">
            <a:avLst/>
          </a:prstGeom>
          <a:noFill/>
          <a:ln/>
        </p:spPr>
        <p:txBody>
          <a:bodyPr wrap="square" lIns="0" tIns="0" rIns="0" bIns="0" rtlCol="0" anchor="t"/>
          <a:lstStyle/>
          <a:p>
            <a:pPr indent="0" marL="0">
              <a:buNone/>
            </a:pPr>
            <a:r>
              <a:rPr lang="en-US" sz="550" dirty="0">
                <a:solidFill>
                  <a:srgbClr val="00338D"/>
                </a:solidFill>
                <a:latin typeface="Arial" pitchFamily="34" charset="0"/>
                <a:ea typeface="Arial" pitchFamily="34" charset="-122"/>
                <a:cs typeface="Arial" pitchFamily="34" charset="-120"/>
              </a:rPr>
              <a:t>Source: tests/financial-overview/formatted (income statement, balance sheet, cash flow)</a:t>
            </a:r>
            <a:endParaRPr lang="en-US" sz="550" dirty="0"/>
          </a:p>
        </p:txBody>
      </p:sp>
      <p:sp>
        <p:nvSpPr>
          <p:cNvPr id="50" name="Text 48"/>
          <p:cNvSpPr/>
          <p:nvPr/>
        </p:nvSpPr>
        <p:spPr>
          <a:xfrm>
            <a:off x="6071616" y="1325880"/>
            <a:ext cx="5001768" cy="603504"/>
          </a:xfrm>
          <a:prstGeom prst="rect">
            <a:avLst/>
          </a:prstGeom>
          <a:noFill/>
          <a:ln/>
        </p:spPr>
        <p:txBody>
          <a:bodyPr wrap="square" lIns="0" tIns="0" rIns="0" bIns="0" rtlCol="0" anchor="t"/>
          <a:lstStyle/>
          <a:p>
            <a:pPr indent="0" marL="0">
              <a:buNone/>
            </a:pPr>
            <a:r>
              <a:rPr lang="en-US" sz="800" dirty="0">
                <a:solidFill>
                  <a:srgbClr val="000000"/>
                </a:solidFill>
                <a:latin typeface="Arial" pitchFamily="34" charset="0"/>
                <a:ea typeface="Arial" pitchFamily="34" charset="-122"/>
                <a:cs typeface="Arial" pitchFamily="34" charset="-120"/>
              </a:rPr>
              <a:t>Apple Inc. ("Apple" or the "Company") designs, manufactures, and markets smartphones, personal computers, tablets, wearables, and digital services globally. The operating model combines premium devices with tightly integrated software and subscription-led services, supporting scale, retention, and durable monetization across both consumer and enterprise channels.</a:t>
            </a:r>
            <a:endParaRPr lang="en-US" sz="800" dirty="0"/>
          </a:p>
        </p:txBody>
      </p:sp>
      <p:sp>
        <p:nvSpPr>
          <p:cNvPr id="51" name="Text 49"/>
          <p:cNvSpPr/>
          <p:nvPr/>
        </p:nvSpPr>
        <p:spPr>
          <a:xfrm>
            <a:off x="6071616" y="1938528"/>
            <a:ext cx="5001768" cy="2212848"/>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800" b="1" dirty="0">
                <a:solidFill>
                  <a:srgbClr val="000000"/>
                </a:solidFill>
                <a:latin typeface="Arial" pitchFamily="34" charset="0"/>
                <a:ea typeface="Arial" pitchFamily="34" charset="-122"/>
                <a:cs typeface="Arial" pitchFamily="34" charset="-120"/>
              </a:rPr>
              <a:t>Product platform strength:</a:t>
            </a:r>
            <a:pPr indent="0" marL="0">
              <a:spcAft>
                <a:spcPts val="200"/>
              </a:spcAft>
              <a:buNone/>
            </a:pPr>
            <a:r>
              <a:rPr lang="en-US" sz="800" dirty="0">
                <a:solidFill>
                  <a:srgbClr val="000000"/>
                </a:solidFill>
                <a:latin typeface="Arial" pitchFamily="34" charset="0"/>
                <a:ea typeface="Arial" pitchFamily="34" charset="-122"/>
                <a:cs typeface="Arial" pitchFamily="34" charset="-120"/>
              </a:rPr>
              <a:t> iPhone, Mac, iPad, and Wearables continue to anchor the ecosystem, with integrated hardware-software design supporting premium pricing and customer stickiness.</a:t>
            </a:r>
            <a:endParaRPr lang="en-US" sz="800" dirty="0"/>
          </a:p>
          <a:p>
            <a:pPr marL="226800" indent="-226800">
              <a:lnSpc>
                <a:spcPts val="1200"/>
              </a:lnSpc>
              <a:spcAft>
                <a:spcPts val="600"/>
              </a:spcAft>
              <a:buSzPct val="100000"/>
              <a:buChar char="•"/>
            </a:pPr>
            <a:r>
              <a:rPr lang="en-US" sz="800" b="1" dirty="0">
                <a:solidFill>
                  <a:srgbClr val="000000"/>
                </a:solidFill>
                <a:latin typeface="Arial" pitchFamily="34" charset="0"/>
                <a:ea typeface="Arial" pitchFamily="34" charset="-122"/>
                <a:cs typeface="Arial" pitchFamily="34" charset="-120"/>
              </a:rPr>
              <a:t>Services durability:</a:t>
            </a:r>
            <a:pPr indent="0" marL="0">
              <a:spcAft>
                <a:spcPts val="200"/>
              </a:spcAft>
              <a:buNone/>
            </a:pPr>
            <a:r>
              <a:rPr lang="en-US" sz="800" dirty="0">
                <a:solidFill>
                  <a:srgbClr val="000000"/>
                </a:solidFill>
                <a:latin typeface="Arial" pitchFamily="34" charset="0"/>
                <a:ea typeface="Arial" pitchFamily="34" charset="-122"/>
                <a:cs typeface="Arial" pitchFamily="34" charset="-120"/>
              </a:rPr>
              <a:t> High-margin recurring offerings across digital content, cloud, payments, advertising, and subscriptions provide a stabilizing counterweight to hardware cycle volatility.</a:t>
            </a:r>
            <a:endParaRPr lang="en-US" sz="800" dirty="0"/>
          </a:p>
          <a:p>
            <a:pPr marL="226800" indent="-226800">
              <a:lnSpc>
                <a:spcPts val="1200"/>
              </a:lnSpc>
              <a:spcAft>
                <a:spcPts val="600"/>
              </a:spcAft>
              <a:buSzPct val="100000"/>
              <a:buChar char="•"/>
            </a:pPr>
            <a:r>
              <a:rPr lang="en-US" sz="800" b="1" dirty="0">
                <a:solidFill>
                  <a:srgbClr val="000000"/>
                </a:solidFill>
                <a:latin typeface="Arial" pitchFamily="34" charset="0"/>
                <a:ea typeface="Arial" pitchFamily="34" charset="-122"/>
                <a:cs typeface="Arial" pitchFamily="34" charset="-120"/>
              </a:rPr>
              <a:t>Scale profile:</a:t>
            </a:r>
            <a:pPr indent="0" marL="0">
              <a:spcAft>
                <a:spcPts val="200"/>
              </a:spcAft>
              <a:buNone/>
            </a:pPr>
            <a:r>
              <a:rPr lang="en-US" sz="800" dirty="0">
                <a:solidFill>
                  <a:srgbClr val="000000"/>
                </a:solidFill>
                <a:latin typeface="Arial" pitchFamily="34" charset="0"/>
                <a:ea typeface="Arial" pitchFamily="34" charset="-122"/>
                <a:cs typeface="Arial" pitchFamily="34" charset="-120"/>
              </a:rPr>
              <a:t> FY2025 revenue of $383.3B remains above FY2023 ($365.8B), while normalizing versus FY2024 ($394.3B), indicating resilience despite a tougher compare period.</a:t>
            </a:r>
            <a:endParaRPr lang="en-US" sz="800" dirty="0"/>
          </a:p>
          <a:p>
            <a:pPr marL="226800" indent="-226800">
              <a:lnSpc>
                <a:spcPts val="1200"/>
              </a:lnSpc>
              <a:spcAft>
                <a:spcPts val="600"/>
              </a:spcAft>
              <a:buSzPct val="100000"/>
              <a:buChar char="•"/>
            </a:pPr>
            <a:r>
              <a:rPr lang="en-US" sz="800" b="1" dirty="0">
                <a:solidFill>
                  <a:srgbClr val="000000"/>
                </a:solidFill>
                <a:latin typeface="Arial" pitchFamily="34" charset="0"/>
                <a:ea typeface="Arial" pitchFamily="34" charset="-122"/>
                <a:cs typeface="Arial" pitchFamily="34" charset="-120"/>
              </a:rPr>
              <a:t>Earnings quality:</a:t>
            </a:r>
            <a:pPr indent="0" marL="0">
              <a:spcAft>
                <a:spcPts val="200"/>
              </a:spcAft>
              <a:buNone/>
            </a:pPr>
            <a:r>
              <a:rPr lang="en-US" sz="800" dirty="0">
                <a:solidFill>
                  <a:srgbClr val="000000"/>
                </a:solidFill>
                <a:latin typeface="Arial" pitchFamily="34" charset="0"/>
                <a:ea typeface="Arial" pitchFamily="34" charset="-122"/>
                <a:cs typeface="Arial" pitchFamily="34" charset="-120"/>
              </a:rPr>
              <a:t> FY2025 gross profit of $169.1B and operating income of $114.3B reflect strong conversion from topline to operating earnings in a still investment-active year.</a:t>
            </a:r>
            <a:endParaRPr lang="en-US" sz="800" dirty="0"/>
          </a:p>
          <a:p>
            <a:pPr marL="226800" indent="-226800">
              <a:lnSpc>
                <a:spcPts val="1200"/>
              </a:lnSpc>
              <a:spcAft>
                <a:spcPts val="600"/>
              </a:spcAft>
              <a:buSzPct val="100000"/>
              <a:buChar char="•"/>
            </a:pPr>
            <a:r>
              <a:rPr lang="en-US" sz="800" b="1" dirty="0">
                <a:solidFill>
                  <a:srgbClr val="000000"/>
                </a:solidFill>
                <a:latin typeface="Arial" pitchFamily="34" charset="0"/>
                <a:ea typeface="Arial" pitchFamily="34" charset="-122"/>
                <a:cs typeface="Arial" pitchFamily="34" charset="-120"/>
              </a:rPr>
              <a:t>Liquidity and cash generation:</a:t>
            </a:r>
            <a:pPr indent="0" marL="0">
              <a:spcAft>
                <a:spcPts val="200"/>
              </a:spcAft>
              <a:buNone/>
            </a:pPr>
            <a:r>
              <a:rPr lang="en-US" sz="800" dirty="0">
                <a:solidFill>
                  <a:srgbClr val="000000"/>
                </a:solidFill>
                <a:latin typeface="Arial" pitchFamily="34" charset="0"/>
                <a:ea typeface="Arial" pitchFamily="34" charset="-122"/>
                <a:cs typeface="Arial" pitchFamily="34" charset="-120"/>
              </a:rPr>
              <a:t> Operating cash flow of $110.5B in FY2025, combined with substantial balance-sheet capacity, continues to support reinvestment, supply-chain flexibility, and shareholder return programs.</a:t>
            </a:r>
            <a:endParaRPr lang="en-US" sz="800" dirty="0"/>
          </a:p>
        </p:txBody>
      </p:sp>
      <p:sp>
        <p:nvSpPr>
          <p:cNvPr id="52" name="Text 50"/>
          <p:cNvSpPr/>
          <p:nvPr/>
        </p:nvSpPr>
        <p:spPr>
          <a:xfrm>
            <a:off x="6071616" y="4151376"/>
            <a:ext cx="5001768" cy="128016"/>
          </a:xfrm>
          <a:prstGeom prst="rect">
            <a:avLst/>
          </a:prstGeom>
          <a:noFill/>
          <a:ln/>
        </p:spPr>
        <p:txBody>
          <a:bodyPr wrap="square" lIns="0" tIns="0" rIns="0" bIns="0" rtlCol="0" anchor="t"/>
          <a:lstStyle/>
          <a:p>
            <a:pPr indent="0" marL="0">
              <a:buNone/>
            </a:pPr>
            <a:r>
              <a:rPr lang="en-US" sz="550" dirty="0">
                <a:solidFill>
                  <a:srgbClr val="00338D"/>
                </a:solidFill>
                <a:latin typeface="Arial" pitchFamily="34" charset="0"/>
                <a:ea typeface="Arial" pitchFamily="34" charset="-122"/>
                <a:cs typeface="Arial" pitchFamily="34" charset="-120"/>
              </a:rPr>
              <a:t>Source: tests/financial-overview/formatted/*-aapl-fy3.csv</a:t>
            </a:r>
            <a:endParaRPr lang="en-US" sz="550" dirty="0"/>
          </a:p>
        </p:txBody>
      </p:sp>
      <p:sp>
        <p:nvSpPr>
          <p:cNvPr id="53" name="Text 51"/>
          <p:cNvSpPr/>
          <p:nvPr/>
        </p:nvSpPr>
        <p:spPr>
          <a:xfrm>
            <a:off x="6309360" y="4462272"/>
            <a:ext cx="4754880" cy="164592"/>
          </a:xfrm>
          <a:prstGeom prst="rect">
            <a:avLst/>
          </a:prstGeom>
          <a:noFill/>
          <a:ln/>
        </p:spPr>
        <p:txBody>
          <a:bodyPr wrap="square" lIns="0" tIns="0" rIns="0" bIns="0" rtlCol="0" anchor="ctr"/>
          <a:lstStyle/>
          <a:p>
            <a:pPr algn="ctr" indent="0" marL="0">
              <a:buNone/>
            </a:pPr>
            <a:r>
              <a:rPr lang="en-US" sz="750" b="1" dirty="0">
                <a:solidFill>
                  <a:srgbClr val="00338D"/>
                </a:solidFill>
                <a:latin typeface="Arial" pitchFamily="34" charset="0"/>
                <a:ea typeface="Arial" pitchFamily="34" charset="-122"/>
                <a:cs typeface="Arial" pitchFamily="34" charset="-120"/>
              </a:rPr>
              <a:t>Reported financial metrics by LOB ($B)</a:t>
            </a:r>
            <a:endParaRPr lang="en-US" sz="750" dirty="0"/>
          </a:p>
        </p:txBody>
      </p:sp>
      <p:graphicFrame>
        <p:nvGraphicFramePr>
          <p:cNvPr id="54" name="Chart 0" descr=""/>
          <p:cNvGraphicFramePr/>
          <p:nvPr/>
        </p:nvGraphicFramePr>
        <p:xfrm>
          <a:off x="6309360" y="4608576"/>
          <a:ext cx="4754880" cy="1088136"/>
        </p:xfrm>
        <a:graphic xmlns:a="http://schemas.openxmlformats.org/drawingml/2006/main">
          <a:graphicData uri="http://schemas.openxmlformats.org/drawingml/2006/chart">
            <c:chart xmlns:c="http://schemas.openxmlformats.org/drawingml/2006/chart" r:id="rId1"/>
          </a:graphicData>
        </a:graphic>
      </p:graphicFrame>
      <p:sp>
        <p:nvSpPr>
          <p:cNvPr id="55" name="Text 52"/>
          <p:cNvSpPr/>
          <p:nvPr/>
        </p:nvSpPr>
        <p:spPr>
          <a:xfrm>
            <a:off x="6309360" y="5705856"/>
            <a:ext cx="4754880" cy="128016"/>
          </a:xfrm>
          <a:prstGeom prst="rect">
            <a:avLst/>
          </a:prstGeom>
          <a:noFill/>
          <a:ln/>
        </p:spPr>
        <p:txBody>
          <a:bodyPr wrap="square" lIns="0" tIns="0" rIns="0" bIns="0" rtlCol="0" anchor="t"/>
          <a:lstStyle/>
          <a:p>
            <a:pPr indent="0" marL="0">
              <a:buNone/>
            </a:pPr>
            <a:r>
              <a:rPr lang="en-US" sz="550" dirty="0">
                <a:solidFill>
                  <a:srgbClr val="00338D"/>
                </a:solidFill>
                <a:latin typeface="Arial" pitchFamily="34" charset="0"/>
                <a:ea typeface="Arial" pitchFamily="34" charset="-122"/>
                <a:cs typeface="Arial" pitchFamily="34" charset="-120"/>
              </a:rPr>
              <a:t>Source: tests/financial-overview/formatted/*-aapl-fy3.csv</a:t>
            </a:r>
            <a:endParaRPr lang="en-US" sz="550" dirty="0"/>
          </a:p>
        </p:txBody>
      </p:sp>
      <p:sp>
        <p:nvSpPr>
          <p:cNvPr id="56" name="Text 53"/>
          <p:cNvSpPr/>
          <p:nvPr/>
        </p:nvSpPr>
        <p:spPr>
          <a:xfrm>
            <a:off x="11082528" y="6537960"/>
            <a:ext cx="822960" cy="182880"/>
          </a:xfrm>
          <a:prstGeom prst="rect">
            <a:avLst/>
          </a:prstGeom>
          <a:noFill/>
          <a:ln/>
        </p:spPr>
        <p:txBody>
          <a:bodyPr wrap="square" lIns="0" tIns="0" rIns="0" bIns="0" rtlCol="0" anchor="ctr"/>
          <a:lstStyle/>
          <a:p>
            <a:pPr algn="l" indent="0" marL="0">
              <a:buNone/>
            </a:pPr>
            <a:r>
              <a:rPr lang="en-US" sz="1400" b="1" dirty="0">
                <a:solidFill>
                  <a:srgbClr val="FD349C"/>
                </a:solidFill>
                <a:latin typeface="Arial" pitchFamily="34" charset="0"/>
                <a:ea typeface="Arial" pitchFamily="34" charset="-122"/>
                <a:cs typeface="Arial" pitchFamily="34" charset="-120"/>
              </a:rPr>
              <a:t>DRAFT</a:t>
            </a:r>
            <a:endParaRPr lang="en-US" sz="1400" dirty="0"/>
          </a:p>
        </p:txBody>
      </p:sp>
      <p:sp>
        <p:nvSpPr>
          <p:cNvPr id="57" name="Text 5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KPMG LLP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Apple Business Overview Slide</dc:title>
  <dc:subject>Apple financial overview</dc:subject>
  <dc:creator>KPMG LLP</dc:creator>
  <cp:lastModifiedBy>KPMG LLP</cp:lastModifiedBy>
  <cp:revision>1</cp:revision>
  <dcterms:created xsi:type="dcterms:W3CDTF">2026-02-24T23:09:51Z</dcterms:created>
  <dcterms:modified xsi:type="dcterms:W3CDTF">2026-02-24T23:09:51Z</dcterms:modified>
</cp:coreProperties>
</file>