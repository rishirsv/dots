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sv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skills/kpmg-slides/assets/slidegen/templates/kpmg-diligence/assets/kpmg-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United States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8183880" y="6267298"/>
            <a:ext cx="749808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kpmg.com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6" name="Shape 3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UMMAR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skills/kpmg-slides/assets/slidegen/templates/kpmg-diligence/assets/gradient_accent_chip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4242" y="103327"/>
            <a:ext cx="222199" cy="222199"/>
          </a:xfrm>
          <a:prstGeom prst="rect">
            <a:avLst/>
          </a:prstGeom>
        </p:spPr>
      </p:pic>
      <p:pic>
        <p:nvPicPr>
          <p:cNvPr id="3" name="Image 1" descr="/Users/rishi/code/ai-tools/chatgpt/kpmg-slidegen/skills/kpmg-slides/assets/slidegen/templates/kpmg-diligence/assets/kpmg-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United States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5" name="Text 1"/>
          <p:cNvSpPr/>
          <p:nvPr/>
        </p:nvSpPr>
        <p:spPr>
          <a:xfrm>
            <a:off x="8183880" y="6267298"/>
            <a:ext cx="749808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kpmg.com</a:t>
            </a:r>
            <a:endParaRPr lang="en-US" sz="600" dirty="0"/>
          </a:p>
        </p:txBody>
      </p:sp>
      <p:sp>
        <p:nvSpPr>
          <p:cNvPr id="6" name="Text 2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7" name="Shape 3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OVER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DARK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skills/kpmg-slides/assets/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skills/kpmg-slides/assets/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LOSING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skills/kpmg-slides/assets/slidegen/templates/kpmg-diligence/assets/gradient_back_cover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Vacation and Paid Time Off Policy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time off should be predictable, equitable, and operationally sustainable across teams.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10204338" cy="424876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Eligibility and accrual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Full-time employees accrue 20 paid vacation days per year on a monthly pro-rata basis; part-time employees accrue proportional entitlement based on scheduled hours.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Unused vacation may be carried over up to five days into the next calendar year, except where local law requires higher carryover or payout treatment.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 and approval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should be submitted at least two weeks in advance, and managers approve based on business coverage, fairness across team members, and critical delivery windows.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are expected to use vacation each year to support wellbeing, reduce burnout risk, and sustain long-term performance and retention outcomes.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98433" y="5992978"/>
            <a:ext cx="10204338" cy="18288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Draft HR policy aligned to common U.S. corporate practice (illustrative).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Sick Leave and Family Care Policy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need clear leave options for personal health and urgent caregiving responsibilities.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10204338" cy="424876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leave scope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receive up to 10 paid sick days annually for personal illness, preventive care, and medical appointments, with additional unpaid statutory protections where applicable.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five days may be used for immediate family caregiving, including child, spouse, domestic partner, or dependent parent needs, subject to documentation for extended absences.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 and documentation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should notify their manager as soon as practicable on the first day of absence and provide expected return timing to support business continuity planning.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certification may be requested for absences of three consecutive days or more, and all health information is handled as confidential HR data.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98433" y="5992978"/>
            <a:ext cx="10204338" cy="18288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Draft HR policy aligned to common U.S. leave standards (illustrative).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Holidays and Shutdown Policy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Holiday provisions balance employee wellbeing with predictable client and operational coverage.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10204338" cy="424876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holidays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firm observes ten company-paid public holidays each year, published annually, with eligible employees receiving regular pay for scheduled holiday closures.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in client-critical or operational roles may be scheduled on holidays based on business need and receive compensatory time or premium pay under policy rules.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Year-end shutdown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limited year-end office slowdown period may be designated to support collective rest, reduce low-value operating costs, and align cross-functional availability.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leadership can adapt holiday calendars for jurisdiction-specific requirements while maintaining equivalent total paid time-off value and transparent communication.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98433" y="5992978"/>
            <a:ext cx="10204338" cy="18288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Draft HR policy and holiday governance framework (illustrative).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and Remote Work Policy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work is enabled where role needs, client commitments, and controls are maintained.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10204338" cy="424876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Eligibility model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scheduling is role-based, with most corporate positions expected in office at least three days per week and fully remote exceptions approved through HR and leadership.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Client-facing teams may have stricter onsite expectations during active delivery periods, with managers accountable for setting clear norms before project kickoff.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and compliance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work locations must meet data security, confidentiality, and ergonomic requirements; use of public networks or unauthorized devices for firm data is prohibited.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flexibility does not change output expectations, and performance is assessed on outcomes, responsiveness, quality, and collaboration behaviors rather than location alone.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98433" y="5992978"/>
            <a:ext cx="10204338" cy="18288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Draft flexible work policy and enterprise control requirements (illustrative).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Hours and Attendance Policy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expectations should support collaboration, legal compliance, and sustainable workload management.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10204338" cy="424876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working patterns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full-time schedules are approximately 40 hours per week, with core collaboration hours set by business unit to coordinate meetings and cross-team dependencies.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are expected to arrive on time for commitments, notify managers promptly for delays or absences, and maintain accurate calendars for team planning.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Overtime and recording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Non-exempt employees must record hours worked and obtain advance approval for overtime except in urgent situations, consistent with wage-and-hour obligations.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Managers monitor utilization trends and rebalance assignments when sustained overtime indicates structural capacity gaps, wellbeing risk, or delivery process inefficiency.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98433" y="5992978"/>
            <a:ext cx="10204338" cy="18288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Draft attendance policy with U.S. labor compliance alignment (illustrative).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of Conduct and Ethics Policy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behavior and independence safeguards are mandatory in every client and internal interaction.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10204338" cy="424876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expectations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must act with integrity, objectivity, and professional skepticism, and avoid conflicts of interest that could impair judgment or client trust.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Gifts, hospitality, and third-party relationships must comply with approval thresholds, anti-bribery controls, and independence requirements documented in firm policy.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Speak-up and accountability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must report suspected misconduct, fraud, harassment, or policy breaches through designated channels, and leaders must ensure concerns are escalated quickly.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Retaliation against good-faith reporting is prohibited, and confirmed violations may result in disciplinary action up to and including termination.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98433" y="5992978"/>
            <a:ext cx="10204338" cy="18288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Draft code of conduct and ethics governance framework (illustrative).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Anti-Harassment and EEO Policy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respectful, inclusive workplace is required by policy and reinforced through manager behavior.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10204338" cy="424876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Zero-tolerance standard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Harassment, discrimination, and bullying are prohibited across all protected categories, including conduct in offices, virtual meetings, travel, and client settings.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Employment decisions must be based on qualifications, performance, and business needs, with equal opportunity principles applied consistently across hiring and progression.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and resolution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can report concerns through managers, HR, ethics hotlines, or designated reporting tools, with multiple channels available to reduce reporting barriers.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Investigations are handled promptly and impartially, confidentiality is protected to the extent possible, and corrective action is taken when violations are substantiated.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98433" y="5992978"/>
            <a:ext cx="10204338" cy="18288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Draft anti-harassment and equal opportunity policy baseline (illustrative).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and Development Policy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management aligns individual goals to business outcomes and supports ongoing growth.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10204338" cy="424876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setting and reviews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and managers set measurable annual goals linked to team priorities, with mid-year and year-end reviews used to assess outcomes and behaviors.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should be continuous and evidence-based, combining project outcomes, collaboration quality, and leadership expectations relevant to each role level.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and support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employee maintains an annual development plan that includes technical capability, leadership behaviors, and learning activities tied to career progression.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performance gaps are sustained, managers implement structured improvement plans with clear milestones, coaching support, and documented follow-through.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98433" y="5992978"/>
            <a:ext cx="10204338" cy="18288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Draft performance framework and capability development standards (illustrative).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Compensation and Benefits Policy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and benefits practices should be transparent, competitive, and compliant with policy controls.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10204338" cy="424876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Compensation governance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pay is determined using role scope, market benchmarks, geography, and performance, with annual review cycles and controlled off-cycle adjustment processes.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compensation, where applicable, is tied to firm, team, and individual performance metrics and governed by documented eligibility and approval criteria.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administration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can enroll in health, retirement, and wellbeing plans during onboarding and annual open enrollment, with qualifying life events enabling limited mid-year changes.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provides plan guidance and required notices, while employees remain responsible for timely enrollment choices and dependent eligibility documentation.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98433" y="5992978"/>
            <a:ext cx="10204338" cy="18288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Draft compensation and benefits administration standards (illustrative).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Privacy and Acceptable Use Policy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security and privacy controls apply to all systems, data, and communication channels.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10204338" cy="424876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handling requirements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must classify data correctly, limit access to business need, and follow retention and disposal requirements for client, employee, and firm information.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personal email, personal cloud storage, or unapproved AI tools for confidential data is prohibited unless explicitly approved under risk and security controls.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responsibilities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users must maintain strong authentication, including multi-factor access where required, and complete mandatory security and privacy training on schedule.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Suspected phishing, data loss, or security incidents must be reported immediately through the incident channel so containment and notification obligations can be met.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98433" y="5992978"/>
            <a:ext cx="10204338" cy="18288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Draft data privacy, cyber, and acceptable use policy framework (illustrative).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KPMG LLP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KPMG HR Policy Handbook</dc:title>
  <dc:subject>Core U.S. workplace policies for employees and managers</dc:subject>
  <dc:creator>KPMG LLP</dc:creator>
  <cp:lastModifiedBy>KPMG LLP</cp:lastModifiedBy>
  <cp:revision>1</cp:revision>
  <dcterms:created xsi:type="dcterms:W3CDTF">2026-02-25T20:45:21Z</dcterms:created>
  <dcterms:modified xsi:type="dcterms:W3CDTF">2026-02-25T20:45:21Z</dcterms:modified>
</cp:coreProperties>
</file>