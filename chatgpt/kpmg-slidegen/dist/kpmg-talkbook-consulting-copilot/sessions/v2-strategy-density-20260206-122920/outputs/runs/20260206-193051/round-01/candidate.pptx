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U.S. compliance spend growth</c:v>
                  </c:pt>
                  <c:pt idx="1">
                    <c:v>Adjacent segment annual growth</c:v>
                  </c:pt>
                  <c:pt idx="2">
                    <c:v>Segment B conversion rate</c:v>
                  </c:pt>
                  <c:pt idx="3">
                    <c:v>Segment C conversion rate</c:v>
                  </c:pt>
                  <c:pt idx="4">
                    <c:v>Average sales cycle (days)</c:v>
                  </c:pt>
                  <c:pt idx="5">
                    <c:v>Sales cycle after onboarding redesign (target)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</c:v>
                </c:pt>
                <c:pt idx="1">
                  <c:v>17</c:v>
                </c:pt>
                <c:pt idx="2">
                  <c:v>28</c:v>
                </c:pt>
                <c:pt idx="3">
                  <c:v>15.6</c:v>
                </c:pt>
                <c:pt idx="4">
                  <c:v>74</c:v>
                </c:pt>
                <c:pt idx="5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Expansion into compliance mid-market and regulated SMB can add $44-61M ARR over 24 mon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Expansion into compliance mid-market and regulated SMB can add $44-61M ARR over 24 mon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segment growth decelerated from 22% to 11% YoY while CAC payback stretched from 14 to 18 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win-rate is 1.8x Segment C at current positioning and shows 31% lower onboarding fail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bottleneck is onboarding throughput, not demand generation; implementation queue is now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sequence Segment B first, complete onboarding redesign in Q3, then open Segment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 this quarter: approve $6.2M enablement envelope tied to milestone gates.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and pipeline analytics, Jan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growth: 9.4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growth: 9.4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segment annual growth: 17.0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conversion rate: 28.0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 conversion rate: 15.6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And Capacity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FY26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coverage (x)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 retention (%)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(months)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(%)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cycle time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and operations baseline model v5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Enterprise retention remains 118% with low logo churn and stable gross margin 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Time-to-value averages 61 days, 2.2x peer benchmark, driven by integration hando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Mid-market compliance vertical is growing 17% annually with low incumbent dep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Competitors bundle implementation services at discounted rates to compress sales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3154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implication: win the next phase through onboarding speed and implementation cert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Tradeoff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5120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expansion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325880"/>
            <a:ext cx="5120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expansion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512064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ARR upside but elevated execution risk and diluted focus.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risk but insufficient growth against board plan.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scores: Option A 72, Option B 84, Option C 63.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89320" y="1691640"/>
            <a:ext cx="512064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ARR upside with strongest control on payback and delivery risk.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weighting: growth potential (35), execution risk (30), payback speed (20), strategic fit (15).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 model v5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 And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pilot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SLA &lt; 55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launch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&gt;= 24%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C readiness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&lt;= 15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C launch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NRR &gt;= 117% and queue &lt; 2 weeks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implementation draft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segment playbook and deploy dedicated implementation 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43784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53512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onboarding workflow and automate top 5 integration 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1768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1496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1496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Segment B and run weekly conversion/cycle-time governance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59752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post-launch stabilization and uplift playbook.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17736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464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8-9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27464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Segment C readiness against gate thresholds.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PMO sprint plan</a:t>
            </a:r>
            <a:endParaRPr lang="en-US" sz="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queue overload could delay booked ARR realization by one quarter.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mix drift may compress gross margin if discounting discipline weakens.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staffing gaps could increase delivery failure rate above tolerance.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queue threshold triggers with contingency staffing pool.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pricing guardrails and executive discount approvals.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weekly delivery QA and integration defect triage cadence.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risk register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growth strategy refresh</dc:title>
  <dc:subject>PptxGenJS Presentation</dc:subject>
  <dc:creator>PptxGenJS</dc:creator>
  <cp:lastModifiedBy>PptxGenJS</cp:lastModifiedBy>
  <cp:revision>1</cp:revision>
  <dcterms:created xsi:type="dcterms:W3CDTF">2026-02-06T19:30:51Z</dcterms:created>
  <dcterms:modified xsi:type="dcterms:W3CDTF">2026-02-06T19:30:51Z</dcterms:modified>
</cp:coreProperties>
</file>