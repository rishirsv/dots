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E49E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49E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3E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3E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49E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73E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A3E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U.S. compliance spend growth</c:v>
                  </c:pt>
                  <c:pt idx="1">
                    <c:v>Adjacent segment annual growth</c:v>
                  </c:pt>
                  <c:pt idx="2">
                    <c:v>Segment B conversion rate</c:v>
                  </c:pt>
                  <c:pt idx="3">
                    <c:v>Segment C conversion rate</c:v>
                  </c:pt>
                  <c:pt idx="4">
                    <c:v>Average sales cycle (days)</c:v>
                  </c:pt>
                  <c:pt idx="5">
                    <c:v>Sales cycle after onboarding redesign (target)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9.4</c:v>
                </c:pt>
                <c:pt idx="1">
                  <c:v>17</c:v>
                </c:pt>
                <c:pt idx="2">
                  <c:v>28</c:v>
                </c:pt>
                <c:pt idx="3">
                  <c:v>15.6</c:v>
                </c:pt>
                <c:pt idx="4">
                  <c:v>74</c:v>
                </c:pt>
                <c:pt idx="5">
                  <c:v>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-1.png"/><Relationship Id="rId3" Type="http://schemas.openxmlformats.org/officeDocument/2006/relationships/image" Target="../media/image-2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Synthesis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Expansion into compliance mid-market and regulated SMB can add $44-61M ARR over 24 mon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0424160" cy="4709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Expansion into compliance mid-market and regulated SMB can add $44-61M ARR over 24 mon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segment growth decelerated from 22% to 11% YoY while CAC payback stretched from 14 to 18 m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B win-rate is 1.8x Segment C at current positioning and shows 31% lower onboarding fail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bottleneck is onboarding throughput, not demand generation; implementation queue is now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sequence Segment B first, complete onboarding redesign in Q3, then open Segment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required this quarter: approve $6.2M enablement envelope tied to milestone gates.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CRM and pipeline analytics, Jan 2026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And Conversion Signals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compliance spend growth: 9.4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compliance spend growth: 9.4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 segment annual growth: 17.0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B conversion rate: 28.0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C conversion rate: 15.6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89320" y="178308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 panel 2025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 And Capacity Baseline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TTM Jun-24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FY26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coverage (x)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revenue retention (%)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 payback (months)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margin (%)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76.1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Onboarding cycle time (days)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and operations baseline model v5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 Assessment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600200"/>
            <a:ext cx="5212080" cy="18745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83080"/>
            <a:ext cx="484632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Strength: Enterprise retention remains 118% with low logo churn and stable gross margin mi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63640" y="1600200"/>
            <a:ext cx="5212080" cy="18745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1783080"/>
            <a:ext cx="484632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Weakness: Time-to-value averages 61 days, 2.2x peer benchmark, driven by integration hando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4160520"/>
            <a:ext cx="5212080" cy="18745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343400"/>
            <a:ext cx="484632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Opportunity: Mid-market compliance vertical is growing 17% annually with low incumbent dep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4160520"/>
            <a:ext cx="5212080" cy="18745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4343400"/>
            <a:ext cx="484632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Threat: Competitors bundle implementation services at discounted rates to compress sales 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3611880"/>
            <a:ext cx="3154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implication: win the next phase through onboarding speed and implementation cert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onboarding ops data</a:t>
            </a:r>
            <a:endParaRPr lang="en-US" sz="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Tradeoff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51206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 expansion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89320" y="1325880"/>
            <a:ext cx="51206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expansion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ARR upside but elevated execution risk and diluted focus.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risk but insufficient growth against board plan.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scores: Option A 72, Option B 84, Option C 63.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8932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ARR upside with strongest control on payback and delivery risk.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 weighting: growth potential (35), execution risk (30), payback speed (20), strategic fit (15).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strategy model v5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Gates And Milestones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 gate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threshold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 B pilot readiness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Onboarding SLA &lt; 55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 B launch gate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Conversion &gt;= 24%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 C readiness gate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 payback &lt;= 15 months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 C launch decision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NRR &gt;= 117% and queue &lt; 2 weeks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implementation draft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2011680"/>
            <a:ext cx="1975104" cy="2651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2176272"/>
            <a:ext cx="1746504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0-2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95528" y="2651760"/>
            <a:ext cx="1746504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 segment playbook and deploy dedicated implementation po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43784" y="2011680"/>
            <a:ext cx="1975104" cy="2651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53512" y="2176272"/>
            <a:ext cx="1746504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2-4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53512" y="2651760"/>
            <a:ext cx="1746504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redesign onboarding workflow and automate top 5 integration hand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01768" y="2011680"/>
            <a:ext cx="1975104" cy="2651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11496" y="2176272"/>
            <a:ext cx="1746504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4-6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11496" y="2651760"/>
            <a:ext cx="1746504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Segment B and run weekly conversion/cycle-time governance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59752" y="2011680"/>
            <a:ext cx="1975104" cy="2651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69480" y="2176272"/>
            <a:ext cx="1746504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6-8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69480" y="2651760"/>
            <a:ext cx="1746504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post-launch stabilization and uplift playbook.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317736" y="2011680"/>
            <a:ext cx="1975104" cy="2651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27464" y="2176272"/>
            <a:ext cx="1746504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8-9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427464" y="2651760"/>
            <a:ext cx="1746504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Segment C readiness against gate thresholds.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PMO sprint plan</a:t>
            </a:r>
            <a:endParaRPr lang="en-US" sz="8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Risks And Mitigations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queue overload could delay booked ARR realization by one quarter.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mix drift may compress gross margin if discounting discipline weakens.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staffing gaps could increase delivery failure rate above tolerance.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8932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queue threshold triggers with contingency staffing pool.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pricing guardrails and executive discount approvals.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weekly delivery QA and integration defect triage cadence.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risk register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B2B SaaS growth strategy refresh</dc:title>
  <dc:subject>PptxGenJS Presentation</dc:subject>
  <dc:creator>PptxGenJS</dc:creator>
  <cp:lastModifiedBy>PptxGenJS</cp:lastModifiedBy>
  <cp:revision>1</cp:revision>
  <dcterms:created xsi:type="dcterms:W3CDTF">2026-02-06T19:29:57Z</dcterms:created>
  <dcterms:modified xsi:type="dcterms:W3CDTF">2026-02-06T19:29:57Z</dcterms:modified>
</cp:coreProperties>
</file>