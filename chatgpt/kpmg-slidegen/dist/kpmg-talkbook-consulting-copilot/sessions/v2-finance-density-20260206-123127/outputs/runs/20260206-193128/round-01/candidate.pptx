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1E49E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49E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73E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A3E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49E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73E6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Settlement services run-rate impact</c:v>
                  </c:pt>
                  <c:pt idx="1">
                    <c:v>Open positions normalization impact</c:v>
                  </c:pt>
                  <c:pt idx="2">
                    <c:v>Software maintenance run-rate impact</c:v>
                  </c:pt>
                  <c:pt idx="3">
                    <c:v>Data center facility costs impact</c:v>
                  </c:pt>
                  <c:pt idx="4">
                    <c:v>Net pro forma impact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-45</c:v>
                </c:pt>
                <c:pt idx="1">
                  <c:v>-224</c:v>
                </c:pt>
                <c:pt idx="2">
                  <c:v>-596</c:v>
                </c:pt>
                <c:pt idx="3">
                  <c:v>-48</c:v>
                </c:pt>
                <c:pt idx="4">
                  <c:v>-880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1E49E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49E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73E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A3E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49E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73E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0A3E0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Revenue growth contribution</c:v>
                  </c:pt>
                  <c:pt idx="1">
                    <c:v>Pass-through recovery contribution</c:v>
                  </c:pt>
                  <c:pt idx="2">
                    <c:v>Pricing/mix contribution</c:v>
                  </c:pt>
                  <c:pt idx="3">
                    <c:v>Productivity contribution</c:v>
                  </c:pt>
                  <c:pt idx="4">
                    <c:v>Inflation and support drag</c:v>
                  </c:pt>
                  <c:pt idx="5">
                    <c:v>Net margin movement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2.8</c:v>
                </c:pt>
                <c:pt idx="1">
                  <c:v>1.1</c:v>
                </c:pt>
                <c:pt idx="2">
                  <c:v>0.9</c:v>
                </c:pt>
                <c:pt idx="3">
                  <c:v>1</c:v>
                </c:pt>
                <c:pt idx="4">
                  <c:v>-0.6</c:v>
                </c:pt>
                <c:pt idx="5">
                  <c:v>5.2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4-1.png"/><Relationship Id="rId3" Type="http://schemas.openxmlformats.org/officeDocument/2006/relationships/image" Target="../media/image-4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7-1.png"/><Relationship Id="rId3" Type="http://schemas.openxmlformats.org/officeDocument/2006/relationships/image" Target="../media/image-7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Financials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0292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508760"/>
          <a:ext cx="5486400" cy="429768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  <a:gridCol w="1097280"/>
                <a:gridCol w="1097280"/>
              </a:tblGrid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TTM Jun-24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40498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50299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62355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68554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Gross profit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32799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39596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49004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52961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EBITDA, reported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11661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13948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19766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22269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EBITDA margin, reported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28.8%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27.7%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31.7%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32.5%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financial statements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P&amp;L Walkthrough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0292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508760"/>
          <a:ext cx="5486400" cy="429768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</a:tblGrid>
              <a:tr h="61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 item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TTM Jun-24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50299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62355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68554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Variable expense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-10703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-13351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-15593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Gross profit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39596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49004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52961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Compensation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-15131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-16943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-17132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Operating profit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16752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EBITDA, reported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13948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19766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22269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P&amp;L package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Of Earnings Overview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0292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508760"/>
          <a:ext cx="5486400" cy="429768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</a:tblGrid>
              <a:tr h="716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Adjustment bridge ($000)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TTM Jun-24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EBITDA, reported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13948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19766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22269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Due diligence adjustments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 forma adjustments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EBITDA, pro forma adjusted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16641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22021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EBITDA margin, pro forma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28.7%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31.2%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QoE adjustment summary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Forma Adjustment Drivers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Settlement services run-rate impact: -45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508760"/>
            <a:ext cx="512064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Settlement services run-rate impact: -45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positions normalization impact: -224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maintenance run-rate impact: -596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center facility costs impact: -48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989320" y="1783080"/>
          <a:ext cx="54864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Adjustment detail workbook</a:t>
            </a:r>
            <a:endParaRPr lang="en-US" sz="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Working Capital Overview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0292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508760"/>
          <a:ext cx="5486400" cy="429768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  <a:gridCol w="1097280"/>
                <a:gridCol w="1097280"/>
              </a:tblGrid>
              <a:tr h="716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working capital ($000)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TTM Jun-24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working capital, reported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Due diligence adjustments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 forma adjustments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working capital, adjusted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Adjusted NWC as % of net sales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NWC working paper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Capital Risks And Mitigations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12064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 timing normalization could increase quarter-end cash pressure.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 run-rate assumptions may reverse temporary cash benefit.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Settlement receivable volatility can obscure true liquidity profile.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89320" y="1508760"/>
            <a:ext cx="512064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aging review for top 20 receivable balances.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calendar governance aligned to vendor criticality.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Liquidity trigger thresholds tied to DSO and conversion trends.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Treasury and controllership review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Bridge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growth contribution: 2.8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508760"/>
            <a:ext cx="512064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growth contribution: 2.8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Pass-through recovery contribution: 1.1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Pricing/mix contribution: 0.9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 contribution: 1.0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989320" y="1783080"/>
          <a:ext cx="54864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bridge workbook</a:t>
            </a:r>
            <a:endParaRPr lang="en-US" sz="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Appendix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54480"/>
            <a:ext cx="10424160" cy="4709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pack includes: internal financial statements, management P&amp;L package, QoE adjustment workbook.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Reconciliations include: reported-to-adjusted EBITDA bridge, NWC normalization bridge, margin bridge support.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Assumptions include: staffing run-rate normalization, software contract run-rate, payment timing normalization.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appendix index</a:t>
            </a:r>
            <a:endParaRPr lang="en-US" sz="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Transaction services profitability normalization</dc:title>
  <dc:subject>PptxGenJS Presentation</dc:subject>
  <dc:creator>PptxGenJS</dc:creator>
  <cp:lastModifiedBy>PptxGenJS</cp:lastModifiedBy>
  <cp:revision>1</cp:revision>
  <dcterms:created xsi:type="dcterms:W3CDTF">2026-02-06T19:31:28Z</dcterms:created>
  <dcterms:modified xsi:type="dcterms:W3CDTF">2026-02-06T19:31:28Z</dcterms:modified>
</cp:coreProperties>
</file>