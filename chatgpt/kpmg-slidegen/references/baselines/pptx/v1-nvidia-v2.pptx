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9.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0.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5.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6.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7.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8.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9.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0.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2.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3.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24.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25.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Quarterly Revenue ($B)</c:v>
                </c:pt>
              </c:strCache>
            </c:strRef>
          </c:tx>
          <c:spPr>
            <a:solidFill>
              <a:srgbClr val="1E49E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dPt>
            <c:idx val="4"/>
            <c:invertIfNegative val="0"/>
            <c:bubble3D val="0"/>
            <c:spPr>
              <a:solidFill>
                <a:srgbClr val="FD349C"/>
              </a:solidFill>
              <a:effectLst/>
            </c:spPr>
          </c:dPt>
          <c:dPt>
            <c:idx val="5"/>
            <c:invertIfNegative val="0"/>
            <c:bubble3D val="0"/>
            <c:spPr>
              <a:solidFill>
                <a:srgbClr val="0C233C"/>
              </a:solidFill>
              <a:effectLst/>
            </c:spPr>
          </c:dPt>
          <c:dPt>
            <c:idx val="6"/>
            <c:invertIfNegative val="0"/>
            <c:bubble3D val="0"/>
            <c:spPr>
              <a:solidFill>
                <a:srgbClr val="00338D"/>
              </a:solidFill>
              <a:effectLst/>
            </c:spPr>
          </c:dPt>
          <c:dPt>
            <c:idx val="7"/>
            <c:invertIfNegative val="0"/>
            <c:bubble3D val="0"/>
            <c:spPr>
              <a:solidFill>
                <a:srgbClr val="1E49E2"/>
              </a:solidFill>
              <a:effectLst/>
            </c:spPr>
          </c:dPt>
          <c:dPt>
            <c:idx val="8"/>
            <c:invertIfNegative val="0"/>
            <c:bubble3D val="0"/>
            <c:spPr>
              <a:solidFill>
                <a:srgbClr val="00B8F5"/>
              </a:solidFill>
              <a:effectLst/>
            </c:spPr>
          </c:dPt>
          <c:dPt>
            <c:idx val="9"/>
            <c:invertIfNegative val="0"/>
            <c:bubble3D val="0"/>
            <c:spPr>
              <a:solidFill>
                <a:srgbClr val="7213EA"/>
              </a:solidFill>
              <a:effectLst/>
            </c:spPr>
          </c:dPt>
          <c:dPt>
            <c:idx val="10"/>
            <c:invertIfNegative val="0"/>
            <c:bubble3D val="0"/>
            <c:spPr>
              <a:solidFill>
                <a:srgbClr val="FD349C"/>
              </a:solidFill>
              <a:effectLst/>
            </c:spPr>
          </c:dPt>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dPt>
            <c:idx val="4"/>
            <c:invertIfNegative val="0"/>
            <c:bubble3D val="0"/>
            <c:spPr>
              <a:solidFill>
                <a:srgbClr val="FD349C"/>
              </a:solidFill>
              <a:effectLst/>
            </c:spPr>
          </c:dPt>
          <c:dPt>
            <c:idx val="5"/>
            <c:invertIfNegative val="0"/>
            <c:bubble3D val="0"/>
            <c:spPr>
              <a:solidFill>
                <a:srgbClr val="0C233C"/>
              </a:solidFill>
              <a:effectLst/>
            </c:spPr>
          </c:dPt>
          <c:dPt>
            <c:idx val="6"/>
            <c:invertIfNegative val="0"/>
            <c:bubble3D val="0"/>
            <c:spPr>
              <a:solidFill>
                <a:srgbClr val="00338D"/>
              </a:solidFill>
              <a:effectLst/>
            </c:spPr>
          </c:dPt>
          <c:dPt>
            <c:idx val="7"/>
            <c:invertIfNegative val="0"/>
            <c:bubble3D val="0"/>
            <c:spPr>
              <a:solidFill>
                <a:srgbClr val="1E49E2"/>
              </a:solidFill>
              <a:effectLst/>
            </c:spPr>
          </c:dPt>
          <c:dPt>
            <c:idx val="8"/>
            <c:invertIfNegative val="0"/>
            <c:bubble3D val="0"/>
            <c:spPr>
              <a:solidFill>
                <a:srgbClr val="00B8F5"/>
              </a:solidFill>
              <a:effectLst/>
            </c:spPr>
          </c:dPt>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dPt>
            <c:idx val="4"/>
            <c:invertIfNegative val="0"/>
            <c:bubble3D val="0"/>
            <c:spPr>
              <a:solidFill>
                <a:srgbClr val="FD349C"/>
              </a:solidFill>
              <a:effectLst/>
            </c:spPr>
          </c:dPt>
          <c:dPt>
            <c:idx val="5"/>
            <c:invertIfNegative val="0"/>
            <c:bubble3D val="0"/>
            <c:spPr>
              <a:solidFill>
                <a:srgbClr val="0C233C"/>
              </a:solidFill>
              <a:effectLst/>
            </c:spPr>
          </c:dPt>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dPt>
            <c:idx val="4"/>
            <c:invertIfNegative val="0"/>
            <c:bubble3D val="0"/>
            <c:spPr>
              <a:solidFill>
                <a:srgbClr val="FD349C"/>
              </a:solidFill>
              <a:effectLst/>
            </c:spPr>
          </c:dPt>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8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800" b="0" i="0" u="none" strike="noStrike">
                      <a:solidFill>
                        <a:srgbClr val="000000"/>
                      </a:solidFill>
                      <a:latin typeface="Arial"/>
                    </a:defRPr>
                  </a:pPr>
                </a:p>
              </c:txPr>
              <c:showLegendKey val="0"/>
              <c:showVal val="0"/>
              <c:showCatName val="0"/>
              <c:showSerName val="0"/>
              <c:showPercent val="1"/>
              <c:showBubbleSize val="0"/>
            </c:dLbl>
            <c:dLbl>
              <c:idx val="3"/>
              <c:numFmt formatCode="0%" sourceLinked="0"/>
              <c:spPr/>
              <c:txPr>
                <a:bodyPr/>
                <a:lstStyle/>
                <a:p>
                  <a:pPr>
                    <a:defRPr sz="8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Trend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c:v>
                </c:pt>
                <c:pt idx="1">
                  <c:v>18</c:v>
                </c:pt>
                <c:pt idx="2">
                  <c:v>16</c:v>
                </c:pt>
                <c:pt idx="3">
                  <c:v>22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8F9FA"/>
        </a:solidFill>
        <a:ln w="6350" cap="flat">
          <a:solidFill>
            <a:srgbClr val="E5E7EB"/>
          </a:solidFill>
        </a:ln>
        <a:effectLst/>
      </c:spPr>
    </c:plotArea>
    <c:legend>
      <c:legendPos val="b"/>
      <c:overlay val="0"/>
      <c:txPr>
        <a:bodyPr/>
        <a:lstStyle/>
        <a:p>
          <a:pPr>
            <a:defRPr sz="7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8476" y="976053"/>
            <a:ext cx="7061786" cy="49053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normAutofit/>
          </a:bodyPr>
          <a:lstStyle/>
          <a:p>
            <a:pPr algn="l" indent="0" marL="0">
              <a:buNone/>
            </a:pPr>
            <a:r>
              <a:rPr lang="en-US" sz="6600" b="1" dirty="0">
                <a:solidFill>
                  <a:srgbClr val="FFFFFF"/>
                </a:solidFill>
                <a:latin typeface="KPMG Bold" pitchFamily="34" charset="0"/>
                <a:ea typeface="KPMG Bold" pitchFamily="34" charset="-122"/>
                <a:cs typeface="KPMG Bold" pitchFamily="34" charset="-120"/>
              </a:rPr>
              <a:t>Financial Due</a:t>
            </a:r>
            <a:endParaRPr lang="en-US" sz="6600" dirty="0"/>
          </a:p>
          <a:p>
            <a:pPr algn="l" indent="0" marL="0">
              <a:buNone/>
            </a:pPr>
            <a:r>
              <a:rPr lang="en-US" sz="6600" b="1" dirty="0">
                <a:solidFill>
                  <a:srgbClr val="FFFFFF"/>
                </a:solidFill>
                <a:latin typeface="KPMG Bold" pitchFamily="34" charset="0"/>
                <a:ea typeface="KPMG Bold" pitchFamily="34" charset="-122"/>
                <a:cs typeface="KPMG Bold" pitchFamily="34" charset="-120"/>
              </a:rPr>
              <a:t>Diligence</a:t>
            </a:r>
            <a:endParaRPr lang="en-US" sz="6600" dirty="0"/>
          </a:p>
          <a:p>
            <a:pPr algn="l" indent="0" marL="0">
              <a:buNone/>
            </a:pPr>
            <a:r>
              <a:rPr lang="en-US" sz="6600" b="1" dirty="0">
                <a:solidFill>
                  <a:srgbClr val="FFFFFF"/>
                </a:solidFill>
                <a:latin typeface="KPMG Bold" pitchFamily="34" charset="0"/>
                <a:ea typeface="KPMG Bold" pitchFamily="34" charset="-122"/>
                <a:cs typeface="KPMG Bold" pitchFamily="34" charset="-120"/>
              </a:rPr>
              <a:t>Kickoff Brief</a:t>
            </a:r>
            <a:endParaRPr lang="en-US" sz="6600" dirty="0"/>
          </a:p>
        </p:txBody>
      </p:sp>
      <p:sp>
        <p:nvSpPr>
          <p:cNvPr id="4" name="Text 1"/>
          <p:cNvSpPr/>
          <p:nvPr/>
        </p:nvSpPr>
        <p:spPr>
          <a:xfrm>
            <a:off x="998433" y="5005883"/>
            <a:ext cx="3697834" cy="809976"/>
          </a:xfrm>
          <a:prstGeom prst="rect">
            <a:avLst/>
          </a:prstGeom>
          <a:noFill/>
          <a:ln/>
        </p:spPr>
        <p:txBody>
          <a:bodyPr wrap="square" lIns="0" tIns="0" rIns="0" bIns="0" rtlCol="0" anchor="t">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a:t>
            </a:r>
            <a:endParaRPr lang="en-US" sz="1400" dirty="0"/>
          </a:p>
          <a:p>
            <a:pPr algn="l" indent="0" marL="0">
              <a:buNone/>
            </a:pPr>
            <a:r>
              <a:rPr lang="en-US" sz="1400" dirty="0">
                <a:solidFill>
                  <a:srgbClr val="FFFFFF"/>
                </a:solidFill>
                <a:latin typeface="Arial" pitchFamily="34" charset="0"/>
                <a:ea typeface="Arial" pitchFamily="34" charset="-122"/>
                <a:cs typeface="Arial" pitchFamily="34" charset="-120"/>
              </a:rPr>
              <a:t>January 2026</a:t>
            </a:r>
            <a:endParaRPr lang="en-US" sz="1400" dirty="0"/>
          </a:p>
        </p:txBody>
      </p:sp>
      <p:pic>
        <p:nvPicPr>
          <p:cNvPr id="5" name="Image 1" descr="preencoded.png">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rtlCol="0" anchor="t">
            <a:normAutofit/>
          </a:bodyPr>
          <a:lstStyle/>
          <a:p>
            <a:pPr algn="l" indent="0" marL="0">
              <a:buNone/>
            </a:pPr>
            <a:r>
              <a:rPr lang="en-US" sz="7200" b="1" dirty="0">
                <a:solidFill>
                  <a:srgbClr val="FFFFFF"/>
                </a:solidFill>
                <a:latin typeface="Arial" pitchFamily="34" charset="0"/>
                <a:ea typeface="Arial" pitchFamily="34" charset="-122"/>
                <a:cs typeface="Arial" pitchFamily="34" charset="-120"/>
              </a:rPr>
              <a:t>01</a:t>
            </a:r>
            <a:endParaRPr lang="en-US" sz="7200" dirty="0"/>
          </a:p>
        </p:txBody>
      </p:sp>
      <p:sp>
        <p:nvSpPr>
          <p:cNvPr id="3" name="Text 1"/>
          <p:cNvSpPr/>
          <p:nvPr/>
        </p:nvSpPr>
        <p:spPr>
          <a:xfrm>
            <a:off x="1289861" y="2180877"/>
            <a:ext cx="6321425" cy="696782"/>
          </a:xfrm>
          <a:prstGeom prst="rect">
            <a:avLst/>
          </a:prstGeom>
          <a:noFill/>
          <a:ln/>
        </p:spPr>
        <p:txBody>
          <a:bodyPr wrap="square" rtlCol="0" anchor="t">
            <a:normAutofit/>
          </a:bodyPr>
          <a:lstStyle/>
          <a:p>
            <a:pPr algn="l" indent="0" marL="0">
              <a:buNone/>
            </a:pPr>
            <a:r>
              <a:rPr lang="en-US" sz="2800" b="1" dirty="0">
                <a:solidFill>
                  <a:srgbClr val="00338D"/>
                </a:solidFill>
                <a:latin typeface="KPMG Bold" pitchFamily="34" charset="0"/>
                <a:ea typeface="KPMG Bold" pitchFamily="34" charset="-122"/>
                <a:cs typeface="KPMG Bold" pitchFamily="34" charset="-120"/>
              </a:rPr>
              <a:t>Executive</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Summary</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Key findings, transaction context, and diligence focus areas</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Financial Snapshot</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NVIDIA FY2025 results reflect historic growth driven by Data Center AI demand; margin compression emerging in 9M FY2026</a:t>
            </a:r>
            <a:endParaRPr lang="en-US" sz="1000" dirty="0"/>
          </a:p>
        </p:txBody>
      </p:sp>
      <p:sp>
        <p:nvSpPr>
          <p:cNvPr id="4" name="Shape 2"/>
          <p:cNvSpPr/>
          <p:nvPr/>
        </p:nvSpPr>
        <p:spPr>
          <a:xfrm>
            <a:off x="998433" y="1737360"/>
            <a:ext cx="2194560" cy="1005840"/>
          </a:xfrm>
          <a:prstGeom prst="roundRect">
            <a:avLst>
              <a:gd name="adj" fmla="val 5455"/>
            </a:avLst>
          </a:prstGeom>
          <a:solidFill>
            <a:srgbClr val="00338D"/>
          </a:solidFill>
          <a:ln/>
        </p:spPr>
      </p:sp>
      <p:sp>
        <p:nvSpPr>
          <p:cNvPr id="5" name="Text 3"/>
          <p:cNvSpPr/>
          <p:nvPr/>
        </p:nvSpPr>
        <p:spPr>
          <a:xfrm>
            <a:off x="1044153" y="178308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$130.5B</a:t>
            </a:r>
            <a:endParaRPr lang="en-US" sz="1800" dirty="0"/>
          </a:p>
        </p:txBody>
      </p:sp>
      <p:sp>
        <p:nvSpPr>
          <p:cNvPr id="6" name="Text 4"/>
          <p:cNvSpPr/>
          <p:nvPr/>
        </p:nvSpPr>
        <p:spPr>
          <a:xfrm>
            <a:off x="1044153" y="226039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FY2025 Revenue</a:t>
            </a:r>
            <a:endParaRPr lang="en-US" sz="700" dirty="0"/>
          </a:p>
        </p:txBody>
      </p:sp>
      <p:sp>
        <p:nvSpPr>
          <p:cNvPr id="7" name="Text 5"/>
          <p:cNvSpPr/>
          <p:nvPr/>
        </p:nvSpPr>
        <p:spPr>
          <a:xfrm>
            <a:off x="1044153" y="247162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+114% YoY</a:t>
            </a:r>
            <a:endParaRPr lang="en-US" sz="600" dirty="0"/>
          </a:p>
        </p:txBody>
      </p:sp>
      <p:sp>
        <p:nvSpPr>
          <p:cNvPr id="8" name="Shape 6"/>
          <p:cNvSpPr/>
          <p:nvPr/>
        </p:nvSpPr>
        <p:spPr>
          <a:xfrm>
            <a:off x="3337560" y="1737360"/>
            <a:ext cx="2194560" cy="1005840"/>
          </a:xfrm>
          <a:prstGeom prst="roundRect">
            <a:avLst>
              <a:gd name="adj" fmla="val 5455"/>
            </a:avLst>
          </a:prstGeom>
          <a:solidFill>
            <a:srgbClr val="1E49E2"/>
          </a:solidFill>
          <a:ln/>
        </p:spPr>
      </p:sp>
      <p:sp>
        <p:nvSpPr>
          <p:cNvPr id="9" name="Text 7"/>
          <p:cNvSpPr/>
          <p:nvPr/>
        </p:nvSpPr>
        <p:spPr>
          <a:xfrm>
            <a:off x="3383280" y="178308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75.0%</a:t>
            </a:r>
            <a:endParaRPr lang="en-US" sz="1800" dirty="0"/>
          </a:p>
        </p:txBody>
      </p:sp>
      <p:sp>
        <p:nvSpPr>
          <p:cNvPr id="10" name="Text 8"/>
          <p:cNvSpPr/>
          <p:nvPr/>
        </p:nvSpPr>
        <p:spPr>
          <a:xfrm>
            <a:off x="3383280" y="226039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Gross Margin (Peak)</a:t>
            </a:r>
            <a:endParaRPr lang="en-US" sz="700" dirty="0"/>
          </a:p>
        </p:txBody>
      </p:sp>
      <p:sp>
        <p:nvSpPr>
          <p:cNvPr id="11" name="Text 9"/>
          <p:cNvSpPr/>
          <p:nvPr/>
        </p:nvSpPr>
        <p:spPr>
          <a:xfrm>
            <a:off x="3383280" y="247162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 to 69.3% in 9M FY2026</a:t>
            </a:r>
            <a:endParaRPr lang="en-US" sz="600" dirty="0"/>
          </a:p>
        </p:txBody>
      </p:sp>
      <p:sp>
        <p:nvSpPr>
          <p:cNvPr id="12" name="Shape 10"/>
          <p:cNvSpPr/>
          <p:nvPr/>
        </p:nvSpPr>
        <p:spPr>
          <a:xfrm>
            <a:off x="5669280" y="1737360"/>
            <a:ext cx="2194560" cy="1005840"/>
          </a:xfrm>
          <a:prstGeom prst="roundRect">
            <a:avLst>
              <a:gd name="adj" fmla="val 5455"/>
            </a:avLst>
          </a:prstGeom>
          <a:solidFill>
            <a:srgbClr val="7213EA"/>
          </a:solidFill>
          <a:ln/>
        </p:spPr>
      </p:sp>
      <p:sp>
        <p:nvSpPr>
          <p:cNvPr id="13" name="Text 11"/>
          <p:cNvSpPr/>
          <p:nvPr/>
        </p:nvSpPr>
        <p:spPr>
          <a:xfrm>
            <a:off x="5715000" y="178308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$64.1B</a:t>
            </a:r>
            <a:endParaRPr lang="en-US" sz="1800" dirty="0"/>
          </a:p>
        </p:txBody>
      </p:sp>
      <p:sp>
        <p:nvSpPr>
          <p:cNvPr id="14" name="Text 12"/>
          <p:cNvSpPr/>
          <p:nvPr/>
        </p:nvSpPr>
        <p:spPr>
          <a:xfrm>
            <a:off x="5715000" y="226039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Operating Cash Flow</a:t>
            </a:r>
            <a:endParaRPr lang="en-US" sz="700" dirty="0"/>
          </a:p>
        </p:txBody>
      </p:sp>
      <p:sp>
        <p:nvSpPr>
          <p:cNvPr id="15" name="Text 13"/>
          <p:cNvSpPr/>
          <p:nvPr/>
        </p:nvSpPr>
        <p:spPr>
          <a:xfrm>
            <a:off x="5715000" y="247162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+128% YoY</a:t>
            </a:r>
            <a:endParaRPr lang="en-US" sz="600" dirty="0"/>
          </a:p>
        </p:txBody>
      </p:sp>
      <p:sp>
        <p:nvSpPr>
          <p:cNvPr id="16" name="Shape 14"/>
          <p:cNvSpPr/>
          <p:nvPr/>
        </p:nvSpPr>
        <p:spPr>
          <a:xfrm>
            <a:off x="8001000" y="1737360"/>
            <a:ext cx="2194560" cy="1005840"/>
          </a:xfrm>
          <a:prstGeom prst="roundRect">
            <a:avLst>
              <a:gd name="adj" fmla="val 5455"/>
            </a:avLst>
          </a:prstGeom>
          <a:solidFill>
            <a:srgbClr val="00B8F5"/>
          </a:solidFill>
          <a:ln/>
        </p:spPr>
      </p:sp>
      <p:sp>
        <p:nvSpPr>
          <p:cNvPr id="17" name="Text 15"/>
          <p:cNvSpPr/>
          <p:nvPr/>
        </p:nvSpPr>
        <p:spPr>
          <a:xfrm>
            <a:off x="8046720" y="178308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61%</a:t>
            </a:r>
            <a:endParaRPr lang="en-US" sz="1800" dirty="0"/>
          </a:p>
        </p:txBody>
      </p:sp>
      <p:sp>
        <p:nvSpPr>
          <p:cNvPr id="18" name="Text 16"/>
          <p:cNvSpPr/>
          <p:nvPr/>
        </p:nvSpPr>
        <p:spPr>
          <a:xfrm>
            <a:off x="8046720" y="226039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Top-4 Cust. Conc.</a:t>
            </a:r>
            <a:endParaRPr lang="en-US" sz="700" dirty="0"/>
          </a:p>
        </p:txBody>
      </p:sp>
      <p:sp>
        <p:nvSpPr>
          <p:cNvPr id="19" name="Text 17"/>
          <p:cNvSpPr/>
          <p:nvPr/>
        </p:nvSpPr>
        <p:spPr>
          <a:xfrm>
            <a:off x="8046720" y="247162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Q3 FY2026</a:t>
            </a:r>
            <a:endParaRPr lang="en-US" sz="600" dirty="0"/>
          </a:p>
        </p:txBody>
      </p:sp>
      <p:graphicFrame>
        <p:nvGraphicFramePr>
          <p:cNvPr id="20" name="Chart 0" descr=""/>
          <p:cNvGraphicFramePr/>
          <p:nvPr/>
        </p:nvGraphicFramePr>
        <p:xfrm>
          <a:off x="998433" y="3017520"/>
          <a:ext cx="10204338" cy="3291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Key Headlines</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Revenue Explosion: NVIDIA more than doubled its revenue in FY2025, generating $130.5B compared to $60.9B in the prior year. The first nine months of FY2026 have already reached $147.8B, placing the company on a run-rate approaching $200B.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Margin Compression: Gross margins peaked at 75.0% in FY2025 but have since compressed to 69.3%, driven by unfavorable shifts in product mix, elevated inventory provisions, and rising input costs across packaging and memory.</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Customer Concentration: Four direct customers each accounted for more than 10% of quarterly revenue in Q3 FY2026, creating meaningful counterparty exposure tied to the hyperscaler capital expenditure cycle.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Inventory Build: Inventory nearly doubled from $10.1B to $19.8B over just nine months, as the company stages components ahead of the Blackwell platform transition and commits to long-lead supply agreements.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Aggressive Capital Return: The company repurchased $34.0B of shares in FY2025 and a further $36.7B in the first nine months of FY2026, signaling management’s confidence in the durability of free cash flow generation.</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10-K filings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Company &amp; Transaction Overview</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Business Model: NVIDIA designs silicon architectures and full-stack software platforms while relying on TSMC for wafer fabrication, external partners for assembly and test, and SK hynix as its primary supplier of high-bandwidth memory.</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company reports through two operating segments: Compute &amp; Networking, which generated $116.2B in FY2025, and Graphics, which contributed $14.3B.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Market Position: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Supply Chain: The company faces structural supply constraints in TSMC’s CoWoS advanced packaging and in high-bandwidth memory allocation, both of which limit near-term production capacity.</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TSMC is expanding CoWoS output to approximately 75,000 wafers per month in 2025, roughly doubling 2024 levels, though customer demand continues to outpace available supply.</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FY2025 10-K ($130.5B total)</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Valuation Context — Peer Comparison</a:t>
            </a:r>
            <a:endParaRPr lang="en-US" sz="2400" dirty="0"/>
          </a:p>
        </p:txBody>
      </p:sp>
      <p:sp>
        <p:nvSpPr>
          <p:cNvPr id="3" name="Text 1"/>
          <p:cNvSpPr/>
          <p:nvPr/>
        </p:nvSpPr>
        <p:spPr>
          <a:xfrm>
            <a:off x="995361" y="1179513"/>
            <a:ext cx="10195200" cy="48240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5361" y="1751584"/>
          <a:ext cx="3690499" cy="4122000"/>
        </p:xfrm>
        <a:graphic>
          <a:graphicData uri="http://schemas.openxmlformats.org/drawingml/2006/table">
            <a:tbl>
              <a:tblPr/>
              <a:tblGrid>
                <a:gridCol w="615083"/>
                <a:gridCol w="615083"/>
                <a:gridCol w="615083"/>
                <a:gridCol w="615083"/>
                <a:gridCol w="615083"/>
                <a:gridCol w="615083"/>
              </a:tblGrid>
              <a:tr h="45800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Metric</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NVIDIA</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AMD</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Broadcom</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Marvell</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Peer Median</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Market Cap ($B)</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3,420</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202</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1,040</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98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202</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EV / Revenue (NTM)</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17.2x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8.4x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15.6x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12.8x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12.8x</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EV / EBITDA (NTM)</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24.8x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23.1x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25.4x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32.6x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25.4x</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P/E (NTM)</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30.5x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25.2x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30.8x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42.1x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30.8x</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PEG Ratio</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0.7x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1.2x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1.5x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2.1x</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1.5x</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Revenue Growth (NTM)</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+48%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+17%</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+24%</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+24%</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Gross Margin (LTM)</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69.3%</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49.0%</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63.2%</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46.8%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49.0%</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ROIC</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115%</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12%</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12%</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Implied Enterprise Value — Sensitivity Analysis</a:t>
            </a:r>
            <a:endParaRPr lang="en-US" sz="2400" dirty="0"/>
          </a:p>
        </p:txBody>
      </p:sp>
      <p:sp>
        <p:nvSpPr>
          <p:cNvPr id="3" name="Text 1"/>
          <p:cNvSpPr/>
          <p:nvPr/>
        </p:nvSpPr>
        <p:spPr>
          <a:xfrm>
            <a:off x="995361" y="1179513"/>
            <a:ext cx="10195200" cy="48240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751584"/>
          <a:ext cx="3690499" cy="4122000"/>
        </p:xfrm>
        <a:graphic>
          <a:graphicData uri="http://schemas.openxmlformats.org/drawingml/2006/table">
            <a:tbl>
              <a:tblPr/>
              <a:tblGrid>
                <a:gridCol w="615083"/>
                <a:gridCol w="615083"/>
                <a:gridCol w="615083"/>
                <a:gridCol w="615083"/>
                <a:gridCol w="615083"/>
                <a:gridCol w="615083"/>
              </a:tblGrid>
              <a:tr h="82440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 EBITDA \ Multiple</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20x</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24x</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28x</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32x</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36x</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r>
              <a:tr h="8244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Bear ($70B)</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$1,400B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$1,680B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$1,960B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$2,240B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$2,520B</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8244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Base ($86B)</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$1,720B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$2,064B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$2,408B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$2,752B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$3,096B</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8244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Bull ($100B)</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$2,000B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$2,400B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$2,800B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$3,200B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$3,600B</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8244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Upside ($120B)</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$2,400B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$2,880B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$3,360B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$3,840B</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$4,320B</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rtlCol="0" anchor="t">
            <a:normAutofit/>
          </a:bodyPr>
          <a:lstStyle/>
          <a:p>
            <a:pPr algn="l" indent="0" marL="0">
              <a:buNone/>
            </a:pPr>
            <a:r>
              <a:rPr lang="en-US" sz="7200" b="1" dirty="0">
                <a:solidFill>
                  <a:srgbClr val="FFFFFF"/>
                </a:solidFill>
                <a:latin typeface="Arial" pitchFamily="34" charset="0"/>
                <a:ea typeface="Arial" pitchFamily="34" charset="-122"/>
                <a:cs typeface="Arial" pitchFamily="34" charset="-120"/>
              </a:rPr>
              <a:t>02</a:t>
            </a:r>
            <a:endParaRPr lang="en-US" sz="7200" dirty="0"/>
          </a:p>
        </p:txBody>
      </p:sp>
      <p:sp>
        <p:nvSpPr>
          <p:cNvPr id="3" name="Text 1"/>
          <p:cNvSpPr/>
          <p:nvPr/>
        </p:nvSpPr>
        <p:spPr>
          <a:xfrm>
            <a:off x="1289861" y="2180877"/>
            <a:ext cx="6321425" cy="696782"/>
          </a:xfrm>
          <a:prstGeom prst="rect">
            <a:avLst/>
          </a:prstGeom>
          <a:noFill/>
          <a:ln/>
        </p:spPr>
        <p:txBody>
          <a:bodyPr wrap="square" rtlCol="0" anchor="t">
            <a:normAutofit/>
          </a:bodyPr>
          <a:lstStyle/>
          <a:p>
            <a:pPr algn="l" indent="0" marL="0">
              <a:buNone/>
            </a:pPr>
            <a:r>
              <a:rPr lang="en-US" sz="2800" b="1" dirty="0">
                <a:solidFill>
                  <a:srgbClr val="00338D"/>
                </a:solidFill>
                <a:latin typeface="KPMG Bold" pitchFamily="34" charset="0"/>
                <a:ea typeface="KPMG Bold" pitchFamily="34" charset="-122"/>
                <a:cs typeface="KPMG Bold" pitchFamily="34" charset="-120"/>
              </a:rPr>
              <a:t>Financial</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Overview</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Multi-period financial summary, revenue composition, and margin analysis</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Financial Summary</a:t>
            </a:r>
            <a:endParaRPr lang="en-US" sz="2400" dirty="0"/>
          </a:p>
        </p:txBody>
      </p:sp>
      <p:sp>
        <p:nvSpPr>
          <p:cNvPr id="3" name="Text 1"/>
          <p:cNvSpPr/>
          <p:nvPr/>
        </p:nvSpPr>
        <p:spPr>
          <a:xfrm>
            <a:off x="995361" y="1179513"/>
            <a:ext cx="10195200" cy="48240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751584"/>
          <a:ext cx="3690499" cy="4122000"/>
        </p:xfrm>
        <a:graphic>
          <a:graphicData uri="http://schemas.openxmlformats.org/drawingml/2006/table">
            <a:tbl>
              <a:tblPr/>
              <a:tblGrid>
                <a:gridCol w="738100"/>
                <a:gridCol w="738100"/>
                <a:gridCol w="738100"/>
                <a:gridCol w="738100"/>
                <a:gridCol w="738100"/>
              </a:tblGrid>
              <a:tr h="41220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 in billions</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FY2023</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r>
              <a:tr h="4122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Revenue</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27.0</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60.9</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130.5</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147.8</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122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Gross profit</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44.3</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97.9</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102.4</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122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Gross margin %</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72.7%</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75.0%</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69.3%</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122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Operating income</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4.2</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33.0</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81.5</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92.6</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122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Operating margin %</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15.6%</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54.2%</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62.5%</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62.7%</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122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Net income</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4.4</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29.8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72.9</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77.1</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122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Operating cash flow</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5.6</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28.1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64.1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n/a</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122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Share repurchases</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34.0</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36.7</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122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Inventory (period-end)</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n/a</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19.8</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Revenue by End Market</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FY2025 Revenue Composition ($130.5B)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Data Center segment generated $115.2B in FY2025, representing 88.3% of total revenue. Within Data Center, Compute contributed $102.2B and Networking added $13.0B.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Gaming contributed $11.35B (8.7%), Professional Visualization accounted for $1.88B (1.4%), Automotive generated $1.69B (1.3%), and OEM &amp; Other represented the remaining $0.39B (0.3%).</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Nine Months FY2026 ($147.8B, annualizing to ~$197B)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10-K filings; KPMG analysis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Data Center Revenue Decomposition</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Data Center compute revenue grew from approximately $34.4B in FY2024 to $102.2B in FY2025, a 197% increase driven primarily by H100 and B100 platform adoption across hyperscaler and enterprise customers.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Networking revenue reached $20.4B in the first nine months of FY2026 alone, implying a run-rate of approximately $27B. This acceleration reflects the growing importance of high-speed interconnect as customers deploy larger, multi-rack GPU clusters.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Quarterly Revenue Trajectory</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NVIDIA reported Q3 FY2026 revenue of $55.5B, compared to $18.1B in the year-ago quarter, representing a 206% increase. Sequential growth of 11% suggests the trajectory is beginning to mature as the installed base scales.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FY2025 quarterly progression from $26.0B to $30.0B to $35.1B to $39.3B illustrates a 51% ramp across the fiscal year, with each successive quarter setting a new record for any semiconductor company.</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nine-month FY2026 run-rate implies approximately $197B in annualized revenue. Sustaining this trajectory will require continued capital expenditure commitments from the major hyperscalers, which represent the dominant share of Data Center demand.</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quarterly filings; fiscal year ends January</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Hyperscaler Capital Expenditure Overlay</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rtlCol="0" anchor="t">
            <a:normAutofit/>
          </a:bodyPr>
          <a:lstStyle/>
          <a:p>
            <a:pPr algn="l" indent="0" marL="0">
              <a:buNone/>
            </a:pPr>
            <a:r>
              <a:rPr lang="en-US" sz="7200" b="1" dirty="0">
                <a:solidFill>
                  <a:srgbClr val="FFFFFF"/>
                </a:solidFill>
                <a:latin typeface="Arial" pitchFamily="34" charset="0"/>
                <a:ea typeface="Arial" pitchFamily="34" charset="-122"/>
                <a:cs typeface="Arial" pitchFamily="34" charset="-120"/>
              </a:rPr>
              <a:t>03</a:t>
            </a:r>
            <a:endParaRPr lang="en-US" sz="7200" dirty="0"/>
          </a:p>
        </p:txBody>
      </p:sp>
      <p:sp>
        <p:nvSpPr>
          <p:cNvPr id="3" name="Text 1"/>
          <p:cNvSpPr/>
          <p:nvPr/>
        </p:nvSpPr>
        <p:spPr>
          <a:xfrm>
            <a:off x="1289861" y="2180877"/>
            <a:ext cx="6321425" cy="696782"/>
          </a:xfrm>
          <a:prstGeom prst="rect">
            <a:avLst/>
          </a:prstGeom>
          <a:noFill/>
          <a:ln/>
        </p:spPr>
        <p:txBody>
          <a:bodyPr wrap="square" rtlCol="0" anchor="t">
            <a:normAutofit/>
          </a:bodyPr>
          <a:lstStyle/>
          <a:p>
            <a:pPr algn="l" indent="0" marL="0">
              <a:buNone/>
            </a:pPr>
            <a:r>
              <a:rPr lang="en-US" sz="2800" b="1" dirty="0">
                <a:solidFill>
                  <a:srgbClr val="00338D"/>
                </a:solidFill>
                <a:latin typeface="KPMG Bold" pitchFamily="34" charset="0"/>
                <a:ea typeface="KPMG Bold" pitchFamily="34" charset="-122"/>
                <a:cs typeface="KPMG Bold" pitchFamily="34" charset="-120"/>
              </a:rPr>
              <a:t>Quality of</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Earnings</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Margin sustainability, normalization items, and earnings quality assessment</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Gross Margin Bridge &amp; Sustainability</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Margin Drivers: The FY2025 gross margin peak reflected a favorable Data Center revenue mix, premium pricing on supply-constrained GPU platforms, and minimal inventory provision charges during a period of acute demand.</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Current Year Compression: The product mix is shifting toward higher-complexity systems and full-rack configurations, which carry a meaningfully higher bill of materials and compress unit margins relative to discrete GPU boards.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Inventory provisions have increased as the company manages platform transitions from Hopper to Blackwell, while rising costs for HBM memory and CoWoS advanced packaging place additional pressure on input economics.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Peer Benchmark: AMD reported a GAAP gross margin of 49% in FY2024 (53% on a non-GAAP basis). While NVIDIA’s current margin regime is exceptional by industry standards, some degree of convergence toward peer levels should be expected as competitive dynamics evolve.</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Quality of Earnings — Candidate Adjustments</a:t>
            </a:r>
            <a:endParaRPr lang="en-US" sz="2400" dirty="0"/>
          </a:p>
        </p:txBody>
      </p:sp>
      <p:sp>
        <p:nvSpPr>
          <p:cNvPr id="3" name="Text 1"/>
          <p:cNvSpPr/>
          <p:nvPr/>
        </p:nvSpPr>
        <p:spPr>
          <a:xfrm>
            <a:off x="995361" y="1179513"/>
            <a:ext cx="10195200" cy="48240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995361" y="1751584"/>
          <a:ext cx="3690499" cy="4122000"/>
        </p:xfrm>
        <a:graphic>
          <a:graphicData uri="http://schemas.openxmlformats.org/drawingml/2006/table">
            <a:tbl>
              <a:tblPr/>
              <a:tblGrid>
                <a:gridCol w="615083"/>
                <a:gridCol w="615083"/>
                <a:gridCol w="615083"/>
                <a:gridCol w="615083"/>
                <a:gridCol w="615083"/>
                <a:gridCol w="615083"/>
              </a:tblGrid>
              <a:tr h="34350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SBC — equity awards (RSU/PSU)</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2.8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3.7</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4.1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Add-back</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High</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SBC — ESPP &amp; other programs</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0.5</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0.7</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0.7</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Add-back</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High</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Inventory provisions — obsolescence</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0.6</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0.7</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1.6</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Normalize</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High</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Inventory provisions — purchase commits</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0.3</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0.4</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Normalize</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High</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Gains/losses on equity investments</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(0.2)</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(0.4)</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(0.3)</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Remove</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Medium</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Gains/losses on debt securities</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(0.2)</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Remove</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Medium</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Acquisition amortization (intangibles)</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Add-back</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Medium</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Acquisition integration &amp; deal costs</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Add-back</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Medium</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Restructuring / severance</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Add-back</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Low</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Lease exit &amp; impairment charges</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Add-back</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Low</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3435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FX remeasurement gains/losses</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(0.1)</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Remove</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Low</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Quality of Earnings — Candidate Adjustments (cont.)</a:t>
            </a:r>
            <a:endParaRPr lang="en-US" sz="2400" dirty="0"/>
          </a:p>
        </p:txBody>
      </p:sp>
      <p:sp>
        <p:nvSpPr>
          <p:cNvPr id="3" name="Text 1"/>
          <p:cNvSpPr/>
          <p:nvPr/>
        </p:nvSpPr>
        <p:spPr>
          <a:xfrm>
            <a:off x="995361" y="1179513"/>
            <a:ext cx="10195200" cy="48240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95361" y="1751584"/>
          <a:ext cx="3690499" cy="4122000"/>
        </p:xfrm>
        <a:graphic>
          <a:graphicData uri="http://schemas.openxmlformats.org/drawingml/2006/table">
            <a:tbl>
              <a:tblPr/>
              <a:tblGrid>
                <a:gridCol w="615083"/>
                <a:gridCol w="615083"/>
                <a:gridCol w="615083"/>
                <a:gridCol w="615083"/>
                <a:gridCol w="615083"/>
                <a:gridCol w="615083"/>
              </a:tblGrid>
              <a:tr h="137400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r>
              <a:tr h="1374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Indicative adj. to EBITDA</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~4.0</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~5.2</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~6.9</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1374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Memo: Adj. EBITDA margin</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58.8%</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65.7%</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64.2%</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bl>
          </a:graphicData>
        </a:graphic>
      </p:graphicFrame>
      <p:sp>
        <p:nvSpPr>
          <p:cNvPr id="5" name="Text 2"/>
          <p:cNvSpPr/>
          <p:nvPr/>
        </p:nvSpPr>
        <p:spPr>
          <a:xfrm>
            <a:off x="995361" y="6010744"/>
            <a:ext cx="3690499" cy="822960"/>
          </a:xfrm>
          <a:prstGeom prst="rect">
            <a:avLst/>
          </a:prstGeom>
          <a:noFill/>
          <a:ln/>
        </p:spPr>
        <p:txBody>
          <a:bodyPr wrap="square" rtlCol="0" anchor="t"/>
          <a:lstStyle/>
          <a:p>
            <a:pPr indent="0" marL="0">
              <a:buNone/>
            </a:pPr>
            <a:r>
              <a:rPr lang="en-US" sz="8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Quality of Earnings — Adjustment Narratives (1/2)</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1000" dirty="0"/>
          </a:p>
        </p:txBody>
      </p:sp>
      <p:sp>
        <p:nvSpPr>
          <p:cNvPr id="4" name="Text 2"/>
          <p:cNvSpPr/>
          <p:nvPr/>
        </p:nvSpPr>
        <p:spPr>
          <a:xfrm>
            <a:off x="998433" y="1691640"/>
            <a:ext cx="10204338" cy="489204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Stock-Based Compensation ($3.3B → $4.8B)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Inventory Provisions, Net ($0.9B → $2.4B)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Gains and Losses on Strategic Investments ($0.3B → $0.6B)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Quality of Earnings — Adjustment Narratives (2/2)</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Additional normalization items and their combined implications for sustainable earnings power</a:t>
            </a:r>
            <a:endParaRPr lang="en-US" sz="1000" dirty="0"/>
          </a:p>
        </p:txBody>
      </p:sp>
      <p:sp>
        <p:nvSpPr>
          <p:cNvPr id="4" name="Text 2"/>
          <p:cNvSpPr/>
          <p:nvPr/>
        </p:nvSpPr>
        <p:spPr>
          <a:xfrm>
            <a:off x="998433" y="1691640"/>
            <a:ext cx="10204338" cy="489204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Acquisition-Related Costs ($0.1B → $0.2B)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Restructuring and Other One-Time Items ($0.0B → $0.1B)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Net Adjusted Impact — Summary</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FY2025 Adjusted EBITDA Bridge</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The bridge begins with reported FY2025 net income of $72.9B and adds back $4.6B of income tax expense, $0.3B of net interest expense, and $2.8B of depreciation and amortization to arrive at reported EBITDA of approximately $80.6B.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Operating Expense Scalability</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Research and development expense increased from $8.7B in FY2024 to $12.9B in FY2025 and reached $13.3B in the first nine months of FY2026, driven primarily by headcount-related compensation and investment in compute infrastructure for internal AI workloads.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10-K/10-Q; KPMG analysis</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FY2025 Income Statement Build</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NVIDIA converted $130.5B of FY2025 revenue into $97.9B of gross profit at a 75.0% margin, $81.5B of operating income at a 62.5% margin, and $72.9B of net income at a 55.9% conversion rate — a profitability profile that is extraordinary by any industry standard.</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Below the operating line, the company benefits from approximately $3.4B in interest income on its substantial cash and investment balances, as well as a structurally low effective tax rate enabled by intellectual property domiciling.</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From a sensitivity perspective, each 100 basis points of gross margin movement equates to roughly $1.3B of EBITDA impact at current revenue levels. Volume leverage, rather than pricing or cost control, is the primary driver of earnings quality.</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FY2025 10-K; KPMG analysis</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rtlCol="0" anchor="t">
            <a:normAutofit/>
          </a:bodyPr>
          <a:lstStyle/>
          <a:p>
            <a:pPr algn="l" indent="0" marL="0">
              <a:buNone/>
            </a:pPr>
            <a:r>
              <a:rPr lang="en-US" sz="7200" b="1" dirty="0">
                <a:solidFill>
                  <a:srgbClr val="FFFFFF"/>
                </a:solidFill>
                <a:latin typeface="Arial" pitchFamily="34" charset="0"/>
                <a:ea typeface="Arial" pitchFamily="34" charset="-122"/>
                <a:cs typeface="Arial" pitchFamily="34" charset="-120"/>
              </a:rPr>
              <a:t>04</a:t>
            </a:r>
            <a:endParaRPr lang="en-US" sz="7200" dirty="0"/>
          </a:p>
        </p:txBody>
      </p:sp>
      <p:sp>
        <p:nvSpPr>
          <p:cNvPr id="3" name="Text 1"/>
          <p:cNvSpPr/>
          <p:nvPr/>
        </p:nvSpPr>
        <p:spPr>
          <a:xfrm>
            <a:off x="1289861" y="2180877"/>
            <a:ext cx="6321425" cy="696782"/>
          </a:xfrm>
          <a:prstGeom prst="rect">
            <a:avLst/>
          </a:prstGeom>
          <a:noFill/>
          <a:ln/>
        </p:spPr>
        <p:txBody>
          <a:bodyPr wrap="square" rtlCol="0" anchor="t">
            <a:normAutofit/>
          </a:bodyPr>
          <a:lstStyle/>
          <a:p>
            <a:pPr algn="l" indent="0" marL="0">
              <a:buNone/>
            </a:pPr>
            <a:r>
              <a:rPr lang="en-US" sz="2800" b="1" dirty="0">
                <a:solidFill>
                  <a:srgbClr val="00338D"/>
                </a:solidFill>
                <a:latin typeface="KPMG Bold" pitchFamily="34" charset="0"/>
                <a:ea typeface="KPMG Bold" pitchFamily="34" charset="-122"/>
                <a:cs typeface="KPMG Bold" pitchFamily="34" charset="-120"/>
              </a:rPr>
              <a:t>Working Capital</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&amp; Cash Flow</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Inventory dynamics, cash conversion, and capital allocation</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Inventory Position &amp; Supply Chain Risk</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Inventory Build Drivers: The Blackwell platform ramp requires NVIDIA to stage components months ahead of customer shipment, resulting in a significant increase in work-in-progress and raw material balances.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Long lead times on CoWoS advanced packaging and HBM memory offtake agreements force the company to make forward purchase commitments well in advance of revenue recognition.</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As NVIDIA shifts toward selling integrated systems and full-rack configurations, the average bill of materials per unit has increased, mechanically driving higher inventory levels across all stages of production.</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Reserve Quality Questions: Inventory provision charges have historically been lumpy and are sensitive to the timing of platform transitions. Diligence should test the reserve methodology, trigger thresholds, and accuracy of prior-period estimates.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Off-balance-sheet purchase obligations with TSMC and memory suppliers may represent material commitments that are not fully visible in the reported inventory balance.</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balance sheet; SEC filings</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Cash Generation &amp; Capital Allocation</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cash flow statement; SEC filings</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Customer Concentration Analysis</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Concentration Profile: In Q3 FY2026, NVIDIA’s four largest direct customers represented 22%, 15%, 13%, and 11% of quarterly revenue respectively, with the top two customers alone accounting for more than one-third of total sales.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On a nine-month basis, two direct customers individually exceeded the 10% disclosure threshold, representing 21% and 13% of revenue.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Diligence Implications: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Even modest changes in commercial terms, payment timing, or order volumes with these top counterparties can move quarterly cash flows by billions of dollars.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Substitution Risk: Several of NVIDIA’s largest end customers are actively developing proprietary accelerator alternatives, including Google’s TPU, Amazon’s Trainium, and Microsoft’s Maia, all of which could reduce long-term dependence on NVIDIA hardware.</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Net Working Capital Composition</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Inventory reached $19.8B, nearly doubling from $10.1B over the same period. The buildup is driven by component staging for the Blackwell transition and forward capacity hedging on constrained packaging and memory inputs.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balance sheet; SEC filings</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Working Capital Efficiency — DSO / DIO / DPO</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rtlCol="0" anchor="t">
            <a:normAutofit/>
          </a:bodyPr>
          <a:lstStyle/>
          <a:p>
            <a:pPr algn="l" indent="0" marL="0">
              <a:buNone/>
            </a:pPr>
            <a:r>
              <a:rPr lang="en-US" sz="7200" b="1" dirty="0">
                <a:solidFill>
                  <a:srgbClr val="FFFFFF"/>
                </a:solidFill>
                <a:latin typeface="Arial" pitchFamily="34" charset="0"/>
                <a:ea typeface="Arial" pitchFamily="34" charset="-122"/>
                <a:cs typeface="Arial" pitchFamily="34" charset="-120"/>
              </a:rPr>
              <a:t>05</a:t>
            </a:r>
            <a:endParaRPr lang="en-US" sz="7200" dirty="0"/>
          </a:p>
        </p:txBody>
      </p:sp>
      <p:sp>
        <p:nvSpPr>
          <p:cNvPr id="3" name="Text 1"/>
          <p:cNvSpPr/>
          <p:nvPr/>
        </p:nvSpPr>
        <p:spPr>
          <a:xfrm>
            <a:off x="1289861" y="2180877"/>
            <a:ext cx="6321425" cy="696782"/>
          </a:xfrm>
          <a:prstGeom prst="rect">
            <a:avLst/>
          </a:prstGeom>
          <a:noFill/>
          <a:ln/>
        </p:spPr>
        <p:txBody>
          <a:bodyPr wrap="square" rtlCol="0" anchor="t">
            <a:normAutofit/>
          </a:bodyPr>
          <a:lstStyle/>
          <a:p>
            <a:pPr algn="l" indent="0" marL="0">
              <a:buNone/>
            </a:pPr>
            <a:r>
              <a:rPr lang="en-US" sz="2800" b="1" dirty="0">
                <a:solidFill>
                  <a:srgbClr val="00338D"/>
                </a:solidFill>
                <a:latin typeface="KPMG Bold" pitchFamily="34" charset="0"/>
                <a:ea typeface="KPMG Bold" pitchFamily="34" charset="-122"/>
                <a:cs typeface="KPMG Bold" pitchFamily="34" charset="-120"/>
              </a:rPr>
              <a:t>Key Risks &amp;</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Diligence Approach</a:t>
            </a:r>
            <a:endParaRPr lang="en-US" sz="2800" dirty="0"/>
          </a:p>
          <a:p>
            <a:pPr algn="l" indent="0" marL="0">
              <a:buNone/>
            </a:pPr>
            <a:r>
              <a:rPr lang="en-US" sz="2800" b="1" dirty="0">
                <a:solidFill>
                  <a:srgbClr val="00338D"/>
                </a:solidFill>
                <a:latin typeface="KPMG Bold" pitchFamily="34" charset="0"/>
                <a:ea typeface="KPMG Bold" pitchFamily="34" charset="-122"/>
                <a:cs typeface="KPMG Bold" pitchFamily="34" charset="-120"/>
              </a:rPr>
              <a:t>Competitive threats, regulatory exposure, and proposed workstreams</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Risk Assessment</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Critical Risks: Gross margin compression represents the most pervasive risk: each 100 basis points of decline equates to approximately $1.3B of annual EBITDA impact at current revenue levels.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Customer concentration creates significant counterparty exposure, with the single largest customer relationship representing approximately $29B of annualized revenue at risk.</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$19.8B inventory balance carries meaningful obsolescence exposure during platform transitions, particularly if Blackwell adoption timelines shift or demand softens.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U.S. export controls have already constrained revenue from China and could tighten further, potentially limiting the addressable market for high-performance accelerator products.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Structural Advantages: These risks are partially mitigated by NVIDIA’s deep ecosystem advantages, including more than six years of CUDA developer lock-in, incremental operating margins exceeding 80%, and FY2025 operating cash flow generation of $64.1B.</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U.S. Export Controls — China Revenue Impact</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Regulatory Timeline: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Revenue Impact: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KPMG estimates the cumulative annual revenue impact of current export controls at $8–12B, based on the company’s prior China market share and the growth trajectory of the Chinese AI infrastructure market.</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Forward Risk: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Competitive Positioning — Margin Comparison (1/3)</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NVIDIA: NVIDIA achieved a 75.0% gross margin in FY2025, compressing to 69.3% in the current year.</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margin profile reflects platform pricing power and favorable mix, though the trend is now moving downward.</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Competitive Positioning — Margin Comparison (2/3)</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AMD (Peer): AMD reported a 49% GAAP gross margin in FY2024 (53% non-GAAP), with the MI300X gaining traction in Data Center.</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margin trend is improving as the higher-margin accelerator mix grows.</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Competitive Positioning — Margin Comparison (3/3)</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Intel (Peer): Intel reported approximately 41% GAAP gross margins in FY2024, reflecting its vertically integrated manufacturing model and different product mix.</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Gaudi accelerator line is gaining some enterprise traction, but margins remain under structural pressure.</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Priority Data Requests</a:t>
            </a:r>
            <a:endParaRPr lang="en-US" sz="2400" dirty="0"/>
          </a:p>
        </p:txBody>
      </p:sp>
      <p:sp>
        <p:nvSpPr>
          <p:cNvPr id="3" name="Text 1"/>
          <p:cNvSpPr/>
          <p:nvPr/>
        </p:nvSpPr>
        <p:spPr>
          <a:xfrm>
            <a:off x="995361" y="1179513"/>
            <a:ext cx="10195200" cy="48240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Confirmatory diligence data requests ranked by impact on valuation and risk assessment</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995361" y="1751584"/>
          <a:ext cx="3690499" cy="4122000"/>
        </p:xfrm>
        <a:graphic>
          <a:graphicData uri="http://schemas.openxmlformats.org/drawingml/2006/table">
            <a:tbl>
              <a:tblPr/>
              <a:tblGrid>
                <a:gridCol w="1230166"/>
                <a:gridCol w="1230166"/>
                <a:gridCol w="1230166"/>
              </a:tblGrid>
              <a:tr h="45800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Data Request</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Rationale</a:t>
                      </a:r>
                      <a:endParaRPr lang="en-US" sz="1000" dirty="0">
                        <a:latin typeface="Arial" charset="0"/>
                        <a:ea typeface="Arial" charset="0"/>
                        <a:cs typeface="Arial" charset="0"/>
                      </a:endParaRPr>
                    </a:p>
                  </a:txBody>
                  <a:tcPr marL="88900" marR="88900" marT="50800" marB="508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00338D"/>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Monthly units by DC platform/SKU and configuration</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Converts revenue to operational reality</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Customer-level revenue and margin bridge for top customers</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Validates concentration risk and pricing</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Supply commitments: foundry, CoWoS, HBM volumes and pricing</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Explains growth ceiling + margin sensitivity</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Inventory roll-forward, reserve methodology and accuracy</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Tests earnings quality and downside protection</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Backlog/bookings, cancellation behavior, lead-times</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Demand visibility and cyclicality assessment</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Medium</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Networking attach data (units per GPU cluster)</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Platform expansion and moat validation</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Medium</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Software/services revenue detail and renewals</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Determines durability of platform economics</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FFFFFF"/>
                    </a:solidFill>
                  </a:tcPr>
                </a:tc>
              </a:tr>
              <a:tr h="458000">
                <a:tc>
                  <a:txBody>
                    <a:bodyPr/>
                    <a:lstStyle/>
                    <a:p>
                      <a:pPr algn="l" indent="0" marL="0">
                        <a:buNone/>
                      </a:pPr>
                      <a:r>
                        <a:rPr lang="en-US" sz="1000" b="1" dirty="0">
                          <a:solidFill>
                            <a:srgbClr val="00338D"/>
                          </a:solidFill>
                          <a:latin typeface="Arial" pitchFamily="34" charset="0"/>
                          <a:ea typeface="Arial" pitchFamily="34" charset="-122"/>
                          <a:cs typeface="Arial" pitchFamily="34" charset="-120"/>
                        </a:rPr>
                        <a:t>Medium</a:t>
                      </a:r>
                      <a:endParaRPr lang="en-US" sz="1000" dirty="0">
                        <a:latin typeface="Arial" charset="0"/>
                        <a:ea typeface="Arial" charset="0"/>
                        <a:cs typeface="Arial" charset="0"/>
                      </a:endParaRPr>
                    </a:p>
                  </a:txBody>
                  <a:tcPr marL="50800" marR="508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l" indent="0" marL="0">
                        <a:buNone/>
                      </a:pPr>
                      <a:r>
                        <a:rPr lang="en-US" sz="1000" dirty="0">
                          <a:solidFill>
                            <a:srgbClr val="000000"/>
                          </a:solidFill>
                          <a:latin typeface="Arial" pitchFamily="34" charset="0"/>
                          <a:ea typeface="Arial" pitchFamily="34" charset="-122"/>
                          <a:cs typeface="Arial" pitchFamily="34" charset="-120"/>
                        </a:rPr>
                        <a:t>Channel inventory, pricing programs, returns/credits</a:t>
                      </a:r>
                      <a:endParaRPr lang="en-US" sz="1000" dirty="0">
                        <a:latin typeface="Arial" charset="0"/>
                        <a:ea typeface="Arial" charset="0"/>
                        <a:cs typeface="Arial" charset="0"/>
                      </a:endParaRPr>
                    </a:p>
                  </a:txBody>
                  <a:tcPr marL="88900" marR="88900" marT="38100" marB="38100" anchor="t">
                    <a:lnL w="0" cap="flat" cmpd="sng" algn="ctr">
                      <a:noFill/>
                    </a:lnL>
                    <a:lnR w="0" cap="flat" cmpd="sng" algn="ctr">
                      <a:noFill/>
                    </a:lnR>
                    <a:lnT w="0" cap="flat" cmpd="sng" algn="ctr">
                      <a:noFill/>
                    </a:lnT>
                    <a:lnB w="0" cap="flat" cmpd="sng" algn="ctr">
                      <a:noFill/>
                    </a:lnB>
                    <a:solidFill>
                      <a:srgbClr val="E5E5E5"/>
                    </a:solidFill>
                  </a:tcPr>
                </a:tc>
                <a:tc>
                  <a:txBody>
                    <a:bodyPr/>
                    <a:lstStyle/>
                    <a:p>
                      <a:pPr algn="r" indent="0" marL="0">
                        <a:buNone/>
                      </a:pPr>
                      <a:r>
                        <a:rPr lang="en-US" sz="1800" dirty="0">
                          <a:solidFill>
                            <a:srgbClr val="00338D"/>
                          </a:solidFill>
                          <a:latin typeface="KPMG Bold" pitchFamily="34" charset="0"/>
                          <a:ea typeface="KPMG Bold" pitchFamily="34" charset="-122"/>
                          <a:cs typeface="KPMG Bold" pitchFamily="34" charset="-120"/>
                        </a:rPr>
                        <a:t>Detects channel stuffing risk</a:t>
                      </a:r>
                      <a:endParaRPr lang="en-US" sz="1800" dirty="0">
                        <a:latin typeface="KPMG Bold" charset="0"/>
                        <a:ea typeface="KPMG Bold" charset="0"/>
                        <a:cs typeface="KPMG Bold" charset="0"/>
                      </a:endParaRPr>
                    </a:p>
                  </a:txBody>
                  <a:tcPr marL="50800" marR="50800" marT="76200" marB="76200" anchor="t">
                    <a:lnL w="0" cap="flat" cmpd="sng" algn="ctr">
                      <a:noFill/>
                    </a:lnL>
                    <a:lnR w="0" cap="flat" cmpd="sng" algn="ctr">
                      <a:noFill/>
                    </a:lnR>
                    <a:lnT w="0" cap="flat" cmpd="sng" algn="ctr">
                      <a:noFill/>
                    </a:lnT>
                    <a:lnB w="0" cap="flat" cmpd="sng" algn="ctr">
                      <a:noFill/>
                    </a:lnB>
                    <a:solidFill>
                      <a:srgbClr val="E5E5E5"/>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Proposed Diligence Workstreams</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Track 1: Revenue Quality (35%)</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This track will build a bottom-up units-by-configuration-by-ASP model, analyze backlog durability, conduct deep-dive analysis on the top customer relationships, and test channel sell-through patterns against reported shipments.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Track 2: Margin &amp; Cost (25%)</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margin workstream will construct a detailed gross margin waterfall, decompose bill of materials costs by platform, analyze operating expense scalability, and normalize for stock-based compensation.</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Track 3: Working Capital (25%)</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This track will examine the inventory build trajectory, test the adequacy of reserve methodologies, age the accounts receivable portfolio, and develop a normalized free cash flow bridge.</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Track 4: Risk &amp; Controls (15%)</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risk workstream will assess the impact of current and potential export controls, evaluate competitive positioning and substitution threats, map supply chain dependencies, and review related-party transactions.</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AI Accelerator Market Sizing</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Industry analysts estimate the AI accelerator total addressable market is growing at a 40–50% compound annual rate through 2027, fueled by the expansion of both training and inference workloads across enterprise, sovereign, and hyperscale customers.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Proposed Diligence Timeline</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Six-week confirmatory FDD engagement aligned to workstream priorities and data availability</a:t>
            </a:r>
            <a:endParaRPr lang="en-US" sz="1000" dirty="0"/>
          </a:p>
        </p:txBody>
      </p:sp>
      <p:sp>
        <p:nvSpPr>
          <p:cNvPr id="4" name="Text 2"/>
          <p:cNvSpPr/>
          <p:nvPr/>
        </p:nvSpPr>
        <p:spPr>
          <a:xfrm>
            <a:off x="995361" y="1408113"/>
            <a:ext cx="10192299" cy="274320"/>
          </a:xfrm>
          <a:prstGeom prst="rect">
            <a:avLst/>
          </a:prstGeom>
          <a:noFill/>
          <a:ln/>
        </p:spPr>
        <p:txBody>
          <a:bodyPr wrap="square" rtlCol="0" anchor="ctr"/>
          <a:lstStyle/>
          <a:p>
            <a:pPr indent="0" marL="0">
              <a:buNone/>
            </a:pPr>
            <a:r>
              <a:rPr lang="en-US" sz="1100" b="1" dirty="0">
                <a:solidFill>
                  <a:srgbClr val="00338D"/>
                </a:solidFill>
                <a:latin typeface="Arial" pitchFamily="34" charset="0"/>
                <a:ea typeface="Arial" pitchFamily="34" charset="-122"/>
                <a:cs typeface="Arial" pitchFamily="34" charset="-120"/>
              </a:rPr>
              <a:t>Weeks 1–2: Kickoff &amp; Data</a:t>
            </a:r>
            <a:endParaRPr lang="en-US" sz="1100" dirty="0"/>
          </a:p>
        </p:txBody>
      </p:sp>
      <p:sp>
        <p:nvSpPr>
          <p:cNvPr id="5" name="Text 3"/>
          <p:cNvSpPr/>
          <p:nvPr/>
        </p:nvSpPr>
        <p:spPr>
          <a:xfrm>
            <a:off x="995361" y="1728153"/>
            <a:ext cx="10192299" cy="-66240"/>
          </a:xfrm>
          <a:prstGeom prst="rect">
            <a:avLst/>
          </a:prstGeom>
          <a:noFill/>
          <a:ln/>
        </p:spPr>
        <p:txBody>
          <a:bodyPr wrap="square" rtlCol="0" anchor="t"/>
          <a:lstStyle/>
          <a:p>
            <a:pPr indent="0" marL="0">
              <a:buNone/>
            </a:pPr>
            <a:r>
              <a:rPr lang="en-US" sz="1000" dirty="0">
                <a:solidFill>
                  <a:srgbClr val="000000"/>
                </a:solidFill>
                <a:latin typeface="Arial" pitchFamily="34" charset="0"/>
                <a:ea typeface="Arial" pitchFamily="34" charset="-122"/>
                <a:cs typeface="Arial" pitchFamily="34" charset="-120"/>
              </a:rPr>
              <a:t>• Execute engagement letter and NDA</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Submit priority data request list</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Conduct management kickoff meeting</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Begin public filing analysis and industry benchmarking</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Set up virtual data room access and review protocols</a:t>
            </a:r>
            <a:endParaRPr lang="en-US" sz="1000" dirty="0"/>
          </a:p>
        </p:txBody>
      </p:sp>
      <p:sp>
        <p:nvSpPr>
          <p:cNvPr id="6" name="Text 4"/>
          <p:cNvSpPr/>
          <p:nvPr/>
        </p:nvSpPr>
        <p:spPr>
          <a:xfrm>
            <a:off x="995361" y="1980184"/>
            <a:ext cx="5036400" cy="274320"/>
          </a:xfrm>
          <a:prstGeom prst="rect">
            <a:avLst/>
          </a:prstGeom>
          <a:noFill/>
          <a:ln/>
        </p:spPr>
        <p:txBody>
          <a:bodyPr wrap="square" rtlCol="0" anchor="ctr"/>
          <a:lstStyle/>
          <a:p>
            <a:pPr indent="0" marL="0">
              <a:buNone/>
            </a:pPr>
            <a:r>
              <a:rPr lang="en-US" sz="1100" b="1" dirty="0">
                <a:solidFill>
                  <a:srgbClr val="00338D"/>
                </a:solidFill>
                <a:latin typeface="Arial" pitchFamily="34" charset="0"/>
                <a:ea typeface="Arial" pitchFamily="34" charset="-122"/>
                <a:cs typeface="Arial" pitchFamily="34" charset="-120"/>
              </a:rPr>
              <a:t>Weeks 3–4: Core Analysis</a:t>
            </a:r>
            <a:endParaRPr lang="en-US" sz="1100" dirty="0"/>
          </a:p>
        </p:txBody>
      </p:sp>
      <p:sp>
        <p:nvSpPr>
          <p:cNvPr id="7" name="Text 5"/>
          <p:cNvSpPr/>
          <p:nvPr/>
        </p:nvSpPr>
        <p:spPr>
          <a:xfrm>
            <a:off x="995361" y="2300224"/>
            <a:ext cx="5036400" cy="-296640"/>
          </a:xfrm>
          <a:prstGeom prst="rect">
            <a:avLst/>
          </a:prstGeom>
          <a:noFill/>
          <a:ln/>
        </p:spPr>
        <p:txBody>
          <a:bodyPr wrap="square" rtlCol="0" anchor="t"/>
          <a:lstStyle/>
          <a:p>
            <a:pPr indent="0" marL="0">
              <a:buNone/>
            </a:pPr>
            <a:r>
              <a:rPr lang="en-US" sz="1000" dirty="0">
                <a:solidFill>
                  <a:srgbClr val="000000"/>
                </a:solidFill>
                <a:latin typeface="Arial" pitchFamily="34" charset="0"/>
                <a:ea typeface="Arial" pitchFamily="34" charset="-122"/>
                <a:cs typeface="Arial" pitchFamily="34" charset="-120"/>
              </a:rPr>
              <a:t>• Build bottom-up revenue model by platform and customer</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Construct gross margin bridge and BOM cost decomposition</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Complete inventory roll-forward and reserve adequacy testing</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Analyze AR aging and cash conversion cycle dynamics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Conduct management interviews on key diligence topics</a:t>
            </a:r>
            <a:endParaRPr lang="en-US" sz="1000" dirty="0"/>
          </a:p>
        </p:txBody>
      </p:sp>
      <p:sp>
        <p:nvSpPr>
          <p:cNvPr id="8" name="Text 6"/>
          <p:cNvSpPr/>
          <p:nvPr/>
        </p:nvSpPr>
        <p:spPr>
          <a:xfrm>
            <a:off x="995361" y="2232185"/>
            <a:ext cx="5036400" cy="274320"/>
          </a:xfrm>
          <a:prstGeom prst="rect">
            <a:avLst/>
          </a:prstGeom>
          <a:noFill/>
          <a:ln/>
        </p:spPr>
        <p:txBody>
          <a:bodyPr wrap="square" rtlCol="0" anchor="ctr"/>
          <a:lstStyle/>
          <a:p>
            <a:pPr indent="0" marL="0">
              <a:buNone/>
            </a:pPr>
            <a:r>
              <a:rPr lang="en-US" sz="1100" b="1" dirty="0">
                <a:solidFill>
                  <a:srgbClr val="00338D"/>
                </a:solidFill>
                <a:latin typeface="Arial" pitchFamily="34" charset="0"/>
                <a:ea typeface="Arial" pitchFamily="34" charset="-122"/>
                <a:cs typeface="Arial" pitchFamily="34" charset="-120"/>
              </a:rPr>
              <a:t>Weeks 5–6: Synthesis</a:t>
            </a:r>
            <a:endParaRPr lang="en-US" sz="1100" dirty="0"/>
          </a:p>
        </p:txBody>
      </p:sp>
      <p:sp>
        <p:nvSpPr>
          <p:cNvPr id="9" name="Text 7"/>
          <p:cNvSpPr/>
          <p:nvPr/>
        </p:nvSpPr>
        <p:spPr>
          <a:xfrm>
            <a:off x="995361" y="2552225"/>
            <a:ext cx="5036400" cy="1215360"/>
          </a:xfrm>
          <a:prstGeom prst="rect">
            <a:avLst/>
          </a:prstGeom>
          <a:noFill/>
          <a:ln/>
        </p:spPr>
        <p:txBody>
          <a:bodyPr wrap="square" rtlCol="0" anchor="t"/>
          <a:lstStyle/>
          <a:p>
            <a:pPr indent="0" marL="0">
              <a:buNone/>
            </a:pPr>
            <a:r>
              <a:rPr lang="en-US" sz="1000" dirty="0">
                <a:solidFill>
                  <a:srgbClr val="000000"/>
                </a:solidFill>
                <a:latin typeface="Arial" pitchFamily="34" charset="0"/>
                <a:ea typeface="Arial" pitchFamily="34" charset="-122"/>
                <a:cs typeface="Arial" pitchFamily="34" charset="-120"/>
              </a:rPr>
              <a:t>• Develop normalized EBITDA and free cash flow bridges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Complete working capital analysis and seasonal adjustments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Finalize export control and regulatory risk assessment</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Prepare preliminary findings presentation for deal team</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Draft comprehensive FDD report with technical appendices</a:t>
            </a:r>
            <a:endParaRPr lang="en-US" sz="1000" dirty="0"/>
          </a:p>
        </p:txBody>
      </p:sp>
      <p:sp>
        <p:nvSpPr>
          <p:cNvPr id="10" name="Text 8"/>
          <p:cNvSpPr/>
          <p:nvPr/>
        </p:nvSpPr>
        <p:spPr>
          <a:xfrm>
            <a:off x="995361" y="4086831"/>
            <a:ext cx="5036400" cy="274320"/>
          </a:xfrm>
          <a:prstGeom prst="rect">
            <a:avLst/>
          </a:prstGeom>
          <a:noFill/>
          <a:ln/>
        </p:spPr>
        <p:txBody>
          <a:bodyPr wrap="square" rtlCol="0" anchor="ctr"/>
          <a:lstStyle/>
          <a:p>
            <a:pPr indent="0" marL="0">
              <a:buNone/>
            </a:pPr>
            <a:r>
              <a:rPr lang="en-US" sz="1100" b="1" dirty="0">
                <a:solidFill>
                  <a:srgbClr val="00338D"/>
                </a:solidFill>
                <a:latin typeface="Arial" pitchFamily="34" charset="0"/>
                <a:ea typeface="Arial" pitchFamily="34" charset="-122"/>
                <a:cs typeface="Arial" pitchFamily="34" charset="-120"/>
              </a:rPr>
              <a:t>Post-Close Support</a:t>
            </a:r>
            <a:endParaRPr lang="en-US" sz="1100" dirty="0"/>
          </a:p>
        </p:txBody>
      </p:sp>
      <p:sp>
        <p:nvSpPr>
          <p:cNvPr id="11" name="Text 9"/>
          <p:cNvSpPr/>
          <p:nvPr/>
        </p:nvSpPr>
        <p:spPr>
          <a:xfrm>
            <a:off x="995361" y="4406871"/>
            <a:ext cx="5036400" cy="-296640"/>
          </a:xfrm>
          <a:prstGeom prst="rect">
            <a:avLst/>
          </a:prstGeom>
          <a:noFill/>
          <a:ln/>
        </p:spPr>
        <p:txBody>
          <a:bodyPr wrap="square" rtlCol="0" anchor="t"/>
          <a:lstStyle/>
          <a:p>
            <a:pPr indent="0" marL="0">
              <a:buNone/>
            </a:pPr>
            <a:r>
              <a:rPr lang="en-US" sz="1000" dirty="0">
                <a:solidFill>
                  <a:srgbClr val="000000"/>
                </a:solidFill>
                <a:latin typeface="Arial" pitchFamily="34" charset="0"/>
                <a:ea typeface="Arial" pitchFamily="34" charset="-122"/>
                <a:cs typeface="Arial" pitchFamily="34" charset="-120"/>
              </a:rPr>
              <a:t>• Support purchase price allocation and valuation</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Assist with integration planning for financial systems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Provide 100-day plan financial monitoring framework</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Ad-hoc support on identified risk mitigation items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 Ongoing advisory on regulatory compliance matters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endParaRPr lang="en-US" sz="900" dirty="0"/>
          </a:p>
        </p:txBody>
      </p:sp>
      <p:sp>
        <p:nvSpPr>
          <p:cNvPr id="3" name="Text 1"/>
          <p:cNvSpPr/>
          <p:nvPr/>
        </p:nvSpPr>
        <p:spPr>
          <a:xfrm>
            <a:off x="914400" y="5760720"/>
            <a:ext cx="365760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kpmg.com</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Appendix — Illustrative Chart (A)</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Synthetic data for demo only</a:t>
            </a:r>
            <a:endParaRPr lang="en-US" sz="1000" dirty="0"/>
          </a:p>
        </p:txBody>
      </p:sp>
      <p:sp>
        <p:nvSpPr>
          <p:cNvPr id="4" name="Text 2"/>
          <p:cNvSpPr/>
          <p:nvPr/>
        </p:nvSpPr>
        <p:spPr>
          <a:xfrm>
            <a:off x="998433" y="1691640"/>
            <a:ext cx="5120640" cy="470916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This chart is illustrative and does not reflect actual results.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Included to expand chart coverage in the migrated deck.</a:t>
            </a:r>
            <a:endParaRPr lang="en-US" sz="12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6080760"/>
            <a:ext cx="4800600"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Demo data</a:t>
            </a:r>
            <a:endParaRPr lang="en-US" sz="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rtlCol="0" anchor="t">
            <a:normAutofit/>
          </a:bodyPr>
          <a:lstStyle/>
          <a:p>
            <a:pPr indent="0" marL="0">
              <a:buNone/>
            </a:pPr>
            <a:r>
              <a:rPr lang="en-US" sz="2400" b="1" dirty="0">
                <a:solidFill>
                  <a:srgbClr val="00338D"/>
                </a:solidFill>
                <a:latin typeface="KPMG Bold" pitchFamily="34" charset="0"/>
                <a:ea typeface="KPMG Bold" pitchFamily="34" charset="-122"/>
                <a:cs typeface="KPMG Bold" pitchFamily="34" charset="-120"/>
              </a:rPr>
              <a:t>Appendix — Illustrative Chart (B)</a:t>
            </a:r>
            <a:endParaRPr lang="en-US" sz="2400" dirty="0"/>
          </a:p>
        </p:txBody>
      </p:sp>
      <p:sp>
        <p:nvSpPr>
          <p:cNvPr id="3" name="Text 1"/>
          <p:cNvSpPr/>
          <p:nvPr/>
        </p:nvSpPr>
        <p:spPr>
          <a:xfrm>
            <a:off x="998433" y="1097280"/>
            <a:ext cx="10204338" cy="320040"/>
          </a:xfrm>
          <a:prstGeom prst="rect">
            <a:avLst/>
          </a:prstGeom>
          <a:noFill/>
          <a:ln/>
        </p:spPr>
        <p:txBody>
          <a:bodyPr wrap="square" rtlCol="0" anchor="t">
            <a:normAutofit/>
          </a:bodyPr>
          <a:lstStyle/>
          <a:p>
            <a:pPr indent="0" marL="0">
              <a:buNone/>
            </a:pPr>
            <a:r>
              <a:rPr lang="en-US" sz="1000" b="1" i="1" dirty="0">
                <a:solidFill>
                  <a:srgbClr val="00338D"/>
                </a:solidFill>
                <a:latin typeface="Arial" pitchFamily="34" charset="0"/>
                <a:ea typeface="Arial" pitchFamily="34" charset="-122"/>
                <a:cs typeface="Arial" pitchFamily="34" charset="-120"/>
              </a:rPr>
              <a:t>Synthetic data for demo only</a:t>
            </a:r>
            <a:endParaRPr lang="en-US" sz="1000" dirty="0"/>
          </a:p>
        </p:txBody>
      </p:sp>
      <p:sp>
        <p:nvSpPr>
          <p:cNvPr id="4" name="Text 2"/>
          <p:cNvSpPr/>
          <p:nvPr/>
        </p:nvSpPr>
        <p:spPr>
          <a:xfrm>
            <a:off x="998433" y="1691640"/>
            <a:ext cx="10204338" cy="1783080"/>
          </a:xfrm>
          <a:prstGeom prst="rect">
            <a:avLst/>
          </a:prstGeom>
          <a:noFill/>
          <a:ln/>
        </p:spPr>
        <p:txBody>
          <a:bodyPr wrap="square" rtlCol="0" anchor="t"/>
          <a:lstStyle/>
          <a:p>
            <a:pPr indent="0" marL="0">
              <a:buNone/>
            </a:pPr>
            <a:r>
              <a:rPr lang="en-US" sz="1200" dirty="0">
                <a:solidFill>
                  <a:srgbClr val="000000"/>
                </a:solidFill>
                <a:latin typeface="Arial" pitchFamily="34" charset="0"/>
                <a:ea typeface="Arial" pitchFamily="34" charset="-122"/>
                <a:cs typeface="Arial" pitchFamily="34" charset="-120"/>
              </a:rPr>
              <a:t>• Line chart example using the V2 chart renderer.</a:t>
            </a:r>
            <a:endParaRPr lang="en-US" sz="1200" dirty="0"/>
          </a:p>
        </p:txBody>
      </p:sp>
      <p:graphicFrame>
        <p:nvGraphicFramePr>
          <p:cNvPr id="5" name="Chart 0" descr=""/>
          <p:cNvGraphicFramePr/>
          <p:nvPr/>
        </p:nvGraphicFramePr>
        <p:xfrm>
          <a:off x="998433" y="3794760"/>
          <a:ext cx="10204338"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6355080"/>
            <a:ext cx="10204338" cy="182880"/>
          </a:xfrm>
          <a:prstGeom prst="rect">
            <a:avLst/>
          </a:prstGeom>
          <a:noFill/>
          <a:ln/>
        </p:spPr>
        <p:txBody>
          <a:bodyPr wrap="square" rtlCol="0" anchor="ctr"/>
          <a:lstStyle/>
          <a:p>
            <a:pPr indent="0" marL="0">
              <a:buNone/>
            </a:pPr>
            <a:r>
              <a:rPr lang="en-US" sz="700" i="1" dirty="0">
                <a:solidFill>
                  <a:srgbClr val="00338D"/>
                </a:solidFill>
                <a:latin typeface="Arial" pitchFamily="34" charset="0"/>
                <a:ea typeface="Arial" pitchFamily="34" charset="-122"/>
                <a:cs typeface="Arial" pitchFamily="34" charset="-120"/>
              </a:rPr>
              <a:t>Demo data</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2026-02-02T03:04:17Z</dcterms:created>
  <dcterms:modified xsi:type="dcterms:W3CDTF">2026-02-02T03:04:17Z</dcterms:modified>
</cp:coreProperties>
</file>