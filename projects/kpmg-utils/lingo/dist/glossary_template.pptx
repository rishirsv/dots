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2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autoCompressPictures="0">
  <p:sldMasterIdLst>
    <p:sldMasterId id="2147483660" r:id="rId4"/>
    <p:sldMasterId id="2147483913" r:id="rId5"/>
    <p:sldMasterId id="2147483950" r:id="rId6"/>
  </p:sldMasterIdLst>
  <p:notesMasterIdLst>
    <p:notesMasterId r:id="rId8"/>
  </p:notesMasterIdLst>
  <p:handoutMasterIdLst>
    <p:handoutMasterId r:id="rId9"/>
  </p:handoutMasterIdLst>
  <p:sldIdLst>
    <p:sldId id="988" r:id="rId7"/>
  </p:sldIdLst>
  <p:sldSz cx="12192000" cy="6858000"/>
  <p:notesSz cx="6797675" cy="9926638"/>
  <p:embeddedFontLst>
    <p:embeddedFont>
      <p:font typeface="KPMG Bold" panose="020B0403030202040204" pitchFamily="34" charset="77"/>
      <p:bold r:id="rId10"/>
      <p:italic r:id="rId11"/>
      <p:boldItalic r:id="rId12"/>
    </p:embeddedFont>
  </p:embeddedFontLst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80" userDrawn="1">
          <p15:clr>
            <a:srgbClr val="A4A3A4"/>
          </p15:clr>
        </p15:guide>
        <p15:guide id="3" pos="840" userDrawn="1">
          <p15:clr>
            <a:srgbClr val="A4A3A4"/>
          </p15:clr>
        </p15:guide>
        <p15:guide id="4" orient="horz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842C1A-4397-6759-140C-98905A9B055C}" name="Sarocha, Sangngern" initials="SS" userId="S::sarocha@kpmg.co.th::7a12b31d-0ae3-4a2a-94f4-095f008a7521" providerId="AD"/>
  <p188:author id="{CBA0F91C-AF45-BA66-55A7-A671E9C82DDF}" name="Cooney, Adrienne" initials="CA" userId="S::acooney@kpmg.ca::dfa8859b-b536-4c02-8ac3-9f1ee9926b4a" providerId="AD"/>
  <p188:author id="{B9CE512D-C315-6F6E-63ED-6F83D2531740}" name="Durante, Lisa" initials="DL" userId="S::ldurante@kpmg.ca::7799ab81-b12b-43c4-8525-2b7b59935438" providerId="AD"/>
  <p188:author id="{537DE53A-D55D-646F-C4D4-A073D5C7CDED}" name="Vilawan, Chumkaew" initials="VC" userId="S::vilawan@kpmg.co.th::4db06129-15fd-480e-b49f-3626e8ed94cb" providerId="AD"/>
  <p188:author id="{810A1F44-6C3B-0ACC-0867-DAB669F2D070}" name="ZarreenZehra Naqvi" initials="ZN" userId="S::Zarreen.Naqvi@evalueserve.com::dcba1773-da4f-4fea-91f1-47ed161f7334" providerId="AD"/>
  <p188:author id="{1B0C3746-FCCF-9743-63AC-EDF0A59B2A3A}" name="Thornhill, Ian" initials="TI" userId="S::ithornhill@kpmg.co.th::6c2b7d8c-37b8-4ed3-bd82-326866ecd442" providerId="AD"/>
  <p188:author id="{844FC74B-FEC9-55BD-CD0F-B77975EC1668}" name="Pornsinee, Sivilaikul" initials="PS" userId="S::pornsinee@kpmg.co.th::ee9f03c1-47d1-43e8-96c2-018d992ed907" providerId="AD"/>
  <p188:author id="{375B6A52-4959-D880-D271-84B63138F6B1}" name="KPMG FDD" initials="KK" userId="KPMG FDD" providerId="None"/>
  <p188:author id="{98F22B5D-EEA6-F8F9-75C2-74033E60C789}" name="Kanwalai Kulvichit" initials="KK" userId="Kanwalai Kulvichit" providerId="None"/>
  <p188:author id="{CE8F1F72-3611-9574-F023-F249A57FF4D5}" name="Kanwalai K." initials="KK" userId="Kanwalai K." providerId="None"/>
  <p188:author id="{6453EF7E-FD58-1666-1054-1F276D3791AF}" name="Pakorn, Limsakul" initials="PL" userId="S::pakornl@kpmg.co.th::d6dd19e0-23a4-4b49-9c08-afe855793500" providerId="AD"/>
  <p188:author id="{250F79AC-59DF-B0A4-B07B-584D668D20CA}" name="Tom Kiatlertpongsa" initials="SK" userId="Tom Kiatlertpongsa" providerId="None"/>
  <p188:author id="{DFB3FDAE-3ECE-4561-49AE-3899DF1C009F}" name="KPMG TH" initials="KK" userId="KPMG TH" providerId="None"/>
  <p188:author id="{59199ABB-4CD3-9724-602D-EB9C2E3B430B}" name="Lindholm, Jani" initials="LJ" userId="S::Jani.Lindholm@kpmg.fi::ab23701a-bf79-48be-9783-cb99c04db22b" providerId="AD"/>
  <p188:author id="{64560BBF-6753-161D-EE84-D1B07081D86A}" name="Crane, Matt" initials="CM" userId="S::mcrane1@kpmg.co.th::d691db62-9b36-4a9c-a589-a3f27e77bf63" providerId="AD"/>
  <p188:author id="{CAF953C5-4B59-D614-0803-2FEFBF267C2C}" name="KPMG" initials="KK" userId="KPMG" providerId="None"/>
  <p188:author id="{B7BFBACA-F9C5-DED3-56F1-4F0052E2274C}" name="Ankit Singh Bhandari" initials="ASB" userId="S::Ankit.Bhandari@evalueserve.com::b50e9234-db7b-4706-bd30-27610cd66a18" providerId="AD"/>
  <p188:author id="{77959BEE-E55A-2C98-FB97-387F3178E2FA}" name="Promvadee, Trijirarut" initials="PT" userId="S::promvadee@kpmg.co.th::8f8053be-4c0e-4d61-ad50-01b701b87783" providerId="AD"/>
  <p188:author id="{77BF1DF1-A677-E9E2-234B-923EF49D24E1}" name="Napat, Pattarapakorn" initials="NP" userId="S::napat8@kpmg.co.th::2a680cc7-3852-4aa9-a36d-f4a8ef3e59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80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  <p:cmAuthor id="2" name="Rosli, Saifun" initials="RS" lastIdx="24" clrIdx="1">
    <p:extLst>
      <p:ext uri="{19B8F6BF-5375-455C-9EA6-DF929625EA0E}">
        <p15:presenceInfo xmlns:p15="http://schemas.microsoft.com/office/powerpoint/2012/main" userId="S::Saifun.BinAhmadRosli@KPMG.co.uk::970add96-9dc8-4349-9b4f-4aeb9a30bf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38D"/>
    <a:srgbClr val="E5E5E5"/>
    <a:srgbClr val="CDCDCD"/>
    <a:srgbClr val="00C0AE"/>
    <a:srgbClr val="1E49E2"/>
    <a:srgbClr val="BFBFBF"/>
    <a:srgbClr val="00B8F5"/>
    <a:srgbClr val="9FE7E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>
        <p:scale>
          <a:sx n="118" d="100"/>
          <a:sy n="118" d="100"/>
        </p:scale>
        <p:origin x="904" y="344"/>
      </p:cViewPr>
      <p:guideLst>
        <p:guide orient="horz" pos="2280"/>
        <p:guide pos="840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19/11/2025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kpmg" TargetMode="External"/><Relationship Id="rId7" Type="http://schemas.openxmlformats.org/officeDocument/2006/relationships/hyperlink" Target="http://linkedin.com/company/kpmg" TargetMode="External"/><Relationship Id="rId12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6" Type="http://schemas.openxmlformats.org/officeDocument/2006/relationships/image" Target="../media/image8.png"/><Relationship Id="rId11" Type="http://schemas.openxmlformats.org/officeDocument/2006/relationships/hyperlink" Target="http://youtube.com/kpmg" TargetMode="External"/><Relationship Id="rId5" Type="http://schemas.openxmlformats.org/officeDocument/2006/relationships/hyperlink" Target="http://instagram.com/kpmg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twitter.com/kpmg" TargetMode="Externa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kpmg" TargetMode="External"/><Relationship Id="rId7" Type="http://schemas.openxmlformats.org/officeDocument/2006/relationships/hyperlink" Target="http://linkedin.com/company/kpmg" TargetMode="External"/><Relationship Id="rId12" Type="http://schemas.openxmlformats.org/officeDocument/2006/relationships/image" Target="../media/image1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0.xml"/><Relationship Id="rId6" Type="http://schemas.openxmlformats.org/officeDocument/2006/relationships/image" Target="../media/image8.png"/><Relationship Id="rId11" Type="http://schemas.openxmlformats.org/officeDocument/2006/relationships/hyperlink" Target="http://youtube.com/kpmg" TargetMode="External"/><Relationship Id="rId5" Type="http://schemas.openxmlformats.org/officeDocument/2006/relationships/hyperlink" Target="http://instagram.com/kpmg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twitter.com/kpmg" TargetMode="Externa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46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image" Target="../media/image14.svg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4.png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16.sv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../media/image1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pslide.net/hc/en-us/articles/360020443419" TargetMode="External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mittal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5B3FFF-0F38-4337-9AC3-81B767461B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73333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5B3FFF-0F38-4337-9AC3-81B767461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056A6C06-C562-4DF5-9080-254DF08C7316}"/>
              </a:ext>
            </a:extLst>
          </p:cNvPr>
          <p:cNvSpPr/>
          <p:nvPr userDrawn="1"/>
        </p:nvSpPr>
        <p:spPr>
          <a:xfrm>
            <a:off x="1743075" y="6143625"/>
            <a:ext cx="7001518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C6CAF37B-D8C8-48E4-A64E-E50EEA177A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541157" y="1335600"/>
            <a:ext cx="2652443" cy="310198"/>
          </a:xfrm>
        </p:spPr>
        <p:txBody>
          <a:bodyPr/>
          <a:lstStyle>
            <a:lvl1pPr algn="r">
              <a:spcAft>
                <a:spcPts val="400"/>
              </a:spcAft>
              <a:defRPr/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date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B5F02-6946-4796-B93B-3238A3C22A56}"/>
              </a:ext>
            </a:extLst>
          </p:cNvPr>
          <p:cNvSpPr/>
          <p:nvPr userDrawn="1"/>
        </p:nvSpPr>
        <p:spPr bwMode="white">
          <a:xfrm>
            <a:off x="1810753" y="6271101"/>
            <a:ext cx="5877427" cy="310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2" name="Text Box 32">
            <a:extLst>
              <a:ext uri="{FF2B5EF4-FFF2-40B4-BE49-F238E27FC236}">
                <a16:creationId xmlns:a16="http://schemas.microsoft.com/office/drawing/2014/main" id="{6BD707DD-2562-4C6C-8676-C469CD2B6D7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995361" y="431802"/>
            <a:ext cx="3460098" cy="8130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hangingPunct="0"/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KPMG [MEMBER FIRM][ Ltd.</a:t>
            </a:r>
          </a:p>
          <a:p>
            <a:pPr defTabSz="1144588" hangingPunct="0">
              <a:spcBef>
                <a:spcPts val="100"/>
              </a:spcBef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GPO Box 2685	48</a:t>
            </a:r>
            <a:r>
              <a:rPr lang="en-US" sz="800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Floor, Empire Tower	Tel. +66 2677 2000 </a:t>
            </a:r>
          </a:p>
          <a:p>
            <a:pPr defTabSz="1144588" hangingPunct="0"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Bangkok 10500	1 South Sathorn Road	kpmg.com/</a:t>
            </a:r>
            <a:r>
              <a:rPr lang="en-US" sz="8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144588" hangingPunct="0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Thailand	Bangkok 10120, Thailand</a:t>
            </a:r>
          </a:p>
          <a:p>
            <a:pPr hangingPunct="0"/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900" b="1" spc="-20">
                <a:solidFill>
                  <a:schemeClr val="tx2"/>
                </a:solidFill>
              </a:rPr>
              <a:t>Private and confidential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7105EC9-D813-45A3-9963-6B64FECDE58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887216" y="6271101"/>
            <a:ext cx="4083984" cy="3101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2023 KPMG Phoomchai Business Advisory Ltd., a Thai limited liability company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B44B36B-4175-6128-F70A-1F4CFE5C87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5361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1694F71-6C78-33DE-958B-2529C9892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5600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45F86A0-2133-379E-CB0C-1C2E1CDF36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61" y="1335600"/>
            <a:ext cx="4968000" cy="768900"/>
          </a:xfrm>
        </p:spPr>
        <p:txBody>
          <a:bodyPr/>
          <a:lstStyle>
            <a:lvl1pPr>
              <a:lnSpc>
                <a:spcPts val="1100"/>
              </a:lnSpc>
              <a:spcAft>
                <a:spcPts val="400"/>
              </a:spcAft>
              <a:defRPr sz="900" b="0">
                <a:solidFill>
                  <a:schemeClr val="tx1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Company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Att: [</a:t>
            </a:r>
            <a:r>
              <a:rPr lang="en-US" sz="900" b="0" spc="-20">
                <a:solidFill>
                  <a:srgbClr val="FD349C"/>
                </a:solidFill>
              </a:rPr>
              <a:t>client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1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2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96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8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03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2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02702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7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5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44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4079582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21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96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505655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3441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315455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4233042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4943075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36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30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3055845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27277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2578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3716888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704970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124679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050419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1820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24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82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030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27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0270226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749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55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44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4079582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21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96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5056558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34411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3154559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42330425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4943075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366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301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30558459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272779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2578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37168880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7049704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124679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050419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1820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24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B43C9-6BC3-4452-B3FB-8B4984BD9C3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11230" y="5577464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5D6712-C46E-4B3F-9C1A-1E3B6C20BE0C}"/>
              </a:ext>
            </a:extLst>
          </p:cNvPr>
          <p:cNvGrpSpPr/>
          <p:nvPr userDrawn="1"/>
        </p:nvGrpSpPr>
        <p:grpSpPr>
          <a:xfrm>
            <a:off x="998476" y="4189768"/>
            <a:ext cx="2023200" cy="367957"/>
            <a:chOff x="998476" y="4240429"/>
            <a:chExt cx="2023200" cy="3679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414CE-5B6D-4579-937D-40296B6F9C4A}"/>
                </a:ext>
              </a:extLst>
            </p:cNvPr>
            <p:cNvSpPr/>
            <p:nvPr userDrawn="1"/>
          </p:nvSpPr>
          <p:spPr>
            <a:xfrm>
              <a:off x="1441950" y="42774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FC8D41-E780-4BCE-86DA-DB5275426239}"/>
                </a:ext>
              </a:extLst>
            </p:cNvPr>
            <p:cNvSpPr/>
            <p:nvPr userDrawn="1"/>
          </p:nvSpPr>
          <p:spPr>
            <a:xfrm>
              <a:off x="1877844" y="42774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16E231-1BC9-439A-B23B-363759FB5A2A}"/>
                </a:ext>
              </a:extLst>
            </p:cNvPr>
            <p:cNvSpPr/>
            <p:nvPr userDrawn="1"/>
          </p:nvSpPr>
          <p:spPr>
            <a:xfrm>
              <a:off x="2689276" y="42830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58F02F-E728-4203-850B-CC960EDC8A35}"/>
                </a:ext>
              </a:extLst>
            </p:cNvPr>
            <p:cNvSpPr/>
            <p:nvPr userDrawn="1"/>
          </p:nvSpPr>
          <p:spPr>
            <a:xfrm>
              <a:off x="1025526" y="42830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pic>
          <p:nvPicPr>
            <p:cNvPr id="25" name="Picture 24">
              <a:hlinkClick r:id="rId3"/>
              <a:extLst>
                <a:ext uri="{FF2B5EF4-FFF2-40B4-BE49-F238E27FC236}">
                  <a16:creationId xmlns:a16="http://schemas.microsoft.com/office/drawing/2014/main" id="{EE706006-FE55-4C9E-884B-F4C95D57E0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2950" y="4240429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>
              <a:hlinkClick r:id="rId5"/>
              <a:extLst>
                <a:ext uri="{FF2B5EF4-FFF2-40B4-BE49-F238E27FC236}">
                  <a16:creationId xmlns:a16="http://schemas.microsoft.com/office/drawing/2014/main" id="{BAD7D92E-3F0D-4559-A017-29057205ED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/>
            <a:stretch/>
          </p:blipFill>
          <p:spPr>
            <a:xfrm>
              <a:off x="2242336" y="4240605"/>
              <a:ext cx="359648" cy="359648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">
              <a:hlinkClick r:id="rId7"/>
              <a:extLst>
                <a:ext uri="{FF2B5EF4-FFF2-40B4-BE49-F238E27FC236}">
                  <a16:creationId xmlns:a16="http://schemas.microsoft.com/office/drawing/2014/main" id="{0674FCA0-BF93-4E70-85E5-623D244AC3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14350" y="4248386"/>
              <a:ext cx="360000" cy="360000"/>
            </a:xfrm>
            <a:prstGeom prst="rect">
              <a:avLst/>
            </a:prstGeom>
          </p:spPr>
        </p:pic>
        <p:pic>
          <p:nvPicPr>
            <p:cNvPr id="28" name="Picture 27" descr="Logo&#10;&#10;Description automatically generated">
              <a:hlinkClick r:id="rId9"/>
              <a:extLst>
                <a:ext uri="{FF2B5EF4-FFF2-40B4-BE49-F238E27FC236}">
                  <a16:creationId xmlns:a16="http://schemas.microsoft.com/office/drawing/2014/main" id="{0E03F6AD-EF38-48F6-AC73-E59C2072FD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76" y="4243175"/>
              <a:ext cx="360000" cy="360000"/>
            </a:xfrm>
            <a:prstGeom prst="rect">
              <a:avLst/>
            </a:prstGeom>
          </p:spPr>
        </p:pic>
        <p:pic>
          <p:nvPicPr>
            <p:cNvPr id="29" name="Picture 28" descr="Icon&#10;&#10;Description automatically generated">
              <a:hlinkClick r:id="rId11"/>
              <a:extLst>
                <a:ext uri="{FF2B5EF4-FFF2-40B4-BE49-F238E27FC236}">
                  <a16:creationId xmlns:a16="http://schemas.microsoft.com/office/drawing/2014/main" id="{66E4B78D-D846-4BBE-A2D0-6D95F69D26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61676" y="4240429"/>
              <a:ext cx="360000" cy="360000"/>
            </a:xfrm>
            <a:prstGeom prst="rect">
              <a:avLst/>
            </a:prstGeom>
          </p:spPr>
        </p:pic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267B0CC7-9589-4687-3E07-B8A73F649686}"/>
              </a:ext>
            </a:extLst>
          </p:cNvPr>
          <p:cNvSpPr txBox="1">
            <a:spLocks/>
          </p:cNvSpPr>
          <p:nvPr userDrawn="1"/>
        </p:nvSpPr>
        <p:spPr>
          <a:xfrm>
            <a:off x="920871" y="4633020"/>
            <a:ext cx="10418367" cy="80021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© 2023 Copyright owned by one or more of the KPMG International entities. KPMG International entities provide no services to clients. All rights reserved.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KPMG refers to the global organization or to one or more of the member firms of KPMG International Limited (“KPMG International”), each of which is a separate legal entity. KPMG International Limited is a private English company limited by guarantee and does not provide services to clients. For more detail about our structure please visit 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  <a:hlinkClick r:id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kpmg.com/governance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The KPMG name and logo are trademarks used under license by the independent member firms of the KPMG global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2672736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5"/>
            <a:ext cx="839615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3"/>
            <a:ext cx="839615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6"/>
            <a:ext cx="839615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8"/>
            <a:ext cx="839615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3" y="2852903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Spectrum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3" y="1830789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3" y="3363960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B15E2D-58A0-4506-8A15-E27C173174FA}"/>
              </a:ext>
            </a:extLst>
          </p:cNvPr>
          <p:cNvGrpSpPr/>
          <p:nvPr userDrawn="1"/>
        </p:nvGrpSpPr>
        <p:grpSpPr>
          <a:xfrm>
            <a:off x="2999643" y="1731973"/>
            <a:ext cx="2177327" cy="411225"/>
            <a:chOff x="2992848" y="1717717"/>
            <a:chExt cx="2177326" cy="411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09040-9C95-48FE-AA99-4757E8328519}"/>
                </a:ext>
              </a:extLst>
            </p:cNvPr>
            <p:cNvSpPr/>
            <p:nvPr userDrawn="1"/>
          </p:nvSpPr>
          <p:spPr>
            <a:xfrm>
              <a:off x="2992848" y="1717717"/>
              <a:ext cx="839614" cy="411225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430D78-5EDB-481E-BB6D-67D8689BCE11}"/>
                </a:ext>
              </a:extLst>
            </p:cNvPr>
            <p:cNvSpPr txBox="1"/>
            <p:nvPr userDrawn="1"/>
          </p:nvSpPr>
          <p:spPr>
            <a:xfrm>
              <a:off x="3916179" y="1802518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Blue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3" y="2341846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56161F-C4E7-4F32-B00D-D64EBA9D34CA}"/>
              </a:ext>
            </a:extLst>
          </p:cNvPr>
          <p:cNvGrpSpPr/>
          <p:nvPr userDrawn="1"/>
        </p:nvGrpSpPr>
        <p:grpSpPr>
          <a:xfrm>
            <a:off x="998351" y="3783826"/>
            <a:ext cx="2177327" cy="1433953"/>
            <a:chOff x="998351" y="4298384"/>
            <a:chExt cx="2177326" cy="143395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53D312-00EF-44B5-9D91-290BE0E19654}"/>
                </a:ext>
              </a:extLst>
            </p:cNvPr>
            <p:cNvSpPr/>
            <p:nvPr userDrawn="1"/>
          </p:nvSpPr>
          <p:spPr>
            <a:xfrm>
              <a:off x="998351" y="4298384"/>
              <a:ext cx="839614" cy="411225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98991-520C-4FD6-8B23-8732995E56B1}"/>
                </a:ext>
              </a:extLst>
            </p:cNvPr>
            <p:cNvSpPr/>
            <p:nvPr userDrawn="1"/>
          </p:nvSpPr>
          <p:spPr>
            <a:xfrm>
              <a:off x="998351" y="4812944"/>
              <a:ext cx="839614" cy="411225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A38B4C-5B80-413E-B283-1F1ADBFD09CD}"/>
                </a:ext>
              </a:extLst>
            </p:cNvPr>
            <p:cNvSpPr/>
            <p:nvPr userDrawn="1"/>
          </p:nvSpPr>
          <p:spPr>
            <a:xfrm>
              <a:off x="998351" y="5321112"/>
              <a:ext cx="839614" cy="411225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01B4DF-404A-4544-B313-2720FCBDD0B4}"/>
                </a:ext>
              </a:extLst>
            </p:cNvPr>
            <p:cNvSpPr txBox="1"/>
            <p:nvPr userDrawn="1"/>
          </p:nvSpPr>
          <p:spPr>
            <a:xfrm>
              <a:off x="1921682" y="4386074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Pacific Blue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DFA940-4699-43CF-A21A-AE4227704697}"/>
                </a:ext>
              </a:extLst>
            </p:cNvPr>
            <p:cNvSpPr txBox="1"/>
            <p:nvPr userDrawn="1"/>
          </p:nvSpPr>
          <p:spPr>
            <a:xfrm>
              <a:off x="1921682" y="489713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Purple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A40265-6498-4E16-877D-6BC9A8CE7DCA}"/>
                </a:ext>
              </a:extLst>
            </p:cNvPr>
            <p:cNvSpPr txBox="1"/>
            <p:nvPr userDrawn="1"/>
          </p:nvSpPr>
          <p:spPr>
            <a:xfrm>
              <a:off x="1921682" y="540819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Pink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9" y="1330326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0141"/>
            <a:ext cx="839615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4703"/>
            <a:ext cx="839615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69262"/>
            <a:ext cx="839615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3824"/>
            <a:ext cx="839615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298386"/>
            <a:ext cx="839615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6554"/>
            <a:ext cx="839615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1114"/>
            <a:ext cx="839615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7" y="2338957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3"/>
            <a:ext cx="839615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5"/>
            <a:ext cx="839615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2" y="1330326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6"/>
            <a:ext cx="839615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8"/>
            <a:ext cx="839615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8"/>
            <a:ext cx="839615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81" y="2852903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81" y="1830789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81" y="3363960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81" y="3875017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81" y="2341846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70085"/>
            <a:ext cx="839615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8" y="2670085"/>
            <a:ext cx="839615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1" y="2757773"/>
            <a:ext cx="1568421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100205" y="2869887"/>
            <a:ext cx="1709099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3"/>
            <a:ext cx="4047047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GB" sz="1000" b="0" err="1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gradient. at 0% and 100% locations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mid-point is at 50%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gradient. never radial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>
            <a:spLocks/>
          </p:cNvSpPr>
          <p:nvPr userDrawn="1"/>
        </p:nvSpPr>
        <p:spPr>
          <a:xfrm>
            <a:off x="5225411" y="4304596"/>
            <a:ext cx="839615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6" y="4389395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7E9F40-D028-425F-96B1-C73C59C9C8EF}"/>
              </a:ext>
            </a:extLst>
          </p:cNvPr>
          <p:cNvSpPr txBox="1"/>
          <p:nvPr userDrawn="1"/>
        </p:nvSpPr>
        <p:spPr>
          <a:xfrm>
            <a:off x="7146554" y="3336981"/>
            <a:ext cx="1194239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E77BBC-829E-4B5B-9C1B-B9C1344A811F}"/>
              </a:ext>
            </a:extLst>
          </p:cNvPr>
          <p:cNvSpPr>
            <a:spLocks/>
          </p:cNvSpPr>
          <p:nvPr userDrawn="1"/>
        </p:nvSpPr>
        <p:spPr>
          <a:xfrm>
            <a:off x="9353777" y="3589583"/>
            <a:ext cx="839615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053ADE-6CEF-4806-8C0F-B8BEED546A81}"/>
              </a:ext>
            </a:extLst>
          </p:cNvPr>
          <p:cNvSpPr>
            <a:spLocks/>
          </p:cNvSpPr>
          <p:nvPr userDrawn="1"/>
        </p:nvSpPr>
        <p:spPr>
          <a:xfrm>
            <a:off x="8262131" y="3589583"/>
            <a:ext cx="839615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EC18AD-6921-4293-966A-F31741528B23}"/>
              </a:ext>
            </a:extLst>
          </p:cNvPr>
          <p:cNvSpPr>
            <a:spLocks/>
          </p:cNvSpPr>
          <p:nvPr userDrawn="1"/>
        </p:nvSpPr>
        <p:spPr>
          <a:xfrm>
            <a:off x="7170486" y="3589583"/>
            <a:ext cx="839615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3C657F-FD1E-40E0-B00F-F92EC3693861}"/>
              </a:ext>
            </a:extLst>
          </p:cNvPr>
          <p:cNvSpPr txBox="1"/>
          <p:nvPr userDrawn="1"/>
        </p:nvSpPr>
        <p:spPr>
          <a:xfrm>
            <a:off x="7146554" y="4285686"/>
            <a:ext cx="4159623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blues. but they don’t have to be used all at once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light. mid and dark tones within data sets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87E5F4-3A2B-41F8-A4AA-BA7FFC573394}"/>
              </a:ext>
            </a:extLst>
          </p:cNvPr>
          <p:cNvCxnSpPr/>
          <p:nvPr userDrawn="1"/>
        </p:nvCxnSpPr>
        <p:spPr>
          <a:xfrm>
            <a:off x="7170485" y="324260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639F51-9F8C-4D36-8737-7A3DAC84F1DA}"/>
              </a:ext>
            </a:extLst>
          </p:cNvPr>
          <p:cNvCxnSpPr/>
          <p:nvPr userDrawn="1"/>
        </p:nvCxnSpPr>
        <p:spPr>
          <a:xfrm>
            <a:off x="7170485" y="417664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890E6-18C7-479B-B73B-0C731D264307}"/>
              </a:ext>
            </a:extLst>
          </p:cNvPr>
          <p:cNvGrpSpPr/>
          <p:nvPr userDrawn="1"/>
        </p:nvGrpSpPr>
        <p:grpSpPr>
          <a:xfrm>
            <a:off x="7170485" y="5015319"/>
            <a:ext cx="4023115" cy="868052"/>
            <a:chOff x="6942744" y="5227726"/>
            <a:chExt cx="6397168" cy="138029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9642345-2D6B-4C6E-A9F2-A02D26D51DDD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B75BE9-8F9E-40F1-AE85-B929BD14E4F6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03512C6-1015-4893-B421-D2CA83BB28B7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DF8AA28-67A9-4A84-A80F-52EFDEF62EC4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6ECD3EF-C613-49EC-B955-C33743E8DAF2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EFF0E69-1303-4A97-A554-2617DBE38F85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2E2F76-F5F9-4152-8B76-200BB23CF93D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294A2C6-DAFC-45CD-86AD-3902D99F3B8E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318800B-9E93-4883-840B-696F82170F32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443132-A6B3-4990-BA37-9E2D3DE1B105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79AFB4-7A51-4309-99F1-4015E9137C5F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E4F02C0-8A76-4F89-8E59-9E7549909C2A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9198175-1C72-4E67-BB92-6595EEDA420A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592D94-A7C3-4005-BCCE-3C53AAD9574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94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finding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2A41AFA-A427-44A7-BC26-3367A3DA09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07603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2A41AFA-A427-44A7-BC26-3367A3DA0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867057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Insert table or chart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03778-EE8F-437F-93A9-872E23AC7363}"/>
              </a:ext>
            </a:extLst>
          </p:cNvPr>
          <p:cNvSpPr/>
          <p:nvPr userDrawn="1"/>
        </p:nvSpPr>
        <p:spPr>
          <a:xfrm flipH="1">
            <a:off x="8739963" y="1431927"/>
            <a:ext cx="3452037" cy="444499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218D8-88BA-411C-9134-CE6A419C383B}"/>
              </a:ext>
            </a:extLst>
          </p:cNvPr>
          <p:cNvSpPr/>
          <p:nvPr userDrawn="1"/>
        </p:nvSpPr>
        <p:spPr>
          <a:xfrm>
            <a:off x="8944519" y="1431927"/>
            <a:ext cx="2255295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54000" rIns="72000" bIns="36000" rtlCol="0" anchor="t" anchorCtr="1"/>
          <a:lstStyle/>
          <a:p>
            <a:pPr algn="ctr">
              <a:spcAft>
                <a:spcPts val="300"/>
              </a:spcAft>
            </a:pPr>
            <a:endParaRPr lang="en-US" sz="1100" b="1">
              <a:solidFill>
                <a:schemeClr val="accent1"/>
              </a:solidFill>
            </a:endParaRPr>
          </a:p>
        </p:txBody>
      </p:sp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58C61F45-C268-4F8F-B7A6-EEF1FC83A832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9027152" y="1748169"/>
            <a:ext cx="2082283" cy="792238"/>
          </a:xfrm>
        </p:spPr>
        <p:txBody>
          <a:bodyPr lIns="72000"/>
          <a:lstStyle>
            <a:lvl1pPr>
              <a:defRPr sz="1000"/>
            </a:lvl1pPr>
          </a:lstStyle>
          <a:p>
            <a:r>
              <a:rPr lang="fi-FI"/>
              <a:t>Add chart with upside potential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80B26-620E-4209-A7A9-96108571D60B}"/>
              </a:ext>
            </a:extLst>
          </p:cNvPr>
          <p:cNvSpPr txBox="1">
            <a:spLocks/>
          </p:cNvSpPr>
          <p:nvPr userDrawn="1"/>
        </p:nvSpPr>
        <p:spPr>
          <a:xfrm>
            <a:off x="9558478" y="2851794"/>
            <a:ext cx="1695037" cy="59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>
                <a:solidFill>
                  <a:schemeClr val="tx2"/>
                </a:solidFill>
                <a:latin typeface="+mj-lt"/>
              </a:rPr>
              <a:t>Recommended next steps</a:t>
            </a:r>
          </a:p>
        </p:txBody>
      </p:sp>
      <p:pic>
        <p:nvPicPr>
          <p:cNvPr id="37" name="Graphic 36" descr="Shoe footprints with solid fill">
            <a:extLst>
              <a:ext uri="{FF2B5EF4-FFF2-40B4-BE49-F238E27FC236}">
                <a16:creationId xmlns:a16="http://schemas.microsoft.com/office/drawing/2014/main" id="{16531211-BC88-49C9-9656-429E1DF414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2151" y="2851793"/>
            <a:ext cx="559999" cy="559998"/>
          </a:xfrm>
          <a:prstGeom prst="rect">
            <a:avLst/>
          </a:prstGeom>
        </p:spPr>
      </p:pic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F50DF00D-7B89-7760-AF5C-1E79B0A471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5359" y="3229089"/>
            <a:ext cx="3744000" cy="1908000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4469CFB2-5FE4-9EAB-47AC-25D236292C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67057" y="3229089"/>
            <a:ext cx="3744000" cy="1908000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BFCFA09A-9464-4171-43CE-7F5C2D5C7C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7153" y="3587774"/>
            <a:ext cx="2163361" cy="1527339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479DFB-AFC3-794E-DB0E-59EC39720CF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026746" y="1479127"/>
            <a:ext cx="2072020" cy="211198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B8EE706-62B6-F755-0CB0-04E5A30D19E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60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51C3FEB-146A-1599-AC81-8CBA8CDE253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67057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C0BC2CD-008E-ACF3-EA4C-0B2B363ACA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95359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6C11BDE-10BC-A579-C939-88073F5CA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866683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0BA213D-160A-9DC7-56CE-B2795901C2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965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48EAB9A-0A97-50AE-1B4C-59AA6BFB8C0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68257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787615E-51D1-0BB4-9E9D-138EC6A7BF8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BB8E167-DEE0-B967-CF0B-D052D0DCD8C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06278F8-0EC8-7B2D-B5D2-4436F3FF30F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8E95F9-51E9-33D6-25B7-D6B43246C9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78CAD2AD-A881-B80A-C2C9-9C2047C757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52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Right vertical dark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C877BA-1124-4C1E-8488-5E90E4E0F796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1485245"/>
            <a:ext cx="6328756" cy="439618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GB" sz="8800" baseline="0" noProof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457C79FB-C07C-444A-B79A-75D7F59B856B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74841" y="1764699"/>
            <a:ext cx="5767200" cy="2905200"/>
          </a:xfrm>
        </p:spPr>
        <p:txBody>
          <a:bodyPr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slide text only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 bwMode="white">
          <a:xfrm>
            <a:off x="1274841" y="4752153"/>
            <a:ext cx="5767200" cy="817200"/>
          </a:xfrm>
        </p:spPr>
        <p:txBody>
          <a:bodyPr anchor="b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658025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7633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mittal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5B3FFF-0F38-4337-9AC3-81B767461B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73333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5B3FFF-0F38-4337-9AC3-81B767461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056A6C06-C562-4DF5-9080-254DF08C7316}"/>
              </a:ext>
            </a:extLst>
          </p:cNvPr>
          <p:cNvSpPr/>
          <p:nvPr userDrawn="1"/>
        </p:nvSpPr>
        <p:spPr>
          <a:xfrm>
            <a:off x="1743075" y="6143625"/>
            <a:ext cx="7001518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C6CAF37B-D8C8-48E4-A64E-E50EEA177A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541157" y="1335600"/>
            <a:ext cx="2652443" cy="310198"/>
          </a:xfrm>
        </p:spPr>
        <p:txBody>
          <a:bodyPr/>
          <a:lstStyle>
            <a:lvl1pPr algn="r">
              <a:spcAft>
                <a:spcPts val="400"/>
              </a:spcAft>
              <a:defRPr/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date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B5F02-6946-4796-B93B-3238A3C22A56}"/>
              </a:ext>
            </a:extLst>
          </p:cNvPr>
          <p:cNvSpPr/>
          <p:nvPr userDrawn="1"/>
        </p:nvSpPr>
        <p:spPr bwMode="white">
          <a:xfrm>
            <a:off x="1810753" y="6271101"/>
            <a:ext cx="5877427" cy="310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2" name="Text Box 32">
            <a:extLst>
              <a:ext uri="{FF2B5EF4-FFF2-40B4-BE49-F238E27FC236}">
                <a16:creationId xmlns:a16="http://schemas.microsoft.com/office/drawing/2014/main" id="{6BD707DD-2562-4C6C-8676-C469CD2B6D7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995361" y="431802"/>
            <a:ext cx="3460098" cy="8130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hangingPunct="0"/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KPMG </a:t>
            </a:r>
            <a:r>
              <a:rPr lang="en-US" sz="1000" b="1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Phoomchai</a:t>
            </a:r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Business Advisory Ltd.</a:t>
            </a:r>
          </a:p>
          <a:p>
            <a:pPr defTabSz="1144588" hangingPunct="0">
              <a:spcBef>
                <a:spcPts val="100"/>
              </a:spcBef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GPO Box 2685	48</a:t>
            </a:r>
            <a:r>
              <a:rPr lang="en-US" sz="800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Floor, Empire Tower	Tel. +66 2677 2000 </a:t>
            </a:r>
          </a:p>
          <a:p>
            <a:pPr defTabSz="1144588" hangingPunct="0"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Bangkok 10500	1 South Sathorn Road	kpmg.com/</a:t>
            </a:r>
            <a:r>
              <a:rPr lang="en-US" sz="8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144588" hangingPunct="0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Thailand	Bangkok 10120, Thailand</a:t>
            </a:r>
          </a:p>
          <a:p>
            <a:pPr hangingPunct="0"/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900" b="1" spc="-20">
                <a:solidFill>
                  <a:schemeClr val="tx2"/>
                </a:solidFill>
              </a:rPr>
              <a:t>Private and confidential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7105EC9-D813-45A3-9963-6B64FECDE58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887216" y="6271101"/>
            <a:ext cx="4083984" cy="3101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20[X]3 KPMG </a:t>
            </a:r>
            <a:r>
              <a:rPr lang="en-US" sz="600" kern="1200" noProof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Phoomchai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Business Advisory Ltd., a Thai limited liability company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B44B36B-4175-6128-F70A-1F4CFE5C87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5361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1694F71-6C78-33DE-958B-2529C9892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5600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45F86A0-2133-379E-CB0C-1C2E1CDF36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61" y="1335600"/>
            <a:ext cx="4968000" cy="768900"/>
          </a:xfrm>
        </p:spPr>
        <p:txBody>
          <a:bodyPr/>
          <a:lstStyle>
            <a:lvl1pPr>
              <a:lnSpc>
                <a:spcPts val="1100"/>
              </a:lnSpc>
              <a:spcAft>
                <a:spcPts val="400"/>
              </a:spcAft>
              <a:defRPr sz="900" b="0">
                <a:solidFill>
                  <a:schemeClr val="tx1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Company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Att: [</a:t>
            </a:r>
            <a:r>
              <a:rPr lang="en-US" sz="900" b="0" spc="-20">
                <a:solidFill>
                  <a:srgbClr val="FD349C"/>
                </a:solidFill>
              </a:rPr>
              <a:t>client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1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2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77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9984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746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9411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1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27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957697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126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8942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33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08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2147517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542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98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3706966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77582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6000173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253336237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6938944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3272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58633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67829887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7056535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7570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80493794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50919830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1396348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173922910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50829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9034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140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114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B43C9-6BC3-4452-B3FB-8B4984BD9C3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11230" y="5577464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5D6712-C46E-4B3F-9C1A-1E3B6C20BE0C}"/>
              </a:ext>
            </a:extLst>
          </p:cNvPr>
          <p:cNvGrpSpPr/>
          <p:nvPr userDrawn="1"/>
        </p:nvGrpSpPr>
        <p:grpSpPr>
          <a:xfrm>
            <a:off x="998476" y="4189768"/>
            <a:ext cx="2023200" cy="367957"/>
            <a:chOff x="998476" y="4240429"/>
            <a:chExt cx="2023200" cy="3679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414CE-5B6D-4579-937D-40296B6F9C4A}"/>
                </a:ext>
              </a:extLst>
            </p:cNvPr>
            <p:cNvSpPr/>
            <p:nvPr userDrawn="1"/>
          </p:nvSpPr>
          <p:spPr>
            <a:xfrm>
              <a:off x="1441950" y="42774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FC8D41-E780-4BCE-86DA-DB5275426239}"/>
                </a:ext>
              </a:extLst>
            </p:cNvPr>
            <p:cNvSpPr/>
            <p:nvPr userDrawn="1"/>
          </p:nvSpPr>
          <p:spPr>
            <a:xfrm>
              <a:off x="1877844" y="42774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16E231-1BC9-439A-B23B-363759FB5A2A}"/>
                </a:ext>
              </a:extLst>
            </p:cNvPr>
            <p:cNvSpPr/>
            <p:nvPr userDrawn="1"/>
          </p:nvSpPr>
          <p:spPr>
            <a:xfrm>
              <a:off x="2689276" y="42830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58F02F-E728-4203-850B-CC960EDC8A35}"/>
                </a:ext>
              </a:extLst>
            </p:cNvPr>
            <p:cNvSpPr/>
            <p:nvPr userDrawn="1"/>
          </p:nvSpPr>
          <p:spPr>
            <a:xfrm>
              <a:off x="1025526" y="42830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pic>
          <p:nvPicPr>
            <p:cNvPr id="25" name="Picture 24">
              <a:hlinkClick r:id="rId3"/>
              <a:extLst>
                <a:ext uri="{FF2B5EF4-FFF2-40B4-BE49-F238E27FC236}">
                  <a16:creationId xmlns:a16="http://schemas.microsoft.com/office/drawing/2014/main" id="{EE706006-FE55-4C9E-884B-F4C95D57E0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2950" y="4240429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>
              <a:hlinkClick r:id="rId5"/>
              <a:extLst>
                <a:ext uri="{FF2B5EF4-FFF2-40B4-BE49-F238E27FC236}">
                  <a16:creationId xmlns:a16="http://schemas.microsoft.com/office/drawing/2014/main" id="{BAD7D92E-3F0D-4559-A017-29057205ED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/>
            <a:stretch/>
          </p:blipFill>
          <p:spPr>
            <a:xfrm>
              <a:off x="2242336" y="4240605"/>
              <a:ext cx="359648" cy="359648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">
              <a:hlinkClick r:id="rId7"/>
              <a:extLst>
                <a:ext uri="{FF2B5EF4-FFF2-40B4-BE49-F238E27FC236}">
                  <a16:creationId xmlns:a16="http://schemas.microsoft.com/office/drawing/2014/main" id="{0674FCA0-BF93-4E70-85E5-623D244AC3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14350" y="4248386"/>
              <a:ext cx="360000" cy="360000"/>
            </a:xfrm>
            <a:prstGeom prst="rect">
              <a:avLst/>
            </a:prstGeom>
          </p:spPr>
        </p:pic>
        <p:pic>
          <p:nvPicPr>
            <p:cNvPr id="28" name="Picture 27" descr="Logo&#10;&#10;Description automatically generated">
              <a:hlinkClick r:id="rId9"/>
              <a:extLst>
                <a:ext uri="{FF2B5EF4-FFF2-40B4-BE49-F238E27FC236}">
                  <a16:creationId xmlns:a16="http://schemas.microsoft.com/office/drawing/2014/main" id="{0E03F6AD-EF38-48F6-AC73-E59C2072FD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76" y="4243175"/>
              <a:ext cx="360000" cy="360000"/>
            </a:xfrm>
            <a:prstGeom prst="rect">
              <a:avLst/>
            </a:prstGeom>
          </p:spPr>
        </p:pic>
        <p:pic>
          <p:nvPicPr>
            <p:cNvPr id="29" name="Picture 28" descr="Icon&#10;&#10;Description automatically generated">
              <a:hlinkClick r:id="rId11"/>
              <a:extLst>
                <a:ext uri="{FF2B5EF4-FFF2-40B4-BE49-F238E27FC236}">
                  <a16:creationId xmlns:a16="http://schemas.microsoft.com/office/drawing/2014/main" id="{66E4B78D-D846-4BBE-A2D0-6D95F69D26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61676" y="4240429"/>
              <a:ext cx="360000" cy="360000"/>
            </a:xfrm>
            <a:prstGeom prst="rect">
              <a:avLst/>
            </a:prstGeom>
          </p:spPr>
        </p:pic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267B0CC7-9589-4687-3E07-B8A73F649686}"/>
              </a:ext>
            </a:extLst>
          </p:cNvPr>
          <p:cNvSpPr txBox="1">
            <a:spLocks/>
          </p:cNvSpPr>
          <p:nvPr userDrawn="1"/>
        </p:nvSpPr>
        <p:spPr>
          <a:xfrm>
            <a:off x="920871" y="4633020"/>
            <a:ext cx="10418367" cy="80021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© 20[X]3 Copyright owned by one or more of the KPMG International entities. KPMG International entities provide no services to clients. All rights reserved.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KPMG refers to the global organization or to one or more of the member firms of KPMG International Limited (“KPMG International”), each of which is a separate legal entity. KPMG International Limited is a private English company limited by guarantee and does not provide services to clients. For more detail about our structure please visit 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  <a:hlinkClick r:id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kpmg.com/governance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The KPMG name and logo are trademarks used under license by the independent member firms of the KPMG global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98188468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5"/>
            <a:ext cx="839615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3"/>
            <a:ext cx="839615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6"/>
            <a:ext cx="839615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8"/>
            <a:ext cx="839615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3" y="2852903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Spectrum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3" y="1830789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3" y="3363960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B15E2D-58A0-4506-8A15-E27C173174FA}"/>
              </a:ext>
            </a:extLst>
          </p:cNvPr>
          <p:cNvGrpSpPr/>
          <p:nvPr userDrawn="1"/>
        </p:nvGrpSpPr>
        <p:grpSpPr>
          <a:xfrm>
            <a:off x="2999643" y="1731973"/>
            <a:ext cx="2177327" cy="411225"/>
            <a:chOff x="2992848" y="1717717"/>
            <a:chExt cx="2177326" cy="411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09040-9C95-48FE-AA99-4757E8328519}"/>
                </a:ext>
              </a:extLst>
            </p:cNvPr>
            <p:cNvSpPr/>
            <p:nvPr userDrawn="1"/>
          </p:nvSpPr>
          <p:spPr>
            <a:xfrm>
              <a:off x="2992848" y="1717717"/>
              <a:ext cx="839614" cy="411225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430D78-5EDB-481E-BB6D-67D8689BCE11}"/>
                </a:ext>
              </a:extLst>
            </p:cNvPr>
            <p:cNvSpPr txBox="1"/>
            <p:nvPr userDrawn="1"/>
          </p:nvSpPr>
          <p:spPr>
            <a:xfrm>
              <a:off x="3916179" y="1802518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Blue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3" y="2341846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56161F-C4E7-4F32-B00D-D64EBA9D34CA}"/>
              </a:ext>
            </a:extLst>
          </p:cNvPr>
          <p:cNvGrpSpPr/>
          <p:nvPr userDrawn="1"/>
        </p:nvGrpSpPr>
        <p:grpSpPr>
          <a:xfrm>
            <a:off x="998351" y="3783826"/>
            <a:ext cx="2177327" cy="1433953"/>
            <a:chOff x="998351" y="4298384"/>
            <a:chExt cx="2177326" cy="143395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53D312-00EF-44B5-9D91-290BE0E19654}"/>
                </a:ext>
              </a:extLst>
            </p:cNvPr>
            <p:cNvSpPr/>
            <p:nvPr userDrawn="1"/>
          </p:nvSpPr>
          <p:spPr>
            <a:xfrm>
              <a:off x="998351" y="4298384"/>
              <a:ext cx="839614" cy="411225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98991-520C-4FD6-8B23-8732995E56B1}"/>
                </a:ext>
              </a:extLst>
            </p:cNvPr>
            <p:cNvSpPr/>
            <p:nvPr userDrawn="1"/>
          </p:nvSpPr>
          <p:spPr>
            <a:xfrm>
              <a:off x="998351" y="4812944"/>
              <a:ext cx="839614" cy="411225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A38B4C-5B80-413E-B283-1F1ADBFD09CD}"/>
                </a:ext>
              </a:extLst>
            </p:cNvPr>
            <p:cNvSpPr/>
            <p:nvPr userDrawn="1"/>
          </p:nvSpPr>
          <p:spPr>
            <a:xfrm>
              <a:off x="998351" y="5321112"/>
              <a:ext cx="839614" cy="411225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01B4DF-404A-4544-B313-2720FCBDD0B4}"/>
                </a:ext>
              </a:extLst>
            </p:cNvPr>
            <p:cNvSpPr txBox="1"/>
            <p:nvPr userDrawn="1"/>
          </p:nvSpPr>
          <p:spPr>
            <a:xfrm>
              <a:off x="1921682" y="4386074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Pacific Blue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DFA940-4699-43CF-A21A-AE4227704697}"/>
                </a:ext>
              </a:extLst>
            </p:cNvPr>
            <p:cNvSpPr txBox="1"/>
            <p:nvPr userDrawn="1"/>
          </p:nvSpPr>
          <p:spPr>
            <a:xfrm>
              <a:off x="1921682" y="489713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Purple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A40265-6498-4E16-877D-6BC9A8CE7DCA}"/>
                </a:ext>
              </a:extLst>
            </p:cNvPr>
            <p:cNvSpPr txBox="1"/>
            <p:nvPr userDrawn="1"/>
          </p:nvSpPr>
          <p:spPr>
            <a:xfrm>
              <a:off x="1921682" y="540819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Pink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9" y="1330326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0141"/>
            <a:ext cx="839615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4703"/>
            <a:ext cx="839615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69262"/>
            <a:ext cx="839615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3824"/>
            <a:ext cx="839615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298386"/>
            <a:ext cx="839615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6554"/>
            <a:ext cx="839615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1114"/>
            <a:ext cx="839615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7" y="2338957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3"/>
            <a:ext cx="839615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5"/>
            <a:ext cx="839615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2" y="1330326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6"/>
            <a:ext cx="839615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8"/>
            <a:ext cx="839615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8"/>
            <a:ext cx="839615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81" y="2852903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81" y="1830789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81" y="3363960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81" y="3875017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81" y="2341846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70085"/>
            <a:ext cx="839615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8" y="2670085"/>
            <a:ext cx="839615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1" y="2757773"/>
            <a:ext cx="1568421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100205" y="2869887"/>
            <a:ext cx="1709099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3"/>
            <a:ext cx="4047047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GB" sz="1000" b="0" err="1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gradient. at 0% and 100% locations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mid-point is at 50%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gradient. never radial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>
            <a:spLocks/>
          </p:cNvSpPr>
          <p:nvPr userDrawn="1"/>
        </p:nvSpPr>
        <p:spPr>
          <a:xfrm>
            <a:off x="5225411" y="4304596"/>
            <a:ext cx="839615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6" y="4389395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7E9F40-D028-425F-96B1-C73C59C9C8EF}"/>
              </a:ext>
            </a:extLst>
          </p:cNvPr>
          <p:cNvSpPr txBox="1"/>
          <p:nvPr userDrawn="1"/>
        </p:nvSpPr>
        <p:spPr>
          <a:xfrm>
            <a:off x="7146554" y="3336981"/>
            <a:ext cx="1194239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E77BBC-829E-4B5B-9C1B-B9C1344A811F}"/>
              </a:ext>
            </a:extLst>
          </p:cNvPr>
          <p:cNvSpPr>
            <a:spLocks/>
          </p:cNvSpPr>
          <p:nvPr userDrawn="1"/>
        </p:nvSpPr>
        <p:spPr>
          <a:xfrm>
            <a:off x="9353777" y="3589583"/>
            <a:ext cx="839615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053ADE-6CEF-4806-8C0F-B8BEED546A81}"/>
              </a:ext>
            </a:extLst>
          </p:cNvPr>
          <p:cNvSpPr>
            <a:spLocks/>
          </p:cNvSpPr>
          <p:nvPr userDrawn="1"/>
        </p:nvSpPr>
        <p:spPr>
          <a:xfrm>
            <a:off x="8262131" y="3589583"/>
            <a:ext cx="839615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EC18AD-6921-4293-966A-F31741528B23}"/>
              </a:ext>
            </a:extLst>
          </p:cNvPr>
          <p:cNvSpPr>
            <a:spLocks/>
          </p:cNvSpPr>
          <p:nvPr userDrawn="1"/>
        </p:nvSpPr>
        <p:spPr>
          <a:xfrm>
            <a:off x="7170486" y="3589583"/>
            <a:ext cx="839615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3C657F-FD1E-40E0-B00F-F92EC3693861}"/>
              </a:ext>
            </a:extLst>
          </p:cNvPr>
          <p:cNvSpPr txBox="1"/>
          <p:nvPr userDrawn="1"/>
        </p:nvSpPr>
        <p:spPr>
          <a:xfrm>
            <a:off x="7146554" y="4285686"/>
            <a:ext cx="4159623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blues. but they don’t have to be used all at once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light. mid and dark tones within data sets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87E5F4-3A2B-41F8-A4AA-BA7FFC573394}"/>
              </a:ext>
            </a:extLst>
          </p:cNvPr>
          <p:cNvCxnSpPr/>
          <p:nvPr userDrawn="1"/>
        </p:nvCxnSpPr>
        <p:spPr>
          <a:xfrm>
            <a:off x="7170485" y="324260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639F51-9F8C-4D36-8737-7A3DAC84F1DA}"/>
              </a:ext>
            </a:extLst>
          </p:cNvPr>
          <p:cNvCxnSpPr/>
          <p:nvPr userDrawn="1"/>
        </p:nvCxnSpPr>
        <p:spPr>
          <a:xfrm>
            <a:off x="7170485" y="417664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890E6-18C7-479B-B73B-0C731D264307}"/>
              </a:ext>
            </a:extLst>
          </p:cNvPr>
          <p:cNvGrpSpPr/>
          <p:nvPr userDrawn="1"/>
        </p:nvGrpSpPr>
        <p:grpSpPr>
          <a:xfrm>
            <a:off x="7170485" y="5015319"/>
            <a:ext cx="4023115" cy="868052"/>
            <a:chOff x="6942744" y="5227726"/>
            <a:chExt cx="6397168" cy="138029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9642345-2D6B-4C6E-A9F2-A02D26D51DDD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B75BE9-8F9E-40F1-AE85-B929BD14E4F6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03512C6-1015-4893-B421-D2CA83BB28B7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DF8AA28-67A9-4A84-A80F-52EFDEF62EC4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6ECD3EF-C613-49EC-B955-C33743E8DAF2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EFF0E69-1303-4A97-A554-2617DBE38F85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2E2F76-F5F9-4152-8B76-200BB23CF93D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294A2C6-DAFC-45CD-86AD-3902D99F3B8E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318800B-9E93-4883-840B-696F82170F32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443132-A6B3-4990-BA37-9E2D3DE1B105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79AFB4-7A51-4309-99F1-4015E9137C5F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E4F02C0-8A76-4F89-8E59-9E7549909C2A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9198175-1C72-4E67-BB92-6595EEDA420A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592D94-A7C3-4005-BCCE-3C53AAD9574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25407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finding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2A41AFA-A427-44A7-BC26-3367A3DA09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07603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2A41AFA-A427-44A7-BC26-3367A3DA0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867057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Insert table or chart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03778-EE8F-437F-93A9-872E23AC7363}"/>
              </a:ext>
            </a:extLst>
          </p:cNvPr>
          <p:cNvSpPr/>
          <p:nvPr userDrawn="1"/>
        </p:nvSpPr>
        <p:spPr>
          <a:xfrm flipH="1">
            <a:off x="8739963" y="1431927"/>
            <a:ext cx="3452037" cy="444499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218D8-88BA-411C-9134-CE6A419C383B}"/>
              </a:ext>
            </a:extLst>
          </p:cNvPr>
          <p:cNvSpPr/>
          <p:nvPr userDrawn="1"/>
        </p:nvSpPr>
        <p:spPr>
          <a:xfrm>
            <a:off x="8944519" y="1431927"/>
            <a:ext cx="2255295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54000" rIns="72000" bIns="36000" rtlCol="0" anchor="t" anchorCtr="1"/>
          <a:lstStyle/>
          <a:p>
            <a:pPr algn="ctr">
              <a:spcAft>
                <a:spcPts val="300"/>
              </a:spcAft>
            </a:pPr>
            <a:endParaRPr lang="en-US" sz="1100" b="1">
              <a:solidFill>
                <a:schemeClr val="accent1"/>
              </a:solidFill>
            </a:endParaRPr>
          </a:p>
        </p:txBody>
      </p:sp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58C61F45-C268-4F8F-B7A6-EEF1FC83A832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9027152" y="1748169"/>
            <a:ext cx="2082283" cy="792238"/>
          </a:xfrm>
        </p:spPr>
        <p:txBody>
          <a:bodyPr lIns="72000"/>
          <a:lstStyle>
            <a:lvl1pPr>
              <a:defRPr sz="1000"/>
            </a:lvl1pPr>
          </a:lstStyle>
          <a:p>
            <a:r>
              <a:rPr lang="fi-FI"/>
              <a:t>Add chart with upside potential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80B26-620E-4209-A7A9-96108571D60B}"/>
              </a:ext>
            </a:extLst>
          </p:cNvPr>
          <p:cNvSpPr txBox="1">
            <a:spLocks/>
          </p:cNvSpPr>
          <p:nvPr userDrawn="1"/>
        </p:nvSpPr>
        <p:spPr>
          <a:xfrm>
            <a:off x="9558478" y="2851794"/>
            <a:ext cx="1695037" cy="59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>
                <a:solidFill>
                  <a:schemeClr val="tx2"/>
                </a:solidFill>
                <a:latin typeface="+mj-lt"/>
              </a:rPr>
              <a:t>Recommended next steps</a:t>
            </a:r>
          </a:p>
        </p:txBody>
      </p:sp>
      <p:pic>
        <p:nvPicPr>
          <p:cNvPr id="37" name="Graphic 36" descr="Shoe footprints with solid fill">
            <a:extLst>
              <a:ext uri="{FF2B5EF4-FFF2-40B4-BE49-F238E27FC236}">
                <a16:creationId xmlns:a16="http://schemas.microsoft.com/office/drawing/2014/main" id="{16531211-BC88-49C9-9656-429E1DF414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2151" y="2851793"/>
            <a:ext cx="559999" cy="559998"/>
          </a:xfrm>
          <a:prstGeom prst="rect">
            <a:avLst/>
          </a:prstGeom>
        </p:spPr>
      </p:pic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F50DF00D-7B89-7760-AF5C-1E79B0A471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5359" y="3229089"/>
            <a:ext cx="3744000" cy="1908000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4469CFB2-5FE4-9EAB-47AC-25D236292C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67057" y="3229089"/>
            <a:ext cx="3744000" cy="1908000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BFCFA09A-9464-4171-43CE-7F5C2D5C7C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7153" y="3587774"/>
            <a:ext cx="2163361" cy="1527339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479DFB-AFC3-794E-DB0E-59EC39720CF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026746" y="1479127"/>
            <a:ext cx="2072020" cy="211198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B8EE706-62B6-F755-0CB0-04E5A30D19E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60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51C3FEB-146A-1599-AC81-8CBA8CDE253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67057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C0BC2CD-008E-ACF3-EA4C-0B2B363ACA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95359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6C11BDE-10BC-A579-C939-88073F5CA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866683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0BA213D-160A-9DC7-56CE-B2795901C2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965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48EAB9A-0A97-50AE-1B4C-59AA6BFB8C0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68257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787615E-51D1-0BB4-9E9D-138EC6A7BF8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BB8E167-DEE0-B967-CF0B-D052D0DCD8C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06278F8-0EC8-7B2D-B5D2-4436F3FF30F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8E95F9-51E9-33D6-25B7-D6B43246C9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78CAD2AD-A881-B80A-C2C9-9C2047C757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7716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 Storag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103DA531-B8F1-3F3E-85FF-33CD8B19D5DB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374885" y="1944714"/>
            <a:ext cx="54000" cy="3492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2000" b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84AFEC93-9419-2C65-316F-7D321D508C78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10473613" y="6463890"/>
            <a:ext cx="1570038" cy="35718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0" tIns="36000" rIns="0" bIns="0" anchor="ctr" anchorCtr="0">
            <a:noAutofit/>
          </a:bodyPr>
          <a:lstStyle/>
          <a:p>
            <a:pPr algn="r" defTabSz="7620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1400" b="1">
                <a:solidFill>
                  <a:schemeClr val="accent6"/>
                </a:solidFill>
              </a:rPr>
              <a:t>DRAFT</a:t>
            </a: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43CD81CE-8133-23ED-EA21-F0024976645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B5027E5-9B09-836C-CB3A-0F369BA6B622}"/>
              </a:ext>
            </a:extLst>
          </p:cNvPr>
          <p:cNvSpPr/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9" name="Oval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14D50E1-8AFB-C3E6-1488-95F62B3AC868}"/>
              </a:ext>
            </a:extLst>
          </p:cNvPr>
          <p:cNvSpPr/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7070D5A-9B57-80F6-826D-F559943C30C8}"/>
              </a:ext>
            </a:extLst>
          </p:cNvPr>
          <p:cNvSpPr/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52DD552-6D29-75AD-B7B8-C5386BC08FF1}"/>
              </a:ext>
            </a:extLst>
          </p:cNvPr>
          <p:cNvSpPr/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087E6DD2-0A18-F0D9-6121-802EFF8437A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FCF1D0-8D61-3158-1546-2B6008B2C86D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2A8287-4956-D624-99A1-67CBCBB1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885683" y="6266997"/>
            <a:ext cx="66738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2022 KPMG LLP, a UK limited liability partnership and a member firm of the KPMG global </a:t>
            </a:r>
            <a:r>
              <a:rPr lang="en-US" sz="600" kern="1200" noProof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organisation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of independent member firms affiliated with KPMG International Limited, a private English company limited by guarantee.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D020B-0A9F-7C79-81F9-8639FA800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8A3F6B51-21DC-2BB9-9227-20B18DE13502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6" name="TextBox 25">
            <a:hlinkClick r:id="" action="ppaction://noaction"/>
            <a:extLst>
              <a:ext uri="{FF2B5EF4-FFF2-40B4-BE49-F238E27FC236}">
                <a16:creationId xmlns:a16="http://schemas.microsoft.com/office/drawing/2014/main" id="{FDA084D9-C189-24B7-51F3-85144FC9E6F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249681" y="1784193"/>
            <a:ext cx="9107520" cy="126000"/>
          </a:xfrm>
          <a:prstGeom prst="rect">
            <a:avLst/>
          </a:prstGeom>
          <a:noFill/>
        </p:spPr>
        <p:txBody>
          <a:bodyPr vert="horz" wrap="square" lIns="0" tIns="0" rIns="0" bIns="720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9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12" name="Subsection number">
            <a:hlinkClick r:id="" action="ppaction://noaction"/>
            <a:extLst>
              <a:ext uri="{FF2B5EF4-FFF2-40B4-BE49-F238E27FC236}">
                <a16:creationId xmlns:a16="http://schemas.microsoft.com/office/drawing/2014/main" id="{2BC0226E-C800-34A0-FC54-8484A9BE76A0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296316" y="15599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 anchorCtr="0">
            <a:noAutofit/>
          </a:bodyPr>
          <a:lstStyle/>
          <a:p>
            <a:pPr algn="l"/>
            <a:r>
              <a:rPr lang="en-US" sz="100" b="0">
                <a:ln>
                  <a:noFill/>
                </a:ln>
                <a:noFill/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FA0A0E8-2E7C-14D4-35DD-7F97BE85282C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016318" y="2734004"/>
            <a:ext cx="7106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1"/>
                </a:solidFill>
                <a:latin typeface="+mn-lt"/>
              </a:rPr>
              <a:t>Slide Title (DO NOT DELETE)</a:t>
            </a:r>
            <a:endParaRPr lang="fr-FR" sz="1400" i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EA2C4DD3-2B36-81FE-270F-545CC1413919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567362" y="2734004"/>
            <a:ext cx="27603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fr-FR" sz="1400" i="1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7" name="Section number">
            <a:hlinkClick r:id="" action="ppaction://noaction"/>
            <a:extLst>
              <a:ext uri="{FF2B5EF4-FFF2-40B4-BE49-F238E27FC236}">
                <a16:creationId xmlns:a16="http://schemas.microsoft.com/office/drawing/2014/main" id="{198C86B7-A8B9-0D10-1C84-EDD490552A08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98977" y="1353599"/>
            <a:ext cx="338308" cy="347289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2400" b="0">
                <a:ln>
                  <a:noFill/>
                </a:ln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C31F35AF-52E9-94A5-09C2-A78B342FEC41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0368217" y="1792315"/>
            <a:ext cx="54000" cy="126000"/>
          </a:xfrm>
          <a:prstGeom prst="rect">
            <a:avLst/>
          </a:prstGeom>
          <a:noFill/>
        </p:spPr>
        <p:txBody>
          <a:bodyPr vert="horz" wrap="none" lIns="0" tIns="0" rIns="0" bIns="18000" rtlCol="0" anchor="b" anchorCtr="0">
            <a:noAutofit/>
          </a:bodyPr>
          <a:lstStyle/>
          <a:p>
            <a:pPr algn="r"/>
            <a:r>
              <a:rPr lang="en-US" sz="900" b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30EF29-69C1-2F8F-C77D-8C0C7D7B9416}"/>
              </a:ext>
            </a:extLst>
          </p:cNvPr>
          <p:cNvSpPr>
            <a:spLocks/>
          </p:cNvSpPr>
          <p:nvPr userDrawn="1">
            <p:custDataLst>
              <p:tags r:id="rId10"/>
            </p:custDataLst>
          </p:nvPr>
        </p:nvSpPr>
        <p:spPr>
          <a:xfrm>
            <a:off x="997199" y="1229360"/>
            <a:ext cx="9405394" cy="4647566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000000"/>
                </a:solidFill>
                <a:latin typeface="+mj-lt"/>
              </a:rPr>
              <a:t>Workspace (DO NOT DELETE): this shape delimits the vertical space where UpSlide will draw the Agenda.</a:t>
            </a:r>
            <a:endParaRPr lang="en-GB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5" name="TextBox 24">
            <a:hlinkClick r:id="" action="ppaction://noaction"/>
            <a:extLst>
              <a:ext uri="{FF2B5EF4-FFF2-40B4-BE49-F238E27FC236}">
                <a16:creationId xmlns:a16="http://schemas.microsoft.com/office/drawing/2014/main" id="{97458F59-479D-8ACC-D1EB-36FDDC4C1E6E}"/>
              </a:ext>
            </a:extLst>
          </p:cNvPr>
          <p:cNvSpPr txBox="1">
            <a:spLocks/>
          </p:cNvSpPr>
          <p:nvPr userDrawn="1">
            <p:custDataLst>
              <p:tags r:id="rId11"/>
            </p:custDataLst>
          </p:nvPr>
        </p:nvSpPr>
        <p:spPr>
          <a:xfrm>
            <a:off x="1249681" y="1353599"/>
            <a:ext cx="9107520" cy="34728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u="none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B54791-C9F3-74B1-5C2D-7DEAE926CCEF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852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9EA8E-438B-268D-C2D0-41582ABDF852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330325"/>
            <a:ext cx="10202924" cy="45466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7" name="section title">
            <a:hlinkClick r:id="" action="ppaction://noaction"/>
            <a:extLst>
              <a:ext uri="{FF2B5EF4-FFF2-40B4-BE49-F238E27FC236}">
                <a16:creationId xmlns:a16="http://schemas.microsoft.com/office/drawing/2014/main" id="{6CE66D06-AAD4-3162-968D-96422DD5983D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289860" y="3617406"/>
            <a:ext cx="9747504" cy="0"/>
          </a:xfrm>
          <a:prstGeom prst="rect">
            <a:avLst/>
          </a:prstGeom>
          <a:noFill/>
        </p:spPr>
        <p:txBody>
          <a:bodyPr vert="horz" wrap="square" lIns="0" tIns="0" rIns="0" bIns="2286000" rtlCol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6600">
                <a:solidFill>
                  <a:srgbClr val="FFFFFF"/>
                </a:solidFill>
                <a:latin typeface="+mj-lt"/>
              </a:rPr>
              <a:t>Section title</a:t>
            </a:r>
          </a:p>
        </p:txBody>
      </p:sp>
      <p:sp>
        <p:nvSpPr>
          <p:cNvPr id="13" name="ZoneTexte 19">
            <a:extLst>
              <a:ext uri="{FF2B5EF4-FFF2-40B4-BE49-F238E27FC236}">
                <a16:creationId xmlns:a16="http://schemas.microsoft.com/office/drawing/2014/main" id="{E1EB7D89-468C-377D-8E01-E8D8EE6FCEDA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174065" y="5027889"/>
            <a:ext cx="9892129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 sz="1200" i="0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4" name="slide page number">
            <a:extLst>
              <a:ext uri="{FF2B5EF4-FFF2-40B4-BE49-F238E27FC236}">
                <a16:creationId xmlns:a16="http://schemas.microsoft.com/office/drawing/2014/main" id="{0EE227B2-BC76-59B8-60FA-57F408CD615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188234" y="5027889"/>
            <a:ext cx="182880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fr-FR" sz="1400" i="0" dirty="0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5" name="ZONE?">
            <a:extLst>
              <a:ext uri="{FF2B5EF4-FFF2-40B4-BE49-F238E27FC236}">
                <a16:creationId xmlns:a16="http://schemas.microsoft.com/office/drawing/2014/main" id="{D9F1535F-6DC3-F59D-5DE4-C9748B195A7A}"/>
              </a:ext>
            </a:extLst>
          </p:cNvPr>
          <p:cNvSpPr>
            <a:spLocks/>
          </p:cNvSpPr>
          <p:nvPr userDrawn="1">
            <p:custDataLst>
              <p:tags r:id="rId4"/>
            </p:custDataLst>
          </p:nvPr>
        </p:nvSpPr>
        <p:spPr>
          <a:xfrm>
            <a:off x="1125801" y="3566606"/>
            <a:ext cx="6339869" cy="21430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6" name="subsection number">
            <a:extLst>
              <a:ext uri="{FF2B5EF4-FFF2-40B4-BE49-F238E27FC236}">
                <a16:creationId xmlns:a16="http://schemas.microsoft.com/office/drawing/2014/main" id="{E9ECBCC0-9069-D5A3-766B-8EBF1EA207CC}"/>
              </a:ext>
            </a:extLst>
          </p:cNvPr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1332373" y="3594256"/>
            <a:ext cx="201168" cy="35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27432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1.1</a:t>
            </a:r>
          </a:p>
        </p:txBody>
      </p:sp>
      <p:sp>
        <p:nvSpPr>
          <p:cNvPr id="18" name="subsection title">
            <a:hlinkClick r:id="" action="ppaction://noaction"/>
            <a:extLst>
              <a:ext uri="{FF2B5EF4-FFF2-40B4-BE49-F238E27FC236}">
                <a16:creationId xmlns:a16="http://schemas.microsoft.com/office/drawing/2014/main" id="{67ADA6D5-A44C-6AD3-5EE0-73DCA81FB5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1714809" y="3594256"/>
            <a:ext cx="2504494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FFFF"/>
                </a:solidFill>
                <a:effectLst/>
                <a:latin typeface="+mn-lt"/>
              </a:rPr>
              <a:t>Subsection Title</a:t>
            </a:r>
          </a:p>
        </p:txBody>
      </p:sp>
      <p:sp>
        <p:nvSpPr>
          <p:cNvPr id="19" name="???">
            <a:hlinkClick r:id="" action="ppaction://noaction"/>
            <a:extLst>
              <a:ext uri="{FF2B5EF4-FFF2-40B4-BE49-F238E27FC236}">
                <a16:creationId xmlns:a16="http://schemas.microsoft.com/office/drawing/2014/main" id="{6EA31614-8248-54E2-75F7-BCE99EDBDAC1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0931809" y="3594256"/>
            <a:ext cx="0" cy="35661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fr-FR" sz="100">
                <a:ln>
                  <a:noFill/>
                </a:ln>
                <a:noFill/>
                <a:latin typeface="+mj-lt"/>
              </a:rPr>
              <a:t>4</a:t>
            </a:r>
          </a:p>
        </p:txBody>
      </p:sp>
      <p:sp>
        <p:nvSpPr>
          <p:cNvPr id="20" name="subsection page number">
            <a:hlinkClick r:id="" action="ppaction://noaction"/>
            <a:extLst>
              <a:ext uri="{FF2B5EF4-FFF2-40B4-BE49-F238E27FC236}">
                <a16:creationId xmlns:a16="http://schemas.microsoft.com/office/drawing/2014/main" id="{FF1A2828-1104-A597-003B-DABE01462957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428269" y="3594256"/>
            <a:ext cx="0" cy="356616"/>
          </a:xfrm>
          <a:prstGeom prst="rect">
            <a:avLst/>
          </a:prstGeom>
          <a:noFill/>
        </p:spPr>
        <p:txBody>
          <a:bodyPr vert="horz" wrap="square" lIns="1005840" tIns="0" rIns="1097280" bIns="0" rtlCol="0" anchor="t" anchorCtr="0">
            <a:no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FFFFFF"/>
                </a:solidFill>
                <a:effectLst/>
                <a:latin typeface="+mn-lt"/>
              </a:rPr>
              <a:t>5</a:t>
            </a:r>
          </a:p>
        </p:txBody>
      </p:sp>
      <p:sp>
        <p:nvSpPr>
          <p:cNvPr id="23" name="section number">
            <a:extLst>
              <a:ext uri="{FF2B5EF4-FFF2-40B4-BE49-F238E27FC236}">
                <a16:creationId xmlns:a16="http://schemas.microsoft.com/office/drawing/2014/main" id="{57EC5908-94D7-C379-C9C3-7740D7A9653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289304" y="3617406"/>
            <a:ext cx="3952700" cy="0"/>
          </a:xfrm>
          <a:prstGeom prst="rect">
            <a:avLst/>
          </a:prstGeom>
        </p:spPr>
        <p:txBody>
          <a:bodyPr vert="horz" wrap="square" lIns="0" tIns="0" rIns="0" bIns="4389120" rtlCol="0" anchor="t" anchorCtr="0">
            <a:noAutofit/>
          </a:bodyPr>
          <a:lstStyle/>
          <a:p>
            <a:pPr algn="l">
              <a:lnSpc>
                <a:spcPct val="80000"/>
              </a:lnSpc>
              <a:spcAft>
                <a:spcPts val="600"/>
              </a:spcAft>
            </a:pPr>
            <a:r>
              <a:rPr lang="en-GB" sz="66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5C381F-5A08-9BD3-A01C-77E91DEBFF77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75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F20B1033-F813-96CD-F7FB-FCD5B8A85B0C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998475" y="1773835"/>
            <a:ext cx="18000000" cy="209115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11000">
                <a:solidFill>
                  <a:srgbClr val="FFFFFF"/>
                </a:solidFill>
                <a:latin typeface="+mj-lt"/>
              </a:defRPr>
            </a:lvl1pPr>
          </a:lstStyle>
          <a:p>
            <a:pPr lvl="0">
              <a:lnSpc>
                <a:spcPct val="70000"/>
              </a:lnSpc>
            </a:pPr>
            <a:r>
              <a:rPr lang="fr-FR" sz="8000">
                <a:solidFill>
                  <a:srgbClr val="FFFFFF"/>
                </a:solidFill>
                <a:latin typeface="+mj-lt"/>
              </a:rPr>
              <a:t>A</a:t>
            </a:r>
          </a:p>
          <a:p>
            <a:pPr lvl="0">
              <a:lnSpc>
                <a:spcPct val="70000"/>
              </a:lnSpc>
            </a:pPr>
            <a:endParaRPr lang="fr-FR" sz="80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36F5CEAB-E720-BBEC-C914-44361C9BCF7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2215200" y="3897390"/>
            <a:ext cx="7101897" cy="251858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70000"/>
              </a:lnSpc>
            </a:pPr>
            <a:r>
              <a:rPr lang="fr-FR" sz="1100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15" name="ZoneTexte 13">
            <a:extLst>
              <a:ext uri="{FF2B5EF4-FFF2-40B4-BE49-F238E27FC236}">
                <a16:creationId xmlns:a16="http://schemas.microsoft.com/office/drawing/2014/main" id="{7BA5E11A-BE89-AA3A-2627-FE8E539C686A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998476" y="3681056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8000" indent="-288000">
              <a:buFont typeface="Arial" panose="020B0604020202020204" pitchFamily="34" charset="0"/>
              <a:buChar char="—"/>
            </a:pPr>
            <a:r>
              <a:rPr lang="fr-FR" sz="1200" i="0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F3F48908-7208-D7D0-AF66-F25A115837F1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8499630" y="3828990"/>
            <a:ext cx="276038" cy="25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fr-FR" sz="1200" i="0">
                <a:noFill/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12CFF-5EEB-A289-6BF6-5C7ED46C342F}"/>
              </a:ext>
            </a:extLst>
          </p:cNvPr>
          <p:cNvSpPr>
            <a:spLocks/>
          </p:cNvSpPr>
          <p:nvPr userDrawn="1">
            <p:custDataLst>
              <p:tags r:id="rId5"/>
            </p:custDataLst>
          </p:nvPr>
        </p:nvSpPr>
        <p:spPr>
          <a:xfrm>
            <a:off x="2064470" y="1773835"/>
            <a:ext cx="7324627" cy="4466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8" name="TextBox 17">
            <a:hlinkClick r:id="" action="ppaction://noaction"/>
            <a:extLst>
              <a:ext uri="{FF2B5EF4-FFF2-40B4-BE49-F238E27FC236}">
                <a16:creationId xmlns:a16="http://schemas.microsoft.com/office/drawing/2014/main" id="{A43B6DA0-4C35-656A-A587-6C71098827A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2064469" y="1346401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rtlCol="0" anchor="t" anchorCtr="0">
            <a:noAutofit/>
          </a:bodyPr>
          <a:lstStyle/>
          <a:p>
            <a:r>
              <a:rPr lang="fr-FR" sz="100">
                <a:noFill/>
                <a:latin typeface="+mj-lt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8CB5EC06-318A-B278-374B-89B28B0F27A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9041059" y="38289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fr-FR" sz="100">
                <a:noFill/>
                <a:latin typeface="+mj-lt"/>
              </a:rPr>
              <a:t>5</a:t>
            </a:r>
          </a:p>
        </p:txBody>
      </p:sp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ACB70012-30E3-E56E-96C5-A825D1E0F9B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9041059" y="38793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fr-FR" sz="100">
                <a:noFill/>
                <a:latin typeface="+mj-lt"/>
              </a:rPr>
              <a:t>6</a:t>
            </a:r>
          </a:p>
        </p:txBody>
      </p:sp>
      <p:sp>
        <p:nvSpPr>
          <p:cNvPr id="30" name="TextBox 29">
            <a:hlinkClick r:id="" action="ppaction://noaction"/>
            <a:extLst>
              <a:ext uri="{FF2B5EF4-FFF2-40B4-BE49-F238E27FC236}">
                <a16:creationId xmlns:a16="http://schemas.microsoft.com/office/drawing/2014/main" id="{935C8FF7-CE79-45E7-6189-593D5B9DC5D9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2064469" y="3879390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 sz="100">
                <a:noFill/>
              </a:rPr>
              <a:t>1.1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11B2BC30-6126-B4D0-B0D9-C18D8A25335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C323C8-BB49-C97D-1D90-7811DEBDF395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70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1">
            <a:extLst>
              <a:ext uri="{FF2B5EF4-FFF2-40B4-BE49-F238E27FC236}">
                <a16:creationId xmlns:a16="http://schemas.microsoft.com/office/drawing/2014/main" id="{BB3DBFF2-8D2F-D1D7-4EF7-AF89F9F5CE81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995364" y="188640"/>
            <a:ext cx="10204450" cy="17790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200" b="1">
                <a:solidFill>
                  <a:schemeClr val="tx2"/>
                </a:solidFill>
              </a:rPr>
              <a:t>&lt;%SECTIONNAME%&gt;&lt;%SPACEIFINSUBSEC%&gt;&lt;%TIRETIFINSUBSEC%&gt;&lt;%SPACEIFINSUBSEC%&gt;&lt;%SUBSECTIONNAME%&gt;</a:t>
            </a:r>
            <a:endParaRPr lang="en-GB" sz="1200" b="1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3E74B-B48B-E1EB-E3E0-2BC7C4D66E3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144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Slide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34BC455-1433-C58D-DD91-76835760EDB7}"/>
              </a:ext>
            </a:extLst>
          </p:cNvPr>
          <p:cNvGrpSpPr/>
          <p:nvPr userDrawn="1"/>
        </p:nvGrpSpPr>
        <p:grpSpPr>
          <a:xfrm>
            <a:off x="712611" y="635732"/>
            <a:ext cx="3126154" cy="1750774"/>
            <a:chOff x="504151" y="381000"/>
            <a:chExt cx="2540000" cy="17507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913A9B-F804-2F35-E8AE-717FC7FB94C9}"/>
                </a:ext>
              </a:extLst>
            </p:cNvPr>
            <p:cNvSpPr txBox="1"/>
            <p:nvPr userDrawn="1"/>
          </p:nvSpPr>
          <p:spPr>
            <a:xfrm>
              <a:off x="504151" y="1270000"/>
              <a:ext cx="2540000" cy="86177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sz="1000"/>
                <a:t>Edit alt text on the non-current shape for display options.</a:t>
              </a:r>
            </a:p>
            <a:p>
              <a:r>
                <a:rPr lang="en-US" sz="1000" b="1"/>
                <a:t>See </a:t>
              </a:r>
              <a:r>
                <a:rPr lang="en-US" sz="1000" b="1">
                  <a:hlinkClick r:id="rId3"/>
                </a:rPr>
                <a:t>here</a:t>
              </a:r>
              <a:r>
                <a:rPr lang="en-US" sz="1000" b="1"/>
                <a:t> for the options you can apply and other instructions to build a breadcrumb using UpSlide.</a:t>
              </a:r>
              <a:endParaRPr lang="en-SG" sz="1000" b="1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E7B21E-DFD1-F87D-9F54-2C7B05C30C93}"/>
                </a:ext>
              </a:extLst>
            </p:cNvPr>
            <p:cNvCxnSpPr/>
            <p:nvPr userDrawn="1"/>
          </p:nvCxnSpPr>
          <p:spPr>
            <a:xfrm>
              <a:off x="1016000" y="381000"/>
              <a:ext cx="0" cy="889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303829-0945-9D47-C04E-ADBE43696C9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815635" y="510391"/>
            <a:ext cx="2002223" cy="529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14BFFA-265D-16D0-E3E4-E35FCA558DCB}"/>
              </a:ext>
            </a:extLst>
          </p:cNvPr>
          <p:cNvGrpSpPr/>
          <p:nvPr userDrawn="1"/>
        </p:nvGrpSpPr>
        <p:grpSpPr>
          <a:xfrm>
            <a:off x="289342" y="508732"/>
            <a:ext cx="1140409" cy="807998"/>
            <a:chOff x="0" y="254000"/>
            <a:chExt cx="926582" cy="8079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343379-8E0C-CBE0-5A0D-4ADF2281EA91}"/>
                </a:ext>
              </a:extLst>
            </p:cNvPr>
            <p:cNvSpPr txBox="1"/>
            <p:nvPr userDrawn="1"/>
          </p:nvSpPr>
          <p:spPr>
            <a:xfrm>
              <a:off x="0" y="508000"/>
              <a:ext cx="926582" cy="5539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SG" sz="1000"/>
                <a:t>First shape </a:t>
              </a:r>
              <a:br>
                <a:rPr lang="en-SG" sz="1000"/>
              </a:br>
              <a:r>
                <a:rPr lang="en-SG" sz="1000"/>
                <a:t>left margin from page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A54CE-B898-FDCB-7BB7-EA78D944330F}"/>
                </a:ext>
              </a:extLst>
            </p:cNvPr>
            <p:cNvCxnSpPr/>
            <p:nvPr userDrawn="1"/>
          </p:nvCxnSpPr>
          <p:spPr>
            <a:xfrm>
              <a:off x="190500" y="254000"/>
              <a:ext cx="0" cy="254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Other Sections" descr="{&#10;  &quot;MinimumUpSlideVersion&quot;: &quot;6.7.4.0&quot;,&#10;  &quot;DisplayMode&quot;: &quot;SectionsOnly&quot;&#10;}">
            <a:extLst>
              <a:ext uri="{FF2B5EF4-FFF2-40B4-BE49-F238E27FC236}">
                <a16:creationId xmlns:a16="http://schemas.microsoft.com/office/drawing/2014/main" id="{8A19844E-D291-CA81-3B22-2B52F21919DA}"/>
              </a:ext>
            </a:extLst>
          </p:cNvPr>
          <p:cNvSpPr>
            <a:spLocks/>
          </p:cNvSpPr>
          <p:nvPr userDrawn="1"/>
        </p:nvSpPr>
        <p:spPr>
          <a:xfrm>
            <a:off x="995364" y="153170"/>
            <a:ext cx="688825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bg2">
                    <a:lumMod val="75000"/>
                  </a:schemeClr>
                </a:gs>
                <a:gs pos="85000">
                  <a:schemeClr val="bg2">
                    <a:lumMod val="75000"/>
                  </a:schemeClr>
                </a:gs>
                <a:gs pos="8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36000" rtlCol="0" anchor="ctr">
            <a:spAutoFit/>
          </a:bodyPr>
          <a:lstStyle/>
          <a:p>
            <a:pPr lvl="0"/>
            <a:r>
              <a:rPr lang="en-SG" sz="8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Non-current</a:t>
            </a:r>
          </a:p>
        </p:txBody>
      </p:sp>
      <p:sp>
        <p:nvSpPr>
          <p:cNvPr id="15" name="Current Section">
            <a:extLst>
              <a:ext uri="{FF2B5EF4-FFF2-40B4-BE49-F238E27FC236}">
                <a16:creationId xmlns:a16="http://schemas.microsoft.com/office/drawing/2014/main" id="{89A61135-1F00-E77F-7C78-5FBA241A5742}"/>
              </a:ext>
            </a:extLst>
          </p:cNvPr>
          <p:cNvSpPr>
            <a:spLocks/>
          </p:cNvSpPr>
          <p:nvPr userDrawn="1"/>
        </p:nvSpPr>
        <p:spPr>
          <a:xfrm>
            <a:off x="1684189" y="153170"/>
            <a:ext cx="515700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bg2">
                    <a:lumMod val="75000"/>
                  </a:schemeClr>
                </a:gs>
                <a:gs pos="85000">
                  <a:schemeClr val="bg2">
                    <a:lumMod val="75000"/>
                  </a:schemeClr>
                </a:gs>
                <a:gs pos="8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SG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A1B64-1717-3F4E-57F6-9810BA8040A1}"/>
              </a:ext>
            </a:extLst>
          </p:cNvPr>
          <p:cNvSpPr txBox="1"/>
          <p:nvPr userDrawn="1"/>
        </p:nvSpPr>
        <p:spPr>
          <a:xfrm>
            <a:off x="3817858" y="1016732"/>
            <a:ext cx="1563077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SG" sz="1000"/>
              <a:t>Margin between shapes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E6243-6148-EC1C-61B7-BFC77874664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66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7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9" Type="http://schemas.openxmlformats.org/officeDocument/2006/relationships/tags" Target="../tags/tag41.xml"/><Relationship Id="rId21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100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5.xml"/><Relationship Id="rId41" Type="http://schemas.openxmlformats.org/officeDocument/2006/relationships/oleObject" Target="../embeddings/oleObject30.bin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37" Type="http://schemas.openxmlformats.org/officeDocument/2006/relationships/theme" Target="../theme/theme2.xml"/><Relationship Id="rId40" Type="http://schemas.openxmlformats.org/officeDocument/2006/relationships/tags" Target="../tags/tag42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97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38" Type="http://schemas.openxmlformats.org/officeDocument/2006/relationships/tags" Target="../tags/tag4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01B0996-BFC6-4B32-A8FD-5FB86CF2B6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8"/>
            </p:custDataLst>
            <p:extLst>
              <p:ext uri="{D42A27DB-BD31-4B8C-83A1-F6EECF244321}">
                <p14:modId xmlns:p14="http://schemas.microsoft.com/office/powerpoint/2010/main" val="321483324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395" imgH="394" progId="TCLayout.ActiveDocument.1">
                  <p:embed/>
                </p:oleObj>
              </mc:Choice>
              <mc:Fallback>
                <p:oleObj name="think-cell Slide" r:id="rId71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01B0996-BFC6-4B32-A8FD-5FB86CF2B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2" y="1330126"/>
            <a:ext cx="10194471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69"/>
            </p:custDataLst>
          </p:nvPr>
        </p:nvSpPr>
        <p:spPr>
          <a:xfrm>
            <a:off x="8967795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9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70"/>
            </p:custDataLst>
          </p:nvPr>
        </p:nvSpPr>
        <p:spPr>
          <a:xfrm>
            <a:off x="1885684" y="6266997"/>
            <a:ext cx="6343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  <p:sldLayoutId id="2147483897" r:id="rId18"/>
    <p:sldLayoutId id="2147483898" r:id="rId19"/>
    <p:sldLayoutId id="2147483899" r:id="rId20"/>
    <p:sldLayoutId id="2147483900" r:id="rId21"/>
    <p:sldLayoutId id="2147483901" r:id="rId22"/>
    <p:sldLayoutId id="2147483902" r:id="rId23"/>
    <p:sldLayoutId id="2147483903" r:id="rId24"/>
    <p:sldLayoutId id="2147483904" r:id="rId25"/>
    <p:sldLayoutId id="2147483905" r:id="rId26"/>
    <p:sldLayoutId id="2147483906" r:id="rId27"/>
    <p:sldLayoutId id="2147483907" r:id="rId28"/>
    <p:sldLayoutId id="2147483908" r:id="rId29"/>
    <p:sldLayoutId id="2147483909" r:id="rId30"/>
    <p:sldLayoutId id="2147483910" r:id="rId31"/>
    <p:sldLayoutId id="2147483911" r:id="rId32"/>
    <p:sldLayoutId id="2147483682" r:id="rId33"/>
    <p:sldLayoutId id="2147483664" r:id="rId34"/>
    <p:sldLayoutId id="2147483841" r:id="rId35"/>
    <p:sldLayoutId id="2147483861" r:id="rId36"/>
    <p:sldLayoutId id="2147483842" r:id="rId37"/>
    <p:sldLayoutId id="2147483860" r:id="rId38"/>
    <p:sldLayoutId id="2147483854" r:id="rId39"/>
    <p:sldLayoutId id="2147483856" r:id="rId40"/>
    <p:sldLayoutId id="2147483820" r:id="rId41"/>
    <p:sldLayoutId id="2147483824" r:id="rId42"/>
    <p:sldLayoutId id="2147483821" r:id="rId43"/>
    <p:sldLayoutId id="2147483822" r:id="rId44"/>
    <p:sldLayoutId id="2147483823" r:id="rId45"/>
    <p:sldLayoutId id="2147483830" r:id="rId46"/>
    <p:sldLayoutId id="2147483825" r:id="rId47"/>
    <p:sldLayoutId id="2147483877" r:id="rId48"/>
    <p:sldLayoutId id="2147483827" r:id="rId49"/>
    <p:sldLayoutId id="2147483832" r:id="rId50"/>
    <p:sldLayoutId id="2147483826" r:id="rId51"/>
    <p:sldLayoutId id="2147483829" r:id="rId52"/>
    <p:sldLayoutId id="2147483878" r:id="rId53"/>
    <p:sldLayoutId id="2147483828" r:id="rId54"/>
    <p:sldLayoutId id="2147483847" r:id="rId55"/>
    <p:sldLayoutId id="2147483848" r:id="rId56"/>
    <p:sldLayoutId id="2147483851" r:id="rId57"/>
    <p:sldLayoutId id="2147483876" r:id="rId58"/>
    <p:sldLayoutId id="2147483873" r:id="rId59"/>
    <p:sldLayoutId id="2147483874" r:id="rId60"/>
    <p:sldLayoutId id="2147483689" r:id="rId61"/>
    <p:sldLayoutId id="2147483666" r:id="rId62"/>
    <p:sldLayoutId id="2147483875" r:id="rId63"/>
    <p:sldLayoutId id="2147483667" r:id="rId64"/>
    <p:sldLayoutId id="2147483773" r:id="rId65"/>
    <p:sldLayoutId id="2147483912" r:id="rId66"/>
  </p:sldLayoutIdLst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0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4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1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21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12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269" indent="-182558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187" userDrawn="1">
          <p15:clr>
            <a:srgbClr val="F26B43"/>
          </p15:clr>
        </p15:guide>
        <p15:guide id="7" orient="horz" pos="370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01B0996-BFC6-4B32-A8FD-5FB86CF2B6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21483324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95" imgH="394" progId="TCLayout.ActiveDocument.1">
                  <p:embed/>
                </p:oleObj>
              </mc:Choice>
              <mc:Fallback>
                <p:oleObj name="think-cell Slide" r:id="rId41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01B0996-BFC6-4B32-A8FD-5FB86CF2B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2" y="1330126"/>
            <a:ext cx="10194471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9"/>
            </p:custDataLst>
          </p:nvPr>
        </p:nvSpPr>
        <p:spPr>
          <a:xfrm>
            <a:off x="8967795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9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1885684" y="6266997"/>
            <a:ext cx="6343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5002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  <p:sldLayoutId id="2147483928" r:id="rId15"/>
    <p:sldLayoutId id="2147483929" r:id="rId16"/>
    <p:sldLayoutId id="2147483930" r:id="rId17"/>
    <p:sldLayoutId id="2147483931" r:id="rId18"/>
    <p:sldLayoutId id="2147483932" r:id="rId19"/>
    <p:sldLayoutId id="2147483933" r:id="rId20"/>
    <p:sldLayoutId id="2147483934" r:id="rId21"/>
    <p:sldLayoutId id="2147483935" r:id="rId22"/>
    <p:sldLayoutId id="2147483936" r:id="rId23"/>
    <p:sldLayoutId id="2147483937" r:id="rId24"/>
    <p:sldLayoutId id="2147483938" r:id="rId25"/>
    <p:sldLayoutId id="2147483939" r:id="rId26"/>
    <p:sldLayoutId id="2147483940" r:id="rId27"/>
    <p:sldLayoutId id="2147483941" r:id="rId28"/>
    <p:sldLayoutId id="2147483942" r:id="rId29"/>
    <p:sldLayoutId id="2147483943" r:id="rId30"/>
    <p:sldLayoutId id="2147483944" r:id="rId31"/>
    <p:sldLayoutId id="2147483945" r:id="rId32"/>
    <p:sldLayoutId id="2147483946" r:id="rId33"/>
    <p:sldLayoutId id="2147483947" r:id="rId34"/>
    <p:sldLayoutId id="2147483948" r:id="rId35"/>
    <p:sldLayoutId id="2147483949" r:id="rId36"/>
  </p:sldLayoutIdLst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0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4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1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21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12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269" indent="-182558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187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3">
            <a:extLst>
              <a:ext uri="{FF2B5EF4-FFF2-40B4-BE49-F238E27FC236}">
                <a16:creationId xmlns:a16="http://schemas.microsoft.com/office/drawing/2014/main" id="{370B02A6-4C30-978F-D96F-3CD6602C08D6}"/>
              </a:ext>
            </a:extLst>
          </p:cNvPr>
          <p:cNvSpPr txBox="1">
            <a:spLocks/>
          </p:cNvSpPr>
          <p:nvPr userDrawn="1"/>
        </p:nvSpPr>
        <p:spPr>
          <a:xfrm>
            <a:off x="495064" y="4361380"/>
            <a:ext cx="10900905" cy="2259080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 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delete</a:t>
            </a:r>
          </a:p>
        </p:txBody>
      </p:sp>
    </p:spTree>
    <p:extLst>
      <p:ext uri="{BB962C8B-B14F-4D97-AF65-F5344CB8AC3E}">
        <p14:creationId xmlns:p14="http://schemas.microsoft.com/office/powerpoint/2010/main" val="402326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288000" indent="-288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4">
          <p15:clr>
            <a:srgbClr val="F26B43"/>
          </p15:clr>
        </p15:guide>
        <p15:guide id="2" pos="624">
          <p15:clr>
            <a:srgbClr val="F26B43"/>
          </p15:clr>
        </p15:guide>
        <p15:guide id="3" pos="7056">
          <p15:clr>
            <a:srgbClr val="F26B43"/>
          </p15:clr>
        </p15:guide>
        <p15:guide id="4" orient="horz" pos="840">
          <p15:clr>
            <a:srgbClr val="F26B43"/>
          </p15:clr>
        </p15:guide>
        <p15:guide id="5" orient="horz" pos="616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D968-D7CC-A92E-B8FD-6605994B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Glossary of terms and abbreviations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F966268-B782-7EEB-E4E4-1F22B772C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88160"/>
              </p:ext>
            </p:extLst>
          </p:nvPr>
        </p:nvGraphicFramePr>
        <p:xfrm>
          <a:off x="998397" y="1337176"/>
          <a:ext cx="4975681" cy="452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60">
                <a:tc gridSpan="2"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10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 marL="54000" marR="0" marT="0" marB="1152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54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FTE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Full Time Employee</a:t>
                      </a:r>
                      <a:endParaRPr lang="en-GB" sz="9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08600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GP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Gross profit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90802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Key performance indicator</a:t>
                      </a:r>
                      <a:endParaRPr lang="en-GB" sz="9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3397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LFL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Like-for-like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9665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LT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Long-term loan</a:t>
                      </a:r>
                      <a:endParaRPr lang="en-GB" sz="9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2205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Mgt. Acct.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Management</a:t>
                      </a:r>
                      <a:r>
                        <a:rPr lang="en-US" sz="900" b="0" baseline="0">
                          <a:solidFill>
                            <a:schemeClr val="tx1"/>
                          </a:solidFill>
                          <a:latin typeface="+mn-lt"/>
                        </a:rPr>
                        <a:t> accounts prepared</a:t>
                      </a:r>
                      <a:endParaRPr lang="en-US" sz="9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43131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MLR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Minimum Loan Rate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3871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MOR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Minimum Overdraft Rate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63023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Information is not available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95346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n/p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Information is not provided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7368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NAV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Net asset value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7960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NPAEs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>
                          <a:solidFill>
                            <a:schemeClr val="tx1"/>
                          </a:solidFill>
                          <a:latin typeface="+mn-lt"/>
                        </a:rPr>
                        <a:t>Non-Publicly Accountable Entities </a:t>
                      </a:r>
                      <a:endParaRPr lang="en-US" sz="9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72574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Overdraft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2844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OEM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Original Equipment Manufacturer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5689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P&amp;L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Profit and loss statement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93341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p.a.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Per annum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5342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PAEs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  <a:latin typeface="+mn-lt"/>
                        </a:rPr>
                        <a:t>Publicly Accountable Entities 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59116"/>
                  </a:ext>
                </a:extLst>
              </a:tr>
            </a:tbl>
          </a:graphicData>
        </a:graphic>
      </p:graphicFrame>
      <p:sp>
        <p:nvSpPr>
          <p:cNvPr id="28" name="Isosceles Triangle 16">
            <a:extLst>
              <a:ext uri="{FF2B5EF4-FFF2-40B4-BE49-F238E27FC236}">
                <a16:creationId xmlns:a16="http://schemas.microsoft.com/office/drawing/2014/main" id="{37E5118D-DF1E-9B81-7852-DF593F692AFA}"/>
              </a:ext>
            </a:extLst>
          </p:cNvPr>
          <p:cNvSpPr/>
          <p:nvPr/>
        </p:nvSpPr>
        <p:spPr>
          <a:xfrm rot="5400000">
            <a:off x="11877180" y="179137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17">
            <a:extLst>
              <a:ext uri="{FF2B5EF4-FFF2-40B4-BE49-F238E27FC236}">
                <a16:creationId xmlns:a16="http://schemas.microsoft.com/office/drawing/2014/main" id="{CC667EF8-8CE8-A243-CCA5-6CC463F7F7C5}"/>
              </a:ext>
            </a:extLst>
          </p:cNvPr>
          <p:cNvSpPr/>
          <p:nvPr/>
        </p:nvSpPr>
        <p:spPr>
          <a:xfrm rot="16200000" flipH="1">
            <a:off x="11315058" y="179137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FA602B8-C9BD-988D-9CDC-33F50BDC1700}"/>
              </a:ext>
            </a:extLst>
          </p:cNvPr>
          <p:cNvSpPr/>
          <p:nvPr/>
        </p:nvSpPr>
        <p:spPr>
          <a:xfrm>
            <a:off x="11799231" y="103575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344D1B-4A7A-656D-B5AE-2836FBFEA09E}"/>
              </a:ext>
            </a:extLst>
          </p:cNvPr>
          <p:cNvSpPr/>
          <p:nvPr/>
        </p:nvSpPr>
        <p:spPr>
          <a:xfrm flipH="1">
            <a:off x="11255557" y="103575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C9EB2ADB-9911-89CC-7135-014DCC9D95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2"/>
            <a:ext cx="222479" cy="222479"/>
          </a:xfrm>
          <a:prstGeom prst="rect">
            <a:avLst/>
          </a:prstGeom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C6D99AC-A8BB-5C60-59A5-A3ECFBEFD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083165"/>
              </p:ext>
            </p:extLst>
          </p:nvPr>
        </p:nvGraphicFramePr>
        <p:xfrm>
          <a:off x="6213908" y="1337176"/>
          <a:ext cx="4975681" cy="477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60">
                <a:tc gridSpan="2"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10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 marL="54000" marR="0" marT="0" marB="1152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54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PF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Provident fund</a:t>
                      </a:r>
                      <a:endParaRPr lang="en-GB" sz="9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41137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PN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Promissory note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704292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Percentage point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1053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QoE</a:t>
                      </a:r>
                      <a:endParaRPr lang="en-US" sz="9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Quality of earnings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10591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ROU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Right-of-use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57687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SG&amp;A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Selling and administrative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9447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SKU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Stock Keeping Unit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32856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SME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Small and Medium Enterprises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5117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SPA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Sale and purchase agreement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0327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TAS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Thai Accounting Standards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33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TB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Trial balance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75646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TFRS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>
                          <a:solidFill>
                            <a:schemeClr val="tx1"/>
                          </a:solidFill>
                          <a:latin typeface="+mn-lt"/>
                        </a:rPr>
                        <a:t>Thai Financial Reporting Standards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0501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Value added tax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4683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WCF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Worker compensation fund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3754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WHT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Withholding tax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2843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Work in process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UQ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Unquantifiable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7120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endParaRPr lang="en-US" sz="9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91065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929034B7-FD5B-C049-19CF-ED5356143576}"/>
              </a:ext>
            </a:extLst>
          </p:cNvPr>
          <p:cNvSpPr txBox="1"/>
          <p:nvPr/>
        </p:nvSpPr>
        <p:spPr>
          <a:xfrm>
            <a:off x="3233057" y="6400800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A9F64D-17A6-F1BB-EA73-EC5889959A9E}"/>
              </a:ext>
            </a:extLst>
          </p:cNvPr>
          <p:cNvSpPr txBox="1"/>
          <p:nvPr/>
        </p:nvSpPr>
        <p:spPr>
          <a:xfrm>
            <a:off x="1328057" y="620486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884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  <p:tag name="THINKCELLPRESENTATIONDONOTDELETE" val="&lt;?xml version=&quot;1.0&quot; encoding=&quot;UTF-16&quot; standalone=&quot;yes&quot;?&gt;&lt;root reqver=&quot;28224&quot;&gt;&lt;version val=&quot;351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.%#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4.02175061098735842080E+00&quot;&gt;&lt;m_msothmcolidx val=&quot;0&quot;/&gt;&lt;m_rgb r=&quot;00&quot; g=&quot;B8&quot; b=&quot;F5&quot;/&gt;&lt;/elem&gt;&lt;elem m_fUsage=&quot;2.79082375453063713522E+00&quot;&gt;&lt;m_msothmcolidx val=&quot;0&quot;/&gt;&lt;m_rgb r=&quot;B4&quot; g=&quot;97&quot; b=&quot;FF&quot;/&gt;&lt;/elem&gt;&lt;elem m_fUsage=&quot;1.78191018942025358740E+00&quot;&gt;&lt;m_msothmcolidx val=&quot;0&quot;/&gt;&lt;m_rgb r=&quot;AC&quot; g=&quot;EA&quot; b=&quot;FF&quot;/&gt;&lt;/elem&gt;&lt;elem m_fUsage=&quot;1.36168386575579747344E+00&quot;&gt;&lt;m_msothmcolidx val=&quot;0&quot;/&gt;&lt;m_rgb r=&quot;1E&quot; g=&quot;49&quot; b=&quot;E2&quot;/&gt;&lt;/elem&gt;&lt;elem m_fUsage=&quot;4.37768917410848307226E-02&quot;&gt;&lt;m_msothmcolidx val=&quot;0&quot;/&gt;&lt;m_rgb r=&quot;72&quot; g=&quot;13&quot; b=&quot;EA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  <p:tag name="UPSLIDETOCALGOID" val="Standard"/>
  <p:tag name="TEMPLATESHORTNAMETAG" val="Diligence+ Template"/>
  <p:tag name="TEMPLATEFULLNAMETAG" val="Diligence+ Template"/>
  <p:tag name="TEMPLATEDETAILSTAG" val="Diligence+ Template"/>
  <p:tag name="UPSLIDE" val="KPM02442_Diligence + Template V2_10-05-2023"/>
  <p:tag name="UPSLIDEVERSION" val="6.9.22.1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true&lt;/ContainsAppendix&gt;&#10;    &lt;ContainsUnNumberedSections&gt;false&lt;/ContainsUnNumberedSections&gt;&#10;    &lt;SlideTitle&gt;Contents&lt;/SlideTitle&gt;&#10;  &lt;/TocSlidesOptions&gt;&#10;  &lt;SectionSlideOptions&gt;&#10;    &lt;ContainsOwnSubSection&gt;tru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fals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fals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KPMG Widescreen [16:9] Feb 2022&lt;/DesignName&gt;&#10;      &lt;LayoutName&gt;Back Cover dark Gradient&lt;/LayoutName&gt;&#10;    &lt;/TocSlidesLayout&gt;&#10;    &lt;SectionLayout&gt;&#10;      &lt;DesignName&gt;KPMG Widescreen [16:9] Feb 2022&lt;/DesignName&gt;&#10;      &lt;LayoutName&gt;Back Cover dark Gradient&lt;/LayoutName&gt;&#10;    &lt;/SectionLayout&gt;&#10;    &lt;SubsectionLayout&gt;&#10;      &lt;DesignName&gt;KPMG Widescreen [16:9] Feb 2022&lt;/DesignName&gt;&#10;      &lt;LayoutName&gt;Back Cover dark Gradient&lt;/LayoutName&gt;&#10;    &lt;/SubsectionLayout&gt;&#10;    &lt;AppendixLayout&gt;&#10;      &lt;DesignName&gt;KPMG Widescreen [16:9] Feb 2022&lt;/DesignName&gt;&#10;      &lt;LayoutName&gt;Back Cover dark Gradient&lt;/LayoutName&gt;&#10;    &lt;/AppendixLayout&gt;&#10;    &lt;TitleSliLayout&gt;&#10;      &lt;DesignName&gt;KPMG Widescreen [16:9] Feb 2022&lt;/DesignName&gt;&#10;      &lt;LayoutName&gt;TITLE SLIDE - Right vertical dark image&lt;/LayoutName&gt;&#10;    &lt;/TitleSliLayout&gt;&#10;  &lt;/UsedSlideLayouts&gt;&#10;  &lt;ActiveReminders&gt;&#10;    &lt;ReminderScriptList&gt;&#10;      &lt;ReminderScript&gt;&#10;        &lt;Key xsi:type=&quot;xsd:string&quot;&gt;Reminder28/07/2016 10:55:40833312551&lt;/Key&gt;&#10;        &lt;Value xsi:type=&quot;xsd:string&quot;&gt;&amp;lt;%SectionName%&amp;gt;&amp;lt;%SpaceIfInSubSec%&amp;gt;&amp;lt;%TiretIfInSubSec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fals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true&lt;/UseFixedColor&gt;&#10;        &lt;R&gt;140&lt;/R&gt;&#10;        &lt;G&gt;205&lt;/G&gt;&#10;        &lt;B&gt;238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true&lt;/ForceDisplayTOCOnTwocolumns&gt;&#10;      &lt;DisplayTOCOnTwocolumns&gt;true&lt;/DisplayTOCOnTwocolumns&gt;&#10;      &lt;Scripts&gt;&#10;        &lt;BeforeSubSecTitle /&gt;&#10;        &lt;BeforeSlideIndex /&gt;&#10;        &lt;AfterSecNum /&gt;&#10;        &lt;BeforeSecNum&gt;0&lt;/BeforeSecNum&gt;&#10;        &lt;ZeroBeforeSecNum&gt;false&lt;/Zero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1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3&lt;/SpaceBeforeSubSections&gt;&#10;          &lt;SpaceBeforeSlides&gt;0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true&lt;/UseSpecificSpacingForSecDivider&gt;&#10;        &lt;UseSpecificSpacingForSubSecDivider&gt;false&lt;/UseSpecificSpacingForSubSecDivider&gt;&#10;      &lt;/ManVerticalSpacing&gt;&#10;    &lt;/CustomBaseAlgoOptions&gt;&#10;  &lt;/CustomAlgoOptions&gt;&#10;  &lt;UserPresentationOptions&gt;&#10;    &lt;SubSectionsHaveSlide&gt;false&lt;/SubSectionsHaveSlide&gt;&#10;    &lt;SectionDividersContainOwnSubSections&gt;true&lt;/SectionDividersContainOwnSubSections&gt;&#10;    &lt;SectionDividersContainOwnSlideTitles&gt;true&lt;/SectionDividersContainOwnSlideTitles&gt;&#10;    &lt;SubSectionDividersContainOwnSlideTitles&gt;false&lt;/SubSectionDividersContainOwnSlideTitles&gt;&#10;    &lt;TOCSlidesContainSubsectionTitles xsi:nil=&quot;true&quot; /&gt;&#10;    &lt;TOCSlidesContainSlideTitles xsi:nil=&quot;true&quot; /&gt;&#10;    &lt;DisplayRemindersOnSlides&gt;fals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fals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3.4643"/>
  <p:tag name="ADV_LEFT" val="148.479"/>
  <p:tag name="ADV_HEIGHT" val="14.54063"/>
  <p:tag name="ADV_WIDTH" val="499.4646"/>
  <p:tag name="ADV_COPYRIGHT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3.4643"/>
  <p:tag name="ADV_LEFT" val="148.479"/>
  <p:tag name="ADV_HEIGHT" val="14.54063"/>
  <p:tag name="ADV_WIDTH" val="499.4646"/>
  <p:tag name="ADV_COPYRIGHT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DRAFT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UBSECTIONTITLE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ECTIONTITLE"/>
  <p:tag name="NAME" val="SECTIONTITLE"/>
  <p:tag name="TOCTEMPLATESHAPENAME" val="Titre de section"/>
  <p:tag name="TOCTEMPLATESHAPEDESCRIPTION" val="Définit le format de la forme contenant les titres de sec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4"/>
  <p:tag name="SLIDEINDEX" val="344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1"/>
  <p:tag name="SLIDEINDEX" val="341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8"/>
  <p:tag name="SLIDEINDEX" val="268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9"/>
  <p:tag name="SLIDEINDEX" val="269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8/07/2016 10:55:40833312551"/>
  <p:tag name="TOCTEMPLATESHAPENAME" val="SecElseSubSec"/>
  <p:tag name="TOCTEMPLATESHAPEDESCRIPTION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KPMG Widescreen [16:9] Feb 2022">
  <a:themeElements>
    <a:clrScheme name="Custom 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0B8F5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2.xml><?xml version="1.0" encoding="utf-8"?>
<a:theme xmlns:a="http://schemas.openxmlformats.org/drawingml/2006/main" name="1_KPMG Widescreen [16:9] Feb 2022">
  <a:themeElements>
    <a:clrScheme name="Custom 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0B8F5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3.xml><?xml version="1.0" encoding="utf-8"?>
<a:theme xmlns:a="http://schemas.openxmlformats.org/drawingml/2006/main" name="UpSlide Table Of Content Master (do not edit)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.potx" id="{6455E736-A663-42B3-AE87-CE685C9EE32D}" vid="{4C31DD5F-4BC8-428D-ABAC-C4C5313B9E9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5F2475-0FD1-475F-BE59-2DFAE39627EB}">
  <we:reference id="9c4ae91c-a022-4062-b6f5-38e49ed8ba78" version="1.0.34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4d88f0-d431-497b-82de-83cf50d55861" xsi:nil="true"/>
    <lcf76f155ced4ddcb4097134ff3c332f xmlns="da1207d4-a4a2-4134-936f-07aa70b91ff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7386C0D47124CABEC8D663EB2631F" ma:contentTypeVersion="14" ma:contentTypeDescription="Create a new document." ma:contentTypeScope="" ma:versionID="b4d22bb0e4e3c03510ac2a0235f9e22a">
  <xsd:schema xmlns:xsd="http://www.w3.org/2001/XMLSchema" xmlns:xs="http://www.w3.org/2001/XMLSchema" xmlns:p="http://schemas.microsoft.com/office/2006/metadata/properties" xmlns:ns2="da1207d4-a4a2-4134-936f-07aa70b91ff6" xmlns:ns3="d84d88f0-d431-497b-82de-83cf50d55861" targetNamespace="http://schemas.microsoft.com/office/2006/metadata/properties" ma:root="true" ma:fieldsID="c7c7cbd3cf27bfbcbacd183757349ac1" ns2:_="" ns3:_="">
    <xsd:import namespace="da1207d4-a4a2-4134-936f-07aa70b91ff6"/>
    <xsd:import namespace="d84d88f0-d431-497b-82de-83cf50d558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207d4-a4a2-4134-936f-07aa70b91f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4d88f0-d431-497b-82de-83cf50d5586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a152f59-2c8c-49fa-8521-65f422397a95}" ma:internalName="TaxCatchAll" ma:showField="CatchAllData" ma:web="d84d88f0-d431-497b-82de-83cf50d558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3310D9-E18C-417A-A856-33E8675CB3CD}">
  <ds:schemaRefs>
    <ds:schemaRef ds:uri="http://schemas.microsoft.com/office/infopath/2007/PartnerControls"/>
    <ds:schemaRef ds:uri="d84d88f0-d431-497b-82de-83cf50d55861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da1207d4-a4a2-4134-936f-07aa70b91ff6"/>
  </ds:schemaRefs>
</ds:datastoreItem>
</file>

<file path=customXml/itemProps2.xml><?xml version="1.0" encoding="utf-8"?>
<ds:datastoreItem xmlns:ds="http://schemas.openxmlformats.org/officeDocument/2006/customXml" ds:itemID="{316E8BE8-38F7-4538-BC61-23EE78439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CB2A76-64D5-4C39-9ACC-439A23639E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207d4-a4a2-4134-936f-07aa70b91ff6"/>
    <ds:schemaRef ds:uri="d84d88f0-d431-497b-82de-83cf50d558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557</TotalTime>
  <Words>147</Words>
  <Application>Microsoft Macintosh PowerPoint</Application>
  <PresentationFormat>Widescreen</PresentationFormat>
  <Paragraphs>71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KPMG Bold</vt:lpstr>
      <vt:lpstr>Arial</vt:lpstr>
      <vt:lpstr>KPMG Widescreen [16:9] Feb 2022</vt:lpstr>
      <vt:lpstr>1_KPMG Widescreen [16:9] Feb 2022</vt:lpstr>
      <vt:lpstr>UpSlide Table Of Content Master (do not edit)</vt:lpstr>
      <vt:lpstr>think-cell Slide</vt:lpstr>
      <vt:lpstr>Glossary of terms and abbreviations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  DRAFT</dc:title>
  <dc:creator>Marketing Services</dc:creator>
  <cp:keywords/>
  <cp:lastModifiedBy>Sharma, Rishi</cp:lastModifiedBy>
  <cp:revision>6</cp:revision>
  <dcterms:created xsi:type="dcterms:W3CDTF">2022-03-14T16:42:38Z</dcterms:created>
  <dcterms:modified xsi:type="dcterms:W3CDTF">2025-11-20T01:56:34Z</dcterms:modified>
  <cp:category>KPMG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0x0101007677386C0D47124CABEC8D663EB2631F</vt:lpwstr>
  </property>
  <property fmtid="{D5CDD505-2E9C-101B-9397-08002B2CF9AE}" pid="3" name="KPMGDataBusinessProcess">
    <vt:lpwstr/>
  </property>
  <property fmtid="{D5CDD505-2E9C-101B-9397-08002B2CF9AE}" pid="4" name="KPMGDataCountryOfOrigin">
    <vt:lpwstr>6</vt:lpwstr>
  </property>
  <property fmtid="{D5CDD505-2E9C-101B-9397-08002B2CF9AE}" pid="5" name="KPMGDataTechnology">
    <vt:lpwstr/>
  </property>
  <property fmtid="{D5CDD505-2E9C-101B-9397-08002B2CF9AE}" pid="6" name="KPMGDataContentOwner">
    <vt:lpwstr>102</vt:lpwstr>
  </property>
  <property fmtid="{D5CDD505-2E9C-101B-9397-08002B2CF9AE}" pid="7" name="KPMGDataAcquisitions">
    <vt:lpwstr/>
  </property>
  <property fmtid="{D5CDD505-2E9C-101B-9397-08002B2CF9AE}" pid="8" name="KPMGDataServices">
    <vt:lpwstr>101;#Marketing and Communications|d3731beb-9294-427c-b0f6-ff03ac38220b</vt:lpwstr>
  </property>
  <property fmtid="{D5CDD505-2E9C-101B-9397-08002B2CF9AE}" pid="9" name="KPMGDataRelevantCountries">
    <vt:lpwstr/>
  </property>
  <property fmtid="{D5CDD505-2E9C-101B-9397-08002B2CF9AE}" pid="10" name="KPMGDataContentUse">
    <vt:lpwstr>2</vt:lpwstr>
  </property>
  <property fmtid="{D5CDD505-2E9C-101B-9397-08002B2CF9AE}" pid="11" name="KPMGDataAlliances">
    <vt:lpwstr/>
  </property>
  <property fmtid="{D5CDD505-2E9C-101B-9397-08002B2CF9AE}" pid="12" name="KPMGDataFileType">
    <vt:lpwstr>28</vt:lpwstr>
  </property>
  <property fmtid="{D5CDD505-2E9C-101B-9397-08002B2CF9AE}" pid="13" name="KPMGDataTaxTechnical">
    <vt:lpwstr/>
  </property>
  <property fmtid="{D5CDD505-2E9C-101B-9397-08002B2CF9AE}" pid="14" name="KPMGDataEngagementPhase">
    <vt:lpwstr/>
  </property>
  <property fmtid="{D5CDD505-2E9C-101B-9397-08002B2CF9AE}" pid="15" name="KPMGDataMarkets">
    <vt:lpwstr/>
  </property>
  <property fmtid="{D5CDD505-2E9C-101B-9397-08002B2CF9AE}" pid="16" name="KPMGDataAudienceLevel">
    <vt:lpwstr/>
  </property>
  <property fmtid="{D5CDD505-2E9C-101B-9397-08002B2CF9AE}" pid="17" name="KPMGDataContentCategoryType">
    <vt:lpwstr>2</vt:lpwstr>
  </property>
  <property fmtid="{D5CDD505-2E9C-101B-9397-08002B2CF9AE}" pid="18" name="KPMGDataPropositions">
    <vt:lpwstr/>
  </property>
  <property fmtid="{D5CDD505-2E9C-101B-9397-08002B2CF9AE}" pid="19" name="KPMGDataCentreOfExcellecnce">
    <vt:lpwstr/>
  </property>
  <property fmtid="{D5CDD505-2E9C-101B-9397-08002B2CF9AE}" pid="20" name="KPMGDataExternalAudience">
    <vt:lpwstr/>
  </property>
  <property fmtid="{D5CDD505-2E9C-101B-9397-08002B2CF9AE}" pid="21" name="KPMG_LayoutGrid">
    <vt:lpwstr>0</vt:lpwstr>
  </property>
  <property fmtid="{D5CDD505-2E9C-101B-9397-08002B2CF9AE}" pid="22" name="MediaServiceImageTags">
    <vt:lpwstr/>
  </property>
  <property fmtid="{D5CDD505-2E9C-101B-9397-08002B2CF9AE}" pid="23" name="_NewReviewCycle">
    <vt:lpwstr/>
  </property>
</Properties>
</file>