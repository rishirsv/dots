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51.xml" ContentType="application/vnd.openxmlformats-officedocument.presentationml.tags+xml"/>
  <Override PartName="/ppt/notesSlides/notesSlide1.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notesSlides/notesSlide2.xml" ContentType="application/vnd.openxmlformats-officedocument.presentationml.notesSlide+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notesSlides/notesSlide3.xml" ContentType="application/vnd.openxmlformats-officedocument.presentationml.notesSlide+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notesSlides/notesSlide4.xml" ContentType="application/vnd.openxmlformats-officedocument.presentationml.notesSlide+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notesSlides/notesSlide5.xml" ContentType="application/vnd.openxmlformats-officedocument.presentationml.notesSlide+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comments/modernComment_129C_39FE3A84.xml" ContentType="application/vnd.ms-powerpoint.comment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notesSlides/notesSlide6.xml" ContentType="application/vnd.openxmlformats-officedocument.presentationml.notesSlide+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notesSlides/notesSlide7.xml" ContentType="application/vnd.openxmlformats-officedocument.presentationml.notesSlide+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notesSlides/notesSlide8.xml" ContentType="application/vnd.openxmlformats-officedocument.presentationml.notesSlide+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notesSlides/notesSlide9.xml" ContentType="application/vnd.openxmlformats-officedocument.presentationml.notesSlide+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4"/>
    <p:sldMasterId id="2147483803" r:id="rId5"/>
  </p:sldMasterIdLst>
  <p:notesMasterIdLst>
    <p:notesMasterId r:id="rId86"/>
  </p:notesMasterIdLst>
  <p:handoutMasterIdLst>
    <p:handoutMasterId r:id="rId87"/>
  </p:handoutMasterIdLst>
  <p:sldIdLst>
    <p:sldId id="783" r:id="rId6"/>
    <p:sldId id="901" r:id="rId7"/>
    <p:sldId id="790" r:id="rId8"/>
    <p:sldId id="789" r:id="rId9"/>
    <p:sldId id="787" r:id="rId10"/>
    <p:sldId id="916" r:id="rId11"/>
    <p:sldId id="4694" r:id="rId12"/>
    <p:sldId id="1214" r:id="rId13"/>
    <p:sldId id="803" r:id="rId14"/>
    <p:sldId id="866" r:id="rId15"/>
    <p:sldId id="4728" r:id="rId16"/>
    <p:sldId id="874" r:id="rId17"/>
    <p:sldId id="926" r:id="rId18"/>
    <p:sldId id="4749" r:id="rId19"/>
    <p:sldId id="4742" r:id="rId20"/>
    <p:sldId id="4758" r:id="rId21"/>
    <p:sldId id="4759" r:id="rId22"/>
    <p:sldId id="4760" r:id="rId23"/>
    <p:sldId id="4747" r:id="rId24"/>
    <p:sldId id="4751" r:id="rId25"/>
    <p:sldId id="4753" r:id="rId26"/>
    <p:sldId id="4755" r:id="rId27"/>
    <p:sldId id="4756" r:id="rId28"/>
    <p:sldId id="4757" r:id="rId29"/>
    <p:sldId id="4762" r:id="rId30"/>
    <p:sldId id="4764" r:id="rId31"/>
    <p:sldId id="4768" r:id="rId32"/>
    <p:sldId id="806" r:id="rId33"/>
    <p:sldId id="886" r:id="rId34"/>
    <p:sldId id="4737" r:id="rId35"/>
    <p:sldId id="909" r:id="rId36"/>
    <p:sldId id="911" r:id="rId37"/>
    <p:sldId id="4770" r:id="rId38"/>
    <p:sldId id="4771" r:id="rId39"/>
    <p:sldId id="4772" r:id="rId40"/>
    <p:sldId id="4793" r:id="rId41"/>
    <p:sldId id="4773" r:id="rId42"/>
    <p:sldId id="912" r:id="rId43"/>
    <p:sldId id="808" r:id="rId44"/>
    <p:sldId id="4701" r:id="rId45"/>
    <p:sldId id="4798" r:id="rId46"/>
    <p:sldId id="4785" r:id="rId47"/>
    <p:sldId id="4707" r:id="rId48"/>
    <p:sldId id="4714" r:id="rId49"/>
    <p:sldId id="4719" r:id="rId50"/>
    <p:sldId id="4783" r:id="rId51"/>
    <p:sldId id="4720" r:id="rId52"/>
    <p:sldId id="4716" r:id="rId53"/>
    <p:sldId id="4721" r:id="rId54"/>
    <p:sldId id="4715" r:id="rId55"/>
    <p:sldId id="4718" r:id="rId56"/>
    <p:sldId id="4717" r:id="rId57"/>
    <p:sldId id="871" r:id="rId58"/>
    <p:sldId id="897" r:id="rId59"/>
    <p:sldId id="918" r:id="rId60"/>
    <p:sldId id="4780" r:id="rId61"/>
    <p:sldId id="4782" r:id="rId62"/>
    <p:sldId id="4697" r:id="rId63"/>
    <p:sldId id="4799" r:id="rId64"/>
    <p:sldId id="4734" r:id="rId65"/>
    <p:sldId id="4797" r:id="rId66"/>
    <p:sldId id="4775" r:id="rId67"/>
    <p:sldId id="919" r:id="rId68"/>
    <p:sldId id="4774" r:id="rId69"/>
    <p:sldId id="4796" r:id="rId70"/>
    <p:sldId id="4776" r:id="rId71"/>
    <p:sldId id="4777" r:id="rId72"/>
    <p:sldId id="4698" r:id="rId73"/>
    <p:sldId id="4711" r:id="rId74"/>
    <p:sldId id="4710" r:id="rId75"/>
    <p:sldId id="4712" r:id="rId76"/>
    <p:sldId id="4713" r:id="rId77"/>
    <p:sldId id="915" r:id="rId78"/>
    <p:sldId id="651" r:id="rId79"/>
    <p:sldId id="904" r:id="rId80"/>
    <p:sldId id="4786" r:id="rId81"/>
    <p:sldId id="4787" r:id="rId82"/>
    <p:sldId id="4794" r:id="rId83"/>
    <p:sldId id="4795" r:id="rId84"/>
    <p:sldId id="695" r:id="rId85"/>
  </p:sldIdLst>
  <p:sldSz cx="12192000" cy="6858000"/>
  <p:notesSz cx="7010400" cy="12039600"/>
  <p:custDataLst>
    <p:tags r:id="rId8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C1EBE46-6F5F-6478-69E7-FB427C3E65AF}" name="Chan, Eddie" initials="CE" userId="S::eddiechan@kpmg.ca::908114d7-42cd-4f78-8408-b2da84c2cce0" providerId="AD"/>
  <p188:author id="{042594DF-9CE0-6FF8-A096-8F4182A0503B}" name="Xie, Cindy" initials="XC" userId="S::cindyxie1@kpmg.ca::d07a80d9-7afc-4aaa-838a-f70d959243a1" providerId="AD"/>
  <p188:author id="{024094EA-EB6F-E0B9-90F7-EF52CE90FB5C}" name="Mammoliti, Mike" initials="MM" userId="S::mmammoliti@kpmg.ca::5fa7e33f-2da2-4d1b-ab3c-883ab1556c22" providerId="AD"/>
  <p188:author id="{AAC013F6-C244-9D26-EEA2-3335C6FA043A}" name="Sharma, Rishi" initials="SR" userId="S::rishisharma@kpmg.ca::e74c8ff5-9686-43df-9030-def1b430b21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hite, Catherine" initials="WC" lastIdx="18" clrIdx="0">
    <p:extLst>
      <p:ext uri="{19B8F6BF-5375-455C-9EA6-DF929625EA0E}">
        <p15:presenceInfo xmlns:p15="http://schemas.microsoft.com/office/powerpoint/2012/main" userId="S::cjwhite@kpmg.ca::0dea3d63-dcad-4748-a310-11ef28cac8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E5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94"/>
  </p:normalViewPr>
  <p:slideViewPr>
    <p:cSldViewPr snapToGrid="0" showGuides="1">
      <p:cViewPr varScale="1">
        <p:scale>
          <a:sx n="121" d="100"/>
          <a:sy n="121" d="100"/>
        </p:scale>
        <p:origin x="784" y="176"/>
      </p:cViewPr>
      <p:guideLst/>
    </p:cSldViewPr>
  </p:slideViewPr>
  <p:notesTextViewPr>
    <p:cViewPr>
      <p:scale>
        <a:sx n="1" d="1"/>
        <a:sy n="1" d="1"/>
      </p:scale>
      <p:origin x="0" y="0"/>
    </p:cViewPr>
  </p:notesTextViewPr>
  <p:notesViewPr>
    <p:cSldViewPr snapToGrid="0"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commentAuthors" Target="commentAuthor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2.xml"/><Relationship Id="rId90" Type="http://schemas.openxmlformats.org/officeDocument/2006/relationships/presProps" Target="presProps.xml"/><Relationship Id="rId95" Type="http://schemas.microsoft.com/office/2018/10/relationships/authors" Target="authors.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tags" Target="tags/tag1.xml"/><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notesMaster" Target="notesMasters/notesMaster1.xml"/><Relationship Id="rId94"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handoutMaster" Target="handoutMasters/handoutMaster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ma, Rishi" userId="e74c8ff5-9686-43df-9030-def1b430b212" providerId="ADAL" clId="{294E1628-705E-50FC-8AB9-EBA3EBE16EFB}"/>
    <pc:docChg chg="undo custSel modSld">
      <pc:chgData name="Sharma, Rishi" userId="e74c8ff5-9686-43df-9030-def1b430b212" providerId="ADAL" clId="{294E1628-705E-50FC-8AB9-EBA3EBE16EFB}" dt="2026-01-12T18:10:06.928" v="1" actId="1076"/>
      <pc:docMkLst>
        <pc:docMk/>
      </pc:docMkLst>
      <pc:sldChg chg="modSp mod">
        <pc:chgData name="Sharma, Rishi" userId="e74c8ff5-9686-43df-9030-def1b430b212" providerId="ADAL" clId="{294E1628-705E-50FC-8AB9-EBA3EBE16EFB}" dt="2026-01-12T18:10:06.928" v="1" actId="1076"/>
        <pc:sldMkLst>
          <pc:docMk/>
          <pc:sldMk cId="2121745200" sldId="787"/>
        </pc:sldMkLst>
        <pc:spChg chg="mod">
          <ac:chgData name="Sharma, Rishi" userId="e74c8ff5-9686-43df-9030-def1b430b212" providerId="ADAL" clId="{294E1628-705E-50FC-8AB9-EBA3EBE16EFB}" dt="2026-01-12T18:10:06.928" v="1" actId="1076"/>
          <ac:spMkLst>
            <pc:docMk/>
            <pc:sldMk cId="2121745200" sldId="787"/>
            <ac:spMk id="16" creationId="{98EE6537-8C20-A87B-3CC8-FD592EA19D01}"/>
          </ac:spMkLst>
        </pc:spChg>
      </pc:sldChg>
    </pc:docChg>
  </pc:docChgLst>
</pc:chgInfo>
</file>

<file path=ppt/comments/modernComment_129C_39FE3A84.xml><?xml version="1.0" encoding="utf-8"?>
<p188:cmLst xmlns:a="http://schemas.openxmlformats.org/drawingml/2006/main" xmlns:r="http://schemas.openxmlformats.org/officeDocument/2006/relationships" xmlns:p188="http://schemas.microsoft.com/office/powerpoint/2018/8/main">
  <p188:cm id="{6760BEF1-E953-453A-ABCC-B19977C4B333}" authorId="{7C1EBE46-6F5F-6478-69E7-FB427C3E65AF}" status="resolved" created="2024-08-08T16:37:23.256" complete="100000">
    <pc:sldMkLst xmlns:pc="http://schemas.microsoft.com/office/powerpoint/2013/main/command">
      <pc:docMk/>
      <pc:sldMk cId="972962436" sldId="4764"/>
    </pc:sldMkLst>
    <p188:replyLst>
      <p188:reply id="{7A579A95-E36D-4BD2-9E27-526E89CCCF5C}" authorId="{042594DF-9CE0-6FF8-A096-8F4182A0503B}" created="2024-08-08T17:13:25.335">
        <p188:txBody>
          <a:bodyPr/>
          <a:lstStyle/>
          <a:p>
            <a:r>
              <a:rPr lang="en-US"/>
              <a:t>Expanded to show Ai. Renamed table </a:t>
            </a:r>
          </a:p>
        </p188:txBody>
      </p188:reply>
    </p188:replyLst>
    <p188:txBody>
      <a:bodyPr/>
      <a:lstStyle/>
      <a:p>
        <a:r>
          <a:rPr lang="en-US"/>
          <a:t>Table Ai cash rent does not tie to main table. 
Can we also rename the Adjustment line to potential impact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54D5F6-3183-428A-85C8-51C26DD4B50F}"/>
              </a:ext>
            </a:extLst>
          </p:cNvPr>
          <p:cNvSpPr>
            <a:spLocks noGrp="1"/>
          </p:cNvSpPr>
          <p:nvPr>
            <p:ph type="hdr" sz="quarter"/>
          </p:nvPr>
        </p:nvSpPr>
        <p:spPr>
          <a:xfrm>
            <a:off x="0" y="0"/>
            <a:ext cx="3037840" cy="604071"/>
          </a:xfrm>
          <a:prstGeom prst="rect">
            <a:avLst/>
          </a:prstGeom>
        </p:spPr>
        <p:txBody>
          <a:bodyPr vert="horz" lIns="108850" tIns="54425" rIns="108850" bIns="54425" rtlCol="0"/>
          <a:lstStyle>
            <a:lvl1pPr algn="l">
              <a:defRPr sz="1400"/>
            </a:lvl1pPr>
          </a:lstStyle>
          <a:p>
            <a:endParaRPr lang="en-GB">
              <a:latin typeface="Arial" panose="020B0604020202020204" pitchFamily="34" charset="0"/>
            </a:endParaRPr>
          </a:p>
        </p:txBody>
      </p:sp>
      <p:sp>
        <p:nvSpPr>
          <p:cNvPr id="3" name="Date Placeholder 2">
            <a:extLst>
              <a:ext uri="{FF2B5EF4-FFF2-40B4-BE49-F238E27FC236}">
                <a16:creationId xmlns:a16="http://schemas.microsoft.com/office/drawing/2014/main" id="{F1608F93-CC89-4063-A187-7B1597877F10}"/>
              </a:ext>
            </a:extLst>
          </p:cNvPr>
          <p:cNvSpPr>
            <a:spLocks noGrp="1"/>
          </p:cNvSpPr>
          <p:nvPr>
            <p:ph type="dt" sz="quarter" idx="1"/>
          </p:nvPr>
        </p:nvSpPr>
        <p:spPr>
          <a:xfrm>
            <a:off x="3970938" y="0"/>
            <a:ext cx="3037840" cy="604071"/>
          </a:xfrm>
          <a:prstGeom prst="rect">
            <a:avLst/>
          </a:prstGeom>
        </p:spPr>
        <p:txBody>
          <a:bodyPr vert="horz" lIns="108850" tIns="54425" rIns="108850" bIns="54425" rtlCol="0"/>
          <a:lstStyle>
            <a:lvl1pPr algn="r">
              <a:defRPr sz="1400"/>
            </a:lvl1pPr>
          </a:lstStyle>
          <a:p>
            <a:fld id="{9BABA84C-EC3E-4598-9C4D-8CE1D2A956F5}" type="datetimeFigureOut">
              <a:rPr lang="en-GB" smtClean="0">
                <a:latin typeface="Arial" panose="020B0604020202020204" pitchFamily="34" charset="0"/>
              </a:rPr>
              <a:t>12/01/2026</a:t>
            </a:fld>
            <a:endParaRPr lang="en-GB">
              <a:latin typeface="Arial" panose="020B0604020202020204" pitchFamily="34" charset="0"/>
            </a:endParaRPr>
          </a:p>
        </p:txBody>
      </p:sp>
      <p:sp>
        <p:nvSpPr>
          <p:cNvPr id="4" name="Footer Placeholder 3">
            <a:extLst>
              <a:ext uri="{FF2B5EF4-FFF2-40B4-BE49-F238E27FC236}">
                <a16:creationId xmlns:a16="http://schemas.microsoft.com/office/drawing/2014/main" id="{EE24D309-D941-4AA7-AD70-D334F1D5923A}"/>
              </a:ext>
            </a:extLst>
          </p:cNvPr>
          <p:cNvSpPr>
            <a:spLocks noGrp="1"/>
          </p:cNvSpPr>
          <p:nvPr>
            <p:ph type="ftr" sz="quarter" idx="2"/>
          </p:nvPr>
        </p:nvSpPr>
        <p:spPr>
          <a:xfrm>
            <a:off x="0" y="11435531"/>
            <a:ext cx="3037840" cy="604070"/>
          </a:xfrm>
          <a:prstGeom prst="rect">
            <a:avLst/>
          </a:prstGeom>
        </p:spPr>
        <p:txBody>
          <a:bodyPr vert="horz" lIns="108850" tIns="54425" rIns="108850" bIns="54425" rtlCol="0" anchor="b"/>
          <a:lstStyle>
            <a:lvl1pPr algn="l">
              <a:defRPr sz="1400"/>
            </a:lvl1pPr>
          </a:lstStyle>
          <a:p>
            <a:endParaRPr lang="en-GB">
              <a:latin typeface="Arial" panose="020B0604020202020204" pitchFamily="34" charset="0"/>
            </a:endParaRPr>
          </a:p>
        </p:txBody>
      </p:sp>
      <p:sp>
        <p:nvSpPr>
          <p:cNvPr id="5" name="Slide Number Placeholder 4">
            <a:extLst>
              <a:ext uri="{FF2B5EF4-FFF2-40B4-BE49-F238E27FC236}">
                <a16:creationId xmlns:a16="http://schemas.microsoft.com/office/drawing/2014/main" id="{B1E99044-B362-4E47-A054-164531AC8F82}"/>
              </a:ext>
            </a:extLst>
          </p:cNvPr>
          <p:cNvSpPr>
            <a:spLocks noGrp="1"/>
          </p:cNvSpPr>
          <p:nvPr>
            <p:ph type="sldNum" sz="quarter" idx="3"/>
          </p:nvPr>
        </p:nvSpPr>
        <p:spPr>
          <a:xfrm>
            <a:off x="3970938" y="11435531"/>
            <a:ext cx="3037840" cy="604070"/>
          </a:xfrm>
          <a:prstGeom prst="rect">
            <a:avLst/>
          </a:prstGeom>
        </p:spPr>
        <p:txBody>
          <a:bodyPr vert="horz" lIns="108850" tIns="54425" rIns="108850" bIns="54425" rtlCol="0" anchor="b"/>
          <a:lstStyle>
            <a:lvl1pPr algn="r">
              <a:defRPr sz="1400"/>
            </a:lvl1pPr>
          </a:lstStyle>
          <a:p>
            <a:fld id="{90C0F9D0-9E03-483D-AC3B-FCB5CBA393CA}" type="slidenum">
              <a:rPr lang="en-GB" smtClean="0">
                <a:latin typeface="Arial" panose="020B0604020202020204" pitchFamily="34" charset="0"/>
              </a:rPr>
              <a:t>‹#›</a:t>
            </a:fld>
            <a:endParaRPr lang="en-GB">
              <a:latin typeface="Arial" panose="020B0604020202020204" pitchFamily="34" charset="0"/>
            </a:endParaRPr>
          </a:p>
        </p:txBody>
      </p:sp>
    </p:spTree>
    <p:extLst>
      <p:ext uri="{BB962C8B-B14F-4D97-AF65-F5344CB8AC3E}">
        <p14:creationId xmlns:p14="http://schemas.microsoft.com/office/powerpoint/2010/main" val="375430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604071"/>
          </a:xfrm>
          <a:prstGeom prst="rect">
            <a:avLst/>
          </a:prstGeom>
        </p:spPr>
        <p:txBody>
          <a:bodyPr vert="horz" lIns="108850" tIns="54425" rIns="108850" bIns="54425" rtlCol="0"/>
          <a:lstStyle>
            <a:lvl1pPr algn="l">
              <a:defRPr sz="1400">
                <a:latin typeface="Arial" panose="020B0604020202020204" pitchFamily="34" charset="0"/>
              </a:defRPr>
            </a:lvl1pPr>
          </a:lstStyle>
          <a:p>
            <a:endParaRPr lang="en-GB"/>
          </a:p>
        </p:txBody>
      </p:sp>
      <p:sp>
        <p:nvSpPr>
          <p:cNvPr id="3" name="Date Placeholder 2"/>
          <p:cNvSpPr>
            <a:spLocks noGrp="1"/>
          </p:cNvSpPr>
          <p:nvPr>
            <p:ph type="dt" idx="1"/>
          </p:nvPr>
        </p:nvSpPr>
        <p:spPr>
          <a:xfrm>
            <a:off x="3970938" y="0"/>
            <a:ext cx="3037840" cy="604071"/>
          </a:xfrm>
          <a:prstGeom prst="rect">
            <a:avLst/>
          </a:prstGeom>
        </p:spPr>
        <p:txBody>
          <a:bodyPr vert="horz" lIns="108850" tIns="54425" rIns="108850" bIns="54425" rtlCol="0"/>
          <a:lstStyle>
            <a:lvl1pPr algn="r">
              <a:defRPr sz="1400">
                <a:latin typeface="Arial" panose="020B0604020202020204" pitchFamily="34" charset="0"/>
              </a:defRPr>
            </a:lvl1pPr>
          </a:lstStyle>
          <a:p>
            <a:fld id="{3C57A4BF-14E0-48E2-B42F-B29D277000AB}" type="datetimeFigureOut">
              <a:rPr lang="en-GB" smtClean="0"/>
              <a:pPr/>
              <a:t>12/01/2026</a:t>
            </a:fld>
            <a:endParaRPr lang="en-GB"/>
          </a:p>
        </p:txBody>
      </p:sp>
      <p:sp>
        <p:nvSpPr>
          <p:cNvPr id="4" name="Slide Image Placeholder 3"/>
          <p:cNvSpPr>
            <a:spLocks noGrp="1" noRot="1" noChangeAspect="1"/>
          </p:cNvSpPr>
          <p:nvPr>
            <p:ph type="sldImg" idx="2"/>
          </p:nvPr>
        </p:nvSpPr>
        <p:spPr>
          <a:xfrm>
            <a:off x="-106363" y="1504950"/>
            <a:ext cx="7223126" cy="4064000"/>
          </a:xfrm>
          <a:prstGeom prst="rect">
            <a:avLst/>
          </a:prstGeom>
          <a:noFill/>
          <a:ln w="12700">
            <a:solidFill>
              <a:prstClr val="black"/>
            </a:solidFill>
          </a:ln>
        </p:spPr>
        <p:txBody>
          <a:bodyPr vert="horz" lIns="108850" tIns="54425" rIns="108850" bIns="54425" rtlCol="0" anchor="ctr"/>
          <a:lstStyle/>
          <a:p>
            <a:endParaRPr lang="en-GB"/>
          </a:p>
        </p:txBody>
      </p:sp>
      <p:sp>
        <p:nvSpPr>
          <p:cNvPr id="5" name="Notes Placeholder 4"/>
          <p:cNvSpPr>
            <a:spLocks noGrp="1"/>
          </p:cNvSpPr>
          <p:nvPr>
            <p:ph type="body" sz="quarter" idx="3"/>
          </p:nvPr>
        </p:nvSpPr>
        <p:spPr>
          <a:xfrm>
            <a:off x="701040" y="5794057"/>
            <a:ext cx="5608320" cy="4740593"/>
          </a:xfrm>
          <a:prstGeom prst="rect">
            <a:avLst/>
          </a:prstGeom>
        </p:spPr>
        <p:txBody>
          <a:bodyPr vert="horz" lIns="108850" tIns="54425" rIns="108850" bIns="5442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11435531"/>
            <a:ext cx="3037840" cy="604070"/>
          </a:xfrm>
          <a:prstGeom prst="rect">
            <a:avLst/>
          </a:prstGeom>
        </p:spPr>
        <p:txBody>
          <a:bodyPr vert="horz" lIns="108850" tIns="54425" rIns="108850" bIns="54425" rtlCol="0" anchor="b"/>
          <a:lstStyle>
            <a:lvl1pPr algn="l">
              <a:defRPr sz="1400">
                <a:latin typeface="Arial" panose="020B0604020202020204" pitchFamily="34" charset="0"/>
              </a:defRPr>
            </a:lvl1pPr>
          </a:lstStyle>
          <a:p>
            <a:endParaRPr lang="en-GB"/>
          </a:p>
        </p:txBody>
      </p:sp>
      <p:sp>
        <p:nvSpPr>
          <p:cNvPr id="7" name="Slide Number Placeholder 6"/>
          <p:cNvSpPr>
            <a:spLocks noGrp="1"/>
          </p:cNvSpPr>
          <p:nvPr>
            <p:ph type="sldNum" sz="quarter" idx="5"/>
          </p:nvPr>
        </p:nvSpPr>
        <p:spPr>
          <a:xfrm>
            <a:off x="3970938" y="11435531"/>
            <a:ext cx="3037840" cy="604070"/>
          </a:xfrm>
          <a:prstGeom prst="rect">
            <a:avLst/>
          </a:prstGeom>
        </p:spPr>
        <p:txBody>
          <a:bodyPr vert="horz" lIns="108850" tIns="54425" rIns="108850" bIns="54425" rtlCol="0" anchor="b"/>
          <a:lstStyle>
            <a:lvl1pPr algn="r">
              <a:defRPr sz="1400">
                <a:latin typeface="Arial" panose="020B0604020202020204" pitchFamily="34" charset="0"/>
              </a:defRPr>
            </a:lvl1pPr>
          </a:lstStyle>
          <a:p>
            <a:fld id="{9B5D948F-A673-4DC7-A0E9-FA274EAF3634}" type="slidenum">
              <a:rPr lang="en-GB" smtClean="0"/>
              <a:pPr/>
              <a:t>‹#›</a:t>
            </a:fld>
            <a:endParaRPr lang="en-GB"/>
          </a:p>
        </p:txBody>
      </p:sp>
    </p:spTree>
    <p:extLst>
      <p:ext uri="{BB962C8B-B14F-4D97-AF65-F5344CB8AC3E}">
        <p14:creationId xmlns:p14="http://schemas.microsoft.com/office/powerpoint/2010/main" val="3491308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1</a:t>
            </a:fld>
            <a:endParaRPr lang="en-GB"/>
          </a:p>
        </p:txBody>
      </p:sp>
    </p:spTree>
    <p:extLst>
      <p:ext uri="{BB962C8B-B14F-4D97-AF65-F5344CB8AC3E}">
        <p14:creationId xmlns:p14="http://schemas.microsoft.com/office/powerpoint/2010/main" val="3294767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 </a:t>
            </a:r>
          </a:p>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7</a:t>
            </a:fld>
            <a:endParaRPr lang="en-GB"/>
          </a:p>
        </p:txBody>
      </p:sp>
    </p:spTree>
    <p:extLst>
      <p:ext uri="{BB962C8B-B14F-4D97-AF65-F5344CB8AC3E}">
        <p14:creationId xmlns:p14="http://schemas.microsoft.com/office/powerpoint/2010/main" val="34419289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000">
                <a:latin typeface="Calibri" panose="020F0502020204030204" pitchFamily="34" charset="0"/>
              </a:rPr>
              <a:t> </a:t>
            </a:r>
          </a:p>
          <a:p>
            <a:r>
              <a:rPr lang="en-US" sz="3000">
                <a:latin typeface="Calibri" panose="020F0502020204030204" pitchFamily="34" charset="0"/>
              </a:rPr>
              <a:t> </a:t>
            </a:r>
          </a:p>
          <a:p>
            <a:endParaRPr lang="en-US" sz="3000"/>
          </a:p>
        </p:txBody>
      </p:sp>
      <p:sp>
        <p:nvSpPr>
          <p:cNvPr id="4" name="Slide Number Placeholder 3"/>
          <p:cNvSpPr>
            <a:spLocks noGrp="1"/>
          </p:cNvSpPr>
          <p:nvPr>
            <p:ph type="sldNum" sz="quarter" idx="5"/>
          </p:nvPr>
        </p:nvSpPr>
        <p:spPr/>
        <p:txBody>
          <a:bodyPr/>
          <a:lstStyle/>
          <a:p>
            <a:fld id="{9B5D948F-A673-4DC7-A0E9-FA274EAF3634}" type="slidenum">
              <a:rPr lang="en-GB" smtClean="0"/>
              <a:pPr/>
              <a:t>8</a:t>
            </a:fld>
            <a:endParaRPr lang="en-GB"/>
          </a:p>
        </p:txBody>
      </p:sp>
    </p:spTree>
    <p:extLst>
      <p:ext uri="{BB962C8B-B14F-4D97-AF65-F5344CB8AC3E}">
        <p14:creationId xmlns:p14="http://schemas.microsoft.com/office/powerpoint/2010/main" val="25295564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18</a:t>
            </a:fld>
            <a:endParaRPr lang="en-GB"/>
          </a:p>
        </p:txBody>
      </p:sp>
    </p:spTree>
    <p:extLst>
      <p:ext uri="{BB962C8B-B14F-4D97-AF65-F5344CB8AC3E}">
        <p14:creationId xmlns:p14="http://schemas.microsoft.com/office/powerpoint/2010/main" val="1891076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24</a:t>
            </a:fld>
            <a:endParaRPr lang="en-GB"/>
          </a:p>
        </p:txBody>
      </p:sp>
    </p:spTree>
    <p:extLst>
      <p:ext uri="{BB962C8B-B14F-4D97-AF65-F5344CB8AC3E}">
        <p14:creationId xmlns:p14="http://schemas.microsoft.com/office/powerpoint/2010/main" val="1622868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30</a:t>
            </a:fld>
            <a:endParaRPr lang="en-GB"/>
          </a:p>
        </p:txBody>
      </p:sp>
    </p:spTree>
    <p:extLst>
      <p:ext uri="{BB962C8B-B14F-4D97-AF65-F5344CB8AC3E}">
        <p14:creationId xmlns:p14="http://schemas.microsoft.com/office/powerpoint/2010/main" val="2498173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40</a:t>
            </a:fld>
            <a:endParaRPr lang="en-GB"/>
          </a:p>
        </p:txBody>
      </p:sp>
    </p:spTree>
    <p:extLst>
      <p:ext uri="{BB962C8B-B14F-4D97-AF65-F5344CB8AC3E}">
        <p14:creationId xmlns:p14="http://schemas.microsoft.com/office/powerpoint/2010/main" val="3049125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41</a:t>
            </a:fld>
            <a:endParaRPr lang="en-GB"/>
          </a:p>
        </p:txBody>
      </p:sp>
    </p:spTree>
    <p:extLst>
      <p:ext uri="{BB962C8B-B14F-4D97-AF65-F5344CB8AC3E}">
        <p14:creationId xmlns:p14="http://schemas.microsoft.com/office/powerpoint/2010/main" val="42450920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B5D948F-A673-4DC7-A0E9-FA274EAF3634}" type="slidenum">
              <a:rPr lang="en-GB" smtClean="0"/>
              <a:pPr/>
              <a:t>71</a:t>
            </a:fld>
            <a:endParaRPr lang="en-GB"/>
          </a:p>
        </p:txBody>
      </p:sp>
    </p:spTree>
    <p:extLst>
      <p:ext uri="{BB962C8B-B14F-4D97-AF65-F5344CB8AC3E}">
        <p14:creationId xmlns:p14="http://schemas.microsoft.com/office/powerpoint/2010/main" val="27440799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s/slide3.xml"/></Relationships>
</file>

<file path=ppt/slideLayouts/_rels/slideLayout1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 Target="../slides/slide3.xml"/><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s/slide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slide" Target="../slides/slide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s/slide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s/slide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s/slide3.xml"/></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4.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hyperlink" Target="http://www.kpmg.com/socialmedia" TargetMode="External"/><Relationship Id="rId4" Type="http://schemas.openxmlformats.org/officeDocument/2006/relationships/image" Target="../media/image4.svg"/><Relationship Id="rId9" Type="http://schemas.openxmlformats.org/officeDocument/2006/relationships/image" Target="../media/image14.pn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png"/><Relationship Id="rId7"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ags" Target="../tags/tag15.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hyperlink" Target="http://www.kpmg.com/socialmedia" TargetMode="External"/><Relationship Id="rId4" Type="http://schemas.openxmlformats.org/officeDocument/2006/relationships/image" Target="../media/image9.svg"/><Relationship Id="rId9" Type="http://schemas.openxmlformats.org/officeDocument/2006/relationships/image" Target="../media/image14.png"/></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slideMaster" Target="../slideMasters/slideMaster2.xml"/><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tags" Target="../tags/tag27.xml"/><Relationship Id="rId2" Type="http://schemas.openxmlformats.org/officeDocument/2006/relationships/tags" Target="../tags/tag17.xml"/><Relationship Id="rId16" Type="http://schemas.openxmlformats.org/officeDocument/2006/relationships/image" Target="../media/image2.svg"/><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tags" Target="../tags/tag26.xml"/><Relationship Id="rId5" Type="http://schemas.openxmlformats.org/officeDocument/2006/relationships/tags" Target="../tags/tag20.xml"/><Relationship Id="rId15" Type="http://schemas.openxmlformats.org/officeDocument/2006/relationships/image" Target="../media/image1.png"/><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slide" Target="../slides/slide3.xml"/></Relationships>
</file>

<file path=ppt/slideLayouts/_rels/slideLayout43.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slideMaster" Target="../slideMasters/slideMaster2.xml"/><Relationship Id="rId5" Type="http://schemas.openxmlformats.org/officeDocument/2006/relationships/tags" Target="../tags/tag32.xml"/><Relationship Id="rId10" Type="http://schemas.openxmlformats.org/officeDocument/2006/relationships/tags" Target="../tags/tag37.xml"/><Relationship Id="rId4" Type="http://schemas.openxmlformats.org/officeDocument/2006/relationships/tags" Target="../tags/tag31.xml"/><Relationship Id="rId9" Type="http://schemas.openxmlformats.org/officeDocument/2006/relationships/tags" Target="../tags/tag36.xml"/></Relationships>
</file>

<file path=ppt/slideLayouts/_rels/slideLayout44.xml.rels><?xml version="1.0" encoding="UTF-8" standalone="yes"?>
<Relationships xmlns="http://schemas.openxmlformats.org/package/2006/relationships"><Relationship Id="rId8" Type="http://schemas.openxmlformats.org/officeDocument/2006/relationships/tags" Target="../tags/tag45.xml"/><Relationship Id="rId13" Type="http://schemas.openxmlformats.org/officeDocument/2006/relationships/image" Target="../media/image4.svg"/><Relationship Id="rId3" Type="http://schemas.openxmlformats.org/officeDocument/2006/relationships/tags" Target="../tags/tag40.xml"/><Relationship Id="rId7" Type="http://schemas.openxmlformats.org/officeDocument/2006/relationships/tags" Target="../tags/tag44.xml"/><Relationship Id="rId12" Type="http://schemas.openxmlformats.org/officeDocument/2006/relationships/image" Target="../media/image3.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slideMaster" Target="../slideMasters/slideMaster2.xml"/><Relationship Id="rId5" Type="http://schemas.openxmlformats.org/officeDocument/2006/relationships/tags" Target="../tags/tag42.xml"/><Relationship Id="rId10" Type="http://schemas.openxmlformats.org/officeDocument/2006/relationships/tags" Target="../tags/tag47.xml"/><Relationship Id="rId4" Type="http://schemas.openxmlformats.org/officeDocument/2006/relationships/tags" Target="../tags/tag41.xml"/><Relationship Id="rId9" Type="http://schemas.openxmlformats.org/officeDocument/2006/relationships/tags" Target="../tags/tag46.xml"/></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tags" Target="../tags/tag48.xm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support.upslide.net/hc/en-us/articles/360020443419" TargetMode="External"/><Relationship Id="rId2" Type="http://schemas.openxmlformats.org/officeDocument/2006/relationships/slideMaster" Target="../slideMasters/slideMaster2.xml"/><Relationship Id="rId1" Type="http://schemas.openxmlformats.org/officeDocument/2006/relationships/tags" Target="../tags/tag5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F680A8EA-2B0E-411E-90AD-02F7AF4767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1B5000-C399-ABD7-59D3-1DCB8041680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85271779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_KPMG Blue">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F73FA8F-86B4-4B38-9318-B211F1BBAFEB}"/>
              </a:ext>
            </a:extLst>
          </p:cNvPr>
          <p:cNvSpPr>
            <a:spLocks noChangeAspect="1"/>
          </p:cNvSpPr>
          <p:nvPr userDrawn="1"/>
        </p:nvSpPr>
        <p:spPr>
          <a:xfrm>
            <a:off x="998476" y="1470479"/>
            <a:ext cx="3053689"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Title 1"/>
          <p:cNvSpPr>
            <a:spLocks noGrp="1"/>
          </p:cNvSpPr>
          <p:nvPr>
            <p:ph type="ctrTitle" hasCustomPrompt="1"/>
          </p:nvPr>
        </p:nvSpPr>
        <p:spPr>
          <a:xfrm>
            <a:off x="1274841" y="1759937"/>
            <a:ext cx="2487266" cy="2900514"/>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6" name="Text Placeholder 3"/>
          <p:cNvSpPr>
            <a:spLocks noGrp="1"/>
          </p:cNvSpPr>
          <p:nvPr userDrawn="1">
            <p:ph type="body" sz="quarter" idx="11"/>
          </p:nvPr>
        </p:nvSpPr>
        <p:spPr>
          <a:xfrm>
            <a:off x="1274841" y="4752153"/>
            <a:ext cx="2487267" cy="81577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8" name="Graphic 7">
            <a:extLst>
              <a:ext uri="{FF2B5EF4-FFF2-40B4-BE49-F238E27FC236}">
                <a16:creationId xmlns:a16="http://schemas.microsoft.com/office/drawing/2014/main" id="{ACB44795-849A-41CE-8B25-0DE9EB09F9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4A2D0F4A-24F1-36AB-05D7-E828D00ECC9B}"/>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797359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96C774-8B31-4EC8-BF6C-ACF71C2F0C15}"/>
              </a:ext>
            </a:extLst>
          </p:cNvPr>
          <p:cNvSpPr>
            <a:spLocks noChangeAspect="1"/>
          </p:cNvSpPr>
          <p:nvPr userDrawn="1"/>
        </p:nvSpPr>
        <p:spPr>
          <a:xfrm>
            <a:off x="3405716" y="371311"/>
            <a:ext cx="7794097" cy="5414065"/>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6" name="Text Placeholder 3"/>
          <p:cNvSpPr>
            <a:spLocks noGrp="1"/>
          </p:cNvSpPr>
          <p:nvPr>
            <p:ph type="body" sz="quarter" idx="11"/>
          </p:nvPr>
        </p:nvSpPr>
        <p:spPr>
          <a:xfrm>
            <a:off x="3672180" y="4710484"/>
            <a:ext cx="7260639"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10" name="Title 9">
            <a:extLst>
              <a:ext uri="{FF2B5EF4-FFF2-40B4-BE49-F238E27FC236}">
                <a16:creationId xmlns:a16="http://schemas.microsoft.com/office/drawing/2014/main" id="{BA9E5DDB-2262-4657-AA4F-9CE87AA83B57}"/>
              </a:ext>
            </a:extLst>
          </p:cNvPr>
          <p:cNvSpPr>
            <a:spLocks noGrp="1"/>
          </p:cNvSpPr>
          <p:nvPr>
            <p:ph type="title" hasCustomPrompt="1"/>
          </p:nvPr>
        </p:nvSpPr>
        <p:spPr>
          <a:xfrm>
            <a:off x="3671123" y="636808"/>
            <a:ext cx="7260639" cy="3950972"/>
          </a:xfrm>
        </p:spPr>
        <p:txBody>
          <a:bodyPr/>
          <a:lstStyle>
            <a:lvl1pPr>
              <a:defRPr lang="en-GB" sz="6600" kern="1200" baseline="0" dirty="0">
                <a:solidFill>
                  <a:schemeClr val="bg1"/>
                </a:solidFill>
                <a:latin typeface="+mj-lt"/>
                <a:ea typeface="+mj-ea"/>
                <a:cs typeface="+mj-cs"/>
              </a:defRPr>
            </a:lvl1pPr>
          </a:lstStyle>
          <a:p>
            <a:r>
              <a:rPr lang="en-GB"/>
              <a:t>Title slide text only</a:t>
            </a:r>
          </a:p>
        </p:txBody>
      </p:sp>
      <p:pic>
        <p:nvPicPr>
          <p:cNvPr id="8" name="Graphic 7">
            <a:extLst>
              <a:ext uri="{FF2B5EF4-FFF2-40B4-BE49-F238E27FC236}">
                <a16:creationId xmlns:a16="http://schemas.microsoft.com/office/drawing/2014/main" id="{9F2B47DB-768D-47AE-9D19-E74198AD42C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5C7456D2-AD8B-0E4B-0CD2-B86ACA21193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46964759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_Pacific Blu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BC1A25C-9C23-47D0-BC86-BD2474043CD3}"/>
              </a:ext>
            </a:extLst>
          </p:cNvPr>
          <p:cNvGrpSpPr/>
          <p:nvPr userDrawn="1"/>
        </p:nvGrpSpPr>
        <p:grpSpPr>
          <a:xfrm>
            <a:off x="998476" y="0"/>
            <a:ext cx="911399" cy="1485244"/>
            <a:chOff x="1008000" y="0"/>
            <a:chExt cx="911399" cy="1485244"/>
          </a:xfrm>
          <a:solidFill>
            <a:schemeClr val="bg1">
              <a:alpha val="0"/>
            </a:schemeClr>
          </a:solidFill>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1008000" y="0"/>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1008000" y="742622"/>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sp>
          <p:nvSpPr>
            <p:cNvPr id="9" name="Freeform 19">
              <a:extLst>
                <a:ext uri="{FF2B5EF4-FFF2-40B4-BE49-F238E27FC236}">
                  <a16:creationId xmlns:a16="http://schemas.microsoft.com/office/drawing/2014/main" id="{162D722E-1D64-4D54-98B6-8466501BFD3D}"/>
                </a:ext>
              </a:extLst>
            </p:cNvPr>
            <p:cNvSpPr>
              <a:spLocks noChangeAspect="1" noEditPoints="1"/>
            </p:cNvSpPr>
            <p:nvPr userDrawn="1"/>
          </p:nvSpPr>
          <p:spPr bwMode="auto">
            <a:xfrm>
              <a:off x="1008000" y="1113933"/>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GB"/>
            </a:p>
          </p:txBody>
        </p:sp>
      </p:grpSp>
      <p:sp>
        <p:nvSpPr>
          <p:cNvPr id="104" name="Rectangle 103">
            <a:extLst>
              <a:ext uri="{FF2B5EF4-FFF2-40B4-BE49-F238E27FC236}">
                <a16:creationId xmlns:a16="http://schemas.microsoft.com/office/drawing/2014/main" id="{6A6246C3-5BC1-4146-9E95-B8B3F1B77C22}"/>
              </a:ext>
            </a:extLst>
          </p:cNvPr>
          <p:cNvSpPr>
            <a:spLocks noChangeAspect="1"/>
          </p:cNvSpPr>
          <p:nvPr userDrawn="1"/>
        </p:nvSpPr>
        <p:spPr>
          <a:xfrm>
            <a:off x="7435789" y="371311"/>
            <a:ext cx="3764024" cy="5415923"/>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06" name="Text Placeholder 3">
            <a:extLst>
              <a:ext uri="{FF2B5EF4-FFF2-40B4-BE49-F238E27FC236}">
                <a16:creationId xmlns:a16="http://schemas.microsoft.com/office/drawing/2014/main" id="{E9A5689E-A0AC-4126-A5A7-5CD8528C6C2E}"/>
              </a:ext>
            </a:extLst>
          </p:cNvPr>
          <p:cNvSpPr>
            <a:spLocks noGrp="1"/>
          </p:cNvSpPr>
          <p:nvPr>
            <p:ph type="body" sz="quarter" idx="12"/>
          </p:nvPr>
        </p:nvSpPr>
        <p:spPr>
          <a:xfrm>
            <a:off x="7702252" y="4710484"/>
            <a:ext cx="3229510"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Title 1"/>
          <p:cNvSpPr>
            <a:spLocks noGrp="1"/>
          </p:cNvSpPr>
          <p:nvPr>
            <p:ph type="ctrTitle" hasCustomPrompt="1"/>
          </p:nvPr>
        </p:nvSpPr>
        <p:spPr>
          <a:xfrm>
            <a:off x="7702252" y="636808"/>
            <a:ext cx="3229510" cy="3950972"/>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pic>
        <p:nvPicPr>
          <p:cNvPr id="10" name="Graphic 9">
            <a:extLst>
              <a:ext uri="{FF2B5EF4-FFF2-40B4-BE49-F238E27FC236}">
                <a16:creationId xmlns:a16="http://schemas.microsoft.com/office/drawing/2014/main" id="{78DFFAD0-690D-40FA-92E3-26DD5F2CF71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4" name="UpSlide Options" descr="{&#10;  &quot;NoBreadcrumb&quot;: true,&#10;  &quot;NoBreadcrumbNorReminder&quot;: true,&#10;  &quot;MinimumUpSlideVersion&quot;: &quot;0.0.0.0&quot;&#10;}" hidden="1">
            <a:extLst>
              <a:ext uri="{FF2B5EF4-FFF2-40B4-BE49-F238E27FC236}">
                <a16:creationId xmlns:a16="http://schemas.microsoft.com/office/drawing/2014/main" id="{6223FAC6-FB1A-2FBC-CF19-EF250E255086}"/>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96993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Left Horizontal Window Image_KPMG Blue">
    <p:bg>
      <p:bgPr>
        <a:solidFill>
          <a:schemeClr val="accent2"/>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6200E6EA-7AA4-4C98-8E47-F5F83446E051}"/>
              </a:ext>
            </a:extLst>
          </p:cNvPr>
          <p:cNvSpPr>
            <a:spLocks noGrp="1" noChangeAspect="1"/>
          </p:cNvSpPr>
          <p:nvPr>
            <p:ph type="pic" sz="quarter" idx="12"/>
          </p:nvPr>
        </p:nvSpPr>
        <p:spPr>
          <a:xfrm>
            <a:off x="998477" y="1468380"/>
            <a:ext cx="5885053" cy="4087973"/>
          </a:xfrm>
          <a:solidFill>
            <a:schemeClr val="accent1"/>
          </a:solidFill>
        </p:spPr>
        <p:txBody>
          <a:bodyPr anchor="ctr"/>
          <a:lstStyle>
            <a:lvl1pPr algn="ctr">
              <a:defRPr sz="1000" b="0">
                <a:solidFill>
                  <a:schemeClr val="bg1"/>
                </a:solidFill>
              </a:defRPr>
            </a:lvl1pPr>
          </a:lstStyle>
          <a:p>
            <a:r>
              <a:rPr lang="en-US"/>
              <a:t>Click icon to add picture</a:t>
            </a:r>
            <a:endParaRPr lang="en-GB"/>
          </a:p>
        </p:txBody>
      </p:sp>
      <p:sp>
        <p:nvSpPr>
          <p:cNvPr id="2" name="Title 1"/>
          <p:cNvSpPr>
            <a:spLocks noGrp="1"/>
          </p:cNvSpPr>
          <p:nvPr>
            <p:ph type="ctrTitle" hasCustomPrompt="1"/>
          </p:nvPr>
        </p:nvSpPr>
        <p:spPr>
          <a:xfrm>
            <a:off x="7648626" y="1468380"/>
            <a:ext cx="3551186" cy="3098109"/>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7648627"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7648627"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7648626" y="4746353"/>
            <a:ext cx="355118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93430CE4-5B69-4517-8F25-A3A23061EE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64734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C39C766E-4498-DBBD-A279-FC5D4C71C771}"/>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4033362024"/>
      </p:ext>
    </p:extLst>
  </p:cSld>
  <p:clrMapOvr>
    <a:masterClrMapping/>
  </p:clrMapOvr>
  <p:extLst>
    <p:ext uri="{DCECCB84-F9BA-43D5-87BE-67443E8EF086}">
      <p15:sldGuideLst xmlns:p15="http://schemas.microsoft.com/office/powerpoint/2012/main">
        <p15:guide id="1" orient="horz" pos="349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Left Vertical Window Image_KPMG Blue">
    <p:bg>
      <p:bgPr>
        <a:solidFill>
          <a:schemeClr val="accent2"/>
        </a:solidFill>
        <a:effectLst/>
      </p:bgPr>
    </p:bg>
    <p:spTree>
      <p:nvGrpSpPr>
        <p:cNvPr id="1" name=""/>
        <p:cNvGrpSpPr/>
        <p:nvPr/>
      </p:nvGrpSpPr>
      <p:grpSpPr>
        <a:xfrm>
          <a:off x="0" y="0"/>
          <a:ext cx="0" cy="0"/>
          <a:chOff x="0" y="0"/>
          <a:chExt cx="0" cy="0"/>
        </a:xfrm>
      </p:grpSpPr>
      <p:sp>
        <p:nvSpPr>
          <p:cNvPr id="28" name="Picture Placeholder 3">
            <a:extLst>
              <a:ext uri="{FF2B5EF4-FFF2-40B4-BE49-F238E27FC236}">
                <a16:creationId xmlns:a16="http://schemas.microsoft.com/office/drawing/2014/main" id="{445BA5F7-F13B-4C20-B0E0-112E55400EE4}"/>
              </a:ext>
            </a:extLst>
          </p:cNvPr>
          <p:cNvSpPr>
            <a:spLocks noGrp="1" noChangeAspect="1"/>
          </p:cNvSpPr>
          <p:nvPr>
            <p:ph type="pic" sz="quarter" idx="12"/>
          </p:nvPr>
        </p:nvSpPr>
        <p:spPr>
          <a:xfrm>
            <a:off x="995362" y="371311"/>
            <a:ext cx="3727618" cy="5392264"/>
          </a:xfrm>
          <a:solidFill>
            <a:schemeClr val="accent1"/>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2" name="Title 1"/>
          <p:cNvSpPr>
            <a:spLocks noGrp="1"/>
          </p:cNvSpPr>
          <p:nvPr>
            <p:ph type="ctrTitle" hasCustomPrompt="1"/>
          </p:nvPr>
        </p:nvSpPr>
        <p:spPr>
          <a:xfrm>
            <a:off x="5489910" y="1453783"/>
            <a:ext cx="5301922" cy="344622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4729193"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6" name="Text Placeholder 3"/>
          <p:cNvSpPr>
            <a:spLocks noGrp="1"/>
          </p:cNvSpPr>
          <p:nvPr userDrawn="1">
            <p:ph type="body" sz="quarter" idx="11"/>
          </p:nvPr>
        </p:nvSpPr>
        <p:spPr>
          <a:xfrm>
            <a:off x="5489910" y="4953575"/>
            <a:ext cx="5301922"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7" name="Graphic 6">
            <a:extLst>
              <a:ext uri="{FF2B5EF4-FFF2-40B4-BE49-F238E27FC236}">
                <a16:creationId xmlns:a16="http://schemas.microsoft.com/office/drawing/2014/main" id="{3FEB65A9-A8F4-40C5-AC08-82132F1B1B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91560"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DA9CDCF4-59D0-2017-E14A-4837D0672D90}"/>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2454744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Right Horizontal Window Image_Cobalt Blue">
    <p:bg>
      <p:bgPr>
        <a:solidFill>
          <a:schemeClr val="accent1"/>
        </a:solidFill>
        <a:effectLst/>
      </p:bgPr>
    </p:bg>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1129527"/>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872149"/>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endParaRPr lang="en-GB"/>
          </a:p>
        </p:txBody>
      </p:sp>
      <p:sp>
        <p:nvSpPr>
          <p:cNvPr id="28" name="Picture Placeholder 3">
            <a:extLst>
              <a:ext uri="{FF2B5EF4-FFF2-40B4-BE49-F238E27FC236}">
                <a16:creationId xmlns:a16="http://schemas.microsoft.com/office/drawing/2014/main" id="{1D0B9D96-907F-4E37-B5A7-830AD095F223}"/>
              </a:ext>
            </a:extLst>
          </p:cNvPr>
          <p:cNvSpPr>
            <a:spLocks noGrp="1" noChangeAspect="1"/>
          </p:cNvSpPr>
          <p:nvPr>
            <p:ph type="pic" sz="quarter" idx="12"/>
          </p:nvPr>
        </p:nvSpPr>
        <p:spPr>
          <a:xfrm>
            <a:off x="4915965" y="1456388"/>
            <a:ext cx="6283848" cy="4364991"/>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sp>
        <p:nvSpPr>
          <p:cNvPr id="34" name="Title 1">
            <a:extLst>
              <a:ext uri="{FF2B5EF4-FFF2-40B4-BE49-F238E27FC236}">
                <a16:creationId xmlns:a16="http://schemas.microsoft.com/office/drawing/2014/main" id="{E8E14845-BB2E-4EA2-8CBD-F35A520E366D}"/>
              </a:ext>
            </a:extLst>
          </p:cNvPr>
          <p:cNvSpPr>
            <a:spLocks noGrp="1"/>
          </p:cNvSpPr>
          <p:nvPr>
            <p:ph type="ctrTitle" hasCustomPrompt="1"/>
          </p:nvPr>
        </p:nvSpPr>
        <p:spPr>
          <a:xfrm>
            <a:off x="995362" y="1456388"/>
            <a:ext cx="3174866" cy="3427743"/>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40" name="Text Placeholder 3">
            <a:extLst>
              <a:ext uri="{FF2B5EF4-FFF2-40B4-BE49-F238E27FC236}">
                <a16:creationId xmlns:a16="http://schemas.microsoft.com/office/drawing/2014/main" id="{423222F2-0E39-45E4-8918-49125CD7C1EA}"/>
              </a:ext>
            </a:extLst>
          </p:cNvPr>
          <p:cNvSpPr>
            <a:spLocks noGrp="1"/>
          </p:cNvSpPr>
          <p:nvPr>
            <p:ph type="body" sz="quarter" idx="11"/>
          </p:nvPr>
        </p:nvSpPr>
        <p:spPr>
          <a:xfrm>
            <a:off x="995362" y="5007010"/>
            <a:ext cx="3174866"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pic>
        <p:nvPicPr>
          <p:cNvPr id="9" name="Graphic 8">
            <a:extLst>
              <a:ext uri="{FF2B5EF4-FFF2-40B4-BE49-F238E27FC236}">
                <a16:creationId xmlns:a16="http://schemas.microsoft.com/office/drawing/2014/main" id="{323EE304-3FCA-4CF8-84B4-178F6B5C57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B2D462CE-C2C7-AC32-2349-92B2FD646632}"/>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826175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Right Vertical Window Image_Cobalt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5362" y="1456388"/>
            <a:ext cx="5249471" cy="3442681"/>
          </a:xfrm>
          <a:noFill/>
          <a:ln w="3175">
            <a:noFill/>
            <a:prstDash val="lgDash"/>
          </a:ln>
        </p:spPr>
        <p:txBody>
          <a:bodyPr lIns="0" tIns="0" rIns="0" bIns="0" anchor="t" anchorCtr="0">
            <a:noAutofit/>
          </a:bodyPr>
          <a:lstStyle>
            <a:lvl1pPr algn="l">
              <a:defRPr sz="6600" baseline="0">
                <a:solidFill>
                  <a:schemeClr val="bg1"/>
                </a:solidFill>
              </a:defRPr>
            </a:lvl1pPr>
          </a:lstStyle>
          <a:p>
            <a:r>
              <a:rPr lang="en-GB"/>
              <a:t>Title slide text only</a:t>
            </a:r>
            <a:endParaRPr lang="en-US"/>
          </a:p>
        </p:txBody>
      </p:sp>
      <p:sp>
        <p:nvSpPr>
          <p:cNvPr id="5" name="Freeform 19">
            <a:extLst>
              <a:ext uri="{FF2B5EF4-FFF2-40B4-BE49-F238E27FC236}">
                <a16:creationId xmlns:a16="http://schemas.microsoft.com/office/drawing/2014/main" id="{EEC5B735-00AD-41B9-A513-0F7783FFBE36}"/>
              </a:ext>
            </a:extLst>
          </p:cNvPr>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8" name="Freeform 19">
            <a:extLst>
              <a:ext uri="{FF2B5EF4-FFF2-40B4-BE49-F238E27FC236}">
                <a16:creationId xmlns:a16="http://schemas.microsoft.com/office/drawing/2014/main" id="{C5CCCCF1-8E34-4341-A6C5-97CC39680E55}"/>
              </a:ext>
            </a:extLst>
          </p:cNvPr>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 Placeholder 3"/>
          <p:cNvSpPr>
            <a:spLocks noGrp="1"/>
          </p:cNvSpPr>
          <p:nvPr userDrawn="1">
            <p:ph type="body" sz="quarter" idx="11"/>
          </p:nvPr>
        </p:nvSpPr>
        <p:spPr>
          <a:xfrm>
            <a:off x="995362"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8" name="Picture Placeholder 3">
            <a:extLst>
              <a:ext uri="{FF2B5EF4-FFF2-40B4-BE49-F238E27FC236}">
                <a16:creationId xmlns:a16="http://schemas.microsoft.com/office/drawing/2014/main" id="{13BD1F9C-C7CA-4162-BCD4-0E8701D30076}"/>
              </a:ext>
            </a:extLst>
          </p:cNvPr>
          <p:cNvSpPr>
            <a:spLocks noGrp="1" noChangeAspect="1"/>
          </p:cNvSpPr>
          <p:nvPr>
            <p:ph type="pic" sz="quarter" idx="12"/>
          </p:nvPr>
        </p:nvSpPr>
        <p:spPr>
          <a:xfrm>
            <a:off x="7435255"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a:t>Click icon to add picture</a:t>
            </a:r>
            <a:endParaRPr lang="en-GB"/>
          </a:p>
        </p:txBody>
      </p:sp>
      <p:pic>
        <p:nvPicPr>
          <p:cNvPr id="9" name="Graphic 8">
            <a:extLst>
              <a:ext uri="{FF2B5EF4-FFF2-40B4-BE49-F238E27FC236}">
                <a16:creationId xmlns:a16="http://schemas.microsoft.com/office/drawing/2014/main" id="{AA9325F0-DADC-43A7-A4FF-97033BB220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24CB6FE-B419-35D5-F619-0ED688EBE47C}"/>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948208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33821-7F6E-47FF-89CD-D057DAFB6B1F}"/>
              </a:ext>
            </a:extLst>
          </p:cNvPr>
          <p:cNvSpPr>
            <a:spLocks noGrp="1"/>
          </p:cNvSpPr>
          <p:nvPr>
            <p:ph type="title"/>
          </p:nvPr>
        </p:nvSpPr>
        <p:spPr/>
        <p:txBody>
          <a:bodyPr/>
          <a:lstStyle>
            <a:lvl1pPr>
              <a:defRPr sz="4000"/>
            </a:lvl1pPr>
          </a:lstStyle>
          <a:p>
            <a:r>
              <a:rPr lang="en-US"/>
              <a:t>Click to edit Master title style</a:t>
            </a:r>
            <a:endParaRPr lang="en-GB"/>
          </a:p>
        </p:txBody>
      </p:sp>
    </p:spTree>
    <p:extLst>
      <p:ext uri="{BB962C8B-B14F-4D97-AF65-F5344CB8AC3E}">
        <p14:creationId xmlns:p14="http://schemas.microsoft.com/office/powerpoint/2010/main" val="108670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Only Alternative">
    <p:bg>
      <p:bgPr>
        <a:solidFill>
          <a:srgbClr val="ACEAFF"/>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553DB233-23E0-7B9E-7AE9-589A27CED889}"/>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ACEAFF"/>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tx2"/>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tx2"/>
                </a:solidFill>
                <a:latin typeface="+mn-lt"/>
                <a:ea typeface="Arial"/>
                <a:cs typeface="Arial" panose="020B0604020202020204" pitchFamily="34" charset="0"/>
              </a:rPr>
              <a:pPr algn="r"/>
              <a:t>‹#›</a:t>
            </a:fld>
            <a:endParaRPr lang="en-GB" sz="1000">
              <a:solidFill>
                <a:schemeClr val="tx2"/>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rgbClr val="B2B2B2"/>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solidFill>
                <a:schemeClr val="bg1"/>
              </a:solidFill>
            </a:endParaRPr>
          </a:p>
        </p:txBody>
      </p:sp>
      <p:sp>
        <p:nvSpPr>
          <p:cNvPr id="9" name="Isosceles Triangle 8">
            <a:extLst>
              <a:ext uri="{FF2B5EF4-FFF2-40B4-BE49-F238E27FC236}">
                <a16:creationId xmlns:a16="http://schemas.microsoft.com/office/drawing/2014/main" id="{58CFDA59-AFDF-5153-63CD-D0F9A9BF119B}"/>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5" name="Isosceles Triangle 14">
            <a:extLst>
              <a:ext uri="{FF2B5EF4-FFF2-40B4-BE49-F238E27FC236}">
                <a16:creationId xmlns:a16="http://schemas.microsoft.com/office/drawing/2014/main" id="{4F414FEC-CF16-CCF1-06EB-022E69608D1F}"/>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6" name="Oval 15">
            <a:hlinkClick r:id="" action="ppaction://hlinkshowjump?jump=nextslide"/>
            <a:extLst>
              <a:ext uri="{FF2B5EF4-FFF2-40B4-BE49-F238E27FC236}">
                <a16:creationId xmlns:a16="http://schemas.microsoft.com/office/drawing/2014/main" id="{04FEABC5-C652-B28A-62D6-911D1D16B40B}"/>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7" name="Oval 16">
            <a:hlinkClick r:id="" action="ppaction://hlinkshowjump?jump=previousslide"/>
            <a:extLst>
              <a:ext uri="{FF2B5EF4-FFF2-40B4-BE49-F238E27FC236}">
                <a16:creationId xmlns:a16="http://schemas.microsoft.com/office/drawing/2014/main" id="{0D6602F3-A221-0FEF-5995-6641A2D872D6}"/>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18" name="Graphic 17" descr="Home">
            <a:hlinkClick r:id="rId4" action="ppaction://hlinksldjump"/>
            <a:extLst>
              <a:ext uri="{FF2B5EF4-FFF2-40B4-BE49-F238E27FC236}">
                <a16:creationId xmlns:a16="http://schemas.microsoft.com/office/drawing/2014/main" id="{C9B48440-892F-F99A-CF93-8B0ACA648E73}"/>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3" name="TextBox 2">
            <a:extLst>
              <a:ext uri="{FF2B5EF4-FFF2-40B4-BE49-F238E27FC236}">
                <a16:creationId xmlns:a16="http://schemas.microsoft.com/office/drawing/2014/main" id="{2EF5C99B-E164-CD53-9033-C5EA3AD08C84}"/>
              </a:ext>
              <a:ext uri="{C183D7F6-B498-43B3-948B-1728B52AA6E4}">
                <adec:decorative xmlns:adec="http://schemas.microsoft.com/office/drawing/2017/decorative" val="1"/>
              </a:ext>
            </a:extLst>
          </p:cNvPr>
          <p:cNvSpPr txBox="1">
            <a:spLocks/>
          </p:cNvSpPr>
          <p:nvPr userDrawn="1">
            <p:custDataLst>
              <p:tags r:id="rId2"/>
            </p:custDataLst>
          </p:nvPr>
        </p:nvSpPr>
        <p:spPr>
          <a:xfrm>
            <a:off x="1885683" y="6266997"/>
            <a:ext cx="6673851" cy="184666"/>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srgbClr val="FFFFFF">
                    <a:lumMod val="65000"/>
                  </a:srgbClr>
                </a:solidFill>
                <a:effectLst/>
                <a:uLnTx/>
                <a:uFillTx/>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7536663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Colour">
    <p:bg>
      <p:bgPr>
        <a:solidFill>
          <a:schemeClr val="accent2"/>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739029EA-FB2C-A885-3247-33F7F011F5D7}"/>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9" name="Isosceles Triangle 8">
            <a:extLst>
              <a:ext uri="{FF2B5EF4-FFF2-40B4-BE49-F238E27FC236}">
                <a16:creationId xmlns:a16="http://schemas.microsoft.com/office/drawing/2014/main" id="{D2D91A27-F3DC-A1B5-33BE-9B387A9177AB}"/>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5" name="Isosceles Triangle 14">
            <a:extLst>
              <a:ext uri="{FF2B5EF4-FFF2-40B4-BE49-F238E27FC236}">
                <a16:creationId xmlns:a16="http://schemas.microsoft.com/office/drawing/2014/main" id="{1AF108A0-5867-42FF-B7CD-EF15195421B0}"/>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6" name="Oval 15">
            <a:hlinkClick r:id="" action="ppaction://hlinkshowjump?jump=nextslide"/>
            <a:extLst>
              <a:ext uri="{FF2B5EF4-FFF2-40B4-BE49-F238E27FC236}">
                <a16:creationId xmlns:a16="http://schemas.microsoft.com/office/drawing/2014/main" id="{EE5802B2-DEA6-1800-2454-3C095ECE9FCB}"/>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7" name="Oval 16">
            <a:hlinkClick r:id="" action="ppaction://hlinkshowjump?jump=previousslide"/>
            <a:extLst>
              <a:ext uri="{FF2B5EF4-FFF2-40B4-BE49-F238E27FC236}">
                <a16:creationId xmlns:a16="http://schemas.microsoft.com/office/drawing/2014/main" id="{C20EC44C-30CF-9DEE-5FA9-42E9D848B121}"/>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18" name="Graphic 17" descr="Home">
            <a:hlinkClick r:id="rId3" action="ppaction://hlinksldjump"/>
            <a:extLst>
              <a:ext uri="{FF2B5EF4-FFF2-40B4-BE49-F238E27FC236}">
                <a16:creationId xmlns:a16="http://schemas.microsoft.com/office/drawing/2014/main" id="{3968077E-330C-A890-A654-F470FFBF76A5}"/>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3" name="TextBox 2">
            <a:extLst>
              <a:ext uri="{FF2B5EF4-FFF2-40B4-BE49-F238E27FC236}">
                <a16:creationId xmlns:a16="http://schemas.microsoft.com/office/drawing/2014/main" id="{253BAAFA-7E49-83F3-0EFF-591964C65BE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u="none" strike="noStrike" kern="0" cap="none" spc="0" normalizeH="0" baseline="0" noProof="0">
                <a:ln>
                  <a:noFill/>
                </a:ln>
                <a:solidFill>
                  <a:schemeClr val="bg1"/>
                </a:solidFill>
                <a:effectLst/>
                <a:uLnTx/>
                <a:uFillTx/>
                <a:latin typeface="Arial"/>
                <a:ea typeface="+mn-ea"/>
                <a:cs typeface="+mn-cs"/>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1777057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Only - Dark BG Alternative">
    <p:bg>
      <p:bgPr>
        <a:solidFill>
          <a:schemeClr val="accent2"/>
        </a:solidFill>
        <a:effectLst/>
      </p:bgPr>
    </p:bg>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739029EA-FB2C-A885-3247-33F7F011F5D7}"/>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C233C"/>
          </a:solidFill>
        </p:spPr>
        <p:txBody>
          <a:bodyPr wrap="square" lIns="0" tIns="0" rIns="0" bIns="0" rtlCol="0">
            <a:noAutofit/>
          </a:bodyPr>
          <a:lstStyle/>
          <a:p>
            <a:endParaRPr sz="1800">
              <a:latin typeface="Arial" panose="020B0604020202020204" pitchFamily="34" charset="0"/>
            </a:endParaRPr>
          </a:p>
        </p:txBody>
      </p:sp>
      <p:sp>
        <p:nvSpPr>
          <p:cNvPr id="2" name="Title 1">
            <a:extLst>
              <a:ext uri="{FF2B5EF4-FFF2-40B4-BE49-F238E27FC236}">
                <a16:creationId xmlns:a16="http://schemas.microsoft.com/office/drawing/2014/main" id="{32C06C60-BBAD-4B44-9D69-536848922030}"/>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3EFDE72B-2E58-5FF5-D898-24D54BAB54B4}"/>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7F229861-BF6F-DBDF-7813-BF867325CF6E}"/>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6466FA29-ECD6-4721-1611-39AB891870AE}"/>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6419FA4A-8421-E209-102C-C3DC3EF4975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F2213BCD-C9BB-DECC-A6FA-F1C49A628A3B}"/>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9" name="TextBox 8">
            <a:extLst>
              <a:ext uri="{FF2B5EF4-FFF2-40B4-BE49-F238E27FC236}">
                <a16:creationId xmlns:a16="http://schemas.microsoft.com/office/drawing/2014/main" id="{F37B4772-7DD3-0AFE-11F9-41E7BBF81C8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476349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CCFC99C-7410-4D22-BA8D-48877FCFB6C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04358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ne Column Text_double titl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5362" y="1700213"/>
            <a:ext cx="10204451" cy="4176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4AFC733E-E364-489F-B7AF-D2002EE59732}"/>
              </a:ext>
            </a:extLst>
          </p:cNvPr>
          <p:cNvSpPr>
            <a:spLocks noGrp="1"/>
          </p:cNvSpPr>
          <p:nvPr>
            <p:ph type="title" hasCustomPrompt="1"/>
          </p:nvPr>
        </p:nvSpPr>
        <p:spPr/>
        <p:txBody>
          <a:bodyPr/>
          <a:lstStyle>
            <a:lvl1pPr>
              <a:defRPr/>
            </a:lvl1pPr>
          </a:lstStyle>
          <a:p>
            <a:r>
              <a:rPr lang="en-US"/>
              <a:t>Click to edit </a:t>
            </a:r>
            <a:br>
              <a:rPr lang="en-US"/>
            </a:br>
            <a:r>
              <a:rPr lang="en-US"/>
              <a:t>Master title style</a:t>
            </a:r>
            <a:endParaRPr lang="en-GB"/>
          </a:p>
        </p:txBody>
      </p:sp>
    </p:spTree>
    <p:extLst>
      <p:ext uri="{BB962C8B-B14F-4D97-AF65-F5344CB8AC3E}">
        <p14:creationId xmlns:p14="http://schemas.microsoft.com/office/powerpoint/2010/main" val="3102394141"/>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One Column Text_double title_KPMG Blue">
    <p:bg>
      <p:bgPr>
        <a:solidFill>
          <a:schemeClr val="accent2"/>
        </a:solidFill>
        <a:effectLst/>
      </p:bgPr>
    </p:bg>
    <p:spTree>
      <p:nvGrpSpPr>
        <p:cNvPr id="1" name=""/>
        <p:cNvGrpSpPr/>
        <p:nvPr/>
      </p:nvGrpSpPr>
      <p:grpSpPr>
        <a:xfrm>
          <a:off x="0" y="0"/>
          <a:ext cx="0" cy="0"/>
          <a:chOff x="0" y="0"/>
          <a:chExt cx="0" cy="0"/>
        </a:xfrm>
      </p:grpSpPr>
      <p:sp>
        <p:nvSpPr>
          <p:cNvPr id="9" name="object 3">
            <a:extLst>
              <a:ext uri="{FF2B5EF4-FFF2-40B4-BE49-F238E27FC236}">
                <a16:creationId xmlns:a16="http://schemas.microsoft.com/office/drawing/2014/main" id="{53CB8F51-FC47-032E-39EA-E99AEA19DA8F}"/>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4" name="Text Placeholder 3">
            <a:extLst>
              <a:ext uri="{FF2B5EF4-FFF2-40B4-BE49-F238E27FC236}">
                <a16:creationId xmlns:a16="http://schemas.microsoft.com/office/drawing/2014/main" id="{29D2B9FA-46EE-4504-A8DE-8C56CCE29B0B}"/>
              </a:ext>
            </a:extLst>
          </p:cNvPr>
          <p:cNvSpPr>
            <a:spLocks noGrp="1"/>
          </p:cNvSpPr>
          <p:nvPr>
            <p:ph type="body" sz="quarter" idx="10"/>
          </p:nvPr>
        </p:nvSpPr>
        <p:spPr>
          <a:xfrm>
            <a:off x="995362" y="1700213"/>
            <a:ext cx="10204451" cy="4176712"/>
          </a:xfrm>
        </p:spPr>
        <p:txBody>
          <a:bodyPr/>
          <a:lstStyle>
            <a:lvl1pPr>
              <a:defRPr>
                <a:solidFill>
                  <a:schemeClr val="bg1"/>
                </a:solidFill>
              </a:defRPr>
            </a:lvl1pPr>
            <a:lvl2pPr>
              <a:defRPr>
                <a:solidFill>
                  <a:schemeClr val="bg1"/>
                </a:solidFill>
              </a:defRPr>
            </a:lvl2pPr>
            <a:lvl3pPr>
              <a:buClrTx/>
              <a:defRPr>
                <a:solidFill>
                  <a:schemeClr val="bg1"/>
                </a:solidFill>
              </a:defRPr>
            </a:lvl3pPr>
            <a:lvl4pPr marL="361950" indent="-180975">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803AAE32-05EB-420A-97AB-3254804D32FD}"/>
              </a:ext>
            </a:extLst>
          </p:cNvPr>
          <p:cNvSpPr>
            <a:spLocks noGrp="1"/>
          </p:cNvSpPr>
          <p:nvPr>
            <p:ph type="title" hasCustomPrompt="1"/>
          </p:nvPr>
        </p:nvSpPr>
        <p:spPr/>
        <p:txBody>
          <a:bodyPr/>
          <a:lstStyle>
            <a:lvl1pPr>
              <a:defRPr>
                <a:solidFill>
                  <a:schemeClr val="bg1"/>
                </a:solidFill>
              </a:defRPr>
            </a:lvl1pPr>
          </a:lstStyle>
          <a:p>
            <a:r>
              <a:rPr lang="en-US"/>
              <a:t>Click to edit </a:t>
            </a:r>
            <a:br>
              <a:rPr lang="en-US"/>
            </a:br>
            <a:r>
              <a:rPr lang="en-US"/>
              <a:t>Master title style</a:t>
            </a:r>
            <a:endParaRPr lang="en-GB"/>
          </a:p>
        </p:txBody>
      </p:sp>
      <p:sp>
        <p:nvSpPr>
          <p:cNvPr id="11" name="Shape 8">
            <a:extLst>
              <a:ext uri="{FF2B5EF4-FFF2-40B4-BE49-F238E27FC236}">
                <a16:creationId xmlns:a16="http://schemas.microsoft.com/office/drawing/2014/main" id="{0FA61DE2-B620-4E9C-8A3A-7AFDEA676EA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33976EB0-88A7-4A3D-9B61-047EB36DBFAD}"/>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4" name="Straight Connector 13">
            <a:extLst>
              <a:ext uri="{FF2B5EF4-FFF2-40B4-BE49-F238E27FC236}">
                <a16:creationId xmlns:a16="http://schemas.microsoft.com/office/drawing/2014/main" id="{11AC2AA0-75A2-4DEA-87FE-819C40720997}"/>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raphic 8">
            <a:extLst>
              <a:ext uri="{FF2B5EF4-FFF2-40B4-BE49-F238E27FC236}">
                <a16:creationId xmlns:a16="http://schemas.microsoft.com/office/drawing/2014/main" id="{6F1E78A9-43D8-4898-8F7E-93F2BB137A73}"/>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B78C91FA-361C-9000-88A2-E77BAECE745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Isosceles Triangle 4">
            <a:extLst>
              <a:ext uri="{FF2B5EF4-FFF2-40B4-BE49-F238E27FC236}">
                <a16:creationId xmlns:a16="http://schemas.microsoft.com/office/drawing/2014/main" id="{9B0779B9-7597-EF65-4F93-808394475AF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nextslide"/>
            <a:extLst>
              <a:ext uri="{FF2B5EF4-FFF2-40B4-BE49-F238E27FC236}">
                <a16:creationId xmlns:a16="http://schemas.microsoft.com/office/drawing/2014/main" id="{7446527C-98FF-BF88-D1F1-1918541F77F9}"/>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114143F4-2480-6BB1-D38D-5D286C48BC33}"/>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3" action="ppaction://hlinksldjump"/>
            <a:extLst>
              <a:ext uri="{FF2B5EF4-FFF2-40B4-BE49-F238E27FC236}">
                <a16:creationId xmlns:a16="http://schemas.microsoft.com/office/drawing/2014/main" id="{C3958867-24B7-0056-CA15-E73DA947D029}"/>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10" name="TextBox 9">
            <a:extLst>
              <a:ext uri="{FF2B5EF4-FFF2-40B4-BE49-F238E27FC236}">
                <a16:creationId xmlns:a16="http://schemas.microsoft.com/office/drawing/2014/main" id="{AF10678F-DB28-521E-F53F-A43C52BE2668}"/>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2568224362"/>
      </p:ext>
    </p:extLst>
  </p:cSld>
  <p:clrMapOvr>
    <a:masterClrMapping/>
  </p:clrMapOvr>
  <p:extLst>
    <p:ext uri="{DCECCB84-F9BA-43D5-87BE-67443E8EF086}">
      <p15:sldGuideLst xmlns:p15="http://schemas.microsoft.com/office/powerpoint/2012/main">
        <p15:guide id="1" orient="horz" pos="107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One Column Text - Dark BG Colour">
    <p:bg>
      <p:bgPr>
        <a:solidFill>
          <a:schemeClr val="accent2"/>
        </a:solidFill>
        <a:effectLst/>
      </p:bgPr>
    </p:bg>
    <p:spTree>
      <p:nvGrpSpPr>
        <p:cNvPr id="1" name=""/>
        <p:cNvGrpSpPr/>
        <p:nvPr/>
      </p:nvGrpSpPr>
      <p:grpSpPr>
        <a:xfrm>
          <a:off x="0" y="0"/>
          <a:ext cx="0" cy="0"/>
          <a:chOff x="0" y="0"/>
          <a:chExt cx="0" cy="0"/>
        </a:xfrm>
      </p:grpSpPr>
      <p:sp>
        <p:nvSpPr>
          <p:cNvPr id="9" name="object 3">
            <a:extLst>
              <a:ext uri="{FF2B5EF4-FFF2-40B4-BE49-F238E27FC236}">
                <a16:creationId xmlns:a16="http://schemas.microsoft.com/office/drawing/2014/main" id="{BEC585C4-5A52-3420-CE3D-39D59D0EEC1E}"/>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5362" y="1330325"/>
            <a:ext cx="10204451"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93FD8B3-A559-4E34-BA53-32A7F927878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0" name="Shape 8">
            <a:extLst>
              <a:ext uri="{FF2B5EF4-FFF2-40B4-BE49-F238E27FC236}">
                <a16:creationId xmlns:a16="http://schemas.microsoft.com/office/drawing/2014/main" id="{6502E4F8-9814-4C2D-A8F7-99A0A80E6957}"/>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BA5B3710-FA7A-4F3A-8B8B-1E8684A4E5E2}"/>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E233916D-411B-4E5D-82DB-39F0A54EB44B}"/>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14884550-7E3D-4B9E-B170-1CE44B49781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DDDE8A8F-3CFD-1EE3-3D1B-EDBD57E2844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7E75B89E-0223-BAE1-89A9-B02D94DF7AEB}"/>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62C870B-5B27-2A00-E3AF-6D868D9910A2}"/>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081EB5EC-1A9D-8A9E-80F2-08FC23C57432}"/>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A2FC391F-6FBF-CB94-EE4E-0F6DC0FF5C49}"/>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8" name="TextBox 7">
            <a:extLst>
              <a:ext uri="{FF2B5EF4-FFF2-40B4-BE49-F238E27FC236}">
                <a16:creationId xmlns:a16="http://schemas.microsoft.com/office/drawing/2014/main" id="{2CF1EFC8-B7BC-89EC-0292-A48B3004715A}"/>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1799372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6231813" y="1330126"/>
            <a:ext cx="4968000" cy="4546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DF69D30F-5094-425F-A158-0850AE27D36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609967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wo Column Text - Dark BG Colour">
    <p:bg>
      <p:bgPr>
        <a:solidFill>
          <a:schemeClr val="accent2"/>
        </a:solidFill>
        <a:effectLst/>
      </p:bgPr>
    </p:bg>
    <p:spTree>
      <p:nvGrpSpPr>
        <p:cNvPr id="1" name=""/>
        <p:cNvGrpSpPr/>
        <p:nvPr/>
      </p:nvGrpSpPr>
      <p:grpSpPr>
        <a:xfrm>
          <a:off x="0" y="0"/>
          <a:ext cx="0" cy="0"/>
          <a:chOff x="0" y="0"/>
          <a:chExt cx="0" cy="0"/>
        </a:xfrm>
      </p:grpSpPr>
      <p:sp>
        <p:nvSpPr>
          <p:cNvPr id="10" name="object 3">
            <a:extLst>
              <a:ext uri="{FF2B5EF4-FFF2-40B4-BE49-F238E27FC236}">
                <a16:creationId xmlns:a16="http://schemas.microsoft.com/office/drawing/2014/main" id="{7ED172E9-CFBC-0489-7FE6-431688621520}"/>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27" name="Text Placeholder 26">
            <a:extLst>
              <a:ext uri="{FF2B5EF4-FFF2-40B4-BE49-F238E27FC236}">
                <a16:creationId xmlns:a16="http://schemas.microsoft.com/office/drawing/2014/main" id="{2D4DF521-FBEB-4C5C-80DB-DDFC4B7E350A}"/>
              </a:ext>
            </a:extLst>
          </p:cNvPr>
          <p:cNvSpPr>
            <a:spLocks noGrp="1"/>
          </p:cNvSpPr>
          <p:nvPr>
            <p:ph type="body" sz="quarter" idx="10"/>
          </p:nvPr>
        </p:nvSpPr>
        <p:spPr>
          <a:xfrm>
            <a:off x="995362" y="1330325"/>
            <a:ext cx="4968000"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27">
            <a:extLst>
              <a:ext uri="{FF2B5EF4-FFF2-40B4-BE49-F238E27FC236}">
                <a16:creationId xmlns:a16="http://schemas.microsoft.com/office/drawing/2014/main" id="{6ED3211B-3C86-4413-BA20-A4F81B443BE8}"/>
              </a:ext>
            </a:extLst>
          </p:cNvPr>
          <p:cNvSpPr>
            <a:spLocks noGrp="1"/>
          </p:cNvSpPr>
          <p:nvPr>
            <p:ph type="body" sz="quarter" idx="11"/>
          </p:nvPr>
        </p:nvSpPr>
        <p:spPr>
          <a:xfrm>
            <a:off x="6230938" y="1330126"/>
            <a:ext cx="4968875" cy="4546600"/>
          </a:xfrm>
        </p:spPr>
        <p:txBody>
          <a:bodyPr/>
          <a:lstStyle>
            <a:lvl1pPr>
              <a:defRPr>
                <a:solidFill>
                  <a:schemeClr val="bg1"/>
                </a:solidFill>
              </a:defRPr>
            </a:lvl1pPr>
            <a:lvl2pPr>
              <a:defRPr>
                <a:solidFill>
                  <a:schemeClr val="bg1"/>
                </a:solidFill>
              </a:defRPr>
            </a:lvl2pPr>
            <a:lvl3pPr>
              <a:buClrTx/>
              <a:defRPr>
                <a:solidFill>
                  <a:schemeClr val="bg1"/>
                </a:solidFill>
              </a:defRPr>
            </a:lvl3pPr>
            <a:lvl4pPr>
              <a:buClrTx/>
              <a:defRPr>
                <a:solidFill>
                  <a:schemeClr val="bg1"/>
                </a:solidFill>
              </a:defRPr>
            </a:lvl4pPr>
            <a:lvl5pPr>
              <a:buClrTx/>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E1C918AE-52AC-4531-9640-0D2CA3A28F2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1" name="Shape 8">
            <a:extLst>
              <a:ext uri="{FF2B5EF4-FFF2-40B4-BE49-F238E27FC236}">
                <a16:creationId xmlns:a16="http://schemas.microsoft.com/office/drawing/2014/main" id="{94633614-6108-4A5F-9DF8-275F150438A1}"/>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2" name="TextBox 11">
            <a:extLst>
              <a:ext uri="{FF2B5EF4-FFF2-40B4-BE49-F238E27FC236}">
                <a16:creationId xmlns:a16="http://schemas.microsoft.com/office/drawing/2014/main" id="{150E3323-7007-4144-A219-C2088B5B672D}"/>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4" name="Straight Connector 13">
            <a:extLst>
              <a:ext uri="{FF2B5EF4-FFF2-40B4-BE49-F238E27FC236}">
                <a16:creationId xmlns:a16="http://schemas.microsoft.com/office/drawing/2014/main" id="{31BED6AC-1D49-4097-9CB9-4CA6C41EC866}"/>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Graphic 8">
            <a:extLst>
              <a:ext uri="{FF2B5EF4-FFF2-40B4-BE49-F238E27FC236}">
                <a16:creationId xmlns:a16="http://schemas.microsoft.com/office/drawing/2014/main" id="{B5ED1770-BE4C-4F59-AB07-14FB7634743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3" name="Isosceles Triangle 2">
            <a:extLst>
              <a:ext uri="{FF2B5EF4-FFF2-40B4-BE49-F238E27FC236}">
                <a16:creationId xmlns:a16="http://schemas.microsoft.com/office/drawing/2014/main" id="{1A990FC1-EE03-9E79-7ACA-021DFCCA0F4B}"/>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2C3D69DE-DAB1-C8E2-7BAE-296DA1E0E6E5}"/>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0E02D946-0179-3BC7-8E59-25FBD9096EE8}"/>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94827837-F197-476E-56BB-4CC34F3E80A0}"/>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9A997D05-7A98-5043-BC2B-7968004E686C}"/>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8" name="TextBox 7">
            <a:extLst>
              <a:ext uri="{FF2B5EF4-FFF2-40B4-BE49-F238E27FC236}">
                <a16:creationId xmlns:a16="http://schemas.microsoft.com/office/drawing/2014/main" id="{1335B5E5-10B7-D2DD-2E94-6445FC8E8B20}"/>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535841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with Image or Char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4968000" cy="454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3"/>
          </p:nvPr>
        </p:nvSpPr>
        <p:spPr>
          <a:xfrm>
            <a:off x="6231813" y="1330126"/>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D91C8742-D774-4F89-A78A-3FE2DD10535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688539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Column Chart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330325"/>
            <a:ext cx="10204451"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hart Placeholder 4"/>
          <p:cNvSpPr>
            <a:spLocks noGrp="1"/>
          </p:cNvSpPr>
          <p:nvPr>
            <p:ph type="chart" sz="quarter" idx="11"/>
          </p:nvPr>
        </p:nvSpPr>
        <p:spPr>
          <a:xfrm>
            <a:off x="995362" y="3742126"/>
            <a:ext cx="10204451" cy="213574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02D32ADA-D319-4A1F-BF43-8C0B259FADD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786615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Char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6231813" y="1330126"/>
            <a:ext cx="4968000" cy="4546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995362" y="1330325"/>
            <a:ext cx="4968000" cy="4546800"/>
          </a:xfrm>
        </p:spPr>
        <p:txBody>
          <a:bodyPr anchor="ctr"/>
          <a:lstStyle>
            <a:lvl1pPr algn="ctr">
              <a:defRPr/>
            </a:lvl1pPr>
          </a:lstStyle>
          <a:p>
            <a:r>
              <a:rPr lang="en-US"/>
              <a:t>Click icon to add chart</a:t>
            </a:r>
            <a:endParaRPr lang="en-GB"/>
          </a:p>
        </p:txBody>
      </p:sp>
      <p:sp>
        <p:nvSpPr>
          <p:cNvPr id="3" name="Title 2">
            <a:extLst>
              <a:ext uri="{FF2B5EF4-FFF2-40B4-BE49-F238E27FC236}">
                <a16:creationId xmlns:a16="http://schemas.microsoft.com/office/drawing/2014/main" id="{F443F486-864A-4617-9E68-0A1C3CD9BA8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2908272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Chart &amp; Text">
    <p:spTree>
      <p:nvGrpSpPr>
        <p:cNvPr id="1" name=""/>
        <p:cNvGrpSpPr/>
        <p:nvPr/>
      </p:nvGrpSpPr>
      <p:grpSpPr>
        <a:xfrm>
          <a:off x="0" y="0"/>
          <a:ext cx="0" cy="0"/>
          <a:chOff x="0" y="0"/>
          <a:chExt cx="0" cy="0"/>
        </a:xfrm>
      </p:grpSpPr>
      <p:sp>
        <p:nvSpPr>
          <p:cNvPr id="5" name="Chart Placeholder 4"/>
          <p:cNvSpPr>
            <a:spLocks noGrp="1"/>
          </p:cNvSpPr>
          <p:nvPr>
            <p:ph type="chart" sz="quarter" idx="11"/>
          </p:nvPr>
        </p:nvSpPr>
        <p:spPr>
          <a:xfrm>
            <a:off x="4507546" y="3742126"/>
            <a:ext cx="3187200" cy="2134800"/>
          </a:xfrm>
        </p:spPr>
        <p:txBody>
          <a:bodyPr anchor="ctr"/>
          <a:lstStyle>
            <a:lvl1pPr algn="ctr">
              <a:defRPr/>
            </a:lvl1pPr>
          </a:lstStyle>
          <a:p>
            <a:r>
              <a:rPr lang="en-US"/>
              <a:t>Click icon to add chart</a:t>
            </a:r>
            <a:endParaRPr lang="en-GB"/>
          </a:p>
        </p:txBody>
      </p:sp>
      <p:sp>
        <p:nvSpPr>
          <p:cNvPr id="6" name="Chart Placeholder 4"/>
          <p:cNvSpPr>
            <a:spLocks noGrp="1"/>
          </p:cNvSpPr>
          <p:nvPr>
            <p:ph type="chart" sz="quarter" idx="12"/>
          </p:nvPr>
        </p:nvSpPr>
        <p:spPr>
          <a:xfrm>
            <a:off x="995362" y="3742126"/>
            <a:ext cx="3187200" cy="2134800"/>
          </a:xfrm>
        </p:spPr>
        <p:txBody>
          <a:bodyPr anchor="ctr"/>
          <a:lstStyle>
            <a:lvl1pPr algn="ctr">
              <a:defRPr/>
            </a:lvl1pPr>
          </a:lstStyle>
          <a:p>
            <a:r>
              <a:rPr lang="en-US"/>
              <a:t>Click icon to add chart</a:t>
            </a:r>
            <a:endParaRPr lang="en-GB"/>
          </a:p>
        </p:txBody>
      </p:sp>
      <p:sp>
        <p:nvSpPr>
          <p:cNvPr id="7" name="Text Placeholder 8"/>
          <p:cNvSpPr>
            <a:spLocks noGrp="1"/>
          </p:cNvSpPr>
          <p:nvPr>
            <p:ph type="body" sz="quarter" idx="10"/>
          </p:nvPr>
        </p:nvSpPr>
        <p:spPr>
          <a:xfrm>
            <a:off x="995362" y="1330325"/>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Chart Placeholder 4"/>
          <p:cNvSpPr>
            <a:spLocks noGrp="1"/>
          </p:cNvSpPr>
          <p:nvPr>
            <p:ph type="chart" sz="quarter" idx="13"/>
          </p:nvPr>
        </p:nvSpPr>
        <p:spPr>
          <a:xfrm>
            <a:off x="8012612" y="3742126"/>
            <a:ext cx="3187200" cy="2134800"/>
          </a:xfrm>
        </p:spPr>
        <p:txBody>
          <a:bodyPr anchor="ctr"/>
          <a:lstStyle>
            <a:lvl1pPr algn="ctr">
              <a:defRPr/>
            </a:lvl1pPr>
          </a:lstStyle>
          <a:p>
            <a:r>
              <a:rPr lang="en-US"/>
              <a:t>Click icon to add chart</a:t>
            </a:r>
            <a:endParaRPr lang="en-GB"/>
          </a:p>
        </p:txBody>
      </p:sp>
      <p:sp>
        <p:nvSpPr>
          <p:cNvPr id="9" name="Text Placeholder 8"/>
          <p:cNvSpPr>
            <a:spLocks noGrp="1"/>
          </p:cNvSpPr>
          <p:nvPr>
            <p:ph type="body" sz="quarter" idx="14"/>
          </p:nvPr>
        </p:nvSpPr>
        <p:spPr>
          <a:xfrm>
            <a:off x="4507546"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8"/>
          <p:cNvSpPr>
            <a:spLocks noGrp="1"/>
          </p:cNvSpPr>
          <p:nvPr>
            <p:ph type="body" sz="quarter" idx="15"/>
          </p:nvPr>
        </p:nvSpPr>
        <p:spPr>
          <a:xfrm>
            <a:off x="8012612" y="1331360"/>
            <a:ext cx="3187200" cy="213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1993B809-7A30-47BC-953E-AF9FE10FDFB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413369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cess 5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995362" y="1330325"/>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068984"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5134768"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7200552"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1" name="Text Placeholder 12"/>
          <p:cNvSpPr>
            <a:spLocks noGrp="1"/>
          </p:cNvSpPr>
          <p:nvPr>
            <p:ph type="body" sz="quarter" idx="18" hasCustomPrompt="1"/>
          </p:nvPr>
        </p:nvSpPr>
        <p:spPr>
          <a:xfrm>
            <a:off x="9264649" y="1331913"/>
            <a:ext cx="1935163"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2" name="Text Placeholder 8"/>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B6F9AD75-9C5D-491A-8EB6-1E4763A9BC3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775981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ocess 5 Columns - Cobalt Blue">
    <p:spTree>
      <p:nvGrpSpPr>
        <p:cNvPr id="1" name=""/>
        <p:cNvGrpSpPr/>
        <p:nvPr/>
      </p:nvGrpSpPr>
      <p:grpSpPr>
        <a:xfrm>
          <a:off x="0" y="0"/>
          <a:ext cx="0" cy="0"/>
          <a:chOff x="0" y="0"/>
          <a:chExt cx="0" cy="0"/>
        </a:xfrm>
      </p:grpSpPr>
      <p:sp>
        <p:nvSpPr>
          <p:cNvPr id="27" name="Text Placeholder 8">
            <a:extLst>
              <a:ext uri="{FF2B5EF4-FFF2-40B4-BE49-F238E27FC236}">
                <a16:creationId xmlns:a16="http://schemas.microsoft.com/office/drawing/2014/main" id="{A68D3E60-F95F-4250-92C1-89CF93433E23}"/>
              </a:ext>
            </a:extLst>
          </p:cNvPr>
          <p:cNvSpPr>
            <a:spLocks noGrp="1"/>
          </p:cNvSpPr>
          <p:nvPr>
            <p:ph type="body" sz="quarter" idx="10"/>
          </p:nvPr>
        </p:nvSpPr>
        <p:spPr>
          <a:xfrm>
            <a:off x="99536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8" name="Text Placeholder 8">
            <a:extLst>
              <a:ext uri="{FF2B5EF4-FFF2-40B4-BE49-F238E27FC236}">
                <a16:creationId xmlns:a16="http://schemas.microsoft.com/office/drawing/2014/main" id="{8D8E592C-F128-4E4B-970B-BFB5C0F2A492}"/>
              </a:ext>
            </a:extLst>
          </p:cNvPr>
          <p:cNvSpPr>
            <a:spLocks noGrp="1"/>
          </p:cNvSpPr>
          <p:nvPr>
            <p:ph type="body" sz="quarter" idx="11"/>
          </p:nvPr>
        </p:nvSpPr>
        <p:spPr>
          <a:xfrm>
            <a:off x="3068984"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9" name="Text Placeholder 8">
            <a:extLst>
              <a:ext uri="{FF2B5EF4-FFF2-40B4-BE49-F238E27FC236}">
                <a16:creationId xmlns:a16="http://schemas.microsoft.com/office/drawing/2014/main" id="{EE6B17CD-E0EF-40A4-A171-4E4B731CE0D9}"/>
              </a:ext>
            </a:extLst>
          </p:cNvPr>
          <p:cNvSpPr>
            <a:spLocks noGrp="1"/>
          </p:cNvSpPr>
          <p:nvPr>
            <p:ph type="body" sz="quarter" idx="12"/>
          </p:nvPr>
        </p:nvSpPr>
        <p:spPr>
          <a:xfrm>
            <a:off x="5134768"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Text Placeholder 8">
            <a:extLst>
              <a:ext uri="{FF2B5EF4-FFF2-40B4-BE49-F238E27FC236}">
                <a16:creationId xmlns:a16="http://schemas.microsoft.com/office/drawing/2014/main" id="{03C9A44B-2A8F-416D-A76B-F3A018572E3F}"/>
              </a:ext>
            </a:extLst>
          </p:cNvPr>
          <p:cNvSpPr>
            <a:spLocks noGrp="1"/>
          </p:cNvSpPr>
          <p:nvPr>
            <p:ph type="body" sz="quarter" idx="13"/>
          </p:nvPr>
        </p:nvSpPr>
        <p:spPr>
          <a:xfrm>
            <a:off x="7200552"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1" name="Text Placeholder 12">
            <a:extLst>
              <a:ext uri="{FF2B5EF4-FFF2-40B4-BE49-F238E27FC236}">
                <a16:creationId xmlns:a16="http://schemas.microsoft.com/office/drawing/2014/main" id="{D3A5B3AC-C2E0-40CF-9D31-036461F790D0}"/>
              </a:ext>
            </a:extLst>
          </p:cNvPr>
          <p:cNvSpPr>
            <a:spLocks noGrp="1"/>
          </p:cNvSpPr>
          <p:nvPr>
            <p:ph type="body" sz="quarter" idx="14" hasCustomPrompt="1"/>
          </p:nvPr>
        </p:nvSpPr>
        <p:spPr>
          <a:xfrm>
            <a:off x="995362" y="1330325"/>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2" name="Text Placeholder 12">
            <a:extLst>
              <a:ext uri="{FF2B5EF4-FFF2-40B4-BE49-F238E27FC236}">
                <a16:creationId xmlns:a16="http://schemas.microsoft.com/office/drawing/2014/main" id="{969E3860-942E-40E2-A1C8-AF5DF29675F7}"/>
              </a:ext>
            </a:extLst>
          </p:cNvPr>
          <p:cNvSpPr>
            <a:spLocks noGrp="1"/>
          </p:cNvSpPr>
          <p:nvPr>
            <p:ph type="body" sz="quarter" idx="15" hasCustomPrompt="1"/>
          </p:nvPr>
        </p:nvSpPr>
        <p:spPr>
          <a:xfrm>
            <a:off x="3068984"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3" name="Text Placeholder 12">
            <a:extLst>
              <a:ext uri="{FF2B5EF4-FFF2-40B4-BE49-F238E27FC236}">
                <a16:creationId xmlns:a16="http://schemas.microsoft.com/office/drawing/2014/main" id="{8E580107-2025-4C04-9884-4A6DBB63DE03}"/>
              </a:ext>
            </a:extLst>
          </p:cNvPr>
          <p:cNvSpPr>
            <a:spLocks noGrp="1"/>
          </p:cNvSpPr>
          <p:nvPr>
            <p:ph type="body" sz="quarter" idx="16" hasCustomPrompt="1"/>
          </p:nvPr>
        </p:nvSpPr>
        <p:spPr>
          <a:xfrm>
            <a:off x="5134768"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4" name="Text Placeholder 12">
            <a:extLst>
              <a:ext uri="{FF2B5EF4-FFF2-40B4-BE49-F238E27FC236}">
                <a16:creationId xmlns:a16="http://schemas.microsoft.com/office/drawing/2014/main" id="{BC4D5128-392D-4FC9-A83F-FA43203A40D7}"/>
              </a:ext>
            </a:extLst>
          </p:cNvPr>
          <p:cNvSpPr>
            <a:spLocks noGrp="1"/>
          </p:cNvSpPr>
          <p:nvPr>
            <p:ph type="body" sz="quarter" idx="17" hasCustomPrompt="1"/>
          </p:nvPr>
        </p:nvSpPr>
        <p:spPr>
          <a:xfrm>
            <a:off x="7200552"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5" name="Text Placeholder 12">
            <a:extLst>
              <a:ext uri="{FF2B5EF4-FFF2-40B4-BE49-F238E27FC236}">
                <a16:creationId xmlns:a16="http://schemas.microsoft.com/office/drawing/2014/main" id="{A8EB5529-8601-4864-9983-FBB672B8B9FF}"/>
              </a:ext>
            </a:extLst>
          </p:cNvPr>
          <p:cNvSpPr>
            <a:spLocks noGrp="1"/>
          </p:cNvSpPr>
          <p:nvPr>
            <p:ph type="body" sz="quarter" idx="18" hasCustomPrompt="1"/>
          </p:nvPr>
        </p:nvSpPr>
        <p:spPr>
          <a:xfrm>
            <a:off x="9264649" y="1331913"/>
            <a:ext cx="1935163"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6" name="Text Placeholder 8">
            <a:extLst>
              <a:ext uri="{FF2B5EF4-FFF2-40B4-BE49-F238E27FC236}">
                <a16:creationId xmlns:a16="http://schemas.microsoft.com/office/drawing/2014/main" id="{4715BC67-F699-49E6-B5D7-22ED9DFA817E}"/>
              </a:ext>
            </a:extLst>
          </p:cNvPr>
          <p:cNvSpPr>
            <a:spLocks noGrp="1"/>
          </p:cNvSpPr>
          <p:nvPr>
            <p:ph type="body" sz="quarter" idx="19"/>
          </p:nvPr>
        </p:nvSpPr>
        <p:spPr>
          <a:xfrm>
            <a:off x="9266337" y="1936712"/>
            <a:ext cx="1728000" cy="3940213"/>
          </a:xfrm>
          <a:solidFill>
            <a:schemeClr val="accent1">
              <a:lumMod val="20000"/>
              <a:lumOff val="80000"/>
            </a:schemeClr>
          </a:solidFill>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Title 2">
            <a:extLst>
              <a:ext uri="{FF2B5EF4-FFF2-40B4-BE49-F238E27FC236}">
                <a16:creationId xmlns:a16="http://schemas.microsoft.com/office/drawing/2014/main" id="{EB51C022-C0B7-4310-BC9F-D7C63034FE3A}"/>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10132584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rocess 6 Colum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580C36-1E70-46DD-9783-AFD66B7DEC90}"/>
              </a:ext>
            </a:extLst>
          </p:cNvPr>
          <p:cNvSpPr/>
          <p:nvPr userDrawn="1"/>
        </p:nvSpPr>
        <p:spPr>
          <a:xfrm>
            <a:off x="0" y="0"/>
            <a:ext cx="12192000" cy="26860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9" name="Text Placeholder 8"/>
          <p:cNvSpPr>
            <a:spLocks noGrp="1"/>
          </p:cNvSpPr>
          <p:nvPr>
            <p:ph type="body" sz="quarter" idx="10"/>
          </p:nvPr>
        </p:nvSpPr>
        <p:spPr>
          <a:xfrm>
            <a:off x="995362"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2716529"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4437696"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6158863"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p:cNvSpPr>
            <a:spLocks noGrp="1"/>
          </p:cNvSpPr>
          <p:nvPr>
            <p:ph type="body" sz="quarter" idx="19"/>
          </p:nvPr>
        </p:nvSpPr>
        <p:spPr>
          <a:xfrm>
            <a:off x="9601199"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469478F-D315-4922-A7E4-E575455BF352}"/>
              </a:ext>
            </a:extLst>
          </p:cNvPr>
          <p:cNvSpPr>
            <a:spLocks noGrp="1"/>
          </p:cNvSpPr>
          <p:nvPr>
            <p:ph type="body" sz="quarter" idx="20"/>
          </p:nvPr>
        </p:nvSpPr>
        <p:spPr>
          <a:xfrm>
            <a:off x="7880030" y="2009775"/>
            <a:ext cx="1598613" cy="3867150"/>
          </a:xfrm>
          <a:solidFill>
            <a:schemeClr val="bg1"/>
          </a:solidFill>
          <a:ln w="6350">
            <a:solidFill>
              <a:schemeClr val="accent1"/>
            </a:solidFill>
          </a:ln>
        </p:spPr>
        <p:txBody>
          <a:bodyPr lIns="108000" tIns="108000" rIns="108000" bIns="108000"/>
          <a:lstStyle>
            <a:lvl1pPr algn="l">
              <a:defRPr sz="1400"/>
            </a:lvl1pPr>
            <a:lvl2pPr algn="l">
              <a:defRPr sz="1400"/>
            </a:lvl2pPr>
            <a:lvl3pPr algn="l">
              <a:defRPr sz="1400"/>
            </a:lvl3pPr>
            <a:lvl4pPr algn="l">
              <a:defRPr sz="1400"/>
            </a:lvl4pPr>
            <a:lvl5pPr algn="l">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Text Placeholder 9">
            <a:extLst>
              <a:ext uri="{FF2B5EF4-FFF2-40B4-BE49-F238E27FC236}">
                <a16:creationId xmlns:a16="http://schemas.microsoft.com/office/drawing/2014/main" id="{38557E01-A30E-46EA-BAB3-4F33E0992F32}"/>
              </a:ext>
            </a:extLst>
          </p:cNvPr>
          <p:cNvSpPr>
            <a:spLocks noGrp="1"/>
          </p:cNvSpPr>
          <p:nvPr>
            <p:ph type="body" sz="quarter" idx="21"/>
          </p:nvPr>
        </p:nvSpPr>
        <p:spPr>
          <a:xfrm>
            <a:off x="995362" y="1330325"/>
            <a:ext cx="10204451" cy="538609"/>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p:txBody>
      </p:sp>
      <p:sp>
        <p:nvSpPr>
          <p:cNvPr id="7" name="Title 6">
            <a:extLst>
              <a:ext uri="{FF2B5EF4-FFF2-40B4-BE49-F238E27FC236}">
                <a16:creationId xmlns:a16="http://schemas.microsoft.com/office/drawing/2014/main" id="{59724627-195E-4BFD-9A60-FFD6EECF128B}"/>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2" name="Isosceles Triangle 1">
            <a:extLst>
              <a:ext uri="{FF2B5EF4-FFF2-40B4-BE49-F238E27FC236}">
                <a16:creationId xmlns:a16="http://schemas.microsoft.com/office/drawing/2014/main" id="{F45A981A-64C2-BB2D-937F-F1FB77BA6554}"/>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8" name="Isosceles Triangle 7">
            <a:extLst>
              <a:ext uri="{FF2B5EF4-FFF2-40B4-BE49-F238E27FC236}">
                <a16:creationId xmlns:a16="http://schemas.microsoft.com/office/drawing/2014/main" id="{DF618351-2B9B-A166-7F6A-78697FCFD370}"/>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1" name="Oval 10">
            <a:hlinkClick r:id="" action="ppaction://hlinkshowjump?jump=nextslide"/>
            <a:extLst>
              <a:ext uri="{FF2B5EF4-FFF2-40B4-BE49-F238E27FC236}">
                <a16:creationId xmlns:a16="http://schemas.microsoft.com/office/drawing/2014/main" id="{5226AD4E-6252-E4FA-54C2-D7095AFBA49C}"/>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13" name="Oval 12">
            <a:hlinkClick r:id="" action="ppaction://hlinkshowjump?jump=previousslide"/>
            <a:extLst>
              <a:ext uri="{FF2B5EF4-FFF2-40B4-BE49-F238E27FC236}">
                <a16:creationId xmlns:a16="http://schemas.microsoft.com/office/drawing/2014/main" id="{66DF5693-B6C1-E339-2ED5-002E61329F64}"/>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15" name="Graphic 14" descr="Home">
            <a:hlinkClick r:id="rId2" action="ppaction://hlinksldjump"/>
            <a:extLst>
              <a:ext uri="{FF2B5EF4-FFF2-40B4-BE49-F238E27FC236}">
                <a16:creationId xmlns:a16="http://schemas.microsoft.com/office/drawing/2014/main" id="{4DD707EF-DDC2-7626-6258-B699A0013F3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1571850" y="134089"/>
            <a:ext cx="222478" cy="222478"/>
          </a:xfrm>
          <a:prstGeom prst="rect">
            <a:avLst/>
          </a:prstGeom>
        </p:spPr>
      </p:pic>
    </p:spTree>
    <p:extLst>
      <p:ext uri="{BB962C8B-B14F-4D97-AF65-F5344CB8AC3E}">
        <p14:creationId xmlns:p14="http://schemas.microsoft.com/office/powerpoint/2010/main" val="39499126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rocess 4 Columns">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2"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8"/>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8"/>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 Placeholder 8"/>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3" name="Text Placeholder 12"/>
          <p:cNvSpPr>
            <a:spLocks noGrp="1"/>
          </p:cNvSpPr>
          <p:nvPr>
            <p:ph type="body" sz="quarter" idx="14" hasCustomPrompt="1"/>
          </p:nvPr>
        </p:nvSpPr>
        <p:spPr>
          <a:xfrm>
            <a:off x="995362" y="1330325"/>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5" name="Text Placeholder 12"/>
          <p:cNvSpPr>
            <a:spLocks noGrp="1"/>
          </p:cNvSpPr>
          <p:nvPr>
            <p:ph type="body" sz="quarter" idx="15" hasCustomPrompt="1"/>
          </p:nvPr>
        </p:nvSpPr>
        <p:spPr>
          <a:xfrm>
            <a:off x="3593775"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6" name="Text Placeholder 12"/>
          <p:cNvSpPr>
            <a:spLocks noGrp="1"/>
          </p:cNvSpPr>
          <p:nvPr>
            <p:ph type="body" sz="quarter" idx="16" hasCustomPrompt="1"/>
          </p:nvPr>
        </p:nvSpPr>
        <p:spPr>
          <a:xfrm>
            <a:off x="6184350"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17" name="Text Placeholder 12"/>
          <p:cNvSpPr>
            <a:spLocks noGrp="1"/>
          </p:cNvSpPr>
          <p:nvPr>
            <p:ph type="body" sz="quarter" idx="17" hasCustomPrompt="1"/>
          </p:nvPr>
        </p:nvSpPr>
        <p:spPr>
          <a:xfrm>
            <a:off x="8774926" y="1331913"/>
            <a:ext cx="2424887" cy="604800"/>
          </a:xfrm>
          <a:prstGeom prst="homePlate">
            <a:avLst>
              <a:gd name="adj" fmla="val 34200"/>
            </a:avLst>
          </a:prstGeom>
          <a:solidFill>
            <a:schemeClr val="accent2"/>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DE70D7C0-6953-439A-A54E-CED56520F82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838659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ocess 4 Columns - Cobalt Blue">
    <p:spTree>
      <p:nvGrpSpPr>
        <p:cNvPr id="1" name=""/>
        <p:cNvGrpSpPr/>
        <p:nvPr/>
      </p:nvGrpSpPr>
      <p:grpSpPr>
        <a:xfrm>
          <a:off x="0" y="0"/>
          <a:ext cx="0" cy="0"/>
          <a:chOff x="0" y="0"/>
          <a:chExt cx="0" cy="0"/>
        </a:xfrm>
      </p:grpSpPr>
      <p:sp>
        <p:nvSpPr>
          <p:cNvPr id="11" name="Text Placeholder 8">
            <a:extLst>
              <a:ext uri="{FF2B5EF4-FFF2-40B4-BE49-F238E27FC236}">
                <a16:creationId xmlns:a16="http://schemas.microsoft.com/office/drawing/2014/main" id="{ABA5FBEF-FE77-4CC8-B2D5-D94327DAF658}"/>
              </a:ext>
            </a:extLst>
          </p:cNvPr>
          <p:cNvSpPr>
            <a:spLocks noGrp="1"/>
          </p:cNvSpPr>
          <p:nvPr>
            <p:ph type="body" sz="quarter" idx="10"/>
          </p:nvPr>
        </p:nvSpPr>
        <p:spPr>
          <a:xfrm>
            <a:off x="995362"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659D9BAA-2BF4-4A94-BAA4-5D091A296246}"/>
              </a:ext>
            </a:extLst>
          </p:cNvPr>
          <p:cNvSpPr>
            <a:spLocks noGrp="1"/>
          </p:cNvSpPr>
          <p:nvPr>
            <p:ph type="body" sz="quarter" idx="11"/>
          </p:nvPr>
        </p:nvSpPr>
        <p:spPr>
          <a:xfrm>
            <a:off x="3593775"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a:extLst>
              <a:ext uri="{FF2B5EF4-FFF2-40B4-BE49-F238E27FC236}">
                <a16:creationId xmlns:a16="http://schemas.microsoft.com/office/drawing/2014/main" id="{E3D170C1-7106-44D2-A62F-A804F244A090}"/>
              </a:ext>
            </a:extLst>
          </p:cNvPr>
          <p:cNvSpPr>
            <a:spLocks noGrp="1"/>
          </p:cNvSpPr>
          <p:nvPr>
            <p:ph type="body" sz="quarter" idx="12"/>
          </p:nvPr>
        </p:nvSpPr>
        <p:spPr>
          <a:xfrm>
            <a:off x="6184350"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a:extLst>
              <a:ext uri="{FF2B5EF4-FFF2-40B4-BE49-F238E27FC236}">
                <a16:creationId xmlns:a16="http://schemas.microsoft.com/office/drawing/2014/main" id="{5DDAC4CF-AC2F-4D83-9FB0-DDFB71EE9A2C}"/>
              </a:ext>
            </a:extLst>
          </p:cNvPr>
          <p:cNvSpPr>
            <a:spLocks noGrp="1"/>
          </p:cNvSpPr>
          <p:nvPr>
            <p:ph type="body" sz="quarter" idx="13"/>
          </p:nvPr>
        </p:nvSpPr>
        <p:spPr>
          <a:xfrm>
            <a:off x="8774926" y="1936713"/>
            <a:ext cx="2196000" cy="3940213"/>
          </a:xfrm>
          <a:solidFill>
            <a:schemeClr val="accent1">
              <a:lumMod val="20000"/>
              <a:lumOff val="80000"/>
            </a:schemeClr>
          </a:solidFill>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2">
            <a:extLst>
              <a:ext uri="{FF2B5EF4-FFF2-40B4-BE49-F238E27FC236}">
                <a16:creationId xmlns:a16="http://schemas.microsoft.com/office/drawing/2014/main" id="{3C84B130-9B9F-460C-87A1-4E3012ECEA7A}"/>
              </a:ext>
            </a:extLst>
          </p:cNvPr>
          <p:cNvSpPr>
            <a:spLocks noGrp="1"/>
          </p:cNvSpPr>
          <p:nvPr>
            <p:ph type="body" sz="quarter" idx="14" hasCustomPrompt="1"/>
          </p:nvPr>
        </p:nvSpPr>
        <p:spPr>
          <a:xfrm>
            <a:off x="995362" y="1330325"/>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0" name="Text Placeholder 12">
            <a:extLst>
              <a:ext uri="{FF2B5EF4-FFF2-40B4-BE49-F238E27FC236}">
                <a16:creationId xmlns:a16="http://schemas.microsoft.com/office/drawing/2014/main" id="{FC076374-F8FA-413A-9C7F-81C823512353}"/>
              </a:ext>
            </a:extLst>
          </p:cNvPr>
          <p:cNvSpPr>
            <a:spLocks noGrp="1"/>
          </p:cNvSpPr>
          <p:nvPr>
            <p:ph type="body" sz="quarter" idx="15" hasCustomPrompt="1"/>
          </p:nvPr>
        </p:nvSpPr>
        <p:spPr>
          <a:xfrm>
            <a:off x="3593775"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1" name="Text Placeholder 12">
            <a:extLst>
              <a:ext uri="{FF2B5EF4-FFF2-40B4-BE49-F238E27FC236}">
                <a16:creationId xmlns:a16="http://schemas.microsoft.com/office/drawing/2014/main" id="{92DC24D7-E120-435A-8A2A-98E939AC4C9C}"/>
              </a:ext>
            </a:extLst>
          </p:cNvPr>
          <p:cNvSpPr>
            <a:spLocks noGrp="1"/>
          </p:cNvSpPr>
          <p:nvPr>
            <p:ph type="body" sz="quarter" idx="16" hasCustomPrompt="1"/>
          </p:nvPr>
        </p:nvSpPr>
        <p:spPr>
          <a:xfrm>
            <a:off x="6184350"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22" name="Text Placeholder 12">
            <a:extLst>
              <a:ext uri="{FF2B5EF4-FFF2-40B4-BE49-F238E27FC236}">
                <a16:creationId xmlns:a16="http://schemas.microsoft.com/office/drawing/2014/main" id="{41F15369-328E-43E6-894F-1F86414EB3F0}"/>
              </a:ext>
            </a:extLst>
          </p:cNvPr>
          <p:cNvSpPr>
            <a:spLocks noGrp="1"/>
          </p:cNvSpPr>
          <p:nvPr>
            <p:ph type="body" sz="quarter" idx="17" hasCustomPrompt="1"/>
          </p:nvPr>
        </p:nvSpPr>
        <p:spPr>
          <a:xfrm>
            <a:off x="8774926" y="1331913"/>
            <a:ext cx="2424887" cy="604800"/>
          </a:xfrm>
          <a:prstGeom prst="homePlate">
            <a:avLst>
              <a:gd name="adj" fmla="val 34200"/>
            </a:avLst>
          </a:prstGeom>
          <a:solidFill>
            <a:schemeClr val="accent1"/>
          </a:solidFill>
        </p:spPr>
        <p:txBody>
          <a:bodyPr lIns="108000" tIns="108000" rIns="108000" bIns="108000" anchor="ctr"/>
          <a:lstStyle>
            <a:lvl1pPr algn="l">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add text</a:t>
            </a:r>
            <a:endParaRPr lang="en-GB"/>
          </a:p>
        </p:txBody>
      </p:sp>
      <p:sp>
        <p:nvSpPr>
          <p:cNvPr id="3" name="Title 2">
            <a:extLst>
              <a:ext uri="{FF2B5EF4-FFF2-40B4-BE49-F238E27FC236}">
                <a16:creationId xmlns:a16="http://schemas.microsoft.com/office/drawing/2014/main" id="{9890D0D6-CEB9-47AA-B0BF-EB213FE3B803}"/>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GB"/>
          </a:p>
        </p:txBody>
      </p:sp>
    </p:spTree>
    <p:extLst>
      <p:ext uri="{BB962C8B-B14F-4D97-AF65-F5344CB8AC3E}">
        <p14:creationId xmlns:p14="http://schemas.microsoft.com/office/powerpoint/2010/main" val="22733415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ad Box with Icon and Center Text Box">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9862B5-E58D-4F98-8070-F04E6659AC38}"/>
              </a:ext>
            </a:extLst>
          </p:cNvPr>
          <p:cNvSpPr>
            <a:spLocks noGrp="1"/>
          </p:cNvSpPr>
          <p:nvPr>
            <p:ph type="body" sz="quarter" idx="53"/>
          </p:nvPr>
        </p:nvSpPr>
        <p:spPr>
          <a:xfrm>
            <a:off x="995362" y="1330325"/>
            <a:ext cx="4967685" cy="2132614"/>
          </a:xfrm>
          <a:custGeom>
            <a:avLst/>
            <a:gdLst>
              <a:gd name="connsiteX0" fmla="*/ 0 w 4967685"/>
              <a:gd name="connsiteY0" fmla="*/ 0 h 2132614"/>
              <a:gd name="connsiteX1" fmla="*/ 4967685 w 4967685"/>
              <a:gd name="connsiteY1" fmla="*/ 0 h 2132614"/>
              <a:gd name="connsiteX2" fmla="*/ 4967685 w 4967685"/>
              <a:gd name="connsiteY2" fmla="*/ 1013538 h 2132614"/>
              <a:gd name="connsiteX3" fmla="*/ 3364916 w 4967685"/>
              <a:gd name="connsiteY3" fmla="*/ 1013538 h 2132614"/>
              <a:gd name="connsiteX4" fmla="*/ 3364916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4967685" y="0"/>
                </a:lnTo>
                <a:lnTo>
                  <a:pt x="4967685" y="1013538"/>
                </a:lnTo>
                <a:lnTo>
                  <a:pt x="3364916" y="1013538"/>
                </a:lnTo>
                <a:lnTo>
                  <a:pt x="3364916"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17">
            <a:extLst>
              <a:ext uri="{FF2B5EF4-FFF2-40B4-BE49-F238E27FC236}">
                <a16:creationId xmlns:a16="http://schemas.microsoft.com/office/drawing/2014/main" id="{AEEBDCDC-F212-4ED4-8D32-7B1BC919EF2D}"/>
              </a:ext>
            </a:extLst>
          </p:cNvPr>
          <p:cNvSpPr>
            <a:spLocks noGrp="1"/>
          </p:cNvSpPr>
          <p:nvPr>
            <p:ph type="body" sz="quarter" idx="55"/>
          </p:nvPr>
        </p:nvSpPr>
        <p:spPr>
          <a:xfrm>
            <a:off x="6232127" y="1330325"/>
            <a:ext cx="4967685" cy="2132614"/>
          </a:xfrm>
          <a:custGeom>
            <a:avLst/>
            <a:gdLst>
              <a:gd name="connsiteX0" fmla="*/ 0 w 4970724"/>
              <a:gd name="connsiteY0" fmla="*/ 0 h 2132614"/>
              <a:gd name="connsiteX1" fmla="*/ 4970724 w 4970724"/>
              <a:gd name="connsiteY1" fmla="*/ 0 h 2132614"/>
              <a:gd name="connsiteX2" fmla="*/ 4970724 w 4970724"/>
              <a:gd name="connsiteY2" fmla="*/ 2132614 h 2132614"/>
              <a:gd name="connsiteX3" fmla="*/ 1602767 w 4970724"/>
              <a:gd name="connsiteY3" fmla="*/ 2132614 h 2132614"/>
              <a:gd name="connsiteX4" fmla="*/ 1602767 w 4970724"/>
              <a:gd name="connsiteY4" fmla="*/ 1013538 h 2132614"/>
              <a:gd name="connsiteX5" fmla="*/ 0 w 4970724"/>
              <a:gd name="connsiteY5" fmla="*/ 1013538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0" y="0"/>
                </a:moveTo>
                <a:lnTo>
                  <a:pt x="4970724" y="0"/>
                </a:lnTo>
                <a:lnTo>
                  <a:pt x="4970724" y="2132614"/>
                </a:lnTo>
                <a:lnTo>
                  <a:pt x="1602767" y="2132614"/>
                </a:lnTo>
                <a:lnTo>
                  <a:pt x="1602767" y="1013538"/>
                </a:lnTo>
                <a:lnTo>
                  <a:pt x="0" y="1013538"/>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9">
            <a:extLst>
              <a:ext uri="{FF2B5EF4-FFF2-40B4-BE49-F238E27FC236}">
                <a16:creationId xmlns:a16="http://schemas.microsoft.com/office/drawing/2014/main" id="{BE0E984E-3A85-42BD-A2C6-26D3EB300D8B}"/>
              </a:ext>
            </a:extLst>
          </p:cNvPr>
          <p:cNvSpPr>
            <a:spLocks noGrp="1"/>
          </p:cNvSpPr>
          <p:nvPr>
            <p:ph type="body" sz="quarter" idx="54"/>
          </p:nvPr>
        </p:nvSpPr>
        <p:spPr>
          <a:xfrm>
            <a:off x="995362" y="3744312"/>
            <a:ext cx="4967685" cy="2132614"/>
          </a:xfrm>
          <a:custGeom>
            <a:avLst/>
            <a:gdLst>
              <a:gd name="connsiteX0" fmla="*/ 0 w 4967685"/>
              <a:gd name="connsiteY0" fmla="*/ 0 h 2132614"/>
              <a:gd name="connsiteX1" fmla="*/ 3364916 w 4967685"/>
              <a:gd name="connsiteY1" fmla="*/ 0 h 2132614"/>
              <a:gd name="connsiteX2" fmla="*/ 3364916 w 4967685"/>
              <a:gd name="connsiteY2" fmla="*/ 1119077 h 2132614"/>
              <a:gd name="connsiteX3" fmla="*/ 4967685 w 4967685"/>
              <a:gd name="connsiteY3" fmla="*/ 1119077 h 2132614"/>
              <a:gd name="connsiteX4" fmla="*/ 4967685 w 4967685"/>
              <a:gd name="connsiteY4" fmla="*/ 2132614 h 2132614"/>
              <a:gd name="connsiteX5" fmla="*/ 0 w 4967685"/>
              <a:gd name="connsiteY5" fmla="*/ 2132614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67685" h="2132614">
                <a:moveTo>
                  <a:pt x="0" y="0"/>
                </a:moveTo>
                <a:lnTo>
                  <a:pt x="3364916" y="0"/>
                </a:lnTo>
                <a:lnTo>
                  <a:pt x="3364916" y="1119077"/>
                </a:lnTo>
                <a:lnTo>
                  <a:pt x="4967685" y="1119077"/>
                </a:lnTo>
                <a:lnTo>
                  <a:pt x="4967685" y="2132614"/>
                </a:lnTo>
                <a:lnTo>
                  <a:pt x="0" y="2132614"/>
                </a:lnTo>
                <a:close/>
              </a:path>
            </a:pathLst>
          </a:custGeom>
          <a:solidFill>
            <a:schemeClr val="accent1">
              <a:lumMod val="20000"/>
              <a:lumOff val="80000"/>
            </a:schemeClr>
          </a:solidFill>
          <a:ln w="12700">
            <a:noFill/>
          </a:ln>
        </p:spPr>
        <p:txBody>
          <a:bodyPr wrap="square" lIns="108000" tIns="108000" rIns="1872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8">
            <a:extLst>
              <a:ext uri="{FF2B5EF4-FFF2-40B4-BE49-F238E27FC236}">
                <a16:creationId xmlns:a16="http://schemas.microsoft.com/office/drawing/2014/main" id="{4DB6DB5B-6EBB-4E77-8ECE-2DE4424BD660}"/>
              </a:ext>
            </a:extLst>
          </p:cNvPr>
          <p:cNvSpPr>
            <a:spLocks noGrp="1"/>
          </p:cNvSpPr>
          <p:nvPr>
            <p:ph type="body" sz="quarter" idx="56"/>
          </p:nvPr>
        </p:nvSpPr>
        <p:spPr>
          <a:xfrm>
            <a:off x="6232127" y="3744312"/>
            <a:ext cx="4967685" cy="2132614"/>
          </a:xfrm>
          <a:custGeom>
            <a:avLst/>
            <a:gdLst>
              <a:gd name="connsiteX0" fmla="*/ 1602767 w 4970724"/>
              <a:gd name="connsiteY0" fmla="*/ 0 h 2132614"/>
              <a:gd name="connsiteX1" fmla="*/ 4970724 w 4970724"/>
              <a:gd name="connsiteY1" fmla="*/ 0 h 2132614"/>
              <a:gd name="connsiteX2" fmla="*/ 4970724 w 4970724"/>
              <a:gd name="connsiteY2" fmla="*/ 2132614 h 2132614"/>
              <a:gd name="connsiteX3" fmla="*/ 0 w 4970724"/>
              <a:gd name="connsiteY3" fmla="*/ 2132614 h 2132614"/>
              <a:gd name="connsiteX4" fmla="*/ 0 w 4970724"/>
              <a:gd name="connsiteY4" fmla="*/ 1119077 h 2132614"/>
              <a:gd name="connsiteX5" fmla="*/ 1602767 w 4970724"/>
              <a:gd name="connsiteY5" fmla="*/ 1119077 h 213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70724" h="2132614">
                <a:moveTo>
                  <a:pt x="1602767" y="0"/>
                </a:moveTo>
                <a:lnTo>
                  <a:pt x="4970724" y="0"/>
                </a:lnTo>
                <a:lnTo>
                  <a:pt x="4970724" y="2132614"/>
                </a:lnTo>
                <a:lnTo>
                  <a:pt x="0" y="2132614"/>
                </a:lnTo>
                <a:lnTo>
                  <a:pt x="0" y="1119077"/>
                </a:lnTo>
                <a:lnTo>
                  <a:pt x="1602767" y="1119077"/>
                </a:lnTo>
                <a:close/>
              </a:path>
            </a:pathLst>
          </a:custGeom>
          <a:solidFill>
            <a:schemeClr val="accent1">
              <a:lumMod val="20000"/>
              <a:lumOff val="80000"/>
            </a:schemeClr>
          </a:solidFill>
          <a:ln w="12700">
            <a:noFill/>
          </a:ln>
        </p:spPr>
        <p:txBody>
          <a:bodyPr wrap="square" lIns="1872000" tIns="108000" rIns="108000" bIns="108000">
            <a:noAutofit/>
          </a:bodyPr>
          <a:lstStyle>
            <a:lvl1pPr>
              <a:defRPr sz="1600">
                <a:latin typeface="+mn-lt"/>
              </a:defRPr>
            </a:lvl1pPr>
            <a:lvl2pPr>
              <a:defRPr sz="1600">
                <a:latin typeface="+mn-lt"/>
              </a:defRPr>
            </a:lvl2pPr>
            <a:lvl3pPr>
              <a:defRPr sz="1600">
                <a:latin typeface="+mn-lt"/>
              </a:defRPr>
            </a:lvl3pPr>
            <a:lvl4pPr>
              <a:defRPr sz="1600">
                <a:latin typeface="+mn-lt"/>
              </a:defRPr>
            </a:lvl4pPr>
            <a:lvl5pPr>
              <a:defRPr sz="16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Text Placeholder 10"/>
          <p:cNvSpPr>
            <a:spLocks noGrp="1"/>
          </p:cNvSpPr>
          <p:nvPr>
            <p:ph type="body" sz="quarter" idx="21"/>
          </p:nvPr>
        </p:nvSpPr>
        <p:spPr bwMode="gray">
          <a:xfrm>
            <a:off x="4571176" y="2546022"/>
            <a:ext cx="3049649" cy="2118398"/>
          </a:xfrm>
          <a:prstGeom prst="rect">
            <a:avLst/>
          </a:prstGeom>
          <a:solidFill>
            <a:schemeClr val="accent1"/>
          </a:solidFill>
          <a:ln>
            <a:noFill/>
          </a:ln>
        </p:spPr>
        <p:txBody>
          <a:bodyPr lIns="108000" tIns="108000" rIns="108000" bIns="108000" anchor="ctr" anchorCtr="1">
            <a:noAutofit/>
          </a:bodyPr>
          <a:lstStyle>
            <a:lvl1pPr algn="ctr">
              <a:defRPr sz="1400">
                <a:solidFill>
                  <a:schemeClr val="bg1"/>
                </a:solidFill>
                <a:latin typeface="+mn-lt"/>
                <a:cs typeface="Arial" panose="020B0604020202020204" pitchFamily="34" charset="0"/>
              </a:defRPr>
            </a:lvl1pPr>
          </a:lstStyle>
          <a:p>
            <a:pPr lvl="0"/>
            <a:r>
              <a:rPr lang="en-US"/>
              <a:t>Click to edit Master text styles</a:t>
            </a:r>
          </a:p>
        </p:txBody>
      </p:sp>
      <p:sp>
        <p:nvSpPr>
          <p:cNvPr id="3" name="Title 2">
            <a:extLst>
              <a:ext uri="{FF2B5EF4-FFF2-40B4-BE49-F238E27FC236}">
                <a16:creationId xmlns:a16="http://schemas.microsoft.com/office/drawing/2014/main" id="{01CCA206-C726-4930-8059-66751EC1483B}"/>
              </a:ext>
            </a:extLst>
          </p:cNvPr>
          <p:cNvSpPr>
            <a:spLocks noGrp="1"/>
          </p:cNvSpPr>
          <p:nvPr>
            <p:ph type="title"/>
          </p:nvPr>
        </p:nvSpPr>
        <p:spPr>
          <a:xfrm>
            <a:off x="995364" y="431800"/>
            <a:ext cx="10204450" cy="533400"/>
          </a:xfrm>
        </p:spPr>
        <p:txBody>
          <a:bodyPr/>
          <a:lstStyle>
            <a:lvl1pPr>
              <a:defRPr>
                <a:solidFill>
                  <a:schemeClr val="tx2"/>
                </a:solidFill>
              </a:defRPr>
            </a:lvl1pPr>
          </a:lstStyle>
          <a:p>
            <a:r>
              <a:rPr lang="en-US"/>
              <a:t>Click to edit Master title style</a:t>
            </a:r>
            <a:endParaRPr lang="en-GB"/>
          </a:p>
        </p:txBody>
      </p:sp>
    </p:spTree>
    <p:extLst>
      <p:ext uri="{BB962C8B-B14F-4D97-AF65-F5344CB8AC3E}">
        <p14:creationId xmlns:p14="http://schemas.microsoft.com/office/powerpoint/2010/main" val="369585813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 Column Blue Heading">
    <p:spTree>
      <p:nvGrpSpPr>
        <p:cNvPr id="1" name=""/>
        <p:cNvGrpSpPr/>
        <p:nvPr/>
      </p:nvGrpSpPr>
      <p:grpSpPr>
        <a:xfrm>
          <a:off x="0" y="0"/>
          <a:ext cx="0" cy="0"/>
          <a:chOff x="0" y="0"/>
          <a:chExt cx="0" cy="0"/>
        </a:xfrm>
      </p:grpSpPr>
      <p:sp>
        <p:nvSpPr>
          <p:cNvPr id="19" name="Text Placeholder 8"/>
          <p:cNvSpPr>
            <a:spLocks noGrp="1"/>
          </p:cNvSpPr>
          <p:nvPr>
            <p:ph type="body" sz="quarter" idx="19"/>
          </p:nvPr>
        </p:nvSpPr>
        <p:spPr>
          <a:xfrm>
            <a:off x="995362" y="1720715"/>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8"/>
          <p:cNvSpPr>
            <a:spLocks noGrp="1"/>
          </p:cNvSpPr>
          <p:nvPr>
            <p:ph type="body" sz="quarter" idx="20"/>
          </p:nvPr>
        </p:nvSpPr>
        <p:spPr>
          <a:xfrm>
            <a:off x="995362"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6" name="Text Placeholder 8"/>
          <p:cNvSpPr>
            <a:spLocks noGrp="1"/>
          </p:cNvSpPr>
          <p:nvPr>
            <p:ph type="body" sz="quarter" idx="21"/>
          </p:nvPr>
        </p:nvSpPr>
        <p:spPr>
          <a:xfrm>
            <a:off x="6231813" y="1720715"/>
            <a:ext cx="4968000" cy="4156211"/>
          </a:xfrm>
          <a:solidFill>
            <a:schemeClr val="accent1">
              <a:lumMod val="20000"/>
              <a:lumOff val="80000"/>
            </a:schemeClr>
          </a:solidFill>
          <a:ln w="12700">
            <a:noFill/>
          </a:ln>
        </p:spPr>
        <p:txBody>
          <a:bodyPr lIns="108000" tIns="108000" rIns="108000" bIns="108000"/>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8"/>
          <p:cNvSpPr>
            <a:spLocks noGrp="1"/>
          </p:cNvSpPr>
          <p:nvPr>
            <p:ph type="body" sz="quarter" idx="22"/>
          </p:nvPr>
        </p:nvSpPr>
        <p:spPr>
          <a:xfrm>
            <a:off x="6231813" y="1331913"/>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C76913D-77B2-43C9-9A9E-B86D68E16B7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55353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Quad Boxes">
    <p:spTree>
      <p:nvGrpSpPr>
        <p:cNvPr id="1" name=""/>
        <p:cNvGrpSpPr/>
        <p:nvPr/>
      </p:nvGrpSpPr>
      <p:grpSpPr>
        <a:xfrm>
          <a:off x="0" y="0"/>
          <a:ext cx="0" cy="0"/>
          <a:chOff x="0" y="0"/>
          <a:chExt cx="0" cy="0"/>
        </a:xfrm>
      </p:grpSpPr>
      <p:sp>
        <p:nvSpPr>
          <p:cNvPr id="13" name="Text Placeholder 8"/>
          <p:cNvSpPr>
            <a:spLocks noGrp="1"/>
          </p:cNvSpPr>
          <p:nvPr>
            <p:ph type="body" sz="quarter" idx="19"/>
          </p:nvPr>
        </p:nvSpPr>
        <p:spPr>
          <a:xfrm>
            <a:off x="995362" y="1719125"/>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Text Placeholder 8"/>
          <p:cNvSpPr>
            <a:spLocks noGrp="1"/>
          </p:cNvSpPr>
          <p:nvPr>
            <p:ph type="body" sz="quarter" idx="20"/>
          </p:nvPr>
        </p:nvSpPr>
        <p:spPr>
          <a:xfrm>
            <a:off x="995362"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15" name="Text Placeholder 8"/>
          <p:cNvSpPr>
            <a:spLocks noGrp="1"/>
          </p:cNvSpPr>
          <p:nvPr>
            <p:ph type="body" sz="quarter" idx="21"/>
          </p:nvPr>
        </p:nvSpPr>
        <p:spPr>
          <a:xfrm>
            <a:off x="6231813" y="1719125"/>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8"/>
          <p:cNvSpPr>
            <a:spLocks noGrp="1"/>
          </p:cNvSpPr>
          <p:nvPr>
            <p:ph type="body" sz="quarter" idx="22"/>
          </p:nvPr>
        </p:nvSpPr>
        <p:spPr>
          <a:xfrm>
            <a:off x="6231813" y="1330325"/>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1" name="Text Placeholder 8"/>
          <p:cNvSpPr>
            <a:spLocks noGrp="1"/>
          </p:cNvSpPr>
          <p:nvPr>
            <p:ph type="body" sz="quarter" idx="23"/>
          </p:nvPr>
        </p:nvSpPr>
        <p:spPr>
          <a:xfrm>
            <a:off x="995362"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Text Placeholder 8"/>
          <p:cNvSpPr>
            <a:spLocks noGrp="1"/>
          </p:cNvSpPr>
          <p:nvPr>
            <p:ph type="body" sz="quarter" idx="24"/>
          </p:nvPr>
        </p:nvSpPr>
        <p:spPr>
          <a:xfrm>
            <a:off x="995362"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23" name="Text Placeholder 8"/>
          <p:cNvSpPr>
            <a:spLocks noGrp="1"/>
          </p:cNvSpPr>
          <p:nvPr>
            <p:ph type="body" sz="quarter" idx="25"/>
          </p:nvPr>
        </p:nvSpPr>
        <p:spPr>
          <a:xfrm>
            <a:off x="6231813"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4" name="Text Placeholder 8"/>
          <p:cNvSpPr>
            <a:spLocks noGrp="1"/>
          </p:cNvSpPr>
          <p:nvPr>
            <p:ph type="body" sz="quarter" idx="26"/>
          </p:nvPr>
        </p:nvSpPr>
        <p:spPr>
          <a:xfrm>
            <a:off x="6231813" y="3741920"/>
            <a:ext cx="4968000" cy="388800"/>
          </a:xfrm>
          <a:solidFill>
            <a:schemeClr val="accent2"/>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AEF8E881-FC4C-4F00-9389-FF3C71D7CB78}"/>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556956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Four Quad Boxes BG Dark Colour">
    <p:bg>
      <p:bgPr>
        <a:solidFill>
          <a:schemeClr val="accent2"/>
        </a:solidFill>
        <a:effectLst/>
      </p:bgPr>
    </p:bg>
    <p:spTree>
      <p:nvGrpSpPr>
        <p:cNvPr id="1" name=""/>
        <p:cNvGrpSpPr/>
        <p:nvPr/>
      </p:nvGrpSpPr>
      <p:grpSpPr>
        <a:xfrm>
          <a:off x="0" y="0"/>
          <a:ext cx="0" cy="0"/>
          <a:chOff x="0" y="0"/>
          <a:chExt cx="0" cy="0"/>
        </a:xfrm>
      </p:grpSpPr>
      <p:sp>
        <p:nvSpPr>
          <p:cNvPr id="17" name="object 3">
            <a:extLst>
              <a:ext uri="{FF2B5EF4-FFF2-40B4-BE49-F238E27FC236}">
                <a16:creationId xmlns:a16="http://schemas.microsoft.com/office/drawing/2014/main" id="{E10C1585-375A-4D46-CC08-32341565B09F}"/>
              </a:ext>
            </a:extLst>
          </p:cNvPr>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69" name="Text Placeholder 8">
            <a:extLst>
              <a:ext uri="{FF2B5EF4-FFF2-40B4-BE49-F238E27FC236}">
                <a16:creationId xmlns:a16="http://schemas.microsoft.com/office/drawing/2014/main" id="{2086F202-0162-4310-A956-FCCC9474338A}"/>
              </a:ext>
            </a:extLst>
          </p:cNvPr>
          <p:cNvSpPr>
            <a:spLocks noGrp="1"/>
          </p:cNvSpPr>
          <p:nvPr>
            <p:ph type="body" sz="quarter" idx="19"/>
          </p:nvPr>
        </p:nvSpPr>
        <p:spPr>
          <a:xfrm>
            <a:off x="995362"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0" name="Text Placeholder 8">
            <a:extLst>
              <a:ext uri="{FF2B5EF4-FFF2-40B4-BE49-F238E27FC236}">
                <a16:creationId xmlns:a16="http://schemas.microsoft.com/office/drawing/2014/main" id="{E8B6691E-17EA-480D-B598-F314E1A68EB3}"/>
              </a:ext>
            </a:extLst>
          </p:cNvPr>
          <p:cNvSpPr>
            <a:spLocks noGrp="1"/>
          </p:cNvSpPr>
          <p:nvPr>
            <p:ph type="body" sz="quarter" idx="20"/>
          </p:nvPr>
        </p:nvSpPr>
        <p:spPr>
          <a:xfrm>
            <a:off x="995362" y="1330325"/>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1" name="Text Placeholder 8">
            <a:extLst>
              <a:ext uri="{FF2B5EF4-FFF2-40B4-BE49-F238E27FC236}">
                <a16:creationId xmlns:a16="http://schemas.microsoft.com/office/drawing/2014/main" id="{59F2358C-C167-462D-9F76-6D66B9B409BE}"/>
              </a:ext>
            </a:extLst>
          </p:cNvPr>
          <p:cNvSpPr>
            <a:spLocks noGrp="1"/>
          </p:cNvSpPr>
          <p:nvPr>
            <p:ph type="body" sz="quarter" idx="21"/>
          </p:nvPr>
        </p:nvSpPr>
        <p:spPr>
          <a:xfrm>
            <a:off x="6231813" y="1720714"/>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2" name="Text Placeholder 8">
            <a:extLst>
              <a:ext uri="{FF2B5EF4-FFF2-40B4-BE49-F238E27FC236}">
                <a16:creationId xmlns:a16="http://schemas.microsoft.com/office/drawing/2014/main" id="{B2FCC9C9-35DE-4F3C-A352-30EE65DD5B86}"/>
              </a:ext>
            </a:extLst>
          </p:cNvPr>
          <p:cNvSpPr>
            <a:spLocks noGrp="1"/>
          </p:cNvSpPr>
          <p:nvPr>
            <p:ph type="body" sz="quarter" idx="22"/>
          </p:nvPr>
        </p:nvSpPr>
        <p:spPr>
          <a:xfrm>
            <a:off x="6231813" y="1330325"/>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3" name="Text Placeholder 8">
            <a:extLst>
              <a:ext uri="{FF2B5EF4-FFF2-40B4-BE49-F238E27FC236}">
                <a16:creationId xmlns:a16="http://schemas.microsoft.com/office/drawing/2014/main" id="{EA017BC0-9170-4186-94F7-40E80F981A05}"/>
              </a:ext>
            </a:extLst>
          </p:cNvPr>
          <p:cNvSpPr>
            <a:spLocks noGrp="1"/>
          </p:cNvSpPr>
          <p:nvPr>
            <p:ph type="body" sz="quarter" idx="23"/>
          </p:nvPr>
        </p:nvSpPr>
        <p:spPr>
          <a:xfrm>
            <a:off x="995362"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4" name="Text Placeholder 8">
            <a:extLst>
              <a:ext uri="{FF2B5EF4-FFF2-40B4-BE49-F238E27FC236}">
                <a16:creationId xmlns:a16="http://schemas.microsoft.com/office/drawing/2014/main" id="{0383342E-84C2-404C-8D37-45747A191605}"/>
              </a:ext>
            </a:extLst>
          </p:cNvPr>
          <p:cNvSpPr>
            <a:spLocks noGrp="1"/>
          </p:cNvSpPr>
          <p:nvPr>
            <p:ph type="body" sz="quarter" idx="24"/>
          </p:nvPr>
        </p:nvSpPr>
        <p:spPr>
          <a:xfrm>
            <a:off x="995362"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75" name="Text Placeholder 8">
            <a:extLst>
              <a:ext uri="{FF2B5EF4-FFF2-40B4-BE49-F238E27FC236}">
                <a16:creationId xmlns:a16="http://schemas.microsoft.com/office/drawing/2014/main" id="{BE27B3E2-E887-473C-8464-38B061F67EA7}"/>
              </a:ext>
            </a:extLst>
          </p:cNvPr>
          <p:cNvSpPr>
            <a:spLocks noGrp="1"/>
          </p:cNvSpPr>
          <p:nvPr>
            <p:ph type="body" sz="quarter" idx="25"/>
          </p:nvPr>
        </p:nvSpPr>
        <p:spPr>
          <a:xfrm>
            <a:off x="6231813" y="4130721"/>
            <a:ext cx="4968000" cy="1746205"/>
          </a:xfrm>
          <a:solidFill>
            <a:schemeClr val="accent1">
              <a:lumMod val="20000"/>
              <a:lumOff val="80000"/>
            </a:schemeClr>
          </a:solidFill>
          <a:ln w="12700">
            <a:noFill/>
          </a:ln>
        </p:spPr>
        <p:txBody>
          <a:bodyPr lIns="108000" tIns="108000" rIns="108000" bIns="108000"/>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6" name="Text Placeholder 8">
            <a:extLst>
              <a:ext uri="{FF2B5EF4-FFF2-40B4-BE49-F238E27FC236}">
                <a16:creationId xmlns:a16="http://schemas.microsoft.com/office/drawing/2014/main" id="{4C0C9B8C-19B0-44D7-9F0F-975D45D4007F}"/>
              </a:ext>
            </a:extLst>
          </p:cNvPr>
          <p:cNvSpPr>
            <a:spLocks noGrp="1"/>
          </p:cNvSpPr>
          <p:nvPr>
            <p:ph type="body" sz="quarter" idx="26"/>
          </p:nvPr>
        </p:nvSpPr>
        <p:spPr>
          <a:xfrm>
            <a:off x="6231813" y="3741920"/>
            <a:ext cx="4968000" cy="388800"/>
          </a:xfrm>
          <a:solidFill>
            <a:schemeClr val="accent1"/>
          </a:solidFill>
          <a:ln w="12700">
            <a:noFill/>
          </a:ln>
        </p:spPr>
        <p:txBody>
          <a:bodyPr lIns="108000" tIns="108000" rIns="108000" bIns="108000" anchor="ctr"/>
          <a:lstStyle>
            <a:lvl1pPr>
              <a:defRPr sz="1600">
                <a:solidFill>
                  <a:schemeClr val="bg1"/>
                </a:solidFill>
              </a:defRPr>
            </a:lvl1pPr>
            <a:lvl2pPr>
              <a:defRPr sz="1400"/>
            </a:lvl2pPr>
            <a:lvl3pPr>
              <a:defRPr sz="1400"/>
            </a:lvl3pPr>
            <a:lvl4pPr>
              <a:defRPr sz="1400"/>
            </a:lvl4pPr>
            <a:lvl5pPr>
              <a:defRPr sz="1400"/>
            </a:lvl5pPr>
          </a:lstStyle>
          <a:p>
            <a:pPr lvl="0"/>
            <a:r>
              <a:rPr lang="en-US"/>
              <a:t>Click to edit Master text styles</a:t>
            </a:r>
          </a:p>
        </p:txBody>
      </p:sp>
      <p:sp>
        <p:nvSpPr>
          <p:cNvPr id="3" name="Title 2">
            <a:extLst>
              <a:ext uri="{FF2B5EF4-FFF2-40B4-BE49-F238E27FC236}">
                <a16:creationId xmlns:a16="http://schemas.microsoft.com/office/drawing/2014/main" id="{39275135-3A5F-40EA-83D5-8A21BF903978}"/>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16" name="Shape 8">
            <a:extLst>
              <a:ext uri="{FF2B5EF4-FFF2-40B4-BE49-F238E27FC236}">
                <a16:creationId xmlns:a16="http://schemas.microsoft.com/office/drawing/2014/main" id="{318D7EFE-06F8-46EC-AF2B-FEBEADE006DD}"/>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20" name="TextBox 19">
            <a:extLst>
              <a:ext uri="{FF2B5EF4-FFF2-40B4-BE49-F238E27FC236}">
                <a16:creationId xmlns:a16="http://schemas.microsoft.com/office/drawing/2014/main" id="{CCCA1CC0-0581-4B49-8A09-A736B74D9442}"/>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22" name="Straight Connector 21">
            <a:extLst>
              <a:ext uri="{FF2B5EF4-FFF2-40B4-BE49-F238E27FC236}">
                <a16:creationId xmlns:a16="http://schemas.microsoft.com/office/drawing/2014/main" id="{10205052-9F05-4D64-A371-862F0F010529}"/>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23" name="Graphic 8">
            <a:extLst>
              <a:ext uri="{FF2B5EF4-FFF2-40B4-BE49-F238E27FC236}">
                <a16:creationId xmlns:a16="http://schemas.microsoft.com/office/drawing/2014/main" id="{3BFC9A3D-C903-4CED-9649-79FB2B13E1A3}"/>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2" name="Isosceles Triangle 1">
            <a:extLst>
              <a:ext uri="{FF2B5EF4-FFF2-40B4-BE49-F238E27FC236}">
                <a16:creationId xmlns:a16="http://schemas.microsoft.com/office/drawing/2014/main" id="{9E02A37C-7E01-AAA6-D697-37AA765BC686}"/>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D8405644-DE73-00EE-D81A-84D70D324818}"/>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A6B6FD82-6C20-895A-27B5-BF3E1E77088E}"/>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8AF59494-7DE4-5E6C-757A-3A14978659D0}"/>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3" action="ppaction://hlinksldjump"/>
            <a:extLst>
              <a:ext uri="{FF2B5EF4-FFF2-40B4-BE49-F238E27FC236}">
                <a16:creationId xmlns:a16="http://schemas.microsoft.com/office/drawing/2014/main" id="{D8A88469-B583-F54A-E5FB-22DCEF1DD470}"/>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10" name="TextBox 9">
            <a:extLst>
              <a:ext uri="{FF2B5EF4-FFF2-40B4-BE49-F238E27FC236}">
                <a16:creationId xmlns:a16="http://schemas.microsoft.com/office/drawing/2014/main" id="{C13A0519-80AF-706A-5E63-C3A2F21D28DA}"/>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2083640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No Title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21600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No Title Blue">
    <p:bg>
      <p:bgPr>
        <a:solidFill>
          <a:schemeClr val="accent2"/>
        </a:solidFill>
        <a:effectLst/>
      </p:bgPr>
    </p:bg>
    <p:spTree>
      <p:nvGrpSpPr>
        <p:cNvPr id="1" name=""/>
        <p:cNvGrpSpPr/>
        <p:nvPr/>
      </p:nvGrpSpPr>
      <p:grpSpPr>
        <a:xfrm>
          <a:off x="0" y="0"/>
          <a:ext cx="0" cy="0"/>
          <a:chOff x="0" y="0"/>
          <a:chExt cx="0" cy="0"/>
        </a:xfrm>
      </p:grpSpPr>
      <p:sp>
        <p:nvSpPr>
          <p:cNvPr id="10" name="Shape 8">
            <a:extLst>
              <a:ext uri="{FF2B5EF4-FFF2-40B4-BE49-F238E27FC236}">
                <a16:creationId xmlns:a16="http://schemas.microsoft.com/office/drawing/2014/main" id="{BD5EA3DF-EDF9-4AA1-B876-3BB2C2DD6124}"/>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mn-lt"/>
                <a:ea typeface="Arial"/>
                <a:cs typeface="Arial" panose="020B0604020202020204" pitchFamily="34" charset="0"/>
              </a:rPr>
              <a:pPr algn="r"/>
              <a:t>‹#›</a:t>
            </a:fld>
            <a:endParaRPr lang="en-GB" sz="1000">
              <a:solidFill>
                <a:schemeClr val="bg1"/>
              </a:solidFill>
              <a:latin typeface="+mn-lt"/>
              <a:ea typeface="Arial"/>
              <a:cs typeface="Arial" panose="020B0604020202020204" pitchFamily="34" charset="0"/>
            </a:endParaRPr>
          </a:p>
        </p:txBody>
      </p:sp>
      <p:sp>
        <p:nvSpPr>
          <p:cNvPr id="11" name="TextBox 10">
            <a:extLst>
              <a:ext uri="{FF2B5EF4-FFF2-40B4-BE49-F238E27FC236}">
                <a16:creationId xmlns:a16="http://schemas.microsoft.com/office/drawing/2014/main" id="{5C647E3E-7387-4F1B-91E4-B27FC18C0158}"/>
              </a:ext>
              <a:ext uri="{C183D7F6-B498-43B3-948B-1728B52AA6E4}">
                <adec:decorative xmlns:adec="http://schemas.microsoft.com/office/drawing/2017/decorative" val="1"/>
              </a:ext>
            </a:extLst>
          </p:cNvPr>
          <p:cNvSpPr txBox="1"/>
          <p:nvPr userDrawn="1">
            <p:custDataLst>
              <p:tags r:id="rId1"/>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solidFill>
                <a:latin typeface="+mn-lt"/>
                <a:ea typeface="+mn-ea"/>
                <a:cs typeface="+mn-cs"/>
              </a:rPr>
              <a:t>Document Classification: KPMG Confidential</a:t>
            </a:r>
          </a:p>
        </p:txBody>
      </p:sp>
      <p:cxnSp>
        <p:nvCxnSpPr>
          <p:cNvPr id="13" name="Straight Connector 12">
            <a:extLst>
              <a:ext uri="{FF2B5EF4-FFF2-40B4-BE49-F238E27FC236}">
                <a16:creationId xmlns:a16="http://schemas.microsoft.com/office/drawing/2014/main" id="{2A927FC7-77D6-449A-B7B3-5F6763D3F3FF}"/>
              </a:ext>
            </a:extLst>
          </p:cNvPr>
          <p:cNvCxnSpPr/>
          <p:nvPr userDrawn="1"/>
        </p:nvCxnSpPr>
        <p:spPr>
          <a:xfrm>
            <a:off x="10928548" y="6266997"/>
            <a:ext cx="0" cy="149412"/>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Graphic 8">
            <a:extLst>
              <a:ext uri="{FF2B5EF4-FFF2-40B4-BE49-F238E27FC236}">
                <a16:creationId xmlns:a16="http://schemas.microsoft.com/office/drawing/2014/main" id="{80623A36-C230-44C2-9A0A-29BBF3F63CCC}"/>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bg1"/>
          </a:solidFill>
          <a:ln w="1683" cap="flat">
            <a:noFill/>
            <a:prstDash val="solid"/>
            <a:miter/>
          </a:ln>
        </p:spPr>
        <p:txBody>
          <a:bodyPr rtlCol="0" anchor="ctr"/>
          <a:lstStyle/>
          <a:p>
            <a:endParaRPr lang="en-GB">
              <a:solidFill>
                <a:schemeClr val="bg1"/>
              </a:solidFill>
            </a:endParaRPr>
          </a:p>
        </p:txBody>
      </p:sp>
      <p:sp>
        <p:nvSpPr>
          <p:cNvPr id="2" name="Isosceles Triangle 1">
            <a:extLst>
              <a:ext uri="{FF2B5EF4-FFF2-40B4-BE49-F238E27FC236}">
                <a16:creationId xmlns:a16="http://schemas.microsoft.com/office/drawing/2014/main" id="{11A2B0A4-3B84-A60F-51A4-EF35D0B4CE2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 name="Isosceles Triangle 2">
            <a:extLst>
              <a:ext uri="{FF2B5EF4-FFF2-40B4-BE49-F238E27FC236}">
                <a16:creationId xmlns:a16="http://schemas.microsoft.com/office/drawing/2014/main" id="{50C5DE3C-F53B-362E-7A13-F8013221FC9C}"/>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Oval 3">
            <a:hlinkClick r:id="" action="ppaction://hlinkshowjump?jump=nextslide"/>
            <a:extLst>
              <a:ext uri="{FF2B5EF4-FFF2-40B4-BE49-F238E27FC236}">
                <a16:creationId xmlns:a16="http://schemas.microsoft.com/office/drawing/2014/main" id="{4810C495-58A2-6C56-D9A7-FE2CAC03050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50F6E80C-3C27-696D-4914-BEE897CAC3D4}"/>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6" name="Graphic 5" descr="Home">
            <a:hlinkClick r:id="rId3" action="ppaction://hlinksldjump"/>
            <a:extLst>
              <a:ext uri="{FF2B5EF4-FFF2-40B4-BE49-F238E27FC236}">
                <a16:creationId xmlns:a16="http://schemas.microsoft.com/office/drawing/2014/main" id="{B3D7EF47-723C-79EE-14DC-FACEA88E451D}"/>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571850" y="134089"/>
            <a:ext cx="222478" cy="222478"/>
          </a:xfrm>
          <a:prstGeom prst="rect">
            <a:avLst/>
          </a:prstGeom>
        </p:spPr>
      </p:pic>
      <p:sp>
        <p:nvSpPr>
          <p:cNvPr id="7" name="TextBox 6">
            <a:extLst>
              <a:ext uri="{FF2B5EF4-FFF2-40B4-BE49-F238E27FC236}">
                <a16:creationId xmlns:a16="http://schemas.microsoft.com/office/drawing/2014/main" id="{32298E8B-4DC6-8F11-E51A-3BE4FE71F13D}"/>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solidFill>
                <a:latin typeface="+mn-lt"/>
                <a:ea typeface="+mn-ea"/>
                <a:cs typeface="+mn-cs"/>
              </a:rPr>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9155057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solidFill>
          <a:schemeClr val="accent1"/>
        </a:solidFill>
        <a:effectLst/>
      </p:bgPr>
    </p:bg>
    <p:spTree>
      <p:nvGrpSpPr>
        <p:cNvPr id="1" name=""/>
        <p:cNvGrpSpPr/>
        <p:nvPr/>
      </p:nvGrpSpPr>
      <p:grpSpPr>
        <a:xfrm>
          <a:off x="0" y="0"/>
          <a:ext cx="0" cy="0"/>
          <a:chOff x="0" y="0"/>
          <a:chExt cx="0" cy="0"/>
        </a:xfrm>
      </p:grpSpPr>
      <p:sp>
        <p:nvSpPr>
          <p:cNvPr id="4" name="object 3"/>
          <p:cNvSpPr>
            <a:spLocks/>
          </p:cNvSpPr>
          <p:nvPr userDrawn="1"/>
        </p:nvSpPr>
        <p:spPr>
          <a:xfrm>
            <a:off x="1" y="0"/>
            <a:ext cx="12191999"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a:latin typeface="Arial" panose="020B0604020202020204" pitchFamily="34" charset="0"/>
            </a:endParaRPr>
          </a:p>
        </p:txBody>
      </p:sp>
      <p:sp>
        <p:nvSpPr>
          <p:cNvPr id="11" name="Rectangle 10">
            <a:extLst>
              <a:ext uri="{FF2B5EF4-FFF2-40B4-BE49-F238E27FC236}">
                <a16:creationId xmlns:a16="http://schemas.microsoft.com/office/drawing/2014/main" id="{8D5A6B33-6A03-E3BB-2C29-EAB833EA92E2}"/>
              </a:ext>
            </a:extLst>
          </p:cNvPr>
          <p:cNvSpPr>
            <a:spLocks noChangeAspect="1"/>
          </p:cNvSpPr>
          <p:nvPr userDrawn="1"/>
        </p:nvSpPr>
        <p:spPr>
          <a:xfrm>
            <a:off x="998476" y="1330325"/>
            <a:ext cx="1020133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Espace réservé du numéro de diapositive 1"/>
          <p:cNvSpPr>
            <a:spLocks noGrp="1"/>
          </p:cNvSpPr>
          <p:nvPr>
            <p:ph type="sldNum" sz="quarter" idx="10"/>
          </p:nvPr>
        </p:nvSpPr>
        <p:spPr>
          <a:xfrm>
            <a:off x="0" y="0"/>
            <a:ext cx="0" cy="0"/>
          </a:xfrm>
          <a:prstGeom prst="rect">
            <a:avLst/>
          </a:prstGeom>
          <a:ln>
            <a:solidFill>
              <a:srgbClr val="00338D"/>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fr-FR"/>
          </a:p>
        </p:txBody>
      </p:sp>
      <p:pic>
        <p:nvPicPr>
          <p:cNvPr id="12" name="Graphic 11">
            <a:extLst>
              <a:ext uri="{FF2B5EF4-FFF2-40B4-BE49-F238E27FC236}">
                <a16:creationId xmlns:a16="http://schemas.microsoft.com/office/drawing/2014/main" id="{8D201DF8-8688-B83B-BC19-EA576B519C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8B9B2E45-F797-8C99-08D4-9DA15AA8DE30}"/>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Isosceles Triangle 4">
            <a:extLst>
              <a:ext uri="{FF2B5EF4-FFF2-40B4-BE49-F238E27FC236}">
                <a16:creationId xmlns:a16="http://schemas.microsoft.com/office/drawing/2014/main" id="{048C6BF7-D6A6-A874-7571-562059B61049}"/>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nextslide"/>
            <a:extLst>
              <a:ext uri="{FF2B5EF4-FFF2-40B4-BE49-F238E27FC236}">
                <a16:creationId xmlns:a16="http://schemas.microsoft.com/office/drawing/2014/main" id="{B8FDD03E-077D-636B-3CB7-0042A0B81724}"/>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ECBF5D9C-E8B3-DDEB-3F3C-128404F08F15}"/>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ADE63953-21BF-6AA9-FD7C-6A3840E2323D}"/>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B3BD9D59-40AF-CF26-139F-038A1F3B68B8}"/>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407413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Section Divider Alternative">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18" name="Rectangle 17">
            <a:extLst>
              <a:ext uri="{FF2B5EF4-FFF2-40B4-BE49-F238E27FC236}">
                <a16:creationId xmlns:a16="http://schemas.microsoft.com/office/drawing/2014/main" id="{135C8D6C-27B2-2FF8-9BCC-DA6140072A0C}"/>
              </a:ext>
            </a:extLst>
          </p:cNvPr>
          <p:cNvSpPr>
            <a:spLocks noChangeAspect="1"/>
          </p:cNvSpPr>
          <p:nvPr userDrawn="1"/>
        </p:nvSpPr>
        <p:spPr>
          <a:xfrm>
            <a:off x="998476" y="1330325"/>
            <a:ext cx="10201337"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2" name="Isosceles Triangle 1">
            <a:extLst>
              <a:ext uri="{FF2B5EF4-FFF2-40B4-BE49-F238E27FC236}">
                <a16:creationId xmlns:a16="http://schemas.microsoft.com/office/drawing/2014/main" id="{4B495BA8-58E9-E3AA-F9F5-7583D7A2940B}"/>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 name="Isosceles Triangle 2">
            <a:extLst>
              <a:ext uri="{FF2B5EF4-FFF2-40B4-BE49-F238E27FC236}">
                <a16:creationId xmlns:a16="http://schemas.microsoft.com/office/drawing/2014/main" id="{2C4A4DE2-1CAC-209A-3F03-24C51941C072}"/>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Oval 3">
            <a:hlinkClick r:id="" action="ppaction://hlinkshowjump?jump=nextslide"/>
            <a:extLst>
              <a:ext uri="{FF2B5EF4-FFF2-40B4-BE49-F238E27FC236}">
                <a16:creationId xmlns:a16="http://schemas.microsoft.com/office/drawing/2014/main" id="{4724609D-0457-12D4-11D6-8750EAF622C5}"/>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1F2DCF87-3B8E-C495-3334-965ED0C46291}"/>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6" name="Graphic 5" descr="Home">
            <a:hlinkClick r:id="rId4" action="ppaction://hlinksldjump"/>
            <a:extLst>
              <a:ext uri="{FF2B5EF4-FFF2-40B4-BE49-F238E27FC236}">
                <a16:creationId xmlns:a16="http://schemas.microsoft.com/office/drawing/2014/main" id="{C7E93D80-572A-1A8C-0C42-5765002E8971}"/>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7" name="UpSlide Options" descr="{&#10;  &quot;NoBreadcrumb&quot;: true,&#10;  &quot;NoBreadcrumbNorReminder&quot;: true,&#10;  &quot;MinimumUpSlideVersion&quot;: &quot;0.0.0.0&quot;&#10;}" hidden="1">
            <a:extLst>
              <a:ext uri="{FF2B5EF4-FFF2-40B4-BE49-F238E27FC236}">
                <a16:creationId xmlns:a16="http://schemas.microsoft.com/office/drawing/2014/main" id="{B480C95C-4464-FF3C-A88E-BD10BC8660B3}"/>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152891202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ubsection Divider">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FBF06BAA-B34F-A402-A5E3-D365A4C3C4D9}"/>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EEE51BD3-7A21-0D52-6714-28D30B1328B2}"/>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957BF9A7-DC28-8EE0-BF29-78170329A485}"/>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4DFF4B78-BB94-DA44-56EA-1AB499A0B0E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94C79EC3-C681-2E4F-2E2C-BF9E374E994E}"/>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85273A99-780A-A81B-2653-E26749654579}"/>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87934619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ivider Alternative">
    <p:bg>
      <p:bgPr>
        <a:solidFill>
          <a:schemeClr val="tx2"/>
        </a:solidFill>
        <a:effectLst/>
      </p:bgPr>
    </p:bg>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0"/>
          </p:nvPr>
        </p:nvSpPr>
        <p:spPr>
          <a:xfrm>
            <a:off x="0" y="0"/>
            <a:ext cx="0" cy="0"/>
          </a:xfrm>
          <a:prstGeom prst="rect">
            <a:avLst/>
          </a:prstGeom>
          <a:noFill/>
          <a:ln>
            <a:solidFill>
              <a:srgbClr val="6D2077"/>
            </a:solidFill>
          </a:ln>
        </p:spPr>
        <p:txBody>
          <a:bodyPr lIns="0" tIns="0" rIns="0" bIns="0" anchor="t" anchorCtr="0"/>
          <a:lstStyle>
            <a:defPPr>
              <a:defRPr lang="en-US"/>
            </a:defPPr>
            <a:lvl1pPr marL="0" algn="r" defTabSz="914400" rtl="0" eaLnBrk="1" latinLnBrk="0" hangingPunct="1">
              <a:defRPr lang="fr-FR" sz="100" kern="1200" smtClean="0">
                <a:solidFill>
                  <a:schemeClr val="bg2"/>
                </a:solidFill>
                <a:latin typeface="+mn-lt"/>
                <a:ea typeface="Arial"/>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57200"/>
            <a:fld id="{4D41ED6B-0A05-44D7-9208-91571559B6FC}" type="slidenum">
              <a:rPr lang="en-GB" smtClean="0"/>
              <a:pPr defTabSz="457200"/>
              <a:t>‹#›</a:t>
            </a:fld>
            <a:endParaRPr lang="en-GB"/>
          </a:p>
        </p:txBody>
      </p:sp>
      <p:sp>
        <p:nvSpPr>
          <p:cNvPr id="8" name="Rectangle 7">
            <a:extLst>
              <a:ext uri="{FF2B5EF4-FFF2-40B4-BE49-F238E27FC236}">
                <a16:creationId xmlns:a16="http://schemas.microsoft.com/office/drawing/2014/main" id="{4B9E4C02-6E6B-D256-0591-294D7A7401A8}"/>
              </a:ext>
            </a:extLst>
          </p:cNvPr>
          <p:cNvSpPr>
            <a:spLocks/>
          </p:cNvSpPr>
          <p:nvPr userDrawn="1"/>
        </p:nvSpPr>
        <p:spPr>
          <a:xfrm>
            <a:off x="0" y="0"/>
            <a:ext cx="12192000" cy="6858000"/>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9" name="Graphic 8">
            <a:extLst>
              <a:ext uri="{FF2B5EF4-FFF2-40B4-BE49-F238E27FC236}">
                <a16:creationId xmlns:a16="http://schemas.microsoft.com/office/drawing/2014/main" id="{AA7A40F4-68A4-2E3E-C8D1-9E2D7C3D97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3" name="Isosceles Triangle 2">
            <a:extLst>
              <a:ext uri="{FF2B5EF4-FFF2-40B4-BE49-F238E27FC236}">
                <a16:creationId xmlns:a16="http://schemas.microsoft.com/office/drawing/2014/main" id="{DF85F483-FB89-4CD6-805A-0FE7DD2AB083}"/>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Isosceles Triangle 3">
            <a:extLst>
              <a:ext uri="{FF2B5EF4-FFF2-40B4-BE49-F238E27FC236}">
                <a16:creationId xmlns:a16="http://schemas.microsoft.com/office/drawing/2014/main" id="{5AD30FA8-6D40-1244-5EB9-61F4FE4244CB}"/>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nextslide"/>
            <a:extLst>
              <a:ext uri="{FF2B5EF4-FFF2-40B4-BE49-F238E27FC236}">
                <a16:creationId xmlns:a16="http://schemas.microsoft.com/office/drawing/2014/main" id="{7F6C01A1-DD2C-BB50-CA81-5E644F042BA2}"/>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previousslide"/>
            <a:extLst>
              <a:ext uri="{FF2B5EF4-FFF2-40B4-BE49-F238E27FC236}">
                <a16:creationId xmlns:a16="http://schemas.microsoft.com/office/drawing/2014/main" id="{1B33194D-050B-5C63-08F9-6CE49F6B1433}"/>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7" name="Graphic 6" descr="Home">
            <a:hlinkClick r:id="rId4" action="ppaction://hlinksldjump"/>
            <a:extLst>
              <a:ext uri="{FF2B5EF4-FFF2-40B4-BE49-F238E27FC236}">
                <a16:creationId xmlns:a16="http://schemas.microsoft.com/office/drawing/2014/main" id="{54683177-A949-CBBC-2924-FEA811F0B442}"/>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10" name="UpSlide Options" descr="{&#10;  &quot;NoBreadcrumb&quot;: true,&#10;  &quot;NoBreadcrumbNorReminder&quot;: true,&#10;  &quot;MinimumUpSlideVersion&quot;: &quot;0.0.0.0&quot;&#10;}" hidden="1">
            <a:extLst>
              <a:ext uri="{FF2B5EF4-FFF2-40B4-BE49-F238E27FC236}">
                <a16:creationId xmlns:a16="http://schemas.microsoft.com/office/drawing/2014/main" id="{281D66AD-5AE3-2960-BFA7-051EDDC366BE}"/>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9933179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Appendix Divider">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C5E8EEF-E19D-A7AF-CB4F-25A1D67CA339}"/>
              </a:ext>
            </a:extLst>
          </p:cNvPr>
          <p:cNvSpPr>
            <a:spLocks/>
          </p:cNvSpPr>
          <p:nvPr userDrawn="1"/>
        </p:nvSpPr>
        <p:spPr>
          <a:xfrm>
            <a:off x="0" y="0"/>
            <a:ext cx="12192000"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54000" tIns="54000" rIns="54000" bIns="54000" numCol="1" spcCol="0" rtlCol="0" fromWordArt="0" anchor="ctr" anchorCtr="0" forceAA="0" compatLnSpc="1">
            <a:prstTxWarp prst="textNoShape">
              <a:avLst/>
            </a:prstTxWarp>
            <a:noAutofit/>
          </a:bodyPr>
          <a:lstStyle/>
          <a:p>
            <a:pPr algn="ctr"/>
            <a:endParaRPr lang="en-GB" sz="900">
              <a:solidFill>
                <a:srgbClr val="FFFFFF"/>
              </a:solidFill>
            </a:endParaRPr>
          </a:p>
        </p:txBody>
      </p:sp>
      <p:pic>
        <p:nvPicPr>
          <p:cNvPr id="7" name="Graphic 6">
            <a:extLst>
              <a:ext uri="{FF2B5EF4-FFF2-40B4-BE49-F238E27FC236}">
                <a16:creationId xmlns:a16="http://schemas.microsoft.com/office/drawing/2014/main" id="{E74C124F-B1C9-2395-645F-1179FE5C0E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8476" y="371311"/>
            <a:ext cx="914400" cy="368346"/>
          </a:xfrm>
          <a:prstGeom prst="rect">
            <a:avLst/>
          </a:prstGeom>
        </p:spPr>
      </p:pic>
      <p:sp>
        <p:nvSpPr>
          <p:cNvPr id="20" name="Rectangle 19">
            <a:extLst>
              <a:ext uri="{FF2B5EF4-FFF2-40B4-BE49-F238E27FC236}">
                <a16:creationId xmlns:a16="http://schemas.microsoft.com/office/drawing/2014/main" id="{09ABACD5-3697-3FC6-A777-F6DF7E1E60D5}"/>
              </a:ext>
            </a:extLst>
          </p:cNvPr>
          <p:cNvSpPr>
            <a:spLocks noChangeAspect="1"/>
          </p:cNvSpPr>
          <p:nvPr userDrawn="1"/>
        </p:nvSpPr>
        <p:spPr>
          <a:xfrm>
            <a:off x="998476" y="1330325"/>
            <a:ext cx="10201337" cy="4546600"/>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9" name="Text Placeholder 3">
            <a:extLst>
              <a:ext uri="{FF2B5EF4-FFF2-40B4-BE49-F238E27FC236}">
                <a16:creationId xmlns:a16="http://schemas.microsoft.com/office/drawing/2014/main" id="{D61FBFE2-3881-446C-0078-7C292197E38A}"/>
              </a:ext>
            </a:extLst>
          </p:cNvPr>
          <p:cNvSpPr>
            <a:spLocks noGrp="1"/>
          </p:cNvSpPr>
          <p:nvPr>
            <p:ph type="body" sz="quarter" idx="11"/>
          </p:nvPr>
        </p:nvSpPr>
        <p:spPr>
          <a:xfrm>
            <a:off x="1289860" y="5046651"/>
            <a:ext cx="5252400" cy="507831"/>
          </a:xfrm>
        </p:spPr>
        <p:txBody>
          <a:bodyPr wrap="square" anchor="b">
            <a:sp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p>
          <a:p>
            <a:pPr lvl="1"/>
            <a:r>
              <a:rPr lang="en-US"/>
              <a:t>Second level</a:t>
            </a:r>
          </a:p>
        </p:txBody>
      </p:sp>
      <p:sp>
        <p:nvSpPr>
          <p:cNvPr id="2" name="Isosceles Triangle 1">
            <a:extLst>
              <a:ext uri="{FF2B5EF4-FFF2-40B4-BE49-F238E27FC236}">
                <a16:creationId xmlns:a16="http://schemas.microsoft.com/office/drawing/2014/main" id="{84B4160F-9D48-2425-C5D9-8E033C914ABF}"/>
              </a:ext>
            </a:extLst>
          </p:cNvPr>
          <p:cNvSpPr/>
          <p:nvPr userDrawn="1"/>
        </p:nvSpPr>
        <p:spPr>
          <a:xfrm rot="5400000">
            <a:off x="11914569"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 name="Isosceles Triangle 2">
            <a:extLst>
              <a:ext uri="{FF2B5EF4-FFF2-40B4-BE49-F238E27FC236}">
                <a16:creationId xmlns:a16="http://schemas.microsoft.com/office/drawing/2014/main" id="{FEF62274-6A3A-9193-D76D-A3C215B96D7E}"/>
              </a:ext>
            </a:extLst>
          </p:cNvPr>
          <p:cNvSpPr/>
          <p:nvPr userDrawn="1"/>
        </p:nvSpPr>
        <p:spPr>
          <a:xfrm rot="16200000" flipH="1">
            <a:off x="11352448" y="209664"/>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 name="Oval 3">
            <a:hlinkClick r:id="" action="ppaction://hlinkshowjump?jump=nextslide"/>
            <a:extLst>
              <a:ext uri="{FF2B5EF4-FFF2-40B4-BE49-F238E27FC236}">
                <a16:creationId xmlns:a16="http://schemas.microsoft.com/office/drawing/2014/main" id="{B4792726-31CF-FF17-8166-6F86136EF8C7}"/>
              </a:ext>
            </a:extLst>
          </p:cNvPr>
          <p:cNvSpPr/>
          <p:nvPr userDrawn="1"/>
        </p:nvSpPr>
        <p:spPr>
          <a:xfrm>
            <a:off x="11836622"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Oval 4">
            <a:hlinkClick r:id="" action="ppaction://hlinkshowjump?jump=previousslide"/>
            <a:extLst>
              <a:ext uri="{FF2B5EF4-FFF2-40B4-BE49-F238E27FC236}">
                <a16:creationId xmlns:a16="http://schemas.microsoft.com/office/drawing/2014/main" id="{E09B03C4-CE17-0CEF-AD56-E372110A0CC8}"/>
              </a:ext>
            </a:extLst>
          </p:cNvPr>
          <p:cNvSpPr/>
          <p:nvPr userDrawn="1"/>
        </p:nvSpPr>
        <p:spPr>
          <a:xfrm flipH="1">
            <a:off x="11292948" y="134102"/>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4" action="ppaction://hlinksldjump"/>
            <a:extLst>
              <a:ext uri="{FF2B5EF4-FFF2-40B4-BE49-F238E27FC236}">
                <a16:creationId xmlns:a16="http://schemas.microsoft.com/office/drawing/2014/main" id="{621494FC-A344-946E-5987-392F63E4F065}"/>
              </a:ext>
            </a:extLst>
          </p:cNvPr>
          <p:cNvPicPr>
            <a:picLocks noChangeAspect="1"/>
          </p:cNvPicPr>
          <p:nvPr userDrawn="1"/>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71850" y="134089"/>
            <a:ext cx="222478" cy="222478"/>
          </a:xfrm>
          <a:prstGeom prst="rect">
            <a:avLst/>
          </a:prstGeom>
        </p:spPr>
      </p:pic>
      <p:sp>
        <p:nvSpPr>
          <p:cNvPr id="9" name="UpSlide Options" descr="{&#10;  &quot;NoBreadcrumb&quot;: true,&#10;  &quot;NoBreadcrumbNorReminder&quot;: true,&#10;  &quot;MinimumUpSlideVersion&quot;: &quot;0.0.0.0&quot;&#10;}" hidden="1">
            <a:extLst>
              <a:ext uri="{FF2B5EF4-FFF2-40B4-BE49-F238E27FC236}">
                <a16:creationId xmlns:a16="http://schemas.microsoft.com/office/drawing/2014/main" id="{C387244A-1970-4B2B-769F-C61419B83C4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698062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Back Cover Dark Gradient">
    <p:bg>
      <p:bgPr>
        <a:gradFill>
          <a:gsLst>
            <a:gs pos="100000">
              <a:schemeClr val="accent1"/>
            </a:gs>
            <a:gs pos="0">
              <a:schemeClr val="accent5"/>
            </a:gs>
          </a:gsLst>
          <a:lin ang="0" scaled="0"/>
        </a:gra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30C5252-3419-AB29-3E5A-C61B60D35E12}"/>
              </a:ext>
            </a:extLst>
          </p:cNvPr>
          <p:cNvSpPr>
            <a:spLocks noChangeAspect="1"/>
          </p:cNvSpPr>
          <p:nvPr userDrawn="1"/>
        </p:nvSpPr>
        <p:spPr>
          <a:xfrm>
            <a:off x="0" y="0"/>
            <a:ext cx="12192000" cy="68580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35385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bg1"/>
                </a:solidFill>
                <a:latin typeface="+mn-lt"/>
                <a:ea typeface="+mn-ea"/>
                <a:cs typeface="+mn-cs"/>
              </a:rPr>
              <a:t>Document Classification: KPMG Confidential</a:t>
            </a:r>
          </a:p>
        </p:txBody>
      </p:sp>
      <p:sp>
        <p:nvSpPr>
          <p:cNvPr id="3" name="Text Placeholder 2">
            <a:extLst>
              <a:ext uri="{FF2B5EF4-FFF2-40B4-BE49-F238E27FC236}">
                <a16:creationId xmlns:a16="http://schemas.microsoft.com/office/drawing/2014/main" id="{9771E9CC-2A2B-4C75-8522-60824F3AC7F8}"/>
              </a:ext>
            </a:extLst>
          </p:cNvPr>
          <p:cNvSpPr>
            <a:spLocks noGrp="1"/>
          </p:cNvSpPr>
          <p:nvPr>
            <p:ph type="body" sz="quarter" idx="10"/>
          </p:nvPr>
        </p:nvSpPr>
        <p:spPr>
          <a:xfrm>
            <a:off x="989011" y="4410172"/>
            <a:ext cx="10210801" cy="715865"/>
          </a:xfrm>
        </p:spPr>
        <p:txBody>
          <a:bodyPr anchor="b"/>
          <a:lstStyle>
            <a:lvl1pPr>
              <a:spcAft>
                <a:spcPts val="1000"/>
              </a:spcAft>
              <a:defRPr sz="900" b="0">
                <a:solidFill>
                  <a:schemeClr val="bg1"/>
                </a:solidFill>
              </a:defRPr>
            </a:lvl1pPr>
            <a:lvl2pPr>
              <a:spcAft>
                <a:spcPts val="1000"/>
              </a:spcAft>
              <a:defRPr sz="900" b="0">
                <a:solidFill>
                  <a:schemeClr val="bg1"/>
                </a:solidFill>
              </a:defRPr>
            </a:lvl2pPr>
          </a:lstStyle>
          <a:p>
            <a:pPr lvl="0"/>
            <a:r>
              <a:rPr lang="en-US"/>
              <a:t>Click to edit Master text styles</a:t>
            </a:r>
          </a:p>
          <a:p>
            <a:pPr lvl="1"/>
            <a:r>
              <a:rPr lang="en-US"/>
              <a:t>Second level</a:t>
            </a:r>
          </a:p>
        </p:txBody>
      </p:sp>
      <p:pic>
        <p:nvPicPr>
          <p:cNvPr id="19" name="Graphic 18">
            <a:extLst>
              <a:ext uri="{FF2B5EF4-FFF2-40B4-BE49-F238E27FC236}">
                <a16:creationId xmlns:a16="http://schemas.microsoft.com/office/drawing/2014/main" id="{BDA10B50-C087-6AD4-0571-081857C10F3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FEDF7C48-0166-8037-82C8-ED5C62DE46FC}"/>
              </a:ext>
            </a:extLst>
          </p:cNvPr>
          <p:cNvGrpSpPr/>
          <p:nvPr userDrawn="1"/>
        </p:nvGrpSpPr>
        <p:grpSpPr>
          <a:xfrm>
            <a:off x="998476" y="4140533"/>
            <a:ext cx="2023200" cy="367957"/>
            <a:chOff x="998476" y="2881529"/>
            <a:chExt cx="2023200" cy="367957"/>
          </a:xfrm>
        </p:grpSpPr>
        <p:sp>
          <p:nvSpPr>
            <p:cNvPr id="23" name="Rectangle 22">
              <a:extLst>
                <a:ext uri="{FF2B5EF4-FFF2-40B4-BE49-F238E27FC236}">
                  <a16:creationId xmlns:a16="http://schemas.microsoft.com/office/drawing/2014/main" id="{AB8A8088-F9D7-3ABA-3019-96B84A9F3344}"/>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5" name="Rectangle 24">
              <a:extLst>
                <a:ext uri="{FF2B5EF4-FFF2-40B4-BE49-F238E27FC236}">
                  <a16:creationId xmlns:a16="http://schemas.microsoft.com/office/drawing/2014/main" id="{AF12BE05-6145-DAF6-6DB6-64D5E84476B7}"/>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6" name="Rectangle 25">
              <a:extLst>
                <a:ext uri="{FF2B5EF4-FFF2-40B4-BE49-F238E27FC236}">
                  <a16:creationId xmlns:a16="http://schemas.microsoft.com/office/drawing/2014/main" id="{5709A2B5-24E1-5D56-1AF7-9D9553C46436}"/>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7" name="Rectangle 26">
              <a:extLst>
                <a:ext uri="{FF2B5EF4-FFF2-40B4-BE49-F238E27FC236}">
                  <a16:creationId xmlns:a16="http://schemas.microsoft.com/office/drawing/2014/main" id="{73B78B60-7EBC-C917-0A21-453048E36062}"/>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pic>
          <p:nvPicPr>
            <p:cNvPr id="28" name="Picture 27">
              <a:extLst>
                <a:ext uri="{FF2B5EF4-FFF2-40B4-BE49-F238E27FC236}">
                  <a16:creationId xmlns:a16="http://schemas.microsoft.com/office/drawing/2014/main" id="{DB0235DB-4424-762A-DCB7-F278B350939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9" name="Picture 28" descr="Icon&#10;&#10;Description automatically generated">
              <a:extLst>
                <a:ext uri="{FF2B5EF4-FFF2-40B4-BE49-F238E27FC236}">
                  <a16:creationId xmlns:a16="http://schemas.microsoft.com/office/drawing/2014/main" id="{23CD18A0-5EDE-DB2F-9140-C550CEA7A5D0}"/>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30" name="Picture 29" descr="Logo&#10;&#10;Description automatically generated">
              <a:extLst>
                <a:ext uri="{FF2B5EF4-FFF2-40B4-BE49-F238E27FC236}">
                  <a16:creationId xmlns:a16="http://schemas.microsoft.com/office/drawing/2014/main" id="{E3A423FC-5062-59AA-BDA7-1ABC4E915442}"/>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1" name="Picture 30" descr="Logo&#10;&#10;Description automatically generated">
              <a:extLst>
                <a:ext uri="{FF2B5EF4-FFF2-40B4-BE49-F238E27FC236}">
                  <a16:creationId xmlns:a16="http://schemas.microsoft.com/office/drawing/2014/main" id="{E3DC9B30-741E-D199-5ADC-29631F506BC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2" name="Picture 31" descr="Icon&#10;&#10;Description automatically generated">
              <a:extLst>
                <a:ext uri="{FF2B5EF4-FFF2-40B4-BE49-F238E27FC236}">
                  <a16:creationId xmlns:a16="http://schemas.microsoft.com/office/drawing/2014/main" id="{A54799F8-AA21-0AB2-30B2-2E34E343171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33" name="Rectangle 32">
            <a:hlinkClick r:id="rId10"/>
            <a:extLst>
              <a:ext uri="{FF2B5EF4-FFF2-40B4-BE49-F238E27FC236}">
                <a16:creationId xmlns:a16="http://schemas.microsoft.com/office/drawing/2014/main" id="{A337238C-433B-22AB-E2F3-9AE2C582E2D2}"/>
              </a:ext>
            </a:extLst>
          </p:cNvPr>
          <p:cNvSpPr/>
          <p:nvPr userDrawn="1"/>
        </p:nvSpPr>
        <p:spPr>
          <a:xfrm>
            <a:off x="744852" y="3883332"/>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a:solidFill>
                <a:schemeClr val="bg1"/>
              </a:solidFill>
            </a:endParaRPr>
          </a:p>
        </p:txBody>
      </p:sp>
      <p:sp>
        <p:nvSpPr>
          <p:cNvPr id="2" name="UpSlide Options" descr="{&#10;  &quot;NoBreadcrumb&quot;: true,&#10;  &quot;NoBreadcrumbNorReminder&quot;: true,&#10;  &quot;MinimumUpSlideVersion&quot;: &quot;0.0.0.0&quot;&#10;}" hidden="1">
            <a:extLst>
              <a:ext uri="{FF2B5EF4-FFF2-40B4-BE49-F238E27FC236}">
                <a16:creationId xmlns:a16="http://schemas.microsoft.com/office/drawing/2014/main" id="{47D499C7-5C96-0514-69EF-27EA5440FCDA}"/>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26727365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5D71D08D-5E70-C746-0110-3F24193CA835}"/>
              </a:ext>
            </a:extLst>
          </p:cNvPr>
          <p:cNvSpPr>
            <a:spLocks noChangeAspect="1"/>
          </p:cNvSpPr>
          <p:nvPr userDrawn="1"/>
        </p:nvSpPr>
        <p:spPr>
          <a:xfrm>
            <a:off x="1" y="-1"/>
            <a:ext cx="12192000" cy="6858001"/>
          </a:xfrm>
          <a:prstGeom prst="rect">
            <a:avLst/>
          </a:prstGeom>
          <a:gradFill>
            <a:gsLst>
              <a:gs pos="100000">
                <a:srgbClr val="ACEAFF"/>
              </a:gs>
              <a:gs pos="0">
                <a:schemeClr val="accent4"/>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1" name="TextBox 10"/>
          <p:cNvSpPr txBox="1"/>
          <p:nvPr userDrawn="1">
            <p:custDataLst>
              <p:tags r:id="rId1"/>
            </p:custDataLst>
          </p:nvPr>
        </p:nvSpPr>
        <p:spPr>
          <a:xfrm>
            <a:off x="989263" y="5750095"/>
            <a:ext cx="2462213" cy="13849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00" b="1" kern="1200" noProof="0">
                <a:solidFill>
                  <a:schemeClr val="accent2"/>
                </a:solidFill>
                <a:latin typeface="+mn-lt"/>
                <a:ea typeface="+mn-ea"/>
                <a:cs typeface="+mn-cs"/>
              </a:rPr>
              <a:t>Document Classification: KPMG Confidential</a:t>
            </a:r>
          </a:p>
        </p:txBody>
      </p:sp>
      <p:sp>
        <p:nvSpPr>
          <p:cNvPr id="53" name="Text Placeholder 2">
            <a:extLst>
              <a:ext uri="{FF2B5EF4-FFF2-40B4-BE49-F238E27FC236}">
                <a16:creationId xmlns:a16="http://schemas.microsoft.com/office/drawing/2014/main" id="{A835BAAE-8387-4EE5-AB59-6FBE19144C88}"/>
              </a:ext>
            </a:extLst>
          </p:cNvPr>
          <p:cNvSpPr>
            <a:spLocks noGrp="1"/>
          </p:cNvSpPr>
          <p:nvPr>
            <p:ph type="body" sz="quarter" idx="10"/>
          </p:nvPr>
        </p:nvSpPr>
        <p:spPr>
          <a:xfrm>
            <a:off x="989012" y="3702050"/>
            <a:ext cx="6660000" cy="1843088"/>
          </a:xfrm>
        </p:spPr>
        <p:txBody>
          <a:bodyPr anchor="b"/>
          <a:lstStyle>
            <a:lvl1pPr>
              <a:spcAft>
                <a:spcPts val="1000"/>
              </a:spcAft>
              <a:defRPr sz="900" b="0">
                <a:solidFill>
                  <a:schemeClr val="accent2"/>
                </a:solidFill>
              </a:defRPr>
            </a:lvl1pPr>
            <a:lvl2pPr>
              <a:spcAft>
                <a:spcPts val="1000"/>
              </a:spcAft>
              <a:defRPr sz="900" b="0">
                <a:solidFill>
                  <a:schemeClr val="accent2"/>
                </a:solidFill>
              </a:defRPr>
            </a:lvl2pPr>
          </a:lstStyle>
          <a:p>
            <a:pPr lvl="0"/>
            <a:r>
              <a:rPr lang="en-US"/>
              <a:t>Click to edit Master text styles</a:t>
            </a:r>
          </a:p>
          <a:p>
            <a:pPr lvl="1"/>
            <a:r>
              <a:rPr lang="en-US"/>
              <a:t>Second level</a:t>
            </a:r>
          </a:p>
        </p:txBody>
      </p:sp>
      <p:pic>
        <p:nvPicPr>
          <p:cNvPr id="17" name="Graphic 16">
            <a:extLst>
              <a:ext uri="{FF2B5EF4-FFF2-40B4-BE49-F238E27FC236}">
                <a16:creationId xmlns:a16="http://schemas.microsoft.com/office/drawing/2014/main" id="{A51C6BDD-4F02-45D2-886C-4899A473F7F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98476" y="371311"/>
            <a:ext cx="914400" cy="368346"/>
          </a:xfrm>
          <a:prstGeom prst="rect">
            <a:avLst/>
          </a:prstGeom>
        </p:spPr>
      </p:pic>
      <p:grpSp>
        <p:nvGrpSpPr>
          <p:cNvPr id="18" name="Group 17">
            <a:extLst>
              <a:ext uri="{FF2B5EF4-FFF2-40B4-BE49-F238E27FC236}">
                <a16:creationId xmlns:a16="http://schemas.microsoft.com/office/drawing/2014/main" id="{3EB104DD-8543-B281-DC74-A67A6BE2643A}"/>
              </a:ext>
            </a:extLst>
          </p:cNvPr>
          <p:cNvGrpSpPr/>
          <p:nvPr userDrawn="1"/>
        </p:nvGrpSpPr>
        <p:grpSpPr>
          <a:xfrm>
            <a:off x="998476" y="2881529"/>
            <a:ext cx="2023200" cy="367957"/>
            <a:chOff x="998476" y="2881529"/>
            <a:chExt cx="2023200" cy="367957"/>
          </a:xfrm>
        </p:grpSpPr>
        <p:sp>
          <p:nvSpPr>
            <p:cNvPr id="20" name="Rectangle 19">
              <a:extLst>
                <a:ext uri="{FF2B5EF4-FFF2-40B4-BE49-F238E27FC236}">
                  <a16:creationId xmlns:a16="http://schemas.microsoft.com/office/drawing/2014/main" id="{734260DC-6114-2E41-CEAF-081CD9E116C2}"/>
                </a:ext>
              </a:extLst>
            </p:cNvPr>
            <p:cNvSpPr/>
            <p:nvPr userDrawn="1"/>
          </p:nvSpPr>
          <p:spPr>
            <a:xfrm>
              <a:off x="1441950" y="2918577"/>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1" name="Rectangle 20">
              <a:extLst>
                <a:ext uri="{FF2B5EF4-FFF2-40B4-BE49-F238E27FC236}">
                  <a16:creationId xmlns:a16="http://schemas.microsoft.com/office/drawing/2014/main" id="{BEECBCF3-565A-93DA-D358-FECBA93D255A}"/>
                </a:ext>
              </a:extLst>
            </p:cNvPr>
            <p:cNvSpPr/>
            <p:nvPr userDrawn="1"/>
          </p:nvSpPr>
          <p:spPr>
            <a:xfrm>
              <a:off x="1877844" y="2918577"/>
              <a:ext cx="281156" cy="3229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2" name="Rectangle 21">
              <a:extLst>
                <a:ext uri="{FF2B5EF4-FFF2-40B4-BE49-F238E27FC236}">
                  <a16:creationId xmlns:a16="http://schemas.microsoft.com/office/drawing/2014/main" id="{B2E4C412-B230-29B9-F663-0B9D2E974E3D}"/>
                </a:ext>
              </a:extLst>
            </p:cNvPr>
            <p:cNvSpPr/>
            <p:nvPr userDrawn="1"/>
          </p:nvSpPr>
          <p:spPr>
            <a:xfrm>
              <a:off x="2689276" y="2924173"/>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sp>
          <p:nvSpPr>
            <p:cNvPr id="23" name="Rectangle 22">
              <a:extLst>
                <a:ext uri="{FF2B5EF4-FFF2-40B4-BE49-F238E27FC236}">
                  <a16:creationId xmlns:a16="http://schemas.microsoft.com/office/drawing/2014/main" id="{645D1C3C-E48F-BA62-AA51-A46B3B6CC1F1}"/>
                </a:ext>
              </a:extLst>
            </p:cNvPr>
            <p:cNvSpPr/>
            <p:nvPr userDrawn="1"/>
          </p:nvSpPr>
          <p:spPr>
            <a:xfrm>
              <a:off x="1025526" y="2924174"/>
              <a:ext cx="304800" cy="2889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a:solidFill>
                  <a:schemeClr val="bg1"/>
                </a:solidFill>
              </a:endParaRPr>
            </a:p>
          </p:txBody>
        </p:sp>
        <p:pic>
          <p:nvPicPr>
            <p:cNvPr id="24" name="Picture 23">
              <a:extLst>
                <a:ext uri="{FF2B5EF4-FFF2-40B4-BE49-F238E27FC236}">
                  <a16:creationId xmlns:a16="http://schemas.microsoft.com/office/drawing/2014/main" id="{9F3878E8-DA13-01D5-0607-233EA525629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822950" y="2881529"/>
              <a:ext cx="360000" cy="360000"/>
            </a:xfrm>
            <a:prstGeom prst="rect">
              <a:avLst/>
            </a:prstGeom>
          </p:spPr>
        </p:pic>
        <p:pic>
          <p:nvPicPr>
            <p:cNvPr id="25" name="Picture 24" descr="Icon&#10;&#10;Description automatically generated">
              <a:extLst>
                <a:ext uri="{FF2B5EF4-FFF2-40B4-BE49-F238E27FC236}">
                  <a16:creationId xmlns:a16="http://schemas.microsoft.com/office/drawing/2014/main" id="{56441502-FB49-8FF3-33B6-02D5FB33320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2242336" y="2881529"/>
              <a:ext cx="359648" cy="360000"/>
            </a:xfrm>
            <a:prstGeom prst="rect">
              <a:avLst/>
            </a:prstGeom>
          </p:spPr>
        </p:pic>
        <p:pic>
          <p:nvPicPr>
            <p:cNvPr id="26" name="Picture 25" descr="Logo&#10;&#10;Description automatically generated">
              <a:extLst>
                <a:ext uri="{FF2B5EF4-FFF2-40B4-BE49-F238E27FC236}">
                  <a16:creationId xmlns:a16="http://schemas.microsoft.com/office/drawing/2014/main" id="{374EF9AB-D91A-F62E-7F6C-4784B9ADE246}"/>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14350" y="2889486"/>
              <a:ext cx="360000" cy="360000"/>
            </a:xfrm>
            <a:prstGeom prst="rect">
              <a:avLst/>
            </a:prstGeom>
          </p:spPr>
        </p:pic>
        <p:pic>
          <p:nvPicPr>
            <p:cNvPr id="38" name="Picture 37" descr="Logo&#10;&#10;Description automatically generated">
              <a:extLst>
                <a:ext uri="{FF2B5EF4-FFF2-40B4-BE49-F238E27FC236}">
                  <a16:creationId xmlns:a16="http://schemas.microsoft.com/office/drawing/2014/main" id="{A82B7C7A-C977-0C6A-419D-2A18A98B82B6}"/>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98476" y="2884275"/>
              <a:ext cx="360000" cy="360000"/>
            </a:xfrm>
            <a:prstGeom prst="rect">
              <a:avLst/>
            </a:prstGeom>
          </p:spPr>
        </p:pic>
        <p:pic>
          <p:nvPicPr>
            <p:cNvPr id="39" name="Picture 38" descr="Icon&#10;&#10;Description automatically generated">
              <a:extLst>
                <a:ext uri="{FF2B5EF4-FFF2-40B4-BE49-F238E27FC236}">
                  <a16:creationId xmlns:a16="http://schemas.microsoft.com/office/drawing/2014/main" id="{9AE8395D-C36E-6AC4-70AF-0DC5A40EF36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2661676" y="2881529"/>
              <a:ext cx="360000" cy="360000"/>
            </a:xfrm>
            <a:prstGeom prst="rect">
              <a:avLst/>
            </a:prstGeom>
          </p:spPr>
        </p:pic>
      </p:grpSp>
      <p:sp>
        <p:nvSpPr>
          <p:cNvPr id="42" name="Rectangle 41">
            <a:hlinkClick r:id="rId10"/>
            <a:extLst>
              <a:ext uri="{FF2B5EF4-FFF2-40B4-BE49-F238E27FC236}">
                <a16:creationId xmlns:a16="http://schemas.microsoft.com/office/drawing/2014/main" id="{77C3C8E8-F184-919E-D548-970E37E57AE9}"/>
              </a:ext>
            </a:extLst>
          </p:cNvPr>
          <p:cNvSpPr/>
          <p:nvPr userDrawn="1"/>
        </p:nvSpPr>
        <p:spPr>
          <a:xfrm>
            <a:off x="744852" y="2624328"/>
            <a:ext cx="2706624" cy="1024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500">
              <a:solidFill>
                <a:schemeClr val="bg1"/>
              </a:solidFill>
            </a:endParaRPr>
          </a:p>
        </p:txBody>
      </p:sp>
      <p:sp>
        <p:nvSpPr>
          <p:cNvPr id="43" name="TextBox 42">
            <a:extLst>
              <a:ext uri="{FF2B5EF4-FFF2-40B4-BE49-F238E27FC236}">
                <a16:creationId xmlns:a16="http://schemas.microsoft.com/office/drawing/2014/main" id="{FB762ACD-7C0E-3B26-7E2F-E5EBFD7EED45}"/>
              </a:ext>
            </a:extLst>
          </p:cNvPr>
          <p:cNvSpPr txBox="1"/>
          <p:nvPr userDrawn="1"/>
        </p:nvSpPr>
        <p:spPr>
          <a:xfrm>
            <a:off x="993138" y="3355848"/>
            <a:ext cx="2458338" cy="212390"/>
          </a:xfrm>
          <a:prstGeom prst="rect">
            <a:avLst/>
          </a:prstGeom>
        </p:spPr>
        <p:txBody>
          <a:bodyPr vert="horz" wrap="square" lIns="0" tIns="0" rIns="0" bIns="0" rtlCol="0" anchor="t" anchorCtr="0">
            <a:noAutofit/>
          </a:bodyPr>
          <a:lstStyle/>
          <a:p>
            <a:pPr algn="l">
              <a:spcAft>
                <a:spcPts val="600"/>
              </a:spcAft>
            </a:pPr>
            <a:r>
              <a:rPr lang="en-GB" sz="1200" b="1">
                <a:solidFill>
                  <a:schemeClr val="tx2"/>
                </a:solidFill>
              </a:rPr>
              <a:t>kpmg.com/socialmedia</a:t>
            </a:r>
          </a:p>
        </p:txBody>
      </p:sp>
      <p:sp>
        <p:nvSpPr>
          <p:cNvPr id="3" name="UpSlide Options" descr="{&#10;  &quot;NoBreadcrumb&quot;: true,&#10;  &quot;NoBreadcrumbNorReminder&quot;: true,&#10;  &quot;MinimumUpSlideVersion&quot;: &quot;0.0.0.0&quot;&#10;}" hidden="1">
            <a:extLst>
              <a:ext uri="{FF2B5EF4-FFF2-40B4-BE49-F238E27FC236}">
                <a16:creationId xmlns:a16="http://schemas.microsoft.com/office/drawing/2014/main" id="{0C473D10-B2B7-01E5-46B3-8159DFC1D87D}"/>
              </a:ext>
            </a:extLst>
          </p:cNvPr>
          <p:cNvSpPr/>
          <p:nvPr userDrawn="1"/>
        </p:nvSpPr>
        <p:spPr>
          <a:xfrm>
            <a:off x="12192000" y="6858000"/>
            <a:ext cx="0" cy="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GB" sz="1600">
              <a:solidFill>
                <a:schemeClr val="bg1"/>
              </a:solidFill>
            </a:endParaRPr>
          </a:p>
        </p:txBody>
      </p:sp>
    </p:spTree>
    <p:extLst>
      <p:ext uri="{BB962C8B-B14F-4D97-AF65-F5344CB8AC3E}">
        <p14:creationId xmlns:p14="http://schemas.microsoft.com/office/powerpoint/2010/main" val="34478150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ransmittal Letter">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9C82DF-29F9-95C5-18EA-18D6195399BF}"/>
              </a:ext>
            </a:extLst>
          </p:cNvPr>
          <p:cNvPicPr>
            <a:picLocks noChangeAspect="1"/>
          </p:cNvPicPr>
          <p:nvPr userDrawn="1"/>
        </p:nvPicPr>
        <p:blipFill>
          <a:blip r:embed="rId2"/>
          <a:stretch>
            <a:fillRect/>
          </a:stretch>
        </p:blipFill>
        <p:spPr>
          <a:xfrm>
            <a:off x="855784" y="119632"/>
            <a:ext cx="1259272" cy="930232"/>
          </a:xfrm>
          <a:prstGeom prst="rect">
            <a:avLst/>
          </a:prstGeom>
        </p:spPr>
      </p:pic>
      <p:sp>
        <p:nvSpPr>
          <p:cNvPr id="7" name="Text Placeholder 6">
            <a:extLst>
              <a:ext uri="{FF2B5EF4-FFF2-40B4-BE49-F238E27FC236}">
                <a16:creationId xmlns:a16="http://schemas.microsoft.com/office/drawing/2014/main" id="{C93531CD-B4BD-CAF1-877F-6A4CCE0EE125}"/>
              </a:ext>
            </a:extLst>
          </p:cNvPr>
          <p:cNvSpPr>
            <a:spLocks noGrp="1"/>
          </p:cNvSpPr>
          <p:nvPr>
            <p:ph type="body" sz="quarter" idx="11"/>
          </p:nvPr>
        </p:nvSpPr>
        <p:spPr>
          <a:xfrm>
            <a:off x="1003200" y="2345461"/>
            <a:ext cx="4968000" cy="3071557"/>
          </a:xfrm>
        </p:spPr>
        <p:txBody>
          <a:bodyPr/>
          <a:lstStyle>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448612AF-B2C2-EF49-4193-7D1D4CC99946}"/>
              </a:ext>
            </a:extLst>
          </p:cNvPr>
          <p:cNvSpPr>
            <a:spLocks noGrp="1"/>
          </p:cNvSpPr>
          <p:nvPr>
            <p:ph type="body" sz="quarter" idx="12"/>
          </p:nvPr>
        </p:nvSpPr>
        <p:spPr>
          <a:xfrm>
            <a:off x="6220800" y="2345461"/>
            <a:ext cx="4968000" cy="3071557"/>
          </a:xfrm>
        </p:spPr>
        <p:txBody>
          <a:bodyPr/>
          <a:lstStyle>
            <a:lvl2pPr>
              <a:defRPr sz="900"/>
            </a:lvl2pPr>
            <a:lvl3pPr>
              <a:defRPr sz="90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Box 11">
            <a:extLst>
              <a:ext uri="{FF2B5EF4-FFF2-40B4-BE49-F238E27FC236}">
                <a16:creationId xmlns:a16="http://schemas.microsoft.com/office/drawing/2014/main" id="{23A7D421-36D1-93BD-8032-3A460A87E51F}"/>
              </a:ext>
            </a:extLst>
          </p:cNvPr>
          <p:cNvSpPr txBox="1">
            <a:spLocks/>
          </p:cNvSpPr>
          <p:nvPr userDrawn="1"/>
        </p:nvSpPr>
        <p:spPr>
          <a:xfrm>
            <a:off x="8750300" y="431800"/>
            <a:ext cx="2449007" cy="720197"/>
          </a:xfrm>
          <a:prstGeom prst="rect">
            <a:avLst/>
          </a:prstGeom>
        </p:spPr>
        <p:txBody>
          <a:bodyPr vert="horz" wrap="square" lIns="0" tIns="0" rIns="0" bIns="0" rtlCol="0" anchor="t" anchorCtr="0">
            <a:noAutofit/>
          </a:bodyPr>
          <a:lstStyle/>
          <a:p>
            <a:pPr algn="r" hangingPunct="0"/>
            <a:r>
              <a:rPr lang="en-US" sz="800" b="0">
                <a:solidFill>
                  <a:srgbClr val="00338D"/>
                </a:solidFill>
                <a:cs typeface="Arial" panose="020B0604020202020204" pitchFamily="34" charset="0"/>
              </a:rPr>
              <a:t>KPMG LLP</a:t>
            </a:r>
          </a:p>
          <a:p>
            <a:pPr algn="r" hangingPunct="0"/>
            <a:r>
              <a:rPr lang="en-US" sz="800">
                <a:solidFill>
                  <a:srgbClr val="00338D"/>
                </a:solidFill>
                <a:cs typeface="Arial" panose="020B0604020202020204" pitchFamily="34" charset="0"/>
              </a:rPr>
              <a:t>Bay Adelaide Centre</a:t>
            </a:r>
          </a:p>
          <a:p>
            <a:pPr algn="r" hangingPunct="0"/>
            <a:r>
              <a:rPr lang="en-US" sz="800">
                <a:solidFill>
                  <a:srgbClr val="00338D"/>
                </a:solidFill>
                <a:cs typeface="Arial" panose="020B0604020202020204" pitchFamily="34" charset="0"/>
              </a:rPr>
              <a:t>333 Bay Street Suite 4600, M5H 2S5</a:t>
            </a:r>
          </a:p>
          <a:p>
            <a:pPr algn="r" hangingPunct="0"/>
            <a:r>
              <a:rPr lang="en-US" sz="800">
                <a:solidFill>
                  <a:srgbClr val="00338D"/>
                </a:solidFill>
                <a:cs typeface="Arial" panose="020B0604020202020204" pitchFamily="34" charset="0"/>
              </a:rPr>
              <a:t>Toronto, Ontario, Canada</a:t>
            </a:r>
          </a:p>
          <a:p>
            <a:pPr algn="r" hangingPunct="0"/>
            <a:r>
              <a:rPr lang="en-US" sz="800">
                <a:solidFill>
                  <a:srgbClr val="00338D"/>
                </a:solidFill>
                <a:cs typeface="Arial" panose="020B0604020202020204" pitchFamily="34" charset="0"/>
              </a:rPr>
              <a:t>Tel: + 1 416 777 8500</a:t>
            </a:r>
          </a:p>
          <a:p>
            <a:pPr algn="r" hangingPunct="0"/>
            <a:r>
              <a:rPr lang="en-US" sz="800">
                <a:solidFill>
                  <a:srgbClr val="00338D"/>
                </a:solidFill>
                <a:cs typeface="Arial" panose="020B0604020202020204" pitchFamily="34" charset="0"/>
              </a:rPr>
              <a:t>www.kpmg.ca</a:t>
            </a:r>
          </a:p>
          <a:p>
            <a:pPr algn="l">
              <a:spcAft>
                <a:spcPts val="600"/>
              </a:spcAft>
            </a:pPr>
            <a:endParaRPr lang="en-US" sz="1500" b="1">
              <a:solidFill>
                <a:schemeClr val="tx2"/>
              </a:solidFill>
            </a:endParaRPr>
          </a:p>
        </p:txBody>
      </p:sp>
    </p:spTree>
    <p:extLst>
      <p:ext uri="{BB962C8B-B14F-4D97-AF65-F5344CB8AC3E}">
        <p14:creationId xmlns:p14="http://schemas.microsoft.com/office/powerpoint/2010/main" val="34500727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able of content Storage Layout">
    <p:bg>
      <p:bgPr>
        <a:solidFill>
          <a:schemeClr val="bg2"/>
        </a:solidFill>
        <a:effectLst/>
      </p:bgPr>
    </p:bg>
    <p:spTree>
      <p:nvGrpSpPr>
        <p:cNvPr id="1" name=""/>
        <p:cNvGrpSpPr/>
        <p:nvPr/>
      </p:nvGrpSpPr>
      <p:grpSpPr>
        <a:xfrm>
          <a:off x="0" y="0"/>
          <a:ext cx="0" cy="0"/>
          <a:chOff x="0" y="0"/>
          <a:chExt cx="0" cy="0"/>
        </a:xfrm>
      </p:grpSpPr>
      <p:sp>
        <p:nvSpPr>
          <p:cNvPr id="20" name="TextBox 19">
            <a:hlinkClick r:id="" action="ppaction://noaction"/>
            <a:extLst>
              <a:ext uri="{FF2B5EF4-FFF2-40B4-BE49-F238E27FC236}">
                <a16:creationId xmlns:a16="http://schemas.microsoft.com/office/drawing/2014/main" id="{103DA531-B8F1-3F3E-85FF-33CD8B19D5DB}"/>
              </a:ext>
            </a:extLst>
          </p:cNvPr>
          <p:cNvSpPr txBox="1">
            <a:spLocks/>
          </p:cNvSpPr>
          <p:nvPr userDrawn="1">
            <p:custDataLst>
              <p:tags r:id="rId1"/>
            </p:custDataLst>
          </p:nvPr>
        </p:nvSpPr>
        <p:spPr>
          <a:xfrm>
            <a:off x="10374885" y="1944714"/>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4</a:t>
            </a:r>
          </a:p>
        </p:txBody>
      </p:sp>
      <p:sp>
        <p:nvSpPr>
          <p:cNvPr id="13" name="Text Box 4">
            <a:extLst>
              <a:ext uri="{FF2B5EF4-FFF2-40B4-BE49-F238E27FC236}">
                <a16:creationId xmlns:a16="http://schemas.microsoft.com/office/drawing/2014/main" id="{84AFEC93-9419-2C65-316F-7D321D508C78}"/>
              </a:ext>
            </a:extLst>
          </p:cNvPr>
          <p:cNvSpPr txBox="1">
            <a:spLocks noChangeArrowheads="1"/>
          </p:cNvSpPr>
          <p:nvPr userDrawn="1">
            <p:custDataLst>
              <p:tags r:id="rId2"/>
            </p:custDataLst>
          </p:nvPr>
        </p:nvSpPr>
        <p:spPr bwMode="gray">
          <a:xfrm>
            <a:off x="10473613" y="6463890"/>
            <a:ext cx="1570038"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a:solidFill>
                  <a:schemeClr val="accent6"/>
                </a:solidFill>
              </a:rPr>
              <a:t>DRAFT</a:t>
            </a:r>
          </a:p>
        </p:txBody>
      </p:sp>
      <p:pic>
        <p:nvPicPr>
          <p:cNvPr id="11" name="Graphic 10" descr="Home">
            <a:hlinkClick r:id="rId14" action="ppaction://hlinksldjump"/>
            <a:extLst>
              <a:ext uri="{FF2B5EF4-FFF2-40B4-BE49-F238E27FC236}">
                <a16:creationId xmlns:a16="http://schemas.microsoft.com/office/drawing/2014/main" id="{43CD81CE-8133-23ED-EA21-F00249766457}"/>
              </a:ext>
            </a:extLst>
          </p:cNvPr>
          <p:cNvPicPr>
            <a:picLocks noChangeAspect="1"/>
          </p:cNvPicPr>
          <p:nvPr userDrawn="1"/>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1571850" y="134089"/>
            <a:ext cx="222478" cy="222478"/>
          </a:xfrm>
          <a:prstGeom prst="rect">
            <a:avLst/>
          </a:prstGeom>
        </p:spPr>
      </p:pic>
      <p:sp>
        <p:nvSpPr>
          <p:cNvPr id="10" name="Oval 9">
            <a:hlinkClick r:id="" action="ppaction://hlinkshowjump?jump=previousslide"/>
            <a:extLst>
              <a:ext uri="{FF2B5EF4-FFF2-40B4-BE49-F238E27FC236}">
                <a16:creationId xmlns:a16="http://schemas.microsoft.com/office/drawing/2014/main" id="{3B5027E5-9B09-836C-CB3A-0F369BA6B622}"/>
              </a:ext>
            </a:extLst>
          </p:cNvPr>
          <p:cNvSpPr/>
          <p:nvPr userDrawn="1"/>
        </p:nvSpPr>
        <p:spPr>
          <a:xfrm flipH="1">
            <a:off x="11292948"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9" name="Oval 8">
            <a:hlinkClick r:id="" action="ppaction://hlinkshowjump?jump=nextslide"/>
            <a:extLst>
              <a:ext uri="{FF2B5EF4-FFF2-40B4-BE49-F238E27FC236}">
                <a16:creationId xmlns:a16="http://schemas.microsoft.com/office/drawing/2014/main" id="{414D50E1-8AFB-C3E6-1488-95F62B3AC868}"/>
              </a:ext>
            </a:extLst>
          </p:cNvPr>
          <p:cNvSpPr/>
          <p:nvPr userDrawn="1"/>
        </p:nvSpPr>
        <p:spPr>
          <a:xfrm>
            <a:off x="11836622" y="134102"/>
            <a:ext cx="236608" cy="236608"/>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8" name="Isosceles Triangle 7">
            <a:extLst>
              <a:ext uri="{FF2B5EF4-FFF2-40B4-BE49-F238E27FC236}">
                <a16:creationId xmlns:a16="http://schemas.microsoft.com/office/drawing/2014/main" id="{27070D5A-9B57-80F6-826D-F559943C30C8}"/>
              </a:ext>
            </a:extLst>
          </p:cNvPr>
          <p:cNvSpPr/>
          <p:nvPr userDrawn="1"/>
        </p:nvSpPr>
        <p:spPr>
          <a:xfrm rot="16200000" flipH="1">
            <a:off x="11352448"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Isosceles Triangle 6">
            <a:extLst>
              <a:ext uri="{FF2B5EF4-FFF2-40B4-BE49-F238E27FC236}">
                <a16:creationId xmlns:a16="http://schemas.microsoft.com/office/drawing/2014/main" id="{A52DD552-6D29-75AD-B7B8-C5386BC08FF1}"/>
              </a:ext>
            </a:extLst>
          </p:cNvPr>
          <p:cNvSpPr/>
          <p:nvPr userDrawn="1"/>
        </p:nvSpPr>
        <p:spPr>
          <a:xfrm rot="5400000">
            <a:off x="11914569" y="209664"/>
            <a:ext cx="99161"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Graphic 8">
            <a:extLst>
              <a:ext uri="{FF2B5EF4-FFF2-40B4-BE49-F238E27FC236}">
                <a16:creationId xmlns:a16="http://schemas.microsoft.com/office/drawing/2014/main" id="{087E6DD2-0A18-F0D9-6121-802EFF8437AD}"/>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cxnSp>
        <p:nvCxnSpPr>
          <p:cNvPr id="5" name="Straight Connector 4">
            <a:extLst>
              <a:ext uri="{FF2B5EF4-FFF2-40B4-BE49-F238E27FC236}">
                <a16:creationId xmlns:a16="http://schemas.microsoft.com/office/drawing/2014/main" id="{62FCF1D0-8D61-3158-1546-2B6008B2C86D}"/>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12A8287-4956-D624-99A1-67CBCBB1CCDC}"/>
              </a:ext>
              <a:ext uri="{C183D7F6-B498-43B3-948B-1728B52AA6E4}">
                <adec:decorative xmlns:adec="http://schemas.microsoft.com/office/drawing/2017/decorative" val="1"/>
              </a:ext>
            </a:extLst>
          </p:cNvPr>
          <p:cNvSpPr txBox="1">
            <a:spLocks/>
          </p:cNvSpPr>
          <p:nvPr userDrawn="1"/>
        </p:nvSpPr>
        <p:spPr>
          <a:xfrm>
            <a:off x="1885683" y="6266997"/>
            <a:ext cx="6673851"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600" kern="1200" noProof="0">
                <a:solidFill>
                  <a:schemeClr val="bg1">
                    <a:lumMod val="65000"/>
                  </a:schemeClr>
                </a:solidFill>
                <a:latin typeface="+mn-lt"/>
                <a:ea typeface="+mn-ea"/>
                <a:cs typeface="+mn-cs"/>
              </a:rPr>
              <a:t>© 2022 KPMG LLP, a UK limited liability partnership and a member firm of the KPMG global organisation of independent member firms affiliated with KPMG International Limited, a private English company limited by guarantee. All rights reserved.</a:t>
            </a:r>
          </a:p>
        </p:txBody>
      </p:sp>
      <p:sp>
        <p:nvSpPr>
          <p:cNvPr id="3" name="TextBox 2">
            <a:extLst>
              <a:ext uri="{FF2B5EF4-FFF2-40B4-BE49-F238E27FC236}">
                <a16:creationId xmlns:a16="http://schemas.microsoft.com/office/drawing/2014/main" id="{539D020B-0A9F-7C79-81F9-8639FA80047E}"/>
              </a:ext>
              <a:ext uri="{C183D7F6-B498-43B3-948B-1728B52AA6E4}">
                <adec:decorative xmlns:adec="http://schemas.microsoft.com/office/drawing/2017/decorative" val="1"/>
              </a:ext>
            </a:extLst>
          </p:cNvPr>
          <p:cNvSpPr txBox="1"/>
          <p:nvPr userDrawn="1">
            <p:custDataLst>
              <p:tags r:id="rId3"/>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sp>
        <p:nvSpPr>
          <p:cNvPr id="2" name="Shape 8">
            <a:extLst>
              <a:ext uri="{FF2B5EF4-FFF2-40B4-BE49-F238E27FC236}">
                <a16:creationId xmlns:a16="http://schemas.microsoft.com/office/drawing/2014/main" id="{8A3F6B51-21DC-2BB9-9227-20B18DE13502}"/>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26" name="TextBox 25">
            <a:hlinkClick r:id="" action="ppaction://noaction"/>
            <a:extLst>
              <a:ext uri="{FF2B5EF4-FFF2-40B4-BE49-F238E27FC236}">
                <a16:creationId xmlns:a16="http://schemas.microsoft.com/office/drawing/2014/main" id="{FDA084D9-C189-24B7-51F3-85144FC9E6FD}"/>
              </a:ext>
            </a:extLst>
          </p:cNvPr>
          <p:cNvSpPr txBox="1">
            <a:spLocks/>
          </p:cNvSpPr>
          <p:nvPr userDrawn="1">
            <p:custDataLst>
              <p:tags r:id="rId4"/>
            </p:custDataLst>
          </p:nvPr>
        </p:nvSpPr>
        <p:spPr>
          <a:xfrm>
            <a:off x="1249681" y="1784193"/>
            <a:ext cx="9107520" cy="126000"/>
          </a:xfrm>
          <a:prstGeom prst="rect">
            <a:avLst/>
          </a:prstGeom>
          <a:noFill/>
        </p:spPr>
        <p:txBody>
          <a:bodyPr vert="horz" wrap="square" lIns="0" tIns="0" rIns="0" bIns="7200" rtlCol="0" anchor="b">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Subsection Title (DO NOT DELETE)</a:t>
            </a:r>
          </a:p>
        </p:txBody>
      </p:sp>
      <p:sp>
        <p:nvSpPr>
          <p:cNvPr id="12" name="Subsection number">
            <a:hlinkClick r:id="" action="ppaction://noaction"/>
            <a:extLst>
              <a:ext uri="{FF2B5EF4-FFF2-40B4-BE49-F238E27FC236}">
                <a16:creationId xmlns:a16="http://schemas.microsoft.com/office/drawing/2014/main" id="{2BC0226E-C800-34A0-FC54-8484A9BE76A0}"/>
              </a:ext>
            </a:extLst>
          </p:cNvPr>
          <p:cNvSpPr txBox="1">
            <a:spLocks/>
          </p:cNvSpPr>
          <p:nvPr userDrawn="1">
            <p:custDataLst>
              <p:tags r:id="rId5"/>
            </p:custDataLst>
          </p:nvPr>
        </p:nvSpPr>
        <p:spPr>
          <a:xfrm>
            <a:off x="296316" y="1559983"/>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a:t>
            </a:r>
          </a:p>
        </p:txBody>
      </p:sp>
      <p:sp>
        <p:nvSpPr>
          <p:cNvPr id="14" name="ZoneTexte 13">
            <a:extLst>
              <a:ext uri="{FF2B5EF4-FFF2-40B4-BE49-F238E27FC236}">
                <a16:creationId xmlns:a16="http://schemas.microsoft.com/office/drawing/2014/main" id="{3FA0A0E8-2E7C-14D4-35DD-7F97BE85282C}"/>
              </a:ext>
            </a:extLst>
          </p:cNvPr>
          <p:cNvSpPr txBox="1"/>
          <p:nvPr userDrawn="1">
            <p:custDataLst>
              <p:tags r:id="rId6"/>
            </p:custDataLst>
          </p:nvPr>
        </p:nvSpPr>
        <p:spPr>
          <a:xfrm>
            <a:off x="1016318" y="2734004"/>
            <a:ext cx="7106223" cy="307777"/>
          </a:xfrm>
          <a:prstGeom prst="rect">
            <a:avLst/>
          </a:prstGeom>
          <a:noFill/>
        </p:spPr>
        <p:txBody>
          <a:bodyPr wrap="square" rtlCol="0">
            <a:spAutoFit/>
          </a:bodyPr>
          <a:lstStyle/>
          <a:p>
            <a:r>
              <a:rPr lang="en-US" sz="1400" i="1">
                <a:solidFill>
                  <a:schemeClr val="bg1"/>
                </a:solidFill>
                <a:latin typeface="+mn-lt"/>
              </a:rPr>
              <a:t>Slide Title (DO NOT DELETE)</a:t>
            </a:r>
            <a:endParaRPr lang="fr-FR" sz="1400" i="1">
              <a:solidFill>
                <a:schemeClr val="bg1"/>
              </a:solidFill>
              <a:latin typeface="+mn-lt"/>
            </a:endParaRPr>
          </a:p>
        </p:txBody>
      </p:sp>
      <p:sp>
        <p:nvSpPr>
          <p:cNvPr id="16" name="ZoneTexte 14">
            <a:extLst>
              <a:ext uri="{FF2B5EF4-FFF2-40B4-BE49-F238E27FC236}">
                <a16:creationId xmlns:a16="http://schemas.microsoft.com/office/drawing/2014/main" id="{EA2C4DD3-2B36-81FE-270F-545CC1413919}"/>
              </a:ext>
            </a:extLst>
          </p:cNvPr>
          <p:cNvSpPr txBox="1"/>
          <p:nvPr userDrawn="1">
            <p:custDataLst>
              <p:tags r:id="rId7"/>
            </p:custDataLst>
          </p:nvPr>
        </p:nvSpPr>
        <p:spPr>
          <a:xfrm>
            <a:off x="4567362" y="2734004"/>
            <a:ext cx="276038" cy="307777"/>
          </a:xfrm>
          <a:prstGeom prst="rect">
            <a:avLst/>
          </a:prstGeom>
          <a:noFill/>
        </p:spPr>
        <p:txBody>
          <a:bodyPr wrap="none" lIns="0" tIns="0" rIns="0" bIns="0" rtlCol="0" anchor="ctr" anchorCtr="0">
            <a:noAutofit/>
          </a:bodyPr>
          <a:lstStyle/>
          <a:p>
            <a:pPr algn="ctr"/>
            <a:r>
              <a:rPr lang="fr-FR" sz="1400" i="1">
                <a:solidFill>
                  <a:schemeClr val="bg1"/>
                </a:solidFill>
                <a:latin typeface="+mn-lt"/>
              </a:rPr>
              <a:t>1</a:t>
            </a:r>
          </a:p>
        </p:txBody>
      </p:sp>
      <p:sp>
        <p:nvSpPr>
          <p:cNvPr id="17" name="Section number">
            <a:hlinkClick r:id="" action="ppaction://noaction"/>
            <a:extLst>
              <a:ext uri="{FF2B5EF4-FFF2-40B4-BE49-F238E27FC236}">
                <a16:creationId xmlns:a16="http://schemas.microsoft.com/office/drawing/2014/main" id="{198C86B7-A8B9-0D10-1C84-EDD490552A08}"/>
              </a:ext>
            </a:extLst>
          </p:cNvPr>
          <p:cNvSpPr txBox="1">
            <a:spLocks/>
          </p:cNvSpPr>
          <p:nvPr userDrawn="1">
            <p:custDataLst>
              <p:tags r:id="rId8"/>
            </p:custDataLst>
          </p:nvPr>
        </p:nvSpPr>
        <p:spPr>
          <a:xfrm>
            <a:off x="798977" y="1353599"/>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1</a:t>
            </a:r>
          </a:p>
        </p:txBody>
      </p:sp>
      <p:sp>
        <p:nvSpPr>
          <p:cNvPr id="19" name="TextBox 18">
            <a:hlinkClick r:id="" action="ppaction://noaction"/>
            <a:extLst>
              <a:ext uri="{FF2B5EF4-FFF2-40B4-BE49-F238E27FC236}">
                <a16:creationId xmlns:a16="http://schemas.microsoft.com/office/drawing/2014/main" id="{C31F35AF-52E9-94A5-09C2-A78B342FEC41}"/>
              </a:ext>
            </a:extLst>
          </p:cNvPr>
          <p:cNvSpPr txBox="1">
            <a:spLocks/>
          </p:cNvSpPr>
          <p:nvPr userDrawn="1">
            <p:custDataLst>
              <p:tags r:id="rId9"/>
            </p:custDataLst>
          </p:nvPr>
        </p:nvSpPr>
        <p:spPr>
          <a:xfrm>
            <a:off x="10368217" y="1792315"/>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a:t>
            </a:r>
          </a:p>
        </p:txBody>
      </p:sp>
      <p:sp>
        <p:nvSpPr>
          <p:cNvPr id="23" name="Rectangle 22">
            <a:extLst>
              <a:ext uri="{FF2B5EF4-FFF2-40B4-BE49-F238E27FC236}">
                <a16:creationId xmlns:a16="http://schemas.microsoft.com/office/drawing/2014/main" id="{1330EF29-69C1-2F8F-C77D-8C0C7D7B9416}"/>
              </a:ext>
            </a:extLst>
          </p:cNvPr>
          <p:cNvSpPr>
            <a:spLocks/>
          </p:cNvSpPr>
          <p:nvPr userDrawn="1">
            <p:custDataLst>
              <p:tags r:id="rId10"/>
            </p:custDataLst>
          </p:nvPr>
        </p:nvSpPr>
        <p:spPr>
          <a:xfrm>
            <a:off x="997199" y="1229360"/>
            <a:ext cx="9405394" cy="4647566"/>
          </a:xfrm>
          <a:prstGeom prst="rect">
            <a:avLst/>
          </a:prstGeom>
          <a:noFill/>
          <a:ln w="254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solidFill>
                  <a:srgbClr val="000000"/>
                </a:solidFill>
                <a:latin typeface="+mj-lt"/>
              </a:rPr>
              <a:t>Workspace (DO NOT DELETE): this shape delimits the vertical space where UpSlide will draw the Agenda.</a:t>
            </a:r>
            <a:endParaRPr lang="en-GB">
              <a:solidFill>
                <a:srgbClr val="000000"/>
              </a:solidFill>
              <a:latin typeface="+mj-lt"/>
            </a:endParaRPr>
          </a:p>
        </p:txBody>
      </p:sp>
      <p:sp>
        <p:nvSpPr>
          <p:cNvPr id="25" name="TextBox 24">
            <a:hlinkClick r:id="" action="ppaction://noaction"/>
            <a:extLst>
              <a:ext uri="{FF2B5EF4-FFF2-40B4-BE49-F238E27FC236}">
                <a16:creationId xmlns:a16="http://schemas.microsoft.com/office/drawing/2014/main" id="{97458F59-479D-8ACC-D1EB-36FDDC4C1E6E}"/>
              </a:ext>
            </a:extLst>
          </p:cNvPr>
          <p:cNvSpPr txBox="1">
            <a:spLocks/>
          </p:cNvSpPr>
          <p:nvPr userDrawn="1">
            <p:custDataLst>
              <p:tags r:id="rId11"/>
            </p:custDataLst>
          </p:nvPr>
        </p:nvSpPr>
        <p:spPr>
          <a:xfrm>
            <a:off x="1249681" y="1353599"/>
            <a:ext cx="9107520" cy="347289"/>
          </a:xfrm>
          <a:prstGeom prst="rect">
            <a:avLst/>
          </a:prstGeom>
          <a:noFill/>
        </p:spPr>
        <p:txBody>
          <a:bodyPr vert="horz" wrap="square"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b="0" u="none">
                <a:solidFill>
                  <a:schemeClr val="tx2"/>
                </a:solidFill>
                <a:latin typeface="+mj-lt"/>
                <a:cs typeface="Arial" panose="020B0604020202020204" pitchFamily="34" charset="0"/>
              </a:rPr>
              <a:t>Section Title (DO NOT DELETE)</a:t>
            </a:r>
          </a:p>
        </p:txBody>
      </p:sp>
      <p:sp>
        <p:nvSpPr>
          <p:cNvPr id="18" name="Rectangle 17">
            <a:extLst>
              <a:ext uri="{FF2B5EF4-FFF2-40B4-BE49-F238E27FC236}">
                <a16:creationId xmlns:a16="http://schemas.microsoft.com/office/drawing/2014/main" id="{FC00F04A-751C-BA56-068E-37C1DEBCB6A0}"/>
              </a:ext>
            </a:extLst>
          </p:cNvPr>
          <p:cNvSpPr/>
          <p:nvPr userDrawn="1">
            <p:custDataLst>
              <p:tags r:id="rId1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2668854514"/>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Divider Storage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239EA8E-438B-268D-C2D0-41582ABDF852}"/>
              </a:ext>
            </a:extLst>
          </p:cNvPr>
          <p:cNvSpPr>
            <a:spLocks noChangeAspect="1"/>
          </p:cNvSpPr>
          <p:nvPr userDrawn="1"/>
        </p:nvSpPr>
        <p:spPr>
          <a:xfrm>
            <a:off x="998476" y="1330325"/>
            <a:ext cx="10202924" cy="4546600"/>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a:solidFill>
                <a:schemeClr val="bg1"/>
              </a:solidFill>
              <a:latin typeface="KPMG Bold" panose="020B0803030202040204" pitchFamily="34" charset="0"/>
              <a:ea typeface="+mj-ea"/>
              <a:cs typeface="+mj-cs"/>
            </a:endParaRPr>
          </a:p>
        </p:txBody>
      </p:sp>
      <p:sp>
        <p:nvSpPr>
          <p:cNvPr id="17" name="section title">
            <a:hlinkClick r:id="" action="ppaction://noaction"/>
            <a:extLst>
              <a:ext uri="{FF2B5EF4-FFF2-40B4-BE49-F238E27FC236}">
                <a16:creationId xmlns:a16="http://schemas.microsoft.com/office/drawing/2014/main" id="{6CE66D06-AAD4-3162-968D-96422DD5983D}"/>
              </a:ext>
            </a:extLst>
          </p:cNvPr>
          <p:cNvSpPr txBox="1">
            <a:spLocks/>
          </p:cNvSpPr>
          <p:nvPr userDrawn="1">
            <p:custDataLst>
              <p:tags r:id="rId1"/>
            </p:custDataLst>
          </p:nvPr>
        </p:nvSpPr>
        <p:spPr>
          <a:xfrm>
            <a:off x="1289860" y="3617406"/>
            <a:ext cx="9747504" cy="0"/>
          </a:xfrm>
          <a:prstGeom prst="rect">
            <a:avLst/>
          </a:prstGeom>
          <a:noFill/>
        </p:spPr>
        <p:txBody>
          <a:bodyPr vert="horz" wrap="square" lIns="0" tIns="0" rIns="0" bIns="2286000" rtlCol="0">
            <a:noAutofit/>
          </a:bodyPr>
          <a:lstStyle/>
          <a:p>
            <a:pPr>
              <a:lnSpc>
                <a:spcPct val="70000"/>
              </a:lnSpc>
            </a:pPr>
            <a:r>
              <a:rPr lang="en-US" sz="6600">
                <a:solidFill>
                  <a:srgbClr val="FFFFFF"/>
                </a:solidFill>
                <a:latin typeface="+mj-lt"/>
              </a:rPr>
              <a:t>Section title</a:t>
            </a:r>
          </a:p>
        </p:txBody>
      </p:sp>
      <p:sp>
        <p:nvSpPr>
          <p:cNvPr id="13" name="ZoneTexte 19">
            <a:extLst>
              <a:ext uri="{FF2B5EF4-FFF2-40B4-BE49-F238E27FC236}">
                <a16:creationId xmlns:a16="http://schemas.microsoft.com/office/drawing/2014/main" id="{E1EB7D89-468C-377D-8E01-E8D8EE6FCEDA}"/>
              </a:ext>
            </a:extLst>
          </p:cNvPr>
          <p:cNvSpPr txBox="1">
            <a:spLocks/>
          </p:cNvSpPr>
          <p:nvPr userDrawn="1">
            <p:custDataLst>
              <p:tags r:id="rId2"/>
            </p:custDataLst>
          </p:nvPr>
        </p:nvSpPr>
        <p:spPr>
          <a:xfrm>
            <a:off x="1174066" y="5027889"/>
            <a:ext cx="9720000" cy="356616"/>
          </a:xfrm>
          <a:prstGeom prst="rect">
            <a:avLst/>
          </a:prstGeom>
          <a:noFill/>
        </p:spPr>
        <p:txBody>
          <a:bodyPr vert="horz" wrap="square" lIns="0" tIns="0" rIns="0" bIns="0" rtlCol="0" anchor="t" anchorCtr="0">
            <a:noAutofit/>
          </a:bodyPr>
          <a:lstStyle/>
          <a:p>
            <a:r>
              <a:rPr lang="fr-FR" sz="1200" i="0">
                <a:solidFill>
                  <a:schemeClr val="bg1"/>
                </a:solidFill>
                <a:latin typeface="Arial" panose="020B0604020202020204" pitchFamily="34" charset="0"/>
              </a:rPr>
              <a:t>A</a:t>
            </a:r>
          </a:p>
        </p:txBody>
      </p:sp>
      <p:sp>
        <p:nvSpPr>
          <p:cNvPr id="14" name="slide page number">
            <a:extLst>
              <a:ext uri="{FF2B5EF4-FFF2-40B4-BE49-F238E27FC236}">
                <a16:creationId xmlns:a16="http://schemas.microsoft.com/office/drawing/2014/main" id="{0EE227B2-BC76-59B8-60FA-57F408CD615B}"/>
              </a:ext>
            </a:extLst>
          </p:cNvPr>
          <p:cNvSpPr txBox="1">
            <a:spLocks/>
          </p:cNvSpPr>
          <p:nvPr userDrawn="1">
            <p:custDataLst>
              <p:tags r:id="rId3"/>
            </p:custDataLst>
          </p:nvPr>
        </p:nvSpPr>
        <p:spPr>
          <a:xfrm>
            <a:off x="10188234" y="5027889"/>
            <a:ext cx="201168" cy="356616"/>
          </a:xfrm>
          <a:prstGeom prst="rect">
            <a:avLst/>
          </a:prstGeom>
          <a:noFill/>
        </p:spPr>
        <p:txBody>
          <a:bodyPr vert="horz" wrap="square" lIns="0" tIns="0" rIns="0" bIns="0" rtlCol="0" anchor="t" anchorCtr="0">
            <a:noAutofit/>
          </a:bodyPr>
          <a:lstStyle/>
          <a:p>
            <a:pPr algn="ctr"/>
            <a:r>
              <a:rPr lang="fr-FR" sz="1400" i="0">
                <a:solidFill>
                  <a:schemeClr val="bg1"/>
                </a:solidFill>
                <a:latin typeface="+mn-lt"/>
              </a:rPr>
              <a:t>1</a:t>
            </a:r>
          </a:p>
        </p:txBody>
      </p:sp>
      <p:sp>
        <p:nvSpPr>
          <p:cNvPr id="15" name="ZONE?">
            <a:extLst>
              <a:ext uri="{FF2B5EF4-FFF2-40B4-BE49-F238E27FC236}">
                <a16:creationId xmlns:a16="http://schemas.microsoft.com/office/drawing/2014/main" id="{D9F1535F-6DC3-F59D-5DE4-C9748B195A7A}"/>
              </a:ext>
            </a:extLst>
          </p:cNvPr>
          <p:cNvSpPr>
            <a:spLocks/>
          </p:cNvSpPr>
          <p:nvPr userDrawn="1">
            <p:custDataLst>
              <p:tags r:id="rId4"/>
            </p:custDataLst>
          </p:nvPr>
        </p:nvSpPr>
        <p:spPr>
          <a:xfrm>
            <a:off x="1125801" y="3566606"/>
            <a:ext cx="6339869" cy="214308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6" name="subsection number">
            <a:extLst>
              <a:ext uri="{FF2B5EF4-FFF2-40B4-BE49-F238E27FC236}">
                <a16:creationId xmlns:a16="http://schemas.microsoft.com/office/drawing/2014/main" id="{E9ECBCC0-9069-D5A3-766B-8EBF1EA207CC}"/>
              </a:ext>
            </a:extLst>
          </p:cNvPr>
          <p:cNvSpPr txBox="1">
            <a:spLocks noChangeArrowheads="1"/>
          </p:cNvSpPr>
          <p:nvPr userDrawn="1">
            <p:custDataLst>
              <p:tags r:id="rId5"/>
            </p:custDataLst>
          </p:nvPr>
        </p:nvSpPr>
        <p:spPr bwMode="auto">
          <a:xfrm>
            <a:off x="1332373" y="3594256"/>
            <a:ext cx="201168" cy="356616"/>
          </a:xfrm>
          <a:prstGeom prst="rect">
            <a:avLst/>
          </a:prstGeom>
          <a:noFill/>
          <a:ln w="9525">
            <a:noFill/>
            <a:miter lim="800000"/>
            <a:headEnd/>
            <a:tailEnd/>
          </a:ln>
        </p:spPr>
        <p:txBody>
          <a:bodyPr wrap="none" lIns="0" tIns="0" rIns="274320" bIns="0" anchor="t"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70000"/>
              </a:lnSpc>
            </a:pPr>
            <a:r>
              <a:rPr lang="fr-FR" sz="2400">
                <a:solidFill>
                  <a:schemeClr val="bg1"/>
                </a:solidFill>
                <a:latin typeface="+mj-lt"/>
              </a:rPr>
              <a:t>1.1</a:t>
            </a:r>
          </a:p>
        </p:txBody>
      </p:sp>
      <p:sp>
        <p:nvSpPr>
          <p:cNvPr id="18" name="subsection title">
            <a:hlinkClick r:id="" action="ppaction://noaction"/>
            <a:extLst>
              <a:ext uri="{FF2B5EF4-FFF2-40B4-BE49-F238E27FC236}">
                <a16:creationId xmlns:a16="http://schemas.microsoft.com/office/drawing/2014/main" id="{67ADA6D5-A44C-6AD3-5EE0-73DCA81FB516}"/>
              </a:ext>
            </a:extLst>
          </p:cNvPr>
          <p:cNvSpPr txBox="1">
            <a:spLocks/>
          </p:cNvSpPr>
          <p:nvPr userDrawn="1">
            <p:custDataLst>
              <p:tags r:id="rId6"/>
            </p:custDataLst>
          </p:nvPr>
        </p:nvSpPr>
        <p:spPr>
          <a:xfrm>
            <a:off x="1806249" y="3594256"/>
            <a:ext cx="3200400" cy="356616"/>
          </a:xfrm>
          <a:prstGeom prst="rect">
            <a:avLst/>
          </a:prstGeom>
          <a:noFill/>
        </p:spPr>
        <p:txBody>
          <a:bodyPr vert="horz" wrap="none" lIns="0" tIns="0" rIns="0" bIns="0" rtlCol="0" anchor="t" anchorCtr="0">
            <a:noAutofit/>
          </a:bodyPr>
          <a:lstStyle/>
          <a:p>
            <a:pPr marL="0" indent="0">
              <a:buFont typeface="Arial" panose="020B0604020202020204" pitchFamily="34" charset="0"/>
              <a:buNone/>
            </a:pPr>
            <a:r>
              <a:rPr lang="en-US" sz="1600">
                <a:solidFill>
                  <a:srgbClr val="FFFFFF"/>
                </a:solidFill>
                <a:effectLst/>
                <a:latin typeface="+mn-lt"/>
              </a:rPr>
              <a:t>Subsection Title</a:t>
            </a:r>
          </a:p>
        </p:txBody>
      </p:sp>
      <p:sp>
        <p:nvSpPr>
          <p:cNvPr id="19" name="???">
            <a:hlinkClick r:id="" action="ppaction://noaction"/>
            <a:extLst>
              <a:ext uri="{FF2B5EF4-FFF2-40B4-BE49-F238E27FC236}">
                <a16:creationId xmlns:a16="http://schemas.microsoft.com/office/drawing/2014/main" id="{6EA31614-8248-54E2-75F7-BCE99EDBDAC1}"/>
              </a:ext>
            </a:extLst>
          </p:cNvPr>
          <p:cNvSpPr txBox="1">
            <a:spLocks/>
          </p:cNvSpPr>
          <p:nvPr userDrawn="1">
            <p:custDataLst>
              <p:tags r:id="rId7"/>
            </p:custDataLst>
          </p:nvPr>
        </p:nvSpPr>
        <p:spPr>
          <a:xfrm>
            <a:off x="10931809" y="3594256"/>
            <a:ext cx="0" cy="356616"/>
          </a:xfrm>
          <a:prstGeom prst="rect">
            <a:avLst/>
          </a:prstGeom>
          <a:noFill/>
          <a:ln>
            <a:noFill/>
          </a:ln>
        </p:spPr>
        <p:txBody>
          <a:bodyPr vert="horz" wrap="none" lIns="0" tIns="0" rIns="0" bIns="0" rtlCol="0" anchor="t" anchorCtr="0">
            <a:noAutofit/>
          </a:bodyPr>
          <a:lstStyle/>
          <a:p>
            <a:pPr algn="ctr"/>
            <a:r>
              <a:rPr lang="fr-FR" sz="100">
                <a:ln>
                  <a:noFill/>
                </a:ln>
                <a:noFill/>
                <a:latin typeface="+mj-lt"/>
              </a:rPr>
              <a:t>4</a:t>
            </a:r>
          </a:p>
        </p:txBody>
      </p:sp>
      <p:sp>
        <p:nvSpPr>
          <p:cNvPr id="20" name="subsection page number">
            <a:hlinkClick r:id="" action="ppaction://noaction"/>
            <a:extLst>
              <a:ext uri="{FF2B5EF4-FFF2-40B4-BE49-F238E27FC236}">
                <a16:creationId xmlns:a16="http://schemas.microsoft.com/office/drawing/2014/main" id="{FF1A2828-1104-A597-003B-DABE01462957}"/>
              </a:ext>
            </a:extLst>
          </p:cNvPr>
          <p:cNvSpPr txBox="1">
            <a:spLocks/>
          </p:cNvSpPr>
          <p:nvPr userDrawn="1">
            <p:custDataLst>
              <p:tags r:id="rId8"/>
            </p:custDataLst>
          </p:nvPr>
        </p:nvSpPr>
        <p:spPr>
          <a:xfrm>
            <a:off x="7428269" y="3594256"/>
            <a:ext cx="0" cy="356616"/>
          </a:xfrm>
          <a:prstGeom prst="rect">
            <a:avLst/>
          </a:prstGeom>
          <a:noFill/>
        </p:spPr>
        <p:txBody>
          <a:bodyPr vert="horz" wrap="square" lIns="0" tIns="0" rIns="640080" bIns="0" rtlCol="0" anchor="t" anchorCtr="0">
            <a:noAutofit/>
          </a:bodyPr>
          <a:lstStyle/>
          <a:p>
            <a:pPr marL="0" indent="0" algn="r">
              <a:buFont typeface="Arial" panose="020B0604020202020204" pitchFamily="34" charset="0"/>
              <a:buNone/>
            </a:pPr>
            <a:r>
              <a:rPr lang="fr-FR" sz="1400">
                <a:solidFill>
                  <a:srgbClr val="FFFFFF"/>
                </a:solidFill>
                <a:effectLst/>
                <a:latin typeface="+mn-lt"/>
              </a:rPr>
              <a:t>5</a:t>
            </a:r>
          </a:p>
        </p:txBody>
      </p:sp>
      <p:sp>
        <p:nvSpPr>
          <p:cNvPr id="23" name="section number">
            <a:extLst>
              <a:ext uri="{FF2B5EF4-FFF2-40B4-BE49-F238E27FC236}">
                <a16:creationId xmlns:a16="http://schemas.microsoft.com/office/drawing/2014/main" id="{57EC5908-94D7-C379-C9C3-7740D7A96534}"/>
              </a:ext>
            </a:extLst>
          </p:cNvPr>
          <p:cNvSpPr txBox="1">
            <a:spLocks/>
          </p:cNvSpPr>
          <p:nvPr userDrawn="1">
            <p:custDataLst>
              <p:tags r:id="rId9"/>
            </p:custDataLst>
          </p:nvPr>
        </p:nvSpPr>
        <p:spPr>
          <a:xfrm>
            <a:off x="1289304" y="3617406"/>
            <a:ext cx="3952700" cy="0"/>
          </a:xfrm>
          <a:prstGeom prst="rect">
            <a:avLst/>
          </a:prstGeom>
        </p:spPr>
        <p:txBody>
          <a:bodyPr vert="horz" wrap="square" lIns="0" tIns="0" rIns="0" bIns="4389120" rtlCol="0" anchor="t" anchorCtr="0">
            <a:noAutofit/>
          </a:bodyPr>
          <a:lstStyle/>
          <a:p>
            <a:pPr algn="l">
              <a:lnSpc>
                <a:spcPct val="80000"/>
              </a:lnSpc>
              <a:spcAft>
                <a:spcPts val="600"/>
              </a:spcAft>
            </a:pPr>
            <a:r>
              <a:rPr lang="en-GB" sz="6600" b="1">
                <a:solidFill>
                  <a:srgbClr val="FFFFFF"/>
                </a:solidFill>
                <a:latin typeface="+mj-lt"/>
              </a:rPr>
              <a:t>01</a:t>
            </a:r>
          </a:p>
        </p:txBody>
      </p:sp>
      <p:sp>
        <p:nvSpPr>
          <p:cNvPr id="22" name="Rectangle 21">
            <a:extLst>
              <a:ext uri="{FF2B5EF4-FFF2-40B4-BE49-F238E27FC236}">
                <a16:creationId xmlns:a16="http://schemas.microsoft.com/office/drawing/2014/main" id="{B8340BAD-3C86-DDD7-46FC-90093E4126FF}"/>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23483091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ubSection Divider Storage Layout">
    <p:spTree>
      <p:nvGrpSpPr>
        <p:cNvPr id="1" name=""/>
        <p:cNvGrpSpPr/>
        <p:nvPr/>
      </p:nvGrpSpPr>
      <p:grpSpPr>
        <a:xfrm>
          <a:off x="0" y="0"/>
          <a:ext cx="0" cy="0"/>
          <a:chOff x="0" y="0"/>
          <a:chExt cx="0" cy="0"/>
        </a:xfrm>
      </p:grpSpPr>
      <p:sp>
        <p:nvSpPr>
          <p:cNvPr id="13" name="TextBox 12">
            <a:hlinkClick r:id="" action="ppaction://noaction"/>
            <a:extLst>
              <a:ext uri="{FF2B5EF4-FFF2-40B4-BE49-F238E27FC236}">
                <a16:creationId xmlns:a16="http://schemas.microsoft.com/office/drawing/2014/main" id="{F20B1033-F813-96CD-F7FB-FCD5B8A85B0C}"/>
              </a:ext>
            </a:extLst>
          </p:cNvPr>
          <p:cNvSpPr txBox="1">
            <a:spLocks/>
          </p:cNvSpPr>
          <p:nvPr userDrawn="1">
            <p:custDataLst>
              <p:tags r:id="rId1"/>
            </p:custDataLst>
          </p:nvPr>
        </p:nvSpPr>
        <p:spPr>
          <a:xfrm>
            <a:off x="998475" y="1773835"/>
            <a:ext cx="18000000" cy="2091155"/>
          </a:xfrm>
          <a:prstGeom prst="rect">
            <a:avLst/>
          </a:prstGeom>
          <a:noFill/>
        </p:spPr>
        <p:txBody>
          <a:bodyPr vert="horz" wrap="square" lIns="0" tIns="0" rIns="0" bIns="0" rtlCol="0" anchor="t" anchorCtr="0">
            <a:noAutofit/>
          </a:bodyPr>
          <a:lstStyle>
            <a:defPPr>
              <a:defRPr lang="en-US"/>
            </a:defPPr>
            <a:lvl1pPr>
              <a:lnSpc>
                <a:spcPct val="70000"/>
              </a:lnSpc>
              <a:defRPr sz="11000">
                <a:solidFill>
                  <a:srgbClr val="FFFFFF"/>
                </a:solidFill>
                <a:latin typeface="+mj-lt"/>
              </a:defRPr>
            </a:lvl1pPr>
          </a:lstStyle>
          <a:p>
            <a:pPr lvl="0">
              <a:lnSpc>
                <a:spcPct val="70000"/>
              </a:lnSpc>
            </a:pPr>
            <a:r>
              <a:rPr lang="fr-FR" sz="8000">
                <a:solidFill>
                  <a:srgbClr val="FFFFFF"/>
                </a:solidFill>
                <a:latin typeface="+mj-lt"/>
              </a:rPr>
              <a:t>A</a:t>
            </a:r>
          </a:p>
          <a:p>
            <a:pPr lvl="0">
              <a:lnSpc>
                <a:spcPct val="70000"/>
              </a:lnSpc>
            </a:pPr>
            <a:endParaRPr lang="fr-FR" sz="8000">
              <a:solidFill>
                <a:srgbClr val="FFFFFF"/>
              </a:solidFill>
              <a:latin typeface="+mj-lt"/>
            </a:endParaRPr>
          </a:p>
        </p:txBody>
      </p:sp>
      <p:sp>
        <p:nvSpPr>
          <p:cNvPr id="14" name="TextBox 13">
            <a:hlinkClick r:id="" action="ppaction://noaction"/>
            <a:extLst>
              <a:ext uri="{FF2B5EF4-FFF2-40B4-BE49-F238E27FC236}">
                <a16:creationId xmlns:a16="http://schemas.microsoft.com/office/drawing/2014/main" id="{36F5CEAB-E720-BBEC-C914-44361C9BCF78}"/>
              </a:ext>
            </a:extLst>
          </p:cNvPr>
          <p:cNvSpPr txBox="1"/>
          <p:nvPr userDrawn="1">
            <p:custDataLst>
              <p:tags r:id="rId2"/>
            </p:custDataLst>
          </p:nvPr>
        </p:nvSpPr>
        <p:spPr>
          <a:xfrm>
            <a:off x="2215200" y="3897390"/>
            <a:ext cx="7101897" cy="2518589"/>
          </a:xfrm>
          <a:prstGeom prst="rect">
            <a:avLst/>
          </a:prstGeom>
          <a:noFill/>
        </p:spPr>
        <p:txBody>
          <a:bodyPr vert="horz" wrap="square" lIns="0" tIns="0" rIns="0" bIns="0" rtlCol="0">
            <a:noAutofit/>
          </a:bodyPr>
          <a:lstStyle/>
          <a:p>
            <a:pPr>
              <a:lnSpc>
                <a:spcPct val="70000"/>
              </a:lnSpc>
            </a:pPr>
            <a:r>
              <a:rPr lang="fr-FR" sz="11000">
                <a:solidFill>
                  <a:srgbClr val="FFFFFF"/>
                </a:solidFill>
                <a:latin typeface="+mj-lt"/>
              </a:rPr>
              <a:t>A</a:t>
            </a:r>
          </a:p>
        </p:txBody>
      </p:sp>
      <p:sp>
        <p:nvSpPr>
          <p:cNvPr id="15" name="ZoneTexte 13">
            <a:extLst>
              <a:ext uri="{FF2B5EF4-FFF2-40B4-BE49-F238E27FC236}">
                <a16:creationId xmlns:a16="http://schemas.microsoft.com/office/drawing/2014/main" id="{7BA5E11A-BE89-AA3A-2627-FE8E539C686A}"/>
              </a:ext>
            </a:extLst>
          </p:cNvPr>
          <p:cNvSpPr txBox="1">
            <a:spLocks/>
          </p:cNvSpPr>
          <p:nvPr userDrawn="1">
            <p:custDataLst>
              <p:tags r:id="rId3"/>
            </p:custDataLst>
          </p:nvPr>
        </p:nvSpPr>
        <p:spPr>
          <a:xfrm>
            <a:off x="998476" y="3681056"/>
            <a:ext cx="6336000" cy="252000"/>
          </a:xfrm>
          <a:prstGeom prst="rect">
            <a:avLst/>
          </a:prstGeom>
          <a:noFill/>
        </p:spPr>
        <p:txBody>
          <a:bodyPr wrap="square" lIns="0" tIns="0" rIns="0" bIns="0" rtlCol="0" anchor="t">
            <a:noAutofit/>
          </a:bodyPr>
          <a:lstStyle/>
          <a:p>
            <a:pPr marL="288000" indent="-288000">
              <a:buFont typeface="Arial" panose="020B0604020202020204" pitchFamily="34" charset="0"/>
              <a:buChar char="—"/>
            </a:pPr>
            <a:r>
              <a:rPr lang="fr-FR" sz="1200" i="0">
                <a:solidFill>
                  <a:schemeClr val="bg1"/>
                </a:solidFill>
                <a:latin typeface="Arial" panose="020B0604020202020204" pitchFamily="34" charset="0"/>
              </a:rPr>
              <a:t>A</a:t>
            </a:r>
          </a:p>
        </p:txBody>
      </p:sp>
      <p:sp>
        <p:nvSpPr>
          <p:cNvPr id="16" name="ZoneTexte 14">
            <a:extLst>
              <a:ext uri="{FF2B5EF4-FFF2-40B4-BE49-F238E27FC236}">
                <a16:creationId xmlns:a16="http://schemas.microsoft.com/office/drawing/2014/main" id="{F3F48908-7208-D7D0-AF66-F25A115837F1}"/>
              </a:ext>
            </a:extLst>
          </p:cNvPr>
          <p:cNvSpPr txBox="1">
            <a:spLocks/>
          </p:cNvSpPr>
          <p:nvPr userDrawn="1">
            <p:custDataLst>
              <p:tags r:id="rId4"/>
            </p:custDataLst>
          </p:nvPr>
        </p:nvSpPr>
        <p:spPr>
          <a:xfrm>
            <a:off x="8499630" y="3828990"/>
            <a:ext cx="276038" cy="252000"/>
          </a:xfrm>
          <a:prstGeom prst="rect">
            <a:avLst/>
          </a:prstGeom>
          <a:noFill/>
        </p:spPr>
        <p:txBody>
          <a:bodyPr wrap="square" lIns="0" tIns="0" rIns="0" bIns="0" rtlCol="0" anchor="t" anchorCtr="0">
            <a:noAutofit/>
          </a:bodyPr>
          <a:lstStyle/>
          <a:p>
            <a:pPr algn="r"/>
            <a:r>
              <a:rPr lang="fr-FR" sz="1200" i="0">
                <a:noFill/>
                <a:latin typeface="Arial" panose="020B0604020202020204" pitchFamily="34" charset="0"/>
              </a:rPr>
              <a:t>1</a:t>
            </a:r>
          </a:p>
        </p:txBody>
      </p:sp>
      <p:sp>
        <p:nvSpPr>
          <p:cNvPr id="17" name="Rectangle 16">
            <a:extLst>
              <a:ext uri="{FF2B5EF4-FFF2-40B4-BE49-F238E27FC236}">
                <a16:creationId xmlns:a16="http://schemas.microsoft.com/office/drawing/2014/main" id="{EF612CFF-5EEB-A289-6BF6-5C7ED46C342F}"/>
              </a:ext>
            </a:extLst>
          </p:cNvPr>
          <p:cNvSpPr>
            <a:spLocks/>
          </p:cNvSpPr>
          <p:nvPr userDrawn="1">
            <p:custDataLst>
              <p:tags r:id="rId5"/>
            </p:custDataLst>
          </p:nvPr>
        </p:nvSpPr>
        <p:spPr>
          <a:xfrm>
            <a:off x="2064470" y="1773835"/>
            <a:ext cx="7324627" cy="44667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GB"/>
          </a:p>
        </p:txBody>
      </p:sp>
      <p:sp>
        <p:nvSpPr>
          <p:cNvPr id="18" name="TextBox 17">
            <a:hlinkClick r:id="" action="ppaction://noaction"/>
            <a:extLst>
              <a:ext uri="{FF2B5EF4-FFF2-40B4-BE49-F238E27FC236}">
                <a16:creationId xmlns:a16="http://schemas.microsoft.com/office/drawing/2014/main" id="{A43B6DA0-4C35-656A-A587-6C71098827A1}"/>
              </a:ext>
            </a:extLst>
          </p:cNvPr>
          <p:cNvSpPr txBox="1"/>
          <p:nvPr userDrawn="1">
            <p:custDataLst>
              <p:tags r:id="rId6"/>
            </p:custDataLst>
          </p:nvPr>
        </p:nvSpPr>
        <p:spPr bwMode="auto">
          <a:xfrm>
            <a:off x="2064469" y="1346401"/>
            <a:ext cx="36000" cy="36000"/>
          </a:xfrm>
          <a:prstGeom prst="rect">
            <a:avLst/>
          </a:prstGeom>
          <a:noFill/>
          <a:ln w="9525">
            <a:noFill/>
            <a:miter lim="800000"/>
            <a:headEnd/>
            <a:tailEnd/>
          </a:ln>
        </p:spPr>
        <p:txBody>
          <a:bodyPr vert="horz" wrap="none" rtlCol="0" anchor="t" anchorCtr="0">
            <a:noAutofit/>
          </a:bodyPr>
          <a:lstStyle/>
          <a:p>
            <a:r>
              <a:rPr lang="fr-FR" sz="100">
                <a:noFill/>
                <a:latin typeface="+mj-lt"/>
              </a:rPr>
              <a:t>1</a:t>
            </a:r>
          </a:p>
        </p:txBody>
      </p:sp>
      <p:sp>
        <p:nvSpPr>
          <p:cNvPr id="19" name="TextBox 18">
            <a:hlinkClick r:id="" action="ppaction://noaction"/>
            <a:extLst>
              <a:ext uri="{FF2B5EF4-FFF2-40B4-BE49-F238E27FC236}">
                <a16:creationId xmlns:a16="http://schemas.microsoft.com/office/drawing/2014/main" id="{8CB5EC06-318A-B278-374B-89B28B0F27A0}"/>
              </a:ext>
            </a:extLst>
          </p:cNvPr>
          <p:cNvSpPr txBox="1"/>
          <p:nvPr userDrawn="1">
            <p:custDataLst>
              <p:tags r:id="rId7"/>
            </p:custDataLst>
          </p:nvPr>
        </p:nvSpPr>
        <p:spPr>
          <a:xfrm>
            <a:off x="9041059" y="3828990"/>
            <a:ext cx="0" cy="0"/>
          </a:xfrm>
          <a:prstGeom prst="rect">
            <a:avLst/>
          </a:prstGeom>
          <a:noFill/>
        </p:spPr>
        <p:txBody>
          <a:bodyPr vert="horz" wrap="none" lIns="0" tIns="0" rIns="0" bIns="0" rtlCol="0" anchor="ctr" anchorCtr="0">
            <a:noAutofit/>
          </a:bodyPr>
          <a:lstStyle/>
          <a:p>
            <a:pPr algn="ctr"/>
            <a:r>
              <a:rPr lang="fr-FR" sz="100">
                <a:noFill/>
                <a:latin typeface="+mj-lt"/>
              </a:rPr>
              <a:t>5</a:t>
            </a:r>
          </a:p>
        </p:txBody>
      </p:sp>
      <p:sp>
        <p:nvSpPr>
          <p:cNvPr id="20" name="TextBox 19">
            <a:hlinkClick r:id="" action="ppaction://noaction"/>
            <a:extLst>
              <a:ext uri="{FF2B5EF4-FFF2-40B4-BE49-F238E27FC236}">
                <a16:creationId xmlns:a16="http://schemas.microsoft.com/office/drawing/2014/main" id="{ACB70012-30E3-E56E-96C5-A825D1E0F9B5}"/>
              </a:ext>
            </a:extLst>
          </p:cNvPr>
          <p:cNvSpPr txBox="1"/>
          <p:nvPr userDrawn="1">
            <p:custDataLst>
              <p:tags r:id="rId8"/>
            </p:custDataLst>
          </p:nvPr>
        </p:nvSpPr>
        <p:spPr>
          <a:xfrm>
            <a:off x="9041059" y="3879390"/>
            <a:ext cx="0" cy="0"/>
          </a:xfrm>
          <a:prstGeom prst="rect">
            <a:avLst/>
          </a:prstGeom>
          <a:noFill/>
        </p:spPr>
        <p:txBody>
          <a:bodyPr vert="horz" wrap="none" lIns="0" tIns="0" rIns="0" bIns="0" rtlCol="0" anchor="t" anchorCtr="0">
            <a:noAutofit/>
          </a:bodyPr>
          <a:lstStyle/>
          <a:p>
            <a:pPr algn="r"/>
            <a:r>
              <a:rPr lang="fr-FR" sz="100">
                <a:noFill/>
                <a:latin typeface="+mj-lt"/>
              </a:rPr>
              <a:t>6</a:t>
            </a:r>
          </a:p>
        </p:txBody>
      </p:sp>
      <p:sp>
        <p:nvSpPr>
          <p:cNvPr id="30" name="TextBox 29">
            <a:hlinkClick r:id="" action="ppaction://noaction"/>
            <a:extLst>
              <a:ext uri="{FF2B5EF4-FFF2-40B4-BE49-F238E27FC236}">
                <a16:creationId xmlns:a16="http://schemas.microsoft.com/office/drawing/2014/main" id="{935C8FF7-CE79-45E7-6189-593D5B9DC5D9}"/>
              </a:ext>
            </a:extLst>
          </p:cNvPr>
          <p:cNvSpPr txBox="1"/>
          <p:nvPr userDrawn="1">
            <p:custDataLst>
              <p:tags r:id="rId9"/>
            </p:custDataLst>
          </p:nvPr>
        </p:nvSpPr>
        <p:spPr bwMode="auto">
          <a:xfrm>
            <a:off x="2064469" y="3879390"/>
            <a:ext cx="36000" cy="36000"/>
          </a:xfrm>
          <a:prstGeom prst="rect">
            <a:avLst/>
          </a:prstGeom>
          <a:noFill/>
          <a:ln w="9525">
            <a:noFill/>
            <a:miter lim="800000"/>
            <a:headEnd/>
            <a:tailEnd/>
          </a:ln>
        </p:spPr>
        <p:txBody>
          <a:bodyPr vert="horz" wrap="square" lIns="0" tIns="0" rIns="0" bIns="0" rtlCol="0" anchor="t" anchorCtr="0">
            <a:noAutofit/>
          </a:bodyPr>
          <a:lstStyle/>
          <a:p>
            <a:r>
              <a:rPr lang="fr-FR" sz="100">
                <a:noFill/>
              </a:rPr>
              <a:t>1.1</a:t>
            </a:r>
          </a:p>
        </p:txBody>
      </p:sp>
      <p:pic>
        <p:nvPicPr>
          <p:cNvPr id="33" name="Graphic 32">
            <a:extLst>
              <a:ext uri="{FF2B5EF4-FFF2-40B4-BE49-F238E27FC236}">
                <a16:creationId xmlns:a16="http://schemas.microsoft.com/office/drawing/2014/main" id="{11B2BC30-6126-B4D0-B0D9-C18D8A253356}"/>
              </a:ext>
            </a:extLst>
          </p:cNvPr>
          <p:cNvPicPr>
            <a:picLocks noChangeAspect="1"/>
          </p:cNvPicPr>
          <p:nvPr userDrawn="1"/>
        </p:nvPicPr>
        <p:blipFill>
          <a:blip r:embed="rId12">
            <a:extLst>
              <a:ext uri="{96DAC541-7B7A-43D3-8B79-37D633B846F1}">
                <asvg:svgBlip xmlns:asvg="http://schemas.microsoft.com/office/drawing/2016/SVG/main" r:embed="rId13"/>
              </a:ext>
            </a:extLst>
          </a:blip>
          <a:stretch>
            <a:fillRect/>
          </a:stretch>
        </p:blipFill>
        <p:spPr>
          <a:xfrm>
            <a:off x="998476" y="371311"/>
            <a:ext cx="914400" cy="368346"/>
          </a:xfrm>
          <a:prstGeom prst="rect">
            <a:avLst/>
          </a:prstGeom>
        </p:spPr>
      </p:pic>
      <p:sp>
        <p:nvSpPr>
          <p:cNvPr id="3" name="Rectangle 2">
            <a:extLst>
              <a:ext uri="{FF2B5EF4-FFF2-40B4-BE49-F238E27FC236}">
                <a16:creationId xmlns:a16="http://schemas.microsoft.com/office/drawing/2014/main" id="{79EE1CAB-E498-7EA3-3E50-762656B0DCCA}"/>
              </a:ext>
            </a:extLst>
          </p:cNvPr>
          <p:cNvSpPr/>
          <p:nvPr userDrawn="1">
            <p:custDataLst>
              <p:tags r:id="rId10"/>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25987416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minder shapes Storage Layout">
    <p:spTree>
      <p:nvGrpSpPr>
        <p:cNvPr id="1" name=""/>
        <p:cNvGrpSpPr/>
        <p:nvPr/>
      </p:nvGrpSpPr>
      <p:grpSpPr>
        <a:xfrm>
          <a:off x="0" y="0"/>
          <a:ext cx="0" cy="0"/>
          <a:chOff x="0" y="0"/>
          <a:chExt cx="0" cy="0"/>
        </a:xfrm>
      </p:grpSpPr>
      <p:sp>
        <p:nvSpPr>
          <p:cNvPr id="4" name="ZoneTexte 11">
            <a:extLst>
              <a:ext uri="{FF2B5EF4-FFF2-40B4-BE49-F238E27FC236}">
                <a16:creationId xmlns:a16="http://schemas.microsoft.com/office/drawing/2014/main" id="{BB3DBFF2-8D2F-D1D7-4EF7-AF89F9F5CE81}"/>
              </a:ext>
            </a:extLst>
          </p:cNvPr>
          <p:cNvSpPr txBox="1">
            <a:spLocks/>
          </p:cNvSpPr>
          <p:nvPr userDrawn="1">
            <p:custDataLst>
              <p:tags r:id="rId1"/>
            </p:custDataLst>
          </p:nvPr>
        </p:nvSpPr>
        <p:spPr>
          <a:xfrm>
            <a:off x="995364" y="188640"/>
            <a:ext cx="10204450" cy="177909"/>
          </a:xfrm>
          <a:prstGeom prst="rect">
            <a:avLst/>
          </a:prstGeom>
          <a:noFill/>
        </p:spPr>
        <p:txBody>
          <a:bodyPr vert="horz"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fr-FR" sz="1200" b="1">
                <a:solidFill>
                  <a:schemeClr val="tx2"/>
                </a:solidFill>
              </a:rPr>
              <a:t>&lt;%SECTIONNAME%&gt;&lt;%SPACEIFINSUBSEC%&gt;&lt;%TIRETIFINSUBSEC%&gt;&lt;%SPACEIFINSUBSEC%&gt;&lt;%SUBSECTIONNAME%&gt;</a:t>
            </a:r>
            <a:endParaRPr lang="en-GB" sz="1200" b="1">
              <a:solidFill>
                <a:schemeClr val="tx2"/>
              </a:solidFill>
            </a:endParaRPr>
          </a:p>
        </p:txBody>
      </p:sp>
      <p:sp>
        <p:nvSpPr>
          <p:cNvPr id="3" name="Rectangle 2">
            <a:extLst>
              <a:ext uri="{FF2B5EF4-FFF2-40B4-BE49-F238E27FC236}">
                <a16:creationId xmlns:a16="http://schemas.microsoft.com/office/drawing/2014/main" id="{14C871D7-D8D1-3154-76CA-433A0FAE2C0E}"/>
              </a:ext>
            </a:extLst>
          </p:cNvPr>
          <p:cNvSpPr/>
          <p:nvPr userDrawn="1">
            <p:custDataLst>
              <p:tags r:id="rId2"/>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1999994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UpSlide Breadcrumb">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34BC455-1433-C58D-DD91-76835760EDB7}"/>
              </a:ext>
            </a:extLst>
          </p:cNvPr>
          <p:cNvGrpSpPr/>
          <p:nvPr userDrawn="1"/>
        </p:nvGrpSpPr>
        <p:grpSpPr>
          <a:xfrm>
            <a:off x="712611" y="635732"/>
            <a:ext cx="3126154" cy="1750774"/>
            <a:chOff x="504151" y="381000"/>
            <a:chExt cx="2540000" cy="1750774"/>
          </a:xfrm>
        </p:grpSpPr>
        <p:sp>
          <p:nvSpPr>
            <p:cNvPr id="9" name="TextBox 8">
              <a:extLst>
                <a:ext uri="{FF2B5EF4-FFF2-40B4-BE49-F238E27FC236}">
                  <a16:creationId xmlns:a16="http://schemas.microsoft.com/office/drawing/2014/main" id="{56913A9B-F804-2F35-E8AE-717FC7FB94C9}"/>
                </a:ext>
              </a:extLst>
            </p:cNvPr>
            <p:cNvSpPr txBox="1"/>
            <p:nvPr userDrawn="1"/>
          </p:nvSpPr>
          <p:spPr>
            <a:xfrm>
              <a:off x="504151" y="1270000"/>
              <a:ext cx="2540000" cy="861774"/>
            </a:xfrm>
            <a:prstGeom prst="rect">
              <a:avLst/>
            </a:prstGeom>
            <a:noFill/>
          </p:spPr>
          <p:txBody>
            <a:bodyPr vert="horz" rtlCol="0">
              <a:spAutoFit/>
            </a:bodyPr>
            <a:lstStyle/>
            <a:p>
              <a:r>
                <a:rPr lang="en-US" sz="1000"/>
                <a:t>Edit alt text on the non-current shape for display options.</a:t>
              </a:r>
            </a:p>
            <a:p>
              <a:r>
                <a:rPr lang="en-US" sz="1000" b="1"/>
                <a:t>See </a:t>
              </a:r>
              <a:r>
                <a:rPr lang="en-US" sz="1000" b="1">
                  <a:hlinkClick r:id="rId3"/>
                </a:rPr>
                <a:t>here</a:t>
              </a:r>
              <a:r>
                <a:rPr lang="en-US" sz="1000" b="1"/>
                <a:t> for the options you can apply and other instructions to build a breadcrumb using UpSlide.</a:t>
              </a:r>
              <a:endParaRPr lang="en-SG" sz="1000" b="1"/>
            </a:p>
          </p:txBody>
        </p:sp>
        <p:cxnSp>
          <p:nvCxnSpPr>
            <p:cNvPr id="10" name="Straight Arrow Connector 9">
              <a:extLst>
                <a:ext uri="{FF2B5EF4-FFF2-40B4-BE49-F238E27FC236}">
                  <a16:creationId xmlns:a16="http://schemas.microsoft.com/office/drawing/2014/main" id="{34E7B21E-DFD1-F87D-9F54-2C7B05C30C93}"/>
                </a:ext>
              </a:extLst>
            </p:cNvPr>
            <p:cNvCxnSpPr/>
            <p:nvPr userDrawn="1"/>
          </p:nvCxnSpPr>
          <p:spPr>
            <a:xfrm>
              <a:off x="1016000" y="381000"/>
              <a:ext cx="0" cy="889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cxnSp>
        <p:nvCxnSpPr>
          <p:cNvPr id="11" name="Straight Arrow Connector 10">
            <a:extLst>
              <a:ext uri="{FF2B5EF4-FFF2-40B4-BE49-F238E27FC236}">
                <a16:creationId xmlns:a16="http://schemas.microsoft.com/office/drawing/2014/main" id="{BF303829-0945-9D47-C04E-ADBE43696C98}"/>
              </a:ext>
            </a:extLst>
          </p:cNvPr>
          <p:cNvCxnSpPr>
            <a:cxnSpLocks/>
          </p:cNvCxnSpPr>
          <p:nvPr userDrawn="1"/>
        </p:nvCxnSpPr>
        <p:spPr>
          <a:xfrm flipH="1" flipV="1">
            <a:off x="1815635" y="510391"/>
            <a:ext cx="2002223" cy="52934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2D14BFFA-265D-16D0-E3E4-E35FCA558DCB}"/>
              </a:ext>
            </a:extLst>
          </p:cNvPr>
          <p:cNvGrpSpPr/>
          <p:nvPr userDrawn="1"/>
        </p:nvGrpSpPr>
        <p:grpSpPr>
          <a:xfrm>
            <a:off x="289342" y="508732"/>
            <a:ext cx="1140409" cy="807998"/>
            <a:chOff x="0" y="254000"/>
            <a:chExt cx="926582" cy="807998"/>
          </a:xfrm>
        </p:grpSpPr>
        <p:sp>
          <p:nvSpPr>
            <p:cNvPr id="13" name="TextBox 12">
              <a:extLst>
                <a:ext uri="{FF2B5EF4-FFF2-40B4-BE49-F238E27FC236}">
                  <a16:creationId xmlns:a16="http://schemas.microsoft.com/office/drawing/2014/main" id="{37343379-8E0C-CBE0-5A0D-4ADF2281EA91}"/>
                </a:ext>
              </a:extLst>
            </p:cNvPr>
            <p:cNvSpPr txBox="1"/>
            <p:nvPr userDrawn="1"/>
          </p:nvSpPr>
          <p:spPr>
            <a:xfrm>
              <a:off x="0" y="508000"/>
              <a:ext cx="926582" cy="553998"/>
            </a:xfrm>
            <a:prstGeom prst="rect">
              <a:avLst/>
            </a:prstGeom>
            <a:noFill/>
          </p:spPr>
          <p:txBody>
            <a:bodyPr vert="horz" wrap="square" rtlCol="0">
              <a:spAutoFit/>
            </a:bodyPr>
            <a:lstStyle/>
            <a:p>
              <a:r>
                <a:rPr lang="en-SG" sz="1000"/>
                <a:t>First shape </a:t>
              </a:r>
              <a:br>
                <a:rPr lang="en-SG" sz="1000"/>
              </a:br>
              <a:r>
                <a:rPr lang="en-SG" sz="1000"/>
                <a:t>left margin from page</a:t>
              </a:r>
            </a:p>
          </p:txBody>
        </p:sp>
        <p:cxnSp>
          <p:nvCxnSpPr>
            <p:cNvPr id="14" name="Straight Arrow Connector 13">
              <a:extLst>
                <a:ext uri="{FF2B5EF4-FFF2-40B4-BE49-F238E27FC236}">
                  <a16:creationId xmlns:a16="http://schemas.microsoft.com/office/drawing/2014/main" id="{AD1A54CE-B898-FDCB-7BB7-EA78D944330F}"/>
                </a:ext>
              </a:extLst>
            </p:cNvPr>
            <p:cNvCxnSpPr/>
            <p:nvPr userDrawn="1"/>
          </p:nvCxnSpPr>
          <p:spPr>
            <a:xfrm>
              <a:off x="190500" y="254000"/>
              <a:ext cx="0" cy="254000"/>
            </a:xfrm>
            <a:prstGeom prst="straightConnector1">
              <a:avLst/>
            </a:prstGeom>
            <a:ln>
              <a:headEnd type="triangle"/>
            </a:ln>
          </p:spPr>
          <p:style>
            <a:lnRef idx="1">
              <a:schemeClr val="accent1"/>
            </a:lnRef>
            <a:fillRef idx="0">
              <a:schemeClr val="accent1"/>
            </a:fillRef>
            <a:effectRef idx="0">
              <a:schemeClr val="accent1"/>
            </a:effectRef>
            <a:fontRef idx="minor">
              <a:schemeClr val="tx1"/>
            </a:fontRef>
          </p:style>
        </p:cxnSp>
      </p:grpSp>
      <p:sp>
        <p:nvSpPr>
          <p:cNvPr id="7" name="Other Sections" descr="{&#10;  &quot;MinimumUpSlideVersion&quot;: &quot;6.7.4.0&quot;,&#10;  &quot;DisplayMode&quot;: &quot;SectionsOnly&quot;&#10;}">
            <a:extLst>
              <a:ext uri="{FF2B5EF4-FFF2-40B4-BE49-F238E27FC236}">
                <a16:creationId xmlns:a16="http://schemas.microsoft.com/office/drawing/2014/main" id="{8A19844E-D291-CA81-3B22-2B52F21919DA}"/>
              </a:ext>
            </a:extLst>
          </p:cNvPr>
          <p:cNvSpPr>
            <a:spLocks/>
          </p:cNvSpPr>
          <p:nvPr userDrawn="1"/>
        </p:nvSpPr>
        <p:spPr>
          <a:xfrm>
            <a:off x="995364"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p>
            <a:pPr lvl="0"/>
            <a:r>
              <a:rPr lang="en-SG" sz="800">
                <a:solidFill>
                  <a:schemeClr val="bg2">
                    <a:lumMod val="75000"/>
                  </a:schemeClr>
                </a:solidFill>
                <a:latin typeface="Arial" panose="020B0604020202020204" pitchFamily="34" charset="0"/>
                <a:cs typeface="Arial" panose="020B0604020202020204" pitchFamily="34" charset="0"/>
              </a:rPr>
              <a:t>Non-current</a:t>
            </a:r>
          </a:p>
        </p:txBody>
      </p:sp>
      <p:sp>
        <p:nvSpPr>
          <p:cNvPr id="15" name="Current Section">
            <a:extLst>
              <a:ext uri="{FF2B5EF4-FFF2-40B4-BE49-F238E27FC236}">
                <a16:creationId xmlns:a16="http://schemas.microsoft.com/office/drawing/2014/main" id="{89A61135-1F00-E77F-7C78-5FBA241A5742}"/>
              </a:ext>
            </a:extLst>
          </p:cNvPr>
          <p:cNvSpPr>
            <a:spLocks/>
          </p:cNvSpPr>
          <p:nvPr userDrawn="1"/>
        </p:nvSpPr>
        <p:spPr>
          <a:xfrm>
            <a:off x="1684189" y="153170"/>
            <a:ext cx="5157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2000" tIns="36000" rIns="72000" bIns="36000" numCol="1" spcCol="0" rtlCol="0" fromWordArt="0" anchor="ctr" anchorCtr="0" forceAA="0" compatLnSpc="1">
            <a:prstTxWarp prst="textNoShape">
              <a:avLst/>
            </a:prstTxWarp>
            <a:spAutoFit/>
          </a:bodyPr>
          <a:lstStyle/>
          <a:p>
            <a:pPr lvl="0"/>
            <a:r>
              <a:rPr lang="en-SG" sz="800" b="1">
                <a:solidFill>
                  <a:schemeClr val="tx2"/>
                </a:solidFill>
                <a:latin typeface="Arial" panose="020B0604020202020204" pitchFamily="34" charset="0"/>
                <a:cs typeface="Arial" panose="020B0604020202020204" pitchFamily="34" charset="0"/>
              </a:rPr>
              <a:t>Current</a:t>
            </a:r>
          </a:p>
        </p:txBody>
      </p:sp>
      <p:sp>
        <p:nvSpPr>
          <p:cNvPr id="17" name="TextBox 16">
            <a:extLst>
              <a:ext uri="{FF2B5EF4-FFF2-40B4-BE49-F238E27FC236}">
                <a16:creationId xmlns:a16="http://schemas.microsoft.com/office/drawing/2014/main" id="{C8AA1B64-1717-3F4E-57F6-9810BA8040A1}"/>
              </a:ext>
            </a:extLst>
          </p:cNvPr>
          <p:cNvSpPr txBox="1"/>
          <p:nvPr userDrawn="1"/>
        </p:nvSpPr>
        <p:spPr>
          <a:xfrm>
            <a:off x="3817858" y="1016732"/>
            <a:ext cx="1563077" cy="246221"/>
          </a:xfrm>
          <a:prstGeom prst="rect">
            <a:avLst/>
          </a:prstGeom>
          <a:noFill/>
        </p:spPr>
        <p:txBody>
          <a:bodyPr vert="horz" rtlCol="0">
            <a:spAutoFit/>
          </a:bodyPr>
          <a:lstStyle/>
          <a:p>
            <a:r>
              <a:rPr lang="en-SG" sz="1000"/>
              <a:t>Margin between shapes</a:t>
            </a:r>
          </a:p>
        </p:txBody>
      </p:sp>
      <p:sp>
        <p:nvSpPr>
          <p:cNvPr id="3" name="Rectangle 2">
            <a:extLst>
              <a:ext uri="{FF2B5EF4-FFF2-40B4-BE49-F238E27FC236}">
                <a16:creationId xmlns:a16="http://schemas.microsoft.com/office/drawing/2014/main" id="{B80CF688-1FB1-763E-FB8B-07E564832487}"/>
              </a:ext>
            </a:extLst>
          </p:cNvPr>
          <p:cNvSpPr/>
          <p:nvPr userDrawn="1">
            <p:custDataLst>
              <p:tags r:id="rId1"/>
            </p:custDataLst>
          </p:nvPr>
        </p:nvSpPr>
        <p:spPr>
          <a:xfrm>
            <a:off x="0" y="0"/>
            <a:ext cx="12192000" cy="6858000"/>
          </a:xfrm>
          <a:prstGeom prst="rect">
            <a:avLst/>
          </a:prstGeom>
          <a:solidFill>
            <a:srgbClr val="BDBDB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1600">
              <a:solidFill>
                <a:schemeClr val="bg1"/>
              </a:solidFill>
            </a:endParaRPr>
          </a:p>
        </p:txBody>
      </p:sp>
    </p:spTree>
    <p:extLst>
      <p:ext uri="{BB962C8B-B14F-4D97-AF65-F5344CB8AC3E}">
        <p14:creationId xmlns:p14="http://schemas.microsoft.com/office/powerpoint/2010/main" val="33728934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47"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ags" Target="../tags/tag2.xml"/><Relationship Id="rId48" Type="http://schemas.openxmlformats.org/officeDocument/2006/relationships/image" Target="../media/image2.sv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 Target="../slides/slide3.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4.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theme" Target="../theme/theme2.xml"/><Relationship Id="rId5" Type="http://schemas.openxmlformats.org/officeDocument/2006/relationships/slideLayout" Target="../slideLayouts/slideLayout46.xml"/><Relationship Id="rId4"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2" y="431800"/>
            <a:ext cx="10204452" cy="539750"/>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p:cNvSpPr>
            <a:spLocks noGrp="1"/>
          </p:cNvSpPr>
          <p:nvPr>
            <p:ph type="body" idx="1"/>
          </p:nvPr>
        </p:nvSpPr>
        <p:spPr>
          <a:xfrm>
            <a:off x="995362" y="1330325"/>
            <a:ext cx="10204451" cy="45466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hape 8">
            <a:extLst>
              <a:ext uri="{FF2B5EF4-FFF2-40B4-BE49-F238E27FC236}">
                <a16:creationId xmlns:a16="http://schemas.microsoft.com/office/drawing/2014/main" id="{D31A6846-726B-409A-8453-AF1A92CE50EA}"/>
              </a:ext>
            </a:extLst>
          </p:cNvPr>
          <p:cNvSpPr txBox="1">
            <a:spLocks/>
          </p:cNvSpPr>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a:ea typeface="Arial"/>
                <a:cs typeface="Arial"/>
                <a:sym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mn-lt"/>
                <a:ea typeface="Arial"/>
                <a:cs typeface="Arial" panose="020B0604020202020204" pitchFamily="34" charset="0"/>
              </a:rPr>
              <a:pPr algn="r"/>
              <a:t>‹#›</a:t>
            </a:fld>
            <a:endParaRPr lang="en-GB" sz="1000">
              <a:solidFill>
                <a:schemeClr val="accent2"/>
              </a:solidFill>
              <a:latin typeface="+mn-lt"/>
              <a:ea typeface="Arial"/>
              <a:cs typeface="Arial" panose="020B0604020202020204" pitchFamily="34" charset="0"/>
            </a:endParaRPr>
          </a:p>
        </p:txBody>
      </p:sp>
      <p:sp>
        <p:nvSpPr>
          <p:cNvPr id="10" name="TextBox 9">
            <a:extLst>
              <a:ext uri="{FF2B5EF4-FFF2-40B4-BE49-F238E27FC236}">
                <a16:creationId xmlns:a16="http://schemas.microsoft.com/office/drawing/2014/main" id="{C82E24E5-F0BD-4186-A8BF-D63F32BEA34F}"/>
              </a:ext>
              <a:ext uri="{C183D7F6-B498-43B3-948B-1728B52AA6E4}">
                <adec:decorative xmlns:adec="http://schemas.microsoft.com/office/drawing/2017/decorative" val="1"/>
              </a:ext>
            </a:extLst>
          </p:cNvPr>
          <p:cNvSpPr txBox="1"/>
          <p:nvPr userDrawn="1">
            <p:custDataLst>
              <p:tags r:id="rId43"/>
            </p:custDataLst>
          </p:nvPr>
        </p:nvSpPr>
        <p:spPr>
          <a:xfrm>
            <a:off x="8967794" y="6295536"/>
            <a:ext cx="1866200" cy="92333"/>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600" b="0" kern="1200" noProof="0">
                <a:solidFill>
                  <a:schemeClr val="bg1">
                    <a:lumMod val="65000"/>
                  </a:schemeClr>
                </a:solidFill>
                <a:latin typeface="+mn-lt"/>
                <a:ea typeface="+mn-ea"/>
                <a:cs typeface="+mn-cs"/>
              </a:rPr>
              <a:t>Document Classification: KPMG Confidential</a:t>
            </a:r>
          </a:p>
        </p:txBody>
      </p:sp>
      <p:cxnSp>
        <p:nvCxnSpPr>
          <p:cNvPr id="12" name="Straight Connector 11">
            <a:extLst>
              <a:ext uri="{FF2B5EF4-FFF2-40B4-BE49-F238E27FC236}">
                <a16:creationId xmlns:a16="http://schemas.microsoft.com/office/drawing/2014/main" id="{409F1721-7B3F-4E62-8446-919F2C046A08}"/>
              </a:ext>
            </a:extLst>
          </p:cNvPr>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Graphic 8">
            <a:extLst>
              <a:ext uri="{FF2B5EF4-FFF2-40B4-BE49-F238E27FC236}">
                <a16:creationId xmlns:a16="http://schemas.microsoft.com/office/drawing/2014/main" id="{74EEEE53-8F80-4E38-AE46-671AE837D862}"/>
              </a:ext>
            </a:extLst>
          </p:cNvPr>
          <p:cNvSpPr/>
          <p:nvPr userDrawn="1"/>
        </p:nvSpPr>
        <p:spPr>
          <a:xfrm>
            <a:off x="1003200" y="6266996"/>
            <a:ext cx="484832" cy="194706"/>
          </a:xfrm>
          <a:custGeom>
            <a:avLst/>
            <a:gdLst>
              <a:gd name="connsiteX0" fmla="*/ 480938 w 484832"/>
              <a:gd name="connsiteY0" fmla="*/ 148130 h 194706"/>
              <a:gd name="connsiteX1" fmla="*/ 455744 w 484832"/>
              <a:gd name="connsiteY1" fmla="*/ 148130 h 194706"/>
              <a:gd name="connsiteX2" fmla="*/ 459917 w 484832"/>
              <a:gd name="connsiteY2" fmla="*/ 131488 h 194706"/>
              <a:gd name="connsiteX3" fmla="*/ 409445 w 484832"/>
              <a:gd name="connsiteY3" fmla="*/ 131488 h 194706"/>
              <a:gd name="connsiteX4" fmla="*/ 405289 w 484832"/>
              <a:gd name="connsiteY4" fmla="*/ 148130 h 194706"/>
              <a:gd name="connsiteX5" fmla="*/ 380916 w 484832"/>
              <a:gd name="connsiteY5" fmla="*/ 148130 h 194706"/>
              <a:gd name="connsiteX6" fmla="*/ 380916 w 484832"/>
              <a:gd name="connsiteY6" fmla="*/ 144709 h 194706"/>
              <a:gd name="connsiteX7" fmla="*/ 382079 w 484832"/>
              <a:gd name="connsiteY7" fmla="*/ 138775 h 194706"/>
              <a:gd name="connsiteX8" fmla="*/ 418715 w 484832"/>
              <a:gd name="connsiteY8" fmla="*/ 103062 h 194706"/>
              <a:gd name="connsiteX9" fmla="*/ 433698 w 484832"/>
              <a:gd name="connsiteY9" fmla="*/ 117292 h 194706"/>
              <a:gd name="connsiteX10" fmla="*/ 463732 w 484832"/>
              <a:gd name="connsiteY10" fmla="*/ 117292 h 194706"/>
              <a:gd name="connsiteX11" fmla="*/ 461234 w 484832"/>
              <a:gd name="connsiteY11" fmla="*/ 95058 h 194706"/>
              <a:gd name="connsiteX12" fmla="*/ 425214 w 484832"/>
              <a:gd name="connsiteY12" fmla="*/ 82641 h 194706"/>
              <a:gd name="connsiteX13" fmla="*/ 380916 w 484832"/>
              <a:gd name="connsiteY13" fmla="*/ 94357 h 194706"/>
              <a:gd name="connsiteX14" fmla="*/ 380916 w 484832"/>
              <a:gd name="connsiteY14" fmla="*/ 3708 h 194706"/>
              <a:gd name="connsiteX15" fmla="*/ 480938 w 484832"/>
              <a:gd name="connsiteY15" fmla="*/ 3708 h 194706"/>
              <a:gd name="connsiteX16" fmla="*/ 421914 w 484832"/>
              <a:gd name="connsiteY16" fmla="*/ 172537 h 194706"/>
              <a:gd name="connsiteX17" fmla="*/ 405101 w 484832"/>
              <a:gd name="connsiteY17" fmla="*/ 174247 h 194706"/>
              <a:gd name="connsiteX18" fmla="*/ 380438 w 484832"/>
              <a:gd name="connsiteY18" fmla="*/ 151910 h 194706"/>
              <a:gd name="connsiteX19" fmla="*/ 427027 w 484832"/>
              <a:gd name="connsiteY19" fmla="*/ 151910 h 194706"/>
              <a:gd name="connsiteX20" fmla="*/ 364275 w 484832"/>
              <a:gd name="connsiteY20" fmla="*/ 90064 h 194706"/>
              <a:gd name="connsiteX21" fmla="*/ 364275 w 484832"/>
              <a:gd name="connsiteY21" fmla="*/ 110759 h 194706"/>
              <a:gd name="connsiteX22" fmla="*/ 350951 w 484832"/>
              <a:gd name="connsiteY22" fmla="*/ 139390 h 194706"/>
              <a:gd name="connsiteX23" fmla="*/ 349360 w 484832"/>
              <a:gd name="connsiteY23" fmla="*/ 148130 h 194706"/>
              <a:gd name="connsiteX24" fmla="*/ 334669 w 484832"/>
              <a:gd name="connsiteY24" fmla="*/ 148130 h 194706"/>
              <a:gd name="connsiteX25" fmla="*/ 347223 w 484832"/>
              <a:gd name="connsiteY25" fmla="*/ 88524 h 194706"/>
              <a:gd name="connsiteX26" fmla="*/ 304943 w 484832"/>
              <a:gd name="connsiteY26" fmla="*/ 88524 h 194706"/>
              <a:gd name="connsiteX27" fmla="*/ 267110 w 484832"/>
              <a:gd name="connsiteY27" fmla="*/ 148164 h 194706"/>
              <a:gd name="connsiteX28" fmla="*/ 264339 w 484832"/>
              <a:gd name="connsiteY28" fmla="*/ 148164 h 194706"/>
              <a:gd name="connsiteX29" fmla="*/ 264339 w 484832"/>
              <a:gd name="connsiteY29" fmla="*/ 3759 h 194706"/>
              <a:gd name="connsiteX30" fmla="*/ 364326 w 484832"/>
              <a:gd name="connsiteY30" fmla="*/ 3759 h 194706"/>
              <a:gd name="connsiteX31" fmla="*/ 308449 w 484832"/>
              <a:gd name="connsiteY31" fmla="*/ 148130 h 194706"/>
              <a:gd name="connsiteX32" fmla="*/ 293398 w 484832"/>
              <a:gd name="connsiteY32" fmla="*/ 148130 h 194706"/>
              <a:gd name="connsiteX33" fmla="*/ 316163 w 484832"/>
              <a:gd name="connsiteY33" fmla="*/ 112315 h 194706"/>
              <a:gd name="connsiteX34" fmla="*/ 247731 w 484832"/>
              <a:gd name="connsiteY34" fmla="*/ 88388 h 194706"/>
              <a:gd name="connsiteX35" fmla="*/ 222709 w 484832"/>
              <a:gd name="connsiteY35" fmla="*/ 88388 h 194706"/>
              <a:gd name="connsiteX36" fmla="*/ 205606 w 484832"/>
              <a:gd name="connsiteY36" fmla="*/ 148130 h 194706"/>
              <a:gd name="connsiteX37" fmla="*/ 179027 w 484832"/>
              <a:gd name="connsiteY37" fmla="*/ 148130 h 194706"/>
              <a:gd name="connsiteX38" fmla="*/ 203314 w 484832"/>
              <a:gd name="connsiteY38" fmla="*/ 119413 h 194706"/>
              <a:gd name="connsiteX39" fmla="*/ 199893 w 484832"/>
              <a:gd name="connsiteY39" fmla="*/ 95725 h 194706"/>
              <a:gd name="connsiteX40" fmla="*/ 167653 w 484832"/>
              <a:gd name="connsiteY40" fmla="*/ 88353 h 194706"/>
              <a:gd name="connsiteX41" fmla="*/ 147796 w 484832"/>
              <a:gd name="connsiteY41" fmla="*/ 88353 h 194706"/>
              <a:gd name="connsiteX42" fmla="*/ 147796 w 484832"/>
              <a:gd name="connsiteY42" fmla="*/ 3759 h 194706"/>
              <a:gd name="connsiteX43" fmla="*/ 247697 w 484832"/>
              <a:gd name="connsiteY43" fmla="*/ 3759 h 194706"/>
              <a:gd name="connsiteX44" fmla="*/ 231740 w 484832"/>
              <a:gd name="connsiteY44" fmla="*/ 148130 h 194706"/>
              <a:gd name="connsiteX45" fmla="*/ 242258 w 484832"/>
              <a:gd name="connsiteY45" fmla="*/ 110759 h 194706"/>
              <a:gd name="connsiteX46" fmla="*/ 242635 w 484832"/>
              <a:gd name="connsiteY46" fmla="*/ 148130 h 194706"/>
              <a:gd name="connsiteX47" fmla="*/ 158981 w 484832"/>
              <a:gd name="connsiteY47" fmla="*/ 133934 h 194706"/>
              <a:gd name="connsiteX48" fmla="*/ 158981 w 484832"/>
              <a:gd name="connsiteY48" fmla="*/ 133934 h 194706"/>
              <a:gd name="connsiteX49" fmla="*/ 155920 w 484832"/>
              <a:gd name="connsiteY49" fmla="*/ 134054 h 194706"/>
              <a:gd name="connsiteX50" fmla="*/ 152243 w 484832"/>
              <a:gd name="connsiteY50" fmla="*/ 134054 h 194706"/>
              <a:gd name="connsiteX51" fmla="*/ 145846 w 484832"/>
              <a:gd name="connsiteY51" fmla="*/ 134054 h 194706"/>
              <a:gd name="connsiteX52" fmla="*/ 148805 w 484832"/>
              <a:gd name="connsiteY52" fmla="*/ 123125 h 194706"/>
              <a:gd name="connsiteX53" fmla="*/ 150207 w 484832"/>
              <a:gd name="connsiteY53" fmla="*/ 117686 h 194706"/>
              <a:gd name="connsiteX54" fmla="*/ 153628 w 484832"/>
              <a:gd name="connsiteY54" fmla="*/ 104961 h 194706"/>
              <a:gd name="connsiteX55" fmla="*/ 157972 w 484832"/>
              <a:gd name="connsiteY55" fmla="*/ 104961 h 194706"/>
              <a:gd name="connsiteX56" fmla="*/ 162915 w 484832"/>
              <a:gd name="connsiteY56" fmla="*/ 104961 h 194706"/>
              <a:gd name="connsiteX57" fmla="*/ 178668 w 484832"/>
              <a:gd name="connsiteY57" fmla="*/ 108159 h 194706"/>
              <a:gd name="connsiteX58" fmla="*/ 178206 w 484832"/>
              <a:gd name="connsiteY58" fmla="*/ 119105 h 194706"/>
              <a:gd name="connsiteX59" fmla="*/ 159084 w 484832"/>
              <a:gd name="connsiteY59" fmla="*/ 133986 h 194706"/>
              <a:gd name="connsiteX60" fmla="*/ 131291 w 484832"/>
              <a:gd name="connsiteY60" fmla="*/ 93741 h 194706"/>
              <a:gd name="connsiteX61" fmla="*/ 129717 w 484832"/>
              <a:gd name="connsiteY61" fmla="*/ 98872 h 194706"/>
              <a:gd name="connsiteX62" fmla="*/ 115419 w 484832"/>
              <a:gd name="connsiteY62" fmla="*/ 146471 h 194706"/>
              <a:gd name="connsiteX63" fmla="*/ 114854 w 484832"/>
              <a:gd name="connsiteY63" fmla="*/ 148181 h 194706"/>
              <a:gd name="connsiteX64" fmla="*/ 67683 w 484832"/>
              <a:gd name="connsiteY64" fmla="*/ 148181 h 194706"/>
              <a:gd name="connsiteX65" fmla="*/ 64006 w 484832"/>
              <a:gd name="connsiteY65" fmla="*/ 140365 h 194706"/>
              <a:gd name="connsiteX66" fmla="*/ 114683 w 484832"/>
              <a:gd name="connsiteY66" fmla="*/ 88524 h 194706"/>
              <a:gd name="connsiteX67" fmla="*/ 82187 w 484832"/>
              <a:gd name="connsiteY67" fmla="*/ 88524 h 194706"/>
              <a:gd name="connsiteX68" fmla="*/ 42507 w 484832"/>
              <a:gd name="connsiteY68" fmla="*/ 131283 h 194706"/>
              <a:gd name="connsiteX69" fmla="*/ 55351 w 484832"/>
              <a:gd name="connsiteY69" fmla="*/ 88524 h 194706"/>
              <a:gd name="connsiteX70" fmla="*/ 31270 w 484832"/>
              <a:gd name="connsiteY70" fmla="*/ 88524 h 194706"/>
              <a:gd name="connsiteX71" fmla="*/ 31270 w 484832"/>
              <a:gd name="connsiteY71" fmla="*/ 3759 h 194706"/>
              <a:gd name="connsiteX72" fmla="*/ 131188 w 484832"/>
              <a:gd name="connsiteY72" fmla="*/ 3759 h 194706"/>
              <a:gd name="connsiteX73" fmla="*/ 377119 w 484832"/>
              <a:gd name="connsiteY73" fmla="*/ -89 h 194706"/>
              <a:gd name="connsiteX74" fmla="*/ 377119 w 484832"/>
              <a:gd name="connsiteY74" fmla="*/ 97076 h 194706"/>
              <a:gd name="connsiteX75" fmla="*/ 368140 w 484832"/>
              <a:gd name="connsiteY75" fmla="*/ 105713 h 194706"/>
              <a:gd name="connsiteX76" fmla="*/ 368140 w 484832"/>
              <a:gd name="connsiteY76" fmla="*/ -89 h 194706"/>
              <a:gd name="connsiteX77" fmla="*/ 260525 w 484832"/>
              <a:gd name="connsiteY77" fmla="*/ -89 h 194706"/>
              <a:gd name="connsiteX78" fmla="*/ 260525 w 484832"/>
              <a:gd name="connsiteY78" fmla="*/ 88388 h 194706"/>
              <a:gd name="connsiteX79" fmla="*/ 251614 w 484832"/>
              <a:gd name="connsiteY79" fmla="*/ 88388 h 194706"/>
              <a:gd name="connsiteX80" fmla="*/ 251614 w 484832"/>
              <a:gd name="connsiteY80" fmla="*/ -89 h 194706"/>
              <a:gd name="connsiteX81" fmla="*/ 143965 w 484832"/>
              <a:gd name="connsiteY81" fmla="*/ -89 h 194706"/>
              <a:gd name="connsiteX82" fmla="*/ 143965 w 484832"/>
              <a:gd name="connsiteY82" fmla="*/ 88524 h 194706"/>
              <a:gd name="connsiteX83" fmla="*/ 135071 w 484832"/>
              <a:gd name="connsiteY83" fmla="*/ 88524 h 194706"/>
              <a:gd name="connsiteX84" fmla="*/ 135071 w 484832"/>
              <a:gd name="connsiteY84" fmla="*/ -89 h 194706"/>
              <a:gd name="connsiteX85" fmla="*/ 27456 w 484832"/>
              <a:gd name="connsiteY85" fmla="*/ -89 h 194706"/>
              <a:gd name="connsiteX86" fmla="*/ 27456 w 484832"/>
              <a:gd name="connsiteY86" fmla="*/ 100907 h 194706"/>
              <a:gd name="connsiteX87" fmla="*/ -47 w 484832"/>
              <a:gd name="connsiteY87" fmla="*/ 192480 h 194706"/>
              <a:gd name="connsiteX88" fmla="*/ 24120 w 484832"/>
              <a:gd name="connsiteY88" fmla="*/ 192480 h 194706"/>
              <a:gd name="connsiteX89" fmla="*/ 36247 w 484832"/>
              <a:gd name="connsiteY89" fmla="*/ 151927 h 194706"/>
              <a:gd name="connsiteX90" fmla="*/ 39667 w 484832"/>
              <a:gd name="connsiteY90" fmla="*/ 151927 h 194706"/>
              <a:gd name="connsiteX91" fmla="*/ 59696 w 484832"/>
              <a:gd name="connsiteY91" fmla="*/ 192480 h 194706"/>
              <a:gd name="connsiteX92" fmla="*/ 89028 w 484832"/>
              <a:gd name="connsiteY92" fmla="*/ 192480 h 194706"/>
              <a:gd name="connsiteX93" fmla="*/ 69513 w 484832"/>
              <a:gd name="connsiteY93" fmla="*/ 151927 h 194706"/>
              <a:gd name="connsiteX94" fmla="*/ 113623 w 484832"/>
              <a:gd name="connsiteY94" fmla="*/ 151927 h 194706"/>
              <a:gd name="connsiteX95" fmla="*/ 101377 w 484832"/>
              <a:gd name="connsiteY95" fmla="*/ 192480 h 194706"/>
              <a:gd name="connsiteX96" fmla="*/ 127785 w 484832"/>
              <a:gd name="connsiteY96" fmla="*/ 192480 h 194706"/>
              <a:gd name="connsiteX97" fmla="*/ 139860 w 484832"/>
              <a:gd name="connsiteY97" fmla="*/ 152047 h 194706"/>
              <a:gd name="connsiteX98" fmla="*/ 145641 w 484832"/>
              <a:gd name="connsiteY98" fmla="*/ 152047 h 194706"/>
              <a:gd name="connsiteX99" fmla="*/ 145641 w 484832"/>
              <a:gd name="connsiteY99" fmla="*/ 151927 h 194706"/>
              <a:gd name="connsiteX100" fmla="*/ 204408 w 484832"/>
              <a:gd name="connsiteY100" fmla="*/ 151927 h 194706"/>
              <a:gd name="connsiteX101" fmla="*/ 192761 w 484832"/>
              <a:gd name="connsiteY101" fmla="*/ 192360 h 194706"/>
              <a:gd name="connsiteX102" fmla="*/ 219374 w 484832"/>
              <a:gd name="connsiteY102" fmla="*/ 192360 h 194706"/>
              <a:gd name="connsiteX103" fmla="*/ 230662 w 484832"/>
              <a:gd name="connsiteY103" fmla="*/ 151927 h 194706"/>
              <a:gd name="connsiteX104" fmla="*/ 242635 w 484832"/>
              <a:gd name="connsiteY104" fmla="*/ 151927 h 194706"/>
              <a:gd name="connsiteX105" fmla="*/ 242960 w 484832"/>
              <a:gd name="connsiteY105" fmla="*/ 192360 h 194706"/>
              <a:gd name="connsiteX106" fmla="*/ 265280 w 484832"/>
              <a:gd name="connsiteY106" fmla="*/ 192360 h 194706"/>
              <a:gd name="connsiteX107" fmla="*/ 290935 w 484832"/>
              <a:gd name="connsiteY107" fmla="*/ 151927 h 194706"/>
              <a:gd name="connsiteX108" fmla="*/ 307713 w 484832"/>
              <a:gd name="connsiteY108" fmla="*/ 151927 h 194706"/>
              <a:gd name="connsiteX109" fmla="*/ 299059 w 484832"/>
              <a:gd name="connsiteY109" fmla="*/ 192360 h 194706"/>
              <a:gd name="connsiteX110" fmla="*/ 325227 w 484832"/>
              <a:gd name="connsiteY110" fmla="*/ 192360 h 194706"/>
              <a:gd name="connsiteX111" fmla="*/ 333779 w 484832"/>
              <a:gd name="connsiteY111" fmla="*/ 151927 h 194706"/>
              <a:gd name="connsiteX112" fmla="*/ 348933 w 484832"/>
              <a:gd name="connsiteY112" fmla="*/ 151927 h 194706"/>
              <a:gd name="connsiteX113" fmla="*/ 359845 w 484832"/>
              <a:gd name="connsiteY113" fmla="*/ 183517 h 194706"/>
              <a:gd name="connsiteX114" fmla="*/ 397131 w 484832"/>
              <a:gd name="connsiteY114" fmla="*/ 194617 h 194706"/>
              <a:gd name="connsiteX115" fmla="*/ 445807 w 484832"/>
              <a:gd name="connsiteY115" fmla="*/ 188648 h 194706"/>
              <a:gd name="connsiteX116" fmla="*/ 454872 w 484832"/>
              <a:gd name="connsiteY116" fmla="*/ 151927 h 194706"/>
              <a:gd name="connsiteX117" fmla="*/ 484786 w 484832"/>
              <a:gd name="connsiteY117" fmla="*/ 151927 h 194706"/>
              <a:gd name="connsiteX118" fmla="*/ 484786 w 484832"/>
              <a:gd name="connsiteY118" fmla="*/ -89 h 194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484832" h="194706">
                <a:moveTo>
                  <a:pt x="480938" y="148130"/>
                </a:moveTo>
                <a:lnTo>
                  <a:pt x="455744" y="148130"/>
                </a:lnTo>
                <a:lnTo>
                  <a:pt x="459917" y="131488"/>
                </a:lnTo>
                <a:lnTo>
                  <a:pt x="409445" y="131488"/>
                </a:lnTo>
                <a:lnTo>
                  <a:pt x="405289" y="148130"/>
                </a:lnTo>
                <a:lnTo>
                  <a:pt x="380916" y="148130"/>
                </a:lnTo>
                <a:lnTo>
                  <a:pt x="380916" y="144709"/>
                </a:lnTo>
                <a:cubicBezTo>
                  <a:pt x="381293" y="142845"/>
                  <a:pt x="381618" y="140878"/>
                  <a:pt x="382079" y="138775"/>
                </a:cubicBezTo>
                <a:cubicBezTo>
                  <a:pt x="386526" y="120816"/>
                  <a:pt x="398311" y="103062"/>
                  <a:pt x="418715" y="103062"/>
                </a:cubicBezTo>
                <a:cubicBezTo>
                  <a:pt x="426771" y="103062"/>
                  <a:pt x="434792" y="106141"/>
                  <a:pt x="433698" y="117292"/>
                </a:cubicBezTo>
                <a:lnTo>
                  <a:pt x="463732" y="117292"/>
                </a:lnTo>
                <a:cubicBezTo>
                  <a:pt x="464912" y="112161"/>
                  <a:pt x="466896" y="103216"/>
                  <a:pt x="461234" y="95058"/>
                </a:cubicBezTo>
                <a:cubicBezTo>
                  <a:pt x="454821" y="86198"/>
                  <a:pt x="441942" y="82641"/>
                  <a:pt x="425214" y="82641"/>
                </a:cubicBezTo>
                <a:cubicBezTo>
                  <a:pt x="413328" y="82641"/>
                  <a:pt x="395933" y="84539"/>
                  <a:pt x="380916" y="94357"/>
                </a:cubicBezTo>
                <a:lnTo>
                  <a:pt x="380916" y="3708"/>
                </a:lnTo>
                <a:lnTo>
                  <a:pt x="480938" y="3708"/>
                </a:lnTo>
                <a:close/>
                <a:moveTo>
                  <a:pt x="421914" y="172537"/>
                </a:moveTo>
                <a:cubicBezTo>
                  <a:pt x="416372" y="173606"/>
                  <a:pt x="410745" y="174179"/>
                  <a:pt x="405101" y="174247"/>
                </a:cubicBezTo>
                <a:cubicBezTo>
                  <a:pt x="390683" y="174247"/>
                  <a:pt x="380643" y="167543"/>
                  <a:pt x="380438" y="151910"/>
                </a:cubicBezTo>
                <a:lnTo>
                  <a:pt x="427027" y="151910"/>
                </a:lnTo>
                <a:close/>
                <a:moveTo>
                  <a:pt x="364275" y="90064"/>
                </a:moveTo>
                <a:lnTo>
                  <a:pt x="364275" y="110759"/>
                </a:lnTo>
                <a:cubicBezTo>
                  <a:pt x="358044" y="119364"/>
                  <a:pt x="353522" y="129082"/>
                  <a:pt x="350951" y="139390"/>
                </a:cubicBezTo>
                <a:cubicBezTo>
                  <a:pt x="350195" y="142258"/>
                  <a:pt x="349663" y="145180"/>
                  <a:pt x="349360" y="148130"/>
                </a:cubicBezTo>
                <a:lnTo>
                  <a:pt x="334669" y="148130"/>
                </a:lnTo>
                <a:lnTo>
                  <a:pt x="347223" y="88524"/>
                </a:lnTo>
                <a:lnTo>
                  <a:pt x="304943" y="88524"/>
                </a:lnTo>
                <a:lnTo>
                  <a:pt x="267110" y="148164"/>
                </a:lnTo>
                <a:lnTo>
                  <a:pt x="264339" y="148164"/>
                </a:lnTo>
                <a:lnTo>
                  <a:pt x="264339" y="3759"/>
                </a:lnTo>
                <a:lnTo>
                  <a:pt x="364326" y="3759"/>
                </a:lnTo>
                <a:close/>
                <a:moveTo>
                  <a:pt x="308449" y="148130"/>
                </a:moveTo>
                <a:lnTo>
                  <a:pt x="293398" y="148130"/>
                </a:lnTo>
                <a:lnTo>
                  <a:pt x="316163" y="112315"/>
                </a:lnTo>
                <a:close/>
                <a:moveTo>
                  <a:pt x="247731" y="88388"/>
                </a:moveTo>
                <a:lnTo>
                  <a:pt x="222709" y="88388"/>
                </a:lnTo>
                <a:lnTo>
                  <a:pt x="205606" y="148130"/>
                </a:lnTo>
                <a:lnTo>
                  <a:pt x="179027" y="148130"/>
                </a:lnTo>
                <a:cubicBezTo>
                  <a:pt x="192538" y="143136"/>
                  <a:pt x="200765" y="133592"/>
                  <a:pt x="203314" y="119413"/>
                </a:cubicBezTo>
                <a:cubicBezTo>
                  <a:pt x="205400" y="108399"/>
                  <a:pt x="204408" y="101164"/>
                  <a:pt x="199893" y="95725"/>
                </a:cubicBezTo>
                <a:cubicBezTo>
                  <a:pt x="193154" y="87652"/>
                  <a:pt x="179642" y="88353"/>
                  <a:pt x="167653" y="88353"/>
                </a:cubicBezTo>
                <a:lnTo>
                  <a:pt x="147796" y="88353"/>
                </a:lnTo>
                <a:lnTo>
                  <a:pt x="147796" y="3759"/>
                </a:lnTo>
                <a:lnTo>
                  <a:pt x="247697" y="3759"/>
                </a:lnTo>
                <a:close/>
                <a:moveTo>
                  <a:pt x="231740" y="148130"/>
                </a:moveTo>
                <a:lnTo>
                  <a:pt x="242258" y="110759"/>
                </a:lnTo>
                <a:lnTo>
                  <a:pt x="242635" y="148130"/>
                </a:lnTo>
                <a:close/>
                <a:moveTo>
                  <a:pt x="158981" y="133934"/>
                </a:moveTo>
                <a:lnTo>
                  <a:pt x="158981" y="133934"/>
                </a:lnTo>
                <a:cubicBezTo>
                  <a:pt x="158007" y="133934"/>
                  <a:pt x="157032" y="134054"/>
                  <a:pt x="155920" y="134054"/>
                </a:cubicBezTo>
                <a:cubicBezTo>
                  <a:pt x="154466" y="134054"/>
                  <a:pt x="153320" y="134054"/>
                  <a:pt x="152243" y="134054"/>
                </a:cubicBezTo>
                <a:lnTo>
                  <a:pt x="145846" y="134054"/>
                </a:lnTo>
                <a:lnTo>
                  <a:pt x="148805" y="123125"/>
                </a:lnTo>
                <a:lnTo>
                  <a:pt x="150207" y="117686"/>
                </a:lnTo>
                <a:lnTo>
                  <a:pt x="153628" y="104961"/>
                </a:lnTo>
                <a:cubicBezTo>
                  <a:pt x="155116" y="104961"/>
                  <a:pt x="156570" y="104961"/>
                  <a:pt x="157972" y="104961"/>
                </a:cubicBezTo>
                <a:lnTo>
                  <a:pt x="162915" y="104961"/>
                </a:lnTo>
                <a:cubicBezTo>
                  <a:pt x="171467" y="104961"/>
                  <a:pt x="176718" y="105440"/>
                  <a:pt x="178668" y="108159"/>
                </a:cubicBezTo>
                <a:cubicBezTo>
                  <a:pt x="180156" y="110212"/>
                  <a:pt x="179967" y="113735"/>
                  <a:pt x="178206" y="119105"/>
                </a:cubicBezTo>
                <a:cubicBezTo>
                  <a:pt x="175196" y="128341"/>
                  <a:pt x="171364" y="133045"/>
                  <a:pt x="159084" y="133986"/>
                </a:cubicBezTo>
                <a:moveTo>
                  <a:pt x="131291" y="93741"/>
                </a:moveTo>
                <a:lnTo>
                  <a:pt x="129717" y="98872"/>
                </a:lnTo>
                <a:lnTo>
                  <a:pt x="115419" y="146471"/>
                </a:lnTo>
                <a:lnTo>
                  <a:pt x="114854" y="148181"/>
                </a:lnTo>
                <a:lnTo>
                  <a:pt x="67683" y="148181"/>
                </a:lnTo>
                <a:lnTo>
                  <a:pt x="64006" y="140365"/>
                </a:lnTo>
                <a:lnTo>
                  <a:pt x="114683" y="88524"/>
                </a:lnTo>
                <a:lnTo>
                  <a:pt x="82187" y="88524"/>
                </a:lnTo>
                <a:lnTo>
                  <a:pt x="42507" y="131283"/>
                </a:lnTo>
                <a:lnTo>
                  <a:pt x="55351" y="88524"/>
                </a:lnTo>
                <a:lnTo>
                  <a:pt x="31270" y="88524"/>
                </a:lnTo>
                <a:lnTo>
                  <a:pt x="31270" y="3759"/>
                </a:lnTo>
                <a:lnTo>
                  <a:pt x="131188" y="3759"/>
                </a:lnTo>
                <a:close/>
                <a:moveTo>
                  <a:pt x="377119" y="-89"/>
                </a:moveTo>
                <a:lnTo>
                  <a:pt x="377119" y="97076"/>
                </a:lnTo>
                <a:cubicBezTo>
                  <a:pt x="373861" y="99667"/>
                  <a:pt x="370856" y="102560"/>
                  <a:pt x="368140" y="105713"/>
                </a:cubicBezTo>
                <a:lnTo>
                  <a:pt x="368140" y="-89"/>
                </a:lnTo>
                <a:lnTo>
                  <a:pt x="260525" y="-89"/>
                </a:lnTo>
                <a:lnTo>
                  <a:pt x="260525" y="88388"/>
                </a:lnTo>
                <a:lnTo>
                  <a:pt x="251614" y="88388"/>
                </a:lnTo>
                <a:lnTo>
                  <a:pt x="251614" y="-89"/>
                </a:lnTo>
                <a:lnTo>
                  <a:pt x="143965" y="-89"/>
                </a:lnTo>
                <a:lnTo>
                  <a:pt x="143965" y="88524"/>
                </a:lnTo>
                <a:lnTo>
                  <a:pt x="135071" y="88524"/>
                </a:lnTo>
                <a:lnTo>
                  <a:pt x="135071" y="-89"/>
                </a:lnTo>
                <a:lnTo>
                  <a:pt x="27456" y="-89"/>
                </a:lnTo>
                <a:lnTo>
                  <a:pt x="27456" y="100907"/>
                </a:lnTo>
                <a:lnTo>
                  <a:pt x="-47" y="192480"/>
                </a:lnTo>
                <a:lnTo>
                  <a:pt x="24120" y="192480"/>
                </a:lnTo>
                <a:lnTo>
                  <a:pt x="36247" y="151927"/>
                </a:lnTo>
                <a:lnTo>
                  <a:pt x="39667" y="151927"/>
                </a:lnTo>
                <a:lnTo>
                  <a:pt x="59696" y="192480"/>
                </a:lnTo>
                <a:lnTo>
                  <a:pt x="89028" y="192480"/>
                </a:lnTo>
                <a:lnTo>
                  <a:pt x="69513" y="151927"/>
                </a:lnTo>
                <a:lnTo>
                  <a:pt x="113623" y="151927"/>
                </a:lnTo>
                <a:lnTo>
                  <a:pt x="101377" y="192480"/>
                </a:lnTo>
                <a:lnTo>
                  <a:pt x="127785" y="192480"/>
                </a:lnTo>
                <a:lnTo>
                  <a:pt x="139860" y="152047"/>
                </a:lnTo>
                <a:lnTo>
                  <a:pt x="145641" y="152047"/>
                </a:lnTo>
                <a:lnTo>
                  <a:pt x="145641" y="151927"/>
                </a:lnTo>
                <a:lnTo>
                  <a:pt x="204408" y="151927"/>
                </a:lnTo>
                <a:lnTo>
                  <a:pt x="192761" y="192360"/>
                </a:lnTo>
                <a:lnTo>
                  <a:pt x="219374" y="192360"/>
                </a:lnTo>
                <a:lnTo>
                  <a:pt x="230662" y="151927"/>
                </a:lnTo>
                <a:lnTo>
                  <a:pt x="242635" y="151927"/>
                </a:lnTo>
                <a:lnTo>
                  <a:pt x="242960" y="192360"/>
                </a:lnTo>
                <a:lnTo>
                  <a:pt x="265280" y="192360"/>
                </a:lnTo>
                <a:lnTo>
                  <a:pt x="290935" y="151927"/>
                </a:lnTo>
                <a:lnTo>
                  <a:pt x="307713" y="151927"/>
                </a:lnTo>
                <a:lnTo>
                  <a:pt x="299059" y="192360"/>
                </a:lnTo>
                <a:lnTo>
                  <a:pt x="325227" y="192360"/>
                </a:lnTo>
                <a:lnTo>
                  <a:pt x="333779" y="151927"/>
                </a:lnTo>
                <a:lnTo>
                  <a:pt x="348933" y="151927"/>
                </a:lnTo>
                <a:cubicBezTo>
                  <a:pt x="348334" y="164464"/>
                  <a:pt x="351533" y="175872"/>
                  <a:pt x="359845" y="183517"/>
                </a:cubicBezTo>
                <a:cubicBezTo>
                  <a:pt x="370004" y="192839"/>
                  <a:pt x="385603" y="194617"/>
                  <a:pt x="397131" y="194617"/>
                </a:cubicBezTo>
                <a:cubicBezTo>
                  <a:pt x="413526" y="194421"/>
                  <a:pt x="429850" y="192418"/>
                  <a:pt x="445807" y="188648"/>
                </a:cubicBezTo>
                <a:lnTo>
                  <a:pt x="454872" y="151927"/>
                </a:lnTo>
                <a:lnTo>
                  <a:pt x="484786" y="151927"/>
                </a:lnTo>
                <a:lnTo>
                  <a:pt x="484786" y="-89"/>
                </a:lnTo>
                <a:close/>
              </a:path>
            </a:pathLst>
          </a:custGeom>
          <a:solidFill>
            <a:schemeClr val="tx2"/>
          </a:solidFill>
          <a:ln w="1683" cap="flat">
            <a:noFill/>
            <a:prstDash val="solid"/>
            <a:miter/>
          </a:ln>
        </p:spPr>
        <p:txBody>
          <a:bodyPr rtlCol="0" anchor="ctr"/>
          <a:lstStyle/>
          <a:p>
            <a:endParaRPr lang="en-GB"/>
          </a:p>
        </p:txBody>
      </p:sp>
      <p:sp>
        <p:nvSpPr>
          <p:cNvPr id="4" name="Isosceles Triangle 3">
            <a:extLst>
              <a:ext uri="{FF2B5EF4-FFF2-40B4-BE49-F238E27FC236}">
                <a16:creationId xmlns:a16="http://schemas.microsoft.com/office/drawing/2014/main" id="{08622FF0-0E35-B078-2FD8-0DAFE67AB3D9}"/>
              </a:ext>
            </a:extLst>
          </p:cNvPr>
          <p:cNvSpPr/>
          <p:nvPr userDrawn="1"/>
        </p:nvSpPr>
        <p:spPr>
          <a:xfrm rot="5400000">
            <a:off x="11877175" y="192024"/>
            <a:ext cx="99166"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5" name="Isosceles Triangle 4">
            <a:extLst>
              <a:ext uri="{FF2B5EF4-FFF2-40B4-BE49-F238E27FC236}">
                <a16:creationId xmlns:a16="http://schemas.microsoft.com/office/drawing/2014/main" id="{ADC053B4-E914-AFD4-A152-DDCC2DAA96FB}"/>
              </a:ext>
            </a:extLst>
          </p:cNvPr>
          <p:cNvSpPr/>
          <p:nvPr userDrawn="1"/>
        </p:nvSpPr>
        <p:spPr>
          <a:xfrm rot="16200000" flipH="1">
            <a:off x="11315054" y="190622"/>
            <a:ext cx="99166" cy="8548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6" name="Oval 5">
            <a:hlinkClick r:id="" action="ppaction://hlinkshowjump?jump=nextslide"/>
            <a:extLst>
              <a:ext uri="{FF2B5EF4-FFF2-40B4-BE49-F238E27FC236}">
                <a16:creationId xmlns:a16="http://schemas.microsoft.com/office/drawing/2014/main" id="{85334CBF-72E3-0E1F-3CBD-2D24B9896F6B}"/>
              </a:ext>
            </a:extLst>
          </p:cNvPr>
          <p:cNvSpPr>
            <a:spLocks/>
          </p:cNvSpPr>
          <p:nvPr userDrawn="1"/>
        </p:nvSpPr>
        <p:spPr>
          <a:xfrm>
            <a:off x="11799231" y="103561"/>
            <a:ext cx="236608" cy="236621"/>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7" name="Oval 6">
            <a:hlinkClick r:id="" action="ppaction://hlinkshowjump?jump=previousslide"/>
            <a:extLst>
              <a:ext uri="{FF2B5EF4-FFF2-40B4-BE49-F238E27FC236}">
                <a16:creationId xmlns:a16="http://schemas.microsoft.com/office/drawing/2014/main" id="{01E667A0-063B-7250-F4B9-CCF839CDAC7A}"/>
              </a:ext>
            </a:extLst>
          </p:cNvPr>
          <p:cNvSpPr>
            <a:spLocks/>
          </p:cNvSpPr>
          <p:nvPr userDrawn="1"/>
        </p:nvSpPr>
        <p:spPr>
          <a:xfrm flipH="1">
            <a:off x="11255557" y="103561"/>
            <a:ext cx="236608" cy="236621"/>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8" name="Graphic 7" descr="Home">
            <a:hlinkClick r:id="rId46" action="ppaction://hlinksldjump"/>
            <a:extLst>
              <a:ext uri="{FF2B5EF4-FFF2-40B4-BE49-F238E27FC236}">
                <a16:creationId xmlns:a16="http://schemas.microsoft.com/office/drawing/2014/main" id="{31F1188E-F8DE-4338-11B6-756CB25D0407}"/>
              </a:ext>
            </a:extLst>
          </p:cNvPr>
          <p:cNvPicPr>
            <a:picLocks noChangeAspect="1"/>
          </p:cNvPicPr>
          <p:nvPr userDrawn="1"/>
        </p:nvPicPr>
        <p:blipFill>
          <a:blip r:embed="rId47" cstate="screen">
            <a:extLst>
              <a:ext uri="{28A0092B-C50C-407E-A947-70E740481C1C}">
                <a14:useLocalDpi xmlns:a14="http://schemas.microsoft.com/office/drawing/2010/main"/>
              </a:ext>
              <a:ext uri="{96DAC541-7B7A-43D3-8B79-37D633B846F1}">
                <asvg:svgBlip xmlns:asvg="http://schemas.microsoft.com/office/drawing/2016/SVG/main" r:embed="rId48"/>
              </a:ext>
            </a:extLst>
          </a:blip>
          <a:stretch>
            <a:fillRect/>
          </a:stretch>
        </p:blipFill>
        <p:spPr>
          <a:xfrm>
            <a:off x="11534459" y="103561"/>
            <a:ext cx="222478" cy="222490"/>
          </a:xfrm>
          <a:prstGeom prst="rect">
            <a:avLst/>
          </a:prstGeom>
        </p:spPr>
      </p:pic>
      <p:sp>
        <p:nvSpPr>
          <p:cNvPr id="14" name="Text Box 4">
            <a:extLst>
              <a:ext uri="{FF2B5EF4-FFF2-40B4-BE49-F238E27FC236}">
                <a16:creationId xmlns:a16="http://schemas.microsoft.com/office/drawing/2014/main" id="{DAE9187A-6F09-30FC-E414-4664C082450F}"/>
              </a:ext>
            </a:extLst>
          </p:cNvPr>
          <p:cNvSpPr txBox="1">
            <a:spLocks noChangeArrowheads="1"/>
          </p:cNvSpPr>
          <p:nvPr userDrawn="1">
            <p:custDataLst>
              <p:tags r:id="rId44"/>
            </p:custDataLst>
          </p:nvPr>
        </p:nvSpPr>
        <p:spPr bwMode="gray">
          <a:xfrm>
            <a:off x="10473613" y="6463890"/>
            <a:ext cx="1570038" cy="357187"/>
          </a:xfrm>
          <a:prstGeom prst="rect">
            <a:avLst/>
          </a:prstGeom>
          <a:noFill/>
          <a:ln w="6350" algn="ctr">
            <a:noFill/>
            <a:miter lim="800000"/>
            <a:headEnd/>
            <a:tailEnd/>
          </a:ln>
          <a:effectLst/>
        </p:spPr>
        <p:txBody>
          <a:bodyPr wrap="square" lIns="0" tIns="36000" rIns="0" bIns="0" anchor="ctr" anchorCtr="0">
            <a:noAutofit/>
          </a:bodyPr>
          <a:lstStyle/>
          <a:p>
            <a:pPr algn="r" defTabSz="762000" eaLnBrk="0" hangingPunct="0">
              <a:lnSpc>
                <a:spcPct val="80000"/>
              </a:lnSpc>
              <a:spcBef>
                <a:spcPct val="20000"/>
              </a:spcBef>
            </a:pPr>
            <a:r>
              <a:rPr lang="en-US" sz="1400" b="1">
                <a:solidFill>
                  <a:schemeClr val="accent6"/>
                </a:solidFill>
              </a:rPr>
              <a:t>DRAFT</a:t>
            </a:r>
          </a:p>
        </p:txBody>
      </p:sp>
      <p:sp>
        <p:nvSpPr>
          <p:cNvPr id="15" name="TextBox 14">
            <a:extLst>
              <a:ext uri="{FF2B5EF4-FFF2-40B4-BE49-F238E27FC236}">
                <a16:creationId xmlns:a16="http://schemas.microsoft.com/office/drawing/2014/main" id="{1AC58C50-1B19-87C3-0DF6-F8B8F42CB87D}"/>
              </a:ext>
              <a:ext uri="{C183D7F6-B498-43B3-948B-1728B52AA6E4}">
                <adec:decorative xmlns:adec="http://schemas.microsoft.com/office/drawing/2017/decorative" val="1"/>
              </a:ext>
            </a:extLst>
          </p:cNvPr>
          <p:cNvSpPr txBox="1">
            <a:spLocks/>
          </p:cNvSpPr>
          <p:nvPr userDrawn="1">
            <p:custDataLst>
              <p:tags r:id="rId45"/>
            </p:custDataLst>
          </p:nvPr>
        </p:nvSpPr>
        <p:spPr>
          <a:xfrm>
            <a:off x="1885683" y="6266997"/>
            <a:ext cx="6673851" cy="184666"/>
          </a:xfrm>
          <a:prstGeom prst="rect">
            <a:avLst/>
          </a:prstGeom>
          <a:noFill/>
        </p:spPr>
        <p:txBody>
          <a:bodyPr wrap="square" lIns="0" tIns="0" rIns="0" bIns="0" rtlCol="0">
            <a:spAutoFit/>
          </a:bodyPr>
          <a:lstStyle>
            <a:defPPr>
              <a:defRPr lang="en-US"/>
            </a:defPPr>
            <a:lvl1pPr marR="0" lvl="0" indent="0" fontAlgn="auto">
              <a:lnSpc>
                <a:spcPct val="100000"/>
              </a:lnSpc>
              <a:spcBef>
                <a:spcPts val="0"/>
              </a:spcBef>
              <a:spcAft>
                <a:spcPts val="0"/>
              </a:spcAft>
              <a:buClrTx/>
              <a:buSzTx/>
              <a:buFontTx/>
              <a:buNone/>
              <a:tabLst/>
              <a:defRPr kumimoji="0" sz="600" b="0" i="0" u="none" strike="noStrike" kern="0" cap="none" spc="0" normalizeH="0" baseline="0">
                <a:ln>
                  <a:noFill/>
                </a:ln>
                <a:solidFill>
                  <a:srgbClr val="FFFFFF">
                    <a:lumMod val="65000"/>
                  </a:srgbClr>
                </a:solidFill>
                <a:effectLst/>
                <a:uLnTx/>
                <a:uFillTx/>
              </a:defRPr>
            </a:lvl1pPr>
          </a:lstStyle>
          <a:p>
            <a:pPr lvl="0"/>
            <a:r>
              <a:rPr lang="en-US" noProof="0"/>
              <a:t>© 2024 KPMG LLP, an Ontario limited liability partnership and a member firm of the KPMG global organization of independent member firms affiliated with KPMG International Limited, a private English company limited by guarantee. All rights reserved. The KPMG name and logo are trademarks used under license by the independent member firms of the KPMG global organization.</a:t>
            </a:r>
          </a:p>
        </p:txBody>
      </p:sp>
    </p:spTree>
    <p:extLst>
      <p:ext uri="{BB962C8B-B14F-4D97-AF65-F5344CB8AC3E}">
        <p14:creationId xmlns:p14="http://schemas.microsoft.com/office/powerpoint/2010/main" val="3521449419"/>
      </p:ext>
    </p:extLst>
  </p:cSld>
  <p:clrMap bg1="lt1" tx1="dk1" bg2="lt2" tx2="dk2" accent1="accent1" accent2="accent2" accent3="accent3" accent4="accent4" accent5="accent5" accent6="accent6" hlink="hlink" folHlink="folHlink"/>
  <p:sldLayoutIdLst>
    <p:sldLayoutId id="2147483703" r:id="rId1"/>
    <p:sldLayoutId id="2147483783" r:id="rId2"/>
    <p:sldLayoutId id="2147483749" r:id="rId3"/>
    <p:sldLayoutId id="2147483750" r:id="rId4"/>
    <p:sldLayoutId id="2147483767" r:id="rId5"/>
    <p:sldLayoutId id="2147483768" r:id="rId6"/>
    <p:sldLayoutId id="2147483765" r:id="rId7"/>
    <p:sldLayoutId id="2147483766" r:id="rId8"/>
    <p:sldLayoutId id="2147483666" r:id="rId9"/>
    <p:sldLayoutId id="2147483796" r:id="rId10"/>
    <p:sldLayoutId id="2147483712" r:id="rId11"/>
    <p:sldLayoutId id="2147483797" r:id="rId12"/>
    <p:sldLayoutId id="2147483664" r:id="rId13"/>
    <p:sldLayoutId id="2147483769" r:id="rId14"/>
    <p:sldLayoutId id="2147483770" r:id="rId15"/>
    <p:sldLayoutId id="2147483714" r:id="rId16"/>
    <p:sldLayoutId id="2147483689" r:id="rId17"/>
    <p:sldLayoutId id="2147483716" r:id="rId18"/>
    <p:sldLayoutId id="2147483690" r:id="rId19"/>
    <p:sldLayoutId id="2147483692" r:id="rId20"/>
    <p:sldLayoutId id="2147483691" r:id="rId21"/>
    <p:sldLayoutId id="2147483693" r:id="rId22"/>
    <p:sldLayoutId id="2147483701" r:id="rId23"/>
    <p:sldLayoutId id="2147483771" r:id="rId24"/>
    <p:sldLayoutId id="2147483752" r:id="rId25"/>
    <p:sldLayoutId id="2147483697" r:id="rId26"/>
    <p:sldLayoutId id="2147483772" r:id="rId27"/>
    <p:sldLayoutId id="2147483754" r:id="rId28"/>
    <p:sldLayoutId id="2147483699" r:id="rId29"/>
    <p:sldLayoutId id="2147483700" r:id="rId30"/>
    <p:sldLayoutId id="2147483722" r:id="rId31"/>
    <p:sldLayoutId id="2147483792" r:id="rId32"/>
    <p:sldLayoutId id="2147483793" r:id="rId33"/>
    <p:sldLayoutId id="2147483789" r:id="rId34"/>
    <p:sldLayoutId id="2147483791" r:id="rId35"/>
    <p:sldLayoutId id="2147483790" r:id="rId36"/>
    <p:sldLayoutId id="2147483794" r:id="rId37"/>
    <p:sldLayoutId id="2147483795" r:id="rId38"/>
    <p:sldLayoutId id="2147483667" r:id="rId39"/>
    <p:sldLayoutId id="2147483748" r:id="rId40"/>
    <p:sldLayoutId id="2147483853" r:id="rId41"/>
  </p:sldLayoutIdLst>
  <p:txStyles>
    <p:titleStyle>
      <a:lvl1pPr algn="l" defTabSz="914400" rtl="0" eaLnBrk="1" latinLnBrk="0" hangingPunct="1">
        <a:lnSpc>
          <a:spcPct val="70000"/>
        </a:lnSpc>
        <a:spcBef>
          <a:spcPct val="0"/>
        </a:spcBef>
        <a:buNone/>
        <a:defRPr sz="40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2" userDrawn="1">
          <p15:clr>
            <a:srgbClr val="F26B43"/>
          </p15:clr>
        </p15:guide>
        <p15:guide id="2" pos="627" userDrawn="1">
          <p15:clr>
            <a:srgbClr val="F26B43"/>
          </p15:clr>
        </p15:guide>
        <p15:guide id="3" pos="7055" userDrawn="1">
          <p15:clr>
            <a:srgbClr val="F26B43"/>
          </p15:clr>
        </p15:guide>
        <p15:guide id="4" orient="horz" pos="838" userDrawn="1">
          <p15:clr>
            <a:srgbClr val="F26B43"/>
          </p15:clr>
        </p15:guide>
        <p15:guide id="5" orient="horz" pos="612" userDrawn="1">
          <p15:clr>
            <a:srgbClr val="F26B43"/>
          </p15:clr>
        </p15:guide>
        <p15:guide id="6" orient="horz" pos="27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5" name="Titre 3">
            <a:extLst>
              <a:ext uri="{FF2B5EF4-FFF2-40B4-BE49-F238E27FC236}">
                <a16:creationId xmlns:a16="http://schemas.microsoft.com/office/drawing/2014/main" id="{370B02A6-4C30-978F-D96F-3CD6602C08D6}"/>
              </a:ext>
            </a:extLst>
          </p:cNvPr>
          <p:cNvSpPr txBox="1">
            <a:spLocks/>
          </p:cNvSpPr>
          <p:nvPr userDrawn="1"/>
        </p:nvSpPr>
        <p:spPr>
          <a:xfrm>
            <a:off x="495064" y="4361380"/>
            <a:ext cx="10900905" cy="2259080"/>
          </a:xfrm>
          <a:prstGeom prst="rect">
            <a:avLst/>
          </a:prstGeom>
        </p:spPr>
        <p:txBody>
          <a:bodyPr wrap="square" lIns="0" rIns="0">
            <a:spAutoFit/>
          </a:bodyPr>
          <a:lstStyle>
            <a:defPPr>
              <a:defRPr lang="fr-F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32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UpSlide Table Of Content Master </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edit</a:t>
            </a:r>
          </a:p>
          <a:p>
            <a:pPr marL="0" marR="0" lvl="0" indent="0" algn="l" defTabSz="914423" rtl="0" eaLnBrk="1" fontAlgn="auto" latinLnBrk="0" hangingPunct="1">
              <a:lnSpc>
                <a:spcPct val="90000"/>
              </a:lnSpc>
              <a:spcBef>
                <a:spcPts val="2400"/>
              </a:spcBef>
              <a:spcAft>
                <a:spcPts val="0"/>
              </a:spcAft>
              <a:buClrTx/>
              <a:buSzTx/>
              <a:buFontTx/>
              <a:buNone/>
              <a:tabLst/>
              <a:defRPr/>
            </a:pPr>
            <a:r>
              <a:rPr kumimoji="0" lang="en-US" sz="4000" b="0" i="0" u="none" strike="noStrike" kern="1200" cap="all" spc="0" normalizeH="0" baseline="0" noProof="0">
                <a:ln>
                  <a:noFill/>
                </a:ln>
                <a:solidFill>
                  <a:schemeClr val="accent1"/>
                </a:solidFill>
                <a:effectLst/>
                <a:uLnTx/>
                <a:uFillTx/>
                <a:latin typeface="Arial" panose="020B0604020202020204" pitchFamily="34" charset="0"/>
                <a:ea typeface="+mj-ea"/>
                <a:cs typeface="Arial" panose="020B0604020202020204" pitchFamily="34" charset="0"/>
              </a:rPr>
              <a:t>Do not delete</a:t>
            </a:r>
          </a:p>
        </p:txBody>
      </p:sp>
    </p:spTree>
    <p:extLst>
      <p:ext uri="{BB962C8B-B14F-4D97-AF65-F5344CB8AC3E}">
        <p14:creationId xmlns:p14="http://schemas.microsoft.com/office/powerpoint/2010/main" val="4249051276"/>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Lst>
  <p:txStyles>
    <p:titleStyle>
      <a:lvl1pPr algn="l" defTabSz="914400" rtl="0" eaLnBrk="1" latinLnBrk="0" hangingPunct="1">
        <a:lnSpc>
          <a:spcPct val="70000"/>
        </a:lnSpc>
        <a:spcBef>
          <a:spcPct val="0"/>
        </a:spcBef>
        <a:buNone/>
        <a:defRPr sz="4400" kern="1200">
          <a:solidFill>
            <a:schemeClr val="accent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6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04">
          <p15:clr>
            <a:srgbClr val="F26B43"/>
          </p15:clr>
        </p15:guide>
        <p15:guide id="2" pos="624">
          <p15:clr>
            <a:srgbClr val="F26B43"/>
          </p15:clr>
        </p15:guide>
        <p15:guide id="3" pos="7056">
          <p15:clr>
            <a:srgbClr val="F26B43"/>
          </p15:clr>
        </p15:guide>
        <p15:guide id="4" orient="horz" pos="840">
          <p15:clr>
            <a:srgbClr val="F26B43"/>
          </p15:clr>
        </p15:guide>
        <p15:guide id="5" orient="horz" pos="616">
          <p15:clr>
            <a:srgbClr val="F26B43"/>
          </p15:clr>
        </p15:guide>
        <p15:guide id="6" orient="horz" pos="2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51.xml"/><Relationship Id="rId5" Type="http://schemas.openxmlformats.org/officeDocument/2006/relationships/image" Target="../media/image1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slide" Target="slide75.xml"/><Relationship Id="rId2" Type="http://schemas.openxmlformats.org/officeDocument/2006/relationships/slide" Target="slide74.xml"/><Relationship Id="rId1" Type="http://schemas.openxmlformats.org/officeDocument/2006/relationships/slideLayout" Target="../slideLayouts/slideLayout41.xml"/><Relationship Id="rId5" Type="http://schemas.openxmlformats.org/officeDocument/2006/relationships/image" Target="../media/image18.pn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117" Type="http://schemas.openxmlformats.org/officeDocument/2006/relationships/slide" Target="slide10.xml"/><Relationship Id="rId21" Type="http://schemas.openxmlformats.org/officeDocument/2006/relationships/tags" Target="../tags/tag72.xml"/><Relationship Id="rId42" Type="http://schemas.openxmlformats.org/officeDocument/2006/relationships/tags" Target="../tags/tag93.xml"/><Relationship Id="rId63" Type="http://schemas.openxmlformats.org/officeDocument/2006/relationships/tags" Target="../tags/tag114.xml"/><Relationship Id="rId84" Type="http://schemas.openxmlformats.org/officeDocument/2006/relationships/tags" Target="../tags/tag135.xml"/><Relationship Id="rId138" Type="http://schemas.openxmlformats.org/officeDocument/2006/relationships/slide" Target="slide59.xml"/><Relationship Id="rId107" Type="http://schemas.openxmlformats.org/officeDocument/2006/relationships/slideLayout" Target="../slideLayouts/slideLayout9.xml"/><Relationship Id="rId11" Type="http://schemas.openxmlformats.org/officeDocument/2006/relationships/tags" Target="../tags/tag62.xml"/><Relationship Id="rId32" Type="http://schemas.openxmlformats.org/officeDocument/2006/relationships/tags" Target="../tags/tag83.xml"/><Relationship Id="rId53" Type="http://schemas.openxmlformats.org/officeDocument/2006/relationships/tags" Target="../tags/tag104.xml"/><Relationship Id="rId74" Type="http://schemas.openxmlformats.org/officeDocument/2006/relationships/tags" Target="../tags/tag125.xml"/><Relationship Id="rId128" Type="http://schemas.openxmlformats.org/officeDocument/2006/relationships/slide" Target="slide47.xml"/><Relationship Id="rId5" Type="http://schemas.openxmlformats.org/officeDocument/2006/relationships/tags" Target="../tags/tag56.xml"/><Relationship Id="rId90" Type="http://schemas.openxmlformats.org/officeDocument/2006/relationships/tags" Target="../tags/tag141.xml"/><Relationship Id="rId95" Type="http://schemas.openxmlformats.org/officeDocument/2006/relationships/tags" Target="../tags/tag146.xml"/><Relationship Id="rId22" Type="http://schemas.openxmlformats.org/officeDocument/2006/relationships/tags" Target="../tags/tag73.xml"/><Relationship Id="rId27" Type="http://schemas.openxmlformats.org/officeDocument/2006/relationships/tags" Target="../tags/tag78.xml"/><Relationship Id="rId43" Type="http://schemas.openxmlformats.org/officeDocument/2006/relationships/tags" Target="../tags/tag94.xml"/><Relationship Id="rId48" Type="http://schemas.openxmlformats.org/officeDocument/2006/relationships/tags" Target="../tags/tag99.xml"/><Relationship Id="rId64" Type="http://schemas.openxmlformats.org/officeDocument/2006/relationships/tags" Target="../tags/tag115.xml"/><Relationship Id="rId69" Type="http://schemas.openxmlformats.org/officeDocument/2006/relationships/tags" Target="../tags/tag120.xml"/><Relationship Id="rId113" Type="http://schemas.openxmlformats.org/officeDocument/2006/relationships/slide" Target="slide5.xml"/><Relationship Id="rId118" Type="http://schemas.openxmlformats.org/officeDocument/2006/relationships/slide" Target="slide12.xml"/><Relationship Id="rId134" Type="http://schemas.openxmlformats.org/officeDocument/2006/relationships/slide" Target="slide53.xml"/><Relationship Id="rId139" Type="http://schemas.openxmlformats.org/officeDocument/2006/relationships/slide" Target="slide61.xml"/><Relationship Id="rId80" Type="http://schemas.openxmlformats.org/officeDocument/2006/relationships/tags" Target="../tags/tag131.xml"/><Relationship Id="rId85" Type="http://schemas.openxmlformats.org/officeDocument/2006/relationships/tags" Target="../tags/tag136.xml"/><Relationship Id="rId12" Type="http://schemas.openxmlformats.org/officeDocument/2006/relationships/tags" Target="../tags/tag63.xml"/><Relationship Id="rId17" Type="http://schemas.openxmlformats.org/officeDocument/2006/relationships/tags" Target="../tags/tag68.xml"/><Relationship Id="rId33" Type="http://schemas.openxmlformats.org/officeDocument/2006/relationships/tags" Target="../tags/tag84.xml"/><Relationship Id="rId38" Type="http://schemas.openxmlformats.org/officeDocument/2006/relationships/tags" Target="../tags/tag89.xml"/><Relationship Id="rId59" Type="http://schemas.openxmlformats.org/officeDocument/2006/relationships/tags" Target="../tags/tag110.xml"/><Relationship Id="rId103" Type="http://schemas.openxmlformats.org/officeDocument/2006/relationships/tags" Target="../tags/tag154.xml"/><Relationship Id="rId108" Type="http://schemas.openxmlformats.org/officeDocument/2006/relationships/slide" Target="slide78.xml"/><Relationship Id="rId124" Type="http://schemas.openxmlformats.org/officeDocument/2006/relationships/slide" Target="slide40.xml"/><Relationship Id="rId129" Type="http://schemas.openxmlformats.org/officeDocument/2006/relationships/slide" Target="slide48.xml"/><Relationship Id="rId54" Type="http://schemas.openxmlformats.org/officeDocument/2006/relationships/tags" Target="../tags/tag105.xml"/><Relationship Id="rId70" Type="http://schemas.openxmlformats.org/officeDocument/2006/relationships/tags" Target="../tags/tag121.xml"/><Relationship Id="rId75" Type="http://schemas.openxmlformats.org/officeDocument/2006/relationships/tags" Target="../tags/tag126.xml"/><Relationship Id="rId91" Type="http://schemas.openxmlformats.org/officeDocument/2006/relationships/tags" Target="../tags/tag142.xml"/><Relationship Id="rId96" Type="http://schemas.openxmlformats.org/officeDocument/2006/relationships/tags" Target="../tags/tag147.xml"/><Relationship Id="rId140" Type="http://schemas.openxmlformats.org/officeDocument/2006/relationships/slide" Target="slide68.xml"/><Relationship Id="rId145" Type="http://schemas.openxmlformats.org/officeDocument/2006/relationships/slide" Target="slide75.xml"/><Relationship Id="rId1" Type="http://schemas.openxmlformats.org/officeDocument/2006/relationships/tags" Target="../tags/tag52.xml"/><Relationship Id="rId6" Type="http://schemas.openxmlformats.org/officeDocument/2006/relationships/tags" Target="../tags/tag57.xml"/><Relationship Id="rId23" Type="http://schemas.openxmlformats.org/officeDocument/2006/relationships/tags" Target="../tags/tag74.xml"/><Relationship Id="rId28" Type="http://schemas.openxmlformats.org/officeDocument/2006/relationships/tags" Target="../tags/tag79.xml"/><Relationship Id="rId49" Type="http://schemas.openxmlformats.org/officeDocument/2006/relationships/tags" Target="../tags/tag100.xml"/><Relationship Id="rId114" Type="http://schemas.openxmlformats.org/officeDocument/2006/relationships/slide" Target="slide6.xml"/><Relationship Id="rId119" Type="http://schemas.openxmlformats.org/officeDocument/2006/relationships/slide" Target="slide28.xml"/><Relationship Id="rId44" Type="http://schemas.openxmlformats.org/officeDocument/2006/relationships/tags" Target="../tags/tag95.xml"/><Relationship Id="rId60" Type="http://schemas.openxmlformats.org/officeDocument/2006/relationships/tags" Target="../tags/tag111.xml"/><Relationship Id="rId65" Type="http://schemas.openxmlformats.org/officeDocument/2006/relationships/tags" Target="../tags/tag116.xml"/><Relationship Id="rId81" Type="http://schemas.openxmlformats.org/officeDocument/2006/relationships/tags" Target="../tags/tag132.xml"/><Relationship Id="rId86" Type="http://schemas.openxmlformats.org/officeDocument/2006/relationships/tags" Target="../tags/tag137.xml"/><Relationship Id="rId130" Type="http://schemas.openxmlformats.org/officeDocument/2006/relationships/slide" Target="slide49.xml"/><Relationship Id="rId135" Type="http://schemas.openxmlformats.org/officeDocument/2006/relationships/slide" Target="slide54.xml"/><Relationship Id="rId13" Type="http://schemas.openxmlformats.org/officeDocument/2006/relationships/tags" Target="../tags/tag64.xml"/><Relationship Id="rId18" Type="http://schemas.openxmlformats.org/officeDocument/2006/relationships/tags" Target="../tags/tag69.xml"/><Relationship Id="rId39" Type="http://schemas.openxmlformats.org/officeDocument/2006/relationships/tags" Target="../tags/tag90.xml"/><Relationship Id="rId109" Type="http://schemas.openxmlformats.org/officeDocument/2006/relationships/image" Target="../media/image19.jpeg"/><Relationship Id="rId34" Type="http://schemas.openxmlformats.org/officeDocument/2006/relationships/tags" Target="../tags/tag85.xml"/><Relationship Id="rId50" Type="http://schemas.openxmlformats.org/officeDocument/2006/relationships/tags" Target="../tags/tag101.xml"/><Relationship Id="rId55" Type="http://schemas.openxmlformats.org/officeDocument/2006/relationships/tags" Target="../tags/tag106.xml"/><Relationship Id="rId76" Type="http://schemas.openxmlformats.org/officeDocument/2006/relationships/tags" Target="../tags/tag127.xml"/><Relationship Id="rId97" Type="http://schemas.openxmlformats.org/officeDocument/2006/relationships/tags" Target="../tags/tag148.xml"/><Relationship Id="rId104" Type="http://schemas.openxmlformats.org/officeDocument/2006/relationships/tags" Target="../tags/tag155.xml"/><Relationship Id="rId120" Type="http://schemas.openxmlformats.org/officeDocument/2006/relationships/slide" Target="slide29.xml"/><Relationship Id="rId125" Type="http://schemas.openxmlformats.org/officeDocument/2006/relationships/slide" Target="slide44.xml"/><Relationship Id="rId141" Type="http://schemas.openxmlformats.org/officeDocument/2006/relationships/slide" Target="slide71.xml"/><Relationship Id="rId7" Type="http://schemas.openxmlformats.org/officeDocument/2006/relationships/tags" Target="../tags/tag58.xml"/><Relationship Id="rId71" Type="http://schemas.openxmlformats.org/officeDocument/2006/relationships/tags" Target="../tags/tag122.xml"/><Relationship Id="rId92" Type="http://schemas.openxmlformats.org/officeDocument/2006/relationships/tags" Target="../tags/tag143.xml"/><Relationship Id="rId2" Type="http://schemas.openxmlformats.org/officeDocument/2006/relationships/tags" Target="../tags/tag53.xml"/><Relationship Id="rId29" Type="http://schemas.openxmlformats.org/officeDocument/2006/relationships/tags" Target="../tags/tag80.xml"/><Relationship Id="rId24" Type="http://schemas.openxmlformats.org/officeDocument/2006/relationships/tags" Target="../tags/tag75.xml"/><Relationship Id="rId40" Type="http://schemas.openxmlformats.org/officeDocument/2006/relationships/tags" Target="../tags/tag91.xml"/><Relationship Id="rId45" Type="http://schemas.openxmlformats.org/officeDocument/2006/relationships/tags" Target="../tags/tag96.xml"/><Relationship Id="rId66" Type="http://schemas.openxmlformats.org/officeDocument/2006/relationships/tags" Target="../tags/tag117.xml"/><Relationship Id="rId87" Type="http://schemas.openxmlformats.org/officeDocument/2006/relationships/tags" Target="../tags/tag138.xml"/><Relationship Id="rId110" Type="http://schemas.openxmlformats.org/officeDocument/2006/relationships/slide" Target="slide80.xml"/><Relationship Id="rId115" Type="http://schemas.openxmlformats.org/officeDocument/2006/relationships/slide" Target="slide7.xml"/><Relationship Id="rId131" Type="http://schemas.openxmlformats.org/officeDocument/2006/relationships/slide" Target="slide50.xml"/><Relationship Id="rId136" Type="http://schemas.openxmlformats.org/officeDocument/2006/relationships/slide" Target="slide57.xml"/><Relationship Id="rId61" Type="http://schemas.openxmlformats.org/officeDocument/2006/relationships/tags" Target="../tags/tag112.xml"/><Relationship Id="rId82" Type="http://schemas.openxmlformats.org/officeDocument/2006/relationships/tags" Target="../tags/tag133.xml"/><Relationship Id="rId19" Type="http://schemas.openxmlformats.org/officeDocument/2006/relationships/tags" Target="../tags/tag70.xml"/><Relationship Id="rId14" Type="http://schemas.openxmlformats.org/officeDocument/2006/relationships/tags" Target="../tags/tag65.xml"/><Relationship Id="rId30" Type="http://schemas.openxmlformats.org/officeDocument/2006/relationships/tags" Target="../tags/tag81.xml"/><Relationship Id="rId35" Type="http://schemas.openxmlformats.org/officeDocument/2006/relationships/tags" Target="../tags/tag86.xml"/><Relationship Id="rId56" Type="http://schemas.openxmlformats.org/officeDocument/2006/relationships/tags" Target="../tags/tag107.xml"/><Relationship Id="rId77" Type="http://schemas.openxmlformats.org/officeDocument/2006/relationships/tags" Target="../tags/tag128.xml"/><Relationship Id="rId100" Type="http://schemas.openxmlformats.org/officeDocument/2006/relationships/tags" Target="../tags/tag151.xml"/><Relationship Id="rId105" Type="http://schemas.openxmlformats.org/officeDocument/2006/relationships/tags" Target="../tags/tag156.xml"/><Relationship Id="rId126" Type="http://schemas.openxmlformats.org/officeDocument/2006/relationships/slide" Target="slide45.xml"/><Relationship Id="rId8" Type="http://schemas.openxmlformats.org/officeDocument/2006/relationships/tags" Target="../tags/tag59.xml"/><Relationship Id="rId51" Type="http://schemas.openxmlformats.org/officeDocument/2006/relationships/tags" Target="../tags/tag102.xml"/><Relationship Id="rId72" Type="http://schemas.openxmlformats.org/officeDocument/2006/relationships/tags" Target="../tags/tag123.xml"/><Relationship Id="rId93" Type="http://schemas.openxmlformats.org/officeDocument/2006/relationships/tags" Target="../tags/tag144.xml"/><Relationship Id="rId98" Type="http://schemas.openxmlformats.org/officeDocument/2006/relationships/tags" Target="../tags/tag149.xml"/><Relationship Id="rId121" Type="http://schemas.openxmlformats.org/officeDocument/2006/relationships/slide" Target="slide31.xml"/><Relationship Id="rId142" Type="http://schemas.openxmlformats.org/officeDocument/2006/relationships/slide" Target="slide72.xml"/><Relationship Id="rId3" Type="http://schemas.openxmlformats.org/officeDocument/2006/relationships/tags" Target="../tags/tag54.xml"/><Relationship Id="rId25" Type="http://schemas.openxmlformats.org/officeDocument/2006/relationships/tags" Target="../tags/tag76.xml"/><Relationship Id="rId46" Type="http://schemas.openxmlformats.org/officeDocument/2006/relationships/tags" Target="../tags/tag97.xml"/><Relationship Id="rId67" Type="http://schemas.openxmlformats.org/officeDocument/2006/relationships/tags" Target="../tags/tag118.xml"/><Relationship Id="rId116" Type="http://schemas.openxmlformats.org/officeDocument/2006/relationships/slide" Target="slide9.xml"/><Relationship Id="rId137" Type="http://schemas.openxmlformats.org/officeDocument/2006/relationships/slide" Target="slide58.xml"/><Relationship Id="rId20" Type="http://schemas.openxmlformats.org/officeDocument/2006/relationships/tags" Target="../tags/tag71.xml"/><Relationship Id="rId41" Type="http://schemas.openxmlformats.org/officeDocument/2006/relationships/tags" Target="../tags/tag92.xml"/><Relationship Id="rId62" Type="http://schemas.openxmlformats.org/officeDocument/2006/relationships/tags" Target="../tags/tag113.xml"/><Relationship Id="rId83" Type="http://schemas.openxmlformats.org/officeDocument/2006/relationships/tags" Target="../tags/tag134.xml"/><Relationship Id="rId88" Type="http://schemas.openxmlformats.org/officeDocument/2006/relationships/tags" Target="../tags/tag139.xml"/><Relationship Id="rId111" Type="http://schemas.openxmlformats.org/officeDocument/2006/relationships/image" Target="../media/image20.jpeg"/><Relationship Id="rId132" Type="http://schemas.openxmlformats.org/officeDocument/2006/relationships/slide" Target="slide51.xml"/><Relationship Id="rId15" Type="http://schemas.openxmlformats.org/officeDocument/2006/relationships/tags" Target="../tags/tag66.xml"/><Relationship Id="rId36" Type="http://schemas.openxmlformats.org/officeDocument/2006/relationships/tags" Target="../tags/tag87.xml"/><Relationship Id="rId57" Type="http://schemas.openxmlformats.org/officeDocument/2006/relationships/tags" Target="../tags/tag108.xml"/><Relationship Id="rId106" Type="http://schemas.openxmlformats.org/officeDocument/2006/relationships/tags" Target="../tags/tag157.xml"/><Relationship Id="rId127" Type="http://schemas.openxmlformats.org/officeDocument/2006/relationships/slide" Target="slide46.xml"/><Relationship Id="rId10" Type="http://schemas.openxmlformats.org/officeDocument/2006/relationships/tags" Target="../tags/tag61.xml"/><Relationship Id="rId31" Type="http://schemas.openxmlformats.org/officeDocument/2006/relationships/tags" Target="../tags/tag82.xml"/><Relationship Id="rId52" Type="http://schemas.openxmlformats.org/officeDocument/2006/relationships/tags" Target="../tags/tag103.xml"/><Relationship Id="rId73" Type="http://schemas.openxmlformats.org/officeDocument/2006/relationships/tags" Target="../tags/tag124.xml"/><Relationship Id="rId78" Type="http://schemas.openxmlformats.org/officeDocument/2006/relationships/tags" Target="../tags/tag129.xml"/><Relationship Id="rId94" Type="http://schemas.openxmlformats.org/officeDocument/2006/relationships/tags" Target="../tags/tag145.xml"/><Relationship Id="rId99" Type="http://schemas.openxmlformats.org/officeDocument/2006/relationships/tags" Target="../tags/tag150.xml"/><Relationship Id="rId101" Type="http://schemas.openxmlformats.org/officeDocument/2006/relationships/tags" Target="../tags/tag152.xml"/><Relationship Id="rId122" Type="http://schemas.openxmlformats.org/officeDocument/2006/relationships/slide" Target="slide38.xml"/><Relationship Id="rId143" Type="http://schemas.openxmlformats.org/officeDocument/2006/relationships/slide" Target="slide73.xml"/><Relationship Id="rId4" Type="http://schemas.openxmlformats.org/officeDocument/2006/relationships/tags" Target="../tags/tag55.xml"/><Relationship Id="rId9" Type="http://schemas.openxmlformats.org/officeDocument/2006/relationships/tags" Target="../tags/tag60.xml"/><Relationship Id="rId26" Type="http://schemas.openxmlformats.org/officeDocument/2006/relationships/tags" Target="../tags/tag77.xml"/><Relationship Id="rId47" Type="http://schemas.openxmlformats.org/officeDocument/2006/relationships/tags" Target="../tags/tag98.xml"/><Relationship Id="rId68" Type="http://schemas.openxmlformats.org/officeDocument/2006/relationships/tags" Target="../tags/tag119.xml"/><Relationship Id="rId89" Type="http://schemas.openxmlformats.org/officeDocument/2006/relationships/tags" Target="../tags/tag140.xml"/><Relationship Id="rId112" Type="http://schemas.openxmlformats.org/officeDocument/2006/relationships/slide" Target="slide4.xml"/><Relationship Id="rId133" Type="http://schemas.openxmlformats.org/officeDocument/2006/relationships/slide" Target="slide52.xml"/><Relationship Id="rId16" Type="http://schemas.openxmlformats.org/officeDocument/2006/relationships/tags" Target="../tags/tag67.xml"/><Relationship Id="rId37" Type="http://schemas.openxmlformats.org/officeDocument/2006/relationships/tags" Target="../tags/tag88.xml"/><Relationship Id="rId58" Type="http://schemas.openxmlformats.org/officeDocument/2006/relationships/tags" Target="../tags/tag109.xml"/><Relationship Id="rId79" Type="http://schemas.openxmlformats.org/officeDocument/2006/relationships/tags" Target="../tags/tag130.xml"/><Relationship Id="rId102" Type="http://schemas.openxmlformats.org/officeDocument/2006/relationships/tags" Target="../tags/tag153.xml"/><Relationship Id="rId123" Type="http://schemas.openxmlformats.org/officeDocument/2006/relationships/slide" Target="slide39.xml"/><Relationship Id="rId144" Type="http://schemas.openxmlformats.org/officeDocument/2006/relationships/slide" Target="slide74.xml"/></Relationships>
</file>

<file path=ppt/slides/_rels/slide4.xml.rels><?xml version="1.0" encoding="UTF-8" standalone="yes"?>
<Relationships xmlns="http://schemas.openxmlformats.org/package/2006/relationships"><Relationship Id="rId8" Type="http://schemas.openxmlformats.org/officeDocument/2006/relationships/tags" Target="../tags/tag165.xml"/><Relationship Id="rId13" Type="http://schemas.openxmlformats.org/officeDocument/2006/relationships/tags" Target="../tags/tag170.xml"/><Relationship Id="rId18" Type="http://schemas.openxmlformats.org/officeDocument/2006/relationships/slide" Target="slide7.xml"/><Relationship Id="rId3" Type="http://schemas.openxmlformats.org/officeDocument/2006/relationships/tags" Target="../tags/tag160.xml"/><Relationship Id="rId7" Type="http://schemas.openxmlformats.org/officeDocument/2006/relationships/tags" Target="../tags/tag164.xml"/><Relationship Id="rId12" Type="http://schemas.openxmlformats.org/officeDocument/2006/relationships/tags" Target="../tags/tag169.xml"/><Relationship Id="rId17" Type="http://schemas.openxmlformats.org/officeDocument/2006/relationships/slide" Target="slide6.xml"/><Relationship Id="rId2" Type="http://schemas.openxmlformats.org/officeDocument/2006/relationships/tags" Target="../tags/tag159.xml"/><Relationship Id="rId16" Type="http://schemas.openxmlformats.org/officeDocument/2006/relationships/slide" Target="slide5.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tags" Target="../tags/tag168.xml"/><Relationship Id="rId5" Type="http://schemas.openxmlformats.org/officeDocument/2006/relationships/tags" Target="../tags/tag162.xml"/><Relationship Id="rId15" Type="http://schemas.openxmlformats.org/officeDocument/2006/relationships/slide" Target="slide4.xml"/><Relationship Id="rId10" Type="http://schemas.openxmlformats.org/officeDocument/2006/relationships/tags" Target="../tags/tag167.xml"/><Relationship Id="rId4" Type="http://schemas.openxmlformats.org/officeDocument/2006/relationships/tags" Target="../tags/tag161.xml"/><Relationship Id="rId9" Type="http://schemas.openxmlformats.org/officeDocument/2006/relationships/tags" Target="../tags/tag166.xml"/><Relationship Id="rId14"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8" Type="http://schemas.openxmlformats.org/officeDocument/2006/relationships/slide" Target="slide45.xml"/><Relationship Id="rId13" Type="http://schemas.openxmlformats.org/officeDocument/2006/relationships/slide" Target="slide39.xml"/><Relationship Id="rId3" Type="http://schemas.openxmlformats.org/officeDocument/2006/relationships/tags" Target="../tags/tag173.xml"/><Relationship Id="rId7" Type="http://schemas.openxmlformats.org/officeDocument/2006/relationships/image" Target="../media/image16.emf"/><Relationship Id="rId12" Type="http://schemas.openxmlformats.org/officeDocument/2006/relationships/slide" Target="slide28.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oleObject" Target="../embeddings/oleObject2.bin"/><Relationship Id="rId11" Type="http://schemas.openxmlformats.org/officeDocument/2006/relationships/slide" Target="slide9.xml"/><Relationship Id="rId5" Type="http://schemas.openxmlformats.org/officeDocument/2006/relationships/slideLayout" Target="../slideLayouts/slideLayout9.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174.xml"/><Relationship Id="rId9" Type="http://schemas.openxmlformats.org/officeDocument/2006/relationships/image" Target="../media/image21.emf"/><Relationship Id="rId14" Type="http://schemas.openxmlformats.org/officeDocument/2006/relationships/slide" Target="slide44.xml"/></Relationships>
</file>

<file path=ppt/slides/_rels/slide6.xml.rels><?xml version="1.0" encoding="UTF-8" standalone="yes"?>
<Relationships xmlns="http://schemas.openxmlformats.org/package/2006/relationships"><Relationship Id="rId8" Type="http://schemas.openxmlformats.org/officeDocument/2006/relationships/image" Target="../media/image23.emf"/><Relationship Id="rId13" Type="http://schemas.openxmlformats.org/officeDocument/2006/relationships/slide" Target="slide39.xml"/><Relationship Id="rId3" Type="http://schemas.openxmlformats.org/officeDocument/2006/relationships/tags" Target="../tags/tag177.xml"/><Relationship Id="rId7" Type="http://schemas.openxmlformats.org/officeDocument/2006/relationships/image" Target="../media/image22.emf"/><Relationship Id="rId12" Type="http://schemas.openxmlformats.org/officeDocument/2006/relationships/slide" Target="slide28.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slideLayout" Target="../slideLayouts/slideLayout9.xml"/><Relationship Id="rId11" Type="http://schemas.openxmlformats.org/officeDocument/2006/relationships/slide" Target="slide9.xml"/><Relationship Id="rId5" Type="http://schemas.openxmlformats.org/officeDocument/2006/relationships/tags" Target="../tags/tag179.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178.xml"/><Relationship Id="rId9" Type="http://schemas.openxmlformats.org/officeDocument/2006/relationships/image" Target="../media/image24.emf"/><Relationship Id="rId14" Type="http://schemas.openxmlformats.org/officeDocument/2006/relationships/slide" Target="slide44.xml"/></Relationships>
</file>

<file path=ppt/slides/_rels/slide7.xml.rels><?xml version="1.0" encoding="UTF-8" standalone="yes"?>
<Relationships xmlns="http://schemas.openxmlformats.org/package/2006/relationships"><Relationship Id="rId8" Type="http://schemas.openxmlformats.org/officeDocument/2006/relationships/slide" Target="slide37.xml"/><Relationship Id="rId13" Type="http://schemas.openxmlformats.org/officeDocument/2006/relationships/slide" Target="slide9.xml"/><Relationship Id="rId3" Type="http://schemas.openxmlformats.org/officeDocument/2006/relationships/tags" Target="../tags/tag182.xml"/><Relationship Id="rId7" Type="http://schemas.openxmlformats.org/officeDocument/2006/relationships/slide" Target="slide12.xml"/><Relationship Id="rId12" Type="http://schemas.openxmlformats.org/officeDocument/2006/relationships/slide" Target="slide4.xml"/><Relationship Id="rId17" Type="http://schemas.openxmlformats.org/officeDocument/2006/relationships/slide" Target="slide53.xml"/><Relationship Id="rId2" Type="http://schemas.openxmlformats.org/officeDocument/2006/relationships/tags" Target="../tags/tag181.xml"/><Relationship Id="rId16" Type="http://schemas.openxmlformats.org/officeDocument/2006/relationships/slide" Target="slide44.xml"/><Relationship Id="rId1" Type="http://schemas.openxmlformats.org/officeDocument/2006/relationships/tags" Target="../tags/tag180.xml"/><Relationship Id="rId6" Type="http://schemas.openxmlformats.org/officeDocument/2006/relationships/notesSlide" Target="../notesSlides/notesSlide2.xml"/><Relationship Id="rId11" Type="http://schemas.openxmlformats.org/officeDocument/2006/relationships/image" Target="../media/image26.emf"/><Relationship Id="rId5" Type="http://schemas.openxmlformats.org/officeDocument/2006/relationships/slideLayout" Target="../slideLayouts/slideLayout9.xml"/><Relationship Id="rId15" Type="http://schemas.openxmlformats.org/officeDocument/2006/relationships/slide" Target="slide39.xml"/><Relationship Id="rId10" Type="http://schemas.openxmlformats.org/officeDocument/2006/relationships/image" Target="../media/image25.emf"/><Relationship Id="rId4" Type="http://schemas.openxmlformats.org/officeDocument/2006/relationships/tags" Target="../tags/tag183.xml"/><Relationship Id="rId9" Type="http://schemas.openxmlformats.org/officeDocument/2006/relationships/slide" Target="slide31.xml"/><Relationship Id="rId14" Type="http://schemas.openxmlformats.org/officeDocument/2006/relationships/slide" Target="slide28.xml"/></Relationships>
</file>

<file path=ppt/slides/_rels/slide8.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tags" Target="../tags/tag186.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image" Target="../media/image27.emf"/><Relationship Id="rId11" Type="http://schemas.openxmlformats.org/officeDocument/2006/relationships/slide" Target="slide44.xml"/><Relationship Id="rId5" Type="http://schemas.openxmlformats.org/officeDocument/2006/relationships/notesSlide" Target="../notesSlides/notesSlide3.xml"/><Relationship Id="rId10" Type="http://schemas.openxmlformats.org/officeDocument/2006/relationships/slide" Target="slide39.xml"/><Relationship Id="rId4" Type="http://schemas.openxmlformats.org/officeDocument/2006/relationships/slideLayout" Target="../slideLayouts/slideLayout9.xml"/><Relationship Id="rId9" Type="http://schemas.openxmlformats.org/officeDocument/2006/relationships/slide" Target="slide28.xml"/></Relationships>
</file>

<file path=ppt/slides/_rels/slide9.xml.rels><?xml version="1.0" encoding="UTF-8" standalone="yes"?>
<Relationships xmlns="http://schemas.openxmlformats.org/package/2006/relationships"><Relationship Id="rId8" Type="http://schemas.openxmlformats.org/officeDocument/2006/relationships/tags" Target="../tags/tag194.xml"/><Relationship Id="rId13" Type="http://schemas.openxmlformats.org/officeDocument/2006/relationships/slide" Target="slide10.xml"/><Relationship Id="rId3" Type="http://schemas.openxmlformats.org/officeDocument/2006/relationships/tags" Target="../tags/tag189.xml"/><Relationship Id="rId7" Type="http://schemas.openxmlformats.org/officeDocument/2006/relationships/tags" Target="../tags/tag193.xml"/><Relationship Id="rId12" Type="http://schemas.openxmlformats.org/officeDocument/2006/relationships/slide" Target="slide9.xml"/><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tags" Target="../tags/tag192.xml"/><Relationship Id="rId11" Type="http://schemas.openxmlformats.org/officeDocument/2006/relationships/slideLayout" Target="../slideLayouts/slideLayout34.xml"/><Relationship Id="rId5" Type="http://schemas.openxmlformats.org/officeDocument/2006/relationships/tags" Target="../tags/tag191.xml"/><Relationship Id="rId10" Type="http://schemas.openxmlformats.org/officeDocument/2006/relationships/tags" Target="../tags/tag196.xml"/><Relationship Id="rId4" Type="http://schemas.openxmlformats.org/officeDocument/2006/relationships/tags" Target="../tags/tag190.xml"/><Relationship Id="rId9" Type="http://schemas.openxmlformats.org/officeDocument/2006/relationships/tags" Target="../tags/tag195.xml"/><Relationship Id="rId14" Type="http://schemas.openxmlformats.org/officeDocument/2006/relationships/slide" Target="slide12.xml"/></Relationships>
</file>

<file path=ppt/slides/_rels/slide10.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199.xml"/><Relationship Id="rId7" Type="http://schemas.openxmlformats.org/officeDocument/2006/relationships/image" Target="../media/image28.emf"/><Relationship Id="rId12" Type="http://schemas.openxmlformats.org/officeDocument/2006/relationships/slide" Target="slide44.xml"/><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slideLayout" Target="../slideLayouts/slideLayout9.xml"/><Relationship Id="rId11" Type="http://schemas.openxmlformats.org/officeDocument/2006/relationships/slide" Target="slide39.xml"/><Relationship Id="rId5" Type="http://schemas.openxmlformats.org/officeDocument/2006/relationships/tags" Target="../tags/tag201.xml"/><Relationship Id="rId10" Type="http://schemas.openxmlformats.org/officeDocument/2006/relationships/slide" Target="slide28.xml"/><Relationship Id="rId4" Type="http://schemas.openxmlformats.org/officeDocument/2006/relationships/tags" Target="../tags/tag200.xml"/><Relationship Id="rId9" Type="http://schemas.openxmlformats.org/officeDocument/2006/relationships/slide" Target="slide9.xml"/></Relationships>
</file>

<file path=ppt/slides/_rels/slide11.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204.xml"/><Relationship Id="rId7" Type="http://schemas.openxmlformats.org/officeDocument/2006/relationships/image" Target="../media/image29.emf"/><Relationship Id="rId12" Type="http://schemas.openxmlformats.org/officeDocument/2006/relationships/slide" Target="slide44.xml"/><Relationship Id="rId2" Type="http://schemas.openxmlformats.org/officeDocument/2006/relationships/tags" Target="../tags/tag203.xml"/><Relationship Id="rId1" Type="http://schemas.openxmlformats.org/officeDocument/2006/relationships/tags" Target="../tags/tag202.xml"/><Relationship Id="rId6" Type="http://schemas.openxmlformats.org/officeDocument/2006/relationships/slideLayout" Target="../slideLayouts/slideLayout9.xml"/><Relationship Id="rId11" Type="http://schemas.openxmlformats.org/officeDocument/2006/relationships/slide" Target="slide39.xml"/><Relationship Id="rId5" Type="http://schemas.openxmlformats.org/officeDocument/2006/relationships/tags" Target="../tags/tag206.xml"/><Relationship Id="rId10" Type="http://schemas.openxmlformats.org/officeDocument/2006/relationships/slide" Target="slide28.xml"/><Relationship Id="rId4" Type="http://schemas.openxmlformats.org/officeDocument/2006/relationships/tags" Target="../tags/tag205.xml"/><Relationship Id="rId9" Type="http://schemas.openxmlformats.org/officeDocument/2006/relationships/slide" Target="slide9.xml"/></Relationships>
</file>

<file path=ppt/slides/_rels/slide12.xml.rels><?xml version="1.0" encoding="UTF-8" standalone="yes"?>
<Relationships xmlns="http://schemas.openxmlformats.org/package/2006/relationships"><Relationship Id="rId8" Type="http://schemas.openxmlformats.org/officeDocument/2006/relationships/image" Target="../media/image30.emf"/><Relationship Id="rId13" Type="http://schemas.openxmlformats.org/officeDocument/2006/relationships/slide" Target="slide39.xml"/><Relationship Id="rId3" Type="http://schemas.openxmlformats.org/officeDocument/2006/relationships/tags" Target="../tags/tag209.xml"/><Relationship Id="rId7" Type="http://schemas.openxmlformats.org/officeDocument/2006/relationships/slideLayout" Target="../slideLayouts/slideLayout9.xml"/><Relationship Id="rId12" Type="http://schemas.openxmlformats.org/officeDocument/2006/relationships/slide" Target="slide28.xml"/><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tags" Target="../tags/tag212.xml"/><Relationship Id="rId11" Type="http://schemas.openxmlformats.org/officeDocument/2006/relationships/slide" Target="slide9.xml"/><Relationship Id="rId5" Type="http://schemas.openxmlformats.org/officeDocument/2006/relationships/tags" Target="../tags/tag211.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210.xml"/><Relationship Id="rId9" Type="http://schemas.openxmlformats.org/officeDocument/2006/relationships/image" Target="../media/image31.emf"/><Relationship Id="rId14" Type="http://schemas.openxmlformats.org/officeDocument/2006/relationships/slide" Target="slide44.xml"/></Relationships>
</file>

<file path=ppt/slides/_rels/slide13.xml.rels><?xml version="1.0" encoding="UTF-8" standalone="yes"?>
<Relationships xmlns="http://schemas.openxmlformats.org/package/2006/relationships"><Relationship Id="rId8" Type="http://schemas.openxmlformats.org/officeDocument/2006/relationships/image" Target="../media/image33.emf"/><Relationship Id="rId13" Type="http://schemas.openxmlformats.org/officeDocument/2006/relationships/slide" Target="slide39.xml"/><Relationship Id="rId3" Type="http://schemas.openxmlformats.org/officeDocument/2006/relationships/tags" Target="../tags/tag215.xml"/><Relationship Id="rId7" Type="http://schemas.openxmlformats.org/officeDocument/2006/relationships/image" Target="../media/image32.emf"/><Relationship Id="rId12" Type="http://schemas.openxmlformats.org/officeDocument/2006/relationships/slide" Target="slide28.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slideLayout" Target="../slideLayouts/slideLayout9.xml"/><Relationship Id="rId11" Type="http://schemas.openxmlformats.org/officeDocument/2006/relationships/slide" Target="slide9.xml"/><Relationship Id="rId5" Type="http://schemas.openxmlformats.org/officeDocument/2006/relationships/tags" Target="../tags/tag217.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216.xml"/><Relationship Id="rId9" Type="http://schemas.openxmlformats.org/officeDocument/2006/relationships/image" Target="../media/image34.emf"/><Relationship Id="rId14" Type="http://schemas.openxmlformats.org/officeDocument/2006/relationships/slide" Target="slide44.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28.xml"/><Relationship Id="rId3" Type="http://schemas.openxmlformats.org/officeDocument/2006/relationships/tags" Target="../tags/tag220.xml"/><Relationship Id="rId7" Type="http://schemas.openxmlformats.org/officeDocument/2006/relationships/tags" Target="../tags/tag224.xml"/><Relationship Id="rId12" Type="http://schemas.openxmlformats.org/officeDocument/2006/relationships/slide" Target="slide9.xml"/><Relationship Id="rId17" Type="http://schemas.openxmlformats.org/officeDocument/2006/relationships/image" Target="../media/image37.emf"/><Relationship Id="rId2" Type="http://schemas.openxmlformats.org/officeDocument/2006/relationships/tags" Target="../tags/tag219.xml"/><Relationship Id="rId16" Type="http://schemas.openxmlformats.org/officeDocument/2006/relationships/slide" Target="slide53.xml"/><Relationship Id="rId1" Type="http://schemas.openxmlformats.org/officeDocument/2006/relationships/tags" Target="../tags/tag218.xml"/><Relationship Id="rId6" Type="http://schemas.openxmlformats.org/officeDocument/2006/relationships/tags" Target="../tags/tag223.xml"/><Relationship Id="rId11" Type="http://schemas.openxmlformats.org/officeDocument/2006/relationships/slide" Target="slide4.xml"/><Relationship Id="rId5" Type="http://schemas.openxmlformats.org/officeDocument/2006/relationships/tags" Target="../tags/tag222.xml"/><Relationship Id="rId15" Type="http://schemas.openxmlformats.org/officeDocument/2006/relationships/slide" Target="slide44.xml"/><Relationship Id="rId10" Type="http://schemas.openxmlformats.org/officeDocument/2006/relationships/image" Target="../media/image36.emf"/><Relationship Id="rId4" Type="http://schemas.openxmlformats.org/officeDocument/2006/relationships/tags" Target="../tags/tag221.xml"/><Relationship Id="rId9" Type="http://schemas.openxmlformats.org/officeDocument/2006/relationships/image" Target="../media/image35.emf"/><Relationship Id="rId14" Type="http://schemas.openxmlformats.org/officeDocument/2006/relationships/slide" Target="slide39.xml"/></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9.xml"/><Relationship Id="rId3" Type="http://schemas.openxmlformats.org/officeDocument/2006/relationships/tags" Target="../tags/tag227.xml"/><Relationship Id="rId7" Type="http://schemas.openxmlformats.org/officeDocument/2006/relationships/tags" Target="../tags/tag231.xml"/><Relationship Id="rId12" Type="http://schemas.openxmlformats.org/officeDocument/2006/relationships/slide" Target="slide4.xml"/><Relationship Id="rId17" Type="http://schemas.openxmlformats.org/officeDocument/2006/relationships/slide" Target="slide53.xml"/><Relationship Id="rId2" Type="http://schemas.openxmlformats.org/officeDocument/2006/relationships/tags" Target="../tags/tag226.xml"/><Relationship Id="rId16" Type="http://schemas.openxmlformats.org/officeDocument/2006/relationships/slide" Target="slide44.xml"/><Relationship Id="rId1" Type="http://schemas.openxmlformats.org/officeDocument/2006/relationships/tags" Target="../tags/tag225.xml"/><Relationship Id="rId6" Type="http://schemas.openxmlformats.org/officeDocument/2006/relationships/tags" Target="../tags/tag230.xml"/><Relationship Id="rId11" Type="http://schemas.openxmlformats.org/officeDocument/2006/relationships/image" Target="../media/image40.emf"/><Relationship Id="rId5" Type="http://schemas.openxmlformats.org/officeDocument/2006/relationships/tags" Target="../tags/tag229.xml"/><Relationship Id="rId15" Type="http://schemas.openxmlformats.org/officeDocument/2006/relationships/slide" Target="slide39.xml"/><Relationship Id="rId10" Type="http://schemas.openxmlformats.org/officeDocument/2006/relationships/image" Target="../media/image39.emf"/><Relationship Id="rId4" Type="http://schemas.openxmlformats.org/officeDocument/2006/relationships/tags" Target="../tags/tag228.xml"/><Relationship Id="rId9" Type="http://schemas.openxmlformats.org/officeDocument/2006/relationships/image" Target="../media/image38.emf"/><Relationship Id="rId14" Type="http://schemas.openxmlformats.org/officeDocument/2006/relationships/slide" Target="slide28.xml"/></Relationships>
</file>

<file path=ppt/slides/_rels/slide16.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234.xml"/><Relationship Id="rId7" Type="http://schemas.openxmlformats.org/officeDocument/2006/relationships/image" Target="../media/image41.emf"/><Relationship Id="rId12" Type="http://schemas.openxmlformats.org/officeDocument/2006/relationships/slide" Target="slide44.xml"/><Relationship Id="rId2" Type="http://schemas.openxmlformats.org/officeDocument/2006/relationships/tags" Target="../tags/tag233.xml"/><Relationship Id="rId1" Type="http://schemas.openxmlformats.org/officeDocument/2006/relationships/tags" Target="../tags/tag232.xml"/><Relationship Id="rId6" Type="http://schemas.openxmlformats.org/officeDocument/2006/relationships/slideLayout" Target="../slideLayouts/slideLayout9.xml"/><Relationship Id="rId11" Type="http://schemas.openxmlformats.org/officeDocument/2006/relationships/slide" Target="slide39.xml"/><Relationship Id="rId5" Type="http://schemas.openxmlformats.org/officeDocument/2006/relationships/tags" Target="../tags/tag236.xml"/><Relationship Id="rId10" Type="http://schemas.openxmlformats.org/officeDocument/2006/relationships/slide" Target="slide28.xml"/><Relationship Id="rId4" Type="http://schemas.openxmlformats.org/officeDocument/2006/relationships/tags" Target="../tags/tag235.xml"/><Relationship Id="rId9" Type="http://schemas.openxmlformats.org/officeDocument/2006/relationships/slide" Target="slide9.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9.xml"/><Relationship Id="rId3" Type="http://schemas.openxmlformats.org/officeDocument/2006/relationships/tags" Target="../tags/tag239.xml"/><Relationship Id="rId7" Type="http://schemas.openxmlformats.org/officeDocument/2006/relationships/tags" Target="../tags/tag243.xml"/><Relationship Id="rId12" Type="http://schemas.openxmlformats.org/officeDocument/2006/relationships/slide" Target="slide4.xml"/><Relationship Id="rId17" Type="http://schemas.openxmlformats.org/officeDocument/2006/relationships/slide" Target="slide53.xml"/><Relationship Id="rId2" Type="http://schemas.openxmlformats.org/officeDocument/2006/relationships/tags" Target="../tags/tag238.xml"/><Relationship Id="rId16" Type="http://schemas.openxmlformats.org/officeDocument/2006/relationships/slide" Target="slide44.xml"/><Relationship Id="rId1" Type="http://schemas.openxmlformats.org/officeDocument/2006/relationships/tags" Target="../tags/tag237.xml"/><Relationship Id="rId6" Type="http://schemas.openxmlformats.org/officeDocument/2006/relationships/tags" Target="../tags/tag242.xml"/><Relationship Id="rId11" Type="http://schemas.openxmlformats.org/officeDocument/2006/relationships/image" Target="../media/image44.emf"/><Relationship Id="rId5" Type="http://schemas.openxmlformats.org/officeDocument/2006/relationships/tags" Target="../tags/tag241.xml"/><Relationship Id="rId15" Type="http://schemas.openxmlformats.org/officeDocument/2006/relationships/slide" Target="slide39.xml"/><Relationship Id="rId10" Type="http://schemas.openxmlformats.org/officeDocument/2006/relationships/image" Target="../media/image43.emf"/><Relationship Id="rId4" Type="http://schemas.openxmlformats.org/officeDocument/2006/relationships/tags" Target="../tags/tag240.xml"/><Relationship Id="rId9" Type="http://schemas.openxmlformats.org/officeDocument/2006/relationships/image" Target="../media/image42.emf"/><Relationship Id="rId14" Type="http://schemas.openxmlformats.org/officeDocument/2006/relationships/slide" Target="slide28.xml"/></Relationships>
</file>

<file path=ppt/slides/_rels/slide18.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4.xml"/><Relationship Id="rId18" Type="http://schemas.openxmlformats.org/officeDocument/2006/relationships/slide" Target="slide53.xml"/><Relationship Id="rId3" Type="http://schemas.openxmlformats.org/officeDocument/2006/relationships/tags" Target="../tags/tag246.xml"/><Relationship Id="rId7" Type="http://schemas.openxmlformats.org/officeDocument/2006/relationships/tags" Target="../tags/tag250.xml"/><Relationship Id="rId12" Type="http://schemas.openxmlformats.org/officeDocument/2006/relationships/image" Target="../media/image47.emf"/><Relationship Id="rId17" Type="http://schemas.openxmlformats.org/officeDocument/2006/relationships/slide" Target="slide44.xml"/><Relationship Id="rId2" Type="http://schemas.openxmlformats.org/officeDocument/2006/relationships/tags" Target="../tags/tag245.xml"/><Relationship Id="rId16" Type="http://schemas.openxmlformats.org/officeDocument/2006/relationships/slide" Target="slide39.xml"/><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image" Target="../media/image46.emf"/><Relationship Id="rId5" Type="http://schemas.openxmlformats.org/officeDocument/2006/relationships/tags" Target="../tags/tag248.xml"/><Relationship Id="rId15" Type="http://schemas.openxmlformats.org/officeDocument/2006/relationships/slide" Target="slide28.xml"/><Relationship Id="rId10" Type="http://schemas.openxmlformats.org/officeDocument/2006/relationships/image" Target="../media/image45.emf"/><Relationship Id="rId4" Type="http://schemas.openxmlformats.org/officeDocument/2006/relationships/tags" Target="../tags/tag247.xml"/><Relationship Id="rId9" Type="http://schemas.openxmlformats.org/officeDocument/2006/relationships/notesSlide" Target="../notesSlides/notesSlide4.xml"/><Relationship Id="rId14" Type="http://schemas.openxmlformats.org/officeDocument/2006/relationships/slide" Target="slide9.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9.xml"/><Relationship Id="rId3" Type="http://schemas.openxmlformats.org/officeDocument/2006/relationships/tags" Target="../tags/tag253.xml"/><Relationship Id="rId7" Type="http://schemas.openxmlformats.org/officeDocument/2006/relationships/tags" Target="../tags/tag257.xml"/><Relationship Id="rId12" Type="http://schemas.openxmlformats.org/officeDocument/2006/relationships/slide" Target="slide4.xml"/><Relationship Id="rId17" Type="http://schemas.openxmlformats.org/officeDocument/2006/relationships/slide" Target="slide53.xml"/><Relationship Id="rId2" Type="http://schemas.openxmlformats.org/officeDocument/2006/relationships/tags" Target="../tags/tag252.xml"/><Relationship Id="rId16" Type="http://schemas.openxmlformats.org/officeDocument/2006/relationships/slide" Target="slide44.xml"/><Relationship Id="rId1" Type="http://schemas.openxmlformats.org/officeDocument/2006/relationships/tags" Target="../tags/tag251.xml"/><Relationship Id="rId6" Type="http://schemas.openxmlformats.org/officeDocument/2006/relationships/tags" Target="../tags/tag256.xml"/><Relationship Id="rId11" Type="http://schemas.openxmlformats.org/officeDocument/2006/relationships/image" Target="../media/image50.emf"/><Relationship Id="rId5" Type="http://schemas.openxmlformats.org/officeDocument/2006/relationships/tags" Target="../tags/tag255.xml"/><Relationship Id="rId15" Type="http://schemas.openxmlformats.org/officeDocument/2006/relationships/slide" Target="slide39.xml"/><Relationship Id="rId10" Type="http://schemas.openxmlformats.org/officeDocument/2006/relationships/image" Target="../media/image49.emf"/><Relationship Id="rId4" Type="http://schemas.openxmlformats.org/officeDocument/2006/relationships/tags" Target="../tags/tag254.xml"/><Relationship Id="rId9" Type="http://schemas.openxmlformats.org/officeDocument/2006/relationships/image" Target="../media/image48.emf"/><Relationship Id="rId14" Type="http://schemas.openxmlformats.org/officeDocument/2006/relationships/slide" Target="slide28.xml"/></Relationships>
</file>

<file path=ppt/slides/_rels/slide20.xml.rels><?xml version="1.0" encoding="UTF-8" standalone="yes"?>
<Relationships xmlns="http://schemas.openxmlformats.org/package/2006/relationships"><Relationship Id="rId8" Type="http://schemas.openxmlformats.org/officeDocument/2006/relationships/image" Target="../media/image51.emf"/><Relationship Id="rId13" Type="http://schemas.openxmlformats.org/officeDocument/2006/relationships/slide" Target="slide39.xml"/><Relationship Id="rId3" Type="http://schemas.openxmlformats.org/officeDocument/2006/relationships/tags" Target="../tags/tag260.xml"/><Relationship Id="rId7" Type="http://schemas.openxmlformats.org/officeDocument/2006/relationships/slideLayout" Target="../slideLayouts/slideLayout9.xml"/><Relationship Id="rId12" Type="http://schemas.openxmlformats.org/officeDocument/2006/relationships/slide" Target="slide28.xml"/><Relationship Id="rId2" Type="http://schemas.openxmlformats.org/officeDocument/2006/relationships/tags" Target="../tags/tag259.xml"/><Relationship Id="rId1" Type="http://schemas.openxmlformats.org/officeDocument/2006/relationships/tags" Target="../tags/tag258.xml"/><Relationship Id="rId6" Type="http://schemas.openxmlformats.org/officeDocument/2006/relationships/tags" Target="../tags/tag263.xml"/><Relationship Id="rId11" Type="http://schemas.openxmlformats.org/officeDocument/2006/relationships/slide" Target="slide9.xml"/><Relationship Id="rId5" Type="http://schemas.openxmlformats.org/officeDocument/2006/relationships/tags" Target="../tags/tag262.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261.xml"/><Relationship Id="rId9" Type="http://schemas.openxmlformats.org/officeDocument/2006/relationships/image" Target="../media/image52.emf"/><Relationship Id="rId14" Type="http://schemas.openxmlformats.org/officeDocument/2006/relationships/slide" Target="slide44.xml"/></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9.xml"/><Relationship Id="rId3" Type="http://schemas.openxmlformats.org/officeDocument/2006/relationships/tags" Target="../tags/tag266.xml"/><Relationship Id="rId7" Type="http://schemas.openxmlformats.org/officeDocument/2006/relationships/tags" Target="../tags/tag270.xml"/><Relationship Id="rId12" Type="http://schemas.openxmlformats.org/officeDocument/2006/relationships/slide" Target="slide4.xml"/><Relationship Id="rId17" Type="http://schemas.openxmlformats.org/officeDocument/2006/relationships/slide" Target="slide53.xml"/><Relationship Id="rId2" Type="http://schemas.openxmlformats.org/officeDocument/2006/relationships/tags" Target="../tags/tag265.xml"/><Relationship Id="rId16" Type="http://schemas.openxmlformats.org/officeDocument/2006/relationships/slide" Target="slide44.xml"/><Relationship Id="rId1" Type="http://schemas.openxmlformats.org/officeDocument/2006/relationships/tags" Target="../tags/tag264.xml"/><Relationship Id="rId6" Type="http://schemas.openxmlformats.org/officeDocument/2006/relationships/tags" Target="../tags/tag269.xml"/><Relationship Id="rId11" Type="http://schemas.openxmlformats.org/officeDocument/2006/relationships/image" Target="../media/image55.emf"/><Relationship Id="rId5" Type="http://schemas.openxmlformats.org/officeDocument/2006/relationships/tags" Target="../tags/tag268.xml"/><Relationship Id="rId15" Type="http://schemas.openxmlformats.org/officeDocument/2006/relationships/slide" Target="slide39.xml"/><Relationship Id="rId10" Type="http://schemas.openxmlformats.org/officeDocument/2006/relationships/image" Target="../media/image54.emf"/><Relationship Id="rId4" Type="http://schemas.openxmlformats.org/officeDocument/2006/relationships/tags" Target="../tags/tag267.xml"/><Relationship Id="rId9" Type="http://schemas.openxmlformats.org/officeDocument/2006/relationships/image" Target="../media/image53.emf"/><Relationship Id="rId14" Type="http://schemas.openxmlformats.org/officeDocument/2006/relationships/slide" Target="slide28.xml"/></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39.xml"/><Relationship Id="rId3" Type="http://schemas.openxmlformats.org/officeDocument/2006/relationships/tags" Target="../tags/tag273.xml"/><Relationship Id="rId7" Type="http://schemas.openxmlformats.org/officeDocument/2006/relationships/tags" Target="../tags/tag277.xml"/><Relationship Id="rId12" Type="http://schemas.openxmlformats.org/officeDocument/2006/relationships/slide" Target="slide28.xml"/><Relationship Id="rId17" Type="http://schemas.openxmlformats.org/officeDocument/2006/relationships/image" Target="../media/image58.emf"/><Relationship Id="rId2" Type="http://schemas.openxmlformats.org/officeDocument/2006/relationships/tags" Target="../tags/tag272.xml"/><Relationship Id="rId16" Type="http://schemas.openxmlformats.org/officeDocument/2006/relationships/image" Target="../media/image57.emf"/><Relationship Id="rId1" Type="http://schemas.openxmlformats.org/officeDocument/2006/relationships/tags" Target="../tags/tag271.xml"/><Relationship Id="rId6" Type="http://schemas.openxmlformats.org/officeDocument/2006/relationships/tags" Target="../tags/tag276.xml"/><Relationship Id="rId11" Type="http://schemas.openxmlformats.org/officeDocument/2006/relationships/slide" Target="slide9.xml"/><Relationship Id="rId5" Type="http://schemas.openxmlformats.org/officeDocument/2006/relationships/tags" Target="../tags/tag275.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274.xml"/><Relationship Id="rId9" Type="http://schemas.openxmlformats.org/officeDocument/2006/relationships/image" Target="../media/image56.emf"/><Relationship Id="rId14" Type="http://schemas.openxmlformats.org/officeDocument/2006/relationships/slide" Target="slide44.xml"/></Relationships>
</file>

<file path=ppt/slides/_rels/slide23.xml.rels><?xml version="1.0" encoding="UTF-8" standalone="yes"?>
<Relationships xmlns="http://schemas.openxmlformats.org/package/2006/relationships"><Relationship Id="rId8" Type="http://schemas.openxmlformats.org/officeDocument/2006/relationships/image" Target="../media/image59.emf"/><Relationship Id="rId13" Type="http://schemas.openxmlformats.org/officeDocument/2006/relationships/slide" Target="slide39.xml"/><Relationship Id="rId3" Type="http://schemas.openxmlformats.org/officeDocument/2006/relationships/tags" Target="../tags/tag280.xml"/><Relationship Id="rId7" Type="http://schemas.openxmlformats.org/officeDocument/2006/relationships/slideLayout" Target="../slideLayouts/slideLayout9.xml"/><Relationship Id="rId12" Type="http://schemas.openxmlformats.org/officeDocument/2006/relationships/slide" Target="slide28.xml"/><Relationship Id="rId2" Type="http://schemas.openxmlformats.org/officeDocument/2006/relationships/tags" Target="../tags/tag279.xml"/><Relationship Id="rId1" Type="http://schemas.openxmlformats.org/officeDocument/2006/relationships/tags" Target="../tags/tag278.xml"/><Relationship Id="rId6" Type="http://schemas.openxmlformats.org/officeDocument/2006/relationships/tags" Target="../tags/tag283.xml"/><Relationship Id="rId11" Type="http://schemas.openxmlformats.org/officeDocument/2006/relationships/slide" Target="slide9.xml"/><Relationship Id="rId5" Type="http://schemas.openxmlformats.org/officeDocument/2006/relationships/tags" Target="../tags/tag282.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281.xml"/><Relationship Id="rId9" Type="http://schemas.openxmlformats.org/officeDocument/2006/relationships/image" Target="../media/image60.emf"/><Relationship Id="rId14" Type="http://schemas.openxmlformats.org/officeDocument/2006/relationships/slide" Target="slide44.xml"/></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4.xml"/><Relationship Id="rId18" Type="http://schemas.openxmlformats.org/officeDocument/2006/relationships/slide" Target="slide53.xml"/><Relationship Id="rId3" Type="http://schemas.openxmlformats.org/officeDocument/2006/relationships/tags" Target="../tags/tag286.xml"/><Relationship Id="rId7" Type="http://schemas.openxmlformats.org/officeDocument/2006/relationships/tags" Target="../tags/tag290.xml"/><Relationship Id="rId12" Type="http://schemas.openxmlformats.org/officeDocument/2006/relationships/image" Target="../media/image63.emf"/><Relationship Id="rId17" Type="http://schemas.openxmlformats.org/officeDocument/2006/relationships/slide" Target="slide44.xml"/><Relationship Id="rId2" Type="http://schemas.openxmlformats.org/officeDocument/2006/relationships/tags" Target="../tags/tag285.xml"/><Relationship Id="rId16" Type="http://schemas.openxmlformats.org/officeDocument/2006/relationships/slide" Target="slide39.xml"/><Relationship Id="rId1" Type="http://schemas.openxmlformats.org/officeDocument/2006/relationships/tags" Target="../tags/tag284.xml"/><Relationship Id="rId6" Type="http://schemas.openxmlformats.org/officeDocument/2006/relationships/tags" Target="../tags/tag289.xml"/><Relationship Id="rId11" Type="http://schemas.openxmlformats.org/officeDocument/2006/relationships/image" Target="../media/image62.emf"/><Relationship Id="rId5" Type="http://schemas.openxmlformats.org/officeDocument/2006/relationships/tags" Target="../tags/tag288.xml"/><Relationship Id="rId15" Type="http://schemas.openxmlformats.org/officeDocument/2006/relationships/slide" Target="slide28.xml"/><Relationship Id="rId10" Type="http://schemas.openxmlformats.org/officeDocument/2006/relationships/image" Target="../media/image61.emf"/><Relationship Id="rId4" Type="http://schemas.openxmlformats.org/officeDocument/2006/relationships/tags" Target="../tags/tag287.xml"/><Relationship Id="rId9" Type="http://schemas.openxmlformats.org/officeDocument/2006/relationships/notesSlide" Target="../notesSlides/notesSlide5.xml"/><Relationship Id="rId14" Type="http://schemas.openxmlformats.org/officeDocument/2006/relationships/slide" Target="slide9.xml"/></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 Target="slide9.xml"/><Relationship Id="rId3" Type="http://schemas.openxmlformats.org/officeDocument/2006/relationships/tags" Target="../tags/tag293.xml"/><Relationship Id="rId7" Type="http://schemas.openxmlformats.org/officeDocument/2006/relationships/tags" Target="../tags/tag297.xml"/><Relationship Id="rId12" Type="http://schemas.openxmlformats.org/officeDocument/2006/relationships/slide" Target="slide4.xml"/><Relationship Id="rId17" Type="http://schemas.openxmlformats.org/officeDocument/2006/relationships/slide" Target="slide53.xml"/><Relationship Id="rId2" Type="http://schemas.openxmlformats.org/officeDocument/2006/relationships/tags" Target="../tags/tag292.xml"/><Relationship Id="rId16" Type="http://schemas.openxmlformats.org/officeDocument/2006/relationships/slide" Target="slide44.xml"/><Relationship Id="rId1" Type="http://schemas.openxmlformats.org/officeDocument/2006/relationships/tags" Target="../tags/tag291.xml"/><Relationship Id="rId6" Type="http://schemas.openxmlformats.org/officeDocument/2006/relationships/tags" Target="../tags/tag296.xml"/><Relationship Id="rId11" Type="http://schemas.openxmlformats.org/officeDocument/2006/relationships/image" Target="../media/image66.emf"/><Relationship Id="rId5" Type="http://schemas.openxmlformats.org/officeDocument/2006/relationships/tags" Target="../tags/tag295.xml"/><Relationship Id="rId15" Type="http://schemas.openxmlformats.org/officeDocument/2006/relationships/slide" Target="slide39.xml"/><Relationship Id="rId10" Type="http://schemas.openxmlformats.org/officeDocument/2006/relationships/image" Target="../media/image65.emf"/><Relationship Id="rId4" Type="http://schemas.openxmlformats.org/officeDocument/2006/relationships/tags" Target="../tags/tag294.xml"/><Relationship Id="rId9" Type="http://schemas.openxmlformats.org/officeDocument/2006/relationships/image" Target="../media/image64.emf"/><Relationship Id="rId14" Type="http://schemas.openxmlformats.org/officeDocument/2006/relationships/slide" Target="slide28.xml"/></Relationships>
</file>

<file path=ppt/slides/_rels/slide26.xml.rels><?xml version="1.0" encoding="UTF-8" standalone="yes"?>
<Relationships xmlns="http://schemas.openxmlformats.org/package/2006/relationships"><Relationship Id="rId8" Type="http://schemas.microsoft.com/office/2018/10/relationships/comments" Target="../comments/modernComment_129C_39FE3A84.xml"/><Relationship Id="rId13" Type="http://schemas.openxmlformats.org/officeDocument/2006/relationships/slide" Target="slide28.xml"/><Relationship Id="rId3" Type="http://schemas.openxmlformats.org/officeDocument/2006/relationships/tags" Target="../tags/tag300.xml"/><Relationship Id="rId7" Type="http://schemas.openxmlformats.org/officeDocument/2006/relationships/slideLayout" Target="../slideLayouts/slideLayout9.xml"/><Relationship Id="rId12" Type="http://schemas.openxmlformats.org/officeDocument/2006/relationships/slide" Target="slide9.xml"/><Relationship Id="rId2" Type="http://schemas.openxmlformats.org/officeDocument/2006/relationships/tags" Target="../tags/tag299.xml"/><Relationship Id="rId16" Type="http://schemas.openxmlformats.org/officeDocument/2006/relationships/slide" Target="slide53.xml"/><Relationship Id="rId1" Type="http://schemas.openxmlformats.org/officeDocument/2006/relationships/tags" Target="../tags/tag298.xml"/><Relationship Id="rId6" Type="http://schemas.openxmlformats.org/officeDocument/2006/relationships/tags" Target="../tags/tag303.xml"/><Relationship Id="rId11" Type="http://schemas.openxmlformats.org/officeDocument/2006/relationships/slide" Target="slide4.xml"/><Relationship Id="rId5" Type="http://schemas.openxmlformats.org/officeDocument/2006/relationships/tags" Target="../tags/tag302.xml"/><Relationship Id="rId15" Type="http://schemas.openxmlformats.org/officeDocument/2006/relationships/slide" Target="slide44.xml"/><Relationship Id="rId10" Type="http://schemas.openxmlformats.org/officeDocument/2006/relationships/image" Target="../media/image68.emf"/><Relationship Id="rId4" Type="http://schemas.openxmlformats.org/officeDocument/2006/relationships/tags" Target="../tags/tag301.xml"/><Relationship Id="rId9" Type="http://schemas.openxmlformats.org/officeDocument/2006/relationships/image" Target="../media/image67.emf"/><Relationship Id="rId14" Type="http://schemas.openxmlformats.org/officeDocument/2006/relationships/slide" Target="slide39.xml"/></Relationships>
</file>

<file path=ppt/slides/_rels/slide27.xml.rels><?xml version="1.0" encoding="UTF-8" standalone="yes"?>
<Relationships xmlns="http://schemas.openxmlformats.org/package/2006/relationships"><Relationship Id="rId8" Type="http://schemas.openxmlformats.org/officeDocument/2006/relationships/tags" Target="../tags/tag311.xml"/><Relationship Id="rId13" Type="http://schemas.openxmlformats.org/officeDocument/2006/relationships/image" Target="../media/image72.emf"/><Relationship Id="rId18" Type="http://schemas.openxmlformats.org/officeDocument/2006/relationships/slide" Target="slide44.xml"/><Relationship Id="rId3" Type="http://schemas.openxmlformats.org/officeDocument/2006/relationships/tags" Target="../tags/tag306.xml"/><Relationship Id="rId7" Type="http://schemas.openxmlformats.org/officeDocument/2006/relationships/tags" Target="../tags/tag310.xml"/><Relationship Id="rId12" Type="http://schemas.openxmlformats.org/officeDocument/2006/relationships/image" Target="../media/image71.emf"/><Relationship Id="rId17" Type="http://schemas.openxmlformats.org/officeDocument/2006/relationships/slide" Target="slide39.xml"/><Relationship Id="rId2" Type="http://schemas.openxmlformats.org/officeDocument/2006/relationships/tags" Target="../tags/tag305.xml"/><Relationship Id="rId16" Type="http://schemas.openxmlformats.org/officeDocument/2006/relationships/slide" Target="slide28.xml"/><Relationship Id="rId1" Type="http://schemas.openxmlformats.org/officeDocument/2006/relationships/tags" Target="../tags/tag304.xml"/><Relationship Id="rId6" Type="http://schemas.openxmlformats.org/officeDocument/2006/relationships/tags" Target="../tags/tag309.xml"/><Relationship Id="rId11" Type="http://schemas.openxmlformats.org/officeDocument/2006/relationships/image" Target="../media/image70.emf"/><Relationship Id="rId5" Type="http://schemas.openxmlformats.org/officeDocument/2006/relationships/tags" Target="../tags/tag308.xml"/><Relationship Id="rId15" Type="http://schemas.openxmlformats.org/officeDocument/2006/relationships/slide" Target="slide9.xml"/><Relationship Id="rId10" Type="http://schemas.openxmlformats.org/officeDocument/2006/relationships/image" Target="../media/image69.emf"/><Relationship Id="rId19" Type="http://schemas.openxmlformats.org/officeDocument/2006/relationships/slide" Target="slide53.xml"/><Relationship Id="rId4" Type="http://schemas.openxmlformats.org/officeDocument/2006/relationships/tags" Target="../tags/tag307.xml"/><Relationship Id="rId9" Type="http://schemas.openxmlformats.org/officeDocument/2006/relationships/slideLayout" Target="../slideLayouts/slideLayout9.xml"/><Relationship Id="rId14" Type="http://schemas.openxmlformats.org/officeDocument/2006/relationships/slide" Target="slide4.xml"/></Relationships>
</file>

<file path=ppt/slides/_rels/slide28.xml.rels><?xml version="1.0" encoding="UTF-8" standalone="yes"?>
<Relationships xmlns="http://schemas.openxmlformats.org/package/2006/relationships"><Relationship Id="rId8" Type="http://schemas.openxmlformats.org/officeDocument/2006/relationships/tags" Target="../tags/tag319.xml"/><Relationship Id="rId13" Type="http://schemas.openxmlformats.org/officeDocument/2006/relationships/tags" Target="../tags/tag324.xml"/><Relationship Id="rId18" Type="http://schemas.openxmlformats.org/officeDocument/2006/relationships/slide" Target="slide38.xml"/><Relationship Id="rId3" Type="http://schemas.openxmlformats.org/officeDocument/2006/relationships/tags" Target="../tags/tag314.xml"/><Relationship Id="rId7" Type="http://schemas.openxmlformats.org/officeDocument/2006/relationships/tags" Target="../tags/tag318.xml"/><Relationship Id="rId12" Type="http://schemas.openxmlformats.org/officeDocument/2006/relationships/tags" Target="../tags/tag323.xml"/><Relationship Id="rId17" Type="http://schemas.openxmlformats.org/officeDocument/2006/relationships/slide" Target="slide31.xml"/><Relationship Id="rId2" Type="http://schemas.openxmlformats.org/officeDocument/2006/relationships/tags" Target="../tags/tag313.xml"/><Relationship Id="rId16" Type="http://schemas.openxmlformats.org/officeDocument/2006/relationships/slide" Target="slide29.xml"/><Relationship Id="rId1" Type="http://schemas.openxmlformats.org/officeDocument/2006/relationships/tags" Target="../tags/tag312.xml"/><Relationship Id="rId6" Type="http://schemas.openxmlformats.org/officeDocument/2006/relationships/tags" Target="../tags/tag317.xml"/><Relationship Id="rId11" Type="http://schemas.openxmlformats.org/officeDocument/2006/relationships/tags" Target="../tags/tag322.xml"/><Relationship Id="rId5" Type="http://schemas.openxmlformats.org/officeDocument/2006/relationships/tags" Target="../tags/tag316.xml"/><Relationship Id="rId15" Type="http://schemas.openxmlformats.org/officeDocument/2006/relationships/slide" Target="slide28.xml"/><Relationship Id="rId10" Type="http://schemas.openxmlformats.org/officeDocument/2006/relationships/tags" Target="../tags/tag321.xml"/><Relationship Id="rId4" Type="http://schemas.openxmlformats.org/officeDocument/2006/relationships/tags" Target="../tags/tag315.xml"/><Relationship Id="rId9" Type="http://schemas.openxmlformats.org/officeDocument/2006/relationships/tags" Target="../tags/tag320.xml"/><Relationship Id="rId14"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image" Target="../media/image73.emf"/><Relationship Id="rId3" Type="http://schemas.openxmlformats.org/officeDocument/2006/relationships/tags" Target="../tags/tag327.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326.xml"/><Relationship Id="rId1" Type="http://schemas.openxmlformats.org/officeDocument/2006/relationships/tags" Target="../tags/tag325.xml"/><Relationship Id="rId6" Type="http://schemas.openxmlformats.org/officeDocument/2006/relationships/slideLayout" Target="../slideLayouts/slideLayout9.xml"/><Relationship Id="rId11" Type="http://schemas.openxmlformats.org/officeDocument/2006/relationships/slide" Target="slide44.xml"/><Relationship Id="rId5" Type="http://schemas.openxmlformats.org/officeDocument/2006/relationships/tags" Target="../tags/tag329.xml"/><Relationship Id="rId10" Type="http://schemas.openxmlformats.org/officeDocument/2006/relationships/slide" Target="slide39.xml"/><Relationship Id="rId4" Type="http://schemas.openxmlformats.org/officeDocument/2006/relationships/tags" Target="../tags/tag328.xml"/><Relationship Id="rId9" Type="http://schemas.openxmlformats.org/officeDocument/2006/relationships/slide" Target="slide28.xml"/></Relationships>
</file>

<file path=ppt/slides/_rels/slide30.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332.xml"/><Relationship Id="rId7" Type="http://schemas.openxmlformats.org/officeDocument/2006/relationships/notesSlide" Target="../notesSlides/notesSlide6.xml"/><Relationship Id="rId12" Type="http://schemas.openxmlformats.org/officeDocument/2006/relationships/slide" Target="slide44.xml"/><Relationship Id="rId2" Type="http://schemas.openxmlformats.org/officeDocument/2006/relationships/tags" Target="../tags/tag331.xml"/><Relationship Id="rId1" Type="http://schemas.openxmlformats.org/officeDocument/2006/relationships/tags" Target="../tags/tag330.xml"/><Relationship Id="rId6" Type="http://schemas.openxmlformats.org/officeDocument/2006/relationships/slideLayout" Target="../slideLayouts/slideLayout9.xml"/><Relationship Id="rId11" Type="http://schemas.openxmlformats.org/officeDocument/2006/relationships/slide" Target="slide39.xml"/><Relationship Id="rId5" Type="http://schemas.openxmlformats.org/officeDocument/2006/relationships/tags" Target="../tags/tag334.xml"/><Relationship Id="rId10" Type="http://schemas.openxmlformats.org/officeDocument/2006/relationships/slide" Target="slide28.xml"/><Relationship Id="rId4" Type="http://schemas.openxmlformats.org/officeDocument/2006/relationships/tags" Target="../tags/tag333.xml"/><Relationship Id="rId9" Type="http://schemas.openxmlformats.org/officeDocument/2006/relationships/slide" Target="slide9.xml"/><Relationship Id="rId14" Type="http://schemas.openxmlformats.org/officeDocument/2006/relationships/image" Target="../media/image73.emf"/></Relationships>
</file>

<file path=ppt/slides/_rels/slide31.xml.rels><?xml version="1.0" encoding="UTF-8" standalone="yes"?>
<Relationships xmlns="http://schemas.openxmlformats.org/package/2006/relationships"><Relationship Id="rId8" Type="http://schemas.openxmlformats.org/officeDocument/2006/relationships/image" Target="../media/image74.emf"/><Relationship Id="rId13" Type="http://schemas.openxmlformats.org/officeDocument/2006/relationships/slide" Target="slide39.xml"/><Relationship Id="rId3" Type="http://schemas.openxmlformats.org/officeDocument/2006/relationships/tags" Target="../tags/tag337.xml"/><Relationship Id="rId7" Type="http://schemas.openxmlformats.org/officeDocument/2006/relationships/slideLayout" Target="../slideLayouts/slideLayout9.xml"/><Relationship Id="rId12" Type="http://schemas.openxmlformats.org/officeDocument/2006/relationships/slide" Target="slide28.xml"/><Relationship Id="rId2" Type="http://schemas.openxmlformats.org/officeDocument/2006/relationships/tags" Target="../tags/tag336.xml"/><Relationship Id="rId1" Type="http://schemas.openxmlformats.org/officeDocument/2006/relationships/tags" Target="../tags/tag335.xml"/><Relationship Id="rId6" Type="http://schemas.openxmlformats.org/officeDocument/2006/relationships/tags" Target="../tags/tag340.xml"/><Relationship Id="rId11" Type="http://schemas.openxmlformats.org/officeDocument/2006/relationships/slide" Target="slide9.xml"/><Relationship Id="rId5" Type="http://schemas.openxmlformats.org/officeDocument/2006/relationships/tags" Target="../tags/tag339.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338.xml"/><Relationship Id="rId9" Type="http://schemas.openxmlformats.org/officeDocument/2006/relationships/image" Target="../media/image75.emf"/><Relationship Id="rId14" Type="http://schemas.openxmlformats.org/officeDocument/2006/relationships/slide" Target="slide44.xml"/></Relationships>
</file>

<file path=ppt/slides/_rels/slide32.xml.rels><?xml version="1.0" encoding="UTF-8" standalone="yes"?>
<Relationships xmlns="http://schemas.openxmlformats.org/package/2006/relationships"><Relationship Id="rId8" Type="http://schemas.openxmlformats.org/officeDocument/2006/relationships/image" Target="../media/image77.emf"/><Relationship Id="rId13" Type="http://schemas.openxmlformats.org/officeDocument/2006/relationships/slide" Target="slide44.xml"/><Relationship Id="rId3" Type="http://schemas.openxmlformats.org/officeDocument/2006/relationships/tags" Target="../tags/tag343.xml"/><Relationship Id="rId7" Type="http://schemas.openxmlformats.org/officeDocument/2006/relationships/image" Target="../media/image76.emf"/><Relationship Id="rId12" Type="http://schemas.openxmlformats.org/officeDocument/2006/relationships/slide" Target="slide39.xml"/><Relationship Id="rId2" Type="http://schemas.openxmlformats.org/officeDocument/2006/relationships/tags" Target="../tags/tag342.xml"/><Relationship Id="rId1" Type="http://schemas.openxmlformats.org/officeDocument/2006/relationships/tags" Target="../tags/tag341.xml"/><Relationship Id="rId6" Type="http://schemas.openxmlformats.org/officeDocument/2006/relationships/slideLayout" Target="../slideLayouts/slideLayout9.xml"/><Relationship Id="rId11" Type="http://schemas.openxmlformats.org/officeDocument/2006/relationships/slide" Target="slide28.xml"/><Relationship Id="rId5" Type="http://schemas.openxmlformats.org/officeDocument/2006/relationships/tags" Target="../tags/tag345.xml"/><Relationship Id="rId10" Type="http://schemas.openxmlformats.org/officeDocument/2006/relationships/slide" Target="slide9.xml"/><Relationship Id="rId4" Type="http://schemas.openxmlformats.org/officeDocument/2006/relationships/tags" Target="../tags/tag344.xml"/><Relationship Id="rId9" Type="http://schemas.openxmlformats.org/officeDocument/2006/relationships/slide" Target="slide4.xml"/><Relationship Id="rId14" Type="http://schemas.openxmlformats.org/officeDocument/2006/relationships/slide" Target="slide53.xml"/></Relationships>
</file>

<file path=ppt/slides/_rels/slide33.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tags" Target="../tags/tag348.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347.xml"/><Relationship Id="rId1" Type="http://schemas.openxmlformats.org/officeDocument/2006/relationships/tags" Target="../tags/tag346.xml"/><Relationship Id="rId6" Type="http://schemas.openxmlformats.org/officeDocument/2006/relationships/image" Target="../media/image78.emf"/><Relationship Id="rId11" Type="http://schemas.openxmlformats.org/officeDocument/2006/relationships/slide" Target="slide44.xml"/><Relationship Id="rId5" Type="http://schemas.openxmlformats.org/officeDocument/2006/relationships/slideLayout" Target="../slideLayouts/slideLayout9.xml"/><Relationship Id="rId10" Type="http://schemas.openxmlformats.org/officeDocument/2006/relationships/slide" Target="slide39.xml"/><Relationship Id="rId4" Type="http://schemas.openxmlformats.org/officeDocument/2006/relationships/tags" Target="../tags/tag349.xml"/><Relationship Id="rId9" Type="http://schemas.openxmlformats.org/officeDocument/2006/relationships/slide" Target="slide28.xml"/></Relationships>
</file>

<file path=ppt/slides/_rels/slide34.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tags" Target="../tags/tag352.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351.xml"/><Relationship Id="rId1" Type="http://schemas.openxmlformats.org/officeDocument/2006/relationships/tags" Target="../tags/tag350.xml"/><Relationship Id="rId6" Type="http://schemas.openxmlformats.org/officeDocument/2006/relationships/image" Target="../media/image79.emf"/><Relationship Id="rId11" Type="http://schemas.openxmlformats.org/officeDocument/2006/relationships/slide" Target="slide44.xml"/><Relationship Id="rId5" Type="http://schemas.openxmlformats.org/officeDocument/2006/relationships/slideLayout" Target="../slideLayouts/slideLayout9.xml"/><Relationship Id="rId10" Type="http://schemas.openxmlformats.org/officeDocument/2006/relationships/slide" Target="slide39.xml"/><Relationship Id="rId4" Type="http://schemas.openxmlformats.org/officeDocument/2006/relationships/tags" Target="../tags/tag353.xml"/><Relationship Id="rId9" Type="http://schemas.openxmlformats.org/officeDocument/2006/relationships/slide" Target="slide28.xml"/></Relationships>
</file>

<file path=ppt/slides/_rels/slide35.xml.rels><?xml version="1.0" encoding="UTF-8" standalone="yes"?>
<Relationships xmlns="http://schemas.openxmlformats.org/package/2006/relationships"><Relationship Id="rId8" Type="http://schemas.openxmlformats.org/officeDocument/2006/relationships/image" Target="../media/image80.emf"/><Relationship Id="rId13" Type="http://schemas.openxmlformats.org/officeDocument/2006/relationships/slide" Target="slide28.xml"/><Relationship Id="rId3" Type="http://schemas.openxmlformats.org/officeDocument/2006/relationships/tags" Target="../tags/tag356.xml"/><Relationship Id="rId7" Type="http://schemas.openxmlformats.org/officeDocument/2006/relationships/slideLayout" Target="../slideLayouts/slideLayout9.xml"/><Relationship Id="rId12" Type="http://schemas.openxmlformats.org/officeDocument/2006/relationships/slide" Target="slide9.xml"/><Relationship Id="rId2" Type="http://schemas.openxmlformats.org/officeDocument/2006/relationships/tags" Target="../tags/tag355.xml"/><Relationship Id="rId16" Type="http://schemas.openxmlformats.org/officeDocument/2006/relationships/slide" Target="slide53.xml"/><Relationship Id="rId1" Type="http://schemas.openxmlformats.org/officeDocument/2006/relationships/tags" Target="../tags/tag354.xml"/><Relationship Id="rId6" Type="http://schemas.openxmlformats.org/officeDocument/2006/relationships/tags" Target="../tags/tag359.xml"/><Relationship Id="rId11" Type="http://schemas.openxmlformats.org/officeDocument/2006/relationships/slide" Target="slide4.xml"/><Relationship Id="rId5" Type="http://schemas.openxmlformats.org/officeDocument/2006/relationships/tags" Target="../tags/tag358.xml"/><Relationship Id="rId15" Type="http://schemas.openxmlformats.org/officeDocument/2006/relationships/slide" Target="slide44.xml"/><Relationship Id="rId10" Type="http://schemas.openxmlformats.org/officeDocument/2006/relationships/image" Target="../media/image82.emf"/><Relationship Id="rId4" Type="http://schemas.openxmlformats.org/officeDocument/2006/relationships/tags" Target="../tags/tag357.xml"/><Relationship Id="rId9" Type="http://schemas.openxmlformats.org/officeDocument/2006/relationships/image" Target="../media/image81.emf"/><Relationship Id="rId14" Type="http://schemas.openxmlformats.org/officeDocument/2006/relationships/slide" Target="slide39.xml"/></Relationships>
</file>

<file path=ppt/slides/_rels/slide36.xml.rels><?xml version="1.0" encoding="UTF-8" standalone="yes"?>
<Relationships xmlns="http://schemas.openxmlformats.org/package/2006/relationships"><Relationship Id="rId8" Type="http://schemas.openxmlformats.org/officeDocument/2006/relationships/image" Target="../media/image83.emf"/><Relationship Id="rId13" Type="http://schemas.openxmlformats.org/officeDocument/2006/relationships/slide" Target="slide28.xml"/><Relationship Id="rId3" Type="http://schemas.openxmlformats.org/officeDocument/2006/relationships/tags" Target="../tags/tag362.xml"/><Relationship Id="rId7" Type="http://schemas.openxmlformats.org/officeDocument/2006/relationships/slideLayout" Target="../slideLayouts/slideLayout9.xml"/><Relationship Id="rId12" Type="http://schemas.openxmlformats.org/officeDocument/2006/relationships/slide" Target="slide9.xml"/><Relationship Id="rId2" Type="http://schemas.openxmlformats.org/officeDocument/2006/relationships/tags" Target="../tags/tag361.xml"/><Relationship Id="rId16" Type="http://schemas.openxmlformats.org/officeDocument/2006/relationships/slide" Target="slide53.xml"/><Relationship Id="rId1" Type="http://schemas.openxmlformats.org/officeDocument/2006/relationships/tags" Target="../tags/tag360.xml"/><Relationship Id="rId6" Type="http://schemas.openxmlformats.org/officeDocument/2006/relationships/tags" Target="../tags/tag365.xml"/><Relationship Id="rId11" Type="http://schemas.openxmlformats.org/officeDocument/2006/relationships/slide" Target="slide4.xml"/><Relationship Id="rId5" Type="http://schemas.openxmlformats.org/officeDocument/2006/relationships/tags" Target="../tags/tag364.xml"/><Relationship Id="rId15" Type="http://schemas.openxmlformats.org/officeDocument/2006/relationships/slide" Target="slide44.xml"/><Relationship Id="rId10" Type="http://schemas.openxmlformats.org/officeDocument/2006/relationships/image" Target="../media/image85.emf"/><Relationship Id="rId4" Type="http://schemas.openxmlformats.org/officeDocument/2006/relationships/tags" Target="../tags/tag363.xml"/><Relationship Id="rId9" Type="http://schemas.openxmlformats.org/officeDocument/2006/relationships/image" Target="../media/image84.emf"/><Relationship Id="rId14" Type="http://schemas.openxmlformats.org/officeDocument/2006/relationships/slide" Target="slide39.xml"/></Relationships>
</file>

<file path=ppt/slides/_rels/slide37.xml.rels><?xml version="1.0" encoding="UTF-8" standalone="yes"?>
<Relationships xmlns="http://schemas.openxmlformats.org/package/2006/relationships"><Relationship Id="rId8" Type="http://schemas.openxmlformats.org/officeDocument/2006/relationships/image" Target="../media/image86.emf"/><Relationship Id="rId13" Type="http://schemas.openxmlformats.org/officeDocument/2006/relationships/slide" Target="slide28.xml"/><Relationship Id="rId3" Type="http://schemas.openxmlformats.org/officeDocument/2006/relationships/tags" Target="../tags/tag368.xml"/><Relationship Id="rId7" Type="http://schemas.openxmlformats.org/officeDocument/2006/relationships/slideLayout" Target="../slideLayouts/slideLayout9.xml"/><Relationship Id="rId12" Type="http://schemas.openxmlformats.org/officeDocument/2006/relationships/slide" Target="slide9.xml"/><Relationship Id="rId2" Type="http://schemas.openxmlformats.org/officeDocument/2006/relationships/tags" Target="../tags/tag367.xml"/><Relationship Id="rId16" Type="http://schemas.openxmlformats.org/officeDocument/2006/relationships/slide" Target="slide53.xml"/><Relationship Id="rId1" Type="http://schemas.openxmlformats.org/officeDocument/2006/relationships/tags" Target="../tags/tag366.xml"/><Relationship Id="rId6" Type="http://schemas.openxmlformats.org/officeDocument/2006/relationships/tags" Target="../tags/tag371.xml"/><Relationship Id="rId11" Type="http://schemas.openxmlformats.org/officeDocument/2006/relationships/slide" Target="slide4.xml"/><Relationship Id="rId5" Type="http://schemas.openxmlformats.org/officeDocument/2006/relationships/tags" Target="../tags/tag370.xml"/><Relationship Id="rId15" Type="http://schemas.openxmlformats.org/officeDocument/2006/relationships/slide" Target="slide44.xml"/><Relationship Id="rId10" Type="http://schemas.openxmlformats.org/officeDocument/2006/relationships/image" Target="../media/image88.emf"/><Relationship Id="rId4" Type="http://schemas.openxmlformats.org/officeDocument/2006/relationships/tags" Target="../tags/tag369.xml"/><Relationship Id="rId9" Type="http://schemas.openxmlformats.org/officeDocument/2006/relationships/image" Target="../media/image87.emf"/><Relationship Id="rId14" Type="http://schemas.openxmlformats.org/officeDocument/2006/relationships/slide" Target="slide39.xml"/></Relationships>
</file>

<file path=ppt/slides/_rels/slide38.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374.xml"/><Relationship Id="rId7" Type="http://schemas.openxmlformats.org/officeDocument/2006/relationships/image" Target="../media/image89.emf"/><Relationship Id="rId12" Type="http://schemas.openxmlformats.org/officeDocument/2006/relationships/slide" Target="slide44.xml"/><Relationship Id="rId2" Type="http://schemas.openxmlformats.org/officeDocument/2006/relationships/tags" Target="../tags/tag373.xml"/><Relationship Id="rId1" Type="http://schemas.openxmlformats.org/officeDocument/2006/relationships/tags" Target="../tags/tag372.xml"/><Relationship Id="rId6" Type="http://schemas.openxmlformats.org/officeDocument/2006/relationships/slideLayout" Target="../slideLayouts/slideLayout9.xml"/><Relationship Id="rId11" Type="http://schemas.openxmlformats.org/officeDocument/2006/relationships/slide" Target="slide39.xml"/><Relationship Id="rId5" Type="http://schemas.openxmlformats.org/officeDocument/2006/relationships/tags" Target="../tags/tag376.xml"/><Relationship Id="rId10" Type="http://schemas.openxmlformats.org/officeDocument/2006/relationships/slide" Target="slide28.xml"/><Relationship Id="rId4" Type="http://schemas.openxmlformats.org/officeDocument/2006/relationships/tags" Target="../tags/tag375.xml"/><Relationship Id="rId9" Type="http://schemas.openxmlformats.org/officeDocument/2006/relationships/slide" Target="slide9.xml"/></Relationships>
</file>

<file path=ppt/slides/_rels/slide39.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tags" Target="../tags/tag379.xml"/><Relationship Id="rId7" Type="http://schemas.openxmlformats.org/officeDocument/2006/relationships/tags" Target="../tags/tag383.xml"/><Relationship Id="rId2" Type="http://schemas.openxmlformats.org/officeDocument/2006/relationships/tags" Target="../tags/tag378.xml"/><Relationship Id="rId1" Type="http://schemas.openxmlformats.org/officeDocument/2006/relationships/tags" Target="../tags/tag377.xml"/><Relationship Id="rId6" Type="http://schemas.openxmlformats.org/officeDocument/2006/relationships/tags" Target="../tags/tag382.xml"/><Relationship Id="rId5" Type="http://schemas.openxmlformats.org/officeDocument/2006/relationships/tags" Target="../tags/tag381.xml"/><Relationship Id="rId10" Type="http://schemas.openxmlformats.org/officeDocument/2006/relationships/slide" Target="slide40.xml"/><Relationship Id="rId4" Type="http://schemas.openxmlformats.org/officeDocument/2006/relationships/tags" Target="../tags/tag380.xml"/><Relationship Id="rId9" Type="http://schemas.openxmlformats.org/officeDocument/2006/relationships/slide" Target="slide39.xml"/></Relationships>
</file>

<file path=ppt/slides/_rels/slide40.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386.xml"/><Relationship Id="rId7" Type="http://schemas.openxmlformats.org/officeDocument/2006/relationships/slide" Target="slide9.xml"/><Relationship Id="rId2" Type="http://schemas.openxmlformats.org/officeDocument/2006/relationships/tags" Target="../tags/tag385.xml"/><Relationship Id="rId1" Type="http://schemas.openxmlformats.org/officeDocument/2006/relationships/tags" Target="../tags/tag384.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notesSlide" Target="../notesSlides/notesSlide7.xml"/><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41.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image" Target="../media/image93.emf"/><Relationship Id="rId18" Type="http://schemas.openxmlformats.org/officeDocument/2006/relationships/slide" Target="slide44.xml"/><Relationship Id="rId3" Type="http://schemas.openxmlformats.org/officeDocument/2006/relationships/tags" Target="../tags/tag389.xml"/><Relationship Id="rId7" Type="http://schemas.openxmlformats.org/officeDocument/2006/relationships/tags" Target="../tags/tag393.xml"/><Relationship Id="rId12" Type="http://schemas.openxmlformats.org/officeDocument/2006/relationships/image" Target="../media/image92.emf"/><Relationship Id="rId17" Type="http://schemas.openxmlformats.org/officeDocument/2006/relationships/slide" Target="slide39.xml"/><Relationship Id="rId2" Type="http://schemas.openxmlformats.org/officeDocument/2006/relationships/tags" Target="../tags/tag388.xml"/><Relationship Id="rId16" Type="http://schemas.openxmlformats.org/officeDocument/2006/relationships/slide" Target="slide28.xml"/><Relationship Id="rId1" Type="http://schemas.openxmlformats.org/officeDocument/2006/relationships/tags" Target="../tags/tag387.xml"/><Relationship Id="rId6" Type="http://schemas.openxmlformats.org/officeDocument/2006/relationships/tags" Target="../tags/tag392.xml"/><Relationship Id="rId11" Type="http://schemas.openxmlformats.org/officeDocument/2006/relationships/image" Target="../media/image91.emf"/><Relationship Id="rId5" Type="http://schemas.openxmlformats.org/officeDocument/2006/relationships/tags" Target="../tags/tag391.xml"/><Relationship Id="rId15" Type="http://schemas.openxmlformats.org/officeDocument/2006/relationships/slide" Target="slide9.xml"/><Relationship Id="rId10" Type="http://schemas.openxmlformats.org/officeDocument/2006/relationships/image" Target="../media/image90.emf"/><Relationship Id="rId19" Type="http://schemas.openxmlformats.org/officeDocument/2006/relationships/slide" Target="slide53.xml"/><Relationship Id="rId4" Type="http://schemas.openxmlformats.org/officeDocument/2006/relationships/tags" Target="../tags/tag390.xml"/><Relationship Id="rId9" Type="http://schemas.openxmlformats.org/officeDocument/2006/relationships/notesSlide" Target="../notesSlides/notesSlide8.xml"/><Relationship Id="rId14" Type="http://schemas.openxmlformats.org/officeDocument/2006/relationships/slide" Target="slide4.xml"/></Relationships>
</file>

<file path=ppt/slides/_rels/slide4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tags" Target="../tags/tag396.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395.xml"/><Relationship Id="rId1" Type="http://schemas.openxmlformats.org/officeDocument/2006/relationships/tags" Target="../tags/tag394.xml"/><Relationship Id="rId6" Type="http://schemas.openxmlformats.org/officeDocument/2006/relationships/image" Target="../media/image94.emf"/><Relationship Id="rId11" Type="http://schemas.openxmlformats.org/officeDocument/2006/relationships/slide" Target="slide44.xml"/><Relationship Id="rId5" Type="http://schemas.openxmlformats.org/officeDocument/2006/relationships/slideLayout" Target="../slideLayouts/slideLayout9.xml"/><Relationship Id="rId10" Type="http://schemas.openxmlformats.org/officeDocument/2006/relationships/slide" Target="slide39.xml"/><Relationship Id="rId4" Type="http://schemas.openxmlformats.org/officeDocument/2006/relationships/tags" Target="../tags/tag397.xml"/><Relationship Id="rId9" Type="http://schemas.openxmlformats.org/officeDocument/2006/relationships/slide" Target="slide28.xml"/></Relationships>
</file>

<file path=ppt/slides/_rels/slide43.xml.rels><?xml version="1.0" encoding="UTF-8" standalone="yes"?>
<Relationships xmlns="http://schemas.openxmlformats.org/package/2006/relationships"><Relationship Id="rId8" Type="http://schemas.openxmlformats.org/officeDocument/2006/relationships/tags" Target="../tags/tag405.xml"/><Relationship Id="rId13" Type="http://schemas.openxmlformats.org/officeDocument/2006/relationships/tags" Target="../tags/tag410.xml"/><Relationship Id="rId18" Type="http://schemas.openxmlformats.org/officeDocument/2006/relationships/slideLayout" Target="../slideLayouts/slideLayout9.xml"/><Relationship Id="rId3" Type="http://schemas.openxmlformats.org/officeDocument/2006/relationships/tags" Target="../tags/tag400.xml"/><Relationship Id="rId21" Type="http://schemas.openxmlformats.org/officeDocument/2006/relationships/slide" Target="slide28.xml"/><Relationship Id="rId7" Type="http://schemas.openxmlformats.org/officeDocument/2006/relationships/tags" Target="../tags/tag404.xml"/><Relationship Id="rId12" Type="http://schemas.openxmlformats.org/officeDocument/2006/relationships/tags" Target="../tags/tag409.xml"/><Relationship Id="rId17" Type="http://schemas.openxmlformats.org/officeDocument/2006/relationships/tags" Target="../tags/tag414.xml"/><Relationship Id="rId2" Type="http://schemas.openxmlformats.org/officeDocument/2006/relationships/tags" Target="../tags/tag399.xml"/><Relationship Id="rId16" Type="http://schemas.openxmlformats.org/officeDocument/2006/relationships/tags" Target="../tags/tag413.xml"/><Relationship Id="rId20" Type="http://schemas.openxmlformats.org/officeDocument/2006/relationships/slide" Target="slide9.xml"/><Relationship Id="rId1" Type="http://schemas.openxmlformats.org/officeDocument/2006/relationships/tags" Target="../tags/tag398.xml"/><Relationship Id="rId6" Type="http://schemas.openxmlformats.org/officeDocument/2006/relationships/tags" Target="../tags/tag403.xml"/><Relationship Id="rId11" Type="http://schemas.openxmlformats.org/officeDocument/2006/relationships/tags" Target="../tags/tag408.xml"/><Relationship Id="rId24" Type="http://schemas.openxmlformats.org/officeDocument/2006/relationships/slide" Target="slide53.xml"/><Relationship Id="rId5" Type="http://schemas.openxmlformats.org/officeDocument/2006/relationships/tags" Target="../tags/tag402.xml"/><Relationship Id="rId15" Type="http://schemas.openxmlformats.org/officeDocument/2006/relationships/tags" Target="../tags/tag412.xml"/><Relationship Id="rId23" Type="http://schemas.openxmlformats.org/officeDocument/2006/relationships/slide" Target="slide44.xml"/><Relationship Id="rId10" Type="http://schemas.openxmlformats.org/officeDocument/2006/relationships/tags" Target="../tags/tag407.xml"/><Relationship Id="rId19" Type="http://schemas.openxmlformats.org/officeDocument/2006/relationships/slide" Target="slide4.xml"/><Relationship Id="rId4" Type="http://schemas.openxmlformats.org/officeDocument/2006/relationships/tags" Target="../tags/tag401.xml"/><Relationship Id="rId9" Type="http://schemas.openxmlformats.org/officeDocument/2006/relationships/tags" Target="../tags/tag406.xml"/><Relationship Id="rId14" Type="http://schemas.openxmlformats.org/officeDocument/2006/relationships/tags" Target="../tags/tag411.xml"/><Relationship Id="rId22" Type="http://schemas.openxmlformats.org/officeDocument/2006/relationships/slide" Target="slide39.xml"/></Relationships>
</file>

<file path=ppt/slides/_rels/slide44.xml.rels><?xml version="1.0" encoding="UTF-8" standalone="yes"?>
<Relationships xmlns="http://schemas.openxmlformats.org/package/2006/relationships"><Relationship Id="rId13" Type="http://schemas.openxmlformats.org/officeDocument/2006/relationships/tags" Target="../tags/tag427.xml"/><Relationship Id="rId18" Type="http://schemas.openxmlformats.org/officeDocument/2006/relationships/tags" Target="../tags/tag432.xml"/><Relationship Id="rId26" Type="http://schemas.openxmlformats.org/officeDocument/2006/relationships/tags" Target="../tags/tag440.xml"/><Relationship Id="rId21" Type="http://schemas.openxmlformats.org/officeDocument/2006/relationships/tags" Target="../tags/tag435.xml"/><Relationship Id="rId34" Type="http://schemas.openxmlformats.org/officeDocument/2006/relationships/slide" Target="slide48.xml"/><Relationship Id="rId7" Type="http://schemas.openxmlformats.org/officeDocument/2006/relationships/tags" Target="../tags/tag421.xml"/><Relationship Id="rId12" Type="http://schemas.openxmlformats.org/officeDocument/2006/relationships/tags" Target="../tags/tag426.xml"/><Relationship Id="rId17" Type="http://schemas.openxmlformats.org/officeDocument/2006/relationships/tags" Target="../tags/tag431.xml"/><Relationship Id="rId25" Type="http://schemas.openxmlformats.org/officeDocument/2006/relationships/tags" Target="../tags/tag439.xml"/><Relationship Id="rId33" Type="http://schemas.openxmlformats.org/officeDocument/2006/relationships/slide" Target="slide47.xml"/><Relationship Id="rId38" Type="http://schemas.openxmlformats.org/officeDocument/2006/relationships/slide" Target="slide52.xml"/><Relationship Id="rId2" Type="http://schemas.openxmlformats.org/officeDocument/2006/relationships/tags" Target="../tags/tag416.xml"/><Relationship Id="rId16" Type="http://schemas.openxmlformats.org/officeDocument/2006/relationships/tags" Target="../tags/tag430.xml"/><Relationship Id="rId20" Type="http://schemas.openxmlformats.org/officeDocument/2006/relationships/tags" Target="../tags/tag434.xml"/><Relationship Id="rId29" Type="http://schemas.openxmlformats.org/officeDocument/2006/relationships/slideLayout" Target="../slideLayouts/slideLayout34.xml"/><Relationship Id="rId1" Type="http://schemas.openxmlformats.org/officeDocument/2006/relationships/tags" Target="../tags/tag415.xml"/><Relationship Id="rId6" Type="http://schemas.openxmlformats.org/officeDocument/2006/relationships/tags" Target="../tags/tag420.xml"/><Relationship Id="rId11" Type="http://schemas.openxmlformats.org/officeDocument/2006/relationships/tags" Target="../tags/tag425.xml"/><Relationship Id="rId24" Type="http://schemas.openxmlformats.org/officeDocument/2006/relationships/tags" Target="../tags/tag438.xml"/><Relationship Id="rId32" Type="http://schemas.openxmlformats.org/officeDocument/2006/relationships/slide" Target="slide46.xml"/><Relationship Id="rId37" Type="http://schemas.openxmlformats.org/officeDocument/2006/relationships/slide" Target="slide51.xml"/><Relationship Id="rId5" Type="http://schemas.openxmlformats.org/officeDocument/2006/relationships/tags" Target="../tags/tag419.xml"/><Relationship Id="rId15" Type="http://schemas.openxmlformats.org/officeDocument/2006/relationships/tags" Target="../tags/tag429.xml"/><Relationship Id="rId23" Type="http://schemas.openxmlformats.org/officeDocument/2006/relationships/tags" Target="../tags/tag437.xml"/><Relationship Id="rId28" Type="http://schemas.openxmlformats.org/officeDocument/2006/relationships/tags" Target="../tags/tag442.xml"/><Relationship Id="rId36" Type="http://schemas.openxmlformats.org/officeDocument/2006/relationships/slide" Target="slide50.xml"/><Relationship Id="rId10" Type="http://schemas.openxmlformats.org/officeDocument/2006/relationships/tags" Target="../tags/tag424.xml"/><Relationship Id="rId19" Type="http://schemas.openxmlformats.org/officeDocument/2006/relationships/tags" Target="../tags/tag433.xml"/><Relationship Id="rId31" Type="http://schemas.openxmlformats.org/officeDocument/2006/relationships/slide" Target="slide45.xml"/><Relationship Id="rId4" Type="http://schemas.openxmlformats.org/officeDocument/2006/relationships/tags" Target="../tags/tag418.xml"/><Relationship Id="rId9" Type="http://schemas.openxmlformats.org/officeDocument/2006/relationships/tags" Target="../tags/tag423.xml"/><Relationship Id="rId14" Type="http://schemas.openxmlformats.org/officeDocument/2006/relationships/tags" Target="../tags/tag428.xml"/><Relationship Id="rId22" Type="http://schemas.openxmlformats.org/officeDocument/2006/relationships/tags" Target="../tags/tag436.xml"/><Relationship Id="rId27" Type="http://schemas.openxmlformats.org/officeDocument/2006/relationships/tags" Target="../tags/tag441.xml"/><Relationship Id="rId30" Type="http://schemas.openxmlformats.org/officeDocument/2006/relationships/slide" Target="slide44.xml"/><Relationship Id="rId35" Type="http://schemas.openxmlformats.org/officeDocument/2006/relationships/slide" Target="slide49.xml"/><Relationship Id="rId8" Type="http://schemas.openxmlformats.org/officeDocument/2006/relationships/tags" Target="../tags/tag422.xml"/><Relationship Id="rId3" Type="http://schemas.openxmlformats.org/officeDocument/2006/relationships/tags" Target="../tags/tag417.xml"/></Relationships>
</file>

<file path=ppt/slides/_rels/slide45.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45.xml"/><Relationship Id="rId7" Type="http://schemas.openxmlformats.org/officeDocument/2006/relationships/slide" Target="slide9.xml"/><Relationship Id="rId2" Type="http://schemas.openxmlformats.org/officeDocument/2006/relationships/tags" Target="../tags/tag444.xml"/><Relationship Id="rId1" Type="http://schemas.openxmlformats.org/officeDocument/2006/relationships/tags" Target="../tags/tag443.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95.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46.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48.xml"/><Relationship Id="rId7" Type="http://schemas.openxmlformats.org/officeDocument/2006/relationships/slide" Target="slide9.xml"/><Relationship Id="rId2" Type="http://schemas.openxmlformats.org/officeDocument/2006/relationships/tags" Target="../tags/tag447.xml"/><Relationship Id="rId1" Type="http://schemas.openxmlformats.org/officeDocument/2006/relationships/tags" Target="../tags/tag446.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96.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47.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51.xml"/><Relationship Id="rId7" Type="http://schemas.openxmlformats.org/officeDocument/2006/relationships/slide" Target="slide9.xml"/><Relationship Id="rId2" Type="http://schemas.openxmlformats.org/officeDocument/2006/relationships/tags" Target="../tags/tag450.xml"/><Relationship Id="rId1" Type="http://schemas.openxmlformats.org/officeDocument/2006/relationships/tags" Target="../tags/tag449.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97.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48.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54.xml"/><Relationship Id="rId7" Type="http://schemas.openxmlformats.org/officeDocument/2006/relationships/slide" Target="slide9.xml"/><Relationship Id="rId2" Type="http://schemas.openxmlformats.org/officeDocument/2006/relationships/tags" Target="../tags/tag453.xml"/><Relationship Id="rId1" Type="http://schemas.openxmlformats.org/officeDocument/2006/relationships/tags" Target="../tags/tag452.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98.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49.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57.xml"/><Relationship Id="rId7" Type="http://schemas.openxmlformats.org/officeDocument/2006/relationships/slide" Target="slide9.xml"/><Relationship Id="rId2" Type="http://schemas.openxmlformats.org/officeDocument/2006/relationships/tags" Target="../tags/tag456.xml"/><Relationship Id="rId1" Type="http://schemas.openxmlformats.org/officeDocument/2006/relationships/tags" Target="../tags/tag455.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99.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0.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60.xml"/><Relationship Id="rId7" Type="http://schemas.openxmlformats.org/officeDocument/2006/relationships/slide" Target="slide9.xml"/><Relationship Id="rId2" Type="http://schemas.openxmlformats.org/officeDocument/2006/relationships/tags" Target="../tags/tag459.xml"/><Relationship Id="rId1" Type="http://schemas.openxmlformats.org/officeDocument/2006/relationships/tags" Target="../tags/tag458.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0.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1.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63.xml"/><Relationship Id="rId7" Type="http://schemas.openxmlformats.org/officeDocument/2006/relationships/slide" Target="slide9.xml"/><Relationship Id="rId2" Type="http://schemas.openxmlformats.org/officeDocument/2006/relationships/tags" Target="../tags/tag462.xml"/><Relationship Id="rId1" Type="http://schemas.openxmlformats.org/officeDocument/2006/relationships/tags" Target="../tags/tag461.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1.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2.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466.xml"/><Relationship Id="rId7" Type="http://schemas.openxmlformats.org/officeDocument/2006/relationships/slide" Target="slide9.xml"/><Relationship Id="rId2" Type="http://schemas.openxmlformats.org/officeDocument/2006/relationships/tags" Target="../tags/tag465.xml"/><Relationship Id="rId1" Type="http://schemas.openxmlformats.org/officeDocument/2006/relationships/tags" Target="../tags/tag464.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2.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3.xml.rels><?xml version="1.0" encoding="UTF-8" standalone="yes"?>
<Relationships xmlns="http://schemas.openxmlformats.org/package/2006/relationships"><Relationship Id="rId13" Type="http://schemas.openxmlformats.org/officeDocument/2006/relationships/tags" Target="../tags/tag479.xml"/><Relationship Id="rId18" Type="http://schemas.openxmlformats.org/officeDocument/2006/relationships/tags" Target="../tags/tag484.xml"/><Relationship Id="rId26" Type="http://schemas.openxmlformats.org/officeDocument/2006/relationships/tags" Target="../tags/tag492.xml"/><Relationship Id="rId39" Type="http://schemas.openxmlformats.org/officeDocument/2006/relationships/tags" Target="../tags/tag505.xml"/><Relationship Id="rId21" Type="http://schemas.openxmlformats.org/officeDocument/2006/relationships/tags" Target="../tags/tag487.xml"/><Relationship Id="rId34" Type="http://schemas.openxmlformats.org/officeDocument/2006/relationships/tags" Target="../tags/tag500.xml"/><Relationship Id="rId42" Type="http://schemas.openxmlformats.org/officeDocument/2006/relationships/slide" Target="slide53.xml"/><Relationship Id="rId47" Type="http://schemas.openxmlformats.org/officeDocument/2006/relationships/slide" Target="slide61.xml"/><Relationship Id="rId50" Type="http://schemas.openxmlformats.org/officeDocument/2006/relationships/slide" Target="slide72.xml"/><Relationship Id="rId7" Type="http://schemas.openxmlformats.org/officeDocument/2006/relationships/tags" Target="../tags/tag473.xml"/><Relationship Id="rId2" Type="http://schemas.openxmlformats.org/officeDocument/2006/relationships/tags" Target="../tags/tag468.xml"/><Relationship Id="rId16" Type="http://schemas.openxmlformats.org/officeDocument/2006/relationships/tags" Target="../tags/tag482.xml"/><Relationship Id="rId29" Type="http://schemas.openxmlformats.org/officeDocument/2006/relationships/tags" Target="../tags/tag495.xml"/><Relationship Id="rId11" Type="http://schemas.openxmlformats.org/officeDocument/2006/relationships/tags" Target="../tags/tag477.xml"/><Relationship Id="rId24" Type="http://schemas.openxmlformats.org/officeDocument/2006/relationships/tags" Target="../tags/tag490.xml"/><Relationship Id="rId32" Type="http://schemas.openxmlformats.org/officeDocument/2006/relationships/tags" Target="../tags/tag498.xml"/><Relationship Id="rId37" Type="http://schemas.openxmlformats.org/officeDocument/2006/relationships/tags" Target="../tags/tag503.xml"/><Relationship Id="rId40" Type="http://schemas.openxmlformats.org/officeDocument/2006/relationships/tags" Target="../tags/tag506.xml"/><Relationship Id="rId45" Type="http://schemas.openxmlformats.org/officeDocument/2006/relationships/slide" Target="slide58.xml"/><Relationship Id="rId53" Type="http://schemas.openxmlformats.org/officeDocument/2006/relationships/slide" Target="slide75.xml"/><Relationship Id="rId5" Type="http://schemas.openxmlformats.org/officeDocument/2006/relationships/tags" Target="../tags/tag471.xml"/><Relationship Id="rId10" Type="http://schemas.openxmlformats.org/officeDocument/2006/relationships/tags" Target="../tags/tag476.xml"/><Relationship Id="rId19" Type="http://schemas.openxmlformats.org/officeDocument/2006/relationships/tags" Target="../tags/tag485.xml"/><Relationship Id="rId31" Type="http://schemas.openxmlformats.org/officeDocument/2006/relationships/tags" Target="../tags/tag497.xml"/><Relationship Id="rId44" Type="http://schemas.openxmlformats.org/officeDocument/2006/relationships/slide" Target="slide57.xml"/><Relationship Id="rId52" Type="http://schemas.openxmlformats.org/officeDocument/2006/relationships/slide" Target="slide74.xml"/><Relationship Id="rId4" Type="http://schemas.openxmlformats.org/officeDocument/2006/relationships/tags" Target="../tags/tag470.xml"/><Relationship Id="rId9" Type="http://schemas.openxmlformats.org/officeDocument/2006/relationships/tags" Target="../tags/tag475.xml"/><Relationship Id="rId14" Type="http://schemas.openxmlformats.org/officeDocument/2006/relationships/tags" Target="../tags/tag480.xml"/><Relationship Id="rId22" Type="http://schemas.openxmlformats.org/officeDocument/2006/relationships/tags" Target="../tags/tag488.xml"/><Relationship Id="rId27" Type="http://schemas.openxmlformats.org/officeDocument/2006/relationships/tags" Target="../tags/tag493.xml"/><Relationship Id="rId30" Type="http://schemas.openxmlformats.org/officeDocument/2006/relationships/tags" Target="../tags/tag496.xml"/><Relationship Id="rId35" Type="http://schemas.openxmlformats.org/officeDocument/2006/relationships/tags" Target="../tags/tag501.xml"/><Relationship Id="rId43" Type="http://schemas.openxmlformats.org/officeDocument/2006/relationships/slide" Target="slide54.xml"/><Relationship Id="rId48" Type="http://schemas.openxmlformats.org/officeDocument/2006/relationships/slide" Target="slide68.xml"/><Relationship Id="rId8" Type="http://schemas.openxmlformats.org/officeDocument/2006/relationships/tags" Target="../tags/tag474.xml"/><Relationship Id="rId51" Type="http://schemas.openxmlformats.org/officeDocument/2006/relationships/slide" Target="slide73.xml"/><Relationship Id="rId3" Type="http://schemas.openxmlformats.org/officeDocument/2006/relationships/tags" Target="../tags/tag469.xml"/><Relationship Id="rId12" Type="http://schemas.openxmlformats.org/officeDocument/2006/relationships/tags" Target="../tags/tag478.xml"/><Relationship Id="rId17" Type="http://schemas.openxmlformats.org/officeDocument/2006/relationships/tags" Target="../tags/tag483.xml"/><Relationship Id="rId25" Type="http://schemas.openxmlformats.org/officeDocument/2006/relationships/tags" Target="../tags/tag491.xml"/><Relationship Id="rId33" Type="http://schemas.openxmlformats.org/officeDocument/2006/relationships/tags" Target="../tags/tag499.xml"/><Relationship Id="rId38" Type="http://schemas.openxmlformats.org/officeDocument/2006/relationships/tags" Target="../tags/tag504.xml"/><Relationship Id="rId46" Type="http://schemas.openxmlformats.org/officeDocument/2006/relationships/slide" Target="slide59.xml"/><Relationship Id="rId20" Type="http://schemas.openxmlformats.org/officeDocument/2006/relationships/tags" Target="../tags/tag486.xml"/><Relationship Id="rId41" Type="http://schemas.openxmlformats.org/officeDocument/2006/relationships/slideLayout" Target="../slideLayouts/slideLayout34.xml"/><Relationship Id="rId54" Type="http://schemas.openxmlformats.org/officeDocument/2006/relationships/slide" Target="slide78.xml"/><Relationship Id="rId1" Type="http://schemas.openxmlformats.org/officeDocument/2006/relationships/tags" Target="../tags/tag467.xml"/><Relationship Id="rId6" Type="http://schemas.openxmlformats.org/officeDocument/2006/relationships/tags" Target="../tags/tag472.xml"/><Relationship Id="rId15" Type="http://schemas.openxmlformats.org/officeDocument/2006/relationships/tags" Target="../tags/tag481.xml"/><Relationship Id="rId23" Type="http://schemas.openxmlformats.org/officeDocument/2006/relationships/tags" Target="../tags/tag489.xml"/><Relationship Id="rId28" Type="http://schemas.openxmlformats.org/officeDocument/2006/relationships/tags" Target="../tags/tag494.xml"/><Relationship Id="rId36" Type="http://schemas.openxmlformats.org/officeDocument/2006/relationships/tags" Target="../tags/tag502.xml"/><Relationship Id="rId49" Type="http://schemas.openxmlformats.org/officeDocument/2006/relationships/slide" Target="slide71.xml"/></Relationships>
</file>

<file path=ppt/slides/_rels/slide54.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09.xml"/><Relationship Id="rId7" Type="http://schemas.openxmlformats.org/officeDocument/2006/relationships/slide" Target="slide9.xml"/><Relationship Id="rId2" Type="http://schemas.openxmlformats.org/officeDocument/2006/relationships/tags" Target="../tags/tag508.xml"/><Relationship Id="rId1" Type="http://schemas.openxmlformats.org/officeDocument/2006/relationships/tags" Target="../tags/tag507.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3.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5.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12.xml"/><Relationship Id="rId7" Type="http://schemas.openxmlformats.org/officeDocument/2006/relationships/slide" Target="slide9.xml"/><Relationship Id="rId2" Type="http://schemas.openxmlformats.org/officeDocument/2006/relationships/tags" Target="../tags/tag511.xml"/><Relationship Id="rId1" Type="http://schemas.openxmlformats.org/officeDocument/2006/relationships/tags" Target="../tags/tag510.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4.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6.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15.xml"/><Relationship Id="rId7" Type="http://schemas.openxmlformats.org/officeDocument/2006/relationships/slide" Target="slide9.xml"/><Relationship Id="rId2" Type="http://schemas.openxmlformats.org/officeDocument/2006/relationships/tags" Target="../tags/tag514.xml"/><Relationship Id="rId1" Type="http://schemas.openxmlformats.org/officeDocument/2006/relationships/tags" Target="../tags/tag513.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5.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7.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18.xml"/><Relationship Id="rId7" Type="http://schemas.openxmlformats.org/officeDocument/2006/relationships/slide" Target="slide9.xml"/><Relationship Id="rId2" Type="http://schemas.openxmlformats.org/officeDocument/2006/relationships/tags" Target="../tags/tag517.xml"/><Relationship Id="rId1" Type="http://schemas.openxmlformats.org/officeDocument/2006/relationships/tags" Target="../tags/tag516.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6.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8.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21.xml"/><Relationship Id="rId7" Type="http://schemas.openxmlformats.org/officeDocument/2006/relationships/slide" Target="slide9.xml"/><Relationship Id="rId2" Type="http://schemas.openxmlformats.org/officeDocument/2006/relationships/tags" Target="../tags/tag520.xml"/><Relationship Id="rId1" Type="http://schemas.openxmlformats.org/officeDocument/2006/relationships/tags" Target="../tags/tag519.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7.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59.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24.xml"/><Relationship Id="rId7" Type="http://schemas.openxmlformats.org/officeDocument/2006/relationships/slide" Target="slide9.xml"/><Relationship Id="rId2" Type="http://schemas.openxmlformats.org/officeDocument/2006/relationships/tags" Target="../tags/tag523.xml"/><Relationship Id="rId1" Type="http://schemas.openxmlformats.org/officeDocument/2006/relationships/tags" Target="../tags/tag522.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8.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60.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27.xml"/><Relationship Id="rId7" Type="http://schemas.openxmlformats.org/officeDocument/2006/relationships/slide" Target="slide9.xml"/><Relationship Id="rId2" Type="http://schemas.openxmlformats.org/officeDocument/2006/relationships/tags" Target="../tags/tag526.xml"/><Relationship Id="rId1" Type="http://schemas.openxmlformats.org/officeDocument/2006/relationships/tags" Target="../tags/tag525.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09.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61.xml.rels><?xml version="1.0" encoding="UTF-8" standalone="yes"?>
<Relationships xmlns="http://schemas.openxmlformats.org/package/2006/relationships"><Relationship Id="rId8" Type="http://schemas.openxmlformats.org/officeDocument/2006/relationships/image" Target="../media/image111.emf"/><Relationship Id="rId13" Type="http://schemas.openxmlformats.org/officeDocument/2006/relationships/slide" Target="slide39.xml"/><Relationship Id="rId3" Type="http://schemas.openxmlformats.org/officeDocument/2006/relationships/tags" Target="../tags/tag530.xml"/><Relationship Id="rId7" Type="http://schemas.openxmlformats.org/officeDocument/2006/relationships/image" Target="../media/image110.emf"/><Relationship Id="rId12" Type="http://schemas.openxmlformats.org/officeDocument/2006/relationships/slide" Target="slide28.xml"/><Relationship Id="rId2" Type="http://schemas.openxmlformats.org/officeDocument/2006/relationships/tags" Target="../tags/tag529.xml"/><Relationship Id="rId1" Type="http://schemas.openxmlformats.org/officeDocument/2006/relationships/tags" Target="../tags/tag528.xml"/><Relationship Id="rId6" Type="http://schemas.openxmlformats.org/officeDocument/2006/relationships/slideLayout" Target="../slideLayouts/slideLayout9.xml"/><Relationship Id="rId11" Type="http://schemas.openxmlformats.org/officeDocument/2006/relationships/slide" Target="slide9.xml"/><Relationship Id="rId5" Type="http://schemas.openxmlformats.org/officeDocument/2006/relationships/tags" Target="../tags/tag532.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531.xml"/><Relationship Id="rId9" Type="http://schemas.openxmlformats.org/officeDocument/2006/relationships/image" Target="../media/image112.emf"/><Relationship Id="rId14" Type="http://schemas.openxmlformats.org/officeDocument/2006/relationships/slide" Target="slide44.xml"/></Relationships>
</file>

<file path=ppt/slides/_rels/slide62.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35.xml"/><Relationship Id="rId7" Type="http://schemas.openxmlformats.org/officeDocument/2006/relationships/slide" Target="slide9.xml"/><Relationship Id="rId2" Type="http://schemas.openxmlformats.org/officeDocument/2006/relationships/tags" Target="../tags/tag534.xml"/><Relationship Id="rId1" Type="http://schemas.openxmlformats.org/officeDocument/2006/relationships/tags" Target="../tags/tag533.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13.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63.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38.xml"/><Relationship Id="rId7" Type="http://schemas.openxmlformats.org/officeDocument/2006/relationships/slide" Target="slide9.xml"/><Relationship Id="rId2" Type="http://schemas.openxmlformats.org/officeDocument/2006/relationships/tags" Target="../tags/tag537.xml"/><Relationship Id="rId1" Type="http://schemas.openxmlformats.org/officeDocument/2006/relationships/tags" Target="../tags/tag536.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14.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64.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41.xml"/><Relationship Id="rId7" Type="http://schemas.openxmlformats.org/officeDocument/2006/relationships/slide" Target="slide9.xml"/><Relationship Id="rId2" Type="http://schemas.openxmlformats.org/officeDocument/2006/relationships/tags" Target="../tags/tag540.xml"/><Relationship Id="rId1" Type="http://schemas.openxmlformats.org/officeDocument/2006/relationships/tags" Target="../tags/tag539.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15.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65.xml.rels><?xml version="1.0" encoding="UTF-8" standalone="yes"?>
<Relationships xmlns="http://schemas.openxmlformats.org/package/2006/relationships"><Relationship Id="rId8" Type="http://schemas.openxmlformats.org/officeDocument/2006/relationships/image" Target="../media/image117.emf"/><Relationship Id="rId13" Type="http://schemas.openxmlformats.org/officeDocument/2006/relationships/slide" Target="slide39.xml"/><Relationship Id="rId3" Type="http://schemas.openxmlformats.org/officeDocument/2006/relationships/tags" Target="../tags/tag544.xml"/><Relationship Id="rId7" Type="http://schemas.openxmlformats.org/officeDocument/2006/relationships/image" Target="../media/image116.emf"/><Relationship Id="rId12" Type="http://schemas.openxmlformats.org/officeDocument/2006/relationships/slide" Target="slide28.xml"/><Relationship Id="rId2" Type="http://schemas.openxmlformats.org/officeDocument/2006/relationships/tags" Target="../tags/tag543.xml"/><Relationship Id="rId1" Type="http://schemas.openxmlformats.org/officeDocument/2006/relationships/tags" Target="../tags/tag542.xml"/><Relationship Id="rId6" Type="http://schemas.openxmlformats.org/officeDocument/2006/relationships/slideLayout" Target="../slideLayouts/slideLayout9.xml"/><Relationship Id="rId11" Type="http://schemas.openxmlformats.org/officeDocument/2006/relationships/slide" Target="slide9.xml"/><Relationship Id="rId5" Type="http://schemas.openxmlformats.org/officeDocument/2006/relationships/tags" Target="../tags/tag546.xml"/><Relationship Id="rId15" Type="http://schemas.openxmlformats.org/officeDocument/2006/relationships/slide" Target="slide53.xml"/><Relationship Id="rId10" Type="http://schemas.openxmlformats.org/officeDocument/2006/relationships/slide" Target="slide4.xml"/><Relationship Id="rId4" Type="http://schemas.openxmlformats.org/officeDocument/2006/relationships/tags" Target="../tags/tag545.xml"/><Relationship Id="rId9" Type="http://schemas.openxmlformats.org/officeDocument/2006/relationships/image" Target="../media/image118.emf"/><Relationship Id="rId14" Type="http://schemas.openxmlformats.org/officeDocument/2006/relationships/slide" Target="slide44.xml"/></Relationships>
</file>

<file path=ppt/slides/_rels/slide66.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549.xml"/><Relationship Id="rId7" Type="http://schemas.openxmlformats.org/officeDocument/2006/relationships/image" Target="../media/image120.emf"/><Relationship Id="rId12" Type="http://schemas.openxmlformats.org/officeDocument/2006/relationships/slide" Target="slide44.xml"/><Relationship Id="rId2" Type="http://schemas.openxmlformats.org/officeDocument/2006/relationships/tags" Target="../tags/tag548.xml"/><Relationship Id="rId1" Type="http://schemas.openxmlformats.org/officeDocument/2006/relationships/tags" Target="../tags/tag547.xml"/><Relationship Id="rId6" Type="http://schemas.openxmlformats.org/officeDocument/2006/relationships/image" Target="../media/image119.emf"/><Relationship Id="rId11" Type="http://schemas.openxmlformats.org/officeDocument/2006/relationships/slide" Target="slide39.xml"/><Relationship Id="rId5" Type="http://schemas.openxmlformats.org/officeDocument/2006/relationships/slideLayout" Target="../slideLayouts/slideLayout9.xml"/><Relationship Id="rId10" Type="http://schemas.openxmlformats.org/officeDocument/2006/relationships/slide" Target="slide28.xml"/><Relationship Id="rId4" Type="http://schemas.openxmlformats.org/officeDocument/2006/relationships/tags" Target="../tags/tag550.xml"/><Relationship Id="rId9" Type="http://schemas.openxmlformats.org/officeDocument/2006/relationships/slide" Target="slide9.xml"/></Relationships>
</file>

<file path=ppt/slides/_rels/slide67.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553.xml"/><Relationship Id="rId7" Type="http://schemas.openxmlformats.org/officeDocument/2006/relationships/image" Target="../media/image122.emf"/><Relationship Id="rId12" Type="http://schemas.openxmlformats.org/officeDocument/2006/relationships/slide" Target="slide44.xml"/><Relationship Id="rId2" Type="http://schemas.openxmlformats.org/officeDocument/2006/relationships/tags" Target="../tags/tag552.xml"/><Relationship Id="rId1" Type="http://schemas.openxmlformats.org/officeDocument/2006/relationships/tags" Target="../tags/tag551.xml"/><Relationship Id="rId6" Type="http://schemas.openxmlformats.org/officeDocument/2006/relationships/image" Target="../media/image121.emf"/><Relationship Id="rId11" Type="http://schemas.openxmlformats.org/officeDocument/2006/relationships/slide" Target="slide39.xml"/><Relationship Id="rId5" Type="http://schemas.openxmlformats.org/officeDocument/2006/relationships/slideLayout" Target="../slideLayouts/slideLayout9.xml"/><Relationship Id="rId10" Type="http://schemas.openxmlformats.org/officeDocument/2006/relationships/slide" Target="slide28.xml"/><Relationship Id="rId4" Type="http://schemas.openxmlformats.org/officeDocument/2006/relationships/tags" Target="../tags/tag554.xml"/><Relationship Id="rId9" Type="http://schemas.openxmlformats.org/officeDocument/2006/relationships/slide" Target="slide9.xml"/></Relationships>
</file>

<file path=ppt/slides/_rels/slide68.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57.xml"/><Relationship Id="rId7" Type="http://schemas.openxmlformats.org/officeDocument/2006/relationships/slide" Target="slide9.xml"/><Relationship Id="rId2" Type="http://schemas.openxmlformats.org/officeDocument/2006/relationships/tags" Target="../tags/tag556.xml"/><Relationship Id="rId1" Type="http://schemas.openxmlformats.org/officeDocument/2006/relationships/tags" Target="../tags/tag555.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23.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69.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560.xml"/><Relationship Id="rId7" Type="http://schemas.openxmlformats.org/officeDocument/2006/relationships/image" Target="../media/image125.emf"/><Relationship Id="rId12" Type="http://schemas.openxmlformats.org/officeDocument/2006/relationships/slide" Target="slide44.xml"/><Relationship Id="rId2" Type="http://schemas.openxmlformats.org/officeDocument/2006/relationships/tags" Target="../tags/tag559.xml"/><Relationship Id="rId1" Type="http://schemas.openxmlformats.org/officeDocument/2006/relationships/tags" Target="../tags/tag558.xml"/><Relationship Id="rId6" Type="http://schemas.openxmlformats.org/officeDocument/2006/relationships/image" Target="../media/image124.emf"/><Relationship Id="rId11" Type="http://schemas.openxmlformats.org/officeDocument/2006/relationships/slide" Target="slide39.xml"/><Relationship Id="rId5" Type="http://schemas.openxmlformats.org/officeDocument/2006/relationships/slideLayout" Target="../slideLayouts/slideLayout9.xml"/><Relationship Id="rId10" Type="http://schemas.openxmlformats.org/officeDocument/2006/relationships/slide" Target="slide28.xml"/><Relationship Id="rId4" Type="http://schemas.openxmlformats.org/officeDocument/2006/relationships/tags" Target="../tags/tag561.xml"/><Relationship Id="rId9" Type="http://schemas.openxmlformats.org/officeDocument/2006/relationships/slide" Target="slide9.xml"/></Relationships>
</file>

<file path=ppt/slides/_rels/slide70.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64.xml"/><Relationship Id="rId7" Type="http://schemas.openxmlformats.org/officeDocument/2006/relationships/slide" Target="slide9.xml"/><Relationship Id="rId2" Type="http://schemas.openxmlformats.org/officeDocument/2006/relationships/tags" Target="../tags/tag563.xml"/><Relationship Id="rId1" Type="http://schemas.openxmlformats.org/officeDocument/2006/relationships/tags" Target="../tags/tag562.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26.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71.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tags" Target="../tags/tag567.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566.xml"/><Relationship Id="rId1" Type="http://schemas.openxmlformats.org/officeDocument/2006/relationships/tags" Target="../tags/tag565.xml"/><Relationship Id="rId6" Type="http://schemas.openxmlformats.org/officeDocument/2006/relationships/image" Target="../media/image127.emf"/><Relationship Id="rId11" Type="http://schemas.openxmlformats.org/officeDocument/2006/relationships/slide" Target="slide44.xml"/><Relationship Id="rId5" Type="http://schemas.openxmlformats.org/officeDocument/2006/relationships/notesSlide" Target="../notesSlides/notesSlide9.xml"/><Relationship Id="rId10" Type="http://schemas.openxmlformats.org/officeDocument/2006/relationships/slide" Target="slide39.xml"/><Relationship Id="rId4" Type="http://schemas.openxmlformats.org/officeDocument/2006/relationships/slideLayout" Target="../slideLayouts/slideLayout9.xml"/><Relationship Id="rId9" Type="http://schemas.openxmlformats.org/officeDocument/2006/relationships/slide" Target="slide28.xml"/></Relationships>
</file>

<file path=ppt/slides/_rels/slide72.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570.xml"/><Relationship Id="rId7" Type="http://schemas.openxmlformats.org/officeDocument/2006/relationships/image" Target="../media/image129.emf"/><Relationship Id="rId12" Type="http://schemas.openxmlformats.org/officeDocument/2006/relationships/slide" Target="slide44.xml"/><Relationship Id="rId2" Type="http://schemas.openxmlformats.org/officeDocument/2006/relationships/tags" Target="../tags/tag569.xml"/><Relationship Id="rId1" Type="http://schemas.openxmlformats.org/officeDocument/2006/relationships/tags" Target="../tags/tag568.xml"/><Relationship Id="rId6" Type="http://schemas.openxmlformats.org/officeDocument/2006/relationships/image" Target="../media/image128.emf"/><Relationship Id="rId11" Type="http://schemas.openxmlformats.org/officeDocument/2006/relationships/slide" Target="slide39.xml"/><Relationship Id="rId5" Type="http://schemas.openxmlformats.org/officeDocument/2006/relationships/slideLayout" Target="../slideLayouts/slideLayout9.xml"/><Relationship Id="rId10" Type="http://schemas.openxmlformats.org/officeDocument/2006/relationships/slide" Target="slide28.xml"/><Relationship Id="rId4" Type="http://schemas.openxmlformats.org/officeDocument/2006/relationships/tags" Target="../tags/tag571.xml"/><Relationship Id="rId9" Type="http://schemas.openxmlformats.org/officeDocument/2006/relationships/slide" Target="slide9.xml"/></Relationships>
</file>

<file path=ppt/slides/_rels/slide73.xml.rels><?xml version="1.0" encoding="UTF-8" standalone="yes"?>
<Relationships xmlns="http://schemas.openxmlformats.org/package/2006/relationships"><Relationship Id="rId8" Type="http://schemas.openxmlformats.org/officeDocument/2006/relationships/slide" Target="slide28.xml"/><Relationship Id="rId3" Type="http://schemas.openxmlformats.org/officeDocument/2006/relationships/tags" Target="../tags/tag574.xml"/><Relationship Id="rId7" Type="http://schemas.openxmlformats.org/officeDocument/2006/relationships/slide" Target="slide9.xml"/><Relationship Id="rId2" Type="http://schemas.openxmlformats.org/officeDocument/2006/relationships/tags" Target="../tags/tag573.xml"/><Relationship Id="rId1" Type="http://schemas.openxmlformats.org/officeDocument/2006/relationships/tags" Target="../tags/tag572.xml"/><Relationship Id="rId6" Type="http://schemas.openxmlformats.org/officeDocument/2006/relationships/slide" Target="slide4.xml"/><Relationship Id="rId11" Type="http://schemas.openxmlformats.org/officeDocument/2006/relationships/slide" Target="slide53.xml"/><Relationship Id="rId5" Type="http://schemas.openxmlformats.org/officeDocument/2006/relationships/image" Target="../media/image130.emf"/><Relationship Id="rId10" Type="http://schemas.openxmlformats.org/officeDocument/2006/relationships/slide" Target="slide44.xml"/><Relationship Id="rId4" Type="http://schemas.openxmlformats.org/officeDocument/2006/relationships/slideLayout" Target="../slideLayouts/slideLayout9.xml"/><Relationship Id="rId9" Type="http://schemas.openxmlformats.org/officeDocument/2006/relationships/slide" Target="slide39.xml"/></Relationships>
</file>

<file path=ppt/slides/_rels/slide74.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577.xml"/><Relationship Id="rId7" Type="http://schemas.openxmlformats.org/officeDocument/2006/relationships/image" Target="../media/image16.emf"/><Relationship Id="rId12" Type="http://schemas.openxmlformats.org/officeDocument/2006/relationships/slide" Target="slide44.xml"/><Relationship Id="rId2" Type="http://schemas.openxmlformats.org/officeDocument/2006/relationships/tags" Target="../tags/tag576.xml"/><Relationship Id="rId1" Type="http://schemas.openxmlformats.org/officeDocument/2006/relationships/tags" Target="../tags/tag575.xml"/><Relationship Id="rId6" Type="http://schemas.openxmlformats.org/officeDocument/2006/relationships/oleObject" Target="../embeddings/oleObject3.bin"/><Relationship Id="rId11" Type="http://schemas.openxmlformats.org/officeDocument/2006/relationships/slide" Target="slide39.xml"/><Relationship Id="rId5" Type="http://schemas.openxmlformats.org/officeDocument/2006/relationships/slideLayout" Target="../slideLayouts/slideLayout17.xml"/><Relationship Id="rId10" Type="http://schemas.openxmlformats.org/officeDocument/2006/relationships/slide" Target="slide28.xml"/><Relationship Id="rId4" Type="http://schemas.openxmlformats.org/officeDocument/2006/relationships/tags" Target="../tags/tag578.xml"/><Relationship Id="rId9" Type="http://schemas.openxmlformats.org/officeDocument/2006/relationships/slide" Target="slide9.xml"/></Relationships>
</file>

<file path=ppt/slides/_rels/slide75.xml.rels><?xml version="1.0" encoding="UTF-8" standalone="yes"?>
<Relationships xmlns="http://schemas.openxmlformats.org/package/2006/relationships"><Relationship Id="rId8" Type="http://schemas.openxmlformats.org/officeDocument/2006/relationships/image" Target="../media/image16.emf"/><Relationship Id="rId13" Type="http://schemas.openxmlformats.org/officeDocument/2006/relationships/slide" Target="slide44.xml"/><Relationship Id="rId3" Type="http://schemas.openxmlformats.org/officeDocument/2006/relationships/tags" Target="../tags/tag581.xml"/><Relationship Id="rId7" Type="http://schemas.openxmlformats.org/officeDocument/2006/relationships/oleObject" Target="../embeddings/oleObject4.bin"/><Relationship Id="rId12" Type="http://schemas.openxmlformats.org/officeDocument/2006/relationships/slide" Target="slide39.xml"/><Relationship Id="rId2" Type="http://schemas.openxmlformats.org/officeDocument/2006/relationships/tags" Target="../tags/tag580.xml"/><Relationship Id="rId1" Type="http://schemas.openxmlformats.org/officeDocument/2006/relationships/tags" Target="../tags/tag579.xml"/><Relationship Id="rId6" Type="http://schemas.openxmlformats.org/officeDocument/2006/relationships/slideLayout" Target="../slideLayouts/slideLayout9.xml"/><Relationship Id="rId11" Type="http://schemas.openxmlformats.org/officeDocument/2006/relationships/slide" Target="slide28.xml"/><Relationship Id="rId5" Type="http://schemas.openxmlformats.org/officeDocument/2006/relationships/tags" Target="../tags/tag583.xml"/><Relationship Id="rId10" Type="http://schemas.openxmlformats.org/officeDocument/2006/relationships/slide" Target="slide9.xml"/><Relationship Id="rId4" Type="http://schemas.openxmlformats.org/officeDocument/2006/relationships/tags" Target="../tags/tag582.xml"/><Relationship Id="rId9" Type="http://schemas.openxmlformats.org/officeDocument/2006/relationships/slide" Target="slide4.xml"/><Relationship Id="rId14" Type="http://schemas.openxmlformats.org/officeDocument/2006/relationships/slide" Target="slide53.xml"/></Relationships>
</file>

<file path=ppt/slides/_rels/slide76.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586.xml"/><Relationship Id="rId7" Type="http://schemas.openxmlformats.org/officeDocument/2006/relationships/image" Target="../media/image16.emf"/><Relationship Id="rId12" Type="http://schemas.openxmlformats.org/officeDocument/2006/relationships/slide" Target="slide44.xml"/><Relationship Id="rId2" Type="http://schemas.openxmlformats.org/officeDocument/2006/relationships/tags" Target="../tags/tag585.xml"/><Relationship Id="rId1" Type="http://schemas.openxmlformats.org/officeDocument/2006/relationships/tags" Target="../tags/tag584.xml"/><Relationship Id="rId6" Type="http://schemas.openxmlformats.org/officeDocument/2006/relationships/oleObject" Target="../embeddings/oleObject4.bin"/><Relationship Id="rId11" Type="http://schemas.openxmlformats.org/officeDocument/2006/relationships/slide" Target="slide39.xml"/><Relationship Id="rId5" Type="http://schemas.openxmlformats.org/officeDocument/2006/relationships/slideLayout" Target="../slideLayouts/slideLayout9.xml"/><Relationship Id="rId10" Type="http://schemas.openxmlformats.org/officeDocument/2006/relationships/slide" Target="slide28.xml"/><Relationship Id="rId4" Type="http://schemas.openxmlformats.org/officeDocument/2006/relationships/tags" Target="../tags/tag587.xml"/><Relationship Id="rId9" Type="http://schemas.openxmlformats.org/officeDocument/2006/relationships/slide" Target="slide9.xml"/></Relationships>
</file>

<file path=ppt/slides/_rels/slide77.xml.rels><?xml version="1.0" encoding="UTF-8" standalone="yes"?>
<Relationships xmlns="http://schemas.openxmlformats.org/package/2006/relationships"><Relationship Id="rId8" Type="http://schemas.openxmlformats.org/officeDocument/2006/relationships/slide" Target="slide4.xml"/><Relationship Id="rId13" Type="http://schemas.openxmlformats.org/officeDocument/2006/relationships/slide" Target="slide53.xml"/><Relationship Id="rId3" Type="http://schemas.openxmlformats.org/officeDocument/2006/relationships/tags" Target="../tags/tag590.xml"/><Relationship Id="rId7" Type="http://schemas.openxmlformats.org/officeDocument/2006/relationships/image" Target="../media/image16.emf"/><Relationship Id="rId12" Type="http://schemas.openxmlformats.org/officeDocument/2006/relationships/slide" Target="slide44.xml"/><Relationship Id="rId2" Type="http://schemas.openxmlformats.org/officeDocument/2006/relationships/tags" Target="../tags/tag589.xml"/><Relationship Id="rId1" Type="http://schemas.openxmlformats.org/officeDocument/2006/relationships/tags" Target="../tags/tag588.xml"/><Relationship Id="rId6" Type="http://schemas.openxmlformats.org/officeDocument/2006/relationships/oleObject" Target="../embeddings/oleObject4.bin"/><Relationship Id="rId11" Type="http://schemas.openxmlformats.org/officeDocument/2006/relationships/slide" Target="slide39.xml"/><Relationship Id="rId5" Type="http://schemas.openxmlformats.org/officeDocument/2006/relationships/slideLayout" Target="../slideLayouts/slideLayout9.xml"/><Relationship Id="rId10" Type="http://schemas.openxmlformats.org/officeDocument/2006/relationships/slide" Target="slide28.xml"/><Relationship Id="rId4" Type="http://schemas.openxmlformats.org/officeDocument/2006/relationships/tags" Target="../tags/tag591.xml"/><Relationship Id="rId9" Type="http://schemas.openxmlformats.org/officeDocument/2006/relationships/slide" Target="slide9.xml"/></Relationships>
</file>

<file path=ppt/slides/_rels/slide78.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tags" Target="../tags/tag594.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593.xml"/><Relationship Id="rId1" Type="http://schemas.openxmlformats.org/officeDocument/2006/relationships/tags" Target="../tags/tag592.xml"/><Relationship Id="rId6" Type="http://schemas.openxmlformats.org/officeDocument/2006/relationships/image" Target="../media/image16.emf"/><Relationship Id="rId11" Type="http://schemas.openxmlformats.org/officeDocument/2006/relationships/slide" Target="slide44.xml"/><Relationship Id="rId5" Type="http://schemas.openxmlformats.org/officeDocument/2006/relationships/oleObject" Target="../embeddings/oleObject5.bin"/><Relationship Id="rId10" Type="http://schemas.openxmlformats.org/officeDocument/2006/relationships/slide" Target="slide39.xml"/><Relationship Id="rId4" Type="http://schemas.openxmlformats.org/officeDocument/2006/relationships/slideLayout" Target="../slideLayouts/slideLayout9.xml"/><Relationship Id="rId9" Type="http://schemas.openxmlformats.org/officeDocument/2006/relationships/slide" Target="slide28.xml"/></Relationships>
</file>

<file path=ppt/slides/_rels/slide79.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tags" Target="../tags/tag597.xml"/><Relationship Id="rId7" Type="http://schemas.openxmlformats.org/officeDocument/2006/relationships/slide" Target="slide4.xml"/><Relationship Id="rId12" Type="http://schemas.openxmlformats.org/officeDocument/2006/relationships/slide" Target="slide53.xml"/><Relationship Id="rId2" Type="http://schemas.openxmlformats.org/officeDocument/2006/relationships/tags" Target="../tags/tag596.xml"/><Relationship Id="rId1" Type="http://schemas.openxmlformats.org/officeDocument/2006/relationships/tags" Target="../tags/tag595.xml"/><Relationship Id="rId6" Type="http://schemas.openxmlformats.org/officeDocument/2006/relationships/image" Target="../media/image16.emf"/><Relationship Id="rId11" Type="http://schemas.openxmlformats.org/officeDocument/2006/relationships/slide" Target="slide44.xml"/><Relationship Id="rId5" Type="http://schemas.openxmlformats.org/officeDocument/2006/relationships/oleObject" Target="../embeddings/oleObject5.bin"/><Relationship Id="rId10" Type="http://schemas.openxmlformats.org/officeDocument/2006/relationships/slide" Target="slide39.xml"/><Relationship Id="rId4" Type="http://schemas.openxmlformats.org/officeDocument/2006/relationships/slideLayout" Target="../slideLayouts/slideLayout9.xml"/><Relationship Id="rId9" Type="http://schemas.openxmlformats.org/officeDocument/2006/relationships/slide" Target="slide28.xml"/></Relationships>
</file>

<file path=ppt/slides/_rels/slide80.xml.rels><?xml version="1.0" encoding="UTF-8" standalone="yes"?>
<Relationships xmlns="http://schemas.openxmlformats.org/package/2006/relationships"><Relationship Id="rId3" Type="http://schemas.openxmlformats.org/officeDocument/2006/relationships/hyperlink" Target="../kpmg.com/governance" TargetMode="External"/><Relationship Id="rId2" Type="http://schemas.openxmlformats.org/officeDocument/2006/relationships/slideLayout" Target="../slideLayouts/slideLayout39.xml"/><Relationship Id="rId1" Type="http://schemas.openxmlformats.org/officeDocument/2006/relationships/tags" Target="../tags/tag598.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slide" Target="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734895B-4C66-4432-9D15-FA1FA201E29B}"/>
              </a:ext>
            </a:extLst>
          </p:cNvPr>
          <p:cNvGraphicFramePr>
            <a:graphicFrameLocks noChangeAspect="1"/>
          </p:cNvGraphicFramePr>
          <p:nvPr>
            <p:custDataLst>
              <p:tags r:id="rId1"/>
            </p:custDataLst>
            <p:extLst>
              <p:ext uri="{D42A27DB-BD31-4B8C-83A1-F6EECF244321}">
                <p14:modId xmlns:p14="http://schemas.microsoft.com/office/powerpoint/2010/main" val="314105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3" name="Object 2" hidden="1">
                        <a:extLst>
                          <a:ext uri="{FF2B5EF4-FFF2-40B4-BE49-F238E27FC236}">
                            <a16:creationId xmlns:a16="http://schemas.microsoft.com/office/drawing/2014/main" id="{2734895B-4C66-4432-9D15-FA1FA201E29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ctrTitle"/>
          </p:nvPr>
        </p:nvSpPr>
        <p:spPr>
          <a:xfrm>
            <a:off x="1274841" y="1759937"/>
            <a:ext cx="5765982" cy="2903488"/>
          </a:xfrm>
        </p:spPr>
        <p:txBody>
          <a:bodyPr vert="horz"/>
          <a:lstStyle/>
          <a:p>
            <a:pPr>
              <a:buClr>
                <a:schemeClr val="dk1">
                  <a:lumMod val="100000"/>
                </a:schemeClr>
              </a:buClr>
            </a:pPr>
            <a:r>
              <a:rPr lang="en-US"/>
              <a:t>Project North</a:t>
            </a:r>
            <a:br>
              <a:rPr lang="en-US"/>
            </a:br>
            <a:br>
              <a:rPr lang="en-US" sz="2000"/>
            </a:br>
            <a:r>
              <a:rPr lang="en-US" sz="4800"/>
              <a:t>DRAFT</a:t>
            </a:r>
            <a:endParaRPr lang="en-US"/>
          </a:p>
        </p:txBody>
      </p:sp>
      <p:sp>
        <p:nvSpPr>
          <p:cNvPr id="10" name="Text Placeholder 9">
            <a:extLst>
              <a:ext uri="{FF2B5EF4-FFF2-40B4-BE49-F238E27FC236}">
                <a16:creationId xmlns:a16="http://schemas.microsoft.com/office/drawing/2014/main" id="{C96463A5-6E83-4752-917F-F1C4EF67913D}"/>
              </a:ext>
            </a:extLst>
          </p:cNvPr>
          <p:cNvSpPr>
            <a:spLocks noGrp="1"/>
          </p:cNvSpPr>
          <p:nvPr>
            <p:ph type="body" sz="quarter" idx="11"/>
          </p:nvPr>
        </p:nvSpPr>
        <p:spPr>
          <a:xfrm>
            <a:off x="1274841" y="4752153"/>
            <a:ext cx="5765982" cy="816606"/>
          </a:xfrm>
        </p:spPr>
        <p:txBody>
          <a:bodyPr/>
          <a:lstStyle/>
          <a:p>
            <a:pPr lvl="1">
              <a:buClr>
                <a:schemeClr val="dk1">
                  <a:lumMod val="100000"/>
                </a:schemeClr>
              </a:buClr>
            </a:pPr>
            <a:r>
              <a:rPr lang="en-US"/>
              <a:t>Financial due diligence</a:t>
            </a:r>
            <a:endParaRPr lang="en-US" noProof="0"/>
          </a:p>
          <a:p>
            <a:pPr lvl="1">
              <a:buClr>
                <a:schemeClr val="dk1">
                  <a:lumMod val="100000"/>
                </a:schemeClr>
              </a:buClr>
            </a:pPr>
            <a:r>
              <a:rPr lang="en-US" noProof="0"/>
              <a:t>—</a:t>
            </a:r>
          </a:p>
          <a:p>
            <a:pPr lvl="1">
              <a:buClr>
                <a:schemeClr val="dk1">
                  <a:lumMod val="100000"/>
                </a:schemeClr>
              </a:buClr>
            </a:pPr>
            <a:r>
              <a:rPr lang="en-US"/>
              <a:t>August 8, 2024</a:t>
            </a:r>
            <a:endParaRPr lang="en-US" noProof="0"/>
          </a:p>
        </p:txBody>
      </p:sp>
    </p:spTree>
    <p:extLst>
      <p:ext uri="{BB962C8B-B14F-4D97-AF65-F5344CB8AC3E}">
        <p14:creationId xmlns:p14="http://schemas.microsoft.com/office/powerpoint/2010/main" val="2856257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E90D9C4-2D7B-20FE-6DF6-9B9FED1AD973}"/>
              </a:ext>
            </a:extLst>
          </p:cNvPr>
          <p:cNvSpPr>
            <a:spLocks noGrp="1"/>
          </p:cNvSpPr>
          <p:nvPr>
            <p:ph type="body" sz="quarter" idx="11"/>
          </p:nvPr>
        </p:nvSpPr>
        <p:spPr>
          <a:xfrm>
            <a:off x="1003200" y="2271173"/>
            <a:ext cx="4968000" cy="3987009"/>
          </a:xfrm>
        </p:spPr>
        <p:txBody>
          <a:bodyPr/>
          <a:lstStyle/>
          <a:p>
            <a:pPr lvl="1" algn="just">
              <a:lnSpc>
                <a:spcPts val="1100"/>
              </a:lnSpc>
              <a:spcAft>
                <a:spcPts val="300"/>
              </a:spcAft>
            </a:pPr>
            <a:r>
              <a:rPr lang="en-US" sz="780" b="1" noProof="0"/>
              <a:t>Project </a:t>
            </a:r>
            <a:r>
              <a:rPr lang="en-US" sz="780" b="1"/>
              <a:t>North</a:t>
            </a:r>
            <a:endParaRPr lang="en-US" sz="780" b="1" noProof="0"/>
          </a:p>
          <a:p>
            <a:pPr lvl="1" algn="just">
              <a:lnSpc>
                <a:spcPts val="1100"/>
              </a:lnSpc>
              <a:spcAft>
                <a:spcPts val="300"/>
              </a:spcAft>
            </a:pPr>
            <a:r>
              <a:rPr lang="en-US" sz="780" noProof="0"/>
              <a:t>We have completed our procedures to assist Everlink Payment Services Inc.</a:t>
            </a:r>
            <a:r>
              <a:rPr lang="en-US" sz="780" noProof="0">
                <a:solidFill>
                  <a:srgbClr val="FF0000"/>
                </a:solidFill>
              </a:rPr>
              <a:t> </a:t>
            </a:r>
            <a:r>
              <a:rPr lang="en-US" sz="780" noProof="0"/>
              <a:t>(“Client”, “Company”, or “you”) in performing financial due diligence in accordance with the terms of our engagement letter dated </a:t>
            </a:r>
            <a:r>
              <a:rPr lang="en-US" sz="780"/>
              <a:t>May 20, 2024</a:t>
            </a:r>
            <a:r>
              <a:rPr lang="en-US" sz="780" noProof="0"/>
              <a:t>, including its Terms and Conditions for Advisory and Tax Services. </a:t>
            </a:r>
          </a:p>
          <a:p>
            <a:pPr lvl="1" algn="just">
              <a:lnSpc>
                <a:spcPts val="1100"/>
              </a:lnSpc>
              <a:spcAft>
                <a:spcPts val="300"/>
              </a:spcAft>
            </a:pPr>
            <a:r>
              <a:rPr lang="en-US" sz="780" b="1" noProof="0"/>
              <a:t>Objective</a:t>
            </a:r>
          </a:p>
          <a:p>
            <a:pPr lvl="1" algn="just">
              <a:lnSpc>
                <a:spcPts val="1100"/>
              </a:lnSpc>
              <a:spcAft>
                <a:spcPts val="300"/>
              </a:spcAft>
            </a:pPr>
            <a:r>
              <a:rPr lang="en-US" sz="780" b="0">
                <a:solidFill>
                  <a:schemeClr val="tx1"/>
                </a:solidFill>
              </a:rPr>
              <a:t>The objective of our engagement was to assist you as you evaluate potential strategic alternatives for the business. </a:t>
            </a:r>
            <a:r>
              <a:rPr lang="en-US" sz="780" noProof="0"/>
              <a:t>Our work in this report was based on information provided by you and obtained in an electronic data room and discussions/meetings with the Company’s </a:t>
            </a:r>
            <a:r>
              <a:rPr lang="en-US" sz="780"/>
              <a:t>VP Finance and Controller</a:t>
            </a:r>
            <a:r>
              <a:rPr lang="en-US" sz="780" noProof="0"/>
              <a:t>.</a:t>
            </a:r>
          </a:p>
          <a:p>
            <a:pPr lvl="1" algn="just">
              <a:lnSpc>
                <a:spcPts val="1100"/>
              </a:lnSpc>
              <a:spcAft>
                <a:spcPts val="300"/>
              </a:spcAft>
            </a:pPr>
            <a:r>
              <a:rPr lang="en-US" sz="780" b="0" spc="-20">
                <a:solidFill>
                  <a:schemeClr val="tx1"/>
                </a:solidFill>
              </a:rPr>
              <a:t>The scope of our work is to provide information to you and any prospective investor or purchaser parties on a non-reliance basis and does not in any way involve advice or recommendations to any prospective investor or purchaser party as to whether to proceed with the transaction. Each prospective purchaser should complete additional due diligence procedures to the extent it considers necessary. </a:t>
            </a:r>
          </a:p>
          <a:p>
            <a:pPr lvl="1" algn="just">
              <a:lnSpc>
                <a:spcPts val="1100"/>
              </a:lnSpc>
              <a:spcAft>
                <a:spcPts val="300"/>
              </a:spcAft>
            </a:pPr>
            <a:r>
              <a:rPr lang="en-US" sz="780" noProof="0"/>
              <a:t>Please review the following documents in the appendices, which set out the basis and limitations of our work performed:</a:t>
            </a:r>
          </a:p>
          <a:p>
            <a:pPr lvl="0" algn="just">
              <a:lnSpc>
                <a:spcPts val="1100"/>
              </a:lnSpc>
              <a:spcAft>
                <a:spcPts val="300"/>
              </a:spcAft>
            </a:pPr>
            <a:endParaRPr lang="en-US" sz="780" noProof="0"/>
          </a:p>
          <a:p>
            <a:pPr lvl="0" algn="just">
              <a:lnSpc>
                <a:spcPts val="1100"/>
              </a:lnSpc>
              <a:spcAft>
                <a:spcPts val="300"/>
              </a:spcAft>
            </a:pPr>
            <a:endParaRPr lang="en-US" sz="780" noProof="0"/>
          </a:p>
          <a:p>
            <a:pPr lvl="0" algn="just">
              <a:lnSpc>
                <a:spcPts val="1100"/>
              </a:lnSpc>
              <a:spcAft>
                <a:spcPts val="300"/>
              </a:spcAft>
            </a:pPr>
            <a:endParaRPr lang="en-US" sz="780" noProof="0"/>
          </a:p>
          <a:p>
            <a:pPr lvl="0" algn="just">
              <a:lnSpc>
                <a:spcPts val="1100"/>
              </a:lnSpc>
              <a:spcAft>
                <a:spcPts val="300"/>
              </a:spcAft>
            </a:pPr>
            <a:endParaRPr lang="en-US" sz="780" noProof="0"/>
          </a:p>
          <a:p>
            <a:pPr lvl="0" algn="just">
              <a:lnSpc>
                <a:spcPts val="1100"/>
              </a:lnSpc>
              <a:spcAft>
                <a:spcPts val="300"/>
              </a:spcAft>
            </a:pPr>
            <a:endParaRPr lang="en-US" sz="780"/>
          </a:p>
          <a:p>
            <a:pPr lvl="0" algn="just">
              <a:lnSpc>
                <a:spcPts val="1100"/>
              </a:lnSpc>
              <a:spcAft>
                <a:spcPts val="300"/>
              </a:spcAft>
            </a:pPr>
            <a:endParaRPr lang="en-IN" sz="780" noProof="0"/>
          </a:p>
          <a:p>
            <a:pPr lvl="0">
              <a:lnSpc>
                <a:spcPts val="1100"/>
              </a:lnSpc>
              <a:spcAft>
                <a:spcPts val="300"/>
              </a:spcAft>
            </a:pPr>
            <a:endParaRPr lang="en-US" sz="780" noProof="0"/>
          </a:p>
          <a:p>
            <a:endParaRPr lang="en-US" sz="780"/>
          </a:p>
        </p:txBody>
      </p:sp>
      <p:sp>
        <p:nvSpPr>
          <p:cNvPr id="7" name="Text Placeholder 6">
            <a:extLst>
              <a:ext uri="{FF2B5EF4-FFF2-40B4-BE49-F238E27FC236}">
                <a16:creationId xmlns:a16="http://schemas.microsoft.com/office/drawing/2014/main" id="{CCE57869-5980-A9ED-4666-C9D7AFF7EA13}"/>
              </a:ext>
            </a:extLst>
          </p:cNvPr>
          <p:cNvSpPr>
            <a:spLocks noGrp="1"/>
          </p:cNvSpPr>
          <p:nvPr>
            <p:ph type="body" sz="quarter" idx="12"/>
          </p:nvPr>
        </p:nvSpPr>
        <p:spPr>
          <a:xfrm>
            <a:off x="6220800" y="1595940"/>
            <a:ext cx="4968000" cy="4230093"/>
          </a:xfrm>
        </p:spPr>
        <p:txBody>
          <a:bodyPr/>
          <a:lstStyle/>
          <a:p>
            <a:pPr algn="just" rtl="0"/>
            <a:r>
              <a:rPr lang="en-US" sz="780" b="1" i="0" strike="noStrike" baseline="0">
                <a:solidFill>
                  <a:schemeClr val="tx1"/>
                </a:solidFill>
                <a:latin typeface="Arial" panose="020B0604020202020204" pitchFamily="34" charset="0"/>
                <a:cs typeface="Arial" panose="020B0604020202020204" pitchFamily="34" charset="0"/>
              </a:rPr>
              <a:t>Basis of Information</a:t>
            </a:r>
          </a:p>
          <a:p>
            <a:pPr algn="just" rtl="0">
              <a:lnSpc>
                <a:spcPts val="1100"/>
              </a:lnSpc>
              <a:spcAft>
                <a:spcPts val="300"/>
              </a:spcAft>
            </a:pPr>
            <a:r>
              <a:rPr lang="en-US" sz="780" b="0" i="0" strike="noStrike" baseline="0">
                <a:solidFill>
                  <a:schemeClr val="tx1"/>
                </a:solidFill>
                <a:latin typeface="Arial" panose="020B0604020202020204" pitchFamily="34" charset="0"/>
                <a:cs typeface="Arial" panose="020B0604020202020204" pitchFamily="34" charset="0"/>
              </a:rPr>
              <a:t>The procedures we performed do not constitute an audit, examination or review in accordance with standards established by the Auditing and Assurance Standards Board (“AASB”) in Canada, and we have not otherwise verified the information we obtained or presented in this report. We express no opinion or any other form of assurance on Target’s internal control over financial reporting or on the information presented in our report and make no representations concerning its accuracy or completeness. </a:t>
            </a:r>
          </a:p>
          <a:p>
            <a:pPr algn="just">
              <a:lnSpc>
                <a:spcPts val="1100"/>
              </a:lnSpc>
              <a:spcAft>
                <a:spcPts val="300"/>
              </a:spcAft>
            </a:pPr>
            <a:r>
              <a:rPr lang="en-US" sz="780" b="0" spc="-20">
                <a:solidFill>
                  <a:schemeClr val="tx1"/>
                </a:solidFill>
                <a:latin typeface="Arial" panose="020B0604020202020204" pitchFamily="34" charset="0"/>
                <a:cs typeface="Arial" panose="020B0604020202020204" pitchFamily="34" charset="0"/>
              </a:rPr>
              <a:t>We have not compiled, examined, or applied other procedures in accordance with the Assurance and Related Services Guidelines issued by the AASB to prospective information contained in this document and, accordingly, express no opinion or any other form of assurance or representations concerning the accuracy, completeness or presentation format of such prospective information. There will usually be differences between projected and actual results, because events and circumstances frequently do not occur as expected, and those differences may be material. </a:t>
            </a:r>
          </a:p>
          <a:p>
            <a:pPr algn="just">
              <a:lnSpc>
                <a:spcPts val="1100"/>
              </a:lnSpc>
              <a:spcAft>
                <a:spcPts val="300"/>
              </a:spcAft>
            </a:pPr>
            <a:r>
              <a:rPr lang="en-US" sz="780" b="0" spc="-20">
                <a:solidFill>
                  <a:schemeClr val="tx1"/>
                </a:solidFill>
                <a:latin typeface="Arial" panose="020B0604020202020204" pitchFamily="34" charset="0"/>
                <a:cs typeface="Arial" panose="020B0604020202020204" pitchFamily="34" charset="0"/>
              </a:rPr>
              <a:t>The data included in this report was received from </a:t>
            </a:r>
            <a:r>
              <a:rPr lang="en-US" sz="780" b="0">
                <a:solidFill>
                  <a:schemeClr val="tx1"/>
                </a:solidFill>
                <a:latin typeface="Arial" panose="020B0604020202020204" pitchFamily="34" charset="0"/>
                <a:cs typeface="Arial" panose="020B0604020202020204" pitchFamily="34" charset="0"/>
              </a:rPr>
              <a:t>May 15, 2024  </a:t>
            </a:r>
            <a:r>
              <a:rPr lang="en-US" sz="780" b="0" spc="-20">
                <a:solidFill>
                  <a:schemeClr val="tx1"/>
                </a:solidFill>
                <a:latin typeface="Arial" panose="020B0604020202020204" pitchFamily="34" charset="0"/>
                <a:cs typeface="Arial" panose="020B0604020202020204" pitchFamily="34" charset="0"/>
              </a:rPr>
              <a:t>to August 8</a:t>
            </a:r>
            <a:r>
              <a:rPr lang="en-US" sz="780" b="0">
                <a:solidFill>
                  <a:schemeClr val="tx1"/>
                </a:solidFill>
                <a:latin typeface="Arial" panose="020B0604020202020204" pitchFamily="34" charset="0"/>
                <a:cs typeface="Arial" panose="020B0604020202020204" pitchFamily="34" charset="0"/>
              </a:rPr>
              <a:t>, 2024</a:t>
            </a:r>
            <a:r>
              <a:rPr lang="en-US" sz="780" b="0" spc="-20">
                <a:solidFill>
                  <a:schemeClr val="accent6"/>
                </a:solidFill>
                <a:latin typeface="Arial" panose="020B0604020202020204" pitchFamily="34" charset="0"/>
                <a:cs typeface="Arial" panose="020B0604020202020204" pitchFamily="34" charset="0"/>
              </a:rPr>
              <a:t>. </a:t>
            </a:r>
            <a:r>
              <a:rPr lang="en-US" sz="780" b="0" spc="-20">
                <a:solidFill>
                  <a:schemeClr val="tx1"/>
                </a:solidFill>
                <a:latin typeface="Arial" panose="020B0604020202020204" pitchFamily="34" charset="0"/>
                <a:cs typeface="Arial" panose="020B0604020202020204" pitchFamily="34" charset="0"/>
              </a:rPr>
              <a:t>Since many aspects of the prospective transaction have either not been finalized or are not yet documented, changes may occur that materially affect the financial and other information we received and reported to you. We have no obligation to update our report or to revise the information contained herein to reflect events and transactions occurring after August</a:t>
            </a:r>
            <a:r>
              <a:rPr lang="en-US" sz="780" b="0">
                <a:solidFill>
                  <a:schemeClr val="tx1"/>
                </a:solidFill>
                <a:latin typeface="Arial" panose="020B0604020202020204" pitchFamily="34" charset="0"/>
                <a:cs typeface="Arial" panose="020B0604020202020204" pitchFamily="34" charset="0"/>
              </a:rPr>
              <a:t> 8, 2024</a:t>
            </a:r>
            <a:r>
              <a:rPr lang="en-US" sz="780" b="0" spc="-20">
                <a:solidFill>
                  <a:schemeClr val="tx1"/>
                </a:solidFill>
                <a:latin typeface="Arial" panose="020B0604020202020204" pitchFamily="34" charset="0"/>
                <a:cs typeface="Arial" panose="020B0604020202020204" pitchFamily="34" charset="0"/>
              </a:rPr>
              <a:t>. We have reviewed this report with Management for the purpose of confirming the factual accuracy of the information we presented.</a:t>
            </a:r>
          </a:p>
          <a:p>
            <a:pPr algn="just">
              <a:lnSpc>
                <a:spcPts val="1100"/>
              </a:lnSpc>
              <a:spcAft>
                <a:spcPts val="300"/>
              </a:spcAft>
            </a:pPr>
            <a:r>
              <a:rPr lang="en-US" sz="780" b="0" spc="-20">
                <a:solidFill>
                  <a:schemeClr val="tx1"/>
                </a:solidFill>
                <a:latin typeface="Arial" panose="020B0604020202020204" pitchFamily="34" charset="0"/>
                <a:cs typeface="Arial" panose="020B0604020202020204" pitchFamily="34" charset="0"/>
              </a:rPr>
              <a:t>Because of its special nature, this report is not suited for any purpose other than to assist Client in its evaluation of the business and, as such and as agreed in the Engagement Agreement, this report may be provided to any prospective purchaser parties on a non-reliance basis and does not in any way involve advice or recommendations to any prospective purchaser party as to whether to proceed with a transaction. Accordingly, KPMG does not accept any liability or responsibility to any third party who may use or place reliance on our report.</a:t>
            </a:r>
          </a:p>
          <a:p>
            <a:pPr lvl="1" algn="just" defTabSz="914377"/>
            <a:r>
              <a:rPr lang="en-US" sz="780"/>
              <a:t>Yours sincerely,</a:t>
            </a:r>
          </a:p>
          <a:p>
            <a:pPr lvl="1" algn="just" defTabSz="914377"/>
            <a:r>
              <a:rPr lang="en-US" sz="780" b="1"/>
              <a:t>KPMG LLP</a:t>
            </a:r>
          </a:p>
          <a:p>
            <a:pPr algn="just" defTabSz="914377">
              <a:lnSpc>
                <a:spcPts val="1100"/>
              </a:lnSpc>
              <a:spcAft>
                <a:spcPts val="0"/>
              </a:spcAft>
            </a:pPr>
            <a:br>
              <a:rPr lang="en-US" sz="780" b="0" spc="-20"/>
            </a:br>
            <a:r>
              <a:rPr lang="en-US" sz="900" spc="-20"/>
              <a:t>Draft</a:t>
            </a:r>
            <a:endParaRPr lang="en-US" sz="900" i="1" spc="-20"/>
          </a:p>
          <a:p>
            <a:endParaRPr lang="en-US"/>
          </a:p>
        </p:txBody>
      </p:sp>
      <p:sp>
        <p:nvSpPr>
          <p:cNvPr id="8" name="TextBox 7">
            <a:extLst>
              <a:ext uri="{FF2B5EF4-FFF2-40B4-BE49-F238E27FC236}">
                <a16:creationId xmlns:a16="http://schemas.microsoft.com/office/drawing/2014/main" id="{BE2960EA-B639-F002-69D0-9D1830BB631C}"/>
              </a:ext>
            </a:extLst>
          </p:cNvPr>
          <p:cNvSpPr txBox="1">
            <a:spLocks/>
          </p:cNvSpPr>
          <p:nvPr/>
        </p:nvSpPr>
        <p:spPr>
          <a:xfrm>
            <a:off x="999663" y="908501"/>
            <a:ext cx="4961984" cy="1281681"/>
          </a:xfrm>
          <a:prstGeom prst="rect">
            <a:avLst/>
          </a:prstGeom>
        </p:spPr>
        <p:txBody>
          <a:bodyPr vert="horz" wrap="square" lIns="0" tIns="0" rIns="0" bIns="0" rtlCol="0" anchor="t" anchorCtr="0">
            <a:noAutofit/>
          </a:bodyPr>
          <a:lstStyle/>
          <a:p>
            <a:pPr>
              <a:lnSpc>
                <a:spcPts val="1100"/>
              </a:lnSpc>
              <a:spcAft>
                <a:spcPts val="0"/>
              </a:spcAft>
            </a:pPr>
            <a:r>
              <a:rPr lang="en-US" sz="780" b="1">
                <a:solidFill>
                  <a:schemeClr val="tx1"/>
                </a:solidFill>
              </a:rPr>
              <a:t>Private and confidential</a:t>
            </a:r>
          </a:p>
          <a:p>
            <a:pPr>
              <a:lnSpc>
                <a:spcPts val="1100"/>
              </a:lnSpc>
              <a:spcAft>
                <a:spcPts val="0"/>
              </a:spcAft>
            </a:pPr>
            <a:endParaRPr lang="en-US" sz="780" b="0">
              <a:solidFill>
                <a:schemeClr val="tx1"/>
              </a:solidFill>
            </a:endParaRPr>
          </a:p>
          <a:p>
            <a:pPr>
              <a:lnSpc>
                <a:spcPts val="1100"/>
              </a:lnSpc>
              <a:spcAft>
                <a:spcPts val="0"/>
              </a:spcAft>
            </a:pPr>
            <a:r>
              <a:rPr lang="en-US" sz="780"/>
              <a:t>Mr Mark Ripplinger, Chief Executive Officer</a:t>
            </a:r>
          </a:p>
          <a:p>
            <a:pPr>
              <a:lnSpc>
                <a:spcPts val="1100"/>
              </a:lnSpc>
              <a:spcAft>
                <a:spcPts val="0"/>
              </a:spcAft>
            </a:pPr>
            <a:r>
              <a:rPr lang="en-US" sz="780" b="0">
                <a:solidFill>
                  <a:schemeClr val="tx1"/>
                </a:solidFill>
              </a:rPr>
              <a:t>Everlink Payment Services Inc.</a:t>
            </a:r>
          </a:p>
          <a:p>
            <a:pPr>
              <a:lnSpc>
                <a:spcPts val="1100"/>
              </a:lnSpc>
              <a:spcAft>
                <a:spcPts val="0"/>
              </a:spcAft>
            </a:pPr>
            <a:r>
              <a:rPr lang="en-US" sz="780"/>
              <a:t>125 Commerce Valley Drive West</a:t>
            </a:r>
          </a:p>
          <a:p>
            <a:pPr>
              <a:lnSpc>
                <a:spcPts val="1100"/>
              </a:lnSpc>
              <a:spcAft>
                <a:spcPts val="0"/>
              </a:spcAft>
            </a:pPr>
            <a:r>
              <a:rPr lang="en-US" sz="780"/>
              <a:t>Markham</a:t>
            </a:r>
            <a:r>
              <a:rPr lang="en-US" sz="780" b="0">
                <a:solidFill>
                  <a:schemeClr val="tx1"/>
                </a:solidFill>
              </a:rPr>
              <a:t>, ON</a:t>
            </a:r>
          </a:p>
          <a:p>
            <a:pPr>
              <a:lnSpc>
                <a:spcPts val="1100"/>
              </a:lnSpc>
              <a:spcAft>
                <a:spcPts val="0"/>
              </a:spcAft>
            </a:pPr>
            <a:r>
              <a:rPr lang="en-US" sz="780"/>
              <a:t>L3T 7W4</a:t>
            </a:r>
            <a:endParaRPr lang="en-US" sz="780" b="0">
              <a:solidFill>
                <a:schemeClr val="tx1"/>
              </a:solidFill>
            </a:endParaRPr>
          </a:p>
          <a:p>
            <a:pPr>
              <a:spcBef>
                <a:spcPts val="1200"/>
              </a:spcBef>
              <a:spcAft>
                <a:spcPts val="400"/>
              </a:spcAft>
            </a:pPr>
            <a:r>
              <a:rPr lang="en-US" sz="780"/>
              <a:t>August 8, 2024</a:t>
            </a:r>
            <a:endParaRPr lang="en-US" sz="780" b="0">
              <a:solidFill>
                <a:schemeClr val="tx1"/>
              </a:solidFill>
            </a:endParaRPr>
          </a:p>
        </p:txBody>
      </p:sp>
      <p:grpSp>
        <p:nvGrpSpPr>
          <p:cNvPr id="9" name="Group 8">
            <a:extLst>
              <a:ext uri="{FF2B5EF4-FFF2-40B4-BE49-F238E27FC236}">
                <a16:creationId xmlns:a16="http://schemas.microsoft.com/office/drawing/2014/main" id="{172B8BCE-3EBB-970D-B0E7-E1E45DE87A02}"/>
              </a:ext>
            </a:extLst>
          </p:cNvPr>
          <p:cNvGrpSpPr/>
          <p:nvPr/>
        </p:nvGrpSpPr>
        <p:grpSpPr>
          <a:xfrm>
            <a:off x="999663" y="4525805"/>
            <a:ext cx="2866369" cy="716034"/>
            <a:chOff x="1003200" y="4258691"/>
            <a:chExt cx="2866369" cy="716034"/>
          </a:xfrm>
        </p:grpSpPr>
        <p:sp>
          <p:nvSpPr>
            <p:cNvPr id="10" name="TextBox 9">
              <a:extLst>
                <a:ext uri="{FF2B5EF4-FFF2-40B4-BE49-F238E27FC236}">
                  <a16:creationId xmlns:a16="http://schemas.microsoft.com/office/drawing/2014/main" id="{4697908C-FA87-3001-15B1-CAD9A1B50CC7}"/>
                </a:ext>
              </a:extLst>
            </p:cNvPr>
            <p:cNvSpPr txBox="1">
              <a:spLocks/>
            </p:cNvSpPr>
            <p:nvPr/>
          </p:nvSpPr>
          <p:spPr>
            <a:xfrm>
              <a:off x="1003200" y="4258691"/>
              <a:ext cx="1496000" cy="12182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780" b="1" i="0" strike="noStrike" kern="1200" cap="none" spc="0" normalizeH="0" baseline="0" noProof="0">
                  <a:ln>
                    <a:noFill/>
                  </a:ln>
                  <a:solidFill>
                    <a:schemeClr val="dk2">
                      <a:lumMod val="100000"/>
                    </a:schemeClr>
                  </a:solidFill>
                  <a:effectLst/>
                  <a:uLnTx/>
                  <a:uFillTx/>
                  <a:ea typeface="+mn-ea"/>
                  <a:cs typeface="+mn-cs"/>
                  <a:hlinkClick r:id="rId2" action="ppaction://hlinksldjump" tooltip="Important notice&#10;Reference ID: ad1e9fd7-2b29-4cbc-9041-857c3a958070&#10;Content: Important notice"/>
                </a:rPr>
                <a:t>‎Important notice</a:t>
              </a:r>
              <a:endParaRPr kumimoji="0" lang="en-US" sz="780" b="1" i="0" strike="noStrike" kern="1200" cap="none" spc="0" normalizeH="0" baseline="0" noProof="0">
                <a:ln>
                  <a:noFill/>
                </a:ln>
                <a:solidFill>
                  <a:schemeClr val="dk2">
                    <a:lumMod val="100000"/>
                  </a:schemeClr>
                </a:solidFill>
                <a:effectLst/>
                <a:uLnTx/>
                <a:uFillTx/>
                <a:ea typeface="+mn-ea"/>
                <a:cs typeface="+mn-cs"/>
              </a:endParaRPr>
            </a:p>
          </p:txBody>
        </p:sp>
        <p:sp>
          <p:nvSpPr>
            <p:cNvPr id="12" name="TextBox 11">
              <a:extLst>
                <a:ext uri="{FF2B5EF4-FFF2-40B4-BE49-F238E27FC236}">
                  <a16:creationId xmlns:a16="http://schemas.microsoft.com/office/drawing/2014/main" id="{1AEE4EE6-E0B5-F4DE-A53E-190F4AC54892}"/>
                </a:ext>
              </a:extLst>
            </p:cNvPr>
            <p:cNvSpPr txBox="1">
              <a:spLocks/>
            </p:cNvSpPr>
            <p:nvPr/>
          </p:nvSpPr>
          <p:spPr>
            <a:xfrm>
              <a:off x="2208045" y="4267906"/>
              <a:ext cx="1661524" cy="121828"/>
            </a:xfrm>
            <a:prstGeom prst="rect">
              <a:avLst/>
            </a:prstGeom>
            <a:noFill/>
          </p:spPr>
          <p:txBody>
            <a:bodyPr wrap="square" lIns="0" tIns="0" rIns="0" bIns="0" anchor="t">
              <a:spAutoFit/>
            </a:body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780" b="1" i="0" strike="noStrike" kern="1200" cap="none" spc="0" normalizeH="0" baseline="0" noProof="0">
                  <a:ln>
                    <a:noFill/>
                  </a:ln>
                  <a:solidFill>
                    <a:schemeClr val="dk2">
                      <a:lumMod val="100000"/>
                    </a:schemeClr>
                  </a:solidFill>
                  <a:effectLst/>
                  <a:uLnTx/>
                  <a:uFillTx/>
                  <a:ea typeface="+mn-ea"/>
                  <a:cs typeface="+mn-cs"/>
                  <a:hlinkClick r:id="rId3" action="ppaction://hlinksldjump" tooltip="Scope of work (1/3)&#10;Reference ID: 134f02ea-0b8c-45c9-b8d8-937b9d9f32ed&#10;Content: Scope of work"/>
                </a:rPr>
                <a:t>‎Scope of work</a:t>
              </a:r>
              <a:endParaRPr kumimoji="0" lang="en-US" sz="780" b="1" i="0" strike="noStrike" kern="1200" cap="none" spc="0" normalizeH="0" baseline="0" noProof="0">
                <a:ln>
                  <a:noFill/>
                </a:ln>
                <a:solidFill>
                  <a:schemeClr val="dk2">
                    <a:lumMod val="100000"/>
                  </a:schemeClr>
                </a:solidFill>
                <a:effectLst/>
                <a:uLnTx/>
                <a:uFillTx/>
                <a:ea typeface="+mn-ea"/>
                <a:cs typeface="+mn-cs"/>
              </a:endParaRPr>
            </a:p>
          </p:txBody>
        </p:sp>
        <p:pic>
          <p:nvPicPr>
            <p:cNvPr id="14" name="Picture 13">
              <a:hlinkClick r:id="" action="ppaction://noaction"/>
              <a:extLst>
                <a:ext uri="{FF2B5EF4-FFF2-40B4-BE49-F238E27FC236}">
                  <a16:creationId xmlns:a16="http://schemas.microsoft.com/office/drawing/2014/main" id="{79D8C68B-9CF6-B40B-66CB-31E12969D2C9}"/>
                </a:ext>
              </a:extLst>
            </p:cNvPr>
            <p:cNvPicPr>
              <a:picLocks noChangeAspect="1"/>
            </p:cNvPicPr>
            <p:nvPr/>
          </p:nvPicPr>
          <p:blipFill>
            <a:blip r:embed="rId4"/>
            <a:stretch>
              <a:fillRect/>
            </a:stretch>
          </p:blipFill>
          <p:spPr>
            <a:xfrm>
              <a:off x="2208045" y="4470725"/>
              <a:ext cx="896927" cy="504000"/>
            </a:xfrm>
            <a:prstGeom prst="rect">
              <a:avLst/>
            </a:prstGeom>
            <a:ln w="6350">
              <a:solidFill>
                <a:srgbClr val="000000"/>
              </a:solidFill>
            </a:ln>
          </p:spPr>
        </p:pic>
        <p:pic>
          <p:nvPicPr>
            <p:cNvPr id="15" name="Picture 14">
              <a:hlinkClick r:id="rId2" action="ppaction://hlinksldjump"/>
              <a:extLst>
                <a:ext uri="{FF2B5EF4-FFF2-40B4-BE49-F238E27FC236}">
                  <a16:creationId xmlns:a16="http://schemas.microsoft.com/office/drawing/2014/main" id="{FCEFFA55-AE51-3EC5-4723-4B7DEAF03149}"/>
                </a:ext>
              </a:extLst>
            </p:cNvPr>
            <p:cNvPicPr>
              <a:picLocks noChangeAspect="1"/>
            </p:cNvPicPr>
            <p:nvPr/>
          </p:nvPicPr>
          <p:blipFill>
            <a:blip r:embed="rId5"/>
            <a:stretch>
              <a:fillRect/>
            </a:stretch>
          </p:blipFill>
          <p:spPr>
            <a:xfrm>
              <a:off x="1003200" y="4461489"/>
              <a:ext cx="897069" cy="504000"/>
            </a:xfrm>
            <a:prstGeom prst="rect">
              <a:avLst/>
            </a:prstGeom>
            <a:ln w="6350">
              <a:solidFill>
                <a:srgbClr val="000000"/>
              </a:solidFill>
            </a:ln>
          </p:spPr>
        </p:pic>
      </p:grpSp>
    </p:spTree>
    <p:extLst>
      <p:ext uri="{BB962C8B-B14F-4D97-AF65-F5344CB8AC3E}">
        <p14:creationId xmlns:p14="http://schemas.microsoft.com/office/powerpoint/2010/main" val="2900451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846CA-A18C-068B-3A67-1C9BB6426ACE}"/>
              </a:ext>
            </a:extLst>
          </p:cNvPr>
          <p:cNvSpPr>
            <a:spLocks noGrp="1"/>
          </p:cNvSpPr>
          <p:nvPr>
            <p:ph type="title"/>
          </p:nvPr>
        </p:nvSpPr>
        <p:spPr/>
        <p:txBody>
          <a:bodyPr/>
          <a:lstStyle/>
          <a:p>
            <a:r>
              <a:rPr lang="en-US"/>
              <a:t>Contents</a:t>
            </a:r>
          </a:p>
        </p:txBody>
      </p:sp>
      <p:sp>
        <p:nvSpPr>
          <p:cNvPr id="3634" name="Rectangle 3633">
            <a:extLst>
              <a:ext uri="{FF2B5EF4-FFF2-40B4-BE49-F238E27FC236}">
                <a16:creationId xmlns:a16="http://schemas.microsoft.com/office/drawing/2014/main" id="{8F2D857B-E5D5-71FB-D6C0-ED5525B6C2AD}"/>
              </a:ext>
            </a:extLst>
          </p:cNvPr>
          <p:cNvSpPr/>
          <p:nvPr/>
        </p:nvSpPr>
        <p:spPr>
          <a:xfrm>
            <a:off x="11215923" y="774366"/>
            <a:ext cx="504946" cy="153888"/>
          </a:xfrm>
          <a:prstGeom prst="rect">
            <a:avLst/>
          </a:prstGeom>
        </p:spPr>
        <p:txBody>
          <a:bodyPr wrap="none" lIns="0" tIns="0" rIns="0" bIns="0" anchor="ctr">
            <a:spAutoFit/>
          </a:bodyPr>
          <a:lstStyle/>
          <a:p>
            <a:pPr algn="r"/>
            <a:r>
              <a:rPr lang="en-US" sz="1000">
                <a:solidFill>
                  <a:schemeClr val="tx2"/>
                </a:solidFill>
              </a:rPr>
              <a:t>Glossary</a:t>
            </a:r>
          </a:p>
        </p:txBody>
      </p:sp>
      <p:pic>
        <p:nvPicPr>
          <p:cNvPr id="3637" name="Picture 3636">
            <a:hlinkClick r:id="rId108" action="ppaction://hlinksldjump"/>
            <a:extLst>
              <a:ext uri="{FF2B5EF4-FFF2-40B4-BE49-F238E27FC236}">
                <a16:creationId xmlns:a16="http://schemas.microsoft.com/office/drawing/2014/main" id="{BA210632-D393-17D8-45A0-D12F65EEC20F}"/>
              </a:ext>
            </a:extLst>
          </p:cNvPr>
          <p:cNvPicPr>
            <a:picLocks noChangeAspect="1"/>
          </p:cNvPicPr>
          <p:nvPr/>
        </p:nvPicPr>
        <p:blipFill>
          <a:blip r:embed="rId109"/>
          <a:stretch>
            <a:fillRect/>
          </a:stretch>
        </p:blipFill>
        <p:spPr>
          <a:xfrm>
            <a:off x="11828635" y="716873"/>
            <a:ext cx="254677" cy="254677"/>
          </a:xfrm>
          <a:prstGeom prst="rect">
            <a:avLst/>
          </a:prstGeom>
        </p:spPr>
      </p:pic>
      <p:sp>
        <p:nvSpPr>
          <p:cNvPr id="3635" name="Rectangle 3634">
            <a:extLst>
              <a:ext uri="{FF2B5EF4-FFF2-40B4-BE49-F238E27FC236}">
                <a16:creationId xmlns:a16="http://schemas.microsoft.com/office/drawing/2014/main" id="{4F4BC75C-9AE6-FA29-E21D-622BC49BC288}"/>
              </a:ext>
            </a:extLst>
          </p:cNvPr>
          <p:cNvSpPr/>
          <p:nvPr/>
        </p:nvSpPr>
        <p:spPr>
          <a:xfrm>
            <a:off x="10834408" y="1097077"/>
            <a:ext cx="886461" cy="153888"/>
          </a:xfrm>
          <a:prstGeom prst="rect">
            <a:avLst/>
          </a:prstGeom>
        </p:spPr>
        <p:txBody>
          <a:bodyPr wrap="none" lIns="0" tIns="0" rIns="0" bIns="0" anchor="ctr">
            <a:spAutoFit/>
          </a:bodyPr>
          <a:lstStyle/>
          <a:p>
            <a:pPr algn="r"/>
            <a:r>
              <a:rPr lang="en-US" sz="1000">
                <a:solidFill>
                  <a:schemeClr val="tx2"/>
                </a:solidFill>
              </a:rPr>
              <a:t>KPMG contacts</a:t>
            </a:r>
          </a:p>
        </p:txBody>
      </p:sp>
      <p:pic>
        <p:nvPicPr>
          <p:cNvPr id="3638" name="Picture 3637">
            <a:hlinkClick r:id="rId110" action="ppaction://hlinksldjump"/>
            <a:extLst>
              <a:ext uri="{FF2B5EF4-FFF2-40B4-BE49-F238E27FC236}">
                <a16:creationId xmlns:a16="http://schemas.microsoft.com/office/drawing/2014/main" id="{D75226A7-5802-B6EC-5CDB-4BA803508891}"/>
              </a:ext>
            </a:extLst>
          </p:cNvPr>
          <p:cNvPicPr>
            <a:picLocks noChangeAspect="1"/>
          </p:cNvPicPr>
          <p:nvPr/>
        </p:nvPicPr>
        <p:blipFill>
          <a:blip r:embed="rId111"/>
          <a:stretch>
            <a:fillRect/>
          </a:stretch>
        </p:blipFill>
        <p:spPr>
          <a:xfrm>
            <a:off x="11828635" y="1039584"/>
            <a:ext cx="254677" cy="254677"/>
          </a:xfrm>
          <a:prstGeom prst="rect">
            <a:avLst/>
          </a:prstGeom>
        </p:spPr>
      </p:pic>
      <p:sp>
        <p:nvSpPr>
          <p:cNvPr id="3846" name="TextBox 3845">
            <a:hlinkClick r:id="rId112" action="ppaction://hlinksldjump"/>
            <a:extLst>
              <a:ext uri="{FF2B5EF4-FFF2-40B4-BE49-F238E27FC236}">
                <a16:creationId xmlns:a16="http://schemas.microsoft.com/office/drawing/2014/main" id="{2B133EB2-0B73-EB11-003D-D4AAED054339}"/>
              </a:ext>
            </a:extLst>
          </p:cNvPr>
          <p:cNvSpPr txBox="1"/>
          <p:nvPr>
            <p:custDataLst>
              <p:tags r:id="rId2"/>
            </p:custDataLst>
          </p:nvPr>
        </p:nvSpPr>
        <p:spPr>
          <a:xfrm>
            <a:off x="1249682" y="1229360"/>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Executive summary</a:t>
            </a:r>
          </a:p>
        </p:txBody>
      </p:sp>
      <p:sp>
        <p:nvSpPr>
          <p:cNvPr id="3847" name="TextBox 3846">
            <a:hlinkClick r:id="rId113" action="ppaction://hlinksldjump"/>
            <a:extLst>
              <a:ext uri="{FF2B5EF4-FFF2-40B4-BE49-F238E27FC236}">
                <a16:creationId xmlns:a16="http://schemas.microsoft.com/office/drawing/2014/main" id="{0E241051-1066-CAA2-E576-3BB6CC198B82}"/>
              </a:ext>
            </a:extLst>
          </p:cNvPr>
          <p:cNvSpPr txBox="1"/>
          <p:nvPr>
            <p:custDataLst>
              <p:tags r:id="rId3"/>
            </p:custDataLst>
          </p:nvPr>
        </p:nvSpPr>
        <p:spPr>
          <a:xfrm>
            <a:off x="1249682" y="16078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Business overview</a:t>
            </a:r>
          </a:p>
        </p:txBody>
      </p:sp>
      <p:sp>
        <p:nvSpPr>
          <p:cNvPr id="3848" name="TextBox 3847">
            <a:hlinkClick r:id="rId114" action="ppaction://hlinksldjump"/>
            <a:extLst>
              <a:ext uri="{FF2B5EF4-FFF2-40B4-BE49-F238E27FC236}">
                <a16:creationId xmlns:a16="http://schemas.microsoft.com/office/drawing/2014/main" id="{0BE6E72A-1F3F-0BF8-7FA0-3C847D85A06E}"/>
              </a:ext>
            </a:extLst>
          </p:cNvPr>
          <p:cNvSpPr txBox="1"/>
          <p:nvPr>
            <p:custDataLst>
              <p:tags r:id="rId4"/>
            </p:custDataLst>
          </p:nvPr>
        </p:nvSpPr>
        <p:spPr>
          <a:xfrm>
            <a:off x="1249682" y="17465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Summary financials</a:t>
            </a:r>
          </a:p>
        </p:txBody>
      </p:sp>
      <p:sp>
        <p:nvSpPr>
          <p:cNvPr id="3849" name="TextBox 3848">
            <a:hlinkClick r:id="rId115" action="ppaction://hlinksldjump"/>
            <a:extLst>
              <a:ext uri="{FF2B5EF4-FFF2-40B4-BE49-F238E27FC236}">
                <a16:creationId xmlns:a16="http://schemas.microsoft.com/office/drawing/2014/main" id="{921E516C-4271-C7B6-3A22-6F7E6BAB1B48}"/>
              </a:ext>
            </a:extLst>
          </p:cNvPr>
          <p:cNvSpPr txBox="1"/>
          <p:nvPr>
            <p:custDataLst>
              <p:tags r:id="rId5"/>
            </p:custDataLst>
          </p:nvPr>
        </p:nvSpPr>
        <p:spPr>
          <a:xfrm>
            <a:off x="1249682" y="188522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Key findings</a:t>
            </a:r>
          </a:p>
        </p:txBody>
      </p:sp>
      <p:sp>
        <p:nvSpPr>
          <p:cNvPr id="3850" name="TextBox 3849">
            <a:hlinkClick r:id="rId116" action="ppaction://hlinksldjump"/>
            <a:extLst>
              <a:ext uri="{FF2B5EF4-FFF2-40B4-BE49-F238E27FC236}">
                <a16:creationId xmlns:a16="http://schemas.microsoft.com/office/drawing/2014/main" id="{861AF5E5-91EB-7907-D79D-1A455DCD5E64}"/>
              </a:ext>
            </a:extLst>
          </p:cNvPr>
          <p:cNvSpPr txBox="1"/>
          <p:nvPr>
            <p:custDataLst>
              <p:tags r:id="rId6"/>
            </p:custDataLst>
          </p:nvPr>
        </p:nvSpPr>
        <p:spPr>
          <a:xfrm>
            <a:off x="1249682" y="2074720"/>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Historical trading</a:t>
            </a:r>
          </a:p>
        </p:txBody>
      </p:sp>
      <p:sp>
        <p:nvSpPr>
          <p:cNvPr id="3851" name="TextBox 3850">
            <a:hlinkClick r:id="rId117" action="ppaction://hlinksldjump"/>
            <a:extLst>
              <a:ext uri="{FF2B5EF4-FFF2-40B4-BE49-F238E27FC236}">
                <a16:creationId xmlns:a16="http://schemas.microsoft.com/office/drawing/2014/main" id="{BD859568-72B3-2105-AC09-4B3639E78061}"/>
              </a:ext>
            </a:extLst>
          </p:cNvPr>
          <p:cNvSpPr txBox="1"/>
          <p:nvPr>
            <p:custDataLst>
              <p:tags r:id="rId7"/>
            </p:custDataLst>
          </p:nvPr>
        </p:nvSpPr>
        <p:spPr>
          <a:xfrm>
            <a:off x="1249682" y="24531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Profit &amp; loss overview</a:t>
            </a:r>
          </a:p>
        </p:txBody>
      </p:sp>
      <p:sp>
        <p:nvSpPr>
          <p:cNvPr id="3852" name="TextBox 3851">
            <a:hlinkClick r:id="rId118" action="ppaction://hlinksldjump"/>
            <a:extLst>
              <a:ext uri="{FF2B5EF4-FFF2-40B4-BE49-F238E27FC236}">
                <a16:creationId xmlns:a16="http://schemas.microsoft.com/office/drawing/2014/main" id="{EE53FC91-47C4-86B2-85BD-F89E15E60897}"/>
              </a:ext>
            </a:extLst>
          </p:cNvPr>
          <p:cNvSpPr txBox="1"/>
          <p:nvPr>
            <p:custDataLst>
              <p:tags r:id="rId8"/>
            </p:custDataLst>
          </p:nvPr>
        </p:nvSpPr>
        <p:spPr>
          <a:xfrm>
            <a:off x="1249682" y="259188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Quality of Earnings</a:t>
            </a:r>
          </a:p>
        </p:txBody>
      </p:sp>
      <p:sp>
        <p:nvSpPr>
          <p:cNvPr id="3853" name="TextBox 3852">
            <a:hlinkClick r:id="rId119" action="ppaction://hlinksldjump"/>
            <a:extLst>
              <a:ext uri="{FF2B5EF4-FFF2-40B4-BE49-F238E27FC236}">
                <a16:creationId xmlns:a16="http://schemas.microsoft.com/office/drawing/2014/main" id="{124D6731-23CD-8B47-1E1A-E19FA8BB1F2B}"/>
              </a:ext>
            </a:extLst>
          </p:cNvPr>
          <p:cNvSpPr txBox="1"/>
          <p:nvPr>
            <p:custDataLst>
              <p:tags r:id="rId9"/>
            </p:custDataLst>
          </p:nvPr>
        </p:nvSpPr>
        <p:spPr>
          <a:xfrm>
            <a:off x="1249682" y="2781380"/>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Balance sheet</a:t>
            </a:r>
          </a:p>
        </p:txBody>
      </p:sp>
      <p:sp>
        <p:nvSpPr>
          <p:cNvPr id="3854" name="TextBox 3853">
            <a:hlinkClick r:id="rId120" action="ppaction://hlinksldjump"/>
            <a:extLst>
              <a:ext uri="{FF2B5EF4-FFF2-40B4-BE49-F238E27FC236}">
                <a16:creationId xmlns:a16="http://schemas.microsoft.com/office/drawing/2014/main" id="{18D4C055-29BA-81C8-B28A-70F3270E0C6A}"/>
              </a:ext>
            </a:extLst>
          </p:cNvPr>
          <p:cNvSpPr txBox="1"/>
          <p:nvPr>
            <p:custDataLst>
              <p:tags r:id="rId10"/>
            </p:custDataLst>
          </p:nvPr>
        </p:nvSpPr>
        <p:spPr>
          <a:xfrm>
            <a:off x="1249682" y="315984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Stratified balance sheet</a:t>
            </a:r>
          </a:p>
        </p:txBody>
      </p:sp>
      <p:sp>
        <p:nvSpPr>
          <p:cNvPr id="3855" name="TextBox 3854">
            <a:hlinkClick r:id="rId121" action="ppaction://hlinksldjump"/>
            <a:extLst>
              <a:ext uri="{FF2B5EF4-FFF2-40B4-BE49-F238E27FC236}">
                <a16:creationId xmlns:a16="http://schemas.microsoft.com/office/drawing/2014/main" id="{16C0E227-A9E5-0FD8-F427-618D56E68FD7}"/>
              </a:ext>
            </a:extLst>
          </p:cNvPr>
          <p:cNvSpPr txBox="1"/>
          <p:nvPr>
            <p:custDataLst>
              <p:tags r:id="rId11"/>
            </p:custDataLst>
          </p:nvPr>
        </p:nvSpPr>
        <p:spPr>
          <a:xfrm>
            <a:off x="1249682" y="329854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Net working capital</a:t>
            </a:r>
          </a:p>
        </p:txBody>
      </p:sp>
      <p:sp>
        <p:nvSpPr>
          <p:cNvPr id="3856" name="TextBox 3855">
            <a:hlinkClick r:id="rId122" action="ppaction://hlinksldjump"/>
            <a:extLst>
              <a:ext uri="{FF2B5EF4-FFF2-40B4-BE49-F238E27FC236}">
                <a16:creationId xmlns:a16="http://schemas.microsoft.com/office/drawing/2014/main" id="{6C407672-BE66-4960-F8C8-B9F9D473AA61}"/>
              </a:ext>
            </a:extLst>
          </p:cNvPr>
          <p:cNvSpPr txBox="1"/>
          <p:nvPr>
            <p:custDataLst>
              <p:tags r:id="rId12"/>
            </p:custDataLst>
          </p:nvPr>
        </p:nvSpPr>
        <p:spPr>
          <a:xfrm>
            <a:off x="1249682" y="343724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Net cash</a:t>
            </a:r>
          </a:p>
        </p:txBody>
      </p:sp>
      <p:sp>
        <p:nvSpPr>
          <p:cNvPr id="3959" name="TextBox 3958">
            <a:hlinkClick r:id="rId123" action="ppaction://hlinksldjump"/>
            <a:extLst>
              <a:ext uri="{FF2B5EF4-FFF2-40B4-BE49-F238E27FC236}">
                <a16:creationId xmlns:a16="http://schemas.microsoft.com/office/drawing/2014/main" id="{99939F44-1621-5604-15DF-90909E5863B6}"/>
              </a:ext>
            </a:extLst>
          </p:cNvPr>
          <p:cNvSpPr txBox="1"/>
          <p:nvPr>
            <p:custDataLst>
              <p:tags r:id="rId13"/>
            </p:custDataLst>
          </p:nvPr>
        </p:nvSpPr>
        <p:spPr>
          <a:xfrm>
            <a:off x="1249682" y="3626741"/>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Reporting environment</a:t>
            </a:r>
          </a:p>
        </p:txBody>
      </p:sp>
      <p:sp>
        <p:nvSpPr>
          <p:cNvPr id="3960" name="TextBox 3959">
            <a:hlinkClick r:id="rId124" action="ppaction://hlinksldjump"/>
            <a:extLst>
              <a:ext uri="{FF2B5EF4-FFF2-40B4-BE49-F238E27FC236}">
                <a16:creationId xmlns:a16="http://schemas.microsoft.com/office/drawing/2014/main" id="{5F19F73D-C52B-9773-5C5B-B891B6AF2712}"/>
              </a:ext>
            </a:extLst>
          </p:cNvPr>
          <p:cNvSpPr txBox="1"/>
          <p:nvPr>
            <p:custDataLst>
              <p:tags r:id="rId14"/>
            </p:custDataLst>
          </p:nvPr>
        </p:nvSpPr>
        <p:spPr>
          <a:xfrm>
            <a:off x="1249682" y="400520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Financial reporting environment</a:t>
            </a:r>
          </a:p>
        </p:txBody>
      </p:sp>
      <p:sp>
        <p:nvSpPr>
          <p:cNvPr id="3961" name="TextBox 3960">
            <a:hlinkClick r:id="rId125" action="ppaction://hlinksldjump"/>
            <a:extLst>
              <a:ext uri="{FF2B5EF4-FFF2-40B4-BE49-F238E27FC236}">
                <a16:creationId xmlns:a16="http://schemas.microsoft.com/office/drawing/2014/main" id="{464FCF61-F7AA-9391-11C0-7490017F68A3}"/>
              </a:ext>
            </a:extLst>
          </p:cNvPr>
          <p:cNvSpPr txBox="1"/>
          <p:nvPr>
            <p:custDataLst>
              <p:tags r:id="rId15"/>
            </p:custDataLst>
          </p:nvPr>
        </p:nvSpPr>
        <p:spPr>
          <a:xfrm>
            <a:off x="1249682" y="4194701"/>
            <a:ext cx="394207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Gross margin by LOB</a:t>
            </a:r>
          </a:p>
        </p:txBody>
      </p:sp>
      <p:sp>
        <p:nvSpPr>
          <p:cNvPr id="3962" name="TextBox 3961">
            <a:hlinkClick r:id="rId126" action="ppaction://hlinksldjump"/>
            <a:extLst>
              <a:ext uri="{FF2B5EF4-FFF2-40B4-BE49-F238E27FC236}">
                <a16:creationId xmlns:a16="http://schemas.microsoft.com/office/drawing/2014/main" id="{994C61C3-A42B-AC42-C766-A4B94F7069A4}"/>
              </a:ext>
            </a:extLst>
          </p:cNvPr>
          <p:cNvSpPr txBox="1"/>
          <p:nvPr>
            <p:custDataLst>
              <p:tags r:id="rId16"/>
            </p:custDataLst>
          </p:nvPr>
        </p:nvSpPr>
        <p:spPr>
          <a:xfrm>
            <a:off x="1249682" y="457316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Summary</a:t>
            </a:r>
          </a:p>
        </p:txBody>
      </p:sp>
      <p:sp>
        <p:nvSpPr>
          <p:cNvPr id="3963" name="TextBox 3962">
            <a:hlinkClick r:id="rId127" action="ppaction://hlinksldjump"/>
            <a:extLst>
              <a:ext uri="{FF2B5EF4-FFF2-40B4-BE49-F238E27FC236}">
                <a16:creationId xmlns:a16="http://schemas.microsoft.com/office/drawing/2014/main" id="{FEE89197-035D-2EFC-C860-5AE8198F2964}"/>
              </a:ext>
            </a:extLst>
          </p:cNvPr>
          <p:cNvSpPr txBox="1"/>
          <p:nvPr>
            <p:custDataLst>
              <p:tags r:id="rId17"/>
            </p:custDataLst>
          </p:nvPr>
        </p:nvSpPr>
        <p:spPr>
          <a:xfrm>
            <a:off x="1249682" y="4711860"/>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Mobile payments</a:t>
            </a:r>
          </a:p>
        </p:txBody>
      </p:sp>
      <p:sp>
        <p:nvSpPr>
          <p:cNvPr id="3964" name="TextBox 3963">
            <a:hlinkClick r:id="rId128" action="ppaction://hlinksldjump"/>
            <a:extLst>
              <a:ext uri="{FF2B5EF4-FFF2-40B4-BE49-F238E27FC236}">
                <a16:creationId xmlns:a16="http://schemas.microsoft.com/office/drawing/2014/main" id="{18B2324D-3E59-BC76-C60A-FA7F0975B72E}"/>
              </a:ext>
            </a:extLst>
          </p:cNvPr>
          <p:cNvSpPr txBox="1"/>
          <p:nvPr>
            <p:custDataLst>
              <p:tags r:id="rId18"/>
            </p:custDataLst>
          </p:nvPr>
        </p:nvSpPr>
        <p:spPr>
          <a:xfrm>
            <a:off x="1249682" y="48505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Payment network gateway</a:t>
            </a:r>
          </a:p>
        </p:txBody>
      </p:sp>
      <p:sp>
        <p:nvSpPr>
          <p:cNvPr id="3965" name="TextBox 3964">
            <a:hlinkClick r:id="rId129" action="ppaction://hlinksldjump"/>
            <a:extLst>
              <a:ext uri="{FF2B5EF4-FFF2-40B4-BE49-F238E27FC236}">
                <a16:creationId xmlns:a16="http://schemas.microsoft.com/office/drawing/2014/main" id="{F9AF29A0-3377-05FE-2BE2-E4AA022C42A3}"/>
              </a:ext>
            </a:extLst>
          </p:cNvPr>
          <p:cNvSpPr txBox="1"/>
          <p:nvPr>
            <p:custDataLst>
              <p:tags r:id="rId19"/>
            </p:custDataLst>
          </p:nvPr>
        </p:nvSpPr>
        <p:spPr>
          <a:xfrm>
            <a:off x="1249682" y="49892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Card management</a:t>
            </a:r>
          </a:p>
        </p:txBody>
      </p:sp>
      <p:sp>
        <p:nvSpPr>
          <p:cNvPr id="3966" name="TextBox 3965">
            <a:hlinkClick r:id="rId130" action="ppaction://hlinksldjump"/>
            <a:extLst>
              <a:ext uri="{FF2B5EF4-FFF2-40B4-BE49-F238E27FC236}">
                <a16:creationId xmlns:a16="http://schemas.microsoft.com/office/drawing/2014/main" id="{BC0CA313-30E1-54D2-8049-691C3659CC09}"/>
              </a:ext>
            </a:extLst>
          </p:cNvPr>
          <p:cNvSpPr txBox="1"/>
          <p:nvPr>
            <p:custDataLst>
              <p:tags r:id="rId20"/>
            </p:custDataLst>
          </p:nvPr>
        </p:nvSpPr>
        <p:spPr>
          <a:xfrm>
            <a:off x="1249682" y="51279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Retail solutions</a:t>
            </a:r>
          </a:p>
        </p:txBody>
      </p:sp>
      <p:sp>
        <p:nvSpPr>
          <p:cNvPr id="3967" name="TextBox 3966">
            <a:hlinkClick r:id="rId131" action="ppaction://hlinksldjump"/>
            <a:extLst>
              <a:ext uri="{FF2B5EF4-FFF2-40B4-BE49-F238E27FC236}">
                <a16:creationId xmlns:a16="http://schemas.microsoft.com/office/drawing/2014/main" id="{77A754ED-56FE-95A6-09CB-376964DA593C}"/>
              </a:ext>
            </a:extLst>
          </p:cNvPr>
          <p:cNvSpPr txBox="1"/>
          <p:nvPr>
            <p:custDataLst>
              <p:tags r:id="rId21"/>
            </p:custDataLst>
          </p:nvPr>
        </p:nvSpPr>
        <p:spPr>
          <a:xfrm>
            <a:off x="1249682" y="52666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ATM managed services</a:t>
            </a:r>
          </a:p>
        </p:txBody>
      </p:sp>
      <p:sp>
        <p:nvSpPr>
          <p:cNvPr id="3968" name="TextBox 3967">
            <a:hlinkClick r:id="rId132" action="ppaction://hlinksldjump"/>
            <a:extLst>
              <a:ext uri="{FF2B5EF4-FFF2-40B4-BE49-F238E27FC236}">
                <a16:creationId xmlns:a16="http://schemas.microsoft.com/office/drawing/2014/main" id="{7D3E9668-9634-6EB2-B121-75AD1CED2CA7}"/>
              </a:ext>
            </a:extLst>
          </p:cNvPr>
          <p:cNvSpPr txBox="1"/>
          <p:nvPr>
            <p:custDataLst>
              <p:tags r:id="rId22"/>
            </p:custDataLst>
          </p:nvPr>
        </p:nvSpPr>
        <p:spPr>
          <a:xfrm>
            <a:off x="1249682" y="54053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Fraud management</a:t>
            </a:r>
          </a:p>
        </p:txBody>
      </p:sp>
      <p:sp>
        <p:nvSpPr>
          <p:cNvPr id="3969" name="TextBox 3968">
            <a:hlinkClick r:id="rId133" action="ppaction://hlinksldjump"/>
            <a:extLst>
              <a:ext uri="{FF2B5EF4-FFF2-40B4-BE49-F238E27FC236}">
                <a16:creationId xmlns:a16="http://schemas.microsoft.com/office/drawing/2014/main" id="{6A82ECA5-F503-369E-AE9E-1F730CAAE1CF}"/>
              </a:ext>
            </a:extLst>
          </p:cNvPr>
          <p:cNvSpPr txBox="1"/>
          <p:nvPr>
            <p:custDataLst>
              <p:tags r:id="rId23"/>
            </p:custDataLst>
          </p:nvPr>
        </p:nvSpPr>
        <p:spPr>
          <a:xfrm>
            <a:off x="1249682" y="5544061"/>
            <a:ext cx="3942077"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Digital solutions</a:t>
            </a:r>
          </a:p>
        </p:txBody>
      </p:sp>
      <p:sp>
        <p:nvSpPr>
          <p:cNvPr id="3970" name="TextBox 3969">
            <a:hlinkClick r:id="rId134" action="ppaction://hlinksldjump"/>
            <a:extLst>
              <a:ext uri="{FF2B5EF4-FFF2-40B4-BE49-F238E27FC236}">
                <a16:creationId xmlns:a16="http://schemas.microsoft.com/office/drawing/2014/main" id="{315BAC3C-3CD7-5AF4-FBAA-B2528109A804}"/>
              </a:ext>
            </a:extLst>
          </p:cNvPr>
          <p:cNvSpPr txBox="1"/>
          <p:nvPr>
            <p:custDataLst>
              <p:tags r:id="rId24"/>
            </p:custDataLst>
          </p:nvPr>
        </p:nvSpPr>
        <p:spPr>
          <a:xfrm>
            <a:off x="5904464" y="1229360"/>
            <a:ext cx="4452737" cy="347289"/>
          </a:xfrm>
          <a:prstGeom prst="rect">
            <a:avLst/>
          </a:prstGeom>
          <a:noFill/>
        </p:spPr>
        <p:txBody>
          <a:bodyPr vert="horz" wrap="square" lIns="0" tIns="0" rIns="0" bIns="0" rtlCol="0" anchor="t">
            <a:noAutofit/>
          </a:bodyPr>
          <a:lstStyle/>
          <a:p>
            <a:pPr algn="l"/>
            <a:r>
              <a:rPr lang="en-US" sz="2400" b="0">
                <a:solidFill>
                  <a:schemeClr val="tx2"/>
                </a:solidFill>
                <a:latin typeface="+mj-lt"/>
                <a:cs typeface="Arial" panose="020B0604020202020204" pitchFamily="34" charset="0"/>
              </a:rPr>
              <a:t>Appendices</a:t>
            </a:r>
          </a:p>
        </p:txBody>
      </p:sp>
      <p:sp>
        <p:nvSpPr>
          <p:cNvPr id="3971" name="TextBox 3970">
            <a:hlinkClick r:id="rId135" action="ppaction://hlinksldjump"/>
            <a:extLst>
              <a:ext uri="{FF2B5EF4-FFF2-40B4-BE49-F238E27FC236}">
                <a16:creationId xmlns:a16="http://schemas.microsoft.com/office/drawing/2014/main" id="{3BA6D32D-3596-39E8-E11A-AC7FA6D75CA1}"/>
              </a:ext>
            </a:extLst>
          </p:cNvPr>
          <p:cNvSpPr txBox="1"/>
          <p:nvPr>
            <p:custDataLst>
              <p:tags r:id="rId25"/>
            </p:custDataLst>
          </p:nvPr>
        </p:nvSpPr>
        <p:spPr>
          <a:xfrm>
            <a:off x="5904463" y="16078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Internal FS reconciliation to audited FS</a:t>
            </a:r>
          </a:p>
        </p:txBody>
      </p:sp>
      <p:sp>
        <p:nvSpPr>
          <p:cNvPr id="3972" name="TextBox 3971">
            <a:hlinkClick r:id="rId136" action="ppaction://hlinksldjump"/>
            <a:extLst>
              <a:ext uri="{FF2B5EF4-FFF2-40B4-BE49-F238E27FC236}">
                <a16:creationId xmlns:a16="http://schemas.microsoft.com/office/drawing/2014/main" id="{7C053A83-7D64-4422-95F8-B06FB101A94B}"/>
              </a:ext>
            </a:extLst>
          </p:cNvPr>
          <p:cNvSpPr txBox="1"/>
          <p:nvPr>
            <p:custDataLst>
              <p:tags r:id="rId26"/>
            </p:custDataLst>
          </p:nvPr>
        </p:nvSpPr>
        <p:spPr>
          <a:xfrm>
            <a:off x="5904463" y="17465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Billing report reconciliation to internal FS</a:t>
            </a:r>
          </a:p>
        </p:txBody>
      </p:sp>
      <p:sp>
        <p:nvSpPr>
          <p:cNvPr id="3973" name="TextBox 3972">
            <a:hlinkClick r:id="rId137" action="ppaction://hlinksldjump"/>
            <a:extLst>
              <a:ext uri="{FF2B5EF4-FFF2-40B4-BE49-F238E27FC236}">
                <a16:creationId xmlns:a16="http://schemas.microsoft.com/office/drawing/2014/main" id="{8F99C3E4-B95A-FBDB-D4FA-382A4F521E80}"/>
              </a:ext>
            </a:extLst>
          </p:cNvPr>
          <p:cNvSpPr txBox="1"/>
          <p:nvPr>
            <p:custDataLst>
              <p:tags r:id="rId27"/>
            </p:custDataLst>
          </p:nvPr>
        </p:nvSpPr>
        <p:spPr>
          <a:xfrm>
            <a:off x="5904463" y="18852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TTM Apr-24 to TTM Jun-24 QofE bridge</a:t>
            </a:r>
          </a:p>
        </p:txBody>
      </p:sp>
      <p:sp>
        <p:nvSpPr>
          <p:cNvPr id="3974" name="TextBox 3973">
            <a:hlinkClick r:id="rId138" action="ppaction://hlinksldjump"/>
            <a:extLst>
              <a:ext uri="{FF2B5EF4-FFF2-40B4-BE49-F238E27FC236}">
                <a16:creationId xmlns:a16="http://schemas.microsoft.com/office/drawing/2014/main" id="{4CB86FD2-61F3-C8EB-A3F6-7841B56E5429}"/>
              </a:ext>
            </a:extLst>
          </p:cNvPr>
          <p:cNvSpPr txBox="1"/>
          <p:nvPr>
            <p:custDataLst>
              <p:tags r:id="rId28"/>
            </p:custDataLst>
          </p:nvPr>
        </p:nvSpPr>
        <p:spPr>
          <a:xfrm>
            <a:off x="5904463" y="20239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Adjusted income statement</a:t>
            </a:r>
          </a:p>
        </p:txBody>
      </p:sp>
      <p:sp>
        <p:nvSpPr>
          <p:cNvPr id="3975" name="TextBox 3974">
            <a:hlinkClick r:id="rId139" action="ppaction://hlinksldjump"/>
            <a:extLst>
              <a:ext uri="{FF2B5EF4-FFF2-40B4-BE49-F238E27FC236}">
                <a16:creationId xmlns:a16="http://schemas.microsoft.com/office/drawing/2014/main" id="{C7DCDF82-C8C3-66FB-FDFA-CEA09F7BCB91}"/>
              </a:ext>
            </a:extLst>
          </p:cNvPr>
          <p:cNvSpPr txBox="1"/>
          <p:nvPr>
            <p:custDataLst>
              <p:tags r:id="rId29"/>
            </p:custDataLst>
          </p:nvPr>
        </p:nvSpPr>
        <p:spPr>
          <a:xfrm>
            <a:off x="5904463" y="21626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QofE support</a:t>
            </a:r>
          </a:p>
        </p:txBody>
      </p:sp>
      <p:sp>
        <p:nvSpPr>
          <p:cNvPr id="3976" name="TextBox 3975">
            <a:hlinkClick r:id="rId140" action="ppaction://hlinksldjump"/>
            <a:extLst>
              <a:ext uri="{FF2B5EF4-FFF2-40B4-BE49-F238E27FC236}">
                <a16:creationId xmlns:a16="http://schemas.microsoft.com/office/drawing/2014/main" id="{F9407D81-29C8-54F3-EE9B-5A3F4BCB5A89}"/>
              </a:ext>
            </a:extLst>
          </p:cNvPr>
          <p:cNvSpPr txBox="1"/>
          <p:nvPr>
            <p:custDataLst>
              <p:tags r:id="rId30"/>
            </p:custDataLst>
          </p:nvPr>
        </p:nvSpPr>
        <p:spPr>
          <a:xfrm>
            <a:off x="5904463" y="23013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Fixed assets</a:t>
            </a:r>
          </a:p>
        </p:txBody>
      </p:sp>
      <p:sp>
        <p:nvSpPr>
          <p:cNvPr id="3977" name="TextBox 3976">
            <a:hlinkClick r:id="rId141" action="ppaction://hlinksldjump"/>
            <a:extLst>
              <a:ext uri="{FF2B5EF4-FFF2-40B4-BE49-F238E27FC236}">
                <a16:creationId xmlns:a16="http://schemas.microsoft.com/office/drawing/2014/main" id="{CB748132-1F1C-CC98-E7BA-D0633B498245}"/>
              </a:ext>
            </a:extLst>
          </p:cNvPr>
          <p:cNvSpPr txBox="1"/>
          <p:nvPr>
            <p:custDataLst>
              <p:tags r:id="rId31"/>
            </p:custDataLst>
          </p:nvPr>
        </p:nvSpPr>
        <p:spPr>
          <a:xfrm>
            <a:off x="5904463" y="2440020"/>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Personnel analysis</a:t>
            </a:r>
          </a:p>
        </p:txBody>
      </p:sp>
      <p:sp>
        <p:nvSpPr>
          <p:cNvPr id="3978" name="TextBox 3977">
            <a:hlinkClick r:id="rId142" action="ppaction://hlinksldjump"/>
            <a:extLst>
              <a:ext uri="{FF2B5EF4-FFF2-40B4-BE49-F238E27FC236}">
                <a16:creationId xmlns:a16="http://schemas.microsoft.com/office/drawing/2014/main" id="{4CB48CF6-7AC6-84A5-C34A-020F04B8D14F}"/>
              </a:ext>
            </a:extLst>
          </p:cNvPr>
          <p:cNvSpPr txBox="1"/>
          <p:nvPr>
            <p:custDataLst>
              <p:tags r:id="rId32"/>
            </p:custDataLst>
          </p:nvPr>
        </p:nvSpPr>
        <p:spPr>
          <a:xfrm>
            <a:off x="5904463" y="257872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Leases</a:t>
            </a:r>
          </a:p>
        </p:txBody>
      </p:sp>
      <p:sp>
        <p:nvSpPr>
          <p:cNvPr id="3979" name="TextBox 3978">
            <a:hlinkClick r:id="rId143" action="ppaction://hlinksldjump"/>
            <a:extLst>
              <a:ext uri="{FF2B5EF4-FFF2-40B4-BE49-F238E27FC236}">
                <a16:creationId xmlns:a16="http://schemas.microsoft.com/office/drawing/2014/main" id="{F028884E-8C08-BB68-3F71-73FD01FA9750}"/>
              </a:ext>
            </a:extLst>
          </p:cNvPr>
          <p:cNvSpPr txBox="1"/>
          <p:nvPr>
            <p:custDataLst>
              <p:tags r:id="rId33"/>
            </p:custDataLst>
          </p:nvPr>
        </p:nvSpPr>
        <p:spPr>
          <a:xfrm>
            <a:off x="5904463" y="271742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Cash flow statement</a:t>
            </a:r>
          </a:p>
        </p:txBody>
      </p:sp>
      <p:sp>
        <p:nvSpPr>
          <p:cNvPr id="3980" name="TextBox 3979">
            <a:hlinkClick r:id="rId144" action="ppaction://hlinksldjump"/>
            <a:extLst>
              <a:ext uri="{FF2B5EF4-FFF2-40B4-BE49-F238E27FC236}">
                <a16:creationId xmlns:a16="http://schemas.microsoft.com/office/drawing/2014/main" id="{78B0807D-EA30-70A3-6FB7-E6B598EB64D9}"/>
              </a:ext>
            </a:extLst>
          </p:cNvPr>
          <p:cNvSpPr txBox="1"/>
          <p:nvPr>
            <p:custDataLst>
              <p:tags r:id="rId34"/>
            </p:custDataLst>
          </p:nvPr>
        </p:nvSpPr>
        <p:spPr>
          <a:xfrm>
            <a:off x="5904463" y="285612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Important notice</a:t>
            </a:r>
          </a:p>
        </p:txBody>
      </p:sp>
      <p:sp>
        <p:nvSpPr>
          <p:cNvPr id="3981" name="TextBox 3980">
            <a:hlinkClick r:id="rId145" action="ppaction://hlinksldjump"/>
            <a:extLst>
              <a:ext uri="{FF2B5EF4-FFF2-40B4-BE49-F238E27FC236}">
                <a16:creationId xmlns:a16="http://schemas.microsoft.com/office/drawing/2014/main" id="{D3F48D10-D463-24A3-3ACA-4E50557A5A3E}"/>
              </a:ext>
            </a:extLst>
          </p:cNvPr>
          <p:cNvSpPr txBox="1"/>
          <p:nvPr>
            <p:custDataLst>
              <p:tags r:id="rId35"/>
            </p:custDataLst>
          </p:nvPr>
        </p:nvSpPr>
        <p:spPr>
          <a:xfrm>
            <a:off x="5904463" y="299482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Scope of work</a:t>
            </a:r>
          </a:p>
        </p:txBody>
      </p:sp>
      <p:sp>
        <p:nvSpPr>
          <p:cNvPr id="3982" name="TextBox 3981">
            <a:hlinkClick r:id="rId108" action="ppaction://hlinksldjump"/>
            <a:extLst>
              <a:ext uri="{FF2B5EF4-FFF2-40B4-BE49-F238E27FC236}">
                <a16:creationId xmlns:a16="http://schemas.microsoft.com/office/drawing/2014/main" id="{95F3D136-546F-F7BD-FBE5-E50DD74B1286}"/>
              </a:ext>
            </a:extLst>
          </p:cNvPr>
          <p:cNvSpPr txBox="1"/>
          <p:nvPr>
            <p:custDataLst>
              <p:tags r:id="rId36"/>
            </p:custDataLst>
          </p:nvPr>
        </p:nvSpPr>
        <p:spPr>
          <a:xfrm>
            <a:off x="5904463" y="3133521"/>
            <a:ext cx="4452739" cy="126000"/>
          </a:xfrm>
          <a:prstGeom prst="rect">
            <a:avLst/>
          </a:prstGeom>
          <a:noFill/>
        </p:spPr>
        <p:txBody>
          <a:bodyPr vert="horz" wrap="square" lIns="0" tIns="0" rIns="0" bIns="7200" rtlCol="0" anchor="b">
            <a:noAutofit/>
          </a:bodyPr>
          <a:lstStyle/>
          <a:p>
            <a:pPr marL="0" indent="0" algn="l">
              <a:spcAft>
                <a:spcPts val="600"/>
              </a:spcAft>
              <a:buClr>
                <a:schemeClr val="bg1"/>
              </a:buClr>
              <a:buFont typeface="Arial" panose="020B0604020202020204" pitchFamily="34" charset="0"/>
              <a:buNone/>
            </a:pPr>
            <a:r>
              <a:rPr lang="en-US" sz="900">
                <a:solidFill>
                  <a:schemeClr val="tx2"/>
                </a:solidFill>
                <a:latin typeface="+mn-lt"/>
                <a:cs typeface="Arial" panose="020B0604020202020204" pitchFamily="34" charset="0"/>
              </a:rPr>
              <a:t>Glossary of terms and abbreviations</a:t>
            </a:r>
          </a:p>
        </p:txBody>
      </p:sp>
      <p:sp>
        <p:nvSpPr>
          <p:cNvPr id="3983" name="TextBox 3982">
            <a:hlinkClick r:id="rId112" action="ppaction://hlinksldjump"/>
            <a:extLst>
              <a:ext uri="{FF2B5EF4-FFF2-40B4-BE49-F238E27FC236}">
                <a16:creationId xmlns:a16="http://schemas.microsoft.com/office/drawing/2014/main" id="{0273DD97-4375-B37F-DFCA-14139054BC67}"/>
              </a:ext>
            </a:extLst>
          </p:cNvPr>
          <p:cNvSpPr txBox="1"/>
          <p:nvPr>
            <p:custDataLst>
              <p:tags r:id="rId37"/>
            </p:custDataLst>
          </p:nvPr>
        </p:nvSpPr>
        <p:spPr>
          <a:xfrm>
            <a:off x="798977" y="1229360"/>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01</a:t>
            </a:r>
          </a:p>
        </p:txBody>
      </p:sp>
      <p:sp>
        <p:nvSpPr>
          <p:cNvPr id="3984" name="TextBox 3983">
            <a:hlinkClick r:id="rId116" action="ppaction://hlinksldjump"/>
            <a:extLst>
              <a:ext uri="{FF2B5EF4-FFF2-40B4-BE49-F238E27FC236}">
                <a16:creationId xmlns:a16="http://schemas.microsoft.com/office/drawing/2014/main" id="{354CF11F-7EF6-D2FF-69F7-FFC01B2AA515}"/>
              </a:ext>
            </a:extLst>
          </p:cNvPr>
          <p:cNvSpPr txBox="1"/>
          <p:nvPr>
            <p:custDataLst>
              <p:tags r:id="rId38"/>
            </p:custDataLst>
          </p:nvPr>
        </p:nvSpPr>
        <p:spPr>
          <a:xfrm>
            <a:off x="798977" y="2074720"/>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02</a:t>
            </a:r>
          </a:p>
        </p:txBody>
      </p:sp>
      <p:sp>
        <p:nvSpPr>
          <p:cNvPr id="3985" name="TextBox 3984">
            <a:hlinkClick r:id="rId119" action="ppaction://hlinksldjump"/>
            <a:extLst>
              <a:ext uri="{FF2B5EF4-FFF2-40B4-BE49-F238E27FC236}">
                <a16:creationId xmlns:a16="http://schemas.microsoft.com/office/drawing/2014/main" id="{DBB9CADC-403A-74ED-12AF-EE8824FDC383}"/>
              </a:ext>
            </a:extLst>
          </p:cNvPr>
          <p:cNvSpPr txBox="1"/>
          <p:nvPr>
            <p:custDataLst>
              <p:tags r:id="rId39"/>
            </p:custDataLst>
          </p:nvPr>
        </p:nvSpPr>
        <p:spPr>
          <a:xfrm>
            <a:off x="798977" y="2781380"/>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03</a:t>
            </a:r>
          </a:p>
        </p:txBody>
      </p:sp>
      <p:sp>
        <p:nvSpPr>
          <p:cNvPr id="3986" name="TextBox 3985">
            <a:hlinkClick r:id="rId123" action="ppaction://hlinksldjump"/>
            <a:extLst>
              <a:ext uri="{FF2B5EF4-FFF2-40B4-BE49-F238E27FC236}">
                <a16:creationId xmlns:a16="http://schemas.microsoft.com/office/drawing/2014/main" id="{F7CF8961-B321-C794-D2F2-559AA07697A3}"/>
              </a:ext>
            </a:extLst>
          </p:cNvPr>
          <p:cNvSpPr txBox="1"/>
          <p:nvPr>
            <p:custDataLst>
              <p:tags r:id="rId40"/>
            </p:custDataLst>
          </p:nvPr>
        </p:nvSpPr>
        <p:spPr>
          <a:xfrm>
            <a:off x="798977" y="3626741"/>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04</a:t>
            </a:r>
          </a:p>
        </p:txBody>
      </p:sp>
      <p:sp>
        <p:nvSpPr>
          <p:cNvPr id="3987" name="TextBox 3986">
            <a:hlinkClick r:id="rId125" action="ppaction://hlinksldjump"/>
            <a:extLst>
              <a:ext uri="{FF2B5EF4-FFF2-40B4-BE49-F238E27FC236}">
                <a16:creationId xmlns:a16="http://schemas.microsoft.com/office/drawing/2014/main" id="{47D75DA8-5EF2-094A-7311-7262C2F64C89}"/>
              </a:ext>
            </a:extLst>
          </p:cNvPr>
          <p:cNvSpPr txBox="1"/>
          <p:nvPr>
            <p:custDataLst>
              <p:tags r:id="rId41"/>
            </p:custDataLst>
          </p:nvPr>
        </p:nvSpPr>
        <p:spPr>
          <a:xfrm>
            <a:off x="798977" y="4194701"/>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05</a:t>
            </a:r>
          </a:p>
        </p:txBody>
      </p:sp>
      <p:sp>
        <p:nvSpPr>
          <p:cNvPr id="3988" name="TextBox 3987">
            <a:hlinkClick r:id="rId134" action="ppaction://hlinksldjump"/>
            <a:extLst>
              <a:ext uri="{FF2B5EF4-FFF2-40B4-BE49-F238E27FC236}">
                <a16:creationId xmlns:a16="http://schemas.microsoft.com/office/drawing/2014/main" id="{48A9D3B5-7D5E-952C-4B58-F5A0541D022A}"/>
              </a:ext>
            </a:extLst>
          </p:cNvPr>
          <p:cNvSpPr txBox="1"/>
          <p:nvPr>
            <p:custDataLst>
              <p:tags r:id="rId42"/>
            </p:custDataLst>
          </p:nvPr>
        </p:nvSpPr>
        <p:spPr>
          <a:xfrm>
            <a:off x="5453759" y="1229360"/>
            <a:ext cx="338308" cy="347289"/>
          </a:xfrm>
          <a:prstGeom prst="rect">
            <a:avLst/>
          </a:prstGeom>
          <a:noFill/>
          <a:ln>
            <a:noFill/>
          </a:ln>
        </p:spPr>
        <p:txBody>
          <a:bodyPr vert="horz" wrap="none" lIns="0" tIns="0" rIns="0" bIns="0" rtlCol="0" anchor="t" anchorCtr="0">
            <a:noAutofit/>
          </a:bodyPr>
          <a:lstStyle/>
          <a:p>
            <a:pPr algn="r"/>
            <a:r>
              <a:rPr lang="en-US" sz="2400" b="0">
                <a:ln>
                  <a:noFill/>
                </a:ln>
                <a:solidFill>
                  <a:schemeClr val="tx2"/>
                </a:solidFill>
                <a:latin typeface="+mj-lt"/>
                <a:cs typeface="Arial" panose="020B0604020202020204" pitchFamily="34" charset="0"/>
              </a:rPr>
              <a:t>06</a:t>
            </a:r>
          </a:p>
        </p:txBody>
      </p:sp>
      <p:sp>
        <p:nvSpPr>
          <p:cNvPr id="3989" name="TextBox 3988">
            <a:hlinkClick r:id="rId112" action="ppaction://hlinksldjump"/>
            <a:extLst>
              <a:ext uri="{FF2B5EF4-FFF2-40B4-BE49-F238E27FC236}">
                <a16:creationId xmlns:a16="http://schemas.microsoft.com/office/drawing/2014/main" id="{77F30745-A4E8-8B32-0D1A-E27F39133E4B}"/>
              </a:ext>
            </a:extLst>
          </p:cNvPr>
          <p:cNvSpPr txBox="1"/>
          <p:nvPr>
            <p:custDataLst>
              <p:tags r:id="rId43"/>
            </p:custDataLst>
          </p:nvPr>
        </p:nvSpPr>
        <p:spPr>
          <a:xfrm>
            <a:off x="5245758" y="1227449"/>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4</a:t>
            </a:r>
          </a:p>
        </p:txBody>
      </p:sp>
      <p:sp>
        <p:nvSpPr>
          <p:cNvPr id="3990" name="TextBox 3989">
            <a:hlinkClick r:id="rId116" action="ppaction://hlinksldjump"/>
            <a:extLst>
              <a:ext uri="{FF2B5EF4-FFF2-40B4-BE49-F238E27FC236}">
                <a16:creationId xmlns:a16="http://schemas.microsoft.com/office/drawing/2014/main" id="{B46C978F-02EF-F10A-4967-2F6AFBAD968A}"/>
              </a:ext>
            </a:extLst>
          </p:cNvPr>
          <p:cNvSpPr txBox="1"/>
          <p:nvPr>
            <p:custDataLst>
              <p:tags r:id="rId44"/>
            </p:custDataLst>
          </p:nvPr>
        </p:nvSpPr>
        <p:spPr>
          <a:xfrm>
            <a:off x="5245758" y="2072809"/>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9</a:t>
            </a:r>
          </a:p>
        </p:txBody>
      </p:sp>
      <p:sp>
        <p:nvSpPr>
          <p:cNvPr id="3991" name="TextBox 3990">
            <a:hlinkClick r:id="rId119" action="ppaction://hlinksldjump"/>
            <a:extLst>
              <a:ext uri="{FF2B5EF4-FFF2-40B4-BE49-F238E27FC236}">
                <a16:creationId xmlns:a16="http://schemas.microsoft.com/office/drawing/2014/main" id="{7428065B-D819-D9CE-C062-6FA3A7DC04B0}"/>
              </a:ext>
            </a:extLst>
          </p:cNvPr>
          <p:cNvSpPr txBox="1"/>
          <p:nvPr>
            <p:custDataLst>
              <p:tags r:id="rId45"/>
            </p:custDataLst>
          </p:nvPr>
        </p:nvSpPr>
        <p:spPr>
          <a:xfrm>
            <a:off x="5245758" y="2779469"/>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28</a:t>
            </a:r>
          </a:p>
        </p:txBody>
      </p:sp>
      <p:sp>
        <p:nvSpPr>
          <p:cNvPr id="3992" name="TextBox 3991">
            <a:hlinkClick r:id="rId123" action="ppaction://hlinksldjump"/>
            <a:extLst>
              <a:ext uri="{FF2B5EF4-FFF2-40B4-BE49-F238E27FC236}">
                <a16:creationId xmlns:a16="http://schemas.microsoft.com/office/drawing/2014/main" id="{E36B289C-8A25-0627-5F36-58B73D119A26}"/>
              </a:ext>
            </a:extLst>
          </p:cNvPr>
          <p:cNvSpPr txBox="1"/>
          <p:nvPr>
            <p:custDataLst>
              <p:tags r:id="rId46"/>
            </p:custDataLst>
          </p:nvPr>
        </p:nvSpPr>
        <p:spPr>
          <a:xfrm>
            <a:off x="5245758" y="3624830"/>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39</a:t>
            </a:r>
          </a:p>
        </p:txBody>
      </p:sp>
      <p:sp>
        <p:nvSpPr>
          <p:cNvPr id="3993" name="TextBox 3992">
            <a:hlinkClick r:id="rId125" action="ppaction://hlinksldjump"/>
            <a:extLst>
              <a:ext uri="{FF2B5EF4-FFF2-40B4-BE49-F238E27FC236}">
                <a16:creationId xmlns:a16="http://schemas.microsoft.com/office/drawing/2014/main" id="{CEFEED79-C8D8-86C6-10DF-5CA7E40419EC}"/>
              </a:ext>
            </a:extLst>
          </p:cNvPr>
          <p:cNvSpPr txBox="1"/>
          <p:nvPr>
            <p:custDataLst>
              <p:tags r:id="rId47"/>
            </p:custDataLst>
          </p:nvPr>
        </p:nvSpPr>
        <p:spPr>
          <a:xfrm>
            <a:off x="5245758" y="4192790"/>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44</a:t>
            </a:r>
          </a:p>
        </p:txBody>
      </p:sp>
      <p:sp>
        <p:nvSpPr>
          <p:cNvPr id="3994" name="TextBox 3993">
            <a:hlinkClick r:id="rId134" action="ppaction://hlinksldjump"/>
            <a:extLst>
              <a:ext uri="{FF2B5EF4-FFF2-40B4-BE49-F238E27FC236}">
                <a16:creationId xmlns:a16="http://schemas.microsoft.com/office/drawing/2014/main" id="{3E2D0DAE-81D4-84D6-EFCE-7DDC53232309}"/>
              </a:ext>
            </a:extLst>
          </p:cNvPr>
          <p:cNvSpPr txBox="1"/>
          <p:nvPr>
            <p:custDataLst>
              <p:tags r:id="rId48"/>
            </p:custDataLst>
          </p:nvPr>
        </p:nvSpPr>
        <p:spPr>
          <a:xfrm>
            <a:off x="10374885" y="1227449"/>
            <a:ext cx="54000" cy="349200"/>
          </a:xfrm>
          <a:prstGeom prst="rect">
            <a:avLst/>
          </a:prstGeom>
          <a:noFill/>
        </p:spPr>
        <p:txBody>
          <a:bodyPr vert="horz" wrap="none" lIns="0" tIns="0" rIns="0" bIns="0" rtlCol="0" anchor="t" anchorCtr="0">
            <a:noAutofit/>
          </a:bodyPr>
          <a:lstStyle/>
          <a:p>
            <a:pPr algn="r"/>
            <a:r>
              <a:rPr lang="en-US" sz="2000" b="0">
                <a:solidFill>
                  <a:schemeClr val="tx2"/>
                </a:solidFill>
                <a:latin typeface="+mj-lt"/>
                <a:cs typeface="Arial" panose="020B0604020202020204" pitchFamily="34" charset="0"/>
              </a:rPr>
              <a:t>53</a:t>
            </a:r>
          </a:p>
        </p:txBody>
      </p:sp>
      <p:sp>
        <p:nvSpPr>
          <p:cNvPr id="3995" name="TextBox 3994">
            <a:hlinkClick r:id="rId113" action="ppaction://hlinksldjump"/>
            <a:extLst>
              <a:ext uri="{FF2B5EF4-FFF2-40B4-BE49-F238E27FC236}">
                <a16:creationId xmlns:a16="http://schemas.microsoft.com/office/drawing/2014/main" id="{0D708232-D57A-556E-41C9-4699425DF772}"/>
              </a:ext>
            </a:extLst>
          </p:cNvPr>
          <p:cNvSpPr txBox="1"/>
          <p:nvPr>
            <p:custDataLst>
              <p:tags r:id="rId49"/>
            </p:custDataLst>
          </p:nvPr>
        </p:nvSpPr>
        <p:spPr>
          <a:xfrm>
            <a:off x="296316" y="16078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1.1</a:t>
            </a:r>
          </a:p>
        </p:txBody>
      </p:sp>
      <p:sp>
        <p:nvSpPr>
          <p:cNvPr id="3996" name="TextBox 3995">
            <a:hlinkClick r:id="rId114" action="ppaction://hlinksldjump"/>
            <a:extLst>
              <a:ext uri="{FF2B5EF4-FFF2-40B4-BE49-F238E27FC236}">
                <a16:creationId xmlns:a16="http://schemas.microsoft.com/office/drawing/2014/main" id="{98E1186B-DD40-7419-A20E-E9F872B4BCD0}"/>
              </a:ext>
            </a:extLst>
          </p:cNvPr>
          <p:cNvSpPr txBox="1"/>
          <p:nvPr>
            <p:custDataLst>
              <p:tags r:id="rId50"/>
            </p:custDataLst>
          </p:nvPr>
        </p:nvSpPr>
        <p:spPr>
          <a:xfrm>
            <a:off x="296316" y="17465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1.2</a:t>
            </a:r>
          </a:p>
        </p:txBody>
      </p:sp>
      <p:sp>
        <p:nvSpPr>
          <p:cNvPr id="3997" name="TextBox 3996">
            <a:hlinkClick r:id="rId115" action="ppaction://hlinksldjump"/>
            <a:extLst>
              <a:ext uri="{FF2B5EF4-FFF2-40B4-BE49-F238E27FC236}">
                <a16:creationId xmlns:a16="http://schemas.microsoft.com/office/drawing/2014/main" id="{DAED5DCD-FFF4-68A4-6131-96D6BC60335B}"/>
              </a:ext>
            </a:extLst>
          </p:cNvPr>
          <p:cNvSpPr txBox="1"/>
          <p:nvPr>
            <p:custDataLst>
              <p:tags r:id="rId51"/>
            </p:custDataLst>
          </p:nvPr>
        </p:nvSpPr>
        <p:spPr>
          <a:xfrm>
            <a:off x="296316" y="18852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1.3</a:t>
            </a:r>
          </a:p>
        </p:txBody>
      </p:sp>
      <p:sp>
        <p:nvSpPr>
          <p:cNvPr id="3998" name="TextBox 3997">
            <a:hlinkClick r:id="rId117" action="ppaction://hlinksldjump"/>
            <a:extLst>
              <a:ext uri="{FF2B5EF4-FFF2-40B4-BE49-F238E27FC236}">
                <a16:creationId xmlns:a16="http://schemas.microsoft.com/office/drawing/2014/main" id="{A6D94C54-69E2-D3D7-148F-85EE73897284}"/>
              </a:ext>
            </a:extLst>
          </p:cNvPr>
          <p:cNvSpPr txBox="1"/>
          <p:nvPr>
            <p:custDataLst>
              <p:tags r:id="rId52"/>
            </p:custDataLst>
          </p:nvPr>
        </p:nvSpPr>
        <p:spPr>
          <a:xfrm>
            <a:off x="296316" y="245318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2.1</a:t>
            </a:r>
          </a:p>
        </p:txBody>
      </p:sp>
      <p:sp>
        <p:nvSpPr>
          <p:cNvPr id="3999" name="TextBox 3998">
            <a:hlinkClick r:id="rId118" action="ppaction://hlinksldjump"/>
            <a:extLst>
              <a:ext uri="{FF2B5EF4-FFF2-40B4-BE49-F238E27FC236}">
                <a16:creationId xmlns:a16="http://schemas.microsoft.com/office/drawing/2014/main" id="{C7F8EA77-716E-4FBF-80EA-A4B8D128C948}"/>
              </a:ext>
            </a:extLst>
          </p:cNvPr>
          <p:cNvSpPr txBox="1"/>
          <p:nvPr>
            <p:custDataLst>
              <p:tags r:id="rId53"/>
            </p:custDataLst>
          </p:nvPr>
        </p:nvSpPr>
        <p:spPr>
          <a:xfrm>
            <a:off x="296316" y="259188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2.2</a:t>
            </a:r>
          </a:p>
        </p:txBody>
      </p:sp>
      <p:sp>
        <p:nvSpPr>
          <p:cNvPr id="4000" name="TextBox 3999">
            <a:hlinkClick r:id="rId120" action="ppaction://hlinksldjump"/>
            <a:extLst>
              <a:ext uri="{FF2B5EF4-FFF2-40B4-BE49-F238E27FC236}">
                <a16:creationId xmlns:a16="http://schemas.microsoft.com/office/drawing/2014/main" id="{0923C6DF-9A72-405E-8F18-6526E0BA7361}"/>
              </a:ext>
            </a:extLst>
          </p:cNvPr>
          <p:cNvSpPr txBox="1"/>
          <p:nvPr>
            <p:custDataLst>
              <p:tags r:id="rId54"/>
            </p:custDataLst>
          </p:nvPr>
        </p:nvSpPr>
        <p:spPr>
          <a:xfrm>
            <a:off x="296316" y="315984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3.1</a:t>
            </a:r>
          </a:p>
        </p:txBody>
      </p:sp>
      <p:sp>
        <p:nvSpPr>
          <p:cNvPr id="4001" name="TextBox 4000">
            <a:hlinkClick r:id="rId121" action="ppaction://hlinksldjump"/>
            <a:extLst>
              <a:ext uri="{FF2B5EF4-FFF2-40B4-BE49-F238E27FC236}">
                <a16:creationId xmlns:a16="http://schemas.microsoft.com/office/drawing/2014/main" id="{38B894B5-4233-70CB-9C0E-0168B2C8E570}"/>
              </a:ext>
            </a:extLst>
          </p:cNvPr>
          <p:cNvSpPr txBox="1"/>
          <p:nvPr>
            <p:custDataLst>
              <p:tags r:id="rId55"/>
            </p:custDataLst>
          </p:nvPr>
        </p:nvSpPr>
        <p:spPr>
          <a:xfrm>
            <a:off x="296316" y="329854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3.2</a:t>
            </a:r>
          </a:p>
        </p:txBody>
      </p:sp>
      <p:sp>
        <p:nvSpPr>
          <p:cNvPr id="4002" name="TextBox 4001">
            <a:hlinkClick r:id="rId122" action="ppaction://hlinksldjump"/>
            <a:extLst>
              <a:ext uri="{FF2B5EF4-FFF2-40B4-BE49-F238E27FC236}">
                <a16:creationId xmlns:a16="http://schemas.microsoft.com/office/drawing/2014/main" id="{05F37EBD-7010-1BCD-0E27-BE19C78F5E37}"/>
              </a:ext>
            </a:extLst>
          </p:cNvPr>
          <p:cNvSpPr txBox="1"/>
          <p:nvPr>
            <p:custDataLst>
              <p:tags r:id="rId56"/>
            </p:custDataLst>
          </p:nvPr>
        </p:nvSpPr>
        <p:spPr>
          <a:xfrm>
            <a:off x="296316" y="343724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3.3</a:t>
            </a:r>
          </a:p>
        </p:txBody>
      </p:sp>
      <p:sp>
        <p:nvSpPr>
          <p:cNvPr id="4003" name="TextBox 4002">
            <a:hlinkClick r:id="rId124" action="ppaction://hlinksldjump"/>
            <a:extLst>
              <a:ext uri="{FF2B5EF4-FFF2-40B4-BE49-F238E27FC236}">
                <a16:creationId xmlns:a16="http://schemas.microsoft.com/office/drawing/2014/main" id="{70BC317D-56AD-5AE6-E73E-52DCF96D4E47}"/>
              </a:ext>
            </a:extLst>
          </p:cNvPr>
          <p:cNvSpPr txBox="1"/>
          <p:nvPr>
            <p:custDataLst>
              <p:tags r:id="rId57"/>
            </p:custDataLst>
          </p:nvPr>
        </p:nvSpPr>
        <p:spPr>
          <a:xfrm>
            <a:off x="296316" y="400520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4.1</a:t>
            </a:r>
          </a:p>
        </p:txBody>
      </p:sp>
      <p:sp>
        <p:nvSpPr>
          <p:cNvPr id="4004" name="TextBox 4003">
            <a:hlinkClick r:id="rId126" action="ppaction://hlinksldjump"/>
            <a:extLst>
              <a:ext uri="{FF2B5EF4-FFF2-40B4-BE49-F238E27FC236}">
                <a16:creationId xmlns:a16="http://schemas.microsoft.com/office/drawing/2014/main" id="{16BCFF67-8415-32E4-F3EA-FC02B29E39C9}"/>
              </a:ext>
            </a:extLst>
          </p:cNvPr>
          <p:cNvSpPr txBox="1"/>
          <p:nvPr>
            <p:custDataLst>
              <p:tags r:id="rId58"/>
            </p:custDataLst>
          </p:nvPr>
        </p:nvSpPr>
        <p:spPr>
          <a:xfrm>
            <a:off x="296316" y="457316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5.1</a:t>
            </a:r>
          </a:p>
        </p:txBody>
      </p:sp>
      <p:sp>
        <p:nvSpPr>
          <p:cNvPr id="4005" name="TextBox 4004">
            <a:hlinkClick r:id="rId127" action="ppaction://hlinksldjump"/>
            <a:extLst>
              <a:ext uri="{FF2B5EF4-FFF2-40B4-BE49-F238E27FC236}">
                <a16:creationId xmlns:a16="http://schemas.microsoft.com/office/drawing/2014/main" id="{5C7FF65E-0930-D546-57CE-E0A21D0E1131}"/>
              </a:ext>
            </a:extLst>
          </p:cNvPr>
          <p:cNvSpPr txBox="1"/>
          <p:nvPr>
            <p:custDataLst>
              <p:tags r:id="rId59"/>
            </p:custDataLst>
          </p:nvPr>
        </p:nvSpPr>
        <p:spPr>
          <a:xfrm>
            <a:off x="296316" y="471186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5.2</a:t>
            </a:r>
          </a:p>
        </p:txBody>
      </p:sp>
      <p:sp>
        <p:nvSpPr>
          <p:cNvPr id="4006" name="TextBox 4005">
            <a:hlinkClick r:id="rId128" action="ppaction://hlinksldjump"/>
            <a:extLst>
              <a:ext uri="{FF2B5EF4-FFF2-40B4-BE49-F238E27FC236}">
                <a16:creationId xmlns:a16="http://schemas.microsoft.com/office/drawing/2014/main" id="{5661AB3D-1F25-2ADA-5191-85955C754B72}"/>
              </a:ext>
            </a:extLst>
          </p:cNvPr>
          <p:cNvSpPr txBox="1"/>
          <p:nvPr>
            <p:custDataLst>
              <p:tags r:id="rId60"/>
            </p:custDataLst>
          </p:nvPr>
        </p:nvSpPr>
        <p:spPr>
          <a:xfrm>
            <a:off x="296316" y="485056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5.3</a:t>
            </a:r>
          </a:p>
        </p:txBody>
      </p:sp>
      <p:sp>
        <p:nvSpPr>
          <p:cNvPr id="4007" name="TextBox 4006">
            <a:hlinkClick r:id="rId129" action="ppaction://hlinksldjump"/>
            <a:extLst>
              <a:ext uri="{FF2B5EF4-FFF2-40B4-BE49-F238E27FC236}">
                <a16:creationId xmlns:a16="http://schemas.microsoft.com/office/drawing/2014/main" id="{009BEC50-05A8-6124-A586-5392FD8B1872}"/>
              </a:ext>
            </a:extLst>
          </p:cNvPr>
          <p:cNvSpPr txBox="1"/>
          <p:nvPr>
            <p:custDataLst>
              <p:tags r:id="rId61"/>
            </p:custDataLst>
          </p:nvPr>
        </p:nvSpPr>
        <p:spPr>
          <a:xfrm>
            <a:off x="296316" y="498926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5.4</a:t>
            </a:r>
          </a:p>
        </p:txBody>
      </p:sp>
      <p:sp>
        <p:nvSpPr>
          <p:cNvPr id="4008" name="TextBox 4007">
            <a:hlinkClick r:id="rId130" action="ppaction://hlinksldjump"/>
            <a:extLst>
              <a:ext uri="{FF2B5EF4-FFF2-40B4-BE49-F238E27FC236}">
                <a16:creationId xmlns:a16="http://schemas.microsoft.com/office/drawing/2014/main" id="{0B3957DA-2E14-7452-EFCA-005A59B8EF26}"/>
              </a:ext>
            </a:extLst>
          </p:cNvPr>
          <p:cNvSpPr txBox="1"/>
          <p:nvPr>
            <p:custDataLst>
              <p:tags r:id="rId62"/>
            </p:custDataLst>
          </p:nvPr>
        </p:nvSpPr>
        <p:spPr>
          <a:xfrm>
            <a:off x="296316" y="512796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5.5</a:t>
            </a:r>
          </a:p>
        </p:txBody>
      </p:sp>
      <p:sp>
        <p:nvSpPr>
          <p:cNvPr id="4009" name="TextBox 4008">
            <a:hlinkClick r:id="rId131" action="ppaction://hlinksldjump"/>
            <a:extLst>
              <a:ext uri="{FF2B5EF4-FFF2-40B4-BE49-F238E27FC236}">
                <a16:creationId xmlns:a16="http://schemas.microsoft.com/office/drawing/2014/main" id="{BE75FD0F-AA19-1064-D43A-30F650CE6315}"/>
              </a:ext>
            </a:extLst>
          </p:cNvPr>
          <p:cNvSpPr txBox="1"/>
          <p:nvPr>
            <p:custDataLst>
              <p:tags r:id="rId63"/>
            </p:custDataLst>
          </p:nvPr>
        </p:nvSpPr>
        <p:spPr>
          <a:xfrm>
            <a:off x="296316" y="526666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5.6</a:t>
            </a:r>
          </a:p>
        </p:txBody>
      </p:sp>
      <p:sp>
        <p:nvSpPr>
          <p:cNvPr id="4010" name="TextBox 4009">
            <a:hlinkClick r:id="rId132" action="ppaction://hlinksldjump"/>
            <a:extLst>
              <a:ext uri="{FF2B5EF4-FFF2-40B4-BE49-F238E27FC236}">
                <a16:creationId xmlns:a16="http://schemas.microsoft.com/office/drawing/2014/main" id="{203BD391-EB1E-C700-992B-7A8AB1FB9485}"/>
              </a:ext>
            </a:extLst>
          </p:cNvPr>
          <p:cNvSpPr txBox="1"/>
          <p:nvPr>
            <p:custDataLst>
              <p:tags r:id="rId64"/>
            </p:custDataLst>
          </p:nvPr>
        </p:nvSpPr>
        <p:spPr>
          <a:xfrm>
            <a:off x="296316" y="540536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5.7</a:t>
            </a:r>
          </a:p>
        </p:txBody>
      </p:sp>
      <p:sp>
        <p:nvSpPr>
          <p:cNvPr id="4011" name="TextBox 4010">
            <a:hlinkClick r:id="rId133" action="ppaction://hlinksldjump"/>
            <a:extLst>
              <a:ext uri="{FF2B5EF4-FFF2-40B4-BE49-F238E27FC236}">
                <a16:creationId xmlns:a16="http://schemas.microsoft.com/office/drawing/2014/main" id="{B5BCA234-ED77-2ADB-F752-435260661D75}"/>
              </a:ext>
            </a:extLst>
          </p:cNvPr>
          <p:cNvSpPr txBox="1"/>
          <p:nvPr>
            <p:custDataLst>
              <p:tags r:id="rId65"/>
            </p:custDataLst>
          </p:nvPr>
        </p:nvSpPr>
        <p:spPr>
          <a:xfrm>
            <a:off x="296316" y="554406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5.8</a:t>
            </a:r>
          </a:p>
        </p:txBody>
      </p:sp>
      <p:sp>
        <p:nvSpPr>
          <p:cNvPr id="4012" name="TextBox 4011">
            <a:hlinkClick r:id="rId135" action="ppaction://hlinksldjump"/>
            <a:extLst>
              <a:ext uri="{FF2B5EF4-FFF2-40B4-BE49-F238E27FC236}">
                <a16:creationId xmlns:a16="http://schemas.microsoft.com/office/drawing/2014/main" id="{05AFD085-5894-C152-0668-8463591AE79B}"/>
              </a:ext>
            </a:extLst>
          </p:cNvPr>
          <p:cNvSpPr txBox="1"/>
          <p:nvPr>
            <p:custDataLst>
              <p:tags r:id="rId66"/>
            </p:custDataLst>
          </p:nvPr>
        </p:nvSpPr>
        <p:spPr>
          <a:xfrm>
            <a:off x="4951098" y="16078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6.1</a:t>
            </a:r>
          </a:p>
        </p:txBody>
      </p:sp>
      <p:sp>
        <p:nvSpPr>
          <p:cNvPr id="4013" name="TextBox 4012">
            <a:hlinkClick r:id="rId136" action="ppaction://hlinksldjump"/>
            <a:extLst>
              <a:ext uri="{FF2B5EF4-FFF2-40B4-BE49-F238E27FC236}">
                <a16:creationId xmlns:a16="http://schemas.microsoft.com/office/drawing/2014/main" id="{71D1BE0B-06FC-7BD8-A251-DDC92FFCF93F}"/>
              </a:ext>
            </a:extLst>
          </p:cNvPr>
          <p:cNvSpPr txBox="1"/>
          <p:nvPr>
            <p:custDataLst>
              <p:tags r:id="rId67"/>
            </p:custDataLst>
          </p:nvPr>
        </p:nvSpPr>
        <p:spPr>
          <a:xfrm>
            <a:off x="4951098" y="17465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6.2</a:t>
            </a:r>
          </a:p>
        </p:txBody>
      </p:sp>
      <p:sp>
        <p:nvSpPr>
          <p:cNvPr id="4014" name="TextBox 4013">
            <a:hlinkClick r:id="rId137" action="ppaction://hlinksldjump"/>
            <a:extLst>
              <a:ext uri="{FF2B5EF4-FFF2-40B4-BE49-F238E27FC236}">
                <a16:creationId xmlns:a16="http://schemas.microsoft.com/office/drawing/2014/main" id="{03993D37-E384-56F8-C2D7-A54E314E4E6F}"/>
              </a:ext>
            </a:extLst>
          </p:cNvPr>
          <p:cNvSpPr txBox="1"/>
          <p:nvPr>
            <p:custDataLst>
              <p:tags r:id="rId68"/>
            </p:custDataLst>
          </p:nvPr>
        </p:nvSpPr>
        <p:spPr>
          <a:xfrm>
            <a:off x="4951098" y="18852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6.3</a:t>
            </a:r>
          </a:p>
        </p:txBody>
      </p:sp>
      <p:sp>
        <p:nvSpPr>
          <p:cNvPr id="4015" name="TextBox 4014">
            <a:hlinkClick r:id="rId138" action="ppaction://hlinksldjump"/>
            <a:extLst>
              <a:ext uri="{FF2B5EF4-FFF2-40B4-BE49-F238E27FC236}">
                <a16:creationId xmlns:a16="http://schemas.microsoft.com/office/drawing/2014/main" id="{B4624FDD-4279-5B4D-F5A1-F2463C84142D}"/>
              </a:ext>
            </a:extLst>
          </p:cNvPr>
          <p:cNvSpPr txBox="1"/>
          <p:nvPr>
            <p:custDataLst>
              <p:tags r:id="rId69"/>
            </p:custDataLst>
          </p:nvPr>
        </p:nvSpPr>
        <p:spPr>
          <a:xfrm>
            <a:off x="4951098" y="20239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6.4</a:t>
            </a:r>
          </a:p>
        </p:txBody>
      </p:sp>
      <p:sp>
        <p:nvSpPr>
          <p:cNvPr id="4016" name="TextBox 4015">
            <a:hlinkClick r:id="rId139" action="ppaction://hlinksldjump"/>
            <a:extLst>
              <a:ext uri="{FF2B5EF4-FFF2-40B4-BE49-F238E27FC236}">
                <a16:creationId xmlns:a16="http://schemas.microsoft.com/office/drawing/2014/main" id="{55586A31-DA19-EDBA-CB25-FF33E4994C23}"/>
              </a:ext>
            </a:extLst>
          </p:cNvPr>
          <p:cNvSpPr txBox="1"/>
          <p:nvPr>
            <p:custDataLst>
              <p:tags r:id="rId70"/>
            </p:custDataLst>
          </p:nvPr>
        </p:nvSpPr>
        <p:spPr>
          <a:xfrm>
            <a:off x="4951098" y="21626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6.5</a:t>
            </a:r>
          </a:p>
        </p:txBody>
      </p:sp>
      <p:sp>
        <p:nvSpPr>
          <p:cNvPr id="4017" name="TextBox 4016">
            <a:hlinkClick r:id="rId140" action="ppaction://hlinksldjump"/>
            <a:extLst>
              <a:ext uri="{FF2B5EF4-FFF2-40B4-BE49-F238E27FC236}">
                <a16:creationId xmlns:a16="http://schemas.microsoft.com/office/drawing/2014/main" id="{0ACF74C2-428A-82CB-72EA-295931CD29E1}"/>
              </a:ext>
            </a:extLst>
          </p:cNvPr>
          <p:cNvSpPr txBox="1"/>
          <p:nvPr>
            <p:custDataLst>
              <p:tags r:id="rId71"/>
            </p:custDataLst>
          </p:nvPr>
        </p:nvSpPr>
        <p:spPr>
          <a:xfrm>
            <a:off x="4951098" y="23013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6.6</a:t>
            </a:r>
          </a:p>
        </p:txBody>
      </p:sp>
      <p:sp>
        <p:nvSpPr>
          <p:cNvPr id="4018" name="TextBox 4017">
            <a:hlinkClick r:id="rId141" action="ppaction://hlinksldjump"/>
            <a:extLst>
              <a:ext uri="{FF2B5EF4-FFF2-40B4-BE49-F238E27FC236}">
                <a16:creationId xmlns:a16="http://schemas.microsoft.com/office/drawing/2014/main" id="{A73DC37E-F082-11FA-175A-3AD0BF9D25F3}"/>
              </a:ext>
            </a:extLst>
          </p:cNvPr>
          <p:cNvSpPr txBox="1"/>
          <p:nvPr>
            <p:custDataLst>
              <p:tags r:id="rId72"/>
            </p:custDataLst>
          </p:nvPr>
        </p:nvSpPr>
        <p:spPr>
          <a:xfrm>
            <a:off x="4951098" y="2440020"/>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6.7</a:t>
            </a:r>
          </a:p>
        </p:txBody>
      </p:sp>
      <p:sp>
        <p:nvSpPr>
          <p:cNvPr id="4019" name="TextBox 4018">
            <a:hlinkClick r:id="rId142" action="ppaction://hlinksldjump"/>
            <a:extLst>
              <a:ext uri="{FF2B5EF4-FFF2-40B4-BE49-F238E27FC236}">
                <a16:creationId xmlns:a16="http://schemas.microsoft.com/office/drawing/2014/main" id="{F72F7E5D-6742-4ADA-AB6D-0A4C7BCAD173}"/>
              </a:ext>
            </a:extLst>
          </p:cNvPr>
          <p:cNvSpPr txBox="1"/>
          <p:nvPr>
            <p:custDataLst>
              <p:tags r:id="rId73"/>
            </p:custDataLst>
          </p:nvPr>
        </p:nvSpPr>
        <p:spPr>
          <a:xfrm>
            <a:off x="4951098" y="257872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6.8</a:t>
            </a:r>
          </a:p>
        </p:txBody>
      </p:sp>
      <p:sp>
        <p:nvSpPr>
          <p:cNvPr id="4020" name="TextBox 4019">
            <a:hlinkClick r:id="rId143" action="ppaction://hlinksldjump"/>
            <a:extLst>
              <a:ext uri="{FF2B5EF4-FFF2-40B4-BE49-F238E27FC236}">
                <a16:creationId xmlns:a16="http://schemas.microsoft.com/office/drawing/2014/main" id="{9098705C-E659-1587-B784-9E4E7282BC8F}"/>
              </a:ext>
            </a:extLst>
          </p:cNvPr>
          <p:cNvSpPr txBox="1"/>
          <p:nvPr>
            <p:custDataLst>
              <p:tags r:id="rId74"/>
            </p:custDataLst>
          </p:nvPr>
        </p:nvSpPr>
        <p:spPr>
          <a:xfrm>
            <a:off x="4951098" y="271742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6.9</a:t>
            </a:r>
          </a:p>
        </p:txBody>
      </p:sp>
      <p:sp>
        <p:nvSpPr>
          <p:cNvPr id="4021" name="TextBox 4020">
            <a:hlinkClick r:id="rId144" action="ppaction://hlinksldjump"/>
            <a:extLst>
              <a:ext uri="{FF2B5EF4-FFF2-40B4-BE49-F238E27FC236}">
                <a16:creationId xmlns:a16="http://schemas.microsoft.com/office/drawing/2014/main" id="{633CA3C9-2D6B-7944-C4F5-0A2EC5261757}"/>
              </a:ext>
            </a:extLst>
          </p:cNvPr>
          <p:cNvSpPr txBox="1"/>
          <p:nvPr>
            <p:custDataLst>
              <p:tags r:id="rId75"/>
            </p:custDataLst>
          </p:nvPr>
        </p:nvSpPr>
        <p:spPr>
          <a:xfrm>
            <a:off x="4951098" y="285612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6.10</a:t>
            </a:r>
          </a:p>
        </p:txBody>
      </p:sp>
      <p:sp>
        <p:nvSpPr>
          <p:cNvPr id="4022" name="TextBox 4021">
            <a:hlinkClick r:id="rId145" action="ppaction://hlinksldjump"/>
            <a:extLst>
              <a:ext uri="{FF2B5EF4-FFF2-40B4-BE49-F238E27FC236}">
                <a16:creationId xmlns:a16="http://schemas.microsoft.com/office/drawing/2014/main" id="{3637A60F-B759-1896-FC15-EEC31A86AD61}"/>
              </a:ext>
            </a:extLst>
          </p:cNvPr>
          <p:cNvSpPr txBox="1"/>
          <p:nvPr>
            <p:custDataLst>
              <p:tags r:id="rId76"/>
            </p:custDataLst>
          </p:nvPr>
        </p:nvSpPr>
        <p:spPr>
          <a:xfrm>
            <a:off x="4951098" y="299482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6.11</a:t>
            </a:r>
          </a:p>
        </p:txBody>
      </p:sp>
      <p:sp>
        <p:nvSpPr>
          <p:cNvPr id="4023" name="TextBox 4022">
            <a:hlinkClick r:id="rId108" action="ppaction://hlinksldjump"/>
            <a:extLst>
              <a:ext uri="{FF2B5EF4-FFF2-40B4-BE49-F238E27FC236}">
                <a16:creationId xmlns:a16="http://schemas.microsoft.com/office/drawing/2014/main" id="{61F4744B-5B9C-1EA1-F5B8-0904776A114F}"/>
              </a:ext>
            </a:extLst>
          </p:cNvPr>
          <p:cNvSpPr txBox="1"/>
          <p:nvPr>
            <p:custDataLst>
              <p:tags r:id="rId77"/>
            </p:custDataLst>
          </p:nvPr>
        </p:nvSpPr>
        <p:spPr>
          <a:xfrm>
            <a:off x="4951098" y="3133521"/>
            <a:ext cx="0" cy="0"/>
          </a:xfrm>
          <a:prstGeom prst="rect">
            <a:avLst/>
          </a:prstGeom>
          <a:noFill/>
          <a:ln>
            <a:noFill/>
          </a:ln>
        </p:spPr>
        <p:txBody>
          <a:bodyPr vert="horz" wrap="none" lIns="0" tIns="0" rIns="0" bIns="0" rtlCol="0" anchor="b" anchorCtr="0">
            <a:noAutofit/>
          </a:bodyPr>
          <a:lstStyle/>
          <a:p>
            <a:pPr algn="l"/>
            <a:r>
              <a:rPr lang="en-US" sz="100" b="0">
                <a:ln>
                  <a:noFill/>
                </a:ln>
                <a:noFill/>
                <a:latin typeface="+mn-lt"/>
                <a:cs typeface="Arial" panose="020B0604020202020204" pitchFamily="34" charset="0"/>
              </a:rPr>
              <a:t>6.12</a:t>
            </a:r>
          </a:p>
        </p:txBody>
      </p:sp>
      <p:sp>
        <p:nvSpPr>
          <p:cNvPr id="4024" name="TextBox 4023">
            <a:hlinkClick r:id="rId113" action="ppaction://hlinksldjump"/>
            <a:extLst>
              <a:ext uri="{FF2B5EF4-FFF2-40B4-BE49-F238E27FC236}">
                <a16:creationId xmlns:a16="http://schemas.microsoft.com/office/drawing/2014/main" id="{B20AEF19-F682-D6BA-025F-476F2456A1E2}"/>
              </a:ext>
            </a:extLst>
          </p:cNvPr>
          <p:cNvSpPr txBox="1"/>
          <p:nvPr>
            <p:custDataLst>
              <p:tags r:id="rId78"/>
            </p:custDataLst>
          </p:nvPr>
        </p:nvSpPr>
        <p:spPr>
          <a:xfrm>
            <a:off x="5245758" y="16078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a:t>
            </a:r>
          </a:p>
        </p:txBody>
      </p:sp>
      <p:sp>
        <p:nvSpPr>
          <p:cNvPr id="4025" name="TextBox 4024">
            <a:hlinkClick r:id="rId114" action="ppaction://hlinksldjump"/>
            <a:extLst>
              <a:ext uri="{FF2B5EF4-FFF2-40B4-BE49-F238E27FC236}">
                <a16:creationId xmlns:a16="http://schemas.microsoft.com/office/drawing/2014/main" id="{292B761D-2DEA-1B10-EDD8-D14303A1EAA5}"/>
              </a:ext>
            </a:extLst>
          </p:cNvPr>
          <p:cNvSpPr txBox="1"/>
          <p:nvPr>
            <p:custDataLst>
              <p:tags r:id="rId79"/>
            </p:custDataLst>
          </p:nvPr>
        </p:nvSpPr>
        <p:spPr>
          <a:xfrm>
            <a:off x="5245758" y="17465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6</a:t>
            </a:r>
          </a:p>
        </p:txBody>
      </p:sp>
      <p:sp>
        <p:nvSpPr>
          <p:cNvPr id="4026" name="TextBox 4025">
            <a:hlinkClick r:id="rId115" action="ppaction://hlinksldjump"/>
            <a:extLst>
              <a:ext uri="{FF2B5EF4-FFF2-40B4-BE49-F238E27FC236}">
                <a16:creationId xmlns:a16="http://schemas.microsoft.com/office/drawing/2014/main" id="{E672BCDC-E99F-9779-B254-94D603F15070}"/>
              </a:ext>
            </a:extLst>
          </p:cNvPr>
          <p:cNvSpPr txBox="1"/>
          <p:nvPr>
            <p:custDataLst>
              <p:tags r:id="rId80"/>
            </p:custDataLst>
          </p:nvPr>
        </p:nvSpPr>
        <p:spPr>
          <a:xfrm>
            <a:off x="5245758" y="18852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7</a:t>
            </a:r>
          </a:p>
        </p:txBody>
      </p:sp>
      <p:sp>
        <p:nvSpPr>
          <p:cNvPr id="4027" name="TextBox 4026">
            <a:hlinkClick r:id="rId117" action="ppaction://hlinksldjump"/>
            <a:extLst>
              <a:ext uri="{FF2B5EF4-FFF2-40B4-BE49-F238E27FC236}">
                <a16:creationId xmlns:a16="http://schemas.microsoft.com/office/drawing/2014/main" id="{F729BADA-82AE-0FAA-06E9-755518353840}"/>
              </a:ext>
            </a:extLst>
          </p:cNvPr>
          <p:cNvSpPr txBox="1"/>
          <p:nvPr>
            <p:custDataLst>
              <p:tags r:id="rId81"/>
            </p:custDataLst>
          </p:nvPr>
        </p:nvSpPr>
        <p:spPr>
          <a:xfrm>
            <a:off x="5245758" y="245318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10</a:t>
            </a:r>
          </a:p>
        </p:txBody>
      </p:sp>
      <p:sp>
        <p:nvSpPr>
          <p:cNvPr id="4028" name="TextBox 4027">
            <a:hlinkClick r:id="rId118" action="ppaction://hlinksldjump"/>
            <a:extLst>
              <a:ext uri="{FF2B5EF4-FFF2-40B4-BE49-F238E27FC236}">
                <a16:creationId xmlns:a16="http://schemas.microsoft.com/office/drawing/2014/main" id="{80973FF0-607E-CF3B-6B5D-B9B97BF491CE}"/>
              </a:ext>
            </a:extLst>
          </p:cNvPr>
          <p:cNvSpPr txBox="1"/>
          <p:nvPr>
            <p:custDataLst>
              <p:tags r:id="rId82"/>
            </p:custDataLst>
          </p:nvPr>
        </p:nvSpPr>
        <p:spPr>
          <a:xfrm>
            <a:off x="5245758" y="259188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12</a:t>
            </a:r>
          </a:p>
        </p:txBody>
      </p:sp>
      <p:sp>
        <p:nvSpPr>
          <p:cNvPr id="4029" name="TextBox 4028">
            <a:hlinkClick r:id="rId120" action="ppaction://hlinksldjump"/>
            <a:extLst>
              <a:ext uri="{FF2B5EF4-FFF2-40B4-BE49-F238E27FC236}">
                <a16:creationId xmlns:a16="http://schemas.microsoft.com/office/drawing/2014/main" id="{AD36CBE5-7393-54F0-D825-1945C9BC84EB}"/>
              </a:ext>
            </a:extLst>
          </p:cNvPr>
          <p:cNvSpPr txBox="1"/>
          <p:nvPr>
            <p:custDataLst>
              <p:tags r:id="rId83"/>
            </p:custDataLst>
          </p:nvPr>
        </p:nvSpPr>
        <p:spPr>
          <a:xfrm>
            <a:off x="5245758" y="315984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29</a:t>
            </a:r>
          </a:p>
        </p:txBody>
      </p:sp>
      <p:sp>
        <p:nvSpPr>
          <p:cNvPr id="4030" name="TextBox 4029">
            <a:hlinkClick r:id="rId121" action="ppaction://hlinksldjump"/>
            <a:extLst>
              <a:ext uri="{FF2B5EF4-FFF2-40B4-BE49-F238E27FC236}">
                <a16:creationId xmlns:a16="http://schemas.microsoft.com/office/drawing/2014/main" id="{C2FE5CA4-ED32-7292-A978-EDF1C47C5841}"/>
              </a:ext>
            </a:extLst>
          </p:cNvPr>
          <p:cNvSpPr txBox="1"/>
          <p:nvPr>
            <p:custDataLst>
              <p:tags r:id="rId84"/>
            </p:custDataLst>
          </p:nvPr>
        </p:nvSpPr>
        <p:spPr>
          <a:xfrm>
            <a:off x="5245758" y="329854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31</a:t>
            </a:r>
          </a:p>
        </p:txBody>
      </p:sp>
      <p:sp>
        <p:nvSpPr>
          <p:cNvPr id="4031" name="TextBox 4030">
            <a:hlinkClick r:id="rId122" action="ppaction://hlinksldjump"/>
            <a:extLst>
              <a:ext uri="{FF2B5EF4-FFF2-40B4-BE49-F238E27FC236}">
                <a16:creationId xmlns:a16="http://schemas.microsoft.com/office/drawing/2014/main" id="{E98B7E25-45EB-E478-332C-096265C96354}"/>
              </a:ext>
            </a:extLst>
          </p:cNvPr>
          <p:cNvSpPr txBox="1"/>
          <p:nvPr>
            <p:custDataLst>
              <p:tags r:id="rId85"/>
            </p:custDataLst>
          </p:nvPr>
        </p:nvSpPr>
        <p:spPr>
          <a:xfrm>
            <a:off x="5245758" y="343724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38</a:t>
            </a:r>
          </a:p>
        </p:txBody>
      </p:sp>
      <p:sp>
        <p:nvSpPr>
          <p:cNvPr id="4032" name="TextBox 4031">
            <a:hlinkClick r:id="rId124" action="ppaction://hlinksldjump"/>
            <a:extLst>
              <a:ext uri="{FF2B5EF4-FFF2-40B4-BE49-F238E27FC236}">
                <a16:creationId xmlns:a16="http://schemas.microsoft.com/office/drawing/2014/main" id="{F1EA222B-A03D-59FB-CE69-BC9E4491EE70}"/>
              </a:ext>
            </a:extLst>
          </p:cNvPr>
          <p:cNvSpPr txBox="1"/>
          <p:nvPr>
            <p:custDataLst>
              <p:tags r:id="rId86"/>
            </p:custDataLst>
          </p:nvPr>
        </p:nvSpPr>
        <p:spPr>
          <a:xfrm>
            <a:off x="5245758" y="400520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40</a:t>
            </a:r>
          </a:p>
        </p:txBody>
      </p:sp>
      <p:sp>
        <p:nvSpPr>
          <p:cNvPr id="4033" name="TextBox 4032">
            <a:hlinkClick r:id="rId126" action="ppaction://hlinksldjump"/>
            <a:extLst>
              <a:ext uri="{FF2B5EF4-FFF2-40B4-BE49-F238E27FC236}">
                <a16:creationId xmlns:a16="http://schemas.microsoft.com/office/drawing/2014/main" id="{10667497-980E-6D45-3EC8-88FDA6F03F98}"/>
              </a:ext>
            </a:extLst>
          </p:cNvPr>
          <p:cNvSpPr txBox="1"/>
          <p:nvPr>
            <p:custDataLst>
              <p:tags r:id="rId87"/>
            </p:custDataLst>
          </p:nvPr>
        </p:nvSpPr>
        <p:spPr>
          <a:xfrm>
            <a:off x="5245758" y="457316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45</a:t>
            </a:r>
          </a:p>
        </p:txBody>
      </p:sp>
      <p:sp>
        <p:nvSpPr>
          <p:cNvPr id="4034" name="TextBox 4033">
            <a:hlinkClick r:id="rId127" action="ppaction://hlinksldjump"/>
            <a:extLst>
              <a:ext uri="{FF2B5EF4-FFF2-40B4-BE49-F238E27FC236}">
                <a16:creationId xmlns:a16="http://schemas.microsoft.com/office/drawing/2014/main" id="{720AEF9F-D770-58BF-4984-EEFAC026210C}"/>
              </a:ext>
            </a:extLst>
          </p:cNvPr>
          <p:cNvSpPr txBox="1"/>
          <p:nvPr>
            <p:custDataLst>
              <p:tags r:id="rId88"/>
            </p:custDataLst>
          </p:nvPr>
        </p:nvSpPr>
        <p:spPr>
          <a:xfrm>
            <a:off x="5245758" y="471186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46</a:t>
            </a:r>
          </a:p>
        </p:txBody>
      </p:sp>
      <p:sp>
        <p:nvSpPr>
          <p:cNvPr id="4035" name="TextBox 4034">
            <a:hlinkClick r:id="rId128" action="ppaction://hlinksldjump"/>
            <a:extLst>
              <a:ext uri="{FF2B5EF4-FFF2-40B4-BE49-F238E27FC236}">
                <a16:creationId xmlns:a16="http://schemas.microsoft.com/office/drawing/2014/main" id="{EA0E6AB9-37D6-242B-30EF-BB007DA84B3A}"/>
              </a:ext>
            </a:extLst>
          </p:cNvPr>
          <p:cNvSpPr txBox="1"/>
          <p:nvPr>
            <p:custDataLst>
              <p:tags r:id="rId89"/>
            </p:custDataLst>
          </p:nvPr>
        </p:nvSpPr>
        <p:spPr>
          <a:xfrm>
            <a:off x="5245758" y="485056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47</a:t>
            </a:r>
          </a:p>
        </p:txBody>
      </p:sp>
      <p:sp>
        <p:nvSpPr>
          <p:cNvPr id="4036" name="TextBox 4035">
            <a:hlinkClick r:id="rId129" action="ppaction://hlinksldjump"/>
            <a:extLst>
              <a:ext uri="{FF2B5EF4-FFF2-40B4-BE49-F238E27FC236}">
                <a16:creationId xmlns:a16="http://schemas.microsoft.com/office/drawing/2014/main" id="{BF896F50-1BDF-8E82-D16E-087C335D2FD9}"/>
              </a:ext>
            </a:extLst>
          </p:cNvPr>
          <p:cNvSpPr txBox="1"/>
          <p:nvPr>
            <p:custDataLst>
              <p:tags r:id="rId90"/>
            </p:custDataLst>
          </p:nvPr>
        </p:nvSpPr>
        <p:spPr>
          <a:xfrm>
            <a:off x="5245758" y="498926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48</a:t>
            </a:r>
          </a:p>
        </p:txBody>
      </p:sp>
      <p:sp>
        <p:nvSpPr>
          <p:cNvPr id="4037" name="TextBox 4036">
            <a:hlinkClick r:id="rId130" action="ppaction://hlinksldjump"/>
            <a:extLst>
              <a:ext uri="{FF2B5EF4-FFF2-40B4-BE49-F238E27FC236}">
                <a16:creationId xmlns:a16="http://schemas.microsoft.com/office/drawing/2014/main" id="{C3CD30D1-EFAA-32A3-CD93-0655B73067DA}"/>
              </a:ext>
            </a:extLst>
          </p:cNvPr>
          <p:cNvSpPr txBox="1"/>
          <p:nvPr>
            <p:custDataLst>
              <p:tags r:id="rId91"/>
            </p:custDataLst>
          </p:nvPr>
        </p:nvSpPr>
        <p:spPr>
          <a:xfrm>
            <a:off x="5245758" y="512796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49</a:t>
            </a:r>
          </a:p>
        </p:txBody>
      </p:sp>
      <p:sp>
        <p:nvSpPr>
          <p:cNvPr id="4038" name="TextBox 4037">
            <a:hlinkClick r:id="rId131" action="ppaction://hlinksldjump"/>
            <a:extLst>
              <a:ext uri="{FF2B5EF4-FFF2-40B4-BE49-F238E27FC236}">
                <a16:creationId xmlns:a16="http://schemas.microsoft.com/office/drawing/2014/main" id="{D9720A0B-5498-D803-6766-3990BFB27CEE}"/>
              </a:ext>
            </a:extLst>
          </p:cNvPr>
          <p:cNvSpPr txBox="1"/>
          <p:nvPr>
            <p:custDataLst>
              <p:tags r:id="rId92"/>
            </p:custDataLst>
          </p:nvPr>
        </p:nvSpPr>
        <p:spPr>
          <a:xfrm>
            <a:off x="5245758" y="526666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50</a:t>
            </a:r>
          </a:p>
        </p:txBody>
      </p:sp>
      <p:sp>
        <p:nvSpPr>
          <p:cNvPr id="4039" name="TextBox 4038">
            <a:hlinkClick r:id="rId132" action="ppaction://hlinksldjump"/>
            <a:extLst>
              <a:ext uri="{FF2B5EF4-FFF2-40B4-BE49-F238E27FC236}">
                <a16:creationId xmlns:a16="http://schemas.microsoft.com/office/drawing/2014/main" id="{A26BC87F-4653-BB17-AF08-2B1FA612970D}"/>
              </a:ext>
            </a:extLst>
          </p:cNvPr>
          <p:cNvSpPr txBox="1"/>
          <p:nvPr>
            <p:custDataLst>
              <p:tags r:id="rId93"/>
            </p:custDataLst>
          </p:nvPr>
        </p:nvSpPr>
        <p:spPr>
          <a:xfrm>
            <a:off x="5245758" y="540536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51</a:t>
            </a:r>
          </a:p>
        </p:txBody>
      </p:sp>
      <p:sp>
        <p:nvSpPr>
          <p:cNvPr id="4040" name="TextBox 4039">
            <a:hlinkClick r:id="rId133" action="ppaction://hlinksldjump"/>
            <a:extLst>
              <a:ext uri="{FF2B5EF4-FFF2-40B4-BE49-F238E27FC236}">
                <a16:creationId xmlns:a16="http://schemas.microsoft.com/office/drawing/2014/main" id="{9F3321DD-7309-DA14-4625-5D37DAE7E65F}"/>
              </a:ext>
            </a:extLst>
          </p:cNvPr>
          <p:cNvSpPr txBox="1"/>
          <p:nvPr>
            <p:custDataLst>
              <p:tags r:id="rId94"/>
            </p:custDataLst>
          </p:nvPr>
        </p:nvSpPr>
        <p:spPr>
          <a:xfrm>
            <a:off x="5245758" y="554406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52</a:t>
            </a:r>
          </a:p>
        </p:txBody>
      </p:sp>
      <p:sp>
        <p:nvSpPr>
          <p:cNvPr id="4041" name="TextBox 4040">
            <a:hlinkClick r:id="rId135" action="ppaction://hlinksldjump"/>
            <a:extLst>
              <a:ext uri="{FF2B5EF4-FFF2-40B4-BE49-F238E27FC236}">
                <a16:creationId xmlns:a16="http://schemas.microsoft.com/office/drawing/2014/main" id="{8228BBEA-CB31-38CF-34A6-1539B99830AA}"/>
              </a:ext>
            </a:extLst>
          </p:cNvPr>
          <p:cNvSpPr txBox="1"/>
          <p:nvPr>
            <p:custDataLst>
              <p:tags r:id="rId95"/>
            </p:custDataLst>
          </p:nvPr>
        </p:nvSpPr>
        <p:spPr>
          <a:xfrm>
            <a:off x="10374885" y="16078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54</a:t>
            </a:r>
          </a:p>
        </p:txBody>
      </p:sp>
      <p:sp>
        <p:nvSpPr>
          <p:cNvPr id="4042" name="TextBox 4041">
            <a:hlinkClick r:id="rId136" action="ppaction://hlinksldjump"/>
            <a:extLst>
              <a:ext uri="{FF2B5EF4-FFF2-40B4-BE49-F238E27FC236}">
                <a16:creationId xmlns:a16="http://schemas.microsoft.com/office/drawing/2014/main" id="{CF8272B7-500E-C467-F1BE-369652BEA034}"/>
              </a:ext>
            </a:extLst>
          </p:cNvPr>
          <p:cNvSpPr txBox="1"/>
          <p:nvPr>
            <p:custDataLst>
              <p:tags r:id="rId96"/>
            </p:custDataLst>
          </p:nvPr>
        </p:nvSpPr>
        <p:spPr>
          <a:xfrm>
            <a:off x="10374885" y="17465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57</a:t>
            </a:r>
          </a:p>
        </p:txBody>
      </p:sp>
      <p:sp>
        <p:nvSpPr>
          <p:cNvPr id="4043" name="TextBox 4042">
            <a:hlinkClick r:id="rId137" action="ppaction://hlinksldjump"/>
            <a:extLst>
              <a:ext uri="{FF2B5EF4-FFF2-40B4-BE49-F238E27FC236}">
                <a16:creationId xmlns:a16="http://schemas.microsoft.com/office/drawing/2014/main" id="{910B62CB-693A-E650-E5D9-9C2A358527DF}"/>
              </a:ext>
            </a:extLst>
          </p:cNvPr>
          <p:cNvSpPr txBox="1"/>
          <p:nvPr>
            <p:custDataLst>
              <p:tags r:id="rId97"/>
            </p:custDataLst>
          </p:nvPr>
        </p:nvSpPr>
        <p:spPr>
          <a:xfrm>
            <a:off x="10374885" y="18852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58</a:t>
            </a:r>
          </a:p>
        </p:txBody>
      </p:sp>
      <p:sp>
        <p:nvSpPr>
          <p:cNvPr id="4044" name="TextBox 4043">
            <a:hlinkClick r:id="rId138" action="ppaction://hlinksldjump"/>
            <a:extLst>
              <a:ext uri="{FF2B5EF4-FFF2-40B4-BE49-F238E27FC236}">
                <a16:creationId xmlns:a16="http://schemas.microsoft.com/office/drawing/2014/main" id="{95381C4A-9877-167B-2172-684366F5446D}"/>
              </a:ext>
            </a:extLst>
          </p:cNvPr>
          <p:cNvSpPr txBox="1"/>
          <p:nvPr>
            <p:custDataLst>
              <p:tags r:id="rId98"/>
            </p:custDataLst>
          </p:nvPr>
        </p:nvSpPr>
        <p:spPr>
          <a:xfrm>
            <a:off x="10374885" y="20239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59</a:t>
            </a:r>
          </a:p>
        </p:txBody>
      </p:sp>
      <p:sp>
        <p:nvSpPr>
          <p:cNvPr id="4045" name="TextBox 4044">
            <a:hlinkClick r:id="rId139" action="ppaction://hlinksldjump"/>
            <a:extLst>
              <a:ext uri="{FF2B5EF4-FFF2-40B4-BE49-F238E27FC236}">
                <a16:creationId xmlns:a16="http://schemas.microsoft.com/office/drawing/2014/main" id="{92A6A75E-3C46-2DA5-6458-FD5D83E761A0}"/>
              </a:ext>
            </a:extLst>
          </p:cNvPr>
          <p:cNvSpPr txBox="1"/>
          <p:nvPr>
            <p:custDataLst>
              <p:tags r:id="rId99"/>
            </p:custDataLst>
          </p:nvPr>
        </p:nvSpPr>
        <p:spPr>
          <a:xfrm>
            <a:off x="10374885" y="21626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61</a:t>
            </a:r>
          </a:p>
        </p:txBody>
      </p:sp>
      <p:sp>
        <p:nvSpPr>
          <p:cNvPr id="4046" name="TextBox 4045">
            <a:hlinkClick r:id="rId140" action="ppaction://hlinksldjump"/>
            <a:extLst>
              <a:ext uri="{FF2B5EF4-FFF2-40B4-BE49-F238E27FC236}">
                <a16:creationId xmlns:a16="http://schemas.microsoft.com/office/drawing/2014/main" id="{78489512-97E4-5FFA-3E3D-30EDDB833A3A}"/>
              </a:ext>
            </a:extLst>
          </p:cNvPr>
          <p:cNvSpPr txBox="1"/>
          <p:nvPr>
            <p:custDataLst>
              <p:tags r:id="rId100"/>
            </p:custDataLst>
          </p:nvPr>
        </p:nvSpPr>
        <p:spPr>
          <a:xfrm>
            <a:off x="10374885" y="23013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68</a:t>
            </a:r>
          </a:p>
        </p:txBody>
      </p:sp>
      <p:sp>
        <p:nvSpPr>
          <p:cNvPr id="4047" name="TextBox 4046">
            <a:hlinkClick r:id="rId141" action="ppaction://hlinksldjump"/>
            <a:extLst>
              <a:ext uri="{FF2B5EF4-FFF2-40B4-BE49-F238E27FC236}">
                <a16:creationId xmlns:a16="http://schemas.microsoft.com/office/drawing/2014/main" id="{98077997-80B4-B99A-289F-6BF75B3E1E7D}"/>
              </a:ext>
            </a:extLst>
          </p:cNvPr>
          <p:cNvSpPr txBox="1"/>
          <p:nvPr>
            <p:custDataLst>
              <p:tags r:id="rId101"/>
            </p:custDataLst>
          </p:nvPr>
        </p:nvSpPr>
        <p:spPr>
          <a:xfrm>
            <a:off x="10374885" y="2440020"/>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71</a:t>
            </a:r>
          </a:p>
        </p:txBody>
      </p:sp>
      <p:sp>
        <p:nvSpPr>
          <p:cNvPr id="4048" name="TextBox 4047">
            <a:hlinkClick r:id="rId142" action="ppaction://hlinksldjump"/>
            <a:extLst>
              <a:ext uri="{FF2B5EF4-FFF2-40B4-BE49-F238E27FC236}">
                <a16:creationId xmlns:a16="http://schemas.microsoft.com/office/drawing/2014/main" id="{C6337BDB-F4D1-3EFB-3B19-6A4BE2DA5535}"/>
              </a:ext>
            </a:extLst>
          </p:cNvPr>
          <p:cNvSpPr txBox="1"/>
          <p:nvPr>
            <p:custDataLst>
              <p:tags r:id="rId102"/>
            </p:custDataLst>
          </p:nvPr>
        </p:nvSpPr>
        <p:spPr>
          <a:xfrm>
            <a:off x="10374885" y="257872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72</a:t>
            </a:r>
          </a:p>
        </p:txBody>
      </p:sp>
      <p:sp>
        <p:nvSpPr>
          <p:cNvPr id="4049" name="TextBox 4048">
            <a:hlinkClick r:id="rId143" action="ppaction://hlinksldjump"/>
            <a:extLst>
              <a:ext uri="{FF2B5EF4-FFF2-40B4-BE49-F238E27FC236}">
                <a16:creationId xmlns:a16="http://schemas.microsoft.com/office/drawing/2014/main" id="{BE7516D9-8D52-9EE6-2D33-4225A0D40F91}"/>
              </a:ext>
            </a:extLst>
          </p:cNvPr>
          <p:cNvSpPr txBox="1"/>
          <p:nvPr>
            <p:custDataLst>
              <p:tags r:id="rId103"/>
            </p:custDataLst>
          </p:nvPr>
        </p:nvSpPr>
        <p:spPr>
          <a:xfrm>
            <a:off x="10374885" y="271742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73</a:t>
            </a:r>
          </a:p>
        </p:txBody>
      </p:sp>
      <p:sp>
        <p:nvSpPr>
          <p:cNvPr id="4050" name="TextBox 4049">
            <a:hlinkClick r:id="rId144" action="ppaction://hlinksldjump"/>
            <a:extLst>
              <a:ext uri="{FF2B5EF4-FFF2-40B4-BE49-F238E27FC236}">
                <a16:creationId xmlns:a16="http://schemas.microsoft.com/office/drawing/2014/main" id="{ED3D2456-1832-EA65-C133-822B92197E82}"/>
              </a:ext>
            </a:extLst>
          </p:cNvPr>
          <p:cNvSpPr txBox="1"/>
          <p:nvPr>
            <p:custDataLst>
              <p:tags r:id="rId104"/>
            </p:custDataLst>
          </p:nvPr>
        </p:nvSpPr>
        <p:spPr>
          <a:xfrm>
            <a:off x="10374885" y="285612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74</a:t>
            </a:r>
          </a:p>
        </p:txBody>
      </p:sp>
      <p:sp>
        <p:nvSpPr>
          <p:cNvPr id="4051" name="TextBox 4050">
            <a:hlinkClick r:id="rId145" action="ppaction://hlinksldjump"/>
            <a:extLst>
              <a:ext uri="{FF2B5EF4-FFF2-40B4-BE49-F238E27FC236}">
                <a16:creationId xmlns:a16="http://schemas.microsoft.com/office/drawing/2014/main" id="{7D44F9EF-2786-6E33-F714-718E9E969459}"/>
              </a:ext>
            </a:extLst>
          </p:cNvPr>
          <p:cNvSpPr txBox="1"/>
          <p:nvPr>
            <p:custDataLst>
              <p:tags r:id="rId105"/>
            </p:custDataLst>
          </p:nvPr>
        </p:nvSpPr>
        <p:spPr>
          <a:xfrm>
            <a:off x="10374885" y="299482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75</a:t>
            </a:r>
          </a:p>
        </p:txBody>
      </p:sp>
      <p:sp>
        <p:nvSpPr>
          <p:cNvPr id="4052" name="TextBox 4051">
            <a:hlinkClick r:id="rId108" action="ppaction://hlinksldjump"/>
            <a:extLst>
              <a:ext uri="{FF2B5EF4-FFF2-40B4-BE49-F238E27FC236}">
                <a16:creationId xmlns:a16="http://schemas.microsoft.com/office/drawing/2014/main" id="{871CF74E-1C1E-21EB-3E3F-C06C067F35FF}"/>
              </a:ext>
            </a:extLst>
          </p:cNvPr>
          <p:cNvSpPr txBox="1"/>
          <p:nvPr>
            <p:custDataLst>
              <p:tags r:id="rId106"/>
            </p:custDataLst>
          </p:nvPr>
        </p:nvSpPr>
        <p:spPr>
          <a:xfrm>
            <a:off x="10374885" y="3133521"/>
            <a:ext cx="54000" cy="126000"/>
          </a:xfrm>
          <a:prstGeom prst="rect">
            <a:avLst/>
          </a:prstGeom>
          <a:noFill/>
        </p:spPr>
        <p:txBody>
          <a:bodyPr vert="horz" wrap="none" lIns="0" tIns="0" rIns="0" bIns="18000" rtlCol="0" anchor="b" anchorCtr="0">
            <a:noAutofit/>
          </a:bodyPr>
          <a:lstStyle/>
          <a:p>
            <a:pPr algn="r"/>
            <a:r>
              <a:rPr lang="en-US" sz="900" b="0">
                <a:solidFill>
                  <a:schemeClr val="tx2"/>
                </a:solidFill>
                <a:latin typeface="+mn-lt"/>
                <a:cs typeface="Arial" panose="020B0604020202020204" pitchFamily="34" charset="0"/>
              </a:rPr>
              <a:t>78</a:t>
            </a:r>
          </a:p>
        </p:txBody>
      </p:sp>
    </p:spTree>
    <p:custDataLst>
      <p:tags r:id="rId1"/>
    </p:custDataLst>
    <p:extLst>
      <p:ext uri="{BB962C8B-B14F-4D97-AF65-F5344CB8AC3E}">
        <p14:creationId xmlns:p14="http://schemas.microsoft.com/office/powerpoint/2010/main" val="2664181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hlinkClick r:id="rId15" action="ppaction://hlinksldjump"/>
            <a:extLst>
              <a:ext uri="{FF2B5EF4-FFF2-40B4-BE49-F238E27FC236}">
                <a16:creationId xmlns:a16="http://schemas.microsoft.com/office/drawing/2014/main" id="{F7AE40EC-6DAE-091B-2862-E9492A267385}"/>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Executive summary</a:t>
            </a:r>
          </a:p>
        </p:txBody>
      </p:sp>
      <p:sp>
        <p:nvSpPr>
          <p:cNvPr id="14" name="TextBox 13">
            <a:hlinkClick r:id="rId16" action="ppaction://hlinksldjump"/>
            <a:extLst>
              <a:ext uri="{FF2B5EF4-FFF2-40B4-BE49-F238E27FC236}">
                <a16:creationId xmlns:a16="http://schemas.microsoft.com/office/drawing/2014/main" id="{03D10B75-423C-2521-F46E-A12F646999CA}"/>
              </a:ext>
            </a:extLst>
          </p:cNvPr>
          <p:cNvSpPr txBox="1"/>
          <p:nvPr>
            <p:custDataLst>
              <p:tags r:id="rId3"/>
            </p:custDataLst>
          </p:nvPr>
        </p:nvSpPr>
        <p:spPr>
          <a:xfrm>
            <a:off x="1806250" y="3831782"/>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Business overview</a:t>
            </a:r>
          </a:p>
        </p:txBody>
      </p:sp>
      <p:sp>
        <p:nvSpPr>
          <p:cNvPr id="15" name="TextBox 14">
            <a:hlinkClick r:id="rId17" action="ppaction://hlinksldjump"/>
            <a:extLst>
              <a:ext uri="{FF2B5EF4-FFF2-40B4-BE49-F238E27FC236}">
                <a16:creationId xmlns:a16="http://schemas.microsoft.com/office/drawing/2014/main" id="{993DA646-2CB5-A924-707D-962C0C8CE6D8}"/>
              </a:ext>
            </a:extLst>
          </p:cNvPr>
          <p:cNvSpPr txBox="1"/>
          <p:nvPr>
            <p:custDataLst>
              <p:tags r:id="rId4"/>
            </p:custDataLst>
          </p:nvPr>
        </p:nvSpPr>
        <p:spPr>
          <a:xfrm>
            <a:off x="1806250" y="4188398"/>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Summary financials</a:t>
            </a:r>
          </a:p>
        </p:txBody>
      </p:sp>
      <p:sp>
        <p:nvSpPr>
          <p:cNvPr id="16" name="TextBox 15">
            <a:hlinkClick r:id="rId18" action="ppaction://hlinksldjump"/>
            <a:extLst>
              <a:ext uri="{FF2B5EF4-FFF2-40B4-BE49-F238E27FC236}">
                <a16:creationId xmlns:a16="http://schemas.microsoft.com/office/drawing/2014/main" id="{42A6D59D-E261-C7CA-9005-AF535007F2BD}"/>
              </a:ext>
            </a:extLst>
          </p:cNvPr>
          <p:cNvSpPr txBox="1"/>
          <p:nvPr>
            <p:custDataLst>
              <p:tags r:id="rId5"/>
            </p:custDataLst>
          </p:nvPr>
        </p:nvSpPr>
        <p:spPr>
          <a:xfrm>
            <a:off x="1806250" y="4545014"/>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Key findings</a:t>
            </a:r>
          </a:p>
        </p:txBody>
      </p:sp>
      <p:sp>
        <p:nvSpPr>
          <p:cNvPr id="17" name="TextBox 16">
            <a:hlinkClick r:id="rId15" action="ppaction://hlinksldjump"/>
            <a:extLst>
              <a:ext uri="{FF2B5EF4-FFF2-40B4-BE49-F238E27FC236}">
                <a16:creationId xmlns:a16="http://schemas.microsoft.com/office/drawing/2014/main" id="{F9A588B5-2B43-976F-F77F-0757105E9B7A}"/>
              </a:ext>
            </a:extLst>
          </p:cNvPr>
          <p:cNvSpPr txBox="1"/>
          <p:nvPr>
            <p:custDataLst>
              <p:tags r:id="rId6"/>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01</a:t>
            </a:r>
          </a:p>
        </p:txBody>
      </p:sp>
      <p:sp>
        <p:nvSpPr>
          <p:cNvPr id="18" name="TextBox 17">
            <a:hlinkClick r:id="rId15" action="ppaction://hlinksldjump"/>
            <a:extLst>
              <a:ext uri="{FF2B5EF4-FFF2-40B4-BE49-F238E27FC236}">
                <a16:creationId xmlns:a16="http://schemas.microsoft.com/office/drawing/2014/main" id="{4215FA59-EB09-DB34-009F-6FF42A13E6B3}"/>
              </a:ext>
            </a:extLst>
          </p:cNvPr>
          <p:cNvSpPr txBox="1"/>
          <p:nvPr>
            <p:custDataLst>
              <p:tags r:id="rId7"/>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4</a:t>
            </a:r>
          </a:p>
        </p:txBody>
      </p:sp>
      <p:sp>
        <p:nvSpPr>
          <p:cNvPr id="19" name="TextBox 18">
            <a:hlinkClick r:id="rId16" action="ppaction://hlinksldjump"/>
            <a:extLst>
              <a:ext uri="{FF2B5EF4-FFF2-40B4-BE49-F238E27FC236}">
                <a16:creationId xmlns:a16="http://schemas.microsoft.com/office/drawing/2014/main" id="{13858F3A-E183-8315-0B48-4AF63726EF77}"/>
              </a:ext>
            </a:extLst>
          </p:cNvPr>
          <p:cNvSpPr txBox="1"/>
          <p:nvPr>
            <p:custDataLst>
              <p:tags r:id="rId8"/>
            </p:custDataLst>
          </p:nvPr>
        </p:nvSpPr>
        <p:spPr bwMode="auto">
          <a:xfrm>
            <a:off x="1332373" y="383178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1.1</a:t>
            </a:r>
          </a:p>
        </p:txBody>
      </p:sp>
      <p:sp>
        <p:nvSpPr>
          <p:cNvPr id="20" name="TextBox 19">
            <a:hlinkClick r:id="rId17" action="ppaction://hlinksldjump"/>
            <a:extLst>
              <a:ext uri="{FF2B5EF4-FFF2-40B4-BE49-F238E27FC236}">
                <a16:creationId xmlns:a16="http://schemas.microsoft.com/office/drawing/2014/main" id="{AEE1377B-47EC-4E71-7CB3-44A850060EE1}"/>
              </a:ext>
            </a:extLst>
          </p:cNvPr>
          <p:cNvSpPr txBox="1"/>
          <p:nvPr>
            <p:custDataLst>
              <p:tags r:id="rId9"/>
            </p:custDataLst>
          </p:nvPr>
        </p:nvSpPr>
        <p:spPr bwMode="auto">
          <a:xfrm>
            <a:off x="1332373" y="418839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1.2</a:t>
            </a:r>
          </a:p>
        </p:txBody>
      </p:sp>
      <p:sp>
        <p:nvSpPr>
          <p:cNvPr id="21" name="TextBox 20">
            <a:hlinkClick r:id="rId18" action="ppaction://hlinksldjump"/>
            <a:extLst>
              <a:ext uri="{FF2B5EF4-FFF2-40B4-BE49-F238E27FC236}">
                <a16:creationId xmlns:a16="http://schemas.microsoft.com/office/drawing/2014/main" id="{3D3E9E1A-2EAA-CF34-C3C1-56E541D7644C}"/>
              </a:ext>
            </a:extLst>
          </p:cNvPr>
          <p:cNvSpPr txBox="1"/>
          <p:nvPr>
            <p:custDataLst>
              <p:tags r:id="rId10"/>
            </p:custDataLst>
          </p:nvPr>
        </p:nvSpPr>
        <p:spPr bwMode="auto">
          <a:xfrm>
            <a:off x="1332373" y="4545014"/>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1.3</a:t>
            </a:r>
          </a:p>
        </p:txBody>
      </p:sp>
      <p:sp>
        <p:nvSpPr>
          <p:cNvPr id="22" name="TextBox 21">
            <a:hlinkClick r:id="rId16" action="ppaction://hlinksldjump"/>
            <a:extLst>
              <a:ext uri="{FF2B5EF4-FFF2-40B4-BE49-F238E27FC236}">
                <a16:creationId xmlns:a16="http://schemas.microsoft.com/office/drawing/2014/main" id="{A1DD570B-2B6A-88B5-47A8-47828DFE97EC}"/>
              </a:ext>
            </a:extLst>
          </p:cNvPr>
          <p:cNvSpPr txBox="1"/>
          <p:nvPr>
            <p:custDataLst>
              <p:tags r:id="rId11"/>
            </p:custDataLst>
          </p:nvPr>
        </p:nvSpPr>
        <p:spPr>
          <a:xfrm>
            <a:off x="6163612" y="383178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a:t>
            </a:r>
          </a:p>
        </p:txBody>
      </p:sp>
      <p:sp>
        <p:nvSpPr>
          <p:cNvPr id="23" name="TextBox 22">
            <a:hlinkClick r:id="rId17" action="ppaction://hlinksldjump"/>
            <a:extLst>
              <a:ext uri="{FF2B5EF4-FFF2-40B4-BE49-F238E27FC236}">
                <a16:creationId xmlns:a16="http://schemas.microsoft.com/office/drawing/2014/main" id="{BEA60DAC-0941-5263-B470-D8D28CF614EA}"/>
              </a:ext>
            </a:extLst>
          </p:cNvPr>
          <p:cNvSpPr txBox="1"/>
          <p:nvPr>
            <p:custDataLst>
              <p:tags r:id="rId12"/>
            </p:custDataLst>
          </p:nvPr>
        </p:nvSpPr>
        <p:spPr>
          <a:xfrm>
            <a:off x="6163612" y="4188398"/>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6</a:t>
            </a:r>
          </a:p>
        </p:txBody>
      </p:sp>
      <p:sp>
        <p:nvSpPr>
          <p:cNvPr id="24" name="TextBox 23">
            <a:hlinkClick r:id="rId18" action="ppaction://hlinksldjump"/>
            <a:extLst>
              <a:ext uri="{FF2B5EF4-FFF2-40B4-BE49-F238E27FC236}">
                <a16:creationId xmlns:a16="http://schemas.microsoft.com/office/drawing/2014/main" id="{6830538E-E945-42B6-8063-26F4C743A2CA}"/>
              </a:ext>
            </a:extLst>
          </p:cNvPr>
          <p:cNvSpPr txBox="1"/>
          <p:nvPr>
            <p:custDataLst>
              <p:tags r:id="rId13"/>
            </p:custDataLst>
          </p:nvPr>
        </p:nvSpPr>
        <p:spPr>
          <a:xfrm>
            <a:off x="6163612" y="4545014"/>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7</a:t>
            </a:r>
          </a:p>
        </p:txBody>
      </p:sp>
    </p:spTree>
    <p:custDataLst>
      <p:tags r:id="rId1"/>
    </p:custDataLst>
    <p:extLst>
      <p:ext uri="{BB962C8B-B14F-4D97-AF65-F5344CB8AC3E}">
        <p14:creationId xmlns:p14="http://schemas.microsoft.com/office/powerpoint/2010/main" val="1269048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7BDC983-3651-4649-8E2C-9EADB38B53F8}"/>
              </a:ext>
            </a:extLst>
          </p:cNvPr>
          <p:cNvGraphicFramePr>
            <a:graphicFrameLocks noChangeAspect="1"/>
          </p:cNvGraphicFramePr>
          <p:nvPr>
            <p:custDataLst>
              <p:tags r:id="rId1"/>
            </p:custDataLst>
            <p:extLst>
              <p:ext uri="{D42A27DB-BD31-4B8C-83A1-F6EECF244321}">
                <p14:modId xmlns:p14="http://schemas.microsoft.com/office/powerpoint/2010/main" val="809032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7" name="Object 6" hidden="1">
                        <a:extLst>
                          <a:ext uri="{FF2B5EF4-FFF2-40B4-BE49-F238E27FC236}">
                            <a16:creationId xmlns:a16="http://schemas.microsoft.com/office/drawing/2014/main" id="{17BDC983-3651-4649-8E2C-9EADB38B53F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7" name="Title 26">
            <a:extLst>
              <a:ext uri="{FF2B5EF4-FFF2-40B4-BE49-F238E27FC236}">
                <a16:creationId xmlns:a16="http://schemas.microsoft.com/office/drawing/2014/main" id="{061C000C-7977-4446-9E6E-613EE37E9228}"/>
              </a:ext>
            </a:extLst>
          </p:cNvPr>
          <p:cNvSpPr>
            <a:spLocks noGrp="1"/>
          </p:cNvSpPr>
          <p:nvPr>
            <p:ph type="title"/>
          </p:nvPr>
        </p:nvSpPr>
        <p:spPr>
          <a:xfrm>
            <a:off x="995362" y="431800"/>
            <a:ext cx="10204452" cy="539750"/>
          </a:xfrm>
        </p:spPr>
        <p:txBody>
          <a:bodyPr vert="horz"/>
          <a:lstStyle/>
          <a:p>
            <a:pPr>
              <a:buClr>
                <a:schemeClr val="dk1">
                  <a:lumMod val="100000"/>
                </a:schemeClr>
              </a:buClr>
            </a:pPr>
            <a:r>
              <a:rPr lang="en-US"/>
              <a:t>Business overview</a:t>
            </a:r>
          </a:p>
        </p:txBody>
      </p:sp>
      <p:sp>
        <p:nvSpPr>
          <p:cNvPr id="143" name="Rectangle 142">
            <a:hlinkClick r:id="" action="ppaction://noaction"/>
            <a:extLst>
              <a:ext uri="{FF2B5EF4-FFF2-40B4-BE49-F238E27FC236}">
                <a16:creationId xmlns:a16="http://schemas.microsoft.com/office/drawing/2014/main" id="{15ADAD06-F8A1-4771-98D8-4A9C7B4A85D5}"/>
              </a:ext>
            </a:extLst>
          </p:cNvPr>
          <p:cNvSpPr/>
          <p:nvPr/>
        </p:nvSpPr>
        <p:spPr>
          <a:xfrm>
            <a:off x="6293680" y="-500622"/>
            <a:ext cx="1386000" cy="1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fi-FI" sz="1500" err="1">
              <a:solidFill>
                <a:schemeClr val="bg1"/>
              </a:solidFill>
            </a:endParaRPr>
          </a:p>
        </p:txBody>
      </p:sp>
      <p:sp>
        <p:nvSpPr>
          <p:cNvPr id="3" name="UpSlide SubSection Marker" hidden="1">
            <a:extLst>
              <a:ext uri="{FF2B5EF4-FFF2-40B4-BE49-F238E27FC236}">
                <a16:creationId xmlns:a16="http://schemas.microsoft.com/office/drawing/2014/main" id="{D5C356DB-6399-8A4D-BDCD-312E478D87CD}"/>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Business overview</a:t>
            </a:r>
          </a:p>
        </p:txBody>
      </p:sp>
      <p:sp>
        <p:nvSpPr>
          <p:cNvPr id="15" name="TextBox 14">
            <a:extLst>
              <a:ext uri="{FF2B5EF4-FFF2-40B4-BE49-F238E27FC236}">
                <a16:creationId xmlns:a16="http://schemas.microsoft.com/office/drawing/2014/main" id="{A6CD8178-5D45-A60E-7015-84F6A30CD54E}"/>
              </a:ext>
            </a:extLst>
          </p:cNvPr>
          <p:cNvSpPr txBox="1">
            <a:spLocks/>
          </p:cNvSpPr>
          <p:nvPr/>
        </p:nvSpPr>
        <p:spPr>
          <a:xfrm>
            <a:off x="6108505" y="961866"/>
            <a:ext cx="4358059" cy="369332"/>
          </a:xfrm>
          <a:prstGeom prst="rect">
            <a:avLst/>
          </a:prstGeom>
          <a:noFill/>
        </p:spPr>
        <p:txBody>
          <a:bodyPr wrap="square" lIns="0" tIns="0" rIns="0" bIns="0">
            <a:spAutoFit/>
          </a:bodyPr>
          <a:lstStyle/>
          <a:p>
            <a:r>
              <a:rPr lang="en-US" sz="2400" b="1">
                <a:solidFill>
                  <a:schemeClr val="accent1"/>
                </a:solidFill>
                <a:latin typeface="+mj-lt"/>
              </a:rPr>
              <a:t>Company overview</a:t>
            </a:r>
          </a:p>
        </p:txBody>
      </p:sp>
      <p:sp>
        <p:nvSpPr>
          <p:cNvPr id="16" name="TextBox 15">
            <a:extLst>
              <a:ext uri="{FF2B5EF4-FFF2-40B4-BE49-F238E27FC236}">
                <a16:creationId xmlns:a16="http://schemas.microsoft.com/office/drawing/2014/main" id="{98EE6537-8C20-A87B-3CC8-FD592EA19D01}"/>
              </a:ext>
            </a:extLst>
          </p:cNvPr>
          <p:cNvSpPr txBox="1">
            <a:spLocks/>
          </p:cNvSpPr>
          <p:nvPr/>
        </p:nvSpPr>
        <p:spPr>
          <a:xfrm>
            <a:off x="6108505" y="1364829"/>
            <a:ext cx="5076821" cy="3296352"/>
          </a:xfrm>
          <a:prstGeom prst="rect">
            <a:avLst/>
          </a:prstGeom>
          <a:noFill/>
        </p:spPr>
        <p:txBody>
          <a:bodyPr wrap="square" lIns="0" tIns="0" rIns="0" bIns="0">
            <a:spAutoFit/>
          </a:bodyPr>
          <a:lstStyle/>
          <a:p>
            <a:pPr defTabSz="914377">
              <a:lnSpc>
                <a:spcPts val="1200"/>
              </a:lnSpc>
              <a:spcAft>
                <a:spcPts val="600"/>
              </a:spcAft>
              <a:defRPr/>
            </a:pPr>
            <a:r>
              <a:rPr lang="en-US" sz="900" dirty="0" err="1"/>
              <a:t>Everlink</a:t>
            </a:r>
            <a:r>
              <a:rPr lang="en-US" sz="900" dirty="0"/>
              <a:t> Payment Services Inc. (“</a:t>
            </a:r>
            <a:r>
              <a:rPr lang="en-US" sz="900" dirty="0" err="1"/>
              <a:t>Everlink</a:t>
            </a:r>
            <a:r>
              <a:rPr lang="en-US" sz="900" dirty="0"/>
              <a:t>” or “the Company”) provides payment solutions and services to credit unions, banks, merchant acquirers and other financial institutions in Canada. The Company’s service offerings include the following: </a:t>
            </a:r>
          </a:p>
          <a:p>
            <a:pPr marL="225425" indent="-225425" defTabSz="914377">
              <a:lnSpc>
                <a:spcPts val="1200"/>
              </a:lnSpc>
              <a:spcAft>
                <a:spcPts val="300"/>
              </a:spcAft>
              <a:buClr>
                <a:schemeClr val="bg1">
                  <a:lumMod val="50000"/>
                </a:schemeClr>
              </a:buClr>
              <a:buFont typeface="Arial" panose="020B0604020202020204" pitchFamily="34" charset="0"/>
              <a:buChar char="•"/>
              <a:defRPr/>
            </a:pPr>
            <a:r>
              <a:rPr lang="en-US" sz="900" b="1" dirty="0"/>
              <a:t>Mobile payments: </a:t>
            </a:r>
            <a:r>
              <a:rPr lang="en-US" sz="900" dirty="0"/>
              <a:t>Provides management and infrastructure to support mobile wallet and transaction flow.</a:t>
            </a:r>
          </a:p>
          <a:p>
            <a:pPr marL="225425" indent="-225425" defTabSz="914377">
              <a:lnSpc>
                <a:spcPts val="1200"/>
              </a:lnSpc>
              <a:spcAft>
                <a:spcPts val="300"/>
              </a:spcAft>
              <a:buClr>
                <a:schemeClr val="bg1">
                  <a:lumMod val="50000"/>
                </a:schemeClr>
              </a:buClr>
              <a:buFont typeface="Arial" panose="020B0604020202020204" pitchFamily="34" charset="0"/>
              <a:buChar char="•"/>
              <a:defRPr/>
            </a:pPr>
            <a:r>
              <a:rPr lang="en-US" sz="900" b="1" dirty="0"/>
              <a:t>Payment network gateway: </a:t>
            </a:r>
            <a:r>
              <a:rPr lang="en-US" sz="900" dirty="0"/>
              <a:t>Provider of technology infrastructure and payment network connectivity, transaction processing, settlement, reporting and compliance services.</a:t>
            </a:r>
            <a:endParaRPr lang="en-US" sz="900" b="1" dirty="0"/>
          </a:p>
          <a:p>
            <a:pPr marL="225425" indent="-225425" defTabSz="914377">
              <a:lnSpc>
                <a:spcPts val="1200"/>
              </a:lnSpc>
              <a:spcAft>
                <a:spcPts val="300"/>
              </a:spcAft>
              <a:buClr>
                <a:schemeClr val="bg1">
                  <a:lumMod val="50000"/>
                </a:schemeClr>
              </a:buClr>
              <a:buFont typeface="Arial" panose="020B0604020202020204" pitchFamily="34" charset="0"/>
              <a:buChar char="•"/>
              <a:defRPr/>
            </a:pPr>
            <a:r>
              <a:rPr lang="en-US" sz="900" b="1" dirty="0"/>
              <a:t>Card issuance and management:</a:t>
            </a:r>
            <a:r>
              <a:rPr lang="en-US" sz="900" dirty="0"/>
              <a:t> Offers end-to-end solutions with personalization and manufacturing technology for Europay, Mastercard and Visa (EMV) chip debit card distribution.</a:t>
            </a:r>
            <a:endParaRPr lang="en-US" sz="900" b="1" dirty="0"/>
          </a:p>
          <a:p>
            <a:pPr marL="225425" indent="-225425" defTabSz="914377">
              <a:lnSpc>
                <a:spcPts val="1200"/>
              </a:lnSpc>
              <a:spcAft>
                <a:spcPts val="300"/>
              </a:spcAft>
              <a:buClr>
                <a:schemeClr val="bg1">
                  <a:lumMod val="50000"/>
                </a:schemeClr>
              </a:buClr>
              <a:buFont typeface="Arial" panose="020B0604020202020204" pitchFamily="34" charset="0"/>
              <a:buChar char="•"/>
              <a:defRPr/>
            </a:pPr>
            <a:r>
              <a:rPr lang="en-US" sz="900" b="1" dirty="0"/>
              <a:t>ATM managed services:</a:t>
            </a:r>
            <a:r>
              <a:rPr lang="en-US" sz="900" dirty="0"/>
              <a:t> Offers traditional Automated teller machine (ATM), Driving &amp; Monitoring Services plus enhanced features, functions, white label ATM and turnkey managed services.</a:t>
            </a:r>
            <a:endParaRPr lang="en-US" sz="900" b="1" dirty="0"/>
          </a:p>
          <a:p>
            <a:pPr marL="225425" indent="-225425" defTabSz="914377">
              <a:lnSpc>
                <a:spcPts val="1200"/>
              </a:lnSpc>
              <a:spcAft>
                <a:spcPts val="300"/>
              </a:spcAft>
              <a:buClr>
                <a:schemeClr val="bg1">
                  <a:lumMod val="50000"/>
                </a:schemeClr>
              </a:buClr>
              <a:buFont typeface="Arial" panose="020B0604020202020204" pitchFamily="34" charset="0"/>
              <a:buChar char="•"/>
              <a:defRPr/>
            </a:pPr>
            <a:r>
              <a:rPr lang="en-US" sz="900" b="1" dirty="0"/>
              <a:t>Fraud management: </a:t>
            </a:r>
            <a:r>
              <a:rPr lang="en-US" sz="900" dirty="0"/>
              <a:t>Offers real-time fraud detecting, preventing, and resolution solutions.</a:t>
            </a:r>
          </a:p>
          <a:p>
            <a:pPr marL="225425" indent="-225425" defTabSz="914377">
              <a:lnSpc>
                <a:spcPts val="1200"/>
              </a:lnSpc>
              <a:spcAft>
                <a:spcPts val="300"/>
              </a:spcAft>
              <a:buClr>
                <a:schemeClr val="bg1">
                  <a:lumMod val="50000"/>
                </a:schemeClr>
              </a:buClr>
              <a:buFont typeface="Arial" panose="020B0604020202020204" pitchFamily="34" charset="0"/>
              <a:buChar char="•"/>
              <a:defRPr/>
            </a:pPr>
            <a:r>
              <a:rPr lang="en-US" sz="900" b="1" dirty="0"/>
              <a:t>Retail solutions: </a:t>
            </a:r>
            <a:r>
              <a:rPr lang="en-US" sz="900" dirty="0"/>
              <a:t>Facilitates point-of-sale (POS) transactions, including </a:t>
            </a:r>
            <a:r>
              <a:rPr lang="en-US" sz="900" dirty="0" err="1"/>
              <a:t>Interac</a:t>
            </a:r>
            <a:r>
              <a:rPr lang="en-US" sz="900" dirty="0"/>
              <a:t> eCommerce, through dedicated Host-to-Host payment gateways.</a:t>
            </a:r>
          </a:p>
          <a:p>
            <a:pPr marL="225425" indent="-225425" defTabSz="914377">
              <a:lnSpc>
                <a:spcPts val="1200"/>
              </a:lnSpc>
              <a:spcAft>
                <a:spcPts val="300"/>
              </a:spcAft>
              <a:buClr>
                <a:schemeClr val="bg1">
                  <a:lumMod val="50000"/>
                </a:schemeClr>
              </a:buClr>
              <a:buFont typeface="Arial" panose="020B0604020202020204" pitchFamily="34" charset="0"/>
              <a:buChar char="•"/>
              <a:defRPr/>
            </a:pPr>
            <a:r>
              <a:rPr lang="en-US" sz="900" b="1" dirty="0"/>
              <a:t>Digital solutions: </a:t>
            </a:r>
            <a:r>
              <a:rPr lang="en-US" sz="900" dirty="0"/>
              <a:t>Enables real-time payments for retail Peer-to-Peer (P2P), Business-to-Business (B2B), Business-to-People (B2P), ISO 20022 payment gateways, and Application Programming Interface (API) integrations, as an exclusive provider of the full suite of </a:t>
            </a:r>
            <a:r>
              <a:rPr lang="en-US" sz="900" dirty="0" err="1"/>
              <a:t>Interac</a:t>
            </a:r>
            <a:r>
              <a:rPr lang="en-US" sz="900" dirty="0"/>
              <a:t> e-Transfer products.</a:t>
            </a:r>
          </a:p>
        </p:txBody>
      </p:sp>
      <p:sp>
        <p:nvSpPr>
          <p:cNvPr id="102" name="TextBox 101">
            <a:extLst>
              <a:ext uri="{FF2B5EF4-FFF2-40B4-BE49-F238E27FC236}">
                <a16:creationId xmlns:a16="http://schemas.microsoft.com/office/drawing/2014/main" id="{8EBDACA5-D695-5AB5-865E-B96C52D2813A}"/>
              </a:ext>
            </a:extLst>
          </p:cNvPr>
          <p:cNvSpPr txBox="1">
            <a:spLocks/>
          </p:cNvSpPr>
          <p:nvPr/>
        </p:nvSpPr>
        <p:spPr>
          <a:xfrm>
            <a:off x="1006674" y="1037305"/>
            <a:ext cx="4219935" cy="295466"/>
          </a:xfrm>
          <a:prstGeom prst="rect">
            <a:avLst/>
          </a:prstGeom>
          <a:noFill/>
        </p:spPr>
        <p:txBody>
          <a:bodyPr wrap="square" lIns="0" tIns="0" rIns="0" bIns="0" anchor="t">
            <a:spAutoFit/>
          </a:bodyPr>
          <a:lstStyle/>
          <a:p>
            <a:pPr>
              <a:lnSpc>
                <a:spcPct val="80000"/>
              </a:lnSpc>
            </a:pPr>
            <a:r>
              <a:rPr lang="en-US" sz="2400">
                <a:solidFill>
                  <a:schemeClr val="accent1"/>
                </a:solidFill>
                <a:latin typeface="+mj-lt"/>
              </a:rPr>
              <a:t>Legal chart</a:t>
            </a:r>
          </a:p>
        </p:txBody>
      </p:sp>
      <p:grpSp>
        <p:nvGrpSpPr>
          <p:cNvPr id="96" name="Group 95">
            <a:extLst>
              <a:ext uri="{FF2B5EF4-FFF2-40B4-BE49-F238E27FC236}">
                <a16:creationId xmlns:a16="http://schemas.microsoft.com/office/drawing/2014/main" id="{F45C4C80-8FE0-97DC-6519-38471102124B}"/>
              </a:ext>
            </a:extLst>
          </p:cNvPr>
          <p:cNvGrpSpPr/>
          <p:nvPr/>
        </p:nvGrpSpPr>
        <p:grpSpPr>
          <a:xfrm>
            <a:off x="1006674" y="1741972"/>
            <a:ext cx="4768012" cy="2492386"/>
            <a:chOff x="415237" y="1724192"/>
            <a:chExt cx="4768012" cy="2492386"/>
          </a:xfrm>
        </p:grpSpPr>
        <p:sp>
          <p:nvSpPr>
            <p:cNvPr id="5" name="TextBox 4">
              <a:extLst>
                <a:ext uri="{FF2B5EF4-FFF2-40B4-BE49-F238E27FC236}">
                  <a16:creationId xmlns:a16="http://schemas.microsoft.com/office/drawing/2014/main" id="{25E5911D-B8D7-7F13-1C23-FB254A30F34D}"/>
                </a:ext>
              </a:extLst>
            </p:cNvPr>
            <p:cNvSpPr txBox="1">
              <a:spLocks/>
            </p:cNvSpPr>
            <p:nvPr/>
          </p:nvSpPr>
          <p:spPr>
            <a:xfrm>
              <a:off x="1963491" y="3549235"/>
              <a:ext cx="1481328" cy="502920"/>
            </a:xfrm>
            <a:prstGeom prst="rect">
              <a:avLst/>
            </a:prstGeom>
            <a:solidFill>
              <a:srgbClr val="00B8F5"/>
            </a:solidFill>
          </p:spPr>
          <p:txBody>
            <a:bodyPr wrap="square" lIns="90000" tIns="90000" rIns="90000" bIns="90000" rtlCol="0" anchor="ctr" anchorCtr="0">
              <a:noAutofit/>
            </a:bodyPr>
            <a:lstStyle/>
            <a:p>
              <a:pPr algn="ctr"/>
              <a:r>
                <a:rPr lang="en-US" sz="1000" b="1">
                  <a:solidFill>
                    <a:schemeClr val="bg1"/>
                  </a:solidFill>
                </a:rPr>
                <a:t>Everlink Payment Services Inc.</a:t>
              </a:r>
              <a:r>
                <a:rPr lang="en-US" sz="1000" b="1" baseline="30000">
                  <a:solidFill>
                    <a:schemeClr val="bg1"/>
                  </a:solidFill>
                </a:rPr>
                <a:t>2</a:t>
              </a:r>
              <a:endParaRPr lang="en-US" sz="1000" baseline="30000">
                <a:solidFill>
                  <a:schemeClr val="bg1"/>
                </a:solidFill>
              </a:endParaRPr>
            </a:p>
          </p:txBody>
        </p:sp>
        <p:sp>
          <p:nvSpPr>
            <p:cNvPr id="13" name="TextBox 12">
              <a:extLst>
                <a:ext uri="{FF2B5EF4-FFF2-40B4-BE49-F238E27FC236}">
                  <a16:creationId xmlns:a16="http://schemas.microsoft.com/office/drawing/2014/main" id="{FB53D93C-1463-03E9-F625-C7DDEC9E86BD}"/>
                </a:ext>
              </a:extLst>
            </p:cNvPr>
            <p:cNvSpPr txBox="1">
              <a:spLocks/>
            </p:cNvSpPr>
            <p:nvPr/>
          </p:nvSpPr>
          <p:spPr>
            <a:xfrm>
              <a:off x="1094789" y="2641423"/>
              <a:ext cx="1481328" cy="502920"/>
            </a:xfrm>
            <a:prstGeom prst="rect">
              <a:avLst/>
            </a:prstGeom>
            <a:solidFill>
              <a:srgbClr val="1E49E2"/>
            </a:solidFill>
            <a:ln w="6350">
              <a:solidFill>
                <a:srgbClr val="1E49E2"/>
              </a:solidFill>
            </a:ln>
          </p:spPr>
          <p:txBody>
            <a:bodyPr wrap="square" lIns="90000" tIns="90000" rIns="90000" bIns="90000" rtlCol="0" anchor="ctr" anchorCtr="0">
              <a:noAutofit/>
            </a:bodyPr>
            <a:lstStyle/>
            <a:p>
              <a:pPr algn="ctr"/>
              <a:r>
                <a:rPr lang="en-US" sz="1000" b="1">
                  <a:solidFill>
                    <a:schemeClr val="bg1"/>
                  </a:solidFill>
                </a:rPr>
                <a:t>Velera</a:t>
              </a:r>
              <a:r>
                <a:rPr lang="en-US" sz="1000" b="1" baseline="30000">
                  <a:solidFill>
                    <a:schemeClr val="bg1"/>
                  </a:solidFill>
                </a:rPr>
                <a:t>1</a:t>
              </a:r>
            </a:p>
          </p:txBody>
        </p:sp>
        <p:sp>
          <p:nvSpPr>
            <p:cNvPr id="14" name="TextBox 13">
              <a:extLst>
                <a:ext uri="{FF2B5EF4-FFF2-40B4-BE49-F238E27FC236}">
                  <a16:creationId xmlns:a16="http://schemas.microsoft.com/office/drawing/2014/main" id="{9225229F-2754-0269-6C84-7AF03EF1A7D6}"/>
                </a:ext>
              </a:extLst>
            </p:cNvPr>
            <p:cNvSpPr txBox="1">
              <a:spLocks/>
            </p:cNvSpPr>
            <p:nvPr/>
          </p:nvSpPr>
          <p:spPr>
            <a:xfrm>
              <a:off x="2761471" y="2641423"/>
              <a:ext cx="1481328" cy="502920"/>
            </a:xfrm>
            <a:prstGeom prst="rect">
              <a:avLst/>
            </a:prstGeom>
            <a:solidFill>
              <a:srgbClr val="1E49E2"/>
            </a:solidFill>
            <a:ln w="6350">
              <a:solidFill>
                <a:srgbClr val="1E49E2"/>
              </a:solidFill>
            </a:ln>
          </p:spPr>
          <p:txBody>
            <a:bodyPr wrap="square" lIns="90000" tIns="90000" rIns="90000" bIns="90000" rtlCol="0" anchor="ctr" anchorCtr="0">
              <a:noAutofit/>
            </a:bodyPr>
            <a:lstStyle/>
            <a:p>
              <a:pPr algn="ctr"/>
              <a:r>
                <a:rPr lang="en-US" sz="1000" b="1">
                  <a:solidFill>
                    <a:schemeClr val="bg1"/>
                  </a:solidFill>
                </a:rPr>
                <a:t>Celero Solutions</a:t>
              </a:r>
            </a:p>
          </p:txBody>
        </p:sp>
        <p:cxnSp>
          <p:nvCxnSpPr>
            <p:cNvPr id="17" name="Connector: Elbow 16">
              <a:extLst>
                <a:ext uri="{FF2B5EF4-FFF2-40B4-BE49-F238E27FC236}">
                  <a16:creationId xmlns:a16="http://schemas.microsoft.com/office/drawing/2014/main" id="{9347C305-715B-6121-AB3F-A04E9FF7E40A}"/>
                </a:ext>
              </a:extLst>
            </p:cNvPr>
            <p:cNvCxnSpPr>
              <a:cxnSpLocks/>
              <a:stCxn id="13" idx="2"/>
              <a:endCxn id="5" idx="0"/>
            </p:cNvCxnSpPr>
            <p:nvPr/>
          </p:nvCxnSpPr>
          <p:spPr>
            <a:xfrm rot="16200000" flipH="1">
              <a:off x="2067358" y="2912438"/>
              <a:ext cx="404892" cy="868702"/>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DDD0E254-FF94-D476-A6F3-705E0EB72CBA}"/>
                </a:ext>
              </a:extLst>
            </p:cNvPr>
            <p:cNvCxnSpPr>
              <a:cxnSpLocks/>
              <a:stCxn id="14" idx="2"/>
              <a:endCxn id="5" idx="0"/>
            </p:cNvCxnSpPr>
            <p:nvPr/>
          </p:nvCxnSpPr>
          <p:spPr>
            <a:xfrm rot="5400000">
              <a:off x="2900699" y="2947799"/>
              <a:ext cx="404892" cy="797980"/>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5C95F2D-B453-2275-495C-03BE0B5D8CF8}"/>
                </a:ext>
              </a:extLst>
            </p:cNvPr>
            <p:cNvSpPr txBox="1"/>
            <p:nvPr/>
          </p:nvSpPr>
          <p:spPr>
            <a:xfrm>
              <a:off x="1957079" y="3194465"/>
              <a:ext cx="507294" cy="114300"/>
            </a:xfrm>
            <a:prstGeom prst="rect">
              <a:avLst/>
            </a:prstGeom>
            <a:ln>
              <a:noFill/>
            </a:ln>
          </p:spPr>
          <p:txBody>
            <a:bodyPr vert="horz" wrap="square" lIns="0" tIns="0" rIns="0" bIns="0" rtlCol="0" anchor="t" anchorCtr="0">
              <a:noAutofit/>
            </a:bodyPr>
            <a:lstStyle/>
            <a:p>
              <a:pPr algn="l">
                <a:spcAft>
                  <a:spcPts val="600"/>
                </a:spcAft>
              </a:pPr>
              <a:r>
                <a:rPr lang="en-US" sz="900" i="1"/>
                <a:t>51%</a:t>
              </a:r>
            </a:p>
          </p:txBody>
        </p:sp>
        <p:sp>
          <p:nvSpPr>
            <p:cNvPr id="29" name="TextBox 28">
              <a:extLst>
                <a:ext uri="{FF2B5EF4-FFF2-40B4-BE49-F238E27FC236}">
                  <a16:creationId xmlns:a16="http://schemas.microsoft.com/office/drawing/2014/main" id="{9F3B081F-81C7-F426-AD01-80C250F3FE81}"/>
                </a:ext>
              </a:extLst>
            </p:cNvPr>
            <p:cNvSpPr txBox="1"/>
            <p:nvPr/>
          </p:nvSpPr>
          <p:spPr>
            <a:xfrm>
              <a:off x="3140971" y="3194465"/>
              <a:ext cx="507294" cy="86715"/>
            </a:xfrm>
            <a:prstGeom prst="rect">
              <a:avLst/>
            </a:prstGeom>
            <a:ln>
              <a:noFill/>
            </a:ln>
          </p:spPr>
          <p:txBody>
            <a:bodyPr vert="horz" wrap="square" lIns="0" tIns="0" rIns="0" bIns="0" rtlCol="0" anchor="t" anchorCtr="0">
              <a:noAutofit/>
            </a:bodyPr>
            <a:lstStyle/>
            <a:p>
              <a:pPr algn="l">
                <a:spcAft>
                  <a:spcPts val="600"/>
                </a:spcAft>
              </a:pPr>
              <a:r>
                <a:rPr lang="en-US" sz="900" i="1"/>
                <a:t>49%</a:t>
              </a:r>
            </a:p>
          </p:txBody>
        </p:sp>
        <p:sp>
          <p:nvSpPr>
            <p:cNvPr id="49" name="TextBox 48">
              <a:extLst>
                <a:ext uri="{FF2B5EF4-FFF2-40B4-BE49-F238E27FC236}">
                  <a16:creationId xmlns:a16="http://schemas.microsoft.com/office/drawing/2014/main" id="{62E9E62F-7954-105E-D640-53659C82593D}"/>
                </a:ext>
              </a:extLst>
            </p:cNvPr>
            <p:cNvSpPr txBox="1">
              <a:spLocks/>
            </p:cNvSpPr>
            <p:nvPr/>
          </p:nvSpPr>
          <p:spPr>
            <a:xfrm>
              <a:off x="415237" y="1724192"/>
              <a:ext cx="1481328" cy="502920"/>
            </a:xfrm>
            <a:prstGeom prst="rect">
              <a:avLst/>
            </a:prstGeom>
            <a:solidFill>
              <a:srgbClr val="00338D"/>
            </a:solidFill>
            <a:ln w="6350">
              <a:solidFill>
                <a:srgbClr val="00338D"/>
              </a:solidFill>
            </a:ln>
          </p:spPr>
          <p:txBody>
            <a:bodyPr wrap="square" lIns="90000" tIns="90000" rIns="90000" bIns="90000" rtlCol="0" anchor="ctr" anchorCtr="0">
              <a:noAutofit/>
            </a:bodyPr>
            <a:lstStyle/>
            <a:p>
              <a:pPr algn="ctr"/>
              <a:r>
                <a:rPr lang="en-US" sz="1000" b="1">
                  <a:solidFill>
                    <a:schemeClr val="bg1"/>
                  </a:solidFill>
                </a:rPr>
                <a:t>Credit Union Central Alberta (CUCA)</a:t>
              </a:r>
            </a:p>
          </p:txBody>
        </p:sp>
        <p:sp>
          <p:nvSpPr>
            <p:cNvPr id="54" name="TextBox 53">
              <a:extLst>
                <a:ext uri="{FF2B5EF4-FFF2-40B4-BE49-F238E27FC236}">
                  <a16:creationId xmlns:a16="http://schemas.microsoft.com/office/drawing/2014/main" id="{92569A93-A8B7-C569-1079-89D0A5674E80}"/>
                </a:ext>
              </a:extLst>
            </p:cNvPr>
            <p:cNvSpPr txBox="1">
              <a:spLocks/>
            </p:cNvSpPr>
            <p:nvPr/>
          </p:nvSpPr>
          <p:spPr>
            <a:xfrm>
              <a:off x="2059096" y="1724192"/>
              <a:ext cx="1481328" cy="502920"/>
            </a:xfrm>
            <a:prstGeom prst="rect">
              <a:avLst/>
            </a:prstGeom>
            <a:solidFill>
              <a:srgbClr val="00338D"/>
            </a:solidFill>
            <a:ln w="6350">
              <a:solidFill>
                <a:srgbClr val="00338D"/>
              </a:solidFill>
            </a:ln>
          </p:spPr>
          <p:txBody>
            <a:bodyPr wrap="square" lIns="90000" tIns="90000" rIns="90000" bIns="90000" rtlCol="0" anchor="ctr" anchorCtr="0">
              <a:noAutofit/>
            </a:bodyPr>
            <a:lstStyle/>
            <a:p>
              <a:pPr algn="ctr"/>
              <a:r>
                <a:rPr lang="en-US" sz="1000" b="1">
                  <a:solidFill>
                    <a:schemeClr val="bg1"/>
                  </a:solidFill>
                </a:rPr>
                <a:t>Credit Union Central Manitoba (CUCM)</a:t>
              </a:r>
            </a:p>
          </p:txBody>
        </p:sp>
        <p:sp>
          <p:nvSpPr>
            <p:cNvPr id="55" name="TextBox 54">
              <a:extLst>
                <a:ext uri="{FF2B5EF4-FFF2-40B4-BE49-F238E27FC236}">
                  <a16:creationId xmlns:a16="http://schemas.microsoft.com/office/drawing/2014/main" id="{8A737944-E80B-D5AA-0CDE-B91D78E7F844}"/>
                </a:ext>
              </a:extLst>
            </p:cNvPr>
            <p:cNvSpPr txBox="1">
              <a:spLocks/>
            </p:cNvSpPr>
            <p:nvPr/>
          </p:nvSpPr>
          <p:spPr>
            <a:xfrm>
              <a:off x="3702955" y="1724192"/>
              <a:ext cx="1480294" cy="502278"/>
            </a:xfrm>
            <a:prstGeom prst="rect">
              <a:avLst/>
            </a:prstGeom>
            <a:solidFill>
              <a:srgbClr val="00338D"/>
            </a:solidFill>
            <a:ln w="6350">
              <a:solidFill>
                <a:srgbClr val="00338D"/>
              </a:solidFill>
            </a:ln>
          </p:spPr>
          <p:txBody>
            <a:bodyPr wrap="square" lIns="90000" tIns="90000" rIns="90000" bIns="90000" rtlCol="0" anchor="ctr" anchorCtr="0">
              <a:noAutofit/>
            </a:bodyPr>
            <a:lstStyle/>
            <a:p>
              <a:pPr algn="ctr"/>
              <a:r>
                <a:rPr lang="en-US" sz="1000" b="1">
                  <a:solidFill>
                    <a:schemeClr val="bg1"/>
                  </a:solidFill>
                </a:rPr>
                <a:t>Credit Union Central  Saskatchewan (CUCS)</a:t>
              </a:r>
            </a:p>
          </p:txBody>
        </p:sp>
        <p:cxnSp>
          <p:nvCxnSpPr>
            <p:cNvPr id="56" name="Connector: Elbow 55">
              <a:extLst>
                <a:ext uri="{FF2B5EF4-FFF2-40B4-BE49-F238E27FC236}">
                  <a16:creationId xmlns:a16="http://schemas.microsoft.com/office/drawing/2014/main" id="{01137C5E-4D39-BF10-A4E4-3D3C798E7EC2}"/>
                </a:ext>
              </a:extLst>
            </p:cNvPr>
            <p:cNvCxnSpPr>
              <a:cxnSpLocks/>
              <a:stCxn id="49" idx="2"/>
              <a:endCxn id="14" idx="0"/>
            </p:cNvCxnSpPr>
            <p:nvPr/>
          </p:nvCxnSpPr>
          <p:spPr>
            <a:xfrm rot="16200000" flipH="1">
              <a:off x="2121863" y="1261150"/>
              <a:ext cx="414311" cy="2346234"/>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E564F3E4-ACF5-E9E3-40CA-FFB06A23DE3A}"/>
                </a:ext>
              </a:extLst>
            </p:cNvPr>
            <p:cNvCxnSpPr>
              <a:cxnSpLocks/>
              <a:stCxn id="54" idx="2"/>
              <a:endCxn id="14" idx="0"/>
            </p:cNvCxnSpPr>
            <p:nvPr/>
          </p:nvCxnSpPr>
          <p:spPr>
            <a:xfrm rot="16200000" flipH="1">
              <a:off x="2943792" y="2083079"/>
              <a:ext cx="414311" cy="702375"/>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B90F3CA-4F9F-9FFD-4132-0A601ABFDCED}"/>
                </a:ext>
              </a:extLst>
            </p:cNvPr>
            <p:cNvCxnSpPr>
              <a:cxnSpLocks/>
              <a:stCxn id="55" idx="2"/>
              <a:endCxn id="14" idx="0"/>
            </p:cNvCxnSpPr>
            <p:nvPr/>
          </p:nvCxnSpPr>
          <p:spPr>
            <a:xfrm rot="5400000">
              <a:off x="3765143" y="1963463"/>
              <a:ext cx="414953" cy="940967"/>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58AF7954-8938-C11D-1ACD-A3BE8A74F914}"/>
                </a:ext>
              </a:extLst>
            </p:cNvPr>
            <p:cNvSpPr txBox="1"/>
            <p:nvPr/>
          </p:nvSpPr>
          <p:spPr>
            <a:xfrm>
              <a:off x="1328159" y="2275664"/>
              <a:ext cx="507294" cy="114300"/>
            </a:xfrm>
            <a:prstGeom prst="rect">
              <a:avLst/>
            </a:prstGeom>
            <a:ln>
              <a:noFill/>
            </a:ln>
          </p:spPr>
          <p:txBody>
            <a:bodyPr vert="horz" wrap="square" lIns="0" tIns="0" rIns="0" bIns="0" rtlCol="0" anchor="t" anchorCtr="0">
              <a:noAutofit/>
            </a:bodyPr>
            <a:lstStyle/>
            <a:p>
              <a:pPr algn="l">
                <a:spcAft>
                  <a:spcPts val="600"/>
                </a:spcAft>
              </a:pPr>
              <a:r>
                <a:rPr lang="en-US" sz="900" i="1"/>
                <a:t>33.33%</a:t>
              </a:r>
            </a:p>
          </p:txBody>
        </p:sp>
        <p:sp>
          <p:nvSpPr>
            <p:cNvPr id="92" name="TextBox 91">
              <a:extLst>
                <a:ext uri="{FF2B5EF4-FFF2-40B4-BE49-F238E27FC236}">
                  <a16:creationId xmlns:a16="http://schemas.microsoft.com/office/drawing/2014/main" id="{CA76C7F5-D39C-C35D-1B7A-BA4ABF72731B}"/>
                </a:ext>
              </a:extLst>
            </p:cNvPr>
            <p:cNvSpPr txBox="1"/>
            <p:nvPr/>
          </p:nvSpPr>
          <p:spPr>
            <a:xfrm>
              <a:off x="2887324" y="2275664"/>
              <a:ext cx="507294" cy="114300"/>
            </a:xfrm>
            <a:prstGeom prst="rect">
              <a:avLst/>
            </a:prstGeom>
            <a:ln>
              <a:noFill/>
            </a:ln>
          </p:spPr>
          <p:txBody>
            <a:bodyPr vert="horz" wrap="square" lIns="0" tIns="0" rIns="0" bIns="0" rtlCol="0" anchor="t" anchorCtr="0">
              <a:noAutofit/>
            </a:bodyPr>
            <a:lstStyle/>
            <a:p>
              <a:pPr algn="l">
                <a:spcAft>
                  <a:spcPts val="600"/>
                </a:spcAft>
              </a:pPr>
              <a:r>
                <a:rPr lang="en-US" sz="900" i="1"/>
                <a:t>33.33%</a:t>
              </a:r>
            </a:p>
          </p:txBody>
        </p:sp>
        <p:sp>
          <p:nvSpPr>
            <p:cNvPr id="93" name="TextBox 92">
              <a:extLst>
                <a:ext uri="{FF2B5EF4-FFF2-40B4-BE49-F238E27FC236}">
                  <a16:creationId xmlns:a16="http://schemas.microsoft.com/office/drawing/2014/main" id="{149C02AA-770A-870B-4748-F02C4C2C7DC8}"/>
                </a:ext>
              </a:extLst>
            </p:cNvPr>
            <p:cNvSpPr txBox="1"/>
            <p:nvPr/>
          </p:nvSpPr>
          <p:spPr>
            <a:xfrm>
              <a:off x="3860527" y="2275664"/>
              <a:ext cx="507294" cy="114300"/>
            </a:xfrm>
            <a:prstGeom prst="rect">
              <a:avLst/>
            </a:prstGeom>
            <a:ln>
              <a:noFill/>
            </a:ln>
          </p:spPr>
          <p:txBody>
            <a:bodyPr vert="horz" wrap="square" lIns="0" tIns="0" rIns="0" bIns="0" rtlCol="0" anchor="t" anchorCtr="0">
              <a:noAutofit/>
            </a:bodyPr>
            <a:lstStyle/>
            <a:p>
              <a:pPr algn="l">
                <a:spcAft>
                  <a:spcPts val="600"/>
                </a:spcAft>
              </a:pPr>
              <a:r>
                <a:rPr lang="en-US" sz="900" i="1"/>
                <a:t>33.33%</a:t>
              </a:r>
            </a:p>
          </p:txBody>
        </p:sp>
        <p:sp>
          <p:nvSpPr>
            <p:cNvPr id="95" name="Rectangle 94">
              <a:extLst>
                <a:ext uri="{FF2B5EF4-FFF2-40B4-BE49-F238E27FC236}">
                  <a16:creationId xmlns:a16="http://schemas.microsoft.com/office/drawing/2014/main" id="{A7277A51-7173-717A-9C52-E7E8A48527F4}"/>
                </a:ext>
              </a:extLst>
            </p:cNvPr>
            <p:cNvSpPr/>
            <p:nvPr/>
          </p:nvSpPr>
          <p:spPr>
            <a:xfrm>
              <a:off x="963313" y="3429000"/>
              <a:ext cx="3627737" cy="787578"/>
            </a:xfrm>
            <a:prstGeom prst="rect">
              <a:avLst/>
            </a:prstGeom>
            <a:noFill/>
            <a:ln w="31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oAutofit/>
            </a:bodyPr>
            <a:lstStyle/>
            <a:p>
              <a:r>
                <a:rPr lang="en-US" sz="1000" b="1">
                  <a:solidFill>
                    <a:schemeClr val="tx2"/>
                  </a:solidFill>
                </a:rPr>
                <a:t>Transaction </a:t>
              </a:r>
            </a:p>
            <a:p>
              <a:r>
                <a:rPr lang="en-US" sz="1000" b="1">
                  <a:solidFill>
                    <a:schemeClr val="tx2"/>
                  </a:solidFill>
                </a:rPr>
                <a:t>perimeter</a:t>
              </a:r>
            </a:p>
          </p:txBody>
        </p:sp>
      </p:grpSp>
      <p:sp>
        <p:nvSpPr>
          <p:cNvPr id="2" name="Text Placeholder 12">
            <a:extLst>
              <a:ext uri="{FF2B5EF4-FFF2-40B4-BE49-F238E27FC236}">
                <a16:creationId xmlns:a16="http://schemas.microsoft.com/office/drawing/2014/main" id="{256F065B-9B40-E718-4597-2DE29ED54126}"/>
              </a:ext>
            </a:extLst>
          </p:cNvPr>
          <p:cNvSpPr txBox="1">
            <a:spLocks/>
          </p:cNvSpPr>
          <p:nvPr/>
        </p:nvSpPr>
        <p:spPr>
          <a:xfrm>
            <a:off x="1041590" y="4336011"/>
            <a:ext cx="4781307" cy="461665"/>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i="1">
                <a:solidFill>
                  <a:schemeClr val="tx2"/>
                </a:solidFill>
                <a:latin typeface="Arial" panose="020B0604020202020204" pitchFamily="34" charset="0"/>
              </a:rPr>
              <a:t>Note 1: Payment Systems for Credit Unions (“PSCU”) and Co-op Solutions merged in January 2024 and rebranded to Velera in May 2024. </a:t>
            </a:r>
          </a:p>
          <a:p>
            <a:pPr rtl="0">
              <a:spcAft>
                <a:spcPts val="0"/>
              </a:spcAft>
            </a:pPr>
            <a:r>
              <a:rPr lang="en-US" sz="600" b="0" i="1">
                <a:solidFill>
                  <a:schemeClr val="tx2"/>
                </a:solidFill>
                <a:latin typeface="Arial" panose="020B0604020202020204" pitchFamily="34" charset="0"/>
              </a:rPr>
              <a:t>Note 2: Everlink is a member of Interac network and holds 759,049 shares in Interac Corp, which it has elected to recognize as fair value through other comprehensive income (FVTOCI) with no reclassification to net income. The Company has a revenue contract with Interac for mobile transaction processing expiring on July 31, 2025.</a:t>
            </a:r>
          </a:p>
          <a:p>
            <a:pPr rtl="0">
              <a:spcAft>
                <a:spcPts val="0"/>
              </a:spcAft>
            </a:pPr>
            <a:r>
              <a:rPr lang="en-US" sz="600" b="0">
                <a:solidFill>
                  <a:schemeClr val="tx2"/>
                </a:solidFill>
                <a:latin typeface="Arial" panose="020B0604020202020204" pitchFamily="34" charset="0"/>
              </a:rPr>
              <a:t>Source: FY23 Audited financial statements</a:t>
            </a:r>
          </a:p>
        </p:txBody>
      </p:sp>
      <p:sp>
        <p:nvSpPr>
          <p:cNvPr id="37" name="Rectangle 36">
            <a:extLst>
              <a:ext uri="{FF2B5EF4-FFF2-40B4-BE49-F238E27FC236}">
                <a16:creationId xmlns:a16="http://schemas.microsoft.com/office/drawing/2014/main" id="{ED9F546E-8215-CF27-62AA-71429A735463}"/>
              </a:ext>
            </a:extLst>
          </p:cNvPr>
          <p:cNvSpPr/>
          <p:nvPr/>
        </p:nvSpPr>
        <p:spPr>
          <a:xfrm>
            <a:off x="6293680" y="4750445"/>
            <a:ext cx="5054410" cy="14189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60" tIns="137160" rIns="137160" bIns="137160" rtlCol="0" anchor="t"/>
          <a:lstStyle/>
          <a:p>
            <a:pPr algn="l"/>
            <a:endParaRPr lang="en-US" sz="1400" b="1">
              <a:solidFill>
                <a:schemeClr val="accent1"/>
              </a:solidFill>
            </a:endParaRPr>
          </a:p>
        </p:txBody>
      </p:sp>
      <p:sp>
        <p:nvSpPr>
          <p:cNvPr id="39" name="Rectangle: Rounded Corners 38">
            <a:extLst>
              <a:ext uri="{FF2B5EF4-FFF2-40B4-BE49-F238E27FC236}">
                <a16:creationId xmlns:a16="http://schemas.microsoft.com/office/drawing/2014/main" id="{E93415DA-E752-5157-45B1-111D897CCC90}"/>
              </a:ext>
            </a:extLst>
          </p:cNvPr>
          <p:cNvSpPr/>
          <p:nvPr/>
        </p:nvSpPr>
        <p:spPr>
          <a:xfrm>
            <a:off x="6310917" y="6016777"/>
            <a:ext cx="682919" cy="133824"/>
          </a:xfrm>
          <a:prstGeom prst="roundRect">
            <a:avLst>
              <a:gd name="adj" fmla="val 0"/>
            </a:avLst>
          </a:prstGeom>
          <a:gradFill flip="none" rotWithShape="1">
            <a:gsLst>
              <a:gs pos="0">
                <a:srgbClr val="7213EA"/>
              </a:gs>
              <a:gs pos="100000">
                <a:srgbClr val="1E49E2"/>
              </a:gs>
            </a:gsLst>
            <a:lin ang="0" scaled="1"/>
            <a:tileRect/>
          </a:gra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strike="noStrike" kern="0" cap="none" spc="0" normalizeH="0" baseline="0" noProof="0">
                <a:ln>
                  <a:noFill/>
                </a:ln>
                <a:solidFill>
                  <a:srgbClr val="FFFFFF"/>
                </a:solidFill>
                <a:effectLst/>
                <a:uLnTx/>
                <a:uFillTx/>
                <a:latin typeface="Arial"/>
                <a:ea typeface="+mn-ea"/>
                <a:cs typeface="+mn-cs"/>
                <a:hlinkClick r:id="rId8" action="ppaction://hlinksldjump"/>
              </a:rPr>
              <a:t>Read more</a:t>
            </a:r>
            <a:endParaRPr kumimoji="0" lang="en-US" sz="800" b="1" i="0" strike="noStrike" kern="0" cap="none" spc="0" normalizeH="0" baseline="0" noProof="0">
              <a:ln>
                <a:noFill/>
              </a:ln>
              <a:solidFill>
                <a:srgbClr val="FFFFFF"/>
              </a:solidFill>
              <a:effectLst/>
              <a:uLnTx/>
              <a:uFillTx/>
              <a:latin typeface="Arial"/>
              <a:ea typeface="+mn-ea"/>
              <a:cs typeface="+mn-cs"/>
            </a:endParaRPr>
          </a:p>
        </p:txBody>
      </p:sp>
      <p:pic>
        <p:nvPicPr>
          <p:cNvPr id="4" name="Picture 3">
            <a:extLst>
              <a:ext uri="{FF2B5EF4-FFF2-40B4-BE49-F238E27FC236}">
                <a16:creationId xmlns:a16="http://schemas.microsoft.com/office/drawing/2014/main" id="{A2259CCD-E657-95C3-89C6-B225E7190AAE}"/>
              </a:ext>
            </a:extLst>
          </p:cNvPr>
          <p:cNvPicPr>
            <a:picLocks noChangeAspect="1"/>
          </p:cNvPicPr>
          <p:nvPr>
            <p:custDataLst>
              <p:tags r:id="rId3"/>
            </p:custDataLst>
          </p:nvPr>
        </p:nvPicPr>
        <p:blipFill>
          <a:blip r:embed="rId9"/>
          <a:stretch>
            <a:fillRect/>
          </a:stretch>
        </p:blipFill>
        <p:spPr>
          <a:xfrm>
            <a:off x="6411990" y="4678910"/>
            <a:ext cx="4936099" cy="1530936"/>
          </a:xfrm>
          <a:prstGeom prst="rect">
            <a:avLst/>
          </a:prstGeom>
        </p:spPr>
      </p:pic>
      <p:grpSp>
        <p:nvGrpSpPr>
          <p:cNvPr id="36" name="Group 35">
            <a:extLst>
              <a:ext uri="{FF2B5EF4-FFF2-40B4-BE49-F238E27FC236}">
                <a16:creationId xmlns:a16="http://schemas.microsoft.com/office/drawing/2014/main" id="{A7CF5306-EC02-11EB-4386-59D9739F72C0}"/>
              </a:ext>
            </a:extLst>
          </p:cNvPr>
          <p:cNvGrpSpPr/>
          <p:nvPr>
            <p:custDataLst>
              <p:tags r:id="rId4"/>
            </p:custDataLst>
          </p:nvPr>
        </p:nvGrpSpPr>
        <p:grpSpPr>
          <a:xfrm>
            <a:off x="995364" y="153170"/>
            <a:ext cx="5841750" cy="195814"/>
            <a:chOff x="995364" y="153170"/>
            <a:chExt cx="5841750" cy="195814"/>
          </a:xfrm>
        </p:grpSpPr>
        <p:sp>
          <p:nvSpPr>
            <p:cNvPr id="30" name="Current Section1">
              <a:hlinkClick r:id="rId10"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1"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2"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3"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2326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4"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012227"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5"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482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121745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9FE0D01-2C74-93E1-C4F3-B8207D9D8B2F}"/>
              </a:ext>
            </a:extLst>
          </p:cNvPr>
          <p:cNvSpPr txBox="1">
            <a:spLocks/>
          </p:cNvSpPr>
          <p:nvPr/>
        </p:nvSpPr>
        <p:spPr>
          <a:xfrm>
            <a:off x="1003312" y="1002322"/>
            <a:ext cx="10185376" cy="236148"/>
          </a:xfrm>
          <a:prstGeom prst="rect">
            <a:avLst/>
          </a:prstGeom>
        </p:spPr>
        <p:txBody>
          <a:bodyPr vert="horz" wrap="square" lIns="0" tIns="0" rIns="0" bIns="0" rtlCol="0" anchor="t" anchorCtr="0">
            <a:noAutofit/>
          </a:bodyPr>
          <a:lstStyle/>
          <a:p>
            <a:pPr algn="l">
              <a:spcAft>
                <a:spcPts val="600"/>
              </a:spcAft>
            </a:pPr>
            <a:r>
              <a:rPr lang="en-US" sz="1000" b="1">
                <a:solidFill>
                  <a:srgbClr val="510DBC"/>
                </a:solidFill>
              </a:rPr>
              <a:t>The tables below present the income statement, balance sheet, and derived cash flow statement of the Company on a reported basis. </a:t>
            </a:r>
          </a:p>
        </p:txBody>
      </p:sp>
      <p:sp>
        <p:nvSpPr>
          <p:cNvPr id="5" name="Text Placeholder 12">
            <a:extLst>
              <a:ext uri="{FF2B5EF4-FFF2-40B4-BE49-F238E27FC236}">
                <a16:creationId xmlns:a16="http://schemas.microsoft.com/office/drawing/2014/main" id="{812953D9-FC6A-447A-C9DC-242839C2919E}"/>
              </a:ext>
            </a:extLst>
          </p:cNvPr>
          <p:cNvSpPr txBox="1">
            <a:spLocks/>
          </p:cNvSpPr>
          <p:nvPr/>
        </p:nvSpPr>
        <p:spPr>
          <a:xfrm>
            <a:off x="1032093" y="6118068"/>
            <a:ext cx="4781307"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(All): Internal financial statements</a:t>
            </a:r>
          </a:p>
        </p:txBody>
      </p:sp>
      <p:sp>
        <p:nvSpPr>
          <p:cNvPr id="6" name="Title 8">
            <a:extLst>
              <a:ext uri="{FF2B5EF4-FFF2-40B4-BE49-F238E27FC236}">
                <a16:creationId xmlns:a16="http://schemas.microsoft.com/office/drawing/2014/main" id="{CC9B4527-FA1E-CA50-2161-54035A92BBB8}"/>
              </a:ext>
            </a:extLst>
          </p:cNvPr>
          <p:cNvSpPr>
            <a:spLocks noGrp="1"/>
          </p:cNvSpPr>
          <p:nvPr>
            <p:ph type="title"/>
          </p:nvPr>
        </p:nvSpPr>
        <p:spPr>
          <a:xfrm>
            <a:off x="998400" y="438150"/>
            <a:ext cx="10195200" cy="533400"/>
          </a:xfrm>
        </p:spPr>
        <p:txBody>
          <a:bodyPr/>
          <a:lstStyle/>
          <a:p>
            <a:r>
              <a:rPr lang="en-US"/>
              <a:t>Summary financials</a:t>
            </a:r>
          </a:p>
        </p:txBody>
      </p:sp>
      <p:sp>
        <p:nvSpPr>
          <p:cNvPr id="20" name="UpSlide SubSection Marker" hidden="1">
            <a:extLst>
              <a:ext uri="{FF2B5EF4-FFF2-40B4-BE49-F238E27FC236}">
                <a16:creationId xmlns:a16="http://schemas.microsoft.com/office/drawing/2014/main" id="{6F6DEFBA-16EB-727C-FDF7-75AB711A46D4}"/>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Summary financials</a:t>
            </a:r>
          </a:p>
        </p:txBody>
      </p:sp>
      <p:pic>
        <p:nvPicPr>
          <p:cNvPr id="2" name="Picture 1">
            <a:extLst>
              <a:ext uri="{FF2B5EF4-FFF2-40B4-BE49-F238E27FC236}">
                <a16:creationId xmlns:a16="http://schemas.microsoft.com/office/drawing/2014/main" id="{6A524611-4A33-4C39-70ED-06F7C61DC5DA}"/>
              </a:ext>
            </a:extLst>
          </p:cNvPr>
          <p:cNvPicPr>
            <a:picLocks noChangeAspect="1"/>
          </p:cNvPicPr>
          <p:nvPr>
            <p:custDataLst>
              <p:tags r:id="rId2"/>
            </p:custDataLst>
          </p:nvPr>
        </p:nvPicPr>
        <p:blipFill>
          <a:blip r:embed="rId7"/>
          <a:stretch>
            <a:fillRect/>
          </a:stretch>
        </p:blipFill>
        <p:spPr>
          <a:xfrm>
            <a:off x="1003311" y="1330325"/>
            <a:ext cx="3439546" cy="3363895"/>
          </a:xfrm>
          <a:prstGeom prst="rect">
            <a:avLst/>
          </a:prstGeom>
        </p:spPr>
      </p:pic>
      <p:pic>
        <p:nvPicPr>
          <p:cNvPr id="7" name="Picture 6">
            <a:extLst>
              <a:ext uri="{FF2B5EF4-FFF2-40B4-BE49-F238E27FC236}">
                <a16:creationId xmlns:a16="http://schemas.microsoft.com/office/drawing/2014/main" id="{4567921E-B6BE-1171-B196-FB4406F10E41}"/>
              </a:ext>
            </a:extLst>
          </p:cNvPr>
          <p:cNvPicPr>
            <a:picLocks noChangeAspect="1"/>
          </p:cNvPicPr>
          <p:nvPr>
            <p:custDataLst>
              <p:tags r:id="rId3"/>
            </p:custDataLst>
          </p:nvPr>
        </p:nvPicPr>
        <p:blipFill>
          <a:blip r:embed="rId8"/>
          <a:stretch>
            <a:fillRect/>
          </a:stretch>
        </p:blipFill>
        <p:spPr>
          <a:xfrm>
            <a:off x="4489566" y="1330325"/>
            <a:ext cx="3378403" cy="4205387"/>
          </a:xfrm>
          <a:prstGeom prst="rect">
            <a:avLst/>
          </a:prstGeom>
        </p:spPr>
      </p:pic>
      <p:pic>
        <p:nvPicPr>
          <p:cNvPr id="8" name="Picture 7">
            <a:extLst>
              <a:ext uri="{FF2B5EF4-FFF2-40B4-BE49-F238E27FC236}">
                <a16:creationId xmlns:a16="http://schemas.microsoft.com/office/drawing/2014/main" id="{B10E6380-7408-C2F7-D875-39E524D41EB8}"/>
              </a:ext>
            </a:extLst>
          </p:cNvPr>
          <p:cNvPicPr>
            <a:picLocks noChangeAspect="1"/>
          </p:cNvPicPr>
          <p:nvPr>
            <p:custDataLst>
              <p:tags r:id="rId4"/>
            </p:custDataLst>
          </p:nvPr>
        </p:nvPicPr>
        <p:blipFill>
          <a:blip r:embed="rId9"/>
          <a:stretch>
            <a:fillRect/>
          </a:stretch>
        </p:blipFill>
        <p:spPr>
          <a:xfrm>
            <a:off x="7914679" y="1330325"/>
            <a:ext cx="3285134" cy="2534839"/>
          </a:xfrm>
          <a:prstGeom prst="rect">
            <a:avLst/>
          </a:prstGeom>
        </p:spPr>
      </p:pic>
      <p:grpSp>
        <p:nvGrpSpPr>
          <p:cNvPr id="23" name="Group 22">
            <a:extLst>
              <a:ext uri="{FF2B5EF4-FFF2-40B4-BE49-F238E27FC236}">
                <a16:creationId xmlns:a16="http://schemas.microsoft.com/office/drawing/2014/main" id="{A7CF5306-EC02-11EB-4386-59D9739F72C0}"/>
              </a:ext>
            </a:extLst>
          </p:cNvPr>
          <p:cNvGrpSpPr/>
          <p:nvPr>
            <p:custDataLst>
              <p:tags r:id="rId5"/>
            </p:custDataLst>
          </p:nvPr>
        </p:nvGrpSpPr>
        <p:grpSpPr>
          <a:xfrm>
            <a:off x="995364" y="153170"/>
            <a:ext cx="5841750" cy="195814"/>
            <a:chOff x="995364" y="153170"/>
            <a:chExt cx="5841750" cy="195814"/>
          </a:xfrm>
        </p:grpSpPr>
        <p:sp>
          <p:nvSpPr>
            <p:cNvPr id="24" name="Current Section1">
              <a:hlinkClick r:id="rId10"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25"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6"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7"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2326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8"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012227"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9"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482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073532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987C7EC6-B577-8AF2-1204-69EF41334A78}"/>
              </a:ext>
            </a:extLst>
          </p:cNvPr>
          <p:cNvSpPr txBox="1"/>
          <p:nvPr/>
        </p:nvSpPr>
        <p:spPr>
          <a:xfrm>
            <a:off x="6268971" y="3164912"/>
            <a:ext cx="4823835" cy="2477601"/>
          </a:xfrm>
          <a:prstGeom prst="rect">
            <a:avLst/>
          </a:prstGeom>
          <a:noFill/>
        </p:spPr>
        <p:txBody>
          <a:bodyPr wrap="square">
            <a:spAutoFit/>
          </a:bodyPr>
          <a:lstStyle/>
          <a:p>
            <a:pPr marL="174625" lvl="3" indent="-174625">
              <a:spcAft>
                <a:spcPts val="600"/>
              </a:spcAft>
              <a:buFont typeface="Arial" panose="020B0604020202020204" pitchFamily="34" charset="0"/>
              <a:buChar char="•"/>
              <a:defRPr/>
            </a:pPr>
            <a:r>
              <a:rPr lang="en-US" sz="900"/>
              <a:t>Select due diligence adjustments to TTM Jun-24 include the following: </a:t>
            </a:r>
          </a:p>
          <a:p>
            <a:pPr marL="346075" lvl="4" indent="-171450">
              <a:spcAft>
                <a:spcPts val="600"/>
              </a:spcAft>
              <a:buClr>
                <a:schemeClr val="bg1">
                  <a:lumMod val="50000"/>
                </a:schemeClr>
              </a:buClr>
              <a:buFont typeface="Arial" panose="020B0604020202020204" pitchFamily="34" charset="0"/>
              <a:buChar char="‒"/>
              <a:defRPr/>
            </a:pPr>
            <a:r>
              <a:rPr lang="en-US" sz="900" b="1"/>
              <a:t>IFRS 15 contract liability  (+$1.3 million): </a:t>
            </a:r>
            <a:r>
              <a:rPr lang="en-US" sz="900"/>
              <a:t>Removes the impact of IFRS 15 on contract assets and liabilities as they are related to the progressive revenue recognition of the underlying services, but do not represent the operational liquidity of the business from a working capital perspective. </a:t>
            </a:r>
          </a:p>
          <a:p>
            <a:pPr marL="346075" lvl="4" indent="-171450">
              <a:spcAft>
                <a:spcPts val="600"/>
              </a:spcAft>
              <a:buClr>
                <a:schemeClr val="bg1">
                  <a:lumMod val="50000"/>
                </a:schemeClr>
              </a:buClr>
              <a:buFont typeface="Arial" panose="020B0604020202020204" pitchFamily="34" charset="0"/>
              <a:buChar char="‒"/>
              <a:defRPr/>
            </a:pPr>
            <a:r>
              <a:rPr lang="en-US" sz="900" b="1"/>
              <a:t>LTIP reclassification (-$600,000): </a:t>
            </a:r>
            <a:r>
              <a:rPr lang="en-US" sz="900"/>
              <a:t>The Company accrues long term incentive plan expense on a monthly basis for its executive employees, payable three years post-earning. As the LTIP accrual expense is reflected in EBITDA, the corresponding liability is incorporated in NWC.</a:t>
            </a:r>
          </a:p>
          <a:p>
            <a:pPr marL="174625" lvl="3" indent="-174625">
              <a:spcAft>
                <a:spcPts val="600"/>
              </a:spcAft>
              <a:buClr>
                <a:schemeClr val="bg1">
                  <a:lumMod val="50000"/>
                </a:schemeClr>
              </a:buClr>
              <a:buFont typeface="Arial" panose="020B0604020202020204" pitchFamily="34" charset="0"/>
              <a:buChar char="•"/>
              <a:defRPr/>
            </a:pPr>
            <a:r>
              <a:rPr lang="en-US" sz="900"/>
              <a:t>Select pro forma adjustments to TTM Jun-24 relate to the following: </a:t>
            </a:r>
          </a:p>
          <a:p>
            <a:pPr marL="346075" lvl="4" indent="-171450">
              <a:buClr>
                <a:schemeClr val="bg1">
                  <a:lumMod val="50000"/>
                </a:schemeClr>
              </a:buClr>
              <a:buFont typeface="Arial" panose="020B0604020202020204" pitchFamily="34" charset="0"/>
              <a:buChar char="‒"/>
              <a:defRPr/>
            </a:pPr>
            <a:r>
              <a:rPr lang="en-US" sz="900" b="1" err="1"/>
              <a:t>Interac</a:t>
            </a:r>
            <a:r>
              <a:rPr lang="en-US" sz="900" b="1"/>
              <a:t> DSO Normalization (-$1.6 million): </a:t>
            </a:r>
            <a:r>
              <a:rPr lang="en-US" sz="900"/>
              <a:t>The Company’s days sales outstanding from September 2023 to June 2024 were inflated as a result of payments withheld in part of the pricing dispute with </a:t>
            </a:r>
            <a:r>
              <a:rPr lang="en-US" sz="900" err="1"/>
              <a:t>Interac</a:t>
            </a:r>
            <a:r>
              <a:rPr lang="en-US" sz="900"/>
              <a:t>. This adjustment normalizes inflated days sales outstanding from September 2023 to June 2024, to 45 days, in alignment with the historical period.</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Key findings</a:t>
            </a:r>
          </a:p>
        </p:txBody>
      </p:sp>
      <p:sp>
        <p:nvSpPr>
          <p:cNvPr id="28" name="Title 7">
            <a:extLst>
              <a:ext uri="{FF2B5EF4-FFF2-40B4-BE49-F238E27FC236}">
                <a16:creationId xmlns:a16="http://schemas.microsoft.com/office/drawing/2014/main" id="{767D832F-87D0-468F-B2DE-B70AD07BE295}"/>
              </a:ext>
            </a:extLst>
          </p:cNvPr>
          <p:cNvSpPr>
            <a:spLocks noGrp="1"/>
          </p:cNvSpPr>
          <p:nvPr>
            <p:ph type="title"/>
          </p:nvPr>
        </p:nvSpPr>
        <p:spPr>
          <a:xfrm>
            <a:off x="998400" y="431800"/>
            <a:ext cx="10195200" cy="533400"/>
          </a:xfrm>
        </p:spPr>
        <p:txBody>
          <a:bodyPr/>
          <a:lstStyle/>
          <a:p>
            <a:r>
              <a:rPr lang="en-CA" sz="4400">
                <a:solidFill>
                  <a:srgbClr val="00338D"/>
                </a:solidFill>
              </a:rPr>
              <a:t>Key findings (1/2) </a:t>
            </a:r>
            <a:r>
              <a:rPr lang="en-US" sz="4400"/>
              <a:t>– </a:t>
            </a:r>
            <a:r>
              <a:rPr lang="en-CA" sz="4400">
                <a:solidFill>
                  <a:srgbClr val="00338D"/>
                </a:solidFill>
              </a:rPr>
              <a:t>Financial </a:t>
            </a:r>
            <a:endParaRPr lang="en-US"/>
          </a:p>
        </p:txBody>
      </p:sp>
      <p:sp>
        <p:nvSpPr>
          <p:cNvPr id="11" name="Text Placeholder 4">
            <a:extLst>
              <a:ext uri="{FF2B5EF4-FFF2-40B4-BE49-F238E27FC236}">
                <a16:creationId xmlns:a16="http://schemas.microsoft.com/office/drawing/2014/main" id="{7AD3A6FC-B042-0790-9167-3A5C746CCEF5}"/>
              </a:ext>
            </a:extLst>
          </p:cNvPr>
          <p:cNvSpPr txBox="1">
            <a:spLocks/>
          </p:cNvSpPr>
          <p:nvPr/>
        </p:nvSpPr>
        <p:spPr>
          <a:xfrm>
            <a:off x="6166289" y="1079792"/>
            <a:ext cx="5029200" cy="4612787"/>
          </a:xfrm>
          <a:prstGeom prst="rect">
            <a:avLst/>
          </a:prstGeom>
        </p:spPr>
        <p:txBody>
          <a:bodyPr vert="horz" lIns="72000" tIns="0" rIns="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b="1">
              <a:solidFill>
                <a:schemeClr val="accent1"/>
              </a:solidFill>
            </a:endParaRPr>
          </a:p>
        </p:txBody>
      </p:sp>
      <p:sp>
        <p:nvSpPr>
          <p:cNvPr id="14" name="Text Placeholder 32">
            <a:extLst>
              <a:ext uri="{FF2B5EF4-FFF2-40B4-BE49-F238E27FC236}">
                <a16:creationId xmlns:a16="http://schemas.microsoft.com/office/drawing/2014/main" id="{A9B8AA5B-DFBD-9D33-35C9-FD39FEAC24B5}"/>
              </a:ext>
            </a:extLst>
          </p:cNvPr>
          <p:cNvSpPr txBox="1">
            <a:spLocks/>
          </p:cNvSpPr>
          <p:nvPr/>
        </p:nvSpPr>
        <p:spPr>
          <a:xfrm>
            <a:off x="1093323" y="3156494"/>
            <a:ext cx="4798520" cy="2882137"/>
          </a:xfrm>
          <a:prstGeom prst="rect">
            <a:avLst/>
          </a:prstGeom>
          <a:ln>
            <a:solidFill>
              <a:srgbClr val="00338D"/>
            </a:solidFill>
          </a:ln>
        </p:spPr>
        <p:txBody>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4625" lvl="3" indent="-174625">
              <a:spcAft>
                <a:spcPts val="600"/>
              </a:spcAft>
              <a:buClr>
                <a:schemeClr val="bg1">
                  <a:lumMod val="50000"/>
                </a:schemeClr>
              </a:buClr>
              <a:buFont typeface="Arial" panose="020B0604020202020204" pitchFamily="34" charset="0"/>
              <a:buChar char="•"/>
              <a:defRPr/>
            </a:pPr>
            <a:r>
              <a:rPr lang="en-US" sz="900"/>
              <a:t>Select due diligence adjustments to TTM Jun-24 include the following: </a:t>
            </a:r>
          </a:p>
          <a:p>
            <a:pPr marL="346075" lvl="4" indent="-171450">
              <a:buClr>
                <a:schemeClr val="bg1">
                  <a:lumMod val="50000"/>
                </a:schemeClr>
              </a:buClr>
              <a:buFont typeface="Arial" panose="020B0604020202020204" pitchFamily="34" charset="0"/>
              <a:buChar char="‒"/>
              <a:defRPr/>
            </a:pPr>
            <a:r>
              <a:rPr lang="en-US" sz="900" b="1"/>
              <a:t>Mobile POS IFRS 15 (-$2.4 million Adjusted EBITDA): </a:t>
            </a:r>
            <a:r>
              <a:rPr lang="en-US" sz="900"/>
              <a:t>The Company records a monthly IFRS 15 adjustment for mobile point-of-sale (POS) transactions under tier-based pricing arrangements to reflect most recent anticipated pricing. Reported IFRS 15 adjustments are revised using a fiscal year average price calculated from the actual total contract billings and volume to eliminate revenue fluctuations over the life of the contract (i.e., April 2020 to March 2024) from accounting entries. The total impact over the applicable term of the contract is nil.</a:t>
            </a:r>
          </a:p>
          <a:p>
            <a:pPr marL="346075" lvl="4" indent="-171450">
              <a:buClr>
                <a:schemeClr val="bg1">
                  <a:lumMod val="50000"/>
                </a:schemeClr>
              </a:buClr>
              <a:buFont typeface="Arial" panose="020B0604020202020204" pitchFamily="34" charset="0"/>
              <a:buChar char="‒"/>
              <a:defRPr/>
            </a:pPr>
            <a:r>
              <a:rPr lang="en-US" sz="900" b="1"/>
              <a:t>Settlement interest income (+$1.1 million Adjusted EBITDA): </a:t>
            </a:r>
            <a:r>
              <a:rPr lang="en-US" sz="900"/>
              <a:t>Add back of interest income earned on overnight settlement cash balances, as it is considered a part of normal business operations.</a:t>
            </a:r>
          </a:p>
          <a:p>
            <a:pPr marL="171450" lvl="4" indent="-171450">
              <a:buClr>
                <a:schemeClr val="bg1">
                  <a:lumMod val="50000"/>
                </a:schemeClr>
              </a:buClr>
              <a:defRPr/>
            </a:pPr>
            <a:r>
              <a:rPr lang="en-US" sz="900"/>
              <a:t>Select pro forma adjustments to TTM Jun-24 relate to the following:</a:t>
            </a:r>
          </a:p>
          <a:p>
            <a:pPr marL="346075" lvl="4" indent="-171450">
              <a:buFont typeface="Arial" panose="020B0604020202020204" pitchFamily="34" charset="0"/>
              <a:buChar char="‒"/>
              <a:defRPr/>
            </a:pPr>
            <a:r>
              <a:rPr lang="en-US" sz="900" b="1"/>
              <a:t>Net New/lost customers (+$750,000 Adjusted EBITDA): </a:t>
            </a:r>
            <a:r>
              <a:rPr lang="en-US" sz="900"/>
              <a:t>To reflect the YTD Jun-24 run-rate of new customers net of lost/terminated customers, over the historical period.</a:t>
            </a:r>
          </a:p>
          <a:p>
            <a:pPr marL="346075" lvl="4" indent="-171450">
              <a:buFont typeface="Arial" panose="020B0604020202020204" pitchFamily="34" charset="0"/>
              <a:buChar char="‒"/>
              <a:defRPr/>
            </a:pPr>
            <a:r>
              <a:rPr lang="en-US" sz="900" b="1"/>
              <a:t>Credit union MSA (+$950,000 Adjusted EBITDA): </a:t>
            </a:r>
            <a:r>
              <a:rPr lang="en-US" sz="900"/>
              <a:t>Represents the pro forma impact of the revised credit union master service agreement (MSA) contract pricing, effective May 2024, over the historical period.</a:t>
            </a:r>
          </a:p>
        </p:txBody>
      </p:sp>
      <p:sp>
        <p:nvSpPr>
          <p:cNvPr id="15" name="Text Placeholder 32">
            <a:extLst>
              <a:ext uri="{FF2B5EF4-FFF2-40B4-BE49-F238E27FC236}">
                <a16:creationId xmlns:a16="http://schemas.microsoft.com/office/drawing/2014/main" id="{2CED0A02-7B9D-F91F-66CF-9D7C6F4F29FF}"/>
              </a:ext>
            </a:extLst>
          </p:cNvPr>
          <p:cNvSpPr txBox="1">
            <a:spLocks/>
          </p:cNvSpPr>
          <p:nvPr/>
        </p:nvSpPr>
        <p:spPr>
          <a:xfrm>
            <a:off x="6274842" y="3156494"/>
            <a:ext cx="4823835" cy="2877711"/>
          </a:xfrm>
          <a:prstGeom prst="rect">
            <a:avLst/>
          </a:prstGeom>
          <a:ln>
            <a:solidFill>
              <a:srgbClr val="00338D"/>
            </a:solidFill>
          </a:ln>
        </p:spPr>
        <p:txBody>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4625" marR="0" lvl="3" indent="-174625" algn="l" defTabSz="914400" rtl="0" eaLnBrk="1" fontAlgn="auto" latinLnBrk="0" hangingPunct="1">
              <a:lnSpc>
                <a:spcPct val="100000"/>
              </a:lnSpc>
              <a:spcBef>
                <a:spcPts val="600"/>
              </a:spcBef>
              <a:spcAft>
                <a:spcPts val="0"/>
              </a:spcAft>
              <a:buClr>
                <a:schemeClr val="bg1">
                  <a:lumMod val="50000"/>
                </a:schemeClr>
              </a:buClr>
              <a:buSzTx/>
              <a:buFont typeface="Arial" panose="020B0604020202020204" pitchFamily="34" charset="0"/>
              <a:buChar char="•"/>
              <a:tabLst/>
              <a:defRPr/>
            </a:pPr>
            <a:endParaRPr lang="en-US" sz="900"/>
          </a:p>
        </p:txBody>
      </p:sp>
      <p:sp>
        <p:nvSpPr>
          <p:cNvPr id="16" name="Rectangle 15">
            <a:extLst>
              <a:ext uri="{FF2B5EF4-FFF2-40B4-BE49-F238E27FC236}">
                <a16:creationId xmlns:a16="http://schemas.microsoft.com/office/drawing/2014/main" id="{392D54D6-1CC4-C235-D001-F41065CCA6EF}"/>
              </a:ext>
            </a:extLst>
          </p:cNvPr>
          <p:cNvSpPr/>
          <p:nvPr/>
        </p:nvSpPr>
        <p:spPr>
          <a:xfrm>
            <a:off x="1014031" y="1027605"/>
            <a:ext cx="1210554" cy="253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b="1">
                <a:solidFill>
                  <a:srgbClr val="00338D"/>
                </a:solidFill>
              </a:rPr>
              <a:t>Quality of earnings</a:t>
            </a:r>
          </a:p>
        </p:txBody>
      </p:sp>
      <p:sp>
        <p:nvSpPr>
          <p:cNvPr id="17" name="Rectangle 16">
            <a:extLst>
              <a:ext uri="{FF2B5EF4-FFF2-40B4-BE49-F238E27FC236}">
                <a16:creationId xmlns:a16="http://schemas.microsoft.com/office/drawing/2014/main" id="{6A4737B3-1496-6F14-C1A8-B1D839BACE44}"/>
              </a:ext>
            </a:extLst>
          </p:cNvPr>
          <p:cNvSpPr/>
          <p:nvPr/>
        </p:nvSpPr>
        <p:spPr>
          <a:xfrm>
            <a:off x="6191761" y="1018412"/>
            <a:ext cx="1210554" cy="2530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b="1">
                <a:solidFill>
                  <a:srgbClr val="00338D"/>
                </a:solidFill>
              </a:rPr>
              <a:t>Net working capital</a:t>
            </a:r>
          </a:p>
        </p:txBody>
      </p:sp>
      <p:sp>
        <p:nvSpPr>
          <p:cNvPr id="23" name="Text Placeholder 12">
            <a:extLst>
              <a:ext uri="{FF2B5EF4-FFF2-40B4-BE49-F238E27FC236}">
                <a16:creationId xmlns:a16="http://schemas.microsoft.com/office/drawing/2014/main" id="{11F9F55E-A247-0FF8-2B0F-DF5F99A8A8F4}"/>
              </a:ext>
            </a:extLst>
          </p:cNvPr>
          <p:cNvSpPr txBox="1">
            <a:spLocks/>
          </p:cNvSpPr>
          <p:nvPr/>
        </p:nvSpPr>
        <p:spPr>
          <a:xfrm>
            <a:off x="1927802" y="2944203"/>
            <a:ext cx="3057782"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 KPMG analysis</a:t>
            </a:r>
          </a:p>
          <a:p>
            <a:pPr rtl="0">
              <a:spcAft>
                <a:spcPts val="0"/>
              </a:spcAft>
            </a:pPr>
            <a:r>
              <a:rPr lang="en-US" sz="600" b="0">
                <a:solidFill>
                  <a:schemeClr val="tx2"/>
                </a:solidFill>
                <a:latin typeface="Arial" panose="020B0604020202020204" pitchFamily="34" charset="0"/>
              </a:rPr>
              <a:t>Note: See Appendices for a bridge denoting the changes from FY21 to TTM Apr-24</a:t>
            </a:r>
          </a:p>
        </p:txBody>
      </p:sp>
      <p:sp>
        <p:nvSpPr>
          <p:cNvPr id="24" name="Text Placeholder 12">
            <a:extLst>
              <a:ext uri="{FF2B5EF4-FFF2-40B4-BE49-F238E27FC236}">
                <a16:creationId xmlns:a16="http://schemas.microsoft.com/office/drawing/2014/main" id="{C742279A-8255-A7C9-7F17-922FDC4DBDF3}"/>
              </a:ext>
            </a:extLst>
          </p:cNvPr>
          <p:cNvSpPr txBox="1">
            <a:spLocks/>
          </p:cNvSpPr>
          <p:nvPr/>
        </p:nvSpPr>
        <p:spPr>
          <a:xfrm>
            <a:off x="6268971" y="2496449"/>
            <a:ext cx="2493639"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 KPMG analysis</a:t>
            </a:r>
          </a:p>
        </p:txBody>
      </p:sp>
      <p:sp>
        <p:nvSpPr>
          <p:cNvPr id="8" name="Text Placeholder 1">
            <a:extLst>
              <a:ext uri="{FF2B5EF4-FFF2-40B4-BE49-F238E27FC236}">
                <a16:creationId xmlns:a16="http://schemas.microsoft.com/office/drawing/2014/main" id="{7F34EDD8-A93E-6069-EABF-4A921E20FC1A}"/>
              </a:ext>
            </a:extLst>
          </p:cNvPr>
          <p:cNvSpPr txBox="1">
            <a:spLocks/>
          </p:cNvSpPr>
          <p:nvPr/>
        </p:nvSpPr>
        <p:spPr>
          <a:xfrm>
            <a:off x="1014031" y="971550"/>
            <a:ext cx="5005809" cy="5128861"/>
          </a:xfrm>
          <a:prstGeom prst="rect">
            <a:avLst/>
          </a:prstGeom>
          <a:ln w="19050">
            <a:solidFill>
              <a:srgbClr val="1E49E2"/>
            </a:solidFill>
          </a:ln>
        </p:spPr>
        <p:txBody>
          <a:bodyPr vert="horz" lIns="72000" tIns="0" rIns="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b="1">
              <a:solidFill>
                <a:schemeClr val="accent1"/>
              </a:solidFill>
            </a:endParaRPr>
          </a:p>
        </p:txBody>
      </p:sp>
      <p:sp>
        <p:nvSpPr>
          <p:cNvPr id="10" name="Text Placeholder 1">
            <a:extLst>
              <a:ext uri="{FF2B5EF4-FFF2-40B4-BE49-F238E27FC236}">
                <a16:creationId xmlns:a16="http://schemas.microsoft.com/office/drawing/2014/main" id="{F7A2F9F2-0398-2596-DF3D-393FBE048932}"/>
              </a:ext>
            </a:extLst>
          </p:cNvPr>
          <p:cNvSpPr txBox="1">
            <a:spLocks/>
          </p:cNvSpPr>
          <p:nvPr/>
        </p:nvSpPr>
        <p:spPr>
          <a:xfrm>
            <a:off x="6166289" y="971551"/>
            <a:ext cx="5005809" cy="5128860"/>
          </a:xfrm>
          <a:prstGeom prst="rect">
            <a:avLst/>
          </a:prstGeom>
          <a:ln w="19050">
            <a:solidFill>
              <a:srgbClr val="1E49E2"/>
            </a:solidFill>
          </a:ln>
        </p:spPr>
        <p:txBody>
          <a:bodyPr vert="horz" lIns="72000" tIns="0" rIns="0" bIns="0" rtlCol="0" anchor="t" anchorCtr="0">
            <a:noAutofit/>
          </a:bodyPr>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b="1">
                <a:solidFill>
                  <a:schemeClr val="accent1"/>
                </a:solidFill>
              </a:rPr>
              <a:t> </a:t>
            </a:r>
          </a:p>
        </p:txBody>
      </p:sp>
      <p:sp>
        <p:nvSpPr>
          <p:cNvPr id="12" name="Rectangle: Rounded Corners 11">
            <a:hlinkClick r:id="rId7" action="ppaction://hlinksldjump"/>
            <a:extLst>
              <a:ext uri="{FF2B5EF4-FFF2-40B4-BE49-F238E27FC236}">
                <a16:creationId xmlns:a16="http://schemas.microsoft.com/office/drawing/2014/main" id="{42AF7AEE-C827-CC97-8451-0E0A09115177}"/>
              </a:ext>
            </a:extLst>
          </p:cNvPr>
          <p:cNvSpPr/>
          <p:nvPr/>
        </p:nvSpPr>
        <p:spPr>
          <a:xfrm>
            <a:off x="5319171" y="1080166"/>
            <a:ext cx="700669" cy="250159"/>
          </a:xfrm>
          <a:prstGeom prst="roundRect">
            <a:avLst>
              <a:gd name="adj" fmla="val 0"/>
            </a:avLst>
          </a:prstGeom>
          <a:gradFill flip="none" rotWithShape="1">
            <a:gsLst>
              <a:gs pos="0">
                <a:srgbClr val="7213EA"/>
              </a:gs>
              <a:gs pos="100000">
                <a:srgbClr val="1E49E2"/>
              </a:gs>
            </a:gsLst>
            <a:lin ang="0" scaled="1"/>
            <a:tileRect/>
          </a:gra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800" b="1" kern="0">
                <a:solidFill>
                  <a:srgbClr val="FFFFFF"/>
                </a:solidFill>
                <a:latin typeface="Arial"/>
                <a:hlinkClick r:id="rId7" action="ppaction://hlinksldjump"/>
              </a:rPr>
              <a:t>Read more</a:t>
            </a:r>
            <a:endParaRPr kumimoji="0" lang="en-US" sz="800" b="1" i="0" strike="noStrike" kern="0" cap="none" spc="0" normalizeH="0" baseline="0" noProof="0">
              <a:ln>
                <a:noFill/>
              </a:ln>
              <a:solidFill>
                <a:srgbClr val="FFFFFF"/>
              </a:solidFill>
              <a:effectLst/>
              <a:uLnTx/>
              <a:uFillTx/>
              <a:latin typeface="Arial"/>
              <a:ea typeface="+mn-ea"/>
              <a:cs typeface="+mn-cs"/>
            </a:endParaRPr>
          </a:p>
        </p:txBody>
      </p:sp>
      <p:sp>
        <p:nvSpPr>
          <p:cNvPr id="13" name="Rectangle: Rounded Corners 12">
            <a:hlinkClick r:id="rId8" action="ppaction://hlinksldjump"/>
            <a:extLst>
              <a:ext uri="{FF2B5EF4-FFF2-40B4-BE49-F238E27FC236}">
                <a16:creationId xmlns:a16="http://schemas.microsoft.com/office/drawing/2014/main" id="{A969E9AC-08CE-BAAF-038F-1341CAA6C2C0}"/>
              </a:ext>
            </a:extLst>
          </p:cNvPr>
          <p:cNvSpPr/>
          <p:nvPr/>
        </p:nvSpPr>
        <p:spPr>
          <a:xfrm>
            <a:off x="10471429" y="1079792"/>
            <a:ext cx="700669" cy="250533"/>
          </a:xfrm>
          <a:prstGeom prst="roundRect">
            <a:avLst>
              <a:gd name="adj" fmla="val 0"/>
            </a:avLst>
          </a:prstGeom>
          <a:gradFill flip="none" rotWithShape="1">
            <a:gsLst>
              <a:gs pos="0">
                <a:srgbClr val="7213EA"/>
              </a:gs>
              <a:gs pos="100000">
                <a:srgbClr val="1E49E2"/>
              </a:gs>
            </a:gsLst>
            <a:lin ang="0" scaled="1"/>
            <a:tileRect/>
          </a:gradFill>
          <a:ln w="1270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800" b="1" kern="0">
                <a:solidFill>
                  <a:srgbClr val="FFFFFF"/>
                </a:solidFill>
                <a:latin typeface="Arial"/>
                <a:hlinkClick r:id="rId9" action="ppaction://hlinksldjump"/>
              </a:rPr>
              <a:t>Read more</a:t>
            </a:r>
            <a:endParaRPr kumimoji="0" lang="en-US" sz="800" b="1" i="0" strike="noStrike" kern="0" cap="none" spc="0" normalizeH="0" baseline="0" noProof="0">
              <a:ln>
                <a:noFill/>
              </a:ln>
              <a:solidFill>
                <a:srgbClr val="FFFFFF"/>
              </a:solidFill>
              <a:effectLst/>
              <a:uLnTx/>
              <a:uFillTx/>
              <a:latin typeface="Arial"/>
              <a:ea typeface="+mn-ea"/>
              <a:cs typeface="+mn-cs"/>
            </a:endParaRPr>
          </a:p>
        </p:txBody>
      </p:sp>
      <p:pic>
        <p:nvPicPr>
          <p:cNvPr id="5" name="Picture 4">
            <a:extLst>
              <a:ext uri="{FF2B5EF4-FFF2-40B4-BE49-F238E27FC236}">
                <a16:creationId xmlns:a16="http://schemas.microsoft.com/office/drawing/2014/main" id="{641F2CED-B65E-D30A-073C-C932A006F6CB}"/>
              </a:ext>
            </a:extLst>
          </p:cNvPr>
          <p:cNvPicPr>
            <a:picLocks noChangeAspect="1"/>
          </p:cNvPicPr>
          <p:nvPr>
            <p:custDataLst>
              <p:tags r:id="rId2"/>
            </p:custDataLst>
          </p:nvPr>
        </p:nvPicPr>
        <p:blipFill>
          <a:blip r:embed="rId10"/>
          <a:stretch>
            <a:fillRect/>
          </a:stretch>
        </p:blipFill>
        <p:spPr>
          <a:xfrm>
            <a:off x="1927801" y="1322753"/>
            <a:ext cx="3129564" cy="1607637"/>
          </a:xfrm>
          <a:prstGeom prst="rect">
            <a:avLst/>
          </a:prstGeom>
        </p:spPr>
      </p:pic>
      <p:pic>
        <p:nvPicPr>
          <p:cNvPr id="6" name="Picture 5">
            <a:extLst>
              <a:ext uri="{FF2B5EF4-FFF2-40B4-BE49-F238E27FC236}">
                <a16:creationId xmlns:a16="http://schemas.microsoft.com/office/drawing/2014/main" id="{7FFD3630-B749-50A5-3FD4-F94D7B8BA53D}"/>
              </a:ext>
            </a:extLst>
          </p:cNvPr>
          <p:cNvPicPr>
            <a:picLocks noChangeAspect="1"/>
          </p:cNvPicPr>
          <p:nvPr>
            <p:custDataLst>
              <p:tags r:id="rId3"/>
            </p:custDataLst>
          </p:nvPr>
        </p:nvPicPr>
        <p:blipFill>
          <a:blip r:embed="rId11"/>
          <a:stretch>
            <a:fillRect/>
          </a:stretch>
        </p:blipFill>
        <p:spPr>
          <a:xfrm>
            <a:off x="6274860" y="1336704"/>
            <a:ext cx="4817946" cy="1157647"/>
          </a:xfrm>
          <a:prstGeom prst="rect">
            <a:avLst/>
          </a:prstGeom>
        </p:spPr>
      </p:pic>
      <p:grpSp>
        <p:nvGrpSpPr>
          <p:cNvPr id="31" name="Group 30">
            <a:extLst>
              <a:ext uri="{FF2B5EF4-FFF2-40B4-BE49-F238E27FC236}">
                <a16:creationId xmlns:a16="http://schemas.microsoft.com/office/drawing/2014/main" id="{A7CF5306-EC02-11EB-4386-59D9739F72C0}"/>
              </a:ext>
            </a:extLst>
          </p:cNvPr>
          <p:cNvGrpSpPr/>
          <p:nvPr>
            <p:custDataLst>
              <p:tags r:id="rId4"/>
            </p:custDataLst>
          </p:nvPr>
        </p:nvGrpSpPr>
        <p:grpSpPr>
          <a:xfrm>
            <a:off x="995364" y="153170"/>
            <a:ext cx="5841750" cy="195814"/>
            <a:chOff x="995364" y="153170"/>
            <a:chExt cx="5841750" cy="195814"/>
          </a:xfrm>
        </p:grpSpPr>
        <p:sp>
          <p:nvSpPr>
            <p:cNvPr id="32" name="Current Section1">
              <a:hlinkClick r:id="rId12"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3" name="Other Sections2">
              <a:hlinkClick r:id="rId13"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4"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5"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82326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012227"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8"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1482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24491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80EA0198-F2BD-B0DB-2B38-14992D09AD76}"/>
              </a:ext>
            </a:extLst>
          </p:cNvPr>
          <p:cNvSpPr txBox="1"/>
          <p:nvPr/>
        </p:nvSpPr>
        <p:spPr>
          <a:xfrm>
            <a:off x="1004895" y="4447547"/>
            <a:ext cx="3490822" cy="144655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800" b="1">
                <a:latin typeface="Arial" panose="020B0604020202020204" pitchFamily="34" charset="0"/>
                <a:cs typeface="Arial" panose="020B0604020202020204" pitchFamily="34" charset="0"/>
              </a:rPr>
              <a:t>FY21</a:t>
            </a:r>
            <a:r>
              <a:rPr lang="en-US" sz="800" b="1" baseline="0">
                <a:latin typeface="Arial" panose="020B0604020202020204" pitchFamily="34" charset="0"/>
                <a:cs typeface="Arial" panose="020B0604020202020204" pitchFamily="34" charset="0"/>
              </a:rPr>
              <a:t> to FY22, Adjusted EBITDA: </a:t>
            </a:r>
          </a:p>
          <a:p>
            <a:r>
              <a:rPr lang="en-US" sz="800" baseline="0">
                <a:latin typeface="Arial" panose="020B0604020202020204" pitchFamily="34" charset="0"/>
                <a:cs typeface="Arial" panose="020B0604020202020204" pitchFamily="34" charset="0"/>
              </a:rPr>
              <a:t>An increase in revenue from FY21 to FY22 of $8.7 million is attributed to </a:t>
            </a:r>
            <a:r>
              <a:rPr lang="en-US" sz="800">
                <a:latin typeface="Arial" panose="020B0604020202020204" pitchFamily="34" charset="0"/>
                <a:cs typeface="Arial" panose="020B0604020202020204" pitchFamily="34" charset="0"/>
              </a:rPr>
              <a:t>the post Covid-19 </a:t>
            </a:r>
            <a:r>
              <a:rPr lang="en-US" sz="800" baseline="0">
                <a:latin typeface="Arial" panose="020B0604020202020204" pitchFamily="34" charset="0"/>
                <a:cs typeface="Arial" panose="020B0604020202020204" pitchFamily="34" charset="0"/>
              </a:rPr>
              <a:t>consumer and tourism spend, resulting in an increase in transaction volume. Variable expenses increase proportionally with revenue, maintaining a consistent adjusted gross margin of ~76%. Salaries and benefits expense increases with higher base compensation (i.e., ~7.4% </a:t>
            </a:r>
            <a:r>
              <a:rPr lang="en-US" sz="800">
                <a:latin typeface="Arial" panose="020B0604020202020204" pitchFamily="34" charset="0"/>
                <a:cs typeface="Arial" panose="020B0604020202020204" pitchFamily="34" charset="0"/>
              </a:rPr>
              <a:t>increase per full-time equivalent</a:t>
            </a:r>
            <a:r>
              <a:rPr lang="en-US" sz="800" baseline="30000">
                <a:latin typeface="Arial" panose="020B0604020202020204" pitchFamily="34" charset="0"/>
                <a:cs typeface="Arial" panose="020B0604020202020204" pitchFamily="34" charset="0"/>
              </a:rPr>
              <a:t>1</a:t>
            </a:r>
            <a:r>
              <a:rPr lang="en-US" sz="800" baseline="0">
                <a:latin typeface="Arial" panose="020B0604020202020204" pitchFamily="34" charset="0"/>
                <a:cs typeface="Arial" panose="020B0604020202020204" pitchFamily="34" charset="0"/>
              </a:rPr>
              <a:t>) and larger discretionary bonuses (increases from 9.7% to 12.8% of the total compensation). Equipment and software expense, relating to the usage of ACI software for payment solutions, increases along with higher transaction volume.</a:t>
            </a:r>
          </a:p>
          <a:p>
            <a:endParaRPr lang="en-US" sz="800">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FF6FB9F6-601C-0279-E992-CC9FA88A178E}"/>
              </a:ext>
            </a:extLst>
          </p:cNvPr>
          <p:cNvSpPr txBox="1"/>
          <p:nvPr/>
        </p:nvSpPr>
        <p:spPr>
          <a:xfrm>
            <a:off x="8463009" y="4447547"/>
            <a:ext cx="2730591" cy="144655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800" b="1">
                <a:latin typeface="Arial" panose="020B0604020202020204" pitchFamily="34" charset="0"/>
                <a:cs typeface="Arial" panose="020B0604020202020204" pitchFamily="34" charset="0"/>
              </a:rPr>
              <a:t>FY23 to TTM Jun-24</a:t>
            </a:r>
            <a:r>
              <a:rPr lang="en-US" sz="800" b="1" baseline="0">
                <a:latin typeface="Arial" panose="020B0604020202020204" pitchFamily="34" charset="0"/>
                <a:cs typeface="Arial" panose="020B0604020202020204" pitchFamily="34" charset="0"/>
              </a:rPr>
              <a:t>, Adjusted EBITDA:</a:t>
            </a:r>
          </a:p>
          <a:p>
            <a:r>
              <a:rPr lang="en-US" sz="800">
                <a:latin typeface="Arial" panose="020B0604020202020204" pitchFamily="34" charset="0"/>
                <a:cs typeface="Arial" panose="020B0604020202020204" pitchFamily="34" charset="0"/>
              </a:rPr>
              <a:t>Mobile point-of-sale transactions revenue increased by $1.8 million due to increased volume. The increase in merchant acquiring processing transaction volume resulted in higher settlement cash balances, thereby increasing the Company's interest income from overnight settlement cash balances. Remaining revenue growth is due to increased volume in new revenue streams (i.e., E-Hub money transfers – recent implementation, see Quality of Earnings Other Considerations #C).</a:t>
            </a:r>
            <a:endParaRPr lang="en-US" sz="800" baseline="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8098B1D4-44E6-1A23-21F4-8AB59B3F96A2}"/>
              </a:ext>
            </a:extLst>
          </p:cNvPr>
          <p:cNvSpPr txBox="1"/>
          <p:nvPr/>
        </p:nvSpPr>
        <p:spPr>
          <a:xfrm>
            <a:off x="4621645" y="4450132"/>
            <a:ext cx="3708941" cy="144655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800" b="1">
                <a:latin typeface="Arial" panose="020B0604020202020204" pitchFamily="34" charset="0"/>
                <a:cs typeface="Arial" panose="020B0604020202020204" pitchFamily="34" charset="0"/>
              </a:rPr>
              <a:t>FY22 to FY23</a:t>
            </a:r>
            <a:r>
              <a:rPr lang="en-US" sz="800" b="1" baseline="0">
                <a:latin typeface="Arial" panose="020B0604020202020204" pitchFamily="34" charset="0"/>
                <a:cs typeface="Arial" panose="020B0604020202020204" pitchFamily="34" charset="0"/>
              </a:rPr>
              <a:t>, Adjusted EBITDA: </a:t>
            </a:r>
          </a:p>
          <a:p>
            <a:r>
              <a:rPr lang="en-US" sz="800" baseline="0">
                <a:latin typeface="Arial" panose="020B0604020202020204" pitchFamily="34" charset="0"/>
                <a:cs typeface="Arial" panose="020B0604020202020204" pitchFamily="34" charset="0"/>
              </a:rPr>
              <a:t>An increase in processing services revenue is driven by the increase in switching services volume, the rise in professional service projects, and the introduction of new services, including VISA and Mastercard debit card-related transactions, card and fraud management services. Professional services revenue growth is attributed to projects in ATM managed services and card issuance line of businesses (LOBs). Significant projects include: (a) development of anti money laundering (AML) and compliance reporting website for Ficanex (b) implementation projects for new credits unions, and Stripe. An increase in other operating expenses is attributed to the increased use of contracted call center staff to handle increased transaction volume.</a:t>
            </a:r>
          </a:p>
        </p:txBody>
      </p:sp>
      <p:sp>
        <p:nvSpPr>
          <p:cNvPr id="36" name="UpSlide SubSection Marker" hidden="1">
            <a:extLst>
              <a:ext uri="{FF2B5EF4-FFF2-40B4-BE49-F238E27FC236}">
                <a16:creationId xmlns:a16="http://schemas.microsoft.com/office/drawing/2014/main" id="{847D8554-CA23-57B8-A5DD-9BEB28C0DFDB}"/>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Key findings</a:t>
            </a:r>
          </a:p>
        </p:txBody>
      </p:sp>
      <p:sp>
        <p:nvSpPr>
          <p:cNvPr id="28" name="Title 7">
            <a:extLst>
              <a:ext uri="{FF2B5EF4-FFF2-40B4-BE49-F238E27FC236}">
                <a16:creationId xmlns:a16="http://schemas.microsoft.com/office/drawing/2014/main" id="{767D832F-87D0-468F-B2DE-B70AD07BE295}"/>
              </a:ext>
            </a:extLst>
          </p:cNvPr>
          <p:cNvSpPr>
            <a:spLocks noGrp="1"/>
          </p:cNvSpPr>
          <p:nvPr>
            <p:ph type="title"/>
          </p:nvPr>
        </p:nvSpPr>
        <p:spPr>
          <a:xfrm>
            <a:off x="998400" y="431800"/>
            <a:ext cx="10195200" cy="533400"/>
          </a:xfrm>
        </p:spPr>
        <p:txBody>
          <a:bodyPr/>
          <a:lstStyle/>
          <a:p>
            <a:r>
              <a:rPr lang="en-CA">
                <a:solidFill>
                  <a:srgbClr val="00338D"/>
                </a:solidFill>
              </a:rPr>
              <a:t>K</a:t>
            </a:r>
            <a:r>
              <a:rPr lang="en-CA" sz="4400">
                <a:solidFill>
                  <a:srgbClr val="00338D"/>
                </a:solidFill>
              </a:rPr>
              <a:t>ey </a:t>
            </a:r>
            <a:r>
              <a:rPr lang="en-CA">
                <a:solidFill>
                  <a:srgbClr val="00338D"/>
                </a:solidFill>
              </a:rPr>
              <a:t>findings (2/2) </a:t>
            </a:r>
            <a:r>
              <a:rPr lang="en-US" sz="4000"/>
              <a:t>– </a:t>
            </a:r>
            <a:r>
              <a:rPr lang="en-CA">
                <a:solidFill>
                  <a:srgbClr val="00338D"/>
                </a:solidFill>
              </a:rPr>
              <a:t>Adjusted EBITDA</a:t>
            </a:r>
            <a:r>
              <a:rPr lang="en-CA" sz="4400">
                <a:solidFill>
                  <a:srgbClr val="00338D"/>
                </a:solidFill>
              </a:rPr>
              <a:t> margin bridge</a:t>
            </a:r>
            <a:endParaRPr lang="en-US"/>
          </a:p>
        </p:txBody>
      </p:sp>
      <p:sp>
        <p:nvSpPr>
          <p:cNvPr id="8" name="Left Brace 7">
            <a:extLst>
              <a:ext uri="{FF2B5EF4-FFF2-40B4-BE49-F238E27FC236}">
                <a16:creationId xmlns:a16="http://schemas.microsoft.com/office/drawing/2014/main" id="{41CEEFA7-FDDF-22F2-7AD5-1E80D36BCFAC}"/>
              </a:ext>
            </a:extLst>
          </p:cNvPr>
          <p:cNvSpPr/>
          <p:nvPr/>
        </p:nvSpPr>
        <p:spPr>
          <a:xfrm rot="5400000">
            <a:off x="3194283" y="152119"/>
            <a:ext cx="356260" cy="2840090"/>
          </a:xfrm>
          <a:prstGeom prst="leftBrace">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pic>
        <p:nvPicPr>
          <p:cNvPr id="3" name="Picture 2">
            <a:extLst>
              <a:ext uri="{FF2B5EF4-FFF2-40B4-BE49-F238E27FC236}">
                <a16:creationId xmlns:a16="http://schemas.microsoft.com/office/drawing/2014/main" id="{A4E41C51-538E-DADF-33DA-3FA1980F014C}"/>
              </a:ext>
            </a:extLst>
          </p:cNvPr>
          <p:cNvPicPr>
            <a:picLocks noChangeAspect="1"/>
          </p:cNvPicPr>
          <p:nvPr>
            <p:custDataLst>
              <p:tags r:id="rId2"/>
            </p:custDataLst>
          </p:nvPr>
        </p:nvPicPr>
        <p:blipFill>
          <a:blip r:embed="rId6"/>
          <a:stretch>
            <a:fillRect/>
          </a:stretch>
        </p:blipFill>
        <p:spPr>
          <a:xfrm>
            <a:off x="852632" y="1586568"/>
            <a:ext cx="10340969" cy="2677984"/>
          </a:xfrm>
          <a:prstGeom prst="rect">
            <a:avLst/>
          </a:prstGeom>
        </p:spPr>
      </p:pic>
      <p:sp>
        <p:nvSpPr>
          <p:cNvPr id="12" name="Left Brace 11">
            <a:extLst>
              <a:ext uri="{FF2B5EF4-FFF2-40B4-BE49-F238E27FC236}">
                <a16:creationId xmlns:a16="http://schemas.microsoft.com/office/drawing/2014/main" id="{DE513AA4-A23B-0849-2E55-4C6537584A8D}"/>
              </a:ext>
            </a:extLst>
          </p:cNvPr>
          <p:cNvSpPr/>
          <p:nvPr/>
        </p:nvSpPr>
        <p:spPr>
          <a:xfrm rot="5400000">
            <a:off x="6662058" y="-31007"/>
            <a:ext cx="356260" cy="3206341"/>
          </a:xfrm>
          <a:prstGeom prst="leftBrace">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3" name="Left Brace 12">
            <a:extLst>
              <a:ext uri="{FF2B5EF4-FFF2-40B4-BE49-F238E27FC236}">
                <a16:creationId xmlns:a16="http://schemas.microsoft.com/office/drawing/2014/main" id="{016C664B-1D04-4367-897A-86066D5A33CF}"/>
              </a:ext>
            </a:extLst>
          </p:cNvPr>
          <p:cNvSpPr/>
          <p:nvPr/>
        </p:nvSpPr>
        <p:spPr>
          <a:xfrm rot="5400000">
            <a:off x="9555846" y="734573"/>
            <a:ext cx="356260" cy="1675182"/>
          </a:xfrm>
          <a:prstGeom prst="leftBrace">
            <a:avLst>
              <a:gd name="adj1" fmla="val 6666"/>
              <a:gd name="adj2" fmla="val 50000"/>
            </a:avLst>
          </a:prstGeom>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p:sp>
        <p:nvSpPr>
          <p:cNvPr id="14" name="Oval 13">
            <a:extLst>
              <a:ext uri="{FF2B5EF4-FFF2-40B4-BE49-F238E27FC236}">
                <a16:creationId xmlns:a16="http://schemas.microsoft.com/office/drawing/2014/main" id="{87A0F779-A588-448F-29F9-5CE8C27D20BA}"/>
              </a:ext>
            </a:extLst>
          </p:cNvPr>
          <p:cNvSpPr/>
          <p:nvPr/>
        </p:nvSpPr>
        <p:spPr>
          <a:xfrm>
            <a:off x="3281609" y="1142031"/>
            <a:ext cx="218355" cy="205075"/>
          </a:xfrm>
          <a:prstGeom prst="ellips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800" b="1">
                <a:solidFill>
                  <a:schemeClr val="bg1"/>
                </a:solidFill>
              </a:rPr>
              <a:t>1</a:t>
            </a:r>
            <a:endParaRPr lang="en-US" sz="900" b="1">
              <a:solidFill>
                <a:schemeClr val="bg1"/>
              </a:solidFill>
            </a:endParaRPr>
          </a:p>
        </p:txBody>
      </p:sp>
      <p:sp>
        <p:nvSpPr>
          <p:cNvPr id="15" name="Oval 14">
            <a:extLst>
              <a:ext uri="{FF2B5EF4-FFF2-40B4-BE49-F238E27FC236}">
                <a16:creationId xmlns:a16="http://schemas.microsoft.com/office/drawing/2014/main" id="{88E7BDA4-52F7-9F52-2F42-80F008105AD1}"/>
              </a:ext>
            </a:extLst>
          </p:cNvPr>
          <p:cNvSpPr/>
          <p:nvPr/>
        </p:nvSpPr>
        <p:spPr>
          <a:xfrm>
            <a:off x="6731010" y="1142030"/>
            <a:ext cx="218355" cy="205075"/>
          </a:xfrm>
          <a:prstGeom prst="ellips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b="1">
                <a:solidFill>
                  <a:schemeClr val="bg1"/>
                </a:solidFill>
              </a:rPr>
              <a:t>2</a:t>
            </a:r>
          </a:p>
        </p:txBody>
      </p:sp>
      <p:sp>
        <p:nvSpPr>
          <p:cNvPr id="16" name="Oval 15">
            <a:extLst>
              <a:ext uri="{FF2B5EF4-FFF2-40B4-BE49-F238E27FC236}">
                <a16:creationId xmlns:a16="http://schemas.microsoft.com/office/drawing/2014/main" id="{C6B5118C-02B2-ADA3-443D-D0E47AFFB434}"/>
              </a:ext>
            </a:extLst>
          </p:cNvPr>
          <p:cNvSpPr/>
          <p:nvPr/>
        </p:nvSpPr>
        <p:spPr>
          <a:xfrm>
            <a:off x="9624798" y="1142029"/>
            <a:ext cx="218355" cy="205075"/>
          </a:xfrm>
          <a:prstGeom prst="ellips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b="1">
                <a:solidFill>
                  <a:schemeClr val="bg1"/>
                </a:solidFill>
              </a:rPr>
              <a:t>3</a:t>
            </a:r>
          </a:p>
        </p:txBody>
      </p:sp>
      <p:sp>
        <p:nvSpPr>
          <p:cNvPr id="20" name="Oval 19">
            <a:extLst>
              <a:ext uri="{FF2B5EF4-FFF2-40B4-BE49-F238E27FC236}">
                <a16:creationId xmlns:a16="http://schemas.microsoft.com/office/drawing/2014/main" id="{A7DE0B57-A3FD-945B-14A6-91CA6689B7E0}"/>
              </a:ext>
            </a:extLst>
          </p:cNvPr>
          <p:cNvSpPr/>
          <p:nvPr/>
        </p:nvSpPr>
        <p:spPr>
          <a:xfrm>
            <a:off x="837680" y="4289567"/>
            <a:ext cx="218355" cy="205075"/>
          </a:xfrm>
          <a:prstGeom prst="ellips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800" b="1">
                <a:solidFill>
                  <a:schemeClr val="bg1"/>
                </a:solidFill>
              </a:rPr>
              <a:t>1</a:t>
            </a:r>
            <a:endParaRPr lang="en-US" sz="900" b="1">
              <a:solidFill>
                <a:schemeClr val="bg1"/>
              </a:solidFill>
            </a:endParaRPr>
          </a:p>
        </p:txBody>
      </p:sp>
      <p:sp>
        <p:nvSpPr>
          <p:cNvPr id="21" name="Oval 20">
            <a:extLst>
              <a:ext uri="{FF2B5EF4-FFF2-40B4-BE49-F238E27FC236}">
                <a16:creationId xmlns:a16="http://schemas.microsoft.com/office/drawing/2014/main" id="{8DE22FC0-C0D6-54D1-AB37-9FCFB8218D58}"/>
              </a:ext>
            </a:extLst>
          </p:cNvPr>
          <p:cNvSpPr/>
          <p:nvPr/>
        </p:nvSpPr>
        <p:spPr>
          <a:xfrm>
            <a:off x="4505569" y="4283190"/>
            <a:ext cx="218355" cy="205075"/>
          </a:xfrm>
          <a:prstGeom prst="ellips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b="1">
                <a:solidFill>
                  <a:schemeClr val="bg1"/>
                </a:solidFill>
              </a:rPr>
              <a:t>2</a:t>
            </a:r>
          </a:p>
        </p:txBody>
      </p:sp>
      <p:sp>
        <p:nvSpPr>
          <p:cNvPr id="23" name="Oval 22">
            <a:extLst>
              <a:ext uri="{FF2B5EF4-FFF2-40B4-BE49-F238E27FC236}">
                <a16:creationId xmlns:a16="http://schemas.microsoft.com/office/drawing/2014/main" id="{7B603BF2-08C1-F7DB-CA25-834A2E33C1C6}"/>
              </a:ext>
            </a:extLst>
          </p:cNvPr>
          <p:cNvSpPr/>
          <p:nvPr/>
        </p:nvSpPr>
        <p:spPr>
          <a:xfrm>
            <a:off x="8330586" y="4283190"/>
            <a:ext cx="218355" cy="205075"/>
          </a:xfrm>
          <a:prstGeom prst="ellipse">
            <a:avLst/>
          </a:prstGeom>
          <a:solidFill>
            <a:srgbClr val="00338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b="1">
                <a:solidFill>
                  <a:schemeClr val="bg1"/>
                </a:solidFill>
              </a:rPr>
              <a:t>3</a:t>
            </a:r>
          </a:p>
        </p:txBody>
      </p:sp>
      <p:sp>
        <p:nvSpPr>
          <p:cNvPr id="29" name="TextBox 28">
            <a:extLst>
              <a:ext uri="{FF2B5EF4-FFF2-40B4-BE49-F238E27FC236}">
                <a16:creationId xmlns:a16="http://schemas.microsoft.com/office/drawing/2014/main" id="{D9B4D15B-F31E-2123-31BA-806A2017945A}"/>
              </a:ext>
            </a:extLst>
          </p:cNvPr>
          <p:cNvSpPr txBox="1"/>
          <p:nvPr/>
        </p:nvSpPr>
        <p:spPr>
          <a:xfrm>
            <a:off x="981192" y="4416188"/>
            <a:ext cx="3490822" cy="1460738"/>
          </a:xfrm>
          <a:prstGeom prst="rect">
            <a:avLst/>
          </a:prstGeom>
        </p:spPr>
        <p:txBody>
          <a:bodyPr vert="horz" wrap="square" lIns="0" tIns="0" rIns="0" bIns="0" rtlCol="0" anchor="t" anchorCtr="0">
            <a:noAutofit/>
          </a:bodyPr>
          <a:lstStyle/>
          <a:p>
            <a:pPr algn="l">
              <a:spcAft>
                <a:spcPts val="600"/>
              </a:spcAft>
            </a:pPr>
            <a:endParaRPr lang="en-US" sz="1500" b="1">
              <a:solidFill>
                <a:schemeClr val="tx2"/>
              </a:solidFill>
            </a:endParaRPr>
          </a:p>
        </p:txBody>
      </p:sp>
      <p:sp>
        <p:nvSpPr>
          <p:cNvPr id="34" name="Text Placeholder 12">
            <a:extLst>
              <a:ext uri="{FF2B5EF4-FFF2-40B4-BE49-F238E27FC236}">
                <a16:creationId xmlns:a16="http://schemas.microsoft.com/office/drawing/2014/main" id="{7DD7943F-74FF-DDBF-7477-E4C5539661FB}"/>
              </a:ext>
            </a:extLst>
          </p:cNvPr>
          <p:cNvSpPr txBox="1">
            <a:spLocks/>
          </p:cNvSpPr>
          <p:nvPr/>
        </p:nvSpPr>
        <p:spPr>
          <a:xfrm>
            <a:off x="1006325" y="5911793"/>
            <a:ext cx="5215302"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baseline="30000">
                <a:solidFill>
                  <a:schemeClr val="tx2"/>
                </a:solidFill>
                <a:latin typeface="Arial" panose="020B0604020202020204" pitchFamily="34" charset="0"/>
              </a:rPr>
              <a:t>1</a:t>
            </a:r>
            <a:r>
              <a:rPr lang="en-US" sz="600" b="0">
                <a:solidFill>
                  <a:schemeClr val="tx2"/>
                </a:solidFill>
                <a:latin typeface="Arial" panose="020B0604020202020204" pitchFamily="34" charset="0"/>
              </a:rPr>
              <a:t>Calculated based on an average of the ending FTEs for each of the 12 months in the fiscal period.</a:t>
            </a:r>
          </a:p>
          <a:p>
            <a:pPr rtl="0">
              <a:spcAft>
                <a:spcPts val="0"/>
              </a:spcAft>
            </a:pPr>
            <a:r>
              <a:rPr lang="en-US" sz="600" b="0">
                <a:solidFill>
                  <a:schemeClr val="tx2"/>
                </a:solidFill>
                <a:latin typeface="Arial" panose="020B0604020202020204" pitchFamily="34" charset="0"/>
              </a:rPr>
              <a:t>Source (All): Management information, internal financial statements, FY23 audit working papers</a:t>
            </a:r>
          </a:p>
        </p:txBody>
      </p:sp>
      <p:grpSp>
        <p:nvGrpSpPr>
          <p:cNvPr id="26" name="Group 25">
            <a:extLst>
              <a:ext uri="{FF2B5EF4-FFF2-40B4-BE49-F238E27FC236}">
                <a16:creationId xmlns:a16="http://schemas.microsoft.com/office/drawing/2014/main" id="{A7CF5306-EC02-11EB-4386-59D9739F72C0}"/>
              </a:ext>
            </a:extLst>
          </p:cNvPr>
          <p:cNvGrpSpPr/>
          <p:nvPr>
            <p:custDataLst>
              <p:tags r:id="rId3"/>
            </p:custDataLst>
          </p:nvPr>
        </p:nvGrpSpPr>
        <p:grpSpPr>
          <a:xfrm>
            <a:off x="995364" y="153170"/>
            <a:ext cx="5841750" cy="195814"/>
            <a:chOff x="995364" y="153170"/>
            <a:chExt cx="5841750" cy="195814"/>
          </a:xfrm>
        </p:grpSpPr>
        <p:sp>
          <p:nvSpPr>
            <p:cNvPr id="27" name="Current Section1">
              <a:hlinkClick r:id="rId7" action="ppaction://hlinksldjump"/>
              <a:extLst>
                <a:ext uri="{FF2B5EF4-FFF2-40B4-BE49-F238E27FC236}">
                  <a16:creationId xmlns:a16="http://schemas.microsoft.com/office/drawing/2014/main" id="{89A61135-1F00-E77F-7C78-5FBA241A5742}"/>
                </a:ext>
              </a:extLst>
            </p:cNvPr>
            <p:cNvSpPr>
              <a:spLocks/>
            </p:cNvSpPr>
            <p:nvPr/>
          </p:nvSpPr>
          <p:spPr>
            <a:xfrm>
              <a:off x="995364" y="153170"/>
              <a:ext cx="11152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Executive summary</a:t>
              </a:r>
            </a:p>
          </p:txBody>
        </p:sp>
        <p:sp>
          <p:nvSpPr>
            <p:cNvPr id="30"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110588"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3"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3022230"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823265"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5012227"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9"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6148289"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082963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hlinkClick r:id="rId12" action="ppaction://hlinksldjump"/>
            <a:extLst>
              <a:ext uri="{FF2B5EF4-FFF2-40B4-BE49-F238E27FC236}">
                <a16:creationId xmlns:a16="http://schemas.microsoft.com/office/drawing/2014/main" id="{08E6AA5D-210B-2549-F30E-6058AAC4ADAD}"/>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Historical trading</a:t>
            </a:r>
          </a:p>
        </p:txBody>
      </p:sp>
      <p:sp>
        <p:nvSpPr>
          <p:cNvPr id="14" name="TextBox 13">
            <a:hlinkClick r:id="rId13" action="ppaction://hlinksldjump"/>
            <a:extLst>
              <a:ext uri="{FF2B5EF4-FFF2-40B4-BE49-F238E27FC236}">
                <a16:creationId xmlns:a16="http://schemas.microsoft.com/office/drawing/2014/main" id="{8381845F-EE0E-E32B-D5E4-3FF0DB4C5368}"/>
              </a:ext>
            </a:extLst>
          </p:cNvPr>
          <p:cNvSpPr txBox="1"/>
          <p:nvPr>
            <p:custDataLst>
              <p:tags r:id="rId3"/>
            </p:custDataLst>
          </p:nvPr>
        </p:nvSpPr>
        <p:spPr>
          <a:xfrm>
            <a:off x="1806250" y="3566606"/>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Profit &amp; loss overview</a:t>
            </a:r>
          </a:p>
        </p:txBody>
      </p:sp>
      <p:sp>
        <p:nvSpPr>
          <p:cNvPr id="15" name="TextBox 14">
            <a:hlinkClick r:id="rId14" action="ppaction://hlinksldjump"/>
            <a:extLst>
              <a:ext uri="{FF2B5EF4-FFF2-40B4-BE49-F238E27FC236}">
                <a16:creationId xmlns:a16="http://schemas.microsoft.com/office/drawing/2014/main" id="{5B1BDC1F-DA2F-86F1-A69A-E5918F2AED1A}"/>
              </a:ext>
            </a:extLst>
          </p:cNvPr>
          <p:cNvSpPr txBox="1"/>
          <p:nvPr>
            <p:custDataLst>
              <p:tags r:id="rId4"/>
            </p:custDataLst>
          </p:nvPr>
        </p:nvSpPr>
        <p:spPr>
          <a:xfrm>
            <a:off x="1806250" y="3923222"/>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Quality of Earnings</a:t>
            </a:r>
          </a:p>
        </p:txBody>
      </p:sp>
      <p:sp>
        <p:nvSpPr>
          <p:cNvPr id="16" name="TextBox 15">
            <a:hlinkClick r:id="rId12" action="ppaction://hlinksldjump"/>
            <a:extLst>
              <a:ext uri="{FF2B5EF4-FFF2-40B4-BE49-F238E27FC236}">
                <a16:creationId xmlns:a16="http://schemas.microsoft.com/office/drawing/2014/main" id="{F0987BD2-7D0A-8417-A97B-876D3FDDF875}"/>
              </a:ext>
            </a:extLst>
          </p:cNvPr>
          <p:cNvSpPr txBox="1"/>
          <p:nvPr>
            <p:custDataLst>
              <p:tags r:id="rId5"/>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02</a:t>
            </a:r>
          </a:p>
        </p:txBody>
      </p:sp>
      <p:sp>
        <p:nvSpPr>
          <p:cNvPr id="17" name="TextBox 16">
            <a:hlinkClick r:id="rId12" action="ppaction://hlinksldjump"/>
            <a:extLst>
              <a:ext uri="{FF2B5EF4-FFF2-40B4-BE49-F238E27FC236}">
                <a16:creationId xmlns:a16="http://schemas.microsoft.com/office/drawing/2014/main" id="{7E0D4213-E6F2-55CF-8BCB-A5E907B5E3F8}"/>
              </a:ext>
            </a:extLst>
          </p:cNvPr>
          <p:cNvSpPr txBox="1"/>
          <p:nvPr>
            <p:custDataLst>
              <p:tags r:id="rId6"/>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9</a:t>
            </a:r>
          </a:p>
        </p:txBody>
      </p:sp>
      <p:sp>
        <p:nvSpPr>
          <p:cNvPr id="18" name="TextBox 17">
            <a:hlinkClick r:id="rId13" action="ppaction://hlinksldjump"/>
            <a:extLst>
              <a:ext uri="{FF2B5EF4-FFF2-40B4-BE49-F238E27FC236}">
                <a16:creationId xmlns:a16="http://schemas.microsoft.com/office/drawing/2014/main" id="{F1BCF7DE-F93A-1BBC-12AF-87354002C0B6}"/>
              </a:ext>
            </a:extLst>
          </p:cNvPr>
          <p:cNvSpPr txBox="1"/>
          <p:nvPr>
            <p:custDataLst>
              <p:tags r:id="rId7"/>
            </p:custDataLst>
          </p:nvPr>
        </p:nvSpPr>
        <p:spPr bwMode="auto">
          <a:xfrm>
            <a:off x="1332373" y="35666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2.1</a:t>
            </a:r>
          </a:p>
        </p:txBody>
      </p:sp>
      <p:sp>
        <p:nvSpPr>
          <p:cNvPr id="19" name="TextBox 18">
            <a:hlinkClick r:id="rId14" action="ppaction://hlinksldjump"/>
            <a:extLst>
              <a:ext uri="{FF2B5EF4-FFF2-40B4-BE49-F238E27FC236}">
                <a16:creationId xmlns:a16="http://schemas.microsoft.com/office/drawing/2014/main" id="{C3745468-B90B-8BF8-8DC8-FD559514B72E}"/>
              </a:ext>
            </a:extLst>
          </p:cNvPr>
          <p:cNvSpPr txBox="1"/>
          <p:nvPr>
            <p:custDataLst>
              <p:tags r:id="rId8"/>
            </p:custDataLst>
          </p:nvPr>
        </p:nvSpPr>
        <p:spPr bwMode="auto">
          <a:xfrm>
            <a:off x="1332373" y="39232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2.2</a:t>
            </a:r>
          </a:p>
        </p:txBody>
      </p:sp>
      <p:sp>
        <p:nvSpPr>
          <p:cNvPr id="20" name="TextBox 19">
            <a:hlinkClick r:id="rId13" action="ppaction://hlinksldjump"/>
            <a:extLst>
              <a:ext uri="{FF2B5EF4-FFF2-40B4-BE49-F238E27FC236}">
                <a16:creationId xmlns:a16="http://schemas.microsoft.com/office/drawing/2014/main" id="{5A87BDA9-57AF-8B52-E524-4A6B36956D6E}"/>
              </a:ext>
            </a:extLst>
          </p:cNvPr>
          <p:cNvSpPr txBox="1"/>
          <p:nvPr>
            <p:custDataLst>
              <p:tags r:id="rId9"/>
            </p:custDataLst>
          </p:nvPr>
        </p:nvSpPr>
        <p:spPr>
          <a:xfrm>
            <a:off x="6163612" y="3566606"/>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10</a:t>
            </a:r>
          </a:p>
        </p:txBody>
      </p:sp>
      <p:sp>
        <p:nvSpPr>
          <p:cNvPr id="21" name="TextBox 20">
            <a:hlinkClick r:id="rId14" action="ppaction://hlinksldjump"/>
            <a:extLst>
              <a:ext uri="{FF2B5EF4-FFF2-40B4-BE49-F238E27FC236}">
                <a16:creationId xmlns:a16="http://schemas.microsoft.com/office/drawing/2014/main" id="{A74BE998-E93F-4967-6BB2-59F9E7409612}"/>
              </a:ext>
            </a:extLst>
          </p:cNvPr>
          <p:cNvSpPr txBox="1"/>
          <p:nvPr>
            <p:custDataLst>
              <p:tags r:id="rId10"/>
            </p:custDataLst>
          </p:nvPr>
        </p:nvSpPr>
        <p:spPr>
          <a:xfrm>
            <a:off x="6163612" y="392322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12</a:t>
            </a:r>
          </a:p>
        </p:txBody>
      </p:sp>
    </p:spTree>
    <p:custDataLst>
      <p:tags r:id="rId1"/>
    </p:custDataLst>
    <p:extLst>
      <p:ext uri="{BB962C8B-B14F-4D97-AF65-F5344CB8AC3E}">
        <p14:creationId xmlns:p14="http://schemas.microsoft.com/office/powerpoint/2010/main" val="2671633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a:t>Profit &amp; loss overview (1/2)</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65514" y="1055667"/>
            <a:ext cx="10007286" cy="303229"/>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Text Placeholder 48">
            <a:extLst>
              <a:ext uri="{FF2B5EF4-FFF2-40B4-BE49-F238E27FC236}">
                <a16:creationId xmlns:a16="http://schemas.microsoft.com/office/drawing/2014/main" id="{BCC1C531-1495-64D4-B389-A2538DC23600}"/>
              </a:ext>
            </a:extLst>
          </p:cNvPr>
          <p:cNvSpPr txBox="1">
            <a:spLocks/>
          </p:cNvSpPr>
          <p:nvPr/>
        </p:nvSpPr>
        <p:spPr>
          <a:xfrm>
            <a:off x="5266834" y="1612907"/>
            <a:ext cx="5408468" cy="4171506"/>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Tx/>
              <a:buAutoNum type="arabicPeriod"/>
            </a:pPr>
            <a:endParaRPr lang="en-US"/>
          </a:p>
        </p:txBody>
      </p:sp>
      <p:sp>
        <p:nvSpPr>
          <p:cNvPr id="17" name="Text Placeholder 11">
            <a:extLst>
              <a:ext uri="{FF2B5EF4-FFF2-40B4-BE49-F238E27FC236}">
                <a16:creationId xmlns:a16="http://schemas.microsoft.com/office/drawing/2014/main" id="{E05724CF-64CC-217B-AA2B-B5B076FE267C}"/>
              </a:ext>
            </a:extLst>
          </p:cNvPr>
          <p:cNvSpPr txBox="1">
            <a:spLocks/>
          </p:cNvSpPr>
          <p:nvPr/>
        </p:nvSpPr>
        <p:spPr>
          <a:xfrm>
            <a:off x="995362" y="971550"/>
            <a:ext cx="10231123" cy="357925"/>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900">
                <a:solidFill>
                  <a:srgbClr val="510DBC"/>
                </a:solidFill>
              </a:rPr>
              <a:t>Increase in revenue from $40.4 million in FY21 to $68.6 million in TTM Jun-24 is primarily driven by higher transaction volume.</a:t>
            </a:r>
          </a:p>
        </p:txBody>
      </p:sp>
      <p:sp>
        <p:nvSpPr>
          <p:cNvPr id="21" name="Text Placeholder 48">
            <a:extLst>
              <a:ext uri="{FF2B5EF4-FFF2-40B4-BE49-F238E27FC236}">
                <a16:creationId xmlns:a16="http://schemas.microsoft.com/office/drawing/2014/main" id="{56D3E3BF-B562-4262-4819-9E4AC5B8E9AE}"/>
              </a:ext>
            </a:extLst>
          </p:cNvPr>
          <p:cNvSpPr txBox="1">
            <a:spLocks/>
          </p:cNvSpPr>
          <p:nvPr/>
        </p:nvSpPr>
        <p:spPr>
          <a:xfrm>
            <a:off x="5777109" y="1344168"/>
            <a:ext cx="5419527" cy="447394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US" sz="900" b="1" dirty="0">
                <a:solidFill>
                  <a:srgbClr val="00338D"/>
                </a:solidFill>
              </a:rPr>
              <a:t>Overview</a:t>
            </a:r>
          </a:p>
          <a:p>
            <a:pPr marL="171450" lvl="1" indent="-171450">
              <a:buClr>
                <a:schemeClr val="bg1">
                  <a:lumMod val="50000"/>
                </a:schemeClr>
              </a:buClr>
              <a:buFont typeface="Arial" panose="020B0604020202020204" pitchFamily="34" charset="0"/>
              <a:buChar char="•"/>
            </a:pPr>
            <a:r>
              <a:rPr lang="en-US" sz="900" b="1" dirty="0"/>
              <a:t>Revenue:</a:t>
            </a:r>
            <a:r>
              <a:rPr lang="en-US" sz="900" dirty="0"/>
              <a:t> The Company primarily earns revenue through transaction processing services ($37.8 million) and card issuance fees ($8.3 million). Pass through revenue of $6.8 million is netted against $5.7 million of pass through expenses (included in variable expenses). Refer to Gross margin by LOB section for additional details.</a:t>
            </a:r>
          </a:p>
          <a:p>
            <a:pPr marL="171450" lvl="1" indent="-171450">
              <a:buClr>
                <a:schemeClr val="bg1">
                  <a:lumMod val="50000"/>
                </a:schemeClr>
              </a:buClr>
              <a:buFont typeface="Arial" panose="020B0604020202020204" pitchFamily="34" charset="0"/>
              <a:buChar char="•"/>
            </a:pPr>
            <a:r>
              <a:rPr lang="en-US" sz="900" b="1" dirty="0"/>
              <a:t>Variable expense</a:t>
            </a:r>
            <a:r>
              <a:rPr lang="en-US" sz="900" dirty="0"/>
              <a:t>: Variable expenses mainly consist of cost of goods sold (“COGS”) of $9.7 million relating to card manufacturing and personalization and $5.7 million in pass through expenses, relating to payment network fees and card delivery. The Company generated a gross margin of 77.3% in TTM Jun-24.</a:t>
            </a:r>
            <a:endParaRPr lang="en-US" sz="900" b="1" dirty="0">
              <a:solidFill>
                <a:srgbClr val="00338D"/>
              </a:solidFill>
            </a:endParaRPr>
          </a:p>
          <a:p>
            <a:pPr marL="171450" lvl="1" indent="-171450">
              <a:buClr>
                <a:schemeClr val="bg1">
                  <a:lumMod val="50000"/>
                </a:schemeClr>
              </a:buClr>
              <a:buFont typeface="Arial" panose="020B0604020202020204" pitchFamily="34" charset="0"/>
              <a:buChar char="•"/>
            </a:pPr>
            <a:r>
              <a:rPr lang="en-US" sz="900" b="1" dirty="0"/>
              <a:t>Compensation</a:t>
            </a:r>
            <a:r>
              <a:rPr lang="en-US" sz="900" dirty="0"/>
              <a:t>: TTM Jun-24 compensation includes salaries ($12.5 million), bonus ($2.3 million), employer taxes ($916,000), and employee benefits ($882,000). In FY21, the Company received $219,000 in Covid-19 wage subsidies. Please refer to the appendices for further details.</a:t>
            </a:r>
          </a:p>
          <a:p>
            <a:pPr marL="171450" lvl="1" indent="-171450">
              <a:buClr>
                <a:schemeClr val="bg1">
                  <a:lumMod val="50000"/>
                </a:schemeClr>
              </a:buClr>
              <a:buFont typeface="Arial" panose="020B0604020202020204" pitchFamily="34" charset="0"/>
              <a:buChar char="•"/>
            </a:pPr>
            <a:r>
              <a:rPr lang="en-US" sz="900" b="1" dirty="0"/>
              <a:t>Equipment, data processing, infrastructure expense</a:t>
            </a:r>
            <a:r>
              <a:rPr lang="en-US" sz="900" dirty="0"/>
              <a:t>: Primarily consists of equipment &amp; software expense and data processing facility expense. The increase from $5.7 million in FY21 to $8.5 million in TTM Jun-24 is mainly driven by increased ACI software costs from higher transaction volume, HP equipment write-offs and one-time data center relocation costs. Refer to Quality of Earnings (“</a:t>
            </a:r>
            <a:r>
              <a:rPr lang="en-US" sz="900" dirty="0" err="1"/>
              <a:t>QofE</a:t>
            </a:r>
            <a:r>
              <a:rPr lang="en-US" sz="900" dirty="0"/>
              <a:t>”) due diligence adjustment #8 &amp; #9 for details.</a:t>
            </a:r>
          </a:p>
          <a:p>
            <a:pPr marL="171450" lvl="1" indent="-171450">
              <a:buClr>
                <a:schemeClr val="bg1">
                  <a:lumMod val="50000"/>
                </a:schemeClr>
              </a:buClr>
              <a:buFont typeface="Arial" panose="020B0604020202020204" pitchFamily="34" charset="0"/>
              <a:buChar char="•"/>
            </a:pPr>
            <a:r>
              <a:rPr lang="en-US" sz="900" b="1" dirty="0"/>
              <a:t>Contract services:</a:t>
            </a:r>
            <a:r>
              <a:rPr lang="en-US" sz="900" dirty="0"/>
              <a:t> Represents the cost of contract call-center staff, software developers, quality assurance analysts and project managers (~$3.8 million). The remaining amount of ~$0.9 million represents third-party accounting and legal services, as well as internal network administrative fees paid to </a:t>
            </a:r>
            <a:r>
              <a:rPr lang="en-US" sz="900" dirty="0" err="1"/>
              <a:t>Celero</a:t>
            </a:r>
            <a:r>
              <a:rPr lang="en-US" sz="900" dirty="0"/>
              <a:t>. Contract staff costs represents the amortization of capitalized contract </a:t>
            </a:r>
            <a:r>
              <a:rPr lang="en-US" sz="900" dirty="0" err="1"/>
              <a:t>labour</a:t>
            </a:r>
            <a:r>
              <a:rPr lang="en-US" sz="900" dirty="0"/>
              <a:t> costs related to internally developed in-house software, as part of enabling enhanced transaction processing, reporting and security.</a:t>
            </a:r>
          </a:p>
          <a:p>
            <a:pPr marL="171450" lvl="1" indent="-171450">
              <a:buClr>
                <a:schemeClr val="bg1">
                  <a:lumMod val="50000"/>
                </a:schemeClr>
              </a:buClr>
              <a:buFont typeface="Arial" panose="020B0604020202020204" pitchFamily="34" charset="0"/>
              <a:buChar char="•"/>
            </a:pPr>
            <a:r>
              <a:rPr lang="en-US" sz="900" b="1" dirty="0"/>
              <a:t>Depreciation and amortization expense</a:t>
            </a:r>
            <a:r>
              <a:rPr lang="en-US" sz="900" dirty="0"/>
              <a:t>: Consists of $1.0 million in depreciation for property, equipment and the corporate office. Amortization of $2.0 million relates to internally and externally developed software. This entire balance is definitionally adjusted from EBITDA.</a:t>
            </a:r>
          </a:p>
          <a:p>
            <a:pPr marL="171450" lvl="1" indent="-171450">
              <a:buClr>
                <a:schemeClr val="bg1">
                  <a:lumMod val="50000"/>
                </a:schemeClr>
              </a:buClr>
              <a:buFont typeface="Arial" panose="020B0604020202020204" pitchFamily="34" charset="0"/>
              <a:buChar char="•"/>
            </a:pPr>
            <a:r>
              <a:rPr lang="en-US" sz="900" b="1" dirty="0"/>
              <a:t>Occupancy and office expense:</a:t>
            </a:r>
            <a:r>
              <a:rPr lang="en-US" sz="900" dirty="0"/>
              <a:t> Consists of $325,000 in rent occupancy operating costs for the corporate office location and $266,000 in office telecom, cellular, and email costs. Refer to the appendices for a lease summary and reconciliation of lease expense incurred, compared to lease agreement terms. As the Company adopted IFRS 16, the rent related to the office lease is excluded from reported EBITDA and is recognized in depreciation expense. </a:t>
            </a:r>
          </a:p>
        </p:txBody>
      </p:sp>
      <p:sp>
        <p:nvSpPr>
          <p:cNvPr id="28" name="Text Placeholder 12">
            <a:extLst>
              <a:ext uri="{FF2B5EF4-FFF2-40B4-BE49-F238E27FC236}">
                <a16:creationId xmlns:a16="http://schemas.microsoft.com/office/drawing/2014/main" id="{A39B6DEC-DD3F-C958-2A52-AEF764660D71}"/>
              </a:ext>
            </a:extLst>
          </p:cNvPr>
          <p:cNvSpPr txBox="1">
            <a:spLocks/>
          </p:cNvSpPr>
          <p:nvPr/>
        </p:nvSpPr>
        <p:spPr>
          <a:xfrm>
            <a:off x="1006421" y="4899169"/>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pic>
        <p:nvPicPr>
          <p:cNvPr id="14" name="Picture 13">
            <a:extLst>
              <a:ext uri="{FF2B5EF4-FFF2-40B4-BE49-F238E27FC236}">
                <a16:creationId xmlns:a16="http://schemas.microsoft.com/office/drawing/2014/main" id="{98C72E3D-9B56-E8E9-3353-10EC1FAA5C88}"/>
              </a:ext>
            </a:extLst>
          </p:cNvPr>
          <p:cNvPicPr>
            <a:picLocks noChangeAspect="1"/>
          </p:cNvPicPr>
          <p:nvPr>
            <p:custDataLst>
              <p:tags r:id="rId4"/>
            </p:custDataLst>
          </p:nvPr>
        </p:nvPicPr>
        <p:blipFill>
          <a:blip r:embed="rId7"/>
          <a:stretch>
            <a:fillRect/>
          </a:stretch>
        </p:blipFill>
        <p:spPr>
          <a:xfrm>
            <a:off x="995362" y="1329473"/>
            <a:ext cx="4653504" cy="3569696"/>
          </a:xfrm>
          <a:prstGeom prst="rect">
            <a:avLst/>
          </a:prstGeom>
        </p:spPr>
      </p:pic>
      <p:grpSp>
        <p:nvGrpSpPr>
          <p:cNvPr id="34" name="Group 33">
            <a:extLst>
              <a:ext uri="{FF2B5EF4-FFF2-40B4-BE49-F238E27FC236}">
                <a16:creationId xmlns:a16="http://schemas.microsoft.com/office/drawing/2014/main" id="{AFAB46EE-DAB0-0112-F66D-5EEAE0695AA2}"/>
              </a:ext>
            </a:extLst>
          </p:cNvPr>
          <p:cNvGrpSpPr/>
          <p:nvPr>
            <p:custDataLst>
              <p:tags r:id="rId5"/>
            </p:custDataLst>
          </p:nvPr>
        </p:nvGrpSpPr>
        <p:grpSpPr>
          <a:xfrm>
            <a:off x="995364" y="153170"/>
            <a:ext cx="5849764" cy="195814"/>
            <a:chOff x="995364" y="153170"/>
            <a:chExt cx="5849764" cy="195814"/>
          </a:xfrm>
        </p:grpSpPr>
        <p:sp>
          <p:nvSpPr>
            <p:cNvPr id="27"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9"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0"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1"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2"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3"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558056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a:t>Profit &amp; loss overview (2/2)</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Profit &amp; loss overview</a:t>
            </a: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0" name="Text Placeholder 11">
            <a:extLst>
              <a:ext uri="{FF2B5EF4-FFF2-40B4-BE49-F238E27FC236}">
                <a16:creationId xmlns:a16="http://schemas.microsoft.com/office/drawing/2014/main" id="{7C5DFCB5-4233-6F14-9505-AAF0D13C097B}"/>
              </a:ext>
            </a:extLst>
          </p:cNvPr>
          <p:cNvSpPr txBox="1">
            <a:spLocks/>
          </p:cNvSpPr>
          <p:nvPr/>
        </p:nvSpPr>
        <p:spPr>
          <a:xfrm>
            <a:off x="965514" y="1055667"/>
            <a:ext cx="10007286" cy="303229"/>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 name="Text Placeholder 48">
            <a:extLst>
              <a:ext uri="{FF2B5EF4-FFF2-40B4-BE49-F238E27FC236}">
                <a16:creationId xmlns:a16="http://schemas.microsoft.com/office/drawing/2014/main" id="{BCC1C531-1495-64D4-B389-A2538DC23600}"/>
              </a:ext>
            </a:extLst>
          </p:cNvPr>
          <p:cNvSpPr txBox="1">
            <a:spLocks/>
          </p:cNvSpPr>
          <p:nvPr/>
        </p:nvSpPr>
        <p:spPr>
          <a:xfrm>
            <a:off x="5266834" y="1612907"/>
            <a:ext cx="5408468" cy="4171506"/>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Tx/>
              <a:buAutoNum type="arabicPeriod"/>
            </a:pPr>
            <a:endParaRPr lang="en-US"/>
          </a:p>
        </p:txBody>
      </p:sp>
      <p:sp>
        <p:nvSpPr>
          <p:cNvPr id="17" name="Text Placeholder 11">
            <a:extLst>
              <a:ext uri="{FF2B5EF4-FFF2-40B4-BE49-F238E27FC236}">
                <a16:creationId xmlns:a16="http://schemas.microsoft.com/office/drawing/2014/main" id="{E05724CF-64CC-217B-AA2B-B5B076FE267C}"/>
              </a:ext>
            </a:extLst>
          </p:cNvPr>
          <p:cNvSpPr txBox="1">
            <a:spLocks/>
          </p:cNvSpPr>
          <p:nvPr/>
        </p:nvSpPr>
        <p:spPr>
          <a:xfrm>
            <a:off x="929777" y="942001"/>
            <a:ext cx="10118755" cy="460800"/>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a:p>
        </p:txBody>
      </p:sp>
      <p:sp>
        <p:nvSpPr>
          <p:cNvPr id="21" name="Text Placeholder 48">
            <a:extLst>
              <a:ext uri="{FF2B5EF4-FFF2-40B4-BE49-F238E27FC236}">
                <a16:creationId xmlns:a16="http://schemas.microsoft.com/office/drawing/2014/main" id="{56D3E3BF-B562-4262-4819-9E4AC5B8E9AE}"/>
              </a:ext>
            </a:extLst>
          </p:cNvPr>
          <p:cNvSpPr txBox="1">
            <a:spLocks/>
          </p:cNvSpPr>
          <p:nvPr/>
        </p:nvSpPr>
        <p:spPr>
          <a:xfrm>
            <a:off x="5777110" y="1344168"/>
            <a:ext cx="5449376" cy="447394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US" sz="900" b="1">
                <a:solidFill>
                  <a:srgbClr val="00338D"/>
                </a:solidFill>
              </a:rPr>
              <a:t>Overview (continued)</a:t>
            </a:r>
          </a:p>
          <a:p>
            <a:pPr marL="171450" lvl="1" indent="-171450">
              <a:buClr>
                <a:schemeClr val="bg1">
                  <a:lumMod val="50000"/>
                </a:schemeClr>
              </a:buClr>
              <a:buFont typeface="Arial" panose="020B0604020202020204" pitchFamily="34" charset="0"/>
              <a:buChar char="•"/>
            </a:pPr>
            <a:r>
              <a:rPr lang="en-US" sz="900" b="1"/>
              <a:t>Other expense:</a:t>
            </a:r>
          </a:p>
          <a:p>
            <a:pPr marL="352425" lvl="2" indent="-171450">
              <a:buClr>
                <a:schemeClr val="bg1">
                  <a:lumMod val="50000"/>
                </a:schemeClr>
              </a:buClr>
            </a:pPr>
            <a:r>
              <a:rPr lang="en-US" sz="900" b="1"/>
              <a:t>Other expense</a:t>
            </a:r>
            <a:r>
              <a:rPr lang="en-US" sz="900"/>
              <a:t>: Consists of $774,000 in insurance expense, which increased from $261,000 in FY21.  This increase is primarily attributable to the Cyber and E&amp;O insurance policies. The remaining amount of $185,000 relates to HST/GST sales tax.</a:t>
            </a:r>
            <a:endParaRPr lang="en-US" sz="1600"/>
          </a:p>
          <a:p>
            <a:pPr marL="352425" lvl="2" indent="-171450">
              <a:buClr>
                <a:schemeClr val="bg1">
                  <a:lumMod val="50000"/>
                </a:schemeClr>
              </a:buClr>
            </a:pPr>
            <a:r>
              <a:rPr lang="en-US" sz="900" b="1"/>
              <a:t>Discretionary expense</a:t>
            </a:r>
            <a:r>
              <a:rPr lang="en-US" sz="900"/>
              <a:t>: Consists of marketing ($183,000), employee training ($128,000), and business travel expenses ($42,000). Remaining balances relate to industry association membership dues, employee recruitment, and employee engagement and welfare expenses.</a:t>
            </a:r>
          </a:p>
          <a:p>
            <a:pPr marL="352425" lvl="2" indent="-171450">
              <a:buClr>
                <a:schemeClr val="bg1">
                  <a:lumMod val="50000"/>
                </a:schemeClr>
              </a:buClr>
            </a:pPr>
            <a:r>
              <a:rPr lang="en-US" sz="900" b="1"/>
              <a:t>Capitalized development costs</a:t>
            </a:r>
            <a:r>
              <a:rPr lang="en-US" sz="900"/>
              <a:t>: Relates to internally capitalized costs for internally developed software assets. A majority of this balance comprises of labour costs, which are calculated based on an employee’s capitalization rate (determined by the VP Finance based on the employee’s salary and position) and hours tracked. Once a project is complete, capitalized costs are amortized over the expected useful life (typically three to five years).</a:t>
            </a:r>
          </a:p>
          <a:p>
            <a:pPr marL="171450" lvl="1" indent="-171450">
              <a:buClr>
                <a:schemeClr val="bg1">
                  <a:lumMod val="50000"/>
                </a:schemeClr>
              </a:buClr>
              <a:buFont typeface="Arial" panose="020B0604020202020204" pitchFamily="34" charset="0"/>
              <a:buChar char="•"/>
            </a:pPr>
            <a:r>
              <a:rPr lang="en-US" sz="900" b="1"/>
              <a:t>Interest income: </a:t>
            </a:r>
            <a:r>
              <a:rPr lang="en-US" sz="900"/>
              <a:t>Includes interest income earned on overnight settlement cash balances as well as interest income earned on cash within the Company’s bank accounts. Refer to QofE due diligence adjustment #2 for further details.</a:t>
            </a:r>
          </a:p>
          <a:p>
            <a:pPr marL="171450" lvl="1" indent="-171450">
              <a:buClr>
                <a:schemeClr val="bg1">
                  <a:lumMod val="50000"/>
                </a:schemeClr>
              </a:buClr>
              <a:buFont typeface="Arial" panose="020B0604020202020204" pitchFamily="34" charset="0"/>
              <a:buChar char="•"/>
            </a:pPr>
            <a:r>
              <a:rPr lang="en-US" sz="900" b="1"/>
              <a:t>Interest expense: </a:t>
            </a:r>
            <a:r>
              <a:rPr lang="en-US" sz="900"/>
              <a:t>Primarily comprises of interest expense incurred on the Company’s finance leases. Refer to QofE other considerations A for the quantified cash rent impact on EBITDA.</a:t>
            </a:r>
          </a:p>
          <a:p>
            <a:pPr marL="171450" lvl="1" indent="-171450">
              <a:buClr>
                <a:schemeClr val="bg1">
                  <a:lumMod val="50000"/>
                </a:schemeClr>
              </a:buClr>
              <a:buFont typeface="Arial" panose="020B0604020202020204" pitchFamily="34" charset="0"/>
              <a:buChar char="•"/>
            </a:pPr>
            <a:r>
              <a:rPr lang="en-US" sz="900" b="1"/>
              <a:t>Other comprehensive income:</a:t>
            </a:r>
            <a:r>
              <a:rPr lang="en-US" sz="900"/>
              <a:t> $155,000 in FY21 relates to the unrealized fair value adjustment, net of tax, in Interac Corp. The Company elected to recognize this investment at FVTOCI.</a:t>
            </a:r>
            <a:endParaRPr lang="en-US"/>
          </a:p>
        </p:txBody>
      </p:sp>
      <p:sp>
        <p:nvSpPr>
          <p:cNvPr id="16" name="Text Placeholder 11">
            <a:extLst>
              <a:ext uri="{FF2B5EF4-FFF2-40B4-BE49-F238E27FC236}">
                <a16:creationId xmlns:a16="http://schemas.microsoft.com/office/drawing/2014/main" id="{25BE7F7C-327C-FFA3-8A21-834C5305C6CB}"/>
              </a:ext>
            </a:extLst>
          </p:cNvPr>
          <p:cNvSpPr txBox="1">
            <a:spLocks/>
          </p:cNvSpPr>
          <p:nvPr/>
        </p:nvSpPr>
        <p:spPr>
          <a:xfrm>
            <a:off x="995362" y="971550"/>
            <a:ext cx="10231123" cy="357925"/>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900">
                <a:solidFill>
                  <a:srgbClr val="510DBC"/>
                </a:solidFill>
              </a:rPr>
              <a:t>Increase in revenue from $40.4 million in FY21 to $68.6 million in TTM Jun-24 is primarily driven by higher transaction volume.</a:t>
            </a:r>
          </a:p>
        </p:txBody>
      </p:sp>
      <p:sp>
        <p:nvSpPr>
          <p:cNvPr id="7" name="Text Placeholder 12">
            <a:extLst>
              <a:ext uri="{FF2B5EF4-FFF2-40B4-BE49-F238E27FC236}">
                <a16:creationId xmlns:a16="http://schemas.microsoft.com/office/drawing/2014/main" id="{FD77FB87-0CAA-C575-4F00-6AAEB855865B}"/>
              </a:ext>
            </a:extLst>
          </p:cNvPr>
          <p:cNvSpPr txBox="1">
            <a:spLocks/>
          </p:cNvSpPr>
          <p:nvPr/>
        </p:nvSpPr>
        <p:spPr>
          <a:xfrm>
            <a:off x="1006421" y="4899169"/>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pic>
        <p:nvPicPr>
          <p:cNvPr id="19" name="Picture 18">
            <a:extLst>
              <a:ext uri="{FF2B5EF4-FFF2-40B4-BE49-F238E27FC236}">
                <a16:creationId xmlns:a16="http://schemas.microsoft.com/office/drawing/2014/main" id="{B915EF71-328E-EFB5-E738-DFE3A3C7F6C3}"/>
              </a:ext>
            </a:extLst>
          </p:cNvPr>
          <p:cNvPicPr>
            <a:picLocks noChangeAspect="1"/>
          </p:cNvPicPr>
          <p:nvPr>
            <p:custDataLst>
              <p:tags r:id="rId4"/>
            </p:custDataLst>
          </p:nvPr>
        </p:nvPicPr>
        <p:blipFill>
          <a:blip r:embed="rId7"/>
          <a:stretch>
            <a:fillRect/>
          </a:stretch>
        </p:blipFill>
        <p:spPr>
          <a:xfrm>
            <a:off x="995362" y="1329473"/>
            <a:ext cx="4653504" cy="3569696"/>
          </a:xfrm>
          <a:prstGeom prst="rect">
            <a:avLst/>
          </a:prstGeom>
        </p:spPr>
      </p:pic>
      <p:grpSp>
        <p:nvGrpSpPr>
          <p:cNvPr id="29" name="Group 28">
            <a:extLst>
              <a:ext uri="{FF2B5EF4-FFF2-40B4-BE49-F238E27FC236}">
                <a16:creationId xmlns:a16="http://schemas.microsoft.com/office/drawing/2014/main" id="{AFAB46EE-DAB0-0112-F66D-5EEAE0695AA2}"/>
              </a:ext>
            </a:extLst>
          </p:cNvPr>
          <p:cNvGrpSpPr/>
          <p:nvPr>
            <p:custDataLst>
              <p:tags r:id="rId5"/>
            </p:custDataLst>
          </p:nvPr>
        </p:nvGrpSpPr>
        <p:grpSpPr>
          <a:xfrm>
            <a:off x="995364" y="153170"/>
            <a:ext cx="5849764" cy="195814"/>
            <a:chOff x="995364" y="153170"/>
            <a:chExt cx="5849764" cy="195814"/>
          </a:xfrm>
        </p:grpSpPr>
        <p:sp>
          <p:nvSpPr>
            <p:cNvPr id="30"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1"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2"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3"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4"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5"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34236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092A8DA-FE0C-9D5A-C344-B983C65740BE}"/>
              </a:ext>
            </a:extLst>
          </p:cNvPr>
          <p:cNvPicPr>
            <a:picLocks noChangeAspect="1"/>
          </p:cNvPicPr>
          <p:nvPr>
            <p:custDataLst>
              <p:tags r:id="rId1"/>
            </p:custDataLst>
          </p:nvPr>
        </p:nvPicPr>
        <p:blipFill>
          <a:blip r:embed="rId8"/>
          <a:stretch>
            <a:fillRect/>
          </a:stretch>
        </p:blipFill>
        <p:spPr>
          <a:xfrm>
            <a:off x="995363" y="1338135"/>
            <a:ext cx="3759200" cy="2741883"/>
          </a:xfrm>
          <a:prstGeom prst="rect">
            <a:avLst/>
          </a:prstGeom>
        </p:spPr>
      </p:pic>
      <p:sp>
        <p:nvSpPr>
          <p:cNvPr id="36" name="UpSlide SubSection Marker" hidden="1">
            <a:extLst>
              <a:ext uri="{FF2B5EF4-FFF2-40B4-BE49-F238E27FC236}">
                <a16:creationId xmlns:a16="http://schemas.microsoft.com/office/drawing/2014/main" id="{41EB2B66-0683-8694-48CE-C4864682DA43}"/>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Quality of Earnings</a:t>
            </a:r>
          </a:p>
        </p:txBody>
      </p:sp>
      <p:sp>
        <p:nvSpPr>
          <p:cNvPr id="3" name="Rounded Rectangle 7">
            <a:extLst>
              <a:ext uri="{FF2B5EF4-FFF2-40B4-BE49-F238E27FC236}">
                <a16:creationId xmlns:a16="http://schemas.microsoft.com/office/drawing/2014/main" id="{D65DA495-5006-AB06-6B21-89AB214363B1}"/>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4" name="Title 1">
            <a:extLst>
              <a:ext uri="{FF2B5EF4-FFF2-40B4-BE49-F238E27FC236}">
                <a16:creationId xmlns:a16="http://schemas.microsoft.com/office/drawing/2014/main" id="{5266441E-1D01-624B-3D87-6FE9E5680798}"/>
              </a:ext>
            </a:extLst>
          </p:cNvPr>
          <p:cNvSpPr>
            <a:spLocks noGrp="1"/>
          </p:cNvSpPr>
          <p:nvPr>
            <p:ph type="title"/>
          </p:nvPr>
        </p:nvSpPr>
        <p:spPr>
          <a:xfrm>
            <a:off x="995362" y="431800"/>
            <a:ext cx="10204452" cy="539750"/>
          </a:xfrm>
        </p:spPr>
        <p:txBody>
          <a:bodyPr/>
          <a:lstStyle/>
          <a:p>
            <a:r>
              <a:rPr lang="en-US"/>
              <a:t>Quality of earnings (1/16) </a:t>
            </a:r>
            <a:r>
              <a:rPr lang="en-US" sz="4000"/>
              <a:t>– </a:t>
            </a:r>
            <a:r>
              <a:rPr lang="en-US"/>
              <a:t>Overview</a:t>
            </a:r>
          </a:p>
        </p:txBody>
      </p:sp>
      <p:sp>
        <p:nvSpPr>
          <p:cNvPr id="15" name="Text Placeholder 11">
            <a:extLst>
              <a:ext uri="{FF2B5EF4-FFF2-40B4-BE49-F238E27FC236}">
                <a16:creationId xmlns:a16="http://schemas.microsoft.com/office/drawing/2014/main" id="{FAFB2369-3B9B-27A2-6C1D-0A503C47B097}"/>
              </a:ext>
            </a:extLst>
          </p:cNvPr>
          <p:cNvSpPr txBox="1">
            <a:spLocks/>
          </p:cNvSpPr>
          <p:nvPr/>
        </p:nvSpPr>
        <p:spPr>
          <a:xfrm>
            <a:off x="929777" y="942001"/>
            <a:ext cx="10118755" cy="460800"/>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1000">
                <a:solidFill>
                  <a:srgbClr val="510DBC"/>
                </a:solidFill>
              </a:rPr>
              <a:t>TTM </a:t>
            </a:r>
            <a:r>
              <a:rPr lang="en-US">
                <a:solidFill>
                  <a:srgbClr val="510DBC"/>
                </a:solidFill>
              </a:rPr>
              <a:t>Jun</a:t>
            </a:r>
            <a:r>
              <a:rPr lang="en-US" sz="1000">
                <a:solidFill>
                  <a:srgbClr val="510DBC"/>
                </a:solidFill>
              </a:rPr>
              <a:t>-24 reported EBITDA of $22.3 million decreases to $22.0 million after due diligence and pro forma adjustments.</a:t>
            </a:r>
            <a:endParaRPr lang="en-US">
              <a:solidFill>
                <a:srgbClr val="510DBC"/>
              </a:solidFill>
            </a:endParaRPr>
          </a:p>
        </p:txBody>
      </p:sp>
      <p:sp>
        <p:nvSpPr>
          <p:cNvPr id="16" name="Text Placeholder 48">
            <a:extLst>
              <a:ext uri="{FF2B5EF4-FFF2-40B4-BE49-F238E27FC236}">
                <a16:creationId xmlns:a16="http://schemas.microsoft.com/office/drawing/2014/main" id="{BFF12149-36DA-8027-10A1-66A82278377B}"/>
              </a:ext>
            </a:extLst>
          </p:cNvPr>
          <p:cNvSpPr txBox="1">
            <a:spLocks/>
          </p:cNvSpPr>
          <p:nvPr/>
        </p:nvSpPr>
        <p:spPr>
          <a:xfrm>
            <a:off x="5048251" y="1612900"/>
            <a:ext cx="5874381" cy="365278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US" sz="900" b="1">
                <a:solidFill>
                  <a:srgbClr val="00338D"/>
                </a:solidFill>
              </a:rPr>
              <a:t>Basis of presentation</a:t>
            </a:r>
          </a:p>
          <a:p>
            <a:pPr lvl="1"/>
            <a:r>
              <a:rPr lang="en-US" sz="900"/>
              <a:t>The adjacent Quality of Earnings schedule illustrates due diligence and pro forma adjustments and other factors to be considered which are identified for the fiscal year ended December 31, 2021, December 31, 2022, December 31, 2023 and TTM period ended June 30, 2024. </a:t>
            </a:r>
          </a:p>
          <a:p>
            <a:pPr lvl="1"/>
            <a:r>
              <a:rPr lang="en-US" sz="900"/>
              <a:t>The proposed adjustments are not necessarily all-inclusive and are based on Management provided information. The validity of these potential adjustments and other factors raised for your consideration may require further investigation to understand the potential impact on your valuation model.</a:t>
            </a:r>
          </a:p>
          <a:p>
            <a:pPr lvl="1"/>
            <a:r>
              <a:rPr lang="en-US" sz="900" b="1">
                <a:solidFill>
                  <a:srgbClr val="00338D"/>
                </a:solidFill>
              </a:rPr>
              <a:t>Adjustments</a:t>
            </a:r>
          </a:p>
          <a:p>
            <a:pPr marL="171450" lvl="1" indent="-171450">
              <a:buClr>
                <a:schemeClr val="bg1">
                  <a:lumMod val="50000"/>
                </a:schemeClr>
              </a:buClr>
              <a:buFont typeface="Arial" panose="020B0604020202020204" pitchFamily="34" charset="0"/>
              <a:buChar char="•"/>
            </a:pPr>
            <a:r>
              <a:rPr lang="en-US" sz="900"/>
              <a:t>The nature of the adjustments included in the quality of earnings analysis are listed below:</a:t>
            </a:r>
          </a:p>
          <a:p>
            <a:pPr marL="342900" lvl="3" indent="-171450" defTabSz="914377"/>
            <a:r>
              <a:rPr lang="en-US" sz="900" b="1"/>
              <a:t>EBITDA, reported</a:t>
            </a:r>
            <a:r>
              <a:rPr lang="en-US" sz="900"/>
              <a:t>: Represents the reported net income adjusted for the definitional adjustments of interest, income taxes, depreciation and amortization and other comprehensive income; </a:t>
            </a:r>
          </a:p>
          <a:p>
            <a:pPr marL="342900" lvl="3" indent="-171450" defTabSz="914377"/>
            <a:r>
              <a:rPr lang="en-US" sz="900" b="1"/>
              <a:t>Due diligence adjustments:</a:t>
            </a:r>
            <a:r>
              <a:rPr lang="en-US" sz="900"/>
              <a:t> Incremental adjustments</a:t>
            </a:r>
            <a:r>
              <a:rPr lang="en-US" sz="900">
                <a:solidFill>
                  <a:srgbClr val="FF0000"/>
                </a:solidFill>
              </a:rPr>
              <a:t> </a:t>
            </a:r>
            <a:r>
              <a:rPr lang="en-US" sz="900"/>
              <a:t>identified through due diligence to normalize earnings for non-recurring and non-operating items; and </a:t>
            </a:r>
          </a:p>
          <a:p>
            <a:pPr marL="342900" lvl="3" indent="-171450" defTabSz="914377"/>
            <a:r>
              <a:rPr lang="en-US" sz="900" b="1"/>
              <a:t>Pro forma adjustments: </a:t>
            </a:r>
            <a:r>
              <a:rPr lang="en-US" sz="900"/>
              <a:t>Indicative run rate adjustments to consider changes in the business operations that may impact revenue and EBITDA accordingly. </a:t>
            </a:r>
          </a:p>
          <a:p>
            <a:pPr marL="171450" lvl="1" indent="-171450" defTabSz="914377">
              <a:buClr>
                <a:schemeClr val="bg1">
                  <a:lumMod val="50000"/>
                </a:schemeClr>
              </a:buClr>
              <a:buFont typeface="Arial" panose="020B0604020202020204" pitchFamily="34" charset="0"/>
              <a:buChar char="•"/>
            </a:pPr>
            <a:r>
              <a:rPr lang="en-US" sz="900"/>
              <a:t>Certain other items which may impact historical and future EBITDA are also identified during the due diligence process. See ‘other considerations’ for further details.</a:t>
            </a:r>
            <a:endParaRPr lang="en-US" sz="900" b="1">
              <a:solidFill>
                <a:srgbClr val="00338D"/>
              </a:solidFill>
            </a:endParaRPr>
          </a:p>
        </p:txBody>
      </p:sp>
      <p:sp>
        <p:nvSpPr>
          <p:cNvPr id="7" name="Text Placeholder 12">
            <a:extLst>
              <a:ext uri="{FF2B5EF4-FFF2-40B4-BE49-F238E27FC236}">
                <a16:creationId xmlns:a16="http://schemas.microsoft.com/office/drawing/2014/main" id="{060695C2-4BE5-64C1-B1EE-2AE07592FFBA}"/>
              </a:ext>
            </a:extLst>
          </p:cNvPr>
          <p:cNvSpPr txBox="1">
            <a:spLocks/>
          </p:cNvSpPr>
          <p:nvPr/>
        </p:nvSpPr>
        <p:spPr>
          <a:xfrm>
            <a:off x="995363" y="6020381"/>
            <a:ext cx="3759200"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a:p>
            <a:pPr rtl="0">
              <a:spcAft>
                <a:spcPts val="0"/>
              </a:spcAft>
            </a:pPr>
            <a:r>
              <a:rPr lang="en-US" sz="600" b="0">
                <a:solidFill>
                  <a:schemeClr val="tx2"/>
                </a:solidFill>
                <a:latin typeface="Arial" panose="020B0604020202020204" pitchFamily="34" charset="0"/>
              </a:rPr>
              <a:t>Note: Refer to the Appendix for a bridge from TTM Apr-24 to TTM Jun-24 pro forma adjusted EBITDA</a:t>
            </a:r>
          </a:p>
        </p:txBody>
      </p:sp>
      <p:sp>
        <p:nvSpPr>
          <p:cNvPr id="6" name="Text Placeholder 25">
            <a:extLst>
              <a:ext uri="{FF2B5EF4-FFF2-40B4-BE49-F238E27FC236}">
                <a16:creationId xmlns:a16="http://schemas.microsoft.com/office/drawing/2014/main" id="{499BB126-CC2D-A028-7D7D-EB680BE2B44D}"/>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Overview</a:t>
            </a:r>
          </a:p>
        </p:txBody>
      </p:sp>
      <p:pic>
        <p:nvPicPr>
          <p:cNvPr id="12" name="Picture 11">
            <a:extLst>
              <a:ext uri="{FF2B5EF4-FFF2-40B4-BE49-F238E27FC236}">
                <a16:creationId xmlns:a16="http://schemas.microsoft.com/office/drawing/2014/main" id="{DBE123BF-5C10-1F2E-CD7B-EFF05CAE45E5}"/>
              </a:ext>
            </a:extLst>
          </p:cNvPr>
          <p:cNvPicPr>
            <a:picLocks noChangeAspect="1"/>
          </p:cNvPicPr>
          <p:nvPr>
            <p:custDataLst>
              <p:tags r:id="rId5"/>
            </p:custDataLst>
          </p:nvPr>
        </p:nvPicPr>
        <p:blipFill>
          <a:blip r:embed="rId9"/>
          <a:stretch>
            <a:fillRect/>
          </a:stretch>
        </p:blipFill>
        <p:spPr>
          <a:xfrm>
            <a:off x="937178" y="4076132"/>
            <a:ext cx="3533110" cy="1930872"/>
          </a:xfrm>
          <a:prstGeom prst="rect">
            <a:avLst/>
          </a:prstGeom>
        </p:spPr>
      </p:pic>
      <p:grpSp>
        <p:nvGrpSpPr>
          <p:cNvPr id="28" name="Group 27">
            <a:extLst>
              <a:ext uri="{FF2B5EF4-FFF2-40B4-BE49-F238E27FC236}">
                <a16:creationId xmlns:a16="http://schemas.microsoft.com/office/drawing/2014/main" id="{AFAB46EE-DAB0-0112-F66D-5EEAE0695AA2}"/>
              </a:ext>
            </a:extLst>
          </p:cNvPr>
          <p:cNvGrpSpPr/>
          <p:nvPr>
            <p:custDataLst>
              <p:tags r:id="rId6"/>
            </p:custDataLst>
          </p:nvPr>
        </p:nvGrpSpPr>
        <p:grpSpPr>
          <a:xfrm>
            <a:off x="995364" y="153170"/>
            <a:ext cx="5849764" cy="195814"/>
            <a:chOff x="995364" y="153170"/>
            <a:chExt cx="5849764" cy="195814"/>
          </a:xfrm>
        </p:grpSpPr>
        <p:sp>
          <p:nvSpPr>
            <p:cNvPr id="29"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1"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2"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3"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4"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04681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E3D664C-D8BC-EACE-FC18-D7900FEEAF8A}"/>
              </a:ext>
            </a:extLst>
          </p:cNvPr>
          <p:cNvPicPr>
            <a:picLocks noChangeAspect="1"/>
          </p:cNvPicPr>
          <p:nvPr>
            <p:custDataLst>
              <p:tags r:id="rId1"/>
            </p:custDataLst>
          </p:nvPr>
        </p:nvPicPr>
        <p:blipFill>
          <a:blip r:embed="rId7"/>
          <a:stretch>
            <a:fillRect/>
          </a:stretch>
        </p:blipFill>
        <p:spPr>
          <a:xfrm>
            <a:off x="998047" y="1330326"/>
            <a:ext cx="3950208" cy="4124553"/>
          </a:xfrm>
          <a:prstGeom prst="rect">
            <a:avLst/>
          </a:prstGeom>
        </p:spPr>
      </p:pic>
      <p:sp>
        <p:nvSpPr>
          <p:cNvPr id="24" name="Text Placeholder 48">
            <a:extLst>
              <a:ext uri="{FF2B5EF4-FFF2-40B4-BE49-F238E27FC236}">
                <a16:creationId xmlns:a16="http://schemas.microsoft.com/office/drawing/2014/main" id="{E8456473-537D-DC6C-45D2-A6B84B6EEF6B}"/>
              </a:ext>
            </a:extLst>
          </p:cNvPr>
          <p:cNvSpPr txBox="1">
            <a:spLocks/>
          </p:cNvSpPr>
          <p:nvPr/>
        </p:nvSpPr>
        <p:spPr>
          <a:xfrm>
            <a:off x="5048953" y="1597480"/>
            <a:ext cx="6126486" cy="4279446"/>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a:pPr>
            <a:r>
              <a:rPr lang="en-US" sz="900" b="1"/>
              <a:t>Mobile POS IFRS15:</a:t>
            </a:r>
            <a:r>
              <a:rPr lang="en-US" sz="900"/>
              <a:t> Pursuant to IFRS 15, Revenue from Contracts with Customers, transaction processing contracts with variable tier-based pricing recognize revenue based on estimates of the number of mobile point-of-sale (POS) transactions expected to be completed in a period relative to the total expected transaction volume in a fiscal year. As these estimates evolve over the contract period, monthly (IFRS 15) revenue adjustments are recorded to reflect the most recent assumptions.</a:t>
            </a:r>
          </a:p>
          <a:p>
            <a:pPr marL="228600" lvl="1"/>
            <a:r>
              <a:rPr lang="en-US" sz="900"/>
              <a:t>Utilizing actual fiscal year average tiered pricing for the non-cancellable contract period (i.e., April 2020 to March 2024) and applying this to the actual volume, revenue expected to be recognized is recalculated and adjusted accordingly. The total revenue impact over the contract term is nil.</a:t>
            </a:r>
          </a:p>
          <a:p>
            <a:pPr marL="228600" lvl="1"/>
            <a:endParaRPr lang="en-US" sz="900">
              <a:highlight>
                <a:srgbClr val="FFFF00"/>
              </a:highlight>
            </a:endParaRPr>
          </a:p>
          <a:p>
            <a:pPr marL="228600" lvl="1"/>
            <a:endParaRPr lang="en-US" sz="900">
              <a:highlight>
                <a:srgbClr val="FFFF00"/>
              </a:highlight>
            </a:endParaRPr>
          </a:p>
          <a:p>
            <a:pPr marL="228600" lvl="1"/>
            <a:endParaRPr lang="en-US" sz="900">
              <a:highlight>
                <a:srgbClr val="FFFF00"/>
              </a:highlight>
            </a:endParaRPr>
          </a:p>
          <a:p>
            <a:pPr marL="228600" lvl="1"/>
            <a:endParaRPr lang="en-US" sz="900">
              <a:highlight>
                <a:srgbClr val="FFFF00"/>
              </a:highlight>
            </a:endParaRPr>
          </a:p>
          <a:p>
            <a:pPr marL="228600" lvl="1"/>
            <a:endParaRPr lang="en-US" sz="900">
              <a:highlight>
                <a:srgbClr val="FFFF00"/>
              </a:highlight>
            </a:endParaRPr>
          </a:p>
          <a:p>
            <a:pPr marL="230188" lvl="1" indent="-230188">
              <a:buFont typeface="+mj-lt"/>
              <a:buAutoNum type="arabicPeriod"/>
            </a:pPr>
            <a:endParaRPr lang="en-US" sz="900" b="1"/>
          </a:p>
          <a:p>
            <a:pPr marL="230188" lvl="1" indent="-230188">
              <a:buFont typeface="+mj-lt"/>
              <a:buAutoNum type="arabicPeriod" startAt="2"/>
            </a:pPr>
            <a:r>
              <a:rPr lang="en-US" sz="900" b="1"/>
              <a:t>Settlement interest income: </a:t>
            </a:r>
            <a:r>
              <a:rPr lang="en-US" sz="900"/>
              <a:t>The Company facilitates the settlement process for automated teller machine (ATM) and point-of-sale (POS) devices. Interest income is earned on settlement cash balances. Although interest income earned on cash held in the Company’s bank accounts is excluded from EBITDA, the interest income earned on items in transit related to settlement funds is considered operational and is included within the operating results. The higher interest income reflects the higher transaction volume.</a:t>
            </a:r>
            <a:endParaRPr lang="en-US"/>
          </a:p>
        </p:txBody>
      </p:sp>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(2/16) </a:t>
            </a:r>
            <a:r>
              <a:rPr lang="en-US" sz="4000"/>
              <a:t>– </a:t>
            </a:r>
            <a:r>
              <a:rPr lang="en-US"/>
              <a:t>Due diligence adjustments</a:t>
            </a:r>
          </a:p>
        </p:txBody>
      </p:sp>
      <p:sp>
        <p:nvSpPr>
          <p:cNvPr id="11" name="UpSlide SubSection Marker" hidden="1">
            <a:extLst>
              <a:ext uri="{FF2B5EF4-FFF2-40B4-BE49-F238E27FC236}">
                <a16:creationId xmlns:a16="http://schemas.microsoft.com/office/drawing/2014/main" id="{C085AA6E-9CB1-AB21-7C4D-9B5FA67E4967}"/>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a:t>
            </a:r>
          </a:p>
        </p:txBody>
      </p:sp>
      <p:sp>
        <p:nvSpPr>
          <p:cNvPr id="25" name="Text Placeholder 12">
            <a:extLst>
              <a:ext uri="{FF2B5EF4-FFF2-40B4-BE49-F238E27FC236}">
                <a16:creationId xmlns:a16="http://schemas.microsoft.com/office/drawing/2014/main" id="{8DFEAD22-B9C1-7270-76CE-B4036D91E947}"/>
              </a:ext>
            </a:extLst>
          </p:cNvPr>
          <p:cNvSpPr txBox="1">
            <a:spLocks/>
          </p:cNvSpPr>
          <p:nvPr/>
        </p:nvSpPr>
        <p:spPr>
          <a:xfrm>
            <a:off x="5345847" y="4053814"/>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Interac TSP volume and billing summary</a:t>
            </a:r>
          </a:p>
        </p:txBody>
      </p:sp>
      <p:sp>
        <p:nvSpPr>
          <p:cNvPr id="20" name="Text Placeholder 12">
            <a:extLst>
              <a:ext uri="{FF2B5EF4-FFF2-40B4-BE49-F238E27FC236}">
                <a16:creationId xmlns:a16="http://schemas.microsoft.com/office/drawing/2014/main" id="{830743BE-6D1C-E108-C8C3-5A00F8E3AC27}"/>
              </a:ext>
            </a:extLst>
          </p:cNvPr>
          <p:cNvSpPr txBox="1">
            <a:spLocks/>
          </p:cNvSpPr>
          <p:nvPr/>
        </p:nvSpPr>
        <p:spPr>
          <a:xfrm>
            <a:off x="995363" y="5481508"/>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31" name="Text Placeholder 12">
            <a:extLst>
              <a:ext uri="{FF2B5EF4-FFF2-40B4-BE49-F238E27FC236}">
                <a16:creationId xmlns:a16="http://schemas.microsoft.com/office/drawing/2014/main" id="{AB48A949-76F6-827D-B73B-805C099A9474}"/>
              </a:ext>
            </a:extLst>
          </p:cNvPr>
          <p:cNvSpPr txBox="1">
            <a:spLocks/>
          </p:cNvSpPr>
          <p:nvPr/>
        </p:nvSpPr>
        <p:spPr>
          <a:xfrm>
            <a:off x="5359002" y="5915216"/>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Interest income, general ledger</a:t>
            </a:r>
          </a:p>
        </p:txBody>
      </p:sp>
      <p:pic>
        <p:nvPicPr>
          <p:cNvPr id="2" name="Picture 1">
            <a:extLst>
              <a:ext uri="{FF2B5EF4-FFF2-40B4-BE49-F238E27FC236}">
                <a16:creationId xmlns:a16="http://schemas.microsoft.com/office/drawing/2014/main" id="{BA40505D-1768-9B30-478E-A19F238629B8}"/>
              </a:ext>
            </a:extLst>
          </p:cNvPr>
          <p:cNvPicPr>
            <a:picLocks noChangeAspect="1"/>
          </p:cNvPicPr>
          <p:nvPr>
            <p:custDataLst>
              <p:tags r:id="rId3"/>
            </p:custDataLst>
          </p:nvPr>
        </p:nvPicPr>
        <p:blipFill>
          <a:blip r:embed="rId8"/>
          <a:stretch>
            <a:fillRect/>
          </a:stretch>
        </p:blipFill>
        <p:spPr>
          <a:xfrm>
            <a:off x="5359004" y="2829651"/>
            <a:ext cx="4278173" cy="1217981"/>
          </a:xfrm>
          <a:prstGeom prst="rect">
            <a:avLst/>
          </a:prstGeom>
        </p:spPr>
      </p:pic>
      <p:sp>
        <p:nvSpPr>
          <p:cNvPr id="13" name="Rectangle: Rounded Corners 12">
            <a:extLst>
              <a:ext uri="{FF2B5EF4-FFF2-40B4-BE49-F238E27FC236}">
                <a16:creationId xmlns:a16="http://schemas.microsoft.com/office/drawing/2014/main" id="{BFA3A881-273D-DB19-C967-976AFCC24AD4}"/>
              </a:ext>
            </a:extLst>
          </p:cNvPr>
          <p:cNvSpPr/>
          <p:nvPr/>
        </p:nvSpPr>
        <p:spPr>
          <a:xfrm flipV="1">
            <a:off x="1015733" y="3250322"/>
            <a:ext cx="3932522" cy="256032"/>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pic>
        <p:nvPicPr>
          <p:cNvPr id="5" name="Picture 4">
            <a:extLst>
              <a:ext uri="{FF2B5EF4-FFF2-40B4-BE49-F238E27FC236}">
                <a16:creationId xmlns:a16="http://schemas.microsoft.com/office/drawing/2014/main" id="{4FD5085D-45FB-66A9-D9F7-4D77D56868D9}"/>
              </a:ext>
            </a:extLst>
          </p:cNvPr>
          <p:cNvPicPr>
            <a:picLocks noChangeAspect="1"/>
          </p:cNvPicPr>
          <p:nvPr>
            <p:custDataLst>
              <p:tags r:id="rId4"/>
            </p:custDataLst>
          </p:nvPr>
        </p:nvPicPr>
        <p:blipFill>
          <a:blip r:embed="rId9"/>
          <a:stretch>
            <a:fillRect/>
          </a:stretch>
        </p:blipFill>
        <p:spPr>
          <a:xfrm>
            <a:off x="5359012" y="4883772"/>
            <a:ext cx="3497885" cy="1008279"/>
          </a:xfrm>
          <a:prstGeom prst="rect">
            <a:avLst/>
          </a:prstGeom>
        </p:spPr>
      </p:pic>
      <p:sp>
        <p:nvSpPr>
          <p:cNvPr id="21" name="Rectangle: Rounded Corners 20">
            <a:extLst>
              <a:ext uri="{FF2B5EF4-FFF2-40B4-BE49-F238E27FC236}">
                <a16:creationId xmlns:a16="http://schemas.microsoft.com/office/drawing/2014/main" id="{899086CF-67E8-852D-4412-B345B2CF443F}"/>
              </a:ext>
            </a:extLst>
          </p:cNvPr>
          <p:cNvSpPr/>
          <p:nvPr/>
        </p:nvSpPr>
        <p:spPr>
          <a:xfrm flipV="1">
            <a:off x="995362" y="1975257"/>
            <a:ext cx="3932522" cy="256032"/>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27" name="Group 26">
            <a:extLst>
              <a:ext uri="{FF2B5EF4-FFF2-40B4-BE49-F238E27FC236}">
                <a16:creationId xmlns:a16="http://schemas.microsoft.com/office/drawing/2014/main" id="{AFAB46EE-DAB0-0112-F66D-5EEAE0695AA2}"/>
              </a:ext>
            </a:extLst>
          </p:cNvPr>
          <p:cNvGrpSpPr/>
          <p:nvPr>
            <p:custDataLst>
              <p:tags r:id="rId5"/>
            </p:custDataLst>
          </p:nvPr>
        </p:nvGrpSpPr>
        <p:grpSpPr>
          <a:xfrm>
            <a:off x="995364" y="153170"/>
            <a:ext cx="5849764" cy="195814"/>
            <a:chOff x="995364" y="153170"/>
            <a:chExt cx="5849764" cy="195814"/>
          </a:xfrm>
        </p:grpSpPr>
        <p:sp>
          <p:nvSpPr>
            <p:cNvPr id="28"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9"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0"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2"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3"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4"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60571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E7BA9C-763B-2570-B58F-4F15D75C9D13}"/>
              </a:ext>
            </a:extLst>
          </p:cNvPr>
          <p:cNvPicPr>
            <a:picLocks noChangeAspect="1"/>
          </p:cNvPicPr>
          <p:nvPr>
            <p:custDataLst>
              <p:tags r:id="rId1"/>
            </p:custDataLst>
          </p:nvPr>
        </p:nvPicPr>
        <p:blipFill>
          <a:blip r:embed="rId9"/>
          <a:stretch>
            <a:fillRect/>
          </a:stretch>
        </p:blipFill>
        <p:spPr>
          <a:xfrm>
            <a:off x="1000353" y="1337244"/>
            <a:ext cx="3950208" cy="4368394"/>
          </a:xfrm>
          <a:prstGeom prst="rect">
            <a:avLst/>
          </a:prstGeom>
        </p:spPr>
      </p:pic>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602552"/>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3"/>
            </a:pPr>
            <a:r>
              <a:rPr lang="en-US" sz="900" b="1"/>
              <a:t>Settlement services dispute: </a:t>
            </a:r>
            <a:r>
              <a:rPr lang="en-US" sz="900"/>
              <a:t>In FY23, the Company had a pricing dispute with </a:t>
            </a:r>
            <a:r>
              <a:rPr lang="en-US" sz="900" err="1"/>
              <a:t>Interac</a:t>
            </a:r>
            <a:r>
              <a:rPr lang="en-US" sz="900"/>
              <a:t> for settlement services provided. Management increased its allowance for doubtful accounts in August, November, and December 2023, anticipating that </a:t>
            </a:r>
            <a:r>
              <a:rPr lang="en-US" sz="900" err="1"/>
              <a:t>Interac</a:t>
            </a:r>
            <a:r>
              <a:rPr lang="en-US" sz="900"/>
              <a:t> may not fulfill its payment obligation. A draft resolution was proposed in July 2024, allowing for the collection of a portion of the outstanding amount (i.e., billings related to the period June to July 2023). As part of the resolution, the Company agreed to issue $158,272 + HST (total of $178,847) in credits to </a:t>
            </a:r>
            <a:r>
              <a:rPr lang="en-US" sz="900" err="1"/>
              <a:t>Interac</a:t>
            </a:r>
            <a:r>
              <a:rPr lang="en-US" sz="900"/>
              <a:t> for services in FY23 and agreed to revise pricing for billings from August 2023 to July 2024. Management expects to collect the remainder of FY23 billings at the revised pricing rates. This adjustment modifies the allowance to reflect the credits and revised billing rates established in the mutually agreed settlement, for outstanding balances. The go-forward pricing which began in January 2024, of $18,000 per month is reflected in </a:t>
            </a:r>
            <a:r>
              <a:rPr lang="en-US" sz="900" err="1"/>
              <a:t>QofE</a:t>
            </a:r>
            <a:r>
              <a:rPr lang="en-US" sz="900"/>
              <a:t> pro forma adjustment #18.</a:t>
            </a:r>
            <a:endParaRPr lang="en-US" sz="900" b="1">
              <a:solidFill>
                <a:srgbClr val="FF0000"/>
              </a:solidFill>
            </a:endParaRPr>
          </a:p>
          <a:p>
            <a:pPr marL="228600" lvl="1" indent="-228600">
              <a:buFont typeface="+mj-lt"/>
              <a:buAutoNum type="arabicPeriod" startAt="3"/>
            </a:pPr>
            <a:endParaRPr lang="en-US" sz="900"/>
          </a:p>
          <a:p>
            <a:pPr marL="228600" lvl="1" indent="-228600">
              <a:buFont typeface="+mj-lt"/>
              <a:buAutoNum type="arabicPeriod" startAt="3"/>
            </a:pPr>
            <a:endParaRPr lang="en-US" sz="900"/>
          </a:p>
          <a:p>
            <a:pPr marL="228600" lvl="1" indent="-228600">
              <a:buFont typeface="+mj-lt"/>
              <a:buAutoNum type="arabicPeriod" startAt="3"/>
            </a:pPr>
            <a:endParaRPr lang="en-US" sz="900"/>
          </a:p>
          <a:p>
            <a:pPr marL="228600" lvl="1" indent="-228600">
              <a:spcAft>
                <a:spcPts val="0"/>
              </a:spcAft>
              <a:buFont typeface="+mj-lt"/>
              <a:buAutoNum type="arabicPeriod" startAt="3"/>
            </a:pPr>
            <a:endParaRPr lang="en-US" sz="900"/>
          </a:p>
          <a:p>
            <a:pPr marL="228600" lvl="1" indent="-228600">
              <a:spcAft>
                <a:spcPts val="0"/>
              </a:spcAft>
              <a:buFont typeface="+mj-lt"/>
              <a:buAutoNum type="arabicPeriod" startAt="4"/>
            </a:pPr>
            <a:r>
              <a:rPr lang="en-US" sz="900" b="1"/>
              <a:t>Out of period entries: </a:t>
            </a:r>
            <a:r>
              <a:rPr lang="en-US" sz="900"/>
              <a:t>The Company records expense accruals using the latest information, subject to potential reversals upon new circumstances. Management reversed accruals in December 2022 and December 2023 pertaining to prior periods. This adjustment re-allocates these reversals to their respective recognition periods. </a:t>
            </a:r>
          </a:p>
          <a:p>
            <a:pPr marL="576263" lvl="2" indent="-288925">
              <a:spcAft>
                <a:spcPts val="0"/>
              </a:spcAft>
              <a:buFont typeface="+mj-lt"/>
              <a:buAutoNum type="alphaLcParenR"/>
            </a:pPr>
            <a:r>
              <a:rPr lang="en-US" sz="900" i="1"/>
              <a:t>FY23 out of period entries: </a:t>
            </a:r>
            <a:r>
              <a:rPr lang="en-US" sz="900"/>
              <a:t>In December 2023, expense accruals of $234,000, primarily related to the discontinued Chase partnership are reversed. $30,000 relates to ATM managed services cost of goods sold and is reallocated to December 2021, its original recording period. The remaining amount relates to periods prior to FY21.</a:t>
            </a:r>
            <a:endParaRPr lang="en-US"/>
          </a:p>
        </p:txBody>
      </p:sp>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(3/16) </a:t>
            </a:r>
            <a:r>
              <a:rPr lang="en-US" sz="4000"/>
              <a:t>– </a:t>
            </a:r>
            <a:r>
              <a:rPr lang="en-US"/>
              <a:t>Due diligence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6" name="Rectangle: Rounded Corners 15">
            <a:extLst>
              <a:ext uri="{FF2B5EF4-FFF2-40B4-BE49-F238E27FC236}">
                <a16:creationId xmlns:a16="http://schemas.microsoft.com/office/drawing/2014/main" id="{6E862CC1-445C-6FB8-BD17-D0062847E542}"/>
              </a:ext>
            </a:extLst>
          </p:cNvPr>
          <p:cNvSpPr/>
          <p:nvPr/>
        </p:nvSpPr>
        <p:spPr>
          <a:xfrm flipV="1">
            <a:off x="995359" y="3496963"/>
            <a:ext cx="3950207" cy="48717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4" name="Rectangle: Rounded Corners 13">
            <a:extLst>
              <a:ext uri="{FF2B5EF4-FFF2-40B4-BE49-F238E27FC236}">
                <a16:creationId xmlns:a16="http://schemas.microsoft.com/office/drawing/2014/main" id="{082A9632-6935-EC76-C0DF-05870DBBEB27}"/>
              </a:ext>
            </a:extLst>
          </p:cNvPr>
          <p:cNvSpPr/>
          <p:nvPr/>
        </p:nvSpPr>
        <p:spPr>
          <a:xfrm flipV="1">
            <a:off x="1016565" y="2222852"/>
            <a:ext cx="3933996" cy="144345"/>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7" name="Text Placeholder 12">
            <a:extLst>
              <a:ext uri="{FF2B5EF4-FFF2-40B4-BE49-F238E27FC236}">
                <a16:creationId xmlns:a16="http://schemas.microsoft.com/office/drawing/2014/main" id="{99CFCE49-7EE2-3ACE-EFE6-9CFFC9388BFE}"/>
              </a:ext>
            </a:extLst>
          </p:cNvPr>
          <p:cNvSpPr txBox="1">
            <a:spLocks/>
          </p:cNvSpPr>
          <p:nvPr/>
        </p:nvSpPr>
        <p:spPr>
          <a:xfrm>
            <a:off x="1016565" y="5705638"/>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(continued)</a:t>
            </a:r>
          </a:p>
        </p:txBody>
      </p:sp>
      <p:sp>
        <p:nvSpPr>
          <p:cNvPr id="22" name="Text Placeholder 12">
            <a:extLst>
              <a:ext uri="{FF2B5EF4-FFF2-40B4-BE49-F238E27FC236}">
                <a16:creationId xmlns:a16="http://schemas.microsoft.com/office/drawing/2014/main" id="{50A1872F-FA07-6065-6E1D-D6B40FBA0438}"/>
              </a:ext>
            </a:extLst>
          </p:cNvPr>
          <p:cNvSpPr txBox="1">
            <a:spLocks/>
          </p:cNvSpPr>
          <p:nvPr/>
        </p:nvSpPr>
        <p:spPr>
          <a:xfrm>
            <a:off x="5660492" y="5957984"/>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2023 and 2022 YE adjusting entries</a:t>
            </a:r>
          </a:p>
        </p:txBody>
      </p:sp>
      <p:sp>
        <p:nvSpPr>
          <p:cNvPr id="40" name="Text Placeholder 12">
            <a:extLst>
              <a:ext uri="{FF2B5EF4-FFF2-40B4-BE49-F238E27FC236}">
                <a16:creationId xmlns:a16="http://schemas.microsoft.com/office/drawing/2014/main" id="{525DE077-C1DF-AB68-0674-74ECADAB8311}"/>
              </a:ext>
            </a:extLst>
          </p:cNvPr>
          <p:cNvSpPr txBox="1">
            <a:spLocks/>
          </p:cNvSpPr>
          <p:nvPr/>
        </p:nvSpPr>
        <p:spPr>
          <a:xfrm>
            <a:off x="5345704" y="3768843"/>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Letter agreement</a:t>
            </a:r>
          </a:p>
        </p:txBody>
      </p:sp>
      <p:pic>
        <p:nvPicPr>
          <p:cNvPr id="26" name="Picture 25">
            <a:extLst>
              <a:ext uri="{FF2B5EF4-FFF2-40B4-BE49-F238E27FC236}">
                <a16:creationId xmlns:a16="http://schemas.microsoft.com/office/drawing/2014/main" id="{7F71E883-917A-7C68-21B0-678D7A9109F7}"/>
              </a:ext>
            </a:extLst>
          </p:cNvPr>
          <p:cNvPicPr>
            <a:picLocks noChangeAspect="1"/>
          </p:cNvPicPr>
          <p:nvPr>
            <p:custDataLst>
              <p:tags r:id="rId5"/>
            </p:custDataLst>
          </p:nvPr>
        </p:nvPicPr>
        <p:blipFill>
          <a:blip r:embed="rId10"/>
          <a:stretch>
            <a:fillRect/>
          </a:stretch>
        </p:blipFill>
        <p:spPr>
          <a:xfrm>
            <a:off x="5660492" y="4875389"/>
            <a:ext cx="2833497" cy="1081278"/>
          </a:xfrm>
          <a:prstGeom prst="rect">
            <a:avLst/>
          </a:prstGeom>
        </p:spPr>
      </p:pic>
      <p:grpSp>
        <p:nvGrpSpPr>
          <p:cNvPr id="33" name="Group 32">
            <a:extLst>
              <a:ext uri="{FF2B5EF4-FFF2-40B4-BE49-F238E27FC236}">
                <a16:creationId xmlns:a16="http://schemas.microsoft.com/office/drawing/2014/main" id="{AFAB46EE-DAB0-0112-F66D-5EEAE0695AA2}"/>
              </a:ext>
            </a:extLst>
          </p:cNvPr>
          <p:cNvGrpSpPr/>
          <p:nvPr>
            <p:custDataLst>
              <p:tags r:id="rId6"/>
            </p:custDataLst>
          </p:nvPr>
        </p:nvGrpSpPr>
        <p:grpSpPr>
          <a:xfrm>
            <a:off x="995364" y="153170"/>
            <a:ext cx="5849764" cy="195814"/>
            <a:chOff x="995364" y="153170"/>
            <a:chExt cx="5849764" cy="195814"/>
          </a:xfrm>
        </p:grpSpPr>
        <p:sp>
          <p:nvSpPr>
            <p:cNvPr id="34"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9"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pic>
        <p:nvPicPr>
          <p:cNvPr id="13" name="Picture 12">
            <a:extLst>
              <a:ext uri="{FF2B5EF4-FFF2-40B4-BE49-F238E27FC236}">
                <a16:creationId xmlns:a16="http://schemas.microsoft.com/office/drawing/2014/main" id="{A3A189C7-118F-F514-B06F-C1309581768F}"/>
              </a:ext>
            </a:extLst>
          </p:cNvPr>
          <p:cNvPicPr>
            <a:picLocks noChangeAspect="1"/>
          </p:cNvPicPr>
          <p:nvPr>
            <p:custDataLst>
              <p:tags r:id="rId7"/>
            </p:custDataLst>
          </p:nvPr>
        </p:nvPicPr>
        <p:blipFill>
          <a:blip r:embed="rId17"/>
          <a:stretch>
            <a:fillRect/>
          </a:stretch>
        </p:blipFill>
        <p:spPr>
          <a:xfrm>
            <a:off x="5345705" y="3027949"/>
            <a:ext cx="2755773" cy="738378"/>
          </a:xfrm>
          <a:prstGeom prst="rect">
            <a:avLst/>
          </a:prstGeom>
        </p:spPr>
      </p:pic>
    </p:spTree>
    <p:extLst>
      <p:ext uri="{BB962C8B-B14F-4D97-AF65-F5344CB8AC3E}">
        <p14:creationId xmlns:p14="http://schemas.microsoft.com/office/powerpoint/2010/main" val="4219423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73830C3-843B-A795-5A04-A3E31C1FBAEA}"/>
              </a:ext>
            </a:extLst>
          </p:cNvPr>
          <p:cNvPicPr>
            <a:picLocks noChangeAspect="1"/>
          </p:cNvPicPr>
          <p:nvPr>
            <p:custDataLst>
              <p:tags r:id="rId1"/>
            </p:custDataLst>
          </p:nvPr>
        </p:nvPicPr>
        <p:blipFill>
          <a:blip r:embed="rId9"/>
          <a:stretch>
            <a:fillRect/>
          </a:stretch>
        </p:blipFill>
        <p:spPr>
          <a:xfrm>
            <a:off x="1007676" y="1324147"/>
            <a:ext cx="3950208" cy="4368394"/>
          </a:xfrm>
          <a:prstGeom prst="rect">
            <a:avLst/>
          </a:prstGeom>
        </p:spPr>
      </p:pic>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607159"/>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spcAft>
                <a:spcPts val="0"/>
              </a:spcAft>
              <a:buFont typeface="+mj-lt"/>
              <a:buAutoNum type="arabicPeriod" startAt="4"/>
            </a:pPr>
            <a:r>
              <a:rPr lang="en-US" sz="900" b="1"/>
              <a:t>Out of period entries (continued):</a:t>
            </a:r>
            <a:endParaRPr lang="en-US" sz="900"/>
          </a:p>
          <a:p>
            <a:pPr marL="576263" lvl="2" indent="-288925">
              <a:spcAft>
                <a:spcPts val="0"/>
              </a:spcAft>
              <a:buFont typeface="+mj-lt"/>
              <a:buAutoNum type="alphaLcParenR" startAt="2"/>
            </a:pPr>
            <a:r>
              <a:rPr lang="en-US" sz="900" i="1"/>
              <a:t>Bonus accrual: </a:t>
            </a:r>
            <a:r>
              <a:rPr lang="en-US" sz="900"/>
              <a:t>In FY22, bonus expense is over accrued by $78,000, and in FY23, it is under accrued by $10,000. Adjustments are applied to FY22 and FY23 bonus expense to reflect the actual payout for each respective year, and is allocated based on the pro rata monthly reported bonus expense.</a:t>
            </a:r>
            <a:endParaRPr lang="en-US" sz="900" i="1"/>
          </a:p>
          <a:p>
            <a:pPr marL="576263" lvl="2" indent="-288925">
              <a:spcAft>
                <a:spcPts val="0"/>
              </a:spcAft>
              <a:buFont typeface="+mj-lt"/>
              <a:buAutoNum type="alphaLcParenR" startAt="2"/>
            </a:pPr>
            <a:endParaRPr lang="en-US" sz="900"/>
          </a:p>
          <a:p>
            <a:pPr marL="576263" lvl="2" indent="-288925">
              <a:spcAft>
                <a:spcPts val="0"/>
              </a:spcAft>
              <a:buFont typeface="+mj-lt"/>
              <a:buAutoNum type="alphaLcParenR" startAt="2"/>
            </a:pPr>
            <a:endParaRPr lang="en-US" sz="900"/>
          </a:p>
          <a:p>
            <a:pPr marL="576263" lvl="2" indent="-288925">
              <a:spcAft>
                <a:spcPts val="0"/>
              </a:spcAft>
              <a:buFont typeface="+mj-lt"/>
              <a:buAutoNum type="alphaLcParenR" startAt="2"/>
            </a:pPr>
            <a:endParaRPr lang="en-US" sz="900"/>
          </a:p>
          <a:p>
            <a:pPr marL="576263" lvl="2" indent="-288925">
              <a:spcAft>
                <a:spcPts val="0"/>
              </a:spcAft>
              <a:buFont typeface="+mj-lt"/>
              <a:buAutoNum type="alphaLcParenR" startAt="2"/>
            </a:pPr>
            <a:endParaRPr lang="en-US" sz="900"/>
          </a:p>
          <a:p>
            <a:pPr marL="576263" lvl="2" indent="-288925">
              <a:spcAft>
                <a:spcPts val="0"/>
              </a:spcAft>
              <a:buFont typeface="+mj-lt"/>
              <a:buAutoNum type="alphaLcParenR" startAt="2"/>
            </a:pPr>
            <a:endParaRPr lang="en-US" sz="900"/>
          </a:p>
          <a:p>
            <a:pPr marL="576263" lvl="2" indent="-288925">
              <a:spcAft>
                <a:spcPts val="0"/>
              </a:spcAft>
              <a:buFont typeface="+mj-lt"/>
              <a:buAutoNum type="alphaLcParenR" startAt="2"/>
            </a:pPr>
            <a:endParaRPr lang="en-US" sz="900"/>
          </a:p>
          <a:p>
            <a:pPr marL="576263" lvl="2" indent="-288925">
              <a:spcAft>
                <a:spcPts val="0"/>
              </a:spcAft>
              <a:buFont typeface="+mj-lt"/>
              <a:buAutoNum type="alphaLcParenR" startAt="2"/>
            </a:pPr>
            <a:endParaRPr lang="en-US" sz="900"/>
          </a:p>
          <a:p>
            <a:pPr marL="228600" lvl="1" indent="-228600">
              <a:buFont typeface="+mj-lt"/>
              <a:buAutoNum type="arabicPeriod" startAt="5"/>
            </a:pPr>
            <a:r>
              <a:rPr lang="en-US" sz="900" b="1"/>
              <a:t>Severance: </a:t>
            </a:r>
            <a:r>
              <a:rPr lang="en-US" sz="900"/>
              <a:t>Represents severance expense to key/senior management employees and is removed from EBITDA as it is considered non-recurring based on the Company’s historic turnover. These roles include a Vice President (VP) of Operations and Client Services, Director of IT Operations, and Senior Compliance Manager. Severance for non-executive employees remains in adjusted EBITDA.</a:t>
            </a:r>
          </a:p>
          <a:p>
            <a:pPr marL="227013" lvl="1"/>
            <a:r>
              <a:rPr lang="en-US" sz="900"/>
              <a:t>In addition, Management represents that a $20,000 severance expense accrual recorded in August 2022 for a business analyst is reversed in November 2023. The reversal is reallocated to the period of recognition.</a:t>
            </a:r>
          </a:p>
          <a:p>
            <a:pPr marL="227013" lvl="1"/>
            <a:endParaRPr lang="en-US" sz="900"/>
          </a:p>
          <a:p>
            <a:pPr marL="227013" lvl="1"/>
            <a:endParaRPr lang="en-US" sz="900"/>
          </a:p>
          <a:p>
            <a:pPr marL="227013" lvl="1"/>
            <a:endParaRPr lang="en-US" sz="900"/>
          </a:p>
          <a:p>
            <a:pPr marL="227013" lvl="1"/>
            <a:endParaRPr lang="en-US" sz="900"/>
          </a:p>
          <a:p>
            <a:pPr marL="227013" lvl="1"/>
            <a:endParaRPr lang="en-US" sz="900"/>
          </a:p>
          <a:p>
            <a:pPr marL="227013" lvl="1"/>
            <a:endParaRPr lang="en-US" sz="900"/>
          </a:p>
          <a:p>
            <a:pPr marL="228600" lvl="1" indent="-228600">
              <a:spcBef>
                <a:spcPts val="600"/>
              </a:spcBef>
              <a:buFont typeface="+mj-lt"/>
              <a:buAutoNum type="arabicPeriod" startAt="6"/>
            </a:pPr>
            <a:r>
              <a:rPr lang="en-US" sz="900" b="1"/>
              <a:t>Professional fees: </a:t>
            </a:r>
            <a:r>
              <a:rPr lang="en-US" sz="900"/>
              <a:t>In June 2024, the Company accrued $150,000 in advisory fees in relation to the contemplated transaction. As this is non-operational in nature, this expense is removed from EBITDA. The corresponding accrual is adjusted in NWC adjustment #12.</a:t>
            </a:r>
            <a:endParaRPr lang="en-US" b="1"/>
          </a:p>
        </p:txBody>
      </p:sp>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(4/16) </a:t>
            </a:r>
            <a:r>
              <a:rPr lang="en-US" sz="4000"/>
              <a:t>– </a:t>
            </a:r>
            <a:r>
              <a:rPr lang="en-US"/>
              <a:t>Due diligence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6" name="Rectangle: Rounded Corners 15">
            <a:extLst>
              <a:ext uri="{FF2B5EF4-FFF2-40B4-BE49-F238E27FC236}">
                <a16:creationId xmlns:a16="http://schemas.microsoft.com/office/drawing/2014/main" id="{6E862CC1-445C-6FB8-BD17-D0062847E542}"/>
              </a:ext>
            </a:extLst>
          </p:cNvPr>
          <p:cNvSpPr/>
          <p:nvPr/>
        </p:nvSpPr>
        <p:spPr>
          <a:xfrm flipV="1">
            <a:off x="1013770" y="3610101"/>
            <a:ext cx="3944114" cy="61590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(continued)</a:t>
            </a:r>
          </a:p>
        </p:txBody>
      </p:sp>
      <p:sp>
        <p:nvSpPr>
          <p:cNvPr id="13" name="Text Placeholder 12">
            <a:extLst>
              <a:ext uri="{FF2B5EF4-FFF2-40B4-BE49-F238E27FC236}">
                <a16:creationId xmlns:a16="http://schemas.microsoft.com/office/drawing/2014/main" id="{8EB804D5-3616-8695-FCE6-6CD0D901D2D7}"/>
              </a:ext>
            </a:extLst>
          </p:cNvPr>
          <p:cNvSpPr txBox="1">
            <a:spLocks/>
          </p:cNvSpPr>
          <p:nvPr/>
        </p:nvSpPr>
        <p:spPr>
          <a:xfrm>
            <a:off x="5700481" y="2994502"/>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2023 and 2022 YE adjusting entries</a:t>
            </a:r>
          </a:p>
        </p:txBody>
      </p:sp>
      <p:sp>
        <p:nvSpPr>
          <p:cNvPr id="18" name="Text Placeholder 12">
            <a:extLst>
              <a:ext uri="{FF2B5EF4-FFF2-40B4-BE49-F238E27FC236}">
                <a16:creationId xmlns:a16="http://schemas.microsoft.com/office/drawing/2014/main" id="{426ED763-5757-2BD3-DA3F-5CB9496AE5A2}"/>
              </a:ext>
            </a:extLst>
          </p:cNvPr>
          <p:cNvSpPr txBox="1">
            <a:spLocks/>
          </p:cNvSpPr>
          <p:nvPr/>
        </p:nvSpPr>
        <p:spPr>
          <a:xfrm>
            <a:off x="5343300" y="5353954"/>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Turnover reports</a:t>
            </a:r>
          </a:p>
        </p:txBody>
      </p:sp>
      <p:sp>
        <p:nvSpPr>
          <p:cNvPr id="33" name="Text Placeholder 12">
            <a:extLst>
              <a:ext uri="{FF2B5EF4-FFF2-40B4-BE49-F238E27FC236}">
                <a16:creationId xmlns:a16="http://schemas.microsoft.com/office/drawing/2014/main" id="{0D439723-935C-4F62-BD52-F96C5EB5A51E}"/>
              </a:ext>
            </a:extLst>
          </p:cNvPr>
          <p:cNvSpPr txBox="1">
            <a:spLocks/>
          </p:cNvSpPr>
          <p:nvPr/>
        </p:nvSpPr>
        <p:spPr>
          <a:xfrm>
            <a:off x="1017263" y="5690567"/>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pic>
        <p:nvPicPr>
          <p:cNvPr id="15" name="Picture 14">
            <a:extLst>
              <a:ext uri="{FF2B5EF4-FFF2-40B4-BE49-F238E27FC236}">
                <a16:creationId xmlns:a16="http://schemas.microsoft.com/office/drawing/2014/main" id="{B4CEA9E5-728F-6D68-B1C2-9292304C8068}"/>
              </a:ext>
            </a:extLst>
          </p:cNvPr>
          <p:cNvPicPr>
            <a:picLocks noChangeAspect="1"/>
          </p:cNvPicPr>
          <p:nvPr>
            <p:custDataLst>
              <p:tags r:id="rId5"/>
            </p:custDataLst>
          </p:nvPr>
        </p:nvPicPr>
        <p:blipFill>
          <a:blip r:embed="rId10"/>
          <a:stretch>
            <a:fillRect/>
          </a:stretch>
        </p:blipFill>
        <p:spPr>
          <a:xfrm>
            <a:off x="5700485" y="2234235"/>
            <a:ext cx="3200400" cy="760781"/>
          </a:xfrm>
          <a:prstGeom prst="rect">
            <a:avLst/>
          </a:prstGeom>
        </p:spPr>
      </p:pic>
      <p:pic>
        <p:nvPicPr>
          <p:cNvPr id="23" name="Picture 22">
            <a:extLst>
              <a:ext uri="{FF2B5EF4-FFF2-40B4-BE49-F238E27FC236}">
                <a16:creationId xmlns:a16="http://schemas.microsoft.com/office/drawing/2014/main" id="{44C3129C-52AC-C2F2-E587-37AFC01C63B4}"/>
              </a:ext>
            </a:extLst>
          </p:cNvPr>
          <p:cNvPicPr>
            <a:picLocks noChangeAspect="1"/>
          </p:cNvPicPr>
          <p:nvPr>
            <p:custDataLst>
              <p:tags r:id="rId6"/>
            </p:custDataLst>
          </p:nvPr>
        </p:nvPicPr>
        <p:blipFill>
          <a:blip r:embed="rId11"/>
          <a:stretch>
            <a:fillRect/>
          </a:stretch>
        </p:blipFill>
        <p:spPr>
          <a:xfrm>
            <a:off x="5345335" y="4085380"/>
            <a:ext cx="3412541" cy="1275283"/>
          </a:xfrm>
          <a:prstGeom prst="rect">
            <a:avLst/>
          </a:prstGeom>
        </p:spPr>
      </p:pic>
      <p:grpSp>
        <p:nvGrpSpPr>
          <p:cNvPr id="32" name="Group 31">
            <a:extLst>
              <a:ext uri="{FF2B5EF4-FFF2-40B4-BE49-F238E27FC236}">
                <a16:creationId xmlns:a16="http://schemas.microsoft.com/office/drawing/2014/main" id="{AFAB46EE-DAB0-0112-F66D-5EEAE0695AA2}"/>
              </a:ext>
            </a:extLst>
          </p:cNvPr>
          <p:cNvGrpSpPr/>
          <p:nvPr>
            <p:custDataLst>
              <p:tags r:id="rId7"/>
            </p:custDataLst>
          </p:nvPr>
        </p:nvGrpSpPr>
        <p:grpSpPr>
          <a:xfrm>
            <a:off x="995364" y="153170"/>
            <a:ext cx="5849764" cy="195814"/>
            <a:chOff x="995364" y="153170"/>
            <a:chExt cx="5849764" cy="195814"/>
          </a:xfrm>
        </p:grpSpPr>
        <p:sp>
          <p:nvSpPr>
            <p:cNvPr id="34"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9"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179070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C048480-A237-8D6D-949A-D8DB46CF736D}"/>
              </a:ext>
            </a:extLst>
          </p:cNvPr>
          <p:cNvPicPr>
            <a:picLocks noChangeAspect="1"/>
          </p:cNvPicPr>
          <p:nvPr>
            <p:custDataLst>
              <p:tags r:id="rId1"/>
            </p:custDataLst>
          </p:nvPr>
        </p:nvPicPr>
        <p:blipFill>
          <a:blip r:embed="rId7"/>
          <a:stretch>
            <a:fillRect/>
          </a:stretch>
        </p:blipFill>
        <p:spPr>
          <a:xfrm>
            <a:off x="1016568" y="1330329"/>
            <a:ext cx="3950208" cy="4124553"/>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(5/16) </a:t>
            </a:r>
            <a:r>
              <a:rPr lang="en-US" sz="4000"/>
              <a:t>– </a:t>
            </a:r>
            <a:r>
              <a:rPr lang="en-US"/>
              <a:t>Due diligence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593850"/>
            <a:ext cx="6126486" cy="4283075"/>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spcAft>
                <a:spcPts val="0"/>
              </a:spcAft>
              <a:buFont typeface="+mj-lt"/>
              <a:buAutoNum type="arabicPeriod" startAt="7"/>
            </a:pPr>
            <a:r>
              <a:rPr lang="en-US" sz="900" b="1" dirty="0"/>
              <a:t>Vacant positions: </a:t>
            </a:r>
            <a:r>
              <a:rPr lang="en-US" sz="900" dirty="0"/>
              <a:t>Several key employee positions are vacant in FY22 and FY23. Significant positions and their vacancy period include:</a:t>
            </a:r>
          </a:p>
          <a:p>
            <a:pPr marL="771525" lvl="4" indent="-228600">
              <a:spcAft>
                <a:spcPts val="0"/>
              </a:spcAft>
            </a:pPr>
            <a:r>
              <a:rPr lang="en-US" sz="900" dirty="0"/>
              <a:t>Senior Manager, Settlement Services from May to December 2022</a:t>
            </a:r>
          </a:p>
          <a:p>
            <a:pPr marL="771525" lvl="4" indent="-228600">
              <a:spcAft>
                <a:spcPts val="0"/>
              </a:spcAft>
            </a:pPr>
            <a:r>
              <a:rPr lang="en-US" sz="900" dirty="0"/>
              <a:t>Vice President, Corporate Governance &amp; General Counsel from May to October 2022</a:t>
            </a:r>
          </a:p>
          <a:p>
            <a:pPr marL="771525" lvl="4" indent="-228600">
              <a:spcAft>
                <a:spcPts val="0"/>
              </a:spcAft>
            </a:pPr>
            <a:r>
              <a:rPr lang="en-US" sz="900" dirty="0"/>
              <a:t>Senior Project Manager from February to July 2023</a:t>
            </a:r>
          </a:p>
          <a:p>
            <a:pPr marL="771525" lvl="4" indent="-228600">
              <a:spcAft>
                <a:spcPts val="0"/>
              </a:spcAft>
            </a:pPr>
            <a:r>
              <a:rPr lang="en-US" sz="900" dirty="0"/>
              <a:t>Senior Full Stack Developer from September to December 2023</a:t>
            </a:r>
          </a:p>
          <a:p>
            <a:pPr marL="228600" lvl="4" indent="0">
              <a:buNone/>
            </a:pPr>
            <a:r>
              <a:rPr lang="en-US" sz="900" dirty="0"/>
              <a:t>The total compensation for vacant positions during the vacancy period is included in EBITDA to reflect personnel expense at the full operating level. Benefits, taxes, and bonuses are estimated based on the current compensation structure, calculated as a percentage of salaries. Bonus expense is tiered as a percentage of salaries based on the position and level of seniority (i.e., non-manager: 5%; Manager: 10%; Director: 15%; General Manager: 20%; Vice President: 25%).</a:t>
            </a:r>
          </a:p>
          <a:p>
            <a:pPr marL="228600" lvl="4" indent="-228600">
              <a:buFont typeface="+mj-lt"/>
              <a:buAutoNum type="arabicPeriod" startAt="8"/>
            </a:pPr>
            <a:r>
              <a:rPr lang="en-US" sz="900" b="1" dirty="0"/>
              <a:t>Data center relocation: </a:t>
            </a:r>
            <a:r>
              <a:rPr lang="en-US" sz="900" dirty="0"/>
              <a:t>The Company’s hardware equipment was previously housed in </a:t>
            </a:r>
            <a:r>
              <a:rPr lang="en-US" sz="900" dirty="0" err="1"/>
              <a:t>Celero’s</a:t>
            </a:r>
            <a:r>
              <a:rPr lang="en-US" sz="900" dirty="0"/>
              <a:t> data centers in Calgary, AB and Winnipeg, MB. In June 2021, </a:t>
            </a:r>
            <a:r>
              <a:rPr lang="en-US" sz="900" dirty="0" err="1"/>
              <a:t>Celero</a:t>
            </a:r>
            <a:r>
              <a:rPr lang="en-US" sz="900" dirty="0"/>
              <a:t> announced its plan to close these locations, requiring the Company to relocate to data centers in Barrie, ON and Markham, ON which are managed by </a:t>
            </a:r>
            <a:r>
              <a:rPr lang="en-US" sz="900" dirty="0" err="1"/>
              <a:t>Kyndryl</a:t>
            </a:r>
            <a:r>
              <a:rPr lang="en-US" sz="900" dirty="0"/>
              <a:t>; the move was not fully completed until October 2023. As a result, the Company incurred: (</a:t>
            </a:r>
            <a:r>
              <a:rPr lang="en-US" sz="900" dirty="0" err="1"/>
              <a:t>i</a:t>
            </a:r>
            <a:r>
              <a:rPr lang="en-US" sz="900" dirty="0"/>
              <a:t>) one-time expenses associated with the relocation, and (ii) redundant operating costs as they were required to operate the four facilities concurrently, during the transition period. One-time expenses encompass </a:t>
            </a:r>
            <a:r>
              <a:rPr lang="en-US" sz="900" dirty="0" err="1"/>
              <a:t>labour</a:t>
            </a:r>
            <a:r>
              <a:rPr lang="en-US" sz="900" dirty="0"/>
              <a:t> costs for reconfiguring network connections, installation and setup costs. This adjustment eliminates the one-time and redundant costs as they are non-recurring. </a:t>
            </a:r>
          </a:p>
          <a:p>
            <a:pPr marL="228600" lvl="4" indent="0">
              <a:buNone/>
            </a:pPr>
            <a:r>
              <a:rPr lang="en-US" sz="900" dirty="0"/>
              <a:t>Note: Additional costs pertaining to HP leases related to the data center relocation are adjusted in </a:t>
            </a:r>
            <a:r>
              <a:rPr lang="en-US" sz="900" dirty="0" err="1"/>
              <a:t>QofE</a:t>
            </a:r>
            <a:r>
              <a:rPr lang="en-US" sz="900" dirty="0"/>
              <a:t> adjustment #9. Furthermore, the go-forward pricing for the </a:t>
            </a:r>
            <a:r>
              <a:rPr lang="en-US" sz="900" dirty="0" err="1"/>
              <a:t>Kyndryl</a:t>
            </a:r>
            <a:r>
              <a:rPr lang="en-US" sz="900" dirty="0"/>
              <a:t>-operated data centers is reflected in </a:t>
            </a:r>
            <a:r>
              <a:rPr lang="en-US" sz="900" dirty="0" err="1"/>
              <a:t>QofE</a:t>
            </a:r>
            <a:r>
              <a:rPr lang="en-US" sz="900" dirty="0"/>
              <a:t> adjustment #16. </a:t>
            </a:r>
          </a:p>
          <a:p>
            <a:pPr marL="228600" lvl="4" indent="-228600">
              <a:buFont typeface="+mj-lt"/>
              <a:buAutoNum type="arabicPeriod" startAt="9"/>
            </a:pPr>
            <a:r>
              <a:rPr lang="en-US" sz="900" b="1" dirty="0"/>
              <a:t>HP lease: </a:t>
            </a:r>
            <a:r>
              <a:rPr lang="en-US" sz="900" dirty="0"/>
              <a:t>In December 2022, the Company recognized a $198,000 write-off related to lease costs for HP equipment at the former data center locations in Winnipeg, MB, and Calgary, AB. Due to the data center relocation, the Company upgraded its equipment when procuring replacements for the new locations, resulting in a write-off of old equipment. Additionally, since each piece of equipment in these data centers operates continuously to process transactions, an overlap period between old and new equipment was necessary to avoid potential downtime. Management represents the expected run-rate lease cost of $21,000 per month for assets within the new data center location, reflected in TTM Jun-24 reported monthly expenses. HP lease costs in FY22 and FY23 are adjusted to reflect the go-forward run-rate, removing any impacts from one-time write-offs of old equipment and redundant equipment maintenance costs. See the summary table on the following page.</a:t>
            </a:r>
          </a:p>
          <a:p>
            <a:pPr marL="228600" lvl="4" indent="-228600">
              <a:buFont typeface="+mj-lt"/>
              <a:buAutoNum type="arabicPeriod" startAt="9"/>
            </a:pPr>
            <a:endParaRPr lang="en-US" sz="900" b="1" dirty="0"/>
          </a:p>
          <a:p>
            <a:pPr marL="228600" lvl="4" indent="0">
              <a:buNone/>
            </a:pPr>
            <a:endParaRPr lang="en-US" sz="900" dirty="0"/>
          </a:p>
          <a:p>
            <a:pPr marL="771525" lvl="4" indent="-228600"/>
            <a:endParaRPr lang="en-US" sz="900" dirty="0"/>
          </a:p>
          <a:p>
            <a:pPr marL="771525" lvl="4" indent="-228600"/>
            <a:endParaRPr lang="en-US" sz="900" dirty="0"/>
          </a:p>
          <a:p>
            <a:pPr marL="228600" lvl="1" indent="-228600">
              <a:buFontTx/>
              <a:buAutoNum type="arabicPeriod" startAt="7"/>
            </a:pPr>
            <a:endParaRPr lang="en-US" sz="900" dirty="0"/>
          </a:p>
          <a:p>
            <a:pPr marL="228600" lvl="1" indent="-228600">
              <a:buFontTx/>
              <a:buAutoNum type="arabicPeriod" startAt="7"/>
            </a:pPr>
            <a:endParaRPr lang="en-US" sz="900" dirty="0"/>
          </a:p>
          <a:p>
            <a:pPr marL="228600" lvl="1" indent="-228600">
              <a:buFontTx/>
              <a:buAutoNum type="arabicPeriod" startAt="7"/>
            </a:pPr>
            <a:endParaRPr lang="en-US" sz="900" dirty="0"/>
          </a:p>
          <a:p>
            <a:pPr marL="230188"/>
            <a:endParaRPr lang="en-US" dirty="0"/>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6" name="Rectangle: Rounded Corners 15">
            <a:extLst>
              <a:ext uri="{FF2B5EF4-FFF2-40B4-BE49-F238E27FC236}">
                <a16:creationId xmlns:a16="http://schemas.microsoft.com/office/drawing/2014/main" id="{6E862CC1-445C-6FB8-BD17-D0062847E542}"/>
              </a:ext>
            </a:extLst>
          </p:cNvPr>
          <p:cNvSpPr/>
          <p:nvPr/>
        </p:nvSpPr>
        <p:spPr>
          <a:xfrm flipV="1">
            <a:off x="995362" y="3981985"/>
            <a:ext cx="3971413" cy="359688"/>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(continued)</a:t>
            </a:r>
          </a:p>
        </p:txBody>
      </p:sp>
      <p:sp>
        <p:nvSpPr>
          <p:cNvPr id="31" name="Text Placeholder 12">
            <a:extLst>
              <a:ext uri="{FF2B5EF4-FFF2-40B4-BE49-F238E27FC236}">
                <a16:creationId xmlns:a16="http://schemas.microsoft.com/office/drawing/2014/main" id="{CC53DD26-2245-2ABD-6CF6-7D6A0B83FC1E}"/>
              </a:ext>
            </a:extLst>
          </p:cNvPr>
          <p:cNvSpPr txBox="1">
            <a:spLocks/>
          </p:cNvSpPr>
          <p:nvPr/>
        </p:nvSpPr>
        <p:spPr>
          <a:xfrm>
            <a:off x="1016568" y="5454879"/>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grpSp>
        <p:nvGrpSpPr>
          <p:cNvPr id="28" name="Group 27">
            <a:extLst>
              <a:ext uri="{FF2B5EF4-FFF2-40B4-BE49-F238E27FC236}">
                <a16:creationId xmlns:a16="http://schemas.microsoft.com/office/drawing/2014/main" id="{AFAB46EE-DAB0-0112-F66D-5EEAE0695AA2}"/>
              </a:ext>
            </a:extLst>
          </p:cNvPr>
          <p:cNvGrpSpPr/>
          <p:nvPr>
            <p:custDataLst>
              <p:tags r:id="rId5"/>
            </p:custDataLst>
          </p:nvPr>
        </p:nvGrpSpPr>
        <p:grpSpPr>
          <a:xfrm>
            <a:off x="995364" y="153170"/>
            <a:ext cx="5849764" cy="195814"/>
            <a:chOff x="995364" y="153170"/>
            <a:chExt cx="5849764" cy="195814"/>
          </a:xfrm>
        </p:grpSpPr>
        <p:sp>
          <p:nvSpPr>
            <p:cNvPr id="29"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Current Section2">
              <a:hlinkClick r:id="rId9"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2"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3"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4"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5"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44190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345141D-E42C-5F81-86E3-50720E288C34}"/>
              </a:ext>
            </a:extLst>
          </p:cNvPr>
          <p:cNvPicPr>
            <a:picLocks noChangeAspect="1"/>
          </p:cNvPicPr>
          <p:nvPr>
            <p:custDataLst>
              <p:tags r:id="rId1"/>
            </p:custDataLst>
          </p:nvPr>
        </p:nvPicPr>
        <p:blipFill>
          <a:blip r:embed="rId9"/>
          <a:stretch>
            <a:fillRect/>
          </a:stretch>
        </p:blipFill>
        <p:spPr>
          <a:xfrm>
            <a:off x="1012297" y="1337241"/>
            <a:ext cx="3950208" cy="4368394"/>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(6/16) </a:t>
            </a:r>
            <a:r>
              <a:rPr lang="en-US" sz="4000"/>
              <a:t>– </a:t>
            </a:r>
            <a:r>
              <a:rPr lang="en-US"/>
              <a:t>Due diligence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606550"/>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9"/>
            </a:pPr>
            <a:r>
              <a:rPr lang="en-US" sz="900" b="1"/>
              <a:t>HP lease (continued):</a:t>
            </a:r>
          </a:p>
          <a:p>
            <a:pPr marL="228600" lvl="1" indent="-228600">
              <a:buFont typeface="+mj-lt"/>
              <a:buAutoNum type="arabicPeriod" startAt="9"/>
            </a:pPr>
            <a:endParaRPr lang="en-US" sz="900" b="1"/>
          </a:p>
          <a:p>
            <a:pPr marL="228600" lvl="1" indent="-228600">
              <a:buFont typeface="+mj-lt"/>
              <a:buAutoNum type="arabicPeriod" startAt="9"/>
            </a:pPr>
            <a:endParaRPr lang="en-US" sz="900" b="1"/>
          </a:p>
          <a:p>
            <a:pPr marL="228600" lvl="1" indent="-228600">
              <a:buFont typeface="+mj-lt"/>
              <a:buAutoNum type="arabicPeriod" startAt="9"/>
            </a:pPr>
            <a:endParaRPr lang="en-US" sz="900" b="1"/>
          </a:p>
          <a:p>
            <a:pPr marL="228600" lvl="1" indent="-228600">
              <a:buFont typeface="+mj-lt"/>
              <a:buAutoNum type="arabicPeriod" startAt="9"/>
            </a:pPr>
            <a:endParaRPr lang="en-US" sz="900" b="1"/>
          </a:p>
          <a:p>
            <a:pPr marL="228600" lvl="1" indent="-228600">
              <a:buFont typeface="+mj-lt"/>
              <a:buAutoNum type="arabicPeriod" startAt="9"/>
            </a:pPr>
            <a:r>
              <a:rPr lang="en-US" sz="900" b="1"/>
              <a:t>Bad debt expense: </a:t>
            </a:r>
            <a:r>
              <a:rPr lang="en-US" sz="900"/>
              <a:t>The Company accrued $36,000 in December 2023 as a general provision for certain point-of-sale providers. However, this amount is subsequently collected in FY24. The proposed adjustment removes the bad debt expense in December 2023.  Management represents that a majority of the Company’s customers are creditworthy financial institutions, and there is minimal collection risk on outstanding accounts receivable balances. </a:t>
            </a:r>
          </a:p>
          <a:p>
            <a:pPr marL="228600" lvl="1" indent="-228600">
              <a:buFont typeface="+mj-lt"/>
              <a:buAutoNum type="arabicPeriod" startAt="9"/>
            </a:pPr>
            <a:r>
              <a:rPr lang="en-US" sz="900" b="1"/>
              <a:t>Non-operating expenses: </a:t>
            </a:r>
            <a:r>
              <a:rPr lang="en-US" sz="900"/>
              <a:t>Gains and losses related to fixed asset disposals and foreign exchange movements are removed from EBITDA as they are unrelated to the Company’s core business operations.</a:t>
            </a:r>
          </a:p>
          <a:p>
            <a:pPr marL="628650" lvl="2" indent="-285750">
              <a:buFont typeface="+mj-lt"/>
              <a:buAutoNum type="alphaLcParenR"/>
            </a:pPr>
            <a:r>
              <a:rPr lang="en-US" sz="900" i="1"/>
              <a:t>Loss on fixed asset disposal: </a:t>
            </a:r>
            <a:r>
              <a:rPr lang="en-US" sz="900"/>
              <a:t>Relates to losses from the sale of non-functioning hardware, primarily associated with the relocation of the data centers.</a:t>
            </a:r>
          </a:p>
          <a:p>
            <a:pPr marL="628650" lvl="2" indent="-285750">
              <a:buFont typeface="+mj-lt"/>
              <a:buAutoNum type="alphaLcParenR"/>
            </a:pPr>
            <a:r>
              <a:rPr lang="en-US" sz="900" i="1"/>
              <a:t>Foreign exchange expense: </a:t>
            </a:r>
            <a:r>
              <a:rPr lang="en-US" sz="900"/>
              <a:t>Represents the non-cash unrealized portion of foreign exchange gains and losses. </a:t>
            </a:r>
          </a:p>
          <a:p>
            <a:pPr marL="628650" lvl="2" indent="-285750">
              <a:buFont typeface="+mj-lt"/>
              <a:buAutoNum type="alphaLcParenR"/>
            </a:pPr>
            <a:endParaRPr lang="en-US" sz="900"/>
          </a:p>
          <a:p>
            <a:pPr marL="628650" lvl="2" indent="-285750">
              <a:buFont typeface="+mj-lt"/>
              <a:buAutoNum type="alphaLcParenR"/>
            </a:pPr>
            <a:endParaRPr lang="en-US" sz="900"/>
          </a:p>
          <a:p>
            <a:pPr marL="628650" lvl="2" indent="-285750">
              <a:buFont typeface="+mj-lt"/>
              <a:buAutoNum type="alphaLcParenR"/>
            </a:pPr>
            <a:endParaRPr lang="en-US" sz="900"/>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6" name="Rectangle: Rounded Corners 15">
            <a:extLst>
              <a:ext uri="{FF2B5EF4-FFF2-40B4-BE49-F238E27FC236}">
                <a16:creationId xmlns:a16="http://schemas.microsoft.com/office/drawing/2014/main" id="{6E862CC1-445C-6FB8-BD17-D0062847E542}"/>
              </a:ext>
            </a:extLst>
          </p:cNvPr>
          <p:cNvSpPr/>
          <p:nvPr/>
        </p:nvSpPr>
        <p:spPr>
          <a:xfrm flipV="1">
            <a:off x="1012297" y="4223954"/>
            <a:ext cx="3950208" cy="640080"/>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(continued)</a:t>
            </a:r>
          </a:p>
        </p:txBody>
      </p:sp>
      <p:sp>
        <p:nvSpPr>
          <p:cNvPr id="31" name="Text Placeholder 12">
            <a:extLst>
              <a:ext uri="{FF2B5EF4-FFF2-40B4-BE49-F238E27FC236}">
                <a16:creationId xmlns:a16="http://schemas.microsoft.com/office/drawing/2014/main" id="{8029EEDF-CDF3-46F2-6B44-989E9FE7D6B0}"/>
              </a:ext>
            </a:extLst>
          </p:cNvPr>
          <p:cNvSpPr txBox="1">
            <a:spLocks/>
          </p:cNvSpPr>
          <p:nvPr/>
        </p:nvSpPr>
        <p:spPr>
          <a:xfrm>
            <a:off x="1001541" y="5892535"/>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(All): Internal financial statements, General ledger details</a:t>
            </a:r>
          </a:p>
        </p:txBody>
      </p:sp>
      <p:pic>
        <p:nvPicPr>
          <p:cNvPr id="15" name="Picture 14">
            <a:extLst>
              <a:ext uri="{FF2B5EF4-FFF2-40B4-BE49-F238E27FC236}">
                <a16:creationId xmlns:a16="http://schemas.microsoft.com/office/drawing/2014/main" id="{EE00CCC7-1FA6-35F8-D1AF-542A793EFC64}"/>
              </a:ext>
            </a:extLst>
          </p:cNvPr>
          <p:cNvPicPr>
            <a:picLocks noChangeAspect="1"/>
          </p:cNvPicPr>
          <p:nvPr>
            <p:custDataLst>
              <p:tags r:id="rId5"/>
            </p:custDataLst>
          </p:nvPr>
        </p:nvPicPr>
        <p:blipFill>
          <a:blip r:embed="rId10"/>
          <a:stretch>
            <a:fillRect/>
          </a:stretch>
        </p:blipFill>
        <p:spPr>
          <a:xfrm>
            <a:off x="5355032" y="1793571"/>
            <a:ext cx="3406353" cy="846673"/>
          </a:xfrm>
          <a:prstGeom prst="rect">
            <a:avLst/>
          </a:prstGeom>
        </p:spPr>
      </p:pic>
      <p:pic>
        <p:nvPicPr>
          <p:cNvPr id="23" name="Picture 22">
            <a:extLst>
              <a:ext uri="{FF2B5EF4-FFF2-40B4-BE49-F238E27FC236}">
                <a16:creationId xmlns:a16="http://schemas.microsoft.com/office/drawing/2014/main" id="{AD20AC32-65C4-CDBE-87EC-0E619A731236}"/>
              </a:ext>
            </a:extLst>
          </p:cNvPr>
          <p:cNvPicPr>
            <a:picLocks noChangeAspect="1"/>
          </p:cNvPicPr>
          <p:nvPr>
            <p:custDataLst>
              <p:tags r:id="rId6"/>
            </p:custDataLst>
          </p:nvPr>
        </p:nvPicPr>
        <p:blipFill>
          <a:blip r:embed="rId11"/>
          <a:stretch>
            <a:fillRect/>
          </a:stretch>
        </p:blipFill>
        <p:spPr>
          <a:xfrm>
            <a:off x="5736661" y="4467582"/>
            <a:ext cx="2723510" cy="846673"/>
          </a:xfrm>
          <a:prstGeom prst="rect">
            <a:avLst/>
          </a:prstGeom>
        </p:spPr>
      </p:pic>
      <p:grpSp>
        <p:nvGrpSpPr>
          <p:cNvPr id="30" name="Group 29">
            <a:extLst>
              <a:ext uri="{FF2B5EF4-FFF2-40B4-BE49-F238E27FC236}">
                <a16:creationId xmlns:a16="http://schemas.microsoft.com/office/drawing/2014/main" id="{AFAB46EE-DAB0-0112-F66D-5EEAE0695AA2}"/>
              </a:ext>
            </a:extLst>
          </p:cNvPr>
          <p:cNvGrpSpPr/>
          <p:nvPr>
            <p:custDataLst>
              <p:tags r:id="rId7"/>
            </p:custDataLst>
          </p:nvPr>
        </p:nvGrpSpPr>
        <p:grpSpPr>
          <a:xfrm>
            <a:off x="995364" y="153170"/>
            <a:ext cx="5849764" cy="195814"/>
            <a:chOff x="995364" y="153170"/>
            <a:chExt cx="5849764" cy="195814"/>
          </a:xfrm>
        </p:grpSpPr>
        <p:sp>
          <p:nvSpPr>
            <p:cNvPr id="32"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Current Section2">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4"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5"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6"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7"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95402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AF2FE00-70BE-1F42-F840-50F0BDF9CAC0}"/>
              </a:ext>
            </a:extLst>
          </p:cNvPr>
          <p:cNvPicPr>
            <a:picLocks noChangeAspect="1"/>
          </p:cNvPicPr>
          <p:nvPr>
            <p:custDataLst>
              <p:tags r:id="rId1"/>
            </p:custDataLst>
          </p:nvPr>
        </p:nvPicPr>
        <p:blipFill>
          <a:blip r:embed="rId10"/>
          <a:stretch>
            <a:fillRect/>
          </a:stretch>
        </p:blipFill>
        <p:spPr>
          <a:xfrm>
            <a:off x="5339535" y="2497457"/>
            <a:ext cx="3106522" cy="1884883"/>
          </a:xfrm>
          <a:prstGeom prst="rect">
            <a:avLst/>
          </a:prstGeom>
        </p:spPr>
      </p:pic>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587500"/>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spcBef>
                <a:spcPts val="300"/>
              </a:spcBef>
              <a:spcAft>
                <a:spcPts val="0"/>
              </a:spcAft>
              <a:buFont typeface="+mj-lt"/>
              <a:buAutoNum type="arabicPeriod" startAt="12"/>
            </a:pPr>
            <a:r>
              <a:rPr lang="en-US" sz="900" b="1"/>
              <a:t>Legal fees:</a:t>
            </a:r>
            <a:r>
              <a:rPr lang="en-US" sz="900"/>
              <a:t> From May 20, 2022 to October 10, 2022, the Company’s General Counsel position remained vacant, necessitating the engagement of external legal services for contract review and amendments. These one-time third-party legal fees are excluded from EBITDA.  Note: A sample of supporting third party invoices were provided by Management, representing approximately 83% of the total. </a:t>
            </a:r>
          </a:p>
          <a:p>
            <a:pPr marL="228600" lvl="1">
              <a:spcBef>
                <a:spcPts val="300"/>
              </a:spcBef>
              <a:spcAft>
                <a:spcPts val="0"/>
              </a:spcAft>
            </a:pPr>
            <a:r>
              <a:rPr lang="en-US" sz="900"/>
              <a:t>Concurrently, </a:t>
            </a:r>
            <a:r>
              <a:rPr lang="en-US" sz="900" err="1"/>
              <a:t>QofE</a:t>
            </a:r>
            <a:r>
              <a:rPr lang="en-US" sz="900"/>
              <a:t> due diligence adjustment #6 accounts for the compensation of the vacant in-house General Counsel position during this period. See the following for breakdown of legal expenses.</a:t>
            </a:r>
            <a:endParaRPr lang="en-US"/>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1"/>
            </a:pPr>
            <a:endParaRPr lang="en-US" sz="900" b="1"/>
          </a:p>
          <a:p>
            <a:pPr marL="228600" lvl="1" indent="-228600">
              <a:buFont typeface="+mj-lt"/>
              <a:buAutoNum type="arabicPeriod" startAt="13"/>
            </a:pPr>
            <a:r>
              <a:rPr lang="en-US" sz="900" b="1"/>
              <a:t>Covid-19 related income/expenses: </a:t>
            </a:r>
            <a:r>
              <a:rPr lang="en-US" sz="900"/>
              <a:t>The Canadian government provided Canadian Emergency Wage Subsidies (CEWS) and Canadian Emergency Rent Subsidies (CERS) to support businesses during the Covid-19 pandemic. In FY21, the Company received $219,000 in one-time credits to subsidize wages for its employees and $19,000 for rental expenses. As these subsidies are non-recurring in nature, they have been removed from EBITDA.</a:t>
            </a:r>
          </a:p>
          <a:p>
            <a:pPr marL="228600" lvl="1" indent="-228600">
              <a:buFontTx/>
              <a:buAutoNum type="arabicPeriod" startAt="13"/>
            </a:pPr>
            <a:endParaRPr lang="en-US" sz="900"/>
          </a:p>
          <a:p>
            <a:pPr marL="228600" lvl="1" indent="-228600">
              <a:buFontTx/>
              <a:buAutoNum type="arabicPeriod" startAt="13"/>
            </a:pPr>
            <a:endParaRPr lang="en-US" sz="900"/>
          </a:p>
          <a:p>
            <a:pPr marL="228600" lvl="1" indent="-228600">
              <a:buFontTx/>
              <a:buAutoNum type="arabicPeriod" startAt="13"/>
            </a:pPr>
            <a:endParaRPr lang="en-US" sz="900"/>
          </a:p>
          <a:p>
            <a:pPr marL="230188"/>
            <a:endParaRPr lang="en-US"/>
          </a:p>
        </p:txBody>
      </p:sp>
      <p:pic>
        <p:nvPicPr>
          <p:cNvPr id="17" name="Picture 16">
            <a:extLst>
              <a:ext uri="{FF2B5EF4-FFF2-40B4-BE49-F238E27FC236}">
                <a16:creationId xmlns:a16="http://schemas.microsoft.com/office/drawing/2014/main" id="{7C8B950D-65D2-D871-4A63-C006B304A176}"/>
              </a:ext>
            </a:extLst>
          </p:cNvPr>
          <p:cNvPicPr>
            <a:picLocks noChangeAspect="1"/>
          </p:cNvPicPr>
          <p:nvPr>
            <p:custDataLst>
              <p:tags r:id="rId2"/>
            </p:custDataLst>
          </p:nvPr>
        </p:nvPicPr>
        <p:blipFill>
          <a:blip r:embed="rId11"/>
          <a:stretch>
            <a:fillRect/>
          </a:stretch>
        </p:blipFill>
        <p:spPr>
          <a:xfrm>
            <a:off x="1004907" y="1337241"/>
            <a:ext cx="3950208" cy="4368394"/>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(7/16) </a:t>
            </a:r>
            <a:r>
              <a:rPr lang="en-US" sz="4000"/>
              <a:t>– </a:t>
            </a:r>
            <a:r>
              <a:rPr lang="en-US"/>
              <a:t>Due diligence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6" name="Rectangle: Rounded Corners 15">
            <a:extLst>
              <a:ext uri="{FF2B5EF4-FFF2-40B4-BE49-F238E27FC236}">
                <a16:creationId xmlns:a16="http://schemas.microsoft.com/office/drawing/2014/main" id="{6E862CC1-445C-6FB8-BD17-D0062847E542}"/>
              </a:ext>
            </a:extLst>
          </p:cNvPr>
          <p:cNvSpPr/>
          <p:nvPr/>
        </p:nvSpPr>
        <p:spPr>
          <a:xfrm flipV="1">
            <a:off x="1021997" y="4585465"/>
            <a:ext cx="3933118" cy="51905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(continued)</a:t>
            </a:r>
          </a:p>
        </p:txBody>
      </p:sp>
      <p:sp>
        <p:nvSpPr>
          <p:cNvPr id="31" name="Text Placeholder 12">
            <a:extLst>
              <a:ext uri="{FF2B5EF4-FFF2-40B4-BE49-F238E27FC236}">
                <a16:creationId xmlns:a16="http://schemas.microsoft.com/office/drawing/2014/main" id="{3DD76A3E-097C-A0C2-6287-A1DFED64AE00}"/>
              </a:ext>
            </a:extLst>
          </p:cNvPr>
          <p:cNvSpPr txBox="1">
            <a:spLocks/>
          </p:cNvSpPr>
          <p:nvPr/>
        </p:nvSpPr>
        <p:spPr>
          <a:xfrm>
            <a:off x="1001541" y="5892535"/>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(All): Internal financial statements, General ledger details</a:t>
            </a:r>
          </a:p>
        </p:txBody>
      </p:sp>
      <p:sp>
        <p:nvSpPr>
          <p:cNvPr id="13" name="Rectangle 12">
            <a:extLst>
              <a:ext uri="{FF2B5EF4-FFF2-40B4-BE49-F238E27FC236}">
                <a16:creationId xmlns:a16="http://schemas.microsoft.com/office/drawing/2014/main" id="{B3D280BA-4EF5-C6A1-80E0-88089CB460F2}"/>
              </a:ext>
            </a:extLst>
          </p:cNvPr>
          <p:cNvSpPr/>
          <p:nvPr/>
        </p:nvSpPr>
        <p:spPr>
          <a:xfrm>
            <a:off x="5339531" y="2927887"/>
            <a:ext cx="3106522" cy="130238"/>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sp>
        <p:nvSpPr>
          <p:cNvPr id="14" name="Rectangle 13">
            <a:extLst>
              <a:ext uri="{FF2B5EF4-FFF2-40B4-BE49-F238E27FC236}">
                <a16:creationId xmlns:a16="http://schemas.microsoft.com/office/drawing/2014/main" id="{68F47BBA-C54C-3CCF-7BB6-2FDF84DA68E2}"/>
              </a:ext>
            </a:extLst>
          </p:cNvPr>
          <p:cNvSpPr/>
          <p:nvPr/>
        </p:nvSpPr>
        <p:spPr>
          <a:xfrm>
            <a:off x="5339531" y="4248356"/>
            <a:ext cx="3106522" cy="130238"/>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endParaRPr lang="en-US" sz="900">
              <a:solidFill>
                <a:schemeClr val="bg1"/>
              </a:solidFill>
            </a:endParaRPr>
          </a:p>
        </p:txBody>
      </p:sp>
      <p:pic>
        <p:nvPicPr>
          <p:cNvPr id="21" name="Picture 20">
            <a:extLst>
              <a:ext uri="{FF2B5EF4-FFF2-40B4-BE49-F238E27FC236}">
                <a16:creationId xmlns:a16="http://schemas.microsoft.com/office/drawing/2014/main" id="{AE0914DF-1D23-7900-0468-0DD1EA29DFC5}"/>
              </a:ext>
            </a:extLst>
          </p:cNvPr>
          <p:cNvPicPr>
            <a:picLocks noChangeAspect="1"/>
          </p:cNvPicPr>
          <p:nvPr>
            <p:custDataLst>
              <p:tags r:id="rId6"/>
            </p:custDataLst>
          </p:nvPr>
        </p:nvPicPr>
        <p:blipFill>
          <a:blip r:embed="rId12"/>
          <a:stretch>
            <a:fillRect/>
          </a:stretch>
        </p:blipFill>
        <p:spPr>
          <a:xfrm>
            <a:off x="5339532" y="5104519"/>
            <a:ext cx="2788310" cy="787603"/>
          </a:xfrm>
          <a:prstGeom prst="rect">
            <a:avLst/>
          </a:prstGeom>
        </p:spPr>
      </p:pic>
      <p:grpSp>
        <p:nvGrpSpPr>
          <p:cNvPr id="33" name="Group 32">
            <a:extLst>
              <a:ext uri="{FF2B5EF4-FFF2-40B4-BE49-F238E27FC236}">
                <a16:creationId xmlns:a16="http://schemas.microsoft.com/office/drawing/2014/main" id="{AFAB46EE-DAB0-0112-F66D-5EEAE0695AA2}"/>
              </a:ext>
            </a:extLst>
          </p:cNvPr>
          <p:cNvGrpSpPr/>
          <p:nvPr>
            <p:custDataLst>
              <p:tags r:id="rId7"/>
            </p:custDataLst>
          </p:nvPr>
        </p:nvGrpSpPr>
        <p:grpSpPr>
          <a:xfrm>
            <a:off x="995364" y="153170"/>
            <a:ext cx="5849764" cy="195814"/>
            <a:chOff x="995364" y="153170"/>
            <a:chExt cx="5849764" cy="195814"/>
          </a:xfrm>
        </p:grpSpPr>
        <p:sp>
          <p:nvSpPr>
            <p:cNvPr id="34" name="Other Sections1">
              <a:hlinkClick r:id="rId13"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4"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4">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9" name="Other Sections6">
              <a:hlinkClick r:id="rId18"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140368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C924D22-D642-4758-75B4-363FB3B2D9B6}"/>
              </a:ext>
            </a:extLst>
          </p:cNvPr>
          <p:cNvPicPr>
            <a:picLocks noChangeAspect="1"/>
          </p:cNvPicPr>
          <p:nvPr>
            <p:custDataLst>
              <p:tags r:id="rId1"/>
            </p:custDataLst>
          </p:nvPr>
        </p:nvPicPr>
        <p:blipFill>
          <a:blip r:embed="rId9"/>
          <a:stretch>
            <a:fillRect/>
          </a:stretch>
        </p:blipFill>
        <p:spPr>
          <a:xfrm>
            <a:off x="1008060" y="1339347"/>
            <a:ext cx="3950208" cy="4856073"/>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(8/16) </a:t>
            </a:r>
            <a:r>
              <a:rPr lang="en-US" sz="4000"/>
              <a:t>– </a:t>
            </a:r>
            <a:r>
              <a:rPr lang="en-US"/>
              <a:t>Pro forma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2" y="1606550"/>
            <a:ext cx="3520990"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14"/>
            </a:pPr>
            <a:r>
              <a:rPr lang="en-US" sz="900" b="1"/>
              <a:t>Net new/lost customers: </a:t>
            </a:r>
            <a:r>
              <a:rPr lang="en-US" sz="900"/>
              <a:t>Significant changes in the Company’s customer base are adjusted from the January 2021 to June 2024 period to present the run-rate of the Company’s ongoing operations.</a:t>
            </a:r>
          </a:p>
          <a:p>
            <a:pPr marL="571500" lvl="2" indent="-228600">
              <a:buFont typeface="+mj-lt"/>
              <a:buAutoNum type="alphaLcParenR"/>
            </a:pPr>
            <a:r>
              <a:rPr lang="en-US" sz="900" i="1"/>
              <a:t>New customers: </a:t>
            </a:r>
            <a:r>
              <a:rPr lang="en-US" sz="900"/>
              <a:t>Significant new customers after January 2021 include Uni Financial Services and Technology Inc., Caisse Populaire Alliance Limitee, Ficanex Services LP, Canadian Tire Bank, and Stripe Payments Canada Ltd., with revenue across various lines of business. Reoccurring revenue under long-term contract</a:t>
            </a:r>
            <a:r>
              <a:rPr lang="en-US" sz="900" baseline="30000"/>
              <a:t>1</a:t>
            </a:r>
            <a:r>
              <a:rPr lang="en-US" sz="900"/>
              <a:t> from these new customers are adjusted in the January 2021 to June 2024 period based on the monthly year-to-date (YTD) June 2024 run-rate, as if they had been existing customers throughout the entire period. Corresponding COGS is estimated using the FY23 gross margin percentage for each of their respective lines of business.</a:t>
            </a:r>
          </a:p>
          <a:p>
            <a:pPr marL="571500" lvl="1" indent="-228600">
              <a:buFont typeface="+mj-lt"/>
              <a:buAutoNum type="alphaLcParenR" startAt="2"/>
            </a:pPr>
            <a:r>
              <a:rPr lang="en-US" sz="900" i="1"/>
              <a:t>Terminated and lost customers: </a:t>
            </a:r>
            <a:r>
              <a:rPr lang="en-US" sz="900"/>
              <a:t>During FY21 to FY23, Management identified and terminated several independent service organizations (ISOs) which were unprofitable and required significant effort to maintain compliance standards. Notably, this included Vars Investment Group and Netco Financial, generating  $37,000 and $16,000 of revenue in TTM Jun-24, respectively. Additionally, two small credit unions, collectively contributing $15,000 in TTM Jun-24 revenue, were also lost customers. All historical revenue and COGS associated with these customers are removed.</a:t>
            </a:r>
            <a:endParaRPr lang="en-US" sz="900" i="1"/>
          </a:p>
          <a:p>
            <a:pPr marL="228600" lvl="1" indent="-228600">
              <a:buFontTx/>
              <a:buAutoNum type="alphaLcParenR" startAt="2"/>
            </a:pPr>
            <a:endParaRPr lang="en-US" sz="900"/>
          </a:p>
          <a:p>
            <a:pPr marL="228600" lvl="1" indent="-228600">
              <a:buFontTx/>
              <a:buAutoNum type="alphaLcParenR" startAt="2"/>
            </a:pPr>
            <a:endParaRPr lang="en-US" sz="900"/>
          </a:p>
          <a:p>
            <a:pPr marL="228600" lvl="1" indent="-228600">
              <a:buFontTx/>
              <a:buAutoNum type="alphaLcParenR" startAt="2"/>
            </a:pPr>
            <a:endParaRPr lang="en-US" sz="900"/>
          </a:p>
          <a:p>
            <a:pPr marL="230188"/>
            <a:endParaRPr lang="en-US"/>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6" name="Rectangle: Rounded Corners 15">
            <a:extLst>
              <a:ext uri="{FF2B5EF4-FFF2-40B4-BE49-F238E27FC236}">
                <a16:creationId xmlns:a16="http://schemas.microsoft.com/office/drawing/2014/main" id="{6E862CC1-445C-6FB8-BD17-D0062847E542}"/>
              </a:ext>
            </a:extLst>
          </p:cNvPr>
          <p:cNvSpPr/>
          <p:nvPr/>
        </p:nvSpPr>
        <p:spPr>
          <a:xfrm flipV="1">
            <a:off x="995360" y="4248836"/>
            <a:ext cx="3962908" cy="37253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7" name="Text Placeholder 12">
            <a:extLst>
              <a:ext uri="{FF2B5EF4-FFF2-40B4-BE49-F238E27FC236}">
                <a16:creationId xmlns:a16="http://schemas.microsoft.com/office/drawing/2014/main" id="{99CFCE49-7EE2-3ACE-EFE6-9CFFC9388BFE}"/>
              </a:ext>
            </a:extLst>
          </p:cNvPr>
          <p:cNvSpPr txBox="1">
            <a:spLocks/>
          </p:cNvSpPr>
          <p:nvPr/>
        </p:nvSpPr>
        <p:spPr>
          <a:xfrm>
            <a:off x="5473239" y="6054482"/>
            <a:ext cx="3520989"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baseline="30000">
                <a:solidFill>
                  <a:schemeClr val="tx2"/>
                </a:solidFill>
                <a:latin typeface="Arial" panose="020B0604020202020204" pitchFamily="34" charset="0"/>
              </a:rPr>
              <a:t>1 </a:t>
            </a:r>
            <a:r>
              <a:rPr lang="en-US" sz="600" b="0">
                <a:solidFill>
                  <a:schemeClr val="tx2"/>
                </a:solidFill>
                <a:latin typeface="Arial" panose="020B0604020202020204" pitchFamily="34" charset="0"/>
              </a:rPr>
              <a:t>Reoccurring revenue under long-term contract excludes professional services and hardware resale. </a:t>
            </a:r>
          </a:p>
          <a:p>
            <a:pPr rtl="0">
              <a:spcAft>
                <a:spcPts val="0"/>
              </a:spcAft>
            </a:pPr>
            <a:r>
              <a:rPr lang="en-US" sz="600" b="0">
                <a:solidFill>
                  <a:schemeClr val="tx2"/>
                </a:solidFill>
                <a:latin typeface="Arial" panose="020B0604020202020204" pitchFamily="34" charset="0"/>
              </a:rPr>
              <a:t>Source: Internal financial statements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a:t>
            </a:r>
          </a:p>
        </p:txBody>
      </p:sp>
      <p:sp>
        <p:nvSpPr>
          <p:cNvPr id="15" name="Rectangle: Rounded Corners 14">
            <a:extLst>
              <a:ext uri="{FF2B5EF4-FFF2-40B4-BE49-F238E27FC236}">
                <a16:creationId xmlns:a16="http://schemas.microsoft.com/office/drawing/2014/main" id="{88E656A4-2995-5CA9-A409-AEAF63977D55}"/>
              </a:ext>
            </a:extLst>
          </p:cNvPr>
          <p:cNvSpPr/>
          <p:nvPr/>
        </p:nvSpPr>
        <p:spPr>
          <a:xfrm flipV="1">
            <a:off x="1008060" y="2253562"/>
            <a:ext cx="3950208" cy="349250"/>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20" name="Text Placeholder 12">
            <a:extLst>
              <a:ext uri="{FF2B5EF4-FFF2-40B4-BE49-F238E27FC236}">
                <a16:creationId xmlns:a16="http://schemas.microsoft.com/office/drawing/2014/main" id="{5F8B4C82-1AB9-1AAE-56D5-7A33F13BD796}"/>
              </a:ext>
            </a:extLst>
          </p:cNvPr>
          <p:cNvSpPr txBox="1">
            <a:spLocks/>
          </p:cNvSpPr>
          <p:nvPr/>
        </p:nvSpPr>
        <p:spPr>
          <a:xfrm>
            <a:off x="8523365" y="3578311"/>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sp>
        <p:nvSpPr>
          <p:cNvPr id="32" name="Text Placeholder 12">
            <a:extLst>
              <a:ext uri="{FF2B5EF4-FFF2-40B4-BE49-F238E27FC236}">
                <a16:creationId xmlns:a16="http://schemas.microsoft.com/office/drawing/2014/main" id="{C3F54B4A-6277-ECC6-112B-413AB0719087}"/>
              </a:ext>
            </a:extLst>
          </p:cNvPr>
          <p:cNvSpPr txBox="1">
            <a:spLocks/>
          </p:cNvSpPr>
          <p:nvPr/>
        </p:nvSpPr>
        <p:spPr>
          <a:xfrm>
            <a:off x="8523365" y="5882507"/>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pic>
        <p:nvPicPr>
          <p:cNvPr id="2" name="Picture 1">
            <a:extLst>
              <a:ext uri="{FF2B5EF4-FFF2-40B4-BE49-F238E27FC236}">
                <a16:creationId xmlns:a16="http://schemas.microsoft.com/office/drawing/2014/main" id="{BCE3B66F-2A19-4B63-03EA-D890CED5280B}"/>
              </a:ext>
            </a:extLst>
          </p:cNvPr>
          <p:cNvPicPr>
            <a:picLocks noChangeAspect="1"/>
          </p:cNvPicPr>
          <p:nvPr>
            <p:custDataLst>
              <p:tags r:id="rId5"/>
            </p:custDataLst>
          </p:nvPr>
        </p:nvPicPr>
        <p:blipFill>
          <a:blip r:embed="rId10"/>
          <a:stretch>
            <a:fillRect/>
          </a:stretch>
        </p:blipFill>
        <p:spPr>
          <a:xfrm>
            <a:off x="8512591" y="2175343"/>
            <a:ext cx="2694920" cy="1410371"/>
          </a:xfrm>
          <a:prstGeom prst="rect">
            <a:avLst/>
          </a:prstGeom>
        </p:spPr>
      </p:pic>
      <p:pic>
        <p:nvPicPr>
          <p:cNvPr id="24" name="Picture 23">
            <a:extLst>
              <a:ext uri="{FF2B5EF4-FFF2-40B4-BE49-F238E27FC236}">
                <a16:creationId xmlns:a16="http://schemas.microsoft.com/office/drawing/2014/main" id="{3B5F9610-C16C-8B98-AF56-243DB33A83FD}"/>
              </a:ext>
            </a:extLst>
          </p:cNvPr>
          <p:cNvPicPr>
            <a:picLocks noChangeAspect="1"/>
          </p:cNvPicPr>
          <p:nvPr>
            <p:custDataLst>
              <p:tags r:id="rId6"/>
            </p:custDataLst>
          </p:nvPr>
        </p:nvPicPr>
        <p:blipFill>
          <a:blip r:embed="rId11"/>
          <a:stretch>
            <a:fillRect/>
          </a:stretch>
        </p:blipFill>
        <p:spPr>
          <a:xfrm>
            <a:off x="8512589" y="3883771"/>
            <a:ext cx="2680868" cy="1991716"/>
          </a:xfrm>
          <a:prstGeom prst="rect">
            <a:avLst/>
          </a:prstGeom>
        </p:spPr>
      </p:pic>
      <p:grpSp>
        <p:nvGrpSpPr>
          <p:cNvPr id="34" name="Group 33">
            <a:extLst>
              <a:ext uri="{FF2B5EF4-FFF2-40B4-BE49-F238E27FC236}">
                <a16:creationId xmlns:a16="http://schemas.microsoft.com/office/drawing/2014/main" id="{AFAB46EE-DAB0-0112-F66D-5EEAE0695AA2}"/>
              </a:ext>
            </a:extLst>
          </p:cNvPr>
          <p:cNvGrpSpPr/>
          <p:nvPr>
            <p:custDataLst>
              <p:tags r:id="rId7"/>
            </p:custDataLst>
          </p:nvPr>
        </p:nvGrpSpPr>
        <p:grpSpPr>
          <a:xfrm>
            <a:off x="995364" y="153170"/>
            <a:ext cx="5849764" cy="195814"/>
            <a:chOff x="995364" y="153170"/>
            <a:chExt cx="5849764" cy="195814"/>
          </a:xfrm>
        </p:grpSpPr>
        <p:sp>
          <p:nvSpPr>
            <p:cNvPr id="35"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6" name="Current Section2">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7"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9"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40"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456037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2A977A8-AD12-DB1A-C541-902364B6F465}"/>
              </a:ext>
            </a:extLst>
          </p:cNvPr>
          <p:cNvPicPr>
            <a:picLocks noChangeAspect="1"/>
          </p:cNvPicPr>
          <p:nvPr>
            <p:custDataLst>
              <p:tags r:id="rId1"/>
            </p:custDataLst>
          </p:nvPr>
        </p:nvPicPr>
        <p:blipFill>
          <a:blip r:embed="rId8"/>
          <a:stretch>
            <a:fillRect/>
          </a:stretch>
        </p:blipFill>
        <p:spPr>
          <a:xfrm>
            <a:off x="998047" y="1330321"/>
            <a:ext cx="3950208" cy="4368394"/>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(9/16) </a:t>
            </a:r>
            <a:r>
              <a:rPr lang="en-US" sz="4000"/>
              <a:t>– </a:t>
            </a:r>
            <a:r>
              <a:rPr lang="en-US"/>
              <a:t>Pro forma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600200"/>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15"/>
            </a:pPr>
            <a:r>
              <a:rPr lang="en-US" sz="900" b="1"/>
              <a:t>Credit Union MSA: </a:t>
            </a:r>
            <a:r>
              <a:rPr lang="en-US" sz="900"/>
              <a:t>In May 2024, a revised master services agreement (MSA), which encompasses all of the Company’s credit union customers, went into effect. The revised MSA includes price increases for the services provided. A pro forma adjustment is applied to reflect the revised contract pricing in the historical period, based on historical volumes. The Company does not incur additional costs associated with the pricing increase, thereby increasing margins for these services. </a:t>
            </a:r>
          </a:p>
          <a:p>
            <a:pPr marL="228600" lvl="1"/>
            <a:r>
              <a:rPr lang="en-US" sz="900"/>
              <a:t>First Credit Union is excluded from this adjustment as its entire EBITDA impact is removed as part of QofE pro forma adjustment #14b as a lost customer. Peace Hills Trust and Alterna Bank are included within this adjustment as these two non-credit union customers benefit from credit union MSA contract pricing and terms.</a:t>
            </a:r>
          </a:p>
          <a:p>
            <a:pPr marL="771525" lvl="4" indent="-228600"/>
            <a:endParaRPr lang="en-US" sz="900"/>
          </a:p>
          <a:p>
            <a:pPr marL="571500" lvl="2" indent="-228600">
              <a:buFont typeface="+mj-lt"/>
              <a:buAutoNum type="alphaLcParenR" startAt="2"/>
            </a:pPr>
            <a:endParaRPr lang="en-US" sz="900"/>
          </a:p>
          <a:p>
            <a:pPr lvl="1"/>
            <a:endParaRPr lang="en-US" sz="900"/>
          </a:p>
          <a:p>
            <a:pPr marL="228600" lvl="1" indent="-228600">
              <a:buFont typeface="+mj-lt"/>
              <a:buAutoNum type="arabicPeriod" startAt="9"/>
            </a:pPr>
            <a:endParaRPr lang="en-US" sz="900"/>
          </a:p>
          <a:p>
            <a:pPr marL="771525" lvl="4" indent="-228600"/>
            <a:endParaRPr lang="en-US" sz="900"/>
          </a:p>
          <a:p>
            <a:pPr marL="771525" lvl="4" indent="-228600"/>
            <a:endParaRPr lang="en-US" sz="900"/>
          </a:p>
          <a:p>
            <a:pPr marL="228600" lvl="1" indent="-228600">
              <a:buFontTx/>
              <a:buAutoNum type="arabicPeriod" startAt="9"/>
            </a:pPr>
            <a:endParaRPr lang="en-US" sz="900"/>
          </a:p>
          <a:p>
            <a:pPr marL="228600" lvl="1" indent="-228600">
              <a:buFontTx/>
              <a:buAutoNum type="arabicPeriod" startAt="9"/>
            </a:pPr>
            <a:endParaRPr lang="en-US" sz="900"/>
          </a:p>
          <a:p>
            <a:pPr marL="228600" lvl="1" indent="-228600">
              <a:buFontTx/>
              <a:buAutoNum type="arabicPeriod" startAt="9"/>
            </a:pPr>
            <a:endParaRPr lang="en-US" sz="900"/>
          </a:p>
          <a:p>
            <a:pPr marL="230188"/>
            <a:endParaRPr lang="en-US"/>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7" name="Text Placeholder 12">
            <a:extLst>
              <a:ext uri="{FF2B5EF4-FFF2-40B4-BE49-F238E27FC236}">
                <a16:creationId xmlns:a16="http://schemas.microsoft.com/office/drawing/2014/main" id="{99CFCE49-7EE2-3ACE-EFE6-9CFFC9388BFE}"/>
              </a:ext>
            </a:extLst>
          </p:cNvPr>
          <p:cNvSpPr txBox="1">
            <a:spLocks/>
          </p:cNvSpPr>
          <p:nvPr/>
        </p:nvSpPr>
        <p:spPr>
          <a:xfrm>
            <a:off x="1017263" y="5696745"/>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a:t>
            </a:r>
          </a:p>
        </p:txBody>
      </p:sp>
      <p:sp>
        <p:nvSpPr>
          <p:cNvPr id="15" name="Rectangle: Rounded Corners 14">
            <a:extLst>
              <a:ext uri="{FF2B5EF4-FFF2-40B4-BE49-F238E27FC236}">
                <a16:creationId xmlns:a16="http://schemas.microsoft.com/office/drawing/2014/main" id="{88E656A4-2995-5CA9-A409-AEAF63977D55}"/>
              </a:ext>
            </a:extLst>
          </p:cNvPr>
          <p:cNvSpPr/>
          <p:nvPr/>
        </p:nvSpPr>
        <p:spPr>
          <a:xfrm flipV="1">
            <a:off x="1008060" y="2334061"/>
            <a:ext cx="3940195" cy="149646"/>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32" name="Text Placeholder 12">
            <a:extLst>
              <a:ext uri="{FF2B5EF4-FFF2-40B4-BE49-F238E27FC236}">
                <a16:creationId xmlns:a16="http://schemas.microsoft.com/office/drawing/2014/main" id="{BA3FC2FC-DD3F-4729-3D65-2190B98971B4}"/>
              </a:ext>
            </a:extLst>
          </p:cNvPr>
          <p:cNvSpPr txBox="1">
            <a:spLocks/>
          </p:cNvSpPr>
          <p:nvPr/>
        </p:nvSpPr>
        <p:spPr>
          <a:xfrm>
            <a:off x="5328477" y="4487611"/>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pic>
        <p:nvPicPr>
          <p:cNvPr id="24" name="Picture 23">
            <a:extLst>
              <a:ext uri="{FF2B5EF4-FFF2-40B4-BE49-F238E27FC236}">
                <a16:creationId xmlns:a16="http://schemas.microsoft.com/office/drawing/2014/main" id="{1A456BCE-9900-C397-C0ED-A5B77EE8D89B}"/>
              </a:ext>
            </a:extLst>
          </p:cNvPr>
          <p:cNvPicPr>
            <a:picLocks noChangeAspect="1"/>
          </p:cNvPicPr>
          <p:nvPr>
            <p:custDataLst>
              <p:tags r:id="rId5"/>
            </p:custDataLst>
          </p:nvPr>
        </p:nvPicPr>
        <p:blipFill>
          <a:blip r:embed="rId9"/>
          <a:stretch>
            <a:fillRect/>
          </a:stretch>
        </p:blipFill>
        <p:spPr>
          <a:xfrm>
            <a:off x="5328476" y="2840741"/>
            <a:ext cx="5075530" cy="1638605"/>
          </a:xfrm>
          <a:prstGeom prst="rect">
            <a:avLst/>
          </a:prstGeom>
        </p:spPr>
      </p:pic>
      <p:sp>
        <p:nvSpPr>
          <p:cNvPr id="23" name="Rectangle: Rounded Corners 22">
            <a:extLst>
              <a:ext uri="{FF2B5EF4-FFF2-40B4-BE49-F238E27FC236}">
                <a16:creationId xmlns:a16="http://schemas.microsoft.com/office/drawing/2014/main" id="{388376CC-6162-53B9-2BA9-6584E69A6B5C}"/>
              </a:ext>
            </a:extLst>
          </p:cNvPr>
          <p:cNvSpPr/>
          <p:nvPr/>
        </p:nvSpPr>
        <p:spPr>
          <a:xfrm flipV="1">
            <a:off x="1003053" y="4085767"/>
            <a:ext cx="3940195" cy="149646"/>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31" name="Group 30">
            <a:extLst>
              <a:ext uri="{FF2B5EF4-FFF2-40B4-BE49-F238E27FC236}">
                <a16:creationId xmlns:a16="http://schemas.microsoft.com/office/drawing/2014/main" id="{AFAB46EE-DAB0-0112-F66D-5EEAE0695AA2}"/>
              </a:ext>
            </a:extLst>
          </p:cNvPr>
          <p:cNvGrpSpPr/>
          <p:nvPr>
            <p:custDataLst>
              <p:tags r:id="rId6"/>
            </p:custDataLst>
          </p:nvPr>
        </p:nvGrpSpPr>
        <p:grpSpPr>
          <a:xfrm>
            <a:off x="995364" y="153170"/>
            <a:ext cx="5849764" cy="195814"/>
            <a:chOff x="995364" y="153170"/>
            <a:chExt cx="5849764" cy="195814"/>
          </a:xfrm>
        </p:grpSpPr>
        <p:sp>
          <p:nvSpPr>
            <p:cNvPr id="33"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5"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6"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8"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718035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4D5441C7-A3BC-8500-D879-3BBA7646B164}"/>
              </a:ext>
            </a:extLst>
          </p:cNvPr>
          <p:cNvPicPr>
            <a:picLocks noChangeAspect="1"/>
          </p:cNvPicPr>
          <p:nvPr>
            <p:custDataLst>
              <p:tags r:id="rId1"/>
            </p:custDataLst>
          </p:nvPr>
        </p:nvPicPr>
        <p:blipFill>
          <a:blip r:embed="rId9"/>
          <a:stretch>
            <a:fillRect/>
          </a:stretch>
        </p:blipFill>
        <p:spPr>
          <a:xfrm>
            <a:off x="998047" y="1330321"/>
            <a:ext cx="3950208" cy="4368394"/>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(10/16) </a:t>
            </a:r>
            <a:r>
              <a:rPr lang="en-US" sz="4000"/>
              <a:t>– </a:t>
            </a:r>
            <a:r>
              <a:rPr lang="en-US"/>
              <a:t>Pro forma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596497"/>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16"/>
            </a:pPr>
            <a:r>
              <a:rPr lang="en-US" sz="900" b="1"/>
              <a:t>Data center facility costs: </a:t>
            </a:r>
            <a:r>
              <a:rPr lang="en-US" sz="900"/>
              <a:t>The following proposed adjustment reflects the go-forward pricing for the </a:t>
            </a:r>
            <a:r>
              <a:rPr lang="en-US" sz="900" err="1"/>
              <a:t>Kyndryl</a:t>
            </a:r>
            <a:r>
              <a:rPr lang="en-US" sz="900"/>
              <a:t>-operated data centers in Barrie, ON and Markham, ON. Under the new contract, higher pricing is incurred on services relating to HPUX services, 24/7 batch monitoring support, and colocation racks, priced at $100,000 per month (effective June 1, 2024). HPUX services will be replaced in </a:t>
            </a:r>
            <a:r>
              <a:rPr lang="en-US" sz="900" err="1"/>
              <a:t>favour</a:t>
            </a:r>
            <a:r>
              <a:rPr lang="en-US" sz="900"/>
              <a:t> of </a:t>
            </a:r>
            <a:r>
              <a:rPr lang="en-US" sz="900" err="1"/>
              <a:t>EConnect</a:t>
            </a:r>
            <a:r>
              <a:rPr lang="en-US" sz="900"/>
              <a:t> upon its launch. All data center related expenses listed below are adjusted to the YTD Jun-24 monthly run-rate.</a:t>
            </a:r>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endParaRPr lang="en-US" sz="900"/>
          </a:p>
          <a:p>
            <a:pPr marL="228600" lvl="1" indent="-228600">
              <a:buFont typeface="+mj-lt"/>
              <a:buAutoNum type="arabicPeriod" startAt="16"/>
            </a:pPr>
            <a:r>
              <a:rPr lang="en-US" sz="900" b="1" err="1"/>
              <a:t>EConnect</a:t>
            </a:r>
            <a:r>
              <a:rPr lang="en-US" sz="900" b="1"/>
              <a:t> software maintenance run-rate expenses: </a:t>
            </a:r>
            <a:r>
              <a:rPr lang="en-US" sz="900"/>
              <a:t>The Company is migrating to the eConnect software solution provided by BHMI, replacing the current in-house solution. The new software is expected to enhance back-office transaction reporting capabilities. Following the launch of eConnect in late 2024, software maintenance expenses are expected to increase from approximately USD 140,000 per year to approximately USD 575,000 per year. </a:t>
            </a:r>
            <a:endParaRPr lang="en-US" sz="900" b="1"/>
          </a:p>
          <a:p>
            <a:pPr marL="228600" lvl="1" indent="-228600">
              <a:buFont typeface="+mj-lt"/>
              <a:buAutoNum type="arabicPeriod" startAt="16"/>
            </a:pPr>
            <a:endParaRPr lang="en-US" sz="900"/>
          </a:p>
          <a:p>
            <a:pPr marL="228600" lvl="1" indent="-228600">
              <a:buFont typeface="+mj-lt"/>
              <a:buAutoNum type="arabicPeriod" startAt="16"/>
            </a:pPr>
            <a:endParaRPr lang="en-US" sz="900"/>
          </a:p>
          <a:p>
            <a:pPr marL="771525" lvl="4" indent="-228600"/>
            <a:endParaRPr lang="en-US" sz="900"/>
          </a:p>
          <a:p>
            <a:pPr marL="228600" lvl="1" indent="-228600">
              <a:buFontTx/>
              <a:buAutoNum type="arabicPeriod" startAt="9"/>
            </a:pPr>
            <a:endParaRPr lang="en-US" sz="900"/>
          </a:p>
          <a:p>
            <a:pPr marL="228600" lvl="1" indent="-228600">
              <a:buFontTx/>
              <a:buAutoNum type="arabicPeriod" startAt="9"/>
            </a:pPr>
            <a:endParaRPr lang="en-US" sz="900"/>
          </a:p>
          <a:p>
            <a:pPr marL="228600" lvl="1" indent="-228600">
              <a:buFontTx/>
              <a:buAutoNum type="arabicPeriod" startAt="9"/>
            </a:pPr>
            <a:endParaRPr lang="en-US" sz="900"/>
          </a:p>
          <a:p>
            <a:pPr marL="230188"/>
            <a:endParaRPr lang="en-US"/>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6" name="Rectangle: Rounded Corners 15">
            <a:extLst>
              <a:ext uri="{FF2B5EF4-FFF2-40B4-BE49-F238E27FC236}">
                <a16:creationId xmlns:a16="http://schemas.microsoft.com/office/drawing/2014/main" id="{6E862CC1-445C-6FB8-BD17-D0062847E542}"/>
              </a:ext>
            </a:extLst>
          </p:cNvPr>
          <p:cNvSpPr/>
          <p:nvPr/>
        </p:nvSpPr>
        <p:spPr>
          <a:xfrm flipV="1">
            <a:off x="995360" y="4216274"/>
            <a:ext cx="3950208" cy="25686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7" name="Text Placeholder 12">
            <a:extLst>
              <a:ext uri="{FF2B5EF4-FFF2-40B4-BE49-F238E27FC236}">
                <a16:creationId xmlns:a16="http://schemas.microsoft.com/office/drawing/2014/main" id="{99CFCE49-7EE2-3ACE-EFE6-9CFFC9388BFE}"/>
              </a:ext>
            </a:extLst>
          </p:cNvPr>
          <p:cNvSpPr txBox="1">
            <a:spLocks/>
          </p:cNvSpPr>
          <p:nvPr/>
        </p:nvSpPr>
        <p:spPr>
          <a:xfrm>
            <a:off x="995363" y="5698715"/>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a:t>
            </a:r>
          </a:p>
        </p:txBody>
      </p:sp>
      <p:sp>
        <p:nvSpPr>
          <p:cNvPr id="14" name="Text Placeholder 12">
            <a:extLst>
              <a:ext uri="{FF2B5EF4-FFF2-40B4-BE49-F238E27FC236}">
                <a16:creationId xmlns:a16="http://schemas.microsoft.com/office/drawing/2014/main" id="{855E04B5-4716-399D-7D94-67F0CAB09EA3}"/>
              </a:ext>
            </a:extLst>
          </p:cNvPr>
          <p:cNvSpPr txBox="1">
            <a:spLocks/>
          </p:cNvSpPr>
          <p:nvPr/>
        </p:nvSpPr>
        <p:spPr>
          <a:xfrm>
            <a:off x="5347526" y="4186044"/>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Kyndryl Statement of Work, effective June 1, 2024 </a:t>
            </a:r>
          </a:p>
        </p:txBody>
      </p:sp>
      <p:sp>
        <p:nvSpPr>
          <p:cNvPr id="35" name="Text Placeholder 12">
            <a:extLst>
              <a:ext uri="{FF2B5EF4-FFF2-40B4-BE49-F238E27FC236}">
                <a16:creationId xmlns:a16="http://schemas.microsoft.com/office/drawing/2014/main" id="{02AB5AB3-C67C-B9B0-9054-1A0CD4FA5258}"/>
              </a:ext>
            </a:extLst>
          </p:cNvPr>
          <p:cNvSpPr txBox="1">
            <a:spLocks/>
          </p:cNvSpPr>
          <p:nvPr/>
        </p:nvSpPr>
        <p:spPr>
          <a:xfrm>
            <a:off x="5347526" y="5819270"/>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Note: Converted to CAD dollar at 1.37</a:t>
            </a:r>
          </a:p>
        </p:txBody>
      </p:sp>
      <p:pic>
        <p:nvPicPr>
          <p:cNvPr id="13" name="Picture 12">
            <a:extLst>
              <a:ext uri="{FF2B5EF4-FFF2-40B4-BE49-F238E27FC236}">
                <a16:creationId xmlns:a16="http://schemas.microsoft.com/office/drawing/2014/main" id="{FE14C331-7BA3-2385-FEFE-B97114550E22}"/>
              </a:ext>
            </a:extLst>
          </p:cNvPr>
          <p:cNvPicPr>
            <a:picLocks noChangeAspect="1"/>
          </p:cNvPicPr>
          <p:nvPr>
            <p:custDataLst>
              <p:tags r:id="rId5"/>
            </p:custDataLst>
          </p:nvPr>
        </p:nvPicPr>
        <p:blipFill>
          <a:blip r:embed="rId10"/>
          <a:stretch>
            <a:fillRect/>
          </a:stretch>
        </p:blipFill>
        <p:spPr>
          <a:xfrm>
            <a:off x="5340350" y="2401643"/>
            <a:ext cx="4077005" cy="1762963"/>
          </a:xfrm>
          <a:prstGeom prst="rect">
            <a:avLst/>
          </a:prstGeom>
        </p:spPr>
      </p:pic>
      <p:pic>
        <p:nvPicPr>
          <p:cNvPr id="21" name="Picture 20">
            <a:extLst>
              <a:ext uri="{FF2B5EF4-FFF2-40B4-BE49-F238E27FC236}">
                <a16:creationId xmlns:a16="http://schemas.microsoft.com/office/drawing/2014/main" id="{8FAC301B-7A91-D70E-1992-FF31B8902A05}"/>
              </a:ext>
            </a:extLst>
          </p:cNvPr>
          <p:cNvPicPr>
            <a:picLocks noChangeAspect="1"/>
          </p:cNvPicPr>
          <p:nvPr>
            <p:custDataLst>
              <p:tags r:id="rId6"/>
            </p:custDataLst>
          </p:nvPr>
        </p:nvPicPr>
        <p:blipFill>
          <a:blip r:embed="rId11"/>
          <a:stretch>
            <a:fillRect/>
          </a:stretch>
        </p:blipFill>
        <p:spPr>
          <a:xfrm>
            <a:off x="5340349" y="5048734"/>
            <a:ext cx="3111398" cy="770534"/>
          </a:xfrm>
          <a:prstGeom prst="rect">
            <a:avLst/>
          </a:prstGeom>
        </p:spPr>
      </p:pic>
      <p:grpSp>
        <p:nvGrpSpPr>
          <p:cNvPr id="32" name="Group 31">
            <a:extLst>
              <a:ext uri="{FF2B5EF4-FFF2-40B4-BE49-F238E27FC236}">
                <a16:creationId xmlns:a16="http://schemas.microsoft.com/office/drawing/2014/main" id="{AFAB46EE-DAB0-0112-F66D-5EEAE0695AA2}"/>
              </a:ext>
            </a:extLst>
          </p:cNvPr>
          <p:cNvGrpSpPr/>
          <p:nvPr>
            <p:custDataLst>
              <p:tags r:id="rId7"/>
            </p:custDataLst>
          </p:nvPr>
        </p:nvGrpSpPr>
        <p:grpSpPr>
          <a:xfrm>
            <a:off x="995364" y="153170"/>
            <a:ext cx="5849764" cy="195814"/>
            <a:chOff x="995364" y="153170"/>
            <a:chExt cx="5849764" cy="195814"/>
          </a:xfrm>
        </p:grpSpPr>
        <p:sp>
          <p:nvSpPr>
            <p:cNvPr id="33"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9"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7907124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(11/16) </a:t>
            </a:r>
            <a:r>
              <a:rPr lang="en-US" sz="4000"/>
              <a:t>– </a:t>
            </a:r>
            <a:r>
              <a:rPr lang="en-US"/>
              <a:t>Pro forma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590444"/>
            <a:ext cx="6126486" cy="4591281"/>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18"/>
            </a:pPr>
            <a:r>
              <a:rPr lang="en-US" sz="900" b="1"/>
              <a:t>Settlement services run-rate:</a:t>
            </a:r>
            <a:r>
              <a:rPr lang="en-US" sz="900"/>
              <a:t> The Company drafted a resolution and go-forward pricing as a result of the settlement services pricing dispute with </a:t>
            </a:r>
            <a:r>
              <a:rPr lang="en-US" sz="900" err="1"/>
              <a:t>Interac</a:t>
            </a:r>
            <a:r>
              <a:rPr lang="en-US" sz="900"/>
              <a:t> (</a:t>
            </a:r>
            <a:r>
              <a:rPr lang="en-US" sz="900" err="1"/>
              <a:t>QofE</a:t>
            </a:r>
            <a:r>
              <a:rPr lang="en-US" sz="900"/>
              <a:t> adjustment #3). This adjustment reflects the expected go-forward run-rate revenue of $18,000 per month. </a:t>
            </a:r>
          </a:p>
          <a:p>
            <a:pPr marL="228600" lvl="1" indent="-228600">
              <a:buFont typeface="+mj-lt"/>
              <a:buAutoNum type="arabicPeriod" startAt="18"/>
            </a:pPr>
            <a:endParaRPr lang="en-US" sz="900"/>
          </a:p>
          <a:p>
            <a:pPr marL="228600" lvl="1" indent="-228600">
              <a:buFont typeface="+mj-lt"/>
              <a:buAutoNum type="arabicPeriod" startAt="18"/>
            </a:pPr>
            <a:endParaRPr lang="en-US" sz="900"/>
          </a:p>
          <a:p>
            <a:pPr marL="228600" lvl="1" indent="-228600">
              <a:buFont typeface="+mj-lt"/>
              <a:buAutoNum type="arabicPeriod" startAt="18"/>
            </a:pPr>
            <a:endParaRPr lang="en-US" sz="900"/>
          </a:p>
          <a:p>
            <a:pPr marL="228600" lvl="1" indent="-228600">
              <a:buFont typeface="+mj-lt"/>
              <a:buAutoNum type="arabicPeriod" startAt="18"/>
            </a:pPr>
            <a:endParaRPr lang="en-US" sz="900"/>
          </a:p>
          <a:p>
            <a:pPr marL="228600" lvl="1" indent="-228600">
              <a:buFont typeface="+mj-lt"/>
              <a:buAutoNum type="arabicPeriod" startAt="18"/>
            </a:pPr>
            <a:endParaRPr lang="en-US" sz="900"/>
          </a:p>
          <a:p>
            <a:pPr marL="228600" lvl="1" indent="-228600">
              <a:buFont typeface="+mj-lt"/>
              <a:buAutoNum type="arabicPeriod" startAt="18"/>
            </a:pPr>
            <a:r>
              <a:rPr lang="en-US" sz="900" b="1"/>
              <a:t>Open positions: </a:t>
            </a:r>
            <a:r>
              <a:rPr lang="en-US" sz="900"/>
              <a:t>To maintain existing operations, the Company is hiring for the open Marketing manager and Human resource (HR) generalist roles. The estimated total compensation for these positions are $149,000 and $75,000, respectively. The implied benefits and taxes are estimated based on the average burden as a percentage of total salaries in the trailing twelve months (TTM) ending June 2024. Additionally, bonuses are estimated at 10% of salary for the Marketing Manager and 5% for the HR generalist.</a:t>
            </a:r>
            <a:endParaRPr lang="en-US"/>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7" name="Text Placeholder 12">
            <a:extLst>
              <a:ext uri="{FF2B5EF4-FFF2-40B4-BE49-F238E27FC236}">
                <a16:creationId xmlns:a16="http://schemas.microsoft.com/office/drawing/2014/main" id="{99CFCE49-7EE2-3ACE-EFE6-9CFFC9388BFE}"/>
              </a:ext>
            </a:extLst>
          </p:cNvPr>
          <p:cNvSpPr txBox="1">
            <a:spLocks/>
          </p:cNvSpPr>
          <p:nvPr/>
        </p:nvSpPr>
        <p:spPr>
          <a:xfrm>
            <a:off x="1016562" y="5533989"/>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a:t>
            </a:r>
          </a:p>
        </p:txBody>
      </p:sp>
      <p:sp>
        <p:nvSpPr>
          <p:cNvPr id="22" name="Text Placeholder 12">
            <a:extLst>
              <a:ext uri="{FF2B5EF4-FFF2-40B4-BE49-F238E27FC236}">
                <a16:creationId xmlns:a16="http://schemas.microsoft.com/office/drawing/2014/main" id="{F3AE35BB-EA82-8E79-2DD8-D368FA60EC52}"/>
              </a:ext>
            </a:extLst>
          </p:cNvPr>
          <p:cNvSpPr txBox="1">
            <a:spLocks/>
          </p:cNvSpPr>
          <p:nvPr/>
        </p:nvSpPr>
        <p:spPr>
          <a:xfrm>
            <a:off x="5354510" y="2858912"/>
            <a:ext cx="3181751" cy="276999"/>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IMNA adjustments</a:t>
            </a:r>
          </a:p>
          <a:p>
            <a:pPr rtl="0">
              <a:spcAft>
                <a:spcPts val="0"/>
              </a:spcAft>
            </a:pPr>
            <a:r>
              <a:rPr lang="en-US" sz="600" b="0">
                <a:solidFill>
                  <a:schemeClr val="tx2"/>
                </a:solidFill>
                <a:latin typeface="Arial" panose="020B0604020202020204" pitchFamily="34" charset="0"/>
              </a:rPr>
              <a:t>Note: FY21 diligence adjusted settlement services revenue assumes the entire GL account balance </a:t>
            </a:r>
          </a:p>
        </p:txBody>
      </p:sp>
      <p:sp>
        <p:nvSpPr>
          <p:cNvPr id="41" name="Text Placeholder 12">
            <a:extLst>
              <a:ext uri="{FF2B5EF4-FFF2-40B4-BE49-F238E27FC236}">
                <a16:creationId xmlns:a16="http://schemas.microsoft.com/office/drawing/2014/main" id="{48ACDE81-8B9A-E36C-8332-FEF6815529DF}"/>
              </a:ext>
            </a:extLst>
          </p:cNvPr>
          <p:cNvSpPr txBox="1">
            <a:spLocks/>
          </p:cNvSpPr>
          <p:nvPr/>
        </p:nvSpPr>
        <p:spPr>
          <a:xfrm>
            <a:off x="5331855" y="4757206"/>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Turnover report</a:t>
            </a:r>
          </a:p>
        </p:txBody>
      </p:sp>
      <p:pic>
        <p:nvPicPr>
          <p:cNvPr id="18" name="Picture 17">
            <a:extLst>
              <a:ext uri="{FF2B5EF4-FFF2-40B4-BE49-F238E27FC236}">
                <a16:creationId xmlns:a16="http://schemas.microsoft.com/office/drawing/2014/main" id="{C66A1461-D199-E4B5-4BC5-589E446554AD}"/>
              </a:ext>
            </a:extLst>
          </p:cNvPr>
          <p:cNvPicPr>
            <a:picLocks noChangeAspect="1"/>
          </p:cNvPicPr>
          <p:nvPr>
            <p:custDataLst>
              <p:tags r:id="rId4"/>
            </p:custDataLst>
          </p:nvPr>
        </p:nvPicPr>
        <p:blipFill>
          <a:blip r:embed="rId9"/>
          <a:stretch>
            <a:fillRect/>
          </a:stretch>
        </p:blipFill>
        <p:spPr>
          <a:xfrm>
            <a:off x="998047" y="1330321"/>
            <a:ext cx="3950208" cy="4368394"/>
          </a:xfrm>
          <a:prstGeom prst="rect">
            <a:avLst/>
          </a:prstGeom>
        </p:spPr>
      </p:pic>
      <p:sp>
        <p:nvSpPr>
          <p:cNvPr id="24" name="Rectangle: Rounded Corners 23">
            <a:extLst>
              <a:ext uri="{FF2B5EF4-FFF2-40B4-BE49-F238E27FC236}">
                <a16:creationId xmlns:a16="http://schemas.microsoft.com/office/drawing/2014/main" id="{324EE38C-BF5F-4D5D-A42A-14D25CA0D66C}"/>
              </a:ext>
            </a:extLst>
          </p:cNvPr>
          <p:cNvSpPr/>
          <p:nvPr/>
        </p:nvSpPr>
        <p:spPr>
          <a:xfrm flipV="1">
            <a:off x="995360" y="4463411"/>
            <a:ext cx="3950208" cy="25686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25" name="Text Placeholder 12">
            <a:extLst>
              <a:ext uri="{FF2B5EF4-FFF2-40B4-BE49-F238E27FC236}">
                <a16:creationId xmlns:a16="http://schemas.microsoft.com/office/drawing/2014/main" id="{2BB01511-FDCE-A91C-9B10-31B9D0878F70}"/>
              </a:ext>
            </a:extLst>
          </p:cNvPr>
          <p:cNvSpPr txBox="1">
            <a:spLocks/>
          </p:cNvSpPr>
          <p:nvPr/>
        </p:nvSpPr>
        <p:spPr>
          <a:xfrm>
            <a:off x="995363" y="5698715"/>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26" name="Rectangle: Rounded Corners 25">
            <a:extLst>
              <a:ext uri="{FF2B5EF4-FFF2-40B4-BE49-F238E27FC236}">
                <a16:creationId xmlns:a16="http://schemas.microsoft.com/office/drawing/2014/main" id="{2DF4BA27-2EE3-B0AA-910D-D0F9708A40D7}"/>
              </a:ext>
            </a:extLst>
          </p:cNvPr>
          <p:cNvSpPr/>
          <p:nvPr/>
        </p:nvSpPr>
        <p:spPr>
          <a:xfrm flipV="1">
            <a:off x="987124" y="2465732"/>
            <a:ext cx="3950208" cy="14154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34" name="Group 33">
            <a:extLst>
              <a:ext uri="{FF2B5EF4-FFF2-40B4-BE49-F238E27FC236}">
                <a16:creationId xmlns:a16="http://schemas.microsoft.com/office/drawing/2014/main" id="{AFAB46EE-DAB0-0112-F66D-5EEAE0695AA2}"/>
              </a:ext>
            </a:extLst>
          </p:cNvPr>
          <p:cNvGrpSpPr/>
          <p:nvPr>
            <p:custDataLst>
              <p:tags r:id="rId5"/>
            </p:custDataLst>
          </p:nvPr>
        </p:nvGrpSpPr>
        <p:grpSpPr>
          <a:xfrm>
            <a:off x="995364" y="153170"/>
            <a:ext cx="5849764" cy="195814"/>
            <a:chOff x="995364" y="153170"/>
            <a:chExt cx="5849764" cy="195814"/>
          </a:xfrm>
        </p:grpSpPr>
        <p:sp>
          <p:nvSpPr>
            <p:cNvPr id="35"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6"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7"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9"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40"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pic>
        <p:nvPicPr>
          <p:cNvPr id="12" name="Picture 11">
            <a:extLst>
              <a:ext uri="{FF2B5EF4-FFF2-40B4-BE49-F238E27FC236}">
                <a16:creationId xmlns:a16="http://schemas.microsoft.com/office/drawing/2014/main" id="{A9879479-AFA1-B925-A8F5-B19F2344AEC9}"/>
              </a:ext>
            </a:extLst>
          </p:cNvPr>
          <p:cNvPicPr>
            <a:picLocks noChangeAspect="1"/>
          </p:cNvPicPr>
          <p:nvPr>
            <p:custDataLst>
              <p:tags r:id="rId6"/>
            </p:custDataLst>
          </p:nvPr>
        </p:nvPicPr>
        <p:blipFill>
          <a:blip r:embed="rId16"/>
          <a:stretch>
            <a:fillRect/>
          </a:stretch>
        </p:blipFill>
        <p:spPr>
          <a:xfrm>
            <a:off x="5331856" y="3930944"/>
            <a:ext cx="2352751" cy="810814"/>
          </a:xfrm>
          <a:prstGeom prst="rect">
            <a:avLst/>
          </a:prstGeom>
        </p:spPr>
      </p:pic>
      <p:pic>
        <p:nvPicPr>
          <p:cNvPr id="16" name="Picture 15">
            <a:extLst>
              <a:ext uri="{FF2B5EF4-FFF2-40B4-BE49-F238E27FC236}">
                <a16:creationId xmlns:a16="http://schemas.microsoft.com/office/drawing/2014/main" id="{A816C89F-3877-27C6-7131-65CE7AFBC1A7}"/>
              </a:ext>
            </a:extLst>
          </p:cNvPr>
          <p:cNvPicPr>
            <a:picLocks noChangeAspect="1"/>
          </p:cNvPicPr>
          <p:nvPr>
            <p:custDataLst>
              <p:tags r:id="rId7"/>
            </p:custDataLst>
          </p:nvPr>
        </p:nvPicPr>
        <p:blipFill>
          <a:blip r:embed="rId17"/>
          <a:stretch>
            <a:fillRect/>
          </a:stretch>
        </p:blipFill>
        <p:spPr>
          <a:xfrm>
            <a:off x="5354511" y="2074662"/>
            <a:ext cx="3076285" cy="784250"/>
          </a:xfrm>
          <a:prstGeom prst="rect">
            <a:avLst/>
          </a:prstGeom>
        </p:spPr>
      </p:pic>
    </p:spTree>
    <p:extLst>
      <p:ext uri="{BB962C8B-B14F-4D97-AF65-F5344CB8AC3E}">
        <p14:creationId xmlns:p14="http://schemas.microsoft.com/office/powerpoint/2010/main" val="1292837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FF112D18-E0FB-B11A-6B8D-2BF3635FEDCB}"/>
              </a:ext>
            </a:extLst>
          </p:cNvPr>
          <p:cNvPicPr>
            <a:picLocks noChangeAspect="1"/>
          </p:cNvPicPr>
          <p:nvPr>
            <p:custDataLst>
              <p:tags r:id="rId1"/>
            </p:custDataLst>
          </p:nvPr>
        </p:nvPicPr>
        <p:blipFill>
          <a:blip r:embed="rId8"/>
          <a:stretch>
            <a:fillRect/>
          </a:stretch>
        </p:blipFill>
        <p:spPr>
          <a:xfrm>
            <a:off x="5350933" y="2517518"/>
            <a:ext cx="3662477" cy="1806854"/>
          </a:xfrm>
          <a:prstGeom prst="rect">
            <a:avLst/>
          </a:prstGeom>
        </p:spPr>
      </p:pic>
      <p:pic>
        <p:nvPicPr>
          <p:cNvPr id="14" name="Picture 13">
            <a:extLst>
              <a:ext uri="{FF2B5EF4-FFF2-40B4-BE49-F238E27FC236}">
                <a16:creationId xmlns:a16="http://schemas.microsoft.com/office/drawing/2014/main" id="{3E7CFDC8-E0C1-DE03-A846-983C10359938}"/>
              </a:ext>
            </a:extLst>
          </p:cNvPr>
          <p:cNvPicPr>
            <a:picLocks noChangeAspect="1"/>
          </p:cNvPicPr>
          <p:nvPr>
            <p:custDataLst>
              <p:tags r:id="rId2"/>
            </p:custDataLst>
          </p:nvPr>
        </p:nvPicPr>
        <p:blipFill>
          <a:blip r:embed="rId9"/>
          <a:stretch>
            <a:fillRect/>
          </a:stretch>
        </p:blipFill>
        <p:spPr>
          <a:xfrm>
            <a:off x="998047" y="1330321"/>
            <a:ext cx="3950208" cy="4368394"/>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(12/16) </a:t>
            </a:r>
            <a:r>
              <a:rPr lang="en-US" sz="4000"/>
              <a:t>– </a:t>
            </a:r>
            <a:r>
              <a:rPr lang="en-US"/>
              <a:t>Pro forma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608608"/>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20"/>
            </a:pPr>
            <a:r>
              <a:rPr lang="en-US" sz="900" b="1"/>
              <a:t>New products, cards: </a:t>
            </a:r>
            <a:r>
              <a:rPr lang="en-US" sz="900"/>
              <a:t>Since January 2021, the Company introduced several new products within the Card Management System line of business, primarily related to Visa and Mastercard debit cards. Although most fees associated with these products represent a pass-through, the Company earns administrative fees on the transactions. This adjustment reflects the pro forma impact attributable to the administrative fees, based on the monthly YTD June 2024 run-rate. Any new card product impact from new customers, adjusted within QofE pro forma adjustment #14a, is excluded from this adjustment to avoid duplication.</a:t>
            </a:r>
            <a:endParaRPr lang="en-US"/>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a:t>
            </a:r>
          </a:p>
        </p:txBody>
      </p:sp>
      <p:sp>
        <p:nvSpPr>
          <p:cNvPr id="31" name="Text Placeholder 12">
            <a:extLst>
              <a:ext uri="{FF2B5EF4-FFF2-40B4-BE49-F238E27FC236}">
                <a16:creationId xmlns:a16="http://schemas.microsoft.com/office/drawing/2014/main" id="{784B2AD1-1FE5-E5E9-F789-CF78299F6F64}"/>
              </a:ext>
            </a:extLst>
          </p:cNvPr>
          <p:cNvSpPr txBox="1">
            <a:spLocks/>
          </p:cNvSpPr>
          <p:nvPr/>
        </p:nvSpPr>
        <p:spPr>
          <a:xfrm>
            <a:off x="1017263" y="5701980"/>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33" name="Text Placeholder 12">
            <a:extLst>
              <a:ext uri="{FF2B5EF4-FFF2-40B4-BE49-F238E27FC236}">
                <a16:creationId xmlns:a16="http://schemas.microsoft.com/office/drawing/2014/main" id="{B5085E73-5872-F18A-ED76-5AD57510BE05}"/>
              </a:ext>
            </a:extLst>
          </p:cNvPr>
          <p:cNvSpPr txBox="1">
            <a:spLocks/>
          </p:cNvSpPr>
          <p:nvPr/>
        </p:nvSpPr>
        <p:spPr>
          <a:xfrm>
            <a:off x="5371276" y="4329936"/>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sp>
        <p:nvSpPr>
          <p:cNvPr id="41" name="Rectangle: Rounded Corners 40">
            <a:extLst>
              <a:ext uri="{FF2B5EF4-FFF2-40B4-BE49-F238E27FC236}">
                <a16:creationId xmlns:a16="http://schemas.microsoft.com/office/drawing/2014/main" id="{F3D5D14A-D445-101A-3031-EA4E4847D99F}"/>
              </a:ext>
            </a:extLst>
          </p:cNvPr>
          <p:cNvSpPr/>
          <p:nvPr/>
        </p:nvSpPr>
        <p:spPr>
          <a:xfrm flipV="1">
            <a:off x="5350933" y="3861483"/>
            <a:ext cx="3662476" cy="444623"/>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3" name="Rectangle: Rounded Corners 12">
            <a:extLst>
              <a:ext uri="{FF2B5EF4-FFF2-40B4-BE49-F238E27FC236}">
                <a16:creationId xmlns:a16="http://schemas.microsoft.com/office/drawing/2014/main" id="{58D76E91-7428-6613-7D51-075889B1184F}"/>
              </a:ext>
            </a:extLst>
          </p:cNvPr>
          <p:cNvSpPr/>
          <p:nvPr/>
        </p:nvSpPr>
        <p:spPr>
          <a:xfrm flipV="1">
            <a:off x="995360" y="4696124"/>
            <a:ext cx="3950208" cy="141545"/>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22" name="Rectangle: Rounded Corners 21">
            <a:extLst>
              <a:ext uri="{FF2B5EF4-FFF2-40B4-BE49-F238E27FC236}">
                <a16:creationId xmlns:a16="http://schemas.microsoft.com/office/drawing/2014/main" id="{A80BCB40-A0E2-C927-2543-ABAA616E6EF5}"/>
              </a:ext>
            </a:extLst>
          </p:cNvPr>
          <p:cNvSpPr/>
          <p:nvPr/>
        </p:nvSpPr>
        <p:spPr>
          <a:xfrm flipV="1">
            <a:off x="987124" y="2589297"/>
            <a:ext cx="3950208" cy="14154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30" name="Group 29">
            <a:extLst>
              <a:ext uri="{FF2B5EF4-FFF2-40B4-BE49-F238E27FC236}">
                <a16:creationId xmlns:a16="http://schemas.microsoft.com/office/drawing/2014/main" id="{AFAB46EE-DAB0-0112-F66D-5EEAE0695AA2}"/>
              </a:ext>
            </a:extLst>
          </p:cNvPr>
          <p:cNvGrpSpPr/>
          <p:nvPr>
            <p:custDataLst>
              <p:tags r:id="rId6"/>
            </p:custDataLst>
          </p:nvPr>
        </p:nvGrpSpPr>
        <p:grpSpPr>
          <a:xfrm>
            <a:off x="995364" y="153170"/>
            <a:ext cx="5849764" cy="195814"/>
            <a:chOff x="995364" y="153170"/>
            <a:chExt cx="5849764" cy="195814"/>
          </a:xfrm>
        </p:grpSpPr>
        <p:sp>
          <p:nvSpPr>
            <p:cNvPr id="32"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5"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6"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8"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613392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602552"/>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21"/>
            </a:pPr>
            <a:r>
              <a:rPr lang="en-US" sz="900" b="1"/>
              <a:t>New products, fraud management:</a:t>
            </a:r>
            <a:r>
              <a:rPr lang="en-US" sz="900"/>
              <a:t> Beginning FY21, the Company introduced new fraud detection services, such as E-Detect Plus and 3D Secure in relation to new Visa and Mastercard debit card transactions. Similar to QofE pro forma adjustment #20, this adjustment includes the revenue and cost of goods sold impact across the January 2021 to June 2024 period and is based on a monthly YTD June 2024 run-rate. The corresponding cost of goods sold is estimated using the FY23 gross margin percentage for the fraud management line of business. Any fraud management product impact from new customers, adjusted within QofE pro forma adjustment #14a, is excluded from this adjustment to avoid duplication.</a:t>
            </a:r>
          </a:p>
          <a:p>
            <a:pPr marL="228600" lvl="1" indent="-228600">
              <a:buFont typeface="+mj-lt"/>
              <a:buAutoNum type="arabicPeriod" startAt="21"/>
            </a:pPr>
            <a:endParaRPr lang="en-US" sz="900"/>
          </a:p>
          <a:p>
            <a:pPr marL="228600" lvl="1" indent="-228600">
              <a:buFont typeface="+mj-lt"/>
              <a:buAutoNum type="arabicPeriod" startAt="21"/>
            </a:pPr>
            <a:endParaRPr lang="en-US" sz="900"/>
          </a:p>
          <a:p>
            <a:pPr marL="228600" lvl="1" indent="-228600">
              <a:buFont typeface="+mj-lt"/>
              <a:buAutoNum type="arabicPeriod" startAt="21"/>
            </a:pPr>
            <a:endParaRPr lang="en-US" sz="900"/>
          </a:p>
          <a:p>
            <a:pPr marL="228600" lvl="1" indent="-228600">
              <a:buFont typeface="+mj-lt"/>
              <a:buAutoNum type="arabicPeriod" startAt="21"/>
            </a:pPr>
            <a:endParaRPr lang="en-US" sz="900"/>
          </a:p>
          <a:p>
            <a:pPr marL="228600" lvl="1" indent="-228600">
              <a:buFont typeface="+mj-lt"/>
              <a:buAutoNum type="arabicPeriod" startAt="21"/>
            </a:pPr>
            <a:endParaRPr lang="en-US" sz="900"/>
          </a:p>
          <a:p>
            <a:pPr marL="228600" lvl="1" indent="-228600">
              <a:buFont typeface="+mj-lt"/>
              <a:buAutoNum type="arabicPeriod" startAt="21"/>
            </a:pPr>
            <a:endParaRPr lang="en-US" sz="900"/>
          </a:p>
          <a:p>
            <a:pPr marL="228600" lvl="1" indent="-228600">
              <a:buFont typeface="+mj-lt"/>
              <a:buAutoNum type="arabicPeriod" startAt="21"/>
            </a:pPr>
            <a:endParaRPr lang="en-US" sz="900"/>
          </a:p>
          <a:p>
            <a:pPr marL="228600" lvl="1" indent="-228600">
              <a:buFont typeface="+mj-lt"/>
              <a:buAutoNum type="arabicPeriod" startAt="21"/>
            </a:pPr>
            <a:endParaRPr lang="en-US" sz="900"/>
          </a:p>
          <a:p>
            <a:pPr marL="228600" lvl="1" indent="-228600">
              <a:buFont typeface="+mj-lt"/>
              <a:buAutoNum type="arabicPeriod" startAt="21"/>
            </a:pPr>
            <a:endParaRPr lang="en-US" sz="900"/>
          </a:p>
          <a:p>
            <a:pPr marL="228600" lvl="1" indent="-228600">
              <a:buFont typeface="+mj-lt"/>
              <a:buAutoNum type="arabicPeriod" startAt="21"/>
            </a:pPr>
            <a:r>
              <a:rPr lang="en-US" sz="900" b="1"/>
              <a:t>ATM CDRS fees: </a:t>
            </a:r>
            <a:r>
              <a:rPr lang="en-US" sz="900"/>
              <a:t>ATM CDRS fees pertain to a new revenue stream established in September 2023, related to anti money laundering (AML) and compliance reporting for banks and credit unions participating in the Exchange network. Management estimates a run-rate of $5,000 per month, which is consistent with the fees recorded in the last ten months ending June 2024. Historical ATM CDRS fees from January 2021 to August 2023 are adjusted to the go-forward run-rate of $5,000 per month.</a:t>
            </a:r>
            <a:endParaRPr lang="en-US"/>
          </a:p>
        </p:txBody>
      </p:sp>
      <p:pic>
        <p:nvPicPr>
          <p:cNvPr id="31" name="Picture 30">
            <a:extLst>
              <a:ext uri="{FF2B5EF4-FFF2-40B4-BE49-F238E27FC236}">
                <a16:creationId xmlns:a16="http://schemas.microsoft.com/office/drawing/2014/main" id="{D3D46DEF-34F8-0509-E219-3E83DF5B742D}"/>
              </a:ext>
            </a:extLst>
          </p:cNvPr>
          <p:cNvPicPr>
            <a:picLocks noChangeAspect="1"/>
          </p:cNvPicPr>
          <p:nvPr>
            <p:custDataLst>
              <p:tags r:id="rId1"/>
            </p:custDataLst>
          </p:nvPr>
        </p:nvPicPr>
        <p:blipFill>
          <a:blip r:embed="rId10"/>
          <a:stretch>
            <a:fillRect/>
          </a:stretch>
        </p:blipFill>
        <p:spPr>
          <a:xfrm>
            <a:off x="5342506" y="5293932"/>
            <a:ext cx="2428646" cy="755904"/>
          </a:xfrm>
          <a:prstGeom prst="rect">
            <a:avLst/>
          </a:prstGeom>
        </p:spPr>
      </p:pic>
      <p:pic>
        <p:nvPicPr>
          <p:cNvPr id="32" name="Picture 31">
            <a:extLst>
              <a:ext uri="{FF2B5EF4-FFF2-40B4-BE49-F238E27FC236}">
                <a16:creationId xmlns:a16="http://schemas.microsoft.com/office/drawing/2014/main" id="{08B1DAB3-712B-72B5-4D59-0407442039A2}"/>
              </a:ext>
            </a:extLst>
          </p:cNvPr>
          <p:cNvPicPr>
            <a:picLocks noChangeAspect="1"/>
          </p:cNvPicPr>
          <p:nvPr>
            <p:custDataLst>
              <p:tags r:id="rId2"/>
            </p:custDataLst>
          </p:nvPr>
        </p:nvPicPr>
        <p:blipFill>
          <a:blip r:embed="rId11"/>
          <a:stretch>
            <a:fillRect/>
          </a:stretch>
        </p:blipFill>
        <p:spPr>
          <a:xfrm>
            <a:off x="5342505" y="2631129"/>
            <a:ext cx="3486912" cy="1805635"/>
          </a:xfrm>
          <a:prstGeom prst="rect">
            <a:avLst/>
          </a:prstGeom>
        </p:spPr>
      </p:pic>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(13/16) </a:t>
            </a:r>
            <a:r>
              <a:rPr lang="en-US" sz="4000"/>
              <a:t>– </a:t>
            </a:r>
            <a:r>
              <a:rPr lang="en-US"/>
              <a:t>Pro forma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4"/>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5"/>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a:t>
            </a:r>
          </a:p>
        </p:txBody>
      </p:sp>
      <p:sp>
        <p:nvSpPr>
          <p:cNvPr id="18" name="Text Placeholder 12">
            <a:extLst>
              <a:ext uri="{FF2B5EF4-FFF2-40B4-BE49-F238E27FC236}">
                <a16:creationId xmlns:a16="http://schemas.microsoft.com/office/drawing/2014/main" id="{413DB18E-EAA0-B164-301B-B36A5668D68E}"/>
              </a:ext>
            </a:extLst>
          </p:cNvPr>
          <p:cNvSpPr txBox="1">
            <a:spLocks/>
          </p:cNvSpPr>
          <p:nvPr/>
        </p:nvSpPr>
        <p:spPr>
          <a:xfrm>
            <a:off x="5342506" y="4435481"/>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sp>
        <p:nvSpPr>
          <p:cNvPr id="43" name="Text Placeholder 12">
            <a:extLst>
              <a:ext uri="{FF2B5EF4-FFF2-40B4-BE49-F238E27FC236}">
                <a16:creationId xmlns:a16="http://schemas.microsoft.com/office/drawing/2014/main" id="{6338336F-B9C7-9DD1-0F45-85D63706D06C}"/>
              </a:ext>
            </a:extLst>
          </p:cNvPr>
          <p:cNvSpPr txBox="1">
            <a:spLocks/>
          </p:cNvSpPr>
          <p:nvPr/>
        </p:nvSpPr>
        <p:spPr>
          <a:xfrm>
            <a:off x="5342506" y="6049836"/>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44" name="Rectangle: Rounded Corners 43">
            <a:extLst>
              <a:ext uri="{FF2B5EF4-FFF2-40B4-BE49-F238E27FC236}">
                <a16:creationId xmlns:a16="http://schemas.microsoft.com/office/drawing/2014/main" id="{FE4C9D8F-072E-B212-895F-991CAABF820A}"/>
              </a:ext>
            </a:extLst>
          </p:cNvPr>
          <p:cNvSpPr/>
          <p:nvPr/>
        </p:nvSpPr>
        <p:spPr>
          <a:xfrm flipV="1">
            <a:off x="5342505" y="3987798"/>
            <a:ext cx="3486911" cy="447688"/>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pic>
        <p:nvPicPr>
          <p:cNvPr id="13" name="Picture 12">
            <a:extLst>
              <a:ext uri="{FF2B5EF4-FFF2-40B4-BE49-F238E27FC236}">
                <a16:creationId xmlns:a16="http://schemas.microsoft.com/office/drawing/2014/main" id="{5A81A45A-DF59-9287-E66D-7261EA28649C}"/>
              </a:ext>
            </a:extLst>
          </p:cNvPr>
          <p:cNvPicPr>
            <a:picLocks noChangeAspect="1"/>
          </p:cNvPicPr>
          <p:nvPr>
            <p:custDataLst>
              <p:tags r:id="rId6"/>
            </p:custDataLst>
          </p:nvPr>
        </p:nvPicPr>
        <p:blipFill>
          <a:blip r:embed="rId12"/>
          <a:stretch>
            <a:fillRect/>
          </a:stretch>
        </p:blipFill>
        <p:spPr>
          <a:xfrm>
            <a:off x="998047" y="1330321"/>
            <a:ext cx="3950208" cy="4368394"/>
          </a:xfrm>
          <a:prstGeom prst="rect">
            <a:avLst/>
          </a:prstGeom>
        </p:spPr>
      </p:pic>
      <p:sp>
        <p:nvSpPr>
          <p:cNvPr id="20" name="Text Placeholder 12">
            <a:extLst>
              <a:ext uri="{FF2B5EF4-FFF2-40B4-BE49-F238E27FC236}">
                <a16:creationId xmlns:a16="http://schemas.microsoft.com/office/drawing/2014/main" id="{F53D2F7A-CC79-7A70-8EFB-1D9558579FFD}"/>
              </a:ext>
            </a:extLst>
          </p:cNvPr>
          <p:cNvSpPr txBox="1">
            <a:spLocks/>
          </p:cNvSpPr>
          <p:nvPr/>
        </p:nvSpPr>
        <p:spPr>
          <a:xfrm>
            <a:off x="1017263" y="5701980"/>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22" name="Rectangle: Rounded Corners 21">
            <a:extLst>
              <a:ext uri="{FF2B5EF4-FFF2-40B4-BE49-F238E27FC236}">
                <a16:creationId xmlns:a16="http://schemas.microsoft.com/office/drawing/2014/main" id="{729CFAD2-0D32-4908-602C-6C803F584C4C}"/>
              </a:ext>
            </a:extLst>
          </p:cNvPr>
          <p:cNvSpPr/>
          <p:nvPr/>
        </p:nvSpPr>
        <p:spPr>
          <a:xfrm flipV="1">
            <a:off x="995360" y="4834489"/>
            <a:ext cx="3950208" cy="250152"/>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23" name="Rectangle: Rounded Corners 22">
            <a:extLst>
              <a:ext uri="{FF2B5EF4-FFF2-40B4-BE49-F238E27FC236}">
                <a16:creationId xmlns:a16="http://schemas.microsoft.com/office/drawing/2014/main" id="{B66F927F-D8EB-CC44-9EF5-1A006E58DBEA}"/>
              </a:ext>
            </a:extLst>
          </p:cNvPr>
          <p:cNvSpPr/>
          <p:nvPr/>
        </p:nvSpPr>
        <p:spPr>
          <a:xfrm flipV="1">
            <a:off x="987124" y="2715630"/>
            <a:ext cx="3950208" cy="25015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33" name="Group 32">
            <a:extLst>
              <a:ext uri="{FF2B5EF4-FFF2-40B4-BE49-F238E27FC236}">
                <a16:creationId xmlns:a16="http://schemas.microsoft.com/office/drawing/2014/main" id="{AFAB46EE-DAB0-0112-F66D-5EEAE0695AA2}"/>
              </a:ext>
            </a:extLst>
          </p:cNvPr>
          <p:cNvGrpSpPr/>
          <p:nvPr>
            <p:custDataLst>
              <p:tags r:id="rId7"/>
            </p:custDataLst>
          </p:nvPr>
        </p:nvGrpSpPr>
        <p:grpSpPr>
          <a:xfrm>
            <a:off x="995364" y="153170"/>
            <a:ext cx="5849764" cy="195814"/>
            <a:chOff x="995364" y="153170"/>
            <a:chExt cx="5849764" cy="195814"/>
          </a:xfrm>
        </p:grpSpPr>
        <p:sp>
          <p:nvSpPr>
            <p:cNvPr id="34" name="Other Sections1">
              <a:hlinkClick r:id="rId13"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Current Section2">
              <a:hlinkClick r:id="rId14"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6" name="Other Sections3">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7" name="Other Sections4">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5">
              <a:hlinkClick r:id="rId17"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9" name="Other Sections6">
              <a:hlinkClick r:id="rId18"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40718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(14/16) </a:t>
            </a:r>
            <a:r>
              <a:rPr lang="en-US" sz="4000"/>
              <a:t>– </a:t>
            </a:r>
            <a:r>
              <a:rPr lang="en-US"/>
              <a:t>Pro forma adjustments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251" y="1596499"/>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23"/>
            </a:pPr>
            <a:r>
              <a:rPr lang="en-US" sz="900" b="1"/>
              <a:t>Discontinued operations – Chase partnership: </a:t>
            </a:r>
            <a:r>
              <a:rPr lang="en-US" sz="900"/>
              <a:t>The Company earned residual payments from transactions conducted on Chase payment terminals amounting to $228,000 in FY21 and $186,000 in FY22. As this partnership was identified to be unprofitable, the Company discontinued and sold the partnership agreement to a third party at no gain. This adjustment eliminates the historical residual payment income (and losses) from EBITDA as recorded within a distinct GL account. Management represents that minimal labour hours were incurred with the partnership; these expenses have not been quantified as part of this adjustment.</a:t>
            </a:r>
          </a:p>
          <a:p>
            <a:pPr marL="228600" lvl="1" indent="-228600">
              <a:buFont typeface="+mj-lt"/>
              <a:buAutoNum type="arabicPeriod" startAt="23"/>
            </a:pPr>
            <a:endParaRPr lang="en-US" sz="900"/>
          </a:p>
          <a:p>
            <a:pPr marL="228600" lvl="1" indent="-228600">
              <a:buFont typeface="+mj-lt"/>
              <a:buAutoNum type="arabicPeriod" startAt="23"/>
            </a:pPr>
            <a:endParaRPr lang="en-US" sz="900"/>
          </a:p>
          <a:p>
            <a:pPr marL="228600" lvl="1" indent="-228600">
              <a:buFont typeface="+mj-lt"/>
              <a:buAutoNum type="arabicPeriod" startAt="23"/>
            </a:pPr>
            <a:endParaRPr lang="en-US" sz="900"/>
          </a:p>
          <a:p>
            <a:pPr marL="228600" lvl="1" indent="-228600">
              <a:buFont typeface="+mj-lt"/>
              <a:buAutoNum type="arabicPeriod" startAt="23"/>
            </a:pPr>
            <a:r>
              <a:rPr lang="en-US" sz="900" b="1"/>
              <a:t>Visa VAP run-rate:  </a:t>
            </a:r>
            <a:r>
              <a:rPr lang="en-US" sz="900"/>
              <a:t>In May 2023, the Company upgraded its Visa analytics platform (VAP) membership which enabled compatibility with new VISA debit card transaction offerings and established a second backup site for contingency purposes. The revised membership fee, which increased from ~$37,000 per month to ~$67,000 per month, was effective beginning March 2023. The historical expenses associated with the Visa VAP system have been adjusted to align with the ongoing monthly rate.</a:t>
            </a:r>
            <a:endParaRPr lang="en-US"/>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a:t>
            </a:r>
          </a:p>
        </p:txBody>
      </p:sp>
      <p:pic>
        <p:nvPicPr>
          <p:cNvPr id="28" name="Picture 27">
            <a:extLst>
              <a:ext uri="{FF2B5EF4-FFF2-40B4-BE49-F238E27FC236}">
                <a16:creationId xmlns:a16="http://schemas.microsoft.com/office/drawing/2014/main" id="{59DD0014-DBC8-DC3F-D5FF-C76DEDA83220}"/>
              </a:ext>
            </a:extLst>
          </p:cNvPr>
          <p:cNvPicPr>
            <a:picLocks noChangeAspect="1"/>
          </p:cNvPicPr>
          <p:nvPr>
            <p:custDataLst>
              <p:tags r:id="rId4"/>
            </p:custDataLst>
          </p:nvPr>
        </p:nvPicPr>
        <p:blipFill>
          <a:blip r:embed="rId9"/>
          <a:stretch>
            <a:fillRect/>
          </a:stretch>
        </p:blipFill>
        <p:spPr>
          <a:xfrm>
            <a:off x="5341272" y="2497125"/>
            <a:ext cx="3106522" cy="644957"/>
          </a:xfrm>
          <a:prstGeom prst="rect">
            <a:avLst/>
          </a:prstGeom>
        </p:spPr>
      </p:pic>
      <p:pic>
        <p:nvPicPr>
          <p:cNvPr id="29" name="Picture 28">
            <a:extLst>
              <a:ext uri="{FF2B5EF4-FFF2-40B4-BE49-F238E27FC236}">
                <a16:creationId xmlns:a16="http://schemas.microsoft.com/office/drawing/2014/main" id="{1672D595-2612-DB96-9B69-74A5E6BB3192}"/>
              </a:ext>
            </a:extLst>
          </p:cNvPr>
          <p:cNvPicPr>
            <a:picLocks noChangeAspect="1"/>
          </p:cNvPicPr>
          <p:nvPr>
            <p:custDataLst>
              <p:tags r:id="rId5"/>
            </p:custDataLst>
          </p:nvPr>
        </p:nvPicPr>
        <p:blipFill>
          <a:blip r:embed="rId10"/>
          <a:stretch>
            <a:fillRect/>
          </a:stretch>
        </p:blipFill>
        <p:spPr>
          <a:xfrm>
            <a:off x="5341273" y="3894927"/>
            <a:ext cx="2934614" cy="787603"/>
          </a:xfrm>
          <a:prstGeom prst="rect">
            <a:avLst/>
          </a:prstGeom>
        </p:spPr>
      </p:pic>
      <p:pic>
        <p:nvPicPr>
          <p:cNvPr id="13" name="Picture 12">
            <a:extLst>
              <a:ext uri="{FF2B5EF4-FFF2-40B4-BE49-F238E27FC236}">
                <a16:creationId xmlns:a16="http://schemas.microsoft.com/office/drawing/2014/main" id="{6C8187A7-E7DD-A944-8D12-7FF531419C4E}"/>
              </a:ext>
            </a:extLst>
          </p:cNvPr>
          <p:cNvPicPr>
            <a:picLocks noChangeAspect="1"/>
          </p:cNvPicPr>
          <p:nvPr>
            <p:custDataLst>
              <p:tags r:id="rId6"/>
            </p:custDataLst>
          </p:nvPr>
        </p:nvPicPr>
        <p:blipFill>
          <a:blip r:embed="rId11"/>
          <a:stretch>
            <a:fillRect/>
          </a:stretch>
        </p:blipFill>
        <p:spPr>
          <a:xfrm>
            <a:off x="998047" y="1330321"/>
            <a:ext cx="3950208" cy="4368394"/>
          </a:xfrm>
          <a:prstGeom prst="rect">
            <a:avLst/>
          </a:prstGeom>
        </p:spPr>
      </p:pic>
      <p:sp>
        <p:nvSpPr>
          <p:cNvPr id="18" name="Text Placeholder 12">
            <a:extLst>
              <a:ext uri="{FF2B5EF4-FFF2-40B4-BE49-F238E27FC236}">
                <a16:creationId xmlns:a16="http://schemas.microsoft.com/office/drawing/2014/main" id="{14D7C425-8E03-3A83-DD65-5B23E9EC3586}"/>
              </a:ext>
            </a:extLst>
          </p:cNvPr>
          <p:cNvSpPr txBox="1">
            <a:spLocks/>
          </p:cNvSpPr>
          <p:nvPr/>
        </p:nvSpPr>
        <p:spPr>
          <a:xfrm>
            <a:off x="1017263" y="5701980"/>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21" name="Rectangle: Rounded Corners 20">
            <a:extLst>
              <a:ext uri="{FF2B5EF4-FFF2-40B4-BE49-F238E27FC236}">
                <a16:creationId xmlns:a16="http://schemas.microsoft.com/office/drawing/2014/main" id="{0A4D6589-68A4-6983-A3B6-B3FDE94FD681}"/>
              </a:ext>
            </a:extLst>
          </p:cNvPr>
          <p:cNvSpPr/>
          <p:nvPr/>
        </p:nvSpPr>
        <p:spPr>
          <a:xfrm flipV="1">
            <a:off x="995360" y="5081135"/>
            <a:ext cx="3950208" cy="257628"/>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23" name="Rectangle: Rounded Corners 22">
            <a:extLst>
              <a:ext uri="{FF2B5EF4-FFF2-40B4-BE49-F238E27FC236}">
                <a16:creationId xmlns:a16="http://schemas.microsoft.com/office/drawing/2014/main" id="{1A93D254-D2BC-21B9-1EE4-28D20F34E78C}"/>
              </a:ext>
            </a:extLst>
          </p:cNvPr>
          <p:cNvSpPr/>
          <p:nvPr/>
        </p:nvSpPr>
        <p:spPr>
          <a:xfrm flipV="1">
            <a:off x="987124" y="2956265"/>
            <a:ext cx="3950208" cy="14154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32" name="Group 31">
            <a:extLst>
              <a:ext uri="{FF2B5EF4-FFF2-40B4-BE49-F238E27FC236}">
                <a16:creationId xmlns:a16="http://schemas.microsoft.com/office/drawing/2014/main" id="{AFAB46EE-DAB0-0112-F66D-5EEAE0695AA2}"/>
              </a:ext>
            </a:extLst>
          </p:cNvPr>
          <p:cNvGrpSpPr/>
          <p:nvPr>
            <p:custDataLst>
              <p:tags r:id="rId7"/>
            </p:custDataLst>
          </p:nvPr>
        </p:nvGrpSpPr>
        <p:grpSpPr>
          <a:xfrm>
            <a:off x="995364" y="153170"/>
            <a:ext cx="5849764" cy="195814"/>
            <a:chOff x="995364" y="153170"/>
            <a:chExt cx="5849764" cy="195814"/>
          </a:xfrm>
        </p:grpSpPr>
        <p:sp>
          <p:nvSpPr>
            <p:cNvPr id="33" name="Other Sections1">
              <a:hlinkClick r:id="rId12"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4" name="Current Section2">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5" name="Other Sections3">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6" name="Other Sections4">
              <a:hlinkClick r:id="rId15"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7" name="Other Sections5">
              <a:hlinkClick r:id="rId16"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8" name="Other Sections6">
              <a:hlinkClick r:id="rId17"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3197090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80CC30BC-1DB8-7A86-685A-05209AABF9BD}"/>
              </a:ext>
            </a:extLst>
          </p:cNvPr>
          <p:cNvPicPr>
            <a:picLocks noChangeAspect="1"/>
          </p:cNvPicPr>
          <p:nvPr>
            <p:custDataLst>
              <p:tags r:id="rId1"/>
            </p:custDataLst>
          </p:nvPr>
        </p:nvPicPr>
        <p:blipFill>
          <a:blip r:embed="rId9"/>
          <a:stretch>
            <a:fillRect/>
          </a:stretch>
        </p:blipFill>
        <p:spPr>
          <a:xfrm>
            <a:off x="998046" y="1330324"/>
            <a:ext cx="3861283" cy="1840154"/>
          </a:xfrm>
          <a:prstGeom prst="rect">
            <a:avLst/>
          </a:prstGeom>
        </p:spPr>
      </p:pic>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5048949" y="1654152"/>
            <a:ext cx="6126486"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US" sz="900"/>
              <a:t>The following includes potential quality of earnings considerations identified during diligence. These items relate to other matters that may be considered in the overall evaluation of the Company. Given the subjective nature of these assumptions, they have not been included in the quality of earnings schedule. </a:t>
            </a:r>
          </a:p>
          <a:p>
            <a:pPr marL="228600" lvl="1" indent="-228600">
              <a:buFont typeface="+mj-lt"/>
              <a:buAutoNum type="alphaUcPeriod"/>
            </a:pPr>
            <a:r>
              <a:rPr lang="en-US" sz="900" b="1"/>
              <a:t>Net cash rent expense: </a:t>
            </a:r>
            <a:r>
              <a:rPr lang="en-US" sz="900"/>
              <a:t>Net impact from rental expense and sublease income on the Company’s corporate office space is quantified to present the cash burden on the Company.</a:t>
            </a:r>
          </a:p>
          <a:p>
            <a:pPr marL="466725" lvl="2" indent="-285750">
              <a:buFont typeface="+mj-lt"/>
              <a:buAutoNum type="romanLcPeriod"/>
            </a:pPr>
            <a:r>
              <a:rPr lang="en-US" sz="900" b="1"/>
              <a:t>Cash rent expense:</a:t>
            </a:r>
            <a:r>
              <a:rPr lang="en-US" sz="900"/>
              <a:t> The Company records rental expenses under IFRS 16 whereby the annual lease obligation is capitalized and amortized on a monthly basis. This consideration presents the monthly cash rent expense to provide a view of operating rent expense. Cash rent expense is reconciled to annual rent expense per lease agreements.</a:t>
            </a:r>
          </a:p>
          <a:p>
            <a:pPr marL="466725" lvl="2" indent="-285750">
              <a:buFont typeface="+mj-lt"/>
              <a:buAutoNum type="romanLcPeriod"/>
            </a:pPr>
            <a:endParaRPr lang="en-US" sz="900"/>
          </a:p>
          <a:p>
            <a:pPr marL="466725" lvl="2" indent="-285750">
              <a:buFont typeface="+mj-lt"/>
              <a:buAutoNum type="romanLcPeriod"/>
            </a:pPr>
            <a:endParaRPr lang="en-US" sz="900"/>
          </a:p>
          <a:p>
            <a:pPr marL="466725" lvl="2" indent="-285750">
              <a:buFont typeface="+mj-lt"/>
              <a:buAutoNum type="romanLcPeriod"/>
            </a:pPr>
            <a:endParaRPr lang="en-US" sz="900"/>
          </a:p>
          <a:p>
            <a:pPr marL="466725" lvl="2" indent="-285750">
              <a:buFont typeface="+mj-lt"/>
              <a:buAutoNum type="romanLcPeriod"/>
            </a:pPr>
            <a:endParaRPr lang="en-US" sz="900"/>
          </a:p>
          <a:p>
            <a:pPr marL="466725" lvl="2" indent="-285750">
              <a:buFont typeface="+mj-lt"/>
              <a:buAutoNum type="romanLcPeriod"/>
            </a:pPr>
            <a:endParaRPr lang="en-US" sz="900"/>
          </a:p>
          <a:p>
            <a:pPr marL="466725" lvl="2" indent="-285750">
              <a:buFont typeface="+mj-lt"/>
              <a:buAutoNum type="romanLcPeriod"/>
            </a:pPr>
            <a:endParaRPr lang="en-US" sz="900"/>
          </a:p>
          <a:p>
            <a:pPr marL="466725" lvl="2" indent="-285750">
              <a:buFont typeface="+mj-lt"/>
              <a:buAutoNum type="romanLcPeriod"/>
            </a:pPr>
            <a:r>
              <a:rPr lang="en-US" sz="900" b="1"/>
              <a:t>Sublet income:</a:t>
            </a:r>
            <a:r>
              <a:rPr lang="en-US" sz="900"/>
              <a:t> From January 2024 to July 2026, the Company entered into a sublease agreement for 2,082sq. ft. of space at the Markham corporate office location. The effective start date of the sublease is January 2024, however, the agreement offers a rent-free period from January 2024 to April 2024. This period is adjusted to reflect the sublease rental income since the effective date. Refer to the Appendix for additional details.</a:t>
            </a:r>
          </a:p>
          <a:p>
            <a:pPr marL="285750" lvl="1" indent="-285750">
              <a:buFont typeface="+mj-lt"/>
              <a:buAutoNum type="alphaUcPeriod"/>
            </a:pPr>
            <a:r>
              <a:rPr lang="en-US" sz="900" b="1"/>
              <a:t>Issuer interchange fees: </a:t>
            </a:r>
            <a:r>
              <a:rPr lang="en-US" sz="900"/>
              <a:t>Issuer interchange fees is a new revenue stream where the Company earns processing fees on each transaction for co-badged debit cards with Visa and Mastercard. The consideration presents the historical revenue associated with the product. This revenue is expected to grow as financial institutions continue to shift towards Visa and Mastercard debit cards. </a:t>
            </a:r>
          </a:p>
          <a:p>
            <a:pPr marL="466725" lvl="2" indent="-285750">
              <a:buFont typeface="+mj-lt"/>
              <a:buAutoNum type="romanLcPeriod"/>
            </a:pPr>
            <a:endParaRPr lang="en-US" sz="900"/>
          </a:p>
          <a:p>
            <a:pPr marL="228600" lvl="1" indent="-228600">
              <a:buFont typeface="+mj-lt"/>
              <a:buAutoNum type="alphaUcPeriod"/>
            </a:pPr>
            <a:endParaRPr lang="en-US" sz="900"/>
          </a:p>
          <a:p>
            <a:pPr marL="228600" lvl="1" indent="-228600">
              <a:buFont typeface="+mj-lt"/>
              <a:buAutoNum type="alphaUcPeriod"/>
            </a:pPr>
            <a:endParaRPr lang="en-US" sz="900"/>
          </a:p>
          <a:p>
            <a:pPr marL="228600" lvl="1" indent="-228600">
              <a:buFont typeface="+mj-lt"/>
              <a:buAutoNum type="alphaUcPeriod"/>
            </a:pPr>
            <a:endParaRPr lang="en-US" sz="900"/>
          </a:p>
          <a:p>
            <a:pPr marL="228600" lvl="1" indent="-228600">
              <a:buFont typeface="+mj-lt"/>
              <a:buAutoNum type="alphaUcPeriod"/>
            </a:pPr>
            <a:endParaRPr lang="en-US" sz="900"/>
          </a:p>
          <a:p>
            <a:pPr marL="228600" lvl="1" indent="-228600">
              <a:buFont typeface="+mj-lt"/>
              <a:buAutoNum type="alphaUcPeriod"/>
            </a:pPr>
            <a:endParaRPr lang="en-US" sz="900"/>
          </a:p>
          <a:p>
            <a:pPr marL="228600" lvl="1" indent="-228600">
              <a:buFont typeface="+mj-lt"/>
              <a:buAutoNum type="alphaUcPeriod"/>
            </a:pPr>
            <a:endParaRPr lang="en-US" sz="900" b="1"/>
          </a:p>
          <a:p>
            <a:pPr marL="228600" lvl="1" indent="-228600">
              <a:buFont typeface="+mj-lt"/>
              <a:buAutoNum type="alphaUcPeriod"/>
            </a:pPr>
            <a:endParaRPr lang="en-US" sz="900"/>
          </a:p>
          <a:p>
            <a:pPr marL="228600" lvl="1" indent="-228600">
              <a:buFont typeface="+mj-lt"/>
              <a:buAutoNum type="alphaUcPeriod"/>
            </a:pPr>
            <a:endParaRPr lang="en-US" sz="900"/>
          </a:p>
          <a:p>
            <a:pPr marL="228600" lvl="1" indent="-228600">
              <a:buFont typeface="+mj-lt"/>
              <a:buAutoNum type="alphaUcPeriod"/>
            </a:pPr>
            <a:endParaRPr lang="en-US" sz="900"/>
          </a:p>
          <a:p>
            <a:pPr marL="228600" lvl="1" indent="-228600">
              <a:buFont typeface="+mj-lt"/>
              <a:buAutoNum type="alphaUcPeriod"/>
            </a:pPr>
            <a:endParaRPr lang="en-US" sz="900"/>
          </a:p>
          <a:p>
            <a:pPr marL="771525" lvl="4" indent="-228600"/>
            <a:endParaRPr lang="en-US" sz="900"/>
          </a:p>
          <a:p>
            <a:pPr marL="228600" lvl="1" indent="-228600">
              <a:buFontTx/>
              <a:buAutoNum type="arabicPeriod" startAt="9"/>
            </a:pPr>
            <a:endParaRPr lang="en-US" sz="900"/>
          </a:p>
          <a:p>
            <a:pPr marL="228600" lvl="1" indent="-228600">
              <a:buFontTx/>
              <a:buAutoNum type="arabicPeriod" startAt="9"/>
            </a:pPr>
            <a:endParaRPr lang="en-US" sz="900"/>
          </a:p>
          <a:p>
            <a:pPr marL="228600" lvl="1" indent="-228600">
              <a:buFontTx/>
              <a:buAutoNum type="arabicPeriod" startAt="9"/>
            </a:pPr>
            <a:endParaRPr lang="en-US" sz="900"/>
          </a:p>
          <a:p>
            <a:pPr marL="230188"/>
            <a:endParaRPr lang="en-US"/>
          </a:p>
        </p:txBody>
      </p:sp>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(15/16) </a:t>
            </a:r>
            <a:r>
              <a:rPr lang="en-US" sz="4000"/>
              <a:t>– </a:t>
            </a:r>
            <a:r>
              <a:rPr lang="en-US"/>
              <a:t>Other considerations</a:t>
            </a:r>
          </a:p>
        </p:txBody>
      </p:sp>
      <p:sp>
        <p:nvSpPr>
          <p:cNvPr id="4" name="Rounded Rectangle 7">
            <a:extLst>
              <a:ext uri="{FF2B5EF4-FFF2-40B4-BE49-F238E27FC236}">
                <a16:creationId xmlns:a16="http://schemas.microsoft.com/office/drawing/2014/main" id="{51880071-00E2-BEDD-3939-6DF3305A034A}"/>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5047418" y="1337241"/>
            <a:ext cx="6152395"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Other considerations</a:t>
            </a:r>
          </a:p>
        </p:txBody>
      </p:sp>
      <p:sp>
        <p:nvSpPr>
          <p:cNvPr id="12" name="Rectangle: Rounded Corners 11">
            <a:extLst>
              <a:ext uri="{FF2B5EF4-FFF2-40B4-BE49-F238E27FC236}">
                <a16:creationId xmlns:a16="http://schemas.microsoft.com/office/drawing/2014/main" id="{360F437F-95C4-B9D9-FF37-D7DA5EDD1A9A}"/>
              </a:ext>
            </a:extLst>
          </p:cNvPr>
          <p:cNvSpPr/>
          <p:nvPr/>
        </p:nvSpPr>
        <p:spPr>
          <a:xfrm flipV="1">
            <a:off x="995361" y="1827702"/>
            <a:ext cx="3861283" cy="134448"/>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2" name="Text Placeholder 12">
            <a:extLst>
              <a:ext uri="{FF2B5EF4-FFF2-40B4-BE49-F238E27FC236}">
                <a16:creationId xmlns:a16="http://schemas.microsoft.com/office/drawing/2014/main" id="{8F01E0C6-7915-84D0-44D8-8FAD08C37A3A}"/>
              </a:ext>
            </a:extLst>
          </p:cNvPr>
          <p:cNvSpPr txBox="1">
            <a:spLocks/>
          </p:cNvSpPr>
          <p:nvPr/>
        </p:nvSpPr>
        <p:spPr>
          <a:xfrm>
            <a:off x="5573158" y="4273538"/>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Lease agreements</a:t>
            </a:r>
          </a:p>
        </p:txBody>
      </p:sp>
      <p:sp>
        <p:nvSpPr>
          <p:cNvPr id="31" name="Text Placeholder 12">
            <a:extLst>
              <a:ext uri="{FF2B5EF4-FFF2-40B4-BE49-F238E27FC236}">
                <a16:creationId xmlns:a16="http://schemas.microsoft.com/office/drawing/2014/main" id="{CC7AC9C7-8E39-A9B0-5197-6220E1DDEA3E}"/>
              </a:ext>
            </a:extLst>
          </p:cNvPr>
          <p:cNvSpPr txBox="1">
            <a:spLocks/>
          </p:cNvSpPr>
          <p:nvPr/>
        </p:nvSpPr>
        <p:spPr>
          <a:xfrm>
            <a:off x="1016565" y="3176828"/>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pic>
        <p:nvPicPr>
          <p:cNvPr id="18" name="Picture 17">
            <a:extLst>
              <a:ext uri="{FF2B5EF4-FFF2-40B4-BE49-F238E27FC236}">
                <a16:creationId xmlns:a16="http://schemas.microsoft.com/office/drawing/2014/main" id="{20E2C95C-F4E5-7EF1-22A5-F38E7D87A7A6}"/>
              </a:ext>
            </a:extLst>
          </p:cNvPr>
          <p:cNvPicPr>
            <a:picLocks noChangeAspect="1"/>
          </p:cNvPicPr>
          <p:nvPr>
            <p:custDataLst>
              <p:tags r:id="rId5"/>
            </p:custDataLst>
          </p:nvPr>
        </p:nvPicPr>
        <p:blipFill>
          <a:blip r:embed="rId10"/>
          <a:stretch>
            <a:fillRect/>
          </a:stretch>
        </p:blipFill>
        <p:spPr>
          <a:xfrm>
            <a:off x="5588271" y="3095615"/>
            <a:ext cx="5055718" cy="1151001"/>
          </a:xfrm>
          <a:prstGeom prst="rect">
            <a:avLst/>
          </a:prstGeom>
        </p:spPr>
      </p:pic>
      <p:grpSp>
        <p:nvGrpSpPr>
          <p:cNvPr id="30" name="Group 29">
            <a:extLst>
              <a:ext uri="{FF2B5EF4-FFF2-40B4-BE49-F238E27FC236}">
                <a16:creationId xmlns:a16="http://schemas.microsoft.com/office/drawing/2014/main" id="{AFAB46EE-DAB0-0112-F66D-5EEAE0695AA2}"/>
              </a:ext>
            </a:extLst>
          </p:cNvPr>
          <p:cNvGrpSpPr/>
          <p:nvPr>
            <p:custDataLst>
              <p:tags r:id="rId6"/>
            </p:custDataLst>
          </p:nvPr>
        </p:nvGrpSpPr>
        <p:grpSpPr>
          <a:xfrm>
            <a:off x="995364" y="153170"/>
            <a:ext cx="5849764" cy="195814"/>
            <a:chOff x="995364" y="153170"/>
            <a:chExt cx="5849764" cy="195814"/>
          </a:xfrm>
        </p:grpSpPr>
        <p:sp>
          <p:nvSpPr>
            <p:cNvPr id="32"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Current Section2">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4" name="Other Sections3">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5"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6"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7"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972962436"/>
      </p:ext>
    </p:extLst>
  </p:cSld>
  <p:clrMapOvr>
    <a:masterClrMapping/>
  </p:clrMapOvr>
  <p:extLst>
    <p:ext uri="{6950BFC3-D8DA-4A85-94F7-54DA5524770B}">
      <p188:commentRel xmlns:p188="http://schemas.microsoft.com/office/powerpoint/2018/8/main" r:id="rId8"/>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E8C68BE-7C2A-F784-954F-07A270A2567A}"/>
              </a:ext>
            </a:extLst>
          </p:cNvPr>
          <p:cNvSpPr>
            <a:spLocks noGrp="1"/>
          </p:cNvSpPr>
          <p:nvPr>
            <p:ph type="title"/>
          </p:nvPr>
        </p:nvSpPr>
        <p:spPr>
          <a:xfrm>
            <a:off x="995362" y="431800"/>
            <a:ext cx="10204452" cy="539750"/>
          </a:xfrm>
        </p:spPr>
        <p:txBody>
          <a:bodyPr/>
          <a:lstStyle/>
          <a:p>
            <a:r>
              <a:rPr lang="en-US"/>
              <a:t>Quality of earnings (16/16) </a:t>
            </a:r>
            <a:r>
              <a:rPr lang="en-US" sz="4000"/>
              <a:t>– </a:t>
            </a:r>
            <a:r>
              <a:rPr lang="en-US"/>
              <a:t>Other considerations (continued)</a:t>
            </a:r>
          </a:p>
        </p:txBody>
      </p:sp>
      <p:sp>
        <p:nvSpPr>
          <p:cNvPr id="4" name="Rounded Rectangle 7">
            <a:extLst>
              <a:ext uri="{FF2B5EF4-FFF2-40B4-BE49-F238E27FC236}">
                <a16:creationId xmlns:a16="http://schemas.microsoft.com/office/drawing/2014/main" id="{51880071-00E2-BEDD-3939-6DF3305A034A}"/>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6D8AF231-D915-B5F2-5E39-87359E9AB471}"/>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7AE748C-721A-89C7-079B-A580D45196E2}"/>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7" name="Text Placeholder 48">
            <a:extLst>
              <a:ext uri="{FF2B5EF4-FFF2-40B4-BE49-F238E27FC236}">
                <a16:creationId xmlns:a16="http://schemas.microsoft.com/office/drawing/2014/main" id="{1A5456E4-6C1F-AC54-C8B0-48B201D531DA}"/>
              </a:ext>
            </a:extLst>
          </p:cNvPr>
          <p:cNvSpPr txBox="1">
            <a:spLocks/>
          </p:cNvSpPr>
          <p:nvPr/>
        </p:nvSpPr>
        <p:spPr>
          <a:xfrm>
            <a:off x="1010349" y="1603352"/>
            <a:ext cx="5085651" cy="422277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lphaUcPeriod" startAt="3"/>
            </a:pPr>
            <a:r>
              <a:rPr lang="en-US" sz="900" b="1"/>
              <a:t>E-hub money transfer:</a:t>
            </a:r>
            <a:r>
              <a:rPr lang="en-US" sz="900"/>
              <a:t> In November 2023, the Company launched E-hub money transfer, a new product which is expected to be a growth area for the Company. Given the recent launch, a run-rate adjustment was not proposed. The consideration presents the historical reported revenue associated with the product. </a:t>
            </a:r>
          </a:p>
          <a:p>
            <a:pPr marL="228600" lvl="1" indent="-228600">
              <a:buFont typeface="+mj-lt"/>
              <a:buAutoNum type="alphaUcPeriod" startAt="3"/>
            </a:pPr>
            <a:r>
              <a:rPr lang="en-US" sz="900" b="1"/>
              <a:t>Sublet revenue run-rate: </a:t>
            </a:r>
            <a:r>
              <a:rPr lang="en-US" sz="900"/>
              <a:t>The Company entered into a lease for additional office space in January 2020. Following impacts from Covid-19 in FY21 and return to office in FY23, Management confirms this space is considered redundant for business operations and remained unused for the rental period. A sublease agreement was confirmed beginning January 2024, in which ~65% of the rent expense is recovered through sublease income. Sublease income is presented in the historical period for the life of the lease agreement.</a:t>
            </a:r>
          </a:p>
          <a:p>
            <a:pPr marL="228600" lvl="1" indent="-228600">
              <a:buFont typeface="+mj-lt"/>
              <a:buAutoNum type="alphaUcPeriod" startAt="3"/>
            </a:pPr>
            <a:endParaRPr lang="en-US" sz="900"/>
          </a:p>
          <a:p>
            <a:pPr marL="228600" lvl="1" indent="-228600">
              <a:buFont typeface="+mj-lt"/>
              <a:buAutoNum type="alphaUcPeriod" startAt="3"/>
            </a:pPr>
            <a:endParaRPr lang="en-US" sz="900"/>
          </a:p>
          <a:p>
            <a:pPr marL="228600" lvl="1" indent="-228600">
              <a:spcAft>
                <a:spcPts val="0"/>
              </a:spcAft>
              <a:buFont typeface="+mj-lt"/>
              <a:buAutoNum type="alphaUcPeriod" startAt="3"/>
            </a:pPr>
            <a:endParaRPr lang="en-US" sz="900"/>
          </a:p>
          <a:p>
            <a:pPr marL="228600" lvl="1" indent="-228600">
              <a:buFont typeface="+mj-lt"/>
              <a:buAutoNum type="alphaUcPeriod" startAt="3"/>
            </a:pPr>
            <a:endParaRPr lang="en-US" sz="900"/>
          </a:p>
          <a:p>
            <a:pPr marL="228600" lvl="1" indent="-228600">
              <a:spcAft>
                <a:spcPts val="0"/>
              </a:spcAft>
              <a:buFont typeface="+mj-lt"/>
              <a:buAutoNum type="alphaUcPeriod" startAt="3"/>
            </a:pPr>
            <a:endParaRPr lang="en-US" sz="900"/>
          </a:p>
          <a:p>
            <a:pPr marL="228600" lvl="1" indent="-228600">
              <a:spcAft>
                <a:spcPts val="0"/>
              </a:spcAft>
              <a:buFont typeface="+mj-lt"/>
              <a:buAutoNum type="alphaUcPeriod" startAt="5"/>
            </a:pPr>
            <a:r>
              <a:rPr lang="en-US" sz="900" b="1"/>
              <a:t>Co-op financial variable costs run-rate: </a:t>
            </a:r>
            <a:r>
              <a:rPr lang="en-US" sz="900"/>
              <a:t>The Company receives preferential rates for a fraud management service provided by a related party (Co-op). Although the go-forward pricing has not yet been established, Management estimates an increase of 10%. This consideration presents the increase in costs for indicative purposes.</a:t>
            </a:r>
            <a:endParaRPr lang="en-US"/>
          </a:p>
        </p:txBody>
      </p:sp>
      <p:sp>
        <p:nvSpPr>
          <p:cNvPr id="8" name="Text Placeholder 7">
            <a:extLst>
              <a:ext uri="{FF2B5EF4-FFF2-40B4-BE49-F238E27FC236}">
                <a16:creationId xmlns:a16="http://schemas.microsoft.com/office/drawing/2014/main" id="{91FD0316-6023-1065-0F8C-CD68AD97E648}"/>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45799516-90DE-5F00-7C0C-76E8730FB553}"/>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D946AEDB-F910-DE2A-AD09-C2D2F9C86FA3}"/>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 name="UpSlide SubSection Marker" hidden="1">
            <a:extLst>
              <a:ext uri="{FF2B5EF4-FFF2-40B4-BE49-F238E27FC236}">
                <a16:creationId xmlns:a16="http://schemas.microsoft.com/office/drawing/2014/main" id="{C085AA6E-9CB1-AB21-7C4D-9B5FA67E4967}"/>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Quality of Earnings</a:t>
            </a:r>
          </a:p>
        </p:txBody>
      </p:sp>
      <p:sp>
        <p:nvSpPr>
          <p:cNvPr id="19" name="Text Placeholder 25">
            <a:extLst>
              <a:ext uri="{FF2B5EF4-FFF2-40B4-BE49-F238E27FC236}">
                <a16:creationId xmlns:a16="http://schemas.microsoft.com/office/drawing/2014/main" id="{3BB6F38A-3954-9BA0-D302-FC8C683D5C45}"/>
              </a:ext>
            </a:extLst>
          </p:cNvPr>
          <p:cNvSpPr txBox="1">
            <a:spLocks/>
          </p:cNvSpPr>
          <p:nvPr/>
        </p:nvSpPr>
        <p:spPr>
          <a:xfrm>
            <a:off x="1016562" y="1337241"/>
            <a:ext cx="10183251" cy="260238"/>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Other considerations (continued)</a:t>
            </a:r>
          </a:p>
        </p:txBody>
      </p:sp>
      <p:sp>
        <p:nvSpPr>
          <p:cNvPr id="14" name="Text Placeholder 12">
            <a:extLst>
              <a:ext uri="{FF2B5EF4-FFF2-40B4-BE49-F238E27FC236}">
                <a16:creationId xmlns:a16="http://schemas.microsoft.com/office/drawing/2014/main" id="{84416CDE-296B-856F-9530-05CCE236182A}"/>
              </a:ext>
            </a:extLst>
          </p:cNvPr>
          <p:cNvSpPr txBox="1">
            <a:spLocks/>
          </p:cNvSpPr>
          <p:nvPr/>
        </p:nvSpPr>
        <p:spPr>
          <a:xfrm>
            <a:off x="1308060" y="3916451"/>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Lease agreements</a:t>
            </a:r>
          </a:p>
        </p:txBody>
      </p:sp>
      <p:sp>
        <p:nvSpPr>
          <p:cNvPr id="16" name="Text Placeholder 12">
            <a:extLst>
              <a:ext uri="{FF2B5EF4-FFF2-40B4-BE49-F238E27FC236}">
                <a16:creationId xmlns:a16="http://schemas.microsoft.com/office/drawing/2014/main" id="{87025378-BAEC-1D43-CB80-F0D0AEF93F61}"/>
              </a:ext>
            </a:extLst>
          </p:cNvPr>
          <p:cNvSpPr txBox="1">
            <a:spLocks/>
          </p:cNvSpPr>
          <p:nvPr/>
        </p:nvSpPr>
        <p:spPr>
          <a:xfrm>
            <a:off x="1316616" y="5431013"/>
            <a:ext cx="318175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p:txBody>
      </p:sp>
      <p:sp>
        <p:nvSpPr>
          <p:cNvPr id="18" name="Text Placeholder 48">
            <a:extLst>
              <a:ext uri="{FF2B5EF4-FFF2-40B4-BE49-F238E27FC236}">
                <a16:creationId xmlns:a16="http://schemas.microsoft.com/office/drawing/2014/main" id="{DCF3E945-601B-9FE5-3B88-E255703CD4AB}"/>
              </a:ext>
            </a:extLst>
          </p:cNvPr>
          <p:cNvSpPr txBox="1">
            <a:spLocks/>
          </p:cNvSpPr>
          <p:nvPr/>
        </p:nvSpPr>
        <p:spPr>
          <a:xfrm>
            <a:off x="6089783" y="1597480"/>
            <a:ext cx="5085652" cy="4279446"/>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spcAft>
                <a:spcPts val="0"/>
              </a:spcAft>
              <a:buFont typeface="+mj-lt"/>
              <a:buAutoNum type="alphaUcPeriod" startAt="6"/>
            </a:pPr>
            <a:r>
              <a:rPr lang="en-US" sz="900" b="1"/>
              <a:t>Call center employees:</a:t>
            </a:r>
            <a:r>
              <a:rPr lang="en-US" sz="900"/>
              <a:t> The Company plans to increase its full-time call center staff with new full-time positions. The recruitment process involves a six-month part-time contract, transitioning to full-time based on performance, which saves on recruitment costs from hiring full-time employees directly. Costs related to increases in full time employees are largely offset by decreases in contractor use. The future estimated payroll costs for the call center employees and resultant savings in contractual costs was not quantified.</a:t>
            </a:r>
          </a:p>
          <a:p>
            <a:pPr lvl="1">
              <a:spcAft>
                <a:spcPts val="0"/>
              </a:spcAft>
            </a:pPr>
            <a:endParaRPr lang="en-US" sz="900"/>
          </a:p>
          <a:p>
            <a:pPr marL="228600" lvl="1" indent="-228600">
              <a:buFont typeface="+mj-lt"/>
              <a:buAutoNum type="alphaUcPeriod" startAt="7"/>
            </a:pPr>
            <a:r>
              <a:rPr lang="en-US" sz="900" b="1"/>
              <a:t>Capitalized labour and development: </a:t>
            </a:r>
            <a:r>
              <a:rPr lang="en-US" sz="900"/>
              <a:t>The Company capitalizes internal labour expenses associated with technology and systems development, which are then amortized over the lifespan of the corresponding asset. This consideration presents FY22 and FY23 capitalized labour costs, primarily relating to the eConnect project with BHMI and data center relocation. Labour costs associated with the new data center encompass time spent on data replication, preliminary server and software testing, and test environment configuration. The capitalized labour costs are amortized over the periods outlined below, determined by the anticipated usage period.</a:t>
            </a:r>
          </a:p>
          <a:p>
            <a:pPr marL="228600" lvl="1" indent="-228600">
              <a:buFont typeface="+mj-lt"/>
              <a:buAutoNum type="alphaUcPeriod" startAt="7"/>
            </a:pPr>
            <a:endParaRPr lang="en-US" sz="900"/>
          </a:p>
          <a:p>
            <a:pPr lvl="1"/>
            <a:endParaRPr lang="en-US" sz="900"/>
          </a:p>
          <a:p>
            <a:pPr marL="228600" lvl="1" indent="-228600">
              <a:buFont typeface="+mj-lt"/>
              <a:buAutoNum type="alphaUcPeriod" startAt="2"/>
            </a:pPr>
            <a:endParaRPr lang="en-US" sz="900"/>
          </a:p>
          <a:p>
            <a:pPr marL="228600" lvl="1" indent="-228600">
              <a:buFont typeface="+mj-lt"/>
              <a:buAutoNum type="alphaUcPeriod" startAt="2"/>
            </a:pPr>
            <a:endParaRPr lang="en-US" sz="900"/>
          </a:p>
          <a:p>
            <a:pPr marL="228600" lvl="1" indent="-228600">
              <a:buFont typeface="+mj-lt"/>
              <a:buAutoNum type="alphaUcPeriod" startAt="2"/>
            </a:pPr>
            <a:endParaRPr lang="en-US" sz="900"/>
          </a:p>
          <a:p>
            <a:pPr marL="228600" lvl="1" indent="-228600">
              <a:buFont typeface="+mj-lt"/>
              <a:buAutoNum type="alphaUcPeriod" startAt="2"/>
            </a:pPr>
            <a:endParaRPr lang="en-US" sz="900"/>
          </a:p>
          <a:p>
            <a:pPr marL="228600" lvl="1" indent="-228600">
              <a:buFont typeface="+mj-lt"/>
              <a:buAutoNum type="alphaUcPeriod" startAt="2"/>
            </a:pPr>
            <a:endParaRPr lang="en-US" sz="900" b="1"/>
          </a:p>
          <a:p>
            <a:pPr marL="228600" lvl="1" indent="-228600">
              <a:buFont typeface="+mj-lt"/>
              <a:buAutoNum type="alphaUcPeriod" startAt="2"/>
            </a:pPr>
            <a:endParaRPr lang="en-US" sz="900"/>
          </a:p>
          <a:p>
            <a:pPr marL="228600" lvl="1" indent="-228600">
              <a:buFont typeface="+mj-lt"/>
              <a:buAutoNum type="alphaUcPeriod" startAt="2"/>
            </a:pPr>
            <a:endParaRPr lang="en-US" sz="900"/>
          </a:p>
          <a:p>
            <a:pPr marL="228600" lvl="1" indent="-228600">
              <a:buFont typeface="+mj-lt"/>
              <a:buAutoNum type="alphaUcPeriod" startAt="2"/>
            </a:pPr>
            <a:endParaRPr lang="en-US" sz="900"/>
          </a:p>
          <a:p>
            <a:pPr marL="228600" lvl="1" indent="-228600">
              <a:buFont typeface="+mj-lt"/>
              <a:buAutoNum type="alphaUcPeriod" startAt="2"/>
            </a:pPr>
            <a:endParaRPr lang="en-US" sz="900"/>
          </a:p>
          <a:p>
            <a:pPr marL="771525" lvl="4" indent="-228600"/>
            <a:endParaRPr lang="en-US" sz="900"/>
          </a:p>
          <a:p>
            <a:pPr marL="228600" lvl="1" indent="-228600">
              <a:buFontTx/>
              <a:buAutoNum type="arabicPeriod" startAt="9"/>
            </a:pPr>
            <a:endParaRPr lang="en-US" sz="900"/>
          </a:p>
          <a:p>
            <a:pPr marL="228600" lvl="1" indent="-228600">
              <a:buFontTx/>
              <a:buAutoNum type="arabicPeriod" startAt="9"/>
            </a:pPr>
            <a:endParaRPr lang="en-US" sz="900"/>
          </a:p>
          <a:p>
            <a:pPr marL="228600" lvl="1" indent="-228600">
              <a:buFontTx/>
              <a:buAutoNum type="arabicPeriod" startAt="9"/>
            </a:pPr>
            <a:endParaRPr lang="en-US" sz="900"/>
          </a:p>
          <a:p>
            <a:pPr marL="230188"/>
            <a:endParaRPr lang="en-US"/>
          </a:p>
        </p:txBody>
      </p:sp>
      <p:sp>
        <p:nvSpPr>
          <p:cNvPr id="21" name="Text Placeholder 12">
            <a:extLst>
              <a:ext uri="{FF2B5EF4-FFF2-40B4-BE49-F238E27FC236}">
                <a16:creationId xmlns:a16="http://schemas.microsoft.com/office/drawing/2014/main" id="{E89A1BC6-DC84-82FB-F37D-997A82190D42}"/>
              </a:ext>
            </a:extLst>
          </p:cNvPr>
          <p:cNvSpPr txBox="1">
            <a:spLocks/>
          </p:cNvSpPr>
          <p:nvPr/>
        </p:nvSpPr>
        <p:spPr>
          <a:xfrm>
            <a:off x="6379555" y="4620523"/>
            <a:ext cx="264120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Capitalized hours report</a:t>
            </a:r>
          </a:p>
        </p:txBody>
      </p:sp>
      <p:pic>
        <p:nvPicPr>
          <p:cNvPr id="2" name="Picture 1">
            <a:extLst>
              <a:ext uri="{FF2B5EF4-FFF2-40B4-BE49-F238E27FC236}">
                <a16:creationId xmlns:a16="http://schemas.microsoft.com/office/drawing/2014/main" id="{D6880590-8717-74A5-2E4D-5C5D0EDB445F}"/>
              </a:ext>
            </a:extLst>
          </p:cNvPr>
          <p:cNvPicPr>
            <a:picLocks noChangeAspect="1"/>
          </p:cNvPicPr>
          <p:nvPr>
            <p:custDataLst>
              <p:tags r:id="rId4"/>
            </p:custDataLst>
          </p:nvPr>
        </p:nvPicPr>
        <p:blipFill>
          <a:blip r:embed="rId10"/>
          <a:stretch>
            <a:fillRect/>
          </a:stretch>
        </p:blipFill>
        <p:spPr>
          <a:xfrm>
            <a:off x="6379555" y="4722870"/>
            <a:ext cx="3126029" cy="852221"/>
          </a:xfrm>
          <a:prstGeom prst="rect">
            <a:avLst/>
          </a:prstGeom>
        </p:spPr>
      </p:pic>
      <p:sp>
        <p:nvSpPr>
          <p:cNvPr id="12" name="Text Placeholder 12">
            <a:extLst>
              <a:ext uri="{FF2B5EF4-FFF2-40B4-BE49-F238E27FC236}">
                <a16:creationId xmlns:a16="http://schemas.microsoft.com/office/drawing/2014/main" id="{89974E96-2DC1-D2C2-4070-9C73A4BC2545}"/>
              </a:ext>
            </a:extLst>
          </p:cNvPr>
          <p:cNvSpPr txBox="1">
            <a:spLocks/>
          </p:cNvSpPr>
          <p:nvPr/>
        </p:nvSpPr>
        <p:spPr>
          <a:xfrm>
            <a:off x="6379555" y="5575091"/>
            <a:ext cx="2641201"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April 2024 NBV</a:t>
            </a:r>
          </a:p>
        </p:txBody>
      </p:sp>
      <p:pic>
        <p:nvPicPr>
          <p:cNvPr id="22" name="Picture 21">
            <a:extLst>
              <a:ext uri="{FF2B5EF4-FFF2-40B4-BE49-F238E27FC236}">
                <a16:creationId xmlns:a16="http://schemas.microsoft.com/office/drawing/2014/main" id="{A9A0227F-F633-4070-658A-0588A3BA0A48}"/>
              </a:ext>
            </a:extLst>
          </p:cNvPr>
          <p:cNvPicPr>
            <a:picLocks noChangeAspect="1"/>
          </p:cNvPicPr>
          <p:nvPr>
            <p:custDataLst>
              <p:tags r:id="rId5"/>
            </p:custDataLst>
          </p:nvPr>
        </p:nvPicPr>
        <p:blipFill>
          <a:blip r:embed="rId11"/>
          <a:stretch>
            <a:fillRect/>
          </a:stretch>
        </p:blipFill>
        <p:spPr>
          <a:xfrm>
            <a:off x="1308058" y="3125908"/>
            <a:ext cx="3408883" cy="787603"/>
          </a:xfrm>
          <a:prstGeom prst="rect">
            <a:avLst/>
          </a:prstGeom>
        </p:spPr>
      </p:pic>
      <p:pic>
        <p:nvPicPr>
          <p:cNvPr id="26" name="Picture 25">
            <a:extLst>
              <a:ext uri="{FF2B5EF4-FFF2-40B4-BE49-F238E27FC236}">
                <a16:creationId xmlns:a16="http://schemas.microsoft.com/office/drawing/2014/main" id="{09BEEEA9-BA85-5B32-3E8F-6651FB9FF780}"/>
              </a:ext>
            </a:extLst>
          </p:cNvPr>
          <p:cNvPicPr>
            <a:picLocks noChangeAspect="1"/>
          </p:cNvPicPr>
          <p:nvPr>
            <p:custDataLst>
              <p:tags r:id="rId6"/>
            </p:custDataLst>
          </p:nvPr>
        </p:nvPicPr>
        <p:blipFill>
          <a:blip r:embed="rId12"/>
          <a:stretch>
            <a:fillRect/>
          </a:stretch>
        </p:blipFill>
        <p:spPr>
          <a:xfrm>
            <a:off x="1312986" y="4664358"/>
            <a:ext cx="3054096" cy="760781"/>
          </a:xfrm>
          <a:prstGeom prst="rect">
            <a:avLst/>
          </a:prstGeom>
        </p:spPr>
      </p:pic>
      <p:pic>
        <p:nvPicPr>
          <p:cNvPr id="29" name="Picture 28">
            <a:extLst>
              <a:ext uri="{FF2B5EF4-FFF2-40B4-BE49-F238E27FC236}">
                <a16:creationId xmlns:a16="http://schemas.microsoft.com/office/drawing/2014/main" id="{8DA8F675-0708-3553-054A-D7F8AE5EF977}"/>
              </a:ext>
            </a:extLst>
          </p:cNvPr>
          <p:cNvPicPr>
            <a:picLocks noChangeAspect="1"/>
          </p:cNvPicPr>
          <p:nvPr>
            <p:custDataLst>
              <p:tags r:id="rId7"/>
            </p:custDataLst>
          </p:nvPr>
        </p:nvPicPr>
        <p:blipFill>
          <a:blip r:embed="rId13"/>
          <a:stretch>
            <a:fillRect/>
          </a:stretch>
        </p:blipFill>
        <p:spPr>
          <a:xfrm>
            <a:off x="6379557" y="3843564"/>
            <a:ext cx="3272333" cy="746151"/>
          </a:xfrm>
          <a:prstGeom prst="rect">
            <a:avLst/>
          </a:prstGeom>
        </p:spPr>
      </p:pic>
      <p:grpSp>
        <p:nvGrpSpPr>
          <p:cNvPr id="35" name="Group 34">
            <a:extLst>
              <a:ext uri="{FF2B5EF4-FFF2-40B4-BE49-F238E27FC236}">
                <a16:creationId xmlns:a16="http://schemas.microsoft.com/office/drawing/2014/main" id="{AFAB46EE-DAB0-0112-F66D-5EEAE0695AA2}"/>
              </a:ext>
            </a:extLst>
          </p:cNvPr>
          <p:cNvGrpSpPr/>
          <p:nvPr>
            <p:custDataLst>
              <p:tags r:id="rId8"/>
            </p:custDataLst>
          </p:nvPr>
        </p:nvGrpSpPr>
        <p:grpSpPr>
          <a:xfrm>
            <a:off x="995364" y="153170"/>
            <a:ext cx="5849764" cy="195814"/>
            <a:chOff x="995364" y="153170"/>
            <a:chExt cx="5849764" cy="195814"/>
          </a:xfrm>
        </p:grpSpPr>
        <p:sp>
          <p:nvSpPr>
            <p:cNvPr id="36" name="Other Sections1">
              <a:hlinkClick r:id="rId14"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7" name="Current Section2">
              <a:hlinkClick r:id="rId15" action="ppaction://hlinksldjump"/>
              <a:extLst>
                <a:ext uri="{FF2B5EF4-FFF2-40B4-BE49-F238E27FC236}">
                  <a16:creationId xmlns:a16="http://schemas.microsoft.com/office/drawing/2014/main" id="{89A61135-1F00-E77F-7C78-5FBA241A5742}"/>
                </a:ext>
              </a:extLst>
            </p:cNvPr>
            <p:cNvSpPr>
              <a:spLocks/>
            </p:cNvSpPr>
            <p:nvPr/>
          </p:nvSpPr>
          <p:spPr>
            <a:xfrm>
              <a:off x="2038452" y="153170"/>
              <a:ext cx="99179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Historical trading</a:t>
              </a:r>
            </a:p>
          </p:txBody>
        </p:sp>
        <p:sp>
          <p:nvSpPr>
            <p:cNvPr id="38" name="Other Sections3">
              <a:hlinkClick r:id="rId16" action="ppaction://hlinksldjump"/>
              <a:extLst>
                <a:ext uri="{FF2B5EF4-FFF2-40B4-BE49-F238E27FC236}">
                  <a16:creationId xmlns:a16="http://schemas.microsoft.com/office/drawing/2014/main" id="{8A19844E-D291-CA81-3B22-2B52F21919DA}"/>
                </a:ext>
              </a:extLst>
            </p:cNvPr>
            <p:cNvSpPr>
              <a:spLocks/>
            </p:cNvSpPr>
            <p:nvPr/>
          </p:nvSpPr>
          <p:spPr>
            <a:xfrm>
              <a:off x="303024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9" name="Other Sections4">
              <a:hlinkClick r:id="rId17" action="ppaction://hlinksldjump"/>
              <a:extLst>
                <a:ext uri="{FF2B5EF4-FFF2-40B4-BE49-F238E27FC236}">
                  <a16:creationId xmlns:a16="http://schemas.microsoft.com/office/drawing/2014/main" id="{8A19844E-D291-CA81-3B22-2B52F21919DA}"/>
                </a:ext>
              </a:extLst>
            </p:cNvPr>
            <p:cNvSpPr>
              <a:spLocks/>
            </p:cNvSpPr>
            <p:nvPr/>
          </p:nvSpPr>
          <p:spPr>
            <a:xfrm>
              <a:off x="383127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40"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502024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41" name="Other Sections6">
              <a:hlinkClick r:id="rId19" action="ppaction://hlinksldjump"/>
              <a:extLst>
                <a:ext uri="{FF2B5EF4-FFF2-40B4-BE49-F238E27FC236}">
                  <a16:creationId xmlns:a16="http://schemas.microsoft.com/office/drawing/2014/main" id="{8A19844E-D291-CA81-3B22-2B52F21919DA}"/>
                </a:ext>
              </a:extLst>
            </p:cNvPr>
            <p:cNvSpPr>
              <a:spLocks/>
            </p:cNvSpPr>
            <p:nvPr/>
          </p:nvSpPr>
          <p:spPr>
            <a:xfrm>
              <a:off x="6156303"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95959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7">
            <a:hlinkClick r:id="rId15" action="ppaction://hlinksldjump"/>
            <a:extLst>
              <a:ext uri="{FF2B5EF4-FFF2-40B4-BE49-F238E27FC236}">
                <a16:creationId xmlns:a16="http://schemas.microsoft.com/office/drawing/2014/main" id="{1A9084D2-DB23-033A-A2B0-F822C837E7DE}"/>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Balance sheet</a:t>
            </a:r>
          </a:p>
        </p:txBody>
      </p:sp>
      <p:sp>
        <p:nvSpPr>
          <p:cNvPr id="39" name="TextBox 38">
            <a:hlinkClick r:id="rId16" action="ppaction://hlinksldjump"/>
            <a:extLst>
              <a:ext uri="{FF2B5EF4-FFF2-40B4-BE49-F238E27FC236}">
                <a16:creationId xmlns:a16="http://schemas.microsoft.com/office/drawing/2014/main" id="{73B15244-8D2B-2D8D-469D-8171E6ADB44A}"/>
              </a:ext>
            </a:extLst>
          </p:cNvPr>
          <p:cNvSpPr txBox="1"/>
          <p:nvPr>
            <p:custDataLst>
              <p:tags r:id="rId3"/>
            </p:custDataLst>
          </p:nvPr>
        </p:nvSpPr>
        <p:spPr>
          <a:xfrm>
            <a:off x="1806250" y="3566606"/>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Stratified balance sheet</a:t>
            </a:r>
          </a:p>
        </p:txBody>
      </p:sp>
      <p:sp>
        <p:nvSpPr>
          <p:cNvPr id="40" name="TextBox 39">
            <a:hlinkClick r:id="rId17" action="ppaction://hlinksldjump"/>
            <a:extLst>
              <a:ext uri="{FF2B5EF4-FFF2-40B4-BE49-F238E27FC236}">
                <a16:creationId xmlns:a16="http://schemas.microsoft.com/office/drawing/2014/main" id="{EEDD75A7-3E6E-196D-4E40-208DFD5B9A14}"/>
              </a:ext>
            </a:extLst>
          </p:cNvPr>
          <p:cNvSpPr txBox="1"/>
          <p:nvPr>
            <p:custDataLst>
              <p:tags r:id="rId4"/>
            </p:custDataLst>
          </p:nvPr>
        </p:nvSpPr>
        <p:spPr>
          <a:xfrm>
            <a:off x="1806250" y="3923222"/>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Net working capital</a:t>
            </a:r>
          </a:p>
        </p:txBody>
      </p:sp>
      <p:sp>
        <p:nvSpPr>
          <p:cNvPr id="41" name="TextBox 40">
            <a:hlinkClick r:id="rId18" action="ppaction://hlinksldjump"/>
            <a:extLst>
              <a:ext uri="{FF2B5EF4-FFF2-40B4-BE49-F238E27FC236}">
                <a16:creationId xmlns:a16="http://schemas.microsoft.com/office/drawing/2014/main" id="{1750809A-6191-5672-C712-5CB0D85BFA76}"/>
              </a:ext>
            </a:extLst>
          </p:cNvPr>
          <p:cNvSpPr txBox="1"/>
          <p:nvPr>
            <p:custDataLst>
              <p:tags r:id="rId5"/>
            </p:custDataLst>
          </p:nvPr>
        </p:nvSpPr>
        <p:spPr>
          <a:xfrm>
            <a:off x="1806250" y="4279838"/>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Net cash</a:t>
            </a:r>
          </a:p>
        </p:txBody>
      </p:sp>
      <p:sp>
        <p:nvSpPr>
          <p:cNvPr id="42" name="TextBox 41">
            <a:hlinkClick r:id="rId15" action="ppaction://hlinksldjump"/>
            <a:extLst>
              <a:ext uri="{FF2B5EF4-FFF2-40B4-BE49-F238E27FC236}">
                <a16:creationId xmlns:a16="http://schemas.microsoft.com/office/drawing/2014/main" id="{DA4228AA-33D4-A34D-4E22-0AC982086DF3}"/>
              </a:ext>
            </a:extLst>
          </p:cNvPr>
          <p:cNvSpPr txBox="1"/>
          <p:nvPr>
            <p:custDataLst>
              <p:tags r:id="rId6"/>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03</a:t>
            </a:r>
          </a:p>
        </p:txBody>
      </p:sp>
      <p:sp>
        <p:nvSpPr>
          <p:cNvPr id="43" name="TextBox 42">
            <a:hlinkClick r:id="rId15" action="ppaction://hlinksldjump"/>
            <a:extLst>
              <a:ext uri="{FF2B5EF4-FFF2-40B4-BE49-F238E27FC236}">
                <a16:creationId xmlns:a16="http://schemas.microsoft.com/office/drawing/2014/main" id="{E944E23B-C487-696B-D78A-84407125F7D6}"/>
              </a:ext>
            </a:extLst>
          </p:cNvPr>
          <p:cNvSpPr txBox="1"/>
          <p:nvPr>
            <p:custDataLst>
              <p:tags r:id="rId7"/>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28</a:t>
            </a:r>
          </a:p>
        </p:txBody>
      </p:sp>
      <p:sp>
        <p:nvSpPr>
          <p:cNvPr id="44" name="TextBox 43">
            <a:hlinkClick r:id="rId16" action="ppaction://hlinksldjump"/>
            <a:extLst>
              <a:ext uri="{FF2B5EF4-FFF2-40B4-BE49-F238E27FC236}">
                <a16:creationId xmlns:a16="http://schemas.microsoft.com/office/drawing/2014/main" id="{3C2451D9-892E-A274-22DB-33E36A3BDBE4}"/>
              </a:ext>
            </a:extLst>
          </p:cNvPr>
          <p:cNvSpPr txBox="1"/>
          <p:nvPr>
            <p:custDataLst>
              <p:tags r:id="rId8"/>
            </p:custDataLst>
          </p:nvPr>
        </p:nvSpPr>
        <p:spPr bwMode="auto">
          <a:xfrm>
            <a:off x="1332373" y="35666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3.1</a:t>
            </a:r>
          </a:p>
        </p:txBody>
      </p:sp>
      <p:sp>
        <p:nvSpPr>
          <p:cNvPr id="45" name="TextBox 44">
            <a:hlinkClick r:id="rId17" action="ppaction://hlinksldjump"/>
            <a:extLst>
              <a:ext uri="{FF2B5EF4-FFF2-40B4-BE49-F238E27FC236}">
                <a16:creationId xmlns:a16="http://schemas.microsoft.com/office/drawing/2014/main" id="{C5C0B2EC-33BB-084B-C2A8-85E39385AA9F}"/>
              </a:ext>
            </a:extLst>
          </p:cNvPr>
          <p:cNvSpPr txBox="1"/>
          <p:nvPr>
            <p:custDataLst>
              <p:tags r:id="rId9"/>
            </p:custDataLst>
          </p:nvPr>
        </p:nvSpPr>
        <p:spPr bwMode="auto">
          <a:xfrm>
            <a:off x="1332373" y="39232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3.2</a:t>
            </a:r>
          </a:p>
        </p:txBody>
      </p:sp>
      <p:sp>
        <p:nvSpPr>
          <p:cNvPr id="46" name="TextBox 45">
            <a:hlinkClick r:id="rId18" action="ppaction://hlinksldjump"/>
            <a:extLst>
              <a:ext uri="{FF2B5EF4-FFF2-40B4-BE49-F238E27FC236}">
                <a16:creationId xmlns:a16="http://schemas.microsoft.com/office/drawing/2014/main" id="{37671B0C-341E-1FF9-7D04-A002E70C4BC7}"/>
              </a:ext>
            </a:extLst>
          </p:cNvPr>
          <p:cNvSpPr txBox="1"/>
          <p:nvPr>
            <p:custDataLst>
              <p:tags r:id="rId10"/>
            </p:custDataLst>
          </p:nvPr>
        </p:nvSpPr>
        <p:spPr bwMode="auto">
          <a:xfrm>
            <a:off x="1332373" y="427983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3.3</a:t>
            </a:r>
          </a:p>
        </p:txBody>
      </p:sp>
      <p:sp>
        <p:nvSpPr>
          <p:cNvPr id="47" name="TextBox 46">
            <a:hlinkClick r:id="rId16" action="ppaction://hlinksldjump"/>
            <a:extLst>
              <a:ext uri="{FF2B5EF4-FFF2-40B4-BE49-F238E27FC236}">
                <a16:creationId xmlns:a16="http://schemas.microsoft.com/office/drawing/2014/main" id="{3C40C5A0-7C68-C11F-A8C3-50E1C6F01EF3}"/>
              </a:ext>
            </a:extLst>
          </p:cNvPr>
          <p:cNvSpPr txBox="1"/>
          <p:nvPr>
            <p:custDataLst>
              <p:tags r:id="rId11"/>
            </p:custDataLst>
          </p:nvPr>
        </p:nvSpPr>
        <p:spPr>
          <a:xfrm>
            <a:off x="6163612" y="3566606"/>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29</a:t>
            </a:r>
          </a:p>
        </p:txBody>
      </p:sp>
      <p:sp>
        <p:nvSpPr>
          <p:cNvPr id="48" name="TextBox 47">
            <a:hlinkClick r:id="rId17" action="ppaction://hlinksldjump"/>
            <a:extLst>
              <a:ext uri="{FF2B5EF4-FFF2-40B4-BE49-F238E27FC236}">
                <a16:creationId xmlns:a16="http://schemas.microsoft.com/office/drawing/2014/main" id="{A1E38F69-F90E-A38E-39EB-E4CBAE514E66}"/>
              </a:ext>
            </a:extLst>
          </p:cNvPr>
          <p:cNvSpPr txBox="1"/>
          <p:nvPr>
            <p:custDataLst>
              <p:tags r:id="rId12"/>
            </p:custDataLst>
          </p:nvPr>
        </p:nvSpPr>
        <p:spPr>
          <a:xfrm>
            <a:off x="6163612" y="392322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31</a:t>
            </a:r>
          </a:p>
        </p:txBody>
      </p:sp>
      <p:sp>
        <p:nvSpPr>
          <p:cNvPr id="49" name="TextBox 48">
            <a:hlinkClick r:id="rId18" action="ppaction://hlinksldjump"/>
            <a:extLst>
              <a:ext uri="{FF2B5EF4-FFF2-40B4-BE49-F238E27FC236}">
                <a16:creationId xmlns:a16="http://schemas.microsoft.com/office/drawing/2014/main" id="{D92B4BFA-87F6-1A2D-AFFE-C1FF550AF021}"/>
              </a:ext>
            </a:extLst>
          </p:cNvPr>
          <p:cNvSpPr txBox="1"/>
          <p:nvPr>
            <p:custDataLst>
              <p:tags r:id="rId13"/>
            </p:custDataLst>
          </p:nvPr>
        </p:nvSpPr>
        <p:spPr>
          <a:xfrm>
            <a:off x="6163612" y="4279838"/>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38</a:t>
            </a:r>
          </a:p>
        </p:txBody>
      </p:sp>
    </p:spTree>
    <p:custDataLst>
      <p:tags r:id="rId1"/>
    </p:custDataLst>
    <p:extLst>
      <p:ext uri="{BB962C8B-B14F-4D97-AF65-F5344CB8AC3E}">
        <p14:creationId xmlns:p14="http://schemas.microsoft.com/office/powerpoint/2010/main" val="5186805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a:t>Stratified balance sheet (1/2)</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Stratified balance sheet</a:t>
            </a: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6096000" y="1389981"/>
            <a:ext cx="5169463" cy="4526320"/>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defRPr/>
            </a:pPr>
            <a:endParaRPr lang="en-US" b="1">
              <a:solidFill>
                <a:srgbClr val="FF0000"/>
              </a:solidFill>
            </a:endParaRP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ext Placeholder 11">
            <a:extLst>
              <a:ext uri="{FF2B5EF4-FFF2-40B4-BE49-F238E27FC236}">
                <a16:creationId xmlns:a16="http://schemas.microsoft.com/office/drawing/2014/main" id="{1C665455-1D96-18C5-89EC-328F90583705}"/>
              </a:ext>
            </a:extLst>
          </p:cNvPr>
          <p:cNvSpPr txBox="1">
            <a:spLocks/>
          </p:cNvSpPr>
          <p:nvPr/>
        </p:nvSpPr>
        <p:spPr>
          <a:xfrm>
            <a:off x="926537" y="1007709"/>
            <a:ext cx="10194960" cy="460800"/>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a:p>
        </p:txBody>
      </p:sp>
      <p:sp>
        <p:nvSpPr>
          <p:cNvPr id="9" name="Text Placeholder 12">
            <a:extLst>
              <a:ext uri="{FF2B5EF4-FFF2-40B4-BE49-F238E27FC236}">
                <a16:creationId xmlns:a16="http://schemas.microsoft.com/office/drawing/2014/main" id="{43C493ED-A6E6-0DF0-92D4-3BFCC0BEE5D7}"/>
              </a:ext>
            </a:extLst>
          </p:cNvPr>
          <p:cNvSpPr txBox="1">
            <a:spLocks/>
          </p:cNvSpPr>
          <p:nvPr/>
        </p:nvSpPr>
        <p:spPr>
          <a:xfrm>
            <a:off x="1017025" y="6126641"/>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 KPMG analysis</a:t>
            </a:r>
          </a:p>
        </p:txBody>
      </p:sp>
      <p:sp>
        <p:nvSpPr>
          <p:cNvPr id="6" name="Text Placeholder 11">
            <a:extLst>
              <a:ext uri="{FF2B5EF4-FFF2-40B4-BE49-F238E27FC236}">
                <a16:creationId xmlns:a16="http://schemas.microsoft.com/office/drawing/2014/main" id="{4E19FB86-836E-990B-4891-577006411193}"/>
              </a:ext>
            </a:extLst>
          </p:cNvPr>
          <p:cNvSpPr txBox="1">
            <a:spLocks/>
          </p:cNvSpPr>
          <p:nvPr/>
        </p:nvSpPr>
        <p:spPr>
          <a:xfrm>
            <a:off x="965514" y="971550"/>
            <a:ext cx="10118755" cy="438944"/>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900">
                <a:solidFill>
                  <a:srgbClr val="510DBC"/>
                </a:solidFill>
              </a:rPr>
              <a:t>The table below presents the reported balance sheet segregated into net working capital, net debt and other components, as at June 30, 2024.</a:t>
            </a:r>
          </a:p>
        </p:txBody>
      </p:sp>
      <p:sp>
        <p:nvSpPr>
          <p:cNvPr id="7" name="Text Placeholder 48">
            <a:extLst>
              <a:ext uri="{FF2B5EF4-FFF2-40B4-BE49-F238E27FC236}">
                <a16:creationId xmlns:a16="http://schemas.microsoft.com/office/drawing/2014/main" id="{E68D47DE-351E-E2A0-1708-ED242541ADE3}"/>
              </a:ext>
            </a:extLst>
          </p:cNvPr>
          <p:cNvSpPr txBox="1">
            <a:spLocks/>
          </p:cNvSpPr>
          <p:nvPr/>
        </p:nvSpPr>
        <p:spPr>
          <a:xfrm>
            <a:off x="5560291" y="1333855"/>
            <a:ext cx="5639523" cy="4726976"/>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defRPr/>
            </a:pPr>
            <a:r>
              <a:rPr lang="en-US" sz="900" b="1">
                <a:solidFill>
                  <a:srgbClr val="00338D"/>
                </a:solidFill>
              </a:rPr>
              <a:t>Net working capital </a:t>
            </a:r>
            <a:endParaRPr lang="en-US" sz="900"/>
          </a:p>
          <a:p>
            <a:pPr marL="0" lvl="2" indent="0">
              <a:buNone/>
              <a:defRPr/>
            </a:pPr>
            <a:r>
              <a:rPr lang="en-US" sz="900"/>
              <a:t>Net working capital is comprised of the following balances (see the following pages for further analysis):</a:t>
            </a:r>
          </a:p>
          <a:p>
            <a:pPr lvl="2">
              <a:buClr>
                <a:schemeClr val="bg1">
                  <a:lumMod val="50000"/>
                </a:schemeClr>
              </a:buClr>
              <a:defRPr/>
            </a:pPr>
            <a:r>
              <a:rPr lang="en-US" sz="900" b="1">
                <a:solidFill>
                  <a:srgbClr val="000000"/>
                </a:solidFill>
              </a:rPr>
              <a:t>Items in transit:</a:t>
            </a:r>
            <a:r>
              <a:rPr lang="en-US" sz="900" b="1" i="1">
                <a:solidFill>
                  <a:srgbClr val="000000"/>
                </a:solidFill>
              </a:rPr>
              <a:t> </a:t>
            </a:r>
            <a:r>
              <a:rPr lang="en-US" sz="900">
                <a:solidFill>
                  <a:srgbClr val="000000"/>
                </a:solidFill>
              </a:rPr>
              <a:t>Represents cash held by the Company on an overnight basis for settlement of ATM and POS transactions. These balances are considered part of normal business operations. The payments held for third party remittance represent the Company’s liability associated with the items in transit. The difference between these balances represents cash earned on certain interchange fees and timing differences. </a:t>
            </a:r>
          </a:p>
          <a:p>
            <a:pPr lvl="2">
              <a:buClr>
                <a:schemeClr val="bg1">
                  <a:lumMod val="50000"/>
                </a:schemeClr>
              </a:buClr>
              <a:defRPr/>
            </a:pPr>
            <a:r>
              <a:rPr lang="en-US" sz="900" b="1"/>
              <a:t>Accounts receivable and other receivables:</a:t>
            </a:r>
            <a:r>
              <a:rPr lang="en-US" sz="900"/>
              <a:t> Comprised of $11.2 million of gross trade receivable from customers. The Company reports an average DSO of 66 days in TTM Jun-24. The majority of receivables relate to financial institutions with minimal historic credit risk. The remaining $0.9 million of other receivables pertains to sales tax and other interest. The year-over-year increase in receivables is driven by increases in transaction switching service volume. </a:t>
            </a:r>
          </a:p>
          <a:p>
            <a:pPr lvl="2">
              <a:buClr>
                <a:schemeClr val="bg1">
                  <a:lumMod val="50000"/>
                </a:schemeClr>
              </a:buClr>
              <a:defRPr/>
            </a:pPr>
            <a:r>
              <a:rPr lang="en-US" sz="900" b="1"/>
              <a:t>Inventory: </a:t>
            </a:r>
            <a:r>
              <a:rPr lang="en-US" sz="900"/>
              <a:t>The Company does not hold major inventory balances; $0.4 million consists of Card project related costs while the remaining relate to a variety of cost of goods sold across all other lines of business.</a:t>
            </a:r>
          </a:p>
          <a:p>
            <a:pPr lvl="2">
              <a:buClr>
                <a:schemeClr val="bg1">
                  <a:lumMod val="50000"/>
                </a:schemeClr>
              </a:buClr>
              <a:defRPr/>
            </a:pPr>
            <a:r>
              <a:rPr lang="en-US" sz="900" b="1"/>
              <a:t>Prepaid expenses: </a:t>
            </a:r>
            <a:r>
              <a:rPr lang="en-US" sz="900"/>
              <a:t>Prepaid expense represents prepaid software maintenance and software licenses, equipment maintenance, insurance, and office maintenance contracts.</a:t>
            </a:r>
          </a:p>
          <a:p>
            <a:pPr lvl="2">
              <a:buClr>
                <a:schemeClr val="bg1">
                  <a:lumMod val="50000"/>
                </a:schemeClr>
              </a:buClr>
              <a:defRPr/>
            </a:pPr>
            <a:r>
              <a:rPr lang="en-US" sz="900" b="1"/>
              <a:t>Unbilled revenue and deferred implementation costs – non-current: </a:t>
            </a:r>
            <a:r>
              <a:rPr lang="en-US" sz="900"/>
              <a:t>Primarily represents the </a:t>
            </a:r>
            <a:r>
              <a:rPr lang="en-US" sz="900" err="1"/>
              <a:t>labour</a:t>
            </a:r>
            <a:r>
              <a:rPr lang="en-US" sz="900"/>
              <a:t> cost recognized on implementation projects with deferred revenue component. The cost associated with the project recognized to date is amortized over the length of the project. These costs are anticipated to be recovered as the Company meets its performance obligations and recognizes revenue over the same time period, consistent with revenue recognition. </a:t>
            </a:r>
          </a:p>
          <a:p>
            <a:pPr lvl="2">
              <a:buClr>
                <a:schemeClr val="bg1">
                  <a:lumMod val="50000"/>
                </a:schemeClr>
              </a:buClr>
              <a:defRPr/>
            </a:pPr>
            <a:r>
              <a:rPr lang="en-US" sz="900" b="1"/>
              <a:t>Accounts payable and accrued liabilities: </a:t>
            </a:r>
            <a:r>
              <a:rPr lang="en-US" sz="900"/>
              <a:t>Comprised of $1.0 million of accounts payable to vendors and $3.3 million in accrued liabilities. These balances primarily relate to miscellaneous cost of sales and fees paid to third parties associated with facilitating transactions. Non-resident withholding tax payable for dividends paid to </a:t>
            </a:r>
            <a:r>
              <a:rPr lang="en-US" sz="900" err="1"/>
              <a:t>Velera</a:t>
            </a:r>
            <a:r>
              <a:rPr lang="en-US" sz="900"/>
              <a:t> (i.e., $2,000) is excluded from working capital in NWC adjustment #8 and included in net cash item #6. The Company’s average DPO for TTM Jun-24 is 57 days. </a:t>
            </a:r>
            <a:endParaRPr lang="en-US" sz="900" b="1"/>
          </a:p>
        </p:txBody>
      </p:sp>
      <p:grpSp>
        <p:nvGrpSpPr>
          <p:cNvPr id="35" name="Group 34">
            <a:extLst>
              <a:ext uri="{FF2B5EF4-FFF2-40B4-BE49-F238E27FC236}">
                <a16:creationId xmlns:a16="http://schemas.microsoft.com/office/drawing/2014/main" id="{4BBB27E3-C13F-691C-BAD1-AABCA30D8F6E}"/>
              </a:ext>
            </a:extLst>
          </p:cNvPr>
          <p:cNvGrpSpPr/>
          <p:nvPr>
            <p:custDataLst>
              <p:tags r:id="rId4"/>
            </p:custDataLst>
          </p:nvPr>
        </p:nvGrpSpPr>
        <p:grpSpPr>
          <a:xfrm>
            <a:off x="995364" y="153170"/>
            <a:ext cx="5808086" cy="195814"/>
            <a:chOff x="995364" y="153170"/>
            <a:chExt cx="5808086" cy="195814"/>
          </a:xfrm>
        </p:grpSpPr>
        <p:sp>
          <p:nvSpPr>
            <p:cNvPr id="29"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1" name="Current Section3">
              <a:hlinkClick r:id="rId9"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2"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3"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4"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pic>
        <p:nvPicPr>
          <p:cNvPr id="11" name="Picture 10">
            <a:extLst>
              <a:ext uri="{FF2B5EF4-FFF2-40B4-BE49-F238E27FC236}">
                <a16:creationId xmlns:a16="http://schemas.microsoft.com/office/drawing/2014/main" id="{E74E9FB7-4D7B-87F6-B753-AEDA1F2B8CE5}"/>
              </a:ext>
            </a:extLst>
          </p:cNvPr>
          <p:cNvPicPr>
            <a:picLocks noChangeAspect="1"/>
          </p:cNvPicPr>
          <p:nvPr>
            <p:custDataLst>
              <p:tags r:id="rId5"/>
            </p:custDataLst>
          </p:nvPr>
        </p:nvPicPr>
        <p:blipFill>
          <a:blip r:embed="rId13"/>
          <a:stretch>
            <a:fillRect/>
          </a:stretch>
        </p:blipFill>
        <p:spPr>
          <a:xfrm>
            <a:off x="1007395" y="1345887"/>
            <a:ext cx="4444647" cy="4726976"/>
          </a:xfrm>
          <a:prstGeom prst="rect">
            <a:avLst/>
          </a:prstGeom>
        </p:spPr>
      </p:pic>
    </p:spTree>
    <p:extLst>
      <p:ext uri="{BB962C8B-B14F-4D97-AF65-F5344CB8AC3E}">
        <p14:creationId xmlns:p14="http://schemas.microsoft.com/office/powerpoint/2010/main" val="3661446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D83C-173B-82DC-1E27-82137E2A6160}"/>
              </a:ext>
            </a:extLst>
          </p:cNvPr>
          <p:cNvSpPr>
            <a:spLocks noGrp="1"/>
          </p:cNvSpPr>
          <p:nvPr>
            <p:ph type="title"/>
          </p:nvPr>
        </p:nvSpPr>
        <p:spPr>
          <a:xfrm>
            <a:off x="995362" y="431800"/>
            <a:ext cx="10204452" cy="539750"/>
          </a:xfrm>
        </p:spPr>
        <p:txBody>
          <a:bodyPr/>
          <a:lstStyle/>
          <a:p>
            <a:r>
              <a:rPr lang="en-US"/>
              <a:t>Stratified balance sheet (2/2)</a:t>
            </a:r>
          </a:p>
        </p:txBody>
      </p:sp>
      <p:sp>
        <p:nvSpPr>
          <p:cNvPr id="36" name="UpSlide SubSection Marker" hidden="1">
            <a:extLst>
              <a:ext uri="{FF2B5EF4-FFF2-40B4-BE49-F238E27FC236}">
                <a16:creationId xmlns:a16="http://schemas.microsoft.com/office/drawing/2014/main" id="{41EB2B66-0683-8694-48CE-C4864682DA43}"/>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Stratified balance sheet</a:t>
            </a:r>
          </a:p>
        </p:txBody>
      </p:sp>
      <p:sp>
        <p:nvSpPr>
          <p:cNvPr id="3" name="Rounded Rectangle 7">
            <a:extLst>
              <a:ext uri="{FF2B5EF4-FFF2-40B4-BE49-F238E27FC236}">
                <a16:creationId xmlns:a16="http://schemas.microsoft.com/office/drawing/2014/main" id="{D65DA495-5006-AB06-6B21-89AB214363B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4" name="Rectangle 3">
            <a:extLst>
              <a:ext uri="{FF2B5EF4-FFF2-40B4-BE49-F238E27FC236}">
                <a16:creationId xmlns:a16="http://schemas.microsoft.com/office/drawing/2014/main" id="{EF3B8A97-AC6D-98E1-C2A5-01BD21E4BEFE}"/>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5" name="Rounded Rectangle 7">
            <a:extLst>
              <a:ext uri="{FF2B5EF4-FFF2-40B4-BE49-F238E27FC236}">
                <a16:creationId xmlns:a16="http://schemas.microsoft.com/office/drawing/2014/main" id="{BBED448C-859F-4694-707C-1740904741EC}"/>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1" name="Text Placeholder 48">
            <a:extLst>
              <a:ext uri="{FF2B5EF4-FFF2-40B4-BE49-F238E27FC236}">
                <a16:creationId xmlns:a16="http://schemas.microsoft.com/office/drawing/2014/main" id="{2AC65E67-BF61-552B-B27B-88C22ED1B58D}"/>
              </a:ext>
            </a:extLst>
          </p:cNvPr>
          <p:cNvSpPr txBox="1">
            <a:spLocks/>
          </p:cNvSpPr>
          <p:nvPr/>
        </p:nvSpPr>
        <p:spPr>
          <a:xfrm>
            <a:off x="6096000" y="1389981"/>
            <a:ext cx="5169463" cy="4526320"/>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defRPr/>
            </a:pPr>
            <a:endParaRPr lang="en-US" b="1">
              <a:solidFill>
                <a:srgbClr val="FF0000"/>
              </a:solidFill>
            </a:endParaRPr>
          </a:p>
        </p:txBody>
      </p:sp>
      <p:sp>
        <p:nvSpPr>
          <p:cNvPr id="23" name="Text Placeholder 7">
            <a:extLst>
              <a:ext uri="{FF2B5EF4-FFF2-40B4-BE49-F238E27FC236}">
                <a16:creationId xmlns:a16="http://schemas.microsoft.com/office/drawing/2014/main" id="{B9C1FB64-62D2-D857-D441-0363B8E9FF72}"/>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24" name="Text Placeholder 12">
            <a:extLst>
              <a:ext uri="{FF2B5EF4-FFF2-40B4-BE49-F238E27FC236}">
                <a16:creationId xmlns:a16="http://schemas.microsoft.com/office/drawing/2014/main" id="{B09F8529-4988-DFBF-4456-D6BBE56192F9}"/>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42" name="Straight Arrow Connector 41">
            <a:extLst>
              <a:ext uri="{FF2B5EF4-FFF2-40B4-BE49-F238E27FC236}">
                <a16:creationId xmlns:a16="http://schemas.microsoft.com/office/drawing/2014/main" id="{230378DA-D580-ABBA-7CF0-B97F8E252D24}"/>
              </a:ext>
            </a:extLst>
          </p:cNvPr>
          <p:cNvCxnSpPr>
            <a:cxnSpLocks/>
            <a:stCxn id="4" idx="2"/>
            <a:endCxn id="5"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Text Placeholder 11">
            <a:extLst>
              <a:ext uri="{FF2B5EF4-FFF2-40B4-BE49-F238E27FC236}">
                <a16:creationId xmlns:a16="http://schemas.microsoft.com/office/drawing/2014/main" id="{1C665455-1D96-18C5-89EC-328F90583705}"/>
              </a:ext>
            </a:extLst>
          </p:cNvPr>
          <p:cNvSpPr txBox="1">
            <a:spLocks/>
          </p:cNvSpPr>
          <p:nvPr/>
        </p:nvSpPr>
        <p:spPr>
          <a:xfrm>
            <a:off x="926537" y="1007709"/>
            <a:ext cx="10194960" cy="460800"/>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endParaRPr lang="en-US"/>
          </a:p>
        </p:txBody>
      </p:sp>
      <p:sp>
        <p:nvSpPr>
          <p:cNvPr id="11" name="Text Placeholder 48">
            <a:extLst>
              <a:ext uri="{FF2B5EF4-FFF2-40B4-BE49-F238E27FC236}">
                <a16:creationId xmlns:a16="http://schemas.microsoft.com/office/drawing/2014/main" id="{8EB4464C-1039-450C-2E14-2043E765B689}"/>
              </a:ext>
            </a:extLst>
          </p:cNvPr>
          <p:cNvSpPr txBox="1">
            <a:spLocks/>
          </p:cNvSpPr>
          <p:nvPr/>
        </p:nvSpPr>
        <p:spPr>
          <a:xfrm>
            <a:off x="5514109" y="1333855"/>
            <a:ext cx="5845869" cy="4473944"/>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lvl="2" indent="0">
              <a:buNone/>
              <a:defRPr/>
            </a:pPr>
            <a:r>
              <a:rPr lang="en-US" sz="900" b="1">
                <a:solidFill>
                  <a:srgbClr val="00338D"/>
                </a:solidFill>
              </a:rPr>
              <a:t>Net working capital (continued)</a:t>
            </a:r>
            <a:endParaRPr lang="en-US" sz="900"/>
          </a:p>
          <a:p>
            <a:pPr lvl="2">
              <a:buClr>
                <a:schemeClr val="bg1">
                  <a:lumMod val="50000"/>
                </a:schemeClr>
              </a:buClr>
              <a:defRPr/>
            </a:pPr>
            <a:r>
              <a:rPr lang="en-US" sz="900" b="1"/>
              <a:t>Contract liabilities and deferred revenue: </a:t>
            </a:r>
            <a:r>
              <a:rPr lang="en-US" sz="900"/>
              <a:t>In accordance with IFRS 15, the Company identifies performance obligations related to professional services with specific customer contracts. Revenue from these contracts are deferred and recognized progressively over the contract term. Additionally, for certain transaction processing contracts with variable tier-based pricing, the Company recognizes revenue based on an estimated transaction price, determined by the estimated transaction volume in relation to the total expected volume in a fiscal year. A contract liability balance occurs when the billed amount exceeds recognized revenue.</a:t>
            </a:r>
          </a:p>
          <a:p>
            <a:pPr marL="171450" lvl="2" indent="0">
              <a:buClr>
                <a:schemeClr val="bg1">
                  <a:lumMod val="50000"/>
                </a:schemeClr>
              </a:buClr>
              <a:buNone/>
              <a:defRPr/>
            </a:pPr>
            <a:r>
              <a:rPr lang="en-US" sz="900"/>
              <a:t>Deferred revenue associated with card management pertains to the initial billing of both blank manufactured cards and subsequent personalization; revenue recognition on personalization occurs at the time that the cards are personalized.</a:t>
            </a:r>
          </a:p>
          <a:p>
            <a:pPr lvl="2">
              <a:buClr>
                <a:schemeClr val="bg1">
                  <a:lumMod val="50000"/>
                </a:schemeClr>
              </a:buClr>
              <a:defRPr/>
            </a:pPr>
            <a:r>
              <a:rPr lang="en-US" sz="900" b="1"/>
              <a:t>Payroll benefits: </a:t>
            </a:r>
            <a:r>
              <a:rPr lang="en-US" sz="900"/>
              <a:t>Consists of accrued salaries, bonuses, vacation, and health benefits. These balances are accrued on a bi-weekly cadence, where the accrual relates to the previous two weeks of work performed. The Company’s incentive plan targets a 5% bonus for staff, 10% for managers, 15% for directors, 20% for general managers, and 25% for vice president roles. Separately, one week of vacation is permitted to be carried over to the following fiscal year. </a:t>
            </a:r>
          </a:p>
          <a:p>
            <a:pPr lvl="2">
              <a:buClr>
                <a:schemeClr val="bg1">
                  <a:lumMod val="50000"/>
                </a:schemeClr>
              </a:buClr>
              <a:defRPr/>
            </a:pPr>
            <a:r>
              <a:rPr lang="en-US" sz="900" b="1"/>
              <a:t>Deferred compensation payable: </a:t>
            </a:r>
            <a:r>
              <a:rPr lang="en-US" sz="900"/>
              <a:t>Includes the Company’s long-term incentive plan (LTIP) for senior management and supplementation executive pension plan (SERP), attributable to the CEO. LTIP amounts are paid on the third year anniversary of a prior fiscal period (e.g. the LTIP earned in FY21 is payable in FY24). Balances which relate to the Company’s standard bonus plan for all employees are classified as current accrued liabilities and are included in net working capital. The SERP is cash payable on the retirement of the CEO and is included in Net Cash.</a:t>
            </a:r>
          </a:p>
          <a:p>
            <a:pPr marL="0" lvl="2" indent="0">
              <a:buNone/>
              <a:defRPr/>
            </a:pPr>
            <a:r>
              <a:rPr lang="en-US" sz="900" b="1">
                <a:solidFill>
                  <a:srgbClr val="00338D"/>
                </a:solidFill>
              </a:rPr>
              <a:t>Other</a:t>
            </a:r>
            <a:endParaRPr lang="en-US" sz="900"/>
          </a:p>
          <a:p>
            <a:pPr marL="0" lvl="2" indent="0">
              <a:buNone/>
              <a:defRPr/>
            </a:pPr>
            <a:r>
              <a:rPr lang="en-US" sz="900">
                <a:solidFill>
                  <a:srgbClr val="000000"/>
                </a:solidFill>
              </a:rPr>
              <a:t>Other balances are compromised of the following accounts:</a:t>
            </a:r>
          </a:p>
          <a:p>
            <a:pPr lvl="2">
              <a:buClr>
                <a:schemeClr val="bg1">
                  <a:lumMod val="50000"/>
                </a:schemeClr>
              </a:buClr>
              <a:defRPr/>
            </a:pPr>
            <a:r>
              <a:rPr lang="en-US" sz="900" b="1"/>
              <a:t>Property and equipment, software and intangible assets: </a:t>
            </a:r>
            <a:r>
              <a:rPr lang="en-US" sz="900"/>
              <a:t>Comprised of purchased software, data processing and networking equipment, leasehold improvements, and office equipment. Additionally, </a:t>
            </a:r>
            <a:r>
              <a:rPr lang="en-US" sz="900" err="1"/>
              <a:t>labour</a:t>
            </a:r>
            <a:r>
              <a:rPr lang="en-US" sz="900"/>
              <a:t> related to internally developed software is capitalized.</a:t>
            </a:r>
          </a:p>
          <a:p>
            <a:pPr lvl="2">
              <a:buClr>
                <a:schemeClr val="bg1">
                  <a:lumMod val="50000"/>
                </a:schemeClr>
              </a:buClr>
              <a:defRPr/>
            </a:pPr>
            <a:r>
              <a:rPr lang="en-US" sz="900" b="1"/>
              <a:t>Others: </a:t>
            </a:r>
            <a:r>
              <a:rPr lang="en-US" sz="900"/>
              <a:t>Consists of goodwill, investments, non-current prepaids, and deferred tax liabilities.</a:t>
            </a:r>
            <a:endParaRPr lang="en-US" sz="900" b="1"/>
          </a:p>
        </p:txBody>
      </p:sp>
      <p:grpSp>
        <p:nvGrpSpPr>
          <p:cNvPr id="27" name="Group 26">
            <a:extLst>
              <a:ext uri="{FF2B5EF4-FFF2-40B4-BE49-F238E27FC236}">
                <a16:creationId xmlns:a16="http://schemas.microsoft.com/office/drawing/2014/main" id="{4BBB27E3-C13F-691C-BAD1-AABCA30D8F6E}"/>
              </a:ext>
            </a:extLst>
          </p:cNvPr>
          <p:cNvGrpSpPr/>
          <p:nvPr>
            <p:custDataLst>
              <p:tags r:id="rId4"/>
            </p:custDataLst>
          </p:nvPr>
        </p:nvGrpSpPr>
        <p:grpSpPr>
          <a:xfrm>
            <a:off x="995364" y="153170"/>
            <a:ext cx="5808086" cy="195814"/>
            <a:chOff x="995364" y="153170"/>
            <a:chExt cx="5808086" cy="195814"/>
          </a:xfrm>
        </p:grpSpPr>
        <p:sp>
          <p:nvSpPr>
            <p:cNvPr id="29"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1" name="Current Section3">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2"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3"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4"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9" name="Text Placeholder 12">
            <a:extLst>
              <a:ext uri="{FF2B5EF4-FFF2-40B4-BE49-F238E27FC236}">
                <a16:creationId xmlns:a16="http://schemas.microsoft.com/office/drawing/2014/main" id="{2015AB31-6D74-3FC2-D844-553102D8D9B4}"/>
              </a:ext>
            </a:extLst>
          </p:cNvPr>
          <p:cNvSpPr txBox="1">
            <a:spLocks/>
          </p:cNvSpPr>
          <p:nvPr/>
        </p:nvSpPr>
        <p:spPr>
          <a:xfrm>
            <a:off x="1017025" y="6126641"/>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 KPMG analysis</a:t>
            </a:r>
          </a:p>
        </p:txBody>
      </p:sp>
      <p:pic>
        <p:nvPicPr>
          <p:cNvPr id="10" name="Picture 9">
            <a:extLst>
              <a:ext uri="{FF2B5EF4-FFF2-40B4-BE49-F238E27FC236}">
                <a16:creationId xmlns:a16="http://schemas.microsoft.com/office/drawing/2014/main" id="{C9630CF8-2268-6D01-7177-5F7F081745A7}"/>
              </a:ext>
            </a:extLst>
          </p:cNvPr>
          <p:cNvPicPr>
            <a:picLocks noChangeAspect="1"/>
          </p:cNvPicPr>
          <p:nvPr>
            <p:custDataLst>
              <p:tags r:id="rId5"/>
            </p:custDataLst>
          </p:nvPr>
        </p:nvPicPr>
        <p:blipFill>
          <a:blip r:embed="rId14"/>
          <a:stretch>
            <a:fillRect/>
          </a:stretch>
        </p:blipFill>
        <p:spPr>
          <a:xfrm>
            <a:off x="1007395" y="1345887"/>
            <a:ext cx="4444647" cy="4726976"/>
          </a:xfrm>
          <a:prstGeom prst="rect">
            <a:avLst/>
          </a:prstGeom>
        </p:spPr>
      </p:pic>
    </p:spTree>
    <p:extLst>
      <p:ext uri="{BB962C8B-B14F-4D97-AF65-F5344CB8AC3E}">
        <p14:creationId xmlns:p14="http://schemas.microsoft.com/office/powerpoint/2010/main" val="34232118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96F9853-F449-74AC-3976-6A5B3D04A4D7}"/>
              </a:ext>
            </a:extLst>
          </p:cNvPr>
          <p:cNvSpPr>
            <a:spLocks noGrp="1"/>
          </p:cNvSpPr>
          <p:nvPr>
            <p:ph type="title"/>
          </p:nvPr>
        </p:nvSpPr>
        <p:spPr>
          <a:xfrm>
            <a:off x="995362" y="431800"/>
            <a:ext cx="10204452" cy="539750"/>
          </a:xfrm>
        </p:spPr>
        <p:txBody>
          <a:bodyPr/>
          <a:lstStyle/>
          <a:p>
            <a:r>
              <a:rPr lang="en-US"/>
              <a:t>Net working capital (1/7) </a:t>
            </a:r>
            <a:r>
              <a:rPr lang="en-US" sz="4000"/>
              <a:t>– </a:t>
            </a:r>
            <a:r>
              <a:rPr lang="en-US"/>
              <a:t>Overview</a:t>
            </a:r>
          </a:p>
        </p:txBody>
      </p:sp>
      <p:sp>
        <p:nvSpPr>
          <p:cNvPr id="4" name="Rounded Rectangle 7">
            <a:extLst>
              <a:ext uri="{FF2B5EF4-FFF2-40B4-BE49-F238E27FC236}">
                <a16:creationId xmlns:a16="http://schemas.microsoft.com/office/drawing/2014/main" id="{866FDF2F-E07D-83A1-EFC9-B1A50BDC7464}"/>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DEBE0636-7D17-BFCC-CB31-82BA20B022F2}"/>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6BD71861-E215-56B0-CC3A-2B783B1506C1}"/>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Text Placeholder 11">
            <a:extLst>
              <a:ext uri="{FF2B5EF4-FFF2-40B4-BE49-F238E27FC236}">
                <a16:creationId xmlns:a16="http://schemas.microsoft.com/office/drawing/2014/main" id="{5C958FB8-8311-1CDB-901B-856704928D97}"/>
              </a:ext>
            </a:extLst>
          </p:cNvPr>
          <p:cNvSpPr txBox="1">
            <a:spLocks/>
          </p:cNvSpPr>
          <p:nvPr/>
        </p:nvSpPr>
        <p:spPr>
          <a:xfrm>
            <a:off x="906462" y="932746"/>
            <a:ext cx="10207626" cy="333499"/>
          </a:xfrm>
          <a:prstGeom prst="rect">
            <a:avLst/>
          </a:prstGeom>
        </p:spPr>
        <p:txBody>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solidFill>
                  <a:srgbClr val="510DBC"/>
                </a:solidFill>
              </a:rPr>
              <a:t>Adjusted average net working capital for TTM Jun-24 is $6.1 million. Significant adjustments relate to IFRS 15 adjustment impact on contract liabilities, adjustments to accounts receivable from QofE impacts, and to normalize reported day sales outstanding from September 2023 to June 2024.</a:t>
            </a:r>
          </a:p>
        </p:txBody>
      </p:sp>
      <p:sp>
        <p:nvSpPr>
          <p:cNvPr id="10" name="Text Placeholder 7">
            <a:extLst>
              <a:ext uri="{FF2B5EF4-FFF2-40B4-BE49-F238E27FC236}">
                <a16:creationId xmlns:a16="http://schemas.microsoft.com/office/drawing/2014/main" id="{982E84B5-571A-593D-17DE-C5C47F7A0B71}"/>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11" name="Text Placeholder 12">
            <a:extLst>
              <a:ext uri="{FF2B5EF4-FFF2-40B4-BE49-F238E27FC236}">
                <a16:creationId xmlns:a16="http://schemas.microsoft.com/office/drawing/2014/main" id="{91A1F6E4-00E3-945E-769B-8D49676CB9A4}"/>
              </a:ext>
            </a:extLst>
          </p:cNvPr>
          <p:cNvSpPr txBox="1">
            <a:spLocks/>
          </p:cNvSpPr>
          <p:nvPr/>
        </p:nvSpPr>
        <p:spPr>
          <a:xfrm>
            <a:off x="12275298" y="3162330"/>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2" name="Straight Arrow Connector 11">
            <a:extLst>
              <a:ext uri="{FF2B5EF4-FFF2-40B4-BE49-F238E27FC236}">
                <a16:creationId xmlns:a16="http://schemas.microsoft.com/office/drawing/2014/main" id="{130E3B29-A1BE-267D-91FD-65A85EFDD0CC}"/>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 name="Text Placeholder 12">
            <a:extLst>
              <a:ext uri="{FF2B5EF4-FFF2-40B4-BE49-F238E27FC236}">
                <a16:creationId xmlns:a16="http://schemas.microsoft.com/office/drawing/2014/main" id="{6921658D-538C-8C7B-1BD8-90A61B033724}"/>
              </a:ext>
            </a:extLst>
          </p:cNvPr>
          <p:cNvSpPr txBox="1">
            <a:spLocks/>
          </p:cNvSpPr>
          <p:nvPr/>
        </p:nvSpPr>
        <p:spPr>
          <a:xfrm>
            <a:off x="1068876" y="5557116"/>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Internal financial statements</a:t>
            </a:r>
          </a:p>
        </p:txBody>
      </p:sp>
      <p:sp>
        <p:nvSpPr>
          <p:cNvPr id="7" name="UpSlide SubSection Marker" hidden="1">
            <a:extLst>
              <a:ext uri="{FF2B5EF4-FFF2-40B4-BE49-F238E27FC236}">
                <a16:creationId xmlns:a16="http://schemas.microsoft.com/office/drawing/2014/main" id="{058265E4-CAD8-A0FD-E1EC-4599AF3278C1}"/>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2" name="Text Placeholder 6">
            <a:extLst>
              <a:ext uri="{FF2B5EF4-FFF2-40B4-BE49-F238E27FC236}">
                <a16:creationId xmlns:a16="http://schemas.microsoft.com/office/drawing/2014/main" id="{FDE4C607-58BA-0382-C20C-F48BED7A2A28}"/>
              </a:ext>
            </a:extLst>
          </p:cNvPr>
          <p:cNvSpPr txBox="1">
            <a:spLocks/>
          </p:cNvSpPr>
          <p:nvPr/>
        </p:nvSpPr>
        <p:spPr>
          <a:xfrm>
            <a:off x="7040241" y="1591667"/>
            <a:ext cx="4159572" cy="3176791"/>
          </a:xfrm>
          <a:prstGeom prst="rect">
            <a:avLst/>
          </a:prstGeom>
        </p:spPr>
        <p:txBody>
          <a:bodyPr numCol="1"/>
          <a:lstStyle>
            <a:lvl1pPr marL="0" indent="0" algn="l" defTabSz="914377"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1pPr>
            <a:lvl2pPr marL="0" indent="0" algn="l" defTabSz="914377" rtl="0" eaLnBrk="1" latinLnBrk="0" hangingPunct="1">
              <a:lnSpc>
                <a:spcPct val="100000"/>
              </a:lnSpc>
              <a:spcBef>
                <a:spcPts val="0"/>
              </a:spcBef>
              <a:spcAft>
                <a:spcPts val="600"/>
              </a:spcAft>
              <a:buFontTx/>
              <a:buNone/>
              <a:defRPr sz="1000" kern="1200">
                <a:solidFill>
                  <a:schemeClr val="tx1"/>
                </a:solidFill>
                <a:latin typeface="+mn-lt"/>
                <a:ea typeface="+mn-ea"/>
                <a:cs typeface="+mn-cs"/>
              </a:defRPr>
            </a:lvl2pPr>
            <a:lvl3pPr marL="180970"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3pPr>
            <a:lvl4pPr marL="36194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mn-lt"/>
                <a:ea typeface="+mn-ea"/>
                <a:cs typeface="+mn-cs"/>
              </a:defRPr>
            </a:lvl4pPr>
            <a:lvl5pPr marL="542912" indent="-180970" algn="l" defTabSz="914377"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mn-lt"/>
                <a:ea typeface="+mn-ea"/>
                <a:cs typeface="+mn-cs"/>
              </a:defRPr>
            </a:lvl5pPr>
            <a:lvl6pPr marL="719121" indent="-180970"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16"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12" indent="-177796" algn="l" defTabSz="914377"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269" indent="-182558" algn="l" defTabSz="914377"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sz="900" b="1">
                <a:solidFill>
                  <a:srgbClr val="00338D"/>
                </a:solidFill>
              </a:rPr>
              <a:t>Basis of presentation</a:t>
            </a:r>
          </a:p>
          <a:p>
            <a:r>
              <a:rPr lang="en-US" sz="900" b="0"/>
              <a:t>The working capital schedule summarizes reported working capital and proposed adjustments</a:t>
            </a:r>
            <a:r>
              <a:rPr lang="en-US" sz="900"/>
              <a:t> for the fiscal years ended December 31, 2021, 2022, 2023 and the TTM period ended June 30, 2024. </a:t>
            </a:r>
            <a:endParaRPr lang="en-US" sz="900" b="0">
              <a:solidFill>
                <a:schemeClr val="tx1"/>
              </a:solidFill>
            </a:endParaRPr>
          </a:p>
          <a:p>
            <a:r>
              <a:rPr lang="en-US" sz="900" b="1">
                <a:solidFill>
                  <a:srgbClr val="00338D"/>
                </a:solidFill>
              </a:rPr>
              <a:t>Adjustments</a:t>
            </a:r>
          </a:p>
          <a:p>
            <a:r>
              <a:rPr lang="en-US" sz="900" b="0">
                <a:solidFill>
                  <a:schemeClr val="tx1"/>
                </a:solidFill>
              </a:rPr>
              <a:t>The nature of the adjustments included in the analysis are as follows:</a:t>
            </a:r>
          </a:p>
          <a:p>
            <a:pPr marL="171450" indent="-171450" defTabSz="914377">
              <a:buClr>
                <a:schemeClr val="bg1">
                  <a:lumMod val="50000"/>
                </a:schemeClr>
              </a:buClr>
              <a:buFont typeface="Arial" panose="020B0604020202020204" pitchFamily="34" charset="0"/>
              <a:buChar char="•"/>
            </a:pPr>
            <a:r>
              <a:rPr lang="en-US" sz="900" b="0" i="1">
                <a:solidFill>
                  <a:schemeClr val="tx1"/>
                </a:solidFill>
              </a:rPr>
              <a:t>Definitional adjustments: </a:t>
            </a:r>
            <a:r>
              <a:rPr lang="en-US" sz="900" b="0"/>
              <a:t>Adjustment to exclude cash and debt like items from net working capital.</a:t>
            </a:r>
            <a:endParaRPr lang="en-US" sz="900"/>
          </a:p>
          <a:p>
            <a:pPr marL="171450" indent="-171450" defTabSz="914377">
              <a:buClr>
                <a:schemeClr val="bg1">
                  <a:lumMod val="50000"/>
                </a:schemeClr>
              </a:buClr>
              <a:buFont typeface="Arial" panose="020B0604020202020204" pitchFamily="34" charset="0"/>
              <a:buChar char="•"/>
            </a:pPr>
            <a:r>
              <a:rPr lang="en-US" sz="900" i="1"/>
              <a:t>Due diligence a</a:t>
            </a:r>
            <a:r>
              <a:rPr lang="en-US" sz="900" b="0" i="1">
                <a:solidFill>
                  <a:schemeClr val="tx1"/>
                </a:solidFill>
              </a:rPr>
              <a:t>djustments: </a:t>
            </a:r>
            <a:r>
              <a:rPr lang="en-US" sz="900" b="0">
                <a:solidFill>
                  <a:schemeClr val="tx1"/>
                </a:solidFill>
              </a:rPr>
              <a:t>Ne</a:t>
            </a:r>
            <a:r>
              <a:rPr lang="en-US" sz="900" b="0"/>
              <a:t>t</a:t>
            </a:r>
            <a:r>
              <a:rPr lang="en-US" sz="900" b="0">
                <a:solidFill>
                  <a:schemeClr val="tx1"/>
                </a:solidFill>
              </a:rPr>
              <a:t> working capital impact of adjustments identified during diligence.</a:t>
            </a:r>
          </a:p>
          <a:p>
            <a:pPr marL="171450" indent="-171450" defTabSz="914377">
              <a:buClr>
                <a:schemeClr val="bg1">
                  <a:lumMod val="50000"/>
                </a:schemeClr>
              </a:buClr>
              <a:buFont typeface="Arial" panose="020B0604020202020204" pitchFamily="34" charset="0"/>
              <a:buChar char="•"/>
            </a:pPr>
            <a:r>
              <a:rPr lang="en-US" sz="900" i="1"/>
              <a:t>Pro forma adjustments: </a:t>
            </a:r>
            <a:r>
              <a:rPr lang="en-US" sz="900"/>
              <a:t>Adjustments for changes in business operations that may impact working capital.</a:t>
            </a:r>
          </a:p>
          <a:p>
            <a:pPr defTabSz="914377"/>
            <a:r>
              <a:rPr lang="en-US" sz="900"/>
              <a:t>The proposed adjustments are not necessarily be all inclusive and are based on information provided by Management to date. Further analysis to additional information could uncover additional or different proposed adjustments. </a:t>
            </a:r>
          </a:p>
          <a:p>
            <a:pPr lvl="1"/>
            <a:endParaRPr lang="en-US" sz="900"/>
          </a:p>
        </p:txBody>
      </p:sp>
      <p:sp>
        <p:nvSpPr>
          <p:cNvPr id="14" name="Text Placeholder 25">
            <a:extLst>
              <a:ext uri="{FF2B5EF4-FFF2-40B4-BE49-F238E27FC236}">
                <a16:creationId xmlns:a16="http://schemas.microsoft.com/office/drawing/2014/main" id="{7CF5CAF3-2D73-6668-6073-03F17408F6B2}"/>
              </a:ext>
            </a:extLst>
          </p:cNvPr>
          <p:cNvSpPr txBox="1">
            <a:spLocks/>
          </p:cNvSpPr>
          <p:nvPr/>
        </p:nvSpPr>
        <p:spPr>
          <a:xfrm>
            <a:off x="7040241" y="1337241"/>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Overview</a:t>
            </a:r>
          </a:p>
        </p:txBody>
      </p:sp>
      <p:pic>
        <p:nvPicPr>
          <p:cNvPr id="19" name="Picture 18">
            <a:extLst>
              <a:ext uri="{FF2B5EF4-FFF2-40B4-BE49-F238E27FC236}">
                <a16:creationId xmlns:a16="http://schemas.microsoft.com/office/drawing/2014/main" id="{F6B1E3EB-03E2-981A-FFDA-8699443EDA23}"/>
              </a:ext>
            </a:extLst>
          </p:cNvPr>
          <p:cNvPicPr>
            <a:picLocks noChangeAspect="1"/>
          </p:cNvPicPr>
          <p:nvPr>
            <p:custDataLst>
              <p:tags r:id="rId4"/>
            </p:custDataLst>
          </p:nvPr>
        </p:nvPicPr>
        <p:blipFill>
          <a:blip r:embed="rId8"/>
          <a:stretch>
            <a:fillRect/>
          </a:stretch>
        </p:blipFill>
        <p:spPr>
          <a:xfrm>
            <a:off x="992206" y="3056304"/>
            <a:ext cx="5174285" cy="2654792"/>
          </a:xfrm>
          <a:prstGeom prst="rect">
            <a:avLst/>
          </a:prstGeom>
        </p:spPr>
      </p:pic>
      <p:sp>
        <p:nvSpPr>
          <p:cNvPr id="23" name="TextBox 22">
            <a:extLst>
              <a:ext uri="{FF2B5EF4-FFF2-40B4-BE49-F238E27FC236}">
                <a16:creationId xmlns:a16="http://schemas.microsoft.com/office/drawing/2014/main" id="{17595A27-62A2-7AC4-8F57-430BED7758F1}"/>
              </a:ext>
            </a:extLst>
          </p:cNvPr>
          <p:cNvSpPr txBox="1"/>
          <p:nvPr/>
        </p:nvSpPr>
        <p:spPr>
          <a:xfrm>
            <a:off x="7132644" y="4299609"/>
            <a:ext cx="4067169" cy="95410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800" b="1">
                <a:solidFill>
                  <a:schemeClr val="accent2"/>
                </a:solidFill>
                <a:latin typeface="Arial" panose="020B0604020202020204" pitchFamily="34" charset="0"/>
                <a:cs typeface="Arial" panose="020B0604020202020204" pitchFamily="34" charset="0"/>
              </a:rPr>
              <a:t>Seasonality</a:t>
            </a:r>
            <a:endParaRPr lang="en-US" sz="800" b="1" baseline="0">
              <a:solidFill>
                <a:schemeClr val="accent2"/>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800">
                <a:solidFill>
                  <a:schemeClr val="tx1"/>
                </a:solidFill>
              </a:rPr>
              <a:t>Generally, ATM and POS transactions activity experience lower volume in January and February and peak from May to August. This trend is reflected in average DSO, which is typically higher from May to October as higher volumes of receivables take longer to process and collect. </a:t>
            </a:r>
          </a:p>
          <a:p>
            <a:pPr marL="171450" indent="-171450">
              <a:buFont typeface="Arial" panose="020B0604020202020204" pitchFamily="34" charset="0"/>
              <a:buChar char="•"/>
            </a:pPr>
            <a:r>
              <a:rPr lang="en-US" sz="800">
                <a:solidFill>
                  <a:schemeClr val="tx1"/>
                </a:solidFill>
              </a:rPr>
              <a:t>Average adjusted DSO consistently ranges from 64 to 67 days over the historical period. </a:t>
            </a:r>
          </a:p>
        </p:txBody>
      </p:sp>
      <p:pic>
        <p:nvPicPr>
          <p:cNvPr id="18" name="Picture 17">
            <a:extLst>
              <a:ext uri="{FF2B5EF4-FFF2-40B4-BE49-F238E27FC236}">
                <a16:creationId xmlns:a16="http://schemas.microsoft.com/office/drawing/2014/main" id="{E5CE2422-64F7-60BD-DFCB-04B5B7934530}"/>
              </a:ext>
            </a:extLst>
          </p:cNvPr>
          <p:cNvPicPr>
            <a:picLocks noChangeAspect="1"/>
          </p:cNvPicPr>
          <p:nvPr>
            <p:custDataLst>
              <p:tags r:id="rId5"/>
            </p:custDataLst>
          </p:nvPr>
        </p:nvPicPr>
        <p:blipFill>
          <a:blip r:embed="rId9"/>
          <a:stretch>
            <a:fillRect/>
          </a:stretch>
        </p:blipFill>
        <p:spPr>
          <a:xfrm>
            <a:off x="1004112" y="1339643"/>
            <a:ext cx="5799338" cy="1393454"/>
          </a:xfrm>
          <a:prstGeom prst="rect">
            <a:avLst/>
          </a:prstGeom>
        </p:spPr>
      </p:pic>
      <p:grpSp>
        <p:nvGrpSpPr>
          <p:cNvPr id="31" name="Group 30">
            <a:extLst>
              <a:ext uri="{FF2B5EF4-FFF2-40B4-BE49-F238E27FC236}">
                <a16:creationId xmlns:a16="http://schemas.microsoft.com/office/drawing/2014/main" id="{4BBB27E3-C13F-691C-BAD1-AABCA30D8F6E}"/>
              </a:ext>
            </a:extLst>
          </p:cNvPr>
          <p:cNvGrpSpPr/>
          <p:nvPr>
            <p:custDataLst>
              <p:tags r:id="rId6"/>
            </p:custDataLst>
          </p:nvPr>
        </p:nvGrpSpPr>
        <p:grpSpPr>
          <a:xfrm>
            <a:off x="995364" y="153170"/>
            <a:ext cx="5808086" cy="195814"/>
            <a:chOff x="995364" y="153170"/>
            <a:chExt cx="5808086" cy="195814"/>
          </a:xfrm>
        </p:grpSpPr>
        <p:sp>
          <p:nvSpPr>
            <p:cNvPr id="32"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4" name="Current Section3">
              <a:hlinkClick r:id="rId12"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5"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6"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7" name="Other Sections6">
              <a:hlinkClick r:id="rId15"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227499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12F623F-E75F-28E3-9BBC-8580C5F32AF8}"/>
              </a:ext>
            </a:extLst>
          </p:cNvPr>
          <p:cNvPicPr>
            <a:picLocks noChangeAspect="1"/>
          </p:cNvPicPr>
          <p:nvPr>
            <p:custDataLst>
              <p:tags r:id="rId1"/>
            </p:custDataLst>
          </p:nvPr>
        </p:nvPicPr>
        <p:blipFill>
          <a:blip r:embed="rId7"/>
          <a:stretch>
            <a:fillRect/>
          </a:stretch>
        </p:blipFill>
        <p:spPr>
          <a:xfrm>
            <a:off x="1005831" y="1342683"/>
            <a:ext cx="5757062" cy="4141627"/>
          </a:xfrm>
          <a:prstGeom prst="rect">
            <a:avLst/>
          </a:prstGeom>
        </p:spPr>
      </p:pic>
      <p:sp>
        <p:nvSpPr>
          <p:cNvPr id="3" name="Title 1">
            <a:extLst>
              <a:ext uri="{FF2B5EF4-FFF2-40B4-BE49-F238E27FC236}">
                <a16:creationId xmlns:a16="http://schemas.microsoft.com/office/drawing/2014/main" id="{6CB8379A-EE0D-0D33-3F85-604AFC422E5A}"/>
              </a:ext>
            </a:extLst>
          </p:cNvPr>
          <p:cNvSpPr>
            <a:spLocks noGrp="1"/>
          </p:cNvSpPr>
          <p:nvPr>
            <p:ph type="title"/>
          </p:nvPr>
        </p:nvSpPr>
        <p:spPr>
          <a:xfrm>
            <a:off x="995362" y="431800"/>
            <a:ext cx="10204452" cy="539750"/>
          </a:xfrm>
        </p:spPr>
        <p:txBody>
          <a:bodyPr/>
          <a:lstStyle/>
          <a:p>
            <a:r>
              <a:rPr lang="en-US"/>
              <a:t>Net working capital (2/7) </a:t>
            </a:r>
            <a:r>
              <a:rPr lang="en-US" sz="4000"/>
              <a:t>– </a:t>
            </a:r>
            <a:r>
              <a:rPr lang="en-US"/>
              <a:t>Due diligence adjustments </a:t>
            </a:r>
          </a:p>
        </p:txBody>
      </p:sp>
      <p:sp>
        <p:nvSpPr>
          <p:cNvPr id="4" name="Text Placeholder 7">
            <a:extLst>
              <a:ext uri="{FF2B5EF4-FFF2-40B4-BE49-F238E27FC236}">
                <a16:creationId xmlns:a16="http://schemas.microsoft.com/office/drawing/2014/main" id="{A92DF4E8-B982-D908-96A4-6B18BB6594D0}"/>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5" name="Text Placeholder 12">
            <a:extLst>
              <a:ext uri="{FF2B5EF4-FFF2-40B4-BE49-F238E27FC236}">
                <a16:creationId xmlns:a16="http://schemas.microsoft.com/office/drawing/2014/main" id="{4C29C0E3-D4D8-C089-F953-C7A86DB6AE7F}"/>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sp>
        <p:nvSpPr>
          <p:cNvPr id="6" name="Rectangle 5">
            <a:extLst>
              <a:ext uri="{FF2B5EF4-FFF2-40B4-BE49-F238E27FC236}">
                <a16:creationId xmlns:a16="http://schemas.microsoft.com/office/drawing/2014/main" id="{795E6D82-2ECC-2A8E-10EA-EB827930D77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a:solidFill>
                  <a:sysClr val="windowText" lastClr="000000"/>
                </a:solidFill>
              </a:rPr>
              <a:t>Call-out box.</a:t>
            </a:r>
          </a:p>
        </p:txBody>
      </p:sp>
      <p:cxnSp>
        <p:nvCxnSpPr>
          <p:cNvPr id="7" name="Straight Arrow Connector 6">
            <a:extLst>
              <a:ext uri="{FF2B5EF4-FFF2-40B4-BE49-F238E27FC236}">
                <a16:creationId xmlns:a16="http://schemas.microsoft.com/office/drawing/2014/main" id="{8FD06ABA-4D16-E303-1484-A92A28B734CF}"/>
              </a:ext>
            </a:extLst>
          </p:cNvPr>
          <p:cNvCxnSpPr>
            <a:cxnSpLocks/>
            <a:stCxn id="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FD9F8237-65E7-0D91-FD93-BAF00EC34247}"/>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2" name="Text Placeholder 48">
            <a:extLst>
              <a:ext uri="{FF2B5EF4-FFF2-40B4-BE49-F238E27FC236}">
                <a16:creationId xmlns:a16="http://schemas.microsoft.com/office/drawing/2014/main" id="{A5ADD9B6-7F55-57DB-4E24-D3DF3ACAF403}"/>
              </a:ext>
            </a:extLst>
          </p:cNvPr>
          <p:cNvSpPr txBox="1">
            <a:spLocks/>
          </p:cNvSpPr>
          <p:nvPr/>
        </p:nvSpPr>
        <p:spPr>
          <a:xfrm>
            <a:off x="7037066" y="1591667"/>
            <a:ext cx="4159572" cy="4141941"/>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a:pPr>
            <a:r>
              <a:rPr lang="en-US" sz="900" b="1"/>
              <a:t>IFRS 15 contract liability: </a:t>
            </a:r>
            <a:r>
              <a:rPr lang="en-US" sz="900"/>
              <a:t>Contract liabilities which are recorded in accordance with IFRS 15 are removed from net working capital as they are related to the progressive revenue recognition of the underlying services, but do not represent the operational liquidity of the business from a working capital perspective. This adjustment includes the Mobile POS IFRS 15 contract related to </a:t>
            </a:r>
            <a:r>
              <a:rPr lang="en-US" sz="900" err="1"/>
              <a:t>Interac</a:t>
            </a:r>
            <a:r>
              <a:rPr lang="en-US" sz="900"/>
              <a:t> discussed in </a:t>
            </a:r>
            <a:r>
              <a:rPr lang="en-US" sz="900" err="1"/>
              <a:t>QofE</a:t>
            </a:r>
            <a:r>
              <a:rPr lang="en-US" sz="900"/>
              <a:t> adjustment #1 and other material IFRS 15 contracts. </a:t>
            </a:r>
          </a:p>
          <a:p>
            <a:pPr marL="228600" lvl="1" indent="-228600">
              <a:buFont typeface="+mj-lt"/>
              <a:buAutoNum type="arabicPeriod"/>
            </a:pPr>
            <a:r>
              <a:rPr lang="en-US" sz="900" b="1"/>
              <a:t>LTIP reclassification:</a:t>
            </a:r>
            <a:r>
              <a:rPr lang="en-US" sz="900"/>
              <a:t> The Company offers LTIP for its executives, accruing monthly and paid out after three years in March. For instance, the LTIP earned in FY21 will be disbursed in March 2024. Each December, the LTIP due within a year is reclassified as short-term and is reflected in reported NWC. This adjustment includes the long-term liability in NWC as the monthly expense accrual is reflected in EBITDA.</a:t>
            </a:r>
          </a:p>
          <a:p>
            <a:pPr marL="228600" lvl="1" indent="-228600">
              <a:buFont typeface="+mj-lt"/>
              <a:buAutoNum type="arabicPeriod"/>
            </a:pPr>
            <a:r>
              <a:rPr lang="en-US" sz="900" b="1"/>
              <a:t>Accrued liabilities – </a:t>
            </a:r>
            <a:r>
              <a:rPr lang="en-US" sz="900" b="1" err="1"/>
              <a:t>celero</a:t>
            </a:r>
            <a:r>
              <a:rPr lang="en-US" sz="900" b="1"/>
              <a:t> and cu centrals: </a:t>
            </a:r>
            <a:r>
              <a:rPr lang="en-US" sz="900"/>
              <a:t>The Company replaced servers and network equipment approximately two years ahead of the estimated useful life as a result of the forced data center relocation. The costs associated with the relocation were disputed with </a:t>
            </a:r>
            <a:r>
              <a:rPr lang="en-US" sz="900" err="1"/>
              <a:t>Celero</a:t>
            </a:r>
            <a:r>
              <a:rPr lang="en-US" sz="900"/>
              <a:t> and pending resolution, the Company withheld existing data center occupancy payments from </a:t>
            </a:r>
            <a:r>
              <a:rPr lang="en-US" sz="900" err="1"/>
              <a:t>Celero</a:t>
            </a:r>
            <a:r>
              <a:rPr lang="en-US" sz="900"/>
              <a:t>, resulting in increased accrued liabilities from February to December 2023. Elevated balances from the period are adjusted to the monthly YTD Jun-24 run-rate of $244,000.</a:t>
            </a:r>
          </a:p>
          <a:p>
            <a:pPr marL="228600" lvl="1" indent="-228600">
              <a:buFont typeface="+mj-lt"/>
              <a:buAutoNum type="arabicPeriod"/>
            </a:pPr>
            <a:endParaRPr lang="en-US" sz="900"/>
          </a:p>
          <a:p>
            <a:pPr marL="228600" lvl="1" indent="-228600">
              <a:buFont typeface="+mj-lt"/>
              <a:buAutoNum type="arabicPeriod"/>
            </a:pPr>
            <a:endParaRPr lang="en-US" sz="900"/>
          </a:p>
          <a:p>
            <a:pPr marL="228600" lvl="1" indent="-228600">
              <a:buFont typeface="+mj-lt"/>
              <a:buAutoNum type="arabicPeriod"/>
            </a:pPr>
            <a:endParaRPr lang="en-US" sz="900"/>
          </a:p>
          <a:p>
            <a:pPr marL="228600" lvl="1" indent="-228600">
              <a:spcAft>
                <a:spcPts val="0"/>
              </a:spcAft>
              <a:buFont typeface="+mj-lt"/>
              <a:buAutoNum type="arabicPeriod"/>
            </a:pPr>
            <a:endParaRPr lang="en-US" sz="900"/>
          </a:p>
          <a:p>
            <a:pPr marL="228600" lvl="1" indent="-228600">
              <a:buFontTx/>
              <a:buAutoNum type="arabicPeriod"/>
            </a:pPr>
            <a:endParaRPr lang="en-US" sz="900"/>
          </a:p>
        </p:txBody>
      </p:sp>
      <p:sp>
        <p:nvSpPr>
          <p:cNvPr id="2" name="UpSlide SubSection Marker" hidden="1">
            <a:extLst>
              <a:ext uri="{FF2B5EF4-FFF2-40B4-BE49-F238E27FC236}">
                <a16:creationId xmlns:a16="http://schemas.microsoft.com/office/drawing/2014/main" id="{9A7E017A-552D-C189-30AF-2FC5FDB8060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15" name="Text Placeholder 12">
            <a:extLst>
              <a:ext uri="{FF2B5EF4-FFF2-40B4-BE49-F238E27FC236}">
                <a16:creationId xmlns:a16="http://schemas.microsoft.com/office/drawing/2014/main" id="{806DACC8-007A-F728-3A02-DCC2E22E3E58}"/>
              </a:ext>
            </a:extLst>
          </p:cNvPr>
          <p:cNvSpPr txBox="1">
            <a:spLocks/>
          </p:cNvSpPr>
          <p:nvPr/>
        </p:nvSpPr>
        <p:spPr>
          <a:xfrm>
            <a:off x="995362" y="5467339"/>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Internal financial statements</a:t>
            </a:r>
          </a:p>
        </p:txBody>
      </p:sp>
      <p:sp>
        <p:nvSpPr>
          <p:cNvPr id="16" name="Text Placeholder 25">
            <a:extLst>
              <a:ext uri="{FF2B5EF4-FFF2-40B4-BE49-F238E27FC236}">
                <a16:creationId xmlns:a16="http://schemas.microsoft.com/office/drawing/2014/main" id="{FD4C5C57-A173-B104-1FD4-3D5E81B660FA}"/>
              </a:ext>
            </a:extLst>
          </p:cNvPr>
          <p:cNvSpPr txBox="1">
            <a:spLocks/>
          </p:cNvSpPr>
          <p:nvPr/>
        </p:nvSpPr>
        <p:spPr>
          <a:xfrm>
            <a:off x="7040241" y="1337241"/>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a:t>
            </a:r>
          </a:p>
        </p:txBody>
      </p:sp>
      <p:sp>
        <p:nvSpPr>
          <p:cNvPr id="20" name="Rectangle: Rounded Corners 19">
            <a:extLst>
              <a:ext uri="{FF2B5EF4-FFF2-40B4-BE49-F238E27FC236}">
                <a16:creationId xmlns:a16="http://schemas.microsoft.com/office/drawing/2014/main" id="{288A0C25-E6DD-8099-E7A3-16BB28BCA454}"/>
              </a:ext>
            </a:extLst>
          </p:cNvPr>
          <p:cNvSpPr/>
          <p:nvPr/>
        </p:nvSpPr>
        <p:spPr>
          <a:xfrm flipV="1">
            <a:off x="999653" y="3402418"/>
            <a:ext cx="5757062" cy="403462"/>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pic>
        <p:nvPicPr>
          <p:cNvPr id="25" name="Picture 24">
            <a:extLst>
              <a:ext uri="{FF2B5EF4-FFF2-40B4-BE49-F238E27FC236}">
                <a16:creationId xmlns:a16="http://schemas.microsoft.com/office/drawing/2014/main" id="{31A7DAF8-F81C-0744-2414-6883CEB04340}"/>
              </a:ext>
            </a:extLst>
          </p:cNvPr>
          <p:cNvPicPr>
            <a:picLocks noChangeAspect="1"/>
          </p:cNvPicPr>
          <p:nvPr>
            <p:custDataLst>
              <p:tags r:id="rId4"/>
            </p:custDataLst>
          </p:nvPr>
        </p:nvPicPr>
        <p:blipFill>
          <a:blip r:embed="rId8"/>
          <a:stretch>
            <a:fillRect/>
          </a:stretch>
        </p:blipFill>
        <p:spPr>
          <a:xfrm>
            <a:off x="7316787" y="4708258"/>
            <a:ext cx="3883026" cy="653761"/>
          </a:xfrm>
          <a:prstGeom prst="rect">
            <a:avLst/>
          </a:prstGeom>
        </p:spPr>
      </p:pic>
      <p:grpSp>
        <p:nvGrpSpPr>
          <p:cNvPr id="29" name="Group 28">
            <a:extLst>
              <a:ext uri="{FF2B5EF4-FFF2-40B4-BE49-F238E27FC236}">
                <a16:creationId xmlns:a16="http://schemas.microsoft.com/office/drawing/2014/main" id="{4BBB27E3-C13F-691C-BAD1-AABCA30D8F6E}"/>
              </a:ext>
            </a:extLst>
          </p:cNvPr>
          <p:cNvGrpSpPr/>
          <p:nvPr>
            <p:custDataLst>
              <p:tags r:id="rId5"/>
            </p:custDataLst>
          </p:nvPr>
        </p:nvGrpSpPr>
        <p:grpSpPr>
          <a:xfrm>
            <a:off x="995364" y="153170"/>
            <a:ext cx="5808086" cy="195814"/>
            <a:chOff x="995364" y="153170"/>
            <a:chExt cx="5808086" cy="195814"/>
          </a:xfrm>
        </p:grpSpPr>
        <p:sp>
          <p:nvSpPr>
            <p:cNvPr id="30"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1"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2" name="Current Section3">
              <a:hlinkClick r:id="rId11"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3"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4"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5" name="Other Sections6">
              <a:hlinkClick r:id="rId14"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9501818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47C6416-093D-8A62-1E7F-C5A019F79E6A}"/>
              </a:ext>
            </a:extLst>
          </p:cNvPr>
          <p:cNvPicPr>
            <a:picLocks noChangeAspect="1"/>
          </p:cNvPicPr>
          <p:nvPr>
            <p:custDataLst>
              <p:tags r:id="rId1"/>
            </p:custDataLst>
          </p:nvPr>
        </p:nvPicPr>
        <p:blipFill>
          <a:blip r:embed="rId6"/>
          <a:stretch>
            <a:fillRect/>
          </a:stretch>
        </p:blipFill>
        <p:spPr>
          <a:xfrm>
            <a:off x="1005831" y="1342683"/>
            <a:ext cx="5757062" cy="4141627"/>
          </a:xfrm>
          <a:prstGeom prst="rect">
            <a:avLst/>
          </a:prstGeom>
        </p:spPr>
      </p:pic>
      <p:sp>
        <p:nvSpPr>
          <p:cNvPr id="3" name="Title 1">
            <a:extLst>
              <a:ext uri="{FF2B5EF4-FFF2-40B4-BE49-F238E27FC236}">
                <a16:creationId xmlns:a16="http://schemas.microsoft.com/office/drawing/2014/main" id="{6CB8379A-EE0D-0D33-3F85-604AFC422E5A}"/>
              </a:ext>
            </a:extLst>
          </p:cNvPr>
          <p:cNvSpPr>
            <a:spLocks noGrp="1"/>
          </p:cNvSpPr>
          <p:nvPr>
            <p:ph type="title"/>
          </p:nvPr>
        </p:nvSpPr>
        <p:spPr>
          <a:xfrm>
            <a:off x="995362" y="431800"/>
            <a:ext cx="10204452" cy="539750"/>
          </a:xfrm>
        </p:spPr>
        <p:txBody>
          <a:bodyPr/>
          <a:lstStyle/>
          <a:p>
            <a:r>
              <a:rPr lang="en-US"/>
              <a:t>Net working capital (3/7) </a:t>
            </a:r>
            <a:r>
              <a:rPr lang="en-US" sz="4000"/>
              <a:t>– </a:t>
            </a:r>
            <a:r>
              <a:rPr lang="en-US"/>
              <a:t>Due diligence adjustments </a:t>
            </a:r>
          </a:p>
        </p:txBody>
      </p:sp>
      <p:sp>
        <p:nvSpPr>
          <p:cNvPr id="4" name="Text Placeholder 7">
            <a:extLst>
              <a:ext uri="{FF2B5EF4-FFF2-40B4-BE49-F238E27FC236}">
                <a16:creationId xmlns:a16="http://schemas.microsoft.com/office/drawing/2014/main" id="{A92DF4E8-B982-D908-96A4-6B18BB6594D0}"/>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5" name="Text Placeholder 12">
            <a:extLst>
              <a:ext uri="{FF2B5EF4-FFF2-40B4-BE49-F238E27FC236}">
                <a16:creationId xmlns:a16="http://schemas.microsoft.com/office/drawing/2014/main" id="{4C29C0E3-D4D8-C089-F953-C7A86DB6AE7F}"/>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sp>
        <p:nvSpPr>
          <p:cNvPr id="6" name="Rectangle 5">
            <a:extLst>
              <a:ext uri="{FF2B5EF4-FFF2-40B4-BE49-F238E27FC236}">
                <a16:creationId xmlns:a16="http://schemas.microsoft.com/office/drawing/2014/main" id="{795E6D82-2ECC-2A8E-10EA-EB827930D77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a:solidFill>
                  <a:sysClr val="windowText" lastClr="000000"/>
                </a:solidFill>
              </a:rPr>
              <a:t>Call-out box.</a:t>
            </a:r>
          </a:p>
        </p:txBody>
      </p:sp>
      <p:cxnSp>
        <p:nvCxnSpPr>
          <p:cNvPr id="7" name="Straight Arrow Connector 6">
            <a:extLst>
              <a:ext uri="{FF2B5EF4-FFF2-40B4-BE49-F238E27FC236}">
                <a16:creationId xmlns:a16="http://schemas.microsoft.com/office/drawing/2014/main" id="{8FD06ABA-4D16-E303-1484-A92A28B734CF}"/>
              </a:ext>
            </a:extLst>
          </p:cNvPr>
          <p:cNvCxnSpPr>
            <a:cxnSpLocks/>
            <a:stCxn id="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FD9F8237-65E7-0D91-FD93-BAF00EC34247}"/>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2" name="Text Placeholder 48">
            <a:extLst>
              <a:ext uri="{FF2B5EF4-FFF2-40B4-BE49-F238E27FC236}">
                <a16:creationId xmlns:a16="http://schemas.microsoft.com/office/drawing/2014/main" id="{A5ADD9B6-7F55-57DB-4E24-D3DF3ACAF403}"/>
              </a:ext>
            </a:extLst>
          </p:cNvPr>
          <p:cNvSpPr txBox="1">
            <a:spLocks/>
          </p:cNvSpPr>
          <p:nvPr/>
        </p:nvSpPr>
        <p:spPr>
          <a:xfrm>
            <a:off x="7037066" y="1591667"/>
            <a:ext cx="4159572" cy="444083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4"/>
            </a:pPr>
            <a:r>
              <a:rPr lang="en-US" sz="900" b="1"/>
              <a:t>Settlement services dispute: </a:t>
            </a:r>
            <a:r>
              <a:rPr lang="en-US" sz="900"/>
              <a:t>Relates to the Company’s pricing dispute with </a:t>
            </a:r>
            <a:r>
              <a:rPr lang="en-US" sz="900" err="1"/>
              <a:t>Interac</a:t>
            </a:r>
            <a:r>
              <a:rPr lang="en-US" sz="900"/>
              <a:t> Corp. whereby settlement services revenue is adjusted within </a:t>
            </a:r>
            <a:r>
              <a:rPr lang="en-US" sz="900" err="1"/>
              <a:t>QofE</a:t>
            </a:r>
            <a:r>
              <a:rPr lang="en-US" sz="900"/>
              <a:t> due diligence adjustment #3 to reflect the draft resolution proposed in July 2024. The draft resolution proposes revised pricing rates from August 2023 to July 2024 and credits of $158,272 + HST (total of $178,847) for services billed in FY23. This adjustment estimates the indicative AR impact of the negotiated settlement services pricing by applying DSO to the revenue adjustment and includes an accrual for credits for services offered in FY23. The corresponding AR impact to reflect run-rate go-forward settlement pricing is reflected in NWC adjustment #13.</a:t>
            </a:r>
          </a:p>
          <a:p>
            <a:pPr marL="228600" lvl="1" indent="-228600">
              <a:buFont typeface="+mj-lt"/>
              <a:buAutoNum type="arabicPeriod" startAt="4"/>
            </a:pPr>
            <a:r>
              <a:rPr lang="en-US" sz="900" b="1"/>
              <a:t>Out of period entries: </a:t>
            </a:r>
            <a:r>
              <a:rPr lang="en-US" sz="900"/>
              <a:t>The out of period accrued liabilities and bonus accrual corresponding to </a:t>
            </a:r>
            <a:r>
              <a:rPr lang="en-US" sz="900" err="1"/>
              <a:t>QofE</a:t>
            </a:r>
            <a:r>
              <a:rPr lang="en-US" sz="900"/>
              <a:t> adjustment #4 are adjusted to the periods in which they relate.</a:t>
            </a:r>
          </a:p>
          <a:p>
            <a:pPr marL="228600" lvl="1"/>
            <a:r>
              <a:rPr lang="en-US" sz="900"/>
              <a:t>In December 2023, $131,000 in expense accruals relating to the Chase Paymentech partnership and $103,000 relating to ATM services were reversed, of which $30,000 related to accruals recorded in FY22 and the remainder related to prior to FY21. The adjustment corrected the entry to record a $30,000 accrual in December 2021 and removed the remainder of accruals in December 2023 pertaining to pre-FY21 periods. </a:t>
            </a:r>
          </a:p>
          <a:p>
            <a:pPr marL="228600" lvl="1"/>
            <a:r>
              <a:rPr lang="en-US" sz="900"/>
              <a:t>Bonus expense was over-accrued by $78,000 in FY22 and under-accrued by $10,000 in FY23. This adjustment adjusts the bonus accruals accordingly in each of the respective fiscal years. </a:t>
            </a:r>
          </a:p>
          <a:p>
            <a:pPr marL="228600" lvl="1" indent="-228600">
              <a:buFont typeface="+mj-lt"/>
              <a:buAutoNum type="arabicPeriod" startAt="6"/>
            </a:pPr>
            <a:r>
              <a:rPr lang="en-US" sz="900" b="1"/>
              <a:t>Covid-19 related income/expenses accrual: </a:t>
            </a:r>
            <a:r>
              <a:rPr lang="en-US" sz="900"/>
              <a:t>The wage and rent subsidy accruals from the Canadian government in connection with the Covid-19 pandemic are non-recurring and are removed from net working capital. </a:t>
            </a:r>
          </a:p>
          <a:p>
            <a:pPr marL="228600" lvl="1" indent="-228600">
              <a:buFontTx/>
              <a:buAutoNum type="arabicPeriod"/>
            </a:pPr>
            <a:endParaRPr lang="en-US" sz="900"/>
          </a:p>
          <a:p>
            <a:pPr marL="228600" lvl="1" indent="-228600">
              <a:buFontTx/>
              <a:buAutoNum type="arabicPeriod"/>
            </a:pPr>
            <a:endParaRPr lang="en-US" sz="900" b="1"/>
          </a:p>
          <a:p>
            <a:pPr marL="228600" lvl="1" indent="-228600">
              <a:buFontTx/>
              <a:buAutoNum type="arabicPeriod"/>
            </a:pPr>
            <a:endParaRPr lang="en-US" sz="900"/>
          </a:p>
        </p:txBody>
      </p:sp>
      <p:sp>
        <p:nvSpPr>
          <p:cNvPr id="2" name="UpSlide SubSection Marker" hidden="1">
            <a:extLst>
              <a:ext uri="{FF2B5EF4-FFF2-40B4-BE49-F238E27FC236}">
                <a16:creationId xmlns:a16="http://schemas.microsoft.com/office/drawing/2014/main" id="{9A7E017A-552D-C189-30AF-2FC5FDB8060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15" name="Text Placeholder 12">
            <a:extLst>
              <a:ext uri="{FF2B5EF4-FFF2-40B4-BE49-F238E27FC236}">
                <a16:creationId xmlns:a16="http://schemas.microsoft.com/office/drawing/2014/main" id="{806DACC8-007A-F728-3A02-DCC2E22E3E58}"/>
              </a:ext>
            </a:extLst>
          </p:cNvPr>
          <p:cNvSpPr txBox="1">
            <a:spLocks/>
          </p:cNvSpPr>
          <p:nvPr/>
        </p:nvSpPr>
        <p:spPr>
          <a:xfrm>
            <a:off x="995362" y="548431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a:t>
            </a:r>
          </a:p>
        </p:txBody>
      </p:sp>
      <p:sp>
        <p:nvSpPr>
          <p:cNvPr id="16" name="Text Placeholder 25">
            <a:extLst>
              <a:ext uri="{FF2B5EF4-FFF2-40B4-BE49-F238E27FC236}">
                <a16:creationId xmlns:a16="http://schemas.microsoft.com/office/drawing/2014/main" id="{FD4C5C57-A173-B104-1FD4-3D5E81B660FA}"/>
              </a:ext>
            </a:extLst>
          </p:cNvPr>
          <p:cNvSpPr txBox="1">
            <a:spLocks/>
          </p:cNvSpPr>
          <p:nvPr/>
        </p:nvSpPr>
        <p:spPr>
          <a:xfrm>
            <a:off x="7040241" y="1337241"/>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(continued) </a:t>
            </a:r>
          </a:p>
        </p:txBody>
      </p:sp>
      <p:sp>
        <p:nvSpPr>
          <p:cNvPr id="11" name="Rectangle: Rounded Corners 10">
            <a:extLst>
              <a:ext uri="{FF2B5EF4-FFF2-40B4-BE49-F238E27FC236}">
                <a16:creationId xmlns:a16="http://schemas.microsoft.com/office/drawing/2014/main" id="{30E157D9-5B30-053C-FD8F-CB1B646F46C1}"/>
              </a:ext>
            </a:extLst>
          </p:cNvPr>
          <p:cNvSpPr/>
          <p:nvPr/>
        </p:nvSpPr>
        <p:spPr>
          <a:xfrm flipV="1">
            <a:off x="999653" y="3767102"/>
            <a:ext cx="5757062" cy="36655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28" name="Group 27">
            <a:extLst>
              <a:ext uri="{FF2B5EF4-FFF2-40B4-BE49-F238E27FC236}">
                <a16:creationId xmlns:a16="http://schemas.microsoft.com/office/drawing/2014/main" id="{4BBB27E3-C13F-691C-BAD1-AABCA30D8F6E}"/>
              </a:ext>
            </a:extLst>
          </p:cNvPr>
          <p:cNvGrpSpPr/>
          <p:nvPr>
            <p:custDataLst>
              <p:tags r:id="rId4"/>
            </p:custDataLst>
          </p:nvPr>
        </p:nvGrpSpPr>
        <p:grpSpPr>
          <a:xfrm>
            <a:off x="995364" y="153170"/>
            <a:ext cx="5808086" cy="195814"/>
            <a:chOff x="995364" y="153170"/>
            <a:chExt cx="5808086" cy="195814"/>
          </a:xfrm>
        </p:grpSpPr>
        <p:sp>
          <p:nvSpPr>
            <p:cNvPr id="29"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1" name="Current Section3">
              <a:hlinkClick r:id="rId9"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2"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3"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4"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8009361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C269D90-9960-E1B6-1946-B49B77870DB3}"/>
              </a:ext>
            </a:extLst>
          </p:cNvPr>
          <p:cNvPicPr>
            <a:picLocks noChangeAspect="1"/>
          </p:cNvPicPr>
          <p:nvPr>
            <p:custDataLst>
              <p:tags r:id="rId1"/>
            </p:custDataLst>
          </p:nvPr>
        </p:nvPicPr>
        <p:blipFill>
          <a:blip r:embed="rId6"/>
          <a:stretch>
            <a:fillRect/>
          </a:stretch>
        </p:blipFill>
        <p:spPr>
          <a:xfrm>
            <a:off x="1005831" y="1342682"/>
            <a:ext cx="5757062" cy="4141627"/>
          </a:xfrm>
          <a:prstGeom prst="rect">
            <a:avLst/>
          </a:prstGeom>
        </p:spPr>
      </p:pic>
      <p:sp>
        <p:nvSpPr>
          <p:cNvPr id="3" name="Title 1">
            <a:extLst>
              <a:ext uri="{FF2B5EF4-FFF2-40B4-BE49-F238E27FC236}">
                <a16:creationId xmlns:a16="http://schemas.microsoft.com/office/drawing/2014/main" id="{6CB8379A-EE0D-0D33-3F85-604AFC422E5A}"/>
              </a:ext>
            </a:extLst>
          </p:cNvPr>
          <p:cNvSpPr>
            <a:spLocks noGrp="1"/>
          </p:cNvSpPr>
          <p:nvPr>
            <p:ph type="title"/>
          </p:nvPr>
        </p:nvSpPr>
        <p:spPr>
          <a:xfrm>
            <a:off x="995362" y="431800"/>
            <a:ext cx="10204452" cy="539750"/>
          </a:xfrm>
        </p:spPr>
        <p:txBody>
          <a:bodyPr/>
          <a:lstStyle/>
          <a:p>
            <a:r>
              <a:rPr lang="en-US"/>
              <a:t>Net working capital (4/7) </a:t>
            </a:r>
            <a:r>
              <a:rPr lang="en-US" sz="4000"/>
              <a:t>– </a:t>
            </a:r>
            <a:r>
              <a:rPr lang="en-US"/>
              <a:t>Due diligence adjustments </a:t>
            </a:r>
          </a:p>
        </p:txBody>
      </p:sp>
      <p:sp>
        <p:nvSpPr>
          <p:cNvPr id="4" name="Text Placeholder 7">
            <a:extLst>
              <a:ext uri="{FF2B5EF4-FFF2-40B4-BE49-F238E27FC236}">
                <a16:creationId xmlns:a16="http://schemas.microsoft.com/office/drawing/2014/main" id="{A92DF4E8-B982-D908-96A4-6B18BB6594D0}"/>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6" name="Rectangle 5">
            <a:extLst>
              <a:ext uri="{FF2B5EF4-FFF2-40B4-BE49-F238E27FC236}">
                <a16:creationId xmlns:a16="http://schemas.microsoft.com/office/drawing/2014/main" id="{795E6D82-2ECC-2A8E-10EA-EB827930D77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a:solidFill>
                  <a:sysClr val="windowText" lastClr="000000"/>
                </a:solidFill>
              </a:rPr>
              <a:t>Call-out box.</a:t>
            </a:r>
          </a:p>
        </p:txBody>
      </p:sp>
      <p:cxnSp>
        <p:nvCxnSpPr>
          <p:cNvPr id="7" name="Straight Arrow Connector 6">
            <a:extLst>
              <a:ext uri="{FF2B5EF4-FFF2-40B4-BE49-F238E27FC236}">
                <a16:creationId xmlns:a16="http://schemas.microsoft.com/office/drawing/2014/main" id="{8FD06ABA-4D16-E303-1484-A92A28B734CF}"/>
              </a:ext>
            </a:extLst>
          </p:cNvPr>
          <p:cNvCxnSpPr>
            <a:cxnSpLocks/>
            <a:stCxn id="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FD9F8237-65E7-0D91-FD93-BAF00EC34247}"/>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2" name="Text Placeholder 48">
            <a:extLst>
              <a:ext uri="{FF2B5EF4-FFF2-40B4-BE49-F238E27FC236}">
                <a16:creationId xmlns:a16="http://schemas.microsoft.com/office/drawing/2014/main" id="{A5ADD9B6-7F55-57DB-4E24-D3DF3ACAF403}"/>
              </a:ext>
            </a:extLst>
          </p:cNvPr>
          <p:cNvSpPr txBox="1">
            <a:spLocks/>
          </p:cNvSpPr>
          <p:nvPr/>
        </p:nvSpPr>
        <p:spPr>
          <a:xfrm>
            <a:off x="7037066" y="1591667"/>
            <a:ext cx="4159572" cy="473293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7"/>
            </a:pPr>
            <a:r>
              <a:rPr lang="en-US" sz="900" b="1"/>
              <a:t>Severance liability:</a:t>
            </a:r>
            <a:r>
              <a:rPr lang="en-US" sz="900"/>
              <a:t> In conjunction with </a:t>
            </a:r>
            <a:r>
              <a:rPr lang="en-US" sz="900" err="1"/>
              <a:t>QofE</a:t>
            </a:r>
            <a:r>
              <a:rPr lang="en-US" sz="900"/>
              <a:t> adjustment #5, the corresponding severance liabilities for the following roles were removed from net working capital: (a) VP Operations and Client Services, (b) Director, IT Operations, (c) Senior Compliance Manager. Additionally, an out of period severance accrual reversal for a business analyst is reallocated to the time of recognition. We have assumed that severance is accrued in the month of termination and is paid out in the following month. </a:t>
            </a:r>
          </a:p>
          <a:p>
            <a:pPr marL="228600" lvl="1" indent="-228600">
              <a:buFont typeface="+mj-lt"/>
              <a:buAutoNum type="arabicPeriod" startAt="8"/>
            </a:pPr>
            <a:r>
              <a:rPr lang="en-US" sz="900" b="1"/>
              <a:t>Non-resident withholding tax payable: </a:t>
            </a:r>
            <a:r>
              <a:rPr lang="en-US" sz="900"/>
              <a:t>Relates to a 5% withholding tax payable to the Canada Revenue Agency for dividends paid to </a:t>
            </a:r>
            <a:r>
              <a:rPr lang="en-US" sz="900" err="1"/>
              <a:t>Velera</a:t>
            </a:r>
            <a:r>
              <a:rPr lang="en-US" sz="900"/>
              <a:t>. The dividends paid are considered non-operational and therefore, excluded from reported NWC, the associated withholding tax is also removed. </a:t>
            </a:r>
          </a:p>
          <a:p>
            <a:pPr marL="228600" lvl="1" indent="-228600">
              <a:buFont typeface="+mj-lt"/>
              <a:buAutoNum type="arabicPeriod" startAt="8"/>
            </a:pPr>
            <a:r>
              <a:rPr lang="en-US" sz="900" b="1"/>
              <a:t>Bad debt expense: </a:t>
            </a:r>
            <a:r>
              <a:rPr lang="en-US" sz="900"/>
              <a:t>The Company accrued for a one-time bad debt expense of $36,000 in December 2023 as a general provision for point of sale providers (</a:t>
            </a:r>
            <a:r>
              <a:rPr lang="en-US" sz="900" err="1"/>
              <a:t>QofE</a:t>
            </a:r>
            <a:r>
              <a:rPr lang="en-US" sz="900"/>
              <a:t> adjustment #10). The balance was subsequently collected in FY24. This adjustment removes the bad debt provision from net working capital. </a:t>
            </a:r>
          </a:p>
          <a:p>
            <a:pPr marL="228600" lvl="1" indent="-228600">
              <a:buFontTx/>
              <a:buAutoNum type="arabicPeriod" startAt="8"/>
            </a:pPr>
            <a:r>
              <a:rPr lang="en-US" sz="900" b="1"/>
              <a:t>AP impact of </a:t>
            </a:r>
            <a:r>
              <a:rPr lang="en-US" sz="900" b="1" err="1"/>
              <a:t>QofE</a:t>
            </a:r>
            <a:r>
              <a:rPr lang="en-US" sz="900" b="1"/>
              <a:t> adjustments: </a:t>
            </a:r>
            <a:r>
              <a:rPr lang="en-US" sz="900"/>
              <a:t>The corresponding accounts payable impact relating to data center relocation expenses (</a:t>
            </a:r>
            <a:r>
              <a:rPr lang="en-US" sz="900" err="1"/>
              <a:t>QofE</a:t>
            </a:r>
            <a:r>
              <a:rPr lang="en-US" sz="900"/>
              <a:t> adjustment #8), HP lease costs (adjustment #9), and non-recurring legal fees (adjustment #12)  has been estimated by applying the Company’s historical DPO to the related expenses.</a:t>
            </a:r>
          </a:p>
          <a:p>
            <a:pPr marL="228600" lvl="1" indent="-228600">
              <a:buFontTx/>
              <a:buAutoNum type="arabicPeriod" startAt="8"/>
            </a:pPr>
            <a:r>
              <a:rPr lang="en-US" sz="900" b="1"/>
              <a:t>Accrued payroll impact of </a:t>
            </a:r>
            <a:r>
              <a:rPr lang="en-US" sz="900" b="1" err="1"/>
              <a:t>QofE</a:t>
            </a:r>
            <a:r>
              <a:rPr lang="en-US" sz="900" b="1"/>
              <a:t> adjustments: </a:t>
            </a:r>
            <a:r>
              <a:rPr lang="en-US" sz="900"/>
              <a:t>The corresponding impact to payroll accruals for vacant employee positions in FY22 and FY23 (</a:t>
            </a:r>
            <a:r>
              <a:rPr lang="en-US" sz="900" err="1"/>
              <a:t>QofE</a:t>
            </a:r>
            <a:r>
              <a:rPr lang="en-US" sz="900"/>
              <a:t> adjustment #7) has been estimated using the Company’s bi-weekly pay cycle and the monthly total compensation associated with the vacant roles. </a:t>
            </a:r>
          </a:p>
          <a:p>
            <a:pPr marL="228600" lvl="1" indent="-228600">
              <a:buFontTx/>
              <a:buAutoNum type="arabicPeriod" startAt="8"/>
            </a:pPr>
            <a:r>
              <a:rPr lang="en-US" sz="900" b="1"/>
              <a:t>Accrued liabilities impact of professional fees: </a:t>
            </a:r>
            <a:r>
              <a:rPr lang="en-US" sz="900"/>
              <a:t>Removes a $150,000 accrual in June 2024 for non-recurring advisory expenses. The corresponding expense impact is adjusted in </a:t>
            </a:r>
            <a:r>
              <a:rPr lang="en-US" sz="900" err="1"/>
              <a:t>QofE</a:t>
            </a:r>
            <a:r>
              <a:rPr lang="en-US" sz="900"/>
              <a:t> adjustment #6.</a:t>
            </a:r>
          </a:p>
        </p:txBody>
      </p:sp>
      <p:sp>
        <p:nvSpPr>
          <p:cNvPr id="2" name="UpSlide SubSection Marker" hidden="1">
            <a:extLst>
              <a:ext uri="{FF2B5EF4-FFF2-40B4-BE49-F238E27FC236}">
                <a16:creationId xmlns:a16="http://schemas.microsoft.com/office/drawing/2014/main" id="{9A7E017A-552D-C189-30AF-2FC5FDB8060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16" name="Text Placeholder 25">
            <a:extLst>
              <a:ext uri="{FF2B5EF4-FFF2-40B4-BE49-F238E27FC236}">
                <a16:creationId xmlns:a16="http://schemas.microsoft.com/office/drawing/2014/main" id="{FD4C5C57-A173-B104-1FD4-3D5E81B660FA}"/>
              </a:ext>
            </a:extLst>
          </p:cNvPr>
          <p:cNvSpPr txBox="1">
            <a:spLocks/>
          </p:cNvSpPr>
          <p:nvPr/>
        </p:nvSpPr>
        <p:spPr>
          <a:xfrm>
            <a:off x="7040241" y="1337241"/>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Due diligence adjustments (continued) </a:t>
            </a:r>
          </a:p>
        </p:txBody>
      </p:sp>
      <p:sp>
        <p:nvSpPr>
          <p:cNvPr id="10" name="Rectangle: Rounded Corners 9">
            <a:extLst>
              <a:ext uri="{FF2B5EF4-FFF2-40B4-BE49-F238E27FC236}">
                <a16:creationId xmlns:a16="http://schemas.microsoft.com/office/drawing/2014/main" id="{0783FC5E-88F8-5F68-00F1-C9F516DAE45B}"/>
              </a:ext>
            </a:extLst>
          </p:cNvPr>
          <p:cNvSpPr/>
          <p:nvPr/>
        </p:nvSpPr>
        <p:spPr>
          <a:xfrm flipV="1">
            <a:off x="999653" y="4125445"/>
            <a:ext cx="5757062" cy="724911"/>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grpSp>
        <p:nvGrpSpPr>
          <p:cNvPr id="27" name="Group 26">
            <a:extLst>
              <a:ext uri="{FF2B5EF4-FFF2-40B4-BE49-F238E27FC236}">
                <a16:creationId xmlns:a16="http://schemas.microsoft.com/office/drawing/2014/main" id="{4BBB27E3-C13F-691C-BAD1-AABCA30D8F6E}"/>
              </a:ext>
            </a:extLst>
          </p:cNvPr>
          <p:cNvGrpSpPr/>
          <p:nvPr>
            <p:custDataLst>
              <p:tags r:id="rId4"/>
            </p:custDataLst>
          </p:nvPr>
        </p:nvGrpSpPr>
        <p:grpSpPr>
          <a:xfrm>
            <a:off x="995364" y="153170"/>
            <a:ext cx="5808086" cy="195814"/>
            <a:chOff x="995364" y="153170"/>
            <a:chExt cx="5808086" cy="195814"/>
          </a:xfrm>
        </p:grpSpPr>
        <p:sp>
          <p:nvSpPr>
            <p:cNvPr id="28"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9"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0" name="Current Section3">
              <a:hlinkClick r:id="rId9"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1"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2"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3"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
        <p:nvSpPr>
          <p:cNvPr id="12" name="Text Placeholder 12">
            <a:extLst>
              <a:ext uri="{FF2B5EF4-FFF2-40B4-BE49-F238E27FC236}">
                <a16:creationId xmlns:a16="http://schemas.microsoft.com/office/drawing/2014/main" id="{A43705C2-D32F-F2D2-E074-13E9F151190A}"/>
              </a:ext>
            </a:extLst>
          </p:cNvPr>
          <p:cNvSpPr txBox="1">
            <a:spLocks/>
          </p:cNvSpPr>
          <p:nvPr/>
        </p:nvSpPr>
        <p:spPr>
          <a:xfrm>
            <a:off x="995362" y="548431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a:t>
            </a:r>
          </a:p>
        </p:txBody>
      </p:sp>
    </p:spTree>
    <p:extLst>
      <p:ext uri="{BB962C8B-B14F-4D97-AF65-F5344CB8AC3E}">
        <p14:creationId xmlns:p14="http://schemas.microsoft.com/office/powerpoint/2010/main" val="16760718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CE03D4A-9995-09EF-0E53-07068C4D85AB}"/>
              </a:ext>
            </a:extLst>
          </p:cNvPr>
          <p:cNvPicPr>
            <a:picLocks noChangeAspect="1"/>
          </p:cNvPicPr>
          <p:nvPr>
            <p:custDataLst>
              <p:tags r:id="rId1"/>
            </p:custDataLst>
          </p:nvPr>
        </p:nvPicPr>
        <p:blipFill>
          <a:blip r:embed="rId8"/>
          <a:stretch>
            <a:fillRect/>
          </a:stretch>
        </p:blipFill>
        <p:spPr>
          <a:xfrm>
            <a:off x="7332997" y="3043503"/>
            <a:ext cx="3634588" cy="985723"/>
          </a:xfrm>
          <a:prstGeom prst="rect">
            <a:avLst/>
          </a:prstGeom>
        </p:spPr>
      </p:pic>
      <p:pic>
        <p:nvPicPr>
          <p:cNvPr id="17" name="Picture 16">
            <a:extLst>
              <a:ext uri="{FF2B5EF4-FFF2-40B4-BE49-F238E27FC236}">
                <a16:creationId xmlns:a16="http://schemas.microsoft.com/office/drawing/2014/main" id="{36C491FA-C968-F4B6-F79C-1575012EE975}"/>
              </a:ext>
            </a:extLst>
          </p:cNvPr>
          <p:cNvPicPr>
            <a:picLocks noChangeAspect="1"/>
          </p:cNvPicPr>
          <p:nvPr>
            <p:custDataLst>
              <p:tags r:id="rId2"/>
            </p:custDataLst>
          </p:nvPr>
        </p:nvPicPr>
        <p:blipFill>
          <a:blip r:embed="rId9"/>
          <a:stretch>
            <a:fillRect/>
          </a:stretch>
        </p:blipFill>
        <p:spPr>
          <a:xfrm>
            <a:off x="1005831" y="1342685"/>
            <a:ext cx="5757062" cy="3194157"/>
          </a:xfrm>
          <a:prstGeom prst="rect">
            <a:avLst/>
          </a:prstGeom>
        </p:spPr>
      </p:pic>
      <p:sp>
        <p:nvSpPr>
          <p:cNvPr id="3" name="Title 1">
            <a:extLst>
              <a:ext uri="{FF2B5EF4-FFF2-40B4-BE49-F238E27FC236}">
                <a16:creationId xmlns:a16="http://schemas.microsoft.com/office/drawing/2014/main" id="{6CB8379A-EE0D-0D33-3F85-604AFC422E5A}"/>
              </a:ext>
            </a:extLst>
          </p:cNvPr>
          <p:cNvSpPr>
            <a:spLocks noGrp="1"/>
          </p:cNvSpPr>
          <p:nvPr>
            <p:ph type="title"/>
          </p:nvPr>
        </p:nvSpPr>
        <p:spPr>
          <a:xfrm>
            <a:off x="995362" y="431800"/>
            <a:ext cx="10204452" cy="539750"/>
          </a:xfrm>
        </p:spPr>
        <p:txBody>
          <a:bodyPr/>
          <a:lstStyle/>
          <a:p>
            <a:r>
              <a:rPr lang="en-US"/>
              <a:t>Net working capital (5/7) </a:t>
            </a:r>
            <a:r>
              <a:rPr lang="en-US" sz="4000"/>
              <a:t>– </a:t>
            </a:r>
            <a:r>
              <a:rPr lang="en-US"/>
              <a:t>Pro forma adjustments </a:t>
            </a:r>
          </a:p>
        </p:txBody>
      </p:sp>
      <p:sp>
        <p:nvSpPr>
          <p:cNvPr id="4" name="Text Placeholder 7">
            <a:extLst>
              <a:ext uri="{FF2B5EF4-FFF2-40B4-BE49-F238E27FC236}">
                <a16:creationId xmlns:a16="http://schemas.microsoft.com/office/drawing/2014/main" id="{A92DF4E8-B982-D908-96A4-6B18BB6594D0}"/>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5" name="Text Placeholder 12">
            <a:extLst>
              <a:ext uri="{FF2B5EF4-FFF2-40B4-BE49-F238E27FC236}">
                <a16:creationId xmlns:a16="http://schemas.microsoft.com/office/drawing/2014/main" id="{4C29C0E3-D4D8-C089-F953-C7A86DB6AE7F}"/>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sp>
        <p:nvSpPr>
          <p:cNvPr id="6" name="Rectangle 5">
            <a:extLst>
              <a:ext uri="{FF2B5EF4-FFF2-40B4-BE49-F238E27FC236}">
                <a16:creationId xmlns:a16="http://schemas.microsoft.com/office/drawing/2014/main" id="{795E6D82-2ECC-2A8E-10EA-EB827930D77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a:solidFill>
                  <a:sysClr val="windowText" lastClr="000000"/>
                </a:solidFill>
              </a:rPr>
              <a:t>Call-out box.</a:t>
            </a:r>
          </a:p>
        </p:txBody>
      </p:sp>
      <p:cxnSp>
        <p:nvCxnSpPr>
          <p:cNvPr id="7" name="Straight Arrow Connector 6">
            <a:extLst>
              <a:ext uri="{FF2B5EF4-FFF2-40B4-BE49-F238E27FC236}">
                <a16:creationId xmlns:a16="http://schemas.microsoft.com/office/drawing/2014/main" id="{8FD06ABA-4D16-E303-1484-A92A28B734CF}"/>
              </a:ext>
            </a:extLst>
          </p:cNvPr>
          <p:cNvCxnSpPr>
            <a:cxnSpLocks/>
            <a:stCxn id="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FD9F8237-65E7-0D91-FD93-BAF00EC34247}"/>
              </a:ext>
            </a:extLst>
          </p:cNvPr>
          <p:cNvSpPr/>
          <p:nvPr>
            <p:custDataLst>
              <p:tags r:id="rId3"/>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2" name="Text Placeholder 48">
            <a:extLst>
              <a:ext uri="{FF2B5EF4-FFF2-40B4-BE49-F238E27FC236}">
                <a16:creationId xmlns:a16="http://schemas.microsoft.com/office/drawing/2014/main" id="{A5ADD9B6-7F55-57DB-4E24-D3DF3ACAF403}"/>
              </a:ext>
            </a:extLst>
          </p:cNvPr>
          <p:cNvSpPr txBox="1">
            <a:spLocks/>
          </p:cNvSpPr>
          <p:nvPr/>
        </p:nvSpPr>
        <p:spPr>
          <a:xfrm>
            <a:off x="7037066" y="1591667"/>
            <a:ext cx="4159572" cy="4141941"/>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13"/>
            </a:pPr>
            <a:r>
              <a:rPr lang="en-US" sz="900" b="1" err="1"/>
              <a:t>Interac</a:t>
            </a:r>
            <a:r>
              <a:rPr lang="en-US" sz="900" b="1"/>
              <a:t> DSO normalization: </a:t>
            </a:r>
            <a:r>
              <a:rPr lang="en-US" sz="900"/>
              <a:t>Between September 2023 to June 2024, </a:t>
            </a:r>
            <a:r>
              <a:rPr lang="en-US" sz="900" err="1"/>
              <a:t>Interac’s</a:t>
            </a:r>
            <a:r>
              <a:rPr lang="en-US" sz="900"/>
              <a:t> average days sales outstanding (DSO) increased to 86 days from 44 days compared to the same period in the previous year. The increase in DSO was driven by delays in receiving payments from </a:t>
            </a:r>
            <a:r>
              <a:rPr lang="en-US" sz="900" err="1"/>
              <a:t>Interac</a:t>
            </a:r>
            <a:r>
              <a:rPr lang="en-US" sz="900"/>
              <a:t>, as certain payments were subject to internal review from </a:t>
            </a:r>
            <a:r>
              <a:rPr lang="en-US" sz="900" err="1"/>
              <a:t>Interac’s</a:t>
            </a:r>
            <a:r>
              <a:rPr lang="en-US" sz="900"/>
              <a:t> finance team as a result of the pricing dispute at the time (as referenced in adjustment #4). This adjustment normalizes </a:t>
            </a:r>
            <a:r>
              <a:rPr lang="en-US" sz="900" err="1"/>
              <a:t>Interac</a:t>
            </a:r>
            <a:r>
              <a:rPr lang="en-US" sz="900"/>
              <a:t> specific DSO to 45 days, based on historic experience. </a:t>
            </a:r>
            <a:r>
              <a:rPr lang="en-US" sz="900" err="1"/>
              <a:t>Interac</a:t>
            </a:r>
            <a:r>
              <a:rPr lang="en-US" sz="900"/>
              <a:t> is a longstanding creditworthy customer of the Company and payment frequency have returned to historical trends after resolution of the pricing dispute. </a:t>
            </a:r>
          </a:p>
          <a:p>
            <a:pPr marL="228600" lvl="1" indent="-228600">
              <a:buFont typeface="+mj-lt"/>
              <a:buAutoNum type="arabicPeriod" startAt="13"/>
            </a:pPr>
            <a:endParaRPr lang="en-US" sz="900"/>
          </a:p>
          <a:p>
            <a:pPr marL="228600" lvl="1" indent="-228600">
              <a:buFont typeface="+mj-lt"/>
              <a:buAutoNum type="arabicPeriod" startAt="13"/>
            </a:pPr>
            <a:endParaRPr lang="en-US" sz="900"/>
          </a:p>
          <a:p>
            <a:pPr marL="228600" lvl="1" indent="-228600">
              <a:buFont typeface="+mj-lt"/>
              <a:buAutoNum type="arabicPeriod" startAt="13"/>
            </a:pPr>
            <a:endParaRPr lang="en-US" sz="900"/>
          </a:p>
          <a:p>
            <a:pPr marL="228600" lvl="1" indent="-228600">
              <a:buFont typeface="+mj-lt"/>
              <a:buAutoNum type="arabicPeriod" startAt="13"/>
            </a:pPr>
            <a:endParaRPr lang="en-US" sz="900"/>
          </a:p>
          <a:p>
            <a:pPr marL="228600" lvl="1" indent="-228600">
              <a:buFont typeface="+mj-lt"/>
              <a:buAutoNum type="arabicPeriod" startAt="13"/>
            </a:pPr>
            <a:endParaRPr lang="en-US" sz="900"/>
          </a:p>
          <a:p>
            <a:pPr marL="228600" lvl="1" indent="-228600">
              <a:buFont typeface="+mj-lt"/>
              <a:buAutoNum type="arabicPeriod" startAt="13"/>
            </a:pPr>
            <a:r>
              <a:rPr lang="en-US" sz="900" b="1"/>
              <a:t>AR impact of </a:t>
            </a:r>
            <a:r>
              <a:rPr lang="en-US" sz="900" b="1" err="1"/>
              <a:t>QofE</a:t>
            </a:r>
            <a:r>
              <a:rPr lang="en-US" sz="900" b="1"/>
              <a:t> pro forma adjustments: </a:t>
            </a:r>
            <a:r>
              <a:rPr lang="en-US" sz="900"/>
              <a:t>The accounts receivable impact of the following </a:t>
            </a:r>
            <a:r>
              <a:rPr lang="en-US" sz="900" err="1"/>
              <a:t>QofE</a:t>
            </a:r>
            <a:r>
              <a:rPr lang="en-US" sz="900"/>
              <a:t> adjustments is estimated using the Company’s DSO metrics. </a:t>
            </a:r>
            <a:endParaRPr lang="en-US" sz="900" b="1"/>
          </a:p>
          <a:p>
            <a:pPr marL="228600" lvl="1" indent="-228600">
              <a:buFont typeface="+mj-lt"/>
              <a:buAutoNum type="arabicPeriod" startAt="13"/>
            </a:pPr>
            <a:endParaRPr lang="en-US" sz="900" b="1"/>
          </a:p>
          <a:p>
            <a:pPr marL="228600" lvl="1" indent="-228600">
              <a:buFont typeface="+mj-lt"/>
              <a:buAutoNum type="arabicPeriod" startAt="13"/>
            </a:pPr>
            <a:endParaRPr lang="en-US" sz="900" b="1"/>
          </a:p>
          <a:p>
            <a:pPr marL="228600" lvl="1" indent="-228600">
              <a:buFont typeface="+mj-lt"/>
              <a:buAutoNum type="arabicPeriod" startAt="13"/>
            </a:pPr>
            <a:endParaRPr lang="en-US" sz="900" b="1"/>
          </a:p>
          <a:p>
            <a:pPr marL="228600" lvl="1" indent="-228600">
              <a:buFont typeface="+mj-lt"/>
              <a:buAutoNum type="arabicPeriod" startAt="13"/>
            </a:pPr>
            <a:endParaRPr lang="en-US" sz="900" b="1"/>
          </a:p>
          <a:p>
            <a:pPr marL="228600" lvl="1" indent="-228600">
              <a:buFont typeface="+mj-lt"/>
              <a:buAutoNum type="arabicPeriod" startAt="13"/>
            </a:pPr>
            <a:endParaRPr lang="en-US" sz="900" b="1"/>
          </a:p>
          <a:p>
            <a:pPr marL="228600" lvl="1" indent="-228600">
              <a:buFont typeface="+mj-lt"/>
              <a:buAutoNum type="arabicPeriod" startAt="13"/>
            </a:pPr>
            <a:endParaRPr lang="en-US" sz="900" b="1"/>
          </a:p>
          <a:p>
            <a:pPr marL="228600" lvl="1" indent="-228600">
              <a:buFont typeface="+mj-lt"/>
              <a:buAutoNum type="arabicPeriod" startAt="13"/>
            </a:pPr>
            <a:endParaRPr lang="en-US" sz="900" b="1"/>
          </a:p>
          <a:p>
            <a:pPr marL="228600" lvl="1" indent="-228600">
              <a:buFontTx/>
              <a:buAutoNum type="arabicPeriod"/>
            </a:pPr>
            <a:endParaRPr lang="en-US" sz="900"/>
          </a:p>
        </p:txBody>
      </p:sp>
      <p:sp>
        <p:nvSpPr>
          <p:cNvPr id="2" name="UpSlide SubSection Marker" hidden="1">
            <a:extLst>
              <a:ext uri="{FF2B5EF4-FFF2-40B4-BE49-F238E27FC236}">
                <a16:creationId xmlns:a16="http://schemas.microsoft.com/office/drawing/2014/main" id="{9A7E017A-552D-C189-30AF-2FC5FDB8060B}"/>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15" name="Text Placeholder 12">
            <a:extLst>
              <a:ext uri="{FF2B5EF4-FFF2-40B4-BE49-F238E27FC236}">
                <a16:creationId xmlns:a16="http://schemas.microsoft.com/office/drawing/2014/main" id="{806DACC8-007A-F728-3A02-DCC2E22E3E58}"/>
              </a:ext>
            </a:extLst>
          </p:cNvPr>
          <p:cNvSpPr txBox="1">
            <a:spLocks/>
          </p:cNvSpPr>
          <p:nvPr/>
        </p:nvSpPr>
        <p:spPr>
          <a:xfrm>
            <a:off x="1017025" y="4538181"/>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Internal financial statements</a:t>
            </a:r>
          </a:p>
        </p:txBody>
      </p:sp>
      <p:sp>
        <p:nvSpPr>
          <p:cNvPr id="16" name="Text Placeholder 25">
            <a:extLst>
              <a:ext uri="{FF2B5EF4-FFF2-40B4-BE49-F238E27FC236}">
                <a16:creationId xmlns:a16="http://schemas.microsoft.com/office/drawing/2014/main" id="{FD4C5C57-A173-B104-1FD4-3D5E81B660FA}"/>
              </a:ext>
            </a:extLst>
          </p:cNvPr>
          <p:cNvSpPr txBox="1">
            <a:spLocks/>
          </p:cNvSpPr>
          <p:nvPr/>
        </p:nvSpPr>
        <p:spPr>
          <a:xfrm>
            <a:off x="7040241" y="1337241"/>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a:t>
            </a:r>
          </a:p>
        </p:txBody>
      </p:sp>
      <p:sp>
        <p:nvSpPr>
          <p:cNvPr id="9" name="Rectangle: Rounded Corners 8">
            <a:extLst>
              <a:ext uri="{FF2B5EF4-FFF2-40B4-BE49-F238E27FC236}">
                <a16:creationId xmlns:a16="http://schemas.microsoft.com/office/drawing/2014/main" id="{DA74B23F-0E65-B606-221A-36E5D663B4D8}"/>
              </a:ext>
            </a:extLst>
          </p:cNvPr>
          <p:cNvSpPr/>
          <p:nvPr/>
        </p:nvSpPr>
        <p:spPr>
          <a:xfrm flipV="1">
            <a:off x="995362" y="3524881"/>
            <a:ext cx="5767531" cy="24853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9" name="Text Placeholder 12">
            <a:extLst>
              <a:ext uri="{FF2B5EF4-FFF2-40B4-BE49-F238E27FC236}">
                <a16:creationId xmlns:a16="http://schemas.microsoft.com/office/drawing/2014/main" id="{CC3BDAD2-FEBF-CAEF-E9FE-6F3148372F42}"/>
              </a:ext>
            </a:extLst>
          </p:cNvPr>
          <p:cNvSpPr txBox="1">
            <a:spLocks/>
          </p:cNvSpPr>
          <p:nvPr/>
        </p:nvSpPr>
        <p:spPr>
          <a:xfrm>
            <a:off x="7332993" y="402632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t>
            </a:r>
            <a:r>
              <a:rPr lang="en-US" sz="600" b="0" err="1">
                <a:solidFill>
                  <a:schemeClr val="tx2"/>
                </a:solidFill>
                <a:latin typeface="Arial" panose="020B0604020202020204" pitchFamily="34" charset="0"/>
              </a:rPr>
              <a:t>Interac</a:t>
            </a:r>
            <a:r>
              <a:rPr lang="en-US" sz="600" b="0">
                <a:solidFill>
                  <a:schemeClr val="tx2"/>
                </a:solidFill>
                <a:latin typeface="Arial" panose="020B0604020202020204" pitchFamily="34" charset="0"/>
              </a:rPr>
              <a:t> AR monthly balances, Billing reports</a:t>
            </a:r>
          </a:p>
        </p:txBody>
      </p:sp>
      <p:pic>
        <p:nvPicPr>
          <p:cNvPr id="18" name="Picture 17">
            <a:extLst>
              <a:ext uri="{FF2B5EF4-FFF2-40B4-BE49-F238E27FC236}">
                <a16:creationId xmlns:a16="http://schemas.microsoft.com/office/drawing/2014/main" id="{FA9649C6-1428-E6DC-1FF2-979D6D2B8C05}"/>
              </a:ext>
            </a:extLst>
          </p:cNvPr>
          <p:cNvPicPr>
            <a:picLocks noChangeAspect="1"/>
          </p:cNvPicPr>
          <p:nvPr>
            <p:custDataLst>
              <p:tags r:id="rId5"/>
            </p:custDataLst>
          </p:nvPr>
        </p:nvPicPr>
        <p:blipFill>
          <a:blip r:embed="rId10"/>
          <a:stretch>
            <a:fillRect/>
          </a:stretch>
        </p:blipFill>
        <p:spPr>
          <a:xfrm>
            <a:off x="7332993" y="4601394"/>
            <a:ext cx="3873054" cy="1281479"/>
          </a:xfrm>
          <a:prstGeom prst="rect">
            <a:avLst/>
          </a:prstGeom>
        </p:spPr>
      </p:pic>
      <p:grpSp>
        <p:nvGrpSpPr>
          <p:cNvPr id="31" name="Group 30">
            <a:extLst>
              <a:ext uri="{FF2B5EF4-FFF2-40B4-BE49-F238E27FC236}">
                <a16:creationId xmlns:a16="http://schemas.microsoft.com/office/drawing/2014/main" id="{4BBB27E3-C13F-691C-BAD1-AABCA30D8F6E}"/>
              </a:ext>
            </a:extLst>
          </p:cNvPr>
          <p:cNvGrpSpPr/>
          <p:nvPr>
            <p:custDataLst>
              <p:tags r:id="rId6"/>
            </p:custDataLst>
          </p:nvPr>
        </p:nvGrpSpPr>
        <p:grpSpPr>
          <a:xfrm>
            <a:off x="995364" y="153170"/>
            <a:ext cx="5808086" cy="195814"/>
            <a:chOff x="995364" y="153170"/>
            <a:chExt cx="5808086" cy="195814"/>
          </a:xfrm>
        </p:grpSpPr>
        <p:sp>
          <p:nvSpPr>
            <p:cNvPr id="32"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4"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5"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6"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7"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9212220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CB8379A-EE0D-0D33-3F85-604AFC422E5A}"/>
              </a:ext>
            </a:extLst>
          </p:cNvPr>
          <p:cNvSpPr>
            <a:spLocks noGrp="1"/>
          </p:cNvSpPr>
          <p:nvPr>
            <p:ph type="title"/>
          </p:nvPr>
        </p:nvSpPr>
        <p:spPr>
          <a:xfrm>
            <a:off x="995362" y="431800"/>
            <a:ext cx="10204452" cy="539750"/>
          </a:xfrm>
        </p:spPr>
        <p:txBody>
          <a:bodyPr/>
          <a:lstStyle/>
          <a:p>
            <a:r>
              <a:rPr lang="en-US"/>
              <a:t>Net working capital (6/7) </a:t>
            </a:r>
            <a:r>
              <a:rPr lang="en-US" sz="4000"/>
              <a:t>– </a:t>
            </a:r>
            <a:r>
              <a:rPr lang="en-US"/>
              <a:t>Pro forma adjustments </a:t>
            </a:r>
          </a:p>
        </p:txBody>
      </p:sp>
      <p:sp>
        <p:nvSpPr>
          <p:cNvPr id="4" name="Text Placeholder 7">
            <a:extLst>
              <a:ext uri="{FF2B5EF4-FFF2-40B4-BE49-F238E27FC236}">
                <a16:creationId xmlns:a16="http://schemas.microsoft.com/office/drawing/2014/main" id="{A92DF4E8-B982-D908-96A4-6B18BB6594D0}"/>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5" name="Text Placeholder 12">
            <a:extLst>
              <a:ext uri="{FF2B5EF4-FFF2-40B4-BE49-F238E27FC236}">
                <a16:creationId xmlns:a16="http://schemas.microsoft.com/office/drawing/2014/main" id="{4C29C0E3-D4D8-C089-F953-C7A86DB6AE7F}"/>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sp>
        <p:nvSpPr>
          <p:cNvPr id="6" name="Rectangle 5">
            <a:extLst>
              <a:ext uri="{FF2B5EF4-FFF2-40B4-BE49-F238E27FC236}">
                <a16:creationId xmlns:a16="http://schemas.microsoft.com/office/drawing/2014/main" id="{795E6D82-2ECC-2A8E-10EA-EB827930D77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a:solidFill>
                  <a:sysClr val="windowText" lastClr="000000"/>
                </a:solidFill>
              </a:rPr>
              <a:t>Call-out box.</a:t>
            </a:r>
          </a:p>
        </p:txBody>
      </p:sp>
      <p:cxnSp>
        <p:nvCxnSpPr>
          <p:cNvPr id="7" name="Straight Arrow Connector 6">
            <a:extLst>
              <a:ext uri="{FF2B5EF4-FFF2-40B4-BE49-F238E27FC236}">
                <a16:creationId xmlns:a16="http://schemas.microsoft.com/office/drawing/2014/main" id="{8FD06ABA-4D16-E303-1484-A92A28B734CF}"/>
              </a:ext>
            </a:extLst>
          </p:cNvPr>
          <p:cNvCxnSpPr>
            <a:cxnSpLocks/>
            <a:stCxn id="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FD9F8237-65E7-0D91-FD93-BAF00EC34247}"/>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2" name="Text Placeholder 48">
            <a:extLst>
              <a:ext uri="{FF2B5EF4-FFF2-40B4-BE49-F238E27FC236}">
                <a16:creationId xmlns:a16="http://schemas.microsoft.com/office/drawing/2014/main" id="{A5ADD9B6-7F55-57DB-4E24-D3DF3ACAF403}"/>
              </a:ext>
            </a:extLst>
          </p:cNvPr>
          <p:cNvSpPr txBox="1">
            <a:spLocks/>
          </p:cNvSpPr>
          <p:nvPr/>
        </p:nvSpPr>
        <p:spPr>
          <a:xfrm>
            <a:off x="7037066" y="1591667"/>
            <a:ext cx="4159572" cy="4141941"/>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15"/>
            </a:pPr>
            <a:r>
              <a:rPr lang="en-US" sz="900" b="1"/>
              <a:t>AP impact of QofE pro forma adjustments: </a:t>
            </a:r>
            <a:r>
              <a:rPr lang="en-US" sz="900"/>
              <a:t>The accounts payable impact of the following QofE adjustments is estimated using the Company’s DPO metrics. </a:t>
            </a:r>
            <a:endParaRPr lang="en-US" sz="900" b="1"/>
          </a:p>
          <a:p>
            <a:pPr marL="228600" lvl="1" indent="-228600">
              <a:buFont typeface="+mj-lt"/>
              <a:buAutoNum type="arabicPeriod" startAt="15"/>
            </a:pPr>
            <a:endParaRPr lang="en-US" sz="900"/>
          </a:p>
          <a:p>
            <a:pPr marL="228600" lvl="1" indent="-228600">
              <a:buFont typeface="+mj-lt"/>
              <a:buAutoNum type="arabicPeriod" startAt="15"/>
            </a:pPr>
            <a:endParaRPr lang="en-US" sz="900"/>
          </a:p>
          <a:p>
            <a:pPr marL="228600" lvl="1" indent="-228600">
              <a:buFont typeface="+mj-lt"/>
              <a:buAutoNum type="arabicPeriod" startAt="15"/>
            </a:pPr>
            <a:endParaRPr lang="en-US" sz="900"/>
          </a:p>
          <a:p>
            <a:pPr marL="228600" lvl="1" indent="-228600">
              <a:buFont typeface="+mj-lt"/>
              <a:buAutoNum type="arabicPeriod" startAt="15"/>
            </a:pPr>
            <a:endParaRPr lang="en-US" sz="900"/>
          </a:p>
          <a:p>
            <a:pPr marL="228600" lvl="1" indent="-228600">
              <a:buFont typeface="+mj-lt"/>
              <a:buAutoNum type="arabicPeriod" startAt="15"/>
            </a:pPr>
            <a:endParaRPr lang="en-US" sz="900"/>
          </a:p>
          <a:p>
            <a:pPr marL="228600" lvl="1" indent="-228600">
              <a:buFont typeface="+mj-lt"/>
              <a:buAutoNum type="arabicPeriod" startAt="15"/>
            </a:pPr>
            <a:endParaRPr lang="en-US" sz="900"/>
          </a:p>
          <a:p>
            <a:pPr marL="228600" lvl="1" indent="-228600">
              <a:buFont typeface="+mj-lt"/>
              <a:buAutoNum type="arabicPeriod" startAt="15"/>
            </a:pPr>
            <a:r>
              <a:rPr lang="en-US" sz="900" b="1"/>
              <a:t>Chase partnership costs: </a:t>
            </a:r>
            <a:r>
              <a:rPr lang="en-US" sz="900"/>
              <a:t>Beginning FY19, the Company was restricted in adding new merchants to the Chase platform, resulting in a decrease in tiered residual payments as customers churned over time. The Company terminated its partnership with Chase near the end of FY23 as it was identified to be unprofitable, and sold the rights for the portfolio for $nil. Corresponding receivable and accrual balances are removed from net working capital including the accrued merchant residual payments receivable, consulting and investment banking fees, in FY21. The adjustment also removes the accruals associated with these fees.  Chase merchant residuals were recorded in a distinct general ledger account and consulting and investment banking fees were identified on review of general ledger details. </a:t>
            </a:r>
          </a:p>
          <a:p>
            <a:pPr marL="228600" lvl="1" indent="-228600">
              <a:buFont typeface="+mj-lt"/>
              <a:buAutoNum type="arabicPeriod" startAt="15"/>
            </a:pPr>
            <a:endParaRPr lang="en-US" sz="900"/>
          </a:p>
          <a:p>
            <a:pPr marL="228600" lvl="1" indent="-228600">
              <a:buFont typeface="+mj-lt"/>
              <a:buAutoNum type="arabicPeriod" startAt="15"/>
            </a:pPr>
            <a:endParaRPr lang="en-US" sz="900" b="1"/>
          </a:p>
          <a:p>
            <a:pPr marL="228600" lvl="1" indent="-228600">
              <a:buFont typeface="+mj-lt"/>
              <a:buAutoNum type="arabicPeriod" startAt="15"/>
            </a:pPr>
            <a:endParaRPr lang="en-US" sz="900" b="1"/>
          </a:p>
          <a:p>
            <a:pPr marL="228600" lvl="1" indent="-228600">
              <a:buFontTx/>
              <a:buAutoNum type="arabicPeriod"/>
            </a:pPr>
            <a:endParaRPr lang="en-US" sz="900"/>
          </a:p>
        </p:txBody>
      </p:sp>
      <p:sp>
        <p:nvSpPr>
          <p:cNvPr id="2" name="UpSlide SubSection Marker" hidden="1">
            <a:extLst>
              <a:ext uri="{FF2B5EF4-FFF2-40B4-BE49-F238E27FC236}">
                <a16:creationId xmlns:a16="http://schemas.microsoft.com/office/drawing/2014/main" id="{9A7E017A-552D-C189-30AF-2FC5FDB8060B}"/>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16" name="Text Placeholder 25">
            <a:extLst>
              <a:ext uri="{FF2B5EF4-FFF2-40B4-BE49-F238E27FC236}">
                <a16:creationId xmlns:a16="http://schemas.microsoft.com/office/drawing/2014/main" id="{FD4C5C57-A173-B104-1FD4-3D5E81B660FA}"/>
              </a:ext>
            </a:extLst>
          </p:cNvPr>
          <p:cNvSpPr txBox="1">
            <a:spLocks/>
          </p:cNvSpPr>
          <p:nvPr/>
        </p:nvSpPr>
        <p:spPr>
          <a:xfrm>
            <a:off x="7040241" y="1337241"/>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 </a:t>
            </a:r>
          </a:p>
        </p:txBody>
      </p:sp>
      <p:pic>
        <p:nvPicPr>
          <p:cNvPr id="17" name="Picture 16">
            <a:extLst>
              <a:ext uri="{FF2B5EF4-FFF2-40B4-BE49-F238E27FC236}">
                <a16:creationId xmlns:a16="http://schemas.microsoft.com/office/drawing/2014/main" id="{4CB206E0-583D-7C78-374C-3E45C3798C6B}"/>
              </a:ext>
            </a:extLst>
          </p:cNvPr>
          <p:cNvPicPr>
            <a:picLocks noChangeAspect="1"/>
          </p:cNvPicPr>
          <p:nvPr>
            <p:custDataLst>
              <p:tags r:id="rId3"/>
            </p:custDataLst>
          </p:nvPr>
        </p:nvPicPr>
        <p:blipFill>
          <a:blip r:embed="rId8"/>
          <a:stretch>
            <a:fillRect/>
          </a:stretch>
        </p:blipFill>
        <p:spPr>
          <a:xfrm>
            <a:off x="1005831" y="1342685"/>
            <a:ext cx="5757062" cy="3194157"/>
          </a:xfrm>
          <a:prstGeom prst="rect">
            <a:avLst/>
          </a:prstGeom>
        </p:spPr>
      </p:pic>
      <p:sp>
        <p:nvSpPr>
          <p:cNvPr id="12" name="Text Placeholder 12">
            <a:extLst>
              <a:ext uri="{FF2B5EF4-FFF2-40B4-BE49-F238E27FC236}">
                <a16:creationId xmlns:a16="http://schemas.microsoft.com/office/drawing/2014/main" id="{FA7637D1-DC6E-9543-E671-AEA3BA006830}"/>
              </a:ext>
            </a:extLst>
          </p:cNvPr>
          <p:cNvSpPr txBox="1">
            <a:spLocks/>
          </p:cNvSpPr>
          <p:nvPr/>
        </p:nvSpPr>
        <p:spPr>
          <a:xfrm>
            <a:off x="995362" y="4529067"/>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Internal financial statements</a:t>
            </a:r>
          </a:p>
        </p:txBody>
      </p:sp>
      <p:sp>
        <p:nvSpPr>
          <p:cNvPr id="13" name="Rectangle: Rounded Corners 12">
            <a:extLst>
              <a:ext uri="{FF2B5EF4-FFF2-40B4-BE49-F238E27FC236}">
                <a16:creationId xmlns:a16="http://schemas.microsoft.com/office/drawing/2014/main" id="{11E736DC-7DB1-924A-EE40-ED1ACAA1137D}"/>
              </a:ext>
            </a:extLst>
          </p:cNvPr>
          <p:cNvSpPr/>
          <p:nvPr/>
        </p:nvSpPr>
        <p:spPr>
          <a:xfrm flipV="1">
            <a:off x="995362" y="3762050"/>
            <a:ext cx="5767531" cy="24853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pic>
        <p:nvPicPr>
          <p:cNvPr id="14" name="Picture 13">
            <a:extLst>
              <a:ext uri="{FF2B5EF4-FFF2-40B4-BE49-F238E27FC236}">
                <a16:creationId xmlns:a16="http://schemas.microsoft.com/office/drawing/2014/main" id="{52C9A862-84F3-4BBA-F3C4-971DD90B8D69}"/>
              </a:ext>
            </a:extLst>
          </p:cNvPr>
          <p:cNvPicPr>
            <a:picLocks noChangeAspect="1"/>
          </p:cNvPicPr>
          <p:nvPr>
            <p:custDataLst>
              <p:tags r:id="rId4"/>
            </p:custDataLst>
          </p:nvPr>
        </p:nvPicPr>
        <p:blipFill>
          <a:blip r:embed="rId9"/>
          <a:stretch>
            <a:fillRect/>
          </a:stretch>
        </p:blipFill>
        <p:spPr>
          <a:xfrm>
            <a:off x="7355356" y="2071676"/>
            <a:ext cx="3861338" cy="1197683"/>
          </a:xfrm>
          <a:prstGeom prst="rect">
            <a:avLst/>
          </a:prstGeom>
        </p:spPr>
      </p:pic>
      <p:pic>
        <p:nvPicPr>
          <p:cNvPr id="15" name="Picture 14">
            <a:extLst>
              <a:ext uri="{FF2B5EF4-FFF2-40B4-BE49-F238E27FC236}">
                <a16:creationId xmlns:a16="http://schemas.microsoft.com/office/drawing/2014/main" id="{68C09333-EDAC-5C5E-9790-573786220081}"/>
              </a:ext>
            </a:extLst>
          </p:cNvPr>
          <p:cNvPicPr>
            <a:picLocks noChangeAspect="1"/>
          </p:cNvPicPr>
          <p:nvPr>
            <p:custDataLst>
              <p:tags r:id="rId5"/>
            </p:custDataLst>
          </p:nvPr>
        </p:nvPicPr>
        <p:blipFill>
          <a:blip r:embed="rId10"/>
          <a:stretch>
            <a:fillRect/>
          </a:stretch>
        </p:blipFill>
        <p:spPr>
          <a:xfrm>
            <a:off x="7355356" y="5076247"/>
            <a:ext cx="3841282" cy="913798"/>
          </a:xfrm>
          <a:prstGeom prst="rect">
            <a:avLst/>
          </a:prstGeom>
        </p:spPr>
      </p:pic>
      <p:grpSp>
        <p:nvGrpSpPr>
          <p:cNvPr id="30" name="Group 29">
            <a:extLst>
              <a:ext uri="{FF2B5EF4-FFF2-40B4-BE49-F238E27FC236}">
                <a16:creationId xmlns:a16="http://schemas.microsoft.com/office/drawing/2014/main" id="{4BBB27E3-C13F-691C-BAD1-AABCA30D8F6E}"/>
              </a:ext>
            </a:extLst>
          </p:cNvPr>
          <p:cNvGrpSpPr/>
          <p:nvPr>
            <p:custDataLst>
              <p:tags r:id="rId6"/>
            </p:custDataLst>
          </p:nvPr>
        </p:nvGrpSpPr>
        <p:grpSpPr>
          <a:xfrm>
            <a:off x="995364" y="153170"/>
            <a:ext cx="5808086" cy="195814"/>
            <a:chOff x="995364" y="153170"/>
            <a:chExt cx="5808086" cy="195814"/>
          </a:xfrm>
        </p:grpSpPr>
        <p:sp>
          <p:nvSpPr>
            <p:cNvPr id="31"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3"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4"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5"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6"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5295913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CB8379A-EE0D-0D33-3F85-604AFC422E5A}"/>
              </a:ext>
            </a:extLst>
          </p:cNvPr>
          <p:cNvSpPr>
            <a:spLocks noGrp="1"/>
          </p:cNvSpPr>
          <p:nvPr>
            <p:ph type="title"/>
          </p:nvPr>
        </p:nvSpPr>
        <p:spPr>
          <a:xfrm>
            <a:off x="995362" y="431800"/>
            <a:ext cx="10204452" cy="539750"/>
          </a:xfrm>
        </p:spPr>
        <p:txBody>
          <a:bodyPr/>
          <a:lstStyle/>
          <a:p>
            <a:r>
              <a:rPr lang="en-US"/>
              <a:t>Net working capital (7/7) </a:t>
            </a:r>
            <a:r>
              <a:rPr lang="en-US" sz="4000"/>
              <a:t>– </a:t>
            </a:r>
            <a:r>
              <a:rPr lang="en-US"/>
              <a:t>Pro forma adjustments </a:t>
            </a:r>
          </a:p>
        </p:txBody>
      </p:sp>
      <p:sp>
        <p:nvSpPr>
          <p:cNvPr id="4" name="Text Placeholder 7">
            <a:extLst>
              <a:ext uri="{FF2B5EF4-FFF2-40B4-BE49-F238E27FC236}">
                <a16:creationId xmlns:a16="http://schemas.microsoft.com/office/drawing/2014/main" id="{A92DF4E8-B982-D908-96A4-6B18BB6594D0}"/>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5" name="Text Placeholder 12">
            <a:extLst>
              <a:ext uri="{FF2B5EF4-FFF2-40B4-BE49-F238E27FC236}">
                <a16:creationId xmlns:a16="http://schemas.microsoft.com/office/drawing/2014/main" id="{4C29C0E3-D4D8-C089-F953-C7A86DB6AE7F}"/>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sp>
        <p:nvSpPr>
          <p:cNvPr id="6" name="Rectangle 5">
            <a:extLst>
              <a:ext uri="{FF2B5EF4-FFF2-40B4-BE49-F238E27FC236}">
                <a16:creationId xmlns:a16="http://schemas.microsoft.com/office/drawing/2014/main" id="{795E6D82-2ECC-2A8E-10EA-EB827930D77F}"/>
              </a:ext>
            </a:extLst>
          </p:cNvPr>
          <p:cNvSpPr/>
          <p:nvPr/>
        </p:nvSpPr>
        <p:spPr>
          <a:xfrm>
            <a:off x="12274499" y="251793"/>
            <a:ext cx="1620000" cy="54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700">
                <a:solidFill>
                  <a:sysClr val="windowText" lastClr="000000"/>
                </a:solidFill>
              </a:rPr>
              <a:t>Call-out box.</a:t>
            </a:r>
          </a:p>
        </p:txBody>
      </p:sp>
      <p:cxnSp>
        <p:nvCxnSpPr>
          <p:cNvPr id="7" name="Straight Arrow Connector 6">
            <a:extLst>
              <a:ext uri="{FF2B5EF4-FFF2-40B4-BE49-F238E27FC236}">
                <a16:creationId xmlns:a16="http://schemas.microsoft.com/office/drawing/2014/main" id="{8FD06ABA-4D16-E303-1484-A92A28B734CF}"/>
              </a:ext>
            </a:extLst>
          </p:cNvPr>
          <p:cNvCxnSpPr>
            <a:cxnSpLocks/>
            <a:stCxn id="6" idx="2"/>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a:extLst>
              <a:ext uri="{FF2B5EF4-FFF2-40B4-BE49-F238E27FC236}">
                <a16:creationId xmlns:a16="http://schemas.microsoft.com/office/drawing/2014/main" id="{FD9F8237-65E7-0D91-FD93-BAF00EC34247}"/>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22" name="Text Placeholder 48">
            <a:extLst>
              <a:ext uri="{FF2B5EF4-FFF2-40B4-BE49-F238E27FC236}">
                <a16:creationId xmlns:a16="http://schemas.microsoft.com/office/drawing/2014/main" id="{A5ADD9B6-7F55-57DB-4E24-D3DF3ACAF403}"/>
              </a:ext>
            </a:extLst>
          </p:cNvPr>
          <p:cNvSpPr txBox="1">
            <a:spLocks/>
          </p:cNvSpPr>
          <p:nvPr/>
        </p:nvSpPr>
        <p:spPr>
          <a:xfrm>
            <a:off x="7037066" y="1591667"/>
            <a:ext cx="4159572" cy="4141941"/>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228600" lvl="1" indent="-228600">
              <a:buFont typeface="+mj-lt"/>
              <a:buAutoNum type="arabicPeriod" startAt="17"/>
            </a:pPr>
            <a:r>
              <a:rPr lang="en-US" sz="900" b="1"/>
              <a:t>Accrued payroll impact of QofE pro forma adjustments: </a:t>
            </a:r>
            <a:r>
              <a:rPr lang="en-US" sz="900"/>
              <a:t>The corresponding impact to payroll accruals for currently open employee positions (QofE adjustment #19) has been estimated using the Company’s bi-weekly pay cycle. </a:t>
            </a:r>
          </a:p>
          <a:p>
            <a:pPr marL="228600" lvl="1" indent="-228600">
              <a:buFont typeface="+mj-lt"/>
              <a:buAutoNum type="arabicPeriod" startAt="17"/>
            </a:pPr>
            <a:endParaRPr lang="en-US" sz="900"/>
          </a:p>
          <a:p>
            <a:pPr marL="228600" lvl="1" indent="-228600">
              <a:buFont typeface="+mj-lt"/>
              <a:buAutoNum type="arabicPeriod" startAt="17"/>
            </a:pPr>
            <a:endParaRPr lang="en-US" sz="900"/>
          </a:p>
          <a:p>
            <a:pPr marL="228600" lvl="1" indent="-228600">
              <a:buFont typeface="+mj-lt"/>
              <a:buAutoNum type="arabicPeriod" startAt="17"/>
            </a:pPr>
            <a:endParaRPr lang="en-US" sz="900"/>
          </a:p>
          <a:p>
            <a:pPr marL="228600" lvl="1" indent="-228600">
              <a:buFont typeface="+mj-lt"/>
              <a:buAutoNum type="arabicPeriod" startAt="17"/>
            </a:pPr>
            <a:endParaRPr lang="en-US" sz="900"/>
          </a:p>
          <a:p>
            <a:pPr marL="228600" lvl="1" indent="-228600">
              <a:buFont typeface="+mj-lt"/>
              <a:buAutoNum type="arabicPeriod" startAt="17"/>
            </a:pPr>
            <a:endParaRPr lang="en-US" sz="900"/>
          </a:p>
          <a:p>
            <a:pPr marL="228600" lvl="1" indent="-228600">
              <a:buFont typeface="+mj-lt"/>
              <a:buAutoNum type="arabicPeriod" startAt="17"/>
            </a:pPr>
            <a:endParaRPr lang="en-US" sz="900"/>
          </a:p>
          <a:p>
            <a:pPr marL="228600" lvl="1" indent="-228600">
              <a:buFont typeface="+mj-lt"/>
              <a:buAutoNum type="arabicPeriod" startAt="17"/>
            </a:pPr>
            <a:endParaRPr lang="en-US" sz="900"/>
          </a:p>
          <a:p>
            <a:pPr marL="228600" lvl="1" indent="-228600">
              <a:spcAft>
                <a:spcPts val="0"/>
              </a:spcAft>
              <a:buFont typeface="+mj-lt"/>
              <a:buAutoNum type="alphaUcPeriod"/>
            </a:pPr>
            <a:r>
              <a:rPr lang="en-US" sz="900" i="1"/>
              <a:t>Prepaid software license fees: </a:t>
            </a:r>
            <a:r>
              <a:rPr lang="en-US" sz="900"/>
              <a:t>Prepaid software license fees primarily relate to the annual prepayments made each October for ACI software licenses, required for the facilitation of transactions. Consequently, the prepaid balance peaks in October and gradually decreases until the following annual payment. Management represents the average monthly expense to be ~$200,000. Prepaid balance variability should be considered when examining periods greater or less than 12 months.</a:t>
            </a:r>
          </a:p>
          <a:p>
            <a:pPr marL="228600" lvl="1" indent="-228600">
              <a:buFont typeface="+mj-lt"/>
              <a:buAutoNum type="alphaUcPeriod"/>
            </a:pPr>
            <a:endParaRPr lang="en-US" sz="900"/>
          </a:p>
          <a:p>
            <a:pPr marL="228600" lvl="1" indent="-228600">
              <a:buFontTx/>
              <a:buAutoNum type="arabicPeriod"/>
            </a:pPr>
            <a:endParaRPr lang="en-US" sz="900"/>
          </a:p>
          <a:p>
            <a:pPr marL="228600" lvl="1" indent="-228600">
              <a:buFontTx/>
              <a:buAutoNum type="arabicPeriod"/>
            </a:pPr>
            <a:endParaRPr lang="en-US" sz="900" b="1"/>
          </a:p>
          <a:p>
            <a:pPr marL="228600" lvl="1" indent="-228600">
              <a:buFontTx/>
              <a:buAutoNum type="arabicPeriod"/>
            </a:pPr>
            <a:endParaRPr lang="en-US" sz="900"/>
          </a:p>
          <a:p>
            <a:pPr marL="228600" lvl="1" indent="-228600">
              <a:buFontTx/>
              <a:buAutoNum type="arabicPeriod"/>
            </a:pPr>
            <a:endParaRPr lang="en-US" sz="900"/>
          </a:p>
          <a:p>
            <a:pPr marL="228600" lvl="1" indent="-228600">
              <a:buFontTx/>
              <a:buAutoNum type="arabicPeriod"/>
            </a:pPr>
            <a:endParaRPr lang="en-US" sz="900"/>
          </a:p>
        </p:txBody>
      </p:sp>
      <p:sp>
        <p:nvSpPr>
          <p:cNvPr id="2" name="UpSlide SubSection Marker" hidden="1">
            <a:extLst>
              <a:ext uri="{FF2B5EF4-FFF2-40B4-BE49-F238E27FC236}">
                <a16:creationId xmlns:a16="http://schemas.microsoft.com/office/drawing/2014/main" id="{9A7E017A-552D-C189-30AF-2FC5FDB8060B}"/>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working capital</a:t>
            </a:r>
          </a:p>
        </p:txBody>
      </p:sp>
      <p:sp>
        <p:nvSpPr>
          <p:cNvPr id="16" name="Text Placeholder 25">
            <a:extLst>
              <a:ext uri="{FF2B5EF4-FFF2-40B4-BE49-F238E27FC236}">
                <a16:creationId xmlns:a16="http://schemas.microsoft.com/office/drawing/2014/main" id="{FD4C5C57-A173-B104-1FD4-3D5E81B660FA}"/>
              </a:ext>
            </a:extLst>
          </p:cNvPr>
          <p:cNvSpPr txBox="1">
            <a:spLocks/>
          </p:cNvSpPr>
          <p:nvPr/>
        </p:nvSpPr>
        <p:spPr>
          <a:xfrm>
            <a:off x="7040241" y="1337241"/>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Pro forma adjustments (continued) </a:t>
            </a:r>
          </a:p>
        </p:txBody>
      </p:sp>
      <p:sp>
        <p:nvSpPr>
          <p:cNvPr id="23" name="Text Placeholder 25">
            <a:extLst>
              <a:ext uri="{FF2B5EF4-FFF2-40B4-BE49-F238E27FC236}">
                <a16:creationId xmlns:a16="http://schemas.microsoft.com/office/drawing/2014/main" id="{F5A7C18F-4EC0-FBE8-75A2-7BCABF0CB862}"/>
              </a:ext>
            </a:extLst>
          </p:cNvPr>
          <p:cNvSpPr txBox="1">
            <a:spLocks/>
          </p:cNvSpPr>
          <p:nvPr/>
        </p:nvSpPr>
        <p:spPr>
          <a:xfrm>
            <a:off x="7050135" y="3445780"/>
            <a:ext cx="4159572"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Other considerations</a:t>
            </a:r>
          </a:p>
        </p:txBody>
      </p:sp>
      <p:pic>
        <p:nvPicPr>
          <p:cNvPr id="19" name="Picture 18">
            <a:extLst>
              <a:ext uri="{FF2B5EF4-FFF2-40B4-BE49-F238E27FC236}">
                <a16:creationId xmlns:a16="http://schemas.microsoft.com/office/drawing/2014/main" id="{93099392-FCD9-7721-C995-33FA269E3BFD}"/>
              </a:ext>
            </a:extLst>
          </p:cNvPr>
          <p:cNvPicPr>
            <a:picLocks noChangeAspect="1"/>
          </p:cNvPicPr>
          <p:nvPr>
            <p:custDataLst>
              <p:tags r:id="rId3"/>
            </p:custDataLst>
          </p:nvPr>
        </p:nvPicPr>
        <p:blipFill>
          <a:blip r:embed="rId8"/>
          <a:stretch>
            <a:fillRect/>
          </a:stretch>
        </p:blipFill>
        <p:spPr>
          <a:xfrm>
            <a:off x="7207593" y="4699277"/>
            <a:ext cx="2842389" cy="1552822"/>
          </a:xfrm>
          <a:prstGeom prst="rect">
            <a:avLst/>
          </a:prstGeom>
        </p:spPr>
      </p:pic>
      <p:pic>
        <p:nvPicPr>
          <p:cNvPr id="14" name="Picture 13">
            <a:extLst>
              <a:ext uri="{FF2B5EF4-FFF2-40B4-BE49-F238E27FC236}">
                <a16:creationId xmlns:a16="http://schemas.microsoft.com/office/drawing/2014/main" id="{4C226718-4FFB-DCF8-16C5-4FE2F8E306A1}"/>
              </a:ext>
            </a:extLst>
          </p:cNvPr>
          <p:cNvPicPr>
            <a:picLocks noChangeAspect="1"/>
          </p:cNvPicPr>
          <p:nvPr>
            <p:custDataLst>
              <p:tags r:id="rId4"/>
            </p:custDataLst>
          </p:nvPr>
        </p:nvPicPr>
        <p:blipFill>
          <a:blip r:embed="rId9"/>
          <a:stretch>
            <a:fillRect/>
          </a:stretch>
        </p:blipFill>
        <p:spPr>
          <a:xfrm>
            <a:off x="1005831" y="1342685"/>
            <a:ext cx="5757062" cy="3194157"/>
          </a:xfrm>
          <a:prstGeom prst="rect">
            <a:avLst/>
          </a:prstGeom>
        </p:spPr>
      </p:pic>
      <p:sp>
        <p:nvSpPr>
          <p:cNvPr id="12" name="Text Placeholder 12">
            <a:extLst>
              <a:ext uri="{FF2B5EF4-FFF2-40B4-BE49-F238E27FC236}">
                <a16:creationId xmlns:a16="http://schemas.microsoft.com/office/drawing/2014/main" id="{D53D1E08-86B0-025B-659C-C54220AC1B0F}"/>
              </a:ext>
            </a:extLst>
          </p:cNvPr>
          <p:cNvSpPr txBox="1">
            <a:spLocks/>
          </p:cNvSpPr>
          <p:nvPr/>
        </p:nvSpPr>
        <p:spPr>
          <a:xfrm>
            <a:off x="995362" y="453686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Internal financial statements</a:t>
            </a:r>
          </a:p>
        </p:txBody>
      </p:sp>
      <p:sp>
        <p:nvSpPr>
          <p:cNvPr id="13" name="Rectangle: Rounded Corners 12">
            <a:extLst>
              <a:ext uri="{FF2B5EF4-FFF2-40B4-BE49-F238E27FC236}">
                <a16:creationId xmlns:a16="http://schemas.microsoft.com/office/drawing/2014/main" id="{48C70D21-F462-45ED-9D0E-2C3456F4052F}"/>
              </a:ext>
            </a:extLst>
          </p:cNvPr>
          <p:cNvSpPr/>
          <p:nvPr/>
        </p:nvSpPr>
        <p:spPr>
          <a:xfrm flipV="1">
            <a:off x="995362" y="3998065"/>
            <a:ext cx="5767531" cy="148281"/>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pic>
        <p:nvPicPr>
          <p:cNvPr id="11" name="Picture 10">
            <a:extLst>
              <a:ext uri="{FF2B5EF4-FFF2-40B4-BE49-F238E27FC236}">
                <a16:creationId xmlns:a16="http://schemas.microsoft.com/office/drawing/2014/main" id="{9D441E0B-D177-0F9B-0599-244774AA0BB8}"/>
              </a:ext>
            </a:extLst>
          </p:cNvPr>
          <p:cNvPicPr>
            <a:picLocks noChangeAspect="1"/>
          </p:cNvPicPr>
          <p:nvPr>
            <p:custDataLst>
              <p:tags r:id="rId5"/>
            </p:custDataLst>
          </p:nvPr>
        </p:nvPicPr>
        <p:blipFill>
          <a:blip r:embed="rId10"/>
          <a:stretch>
            <a:fillRect/>
          </a:stretch>
        </p:blipFill>
        <p:spPr>
          <a:xfrm>
            <a:off x="7339914" y="2211786"/>
            <a:ext cx="3856724" cy="874955"/>
          </a:xfrm>
          <a:prstGeom prst="rect">
            <a:avLst/>
          </a:prstGeom>
        </p:spPr>
      </p:pic>
      <p:grpSp>
        <p:nvGrpSpPr>
          <p:cNvPr id="31" name="Group 30">
            <a:extLst>
              <a:ext uri="{FF2B5EF4-FFF2-40B4-BE49-F238E27FC236}">
                <a16:creationId xmlns:a16="http://schemas.microsoft.com/office/drawing/2014/main" id="{4BBB27E3-C13F-691C-BAD1-AABCA30D8F6E}"/>
              </a:ext>
            </a:extLst>
          </p:cNvPr>
          <p:cNvGrpSpPr/>
          <p:nvPr>
            <p:custDataLst>
              <p:tags r:id="rId6"/>
            </p:custDataLst>
          </p:nvPr>
        </p:nvGrpSpPr>
        <p:grpSpPr>
          <a:xfrm>
            <a:off x="995364" y="153170"/>
            <a:ext cx="5808086" cy="195814"/>
            <a:chOff x="995364" y="153170"/>
            <a:chExt cx="5808086" cy="195814"/>
          </a:xfrm>
        </p:grpSpPr>
        <p:sp>
          <p:nvSpPr>
            <p:cNvPr id="32" name="Other Sections1">
              <a:hlinkClick r:id="rId11"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3" name="Other Sections2">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4" name="Current Section3">
              <a:hlinkClick r:id="rId13"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5" name="Other Sections4">
              <a:hlinkClick r:id="rId14"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6" name="Other Sections5">
              <a:hlinkClick r:id="rId15"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7" name="Other Sections6">
              <a:hlinkClick r:id="rId16"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314582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C33831-EC43-A01B-41D6-81F42C758902}"/>
              </a:ext>
            </a:extLst>
          </p:cNvPr>
          <p:cNvSpPr>
            <a:spLocks noGrp="1"/>
          </p:cNvSpPr>
          <p:nvPr>
            <p:ph type="title"/>
          </p:nvPr>
        </p:nvSpPr>
        <p:spPr>
          <a:xfrm>
            <a:off x="995362" y="431800"/>
            <a:ext cx="10204452" cy="539750"/>
          </a:xfrm>
        </p:spPr>
        <p:txBody>
          <a:bodyPr/>
          <a:lstStyle/>
          <a:p>
            <a:r>
              <a:rPr lang="en-US"/>
              <a:t>Net cash</a:t>
            </a:r>
          </a:p>
        </p:txBody>
      </p:sp>
      <p:sp>
        <p:nvSpPr>
          <p:cNvPr id="4" name="Rounded Rectangle 7">
            <a:extLst>
              <a:ext uri="{FF2B5EF4-FFF2-40B4-BE49-F238E27FC236}">
                <a16:creationId xmlns:a16="http://schemas.microsoft.com/office/drawing/2014/main" id="{DF55F5CB-5227-4958-603C-A99035C800E1}"/>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5" name="Rectangle 4">
            <a:extLst>
              <a:ext uri="{FF2B5EF4-FFF2-40B4-BE49-F238E27FC236}">
                <a16:creationId xmlns:a16="http://schemas.microsoft.com/office/drawing/2014/main" id="{54192089-1EF1-2A17-F119-9FD0E58742D4}"/>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sp>
        <p:nvSpPr>
          <p:cNvPr id="6" name="Rounded Rectangle 7">
            <a:extLst>
              <a:ext uri="{FF2B5EF4-FFF2-40B4-BE49-F238E27FC236}">
                <a16:creationId xmlns:a16="http://schemas.microsoft.com/office/drawing/2014/main" id="{B19CEDF8-5A6C-037A-C69E-3863538B5619}"/>
              </a:ext>
            </a:extLst>
          </p:cNvPr>
          <p:cNvSpPr/>
          <p:nvPr>
            <p:custDataLst>
              <p:tags r:id="rId2"/>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Text Placeholder 7">
            <a:extLst>
              <a:ext uri="{FF2B5EF4-FFF2-40B4-BE49-F238E27FC236}">
                <a16:creationId xmlns:a16="http://schemas.microsoft.com/office/drawing/2014/main" id="{6BBA34DF-475A-6B73-60FF-645218596F76}"/>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defRPr/>
            </a:pPr>
            <a:r>
              <a:rPr lang="en-US" sz="1000">
                <a:solidFill>
                  <a:schemeClr val="tx2"/>
                </a:solidFill>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ea typeface="+mn-ea"/>
                <a:cs typeface="+mn-cs"/>
              </a:rPr>
              <a:t>Fifth level</a:t>
            </a:r>
            <a:endParaRPr lang="en-US" sz="1000"/>
          </a:p>
        </p:txBody>
      </p:sp>
      <p:sp>
        <p:nvSpPr>
          <p:cNvPr id="9" name="Text Placeholder 12">
            <a:extLst>
              <a:ext uri="{FF2B5EF4-FFF2-40B4-BE49-F238E27FC236}">
                <a16:creationId xmlns:a16="http://schemas.microsoft.com/office/drawing/2014/main" id="{666A18BF-590F-382F-1B35-483A132BD13C}"/>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lvl="2" indent="-182563">
              <a:buFont typeface="+mj-lt"/>
              <a:buAutoNum type="arabicPeriod"/>
            </a:pPr>
            <a:r>
              <a:rPr lang="en-US" sz="1000"/>
              <a:t>First item</a:t>
            </a:r>
          </a:p>
          <a:p>
            <a:pPr marL="182563" lvl="2" indent="-182563">
              <a:buFont typeface="+mj-lt"/>
              <a:buAutoNum type="arabicPeriod"/>
            </a:pPr>
            <a:r>
              <a:rPr lang="en-US" sz="1000"/>
              <a:t>Second item</a:t>
            </a:r>
          </a:p>
          <a:p>
            <a:pPr marL="182563" lvl="2" indent="-182563">
              <a:buFont typeface="+mj-lt"/>
              <a:buAutoNum type="arabicPeriod"/>
            </a:pPr>
            <a:r>
              <a:rPr lang="en-US" sz="1000"/>
              <a:t>Third item</a:t>
            </a:r>
          </a:p>
        </p:txBody>
      </p:sp>
      <p:cxnSp>
        <p:nvCxnSpPr>
          <p:cNvPr id="10" name="Straight Arrow Connector 9">
            <a:extLst>
              <a:ext uri="{FF2B5EF4-FFF2-40B4-BE49-F238E27FC236}">
                <a16:creationId xmlns:a16="http://schemas.microsoft.com/office/drawing/2014/main" id="{FAC13BE0-5F03-F1D7-A5B4-074F7B3739F6}"/>
              </a:ext>
            </a:extLst>
          </p:cNvPr>
          <p:cNvCxnSpPr>
            <a:cxnSpLocks/>
            <a:stCxn id="5" idx="2"/>
            <a:endCxn id="6" idx="0"/>
          </p:cNvCxnSpPr>
          <p:nvPr/>
        </p:nvCxnSpPr>
        <p:spPr>
          <a:xfrm flipH="1">
            <a:off x="12680810" y="791793"/>
            <a:ext cx="403689" cy="306865"/>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3" name="Text Placeholder 12">
            <a:extLst>
              <a:ext uri="{FF2B5EF4-FFF2-40B4-BE49-F238E27FC236}">
                <a16:creationId xmlns:a16="http://schemas.microsoft.com/office/drawing/2014/main" id="{42D45429-F228-FF66-FDAF-10F30C536417}"/>
              </a:ext>
            </a:extLst>
          </p:cNvPr>
          <p:cNvSpPr txBox="1">
            <a:spLocks/>
          </p:cNvSpPr>
          <p:nvPr/>
        </p:nvSpPr>
        <p:spPr>
          <a:xfrm>
            <a:off x="995362" y="346376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 </a:t>
            </a:r>
          </a:p>
        </p:txBody>
      </p:sp>
      <p:sp>
        <p:nvSpPr>
          <p:cNvPr id="2" name="UpSlide SubSection Marker" hidden="1">
            <a:extLst>
              <a:ext uri="{FF2B5EF4-FFF2-40B4-BE49-F238E27FC236}">
                <a16:creationId xmlns:a16="http://schemas.microsoft.com/office/drawing/2014/main" id="{A90C403D-E58C-C6F8-B81D-3AC9CA459E26}"/>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Net cash</a:t>
            </a:r>
          </a:p>
        </p:txBody>
      </p:sp>
      <p:sp>
        <p:nvSpPr>
          <p:cNvPr id="15" name="Text Placeholder 25">
            <a:extLst>
              <a:ext uri="{FF2B5EF4-FFF2-40B4-BE49-F238E27FC236}">
                <a16:creationId xmlns:a16="http://schemas.microsoft.com/office/drawing/2014/main" id="{E9C0D1D3-9763-4685-1D6A-8B80A343D7BC}"/>
              </a:ext>
            </a:extLst>
          </p:cNvPr>
          <p:cNvSpPr txBox="1">
            <a:spLocks/>
          </p:cNvSpPr>
          <p:nvPr/>
        </p:nvSpPr>
        <p:spPr>
          <a:xfrm>
            <a:off x="5480050" y="1337241"/>
            <a:ext cx="5719763" cy="254426"/>
          </a:xfrm>
          <a:prstGeom prst="rect">
            <a:avLst/>
          </a:prstGeom>
          <a:solidFill>
            <a:schemeClr val="tx2"/>
          </a:solidFill>
        </p:spPr>
        <p:txBody>
          <a:bodyPr lIns="72000" tIns="36000" rIns="72000" bIns="36000" anchor="ctr" anchorCtr="0"/>
          <a:lstStyle>
            <a:lvl1pPr marL="0" indent="0" algn="l" defTabSz="914400" rtl="0" eaLnBrk="1" latinLnBrk="0" hangingPunct="1">
              <a:lnSpc>
                <a:spcPct val="100000"/>
              </a:lnSpc>
              <a:spcBef>
                <a:spcPts val="0"/>
              </a:spcBef>
              <a:spcAft>
                <a:spcPts val="600"/>
              </a:spcAft>
              <a:buFontTx/>
              <a:buNone/>
              <a:defRPr sz="1000" b="1" kern="1200">
                <a:solidFill>
                  <a:schemeClr val="bg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kern="1200" baseline="0">
                <a:solidFill>
                  <a:schemeClr val="accent2"/>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r>
              <a:rPr lang="en-US"/>
              <a:t>Net cash </a:t>
            </a:r>
          </a:p>
        </p:txBody>
      </p:sp>
      <p:sp>
        <p:nvSpPr>
          <p:cNvPr id="16" name="Text Placeholder 48">
            <a:extLst>
              <a:ext uri="{FF2B5EF4-FFF2-40B4-BE49-F238E27FC236}">
                <a16:creationId xmlns:a16="http://schemas.microsoft.com/office/drawing/2014/main" id="{D630E6CC-C4B6-6340-964A-F826E9B20966}"/>
              </a:ext>
            </a:extLst>
          </p:cNvPr>
          <p:cNvSpPr txBox="1">
            <a:spLocks/>
          </p:cNvSpPr>
          <p:nvPr/>
        </p:nvSpPr>
        <p:spPr>
          <a:xfrm>
            <a:off x="5480050" y="1549069"/>
            <a:ext cx="5726532" cy="4105593"/>
          </a:xfrm>
          <a:prstGeom prst="rect">
            <a:avLst/>
          </a:prstGeom>
        </p:spPr>
        <p:txBody>
          <a:bodyPr lIns="72000"/>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0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000" b="0" kern="1200" baseline="0">
                <a:solidFill>
                  <a:schemeClr val="tx1"/>
                </a:solidFill>
                <a:latin typeface="+mn-lt"/>
                <a:ea typeface="+mn-ea"/>
                <a:cs typeface="+mn-cs"/>
              </a:defRPr>
            </a:lvl5pPr>
            <a:lvl6pPr marL="0" indent="0" algn="l" defTabSz="914400" rtl="0" eaLnBrk="1" latinLnBrk="0" hangingPunct="1">
              <a:lnSpc>
                <a:spcPct val="100000"/>
              </a:lnSpc>
              <a:spcBef>
                <a:spcPts val="0"/>
              </a:spcBef>
              <a:spcAft>
                <a:spcPts val="600"/>
              </a:spcAft>
              <a:buClr>
                <a:schemeClr val="tx2"/>
              </a:buClr>
              <a:buFont typeface="Arial" panose="020B0604020202020204" pitchFamily="34" charset="0"/>
              <a:buNone/>
              <a:defRPr sz="1300" kern="1200">
                <a:solidFill>
                  <a:schemeClr val="tx2"/>
                </a:solidFill>
                <a:latin typeface="+mn-lt"/>
                <a:ea typeface="+mn-ea"/>
                <a:cs typeface="+mn-cs"/>
              </a:defRPr>
            </a:lvl6pPr>
            <a:lvl7pPr marL="288000" indent="-288000" algn="l" defTabSz="914400" rtl="0" eaLnBrk="1" latinLnBrk="0" hangingPunct="1">
              <a:lnSpc>
                <a:spcPct val="110000"/>
              </a:lnSpc>
              <a:spcBef>
                <a:spcPts val="0"/>
              </a:spcBef>
              <a:spcAft>
                <a:spcPts val="600"/>
              </a:spcAft>
              <a:buClr>
                <a:schemeClr val="tx2"/>
              </a:buClr>
              <a:buFont typeface="Arial" panose="020B0604020202020204" pitchFamily="34" charset="0"/>
              <a:buChar char="•"/>
              <a:defRPr sz="13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r>
              <a:rPr lang="en-US" sz="900"/>
              <a:t>The components of reported net cash are comprised of: </a:t>
            </a:r>
          </a:p>
          <a:p>
            <a:pPr marL="228600" lvl="1" indent="-228600">
              <a:buFont typeface="+mj-lt"/>
              <a:buAutoNum type="arabicPeriod"/>
            </a:pPr>
            <a:r>
              <a:rPr lang="en-US" sz="900" b="1"/>
              <a:t>Cash and cash equivalents: </a:t>
            </a:r>
            <a:r>
              <a:rPr lang="en-US" sz="900"/>
              <a:t>The Company’s operating cash balances held at banks including balances denominated in Canadian and US dollars. These balances do not include cash related to transaction settlement, which are considered working capital balances. </a:t>
            </a:r>
          </a:p>
          <a:p>
            <a:pPr marL="228600" lvl="1" indent="-228600">
              <a:buFont typeface="+mj-lt"/>
              <a:buAutoNum type="arabicPeriod" startAt="2"/>
            </a:pPr>
            <a:r>
              <a:rPr lang="en-US" sz="900" b="1"/>
              <a:t>Finance lease obligations: </a:t>
            </a:r>
            <a:r>
              <a:rPr lang="en-US" sz="900"/>
              <a:t>Consists of the master lease and financing agreement with Hewlett Packard Financial Services Canada Company for computer hardware and software licenses utilized for transaction processing and the property lease for the Company’s head office in Markham, Ontario. These leases are currently presented at the present value of the future minimum lease payments, consistent with the audited financial statements. However, at transaction close, the undiscounted value of these leases should be considered. </a:t>
            </a:r>
            <a:endParaRPr lang="en-US" sz="900" b="1"/>
          </a:p>
          <a:p>
            <a:pPr marL="228600" lvl="1" indent="-228600">
              <a:buFont typeface="+mj-lt"/>
              <a:buAutoNum type="arabicPeriod" startAt="2"/>
            </a:pPr>
            <a:r>
              <a:rPr lang="en-US" sz="900" b="1"/>
              <a:t>Income tax payable: </a:t>
            </a:r>
            <a:r>
              <a:rPr lang="en-US" sz="900"/>
              <a:t>The Company’s current income tax payable balance. </a:t>
            </a:r>
            <a:endParaRPr lang="en-US" sz="900" b="1"/>
          </a:p>
          <a:p>
            <a:pPr marL="228600" lvl="1" indent="-228600">
              <a:buFont typeface="+mj-lt"/>
              <a:buAutoNum type="arabicPeriod" startAt="2"/>
            </a:pPr>
            <a:r>
              <a:rPr lang="en-US" sz="900" b="1"/>
              <a:t>Deferred compensation payable (SERP): </a:t>
            </a:r>
            <a:r>
              <a:rPr lang="en-US" sz="900"/>
              <a:t>This balance represents the Company’s supplemental executive pension plan (SERP) for senior management. </a:t>
            </a:r>
          </a:p>
          <a:p>
            <a:pPr marL="228600" lvl="1" indent="-228600">
              <a:buFont typeface="+mj-lt"/>
              <a:buAutoNum type="arabicPeriod" startAt="2"/>
            </a:pPr>
            <a:r>
              <a:rPr lang="en-US" sz="900" b="1"/>
              <a:t>Shareholder return of capital payable: </a:t>
            </a:r>
            <a:r>
              <a:rPr lang="en-US" sz="900"/>
              <a:t>On December 18, 2023, the Company’s Board of Directors approved a cash dividend of $10.0 million ($8.5 million in 2022). The dividend was paid in February in the year following the approval. </a:t>
            </a:r>
          </a:p>
          <a:p>
            <a:pPr lvl="1"/>
            <a:r>
              <a:rPr lang="en-US" sz="900"/>
              <a:t>Adjustments, including reclassification of balances from net working capital include: </a:t>
            </a:r>
          </a:p>
          <a:p>
            <a:pPr marL="228600" lvl="1" indent="-228600">
              <a:buFont typeface="+mj-lt"/>
              <a:buAutoNum type="arabicPeriod" startAt="6"/>
            </a:pPr>
            <a:r>
              <a:rPr lang="en-US" sz="900" b="1"/>
              <a:t>Non-resident withholding tax payable: </a:t>
            </a:r>
            <a:r>
              <a:rPr lang="en-US" sz="900"/>
              <a:t>Relates to a 5% withholding tax payable to the Canada Revenue Agency for dividends paid to </a:t>
            </a:r>
            <a:r>
              <a:rPr lang="en-US" sz="900" err="1"/>
              <a:t>Velera</a:t>
            </a:r>
            <a:r>
              <a:rPr lang="en-US" sz="900"/>
              <a:t>.</a:t>
            </a:r>
            <a:r>
              <a:rPr lang="en-US" sz="900" b="1"/>
              <a:t> </a:t>
            </a:r>
          </a:p>
        </p:txBody>
      </p:sp>
      <p:sp>
        <p:nvSpPr>
          <p:cNvPr id="21" name="Text Placeholder 1">
            <a:extLst>
              <a:ext uri="{FF2B5EF4-FFF2-40B4-BE49-F238E27FC236}">
                <a16:creationId xmlns:a16="http://schemas.microsoft.com/office/drawing/2014/main" id="{4105CE28-4651-DB11-5DCD-0949A5E5D4FD}"/>
              </a:ext>
            </a:extLst>
          </p:cNvPr>
          <p:cNvSpPr txBox="1">
            <a:spLocks/>
          </p:cNvSpPr>
          <p:nvPr/>
        </p:nvSpPr>
        <p:spPr>
          <a:xfrm>
            <a:off x="995362" y="971550"/>
            <a:ext cx="10192299" cy="460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strike="noStrike" kern="1200" cap="none" spc="0" normalizeH="0" baseline="0" noProof="0">
                <a:ln>
                  <a:noFill/>
                </a:ln>
                <a:solidFill>
                  <a:srgbClr val="510DBC"/>
                </a:solidFill>
                <a:effectLst/>
                <a:uLnTx/>
                <a:uFillTx/>
                <a:latin typeface="Arial"/>
                <a:ea typeface="+mn-ea"/>
                <a:cs typeface="+mn-cs"/>
              </a:rPr>
              <a:t>After net working capital reclassifications and other considerations, the Company's adjusted net cash position is $9.8 million as at June 30, 2024. </a:t>
            </a:r>
          </a:p>
        </p:txBody>
      </p:sp>
      <p:pic>
        <p:nvPicPr>
          <p:cNvPr id="11" name="Picture 10">
            <a:extLst>
              <a:ext uri="{FF2B5EF4-FFF2-40B4-BE49-F238E27FC236}">
                <a16:creationId xmlns:a16="http://schemas.microsoft.com/office/drawing/2014/main" id="{8102A172-1EF1-C466-5C7B-575FA70F68D8}"/>
              </a:ext>
            </a:extLst>
          </p:cNvPr>
          <p:cNvPicPr>
            <a:picLocks noChangeAspect="1"/>
          </p:cNvPicPr>
          <p:nvPr>
            <p:custDataLst>
              <p:tags r:id="rId4"/>
            </p:custDataLst>
          </p:nvPr>
        </p:nvPicPr>
        <p:blipFill>
          <a:blip r:embed="rId7"/>
          <a:stretch>
            <a:fillRect/>
          </a:stretch>
        </p:blipFill>
        <p:spPr>
          <a:xfrm>
            <a:off x="983209" y="1330327"/>
            <a:ext cx="4191000" cy="2136308"/>
          </a:xfrm>
          <a:prstGeom prst="rect">
            <a:avLst/>
          </a:prstGeom>
        </p:spPr>
      </p:pic>
      <p:grpSp>
        <p:nvGrpSpPr>
          <p:cNvPr id="33" name="Group 32">
            <a:extLst>
              <a:ext uri="{FF2B5EF4-FFF2-40B4-BE49-F238E27FC236}">
                <a16:creationId xmlns:a16="http://schemas.microsoft.com/office/drawing/2014/main" id="{4BBB27E3-C13F-691C-BAD1-AABCA30D8F6E}"/>
              </a:ext>
            </a:extLst>
          </p:cNvPr>
          <p:cNvGrpSpPr/>
          <p:nvPr>
            <p:custDataLst>
              <p:tags r:id="rId5"/>
            </p:custDataLst>
          </p:nvPr>
        </p:nvGrpSpPr>
        <p:grpSpPr>
          <a:xfrm>
            <a:off x="995364" y="153170"/>
            <a:ext cx="5808086" cy="195814"/>
            <a:chOff x="995364" y="153170"/>
            <a:chExt cx="5808086" cy="195814"/>
          </a:xfrm>
        </p:grpSpPr>
        <p:sp>
          <p:nvSpPr>
            <p:cNvPr id="34"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5"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6" name="Current Section3">
              <a:hlinkClick r:id="rId10" action="ppaction://hlinksldjump"/>
              <a:extLst>
                <a:ext uri="{FF2B5EF4-FFF2-40B4-BE49-F238E27FC236}">
                  <a16:creationId xmlns:a16="http://schemas.microsoft.com/office/drawing/2014/main" id="{89A61135-1F00-E77F-7C78-5FBA241A5742}"/>
                </a:ext>
              </a:extLst>
            </p:cNvPr>
            <p:cNvSpPr>
              <a:spLocks/>
            </p:cNvSpPr>
            <p:nvPr/>
          </p:nvSpPr>
          <p:spPr>
            <a:xfrm>
              <a:off x="2950094" y="153170"/>
              <a:ext cx="839507"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Balance sheet</a:t>
              </a:r>
            </a:p>
          </p:txBody>
        </p:sp>
        <p:sp>
          <p:nvSpPr>
            <p:cNvPr id="37"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89601"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8"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7856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9" name="Other Sections6">
              <a:hlinkClick r:id="rId13" action="ppaction://hlinksldjump"/>
              <a:extLst>
                <a:ext uri="{FF2B5EF4-FFF2-40B4-BE49-F238E27FC236}">
                  <a16:creationId xmlns:a16="http://schemas.microsoft.com/office/drawing/2014/main" id="{8A19844E-D291-CA81-3B22-2B52F21919DA}"/>
                </a:ext>
              </a:extLst>
            </p:cNvPr>
            <p:cNvSpPr>
              <a:spLocks/>
            </p:cNvSpPr>
            <p:nvPr/>
          </p:nvSpPr>
          <p:spPr>
            <a:xfrm>
              <a:off x="611462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2582859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hlinkClick r:id="rId9" action="ppaction://hlinksldjump"/>
            <a:extLst>
              <a:ext uri="{FF2B5EF4-FFF2-40B4-BE49-F238E27FC236}">
                <a16:creationId xmlns:a16="http://schemas.microsoft.com/office/drawing/2014/main" id="{786DC45D-334F-182D-E7D0-36F85940D169}"/>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Reporting environment</a:t>
            </a:r>
          </a:p>
        </p:txBody>
      </p:sp>
      <p:sp>
        <p:nvSpPr>
          <p:cNvPr id="11" name="TextBox 10">
            <a:hlinkClick r:id="rId10" action="ppaction://hlinksldjump"/>
            <a:extLst>
              <a:ext uri="{FF2B5EF4-FFF2-40B4-BE49-F238E27FC236}">
                <a16:creationId xmlns:a16="http://schemas.microsoft.com/office/drawing/2014/main" id="{4F06BE99-CB53-A894-D45E-564290DFA971}"/>
              </a:ext>
            </a:extLst>
          </p:cNvPr>
          <p:cNvSpPr txBox="1"/>
          <p:nvPr>
            <p:custDataLst>
              <p:tags r:id="rId3"/>
            </p:custDataLst>
          </p:nvPr>
        </p:nvSpPr>
        <p:spPr>
          <a:xfrm>
            <a:off x="1806250" y="3831782"/>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Financial reporting environment</a:t>
            </a:r>
          </a:p>
        </p:txBody>
      </p:sp>
      <p:sp>
        <p:nvSpPr>
          <p:cNvPr id="12" name="TextBox 11">
            <a:hlinkClick r:id="rId9" action="ppaction://hlinksldjump"/>
            <a:extLst>
              <a:ext uri="{FF2B5EF4-FFF2-40B4-BE49-F238E27FC236}">
                <a16:creationId xmlns:a16="http://schemas.microsoft.com/office/drawing/2014/main" id="{3144DAD5-7D81-7729-130A-B685128D8E13}"/>
              </a:ext>
            </a:extLst>
          </p:cNvPr>
          <p:cNvSpPr txBox="1"/>
          <p:nvPr>
            <p:custDataLst>
              <p:tags r:id="rId4"/>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04</a:t>
            </a:r>
          </a:p>
        </p:txBody>
      </p:sp>
      <p:sp>
        <p:nvSpPr>
          <p:cNvPr id="13" name="TextBox 12">
            <a:hlinkClick r:id="rId9" action="ppaction://hlinksldjump"/>
            <a:extLst>
              <a:ext uri="{FF2B5EF4-FFF2-40B4-BE49-F238E27FC236}">
                <a16:creationId xmlns:a16="http://schemas.microsoft.com/office/drawing/2014/main" id="{F9903A79-6475-F477-6684-B161CB4BBAA5}"/>
              </a:ext>
            </a:extLst>
          </p:cNvPr>
          <p:cNvSpPr txBox="1"/>
          <p:nvPr>
            <p:custDataLst>
              <p:tags r:id="rId5"/>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39</a:t>
            </a:r>
          </a:p>
        </p:txBody>
      </p:sp>
      <p:sp>
        <p:nvSpPr>
          <p:cNvPr id="14" name="TextBox 13">
            <a:hlinkClick r:id="rId10" action="ppaction://hlinksldjump"/>
            <a:extLst>
              <a:ext uri="{FF2B5EF4-FFF2-40B4-BE49-F238E27FC236}">
                <a16:creationId xmlns:a16="http://schemas.microsoft.com/office/drawing/2014/main" id="{635E83C3-F405-CCD5-9351-518F93A2201F}"/>
              </a:ext>
            </a:extLst>
          </p:cNvPr>
          <p:cNvSpPr txBox="1"/>
          <p:nvPr>
            <p:custDataLst>
              <p:tags r:id="rId6"/>
            </p:custDataLst>
          </p:nvPr>
        </p:nvSpPr>
        <p:spPr bwMode="auto">
          <a:xfrm>
            <a:off x="1332373" y="383178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4.1</a:t>
            </a:r>
          </a:p>
        </p:txBody>
      </p:sp>
      <p:sp>
        <p:nvSpPr>
          <p:cNvPr id="15" name="TextBox 14">
            <a:hlinkClick r:id="rId10" action="ppaction://hlinksldjump"/>
            <a:extLst>
              <a:ext uri="{FF2B5EF4-FFF2-40B4-BE49-F238E27FC236}">
                <a16:creationId xmlns:a16="http://schemas.microsoft.com/office/drawing/2014/main" id="{1A7BA162-E84C-70D8-DD68-464DA85D8472}"/>
              </a:ext>
            </a:extLst>
          </p:cNvPr>
          <p:cNvSpPr txBox="1"/>
          <p:nvPr>
            <p:custDataLst>
              <p:tags r:id="rId7"/>
            </p:custDataLst>
          </p:nvPr>
        </p:nvSpPr>
        <p:spPr>
          <a:xfrm>
            <a:off x="6163612" y="383178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40</a:t>
            </a:r>
          </a:p>
        </p:txBody>
      </p:sp>
    </p:spTree>
    <p:custDataLst>
      <p:tags r:id="rId1"/>
    </p:custDataLst>
    <p:extLst>
      <p:ext uri="{BB962C8B-B14F-4D97-AF65-F5344CB8AC3E}">
        <p14:creationId xmlns:p14="http://schemas.microsoft.com/office/powerpoint/2010/main" val="337896041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C1A3BE9-3DDB-F838-3625-48DA5621DEAF}"/>
              </a:ext>
            </a:extLst>
          </p:cNvPr>
          <p:cNvSpPr>
            <a:spLocks noGrp="1"/>
          </p:cNvSpPr>
          <p:nvPr>
            <p:ph type="title"/>
          </p:nvPr>
        </p:nvSpPr>
        <p:spPr>
          <a:xfrm>
            <a:off x="995362" y="431800"/>
            <a:ext cx="10204452" cy="539750"/>
          </a:xfrm>
        </p:spPr>
        <p:txBody>
          <a:bodyPr/>
          <a:lstStyle/>
          <a:p>
            <a:r>
              <a:rPr lang="en-US"/>
              <a:t>Financial reporting environment (1/4)</a:t>
            </a:r>
          </a:p>
        </p:txBody>
      </p:sp>
      <p:sp>
        <p:nvSpPr>
          <p:cNvPr id="5" name="Text Placeholder 7">
            <a:extLst>
              <a:ext uri="{FF2B5EF4-FFF2-40B4-BE49-F238E27FC236}">
                <a16:creationId xmlns:a16="http://schemas.microsoft.com/office/drawing/2014/main" id="{3C368FE1-9599-B9AA-8963-D14480767314}"/>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strike="noStrike" kern="1200" cap="none" spc="0" normalizeH="0" baseline="0" noProof="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Fifth level</a:t>
            </a:r>
            <a:endParaRPr kumimoji="0" lang="en-US" sz="1000" b="0" i="0" strike="noStrike" kern="1200" cap="none" spc="0" normalizeH="0" baseline="0" noProof="0">
              <a:ln>
                <a:noFill/>
              </a:ln>
              <a:solidFill>
                <a:srgbClr val="00338D"/>
              </a:solidFill>
              <a:effectLst/>
              <a:uLnTx/>
              <a:uFillTx/>
              <a:latin typeface="Arial"/>
              <a:ea typeface="+mn-ea"/>
              <a:cs typeface="+mn-cs"/>
            </a:endParaRPr>
          </a:p>
        </p:txBody>
      </p:sp>
      <p:sp>
        <p:nvSpPr>
          <p:cNvPr id="6" name="Text Placeholder 12">
            <a:extLst>
              <a:ext uri="{FF2B5EF4-FFF2-40B4-BE49-F238E27FC236}">
                <a16:creationId xmlns:a16="http://schemas.microsoft.com/office/drawing/2014/main" id="{224C6CB8-E6EF-6EC8-4F2F-AE1C531C15DA}"/>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item</a:t>
            </a:r>
          </a:p>
        </p:txBody>
      </p:sp>
      <p:sp>
        <p:nvSpPr>
          <p:cNvPr id="7" name="Rounded Rectangle 7">
            <a:extLst>
              <a:ext uri="{FF2B5EF4-FFF2-40B4-BE49-F238E27FC236}">
                <a16:creationId xmlns:a16="http://schemas.microsoft.com/office/drawing/2014/main" id="{BBD04E72-8A54-9F6D-8F6E-D7884466CC01}"/>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Rectangle 7">
            <a:extLst>
              <a:ext uri="{FF2B5EF4-FFF2-40B4-BE49-F238E27FC236}">
                <a16:creationId xmlns:a16="http://schemas.microsoft.com/office/drawing/2014/main" id="{87A06A3C-B9E3-CD6F-12BA-3F2E85154156}"/>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cxnSp>
        <p:nvCxnSpPr>
          <p:cNvPr id="9" name="Straight Arrow Connector 8">
            <a:extLst>
              <a:ext uri="{FF2B5EF4-FFF2-40B4-BE49-F238E27FC236}">
                <a16:creationId xmlns:a16="http://schemas.microsoft.com/office/drawing/2014/main" id="{6C70F76C-D243-18A1-6BA2-220649E747A9}"/>
              </a:ext>
            </a:extLst>
          </p:cNvPr>
          <p:cNvCxnSpPr>
            <a:cxnSpLocks/>
            <a:stCxn id="8" idx="2"/>
            <a:endCxn id="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sp>
        <p:nvSpPr>
          <p:cNvPr id="21" name="Rectangle 20">
            <a:extLst>
              <a:ext uri="{FF2B5EF4-FFF2-40B4-BE49-F238E27FC236}">
                <a16:creationId xmlns:a16="http://schemas.microsoft.com/office/drawing/2014/main" id="{7360D3E9-6E23-B980-FCBC-991F2C0707AB}"/>
              </a:ext>
            </a:extLst>
          </p:cNvPr>
          <p:cNvSpPr>
            <a:spLocks/>
          </p:cNvSpPr>
          <p:nvPr/>
        </p:nvSpPr>
        <p:spPr>
          <a:xfrm>
            <a:off x="995362" y="1348433"/>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strike="noStrike" kern="0" cap="none" spc="0" normalizeH="0" baseline="0" noProof="0">
                <a:ln>
                  <a:noFill/>
                </a:ln>
                <a:solidFill>
                  <a:srgbClr val="FFFFFF"/>
                </a:solidFill>
                <a:effectLst/>
                <a:uLnTx/>
                <a:uFillTx/>
                <a:latin typeface="Arial"/>
                <a:ea typeface="+mn-ea"/>
                <a:cs typeface="+mn-cs"/>
              </a:rPr>
              <a:t>Financial statement reporting</a:t>
            </a:r>
          </a:p>
        </p:txBody>
      </p:sp>
      <p:sp>
        <p:nvSpPr>
          <p:cNvPr id="23" name="Text Placeholder 12">
            <a:extLst>
              <a:ext uri="{FF2B5EF4-FFF2-40B4-BE49-F238E27FC236}">
                <a16:creationId xmlns:a16="http://schemas.microsoft.com/office/drawing/2014/main" id="{3E76BD15-B81D-6986-7579-42547197044C}"/>
              </a:ext>
            </a:extLst>
          </p:cNvPr>
          <p:cNvSpPr txBox="1">
            <a:spLocks/>
          </p:cNvSpPr>
          <p:nvPr/>
        </p:nvSpPr>
        <p:spPr>
          <a:xfrm>
            <a:off x="1002561" y="1593940"/>
            <a:ext cx="4968001" cy="2294268"/>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Company has a December 31 fiscal year-end with month-end closing typically in approximately four days. </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Company reports under International Financial Reporting Standards (“IFRS”) and the Company’s functional and presentation currency is Canadian Dollar. </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annual audit is performed in January by BDO Canada LLP and is finalized in early February.</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Billing occurs a month after activity, while certain pass-through expenses are billed two months after. Accruals for revenue and expenses are estimated and recorded at month-end.</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There have been no changes in historical accounting practices/policies or planned changes from FY21 to FY23.</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Key financial and IT systems include Great Plains (ERP), Replicon (project hours tracking) Beanworks (AP automation). Payroll is contracted to Credit Union Central of Manitoba (CUCM).</a:t>
            </a:r>
          </a:p>
        </p:txBody>
      </p:sp>
      <p:sp>
        <p:nvSpPr>
          <p:cNvPr id="10" name="Rectangle 9">
            <a:extLst>
              <a:ext uri="{FF2B5EF4-FFF2-40B4-BE49-F238E27FC236}">
                <a16:creationId xmlns:a16="http://schemas.microsoft.com/office/drawing/2014/main" id="{99334AAA-32C3-C35E-5822-5F9C4DAA8BC4}"/>
              </a:ext>
            </a:extLst>
          </p:cNvPr>
          <p:cNvSpPr>
            <a:spLocks/>
          </p:cNvSpPr>
          <p:nvPr/>
        </p:nvSpPr>
        <p:spPr>
          <a:xfrm>
            <a:off x="1002561" y="3852049"/>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strike="noStrike" kern="0" cap="none" spc="0" normalizeH="0" baseline="0" noProof="0">
                <a:ln>
                  <a:noFill/>
                </a:ln>
                <a:solidFill>
                  <a:srgbClr val="FFFFFF"/>
                </a:solidFill>
                <a:effectLst/>
                <a:uLnTx/>
                <a:uFillTx/>
                <a:latin typeface="Arial"/>
                <a:ea typeface="+mn-ea"/>
                <a:cs typeface="+mn-cs"/>
              </a:rPr>
              <a:t>Revenue recognition</a:t>
            </a:r>
          </a:p>
        </p:txBody>
      </p:sp>
      <p:sp>
        <p:nvSpPr>
          <p:cNvPr id="13" name="Text Placeholder 12">
            <a:extLst>
              <a:ext uri="{FF2B5EF4-FFF2-40B4-BE49-F238E27FC236}">
                <a16:creationId xmlns:a16="http://schemas.microsoft.com/office/drawing/2014/main" id="{78A4A647-1878-3BFB-8076-1C2B523FA148}"/>
              </a:ext>
            </a:extLst>
          </p:cNvPr>
          <p:cNvSpPr txBox="1">
            <a:spLocks/>
          </p:cNvSpPr>
          <p:nvPr/>
        </p:nvSpPr>
        <p:spPr>
          <a:xfrm>
            <a:off x="1002561" y="4111212"/>
            <a:ext cx="4968001" cy="2340435"/>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marR="0" lvl="1" indent="-171450" algn="l" defTabSz="914400" rtl="0" eaLnBrk="1" fontAlgn="auto" latinLnBrk="0" hangingPunct="1">
              <a:lnSpc>
                <a:spcPct val="100000"/>
              </a:lnSpc>
              <a:spcBef>
                <a:spcPts val="0"/>
              </a:spcBef>
              <a:spcAft>
                <a:spcPts val="300"/>
              </a:spcAft>
              <a:buClr>
                <a:schemeClr val="bg1">
                  <a:lumMod val="50000"/>
                </a:schemeClr>
              </a:buClr>
              <a:buSzTx/>
              <a:buFont typeface="Arial" panose="020B0604020202020204" pitchFamily="34" charset="0"/>
              <a:buChar char="•"/>
              <a:tabLst/>
              <a:defRPr/>
            </a:pPr>
            <a:r>
              <a:rPr lang="en-US" sz="900" i="1">
                <a:solidFill>
                  <a:srgbClr val="000000"/>
                </a:solidFill>
                <a:latin typeface="Arial"/>
              </a:rPr>
              <a:t>Professional services: </a:t>
            </a:r>
            <a:r>
              <a:rPr lang="en-US" sz="900">
                <a:solidFill>
                  <a:srgbClr val="000000"/>
                </a:solidFill>
                <a:latin typeface="Arial"/>
              </a:rPr>
              <a:t>The Company uses the basis of project efforts or inputs (i.e. labour hours expended, costs incurred), relative to the total expected input for estimating the calculation and timing of revenue recognition. Smaller projects do not contain proposals with budgeted hours due to non-complex nature and as such are charged a flat rate, with short-term and long-term contract asset/liability differentiation associated based on number of months remaining in the contract.</a:t>
            </a:r>
          </a:p>
          <a:p>
            <a:pPr marL="171450" marR="0" lvl="1" indent="-171450" algn="l" defTabSz="914400" rtl="0" eaLnBrk="1" fontAlgn="auto" latinLnBrk="0" hangingPunct="1">
              <a:lnSpc>
                <a:spcPct val="100000"/>
              </a:lnSpc>
              <a:spcBef>
                <a:spcPts val="0"/>
              </a:spcBef>
              <a:spcAft>
                <a:spcPts val="300"/>
              </a:spcAft>
              <a:buClr>
                <a:schemeClr val="bg1">
                  <a:lumMod val="50000"/>
                </a:schemeClr>
              </a:buClr>
              <a:buSzTx/>
              <a:buFont typeface="Arial" panose="020B0604020202020204" pitchFamily="34" charset="0"/>
              <a:buChar char="•"/>
              <a:tabLst/>
              <a:defRPr/>
            </a:pPr>
            <a:r>
              <a:rPr lang="en-US" sz="900" i="1">
                <a:solidFill>
                  <a:srgbClr val="000000"/>
                </a:solidFill>
                <a:latin typeface="Arial"/>
              </a:rPr>
              <a:t>Tier-based pricing contracts:</a:t>
            </a:r>
            <a:r>
              <a:rPr lang="en-US" sz="900">
                <a:solidFill>
                  <a:srgbClr val="000000"/>
                </a:solidFill>
                <a:latin typeface="Arial"/>
              </a:rPr>
              <a:t> The Company recognizes revenue based on the estimated average transaction price applied to actual transactions executed. Estimated average transaction price is calculated based on projected future transactions (i.e. to anticipate pricing on transaction volume-based tiered chart). Differences between the expected transaction price and billed rate (i.e. variable rate based on tiered chart) is adjusted on a monthly basis through contract assets/liabilities.</a:t>
            </a:r>
          </a:p>
          <a:p>
            <a:pPr marL="171450" marR="0" lvl="1" indent="-171450" algn="l" defTabSz="914400" rtl="0" eaLnBrk="1" fontAlgn="auto" latinLnBrk="0" hangingPunct="1">
              <a:lnSpc>
                <a:spcPct val="100000"/>
              </a:lnSpc>
              <a:spcBef>
                <a:spcPts val="0"/>
              </a:spcBef>
              <a:spcAft>
                <a:spcPts val="600"/>
              </a:spcAft>
              <a:buClr>
                <a:schemeClr val="bg1">
                  <a:lumMod val="50000"/>
                </a:schemeClr>
              </a:buClr>
              <a:buSzTx/>
              <a:buFont typeface="Arial" panose="020B0604020202020204" pitchFamily="34" charset="0"/>
              <a:buChar char="•"/>
              <a:tabLst/>
              <a:defRPr/>
            </a:pPr>
            <a:r>
              <a:rPr lang="en-US" sz="900" i="1">
                <a:solidFill>
                  <a:srgbClr val="000000"/>
                </a:solidFill>
                <a:latin typeface="Arial"/>
              </a:rPr>
              <a:t>Contract assets/liabilities: </a:t>
            </a:r>
            <a:r>
              <a:rPr lang="en-US" sz="900">
                <a:solidFill>
                  <a:srgbClr val="000000"/>
                </a:solidFill>
                <a:latin typeface="Arial"/>
              </a:rPr>
              <a:t>Monthly IFRS 15 adjustments reported from professional services and tier-based pricing contracts are recorded to contract asset/contract liability and reconciled to revenues at each fiscal year-end. </a:t>
            </a:r>
          </a:p>
        </p:txBody>
      </p:sp>
      <p:sp>
        <p:nvSpPr>
          <p:cNvPr id="14" name="Rectangle 13">
            <a:extLst>
              <a:ext uri="{FF2B5EF4-FFF2-40B4-BE49-F238E27FC236}">
                <a16:creationId xmlns:a16="http://schemas.microsoft.com/office/drawing/2014/main" id="{90B86207-38E2-2339-0BE7-A4EC5E0CBAB9}"/>
              </a:ext>
            </a:extLst>
          </p:cNvPr>
          <p:cNvSpPr>
            <a:spLocks/>
          </p:cNvSpPr>
          <p:nvPr/>
        </p:nvSpPr>
        <p:spPr>
          <a:xfrm>
            <a:off x="6098517" y="1341412"/>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900" b="1" kern="0">
                <a:solidFill>
                  <a:srgbClr val="FFFFFF"/>
                </a:solidFill>
                <a:latin typeface="Arial"/>
              </a:rPr>
              <a:t>Personnel</a:t>
            </a:r>
            <a:endParaRPr kumimoji="0" lang="en-US" sz="900" b="1" i="0" strike="noStrike" kern="0" cap="none" spc="0" normalizeH="0" baseline="0" noProof="0">
              <a:ln>
                <a:noFill/>
              </a:ln>
              <a:solidFill>
                <a:srgbClr val="FFFFFF"/>
              </a:solidFill>
              <a:effectLst/>
              <a:uLnTx/>
              <a:uFillTx/>
              <a:latin typeface="Arial"/>
              <a:ea typeface="+mn-ea"/>
              <a:cs typeface="+mn-cs"/>
            </a:endParaRPr>
          </a:p>
        </p:txBody>
      </p:sp>
      <p:sp>
        <p:nvSpPr>
          <p:cNvPr id="15" name="Text Placeholder 12">
            <a:extLst>
              <a:ext uri="{FF2B5EF4-FFF2-40B4-BE49-F238E27FC236}">
                <a16:creationId xmlns:a16="http://schemas.microsoft.com/office/drawing/2014/main" id="{7F764D10-EF22-0E86-315C-B8EA10971C50}"/>
              </a:ext>
            </a:extLst>
          </p:cNvPr>
          <p:cNvSpPr txBox="1">
            <a:spLocks/>
          </p:cNvSpPr>
          <p:nvPr/>
        </p:nvSpPr>
        <p:spPr>
          <a:xfrm>
            <a:off x="6091511" y="1593940"/>
            <a:ext cx="4968001" cy="2278879"/>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Company has a bi-weekly payroll cycle from Sunday to Saturday. Payments are disbursed on the following Friday.</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Short-term bonus for all employees are paid in February of the following year to which they relate to. The range for bonuses as a percentage of base pay are as follows, according to seniority: non-manager 5%; manager 10%; director 15%; general manager 20%; vice president 25%.</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Long-term bonus for executive positions are earned based on specific financial and/or performance metrics, determined by the Board of Directors on an annual basis. A long-term liability is recognized for the plan when earned, and payment occurs after a 3-year vesting period.</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Employees are entitled to 20 sick days per year. Employees also receive 3 weeks of pro-rated vacation in their first calendar year, 3 weeks in their second calendar year, 4 weeks in years 3-8, and 5 weeks for following years. Employees can carry forward up to 1 week of unused vacation; sick days may not be carried forward.</a:t>
            </a:r>
          </a:p>
        </p:txBody>
      </p:sp>
      <p:sp>
        <p:nvSpPr>
          <p:cNvPr id="16" name="Rectangle 15">
            <a:extLst>
              <a:ext uri="{FF2B5EF4-FFF2-40B4-BE49-F238E27FC236}">
                <a16:creationId xmlns:a16="http://schemas.microsoft.com/office/drawing/2014/main" id="{BE8AC35F-9C59-F995-1F6F-1BEBE05AD09B}"/>
              </a:ext>
            </a:extLst>
          </p:cNvPr>
          <p:cNvSpPr>
            <a:spLocks/>
          </p:cNvSpPr>
          <p:nvPr/>
        </p:nvSpPr>
        <p:spPr>
          <a:xfrm>
            <a:off x="6098517" y="3852048"/>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900" b="1" kern="0">
                <a:solidFill>
                  <a:srgbClr val="FFFFFF"/>
                </a:solidFill>
                <a:latin typeface="Arial"/>
              </a:rPr>
              <a:t>Capitalized internally-developed software costs</a:t>
            </a:r>
            <a:endParaRPr kumimoji="0" lang="en-US" sz="900" b="1" i="0" strike="noStrike" kern="0" cap="none" spc="0" normalizeH="0" baseline="0" noProof="0">
              <a:ln>
                <a:noFill/>
              </a:ln>
              <a:solidFill>
                <a:srgbClr val="FFFFFF"/>
              </a:solidFill>
              <a:effectLst/>
              <a:uLnTx/>
              <a:uFillTx/>
              <a:latin typeface="Arial"/>
              <a:ea typeface="+mn-ea"/>
              <a:cs typeface="+mn-cs"/>
            </a:endParaRPr>
          </a:p>
        </p:txBody>
      </p:sp>
      <p:sp>
        <p:nvSpPr>
          <p:cNvPr id="17" name="Text Placeholder 12">
            <a:extLst>
              <a:ext uri="{FF2B5EF4-FFF2-40B4-BE49-F238E27FC236}">
                <a16:creationId xmlns:a16="http://schemas.microsoft.com/office/drawing/2014/main" id="{F7734B38-4C5D-7432-6BEE-9390811B33D4}"/>
              </a:ext>
            </a:extLst>
          </p:cNvPr>
          <p:cNvSpPr txBox="1">
            <a:spLocks/>
          </p:cNvSpPr>
          <p:nvPr/>
        </p:nvSpPr>
        <p:spPr>
          <a:xfrm>
            <a:off x="6091318" y="4097555"/>
            <a:ext cx="4968001" cy="2063436"/>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marR="0" lvl="1" indent="-171450" algn="l" defTabSz="914400" rtl="0" eaLnBrk="1" fontAlgn="auto" latinLnBrk="0" hangingPunct="1">
              <a:lnSpc>
                <a:spcPct val="100000"/>
              </a:lnSpc>
              <a:spcBef>
                <a:spcPts val="0"/>
              </a:spcBef>
              <a:spcAft>
                <a:spcPts val="600"/>
              </a:spcAft>
              <a:buClr>
                <a:schemeClr val="bg1">
                  <a:lumMod val="50000"/>
                </a:schemeClr>
              </a:buClr>
              <a:buSzTx/>
              <a:buFont typeface="Arial" panose="020B0604020202020204" pitchFamily="34" charset="0"/>
              <a:buChar char="•"/>
              <a:tabLst/>
              <a:defRPr/>
            </a:pPr>
            <a:r>
              <a:rPr lang="en-US" sz="900">
                <a:solidFill>
                  <a:srgbClr val="000000"/>
                </a:solidFill>
                <a:latin typeface="Arial"/>
              </a:rPr>
              <a:t>The Company capitalizes internal and external costs related to the specific project once it has progressed beyond a conceptual, preliminary stage of application development. Capitalized costs are then amortized over the expected useful life, generally 3 to 5 years.</a:t>
            </a:r>
          </a:p>
          <a:p>
            <a:pPr marL="171450" marR="0" lvl="1" indent="-171450" algn="l" defTabSz="914400" rtl="0" eaLnBrk="1" fontAlgn="auto" latinLnBrk="0" hangingPunct="1">
              <a:lnSpc>
                <a:spcPct val="100000"/>
              </a:lnSpc>
              <a:spcBef>
                <a:spcPts val="0"/>
              </a:spcBef>
              <a:spcAft>
                <a:spcPts val="600"/>
              </a:spcAft>
              <a:buClr>
                <a:schemeClr val="bg1">
                  <a:lumMod val="50000"/>
                </a:schemeClr>
              </a:buClr>
              <a:buSzTx/>
              <a:buFont typeface="Arial" panose="020B0604020202020204" pitchFamily="34" charset="0"/>
              <a:buChar char="•"/>
              <a:tabLst/>
              <a:defRPr/>
            </a:pPr>
            <a:r>
              <a:rPr lang="en-US" sz="900">
                <a:solidFill>
                  <a:srgbClr val="000000"/>
                </a:solidFill>
                <a:latin typeface="Arial"/>
              </a:rPr>
              <a:t>New projects undertaken are assessed and approved by the GM, Technology Delivery and VP and Controller, Finance. Capitalization criteria includes the ability to generate long-term benefits, part of provisioning work to onboard a new customer, and meeting the criteria for capitalization in accordance with IAS 38. </a:t>
            </a:r>
          </a:p>
          <a:p>
            <a:pPr marL="171450" marR="0" lvl="1" indent="-171450" algn="l" defTabSz="914400" rtl="0" eaLnBrk="1" fontAlgn="auto" latinLnBrk="0" hangingPunct="1">
              <a:lnSpc>
                <a:spcPct val="100000"/>
              </a:lnSpc>
              <a:spcBef>
                <a:spcPts val="0"/>
              </a:spcBef>
              <a:spcAft>
                <a:spcPts val="600"/>
              </a:spcAft>
              <a:buClr>
                <a:schemeClr val="bg1">
                  <a:lumMod val="50000"/>
                </a:schemeClr>
              </a:buClr>
              <a:buSzTx/>
              <a:buFont typeface="Arial" panose="020B0604020202020204" pitchFamily="34" charset="0"/>
              <a:buChar char="•"/>
              <a:tabLst/>
              <a:defRPr/>
            </a:pPr>
            <a:r>
              <a:rPr lang="en-US" sz="900">
                <a:solidFill>
                  <a:srgbClr val="000000"/>
                </a:solidFill>
                <a:latin typeface="Arial"/>
              </a:rPr>
              <a:t>Capitalized costs consist primarily of labour hours. On a monthly basis, an Accounting Supervisor will download Replicon reports for projects eligible for capitalization and apply the employee’s capitalization rate to calculate the monthly capitalized costs. Employee rates are determined by the VP Finance based on the employee’s total compensation (i.e. salaries, benefits, and taxes) and seniority. The VP of Finance will then review and discuss any anomalies with the business line project manager as they are identified.</a:t>
            </a:r>
          </a:p>
        </p:txBody>
      </p:sp>
      <p:sp>
        <p:nvSpPr>
          <p:cNvPr id="11" name="Text Placeholder 1">
            <a:extLst>
              <a:ext uri="{FF2B5EF4-FFF2-40B4-BE49-F238E27FC236}">
                <a16:creationId xmlns:a16="http://schemas.microsoft.com/office/drawing/2014/main" id="{BCCC9138-ED4D-FC8D-A80E-678BFA489497}"/>
              </a:ext>
            </a:extLst>
          </p:cNvPr>
          <p:cNvSpPr txBox="1">
            <a:spLocks/>
          </p:cNvSpPr>
          <p:nvPr/>
        </p:nvSpPr>
        <p:spPr>
          <a:xfrm>
            <a:off x="995362" y="971550"/>
            <a:ext cx="10192299" cy="460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strike="noStrike" kern="1200" cap="none" spc="0" normalizeH="0" baseline="0" noProof="0">
                <a:ln>
                  <a:noFill/>
                </a:ln>
                <a:solidFill>
                  <a:srgbClr val="510DBC"/>
                </a:solidFill>
                <a:effectLst/>
                <a:uLnTx/>
                <a:uFillTx/>
                <a:latin typeface="Arial"/>
                <a:ea typeface="+mn-ea"/>
                <a:cs typeface="+mn-cs"/>
              </a:rPr>
              <a:t>The information on this page is based on management information and management discussions.  We have not performed any testing of systems or controls and have not performed an audit or review of the information.</a:t>
            </a:r>
          </a:p>
        </p:txBody>
      </p:sp>
      <p:sp>
        <p:nvSpPr>
          <p:cNvPr id="65" name="UpSlide SubSection Marker" hidden="1">
            <a:extLst>
              <a:ext uri="{FF2B5EF4-FFF2-40B4-BE49-F238E27FC236}">
                <a16:creationId xmlns:a16="http://schemas.microsoft.com/office/drawing/2014/main" id="{4C2DE779-5696-F567-FBAF-AAB0F2CC953F}"/>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Financial reporting environment</a:t>
            </a:r>
          </a:p>
        </p:txBody>
      </p:sp>
      <p:grpSp>
        <p:nvGrpSpPr>
          <p:cNvPr id="37" name="Group 36">
            <a:extLst>
              <a:ext uri="{FF2B5EF4-FFF2-40B4-BE49-F238E27FC236}">
                <a16:creationId xmlns:a16="http://schemas.microsoft.com/office/drawing/2014/main" id="{2D061ECF-FF92-36C6-14AC-D7BD19990F58}"/>
              </a:ext>
            </a:extLst>
          </p:cNvPr>
          <p:cNvGrpSpPr/>
          <p:nvPr>
            <p:custDataLst>
              <p:tags r:id="rId3"/>
            </p:custDataLst>
          </p:nvPr>
        </p:nvGrpSpPr>
        <p:grpSpPr>
          <a:xfrm>
            <a:off x="995364" y="153170"/>
            <a:ext cx="5856176" cy="195814"/>
            <a:chOff x="995364" y="153170"/>
            <a:chExt cx="5856176" cy="195814"/>
          </a:xfrm>
        </p:grpSpPr>
        <p:sp>
          <p:nvSpPr>
            <p:cNvPr id="3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4" name="Current Section4">
              <a:hlinkClick r:id="rId9" action="ppaction://hlinksldjump"/>
              <a:extLst>
                <a:ext uri="{FF2B5EF4-FFF2-40B4-BE49-F238E27FC236}">
                  <a16:creationId xmlns:a16="http://schemas.microsoft.com/office/drawing/2014/main" id="{89A61135-1F00-E77F-7C78-5FBA241A5742}"/>
                </a:ext>
              </a:extLst>
            </p:cNvPr>
            <p:cNvSpPr>
              <a:spLocks/>
            </p:cNvSpPr>
            <p:nvPr/>
          </p:nvSpPr>
          <p:spPr>
            <a:xfrm>
              <a:off x="3751129" y="153170"/>
              <a:ext cx="12755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Reporting environment</a:t>
              </a:r>
            </a:p>
          </p:txBody>
        </p:sp>
        <p:sp>
          <p:nvSpPr>
            <p:cNvPr id="3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502665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6"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627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7502700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C1A3BE9-3DDB-F838-3625-48DA5621DEAF}"/>
              </a:ext>
            </a:extLst>
          </p:cNvPr>
          <p:cNvSpPr>
            <a:spLocks noGrp="1"/>
          </p:cNvSpPr>
          <p:nvPr>
            <p:ph type="title"/>
          </p:nvPr>
        </p:nvSpPr>
        <p:spPr>
          <a:xfrm>
            <a:off x="995362" y="431800"/>
            <a:ext cx="10204452" cy="539750"/>
          </a:xfrm>
        </p:spPr>
        <p:txBody>
          <a:bodyPr/>
          <a:lstStyle/>
          <a:p>
            <a:r>
              <a:rPr lang="en-US"/>
              <a:t>Financial reporting environment (2/4)</a:t>
            </a:r>
          </a:p>
        </p:txBody>
      </p:sp>
      <p:sp>
        <p:nvSpPr>
          <p:cNvPr id="5" name="Text Placeholder 7">
            <a:extLst>
              <a:ext uri="{FF2B5EF4-FFF2-40B4-BE49-F238E27FC236}">
                <a16:creationId xmlns:a16="http://schemas.microsoft.com/office/drawing/2014/main" id="{3C368FE1-9599-B9AA-8963-D14480767314}"/>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strike="noStrike" kern="1200" cap="none" spc="0" normalizeH="0" baseline="0" noProof="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Fifth level</a:t>
            </a:r>
            <a:endParaRPr kumimoji="0" lang="en-US" sz="1000" b="0" i="0" strike="noStrike" kern="1200" cap="none" spc="0" normalizeH="0" baseline="0" noProof="0">
              <a:ln>
                <a:noFill/>
              </a:ln>
              <a:solidFill>
                <a:srgbClr val="00338D"/>
              </a:solidFill>
              <a:effectLst/>
              <a:uLnTx/>
              <a:uFillTx/>
              <a:latin typeface="Arial"/>
              <a:ea typeface="+mn-ea"/>
              <a:cs typeface="+mn-cs"/>
            </a:endParaRPr>
          </a:p>
        </p:txBody>
      </p:sp>
      <p:sp>
        <p:nvSpPr>
          <p:cNvPr id="6" name="Text Placeholder 12">
            <a:extLst>
              <a:ext uri="{FF2B5EF4-FFF2-40B4-BE49-F238E27FC236}">
                <a16:creationId xmlns:a16="http://schemas.microsoft.com/office/drawing/2014/main" id="{224C6CB8-E6EF-6EC8-4F2F-AE1C531C15DA}"/>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item</a:t>
            </a:r>
          </a:p>
        </p:txBody>
      </p:sp>
      <p:sp>
        <p:nvSpPr>
          <p:cNvPr id="7" name="Rounded Rectangle 7">
            <a:extLst>
              <a:ext uri="{FF2B5EF4-FFF2-40B4-BE49-F238E27FC236}">
                <a16:creationId xmlns:a16="http://schemas.microsoft.com/office/drawing/2014/main" id="{BBD04E72-8A54-9F6D-8F6E-D7884466CC01}"/>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Rectangle 7">
            <a:extLst>
              <a:ext uri="{FF2B5EF4-FFF2-40B4-BE49-F238E27FC236}">
                <a16:creationId xmlns:a16="http://schemas.microsoft.com/office/drawing/2014/main" id="{87A06A3C-B9E3-CD6F-12BA-3F2E85154156}"/>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cxnSp>
        <p:nvCxnSpPr>
          <p:cNvPr id="9" name="Straight Arrow Connector 8">
            <a:extLst>
              <a:ext uri="{FF2B5EF4-FFF2-40B4-BE49-F238E27FC236}">
                <a16:creationId xmlns:a16="http://schemas.microsoft.com/office/drawing/2014/main" id="{6C70F76C-D243-18A1-6BA2-220649E747A9}"/>
              </a:ext>
            </a:extLst>
          </p:cNvPr>
          <p:cNvCxnSpPr>
            <a:cxnSpLocks/>
            <a:stCxn id="8" idx="2"/>
            <a:endCxn id="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sp>
        <p:nvSpPr>
          <p:cNvPr id="10" name="Rectangle 9">
            <a:extLst>
              <a:ext uri="{FF2B5EF4-FFF2-40B4-BE49-F238E27FC236}">
                <a16:creationId xmlns:a16="http://schemas.microsoft.com/office/drawing/2014/main" id="{99334AAA-32C3-C35E-5822-5F9C4DAA8BC4}"/>
              </a:ext>
            </a:extLst>
          </p:cNvPr>
          <p:cNvSpPr>
            <a:spLocks/>
          </p:cNvSpPr>
          <p:nvPr/>
        </p:nvSpPr>
        <p:spPr>
          <a:xfrm>
            <a:off x="995362" y="1348433"/>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strike="noStrike" kern="0" cap="none" spc="0" normalizeH="0" baseline="0" noProof="0">
                <a:ln>
                  <a:noFill/>
                </a:ln>
                <a:solidFill>
                  <a:srgbClr val="FFFFFF"/>
                </a:solidFill>
                <a:effectLst/>
                <a:uLnTx/>
                <a:uFillTx/>
                <a:latin typeface="Arial"/>
                <a:ea typeface="+mn-ea"/>
                <a:cs typeface="+mn-cs"/>
              </a:rPr>
              <a:t>Accounts receivable</a:t>
            </a:r>
          </a:p>
        </p:txBody>
      </p:sp>
      <p:sp>
        <p:nvSpPr>
          <p:cNvPr id="14" name="Rectangle 13">
            <a:extLst>
              <a:ext uri="{FF2B5EF4-FFF2-40B4-BE49-F238E27FC236}">
                <a16:creationId xmlns:a16="http://schemas.microsoft.com/office/drawing/2014/main" id="{90B86207-38E2-2339-0BE7-A4EC5E0CBAB9}"/>
              </a:ext>
            </a:extLst>
          </p:cNvPr>
          <p:cNvSpPr>
            <a:spLocks/>
          </p:cNvSpPr>
          <p:nvPr/>
        </p:nvSpPr>
        <p:spPr>
          <a:xfrm>
            <a:off x="6098517" y="1341412"/>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strike="noStrike" kern="0" cap="none" spc="0" normalizeH="0" baseline="0" noProof="0">
                <a:ln>
                  <a:noFill/>
                </a:ln>
                <a:solidFill>
                  <a:srgbClr val="FFFFFF"/>
                </a:solidFill>
                <a:effectLst/>
                <a:uLnTx/>
                <a:uFillTx/>
                <a:latin typeface="Arial"/>
                <a:ea typeface="+mn-ea"/>
                <a:cs typeface="+mn-cs"/>
              </a:rPr>
              <a:t>Accounts payable</a:t>
            </a:r>
          </a:p>
        </p:txBody>
      </p:sp>
      <p:sp>
        <p:nvSpPr>
          <p:cNvPr id="11" name="Text Placeholder 1">
            <a:extLst>
              <a:ext uri="{FF2B5EF4-FFF2-40B4-BE49-F238E27FC236}">
                <a16:creationId xmlns:a16="http://schemas.microsoft.com/office/drawing/2014/main" id="{BCCC9138-ED4D-FC8D-A80E-678BFA489497}"/>
              </a:ext>
            </a:extLst>
          </p:cNvPr>
          <p:cNvSpPr txBox="1">
            <a:spLocks/>
          </p:cNvSpPr>
          <p:nvPr/>
        </p:nvSpPr>
        <p:spPr>
          <a:xfrm>
            <a:off x="995362" y="971550"/>
            <a:ext cx="10192299" cy="460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strike="noStrike" kern="1200" cap="none" spc="0" normalizeH="0" baseline="0" noProof="0">
                <a:ln>
                  <a:noFill/>
                </a:ln>
                <a:solidFill>
                  <a:srgbClr val="510DBC"/>
                </a:solidFill>
                <a:effectLst/>
                <a:uLnTx/>
                <a:uFillTx/>
                <a:latin typeface="Arial"/>
                <a:ea typeface="+mn-ea"/>
                <a:cs typeface="+mn-cs"/>
              </a:rPr>
              <a:t>The information on this page is based on management information and management discussions.  We have not performed any testing of systems or controls and have not performed an audit or review of the information.</a:t>
            </a:r>
          </a:p>
        </p:txBody>
      </p:sp>
      <p:sp>
        <p:nvSpPr>
          <p:cNvPr id="65" name="UpSlide SubSection Marker" hidden="1">
            <a:extLst>
              <a:ext uri="{FF2B5EF4-FFF2-40B4-BE49-F238E27FC236}">
                <a16:creationId xmlns:a16="http://schemas.microsoft.com/office/drawing/2014/main" id="{4C2DE779-5696-F567-FBAF-AAB0F2CC953F}"/>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Financial reporting environment</a:t>
            </a:r>
          </a:p>
        </p:txBody>
      </p:sp>
      <p:sp>
        <p:nvSpPr>
          <p:cNvPr id="4" name="Text Placeholder 12">
            <a:extLst>
              <a:ext uri="{FF2B5EF4-FFF2-40B4-BE49-F238E27FC236}">
                <a16:creationId xmlns:a16="http://schemas.microsoft.com/office/drawing/2014/main" id="{9BD12D89-51F0-BAA8-6D9C-3632345B3516}"/>
              </a:ext>
            </a:extLst>
          </p:cNvPr>
          <p:cNvSpPr txBox="1">
            <a:spLocks/>
          </p:cNvSpPr>
          <p:nvPr/>
        </p:nvSpPr>
        <p:spPr>
          <a:xfrm>
            <a:off x="1002561" y="1593940"/>
            <a:ext cx="4968001" cy="1647938"/>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Credit terms vary based on the size of customer, type of revenue, and geographic location but are generally at 30 days. A small number of key customers have payment terms that differ from the standard net 30 days.</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As at June 30, 2024, $285,000 of outstanding balance is greater than 90 days, primarily relating to Interac Corp. As of June 30, 2024, there have been no bad debt write-offs for the period under review or significant changes in customer creditworthiness. </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Company generates a majority of revenue from long-term contracts (e.g. MSA which governs pricing for credit unions across Canada) and/or financial institutions. The Company has not experienced any bad debts with these customers in the historical period as they are considered creditworthy. </a:t>
            </a:r>
          </a:p>
        </p:txBody>
      </p:sp>
      <p:pic>
        <p:nvPicPr>
          <p:cNvPr id="19" name="Picture 18">
            <a:extLst>
              <a:ext uri="{FF2B5EF4-FFF2-40B4-BE49-F238E27FC236}">
                <a16:creationId xmlns:a16="http://schemas.microsoft.com/office/drawing/2014/main" id="{FC1AC712-5FD9-4951-5D32-EB5FA2E35CC2}"/>
              </a:ext>
            </a:extLst>
          </p:cNvPr>
          <p:cNvPicPr>
            <a:picLocks noChangeAspect="1"/>
          </p:cNvPicPr>
          <p:nvPr>
            <p:custDataLst>
              <p:tags r:id="rId3"/>
            </p:custDataLst>
          </p:nvPr>
        </p:nvPicPr>
        <p:blipFill>
          <a:blip r:embed="rId10"/>
          <a:stretch>
            <a:fillRect/>
          </a:stretch>
        </p:blipFill>
        <p:spPr>
          <a:xfrm>
            <a:off x="1235061" y="3241878"/>
            <a:ext cx="4575048" cy="1282132"/>
          </a:xfrm>
          <a:prstGeom prst="rect">
            <a:avLst/>
          </a:prstGeom>
        </p:spPr>
      </p:pic>
      <p:pic>
        <p:nvPicPr>
          <p:cNvPr id="21" name="Picture 20">
            <a:extLst>
              <a:ext uri="{FF2B5EF4-FFF2-40B4-BE49-F238E27FC236}">
                <a16:creationId xmlns:a16="http://schemas.microsoft.com/office/drawing/2014/main" id="{18FAD711-D5EC-E522-3DF5-E826FFE4B3BA}"/>
              </a:ext>
            </a:extLst>
          </p:cNvPr>
          <p:cNvPicPr>
            <a:picLocks noChangeAspect="1"/>
          </p:cNvPicPr>
          <p:nvPr>
            <p:custDataLst>
              <p:tags r:id="rId4"/>
            </p:custDataLst>
          </p:nvPr>
        </p:nvPicPr>
        <p:blipFill>
          <a:blip r:embed="rId11"/>
          <a:stretch>
            <a:fillRect/>
          </a:stretch>
        </p:blipFill>
        <p:spPr>
          <a:xfrm>
            <a:off x="6305660" y="3236428"/>
            <a:ext cx="4585625" cy="1282132"/>
          </a:xfrm>
          <a:prstGeom prst="rect">
            <a:avLst/>
          </a:prstGeom>
        </p:spPr>
      </p:pic>
      <p:sp>
        <p:nvSpPr>
          <p:cNvPr id="24" name="Text Placeholder 12">
            <a:extLst>
              <a:ext uri="{FF2B5EF4-FFF2-40B4-BE49-F238E27FC236}">
                <a16:creationId xmlns:a16="http://schemas.microsoft.com/office/drawing/2014/main" id="{BD4763C8-289B-328F-8B9C-2CA79B5B6C39}"/>
              </a:ext>
            </a:extLst>
          </p:cNvPr>
          <p:cNvSpPr txBox="1">
            <a:spLocks/>
          </p:cNvSpPr>
          <p:nvPr/>
        </p:nvSpPr>
        <p:spPr>
          <a:xfrm>
            <a:off x="6091511" y="1603720"/>
            <a:ext cx="4968001" cy="1863381"/>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Company typically adheres to a net 30-day payment term for vendors, with the exception of contract staffing vendors who are usually paid within a net 15-day period.</a:t>
            </a:r>
          </a:p>
          <a:p>
            <a:pPr marL="171450" lvl="1" indent="-171450">
              <a:buClr>
                <a:schemeClr val="bg1">
                  <a:lumMod val="50000"/>
                </a:schemeClr>
              </a:buClr>
              <a:buFont typeface="Arial" panose="020B0604020202020204" pitchFamily="34" charset="0"/>
              <a:buChar char="•"/>
              <a:defRPr/>
            </a:pPr>
            <a:r>
              <a:rPr lang="en-US" sz="900">
                <a:solidFill>
                  <a:schemeClr val="tx1"/>
                </a:solidFill>
              </a:rPr>
              <a:t>Accounts payable balances predominantly relate to card manufacturing and personalization, and resale ATM managed services. Given the nature of this business, pass through expenses are prevalent across various business lines. Consequently, DPO tends to align closely with DSO trends, as the Company typically settles pass through expenses only after receiving the corresponding pass through revenue.</a:t>
            </a:r>
          </a:p>
          <a:p>
            <a:pPr marL="171450" lvl="1" indent="-171450">
              <a:buClr>
                <a:schemeClr val="bg1">
                  <a:lumMod val="50000"/>
                </a:schemeClr>
              </a:buClr>
              <a:buFont typeface="Arial" panose="020B0604020202020204" pitchFamily="34" charset="0"/>
              <a:buChar char="•"/>
              <a:defRPr/>
            </a:pPr>
            <a:r>
              <a:rPr lang="en-US" sz="900">
                <a:solidFill>
                  <a:schemeClr val="tx1"/>
                </a:solidFill>
              </a:rPr>
              <a:t>As at June 30, 2024, $626,000 outstanding balance greater than 90 days relate primarily due to delayed invoicing from an ATM service provider with ongoing internal billing issues. Management confirms the outstanding balance was settled by the Company in August 2024.</a:t>
            </a:r>
            <a:endParaRPr lang="en-US" sz="900" b="1">
              <a:solidFill>
                <a:srgbClr val="FF0000"/>
              </a:solidFill>
            </a:endParaRPr>
          </a:p>
          <a:p>
            <a:pPr lvl="1">
              <a:buClr>
                <a:schemeClr val="bg1">
                  <a:lumMod val="50000"/>
                </a:schemeClr>
              </a:buClr>
              <a:defRPr/>
            </a:pPr>
            <a:r>
              <a:rPr lang="en-US" sz="900">
                <a:solidFill>
                  <a:srgbClr val="000000"/>
                </a:solidFill>
                <a:latin typeface="Arial"/>
              </a:rPr>
              <a:t> </a:t>
            </a:r>
          </a:p>
        </p:txBody>
      </p:sp>
      <p:sp>
        <p:nvSpPr>
          <p:cNvPr id="25" name="Rectangle: Rounded Corners 24">
            <a:extLst>
              <a:ext uri="{FF2B5EF4-FFF2-40B4-BE49-F238E27FC236}">
                <a16:creationId xmlns:a16="http://schemas.microsoft.com/office/drawing/2014/main" id="{9C59775F-0B4D-AC9D-8B50-6AEE2D4014B6}"/>
              </a:ext>
            </a:extLst>
          </p:cNvPr>
          <p:cNvSpPr/>
          <p:nvPr/>
        </p:nvSpPr>
        <p:spPr>
          <a:xfrm flipV="1">
            <a:off x="1235062" y="4086494"/>
            <a:ext cx="4505338" cy="135926"/>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pic>
        <p:nvPicPr>
          <p:cNvPr id="23" name="Picture 22">
            <a:extLst>
              <a:ext uri="{FF2B5EF4-FFF2-40B4-BE49-F238E27FC236}">
                <a16:creationId xmlns:a16="http://schemas.microsoft.com/office/drawing/2014/main" id="{12CD16BB-5AD3-9BF8-141D-E843073A9EBE}"/>
              </a:ext>
            </a:extLst>
          </p:cNvPr>
          <p:cNvPicPr>
            <a:picLocks noChangeAspect="1"/>
          </p:cNvPicPr>
          <p:nvPr>
            <p:custDataLst>
              <p:tags r:id="rId5"/>
            </p:custDataLst>
          </p:nvPr>
        </p:nvPicPr>
        <p:blipFill>
          <a:blip r:embed="rId12"/>
          <a:stretch>
            <a:fillRect/>
          </a:stretch>
        </p:blipFill>
        <p:spPr>
          <a:xfrm>
            <a:off x="3038322" y="4530212"/>
            <a:ext cx="2813050" cy="1768038"/>
          </a:xfrm>
          <a:prstGeom prst="rect">
            <a:avLst/>
          </a:prstGeom>
        </p:spPr>
      </p:pic>
      <p:pic>
        <p:nvPicPr>
          <p:cNvPr id="28" name="Picture 27">
            <a:extLst>
              <a:ext uri="{FF2B5EF4-FFF2-40B4-BE49-F238E27FC236}">
                <a16:creationId xmlns:a16="http://schemas.microsoft.com/office/drawing/2014/main" id="{A8B065F7-B2CB-39F4-92D5-8FB743AF0735}"/>
              </a:ext>
            </a:extLst>
          </p:cNvPr>
          <p:cNvPicPr>
            <a:picLocks noChangeAspect="1"/>
          </p:cNvPicPr>
          <p:nvPr>
            <p:custDataLst>
              <p:tags r:id="rId6"/>
            </p:custDataLst>
          </p:nvPr>
        </p:nvPicPr>
        <p:blipFill>
          <a:blip r:embed="rId13"/>
          <a:stretch>
            <a:fillRect/>
          </a:stretch>
        </p:blipFill>
        <p:spPr>
          <a:xfrm>
            <a:off x="8111160" y="4524011"/>
            <a:ext cx="2858194" cy="1768037"/>
          </a:xfrm>
          <a:prstGeom prst="rect">
            <a:avLst/>
          </a:prstGeom>
        </p:spPr>
      </p:pic>
      <p:cxnSp>
        <p:nvCxnSpPr>
          <p:cNvPr id="29" name="Connector: Elbow 28">
            <a:extLst>
              <a:ext uri="{FF2B5EF4-FFF2-40B4-BE49-F238E27FC236}">
                <a16:creationId xmlns:a16="http://schemas.microsoft.com/office/drawing/2014/main" id="{8976BB3F-C619-BA60-65CF-B244006C5A3A}"/>
              </a:ext>
            </a:extLst>
          </p:cNvPr>
          <p:cNvCxnSpPr>
            <a:cxnSpLocks/>
            <a:stCxn id="25" idx="1"/>
            <a:endCxn id="30" idx="1"/>
          </p:cNvCxnSpPr>
          <p:nvPr/>
        </p:nvCxnSpPr>
        <p:spPr>
          <a:xfrm rot="10800000" flipV="1">
            <a:off x="1235062" y="4154457"/>
            <a:ext cx="12700" cy="1152334"/>
          </a:xfrm>
          <a:prstGeom prst="bentConnector3">
            <a:avLst>
              <a:gd name="adj1" fmla="val 1800000"/>
            </a:avLst>
          </a:prstGeom>
          <a:ln>
            <a:tailEnd type="triangle"/>
          </a:ln>
        </p:spPr>
        <p:style>
          <a:lnRef idx="1">
            <a:schemeClr val="accent6"/>
          </a:lnRef>
          <a:fillRef idx="0">
            <a:schemeClr val="accent6"/>
          </a:fillRef>
          <a:effectRef idx="0">
            <a:schemeClr val="accent6"/>
          </a:effectRef>
          <a:fontRef idx="minor">
            <a:schemeClr val="tx1"/>
          </a:fontRef>
        </p:style>
      </p:cxnSp>
      <p:sp>
        <p:nvSpPr>
          <p:cNvPr id="30" name="Rectangle 29">
            <a:extLst>
              <a:ext uri="{FF2B5EF4-FFF2-40B4-BE49-F238E27FC236}">
                <a16:creationId xmlns:a16="http://schemas.microsoft.com/office/drawing/2014/main" id="{1D1FD2FC-83D2-04D3-B1E4-1B9EA1F479CA}"/>
              </a:ext>
            </a:extLst>
          </p:cNvPr>
          <p:cNvSpPr/>
          <p:nvPr/>
        </p:nvSpPr>
        <p:spPr>
          <a:xfrm>
            <a:off x="1235062" y="4606817"/>
            <a:ext cx="1818200" cy="1399948"/>
          </a:xfrm>
          <a:prstGeom prst="rect">
            <a:avLst/>
          </a:prstGeom>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r>
              <a:rPr lang="en-US" sz="900">
                <a:solidFill>
                  <a:schemeClr val="tx1"/>
                </a:solidFill>
              </a:rPr>
              <a:t>Beginning Q2-23, the Company’s reported DSO metrics increased due to delayed payments from Interac. As the pricing dispute has been resolved, accounts receivable is adjusted in NWC adjustment #13, to reduce elevated DSO metrics from September 2023 to June 2024.</a:t>
            </a:r>
          </a:p>
        </p:txBody>
      </p:sp>
      <p:grpSp>
        <p:nvGrpSpPr>
          <p:cNvPr id="34" name="Group 33">
            <a:extLst>
              <a:ext uri="{FF2B5EF4-FFF2-40B4-BE49-F238E27FC236}">
                <a16:creationId xmlns:a16="http://schemas.microsoft.com/office/drawing/2014/main" id="{2D061ECF-FF92-36C6-14AC-D7BD19990F58}"/>
              </a:ext>
            </a:extLst>
          </p:cNvPr>
          <p:cNvGrpSpPr/>
          <p:nvPr>
            <p:custDataLst>
              <p:tags r:id="rId7"/>
            </p:custDataLst>
          </p:nvPr>
        </p:nvGrpSpPr>
        <p:grpSpPr>
          <a:xfrm>
            <a:off x="995364" y="153170"/>
            <a:ext cx="5856176" cy="195814"/>
            <a:chOff x="995364" y="153170"/>
            <a:chExt cx="5856176" cy="195814"/>
          </a:xfrm>
        </p:grpSpPr>
        <p:sp>
          <p:nvSpPr>
            <p:cNvPr id="35" name="Other Sections1">
              <a:hlinkClick r:id="rId14"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6" name="Other Sections2">
              <a:hlinkClick r:id="rId15"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7" name="Other Sections3">
              <a:hlinkClick r:id="rId16"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8" name="Current Section4">
              <a:hlinkClick r:id="rId17" action="ppaction://hlinksldjump"/>
              <a:extLst>
                <a:ext uri="{FF2B5EF4-FFF2-40B4-BE49-F238E27FC236}">
                  <a16:creationId xmlns:a16="http://schemas.microsoft.com/office/drawing/2014/main" id="{89A61135-1F00-E77F-7C78-5FBA241A5742}"/>
                </a:ext>
              </a:extLst>
            </p:cNvPr>
            <p:cNvSpPr>
              <a:spLocks/>
            </p:cNvSpPr>
            <p:nvPr/>
          </p:nvSpPr>
          <p:spPr>
            <a:xfrm>
              <a:off x="3751129" y="153170"/>
              <a:ext cx="12755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Reporting environment</a:t>
              </a:r>
            </a:p>
          </p:txBody>
        </p:sp>
        <p:sp>
          <p:nvSpPr>
            <p:cNvPr id="39" name="Other Sections5">
              <a:hlinkClick r:id="rId18" action="ppaction://hlinksldjump"/>
              <a:extLst>
                <a:ext uri="{FF2B5EF4-FFF2-40B4-BE49-F238E27FC236}">
                  <a16:creationId xmlns:a16="http://schemas.microsoft.com/office/drawing/2014/main" id="{8A19844E-D291-CA81-3B22-2B52F21919DA}"/>
                </a:ext>
              </a:extLst>
            </p:cNvPr>
            <p:cNvSpPr>
              <a:spLocks/>
            </p:cNvSpPr>
            <p:nvPr/>
          </p:nvSpPr>
          <p:spPr>
            <a:xfrm>
              <a:off x="502665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40" name="Other Sections6">
              <a:hlinkClick r:id="rId19" action="ppaction://hlinksldjump"/>
              <a:extLst>
                <a:ext uri="{FF2B5EF4-FFF2-40B4-BE49-F238E27FC236}">
                  <a16:creationId xmlns:a16="http://schemas.microsoft.com/office/drawing/2014/main" id="{8A19844E-D291-CA81-3B22-2B52F21919DA}"/>
                </a:ext>
              </a:extLst>
            </p:cNvPr>
            <p:cNvSpPr>
              <a:spLocks/>
            </p:cNvSpPr>
            <p:nvPr/>
          </p:nvSpPr>
          <p:spPr>
            <a:xfrm>
              <a:off x="61627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569661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C1A3BE9-3DDB-F838-3625-48DA5621DEAF}"/>
              </a:ext>
            </a:extLst>
          </p:cNvPr>
          <p:cNvSpPr>
            <a:spLocks noGrp="1"/>
          </p:cNvSpPr>
          <p:nvPr>
            <p:ph type="title"/>
          </p:nvPr>
        </p:nvSpPr>
        <p:spPr>
          <a:xfrm>
            <a:off x="995362" y="431800"/>
            <a:ext cx="10204452" cy="539750"/>
          </a:xfrm>
        </p:spPr>
        <p:txBody>
          <a:bodyPr/>
          <a:lstStyle/>
          <a:p>
            <a:r>
              <a:rPr lang="en-US"/>
              <a:t>Financial reporting environment (3/4)</a:t>
            </a:r>
          </a:p>
        </p:txBody>
      </p:sp>
      <p:sp>
        <p:nvSpPr>
          <p:cNvPr id="5" name="Text Placeholder 7">
            <a:extLst>
              <a:ext uri="{FF2B5EF4-FFF2-40B4-BE49-F238E27FC236}">
                <a16:creationId xmlns:a16="http://schemas.microsoft.com/office/drawing/2014/main" id="{3C368FE1-9599-B9AA-8963-D14480767314}"/>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strike="noStrike" kern="1200" cap="none" spc="0" normalizeH="0" baseline="0" noProof="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Fifth level</a:t>
            </a:r>
            <a:endParaRPr kumimoji="0" lang="en-US" sz="1000" b="0" i="0" strike="noStrike" kern="1200" cap="none" spc="0" normalizeH="0" baseline="0" noProof="0">
              <a:ln>
                <a:noFill/>
              </a:ln>
              <a:solidFill>
                <a:srgbClr val="00338D"/>
              </a:solidFill>
              <a:effectLst/>
              <a:uLnTx/>
              <a:uFillTx/>
              <a:latin typeface="Arial"/>
              <a:ea typeface="+mn-ea"/>
              <a:cs typeface="+mn-cs"/>
            </a:endParaRPr>
          </a:p>
        </p:txBody>
      </p:sp>
      <p:sp>
        <p:nvSpPr>
          <p:cNvPr id="6" name="Text Placeholder 12">
            <a:extLst>
              <a:ext uri="{FF2B5EF4-FFF2-40B4-BE49-F238E27FC236}">
                <a16:creationId xmlns:a16="http://schemas.microsoft.com/office/drawing/2014/main" id="{224C6CB8-E6EF-6EC8-4F2F-AE1C531C15DA}"/>
              </a:ext>
            </a:extLst>
          </p:cNvPr>
          <p:cNvSpPr txBox="1">
            <a:spLocks/>
          </p:cNvSpPr>
          <p:nvPr/>
        </p:nvSpPr>
        <p:spPr>
          <a:xfrm>
            <a:off x="12275298" y="317492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item</a:t>
            </a:r>
          </a:p>
        </p:txBody>
      </p:sp>
      <p:sp>
        <p:nvSpPr>
          <p:cNvPr id="7" name="Rounded Rectangle 7">
            <a:extLst>
              <a:ext uri="{FF2B5EF4-FFF2-40B4-BE49-F238E27FC236}">
                <a16:creationId xmlns:a16="http://schemas.microsoft.com/office/drawing/2014/main" id="{BBD04E72-8A54-9F6D-8F6E-D7884466CC01}"/>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Rectangle 7">
            <a:extLst>
              <a:ext uri="{FF2B5EF4-FFF2-40B4-BE49-F238E27FC236}">
                <a16:creationId xmlns:a16="http://schemas.microsoft.com/office/drawing/2014/main" id="{87A06A3C-B9E3-CD6F-12BA-3F2E85154156}"/>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cxnSp>
        <p:nvCxnSpPr>
          <p:cNvPr id="9" name="Straight Arrow Connector 8">
            <a:extLst>
              <a:ext uri="{FF2B5EF4-FFF2-40B4-BE49-F238E27FC236}">
                <a16:creationId xmlns:a16="http://schemas.microsoft.com/office/drawing/2014/main" id="{6C70F76C-D243-18A1-6BA2-220649E747A9}"/>
              </a:ext>
            </a:extLst>
          </p:cNvPr>
          <p:cNvCxnSpPr>
            <a:cxnSpLocks/>
            <a:stCxn id="8" idx="2"/>
            <a:endCxn id="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sp>
        <p:nvSpPr>
          <p:cNvPr id="21" name="Rectangle 20">
            <a:extLst>
              <a:ext uri="{FF2B5EF4-FFF2-40B4-BE49-F238E27FC236}">
                <a16:creationId xmlns:a16="http://schemas.microsoft.com/office/drawing/2014/main" id="{7360D3E9-6E23-B980-FCBC-991F2C0707AB}"/>
              </a:ext>
            </a:extLst>
          </p:cNvPr>
          <p:cNvSpPr>
            <a:spLocks/>
          </p:cNvSpPr>
          <p:nvPr/>
        </p:nvSpPr>
        <p:spPr>
          <a:xfrm>
            <a:off x="995362" y="1348433"/>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strike="noStrike" kern="0" cap="none" spc="0" normalizeH="0" baseline="0" noProof="0">
                <a:ln>
                  <a:noFill/>
                </a:ln>
                <a:solidFill>
                  <a:srgbClr val="FFFFFF"/>
                </a:solidFill>
                <a:effectLst/>
                <a:uLnTx/>
                <a:uFillTx/>
                <a:latin typeface="Arial"/>
                <a:ea typeface="+mn-ea"/>
                <a:cs typeface="+mn-cs"/>
              </a:rPr>
              <a:t>Lease arrangements</a:t>
            </a:r>
          </a:p>
        </p:txBody>
      </p:sp>
      <p:sp>
        <p:nvSpPr>
          <p:cNvPr id="23" name="Text Placeholder 12">
            <a:extLst>
              <a:ext uri="{FF2B5EF4-FFF2-40B4-BE49-F238E27FC236}">
                <a16:creationId xmlns:a16="http://schemas.microsoft.com/office/drawing/2014/main" id="{3E76BD15-B81D-6986-7579-42547197044C}"/>
              </a:ext>
            </a:extLst>
          </p:cNvPr>
          <p:cNvSpPr txBox="1">
            <a:spLocks/>
          </p:cNvSpPr>
          <p:nvPr/>
        </p:nvSpPr>
        <p:spPr>
          <a:xfrm>
            <a:off x="1002561" y="1593940"/>
            <a:ext cx="4968001" cy="2140380"/>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Company’s leases primarily consist of leases for office premises and for HP computer hardware and software with terms ranging from 1 to 5 years. The head office located in Markham, Ontario is under a ten-year lease agreement which began on August 1, 2016. The master lease and financing agreement with HP Financial Services Canada encompasses computer hardware and software licenses for 60-months, maintenance for 60 months and installation services, totaling $3.5 million. </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Both leases are recorded under IFRS 16, Leases, with recognition of right-of-use (ROU) assets and lease liabilities at the lease commencement date. ROU assets are measured at cost while lease liability is measured at the present value of future lease payments at an implicit interest rate. ROU assets are depreciated on a straight-line basis over the term of the lease or the estimated useful life of the ROU asset. </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Variable operating costs relating to the leases are recorded in operating expenses. </a:t>
            </a:r>
          </a:p>
          <a:p>
            <a:pPr marL="171450" lvl="1" indent="-171450">
              <a:buFont typeface="Arial" panose="020B0604020202020204" pitchFamily="34" charset="0"/>
              <a:buChar char="•"/>
              <a:defRPr/>
            </a:pPr>
            <a:endParaRPr lang="en-US" sz="900">
              <a:solidFill>
                <a:srgbClr val="000000"/>
              </a:solidFill>
              <a:latin typeface="Arial"/>
            </a:endParaRPr>
          </a:p>
        </p:txBody>
      </p:sp>
      <p:sp>
        <p:nvSpPr>
          <p:cNvPr id="14" name="Rectangle 13">
            <a:extLst>
              <a:ext uri="{FF2B5EF4-FFF2-40B4-BE49-F238E27FC236}">
                <a16:creationId xmlns:a16="http://schemas.microsoft.com/office/drawing/2014/main" id="{90B86207-38E2-2339-0BE7-A4EC5E0CBAB9}"/>
              </a:ext>
            </a:extLst>
          </p:cNvPr>
          <p:cNvSpPr>
            <a:spLocks/>
          </p:cNvSpPr>
          <p:nvPr/>
        </p:nvSpPr>
        <p:spPr>
          <a:xfrm>
            <a:off x="6098517" y="1341412"/>
            <a:ext cx="4975200" cy="245507"/>
          </a:xfrm>
          <a:prstGeom prst="rect">
            <a:avLst/>
          </a:prstGeom>
          <a:solidFill>
            <a:srgbClr val="00338D"/>
          </a:solidFill>
          <a:ln w="12700" cap="flat" cmpd="sng" algn="ctr">
            <a:noFill/>
            <a:prstDash val="solid"/>
            <a:miter lim="800000"/>
          </a:ln>
          <a:effectLst/>
        </p:spPr>
        <p:txBody>
          <a:bodyPr lIns="72000" tIns="72000" rIns="72000" bIns="72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00" b="1" i="0" strike="noStrike" kern="0" cap="none" spc="0" normalizeH="0" baseline="0" noProof="0">
                <a:ln>
                  <a:noFill/>
                </a:ln>
                <a:solidFill>
                  <a:srgbClr val="FFFFFF"/>
                </a:solidFill>
                <a:effectLst/>
                <a:uLnTx/>
                <a:uFillTx/>
                <a:latin typeface="Arial"/>
                <a:ea typeface="+mn-ea"/>
                <a:cs typeface="+mn-cs"/>
              </a:rPr>
              <a:t>Related-party transactions</a:t>
            </a:r>
          </a:p>
        </p:txBody>
      </p:sp>
      <p:sp>
        <p:nvSpPr>
          <p:cNvPr id="11" name="Text Placeholder 1">
            <a:extLst>
              <a:ext uri="{FF2B5EF4-FFF2-40B4-BE49-F238E27FC236}">
                <a16:creationId xmlns:a16="http://schemas.microsoft.com/office/drawing/2014/main" id="{BCCC9138-ED4D-FC8D-A80E-678BFA489497}"/>
              </a:ext>
            </a:extLst>
          </p:cNvPr>
          <p:cNvSpPr txBox="1">
            <a:spLocks/>
          </p:cNvSpPr>
          <p:nvPr/>
        </p:nvSpPr>
        <p:spPr>
          <a:xfrm>
            <a:off x="995362" y="971550"/>
            <a:ext cx="10192299" cy="460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strike="noStrike" kern="1200" cap="none" spc="0" normalizeH="0" baseline="0" noProof="0">
                <a:ln>
                  <a:noFill/>
                </a:ln>
                <a:solidFill>
                  <a:srgbClr val="510DBC"/>
                </a:solidFill>
                <a:effectLst/>
                <a:uLnTx/>
                <a:uFillTx/>
                <a:latin typeface="Arial"/>
                <a:ea typeface="+mn-ea"/>
                <a:cs typeface="+mn-cs"/>
              </a:rPr>
              <a:t>The information on this page is based on management information and management discussions.  We have not performed any testing of systems or controls and have not performed an audit or review of the information.</a:t>
            </a:r>
          </a:p>
        </p:txBody>
      </p:sp>
      <p:sp>
        <p:nvSpPr>
          <p:cNvPr id="65" name="UpSlide SubSection Marker" hidden="1">
            <a:extLst>
              <a:ext uri="{FF2B5EF4-FFF2-40B4-BE49-F238E27FC236}">
                <a16:creationId xmlns:a16="http://schemas.microsoft.com/office/drawing/2014/main" id="{4C2DE779-5696-F567-FBAF-AAB0F2CC953F}"/>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Financial reporting environment</a:t>
            </a:r>
          </a:p>
        </p:txBody>
      </p:sp>
      <p:sp>
        <p:nvSpPr>
          <p:cNvPr id="2" name="Text Placeholder 12">
            <a:extLst>
              <a:ext uri="{FF2B5EF4-FFF2-40B4-BE49-F238E27FC236}">
                <a16:creationId xmlns:a16="http://schemas.microsoft.com/office/drawing/2014/main" id="{040C65F5-C580-3959-EC6E-4CA7EB211823}"/>
              </a:ext>
            </a:extLst>
          </p:cNvPr>
          <p:cNvSpPr txBox="1">
            <a:spLocks/>
          </p:cNvSpPr>
          <p:nvPr/>
        </p:nvSpPr>
        <p:spPr>
          <a:xfrm>
            <a:off x="6079986" y="1593939"/>
            <a:ext cx="4968001" cy="1863381"/>
          </a:xfrm>
          <a:prstGeom prst="rect">
            <a:avLst/>
          </a:prstGeom>
        </p:spPr>
        <p:txBody>
          <a:bodyPr wrap="square" lIns="72000" tIns="72000" rIns="36000" bIns="3600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lvl="1" indent="-171450">
              <a:buClr>
                <a:schemeClr val="bg1">
                  <a:lumMod val="50000"/>
                </a:schemeClr>
              </a:buClr>
              <a:buFont typeface="Arial" panose="020B0604020202020204" pitchFamily="34" charset="0"/>
              <a:buChar char="•"/>
              <a:defRPr/>
            </a:pPr>
            <a:r>
              <a:rPr lang="en-US" sz="900" err="1">
                <a:solidFill>
                  <a:srgbClr val="000000"/>
                </a:solidFill>
                <a:latin typeface="Arial"/>
              </a:rPr>
              <a:t>Velera</a:t>
            </a:r>
            <a:r>
              <a:rPr lang="en-US" sz="900">
                <a:solidFill>
                  <a:srgbClr val="000000"/>
                </a:solidFill>
                <a:latin typeface="Arial"/>
              </a:rPr>
              <a:t> holds a 51% controlling interest in the Company while </a:t>
            </a:r>
            <a:r>
              <a:rPr lang="en-US" sz="900" err="1">
                <a:solidFill>
                  <a:srgbClr val="000000"/>
                </a:solidFill>
                <a:latin typeface="Arial"/>
              </a:rPr>
              <a:t>Celero</a:t>
            </a:r>
            <a:r>
              <a:rPr lang="en-US" sz="900">
                <a:solidFill>
                  <a:srgbClr val="000000"/>
                </a:solidFill>
                <a:latin typeface="Arial"/>
              </a:rPr>
              <a:t> holds a 49% significant influence position.</a:t>
            </a:r>
          </a:p>
          <a:p>
            <a:pPr marL="171450" lvl="1" indent="-171450">
              <a:buClr>
                <a:schemeClr val="bg1">
                  <a:lumMod val="50000"/>
                </a:schemeClr>
              </a:buClr>
              <a:buFont typeface="Arial" panose="020B0604020202020204" pitchFamily="34" charset="0"/>
              <a:buChar char="•"/>
              <a:defRPr/>
            </a:pPr>
            <a:r>
              <a:rPr lang="en-US" sz="900" i="1" err="1">
                <a:solidFill>
                  <a:srgbClr val="000000"/>
                </a:solidFill>
                <a:latin typeface="Arial"/>
              </a:rPr>
              <a:t>Celero</a:t>
            </a:r>
            <a:r>
              <a:rPr lang="en-US" sz="900" i="1">
                <a:solidFill>
                  <a:srgbClr val="000000"/>
                </a:solidFill>
                <a:latin typeface="Arial"/>
              </a:rPr>
              <a:t>: </a:t>
            </a:r>
            <a:r>
              <a:rPr lang="en-US" sz="900">
                <a:solidFill>
                  <a:srgbClr val="000000"/>
                </a:solidFill>
                <a:latin typeface="Arial"/>
              </a:rPr>
              <a:t>The Company was dependent on </a:t>
            </a:r>
            <a:r>
              <a:rPr lang="en-US" sz="900" err="1">
                <a:solidFill>
                  <a:srgbClr val="000000"/>
                </a:solidFill>
                <a:latin typeface="Arial"/>
              </a:rPr>
              <a:t>Celero</a:t>
            </a:r>
            <a:r>
              <a:rPr lang="en-US" sz="900">
                <a:solidFill>
                  <a:srgbClr val="000000"/>
                </a:solidFill>
                <a:latin typeface="Arial"/>
              </a:rPr>
              <a:t> for significant services required to operate the business (e.g. Data center facility lease prior to June 1, 2024). Refer to </a:t>
            </a:r>
            <a:r>
              <a:rPr lang="en-US" sz="900" err="1">
                <a:solidFill>
                  <a:srgbClr val="000000"/>
                </a:solidFill>
                <a:latin typeface="Arial"/>
              </a:rPr>
              <a:t>QofE</a:t>
            </a:r>
            <a:r>
              <a:rPr lang="en-US" sz="900">
                <a:solidFill>
                  <a:srgbClr val="000000"/>
                </a:solidFill>
                <a:latin typeface="Arial"/>
              </a:rPr>
              <a:t> adjustments #8 and #16 for additional details). </a:t>
            </a:r>
          </a:p>
          <a:p>
            <a:pPr marL="171450" lvl="1" indent="-171450">
              <a:buClr>
                <a:schemeClr val="bg1">
                  <a:lumMod val="50000"/>
                </a:schemeClr>
              </a:buClr>
              <a:buFont typeface="Arial" panose="020B0604020202020204" pitchFamily="34" charset="0"/>
              <a:buChar char="•"/>
              <a:defRPr/>
            </a:pPr>
            <a:r>
              <a:rPr lang="en-US" sz="900" i="1">
                <a:solidFill>
                  <a:srgbClr val="000000"/>
                </a:solidFill>
                <a:latin typeface="Arial"/>
              </a:rPr>
              <a:t>CUCA/CUCM/CUCS: </a:t>
            </a:r>
            <a:r>
              <a:rPr lang="en-US" sz="900">
                <a:solidFill>
                  <a:srgbClr val="000000"/>
                </a:solidFill>
                <a:latin typeface="Arial"/>
              </a:rPr>
              <a:t>The three credit unions, each holding a 33.3% stake in </a:t>
            </a:r>
            <a:r>
              <a:rPr lang="en-US" sz="900" err="1">
                <a:solidFill>
                  <a:srgbClr val="000000"/>
                </a:solidFill>
                <a:latin typeface="Arial"/>
              </a:rPr>
              <a:t>Celero</a:t>
            </a:r>
            <a:r>
              <a:rPr lang="en-US" sz="900">
                <a:solidFill>
                  <a:srgbClr val="000000"/>
                </a:solidFill>
                <a:latin typeface="Arial"/>
              </a:rPr>
              <a:t>, should be collectively considered with </a:t>
            </a:r>
            <a:r>
              <a:rPr lang="en-US" sz="900" err="1">
                <a:solidFill>
                  <a:srgbClr val="000000"/>
                </a:solidFill>
                <a:latin typeface="Arial"/>
              </a:rPr>
              <a:t>Celero</a:t>
            </a:r>
            <a:r>
              <a:rPr lang="en-US" sz="900">
                <a:solidFill>
                  <a:srgbClr val="000000"/>
                </a:solidFill>
                <a:latin typeface="Arial"/>
              </a:rPr>
              <a:t> for invoicing purposes, as any billing from these credit unions is related to </a:t>
            </a:r>
            <a:r>
              <a:rPr lang="en-US" sz="900" err="1">
                <a:solidFill>
                  <a:srgbClr val="000000"/>
                </a:solidFill>
                <a:latin typeface="Arial"/>
              </a:rPr>
              <a:t>Celero</a:t>
            </a:r>
            <a:r>
              <a:rPr lang="en-US" sz="900">
                <a:solidFill>
                  <a:srgbClr val="000000"/>
                </a:solidFill>
                <a:latin typeface="Arial"/>
              </a:rPr>
              <a:t>.</a:t>
            </a:r>
            <a:r>
              <a:rPr lang="en-US" sz="900" i="1">
                <a:solidFill>
                  <a:srgbClr val="000000"/>
                </a:solidFill>
                <a:latin typeface="Arial"/>
              </a:rPr>
              <a:t> </a:t>
            </a:r>
            <a:r>
              <a:rPr lang="en-US" sz="900">
                <a:solidFill>
                  <a:srgbClr val="000000"/>
                </a:solidFill>
                <a:latin typeface="Arial"/>
              </a:rPr>
              <a:t>$11.97 million and $31,000 in cash/cash equivalents and items in transit respectively are held at CUCA as at December 31, 2023. </a:t>
            </a:r>
          </a:p>
          <a:p>
            <a:pPr marL="171450" lvl="1" indent="-171450">
              <a:buClr>
                <a:schemeClr val="bg1">
                  <a:lumMod val="50000"/>
                </a:schemeClr>
              </a:buClr>
              <a:buFont typeface="Arial" panose="020B0604020202020204" pitchFamily="34" charset="0"/>
              <a:buChar char="•"/>
              <a:defRPr/>
            </a:pPr>
            <a:r>
              <a:rPr lang="en-US" sz="900">
                <a:solidFill>
                  <a:srgbClr val="000000"/>
                </a:solidFill>
                <a:latin typeface="Arial"/>
              </a:rPr>
              <a:t>The Company has a $2.9 million line of credit with CUCA but no amounts are drawn as at the date of the report.</a:t>
            </a:r>
          </a:p>
        </p:txBody>
      </p:sp>
      <p:sp>
        <p:nvSpPr>
          <p:cNvPr id="37" name="Text Placeholder 12">
            <a:extLst>
              <a:ext uri="{FF2B5EF4-FFF2-40B4-BE49-F238E27FC236}">
                <a16:creationId xmlns:a16="http://schemas.microsoft.com/office/drawing/2014/main" id="{CA02603C-1011-BBE7-CE4F-1BCC661C0B9A}"/>
              </a:ext>
            </a:extLst>
          </p:cNvPr>
          <p:cNvSpPr txBox="1">
            <a:spLocks/>
          </p:cNvSpPr>
          <p:nvPr/>
        </p:nvSpPr>
        <p:spPr>
          <a:xfrm>
            <a:off x="6310499" y="4900146"/>
            <a:ext cx="5383769"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Audited financial statements</a:t>
            </a:r>
          </a:p>
        </p:txBody>
      </p:sp>
      <p:pic>
        <p:nvPicPr>
          <p:cNvPr id="10" name="Picture 9">
            <a:extLst>
              <a:ext uri="{FF2B5EF4-FFF2-40B4-BE49-F238E27FC236}">
                <a16:creationId xmlns:a16="http://schemas.microsoft.com/office/drawing/2014/main" id="{654F8992-CD02-0F48-52B7-E1204493B861}"/>
              </a:ext>
            </a:extLst>
          </p:cNvPr>
          <p:cNvPicPr>
            <a:picLocks noChangeAspect="1"/>
          </p:cNvPicPr>
          <p:nvPr>
            <p:custDataLst>
              <p:tags r:id="rId3"/>
            </p:custDataLst>
          </p:nvPr>
        </p:nvPicPr>
        <p:blipFill>
          <a:blip r:embed="rId6"/>
          <a:stretch>
            <a:fillRect/>
          </a:stretch>
        </p:blipFill>
        <p:spPr>
          <a:xfrm>
            <a:off x="6310500" y="3471963"/>
            <a:ext cx="4881677" cy="1413540"/>
          </a:xfrm>
          <a:prstGeom prst="rect">
            <a:avLst/>
          </a:prstGeom>
        </p:spPr>
      </p:pic>
      <p:grpSp>
        <p:nvGrpSpPr>
          <p:cNvPr id="28" name="Group 27">
            <a:extLst>
              <a:ext uri="{FF2B5EF4-FFF2-40B4-BE49-F238E27FC236}">
                <a16:creationId xmlns:a16="http://schemas.microsoft.com/office/drawing/2014/main" id="{2D061ECF-FF92-36C6-14AC-D7BD19990F58}"/>
              </a:ext>
            </a:extLst>
          </p:cNvPr>
          <p:cNvGrpSpPr/>
          <p:nvPr>
            <p:custDataLst>
              <p:tags r:id="rId4"/>
            </p:custDataLst>
          </p:nvPr>
        </p:nvGrpSpPr>
        <p:grpSpPr>
          <a:xfrm>
            <a:off x="995364" y="153170"/>
            <a:ext cx="5856176" cy="195814"/>
            <a:chOff x="995364" y="153170"/>
            <a:chExt cx="5856176" cy="195814"/>
          </a:xfrm>
        </p:grpSpPr>
        <p:sp>
          <p:nvSpPr>
            <p:cNvPr id="29"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0"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1"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2" name="Current Section4">
              <a:hlinkClick r:id="rId10" action="ppaction://hlinksldjump"/>
              <a:extLst>
                <a:ext uri="{FF2B5EF4-FFF2-40B4-BE49-F238E27FC236}">
                  <a16:creationId xmlns:a16="http://schemas.microsoft.com/office/drawing/2014/main" id="{89A61135-1F00-E77F-7C78-5FBA241A5742}"/>
                </a:ext>
              </a:extLst>
            </p:cNvPr>
            <p:cNvSpPr>
              <a:spLocks/>
            </p:cNvSpPr>
            <p:nvPr/>
          </p:nvSpPr>
          <p:spPr>
            <a:xfrm>
              <a:off x="3751129" y="153170"/>
              <a:ext cx="12755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Reporting environment</a:t>
              </a:r>
            </a:p>
          </p:txBody>
        </p:sp>
        <p:sp>
          <p:nvSpPr>
            <p:cNvPr id="33"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502665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4" name="Other Sections6">
              <a:hlinkClick r:id="rId12" action="ppaction://hlinksldjump"/>
              <a:extLst>
                <a:ext uri="{FF2B5EF4-FFF2-40B4-BE49-F238E27FC236}">
                  <a16:creationId xmlns:a16="http://schemas.microsoft.com/office/drawing/2014/main" id="{8A19844E-D291-CA81-3B22-2B52F21919DA}"/>
                </a:ext>
              </a:extLst>
            </p:cNvPr>
            <p:cNvSpPr>
              <a:spLocks/>
            </p:cNvSpPr>
            <p:nvPr/>
          </p:nvSpPr>
          <p:spPr>
            <a:xfrm>
              <a:off x="61627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6361659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C1A3BE9-3DDB-F838-3625-48DA5621DEAF}"/>
              </a:ext>
            </a:extLst>
          </p:cNvPr>
          <p:cNvSpPr>
            <a:spLocks noGrp="1"/>
          </p:cNvSpPr>
          <p:nvPr>
            <p:ph type="title"/>
          </p:nvPr>
        </p:nvSpPr>
        <p:spPr>
          <a:xfrm>
            <a:off x="995362" y="412750"/>
            <a:ext cx="10204452" cy="539750"/>
          </a:xfrm>
        </p:spPr>
        <p:txBody>
          <a:bodyPr/>
          <a:lstStyle/>
          <a:p>
            <a:r>
              <a:rPr lang="en-US"/>
              <a:t>Financial reporting environment (4/4)</a:t>
            </a:r>
          </a:p>
        </p:txBody>
      </p:sp>
      <p:sp>
        <p:nvSpPr>
          <p:cNvPr id="5" name="Text Placeholder 7">
            <a:extLst>
              <a:ext uri="{FF2B5EF4-FFF2-40B4-BE49-F238E27FC236}">
                <a16:creationId xmlns:a16="http://schemas.microsoft.com/office/drawing/2014/main" id="{3C368FE1-9599-B9AA-8963-D14480767314}"/>
              </a:ext>
            </a:extLst>
          </p:cNvPr>
          <p:cNvSpPr txBox="1">
            <a:spLocks/>
          </p:cNvSpPr>
          <p:nvPr/>
        </p:nvSpPr>
        <p:spPr>
          <a:xfrm>
            <a:off x="12275298" y="1410494"/>
            <a:ext cx="1440000" cy="1440000"/>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000" b="1" i="0" strike="noStrike" kern="1200" cap="none" spc="0" normalizeH="0" baseline="0" noProof="0">
                <a:ln>
                  <a:noFill/>
                </a:ln>
                <a:solidFill>
                  <a:srgbClr val="00338D"/>
                </a:solidFill>
                <a:effectLst/>
                <a:uLnTx/>
                <a:uFillTx/>
                <a:latin typeface="Arial"/>
                <a:ea typeface="+mn-ea"/>
                <a:cs typeface="+mn-cs"/>
              </a:rPr>
              <a:t>Heading</a:t>
            </a:r>
          </a:p>
          <a:p>
            <a:pPr marL="0" marR="0" lvl="1" indent="0" algn="l" defTabSz="914400" rtl="0" eaLnBrk="1" fontAlgn="auto" latinLnBrk="0" hangingPunct="1">
              <a:lnSpc>
                <a:spcPct val="100000"/>
              </a:lnSpc>
              <a:spcBef>
                <a:spcPts val="0"/>
              </a:spcBef>
              <a:spcAft>
                <a:spcPts val="600"/>
              </a:spcAft>
              <a:buClrTx/>
              <a:buSzTx/>
              <a:buFontTx/>
              <a:buNone/>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level</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level</a:t>
            </a:r>
          </a:p>
          <a:p>
            <a:pPr marL="361950" marR="0" lvl="3"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Fourth level</a:t>
            </a:r>
          </a:p>
          <a:p>
            <a:pPr marL="542925" marR="0" lvl="4"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strike="noStrike" kern="1200" cap="none" spc="0" normalizeH="0" baseline="0" noProof="0">
                <a:ln>
                  <a:noFill/>
                </a:ln>
                <a:solidFill>
                  <a:srgbClr val="000000"/>
                </a:solidFill>
                <a:effectLst/>
                <a:uLnTx/>
                <a:uFillTx/>
                <a:latin typeface="Arial"/>
                <a:ea typeface="+mn-ea"/>
                <a:cs typeface="+mn-cs"/>
              </a:rPr>
              <a:t>Fifth level</a:t>
            </a:r>
            <a:endParaRPr kumimoji="0" lang="en-US" sz="1000" b="0" i="0" strike="noStrike" kern="1200" cap="none" spc="0" normalizeH="0" baseline="0" noProof="0">
              <a:ln>
                <a:noFill/>
              </a:ln>
              <a:solidFill>
                <a:srgbClr val="00338D"/>
              </a:solidFill>
              <a:effectLst/>
              <a:uLnTx/>
              <a:uFillTx/>
              <a:latin typeface="Arial"/>
              <a:ea typeface="+mn-ea"/>
              <a:cs typeface="+mn-cs"/>
            </a:endParaRPr>
          </a:p>
        </p:txBody>
      </p:sp>
      <p:sp>
        <p:nvSpPr>
          <p:cNvPr id="6" name="Text Placeholder 12">
            <a:extLst>
              <a:ext uri="{FF2B5EF4-FFF2-40B4-BE49-F238E27FC236}">
                <a16:creationId xmlns:a16="http://schemas.microsoft.com/office/drawing/2014/main" id="{224C6CB8-E6EF-6EC8-4F2F-AE1C531C15DA}"/>
              </a:ext>
            </a:extLst>
          </p:cNvPr>
          <p:cNvSpPr txBox="1">
            <a:spLocks/>
          </p:cNvSpPr>
          <p:nvPr/>
        </p:nvSpPr>
        <p:spPr>
          <a:xfrm>
            <a:off x="12275298" y="3193977"/>
            <a:ext cx="1440000" cy="14400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600"/>
              </a:spcAft>
              <a:buFontTx/>
              <a:buNone/>
              <a:defRPr sz="9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900" b="0" kern="1200">
                <a:solidFill>
                  <a:schemeClr val="tx1"/>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a:solidFill>
                  <a:schemeClr val="tx1"/>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9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First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Second item</a:t>
            </a:r>
          </a:p>
          <a:p>
            <a:pPr marL="182563" marR="0" lvl="2" indent="-182563" algn="l" defTabSz="914400" rtl="0" eaLnBrk="1" fontAlgn="auto" latinLnBrk="0" hangingPunct="1">
              <a:lnSpc>
                <a:spcPct val="100000"/>
              </a:lnSpc>
              <a:spcBef>
                <a:spcPts val="0"/>
              </a:spcBef>
              <a:spcAft>
                <a:spcPts val="600"/>
              </a:spcAft>
              <a:buClrTx/>
              <a:buSzTx/>
              <a:buFont typeface="+mj-lt"/>
              <a:buAutoNum type="arabicPeriod"/>
              <a:tabLst/>
              <a:defRPr/>
            </a:pPr>
            <a:r>
              <a:rPr kumimoji="0" lang="en-US" sz="1000" b="0" i="0" strike="noStrike" kern="1200" cap="none" spc="0" normalizeH="0" baseline="0" noProof="0">
                <a:ln>
                  <a:noFill/>
                </a:ln>
                <a:solidFill>
                  <a:srgbClr val="000000"/>
                </a:solidFill>
                <a:effectLst/>
                <a:uLnTx/>
                <a:uFillTx/>
                <a:latin typeface="Arial"/>
                <a:ea typeface="+mn-ea"/>
                <a:cs typeface="+mn-cs"/>
              </a:rPr>
              <a:t>Third item</a:t>
            </a:r>
          </a:p>
        </p:txBody>
      </p:sp>
      <p:sp>
        <p:nvSpPr>
          <p:cNvPr id="7" name="Rounded Rectangle 7">
            <a:extLst>
              <a:ext uri="{FF2B5EF4-FFF2-40B4-BE49-F238E27FC236}">
                <a16:creationId xmlns:a16="http://schemas.microsoft.com/office/drawing/2014/main" id="{BBD04E72-8A54-9F6D-8F6E-D7884466CC01}"/>
              </a:ext>
            </a:extLst>
          </p:cNvPr>
          <p:cNvSpPr/>
          <p:nvPr>
            <p:custDataLst>
              <p:tags r:id="rId1"/>
            </p:custDataLst>
          </p:nvPr>
        </p:nvSpPr>
        <p:spPr>
          <a:xfrm>
            <a:off x="12274499" y="1098658"/>
            <a:ext cx="812621" cy="260238"/>
          </a:xfrm>
          <a:prstGeom prst="roundRect">
            <a:avLst>
              <a:gd name="adj" fmla="val 21081"/>
            </a:avLst>
          </a:prstGeom>
          <a:noFill/>
          <a:ln w="12700" cap="flat" cmpd="sng" algn="ctr">
            <a:solidFill>
              <a:srgbClr val="FD349C"/>
            </a:solidFill>
            <a:prstDash val="sysDash"/>
            <a:miter lim="800000"/>
          </a:ln>
          <a:effectLst/>
        </p:spPr>
        <p:txBody>
          <a:bodyPr vert="vert270"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a:ln>
                <a:noFill/>
              </a:ln>
              <a:solidFill>
                <a:srgbClr val="00338D"/>
              </a:solidFill>
              <a:effectLst/>
              <a:uLnTx/>
              <a:uFillTx/>
              <a:latin typeface="Arial"/>
              <a:ea typeface="+mn-ea"/>
              <a:cs typeface="+mn-cs"/>
            </a:endParaRPr>
          </a:p>
        </p:txBody>
      </p:sp>
      <p:sp>
        <p:nvSpPr>
          <p:cNvPr id="8" name="Rectangle 7">
            <a:extLst>
              <a:ext uri="{FF2B5EF4-FFF2-40B4-BE49-F238E27FC236}">
                <a16:creationId xmlns:a16="http://schemas.microsoft.com/office/drawing/2014/main" id="{87A06A3C-B9E3-CD6F-12BA-3F2E85154156}"/>
              </a:ext>
            </a:extLst>
          </p:cNvPr>
          <p:cNvSpPr/>
          <p:nvPr/>
        </p:nvSpPr>
        <p:spPr>
          <a:xfrm>
            <a:off x="12274499" y="251793"/>
            <a:ext cx="1620000" cy="540000"/>
          </a:xfrm>
          <a:prstGeom prst="rect">
            <a:avLst/>
          </a:prstGeom>
          <a:solidFill>
            <a:srgbClr val="FFFFFF"/>
          </a:solidFill>
          <a:ln w="12700" cap="flat" cmpd="sng" algn="ctr">
            <a:solidFill>
              <a:srgbClr val="1E49E2"/>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0" i="0" strike="noStrike" kern="0" cap="none" spc="0" normalizeH="0" baseline="0" noProof="0">
                <a:ln>
                  <a:noFill/>
                </a:ln>
                <a:solidFill>
                  <a:sysClr val="windowText" lastClr="000000"/>
                </a:solidFill>
                <a:effectLst/>
                <a:uLnTx/>
                <a:uFillTx/>
                <a:latin typeface="Arial"/>
                <a:ea typeface="+mn-ea"/>
                <a:cs typeface="+mn-cs"/>
              </a:rPr>
              <a:t>Call-out box.</a:t>
            </a:r>
          </a:p>
        </p:txBody>
      </p:sp>
      <p:cxnSp>
        <p:nvCxnSpPr>
          <p:cNvPr id="9" name="Straight Arrow Connector 8">
            <a:extLst>
              <a:ext uri="{FF2B5EF4-FFF2-40B4-BE49-F238E27FC236}">
                <a16:creationId xmlns:a16="http://schemas.microsoft.com/office/drawing/2014/main" id="{6C70F76C-D243-18A1-6BA2-220649E747A9}"/>
              </a:ext>
            </a:extLst>
          </p:cNvPr>
          <p:cNvCxnSpPr>
            <a:cxnSpLocks/>
            <a:stCxn id="8" idx="2"/>
            <a:endCxn id="7" idx="0"/>
          </p:cNvCxnSpPr>
          <p:nvPr/>
        </p:nvCxnSpPr>
        <p:spPr>
          <a:xfrm flipH="1">
            <a:off x="12680810" y="791793"/>
            <a:ext cx="403689" cy="306865"/>
          </a:xfrm>
          <a:prstGeom prst="straightConnector1">
            <a:avLst/>
          </a:prstGeom>
          <a:noFill/>
          <a:ln w="12700" cap="flat" cmpd="sng" algn="ctr">
            <a:solidFill>
              <a:srgbClr val="1E49E2"/>
            </a:solidFill>
            <a:prstDash val="solid"/>
            <a:miter lim="800000"/>
            <a:tailEnd type="triangle"/>
          </a:ln>
          <a:effectLst/>
        </p:spPr>
      </p:cxnSp>
      <p:sp>
        <p:nvSpPr>
          <p:cNvPr id="55" name="Text Placeholder 1">
            <a:extLst>
              <a:ext uri="{FF2B5EF4-FFF2-40B4-BE49-F238E27FC236}">
                <a16:creationId xmlns:a16="http://schemas.microsoft.com/office/drawing/2014/main" id="{18440E2F-FC96-DFEC-98C5-D1B960200B8C}"/>
              </a:ext>
            </a:extLst>
          </p:cNvPr>
          <p:cNvSpPr txBox="1">
            <a:spLocks/>
          </p:cNvSpPr>
          <p:nvPr/>
        </p:nvSpPr>
        <p:spPr>
          <a:xfrm>
            <a:off x="1007515" y="1043205"/>
            <a:ext cx="10192299" cy="460800"/>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300"/>
              </a:spcAft>
              <a:buFontTx/>
              <a:buNone/>
              <a:defRPr lang="en-US" sz="1000" b="1" kern="1200" dirty="0" smtClean="0">
                <a:solidFill>
                  <a:schemeClr val="accent2"/>
                </a:solidFill>
                <a:latin typeface="+mn-lt"/>
                <a:ea typeface="+mn-ea"/>
                <a:cs typeface="+mn-cs"/>
              </a:defRPr>
            </a:lvl2pPr>
            <a:lvl3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3pPr>
            <a:lvl4pPr marL="0" indent="0" algn="l" defTabSz="914400" rtl="0" eaLnBrk="1" latinLnBrk="0" hangingPunct="1">
              <a:lnSpc>
                <a:spcPct val="100000"/>
              </a:lnSpc>
              <a:spcBef>
                <a:spcPts val="0"/>
              </a:spcBef>
              <a:spcAft>
                <a:spcPts val="300"/>
              </a:spcAft>
              <a:buClrTx/>
              <a:buFontTx/>
              <a:buNone/>
              <a:defRPr lang="en-US" sz="1000" b="1" kern="1200" dirty="0" smtClean="0">
                <a:solidFill>
                  <a:schemeClr val="accent2"/>
                </a:solidFill>
                <a:latin typeface="+mn-lt"/>
                <a:ea typeface="+mn-ea"/>
                <a:cs typeface="+mn-cs"/>
              </a:defRPr>
            </a:lvl4pPr>
            <a:lvl5pPr marL="0" indent="0" algn="l" defTabSz="914400" rtl="0" eaLnBrk="1" latinLnBrk="0" hangingPunct="1">
              <a:lnSpc>
                <a:spcPct val="100000"/>
              </a:lnSpc>
              <a:spcBef>
                <a:spcPts val="0"/>
              </a:spcBef>
              <a:spcAft>
                <a:spcPts val="300"/>
              </a:spcAft>
              <a:buClrTx/>
              <a:buFontTx/>
              <a:buNone/>
              <a:defRPr lang="fi-FI" sz="1000" b="1" kern="1200" baseline="0" dirty="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000" b="1" i="0" strike="noStrike" kern="1200" cap="none" spc="0" normalizeH="0" baseline="0" noProof="0">
                <a:ln>
                  <a:noFill/>
                </a:ln>
                <a:solidFill>
                  <a:srgbClr val="510DBC"/>
                </a:solidFill>
                <a:effectLst/>
                <a:uLnTx/>
                <a:uFillTx/>
                <a:latin typeface="Arial"/>
                <a:ea typeface="+mn-ea"/>
                <a:cs typeface="+mn-cs"/>
              </a:rPr>
              <a:t>Below chart represents hierarchical structure and positions within the finance department, displaying the reporting relationships and roles of each individual.</a:t>
            </a:r>
          </a:p>
        </p:txBody>
      </p:sp>
      <p:grpSp>
        <p:nvGrpSpPr>
          <p:cNvPr id="160" name="Group 159">
            <a:extLst>
              <a:ext uri="{FF2B5EF4-FFF2-40B4-BE49-F238E27FC236}">
                <a16:creationId xmlns:a16="http://schemas.microsoft.com/office/drawing/2014/main" id="{ED81AA98-7978-7EC6-FBF8-BD5E0C787CFD}"/>
              </a:ext>
            </a:extLst>
          </p:cNvPr>
          <p:cNvGrpSpPr/>
          <p:nvPr/>
        </p:nvGrpSpPr>
        <p:grpSpPr>
          <a:xfrm>
            <a:off x="2763044" y="1689669"/>
            <a:ext cx="6317974" cy="3568722"/>
            <a:chOff x="2689467" y="1085846"/>
            <a:chExt cx="6317974" cy="3568722"/>
          </a:xfrm>
        </p:grpSpPr>
        <p:sp>
          <p:nvSpPr>
            <p:cNvPr id="12" name="Rectangle 11">
              <a:extLst>
                <a:ext uri="{FF2B5EF4-FFF2-40B4-BE49-F238E27FC236}">
                  <a16:creationId xmlns:a16="http://schemas.microsoft.com/office/drawing/2014/main" id="{4C532259-F6AB-E2B0-BBEE-69B085836205}"/>
                </a:ext>
              </a:extLst>
            </p:cNvPr>
            <p:cNvSpPr>
              <a:spLocks noChangeArrowheads="1"/>
            </p:cNvSpPr>
            <p:nvPr>
              <p:custDataLst>
                <p:tags r:id="rId4"/>
              </p:custDataLst>
            </p:nvPr>
          </p:nvSpPr>
          <p:spPr bwMode="gray">
            <a:xfrm>
              <a:off x="5011510" y="1085846"/>
              <a:ext cx="1675039" cy="539984"/>
            </a:xfrm>
            <a:prstGeom prst="rect">
              <a:avLst/>
            </a:prstGeom>
            <a:solidFill>
              <a:schemeClr val="tx2"/>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b="1">
                  <a:solidFill>
                    <a:srgbClr val="FFFFFF"/>
                  </a:solidFill>
                  <a:latin typeface="Arial"/>
                </a:rPr>
                <a:t>Vice President &amp; Controller,</a:t>
              </a:r>
            </a:p>
            <a:p>
              <a:pPr algn="ctr" eaLnBrk="0" hangingPunct="0"/>
              <a:r>
                <a:rPr lang="en-GB" altLang="en-US" sz="900" b="1">
                  <a:solidFill>
                    <a:srgbClr val="FFFFFF"/>
                  </a:solidFill>
                  <a:latin typeface="Arial"/>
                </a:rPr>
                <a:t>Finance</a:t>
              </a:r>
            </a:p>
            <a:p>
              <a:pPr algn="ctr" eaLnBrk="0" hangingPunct="0"/>
              <a:r>
                <a:rPr lang="en-GB" altLang="en-US" sz="900" i="1">
                  <a:solidFill>
                    <a:srgbClr val="FFFFFF"/>
                  </a:solidFill>
                  <a:latin typeface="Arial"/>
                </a:rPr>
                <a:t>Duane Gomes</a:t>
              </a:r>
            </a:p>
          </p:txBody>
        </p:sp>
        <p:sp>
          <p:nvSpPr>
            <p:cNvPr id="18" name="Rectangle 23">
              <a:extLst>
                <a:ext uri="{FF2B5EF4-FFF2-40B4-BE49-F238E27FC236}">
                  <a16:creationId xmlns:a16="http://schemas.microsoft.com/office/drawing/2014/main" id="{47F14E93-FC88-DABB-3F2C-646ADC73170D}"/>
                </a:ext>
              </a:extLst>
            </p:cNvPr>
            <p:cNvSpPr>
              <a:spLocks noChangeArrowheads="1"/>
            </p:cNvSpPr>
            <p:nvPr>
              <p:custDataLst>
                <p:tags r:id="rId5"/>
              </p:custDataLst>
            </p:nvPr>
          </p:nvSpPr>
          <p:spPr bwMode="gray">
            <a:xfrm>
              <a:off x="2690616" y="1874714"/>
              <a:ext cx="1323581" cy="360000"/>
            </a:xfrm>
            <a:prstGeom prst="rect">
              <a:avLst/>
            </a:prstGeom>
            <a:solidFill>
              <a:schemeClr val="accent1"/>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rgbClr val="FFFFFF"/>
                  </a:solidFill>
                  <a:latin typeface="Arial"/>
                </a:rPr>
                <a:t>Settlement Manager</a:t>
              </a:r>
            </a:p>
          </p:txBody>
        </p:sp>
        <p:sp>
          <p:nvSpPr>
            <p:cNvPr id="19" name="Rectangle 23">
              <a:extLst>
                <a:ext uri="{FF2B5EF4-FFF2-40B4-BE49-F238E27FC236}">
                  <a16:creationId xmlns:a16="http://schemas.microsoft.com/office/drawing/2014/main" id="{EA3C178D-1930-3544-60EE-C090AA0547C9}"/>
                </a:ext>
              </a:extLst>
            </p:cNvPr>
            <p:cNvSpPr>
              <a:spLocks noChangeArrowheads="1"/>
            </p:cNvSpPr>
            <p:nvPr>
              <p:custDataLst>
                <p:tags r:id="rId6"/>
              </p:custDataLst>
            </p:nvPr>
          </p:nvSpPr>
          <p:spPr bwMode="gray">
            <a:xfrm>
              <a:off x="2689467" y="2357610"/>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Senior Settlement Analyst</a:t>
              </a:r>
            </a:p>
          </p:txBody>
        </p:sp>
        <p:sp>
          <p:nvSpPr>
            <p:cNvPr id="39" name="Rectangle 23">
              <a:extLst>
                <a:ext uri="{FF2B5EF4-FFF2-40B4-BE49-F238E27FC236}">
                  <a16:creationId xmlns:a16="http://schemas.microsoft.com/office/drawing/2014/main" id="{CBBF1CAF-5094-3B06-4AB6-2ACF7BFF4649}"/>
                </a:ext>
              </a:extLst>
            </p:cNvPr>
            <p:cNvSpPr>
              <a:spLocks noChangeArrowheads="1"/>
            </p:cNvSpPr>
            <p:nvPr>
              <p:custDataLst>
                <p:tags r:id="rId7"/>
              </p:custDataLst>
            </p:nvPr>
          </p:nvSpPr>
          <p:spPr bwMode="gray">
            <a:xfrm>
              <a:off x="5187238" y="1855988"/>
              <a:ext cx="1323581" cy="360000"/>
            </a:xfrm>
            <a:prstGeom prst="rect">
              <a:avLst/>
            </a:prstGeom>
            <a:solidFill>
              <a:schemeClr val="accent1"/>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rgbClr val="FFFFFF"/>
                  </a:solidFill>
                  <a:latin typeface="Arial"/>
                </a:rPr>
                <a:t>Revenue Services Manager</a:t>
              </a:r>
            </a:p>
          </p:txBody>
        </p:sp>
        <p:sp>
          <p:nvSpPr>
            <p:cNvPr id="41" name="Rectangle 23">
              <a:extLst>
                <a:ext uri="{FF2B5EF4-FFF2-40B4-BE49-F238E27FC236}">
                  <a16:creationId xmlns:a16="http://schemas.microsoft.com/office/drawing/2014/main" id="{FE4DD5DE-2364-C350-0468-9CCDFE40241A}"/>
                </a:ext>
              </a:extLst>
            </p:cNvPr>
            <p:cNvSpPr>
              <a:spLocks noChangeArrowheads="1"/>
            </p:cNvSpPr>
            <p:nvPr>
              <p:custDataLst>
                <p:tags r:id="rId8"/>
              </p:custDataLst>
            </p:nvPr>
          </p:nvSpPr>
          <p:spPr bwMode="gray">
            <a:xfrm>
              <a:off x="7683860" y="1855988"/>
              <a:ext cx="1323581" cy="360000"/>
            </a:xfrm>
            <a:prstGeom prst="rect">
              <a:avLst/>
            </a:prstGeom>
            <a:solidFill>
              <a:schemeClr val="accent1"/>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rgbClr val="FFFFFF"/>
                  </a:solidFill>
                  <a:latin typeface="Arial"/>
                </a:rPr>
                <a:t>Financial Reporting Manager</a:t>
              </a:r>
            </a:p>
          </p:txBody>
        </p:sp>
        <p:sp>
          <p:nvSpPr>
            <p:cNvPr id="42" name="Rectangle 23">
              <a:extLst>
                <a:ext uri="{FF2B5EF4-FFF2-40B4-BE49-F238E27FC236}">
                  <a16:creationId xmlns:a16="http://schemas.microsoft.com/office/drawing/2014/main" id="{E816264E-7C83-0419-DD3E-07DDF725D709}"/>
                </a:ext>
              </a:extLst>
            </p:cNvPr>
            <p:cNvSpPr>
              <a:spLocks noChangeArrowheads="1"/>
            </p:cNvSpPr>
            <p:nvPr>
              <p:custDataLst>
                <p:tags r:id="rId9"/>
              </p:custDataLst>
            </p:nvPr>
          </p:nvSpPr>
          <p:spPr bwMode="gray">
            <a:xfrm>
              <a:off x="2705916" y="3323604"/>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Settlement Analyst II</a:t>
              </a:r>
            </a:p>
          </p:txBody>
        </p:sp>
        <p:sp>
          <p:nvSpPr>
            <p:cNvPr id="86" name="Rectangle 23">
              <a:extLst>
                <a:ext uri="{FF2B5EF4-FFF2-40B4-BE49-F238E27FC236}">
                  <a16:creationId xmlns:a16="http://schemas.microsoft.com/office/drawing/2014/main" id="{BEBB73CD-CAB7-06F9-FC24-2BD403911F37}"/>
                </a:ext>
              </a:extLst>
            </p:cNvPr>
            <p:cNvSpPr>
              <a:spLocks noChangeArrowheads="1"/>
            </p:cNvSpPr>
            <p:nvPr>
              <p:custDataLst>
                <p:tags r:id="rId10"/>
              </p:custDataLst>
            </p:nvPr>
          </p:nvSpPr>
          <p:spPr bwMode="gray">
            <a:xfrm>
              <a:off x="2705916" y="3809086"/>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Settlement Analyst II</a:t>
              </a:r>
            </a:p>
          </p:txBody>
        </p:sp>
        <p:sp>
          <p:nvSpPr>
            <p:cNvPr id="87" name="Rectangle 23">
              <a:extLst>
                <a:ext uri="{FF2B5EF4-FFF2-40B4-BE49-F238E27FC236}">
                  <a16:creationId xmlns:a16="http://schemas.microsoft.com/office/drawing/2014/main" id="{95C2F90E-42F2-B97E-3AE3-7726C3C006D0}"/>
                </a:ext>
              </a:extLst>
            </p:cNvPr>
            <p:cNvSpPr>
              <a:spLocks noChangeArrowheads="1"/>
            </p:cNvSpPr>
            <p:nvPr>
              <p:custDataLst>
                <p:tags r:id="rId11"/>
              </p:custDataLst>
            </p:nvPr>
          </p:nvSpPr>
          <p:spPr bwMode="gray">
            <a:xfrm>
              <a:off x="2705916" y="2836482"/>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Settlement Analyst I</a:t>
              </a:r>
            </a:p>
          </p:txBody>
        </p:sp>
        <p:sp>
          <p:nvSpPr>
            <p:cNvPr id="88" name="Rectangle 23">
              <a:extLst>
                <a:ext uri="{FF2B5EF4-FFF2-40B4-BE49-F238E27FC236}">
                  <a16:creationId xmlns:a16="http://schemas.microsoft.com/office/drawing/2014/main" id="{CD7B878D-DD1E-F24D-099F-7E2BDC38A117}"/>
                </a:ext>
              </a:extLst>
            </p:cNvPr>
            <p:cNvSpPr>
              <a:spLocks noChangeArrowheads="1"/>
            </p:cNvSpPr>
            <p:nvPr>
              <p:custDataLst>
                <p:tags r:id="rId12"/>
              </p:custDataLst>
            </p:nvPr>
          </p:nvSpPr>
          <p:spPr bwMode="gray">
            <a:xfrm>
              <a:off x="2705916" y="4294568"/>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Settlement Analyst I</a:t>
              </a:r>
            </a:p>
          </p:txBody>
        </p:sp>
        <p:sp>
          <p:nvSpPr>
            <p:cNvPr id="92" name="Rectangle 23">
              <a:extLst>
                <a:ext uri="{FF2B5EF4-FFF2-40B4-BE49-F238E27FC236}">
                  <a16:creationId xmlns:a16="http://schemas.microsoft.com/office/drawing/2014/main" id="{EDE3FB04-7F23-D892-34E0-227264305BA2}"/>
                </a:ext>
              </a:extLst>
            </p:cNvPr>
            <p:cNvSpPr>
              <a:spLocks noChangeArrowheads="1"/>
            </p:cNvSpPr>
            <p:nvPr>
              <p:custDataLst>
                <p:tags r:id="rId13"/>
              </p:custDataLst>
            </p:nvPr>
          </p:nvSpPr>
          <p:spPr bwMode="gray">
            <a:xfrm>
              <a:off x="7681561" y="2347755"/>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Financial Analyst I</a:t>
              </a:r>
            </a:p>
          </p:txBody>
        </p:sp>
        <p:sp>
          <p:nvSpPr>
            <p:cNvPr id="93" name="Rectangle 23">
              <a:extLst>
                <a:ext uri="{FF2B5EF4-FFF2-40B4-BE49-F238E27FC236}">
                  <a16:creationId xmlns:a16="http://schemas.microsoft.com/office/drawing/2014/main" id="{1E1F48E3-0BB3-D124-8189-FBF72BC9CDBD}"/>
                </a:ext>
              </a:extLst>
            </p:cNvPr>
            <p:cNvSpPr>
              <a:spLocks noChangeArrowheads="1"/>
            </p:cNvSpPr>
            <p:nvPr>
              <p:custDataLst>
                <p:tags r:id="rId14"/>
              </p:custDataLst>
            </p:nvPr>
          </p:nvSpPr>
          <p:spPr bwMode="gray">
            <a:xfrm>
              <a:off x="7681561" y="2814927"/>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A/P Specialist &amp; Reception</a:t>
              </a:r>
            </a:p>
          </p:txBody>
        </p:sp>
        <p:sp>
          <p:nvSpPr>
            <p:cNvPr id="94" name="Rectangle 23">
              <a:extLst>
                <a:ext uri="{FF2B5EF4-FFF2-40B4-BE49-F238E27FC236}">
                  <a16:creationId xmlns:a16="http://schemas.microsoft.com/office/drawing/2014/main" id="{AF7F0011-B01B-3458-72A4-AB732462ABDF}"/>
                </a:ext>
              </a:extLst>
            </p:cNvPr>
            <p:cNvSpPr>
              <a:spLocks noChangeArrowheads="1"/>
            </p:cNvSpPr>
            <p:nvPr>
              <p:custDataLst>
                <p:tags r:id="rId15"/>
              </p:custDataLst>
            </p:nvPr>
          </p:nvSpPr>
          <p:spPr bwMode="gray">
            <a:xfrm>
              <a:off x="7681561" y="3323074"/>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Financial Analyst II</a:t>
              </a:r>
            </a:p>
          </p:txBody>
        </p:sp>
        <p:cxnSp>
          <p:nvCxnSpPr>
            <p:cNvPr id="97" name="Connector: Elbow 96">
              <a:extLst>
                <a:ext uri="{FF2B5EF4-FFF2-40B4-BE49-F238E27FC236}">
                  <a16:creationId xmlns:a16="http://schemas.microsoft.com/office/drawing/2014/main" id="{F09F1807-501C-21B2-E3C3-8AD78AEB2A29}"/>
                </a:ext>
              </a:extLst>
            </p:cNvPr>
            <p:cNvCxnSpPr>
              <a:stCxn id="12" idx="2"/>
              <a:endCxn id="18" idx="0"/>
            </p:cNvCxnSpPr>
            <p:nvPr/>
          </p:nvCxnSpPr>
          <p:spPr>
            <a:xfrm rot="5400000">
              <a:off x="4476277" y="501961"/>
              <a:ext cx="248884" cy="2496623"/>
            </a:xfrm>
            <a:prstGeom prst="bentConnector3">
              <a:avLst/>
            </a:prstGeom>
            <a:ln w="12700">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98" name="Connector: Elbow 97">
              <a:extLst>
                <a:ext uri="{FF2B5EF4-FFF2-40B4-BE49-F238E27FC236}">
                  <a16:creationId xmlns:a16="http://schemas.microsoft.com/office/drawing/2014/main" id="{851FB6B5-9F54-2139-8744-19CE851F791D}"/>
                </a:ext>
              </a:extLst>
            </p:cNvPr>
            <p:cNvCxnSpPr>
              <a:cxnSpLocks/>
              <a:stCxn id="12" idx="2"/>
              <a:endCxn id="39" idx="0"/>
            </p:cNvCxnSpPr>
            <p:nvPr/>
          </p:nvCxnSpPr>
          <p:spPr>
            <a:xfrm rot="5400000">
              <a:off x="5733951" y="1740909"/>
              <a:ext cx="230158" cy="1"/>
            </a:xfrm>
            <a:prstGeom prst="bentConnector3">
              <a:avLst>
                <a:gd name="adj1" fmla="val 50000"/>
              </a:avLst>
            </a:prstGeom>
            <a:ln w="12700">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02" name="Connector: Elbow 101">
              <a:extLst>
                <a:ext uri="{FF2B5EF4-FFF2-40B4-BE49-F238E27FC236}">
                  <a16:creationId xmlns:a16="http://schemas.microsoft.com/office/drawing/2014/main" id="{27B66EF7-8829-C6DA-A0C3-BDEA7A8D23F0}"/>
                </a:ext>
              </a:extLst>
            </p:cNvPr>
            <p:cNvCxnSpPr>
              <a:cxnSpLocks/>
              <a:stCxn id="12" idx="2"/>
              <a:endCxn id="41" idx="0"/>
            </p:cNvCxnSpPr>
            <p:nvPr/>
          </p:nvCxnSpPr>
          <p:spPr>
            <a:xfrm rot="16200000" flipH="1">
              <a:off x="6982261" y="492598"/>
              <a:ext cx="230158" cy="2496621"/>
            </a:xfrm>
            <a:prstGeom prst="bentConnector3">
              <a:avLst>
                <a:gd name="adj1" fmla="val 50000"/>
              </a:avLst>
            </a:prstGeom>
            <a:ln w="12700">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08" name="Connector: Elbow 194">
              <a:extLst>
                <a:ext uri="{FF2B5EF4-FFF2-40B4-BE49-F238E27FC236}">
                  <a16:creationId xmlns:a16="http://schemas.microsoft.com/office/drawing/2014/main" id="{0484DB77-210A-84A8-07CA-037245EDF56F}"/>
                </a:ext>
              </a:extLst>
            </p:cNvPr>
            <p:cNvCxnSpPr>
              <a:cxnSpLocks/>
              <a:stCxn id="19" idx="0"/>
              <a:endCxn id="18" idx="2"/>
            </p:cNvCxnSpPr>
            <p:nvPr/>
          </p:nvCxnSpPr>
          <p:spPr>
            <a:xfrm flipV="1">
              <a:off x="3352407" y="2234714"/>
              <a:ext cx="0" cy="122896"/>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12" name="Connector: Elbow 194">
              <a:extLst>
                <a:ext uri="{FF2B5EF4-FFF2-40B4-BE49-F238E27FC236}">
                  <a16:creationId xmlns:a16="http://schemas.microsoft.com/office/drawing/2014/main" id="{C088B985-C801-6168-7DDA-6E187C387BBD}"/>
                </a:ext>
              </a:extLst>
            </p:cNvPr>
            <p:cNvCxnSpPr>
              <a:cxnSpLocks/>
            </p:cNvCxnSpPr>
            <p:nvPr/>
          </p:nvCxnSpPr>
          <p:spPr>
            <a:xfrm flipV="1">
              <a:off x="3351257" y="2717610"/>
              <a:ext cx="0" cy="118872"/>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16" name="Connector: Elbow 194">
              <a:extLst>
                <a:ext uri="{FF2B5EF4-FFF2-40B4-BE49-F238E27FC236}">
                  <a16:creationId xmlns:a16="http://schemas.microsoft.com/office/drawing/2014/main" id="{1D545A96-FB06-7464-C89F-DA04ED221312}"/>
                </a:ext>
              </a:extLst>
            </p:cNvPr>
            <p:cNvCxnSpPr>
              <a:cxnSpLocks/>
              <a:stCxn id="42" idx="0"/>
              <a:endCxn id="87" idx="2"/>
            </p:cNvCxnSpPr>
            <p:nvPr/>
          </p:nvCxnSpPr>
          <p:spPr>
            <a:xfrm flipV="1">
              <a:off x="3368856" y="3196482"/>
              <a:ext cx="0" cy="127122"/>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24" name="Connector: Elbow 194">
              <a:extLst>
                <a:ext uri="{FF2B5EF4-FFF2-40B4-BE49-F238E27FC236}">
                  <a16:creationId xmlns:a16="http://schemas.microsoft.com/office/drawing/2014/main" id="{8024A754-8181-2331-7B20-0EB4FF72DF37}"/>
                </a:ext>
              </a:extLst>
            </p:cNvPr>
            <p:cNvCxnSpPr>
              <a:cxnSpLocks/>
              <a:stCxn id="86" idx="0"/>
              <a:endCxn id="42" idx="2"/>
            </p:cNvCxnSpPr>
            <p:nvPr/>
          </p:nvCxnSpPr>
          <p:spPr>
            <a:xfrm flipV="1">
              <a:off x="3368856" y="3683604"/>
              <a:ext cx="0" cy="125482"/>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27" name="Connector: Elbow 194">
              <a:extLst>
                <a:ext uri="{FF2B5EF4-FFF2-40B4-BE49-F238E27FC236}">
                  <a16:creationId xmlns:a16="http://schemas.microsoft.com/office/drawing/2014/main" id="{C867694F-29E6-43D1-218F-19D65DC15842}"/>
                </a:ext>
              </a:extLst>
            </p:cNvPr>
            <p:cNvCxnSpPr>
              <a:cxnSpLocks/>
              <a:stCxn id="88" idx="0"/>
              <a:endCxn id="86" idx="2"/>
            </p:cNvCxnSpPr>
            <p:nvPr/>
          </p:nvCxnSpPr>
          <p:spPr>
            <a:xfrm flipV="1">
              <a:off x="3368856" y="4169086"/>
              <a:ext cx="0" cy="125482"/>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sp>
          <p:nvSpPr>
            <p:cNvPr id="132" name="Rectangle 23">
              <a:extLst>
                <a:ext uri="{FF2B5EF4-FFF2-40B4-BE49-F238E27FC236}">
                  <a16:creationId xmlns:a16="http://schemas.microsoft.com/office/drawing/2014/main" id="{C6887E5E-A8A5-D888-B85D-6794DC1E4B76}"/>
                </a:ext>
              </a:extLst>
            </p:cNvPr>
            <p:cNvSpPr>
              <a:spLocks noChangeArrowheads="1"/>
            </p:cNvSpPr>
            <p:nvPr>
              <p:custDataLst>
                <p:tags r:id="rId16"/>
              </p:custDataLst>
            </p:nvPr>
          </p:nvSpPr>
          <p:spPr bwMode="gray">
            <a:xfrm>
              <a:off x="5187238" y="2328388"/>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Financial Analyst</a:t>
              </a:r>
            </a:p>
          </p:txBody>
        </p:sp>
        <p:sp>
          <p:nvSpPr>
            <p:cNvPr id="133" name="Rectangle 23">
              <a:extLst>
                <a:ext uri="{FF2B5EF4-FFF2-40B4-BE49-F238E27FC236}">
                  <a16:creationId xmlns:a16="http://schemas.microsoft.com/office/drawing/2014/main" id="{9835432E-F9B4-A39A-75AD-88C40DD23204}"/>
                </a:ext>
              </a:extLst>
            </p:cNvPr>
            <p:cNvSpPr>
              <a:spLocks noChangeArrowheads="1"/>
            </p:cNvSpPr>
            <p:nvPr>
              <p:custDataLst>
                <p:tags r:id="rId17"/>
              </p:custDataLst>
            </p:nvPr>
          </p:nvSpPr>
          <p:spPr bwMode="gray">
            <a:xfrm>
              <a:off x="5187238" y="2800788"/>
              <a:ext cx="1325880" cy="360000"/>
            </a:xfrm>
            <a:prstGeom prst="rect">
              <a:avLst/>
            </a:prstGeom>
            <a:solidFill>
              <a:schemeClr val="accent4"/>
            </a:solidFill>
            <a:ln w="6350">
              <a:noFill/>
              <a:miter lim="800000"/>
              <a:headEnd type="none" w="sm" len="sm"/>
              <a:tailEnd type="none" w="sm" len="sm"/>
            </a:ln>
            <a:effectLst/>
          </p:spPr>
          <p:txBody>
            <a:bodyPr lIns="44371" tIns="44371" rIns="44371" bIns="44371" anchor="ctr" anchorCtr="1"/>
            <a:lstStyle>
              <a:lvl1pPr defTabSz="762000">
                <a:defRPr>
                  <a:solidFill>
                    <a:schemeClr val="tx1"/>
                  </a:solidFill>
                  <a:latin typeface="Arial" panose="020B0604020202020204" pitchFamily="34" charset="0"/>
                </a:defRPr>
              </a:lvl1pPr>
              <a:lvl2pPr marL="742950" indent="-285750" defTabSz="762000">
                <a:defRPr>
                  <a:solidFill>
                    <a:schemeClr val="tx1"/>
                  </a:solidFill>
                  <a:latin typeface="Arial" panose="020B0604020202020204" pitchFamily="34" charset="0"/>
                </a:defRPr>
              </a:lvl2pPr>
              <a:lvl3pPr marL="1143000" indent="-228600" defTabSz="762000">
                <a:defRPr>
                  <a:solidFill>
                    <a:schemeClr val="tx1"/>
                  </a:solidFill>
                  <a:latin typeface="Arial" panose="020B0604020202020204" pitchFamily="34" charset="0"/>
                </a:defRPr>
              </a:lvl3pPr>
              <a:lvl4pPr marL="1600200" indent="-228600" defTabSz="762000">
                <a:defRPr>
                  <a:solidFill>
                    <a:schemeClr val="tx1"/>
                  </a:solidFill>
                  <a:latin typeface="Arial" panose="020B0604020202020204" pitchFamily="34" charset="0"/>
                </a:defRPr>
              </a:lvl4pPr>
              <a:lvl5pPr marL="2057400" indent="-228600" defTabSz="762000">
                <a:defRPr>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a:solidFill>
                    <a:schemeClr val="tx1"/>
                  </a:solidFill>
                  <a:latin typeface="Arial" panose="020B0604020202020204" pitchFamily="34" charset="0"/>
                </a:defRPr>
              </a:lvl9pPr>
            </a:lstStyle>
            <a:p>
              <a:pPr algn="ctr" eaLnBrk="0" hangingPunct="0"/>
              <a:r>
                <a:rPr lang="en-GB" altLang="en-US" sz="900">
                  <a:solidFill>
                    <a:schemeClr val="bg1"/>
                  </a:solidFill>
                  <a:latin typeface="Arial"/>
                </a:rPr>
                <a:t>Sr. Analyst, Revenue Services</a:t>
              </a:r>
            </a:p>
          </p:txBody>
        </p:sp>
        <p:cxnSp>
          <p:nvCxnSpPr>
            <p:cNvPr id="134" name="Connector: Elbow 194">
              <a:extLst>
                <a:ext uri="{FF2B5EF4-FFF2-40B4-BE49-F238E27FC236}">
                  <a16:creationId xmlns:a16="http://schemas.microsoft.com/office/drawing/2014/main" id="{F15EE7F8-C000-E0FE-42C9-BA1ADDBA567C}"/>
                </a:ext>
              </a:extLst>
            </p:cNvPr>
            <p:cNvCxnSpPr>
              <a:cxnSpLocks/>
              <a:stCxn id="132" idx="0"/>
              <a:endCxn id="39" idx="2"/>
            </p:cNvCxnSpPr>
            <p:nvPr/>
          </p:nvCxnSpPr>
          <p:spPr>
            <a:xfrm flipH="1" flipV="1">
              <a:off x="5849029" y="2215988"/>
              <a:ext cx="1149" cy="112400"/>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35" name="Connector: Elbow 194">
              <a:extLst>
                <a:ext uri="{FF2B5EF4-FFF2-40B4-BE49-F238E27FC236}">
                  <a16:creationId xmlns:a16="http://schemas.microsoft.com/office/drawing/2014/main" id="{2D9E025F-4261-1403-3385-56A5ED658D8B}"/>
                </a:ext>
              </a:extLst>
            </p:cNvPr>
            <p:cNvCxnSpPr>
              <a:cxnSpLocks/>
              <a:stCxn id="133" idx="0"/>
              <a:endCxn id="132" idx="2"/>
            </p:cNvCxnSpPr>
            <p:nvPr/>
          </p:nvCxnSpPr>
          <p:spPr>
            <a:xfrm flipV="1">
              <a:off x="5850178" y="2688388"/>
              <a:ext cx="0" cy="112400"/>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42" name="Connector: Elbow 194">
              <a:extLst>
                <a:ext uri="{FF2B5EF4-FFF2-40B4-BE49-F238E27FC236}">
                  <a16:creationId xmlns:a16="http://schemas.microsoft.com/office/drawing/2014/main" id="{C4B5E5F7-1A73-42B3-0E8F-9C3BE3450C6B}"/>
                </a:ext>
              </a:extLst>
            </p:cNvPr>
            <p:cNvCxnSpPr>
              <a:cxnSpLocks/>
              <a:stCxn id="92" idx="0"/>
              <a:endCxn id="41" idx="2"/>
            </p:cNvCxnSpPr>
            <p:nvPr/>
          </p:nvCxnSpPr>
          <p:spPr>
            <a:xfrm flipV="1">
              <a:off x="8344501" y="2215988"/>
              <a:ext cx="1150" cy="131767"/>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46" name="Connector: Elbow 194">
              <a:extLst>
                <a:ext uri="{FF2B5EF4-FFF2-40B4-BE49-F238E27FC236}">
                  <a16:creationId xmlns:a16="http://schemas.microsoft.com/office/drawing/2014/main" id="{BA642DF6-5464-9E91-C28F-52B61983AD0D}"/>
                </a:ext>
              </a:extLst>
            </p:cNvPr>
            <p:cNvCxnSpPr>
              <a:cxnSpLocks/>
              <a:stCxn id="93" idx="0"/>
              <a:endCxn id="92" idx="2"/>
            </p:cNvCxnSpPr>
            <p:nvPr/>
          </p:nvCxnSpPr>
          <p:spPr>
            <a:xfrm flipV="1">
              <a:off x="8344501" y="2707755"/>
              <a:ext cx="0" cy="107172"/>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cxnSp>
          <p:nvCxnSpPr>
            <p:cNvPr id="153" name="Connector: Elbow 194">
              <a:extLst>
                <a:ext uri="{FF2B5EF4-FFF2-40B4-BE49-F238E27FC236}">
                  <a16:creationId xmlns:a16="http://schemas.microsoft.com/office/drawing/2014/main" id="{2385C432-0F27-89A5-E8E5-7C4961FA7D98}"/>
                </a:ext>
              </a:extLst>
            </p:cNvPr>
            <p:cNvCxnSpPr>
              <a:cxnSpLocks/>
              <a:stCxn id="94" idx="0"/>
              <a:endCxn id="93" idx="2"/>
            </p:cNvCxnSpPr>
            <p:nvPr/>
          </p:nvCxnSpPr>
          <p:spPr>
            <a:xfrm flipV="1">
              <a:off x="8344501" y="3174927"/>
              <a:ext cx="0" cy="148147"/>
            </a:xfrm>
            <a:prstGeom prst="straightConnector1">
              <a:avLst/>
            </a:prstGeom>
            <a:ln w="9525">
              <a:solidFill>
                <a:srgbClr val="1E49E2"/>
              </a:solidFill>
            </a:ln>
          </p:spPr>
          <p:style>
            <a:lnRef idx="1">
              <a:schemeClr val="accent1"/>
            </a:lnRef>
            <a:fillRef idx="0">
              <a:schemeClr val="accent1"/>
            </a:fillRef>
            <a:effectRef idx="0">
              <a:schemeClr val="accent1"/>
            </a:effectRef>
            <a:fontRef idx="minor">
              <a:schemeClr val="tx1"/>
            </a:fontRef>
          </p:style>
        </p:cxnSp>
      </p:grpSp>
      <p:sp>
        <p:nvSpPr>
          <p:cNvPr id="161" name="Text Placeholder 12">
            <a:extLst>
              <a:ext uri="{FF2B5EF4-FFF2-40B4-BE49-F238E27FC236}">
                <a16:creationId xmlns:a16="http://schemas.microsoft.com/office/drawing/2014/main" id="{2218308F-F38B-9875-4A65-51C08DFA62BC}"/>
              </a:ext>
            </a:extLst>
          </p:cNvPr>
          <p:cNvSpPr txBox="1">
            <a:spLocks/>
          </p:cNvSpPr>
          <p:nvPr/>
        </p:nvSpPr>
        <p:spPr>
          <a:xfrm>
            <a:off x="1017450" y="590550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a:ea typeface="+mn-ea"/>
                <a:cs typeface="+mn-cs"/>
              </a:rPr>
              <a:t>Source: </a:t>
            </a:r>
            <a:r>
              <a:rPr lang="en-US" sz="600" b="0">
                <a:solidFill>
                  <a:srgbClr val="00338D"/>
                </a:solidFill>
                <a:latin typeface="Arial"/>
              </a:rPr>
              <a:t>CIM provided information.</a:t>
            </a:r>
            <a:endParaRPr kumimoji="0" lang="en-US" sz="600" b="0" i="0" strike="noStrike" kern="1200" cap="none" spc="0" normalizeH="0" baseline="0" noProof="0">
              <a:ln>
                <a:noFill/>
              </a:ln>
              <a:solidFill>
                <a:srgbClr val="00338D"/>
              </a:solidFill>
              <a:effectLst/>
              <a:uLnTx/>
              <a:uFillTx/>
              <a:latin typeface="Arial"/>
              <a:ea typeface="+mn-ea"/>
              <a:cs typeface="+mn-cs"/>
            </a:endParaRPr>
          </a:p>
        </p:txBody>
      </p:sp>
      <p:sp>
        <p:nvSpPr>
          <p:cNvPr id="63" name="UpSlide SubSection Marker" hidden="1">
            <a:extLst>
              <a:ext uri="{FF2B5EF4-FFF2-40B4-BE49-F238E27FC236}">
                <a16:creationId xmlns:a16="http://schemas.microsoft.com/office/drawing/2014/main" id="{D94F6F3C-33BD-A6CC-724A-AB472F6F7CAF}"/>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Financial reporting environment</a:t>
            </a:r>
          </a:p>
        </p:txBody>
      </p:sp>
      <p:grpSp>
        <p:nvGrpSpPr>
          <p:cNvPr id="25" name="Group 24">
            <a:extLst>
              <a:ext uri="{FF2B5EF4-FFF2-40B4-BE49-F238E27FC236}">
                <a16:creationId xmlns:a16="http://schemas.microsoft.com/office/drawing/2014/main" id="{2D061ECF-FF92-36C6-14AC-D7BD19990F58}"/>
              </a:ext>
            </a:extLst>
          </p:cNvPr>
          <p:cNvGrpSpPr/>
          <p:nvPr>
            <p:custDataLst>
              <p:tags r:id="rId3"/>
            </p:custDataLst>
          </p:nvPr>
        </p:nvGrpSpPr>
        <p:grpSpPr>
          <a:xfrm>
            <a:off x="995364" y="153170"/>
            <a:ext cx="5856176" cy="195814"/>
            <a:chOff x="995364" y="153170"/>
            <a:chExt cx="5856176" cy="195814"/>
          </a:xfrm>
        </p:grpSpPr>
        <p:sp>
          <p:nvSpPr>
            <p:cNvPr id="26" name="Other Sections1">
              <a:hlinkClick r:id="rId1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7" name="Other Sections2">
              <a:hlinkClick r:id="rId2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8" name="Other Sections3">
              <a:hlinkClick r:id="rId2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9" name="Current Section4">
              <a:hlinkClick r:id="rId22" action="ppaction://hlinksldjump"/>
              <a:extLst>
                <a:ext uri="{FF2B5EF4-FFF2-40B4-BE49-F238E27FC236}">
                  <a16:creationId xmlns:a16="http://schemas.microsoft.com/office/drawing/2014/main" id="{89A61135-1F00-E77F-7C78-5FBA241A5742}"/>
                </a:ext>
              </a:extLst>
            </p:cNvPr>
            <p:cNvSpPr>
              <a:spLocks/>
            </p:cNvSpPr>
            <p:nvPr/>
          </p:nvSpPr>
          <p:spPr>
            <a:xfrm>
              <a:off x="3751129" y="153170"/>
              <a:ext cx="1275524"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Reporting environment</a:t>
              </a:r>
            </a:p>
          </p:txBody>
        </p:sp>
        <p:sp>
          <p:nvSpPr>
            <p:cNvPr id="30" name="Other Sections5">
              <a:hlinkClick r:id="rId23" action="ppaction://hlinksldjump"/>
              <a:extLst>
                <a:ext uri="{FF2B5EF4-FFF2-40B4-BE49-F238E27FC236}">
                  <a16:creationId xmlns:a16="http://schemas.microsoft.com/office/drawing/2014/main" id="{8A19844E-D291-CA81-3B22-2B52F21919DA}"/>
                </a:ext>
              </a:extLst>
            </p:cNvPr>
            <p:cNvSpPr>
              <a:spLocks/>
            </p:cNvSpPr>
            <p:nvPr/>
          </p:nvSpPr>
          <p:spPr>
            <a:xfrm>
              <a:off x="5026653"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1" name="Other Sections6">
              <a:hlinkClick r:id="rId24" action="ppaction://hlinksldjump"/>
              <a:extLst>
                <a:ext uri="{FF2B5EF4-FFF2-40B4-BE49-F238E27FC236}">
                  <a16:creationId xmlns:a16="http://schemas.microsoft.com/office/drawing/2014/main" id="{8A19844E-D291-CA81-3B22-2B52F21919DA}"/>
                </a:ext>
              </a:extLst>
            </p:cNvPr>
            <p:cNvSpPr>
              <a:spLocks/>
            </p:cNvSpPr>
            <p:nvPr/>
          </p:nvSpPr>
          <p:spPr>
            <a:xfrm>
              <a:off x="6162715"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888639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30" action="ppaction://hlinksldjump"/>
            <a:extLst>
              <a:ext uri="{FF2B5EF4-FFF2-40B4-BE49-F238E27FC236}">
                <a16:creationId xmlns:a16="http://schemas.microsoft.com/office/drawing/2014/main" id="{9FAE6ADD-C164-62AF-82DD-34DCE914F8FE}"/>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Gross margin by LOB</a:t>
            </a:r>
          </a:p>
        </p:txBody>
      </p:sp>
      <p:sp>
        <p:nvSpPr>
          <p:cNvPr id="5" name="TextBox 4">
            <a:hlinkClick r:id="rId31" action="ppaction://hlinksldjump"/>
            <a:extLst>
              <a:ext uri="{FF2B5EF4-FFF2-40B4-BE49-F238E27FC236}">
                <a16:creationId xmlns:a16="http://schemas.microsoft.com/office/drawing/2014/main" id="{07E77F69-1E6F-7AD1-152D-480C55765F97}"/>
              </a:ext>
            </a:extLst>
          </p:cNvPr>
          <p:cNvSpPr txBox="1"/>
          <p:nvPr>
            <p:custDataLst>
              <p:tags r:id="rId3"/>
            </p:custDataLst>
          </p:nvPr>
        </p:nvSpPr>
        <p:spPr>
          <a:xfrm>
            <a:off x="1806250" y="3831782"/>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Summary</a:t>
            </a:r>
          </a:p>
        </p:txBody>
      </p:sp>
      <p:sp>
        <p:nvSpPr>
          <p:cNvPr id="6" name="TextBox 5">
            <a:hlinkClick r:id="rId32" action="ppaction://hlinksldjump"/>
            <a:extLst>
              <a:ext uri="{FF2B5EF4-FFF2-40B4-BE49-F238E27FC236}">
                <a16:creationId xmlns:a16="http://schemas.microsoft.com/office/drawing/2014/main" id="{6EA20E2A-ECC1-3AF0-F896-4AA3FA20C61F}"/>
              </a:ext>
            </a:extLst>
          </p:cNvPr>
          <p:cNvSpPr txBox="1"/>
          <p:nvPr>
            <p:custDataLst>
              <p:tags r:id="rId4"/>
            </p:custDataLst>
          </p:nvPr>
        </p:nvSpPr>
        <p:spPr>
          <a:xfrm>
            <a:off x="1806250" y="4188398"/>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Mobile payments</a:t>
            </a:r>
          </a:p>
        </p:txBody>
      </p:sp>
      <p:sp>
        <p:nvSpPr>
          <p:cNvPr id="7" name="TextBox 6">
            <a:hlinkClick r:id="rId33" action="ppaction://hlinksldjump"/>
            <a:extLst>
              <a:ext uri="{FF2B5EF4-FFF2-40B4-BE49-F238E27FC236}">
                <a16:creationId xmlns:a16="http://schemas.microsoft.com/office/drawing/2014/main" id="{1DEFA18F-0B39-846A-8BB8-D72F140D1167}"/>
              </a:ext>
            </a:extLst>
          </p:cNvPr>
          <p:cNvSpPr txBox="1"/>
          <p:nvPr>
            <p:custDataLst>
              <p:tags r:id="rId5"/>
            </p:custDataLst>
          </p:nvPr>
        </p:nvSpPr>
        <p:spPr>
          <a:xfrm>
            <a:off x="1806250" y="4545014"/>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Payment network gateway</a:t>
            </a:r>
          </a:p>
        </p:txBody>
      </p:sp>
      <p:sp>
        <p:nvSpPr>
          <p:cNvPr id="8" name="TextBox 7">
            <a:hlinkClick r:id="rId34" action="ppaction://hlinksldjump"/>
            <a:extLst>
              <a:ext uri="{FF2B5EF4-FFF2-40B4-BE49-F238E27FC236}">
                <a16:creationId xmlns:a16="http://schemas.microsoft.com/office/drawing/2014/main" id="{3E3D0802-5626-7F28-6C5D-A2CA98A416D6}"/>
              </a:ext>
            </a:extLst>
          </p:cNvPr>
          <p:cNvSpPr txBox="1"/>
          <p:nvPr>
            <p:custDataLst>
              <p:tags r:id="rId6"/>
            </p:custDataLst>
          </p:nvPr>
        </p:nvSpPr>
        <p:spPr>
          <a:xfrm>
            <a:off x="1806250" y="4901629"/>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Card management</a:t>
            </a:r>
          </a:p>
        </p:txBody>
      </p:sp>
      <p:sp>
        <p:nvSpPr>
          <p:cNvPr id="9" name="TextBox 8">
            <a:hlinkClick r:id="rId35" action="ppaction://hlinksldjump"/>
            <a:extLst>
              <a:ext uri="{FF2B5EF4-FFF2-40B4-BE49-F238E27FC236}">
                <a16:creationId xmlns:a16="http://schemas.microsoft.com/office/drawing/2014/main" id="{4F5FB145-68A2-451F-DEB0-6D6895B4C132}"/>
              </a:ext>
            </a:extLst>
          </p:cNvPr>
          <p:cNvSpPr txBox="1"/>
          <p:nvPr>
            <p:custDataLst>
              <p:tags r:id="rId7"/>
            </p:custDataLst>
          </p:nvPr>
        </p:nvSpPr>
        <p:spPr>
          <a:xfrm>
            <a:off x="1806250" y="5258245"/>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Retail solutions</a:t>
            </a:r>
          </a:p>
        </p:txBody>
      </p:sp>
      <p:sp>
        <p:nvSpPr>
          <p:cNvPr id="10" name="TextBox 9">
            <a:hlinkClick r:id="rId36" action="ppaction://hlinksldjump"/>
            <a:extLst>
              <a:ext uri="{FF2B5EF4-FFF2-40B4-BE49-F238E27FC236}">
                <a16:creationId xmlns:a16="http://schemas.microsoft.com/office/drawing/2014/main" id="{9F1163D7-105E-2437-A212-7634349122F4}"/>
              </a:ext>
            </a:extLst>
          </p:cNvPr>
          <p:cNvSpPr txBox="1"/>
          <p:nvPr>
            <p:custDataLst>
              <p:tags r:id="rId8"/>
            </p:custDataLst>
          </p:nvPr>
        </p:nvSpPr>
        <p:spPr>
          <a:xfrm>
            <a:off x="6807558" y="3566606"/>
            <a:ext cx="4229806"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ATM managed services</a:t>
            </a:r>
          </a:p>
        </p:txBody>
      </p:sp>
      <p:sp>
        <p:nvSpPr>
          <p:cNvPr id="11" name="TextBox 10">
            <a:hlinkClick r:id="rId37" action="ppaction://hlinksldjump"/>
            <a:extLst>
              <a:ext uri="{FF2B5EF4-FFF2-40B4-BE49-F238E27FC236}">
                <a16:creationId xmlns:a16="http://schemas.microsoft.com/office/drawing/2014/main" id="{D8D08277-2833-0391-74B5-270D924D234E}"/>
              </a:ext>
            </a:extLst>
          </p:cNvPr>
          <p:cNvSpPr txBox="1"/>
          <p:nvPr>
            <p:custDataLst>
              <p:tags r:id="rId9"/>
            </p:custDataLst>
          </p:nvPr>
        </p:nvSpPr>
        <p:spPr>
          <a:xfrm>
            <a:off x="6807558" y="3923222"/>
            <a:ext cx="4229807"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Fraud management</a:t>
            </a:r>
          </a:p>
        </p:txBody>
      </p:sp>
      <p:sp>
        <p:nvSpPr>
          <p:cNvPr id="12" name="TextBox 11">
            <a:hlinkClick r:id="rId38" action="ppaction://hlinksldjump"/>
            <a:extLst>
              <a:ext uri="{FF2B5EF4-FFF2-40B4-BE49-F238E27FC236}">
                <a16:creationId xmlns:a16="http://schemas.microsoft.com/office/drawing/2014/main" id="{B3AB085E-9210-02A0-9030-11C2E9FAF3D6}"/>
              </a:ext>
            </a:extLst>
          </p:cNvPr>
          <p:cNvSpPr txBox="1"/>
          <p:nvPr>
            <p:custDataLst>
              <p:tags r:id="rId10"/>
            </p:custDataLst>
          </p:nvPr>
        </p:nvSpPr>
        <p:spPr>
          <a:xfrm>
            <a:off x="6807558" y="4279838"/>
            <a:ext cx="4229807"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Digital solutions</a:t>
            </a:r>
          </a:p>
        </p:txBody>
      </p:sp>
      <p:sp>
        <p:nvSpPr>
          <p:cNvPr id="13" name="TextBox 12">
            <a:hlinkClick r:id="rId30" action="ppaction://hlinksldjump"/>
            <a:extLst>
              <a:ext uri="{FF2B5EF4-FFF2-40B4-BE49-F238E27FC236}">
                <a16:creationId xmlns:a16="http://schemas.microsoft.com/office/drawing/2014/main" id="{2D36B019-0C07-EE88-AF9F-97684E99A158}"/>
              </a:ext>
            </a:extLst>
          </p:cNvPr>
          <p:cNvSpPr txBox="1"/>
          <p:nvPr>
            <p:custDataLst>
              <p:tags r:id="rId11"/>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05</a:t>
            </a:r>
          </a:p>
        </p:txBody>
      </p:sp>
      <p:sp>
        <p:nvSpPr>
          <p:cNvPr id="14" name="TextBox 13">
            <a:hlinkClick r:id="rId30" action="ppaction://hlinksldjump"/>
            <a:extLst>
              <a:ext uri="{FF2B5EF4-FFF2-40B4-BE49-F238E27FC236}">
                <a16:creationId xmlns:a16="http://schemas.microsoft.com/office/drawing/2014/main" id="{0D7B544E-1D3C-6E0A-D65A-3A18FF59B4DA}"/>
              </a:ext>
            </a:extLst>
          </p:cNvPr>
          <p:cNvSpPr txBox="1"/>
          <p:nvPr>
            <p:custDataLst>
              <p:tags r:id="rId12"/>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44</a:t>
            </a:r>
          </a:p>
        </p:txBody>
      </p:sp>
      <p:sp>
        <p:nvSpPr>
          <p:cNvPr id="15" name="TextBox 14">
            <a:hlinkClick r:id="rId31" action="ppaction://hlinksldjump"/>
            <a:extLst>
              <a:ext uri="{FF2B5EF4-FFF2-40B4-BE49-F238E27FC236}">
                <a16:creationId xmlns:a16="http://schemas.microsoft.com/office/drawing/2014/main" id="{7D5667F5-7F50-59A7-E1DB-3468725EE852}"/>
              </a:ext>
            </a:extLst>
          </p:cNvPr>
          <p:cNvSpPr txBox="1"/>
          <p:nvPr>
            <p:custDataLst>
              <p:tags r:id="rId13"/>
            </p:custDataLst>
          </p:nvPr>
        </p:nvSpPr>
        <p:spPr bwMode="auto">
          <a:xfrm>
            <a:off x="1332373" y="383178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5.1</a:t>
            </a:r>
          </a:p>
        </p:txBody>
      </p:sp>
      <p:sp>
        <p:nvSpPr>
          <p:cNvPr id="16" name="TextBox 15">
            <a:hlinkClick r:id="rId32" action="ppaction://hlinksldjump"/>
            <a:extLst>
              <a:ext uri="{FF2B5EF4-FFF2-40B4-BE49-F238E27FC236}">
                <a16:creationId xmlns:a16="http://schemas.microsoft.com/office/drawing/2014/main" id="{FDC827FA-CEFE-A8E5-4FB2-7FC23396587D}"/>
              </a:ext>
            </a:extLst>
          </p:cNvPr>
          <p:cNvSpPr txBox="1"/>
          <p:nvPr>
            <p:custDataLst>
              <p:tags r:id="rId14"/>
            </p:custDataLst>
          </p:nvPr>
        </p:nvSpPr>
        <p:spPr bwMode="auto">
          <a:xfrm>
            <a:off x="1332373" y="418839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5.2</a:t>
            </a:r>
          </a:p>
        </p:txBody>
      </p:sp>
      <p:sp>
        <p:nvSpPr>
          <p:cNvPr id="17" name="TextBox 16">
            <a:hlinkClick r:id="rId33" action="ppaction://hlinksldjump"/>
            <a:extLst>
              <a:ext uri="{FF2B5EF4-FFF2-40B4-BE49-F238E27FC236}">
                <a16:creationId xmlns:a16="http://schemas.microsoft.com/office/drawing/2014/main" id="{0D3330E4-36C6-72C6-7043-F20F830FC526}"/>
              </a:ext>
            </a:extLst>
          </p:cNvPr>
          <p:cNvSpPr txBox="1"/>
          <p:nvPr>
            <p:custDataLst>
              <p:tags r:id="rId15"/>
            </p:custDataLst>
          </p:nvPr>
        </p:nvSpPr>
        <p:spPr bwMode="auto">
          <a:xfrm>
            <a:off x="1332373" y="4545014"/>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5.3</a:t>
            </a:r>
          </a:p>
        </p:txBody>
      </p:sp>
      <p:sp>
        <p:nvSpPr>
          <p:cNvPr id="18" name="TextBox 17">
            <a:hlinkClick r:id="rId34" action="ppaction://hlinksldjump"/>
            <a:extLst>
              <a:ext uri="{FF2B5EF4-FFF2-40B4-BE49-F238E27FC236}">
                <a16:creationId xmlns:a16="http://schemas.microsoft.com/office/drawing/2014/main" id="{274378A0-4AAE-9FFE-1C9A-2FA91B1802A0}"/>
              </a:ext>
            </a:extLst>
          </p:cNvPr>
          <p:cNvSpPr txBox="1"/>
          <p:nvPr>
            <p:custDataLst>
              <p:tags r:id="rId16"/>
            </p:custDataLst>
          </p:nvPr>
        </p:nvSpPr>
        <p:spPr bwMode="auto">
          <a:xfrm>
            <a:off x="1332373" y="4901629"/>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5.4</a:t>
            </a:r>
          </a:p>
        </p:txBody>
      </p:sp>
      <p:sp>
        <p:nvSpPr>
          <p:cNvPr id="19" name="TextBox 18">
            <a:hlinkClick r:id="rId35" action="ppaction://hlinksldjump"/>
            <a:extLst>
              <a:ext uri="{FF2B5EF4-FFF2-40B4-BE49-F238E27FC236}">
                <a16:creationId xmlns:a16="http://schemas.microsoft.com/office/drawing/2014/main" id="{52589A2D-2EDF-DB30-EAC4-E3E458E34009}"/>
              </a:ext>
            </a:extLst>
          </p:cNvPr>
          <p:cNvSpPr txBox="1"/>
          <p:nvPr>
            <p:custDataLst>
              <p:tags r:id="rId17"/>
            </p:custDataLst>
          </p:nvPr>
        </p:nvSpPr>
        <p:spPr bwMode="auto">
          <a:xfrm>
            <a:off x="1332373" y="5258245"/>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5.5</a:t>
            </a:r>
          </a:p>
        </p:txBody>
      </p:sp>
      <p:sp>
        <p:nvSpPr>
          <p:cNvPr id="20" name="TextBox 19">
            <a:hlinkClick r:id="rId36" action="ppaction://hlinksldjump"/>
            <a:extLst>
              <a:ext uri="{FF2B5EF4-FFF2-40B4-BE49-F238E27FC236}">
                <a16:creationId xmlns:a16="http://schemas.microsoft.com/office/drawing/2014/main" id="{72F29A9D-85B8-BF4D-2205-A6F468C749F7}"/>
              </a:ext>
            </a:extLst>
          </p:cNvPr>
          <p:cNvSpPr txBox="1"/>
          <p:nvPr>
            <p:custDataLst>
              <p:tags r:id="rId18"/>
            </p:custDataLst>
          </p:nvPr>
        </p:nvSpPr>
        <p:spPr bwMode="auto">
          <a:xfrm>
            <a:off x="6333681" y="35666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5.6</a:t>
            </a:r>
          </a:p>
        </p:txBody>
      </p:sp>
      <p:sp>
        <p:nvSpPr>
          <p:cNvPr id="21" name="TextBox 20">
            <a:hlinkClick r:id="rId37" action="ppaction://hlinksldjump"/>
            <a:extLst>
              <a:ext uri="{FF2B5EF4-FFF2-40B4-BE49-F238E27FC236}">
                <a16:creationId xmlns:a16="http://schemas.microsoft.com/office/drawing/2014/main" id="{DA1A1050-11EC-4300-F300-6CA583FA45D0}"/>
              </a:ext>
            </a:extLst>
          </p:cNvPr>
          <p:cNvSpPr txBox="1"/>
          <p:nvPr>
            <p:custDataLst>
              <p:tags r:id="rId19"/>
            </p:custDataLst>
          </p:nvPr>
        </p:nvSpPr>
        <p:spPr bwMode="auto">
          <a:xfrm>
            <a:off x="6333681" y="39232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5.7</a:t>
            </a:r>
          </a:p>
        </p:txBody>
      </p:sp>
      <p:sp>
        <p:nvSpPr>
          <p:cNvPr id="22" name="TextBox 21">
            <a:hlinkClick r:id="rId38" action="ppaction://hlinksldjump"/>
            <a:extLst>
              <a:ext uri="{FF2B5EF4-FFF2-40B4-BE49-F238E27FC236}">
                <a16:creationId xmlns:a16="http://schemas.microsoft.com/office/drawing/2014/main" id="{85CFECAB-F968-61C6-96A0-AF311D0F646E}"/>
              </a:ext>
            </a:extLst>
          </p:cNvPr>
          <p:cNvSpPr txBox="1"/>
          <p:nvPr>
            <p:custDataLst>
              <p:tags r:id="rId20"/>
            </p:custDataLst>
          </p:nvPr>
        </p:nvSpPr>
        <p:spPr bwMode="auto">
          <a:xfrm>
            <a:off x="6333681" y="427983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5.8</a:t>
            </a:r>
          </a:p>
        </p:txBody>
      </p:sp>
      <p:sp>
        <p:nvSpPr>
          <p:cNvPr id="23" name="TextBox 22">
            <a:hlinkClick r:id="rId31" action="ppaction://hlinksldjump"/>
            <a:extLst>
              <a:ext uri="{FF2B5EF4-FFF2-40B4-BE49-F238E27FC236}">
                <a16:creationId xmlns:a16="http://schemas.microsoft.com/office/drawing/2014/main" id="{BE13624F-7A2A-87B5-D07C-862115302EA3}"/>
              </a:ext>
            </a:extLst>
          </p:cNvPr>
          <p:cNvSpPr txBox="1"/>
          <p:nvPr>
            <p:custDataLst>
              <p:tags r:id="rId21"/>
            </p:custDataLst>
          </p:nvPr>
        </p:nvSpPr>
        <p:spPr>
          <a:xfrm>
            <a:off x="6163612" y="383178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45</a:t>
            </a:r>
          </a:p>
        </p:txBody>
      </p:sp>
      <p:sp>
        <p:nvSpPr>
          <p:cNvPr id="24" name="TextBox 23">
            <a:hlinkClick r:id="rId32" action="ppaction://hlinksldjump"/>
            <a:extLst>
              <a:ext uri="{FF2B5EF4-FFF2-40B4-BE49-F238E27FC236}">
                <a16:creationId xmlns:a16="http://schemas.microsoft.com/office/drawing/2014/main" id="{838C9813-55C1-BF8F-9398-E96ED855F71F}"/>
              </a:ext>
            </a:extLst>
          </p:cNvPr>
          <p:cNvSpPr txBox="1"/>
          <p:nvPr>
            <p:custDataLst>
              <p:tags r:id="rId22"/>
            </p:custDataLst>
          </p:nvPr>
        </p:nvSpPr>
        <p:spPr>
          <a:xfrm>
            <a:off x="6163612" y="4188398"/>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46</a:t>
            </a:r>
          </a:p>
        </p:txBody>
      </p:sp>
      <p:sp>
        <p:nvSpPr>
          <p:cNvPr id="25" name="TextBox 24">
            <a:hlinkClick r:id="rId33" action="ppaction://hlinksldjump"/>
            <a:extLst>
              <a:ext uri="{FF2B5EF4-FFF2-40B4-BE49-F238E27FC236}">
                <a16:creationId xmlns:a16="http://schemas.microsoft.com/office/drawing/2014/main" id="{2D0E9A5E-9D0D-AAEC-28A1-1AEB1A846D94}"/>
              </a:ext>
            </a:extLst>
          </p:cNvPr>
          <p:cNvSpPr txBox="1"/>
          <p:nvPr>
            <p:custDataLst>
              <p:tags r:id="rId23"/>
            </p:custDataLst>
          </p:nvPr>
        </p:nvSpPr>
        <p:spPr>
          <a:xfrm>
            <a:off x="6163612" y="4545014"/>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47</a:t>
            </a:r>
          </a:p>
        </p:txBody>
      </p:sp>
      <p:sp>
        <p:nvSpPr>
          <p:cNvPr id="26" name="TextBox 25">
            <a:hlinkClick r:id="rId34" action="ppaction://hlinksldjump"/>
            <a:extLst>
              <a:ext uri="{FF2B5EF4-FFF2-40B4-BE49-F238E27FC236}">
                <a16:creationId xmlns:a16="http://schemas.microsoft.com/office/drawing/2014/main" id="{352DD180-F6AC-5A78-49ED-0E91DB502693}"/>
              </a:ext>
            </a:extLst>
          </p:cNvPr>
          <p:cNvSpPr txBox="1"/>
          <p:nvPr>
            <p:custDataLst>
              <p:tags r:id="rId24"/>
            </p:custDataLst>
          </p:nvPr>
        </p:nvSpPr>
        <p:spPr>
          <a:xfrm>
            <a:off x="6163612" y="4901629"/>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48</a:t>
            </a:r>
          </a:p>
        </p:txBody>
      </p:sp>
      <p:sp>
        <p:nvSpPr>
          <p:cNvPr id="27" name="TextBox 26">
            <a:hlinkClick r:id="rId35" action="ppaction://hlinksldjump"/>
            <a:extLst>
              <a:ext uri="{FF2B5EF4-FFF2-40B4-BE49-F238E27FC236}">
                <a16:creationId xmlns:a16="http://schemas.microsoft.com/office/drawing/2014/main" id="{E33B1F68-D84F-5E59-8EA3-ECB4ED738BC9}"/>
              </a:ext>
            </a:extLst>
          </p:cNvPr>
          <p:cNvSpPr txBox="1"/>
          <p:nvPr>
            <p:custDataLst>
              <p:tags r:id="rId25"/>
            </p:custDataLst>
          </p:nvPr>
        </p:nvSpPr>
        <p:spPr>
          <a:xfrm>
            <a:off x="6163612" y="5258245"/>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49</a:t>
            </a:r>
          </a:p>
        </p:txBody>
      </p:sp>
      <p:sp>
        <p:nvSpPr>
          <p:cNvPr id="28" name="TextBox 27">
            <a:hlinkClick r:id="rId36" action="ppaction://hlinksldjump"/>
            <a:extLst>
              <a:ext uri="{FF2B5EF4-FFF2-40B4-BE49-F238E27FC236}">
                <a16:creationId xmlns:a16="http://schemas.microsoft.com/office/drawing/2014/main" id="{CF056846-897E-2437-AB7E-95D00EF04169}"/>
              </a:ext>
            </a:extLst>
          </p:cNvPr>
          <p:cNvSpPr txBox="1"/>
          <p:nvPr>
            <p:custDataLst>
              <p:tags r:id="rId26"/>
            </p:custDataLst>
          </p:nvPr>
        </p:nvSpPr>
        <p:spPr>
          <a:xfrm>
            <a:off x="10931809" y="3566606"/>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50</a:t>
            </a:r>
          </a:p>
        </p:txBody>
      </p:sp>
      <p:sp>
        <p:nvSpPr>
          <p:cNvPr id="29" name="TextBox 28">
            <a:hlinkClick r:id="rId37" action="ppaction://hlinksldjump"/>
            <a:extLst>
              <a:ext uri="{FF2B5EF4-FFF2-40B4-BE49-F238E27FC236}">
                <a16:creationId xmlns:a16="http://schemas.microsoft.com/office/drawing/2014/main" id="{F182B8D9-4372-FD35-C345-9AFDBECB25E8}"/>
              </a:ext>
            </a:extLst>
          </p:cNvPr>
          <p:cNvSpPr txBox="1"/>
          <p:nvPr>
            <p:custDataLst>
              <p:tags r:id="rId27"/>
            </p:custDataLst>
          </p:nvPr>
        </p:nvSpPr>
        <p:spPr>
          <a:xfrm>
            <a:off x="10931809" y="392322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51</a:t>
            </a:r>
          </a:p>
        </p:txBody>
      </p:sp>
      <p:sp>
        <p:nvSpPr>
          <p:cNvPr id="30" name="TextBox 29">
            <a:hlinkClick r:id="rId38" action="ppaction://hlinksldjump"/>
            <a:extLst>
              <a:ext uri="{FF2B5EF4-FFF2-40B4-BE49-F238E27FC236}">
                <a16:creationId xmlns:a16="http://schemas.microsoft.com/office/drawing/2014/main" id="{BDF135AD-F946-0EE5-9788-232F4CA4329F}"/>
              </a:ext>
            </a:extLst>
          </p:cNvPr>
          <p:cNvSpPr txBox="1"/>
          <p:nvPr>
            <p:custDataLst>
              <p:tags r:id="rId28"/>
            </p:custDataLst>
          </p:nvPr>
        </p:nvSpPr>
        <p:spPr>
          <a:xfrm>
            <a:off x="10931809" y="4279838"/>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52</a:t>
            </a:r>
          </a:p>
        </p:txBody>
      </p:sp>
    </p:spTree>
    <p:custDataLst>
      <p:tags r:id="rId1"/>
    </p:custDataLst>
    <p:extLst>
      <p:ext uri="{BB962C8B-B14F-4D97-AF65-F5344CB8AC3E}">
        <p14:creationId xmlns:p14="http://schemas.microsoft.com/office/powerpoint/2010/main" val="1938362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S</a:t>
            </a:r>
            <a:r>
              <a:rPr lang="en-US"/>
              <a:t>ummary (1/8)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Summary</a:t>
            </a:r>
          </a:p>
        </p:txBody>
      </p:sp>
      <p:pic>
        <p:nvPicPr>
          <p:cNvPr id="4" name="Picture 3">
            <a:extLst>
              <a:ext uri="{FF2B5EF4-FFF2-40B4-BE49-F238E27FC236}">
                <a16:creationId xmlns:a16="http://schemas.microsoft.com/office/drawing/2014/main" id="{869D3DE3-9A8D-B5B5-729D-C41B905CE8A1}"/>
              </a:ext>
            </a:extLst>
          </p:cNvPr>
          <p:cNvPicPr>
            <a:picLocks noChangeAspect="1"/>
          </p:cNvPicPr>
          <p:nvPr>
            <p:custDataLst>
              <p:tags r:id="rId2"/>
            </p:custDataLst>
          </p:nvPr>
        </p:nvPicPr>
        <p:blipFill>
          <a:blip r:embed="rId5"/>
          <a:stretch>
            <a:fillRect/>
          </a:stretch>
        </p:blipFill>
        <p:spPr>
          <a:xfrm>
            <a:off x="995361" y="1330326"/>
            <a:ext cx="10216104" cy="1438445"/>
          </a:xfrm>
          <a:prstGeom prst="rect">
            <a:avLst/>
          </a:prstGeom>
        </p:spPr>
      </p:pic>
      <p:sp>
        <p:nvSpPr>
          <p:cNvPr id="9" name="Text Placeholder 12">
            <a:extLst>
              <a:ext uri="{FF2B5EF4-FFF2-40B4-BE49-F238E27FC236}">
                <a16:creationId xmlns:a16="http://schemas.microsoft.com/office/drawing/2014/main" id="{53D0C75A-41F7-BA3D-D6E3-1C97F6FD35A5}"/>
              </a:ext>
            </a:extLst>
          </p:cNvPr>
          <p:cNvSpPr txBox="1">
            <a:spLocks/>
          </p:cNvSpPr>
          <p:nvPr/>
        </p:nvSpPr>
        <p:spPr>
          <a:xfrm>
            <a:off x="995362" y="2772018"/>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sp>
        <p:nvSpPr>
          <p:cNvPr id="10" name="TextBox 9">
            <a:extLst>
              <a:ext uri="{FF2B5EF4-FFF2-40B4-BE49-F238E27FC236}">
                <a16:creationId xmlns:a16="http://schemas.microsoft.com/office/drawing/2014/main" id="{2D1B15D9-645D-29D6-40A9-28562FA382D3}"/>
              </a:ext>
            </a:extLst>
          </p:cNvPr>
          <p:cNvSpPr txBox="1"/>
          <p:nvPr/>
        </p:nvSpPr>
        <p:spPr>
          <a:xfrm>
            <a:off x="992186" y="97155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a summary of gross margin by line of business, reconciling to internal financial statements. For purposes of certain quality of earnings adjustments, customer activity was mapped from billing data to lines of business via the mapping key to estimate gross margin.</a:t>
            </a:r>
          </a:p>
        </p:txBody>
      </p:sp>
      <p:grpSp>
        <p:nvGrpSpPr>
          <p:cNvPr id="27" name="Group 26">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6"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8625198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a:t>
            </a:r>
            <a:r>
              <a:rPr lang="en-US"/>
              <a:t>Mobile payments (2/8)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Mobile payments</a:t>
            </a:r>
          </a:p>
        </p:txBody>
      </p:sp>
      <p:sp>
        <p:nvSpPr>
          <p:cNvPr id="20" name="TextBox 19">
            <a:extLst>
              <a:ext uri="{FF2B5EF4-FFF2-40B4-BE49-F238E27FC236}">
                <a16:creationId xmlns:a16="http://schemas.microsoft.com/office/drawing/2014/main" id="{350B5ACB-0C18-DB16-1845-F050D1C71372}"/>
              </a:ext>
            </a:extLst>
          </p:cNvPr>
          <p:cNvSpPr txBox="1">
            <a:spLocks/>
          </p:cNvSpPr>
          <p:nvPr/>
        </p:nvSpPr>
        <p:spPr>
          <a:xfrm>
            <a:off x="7358448" y="1336378"/>
            <a:ext cx="3841365" cy="2323713"/>
          </a:xfrm>
          <a:prstGeom prst="rect">
            <a:avLst/>
          </a:prstGeom>
          <a:noFill/>
        </p:spPr>
        <p:txBody>
          <a:bodyPr wrap="square">
            <a:spAutoFit/>
          </a:bodyPr>
          <a:lstStyle/>
          <a:p>
            <a:pPr algn="l"/>
            <a:r>
              <a:rPr lang="en-US" sz="900" b="1">
                <a:solidFill>
                  <a:schemeClr val="tx2"/>
                </a:solidFill>
              </a:rPr>
              <a:t>Mobile payments:</a:t>
            </a:r>
          </a:p>
          <a:p>
            <a:pPr algn="l"/>
            <a:endParaRPr lang="en-US" sz="900" b="1">
              <a:solidFill>
                <a:schemeClr val="tx2"/>
              </a:solidFill>
            </a:endParaRPr>
          </a:p>
          <a:p>
            <a:pPr marL="171450" indent="-171450" algn="l">
              <a:spcAft>
                <a:spcPts val="600"/>
              </a:spcAft>
              <a:buClr>
                <a:schemeClr val="bg1">
                  <a:lumMod val="50000"/>
                </a:schemeClr>
              </a:buClr>
              <a:buFont typeface="Arial" panose="020B0604020202020204" pitchFamily="34" charset="0"/>
              <a:buChar char="•"/>
            </a:pPr>
            <a:r>
              <a:rPr lang="en-US" sz="900"/>
              <a:t>Mobile payment represents contactless card payments processed through mobile wallets (i.e. Apple Pay, Google Pay, and Samsung Pay). The Company has partnered with Interac to provide 100% of tokenized mobile debit payments in Canada. </a:t>
            </a:r>
          </a:p>
          <a:p>
            <a:pPr marL="171450" indent="-171450" algn="l">
              <a:spcAft>
                <a:spcPts val="600"/>
              </a:spcAft>
              <a:buClr>
                <a:schemeClr val="bg1">
                  <a:lumMod val="50000"/>
                </a:schemeClr>
              </a:buClr>
              <a:buFont typeface="Arial" panose="020B0604020202020204" pitchFamily="34" charset="0"/>
              <a:buChar char="•"/>
            </a:pPr>
            <a:r>
              <a:rPr lang="en-US" sz="900"/>
              <a:t>The mobile payments sector accounted for 28.9% of TTM Jun-24 reported revenue, reflecting the highest revenue generating line of business. This segment also generated the highest gross margin, ranging from 99.5% to 100.0% between FY21 and TTM Jun-24, due to negligible variable costs within COGS. $34,000 variable expenses in TTM Jun-24 pertain to reimbursed pass through expenses.</a:t>
            </a:r>
          </a:p>
          <a:p>
            <a:pPr marL="171450" indent="-171450" algn="l">
              <a:spcAft>
                <a:spcPts val="600"/>
              </a:spcAft>
              <a:buClr>
                <a:schemeClr val="bg1">
                  <a:lumMod val="50000"/>
                </a:schemeClr>
              </a:buClr>
              <a:buFont typeface="Arial" panose="020B0604020202020204" pitchFamily="34" charset="0"/>
              <a:buChar char="•"/>
            </a:pPr>
            <a:r>
              <a:rPr lang="en-US" sz="900"/>
              <a:t>Transaction-related variable infrastructure costs are recorded as operating expenses, and not included in the gross margin calculation. </a:t>
            </a:r>
            <a:endParaRPr lang="en-US" sz="900">
              <a:highlight>
                <a:srgbClr val="FFFF00"/>
              </a:highlight>
            </a:endParaRPr>
          </a:p>
        </p:txBody>
      </p:sp>
      <p:sp>
        <p:nvSpPr>
          <p:cNvPr id="6" name="Text Placeholder 12">
            <a:extLst>
              <a:ext uri="{FF2B5EF4-FFF2-40B4-BE49-F238E27FC236}">
                <a16:creationId xmlns:a16="http://schemas.microsoft.com/office/drawing/2014/main" id="{53FF35C6-70F2-111E-17EB-38639079715F}"/>
              </a:ext>
            </a:extLst>
          </p:cNvPr>
          <p:cNvSpPr txBox="1">
            <a:spLocks/>
          </p:cNvSpPr>
          <p:nvPr/>
        </p:nvSpPr>
        <p:spPr>
          <a:xfrm>
            <a:off x="995363" y="3501763"/>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pic>
        <p:nvPicPr>
          <p:cNvPr id="14" name="Picture 13">
            <a:extLst>
              <a:ext uri="{FF2B5EF4-FFF2-40B4-BE49-F238E27FC236}">
                <a16:creationId xmlns:a16="http://schemas.microsoft.com/office/drawing/2014/main" id="{F0EE5570-34FE-7B2E-CCC4-9D21E21ADE2F}"/>
              </a:ext>
            </a:extLst>
          </p:cNvPr>
          <p:cNvPicPr>
            <a:picLocks noChangeAspect="1"/>
          </p:cNvPicPr>
          <p:nvPr>
            <p:custDataLst>
              <p:tags r:id="rId2"/>
            </p:custDataLst>
          </p:nvPr>
        </p:nvPicPr>
        <p:blipFill>
          <a:blip r:embed="rId5"/>
          <a:stretch>
            <a:fillRect/>
          </a:stretch>
        </p:blipFill>
        <p:spPr>
          <a:xfrm>
            <a:off x="995363" y="1340110"/>
            <a:ext cx="6291529" cy="2149297"/>
          </a:xfrm>
          <a:prstGeom prst="rect">
            <a:avLst/>
          </a:prstGeom>
        </p:spPr>
      </p:pic>
      <p:grpSp>
        <p:nvGrpSpPr>
          <p:cNvPr id="21" name="Group 20">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7"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574689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a:t>
            </a:r>
            <a:r>
              <a:rPr lang="en-US"/>
              <a:t>Payment network gateway (3/8)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Payment network gateway</a:t>
            </a:r>
          </a:p>
        </p:txBody>
      </p:sp>
      <p:sp>
        <p:nvSpPr>
          <p:cNvPr id="20" name="TextBox 19">
            <a:extLst>
              <a:ext uri="{FF2B5EF4-FFF2-40B4-BE49-F238E27FC236}">
                <a16:creationId xmlns:a16="http://schemas.microsoft.com/office/drawing/2014/main" id="{350B5ACB-0C18-DB16-1845-F050D1C71372}"/>
              </a:ext>
            </a:extLst>
          </p:cNvPr>
          <p:cNvSpPr txBox="1">
            <a:spLocks/>
          </p:cNvSpPr>
          <p:nvPr/>
        </p:nvSpPr>
        <p:spPr>
          <a:xfrm>
            <a:off x="7358448" y="1336378"/>
            <a:ext cx="3841365" cy="2400657"/>
          </a:xfrm>
          <a:prstGeom prst="rect">
            <a:avLst/>
          </a:prstGeom>
          <a:noFill/>
        </p:spPr>
        <p:txBody>
          <a:bodyPr wrap="square">
            <a:spAutoFit/>
          </a:bodyPr>
          <a:lstStyle/>
          <a:p>
            <a:pPr algn="l"/>
            <a:r>
              <a:rPr lang="en-US" sz="900" b="1">
                <a:solidFill>
                  <a:schemeClr val="tx2"/>
                </a:solidFill>
              </a:rPr>
              <a:t>Payment network gateway:</a:t>
            </a:r>
          </a:p>
          <a:p>
            <a:pPr algn="l"/>
            <a:endParaRPr lang="en-US" sz="900" b="1">
              <a:solidFill>
                <a:schemeClr val="tx2"/>
              </a:solidFill>
            </a:endParaRPr>
          </a:p>
          <a:p>
            <a:pPr marL="171450" indent="-171450" algn="l">
              <a:spcAft>
                <a:spcPts val="600"/>
              </a:spcAft>
              <a:buClr>
                <a:schemeClr val="bg1">
                  <a:lumMod val="50000"/>
                </a:schemeClr>
              </a:buClr>
              <a:buFont typeface="Arial" panose="020B0604020202020204" pitchFamily="34" charset="0"/>
              <a:buChar char="•"/>
            </a:pPr>
            <a:r>
              <a:rPr lang="en-US" sz="900"/>
              <a:t>The Payment Network Gateway Service offers the necessary technological infrastructure and payment network connectivity to banks and credit unions through the ACI Base24 / HP NonStop payments processing platform.</a:t>
            </a:r>
          </a:p>
          <a:p>
            <a:pPr marL="171450" indent="-171450" algn="l">
              <a:spcAft>
                <a:spcPts val="600"/>
              </a:spcAft>
              <a:buClr>
                <a:schemeClr val="bg1">
                  <a:lumMod val="50000"/>
                </a:schemeClr>
              </a:buClr>
              <a:buFont typeface="Arial" panose="020B0604020202020204" pitchFamily="34" charset="0"/>
              <a:buChar char="•"/>
            </a:pPr>
            <a:r>
              <a:rPr lang="en-US" sz="900"/>
              <a:t>Payment network gateway is the second largest revenue generating line of business generating $17.3 million revenue in TTM Jun-24. </a:t>
            </a:r>
          </a:p>
          <a:p>
            <a:pPr marL="171450" indent="-171450" algn="l">
              <a:spcAft>
                <a:spcPts val="600"/>
              </a:spcAft>
              <a:buClr>
                <a:schemeClr val="bg1">
                  <a:lumMod val="50000"/>
                </a:schemeClr>
              </a:buClr>
              <a:buFont typeface="Arial" panose="020B0604020202020204" pitchFamily="34" charset="0"/>
              <a:buChar char="•"/>
            </a:pPr>
            <a:r>
              <a:rPr lang="en-US" sz="900"/>
              <a:t>Reported gross margin declined from 86.9% in FY21 to 83.8% in TTM Jun-24 due to an increase in pass through Mastercard interchange and switch fees. from 3.6% to 6.1% of overall revenue, across the same period. </a:t>
            </a:r>
          </a:p>
          <a:p>
            <a:pPr marL="171450" indent="-171450">
              <a:spcAft>
                <a:spcPts val="600"/>
              </a:spcAft>
              <a:buClr>
                <a:schemeClr val="bg1">
                  <a:lumMod val="50000"/>
                </a:schemeClr>
              </a:buClr>
              <a:buFont typeface="Arial" panose="020B0604020202020204" pitchFamily="34" charset="0"/>
              <a:buChar char="•"/>
            </a:pPr>
            <a:r>
              <a:rPr lang="en-US" sz="900"/>
              <a:t>Transaction-related variable infrastructure costs are recorded as operating expenses, and not included in the gross margin calculation. </a:t>
            </a:r>
            <a:endParaRPr lang="en-US" sz="900">
              <a:highlight>
                <a:srgbClr val="FFFF00"/>
              </a:highlight>
            </a:endParaRPr>
          </a:p>
        </p:txBody>
      </p:sp>
      <p:sp>
        <p:nvSpPr>
          <p:cNvPr id="6" name="Text Placeholder 12">
            <a:extLst>
              <a:ext uri="{FF2B5EF4-FFF2-40B4-BE49-F238E27FC236}">
                <a16:creationId xmlns:a16="http://schemas.microsoft.com/office/drawing/2014/main" id="{327D072F-EFDA-EBF0-F015-628BACB8DF1E}"/>
              </a:ext>
            </a:extLst>
          </p:cNvPr>
          <p:cNvSpPr txBox="1">
            <a:spLocks/>
          </p:cNvSpPr>
          <p:nvPr/>
        </p:nvSpPr>
        <p:spPr>
          <a:xfrm>
            <a:off x="995363" y="4038047"/>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pic>
        <p:nvPicPr>
          <p:cNvPr id="13" name="Picture 12">
            <a:extLst>
              <a:ext uri="{FF2B5EF4-FFF2-40B4-BE49-F238E27FC236}">
                <a16:creationId xmlns:a16="http://schemas.microsoft.com/office/drawing/2014/main" id="{8509EB96-97C7-8BA4-0AE3-128FE77CC5EB}"/>
              </a:ext>
            </a:extLst>
          </p:cNvPr>
          <p:cNvPicPr>
            <a:picLocks noChangeAspect="1"/>
          </p:cNvPicPr>
          <p:nvPr>
            <p:custDataLst>
              <p:tags r:id="rId2"/>
            </p:custDataLst>
          </p:nvPr>
        </p:nvPicPr>
        <p:blipFill>
          <a:blip r:embed="rId5"/>
          <a:stretch>
            <a:fillRect/>
          </a:stretch>
        </p:blipFill>
        <p:spPr>
          <a:xfrm>
            <a:off x="995363" y="1340110"/>
            <a:ext cx="6303874" cy="2697937"/>
          </a:xfrm>
          <a:prstGeom prst="rect">
            <a:avLst/>
          </a:prstGeom>
        </p:spPr>
      </p:pic>
      <p:grpSp>
        <p:nvGrpSpPr>
          <p:cNvPr id="21" name="Group 20">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7"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6946023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a:t>
            </a:r>
            <a:r>
              <a:rPr lang="en-US"/>
              <a:t>Card management  (4/8)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Card management</a:t>
            </a:r>
          </a:p>
        </p:txBody>
      </p:sp>
      <p:sp>
        <p:nvSpPr>
          <p:cNvPr id="20" name="TextBox 19">
            <a:extLst>
              <a:ext uri="{FF2B5EF4-FFF2-40B4-BE49-F238E27FC236}">
                <a16:creationId xmlns:a16="http://schemas.microsoft.com/office/drawing/2014/main" id="{350B5ACB-0C18-DB16-1845-F050D1C71372}"/>
              </a:ext>
            </a:extLst>
          </p:cNvPr>
          <p:cNvSpPr txBox="1">
            <a:spLocks/>
          </p:cNvSpPr>
          <p:nvPr/>
        </p:nvSpPr>
        <p:spPr>
          <a:xfrm>
            <a:off x="7358448" y="1336378"/>
            <a:ext cx="3841365" cy="2908489"/>
          </a:xfrm>
          <a:prstGeom prst="rect">
            <a:avLst/>
          </a:prstGeom>
          <a:noFill/>
        </p:spPr>
        <p:txBody>
          <a:bodyPr wrap="square">
            <a:spAutoFit/>
          </a:bodyPr>
          <a:lstStyle/>
          <a:p>
            <a:pPr algn="l"/>
            <a:r>
              <a:rPr lang="en-US" sz="900" b="1">
                <a:solidFill>
                  <a:schemeClr val="tx2"/>
                </a:solidFill>
              </a:rPr>
              <a:t>Card issuance and management:</a:t>
            </a:r>
          </a:p>
          <a:p>
            <a:pPr algn="l"/>
            <a:endParaRPr lang="en-US" sz="900" b="1">
              <a:solidFill>
                <a:schemeClr val="tx2"/>
              </a:solidFill>
            </a:endParaRPr>
          </a:p>
          <a:p>
            <a:pPr marL="171450" indent="-171450" algn="l">
              <a:spcAft>
                <a:spcPts val="600"/>
              </a:spcAft>
              <a:buClr>
                <a:schemeClr val="bg1">
                  <a:lumMod val="50000"/>
                </a:schemeClr>
              </a:buClr>
              <a:buFont typeface="Arial" panose="020B0604020202020204" pitchFamily="34" charset="0"/>
              <a:buChar char="•"/>
            </a:pPr>
            <a:r>
              <a:rPr lang="en-US" sz="900"/>
              <a:t>The Company offers debit cards issuance solutions and pin change devices to credit unions and banks. The Company has partnered with major card manufacturers to produce EMV Chip debit cards.</a:t>
            </a:r>
          </a:p>
          <a:p>
            <a:pPr marL="171450" indent="-171450" algn="l">
              <a:spcAft>
                <a:spcPts val="600"/>
              </a:spcAft>
              <a:buClr>
                <a:schemeClr val="bg1">
                  <a:lumMod val="50000"/>
                </a:schemeClr>
              </a:buClr>
              <a:buFont typeface="Arial" panose="020B0604020202020204" pitchFamily="34" charset="0"/>
              <a:buChar char="•"/>
            </a:pPr>
            <a:r>
              <a:rPr lang="en-US" sz="900"/>
              <a:t>The card management line of business earns recurring revenue through card management fees. Administrative fees earned on cards issued translate 100% to profit.</a:t>
            </a:r>
          </a:p>
          <a:p>
            <a:pPr marL="171450" indent="-171450" algn="l">
              <a:spcAft>
                <a:spcPts val="600"/>
              </a:spcAft>
              <a:buClr>
                <a:schemeClr val="bg1">
                  <a:lumMod val="50000"/>
                </a:schemeClr>
              </a:buClr>
              <a:buFont typeface="Arial" panose="020B0604020202020204" pitchFamily="34" charset="0"/>
              <a:buChar char="•"/>
            </a:pPr>
            <a:r>
              <a:rPr lang="en-US" sz="900"/>
              <a:t>Gross margin has declined from 45.2% in FY21 to 38.2% in TTM Jun-24 which is driven by:</a:t>
            </a:r>
          </a:p>
          <a:p>
            <a:pPr marL="341313" lvl="1" indent="-165100">
              <a:spcAft>
                <a:spcPts val="600"/>
              </a:spcAft>
              <a:buClr>
                <a:schemeClr val="bg1">
                  <a:lumMod val="50000"/>
                </a:schemeClr>
              </a:buClr>
              <a:buFont typeface="Arial" panose="020B0604020202020204" pitchFamily="34" charset="0"/>
              <a:buChar char="‒"/>
            </a:pPr>
            <a:r>
              <a:rPr lang="en-US" sz="900"/>
              <a:t>A shift in product mix to lower-margin card issuance sales in which a majority of card production, personalization, and courier revenue and COGS are passed through to the customer; and </a:t>
            </a:r>
          </a:p>
          <a:p>
            <a:pPr marL="341313" lvl="1" indent="-165100">
              <a:spcAft>
                <a:spcPts val="600"/>
              </a:spcAft>
              <a:buClr>
                <a:schemeClr val="bg1">
                  <a:lumMod val="50000"/>
                </a:schemeClr>
              </a:buClr>
              <a:buFont typeface="Arial" panose="020B0604020202020204" pitchFamily="34" charset="0"/>
              <a:buChar char="‒"/>
            </a:pPr>
            <a:r>
              <a:rPr lang="en-US" sz="900"/>
              <a:t>Introduction of Visa and Mastercard debit cards which have taken share of the standard monthly fees earned on legacy cards.</a:t>
            </a:r>
          </a:p>
          <a:p>
            <a:pPr marL="628650" lvl="1" indent="-171450">
              <a:spcAft>
                <a:spcPts val="600"/>
              </a:spcAft>
              <a:buFont typeface="Arial" panose="020B0604020202020204" pitchFamily="34" charset="0"/>
              <a:buChar char="•"/>
            </a:pPr>
            <a:endParaRPr lang="en-US" sz="900">
              <a:solidFill>
                <a:schemeClr val="tx2"/>
              </a:solidFill>
            </a:endParaRPr>
          </a:p>
          <a:p>
            <a:pPr marL="628650" lvl="1" indent="-171450">
              <a:buFont typeface="Arial" panose="020B0604020202020204" pitchFamily="34" charset="0"/>
              <a:buChar char="•"/>
            </a:pPr>
            <a:endParaRPr lang="en-US" sz="900">
              <a:solidFill>
                <a:schemeClr val="tx2"/>
              </a:solidFill>
            </a:endParaRPr>
          </a:p>
        </p:txBody>
      </p:sp>
      <p:sp>
        <p:nvSpPr>
          <p:cNvPr id="6" name="Text Placeholder 12">
            <a:extLst>
              <a:ext uri="{FF2B5EF4-FFF2-40B4-BE49-F238E27FC236}">
                <a16:creationId xmlns:a16="http://schemas.microsoft.com/office/drawing/2014/main" id="{1BAF3208-263B-9826-A720-E887333CA04A}"/>
              </a:ext>
            </a:extLst>
          </p:cNvPr>
          <p:cNvSpPr txBox="1">
            <a:spLocks/>
          </p:cNvSpPr>
          <p:nvPr/>
        </p:nvSpPr>
        <p:spPr>
          <a:xfrm>
            <a:off x="995363" y="5004345"/>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pic>
        <p:nvPicPr>
          <p:cNvPr id="12" name="Picture 11">
            <a:extLst>
              <a:ext uri="{FF2B5EF4-FFF2-40B4-BE49-F238E27FC236}">
                <a16:creationId xmlns:a16="http://schemas.microsoft.com/office/drawing/2014/main" id="{38F75869-60B9-4839-BA3F-93EC3309AE3A}"/>
              </a:ext>
            </a:extLst>
          </p:cNvPr>
          <p:cNvPicPr>
            <a:picLocks noChangeAspect="1"/>
          </p:cNvPicPr>
          <p:nvPr>
            <p:custDataLst>
              <p:tags r:id="rId2"/>
            </p:custDataLst>
          </p:nvPr>
        </p:nvPicPr>
        <p:blipFill>
          <a:blip r:embed="rId5"/>
          <a:stretch>
            <a:fillRect/>
          </a:stretch>
        </p:blipFill>
        <p:spPr>
          <a:xfrm>
            <a:off x="995363" y="1340110"/>
            <a:ext cx="6338164" cy="3658057"/>
          </a:xfrm>
          <a:prstGeom prst="rect">
            <a:avLst/>
          </a:prstGeom>
        </p:spPr>
      </p:pic>
      <p:grpSp>
        <p:nvGrpSpPr>
          <p:cNvPr id="21" name="Group 20">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7"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2703201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a:t>
            </a:r>
            <a:r>
              <a:rPr lang="en-US"/>
              <a:t>Retail solutions(5/8)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Retail solutions</a:t>
            </a:r>
          </a:p>
        </p:txBody>
      </p:sp>
      <p:sp>
        <p:nvSpPr>
          <p:cNvPr id="7" name="Text Placeholder 12">
            <a:extLst>
              <a:ext uri="{FF2B5EF4-FFF2-40B4-BE49-F238E27FC236}">
                <a16:creationId xmlns:a16="http://schemas.microsoft.com/office/drawing/2014/main" id="{CAB5F58C-CDC7-9F7A-1665-643D0716F890}"/>
              </a:ext>
            </a:extLst>
          </p:cNvPr>
          <p:cNvSpPr txBox="1">
            <a:spLocks/>
          </p:cNvSpPr>
          <p:nvPr/>
        </p:nvSpPr>
        <p:spPr>
          <a:xfrm>
            <a:off x="995363" y="4038047"/>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sp>
        <p:nvSpPr>
          <p:cNvPr id="20" name="TextBox 19">
            <a:extLst>
              <a:ext uri="{FF2B5EF4-FFF2-40B4-BE49-F238E27FC236}">
                <a16:creationId xmlns:a16="http://schemas.microsoft.com/office/drawing/2014/main" id="{350B5ACB-0C18-DB16-1845-F050D1C71372}"/>
              </a:ext>
            </a:extLst>
          </p:cNvPr>
          <p:cNvSpPr txBox="1">
            <a:spLocks/>
          </p:cNvSpPr>
          <p:nvPr/>
        </p:nvSpPr>
        <p:spPr>
          <a:xfrm>
            <a:off x="7358448" y="1336378"/>
            <a:ext cx="3841365" cy="1969770"/>
          </a:xfrm>
          <a:prstGeom prst="rect">
            <a:avLst/>
          </a:prstGeom>
          <a:noFill/>
        </p:spPr>
        <p:txBody>
          <a:bodyPr wrap="square">
            <a:spAutoFit/>
          </a:bodyPr>
          <a:lstStyle/>
          <a:p>
            <a:pPr algn="l"/>
            <a:r>
              <a:rPr lang="en-US" sz="900" b="1">
                <a:solidFill>
                  <a:schemeClr val="tx2"/>
                </a:solidFill>
              </a:rPr>
              <a:t>Retail solutions:</a:t>
            </a:r>
          </a:p>
          <a:p>
            <a:pPr algn="l"/>
            <a:endParaRPr lang="en-US" sz="900" b="1">
              <a:solidFill>
                <a:schemeClr val="tx2"/>
              </a:solidFill>
            </a:endParaRPr>
          </a:p>
          <a:p>
            <a:pPr marL="171450" indent="-171450" algn="l">
              <a:spcAft>
                <a:spcPts val="600"/>
              </a:spcAft>
              <a:buClr>
                <a:schemeClr val="bg1">
                  <a:lumMod val="50000"/>
                </a:schemeClr>
              </a:buClr>
              <a:buFont typeface="Arial" panose="020B0604020202020204" pitchFamily="34" charset="0"/>
              <a:buChar char="•"/>
            </a:pPr>
            <a:r>
              <a:rPr lang="en-US" sz="900"/>
              <a:t>The Company enables card present point-of-sale transactions for merchants through host-to-host payment gateways for retailer and small to medium enterprises. Additionally, the Company enables in-app POS transactions.</a:t>
            </a:r>
          </a:p>
          <a:p>
            <a:pPr marL="171450" indent="-171450" algn="l">
              <a:spcAft>
                <a:spcPts val="600"/>
              </a:spcAft>
              <a:buClr>
                <a:schemeClr val="bg1">
                  <a:lumMod val="50000"/>
                </a:schemeClr>
              </a:buClr>
              <a:buFont typeface="Arial" panose="020B0604020202020204" pitchFamily="34" charset="0"/>
              <a:buChar char="•"/>
            </a:pPr>
            <a:r>
              <a:rPr lang="en-US" sz="900" b="0" i="0">
                <a:effectLst/>
                <a:latin typeface="Roboto" panose="02000000000000000000" pitchFamily="2" charset="0"/>
              </a:rPr>
              <a:t>Variable expenses associated with this line of business are largely transaction related fees and </a:t>
            </a:r>
            <a:r>
              <a:rPr lang="en-US" sz="900">
                <a:latin typeface="Roboto" panose="02000000000000000000" pitchFamily="2" charset="0"/>
              </a:rPr>
              <a:t>pass through network interchange and switch fees. Transaction-related variable infrastructure costs are recorded as operating expenses, and not included in the gross margin calculation. Higher margin of 90.1% in TTM Jun-24 is largely a result of $131,000 in Mastercard brand registration revenue earned in December 2023.</a:t>
            </a:r>
            <a:endParaRPr lang="en-US" sz="900" b="0" i="0">
              <a:effectLst/>
              <a:latin typeface="Roboto" panose="02000000000000000000" pitchFamily="2" charset="0"/>
            </a:endParaRPr>
          </a:p>
        </p:txBody>
      </p:sp>
      <p:pic>
        <p:nvPicPr>
          <p:cNvPr id="12" name="Picture 11">
            <a:extLst>
              <a:ext uri="{FF2B5EF4-FFF2-40B4-BE49-F238E27FC236}">
                <a16:creationId xmlns:a16="http://schemas.microsoft.com/office/drawing/2014/main" id="{C89A798D-F84F-A24A-5F14-00B553DF70ED}"/>
              </a:ext>
            </a:extLst>
          </p:cNvPr>
          <p:cNvPicPr>
            <a:picLocks noChangeAspect="1"/>
          </p:cNvPicPr>
          <p:nvPr>
            <p:custDataLst>
              <p:tags r:id="rId2"/>
            </p:custDataLst>
          </p:nvPr>
        </p:nvPicPr>
        <p:blipFill>
          <a:blip r:embed="rId5"/>
          <a:stretch>
            <a:fillRect/>
          </a:stretch>
        </p:blipFill>
        <p:spPr>
          <a:xfrm>
            <a:off x="995363" y="1340110"/>
            <a:ext cx="5889650" cy="2697937"/>
          </a:xfrm>
          <a:prstGeom prst="rect">
            <a:avLst/>
          </a:prstGeom>
        </p:spPr>
      </p:pic>
      <p:grpSp>
        <p:nvGrpSpPr>
          <p:cNvPr id="21" name="Group 20">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7"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0901205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a:t>
            </a:r>
            <a:r>
              <a:rPr lang="en-US"/>
              <a:t>ATM managed services (6/8)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ATM managed services</a:t>
            </a:r>
          </a:p>
        </p:txBody>
      </p:sp>
      <p:sp>
        <p:nvSpPr>
          <p:cNvPr id="20" name="TextBox 19">
            <a:extLst>
              <a:ext uri="{FF2B5EF4-FFF2-40B4-BE49-F238E27FC236}">
                <a16:creationId xmlns:a16="http://schemas.microsoft.com/office/drawing/2014/main" id="{350B5ACB-0C18-DB16-1845-F050D1C71372}"/>
              </a:ext>
            </a:extLst>
          </p:cNvPr>
          <p:cNvSpPr txBox="1">
            <a:spLocks/>
          </p:cNvSpPr>
          <p:nvPr/>
        </p:nvSpPr>
        <p:spPr>
          <a:xfrm>
            <a:off x="7358448" y="1336378"/>
            <a:ext cx="3841365" cy="1615827"/>
          </a:xfrm>
          <a:prstGeom prst="rect">
            <a:avLst/>
          </a:prstGeom>
          <a:noFill/>
        </p:spPr>
        <p:txBody>
          <a:bodyPr wrap="square">
            <a:spAutoFit/>
          </a:bodyPr>
          <a:lstStyle/>
          <a:p>
            <a:pPr algn="l"/>
            <a:r>
              <a:rPr lang="en-US" sz="900" b="1">
                <a:solidFill>
                  <a:schemeClr val="tx2"/>
                </a:solidFill>
              </a:rPr>
              <a:t>ATM managed services:</a:t>
            </a:r>
          </a:p>
          <a:p>
            <a:pPr algn="l"/>
            <a:endParaRPr lang="en-US" sz="900" b="1">
              <a:solidFill>
                <a:schemeClr val="tx2"/>
              </a:solidFill>
            </a:endParaRPr>
          </a:p>
          <a:p>
            <a:pPr marL="171450" indent="-171450" algn="l">
              <a:buClr>
                <a:schemeClr val="bg1">
                  <a:lumMod val="50000"/>
                </a:schemeClr>
              </a:buClr>
              <a:buFont typeface="Arial" panose="020B0604020202020204" pitchFamily="34" charset="0"/>
              <a:buChar char="•"/>
            </a:pPr>
            <a:r>
              <a:rPr lang="en-US" sz="900"/>
              <a:t>The Company provides ATM managed services for customers domestically, including traditional ATM driving &amp; monitoring services, white label ATM services, and Dynamic Currency Conversion for international transactions.</a:t>
            </a:r>
            <a:endParaRPr lang="en-US" sz="900" b="0" i="0">
              <a:effectLst/>
              <a:latin typeface="Roboto" panose="02000000000000000000" pitchFamily="2" charset="0"/>
            </a:endParaRPr>
          </a:p>
          <a:p>
            <a:pPr marL="171450" indent="-171450" algn="l">
              <a:buClr>
                <a:schemeClr val="bg1">
                  <a:lumMod val="50000"/>
                </a:schemeClr>
              </a:buClr>
              <a:buFont typeface="Arial" panose="020B0604020202020204" pitchFamily="34" charset="0"/>
              <a:buChar char="•"/>
            </a:pPr>
            <a:r>
              <a:rPr lang="en-US" sz="900"/>
              <a:t>The year-over-year revenue growth rate is ~10% from FY21 to FY23. In FY22, the Company executed higher ATM express hardware resales, leading to a negative impact on overall LOB gross margin due to the lower profitability of these resales compared to other revenue streams (e.g. ATM transactions, monitoring, etc.).</a:t>
            </a:r>
            <a:endParaRPr lang="en-US" sz="900">
              <a:highlight>
                <a:srgbClr val="FFFF00"/>
              </a:highlight>
            </a:endParaRPr>
          </a:p>
        </p:txBody>
      </p:sp>
      <p:sp>
        <p:nvSpPr>
          <p:cNvPr id="6" name="Text Placeholder 12">
            <a:extLst>
              <a:ext uri="{FF2B5EF4-FFF2-40B4-BE49-F238E27FC236}">
                <a16:creationId xmlns:a16="http://schemas.microsoft.com/office/drawing/2014/main" id="{3C02FAB0-BBD8-BCF0-9868-1DB2EFAFF104}"/>
              </a:ext>
            </a:extLst>
          </p:cNvPr>
          <p:cNvSpPr txBox="1">
            <a:spLocks/>
          </p:cNvSpPr>
          <p:nvPr/>
        </p:nvSpPr>
        <p:spPr>
          <a:xfrm>
            <a:off x="995362" y="4312367"/>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pic>
        <p:nvPicPr>
          <p:cNvPr id="14" name="Picture 13">
            <a:extLst>
              <a:ext uri="{FF2B5EF4-FFF2-40B4-BE49-F238E27FC236}">
                <a16:creationId xmlns:a16="http://schemas.microsoft.com/office/drawing/2014/main" id="{AF3EE439-8D67-9852-2553-C0D8082E1308}"/>
              </a:ext>
            </a:extLst>
          </p:cNvPr>
          <p:cNvPicPr>
            <a:picLocks noChangeAspect="1"/>
          </p:cNvPicPr>
          <p:nvPr>
            <p:custDataLst>
              <p:tags r:id="rId2"/>
            </p:custDataLst>
          </p:nvPr>
        </p:nvPicPr>
        <p:blipFill>
          <a:blip r:embed="rId5"/>
          <a:stretch>
            <a:fillRect/>
          </a:stretch>
        </p:blipFill>
        <p:spPr>
          <a:xfrm>
            <a:off x="995363" y="1340110"/>
            <a:ext cx="6159856" cy="2972257"/>
          </a:xfrm>
          <a:prstGeom prst="rect">
            <a:avLst/>
          </a:prstGeom>
        </p:spPr>
      </p:pic>
      <p:grpSp>
        <p:nvGrpSpPr>
          <p:cNvPr id="21" name="Group 20">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7"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2000584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a:t>
            </a:r>
            <a:r>
              <a:rPr lang="en-US"/>
              <a:t>Fraud management(7/8)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Fraud management</a:t>
            </a:r>
          </a:p>
        </p:txBody>
      </p:sp>
      <p:sp>
        <p:nvSpPr>
          <p:cNvPr id="20" name="TextBox 19">
            <a:extLst>
              <a:ext uri="{FF2B5EF4-FFF2-40B4-BE49-F238E27FC236}">
                <a16:creationId xmlns:a16="http://schemas.microsoft.com/office/drawing/2014/main" id="{350B5ACB-0C18-DB16-1845-F050D1C71372}"/>
              </a:ext>
            </a:extLst>
          </p:cNvPr>
          <p:cNvSpPr txBox="1">
            <a:spLocks/>
          </p:cNvSpPr>
          <p:nvPr/>
        </p:nvSpPr>
        <p:spPr>
          <a:xfrm>
            <a:off x="7358448" y="1336378"/>
            <a:ext cx="3841365" cy="1831271"/>
          </a:xfrm>
          <a:prstGeom prst="rect">
            <a:avLst/>
          </a:prstGeom>
          <a:noFill/>
        </p:spPr>
        <p:txBody>
          <a:bodyPr wrap="square">
            <a:spAutoFit/>
          </a:bodyPr>
          <a:lstStyle/>
          <a:p>
            <a:pPr algn="l"/>
            <a:r>
              <a:rPr lang="en-US" sz="900" b="1">
                <a:solidFill>
                  <a:schemeClr val="tx2"/>
                </a:solidFill>
              </a:rPr>
              <a:t>Fraud management:</a:t>
            </a:r>
          </a:p>
          <a:p>
            <a:pPr algn="l"/>
            <a:endParaRPr lang="en-US" sz="900" b="1">
              <a:solidFill>
                <a:schemeClr val="tx2"/>
              </a:solidFill>
            </a:endParaRPr>
          </a:p>
          <a:p>
            <a:pPr marL="171450" indent="-171450" algn="l">
              <a:spcAft>
                <a:spcPts val="600"/>
              </a:spcAft>
              <a:buClr>
                <a:schemeClr val="bg1">
                  <a:lumMod val="50000"/>
                </a:schemeClr>
              </a:buClr>
              <a:buFont typeface="Arial" panose="020B0604020202020204" pitchFamily="34" charset="0"/>
              <a:buChar char="•"/>
            </a:pPr>
            <a:r>
              <a:rPr lang="en-US" sz="900"/>
              <a:t>Fraud management involves helping clients safeguard their customers by identifying, preventing, and halting fraudulent activities across various payment channels. The Company has implemented </a:t>
            </a:r>
            <a:r>
              <a:rPr lang="en-US" sz="900" err="1"/>
              <a:t>eDetect</a:t>
            </a:r>
            <a:r>
              <a:rPr lang="en-US" sz="900"/>
              <a:t>, </a:t>
            </a:r>
            <a:r>
              <a:rPr lang="en-US" sz="900" err="1"/>
              <a:t>eDetect</a:t>
            </a:r>
            <a:r>
              <a:rPr lang="en-US" sz="900"/>
              <a:t>+, </a:t>
            </a:r>
            <a:r>
              <a:rPr lang="en-US" sz="900" err="1"/>
              <a:t>eScore</a:t>
            </a:r>
            <a:r>
              <a:rPr lang="en-US" sz="900"/>
              <a:t> and 3DS authentication fraud monitoring solutions to detect and prevent fraudulent activities on a real time basis.</a:t>
            </a:r>
          </a:p>
          <a:p>
            <a:pPr marL="171450" indent="-171450" algn="l">
              <a:spcAft>
                <a:spcPts val="600"/>
              </a:spcAft>
              <a:buClr>
                <a:schemeClr val="bg1">
                  <a:lumMod val="50000"/>
                </a:schemeClr>
              </a:buClr>
              <a:buFont typeface="Arial" panose="020B0604020202020204" pitchFamily="34" charset="0"/>
              <a:buChar char="•"/>
            </a:pPr>
            <a:r>
              <a:rPr lang="en-US" sz="900"/>
              <a:t>In TTM Jun-24, the Company achieved a revenue growth of 27.9% from FY22, largely due to the introduction of VCAS services and mandatory E-Score services on Visa and Mastercard debit cards and professional services projects.</a:t>
            </a:r>
          </a:p>
        </p:txBody>
      </p:sp>
      <p:sp>
        <p:nvSpPr>
          <p:cNvPr id="5" name="Text Placeholder 12">
            <a:extLst>
              <a:ext uri="{FF2B5EF4-FFF2-40B4-BE49-F238E27FC236}">
                <a16:creationId xmlns:a16="http://schemas.microsoft.com/office/drawing/2014/main" id="{AB826F83-7903-E5D0-12EB-6AB6148923CE}"/>
              </a:ext>
            </a:extLst>
          </p:cNvPr>
          <p:cNvSpPr txBox="1">
            <a:spLocks/>
          </p:cNvSpPr>
          <p:nvPr/>
        </p:nvSpPr>
        <p:spPr>
          <a:xfrm>
            <a:off x="995363" y="3231293"/>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pic>
        <p:nvPicPr>
          <p:cNvPr id="13" name="Picture 12">
            <a:extLst>
              <a:ext uri="{FF2B5EF4-FFF2-40B4-BE49-F238E27FC236}">
                <a16:creationId xmlns:a16="http://schemas.microsoft.com/office/drawing/2014/main" id="{64ADD9A2-0615-216B-7AF2-BC67C86DDB7C}"/>
              </a:ext>
            </a:extLst>
          </p:cNvPr>
          <p:cNvPicPr>
            <a:picLocks noChangeAspect="1"/>
          </p:cNvPicPr>
          <p:nvPr>
            <p:custDataLst>
              <p:tags r:id="rId2"/>
            </p:custDataLst>
          </p:nvPr>
        </p:nvPicPr>
        <p:blipFill>
          <a:blip r:embed="rId5"/>
          <a:stretch>
            <a:fillRect/>
          </a:stretch>
        </p:blipFill>
        <p:spPr>
          <a:xfrm>
            <a:off x="995363" y="1340110"/>
            <a:ext cx="5889650" cy="1874977"/>
          </a:xfrm>
          <a:prstGeom prst="rect">
            <a:avLst/>
          </a:prstGeom>
        </p:spPr>
      </p:pic>
      <p:grpSp>
        <p:nvGrpSpPr>
          <p:cNvPr id="21" name="Group 20">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7"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0474266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a:t>Gross margin by line of business </a:t>
            </a:r>
            <a:r>
              <a:rPr lang="en-US" sz="4000"/>
              <a:t>– </a:t>
            </a:r>
            <a:r>
              <a:rPr lang="en-US"/>
              <a:t>Digital solutions (8/8)</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Digital solutions</a:t>
            </a:r>
          </a:p>
        </p:txBody>
      </p:sp>
      <p:sp>
        <p:nvSpPr>
          <p:cNvPr id="20" name="TextBox 19">
            <a:extLst>
              <a:ext uri="{FF2B5EF4-FFF2-40B4-BE49-F238E27FC236}">
                <a16:creationId xmlns:a16="http://schemas.microsoft.com/office/drawing/2014/main" id="{350B5ACB-0C18-DB16-1845-F050D1C71372}"/>
              </a:ext>
            </a:extLst>
          </p:cNvPr>
          <p:cNvSpPr txBox="1">
            <a:spLocks/>
          </p:cNvSpPr>
          <p:nvPr/>
        </p:nvSpPr>
        <p:spPr>
          <a:xfrm>
            <a:off x="7150100" y="1336378"/>
            <a:ext cx="4049714" cy="1554272"/>
          </a:xfrm>
          <a:prstGeom prst="rect">
            <a:avLst/>
          </a:prstGeom>
          <a:noFill/>
        </p:spPr>
        <p:txBody>
          <a:bodyPr wrap="square">
            <a:spAutoFit/>
          </a:bodyPr>
          <a:lstStyle/>
          <a:p>
            <a:pPr algn="l"/>
            <a:r>
              <a:rPr lang="en-US" sz="900" b="1">
                <a:solidFill>
                  <a:schemeClr val="tx2"/>
                </a:solidFill>
              </a:rPr>
              <a:t>Digital solutions:</a:t>
            </a:r>
          </a:p>
          <a:p>
            <a:pPr algn="l"/>
            <a:endParaRPr lang="en-US" sz="900" b="1">
              <a:solidFill>
                <a:schemeClr val="tx2"/>
              </a:solidFill>
            </a:endParaRPr>
          </a:p>
          <a:p>
            <a:pPr marL="171450" indent="-171450" algn="l">
              <a:spcAft>
                <a:spcPts val="600"/>
              </a:spcAft>
              <a:buClr>
                <a:schemeClr val="bg1">
                  <a:lumMod val="50000"/>
                </a:schemeClr>
              </a:buClr>
              <a:buFont typeface="Arial" panose="020B0604020202020204" pitchFamily="34" charset="0"/>
              <a:buChar char="•"/>
            </a:pPr>
            <a:r>
              <a:rPr lang="en-US" sz="900"/>
              <a:t>Digital solutions empower real-time payments for various purposes, including retail peer-to-peer (P2P) transactions, business (B2B/B2P) payments, ISO20022 payment gateways, and API integrations, such as facilitating Interac e-transfer services for financial institutions and fintechs.</a:t>
            </a:r>
          </a:p>
          <a:p>
            <a:pPr marL="171450" indent="-171450" algn="l">
              <a:spcAft>
                <a:spcPts val="600"/>
              </a:spcAft>
              <a:buClr>
                <a:schemeClr val="bg1">
                  <a:lumMod val="50000"/>
                </a:schemeClr>
              </a:buClr>
              <a:buFont typeface="Arial" panose="020B0604020202020204" pitchFamily="34" charset="0"/>
              <a:buChar char="•"/>
            </a:pPr>
            <a:r>
              <a:rPr lang="en-US" sz="900"/>
              <a:t>This is considered the Company’s newest line of business and has displayed growth in the TTM June-24 period through two new customers. See OC #C for additional information.</a:t>
            </a:r>
            <a:endParaRPr lang="en-US" sz="900">
              <a:highlight>
                <a:srgbClr val="FFFF00"/>
              </a:highlight>
            </a:endParaRPr>
          </a:p>
        </p:txBody>
      </p:sp>
      <p:sp>
        <p:nvSpPr>
          <p:cNvPr id="5" name="Text Placeholder 12">
            <a:extLst>
              <a:ext uri="{FF2B5EF4-FFF2-40B4-BE49-F238E27FC236}">
                <a16:creationId xmlns:a16="http://schemas.microsoft.com/office/drawing/2014/main" id="{4FF029F9-ECFA-A7F8-BDF1-FB5D54AD2501}"/>
              </a:ext>
            </a:extLst>
          </p:cNvPr>
          <p:cNvSpPr txBox="1">
            <a:spLocks/>
          </p:cNvSpPr>
          <p:nvPr/>
        </p:nvSpPr>
        <p:spPr>
          <a:xfrm>
            <a:off x="995363" y="3495585"/>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Everlink Revenue and COGS reports by line of business</a:t>
            </a:r>
          </a:p>
        </p:txBody>
      </p:sp>
      <p:pic>
        <p:nvPicPr>
          <p:cNvPr id="12" name="Picture 11">
            <a:extLst>
              <a:ext uri="{FF2B5EF4-FFF2-40B4-BE49-F238E27FC236}">
                <a16:creationId xmlns:a16="http://schemas.microsoft.com/office/drawing/2014/main" id="{5BF4642E-751F-D5F4-8B70-5EF6C6A3842C}"/>
              </a:ext>
            </a:extLst>
          </p:cNvPr>
          <p:cNvPicPr>
            <a:picLocks noChangeAspect="1"/>
          </p:cNvPicPr>
          <p:nvPr>
            <p:custDataLst>
              <p:tags r:id="rId2"/>
            </p:custDataLst>
          </p:nvPr>
        </p:nvPicPr>
        <p:blipFill>
          <a:blip r:embed="rId5"/>
          <a:stretch>
            <a:fillRect/>
          </a:stretch>
        </p:blipFill>
        <p:spPr>
          <a:xfrm>
            <a:off x="995363" y="1340110"/>
            <a:ext cx="5671566" cy="2149297"/>
          </a:xfrm>
          <a:prstGeom prst="rect">
            <a:avLst/>
          </a:prstGeom>
        </p:spPr>
      </p:pic>
      <p:grpSp>
        <p:nvGrpSpPr>
          <p:cNvPr id="21" name="Group 20">
            <a:extLst>
              <a:ext uri="{FF2B5EF4-FFF2-40B4-BE49-F238E27FC236}">
                <a16:creationId xmlns:a16="http://schemas.microsoft.com/office/drawing/2014/main" id="{F0FEA800-FDC8-5D9E-DF1F-9AD7A4C4F516}"/>
              </a:ext>
            </a:extLst>
          </p:cNvPr>
          <p:cNvGrpSpPr/>
          <p:nvPr>
            <p:custDataLst>
              <p:tags r:id="rId3"/>
            </p:custDataLst>
          </p:nvPr>
        </p:nvGrpSpPr>
        <p:grpSpPr>
          <a:xfrm>
            <a:off x="995364" y="153170"/>
            <a:ext cx="5843352" cy="195814"/>
            <a:chOff x="995364" y="153170"/>
            <a:chExt cx="5843352"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Current Section5">
              <a:hlinkClick r:id="rId10" action="ppaction://hlinksldjump"/>
              <a:extLst>
                <a:ext uri="{FF2B5EF4-FFF2-40B4-BE49-F238E27FC236}">
                  <a16:creationId xmlns:a16="http://schemas.microsoft.com/office/drawing/2014/main" id="{89A61135-1F00-E77F-7C78-5FBA241A5742}"/>
                </a:ext>
              </a:extLst>
            </p:cNvPr>
            <p:cNvSpPr>
              <a:spLocks/>
            </p:cNvSpPr>
            <p:nvPr/>
          </p:nvSpPr>
          <p:spPr>
            <a:xfrm>
              <a:off x="4940091" y="153170"/>
              <a:ext cx="1209800"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Gross margin by LOB</a:t>
              </a:r>
            </a:p>
          </p:txBody>
        </p:sp>
        <p:sp>
          <p:nvSpPr>
            <p:cNvPr id="27" name="Other Sections6">
              <a:hlinkClick r:id="rId11" action="ppaction://hlinksldjump"/>
              <a:extLst>
                <a:ext uri="{FF2B5EF4-FFF2-40B4-BE49-F238E27FC236}">
                  <a16:creationId xmlns:a16="http://schemas.microsoft.com/office/drawing/2014/main" id="{8A19844E-D291-CA81-3B22-2B52F21919DA}"/>
                </a:ext>
              </a:extLst>
            </p:cNvPr>
            <p:cNvSpPr>
              <a:spLocks/>
            </p:cNvSpPr>
            <p:nvPr/>
          </p:nvSpPr>
          <p:spPr>
            <a:xfrm>
              <a:off x="6149891" y="153170"/>
              <a:ext cx="68882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6123460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42" action="ppaction://hlinksldjump"/>
            <a:extLst>
              <a:ext uri="{FF2B5EF4-FFF2-40B4-BE49-F238E27FC236}">
                <a16:creationId xmlns:a16="http://schemas.microsoft.com/office/drawing/2014/main" id="{BB624D46-5A47-F03F-7647-A0306964388B}"/>
              </a:ext>
            </a:extLst>
          </p:cNvPr>
          <p:cNvSpPr txBox="1"/>
          <p:nvPr>
            <p:custDataLst>
              <p:tags r:id="rId2"/>
            </p:custDataLst>
          </p:nvPr>
        </p:nvSpPr>
        <p:spPr>
          <a:xfrm>
            <a:off x="1289860" y="3566606"/>
            <a:ext cx="4873752" cy="0"/>
          </a:xfrm>
          <a:prstGeom prst="rect">
            <a:avLst/>
          </a:prstGeom>
          <a:noFill/>
        </p:spPr>
        <p:txBody>
          <a:bodyPr vert="horz" wrap="square" lIns="0" tIns="0" rIns="0" bIns="2286000" rtlCol="0">
            <a:noAutofit/>
          </a:bodyPr>
          <a:lstStyle/>
          <a:p>
            <a:pPr algn="l">
              <a:lnSpc>
                <a:spcPct val="70000"/>
              </a:lnSpc>
            </a:pPr>
            <a:r>
              <a:rPr lang="en-US" sz="6600">
                <a:solidFill>
                  <a:srgbClr val="FFFFFF"/>
                </a:solidFill>
                <a:latin typeface="+mj-lt"/>
              </a:rPr>
              <a:t>Appendices</a:t>
            </a:r>
          </a:p>
        </p:txBody>
      </p:sp>
      <p:sp>
        <p:nvSpPr>
          <p:cNvPr id="5" name="TextBox 4">
            <a:hlinkClick r:id="rId43" action="ppaction://hlinksldjump"/>
            <a:extLst>
              <a:ext uri="{FF2B5EF4-FFF2-40B4-BE49-F238E27FC236}">
                <a16:creationId xmlns:a16="http://schemas.microsoft.com/office/drawing/2014/main" id="{D85C797E-7F6E-5247-36D6-82BB57A42693}"/>
              </a:ext>
            </a:extLst>
          </p:cNvPr>
          <p:cNvSpPr txBox="1"/>
          <p:nvPr>
            <p:custDataLst>
              <p:tags r:id="rId3"/>
            </p:custDataLst>
          </p:nvPr>
        </p:nvSpPr>
        <p:spPr>
          <a:xfrm>
            <a:off x="1806250" y="3566606"/>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Internal FS reconciliation to audited FS</a:t>
            </a:r>
          </a:p>
        </p:txBody>
      </p:sp>
      <p:sp>
        <p:nvSpPr>
          <p:cNvPr id="6" name="TextBox 5">
            <a:hlinkClick r:id="rId44" action="ppaction://hlinksldjump"/>
            <a:extLst>
              <a:ext uri="{FF2B5EF4-FFF2-40B4-BE49-F238E27FC236}">
                <a16:creationId xmlns:a16="http://schemas.microsoft.com/office/drawing/2014/main" id="{9BD694D5-F052-42B3-2B4C-27BFE4459E82}"/>
              </a:ext>
            </a:extLst>
          </p:cNvPr>
          <p:cNvSpPr txBox="1"/>
          <p:nvPr>
            <p:custDataLst>
              <p:tags r:id="rId4"/>
            </p:custDataLst>
          </p:nvPr>
        </p:nvSpPr>
        <p:spPr>
          <a:xfrm>
            <a:off x="1806250" y="3923222"/>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Billing report reconciliation to internal FS</a:t>
            </a:r>
          </a:p>
        </p:txBody>
      </p:sp>
      <p:sp>
        <p:nvSpPr>
          <p:cNvPr id="7" name="TextBox 6">
            <a:hlinkClick r:id="rId45" action="ppaction://hlinksldjump"/>
            <a:extLst>
              <a:ext uri="{FF2B5EF4-FFF2-40B4-BE49-F238E27FC236}">
                <a16:creationId xmlns:a16="http://schemas.microsoft.com/office/drawing/2014/main" id="{308D0BB8-E95E-C522-7AE6-770089EF2DC0}"/>
              </a:ext>
            </a:extLst>
          </p:cNvPr>
          <p:cNvSpPr txBox="1"/>
          <p:nvPr>
            <p:custDataLst>
              <p:tags r:id="rId5"/>
            </p:custDataLst>
          </p:nvPr>
        </p:nvSpPr>
        <p:spPr>
          <a:xfrm>
            <a:off x="1806250" y="4279838"/>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TTM Apr-24 to TTM Jun-24 QofE bridge</a:t>
            </a:r>
          </a:p>
        </p:txBody>
      </p:sp>
      <p:sp>
        <p:nvSpPr>
          <p:cNvPr id="8" name="TextBox 7">
            <a:hlinkClick r:id="rId46" action="ppaction://hlinksldjump"/>
            <a:extLst>
              <a:ext uri="{FF2B5EF4-FFF2-40B4-BE49-F238E27FC236}">
                <a16:creationId xmlns:a16="http://schemas.microsoft.com/office/drawing/2014/main" id="{68F8D116-3C2C-1B32-C8C7-82D84F0B5263}"/>
              </a:ext>
            </a:extLst>
          </p:cNvPr>
          <p:cNvSpPr txBox="1"/>
          <p:nvPr>
            <p:custDataLst>
              <p:tags r:id="rId6"/>
            </p:custDataLst>
          </p:nvPr>
        </p:nvSpPr>
        <p:spPr>
          <a:xfrm>
            <a:off x="1806250" y="4636453"/>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Adjusted income statement</a:t>
            </a:r>
          </a:p>
        </p:txBody>
      </p:sp>
      <p:sp>
        <p:nvSpPr>
          <p:cNvPr id="9" name="TextBox 8">
            <a:hlinkClick r:id="rId47" action="ppaction://hlinksldjump"/>
            <a:extLst>
              <a:ext uri="{FF2B5EF4-FFF2-40B4-BE49-F238E27FC236}">
                <a16:creationId xmlns:a16="http://schemas.microsoft.com/office/drawing/2014/main" id="{AD49744B-35F9-4A3F-33B1-FABC2B3BD426}"/>
              </a:ext>
            </a:extLst>
          </p:cNvPr>
          <p:cNvSpPr txBox="1"/>
          <p:nvPr>
            <p:custDataLst>
              <p:tags r:id="rId7"/>
            </p:custDataLst>
          </p:nvPr>
        </p:nvSpPr>
        <p:spPr>
          <a:xfrm>
            <a:off x="1806250" y="4993069"/>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QofE support</a:t>
            </a:r>
          </a:p>
        </p:txBody>
      </p:sp>
      <p:sp>
        <p:nvSpPr>
          <p:cNvPr id="10" name="TextBox 9">
            <a:hlinkClick r:id="rId48" action="ppaction://hlinksldjump"/>
            <a:extLst>
              <a:ext uri="{FF2B5EF4-FFF2-40B4-BE49-F238E27FC236}">
                <a16:creationId xmlns:a16="http://schemas.microsoft.com/office/drawing/2014/main" id="{D54BD9C5-1DA8-76AC-561C-FBA29DA0623A}"/>
              </a:ext>
            </a:extLst>
          </p:cNvPr>
          <p:cNvSpPr txBox="1"/>
          <p:nvPr>
            <p:custDataLst>
              <p:tags r:id="rId8"/>
            </p:custDataLst>
          </p:nvPr>
        </p:nvSpPr>
        <p:spPr>
          <a:xfrm>
            <a:off x="1806250" y="5349685"/>
            <a:ext cx="4357363"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Fixed assets</a:t>
            </a:r>
          </a:p>
        </p:txBody>
      </p:sp>
      <p:sp>
        <p:nvSpPr>
          <p:cNvPr id="11" name="TextBox 10">
            <a:hlinkClick r:id="rId49" action="ppaction://hlinksldjump"/>
            <a:extLst>
              <a:ext uri="{FF2B5EF4-FFF2-40B4-BE49-F238E27FC236}">
                <a16:creationId xmlns:a16="http://schemas.microsoft.com/office/drawing/2014/main" id="{57A3802B-D08D-1709-BA0F-7DCC3BEEAEA0}"/>
              </a:ext>
            </a:extLst>
          </p:cNvPr>
          <p:cNvSpPr txBox="1"/>
          <p:nvPr>
            <p:custDataLst>
              <p:tags r:id="rId9"/>
            </p:custDataLst>
          </p:nvPr>
        </p:nvSpPr>
        <p:spPr>
          <a:xfrm>
            <a:off x="6807558" y="3566606"/>
            <a:ext cx="4229806"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Personnel analysis</a:t>
            </a:r>
          </a:p>
        </p:txBody>
      </p:sp>
      <p:sp>
        <p:nvSpPr>
          <p:cNvPr id="12" name="TextBox 11">
            <a:hlinkClick r:id="rId50" action="ppaction://hlinksldjump"/>
            <a:extLst>
              <a:ext uri="{FF2B5EF4-FFF2-40B4-BE49-F238E27FC236}">
                <a16:creationId xmlns:a16="http://schemas.microsoft.com/office/drawing/2014/main" id="{EDC5CB9D-A211-CA46-D90F-A28580C5C909}"/>
              </a:ext>
            </a:extLst>
          </p:cNvPr>
          <p:cNvSpPr txBox="1"/>
          <p:nvPr>
            <p:custDataLst>
              <p:tags r:id="rId10"/>
            </p:custDataLst>
          </p:nvPr>
        </p:nvSpPr>
        <p:spPr>
          <a:xfrm>
            <a:off x="6807558" y="3923222"/>
            <a:ext cx="4229807"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Leases</a:t>
            </a:r>
          </a:p>
        </p:txBody>
      </p:sp>
      <p:sp>
        <p:nvSpPr>
          <p:cNvPr id="13" name="TextBox 12">
            <a:hlinkClick r:id="rId51" action="ppaction://hlinksldjump"/>
            <a:extLst>
              <a:ext uri="{FF2B5EF4-FFF2-40B4-BE49-F238E27FC236}">
                <a16:creationId xmlns:a16="http://schemas.microsoft.com/office/drawing/2014/main" id="{2EEC8927-ADF6-C8B4-4E40-B28A27240AF1}"/>
              </a:ext>
            </a:extLst>
          </p:cNvPr>
          <p:cNvSpPr txBox="1"/>
          <p:nvPr>
            <p:custDataLst>
              <p:tags r:id="rId11"/>
            </p:custDataLst>
          </p:nvPr>
        </p:nvSpPr>
        <p:spPr>
          <a:xfrm>
            <a:off x="6807558" y="4279838"/>
            <a:ext cx="4229807"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Cash flow statement</a:t>
            </a:r>
          </a:p>
        </p:txBody>
      </p:sp>
      <p:sp>
        <p:nvSpPr>
          <p:cNvPr id="14" name="TextBox 13">
            <a:hlinkClick r:id="rId52" action="ppaction://hlinksldjump"/>
            <a:extLst>
              <a:ext uri="{FF2B5EF4-FFF2-40B4-BE49-F238E27FC236}">
                <a16:creationId xmlns:a16="http://schemas.microsoft.com/office/drawing/2014/main" id="{3ECFAF8D-5B88-2436-E61E-0E1C8B96DCD0}"/>
              </a:ext>
            </a:extLst>
          </p:cNvPr>
          <p:cNvSpPr txBox="1"/>
          <p:nvPr>
            <p:custDataLst>
              <p:tags r:id="rId12"/>
            </p:custDataLst>
          </p:nvPr>
        </p:nvSpPr>
        <p:spPr>
          <a:xfrm>
            <a:off x="6807558" y="4636453"/>
            <a:ext cx="4229807"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Important notice</a:t>
            </a:r>
          </a:p>
        </p:txBody>
      </p:sp>
      <p:sp>
        <p:nvSpPr>
          <p:cNvPr id="15" name="TextBox 14">
            <a:hlinkClick r:id="rId53" action="ppaction://hlinksldjump"/>
            <a:extLst>
              <a:ext uri="{FF2B5EF4-FFF2-40B4-BE49-F238E27FC236}">
                <a16:creationId xmlns:a16="http://schemas.microsoft.com/office/drawing/2014/main" id="{33781495-C6D8-EFDC-C8BB-F91A03BB20AE}"/>
              </a:ext>
            </a:extLst>
          </p:cNvPr>
          <p:cNvSpPr txBox="1"/>
          <p:nvPr>
            <p:custDataLst>
              <p:tags r:id="rId13"/>
            </p:custDataLst>
          </p:nvPr>
        </p:nvSpPr>
        <p:spPr>
          <a:xfrm>
            <a:off x="6807558" y="4993069"/>
            <a:ext cx="4229807"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Scope of work</a:t>
            </a:r>
          </a:p>
        </p:txBody>
      </p:sp>
      <p:sp>
        <p:nvSpPr>
          <p:cNvPr id="16" name="TextBox 15">
            <a:hlinkClick r:id="rId54" action="ppaction://hlinksldjump"/>
            <a:extLst>
              <a:ext uri="{FF2B5EF4-FFF2-40B4-BE49-F238E27FC236}">
                <a16:creationId xmlns:a16="http://schemas.microsoft.com/office/drawing/2014/main" id="{57670171-F4E9-DECF-C5E8-4643AEB58A02}"/>
              </a:ext>
            </a:extLst>
          </p:cNvPr>
          <p:cNvSpPr txBox="1"/>
          <p:nvPr>
            <p:custDataLst>
              <p:tags r:id="rId14"/>
            </p:custDataLst>
          </p:nvPr>
        </p:nvSpPr>
        <p:spPr>
          <a:xfrm>
            <a:off x="6807558" y="5349685"/>
            <a:ext cx="4229807" cy="356616"/>
          </a:xfrm>
          <a:prstGeom prst="rect">
            <a:avLst/>
          </a:prstGeom>
          <a:noFill/>
        </p:spPr>
        <p:txBody>
          <a:bodyPr vert="horz" wrap="none" lIns="0" tIns="0" rIns="0" bIns="0" rtlCol="0" anchor="t" anchorCtr="0">
            <a:noAutofit/>
          </a:bodyPr>
          <a:lstStyle/>
          <a:p>
            <a:pPr marL="0" indent="0" algn="l">
              <a:buFont typeface="Arial" panose="020B0604020202020204" pitchFamily="34" charset="0"/>
              <a:buNone/>
            </a:pPr>
            <a:r>
              <a:rPr lang="en-US" sz="1600">
                <a:solidFill>
                  <a:srgbClr val="FFFFFF"/>
                </a:solidFill>
                <a:effectLst/>
                <a:latin typeface="+mn-lt"/>
              </a:rPr>
              <a:t>Glossary of terms and abbreviations</a:t>
            </a:r>
          </a:p>
        </p:txBody>
      </p:sp>
      <p:sp>
        <p:nvSpPr>
          <p:cNvPr id="17" name="TextBox 16">
            <a:hlinkClick r:id="rId42" action="ppaction://hlinksldjump"/>
            <a:extLst>
              <a:ext uri="{FF2B5EF4-FFF2-40B4-BE49-F238E27FC236}">
                <a16:creationId xmlns:a16="http://schemas.microsoft.com/office/drawing/2014/main" id="{49409FB2-C292-6E04-23B8-41CA4FFA50FC}"/>
              </a:ext>
            </a:extLst>
          </p:cNvPr>
          <p:cNvSpPr txBox="1"/>
          <p:nvPr>
            <p:custDataLst>
              <p:tags r:id="rId15"/>
            </p:custDataLst>
          </p:nvPr>
        </p:nvSpPr>
        <p:spPr>
          <a:xfrm>
            <a:off x="1289304" y="3566606"/>
            <a:ext cx="3952700" cy="0"/>
          </a:xfrm>
          <a:prstGeom prst="rect">
            <a:avLst/>
          </a:prstGeom>
        </p:spPr>
        <p:txBody>
          <a:bodyPr vert="horz" wrap="none" lIns="0" tIns="0" rIns="0" bIns="4389120" rtlCol="0" anchor="t" anchorCtr="0">
            <a:noAutofit/>
          </a:bodyPr>
          <a:lstStyle/>
          <a:p>
            <a:pPr algn="l">
              <a:lnSpc>
                <a:spcPct val="80000"/>
              </a:lnSpc>
              <a:spcAft>
                <a:spcPts val="600"/>
              </a:spcAft>
            </a:pPr>
            <a:r>
              <a:rPr lang="en-US" sz="6600" b="1">
                <a:solidFill>
                  <a:srgbClr val="FFFFFF"/>
                </a:solidFill>
                <a:latin typeface="+mj-lt"/>
              </a:rPr>
              <a:t>06</a:t>
            </a:r>
          </a:p>
        </p:txBody>
      </p:sp>
      <p:sp>
        <p:nvSpPr>
          <p:cNvPr id="18" name="TextBox 17">
            <a:hlinkClick r:id="rId42" action="ppaction://hlinksldjump"/>
            <a:extLst>
              <a:ext uri="{FF2B5EF4-FFF2-40B4-BE49-F238E27FC236}">
                <a16:creationId xmlns:a16="http://schemas.microsoft.com/office/drawing/2014/main" id="{217D067B-E0A3-09C1-4AEA-4BFD80F21662}"/>
              </a:ext>
            </a:extLst>
          </p:cNvPr>
          <p:cNvSpPr txBox="1"/>
          <p:nvPr>
            <p:custDataLst>
              <p:tags r:id="rId16"/>
            </p:custDataLst>
          </p:nvPr>
        </p:nvSpPr>
        <p:spPr>
          <a:xfrm>
            <a:off x="6163612" y="3209990"/>
            <a:ext cx="0" cy="356616"/>
          </a:xfrm>
          <a:prstGeom prst="rect">
            <a:avLst/>
          </a:prstGeom>
          <a:noFill/>
          <a:ln>
            <a:noFill/>
          </a:ln>
        </p:spPr>
        <p:txBody>
          <a:bodyPr vert="horz" wrap="none" lIns="0" tIns="0" rIns="0" bIns="0" rtlCol="0" anchor="t" anchorCtr="0">
            <a:noAutofit/>
          </a:bodyPr>
          <a:lstStyle/>
          <a:p>
            <a:pPr algn="ctr"/>
            <a:r>
              <a:rPr lang="en-US" sz="100">
                <a:ln>
                  <a:noFill/>
                </a:ln>
                <a:noFill/>
                <a:latin typeface="+mj-lt"/>
              </a:rPr>
              <a:t>53</a:t>
            </a:r>
          </a:p>
        </p:txBody>
      </p:sp>
      <p:sp>
        <p:nvSpPr>
          <p:cNvPr id="19" name="TextBox 18">
            <a:hlinkClick r:id="rId43" action="ppaction://hlinksldjump"/>
            <a:extLst>
              <a:ext uri="{FF2B5EF4-FFF2-40B4-BE49-F238E27FC236}">
                <a16:creationId xmlns:a16="http://schemas.microsoft.com/office/drawing/2014/main" id="{A1A0BAF8-60C5-E345-250E-9D3DF849624F}"/>
              </a:ext>
            </a:extLst>
          </p:cNvPr>
          <p:cNvSpPr txBox="1"/>
          <p:nvPr>
            <p:custDataLst>
              <p:tags r:id="rId17"/>
            </p:custDataLst>
          </p:nvPr>
        </p:nvSpPr>
        <p:spPr bwMode="auto">
          <a:xfrm>
            <a:off x="1332373" y="35666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6.1</a:t>
            </a:r>
          </a:p>
        </p:txBody>
      </p:sp>
      <p:sp>
        <p:nvSpPr>
          <p:cNvPr id="20" name="TextBox 19">
            <a:hlinkClick r:id="rId44" action="ppaction://hlinksldjump"/>
            <a:extLst>
              <a:ext uri="{FF2B5EF4-FFF2-40B4-BE49-F238E27FC236}">
                <a16:creationId xmlns:a16="http://schemas.microsoft.com/office/drawing/2014/main" id="{080E3152-81EC-0B3B-F2AE-FB9FD42A1F6E}"/>
              </a:ext>
            </a:extLst>
          </p:cNvPr>
          <p:cNvSpPr txBox="1"/>
          <p:nvPr>
            <p:custDataLst>
              <p:tags r:id="rId18"/>
            </p:custDataLst>
          </p:nvPr>
        </p:nvSpPr>
        <p:spPr bwMode="auto">
          <a:xfrm>
            <a:off x="1332373" y="39232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6.2</a:t>
            </a:r>
          </a:p>
        </p:txBody>
      </p:sp>
      <p:sp>
        <p:nvSpPr>
          <p:cNvPr id="21" name="TextBox 20">
            <a:hlinkClick r:id="rId45" action="ppaction://hlinksldjump"/>
            <a:extLst>
              <a:ext uri="{FF2B5EF4-FFF2-40B4-BE49-F238E27FC236}">
                <a16:creationId xmlns:a16="http://schemas.microsoft.com/office/drawing/2014/main" id="{4AEE511A-3547-9D17-4EA3-5DC3D62C38EA}"/>
              </a:ext>
            </a:extLst>
          </p:cNvPr>
          <p:cNvSpPr txBox="1"/>
          <p:nvPr>
            <p:custDataLst>
              <p:tags r:id="rId19"/>
            </p:custDataLst>
          </p:nvPr>
        </p:nvSpPr>
        <p:spPr bwMode="auto">
          <a:xfrm>
            <a:off x="1332373" y="427983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6.3</a:t>
            </a:r>
          </a:p>
        </p:txBody>
      </p:sp>
      <p:sp>
        <p:nvSpPr>
          <p:cNvPr id="22" name="TextBox 21">
            <a:hlinkClick r:id="rId46" action="ppaction://hlinksldjump"/>
            <a:extLst>
              <a:ext uri="{FF2B5EF4-FFF2-40B4-BE49-F238E27FC236}">
                <a16:creationId xmlns:a16="http://schemas.microsoft.com/office/drawing/2014/main" id="{91E41DB5-E47C-429B-3C02-2F48A707B771}"/>
              </a:ext>
            </a:extLst>
          </p:cNvPr>
          <p:cNvSpPr txBox="1"/>
          <p:nvPr>
            <p:custDataLst>
              <p:tags r:id="rId20"/>
            </p:custDataLst>
          </p:nvPr>
        </p:nvSpPr>
        <p:spPr bwMode="auto">
          <a:xfrm>
            <a:off x="1332373" y="4636453"/>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6.4</a:t>
            </a:r>
          </a:p>
        </p:txBody>
      </p:sp>
      <p:sp>
        <p:nvSpPr>
          <p:cNvPr id="23" name="TextBox 22">
            <a:hlinkClick r:id="rId47" action="ppaction://hlinksldjump"/>
            <a:extLst>
              <a:ext uri="{FF2B5EF4-FFF2-40B4-BE49-F238E27FC236}">
                <a16:creationId xmlns:a16="http://schemas.microsoft.com/office/drawing/2014/main" id="{EB6650FC-37DD-D9D9-4EE0-6FD3C6C2995A}"/>
              </a:ext>
            </a:extLst>
          </p:cNvPr>
          <p:cNvSpPr txBox="1"/>
          <p:nvPr>
            <p:custDataLst>
              <p:tags r:id="rId21"/>
            </p:custDataLst>
          </p:nvPr>
        </p:nvSpPr>
        <p:spPr bwMode="auto">
          <a:xfrm>
            <a:off x="1332373" y="4993069"/>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6.5</a:t>
            </a:r>
          </a:p>
        </p:txBody>
      </p:sp>
      <p:sp>
        <p:nvSpPr>
          <p:cNvPr id="24" name="TextBox 23">
            <a:hlinkClick r:id="rId48" action="ppaction://hlinksldjump"/>
            <a:extLst>
              <a:ext uri="{FF2B5EF4-FFF2-40B4-BE49-F238E27FC236}">
                <a16:creationId xmlns:a16="http://schemas.microsoft.com/office/drawing/2014/main" id="{0FE6B879-2CE3-BDD1-62CB-0A9B14FD23F5}"/>
              </a:ext>
            </a:extLst>
          </p:cNvPr>
          <p:cNvSpPr txBox="1"/>
          <p:nvPr>
            <p:custDataLst>
              <p:tags r:id="rId22"/>
            </p:custDataLst>
          </p:nvPr>
        </p:nvSpPr>
        <p:spPr bwMode="auto">
          <a:xfrm>
            <a:off x="1332373" y="5349685"/>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6.6</a:t>
            </a:r>
          </a:p>
        </p:txBody>
      </p:sp>
      <p:sp>
        <p:nvSpPr>
          <p:cNvPr id="25" name="TextBox 24">
            <a:hlinkClick r:id="rId49" action="ppaction://hlinksldjump"/>
            <a:extLst>
              <a:ext uri="{FF2B5EF4-FFF2-40B4-BE49-F238E27FC236}">
                <a16:creationId xmlns:a16="http://schemas.microsoft.com/office/drawing/2014/main" id="{C61B6795-1465-8C60-884F-CDB9F5A91C45}"/>
              </a:ext>
            </a:extLst>
          </p:cNvPr>
          <p:cNvSpPr txBox="1"/>
          <p:nvPr>
            <p:custDataLst>
              <p:tags r:id="rId23"/>
            </p:custDataLst>
          </p:nvPr>
        </p:nvSpPr>
        <p:spPr bwMode="auto">
          <a:xfrm>
            <a:off x="6333681" y="3566606"/>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6.7</a:t>
            </a:r>
          </a:p>
        </p:txBody>
      </p:sp>
      <p:sp>
        <p:nvSpPr>
          <p:cNvPr id="26" name="TextBox 25">
            <a:hlinkClick r:id="rId50" action="ppaction://hlinksldjump"/>
            <a:extLst>
              <a:ext uri="{FF2B5EF4-FFF2-40B4-BE49-F238E27FC236}">
                <a16:creationId xmlns:a16="http://schemas.microsoft.com/office/drawing/2014/main" id="{5E5B5507-62FD-3306-F1F9-2C8F709B7725}"/>
              </a:ext>
            </a:extLst>
          </p:cNvPr>
          <p:cNvSpPr txBox="1"/>
          <p:nvPr>
            <p:custDataLst>
              <p:tags r:id="rId24"/>
            </p:custDataLst>
          </p:nvPr>
        </p:nvSpPr>
        <p:spPr bwMode="auto">
          <a:xfrm>
            <a:off x="6333681" y="3923222"/>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6.8</a:t>
            </a:r>
          </a:p>
        </p:txBody>
      </p:sp>
      <p:sp>
        <p:nvSpPr>
          <p:cNvPr id="27" name="TextBox 26">
            <a:hlinkClick r:id="rId51" action="ppaction://hlinksldjump"/>
            <a:extLst>
              <a:ext uri="{FF2B5EF4-FFF2-40B4-BE49-F238E27FC236}">
                <a16:creationId xmlns:a16="http://schemas.microsoft.com/office/drawing/2014/main" id="{DAA0578F-B0F2-3B8C-35F8-F13F0A77FEAB}"/>
              </a:ext>
            </a:extLst>
          </p:cNvPr>
          <p:cNvSpPr txBox="1"/>
          <p:nvPr>
            <p:custDataLst>
              <p:tags r:id="rId25"/>
            </p:custDataLst>
          </p:nvPr>
        </p:nvSpPr>
        <p:spPr bwMode="auto">
          <a:xfrm>
            <a:off x="6333681" y="4279838"/>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6.9</a:t>
            </a:r>
          </a:p>
        </p:txBody>
      </p:sp>
      <p:sp>
        <p:nvSpPr>
          <p:cNvPr id="28" name="TextBox 27">
            <a:hlinkClick r:id="rId52" action="ppaction://hlinksldjump"/>
            <a:extLst>
              <a:ext uri="{FF2B5EF4-FFF2-40B4-BE49-F238E27FC236}">
                <a16:creationId xmlns:a16="http://schemas.microsoft.com/office/drawing/2014/main" id="{7E99EB0A-74B2-1145-E528-FF02E0B21E4A}"/>
              </a:ext>
            </a:extLst>
          </p:cNvPr>
          <p:cNvSpPr txBox="1"/>
          <p:nvPr>
            <p:custDataLst>
              <p:tags r:id="rId26"/>
            </p:custDataLst>
          </p:nvPr>
        </p:nvSpPr>
        <p:spPr bwMode="auto">
          <a:xfrm>
            <a:off x="6333681" y="4636453"/>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6.10</a:t>
            </a:r>
          </a:p>
        </p:txBody>
      </p:sp>
      <p:sp>
        <p:nvSpPr>
          <p:cNvPr id="29" name="TextBox 28">
            <a:hlinkClick r:id="rId53" action="ppaction://hlinksldjump"/>
            <a:extLst>
              <a:ext uri="{FF2B5EF4-FFF2-40B4-BE49-F238E27FC236}">
                <a16:creationId xmlns:a16="http://schemas.microsoft.com/office/drawing/2014/main" id="{2F67C8EC-6C5B-20A7-CF83-521FFA8D0B91}"/>
              </a:ext>
            </a:extLst>
          </p:cNvPr>
          <p:cNvSpPr txBox="1"/>
          <p:nvPr>
            <p:custDataLst>
              <p:tags r:id="rId27"/>
            </p:custDataLst>
          </p:nvPr>
        </p:nvSpPr>
        <p:spPr bwMode="auto">
          <a:xfrm>
            <a:off x="6333681" y="4993069"/>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6.11</a:t>
            </a:r>
          </a:p>
        </p:txBody>
      </p:sp>
      <p:sp>
        <p:nvSpPr>
          <p:cNvPr id="30" name="TextBox 29">
            <a:hlinkClick r:id="rId54" action="ppaction://hlinksldjump"/>
            <a:extLst>
              <a:ext uri="{FF2B5EF4-FFF2-40B4-BE49-F238E27FC236}">
                <a16:creationId xmlns:a16="http://schemas.microsoft.com/office/drawing/2014/main" id="{B5C7FB10-3A95-36BB-C0D4-97BC96E2D4D6}"/>
              </a:ext>
            </a:extLst>
          </p:cNvPr>
          <p:cNvSpPr txBox="1"/>
          <p:nvPr>
            <p:custDataLst>
              <p:tags r:id="rId28"/>
            </p:custDataLst>
          </p:nvPr>
        </p:nvSpPr>
        <p:spPr bwMode="auto">
          <a:xfrm>
            <a:off x="6333681" y="5349685"/>
            <a:ext cx="201168" cy="356616"/>
          </a:xfrm>
          <a:prstGeom prst="rect">
            <a:avLst/>
          </a:prstGeom>
          <a:noFill/>
          <a:ln w="9525">
            <a:noFill/>
            <a:miter lim="800000"/>
            <a:headEnd/>
            <a:tailEnd/>
          </a:ln>
        </p:spPr>
        <p:txBody>
          <a:bodyPr vert="horz" wrap="none" lIns="0" tIns="0" rIns="274320" bIns="0" rtlCol="0" anchor="t" anchorCtr="0">
            <a:noAutofit/>
          </a:bodyPr>
          <a:lstStyle/>
          <a:p>
            <a:pPr algn="l">
              <a:lnSpc>
                <a:spcPct val="70000"/>
              </a:lnSpc>
            </a:pPr>
            <a:r>
              <a:rPr lang="en-US" sz="2400">
                <a:solidFill>
                  <a:schemeClr val="bg1"/>
                </a:solidFill>
                <a:latin typeface="+mj-lt"/>
              </a:rPr>
              <a:t>6.12</a:t>
            </a:r>
          </a:p>
        </p:txBody>
      </p:sp>
      <p:sp>
        <p:nvSpPr>
          <p:cNvPr id="31" name="TextBox 30">
            <a:hlinkClick r:id="rId43" action="ppaction://hlinksldjump"/>
            <a:extLst>
              <a:ext uri="{FF2B5EF4-FFF2-40B4-BE49-F238E27FC236}">
                <a16:creationId xmlns:a16="http://schemas.microsoft.com/office/drawing/2014/main" id="{B850A326-4B35-1E31-8537-DD2DBAC7A234}"/>
              </a:ext>
            </a:extLst>
          </p:cNvPr>
          <p:cNvSpPr txBox="1"/>
          <p:nvPr>
            <p:custDataLst>
              <p:tags r:id="rId29"/>
            </p:custDataLst>
          </p:nvPr>
        </p:nvSpPr>
        <p:spPr>
          <a:xfrm>
            <a:off x="6163612" y="3566606"/>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54</a:t>
            </a:r>
          </a:p>
        </p:txBody>
      </p:sp>
      <p:sp>
        <p:nvSpPr>
          <p:cNvPr id="32" name="TextBox 31">
            <a:hlinkClick r:id="rId44" action="ppaction://hlinksldjump"/>
            <a:extLst>
              <a:ext uri="{FF2B5EF4-FFF2-40B4-BE49-F238E27FC236}">
                <a16:creationId xmlns:a16="http://schemas.microsoft.com/office/drawing/2014/main" id="{93B95C55-6A43-8F6F-8ECE-079FAE6BFD0D}"/>
              </a:ext>
            </a:extLst>
          </p:cNvPr>
          <p:cNvSpPr txBox="1"/>
          <p:nvPr>
            <p:custDataLst>
              <p:tags r:id="rId30"/>
            </p:custDataLst>
          </p:nvPr>
        </p:nvSpPr>
        <p:spPr>
          <a:xfrm>
            <a:off x="6163612" y="392322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57</a:t>
            </a:r>
          </a:p>
        </p:txBody>
      </p:sp>
      <p:sp>
        <p:nvSpPr>
          <p:cNvPr id="33" name="TextBox 32">
            <a:hlinkClick r:id="rId45" action="ppaction://hlinksldjump"/>
            <a:extLst>
              <a:ext uri="{FF2B5EF4-FFF2-40B4-BE49-F238E27FC236}">
                <a16:creationId xmlns:a16="http://schemas.microsoft.com/office/drawing/2014/main" id="{D91D2A94-C256-5108-2B55-5029C7C13A85}"/>
              </a:ext>
            </a:extLst>
          </p:cNvPr>
          <p:cNvSpPr txBox="1"/>
          <p:nvPr>
            <p:custDataLst>
              <p:tags r:id="rId31"/>
            </p:custDataLst>
          </p:nvPr>
        </p:nvSpPr>
        <p:spPr>
          <a:xfrm>
            <a:off x="6163612" y="4279838"/>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58</a:t>
            </a:r>
          </a:p>
        </p:txBody>
      </p:sp>
      <p:sp>
        <p:nvSpPr>
          <p:cNvPr id="34" name="TextBox 33">
            <a:hlinkClick r:id="rId46" action="ppaction://hlinksldjump"/>
            <a:extLst>
              <a:ext uri="{FF2B5EF4-FFF2-40B4-BE49-F238E27FC236}">
                <a16:creationId xmlns:a16="http://schemas.microsoft.com/office/drawing/2014/main" id="{6F2D9C89-BADA-E1BA-43D1-2369428E078D}"/>
              </a:ext>
            </a:extLst>
          </p:cNvPr>
          <p:cNvSpPr txBox="1"/>
          <p:nvPr>
            <p:custDataLst>
              <p:tags r:id="rId32"/>
            </p:custDataLst>
          </p:nvPr>
        </p:nvSpPr>
        <p:spPr>
          <a:xfrm>
            <a:off x="6163612" y="4636453"/>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59</a:t>
            </a:r>
          </a:p>
        </p:txBody>
      </p:sp>
      <p:sp>
        <p:nvSpPr>
          <p:cNvPr id="35" name="TextBox 34">
            <a:hlinkClick r:id="rId47" action="ppaction://hlinksldjump"/>
            <a:extLst>
              <a:ext uri="{FF2B5EF4-FFF2-40B4-BE49-F238E27FC236}">
                <a16:creationId xmlns:a16="http://schemas.microsoft.com/office/drawing/2014/main" id="{618533A0-7D9A-EF2E-05D2-02A091FA5E80}"/>
              </a:ext>
            </a:extLst>
          </p:cNvPr>
          <p:cNvSpPr txBox="1"/>
          <p:nvPr>
            <p:custDataLst>
              <p:tags r:id="rId33"/>
            </p:custDataLst>
          </p:nvPr>
        </p:nvSpPr>
        <p:spPr>
          <a:xfrm>
            <a:off x="6163612" y="4993069"/>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61</a:t>
            </a:r>
          </a:p>
        </p:txBody>
      </p:sp>
      <p:sp>
        <p:nvSpPr>
          <p:cNvPr id="36" name="TextBox 35">
            <a:hlinkClick r:id="rId48" action="ppaction://hlinksldjump"/>
            <a:extLst>
              <a:ext uri="{FF2B5EF4-FFF2-40B4-BE49-F238E27FC236}">
                <a16:creationId xmlns:a16="http://schemas.microsoft.com/office/drawing/2014/main" id="{8AAD646A-BA1B-637A-D0D2-17528CA8729D}"/>
              </a:ext>
            </a:extLst>
          </p:cNvPr>
          <p:cNvSpPr txBox="1"/>
          <p:nvPr>
            <p:custDataLst>
              <p:tags r:id="rId34"/>
            </p:custDataLst>
          </p:nvPr>
        </p:nvSpPr>
        <p:spPr>
          <a:xfrm>
            <a:off x="6163612" y="5349685"/>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68</a:t>
            </a:r>
          </a:p>
        </p:txBody>
      </p:sp>
      <p:sp>
        <p:nvSpPr>
          <p:cNvPr id="37" name="TextBox 36">
            <a:hlinkClick r:id="rId49" action="ppaction://hlinksldjump"/>
            <a:extLst>
              <a:ext uri="{FF2B5EF4-FFF2-40B4-BE49-F238E27FC236}">
                <a16:creationId xmlns:a16="http://schemas.microsoft.com/office/drawing/2014/main" id="{AA3F398D-7A45-C64D-22C2-0C92EB86D384}"/>
              </a:ext>
            </a:extLst>
          </p:cNvPr>
          <p:cNvSpPr txBox="1"/>
          <p:nvPr>
            <p:custDataLst>
              <p:tags r:id="rId35"/>
            </p:custDataLst>
          </p:nvPr>
        </p:nvSpPr>
        <p:spPr>
          <a:xfrm>
            <a:off x="10931809" y="3566606"/>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71</a:t>
            </a:r>
          </a:p>
        </p:txBody>
      </p:sp>
      <p:sp>
        <p:nvSpPr>
          <p:cNvPr id="38" name="TextBox 37">
            <a:hlinkClick r:id="rId50" action="ppaction://hlinksldjump"/>
            <a:extLst>
              <a:ext uri="{FF2B5EF4-FFF2-40B4-BE49-F238E27FC236}">
                <a16:creationId xmlns:a16="http://schemas.microsoft.com/office/drawing/2014/main" id="{4168DD78-9627-6405-2866-0F1210638B74}"/>
              </a:ext>
            </a:extLst>
          </p:cNvPr>
          <p:cNvSpPr txBox="1"/>
          <p:nvPr>
            <p:custDataLst>
              <p:tags r:id="rId36"/>
            </p:custDataLst>
          </p:nvPr>
        </p:nvSpPr>
        <p:spPr>
          <a:xfrm>
            <a:off x="10931809" y="3923222"/>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72</a:t>
            </a:r>
          </a:p>
        </p:txBody>
      </p:sp>
      <p:sp>
        <p:nvSpPr>
          <p:cNvPr id="39" name="TextBox 38">
            <a:hlinkClick r:id="rId51" action="ppaction://hlinksldjump"/>
            <a:extLst>
              <a:ext uri="{FF2B5EF4-FFF2-40B4-BE49-F238E27FC236}">
                <a16:creationId xmlns:a16="http://schemas.microsoft.com/office/drawing/2014/main" id="{8DFCEB2B-E198-A09E-B030-82DCA646D70B}"/>
              </a:ext>
            </a:extLst>
          </p:cNvPr>
          <p:cNvSpPr txBox="1"/>
          <p:nvPr>
            <p:custDataLst>
              <p:tags r:id="rId37"/>
            </p:custDataLst>
          </p:nvPr>
        </p:nvSpPr>
        <p:spPr>
          <a:xfrm>
            <a:off x="10931809" y="4279838"/>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73</a:t>
            </a:r>
          </a:p>
        </p:txBody>
      </p:sp>
      <p:sp>
        <p:nvSpPr>
          <p:cNvPr id="40" name="TextBox 39">
            <a:hlinkClick r:id="rId52" action="ppaction://hlinksldjump"/>
            <a:extLst>
              <a:ext uri="{FF2B5EF4-FFF2-40B4-BE49-F238E27FC236}">
                <a16:creationId xmlns:a16="http://schemas.microsoft.com/office/drawing/2014/main" id="{7DA1704C-1F3E-A38E-70DE-770E303B7A84}"/>
              </a:ext>
            </a:extLst>
          </p:cNvPr>
          <p:cNvSpPr txBox="1"/>
          <p:nvPr>
            <p:custDataLst>
              <p:tags r:id="rId38"/>
            </p:custDataLst>
          </p:nvPr>
        </p:nvSpPr>
        <p:spPr>
          <a:xfrm>
            <a:off x="10931809" y="4636453"/>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74</a:t>
            </a:r>
          </a:p>
        </p:txBody>
      </p:sp>
      <p:sp>
        <p:nvSpPr>
          <p:cNvPr id="41" name="TextBox 40">
            <a:hlinkClick r:id="rId53" action="ppaction://hlinksldjump"/>
            <a:extLst>
              <a:ext uri="{FF2B5EF4-FFF2-40B4-BE49-F238E27FC236}">
                <a16:creationId xmlns:a16="http://schemas.microsoft.com/office/drawing/2014/main" id="{E4D6D541-C728-BE60-23FB-F0DA3D069EC0}"/>
              </a:ext>
            </a:extLst>
          </p:cNvPr>
          <p:cNvSpPr txBox="1"/>
          <p:nvPr>
            <p:custDataLst>
              <p:tags r:id="rId39"/>
            </p:custDataLst>
          </p:nvPr>
        </p:nvSpPr>
        <p:spPr>
          <a:xfrm>
            <a:off x="10931809" y="4993069"/>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75</a:t>
            </a:r>
          </a:p>
        </p:txBody>
      </p:sp>
      <p:sp>
        <p:nvSpPr>
          <p:cNvPr id="42" name="TextBox 41">
            <a:hlinkClick r:id="rId54" action="ppaction://hlinksldjump"/>
            <a:extLst>
              <a:ext uri="{FF2B5EF4-FFF2-40B4-BE49-F238E27FC236}">
                <a16:creationId xmlns:a16="http://schemas.microsoft.com/office/drawing/2014/main" id="{8F377EA6-BF9D-7357-84CA-7058DF250B2C}"/>
              </a:ext>
            </a:extLst>
          </p:cNvPr>
          <p:cNvSpPr txBox="1"/>
          <p:nvPr>
            <p:custDataLst>
              <p:tags r:id="rId40"/>
            </p:custDataLst>
          </p:nvPr>
        </p:nvSpPr>
        <p:spPr>
          <a:xfrm>
            <a:off x="10931809" y="5349685"/>
            <a:ext cx="0" cy="356616"/>
          </a:xfrm>
          <a:prstGeom prst="rect">
            <a:avLst/>
          </a:prstGeom>
          <a:noFill/>
        </p:spPr>
        <p:txBody>
          <a:bodyPr vert="horz" wrap="none" lIns="0" tIns="0" rIns="640080" bIns="0" rtlCol="0" anchor="t" anchorCtr="0">
            <a:noAutofit/>
          </a:bodyPr>
          <a:lstStyle/>
          <a:p>
            <a:pPr marL="0" indent="0" algn="r">
              <a:buFont typeface="Arial" panose="020B0604020202020204" pitchFamily="34" charset="0"/>
              <a:buNone/>
            </a:pPr>
            <a:r>
              <a:rPr lang="en-US" sz="1400">
                <a:solidFill>
                  <a:srgbClr val="FFFFFF"/>
                </a:solidFill>
                <a:effectLst/>
                <a:latin typeface="+mn-lt"/>
              </a:rPr>
              <a:t>78</a:t>
            </a:r>
          </a:p>
        </p:txBody>
      </p:sp>
    </p:spTree>
    <p:custDataLst>
      <p:tags r:id="rId1"/>
    </p:custDataLst>
    <p:extLst>
      <p:ext uri="{BB962C8B-B14F-4D97-AF65-F5344CB8AC3E}">
        <p14:creationId xmlns:p14="http://schemas.microsoft.com/office/powerpoint/2010/main" val="23627826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Internal FS reconciliation to audited FS</a:t>
            </a:r>
          </a:p>
        </p:txBody>
      </p:sp>
      <p:sp>
        <p:nvSpPr>
          <p:cNvPr id="6" name="TextBox 5">
            <a:extLst>
              <a:ext uri="{FF2B5EF4-FFF2-40B4-BE49-F238E27FC236}">
                <a16:creationId xmlns:a16="http://schemas.microsoft.com/office/drawing/2014/main" id="{194307E7-9B11-2A12-4D1F-C992BEEFF448}"/>
              </a:ext>
            </a:extLst>
          </p:cNvPr>
          <p:cNvSpPr txBox="1"/>
          <p:nvPr/>
        </p:nvSpPr>
        <p:spPr>
          <a:xfrm>
            <a:off x="995363" y="978153"/>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the reconciliation of internal financials to audited financial statements. The variances presented relate to reclass variances which are net to zero within operating expenses.</a:t>
            </a:r>
          </a:p>
        </p:txBody>
      </p:sp>
      <p:sp>
        <p:nvSpPr>
          <p:cNvPr id="7" name="Text Placeholder 12">
            <a:extLst>
              <a:ext uri="{FF2B5EF4-FFF2-40B4-BE49-F238E27FC236}">
                <a16:creationId xmlns:a16="http://schemas.microsoft.com/office/drawing/2014/main" id="{CAB5F58C-CDC7-9F7A-1665-643D0716F890}"/>
              </a:ext>
            </a:extLst>
          </p:cNvPr>
          <p:cNvSpPr txBox="1">
            <a:spLocks/>
          </p:cNvSpPr>
          <p:nvPr/>
        </p:nvSpPr>
        <p:spPr>
          <a:xfrm>
            <a:off x="995363" y="5002292"/>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Internal financial statements, Audited financial statements</a:t>
            </a:r>
          </a:p>
        </p:txBody>
      </p:sp>
      <p:sp>
        <p:nvSpPr>
          <p:cNvPr id="20" name="TextBox 19">
            <a:extLst>
              <a:ext uri="{FF2B5EF4-FFF2-40B4-BE49-F238E27FC236}">
                <a16:creationId xmlns:a16="http://schemas.microsoft.com/office/drawing/2014/main" id="{350B5ACB-0C18-DB16-1845-F050D1C71372}"/>
              </a:ext>
            </a:extLst>
          </p:cNvPr>
          <p:cNvSpPr txBox="1"/>
          <p:nvPr/>
        </p:nvSpPr>
        <p:spPr>
          <a:xfrm>
            <a:off x="995362" y="5200215"/>
            <a:ext cx="6782562" cy="784830"/>
          </a:xfrm>
          <a:prstGeom prst="rect">
            <a:avLst/>
          </a:prstGeom>
          <a:noFill/>
        </p:spPr>
        <p:txBody>
          <a:bodyPr wrap="square">
            <a:spAutoFit/>
          </a:bodyPr>
          <a:lstStyle/>
          <a:p>
            <a:pPr algn="l"/>
            <a:r>
              <a:rPr lang="en-US" sz="900" b="1">
                <a:solidFill>
                  <a:schemeClr val="tx2"/>
                </a:solidFill>
              </a:rPr>
              <a:t>Other comprehensive income:</a:t>
            </a:r>
          </a:p>
          <a:p>
            <a:pPr marL="171450" indent="-171450" algn="l">
              <a:buClr>
                <a:schemeClr val="bg1">
                  <a:lumMod val="50000"/>
                </a:schemeClr>
              </a:buClr>
              <a:buFont typeface="Arial" panose="020B0604020202020204" pitchFamily="34" charset="0"/>
              <a:buChar char="•"/>
            </a:pPr>
            <a:r>
              <a:rPr lang="en-US" sz="900"/>
              <a:t>The Company holds an investment in </a:t>
            </a:r>
            <a:r>
              <a:rPr lang="en-US" sz="900" err="1"/>
              <a:t>Interac</a:t>
            </a:r>
            <a:r>
              <a:rPr lang="en-US" sz="900"/>
              <a:t> Corp., a private entity, which was acquired through the amalgamation of three entities of which the Company was a member of the </a:t>
            </a:r>
            <a:r>
              <a:rPr lang="en-US" sz="900" err="1"/>
              <a:t>Interac</a:t>
            </a:r>
            <a:r>
              <a:rPr lang="en-US" sz="900"/>
              <a:t> Association, an incorporated non-profit organization.</a:t>
            </a:r>
          </a:p>
          <a:p>
            <a:pPr marL="171450" indent="-171450" algn="l">
              <a:buClr>
                <a:schemeClr val="bg1">
                  <a:lumMod val="50000"/>
                </a:schemeClr>
              </a:buClr>
              <a:buFont typeface="Arial" panose="020B0604020202020204" pitchFamily="34" charset="0"/>
              <a:buChar char="•"/>
            </a:pPr>
            <a:r>
              <a:rPr lang="en-US" sz="900"/>
              <a:t>As at December 31, 2021, the Company reported an unrealized fair value adjustment of $155,000, net of tax, in other comprehensive income. This investment is recognized at Fair Value Through Other Comprehensive Income (FVTOCI)</a:t>
            </a:r>
          </a:p>
        </p:txBody>
      </p:sp>
      <p:sp>
        <p:nvSpPr>
          <p:cNvPr id="10" name="Title 1">
            <a:extLst>
              <a:ext uri="{FF2B5EF4-FFF2-40B4-BE49-F238E27FC236}">
                <a16:creationId xmlns:a16="http://schemas.microsoft.com/office/drawing/2014/main" id="{79E2495C-F327-6D2C-CC41-F2170A0153BB}"/>
              </a:ext>
            </a:extLst>
          </p:cNvPr>
          <p:cNvSpPr>
            <a:spLocks noGrp="1"/>
          </p:cNvSpPr>
          <p:nvPr>
            <p:ph type="title"/>
          </p:nvPr>
        </p:nvSpPr>
        <p:spPr>
          <a:xfrm>
            <a:off x="995362" y="431800"/>
            <a:ext cx="10204452" cy="539750"/>
          </a:xfrm>
        </p:spPr>
        <p:txBody>
          <a:bodyPr/>
          <a:lstStyle/>
          <a:p>
            <a:r>
              <a:rPr lang="en-US" sz="3300"/>
              <a:t>Internal financial statements reconciliation to audited financial statements (1/3)</a:t>
            </a:r>
          </a:p>
        </p:txBody>
      </p:sp>
      <p:pic>
        <p:nvPicPr>
          <p:cNvPr id="2" name="Picture 1">
            <a:extLst>
              <a:ext uri="{FF2B5EF4-FFF2-40B4-BE49-F238E27FC236}">
                <a16:creationId xmlns:a16="http://schemas.microsoft.com/office/drawing/2014/main" id="{7C87F355-80F8-C603-7AF3-2CEF5CF1F02F}"/>
              </a:ext>
            </a:extLst>
          </p:cNvPr>
          <p:cNvPicPr>
            <a:picLocks noChangeAspect="1"/>
          </p:cNvPicPr>
          <p:nvPr>
            <p:custDataLst>
              <p:tags r:id="rId2"/>
            </p:custDataLst>
          </p:nvPr>
        </p:nvPicPr>
        <p:blipFill>
          <a:blip r:embed="rId5"/>
          <a:stretch>
            <a:fillRect/>
          </a:stretch>
        </p:blipFill>
        <p:spPr>
          <a:xfrm>
            <a:off x="996697" y="1344168"/>
            <a:ext cx="6825813" cy="3621298"/>
          </a:xfrm>
          <a:prstGeom prst="rect">
            <a:avLst/>
          </a:prstGeom>
        </p:spPr>
      </p:pic>
      <p:grpSp>
        <p:nvGrpSpPr>
          <p:cNvPr id="28" name="Group 27">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7"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0807386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Internal FS reconciliation to audited FS</a:t>
            </a:r>
          </a:p>
        </p:txBody>
      </p:sp>
      <p:sp>
        <p:nvSpPr>
          <p:cNvPr id="26" name="TextBox 25">
            <a:extLst>
              <a:ext uri="{FF2B5EF4-FFF2-40B4-BE49-F238E27FC236}">
                <a16:creationId xmlns:a16="http://schemas.microsoft.com/office/drawing/2014/main" id="{906C9536-21C9-4DE6-E9A6-D677CF116307}"/>
              </a:ext>
            </a:extLst>
          </p:cNvPr>
          <p:cNvSpPr txBox="1"/>
          <p:nvPr/>
        </p:nvSpPr>
        <p:spPr>
          <a:xfrm>
            <a:off x="995363" y="979783"/>
            <a:ext cx="10264613"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the reconciliation of internal financials to audited financial statements.</a:t>
            </a:r>
          </a:p>
        </p:txBody>
      </p:sp>
      <p:sp>
        <p:nvSpPr>
          <p:cNvPr id="4" name="Text Placeholder 12">
            <a:extLst>
              <a:ext uri="{FF2B5EF4-FFF2-40B4-BE49-F238E27FC236}">
                <a16:creationId xmlns:a16="http://schemas.microsoft.com/office/drawing/2014/main" id="{B5949BAF-86BA-8089-2F5E-02504092A749}"/>
              </a:ext>
            </a:extLst>
          </p:cNvPr>
          <p:cNvSpPr txBox="1">
            <a:spLocks/>
          </p:cNvSpPr>
          <p:nvPr/>
        </p:nvSpPr>
        <p:spPr>
          <a:xfrm>
            <a:off x="995362" y="6089511"/>
            <a:ext cx="2849893" cy="9233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Internal financial statements, Audited financial statements</a:t>
            </a:r>
          </a:p>
        </p:txBody>
      </p:sp>
      <p:sp>
        <p:nvSpPr>
          <p:cNvPr id="8" name="Title 1">
            <a:extLst>
              <a:ext uri="{FF2B5EF4-FFF2-40B4-BE49-F238E27FC236}">
                <a16:creationId xmlns:a16="http://schemas.microsoft.com/office/drawing/2014/main" id="{123A4DA4-12AF-A897-6E41-ED44251520A6}"/>
              </a:ext>
            </a:extLst>
          </p:cNvPr>
          <p:cNvSpPr>
            <a:spLocks noGrp="1"/>
          </p:cNvSpPr>
          <p:nvPr>
            <p:ph type="title"/>
          </p:nvPr>
        </p:nvSpPr>
        <p:spPr>
          <a:xfrm>
            <a:off x="995362" y="431800"/>
            <a:ext cx="10204452" cy="539750"/>
          </a:xfrm>
        </p:spPr>
        <p:txBody>
          <a:bodyPr/>
          <a:lstStyle/>
          <a:p>
            <a:r>
              <a:rPr lang="en-US" sz="3300"/>
              <a:t>Internal financial statements reconciliation to audited financial statements (2/3)</a:t>
            </a:r>
          </a:p>
        </p:txBody>
      </p:sp>
      <p:pic>
        <p:nvPicPr>
          <p:cNvPr id="2" name="Picture 1">
            <a:extLst>
              <a:ext uri="{FF2B5EF4-FFF2-40B4-BE49-F238E27FC236}">
                <a16:creationId xmlns:a16="http://schemas.microsoft.com/office/drawing/2014/main" id="{EB85D086-1EE4-9210-042F-D29A00293E9E}"/>
              </a:ext>
            </a:extLst>
          </p:cNvPr>
          <p:cNvPicPr>
            <a:picLocks noChangeAspect="1"/>
          </p:cNvPicPr>
          <p:nvPr>
            <p:custDataLst>
              <p:tags r:id="rId2"/>
            </p:custDataLst>
          </p:nvPr>
        </p:nvPicPr>
        <p:blipFill>
          <a:blip r:embed="rId5"/>
          <a:stretch>
            <a:fillRect/>
          </a:stretch>
        </p:blipFill>
        <p:spPr>
          <a:xfrm>
            <a:off x="995364" y="1327956"/>
            <a:ext cx="6388059" cy="4761555"/>
          </a:xfrm>
          <a:prstGeom prst="rect">
            <a:avLst/>
          </a:prstGeom>
        </p:spPr>
      </p:pic>
      <p:grpSp>
        <p:nvGrpSpPr>
          <p:cNvPr id="20" name="Group 1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7"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5300973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sz="3300"/>
              <a:t>Internal financial statements reconciliation to audited financial statements (3/3)</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Internal FS reconciliation to audited FS</a:t>
            </a:r>
          </a:p>
        </p:txBody>
      </p:sp>
      <p:sp>
        <p:nvSpPr>
          <p:cNvPr id="26" name="TextBox 25">
            <a:extLst>
              <a:ext uri="{FF2B5EF4-FFF2-40B4-BE49-F238E27FC236}">
                <a16:creationId xmlns:a16="http://schemas.microsoft.com/office/drawing/2014/main" id="{906C9536-21C9-4DE6-E9A6-D677CF116307}"/>
              </a:ext>
            </a:extLst>
          </p:cNvPr>
          <p:cNvSpPr txBox="1"/>
          <p:nvPr/>
        </p:nvSpPr>
        <p:spPr>
          <a:xfrm>
            <a:off x="995363" y="97155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the reconciliation of internal financials to audited financial statements. </a:t>
            </a:r>
          </a:p>
        </p:txBody>
      </p:sp>
      <p:sp>
        <p:nvSpPr>
          <p:cNvPr id="6" name="Text Placeholder 12">
            <a:extLst>
              <a:ext uri="{FF2B5EF4-FFF2-40B4-BE49-F238E27FC236}">
                <a16:creationId xmlns:a16="http://schemas.microsoft.com/office/drawing/2014/main" id="{07BDEE8B-7D10-5898-3C71-7DB035F5C17D}"/>
              </a:ext>
            </a:extLst>
          </p:cNvPr>
          <p:cNvSpPr txBox="1">
            <a:spLocks/>
          </p:cNvSpPr>
          <p:nvPr/>
        </p:nvSpPr>
        <p:spPr>
          <a:xfrm>
            <a:off x="1001712" y="5737141"/>
            <a:ext cx="6928332" cy="184666"/>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Internal financial statements, Audited financial statements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a:solidFill>
                  <a:srgbClr val="00338D"/>
                </a:solidFill>
                <a:latin typeface="Arial" panose="020B0604020202020204" pitchFamily="34" charset="0"/>
              </a:rPr>
              <a:t>Note: Items in transit is reclassed from change in working capital to opening and closing cash and cash equivalent balances to align with audited financial statement presentation</a:t>
            </a:r>
            <a:endPar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endParaRPr>
          </a:p>
        </p:txBody>
      </p:sp>
      <p:pic>
        <p:nvPicPr>
          <p:cNvPr id="5" name="Picture 4">
            <a:extLst>
              <a:ext uri="{FF2B5EF4-FFF2-40B4-BE49-F238E27FC236}">
                <a16:creationId xmlns:a16="http://schemas.microsoft.com/office/drawing/2014/main" id="{FD42389A-B235-42C7-74E6-D9764C768370}"/>
              </a:ext>
            </a:extLst>
          </p:cNvPr>
          <p:cNvPicPr>
            <a:picLocks noChangeAspect="1"/>
          </p:cNvPicPr>
          <p:nvPr>
            <p:custDataLst>
              <p:tags r:id="rId2"/>
            </p:custDataLst>
          </p:nvPr>
        </p:nvPicPr>
        <p:blipFill>
          <a:blip r:embed="rId5"/>
          <a:stretch>
            <a:fillRect/>
          </a:stretch>
        </p:blipFill>
        <p:spPr>
          <a:xfrm>
            <a:off x="1002799" y="1330327"/>
            <a:ext cx="8231749" cy="4406814"/>
          </a:xfrm>
          <a:prstGeom prst="rect">
            <a:avLst/>
          </a:prstGeom>
        </p:spPr>
      </p:pic>
      <p:grpSp>
        <p:nvGrpSpPr>
          <p:cNvPr id="20" name="Group 1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7"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1739939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5978BEB-33BB-1145-6995-9954DB3E4C31}"/>
              </a:ext>
            </a:extLst>
          </p:cNvPr>
          <p:cNvPicPr>
            <a:picLocks noChangeAspect="1"/>
          </p:cNvPicPr>
          <p:nvPr>
            <p:custDataLst>
              <p:tags r:id="rId1"/>
            </p:custDataLst>
          </p:nvPr>
        </p:nvPicPr>
        <p:blipFill>
          <a:blip r:embed="rId5"/>
          <a:stretch>
            <a:fillRect/>
          </a:stretch>
        </p:blipFill>
        <p:spPr>
          <a:xfrm>
            <a:off x="995363" y="1330326"/>
            <a:ext cx="4527550" cy="2469707"/>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sz="4000"/>
              <a:t>Billings report reconciliation to internal financial statements</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Billing report reconciliation to internal FS</a:t>
            </a:r>
          </a:p>
        </p:txBody>
      </p:sp>
      <p:sp>
        <p:nvSpPr>
          <p:cNvPr id="26" name="TextBox 25">
            <a:extLst>
              <a:ext uri="{FF2B5EF4-FFF2-40B4-BE49-F238E27FC236}">
                <a16:creationId xmlns:a16="http://schemas.microsoft.com/office/drawing/2014/main" id="{906C9536-21C9-4DE6-E9A6-D677CF116307}"/>
              </a:ext>
            </a:extLst>
          </p:cNvPr>
          <p:cNvSpPr txBox="1"/>
          <p:nvPr/>
        </p:nvSpPr>
        <p:spPr>
          <a:xfrm>
            <a:off x="995363" y="965021"/>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the reconciliation of billing reports to the internal financial statements. Significant adjustments to billed revenue include a reduction for pass through revenue and adjustments from deferred revenue or contract assets/liabilities on percentage of completion revenue contracts. </a:t>
            </a:r>
          </a:p>
        </p:txBody>
      </p:sp>
      <p:sp>
        <p:nvSpPr>
          <p:cNvPr id="27" name="Text Placeholder 12">
            <a:extLst>
              <a:ext uri="{FF2B5EF4-FFF2-40B4-BE49-F238E27FC236}">
                <a16:creationId xmlns:a16="http://schemas.microsoft.com/office/drawing/2014/main" id="{E01498CD-EDCD-F318-758A-BFDADF3D0A6B}"/>
              </a:ext>
            </a:extLst>
          </p:cNvPr>
          <p:cNvSpPr txBox="1">
            <a:spLocks/>
          </p:cNvSpPr>
          <p:nvPr/>
        </p:nvSpPr>
        <p:spPr>
          <a:xfrm>
            <a:off x="1001540" y="3834188"/>
            <a:ext cx="4521373" cy="276999"/>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rPr>
              <a:t>Source: Historical financial statements, Management provided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a:solidFill>
                  <a:srgbClr val="00338D"/>
                </a:solidFill>
                <a:latin typeface="Arial" panose="020B0604020202020204" pitchFamily="34" charset="0"/>
              </a:rPr>
              <a:t>Note 1: Revenue from settlement includes 1.OIF, Interchange, DCC and 2. </a:t>
            </a:r>
            <a:r>
              <a:rPr lang="en-US" sz="600" b="0" err="1">
                <a:solidFill>
                  <a:srgbClr val="00338D"/>
                </a:solidFill>
                <a:latin typeface="Arial" panose="020B0604020202020204" pitchFamily="34" charset="0"/>
              </a:rPr>
              <a:t>Interac</a:t>
            </a:r>
            <a:r>
              <a:rPr lang="en-US" sz="600" b="0">
                <a:solidFill>
                  <a:srgbClr val="00338D"/>
                </a:solidFill>
                <a:latin typeface="Arial" panose="020B0604020202020204" pitchFamily="34" charset="0"/>
              </a:rPr>
              <a:t> flash and In-app interchange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600" b="0">
                <a:solidFill>
                  <a:srgbClr val="00338D"/>
                </a:solidFill>
                <a:latin typeface="Arial" panose="020B0604020202020204" pitchFamily="34" charset="0"/>
              </a:rPr>
              <a:t>Note 2: True difference in Billings report and Billings reconciliation source files.</a:t>
            </a:r>
            <a:endParaRPr kumimoji="0" lang="en-US" sz="600" b="0" i="0" strike="noStrike" kern="1200" cap="none" spc="0" normalizeH="0" baseline="0" noProof="0">
              <a:ln>
                <a:noFill/>
              </a:ln>
              <a:solidFill>
                <a:srgbClr val="00338D"/>
              </a:solidFill>
              <a:effectLst/>
              <a:uLnTx/>
              <a:uFillTx/>
              <a:latin typeface="Arial" panose="020B0604020202020204" pitchFamily="34" charset="0"/>
              <a:ea typeface="+mn-ea"/>
              <a:cs typeface="+mn-cs"/>
            </a:endParaRPr>
          </a:p>
        </p:txBody>
      </p:sp>
      <p:grpSp>
        <p:nvGrpSpPr>
          <p:cNvPr id="20" name="Group 1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8"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4157095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EB00E80-CCEC-1BF2-7041-70408E267876}"/>
              </a:ext>
            </a:extLst>
          </p:cNvPr>
          <p:cNvPicPr>
            <a:picLocks noChangeAspect="1"/>
          </p:cNvPicPr>
          <p:nvPr>
            <p:custDataLst>
              <p:tags r:id="rId1"/>
            </p:custDataLst>
          </p:nvPr>
        </p:nvPicPr>
        <p:blipFill>
          <a:blip r:embed="rId5"/>
          <a:stretch>
            <a:fillRect/>
          </a:stretch>
        </p:blipFill>
        <p:spPr>
          <a:xfrm>
            <a:off x="992193" y="1335804"/>
            <a:ext cx="7428967" cy="4552798"/>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CA">
                <a:solidFill>
                  <a:srgbClr val="00338D"/>
                </a:solidFill>
              </a:rPr>
              <a:t>TTM Apr-24 to TTM Jun-24 QofE bridge</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TTM Apr-24 to TTM Jun-24 QofE bridge</a:t>
            </a:r>
          </a:p>
        </p:txBody>
      </p:sp>
      <p:sp>
        <p:nvSpPr>
          <p:cNvPr id="5" name="TextBox 4">
            <a:extLst>
              <a:ext uri="{FF2B5EF4-FFF2-40B4-BE49-F238E27FC236}">
                <a16:creationId xmlns:a16="http://schemas.microsoft.com/office/drawing/2014/main" id="{E1E04E01-8861-B170-1B4A-36583278A904}"/>
              </a:ext>
            </a:extLst>
          </p:cNvPr>
          <p:cNvSpPr txBox="1"/>
          <p:nvPr/>
        </p:nvSpPr>
        <p:spPr>
          <a:xfrm>
            <a:off x="1012615" y="1053337"/>
            <a:ext cx="10215611" cy="283022"/>
          </a:xfrm>
          <a:prstGeom prst="rect">
            <a:avLst/>
          </a:prstGeom>
        </p:spPr>
        <p:txBody>
          <a:bodyPr vert="horz" wrap="square" lIns="0" tIns="0" rIns="0" bIns="0" rtlCol="0" anchor="t" anchorCtr="0">
            <a:noAutofit/>
          </a:bodyPr>
          <a:lstStyle/>
          <a:p>
            <a:pPr>
              <a:spcAft>
                <a:spcPts val="600"/>
              </a:spcAft>
            </a:pPr>
            <a:endParaRPr lang="en-US" sz="900" b="1">
              <a:solidFill>
                <a:schemeClr val="tx2"/>
              </a:solidFill>
            </a:endParaRPr>
          </a:p>
        </p:txBody>
      </p:sp>
      <p:sp>
        <p:nvSpPr>
          <p:cNvPr id="7" name="Text Placeholder 12">
            <a:extLst>
              <a:ext uri="{FF2B5EF4-FFF2-40B4-BE49-F238E27FC236}">
                <a16:creationId xmlns:a16="http://schemas.microsoft.com/office/drawing/2014/main" id="{0721DD9A-B4AF-0C3B-C425-DE2C9485FE35}"/>
              </a:ext>
            </a:extLst>
          </p:cNvPr>
          <p:cNvSpPr txBox="1">
            <a:spLocks/>
          </p:cNvSpPr>
          <p:nvPr/>
        </p:nvSpPr>
        <p:spPr>
          <a:xfrm>
            <a:off x="1012615" y="5920758"/>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a:t>
            </a:r>
          </a:p>
        </p:txBody>
      </p:sp>
      <p:sp>
        <p:nvSpPr>
          <p:cNvPr id="15" name="TextBox 14">
            <a:extLst>
              <a:ext uri="{FF2B5EF4-FFF2-40B4-BE49-F238E27FC236}">
                <a16:creationId xmlns:a16="http://schemas.microsoft.com/office/drawing/2014/main" id="{6B6F1772-E486-2F0C-D1D0-281DE112D766}"/>
              </a:ext>
            </a:extLst>
          </p:cNvPr>
          <p:cNvSpPr txBox="1"/>
          <p:nvPr/>
        </p:nvSpPr>
        <p:spPr>
          <a:xfrm>
            <a:off x="995363" y="970995"/>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a bridge from TTM Apr-24 to TTM Jun-24 pro forma adjusted EBITDA. Changes to EBITDA adjustments in the historical period are due to receipt of new and updated information, along with the universal change from using a YTD April 2024 to YTD June 2024 run-rate for various adjustments.</a:t>
            </a:r>
            <a:endParaRPr lang="en-US" sz="900" b="1">
              <a:solidFill>
                <a:schemeClr val="tx2"/>
              </a:solidFill>
            </a:endParaRPr>
          </a:p>
          <a:p>
            <a:pPr>
              <a:spcAft>
                <a:spcPts val="600"/>
              </a:spcAft>
            </a:pPr>
            <a:endParaRPr lang="en-US" sz="900" b="1">
              <a:solidFill>
                <a:schemeClr val="tx2"/>
              </a:solidFill>
            </a:endParaRPr>
          </a:p>
        </p:txBody>
      </p:sp>
      <p:sp>
        <p:nvSpPr>
          <p:cNvPr id="6" name="Text Placeholder 12">
            <a:extLst>
              <a:ext uri="{FF2B5EF4-FFF2-40B4-BE49-F238E27FC236}">
                <a16:creationId xmlns:a16="http://schemas.microsoft.com/office/drawing/2014/main" id="{A6D6536E-8F50-A2D8-7714-AEE02B9EE495}"/>
              </a:ext>
            </a:extLst>
          </p:cNvPr>
          <p:cNvSpPr txBox="1">
            <a:spLocks/>
          </p:cNvSpPr>
          <p:nvPr/>
        </p:nvSpPr>
        <p:spPr>
          <a:xfrm>
            <a:off x="8566621" y="1353712"/>
            <a:ext cx="2641194" cy="2446824"/>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indent="-171450" algn="l">
              <a:spcAft>
                <a:spcPts val="600"/>
              </a:spcAft>
              <a:buClr>
                <a:schemeClr val="bg1">
                  <a:lumMod val="50000"/>
                </a:schemeClr>
              </a:buClr>
              <a:buFont typeface="Arial" panose="020B0604020202020204" pitchFamily="34" charset="0"/>
              <a:buChar char="•"/>
            </a:pPr>
            <a:r>
              <a:rPr lang="en-US" sz="900" dirty="0">
                <a:solidFill>
                  <a:schemeClr val="tx1"/>
                </a:solidFill>
              </a:rPr>
              <a:t>Jun-24 roll-forward updates:</a:t>
            </a:r>
          </a:p>
          <a:p>
            <a:pPr marL="352425" lvl="2" indent="-171450">
              <a:buClr>
                <a:schemeClr val="bg1">
                  <a:lumMod val="50000"/>
                </a:schemeClr>
              </a:buClr>
            </a:pPr>
            <a:r>
              <a:rPr lang="en-US" sz="900" i="1" dirty="0" err="1">
                <a:solidFill>
                  <a:schemeClr val="tx1"/>
                </a:solidFill>
              </a:rPr>
              <a:t>QofE</a:t>
            </a:r>
            <a:r>
              <a:rPr lang="en-US" sz="900" i="1" dirty="0">
                <a:solidFill>
                  <a:schemeClr val="tx1"/>
                </a:solidFill>
              </a:rPr>
              <a:t> Adj. #3: </a:t>
            </a:r>
            <a:r>
              <a:rPr lang="en-US" sz="900" dirty="0">
                <a:solidFill>
                  <a:schemeClr val="tx1"/>
                </a:solidFill>
              </a:rPr>
              <a:t>TTM Jun-24 roll-forward reflects updated terms of settlement between the Company and </a:t>
            </a:r>
            <a:r>
              <a:rPr lang="en-US" sz="900" dirty="0" err="1">
                <a:solidFill>
                  <a:schemeClr val="tx1"/>
                </a:solidFill>
              </a:rPr>
              <a:t>Interac</a:t>
            </a:r>
            <a:r>
              <a:rPr lang="en-US" sz="900" dirty="0">
                <a:solidFill>
                  <a:schemeClr val="tx1"/>
                </a:solidFill>
              </a:rPr>
              <a:t> as outlined in the Letter agreement dated July 1, 2024.</a:t>
            </a:r>
          </a:p>
          <a:p>
            <a:pPr marL="352425" lvl="2" indent="-171450">
              <a:buClr>
                <a:schemeClr val="bg1">
                  <a:lumMod val="50000"/>
                </a:schemeClr>
              </a:buClr>
            </a:pPr>
            <a:r>
              <a:rPr lang="en-US" sz="900" i="1" dirty="0" err="1">
                <a:solidFill>
                  <a:schemeClr val="tx1"/>
                </a:solidFill>
              </a:rPr>
              <a:t>QofE</a:t>
            </a:r>
            <a:r>
              <a:rPr lang="en-US" sz="900" i="1" dirty="0">
                <a:solidFill>
                  <a:schemeClr val="tx1"/>
                </a:solidFill>
              </a:rPr>
              <a:t> Adj. #18: </a:t>
            </a:r>
            <a:r>
              <a:rPr lang="en-US" sz="900" dirty="0">
                <a:solidFill>
                  <a:schemeClr val="tx1"/>
                </a:solidFill>
              </a:rPr>
              <a:t>The Settlement services dispute </a:t>
            </a:r>
            <a:r>
              <a:rPr lang="en-US" sz="900" dirty="0" err="1">
                <a:solidFill>
                  <a:schemeClr val="tx1"/>
                </a:solidFill>
              </a:rPr>
              <a:t>QofE</a:t>
            </a:r>
            <a:r>
              <a:rPr lang="en-US" sz="900" dirty="0">
                <a:solidFill>
                  <a:schemeClr val="tx1"/>
                </a:solidFill>
              </a:rPr>
              <a:t> Adj. #3 update during the TTM Jun-24 roll-forward has revised the diligence adjusted settlement services revenue, thereby changing the base values for applying a run-rate and changing the quantum of this pro forma adjustment.</a:t>
            </a:r>
          </a:p>
          <a:p>
            <a:pPr marL="171450" indent="-171450" algn="l">
              <a:spcAft>
                <a:spcPts val="600"/>
              </a:spcAft>
              <a:buClr>
                <a:schemeClr val="bg1">
                  <a:lumMod val="50000"/>
                </a:schemeClr>
              </a:buClr>
              <a:buFont typeface="Arial" panose="020B0604020202020204" pitchFamily="34" charset="0"/>
              <a:buChar char="•"/>
            </a:pPr>
            <a:r>
              <a:rPr lang="en-US" sz="900" dirty="0">
                <a:solidFill>
                  <a:schemeClr val="tx1"/>
                </a:solidFill>
              </a:rPr>
              <a:t>YTD Jun-24 run-rate update: </a:t>
            </a:r>
            <a:r>
              <a:rPr lang="en-US" sz="900" b="0" dirty="0">
                <a:solidFill>
                  <a:schemeClr val="tx1"/>
                </a:solidFill>
              </a:rPr>
              <a:t>All adjustments which applied a YTD Apr-24 run-rate on a pro forma basis to the historical period have been updated to a YTD Jun-24 run-rate.  </a:t>
            </a:r>
          </a:p>
        </p:txBody>
      </p:sp>
      <p:grpSp>
        <p:nvGrpSpPr>
          <p:cNvPr id="24" name="Group 23">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5"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6"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7"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8"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9"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0"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1351920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CA" sz="4000">
                <a:solidFill>
                  <a:srgbClr val="00338D"/>
                </a:solidFill>
              </a:rPr>
              <a:t>Adjusted income </a:t>
            </a:r>
            <a:r>
              <a:rPr lang="en-CA">
                <a:solidFill>
                  <a:srgbClr val="00338D"/>
                </a:solidFill>
              </a:rPr>
              <a:t>s</a:t>
            </a:r>
            <a:r>
              <a:rPr lang="en-CA" sz="4000">
                <a:solidFill>
                  <a:srgbClr val="00338D"/>
                </a:solidFill>
              </a:rPr>
              <a:t>tatement (1/2)</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Adjusted income statement</a:t>
            </a:r>
          </a:p>
        </p:txBody>
      </p:sp>
      <p:sp>
        <p:nvSpPr>
          <p:cNvPr id="5" name="TextBox 4">
            <a:extLst>
              <a:ext uri="{FF2B5EF4-FFF2-40B4-BE49-F238E27FC236}">
                <a16:creationId xmlns:a16="http://schemas.microsoft.com/office/drawing/2014/main" id="{E1E04E01-8861-B170-1B4A-36583278A904}"/>
              </a:ext>
            </a:extLst>
          </p:cNvPr>
          <p:cNvSpPr txBox="1"/>
          <p:nvPr/>
        </p:nvSpPr>
        <p:spPr>
          <a:xfrm>
            <a:off x="1012615" y="1053337"/>
            <a:ext cx="10215611" cy="283022"/>
          </a:xfrm>
          <a:prstGeom prst="rect">
            <a:avLst/>
          </a:prstGeom>
        </p:spPr>
        <p:txBody>
          <a:bodyPr vert="horz" wrap="square" lIns="0" tIns="0" rIns="0" bIns="0" rtlCol="0" anchor="t" anchorCtr="0">
            <a:noAutofit/>
          </a:bodyPr>
          <a:lstStyle/>
          <a:p>
            <a:pPr>
              <a:spcAft>
                <a:spcPts val="600"/>
              </a:spcAft>
            </a:pPr>
            <a:endParaRPr lang="en-US" sz="900" b="1">
              <a:solidFill>
                <a:schemeClr val="tx2"/>
              </a:solidFill>
            </a:endParaRPr>
          </a:p>
        </p:txBody>
      </p:sp>
      <p:sp>
        <p:nvSpPr>
          <p:cNvPr id="7" name="Text Placeholder 12">
            <a:extLst>
              <a:ext uri="{FF2B5EF4-FFF2-40B4-BE49-F238E27FC236}">
                <a16:creationId xmlns:a16="http://schemas.microsoft.com/office/drawing/2014/main" id="{0721DD9A-B4AF-0C3B-C425-DE2C9485FE35}"/>
              </a:ext>
            </a:extLst>
          </p:cNvPr>
          <p:cNvSpPr txBox="1">
            <a:spLocks/>
          </p:cNvSpPr>
          <p:nvPr/>
        </p:nvSpPr>
        <p:spPr>
          <a:xfrm>
            <a:off x="1022820" y="4176147"/>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a:t>
            </a:r>
          </a:p>
        </p:txBody>
      </p:sp>
      <p:sp>
        <p:nvSpPr>
          <p:cNvPr id="15" name="TextBox 14">
            <a:extLst>
              <a:ext uri="{FF2B5EF4-FFF2-40B4-BE49-F238E27FC236}">
                <a16:creationId xmlns:a16="http://schemas.microsoft.com/office/drawing/2014/main" id="{6B6F1772-E486-2F0C-D1D0-281DE112D766}"/>
              </a:ext>
            </a:extLst>
          </p:cNvPr>
          <p:cNvSpPr txBox="1"/>
          <p:nvPr/>
        </p:nvSpPr>
        <p:spPr>
          <a:xfrm>
            <a:off x="995363" y="970995"/>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the adjusted income statement capturing adjustments from the quality of earnings analysis.</a:t>
            </a:r>
          </a:p>
          <a:p>
            <a:pPr>
              <a:spcAft>
                <a:spcPts val="600"/>
              </a:spcAft>
            </a:pPr>
            <a:endParaRPr lang="en-US" sz="900" b="1">
              <a:solidFill>
                <a:schemeClr val="tx2"/>
              </a:solidFill>
            </a:endParaRPr>
          </a:p>
          <a:p>
            <a:pPr>
              <a:spcAft>
                <a:spcPts val="600"/>
              </a:spcAft>
            </a:pPr>
            <a:endParaRPr lang="en-US" sz="900" b="1">
              <a:solidFill>
                <a:schemeClr val="tx2"/>
              </a:solidFill>
            </a:endParaRPr>
          </a:p>
        </p:txBody>
      </p:sp>
      <p:sp>
        <p:nvSpPr>
          <p:cNvPr id="6" name="Text Placeholder 12">
            <a:extLst>
              <a:ext uri="{FF2B5EF4-FFF2-40B4-BE49-F238E27FC236}">
                <a16:creationId xmlns:a16="http://schemas.microsoft.com/office/drawing/2014/main" id="{A6D6536E-8F50-A2D8-7714-AEE02B9EE495}"/>
              </a:ext>
            </a:extLst>
          </p:cNvPr>
          <p:cNvSpPr txBox="1">
            <a:spLocks/>
          </p:cNvSpPr>
          <p:nvPr/>
        </p:nvSpPr>
        <p:spPr>
          <a:xfrm>
            <a:off x="1022821" y="4357660"/>
            <a:ext cx="10176992" cy="1046440"/>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indent="-171450" algn="l">
              <a:spcAft>
                <a:spcPts val="600"/>
              </a:spcAft>
              <a:buClr>
                <a:schemeClr val="bg1">
                  <a:lumMod val="50000"/>
                </a:schemeClr>
              </a:buClr>
              <a:buFont typeface="Arial" panose="020B0604020202020204" pitchFamily="34" charset="0"/>
              <a:buChar char="•"/>
            </a:pPr>
            <a:r>
              <a:rPr lang="en-US" sz="900">
                <a:solidFill>
                  <a:schemeClr val="tx1"/>
                </a:solidFill>
              </a:rPr>
              <a:t>Revenue:</a:t>
            </a:r>
            <a:r>
              <a:rPr lang="en-US" sz="900" b="0">
                <a:solidFill>
                  <a:schemeClr val="tx1"/>
                </a:solidFill>
              </a:rPr>
              <a:t> Growth in revenue is primarily driven by increased transaction volumes resulting from higher consumer spending and usage of mobile POS payments after the Covid pandemic. In FY23, professional services revenue increased by $1.8 million from FY22, largely due to projects in ATM managed services and card issuance. E-hub money transfers, initiated in November 2023, represent a new revenue stream, pertaining to three clients for facilitating e-transfer bill payments in mobile apps and processing online payments and refunds. Despite Management's view of this as a growth area, it has been omitted from pro forma new product adjustments due to its brief history. Refer to QofE other considerations #C for further information.</a:t>
            </a:r>
          </a:p>
          <a:p>
            <a:pPr marL="171450" indent="-171450" algn="l">
              <a:spcAft>
                <a:spcPts val="600"/>
              </a:spcAft>
              <a:buClr>
                <a:schemeClr val="bg1">
                  <a:lumMod val="50000"/>
                </a:schemeClr>
              </a:buClr>
              <a:buFont typeface="Arial" panose="020B0604020202020204" pitchFamily="34" charset="0"/>
              <a:buChar char="•"/>
            </a:pPr>
            <a:r>
              <a:rPr lang="en-US" sz="900">
                <a:solidFill>
                  <a:schemeClr val="tx1"/>
                </a:solidFill>
              </a:rPr>
              <a:t>Variable expenses:</a:t>
            </a:r>
            <a:r>
              <a:rPr lang="en-US" sz="900" b="0">
                <a:solidFill>
                  <a:schemeClr val="tx1"/>
                </a:solidFill>
              </a:rPr>
              <a:t> Variable costs rise proportionally with transaction volume, reflecting an adjusted gross margin of ~76.3% in TTM June 2024. Pass-through revenues and expenses are funds held for customer reimbursement. Most pass-through revenue sources, such as transaction processing network fees, yield no margin, while the Company earns a small administrative fee at a 100% margin. Changes in transaction volume and mix related to pass through revenue results in minor fluctuations in gross margins. </a:t>
            </a:r>
            <a:endParaRPr lang="en-US" sz="900" b="1">
              <a:solidFill>
                <a:schemeClr val="tx1"/>
              </a:solidFill>
            </a:endParaRPr>
          </a:p>
        </p:txBody>
      </p:sp>
      <p:pic>
        <p:nvPicPr>
          <p:cNvPr id="10" name="Picture 9">
            <a:extLst>
              <a:ext uri="{FF2B5EF4-FFF2-40B4-BE49-F238E27FC236}">
                <a16:creationId xmlns:a16="http://schemas.microsoft.com/office/drawing/2014/main" id="{FFDF6ABE-62DB-EAC5-9B73-059811E2D1D8}"/>
              </a:ext>
            </a:extLst>
          </p:cNvPr>
          <p:cNvPicPr>
            <a:picLocks noChangeAspect="1"/>
          </p:cNvPicPr>
          <p:nvPr>
            <p:custDataLst>
              <p:tags r:id="rId2"/>
            </p:custDataLst>
          </p:nvPr>
        </p:nvPicPr>
        <p:blipFill>
          <a:blip r:embed="rId5"/>
          <a:stretch>
            <a:fillRect/>
          </a:stretch>
        </p:blipFill>
        <p:spPr>
          <a:xfrm>
            <a:off x="1010467" y="1349378"/>
            <a:ext cx="10189349" cy="2770696"/>
          </a:xfrm>
          <a:prstGeom prst="rect">
            <a:avLst/>
          </a:prstGeom>
        </p:spPr>
      </p:pic>
      <p:grpSp>
        <p:nvGrpSpPr>
          <p:cNvPr id="23" name="Group 22">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4"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5"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6"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7"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8"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9"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81740438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CA" sz="4000">
                <a:solidFill>
                  <a:srgbClr val="00338D"/>
                </a:solidFill>
              </a:rPr>
              <a:t>Adjusted income </a:t>
            </a:r>
            <a:r>
              <a:rPr lang="en-CA">
                <a:solidFill>
                  <a:srgbClr val="00338D"/>
                </a:solidFill>
              </a:rPr>
              <a:t>s</a:t>
            </a:r>
            <a:r>
              <a:rPr lang="en-CA" sz="4000">
                <a:solidFill>
                  <a:srgbClr val="00338D"/>
                </a:solidFill>
              </a:rPr>
              <a:t>tatement (2/2)</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Adjusted income statement</a:t>
            </a:r>
          </a:p>
        </p:txBody>
      </p:sp>
      <p:sp>
        <p:nvSpPr>
          <p:cNvPr id="5" name="TextBox 4">
            <a:extLst>
              <a:ext uri="{FF2B5EF4-FFF2-40B4-BE49-F238E27FC236}">
                <a16:creationId xmlns:a16="http://schemas.microsoft.com/office/drawing/2014/main" id="{E1E04E01-8861-B170-1B4A-36583278A904}"/>
              </a:ext>
            </a:extLst>
          </p:cNvPr>
          <p:cNvSpPr txBox="1"/>
          <p:nvPr/>
        </p:nvSpPr>
        <p:spPr>
          <a:xfrm>
            <a:off x="1012615" y="1053337"/>
            <a:ext cx="10215611" cy="283022"/>
          </a:xfrm>
          <a:prstGeom prst="rect">
            <a:avLst/>
          </a:prstGeom>
        </p:spPr>
        <p:txBody>
          <a:bodyPr vert="horz" wrap="square" lIns="0" tIns="0" rIns="0" bIns="0" rtlCol="0" anchor="t" anchorCtr="0">
            <a:noAutofit/>
          </a:bodyPr>
          <a:lstStyle/>
          <a:p>
            <a:pPr>
              <a:spcAft>
                <a:spcPts val="600"/>
              </a:spcAft>
            </a:pPr>
            <a:endParaRPr lang="en-US" sz="900" b="1">
              <a:solidFill>
                <a:schemeClr val="tx2"/>
              </a:solidFill>
            </a:endParaRPr>
          </a:p>
        </p:txBody>
      </p:sp>
      <p:sp>
        <p:nvSpPr>
          <p:cNvPr id="7" name="Text Placeholder 12">
            <a:extLst>
              <a:ext uri="{FF2B5EF4-FFF2-40B4-BE49-F238E27FC236}">
                <a16:creationId xmlns:a16="http://schemas.microsoft.com/office/drawing/2014/main" id="{0721DD9A-B4AF-0C3B-C425-DE2C9485FE35}"/>
              </a:ext>
            </a:extLst>
          </p:cNvPr>
          <p:cNvSpPr txBox="1">
            <a:spLocks/>
          </p:cNvSpPr>
          <p:nvPr/>
        </p:nvSpPr>
        <p:spPr>
          <a:xfrm>
            <a:off x="1017107" y="417943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a:t>
            </a:r>
          </a:p>
        </p:txBody>
      </p:sp>
      <p:sp>
        <p:nvSpPr>
          <p:cNvPr id="15" name="TextBox 14">
            <a:extLst>
              <a:ext uri="{FF2B5EF4-FFF2-40B4-BE49-F238E27FC236}">
                <a16:creationId xmlns:a16="http://schemas.microsoft.com/office/drawing/2014/main" id="{6B6F1772-E486-2F0C-D1D0-281DE112D766}"/>
              </a:ext>
            </a:extLst>
          </p:cNvPr>
          <p:cNvSpPr txBox="1">
            <a:spLocks/>
          </p:cNvSpPr>
          <p:nvPr/>
        </p:nvSpPr>
        <p:spPr>
          <a:xfrm>
            <a:off x="995363" y="970995"/>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Presented below is the adjusted income statement capturing adjustments from the quality of earnings analysis.</a:t>
            </a:r>
          </a:p>
          <a:p>
            <a:pPr>
              <a:spcAft>
                <a:spcPts val="600"/>
              </a:spcAft>
            </a:pPr>
            <a:endParaRPr lang="en-US" sz="900" b="1">
              <a:solidFill>
                <a:schemeClr val="tx2"/>
              </a:solidFill>
            </a:endParaRPr>
          </a:p>
          <a:p>
            <a:pPr>
              <a:spcAft>
                <a:spcPts val="600"/>
              </a:spcAft>
            </a:pPr>
            <a:endParaRPr lang="en-US" sz="900" b="1">
              <a:solidFill>
                <a:schemeClr val="tx2"/>
              </a:solidFill>
            </a:endParaRPr>
          </a:p>
        </p:txBody>
      </p:sp>
      <p:sp>
        <p:nvSpPr>
          <p:cNvPr id="6" name="Text Placeholder 12">
            <a:extLst>
              <a:ext uri="{FF2B5EF4-FFF2-40B4-BE49-F238E27FC236}">
                <a16:creationId xmlns:a16="http://schemas.microsoft.com/office/drawing/2014/main" id="{A6D6536E-8F50-A2D8-7714-AEE02B9EE495}"/>
              </a:ext>
            </a:extLst>
          </p:cNvPr>
          <p:cNvSpPr txBox="1">
            <a:spLocks/>
          </p:cNvSpPr>
          <p:nvPr/>
        </p:nvSpPr>
        <p:spPr>
          <a:xfrm>
            <a:off x="1012615" y="4285052"/>
            <a:ext cx="10195200" cy="1415772"/>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171450" indent="-171450">
              <a:buClr>
                <a:schemeClr val="bg1">
                  <a:lumMod val="50000"/>
                </a:schemeClr>
              </a:buClr>
              <a:buFont typeface="Arial" panose="020B0604020202020204" pitchFamily="34" charset="0"/>
              <a:buChar char="•"/>
            </a:pPr>
            <a:r>
              <a:rPr lang="en-US" sz="900">
                <a:solidFill>
                  <a:schemeClr val="tx1"/>
                </a:solidFill>
              </a:rPr>
              <a:t>Compensation:</a:t>
            </a:r>
            <a:r>
              <a:rPr lang="en-US" sz="900" b="0">
                <a:solidFill>
                  <a:schemeClr val="tx1"/>
                </a:solidFill>
              </a:rPr>
              <a:t> The increase in compensation is attributed to both base salary per head increases (approximately 7.4% in FY22 and 4.3% in FY23</a:t>
            </a:r>
            <a:r>
              <a:rPr lang="en-US" sz="900" b="0" baseline="30000">
                <a:solidFill>
                  <a:schemeClr val="tx1"/>
                </a:solidFill>
              </a:rPr>
              <a:t>1</a:t>
            </a:r>
            <a:r>
              <a:rPr lang="en-US" sz="900" b="0">
                <a:solidFill>
                  <a:schemeClr val="tx1"/>
                </a:solidFill>
              </a:rPr>
              <a:t>) and larger bonuses. The percentage of total compensation attributed to bonuses has increased from 9.7% in FY21 to 13.6% in TTM June 2024.</a:t>
            </a:r>
          </a:p>
          <a:p>
            <a:pPr marL="171450" indent="-171450" algn="l">
              <a:spcAft>
                <a:spcPts val="600"/>
              </a:spcAft>
              <a:buClr>
                <a:schemeClr val="bg1">
                  <a:lumMod val="50000"/>
                </a:schemeClr>
              </a:buClr>
              <a:buFont typeface="Arial" panose="020B0604020202020204" pitchFamily="34" charset="0"/>
              <a:buChar char="•"/>
            </a:pPr>
            <a:r>
              <a:rPr lang="en-US" sz="900">
                <a:solidFill>
                  <a:schemeClr val="tx1"/>
                </a:solidFill>
              </a:rPr>
              <a:t>Equipment, data processing, infrastructure expense:</a:t>
            </a:r>
            <a:r>
              <a:rPr lang="en-US" sz="900" b="0">
                <a:solidFill>
                  <a:schemeClr val="tx1"/>
                </a:solidFill>
              </a:rPr>
              <a:t> Increased expenses in equipment and software are driven by transaction volume, particularly increasing usage of ACI software due to increased transaction volume. Additionally, higher costs for the new data center services is reflected.</a:t>
            </a:r>
          </a:p>
          <a:p>
            <a:pPr marL="171450" indent="-171450" algn="l">
              <a:spcAft>
                <a:spcPts val="600"/>
              </a:spcAft>
              <a:buClr>
                <a:schemeClr val="bg1">
                  <a:lumMod val="50000"/>
                </a:schemeClr>
              </a:buClr>
              <a:buFont typeface="Arial" panose="020B0604020202020204" pitchFamily="34" charset="0"/>
              <a:buChar char="•"/>
            </a:pPr>
            <a:r>
              <a:rPr lang="en-US" sz="900">
                <a:solidFill>
                  <a:schemeClr val="tx1"/>
                </a:solidFill>
              </a:rPr>
              <a:t>Contract services:</a:t>
            </a:r>
            <a:r>
              <a:rPr lang="en-US" sz="900" b="0">
                <a:solidFill>
                  <a:schemeClr val="tx1"/>
                </a:solidFill>
              </a:rPr>
              <a:t> Increase in contract staffing expense by $2.5 million in TTM June 2024 from $2.1 million in FY21 can be attributed to the increase in the use of contractors for call center services and offshore development staff.</a:t>
            </a:r>
          </a:p>
          <a:p>
            <a:pPr marL="171450" indent="-171450" algn="l">
              <a:spcAft>
                <a:spcPts val="600"/>
              </a:spcAft>
              <a:buClr>
                <a:schemeClr val="bg1">
                  <a:lumMod val="50000"/>
                </a:schemeClr>
              </a:buClr>
              <a:buFont typeface="Arial" panose="020B0604020202020204" pitchFamily="34" charset="0"/>
              <a:buChar char="•"/>
            </a:pPr>
            <a:r>
              <a:rPr lang="en-US" sz="900">
                <a:solidFill>
                  <a:schemeClr val="tx1"/>
                </a:solidFill>
              </a:rPr>
              <a:t>Other expense</a:t>
            </a:r>
            <a:r>
              <a:rPr lang="en-US" sz="900" b="0">
                <a:solidFill>
                  <a:schemeClr val="tx1"/>
                </a:solidFill>
              </a:rPr>
              <a:t>: Increase in other expense can be primarily attributed to the increase in insurance expense due primarily to the rise in insurance premiums for errors and omissions and cyber liability.</a:t>
            </a:r>
          </a:p>
          <a:p>
            <a:pPr marL="171450" indent="-171450" algn="l">
              <a:spcAft>
                <a:spcPts val="600"/>
              </a:spcAft>
              <a:buClr>
                <a:schemeClr val="bg1">
                  <a:lumMod val="50000"/>
                </a:schemeClr>
              </a:buClr>
              <a:buFont typeface="Arial" panose="020B0604020202020204" pitchFamily="34" charset="0"/>
              <a:buChar char="•"/>
            </a:pPr>
            <a:r>
              <a:rPr lang="en-US" sz="900">
                <a:solidFill>
                  <a:schemeClr val="tx1"/>
                </a:solidFill>
              </a:rPr>
              <a:t>Occupancy and office expense</a:t>
            </a:r>
            <a:r>
              <a:rPr lang="en-US" sz="900" b="0">
                <a:solidFill>
                  <a:schemeClr val="tx1"/>
                </a:solidFill>
              </a:rPr>
              <a:t>: Includes rent expense and other office occupancy expense such as telephone and internet. Rent expense is relatively stable over the years at ~1.0% of revenue.</a:t>
            </a:r>
            <a:endParaRPr lang="en-US" sz="800" b="1">
              <a:solidFill>
                <a:schemeClr val="tx2"/>
              </a:solidFill>
            </a:endParaRPr>
          </a:p>
        </p:txBody>
      </p:sp>
      <p:sp>
        <p:nvSpPr>
          <p:cNvPr id="23" name="Text Placeholder 12">
            <a:extLst>
              <a:ext uri="{FF2B5EF4-FFF2-40B4-BE49-F238E27FC236}">
                <a16:creationId xmlns:a16="http://schemas.microsoft.com/office/drawing/2014/main" id="{4230409C-9EE8-F656-C658-154B3D420240}"/>
              </a:ext>
            </a:extLst>
          </p:cNvPr>
          <p:cNvSpPr txBox="1">
            <a:spLocks/>
          </p:cNvSpPr>
          <p:nvPr/>
        </p:nvSpPr>
        <p:spPr>
          <a:xfrm>
            <a:off x="1004613" y="587203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baseline="30000">
                <a:solidFill>
                  <a:schemeClr val="tx1"/>
                </a:solidFill>
                <a:latin typeface="Arial" panose="020B0604020202020204" pitchFamily="34" charset="0"/>
              </a:rPr>
              <a:t>1</a:t>
            </a:r>
            <a:r>
              <a:rPr lang="en-US" sz="600" b="0">
                <a:solidFill>
                  <a:schemeClr val="tx1"/>
                </a:solidFill>
                <a:latin typeface="Arial" panose="020B0604020202020204" pitchFamily="34" charset="0"/>
              </a:rPr>
              <a:t>Calculated based on an average of the ending FTEs for each of the 12 months in the fiscal period.</a:t>
            </a:r>
          </a:p>
        </p:txBody>
      </p:sp>
      <p:pic>
        <p:nvPicPr>
          <p:cNvPr id="9" name="Picture 8">
            <a:extLst>
              <a:ext uri="{FF2B5EF4-FFF2-40B4-BE49-F238E27FC236}">
                <a16:creationId xmlns:a16="http://schemas.microsoft.com/office/drawing/2014/main" id="{7D4E8C54-9E2E-7EBF-5DC7-96A1469C6AD7}"/>
              </a:ext>
            </a:extLst>
          </p:cNvPr>
          <p:cNvPicPr>
            <a:picLocks noChangeAspect="1"/>
          </p:cNvPicPr>
          <p:nvPr>
            <p:custDataLst>
              <p:tags r:id="rId2"/>
            </p:custDataLst>
          </p:nvPr>
        </p:nvPicPr>
        <p:blipFill>
          <a:blip r:embed="rId5"/>
          <a:stretch>
            <a:fillRect/>
          </a:stretch>
        </p:blipFill>
        <p:spPr>
          <a:xfrm>
            <a:off x="1010467" y="1349378"/>
            <a:ext cx="10189349" cy="2770696"/>
          </a:xfrm>
          <a:prstGeom prst="rect">
            <a:avLst/>
          </a:prstGeom>
        </p:spPr>
      </p:pic>
      <p:grpSp>
        <p:nvGrpSpPr>
          <p:cNvPr id="24" name="Group 23">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5"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6"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7"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8"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9"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0"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138258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A4172B6C-2951-E7C1-69AB-ED72612F7360}"/>
              </a:ext>
            </a:extLst>
          </p:cNvPr>
          <p:cNvPicPr>
            <a:picLocks noChangeAspect="1"/>
          </p:cNvPicPr>
          <p:nvPr>
            <p:custDataLst>
              <p:tags r:id="rId1"/>
            </p:custDataLst>
          </p:nvPr>
        </p:nvPicPr>
        <p:blipFill>
          <a:blip r:embed="rId7"/>
          <a:stretch>
            <a:fillRect/>
          </a:stretch>
        </p:blipFill>
        <p:spPr>
          <a:xfrm>
            <a:off x="7434507" y="1330335"/>
            <a:ext cx="3763670" cy="1434694"/>
          </a:xfrm>
          <a:prstGeom prst="rect">
            <a:avLst/>
          </a:prstGeom>
        </p:spPr>
      </p:pic>
      <p:pic>
        <p:nvPicPr>
          <p:cNvPr id="16" name="Picture 15">
            <a:extLst>
              <a:ext uri="{FF2B5EF4-FFF2-40B4-BE49-F238E27FC236}">
                <a16:creationId xmlns:a16="http://schemas.microsoft.com/office/drawing/2014/main" id="{1E113A9C-9447-112E-D37E-9780A58CF682}"/>
              </a:ext>
            </a:extLst>
          </p:cNvPr>
          <p:cNvPicPr>
            <a:picLocks noChangeAspect="1"/>
          </p:cNvPicPr>
          <p:nvPr>
            <p:custDataLst>
              <p:tags r:id="rId2"/>
            </p:custDataLst>
          </p:nvPr>
        </p:nvPicPr>
        <p:blipFill>
          <a:blip r:embed="rId8"/>
          <a:stretch>
            <a:fillRect/>
          </a:stretch>
        </p:blipFill>
        <p:spPr>
          <a:xfrm>
            <a:off x="1010047" y="2984109"/>
            <a:ext cx="4812944" cy="1370228"/>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a:xfrm>
            <a:off x="995362" y="412750"/>
            <a:ext cx="10204452" cy="539750"/>
          </a:xfrm>
        </p:spPr>
        <p:txBody>
          <a:bodyPr/>
          <a:lstStyle/>
          <a:p>
            <a:r>
              <a:rPr lang="en-US" sz="4000"/>
              <a:t>QofE adjustment #1 – Mobile POS IFRS 15 (1/7)</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QofE support</a:t>
            </a:r>
          </a:p>
        </p:txBody>
      </p:sp>
      <p:sp>
        <p:nvSpPr>
          <p:cNvPr id="8" name="Text Placeholder 12">
            <a:extLst>
              <a:ext uri="{FF2B5EF4-FFF2-40B4-BE49-F238E27FC236}">
                <a16:creationId xmlns:a16="http://schemas.microsoft.com/office/drawing/2014/main" id="{E0D6B93C-B656-87B7-6B50-51E136D5116D}"/>
              </a:ext>
            </a:extLst>
          </p:cNvPr>
          <p:cNvSpPr txBox="1">
            <a:spLocks/>
          </p:cNvSpPr>
          <p:nvPr/>
        </p:nvSpPr>
        <p:spPr>
          <a:xfrm>
            <a:off x="995362" y="436558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TSP Billing volume as at April 2024</a:t>
            </a:r>
          </a:p>
        </p:txBody>
      </p:sp>
      <p:pic>
        <p:nvPicPr>
          <p:cNvPr id="13" name="Picture 12">
            <a:extLst>
              <a:ext uri="{FF2B5EF4-FFF2-40B4-BE49-F238E27FC236}">
                <a16:creationId xmlns:a16="http://schemas.microsoft.com/office/drawing/2014/main" id="{97C74B0A-AB19-1768-D02D-AF75F1B12DF9}"/>
              </a:ext>
            </a:extLst>
          </p:cNvPr>
          <p:cNvPicPr>
            <a:picLocks noChangeAspect="1"/>
          </p:cNvPicPr>
          <p:nvPr>
            <p:custDataLst>
              <p:tags r:id="rId4"/>
            </p:custDataLst>
          </p:nvPr>
        </p:nvPicPr>
        <p:blipFill>
          <a:blip r:embed="rId9"/>
          <a:stretch>
            <a:fillRect/>
          </a:stretch>
        </p:blipFill>
        <p:spPr>
          <a:xfrm>
            <a:off x="1010044" y="1336576"/>
            <a:ext cx="6365596" cy="783184"/>
          </a:xfrm>
          <a:prstGeom prst="rect">
            <a:avLst/>
          </a:prstGeom>
        </p:spPr>
      </p:pic>
      <p:sp>
        <p:nvSpPr>
          <p:cNvPr id="4" name="TextBox 3">
            <a:extLst>
              <a:ext uri="{FF2B5EF4-FFF2-40B4-BE49-F238E27FC236}">
                <a16:creationId xmlns:a16="http://schemas.microsoft.com/office/drawing/2014/main" id="{ADD66661-4C97-EED0-EAE6-3FFA1275F324}"/>
              </a:ext>
            </a:extLst>
          </p:cNvPr>
          <p:cNvSpPr txBox="1"/>
          <p:nvPr/>
        </p:nvSpPr>
        <p:spPr>
          <a:xfrm>
            <a:off x="1012614" y="104731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 </a:t>
            </a:r>
            <a:endParaRPr lang="en-US" sz="900" b="1">
              <a:solidFill>
                <a:schemeClr val="tx2"/>
              </a:solidFill>
            </a:endParaRPr>
          </a:p>
        </p:txBody>
      </p:sp>
      <p:sp>
        <p:nvSpPr>
          <p:cNvPr id="12" name="TextBox 11">
            <a:extLst>
              <a:ext uri="{FF2B5EF4-FFF2-40B4-BE49-F238E27FC236}">
                <a16:creationId xmlns:a16="http://schemas.microsoft.com/office/drawing/2014/main" id="{C849582F-AB5C-748A-6A3D-8356F4275DC6}"/>
              </a:ext>
            </a:extLst>
          </p:cNvPr>
          <p:cNvSpPr txBox="1">
            <a:spLocks/>
          </p:cNvSpPr>
          <p:nvPr/>
        </p:nvSpPr>
        <p:spPr>
          <a:xfrm>
            <a:off x="995362" y="96476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Actual annual average price per transaction for the Interac mobile point-of-sale contract is calculated based on reported volumes and billed revenue over the non-cancellable life-time of the contract (April 2020 to March 2024) which represents the applicable period for percentage of completion revenue recognition.</a:t>
            </a:r>
            <a:endParaRPr lang="en-US" sz="900" b="1">
              <a:solidFill>
                <a:schemeClr val="tx2"/>
              </a:solidFill>
            </a:endParaRPr>
          </a:p>
          <a:p>
            <a:pPr>
              <a:spcAft>
                <a:spcPts val="600"/>
              </a:spcAft>
            </a:pPr>
            <a:endParaRPr lang="en-US" sz="900" b="1">
              <a:solidFill>
                <a:schemeClr val="tx2"/>
              </a:solidFill>
            </a:endParaRPr>
          </a:p>
        </p:txBody>
      </p:sp>
      <p:sp>
        <p:nvSpPr>
          <p:cNvPr id="37" name="Rectangle: Rounded Corners 36">
            <a:extLst>
              <a:ext uri="{FF2B5EF4-FFF2-40B4-BE49-F238E27FC236}">
                <a16:creationId xmlns:a16="http://schemas.microsoft.com/office/drawing/2014/main" id="{33020758-9BD9-434E-A439-9558241B34E3}"/>
              </a:ext>
            </a:extLst>
          </p:cNvPr>
          <p:cNvSpPr/>
          <p:nvPr/>
        </p:nvSpPr>
        <p:spPr>
          <a:xfrm flipV="1">
            <a:off x="995361" y="3816423"/>
            <a:ext cx="4812944" cy="150095"/>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38" name="Rectangle: Rounded Corners 37">
            <a:extLst>
              <a:ext uri="{FF2B5EF4-FFF2-40B4-BE49-F238E27FC236}">
                <a16:creationId xmlns:a16="http://schemas.microsoft.com/office/drawing/2014/main" id="{5BAC06FA-014E-6467-9C53-E3D4024DE406}"/>
              </a:ext>
            </a:extLst>
          </p:cNvPr>
          <p:cNvSpPr/>
          <p:nvPr/>
        </p:nvSpPr>
        <p:spPr>
          <a:xfrm flipV="1">
            <a:off x="1010044" y="1946644"/>
            <a:ext cx="6357852" cy="197204"/>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cxnSp>
        <p:nvCxnSpPr>
          <p:cNvPr id="40" name="Connector: Elbow 39">
            <a:extLst>
              <a:ext uri="{FF2B5EF4-FFF2-40B4-BE49-F238E27FC236}">
                <a16:creationId xmlns:a16="http://schemas.microsoft.com/office/drawing/2014/main" id="{CCF617B3-0499-7727-21C3-85B1737EC864}"/>
              </a:ext>
            </a:extLst>
          </p:cNvPr>
          <p:cNvCxnSpPr>
            <a:cxnSpLocks/>
            <a:stCxn id="38" idx="1"/>
            <a:endCxn id="37" idx="1"/>
          </p:cNvCxnSpPr>
          <p:nvPr/>
        </p:nvCxnSpPr>
        <p:spPr>
          <a:xfrm rot="10800000" flipV="1">
            <a:off x="995362" y="2045246"/>
            <a:ext cx="14683" cy="1846224"/>
          </a:xfrm>
          <a:prstGeom prst="bentConnector3">
            <a:avLst>
              <a:gd name="adj1" fmla="val 1656903"/>
            </a:avLst>
          </a:prstGeom>
          <a:ln>
            <a:headEnd type="triangle"/>
            <a:tailEnd type="triangle"/>
          </a:ln>
        </p:spPr>
        <p:style>
          <a:lnRef idx="1">
            <a:schemeClr val="accent6"/>
          </a:lnRef>
          <a:fillRef idx="0">
            <a:schemeClr val="accent6"/>
          </a:fillRef>
          <a:effectRef idx="0">
            <a:schemeClr val="accent6"/>
          </a:effectRef>
          <a:fontRef idx="minor">
            <a:schemeClr val="tx1"/>
          </a:fontRef>
        </p:style>
      </p:cxnSp>
      <p:grpSp>
        <p:nvGrpSpPr>
          <p:cNvPr id="24" name="Group 23">
            <a:extLst>
              <a:ext uri="{FF2B5EF4-FFF2-40B4-BE49-F238E27FC236}">
                <a16:creationId xmlns:a16="http://schemas.microsoft.com/office/drawing/2014/main" id="{AC0E6B6B-219E-350A-AC98-BE7393B5A511}"/>
              </a:ext>
            </a:extLst>
          </p:cNvPr>
          <p:cNvGrpSpPr/>
          <p:nvPr>
            <p:custDataLst>
              <p:tags r:id="rId5"/>
            </p:custDataLst>
          </p:nvPr>
        </p:nvGrpSpPr>
        <p:grpSpPr>
          <a:xfrm>
            <a:off x="995364" y="153170"/>
            <a:ext cx="5809688" cy="195814"/>
            <a:chOff x="995364" y="153170"/>
            <a:chExt cx="5809688" cy="195814"/>
          </a:xfrm>
        </p:grpSpPr>
        <p:sp>
          <p:nvSpPr>
            <p:cNvPr id="25"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6"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7"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8"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9"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0" name="Current Section6">
              <a:hlinkClick r:id="rId15"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39846262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2501D3-7240-0304-B716-C52E06460727}"/>
              </a:ext>
            </a:extLst>
          </p:cNvPr>
          <p:cNvPicPr>
            <a:picLocks noChangeAspect="1"/>
          </p:cNvPicPr>
          <p:nvPr>
            <p:custDataLst>
              <p:tags r:id="rId1"/>
            </p:custDataLst>
          </p:nvPr>
        </p:nvPicPr>
        <p:blipFill>
          <a:blip r:embed="rId5"/>
          <a:stretch>
            <a:fillRect/>
          </a:stretch>
        </p:blipFill>
        <p:spPr>
          <a:xfrm>
            <a:off x="1012615" y="1350827"/>
            <a:ext cx="10215609" cy="1709953"/>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a:xfrm>
            <a:off x="995362" y="412750"/>
            <a:ext cx="10204452" cy="539750"/>
          </a:xfrm>
        </p:spPr>
        <p:txBody>
          <a:bodyPr/>
          <a:lstStyle/>
          <a:p>
            <a:r>
              <a:rPr lang="en-US" sz="4000"/>
              <a:t>QofE adjustment #8,9,16 – Data center relocation (</a:t>
            </a:r>
            <a:r>
              <a:rPr lang="en-US"/>
              <a:t>2</a:t>
            </a:r>
            <a:r>
              <a:rPr lang="en-US" sz="4000"/>
              <a:t>/7)</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QofE support</a:t>
            </a:r>
          </a:p>
        </p:txBody>
      </p:sp>
      <p:sp>
        <p:nvSpPr>
          <p:cNvPr id="4" name="TextBox 3">
            <a:extLst>
              <a:ext uri="{FF2B5EF4-FFF2-40B4-BE49-F238E27FC236}">
                <a16:creationId xmlns:a16="http://schemas.microsoft.com/office/drawing/2014/main" id="{ADD66661-4C97-EED0-EAE6-3FFA1275F324}"/>
              </a:ext>
            </a:extLst>
          </p:cNvPr>
          <p:cNvSpPr txBox="1"/>
          <p:nvPr/>
        </p:nvSpPr>
        <p:spPr>
          <a:xfrm>
            <a:off x="1012614" y="104731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 </a:t>
            </a:r>
            <a:endParaRPr lang="en-US" sz="900" b="1">
              <a:solidFill>
                <a:schemeClr val="tx2"/>
              </a:solidFill>
            </a:endParaRPr>
          </a:p>
        </p:txBody>
      </p:sp>
      <p:sp>
        <p:nvSpPr>
          <p:cNvPr id="12" name="TextBox 11">
            <a:extLst>
              <a:ext uri="{FF2B5EF4-FFF2-40B4-BE49-F238E27FC236}">
                <a16:creationId xmlns:a16="http://schemas.microsoft.com/office/drawing/2014/main" id="{C849582F-AB5C-748A-6A3D-8356F4275DC6}"/>
              </a:ext>
            </a:extLst>
          </p:cNvPr>
          <p:cNvSpPr txBox="1">
            <a:spLocks/>
          </p:cNvSpPr>
          <p:nvPr/>
        </p:nvSpPr>
        <p:spPr>
          <a:xfrm>
            <a:off x="995362" y="96476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In relation to the Company’s data center relocation, the Company incurred higher one-time costs to facilitate the move, which is eliminated in QofE adjustments #7 and #8. Further, the higher pricing for the new location is reflected in QofE pro forma adjustment #15.</a:t>
            </a:r>
            <a:endParaRPr lang="en-US" sz="900" b="1">
              <a:solidFill>
                <a:schemeClr val="tx2"/>
              </a:solidFill>
            </a:endParaRPr>
          </a:p>
          <a:p>
            <a:pPr>
              <a:spcAft>
                <a:spcPts val="600"/>
              </a:spcAft>
            </a:pPr>
            <a:endParaRPr lang="en-US" sz="900" b="1">
              <a:solidFill>
                <a:schemeClr val="tx2"/>
              </a:solidFill>
            </a:endParaRPr>
          </a:p>
        </p:txBody>
      </p:sp>
      <p:sp>
        <p:nvSpPr>
          <p:cNvPr id="7" name="Rectangle: Rounded Corners 6">
            <a:extLst>
              <a:ext uri="{FF2B5EF4-FFF2-40B4-BE49-F238E27FC236}">
                <a16:creationId xmlns:a16="http://schemas.microsoft.com/office/drawing/2014/main" id="{E69102ED-438E-F864-3598-D95363073129}"/>
              </a:ext>
            </a:extLst>
          </p:cNvPr>
          <p:cNvSpPr/>
          <p:nvPr/>
        </p:nvSpPr>
        <p:spPr>
          <a:xfrm flipV="1">
            <a:off x="1012614" y="1822875"/>
            <a:ext cx="10215610" cy="39953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9" name="Rectangle: Rounded Corners 8">
            <a:extLst>
              <a:ext uri="{FF2B5EF4-FFF2-40B4-BE49-F238E27FC236}">
                <a16:creationId xmlns:a16="http://schemas.microsoft.com/office/drawing/2014/main" id="{A2834968-78F2-C0C0-6FCC-911C34EFD6C6}"/>
              </a:ext>
            </a:extLst>
          </p:cNvPr>
          <p:cNvSpPr/>
          <p:nvPr/>
        </p:nvSpPr>
        <p:spPr>
          <a:xfrm flipV="1">
            <a:off x="1012613" y="2228307"/>
            <a:ext cx="10215609" cy="71877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0" name="Oval 9">
            <a:extLst>
              <a:ext uri="{FF2B5EF4-FFF2-40B4-BE49-F238E27FC236}">
                <a16:creationId xmlns:a16="http://schemas.microsoft.com/office/drawing/2014/main" id="{C2FB0254-F36B-0949-0816-2AD195E7961A}"/>
              </a:ext>
            </a:extLst>
          </p:cNvPr>
          <p:cNvSpPr/>
          <p:nvPr/>
        </p:nvSpPr>
        <p:spPr>
          <a:xfrm>
            <a:off x="775649" y="1766951"/>
            <a:ext cx="216353" cy="230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1</a:t>
            </a:r>
          </a:p>
        </p:txBody>
      </p:sp>
      <p:sp>
        <p:nvSpPr>
          <p:cNvPr id="11" name="Oval 10">
            <a:extLst>
              <a:ext uri="{FF2B5EF4-FFF2-40B4-BE49-F238E27FC236}">
                <a16:creationId xmlns:a16="http://schemas.microsoft.com/office/drawing/2014/main" id="{B5D99C90-2935-F0C5-183A-B26B3214A365}"/>
              </a:ext>
            </a:extLst>
          </p:cNvPr>
          <p:cNvSpPr/>
          <p:nvPr/>
        </p:nvSpPr>
        <p:spPr>
          <a:xfrm>
            <a:off x="779010" y="2189085"/>
            <a:ext cx="216353" cy="19181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2</a:t>
            </a:r>
          </a:p>
        </p:txBody>
      </p:sp>
      <p:sp>
        <p:nvSpPr>
          <p:cNvPr id="14" name="Oval 13">
            <a:extLst>
              <a:ext uri="{FF2B5EF4-FFF2-40B4-BE49-F238E27FC236}">
                <a16:creationId xmlns:a16="http://schemas.microsoft.com/office/drawing/2014/main" id="{51ABEB74-1FB3-F2F6-AF1F-5264AA8A36C9}"/>
              </a:ext>
            </a:extLst>
          </p:cNvPr>
          <p:cNvSpPr/>
          <p:nvPr/>
        </p:nvSpPr>
        <p:spPr>
          <a:xfrm>
            <a:off x="775649" y="3436173"/>
            <a:ext cx="216353" cy="230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1</a:t>
            </a:r>
          </a:p>
        </p:txBody>
      </p:sp>
      <p:sp>
        <p:nvSpPr>
          <p:cNvPr id="15" name="Oval 14">
            <a:extLst>
              <a:ext uri="{FF2B5EF4-FFF2-40B4-BE49-F238E27FC236}">
                <a16:creationId xmlns:a16="http://schemas.microsoft.com/office/drawing/2014/main" id="{E83FEB39-61C8-F611-5650-FE4B90BFB209}"/>
              </a:ext>
            </a:extLst>
          </p:cNvPr>
          <p:cNvSpPr/>
          <p:nvPr/>
        </p:nvSpPr>
        <p:spPr>
          <a:xfrm>
            <a:off x="773854" y="4520427"/>
            <a:ext cx="216353" cy="23058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2</a:t>
            </a:r>
          </a:p>
        </p:txBody>
      </p:sp>
      <p:sp>
        <p:nvSpPr>
          <p:cNvPr id="16" name="Rectangle 15">
            <a:extLst>
              <a:ext uri="{FF2B5EF4-FFF2-40B4-BE49-F238E27FC236}">
                <a16:creationId xmlns:a16="http://schemas.microsoft.com/office/drawing/2014/main" id="{8E57E632-478B-1FF1-6D07-39D7E9EDEB0B}"/>
              </a:ext>
            </a:extLst>
          </p:cNvPr>
          <p:cNvSpPr/>
          <p:nvPr/>
        </p:nvSpPr>
        <p:spPr>
          <a:xfrm>
            <a:off x="990207" y="3499780"/>
            <a:ext cx="10220766" cy="881961"/>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900">
                <a:solidFill>
                  <a:schemeClr val="tx1"/>
                </a:solidFill>
              </a:rPr>
              <a:t>Specifically identifiable one-time costs incurred in relation to the data center relocation are recorded in GL #571120. This pertains to </a:t>
            </a:r>
            <a:r>
              <a:rPr lang="en-US" sz="900" b="0" i="0">
                <a:solidFill>
                  <a:srgbClr val="000000"/>
                </a:solidFill>
                <a:effectLst/>
              </a:rPr>
              <a:t>labour, material costs for network reconfiguration, server setup, and Visa and Mastercard circuit installations</a:t>
            </a:r>
            <a:r>
              <a:rPr lang="en-US" sz="900">
                <a:solidFill>
                  <a:schemeClr val="tx1"/>
                </a:solidFill>
              </a:rPr>
              <a:t>. A small portion includes temporary operational costs for running all four data centers simultaneously to prevent downtime. All costs are removed in QofE adjustment #8.</a:t>
            </a:r>
          </a:p>
          <a:p>
            <a:pPr marL="171450" indent="-171450">
              <a:buFont typeface="Arial" panose="020B0604020202020204" pitchFamily="34" charset="0"/>
              <a:buChar char="•"/>
            </a:pPr>
            <a:r>
              <a:rPr lang="en-US" sz="900">
                <a:solidFill>
                  <a:schemeClr val="tx1"/>
                </a:solidFill>
              </a:rPr>
              <a:t>Additionally, the premature replacement of HP equipment, resulting from the timing of the relocation, led to a $198,000 write-off for lease costs. This along with concurrent maintenance costs for HP assets at all locations during the transition are removed in QofE adjustment #9.</a:t>
            </a:r>
            <a:endParaRPr lang="en-US" sz="900">
              <a:solidFill>
                <a:schemeClr val="bg1"/>
              </a:solidFill>
            </a:endParaRPr>
          </a:p>
        </p:txBody>
      </p:sp>
      <p:sp>
        <p:nvSpPr>
          <p:cNvPr id="17" name="Rectangle 16">
            <a:extLst>
              <a:ext uri="{FF2B5EF4-FFF2-40B4-BE49-F238E27FC236}">
                <a16:creationId xmlns:a16="http://schemas.microsoft.com/office/drawing/2014/main" id="{85B2697D-0E02-6E97-9701-8484C1A824FF}"/>
              </a:ext>
            </a:extLst>
          </p:cNvPr>
          <p:cNvSpPr/>
          <p:nvPr/>
        </p:nvSpPr>
        <p:spPr>
          <a:xfrm>
            <a:off x="1007456" y="4598268"/>
            <a:ext cx="10220766" cy="350306"/>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en-US" sz="900">
                <a:solidFill>
                  <a:schemeClr val="tx1"/>
                </a:solidFill>
              </a:rPr>
              <a:t>The data centers' operating costs will increase at the new locations. Therefore, the YTD June 2024 run-rate is adjusted to the historical period to account for this price increase. Non-recurring operational costs related to the move are implicitly eliminated through QofE pro forma adjustment #16. </a:t>
            </a:r>
            <a:endParaRPr lang="en-US" sz="900">
              <a:solidFill>
                <a:schemeClr val="bg1"/>
              </a:solidFill>
            </a:endParaRPr>
          </a:p>
        </p:txBody>
      </p:sp>
      <p:sp>
        <p:nvSpPr>
          <p:cNvPr id="6" name="Text Placeholder 12">
            <a:extLst>
              <a:ext uri="{FF2B5EF4-FFF2-40B4-BE49-F238E27FC236}">
                <a16:creationId xmlns:a16="http://schemas.microsoft.com/office/drawing/2014/main" id="{8002A409-6CFA-DBAB-F447-2FA0050AC469}"/>
              </a:ext>
            </a:extLst>
          </p:cNvPr>
          <p:cNvSpPr txBox="1">
            <a:spLocks/>
          </p:cNvSpPr>
          <p:nvPr/>
        </p:nvSpPr>
        <p:spPr>
          <a:xfrm>
            <a:off x="1015773" y="305223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General ledger details, internal financial statements</a:t>
            </a:r>
          </a:p>
        </p:txBody>
      </p:sp>
      <p:grpSp>
        <p:nvGrpSpPr>
          <p:cNvPr id="30" name="Group 2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3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6"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2002432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a:xfrm>
            <a:off x="995362" y="412750"/>
            <a:ext cx="10204452" cy="539750"/>
          </a:xfrm>
        </p:spPr>
        <p:txBody>
          <a:bodyPr/>
          <a:lstStyle/>
          <a:p>
            <a:r>
              <a:rPr lang="en-US" sz="4000"/>
              <a:t>QofE adjustment #14a – New customers (</a:t>
            </a:r>
            <a:r>
              <a:rPr lang="en-US"/>
              <a:t>3</a:t>
            </a:r>
            <a:r>
              <a:rPr lang="en-US" sz="4000"/>
              <a:t>/7)</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QofE support</a:t>
            </a:r>
          </a:p>
        </p:txBody>
      </p:sp>
      <p:sp>
        <p:nvSpPr>
          <p:cNvPr id="8" name="Text Placeholder 12">
            <a:extLst>
              <a:ext uri="{FF2B5EF4-FFF2-40B4-BE49-F238E27FC236}">
                <a16:creationId xmlns:a16="http://schemas.microsoft.com/office/drawing/2014/main" id="{E0D6B93C-B656-87B7-6B50-51E136D5116D}"/>
              </a:ext>
            </a:extLst>
          </p:cNvPr>
          <p:cNvSpPr txBox="1">
            <a:spLocks/>
          </p:cNvSpPr>
          <p:nvPr/>
        </p:nvSpPr>
        <p:spPr>
          <a:xfrm>
            <a:off x="1014819" y="599370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sp>
        <p:nvSpPr>
          <p:cNvPr id="4" name="TextBox 3">
            <a:extLst>
              <a:ext uri="{FF2B5EF4-FFF2-40B4-BE49-F238E27FC236}">
                <a16:creationId xmlns:a16="http://schemas.microsoft.com/office/drawing/2014/main" id="{19DB9967-9AE5-CD9F-B1BB-ECFCE0413A46}"/>
              </a:ext>
            </a:extLst>
          </p:cNvPr>
          <p:cNvSpPr txBox="1"/>
          <p:nvPr/>
        </p:nvSpPr>
        <p:spPr>
          <a:xfrm>
            <a:off x="1004614" y="990378"/>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New customers are defined as customers whose initial revenue billing took place after January 2021. Significant new customers include Uni Financial Services and Technology Inc., Caisse Populaire Alliance Limitee, Ficanex Services LP, Stripe Payments Canada Ltd. and Canadian Tire Bank, in which any reoccurring revenue under long-term contract are included in QofE adjustment #14a. </a:t>
            </a:r>
          </a:p>
          <a:p>
            <a:pPr>
              <a:spcAft>
                <a:spcPts val="600"/>
              </a:spcAft>
            </a:pPr>
            <a:endParaRPr lang="en-US" sz="900" b="1">
              <a:solidFill>
                <a:schemeClr val="tx2"/>
              </a:solidFill>
            </a:endParaRPr>
          </a:p>
          <a:p>
            <a:pPr>
              <a:spcAft>
                <a:spcPts val="600"/>
              </a:spcAft>
            </a:pPr>
            <a:endParaRPr lang="en-US" sz="900" b="1">
              <a:solidFill>
                <a:schemeClr val="tx2"/>
              </a:solidFill>
            </a:endParaRPr>
          </a:p>
        </p:txBody>
      </p:sp>
      <p:pic>
        <p:nvPicPr>
          <p:cNvPr id="6" name="Picture 5">
            <a:extLst>
              <a:ext uri="{FF2B5EF4-FFF2-40B4-BE49-F238E27FC236}">
                <a16:creationId xmlns:a16="http://schemas.microsoft.com/office/drawing/2014/main" id="{73B7715A-0D3A-4358-EF42-B9932E8B1BC5}"/>
              </a:ext>
            </a:extLst>
          </p:cNvPr>
          <p:cNvPicPr>
            <a:picLocks noChangeAspect="1"/>
          </p:cNvPicPr>
          <p:nvPr>
            <p:custDataLst>
              <p:tags r:id="rId2"/>
            </p:custDataLst>
          </p:nvPr>
        </p:nvPicPr>
        <p:blipFill>
          <a:blip r:embed="rId5"/>
          <a:stretch>
            <a:fillRect/>
          </a:stretch>
        </p:blipFill>
        <p:spPr>
          <a:xfrm>
            <a:off x="1004614" y="1426581"/>
            <a:ext cx="5928970" cy="4574649"/>
          </a:xfrm>
          <a:prstGeom prst="rect">
            <a:avLst/>
          </a:prstGeom>
        </p:spPr>
      </p:pic>
      <p:grpSp>
        <p:nvGrpSpPr>
          <p:cNvPr id="21" name="Group 20">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7"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7125655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a:xfrm>
            <a:off x="995362" y="412750"/>
            <a:ext cx="10204452" cy="539750"/>
          </a:xfrm>
        </p:spPr>
        <p:txBody>
          <a:bodyPr/>
          <a:lstStyle/>
          <a:p>
            <a:r>
              <a:rPr lang="en-US" sz="4000"/>
              <a:t>QofE </a:t>
            </a:r>
            <a:r>
              <a:rPr lang="en-US"/>
              <a:t>adjustment #14b</a:t>
            </a:r>
            <a:r>
              <a:rPr lang="en-US" sz="4000"/>
              <a:t> – </a:t>
            </a:r>
            <a:r>
              <a:rPr lang="en-US"/>
              <a:t>Terminated &amp; lost</a:t>
            </a:r>
            <a:r>
              <a:rPr lang="en-US" sz="4000"/>
              <a:t> customers  (</a:t>
            </a:r>
            <a:r>
              <a:rPr lang="en-US"/>
              <a:t>4</a:t>
            </a:r>
            <a:r>
              <a:rPr lang="en-US" sz="4000"/>
              <a:t>/7)</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QofE support</a:t>
            </a:r>
          </a:p>
        </p:txBody>
      </p:sp>
      <p:sp>
        <p:nvSpPr>
          <p:cNvPr id="7" name="TextBox 6">
            <a:extLst>
              <a:ext uri="{FF2B5EF4-FFF2-40B4-BE49-F238E27FC236}">
                <a16:creationId xmlns:a16="http://schemas.microsoft.com/office/drawing/2014/main" id="{C27977F4-3ACD-8B66-CBDD-21C73ABFD33E}"/>
              </a:ext>
            </a:extLst>
          </p:cNvPr>
          <p:cNvSpPr txBox="1"/>
          <p:nvPr/>
        </p:nvSpPr>
        <p:spPr>
          <a:xfrm>
            <a:off x="1006366" y="97155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Lost customers are defined as customers whose final revenue billing occurred prior to June 2024. Vars Investment Group and NetCo Financial, both ISO companies, were deemed unprofitable by the Company and subsequently terminated. Only First Credit Union and a few POS providers are lost customers of smaller scale.</a:t>
            </a:r>
            <a:endParaRPr lang="en-US" sz="900" b="1">
              <a:solidFill>
                <a:schemeClr val="tx2"/>
              </a:solidFill>
            </a:endParaRPr>
          </a:p>
        </p:txBody>
      </p:sp>
      <p:pic>
        <p:nvPicPr>
          <p:cNvPr id="9" name="Picture 8">
            <a:extLst>
              <a:ext uri="{FF2B5EF4-FFF2-40B4-BE49-F238E27FC236}">
                <a16:creationId xmlns:a16="http://schemas.microsoft.com/office/drawing/2014/main" id="{238EA4B6-8E5A-3373-1108-7EB5DC58D322}"/>
              </a:ext>
            </a:extLst>
          </p:cNvPr>
          <p:cNvPicPr>
            <a:picLocks noChangeAspect="1"/>
          </p:cNvPicPr>
          <p:nvPr>
            <p:custDataLst>
              <p:tags r:id="rId2"/>
            </p:custDataLst>
          </p:nvPr>
        </p:nvPicPr>
        <p:blipFill>
          <a:blip r:embed="rId5"/>
          <a:stretch>
            <a:fillRect/>
          </a:stretch>
        </p:blipFill>
        <p:spPr>
          <a:xfrm>
            <a:off x="1017251" y="1332793"/>
            <a:ext cx="5974080" cy="2693891"/>
          </a:xfrm>
          <a:prstGeom prst="rect">
            <a:avLst/>
          </a:prstGeom>
        </p:spPr>
      </p:pic>
      <p:sp>
        <p:nvSpPr>
          <p:cNvPr id="4" name="Text Placeholder 12">
            <a:extLst>
              <a:ext uri="{FF2B5EF4-FFF2-40B4-BE49-F238E27FC236}">
                <a16:creationId xmlns:a16="http://schemas.microsoft.com/office/drawing/2014/main" id="{0F0B089B-24A1-B5D7-E659-EAD861959332}"/>
              </a:ext>
            </a:extLst>
          </p:cNvPr>
          <p:cNvSpPr txBox="1">
            <a:spLocks/>
          </p:cNvSpPr>
          <p:nvPr/>
        </p:nvSpPr>
        <p:spPr>
          <a:xfrm>
            <a:off x="1026777" y="4023209"/>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grpSp>
        <p:nvGrpSpPr>
          <p:cNvPr id="21" name="Group 20">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7"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2216725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ABB531-928E-D718-6767-01D5260AEAB7}"/>
              </a:ext>
            </a:extLst>
          </p:cNvPr>
          <p:cNvPicPr>
            <a:picLocks noChangeAspect="1"/>
          </p:cNvPicPr>
          <p:nvPr>
            <p:custDataLst>
              <p:tags r:id="rId1"/>
            </p:custDataLst>
          </p:nvPr>
        </p:nvPicPr>
        <p:blipFill>
          <a:blip r:embed="rId7"/>
          <a:stretch>
            <a:fillRect/>
          </a:stretch>
        </p:blipFill>
        <p:spPr>
          <a:xfrm>
            <a:off x="1001756" y="3637816"/>
            <a:ext cx="3306806" cy="1554389"/>
          </a:xfrm>
          <a:prstGeom prst="rect">
            <a:avLst/>
          </a:prstGeom>
        </p:spPr>
      </p:pic>
      <p:pic>
        <p:nvPicPr>
          <p:cNvPr id="19" name="Picture 18">
            <a:extLst>
              <a:ext uri="{FF2B5EF4-FFF2-40B4-BE49-F238E27FC236}">
                <a16:creationId xmlns:a16="http://schemas.microsoft.com/office/drawing/2014/main" id="{06DB9ED3-FAD2-226E-E03B-50BCDFB664C3}"/>
              </a:ext>
            </a:extLst>
          </p:cNvPr>
          <p:cNvPicPr>
            <a:picLocks noChangeAspect="1"/>
          </p:cNvPicPr>
          <p:nvPr>
            <p:custDataLst>
              <p:tags r:id="rId2"/>
            </p:custDataLst>
          </p:nvPr>
        </p:nvPicPr>
        <p:blipFill>
          <a:blip r:embed="rId8"/>
          <a:stretch>
            <a:fillRect/>
          </a:stretch>
        </p:blipFill>
        <p:spPr>
          <a:xfrm>
            <a:off x="4449501" y="3637816"/>
            <a:ext cx="2355551" cy="1014573"/>
          </a:xfrm>
          <a:prstGeom prst="rect">
            <a:avLst/>
          </a:prstGeom>
        </p:spPr>
      </p:pic>
      <p:pic>
        <p:nvPicPr>
          <p:cNvPr id="12" name="Picture 11">
            <a:extLst>
              <a:ext uri="{FF2B5EF4-FFF2-40B4-BE49-F238E27FC236}">
                <a16:creationId xmlns:a16="http://schemas.microsoft.com/office/drawing/2014/main" id="{4B6C9BEC-D256-E4DD-3F9A-D5802EE4886B}"/>
              </a:ext>
            </a:extLst>
          </p:cNvPr>
          <p:cNvPicPr>
            <a:picLocks noChangeAspect="1"/>
          </p:cNvPicPr>
          <p:nvPr>
            <p:custDataLst>
              <p:tags r:id="rId3"/>
            </p:custDataLst>
          </p:nvPr>
        </p:nvPicPr>
        <p:blipFill>
          <a:blip r:embed="rId9"/>
          <a:stretch>
            <a:fillRect/>
          </a:stretch>
        </p:blipFill>
        <p:spPr>
          <a:xfrm>
            <a:off x="1001761" y="1336378"/>
            <a:ext cx="5324471" cy="1966586"/>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a:xfrm>
            <a:off x="995362" y="412750"/>
            <a:ext cx="10204452" cy="539750"/>
          </a:xfrm>
        </p:spPr>
        <p:txBody>
          <a:bodyPr/>
          <a:lstStyle/>
          <a:p>
            <a:r>
              <a:rPr lang="en-US" sz="4000"/>
              <a:t>QofE adjustment #</a:t>
            </a:r>
            <a:r>
              <a:rPr lang="en-US"/>
              <a:t>15</a:t>
            </a:r>
            <a:r>
              <a:rPr lang="en-US" sz="4000"/>
              <a:t> – Credit union MSA (</a:t>
            </a:r>
            <a:r>
              <a:rPr lang="en-US"/>
              <a:t>5</a:t>
            </a:r>
            <a:r>
              <a:rPr lang="en-US" sz="4000"/>
              <a:t>/7)</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4"/>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QofE support</a:t>
            </a:r>
          </a:p>
        </p:txBody>
      </p:sp>
      <p:sp>
        <p:nvSpPr>
          <p:cNvPr id="28" name="TextBox 27">
            <a:extLst>
              <a:ext uri="{FF2B5EF4-FFF2-40B4-BE49-F238E27FC236}">
                <a16:creationId xmlns:a16="http://schemas.microsoft.com/office/drawing/2014/main" id="{905DF241-253B-B034-661A-41FDE6798743}"/>
              </a:ext>
            </a:extLst>
          </p:cNvPr>
          <p:cNvSpPr txBox="1"/>
          <p:nvPr/>
        </p:nvSpPr>
        <p:spPr>
          <a:xfrm>
            <a:off x="1001756" y="97779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Credit union customers comprise of 50.2% of overall TTM June 2024 revenue, of which all are governed under the terms of the MSA.</a:t>
            </a:r>
            <a:endParaRPr lang="en-US" sz="900" b="1">
              <a:solidFill>
                <a:schemeClr val="tx2"/>
              </a:solidFill>
              <a:highlight>
                <a:srgbClr val="FFFF00"/>
              </a:highlight>
            </a:endParaRPr>
          </a:p>
        </p:txBody>
      </p:sp>
      <p:sp>
        <p:nvSpPr>
          <p:cNvPr id="22" name="Rectangle: Rounded Corners 21">
            <a:extLst>
              <a:ext uri="{FF2B5EF4-FFF2-40B4-BE49-F238E27FC236}">
                <a16:creationId xmlns:a16="http://schemas.microsoft.com/office/drawing/2014/main" id="{C73FB27A-C4F0-2FB7-0B5F-B1D059E71889}"/>
              </a:ext>
            </a:extLst>
          </p:cNvPr>
          <p:cNvSpPr/>
          <p:nvPr/>
        </p:nvSpPr>
        <p:spPr>
          <a:xfrm flipV="1">
            <a:off x="1014449" y="5051224"/>
            <a:ext cx="3294113" cy="140981"/>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23" name="Rectangle: Rounded Corners 22">
            <a:extLst>
              <a:ext uri="{FF2B5EF4-FFF2-40B4-BE49-F238E27FC236}">
                <a16:creationId xmlns:a16="http://schemas.microsoft.com/office/drawing/2014/main" id="{1198916B-4326-DA36-2B43-80594DA6B83F}"/>
              </a:ext>
            </a:extLst>
          </p:cNvPr>
          <p:cNvSpPr/>
          <p:nvPr/>
        </p:nvSpPr>
        <p:spPr>
          <a:xfrm flipV="1">
            <a:off x="1014449" y="1946598"/>
            <a:ext cx="5256605" cy="135515"/>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cxnSp>
        <p:nvCxnSpPr>
          <p:cNvPr id="25" name="Connector: Elbow 24">
            <a:extLst>
              <a:ext uri="{FF2B5EF4-FFF2-40B4-BE49-F238E27FC236}">
                <a16:creationId xmlns:a16="http://schemas.microsoft.com/office/drawing/2014/main" id="{2F8E533B-5BD6-F675-E9DF-D30931FB1EEE}"/>
              </a:ext>
            </a:extLst>
          </p:cNvPr>
          <p:cNvCxnSpPr>
            <a:cxnSpLocks/>
            <a:stCxn id="22" idx="1"/>
            <a:endCxn id="23" idx="1"/>
          </p:cNvCxnSpPr>
          <p:nvPr/>
        </p:nvCxnSpPr>
        <p:spPr>
          <a:xfrm rot="10800000">
            <a:off x="1014449" y="2014356"/>
            <a:ext cx="12700" cy="3107359"/>
          </a:xfrm>
          <a:prstGeom prst="bentConnector3">
            <a:avLst>
              <a:gd name="adj1" fmla="val 1800000"/>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
        <p:nvSpPr>
          <p:cNvPr id="17" name="Text Placeholder 12">
            <a:extLst>
              <a:ext uri="{FF2B5EF4-FFF2-40B4-BE49-F238E27FC236}">
                <a16:creationId xmlns:a16="http://schemas.microsoft.com/office/drawing/2014/main" id="{BE6145BD-EBB7-F73A-A3F9-80FCD6EA9FA5}"/>
              </a:ext>
            </a:extLst>
          </p:cNvPr>
          <p:cNvSpPr txBox="1">
            <a:spLocks/>
          </p:cNvSpPr>
          <p:nvPr/>
        </p:nvSpPr>
        <p:spPr>
          <a:xfrm>
            <a:off x="1022167" y="5243870"/>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Note: Quantity and Average price are based on revenue item units (e.g. # of transactions). Nature of units vary by revenue item. </a:t>
            </a:r>
          </a:p>
        </p:txBody>
      </p:sp>
      <p:sp>
        <p:nvSpPr>
          <p:cNvPr id="5" name="Text Placeholder 12">
            <a:extLst>
              <a:ext uri="{FF2B5EF4-FFF2-40B4-BE49-F238E27FC236}">
                <a16:creationId xmlns:a16="http://schemas.microsoft.com/office/drawing/2014/main" id="{F07753B1-A24D-7392-1416-07663F4C8513}"/>
              </a:ext>
            </a:extLst>
          </p:cNvPr>
          <p:cNvSpPr txBox="1">
            <a:spLocks/>
          </p:cNvSpPr>
          <p:nvPr/>
        </p:nvSpPr>
        <p:spPr>
          <a:xfrm>
            <a:off x="1015251" y="592768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Billing reports</a:t>
            </a:r>
          </a:p>
        </p:txBody>
      </p:sp>
      <p:grpSp>
        <p:nvGrpSpPr>
          <p:cNvPr id="26" name="Group 25">
            <a:extLst>
              <a:ext uri="{FF2B5EF4-FFF2-40B4-BE49-F238E27FC236}">
                <a16:creationId xmlns:a16="http://schemas.microsoft.com/office/drawing/2014/main" id="{AC0E6B6B-219E-350A-AC98-BE7393B5A511}"/>
              </a:ext>
            </a:extLst>
          </p:cNvPr>
          <p:cNvGrpSpPr/>
          <p:nvPr>
            <p:custDataLst>
              <p:tags r:id="rId5"/>
            </p:custDataLst>
          </p:nvPr>
        </p:nvGrpSpPr>
        <p:grpSpPr>
          <a:xfrm>
            <a:off x="995364" y="153170"/>
            <a:ext cx="5809688" cy="195814"/>
            <a:chOff x="995364" y="153170"/>
            <a:chExt cx="5809688" cy="195814"/>
          </a:xfrm>
        </p:grpSpPr>
        <p:sp>
          <p:nvSpPr>
            <p:cNvPr id="27" name="Other Sections1">
              <a:hlinkClick r:id="rId10"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9" name="Other Sections2">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0" name="Other Sections3">
              <a:hlinkClick r:id="rId12"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1" name="Other Sections4">
              <a:hlinkClick r:id="rId13"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2" name="Other Sections5">
              <a:hlinkClick r:id="rId14"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33" name="Current Section6">
              <a:hlinkClick r:id="rId15"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59258950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4AE8E2C-1E33-E3AE-BBED-97891A305A4D}"/>
              </a:ext>
            </a:extLst>
          </p:cNvPr>
          <p:cNvPicPr>
            <a:picLocks noChangeAspect="1"/>
          </p:cNvPicPr>
          <p:nvPr>
            <p:custDataLst>
              <p:tags r:id="rId1"/>
            </p:custDataLst>
          </p:nvPr>
        </p:nvPicPr>
        <p:blipFill>
          <a:blip r:embed="rId6"/>
          <a:stretch>
            <a:fillRect/>
          </a:stretch>
        </p:blipFill>
        <p:spPr>
          <a:xfrm>
            <a:off x="1009811" y="2678253"/>
            <a:ext cx="4851400" cy="2450891"/>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a:xfrm>
            <a:off x="995362" y="412750"/>
            <a:ext cx="10204452" cy="539750"/>
          </a:xfrm>
        </p:spPr>
        <p:txBody>
          <a:bodyPr/>
          <a:lstStyle/>
          <a:p>
            <a:r>
              <a:rPr lang="en-US" sz="4000"/>
              <a:t>QofE adjustment #</a:t>
            </a:r>
            <a:r>
              <a:rPr lang="en-US"/>
              <a:t>20</a:t>
            </a:r>
            <a:r>
              <a:rPr lang="en-US" sz="4000"/>
              <a:t> – New products, cards (</a:t>
            </a:r>
            <a:r>
              <a:rPr lang="en-US"/>
              <a:t>6</a:t>
            </a:r>
            <a:r>
              <a:rPr lang="en-US" sz="4000"/>
              <a:t>/7)</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QofE support</a:t>
            </a:r>
          </a:p>
        </p:txBody>
      </p:sp>
      <p:sp>
        <p:nvSpPr>
          <p:cNvPr id="8" name="Text Placeholder 12">
            <a:extLst>
              <a:ext uri="{FF2B5EF4-FFF2-40B4-BE49-F238E27FC236}">
                <a16:creationId xmlns:a16="http://schemas.microsoft.com/office/drawing/2014/main" id="{E0D6B93C-B656-87B7-6B50-51E136D5116D}"/>
              </a:ext>
            </a:extLst>
          </p:cNvPr>
          <p:cNvSpPr txBox="1">
            <a:spLocks/>
          </p:cNvSpPr>
          <p:nvPr/>
        </p:nvSpPr>
        <p:spPr>
          <a:xfrm>
            <a:off x="1022167" y="5129144"/>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Billing reports</a:t>
            </a:r>
          </a:p>
        </p:txBody>
      </p:sp>
      <p:sp>
        <p:nvSpPr>
          <p:cNvPr id="4" name="TextBox 3">
            <a:extLst>
              <a:ext uri="{FF2B5EF4-FFF2-40B4-BE49-F238E27FC236}">
                <a16:creationId xmlns:a16="http://schemas.microsoft.com/office/drawing/2014/main" id="{AF97CCDD-31D6-9E65-5B56-DA37FACFD71A}"/>
              </a:ext>
            </a:extLst>
          </p:cNvPr>
          <p:cNvSpPr txBox="1"/>
          <p:nvPr/>
        </p:nvSpPr>
        <p:spPr>
          <a:xfrm>
            <a:off x="1001756" y="977792"/>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Several new card management products were introduced between January 2020 and June 2024, with relevant reoccurring revenue under long-term contract being adjusted in QofE adjustment #20. Revenue generated from these new products pertaining to new customers adjusted in QofE adjustment #14a is removed to avoid duplication in QofE adjustments 14a and 20.</a:t>
            </a:r>
            <a:endParaRPr lang="en-US" sz="900" b="1">
              <a:solidFill>
                <a:schemeClr val="tx2"/>
              </a:solidFill>
            </a:endParaRPr>
          </a:p>
        </p:txBody>
      </p:sp>
      <p:pic>
        <p:nvPicPr>
          <p:cNvPr id="5" name="Picture 4">
            <a:extLst>
              <a:ext uri="{FF2B5EF4-FFF2-40B4-BE49-F238E27FC236}">
                <a16:creationId xmlns:a16="http://schemas.microsoft.com/office/drawing/2014/main" id="{2C36F71D-030E-26A5-350D-E979AD618FB4}"/>
              </a:ext>
            </a:extLst>
          </p:cNvPr>
          <p:cNvPicPr>
            <a:picLocks noChangeAspect="1"/>
          </p:cNvPicPr>
          <p:nvPr>
            <p:custDataLst>
              <p:tags r:id="rId3"/>
            </p:custDataLst>
          </p:nvPr>
        </p:nvPicPr>
        <p:blipFill>
          <a:blip r:embed="rId7"/>
          <a:stretch>
            <a:fillRect/>
          </a:stretch>
        </p:blipFill>
        <p:spPr>
          <a:xfrm>
            <a:off x="1009811" y="1373571"/>
            <a:ext cx="5391150" cy="1118582"/>
          </a:xfrm>
          <a:prstGeom prst="rect">
            <a:avLst/>
          </a:prstGeom>
        </p:spPr>
      </p:pic>
      <p:grpSp>
        <p:nvGrpSpPr>
          <p:cNvPr id="22" name="Group 21">
            <a:extLst>
              <a:ext uri="{FF2B5EF4-FFF2-40B4-BE49-F238E27FC236}">
                <a16:creationId xmlns:a16="http://schemas.microsoft.com/office/drawing/2014/main" id="{AC0E6B6B-219E-350A-AC98-BE7393B5A511}"/>
              </a:ext>
            </a:extLst>
          </p:cNvPr>
          <p:cNvGrpSpPr/>
          <p:nvPr>
            <p:custDataLst>
              <p:tags r:id="rId4"/>
            </p:custDataLst>
          </p:nvPr>
        </p:nvGrpSpPr>
        <p:grpSpPr>
          <a:xfrm>
            <a:off x="995364" y="153170"/>
            <a:ext cx="5809688" cy="195814"/>
            <a:chOff x="995364" y="153170"/>
            <a:chExt cx="5809688" cy="195814"/>
          </a:xfrm>
        </p:grpSpPr>
        <p:sp>
          <p:nvSpPr>
            <p:cNvPr id="23"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4"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5"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6"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7"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8"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1679777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163E7D-181A-AEB9-16D3-AD107C5BCACB}"/>
              </a:ext>
            </a:extLst>
          </p:cNvPr>
          <p:cNvPicPr>
            <a:picLocks noChangeAspect="1"/>
          </p:cNvPicPr>
          <p:nvPr>
            <p:custDataLst>
              <p:tags r:id="rId1"/>
            </p:custDataLst>
          </p:nvPr>
        </p:nvPicPr>
        <p:blipFill>
          <a:blip r:embed="rId6"/>
          <a:stretch>
            <a:fillRect/>
          </a:stretch>
        </p:blipFill>
        <p:spPr>
          <a:xfrm>
            <a:off x="1009811" y="1373571"/>
            <a:ext cx="5378450" cy="1106238"/>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a:xfrm>
            <a:off x="995362" y="412750"/>
            <a:ext cx="10204452" cy="539750"/>
          </a:xfrm>
        </p:spPr>
        <p:txBody>
          <a:bodyPr/>
          <a:lstStyle/>
          <a:p>
            <a:r>
              <a:rPr lang="en-US" sz="4000"/>
              <a:t>QofE adjustment #21 – New products, fraud management (</a:t>
            </a:r>
            <a:r>
              <a:rPr lang="en-US"/>
              <a:t>7</a:t>
            </a:r>
            <a:r>
              <a:rPr lang="en-US" sz="4000"/>
              <a:t>/7)</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QofE support</a:t>
            </a:r>
          </a:p>
        </p:txBody>
      </p:sp>
      <p:sp>
        <p:nvSpPr>
          <p:cNvPr id="6" name="Text Placeholder 12">
            <a:extLst>
              <a:ext uri="{FF2B5EF4-FFF2-40B4-BE49-F238E27FC236}">
                <a16:creationId xmlns:a16="http://schemas.microsoft.com/office/drawing/2014/main" id="{CB8F732B-E47B-B732-0B9F-47986E82003A}"/>
              </a:ext>
            </a:extLst>
          </p:cNvPr>
          <p:cNvSpPr txBox="1">
            <a:spLocks/>
          </p:cNvSpPr>
          <p:nvPr/>
        </p:nvSpPr>
        <p:spPr>
          <a:xfrm>
            <a:off x="1022167" y="5199591"/>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Billing reports</a:t>
            </a:r>
          </a:p>
        </p:txBody>
      </p:sp>
      <p:sp>
        <p:nvSpPr>
          <p:cNvPr id="28" name="TextBox 27">
            <a:extLst>
              <a:ext uri="{FF2B5EF4-FFF2-40B4-BE49-F238E27FC236}">
                <a16:creationId xmlns:a16="http://schemas.microsoft.com/office/drawing/2014/main" id="{905DF241-253B-B034-661A-41FDE6798743}"/>
              </a:ext>
            </a:extLst>
          </p:cNvPr>
          <p:cNvSpPr txBox="1"/>
          <p:nvPr/>
        </p:nvSpPr>
        <p:spPr>
          <a:xfrm>
            <a:off x="1001756" y="97779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Several new fraud management products were introduced between January 2020 and June 2024, with relevant reoccurring revenue under long-term contract being adjusted in QofE adjustment #21. Revenue generated from these new products pertaining to new customers adjusted in QofE adjustment #14a is removed to avoid duplication in QofE adjustments 14a and 21.</a:t>
            </a:r>
            <a:endParaRPr lang="en-US" sz="900" b="1">
              <a:solidFill>
                <a:schemeClr val="tx2"/>
              </a:solidFill>
            </a:endParaRPr>
          </a:p>
        </p:txBody>
      </p:sp>
      <p:pic>
        <p:nvPicPr>
          <p:cNvPr id="15" name="Picture 14">
            <a:extLst>
              <a:ext uri="{FF2B5EF4-FFF2-40B4-BE49-F238E27FC236}">
                <a16:creationId xmlns:a16="http://schemas.microsoft.com/office/drawing/2014/main" id="{A633CB6E-48D7-0215-A162-2CA260FB415A}"/>
              </a:ext>
            </a:extLst>
          </p:cNvPr>
          <p:cNvPicPr>
            <a:picLocks noChangeAspect="1"/>
          </p:cNvPicPr>
          <p:nvPr>
            <p:custDataLst>
              <p:tags r:id="rId3"/>
            </p:custDataLst>
          </p:nvPr>
        </p:nvPicPr>
        <p:blipFill>
          <a:blip r:embed="rId7"/>
          <a:stretch>
            <a:fillRect/>
          </a:stretch>
        </p:blipFill>
        <p:spPr>
          <a:xfrm>
            <a:off x="1001756" y="2760335"/>
            <a:ext cx="4768850" cy="2439256"/>
          </a:xfrm>
          <a:prstGeom prst="rect">
            <a:avLst/>
          </a:prstGeom>
        </p:spPr>
      </p:pic>
      <p:grpSp>
        <p:nvGrpSpPr>
          <p:cNvPr id="21" name="Group 20">
            <a:extLst>
              <a:ext uri="{FF2B5EF4-FFF2-40B4-BE49-F238E27FC236}">
                <a16:creationId xmlns:a16="http://schemas.microsoft.com/office/drawing/2014/main" id="{AC0E6B6B-219E-350A-AC98-BE7393B5A511}"/>
              </a:ext>
            </a:extLst>
          </p:cNvPr>
          <p:cNvGrpSpPr/>
          <p:nvPr>
            <p:custDataLst>
              <p:tags r:id="rId4"/>
            </p:custDataLst>
          </p:nvPr>
        </p:nvGrpSpPr>
        <p:grpSpPr>
          <a:xfrm>
            <a:off x="995364" y="153170"/>
            <a:ext cx="5809688" cy="195814"/>
            <a:chOff x="995364" y="153170"/>
            <a:chExt cx="5809688" cy="195814"/>
          </a:xfrm>
        </p:grpSpPr>
        <p:sp>
          <p:nvSpPr>
            <p:cNvPr id="22"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7"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2645275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CA" sz="4000">
                <a:solidFill>
                  <a:srgbClr val="00338D"/>
                </a:solidFill>
              </a:rPr>
              <a:t>Capital assets and intangibles profile</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Fixed assets</a:t>
            </a:r>
          </a:p>
        </p:txBody>
      </p:sp>
      <p:sp>
        <p:nvSpPr>
          <p:cNvPr id="5" name="TextBox 4">
            <a:extLst>
              <a:ext uri="{FF2B5EF4-FFF2-40B4-BE49-F238E27FC236}">
                <a16:creationId xmlns:a16="http://schemas.microsoft.com/office/drawing/2014/main" id="{E1E04E01-8861-B170-1B4A-36583278A904}"/>
              </a:ext>
            </a:extLst>
          </p:cNvPr>
          <p:cNvSpPr txBox="1"/>
          <p:nvPr/>
        </p:nvSpPr>
        <p:spPr>
          <a:xfrm>
            <a:off x="992186" y="97155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Below is a breakdown of the fixed asset and intangible assets cost, accumulated depreciation and net book value. On average, fixed assets are 72.8% depreciated with a majority pertaining to internally developed and externally purchased software and software licenses.</a:t>
            </a:r>
          </a:p>
          <a:p>
            <a:pPr>
              <a:spcAft>
                <a:spcPts val="600"/>
              </a:spcAft>
            </a:pPr>
            <a:endParaRPr lang="en-US" sz="900" b="1">
              <a:solidFill>
                <a:schemeClr val="tx2"/>
              </a:solidFill>
            </a:endParaRPr>
          </a:p>
        </p:txBody>
      </p:sp>
      <p:sp>
        <p:nvSpPr>
          <p:cNvPr id="7" name="Text Placeholder 12">
            <a:extLst>
              <a:ext uri="{FF2B5EF4-FFF2-40B4-BE49-F238E27FC236}">
                <a16:creationId xmlns:a16="http://schemas.microsoft.com/office/drawing/2014/main" id="{0721DD9A-B4AF-0C3B-C425-DE2C9485FE35}"/>
              </a:ext>
            </a:extLst>
          </p:cNvPr>
          <p:cNvSpPr txBox="1">
            <a:spLocks/>
          </p:cNvSpPr>
          <p:nvPr/>
        </p:nvSpPr>
        <p:spPr>
          <a:xfrm>
            <a:off x="1012597" y="4491771"/>
            <a:ext cx="10195200" cy="184666"/>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Fixed Assets NBV - June 2024</a:t>
            </a:r>
          </a:p>
          <a:p>
            <a:pPr rtl="0">
              <a:spcAft>
                <a:spcPts val="0"/>
              </a:spcAft>
            </a:pPr>
            <a:r>
              <a:rPr lang="en-US" sz="600" b="0">
                <a:solidFill>
                  <a:schemeClr val="tx2"/>
                </a:solidFill>
                <a:latin typeface="Arial" panose="020B0604020202020204" pitchFamily="34" charset="0"/>
              </a:rPr>
              <a:t>Note: The table above excludes fixed and intangible WIP assets and internally developed capitalized software.</a:t>
            </a:r>
          </a:p>
        </p:txBody>
      </p:sp>
      <p:pic>
        <p:nvPicPr>
          <p:cNvPr id="14" name="Picture 13">
            <a:extLst>
              <a:ext uri="{FF2B5EF4-FFF2-40B4-BE49-F238E27FC236}">
                <a16:creationId xmlns:a16="http://schemas.microsoft.com/office/drawing/2014/main" id="{EAD13F6C-28E1-E267-2AB8-ED37258FC725}"/>
              </a:ext>
            </a:extLst>
          </p:cNvPr>
          <p:cNvPicPr>
            <a:picLocks noChangeAspect="1"/>
          </p:cNvPicPr>
          <p:nvPr>
            <p:custDataLst>
              <p:tags r:id="rId2"/>
            </p:custDataLst>
          </p:nvPr>
        </p:nvPicPr>
        <p:blipFill>
          <a:blip r:embed="rId5"/>
          <a:stretch>
            <a:fillRect/>
          </a:stretch>
        </p:blipFill>
        <p:spPr>
          <a:xfrm>
            <a:off x="992186" y="1330325"/>
            <a:ext cx="5092700" cy="3161446"/>
          </a:xfrm>
          <a:prstGeom prst="rect">
            <a:avLst/>
          </a:prstGeom>
        </p:spPr>
      </p:pic>
      <p:grpSp>
        <p:nvGrpSpPr>
          <p:cNvPr id="21" name="Group 20">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2"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3"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4"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5"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6"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7"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5022442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CA" sz="4000">
                <a:solidFill>
                  <a:srgbClr val="00338D"/>
                </a:solidFill>
              </a:rPr>
              <a:t>Capital expenditure</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Fixed assets</a:t>
            </a:r>
          </a:p>
        </p:txBody>
      </p:sp>
      <p:sp>
        <p:nvSpPr>
          <p:cNvPr id="5" name="TextBox 4">
            <a:extLst>
              <a:ext uri="{FF2B5EF4-FFF2-40B4-BE49-F238E27FC236}">
                <a16:creationId xmlns:a16="http://schemas.microsoft.com/office/drawing/2014/main" id="{E1E04E01-8861-B170-1B4A-36583278A904}"/>
              </a:ext>
            </a:extLst>
          </p:cNvPr>
          <p:cNvSpPr txBox="1"/>
          <p:nvPr/>
        </p:nvSpPr>
        <p:spPr>
          <a:xfrm>
            <a:off x="995363" y="970438"/>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Below is a breakdown of YTD Jun-24 and FY22 to FY23 capital expenditures, delineated by internal development, data center, and infrastructure updates. Majority of capital expenditures in the FY22 to FY23 period pertain to the data center relocation and start-up costs for the new eConnect settlement and reporting system.</a:t>
            </a:r>
          </a:p>
          <a:p>
            <a:pPr>
              <a:spcAft>
                <a:spcPts val="600"/>
              </a:spcAft>
            </a:pPr>
            <a:endParaRPr lang="en-US" sz="900" b="1">
              <a:solidFill>
                <a:schemeClr val="tx2"/>
              </a:solidFill>
            </a:endParaRPr>
          </a:p>
        </p:txBody>
      </p:sp>
      <p:sp>
        <p:nvSpPr>
          <p:cNvPr id="20" name="Text Placeholder 12">
            <a:extLst>
              <a:ext uri="{FF2B5EF4-FFF2-40B4-BE49-F238E27FC236}">
                <a16:creationId xmlns:a16="http://schemas.microsoft.com/office/drawing/2014/main" id="{850FC274-1C5F-B69C-1315-46F7C8CDDA34}"/>
              </a:ext>
            </a:extLst>
          </p:cNvPr>
          <p:cNvSpPr txBox="1">
            <a:spLocks/>
          </p:cNvSpPr>
          <p:nvPr/>
        </p:nvSpPr>
        <p:spPr>
          <a:xfrm>
            <a:off x="6242415" y="1344168"/>
            <a:ext cx="4954218" cy="3293209"/>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l">
              <a:spcAft>
                <a:spcPts val="600"/>
              </a:spcAft>
            </a:pPr>
            <a:r>
              <a:rPr lang="en-US" sz="900" b="1">
                <a:solidFill>
                  <a:schemeClr val="tx2"/>
                </a:solidFill>
              </a:rPr>
              <a:t>YTD </a:t>
            </a:r>
            <a:r>
              <a:rPr lang="en-US" sz="900">
                <a:solidFill>
                  <a:schemeClr val="tx2"/>
                </a:solidFill>
              </a:rPr>
              <a:t>Jun</a:t>
            </a:r>
            <a:r>
              <a:rPr lang="en-US" sz="900" b="1">
                <a:solidFill>
                  <a:schemeClr val="tx2"/>
                </a:solidFill>
              </a:rPr>
              <a:t>-24 capital expenditure</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Fixed assets represent $166,000 or $11.9% of total YTD Jun-24 capital expenditure. This mainly includes $104,000 in growth expenditure and $41,000 in replacement costs for network equipment.</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Intangible assets comprise $1.2 million or 88.1% of total YTD Jun-24 capital expenditures. $980,000 in settlement/reporting systems consist of $877,000 in internally developed software and $103,000 in purchased software.</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Growth and maintenance capital expenditure within intangible assets primarily relate to internal development.</a:t>
            </a:r>
            <a:endParaRPr lang="en-US" sz="900">
              <a:solidFill>
                <a:schemeClr val="tx1"/>
              </a:solidFill>
            </a:endParaRPr>
          </a:p>
          <a:p>
            <a:pPr algn="l">
              <a:spcAft>
                <a:spcPts val="600"/>
              </a:spcAft>
            </a:pPr>
            <a:r>
              <a:rPr lang="en-US" sz="900">
                <a:solidFill>
                  <a:schemeClr val="tx2"/>
                </a:solidFill>
              </a:rPr>
              <a:t>Capital expenditure budget vs. reported</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Approximately 58.2% of total expenditures in FY23 are allocated to internal development. These are primarily related to the implementation of new data center infrastructure and the EConnect operations reporting system software and server.</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Infrastructure updates pertain to the replacement of employee laptops and software tools, and accounting systems and hardware upgrades in the historical period.</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Data center move purchases relate to one-time expenditures made in relation to the relocation.</a:t>
            </a:r>
            <a:endParaRPr lang="en-US" sz="800" b="1">
              <a:solidFill>
                <a:schemeClr val="tx1"/>
              </a:solidFill>
            </a:endParaRPr>
          </a:p>
          <a:p>
            <a:pPr algn="l">
              <a:spcAft>
                <a:spcPts val="600"/>
              </a:spcAft>
            </a:pPr>
            <a:endParaRPr lang="en-US" sz="800" b="1">
              <a:solidFill>
                <a:schemeClr val="tx2"/>
              </a:solidFill>
            </a:endParaRPr>
          </a:p>
          <a:p>
            <a:pPr algn="l">
              <a:spcAft>
                <a:spcPts val="600"/>
              </a:spcAft>
            </a:pPr>
            <a:endParaRPr lang="en-US" sz="800" b="1">
              <a:solidFill>
                <a:schemeClr val="tx2"/>
              </a:solidFill>
            </a:endParaRPr>
          </a:p>
        </p:txBody>
      </p:sp>
      <p:sp>
        <p:nvSpPr>
          <p:cNvPr id="6" name="Text Placeholder 12">
            <a:extLst>
              <a:ext uri="{FF2B5EF4-FFF2-40B4-BE49-F238E27FC236}">
                <a16:creationId xmlns:a16="http://schemas.microsoft.com/office/drawing/2014/main" id="{6E2EC143-82A8-C276-B409-AC7D12E951D5}"/>
              </a:ext>
            </a:extLst>
          </p:cNvPr>
          <p:cNvSpPr txBox="1">
            <a:spLocks/>
          </p:cNvSpPr>
          <p:nvPr/>
        </p:nvSpPr>
        <p:spPr>
          <a:xfrm>
            <a:off x="995362" y="5634737"/>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Capex summary FY22 and FY23</a:t>
            </a:r>
          </a:p>
        </p:txBody>
      </p:sp>
      <p:pic>
        <p:nvPicPr>
          <p:cNvPr id="16" name="Picture 15">
            <a:extLst>
              <a:ext uri="{FF2B5EF4-FFF2-40B4-BE49-F238E27FC236}">
                <a16:creationId xmlns:a16="http://schemas.microsoft.com/office/drawing/2014/main" id="{4ECCC739-A26C-4D0A-16D1-B066961D8B3A}"/>
              </a:ext>
            </a:extLst>
          </p:cNvPr>
          <p:cNvPicPr>
            <a:picLocks noChangeAspect="1"/>
          </p:cNvPicPr>
          <p:nvPr>
            <p:custDataLst>
              <p:tags r:id="rId2"/>
            </p:custDataLst>
          </p:nvPr>
        </p:nvPicPr>
        <p:blipFill>
          <a:blip r:embed="rId6"/>
          <a:stretch>
            <a:fillRect/>
          </a:stretch>
        </p:blipFill>
        <p:spPr>
          <a:xfrm>
            <a:off x="997549" y="1345309"/>
            <a:ext cx="5042322" cy="2480721"/>
          </a:xfrm>
          <a:prstGeom prst="rect">
            <a:avLst/>
          </a:prstGeom>
        </p:spPr>
      </p:pic>
      <p:pic>
        <p:nvPicPr>
          <p:cNvPr id="8" name="Picture 7">
            <a:extLst>
              <a:ext uri="{FF2B5EF4-FFF2-40B4-BE49-F238E27FC236}">
                <a16:creationId xmlns:a16="http://schemas.microsoft.com/office/drawing/2014/main" id="{C5696A64-8ABE-08E5-CE78-08FACF157814}"/>
              </a:ext>
            </a:extLst>
          </p:cNvPr>
          <p:cNvPicPr>
            <a:picLocks noChangeAspect="1"/>
          </p:cNvPicPr>
          <p:nvPr>
            <p:custDataLst>
              <p:tags r:id="rId3"/>
            </p:custDataLst>
          </p:nvPr>
        </p:nvPicPr>
        <p:blipFill>
          <a:blip r:embed="rId7"/>
          <a:stretch>
            <a:fillRect/>
          </a:stretch>
        </p:blipFill>
        <p:spPr>
          <a:xfrm>
            <a:off x="995363" y="3982691"/>
            <a:ext cx="4128790" cy="1652046"/>
          </a:xfrm>
          <a:prstGeom prst="rect">
            <a:avLst/>
          </a:prstGeom>
        </p:spPr>
      </p:pic>
      <p:grpSp>
        <p:nvGrpSpPr>
          <p:cNvPr id="23" name="Group 22">
            <a:extLst>
              <a:ext uri="{FF2B5EF4-FFF2-40B4-BE49-F238E27FC236}">
                <a16:creationId xmlns:a16="http://schemas.microsoft.com/office/drawing/2014/main" id="{AC0E6B6B-219E-350A-AC98-BE7393B5A511}"/>
              </a:ext>
            </a:extLst>
          </p:cNvPr>
          <p:cNvGrpSpPr/>
          <p:nvPr>
            <p:custDataLst>
              <p:tags r:id="rId4"/>
            </p:custDataLst>
          </p:nvPr>
        </p:nvGrpSpPr>
        <p:grpSpPr>
          <a:xfrm>
            <a:off x="995364" y="153170"/>
            <a:ext cx="5809688" cy="195814"/>
            <a:chOff x="995364" y="153170"/>
            <a:chExt cx="5809688" cy="195814"/>
          </a:xfrm>
        </p:grpSpPr>
        <p:sp>
          <p:nvSpPr>
            <p:cNvPr id="24"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5"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6"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7"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8"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9"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54709416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CA" sz="4000">
                <a:solidFill>
                  <a:srgbClr val="00338D"/>
                </a:solidFill>
              </a:rPr>
              <a:t>Capital expenditure – FY22 to FY23</a:t>
            </a:r>
            <a:endParaRPr lang="en-US" sz="4000"/>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Fixed assets</a:t>
            </a:r>
          </a:p>
        </p:txBody>
      </p:sp>
      <p:sp>
        <p:nvSpPr>
          <p:cNvPr id="5" name="TextBox 4">
            <a:extLst>
              <a:ext uri="{FF2B5EF4-FFF2-40B4-BE49-F238E27FC236}">
                <a16:creationId xmlns:a16="http://schemas.microsoft.com/office/drawing/2014/main" id="{E1E04E01-8861-B170-1B4A-36583278A904}"/>
              </a:ext>
            </a:extLst>
          </p:cNvPr>
          <p:cNvSpPr txBox="1"/>
          <p:nvPr/>
        </p:nvSpPr>
        <p:spPr>
          <a:xfrm>
            <a:off x="1006437" y="97155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Below is a breakdown of FY22 and FY23 fixed assets and intangible assets’ continuity, from purchase, transfer in to use, to disposal/retirement.</a:t>
            </a:r>
          </a:p>
          <a:p>
            <a:pPr>
              <a:spcAft>
                <a:spcPts val="600"/>
              </a:spcAft>
            </a:pPr>
            <a:endParaRPr lang="en-US" sz="900" b="1">
              <a:solidFill>
                <a:schemeClr val="tx2"/>
              </a:solidFill>
            </a:endParaRPr>
          </a:p>
        </p:txBody>
      </p:sp>
      <p:sp>
        <p:nvSpPr>
          <p:cNvPr id="7" name="Text Placeholder 12">
            <a:extLst>
              <a:ext uri="{FF2B5EF4-FFF2-40B4-BE49-F238E27FC236}">
                <a16:creationId xmlns:a16="http://schemas.microsoft.com/office/drawing/2014/main" id="{0721DD9A-B4AF-0C3B-C425-DE2C9485FE35}"/>
              </a:ext>
            </a:extLst>
          </p:cNvPr>
          <p:cNvSpPr txBox="1">
            <a:spLocks/>
          </p:cNvSpPr>
          <p:nvPr/>
        </p:nvSpPr>
        <p:spPr>
          <a:xfrm>
            <a:off x="988078" y="4429125"/>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Management provided information</a:t>
            </a:r>
          </a:p>
        </p:txBody>
      </p:sp>
      <p:sp>
        <p:nvSpPr>
          <p:cNvPr id="23" name="Text Placeholder 12">
            <a:extLst>
              <a:ext uri="{FF2B5EF4-FFF2-40B4-BE49-F238E27FC236}">
                <a16:creationId xmlns:a16="http://schemas.microsoft.com/office/drawing/2014/main" id="{41E55C60-75B2-798E-7139-CA0D60FFC882}"/>
              </a:ext>
            </a:extLst>
          </p:cNvPr>
          <p:cNvSpPr txBox="1">
            <a:spLocks/>
          </p:cNvSpPr>
          <p:nvPr/>
        </p:nvSpPr>
        <p:spPr>
          <a:xfrm>
            <a:off x="8086918" y="1344168"/>
            <a:ext cx="3108868" cy="2954655"/>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l">
              <a:spcAft>
                <a:spcPts val="600"/>
              </a:spcAft>
            </a:pPr>
            <a:r>
              <a:rPr lang="en-US" sz="900" b="1">
                <a:solidFill>
                  <a:schemeClr val="tx2"/>
                </a:solidFill>
              </a:rPr>
              <a:t>Additions/(Transfers in Use)</a:t>
            </a:r>
          </a:p>
          <a:p>
            <a:pPr marL="228600" indent="-228600" algn="l">
              <a:spcAft>
                <a:spcPts val="600"/>
              </a:spcAft>
              <a:buFont typeface="+mj-lt"/>
              <a:buAutoNum type="arabicPeriod"/>
            </a:pPr>
            <a:r>
              <a:rPr lang="en-US" sz="900" b="0">
                <a:solidFill>
                  <a:schemeClr val="tx1"/>
                </a:solidFill>
              </a:rPr>
              <a:t>Hardware and software projects of $1.9 million in FY23 and $4.8 million in FY22 transitioned from work-in-process (WIP) to fully operational.</a:t>
            </a:r>
          </a:p>
          <a:p>
            <a:pPr marL="228600" indent="-228600" algn="l">
              <a:spcAft>
                <a:spcPts val="600"/>
              </a:spcAft>
              <a:buFont typeface="+mj-lt"/>
              <a:buAutoNum type="arabicPeriod"/>
            </a:pPr>
            <a:r>
              <a:rPr lang="en-US" sz="900" b="0">
                <a:solidFill>
                  <a:schemeClr val="tx1"/>
                </a:solidFill>
              </a:rPr>
              <a:t>In June 2023, $517,000 is attributed to finalized customization and implementation of purchased software. In November 2023, $335,000 is associated with completed hardware implementation.</a:t>
            </a:r>
          </a:p>
          <a:p>
            <a:pPr algn="l">
              <a:spcAft>
                <a:spcPts val="600"/>
              </a:spcAft>
            </a:pPr>
            <a:r>
              <a:rPr lang="en-US" sz="900" b="1">
                <a:solidFill>
                  <a:schemeClr val="tx2"/>
                </a:solidFill>
              </a:rPr>
              <a:t>Disposals</a:t>
            </a:r>
          </a:p>
          <a:p>
            <a:pPr marL="228600" indent="-228600">
              <a:spcAft>
                <a:spcPts val="600"/>
              </a:spcAft>
              <a:buFont typeface="+mj-lt"/>
              <a:buAutoNum type="arabicPeriod" startAt="3"/>
            </a:pPr>
            <a:r>
              <a:rPr lang="en-US" sz="900" b="0">
                <a:solidFill>
                  <a:schemeClr val="tx1"/>
                </a:solidFill>
              </a:rPr>
              <a:t>In FY23, $5.9 million of asset disposals primarily consisted of $2.9 million in data processing equipment and $2.9 million in purchased non-PC software retirement, both occurring in November 2023.</a:t>
            </a:r>
          </a:p>
          <a:p>
            <a:pPr algn="l">
              <a:spcAft>
                <a:spcPts val="600"/>
              </a:spcAft>
            </a:pPr>
            <a:r>
              <a:rPr lang="en-US" sz="900" b="1">
                <a:solidFill>
                  <a:schemeClr val="tx2"/>
                </a:solidFill>
              </a:rPr>
              <a:t>Purchases/Capitalization</a:t>
            </a:r>
          </a:p>
          <a:p>
            <a:pPr marL="228600" indent="-228600">
              <a:spcAft>
                <a:spcPts val="600"/>
              </a:spcAft>
              <a:buFont typeface="+mj-lt"/>
              <a:buAutoNum type="arabicPeriod" startAt="4"/>
            </a:pPr>
            <a:r>
              <a:rPr lang="en-US" sz="900" b="0">
                <a:solidFill>
                  <a:schemeClr val="tx1"/>
                </a:solidFill>
              </a:rPr>
              <a:t>The Company acquired $2.9 million in software and hardware work in progress assets in both FY22 and FY23, with $2.5 million of the FY23 investment allocated to software assets.</a:t>
            </a:r>
            <a:endParaRPr lang="en-US" sz="900" b="0">
              <a:solidFill>
                <a:schemeClr val="tx1"/>
              </a:solidFill>
              <a:highlight>
                <a:srgbClr val="FFFF00"/>
              </a:highlight>
            </a:endParaRPr>
          </a:p>
        </p:txBody>
      </p:sp>
      <p:pic>
        <p:nvPicPr>
          <p:cNvPr id="8" name="Picture 7">
            <a:extLst>
              <a:ext uri="{FF2B5EF4-FFF2-40B4-BE49-F238E27FC236}">
                <a16:creationId xmlns:a16="http://schemas.microsoft.com/office/drawing/2014/main" id="{D09B2CD7-2DA0-0306-E158-020C95736C91}"/>
              </a:ext>
            </a:extLst>
          </p:cNvPr>
          <p:cNvPicPr>
            <a:picLocks noChangeAspect="1"/>
          </p:cNvPicPr>
          <p:nvPr>
            <p:custDataLst>
              <p:tags r:id="rId2"/>
            </p:custDataLst>
          </p:nvPr>
        </p:nvPicPr>
        <p:blipFill>
          <a:blip r:embed="rId5"/>
          <a:stretch>
            <a:fillRect/>
          </a:stretch>
        </p:blipFill>
        <p:spPr>
          <a:xfrm>
            <a:off x="1006440" y="1337989"/>
            <a:ext cx="6990954" cy="3254167"/>
          </a:xfrm>
          <a:prstGeom prst="rect">
            <a:avLst/>
          </a:prstGeom>
        </p:spPr>
      </p:pic>
      <p:sp>
        <p:nvSpPr>
          <p:cNvPr id="6" name="Rectangle: Rounded Corners 5">
            <a:extLst>
              <a:ext uri="{FF2B5EF4-FFF2-40B4-BE49-F238E27FC236}">
                <a16:creationId xmlns:a16="http://schemas.microsoft.com/office/drawing/2014/main" id="{F158B450-F0E5-76D5-DD0B-85616C4734E4}"/>
              </a:ext>
            </a:extLst>
          </p:cNvPr>
          <p:cNvSpPr/>
          <p:nvPr/>
        </p:nvSpPr>
        <p:spPr>
          <a:xfrm flipV="1">
            <a:off x="3113903" y="2020327"/>
            <a:ext cx="580768" cy="654909"/>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9" name="Rectangle: Rounded Corners 8">
            <a:extLst>
              <a:ext uri="{FF2B5EF4-FFF2-40B4-BE49-F238E27FC236}">
                <a16:creationId xmlns:a16="http://schemas.microsoft.com/office/drawing/2014/main" id="{B2455FCC-1D92-122D-01B1-1A27A70AD32D}"/>
              </a:ext>
            </a:extLst>
          </p:cNvPr>
          <p:cNvSpPr/>
          <p:nvPr/>
        </p:nvSpPr>
        <p:spPr>
          <a:xfrm flipV="1">
            <a:off x="3113903" y="2681006"/>
            <a:ext cx="580768" cy="229010"/>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0" name="Rectangle: Rounded Corners 9">
            <a:extLst>
              <a:ext uri="{FF2B5EF4-FFF2-40B4-BE49-F238E27FC236}">
                <a16:creationId xmlns:a16="http://schemas.microsoft.com/office/drawing/2014/main" id="{AE15F12B-F644-493B-3012-7CE930A6DDFF}"/>
              </a:ext>
            </a:extLst>
          </p:cNvPr>
          <p:cNvSpPr/>
          <p:nvPr/>
        </p:nvSpPr>
        <p:spPr>
          <a:xfrm flipV="1">
            <a:off x="4792362" y="4212537"/>
            <a:ext cx="1157416" cy="104820"/>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2" name="Rectangle: Rounded Corners 11">
            <a:extLst>
              <a:ext uri="{FF2B5EF4-FFF2-40B4-BE49-F238E27FC236}">
                <a16:creationId xmlns:a16="http://schemas.microsoft.com/office/drawing/2014/main" id="{2897AC55-FEB0-7D5A-9D31-CED1674BBF48}"/>
              </a:ext>
            </a:extLst>
          </p:cNvPr>
          <p:cNvSpPr/>
          <p:nvPr/>
        </p:nvSpPr>
        <p:spPr>
          <a:xfrm flipV="1">
            <a:off x="3751129" y="4212922"/>
            <a:ext cx="951709" cy="104820"/>
          </a:xfrm>
          <a:prstGeom prst="roundRect">
            <a:avLst/>
          </a:prstGeom>
          <a:noFill/>
          <a:ln>
            <a:solidFill>
              <a:srgbClr val="FD349C"/>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endParaRPr lang="en-US" sz="900">
              <a:solidFill>
                <a:schemeClr val="bg1"/>
              </a:solidFill>
            </a:endParaRPr>
          </a:p>
        </p:txBody>
      </p:sp>
      <p:sp>
        <p:nvSpPr>
          <p:cNvPr id="13" name="Oval 12">
            <a:extLst>
              <a:ext uri="{FF2B5EF4-FFF2-40B4-BE49-F238E27FC236}">
                <a16:creationId xmlns:a16="http://schemas.microsoft.com/office/drawing/2014/main" id="{BAA2F5A6-0C91-879D-2E0C-03B9F799C17D}"/>
              </a:ext>
            </a:extLst>
          </p:cNvPr>
          <p:cNvSpPr/>
          <p:nvPr/>
        </p:nvSpPr>
        <p:spPr>
          <a:xfrm>
            <a:off x="824240" y="1933831"/>
            <a:ext cx="185351" cy="17299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1</a:t>
            </a:r>
          </a:p>
        </p:txBody>
      </p:sp>
      <p:sp>
        <p:nvSpPr>
          <p:cNvPr id="14" name="Oval 13">
            <a:extLst>
              <a:ext uri="{FF2B5EF4-FFF2-40B4-BE49-F238E27FC236}">
                <a16:creationId xmlns:a16="http://schemas.microsoft.com/office/drawing/2014/main" id="{07796D0B-A6BE-1859-E8A2-C5B6EB08C2CC}"/>
              </a:ext>
            </a:extLst>
          </p:cNvPr>
          <p:cNvSpPr/>
          <p:nvPr/>
        </p:nvSpPr>
        <p:spPr>
          <a:xfrm>
            <a:off x="812354" y="2624746"/>
            <a:ext cx="185351" cy="17299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2</a:t>
            </a:r>
          </a:p>
        </p:txBody>
      </p:sp>
      <p:sp>
        <p:nvSpPr>
          <p:cNvPr id="15" name="Oval 14">
            <a:extLst>
              <a:ext uri="{FF2B5EF4-FFF2-40B4-BE49-F238E27FC236}">
                <a16:creationId xmlns:a16="http://schemas.microsoft.com/office/drawing/2014/main" id="{71BCF412-91CA-2AD7-6AD5-D2E831339E9D}"/>
              </a:ext>
            </a:extLst>
          </p:cNvPr>
          <p:cNvSpPr/>
          <p:nvPr/>
        </p:nvSpPr>
        <p:spPr>
          <a:xfrm>
            <a:off x="3694671" y="4589077"/>
            <a:ext cx="185351" cy="17299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3</a:t>
            </a:r>
          </a:p>
        </p:txBody>
      </p:sp>
      <p:sp>
        <p:nvSpPr>
          <p:cNvPr id="16" name="Oval 15">
            <a:extLst>
              <a:ext uri="{FF2B5EF4-FFF2-40B4-BE49-F238E27FC236}">
                <a16:creationId xmlns:a16="http://schemas.microsoft.com/office/drawing/2014/main" id="{C49A8EF2-9B41-B287-105C-51E6663AAC06}"/>
              </a:ext>
            </a:extLst>
          </p:cNvPr>
          <p:cNvSpPr/>
          <p:nvPr/>
        </p:nvSpPr>
        <p:spPr>
          <a:xfrm>
            <a:off x="4754740" y="4589077"/>
            <a:ext cx="185351" cy="17299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4</a:t>
            </a:r>
          </a:p>
        </p:txBody>
      </p:sp>
      <p:grpSp>
        <p:nvGrpSpPr>
          <p:cNvPr id="30" name="Group 2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3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3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3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3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3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43"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1140394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3A195E-EE16-CCF7-F20A-624E2FBC3FE9}"/>
              </a:ext>
            </a:extLst>
          </p:cNvPr>
          <p:cNvPicPr>
            <a:picLocks noChangeAspect="1"/>
          </p:cNvPicPr>
          <p:nvPr>
            <p:custDataLst>
              <p:tags r:id="rId1"/>
            </p:custDataLst>
          </p:nvPr>
        </p:nvPicPr>
        <p:blipFill>
          <a:blip r:embed="rId6"/>
          <a:stretch>
            <a:fillRect/>
          </a:stretch>
        </p:blipFill>
        <p:spPr>
          <a:xfrm>
            <a:off x="1004489" y="1330351"/>
            <a:ext cx="3241959" cy="4607441"/>
          </a:xfrm>
          <a:prstGeom prst="rect">
            <a:avLst/>
          </a:prstGeom>
        </p:spPr>
      </p:pic>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sz="4000"/>
              <a:t>Personnel analysis</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Personnel analysis</a:t>
            </a:r>
          </a:p>
        </p:txBody>
      </p:sp>
      <p:sp>
        <p:nvSpPr>
          <p:cNvPr id="7" name="Text Placeholder 12">
            <a:extLst>
              <a:ext uri="{FF2B5EF4-FFF2-40B4-BE49-F238E27FC236}">
                <a16:creationId xmlns:a16="http://schemas.microsoft.com/office/drawing/2014/main" id="{0721DD9A-B4AF-0C3B-C425-DE2C9485FE35}"/>
              </a:ext>
            </a:extLst>
          </p:cNvPr>
          <p:cNvSpPr txBox="1">
            <a:spLocks/>
          </p:cNvSpPr>
          <p:nvPr/>
        </p:nvSpPr>
        <p:spPr>
          <a:xfrm>
            <a:off x="1022820" y="5934783"/>
            <a:ext cx="10195200" cy="184666"/>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spcAft>
                <a:spcPts val="0"/>
              </a:spcAft>
            </a:pPr>
            <a:r>
              <a:rPr lang="en-US" sz="600" b="0">
                <a:solidFill>
                  <a:schemeClr val="tx2"/>
                </a:solidFill>
                <a:latin typeface="Arial" panose="020B0604020202020204" pitchFamily="34" charset="0"/>
              </a:rPr>
              <a:t>Source: Internal financial statements</a:t>
            </a:r>
          </a:p>
          <a:p>
            <a:pPr rtl="0">
              <a:spcAft>
                <a:spcPts val="0"/>
              </a:spcAft>
            </a:pPr>
            <a:r>
              <a:rPr lang="en-US" sz="600" b="0">
                <a:solidFill>
                  <a:schemeClr val="tx2"/>
                </a:solidFill>
                <a:latin typeface="Arial" panose="020B0604020202020204" pitchFamily="34" charset="0"/>
              </a:rPr>
              <a:t>Note: Headcount represents FTEs and calculated based on an average of the ending FTEs for each of the 12 months in the fiscal period.</a:t>
            </a:r>
          </a:p>
        </p:txBody>
      </p:sp>
      <p:sp>
        <p:nvSpPr>
          <p:cNvPr id="17" name="TextBox 16">
            <a:extLst>
              <a:ext uri="{FF2B5EF4-FFF2-40B4-BE49-F238E27FC236}">
                <a16:creationId xmlns:a16="http://schemas.microsoft.com/office/drawing/2014/main" id="{185F81A2-C46E-CEE1-3B0D-FDE7E0772DF9}"/>
              </a:ext>
            </a:extLst>
          </p:cNvPr>
          <p:cNvSpPr txBox="1"/>
          <p:nvPr/>
        </p:nvSpPr>
        <p:spPr>
          <a:xfrm>
            <a:off x="1012614" y="1018537"/>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Below is a breakdown of total compensation on a reported basis. Annual average salaries per employee have increased 7.4% in FY22 and 4.3% in FY23.  </a:t>
            </a:r>
            <a:endParaRPr lang="en-US" sz="900" b="1">
              <a:solidFill>
                <a:schemeClr val="tx2"/>
              </a:solidFill>
            </a:endParaRPr>
          </a:p>
        </p:txBody>
      </p:sp>
      <p:sp>
        <p:nvSpPr>
          <p:cNvPr id="18" name="Text Placeholder 12">
            <a:extLst>
              <a:ext uri="{FF2B5EF4-FFF2-40B4-BE49-F238E27FC236}">
                <a16:creationId xmlns:a16="http://schemas.microsoft.com/office/drawing/2014/main" id="{7487247D-4CE5-08F7-BAB8-D2FE25E46E11}"/>
              </a:ext>
            </a:extLst>
          </p:cNvPr>
          <p:cNvSpPr txBox="1">
            <a:spLocks/>
          </p:cNvSpPr>
          <p:nvPr/>
        </p:nvSpPr>
        <p:spPr>
          <a:xfrm>
            <a:off x="4417541" y="1372076"/>
            <a:ext cx="6768519" cy="232371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l">
              <a:spcAft>
                <a:spcPts val="600"/>
              </a:spcAft>
            </a:pPr>
            <a:r>
              <a:rPr lang="en-US" sz="900" b="1">
                <a:solidFill>
                  <a:schemeClr val="tx2"/>
                </a:solidFill>
              </a:rPr>
              <a:t>Compensation:</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Base salary compensation accounts for $12.8 million in TTM Jun-24 which represents 75.7% of total compensation and 18.6% of total revenue. The rise in average employee cost from $97,000 to $110,000 is attributed to the replacement of departing senior staff at higher compensation rates and standard inflationary factors.</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The bonus structure consists of both short-term and long-term incentives. Short-term bonuses amount to $1.7 million in TTM June 2024 and are allocated to all employees, while long-term incentives totaling $558,000 are paid to executives. Long-term incentive compensation is earned annually based on predetermined financial and performance metrics and paid out after a 3-year vesting period.</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The Company incurred significant severance costs of $300,000 in TTM June 2024 due to terminations that occurred in FY23. Additionally, the Vice President of Operations and Client Services departed in February 2024. These expenses have been added back to the EBITDA through QofE adjustment #5.</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The Company received Canada emergency wage subsidy in FY21 as part of Covid-19 relief benefits. This has been excluded from EBITDA through QofE adjustment #13.</a:t>
            </a:r>
          </a:p>
          <a:p>
            <a:pPr marL="171450" indent="-171450">
              <a:buClr>
                <a:schemeClr val="bg1">
                  <a:lumMod val="50000"/>
                </a:schemeClr>
              </a:buClr>
              <a:buFont typeface="Arial" panose="020B0604020202020204" pitchFamily="34" charset="0"/>
              <a:buChar char="•"/>
            </a:pPr>
            <a:r>
              <a:rPr lang="en-US" sz="900" b="0">
                <a:solidFill>
                  <a:schemeClr val="tx1"/>
                </a:solidFill>
              </a:rPr>
              <a:t>Average headcount increased from 108 in FY21 to 116 in TTM June 2024 to support business growth. </a:t>
            </a:r>
            <a:endParaRPr lang="en-US" sz="900" b="0">
              <a:solidFill>
                <a:schemeClr val="tx1"/>
              </a:solidFill>
              <a:highlight>
                <a:srgbClr val="FFFF00"/>
              </a:highlight>
            </a:endParaRPr>
          </a:p>
        </p:txBody>
      </p:sp>
      <p:grpSp>
        <p:nvGrpSpPr>
          <p:cNvPr id="22" name="Group 21">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3"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4"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5"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6"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7"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8" name="Current Section6">
              <a:hlinkClick r:id="rId12"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6859493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sz="4000"/>
              <a:t>Lease reconciliation</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Leases</a:t>
            </a:r>
          </a:p>
        </p:txBody>
      </p:sp>
      <p:sp>
        <p:nvSpPr>
          <p:cNvPr id="5" name="TextBox 4">
            <a:extLst>
              <a:ext uri="{FF2B5EF4-FFF2-40B4-BE49-F238E27FC236}">
                <a16:creationId xmlns:a16="http://schemas.microsoft.com/office/drawing/2014/main" id="{E1E04E01-8861-B170-1B4A-36583278A904}"/>
              </a:ext>
            </a:extLst>
          </p:cNvPr>
          <p:cNvSpPr txBox="1"/>
          <p:nvPr/>
        </p:nvSpPr>
        <p:spPr>
          <a:xfrm>
            <a:off x="1002409" y="97155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Below is the reconciliation of lease rent calculated as per lease agreements and the rent expense provided in income statement.</a:t>
            </a:r>
          </a:p>
          <a:p>
            <a:pPr>
              <a:spcAft>
                <a:spcPts val="600"/>
              </a:spcAft>
            </a:pPr>
            <a:endParaRPr lang="en-US" sz="900" b="1">
              <a:solidFill>
                <a:schemeClr val="tx2"/>
              </a:solidFill>
            </a:endParaRPr>
          </a:p>
          <a:p>
            <a:pPr>
              <a:spcAft>
                <a:spcPts val="600"/>
              </a:spcAft>
            </a:pPr>
            <a:endParaRPr lang="en-US" sz="900" b="1">
              <a:solidFill>
                <a:schemeClr val="tx2"/>
              </a:solidFill>
            </a:endParaRPr>
          </a:p>
        </p:txBody>
      </p:sp>
      <p:sp>
        <p:nvSpPr>
          <p:cNvPr id="23" name="Text Placeholder 12">
            <a:extLst>
              <a:ext uri="{FF2B5EF4-FFF2-40B4-BE49-F238E27FC236}">
                <a16:creationId xmlns:a16="http://schemas.microsoft.com/office/drawing/2014/main" id="{7A847262-8B1F-F3C3-318B-CC8ED60549A5}"/>
              </a:ext>
            </a:extLst>
          </p:cNvPr>
          <p:cNvSpPr txBox="1">
            <a:spLocks/>
          </p:cNvSpPr>
          <p:nvPr/>
        </p:nvSpPr>
        <p:spPr>
          <a:xfrm>
            <a:off x="4114800" y="3490016"/>
            <a:ext cx="5490845" cy="1400383"/>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gn="l">
              <a:spcAft>
                <a:spcPts val="600"/>
              </a:spcAft>
            </a:pPr>
            <a:r>
              <a:rPr lang="en-US" sz="900">
                <a:solidFill>
                  <a:schemeClr val="tx2"/>
                </a:solidFill>
              </a:rPr>
              <a:t>Lease rent summary</a:t>
            </a:r>
            <a:r>
              <a:rPr lang="en-US" sz="900" b="1">
                <a:solidFill>
                  <a:schemeClr val="tx2"/>
                </a:solidFill>
              </a:rPr>
              <a:t>:</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The Company leased 17,905 sq. ft. of space for office premises beginning August 2016, divided into 15,573 sq. ft. of ground floor and 2,332 sq. ft. of concourse floor. Commencing August 2020 (signed in January 2020), the Company entered into a lease agreement for additional premises of 2,083 sq. ft. </a:t>
            </a:r>
          </a:p>
          <a:p>
            <a:pPr marL="171450" indent="-171450" algn="l">
              <a:spcAft>
                <a:spcPts val="600"/>
              </a:spcAft>
              <a:buClr>
                <a:schemeClr val="bg1">
                  <a:lumMod val="50000"/>
                </a:schemeClr>
              </a:buClr>
              <a:buFont typeface="Arial" panose="020B0604020202020204" pitchFamily="34" charset="0"/>
              <a:buChar char="•"/>
            </a:pPr>
            <a:r>
              <a:rPr lang="en-US" sz="900" b="0">
                <a:solidFill>
                  <a:schemeClr val="tx1"/>
                </a:solidFill>
              </a:rPr>
              <a:t>Due to the impact of Covid-19 in FY21, Management has determined that the additional space leased is redundant for business operations. As a result of vacant space, beginning in January 2024, a sublet agreement was established, allowing the Company to recover approximately 65% of the rent expense through subletting. Although the sublet lease begins in January 2024, the agreement includes a rent-free period from January 2024 to April 2024.</a:t>
            </a:r>
            <a:endParaRPr lang="en-US" sz="800" b="0" baseline="30000">
              <a:solidFill>
                <a:schemeClr val="tx1"/>
              </a:solidFill>
            </a:endParaRPr>
          </a:p>
        </p:txBody>
      </p:sp>
      <p:sp>
        <p:nvSpPr>
          <p:cNvPr id="8" name="Text Placeholder 12">
            <a:extLst>
              <a:ext uri="{FF2B5EF4-FFF2-40B4-BE49-F238E27FC236}">
                <a16:creationId xmlns:a16="http://schemas.microsoft.com/office/drawing/2014/main" id="{F048BB48-A07E-A394-2950-721B2D366FBA}"/>
              </a:ext>
            </a:extLst>
          </p:cNvPr>
          <p:cNvSpPr txBox="1">
            <a:spLocks/>
          </p:cNvSpPr>
          <p:nvPr/>
        </p:nvSpPr>
        <p:spPr>
          <a:xfrm>
            <a:off x="1022820" y="5911375"/>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(All): Lease agreements</a:t>
            </a:r>
          </a:p>
        </p:txBody>
      </p:sp>
      <p:pic>
        <p:nvPicPr>
          <p:cNvPr id="30" name="Picture 29">
            <a:extLst>
              <a:ext uri="{FF2B5EF4-FFF2-40B4-BE49-F238E27FC236}">
                <a16:creationId xmlns:a16="http://schemas.microsoft.com/office/drawing/2014/main" id="{BAB3D4E8-7297-5580-E472-59A878402CEE}"/>
              </a:ext>
            </a:extLst>
          </p:cNvPr>
          <p:cNvPicPr>
            <a:picLocks noChangeAspect="1"/>
          </p:cNvPicPr>
          <p:nvPr>
            <p:custDataLst>
              <p:tags r:id="rId2"/>
            </p:custDataLst>
          </p:nvPr>
        </p:nvPicPr>
        <p:blipFill>
          <a:blip r:embed="rId6"/>
          <a:stretch>
            <a:fillRect/>
          </a:stretch>
        </p:blipFill>
        <p:spPr>
          <a:xfrm>
            <a:off x="992302" y="1322560"/>
            <a:ext cx="8613343" cy="1994916"/>
          </a:xfrm>
          <a:prstGeom prst="rect">
            <a:avLst/>
          </a:prstGeom>
        </p:spPr>
      </p:pic>
      <p:pic>
        <p:nvPicPr>
          <p:cNvPr id="15" name="Picture 14">
            <a:extLst>
              <a:ext uri="{FF2B5EF4-FFF2-40B4-BE49-F238E27FC236}">
                <a16:creationId xmlns:a16="http://schemas.microsoft.com/office/drawing/2014/main" id="{2926F70B-FF18-F0F8-B0E9-6122430E5686}"/>
              </a:ext>
            </a:extLst>
          </p:cNvPr>
          <p:cNvPicPr>
            <a:picLocks noChangeAspect="1"/>
          </p:cNvPicPr>
          <p:nvPr>
            <p:custDataLst>
              <p:tags r:id="rId3"/>
            </p:custDataLst>
          </p:nvPr>
        </p:nvPicPr>
        <p:blipFill>
          <a:blip r:embed="rId7"/>
          <a:stretch>
            <a:fillRect/>
          </a:stretch>
        </p:blipFill>
        <p:spPr>
          <a:xfrm>
            <a:off x="1002409" y="3490016"/>
            <a:ext cx="2987680" cy="1814200"/>
          </a:xfrm>
          <a:prstGeom prst="rect">
            <a:avLst/>
          </a:prstGeom>
        </p:spPr>
      </p:pic>
      <p:grpSp>
        <p:nvGrpSpPr>
          <p:cNvPr id="21" name="Group 20">
            <a:extLst>
              <a:ext uri="{FF2B5EF4-FFF2-40B4-BE49-F238E27FC236}">
                <a16:creationId xmlns:a16="http://schemas.microsoft.com/office/drawing/2014/main" id="{AC0E6B6B-219E-350A-AC98-BE7393B5A511}"/>
              </a:ext>
            </a:extLst>
          </p:cNvPr>
          <p:cNvGrpSpPr/>
          <p:nvPr>
            <p:custDataLst>
              <p:tags r:id="rId4"/>
            </p:custDataLst>
          </p:nvPr>
        </p:nvGrpSpPr>
        <p:grpSpPr>
          <a:xfrm>
            <a:off x="995364" y="153170"/>
            <a:ext cx="5809688" cy="195814"/>
            <a:chOff x="995364" y="153170"/>
            <a:chExt cx="5809688" cy="195814"/>
          </a:xfrm>
        </p:grpSpPr>
        <p:sp>
          <p:nvSpPr>
            <p:cNvPr id="22"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4"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5"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6"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7"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8"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9773854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FD5-4B1D-1B7D-AF99-77DB1033C3F5}"/>
              </a:ext>
            </a:extLst>
          </p:cNvPr>
          <p:cNvSpPr>
            <a:spLocks noGrp="1"/>
          </p:cNvSpPr>
          <p:nvPr>
            <p:ph type="title"/>
          </p:nvPr>
        </p:nvSpPr>
        <p:spPr/>
        <p:txBody>
          <a:bodyPr/>
          <a:lstStyle/>
          <a:p>
            <a:r>
              <a:rPr lang="en-US" sz="4000"/>
              <a:t>Cash flow statement</a:t>
            </a:r>
          </a:p>
        </p:txBody>
      </p:sp>
      <p:sp>
        <p:nvSpPr>
          <p:cNvPr id="3" name="UpSlide SubSection Marker" hidden="1">
            <a:extLst>
              <a:ext uri="{FF2B5EF4-FFF2-40B4-BE49-F238E27FC236}">
                <a16:creationId xmlns:a16="http://schemas.microsoft.com/office/drawing/2014/main" id="{D5F66BFF-E816-D7A3-9E0B-C53C26C29FC7}"/>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ctr"/>
            <a:r>
              <a:rPr lang="en-US" sz="900">
                <a:solidFill>
                  <a:schemeClr val="bg1"/>
                </a:solidFill>
              </a:rPr>
              <a:t>Cash flow statement</a:t>
            </a:r>
          </a:p>
        </p:txBody>
      </p:sp>
      <p:sp>
        <p:nvSpPr>
          <p:cNvPr id="7" name="Text Placeholder 12">
            <a:extLst>
              <a:ext uri="{FF2B5EF4-FFF2-40B4-BE49-F238E27FC236}">
                <a16:creationId xmlns:a16="http://schemas.microsoft.com/office/drawing/2014/main" id="{C4426FC1-9584-95A9-F3EE-31244AA65305}"/>
              </a:ext>
            </a:extLst>
          </p:cNvPr>
          <p:cNvSpPr txBox="1">
            <a:spLocks/>
          </p:cNvSpPr>
          <p:nvPr/>
        </p:nvSpPr>
        <p:spPr>
          <a:xfrm>
            <a:off x="1011961" y="5876925"/>
            <a:ext cx="10195200" cy="92333"/>
          </a:xfrm>
          <a:prstGeom prst="rect">
            <a:avLst/>
          </a:prstGeom>
        </p:spPr>
        <p:txBody>
          <a:bodyPr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rtl="0"/>
            <a:r>
              <a:rPr lang="en-US" sz="600" b="0">
                <a:solidFill>
                  <a:schemeClr val="tx2"/>
                </a:solidFill>
                <a:latin typeface="Arial" panose="020B0604020202020204" pitchFamily="34" charset="0"/>
              </a:rPr>
              <a:t>Source: Internal financial statements</a:t>
            </a:r>
          </a:p>
        </p:txBody>
      </p:sp>
      <p:sp>
        <p:nvSpPr>
          <p:cNvPr id="27" name="TextBox 26">
            <a:extLst>
              <a:ext uri="{FF2B5EF4-FFF2-40B4-BE49-F238E27FC236}">
                <a16:creationId xmlns:a16="http://schemas.microsoft.com/office/drawing/2014/main" id="{B02C17E9-34C2-3479-3CDB-C7C110F3645E}"/>
              </a:ext>
            </a:extLst>
          </p:cNvPr>
          <p:cNvSpPr txBox="1"/>
          <p:nvPr/>
        </p:nvSpPr>
        <p:spPr>
          <a:xfrm>
            <a:off x="1001756" y="1037250"/>
            <a:ext cx="10215611" cy="283022"/>
          </a:xfrm>
          <a:prstGeom prst="rect">
            <a:avLst/>
          </a:prstGeom>
        </p:spPr>
        <p:txBody>
          <a:bodyPr vert="horz" wrap="square" lIns="0" tIns="0" rIns="0" bIns="0" rtlCol="0" anchor="t" anchorCtr="0">
            <a:noAutofit/>
          </a:bodyPr>
          <a:lstStyle/>
          <a:p>
            <a:pPr>
              <a:spcAft>
                <a:spcPts val="600"/>
              </a:spcAft>
            </a:pPr>
            <a:r>
              <a:rPr lang="en-US" sz="900" b="1">
                <a:solidFill>
                  <a:srgbClr val="510DBC"/>
                </a:solidFill>
              </a:rPr>
              <a:t>The Company continues to increase cash flows as a percentage of EBITDA from increased volume in transaction switching services and effective working capital management. </a:t>
            </a:r>
            <a:endParaRPr lang="en-US" sz="900" b="1">
              <a:solidFill>
                <a:schemeClr val="tx2"/>
              </a:solidFill>
            </a:endParaRPr>
          </a:p>
        </p:txBody>
      </p:sp>
      <p:pic>
        <p:nvPicPr>
          <p:cNvPr id="12" name="Picture 11">
            <a:extLst>
              <a:ext uri="{FF2B5EF4-FFF2-40B4-BE49-F238E27FC236}">
                <a16:creationId xmlns:a16="http://schemas.microsoft.com/office/drawing/2014/main" id="{CEF96E46-66E9-CAFB-3410-3DF8D75AACCD}"/>
              </a:ext>
            </a:extLst>
          </p:cNvPr>
          <p:cNvPicPr>
            <a:picLocks noChangeAspect="1"/>
          </p:cNvPicPr>
          <p:nvPr>
            <p:custDataLst>
              <p:tags r:id="rId2"/>
            </p:custDataLst>
          </p:nvPr>
        </p:nvPicPr>
        <p:blipFill>
          <a:blip r:embed="rId5"/>
          <a:stretch>
            <a:fillRect/>
          </a:stretch>
        </p:blipFill>
        <p:spPr>
          <a:xfrm>
            <a:off x="1011962" y="1336503"/>
            <a:ext cx="9897237" cy="4388242"/>
          </a:xfrm>
          <a:prstGeom prst="rect">
            <a:avLst/>
          </a:prstGeom>
        </p:spPr>
      </p:pic>
      <p:grpSp>
        <p:nvGrpSpPr>
          <p:cNvPr id="20" name="Group 1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1" name="Other Sections1">
              <a:hlinkClick r:id="rId6"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7"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8"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9"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Other Sections5">
              <a:hlinkClick r:id="rId10"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6" name="Current Section6">
              <a:hlinkClick r:id="rId11"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6664546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Object 11" hidden="1">
            <a:extLst>
              <a:ext uri="{FF2B5EF4-FFF2-40B4-BE49-F238E27FC236}">
                <a16:creationId xmlns:a16="http://schemas.microsoft.com/office/drawing/2014/main" id="{20F78EF8-D89E-48B8-AF71-972207512D48}"/>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12" name="Object 11" hidden="1">
                        <a:extLst>
                          <a:ext uri="{FF2B5EF4-FFF2-40B4-BE49-F238E27FC236}">
                            <a16:creationId xmlns:a16="http://schemas.microsoft.com/office/drawing/2014/main" id="{20F78EF8-D89E-48B8-AF71-972207512D4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67CDDA0-48F4-4ED8-B64D-52043303CE32}"/>
              </a:ext>
            </a:extLst>
          </p:cNvPr>
          <p:cNvSpPr>
            <a:spLocks noGrp="1"/>
          </p:cNvSpPr>
          <p:nvPr>
            <p:ph type="title"/>
          </p:nvPr>
        </p:nvSpPr>
        <p:spPr>
          <a:xfrm>
            <a:off x="995362" y="431800"/>
            <a:ext cx="10204452" cy="539750"/>
          </a:xfrm>
        </p:spPr>
        <p:txBody>
          <a:bodyPr vert="horz"/>
          <a:lstStyle/>
          <a:p>
            <a:r>
              <a:rPr lang="en-US"/>
              <a:t>Important notice</a:t>
            </a:r>
          </a:p>
        </p:txBody>
      </p:sp>
      <p:sp>
        <p:nvSpPr>
          <p:cNvPr id="9" name="Text Placeholder 8">
            <a:extLst>
              <a:ext uri="{FF2B5EF4-FFF2-40B4-BE49-F238E27FC236}">
                <a16:creationId xmlns:a16="http://schemas.microsoft.com/office/drawing/2014/main" id="{A6C464EB-F12A-400F-9ACA-6DD61F5011F8}"/>
              </a:ext>
            </a:extLst>
          </p:cNvPr>
          <p:cNvSpPr>
            <a:spLocks noGrp="1"/>
          </p:cNvSpPr>
          <p:nvPr>
            <p:ph type="body" sz="quarter" idx="10"/>
          </p:nvPr>
        </p:nvSpPr>
        <p:spPr>
          <a:xfrm>
            <a:off x="1003201" y="1000472"/>
            <a:ext cx="4968000" cy="4896503"/>
          </a:xfrm>
          <a:ln>
            <a:noFill/>
          </a:ln>
        </p:spPr>
        <p:txBody>
          <a:bodyPr lIns="91440" tIns="45720" rIns="91440" bIns="45720"/>
          <a:lstStyle/>
          <a:p>
            <a:pPr>
              <a:spcAft>
                <a:spcPts val="0"/>
              </a:spcAft>
            </a:pPr>
            <a:r>
              <a:rPr lang="en-US" sz="800" b="0" spc="-20">
                <a:solidFill>
                  <a:srgbClr val="00338D"/>
                </a:solidFill>
                <a:latin typeface="Arial"/>
              </a:rPr>
              <a:t>This report is provided to Everlink Payment Services Inc (“Client” or “You”) on a confidential basis pursuant to our engagement letter dated May 20, 2024 (“Engagement Letter”) and is subject in all respects to the terms and conditions of the Engagement Letter, including restrictions on use of this report by third parties. </a:t>
            </a:r>
          </a:p>
          <a:p>
            <a:pPr>
              <a:spcAft>
                <a:spcPts val="0"/>
              </a:spcAft>
            </a:pPr>
            <a:endParaRPr lang="en-US" sz="800" b="0" spc="-20">
              <a:solidFill>
                <a:srgbClr val="00338D"/>
              </a:solidFill>
              <a:latin typeface="Arial"/>
            </a:endParaRPr>
          </a:p>
          <a:p>
            <a:pPr>
              <a:spcAft>
                <a:spcPts val="0"/>
              </a:spcAft>
            </a:pPr>
            <a:r>
              <a:rPr lang="en-US" sz="800" b="0" spc="-20">
                <a:solidFill>
                  <a:srgbClr val="00338D"/>
                </a:solidFill>
                <a:latin typeface="Arial"/>
              </a:rPr>
              <a:t>If this report is received by any party other than Client, the recipient is placed on notice that this report has been prepared solely for Client’s benefit and its own use. KPMG LLP (“KPMG”) does not authorize recipient or any other party to rely on this report and any such reliance shall be at recipient’s sole risk. Therefore, KPMG shall have no liability or responsibility in respect of the advice, recommendations, or other information in this report to recipient or any other party other than Client. Further, this report and its contents may not be shared with or disclosed by the recipient to any party without the express written consent of Client and KPMG.</a:t>
            </a:r>
          </a:p>
          <a:p>
            <a:pPr>
              <a:spcAft>
                <a:spcPts val="0"/>
              </a:spcAft>
            </a:pPr>
            <a:endParaRPr lang="en-US" sz="800" b="0" spc="-20">
              <a:solidFill>
                <a:srgbClr val="00338D"/>
              </a:solidFill>
              <a:latin typeface="Arial"/>
            </a:endParaRPr>
          </a:p>
          <a:p>
            <a:pPr>
              <a:spcAft>
                <a:spcPts val="0"/>
              </a:spcAft>
            </a:pPr>
            <a:r>
              <a:rPr lang="en-US" sz="800" spc="-20">
                <a:solidFill>
                  <a:srgbClr val="1E49E2"/>
                </a:solidFill>
                <a:latin typeface="Arial"/>
              </a:rPr>
              <a:t>KPMG approach</a:t>
            </a:r>
          </a:p>
          <a:p>
            <a:pPr>
              <a:spcAft>
                <a:spcPts val="0"/>
              </a:spcAft>
            </a:pPr>
            <a:r>
              <a:rPr lang="en-US" sz="800" b="0" spc="-20">
                <a:solidFill>
                  <a:srgbClr val="00338D"/>
                </a:solidFill>
                <a:latin typeface="Arial"/>
              </a:rPr>
              <a:t>Our report makes reference to ‘KPMG Analysis’; this indicates only that we have (where specified) undertaken certain analytical activities on the underlying data to arrive at the information presented; we do not accept responsibility for the underlying data.</a:t>
            </a:r>
          </a:p>
          <a:p>
            <a:pPr>
              <a:spcAft>
                <a:spcPts val="0"/>
              </a:spcAft>
            </a:pPr>
            <a:endParaRPr lang="en-US" sz="800" b="0" spc="-20">
              <a:solidFill>
                <a:srgbClr val="00338D"/>
              </a:solidFill>
              <a:latin typeface="Arial"/>
            </a:endParaRPr>
          </a:p>
          <a:p>
            <a:pPr>
              <a:spcAft>
                <a:spcPts val="0"/>
              </a:spcAft>
            </a:pPr>
            <a:endParaRPr lang="en-US" sz="800" b="0" spc="-20">
              <a:solidFill>
                <a:srgbClr val="00338D"/>
              </a:solidFill>
              <a:latin typeface="Arial"/>
            </a:endParaRPr>
          </a:p>
          <a:p>
            <a:pPr>
              <a:spcAft>
                <a:spcPts val="0"/>
              </a:spcAft>
            </a:pPr>
            <a:r>
              <a:rPr lang="en-US" sz="800" b="0" spc="-20">
                <a:solidFill>
                  <a:srgbClr val="00338D"/>
                </a:solidFill>
                <a:latin typeface="Arial"/>
              </a:rPr>
              <a:t>The analysis of 'normalized'/'underlying‘ earnings and working capital is for indicative purposes only. We have sought to illustrate the effect on EBITDA/working capital of adjusting for those items identified in the course of our work that may be considered to be 'non-recurring' or 'exceptional' using criteria established by the Vendors/Target. However the selection and quantification of such adjustments are necessarily judgmental. Because there is no authoritative literature or common standard with respect to the calculation of 'normalized'/'underlying' earnings/working capital, there is no basis to state whether all appropriate and comparable adjustments have been made. In addition, while the adjustments may indeed relate to items which are 'non-recurring' or 'exceptional' or otherwise unrepresentative of the trend, it is possible that earnings/working capital for future periods may be affected by such items, which may be different from the historical items.</a:t>
            </a:r>
          </a:p>
          <a:p>
            <a:pPr>
              <a:spcAft>
                <a:spcPts val="0"/>
              </a:spcAft>
            </a:pPr>
            <a:endParaRPr lang="en-US" sz="800" b="0" spc="-20">
              <a:solidFill>
                <a:srgbClr val="00338D"/>
              </a:solidFill>
              <a:latin typeface="Arial"/>
            </a:endParaRPr>
          </a:p>
          <a:p>
            <a:pPr>
              <a:spcAft>
                <a:spcPts val="0"/>
              </a:spcAft>
            </a:pPr>
            <a:r>
              <a:rPr lang="en-US" sz="800" b="0" spc="-20">
                <a:solidFill>
                  <a:srgbClr val="00338D"/>
                </a:solidFill>
                <a:latin typeface="Arial"/>
              </a:rPr>
              <a:t>The last twelve months/LTM run rate analysis has been prepared for illustrative purposes. There is no authoritative literature or common standard with respect to the calculation of 'run rate' EBITDA, and therefore there is no basis on which to state whether, in the illustrative analysis of 'run rate‘ EBITDA, all appropriate and comparable adjustments have been made. We have set out in our report the basis on which items have been included in or excluded from the run rate calculations for particular years. It is for you to satisfy yourselves as to whether the items included or excluded are appropriate for your purposes. The decision as to what items should be included in or excluded from the calculation of 'run rate' EBITDA is highly judgmental; you may choose to interpret the information presented differently.</a:t>
            </a:r>
          </a:p>
          <a:p>
            <a:pPr>
              <a:spcAft>
                <a:spcPts val="0"/>
              </a:spcAft>
            </a:pPr>
            <a:endParaRPr lang="en-US" sz="800" b="0" spc="-20">
              <a:solidFill>
                <a:srgbClr val="00338D"/>
              </a:solidFill>
              <a:latin typeface="Arial"/>
            </a:endParaRPr>
          </a:p>
          <a:p>
            <a:pPr>
              <a:spcAft>
                <a:spcPts val="0"/>
              </a:spcAft>
            </a:pPr>
            <a:r>
              <a:rPr lang="en-US" sz="800" b="0" spc="-20">
                <a:solidFill>
                  <a:srgbClr val="00338D"/>
                </a:solidFill>
                <a:latin typeface="Arial"/>
              </a:rPr>
              <a:t>Some reporting sections contain links to supplementary data, such as Excel databooks. Access to such supplementary data is limited to the recipients of this report and may not be accessible by any third parties. Gaining access to areas within provided supplementary data or to any other online application of KPMG to where access was not granted is not allowed. </a:t>
            </a:r>
          </a:p>
          <a:p>
            <a:pPr>
              <a:spcAft>
                <a:spcPts val="0"/>
              </a:spcAft>
            </a:pPr>
            <a:endParaRPr lang="en-US" sz="800" b="0" spc="-20">
              <a:solidFill>
                <a:srgbClr val="00338D"/>
              </a:solidFill>
              <a:latin typeface="Arial"/>
            </a:endParaRPr>
          </a:p>
        </p:txBody>
      </p:sp>
      <p:sp>
        <p:nvSpPr>
          <p:cNvPr id="10" name="Text Placeholder 9">
            <a:extLst>
              <a:ext uri="{FF2B5EF4-FFF2-40B4-BE49-F238E27FC236}">
                <a16:creationId xmlns:a16="http://schemas.microsoft.com/office/drawing/2014/main" id="{8E541D50-C3B5-4BD2-98CB-B9973A410CDF}"/>
              </a:ext>
            </a:extLst>
          </p:cNvPr>
          <p:cNvSpPr>
            <a:spLocks noGrp="1"/>
          </p:cNvSpPr>
          <p:nvPr>
            <p:ph type="body" sz="quarter" idx="11"/>
          </p:nvPr>
        </p:nvSpPr>
        <p:spPr>
          <a:xfrm>
            <a:off x="6220799" y="971550"/>
            <a:ext cx="4968000" cy="4896502"/>
          </a:xfrm>
        </p:spPr>
        <p:txBody>
          <a:bodyPr lIns="91440" tIns="45720" rIns="91440" bIns="45720"/>
          <a:lstStyle/>
          <a:p>
            <a:pPr algn="just">
              <a:spcAft>
                <a:spcPts val="200"/>
              </a:spcAft>
              <a:defRPr/>
            </a:pPr>
            <a:endParaRPr lang="en-US" sz="800" b="0" spc="-20">
              <a:solidFill>
                <a:srgbClr val="00338D"/>
              </a:solidFill>
              <a:latin typeface="Arial"/>
            </a:endParaRPr>
          </a:p>
          <a:p>
            <a:pPr algn="just">
              <a:spcAft>
                <a:spcPts val="200"/>
              </a:spcAft>
            </a:pPr>
            <a:endParaRPr lang="en-US" sz="800" b="0" spc="-20">
              <a:latin typeface="Arial"/>
            </a:endParaRPr>
          </a:p>
        </p:txBody>
      </p:sp>
      <p:sp>
        <p:nvSpPr>
          <p:cNvPr id="76" name="UpSlide SubSection Marker" hidden="1">
            <a:extLst>
              <a:ext uri="{FF2B5EF4-FFF2-40B4-BE49-F238E27FC236}">
                <a16:creationId xmlns:a16="http://schemas.microsoft.com/office/drawing/2014/main" id="{8790AC6F-5EEB-0E96-BC28-41473ED8738B}"/>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Important notice</a:t>
            </a:r>
          </a:p>
        </p:txBody>
      </p:sp>
      <p:grpSp>
        <p:nvGrpSpPr>
          <p:cNvPr id="20" name="Group 19">
            <a:extLst>
              <a:ext uri="{FF2B5EF4-FFF2-40B4-BE49-F238E27FC236}">
                <a16:creationId xmlns:a16="http://schemas.microsoft.com/office/drawing/2014/main" id="{AC0E6B6B-219E-350A-AC98-BE7393B5A511}"/>
              </a:ext>
            </a:extLst>
          </p:cNvPr>
          <p:cNvGrpSpPr/>
          <p:nvPr>
            <p:custDataLst>
              <p:tags r:id="rId4"/>
            </p:custDataLst>
          </p:nvPr>
        </p:nvGrpSpPr>
        <p:grpSpPr>
          <a:xfrm>
            <a:off x="995364" y="153170"/>
            <a:ext cx="5809688" cy="195814"/>
            <a:chOff x="995364" y="153170"/>
            <a:chExt cx="5809688" cy="195814"/>
          </a:xfrm>
        </p:grpSpPr>
        <p:sp>
          <p:nvSpPr>
            <p:cNvPr id="21"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6"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170450877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a:t>Scope of work (1/3)</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3"/>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Scope of work</a:t>
            </a:r>
          </a:p>
        </p:txBody>
      </p:sp>
      <p:graphicFrame>
        <p:nvGraphicFramePr>
          <p:cNvPr id="2" name="Table 1">
            <a:extLst>
              <a:ext uri="{FF2B5EF4-FFF2-40B4-BE49-F238E27FC236}">
                <a16:creationId xmlns:a16="http://schemas.microsoft.com/office/drawing/2014/main" id="{90AD8836-1186-2E74-98AD-BBBA4A7DA351}"/>
              </a:ext>
            </a:extLst>
          </p:cNvPr>
          <p:cNvGraphicFramePr>
            <a:graphicFrameLocks noGrp="1"/>
          </p:cNvGraphicFramePr>
          <p:nvPr>
            <p:custDataLst>
              <p:tags r:id="rId4"/>
            </p:custDataLst>
            <p:extLst>
              <p:ext uri="{D42A27DB-BD31-4B8C-83A1-F6EECF244321}">
                <p14:modId xmlns:p14="http://schemas.microsoft.com/office/powerpoint/2010/main" val="596464194"/>
              </p:ext>
            </p:extLst>
          </p:nvPr>
        </p:nvGraphicFramePr>
        <p:xfrm>
          <a:off x="996492" y="1330325"/>
          <a:ext cx="10199014" cy="4557468"/>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8">
                  <a:extLst>
                    <a:ext uri="{9D8B030D-6E8A-4147-A177-3AD203B41FA5}">
                      <a16:colId xmlns:a16="http://schemas.microsoft.com/office/drawing/2014/main" val="20002"/>
                    </a:ext>
                  </a:extLst>
                </a:gridCol>
                <a:gridCol w="2180942">
                  <a:extLst>
                    <a:ext uri="{9D8B030D-6E8A-4147-A177-3AD203B41FA5}">
                      <a16:colId xmlns:a16="http://schemas.microsoft.com/office/drawing/2014/main" val="3738205697"/>
                    </a:ext>
                  </a:extLst>
                </a:gridCol>
              </a:tblGrid>
              <a:tr h="0">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1" u="none">
                          <a:solidFill>
                            <a:schemeClr val="bg1"/>
                          </a:solidFill>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1" u="none">
                          <a:solidFill>
                            <a:schemeClr val="bg1"/>
                          </a:solidFill>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005840">
                <a:tc>
                  <a:txBody>
                    <a:bodyPr/>
                    <a:lstStyle/>
                    <a:p>
                      <a:pPr>
                        <a:lnSpc>
                          <a:spcPct val="100000"/>
                        </a:lnSpc>
                        <a:spcBef>
                          <a:spcPts val="0"/>
                        </a:spcBef>
                        <a:spcAft>
                          <a:spcPts val="600"/>
                        </a:spcAft>
                      </a:pPr>
                      <a:r>
                        <a:rPr lang="en-US" sz="1000" b="1" u="none">
                          <a:solidFill>
                            <a:schemeClr val="tx2"/>
                          </a:solidFill>
                        </a:rPr>
                        <a:t>General</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Understand the Company’s financial statement preparation process, including:</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Finance function, financial reporting framework, and management reporting relationships (including processes, timing, structure of financial reporting, and interaction with the information/accounting systems); and</a:t>
                      </a:r>
                    </a:p>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Recent or contemplated changes in accounting principles, procedures, or estimates.</a:t>
                      </a:r>
                      <a:endParaRPr lang="en-US" sz="900" b="0" i="0" u="none">
                        <a:solidFill>
                          <a:schemeClr val="tx2"/>
                        </a:solidFill>
                        <a:latin typeface="+mn-lt"/>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1005840">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Quality of earnings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Propose adjustments to consolidated historical Earnings before Interest, Taxes, Depreciation</a:t>
                      </a:r>
                    </a:p>
                    <a:p>
                      <a:pPr marL="0" marR="0" lvl="2"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and Amortization (“EBITDA”) by considering:</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The Company’s proposed adjustments (i.e., Management, Pro forma, Due diligence and Run rate adjustments) including recent acquisitions, if any, restructuring initiatives, and other.</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The impact of significant new and lost customer relationships and service offerings;</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Pro forma impact of changes in headcount and vacancies, if any;</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The impact from related party transactions, if any;</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The impact of any changes in accounting policies (revenue recognition, provisions, management estimates, capitalization or adjusting entries on the reported results); and</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Large, unusual, or non-recurring events or transactions that may have distorted results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005840">
                <a:tc>
                  <a:txBody>
                    <a:bodyPr/>
                    <a:lstStyle/>
                    <a:p>
                      <a:pPr>
                        <a:lnSpc>
                          <a:spcPct val="100000"/>
                        </a:lnSpc>
                        <a:spcBef>
                          <a:spcPts val="0"/>
                        </a:spcBef>
                        <a:spcAft>
                          <a:spcPts val="600"/>
                        </a:spcAft>
                      </a:pPr>
                      <a:r>
                        <a:rPr lang="en-US" sz="1000" b="1" u="none">
                          <a:solidFill>
                            <a:schemeClr val="tx2"/>
                          </a:solidFill>
                        </a:rPr>
                        <a:t>Supporting analysis to Quality of Earnings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000000"/>
                          </a:solidFill>
                          <a:effectLst/>
                          <a:uLnTx/>
                          <a:uFillTx/>
                          <a:latin typeface="+mn-lt"/>
                          <a:ea typeface="+mn-ea"/>
                          <a:cs typeface="+mn-cs"/>
                        </a:rPr>
                        <a:t>Revenue analysis: </a:t>
                      </a:r>
                      <a:r>
                        <a:rPr kumimoji="0" lang="en-US" sz="1000" b="0" i="0" u="none" strike="noStrike" kern="1200" cap="none" spc="0" normalizeH="0" baseline="0" noProof="0">
                          <a:ln>
                            <a:noFill/>
                          </a:ln>
                          <a:solidFill>
                            <a:srgbClr val="000000"/>
                          </a:solidFill>
                          <a:effectLst/>
                          <a:uLnTx/>
                          <a:uFillTx/>
                          <a:latin typeface="+mn-lt"/>
                          <a:ea typeface="+mn-ea"/>
                          <a:cs typeface="+mn-cs"/>
                        </a:rPr>
                        <a:t>Obtain and read an analysis of the Company’s revenue and inquire about:</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Revenue by product, customer, geography (i.e., by province / other); and</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Annual recurring revenue, retention rates, customer churn, length of relationship, etc.</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70806084"/>
                  </a:ext>
                </a:extLst>
              </a:tr>
            </a:tbl>
          </a:graphicData>
        </a:graphic>
      </p:graphicFrame>
      <p:grpSp>
        <p:nvGrpSpPr>
          <p:cNvPr id="19" name="Group 18">
            <a:extLst>
              <a:ext uri="{FF2B5EF4-FFF2-40B4-BE49-F238E27FC236}">
                <a16:creationId xmlns:a16="http://schemas.microsoft.com/office/drawing/2014/main" id="{AC0E6B6B-219E-350A-AC98-BE7393B5A511}"/>
              </a:ext>
            </a:extLst>
          </p:cNvPr>
          <p:cNvGrpSpPr/>
          <p:nvPr>
            <p:custDataLst>
              <p:tags r:id="rId5"/>
            </p:custDataLst>
          </p:nvPr>
        </p:nvGrpSpPr>
        <p:grpSpPr>
          <a:xfrm>
            <a:off x="995364" y="153170"/>
            <a:ext cx="5809688" cy="195814"/>
            <a:chOff x="995364" y="153170"/>
            <a:chExt cx="5809688" cy="195814"/>
          </a:xfrm>
        </p:grpSpPr>
        <p:sp>
          <p:nvSpPr>
            <p:cNvPr id="20" name="Other Sections1">
              <a:hlinkClick r:id="rId9"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1" name="Other Sections2">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2" name="Other Sections3">
              <a:hlinkClick r:id="rId11"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3" name="Other Sections4">
              <a:hlinkClick r:id="rId12"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4" name="Other Sections5">
              <a:hlinkClick r:id="rId13"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5" name="Current Section6">
              <a:hlinkClick r:id="rId14"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custDataLst>
      <p:tags r:id="rId1"/>
    </p:custDataLst>
    <p:extLst>
      <p:ext uri="{BB962C8B-B14F-4D97-AF65-F5344CB8AC3E}">
        <p14:creationId xmlns:p14="http://schemas.microsoft.com/office/powerpoint/2010/main" val="12164743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a:t>Scope of work (2/3)</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Scope of work</a:t>
            </a:r>
          </a:p>
        </p:txBody>
      </p:sp>
      <p:graphicFrame>
        <p:nvGraphicFramePr>
          <p:cNvPr id="2" name="Table 1">
            <a:extLst>
              <a:ext uri="{FF2B5EF4-FFF2-40B4-BE49-F238E27FC236}">
                <a16:creationId xmlns:a16="http://schemas.microsoft.com/office/drawing/2014/main" id="{90AD8836-1186-2E74-98AD-BBBA4A7DA351}"/>
              </a:ext>
            </a:extLst>
          </p:cNvPr>
          <p:cNvGraphicFramePr>
            <a:graphicFrameLocks noGrp="1"/>
          </p:cNvGraphicFramePr>
          <p:nvPr>
            <p:custDataLst>
              <p:tags r:id="rId3"/>
            </p:custDataLst>
            <p:extLst>
              <p:ext uri="{D42A27DB-BD31-4B8C-83A1-F6EECF244321}">
                <p14:modId xmlns:p14="http://schemas.microsoft.com/office/powerpoint/2010/main" val="482053930"/>
              </p:ext>
            </p:extLst>
          </p:nvPr>
        </p:nvGraphicFramePr>
        <p:xfrm>
          <a:off x="996492" y="1330326"/>
          <a:ext cx="10199014" cy="4838628"/>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8">
                  <a:extLst>
                    <a:ext uri="{9D8B030D-6E8A-4147-A177-3AD203B41FA5}">
                      <a16:colId xmlns:a16="http://schemas.microsoft.com/office/drawing/2014/main" val="20002"/>
                    </a:ext>
                  </a:extLst>
                </a:gridCol>
                <a:gridCol w="2180942">
                  <a:extLst>
                    <a:ext uri="{9D8B030D-6E8A-4147-A177-3AD203B41FA5}">
                      <a16:colId xmlns:a16="http://schemas.microsoft.com/office/drawing/2014/main" val="3738205697"/>
                    </a:ext>
                  </a:extLst>
                </a:gridCol>
              </a:tblGrid>
              <a:tr h="282989">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1" u="none">
                          <a:solidFill>
                            <a:schemeClr val="bg1"/>
                          </a:solidFill>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1" u="none">
                          <a:solidFill>
                            <a:schemeClr val="bg1"/>
                          </a:solidFill>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644921">
                <a:tc>
                  <a:txBody>
                    <a:bodyPr/>
                    <a:lstStyle/>
                    <a:p>
                      <a:pPr>
                        <a:lnSpc>
                          <a:spcPct val="100000"/>
                        </a:lnSpc>
                        <a:spcBef>
                          <a:spcPts val="0"/>
                        </a:spcBef>
                        <a:spcAft>
                          <a:spcPts val="600"/>
                        </a:spcAft>
                      </a:pPr>
                      <a:r>
                        <a:rPr lang="en-US" sz="1000" b="1" u="none">
                          <a:solidFill>
                            <a:schemeClr val="tx2"/>
                          </a:solidFill>
                        </a:rPr>
                        <a:t>Supporting analysis to Quality of Earnings (continued)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000000"/>
                          </a:solidFill>
                          <a:effectLst/>
                          <a:uLnTx/>
                          <a:uFillTx/>
                          <a:latin typeface="+mn-lt"/>
                          <a:ea typeface="+mn-ea"/>
                          <a:cs typeface="+mn-cs"/>
                        </a:rPr>
                        <a:t>Cost structure: </a:t>
                      </a:r>
                      <a:r>
                        <a:rPr kumimoji="0" lang="en-US" sz="1000" b="0" i="0" u="none" strike="noStrike" kern="1200" cap="none" spc="0" normalizeH="0" baseline="0" noProof="0">
                          <a:ln>
                            <a:noFill/>
                          </a:ln>
                          <a:solidFill>
                            <a:srgbClr val="000000"/>
                          </a:solidFill>
                          <a:effectLst/>
                          <a:uLnTx/>
                          <a:uFillTx/>
                          <a:latin typeface="+mn-lt"/>
                          <a:ea typeface="+mn-ea"/>
                          <a:cs typeface="+mn-cs"/>
                        </a:rPr>
                        <a:t>Obtain and read an analysis of the Company’s operating expenses, commenting on:</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Key components and trends of cost of revenue (i.e., software, data center, merchant service fees, marketing agreements, etc.);</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Personnel expenses, including salaried and hourly labour, contractor costs, payroll-related costs, headcount, and average compensation costs by department (sales, marketing, general and administrative etc.);</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Capitalization of employee expenses, software and development costs and commissions; and</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Research and development and potential future costs savings.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1617479">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Working capital</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Obtain monthly details of the Company’s consolidated working capital and analyze and comment on:</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The composition of individual working capital accounts (e.g., trade receivables, accounts payable and accruals, etc.);</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Monthly working capital trends, metrics, and seasonality;</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Large, unusual, or non-operating items that may have affected normal working capital trends, (such as accruals for bonuses, capital accruals, month end vs quarter end differences, etc.); and</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Understanding the accounting impact of allowance for uncollectible amounts and other accruals requiring judgment.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730775">
                <a:tc>
                  <a:txBody>
                    <a:bodyPr/>
                    <a:lstStyle/>
                    <a:p>
                      <a:pPr>
                        <a:lnSpc>
                          <a:spcPct val="100000"/>
                        </a:lnSpc>
                        <a:spcBef>
                          <a:spcPts val="0"/>
                        </a:spcBef>
                        <a:spcAft>
                          <a:spcPts val="600"/>
                        </a:spcAft>
                      </a:pPr>
                      <a:r>
                        <a:rPr lang="en-US" sz="1000" b="1" u="none">
                          <a:solidFill>
                            <a:schemeClr val="tx2"/>
                          </a:solidFill>
                        </a:rPr>
                        <a:t>Supporting analysis to working capital</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000000"/>
                          </a:solidFill>
                          <a:effectLst/>
                          <a:uLnTx/>
                          <a:uFillTx/>
                          <a:latin typeface="+mn-lt"/>
                          <a:ea typeface="+mn-ea"/>
                          <a:cs typeface="+mn-cs"/>
                        </a:rPr>
                        <a:t>Accounts receivable: </a:t>
                      </a:r>
                      <a:r>
                        <a:rPr kumimoji="0" lang="en-US" sz="1000" b="0" i="0" u="none" strike="noStrike" kern="1200" cap="none" spc="0" normalizeH="0" baseline="0" noProof="0">
                          <a:ln>
                            <a:noFill/>
                          </a:ln>
                          <a:solidFill>
                            <a:srgbClr val="000000"/>
                          </a:solidFill>
                          <a:effectLst/>
                          <a:uLnTx/>
                          <a:uFillTx/>
                          <a:latin typeface="+mn-lt"/>
                          <a:ea typeface="+mn-ea"/>
                          <a:cs typeface="+mn-cs"/>
                        </a:rPr>
                        <a:t>Obtain and read an analysis of the Company’s accounts receivable and inquire about bad debt reserve, write-offs, adjustments, aging, and non-trade balances.</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000000"/>
                          </a:solidFill>
                          <a:effectLst/>
                          <a:uLnTx/>
                          <a:uFillTx/>
                          <a:latin typeface="+mn-lt"/>
                          <a:ea typeface="+mn-ea"/>
                          <a:cs typeface="+mn-cs"/>
                        </a:rPr>
                        <a:t>Prepaid expenses and other assets: </a:t>
                      </a:r>
                      <a:r>
                        <a:rPr kumimoji="0" lang="en-US" sz="1000" b="0" i="0" u="none" strike="noStrike" kern="1200" cap="none" spc="0" normalizeH="0" baseline="0" noProof="0">
                          <a:ln>
                            <a:noFill/>
                          </a:ln>
                          <a:solidFill>
                            <a:srgbClr val="000000"/>
                          </a:solidFill>
                          <a:effectLst/>
                          <a:uLnTx/>
                          <a:uFillTx/>
                          <a:latin typeface="+mn-lt"/>
                          <a:ea typeface="+mn-ea"/>
                          <a:cs typeface="+mn-cs"/>
                        </a:rPr>
                        <a:t>Obtain and read an analysis of the Company’s prepaid and other assets and comment on unusual items, significant fluctuations, and the existence of other balances to be potentially excluded from working capital.</a:t>
                      </a:r>
                    </a:p>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70806084"/>
                  </a:ext>
                </a:extLst>
              </a:tr>
            </a:tbl>
          </a:graphicData>
        </a:graphic>
      </p:graphicFrame>
      <p:grpSp>
        <p:nvGrpSpPr>
          <p:cNvPr id="19" name="Group 18">
            <a:extLst>
              <a:ext uri="{FF2B5EF4-FFF2-40B4-BE49-F238E27FC236}">
                <a16:creationId xmlns:a16="http://schemas.microsoft.com/office/drawing/2014/main" id="{AC0E6B6B-219E-350A-AC98-BE7393B5A511}"/>
              </a:ext>
            </a:extLst>
          </p:cNvPr>
          <p:cNvGrpSpPr/>
          <p:nvPr>
            <p:custDataLst>
              <p:tags r:id="rId4"/>
            </p:custDataLst>
          </p:nvPr>
        </p:nvGrpSpPr>
        <p:grpSpPr>
          <a:xfrm>
            <a:off x="995364" y="153170"/>
            <a:ext cx="5809688" cy="195814"/>
            <a:chOff x="995364" y="153170"/>
            <a:chExt cx="5809688" cy="195814"/>
          </a:xfrm>
        </p:grpSpPr>
        <p:sp>
          <p:nvSpPr>
            <p:cNvPr id="20"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1"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2"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3"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4"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5"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152060451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82117DC-2C84-404E-B4B0-36C44A82770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4" progId="TCLayout.ActiveDocument.1">
                  <p:embed/>
                </p:oleObj>
              </mc:Choice>
              <mc:Fallback>
                <p:oleObj name="think-cell Slide" r:id="rId6" imgW="395" imgH="394" progId="TCLayout.ActiveDocument.1">
                  <p:embed/>
                  <p:pic>
                    <p:nvPicPr>
                      <p:cNvPr id="6" name="Object 5" hidden="1">
                        <a:extLst>
                          <a:ext uri="{FF2B5EF4-FFF2-40B4-BE49-F238E27FC236}">
                            <a16:creationId xmlns:a16="http://schemas.microsoft.com/office/drawing/2014/main" id="{782117DC-2C84-404E-B4B0-36C44A82770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B03A8846-E250-4E84-B454-5D4D5664E615}"/>
              </a:ext>
            </a:extLst>
          </p:cNvPr>
          <p:cNvSpPr/>
          <p:nvPr/>
        </p:nvSpPr>
        <p:spPr>
          <a:xfrm>
            <a:off x="841326" y="1330325"/>
            <a:ext cx="10509347" cy="14827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35" name="Title 1">
            <a:extLst>
              <a:ext uri="{FF2B5EF4-FFF2-40B4-BE49-F238E27FC236}">
                <a16:creationId xmlns:a16="http://schemas.microsoft.com/office/drawing/2014/main" id="{3573C465-8148-4D59-B3A4-776CFD325086}"/>
              </a:ext>
            </a:extLst>
          </p:cNvPr>
          <p:cNvSpPr>
            <a:spLocks noGrp="1"/>
          </p:cNvSpPr>
          <p:nvPr>
            <p:ph type="title"/>
          </p:nvPr>
        </p:nvSpPr>
        <p:spPr>
          <a:xfrm>
            <a:off x="998400" y="431800"/>
            <a:ext cx="10195200" cy="533400"/>
          </a:xfrm>
        </p:spPr>
        <p:txBody>
          <a:bodyPr vert="horz"/>
          <a:lstStyle/>
          <a:p>
            <a:r>
              <a:rPr lang="en-US"/>
              <a:t>Scope of work (3/3)</a:t>
            </a:r>
          </a:p>
        </p:txBody>
      </p:sp>
      <p:sp>
        <p:nvSpPr>
          <p:cNvPr id="76" name="UpSlide SubSection Marker" hidden="1">
            <a:extLst>
              <a:ext uri="{FF2B5EF4-FFF2-40B4-BE49-F238E27FC236}">
                <a16:creationId xmlns:a16="http://schemas.microsoft.com/office/drawing/2014/main" id="{3E8723D6-CB67-BE1C-855A-42C9A066EFDE}"/>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Scope of work</a:t>
            </a:r>
          </a:p>
        </p:txBody>
      </p:sp>
      <p:graphicFrame>
        <p:nvGraphicFramePr>
          <p:cNvPr id="2" name="Table 1">
            <a:extLst>
              <a:ext uri="{FF2B5EF4-FFF2-40B4-BE49-F238E27FC236}">
                <a16:creationId xmlns:a16="http://schemas.microsoft.com/office/drawing/2014/main" id="{90AD8836-1186-2E74-98AD-BBBA4A7DA351}"/>
              </a:ext>
            </a:extLst>
          </p:cNvPr>
          <p:cNvGraphicFramePr>
            <a:graphicFrameLocks noGrp="1"/>
          </p:cNvGraphicFramePr>
          <p:nvPr>
            <p:custDataLst>
              <p:tags r:id="rId3"/>
            </p:custDataLst>
            <p:extLst>
              <p:ext uri="{D42A27DB-BD31-4B8C-83A1-F6EECF244321}">
                <p14:modId xmlns:p14="http://schemas.microsoft.com/office/powerpoint/2010/main" val="48830673"/>
              </p:ext>
            </p:extLst>
          </p:nvPr>
        </p:nvGraphicFramePr>
        <p:xfrm>
          <a:off x="996492" y="1330328"/>
          <a:ext cx="10199014" cy="4296828"/>
        </p:xfrm>
        <a:graphic>
          <a:graphicData uri="http://schemas.openxmlformats.org/drawingml/2006/table">
            <a:tbl>
              <a:tblPr firstRow="1" bandRow="1">
                <a:tableStyleId>{5C22544A-7EE6-4342-B048-85BDC9FD1C3A}</a:tableStyleId>
              </a:tblPr>
              <a:tblGrid>
                <a:gridCol w="1394991">
                  <a:extLst>
                    <a:ext uri="{9D8B030D-6E8A-4147-A177-3AD203B41FA5}">
                      <a16:colId xmlns:a16="http://schemas.microsoft.com/office/drawing/2014/main" val="20000"/>
                    </a:ext>
                  </a:extLst>
                </a:gridCol>
                <a:gridCol w="5968563">
                  <a:extLst>
                    <a:ext uri="{9D8B030D-6E8A-4147-A177-3AD203B41FA5}">
                      <a16:colId xmlns:a16="http://schemas.microsoft.com/office/drawing/2014/main" val="20001"/>
                    </a:ext>
                  </a:extLst>
                </a:gridCol>
                <a:gridCol w="654518">
                  <a:extLst>
                    <a:ext uri="{9D8B030D-6E8A-4147-A177-3AD203B41FA5}">
                      <a16:colId xmlns:a16="http://schemas.microsoft.com/office/drawing/2014/main" val="20002"/>
                    </a:ext>
                  </a:extLst>
                </a:gridCol>
                <a:gridCol w="2180942">
                  <a:extLst>
                    <a:ext uri="{9D8B030D-6E8A-4147-A177-3AD203B41FA5}">
                      <a16:colId xmlns:a16="http://schemas.microsoft.com/office/drawing/2014/main" val="3738205697"/>
                    </a:ext>
                  </a:extLst>
                </a:gridCol>
              </a:tblGrid>
              <a:tr h="285748">
                <a:tc>
                  <a:txBody>
                    <a:bodyPr/>
                    <a:lstStyle/>
                    <a:p>
                      <a:pPr>
                        <a:lnSpc>
                          <a:spcPct val="97000"/>
                        </a:lnSpc>
                        <a:spcBef>
                          <a:spcPts val="0"/>
                        </a:spcBef>
                        <a:spcAft>
                          <a:spcPts val="600"/>
                        </a:spcAft>
                      </a:pPr>
                      <a:r>
                        <a:rPr lang="en-US" sz="1000" b="1" u="none">
                          <a:solidFill>
                            <a:schemeClr val="bg1"/>
                          </a:solidFill>
                        </a:rPr>
                        <a:t>Area</a:t>
                      </a:r>
                    </a:p>
                  </a:txBody>
                  <a:tcPr marL="72000" marR="72000" marT="72000" marB="72000" anchor="ctr">
                    <a:lnL w="3175" cap="flat" cmpd="sng" algn="ctr">
                      <a:solidFill>
                        <a:schemeClr val="bg1">
                          <a:lumMod val="65000"/>
                        </a:schemeClr>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97000"/>
                        </a:lnSpc>
                        <a:spcBef>
                          <a:spcPts val="0"/>
                        </a:spcBef>
                        <a:spcAft>
                          <a:spcPts val="600"/>
                        </a:spcAft>
                      </a:pPr>
                      <a:r>
                        <a:rPr lang="en-US" sz="1000" b="1" u="none">
                          <a:solidFill>
                            <a:schemeClr val="bg1"/>
                          </a:solidFill>
                        </a:rPr>
                        <a:t>Description</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lnSpc>
                          <a:spcPct val="97000"/>
                        </a:lnSpc>
                        <a:spcBef>
                          <a:spcPts val="0"/>
                        </a:spcBef>
                        <a:spcAft>
                          <a:spcPts val="600"/>
                        </a:spcAft>
                      </a:pPr>
                      <a:r>
                        <a:rPr lang="en-US" sz="1000" b="1" u="none">
                          <a:solidFill>
                            <a:schemeClr val="bg1"/>
                          </a:solidFill>
                        </a:rPr>
                        <a:t>Status</a:t>
                      </a:r>
                    </a:p>
                  </a:txBody>
                  <a:tcPr marL="72000" marR="72000" marT="72000" marB="720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l">
                        <a:lnSpc>
                          <a:spcPct val="97000"/>
                        </a:lnSpc>
                        <a:spcBef>
                          <a:spcPts val="0"/>
                        </a:spcBef>
                        <a:spcAft>
                          <a:spcPts val="600"/>
                        </a:spcAft>
                      </a:pPr>
                      <a:r>
                        <a:rPr lang="en-US" sz="1000" b="1" u="none">
                          <a:solidFill>
                            <a:schemeClr val="bg1"/>
                          </a:solidFill>
                        </a:rPr>
                        <a:t>Comment</a:t>
                      </a:r>
                    </a:p>
                  </a:txBody>
                  <a:tcPr marL="72000" marR="72000" marT="72000" marB="72000" anchor="ctr">
                    <a:lnL w="9525" cap="flat" cmpd="sng" algn="ctr">
                      <a:solidFill>
                        <a:schemeClr val="bg1"/>
                      </a:solidFill>
                      <a:prstDash val="solid"/>
                      <a:round/>
                      <a:headEnd type="none" w="med" len="med"/>
                      <a:tailEnd type="none" w="med" len="med"/>
                    </a:lnL>
                    <a:lnR w="3175" cap="flat" cmpd="sng" algn="ctr">
                      <a:solidFill>
                        <a:schemeClr val="bg1">
                          <a:lumMod val="6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1"/>
                  </a:ext>
                </a:extLst>
              </a:tr>
              <a:tr h="1110961">
                <a:tc>
                  <a:txBody>
                    <a:bodyPr/>
                    <a:lstStyle/>
                    <a:p>
                      <a:pPr>
                        <a:lnSpc>
                          <a:spcPct val="100000"/>
                        </a:lnSpc>
                        <a:spcBef>
                          <a:spcPts val="0"/>
                        </a:spcBef>
                        <a:spcAft>
                          <a:spcPts val="600"/>
                        </a:spcAft>
                      </a:pPr>
                      <a:r>
                        <a:rPr lang="en-US" sz="1000" b="1" u="none">
                          <a:solidFill>
                            <a:schemeClr val="tx2"/>
                          </a:solidFill>
                        </a:rPr>
                        <a:t>Supporting analysis to working capital (continued)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1" i="0" u="none" strike="noStrike" kern="1200" cap="none" spc="0" normalizeH="0" baseline="0" noProof="0">
                          <a:ln>
                            <a:noFill/>
                          </a:ln>
                          <a:solidFill>
                            <a:srgbClr val="000000"/>
                          </a:solidFill>
                          <a:effectLst/>
                          <a:uLnTx/>
                          <a:uFillTx/>
                          <a:latin typeface="+mn-lt"/>
                          <a:ea typeface="+mn-ea"/>
                          <a:cs typeface="+mn-cs"/>
                        </a:rPr>
                        <a:t>Accounts payable, accrued liabilities, and other liabilities: </a:t>
                      </a:r>
                      <a:r>
                        <a:rPr kumimoji="0" lang="en-US" sz="1000" b="0" i="0" u="none" strike="noStrike" kern="1200" cap="none" spc="0" normalizeH="0" baseline="0" noProof="0">
                          <a:ln>
                            <a:noFill/>
                          </a:ln>
                          <a:solidFill>
                            <a:srgbClr val="000000"/>
                          </a:solidFill>
                          <a:effectLst/>
                          <a:uLnTx/>
                          <a:uFillTx/>
                          <a:latin typeface="+mn-lt"/>
                          <a:ea typeface="+mn-ea"/>
                          <a:cs typeface="+mn-cs"/>
                        </a:rPr>
                        <a:t>Obtain and read an analysis of the Company’s accounts payables and accrued liabilities and inquire about:</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Terms of trade with major vendors, aging analysis;</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Accrued liabilities, other current and non-current liabilities; and</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Deferred revenue/unearned revenue profile and recognition.</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16377961"/>
                  </a:ext>
                </a:extLst>
              </a:tr>
              <a:tr h="737899">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US" sz="1000" b="1" u="none">
                          <a:solidFill>
                            <a:schemeClr val="tx2"/>
                          </a:solidFill>
                        </a:rPr>
                        <a:t>Capital expenditure requirements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just"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Obtain and read an analysis of the Company’s existing capital costs and inquire about:</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Capitalized labour trends (labour, software development and commission); and</a:t>
                      </a:r>
                    </a:p>
                    <a:p>
                      <a:pPr marL="171450" marR="0" lvl="2" indent="-171450" algn="just"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Other historical, deferred, and planned capital expenditures.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036348">
                <a:tc>
                  <a:txBody>
                    <a:bodyPr/>
                    <a:lstStyle/>
                    <a:p>
                      <a:pPr>
                        <a:lnSpc>
                          <a:spcPct val="100000"/>
                        </a:lnSpc>
                        <a:spcBef>
                          <a:spcPts val="0"/>
                        </a:spcBef>
                        <a:spcAft>
                          <a:spcPts val="600"/>
                        </a:spcAft>
                      </a:pPr>
                      <a:r>
                        <a:rPr lang="en-US" sz="1000" b="1" u="none">
                          <a:solidFill>
                            <a:schemeClr val="tx2"/>
                          </a:solidFill>
                        </a:rPr>
                        <a:t>Net debt/debt-like items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Summarize and comment on net debt items (on and off-balance sheet) presented by Management and other potential debt-like items;</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Consider whether elements of working capital have the nature of and may be reclassified as net debt, and if so, summarize the potential impact of these adjustments on working capital and net debt; and</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Commitment and contingencies</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9525"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85107240"/>
                  </a:ext>
                </a:extLst>
              </a:tr>
              <a:tr h="339293">
                <a:tc>
                  <a:txBody>
                    <a:bodyPr/>
                    <a:lstStyle/>
                    <a:p>
                      <a:pPr>
                        <a:lnSpc>
                          <a:spcPct val="100000"/>
                        </a:lnSpc>
                        <a:spcBef>
                          <a:spcPts val="0"/>
                        </a:spcBef>
                        <a:spcAft>
                          <a:spcPts val="600"/>
                        </a:spcAft>
                      </a:pPr>
                      <a:r>
                        <a:rPr lang="en-US" sz="1000" b="1" u="none">
                          <a:solidFill>
                            <a:schemeClr val="tx2"/>
                          </a:solidFill>
                        </a:rPr>
                        <a:t>Audit work papers (if required)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2"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Obtain and read audit working papers for the last two fiscal years and perform the following:</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Comment on the nature and volume of audit differences (recorded and unrecorded adjustments), use of accounting estimates, any changes in accounting policies or methods; and</a:t>
                      </a:r>
                    </a:p>
                    <a:p>
                      <a:pPr marL="171450" marR="0" lvl="2"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Read Management reports prepared by the external auditors and comment on control issues, and if applicable, discuss with auditor, accounting matters, or audit issues, if any.</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97000"/>
                        </a:lnSpc>
                        <a:spcBef>
                          <a:spcPts val="0"/>
                        </a:spcBef>
                        <a:spcAft>
                          <a:spcPts val="400"/>
                        </a:spcAft>
                      </a:pPr>
                      <a:r>
                        <a:rPr lang="en-US" sz="1100" u="none">
                          <a:solidFill>
                            <a:srgbClr val="269924"/>
                          </a:solidFill>
                          <a:sym typeface="Wingdings" panose="05000000000000000000" pitchFamily="2" charset="2"/>
                        </a:rPr>
                        <a:t></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80975" marR="0" lvl="2" indent="-18097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Completed</a:t>
                      </a:r>
                    </a:p>
                  </a:txBody>
                  <a:tcPr marL="72000" marR="72000" marT="72000" marB="72000">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rgbClr val="00338D"/>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14937108"/>
                  </a:ext>
                </a:extLst>
              </a:tr>
            </a:tbl>
          </a:graphicData>
        </a:graphic>
      </p:graphicFrame>
      <p:grpSp>
        <p:nvGrpSpPr>
          <p:cNvPr id="19" name="Group 18">
            <a:extLst>
              <a:ext uri="{FF2B5EF4-FFF2-40B4-BE49-F238E27FC236}">
                <a16:creationId xmlns:a16="http://schemas.microsoft.com/office/drawing/2014/main" id="{AC0E6B6B-219E-350A-AC98-BE7393B5A511}"/>
              </a:ext>
            </a:extLst>
          </p:cNvPr>
          <p:cNvGrpSpPr/>
          <p:nvPr>
            <p:custDataLst>
              <p:tags r:id="rId4"/>
            </p:custDataLst>
          </p:nvPr>
        </p:nvGrpSpPr>
        <p:grpSpPr>
          <a:xfrm>
            <a:off x="995364" y="153170"/>
            <a:ext cx="5809688" cy="195814"/>
            <a:chOff x="995364" y="153170"/>
            <a:chExt cx="5809688" cy="195814"/>
          </a:xfrm>
        </p:grpSpPr>
        <p:sp>
          <p:nvSpPr>
            <p:cNvPr id="20" name="Other Sections1">
              <a:hlinkClick r:id="rId8"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1" name="Other Sections2">
              <a:hlinkClick r:id="rId9"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2" name="Other Sections3">
              <a:hlinkClick r:id="rId10"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3" name="Other Sections4">
              <a:hlinkClick r:id="rId11"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4" name="Other Sections5">
              <a:hlinkClick r:id="rId12"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5" name="Current Section6">
              <a:hlinkClick r:id="rId13"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42341464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CFBC44A-7A48-4270-BAAE-0E9AD70010D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8CFBC44A-7A48-4270-BAAE-0E9AD70010D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A27FF840-EC8D-421B-9E8E-1F0BBB6BA6DF}"/>
              </a:ext>
            </a:extLst>
          </p:cNvPr>
          <p:cNvSpPr>
            <a:spLocks noGrp="1"/>
          </p:cNvSpPr>
          <p:nvPr>
            <p:ph type="title"/>
          </p:nvPr>
        </p:nvSpPr>
        <p:spPr>
          <a:xfrm>
            <a:off x="998400" y="412750"/>
            <a:ext cx="10195200" cy="533400"/>
          </a:xfrm>
        </p:spPr>
        <p:txBody>
          <a:bodyPr vert="horz"/>
          <a:lstStyle/>
          <a:p>
            <a:r>
              <a:rPr lang="en-US"/>
              <a:t>Glossary of terms and abbreviations (1/2)</a:t>
            </a:r>
          </a:p>
        </p:txBody>
      </p:sp>
      <p:sp>
        <p:nvSpPr>
          <p:cNvPr id="77" name="UpSlide SubSection Marker" hidden="1">
            <a:extLst>
              <a:ext uri="{FF2B5EF4-FFF2-40B4-BE49-F238E27FC236}">
                <a16:creationId xmlns:a16="http://schemas.microsoft.com/office/drawing/2014/main" id="{988E4D70-FD75-5429-6D31-427ECDA0DC25}"/>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Glossary of terms and abbreviations</a:t>
            </a:r>
          </a:p>
        </p:txBody>
      </p:sp>
      <p:graphicFrame>
        <p:nvGraphicFramePr>
          <p:cNvPr id="3" name="Table 2">
            <a:extLst>
              <a:ext uri="{FF2B5EF4-FFF2-40B4-BE49-F238E27FC236}">
                <a16:creationId xmlns:a16="http://schemas.microsoft.com/office/drawing/2014/main" id="{D9771896-3121-4533-941A-4BFD9BADBB75}"/>
              </a:ext>
            </a:extLst>
          </p:cNvPr>
          <p:cNvGraphicFramePr>
            <a:graphicFrameLocks noGrp="1"/>
          </p:cNvGraphicFramePr>
          <p:nvPr>
            <p:extLst>
              <p:ext uri="{D42A27DB-BD31-4B8C-83A1-F6EECF244321}">
                <p14:modId xmlns:p14="http://schemas.microsoft.com/office/powerpoint/2010/main" val="2482092029"/>
              </p:ext>
            </p:extLst>
          </p:nvPr>
        </p:nvGraphicFramePr>
        <p:xfrm>
          <a:off x="995363" y="1330325"/>
          <a:ext cx="4510702" cy="4546600"/>
        </p:xfrm>
        <a:graphic>
          <a:graphicData uri="http://schemas.openxmlformats.org/drawingml/2006/table">
            <a:tbl>
              <a:tblPr>
                <a:tableStyleId>{2D5ABB26-0587-4C30-8999-92F81FD0307C}</a:tableStyleId>
              </a:tblPr>
              <a:tblGrid>
                <a:gridCol w="1123196">
                  <a:extLst>
                    <a:ext uri="{9D8B030D-6E8A-4147-A177-3AD203B41FA5}">
                      <a16:colId xmlns:a16="http://schemas.microsoft.com/office/drawing/2014/main" val="3632175718"/>
                    </a:ext>
                  </a:extLst>
                </a:gridCol>
                <a:gridCol w="3387506">
                  <a:extLst>
                    <a:ext uri="{9D8B030D-6E8A-4147-A177-3AD203B41FA5}">
                      <a16:colId xmlns:a16="http://schemas.microsoft.com/office/drawing/2014/main" val="1552226208"/>
                    </a:ext>
                  </a:extLst>
                </a:gridCol>
              </a:tblGrid>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$'000</a:t>
                      </a:r>
                    </a:p>
                  </a:txBody>
                  <a:tcPr marL="7620" marR="7620" marT="7620" marB="0" anchor="b">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Thousands of Canadian Dollars</a:t>
                      </a:r>
                    </a:p>
                  </a:txBody>
                  <a:tcPr marL="7620" marR="7620" marT="7620" marB="0" anchor="b">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824289024"/>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AASB</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Auditing And Assurance Standards Board</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996890351"/>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AB</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Alberta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203251568"/>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ACI</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Automated Clearing House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980459337"/>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ACQ</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Annual contract quantity</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329187911"/>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AML</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Anti money laundering</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20267339"/>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Accounts payable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551484274"/>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API</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Application Programming Interface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939717833"/>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Accounts receivable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087186670"/>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ATM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Automated Teller Machine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235419979"/>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B2B</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Business-to-business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095279588"/>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B2P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Business-to-people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875834701"/>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BDO</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Binder Dijker Otte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017677781"/>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BHMI</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Baldwin Hackett And Meeks, Inc.</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601431653"/>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CAF</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Card Authorization Fee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053932033"/>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CAGR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Compound annual growth rate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109989078"/>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Capex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Capital expenditure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941397403"/>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CERS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Canadian Emergency Rent Subsidies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064714531"/>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CEWS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Canadian Emergency Wage Subsidies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49538021"/>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Client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Everlink Payment Services Inc.</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987943551"/>
                  </a:ext>
                </a:extLst>
              </a:tr>
            </a:tbl>
          </a:graphicData>
        </a:graphic>
      </p:graphicFrame>
      <p:graphicFrame>
        <p:nvGraphicFramePr>
          <p:cNvPr id="5" name="Table 4">
            <a:extLst>
              <a:ext uri="{FF2B5EF4-FFF2-40B4-BE49-F238E27FC236}">
                <a16:creationId xmlns:a16="http://schemas.microsoft.com/office/drawing/2014/main" id="{3A1F7961-AE97-0563-4414-3B1E13BE2D97}"/>
              </a:ext>
            </a:extLst>
          </p:cNvPr>
          <p:cNvGraphicFramePr>
            <a:graphicFrameLocks noGrp="1"/>
          </p:cNvGraphicFramePr>
          <p:nvPr>
            <p:extLst>
              <p:ext uri="{D42A27DB-BD31-4B8C-83A1-F6EECF244321}">
                <p14:modId xmlns:p14="http://schemas.microsoft.com/office/powerpoint/2010/main" val="970548774"/>
              </p:ext>
            </p:extLst>
          </p:nvPr>
        </p:nvGraphicFramePr>
        <p:xfrm>
          <a:off x="6401273" y="1330324"/>
          <a:ext cx="4798540" cy="4546600"/>
        </p:xfrm>
        <a:graphic>
          <a:graphicData uri="http://schemas.openxmlformats.org/drawingml/2006/table">
            <a:tbl>
              <a:tblPr>
                <a:tableStyleId>{2D5ABB26-0587-4C30-8999-92F81FD0307C}</a:tableStyleId>
              </a:tblPr>
              <a:tblGrid>
                <a:gridCol w="982753">
                  <a:extLst>
                    <a:ext uri="{9D8B030D-6E8A-4147-A177-3AD203B41FA5}">
                      <a16:colId xmlns:a16="http://schemas.microsoft.com/office/drawing/2014/main" val="2142781833"/>
                    </a:ext>
                  </a:extLst>
                </a:gridCol>
                <a:gridCol w="3815787">
                  <a:extLst>
                    <a:ext uri="{9D8B030D-6E8A-4147-A177-3AD203B41FA5}">
                      <a16:colId xmlns:a16="http://schemas.microsoft.com/office/drawing/2014/main" val="1052061700"/>
                    </a:ext>
                  </a:extLst>
                </a:gridCol>
              </a:tblGrid>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COGS</a:t>
                      </a:r>
                    </a:p>
                  </a:txBody>
                  <a:tcPr marL="7620" marR="7620" marT="7620" marB="0" anchor="b">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Cost of goods sold</a:t>
                      </a:r>
                    </a:p>
                  </a:txBody>
                  <a:tcPr marL="7620" marR="7620" marT="7620" marB="0" anchor="b">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483464296"/>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Corp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Corporation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674610075"/>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CUCA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Credit Union Central Alberta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670252498"/>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CUCM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Credit Union Central Manitoba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103606975"/>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CUCS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Credit Union Central Saskatchewan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549453332"/>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DCC</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Dynamic Currency Conversion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97725675"/>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DIO</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Days inventory outstanding</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711908604"/>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DMA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Direct Memory Access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618736715"/>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DPO</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Days payable outstanding</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381877337"/>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DSO</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Days sales outstanding</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073376966"/>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EBITDA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Earnings before interest, tax, depreciation and amortization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726888433"/>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EMV</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Europay, Mastercard And Visa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273780344"/>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ERP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Enterprise Resource Planning</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690937486"/>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FHM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From Host Maintenance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504578179"/>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FS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Financial statements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114022160"/>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FTE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Full-time equivalent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556669785"/>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FVTOCI</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Fair value through other comprehensive income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598549850"/>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FYXX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Financial Year Ending Xx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1063089"/>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FYXXA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Financial Year Ending Xx Actual</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860219948"/>
                  </a:ext>
                </a:extLst>
              </a:tr>
              <a:tr h="227330">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FYXXB</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Financial Year Ending Xx Budget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616102181"/>
                  </a:ext>
                </a:extLst>
              </a:tr>
            </a:tbl>
          </a:graphicData>
        </a:graphic>
      </p:graphicFrame>
      <p:grpSp>
        <p:nvGrpSpPr>
          <p:cNvPr id="20" name="Group 1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1"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6" name="Current Section6">
              <a:hlinkClick r:id="rId12"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1120165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8CFBC44A-7A48-4270-BAAE-0E9AD70010D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8CFBC44A-7A48-4270-BAAE-0E9AD70010D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A27FF840-EC8D-421B-9E8E-1F0BBB6BA6DF}"/>
              </a:ext>
            </a:extLst>
          </p:cNvPr>
          <p:cNvSpPr>
            <a:spLocks noGrp="1"/>
          </p:cNvSpPr>
          <p:nvPr>
            <p:ph type="title"/>
          </p:nvPr>
        </p:nvSpPr>
        <p:spPr>
          <a:xfrm>
            <a:off x="998400" y="431800"/>
            <a:ext cx="10195200" cy="533400"/>
          </a:xfrm>
        </p:spPr>
        <p:txBody>
          <a:bodyPr vert="horz"/>
          <a:lstStyle/>
          <a:p>
            <a:r>
              <a:rPr lang="en-US"/>
              <a:t>Glossary of terms and abbreviations (2/2)</a:t>
            </a:r>
          </a:p>
        </p:txBody>
      </p:sp>
      <p:sp>
        <p:nvSpPr>
          <p:cNvPr id="77" name="UpSlide SubSection Marker" hidden="1">
            <a:extLst>
              <a:ext uri="{FF2B5EF4-FFF2-40B4-BE49-F238E27FC236}">
                <a16:creationId xmlns:a16="http://schemas.microsoft.com/office/drawing/2014/main" id="{988E4D70-FD75-5429-6D31-427ECDA0DC25}"/>
              </a:ext>
            </a:extLst>
          </p:cNvPr>
          <p:cNvSpPr/>
          <p:nvPr>
            <p:custDataLst>
              <p:tags r:id="rId2"/>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Glossary of terms and abbreviations</a:t>
            </a:r>
          </a:p>
        </p:txBody>
      </p:sp>
      <p:graphicFrame>
        <p:nvGraphicFramePr>
          <p:cNvPr id="3" name="Table 2">
            <a:extLst>
              <a:ext uri="{FF2B5EF4-FFF2-40B4-BE49-F238E27FC236}">
                <a16:creationId xmlns:a16="http://schemas.microsoft.com/office/drawing/2014/main" id="{9010513F-2F9E-ED43-4798-CBD7CA1EEBF9}"/>
              </a:ext>
            </a:extLst>
          </p:cNvPr>
          <p:cNvGraphicFramePr>
            <a:graphicFrameLocks noGrp="1"/>
          </p:cNvGraphicFramePr>
          <p:nvPr>
            <p:extLst>
              <p:ext uri="{D42A27DB-BD31-4B8C-83A1-F6EECF244321}">
                <p14:modId xmlns:p14="http://schemas.microsoft.com/office/powerpoint/2010/main" val="2500085349"/>
              </p:ext>
            </p:extLst>
          </p:nvPr>
        </p:nvGraphicFramePr>
        <p:xfrm>
          <a:off x="995363" y="1330325"/>
          <a:ext cx="4520534" cy="4546608"/>
        </p:xfrm>
        <a:graphic>
          <a:graphicData uri="http://schemas.openxmlformats.org/drawingml/2006/table">
            <a:tbl>
              <a:tblPr>
                <a:tableStyleId>{2D5ABB26-0587-4C30-8999-92F81FD0307C}</a:tableStyleId>
              </a:tblPr>
              <a:tblGrid>
                <a:gridCol w="988516">
                  <a:extLst>
                    <a:ext uri="{9D8B030D-6E8A-4147-A177-3AD203B41FA5}">
                      <a16:colId xmlns:a16="http://schemas.microsoft.com/office/drawing/2014/main" val="4262709549"/>
                    </a:ext>
                  </a:extLst>
                </a:gridCol>
                <a:gridCol w="3532018">
                  <a:extLst>
                    <a:ext uri="{9D8B030D-6E8A-4147-A177-3AD203B41FA5}">
                      <a16:colId xmlns:a16="http://schemas.microsoft.com/office/drawing/2014/main" val="3929969099"/>
                    </a:ext>
                  </a:extLst>
                </a:gridCol>
              </a:tblGrid>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GL</a:t>
                      </a:r>
                    </a:p>
                  </a:txBody>
                  <a:tcPr marL="7620" marR="7620" marT="7620" marB="0" anchor="b">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General ledger</a:t>
                      </a:r>
                    </a:p>
                  </a:txBody>
                  <a:tcPr marL="7620" marR="7620" marT="7620" marB="0" anchor="b">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736330425"/>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GM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General manager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51666603"/>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GST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Goods And services tax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376828216"/>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HP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Hewlett Packard</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748744889"/>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HPUX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Hewlett Packard Unix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123792933"/>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HR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Human resources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283656338"/>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HST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Harmonized sales tax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591713138"/>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IAS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International Accounting Standards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752694370"/>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IDSW</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Internally developed software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131487355"/>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IFRS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International Financial Reporting Standards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955209175"/>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IMNA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Inter-Member Network Agreement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592451675"/>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ISO</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International Organization For Standardization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868504956"/>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IT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Information technology</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93473596"/>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KPI</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Key performance indicator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733272963"/>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LLP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Limited Liability Partnership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420259511"/>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LOB</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Line Of Business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602751239"/>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LTIP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Long-Term Incentive Plan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765810993"/>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Management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Management of the Client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625493093"/>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MAX</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Maximum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531668384"/>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MB</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Manitoba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380092411"/>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MIN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Minimum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338997707"/>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MSA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Master Service Agreement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582757649"/>
                  </a:ext>
                </a:extLst>
              </a:tr>
            </a:tbl>
          </a:graphicData>
        </a:graphic>
      </p:graphicFrame>
      <p:graphicFrame>
        <p:nvGraphicFramePr>
          <p:cNvPr id="5" name="Table 4">
            <a:extLst>
              <a:ext uri="{FF2B5EF4-FFF2-40B4-BE49-F238E27FC236}">
                <a16:creationId xmlns:a16="http://schemas.microsoft.com/office/drawing/2014/main" id="{58D88FEE-FDC5-933B-CDB0-E3C1BA1BBF23}"/>
              </a:ext>
            </a:extLst>
          </p:cNvPr>
          <p:cNvGraphicFramePr>
            <a:graphicFrameLocks noGrp="1"/>
          </p:cNvGraphicFramePr>
          <p:nvPr>
            <p:extLst>
              <p:ext uri="{D42A27DB-BD31-4B8C-83A1-F6EECF244321}">
                <p14:modId xmlns:p14="http://schemas.microsoft.com/office/powerpoint/2010/main" val="1219091906"/>
              </p:ext>
            </p:extLst>
          </p:nvPr>
        </p:nvGraphicFramePr>
        <p:xfrm>
          <a:off x="6440601" y="1330325"/>
          <a:ext cx="4759211" cy="4546608"/>
        </p:xfrm>
        <a:graphic>
          <a:graphicData uri="http://schemas.openxmlformats.org/drawingml/2006/table">
            <a:tbl>
              <a:tblPr>
                <a:tableStyleId>{2D5ABB26-0587-4C30-8999-92F81FD0307C}</a:tableStyleId>
              </a:tblPr>
              <a:tblGrid>
                <a:gridCol w="1031915">
                  <a:extLst>
                    <a:ext uri="{9D8B030D-6E8A-4147-A177-3AD203B41FA5}">
                      <a16:colId xmlns:a16="http://schemas.microsoft.com/office/drawing/2014/main" val="596174133"/>
                    </a:ext>
                  </a:extLst>
                </a:gridCol>
                <a:gridCol w="3727296">
                  <a:extLst>
                    <a:ext uri="{9D8B030D-6E8A-4147-A177-3AD203B41FA5}">
                      <a16:colId xmlns:a16="http://schemas.microsoft.com/office/drawing/2014/main" val="4072718902"/>
                    </a:ext>
                  </a:extLst>
                </a:gridCol>
              </a:tblGrid>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NWC</a:t>
                      </a:r>
                    </a:p>
                  </a:txBody>
                  <a:tcPr marL="7620" marR="7620" marT="7620" marB="0" anchor="b">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Net working capital</a:t>
                      </a:r>
                    </a:p>
                  </a:txBody>
                  <a:tcPr marL="7620" marR="7620" marT="7620" marB="0" anchor="b">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074388636"/>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OC</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Other considerations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124109992"/>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OIF</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Optional Issuer Fee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867002567"/>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ON</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Ontario</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717722367"/>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P2P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Peer-to-peer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6987429"/>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PNG</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Payment Network Gateway</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218674037"/>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POS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Point of sale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462284000"/>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PP&amp;E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Property, plant, And equipment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533598396"/>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PSCU</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Payment Systems for Credit Unions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851925747"/>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QofE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Quality of earnings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4100090143"/>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ROU</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Right of use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762459569"/>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SLA</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Service level agreement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757995069"/>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STP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Single touch payroll</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828643421"/>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TSP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Token Service Provider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901464288"/>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TTM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Trailing twelve months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955644534"/>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USD</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United States dollar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727771538"/>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VAP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Visa Analytics Platform</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343448289"/>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VCAS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Visa Consumer Authentication Service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550451"/>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VP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Vice President</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469761343"/>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WIP</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Work in progress</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3196749037"/>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YOY</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Year-over-year</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1271594799"/>
                  </a:ext>
                </a:extLst>
              </a:tr>
              <a:tr h="206664">
                <a:tc>
                  <a:txBody>
                    <a:bodyPr/>
                    <a:lstStyle/>
                    <a:p>
                      <a:pPr marL="0" algn="l" defTabSz="914400" rtl="0" eaLnBrk="1" fontAlgn="ctr" latinLnBrk="0" hangingPunct="1"/>
                      <a:r>
                        <a:rPr lang="en-US" sz="900" b="1" i="0" u="none" strike="noStrike" kern="1200">
                          <a:solidFill>
                            <a:srgbClr val="00338D"/>
                          </a:solidFill>
                          <a:effectLst/>
                          <a:latin typeface="Arial" panose="020B0604020202020204" pitchFamily="34" charset="0"/>
                          <a:ea typeface="+mn-ea"/>
                          <a:cs typeface="+mn-cs"/>
                        </a:rPr>
                        <a:t>YTD</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tc>
                  <a:txBody>
                    <a:bodyPr/>
                    <a:lstStyle/>
                    <a:p>
                      <a:pPr marL="0" algn="l" defTabSz="914400" rtl="0" eaLnBrk="1" fontAlgn="ctr" latinLnBrk="0" hangingPunct="1"/>
                      <a:r>
                        <a:rPr lang="en-US" sz="900" b="0" i="0" u="none" strike="noStrike" kern="1200">
                          <a:solidFill>
                            <a:srgbClr val="000000"/>
                          </a:solidFill>
                          <a:effectLst/>
                          <a:latin typeface="Arial" panose="020B0604020202020204" pitchFamily="34" charset="0"/>
                          <a:ea typeface="+mn-ea"/>
                          <a:cs typeface="+mn-cs"/>
                        </a:rPr>
                        <a:t>Year-to-date</a:t>
                      </a:r>
                    </a:p>
                  </a:txBody>
                  <a:tcPr marL="7620" marR="7620" marT="7620" marB="0" anchor="b">
                    <a:lnT w="12700" cap="flat" cmpd="sng" algn="ctr">
                      <a:solidFill>
                        <a:srgbClr val="00338D"/>
                      </a:solidFill>
                      <a:prstDash val="solid"/>
                      <a:round/>
                      <a:headEnd type="none" w="med" len="med"/>
                      <a:tailEnd type="none" w="med" len="med"/>
                    </a:lnT>
                    <a:lnB w="12700" cap="flat" cmpd="sng" algn="ctr">
                      <a:solidFill>
                        <a:srgbClr val="00338D"/>
                      </a:solidFill>
                      <a:prstDash val="solid"/>
                      <a:round/>
                      <a:headEnd type="none" w="med" len="med"/>
                      <a:tailEnd type="none" w="med" len="med"/>
                    </a:lnB>
                  </a:tcPr>
                </a:tc>
                <a:extLst>
                  <a:ext uri="{0D108BD9-81ED-4DB2-BD59-A6C34878D82A}">
                    <a16:rowId xmlns:a16="http://schemas.microsoft.com/office/drawing/2014/main" val="2759823978"/>
                  </a:ext>
                </a:extLst>
              </a:tr>
            </a:tbl>
          </a:graphicData>
        </a:graphic>
      </p:graphicFrame>
      <p:grpSp>
        <p:nvGrpSpPr>
          <p:cNvPr id="20" name="Group 19">
            <a:extLst>
              <a:ext uri="{FF2B5EF4-FFF2-40B4-BE49-F238E27FC236}">
                <a16:creationId xmlns:a16="http://schemas.microsoft.com/office/drawing/2014/main" id="{AC0E6B6B-219E-350A-AC98-BE7393B5A511}"/>
              </a:ext>
            </a:extLst>
          </p:cNvPr>
          <p:cNvGrpSpPr/>
          <p:nvPr>
            <p:custDataLst>
              <p:tags r:id="rId3"/>
            </p:custDataLst>
          </p:nvPr>
        </p:nvGrpSpPr>
        <p:grpSpPr>
          <a:xfrm>
            <a:off x="995364" y="153170"/>
            <a:ext cx="5809688" cy="195814"/>
            <a:chOff x="995364" y="153170"/>
            <a:chExt cx="5809688" cy="195814"/>
          </a:xfrm>
        </p:grpSpPr>
        <p:sp>
          <p:nvSpPr>
            <p:cNvPr id="21" name="Other Sections1">
              <a:hlinkClick r:id="rId7" action="ppaction://hlinksldjump"/>
              <a:extLst>
                <a:ext uri="{FF2B5EF4-FFF2-40B4-BE49-F238E27FC236}">
                  <a16:creationId xmlns:a16="http://schemas.microsoft.com/office/drawing/2014/main" id="{8A19844E-D291-CA81-3B22-2B52F21919DA}"/>
                </a:ext>
              </a:extLst>
            </p:cNvPr>
            <p:cNvSpPr>
              <a:spLocks/>
            </p:cNvSpPr>
            <p:nvPr/>
          </p:nvSpPr>
          <p:spPr>
            <a:xfrm>
              <a:off x="995364" y="153170"/>
              <a:ext cx="1043088"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Executive summary</a:t>
              </a:r>
            </a:p>
          </p:txBody>
        </p:sp>
        <p:sp>
          <p:nvSpPr>
            <p:cNvPr id="22" name="Other Sections2">
              <a:hlinkClick r:id="rId8" action="ppaction://hlinksldjump"/>
              <a:extLst>
                <a:ext uri="{FF2B5EF4-FFF2-40B4-BE49-F238E27FC236}">
                  <a16:creationId xmlns:a16="http://schemas.microsoft.com/office/drawing/2014/main" id="{8A19844E-D291-CA81-3B22-2B52F21919DA}"/>
                </a:ext>
              </a:extLst>
            </p:cNvPr>
            <p:cNvSpPr>
              <a:spLocks/>
            </p:cNvSpPr>
            <p:nvPr/>
          </p:nvSpPr>
          <p:spPr>
            <a:xfrm>
              <a:off x="2038452" y="153170"/>
              <a:ext cx="91164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Historical trading</a:t>
              </a:r>
            </a:p>
          </p:txBody>
        </p:sp>
        <p:sp>
          <p:nvSpPr>
            <p:cNvPr id="23" name="Other Sections3">
              <a:hlinkClick r:id="rId9" action="ppaction://hlinksldjump"/>
              <a:extLst>
                <a:ext uri="{FF2B5EF4-FFF2-40B4-BE49-F238E27FC236}">
                  <a16:creationId xmlns:a16="http://schemas.microsoft.com/office/drawing/2014/main" id="{8A19844E-D291-CA81-3B22-2B52F21919DA}"/>
                </a:ext>
              </a:extLst>
            </p:cNvPr>
            <p:cNvSpPr>
              <a:spLocks/>
            </p:cNvSpPr>
            <p:nvPr/>
          </p:nvSpPr>
          <p:spPr>
            <a:xfrm>
              <a:off x="2950094" y="153170"/>
              <a:ext cx="801035"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Balance sheet</a:t>
              </a:r>
            </a:p>
          </p:txBody>
        </p:sp>
        <p:sp>
          <p:nvSpPr>
            <p:cNvPr id="24" name="Other Sections4">
              <a:hlinkClick r:id="rId10" action="ppaction://hlinksldjump"/>
              <a:extLst>
                <a:ext uri="{FF2B5EF4-FFF2-40B4-BE49-F238E27FC236}">
                  <a16:creationId xmlns:a16="http://schemas.microsoft.com/office/drawing/2014/main" id="{8A19844E-D291-CA81-3B22-2B52F21919DA}"/>
                </a:ext>
              </a:extLst>
            </p:cNvPr>
            <p:cNvSpPr>
              <a:spLocks/>
            </p:cNvSpPr>
            <p:nvPr/>
          </p:nvSpPr>
          <p:spPr>
            <a:xfrm>
              <a:off x="3751129" y="153170"/>
              <a:ext cx="11889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Reporting environment</a:t>
              </a:r>
            </a:p>
          </p:txBody>
        </p:sp>
        <p:sp>
          <p:nvSpPr>
            <p:cNvPr id="25" name="Other Sections5">
              <a:hlinkClick r:id="rId11" action="ppaction://hlinksldjump"/>
              <a:extLst>
                <a:ext uri="{FF2B5EF4-FFF2-40B4-BE49-F238E27FC236}">
                  <a16:creationId xmlns:a16="http://schemas.microsoft.com/office/drawing/2014/main" id="{8A19844E-D291-CA81-3B22-2B52F21919DA}"/>
                </a:ext>
              </a:extLst>
            </p:cNvPr>
            <p:cNvSpPr>
              <a:spLocks/>
            </p:cNvSpPr>
            <p:nvPr/>
          </p:nvSpPr>
          <p:spPr>
            <a:xfrm>
              <a:off x="4940091" y="153170"/>
              <a:ext cx="1136062"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none" lIns="72000" tIns="36000" rIns="72000" bIns="36000" rtlCol="0" anchor="ctr">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a:solidFill>
                    <a:schemeClr val="bg2">
                      <a:lumMod val="75000"/>
                    </a:schemeClr>
                  </a:solidFill>
                  <a:latin typeface="Arial" panose="020B0604020202020204" pitchFamily="34" charset="0"/>
                  <a:cs typeface="Arial" panose="020B0604020202020204" pitchFamily="34" charset="0"/>
                </a:rPr>
                <a:t>Gross margin by LOB</a:t>
              </a:r>
            </a:p>
          </p:txBody>
        </p:sp>
        <p:sp>
          <p:nvSpPr>
            <p:cNvPr id="26" name="Current Section6">
              <a:hlinkClick r:id="rId12" action="ppaction://hlinksldjump"/>
              <a:extLst>
                <a:ext uri="{FF2B5EF4-FFF2-40B4-BE49-F238E27FC236}">
                  <a16:creationId xmlns:a16="http://schemas.microsoft.com/office/drawing/2014/main" id="{89A61135-1F00-E77F-7C78-5FBA241A5742}"/>
                </a:ext>
              </a:extLst>
            </p:cNvPr>
            <p:cNvSpPr>
              <a:spLocks/>
            </p:cNvSpPr>
            <p:nvPr/>
          </p:nvSpPr>
          <p:spPr>
            <a:xfrm>
              <a:off x="6076153" y="153170"/>
              <a:ext cx="728899" cy="195814"/>
            </a:xfrm>
            <a:prstGeom prst="rect">
              <a:avLst/>
            </a:prstGeom>
            <a:noFill/>
            <a:ln w="9525">
              <a:gradFill>
                <a:gsLst>
                  <a:gs pos="15000">
                    <a:schemeClr val="bg1">
                      <a:alpha val="0"/>
                      <a:lumMod val="100000"/>
                    </a:schemeClr>
                  </a:gs>
                  <a:gs pos="15000">
                    <a:schemeClr val="bg2">
                      <a:lumMod val="75000"/>
                    </a:schemeClr>
                  </a:gs>
                  <a:gs pos="85000">
                    <a:schemeClr val="bg2">
                      <a:lumMod val="75000"/>
                    </a:schemeClr>
                  </a:gs>
                  <a:gs pos="86000">
                    <a:schemeClr val="bg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72000" tIns="36000" rIns="72000" bIns="3600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lang="en-SG" sz="800" b="1">
                  <a:solidFill>
                    <a:schemeClr val="tx2"/>
                  </a:solidFill>
                  <a:latin typeface="Arial" panose="020B0604020202020204" pitchFamily="34" charset="0"/>
                  <a:cs typeface="Arial" panose="020B0604020202020204" pitchFamily="34" charset="0"/>
                </a:rPr>
                <a:t>Appendices</a:t>
              </a:r>
            </a:p>
          </p:txBody>
        </p:sp>
      </p:grpSp>
    </p:spTree>
    <p:extLst>
      <p:ext uri="{BB962C8B-B14F-4D97-AF65-F5344CB8AC3E}">
        <p14:creationId xmlns:p14="http://schemas.microsoft.com/office/powerpoint/2010/main" val="204160213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D8EEFE52-F9CD-44AD-9833-B34B83EB9D1B}"/>
              </a:ext>
            </a:extLst>
          </p:cNvPr>
          <p:cNvSpPr>
            <a:spLocks noGrp="1"/>
          </p:cNvSpPr>
          <p:nvPr>
            <p:ph type="body" sz="quarter" idx="10"/>
          </p:nvPr>
        </p:nvSpPr>
        <p:spPr/>
        <p:txBody>
          <a:bodyPr/>
          <a:lstStyle/>
          <a:p>
            <a:pPr lvl="1"/>
            <a:r>
              <a:rPr lang="en-US" altLang="en-US"/>
              <a:t>© 2024 KPMG LLP, an Ontario limited liability partnership and a member firm of the KPMG global organization of independent member firms affiliated with KPMG International Limited is a private English company limited by guarantee and does not provide services to clients. For more detail about our structure please visit </a:t>
            </a:r>
            <a:r>
              <a:rPr lang="en-US" altLang="en-US">
                <a:hlinkClick r:id="rId3" action="ppaction://hlinkfile">
                  <a:extLst>
                    <a:ext uri="{A12FA001-AC4F-418D-AE19-62706E023703}">
                      <ahyp:hlinkClr xmlns:ahyp="http://schemas.microsoft.com/office/drawing/2018/hyperlinkcolor" val="tx"/>
                    </a:ext>
                  </a:extLst>
                </a:hlinkClick>
              </a:rPr>
              <a:t>kpmg.com/governance</a:t>
            </a:r>
            <a:r>
              <a:rPr lang="en-US" altLang="en-US"/>
              <a:t>.</a:t>
            </a:r>
          </a:p>
          <a:p>
            <a:pPr lvl="1"/>
            <a:r>
              <a:rPr lang="en-US" altLang="en-US"/>
              <a:t>The KPMG name and logo are trademarks used under license by the independent member firms of the KPMG global organization.</a:t>
            </a:r>
          </a:p>
        </p:txBody>
      </p:sp>
      <p:sp>
        <p:nvSpPr>
          <p:cNvPr id="46" name="Text Placeholder 12">
            <a:extLst>
              <a:ext uri="{FF2B5EF4-FFF2-40B4-BE49-F238E27FC236}">
                <a16:creationId xmlns:a16="http://schemas.microsoft.com/office/drawing/2014/main" id="{14A7CD99-A3EC-42D3-8374-7920826F32EE}"/>
              </a:ext>
            </a:extLst>
          </p:cNvPr>
          <p:cNvSpPr txBox="1">
            <a:spLocks/>
          </p:cNvSpPr>
          <p:nvPr/>
        </p:nvSpPr>
        <p:spPr>
          <a:xfrm>
            <a:off x="995363" y="1330325"/>
            <a:ext cx="10195199" cy="387798"/>
          </a:xfrm>
          <a:prstGeom prst="rect">
            <a:avLst/>
          </a:prstGeom>
        </p:spPr>
        <p:txBody>
          <a:bodyPr wrap="square" lIns="0" tIns="0" rIns="0" bIns="0">
            <a:spAutoFit/>
          </a:bodyPr>
          <a:lstStyle>
            <a:lvl1pPr marL="0" indent="0" algn="l" defTabSz="914400" rtl="0" eaLnBrk="1" latinLnBrk="0" hangingPunct="1">
              <a:lnSpc>
                <a:spcPct val="100000"/>
              </a:lnSpc>
              <a:spcBef>
                <a:spcPts val="0"/>
              </a:spcBef>
              <a:spcAft>
                <a:spcPts val="600"/>
              </a:spcAft>
              <a:buFontTx/>
              <a:buNone/>
              <a:defRPr sz="1500" b="1" kern="1200">
                <a:solidFill>
                  <a:schemeClr val="accent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accent2"/>
                </a:solidFill>
                <a:latin typeface="+mn-lt"/>
                <a:ea typeface="+mn-ea"/>
                <a:cs typeface="+mn-cs"/>
              </a:defRPr>
            </a:lvl2pPr>
            <a:lvl3pPr marL="18097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3pPr>
            <a:lvl4pPr marL="361950"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a:solidFill>
                  <a:schemeClr val="accent2"/>
                </a:solidFill>
                <a:latin typeface="+mn-lt"/>
                <a:ea typeface="+mn-ea"/>
                <a:cs typeface="+mn-cs"/>
              </a:defRPr>
            </a:lvl4pPr>
            <a:lvl5pPr marL="542925" indent="-180975" algn="l" defTabSz="914400" rtl="0" eaLnBrk="1" latinLnBrk="0" hangingPunct="1">
              <a:lnSpc>
                <a:spcPct val="100000"/>
              </a:lnSpc>
              <a:spcBef>
                <a:spcPts val="0"/>
              </a:spcBef>
              <a:spcAft>
                <a:spcPts val="600"/>
              </a:spcAft>
              <a:buClrTx/>
              <a:buFont typeface="Arial" panose="020B0604020202020204" pitchFamily="34" charset="0"/>
              <a:buChar char="•"/>
              <a:defRPr sz="1500" kern="1200" baseline="0">
                <a:solidFill>
                  <a:schemeClr val="accent2"/>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a:lnSpc>
                <a:spcPct val="70000"/>
              </a:lnSpc>
              <a:spcAft>
                <a:spcPts val="0"/>
              </a:spcAft>
            </a:pPr>
            <a:r>
              <a:rPr lang="en-US" sz="3600" b="0" spc="-20">
                <a:solidFill>
                  <a:schemeClr val="bg1"/>
                </a:solidFill>
                <a:latin typeface="+mj-lt"/>
              </a:rPr>
              <a:t>The contacts at KPMG in connection with this report are:</a:t>
            </a:r>
          </a:p>
        </p:txBody>
      </p:sp>
      <p:sp>
        <p:nvSpPr>
          <p:cNvPr id="45" name="Isosceles Triangle 44">
            <a:extLst>
              <a:ext uri="{FF2B5EF4-FFF2-40B4-BE49-F238E27FC236}">
                <a16:creationId xmlns:a16="http://schemas.microsoft.com/office/drawing/2014/main" id="{8265D0DE-0EE4-4F51-A562-2D6D22119A48}"/>
              </a:ext>
            </a:extLst>
          </p:cNvPr>
          <p:cNvSpPr/>
          <p:nvPr/>
        </p:nvSpPr>
        <p:spPr>
          <a:xfrm rot="5400000">
            <a:off x="11877178"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7" name="Isosceles Triangle 46">
            <a:extLst>
              <a:ext uri="{FF2B5EF4-FFF2-40B4-BE49-F238E27FC236}">
                <a16:creationId xmlns:a16="http://schemas.microsoft.com/office/drawing/2014/main" id="{37FD5A71-E9A9-4FA6-AED8-54E17ACA5928}"/>
              </a:ext>
            </a:extLst>
          </p:cNvPr>
          <p:cNvSpPr/>
          <p:nvPr/>
        </p:nvSpPr>
        <p:spPr>
          <a:xfrm rot="16200000" flipH="1">
            <a:off x="11315057" y="179136"/>
            <a:ext cx="99161" cy="85483"/>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8" name="Oval 47">
            <a:hlinkClick r:id="" action="ppaction://hlinkshowjump?jump=nextslide"/>
            <a:extLst>
              <a:ext uri="{FF2B5EF4-FFF2-40B4-BE49-F238E27FC236}">
                <a16:creationId xmlns:a16="http://schemas.microsoft.com/office/drawing/2014/main" id="{4F9039CF-00DA-4F4B-82F6-081D6DA86417}"/>
              </a:ext>
            </a:extLst>
          </p:cNvPr>
          <p:cNvSpPr/>
          <p:nvPr/>
        </p:nvSpPr>
        <p:spPr>
          <a:xfrm>
            <a:off x="11799231"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sp>
        <p:nvSpPr>
          <p:cNvPr id="49" name="Oval 48">
            <a:hlinkClick r:id="" action="ppaction://hlinkshowjump?jump=previousslide"/>
            <a:extLst>
              <a:ext uri="{FF2B5EF4-FFF2-40B4-BE49-F238E27FC236}">
                <a16:creationId xmlns:a16="http://schemas.microsoft.com/office/drawing/2014/main" id="{70B96D97-53AA-4CB7-AB83-DD2A8BEA9F3C}"/>
              </a:ext>
            </a:extLst>
          </p:cNvPr>
          <p:cNvSpPr/>
          <p:nvPr/>
        </p:nvSpPr>
        <p:spPr>
          <a:xfrm flipH="1">
            <a:off x="11255557" y="103574"/>
            <a:ext cx="236608" cy="236608"/>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500">
              <a:solidFill>
                <a:schemeClr val="bg1"/>
              </a:solidFill>
            </a:endParaRPr>
          </a:p>
        </p:txBody>
      </p:sp>
      <p:pic>
        <p:nvPicPr>
          <p:cNvPr id="50" name="Graphic 49" descr="Home">
            <a:hlinkClick r:id="rId4" action="ppaction://hlinksldjump"/>
            <a:extLst>
              <a:ext uri="{FF2B5EF4-FFF2-40B4-BE49-F238E27FC236}">
                <a16:creationId xmlns:a16="http://schemas.microsoft.com/office/drawing/2014/main" id="{225AE20A-E583-452A-837D-35A761E41C05}"/>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1534459" y="103561"/>
            <a:ext cx="222478" cy="222478"/>
          </a:xfrm>
          <a:prstGeom prst="rect">
            <a:avLst/>
          </a:prstGeom>
        </p:spPr>
      </p:pic>
      <p:sp>
        <p:nvSpPr>
          <p:cNvPr id="2" name="UpSlide SubSection Marker" hidden="1">
            <a:extLst>
              <a:ext uri="{FF2B5EF4-FFF2-40B4-BE49-F238E27FC236}">
                <a16:creationId xmlns:a16="http://schemas.microsoft.com/office/drawing/2014/main" id="{5598FC92-B2FB-4C55-F412-83CA4B1AF8B0}"/>
              </a:ext>
            </a:extLst>
          </p:cNvPr>
          <p:cNvSpPr/>
          <p:nvPr>
            <p:custDataLst>
              <p:tags r:id="rId1"/>
            </p:custDataLst>
          </p:nvPr>
        </p:nvSpPr>
        <p:spPr>
          <a:xfrm>
            <a:off x="0" y="-254000"/>
            <a:ext cx="12700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p>
            <a:pPr algn="l"/>
            <a:r>
              <a:rPr lang="en-US" sz="1600">
                <a:solidFill>
                  <a:schemeClr val="bg1"/>
                </a:solidFill>
              </a:rPr>
              <a:t>Glossary of terms and abbreviations</a:t>
            </a:r>
          </a:p>
        </p:txBody>
      </p:sp>
      <p:sp>
        <p:nvSpPr>
          <p:cNvPr id="6" name="Text Placeholder 19">
            <a:extLst>
              <a:ext uri="{FF2B5EF4-FFF2-40B4-BE49-F238E27FC236}">
                <a16:creationId xmlns:a16="http://schemas.microsoft.com/office/drawing/2014/main" id="{1424D3BD-FA1E-E6BF-9A38-565CDECA2D4B}"/>
              </a:ext>
            </a:extLst>
          </p:cNvPr>
          <p:cNvSpPr txBox="1">
            <a:spLocks/>
          </p:cNvSpPr>
          <p:nvPr/>
        </p:nvSpPr>
        <p:spPr>
          <a:xfrm>
            <a:off x="1121839" y="2563054"/>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Eddie Chan</a:t>
            </a:r>
          </a:p>
          <a:p>
            <a:pPr lvl="1">
              <a:spcAft>
                <a:spcPts val="300"/>
              </a:spcAft>
            </a:pPr>
            <a:r>
              <a:rPr lang="en-US" sz="900">
                <a:solidFill>
                  <a:schemeClr val="bg1"/>
                </a:solidFill>
                <a:latin typeface="+mn-lt"/>
              </a:rPr>
              <a:t>Partner, Financial Due Diligence</a:t>
            </a:r>
          </a:p>
          <a:p>
            <a:pPr lvl="1" defTabSz="269868">
              <a:spcAft>
                <a:spcPts val="300"/>
              </a:spcAft>
            </a:pPr>
            <a:r>
              <a:rPr lang="en-US" sz="900" b="1">
                <a:solidFill>
                  <a:schemeClr val="bg1"/>
                </a:solidFill>
                <a:latin typeface="+mn-lt"/>
              </a:rPr>
              <a:t>T: </a:t>
            </a:r>
            <a:r>
              <a:rPr lang="en-US" sz="900">
                <a:solidFill>
                  <a:schemeClr val="bg1"/>
                </a:solidFill>
                <a:latin typeface="+mn-lt"/>
              </a:rPr>
              <a:t>+1 416 777 3301</a:t>
            </a:r>
          </a:p>
          <a:p>
            <a:pPr lvl="1" defTabSz="269868">
              <a:spcAft>
                <a:spcPts val="300"/>
              </a:spcAft>
            </a:pPr>
            <a:r>
              <a:rPr lang="en-US" sz="900" b="1">
                <a:solidFill>
                  <a:schemeClr val="bg1"/>
                </a:solidFill>
                <a:latin typeface="+mn-lt"/>
              </a:rPr>
              <a:t>E: </a:t>
            </a:r>
            <a:r>
              <a:rPr lang="en-US" sz="900">
                <a:solidFill>
                  <a:schemeClr val="bg1"/>
                </a:solidFill>
                <a:latin typeface="+mn-lt"/>
              </a:rPr>
              <a:t>eddiechan@kpmg.ca</a:t>
            </a:r>
          </a:p>
        </p:txBody>
      </p:sp>
      <p:sp>
        <p:nvSpPr>
          <p:cNvPr id="3" name="Text Placeholder 19">
            <a:extLst>
              <a:ext uri="{FF2B5EF4-FFF2-40B4-BE49-F238E27FC236}">
                <a16:creationId xmlns:a16="http://schemas.microsoft.com/office/drawing/2014/main" id="{8B453B32-6FF2-F925-BCFE-7EF1F167D0AD}"/>
              </a:ext>
            </a:extLst>
          </p:cNvPr>
          <p:cNvSpPr txBox="1">
            <a:spLocks/>
          </p:cNvSpPr>
          <p:nvPr/>
        </p:nvSpPr>
        <p:spPr>
          <a:xfrm>
            <a:off x="3481090" y="2561120"/>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Mike Mammoliti</a:t>
            </a:r>
          </a:p>
          <a:p>
            <a:pPr lvl="1">
              <a:spcAft>
                <a:spcPts val="300"/>
              </a:spcAft>
            </a:pPr>
            <a:r>
              <a:rPr lang="en-US" sz="900">
                <a:solidFill>
                  <a:schemeClr val="bg1"/>
                </a:solidFill>
                <a:latin typeface="+mn-lt"/>
              </a:rPr>
              <a:t>Partner, Financial Due Diligence</a:t>
            </a:r>
          </a:p>
          <a:p>
            <a:pPr lvl="1" defTabSz="269868">
              <a:spcAft>
                <a:spcPts val="300"/>
              </a:spcAft>
            </a:pPr>
            <a:r>
              <a:rPr lang="en-US" sz="900" b="1">
                <a:solidFill>
                  <a:schemeClr val="bg1"/>
                </a:solidFill>
                <a:latin typeface="+mn-lt"/>
              </a:rPr>
              <a:t>T: </a:t>
            </a:r>
            <a:r>
              <a:rPr lang="en-US" sz="900">
                <a:solidFill>
                  <a:schemeClr val="bg1"/>
                </a:solidFill>
                <a:latin typeface="+mn-lt"/>
              </a:rPr>
              <a:t>+1 416 777 8931</a:t>
            </a:r>
          </a:p>
          <a:p>
            <a:pPr lvl="1" defTabSz="269868">
              <a:spcAft>
                <a:spcPts val="300"/>
              </a:spcAft>
            </a:pPr>
            <a:r>
              <a:rPr lang="en-US" sz="900" b="1">
                <a:solidFill>
                  <a:schemeClr val="bg1"/>
                </a:solidFill>
                <a:latin typeface="+mn-lt"/>
              </a:rPr>
              <a:t>E: </a:t>
            </a:r>
            <a:r>
              <a:rPr lang="en-US" sz="900">
                <a:solidFill>
                  <a:schemeClr val="bg1"/>
                </a:solidFill>
                <a:latin typeface="+mn-lt"/>
              </a:rPr>
              <a:t>mmammoliti@kpmg.ca</a:t>
            </a:r>
          </a:p>
        </p:txBody>
      </p:sp>
      <p:sp>
        <p:nvSpPr>
          <p:cNvPr id="4" name="Text Placeholder 19">
            <a:extLst>
              <a:ext uri="{FF2B5EF4-FFF2-40B4-BE49-F238E27FC236}">
                <a16:creationId xmlns:a16="http://schemas.microsoft.com/office/drawing/2014/main" id="{6A889536-74F3-03A0-7DD7-4103876726B6}"/>
              </a:ext>
            </a:extLst>
          </p:cNvPr>
          <p:cNvSpPr txBox="1">
            <a:spLocks/>
          </p:cNvSpPr>
          <p:nvPr/>
        </p:nvSpPr>
        <p:spPr>
          <a:xfrm>
            <a:off x="5714782" y="2561120"/>
            <a:ext cx="2359251" cy="669414"/>
          </a:xfrm>
          <a:prstGeom prst="rect">
            <a:avLst/>
          </a:prstGeom>
        </p:spPr>
        <p:txBody>
          <a:bodyPr lIns="0" tIns="0" rIns="0" bIns="0">
            <a:spAutoFit/>
          </a:bodyPr>
          <a:lstStyle>
            <a:lvl1pPr marL="0" indent="0" algn="l" defTabSz="914423" rtl="0" eaLnBrk="1" latinLnBrk="0" hangingPunct="1">
              <a:lnSpc>
                <a:spcPct val="100000"/>
              </a:lnSpc>
              <a:spcBef>
                <a:spcPts val="600"/>
              </a:spcBef>
              <a:spcAft>
                <a:spcPts val="300"/>
              </a:spcAft>
              <a:buFontTx/>
              <a:buNone/>
              <a:defRPr sz="1000" b="1" kern="1200">
                <a:solidFill>
                  <a:schemeClr val="tx2"/>
                </a:solidFill>
                <a:latin typeface="Univers Condensed Light" panose="020B0306020202040204" pitchFamily="34" charset="0"/>
                <a:ea typeface="+mn-ea"/>
                <a:cs typeface="+mn-cs"/>
              </a:defRPr>
            </a:lvl1pPr>
            <a:lvl2pPr marL="0" indent="0" algn="l" defTabSz="914423" rtl="0" eaLnBrk="1" latinLnBrk="0" hangingPunct="1">
              <a:lnSpc>
                <a:spcPct val="100000"/>
              </a:lnSpc>
              <a:spcBef>
                <a:spcPts val="0"/>
              </a:spcBef>
              <a:spcAft>
                <a:spcPts val="600"/>
              </a:spcAft>
              <a:buClrTx/>
              <a:buFontTx/>
              <a:buNone/>
              <a:defRPr sz="1000" kern="1200">
                <a:solidFill>
                  <a:schemeClr val="tx1"/>
                </a:solidFill>
                <a:latin typeface="Univers Condensed Light" panose="020B0306020202040204" pitchFamily="34" charset="0"/>
                <a:ea typeface="+mn-ea"/>
                <a:cs typeface="+mn-cs"/>
              </a:defRPr>
            </a:lvl2pPr>
            <a:lvl3pPr marL="172800" indent="-172800"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3pPr>
            <a:lvl4pPr marL="360009" indent="-144003" algn="l" defTabSz="914423" rtl="0" eaLnBrk="1" latinLnBrk="0" hangingPunct="1">
              <a:lnSpc>
                <a:spcPct val="100000"/>
              </a:lnSpc>
              <a:spcBef>
                <a:spcPts val="0"/>
              </a:spcBef>
              <a:spcAft>
                <a:spcPts val="600"/>
              </a:spcAft>
              <a:buClrTx/>
              <a:buFont typeface="Arial" panose="020B0604020202020204" pitchFamily="34" charset="0"/>
              <a:buChar char="-"/>
              <a:defRPr sz="1000" kern="1200">
                <a:solidFill>
                  <a:schemeClr val="tx1"/>
                </a:solidFill>
                <a:latin typeface="Univers Condensed Light" panose="020B0306020202040204" pitchFamily="34" charset="0"/>
                <a:ea typeface="+mn-ea"/>
                <a:cs typeface="+mn-cs"/>
              </a:defRPr>
            </a:lvl4pPr>
            <a:lvl5pPr marL="576015" indent="-216006" algn="l" defTabSz="914423" rtl="0" eaLnBrk="1" latinLnBrk="0" hangingPunct="1">
              <a:lnSpc>
                <a:spcPct val="100000"/>
              </a:lnSpc>
              <a:spcBef>
                <a:spcPts val="0"/>
              </a:spcBef>
              <a:spcAft>
                <a:spcPts val="600"/>
              </a:spcAft>
              <a:buClrTx/>
              <a:buFont typeface="Arial" panose="020B0604020202020204" pitchFamily="34" charset="0"/>
              <a:buChar char="—"/>
              <a:defRPr sz="1000" kern="1200" baseline="0">
                <a:solidFill>
                  <a:schemeClr val="tx1"/>
                </a:solidFill>
                <a:latin typeface="Univers Condensed Light" panose="020B0306020202040204" pitchFamily="34" charset="0"/>
                <a:ea typeface="+mn-ea"/>
                <a:cs typeface="+mn-cs"/>
              </a:defRPr>
            </a:lvl5pPr>
            <a:lvl6pPr marL="1098027" indent="-2304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6pPr>
            <a:lvl7pPr marL="1371634" indent="-284408"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7pPr>
            <a:lvl8pPr marL="1645241" indent="-228606" algn="l" defTabSz="914423" rtl="0" eaLnBrk="1" latinLnBrk="0" hangingPunct="1">
              <a:lnSpc>
                <a:spcPct val="100000"/>
              </a:lnSpc>
              <a:spcBef>
                <a:spcPts val="0"/>
              </a:spcBef>
              <a:spcAft>
                <a:spcPts val="600"/>
              </a:spcAft>
              <a:buClr>
                <a:schemeClr val="tx2"/>
              </a:buClr>
              <a:buFont typeface="Arial" panose="020B0604020202020204" pitchFamily="34" charset="0"/>
              <a:buChar char="-"/>
              <a:defRPr sz="900" kern="1200">
                <a:solidFill>
                  <a:schemeClr val="tx2"/>
                </a:solidFill>
                <a:latin typeface="+mn-lt"/>
                <a:ea typeface="+mn-ea"/>
                <a:cs typeface="+mn-cs"/>
              </a:defRPr>
            </a:lvl8pPr>
            <a:lvl9pPr marL="3886297" indent="-228606" algn="l" defTabSz="91442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900">
                <a:solidFill>
                  <a:schemeClr val="bg1"/>
                </a:solidFill>
                <a:latin typeface="+mn-lt"/>
              </a:rPr>
              <a:t>Rishi Sharma</a:t>
            </a:r>
          </a:p>
          <a:p>
            <a:pPr lvl="1">
              <a:spcAft>
                <a:spcPts val="300"/>
              </a:spcAft>
            </a:pPr>
            <a:r>
              <a:rPr lang="en-US" sz="900">
                <a:solidFill>
                  <a:schemeClr val="bg1"/>
                </a:solidFill>
                <a:latin typeface="+mn-lt"/>
              </a:rPr>
              <a:t>Senior Manager, Financial Due Diligence</a:t>
            </a:r>
          </a:p>
          <a:p>
            <a:pPr lvl="1" defTabSz="269868">
              <a:spcAft>
                <a:spcPts val="300"/>
              </a:spcAft>
            </a:pPr>
            <a:r>
              <a:rPr lang="en-US" sz="900" b="1">
                <a:solidFill>
                  <a:schemeClr val="bg1"/>
                </a:solidFill>
                <a:latin typeface="+mn-lt"/>
              </a:rPr>
              <a:t>T: </a:t>
            </a:r>
            <a:r>
              <a:rPr lang="en-US" sz="900">
                <a:solidFill>
                  <a:schemeClr val="bg1"/>
                </a:solidFill>
                <a:latin typeface="+mn-lt"/>
              </a:rPr>
              <a:t>+1 416 791 2015</a:t>
            </a:r>
          </a:p>
          <a:p>
            <a:pPr lvl="1" defTabSz="269868">
              <a:spcAft>
                <a:spcPts val="300"/>
              </a:spcAft>
            </a:pPr>
            <a:r>
              <a:rPr lang="en-US" sz="900" b="1">
                <a:solidFill>
                  <a:schemeClr val="bg1"/>
                </a:solidFill>
                <a:latin typeface="+mn-lt"/>
              </a:rPr>
              <a:t>E: </a:t>
            </a:r>
            <a:r>
              <a:rPr lang="en-US" sz="900">
                <a:solidFill>
                  <a:schemeClr val="bg1"/>
                </a:solidFill>
                <a:latin typeface="+mn-lt"/>
              </a:rPr>
              <a:t>rishisharma@kpmg.ca</a:t>
            </a:r>
          </a:p>
        </p:txBody>
      </p:sp>
    </p:spTree>
    <p:extLst>
      <p:ext uri="{BB962C8B-B14F-4D97-AF65-F5344CB8AC3E}">
        <p14:creationId xmlns:p14="http://schemas.microsoft.com/office/powerpoint/2010/main" val="31039688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ONTUSED" val="KPMGFONT"/>
  <p:tag name="CREATEDBY" val="Global PowerPoint Toolbar"/>
  <p:tag name="TOOLBARVERSION" val="5.30a"/>
  <p:tag name="TYPE" val="ScreenWide"/>
  <p:tag name="KEYWORD" val="SCREENWIDE"/>
  <p:tag name="TEMPLATEVERSION" val="17/07/2017 11:56:04"/>
  <p:tag name="UPSLIDETOCALGOID" val="Standard"/>
  <p:tag name="UPSLIDE" val="KPM02442_Diligence + Template V2_10-05-2023"/>
  <p:tag name="UPSLIDEVERSION" val="6.8.39.3"/>
  <p:tag name="TEMPLATESHORTNAMETAG" val="Diligence+ Template"/>
  <p:tag name="TEMPLATEFULLNAMETAG" val="Diligence+ Template"/>
  <p:tag name="TEMPLATEDETAILSTAG" val="Diligence+ Template"/>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false&lt;/ContainsUnNumberedSections&gt;&#10;    &lt;SlideTitle&gt;Contents&lt;/SlideTitle&gt;&#10;  &lt;/TocSlidesOptions&gt;&#10;  &lt;SectionSlideOptions&gt;&#10;    &lt;ContainsOwnSubSection&gt;true&lt;/ContainsOwnSubSection&gt;&#10;    &lt;ContainsOwnSlide&gt;false&lt;/ContainsOwnSlide&gt;&#10;    &lt;ContainsOtherSections&gt;false&lt;/ContainsOtherSections&gt;&#10;    &lt;ContainsOthersSubsection&gt;false&lt;/ContainsOthersSubsection&gt;&#10;    &lt;containsAppendix&gt;true&lt;/containsAppendix&gt;&#10;    &lt;containsUnnumberedSections&gt;false&lt;/containsUnnumberedSections&gt;&#10;    &lt;SlideTitle /&gt;&#10;  &lt;/SectionSlideOptions&gt;&#10;  &lt;SubSectionSlideOptions&gt;&#10;    &lt;ContainsOtherSubsections&gt;false&lt;/ContainsOtherSubsections&gt;&#10;    &lt;ContainsOwnSlides&gt;true&lt;/ContainsOwnSlides&gt;&#10;    &lt;ContainsParentSection&gt;false&lt;/ContainsParentSection&gt;&#10;    &lt;ContainsOtherSections&gt;false&lt;/ContainsOtherSections&gt;&#10;    &lt;containsAppendix&gt;true&lt;/containsAppendix&gt;&#10;    &lt;containsUnnumberedSections&gt;false&lt;/containsUnnumberedSections&gt;&#10;    &lt;SlideTitle /&gt;&#10;  &lt;/SubSectionSlideOptions&gt;&#10;  &lt;UsedSlideLayouts&gt;&#10;    &lt;TocSlidesLayout&gt;&#10;      &lt;DesignName&gt;KPMG Widescreen - UpSlide&lt;/DesignName&gt;&#10;      &lt;LayoutName&gt;Title Only&lt;/LayoutName&gt;&#10;    &lt;/TocSlidesLayout&gt;&#10;    &lt;SectionLayout&gt;&#10;      &lt;DesignName&gt;KPMG Widescreen - UpSlide&lt;/DesignName&gt;&#10;      &lt;LayoutName&gt;Section Divider&lt;/LayoutName&gt;&#10;    &lt;/SectionLayout&gt;&#10;    &lt;SubsectionLayout&gt;&#10;      &lt;DesignName&gt;KPMG Widescreen - UpSlide&lt;/DesignName&gt;&#10;      &lt;LayoutName&gt;Subsection Divider&lt;/LayoutName&gt;&#10;    &lt;/SubsectionLayout&gt;&#10;    &lt;AppendixLayout&gt;&#10;      &lt;DesignName&gt;KPMG Widescreen - UpSlide&lt;/DesignName&gt;&#10;      &lt;LayoutName&gt;Section Divider&lt;/LayoutName&gt;&#10;    &lt;/AppendixLayout&gt;&#10;    &lt;TitleSliLayout&gt;&#10;      &lt;DesignName&gt;KPMG Widescreen - UpSlide&lt;/DesignName&gt;&#10;      &lt;LayoutName&gt;TITLE SLIDE Left Horizontal Window_KPMG Blue&lt;/LayoutName&gt;&#10;    &lt;/TitleSliLayout&gt;&#10;  &lt;/UsedSlideLayouts&gt;&#10;  &lt;ActiveReminders&gt;&#10;    &lt;ReminderScriptList&gt;&#10;      &lt;ReminderScript&gt;&#10;        &lt;Key xsi:type=&quot;xsd:string&quot;&gt;Reminder28/07/2016 10:55:40833312551&lt;/Key&gt;&#10;        &lt;Value xsi:type=&quot;xsd:string&quot;&gt;&amp;lt;%SectionName%&amp;gt;&amp;lt;%SpaceIfInSubSec%&amp;gt;&amp;lt;%TiretIfInSubSec%&amp;gt;&amp;lt;%SpaceIfInSubSec%&amp;gt;&amp;lt;%SubSectionName%&amp;gt;&lt;/Value&gt;&#10;      &lt;/ReminderScript&gt;&#10;    &lt;/ReminderScriptList&gt;&#10;    &lt;MigrationVersion&gt;6.8.8.1&lt;/MigrationVersion&gt;&#10;  &lt;/ActiveReminders&gt;&#10;  &lt;HardRefreshRequired&gt;fals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true&lt;/ShowSlideIndex&gt;&#10;      &lt;myColorOfNonCurrentItems&gt;&#10;        &lt;UseFixedColor&gt;true&lt;/UseFixedColor&gt;&#10;        &lt;R&gt;140&lt;/R&gt;&#10;        &lt;G&gt;205&lt;/G&gt;&#10;        &lt;B&gt;238&lt;/B&gt;&#10;      &lt;/myColorOfNonCurrentItems&gt;&#10;      &lt;currentItemFormat&gt;&#10;        &lt;UseBanner&gt;false&lt;/UseBanner&gt;&#10;        &lt;BannerFillR&gt;0&lt;/BannerFillR&gt;&#10;        &lt;BannerFillG&gt;0&lt;/BannerFillG&gt;&#10;        &lt;BannerFillB&gt;0&lt;/BannerFillB&gt;&#10;        &lt;ForceBold&gt;false&lt;/ForceBold&gt;&#10;        &lt;ApplyToSubSections&gt;true&lt;/ApplyToSubSections&gt;&#10;        &lt;ApplyToSectionsOnSubSectionDividers&gt;fals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1&lt;/Shading&gt;&#10;      &lt;/nonCurrentItemAttenuation&gt;&#10;      &lt;ForceDisplayTOCOnTwocolumns&gt;true&lt;/ForceDisplayTOCOnTwocolumns&gt;&#10;      &lt;DisplayTOCOnTwocolumns&gt;true&lt;/DisplayTOCOnTwocolumns&gt;&#10;      &lt;Scripts&gt;&#10;        &lt;BeforeSubSecTitle /&gt;&#10;        &lt;BeforeSlideIndex /&gt;&#10;        &lt;AfterSecNum /&gt;&#10;        &lt;BeforeSecNum&gt;0&lt;/BeforeSecNum&gt;&#10;        &lt;AfterSubSecNum /&gt;&#10;        &lt;BeforeSubSecNum /&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5&lt;/SpaceBeforeSections&gt;&#10;          &lt;SpaceBeforeSubSections&gt;1&lt;/SpaceBeforeSubSections&gt;&#10;          &lt;SpaceBeforeSlides&gt;0&lt;/SpaceBeforeSlides&gt;&#10;        &lt;/ManualSpacing&gt;&#10;        &lt;ManualSpacingSections&gt;&#10;          &lt;SpaceBeforeSections&gt;0&lt;/SpaceBeforeSections&gt;&#10;          &lt;SpaceBeforeSubSections&gt;0&lt;/SpaceBeforeSubSections&gt;&#10;          &lt;SpaceBeforeSlides&gt;0&lt;/SpaceBeforeSlides&gt;&#10;        &lt;/ManualSpacingSections&gt;&#10;        &lt;ManualSpacingSubSections&gt;&#10;          &lt;SpaceBeforeSections&gt;17.4750233&lt;/SpaceBeforeSections&gt;&#10;          &lt;SpaceBeforeSubSections&gt;11.6500158&lt;/SpaceBeforeSubSections&gt;&#10;          &lt;SpaceBeforeSlides&gt;5.82500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gt;false&lt;/SubSectionsHaveSlide&gt;&#10;    &lt;SectionDividersContainOwnSubSections&gt;true&lt;/SectionDividersContainOwnSubSections&gt;&#10;    &lt;SectionDividersContainOwnSlideTitles&gt;true&lt;/SectionDividersContainOwnSlideTitles&gt;&#10;    &lt;SubSectionDividersContainOwnSlideTitles&gt;false&lt;/SubSectionDividersContainOwnSlideTitles&gt;&#10;    &lt;TOCSlidesContainSubsectionTitles xsi:nil=&quot;true&quot; /&gt;&#10;    &lt;TOCSlidesContainSlideTitles xsi:nil=&quot;true&quot; /&gt;&#10;    &lt;DisplayRemindersOnSlides&gt;false&lt;/DisplayRemindersOnSlides&gt;&#10;    &lt;SectionsHaveSlide&gt;true&lt;/SectionsHaveSlide&gt;&#10;    &lt;DoNotCountHiddenSlidesInPagination&gt;false&lt;/DoNotCountHiddenSlidesInPagination&gt;&#10;  &lt;/UserPresentationOptions&gt;&#10;  &lt;XmlSubSectionsHaveSlide&gt;true&lt;/XmlSubSectionsHaveSlide&gt;&#10;  &lt;AllowDuplicateTitleSlides&gt;fals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Lst>
</file>

<file path=ppt/tags/tag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3.xml><?xml version="1.0" encoding="utf-8"?>
<p:tagLst xmlns:a="http://schemas.openxmlformats.org/drawingml/2006/main" xmlns:r="http://schemas.openxmlformats.org/officeDocument/2006/relationships" xmlns:p="http://schemas.openxmlformats.org/presentationml/2006/main">
  <p:tag name="ADV_DRAFT" val="TRUE"/>
</p:tagLst>
</file>

<file path=ppt/tags/tag4.xml><?xml version="1.0" encoding="utf-8"?>
<p:tagLst xmlns:a="http://schemas.openxmlformats.org/drawingml/2006/main" xmlns:r="http://schemas.openxmlformats.org/officeDocument/2006/relationships" xmlns:p="http://schemas.openxmlformats.org/presentationml/2006/main">
  <p:tag name="ADV_TOP" val="493.4643"/>
  <p:tag name="ADV_LEFT" val="148.479"/>
  <p:tag name="ADV_HEIGHT" val="14.54063"/>
  <p:tag name="ADV_WIDTH" val="499.4646"/>
  <p:tag name="ADV_COPYRIGHT" val="TRUE"/>
</p:tagLst>
</file>

<file path=ppt/tags/tag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6.xml><?xml version="1.0" encoding="utf-8"?>
<p:tagLst xmlns:a="http://schemas.openxmlformats.org/drawingml/2006/main" xmlns:r="http://schemas.openxmlformats.org/officeDocument/2006/relationships" xmlns:p="http://schemas.openxmlformats.org/presentationml/2006/main">
  <p:tag name="ADV_TOP" val="493.4643"/>
  <p:tag name="ADV_LEFT" val="148.479"/>
  <p:tag name="ADV_HEIGHT" val="14.54063"/>
  <p:tag name="ADV_WIDTH" val="499.4646"/>
  <p:tag name="ADV_COPYRIGHT" val="TRUE"/>
</p:tagLst>
</file>

<file path=ppt/tags/tag7.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9.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0.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1.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2.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3.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4.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5.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6.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ECTIONINDEX"/>
  <p:tag name="TOCTEMPLATESHAPENAME" val="Numéro de slide des sections"/>
  <p:tag name="TOCTEMPLATESHAPEDESCRIPTION" val="Définit le format de la forme contenant les numéros de slides pour les sections."/>
</p:tagLst>
</file>

<file path=ppt/tags/tag17.xml><?xml version="1.0" encoding="utf-8"?>
<p:tagLst xmlns:a="http://schemas.openxmlformats.org/drawingml/2006/main" xmlns:r="http://schemas.openxmlformats.org/officeDocument/2006/relationships" xmlns:p="http://schemas.openxmlformats.org/presentationml/2006/main">
  <p:tag name="ADV_DRAFT" val="TRUE"/>
</p:tagLst>
</file>

<file path=ppt/tags/tag18.xml><?xml version="1.0" encoding="utf-8"?>
<p:tagLst xmlns:a="http://schemas.openxmlformats.org/drawingml/2006/main" xmlns:r="http://schemas.openxmlformats.org/officeDocument/2006/relationships" xmlns:p="http://schemas.openxmlformats.org/presentationml/2006/main">
  <p:tag name="DOCUMENTCLASSIFICATION" val="TRUE"/>
</p:tagLst>
</file>

<file path=ppt/tags/tag19.xml><?xml version="1.0" encoding="utf-8"?>
<p:tagLst xmlns:a="http://schemas.openxmlformats.org/drawingml/2006/main" xmlns:r="http://schemas.openxmlformats.org/officeDocument/2006/relationships" xmlns:p="http://schemas.openxmlformats.org/presentationml/2006/main">
  <p:tag name="TOCSHAPE" val="AA"/>
  <p:tag name="SHAPETYPE" val="SUBSECTIONTITLE"/>
  <p:tag name="NAME" val="SUBSECTIONTITLE"/>
  <p:tag name="TOCTEMPLATESHAPENAME" val="Titre des sous-sections"/>
  <p:tag name="TOCTEMPLATESHAPEDESCRIPTION" val="Définit le format de la forme contenant les titres des sous-sections."/>
</p:tagLst>
</file>

<file path=ppt/tags/tag20.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21.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22.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23.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24.xml><?xml version="1.0" encoding="utf-8"?>
<p:tagLst xmlns:a="http://schemas.openxmlformats.org/drawingml/2006/main" xmlns:r="http://schemas.openxmlformats.org/officeDocument/2006/relationships" xmlns:p="http://schemas.openxmlformats.org/presentationml/2006/main">
  <p:tag name="TOCSHAPE" val="263"/>
  <p:tag name="SLIDEINDEX" val="263"/>
  <p:tag name="NAME" val="SUBSECTIONINDEX"/>
  <p:tag name="TOCTEMPLATESHAPENAME" val="Numéro de slide des sous-sections"/>
  <p:tag name="TOCTEMPLATESHAPEDESCRIPTION" val="Définit le format de la forme contenant les numéros de slides des sous-sections."/>
</p:tagLst>
</file>

<file path=ppt/tags/tag25.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26.xml><?xml version="1.0" encoding="utf-8"?>
<p:tagLst xmlns:a="http://schemas.openxmlformats.org/drawingml/2006/main" xmlns:r="http://schemas.openxmlformats.org/officeDocument/2006/relationships" xmlns:p="http://schemas.openxmlformats.org/presentationml/2006/main">
  <p:tag name="TOCSHAPE" val="AA"/>
  <p:tag name="SHAPETYPE" val="SECTIONTITLE"/>
  <p:tag name="NAME" val="SECTIONTITLE"/>
  <p:tag name="TOCTEMPLATESHAPENAME" val="Titre de section"/>
  <p:tag name="TOCTEMPLATESHAPEDESCRIPTION" val="Définit le format de la forme contenant les titres de section"/>
</p:tagLst>
</file>

<file path=ppt/tags/tag27.xml><?xml version="1.0" encoding="utf-8"?>
<p:tagLst xmlns:a="http://schemas.openxmlformats.org/drawingml/2006/main" xmlns:r="http://schemas.openxmlformats.org/officeDocument/2006/relationships" xmlns:p="http://schemas.openxmlformats.org/presentationml/2006/main">
  <p:tag name="HIDETOC" val="true"/>
</p:tagLst>
</file>

<file path=ppt/tags/tag28.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29.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30.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31.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32.xml><?xml version="1.0" encoding="utf-8"?>
<p:tagLst xmlns:a="http://schemas.openxmlformats.org/drawingml/2006/main" xmlns:r="http://schemas.openxmlformats.org/officeDocument/2006/relationships" xmlns:p="http://schemas.openxmlformats.org/presentationml/2006/main">
  <p:tag name="NAME" val="SUBSECTIONUM"/>
  <p:tag name="TOCTEMPLATESHAPENAME" val="Index des sous-section"/>
  <p:tag name="TOCTEMPLATESHAPEDESCRIPTION" val="Définit le format de la forme contenant les numéros des sou-sections"/>
</p:tagLst>
</file>

<file path=ppt/tags/tag33.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34.xml><?xml version="1.0" encoding="utf-8"?>
<p:tagLst xmlns:a="http://schemas.openxmlformats.org/drawingml/2006/main" xmlns:r="http://schemas.openxmlformats.org/officeDocument/2006/relationships" xmlns:p="http://schemas.openxmlformats.org/presentationml/2006/main">
  <p:tag name="TOCSHAPE" val="344"/>
  <p:tag name="SLIDEINDEX" val="344"/>
  <p:tag name="NAME" val="SECTIONINDEX"/>
  <p:tag name="TOCTEMPLATESHAPENAME" val="Numéro de slide des sections"/>
  <p:tag name="TOCTEMPLATESHAPEDESCRIPTION" val="Définit le format de la forme contenant les numéros de slides pour les sections."/>
</p:tagLst>
</file>

<file path=ppt/tags/tag35.xml><?xml version="1.0" encoding="utf-8"?>
<p:tagLst xmlns:a="http://schemas.openxmlformats.org/drawingml/2006/main" xmlns:r="http://schemas.openxmlformats.org/officeDocument/2006/relationships" xmlns:p="http://schemas.openxmlformats.org/presentationml/2006/main">
  <p:tag name="TOCSHAPE" val="341"/>
  <p:tag name="SLIDEINDEX" val="341"/>
  <p:tag name="NAME" val="SUBSECTIONINDEX"/>
  <p:tag name="TOCTEMPLATESHAPENAME" val="Numéro de slide des sous-sections"/>
  <p:tag name="TOCTEMPLATESHAPEDESCRIPTION" val="Définit le format de la forme contenant les numéros de slides des sous-sections."/>
</p:tagLst>
</file>

<file path=ppt/tags/tag36.xml><?xml version="1.0" encoding="utf-8"?>
<p:tagLst xmlns:a="http://schemas.openxmlformats.org/drawingml/2006/main" xmlns:r="http://schemas.openxmlformats.org/officeDocument/2006/relationships" xmlns:p="http://schemas.openxmlformats.org/presentationml/2006/main">
  <p:tag name="NAME" val="SECTIONUM"/>
  <p:tag name="TOCTEMPLATESHAPENAME" val="Numéro de section"/>
  <p:tag name="TOCTEMPLATESHAPEDESCRIPTION" val="Définit le format de la forme contenant les numéros de sections"/>
</p:tagLst>
</file>

<file path=ppt/tags/tag37.xml><?xml version="1.0" encoding="utf-8"?>
<p:tagLst xmlns:a="http://schemas.openxmlformats.org/drawingml/2006/main" xmlns:r="http://schemas.openxmlformats.org/officeDocument/2006/relationships" xmlns:p="http://schemas.openxmlformats.org/presentationml/2006/main">
  <p:tag name="HIDETOC" val="true"/>
</p:tagLst>
</file>

<file path=ppt/tags/tag38.xml><?xml version="1.0" encoding="utf-8"?>
<p:tagLst xmlns:a="http://schemas.openxmlformats.org/drawingml/2006/main" xmlns:r="http://schemas.openxmlformats.org/officeDocument/2006/relationships" xmlns:p="http://schemas.openxmlformats.org/presentationml/2006/main">
  <p:tag name="TOCSHAPE" val="AA"/>
  <p:tag name="NAME" val="SUBSECTIONTITLE"/>
  <p:tag name="TOCTEMPLATESHAPENAME" val="Titre des sous-sections"/>
  <p:tag name="TOCTEMPLATESHAPEDESCRIPTION" val="Définit le format de la forme contenant les titres des sous-sections."/>
</p:tagLst>
</file>

<file path=ppt/tags/tag39.xml><?xml version="1.0" encoding="utf-8"?>
<p:tagLst xmlns:a="http://schemas.openxmlformats.org/drawingml/2006/main" xmlns:r="http://schemas.openxmlformats.org/officeDocument/2006/relationships" xmlns:p="http://schemas.openxmlformats.org/presentationml/2006/main">
  <p:tag name="TOCSHAPE" val="AA"/>
  <p:tag name="NAME" val="SECTIONTITLE"/>
  <p:tag name="TOCTEMPLATESHAPENAME" val="Titre de section"/>
  <p:tag name="TOCTEMPLATESHAPEDESCRIPTION" val="Définit le format de la forme contenant les titres de section"/>
</p:tagLst>
</file>

<file path=ppt/tags/tag40.xml><?xml version="1.0" encoding="utf-8"?>
<p:tagLst xmlns:a="http://schemas.openxmlformats.org/drawingml/2006/main" xmlns:r="http://schemas.openxmlformats.org/officeDocument/2006/relationships" xmlns:p="http://schemas.openxmlformats.org/presentationml/2006/main">
  <p:tag name="NAME" val="SLIDETITLE"/>
  <p:tag name="TOCTEMPLATESHAPENAME" val="Titre des diapositives"/>
  <p:tag name="TOCTEMPLATESHAPEDESCRIPTION" val="Définit le format de la forme contenant les titres de slide"/>
</p:tagLst>
</file>

<file path=ppt/tags/tag41.xml><?xml version="1.0" encoding="utf-8"?>
<p:tagLst xmlns:a="http://schemas.openxmlformats.org/drawingml/2006/main" xmlns:r="http://schemas.openxmlformats.org/officeDocument/2006/relationships" xmlns:p="http://schemas.openxmlformats.org/presentationml/2006/main">
  <p:tag name="NAME" val="SLIDEINDEX"/>
  <p:tag name="TOCTEMPLATESHAPENAME" val="Numéro de slide"/>
  <p:tag name="TOCTEMPLATESHAPEDESCRIPTION" val="Définit le format de la forme contenant le numéro de diapositive"/>
</p:tagLst>
</file>

<file path=ppt/tags/tag42.xml><?xml version="1.0" encoding="utf-8"?>
<p:tagLst xmlns:a="http://schemas.openxmlformats.org/drawingml/2006/main" xmlns:r="http://schemas.openxmlformats.org/officeDocument/2006/relationships" xmlns:p="http://schemas.openxmlformats.org/presentationml/2006/main">
  <p:tag name="NAME" val="DRAWAREA"/>
  <p:tag name="TOCTEMPLATESHAPENAME" val="Zone de tracé"/>
  <p:tag name="TOCTEMPLATESHAPEDESCRIPTION" val="Délimite la position verticale de la table des matières."/>
</p:tagLst>
</file>

<file path=ppt/tags/tag43.xml><?xml version="1.0" encoding="utf-8"?>
<p:tagLst xmlns:a="http://schemas.openxmlformats.org/drawingml/2006/main" xmlns:r="http://schemas.openxmlformats.org/officeDocument/2006/relationships" xmlns:p="http://schemas.openxmlformats.org/presentationml/2006/main">
  <p:tag name="TOCSHAPE" val="AA"/>
  <p:tag name="NAME" val="SECTIONUM"/>
  <p:tag name="TOCTEMPLATESHAPENAME" val="Numéro de section"/>
  <p:tag name="TOCTEMPLATESHAPEDESCRIPTION" val="Définit le format de la forme contenant les numéros de sections"/>
</p:tagLst>
</file>

<file path=ppt/tags/tag44.xml><?xml version="1.0" encoding="utf-8"?>
<p:tagLst xmlns:a="http://schemas.openxmlformats.org/drawingml/2006/main" xmlns:r="http://schemas.openxmlformats.org/officeDocument/2006/relationships" xmlns:p="http://schemas.openxmlformats.org/presentationml/2006/main">
  <p:tag name="TOCSHAPE" val="268"/>
  <p:tag name="SLIDEINDEX" val="268"/>
  <p:tag name="NAME" val="SECTIONINDEX"/>
  <p:tag name="TOCTEMPLATESHAPENAME" val="Numéro de slide des sections"/>
  <p:tag name="TOCTEMPLATESHAPEDESCRIPTION" val="Définit le format de la forme contenant les numéros de slides pour les sections."/>
</p:tagLst>
</file>

<file path=ppt/tags/tag45.xml><?xml version="1.0" encoding="utf-8"?>
<p:tagLst xmlns:a="http://schemas.openxmlformats.org/drawingml/2006/main" xmlns:r="http://schemas.openxmlformats.org/officeDocument/2006/relationships" xmlns:p="http://schemas.openxmlformats.org/presentationml/2006/main">
  <p:tag name="TOCSHAPE" val="269"/>
  <p:tag name="SLIDEINDEX" val="269"/>
  <p:tag name="NAME" val="SUBSECTIONINDEX"/>
  <p:tag name="TOCTEMPLATESHAPENAME" val="Numéro de slide des sous-sections"/>
  <p:tag name="TOCTEMPLATESHAPEDESCRIPTION" val="Définit le format de la forme contenant les numéros de slides des sous-sections."/>
</p:tagLst>
</file>

<file path=ppt/tags/tag46.xml><?xml version="1.0" encoding="utf-8"?>
<p:tagLst xmlns:a="http://schemas.openxmlformats.org/drawingml/2006/main" xmlns:r="http://schemas.openxmlformats.org/officeDocument/2006/relationships" xmlns:p="http://schemas.openxmlformats.org/presentationml/2006/main">
  <p:tag name="TOCSHAPE" val="AA"/>
  <p:tag name="NAME" val="SUBSECTIONUM"/>
  <p:tag name="TOCTEMPLATESHAPENAME" val="Index des sous-section"/>
  <p:tag name="TOCTEMPLATESHAPEDESCRIPTION" val="Définit le format de la forme contenant les numéros des sou-sections"/>
</p:tagLst>
</file>

<file path=ppt/tags/tag47.xml><?xml version="1.0" encoding="utf-8"?>
<p:tagLst xmlns:a="http://schemas.openxmlformats.org/drawingml/2006/main" xmlns:r="http://schemas.openxmlformats.org/officeDocument/2006/relationships" xmlns:p="http://schemas.openxmlformats.org/presentationml/2006/main">
  <p:tag name="HIDETOC" val="true"/>
</p:tagLst>
</file>

<file path=ppt/tags/tag48.xml><?xml version="1.0" encoding="utf-8"?>
<p:tagLst xmlns:a="http://schemas.openxmlformats.org/drawingml/2006/main" xmlns:r="http://schemas.openxmlformats.org/officeDocument/2006/relationships" xmlns:p="http://schemas.openxmlformats.org/presentationml/2006/main">
  <p:tag name="NAME" val="Reminder28/07/2016 10:55:40833312551"/>
  <p:tag name="TOCTEMPLATESHAPENAME" val="SecElseSubSec"/>
  <p:tag name="TOCTEMPLATESHAPEDESCRIPTION" val=""/>
</p:tagLst>
</file>

<file path=ppt/tags/tag49.xml><?xml version="1.0" encoding="utf-8"?>
<p:tagLst xmlns:a="http://schemas.openxmlformats.org/drawingml/2006/main" xmlns:r="http://schemas.openxmlformats.org/officeDocument/2006/relationships" xmlns:p="http://schemas.openxmlformats.org/presentationml/2006/main">
  <p:tag name="HIDETOC" val="true"/>
</p:tagLst>
</file>

<file path=ppt/tags/tag50.xml><?xml version="1.0" encoding="utf-8"?>
<p:tagLst xmlns:a="http://schemas.openxmlformats.org/drawingml/2006/main" xmlns:r="http://schemas.openxmlformats.org/officeDocument/2006/relationships" xmlns:p="http://schemas.openxmlformats.org/presentationml/2006/main">
  <p:tag name="HIDETOC" val="tru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OCSLIDE" val="1"/>
</p:tagLst>
</file>

<file path=ppt/tags/tag53.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5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7.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5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5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0.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4.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6.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6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6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5.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7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7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88.xml><?xml version="1.0" encoding="utf-8"?>
<p:tagLst xmlns:a="http://schemas.openxmlformats.org/drawingml/2006/main" xmlns:r="http://schemas.openxmlformats.org/officeDocument/2006/relationships" xmlns:p="http://schemas.openxmlformats.org/presentationml/2006/main">
  <p:tag name="TOCSHAPE" val="AA"/>
</p:tagLst>
</file>

<file path=ppt/tags/tag89.xml><?xml version="1.0" encoding="utf-8"?>
<p:tagLst xmlns:a="http://schemas.openxmlformats.org/drawingml/2006/main" xmlns:r="http://schemas.openxmlformats.org/officeDocument/2006/relationships" xmlns:p="http://schemas.openxmlformats.org/presentationml/2006/main">
  <p:tag name="TOCSHAPE" val="AA"/>
</p:tagLst>
</file>

<file path=ppt/tags/tag90.xml><?xml version="1.0" encoding="utf-8"?>
<p:tagLst xmlns:a="http://schemas.openxmlformats.org/drawingml/2006/main" xmlns:r="http://schemas.openxmlformats.org/officeDocument/2006/relationships" xmlns:p="http://schemas.openxmlformats.org/presentationml/2006/main">
  <p:tag name="TOCSHAPE" val="AA"/>
</p:tagLst>
</file>

<file path=ppt/tags/tag91.xml><?xml version="1.0" encoding="utf-8"?>
<p:tagLst xmlns:a="http://schemas.openxmlformats.org/drawingml/2006/main" xmlns:r="http://schemas.openxmlformats.org/officeDocument/2006/relationships" xmlns:p="http://schemas.openxmlformats.org/presentationml/2006/main">
  <p:tag name="TOCSHAPE" val="AA"/>
</p:tagLst>
</file>

<file path=ppt/tags/tag92.xml><?xml version="1.0" encoding="utf-8"?>
<p:tagLst xmlns:a="http://schemas.openxmlformats.org/drawingml/2006/main" xmlns:r="http://schemas.openxmlformats.org/officeDocument/2006/relationships" xmlns:p="http://schemas.openxmlformats.org/presentationml/2006/main">
  <p:tag name="TOCSHAPE" val="AA"/>
</p:tagLst>
</file>

<file path=ppt/tags/tag93.xml><?xml version="1.0" encoding="utf-8"?>
<p:tagLst xmlns:a="http://schemas.openxmlformats.org/drawingml/2006/main" xmlns:r="http://schemas.openxmlformats.org/officeDocument/2006/relationships" xmlns:p="http://schemas.openxmlformats.org/presentationml/2006/main">
  <p:tag name="TOCSHAPE" val="AA"/>
</p:tagLst>
</file>

<file path=ppt/tags/tag94.xml><?xml version="1.0" encoding="utf-8"?>
<p:tagLst xmlns:a="http://schemas.openxmlformats.org/drawingml/2006/main" xmlns:r="http://schemas.openxmlformats.org/officeDocument/2006/relationships" xmlns:p="http://schemas.openxmlformats.org/presentationml/2006/main">
  <p:tag name="TOCSHAPE" val="789"/>
  <p:tag name="SLIDEINDEX" val="789"/>
</p:tagLst>
</file>

<file path=ppt/tags/tag95.xml><?xml version="1.0" encoding="utf-8"?>
<p:tagLst xmlns:a="http://schemas.openxmlformats.org/drawingml/2006/main" xmlns:r="http://schemas.openxmlformats.org/officeDocument/2006/relationships" xmlns:p="http://schemas.openxmlformats.org/presentationml/2006/main">
  <p:tag name="TOCSHAPE" val="803"/>
  <p:tag name="SLIDEINDEX" val="803"/>
</p:tagLst>
</file>

<file path=ppt/tags/tag96.xml><?xml version="1.0" encoding="utf-8"?>
<p:tagLst xmlns:a="http://schemas.openxmlformats.org/drawingml/2006/main" xmlns:r="http://schemas.openxmlformats.org/officeDocument/2006/relationships" xmlns:p="http://schemas.openxmlformats.org/presentationml/2006/main">
  <p:tag name="TOCSHAPE" val="806"/>
  <p:tag name="SLIDEINDEX" val="806"/>
</p:tagLst>
</file>

<file path=ppt/tags/tag97.xml><?xml version="1.0" encoding="utf-8"?>
<p:tagLst xmlns:a="http://schemas.openxmlformats.org/drawingml/2006/main" xmlns:r="http://schemas.openxmlformats.org/officeDocument/2006/relationships" xmlns:p="http://schemas.openxmlformats.org/presentationml/2006/main">
  <p:tag name="TOCSHAPE" val="808"/>
  <p:tag name="SLIDEINDEX" val="808"/>
</p:tagLst>
</file>

<file path=ppt/tags/tag98.xml><?xml version="1.0" encoding="utf-8"?>
<p:tagLst xmlns:a="http://schemas.openxmlformats.org/drawingml/2006/main" xmlns:r="http://schemas.openxmlformats.org/officeDocument/2006/relationships" xmlns:p="http://schemas.openxmlformats.org/presentationml/2006/main">
  <p:tag name="TOCSHAPE" val="4714"/>
  <p:tag name="SLIDEINDEX" val="4714"/>
</p:tagLst>
</file>

<file path=ppt/tags/tag99.xml><?xml version="1.0" encoding="utf-8"?>
<p:tagLst xmlns:a="http://schemas.openxmlformats.org/drawingml/2006/main" xmlns:r="http://schemas.openxmlformats.org/officeDocument/2006/relationships" xmlns:p="http://schemas.openxmlformats.org/presentationml/2006/main">
  <p:tag name="TOCSHAPE" val="871"/>
  <p:tag name="SLIDEINDEX" val="871"/>
</p:tagLst>
</file>

<file path=ppt/tags/tag100.xml><?xml version="1.0" encoding="utf-8"?>
<p:tagLst xmlns:a="http://schemas.openxmlformats.org/drawingml/2006/main" xmlns:r="http://schemas.openxmlformats.org/officeDocument/2006/relationships" xmlns:p="http://schemas.openxmlformats.org/presentationml/2006/main">
  <p:tag name="TOCSHAPE" val="AA"/>
</p:tagLst>
</file>

<file path=ppt/tags/tag101.xml><?xml version="1.0" encoding="utf-8"?>
<p:tagLst xmlns:a="http://schemas.openxmlformats.org/drawingml/2006/main" xmlns:r="http://schemas.openxmlformats.org/officeDocument/2006/relationships" xmlns:p="http://schemas.openxmlformats.org/presentationml/2006/main">
  <p:tag name="TOCSHAPE" val="AA"/>
</p:tagLst>
</file>

<file path=ppt/tags/tag102.xml><?xml version="1.0" encoding="utf-8"?>
<p:tagLst xmlns:a="http://schemas.openxmlformats.org/drawingml/2006/main" xmlns:r="http://schemas.openxmlformats.org/officeDocument/2006/relationships" xmlns:p="http://schemas.openxmlformats.org/presentationml/2006/main">
  <p:tag name="TOCSHAPE" val="AA"/>
</p:tagLst>
</file>

<file path=ppt/tags/tag103.xml><?xml version="1.0" encoding="utf-8"?>
<p:tagLst xmlns:a="http://schemas.openxmlformats.org/drawingml/2006/main" xmlns:r="http://schemas.openxmlformats.org/officeDocument/2006/relationships" xmlns:p="http://schemas.openxmlformats.org/presentationml/2006/main">
  <p:tag name="TOCSHAPE" val="AA"/>
</p:tagLst>
</file>

<file path=ppt/tags/tag104.xml><?xml version="1.0" encoding="utf-8"?>
<p:tagLst xmlns:a="http://schemas.openxmlformats.org/drawingml/2006/main" xmlns:r="http://schemas.openxmlformats.org/officeDocument/2006/relationships" xmlns:p="http://schemas.openxmlformats.org/presentationml/2006/main">
  <p:tag name="TOCSHAPE" val="AA"/>
</p:tagLst>
</file>

<file path=ppt/tags/tag105.xml><?xml version="1.0" encoding="utf-8"?>
<p:tagLst xmlns:a="http://schemas.openxmlformats.org/drawingml/2006/main" xmlns:r="http://schemas.openxmlformats.org/officeDocument/2006/relationships" xmlns:p="http://schemas.openxmlformats.org/presentationml/2006/main">
  <p:tag name="TOCSHAPE" val="AA"/>
</p:tagLst>
</file>

<file path=ppt/tags/tag106.xml><?xml version="1.0" encoding="utf-8"?>
<p:tagLst xmlns:a="http://schemas.openxmlformats.org/drawingml/2006/main" xmlns:r="http://schemas.openxmlformats.org/officeDocument/2006/relationships" xmlns:p="http://schemas.openxmlformats.org/presentationml/2006/main">
  <p:tag name="TOCSHAPE" val="AA"/>
</p:tagLst>
</file>

<file path=ppt/tags/tag107.xml><?xml version="1.0" encoding="utf-8"?>
<p:tagLst xmlns:a="http://schemas.openxmlformats.org/drawingml/2006/main" xmlns:r="http://schemas.openxmlformats.org/officeDocument/2006/relationships" xmlns:p="http://schemas.openxmlformats.org/presentationml/2006/main">
  <p:tag name="TOCSHAPE" val="AA"/>
</p:tagLst>
</file>

<file path=ppt/tags/tag108.xml><?xml version="1.0" encoding="utf-8"?>
<p:tagLst xmlns:a="http://schemas.openxmlformats.org/drawingml/2006/main" xmlns:r="http://schemas.openxmlformats.org/officeDocument/2006/relationships" xmlns:p="http://schemas.openxmlformats.org/presentationml/2006/main">
  <p:tag name="TOCSHAPE" val="AA"/>
</p:tagLst>
</file>

<file path=ppt/tags/tag109.xml><?xml version="1.0" encoding="utf-8"?>
<p:tagLst xmlns:a="http://schemas.openxmlformats.org/drawingml/2006/main" xmlns:r="http://schemas.openxmlformats.org/officeDocument/2006/relationships" xmlns:p="http://schemas.openxmlformats.org/presentationml/2006/main">
  <p:tag name="TOCSHAPE" val="AA"/>
</p:tagLst>
</file>

<file path=ppt/tags/tag110.xml><?xml version="1.0" encoding="utf-8"?>
<p:tagLst xmlns:a="http://schemas.openxmlformats.org/drawingml/2006/main" xmlns:r="http://schemas.openxmlformats.org/officeDocument/2006/relationships" xmlns:p="http://schemas.openxmlformats.org/presentationml/2006/main">
  <p:tag name="TOCSHAPE" val="AA"/>
</p:tagLst>
</file>

<file path=ppt/tags/tag111.xml><?xml version="1.0" encoding="utf-8"?>
<p:tagLst xmlns:a="http://schemas.openxmlformats.org/drawingml/2006/main" xmlns:r="http://schemas.openxmlformats.org/officeDocument/2006/relationships" xmlns:p="http://schemas.openxmlformats.org/presentationml/2006/main">
  <p:tag name="TOCSHAPE" val="AA"/>
</p:tagLst>
</file>

<file path=ppt/tags/tag112.xml><?xml version="1.0" encoding="utf-8"?>
<p:tagLst xmlns:a="http://schemas.openxmlformats.org/drawingml/2006/main" xmlns:r="http://schemas.openxmlformats.org/officeDocument/2006/relationships" xmlns:p="http://schemas.openxmlformats.org/presentationml/2006/main">
  <p:tag name="TOCSHAPE" val="AA"/>
</p:tagLst>
</file>

<file path=ppt/tags/tag113.xml><?xml version="1.0" encoding="utf-8"?>
<p:tagLst xmlns:a="http://schemas.openxmlformats.org/drawingml/2006/main" xmlns:r="http://schemas.openxmlformats.org/officeDocument/2006/relationships" xmlns:p="http://schemas.openxmlformats.org/presentationml/2006/main">
  <p:tag name="TOCSHAPE" val="AA"/>
</p:tagLst>
</file>

<file path=ppt/tags/tag114.xml><?xml version="1.0" encoding="utf-8"?>
<p:tagLst xmlns:a="http://schemas.openxmlformats.org/drawingml/2006/main" xmlns:r="http://schemas.openxmlformats.org/officeDocument/2006/relationships" xmlns:p="http://schemas.openxmlformats.org/presentationml/2006/main">
  <p:tag name="TOCSHAPE" val="AA"/>
</p:tagLst>
</file>

<file path=ppt/tags/tag115.xml><?xml version="1.0" encoding="utf-8"?>
<p:tagLst xmlns:a="http://schemas.openxmlformats.org/drawingml/2006/main" xmlns:r="http://schemas.openxmlformats.org/officeDocument/2006/relationships" xmlns:p="http://schemas.openxmlformats.org/presentationml/2006/main">
  <p:tag name="TOCSHAPE" val="AA"/>
</p:tagLst>
</file>

<file path=ppt/tags/tag116.xml><?xml version="1.0" encoding="utf-8"?>
<p:tagLst xmlns:a="http://schemas.openxmlformats.org/drawingml/2006/main" xmlns:r="http://schemas.openxmlformats.org/officeDocument/2006/relationships" xmlns:p="http://schemas.openxmlformats.org/presentationml/2006/main">
  <p:tag name="TOCSHAPE" val="AA"/>
</p:tagLst>
</file>

<file path=ppt/tags/tag117.xml><?xml version="1.0" encoding="utf-8"?>
<p:tagLst xmlns:a="http://schemas.openxmlformats.org/drawingml/2006/main" xmlns:r="http://schemas.openxmlformats.org/officeDocument/2006/relationships" xmlns:p="http://schemas.openxmlformats.org/presentationml/2006/main">
  <p:tag name="TOCSHAPE" val="AA"/>
</p:tagLst>
</file>

<file path=ppt/tags/tag118.xml><?xml version="1.0" encoding="utf-8"?>
<p:tagLst xmlns:a="http://schemas.openxmlformats.org/drawingml/2006/main" xmlns:r="http://schemas.openxmlformats.org/officeDocument/2006/relationships" xmlns:p="http://schemas.openxmlformats.org/presentationml/2006/main">
  <p:tag name="TOCSHAPE" val="AA"/>
</p:tagLst>
</file>

<file path=ppt/tags/tag119.xml><?xml version="1.0" encoding="utf-8"?>
<p:tagLst xmlns:a="http://schemas.openxmlformats.org/drawingml/2006/main" xmlns:r="http://schemas.openxmlformats.org/officeDocument/2006/relationships" xmlns:p="http://schemas.openxmlformats.org/presentationml/2006/main">
  <p:tag name="TOCSHAPE" val="AA"/>
</p:tagLst>
</file>

<file path=ppt/tags/tag120.xml><?xml version="1.0" encoding="utf-8"?>
<p:tagLst xmlns:a="http://schemas.openxmlformats.org/drawingml/2006/main" xmlns:r="http://schemas.openxmlformats.org/officeDocument/2006/relationships" xmlns:p="http://schemas.openxmlformats.org/presentationml/2006/main">
  <p:tag name="TOCSHAPE" val="AA"/>
</p:tagLst>
</file>

<file path=ppt/tags/tag121.xml><?xml version="1.0" encoding="utf-8"?>
<p:tagLst xmlns:a="http://schemas.openxmlformats.org/drawingml/2006/main" xmlns:r="http://schemas.openxmlformats.org/officeDocument/2006/relationships" xmlns:p="http://schemas.openxmlformats.org/presentationml/2006/main">
  <p:tag name="TOCSHAPE" val="AA"/>
</p:tagLst>
</file>

<file path=ppt/tags/tag122.xml><?xml version="1.0" encoding="utf-8"?>
<p:tagLst xmlns:a="http://schemas.openxmlformats.org/drawingml/2006/main" xmlns:r="http://schemas.openxmlformats.org/officeDocument/2006/relationships" xmlns:p="http://schemas.openxmlformats.org/presentationml/2006/main">
  <p:tag name="TOCSHAPE" val="AA"/>
</p:tagLst>
</file>

<file path=ppt/tags/tag123.xml><?xml version="1.0" encoding="utf-8"?>
<p:tagLst xmlns:a="http://schemas.openxmlformats.org/drawingml/2006/main" xmlns:r="http://schemas.openxmlformats.org/officeDocument/2006/relationships" xmlns:p="http://schemas.openxmlformats.org/presentationml/2006/main">
  <p:tag name="TOCSHAPE" val="AA"/>
</p:tagLst>
</file>

<file path=ppt/tags/tag124.xml><?xml version="1.0" encoding="utf-8"?>
<p:tagLst xmlns:a="http://schemas.openxmlformats.org/drawingml/2006/main" xmlns:r="http://schemas.openxmlformats.org/officeDocument/2006/relationships" xmlns:p="http://schemas.openxmlformats.org/presentationml/2006/main">
  <p:tag name="TOCSHAPE" val="AA"/>
</p:tagLst>
</file>

<file path=ppt/tags/tag125.xml><?xml version="1.0" encoding="utf-8"?>
<p:tagLst xmlns:a="http://schemas.openxmlformats.org/drawingml/2006/main" xmlns:r="http://schemas.openxmlformats.org/officeDocument/2006/relationships" xmlns:p="http://schemas.openxmlformats.org/presentationml/2006/main">
  <p:tag name="TOCSHAPE" val="AA"/>
</p:tagLst>
</file>

<file path=ppt/tags/tag126.xml><?xml version="1.0" encoding="utf-8"?>
<p:tagLst xmlns:a="http://schemas.openxmlformats.org/drawingml/2006/main" xmlns:r="http://schemas.openxmlformats.org/officeDocument/2006/relationships" xmlns:p="http://schemas.openxmlformats.org/presentationml/2006/main">
  <p:tag name="TOCSHAPE" val="AA"/>
</p:tagLst>
</file>

<file path=ppt/tags/tag127.xml><?xml version="1.0" encoding="utf-8"?>
<p:tagLst xmlns:a="http://schemas.openxmlformats.org/drawingml/2006/main" xmlns:r="http://schemas.openxmlformats.org/officeDocument/2006/relationships" xmlns:p="http://schemas.openxmlformats.org/presentationml/2006/main">
  <p:tag name="TOCSHAPE" val="AA"/>
</p:tagLst>
</file>

<file path=ppt/tags/tag128.xml><?xml version="1.0" encoding="utf-8"?>
<p:tagLst xmlns:a="http://schemas.openxmlformats.org/drawingml/2006/main" xmlns:r="http://schemas.openxmlformats.org/officeDocument/2006/relationships" xmlns:p="http://schemas.openxmlformats.org/presentationml/2006/main">
  <p:tag name="TOCSHAPE" val="AA"/>
</p:tagLst>
</file>

<file path=ppt/tags/tag129.xml><?xml version="1.0" encoding="utf-8"?>
<p:tagLst xmlns:a="http://schemas.openxmlformats.org/drawingml/2006/main" xmlns:r="http://schemas.openxmlformats.org/officeDocument/2006/relationships" xmlns:p="http://schemas.openxmlformats.org/presentationml/2006/main">
  <p:tag name="TOCSHAPE" val="787"/>
  <p:tag name="SLIDEINDEX" val="787"/>
</p:tagLst>
</file>

<file path=ppt/tags/tag130.xml><?xml version="1.0" encoding="utf-8"?>
<p:tagLst xmlns:a="http://schemas.openxmlformats.org/drawingml/2006/main" xmlns:r="http://schemas.openxmlformats.org/officeDocument/2006/relationships" xmlns:p="http://schemas.openxmlformats.org/presentationml/2006/main">
  <p:tag name="TOCSHAPE" val="916"/>
  <p:tag name="SLIDEINDEX" val="916"/>
</p:tagLst>
</file>

<file path=ppt/tags/tag131.xml><?xml version="1.0" encoding="utf-8"?>
<p:tagLst xmlns:a="http://schemas.openxmlformats.org/drawingml/2006/main" xmlns:r="http://schemas.openxmlformats.org/officeDocument/2006/relationships" xmlns:p="http://schemas.openxmlformats.org/presentationml/2006/main">
  <p:tag name="TOCSHAPE" val="4694"/>
  <p:tag name="SLIDEINDEX" val="4694"/>
</p:tagLst>
</file>

<file path=ppt/tags/tag132.xml><?xml version="1.0" encoding="utf-8"?>
<p:tagLst xmlns:a="http://schemas.openxmlformats.org/drawingml/2006/main" xmlns:r="http://schemas.openxmlformats.org/officeDocument/2006/relationships" xmlns:p="http://schemas.openxmlformats.org/presentationml/2006/main">
  <p:tag name="TOCSHAPE" val="866"/>
  <p:tag name="SLIDEINDEX" val="866"/>
</p:tagLst>
</file>

<file path=ppt/tags/tag133.xml><?xml version="1.0" encoding="utf-8"?>
<p:tagLst xmlns:a="http://schemas.openxmlformats.org/drawingml/2006/main" xmlns:r="http://schemas.openxmlformats.org/officeDocument/2006/relationships" xmlns:p="http://schemas.openxmlformats.org/presentationml/2006/main">
  <p:tag name="TOCSHAPE" val="874"/>
  <p:tag name="SLIDEINDEX" val="874"/>
</p:tagLst>
</file>

<file path=ppt/tags/tag134.xml><?xml version="1.0" encoding="utf-8"?>
<p:tagLst xmlns:a="http://schemas.openxmlformats.org/drawingml/2006/main" xmlns:r="http://schemas.openxmlformats.org/officeDocument/2006/relationships" xmlns:p="http://schemas.openxmlformats.org/presentationml/2006/main">
  <p:tag name="TOCSHAPE" val="886"/>
  <p:tag name="SLIDEINDEX" val="886"/>
</p:tagLst>
</file>

<file path=ppt/tags/tag135.xml><?xml version="1.0" encoding="utf-8"?>
<p:tagLst xmlns:a="http://schemas.openxmlformats.org/drawingml/2006/main" xmlns:r="http://schemas.openxmlformats.org/officeDocument/2006/relationships" xmlns:p="http://schemas.openxmlformats.org/presentationml/2006/main">
  <p:tag name="TOCSHAPE" val="909"/>
  <p:tag name="SLIDEINDEX" val="909"/>
</p:tagLst>
</file>

<file path=ppt/tags/tag136.xml><?xml version="1.0" encoding="utf-8"?>
<p:tagLst xmlns:a="http://schemas.openxmlformats.org/drawingml/2006/main" xmlns:r="http://schemas.openxmlformats.org/officeDocument/2006/relationships" xmlns:p="http://schemas.openxmlformats.org/presentationml/2006/main">
  <p:tag name="TOCSHAPE" val="912"/>
  <p:tag name="SLIDEINDEX" val="912"/>
</p:tagLst>
</file>

<file path=ppt/tags/tag137.xml><?xml version="1.0" encoding="utf-8"?>
<p:tagLst xmlns:a="http://schemas.openxmlformats.org/drawingml/2006/main" xmlns:r="http://schemas.openxmlformats.org/officeDocument/2006/relationships" xmlns:p="http://schemas.openxmlformats.org/presentationml/2006/main">
  <p:tag name="TOCSHAPE" val="4701"/>
  <p:tag name="SLIDEINDEX" val="4701"/>
</p:tagLst>
</file>

<file path=ppt/tags/tag138.xml><?xml version="1.0" encoding="utf-8"?>
<p:tagLst xmlns:a="http://schemas.openxmlformats.org/drawingml/2006/main" xmlns:r="http://schemas.openxmlformats.org/officeDocument/2006/relationships" xmlns:p="http://schemas.openxmlformats.org/presentationml/2006/main">
  <p:tag name="TOCSHAPE" val="4719"/>
  <p:tag name="SLIDEINDEX" val="4719"/>
</p:tagLst>
</file>

<file path=ppt/tags/tag139.xml><?xml version="1.0" encoding="utf-8"?>
<p:tagLst xmlns:a="http://schemas.openxmlformats.org/drawingml/2006/main" xmlns:r="http://schemas.openxmlformats.org/officeDocument/2006/relationships" xmlns:p="http://schemas.openxmlformats.org/presentationml/2006/main">
  <p:tag name="TOCSHAPE" val="4783"/>
  <p:tag name="SLIDEINDEX" val="4783"/>
</p:tagLst>
</file>

<file path=ppt/tags/tag140.xml><?xml version="1.0" encoding="utf-8"?>
<p:tagLst xmlns:a="http://schemas.openxmlformats.org/drawingml/2006/main" xmlns:r="http://schemas.openxmlformats.org/officeDocument/2006/relationships" xmlns:p="http://schemas.openxmlformats.org/presentationml/2006/main">
  <p:tag name="TOCSHAPE" val="4720"/>
  <p:tag name="SLIDEINDEX" val="4720"/>
</p:tagLst>
</file>

<file path=ppt/tags/tag141.xml><?xml version="1.0" encoding="utf-8"?>
<p:tagLst xmlns:a="http://schemas.openxmlformats.org/drawingml/2006/main" xmlns:r="http://schemas.openxmlformats.org/officeDocument/2006/relationships" xmlns:p="http://schemas.openxmlformats.org/presentationml/2006/main">
  <p:tag name="TOCSHAPE" val="4716"/>
  <p:tag name="SLIDEINDEX" val="4716"/>
</p:tagLst>
</file>

<file path=ppt/tags/tag142.xml><?xml version="1.0" encoding="utf-8"?>
<p:tagLst xmlns:a="http://schemas.openxmlformats.org/drawingml/2006/main" xmlns:r="http://schemas.openxmlformats.org/officeDocument/2006/relationships" xmlns:p="http://schemas.openxmlformats.org/presentationml/2006/main">
  <p:tag name="TOCSHAPE" val="4721"/>
  <p:tag name="SLIDEINDEX" val="4721"/>
</p:tagLst>
</file>

<file path=ppt/tags/tag143.xml><?xml version="1.0" encoding="utf-8"?>
<p:tagLst xmlns:a="http://schemas.openxmlformats.org/drawingml/2006/main" xmlns:r="http://schemas.openxmlformats.org/officeDocument/2006/relationships" xmlns:p="http://schemas.openxmlformats.org/presentationml/2006/main">
  <p:tag name="TOCSHAPE" val="4715"/>
  <p:tag name="SLIDEINDEX" val="4715"/>
</p:tagLst>
</file>

<file path=ppt/tags/tag144.xml><?xml version="1.0" encoding="utf-8"?>
<p:tagLst xmlns:a="http://schemas.openxmlformats.org/drawingml/2006/main" xmlns:r="http://schemas.openxmlformats.org/officeDocument/2006/relationships" xmlns:p="http://schemas.openxmlformats.org/presentationml/2006/main">
  <p:tag name="TOCSHAPE" val="4718"/>
  <p:tag name="SLIDEINDEX" val="4718"/>
</p:tagLst>
</file>

<file path=ppt/tags/tag145.xml><?xml version="1.0" encoding="utf-8"?>
<p:tagLst xmlns:a="http://schemas.openxmlformats.org/drawingml/2006/main" xmlns:r="http://schemas.openxmlformats.org/officeDocument/2006/relationships" xmlns:p="http://schemas.openxmlformats.org/presentationml/2006/main">
  <p:tag name="TOCSHAPE" val="4717"/>
  <p:tag name="SLIDEINDEX" val="4717"/>
</p:tagLst>
</file>

<file path=ppt/tags/tag146.xml><?xml version="1.0" encoding="utf-8"?>
<p:tagLst xmlns:a="http://schemas.openxmlformats.org/drawingml/2006/main" xmlns:r="http://schemas.openxmlformats.org/officeDocument/2006/relationships" xmlns:p="http://schemas.openxmlformats.org/presentationml/2006/main">
  <p:tag name="TOCSHAPE" val="897"/>
  <p:tag name="SLIDEINDEX" val="897"/>
</p:tagLst>
</file>

<file path=ppt/tags/tag147.xml><?xml version="1.0" encoding="utf-8"?>
<p:tagLst xmlns:a="http://schemas.openxmlformats.org/drawingml/2006/main" xmlns:r="http://schemas.openxmlformats.org/officeDocument/2006/relationships" xmlns:p="http://schemas.openxmlformats.org/presentationml/2006/main">
  <p:tag name="TOCSHAPE" val="4782"/>
  <p:tag name="SLIDEINDEX" val="4782"/>
</p:tagLst>
</file>

<file path=ppt/tags/tag148.xml><?xml version="1.0" encoding="utf-8"?>
<p:tagLst xmlns:a="http://schemas.openxmlformats.org/drawingml/2006/main" xmlns:r="http://schemas.openxmlformats.org/officeDocument/2006/relationships" xmlns:p="http://schemas.openxmlformats.org/presentationml/2006/main">
  <p:tag name="TOCSHAPE" val="4697"/>
  <p:tag name="SLIDEINDEX" val="4697"/>
</p:tagLst>
</file>

<file path=ppt/tags/tag149.xml><?xml version="1.0" encoding="utf-8"?>
<p:tagLst xmlns:a="http://schemas.openxmlformats.org/drawingml/2006/main" xmlns:r="http://schemas.openxmlformats.org/officeDocument/2006/relationships" xmlns:p="http://schemas.openxmlformats.org/presentationml/2006/main">
  <p:tag name="TOCSHAPE" val="4799"/>
  <p:tag name="SLIDEINDEX" val="4799"/>
</p:tagLst>
</file>

<file path=ppt/tags/tag150.xml><?xml version="1.0" encoding="utf-8"?>
<p:tagLst xmlns:a="http://schemas.openxmlformats.org/drawingml/2006/main" xmlns:r="http://schemas.openxmlformats.org/officeDocument/2006/relationships" xmlns:p="http://schemas.openxmlformats.org/presentationml/2006/main">
  <p:tag name="TOCSHAPE" val="4797"/>
  <p:tag name="SLIDEINDEX" val="4797"/>
</p:tagLst>
</file>

<file path=ppt/tags/tag151.xml><?xml version="1.0" encoding="utf-8"?>
<p:tagLst xmlns:a="http://schemas.openxmlformats.org/drawingml/2006/main" xmlns:r="http://schemas.openxmlformats.org/officeDocument/2006/relationships" xmlns:p="http://schemas.openxmlformats.org/presentationml/2006/main">
  <p:tag name="TOCSHAPE" val="4698"/>
  <p:tag name="SLIDEINDEX" val="4698"/>
</p:tagLst>
</file>

<file path=ppt/tags/tag152.xml><?xml version="1.0" encoding="utf-8"?>
<p:tagLst xmlns:a="http://schemas.openxmlformats.org/drawingml/2006/main" xmlns:r="http://schemas.openxmlformats.org/officeDocument/2006/relationships" xmlns:p="http://schemas.openxmlformats.org/presentationml/2006/main">
  <p:tag name="TOCSHAPE" val="4712"/>
  <p:tag name="SLIDEINDEX" val="4712"/>
</p:tagLst>
</file>

<file path=ppt/tags/tag153.xml><?xml version="1.0" encoding="utf-8"?>
<p:tagLst xmlns:a="http://schemas.openxmlformats.org/drawingml/2006/main" xmlns:r="http://schemas.openxmlformats.org/officeDocument/2006/relationships" xmlns:p="http://schemas.openxmlformats.org/presentationml/2006/main">
  <p:tag name="TOCSHAPE" val="4713"/>
  <p:tag name="SLIDEINDEX" val="4713"/>
</p:tagLst>
</file>

<file path=ppt/tags/tag154.xml><?xml version="1.0" encoding="utf-8"?>
<p:tagLst xmlns:a="http://schemas.openxmlformats.org/drawingml/2006/main" xmlns:r="http://schemas.openxmlformats.org/officeDocument/2006/relationships" xmlns:p="http://schemas.openxmlformats.org/presentationml/2006/main">
  <p:tag name="TOCSHAPE" val="915"/>
  <p:tag name="SLIDEINDEX" val="915"/>
</p:tagLst>
</file>

<file path=ppt/tags/tag155.xml><?xml version="1.0" encoding="utf-8"?>
<p:tagLst xmlns:a="http://schemas.openxmlformats.org/drawingml/2006/main" xmlns:r="http://schemas.openxmlformats.org/officeDocument/2006/relationships" xmlns:p="http://schemas.openxmlformats.org/presentationml/2006/main">
  <p:tag name="TOCSHAPE" val="651"/>
  <p:tag name="SLIDEINDEX" val="651"/>
</p:tagLst>
</file>

<file path=ppt/tags/tag156.xml><?xml version="1.0" encoding="utf-8"?>
<p:tagLst xmlns:a="http://schemas.openxmlformats.org/drawingml/2006/main" xmlns:r="http://schemas.openxmlformats.org/officeDocument/2006/relationships" xmlns:p="http://schemas.openxmlformats.org/presentationml/2006/main">
  <p:tag name="TOCSHAPE" val="904"/>
  <p:tag name="SLIDEINDEX" val="904"/>
</p:tagLst>
</file>

<file path=ppt/tags/tag157.xml><?xml version="1.0" encoding="utf-8"?>
<p:tagLst xmlns:a="http://schemas.openxmlformats.org/drawingml/2006/main" xmlns:r="http://schemas.openxmlformats.org/officeDocument/2006/relationships" xmlns:p="http://schemas.openxmlformats.org/presentationml/2006/main">
  <p:tag name="TOCSHAPE" val="4794"/>
  <p:tag name="SLIDEINDEX" val="4794"/>
</p:tagLst>
</file>

<file path=ppt/tags/tag158.xml><?xml version="1.0" encoding="utf-8"?>
<p:tagLst xmlns:a="http://schemas.openxmlformats.org/drawingml/2006/main" xmlns:r="http://schemas.openxmlformats.org/officeDocument/2006/relationships" xmlns:p="http://schemas.openxmlformats.org/presentationml/2006/main">
  <p:tag name="NAME" val="Executive summary"/>
  <p:tag name="CROSSREFGUID" val="d46926f3-4e60-4369-b8b8-4188edaf2f9a"/>
  <p:tag name="SECTION" val="1"/>
</p:tagLst>
</file>

<file path=ppt/tags/tag159.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16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6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6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63.xml><?xml version="1.0" encoding="utf-8"?>
<p:tagLst xmlns:a="http://schemas.openxmlformats.org/drawingml/2006/main" xmlns:r="http://schemas.openxmlformats.org/officeDocument/2006/relationships" xmlns:p="http://schemas.openxmlformats.org/presentationml/2006/main">
  <p:tag name="TOCSHAPE" val="AA"/>
</p:tagLst>
</file>

<file path=ppt/tags/tag164.xml><?xml version="1.0" encoding="utf-8"?>
<p:tagLst xmlns:a="http://schemas.openxmlformats.org/drawingml/2006/main" xmlns:r="http://schemas.openxmlformats.org/officeDocument/2006/relationships" xmlns:p="http://schemas.openxmlformats.org/presentationml/2006/main">
  <p:tag name="TOCSHAPE" val="789"/>
  <p:tag name="SLIDEINDEX" val="789"/>
</p:tagLst>
</file>

<file path=ppt/tags/tag165.xml><?xml version="1.0" encoding="utf-8"?>
<p:tagLst xmlns:a="http://schemas.openxmlformats.org/drawingml/2006/main" xmlns:r="http://schemas.openxmlformats.org/officeDocument/2006/relationships" xmlns:p="http://schemas.openxmlformats.org/presentationml/2006/main">
  <p:tag name="TOCSHAPE" val="AA"/>
</p:tagLst>
</file>

<file path=ppt/tags/tag166.xml><?xml version="1.0" encoding="utf-8"?>
<p:tagLst xmlns:a="http://schemas.openxmlformats.org/drawingml/2006/main" xmlns:r="http://schemas.openxmlformats.org/officeDocument/2006/relationships" xmlns:p="http://schemas.openxmlformats.org/presentationml/2006/main">
  <p:tag name="TOCSHAPE" val="AA"/>
</p:tagLst>
</file>

<file path=ppt/tags/tag167.xml><?xml version="1.0" encoding="utf-8"?>
<p:tagLst xmlns:a="http://schemas.openxmlformats.org/drawingml/2006/main" xmlns:r="http://schemas.openxmlformats.org/officeDocument/2006/relationships" xmlns:p="http://schemas.openxmlformats.org/presentationml/2006/main">
  <p:tag name="TOCSHAPE" val="AA"/>
</p:tagLst>
</file>

<file path=ppt/tags/tag168.xml><?xml version="1.0" encoding="utf-8"?>
<p:tagLst xmlns:a="http://schemas.openxmlformats.org/drawingml/2006/main" xmlns:r="http://schemas.openxmlformats.org/officeDocument/2006/relationships" xmlns:p="http://schemas.openxmlformats.org/presentationml/2006/main">
  <p:tag name="TOCSHAPE" val="787"/>
  <p:tag name="SLIDEINDEX" val="787"/>
</p:tagLst>
</file>

<file path=ppt/tags/tag169.xml><?xml version="1.0" encoding="utf-8"?>
<p:tagLst xmlns:a="http://schemas.openxmlformats.org/drawingml/2006/main" xmlns:r="http://schemas.openxmlformats.org/officeDocument/2006/relationships" xmlns:p="http://schemas.openxmlformats.org/presentationml/2006/main">
  <p:tag name="TOCSHAPE" val="916"/>
  <p:tag name="SLIDEINDEX" val="916"/>
</p:tagLst>
</file>

<file path=ppt/tags/tag170.xml><?xml version="1.0" encoding="utf-8"?>
<p:tagLst xmlns:a="http://schemas.openxmlformats.org/drawingml/2006/main" xmlns:r="http://schemas.openxmlformats.org/officeDocument/2006/relationships" xmlns:p="http://schemas.openxmlformats.org/presentationml/2006/main">
  <p:tag name="TOCSHAPE" val="4694"/>
  <p:tag name="SLIDEINDEX" val="4694"/>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73.xml><?xml version="1.0" encoding="utf-8"?>
<p:tagLst xmlns:a="http://schemas.openxmlformats.org/drawingml/2006/main" xmlns:r="http://schemas.openxmlformats.org/officeDocument/2006/relationships" xmlns:p="http://schemas.openxmlformats.org/presentationml/2006/main">
  <p:tag name="LAST UPDATE DATE" val="460150387.603271"/>
  <p:tag name="IMPORTID" val="6699456552338.252264"/>
  <p:tag name="WBLAST" val="https://kpmgcan.sharepoint.com/sites/CA-KGSCanada-ProjectNorth/Shared Documents/Project North/Staff Files/Project North_(Jun-24) RF Draft databook_31-Jul-24.xlsb"/>
  <p:tag name="USER NAME" val="cindyxie1"/>
  <p:tag name="TYPE" val="2"/>
  <p:tag name="SOURCENAME" val="Reported gross profit by LOB ($'000) (Chart 2)"/>
  <p:tag name="SHEETID" val="Gross margin by LOB"/>
  <p:tag name="PICTUREAPPEARANCE" val="xlScreen"/>
  <p:tag name="NORESIZEONUPDATE" val="False"/>
</p:tagLst>
</file>

<file path=ppt/tags/tag174.xml><?xml version="1.0" encoding="utf-8"?>
<p:tagLst xmlns:a="http://schemas.openxmlformats.org/drawingml/2006/main" xmlns:r="http://schemas.openxmlformats.org/officeDocument/2006/relationships" xmlns:p="http://schemas.openxmlformats.org/presentationml/2006/main">
  <p:tag name="SHAPETYPE" val="BREADCRUMB"/>
</p:tagLst>
</file>

<file path=ppt/tags/tag17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76.xml><?xml version="1.0" encoding="utf-8"?>
<p:tagLst xmlns:a="http://schemas.openxmlformats.org/drawingml/2006/main" xmlns:r="http://schemas.openxmlformats.org/officeDocument/2006/relationships" xmlns:p="http://schemas.openxmlformats.org/presentationml/2006/main">
  <p:tag name="LAST UPDATE DATE" val="461171146.437577"/>
  <p:tag name="IMPORTID" val="6299459441093.500116"/>
  <p:tag name="WBLAST" val="https://kpmgcan.sharepoint.com/sites/CA-KGSCanada-ProjectNorth/Shared Documents/Project North/Staff Files/Project North_(Jun-24) RF Draft databook_12-Aug-24.xlsb"/>
  <p:tag name="USER NAME" val="cindyxie1"/>
  <p:tag name="TYPE" val="1"/>
  <p:tag name="SOURCENAME" val="Income statement"/>
  <p:tag name="SHEETID" val="Income statement | GM view"/>
  <p:tag name="PICTUREAPPEARANCE" val="xlPrinter"/>
  <p:tag name="NORESIZEONUPDATE" val="False"/>
</p:tagLst>
</file>

<file path=ppt/tags/tag177.xml><?xml version="1.0" encoding="utf-8"?>
<p:tagLst xmlns:a="http://schemas.openxmlformats.org/drawingml/2006/main" xmlns:r="http://schemas.openxmlformats.org/officeDocument/2006/relationships" xmlns:p="http://schemas.openxmlformats.org/presentationml/2006/main">
  <p:tag name="LAST UPDATE DATE" val="460150744.016965"/>
  <p:tag name="IMPORTID" val="9345459441269.142114"/>
  <p:tag name="WBLAST" val="https://kpmgcan.sharepoint.com/sites/CA-KGSCanada-ProjectNorth/Shared Documents/Project North/Staff Files/Project North_(Jun-24) RF Draft databook_31-Jul-24.xlsb"/>
  <p:tag name="USER NAME" val="cindyxie1"/>
  <p:tag name="TYPE" val="1"/>
  <p:tag name="SOURCENAME" val="Balance sheet"/>
  <p:tag name="SHEETID" val="Balance sheet"/>
  <p:tag name="PICTUREAPPEARANCE" val="xlPrinter"/>
  <p:tag name="NORESIZEONUPDATE" val="False"/>
</p:tagLst>
</file>

<file path=ppt/tags/tag178.xml><?xml version="1.0" encoding="utf-8"?>
<p:tagLst xmlns:a="http://schemas.openxmlformats.org/drawingml/2006/main" xmlns:r="http://schemas.openxmlformats.org/officeDocument/2006/relationships" xmlns:p="http://schemas.openxmlformats.org/presentationml/2006/main">
  <p:tag name="LAST UPDATE DATE" val="460150796.894595"/>
  <p:tag name="IMPORTID" val="4926459441333.005865"/>
  <p:tag name="WBLAST" val="https://kpmgcan.sharepoint.com/sites/CA-KGSCanada-ProjectNorth/Shared Documents/Project North/Staff Files/Project North_(Jun-24) RF Draft databook_31-Jul-24.xlsb"/>
  <p:tag name="USER NAME" val="cindyxie1"/>
  <p:tag name="TYPE" val="1"/>
  <p:tag name="SOURCENAME" val="Cash flow"/>
  <p:tag name="SHEETID" val="Cash flow"/>
  <p:tag name="PICTUREAPPEARANCE" val="xlPrinter"/>
  <p:tag name="NORESIZEONUPDATE" val="False"/>
</p:tagLst>
</file>

<file path=ppt/tags/tag179.xml><?xml version="1.0" encoding="utf-8"?>
<p:tagLst xmlns:a="http://schemas.openxmlformats.org/drawingml/2006/main" xmlns:r="http://schemas.openxmlformats.org/officeDocument/2006/relationships" xmlns:p="http://schemas.openxmlformats.org/presentationml/2006/main">
  <p:tag name="SHAPETYPE" val="BREADCRUMB"/>
</p:tagLst>
</file>

<file path=ppt/tags/tag18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81.xml><?xml version="1.0" encoding="utf-8"?>
<p:tagLst xmlns:a="http://schemas.openxmlformats.org/drawingml/2006/main" xmlns:r="http://schemas.openxmlformats.org/officeDocument/2006/relationships" xmlns:p="http://schemas.openxmlformats.org/presentationml/2006/main">
  <p:tag name="LAST UPDATE DATE" val="461963355.08141"/>
  <p:tag name="IMPORTID" val="2459459442073.16140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Summary"/>
  <p:tag name="PICTUREAPPEARANCE" val="xlPrinter"/>
  <p:tag name="NORESIZEONUPDATE" val="False"/>
</p:tagLst>
</file>

<file path=ppt/tags/tag182.xml><?xml version="1.0" encoding="utf-8"?>
<p:tagLst xmlns:a="http://schemas.openxmlformats.org/drawingml/2006/main" xmlns:r="http://schemas.openxmlformats.org/officeDocument/2006/relationships" xmlns:p="http://schemas.openxmlformats.org/presentationml/2006/main">
  <p:tag name="LAST UPDATE DATE" val="461963576.501589"/>
  <p:tag name="IMPORTID" val="7750459443236.391225"/>
  <p:tag name="WBLAST" val="https://kpmgcan.sharepoint.com/sites/CA-KGSCanada-ProjectNorth/Shared Documents/Project North/Staff Files/Project North_(Jun-24) RF Draft databook_21-Aug-24.xlsb"/>
  <p:tag name="USER NAME" val="cindyxie1"/>
  <p:tag name="TYPE" val="1"/>
  <p:tag name="SOURCENAME" val="Net working capital"/>
  <p:tag name="SHEETID" val="NWC | Summary"/>
  <p:tag name="PICTUREAPPEARANCE" val="xlPrinter"/>
  <p:tag name="NORESIZEONUPDATE" val="True"/>
  <p:tag name="HIDDENRANGE" val="d47f1e6b2d9546f5ae6127fc907753f0"/>
</p:tagLst>
</file>

<file path=ppt/tags/tag183.xml><?xml version="1.0" encoding="utf-8"?>
<p:tagLst xmlns:a="http://schemas.openxmlformats.org/drawingml/2006/main" xmlns:r="http://schemas.openxmlformats.org/officeDocument/2006/relationships" xmlns:p="http://schemas.openxmlformats.org/presentationml/2006/main">
  <p:tag name="SHAPETYPE" val="BREADCRUMB"/>
</p:tagLst>
</file>

<file path=ppt/tags/tag18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85.xml><?xml version="1.0" encoding="utf-8"?>
<p:tagLst xmlns:a="http://schemas.openxmlformats.org/drawingml/2006/main" xmlns:r="http://schemas.openxmlformats.org/officeDocument/2006/relationships" xmlns:p="http://schemas.openxmlformats.org/presentationml/2006/main">
  <p:tag name="LAST UPDATE DATE" val="461963362.9751"/>
  <p:tag name="IMPORTID" val="3756456424898.14575"/>
  <p:tag name="WBLAST" val="https://kpmgcan.sharepoint.com/sites/CA-KGSCanada-ProjectNorth/Shared Documents/Project North/Staff Files/Project North_(Jun-24) RF Draft databook_21-Aug-24.xlsb"/>
  <p:tag name="USER NAME" val="cindyxie1"/>
  <p:tag name="TYPE" val="2"/>
  <p:tag name="SOURCENAME" val="Chart 5"/>
  <p:tag name="SHEETID" val="Adjusted EBITDA bridge"/>
  <p:tag name="PICTUREAPPEARANCE" val="xlPrinter"/>
  <p:tag name="NORESIZEONUPDATE" val="False"/>
</p:tagLst>
</file>

<file path=ppt/tags/tag186.xml><?xml version="1.0" encoding="utf-8"?>
<p:tagLst xmlns:a="http://schemas.openxmlformats.org/drawingml/2006/main" xmlns:r="http://schemas.openxmlformats.org/officeDocument/2006/relationships" xmlns:p="http://schemas.openxmlformats.org/presentationml/2006/main">
  <p:tag name="SHAPETYPE" val="BREADCRUMB"/>
</p:tagLst>
</file>

<file path=ppt/tags/tag187.xml><?xml version="1.0" encoding="utf-8"?>
<p:tagLst xmlns:a="http://schemas.openxmlformats.org/drawingml/2006/main" xmlns:r="http://schemas.openxmlformats.org/officeDocument/2006/relationships" xmlns:p="http://schemas.openxmlformats.org/presentationml/2006/main">
  <p:tag name="NAME" val="Historical trading"/>
  <p:tag name="SECTION" val="2"/>
</p:tagLst>
</file>

<file path=ppt/tags/tag188.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18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9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191.xml><?xml version="1.0" encoding="utf-8"?>
<p:tagLst xmlns:a="http://schemas.openxmlformats.org/drawingml/2006/main" xmlns:r="http://schemas.openxmlformats.org/officeDocument/2006/relationships" xmlns:p="http://schemas.openxmlformats.org/presentationml/2006/main">
  <p:tag name="TOCSHAPE" val="AA"/>
</p:tagLst>
</file>

<file path=ppt/tags/tag192.xml><?xml version="1.0" encoding="utf-8"?>
<p:tagLst xmlns:a="http://schemas.openxmlformats.org/drawingml/2006/main" xmlns:r="http://schemas.openxmlformats.org/officeDocument/2006/relationships" xmlns:p="http://schemas.openxmlformats.org/presentationml/2006/main">
  <p:tag name="TOCSHAPE" val="803"/>
  <p:tag name="SLIDEINDEX" val="803"/>
</p:tagLst>
</file>

<file path=ppt/tags/tag193.xml><?xml version="1.0" encoding="utf-8"?>
<p:tagLst xmlns:a="http://schemas.openxmlformats.org/drawingml/2006/main" xmlns:r="http://schemas.openxmlformats.org/officeDocument/2006/relationships" xmlns:p="http://schemas.openxmlformats.org/presentationml/2006/main">
  <p:tag name="TOCSHAPE" val="AA"/>
</p:tagLst>
</file>

<file path=ppt/tags/tag194.xml><?xml version="1.0" encoding="utf-8"?>
<p:tagLst xmlns:a="http://schemas.openxmlformats.org/drawingml/2006/main" xmlns:r="http://schemas.openxmlformats.org/officeDocument/2006/relationships" xmlns:p="http://schemas.openxmlformats.org/presentationml/2006/main">
  <p:tag name="TOCSHAPE" val="AA"/>
</p:tagLst>
</file>

<file path=ppt/tags/tag195.xml><?xml version="1.0" encoding="utf-8"?>
<p:tagLst xmlns:a="http://schemas.openxmlformats.org/drawingml/2006/main" xmlns:r="http://schemas.openxmlformats.org/officeDocument/2006/relationships" xmlns:p="http://schemas.openxmlformats.org/presentationml/2006/main">
  <p:tag name="TOCSHAPE" val="866"/>
  <p:tag name="SLIDEINDEX" val="866"/>
</p:tagLst>
</file>

<file path=ppt/tags/tag196.xml><?xml version="1.0" encoding="utf-8"?>
<p:tagLst xmlns:a="http://schemas.openxmlformats.org/drawingml/2006/main" xmlns:r="http://schemas.openxmlformats.org/officeDocument/2006/relationships" xmlns:p="http://schemas.openxmlformats.org/presentationml/2006/main">
  <p:tag name="TOCSHAPE" val="874"/>
  <p:tag name="SLIDEINDEX" val="874"/>
</p:tagLst>
</file>

<file path=ppt/tags/tag19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19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19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00.xml><?xml version="1.0" encoding="utf-8"?>
<p:tagLst xmlns:a="http://schemas.openxmlformats.org/drawingml/2006/main" xmlns:r="http://schemas.openxmlformats.org/officeDocument/2006/relationships" xmlns:p="http://schemas.openxmlformats.org/presentationml/2006/main">
  <p:tag name="LAST UPDATE DATE" val="460151716.770943"/>
  <p:tag name="IMPORTID" val="6299459441093.500116"/>
  <p:tag name="WBLAST" val="https://kpmgcan.sharepoint.com/sites/CA-KGSCanada-ProjectNorth/Shared Documents/Project North/Staff Files/Project North_(Jun-24) RF Draft databook_31-Jul-24.xlsb"/>
  <p:tag name="USER NAME" val="cindyxie1"/>
  <p:tag name="TYPE" val="1"/>
  <p:tag name="SOURCENAME" val="Income statement"/>
  <p:tag name="SHEETID" val="Income statement | GM view"/>
  <p:tag name="PICTUREAPPEARANCE" val="xlPrinter"/>
  <p:tag name="NORESIZEONUPDATE" val="False"/>
</p:tagLst>
</file>

<file path=ppt/tags/tag20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0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0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0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05.xml><?xml version="1.0" encoding="utf-8"?>
<p:tagLst xmlns:a="http://schemas.openxmlformats.org/drawingml/2006/main" xmlns:r="http://schemas.openxmlformats.org/officeDocument/2006/relationships" xmlns:p="http://schemas.openxmlformats.org/presentationml/2006/main">
  <p:tag name="LAST UPDATE DATE" val="460151711.95432"/>
  <p:tag name="IMPORTID" val="6299459441093.500116"/>
  <p:tag name="WBLAST" val="https://kpmgcan.sharepoint.com/sites/CA-KGSCanada-ProjectNorth/Shared Documents/Project North/Staff Files/Project North_(Jun-24) RF Draft databook_31-Jul-24.xlsb"/>
  <p:tag name="USER NAME" val="cindyxie1"/>
  <p:tag name="TYPE" val="1"/>
  <p:tag name="SOURCENAME" val="Income statement"/>
  <p:tag name="SHEETID" val="Income statement | GM view"/>
  <p:tag name="PICTUREAPPEARANCE" val="xlPrinter"/>
  <p:tag name="NORESIZEONUPDATE" val="False"/>
</p:tagLst>
</file>

<file path=ppt/tags/tag20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07.xml><?xml version="1.0" encoding="utf-8"?>
<p:tagLst xmlns:a="http://schemas.openxmlformats.org/drawingml/2006/main" xmlns:r="http://schemas.openxmlformats.org/officeDocument/2006/relationships" xmlns:p="http://schemas.openxmlformats.org/presentationml/2006/main">
  <p:tag name="LAST UPDATE DATE" val="461971334.839429"/>
  <p:tag name="IMPORTID" val="2459459442073.161405"/>
  <p:tag name="WBLAST" val="C:\Users\rishisharma\Desktop\Project North_(Jun-24) RF Draft databook_21-Aug-24.xlsb"/>
  <p:tag name="USER NAME" val="rishisharma"/>
  <p:tag name="TYPE" val="1"/>
  <p:tag name="SOURCENAME" val="Quality of earnings"/>
  <p:tag name="SHEETID" val="QofE | Summary"/>
  <p:tag name="PICTUREAPPEARANCE" val="xlPrinter"/>
  <p:tag name="NORESIZEONUPDATE" val="False"/>
</p:tagLst>
</file>

<file path=ppt/tags/tag20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0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1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11.xml><?xml version="1.0" encoding="utf-8"?>
<p:tagLst xmlns:a="http://schemas.openxmlformats.org/drawingml/2006/main" xmlns:r="http://schemas.openxmlformats.org/officeDocument/2006/relationships" xmlns:p="http://schemas.openxmlformats.org/presentationml/2006/main">
  <p:tag name="LAST UPDATE DATE" val="461963401.670824"/>
  <p:tag name="IMPORTID" val="8812456092286.17667"/>
  <p:tag name="WBLAST" val="https://kpmgcan.sharepoint.com/sites/CA-KGSCanada-ProjectNorth/Shared Documents/Project North/Staff Files/Project North_(Jun-24) RF Draft databook_21-Aug-24.xlsb"/>
  <p:tag name="USER NAME" val="cindyxie1"/>
  <p:tag name="TYPE" val="2"/>
  <p:tag name="SOURCENAME" val="Pro forma adjusted revenue and EBITDA (Chart 2)"/>
  <p:tag name="SHEETID" val="QofE | Detail"/>
  <p:tag name="PICTUREAPPEARANCE" val="xlPrinter"/>
  <p:tag name="NORESIZEONUPDATE" val="False"/>
</p:tagLst>
</file>

<file path=ppt/tags/tag212.xml><?xml version="1.0" encoding="utf-8"?>
<p:tagLst xmlns:a="http://schemas.openxmlformats.org/drawingml/2006/main" xmlns:r="http://schemas.openxmlformats.org/officeDocument/2006/relationships" xmlns:p="http://schemas.openxmlformats.org/presentationml/2006/main">
  <p:tag name="SHAPETYPE" val="BREADCRUMB"/>
</p:tagLst>
</file>

<file path=ppt/tags/tag213.xml><?xml version="1.0" encoding="utf-8"?>
<p:tagLst xmlns:a="http://schemas.openxmlformats.org/drawingml/2006/main" xmlns:r="http://schemas.openxmlformats.org/officeDocument/2006/relationships" xmlns:p="http://schemas.openxmlformats.org/presentationml/2006/main">
  <p:tag name="LAST UPDATE DATE" val="461963430.172725"/>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1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15.xml><?xml version="1.0" encoding="utf-8"?>
<p:tagLst xmlns:a="http://schemas.openxmlformats.org/drawingml/2006/main" xmlns:r="http://schemas.openxmlformats.org/officeDocument/2006/relationships" xmlns:p="http://schemas.openxmlformats.org/presentationml/2006/main">
  <p:tag name="LAST UPDATE DATE" val="461730664.117141"/>
  <p:tag name="IMPORTID" val="222459449772.266551"/>
  <p:tag name="WBLAST" val="https://kpmgcan.sharepoint.com/sites/CA-KGSCanada-ProjectNorth/Shared Documents/Project North/Staff Files/Project North_(Jun-24) RF Draft databook_17-Aug-24.xlsb"/>
  <p:tag name="USER NAME" val="cindyxie1"/>
  <p:tag name="TYPE" val="1"/>
  <p:tag name="SOURCENAME" val="Mobile POS IFRS 15 "/>
  <p:tag name="SHEETID" val="QofE DD adjustments"/>
  <p:tag name="PICTUREAPPEARANCE" val="xlPrinter"/>
  <p:tag name="NORESIZEONUPDATE" val="False"/>
</p:tagLst>
</file>

<file path=ppt/tags/tag216.xml><?xml version="1.0" encoding="utf-8"?>
<p:tagLst xmlns:a="http://schemas.openxmlformats.org/drawingml/2006/main" xmlns:r="http://schemas.openxmlformats.org/officeDocument/2006/relationships" xmlns:p="http://schemas.openxmlformats.org/presentationml/2006/main">
  <p:tag name="LAST UPDATE DATE" val="461971646.666057"/>
  <p:tag name="IMPORTID" val="7049459449925.215056"/>
  <p:tag name="WBLAST" val="C:\Users\rishisharma\Desktop\Project North_(Jun-24) RF Draft databook_21-Aug-24.xlsb"/>
  <p:tag name="USER NAME" val="rishisharma"/>
  <p:tag name="TYPE" val="1"/>
  <p:tag name="SOURCENAME" val="Settlement interest income"/>
  <p:tag name="SHEETID" val="QofE DD adjustments"/>
  <p:tag name="PICTUREAPPEARANCE" val="xlPrinter"/>
  <p:tag name="NORESIZEONUPDATE" val="False"/>
</p:tagLst>
</file>

<file path=ppt/tags/tag217.xml><?xml version="1.0" encoding="utf-8"?>
<p:tagLst xmlns:a="http://schemas.openxmlformats.org/drawingml/2006/main" xmlns:r="http://schemas.openxmlformats.org/officeDocument/2006/relationships" xmlns:p="http://schemas.openxmlformats.org/presentationml/2006/main">
  <p:tag name="SHAPETYPE" val="BREADCRUMB"/>
</p:tagLst>
</file>

<file path=ppt/tags/tag218.xml><?xml version="1.0" encoding="utf-8"?>
<p:tagLst xmlns:a="http://schemas.openxmlformats.org/drawingml/2006/main" xmlns:r="http://schemas.openxmlformats.org/officeDocument/2006/relationships" xmlns:p="http://schemas.openxmlformats.org/presentationml/2006/main">
  <p:tag name="LAST UPDATE DATE" val="461963439.028613"/>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1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2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2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22.xml><?xml version="1.0" encoding="utf-8"?>
<p:tagLst xmlns:a="http://schemas.openxmlformats.org/drawingml/2006/main" xmlns:r="http://schemas.openxmlformats.org/officeDocument/2006/relationships" xmlns:p="http://schemas.openxmlformats.org/presentationml/2006/main">
  <p:tag name="LAST UPDATE DATE" val="460155435.665313"/>
  <p:tag name="IMPORTID" val="9315459450216.95082"/>
  <p:tag name="WBLAST" val="https://kpmgcan.sharepoint.com/sites/CA-KGSCanada-ProjectNorth/Shared Documents/Project North/Staff Files/Project North_(Jun-24) RF Draft databook_31-Jul-24.xlsb"/>
  <p:tag name="USER NAME" val="cindyxie1"/>
  <p:tag name="TYPE" val="1"/>
  <p:tag name="SOURCENAME" val="FY23 out of period entries"/>
  <p:tag name="SHEETID" val="QofE DD adjustments"/>
  <p:tag name="PICTUREAPPEARANCE" val="xlPrinter"/>
  <p:tag name="NORESIZEONUPDATE" val="False"/>
</p:tagLst>
</file>

<file path=ppt/tags/tag223.xml><?xml version="1.0" encoding="utf-8"?>
<p:tagLst xmlns:a="http://schemas.openxmlformats.org/drawingml/2006/main" xmlns:r="http://schemas.openxmlformats.org/officeDocument/2006/relationships" xmlns:p="http://schemas.openxmlformats.org/presentationml/2006/main">
  <p:tag name="SHAPETYPE" val="BREADCRUMB"/>
</p:tagLst>
</file>

<file path=ppt/tags/tag224.xml><?xml version="1.0" encoding="utf-8"?>
<p:tagLst xmlns:a="http://schemas.openxmlformats.org/drawingml/2006/main" xmlns:r="http://schemas.openxmlformats.org/officeDocument/2006/relationships" xmlns:p="http://schemas.openxmlformats.org/presentationml/2006/main">
  <p:tag name="LAST UPDATE DATE" val="461961644.887916"/>
  <p:tag name="IMPORTID" val="6715460155167.510482"/>
  <p:tag name="WBLAST" val="https://kpmgcan.sharepoint.com/sites/CA-KGSCanada-ProjectNorth/Shared Documents/Project North/Staff Files/Project North_(Jun-24) RF Draft databook_21-Aug-24.xlsb"/>
  <p:tag name="USER NAME" val="cindyxie1"/>
  <p:tag name="TYPE" val="1"/>
  <p:tag name="SOURCENAME" val="Settlement services dispute"/>
  <p:tag name="SHEETID" val="QofE DD adjustments"/>
  <p:tag name="PICTUREAPPEARANCE" val="xlPrinter"/>
  <p:tag name="NORESIZEONUPDATE" val="False"/>
</p:tagLst>
</file>

<file path=ppt/tags/tag225.xml><?xml version="1.0" encoding="utf-8"?>
<p:tagLst xmlns:a="http://schemas.openxmlformats.org/drawingml/2006/main" xmlns:r="http://schemas.openxmlformats.org/officeDocument/2006/relationships" xmlns:p="http://schemas.openxmlformats.org/presentationml/2006/main">
  <p:tag name="LAST UPDATE DATE" val="461963446.489712"/>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2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2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2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29.xml><?xml version="1.0" encoding="utf-8"?>
<p:tagLst xmlns:a="http://schemas.openxmlformats.org/drawingml/2006/main" xmlns:r="http://schemas.openxmlformats.org/officeDocument/2006/relationships" xmlns:p="http://schemas.openxmlformats.org/presentationml/2006/main">
  <p:tag name="LAST UPDATE DATE" val="460155642.941483"/>
  <p:tag name="IMPORTID" val="5519459450278.870967"/>
  <p:tag name="WBLAST" val="https://kpmgcan.sharepoint.com/sites/CA-KGSCanada-ProjectNorth/Shared Documents/Project North/Staff Files/Project North_(Jun-24) RF Draft databook_31-Jul-24.xlsb"/>
  <p:tag name="USER NAME" val="cindyxie1"/>
  <p:tag name="TYPE" val="1"/>
  <p:tag name="SOURCENAME" val="Bonus accrual"/>
  <p:tag name="SHEETID" val="QofE DD adjustments"/>
  <p:tag name="PICTUREAPPEARANCE" val="xlPrinter"/>
  <p:tag name="NORESIZEONUPDATE" val="False"/>
</p:tagLst>
</file>

<file path=ppt/tags/tag230.xml><?xml version="1.0" encoding="utf-8"?>
<p:tagLst xmlns:a="http://schemas.openxmlformats.org/drawingml/2006/main" xmlns:r="http://schemas.openxmlformats.org/officeDocument/2006/relationships" xmlns:p="http://schemas.openxmlformats.org/presentationml/2006/main">
  <p:tag name="LAST UPDATE DATE" val="460155697.696327"/>
  <p:tag name="IMPORTID" val="8907459450329.233964"/>
  <p:tag name="WBLAST" val="https://kpmgcan.sharepoint.com/sites/CA-KGSCanada-ProjectNorth/Shared Documents/Project North/Staff Files/Project North_(Jun-24) RF Draft databook_31-Jul-24.xlsb"/>
  <p:tag name="USER NAME" val="cindyxie1"/>
  <p:tag name="TYPE" val="1"/>
  <p:tag name="SOURCENAME" val="Severance"/>
  <p:tag name="SHEETID" val="QofE DD adjustments"/>
  <p:tag name="PICTUREAPPEARANCE" val="xlPrinter"/>
  <p:tag name="NORESIZEONUPDATE" val="False"/>
</p:tagLst>
</file>

<file path=ppt/tags/tag231.xml><?xml version="1.0" encoding="utf-8"?>
<p:tagLst xmlns:a="http://schemas.openxmlformats.org/drawingml/2006/main" xmlns:r="http://schemas.openxmlformats.org/officeDocument/2006/relationships" xmlns:p="http://schemas.openxmlformats.org/presentationml/2006/main">
  <p:tag name="SHAPETYPE" val="BREADCRUMB"/>
</p:tagLst>
</file>

<file path=ppt/tags/tag232.xml><?xml version="1.0" encoding="utf-8"?>
<p:tagLst xmlns:a="http://schemas.openxmlformats.org/drawingml/2006/main" xmlns:r="http://schemas.openxmlformats.org/officeDocument/2006/relationships" xmlns:p="http://schemas.openxmlformats.org/presentationml/2006/main">
  <p:tag name="LAST UPDATE DATE" val="461963454.132128"/>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3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3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3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36.xml><?xml version="1.0" encoding="utf-8"?>
<p:tagLst xmlns:a="http://schemas.openxmlformats.org/drawingml/2006/main" xmlns:r="http://schemas.openxmlformats.org/officeDocument/2006/relationships" xmlns:p="http://schemas.openxmlformats.org/presentationml/2006/main">
  <p:tag name="SHAPETYPE" val="BREADCRUMB"/>
</p:tagLst>
</file>

<file path=ppt/tags/tag237.xml><?xml version="1.0" encoding="utf-8"?>
<p:tagLst xmlns:a="http://schemas.openxmlformats.org/drawingml/2006/main" xmlns:r="http://schemas.openxmlformats.org/officeDocument/2006/relationships" xmlns:p="http://schemas.openxmlformats.org/presentationml/2006/main">
  <p:tag name="LAST UPDATE DATE" val="461963464.389066"/>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3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3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4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41.xml><?xml version="1.0" encoding="utf-8"?>
<p:tagLst xmlns:a="http://schemas.openxmlformats.org/drawingml/2006/main" xmlns:r="http://schemas.openxmlformats.org/officeDocument/2006/relationships" xmlns:p="http://schemas.openxmlformats.org/presentationml/2006/main">
  <p:tag name="LAST UPDATE DATE" val="460156698.286661"/>
  <p:tag name="IMPORTID" val="9635459450925.337505"/>
  <p:tag name="WBLAST" val="https://kpmgcan.sharepoint.com/sites/CA-KGSCanada-ProjectNorth/Shared Documents/Project North/Staff Files/Project North_(Jun-24) RF Draft databook_31-Jul-24.xlsb"/>
  <p:tag name="USER NAME" val="cindyxie1"/>
  <p:tag name="TYPE" val="1"/>
  <p:tag name="SOURCENAME" val="HP lease"/>
  <p:tag name="SHEETID" val="QofE DD adjustments"/>
  <p:tag name="PICTUREAPPEARANCE" val="xlPrinter"/>
  <p:tag name="NORESIZEONUPDATE" val="False"/>
</p:tagLst>
</file>

<file path=ppt/tags/tag242.xml><?xml version="1.0" encoding="utf-8"?>
<p:tagLst xmlns:a="http://schemas.openxmlformats.org/drawingml/2006/main" xmlns:r="http://schemas.openxmlformats.org/officeDocument/2006/relationships" xmlns:p="http://schemas.openxmlformats.org/presentationml/2006/main">
  <p:tag name="LAST UPDATE DATE" val="460156726.182325"/>
  <p:tag name="IMPORTID" val="1136459450972.636196"/>
  <p:tag name="WBLAST" val="https://kpmgcan.sharepoint.com/sites/CA-KGSCanada-ProjectNorth/Shared Documents/Project North/Staff Files/Project North_(Jun-24) RF Draft databook_31-Jul-24.xlsb"/>
  <p:tag name="USER NAME" val="cindyxie1"/>
  <p:tag name="TYPE" val="1"/>
  <p:tag name="SOURCENAME" val="Non-operating expenses"/>
  <p:tag name="SHEETID" val="QofE DD adjustments"/>
  <p:tag name="PICTUREAPPEARANCE" val="xlPrinter"/>
  <p:tag name="NORESIZEONUPDATE" val="False"/>
</p:tagLst>
</file>

<file path=ppt/tags/tag243.xml><?xml version="1.0" encoding="utf-8"?>
<p:tagLst xmlns:a="http://schemas.openxmlformats.org/drawingml/2006/main" xmlns:r="http://schemas.openxmlformats.org/officeDocument/2006/relationships" xmlns:p="http://schemas.openxmlformats.org/presentationml/2006/main">
  <p:tag name="SHAPETYPE" val="BREADCRUMB"/>
</p:tagLst>
</file>

<file path=ppt/tags/tag244.xml><?xml version="1.0" encoding="utf-8"?>
<p:tagLst xmlns:a="http://schemas.openxmlformats.org/drawingml/2006/main" xmlns:r="http://schemas.openxmlformats.org/officeDocument/2006/relationships" xmlns:p="http://schemas.openxmlformats.org/presentationml/2006/main">
  <p:tag name="LAST UPDATE DATE" val="460160155.507791"/>
  <p:tag name="IMPORTID" val="7739459453911.785388"/>
  <p:tag name="WBLAST" val="https://kpmgcan.sharepoint.com/sites/CA-KGSCanada-ProjectNorth/Shared Documents/Project North/Staff Files/Project North_(Jun-24) RF Draft databook_31-Jul-24.xlsb"/>
  <p:tag name="USER NAME" val="cindyxie1"/>
  <p:tag name="TYPE" val="1"/>
  <p:tag name="SOURCENAME" val="Legal fees"/>
  <p:tag name="SHEETID" val="QofE DD adjustments"/>
  <p:tag name="PICTUREAPPEARANCE" val="xlPrinter"/>
  <p:tag name="NORESIZEONUPDATE" val="False"/>
</p:tagLst>
</file>

<file path=ppt/tags/tag245.xml><?xml version="1.0" encoding="utf-8"?>
<p:tagLst xmlns:a="http://schemas.openxmlformats.org/drawingml/2006/main" xmlns:r="http://schemas.openxmlformats.org/officeDocument/2006/relationships" xmlns:p="http://schemas.openxmlformats.org/presentationml/2006/main">
  <p:tag name="LAST UPDATE DATE" val="461963473.722243"/>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4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4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4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49.xml><?xml version="1.0" encoding="utf-8"?>
<p:tagLst xmlns:a="http://schemas.openxmlformats.org/drawingml/2006/main" xmlns:r="http://schemas.openxmlformats.org/officeDocument/2006/relationships" xmlns:p="http://schemas.openxmlformats.org/presentationml/2006/main">
  <p:tag name="LAST UPDATE DATE" val="460160257.527554"/>
  <p:tag name="IMPORTID" val="2493459454209.394299"/>
  <p:tag name="WBLAST" val="https://kpmgcan.sharepoint.com/sites/CA-KGSCanada-ProjectNorth/Shared Documents/Project North/Staff Files/Project North_(Jun-24) RF Draft databook_31-Jul-24.xlsb"/>
  <p:tag name="USER NAME" val="cindyxie1"/>
  <p:tag name="TYPE" val="1"/>
  <p:tag name="SOURCENAME" val="Covid-19 related income/expenses"/>
  <p:tag name="SHEETID" val="QofE DD adjustments"/>
  <p:tag name="PICTUREAPPEARANCE" val="xlPrinter"/>
  <p:tag name="NORESIZEONUPDATE" val="False"/>
</p:tagLst>
</file>

<file path=ppt/tags/tag250.xml><?xml version="1.0" encoding="utf-8"?>
<p:tagLst xmlns:a="http://schemas.openxmlformats.org/drawingml/2006/main" xmlns:r="http://schemas.openxmlformats.org/officeDocument/2006/relationships" xmlns:p="http://schemas.openxmlformats.org/presentationml/2006/main">
  <p:tag name="SHAPETYPE" val="BREADCRUMB"/>
</p:tagLst>
</file>

<file path=ppt/tags/tag251.xml><?xml version="1.0" encoding="utf-8"?>
<p:tagLst xmlns:a="http://schemas.openxmlformats.org/drawingml/2006/main" xmlns:r="http://schemas.openxmlformats.org/officeDocument/2006/relationships" xmlns:p="http://schemas.openxmlformats.org/presentationml/2006/main">
  <p:tag name="LAST UPDATE DATE" val="461963494.023954"/>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5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5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5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55.xml><?xml version="1.0" encoding="utf-8"?>
<p:tagLst xmlns:a="http://schemas.openxmlformats.org/drawingml/2006/main" xmlns:r="http://schemas.openxmlformats.org/officeDocument/2006/relationships" xmlns:p="http://schemas.openxmlformats.org/presentationml/2006/main">
  <p:tag name="LAST UPDATE DATE" val="460160542.161031"/>
  <p:tag name="IMPORTID" val="9508459454766.701603"/>
  <p:tag name="WBLAST" val="https://kpmgcan.sharepoint.com/sites/CA-KGSCanada-ProjectNorth/Shared Documents/Project North/Staff Files/Project North_(Jun-24) RF Draft databook_31-Jul-24.xlsb"/>
  <p:tag name="USER NAME" val="cindyxie1"/>
  <p:tag name="TYPE" val="1"/>
  <p:tag name="SOURCENAME" val="New customers "/>
  <p:tag name="SHEETID" val="QofE PF adjustments"/>
  <p:tag name="PICTUREAPPEARANCE" val="xlPrinter"/>
  <p:tag name="NORESIZEONUPDATE" val="False"/>
</p:tagLst>
</file>

<file path=ppt/tags/tag256.xml><?xml version="1.0" encoding="utf-8"?>
<p:tagLst xmlns:a="http://schemas.openxmlformats.org/drawingml/2006/main" xmlns:r="http://schemas.openxmlformats.org/officeDocument/2006/relationships" xmlns:p="http://schemas.openxmlformats.org/presentationml/2006/main">
  <p:tag name="LAST UPDATE DATE" val="460160630.884139"/>
  <p:tag name="IMPORTID" val="1423459454888.826195"/>
  <p:tag name="WBLAST" val="https://kpmgcan.sharepoint.com/sites/CA-KGSCanada-ProjectNorth/Shared Documents/Project North/Staff Files/Project North_(Jun-24) RF Draft databook_31-Jul-24.xlsb"/>
  <p:tag name="USER NAME" val="cindyxie1"/>
  <p:tag name="TYPE" val="1"/>
  <p:tag name="SOURCENAME" val="Terminated and lost customers"/>
  <p:tag name="SHEETID" val="QofE PF adjustments"/>
  <p:tag name="PICTUREAPPEARANCE" val="xlPrinter"/>
  <p:tag name="NORESIZEONUPDATE" val="False"/>
</p:tagLst>
</file>

<file path=ppt/tags/tag257.xml><?xml version="1.0" encoding="utf-8"?>
<p:tagLst xmlns:a="http://schemas.openxmlformats.org/drawingml/2006/main" xmlns:r="http://schemas.openxmlformats.org/officeDocument/2006/relationships" xmlns:p="http://schemas.openxmlformats.org/presentationml/2006/main">
  <p:tag name="SHAPETYPE" val="BREADCRUMB"/>
</p:tagLst>
</file>

<file path=ppt/tags/tag258.xml><?xml version="1.0" encoding="utf-8"?>
<p:tagLst xmlns:a="http://schemas.openxmlformats.org/drawingml/2006/main" xmlns:r="http://schemas.openxmlformats.org/officeDocument/2006/relationships" xmlns:p="http://schemas.openxmlformats.org/presentationml/2006/main">
  <p:tag name="LAST UPDATE DATE" val="461963507.426415"/>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5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6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6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62.xml><?xml version="1.0" encoding="utf-8"?>
<p:tagLst xmlns:a="http://schemas.openxmlformats.org/drawingml/2006/main" xmlns:r="http://schemas.openxmlformats.org/officeDocument/2006/relationships" xmlns:p="http://schemas.openxmlformats.org/presentationml/2006/main">
  <p:tag name="LAST UPDATE DATE" val="460160895.119235"/>
  <p:tag name="IMPORTID" val="2709456354959.773099"/>
  <p:tag name="WBLAST" val="https://kpmgcan.sharepoint.com/sites/CA-KGSCanada-ProjectNorth/Shared Documents/Project North/Staff Files/Project North_(Jun-24) RF Draft databook_31-Jul-24.xlsb"/>
  <p:tag name="USER NAME" val="cindyxie1"/>
  <p:tag name="TYPE" val="1"/>
  <p:tag name="SOURCENAME" val="Credit Union MSA | Summary"/>
  <p:tag name="SHEETID" val="QofE PF adjustments"/>
  <p:tag name="PICTUREAPPEARANCE" val="xlPrinter"/>
  <p:tag name="NORESIZEONUPDATE" val="False"/>
</p:tagLst>
</file>

<file path=ppt/tags/tag263.xml><?xml version="1.0" encoding="utf-8"?>
<p:tagLst xmlns:a="http://schemas.openxmlformats.org/drawingml/2006/main" xmlns:r="http://schemas.openxmlformats.org/officeDocument/2006/relationships" xmlns:p="http://schemas.openxmlformats.org/presentationml/2006/main">
  <p:tag name="SHAPETYPE" val="BREADCRUMB"/>
</p:tagLst>
</file>

<file path=ppt/tags/tag264.xml><?xml version="1.0" encoding="utf-8"?>
<p:tagLst xmlns:a="http://schemas.openxmlformats.org/drawingml/2006/main" xmlns:r="http://schemas.openxmlformats.org/officeDocument/2006/relationships" xmlns:p="http://schemas.openxmlformats.org/presentationml/2006/main">
  <p:tag name="LAST UPDATE DATE" val="461963514.049819"/>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6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6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6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68.xml><?xml version="1.0" encoding="utf-8"?>
<p:tagLst xmlns:a="http://schemas.openxmlformats.org/drawingml/2006/main" xmlns:r="http://schemas.openxmlformats.org/officeDocument/2006/relationships" xmlns:p="http://schemas.openxmlformats.org/presentationml/2006/main">
  <p:tag name="LAST UPDATE DATE" val="460161126.99206"/>
  <p:tag name="IMPORTID" val="1380459455960.441981"/>
  <p:tag name="WBLAST" val="https://kpmgcan.sharepoint.com/sites/CA-KGSCanada-ProjectNorth/Shared Documents/Project North/Staff Files/Project North_(Jun-24) RF Draft databook_31-Jul-24.xlsb"/>
  <p:tag name="USER NAME" val="cindyxie1"/>
  <p:tag name="TYPE" val="1"/>
  <p:tag name="SOURCENAME" val="Data center facility costs"/>
  <p:tag name="SHEETID" val="QofE PF adjustments"/>
  <p:tag name="PICTUREAPPEARANCE" val="xlPrinter"/>
  <p:tag name="NORESIZEONUPDATE" val="False"/>
</p:tagLst>
</file>

<file path=ppt/tags/tag269.xml><?xml version="1.0" encoding="utf-8"?>
<p:tagLst xmlns:a="http://schemas.openxmlformats.org/drawingml/2006/main" xmlns:r="http://schemas.openxmlformats.org/officeDocument/2006/relationships" xmlns:p="http://schemas.openxmlformats.org/presentationml/2006/main">
  <p:tag name="LAST UPDATE DATE" val="460161145.605705"/>
  <p:tag name="IMPORTID" val="522459456057.893003"/>
  <p:tag name="WBLAST" val="https://kpmgcan.sharepoint.com/sites/CA-KGSCanada-ProjectNorth/Shared Documents/Project North/Staff Files/Project North_(Jun-24) RF Draft databook_31-Jul-24.xlsb"/>
  <p:tag name="USER NAME" val="cindyxie1"/>
  <p:tag name="TYPE" val="1"/>
  <p:tag name="SOURCENAME" val="EConnect software maintenance run-rate expenses"/>
  <p:tag name="SHEETID" val="QofE PF adjustments"/>
  <p:tag name="PICTUREAPPEARANCE" val="xlPrinter"/>
  <p:tag name="NORESIZEONUPDATE" val="False"/>
</p:tagLst>
</file>

<file path=ppt/tags/tag270.xml><?xml version="1.0" encoding="utf-8"?>
<p:tagLst xmlns:a="http://schemas.openxmlformats.org/drawingml/2006/main" xmlns:r="http://schemas.openxmlformats.org/officeDocument/2006/relationships" xmlns:p="http://schemas.openxmlformats.org/presentationml/2006/main">
  <p:tag name="SHAPETYPE" val="BREADCRUMB"/>
</p:tagLst>
</file>

<file path=ppt/tags/tag27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7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7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74.xml><?xml version="1.0" encoding="utf-8"?>
<p:tagLst xmlns:a="http://schemas.openxmlformats.org/drawingml/2006/main" xmlns:r="http://schemas.openxmlformats.org/officeDocument/2006/relationships" xmlns:p="http://schemas.openxmlformats.org/presentationml/2006/main">
  <p:tag name="LAST UPDATE DATE" val="461963520.202442"/>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75.xml><?xml version="1.0" encoding="utf-8"?>
<p:tagLst xmlns:a="http://schemas.openxmlformats.org/drawingml/2006/main" xmlns:r="http://schemas.openxmlformats.org/officeDocument/2006/relationships" xmlns:p="http://schemas.openxmlformats.org/presentationml/2006/main">
  <p:tag name="SHAPETYPE" val="BREADCRUMB"/>
</p:tagLst>
</file>

<file path=ppt/tags/tag276.xml><?xml version="1.0" encoding="utf-8"?>
<p:tagLst xmlns:a="http://schemas.openxmlformats.org/drawingml/2006/main" xmlns:r="http://schemas.openxmlformats.org/officeDocument/2006/relationships" xmlns:p="http://schemas.openxmlformats.org/presentationml/2006/main">
  <p:tag name="LAST UPDATE DATE" val="461599629.276676"/>
  <p:tag name="IMPORTID" val="4724459456465.80881"/>
  <p:tag name="WBLAST" val="https://kpmgcan.sharepoint.com/sites/CA-KGSCanada-ProjectNorth/Shared Documents/Project North/Staff Files/Project North_(Jun-24) RF Draft databook_17-Aug-24.xlsb"/>
  <p:tag name="USER NAME" val="cindyxie1"/>
  <p:tag name="TYPE" val="1"/>
  <p:tag name="SOURCENAME" val="Open positions"/>
  <p:tag name="SHEETID" val="QofE PF adjustments"/>
  <p:tag name="PICTUREAPPEARANCE" val="xlPrinter"/>
  <p:tag name="NORESIZEONUPDATE" val="False"/>
</p:tagLst>
</file>

<file path=ppt/tags/tag277.xml><?xml version="1.0" encoding="utf-8"?>
<p:tagLst xmlns:a="http://schemas.openxmlformats.org/drawingml/2006/main" xmlns:r="http://schemas.openxmlformats.org/officeDocument/2006/relationships" xmlns:p="http://schemas.openxmlformats.org/presentationml/2006/main">
  <p:tag name="LAST UPDATE DATE" val="461963230.366514"/>
  <p:tag name="IMPORTID" val="9394459456405.021591"/>
  <p:tag name="WBLAST" val="https://kpmgcan.sharepoint.com/sites/CA-KGSCanada-ProjectNorth/Shared Documents/Project North/Staff Files/Project North_(Jun-24) RF Draft databook_21-Aug-24.xlsb"/>
  <p:tag name="USER NAME" val="cindyxie1"/>
  <p:tag name="TYPE" val="1"/>
  <p:tag name="SOURCENAME" val="Settlement services run-rate"/>
  <p:tag name="SHEETID" val="QofE PF adjustments"/>
  <p:tag name="PICTUREAPPEARANCE" val="xlPrinter"/>
  <p:tag name="NORESIZEONUPDATE" val="False"/>
</p:tagLst>
</file>

<file path=ppt/tags/tag278.xml><?xml version="1.0" encoding="utf-8"?>
<p:tagLst xmlns:a="http://schemas.openxmlformats.org/drawingml/2006/main" xmlns:r="http://schemas.openxmlformats.org/officeDocument/2006/relationships" xmlns:p="http://schemas.openxmlformats.org/presentationml/2006/main">
  <p:tag name="LAST UPDATE DATE" val="460161787.719446"/>
  <p:tag name="IMPORTID" val="4778459456612.179112"/>
  <p:tag name="WBLAST" val="https://kpmgcan.sharepoint.com/sites/CA-KGSCanada-ProjectNorth/Shared Documents/Project North/Staff Files/Project North_(Jun-24) RF Draft databook_31-Jul-24.xlsb"/>
  <p:tag name="USER NAME" val="cindyxie1"/>
  <p:tag name="TYPE" val="1"/>
  <p:tag name="SOURCENAME" val="New products, cards"/>
  <p:tag name="SHEETID" val="QofE PF adjustments"/>
  <p:tag name="PICTUREAPPEARANCE" val="xlPrinter"/>
  <p:tag name="NORESIZEONUPDATE" val="False"/>
</p:tagLst>
</file>

<file path=ppt/tags/tag279.xml><?xml version="1.0" encoding="utf-8"?>
<p:tagLst xmlns:a="http://schemas.openxmlformats.org/drawingml/2006/main" xmlns:r="http://schemas.openxmlformats.org/officeDocument/2006/relationships" xmlns:p="http://schemas.openxmlformats.org/presentationml/2006/main">
  <p:tag name="LAST UPDATE DATE" val="461963526.169462"/>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8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8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8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83.xml><?xml version="1.0" encoding="utf-8"?>
<p:tagLst xmlns:a="http://schemas.openxmlformats.org/drawingml/2006/main" xmlns:r="http://schemas.openxmlformats.org/officeDocument/2006/relationships" xmlns:p="http://schemas.openxmlformats.org/presentationml/2006/main">
  <p:tag name="SHAPETYPE" val="BREADCRUMB"/>
</p:tagLst>
</file>

<file path=ppt/tags/tag284.xml><?xml version="1.0" encoding="utf-8"?>
<p:tagLst xmlns:a="http://schemas.openxmlformats.org/drawingml/2006/main" xmlns:r="http://schemas.openxmlformats.org/officeDocument/2006/relationships" xmlns:p="http://schemas.openxmlformats.org/presentationml/2006/main">
  <p:tag name="LAST UPDATE DATE" val="460602272.533732"/>
  <p:tag name="IMPORTID" val="3521459456979.010318"/>
  <p:tag name="WBLAST" val="https://kpmgcan.sharepoint.com/sites/CA-KGSCanada-ProjectNorth/Shared Documents/Project North/Staff Files/Project North_(Jun-24) RF Draft databook_02-Aug-24.xlsb"/>
  <p:tag name="USER NAME" val="cindyxie1"/>
  <p:tag name="TYPE" val="1"/>
  <p:tag name="SOURCENAME" val="ATM CDRS Fees"/>
  <p:tag name="SHEETID" val="QofE PF adjustments"/>
  <p:tag name="PICTUREAPPEARANCE" val="xlPrinter"/>
  <p:tag name="NORESIZEONUPDATE" val="False"/>
</p:tagLst>
</file>

<file path=ppt/tags/tag285.xml><?xml version="1.0" encoding="utf-8"?>
<p:tagLst xmlns:a="http://schemas.openxmlformats.org/drawingml/2006/main" xmlns:r="http://schemas.openxmlformats.org/officeDocument/2006/relationships" xmlns:p="http://schemas.openxmlformats.org/presentationml/2006/main">
  <p:tag name="LAST UPDATE DATE" val="460602280.792195"/>
  <p:tag name="IMPORTID" val="9910459456893.190606"/>
  <p:tag name="WBLAST" val="https://kpmgcan.sharepoint.com/sites/CA-KGSCanada-ProjectNorth/Shared Documents/Project North/Staff Files/Project North_(Jun-24) RF Draft databook_02-Aug-24.xlsb"/>
  <p:tag name="USER NAME" val="cindyxie1"/>
  <p:tag name="TYPE" val="1"/>
  <p:tag name="SOURCENAME" val="New products, fraud management"/>
  <p:tag name="SHEETID" val="QofE PF adjustments"/>
  <p:tag name="PICTUREAPPEARANCE" val="xlPrinter"/>
  <p:tag name="NORESIZEONUPDATE" val="False"/>
</p:tagLst>
</file>

<file path=ppt/tags/tag28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8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8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89.xml><?xml version="1.0" encoding="utf-8"?>
<p:tagLst xmlns:a="http://schemas.openxmlformats.org/drawingml/2006/main" xmlns:r="http://schemas.openxmlformats.org/officeDocument/2006/relationships" xmlns:p="http://schemas.openxmlformats.org/presentationml/2006/main">
  <p:tag name="LAST UPDATE DATE" val="461963531.502344"/>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90.xml><?xml version="1.0" encoding="utf-8"?>
<p:tagLst xmlns:a="http://schemas.openxmlformats.org/drawingml/2006/main" xmlns:r="http://schemas.openxmlformats.org/officeDocument/2006/relationships" xmlns:p="http://schemas.openxmlformats.org/presentationml/2006/main">
  <p:tag name="SHAPETYPE" val="BREADCRUMB"/>
</p:tagLst>
</file>

<file path=ppt/tags/tag29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9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29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294.xml><?xml version="1.0" encoding="utf-8"?>
<p:tagLst xmlns:a="http://schemas.openxmlformats.org/drawingml/2006/main" xmlns:r="http://schemas.openxmlformats.org/officeDocument/2006/relationships" xmlns:p="http://schemas.openxmlformats.org/presentationml/2006/main">
  <p:tag name="LAST UPDATE DATE" val="460602298.993965"/>
  <p:tag name="IMPORTID" val="5953459457130.171389"/>
  <p:tag name="WBLAST" val="https://kpmgcan.sharepoint.com/sites/CA-KGSCanada-ProjectNorth/Shared Documents/Project North/Staff Files/Project North_(Jun-24) RF Draft databook_02-Aug-24.xlsb"/>
  <p:tag name="USER NAME" val="cindyxie1"/>
  <p:tag name="TYPE" val="1"/>
  <p:tag name="SOURCENAME" val="Discontinued operations - Chase partnership"/>
  <p:tag name="SHEETID" val="QofE PF adjustments"/>
  <p:tag name="PICTUREAPPEARANCE" val="xlPrinter"/>
  <p:tag name="NORESIZEONUPDATE" val="False"/>
</p:tagLst>
</file>

<file path=ppt/tags/tag295.xml><?xml version="1.0" encoding="utf-8"?>
<p:tagLst xmlns:a="http://schemas.openxmlformats.org/drawingml/2006/main" xmlns:r="http://schemas.openxmlformats.org/officeDocument/2006/relationships" xmlns:p="http://schemas.openxmlformats.org/presentationml/2006/main">
  <p:tag name="LAST UPDATE DATE" val="460602315.255005"/>
  <p:tag name="IMPORTID" val="9894459457161.97368"/>
  <p:tag name="WBLAST" val="https://kpmgcan.sharepoint.com/sites/CA-KGSCanada-ProjectNorth/Shared Documents/Project North/Staff Files/Project North_(Jun-24) RF Draft databook_02-Aug-24.xlsb"/>
  <p:tag name="USER NAME" val="cindyxie1"/>
  <p:tag name="TYPE" val="1"/>
  <p:tag name="SOURCENAME" val="Visa VAP run-rate"/>
  <p:tag name="SHEETID" val="QofE PF adjustments"/>
  <p:tag name="PICTUREAPPEARANCE" val="xlPrinter"/>
  <p:tag name="NORESIZEONUPDATE" val="False"/>
</p:tagLst>
</file>

<file path=ppt/tags/tag296.xml><?xml version="1.0" encoding="utf-8"?>
<p:tagLst xmlns:a="http://schemas.openxmlformats.org/drawingml/2006/main" xmlns:r="http://schemas.openxmlformats.org/officeDocument/2006/relationships" xmlns:p="http://schemas.openxmlformats.org/presentationml/2006/main">
  <p:tag name="LAST UPDATE DATE" val="461963536.497509"/>
  <p:tag name="IMPORTID" val="888459449697.535785"/>
  <p:tag name="WBLAST" val="https://kpmgcan.sharepoint.com/sites/CA-KGSCanada-ProjectNorth/Shared Documents/Project North/Staff Files/Project North_(Jun-24) RF Draft databook_21-Aug-24.xlsb"/>
  <p:tag name="USER NAME" val="cindyxie1"/>
  <p:tag name="TYPE" val="1"/>
  <p:tag name="SOURCENAME" val="Quality of earnings"/>
  <p:tag name="SHEETID" val="QofE | Detail"/>
  <p:tag name="PICTUREAPPEARANCE" val="xlPrinter"/>
  <p:tag name="NORESIZEONUPDATE" val="False"/>
</p:tagLst>
</file>

<file path=ppt/tags/tag297.xml><?xml version="1.0" encoding="utf-8"?>
<p:tagLst xmlns:a="http://schemas.openxmlformats.org/drawingml/2006/main" xmlns:r="http://schemas.openxmlformats.org/officeDocument/2006/relationships" xmlns:p="http://schemas.openxmlformats.org/presentationml/2006/main">
  <p:tag name="SHAPETYPE" val="BREADCRUMB"/>
</p:tagLst>
</file>

<file path=ppt/tags/tag298.xml><?xml version="1.0" encoding="utf-8"?>
<p:tagLst xmlns:a="http://schemas.openxmlformats.org/drawingml/2006/main" xmlns:r="http://schemas.openxmlformats.org/officeDocument/2006/relationships" xmlns:p="http://schemas.openxmlformats.org/presentationml/2006/main">
  <p:tag name="LAST UPDATE DATE" val="460836684.195846"/>
  <p:tag name="IMPORTID" val="2533459457312.093633"/>
  <p:tag name="WBLAST" val="https://kpmgcan.sharepoint.com/sites/CA-KGSCanada-ProjectNorth/Shared Documents/Project North/Staff Files/Project North_(Jun-24) RF Draft databook_07-Aug-24.xlsb"/>
  <p:tag name="USER NAME" val="cindyxie1"/>
  <p:tag name="TYPE" val="1"/>
  <p:tag name="SOURCENAME" val="Other considerations"/>
  <p:tag name="SHEETID" val="QofE | Detail"/>
  <p:tag name="PICTUREAPPEARANCE" val="xlPrinter"/>
  <p:tag name="NORESIZEONUPDATE" val="False"/>
</p:tagLst>
</file>

<file path=ppt/tags/tag299.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02.xml><?xml version="1.0" encoding="utf-8"?>
<p:tagLst xmlns:a="http://schemas.openxmlformats.org/drawingml/2006/main" xmlns:r="http://schemas.openxmlformats.org/officeDocument/2006/relationships" xmlns:p="http://schemas.openxmlformats.org/presentationml/2006/main">
  <p:tag name="LAST UPDATE DATE" val="460836822.617595"/>
  <p:tag name="IMPORTID" val="1221459457516.504832"/>
  <p:tag name="WBLAST" val="https://kpmgcan.sharepoint.com/sites/CA-KGSCanada-ProjectNorth/Shared Documents/Project North/Staff Files/Project North_(Jun-24) RF Draft databook_07-Aug-24.xlsb"/>
  <p:tag name="USER NAME" val="cindyxie1"/>
  <p:tag name="TYPE" val="1"/>
  <p:tag name="SOURCENAME" val="Cash rent expense"/>
  <p:tag name="SHEETID" val="QofE DD adjustments"/>
  <p:tag name="PICTUREAPPEARANCE" val="xlPrinter"/>
  <p:tag name="NORESIZEONUPDATE" val="False"/>
</p:tagLst>
</file>

<file path=ppt/tags/tag303.xml><?xml version="1.0" encoding="utf-8"?>
<p:tagLst xmlns:a="http://schemas.openxmlformats.org/drawingml/2006/main" xmlns:r="http://schemas.openxmlformats.org/officeDocument/2006/relationships" xmlns:p="http://schemas.openxmlformats.org/presentationml/2006/main">
  <p:tag name="SHAPETYPE" val="BREADCRUMB"/>
</p:tagLst>
</file>

<file path=ppt/tags/tag30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0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07.xml><?xml version="1.0" encoding="utf-8"?>
<p:tagLst xmlns:a="http://schemas.openxmlformats.org/drawingml/2006/main" xmlns:r="http://schemas.openxmlformats.org/officeDocument/2006/relationships" xmlns:p="http://schemas.openxmlformats.org/presentationml/2006/main">
  <p:tag name="LAST UPDATE DATE" val="457113311.140477"/>
  <p:tag name="IMPORTID" val="3491457113311.140477"/>
  <p:tag name="WBLAST" val="https://kpmgcan.sharepoint.com/sites/CA-KGSCanada-ProjectNorth/Shared Documents/Project North/Staff Files/Project North_Draft databook_26-Jun-24.xlsb"/>
  <p:tag name="USER NAME" val="cindyxie1"/>
  <p:tag name="TYPE" val="1"/>
  <p:tag name="SOURCENAME" val=" Amortization periods "/>
  <p:tag name="SHEETID" val="QofE DD adjustments"/>
  <p:tag name="PICTUREAPPEARANCE" val="xlPrinter"/>
  <p:tag name="NORESIZEONUPDATE" val="False"/>
</p:tagLst>
</file>

<file path=ppt/tags/tag308.xml><?xml version="1.0" encoding="utf-8"?>
<p:tagLst xmlns:a="http://schemas.openxmlformats.org/drawingml/2006/main" xmlns:r="http://schemas.openxmlformats.org/officeDocument/2006/relationships" xmlns:p="http://schemas.openxmlformats.org/presentationml/2006/main">
  <p:tag name="LAST UPDATE DATE" val="460162108.006183"/>
  <p:tag name="IMPORTID" val="285459457687.063318"/>
  <p:tag name="WBLAST" val="https://kpmgcan.sharepoint.com/sites/CA-KGSCanada-ProjectNorth/Shared Documents/Project North/Staff Files/Project North_(Jun-24) RF Draft databook_31-Jul-24.xlsb"/>
  <p:tag name="USER NAME" val="cindyxie1"/>
  <p:tag name="TYPE" val="1"/>
  <p:tag name="SOURCENAME" val="Sublet revenue run-rate"/>
  <p:tag name="SHEETID" val="QofE DD adjustments"/>
  <p:tag name="PICTUREAPPEARANCE" val="xlPrinter"/>
  <p:tag name="NORESIZEONUPDATE" val="False"/>
</p:tagLst>
</file>

<file path=ppt/tags/tag309.xml><?xml version="1.0" encoding="utf-8"?>
<p:tagLst xmlns:a="http://schemas.openxmlformats.org/drawingml/2006/main" xmlns:r="http://schemas.openxmlformats.org/officeDocument/2006/relationships" xmlns:p="http://schemas.openxmlformats.org/presentationml/2006/main">
  <p:tag name="LAST UPDATE DATE" val="460162134.044409"/>
  <p:tag name="IMPORTID" val="347459457730.101505"/>
  <p:tag name="WBLAST" val="https://kpmgcan.sharepoint.com/sites/CA-KGSCanada-ProjectNorth/Shared Documents/Project North/Staff Files/Project North_(Jun-24) RF Draft databook_31-Jul-24.xlsb"/>
  <p:tag name="USER NAME" val="cindyxie1"/>
  <p:tag name="TYPE" val="1"/>
  <p:tag name="SOURCENAME" val="Co-op financial variable costs run-rate"/>
  <p:tag name="SHEETID" val="QofE DD adjustments"/>
  <p:tag name="PICTUREAPPEARANCE" val="xlPrinter"/>
  <p:tag name="NORESIZEONUPDATE" val="False"/>
</p:tagLst>
</file>

<file path=ppt/tags/tag310.xml><?xml version="1.0" encoding="utf-8"?>
<p:tagLst xmlns:a="http://schemas.openxmlformats.org/drawingml/2006/main" xmlns:r="http://schemas.openxmlformats.org/officeDocument/2006/relationships" xmlns:p="http://schemas.openxmlformats.org/presentationml/2006/main">
  <p:tag name="LAST UPDATE DATE" val="460162197.912746"/>
  <p:tag name="IMPORTID" val="8043460162165.423056"/>
  <p:tag name="WBLAST" val="https://kpmgcan.sharepoint.com/sites/CA-KGSCanada-ProjectNorth/Shared Documents/Project North/Staff Files/Project North_(Jun-24) RF Draft databook_31-Jul-24.xlsb"/>
  <p:tag name="USER NAME" val="cindyxie1"/>
  <p:tag name="TYPE" val="1"/>
  <p:tag name="SOURCENAME" val="Capitalized labour and development"/>
  <p:tag name="SHEETID" val="QofE DD adjustments"/>
  <p:tag name="PICTUREAPPEARANCE" val="xlPrinter"/>
  <p:tag name="NORESIZEONUPDATE" val="False"/>
</p:tagLst>
</file>

<file path=ppt/tags/tag311.xml><?xml version="1.0" encoding="utf-8"?>
<p:tagLst xmlns:a="http://schemas.openxmlformats.org/drawingml/2006/main" xmlns:r="http://schemas.openxmlformats.org/officeDocument/2006/relationships" xmlns:p="http://schemas.openxmlformats.org/presentationml/2006/main">
  <p:tag name="SHAPETYPE" val="BREADCRUMB"/>
</p:tagLst>
</file>

<file path=ppt/tags/tag312.xml><?xml version="1.0" encoding="utf-8"?>
<p:tagLst xmlns:a="http://schemas.openxmlformats.org/drawingml/2006/main" xmlns:r="http://schemas.openxmlformats.org/officeDocument/2006/relationships" xmlns:p="http://schemas.openxmlformats.org/presentationml/2006/main">
  <p:tag name="NAME" val="Balance sheet"/>
  <p:tag name="SECTION" val="3"/>
</p:tagLst>
</file>

<file path=ppt/tags/tag313.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31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1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1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17.xml><?xml version="1.0" encoding="utf-8"?>
<p:tagLst xmlns:a="http://schemas.openxmlformats.org/drawingml/2006/main" xmlns:r="http://schemas.openxmlformats.org/officeDocument/2006/relationships" xmlns:p="http://schemas.openxmlformats.org/presentationml/2006/main">
  <p:tag name="TOCSHAPE" val="AA"/>
</p:tagLst>
</file>

<file path=ppt/tags/tag318.xml><?xml version="1.0" encoding="utf-8"?>
<p:tagLst xmlns:a="http://schemas.openxmlformats.org/drawingml/2006/main" xmlns:r="http://schemas.openxmlformats.org/officeDocument/2006/relationships" xmlns:p="http://schemas.openxmlformats.org/presentationml/2006/main">
  <p:tag name="TOCSHAPE" val="806"/>
  <p:tag name="SLIDEINDEX" val="806"/>
</p:tagLst>
</file>

<file path=ppt/tags/tag319.xml><?xml version="1.0" encoding="utf-8"?>
<p:tagLst xmlns:a="http://schemas.openxmlformats.org/drawingml/2006/main" xmlns:r="http://schemas.openxmlformats.org/officeDocument/2006/relationships" xmlns:p="http://schemas.openxmlformats.org/presentationml/2006/main">
  <p:tag name="TOCSHAPE" val="AA"/>
</p:tagLst>
</file>

<file path=ppt/tags/tag320.xml><?xml version="1.0" encoding="utf-8"?>
<p:tagLst xmlns:a="http://schemas.openxmlformats.org/drawingml/2006/main" xmlns:r="http://schemas.openxmlformats.org/officeDocument/2006/relationships" xmlns:p="http://schemas.openxmlformats.org/presentationml/2006/main">
  <p:tag name="TOCSHAPE" val="AA"/>
</p:tagLst>
</file>

<file path=ppt/tags/tag321.xml><?xml version="1.0" encoding="utf-8"?>
<p:tagLst xmlns:a="http://schemas.openxmlformats.org/drawingml/2006/main" xmlns:r="http://schemas.openxmlformats.org/officeDocument/2006/relationships" xmlns:p="http://schemas.openxmlformats.org/presentationml/2006/main">
  <p:tag name="TOCSHAPE" val="AA"/>
</p:tagLst>
</file>

<file path=ppt/tags/tag322.xml><?xml version="1.0" encoding="utf-8"?>
<p:tagLst xmlns:a="http://schemas.openxmlformats.org/drawingml/2006/main" xmlns:r="http://schemas.openxmlformats.org/officeDocument/2006/relationships" xmlns:p="http://schemas.openxmlformats.org/presentationml/2006/main">
  <p:tag name="TOCSHAPE" val="886"/>
  <p:tag name="SLIDEINDEX" val="886"/>
</p:tagLst>
</file>

<file path=ppt/tags/tag323.xml><?xml version="1.0" encoding="utf-8"?>
<p:tagLst xmlns:a="http://schemas.openxmlformats.org/drawingml/2006/main" xmlns:r="http://schemas.openxmlformats.org/officeDocument/2006/relationships" xmlns:p="http://schemas.openxmlformats.org/presentationml/2006/main">
  <p:tag name="TOCSHAPE" val="909"/>
  <p:tag name="SLIDEINDEX" val="909"/>
</p:tagLst>
</file>

<file path=ppt/tags/tag324.xml><?xml version="1.0" encoding="utf-8"?>
<p:tagLst xmlns:a="http://schemas.openxmlformats.org/drawingml/2006/main" xmlns:r="http://schemas.openxmlformats.org/officeDocument/2006/relationships" xmlns:p="http://schemas.openxmlformats.org/presentationml/2006/main">
  <p:tag name="TOCSHAPE" val="912"/>
  <p:tag name="SLIDEINDEX" val="912"/>
</p:tagLst>
</file>

<file path=ppt/tags/tag32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2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2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28.xml><?xml version="1.0" encoding="utf-8"?>
<p:tagLst xmlns:a="http://schemas.openxmlformats.org/drawingml/2006/main" xmlns:r="http://schemas.openxmlformats.org/officeDocument/2006/relationships" xmlns:p="http://schemas.openxmlformats.org/presentationml/2006/main">
  <p:tag name="SHAPETYPE" val="BREADCRUMB"/>
</p:tagLst>
</file>

<file path=ppt/tags/tag329.xml><?xml version="1.0" encoding="utf-8"?>
<p:tagLst xmlns:a="http://schemas.openxmlformats.org/drawingml/2006/main" xmlns:r="http://schemas.openxmlformats.org/officeDocument/2006/relationships" xmlns:p="http://schemas.openxmlformats.org/presentationml/2006/main">
  <p:tag name="LAST UPDATE DATE" val="461952296.870365"/>
  <p:tag name="IMPORTID" val="6649461952296.870365"/>
  <p:tag name="WBLAST" val="https://kpmgcan.sharepoint.com/sites/CA-KGSCanada-ProjectNorth/Shared Documents/Project North/Staff Files/Project North_(Jun-24) RF Draft databook_21-Aug-24.xlsb"/>
  <p:tag name="USER NAME" val="cindyxie1"/>
  <p:tag name="TYPE" val="1"/>
  <p:tag name="SOURCENAME" val="Stratified balance sheet"/>
  <p:tag name="SHEETID" val="Stratified BS"/>
  <p:tag name="PICTUREAPPEARANCE" val="xlPrinter"/>
  <p:tag name="NORESIZEONUPDATE" val="False"/>
</p:tagLst>
</file>

<file path=ppt/tags/tag33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3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3.xml><?xml version="1.0" encoding="utf-8"?>
<p:tagLst xmlns:a="http://schemas.openxmlformats.org/drawingml/2006/main" xmlns:r="http://schemas.openxmlformats.org/officeDocument/2006/relationships" xmlns:p="http://schemas.openxmlformats.org/presentationml/2006/main">
  <p:tag name="SHAPETYPE" val="BREADCRUMB"/>
</p:tagLst>
</file>

<file path=ppt/tags/tag334.xml><?xml version="1.0" encoding="utf-8"?>
<p:tagLst xmlns:a="http://schemas.openxmlformats.org/drawingml/2006/main" xmlns:r="http://schemas.openxmlformats.org/officeDocument/2006/relationships" xmlns:p="http://schemas.openxmlformats.org/presentationml/2006/main">
  <p:tag name="LAST UPDATE DATE" val="461952296.870365"/>
  <p:tag name="IMPORTID" val="6649461952296.870365"/>
  <p:tag name="WBLAST" val="https://kpmgcan.sharepoint.com/sites/CA-KGSCanada-ProjectNorth/Shared Documents/Project North/Staff Files/Project North_(Jun-24) RF Draft databook_21-Aug-24.xlsb"/>
  <p:tag name="USER NAME" val="cindyxie1"/>
  <p:tag name="TYPE" val="1"/>
  <p:tag name="SOURCENAME" val="Stratified balance sheet"/>
  <p:tag name="SHEETID" val="Stratified BS"/>
  <p:tag name="PICTUREAPPEARANCE" val="xlPrinter"/>
  <p:tag name="NORESIZEONUPDATE" val="False"/>
</p:tagLst>
</file>

<file path=ppt/tags/tag335.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3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38.xml><?xml version="1.0" encoding="utf-8"?>
<p:tagLst xmlns:a="http://schemas.openxmlformats.org/drawingml/2006/main" xmlns:r="http://schemas.openxmlformats.org/officeDocument/2006/relationships" xmlns:p="http://schemas.openxmlformats.org/presentationml/2006/main">
  <p:tag name="LAST UPDATE DATE" val="461963567.52384"/>
  <p:tag name="IMPORTID" val="4292455913006.059738"/>
  <p:tag name="WBLAST" val="https://kpmgcan.sharepoint.com/sites/CA-KGSCanada-ProjectNorth/Shared Documents/Project North/Staff Files/Project North_(Jun-24) RF Draft databook_21-Aug-24.xlsb"/>
  <p:tag name="USER NAME" val="cindyxie1"/>
  <p:tag name="TYPE" val="2"/>
  <p:tag name="SOURCENAME" val="Adjusted net working capital seasonality ($'000) (Chart 1)"/>
  <p:tag name="SHEETID" val="NWC | Summary"/>
  <p:tag name="PICTUREAPPEARANCE" val="xlScreen"/>
  <p:tag name="NORESIZEONUPDATE" val="False"/>
</p:tagLst>
</file>

<file path=ppt/tags/tag339.xml><?xml version="1.0" encoding="utf-8"?>
<p:tagLst xmlns:a="http://schemas.openxmlformats.org/drawingml/2006/main" xmlns:r="http://schemas.openxmlformats.org/officeDocument/2006/relationships" xmlns:p="http://schemas.openxmlformats.org/presentationml/2006/main">
  <p:tag name="LAST UPDATE DATE" val="461963562.729164"/>
  <p:tag name="IMPORTID" val="7750459443236.391225"/>
  <p:tag name="WBLAST" val="https://kpmgcan.sharepoint.com/sites/CA-KGSCanada-ProjectNorth/Shared Documents/Project North/Staff Files/Project North_(Jun-24) RF Draft databook_21-Aug-24.xlsb"/>
  <p:tag name="USER NAME" val="cindyxie1"/>
  <p:tag name="TYPE" val="1"/>
  <p:tag name="SOURCENAME" val="Net working capital"/>
  <p:tag name="SHEETID" val="NWC | Summary"/>
  <p:tag name="PICTUREAPPEARANCE" val="xlPrinter"/>
  <p:tag name="NORESIZEONUPDATE" val="False"/>
</p:tagLst>
</file>

<file path=ppt/tags/tag340.xml><?xml version="1.0" encoding="utf-8"?>
<p:tagLst xmlns:a="http://schemas.openxmlformats.org/drawingml/2006/main" xmlns:r="http://schemas.openxmlformats.org/officeDocument/2006/relationships" xmlns:p="http://schemas.openxmlformats.org/presentationml/2006/main">
  <p:tag name="SHAPETYPE" val="BREADCRUMB"/>
</p:tagLst>
</file>

<file path=ppt/tags/tag341.xml><?xml version="1.0" encoding="utf-8"?>
<p:tagLst xmlns:a="http://schemas.openxmlformats.org/drawingml/2006/main" xmlns:r="http://schemas.openxmlformats.org/officeDocument/2006/relationships" xmlns:p="http://schemas.openxmlformats.org/presentationml/2006/main">
  <p:tag name="LAST UPDATE DATE" val="461963601.619086"/>
  <p:tag name="IMPORTID" val="7317459460722.746073"/>
  <p:tag name="WBLAST" val="https://kpmgcan.sharepoint.com/sites/CA-KGSCanada-ProjectNorth/Shared Documents/Project North/Staff Files/Project North_(Jun-24) RF Draft databook_21-Aug-24.xlsb"/>
  <p:tag name="USER NAME" val="cindyxie1"/>
  <p:tag name="TYPE" val="1"/>
  <p:tag name="SOURCENAME" val="Net working capital "/>
  <p:tag name="SHEETID" val="NWC | Detail"/>
  <p:tag name="PICTUREAPPEARANCE" val="xlPrinter"/>
  <p:tag name="NORESIZEONUPDATE" val="False"/>
</p:tagLst>
</file>

<file path=ppt/tags/tag34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44.xml><?xml version="1.0" encoding="utf-8"?>
<p:tagLst xmlns:a="http://schemas.openxmlformats.org/drawingml/2006/main" xmlns:r="http://schemas.openxmlformats.org/officeDocument/2006/relationships" xmlns:p="http://schemas.openxmlformats.org/presentationml/2006/main">
  <p:tag name="LAST UPDATE DATE" val="460174377.094964"/>
  <p:tag name="IMPORTID" val="1939459460932.260441"/>
  <p:tag name="WBLAST" val="https://kpmgcan.sharepoint.com/sites/CA-KGSCanada-ProjectNorth/Shared Documents/Project North/Staff Files/Project North_(Jun-24) RF Draft databook_31-Jul-24.xlsb"/>
  <p:tag name="USER NAME" val="cindyxie1"/>
  <p:tag name="TYPE" val="1"/>
  <p:tag name="SOURCENAME" val="Accrued liabilities - celero and cu centrals"/>
  <p:tag name="SHEETID" val="NWC DD adjustments"/>
  <p:tag name="PICTUREAPPEARANCE" val="xlPrinter"/>
  <p:tag name="NORESIZEONUPDATE" val="False"/>
</p:tagLst>
</file>

<file path=ppt/tags/tag345.xml><?xml version="1.0" encoding="utf-8"?>
<p:tagLst xmlns:a="http://schemas.openxmlformats.org/drawingml/2006/main" xmlns:r="http://schemas.openxmlformats.org/officeDocument/2006/relationships" xmlns:p="http://schemas.openxmlformats.org/presentationml/2006/main">
  <p:tag name="SHAPETYPE" val="BREADCRUMB"/>
</p:tagLst>
</file>

<file path=ppt/tags/tag346.xml><?xml version="1.0" encoding="utf-8"?>
<p:tagLst xmlns:a="http://schemas.openxmlformats.org/drawingml/2006/main" xmlns:r="http://schemas.openxmlformats.org/officeDocument/2006/relationships" xmlns:p="http://schemas.openxmlformats.org/presentationml/2006/main">
  <p:tag name="LAST UPDATE DATE" val="461963614.580752"/>
  <p:tag name="IMPORTID" val="7317459460722.746073"/>
  <p:tag name="WBLAST" val="https://kpmgcan.sharepoint.com/sites/CA-KGSCanada-ProjectNorth/Shared Documents/Project North/Staff Files/Project North_(Jun-24) RF Draft databook_21-Aug-24.xlsb"/>
  <p:tag name="USER NAME" val="cindyxie1"/>
  <p:tag name="TYPE" val="1"/>
  <p:tag name="SOURCENAME" val="Net working capital "/>
  <p:tag name="SHEETID" val="NWC | Detail"/>
  <p:tag name="PICTUREAPPEARANCE" val="xlPrinter"/>
  <p:tag name="NORESIZEONUPDATE" val="False"/>
</p:tagLst>
</file>

<file path=ppt/tags/tag34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4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49.xml><?xml version="1.0" encoding="utf-8"?>
<p:tagLst xmlns:a="http://schemas.openxmlformats.org/drawingml/2006/main" xmlns:r="http://schemas.openxmlformats.org/officeDocument/2006/relationships" xmlns:p="http://schemas.openxmlformats.org/presentationml/2006/main">
  <p:tag name="SHAPETYPE" val="BREADCRUMB"/>
</p:tagLst>
</file>

<file path=ppt/tags/tag350.xml><?xml version="1.0" encoding="utf-8"?>
<p:tagLst xmlns:a="http://schemas.openxmlformats.org/drawingml/2006/main" xmlns:r="http://schemas.openxmlformats.org/officeDocument/2006/relationships" xmlns:p="http://schemas.openxmlformats.org/presentationml/2006/main">
  <p:tag name="LAST UPDATE DATE" val="461963619.857857"/>
  <p:tag name="IMPORTID" val="7317459460722.746073"/>
  <p:tag name="WBLAST" val="https://kpmgcan.sharepoint.com/sites/CA-KGSCanada-ProjectNorth/Shared Documents/Project North/Staff Files/Project North_(Jun-24) RF Draft databook_21-Aug-24.xlsb"/>
  <p:tag name="USER NAME" val="cindyxie1"/>
  <p:tag name="TYPE" val="1"/>
  <p:tag name="SOURCENAME" val="Net working capital "/>
  <p:tag name="SHEETID" val="NWC | Detail"/>
  <p:tag name="PICTUREAPPEARANCE" val="xlPrinter"/>
  <p:tag name="NORESIZEONUPDATE" val="False"/>
</p:tagLst>
</file>

<file path=ppt/tags/tag351.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53.xml><?xml version="1.0" encoding="utf-8"?>
<p:tagLst xmlns:a="http://schemas.openxmlformats.org/drawingml/2006/main" xmlns:r="http://schemas.openxmlformats.org/officeDocument/2006/relationships" xmlns:p="http://schemas.openxmlformats.org/presentationml/2006/main">
  <p:tag name="SHAPETYPE" val="BREADCRUMB"/>
</p:tagLst>
</file>

<file path=ppt/tags/tag354.xml><?xml version="1.0" encoding="utf-8"?>
<p:tagLst xmlns:a="http://schemas.openxmlformats.org/drawingml/2006/main" xmlns:r="http://schemas.openxmlformats.org/officeDocument/2006/relationships" xmlns:p="http://schemas.openxmlformats.org/presentationml/2006/main">
  <p:tag name="LAST UPDATE DATE" val="461962114.308032"/>
  <p:tag name="IMPORTID" val="8864459463306.625652"/>
  <p:tag name="WBLAST" val="https://kpmgcan.sharepoint.com/sites/CA-KGSCanada-ProjectNorth/Shared Documents/Project North/Staff Files/Project North_(Jun-24) RF Draft databook_21-Aug-24.xlsb"/>
  <p:tag name="USER NAME" val="cindyxie1"/>
  <p:tag name="TYPE" val="1"/>
  <p:tag name="SOURCENAME" val="Interac DSO normalization"/>
  <p:tag name="SHEETID" val="NWC PF adjustments"/>
  <p:tag name="PICTUREAPPEARANCE" val="xlPrinter"/>
  <p:tag name="NORESIZEONUPDATE" val="False"/>
</p:tagLst>
</file>

<file path=ppt/tags/tag355.xml><?xml version="1.0" encoding="utf-8"?>
<p:tagLst xmlns:a="http://schemas.openxmlformats.org/drawingml/2006/main" xmlns:r="http://schemas.openxmlformats.org/officeDocument/2006/relationships" xmlns:p="http://schemas.openxmlformats.org/presentationml/2006/main">
  <p:tag name="LAST UPDATE DATE" val="461963629.834117"/>
  <p:tag name="IMPORTID" val="7317459460722.746073"/>
  <p:tag name="WBLAST" val="https://kpmgcan.sharepoint.com/sites/CA-KGSCanada-ProjectNorth/Shared Documents/Project North/Staff Files/Project North_(Jun-24) RF Draft databook_21-Aug-24.xlsb"/>
  <p:tag name="USER NAME" val="cindyxie1"/>
  <p:tag name="TYPE" val="1"/>
  <p:tag name="SOURCENAME" val="Net working capital "/>
  <p:tag name="SHEETID" val="NWC | Detail"/>
  <p:tag name="PICTUREAPPEARANCE" val="xlPrinter"/>
  <p:tag name="NORESIZEONUPDATE" val="False"/>
</p:tagLst>
</file>

<file path=ppt/tags/tag35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5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58.xml><?xml version="1.0" encoding="utf-8"?>
<p:tagLst xmlns:a="http://schemas.openxmlformats.org/drawingml/2006/main" xmlns:r="http://schemas.openxmlformats.org/officeDocument/2006/relationships" xmlns:p="http://schemas.openxmlformats.org/presentationml/2006/main">
  <p:tag name="LAST UPDATE DATE" val="461963657.941297"/>
  <p:tag name="IMPORTID" val="5472459463454.963139"/>
  <p:tag name="WBLAST" val="https://kpmgcan.sharepoint.com/sites/CA-KGSCanada-ProjectNorth/Shared Documents/Project North/Staff Files/Project North_(Jun-24) RF Draft databook_21-Aug-24.xlsb"/>
  <p:tag name="USER NAME" val="cindyxie1"/>
  <p:tag name="TYPE" val="1"/>
  <p:tag name="SOURCENAME" val="AR impact of QofE pro forma adjustments"/>
  <p:tag name="SHEETID" val="NWC PF adjustments"/>
  <p:tag name="PICTUREAPPEARANCE" val="xlPrinter"/>
  <p:tag name="NORESIZEONUPDATE" val="False"/>
</p:tagLst>
</file>

<file path=ppt/tags/tag359.xml><?xml version="1.0" encoding="utf-8"?>
<p:tagLst xmlns:a="http://schemas.openxmlformats.org/drawingml/2006/main" xmlns:r="http://schemas.openxmlformats.org/officeDocument/2006/relationships" xmlns:p="http://schemas.openxmlformats.org/presentationml/2006/main">
  <p:tag name="SHAPETYPE" val="BREADCRUMB"/>
</p:tagLst>
</file>

<file path=ppt/tags/tag360.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6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62.xml><?xml version="1.0" encoding="utf-8"?>
<p:tagLst xmlns:a="http://schemas.openxmlformats.org/drawingml/2006/main" xmlns:r="http://schemas.openxmlformats.org/officeDocument/2006/relationships" xmlns:p="http://schemas.openxmlformats.org/presentationml/2006/main">
  <p:tag name="LAST UPDATE DATE" val="461963665.192886"/>
  <p:tag name="IMPORTID" val="7317459460722.746073"/>
  <p:tag name="WBLAST" val="https://kpmgcan.sharepoint.com/sites/CA-KGSCanada-ProjectNorth/Shared Documents/Project North/Staff Files/Project North_(Jun-24) RF Draft databook_21-Aug-24.xlsb"/>
  <p:tag name="USER NAME" val="cindyxie1"/>
  <p:tag name="TYPE" val="1"/>
  <p:tag name="SOURCENAME" val="Net working capital "/>
  <p:tag name="SHEETID" val="NWC | Detail"/>
  <p:tag name="PICTUREAPPEARANCE" val="xlPrinter"/>
  <p:tag name="NORESIZEONUPDATE" val="False"/>
</p:tagLst>
</file>

<file path=ppt/tags/tag363.xml><?xml version="1.0" encoding="utf-8"?>
<p:tagLst xmlns:a="http://schemas.openxmlformats.org/drawingml/2006/main" xmlns:r="http://schemas.openxmlformats.org/officeDocument/2006/relationships" xmlns:p="http://schemas.openxmlformats.org/presentationml/2006/main">
  <p:tag name="LAST UPDATE DATE" val="461962260.170656"/>
  <p:tag name="IMPORTID" val="2934459463626.443661"/>
  <p:tag name="WBLAST" val="https://kpmgcan.sharepoint.com/sites/CA-KGSCanada-ProjectNorth/Shared Documents/Project North/Staff Files/Project North_(Jun-24) RF Draft databook_21-Aug-24.xlsb"/>
  <p:tag name="USER NAME" val="cindyxie1"/>
  <p:tag name="TYPE" val="1"/>
  <p:tag name="SOURCENAME" val="AP impact of QofE pro forma adjustments"/>
  <p:tag name="SHEETID" val="NWC PF adjustments"/>
  <p:tag name="PICTUREAPPEARANCE" val="xlPrinter"/>
  <p:tag name="NORESIZEONUPDATE" val="False"/>
</p:tagLst>
</file>

<file path=ppt/tags/tag364.xml><?xml version="1.0" encoding="utf-8"?>
<p:tagLst xmlns:a="http://schemas.openxmlformats.org/drawingml/2006/main" xmlns:r="http://schemas.openxmlformats.org/officeDocument/2006/relationships" xmlns:p="http://schemas.openxmlformats.org/presentationml/2006/main">
  <p:tag name="LAST UPDATE DATE" val="460175027.770046"/>
  <p:tag name="IMPORTID" val="3246459463671.354052"/>
  <p:tag name="WBLAST" val="https://kpmgcan.sharepoint.com/sites/CA-KGSCanada-ProjectNorth/Shared Documents/Project North/Staff Files/Project North_(Jun-24) RF Draft databook_31-Jul-24.xlsb"/>
  <p:tag name="USER NAME" val="cindyxie1"/>
  <p:tag name="TYPE" val="1"/>
  <p:tag name="SOURCENAME" val="Chase partnership costs"/>
  <p:tag name="SHEETID" val="NWC PF adjustments"/>
  <p:tag name="PICTUREAPPEARANCE" val="xlPrinter"/>
  <p:tag name="NORESIZEONUPDATE" val="False"/>
</p:tagLst>
</file>

<file path=ppt/tags/tag365.xml><?xml version="1.0" encoding="utf-8"?>
<p:tagLst xmlns:a="http://schemas.openxmlformats.org/drawingml/2006/main" xmlns:r="http://schemas.openxmlformats.org/officeDocument/2006/relationships" xmlns:p="http://schemas.openxmlformats.org/presentationml/2006/main">
  <p:tag name="SHAPETYPE" val="BREADCRUMB"/>
</p:tagLst>
</file>

<file path=ppt/tags/tag366.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6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68.xml><?xml version="1.0" encoding="utf-8"?>
<p:tagLst xmlns:a="http://schemas.openxmlformats.org/drawingml/2006/main" xmlns:r="http://schemas.openxmlformats.org/officeDocument/2006/relationships" xmlns:p="http://schemas.openxmlformats.org/presentationml/2006/main">
  <p:tag name="LAST UPDATE DATE" val="459464102.167881"/>
  <p:tag name="IMPORTID" val="5543456611670.746629"/>
  <p:tag name="WBLAST" val="https://kpmgcan.sharepoint.com/sites/CA-KGSCanada-ProjectNorth/Shared Documents/Project North/Staff Files/Project North_(Jun-24) RF Draft databook_23-Jul-24.xlsb"/>
  <p:tag name="USER NAME" val="cindyxie1"/>
  <p:tag name="TYPE" val="2"/>
  <p:tag name="SOURCENAME" val="Prepaid software license fees ($'000) (GL #141511) Seasonality (Chart 1)"/>
  <p:tag name="SHEETID" val="NWC DD adjustments"/>
  <p:tag name="PICTUREAPPEARANCE" val="xlPrinter"/>
  <p:tag name="NORESIZEONUPDATE" val="False"/>
</p:tagLst>
</file>

<file path=ppt/tags/tag369.xml><?xml version="1.0" encoding="utf-8"?>
<p:tagLst xmlns:a="http://schemas.openxmlformats.org/drawingml/2006/main" xmlns:r="http://schemas.openxmlformats.org/officeDocument/2006/relationships" xmlns:p="http://schemas.openxmlformats.org/presentationml/2006/main">
  <p:tag name="LAST UPDATE DATE" val="461963677.516189"/>
  <p:tag name="IMPORTID" val="7317459460722.746073"/>
  <p:tag name="WBLAST" val="https://kpmgcan.sharepoint.com/sites/CA-KGSCanada-ProjectNorth/Shared Documents/Project North/Staff Files/Project North_(Jun-24) RF Draft databook_21-Aug-24.xlsb"/>
  <p:tag name="USER NAME" val="cindyxie1"/>
  <p:tag name="TYPE" val="1"/>
  <p:tag name="SOURCENAME" val="Net working capital "/>
  <p:tag name="SHEETID" val="NWC | Detail"/>
  <p:tag name="PICTUREAPPEARANCE" val="xlPrinter"/>
  <p:tag name="NORESIZEONUPDATE" val="False"/>
</p:tagLst>
</file>

<file path=ppt/tags/tag370.xml><?xml version="1.0" encoding="utf-8"?>
<p:tagLst xmlns:a="http://schemas.openxmlformats.org/drawingml/2006/main" xmlns:r="http://schemas.openxmlformats.org/officeDocument/2006/relationships" xmlns:p="http://schemas.openxmlformats.org/presentationml/2006/main">
  <p:tag name="LAST UPDATE DATE" val="461600752.177844"/>
  <p:tag name="IMPORTID" val="5910459463770.644195"/>
  <p:tag name="WBLAST" val="https://kpmgcan.sharepoint.com/sites/CA-KGSCanada-ProjectNorth/Shared Documents/Project North/Staff Files/Project North_(Jun-24) RF Draft databook_17-Aug-24.xlsb"/>
  <p:tag name="USER NAME" val="cindyxie1"/>
  <p:tag name="TYPE" val="1"/>
  <p:tag name="SOURCENAME" val="Accrued payroll impact of QofE pro forma adjustments"/>
  <p:tag name="SHEETID" val="NWC PF adjustments"/>
  <p:tag name="PICTUREAPPEARANCE" val="xlPrinter"/>
  <p:tag name="NORESIZEONUPDATE" val="False"/>
</p:tagLst>
</file>

<file path=ppt/tags/tag371.xml><?xml version="1.0" encoding="utf-8"?>
<p:tagLst xmlns:a="http://schemas.openxmlformats.org/drawingml/2006/main" xmlns:r="http://schemas.openxmlformats.org/officeDocument/2006/relationships" xmlns:p="http://schemas.openxmlformats.org/presentationml/2006/main">
  <p:tag name="SHAPETYPE" val="BREADCRUMB"/>
</p:tagLst>
</file>

<file path=ppt/tags/tag372.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73.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7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75.xml><?xml version="1.0" encoding="utf-8"?>
<p:tagLst xmlns:a="http://schemas.openxmlformats.org/drawingml/2006/main" xmlns:r="http://schemas.openxmlformats.org/officeDocument/2006/relationships" xmlns:p="http://schemas.openxmlformats.org/presentationml/2006/main">
  <p:tag name="LAST UPDATE DATE" val="461962307.796211"/>
  <p:tag name="IMPORTID" val="1454461536982.730292"/>
  <p:tag name="WBLAST" val="https://kpmgcan.sharepoint.com/sites/CA-KGSCanada-ProjectNorth/Shared Documents/Project North/Staff Files/Project North_(Jun-24) RF Draft databook_21-Aug-24.xlsb"/>
  <p:tag name="USER NAME" val="cindyxie1"/>
  <p:tag name="TYPE" val="1"/>
  <p:tag name="SOURCENAME" val="Net cash/(debt) "/>
  <p:tag name="SHEETID" val="Net debt"/>
  <p:tag name="PICTUREAPPEARANCE" val="xlPrinter"/>
  <p:tag name="NORESIZEONUPDATE" val="False"/>
</p:tagLst>
</file>

<file path=ppt/tags/tag376.xml><?xml version="1.0" encoding="utf-8"?>
<p:tagLst xmlns:a="http://schemas.openxmlformats.org/drawingml/2006/main" xmlns:r="http://schemas.openxmlformats.org/officeDocument/2006/relationships" xmlns:p="http://schemas.openxmlformats.org/presentationml/2006/main">
  <p:tag name="SHAPETYPE" val="BREADCRUMB"/>
</p:tagLst>
</file>

<file path=ppt/tags/tag377.xml><?xml version="1.0" encoding="utf-8"?>
<p:tagLst xmlns:a="http://schemas.openxmlformats.org/drawingml/2006/main" xmlns:r="http://schemas.openxmlformats.org/officeDocument/2006/relationships" xmlns:p="http://schemas.openxmlformats.org/presentationml/2006/main">
  <p:tag name="NAME" val="Reporting environment"/>
  <p:tag name="SECTION" val="4"/>
</p:tagLst>
</file>

<file path=ppt/tags/tag378.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37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380.xml><?xml version="1.0" encoding="utf-8"?>
<p:tagLst xmlns:a="http://schemas.openxmlformats.org/drawingml/2006/main" xmlns:r="http://schemas.openxmlformats.org/officeDocument/2006/relationships" xmlns:p="http://schemas.openxmlformats.org/presentationml/2006/main">
  <p:tag name="TOCSHAPE" val="AA"/>
</p:tagLst>
</file>

<file path=ppt/tags/tag381.xml><?xml version="1.0" encoding="utf-8"?>
<p:tagLst xmlns:a="http://schemas.openxmlformats.org/drawingml/2006/main" xmlns:r="http://schemas.openxmlformats.org/officeDocument/2006/relationships" xmlns:p="http://schemas.openxmlformats.org/presentationml/2006/main">
  <p:tag name="TOCSHAPE" val="808"/>
  <p:tag name="SLIDEINDEX" val="808"/>
</p:tagLst>
</file>

<file path=ppt/tags/tag382.xml><?xml version="1.0" encoding="utf-8"?>
<p:tagLst xmlns:a="http://schemas.openxmlformats.org/drawingml/2006/main" xmlns:r="http://schemas.openxmlformats.org/officeDocument/2006/relationships" xmlns:p="http://schemas.openxmlformats.org/presentationml/2006/main">
  <p:tag name="TOCSHAPE" val="AA"/>
</p:tagLst>
</file>

<file path=ppt/tags/tag383.xml><?xml version="1.0" encoding="utf-8"?>
<p:tagLst xmlns:a="http://schemas.openxmlformats.org/drawingml/2006/main" xmlns:r="http://schemas.openxmlformats.org/officeDocument/2006/relationships" xmlns:p="http://schemas.openxmlformats.org/presentationml/2006/main">
  <p:tag name="TOCSHAPE" val="4701"/>
  <p:tag name="SLIDEINDEX" val="4701"/>
</p:tagLst>
</file>

<file path=ppt/tags/tag38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8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86.xml><?xml version="1.0" encoding="utf-8"?>
<p:tagLst xmlns:a="http://schemas.openxmlformats.org/drawingml/2006/main" xmlns:r="http://schemas.openxmlformats.org/officeDocument/2006/relationships" xmlns:p="http://schemas.openxmlformats.org/presentationml/2006/main">
  <p:tag name="SHAPETYPE" val="BREADCRUMB"/>
</p:tagLst>
</file>

<file path=ppt/tags/tag387.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8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89.xml><?xml version="1.0" encoding="utf-8"?>
<p:tagLst xmlns:a="http://schemas.openxmlformats.org/drawingml/2006/main" xmlns:r="http://schemas.openxmlformats.org/officeDocument/2006/relationships" xmlns:p="http://schemas.openxmlformats.org/presentationml/2006/main">
  <p:tag name="LAST UPDATE DATE" val="459613952.664591"/>
  <p:tag name="IMPORTID" val="5836458397228.079538"/>
  <p:tag name="WBLAST" val="https://kpmgcan.sharepoint.com/sites/CA-KGSCanada-ProjectNorth/Shared Documents/Project North/Staff Files/Project North_(Jun-24) RF Draft databook_25-Jul-24.xlsb"/>
  <p:tag name="USER NAME" val="cindyxie1"/>
  <p:tag name="TYPE" val="1"/>
  <p:tag name="SOURCENAME" val="Accounts receivable aging summary"/>
  <p:tag name="SHEETID" val="Aging summary"/>
  <p:tag name="PICTUREAPPEARANCE" val="xlPrinter"/>
  <p:tag name="NORESIZEONUPDATE" val="False"/>
</p:tagLst>
</file>

<file path=ppt/tags/tag390.xml><?xml version="1.0" encoding="utf-8"?>
<p:tagLst xmlns:a="http://schemas.openxmlformats.org/drawingml/2006/main" xmlns:r="http://schemas.openxmlformats.org/officeDocument/2006/relationships" xmlns:p="http://schemas.openxmlformats.org/presentationml/2006/main">
  <p:tag name="LAST UPDATE DATE" val="459614042.476424"/>
  <p:tag name="IMPORTID" val="674458396443.387284"/>
  <p:tag name="WBLAST" val="https://kpmgcan.sharepoint.com/sites/CA-KGSCanada-ProjectNorth/Shared Documents/Project North/Staff Files/Project North_(Jun-24) RF Draft databook_25-Jul-24.xlsb"/>
  <p:tag name="USER NAME" val="cindyxie1"/>
  <p:tag name="TYPE" val="1"/>
  <p:tag name="SOURCENAME" val="Accounts payable aging summary"/>
  <p:tag name="SHEETID" val="Aging summary"/>
  <p:tag name="PICTUREAPPEARANCE" val="xlPrinter"/>
  <p:tag name="NORESIZEONUPDATE" val="False"/>
</p:tagLst>
</file>

<file path=ppt/tags/tag391.xml><?xml version="1.0" encoding="utf-8"?>
<p:tagLst xmlns:a="http://schemas.openxmlformats.org/drawingml/2006/main" xmlns:r="http://schemas.openxmlformats.org/officeDocument/2006/relationships" xmlns:p="http://schemas.openxmlformats.org/presentationml/2006/main">
  <p:tag name="LAST UPDATE DATE" val="459614111.743947"/>
  <p:tag name="IMPORTID" val="3295456343954.573339"/>
  <p:tag name="WBLAST" val="https://kpmgcan.sharepoint.com/sites/CA-KGSCanada-ProjectNorth/Shared Documents/Project North/Staff Files/Project North_(Jun-24) RF Draft databook_25-Jul-24.xlsb"/>
  <p:tag name="USER NAME" val="cindyxie1"/>
  <p:tag name="TYPE" val="2"/>
  <p:tag name="SOURCENAME" val="DSO, reported  (Chart 4)"/>
  <p:tag name="SHEETID" val="NWC | Days reported"/>
  <p:tag name="PICTUREAPPEARANCE" val="xlPrinter"/>
  <p:tag name="NORESIZEONUPDATE" val="False"/>
</p:tagLst>
</file>

<file path=ppt/tags/tag392.xml><?xml version="1.0" encoding="utf-8"?>
<p:tagLst xmlns:a="http://schemas.openxmlformats.org/drawingml/2006/main" xmlns:r="http://schemas.openxmlformats.org/officeDocument/2006/relationships" xmlns:p="http://schemas.openxmlformats.org/presentationml/2006/main">
  <p:tag name="LAST UPDATE DATE" val="459614140.401937"/>
  <p:tag name="IMPORTID" val="4454456344128.360415"/>
  <p:tag name="WBLAST" val="https://kpmgcan.sharepoint.com/sites/CA-KGSCanada-ProjectNorth/Shared Documents/Project North/Staff Files/Project North_(Jun-24) RF Draft databook_25-Jul-24.xlsb"/>
  <p:tag name="USER NAME" val="cindyxie1"/>
  <p:tag name="TYPE" val="2"/>
  <p:tag name="SOURCENAME" val="DPO, reported  (Chart 2)"/>
  <p:tag name="SHEETID" val="NWC | Days reported"/>
  <p:tag name="PICTUREAPPEARANCE" val="xlPrinter"/>
  <p:tag name="NORESIZEONUPDATE" val="False"/>
</p:tagLst>
</file>

<file path=ppt/tags/tag393.xml><?xml version="1.0" encoding="utf-8"?>
<p:tagLst xmlns:a="http://schemas.openxmlformats.org/drawingml/2006/main" xmlns:r="http://schemas.openxmlformats.org/officeDocument/2006/relationships" xmlns:p="http://schemas.openxmlformats.org/presentationml/2006/main">
  <p:tag name="SHAPETYPE" val="BREADCRUMB"/>
</p:tagLst>
</file>

<file path=ppt/tags/tag394.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9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396.xml><?xml version="1.0" encoding="utf-8"?>
<p:tagLst xmlns:a="http://schemas.openxmlformats.org/drawingml/2006/main" xmlns:r="http://schemas.openxmlformats.org/officeDocument/2006/relationships" xmlns:p="http://schemas.openxmlformats.org/presentationml/2006/main">
  <p:tag name="LAST UPDATE DATE" val="461431066.328422"/>
  <p:tag name="IMPORTID" val="47456614728.503293"/>
  <p:tag name="WBLAST" val="https://kpmgcan.sharepoint.com/sites/CA-KGSCanada-ProjectNorth/Shared Documents/Project North/Staff Files/Project North_(Jun-24) RF Draft databook_15-Aug-24.xlsb"/>
  <p:tag name="USER NAME" val="cindyxie1"/>
  <p:tag name="TYPE" val="1"/>
  <p:tag name="SOURCENAME" val="Related party balances"/>
  <p:tag name="SHEETID" val="Related party balances"/>
  <p:tag name="PICTUREAPPEARANCE" val="xlPrinter"/>
  <p:tag name="NORESIZEONUPDATE" val="False"/>
</p:tagLst>
</file>

<file path=ppt/tags/tag397.xml><?xml version="1.0" encoding="utf-8"?>
<p:tagLst xmlns:a="http://schemas.openxmlformats.org/drawingml/2006/main" xmlns:r="http://schemas.openxmlformats.org/officeDocument/2006/relationships" xmlns:p="http://schemas.openxmlformats.org/presentationml/2006/main">
  <p:tag name="SHAPETYPE" val="BREADCRUMB"/>
</p:tagLst>
</file>

<file path=ppt/tags/tag398.xml><?xml version="1.0" encoding="utf-8"?>
<p:tagLst xmlns:a="http://schemas.openxmlformats.org/drawingml/2006/main" xmlns:r="http://schemas.openxmlformats.org/officeDocument/2006/relationships" xmlns:p="http://schemas.openxmlformats.org/presentationml/2006/main">
  <p:tag name="ADV_TOP" val="97,93157"/>
  <p:tag name="ADV_LEFT" val="207,154"/>
  <p:tag name="ADV_HEIGHT" val="62,85496"/>
  <p:tag name="ADV_WIDTH" val="34,04685"/>
</p:tagLst>
</file>

<file path=ppt/tags/tag39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00.xml><?xml version="1.0" encoding="utf-8"?>
<p:tagLst xmlns:a="http://schemas.openxmlformats.org/drawingml/2006/main" xmlns:r="http://schemas.openxmlformats.org/officeDocument/2006/relationships" xmlns:p="http://schemas.openxmlformats.org/presentationml/2006/main">
  <p:tag name="SHAPETYPE" val="BREADCRUMB"/>
</p:tagLst>
</file>

<file path=ppt/tags/tag401.xml><?xml version="1.0" encoding="utf-8"?>
<p:tagLst xmlns:a="http://schemas.openxmlformats.org/drawingml/2006/main" xmlns:r="http://schemas.openxmlformats.org/officeDocument/2006/relationships" xmlns:p="http://schemas.openxmlformats.org/presentationml/2006/main">
  <p:tag name="FASFONT" val="Univers55"/>
</p:tagLst>
</file>

<file path=ppt/tags/tag402.xml><?xml version="1.0" encoding="utf-8"?>
<p:tagLst xmlns:a="http://schemas.openxmlformats.org/drawingml/2006/main" xmlns:r="http://schemas.openxmlformats.org/officeDocument/2006/relationships" xmlns:p="http://schemas.openxmlformats.org/presentationml/2006/main">
  <p:tag name="FASFONT" val="Univers55"/>
</p:tagLst>
</file>

<file path=ppt/tags/tag403.xml><?xml version="1.0" encoding="utf-8"?>
<p:tagLst xmlns:a="http://schemas.openxmlformats.org/drawingml/2006/main" xmlns:r="http://schemas.openxmlformats.org/officeDocument/2006/relationships" xmlns:p="http://schemas.openxmlformats.org/presentationml/2006/main">
  <p:tag name="FASFONT" val="Univers55"/>
</p:tagLst>
</file>

<file path=ppt/tags/tag404.xml><?xml version="1.0" encoding="utf-8"?>
<p:tagLst xmlns:a="http://schemas.openxmlformats.org/drawingml/2006/main" xmlns:r="http://schemas.openxmlformats.org/officeDocument/2006/relationships" xmlns:p="http://schemas.openxmlformats.org/presentationml/2006/main">
  <p:tag name="FASFONT" val="Univers55"/>
</p:tagLst>
</file>

<file path=ppt/tags/tag405.xml><?xml version="1.0" encoding="utf-8"?>
<p:tagLst xmlns:a="http://schemas.openxmlformats.org/drawingml/2006/main" xmlns:r="http://schemas.openxmlformats.org/officeDocument/2006/relationships" xmlns:p="http://schemas.openxmlformats.org/presentationml/2006/main">
  <p:tag name="FASFONT" val="Univers55"/>
</p:tagLst>
</file>

<file path=ppt/tags/tag406.xml><?xml version="1.0" encoding="utf-8"?>
<p:tagLst xmlns:a="http://schemas.openxmlformats.org/drawingml/2006/main" xmlns:r="http://schemas.openxmlformats.org/officeDocument/2006/relationships" xmlns:p="http://schemas.openxmlformats.org/presentationml/2006/main">
  <p:tag name="FASFONT" val="Univers55"/>
</p:tagLst>
</file>

<file path=ppt/tags/tag407.xml><?xml version="1.0" encoding="utf-8"?>
<p:tagLst xmlns:a="http://schemas.openxmlformats.org/drawingml/2006/main" xmlns:r="http://schemas.openxmlformats.org/officeDocument/2006/relationships" xmlns:p="http://schemas.openxmlformats.org/presentationml/2006/main">
  <p:tag name="FASFONT" val="Univers55"/>
</p:tagLst>
</file>

<file path=ppt/tags/tag408.xml><?xml version="1.0" encoding="utf-8"?>
<p:tagLst xmlns:a="http://schemas.openxmlformats.org/drawingml/2006/main" xmlns:r="http://schemas.openxmlformats.org/officeDocument/2006/relationships" xmlns:p="http://schemas.openxmlformats.org/presentationml/2006/main">
  <p:tag name="FASFONT" val="Univers55"/>
</p:tagLst>
</file>

<file path=ppt/tags/tag409.xml><?xml version="1.0" encoding="utf-8"?>
<p:tagLst xmlns:a="http://schemas.openxmlformats.org/drawingml/2006/main" xmlns:r="http://schemas.openxmlformats.org/officeDocument/2006/relationships" xmlns:p="http://schemas.openxmlformats.org/presentationml/2006/main">
  <p:tag name="FASFONT" val="Univers55"/>
</p:tagLst>
</file>

<file path=ppt/tags/tag410.xml><?xml version="1.0" encoding="utf-8"?>
<p:tagLst xmlns:a="http://schemas.openxmlformats.org/drawingml/2006/main" xmlns:r="http://schemas.openxmlformats.org/officeDocument/2006/relationships" xmlns:p="http://schemas.openxmlformats.org/presentationml/2006/main">
  <p:tag name="FASFONT" val="Univers55"/>
</p:tagLst>
</file>

<file path=ppt/tags/tag411.xml><?xml version="1.0" encoding="utf-8"?>
<p:tagLst xmlns:a="http://schemas.openxmlformats.org/drawingml/2006/main" xmlns:r="http://schemas.openxmlformats.org/officeDocument/2006/relationships" xmlns:p="http://schemas.openxmlformats.org/presentationml/2006/main">
  <p:tag name="FASFONT" val="Univers55"/>
</p:tagLst>
</file>

<file path=ppt/tags/tag412.xml><?xml version="1.0" encoding="utf-8"?>
<p:tagLst xmlns:a="http://schemas.openxmlformats.org/drawingml/2006/main" xmlns:r="http://schemas.openxmlformats.org/officeDocument/2006/relationships" xmlns:p="http://schemas.openxmlformats.org/presentationml/2006/main">
  <p:tag name="FASFONT" val="Univers55"/>
</p:tagLst>
</file>

<file path=ppt/tags/tag413.xml><?xml version="1.0" encoding="utf-8"?>
<p:tagLst xmlns:a="http://schemas.openxmlformats.org/drawingml/2006/main" xmlns:r="http://schemas.openxmlformats.org/officeDocument/2006/relationships" xmlns:p="http://schemas.openxmlformats.org/presentationml/2006/main">
  <p:tag name="FASFONT" val="Univers55"/>
</p:tagLst>
</file>

<file path=ppt/tags/tag414.xml><?xml version="1.0" encoding="utf-8"?>
<p:tagLst xmlns:a="http://schemas.openxmlformats.org/drawingml/2006/main" xmlns:r="http://schemas.openxmlformats.org/officeDocument/2006/relationships" xmlns:p="http://schemas.openxmlformats.org/presentationml/2006/main">
  <p:tag name="FASFONT" val="Univers55"/>
</p:tagLst>
</file>

<file path=ppt/tags/tag415.xml><?xml version="1.0" encoding="utf-8"?>
<p:tagLst xmlns:a="http://schemas.openxmlformats.org/drawingml/2006/main" xmlns:r="http://schemas.openxmlformats.org/officeDocument/2006/relationships" xmlns:p="http://schemas.openxmlformats.org/presentationml/2006/main">
  <p:tag name="NAME" val="Gross margin by LOB"/>
  <p:tag name="SECTION" val="5"/>
</p:tagLst>
</file>

<file path=ppt/tags/tag416.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41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1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25.xml><?xml version="1.0" encoding="utf-8"?>
<p:tagLst xmlns:a="http://schemas.openxmlformats.org/drawingml/2006/main" xmlns:r="http://schemas.openxmlformats.org/officeDocument/2006/relationships" xmlns:p="http://schemas.openxmlformats.org/presentationml/2006/main">
  <p:tag name="TOCSHAPE" val="AA"/>
</p:tagLst>
</file>

<file path=ppt/tags/tag426.xml><?xml version="1.0" encoding="utf-8"?>
<p:tagLst xmlns:a="http://schemas.openxmlformats.org/drawingml/2006/main" xmlns:r="http://schemas.openxmlformats.org/officeDocument/2006/relationships" xmlns:p="http://schemas.openxmlformats.org/presentationml/2006/main">
  <p:tag name="TOCSHAPE" val="4714"/>
  <p:tag name="SLIDEINDEX" val="4714"/>
</p:tagLst>
</file>

<file path=ppt/tags/tag427.xml><?xml version="1.0" encoding="utf-8"?>
<p:tagLst xmlns:a="http://schemas.openxmlformats.org/drawingml/2006/main" xmlns:r="http://schemas.openxmlformats.org/officeDocument/2006/relationships" xmlns:p="http://schemas.openxmlformats.org/presentationml/2006/main">
  <p:tag name="TOCSHAPE" val="AA"/>
</p:tagLst>
</file>

<file path=ppt/tags/tag428.xml><?xml version="1.0" encoding="utf-8"?>
<p:tagLst xmlns:a="http://schemas.openxmlformats.org/drawingml/2006/main" xmlns:r="http://schemas.openxmlformats.org/officeDocument/2006/relationships" xmlns:p="http://schemas.openxmlformats.org/presentationml/2006/main">
  <p:tag name="TOCSHAPE" val="AA"/>
</p:tagLst>
</file>

<file path=ppt/tags/tag429.xml><?xml version="1.0" encoding="utf-8"?>
<p:tagLst xmlns:a="http://schemas.openxmlformats.org/drawingml/2006/main" xmlns:r="http://schemas.openxmlformats.org/officeDocument/2006/relationships" xmlns:p="http://schemas.openxmlformats.org/presentationml/2006/main">
  <p:tag name="TOCSHAPE" val="AA"/>
</p:tagLst>
</file>

<file path=ppt/tags/tag430.xml><?xml version="1.0" encoding="utf-8"?>
<p:tagLst xmlns:a="http://schemas.openxmlformats.org/drawingml/2006/main" xmlns:r="http://schemas.openxmlformats.org/officeDocument/2006/relationships" xmlns:p="http://schemas.openxmlformats.org/presentationml/2006/main">
  <p:tag name="TOCSHAPE" val="AA"/>
</p:tagLst>
</file>

<file path=ppt/tags/tag431.xml><?xml version="1.0" encoding="utf-8"?>
<p:tagLst xmlns:a="http://schemas.openxmlformats.org/drawingml/2006/main" xmlns:r="http://schemas.openxmlformats.org/officeDocument/2006/relationships" xmlns:p="http://schemas.openxmlformats.org/presentationml/2006/main">
  <p:tag name="TOCSHAPE" val="AA"/>
</p:tagLst>
</file>

<file path=ppt/tags/tag432.xml><?xml version="1.0" encoding="utf-8"?>
<p:tagLst xmlns:a="http://schemas.openxmlformats.org/drawingml/2006/main" xmlns:r="http://schemas.openxmlformats.org/officeDocument/2006/relationships" xmlns:p="http://schemas.openxmlformats.org/presentationml/2006/main">
  <p:tag name="TOCSHAPE" val="AA"/>
</p:tagLst>
</file>

<file path=ppt/tags/tag433.xml><?xml version="1.0" encoding="utf-8"?>
<p:tagLst xmlns:a="http://schemas.openxmlformats.org/drawingml/2006/main" xmlns:r="http://schemas.openxmlformats.org/officeDocument/2006/relationships" xmlns:p="http://schemas.openxmlformats.org/presentationml/2006/main">
  <p:tag name="TOCSHAPE" val="AA"/>
</p:tagLst>
</file>

<file path=ppt/tags/tag434.xml><?xml version="1.0" encoding="utf-8"?>
<p:tagLst xmlns:a="http://schemas.openxmlformats.org/drawingml/2006/main" xmlns:r="http://schemas.openxmlformats.org/officeDocument/2006/relationships" xmlns:p="http://schemas.openxmlformats.org/presentationml/2006/main">
  <p:tag name="TOCSHAPE" val="AA"/>
</p:tagLst>
</file>

<file path=ppt/tags/tag435.xml><?xml version="1.0" encoding="utf-8"?>
<p:tagLst xmlns:a="http://schemas.openxmlformats.org/drawingml/2006/main" xmlns:r="http://schemas.openxmlformats.org/officeDocument/2006/relationships" xmlns:p="http://schemas.openxmlformats.org/presentationml/2006/main">
  <p:tag name="TOCSHAPE" val="4719"/>
  <p:tag name="SLIDEINDEX" val="4719"/>
</p:tagLst>
</file>

<file path=ppt/tags/tag436.xml><?xml version="1.0" encoding="utf-8"?>
<p:tagLst xmlns:a="http://schemas.openxmlformats.org/drawingml/2006/main" xmlns:r="http://schemas.openxmlformats.org/officeDocument/2006/relationships" xmlns:p="http://schemas.openxmlformats.org/presentationml/2006/main">
  <p:tag name="TOCSHAPE" val="4783"/>
  <p:tag name="SLIDEINDEX" val="4783"/>
</p:tagLst>
</file>

<file path=ppt/tags/tag437.xml><?xml version="1.0" encoding="utf-8"?>
<p:tagLst xmlns:a="http://schemas.openxmlformats.org/drawingml/2006/main" xmlns:r="http://schemas.openxmlformats.org/officeDocument/2006/relationships" xmlns:p="http://schemas.openxmlformats.org/presentationml/2006/main">
  <p:tag name="TOCSHAPE" val="4720"/>
  <p:tag name="SLIDEINDEX" val="4720"/>
</p:tagLst>
</file>

<file path=ppt/tags/tag438.xml><?xml version="1.0" encoding="utf-8"?>
<p:tagLst xmlns:a="http://schemas.openxmlformats.org/drawingml/2006/main" xmlns:r="http://schemas.openxmlformats.org/officeDocument/2006/relationships" xmlns:p="http://schemas.openxmlformats.org/presentationml/2006/main">
  <p:tag name="TOCSHAPE" val="4716"/>
  <p:tag name="SLIDEINDEX" val="4716"/>
</p:tagLst>
</file>

<file path=ppt/tags/tag439.xml><?xml version="1.0" encoding="utf-8"?>
<p:tagLst xmlns:a="http://schemas.openxmlformats.org/drawingml/2006/main" xmlns:r="http://schemas.openxmlformats.org/officeDocument/2006/relationships" xmlns:p="http://schemas.openxmlformats.org/presentationml/2006/main">
  <p:tag name="TOCSHAPE" val="4721"/>
  <p:tag name="SLIDEINDEX" val="4721"/>
</p:tagLst>
</file>

<file path=ppt/tags/tag440.xml><?xml version="1.0" encoding="utf-8"?>
<p:tagLst xmlns:a="http://schemas.openxmlformats.org/drawingml/2006/main" xmlns:r="http://schemas.openxmlformats.org/officeDocument/2006/relationships" xmlns:p="http://schemas.openxmlformats.org/presentationml/2006/main">
  <p:tag name="TOCSHAPE" val="4715"/>
  <p:tag name="SLIDEINDEX" val="4715"/>
</p:tagLst>
</file>

<file path=ppt/tags/tag441.xml><?xml version="1.0" encoding="utf-8"?>
<p:tagLst xmlns:a="http://schemas.openxmlformats.org/drawingml/2006/main" xmlns:r="http://schemas.openxmlformats.org/officeDocument/2006/relationships" xmlns:p="http://schemas.openxmlformats.org/presentationml/2006/main">
  <p:tag name="TOCSHAPE" val="4718"/>
  <p:tag name="SLIDEINDEX" val="4718"/>
</p:tagLst>
</file>

<file path=ppt/tags/tag442.xml><?xml version="1.0" encoding="utf-8"?>
<p:tagLst xmlns:a="http://schemas.openxmlformats.org/drawingml/2006/main" xmlns:r="http://schemas.openxmlformats.org/officeDocument/2006/relationships" xmlns:p="http://schemas.openxmlformats.org/presentationml/2006/main">
  <p:tag name="TOCSHAPE" val="4717"/>
  <p:tag name="SLIDEINDEX" val="4717"/>
</p:tagLst>
</file>

<file path=ppt/tags/tag44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44.xml><?xml version="1.0" encoding="utf-8"?>
<p:tagLst xmlns:a="http://schemas.openxmlformats.org/drawingml/2006/main" xmlns:r="http://schemas.openxmlformats.org/officeDocument/2006/relationships" xmlns:p="http://schemas.openxmlformats.org/presentationml/2006/main">
  <p:tag name="LAST UPDATE DATE" val="460604995.583143"/>
  <p:tag name="IMPORTID" val="7421456453885.498373"/>
  <p:tag name="WBLAST" val="https://kpmgcan.sharepoint.com/sites/CA-KGSCanada-ProjectNorth/Shared Documents/Project North/Staff Files/Project North_(Jun-24) RF Draft databook_02-Aug-24.xlsb"/>
  <p:tag name="USER NAME" val="cindyxie1"/>
  <p:tag name="TYPE" val="1"/>
  <p:tag name="SOURCENAME" val="Gross margin by line of business"/>
  <p:tag name="SHEETID" val="Gross margin by LOB"/>
  <p:tag name="PICTUREAPPEARANCE" val="xlPrinter"/>
  <p:tag name="NORESIZEONUPDATE" val="False"/>
</p:tagLst>
</file>

<file path=ppt/tags/tag445.xml><?xml version="1.0" encoding="utf-8"?>
<p:tagLst xmlns:a="http://schemas.openxmlformats.org/drawingml/2006/main" xmlns:r="http://schemas.openxmlformats.org/officeDocument/2006/relationships" xmlns:p="http://schemas.openxmlformats.org/presentationml/2006/main">
  <p:tag name="SHAPETYPE" val="BREADCRUMB"/>
</p:tagLst>
</file>

<file path=ppt/tags/tag44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47.xml><?xml version="1.0" encoding="utf-8"?>
<p:tagLst xmlns:a="http://schemas.openxmlformats.org/drawingml/2006/main" xmlns:r="http://schemas.openxmlformats.org/officeDocument/2006/relationships" xmlns:p="http://schemas.openxmlformats.org/presentationml/2006/main">
  <p:tag name="LAST UPDATE DATE" val="459614847.513666"/>
  <p:tag name="IMPORTID" val="8579459614781.300886"/>
  <p:tag name="WBLAST" val="https://kpmgcan.sharepoint.com/sites/CA-KGSCanada-ProjectNorth/Shared Documents/Project North/Staff Files/Project North_(Jun-24) RF Draft databook_25-Jul-24.xlsb"/>
  <p:tag name="USER NAME" val="cindyxie1"/>
  <p:tag name="TYPE" val="1"/>
  <p:tag name="SOURCENAME" val="Gross profit | Mobile payments"/>
  <p:tag name="SHEETID" val="Gross profit | Mobile"/>
  <p:tag name="PICTUREAPPEARANCE" val="xlPrinter"/>
  <p:tag name="NORESIZEONUPDATE" val="False"/>
</p:tagLst>
</file>

<file path=ppt/tags/tag448.xml><?xml version="1.0" encoding="utf-8"?>
<p:tagLst xmlns:a="http://schemas.openxmlformats.org/drawingml/2006/main" xmlns:r="http://schemas.openxmlformats.org/officeDocument/2006/relationships" xmlns:p="http://schemas.openxmlformats.org/presentationml/2006/main">
  <p:tag name="SHAPETYPE" val="BREADCRUMB"/>
</p:tagLst>
</file>

<file path=ppt/tags/tag44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0.xml><?xml version="1.0" encoding="utf-8"?>
<p:tagLst xmlns:a="http://schemas.openxmlformats.org/drawingml/2006/main" xmlns:r="http://schemas.openxmlformats.org/officeDocument/2006/relationships" xmlns:p="http://schemas.openxmlformats.org/presentationml/2006/main">
  <p:tag name="LAST UPDATE DATE" val="459615126.90295"/>
  <p:tag name="IMPORTID" val="7483459615126.90295"/>
  <p:tag name="WBLAST" val="https://kpmgcan.sharepoint.com/sites/CA-KGSCanada-ProjectNorth/Shared Documents/Project North/Staff Files/Project North_(Jun-24) RF Draft databook_25-Jul-24.xlsb"/>
  <p:tag name="USER NAME" val="cindyxie1"/>
  <p:tag name="TYPE" val="1"/>
  <p:tag name="SOURCENAME" val="Gross profit | Payment network gateway"/>
  <p:tag name="SHEETID" val="Gross profit | PNG"/>
  <p:tag name="PICTUREAPPEARANCE" val="xlPrinter"/>
  <p:tag name="NORESIZEONUPDATE" val="False"/>
</p:tagLst>
</file>

<file path=ppt/tags/tag451.xml><?xml version="1.0" encoding="utf-8"?>
<p:tagLst xmlns:a="http://schemas.openxmlformats.org/drawingml/2006/main" xmlns:r="http://schemas.openxmlformats.org/officeDocument/2006/relationships" xmlns:p="http://schemas.openxmlformats.org/presentationml/2006/main">
  <p:tag name="SHAPETYPE" val="BREADCRUMB"/>
</p:tagLst>
</file>

<file path=ppt/tags/tag45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3.xml><?xml version="1.0" encoding="utf-8"?>
<p:tagLst xmlns:a="http://schemas.openxmlformats.org/drawingml/2006/main" xmlns:r="http://schemas.openxmlformats.org/officeDocument/2006/relationships" xmlns:p="http://schemas.openxmlformats.org/presentationml/2006/main">
  <p:tag name="LAST UPDATE DATE" val="459617061.447117"/>
  <p:tag name="IMPORTID" val="5186459617061.447117"/>
  <p:tag name="WBLAST" val="https://kpmgcan.sharepoint.com/sites/CA-KGSCanada-ProjectNorth/Shared Documents/Project North/Staff Files/Project North_(Jun-24) RF Draft databook_25-Jul-24.xlsb"/>
  <p:tag name="USER NAME" val="cindyxie1"/>
  <p:tag name="TYPE" val="1"/>
  <p:tag name="SOURCENAME" val="Gross profit | Card management"/>
  <p:tag name="SHEETID" val="Gross profit | Card"/>
  <p:tag name="PICTUREAPPEARANCE" val="xlPrinter"/>
  <p:tag name="NORESIZEONUPDATE" val="False"/>
</p:tagLst>
</file>

<file path=ppt/tags/tag454.xml><?xml version="1.0" encoding="utf-8"?>
<p:tagLst xmlns:a="http://schemas.openxmlformats.org/drawingml/2006/main" xmlns:r="http://schemas.openxmlformats.org/officeDocument/2006/relationships" xmlns:p="http://schemas.openxmlformats.org/presentationml/2006/main">
  <p:tag name="SHAPETYPE" val="BREADCRUMB"/>
</p:tagLst>
</file>

<file path=ppt/tags/tag45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6.xml><?xml version="1.0" encoding="utf-8"?>
<p:tagLst xmlns:a="http://schemas.openxmlformats.org/drawingml/2006/main" xmlns:r="http://schemas.openxmlformats.org/officeDocument/2006/relationships" xmlns:p="http://schemas.openxmlformats.org/presentationml/2006/main">
  <p:tag name="LAST UPDATE DATE" val="459619814.933538"/>
  <p:tag name="IMPORTID" val="7084459619814.933538"/>
  <p:tag name="WBLAST" val="https://kpmgcan.sharepoint.com/sites/CA-KGSCanada-ProjectNorth/Shared Documents/Project North/Staff Files/Project North_(Jun-24) RF Draft databook_25-Jul-24.xlsb"/>
  <p:tag name="USER NAME" val="cindyxie1"/>
  <p:tag name="TYPE" val="1"/>
  <p:tag name="SOURCENAME" val="Gross profit | Retail solutions"/>
  <p:tag name="SHEETID" val="Gross profit | Retail"/>
  <p:tag name="PICTUREAPPEARANCE" val="xlPrinter"/>
  <p:tag name="NORESIZEONUPDATE" val="False"/>
</p:tagLst>
</file>

<file path=ppt/tags/tag457.xml><?xml version="1.0" encoding="utf-8"?>
<p:tagLst xmlns:a="http://schemas.openxmlformats.org/drawingml/2006/main" xmlns:r="http://schemas.openxmlformats.org/officeDocument/2006/relationships" xmlns:p="http://schemas.openxmlformats.org/presentationml/2006/main">
  <p:tag name="SHAPETYPE" val="BREADCRUMB"/>
</p:tagLst>
</file>

<file path=ppt/tags/tag45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59.xml><?xml version="1.0" encoding="utf-8"?>
<p:tagLst xmlns:a="http://schemas.openxmlformats.org/drawingml/2006/main" xmlns:r="http://schemas.openxmlformats.org/officeDocument/2006/relationships" xmlns:p="http://schemas.openxmlformats.org/presentationml/2006/main">
  <p:tag name="LAST UPDATE DATE" val="459620049.458119"/>
  <p:tag name="IMPORTID" val="9429458412017.197666"/>
  <p:tag name="WBLAST" val="https://kpmgcan.sharepoint.com/sites/CA-KGSCanada-ProjectNorth/Shared Documents/Project North/Staff Files/Project North_(Jun-24) RF Draft databook_25-Jul-24.xlsb"/>
  <p:tag name="USER NAME" val="cindyxie1"/>
  <p:tag name="TYPE" val="1"/>
  <p:tag name="SOURCENAME" val="Gross profit | ATM managed services"/>
  <p:tag name="SHEETID" val="Gross profit | ATM"/>
  <p:tag name="PICTUREAPPEARANCE" val="xlPrinter"/>
  <p:tag name="NORESIZEONUPDATE" val="False"/>
</p:tagLst>
</file>

<file path=ppt/tags/tag460.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62.xml><?xml version="1.0" encoding="utf-8"?>
<p:tagLst xmlns:a="http://schemas.openxmlformats.org/drawingml/2006/main" xmlns:r="http://schemas.openxmlformats.org/officeDocument/2006/relationships" xmlns:p="http://schemas.openxmlformats.org/presentationml/2006/main">
  <p:tag name="LAST UPDATE DATE" val="459620685.10638"/>
  <p:tag name="IMPORTID" val="5889459620685.10638"/>
  <p:tag name="WBLAST" val="https://kpmgcan.sharepoint.com/sites/CA-KGSCanada-ProjectNorth/Shared Documents/Project North/Staff Files/Project North_(Jun-24) RF Draft databook_25-Jul-24.xlsb"/>
  <p:tag name="USER NAME" val="cindyxie1"/>
  <p:tag name="TYPE" val="1"/>
  <p:tag name="SOURCENAME" val="Gross profit | Fraud management"/>
  <p:tag name="SHEETID" val="Gross profit | Fraud"/>
  <p:tag name="PICTUREAPPEARANCE" val="xlPrinter"/>
  <p:tag name="NORESIZEONUPDATE" val="False"/>
</p:tagLst>
</file>

<file path=ppt/tags/tag463.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465.xml><?xml version="1.0" encoding="utf-8"?>
<p:tagLst xmlns:a="http://schemas.openxmlformats.org/drawingml/2006/main" xmlns:r="http://schemas.openxmlformats.org/officeDocument/2006/relationships" xmlns:p="http://schemas.openxmlformats.org/presentationml/2006/main">
  <p:tag name="LAST UPDATE DATE" val="459621501.946437"/>
  <p:tag name="IMPORTID" val="3771459621501.946437"/>
  <p:tag name="WBLAST" val="https://kpmgcan.sharepoint.com/sites/CA-KGSCanada-ProjectNorth/Shared Documents/Project North/Staff Files/Project North_(Jun-24) RF Draft databook_25-Jul-24.xlsb"/>
  <p:tag name="USER NAME" val="cindyxie1"/>
  <p:tag name="TYPE" val="1"/>
  <p:tag name="SOURCENAME" val="Gross profit | Digital solutions"/>
  <p:tag name="SHEETID" val="Gross profit | Digital"/>
  <p:tag name="PICTUREAPPEARANCE" val="xlPrinter"/>
  <p:tag name="NORESIZEONUPDATE" val="False"/>
</p:tagLst>
</file>

<file path=ppt/tags/tag466.xml><?xml version="1.0" encoding="utf-8"?>
<p:tagLst xmlns:a="http://schemas.openxmlformats.org/drawingml/2006/main" xmlns:r="http://schemas.openxmlformats.org/officeDocument/2006/relationships" xmlns:p="http://schemas.openxmlformats.org/presentationml/2006/main">
  <p:tag name="SHAPETYPE" val="BREADCRUMB"/>
</p:tagLst>
</file>

<file path=ppt/tags/tag467.xml><?xml version="1.0" encoding="utf-8"?>
<p:tagLst xmlns:a="http://schemas.openxmlformats.org/drawingml/2006/main" xmlns:r="http://schemas.openxmlformats.org/officeDocument/2006/relationships" xmlns:p="http://schemas.openxmlformats.org/presentationml/2006/main">
  <p:tag name="NAME" val="Appendices"/>
  <p:tag name="SECTION" val="6"/>
</p:tagLst>
</file>

<file path=ppt/tags/tag468.xml><?xml version="1.0" encoding="utf-8"?>
<p:tagLst xmlns:a="http://schemas.openxmlformats.org/drawingml/2006/main" xmlns:r="http://schemas.openxmlformats.org/officeDocument/2006/relationships" xmlns:p="http://schemas.openxmlformats.org/presentationml/2006/main">
  <p:tag name="SHAPETYPE" val="SECTIONTITLE"/>
  <p:tag name="TOCSHAPE" val="AA"/>
</p:tagLst>
</file>

<file path=ppt/tags/tag46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1.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2.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3.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4.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5.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6.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7.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8.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79.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80.xml><?xml version="1.0" encoding="utf-8"?>
<p:tagLst xmlns:a="http://schemas.openxmlformats.org/drawingml/2006/main" xmlns:r="http://schemas.openxmlformats.org/officeDocument/2006/relationships" xmlns:p="http://schemas.openxmlformats.org/presentationml/2006/main">
  <p:tag name="SHAPETYPE" val="SUBSECTIONTITLE"/>
  <p:tag name="TOCSHAPE" val="AA"/>
</p:tagLst>
</file>

<file path=ppt/tags/tag481.xml><?xml version="1.0" encoding="utf-8"?>
<p:tagLst xmlns:a="http://schemas.openxmlformats.org/drawingml/2006/main" xmlns:r="http://schemas.openxmlformats.org/officeDocument/2006/relationships" xmlns:p="http://schemas.openxmlformats.org/presentationml/2006/main">
  <p:tag name="TOCSHAPE" val="AA"/>
</p:tagLst>
</file>

<file path=ppt/tags/tag482.xml><?xml version="1.0" encoding="utf-8"?>
<p:tagLst xmlns:a="http://schemas.openxmlformats.org/drawingml/2006/main" xmlns:r="http://schemas.openxmlformats.org/officeDocument/2006/relationships" xmlns:p="http://schemas.openxmlformats.org/presentationml/2006/main">
  <p:tag name="TOCSHAPE" val="871"/>
  <p:tag name="SLIDEINDEX" val="871"/>
</p:tagLst>
</file>

<file path=ppt/tags/tag483.xml><?xml version="1.0" encoding="utf-8"?>
<p:tagLst xmlns:a="http://schemas.openxmlformats.org/drawingml/2006/main" xmlns:r="http://schemas.openxmlformats.org/officeDocument/2006/relationships" xmlns:p="http://schemas.openxmlformats.org/presentationml/2006/main">
  <p:tag name="TOCSHAPE" val="AA"/>
</p:tagLst>
</file>

<file path=ppt/tags/tag484.xml><?xml version="1.0" encoding="utf-8"?>
<p:tagLst xmlns:a="http://schemas.openxmlformats.org/drawingml/2006/main" xmlns:r="http://schemas.openxmlformats.org/officeDocument/2006/relationships" xmlns:p="http://schemas.openxmlformats.org/presentationml/2006/main">
  <p:tag name="TOCSHAPE" val="AA"/>
</p:tagLst>
</file>

<file path=ppt/tags/tag485.xml><?xml version="1.0" encoding="utf-8"?>
<p:tagLst xmlns:a="http://schemas.openxmlformats.org/drawingml/2006/main" xmlns:r="http://schemas.openxmlformats.org/officeDocument/2006/relationships" xmlns:p="http://schemas.openxmlformats.org/presentationml/2006/main">
  <p:tag name="TOCSHAPE" val="AA"/>
</p:tagLst>
</file>

<file path=ppt/tags/tag486.xml><?xml version="1.0" encoding="utf-8"?>
<p:tagLst xmlns:a="http://schemas.openxmlformats.org/drawingml/2006/main" xmlns:r="http://schemas.openxmlformats.org/officeDocument/2006/relationships" xmlns:p="http://schemas.openxmlformats.org/presentationml/2006/main">
  <p:tag name="TOCSHAPE" val="AA"/>
</p:tagLst>
</file>

<file path=ppt/tags/tag487.xml><?xml version="1.0" encoding="utf-8"?>
<p:tagLst xmlns:a="http://schemas.openxmlformats.org/drawingml/2006/main" xmlns:r="http://schemas.openxmlformats.org/officeDocument/2006/relationships" xmlns:p="http://schemas.openxmlformats.org/presentationml/2006/main">
  <p:tag name="TOCSHAPE" val="AA"/>
</p:tagLst>
</file>

<file path=ppt/tags/tag488.xml><?xml version="1.0" encoding="utf-8"?>
<p:tagLst xmlns:a="http://schemas.openxmlformats.org/drawingml/2006/main" xmlns:r="http://schemas.openxmlformats.org/officeDocument/2006/relationships" xmlns:p="http://schemas.openxmlformats.org/presentationml/2006/main">
  <p:tag name="TOCSHAPE" val="AA"/>
</p:tagLst>
</file>

<file path=ppt/tags/tag489.xml><?xml version="1.0" encoding="utf-8"?>
<p:tagLst xmlns:a="http://schemas.openxmlformats.org/drawingml/2006/main" xmlns:r="http://schemas.openxmlformats.org/officeDocument/2006/relationships" xmlns:p="http://schemas.openxmlformats.org/presentationml/2006/main">
  <p:tag name="TOCSHAPE" val="AA"/>
</p:tagLst>
</file>

<file path=ppt/tags/tag490.xml><?xml version="1.0" encoding="utf-8"?>
<p:tagLst xmlns:a="http://schemas.openxmlformats.org/drawingml/2006/main" xmlns:r="http://schemas.openxmlformats.org/officeDocument/2006/relationships" xmlns:p="http://schemas.openxmlformats.org/presentationml/2006/main">
  <p:tag name="TOCSHAPE" val="AA"/>
</p:tagLst>
</file>

<file path=ppt/tags/tag491.xml><?xml version="1.0" encoding="utf-8"?>
<p:tagLst xmlns:a="http://schemas.openxmlformats.org/drawingml/2006/main" xmlns:r="http://schemas.openxmlformats.org/officeDocument/2006/relationships" xmlns:p="http://schemas.openxmlformats.org/presentationml/2006/main">
  <p:tag name="TOCSHAPE" val="AA"/>
</p:tagLst>
</file>

<file path=ppt/tags/tag492.xml><?xml version="1.0" encoding="utf-8"?>
<p:tagLst xmlns:a="http://schemas.openxmlformats.org/drawingml/2006/main" xmlns:r="http://schemas.openxmlformats.org/officeDocument/2006/relationships" xmlns:p="http://schemas.openxmlformats.org/presentationml/2006/main">
  <p:tag name="TOCSHAPE" val="AA"/>
</p:tagLst>
</file>

<file path=ppt/tags/tag493.xml><?xml version="1.0" encoding="utf-8"?>
<p:tagLst xmlns:a="http://schemas.openxmlformats.org/drawingml/2006/main" xmlns:r="http://schemas.openxmlformats.org/officeDocument/2006/relationships" xmlns:p="http://schemas.openxmlformats.org/presentationml/2006/main">
  <p:tag name="TOCSHAPE" val="AA"/>
</p:tagLst>
</file>

<file path=ppt/tags/tag494.xml><?xml version="1.0" encoding="utf-8"?>
<p:tagLst xmlns:a="http://schemas.openxmlformats.org/drawingml/2006/main" xmlns:r="http://schemas.openxmlformats.org/officeDocument/2006/relationships" xmlns:p="http://schemas.openxmlformats.org/presentationml/2006/main">
  <p:tag name="TOCSHAPE" val="AA"/>
</p:tagLst>
</file>

<file path=ppt/tags/tag495.xml><?xml version="1.0" encoding="utf-8"?>
<p:tagLst xmlns:a="http://schemas.openxmlformats.org/drawingml/2006/main" xmlns:r="http://schemas.openxmlformats.org/officeDocument/2006/relationships" xmlns:p="http://schemas.openxmlformats.org/presentationml/2006/main">
  <p:tag name="TOCSHAPE" val="897"/>
  <p:tag name="SLIDEINDEX" val="897"/>
</p:tagLst>
</file>

<file path=ppt/tags/tag496.xml><?xml version="1.0" encoding="utf-8"?>
<p:tagLst xmlns:a="http://schemas.openxmlformats.org/drawingml/2006/main" xmlns:r="http://schemas.openxmlformats.org/officeDocument/2006/relationships" xmlns:p="http://schemas.openxmlformats.org/presentationml/2006/main">
  <p:tag name="TOCSHAPE" val="4782"/>
  <p:tag name="SLIDEINDEX" val="4782"/>
</p:tagLst>
</file>

<file path=ppt/tags/tag497.xml><?xml version="1.0" encoding="utf-8"?>
<p:tagLst xmlns:a="http://schemas.openxmlformats.org/drawingml/2006/main" xmlns:r="http://schemas.openxmlformats.org/officeDocument/2006/relationships" xmlns:p="http://schemas.openxmlformats.org/presentationml/2006/main">
  <p:tag name="TOCSHAPE" val="4697"/>
  <p:tag name="SLIDEINDEX" val="4697"/>
</p:tagLst>
</file>

<file path=ppt/tags/tag498.xml><?xml version="1.0" encoding="utf-8"?>
<p:tagLst xmlns:a="http://schemas.openxmlformats.org/drawingml/2006/main" xmlns:r="http://schemas.openxmlformats.org/officeDocument/2006/relationships" xmlns:p="http://schemas.openxmlformats.org/presentationml/2006/main">
  <p:tag name="TOCSHAPE" val="4799"/>
  <p:tag name="SLIDEINDEX" val="4799"/>
</p:tagLst>
</file>

<file path=ppt/tags/tag499.xml><?xml version="1.0" encoding="utf-8"?>
<p:tagLst xmlns:a="http://schemas.openxmlformats.org/drawingml/2006/main" xmlns:r="http://schemas.openxmlformats.org/officeDocument/2006/relationships" xmlns:p="http://schemas.openxmlformats.org/presentationml/2006/main">
  <p:tag name="TOCSHAPE" val="4797"/>
  <p:tag name="SLIDEINDEX" val="4797"/>
</p:tagLst>
</file>

<file path=ppt/tags/tag500.xml><?xml version="1.0" encoding="utf-8"?>
<p:tagLst xmlns:a="http://schemas.openxmlformats.org/drawingml/2006/main" xmlns:r="http://schemas.openxmlformats.org/officeDocument/2006/relationships" xmlns:p="http://schemas.openxmlformats.org/presentationml/2006/main">
  <p:tag name="TOCSHAPE" val="4698"/>
  <p:tag name="SLIDEINDEX" val="4698"/>
</p:tagLst>
</file>

<file path=ppt/tags/tag501.xml><?xml version="1.0" encoding="utf-8"?>
<p:tagLst xmlns:a="http://schemas.openxmlformats.org/drawingml/2006/main" xmlns:r="http://schemas.openxmlformats.org/officeDocument/2006/relationships" xmlns:p="http://schemas.openxmlformats.org/presentationml/2006/main">
  <p:tag name="TOCSHAPE" val="4712"/>
  <p:tag name="SLIDEINDEX" val="4712"/>
</p:tagLst>
</file>

<file path=ppt/tags/tag502.xml><?xml version="1.0" encoding="utf-8"?>
<p:tagLst xmlns:a="http://schemas.openxmlformats.org/drawingml/2006/main" xmlns:r="http://schemas.openxmlformats.org/officeDocument/2006/relationships" xmlns:p="http://schemas.openxmlformats.org/presentationml/2006/main">
  <p:tag name="TOCSHAPE" val="4713"/>
  <p:tag name="SLIDEINDEX" val="4713"/>
</p:tagLst>
</file>

<file path=ppt/tags/tag503.xml><?xml version="1.0" encoding="utf-8"?>
<p:tagLst xmlns:a="http://schemas.openxmlformats.org/drawingml/2006/main" xmlns:r="http://schemas.openxmlformats.org/officeDocument/2006/relationships" xmlns:p="http://schemas.openxmlformats.org/presentationml/2006/main">
  <p:tag name="TOCSHAPE" val="915"/>
  <p:tag name="SLIDEINDEX" val="915"/>
</p:tagLst>
</file>

<file path=ppt/tags/tag504.xml><?xml version="1.0" encoding="utf-8"?>
<p:tagLst xmlns:a="http://schemas.openxmlformats.org/drawingml/2006/main" xmlns:r="http://schemas.openxmlformats.org/officeDocument/2006/relationships" xmlns:p="http://schemas.openxmlformats.org/presentationml/2006/main">
  <p:tag name="TOCSHAPE" val="651"/>
  <p:tag name="SLIDEINDEX" val="651"/>
</p:tagLst>
</file>

<file path=ppt/tags/tag505.xml><?xml version="1.0" encoding="utf-8"?>
<p:tagLst xmlns:a="http://schemas.openxmlformats.org/drawingml/2006/main" xmlns:r="http://schemas.openxmlformats.org/officeDocument/2006/relationships" xmlns:p="http://schemas.openxmlformats.org/presentationml/2006/main">
  <p:tag name="TOCSHAPE" val="904"/>
  <p:tag name="SLIDEINDEX" val="904"/>
</p:tagLst>
</file>

<file path=ppt/tags/tag506.xml><?xml version="1.0" encoding="utf-8"?>
<p:tagLst xmlns:a="http://schemas.openxmlformats.org/drawingml/2006/main" xmlns:r="http://schemas.openxmlformats.org/officeDocument/2006/relationships" xmlns:p="http://schemas.openxmlformats.org/presentationml/2006/main">
  <p:tag name="TOCSHAPE" val="4794"/>
  <p:tag name="SLIDEINDEX" val="4794"/>
</p:tagLst>
</file>

<file path=ppt/tags/tag50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08.xml><?xml version="1.0" encoding="utf-8"?>
<p:tagLst xmlns:a="http://schemas.openxmlformats.org/drawingml/2006/main" xmlns:r="http://schemas.openxmlformats.org/officeDocument/2006/relationships" xmlns:p="http://schemas.openxmlformats.org/presentationml/2006/main">
  <p:tag name="LAST UPDATE DATE" val="457213415.963901"/>
  <p:tag name="IMPORTID" val="8551456696469.753049"/>
  <p:tag name="WBLAST" val="https://kpmgcan.sharepoint.com/sites/CA-KGSCanada-ProjectNorth/Shared Documents/Project North/Staff Files/Project North_Draft databook_26-Jun-24.xlsb"/>
  <p:tag name="USER NAME" val="cindyxie1"/>
  <p:tag name="TYPE" val="1"/>
  <p:tag name="SOURCENAME" val="Income statement reconciliation"/>
  <p:tag name="SHEETID" val="Recons | IS"/>
  <p:tag name="PICTUREAPPEARANCE" val="xlPrinter"/>
  <p:tag name="NORESIZEONUPDATE" val="False"/>
</p:tagLst>
</file>

<file path=ppt/tags/tag509.xml><?xml version="1.0" encoding="utf-8"?>
<p:tagLst xmlns:a="http://schemas.openxmlformats.org/drawingml/2006/main" xmlns:r="http://schemas.openxmlformats.org/officeDocument/2006/relationships" xmlns:p="http://schemas.openxmlformats.org/presentationml/2006/main">
  <p:tag name="SHAPETYPE" val="BREADCRUMB"/>
</p:tagLst>
</file>

<file path=ppt/tags/tag51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11.xml><?xml version="1.0" encoding="utf-8"?>
<p:tagLst xmlns:a="http://schemas.openxmlformats.org/drawingml/2006/main" xmlns:r="http://schemas.openxmlformats.org/officeDocument/2006/relationships" xmlns:p="http://schemas.openxmlformats.org/presentationml/2006/main">
  <p:tag name="LAST UPDATE DATE" val="457213453.480821"/>
  <p:tag name="IMPORTID" val="7613456953423.286336"/>
  <p:tag name="WBLAST" val="https://kpmgcan.sharepoint.com/sites/CA-KGSCanada-ProjectNorth/Shared Documents/Project North/Staff Files/Project North_Draft databook_26-Jun-24.xlsb"/>
  <p:tag name="USER NAME" val="cindyxie1"/>
  <p:tag name="TYPE" val="1"/>
  <p:tag name="SOURCENAME" val="Balance sheet reconciliation"/>
  <p:tag name="SHEETID" val="Recons | BS"/>
  <p:tag name="PICTUREAPPEARANCE" val="xlPrinter"/>
  <p:tag name="NORESIZEONUPDATE" val="False"/>
</p:tagLst>
</file>

<file path=ppt/tags/tag512.xml><?xml version="1.0" encoding="utf-8"?>
<p:tagLst xmlns:a="http://schemas.openxmlformats.org/drawingml/2006/main" xmlns:r="http://schemas.openxmlformats.org/officeDocument/2006/relationships" xmlns:p="http://schemas.openxmlformats.org/presentationml/2006/main">
  <p:tag name="SHAPETYPE" val="BREADCRUMB"/>
</p:tagLst>
</file>

<file path=ppt/tags/tag51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14.xml><?xml version="1.0" encoding="utf-8"?>
<p:tagLst xmlns:a="http://schemas.openxmlformats.org/drawingml/2006/main" xmlns:r="http://schemas.openxmlformats.org/officeDocument/2006/relationships" xmlns:p="http://schemas.openxmlformats.org/presentationml/2006/main">
  <p:tag name="LAST UPDATE DATE" val="460837052.670596"/>
  <p:tag name="IMPORTID" val="4173456454587.928334"/>
  <p:tag name="WBLAST" val="https://kpmgcan.sharepoint.com/sites/CA-KGSCanada-ProjectNorth/Shared Documents/Project North/Staff Files/Project North_(Jun-24) RF Draft databook_07-Aug-24.xlsb"/>
  <p:tag name="USER NAME" val="cindyxie1"/>
  <p:tag name="TYPE" val="1"/>
  <p:tag name="SOURCENAME" val="Cash flow statement reconciliation"/>
  <p:tag name="SHEETID" val="Recon | Cash flow"/>
  <p:tag name="PICTUREAPPEARANCE" val="xlPrinter"/>
  <p:tag name="NORESIZEONUPDATE" val="False"/>
</p:tagLst>
</file>

<file path=ppt/tags/tag515.xml><?xml version="1.0" encoding="utf-8"?>
<p:tagLst xmlns:a="http://schemas.openxmlformats.org/drawingml/2006/main" xmlns:r="http://schemas.openxmlformats.org/officeDocument/2006/relationships" xmlns:p="http://schemas.openxmlformats.org/presentationml/2006/main">
  <p:tag name="SHAPETYPE" val="BREADCRUMB"/>
</p:tagLst>
</file>

<file path=ppt/tags/tag516.xml><?xml version="1.0" encoding="utf-8"?>
<p:tagLst xmlns:a="http://schemas.openxmlformats.org/drawingml/2006/main" xmlns:r="http://schemas.openxmlformats.org/officeDocument/2006/relationships" xmlns:p="http://schemas.openxmlformats.org/presentationml/2006/main">
  <p:tag name="LAST UPDATE DATE" val="461972387.500468"/>
  <p:tag name="IMPORTID" val="33459622664.177303"/>
  <p:tag name="WBLAST" val="https://kpmgcan.sharepoint.com/sites/CA-KGSCanada-ProjectNorth/Shared Documents/Project North/Staff Files/Project North_(Jun-24) RF Draft databook_21-Aug-24.xlsb"/>
  <p:tag name="USER NAME" val="cindyxie1"/>
  <p:tag name="TYPE" val="1"/>
  <p:tag name="SOURCENAME" val="Billing report reconciliation"/>
  <p:tag name="SHEETID" val="Recon | Billings"/>
  <p:tag name="PICTUREAPPEARANCE" val="xlPrinter"/>
  <p:tag name="NORESIZEONUPDATE" val="False"/>
</p:tagLst>
</file>

<file path=ppt/tags/tag51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18.xml><?xml version="1.0" encoding="utf-8"?>
<p:tagLst xmlns:a="http://schemas.openxmlformats.org/drawingml/2006/main" xmlns:r="http://schemas.openxmlformats.org/officeDocument/2006/relationships" xmlns:p="http://schemas.openxmlformats.org/presentationml/2006/main">
  <p:tag name="SHAPETYPE" val="BREADCRUMB"/>
</p:tagLst>
</file>

<file path=ppt/tags/tag519.xml><?xml version="1.0" encoding="utf-8"?>
<p:tagLst xmlns:a="http://schemas.openxmlformats.org/drawingml/2006/main" xmlns:r="http://schemas.openxmlformats.org/officeDocument/2006/relationships" xmlns:p="http://schemas.openxmlformats.org/presentationml/2006/main">
  <p:tag name="LAST UPDATE DATE" val="461963887.345742"/>
  <p:tag name="IMPORTID" val="4603460232598.763499"/>
  <p:tag name="WBLAST" val="https://kpmgcan.sharepoint.com/sites/CA-KGSCanada-ProjectNorth/Shared Documents/Project North/Staff Files/Project North_(Jun-24) RF Draft databook_21-Aug-24.xlsb"/>
  <p:tag name="USER NAME" val="cindyxie1"/>
  <p:tag name="TYPE" val="1"/>
  <p:tag name="SOURCENAME" val="Quality of earnings | Bridge"/>
  <p:tag name="SHEETID" val="QofE | Bridge"/>
  <p:tag name="PICTUREAPPEARANCE" val="xlPrinter"/>
  <p:tag name="NORESIZEONUPDATE" val="False"/>
</p:tagLst>
</file>

<file path=ppt/tags/tag52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21.xml><?xml version="1.0" encoding="utf-8"?>
<p:tagLst xmlns:a="http://schemas.openxmlformats.org/drawingml/2006/main" xmlns:r="http://schemas.openxmlformats.org/officeDocument/2006/relationships" xmlns:p="http://schemas.openxmlformats.org/presentationml/2006/main">
  <p:tag name="SHAPETYPE" val="BREADCRUMB"/>
</p:tagLst>
</file>

<file path=ppt/tags/tag52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23.xml><?xml version="1.0" encoding="utf-8"?>
<p:tagLst xmlns:a="http://schemas.openxmlformats.org/drawingml/2006/main" xmlns:r="http://schemas.openxmlformats.org/officeDocument/2006/relationships" xmlns:p="http://schemas.openxmlformats.org/presentationml/2006/main">
  <p:tag name="LAST UPDATE DATE" val="461963922.91775"/>
  <p:tag name="IMPORTID" val="7008459622866.000846"/>
  <p:tag name="WBLAST" val="https://kpmgcan.sharepoint.com/sites/CA-KGSCanada-ProjectNorth/Shared Documents/Project North/Staff Files/Project North_(Jun-24) RF Draft databook_21-Aug-24.xlsb"/>
  <p:tag name="USER NAME" val="cindyxie1"/>
  <p:tag name="TYPE" val="1"/>
  <p:tag name="SOURCENAME" val="Adjusted income statement "/>
  <p:tag name="SHEETID" val="Adjusted IS"/>
  <p:tag name="PICTUREAPPEARANCE" val="xlPrinter"/>
  <p:tag name="NORESIZEONUPDATE" val="False"/>
</p:tagLst>
</file>

<file path=ppt/tags/tag52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2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26.xml><?xml version="1.0" encoding="utf-8"?>
<p:tagLst xmlns:a="http://schemas.openxmlformats.org/drawingml/2006/main" xmlns:r="http://schemas.openxmlformats.org/officeDocument/2006/relationships" xmlns:p="http://schemas.openxmlformats.org/presentationml/2006/main">
  <p:tag name="LAST UPDATE DATE" val="461963929.836439"/>
  <p:tag name="IMPORTID" val="7008459622866.000846"/>
  <p:tag name="WBLAST" val="https://kpmgcan.sharepoint.com/sites/CA-KGSCanada-ProjectNorth/Shared Documents/Project North/Staff Files/Project North_(Jun-24) RF Draft databook_21-Aug-24.xlsb"/>
  <p:tag name="USER NAME" val="cindyxie1"/>
  <p:tag name="TYPE" val="1"/>
  <p:tag name="SOURCENAME" val="Adjusted income statement "/>
  <p:tag name="SHEETID" val="Adjusted IS"/>
  <p:tag name="PICTUREAPPEARANCE" val="xlPrinter"/>
  <p:tag name="NORESIZEONUPDATE" val="False"/>
</p:tagLst>
</file>

<file path=ppt/tags/tag527.xml><?xml version="1.0" encoding="utf-8"?>
<p:tagLst xmlns:a="http://schemas.openxmlformats.org/drawingml/2006/main" xmlns:r="http://schemas.openxmlformats.org/officeDocument/2006/relationships" xmlns:p="http://schemas.openxmlformats.org/presentationml/2006/main">
  <p:tag name="SHAPETYPE" val="BREADCRUMB"/>
</p:tagLst>
</file>

<file path=ppt/tags/tag528.xml><?xml version="1.0" encoding="utf-8"?>
<p:tagLst xmlns:a="http://schemas.openxmlformats.org/drawingml/2006/main" xmlns:r="http://schemas.openxmlformats.org/officeDocument/2006/relationships" xmlns:p="http://schemas.openxmlformats.org/presentationml/2006/main">
  <p:tag name="LAST UPDATE DATE" val="459629747.401254"/>
  <p:tag name="IMPORTID" val="4481459629747.401254"/>
  <p:tag name="WBLAST" val="https://kpmgcan.sharepoint.com/sites/CA-KGSCanada-ProjectNorth/Shared Documents/Project North/Staff Files/Project North_(Jun-24) RF Draft databook_25-Jul-24.xlsb"/>
  <p:tag name="USER NAME" val="cindyxie1"/>
  <p:tag name="TYPE" val="1"/>
  <p:tag name="SOURCENAME" val="Interac Token service provider volume and billing summary"/>
  <p:tag name="SHEETID" val="IFRS 15 Adj"/>
  <p:tag name="PICTUREAPPEARANCE" val="xlPrinter"/>
  <p:tag name="NORESIZEONUPDATE" val="False"/>
</p:tagLst>
</file>

<file path=ppt/tags/tag529.xml><?xml version="1.0" encoding="utf-8"?>
<p:tagLst xmlns:a="http://schemas.openxmlformats.org/drawingml/2006/main" xmlns:r="http://schemas.openxmlformats.org/officeDocument/2006/relationships" xmlns:p="http://schemas.openxmlformats.org/presentationml/2006/main">
  <p:tag name="LAST UPDATE DATE" val="459629622.791247"/>
  <p:tag name="IMPORTID" val="222459449772.266551"/>
  <p:tag name="WBLAST" val="https://kpmgcan.sharepoint.com/sites/CA-KGSCanada-ProjectNorth/Shared Documents/Project North/Staff Files/Project North_(Jun-24) RF Draft databook_25-Jul-24.xlsb"/>
  <p:tag name="USER NAME" val="cindyxie1"/>
  <p:tag name="TYPE" val="1"/>
  <p:tag name="SOURCENAME" val="Mobile POS IFRS 15 "/>
  <p:tag name="SHEETID" val="QofE DD adjustments"/>
  <p:tag name="PICTUREAPPEARANCE" val="xlPrinter"/>
  <p:tag name="NORESIZEONUPDATE" val="False"/>
</p:tagLst>
</file>

<file path=ppt/tags/tag530.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31.xml><?xml version="1.0" encoding="utf-8"?>
<p:tagLst xmlns:a="http://schemas.openxmlformats.org/drawingml/2006/main" xmlns:r="http://schemas.openxmlformats.org/officeDocument/2006/relationships" xmlns:p="http://schemas.openxmlformats.org/presentationml/2006/main">
  <p:tag name="LAST UPDATE DATE" val="456599502.504368"/>
  <p:tag name="IMPORTID" val="394456456836.59389"/>
  <p:tag name="WBLAST" val="https://kpmgcan.sharepoint.com/sites/CA-KGSCanada-ProjectNorth/Shared Documents/Project North/Staff Files/Project North_Draft databook_20-Jun-24.xlsb"/>
  <p:tag name="USER NAME" val="cindyxie1"/>
  <p:tag name="TYPE" val="1"/>
  <p:tag name="SOURCENAME" val="Average price over contract lifetime summary"/>
  <p:tag name="SHEETID" val="IFRS 15 Adj"/>
  <p:tag name="PICTUREAPPEARANCE" val="xlPrinter"/>
  <p:tag name="NORESIZEONUPDATE" val="False"/>
</p:tagLst>
</file>

<file path=ppt/tags/tag532.xml><?xml version="1.0" encoding="utf-8"?>
<p:tagLst xmlns:a="http://schemas.openxmlformats.org/drawingml/2006/main" xmlns:r="http://schemas.openxmlformats.org/officeDocument/2006/relationships" xmlns:p="http://schemas.openxmlformats.org/presentationml/2006/main">
  <p:tag name="SHAPETYPE" val="BREADCRUMB"/>
</p:tagLst>
</file>

<file path=ppt/tags/tag533.xml><?xml version="1.0" encoding="utf-8"?>
<p:tagLst xmlns:a="http://schemas.openxmlformats.org/drawingml/2006/main" xmlns:r="http://schemas.openxmlformats.org/officeDocument/2006/relationships" xmlns:p="http://schemas.openxmlformats.org/presentationml/2006/main">
  <p:tag name="LAST UPDATE DATE" val="460175372.351626"/>
  <p:tag name="IMPORTID" val="9481459638179.454463"/>
  <p:tag name="WBLAST" val="https://kpmgcan.sharepoint.com/sites/CA-KGSCanada-ProjectNorth/Shared Documents/Project North/Staff Files/Project North_(Jun-24) RF Draft databook_31-Jul-24.xlsb"/>
  <p:tag name="USER NAME" val="cindyxie1"/>
  <p:tag name="TYPE" val="1"/>
  <p:tag name="SOURCENAME" val="Data center relocation costs"/>
  <p:tag name="SHEETID" val="Data center relocation"/>
  <p:tag name="PICTUREAPPEARANCE" val="xlPrinter"/>
  <p:tag name="NORESIZEONUPDATE" val="False"/>
</p:tagLst>
</file>

<file path=ppt/tags/tag534.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35.xml><?xml version="1.0" encoding="utf-8"?>
<p:tagLst xmlns:a="http://schemas.openxmlformats.org/drawingml/2006/main" xmlns:r="http://schemas.openxmlformats.org/officeDocument/2006/relationships" xmlns:p="http://schemas.openxmlformats.org/presentationml/2006/main">
  <p:tag name="SHAPETYPE" val="BREADCRUMB"/>
</p:tagLst>
</file>

<file path=ppt/tags/tag53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37.xml><?xml version="1.0" encoding="utf-8"?>
<p:tagLst xmlns:a="http://schemas.openxmlformats.org/drawingml/2006/main" xmlns:r="http://schemas.openxmlformats.org/officeDocument/2006/relationships" xmlns:p="http://schemas.openxmlformats.org/presentationml/2006/main">
  <p:tag name="LAST UPDATE DATE" val="461730930.26964"/>
  <p:tag name="IMPORTID" val="2548459638424.873868"/>
  <p:tag name="WBLAST" val="https://kpmgcan.sharepoint.com/sites/CA-KGSCanada-ProjectNorth/Shared Documents/Project North/Staff Files/Project North_(Jun-24) RF Draft databook_17-Aug-24.xlsb"/>
  <p:tag name="USER NAME" val="cindyxie1"/>
  <p:tag name="TYPE" val="1"/>
  <p:tag name="SOURCENAME" val="New customers detail"/>
  <p:tag name="SHEETID" val="New customers"/>
  <p:tag name="PICTUREAPPEARANCE" val="xlPrinter"/>
  <p:tag name="NORESIZEONUPDATE" val="False"/>
</p:tagLst>
</file>

<file path=ppt/tags/tag538.xml><?xml version="1.0" encoding="utf-8"?>
<p:tagLst xmlns:a="http://schemas.openxmlformats.org/drawingml/2006/main" xmlns:r="http://schemas.openxmlformats.org/officeDocument/2006/relationships" xmlns:p="http://schemas.openxmlformats.org/presentationml/2006/main">
  <p:tag name="SHAPETYPE" val="BREADCRUMB"/>
</p:tagLst>
</file>

<file path=ppt/tags/tag53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40.xml><?xml version="1.0" encoding="utf-8"?>
<p:tagLst xmlns:a="http://schemas.openxmlformats.org/drawingml/2006/main" xmlns:r="http://schemas.openxmlformats.org/officeDocument/2006/relationships" xmlns:p="http://schemas.openxmlformats.org/presentationml/2006/main">
  <p:tag name="LAST UPDATE DATE" val="461731039.501322"/>
  <p:tag name="IMPORTID" val="2951459638495.276198"/>
  <p:tag name="WBLAST" val="https://kpmgcan.sharepoint.com/sites/CA-KGSCanada-ProjectNorth/Shared Documents/Project North/Staff Files/Project North_(Jun-24) RF Draft databook_17-Aug-24.xlsb"/>
  <p:tag name="USER NAME" val="cindyxie1"/>
  <p:tag name="TYPE" val="1"/>
  <p:tag name="SOURCENAME" val="Terminated &amp; lost customers detail"/>
  <p:tag name="SHEETID" val="Lost customers"/>
  <p:tag name="PICTUREAPPEARANCE" val="xlPrinter"/>
  <p:tag name="NORESIZEONUPDATE" val="False"/>
</p:tagLst>
</file>

<file path=ppt/tags/tag541.xml><?xml version="1.0" encoding="utf-8"?>
<p:tagLst xmlns:a="http://schemas.openxmlformats.org/drawingml/2006/main" xmlns:r="http://schemas.openxmlformats.org/officeDocument/2006/relationships" xmlns:p="http://schemas.openxmlformats.org/presentationml/2006/main">
  <p:tag name="SHAPETYPE" val="BREADCRUMB"/>
</p:tagLst>
</file>

<file path=ppt/tags/tag542.xml><?xml version="1.0" encoding="utf-8"?>
<p:tagLst xmlns:a="http://schemas.openxmlformats.org/drawingml/2006/main" xmlns:r="http://schemas.openxmlformats.org/officeDocument/2006/relationships" xmlns:p="http://schemas.openxmlformats.org/presentationml/2006/main">
  <p:tag name="LAST UPDATE DATE" val="461444608.509369"/>
  <p:tag name="IMPORTID" val="2041461444608.509369"/>
  <p:tag name="WBLAST" val="https://kpmgcan.sharepoint.com/sites/CA-KGSCanada-ProjectNorth/Shared Documents/Project North/Staff Files/Project North_(Jun-24) RF Draft databook_15-Aug-24.xlsb"/>
  <p:tag name="USER NAME" val="cindyxie1"/>
  <p:tag name="TYPE" val="1"/>
  <p:tag name="SOURCENAME" val="Credit union MSA Billings"/>
  <p:tag name="SHEETID" val="MSA contract revenue"/>
  <p:tag name="PICTUREAPPEARANCE" val="xlPrinter"/>
  <p:tag name="NORESIZEONUPDATE" val="False"/>
</p:tagLst>
</file>

<file path=ppt/tags/tag543.xml><?xml version="1.0" encoding="utf-8"?>
<p:tagLst xmlns:a="http://schemas.openxmlformats.org/drawingml/2006/main" xmlns:r="http://schemas.openxmlformats.org/officeDocument/2006/relationships" xmlns:p="http://schemas.openxmlformats.org/presentationml/2006/main">
  <p:tag name="LAST UPDATE DATE" val="459638825.687523"/>
  <p:tag name="IMPORTID" val="7534459638825.687523"/>
  <p:tag name="WBLAST" val="https://kpmgcan.sharepoint.com/sites/CA-KGSCanada-ProjectNorth/Shared Documents/Project North/Staff Files/Project North_(Jun-24) RF Draft databook_25-Jul-24.xlsb"/>
  <p:tag name="USER NAME" val="cindyxie1"/>
  <p:tag name="TYPE" val="1"/>
  <p:tag name="SOURCENAME" val="Non-credit union MSA Billings"/>
  <p:tag name="SHEETID" val="MSA contract revenue"/>
  <p:tag name="PICTUREAPPEARANCE" val="xlPrinter"/>
  <p:tag name="NORESIZEONUPDATE" val="False"/>
</p:tagLst>
</file>

<file path=ppt/tags/tag544.xml><?xml version="1.0" encoding="utf-8"?>
<p:tagLst xmlns:a="http://schemas.openxmlformats.org/drawingml/2006/main" xmlns:r="http://schemas.openxmlformats.org/officeDocument/2006/relationships" xmlns:p="http://schemas.openxmlformats.org/presentationml/2006/main">
  <p:tag name="LAST UPDATE DATE" val="459638652.078828"/>
  <p:tag name="IMPORTID" val="171459638652.078828"/>
  <p:tag name="WBLAST" val="https://kpmgcan.sharepoint.com/sites/CA-KGSCanada-ProjectNorth/Shared Documents/Project North/Staff Files/Project North_(Jun-24) RF Draft databook_25-Jul-24.xlsb"/>
  <p:tag name="USER NAME" val="cindyxie1"/>
  <p:tag name="TYPE" val="1"/>
  <p:tag name="SOURCENAME" val="Billings by customer group"/>
  <p:tag name="SHEETID" val="Revenue by customer group"/>
  <p:tag name="PICTUREAPPEARANCE" val="xlPrinter"/>
  <p:tag name="NORESIZEONUPDATE" val="False"/>
</p:tagLst>
</file>

<file path=ppt/tags/tag54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46.xml><?xml version="1.0" encoding="utf-8"?>
<p:tagLst xmlns:a="http://schemas.openxmlformats.org/drawingml/2006/main" xmlns:r="http://schemas.openxmlformats.org/officeDocument/2006/relationships" xmlns:p="http://schemas.openxmlformats.org/presentationml/2006/main">
  <p:tag name="SHAPETYPE" val="BREADCRUMB"/>
</p:tagLst>
</file>

<file path=ppt/tags/tag547.xml><?xml version="1.0" encoding="utf-8"?>
<p:tagLst xmlns:a="http://schemas.openxmlformats.org/drawingml/2006/main" xmlns:r="http://schemas.openxmlformats.org/officeDocument/2006/relationships" xmlns:p="http://schemas.openxmlformats.org/presentationml/2006/main">
  <p:tag name="LAST UPDATE DATE" val="459639118.341285"/>
  <p:tag name="IMPORTID" val="8198459639118.341285"/>
  <p:tag name="WBLAST" val="https://kpmgcan.sharepoint.com/sites/CA-KGSCanada-ProjectNorth/Shared Documents/Project North/Staff Files/Project North_(Jun-24) RF Draft databook_25-Jul-24.xlsb"/>
  <p:tag name="USER NAME" val="cindyxie1"/>
  <p:tag name="TYPE" val="1"/>
  <p:tag name="SOURCENAME" val="Exclude new customers"/>
  <p:tag name="SHEETID" val="Card | NP"/>
  <p:tag name="PICTUREAPPEARANCE" val="xlPrinter"/>
  <p:tag name="NORESIZEONUPDATE" val="False"/>
</p:tagLst>
</file>

<file path=ppt/tags/tag54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49.xml><?xml version="1.0" encoding="utf-8"?>
<p:tagLst xmlns:a="http://schemas.openxmlformats.org/drawingml/2006/main" xmlns:r="http://schemas.openxmlformats.org/officeDocument/2006/relationships" xmlns:p="http://schemas.openxmlformats.org/presentationml/2006/main">
  <p:tag name="LAST UPDATE DATE" val="461444773.281475"/>
  <p:tag name="IMPORTID" val="7525459639066.847418"/>
  <p:tag name="WBLAST" val="https://kpmgcan.sharepoint.com/sites/CA-KGSCanada-ProjectNorth/Shared Documents/Project North/Staff Files/Project North_(Jun-24) RF Draft databook_15-Aug-24.xlsb"/>
  <p:tag name="USER NAME" val="cindyxie1"/>
  <p:tag name="TYPE" val="1"/>
  <p:tag name="SOURCENAME" val="New products | Card management"/>
  <p:tag name="SHEETID" val="Card | NP"/>
  <p:tag name="PICTUREAPPEARANCE" val="xlPrinter"/>
  <p:tag name="NORESIZEONUPDATE" val="False"/>
</p:tagLst>
</file>

<file path=ppt/tags/tag550.xml><?xml version="1.0" encoding="utf-8"?>
<p:tagLst xmlns:a="http://schemas.openxmlformats.org/drawingml/2006/main" xmlns:r="http://schemas.openxmlformats.org/officeDocument/2006/relationships" xmlns:p="http://schemas.openxmlformats.org/presentationml/2006/main">
  <p:tag name="SHAPETYPE" val="BREADCRUMB"/>
</p:tagLst>
</file>

<file path=ppt/tags/tag551.xml><?xml version="1.0" encoding="utf-8"?>
<p:tagLst xmlns:a="http://schemas.openxmlformats.org/drawingml/2006/main" xmlns:r="http://schemas.openxmlformats.org/officeDocument/2006/relationships" xmlns:p="http://schemas.openxmlformats.org/presentationml/2006/main">
  <p:tag name="LAST UPDATE DATE" val="461444832.119763"/>
  <p:tag name="IMPORTID" val="9003459639180.995802"/>
  <p:tag name="WBLAST" val="https://kpmgcan.sharepoint.com/sites/CA-KGSCanada-ProjectNorth/Shared Documents/Project North/Staff Files/Project North_(Jun-24) RF Draft databook_15-Aug-24.xlsb"/>
  <p:tag name="USER NAME" val="cindyxie1"/>
  <p:tag name="TYPE" val="1"/>
  <p:tag name="SOURCENAME" val="New products | Fraud management"/>
  <p:tag name="SHEETID" val="Fraud | NP"/>
  <p:tag name="PICTUREAPPEARANCE" val="xlPrinter"/>
  <p:tag name="NORESIZEONUPDATE" val="False"/>
</p:tagLst>
</file>

<file path=ppt/tags/tag55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53.xml><?xml version="1.0" encoding="utf-8"?>
<p:tagLst xmlns:a="http://schemas.openxmlformats.org/drawingml/2006/main" xmlns:r="http://schemas.openxmlformats.org/officeDocument/2006/relationships" xmlns:p="http://schemas.openxmlformats.org/presentationml/2006/main">
  <p:tag name="LAST UPDATE DATE" val="459639196.541452"/>
  <p:tag name="IMPORTID" val="466459639196.541452"/>
  <p:tag name="WBLAST" val="https://kpmgcan.sharepoint.com/sites/CA-KGSCanada-ProjectNorth/Shared Documents/Project North/Staff Files/Project North_(Jun-24) RF Draft databook_25-Jul-24.xlsb"/>
  <p:tag name="USER NAME" val="cindyxie1"/>
  <p:tag name="TYPE" val="1"/>
  <p:tag name="SOURCENAME" val="Exclude new customers"/>
  <p:tag name="SHEETID" val="Fraud | NP"/>
  <p:tag name="PICTUREAPPEARANCE" val="xlPrinter"/>
  <p:tag name="NORESIZEONUPDATE" val="False"/>
</p:tagLst>
</file>

<file path=ppt/tags/tag55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5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56.xml><?xml version="1.0" encoding="utf-8"?>
<p:tagLst xmlns:a="http://schemas.openxmlformats.org/drawingml/2006/main" xmlns:r="http://schemas.openxmlformats.org/officeDocument/2006/relationships" xmlns:p="http://schemas.openxmlformats.org/presentationml/2006/main">
  <p:tag name="LAST UPDATE DATE" val="460175488.780593"/>
  <p:tag name="IMPORTID" val="700460175488.780593"/>
  <p:tag name="WBLAST" val="https://kpmgcan.sharepoint.com/sites/CA-KGSCanada-ProjectNorth/Shared Documents/Project North/Staff Files/Project North_(Jun-24) RF Draft databook_31-Jul-24.xlsb"/>
  <p:tag name="USER NAME" val="cindyxie1"/>
  <p:tag name="TYPE" val="1"/>
  <p:tag name="SOURCENAME" val="Fixed assets profile | June 2024"/>
  <p:tag name="SHEETID" val="Fixed assets profile"/>
  <p:tag name="PICTUREAPPEARANCE" val="xlPrinter"/>
  <p:tag name="NORESIZEONUPDATE" val="False"/>
</p:tagLst>
</file>

<file path=ppt/tags/tag557.xml><?xml version="1.0" encoding="utf-8"?>
<p:tagLst xmlns:a="http://schemas.openxmlformats.org/drawingml/2006/main" xmlns:r="http://schemas.openxmlformats.org/officeDocument/2006/relationships" xmlns:p="http://schemas.openxmlformats.org/presentationml/2006/main">
  <p:tag name="SHAPETYPE" val="BREADCRUMB"/>
</p:tagLst>
</file>

<file path=ppt/tags/tag55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59.xml><?xml version="1.0" encoding="utf-8"?>
<p:tagLst xmlns:a="http://schemas.openxmlformats.org/drawingml/2006/main" xmlns:r="http://schemas.openxmlformats.org/officeDocument/2006/relationships" xmlns:p="http://schemas.openxmlformats.org/presentationml/2006/main">
  <p:tag name="LAST UPDATE DATE" val="460175689.670073"/>
  <p:tag name="IMPORTID" val="5033460175586.554926"/>
  <p:tag name="WBLAST" val="https://kpmgcan.sharepoint.com/sites/CA-KGSCanada-ProjectNorth/Shared Documents/Project North/Staff Files/Project North_(Jun-24) RF Draft databook_31-Jul-24.xlsb"/>
  <p:tag name="USER NAME" val="cindyxie1"/>
  <p:tag name="TYPE" val="1"/>
  <p:tag name="SOURCENAME" val="YTD Jun-24 capital expenditure"/>
  <p:tag name="SHEETID" val="YTD Jun-24 capex"/>
  <p:tag name="PICTUREAPPEARANCE" val="xlPrinter"/>
  <p:tag name="NORESIZEONUPDATE" val="False"/>
</p:tagLst>
</file>

<file path=ppt/tags/tag560.xml><?xml version="1.0" encoding="utf-8"?>
<p:tagLst xmlns:a="http://schemas.openxmlformats.org/drawingml/2006/main" xmlns:r="http://schemas.openxmlformats.org/officeDocument/2006/relationships" xmlns:p="http://schemas.openxmlformats.org/presentationml/2006/main">
  <p:tag name="LAST UPDATE DATE" val="461445860.785751"/>
  <p:tag name="IMPORTID" val="1632461445333.781375"/>
  <p:tag name="WBLAST" val="https://kpmgcan.sharepoint.com/sites/CA-KGSCanada-ProjectNorth/Shared Documents/Project North/Staff Files/Project North_(Jun-24) RF Draft databook_15-Aug-24.xlsb"/>
  <p:tag name="USER NAME" val="cindyxie1"/>
  <p:tag name="TYPE" val="1"/>
  <p:tag name="SOURCENAME" val="Capital expenditure budget vs. reported"/>
  <p:tag name="SHEETID" val="Capex budget"/>
  <p:tag name="PICTUREAPPEARANCE" val="xlPrinter"/>
  <p:tag name="NORESIZEONUPDATE" val="False"/>
</p:tagLst>
</file>

<file path=ppt/tags/tag561.xml><?xml version="1.0" encoding="utf-8"?>
<p:tagLst xmlns:a="http://schemas.openxmlformats.org/drawingml/2006/main" xmlns:r="http://schemas.openxmlformats.org/officeDocument/2006/relationships" xmlns:p="http://schemas.openxmlformats.org/presentationml/2006/main">
  <p:tag name="SHAPETYPE" val="BREADCRUMB"/>
</p:tagLst>
</file>

<file path=ppt/tags/tag56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63.xml><?xml version="1.0" encoding="utf-8"?>
<p:tagLst xmlns:a="http://schemas.openxmlformats.org/drawingml/2006/main" xmlns:r="http://schemas.openxmlformats.org/officeDocument/2006/relationships" xmlns:p="http://schemas.openxmlformats.org/presentationml/2006/main">
  <p:tag name="LAST UPDATE DATE" val="461446275.386074"/>
  <p:tag name="IMPORTID" val="3457461446275.386074"/>
  <p:tag name="WBLAST" val="https://kpmgcan.sharepoint.com/sites/CA-KGSCanada-ProjectNorth/Shared Documents/Project North/Staff Files/Project North_(Jun-24) RF Draft databook_15-Aug-24.xlsb"/>
  <p:tag name="USER NAME" val="cindyxie1"/>
  <p:tag name="TYPE" val="1"/>
  <p:tag name="SOURCENAME" val="Fixed asset continuity schedule"/>
  <p:tag name="SHEETID" val="Fixed asset continuity schedule"/>
  <p:tag name="PICTUREAPPEARANCE" val="xlPrinter"/>
  <p:tag name="NORESIZEONUPDATE" val="False"/>
</p:tagLst>
</file>

<file path=ppt/tags/tag56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65.xml><?xml version="1.0" encoding="utf-8"?>
<p:tagLst xmlns:a="http://schemas.openxmlformats.org/drawingml/2006/main" xmlns:r="http://schemas.openxmlformats.org/officeDocument/2006/relationships" xmlns:p="http://schemas.openxmlformats.org/presentationml/2006/main">
  <p:tag name="LAST UPDATE DATE" val="460605314.831654"/>
  <p:tag name="IMPORTID" val="5055459639406.38255"/>
  <p:tag name="WBLAST" val="https://kpmgcan.sharepoint.com/sites/CA-KGSCanada-ProjectNorth/Shared Documents/Project North/Staff Files/Project North_(Jun-24) RF Draft databook_02-Aug-24.xlsb"/>
  <p:tag name="USER NAME" val="cindyxie1"/>
  <p:tag name="TYPE" val="1"/>
  <p:tag name="SOURCENAME" val="Personnel analysis | Reported"/>
  <p:tag name="SHEETID" val="IS | Payroll costs"/>
  <p:tag name="PICTUREAPPEARANCE" val="xlPrinter"/>
  <p:tag name="NORESIZEONUPDATE" val="False"/>
</p:tagLst>
</file>

<file path=ppt/tags/tag56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67.xml><?xml version="1.0" encoding="utf-8"?>
<p:tagLst xmlns:a="http://schemas.openxmlformats.org/drawingml/2006/main" xmlns:r="http://schemas.openxmlformats.org/officeDocument/2006/relationships" xmlns:p="http://schemas.openxmlformats.org/presentationml/2006/main">
  <p:tag name="SHAPETYPE" val="BREADCRUMB"/>
</p:tagLst>
</file>

<file path=ppt/tags/tag56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69.xml><?xml version="1.0" encoding="utf-8"?>
<p:tagLst xmlns:a="http://schemas.openxmlformats.org/drawingml/2006/main" xmlns:r="http://schemas.openxmlformats.org/officeDocument/2006/relationships" xmlns:p="http://schemas.openxmlformats.org/presentationml/2006/main">
  <p:tag name="LAST UPDATE DATE" val="456617332.822054"/>
  <p:tag name="IMPORTID" val="5773456455399.907411"/>
  <p:tag name="WBLAST" val="https://kpmgcan.sharepoint.com/sites/CA-KGSCanada-ProjectNorth/Shared Documents/Project North/Staff Files/Project North_Draft databook_20-Jun-24.xlsb"/>
  <p:tag name="USER NAME" val="cindyxie1"/>
  <p:tag name="TYPE" val="1"/>
  <p:tag name="SOURCENAME" val="Lease summary per agreements"/>
  <p:tag name="SHEETID" val="Lease summary"/>
  <p:tag name="PICTUREAPPEARANCE" val="xlPrinter"/>
  <p:tag name="NORESIZEONUPDATE" val="False"/>
</p:tagLst>
</file>

<file path=ppt/tags/tag570.xml><?xml version="1.0" encoding="utf-8"?>
<p:tagLst xmlns:a="http://schemas.openxmlformats.org/drawingml/2006/main" xmlns:r="http://schemas.openxmlformats.org/officeDocument/2006/relationships" xmlns:p="http://schemas.openxmlformats.org/presentationml/2006/main">
  <p:tag name="LAST UPDATE DATE" val="460176118.186713"/>
  <p:tag name="IMPORTID" val="5159460176086.890185"/>
  <p:tag name="WBLAST" val="https://kpmgcan.sharepoint.com/sites/CA-KGSCanada-ProjectNorth/Shared Documents/Project North/Staff Files/Project North_(Jun-24) RF Draft databook_31-Jul-24.xlsb"/>
  <p:tag name="USER NAME" val="cindyxie1"/>
  <p:tag name="TYPE" val="1"/>
  <p:tag name="SOURCENAME" val="Lease agreements to income statement reconciliation"/>
  <p:tag name="SHEETID" val="Lease reconciliation"/>
  <p:tag name="PICTUREAPPEARANCE" val="xlPrinter"/>
  <p:tag name="NORESIZEONUPDATE" val="False"/>
</p:tagLst>
</file>

<file path=ppt/tags/tag571.xml><?xml version="1.0" encoding="utf-8"?>
<p:tagLst xmlns:a="http://schemas.openxmlformats.org/drawingml/2006/main" xmlns:r="http://schemas.openxmlformats.org/officeDocument/2006/relationships" xmlns:p="http://schemas.openxmlformats.org/presentationml/2006/main">
  <p:tag name="SHAPETYPE" val="BREADCRUMB"/>
</p:tagLst>
</file>

<file path=ppt/tags/tag572.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73.xml><?xml version="1.0" encoding="utf-8"?>
<p:tagLst xmlns:a="http://schemas.openxmlformats.org/drawingml/2006/main" xmlns:r="http://schemas.openxmlformats.org/officeDocument/2006/relationships" xmlns:p="http://schemas.openxmlformats.org/presentationml/2006/main">
  <p:tag name="LAST UPDATE DATE" val="460176154.157132"/>
  <p:tag name="IMPORTID" val="6893459639601.62007"/>
  <p:tag name="WBLAST" val="https://kpmgcan.sharepoint.com/sites/CA-KGSCanada-ProjectNorth/Shared Documents/Project North/Staff Files/Project North_(Jun-24) RF Draft databook_31-Jul-24.xlsb"/>
  <p:tag name="USER NAME" val="cindyxie1"/>
  <p:tag name="TYPE" val="1"/>
  <p:tag name="SOURCENAME" val="Cash flow"/>
  <p:tag name="SHEETID" val="Cash flow"/>
  <p:tag name="PICTUREAPPEARANCE" val="xlPrinter"/>
  <p:tag name="NORESIZEONUPDATE" val="False"/>
</p:tagLst>
</file>

<file path=ppt/tags/tag57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75.xml><?xml version="1.0" encoding="utf-8"?>
<p:tagLst xmlns:a="http://schemas.openxmlformats.org/drawingml/2006/main" xmlns:r="http://schemas.openxmlformats.org/officeDocument/2006/relationships" xmlns:p="http://schemas.openxmlformats.org/presentationml/2006/main">
  <p:tag name="CROSSREFGUID" val="ad1e9fd7-2b29-4cbc-9041-857c3a958070"/>
</p:tagLst>
</file>

<file path=ppt/tags/tag5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7.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78.xml><?xml version="1.0" encoding="utf-8"?>
<p:tagLst xmlns:a="http://schemas.openxmlformats.org/drawingml/2006/main" xmlns:r="http://schemas.openxmlformats.org/officeDocument/2006/relationships" xmlns:p="http://schemas.openxmlformats.org/presentationml/2006/main">
  <p:tag name="SHAPETYPE" val="BREADCRUMB"/>
</p:tagLst>
</file>

<file path=ppt/tags/tag579.xml><?xml version="1.0" encoding="utf-8"?>
<p:tagLst xmlns:a="http://schemas.openxmlformats.org/drawingml/2006/main" xmlns:r="http://schemas.openxmlformats.org/officeDocument/2006/relationships" xmlns:p="http://schemas.openxmlformats.org/presentationml/2006/main">
  <p:tag name="CROSSREFGUID" val="134f02ea-0b8c-45c9-b8d8-937b9d9f32ed"/>
</p:tagLst>
</file>

<file path=ppt/tags/tag5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1.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82.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583.xml><?xml version="1.0" encoding="utf-8"?>
<p:tagLst xmlns:a="http://schemas.openxmlformats.org/drawingml/2006/main" xmlns:r="http://schemas.openxmlformats.org/officeDocument/2006/relationships" xmlns:p="http://schemas.openxmlformats.org/presentationml/2006/main">
  <p:tag name="SHAPETYPE" val="BREADCRUMB"/>
</p:tagLst>
</file>

<file path=ppt/tags/tag5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5.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86.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587.xml><?xml version="1.0" encoding="utf-8"?>
<p:tagLst xmlns:a="http://schemas.openxmlformats.org/drawingml/2006/main" xmlns:r="http://schemas.openxmlformats.org/officeDocument/2006/relationships" xmlns:p="http://schemas.openxmlformats.org/presentationml/2006/main">
  <p:tag name="SHAPETYPE" val="BREADCRUMB"/>
</p:tagLst>
</file>

<file path=ppt/tags/tag5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9.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90.xml><?xml version="1.0" encoding="utf-8"?>
<p:tagLst xmlns:a="http://schemas.openxmlformats.org/drawingml/2006/main" xmlns:r="http://schemas.openxmlformats.org/officeDocument/2006/relationships" xmlns:p="http://schemas.openxmlformats.org/presentationml/2006/main">
  <p:tag name="ADV_TOP" val="112.3354"/>
  <p:tag name="ADV_LEFT" val="125.3068"/>
  <p:tag name="ADV_HEIGHT" val="226.4"/>
  <p:tag name="ADV_WIDTH" val="386.1931"/>
</p:tagLst>
</file>

<file path=ppt/tags/tag591.xml><?xml version="1.0" encoding="utf-8"?>
<p:tagLst xmlns:a="http://schemas.openxmlformats.org/drawingml/2006/main" xmlns:r="http://schemas.openxmlformats.org/officeDocument/2006/relationships" xmlns:p="http://schemas.openxmlformats.org/presentationml/2006/main">
  <p:tag name="SHAPETYPE" val="BREADCRUMB"/>
</p:tagLst>
</file>

<file path=ppt/tags/tag5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3.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94.xml><?xml version="1.0" encoding="utf-8"?>
<p:tagLst xmlns:a="http://schemas.openxmlformats.org/drawingml/2006/main" xmlns:r="http://schemas.openxmlformats.org/officeDocument/2006/relationships" xmlns:p="http://schemas.openxmlformats.org/presentationml/2006/main">
  <p:tag name="SHAPETYPE" val="BREADCRUMB"/>
</p:tagLst>
</file>

<file path=ppt/tags/tag5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6.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ags/tag597.xml><?xml version="1.0" encoding="utf-8"?>
<p:tagLst xmlns:a="http://schemas.openxmlformats.org/drawingml/2006/main" xmlns:r="http://schemas.openxmlformats.org/officeDocument/2006/relationships" xmlns:p="http://schemas.openxmlformats.org/presentationml/2006/main">
  <p:tag name="SHAPETYPE" val="BREADCRUMB"/>
</p:tagLst>
</file>

<file path=ppt/tags/tag598.xml><?xml version="1.0" encoding="utf-8"?>
<p:tagLst xmlns:a="http://schemas.openxmlformats.org/drawingml/2006/main" xmlns:r="http://schemas.openxmlformats.org/officeDocument/2006/relationships" xmlns:p="http://schemas.openxmlformats.org/presentationml/2006/main">
  <p:tag name="NAME" val="1"/>
  <p:tag name="SUBSECTIONLEVEL" val="1"/>
</p:tagLst>
</file>

<file path=ppt/theme/theme1.xml><?xml version="1.0" encoding="utf-8"?>
<a:theme xmlns:a="http://schemas.openxmlformats.org/drawingml/2006/main" name="KPMG Widescreen - UpSlide">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ctr">
          <a:defRPr sz="9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potx" id="{EDEF929A-8D8D-4C84-A296-A768D40CD682}" vid="{E40EEDFA-7BBF-4178-B6DE-0A610A6A5493}"/>
    </a:ext>
  </a:extLst>
</a:theme>
</file>

<file path=ppt/theme/theme2.xml><?xml version="1.0" encoding="utf-8"?>
<a:theme xmlns:a="http://schemas.openxmlformats.org/drawingml/2006/main" name="UpSlide Table Of Content Master (do not edit)">
  <a:themeElements>
    <a:clrScheme name="KPMG 2022">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KPMG Brand 2022">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ot="0" spcFirstLastPara="0" vertOverflow="overflow" horzOverflow="overflow" vert="horz" wrap="square" lIns="54610" tIns="54610" rIns="54610" bIns="54610" numCol="1" spcCol="0" rtlCol="0" fromWordArt="0" anchor="ctr" anchorCtr="0" forceAA="0" compatLnSpc="1">
        <a:prstTxWarp prst="textNoShape">
          <a:avLst/>
        </a:prstTxWarp>
        <a:noAutofit/>
      </a:bodyPr>
      <a:lstStyle>
        <a:defPPr algn="l">
          <a:defRPr sz="1600"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extraClrSchemeLst/>
  <a:custClrLst>
    <a:custClr name="KPMG Blue">
      <a:srgbClr val="00338D"/>
    </a:custClr>
    <a:custClr name="Cobolt Blue">
      <a:srgbClr val="1E49E2"/>
    </a:custClr>
    <a:custClr name="Dark Blue">
      <a:srgbClr val="0C233C"/>
    </a:custClr>
    <a:custClr name="Pacific Blue">
      <a:srgbClr val="00B8F5"/>
    </a:custClr>
    <a:custClr name="Blue">
      <a:srgbClr val="76D2FF"/>
    </a:custClr>
    <a:custClr name="Light Blue">
      <a:srgbClr val="ACEAFF"/>
    </a:custClr>
    <a:custClr name="Dark Purple">
      <a:srgbClr val="510DBC"/>
    </a:custClr>
    <a:custClr name="Purple">
      <a:srgbClr val="7213EA"/>
    </a:custClr>
    <a:custClr name="Light Purple">
      <a:srgbClr val="B497FF"/>
    </a:custClr>
    <a:custClr name="Dark Green">
      <a:srgbClr val="008E7E"/>
    </a:custClr>
    <a:custClr name="Green">
      <a:srgbClr val="00C0AE"/>
    </a:custClr>
    <a:custClr name="Light Green">
      <a:srgbClr val="7AFFBD"/>
    </a:custClr>
    <a:custClr name="Dark Pink">
      <a:srgbClr val="AB0D82"/>
    </a:custClr>
    <a:custClr name="Pink">
      <a:srgbClr val="FD349C"/>
    </a:custClr>
    <a:custClr name="Light Pink">
      <a:srgbClr val="FFA3DA"/>
    </a:custClr>
    <a:custClr name="Grey 1">
      <a:srgbClr val="333333"/>
    </a:custClr>
    <a:custClr name="Grey 2">
      <a:srgbClr val="666666"/>
    </a:custClr>
    <a:custClr name="Grey 3">
      <a:srgbClr val="989898"/>
    </a:custClr>
    <a:custClr name="Grey 4">
      <a:srgbClr val="B2B2B2"/>
    </a:custClr>
    <a:custClr name="Grey 5">
      <a:srgbClr val="E5E5E5"/>
    </a:custClr>
  </a:custClrLst>
  <a:extLst>
    <a:ext uri="{05A4C25C-085E-4340-85A3-A5531E510DB2}">
      <thm15:themeFamily xmlns:thm15="http://schemas.microsoft.com/office/thememl/2012/main" name="UpSlideTemplate.potx" id="{EDEF929A-8D8D-4C84-A296-A768D40CD682}" vid="{0654853A-A273-4826-A3FC-B064C67BAAA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0996f19-b754-4f90-98d6-c022be1420b3">
      <Terms xmlns="http://schemas.microsoft.com/office/infopath/2007/PartnerControls"/>
    </lcf76f155ced4ddcb4097134ff3c332f>
    <TaxCatchAll xmlns="ce774d3a-0da9-40f3-b86d-c9c3902288d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50ACECE49572E49B9E2B6EEF15646F3" ma:contentTypeVersion="10" ma:contentTypeDescription="Create a new document." ma:contentTypeScope="" ma:versionID="8fdd78ded99f2352216c5d618f5b216c">
  <xsd:schema xmlns:xsd="http://www.w3.org/2001/XMLSchema" xmlns:xs="http://www.w3.org/2001/XMLSchema" xmlns:p="http://schemas.microsoft.com/office/2006/metadata/properties" xmlns:ns2="30996f19-b754-4f90-98d6-c022be1420b3" xmlns:ns3="ce774d3a-0da9-40f3-b86d-c9c3902288d7" targetNamespace="http://schemas.microsoft.com/office/2006/metadata/properties" ma:root="true" ma:fieldsID="412b5359f0c396b6faa7a13f838c7055" ns2:_="" ns3:_="">
    <xsd:import namespace="30996f19-b754-4f90-98d6-c022be1420b3"/>
    <xsd:import namespace="ce774d3a-0da9-40f3-b86d-c9c3902288d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996f19-b754-4f90-98d6-c022be1420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883d318-f35c-4577-94aa-4c8e836d27a7"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ce774d3a-0da9-40f3-b86d-c9c3902288d7"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e5af1eb-79bf-4b24-8cd0-115ead010127}" ma:internalName="TaxCatchAll" ma:showField="CatchAllData" ma:web="ce774d3a-0da9-40f3-b86d-c9c3902288d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41A8047-1206-43CC-9A53-CAF99D47EBEE}">
  <ds:schemaRefs>
    <ds:schemaRef ds:uri="http://schemas.microsoft.com/sharepoint/v3/contenttype/forms"/>
  </ds:schemaRefs>
</ds:datastoreItem>
</file>

<file path=customXml/itemProps2.xml><?xml version="1.0" encoding="utf-8"?>
<ds:datastoreItem xmlns:ds="http://schemas.openxmlformats.org/officeDocument/2006/customXml" ds:itemID="{70E72566-D19C-46FB-9549-7A2AD2EE2DB9}">
  <ds:schemaRefs>
    <ds:schemaRef ds:uri="http://schemas.microsoft.com/office/2006/documentManagement/types"/>
    <ds:schemaRef ds:uri="http://www.w3.org/XML/1998/namespace"/>
    <ds:schemaRef ds:uri="http://purl.org/dc/dcmitype/"/>
    <ds:schemaRef ds:uri="http://schemas.openxmlformats.org/package/2006/metadata/core-properties"/>
    <ds:schemaRef ds:uri="30996f19-b754-4f90-98d6-c022be1420b3"/>
    <ds:schemaRef ds:uri="http://purl.org/dc/terms/"/>
    <ds:schemaRef ds:uri="ce774d3a-0da9-40f3-b86d-c9c3902288d7"/>
    <ds:schemaRef ds:uri="http://purl.org/dc/elements/1.1/"/>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8E31CC35-763B-47D5-B259-96F4FE61F24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996f19-b754-4f90-98d6-c022be1420b3"/>
    <ds:schemaRef ds:uri="ce774d3a-0da9-40f3-b86d-c9c3902288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eff24bb-2089-4400-8c8e-f71e680378b2}" enabled="0" method="" siteId="{deff24bb-2089-4400-8c8e-f71e680378b2}" removed="1"/>
</clbl:labelList>
</file>

<file path=docProps/app.xml><?xml version="1.0" encoding="utf-8"?>
<Properties xmlns="http://schemas.openxmlformats.org/officeDocument/2006/extended-properties" xmlns:vt="http://schemas.openxmlformats.org/officeDocument/2006/docPropsVTypes">
  <Template>blank</Template>
  <TotalTime>24</TotalTime>
  <Words>18678</Words>
  <Application>Microsoft Macintosh PowerPoint</Application>
  <PresentationFormat>Widescreen</PresentationFormat>
  <Paragraphs>2014</Paragraphs>
  <Slides>80</Slides>
  <Notes>9</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80</vt:i4>
      </vt:variant>
    </vt:vector>
  </HeadingPairs>
  <TitlesOfParts>
    <vt:vector size="88" baseType="lpstr">
      <vt:lpstr>Arial</vt:lpstr>
      <vt:lpstr>Calibri</vt:lpstr>
      <vt:lpstr>KPMG Bold</vt:lpstr>
      <vt:lpstr>Roboto</vt:lpstr>
      <vt:lpstr>Wingdings</vt:lpstr>
      <vt:lpstr>KPMG Widescreen - UpSlide</vt:lpstr>
      <vt:lpstr>UpSlide Table Of Content Master (do not edit)</vt:lpstr>
      <vt:lpstr>think-cell Slide</vt:lpstr>
      <vt:lpstr>Project North  DRAFT</vt:lpstr>
      <vt:lpstr>PowerPoint Presentation</vt:lpstr>
      <vt:lpstr>Contents</vt:lpstr>
      <vt:lpstr>PowerPoint Presentation</vt:lpstr>
      <vt:lpstr>Business overview</vt:lpstr>
      <vt:lpstr>Summary financials</vt:lpstr>
      <vt:lpstr>Key findings (1/2) – Financial </vt:lpstr>
      <vt:lpstr>Key findings (2/2) – Adjusted EBITDA margin bridge</vt:lpstr>
      <vt:lpstr>PowerPoint Presentation</vt:lpstr>
      <vt:lpstr>Profit &amp; loss overview (1/2)</vt:lpstr>
      <vt:lpstr>Profit &amp; loss overview (2/2)</vt:lpstr>
      <vt:lpstr>Quality of earnings (1/16) – Overview</vt:lpstr>
      <vt:lpstr>Quality of earnings (2/16) – Due diligence adjustments</vt:lpstr>
      <vt:lpstr>Quality of earnings (3/16) – Due diligence adjustments</vt:lpstr>
      <vt:lpstr>Quality of earnings (4/16) – Due diligence adjustments</vt:lpstr>
      <vt:lpstr>Quality of earnings (5/16) – Due diligence adjustments</vt:lpstr>
      <vt:lpstr>Quality of earnings (6/16) – Due diligence adjustments</vt:lpstr>
      <vt:lpstr>Quality of earnings (7/16) – Due diligence adjustments</vt:lpstr>
      <vt:lpstr>Quality of earnings (8/16) – Pro forma adjustments</vt:lpstr>
      <vt:lpstr>Quality of earnings (9/16) – Pro forma adjustments</vt:lpstr>
      <vt:lpstr>Quality of earnings (10/16) – Pro forma adjustments</vt:lpstr>
      <vt:lpstr>Quality of earnings (11/16) – Pro forma adjustments</vt:lpstr>
      <vt:lpstr>Quality of earnings (12/16) – Pro forma adjustments</vt:lpstr>
      <vt:lpstr>Quality of earnings (13/16) – Pro forma adjustments</vt:lpstr>
      <vt:lpstr>Quality of earnings (14/16) – Pro forma adjustments</vt:lpstr>
      <vt:lpstr>Quality of earnings (15/16) – Other considerations</vt:lpstr>
      <vt:lpstr>Quality of earnings (16/16) – Other considerations (continued)</vt:lpstr>
      <vt:lpstr>PowerPoint Presentation</vt:lpstr>
      <vt:lpstr>Stratified balance sheet (1/2)</vt:lpstr>
      <vt:lpstr>Stratified balance sheet (2/2)</vt:lpstr>
      <vt:lpstr>Net working capital (1/7) – Overview</vt:lpstr>
      <vt:lpstr>Net working capital (2/7) – Due diligence adjustments </vt:lpstr>
      <vt:lpstr>Net working capital (3/7) – Due diligence adjustments </vt:lpstr>
      <vt:lpstr>Net working capital (4/7) – Due diligence adjustments </vt:lpstr>
      <vt:lpstr>Net working capital (5/7) – Pro forma adjustments </vt:lpstr>
      <vt:lpstr>Net working capital (6/7) – Pro forma adjustments </vt:lpstr>
      <vt:lpstr>Net working capital (7/7) – Pro forma adjustments </vt:lpstr>
      <vt:lpstr>Net cash</vt:lpstr>
      <vt:lpstr>PowerPoint Presentation</vt:lpstr>
      <vt:lpstr>Financial reporting environment (1/4)</vt:lpstr>
      <vt:lpstr>Financial reporting environment (2/4)</vt:lpstr>
      <vt:lpstr>Financial reporting environment (3/4)</vt:lpstr>
      <vt:lpstr>Financial reporting environment (4/4)</vt:lpstr>
      <vt:lpstr>PowerPoint Presentation</vt:lpstr>
      <vt:lpstr>Gross margin by line of business – Summary (1/8)</vt:lpstr>
      <vt:lpstr>Gross margin by line of business – Mobile payments (2/8)</vt:lpstr>
      <vt:lpstr>Gross margin by line of business – Payment network gateway (3/8)</vt:lpstr>
      <vt:lpstr>Gross margin by line of business – Card management  (4/8)</vt:lpstr>
      <vt:lpstr>Gross margin by line of business – Retail solutions(5/8)</vt:lpstr>
      <vt:lpstr>Gross margin by line of business – ATM managed services (6/8)</vt:lpstr>
      <vt:lpstr>Gross margin by line of business – Fraud management(7/8)</vt:lpstr>
      <vt:lpstr>Gross margin by line of business – Digital solutions (8/8)</vt:lpstr>
      <vt:lpstr>PowerPoint Presentation</vt:lpstr>
      <vt:lpstr>Internal financial statements reconciliation to audited financial statements (1/3)</vt:lpstr>
      <vt:lpstr>Internal financial statements reconciliation to audited financial statements (2/3)</vt:lpstr>
      <vt:lpstr>Internal financial statements reconciliation to audited financial statements (3/3)</vt:lpstr>
      <vt:lpstr>Billings report reconciliation to internal financial statements</vt:lpstr>
      <vt:lpstr>TTM Apr-24 to TTM Jun-24 QofE bridge</vt:lpstr>
      <vt:lpstr>Adjusted income statement (1/2)</vt:lpstr>
      <vt:lpstr>Adjusted income statement (2/2)</vt:lpstr>
      <vt:lpstr>QofE adjustment #1 – Mobile POS IFRS 15 (1/7)</vt:lpstr>
      <vt:lpstr>QofE adjustment #8,9,16 – Data center relocation (2/7)</vt:lpstr>
      <vt:lpstr>QofE adjustment #14a – New customers (3/7)</vt:lpstr>
      <vt:lpstr>QofE adjustment #14b – Terminated &amp; lost customers  (4/7)</vt:lpstr>
      <vt:lpstr>QofE adjustment #15 – Credit union MSA (5/7)</vt:lpstr>
      <vt:lpstr>QofE adjustment #20 – New products, cards (6/7)</vt:lpstr>
      <vt:lpstr>QofE adjustment #21 – New products, fraud management (7/7)</vt:lpstr>
      <vt:lpstr>Capital assets and intangibles profile</vt:lpstr>
      <vt:lpstr>Capital expenditure</vt:lpstr>
      <vt:lpstr>Capital expenditure – FY22 to FY23</vt:lpstr>
      <vt:lpstr>Personnel analysis</vt:lpstr>
      <vt:lpstr>Lease reconciliation</vt:lpstr>
      <vt:lpstr>Cash flow statement</vt:lpstr>
      <vt:lpstr>Important notice</vt:lpstr>
      <vt:lpstr>Scope of work (1/3)</vt:lpstr>
      <vt:lpstr>Scope of work (2/3)</vt:lpstr>
      <vt:lpstr>Scope of work (3/3)</vt:lpstr>
      <vt:lpstr>Glossary of terms and abbreviations (1/2)</vt:lpstr>
      <vt:lpstr>Glossary of terms and abbreviations (2/2)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slide  DRAFT</dc:title>
  <dc:creator>Balani, Sonia</dc:creator>
  <cp:lastModifiedBy>Sharma, Rishi</cp:lastModifiedBy>
  <cp:revision>1</cp:revision>
  <cp:lastPrinted>2024-06-24T14:58:16Z</cp:lastPrinted>
  <dcterms:created xsi:type="dcterms:W3CDTF">2024-04-24T23:02:49Z</dcterms:created>
  <dcterms:modified xsi:type="dcterms:W3CDTF">2026-01-12T18:10:17Z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0x010100B50ACECE49572E49B9E2B6EEF15646F3</vt:lpwstr>
  </property>
</Properties>
</file>