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vml" ContentType="application/vnd.openxmlformats-officedocument.vmlDrawing"/>
  <Default Extension="xml" ContentType="application/xml"/>
  <Override PartName="/ppt/presentation.xml" ContentType="application/vnd.openxmlformats-officedocument.presentationml.presentation.main+xml"/>
  <Override PartName="/ppt/slides/slide6.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45.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9.xml" ContentType="application/vnd.openxmlformats-officedocument.presentationml.slide+xml"/>
  <Override PartName="/ppt/slides/slide38.xml" ContentType="application/vnd.openxmlformats-officedocument.presentationml.slide+xml"/>
  <Override PartName="/ppt/slides/slide14.xml" ContentType="application/vnd.openxmlformats-officedocument.presentationml.slide+xml"/>
  <Override PartName="/ppt/slides/slide13.xml" ContentType="application/vnd.openxmlformats-officedocument.presentationml.slide+xml"/>
  <Override PartName="/ppt/slides/slide4.xml" ContentType="application/vnd.openxmlformats-officedocument.presentationml.slide+xml"/>
  <Override PartName="/ppt/slides/slide7.xml" ContentType="application/vnd.openxmlformats-officedocument.presentationml.slide+xml"/>
  <Override PartName="/ppt/slides/slide41.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2.xml" ContentType="application/vnd.openxmlformats-officedocument.presentationml.slide+xml"/>
  <Override PartName="/ppt/slides/slide40.xml" ContentType="application/vnd.openxmlformats-officedocument.presentationml.slide+xml"/>
  <Override PartName="/ppt/slides/slide23.xml" ContentType="application/vnd.openxmlformats-officedocument.presentationml.slide+xml"/>
  <Override PartName="/ppt/slides/slide33.xml" ContentType="application/vnd.openxmlformats-officedocument.presentationml.slide+xml"/>
  <Override PartName="/ppt/slides/slide37.xml" ContentType="application/vnd.openxmlformats-officedocument.presentationml.slide+xml"/>
  <Override PartName="/ppt/slides/slide2.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7.xml" ContentType="application/vnd.openxmlformats-officedocument.presentationml.slide+xml"/>
  <Override PartName="/ppt/slides/slide46.xml" ContentType="application/vnd.openxmlformats-officedocument.presentationml.slide+xml"/>
  <Override PartName="/ppt/slides/slide42.xml" ContentType="application/vnd.openxmlformats-officedocument.presentationml.slide+xml"/>
  <Override PartName="/ppt/slides/slide32.xml" ContentType="application/vnd.openxmlformats-officedocument.presentationml.slide+xml"/>
  <Override PartName="/ppt/slides/slide43.xml" ContentType="application/vnd.openxmlformats-officedocument.presentationml.slide+xml"/>
  <Override PartName="/ppt/slides/slide31.xml" ContentType="application/vnd.openxmlformats-officedocument.presentationml.slide+xml"/>
  <Override PartName="/ppt/slides/slide44.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29.xml" ContentType="application/vnd.openxmlformats-officedocument.presentationml.slide+xml"/>
  <Override PartName="/ppt/slides/slide28.xml" ContentType="application/vnd.openxmlformats-officedocument.presentationml.slide+xml"/>
  <Override PartName="/ppt/slides/slide5.xml" ContentType="application/vnd.openxmlformats-officedocument.presentationml.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6.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7.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39.xml" ContentType="application/vnd.openxmlformats-officedocument.presentationml.notesSlide+xml"/>
  <Override PartName="/ppt/notesSlides/notesSlide38.xml" ContentType="application/vnd.openxmlformats-officedocument.presentationml.notesSlide+xml"/>
  <Override PartName="/ppt/notesSlides/notesSlide36.xml" ContentType="application/vnd.openxmlformats-officedocument.presentationml.notesSlide+xml"/>
  <Override PartName="/ppt/notesSlides/notesSlide30.xml" ContentType="application/vnd.openxmlformats-officedocument.presentationml.notesSlide+xml"/>
  <Override PartName="/ppt/slideMasters/slideMaster2.xml" ContentType="application/vnd.openxmlformats-officedocument.presentationml.slideMaster+xml"/>
  <Override PartName="/ppt/notesSlides/notesSlide31.xml" ContentType="application/vnd.openxmlformats-officedocument.presentationml.notesSlide+xml"/>
  <Override PartName="/ppt/slideMasters/slideMaster3.xml" ContentType="application/vnd.openxmlformats-officedocument.presentationml.slideMaster+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29.xml" ContentType="application/vnd.openxmlformats-officedocument.presentationml.notesSlide+xml"/>
  <Override PartName="/ppt/notesSlides/notesSlide19.xml" ContentType="application/vnd.openxmlformats-officedocument.presentationml.notesSlide+xml"/>
  <Override PartName="/ppt/slideLayouts/slideLayout13.xml" ContentType="application/vnd.openxmlformats-officedocument.presentationml.slideLayout+xml"/>
  <Override PartName="/ppt/slideLayouts/slideLayout12.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10.xml" ContentType="application/vnd.openxmlformats-officedocument.presentationml.slideLayout+xml"/>
  <Override PartName="/ppt/slideLayouts/slideLayout9.xml" ContentType="application/vnd.openxmlformats-officedocument.presentationml.slideLayout+xml"/>
  <Override PartName="/ppt/slideLayouts/slideLayout8.xml" ContentType="application/vnd.openxmlformats-officedocument.presentationml.slideLayout+xml"/>
  <Override PartName="/ppt/slideLayouts/slideLayout7.xml" ContentType="application/vnd.openxmlformats-officedocument.presentationml.slideLayout+xml"/>
  <Override PartName="/ppt/slideLayouts/slideLayout6.xml" ContentType="application/vnd.openxmlformats-officedocument.presentationml.slideLayout+xml"/>
  <Override PartName="/ppt/notesSlides/notesSlide20.xml" ContentType="application/vnd.openxmlformats-officedocument.presentationml.notesSlide+xml"/>
  <Override PartName="/ppt/notesSlides/notesSlide13.xml" ContentType="application/vnd.openxmlformats-officedocument.presentationml.notesSlide+xml"/>
  <Override PartName="/ppt/notesSlides/notesSlide12.xml" ContentType="application/vnd.openxmlformats-officedocument.presentationml.notesSlide+xml"/>
  <Override PartName="/ppt/notesSlides/notesSlide11.xml" ContentType="application/vnd.openxmlformats-officedocument.presentationml.notesSlide+xml"/>
  <Override PartName="/ppt/notesSlides/notesSlide10.xml" ContentType="application/vnd.openxmlformats-officedocument.presentationml.notesSlide+xml"/>
  <Override PartName="/ppt/notesSlides/notesSlide14.xml" ContentType="application/vnd.openxmlformats-officedocument.presentationml.notesSlide+xml"/>
  <Override PartName="/ppt/notesSlides/notesSlide18.xml" ContentType="application/vnd.openxmlformats-officedocument.presentationml.notesSlide+xml"/>
  <Override PartName="/ppt/notesSlides/notesSlide17.xml" ContentType="application/vnd.openxmlformats-officedocument.presentationml.notesSlide+xml"/>
  <Override PartName="/ppt/notesSlides/notesSlide16.xml" ContentType="application/vnd.openxmlformats-officedocument.presentationml.notesSlide+xml"/>
  <Override PartName="/ppt/notesSlides/notesSlide15.xml" ContentType="application/vnd.openxmlformats-officedocument.presentationml.notesSlide+xml"/>
  <Override PartName="/ppt/notesSlides/notesSlide9.xml" ContentType="application/vnd.openxmlformats-officedocument.presentationml.notesSlide+xml"/>
  <Override PartName="/ppt/notesSlides/notesSlide3.xml" ContentType="application/vnd.openxmlformats-officedocument.presentationml.notesSlide+xml"/>
  <Override PartName="/ppt/notesSlides/notesSlide2.xml" ContentType="application/vnd.openxmlformats-officedocument.presentationml.notesSlide+xml"/>
  <Override PartName="/ppt/notesSlides/notesSlide1.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8.xml" ContentType="application/vnd.openxmlformats-officedocument.presentationml.notesSlide+xml"/>
  <Override PartName="/ppt/notesSlides/notesSlide7.xml" ContentType="application/vnd.openxmlformats-officedocument.presentationml.notesSlide+xml"/>
  <Override PartName="/ppt/notesSlides/notesSlide6.xml" ContentType="application/vnd.openxmlformats-officedocument.presentationml.notes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heme/theme3.xml" ContentType="application/vnd.openxmlformats-officedocument.theme+xml"/>
  <Override PartName="/ppt/theme/theme2.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1.xml" ContentType="application/vnd.openxmlformats-officedocument.theme+xml"/>
  <Override PartName="/ppt/viewProps.xml" ContentType="application/vnd.openxmlformats-officedocument.presentationml.viewProps+xml"/>
  <Override PartName="/ppt/tableStyles.xml" ContentType="application/vnd.openxmlformats-officedocument.presentationml.tableStyles+xml"/>
  <Override PartName="/ppt/presProps.xml" ContentType="application/vnd.openxmlformats-officedocument.presentationml.presProps+xml"/>
  <Override PartName="/docProps/core.xml" ContentType="application/vnd.openxmlformats-package.core-properties+xml"/>
  <Override PartName="/ppt/tags/tag2.xml" ContentType="application/vnd.openxmlformats-officedocument.presentationml.tags+xml"/>
  <Override PartName="/ppt/tags/tag4.xml" ContentType="application/vnd.openxmlformats-officedocument.presentationml.tags+xml"/>
  <Override PartName="/ppt/tags/tag3.xml" ContentType="application/vnd.openxmlformats-officedocument.presentationml.tags+xml"/>
  <Override PartName="/ppt/tags/tag1.xml" ContentType="application/vnd.openxmlformats-officedocument.presentationml.tags+xml"/>
  <Override PartName="/docProps/app.xml" ContentType="application/vnd.openxmlformats-officedocument.extended-properties+xml"/>
  <Override PartName="/ppt/tags/tag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16.xml" ContentType="application/vnd.openxmlformats-officedocument.presentationml.tags+xml"/>
  <Override PartName="/ppt/tags/tag15.xml" ContentType="application/vnd.openxmlformats-officedocument.presentationml.tags+xml"/>
  <Override PartName="/ppt/tags/tag14.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5.xml" ContentType="application/vnd.openxmlformats-officedocument.presentationml.tag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3835" r:id="rId1"/>
    <p:sldMasterId id="2147484808" r:id="rId2"/>
    <p:sldMasterId id="2147484823" r:id="rId3"/>
  </p:sldMasterIdLst>
  <p:notesMasterIdLst>
    <p:notesMasterId r:id="rId51"/>
  </p:notesMasterIdLst>
  <p:handoutMasterIdLst>
    <p:handoutMasterId r:id="rId52"/>
  </p:handoutMasterIdLst>
  <p:sldIdLst>
    <p:sldId id="451" r:id="rId4"/>
    <p:sldId id="423" r:id="rId5"/>
    <p:sldId id="599" r:id="rId6"/>
    <p:sldId id="424" r:id="rId7"/>
    <p:sldId id="425" r:id="rId8"/>
    <p:sldId id="260" r:id="rId9"/>
    <p:sldId id="520" r:id="rId10"/>
    <p:sldId id="529" r:id="rId11"/>
    <p:sldId id="581" r:id="rId12"/>
    <p:sldId id="582" r:id="rId13"/>
    <p:sldId id="598" r:id="rId14"/>
    <p:sldId id="600" r:id="rId15"/>
    <p:sldId id="601" r:id="rId16"/>
    <p:sldId id="266" r:id="rId17"/>
    <p:sldId id="615" r:id="rId18"/>
    <p:sldId id="616" r:id="rId19"/>
    <p:sldId id="617" r:id="rId20"/>
    <p:sldId id="618" r:id="rId21"/>
    <p:sldId id="619" r:id="rId22"/>
    <p:sldId id="620" r:id="rId23"/>
    <p:sldId id="621" r:id="rId24"/>
    <p:sldId id="622" r:id="rId25"/>
    <p:sldId id="623" r:id="rId26"/>
    <p:sldId id="625" r:id="rId27"/>
    <p:sldId id="627" r:id="rId28"/>
    <p:sldId id="628" r:id="rId29"/>
    <p:sldId id="583" r:id="rId30"/>
    <p:sldId id="594" r:id="rId31"/>
    <p:sldId id="586" r:id="rId32"/>
    <p:sldId id="588" r:id="rId33"/>
    <p:sldId id="595" r:id="rId34"/>
    <p:sldId id="602" r:id="rId35"/>
    <p:sldId id="603" r:id="rId36"/>
    <p:sldId id="604" r:id="rId37"/>
    <p:sldId id="605" r:id="rId38"/>
    <p:sldId id="606" r:id="rId39"/>
    <p:sldId id="607" r:id="rId40"/>
    <p:sldId id="608" r:id="rId41"/>
    <p:sldId id="610" r:id="rId42"/>
    <p:sldId id="611" r:id="rId43"/>
    <p:sldId id="612" r:id="rId44"/>
    <p:sldId id="613" r:id="rId45"/>
    <p:sldId id="614" r:id="rId46"/>
    <p:sldId id="629" r:id="rId47"/>
    <p:sldId id="630" r:id="rId48"/>
    <p:sldId id="465" r:id="rId49"/>
    <p:sldId id="531" r:id="rId50"/>
  </p:sldIdLst>
  <p:sldSz cx="9144000" cy="6858000" type="letter"/>
  <p:notesSz cx="9296400" cy="6881813"/>
  <p:custDataLst>
    <p:tags r:id="rId53"/>
  </p:custDataLst>
  <p:defaultTextStyle>
    <a:defPPr>
      <a:defRPr lang="en-US"/>
    </a:defPPr>
    <a:lvl1pPr marL="0" algn="l" defTabSz="410291" rtl="0" eaLnBrk="1" latinLnBrk="0" hangingPunct="1">
      <a:defRPr sz="1600" kern="1200">
        <a:solidFill>
          <a:schemeClr val="tx1"/>
        </a:solidFill>
        <a:latin typeface="+mn-lt"/>
        <a:ea typeface="+mn-ea"/>
        <a:cs typeface="+mn-cs"/>
      </a:defRPr>
    </a:lvl1pPr>
    <a:lvl2pPr marL="410291" algn="l" defTabSz="410291" rtl="0" eaLnBrk="1" latinLnBrk="0" hangingPunct="1">
      <a:defRPr sz="1600" kern="1200">
        <a:solidFill>
          <a:schemeClr val="tx1"/>
        </a:solidFill>
        <a:latin typeface="+mn-lt"/>
        <a:ea typeface="+mn-ea"/>
        <a:cs typeface="+mn-cs"/>
      </a:defRPr>
    </a:lvl2pPr>
    <a:lvl3pPr marL="820583" algn="l" defTabSz="410291" rtl="0" eaLnBrk="1" latinLnBrk="0" hangingPunct="1">
      <a:defRPr sz="1600" kern="1200">
        <a:solidFill>
          <a:schemeClr val="tx1"/>
        </a:solidFill>
        <a:latin typeface="+mn-lt"/>
        <a:ea typeface="+mn-ea"/>
        <a:cs typeface="+mn-cs"/>
      </a:defRPr>
    </a:lvl3pPr>
    <a:lvl4pPr marL="1230874" algn="l" defTabSz="410291" rtl="0" eaLnBrk="1" latinLnBrk="0" hangingPunct="1">
      <a:defRPr sz="1600" kern="1200">
        <a:solidFill>
          <a:schemeClr val="tx1"/>
        </a:solidFill>
        <a:latin typeface="+mn-lt"/>
        <a:ea typeface="+mn-ea"/>
        <a:cs typeface="+mn-cs"/>
      </a:defRPr>
    </a:lvl4pPr>
    <a:lvl5pPr marL="1641165" algn="l" defTabSz="410291" rtl="0" eaLnBrk="1" latinLnBrk="0" hangingPunct="1">
      <a:defRPr sz="1600" kern="1200">
        <a:solidFill>
          <a:schemeClr val="tx1"/>
        </a:solidFill>
        <a:latin typeface="+mn-lt"/>
        <a:ea typeface="+mn-ea"/>
        <a:cs typeface="+mn-cs"/>
      </a:defRPr>
    </a:lvl5pPr>
    <a:lvl6pPr marL="2051456" algn="l" defTabSz="410291" rtl="0" eaLnBrk="1" latinLnBrk="0" hangingPunct="1">
      <a:defRPr sz="1600" kern="1200">
        <a:solidFill>
          <a:schemeClr val="tx1"/>
        </a:solidFill>
        <a:latin typeface="+mn-lt"/>
        <a:ea typeface="+mn-ea"/>
        <a:cs typeface="+mn-cs"/>
      </a:defRPr>
    </a:lvl6pPr>
    <a:lvl7pPr marL="2461748" algn="l" defTabSz="410291" rtl="0" eaLnBrk="1" latinLnBrk="0" hangingPunct="1">
      <a:defRPr sz="1600" kern="1200">
        <a:solidFill>
          <a:schemeClr val="tx1"/>
        </a:solidFill>
        <a:latin typeface="+mn-lt"/>
        <a:ea typeface="+mn-ea"/>
        <a:cs typeface="+mn-cs"/>
      </a:defRPr>
    </a:lvl7pPr>
    <a:lvl8pPr marL="2872039" algn="l" defTabSz="410291" rtl="0" eaLnBrk="1" latinLnBrk="0" hangingPunct="1">
      <a:defRPr sz="1600" kern="1200">
        <a:solidFill>
          <a:schemeClr val="tx1"/>
        </a:solidFill>
        <a:latin typeface="+mn-lt"/>
        <a:ea typeface="+mn-ea"/>
        <a:cs typeface="+mn-cs"/>
      </a:defRPr>
    </a:lvl8pPr>
    <a:lvl9pPr marL="3282330" algn="l" defTabSz="410291" rtl="0" eaLnBrk="1" latinLnBrk="0" hangingPunct="1">
      <a:defRPr sz="16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A3A1"/>
    <a:srgbClr val="00338D"/>
    <a:srgbClr val="4E2379"/>
    <a:srgbClr val="BC204B"/>
    <a:srgbClr val="0091DA"/>
    <a:srgbClr val="6D2077"/>
    <a:srgbClr val="470A68"/>
    <a:srgbClr val="005EB8"/>
    <a:srgbClr val="003087"/>
    <a:srgbClr val="C6007E"/>
  </p:clrMru>
  <p:extLst>
    <p:ext uri="{E76CE94A-603C-4142-B9EB-6D1370010A27}">
      <p14:discardImageEditData xmlns:p14="http://schemas.microsoft.com/office/powerpoint/2010/main" val="1"/>
    </p:ext>
    <p:ext uri="{D31A062A-798A-4329-ABDD-BBA856620510}">
      <p14:defaultImageDpi xmlns:p14="http://schemas.microsoft.com/office/powerpoint/2010/main" val="15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472" autoAdjust="0"/>
    <p:restoredTop sz="95164" autoAdjust="0"/>
  </p:normalViewPr>
  <p:slideViewPr>
    <p:cSldViewPr snapToGrid="0">
      <p:cViewPr varScale="1">
        <p:scale>
          <a:sx n="116" d="100"/>
          <a:sy n="116" d="100"/>
        </p:scale>
        <p:origin x="1530" y="108"/>
      </p:cViewPr>
      <p:guideLst/>
    </p:cSldViewPr>
  </p:slideViewPr>
  <p:outlineViewPr>
    <p:cViewPr>
      <p:scale>
        <a:sx n="33" d="100"/>
        <a:sy n="33" d="100"/>
      </p:scale>
      <p:origin x="0" y="0"/>
    </p:cViewPr>
  </p:outlineViewPr>
  <p:notesTextViewPr>
    <p:cViewPr>
      <p:scale>
        <a:sx n="150" d="100"/>
        <a:sy n="150" d="100"/>
      </p:scale>
      <p:origin x="0" y="0"/>
    </p:cViewPr>
  </p:notesTextViewPr>
  <p:sorterViewPr>
    <p:cViewPr varScale="1">
      <p:scale>
        <a:sx n="1" d="1"/>
        <a:sy n="1" d="1"/>
      </p:scale>
      <p:origin x="0" y="0"/>
    </p:cViewPr>
  </p:sorterViewPr>
  <p:notesViewPr>
    <p:cSldViewPr snapToGrid="0">
      <p:cViewPr varScale="1">
        <p:scale>
          <a:sx n="118" d="100"/>
          <a:sy n="118" d="100"/>
        </p:scale>
        <p:origin x="2270" y="91"/>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slide" Target="slides/slide44.xml"/><Relationship Id="rId50" Type="http://schemas.openxmlformats.org/officeDocument/2006/relationships/slide" Target="slides/slide47.xml"/><Relationship Id="rId55" Type="http://schemas.openxmlformats.org/officeDocument/2006/relationships/viewProps" Target="viewProps.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tags" Target="tags/tag1.xml"/><Relationship Id="rId58" Type="http://schemas.openxmlformats.org/officeDocument/2006/relationships/customXml" Target="../customXml/item1.xml"/><Relationship Id="rId5" Type="http://schemas.openxmlformats.org/officeDocument/2006/relationships/slide" Target="slides/slide2.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theme" Target="theme/theme1.xml"/><Relationship Id="rId8" Type="http://schemas.openxmlformats.org/officeDocument/2006/relationships/slide" Target="slides/slide5.xml"/><Relationship Id="rId51" Type="http://schemas.openxmlformats.org/officeDocument/2006/relationships/notesMaster" Target="notesMasters/notesMaster1.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customXml" Target="../customXml/item2.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tableStyles" Target="tableStyles.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handoutMaster" Target="handoutMasters/handoutMaster1.xml"/><Relationship Id="rId60" Type="http://schemas.openxmlformats.org/officeDocument/2006/relationships/customXml" Target="../customXml/item3.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4.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0" y="4"/>
            <a:ext cx="4029027" cy="344373"/>
          </a:xfrm>
          <a:prstGeom prst="rect">
            <a:avLst/>
          </a:prstGeom>
        </p:spPr>
        <p:txBody>
          <a:bodyPr vert="horz" lIns="80257" tIns="40128" rIns="80257" bIns="40128" rtlCol="0"/>
          <a:lstStyle>
            <a:lvl1pPr algn="l">
              <a:defRPr sz="1100"/>
            </a:lvl1pPr>
          </a:lstStyle>
          <a:p>
            <a:endParaRPr lang="en-US" dirty="0">
              <a:latin typeface="Arial" panose="020B0604020202020204" pitchFamily="34" charset="0"/>
            </a:endParaRPr>
          </a:p>
        </p:txBody>
      </p:sp>
      <p:sp>
        <p:nvSpPr>
          <p:cNvPr id="3" name="Date Placeholder 2"/>
          <p:cNvSpPr>
            <a:spLocks noGrp="1"/>
          </p:cNvSpPr>
          <p:nvPr>
            <p:ph type="dt" sz="quarter" idx="1"/>
          </p:nvPr>
        </p:nvSpPr>
        <p:spPr>
          <a:xfrm>
            <a:off x="5265917" y="4"/>
            <a:ext cx="4029027" cy="344373"/>
          </a:xfrm>
          <a:prstGeom prst="rect">
            <a:avLst/>
          </a:prstGeom>
        </p:spPr>
        <p:txBody>
          <a:bodyPr vert="horz" lIns="80257" tIns="40128" rIns="80257" bIns="40128" rtlCol="0"/>
          <a:lstStyle>
            <a:lvl1pPr algn="r">
              <a:defRPr sz="1100"/>
            </a:lvl1pPr>
          </a:lstStyle>
          <a:p>
            <a:fld id="{05DEF64C-6444-C54F-9BF0-613CB0CFD382}" type="datetimeFigureOut">
              <a:rPr lang="en-US" smtClean="0">
                <a:latin typeface="Arial" panose="020B0604020202020204" pitchFamily="34" charset="0"/>
              </a:rPr>
              <a:t>4/10/2018</a:t>
            </a:fld>
            <a:endParaRPr lang="en-US" dirty="0">
              <a:latin typeface="Arial" panose="020B0604020202020204" pitchFamily="34" charset="0"/>
            </a:endParaRPr>
          </a:p>
        </p:txBody>
      </p:sp>
      <p:sp>
        <p:nvSpPr>
          <p:cNvPr id="4" name="Footer Placeholder 3"/>
          <p:cNvSpPr>
            <a:spLocks noGrp="1"/>
          </p:cNvSpPr>
          <p:nvPr>
            <p:ph type="ftr" sz="quarter" idx="2"/>
          </p:nvPr>
        </p:nvSpPr>
        <p:spPr>
          <a:xfrm>
            <a:off x="10" y="6536040"/>
            <a:ext cx="4029027" cy="344373"/>
          </a:xfrm>
          <a:prstGeom prst="rect">
            <a:avLst/>
          </a:prstGeom>
        </p:spPr>
        <p:txBody>
          <a:bodyPr vert="horz" lIns="80257" tIns="40128" rIns="80257" bIns="40128" rtlCol="0" anchor="b"/>
          <a:lstStyle>
            <a:lvl1pPr algn="l">
              <a:defRPr sz="1100"/>
            </a:lvl1pPr>
          </a:lstStyle>
          <a:p>
            <a:endParaRPr lang="en-US" dirty="0">
              <a:latin typeface="Arial" panose="020B0604020202020204" pitchFamily="34" charset="0"/>
            </a:endParaRPr>
          </a:p>
        </p:txBody>
      </p:sp>
      <p:sp>
        <p:nvSpPr>
          <p:cNvPr id="5" name="Slide Number Placeholder 4"/>
          <p:cNvSpPr>
            <a:spLocks noGrp="1"/>
          </p:cNvSpPr>
          <p:nvPr>
            <p:ph type="sldNum" sz="quarter" idx="3"/>
          </p:nvPr>
        </p:nvSpPr>
        <p:spPr>
          <a:xfrm>
            <a:off x="5265917" y="6536040"/>
            <a:ext cx="4029027" cy="344373"/>
          </a:xfrm>
          <a:prstGeom prst="rect">
            <a:avLst/>
          </a:prstGeom>
        </p:spPr>
        <p:txBody>
          <a:bodyPr vert="horz" lIns="80257" tIns="40128" rIns="80257" bIns="40128" rtlCol="0" anchor="b"/>
          <a:lstStyle>
            <a:lvl1pPr algn="r">
              <a:defRPr sz="1100"/>
            </a:lvl1pPr>
          </a:lstStyle>
          <a:p>
            <a:fld id="{29418882-9918-3B42-897A-C192067F29E7}" type="slidenum">
              <a:rPr lang="en-US" smtClean="0">
                <a:latin typeface="Arial" panose="020B0604020202020204" pitchFamily="34" charset="0"/>
              </a:rPr>
              <a:t>‹#›</a:t>
            </a:fld>
            <a:endParaRPr lang="en-US" dirty="0">
              <a:latin typeface="Arial" panose="020B0604020202020204" pitchFamily="34" charset="0"/>
            </a:endParaRPr>
          </a:p>
        </p:txBody>
      </p:sp>
    </p:spTree>
    <p:extLst>
      <p:ext uri="{BB962C8B-B14F-4D97-AF65-F5344CB8AC3E}">
        <p14:creationId xmlns:p14="http://schemas.microsoft.com/office/powerpoint/2010/main" val="2420119193"/>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0" y="4"/>
            <a:ext cx="4029027" cy="344373"/>
          </a:xfrm>
          <a:prstGeom prst="rect">
            <a:avLst/>
          </a:prstGeom>
        </p:spPr>
        <p:txBody>
          <a:bodyPr vert="horz" lIns="80257" tIns="40128" rIns="80257" bIns="40128" rtlCol="0"/>
          <a:lstStyle>
            <a:lvl1pPr algn="l">
              <a:defRPr sz="1100">
                <a:latin typeface="Arial" panose="020B0604020202020204" pitchFamily="34" charset="0"/>
              </a:defRPr>
            </a:lvl1pPr>
          </a:lstStyle>
          <a:p>
            <a:endParaRPr lang="en-CA" dirty="0"/>
          </a:p>
        </p:txBody>
      </p:sp>
      <p:sp>
        <p:nvSpPr>
          <p:cNvPr id="3" name="Date Placeholder 2"/>
          <p:cNvSpPr>
            <a:spLocks noGrp="1"/>
          </p:cNvSpPr>
          <p:nvPr>
            <p:ph type="dt" idx="1"/>
          </p:nvPr>
        </p:nvSpPr>
        <p:spPr>
          <a:xfrm>
            <a:off x="5265917" y="4"/>
            <a:ext cx="4029027" cy="344373"/>
          </a:xfrm>
          <a:prstGeom prst="rect">
            <a:avLst/>
          </a:prstGeom>
        </p:spPr>
        <p:txBody>
          <a:bodyPr vert="horz" lIns="80257" tIns="40128" rIns="80257" bIns="40128" rtlCol="0"/>
          <a:lstStyle>
            <a:lvl1pPr algn="r">
              <a:defRPr sz="1100">
                <a:latin typeface="Arial" panose="020B0604020202020204" pitchFamily="34" charset="0"/>
              </a:defRPr>
            </a:lvl1pPr>
          </a:lstStyle>
          <a:p>
            <a:fld id="{A9B7456A-CD06-0D40-B083-11158BE207ED}" type="datetimeFigureOut">
              <a:rPr lang="en-CA" smtClean="0"/>
              <a:pPr/>
              <a:t>2018-04-10</a:t>
            </a:fld>
            <a:endParaRPr lang="en-CA" dirty="0"/>
          </a:p>
        </p:txBody>
      </p:sp>
      <p:sp>
        <p:nvSpPr>
          <p:cNvPr id="4" name="Slide Image Placeholder 3"/>
          <p:cNvSpPr>
            <a:spLocks noGrp="1" noRot="1" noChangeAspect="1"/>
          </p:cNvSpPr>
          <p:nvPr>
            <p:ph type="sldImg" idx="2"/>
          </p:nvPr>
        </p:nvSpPr>
        <p:spPr>
          <a:xfrm>
            <a:off x="3100388" y="860425"/>
            <a:ext cx="3095625" cy="2322513"/>
          </a:xfrm>
          <a:prstGeom prst="rect">
            <a:avLst/>
          </a:prstGeom>
          <a:noFill/>
          <a:ln w="12700">
            <a:solidFill>
              <a:prstClr val="black"/>
            </a:solidFill>
          </a:ln>
        </p:spPr>
        <p:txBody>
          <a:bodyPr vert="horz" lIns="80257" tIns="40128" rIns="80257" bIns="40128" rtlCol="0" anchor="ctr"/>
          <a:lstStyle/>
          <a:p>
            <a:endParaRPr lang="en-US" dirty="0"/>
          </a:p>
        </p:txBody>
      </p:sp>
      <p:sp>
        <p:nvSpPr>
          <p:cNvPr id="5" name="Notes Placeholder 4"/>
          <p:cNvSpPr>
            <a:spLocks noGrp="1"/>
          </p:cNvSpPr>
          <p:nvPr>
            <p:ph type="body" sz="quarter" idx="3"/>
          </p:nvPr>
        </p:nvSpPr>
        <p:spPr>
          <a:xfrm>
            <a:off x="930229" y="3311598"/>
            <a:ext cx="7435946" cy="2709995"/>
          </a:xfrm>
          <a:prstGeom prst="rect">
            <a:avLst/>
          </a:prstGeom>
        </p:spPr>
        <p:txBody>
          <a:bodyPr vert="horz" lIns="80257" tIns="40128" rIns="80257" bIns="40128" rtlCol="0"/>
          <a:lstStyle/>
          <a:p>
            <a:pPr lvl="0"/>
            <a:r>
              <a:rPr lang="en-CA" dirty="0" smtClean="0"/>
              <a:t>Click to edit Master text styles</a:t>
            </a:r>
          </a:p>
          <a:p>
            <a:pPr lvl="1"/>
            <a:r>
              <a:rPr lang="en-CA" dirty="0" smtClean="0"/>
              <a:t>Second level</a:t>
            </a:r>
          </a:p>
          <a:p>
            <a:pPr lvl="2"/>
            <a:r>
              <a:rPr lang="en-CA" dirty="0" smtClean="0"/>
              <a:t>Third level</a:t>
            </a:r>
          </a:p>
          <a:p>
            <a:pPr lvl="3"/>
            <a:r>
              <a:rPr lang="en-CA" dirty="0" smtClean="0"/>
              <a:t>Fourth level</a:t>
            </a:r>
          </a:p>
          <a:p>
            <a:pPr lvl="4"/>
            <a:r>
              <a:rPr lang="en-CA" dirty="0" smtClean="0"/>
              <a:t>Fifth level</a:t>
            </a:r>
            <a:endParaRPr lang="en-CA" dirty="0"/>
          </a:p>
        </p:txBody>
      </p:sp>
      <p:sp>
        <p:nvSpPr>
          <p:cNvPr id="6" name="Footer Placeholder 5"/>
          <p:cNvSpPr>
            <a:spLocks noGrp="1"/>
          </p:cNvSpPr>
          <p:nvPr>
            <p:ph type="ftr" sz="quarter" idx="4"/>
          </p:nvPr>
        </p:nvSpPr>
        <p:spPr>
          <a:xfrm>
            <a:off x="10" y="6537446"/>
            <a:ext cx="4029027" cy="344371"/>
          </a:xfrm>
          <a:prstGeom prst="rect">
            <a:avLst/>
          </a:prstGeom>
        </p:spPr>
        <p:txBody>
          <a:bodyPr vert="horz" lIns="80257" tIns="40128" rIns="80257" bIns="40128" rtlCol="0" anchor="b"/>
          <a:lstStyle>
            <a:lvl1pPr algn="l">
              <a:defRPr sz="1100">
                <a:latin typeface="Arial" panose="020B0604020202020204" pitchFamily="34" charset="0"/>
              </a:defRPr>
            </a:lvl1pPr>
          </a:lstStyle>
          <a:p>
            <a:endParaRPr lang="en-CA" dirty="0"/>
          </a:p>
        </p:txBody>
      </p:sp>
      <p:sp>
        <p:nvSpPr>
          <p:cNvPr id="7" name="Slide Number Placeholder 6"/>
          <p:cNvSpPr>
            <a:spLocks noGrp="1"/>
          </p:cNvSpPr>
          <p:nvPr>
            <p:ph type="sldNum" sz="quarter" idx="5"/>
          </p:nvPr>
        </p:nvSpPr>
        <p:spPr>
          <a:xfrm>
            <a:off x="5265917" y="6537446"/>
            <a:ext cx="4029027" cy="344371"/>
          </a:xfrm>
          <a:prstGeom prst="rect">
            <a:avLst/>
          </a:prstGeom>
        </p:spPr>
        <p:txBody>
          <a:bodyPr vert="horz" lIns="80257" tIns="40128" rIns="80257" bIns="40128" rtlCol="0" anchor="b"/>
          <a:lstStyle>
            <a:lvl1pPr algn="r">
              <a:defRPr sz="1100">
                <a:latin typeface="Arial" panose="020B0604020202020204" pitchFamily="34" charset="0"/>
              </a:defRPr>
            </a:lvl1pPr>
          </a:lstStyle>
          <a:p>
            <a:fld id="{E2FEE106-D861-6343-96FF-5BF90692C3C7}" type="slidenum">
              <a:rPr lang="en-CA" smtClean="0"/>
              <a:pPr/>
              <a:t>‹#›</a:t>
            </a:fld>
            <a:endParaRPr lang="en-CA" dirty="0"/>
          </a:p>
        </p:txBody>
      </p:sp>
    </p:spTree>
    <p:extLst>
      <p:ext uri="{BB962C8B-B14F-4D97-AF65-F5344CB8AC3E}">
        <p14:creationId xmlns:p14="http://schemas.microsoft.com/office/powerpoint/2010/main" val="1591445627"/>
      </p:ext>
    </p:extLst>
  </p:cSld>
  <p:clrMap bg1="lt1" tx1="dk1" bg2="lt2" tx2="dk2" accent1="accent1" accent2="accent2" accent3="accent3" accent4="accent4" accent5="accent5" accent6="accent6" hlink="hlink" folHlink="folHlink"/>
  <p:hf hdr="0" ftr="0" dt="0"/>
  <p:notesStyle>
    <a:lvl1pPr marL="0" algn="l" defTabSz="820583" rtl="0" eaLnBrk="1" latinLnBrk="0" hangingPunct="1">
      <a:defRPr sz="1100" kern="1200">
        <a:solidFill>
          <a:schemeClr val="tx1"/>
        </a:solidFill>
        <a:latin typeface="Arial" panose="020B0604020202020204" pitchFamily="34" charset="0"/>
        <a:ea typeface="+mn-ea"/>
        <a:cs typeface="+mn-cs"/>
      </a:defRPr>
    </a:lvl1pPr>
    <a:lvl2pPr marL="410291" algn="l" defTabSz="820583" rtl="0" eaLnBrk="1" latinLnBrk="0" hangingPunct="1">
      <a:defRPr sz="1100" kern="1200">
        <a:solidFill>
          <a:schemeClr val="tx1"/>
        </a:solidFill>
        <a:latin typeface="Arial" panose="020B0604020202020204" pitchFamily="34" charset="0"/>
        <a:ea typeface="+mn-ea"/>
        <a:cs typeface="+mn-cs"/>
      </a:defRPr>
    </a:lvl2pPr>
    <a:lvl3pPr marL="820583" algn="l" defTabSz="820583" rtl="0" eaLnBrk="1" latinLnBrk="0" hangingPunct="1">
      <a:defRPr sz="1100" kern="1200">
        <a:solidFill>
          <a:schemeClr val="tx1"/>
        </a:solidFill>
        <a:latin typeface="Arial" panose="020B0604020202020204" pitchFamily="34" charset="0"/>
        <a:ea typeface="+mn-ea"/>
        <a:cs typeface="+mn-cs"/>
      </a:defRPr>
    </a:lvl3pPr>
    <a:lvl4pPr marL="1230874" algn="l" defTabSz="820583" rtl="0" eaLnBrk="1" latinLnBrk="0" hangingPunct="1">
      <a:defRPr sz="1100" kern="1200">
        <a:solidFill>
          <a:schemeClr val="tx1"/>
        </a:solidFill>
        <a:latin typeface="Arial" panose="020B0604020202020204" pitchFamily="34" charset="0"/>
        <a:ea typeface="+mn-ea"/>
        <a:cs typeface="+mn-cs"/>
      </a:defRPr>
    </a:lvl4pPr>
    <a:lvl5pPr marL="1641165" algn="l" defTabSz="820583" rtl="0" eaLnBrk="1" latinLnBrk="0" hangingPunct="1">
      <a:defRPr sz="1100" kern="1200">
        <a:solidFill>
          <a:schemeClr val="tx1"/>
        </a:solidFill>
        <a:latin typeface="Arial" panose="020B0604020202020204" pitchFamily="34" charset="0"/>
        <a:ea typeface="+mn-ea"/>
        <a:cs typeface="+mn-cs"/>
      </a:defRPr>
    </a:lvl5pPr>
    <a:lvl6pPr marL="2051456" algn="l" defTabSz="820583" rtl="0" eaLnBrk="1" latinLnBrk="0" hangingPunct="1">
      <a:defRPr sz="1100" kern="1200">
        <a:solidFill>
          <a:schemeClr val="tx1"/>
        </a:solidFill>
        <a:latin typeface="+mn-lt"/>
        <a:ea typeface="+mn-ea"/>
        <a:cs typeface="+mn-cs"/>
      </a:defRPr>
    </a:lvl6pPr>
    <a:lvl7pPr marL="2461748" algn="l" defTabSz="820583" rtl="0" eaLnBrk="1" latinLnBrk="0" hangingPunct="1">
      <a:defRPr sz="1100" kern="1200">
        <a:solidFill>
          <a:schemeClr val="tx1"/>
        </a:solidFill>
        <a:latin typeface="+mn-lt"/>
        <a:ea typeface="+mn-ea"/>
        <a:cs typeface="+mn-cs"/>
      </a:defRPr>
    </a:lvl7pPr>
    <a:lvl8pPr marL="2872039" algn="l" defTabSz="820583" rtl="0" eaLnBrk="1" latinLnBrk="0" hangingPunct="1">
      <a:defRPr sz="1100" kern="1200">
        <a:solidFill>
          <a:schemeClr val="tx1"/>
        </a:solidFill>
        <a:latin typeface="+mn-lt"/>
        <a:ea typeface="+mn-ea"/>
        <a:cs typeface="+mn-cs"/>
      </a:defRPr>
    </a:lvl8pPr>
    <a:lvl9pPr marL="3282330" algn="l" defTabSz="820583" rtl="0" eaLnBrk="1" latinLnBrk="0" hangingPunct="1">
      <a:defRPr sz="11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2FEE106-D861-6343-96FF-5BF90692C3C7}" type="slidenum">
              <a:rPr lang="en-CA" smtClean="0">
                <a:solidFill>
                  <a:prstClr val="black"/>
                </a:solidFill>
              </a:rPr>
              <a:pPr/>
              <a:t>1</a:t>
            </a:fld>
            <a:endParaRPr lang="en-CA" dirty="0">
              <a:solidFill>
                <a:prstClr val="black"/>
              </a:solidFill>
            </a:endParaRPr>
          </a:p>
        </p:txBody>
      </p:sp>
    </p:spTree>
    <p:extLst>
      <p:ext uri="{BB962C8B-B14F-4D97-AF65-F5344CB8AC3E}">
        <p14:creationId xmlns:p14="http://schemas.microsoft.com/office/powerpoint/2010/main" val="22533689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2FEE106-D861-6343-96FF-5BF90692C3C7}" type="slidenum">
              <a:rPr lang="en-CA" smtClean="0"/>
              <a:pPr/>
              <a:t>2</a:t>
            </a:fld>
            <a:endParaRPr lang="en-CA" dirty="0"/>
          </a:p>
        </p:txBody>
      </p:sp>
    </p:spTree>
    <p:extLst>
      <p:ext uri="{BB962C8B-B14F-4D97-AF65-F5344CB8AC3E}">
        <p14:creationId xmlns:p14="http://schemas.microsoft.com/office/powerpoint/2010/main" val="29011432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en-CA" dirty="0"/>
          </a:p>
        </p:txBody>
      </p:sp>
      <p:sp>
        <p:nvSpPr>
          <p:cNvPr id="4" name="Espace réservé du numéro de diapositive 3"/>
          <p:cNvSpPr>
            <a:spLocks noGrp="1"/>
          </p:cNvSpPr>
          <p:nvPr>
            <p:ph type="sldNum" sz="quarter" idx="10"/>
          </p:nvPr>
        </p:nvSpPr>
        <p:spPr/>
        <p:txBody>
          <a:bodyPr/>
          <a:lstStyle/>
          <a:p>
            <a:fld id="{427F0981-8270-4661-92A6-60BF2B81C7CA}" type="slidenum">
              <a:rPr lang="en-CA" smtClean="0">
                <a:solidFill>
                  <a:prstClr val="black"/>
                </a:solidFill>
              </a:rPr>
              <a:pPr/>
              <a:t>3</a:t>
            </a:fld>
            <a:endParaRPr lang="en-CA" dirty="0">
              <a:solidFill>
                <a:prstClr val="black"/>
              </a:solidFill>
            </a:endParaRPr>
          </a:p>
        </p:txBody>
      </p:sp>
    </p:spTree>
    <p:extLst>
      <p:ext uri="{BB962C8B-B14F-4D97-AF65-F5344CB8AC3E}">
        <p14:creationId xmlns:p14="http://schemas.microsoft.com/office/powerpoint/2010/main" val="18201192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en-CA" dirty="0"/>
          </a:p>
        </p:txBody>
      </p:sp>
      <p:sp>
        <p:nvSpPr>
          <p:cNvPr id="4" name="Espace réservé du numéro de diapositive 3"/>
          <p:cNvSpPr>
            <a:spLocks noGrp="1"/>
          </p:cNvSpPr>
          <p:nvPr>
            <p:ph type="sldNum" sz="quarter" idx="10"/>
          </p:nvPr>
        </p:nvSpPr>
        <p:spPr/>
        <p:txBody>
          <a:bodyPr/>
          <a:lstStyle/>
          <a:p>
            <a:fld id="{E2FEE106-D861-6343-96FF-5BF90692C3C7}" type="slidenum">
              <a:rPr lang="en-CA" smtClean="0"/>
              <a:pPr/>
              <a:t>4</a:t>
            </a:fld>
            <a:endParaRPr lang="en-CA" dirty="0"/>
          </a:p>
        </p:txBody>
      </p:sp>
    </p:spTree>
    <p:extLst>
      <p:ext uri="{BB962C8B-B14F-4D97-AF65-F5344CB8AC3E}">
        <p14:creationId xmlns:p14="http://schemas.microsoft.com/office/powerpoint/2010/main" val="285295620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en-CA" dirty="0"/>
          </a:p>
        </p:txBody>
      </p:sp>
      <p:sp>
        <p:nvSpPr>
          <p:cNvPr id="4" name="Espace réservé du numéro de diapositive 3"/>
          <p:cNvSpPr>
            <a:spLocks noGrp="1"/>
          </p:cNvSpPr>
          <p:nvPr>
            <p:ph type="sldNum" sz="quarter" idx="10"/>
          </p:nvPr>
        </p:nvSpPr>
        <p:spPr/>
        <p:txBody>
          <a:bodyPr/>
          <a:lstStyle/>
          <a:p>
            <a:fld id="{E2FEE106-D861-6343-96FF-5BF90692C3C7}" type="slidenum">
              <a:rPr lang="en-CA" smtClean="0"/>
              <a:pPr/>
              <a:t>5</a:t>
            </a:fld>
            <a:endParaRPr lang="en-CA" dirty="0"/>
          </a:p>
        </p:txBody>
      </p:sp>
    </p:spTree>
    <p:extLst>
      <p:ext uri="{BB962C8B-B14F-4D97-AF65-F5344CB8AC3E}">
        <p14:creationId xmlns:p14="http://schemas.microsoft.com/office/powerpoint/2010/main" val="363411052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en-CA" dirty="0"/>
          </a:p>
        </p:txBody>
      </p:sp>
      <p:sp>
        <p:nvSpPr>
          <p:cNvPr id="4" name="Espace réservé du numéro de diapositive 3"/>
          <p:cNvSpPr>
            <a:spLocks noGrp="1"/>
          </p:cNvSpPr>
          <p:nvPr>
            <p:ph type="sldNum" sz="quarter" idx="10"/>
          </p:nvPr>
        </p:nvSpPr>
        <p:spPr/>
        <p:txBody>
          <a:bodyPr/>
          <a:lstStyle/>
          <a:p>
            <a:fld id="{E2FEE106-D861-6343-96FF-5BF90692C3C7}" type="slidenum">
              <a:rPr lang="en-CA" smtClean="0"/>
              <a:pPr/>
              <a:t>6</a:t>
            </a:fld>
            <a:endParaRPr lang="en-CA" dirty="0"/>
          </a:p>
        </p:txBody>
      </p:sp>
    </p:spTree>
    <p:extLst>
      <p:ext uri="{BB962C8B-B14F-4D97-AF65-F5344CB8AC3E}">
        <p14:creationId xmlns:p14="http://schemas.microsoft.com/office/powerpoint/2010/main" val="349919976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en-CA" dirty="0"/>
          </a:p>
        </p:txBody>
      </p:sp>
      <p:sp>
        <p:nvSpPr>
          <p:cNvPr id="4" name="Espace réservé du numéro de diapositive 3"/>
          <p:cNvSpPr>
            <a:spLocks noGrp="1"/>
          </p:cNvSpPr>
          <p:nvPr>
            <p:ph type="sldNum" sz="quarter" idx="10"/>
          </p:nvPr>
        </p:nvSpPr>
        <p:spPr/>
        <p:txBody>
          <a:bodyPr/>
          <a:lstStyle/>
          <a:p>
            <a:fld id="{E2FEE106-D861-6343-96FF-5BF90692C3C7}" type="slidenum">
              <a:rPr lang="en-CA" smtClean="0"/>
              <a:pPr/>
              <a:t>7</a:t>
            </a:fld>
            <a:endParaRPr lang="en-CA" dirty="0"/>
          </a:p>
        </p:txBody>
      </p:sp>
    </p:spTree>
    <p:extLst>
      <p:ext uri="{BB962C8B-B14F-4D97-AF65-F5344CB8AC3E}">
        <p14:creationId xmlns:p14="http://schemas.microsoft.com/office/powerpoint/2010/main" val="178031987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en-CA" dirty="0"/>
          </a:p>
        </p:txBody>
      </p:sp>
      <p:sp>
        <p:nvSpPr>
          <p:cNvPr id="4" name="Espace réservé du numéro de diapositive 3"/>
          <p:cNvSpPr>
            <a:spLocks noGrp="1"/>
          </p:cNvSpPr>
          <p:nvPr>
            <p:ph type="sldNum" sz="quarter" idx="10"/>
          </p:nvPr>
        </p:nvSpPr>
        <p:spPr/>
        <p:txBody>
          <a:bodyPr/>
          <a:lstStyle/>
          <a:p>
            <a:fld id="{E2FEE106-D861-6343-96FF-5BF90692C3C7}" type="slidenum">
              <a:rPr lang="en-CA" smtClean="0"/>
              <a:pPr/>
              <a:t>8</a:t>
            </a:fld>
            <a:endParaRPr lang="en-CA" dirty="0"/>
          </a:p>
        </p:txBody>
      </p:sp>
    </p:spTree>
    <p:extLst>
      <p:ext uri="{BB962C8B-B14F-4D97-AF65-F5344CB8AC3E}">
        <p14:creationId xmlns:p14="http://schemas.microsoft.com/office/powerpoint/2010/main" val="38028625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27F0981-8270-4661-92A6-60BF2B81C7CA}" type="slidenum">
              <a:rPr lang="en-CA" smtClean="0"/>
              <a:t>9</a:t>
            </a:fld>
            <a:endParaRPr lang="en-CA" dirty="0"/>
          </a:p>
        </p:txBody>
      </p:sp>
    </p:spTree>
    <p:extLst>
      <p:ext uri="{BB962C8B-B14F-4D97-AF65-F5344CB8AC3E}">
        <p14:creationId xmlns:p14="http://schemas.microsoft.com/office/powerpoint/2010/main" val="334080983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27F0981-8270-4661-92A6-60BF2B81C7CA}" type="slidenum">
              <a:rPr lang="en-CA" smtClean="0"/>
              <a:t>10</a:t>
            </a:fld>
            <a:endParaRPr lang="en-CA" dirty="0"/>
          </a:p>
        </p:txBody>
      </p:sp>
    </p:spTree>
    <p:extLst>
      <p:ext uri="{BB962C8B-B14F-4D97-AF65-F5344CB8AC3E}">
        <p14:creationId xmlns:p14="http://schemas.microsoft.com/office/powerpoint/2010/main" val="128454025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27F0981-8270-4661-92A6-60BF2B81C7CA}" type="slidenum">
              <a:rPr lang="en-CA" smtClean="0"/>
              <a:t>11</a:t>
            </a:fld>
            <a:endParaRPr lang="en-CA" dirty="0"/>
          </a:p>
        </p:txBody>
      </p:sp>
    </p:spTree>
    <p:extLst>
      <p:ext uri="{BB962C8B-B14F-4D97-AF65-F5344CB8AC3E}">
        <p14:creationId xmlns:p14="http://schemas.microsoft.com/office/powerpoint/2010/main" val="220920796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27F0981-8270-4661-92A6-60BF2B81C7CA}" type="slidenum">
              <a:rPr lang="en-CA" smtClean="0"/>
              <a:t>12</a:t>
            </a:fld>
            <a:endParaRPr lang="en-CA" dirty="0"/>
          </a:p>
        </p:txBody>
      </p:sp>
    </p:spTree>
    <p:extLst>
      <p:ext uri="{BB962C8B-B14F-4D97-AF65-F5344CB8AC3E}">
        <p14:creationId xmlns:p14="http://schemas.microsoft.com/office/powerpoint/2010/main" val="291417330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27F0981-8270-4661-92A6-60BF2B81C7CA}" type="slidenum">
              <a:rPr lang="en-CA" smtClean="0"/>
              <a:t>13</a:t>
            </a:fld>
            <a:endParaRPr lang="en-CA" dirty="0"/>
          </a:p>
        </p:txBody>
      </p:sp>
    </p:spTree>
    <p:extLst>
      <p:ext uri="{BB962C8B-B14F-4D97-AF65-F5344CB8AC3E}">
        <p14:creationId xmlns:p14="http://schemas.microsoft.com/office/powerpoint/2010/main" val="91399306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en-CA" dirty="0"/>
          </a:p>
        </p:txBody>
      </p:sp>
      <p:sp>
        <p:nvSpPr>
          <p:cNvPr id="4" name="Espace réservé du numéro de diapositive 3"/>
          <p:cNvSpPr>
            <a:spLocks noGrp="1"/>
          </p:cNvSpPr>
          <p:nvPr>
            <p:ph type="sldNum" sz="quarter" idx="10"/>
          </p:nvPr>
        </p:nvSpPr>
        <p:spPr/>
        <p:txBody>
          <a:bodyPr/>
          <a:lstStyle/>
          <a:p>
            <a:fld id="{E2FEE106-D861-6343-96FF-5BF90692C3C7}" type="slidenum">
              <a:rPr lang="en-CA" smtClean="0"/>
              <a:pPr/>
              <a:t>14</a:t>
            </a:fld>
            <a:endParaRPr lang="en-CA" dirty="0"/>
          </a:p>
        </p:txBody>
      </p:sp>
    </p:spTree>
    <p:extLst>
      <p:ext uri="{BB962C8B-B14F-4D97-AF65-F5344CB8AC3E}">
        <p14:creationId xmlns:p14="http://schemas.microsoft.com/office/powerpoint/2010/main" val="344182916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en-CA" dirty="0"/>
          </a:p>
        </p:txBody>
      </p:sp>
      <p:sp>
        <p:nvSpPr>
          <p:cNvPr id="4" name="Espace réservé du numéro de diapositive 3"/>
          <p:cNvSpPr>
            <a:spLocks noGrp="1"/>
          </p:cNvSpPr>
          <p:nvPr>
            <p:ph type="sldNum" sz="quarter" idx="10"/>
          </p:nvPr>
        </p:nvSpPr>
        <p:spPr/>
        <p:txBody>
          <a:bodyPr/>
          <a:lstStyle/>
          <a:p>
            <a:fld id="{427F0981-8270-4661-92A6-60BF2B81C7CA}" type="slidenum">
              <a:rPr lang="en-CA" smtClean="0">
                <a:solidFill>
                  <a:prstClr val="black"/>
                </a:solidFill>
              </a:rPr>
              <a:pPr/>
              <a:t>15</a:t>
            </a:fld>
            <a:endParaRPr lang="en-CA" dirty="0">
              <a:solidFill>
                <a:prstClr val="black"/>
              </a:solidFill>
            </a:endParaRPr>
          </a:p>
        </p:txBody>
      </p:sp>
    </p:spTree>
    <p:extLst>
      <p:ext uri="{BB962C8B-B14F-4D97-AF65-F5344CB8AC3E}">
        <p14:creationId xmlns:p14="http://schemas.microsoft.com/office/powerpoint/2010/main" val="49715442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en-CA" dirty="0"/>
          </a:p>
        </p:txBody>
      </p:sp>
      <p:sp>
        <p:nvSpPr>
          <p:cNvPr id="4" name="Espace réservé du numéro de diapositive 3"/>
          <p:cNvSpPr>
            <a:spLocks noGrp="1"/>
          </p:cNvSpPr>
          <p:nvPr>
            <p:ph type="sldNum" sz="quarter" idx="10"/>
          </p:nvPr>
        </p:nvSpPr>
        <p:spPr/>
        <p:txBody>
          <a:bodyPr/>
          <a:lstStyle/>
          <a:p>
            <a:fld id="{E2FEE106-D861-6343-96FF-5BF90692C3C7}" type="slidenum">
              <a:rPr lang="en-CA" smtClean="0"/>
              <a:pPr/>
              <a:t>16</a:t>
            </a:fld>
            <a:endParaRPr lang="en-CA" dirty="0"/>
          </a:p>
        </p:txBody>
      </p:sp>
    </p:spTree>
    <p:extLst>
      <p:ext uri="{BB962C8B-B14F-4D97-AF65-F5344CB8AC3E}">
        <p14:creationId xmlns:p14="http://schemas.microsoft.com/office/powerpoint/2010/main" val="77939910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en-CA" dirty="0"/>
          </a:p>
        </p:txBody>
      </p:sp>
      <p:sp>
        <p:nvSpPr>
          <p:cNvPr id="4" name="Espace réservé du numéro de diapositive 3"/>
          <p:cNvSpPr>
            <a:spLocks noGrp="1"/>
          </p:cNvSpPr>
          <p:nvPr>
            <p:ph type="sldNum" sz="quarter" idx="10"/>
          </p:nvPr>
        </p:nvSpPr>
        <p:spPr/>
        <p:txBody>
          <a:bodyPr/>
          <a:lstStyle/>
          <a:p>
            <a:fld id="{E2FEE106-D861-6343-96FF-5BF90692C3C7}" type="slidenum">
              <a:rPr lang="en-CA" smtClean="0"/>
              <a:pPr/>
              <a:t>17</a:t>
            </a:fld>
            <a:endParaRPr lang="en-CA" dirty="0"/>
          </a:p>
        </p:txBody>
      </p:sp>
    </p:spTree>
    <p:extLst>
      <p:ext uri="{BB962C8B-B14F-4D97-AF65-F5344CB8AC3E}">
        <p14:creationId xmlns:p14="http://schemas.microsoft.com/office/powerpoint/2010/main" val="393981291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en-CA" dirty="0"/>
          </a:p>
        </p:txBody>
      </p:sp>
      <p:sp>
        <p:nvSpPr>
          <p:cNvPr id="4" name="Espace réservé du numéro de diapositive 3"/>
          <p:cNvSpPr>
            <a:spLocks noGrp="1"/>
          </p:cNvSpPr>
          <p:nvPr>
            <p:ph type="sldNum" sz="quarter" idx="10"/>
          </p:nvPr>
        </p:nvSpPr>
        <p:spPr/>
        <p:txBody>
          <a:bodyPr/>
          <a:lstStyle/>
          <a:p>
            <a:fld id="{E2FEE106-D861-6343-96FF-5BF90692C3C7}" type="slidenum">
              <a:rPr lang="en-CA" smtClean="0"/>
              <a:pPr/>
              <a:t>18</a:t>
            </a:fld>
            <a:endParaRPr lang="en-CA" dirty="0"/>
          </a:p>
        </p:txBody>
      </p:sp>
    </p:spTree>
    <p:extLst>
      <p:ext uri="{BB962C8B-B14F-4D97-AF65-F5344CB8AC3E}">
        <p14:creationId xmlns:p14="http://schemas.microsoft.com/office/powerpoint/2010/main" val="334237450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en-CA" dirty="0"/>
          </a:p>
        </p:txBody>
      </p:sp>
      <p:sp>
        <p:nvSpPr>
          <p:cNvPr id="4" name="Espace réservé du numéro de diapositive 3"/>
          <p:cNvSpPr>
            <a:spLocks noGrp="1"/>
          </p:cNvSpPr>
          <p:nvPr>
            <p:ph type="sldNum" sz="quarter" idx="10"/>
          </p:nvPr>
        </p:nvSpPr>
        <p:spPr/>
        <p:txBody>
          <a:bodyPr/>
          <a:lstStyle/>
          <a:p>
            <a:fld id="{E2FEE106-D861-6343-96FF-5BF90692C3C7}" type="slidenum">
              <a:rPr lang="en-CA" smtClean="0"/>
              <a:pPr/>
              <a:t>19</a:t>
            </a:fld>
            <a:endParaRPr lang="en-CA" dirty="0"/>
          </a:p>
        </p:txBody>
      </p:sp>
    </p:spTree>
    <p:extLst>
      <p:ext uri="{BB962C8B-B14F-4D97-AF65-F5344CB8AC3E}">
        <p14:creationId xmlns:p14="http://schemas.microsoft.com/office/powerpoint/2010/main" val="327923043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en-CA" dirty="0"/>
          </a:p>
        </p:txBody>
      </p:sp>
      <p:sp>
        <p:nvSpPr>
          <p:cNvPr id="4" name="Espace réservé du numéro de diapositive 3"/>
          <p:cNvSpPr>
            <a:spLocks noGrp="1"/>
          </p:cNvSpPr>
          <p:nvPr>
            <p:ph type="sldNum" sz="quarter" idx="10"/>
          </p:nvPr>
        </p:nvSpPr>
        <p:spPr/>
        <p:txBody>
          <a:bodyPr/>
          <a:lstStyle/>
          <a:p>
            <a:fld id="{E2FEE106-D861-6343-96FF-5BF90692C3C7}" type="slidenum">
              <a:rPr lang="en-CA" smtClean="0"/>
              <a:pPr/>
              <a:t>20</a:t>
            </a:fld>
            <a:endParaRPr lang="en-CA" dirty="0"/>
          </a:p>
        </p:txBody>
      </p:sp>
    </p:spTree>
    <p:extLst>
      <p:ext uri="{BB962C8B-B14F-4D97-AF65-F5344CB8AC3E}">
        <p14:creationId xmlns:p14="http://schemas.microsoft.com/office/powerpoint/2010/main" val="98194501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en-CA" dirty="0"/>
          </a:p>
        </p:txBody>
      </p:sp>
      <p:sp>
        <p:nvSpPr>
          <p:cNvPr id="4" name="Espace réservé du numéro de diapositive 3"/>
          <p:cNvSpPr>
            <a:spLocks noGrp="1"/>
          </p:cNvSpPr>
          <p:nvPr>
            <p:ph type="sldNum" sz="quarter" idx="10"/>
          </p:nvPr>
        </p:nvSpPr>
        <p:spPr/>
        <p:txBody>
          <a:bodyPr/>
          <a:lstStyle/>
          <a:p>
            <a:fld id="{E2FEE106-D861-6343-96FF-5BF90692C3C7}" type="slidenum">
              <a:rPr lang="en-CA" smtClean="0"/>
              <a:pPr/>
              <a:t>21</a:t>
            </a:fld>
            <a:endParaRPr lang="en-CA" dirty="0"/>
          </a:p>
        </p:txBody>
      </p:sp>
    </p:spTree>
    <p:extLst>
      <p:ext uri="{BB962C8B-B14F-4D97-AF65-F5344CB8AC3E}">
        <p14:creationId xmlns:p14="http://schemas.microsoft.com/office/powerpoint/2010/main" val="342222833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en-CA" dirty="0"/>
          </a:p>
        </p:txBody>
      </p:sp>
      <p:sp>
        <p:nvSpPr>
          <p:cNvPr id="4" name="Espace réservé du numéro de diapositive 3"/>
          <p:cNvSpPr>
            <a:spLocks noGrp="1"/>
          </p:cNvSpPr>
          <p:nvPr>
            <p:ph type="sldNum" sz="quarter" idx="10"/>
          </p:nvPr>
        </p:nvSpPr>
        <p:spPr/>
        <p:txBody>
          <a:bodyPr/>
          <a:lstStyle/>
          <a:p>
            <a:fld id="{E2FEE106-D861-6343-96FF-5BF90692C3C7}" type="slidenum">
              <a:rPr lang="en-CA" smtClean="0"/>
              <a:pPr/>
              <a:t>22</a:t>
            </a:fld>
            <a:endParaRPr lang="en-CA" dirty="0"/>
          </a:p>
        </p:txBody>
      </p:sp>
    </p:spTree>
    <p:extLst>
      <p:ext uri="{BB962C8B-B14F-4D97-AF65-F5344CB8AC3E}">
        <p14:creationId xmlns:p14="http://schemas.microsoft.com/office/powerpoint/2010/main" val="77621868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en-CA" dirty="0"/>
          </a:p>
        </p:txBody>
      </p:sp>
      <p:sp>
        <p:nvSpPr>
          <p:cNvPr id="4" name="Espace réservé du numéro de diapositive 3"/>
          <p:cNvSpPr>
            <a:spLocks noGrp="1"/>
          </p:cNvSpPr>
          <p:nvPr>
            <p:ph type="sldNum" sz="quarter" idx="10"/>
          </p:nvPr>
        </p:nvSpPr>
        <p:spPr/>
        <p:txBody>
          <a:bodyPr/>
          <a:lstStyle/>
          <a:p>
            <a:fld id="{E2FEE106-D861-6343-96FF-5BF90692C3C7}" type="slidenum">
              <a:rPr lang="en-CA" smtClean="0"/>
              <a:pPr/>
              <a:t>23</a:t>
            </a:fld>
            <a:endParaRPr lang="en-CA" dirty="0"/>
          </a:p>
        </p:txBody>
      </p:sp>
    </p:spTree>
    <p:extLst>
      <p:ext uri="{BB962C8B-B14F-4D97-AF65-F5344CB8AC3E}">
        <p14:creationId xmlns:p14="http://schemas.microsoft.com/office/powerpoint/2010/main" val="80580204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en-CA" dirty="0"/>
          </a:p>
        </p:txBody>
      </p:sp>
      <p:sp>
        <p:nvSpPr>
          <p:cNvPr id="4" name="Espace réservé du numéro de diapositive 3"/>
          <p:cNvSpPr>
            <a:spLocks noGrp="1"/>
          </p:cNvSpPr>
          <p:nvPr>
            <p:ph type="sldNum" sz="quarter" idx="10"/>
          </p:nvPr>
        </p:nvSpPr>
        <p:spPr/>
        <p:txBody>
          <a:bodyPr/>
          <a:lstStyle/>
          <a:p>
            <a:fld id="{E2FEE106-D861-6343-96FF-5BF90692C3C7}" type="slidenum">
              <a:rPr lang="en-CA" smtClean="0"/>
              <a:pPr/>
              <a:t>24</a:t>
            </a:fld>
            <a:endParaRPr lang="en-CA" dirty="0"/>
          </a:p>
        </p:txBody>
      </p:sp>
    </p:spTree>
    <p:extLst>
      <p:ext uri="{BB962C8B-B14F-4D97-AF65-F5344CB8AC3E}">
        <p14:creationId xmlns:p14="http://schemas.microsoft.com/office/powerpoint/2010/main" val="270364223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en-CA" dirty="0"/>
          </a:p>
        </p:txBody>
      </p:sp>
      <p:sp>
        <p:nvSpPr>
          <p:cNvPr id="4" name="Espace réservé du numéro de diapositive 3"/>
          <p:cNvSpPr>
            <a:spLocks noGrp="1"/>
          </p:cNvSpPr>
          <p:nvPr>
            <p:ph type="sldNum" sz="quarter" idx="10"/>
          </p:nvPr>
        </p:nvSpPr>
        <p:spPr/>
        <p:txBody>
          <a:bodyPr/>
          <a:lstStyle/>
          <a:p>
            <a:fld id="{427F0981-8270-4661-92A6-60BF2B81C7CA}" type="slidenum">
              <a:rPr lang="en-CA" smtClean="0">
                <a:solidFill>
                  <a:prstClr val="black"/>
                </a:solidFill>
              </a:rPr>
              <a:pPr/>
              <a:t>25</a:t>
            </a:fld>
            <a:endParaRPr lang="en-CA" dirty="0">
              <a:solidFill>
                <a:prstClr val="black"/>
              </a:solidFill>
            </a:endParaRPr>
          </a:p>
        </p:txBody>
      </p:sp>
    </p:spTree>
    <p:extLst>
      <p:ext uri="{BB962C8B-B14F-4D97-AF65-F5344CB8AC3E}">
        <p14:creationId xmlns:p14="http://schemas.microsoft.com/office/powerpoint/2010/main" val="17025023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en-CA" dirty="0"/>
          </a:p>
        </p:txBody>
      </p:sp>
      <p:sp>
        <p:nvSpPr>
          <p:cNvPr id="4" name="Espace réservé du numéro de diapositive 3"/>
          <p:cNvSpPr>
            <a:spLocks noGrp="1"/>
          </p:cNvSpPr>
          <p:nvPr>
            <p:ph type="sldNum" sz="quarter" idx="10"/>
          </p:nvPr>
        </p:nvSpPr>
        <p:spPr/>
        <p:txBody>
          <a:bodyPr/>
          <a:lstStyle/>
          <a:p>
            <a:fld id="{427F0981-8270-4661-92A6-60BF2B81C7CA}" type="slidenum">
              <a:rPr lang="en-CA" smtClean="0">
                <a:solidFill>
                  <a:prstClr val="black"/>
                </a:solidFill>
              </a:rPr>
              <a:pPr/>
              <a:t>26</a:t>
            </a:fld>
            <a:endParaRPr lang="en-CA" dirty="0">
              <a:solidFill>
                <a:prstClr val="black"/>
              </a:solidFill>
            </a:endParaRPr>
          </a:p>
        </p:txBody>
      </p:sp>
    </p:spTree>
    <p:extLst>
      <p:ext uri="{BB962C8B-B14F-4D97-AF65-F5344CB8AC3E}">
        <p14:creationId xmlns:p14="http://schemas.microsoft.com/office/powerpoint/2010/main" val="428706473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en-CA" dirty="0"/>
          </a:p>
        </p:txBody>
      </p:sp>
      <p:sp>
        <p:nvSpPr>
          <p:cNvPr id="4" name="Espace réservé du numéro de diapositive 3"/>
          <p:cNvSpPr>
            <a:spLocks noGrp="1"/>
          </p:cNvSpPr>
          <p:nvPr>
            <p:ph type="sldNum" sz="quarter" idx="10"/>
          </p:nvPr>
        </p:nvSpPr>
        <p:spPr/>
        <p:txBody>
          <a:bodyPr/>
          <a:lstStyle/>
          <a:p>
            <a:fld id="{E2FEE106-D861-6343-96FF-5BF90692C3C7}" type="slidenum">
              <a:rPr lang="en-CA" smtClean="0"/>
              <a:pPr/>
              <a:t>27</a:t>
            </a:fld>
            <a:endParaRPr lang="en-CA" dirty="0"/>
          </a:p>
        </p:txBody>
      </p:sp>
    </p:spTree>
    <p:extLst>
      <p:ext uri="{BB962C8B-B14F-4D97-AF65-F5344CB8AC3E}">
        <p14:creationId xmlns:p14="http://schemas.microsoft.com/office/powerpoint/2010/main" val="49645391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en-CA" dirty="0"/>
          </a:p>
        </p:txBody>
      </p:sp>
      <p:sp>
        <p:nvSpPr>
          <p:cNvPr id="4" name="Espace réservé du numéro de diapositive 3"/>
          <p:cNvSpPr>
            <a:spLocks noGrp="1"/>
          </p:cNvSpPr>
          <p:nvPr>
            <p:ph type="sldNum" sz="quarter" idx="10"/>
          </p:nvPr>
        </p:nvSpPr>
        <p:spPr/>
        <p:txBody>
          <a:bodyPr/>
          <a:lstStyle/>
          <a:p>
            <a:fld id="{427F0981-8270-4661-92A6-60BF2B81C7CA}" type="slidenum">
              <a:rPr lang="en-CA" smtClean="0">
                <a:solidFill>
                  <a:prstClr val="black"/>
                </a:solidFill>
              </a:rPr>
              <a:pPr/>
              <a:t>28</a:t>
            </a:fld>
            <a:endParaRPr lang="en-CA" dirty="0">
              <a:solidFill>
                <a:prstClr val="black"/>
              </a:solidFill>
            </a:endParaRPr>
          </a:p>
        </p:txBody>
      </p:sp>
    </p:spTree>
    <p:extLst>
      <p:ext uri="{BB962C8B-B14F-4D97-AF65-F5344CB8AC3E}">
        <p14:creationId xmlns:p14="http://schemas.microsoft.com/office/powerpoint/2010/main" val="70288639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en-CA" dirty="0"/>
          </a:p>
        </p:txBody>
      </p:sp>
      <p:sp>
        <p:nvSpPr>
          <p:cNvPr id="4" name="Espace réservé du numéro de diapositive 3"/>
          <p:cNvSpPr>
            <a:spLocks noGrp="1"/>
          </p:cNvSpPr>
          <p:nvPr>
            <p:ph type="sldNum" sz="quarter" idx="10"/>
          </p:nvPr>
        </p:nvSpPr>
        <p:spPr/>
        <p:txBody>
          <a:bodyPr/>
          <a:lstStyle/>
          <a:p>
            <a:fld id="{427F0981-8270-4661-92A6-60BF2B81C7CA}" type="slidenum">
              <a:rPr lang="en-CA" smtClean="0">
                <a:solidFill>
                  <a:prstClr val="black"/>
                </a:solidFill>
              </a:rPr>
              <a:pPr/>
              <a:t>29</a:t>
            </a:fld>
            <a:endParaRPr lang="en-CA" dirty="0">
              <a:solidFill>
                <a:prstClr val="black"/>
              </a:solidFill>
            </a:endParaRPr>
          </a:p>
        </p:txBody>
      </p:sp>
    </p:spTree>
    <p:extLst>
      <p:ext uri="{BB962C8B-B14F-4D97-AF65-F5344CB8AC3E}">
        <p14:creationId xmlns:p14="http://schemas.microsoft.com/office/powerpoint/2010/main" val="147970519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en-CA" dirty="0"/>
          </a:p>
        </p:txBody>
      </p:sp>
      <p:sp>
        <p:nvSpPr>
          <p:cNvPr id="4" name="Espace réservé du numéro de diapositive 3"/>
          <p:cNvSpPr>
            <a:spLocks noGrp="1"/>
          </p:cNvSpPr>
          <p:nvPr>
            <p:ph type="sldNum" sz="quarter" idx="10"/>
          </p:nvPr>
        </p:nvSpPr>
        <p:spPr/>
        <p:txBody>
          <a:bodyPr/>
          <a:lstStyle/>
          <a:p>
            <a:fld id="{427F0981-8270-4661-92A6-60BF2B81C7CA}" type="slidenum">
              <a:rPr lang="en-CA" smtClean="0">
                <a:solidFill>
                  <a:prstClr val="black"/>
                </a:solidFill>
              </a:rPr>
              <a:pPr/>
              <a:t>30</a:t>
            </a:fld>
            <a:endParaRPr lang="en-CA" dirty="0">
              <a:solidFill>
                <a:prstClr val="black"/>
              </a:solidFill>
            </a:endParaRPr>
          </a:p>
        </p:txBody>
      </p:sp>
    </p:spTree>
    <p:extLst>
      <p:ext uri="{BB962C8B-B14F-4D97-AF65-F5344CB8AC3E}">
        <p14:creationId xmlns:p14="http://schemas.microsoft.com/office/powerpoint/2010/main" val="412003236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en-CA" dirty="0"/>
          </a:p>
        </p:txBody>
      </p:sp>
      <p:sp>
        <p:nvSpPr>
          <p:cNvPr id="4" name="Espace réservé du numéro de diapositive 3"/>
          <p:cNvSpPr>
            <a:spLocks noGrp="1"/>
          </p:cNvSpPr>
          <p:nvPr>
            <p:ph type="sldNum" sz="quarter" idx="10"/>
          </p:nvPr>
        </p:nvSpPr>
        <p:spPr/>
        <p:txBody>
          <a:bodyPr/>
          <a:lstStyle/>
          <a:p>
            <a:fld id="{427F0981-8270-4661-92A6-60BF2B81C7CA}" type="slidenum">
              <a:rPr lang="en-CA" smtClean="0">
                <a:solidFill>
                  <a:prstClr val="black"/>
                </a:solidFill>
              </a:rPr>
              <a:pPr/>
              <a:t>31</a:t>
            </a:fld>
            <a:endParaRPr lang="en-CA" dirty="0">
              <a:solidFill>
                <a:prstClr val="black"/>
              </a:solidFill>
            </a:endParaRPr>
          </a:p>
        </p:txBody>
      </p:sp>
    </p:spTree>
    <p:extLst>
      <p:ext uri="{BB962C8B-B14F-4D97-AF65-F5344CB8AC3E}">
        <p14:creationId xmlns:p14="http://schemas.microsoft.com/office/powerpoint/2010/main" val="15809699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en-CA" dirty="0"/>
          </a:p>
        </p:txBody>
      </p:sp>
      <p:sp>
        <p:nvSpPr>
          <p:cNvPr id="4" name="Espace réservé du numéro de diapositive 3"/>
          <p:cNvSpPr>
            <a:spLocks noGrp="1"/>
          </p:cNvSpPr>
          <p:nvPr>
            <p:ph type="sldNum" sz="quarter" idx="10"/>
          </p:nvPr>
        </p:nvSpPr>
        <p:spPr/>
        <p:txBody>
          <a:bodyPr/>
          <a:lstStyle/>
          <a:p>
            <a:fld id="{E2FEE106-D861-6343-96FF-5BF90692C3C7}" type="slidenum">
              <a:rPr lang="en-CA" smtClean="0"/>
              <a:pPr/>
              <a:t>32</a:t>
            </a:fld>
            <a:endParaRPr lang="en-CA" dirty="0"/>
          </a:p>
        </p:txBody>
      </p:sp>
    </p:spTree>
    <p:extLst>
      <p:ext uri="{BB962C8B-B14F-4D97-AF65-F5344CB8AC3E}">
        <p14:creationId xmlns:p14="http://schemas.microsoft.com/office/powerpoint/2010/main" val="110771893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en-CA" dirty="0"/>
          </a:p>
        </p:txBody>
      </p:sp>
      <p:sp>
        <p:nvSpPr>
          <p:cNvPr id="4" name="Espace réservé du numéro de diapositive 3"/>
          <p:cNvSpPr>
            <a:spLocks noGrp="1"/>
          </p:cNvSpPr>
          <p:nvPr>
            <p:ph type="sldNum" sz="quarter" idx="10"/>
          </p:nvPr>
        </p:nvSpPr>
        <p:spPr/>
        <p:txBody>
          <a:bodyPr/>
          <a:lstStyle/>
          <a:p>
            <a:fld id="{427F0981-8270-4661-92A6-60BF2B81C7CA}" type="slidenum">
              <a:rPr lang="en-CA" smtClean="0"/>
              <a:t>33</a:t>
            </a:fld>
            <a:endParaRPr lang="en-CA" dirty="0"/>
          </a:p>
        </p:txBody>
      </p:sp>
    </p:spTree>
    <p:extLst>
      <p:ext uri="{BB962C8B-B14F-4D97-AF65-F5344CB8AC3E}">
        <p14:creationId xmlns:p14="http://schemas.microsoft.com/office/powerpoint/2010/main" val="75843383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en-CA" dirty="0"/>
          </a:p>
        </p:txBody>
      </p:sp>
      <p:sp>
        <p:nvSpPr>
          <p:cNvPr id="4" name="Espace réservé du numéro de diapositive 3"/>
          <p:cNvSpPr>
            <a:spLocks noGrp="1"/>
          </p:cNvSpPr>
          <p:nvPr>
            <p:ph type="sldNum" sz="quarter" idx="10"/>
          </p:nvPr>
        </p:nvSpPr>
        <p:spPr/>
        <p:txBody>
          <a:bodyPr/>
          <a:lstStyle/>
          <a:p>
            <a:fld id="{E2FEE106-D861-6343-96FF-5BF90692C3C7}" type="slidenum">
              <a:rPr lang="en-CA" smtClean="0"/>
              <a:pPr/>
              <a:t>34</a:t>
            </a:fld>
            <a:endParaRPr lang="en-CA" dirty="0"/>
          </a:p>
        </p:txBody>
      </p:sp>
    </p:spTree>
    <p:extLst>
      <p:ext uri="{BB962C8B-B14F-4D97-AF65-F5344CB8AC3E}">
        <p14:creationId xmlns:p14="http://schemas.microsoft.com/office/powerpoint/2010/main" val="175935293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en-CA" dirty="0"/>
          </a:p>
        </p:txBody>
      </p:sp>
      <p:sp>
        <p:nvSpPr>
          <p:cNvPr id="4" name="Espace réservé du numéro de diapositive 3"/>
          <p:cNvSpPr>
            <a:spLocks noGrp="1"/>
          </p:cNvSpPr>
          <p:nvPr>
            <p:ph type="sldNum" sz="quarter" idx="10"/>
          </p:nvPr>
        </p:nvSpPr>
        <p:spPr/>
        <p:txBody>
          <a:bodyPr/>
          <a:lstStyle/>
          <a:p>
            <a:fld id="{427F0981-8270-4661-92A6-60BF2B81C7CA}" type="slidenum">
              <a:rPr lang="en-CA" smtClean="0">
                <a:solidFill>
                  <a:prstClr val="black"/>
                </a:solidFill>
              </a:rPr>
              <a:pPr/>
              <a:t>35</a:t>
            </a:fld>
            <a:endParaRPr lang="en-CA" dirty="0">
              <a:solidFill>
                <a:prstClr val="black"/>
              </a:solidFill>
            </a:endParaRPr>
          </a:p>
        </p:txBody>
      </p:sp>
    </p:spTree>
    <p:extLst>
      <p:ext uri="{BB962C8B-B14F-4D97-AF65-F5344CB8AC3E}">
        <p14:creationId xmlns:p14="http://schemas.microsoft.com/office/powerpoint/2010/main" val="309965937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en-CA" dirty="0"/>
          </a:p>
        </p:txBody>
      </p:sp>
      <p:sp>
        <p:nvSpPr>
          <p:cNvPr id="4" name="Espace réservé du numéro de diapositive 3"/>
          <p:cNvSpPr>
            <a:spLocks noGrp="1"/>
          </p:cNvSpPr>
          <p:nvPr>
            <p:ph type="sldNum" sz="quarter" idx="10"/>
          </p:nvPr>
        </p:nvSpPr>
        <p:spPr/>
        <p:txBody>
          <a:bodyPr/>
          <a:lstStyle/>
          <a:p>
            <a:fld id="{427F0981-8270-4661-92A6-60BF2B81C7CA}" type="slidenum">
              <a:rPr lang="en-CA" smtClean="0">
                <a:solidFill>
                  <a:prstClr val="black"/>
                </a:solidFill>
              </a:rPr>
              <a:pPr/>
              <a:t>36</a:t>
            </a:fld>
            <a:endParaRPr lang="en-CA" dirty="0">
              <a:solidFill>
                <a:prstClr val="black"/>
              </a:solidFill>
            </a:endParaRPr>
          </a:p>
        </p:txBody>
      </p:sp>
    </p:spTree>
    <p:extLst>
      <p:ext uri="{BB962C8B-B14F-4D97-AF65-F5344CB8AC3E}">
        <p14:creationId xmlns:p14="http://schemas.microsoft.com/office/powerpoint/2010/main" val="30158351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en-CA" dirty="0"/>
          </a:p>
        </p:txBody>
      </p:sp>
      <p:sp>
        <p:nvSpPr>
          <p:cNvPr id="4" name="Espace réservé du numéro de diapositive 3"/>
          <p:cNvSpPr>
            <a:spLocks noGrp="1"/>
          </p:cNvSpPr>
          <p:nvPr>
            <p:ph type="sldNum" sz="quarter" idx="10"/>
          </p:nvPr>
        </p:nvSpPr>
        <p:spPr/>
        <p:txBody>
          <a:bodyPr/>
          <a:lstStyle/>
          <a:p>
            <a:fld id="{E2FEE106-D861-6343-96FF-5BF90692C3C7}" type="slidenum">
              <a:rPr lang="en-CA" smtClean="0"/>
              <a:pPr/>
              <a:t>37</a:t>
            </a:fld>
            <a:endParaRPr lang="en-CA" dirty="0"/>
          </a:p>
        </p:txBody>
      </p:sp>
    </p:spTree>
    <p:extLst>
      <p:ext uri="{BB962C8B-B14F-4D97-AF65-F5344CB8AC3E}">
        <p14:creationId xmlns:p14="http://schemas.microsoft.com/office/powerpoint/2010/main" val="126426605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en-CA" dirty="0"/>
          </a:p>
        </p:txBody>
      </p:sp>
      <p:sp>
        <p:nvSpPr>
          <p:cNvPr id="4" name="Espace réservé du numéro de diapositive 3"/>
          <p:cNvSpPr>
            <a:spLocks noGrp="1"/>
          </p:cNvSpPr>
          <p:nvPr>
            <p:ph type="sldNum" sz="quarter" idx="10"/>
          </p:nvPr>
        </p:nvSpPr>
        <p:spPr/>
        <p:txBody>
          <a:bodyPr/>
          <a:lstStyle/>
          <a:p>
            <a:fld id="{E2FEE106-D861-6343-96FF-5BF90692C3C7}" type="slidenum">
              <a:rPr lang="en-CA" smtClean="0"/>
              <a:pPr/>
              <a:t>38</a:t>
            </a:fld>
            <a:endParaRPr lang="en-CA" dirty="0"/>
          </a:p>
        </p:txBody>
      </p:sp>
    </p:spTree>
    <p:extLst>
      <p:ext uri="{BB962C8B-B14F-4D97-AF65-F5344CB8AC3E}">
        <p14:creationId xmlns:p14="http://schemas.microsoft.com/office/powerpoint/2010/main" val="33524530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en-CA" dirty="0"/>
          </a:p>
        </p:txBody>
      </p:sp>
      <p:sp>
        <p:nvSpPr>
          <p:cNvPr id="4" name="Espace réservé du numéro de diapositive 3"/>
          <p:cNvSpPr>
            <a:spLocks noGrp="1"/>
          </p:cNvSpPr>
          <p:nvPr>
            <p:ph type="sldNum" sz="quarter" idx="10"/>
          </p:nvPr>
        </p:nvSpPr>
        <p:spPr/>
        <p:txBody>
          <a:bodyPr/>
          <a:lstStyle/>
          <a:p>
            <a:fld id="{E2FEE106-D861-6343-96FF-5BF90692C3C7}" type="slidenum">
              <a:rPr lang="en-CA" smtClean="0"/>
              <a:pPr/>
              <a:t>39</a:t>
            </a:fld>
            <a:endParaRPr lang="en-CA" dirty="0"/>
          </a:p>
        </p:txBody>
      </p:sp>
    </p:spTree>
    <p:extLst>
      <p:ext uri="{BB962C8B-B14F-4D97-AF65-F5344CB8AC3E}">
        <p14:creationId xmlns:p14="http://schemas.microsoft.com/office/powerpoint/2010/main" val="321427451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en-CA" dirty="0"/>
          </a:p>
        </p:txBody>
      </p:sp>
      <p:sp>
        <p:nvSpPr>
          <p:cNvPr id="4" name="Espace réservé du numéro de diapositive 3"/>
          <p:cNvSpPr>
            <a:spLocks noGrp="1"/>
          </p:cNvSpPr>
          <p:nvPr>
            <p:ph type="sldNum" sz="quarter" idx="10"/>
          </p:nvPr>
        </p:nvSpPr>
        <p:spPr/>
        <p:txBody>
          <a:bodyPr/>
          <a:lstStyle/>
          <a:p>
            <a:fld id="{E2FEE106-D861-6343-96FF-5BF90692C3C7}" type="slidenum">
              <a:rPr lang="en-CA" smtClean="0"/>
              <a:pPr/>
              <a:t>40</a:t>
            </a:fld>
            <a:endParaRPr lang="en-CA" dirty="0"/>
          </a:p>
        </p:txBody>
      </p:sp>
    </p:spTree>
    <p:extLst>
      <p:ext uri="{BB962C8B-B14F-4D97-AF65-F5344CB8AC3E}">
        <p14:creationId xmlns:p14="http://schemas.microsoft.com/office/powerpoint/2010/main" val="399520801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en-CA" dirty="0"/>
          </a:p>
        </p:txBody>
      </p:sp>
      <p:sp>
        <p:nvSpPr>
          <p:cNvPr id="4" name="Espace réservé du numéro de diapositive 3"/>
          <p:cNvSpPr>
            <a:spLocks noGrp="1"/>
          </p:cNvSpPr>
          <p:nvPr>
            <p:ph type="sldNum" sz="quarter" idx="10"/>
          </p:nvPr>
        </p:nvSpPr>
        <p:spPr/>
        <p:txBody>
          <a:bodyPr/>
          <a:lstStyle/>
          <a:p>
            <a:fld id="{E2FEE106-D861-6343-96FF-5BF90692C3C7}" type="slidenum">
              <a:rPr lang="en-CA" smtClean="0"/>
              <a:pPr/>
              <a:t>41</a:t>
            </a:fld>
            <a:endParaRPr lang="en-CA" dirty="0"/>
          </a:p>
        </p:txBody>
      </p:sp>
    </p:spTree>
    <p:extLst>
      <p:ext uri="{BB962C8B-B14F-4D97-AF65-F5344CB8AC3E}">
        <p14:creationId xmlns:p14="http://schemas.microsoft.com/office/powerpoint/2010/main" val="256958304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en-CA" dirty="0"/>
          </a:p>
        </p:txBody>
      </p:sp>
      <p:sp>
        <p:nvSpPr>
          <p:cNvPr id="4" name="Espace réservé du numéro de diapositive 3"/>
          <p:cNvSpPr>
            <a:spLocks noGrp="1"/>
          </p:cNvSpPr>
          <p:nvPr>
            <p:ph type="sldNum" sz="quarter" idx="10"/>
          </p:nvPr>
        </p:nvSpPr>
        <p:spPr/>
        <p:txBody>
          <a:bodyPr/>
          <a:lstStyle/>
          <a:p>
            <a:fld id="{427F0981-8270-4661-92A6-60BF2B81C7CA}" type="slidenum">
              <a:rPr lang="en-CA" smtClean="0">
                <a:solidFill>
                  <a:prstClr val="black"/>
                </a:solidFill>
              </a:rPr>
              <a:pPr/>
              <a:t>42</a:t>
            </a:fld>
            <a:endParaRPr lang="en-CA" dirty="0">
              <a:solidFill>
                <a:prstClr val="black"/>
              </a:solidFill>
            </a:endParaRPr>
          </a:p>
        </p:txBody>
      </p:sp>
    </p:spTree>
    <p:extLst>
      <p:ext uri="{BB962C8B-B14F-4D97-AF65-F5344CB8AC3E}">
        <p14:creationId xmlns:p14="http://schemas.microsoft.com/office/powerpoint/2010/main" val="309087492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en-CA" dirty="0"/>
          </a:p>
        </p:txBody>
      </p:sp>
      <p:sp>
        <p:nvSpPr>
          <p:cNvPr id="4" name="Espace réservé du numéro de diapositive 3"/>
          <p:cNvSpPr>
            <a:spLocks noGrp="1"/>
          </p:cNvSpPr>
          <p:nvPr>
            <p:ph type="sldNum" sz="quarter" idx="10"/>
          </p:nvPr>
        </p:nvSpPr>
        <p:spPr/>
        <p:txBody>
          <a:bodyPr/>
          <a:lstStyle/>
          <a:p>
            <a:fld id="{427F0981-8270-4661-92A6-60BF2B81C7CA}" type="slidenum">
              <a:rPr lang="en-CA" smtClean="0">
                <a:solidFill>
                  <a:prstClr val="black"/>
                </a:solidFill>
              </a:rPr>
              <a:pPr/>
              <a:t>43</a:t>
            </a:fld>
            <a:endParaRPr lang="en-CA" dirty="0">
              <a:solidFill>
                <a:prstClr val="black"/>
              </a:solidFill>
            </a:endParaRPr>
          </a:p>
        </p:txBody>
      </p:sp>
    </p:spTree>
    <p:extLst>
      <p:ext uri="{BB962C8B-B14F-4D97-AF65-F5344CB8AC3E}">
        <p14:creationId xmlns:p14="http://schemas.microsoft.com/office/powerpoint/2010/main" val="137854355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en-CA" dirty="0"/>
          </a:p>
        </p:txBody>
      </p:sp>
      <p:sp>
        <p:nvSpPr>
          <p:cNvPr id="4" name="Espace réservé du numéro de diapositive 3"/>
          <p:cNvSpPr>
            <a:spLocks noGrp="1"/>
          </p:cNvSpPr>
          <p:nvPr>
            <p:ph type="sldNum" sz="quarter" idx="10"/>
          </p:nvPr>
        </p:nvSpPr>
        <p:spPr/>
        <p:txBody>
          <a:bodyPr/>
          <a:lstStyle/>
          <a:p>
            <a:fld id="{427F0981-8270-4661-92A6-60BF2B81C7CA}" type="slidenum">
              <a:rPr lang="en-CA" smtClean="0">
                <a:solidFill>
                  <a:prstClr val="black"/>
                </a:solidFill>
              </a:rPr>
              <a:pPr/>
              <a:t>44</a:t>
            </a:fld>
            <a:endParaRPr lang="en-CA" dirty="0">
              <a:solidFill>
                <a:prstClr val="black"/>
              </a:solidFill>
            </a:endParaRPr>
          </a:p>
        </p:txBody>
      </p:sp>
    </p:spTree>
    <p:extLst>
      <p:ext uri="{BB962C8B-B14F-4D97-AF65-F5344CB8AC3E}">
        <p14:creationId xmlns:p14="http://schemas.microsoft.com/office/powerpoint/2010/main" val="3870080624"/>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en-CA" dirty="0"/>
          </a:p>
        </p:txBody>
      </p:sp>
      <p:sp>
        <p:nvSpPr>
          <p:cNvPr id="4" name="Espace réservé du numéro de diapositive 3"/>
          <p:cNvSpPr>
            <a:spLocks noGrp="1"/>
          </p:cNvSpPr>
          <p:nvPr>
            <p:ph type="sldNum" sz="quarter" idx="10"/>
          </p:nvPr>
        </p:nvSpPr>
        <p:spPr/>
        <p:txBody>
          <a:bodyPr/>
          <a:lstStyle/>
          <a:p>
            <a:fld id="{427F0981-8270-4661-92A6-60BF2B81C7CA}" type="slidenum">
              <a:rPr lang="en-CA" smtClean="0">
                <a:solidFill>
                  <a:prstClr val="black"/>
                </a:solidFill>
              </a:rPr>
              <a:pPr/>
              <a:t>45</a:t>
            </a:fld>
            <a:endParaRPr lang="en-CA" dirty="0">
              <a:solidFill>
                <a:prstClr val="black"/>
              </a:solidFill>
            </a:endParaRPr>
          </a:p>
        </p:txBody>
      </p:sp>
    </p:spTree>
    <p:extLst>
      <p:ext uri="{BB962C8B-B14F-4D97-AF65-F5344CB8AC3E}">
        <p14:creationId xmlns:p14="http://schemas.microsoft.com/office/powerpoint/2010/main" val="4316200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en-CA" dirty="0"/>
          </a:p>
        </p:txBody>
      </p:sp>
      <p:sp>
        <p:nvSpPr>
          <p:cNvPr id="4" name="Espace réservé du numéro de diapositive 3"/>
          <p:cNvSpPr>
            <a:spLocks noGrp="1"/>
          </p:cNvSpPr>
          <p:nvPr>
            <p:ph type="sldNum" sz="quarter" idx="10"/>
          </p:nvPr>
        </p:nvSpPr>
        <p:spPr/>
        <p:txBody>
          <a:bodyPr/>
          <a:lstStyle/>
          <a:p>
            <a:fld id="{E2FEE106-D861-6343-96FF-5BF90692C3C7}" type="slidenum">
              <a:rPr lang="en-CA" smtClean="0"/>
              <a:pPr/>
              <a:t>46</a:t>
            </a:fld>
            <a:endParaRPr lang="en-CA" dirty="0"/>
          </a:p>
        </p:txBody>
      </p:sp>
    </p:spTree>
    <p:extLst>
      <p:ext uri="{BB962C8B-B14F-4D97-AF65-F5344CB8AC3E}">
        <p14:creationId xmlns:p14="http://schemas.microsoft.com/office/powerpoint/2010/main" val="1266695019"/>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en-CA" dirty="0"/>
          </a:p>
        </p:txBody>
      </p:sp>
      <p:sp>
        <p:nvSpPr>
          <p:cNvPr id="4" name="Espace réservé du numéro de diapositive 3"/>
          <p:cNvSpPr>
            <a:spLocks noGrp="1"/>
          </p:cNvSpPr>
          <p:nvPr>
            <p:ph type="sldNum" sz="quarter" idx="10"/>
          </p:nvPr>
        </p:nvSpPr>
        <p:spPr/>
        <p:txBody>
          <a:bodyPr/>
          <a:lstStyle/>
          <a:p>
            <a:fld id="{E2FEE106-D861-6343-96FF-5BF90692C3C7}" type="slidenum">
              <a:rPr lang="en-CA" smtClean="0"/>
              <a:pPr/>
              <a:t>47</a:t>
            </a:fld>
            <a:endParaRPr lang="en-CA" dirty="0"/>
          </a:p>
        </p:txBody>
      </p:sp>
    </p:spTree>
    <p:extLst>
      <p:ext uri="{BB962C8B-B14F-4D97-AF65-F5344CB8AC3E}">
        <p14:creationId xmlns:p14="http://schemas.microsoft.com/office/powerpoint/2010/main" val="27940276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3.xml"/><Relationship Id="rId1" Type="http://schemas.openxmlformats.org/officeDocument/2006/relationships/vmlDrawing" Target="../drawings/vmlDrawing2.vml"/><Relationship Id="rId5" Type="http://schemas.openxmlformats.org/officeDocument/2006/relationships/image" Target="../media/image1.emf"/><Relationship Id="rId4" Type="http://schemas.openxmlformats.org/officeDocument/2006/relationships/oleObject" Target="../embeddings/oleObject2.bin"/></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4.xml"/><Relationship Id="rId1" Type="http://schemas.openxmlformats.org/officeDocument/2006/relationships/vmlDrawing" Target="../drawings/vmlDrawing3.vml"/><Relationship Id="rId6" Type="http://schemas.openxmlformats.org/officeDocument/2006/relationships/image" Target="../media/image3.jpeg"/><Relationship Id="rId5" Type="http://schemas.openxmlformats.org/officeDocument/2006/relationships/image" Target="../media/image1.emf"/><Relationship Id="rId4" Type="http://schemas.openxmlformats.org/officeDocument/2006/relationships/oleObject" Target="../embeddings/oleObject3.bin"/></Relationships>
</file>

<file path=ppt/slideLayouts/_rels/slideLayout8.xml.rels><?xml version="1.0" encoding="UTF-8" standalone="yes"?>
<Relationships xmlns="http://schemas.openxmlformats.org/package/2006/relationships"><Relationship Id="rId2" Type="http://schemas.openxmlformats.org/officeDocument/2006/relationships/hyperlink" Target="http://kpmg.com/socialmedi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7.xml"/><Relationship Id="rId1" Type="http://schemas.openxmlformats.org/officeDocument/2006/relationships/vmlDrawing" Target="../drawings/vmlDrawing6.vml"/><Relationship Id="rId5" Type="http://schemas.openxmlformats.org/officeDocument/2006/relationships/image" Target="../media/image1.emf"/><Relationship Id="rId4" Type="http://schemas.openxmlformats.org/officeDocument/2006/relationships/oleObject" Target="../embeddings/oleObject6.bin"/></Relationships>
</file>

<file path=ppt/slideLayouts/_rels/slideLayout13.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8.xml"/><Relationship Id="rId1" Type="http://schemas.openxmlformats.org/officeDocument/2006/relationships/vmlDrawing" Target="../drawings/vmlDrawing7.vml"/><Relationship Id="rId5" Type="http://schemas.openxmlformats.org/officeDocument/2006/relationships/image" Target="../media/image4.emf"/><Relationship Id="rId4" Type="http://schemas.openxmlformats.org/officeDocument/2006/relationships/oleObject" Target="../embeddings/oleObject7.bin"/></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DIVIDER 1">
    <p:spTree>
      <p:nvGrpSpPr>
        <p:cNvPr id="1" name=""/>
        <p:cNvGrpSpPr/>
        <p:nvPr/>
      </p:nvGrpSpPr>
      <p:grpSpPr>
        <a:xfrm>
          <a:off x="0" y="0"/>
          <a:ext cx="0" cy="0"/>
          <a:chOff x="0" y="0"/>
          <a:chExt cx="0" cy="0"/>
        </a:xfrm>
      </p:grpSpPr>
      <p:sp>
        <p:nvSpPr>
          <p:cNvPr id="4" name="object 3"/>
          <p:cNvSpPr/>
          <p:nvPr userDrawn="1"/>
        </p:nvSpPr>
        <p:spPr bwMode="gray">
          <a:xfrm>
            <a:off x="0" y="0"/>
            <a:ext cx="9144000"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chemeClr val="tx2"/>
          </a:solidFill>
        </p:spPr>
        <p:txBody>
          <a:bodyPr wrap="square" lIns="0" tIns="0" rIns="0" bIns="0" rtlCol="0">
            <a:noAutofit/>
          </a:bodyPr>
          <a:lstStyle/>
          <a:p>
            <a:pPr eaLnBrk="1"/>
            <a:endParaRPr lang="en-CA" dirty="0">
              <a:latin typeface="Arial" panose="020B0604020202020204" pitchFamily="34" charset="0"/>
            </a:endParaRPr>
          </a:p>
        </p:txBody>
      </p:sp>
      <p:sp>
        <p:nvSpPr>
          <p:cNvPr id="6" name="Text Placeholder 6"/>
          <p:cNvSpPr>
            <a:spLocks noGrp="1"/>
          </p:cNvSpPr>
          <p:nvPr>
            <p:ph type="body" sz="quarter" idx="11"/>
          </p:nvPr>
        </p:nvSpPr>
        <p:spPr bwMode="gray">
          <a:xfrm>
            <a:off x="1995055" y="3859200"/>
            <a:ext cx="6165273" cy="672353"/>
          </a:xfrm>
          <a:prstGeom prst="rect">
            <a:avLst/>
          </a:prstGeom>
        </p:spPr>
        <p:txBody>
          <a:bodyPr vert="horz" lIns="0" tIns="0" rIns="0" bIns="0"/>
          <a:lstStyle>
            <a:lvl1pPr>
              <a:spcBef>
                <a:spcPts val="0"/>
              </a:spcBef>
              <a:spcAft>
                <a:spcPts val="0"/>
              </a:spcAft>
              <a:defRPr sz="1600" b="1" i="0">
                <a:solidFill>
                  <a:srgbClr val="FFFFFF"/>
                </a:solidFill>
                <a:latin typeface="+mn-lt"/>
                <a:cs typeface="Univers for KPMG" panose="020B0603020202020204" pitchFamily="34" charset="0"/>
              </a:defRPr>
            </a:lvl1pPr>
            <a:lvl2pPr>
              <a:defRPr>
                <a:solidFill>
                  <a:srgbClr val="FFFFFF"/>
                </a:solidFill>
              </a:defRPr>
            </a:lvl2pPr>
            <a:lvl3pPr>
              <a:defRPr>
                <a:solidFill>
                  <a:srgbClr val="FFFFFF"/>
                </a:solidFill>
              </a:defRPr>
            </a:lvl3pPr>
            <a:lvl4pPr>
              <a:defRPr>
                <a:solidFill>
                  <a:srgbClr val="FFFFFF"/>
                </a:solidFill>
              </a:defRPr>
            </a:lvl4pPr>
            <a:lvl5pPr>
              <a:defRPr>
                <a:solidFill>
                  <a:srgbClr val="FFFFFF"/>
                </a:solidFill>
              </a:defRPr>
            </a:lvl5pPr>
          </a:lstStyle>
          <a:p>
            <a:pPr lvl="0"/>
            <a:r>
              <a:rPr lang="en-US" noProof="0" smtClean="0"/>
              <a:t>Click to edit Master text styles</a:t>
            </a:r>
          </a:p>
        </p:txBody>
      </p:sp>
      <p:sp>
        <p:nvSpPr>
          <p:cNvPr id="7" name="Title 1"/>
          <p:cNvSpPr>
            <a:spLocks noGrp="1"/>
          </p:cNvSpPr>
          <p:nvPr>
            <p:ph type="title"/>
          </p:nvPr>
        </p:nvSpPr>
        <p:spPr bwMode="gray">
          <a:xfrm>
            <a:off x="1995055" y="1337703"/>
            <a:ext cx="6192982" cy="2068259"/>
          </a:xfrm>
        </p:spPr>
        <p:txBody>
          <a:bodyPr anchor="t" anchorCtr="0"/>
          <a:lstStyle>
            <a:lvl1pPr>
              <a:lnSpc>
                <a:spcPct val="70000"/>
              </a:lnSpc>
              <a:defRPr sz="9600">
                <a:solidFill>
                  <a:srgbClr val="FFFFFF"/>
                </a:solidFill>
                <a:latin typeface="KPMG Extralight" panose="020B0303030202040204" pitchFamily="34" charset="0"/>
              </a:defRPr>
            </a:lvl1pPr>
          </a:lstStyle>
          <a:p>
            <a:r>
              <a:rPr lang="en-US" noProof="0" smtClean="0"/>
              <a:t>Click to edit Master title style</a:t>
            </a:r>
            <a:endParaRPr lang="en-CA" noProof="0" dirty="0"/>
          </a:p>
        </p:txBody>
      </p:sp>
      <p:pic>
        <p:nvPicPr>
          <p:cNvPr id="8" name="Picture 4" descr="KPMG_NoCP_white_US_283_6780.eps"/>
          <p:cNvPicPr>
            <a:picLocks noChangeAspect="1"/>
          </p:cNvPicPr>
          <p:nvPr userDrawn="1"/>
        </p:nvPicPr>
        <p:blipFill rotWithShape="1">
          <a:blip r:embed="rId2" cstate="email">
            <a:extLst>
              <a:ext uri="{28A0092B-C50C-407E-A947-70E740481C1C}">
                <a14:useLocalDpi xmlns:a14="http://schemas.microsoft.com/office/drawing/2010/main"/>
              </a:ext>
            </a:extLst>
          </a:blip>
          <a:srcRect l="7816" t="22176" r="7816" b="22176"/>
          <a:stretch/>
        </p:blipFill>
        <p:spPr>
          <a:xfrm>
            <a:off x="1995055" y="612639"/>
            <a:ext cx="979460" cy="463126"/>
          </a:xfrm>
          <a:prstGeom prst="rect">
            <a:avLst/>
          </a:prstGeom>
        </p:spPr>
      </p:pic>
      <p:sp>
        <p:nvSpPr>
          <p:cNvPr id="9" name="object 3"/>
          <p:cNvSpPr/>
          <p:nvPr userDrawn="1"/>
        </p:nvSpPr>
        <p:spPr bwMode="gray">
          <a:xfrm>
            <a:off x="0" y="0"/>
            <a:ext cx="1573213"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chemeClr val="accent1"/>
          </a:solidFill>
        </p:spPr>
        <p:txBody>
          <a:bodyPr wrap="square" lIns="0" tIns="0" rIns="0" bIns="0" rtlCol="0">
            <a:noAutofit/>
          </a:bodyPr>
          <a:lstStyle/>
          <a:p>
            <a:pPr eaLnBrk="1"/>
            <a:endParaRPr lang="en-CA" dirty="0">
              <a:latin typeface="Arial" panose="020B0604020202020204" pitchFamily="34" charset="0"/>
            </a:endParaRPr>
          </a:p>
        </p:txBody>
      </p:sp>
    </p:spTree>
    <p:extLst>
      <p:ext uri="{BB962C8B-B14F-4D97-AF65-F5344CB8AC3E}">
        <p14:creationId xmlns:p14="http://schemas.microsoft.com/office/powerpoint/2010/main" val="4042218013"/>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2 Column Comparison">
    <p:spTree>
      <p:nvGrpSpPr>
        <p:cNvPr id="1" name=""/>
        <p:cNvGrpSpPr/>
        <p:nvPr/>
      </p:nvGrpSpPr>
      <p:grpSpPr>
        <a:xfrm>
          <a:off x="0" y="0"/>
          <a:ext cx="0" cy="0"/>
          <a:chOff x="0" y="0"/>
          <a:chExt cx="0" cy="0"/>
        </a:xfrm>
      </p:grpSpPr>
      <p:sp>
        <p:nvSpPr>
          <p:cNvPr id="2" name="Title 1"/>
          <p:cNvSpPr>
            <a:spLocks noGrp="1"/>
          </p:cNvSpPr>
          <p:nvPr>
            <p:ph type="title"/>
          </p:nvPr>
        </p:nvSpPr>
        <p:spPr>
          <a:xfrm>
            <a:off x="324000" y="396000"/>
            <a:ext cx="8496000" cy="470898"/>
          </a:xfrm>
        </p:spPr>
        <p:txBody>
          <a:bodyPr/>
          <a:lstStyle/>
          <a:p>
            <a:r>
              <a:rPr lang="en-US" noProof="0" smtClean="0"/>
              <a:t>Click to edit Master title style</a:t>
            </a:r>
            <a:endParaRPr lang="en-CA" noProof="0" dirty="0"/>
          </a:p>
        </p:txBody>
      </p:sp>
      <p:sp>
        <p:nvSpPr>
          <p:cNvPr id="5" name="Text Placeholder 20"/>
          <p:cNvSpPr>
            <a:spLocks noGrp="1"/>
          </p:cNvSpPr>
          <p:nvPr>
            <p:ph type="body" sz="quarter" idx="26"/>
          </p:nvPr>
        </p:nvSpPr>
        <p:spPr bwMode="gray">
          <a:xfrm>
            <a:off x="324000" y="1476000"/>
            <a:ext cx="4068000" cy="468000"/>
          </a:xfrm>
          <a:prstGeom prst="rect">
            <a:avLst/>
          </a:prstGeom>
          <a:solidFill>
            <a:schemeClr val="tx2"/>
          </a:solidFill>
          <a:ln w="12700">
            <a:noFill/>
          </a:ln>
        </p:spPr>
        <p:txBody>
          <a:bodyPr vert="horz" lIns="72000" tIns="36000" rIns="36000" bIns="36000" rtlCol="0" anchor="ctr" anchorCtr="0">
            <a:noAutofit/>
          </a:bodyPr>
          <a:lstStyle>
            <a:lvl1pPr algn="l">
              <a:lnSpc>
                <a:spcPct val="90000"/>
              </a:lnSpc>
              <a:spcBef>
                <a:spcPts val="0"/>
              </a:spcBef>
              <a:defRPr lang="en-US" sz="1200" b="1" i="0" kern="1200" noProof="0" dirty="0" smtClean="0">
                <a:solidFill>
                  <a:schemeClr val="bg1"/>
                </a:solidFill>
                <a:latin typeface="Univers for KPMG"/>
                <a:ea typeface="+mn-ea"/>
                <a:cs typeface="Univers for KPMG"/>
              </a:defRPr>
            </a:lvl1pPr>
            <a:lvl5pPr>
              <a:defRPr/>
            </a:lvl5pPr>
            <a:lvl6pPr>
              <a:defRPr baseline="0"/>
            </a:lvl6pPr>
            <a:lvl7pPr>
              <a:defRPr baseline="0"/>
            </a:lvl7pPr>
            <a:lvl8pPr>
              <a:defRPr baseline="0"/>
            </a:lvl8pPr>
          </a:lstStyle>
          <a:p>
            <a:pPr marL="0" lvl="0" indent="0" algn="l" defTabSz="820583" rtl="0" eaLnBrk="1" latinLnBrk="0" hangingPunct="1">
              <a:lnSpc>
                <a:spcPct val="100000"/>
              </a:lnSpc>
              <a:spcBef>
                <a:spcPts val="538"/>
              </a:spcBef>
              <a:buFont typeface="Arial" pitchFamily="34" charset="0"/>
              <a:buNone/>
            </a:pPr>
            <a:r>
              <a:rPr lang="en-US" noProof="0" smtClean="0"/>
              <a:t>Click to edit Master text styles</a:t>
            </a:r>
          </a:p>
        </p:txBody>
      </p:sp>
      <p:sp>
        <p:nvSpPr>
          <p:cNvPr id="6" name="Text Placeholder 20"/>
          <p:cNvSpPr>
            <a:spLocks noGrp="1"/>
          </p:cNvSpPr>
          <p:nvPr>
            <p:ph type="body" sz="quarter" idx="27"/>
          </p:nvPr>
        </p:nvSpPr>
        <p:spPr bwMode="gray">
          <a:xfrm>
            <a:off x="4720001" y="1476000"/>
            <a:ext cx="4068000" cy="468000"/>
          </a:xfrm>
          <a:prstGeom prst="rect">
            <a:avLst/>
          </a:prstGeom>
          <a:solidFill>
            <a:schemeClr val="tx2"/>
          </a:solidFill>
          <a:ln w="12700">
            <a:noFill/>
          </a:ln>
        </p:spPr>
        <p:txBody>
          <a:bodyPr vert="horz" lIns="72000" tIns="36000" rIns="36000" bIns="36000" rtlCol="0" anchor="ctr" anchorCtr="0">
            <a:noAutofit/>
          </a:bodyPr>
          <a:lstStyle>
            <a:lvl1pPr algn="l">
              <a:lnSpc>
                <a:spcPct val="90000"/>
              </a:lnSpc>
              <a:spcBef>
                <a:spcPts val="0"/>
              </a:spcBef>
              <a:defRPr lang="en-US" sz="1200" b="1" i="0" kern="1200" noProof="0" dirty="0" smtClean="0">
                <a:solidFill>
                  <a:schemeClr val="bg1"/>
                </a:solidFill>
                <a:latin typeface="Univers for KPMG"/>
                <a:ea typeface="+mn-ea"/>
                <a:cs typeface="Univers for KPMG"/>
              </a:defRPr>
            </a:lvl1pPr>
            <a:lvl5pPr>
              <a:defRPr/>
            </a:lvl5pPr>
            <a:lvl6pPr>
              <a:defRPr baseline="0"/>
            </a:lvl6pPr>
            <a:lvl7pPr>
              <a:defRPr baseline="0"/>
            </a:lvl7pPr>
            <a:lvl8pPr>
              <a:defRPr baseline="0"/>
            </a:lvl8pPr>
          </a:lstStyle>
          <a:p>
            <a:pPr marL="0" lvl="0" indent="0" algn="l" defTabSz="820583" rtl="0" eaLnBrk="1" latinLnBrk="0" hangingPunct="1">
              <a:lnSpc>
                <a:spcPct val="100000"/>
              </a:lnSpc>
              <a:spcBef>
                <a:spcPts val="538"/>
              </a:spcBef>
              <a:buFont typeface="Arial" pitchFamily="34" charset="0"/>
              <a:buNone/>
            </a:pPr>
            <a:r>
              <a:rPr lang="en-US" noProof="0" smtClean="0"/>
              <a:t>Click to edit Master text styles</a:t>
            </a:r>
          </a:p>
        </p:txBody>
      </p:sp>
      <p:sp>
        <p:nvSpPr>
          <p:cNvPr id="8" name="Text Placeholder 7"/>
          <p:cNvSpPr>
            <a:spLocks noGrp="1"/>
          </p:cNvSpPr>
          <p:nvPr>
            <p:ph type="body" sz="quarter" idx="15"/>
          </p:nvPr>
        </p:nvSpPr>
        <p:spPr>
          <a:xfrm>
            <a:off x="323999" y="2008261"/>
            <a:ext cx="4068000" cy="4178893"/>
          </a:xfrm>
          <a:prstGeom prst="rect">
            <a:avLst/>
          </a:prstGeom>
        </p:spPr>
        <p:txBody>
          <a:bodyPr vert="horz" lIns="72000" tIns="72000" rIns="72000" bIns="72000"/>
          <a:lstStyle>
            <a:lvl1pPr>
              <a:spcBef>
                <a:spcPts val="600"/>
              </a:spcBef>
              <a:defRPr b="1" i="0">
                <a:solidFill>
                  <a:srgbClr val="00338D"/>
                </a:solidFill>
                <a:latin typeface="Univers for KPMG" panose="020B0603020202020204" pitchFamily="34" charset="0"/>
                <a:cs typeface="Univers for KPMG" panose="020B0603020202020204" pitchFamily="34" charset="0"/>
              </a:defRPr>
            </a:lvl1pPr>
            <a:lvl2pPr marL="0" indent="0">
              <a:buFontTx/>
              <a:buNone/>
              <a:defRPr>
                <a:solidFill>
                  <a:srgbClr val="00338D"/>
                </a:solidFill>
                <a:latin typeface="+mn-lt"/>
                <a:cs typeface="Univers for KPMG Light"/>
              </a:defRPr>
            </a:lvl2pPr>
            <a:lvl3pPr marL="270000" indent="-270000">
              <a:spcBef>
                <a:spcPts val="300"/>
              </a:spcBef>
              <a:buFont typeface="Univers for KPMG Light" panose="020B0403020202020204" pitchFamily="34" charset="0"/>
              <a:buChar char="—"/>
              <a:defRPr>
                <a:solidFill>
                  <a:srgbClr val="00338D"/>
                </a:solidFill>
                <a:latin typeface="+mn-lt"/>
                <a:cs typeface="Univers for KPMG Light"/>
              </a:defRPr>
            </a:lvl3pPr>
            <a:lvl4pPr marL="630000" indent="-270000">
              <a:spcBef>
                <a:spcPts val="200"/>
              </a:spcBef>
              <a:buFont typeface="Univers for KPMG Light" panose="020B0403020202020204" pitchFamily="34" charset="0"/>
              <a:buChar char="—"/>
              <a:defRPr>
                <a:solidFill>
                  <a:srgbClr val="00338D"/>
                </a:solidFill>
                <a:latin typeface="+mn-lt"/>
                <a:cs typeface="Univers for KPMG Light"/>
              </a:defRPr>
            </a:lvl4pPr>
            <a:lvl5pPr>
              <a:spcBef>
                <a:spcPts val="200"/>
              </a:spcBef>
              <a:defRPr lang="en-US" sz="900" b="0" i="0" dirty="0" smtClean="0">
                <a:solidFill>
                  <a:srgbClr val="00338D"/>
                </a:solidFill>
                <a:latin typeface="+mn-lt"/>
                <a:cs typeface="Univers for KPMG Light"/>
              </a:defRPr>
            </a:lvl5p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CA" noProof="0" dirty="0" smtClean="0"/>
          </a:p>
        </p:txBody>
      </p:sp>
      <p:sp>
        <p:nvSpPr>
          <p:cNvPr id="9" name="Text Placeholder 7"/>
          <p:cNvSpPr>
            <a:spLocks noGrp="1"/>
          </p:cNvSpPr>
          <p:nvPr>
            <p:ph type="body" sz="quarter" idx="28"/>
          </p:nvPr>
        </p:nvSpPr>
        <p:spPr>
          <a:xfrm>
            <a:off x="4720001" y="2008261"/>
            <a:ext cx="4068000" cy="4178893"/>
          </a:xfrm>
          <a:prstGeom prst="rect">
            <a:avLst/>
          </a:prstGeom>
        </p:spPr>
        <p:txBody>
          <a:bodyPr vert="horz" lIns="72000" tIns="72000" rIns="72000" bIns="72000"/>
          <a:lstStyle>
            <a:lvl1pPr>
              <a:spcBef>
                <a:spcPts val="600"/>
              </a:spcBef>
              <a:defRPr b="1" i="0">
                <a:solidFill>
                  <a:srgbClr val="00338D"/>
                </a:solidFill>
                <a:latin typeface="Univers for KPMG" panose="020B0603020202020204" pitchFamily="34" charset="0"/>
                <a:cs typeface="Univers for KPMG" panose="020B0603020202020204" pitchFamily="34" charset="0"/>
              </a:defRPr>
            </a:lvl1pPr>
            <a:lvl2pPr marL="0" indent="0">
              <a:buFontTx/>
              <a:buNone/>
              <a:defRPr>
                <a:solidFill>
                  <a:srgbClr val="00338D"/>
                </a:solidFill>
                <a:latin typeface="+mn-lt"/>
                <a:cs typeface="Univers for KPMG Light"/>
              </a:defRPr>
            </a:lvl2pPr>
            <a:lvl3pPr marL="270000" indent="-270000">
              <a:spcBef>
                <a:spcPts val="300"/>
              </a:spcBef>
              <a:buFont typeface="Univers for KPMG Light" panose="020B0403020202020204" pitchFamily="34" charset="0"/>
              <a:buChar char="—"/>
              <a:defRPr>
                <a:solidFill>
                  <a:srgbClr val="00338D"/>
                </a:solidFill>
                <a:latin typeface="+mn-lt"/>
                <a:cs typeface="Univers for KPMG Light"/>
              </a:defRPr>
            </a:lvl3pPr>
            <a:lvl4pPr marL="630000" indent="-270000">
              <a:spcBef>
                <a:spcPts val="200"/>
              </a:spcBef>
              <a:buFont typeface="Univers for KPMG Light" panose="020B0403020202020204" pitchFamily="34" charset="0"/>
              <a:buChar char="—"/>
              <a:defRPr>
                <a:solidFill>
                  <a:srgbClr val="00338D"/>
                </a:solidFill>
                <a:latin typeface="+mn-lt"/>
                <a:cs typeface="Univers for KPMG Light"/>
              </a:defRPr>
            </a:lvl4pPr>
            <a:lvl5pPr>
              <a:spcBef>
                <a:spcPts val="200"/>
              </a:spcBef>
              <a:defRPr lang="en-US" sz="900" b="0" i="0" dirty="0" smtClean="0">
                <a:solidFill>
                  <a:srgbClr val="00338D"/>
                </a:solidFill>
                <a:latin typeface="+mn-lt"/>
                <a:cs typeface="Univers for KPMG Light"/>
              </a:defRPr>
            </a:lvl5p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CA" noProof="0" dirty="0" smtClean="0"/>
          </a:p>
        </p:txBody>
      </p:sp>
    </p:spTree>
    <p:extLst>
      <p:ext uri="{BB962C8B-B14F-4D97-AF65-F5344CB8AC3E}">
        <p14:creationId xmlns:p14="http://schemas.microsoft.com/office/powerpoint/2010/main" val="3464930580"/>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KEY MESSAGE TWO COLUMN TEXT">
    <p:spTree>
      <p:nvGrpSpPr>
        <p:cNvPr id="1" name=""/>
        <p:cNvGrpSpPr/>
        <p:nvPr/>
      </p:nvGrpSpPr>
      <p:grpSpPr>
        <a:xfrm>
          <a:off x="0" y="0"/>
          <a:ext cx="0" cy="0"/>
          <a:chOff x="0" y="0"/>
          <a:chExt cx="0" cy="0"/>
        </a:xfrm>
      </p:grpSpPr>
      <p:sp>
        <p:nvSpPr>
          <p:cNvPr id="9" name="Text Placeholder 8"/>
          <p:cNvSpPr>
            <a:spLocks noGrp="1"/>
          </p:cNvSpPr>
          <p:nvPr>
            <p:ph type="body" sz="quarter" idx="10"/>
          </p:nvPr>
        </p:nvSpPr>
        <p:spPr>
          <a:xfrm>
            <a:off x="434340" y="1426659"/>
            <a:ext cx="1508760" cy="4594225"/>
          </a:xfrm>
          <a:solidFill>
            <a:schemeClr val="accent1"/>
          </a:solidFill>
          <a:ln>
            <a:solidFill>
              <a:schemeClr val="accent1"/>
            </a:solidFill>
          </a:ln>
        </p:spPr>
        <p:txBody>
          <a:bodyPr lIns="54000" tIns="54000" rIns="54000" bIns="54000" anchor="t" anchorCtr="0"/>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dirty="0"/>
          </a:p>
        </p:txBody>
      </p:sp>
      <p:sp>
        <p:nvSpPr>
          <p:cNvPr id="5" name="Text Placeholder 8"/>
          <p:cNvSpPr>
            <a:spLocks noGrp="1"/>
          </p:cNvSpPr>
          <p:nvPr>
            <p:ph type="body" sz="quarter" idx="11"/>
          </p:nvPr>
        </p:nvSpPr>
        <p:spPr>
          <a:xfrm>
            <a:off x="2099178" y="1426659"/>
            <a:ext cx="3244347" cy="4594225"/>
          </a:xfrm>
          <a:ln>
            <a:solidFill>
              <a:schemeClr val="accent1"/>
            </a:solidFill>
          </a:ln>
        </p:spPr>
        <p:txBody>
          <a:bodyPr lIns="54000" tIns="54000" rIns="54000" bIns="54000" anchor="t" anchorCtr="0"/>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CA" dirty="0"/>
          </a:p>
        </p:txBody>
      </p:sp>
      <p:sp>
        <p:nvSpPr>
          <p:cNvPr id="6" name="Text Placeholder 8"/>
          <p:cNvSpPr>
            <a:spLocks noGrp="1"/>
          </p:cNvSpPr>
          <p:nvPr>
            <p:ph type="body" sz="quarter" idx="12"/>
          </p:nvPr>
        </p:nvSpPr>
        <p:spPr>
          <a:xfrm>
            <a:off x="5465763" y="1426659"/>
            <a:ext cx="3246437" cy="4594225"/>
          </a:xfrm>
          <a:ln>
            <a:solidFill>
              <a:schemeClr val="accent1"/>
            </a:solidFill>
          </a:ln>
        </p:spPr>
        <p:txBody>
          <a:bodyPr lIns="54000" tIns="54000" rIns="54000" bIns="54000" anchor="t" anchorCtr="0"/>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CA" dirty="0"/>
          </a:p>
        </p:txBody>
      </p:sp>
      <p:sp>
        <p:nvSpPr>
          <p:cNvPr id="3" name="Title 2"/>
          <p:cNvSpPr>
            <a:spLocks noGrp="1"/>
          </p:cNvSpPr>
          <p:nvPr>
            <p:ph type="title"/>
          </p:nvPr>
        </p:nvSpPr>
        <p:spPr/>
        <p:txBody>
          <a:bodyPr/>
          <a:lstStyle/>
          <a:p>
            <a:r>
              <a:rPr lang="en-US" smtClean="0"/>
              <a:t>Click to edit Master title style</a:t>
            </a:r>
            <a:endParaRPr lang="en-CA" dirty="0"/>
          </a:p>
        </p:txBody>
      </p:sp>
      <p:sp>
        <p:nvSpPr>
          <p:cNvPr id="7" name="Text Placeholder 4"/>
          <p:cNvSpPr>
            <a:spLocks noGrp="1"/>
          </p:cNvSpPr>
          <p:nvPr>
            <p:ph type="body" sz="quarter" idx="13" hasCustomPrompt="1"/>
          </p:nvPr>
        </p:nvSpPr>
        <p:spPr>
          <a:xfrm>
            <a:off x="431800" y="227993"/>
            <a:ext cx="8284464" cy="169200"/>
          </a:xfrm>
        </p:spPr>
        <p:txBody>
          <a:bodyPr anchor="b"/>
          <a:lstStyle>
            <a:lvl1pPr>
              <a:spcAft>
                <a:spcPts val="0"/>
              </a:spcAft>
              <a:defRPr sz="1200"/>
            </a:lvl1pPr>
          </a:lstStyle>
          <a:p>
            <a:pPr lvl="0"/>
            <a:r>
              <a:rPr lang="en-CA" dirty="0" smtClean="0"/>
              <a:t>Super title here</a:t>
            </a:r>
          </a:p>
        </p:txBody>
      </p:sp>
    </p:spTree>
    <p:extLst>
      <p:ext uri="{BB962C8B-B14F-4D97-AF65-F5344CB8AC3E}">
        <p14:creationId xmlns:p14="http://schemas.microsoft.com/office/powerpoint/2010/main" val="3787051076"/>
      </p:ext>
    </p:extLst>
  </p:cSld>
  <p:clrMapOvr>
    <a:masterClrMapping/>
  </p:clrMapOvr>
  <p:timing>
    <p:tnLst>
      <p:par>
        <p:cTn id="1" dur="indefinite" restart="never" nodeType="tmRoot"/>
      </p:par>
    </p:tnLst>
  </p:timing>
  <p:extLst mod="1">
    <p:ext uri="{DCECCB84-F9BA-43D5-87BE-67443E8EF086}">
      <p15:sldGuideLst xmlns:p15="http://schemas.microsoft.com/office/powerpoint/2012/main">
        <p15:guide id="1" pos="1224">
          <p15:clr>
            <a:srgbClr val="FBAE40"/>
          </p15:clr>
        </p15:guide>
        <p15:guide id="2" pos="1320">
          <p15:clr>
            <a:srgbClr val="FBAE40"/>
          </p15:clr>
        </p15:guide>
        <p15:guide id="3" pos="3443">
          <p15:clr>
            <a:srgbClr val="FBAE40"/>
          </p15:clr>
        </p15:guide>
        <p15:guide id="4" pos="3366">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Title &amp; Text">
    <p:spTree>
      <p:nvGrpSpPr>
        <p:cNvPr id="1" name=""/>
        <p:cNvGrpSpPr/>
        <p:nvPr/>
      </p:nvGrpSpPr>
      <p:grpSpPr>
        <a:xfrm>
          <a:off x="0" y="0"/>
          <a:ext cx="0" cy="0"/>
          <a:chOff x="0" y="0"/>
          <a:chExt cx="0" cy="0"/>
        </a:xfrm>
      </p:grpSpPr>
      <p:sp>
        <p:nvSpPr>
          <p:cNvPr id="2" name="Titre 1"/>
          <p:cNvSpPr>
            <a:spLocks noGrp="1"/>
          </p:cNvSpPr>
          <p:nvPr>
            <p:ph type="title"/>
          </p:nvPr>
        </p:nvSpPr>
        <p:spPr>
          <a:xfrm>
            <a:off x="324000" y="396000"/>
            <a:ext cx="8496000" cy="470898"/>
          </a:xfrm>
        </p:spPr>
        <p:txBody>
          <a:bodyPr/>
          <a:lstStyle/>
          <a:p>
            <a:r>
              <a:rPr lang="en-US" noProof="0" dirty="0" smtClean="0"/>
              <a:t>Click to edit Master title style</a:t>
            </a:r>
            <a:endParaRPr lang="en-CA" noProof="0" dirty="0"/>
          </a:p>
        </p:txBody>
      </p:sp>
      <p:sp>
        <p:nvSpPr>
          <p:cNvPr id="5" name="Espace réservé du texte 4"/>
          <p:cNvSpPr>
            <a:spLocks noGrp="1"/>
          </p:cNvSpPr>
          <p:nvPr>
            <p:ph type="body" sz="quarter" idx="11"/>
          </p:nvPr>
        </p:nvSpPr>
        <p:spPr>
          <a:xfrm>
            <a:off x="324000" y="1476000"/>
            <a:ext cx="8496000" cy="4644000"/>
          </a:xfrm>
        </p:spPr>
        <p:txBody>
          <a:bodyPr/>
          <a:lstStyle>
            <a:lvl3pPr marL="270000" indent="-270000">
              <a:spcBef>
                <a:spcPts val="300"/>
              </a:spcBef>
              <a:buFont typeface="Univers for KPMG Light" panose="020B0403020202020204" pitchFamily="34" charset="0"/>
              <a:buChar char="—"/>
              <a:defRPr/>
            </a:lvl3pPr>
            <a:lvl4pPr>
              <a:spcBef>
                <a:spcPts val="200"/>
              </a:spcBef>
              <a:defRPr/>
            </a:lvl4pPr>
            <a:lvl5pPr marL="990000" indent="-270000">
              <a:spcBef>
                <a:spcPts val="200"/>
              </a:spcBef>
              <a:buFont typeface="Univers for KPMG Light" panose="020B0403020202020204" pitchFamily="34" charset="0"/>
              <a:buChar char="—"/>
              <a:defRPr/>
            </a:lvl5p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CA" noProof="0" dirty="0"/>
          </a:p>
        </p:txBody>
      </p:sp>
    </p:spTree>
    <p:extLst>
      <p:ext uri="{BB962C8B-B14F-4D97-AF65-F5344CB8AC3E}">
        <p14:creationId xmlns:p14="http://schemas.microsoft.com/office/powerpoint/2010/main" val="1512894857"/>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userDrawn="1">
  <p:cSld name="Cover Letter ">
    <p:spTree>
      <p:nvGrpSpPr>
        <p:cNvPr id="1" name=""/>
        <p:cNvGrpSpPr/>
        <p:nvPr/>
      </p:nvGrpSpPr>
      <p:grpSpPr>
        <a:xfrm>
          <a:off x="0" y="0"/>
          <a:ext cx="0" cy="0"/>
          <a:chOff x="0" y="0"/>
          <a:chExt cx="0" cy="0"/>
        </a:xfrm>
      </p:grpSpPr>
      <p:graphicFrame>
        <p:nvGraphicFramePr>
          <p:cNvPr id="10" name="Objet 9"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313799" name="Diapositive think-cell" r:id="rId4" imgW="270" imgH="270" progId="TCLayout.ActiveDocument.1">
                  <p:embed/>
                </p:oleObj>
              </mc:Choice>
              <mc:Fallback>
                <p:oleObj name="Diapositive think-cell"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12" name="Espace réservé du texte 11"/>
          <p:cNvSpPr>
            <a:spLocks noGrp="1"/>
          </p:cNvSpPr>
          <p:nvPr>
            <p:ph type="body" sz="quarter" idx="18"/>
          </p:nvPr>
        </p:nvSpPr>
        <p:spPr>
          <a:xfrm>
            <a:off x="4752000" y="381600"/>
            <a:ext cx="4068000" cy="704088"/>
          </a:xfrm>
        </p:spPr>
        <p:txBody>
          <a:bodyPr/>
          <a:lstStyle>
            <a:lvl1pPr>
              <a:defRPr sz="800">
                <a:latin typeface="+mn-lt"/>
              </a:defRPr>
            </a:lvl1pPr>
            <a:lvl2pPr>
              <a:spcBef>
                <a:spcPts val="0"/>
              </a:spcBef>
              <a:defRPr sz="800">
                <a:latin typeface="+mn-lt"/>
              </a:defRPr>
            </a:lvl2pPr>
            <a:lvl3pPr>
              <a:spcBef>
                <a:spcPts val="0"/>
              </a:spcBef>
              <a:defRPr sz="800">
                <a:latin typeface="+mn-lt"/>
              </a:defRPr>
            </a:lvl3pPr>
            <a:lvl4pPr>
              <a:spcBef>
                <a:spcPts val="0"/>
              </a:spcBef>
              <a:defRPr sz="800">
                <a:latin typeface="+mn-lt"/>
              </a:defRPr>
            </a:lvl4pPr>
            <a:lvl5pPr>
              <a:spcBef>
                <a:spcPts val="0"/>
              </a:spcBef>
              <a:defRPr sz="800">
                <a:latin typeface="+mn-lt"/>
              </a:defRPr>
            </a:lvl5pPr>
          </a:lstStyle>
          <a:p>
            <a:pPr lvl="0"/>
            <a:r>
              <a:rPr lang="en-US" noProof="0" smtClean="0"/>
              <a:t>Click to edit Master text styles</a:t>
            </a:r>
          </a:p>
          <a:p>
            <a:pPr lvl="1"/>
            <a:r>
              <a:rPr lang="en-US" noProof="0" smtClean="0"/>
              <a:t>Second level</a:t>
            </a:r>
          </a:p>
        </p:txBody>
      </p:sp>
      <p:sp>
        <p:nvSpPr>
          <p:cNvPr id="9" name="Espace réservé du texte 8"/>
          <p:cNvSpPr>
            <a:spLocks noGrp="1"/>
          </p:cNvSpPr>
          <p:nvPr>
            <p:ph type="body" sz="quarter" idx="17"/>
          </p:nvPr>
        </p:nvSpPr>
        <p:spPr>
          <a:xfrm>
            <a:off x="324000" y="381600"/>
            <a:ext cx="4068000" cy="704088"/>
          </a:xfrm>
        </p:spPr>
        <p:txBody>
          <a:bodyPr/>
          <a:lstStyle>
            <a:lvl1pPr>
              <a:spcBef>
                <a:spcPts val="0"/>
              </a:spcBef>
              <a:defRPr sz="800">
                <a:latin typeface="+mn-lt"/>
              </a:defRPr>
            </a:lvl1pPr>
            <a:lvl2pPr>
              <a:spcBef>
                <a:spcPts val="0"/>
              </a:spcBef>
              <a:defRPr sz="800">
                <a:latin typeface="+mn-lt"/>
              </a:defRPr>
            </a:lvl2pPr>
            <a:lvl3pPr>
              <a:spcBef>
                <a:spcPts val="0"/>
              </a:spcBef>
              <a:defRPr sz="800">
                <a:latin typeface="+mn-lt"/>
              </a:defRPr>
            </a:lvl3pPr>
            <a:lvl4pPr>
              <a:spcBef>
                <a:spcPts val="0"/>
              </a:spcBef>
              <a:defRPr sz="800">
                <a:latin typeface="+mn-lt"/>
              </a:defRPr>
            </a:lvl4pPr>
            <a:lvl5pPr>
              <a:spcBef>
                <a:spcPts val="0"/>
              </a:spcBef>
              <a:defRPr sz="800">
                <a:latin typeface="+mn-lt"/>
              </a:defRPr>
            </a:lvl5pPr>
          </a:lstStyle>
          <a:p>
            <a:pPr lvl="0"/>
            <a:r>
              <a:rPr lang="en-US" noProof="0" smtClean="0"/>
              <a:t>Click to edit Master text styles</a:t>
            </a:r>
          </a:p>
          <a:p>
            <a:pPr lvl="1"/>
            <a:r>
              <a:rPr lang="en-US" noProof="0" smtClean="0"/>
              <a:t>Second level</a:t>
            </a:r>
          </a:p>
        </p:txBody>
      </p:sp>
      <p:sp>
        <p:nvSpPr>
          <p:cNvPr id="17" name="Shape 36"/>
          <p:cNvSpPr/>
          <p:nvPr userDrawn="1"/>
        </p:nvSpPr>
        <p:spPr bwMode="gray">
          <a:xfrm>
            <a:off x="1196411" y="6419968"/>
            <a:ext cx="7194212" cy="184666"/>
          </a:xfrm>
          <a:prstGeom prst="rect">
            <a:avLst/>
          </a:prstGeom>
          <a:ln w="12700">
            <a:miter lim="400000"/>
          </a:ln>
          <a:extLst>
            <a:ext uri="{C572A759-6A51-4108-AA02-DFA0A04FC94B}">
              <ma14:wrappingTextBoxFlag xmlns="" xmlns:ma14="http://schemas.microsoft.com/office/mac/drawingml/2011/main" val="1"/>
            </a:ext>
          </a:extLst>
        </p:spPr>
        <p:txBody>
          <a:bodyPr wrap="square" lIns="0" tIns="0" rIns="0" bIns="0" anchor="ctr" anchorCtr="0">
            <a:spAutoFit/>
          </a:bodyPr>
          <a:lstStyle>
            <a:lvl1pPr defTabSz="914400">
              <a:defRPr sz="800">
                <a:solidFill>
                  <a:srgbClr val="004C97"/>
                </a:solidFill>
                <a:latin typeface="Univers for KPMG"/>
                <a:ea typeface="Univers for KPMG"/>
                <a:cs typeface="Univers for KPMG"/>
                <a:sym typeface="Univers for KPMG"/>
              </a:defRPr>
            </a:lvl1pPr>
          </a:lstStyle>
          <a:p>
            <a:pPr lvl="0">
              <a:defRPr sz="1800">
                <a:solidFill>
                  <a:srgbClr val="000000"/>
                </a:solidFill>
              </a:defRPr>
            </a:pPr>
            <a:r>
              <a:rPr lang="en-CA" sz="600" dirty="0" smtClean="0">
                <a:solidFill>
                  <a:schemeClr val="bg1">
                    <a:lumMod val="65000"/>
                  </a:schemeClr>
                </a:solidFill>
                <a:latin typeface="+mn-lt"/>
                <a:ea typeface="Univers for KPMG Light"/>
                <a:cs typeface="Arial" panose="020B0604020202020204" pitchFamily="34" charset="0"/>
              </a:rPr>
              <a:t>© 2018 KPMG LLP, a Canadian limited liability partnership and a member firm of the KPMG network of independent member firms affiliated with KPMG International Cooperative (“KPMG International”), a Swiss entity. All rights reserved. The KPMG name and logo are registered trademarks or trademarks of KPMG International.</a:t>
            </a:r>
            <a:endParaRPr lang="en-CA" sz="600" dirty="0">
              <a:solidFill>
                <a:schemeClr val="bg1">
                  <a:lumMod val="65000"/>
                </a:schemeClr>
              </a:solidFill>
              <a:latin typeface="+mn-lt"/>
              <a:ea typeface="Univers for KPMG Light"/>
              <a:cs typeface="Arial" panose="020B0604020202020204" pitchFamily="34" charset="0"/>
            </a:endParaRPr>
          </a:p>
        </p:txBody>
      </p:sp>
      <p:sp>
        <p:nvSpPr>
          <p:cNvPr id="19" name="Rectangle 5"/>
          <p:cNvSpPr>
            <a:spLocks noChangeArrowheads="1"/>
          </p:cNvSpPr>
          <p:nvPr userDrawn="1"/>
        </p:nvSpPr>
        <p:spPr bwMode="gray">
          <a:xfrm>
            <a:off x="8390623" y="6438868"/>
            <a:ext cx="429377"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r">
              <a:spcBef>
                <a:spcPct val="0"/>
              </a:spcBef>
            </a:pPr>
            <a:fld id="{265D3556-F56D-4236-A1D8-043C81B3544D}" type="slidenum">
              <a:rPr lang="en-CA" sz="900" i="0" smtClean="0">
                <a:solidFill>
                  <a:schemeClr val="tx2"/>
                </a:solidFill>
                <a:latin typeface="+mn-lt"/>
                <a:cs typeface="Arial" panose="020B0604020202020204" pitchFamily="34" charset="0"/>
              </a:rPr>
              <a:pPr algn="r">
                <a:spcBef>
                  <a:spcPct val="0"/>
                </a:spcBef>
              </a:pPr>
              <a:t>‹#›</a:t>
            </a:fld>
            <a:endParaRPr lang="en-CA" sz="900" i="0" dirty="0">
              <a:solidFill>
                <a:schemeClr val="tx2"/>
              </a:solidFill>
              <a:latin typeface="+mn-lt"/>
              <a:cs typeface="Arial" panose="020B0604020202020204" pitchFamily="34" charset="0"/>
            </a:endParaRPr>
          </a:p>
        </p:txBody>
      </p:sp>
      <p:sp>
        <p:nvSpPr>
          <p:cNvPr id="3" name="Espace réservé du texte 2"/>
          <p:cNvSpPr>
            <a:spLocks noGrp="1"/>
          </p:cNvSpPr>
          <p:nvPr>
            <p:ph type="body" sz="quarter" idx="15"/>
          </p:nvPr>
        </p:nvSpPr>
        <p:spPr>
          <a:xfrm>
            <a:off x="324000" y="1332000"/>
            <a:ext cx="4068000" cy="4770000"/>
          </a:xfrm>
        </p:spPr>
        <p:txBody>
          <a:bodyPr/>
          <a:lstStyle>
            <a:lvl1pPr>
              <a:defRPr sz="900"/>
            </a:lvl1pPr>
            <a:lvl2pPr>
              <a:spcBef>
                <a:spcPts val="0"/>
              </a:spcBef>
              <a:defRPr sz="800"/>
            </a:lvl2pPr>
            <a:lvl3pPr marL="179388" indent="-179388">
              <a:spcBef>
                <a:spcPts val="200"/>
              </a:spcBef>
              <a:defRPr sz="800"/>
            </a:lvl3pPr>
            <a:lvl4pPr marL="450000" indent="-179388">
              <a:spcBef>
                <a:spcPts val="200"/>
              </a:spcBef>
              <a:defRPr sz="800"/>
            </a:lvl4pPr>
            <a:lvl5pPr marL="720000" indent="-179388">
              <a:spcBef>
                <a:spcPts val="200"/>
              </a:spcBef>
              <a:defRPr sz="800"/>
            </a:lvl5p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CA" noProof="0" dirty="0"/>
          </a:p>
        </p:txBody>
      </p:sp>
      <p:sp>
        <p:nvSpPr>
          <p:cNvPr id="7" name="Espace réservé du texte 6"/>
          <p:cNvSpPr>
            <a:spLocks noGrp="1"/>
          </p:cNvSpPr>
          <p:nvPr>
            <p:ph type="body" sz="quarter" idx="16"/>
          </p:nvPr>
        </p:nvSpPr>
        <p:spPr>
          <a:xfrm>
            <a:off x="4752000" y="1332000"/>
            <a:ext cx="4068000" cy="4770000"/>
          </a:xfrm>
          <a:solidFill>
            <a:schemeClr val="bg1"/>
          </a:solidFill>
          <a:ln w="9525">
            <a:solidFill>
              <a:schemeClr val="tx2"/>
            </a:solidFill>
          </a:ln>
          <a:effectLst>
            <a:innerShdw dist="114300" dir="10800000">
              <a:schemeClr val="tx2"/>
            </a:innerShdw>
          </a:effectLst>
        </p:spPr>
        <p:txBody>
          <a:bodyPr lIns="180000" tIns="36000" rIns="36000" bIns="36000"/>
          <a:lstStyle>
            <a:lvl1pPr>
              <a:defRPr sz="900"/>
            </a:lvl1pPr>
            <a:lvl2pPr>
              <a:spcBef>
                <a:spcPts val="0"/>
              </a:spcBef>
              <a:defRPr sz="800"/>
            </a:lvl2pPr>
            <a:lvl3pPr marL="179388" indent="-179388">
              <a:spcBef>
                <a:spcPts val="200"/>
              </a:spcBef>
              <a:defRPr sz="800"/>
            </a:lvl3pPr>
            <a:lvl4pPr marL="450000" indent="-179388">
              <a:spcBef>
                <a:spcPts val="200"/>
              </a:spcBef>
              <a:defRPr sz="800"/>
            </a:lvl4pPr>
            <a:lvl5pPr marL="720000" indent="-179388">
              <a:spcBef>
                <a:spcPts val="200"/>
              </a:spcBef>
              <a:defRPr sz="800"/>
            </a:lvl5p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CA" noProof="0" dirty="0"/>
          </a:p>
        </p:txBody>
      </p:sp>
      <p:sp>
        <p:nvSpPr>
          <p:cNvPr id="21" name="Freeform 228"/>
          <p:cNvSpPr>
            <a:spLocks noEditPoints="1"/>
          </p:cNvSpPr>
          <p:nvPr userDrawn="1"/>
        </p:nvSpPr>
        <p:spPr bwMode="auto">
          <a:xfrm>
            <a:off x="349382" y="6416154"/>
            <a:ext cx="480286" cy="193652"/>
          </a:xfrm>
          <a:custGeom>
            <a:avLst/>
            <a:gdLst>
              <a:gd name="T0" fmla="*/ 1076 w 1134"/>
              <a:gd name="T1" fmla="*/ 308 h 455"/>
              <a:gd name="T2" fmla="*/ 891 w 1134"/>
              <a:gd name="T3" fmla="*/ 347 h 455"/>
              <a:gd name="T4" fmla="*/ 980 w 1134"/>
              <a:gd name="T5" fmla="*/ 241 h 455"/>
              <a:gd name="T6" fmla="*/ 1079 w 1134"/>
              <a:gd name="T7" fmla="*/ 223 h 455"/>
              <a:gd name="T8" fmla="*/ 891 w 1134"/>
              <a:gd name="T9" fmla="*/ 9 h 455"/>
              <a:gd name="T10" fmla="*/ 987 w 1134"/>
              <a:gd name="T11" fmla="*/ 404 h 455"/>
              <a:gd name="T12" fmla="*/ 999 w 1134"/>
              <a:gd name="T13" fmla="*/ 356 h 455"/>
              <a:gd name="T14" fmla="*/ 852 w 1134"/>
              <a:gd name="T15" fmla="*/ 259 h 455"/>
              <a:gd name="T16" fmla="*/ 783 w 1134"/>
              <a:gd name="T17" fmla="*/ 347 h 455"/>
              <a:gd name="T18" fmla="*/ 625 w 1134"/>
              <a:gd name="T19" fmla="*/ 347 h 455"/>
              <a:gd name="T20" fmla="*/ 852 w 1134"/>
              <a:gd name="T21" fmla="*/ 9 h 455"/>
              <a:gd name="T22" fmla="*/ 687 w 1134"/>
              <a:gd name="T23" fmla="*/ 347 h 455"/>
              <a:gd name="T24" fmla="*/ 580 w 1134"/>
              <a:gd name="T25" fmla="*/ 207 h 455"/>
              <a:gd name="T26" fmla="*/ 419 w 1134"/>
              <a:gd name="T27" fmla="*/ 347 h 455"/>
              <a:gd name="T28" fmla="*/ 393 w 1134"/>
              <a:gd name="T29" fmla="*/ 207 h 455"/>
              <a:gd name="T30" fmla="*/ 580 w 1134"/>
              <a:gd name="T31" fmla="*/ 9 h 455"/>
              <a:gd name="T32" fmla="*/ 567 w 1134"/>
              <a:gd name="T33" fmla="*/ 259 h 455"/>
              <a:gd name="T34" fmla="*/ 372 w 1134"/>
              <a:gd name="T35" fmla="*/ 313 h 455"/>
              <a:gd name="T36" fmla="*/ 356 w 1134"/>
              <a:gd name="T37" fmla="*/ 314 h 455"/>
              <a:gd name="T38" fmla="*/ 352 w 1134"/>
              <a:gd name="T39" fmla="*/ 275 h 455"/>
              <a:gd name="T40" fmla="*/ 381 w 1134"/>
              <a:gd name="T41" fmla="*/ 246 h 455"/>
              <a:gd name="T42" fmla="*/ 372 w 1134"/>
              <a:gd name="T43" fmla="*/ 313 h 455"/>
              <a:gd name="T44" fmla="*/ 270 w 1134"/>
              <a:gd name="T45" fmla="*/ 343 h 455"/>
              <a:gd name="T46" fmla="*/ 150 w 1134"/>
              <a:gd name="T47" fmla="*/ 329 h 455"/>
              <a:gd name="T48" fmla="*/ 100 w 1134"/>
              <a:gd name="T49" fmla="*/ 307 h 455"/>
              <a:gd name="T50" fmla="*/ 74 w 1134"/>
              <a:gd name="T51" fmla="*/ 9 h 455"/>
              <a:gd name="T52" fmla="*/ 882 w 1134"/>
              <a:gd name="T53" fmla="*/ 0 h 455"/>
              <a:gd name="T54" fmla="*/ 861 w 1134"/>
              <a:gd name="T55" fmla="*/ 0 h 455"/>
              <a:gd name="T56" fmla="*/ 589 w 1134"/>
              <a:gd name="T57" fmla="*/ 207 h 455"/>
              <a:gd name="T58" fmla="*/ 337 w 1134"/>
              <a:gd name="T59" fmla="*/ 207 h 455"/>
              <a:gd name="T60" fmla="*/ 65 w 1134"/>
              <a:gd name="T61" fmla="*/ 0 h 455"/>
              <a:gd name="T62" fmla="*/ 57 w 1134"/>
              <a:gd name="T63" fmla="*/ 450 h 455"/>
              <a:gd name="T64" fmla="*/ 140 w 1134"/>
              <a:gd name="T65" fmla="*/ 450 h 455"/>
              <a:gd name="T66" fmla="*/ 266 w 1134"/>
              <a:gd name="T67" fmla="*/ 356 h 455"/>
              <a:gd name="T68" fmla="*/ 327 w 1134"/>
              <a:gd name="T69" fmla="*/ 356 h 455"/>
              <a:gd name="T70" fmla="*/ 360 w 1134"/>
              <a:gd name="T71" fmla="*/ 356 h 455"/>
              <a:gd name="T72" fmla="*/ 451 w 1134"/>
              <a:gd name="T73" fmla="*/ 450 h 455"/>
              <a:gd name="T74" fmla="*/ 568 w 1134"/>
              <a:gd name="T75" fmla="*/ 356 h 455"/>
              <a:gd name="T76" fmla="*/ 681 w 1134"/>
              <a:gd name="T77" fmla="*/ 356 h 455"/>
              <a:gd name="T78" fmla="*/ 761 w 1134"/>
              <a:gd name="T79" fmla="*/ 450 h 455"/>
              <a:gd name="T80" fmla="*/ 842 w 1134"/>
              <a:gd name="T81" fmla="*/ 429 h 455"/>
              <a:gd name="T82" fmla="*/ 1064 w 1134"/>
              <a:gd name="T83" fmla="*/ 356 h 455"/>
              <a:gd name="T84" fmla="*/ 882 w 1134"/>
              <a:gd name="T85" fmla="*/ 0 h 4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134" h="455">
                <a:moveTo>
                  <a:pt x="1125" y="347"/>
                </a:moveTo>
                <a:cubicBezTo>
                  <a:pt x="1066" y="347"/>
                  <a:pt x="1066" y="347"/>
                  <a:pt x="1066" y="347"/>
                </a:cubicBezTo>
                <a:cubicBezTo>
                  <a:pt x="1076" y="308"/>
                  <a:pt x="1076" y="308"/>
                  <a:pt x="1076" y="308"/>
                </a:cubicBezTo>
                <a:cubicBezTo>
                  <a:pt x="958" y="308"/>
                  <a:pt x="958" y="308"/>
                  <a:pt x="958" y="308"/>
                </a:cubicBezTo>
                <a:cubicBezTo>
                  <a:pt x="948" y="347"/>
                  <a:pt x="948" y="347"/>
                  <a:pt x="948" y="347"/>
                </a:cubicBezTo>
                <a:cubicBezTo>
                  <a:pt x="891" y="347"/>
                  <a:pt x="891" y="347"/>
                  <a:pt x="891" y="347"/>
                </a:cubicBezTo>
                <a:cubicBezTo>
                  <a:pt x="891" y="339"/>
                  <a:pt x="891" y="339"/>
                  <a:pt x="891" y="339"/>
                </a:cubicBezTo>
                <a:cubicBezTo>
                  <a:pt x="892" y="334"/>
                  <a:pt x="893" y="330"/>
                  <a:pt x="894" y="325"/>
                </a:cubicBezTo>
                <a:cubicBezTo>
                  <a:pt x="904" y="283"/>
                  <a:pt x="932" y="241"/>
                  <a:pt x="980" y="241"/>
                </a:cubicBezTo>
                <a:cubicBezTo>
                  <a:pt x="998" y="241"/>
                  <a:pt x="1017" y="248"/>
                  <a:pt x="1015" y="275"/>
                </a:cubicBezTo>
                <a:cubicBezTo>
                  <a:pt x="1085" y="275"/>
                  <a:pt x="1085" y="275"/>
                  <a:pt x="1085" y="275"/>
                </a:cubicBezTo>
                <a:cubicBezTo>
                  <a:pt x="1088" y="262"/>
                  <a:pt x="1092" y="242"/>
                  <a:pt x="1079" y="223"/>
                </a:cubicBezTo>
                <a:cubicBezTo>
                  <a:pt x="1064" y="202"/>
                  <a:pt x="1034" y="194"/>
                  <a:pt x="995" y="194"/>
                </a:cubicBezTo>
                <a:cubicBezTo>
                  <a:pt x="967" y="194"/>
                  <a:pt x="926" y="198"/>
                  <a:pt x="891" y="221"/>
                </a:cubicBezTo>
                <a:cubicBezTo>
                  <a:pt x="891" y="9"/>
                  <a:pt x="891" y="9"/>
                  <a:pt x="891" y="9"/>
                </a:cubicBezTo>
                <a:cubicBezTo>
                  <a:pt x="1125" y="9"/>
                  <a:pt x="1125" y="9"/>
                  <a:pt x="1125" y="9"/>
                </a:cubicBezTo>
                <a:lnTo>
                  <a:pt x="1125" y="347"/>
                </a:lnTo>
                <a:close/>
                <a:moveTo>
                  <a:pt x="987" y="404"/>
                </a:moveTo>
                <a:cubicBezTo>
                  <a:pt x="974" y="406"/>
                  <a:pt x="960" y="408"/>
                  <a:pt x="948" y="408"/>
                </a:cubicBezTo>
                <a:cubicBezTo>
                  <a:pt x="914" y="408"/>
                  <a:pt x="891" y="392"/>
                  <a:pt x="890" y="356"/>
                </a:cubicBezTo>
                <a:cubicBezTo>
                  <a:pt x="999" y="356"/>
                  <a:pt x="999" y="356"/>
                  <a:pt x="999" y="356"/>
                </a:cubicBezTo>
                <a:lnTo>
                  <a:pt x="987" y="404"/>
                </a:lnTo>
                <a:close/>
                <a:moveTo>
                  <a:pt x="852" y="211"/>
                </a:moveTo>
                <a:cubicBezTo>
                  <a:pt x="852" y="259"/>
                  <a:pt x="852" y="259"/>
                  <a:pt x="852" y="259"/>
                </a:cubicBezTo>
                <a:cubicBezTo>
                  <a:pt x="836" y="282"/>
                  <a:pt x="826" y="306"/>
                  <a:pt x="821" y="326"/>
                </a:cubicBezTo>
                <a:cubicBezTo>
                  <a:pt x="819" y="333"/>
                  <a:pt x="818" y="340"/>
                  <a:pt x="817" y="347"/>
                </a:cubicBezTo>
                <a:cubicBezTo>
                  <a:pt x="783" y="347"/>
                  <a:pt x="783" y="347"/>
                  <a:pt x="783" y="347"/>
                </a:cubicBezTo>
                <a:cubicBezTo>
                  <a:pt x="812" y="207"/>
                  <a:pt x="812" y="207"/>
                  <a:pt x="812" y="207"/>
                </a:cubicBezTo>
                <a:cubicBezTo>
                  <a:pt x="713" y="207"/>
                  <a:pt x="713" y="207"/>
                  <a:pt x="713" y="207"/>
                </a:cubicBezTo>
                <a:cubicBezTo>
                  <a:pt x="625" y="347"/>
                  <a:pt x="625" y="347"/>
                  <a:pt x="625" y="347"/>
                </a:cubicBezTo>
                <a:cubicBezTo>
                  <a:pt x="618" y="347"/>
                  <a:pt x="618" y="347"/>
                  <a:pt x="618" y="347"/>
                </a:cubicBezTo>
                <a:cubicBezTo>
                  <a:pt x="618" y="9"/>
                  <a:pt x="618" y="9"/>
                  <a:pt x="618" y="9"/>
                </a:cubicBezTo>
                <a:cubicBezTo>
                  <a:pt x="852" y="9"/>
                  <a:pt x="852" y="9"/>
                  <a:pt x="852" y="9"/>
                </a:cubicBezTo>
                <a:lnTo>
                  <a:pt x="852" y="211"/>
                </a:lnTo>
                <a:close/>
                <a:moveTo>
                  <a:pt x="722" y="347"/>
                </a:moveTo>
                <a:cubicBezTo>
                  <a:pt x="687" y="347"/>
                  <a:pt x="687" y="347"/>
                  <a:pt x="687" y="347"/>
                </a:cubicBezTo>
                <a:cubicBezTo>
                  <a:pt x="740" y="263"/>
                  <a:pt x="740" y="263"/>
                  <a:pt x="740" y="263"/>
                </a:cubicBezTo>
                <a:lnTo>
                  <a:pt x="722" y="347"/>
                </a:lnTo>
                <a:close/>
                <a:moveTo>
                  <a:pt x="580" y="207"/>
                </a:moveTo>
                <a:cubicBezTo>
                  <a:pt x="521" y="207"/>
                  <a:pt x="521" y="207"/>
                  <a:pt x="521" y="207"/>
                </a:cubicBezTo>
                <a:cubicBezTo>
                  <a:pt x="481" y="347"/>
                  <a:pt x="481" y="347"/>
                  <a:pt x="481" y="347"/>
                </a:cubicBezTo>
                <a:cubicBezTo>
                  <a:pt x="419" y="347"/>
                  <a:pt x="419" y="347"/>
                  <a:pt x="419" y="347"/>
                </a:cubicBezTo>
                <a:cubicBezTo>
                  <a:pt x="451" y="335"/>
                  <a:pt x="470" y="313"/>
                  <a:pt x="476" y="280"/>
                </a:cubicBezTo>
                <a:cubicBezTo>
                  <a:pt x="481" y="254"/>
                  <a:pt x="478" y="237"/>
                  <a:pt x="468" y="224"/>
                </a:cubicBezTo>
                <a:cubicBezTo>
                  <a:pt x="452" y="205"/>
                  <a:pt x="421" y="207"/>
                  <a:pt x="393" y="207"/>
                </a:cubicBezTo>
                <a:cubicBezTo>
                  <a:pt x="388" y="207"/>
                  <a:pt x="346" y="207"/>
                  <a:pt x="346" y="207"/>
                </a:cubicBezTo>
                <a:cubicBezTo>
                  <a:pt x="346" y="9"/>
                  <a:pt x="346" y="9"/>
                  <a:pt x="346" y="9"/>
                </a:cubicBezTo>
                <a:cubicBezTo>
                  <a:pt x="580" y="9"/>
                  <a:pt x="580" y="9"/>
                  <a:pt x="580" y="9"/>
                </a:cubicBezTo>
                <a:lnTo>
                  <a:pt x="580" y="207"/>
                </a:lnTo>
                <a:close/>
                <a:moveTo>
                  <a:pt x="542" y="347"/>
                </a:moveTo>
                <a:cubicBezTo>
                  <a:pt x="567" y="259"/>
                  <a:pt x="567" y="259"/>
                  <a:pt x="567" y="259"/>
                </a:cubicBezTo>
                <a:cubicBezTo>
                  <a:pt x="568" y="347"/>
                  <a:pt x="568" y="347"/>
                  <a:pt x="568" y="347"/>
                </a:cubicBezTo>
                <a:lnTo>
                  <a:pt x="542" y="347"/>
                </a:lnTo>
                <a:close/>
                <a:moveTo>
                  <a:pt x="372" y="313"/>
                </a:moveTo>
                <a:cubicBezTo>
                  <a:pt x="372" y="313"/>
                  <a:pt x="372" y="313"/>
                  <a:pt x="372" y="313"/>
                </a:cubicBezTo>
                <a:cubicBezTo>
                  <a:pt x="370" y="314"/>
                  <a:pt x="368" y="314"/>
                  <a:pt x="365" y="314"/>
                </a:cubicBezTo>
                <a:cubicBezTo>
                  <a:pt x="362" y="314"/>
                  <a:pt x="359" y="314"/>
                  <a:pt x="356" y="314"/>
                </a:cubicBezTo>
                <a:cubicBezTo>
                  <a:pt x="341" y="314"/>
                  <a:pt x="341" y="314"/>
                  <a:pt x="341" y="314"/>
                </a:cubicBezTo>
                <a:cubicBezTo>
                  <a:pt x="348" y="288"/>
                  <a:pt x="348" y="288"/>
                  <a:pt x="348" y="288"/>
                </a:cubicBezTo>
                <a:cubicBezTo>
                  <a:pt x="352" y="275"/>
                  <a:pt x="352" y="275"/>
                  <a:pt x="352" y="275"/>
                </a:cubicBezTo>
                <a:cubicBezTo>
                  <a:pt x="359" y="246"/>
                  <a:pt x="359" y="246"/>
                  <a:pt x="359" y="246"/>
                </a:cubicBezTo>
                <a:cubicBezTo>
                  <a:pt x="363" y="246"/>
                  <a:pt x="366" y="246"/>
                  <a:pt x="370" y="246"/>
                </a:cubicBezTo>
                <a:cubicBezTo>
                  <a:pt x="373" y="246"/>
                  <a:pt x="377" y="246"/>
                  <a:pt x="381" y="246"/>
                </a:cubicBezTo>
                <a:cubicBezTo>
                  <a:pt x="401" y="246"/>
                  <a:pt x="413" y="247"/>
                  <a:pt x="418" y="253"/>
                </a:cubicBezTo>
                <a:cubicBezTo>
                  <a:pt x="421" y="258"/>
                  <a:pt x="421" y="266"/>
                  <a:pt x="417" y="279"/>
                </a:cubicBezTo>
                <a:cubicBezTo>
                  <a:pt x="410" y="300"/>
                  <a:pt x="401" y="311"/>
                  <a:pt x="372" y="313"/>
                </a:cubicBezTo>
                <a:moveTo>
                  <a:pt x="307" y="219"/>
                </a:moveTo>
                <a:cubicBezTo>
                  <a:pt x="304" y="231"/>
                  <a:pt x="304" y="231"/>
                  <a:pt x="304" y="231"/>
                </a:cubicBezTo>
                <a:cubicBezTo>
                  <a:pt x="270" y="343"/>
                  <a:pt x="270" y="343"/>
                  <a:pt x="270" y="343"/>
                </a:cubicBezTo>
                <a:cubicBezTo>
                  <a:pt x="269" y="347"/>
                  <a:pt x="269" y="347"/>
                  <a:pt x="269" y="347"/>
                </a:cubicBezTo>
                <a:cubicBezTo>
                  <a:pt x="159" y="347"/>
                  <a:pt x="159" y="347"/>
                  <a:pt x="159" y="347"/>
                </a:cubicBezTo>
                <a:cubicBezTo>
                  <a:pt x="150" y="329"/>
                  <a:pt x="150" y="329"/>
                  <a:pt x="150" y="329"/>
                </a:cubicBezTo>
                <a:cubicBezTo>
                  <a:pt x="269" y="207"/>
                  <a:pt x="269" y="207"/>
                  <a:pt x="269" y="207"/>
                </a:cubicBezTo>
                <a:cubicBezTo>
                  <a:pt x="192" y="207"/>
                  <a:pt x="192" y="207"/>
                  <a:pt x="192" y="207"/>
                </a:cubicBezTo>
                <a:cubicBezTo>
                  <a:pt x="100" y="307"/>
                  <a:pt x="100" y="307"/>
                  <a:pt x="100" y="307"/>
                </a:cubicBezTo>
                <a:cubicBezTo>
                  <a:pt x="130" y="207"/>
                  <a:pt x="130" y="207"/>
                  <a:pt x="130" y="207"/>
                </a:cubicBezTo>
                <a:cubicBezTo>
                  <a:pt x="74" y="207"/>
                  <a:pt x="74" y="207"/>
                  <a:pt x="74" y="207"/>
                </a:cubicBezTo>
                <a:cubicBezTo>
                  <a:pt x="74" y="9"/>
                  <a:pt x="74" y="9"/>
                  <a:pt x="74" y="9"/>
                </a:cubicBezTo>
                <a:cubicBezTo>
                  <a:pt x="307" y="9"/>
                  <a:pt x="307" y="9"/>
                  <a:pt x="307" y="9"/>
                </a:cubicBezTo>
                <a:lnTo>
                  <a:pt x="307" y="219"/>
                </a:lnTo>
                <a:close/>
                <a:moveTo>
                  <a:pt x="882" y="0"/>
                </a:moveTo>
                <a:cubicBezTo>
                  <a:pt x="882" y="227"/>
                  <a:pt x="882" y="227"/>
                  <a:pt x="882" y="227"/>
                </a:cubicBezTo>
                <a:cubicBezTo>
                  <a:pt x="874" y="234"/>
                  <a:pt x="868" y="240"/>
                  <a:pt x="861" y="247"/>
                </a:cubicBezTo>
                <a:cubicBezTo>
                  <a:pt x="861" y="0"/>
                  <a:pt x="861" y="0"/>
                  <a:pt x="861" y="0"/>
                </a:cubicBezTo>
                <a:cubicBezTo>
                  <a:pt x="610" y="0"/>
                  <a:pt x="610" y="0"/>
                  <a:pt x="610" y="0"/>
                </a:cubicBezTo>
                <a:cubicBezTo>
                  <a:pt x="610" y="207"/>
                  <a:pt x="610" y="207"/>
                  <a:pt x="610" y="207"/>
                </a:cubicBezTo>
                <a:cubicBezTo>
                  <a:pt x="589" y="207"/>
                  <a:pt x="589" y="207"/>
                  <a:pt x="589" y="207"/>
                </a:cubicBezTo>
                <a:cubicBezTo>
                  <a:pt x="589" y="0"/>
                  <a:pt x="589" y="0"/>
                  <a:pt x="589" y="0"/>
                </a:cubicBezTo>
                <a:cubicBezTo>
                  <a:pt x="337" y="0"/>
                  <a:pt x="337" y="0"/>
                  <a:pt x="337" y="0"/>
                </a:cubicBezTo>
                <a:cubicBezTo>
                  <a:pt x="337" y="207"/>
                  <a:pt x="337" y="207"/>
                  <a:pt x="337" y="207"/>
                </a:cubicBezTo>
                <a:cubicBezTo>
                  <a:pt x="316" y="207"/>
                  <a:pt x="316" y="207"/>
                  <a:pt x="316" y="207"/>
                </a:cubicBezTo>
                <a:cubicBezTo>
                  <a:pt x="316" y="0"/>
                  <a:pt x="316" y="0"/>
                  <a:pt x="316" y="0"/>
                </a:cubicBezTo>
                <a:cubicBezTo>
                  <a:pt x="65" y="0"/>
                  <a:pt x="65" y="0"/>
                  <a:pt x="65" y="0"/>
                </a:cubicBezTo>
                <a:cubicBezTo>
                  <a:pt x="65" y="236"/>
                  <a:pt x="65" y="236"/>
                  <a:pt x="65" y="236"/>
                </a:cubicBezTo>
                <a:cubicBezTo>
                  <a:pt x="0" y="450"/>
                  <a:pt x="0" y="450"/>
                  <a:pt x="0" y="450"/>
                </a:cubicBezTo>
                <a:cubicBezTo>
                  <a:pt x="57" y="450"/>
                  <a:pt x="57" y="450"/>
                  <a:pt x="57" y="450"/>
                </a:cubicBezTo>
                <a:cubicBezTo>
                  <a:pt x="85" y="356"/>
                  <a:pt x="85" y="356"/>
                  <a:pt x="85" y="356"/>
                </a:cubicBezTo>
                <a:cubicBezTo>
                  <a:pt x="93" y="356"/>
                  <a:pt x="93" y="356"/>
                  <a:pt x="93" y="356"/>
                </a:cubicBezTo>
                <a:cubicBezTo>
                  <a:pt x="140" y="450"/>
                  <a:pt x="140" y="450"/>
                  <a:pt x="140" y="450"/>
                </a:cubicBezTo>
                <a:cubicBezTo>
                  <a:pt x="208" y="450"/>
                  <a:pt x="208" y="450"/>
                  <a:pt x="208" y="450"/>
                </a:cubicBezTo>
                <a:cubicBezTo>
                  <a:pt x="163" y="356"/>
                  <a:pt x="163" y="356"/>
                  <a:pt x="163" y="356"/>
                </a:cubicBezTo>
                <a:cubicBezTo>
                  <a:pt x="266" y="356"/>
                  <a:pt x="266" y="356"/>
                  <a:pt x="266" y="356"/>
                </a:cubicBezTo>
                <a:cubicBezTo>
                  <a:pt x="237" y="450"/>
                  <a:pt x="237" y="450"/>
                  <a:pt x="237" y="450"/>
                </a:cubicBezTo>
                <a:cubicBezTo>
                  <a:pt x="299" y="450"/>
                  <a:pt x="299" y="450"/>
                  <a:pt x="299" y="450"/>
                </a:cubicBezTo>
                <a:cubicBezTo>
                  <a:pt x="327" y="356"/>
                  <a:pt x="327" y="356"/>
                  <a:pt x="327" y="356"/>
                </a:cubicBezTo>
                <a:cubicBezTo>
                  <a:pt x="341" y="356"/>
                  <a:pt x="341" y="356"/>
                  <a:pt x="341" y="356"/>
                </a:cubicBezTo>
                <a:cubicBezTo>
                  <a:pt x="341" y="356"/>
                  <a:pt x="341" y="356"/>
                  <a:pt x="341" y="356"/>
                </a:cubicBezTo>
                <a:cubicBezTo>
                  <a:pt x="360" y="356"/>
                  <a:pt x="360" y="356"/>
                  <a:pt x="360" y="356"/>
                </a:cubicBezTo>
                <a:cubicBezTo>
                  <a:pt x="362" y="356"/>
                  <a:pt x="362" y="356"/>
                  <a:pt x="362" y="356"/>
                </a:cubicBezTo>
                <a:cubicBezTo>
                  <a:pt x="478" y="356"/>
                  <a:pt x="478" y="356"/>
                  <a:pt x="478" y="356"/>
                </a:cubicBezTo>
                <a:cubicBezTo>
                  <a:pt x="451" y="450"/>
                  <a:pt x="451" y="450"/>
                  <a:pt x="451" y="450"/>
                </a:cubicBezTo>
                <a:cubicBezTo>
                  <a:pt x="513" y="450"/>
                  <a:pt x="513" y="450"/>
                  <a:pt x="513" y="450"/>
                </a:cubicBezTo>
                <a:cubicBezTo>
                  <a:pt x="540" y="356"/>
                  <a:pt x="540" y="356"/>
                  <a:pt x="540" y="356"/>
                </a:cubicBezTo>
                <a:cubicBezTo>
                  <a:pt x="568" y="356"/>
                  <a:pt x="568" y="356"/>
                  <a:pt x="568" y="356"/>
                </a:cubicBezTo>
                <a:cubicBezTo>
                  <a:pt x="569" y="450"/>
                  <a:pt x="569" y="450"/>
                  <a:pt x="569" y="450"/>
                </a:cubicBezTo>
                <a:cubicBezTo>
                  <a:pt x="621" y="450"/>
                  <a:pt x="621" y="450"/>
                  <a:pt x="621" y="450"/>
                </a:cubicBezTo>
                <a:cubicBezTo>
                  <a:pt x="681" y="356"/>
                  <a:pt x="681" y="356"/>
                  <a:pt x="681" y="356"/>
                </a:cubicBezTo>
                <a:cubicBezTo>
                  <a:pt x="720" y="356"/>
                  <a:pt x="720" y="356"/>
                  <a:pt x="720" y="356"/>
                </a:cubicBezTo>
                <a:cubicBezTo>
                  <a:pt x="700" y="450"/>
                  <a:pt x="700" y="450"/>
                  <a:pt x="700" y="450"/>
                </a:cubicBezTo>
                <a:cubicBezTo>
                  <a:pt x="761" y="450"/>
                  <a:pt x="761" y="450"/>
                  <a:pt x="761" y="450"/>
                </a:cubicBezTo>
                <a:cubicBezTo>
                  <a:pt x="781" y="356"/>
                  <a:pt x="781" y="356"/>
                  <a:pt x="781" y="356"/>
                </a:cubicBezTo>
                <a:cubicBezTo>
                  <a:pt x="816" y="356"/>
                  <a:pt x="816" y="356"/>
                  <a:pt x="816" y="356"/>
                </a:cubicBezTo>
                <a:cubicBezTo>
                  <a:pt x="815" y="385"/>
                  <a:pt x="822" y="411"/>
                  <a:pt x="842" y="429"/>
                </a:cubicBezTo>
                <a:cubicBezTo>
                  <a:pt x="866" y="451"/>
                  <a:pt x="902" y="455"/>
                  <a:pt x="929" y="455"/>
                </a:cubicBezTo>
                <a:cubicBezTo>
                  <a:pt x="966" y="455"/>
                  <a:pt x="1004" y="450"/>
                  <a:pt x="1043" y="441"/>
                </a:cubicBezTo>
                <a:cubicBezTo>
                  <a:pt x="1064" y="356"/>
                  <a:pt x="1064" y="356"/>
                  <a:pt x="1064" y="356"/>
                </a:cubicBezTo>
                <a:cubicBezTo>
                  <a:pt x="1134" y="356"/>
                  <a:pt x="1134" y="356"/>
                  <a:pt x="1134" y="356"/>
                </a:cubicBezTo>
                <a:cubicBezTo>
                  <a:pt x="1134" y="0"/>
                  <a:pt x="1134" y="0"/>
                  <a:pt x="1134" y="0"/>
                </a:cubicBezTo>
                <a:lnTo>
                  <a:pt x="882" y="0"/>
                </a:lnTo>
                <a:close/>
              </a:path>
            </a:pathLst>
          </a:custGeom>
          <a:solidFill>
            <a:srgbClr val="00338D"/>
          </a:solidFill>
          <a:ln>
            <a:noFill/>
          </a:ln>
        </p:spPr>
        <p:txBody>
          <a:bodyPr vert="horz" wrap="square" lIns="91440" tIns="45720" rIns="91440" bIns="45720" numCol="1" anchor="t" anchorCtr="0" compatLnSpc="1">
            <a:prstTxWarp prst="textNoShape">
              <a:avLst/>
            </a:prstTxWarp>
          </a:bodyPr>
          <a:lstStyle/>
          <a:p>
            <a:pPr eaLnBrk="1"/>
            <a:endParaRPr lang="en-CA" dirty="0"/>
          </a:p>
        </p:txBody>
      </p:sp>
    </p:spTree>
    <p:extLst>
      <p:ext uri="{BB962C8B-B14F-4D97-AF65-F5344CB8AC3E}">
        <p14:creationId xmlns:p14="http://schemas.microsoft.com/office/powerpoint/2010/main" val="79120738"/>
      </p:ext>
    </p:extLst>
  </p:cSld>
  <p:clrMapOvr>
    <a:masterClrMapping/>
  </p:clrMapOvr>
  <p:timing>
    <p:tnLst>
      <p:par>
        <p:cTn id="1" dur="indefinite" restart="never" nodeType="tmRoot"/>
      </p:par>
    </p:tnLst>
  </p:timing>
  <p:extLst mod="1">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sp>
        <p:nvSpPr>
          <p:cNvPr id="2" name="Titre 1"/>
          <p:cNvSpPr>
            <a:spLocks noGrp="1"/>
          </p:cNvSpPr>
          <p:nvPr>
            <p:ph type="title"/>
          </p:nvPr>
        </p:nvSpPr>
        <p:spPr>
          <a:xfrm>
            <a:off x="324000" y="396000"/>
            <a:ext cx="8496000" cy="470898"/>
          </a:xfrm>
        </p:spPr>
        <p:txBody>
          <a:bodyPr/>
          <a:lstStyle/>
          <a:p>
            <a:r>
              <a:rPr lang="en-US" noProof="0" smtClean="0"/>
              <a:t>Click to edit Master title style</a:t>
            </a:r>
            <a:endParaRPr lang="en-CA" noProof="0" dirty="0"/>
          </a:p>
        </p:txBody>
      </p:sp>
    </p:spTree>
    <p:extLst>
      <p:ext uri="{BB962C8B-B14F-4D97-AF65-F5344CB8AC3E}">
        <p14:creationId xmlns:p14="http://schemas.microsoft.com/office/powerpoint/2010/main" val="1857533534"/>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userDrawn="1">
  <p:cSld name="TITLE SLIDE 6 - No image">
    <p:spTree>
      <p:nvGrpSpPr>
        <p:cNvPr id="1" name=""/>
        <p:cNvGrpSpPr/>
        <p:nvPr/>
      </p:nvGrpSpPr>
      <p:grpSpPr>
        <a:xfrm>
          <a:off x="0" y="0"/>
          <a:ext cx="0" cy="0"/>
          <a:chOff x="0" y="0"/>
          <a:chExt cx="0" cy="0"/>
        </a:xfrm>
      </p:grpSpPr>
      <p:graphicFrame>
        <p:nvGraphicFramePr>
          <p:cNvPr id="5" name="Objet 4"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316775" name="Diapositive think-cell" r:id="rId4" imgW="270" imgH="270" progId="TCLayout.ActiveDocument.1">
                  <p:embed/>
                </p:oleObj>
              </mc:Choice>
              <mc:Fallback>
                <p:oleObj name="Diapositive think-cell"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ctrTitle" hasCustomPrompt="1"/>
          </p:nvPr>
        </p:nvSpPr>
        <p:spPr bwMode="gray">
          <a:xfrm>
            <a:off x="2044800" y="1346400"/>
            <a:ext cx="6192000" cy="3510000"/>
          </a:xfrm>
        </p:spPr>
        <p:txBody>
          <a:bodyPr anchor="t" anchorCtr="0"/>
          <a:lstStyle>
            <a:lvl1pPr algn="l">
              <a:defRPr sz="11000">
                <a:solidFill>
                  <a:srgbClr val="00338D"/>
                </a:solidFill>
              </a:defRPr>
            </a:lvl1pPr>
          </a:lstStyle>
          <a:p>
            <a:r>
              <a:rPr lang="en-CA" dirty="0" smtClean="0"/>
              <a:t>Title slide 6</a:t>
            </a:r>
            <a:br>
              <a:rPr lang="en-CA" dirty="0" smtClean="0"/>
            </a:br>
            <a:r>
              <a:rPr lang="en-CA" dirty="0" smtClean="0"/>
              <a:t>no image</a:t>
            </a:r>
            <a:endParaRPr lang="en-CA" dirty="0"/>
          </a:p>
        </p:txBody>
      </p:sp>
      <p:sp>
        <p:nvSpPr>
          <p:cNvPr id="4" name="object 3"/>
          <p:cNvSpPr/>
          <p:nvPr userDrawn="1"/>
        </p:nvSpPr>
        <p:spPr bwMode="gray">
          <a:xfrm>
            <a:off x="0" y="0"/>
            <a:ext cx="1587731"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00338D"/>
          </a:solidFill>
        </p:spPr>
        <p:txBody>
          <a:bodyPr wrap="square" lIns="0" tIns="0" rIns="0" bIns="0" rtlCol="0">
            <a:noAutofit/>
          </a:bodyPr>
          <a:lstStyle/>
          <a:p>
            <a:pPr eaLnBrk="1"/>
            <a:endParaRPr lang="en-CA" sz="1800" dirty="0">
              <a:latin typeface="Arial" panose="020B0604020202020204" pitchFamily="34" charset="0"/>
            </a:endParaRPr>
          </a:p>
        </p:txBody>
      </p:sp>
      <p:sp>
        <p:nvSpPr>
          <p:cNvPr id="6" name="Freeform 19"/>
          <p:cNvSpPr>
            <a:spLocks noEditPoints="1"/>
          </p:cNvSpPr>
          <p:nvPr userDrawn="1"/>
        </p:nvSpPr>
        <p:spPr bwMode="gray">
          <a:xfrm>
            <a:off x="2064100" y="784800"/>
            <a:ext cx="777600" cy="316800"/>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rgbClr val="00338D"/>
          </a:solidFill>
          <a:ln>
            <a:noFill/>
          </a:ln>
        </p:spPr>
        <p:txBody>
          <a:bodyPr vert="horz" wrap="square" lIns="91440" tIns="45720" rIns="91440" bIns="45720" numCol="1" anchor="t" anchorCtr="0" compatLnSpc="1">
            <a:prstTxWarp prst="textNoShape">
              <a:avLst/>
            </a:prstTxWarp>
          </a:bodyPr>
          <a:lstStyle/>
          <a:p>
            <a:pPr eaLnBrk="1"/>
            <a:endParaRPr lang="en-CA" dirty="0"/>
          </a:p>
        </p:txBody>
      </p:sp>
      <p:sp>
        <p:nvSpPr>
          <p:cNvPr id="7" name="Text Placeholder 3"/>
          <p:cNvSpPr>
            <a:spLocks noGrp="1"/>
          </p:cNvSpPr>
          <p:nvPr>
            <p:ph type="body" sz="quarter" idx="11"/>
          </p:nvPr>
        </p:nvSpPr>
        <p:spPr bwMode="gray">
          <a:xfrm>
            <a:off x="2064100" y="5036400"/>
            <a:ext cx="6172700" cy="216000"/>
          </a:xfrm>
        </p:spPr>
        <p:txBody>
          <a:bodyPr/>
          <a:lstStyle>
            <a:lvl1pPr>
              <a:defRPr sz="1100">
                <a:solidFill>
                  <a:srgbClr val="00338D"/>
                </a:solidFill>
              </a:defRPr>
            </a:lvl1pPr>
            <a:lvl2pPr>
              <a:defRPr sz="11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dirty="0" smtClean="0"/>
              <a:t>Click to edit Master text styles</a:t>
            </a:r>
          </a:p>
        </p:txBody>
      </p:sp>
      <p:pic>
        <p:nvPicPr>
          <p:cNvPr id="8" name="Picture 7"/>
          <p:cNvPicPr>
            <a:picLocks noChangeAspect="1"/>
          </p:cNvPicPr>
          <p:nvPr userDrawn="1"/>
        </p:nvPicPr>
        <p:blipFill rotWithShape="1">
          <a:blip r:embed="rId6">
            <a:extLst>
              <a:ext uri="{28A0092B-C50C-407E-A947-70E740481C1C}">
                <a14:useLocalDpi xmlns:a14="http://schemas.microsoft.com/office/drawing/2010/main" val="0"/>
              </a:ext>
            </a:extLst>
          </a:blip>
          <a:srcRect b="-55853"/>
          <a:stretch/>
        </p:blipFill>
        <p:spPr>
          <a:xfrm>
            <a:off x="1587731" y="0"/>
            <a:ext cx="7556269" cy="10688464"/>
          </a:xfrm>
          <a:prstGeom prst="rect">
            <a:avLst/>
          </a:prstGeom>
        </p:spPr>
      </p:pic>
    </p:spTree>
    <p:extLst>
      <p:ext uri="{BB962C8B-B14F-4D97-AF65-F5344CB8AC3E}">
        <p14:creationId xmlns:p14="http://schemas.microsoft.com/office/powerpoint/2010/main" val="672309200"/>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userDrawn="1">
  <p:cSld name="1_FINAL SLIDE">
    <p:spTree>
      <p:nvGrpSpPr>
        <p:cNvPr id="1" name=""/>
        <p:cNvGrpSpPr/>
        <p:nvPr/>
      </p:nvGrpSpPr>
      <p:grpSpPr>
        <a:xfrm>
          <a:off x="0" y="0"/>
          <a:ext cx="0" cy="0"/>
          <a:chOff x="0" y="0"/>
          <a:chExt cx="0" cy="0"/>
        </a:xfrm>
      </p:grpSpPr>
      <p:sp>
        <p:nvSpPr>
          <p:cNvPr id="10" name="object 4"/>
          <p:cNvSpPr/>
          <p:nvPr userDrawn="1"/>
        </p:nvSpPr>
        <p:spPr bwMode="gray">
          <a:xfrm>
            <a:off x="0" y="0"/>
            <a:ext cx="1572768"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00338D"/>
          </a:solidFill>
        </p:spPr>
        <p:txBody>
          <a:bodyPr wrap="square" lIns="0" tIns="0" rIns="0" bIns="0" rtlCol="0">
            <a:noAutofit/>
          </a:bodyPr>
          <a:lstStyle/>
          <a:p>
            <a:pPr eaLnBrk="1"/>
            <a:endParaRPr lang="en-CA" dirty="0">
              <a:latin typeface="Arial" panose="020B0604020202020204" pitchFamily="34" charset="0"/>
            </a:endParaRPr>
          </a:p>
        </p:txBody>
      </p:sp>
      <p:sp>
        <p:nvSpPr>
          <p:cNvPr id="11" name="Content Placeholder 1"/>
          <p:cNvSpPr txBox="1">
            <a:spLocks/>
          </p:cNvSpPr>
          <p:nvPr userDrawn="1"/>
        </p:nvSpPr>
        <p:spPr bwMode="invGray">
          <a:xfrm>
            <a:off x="2026105" y="4332718"/>
            <a:ext cx="5869997" cy="1650570"/>
          </a:xfrm>
          <a:prstGeom prst="rect">
            <a:avLst/>
          </a:prstGeom>
        </p:spPr>
        <p:txBody>
          <a:bodyPr lIns="0" tIns="0" rIns="0" bIns="0"/>
          <a:lstStyle>
            <a:lvl1pPr eaLnBrk="1" hangingPunct="1">
              <a:spcAft>
                <a:spcPts val="600"/>
              </a:spcAft>
              <a:defRPr sz="1500" b="1" i="0">
                <a:solidFill>
                  <a:schemeClr val="tx2"/>
                </a:solidFill>
                <a:latin typeface="Univers for KPMG" panose="020B0603020202020204" pitchFamily="34" charset="0"/>
                <a:cs typeface="Univers for KPMG" panose="020B0603020202020204" pitchFamily="34" charset="0"/>
              </a:defRPr>
            </a:lvl1pPr>
            <a:lvl2pPr marL="0" indent="0" eaLnBrk="1" hangingPunct="1">
              <a:spcAft>
                <a:spcPts val="600"/>
              </a:spcAft>
              <a:buFontTx/>
              <a:buNone/>
              <a:defRPr sz="1500" b="0" i="0">
                <a:solidFill>
                  <a:schemeClr val="tx2"/>
                </a:solidFill>
                <a:latin typeface="Univers for KPMG Light" panose="020B0403020202020204" pitchFamily="34" charset="0"/>
                <a:cs typeface="Univers for KPMG Light" panose="020B0403020202020204" pitchFamily="34" charset="0"/>
              </a:defRPr>
            </a:lvl2pPr>
            <a:lvl3pPr marL="285750" indent="-285750" eaLnBrk="1" hangingPunct="1">
              <a:spcAft>
                <a:spcPts val="600"/>
              </a:spcAft>
              <a:buClrTx/>
              <a:buFont typeface="Univers for KPMG"/>
              <a:buChar char="—"/>
              <a:defRPr sz="1500" b="0" i="0">
                <a:solidFill>
                  <a:schemeClr val="tx2"/>
                </a:solidFill>
                <a:latin typeface="Univers for KPMG Light" panose="020B0403020202020204" pitchFamily="34" charset="0"/>
                <a:cs typeface="Univers for KPMG Light" panose="020B0403020202020204" pitchFamily="34" charset="0"/>
              </a:defRPr>
            </a:lvl3pPr>
            <a:lvl4pPr marL="571500" indent="-228600" eaLnBrk="1" hangingPunct="1">
              <a:spcAft>
                <a:spcPts val="600"/>
              </a:spcAft>
              <a:buFont typeface="Univers for KPMG"/>
              <a:buChar char="-"/>
              <a:defRPr sz="1500" b="0" i="0" baseline="0">
                <a:solidFill>
                  <a:schemeClr val="tx2"/>
                </a:solidFill>
                <a:latin typeface="Univers for KPMG Light" panose="020B0403020202020204" pitchFamily="34" charset="0"/>
                <a:cs typeface="Univers for KPMG Light" panose="020B0403020202020204" pitchFamily="34" charset="0"/>
              </a:defRPr>
            </a:lvl4pPr>
            <a:lvl5pPr eaLnBrk="1" hangingPunct="1">
              <a:spcAft>
                <a:spcPts val="600"/>
              </a:spcAft>
              <a:defRPr sz="1500" b="0" i="0">
                <a:solidFill>
                  <a:schemeClr val="accent5"/>
                </a:solidFill>
                <a:latin typeface="Univers for KPMG Light" panose="020B0403020202020204" pitchFamily="34" charset="0"/>
                <a:cs typeface="Univers for KPMG Light" panose="020B0403020202020204" pitchFamily="34" charset="0"/>
              </a:defRPr>
            </a:lvl5pPr>
          </a:lstStyle>
          <a:p>
            <a:pPr lvl="1" defTabSz="914400"/>
            <a:r>
              <a:rPr lang="en-CA" altLang="en-US" sz="1000" kern="0" dirty="0" smtClean="0">
                <a:solidFill>
                  <a:schemeClr val="bg1">
                    <a:lumMod val="65000"/>
                  </a:schemeClr>
                </a:solidFill>
                <a:latin typeface="+mn-lt"/>
              </a:rPr>
              <a:t>© 2018 KPMG LLP, a Canadian limited liability partnership and a member firm of the KPMG network of independent member firms affiliated with KPMG International Cooperative (“KPMG International”), a Swiss entity. All rights reserved. The KPMG name and logo are registered trademarks or trademarks of KPMG International.</a:t>
            </a:r>
          </a:p>
        </p:txBody>
      </p:sp>
      <p:sp>
        <p:nvSpPr>
          <p:cNvPr id="12" name="Rectangle 11">
            <a:hlinkClick r:id="rId2"/>
          </p:cNvPr>
          <p:cNvSpPr>
            <a:spLocks noChangeArrowheads="1"/>
          </p:cNvSpPr>
          <p:nvPr userDrawn="1"/>
        </p:nvSpPr>
        <p:spPr bwMode="gray">
          <a:xfrm>
            <a:off x="2052000" y="3321733"/>
            <a:ext cx="1752293" cy="184666"/>
          </a:xfrm>
          <a:prstGeom prst="rect">
            <a:avLst/>
          </a:prstGeom>
          <a:noFill/>
          <a:ln w="9525">
            <a:noFill/>
            <a:miter lim="800000"/>
            <a:headEnd/>
            <a:tailEnd/>
          </a:ln>
          <a:effectLst/>
        </p:spPr>
        <p:txBody>
          <a:bodyPr wrap="square" lIns="0" tIns="0" rIns="0" bIns="0" anchor="ctr">
            <a:spAutoFit/>
          </a:bodyPr>
          <a:lstStyle/>
          <a:p>
            <a:pPr>
              <a:defRPr/>
            </a:pPr>
            <a:r>
              <a:rPr lang="en-CA" sz="1200" b="1" i="0" kern="0" dirty="0" smtClean="0">
                <a:solidFill>
                  <a:schemeClr val="tx2"/>
                </a:solidFill>
                <a:latin typeface="+mn-lt"/>
                <a:ea typeface="Times New Roman" pitchFamily="18" charset="0"/>
                <a:cs typeface="Univers for KPMG"/>
              </a:rPr>
              <a:t>kpmg.ca</a:t>
            </a:r>
            <a:endParaRPr lang="en-CA" sz="1200" b="1" i="0" kern="0" dirty="0">
              <a:solidFill>
                <a:schemeClr val="tx2"/>
              </a:solidFill>
              <a:latin typeface="+mn-lt"/>
              <a:cs typeface="Univers for KPMG"/>
            </a:endParaRPr>
          </a:p>
        </p:txBody>
      </p:sp>
      <p:grpSp>
        <p:nvGrpSpPr>
          <p:cNvPr id="9" name="Groupe 8"/>
          <p:cNvGrpSpPr/>
          <p:nvPr userDrawn="1"/>
        </p:nvGrpSpPr>
        <p:grpSpPr bwMode="gray">
          <a:xfrm>
            <a:off x="2052440" y="3624591"/>
            <a:ext cx="1283742" cy="297929"/>
            <a:chOff x="4324350" y="3017838"/>
            <a:chExt cx="3543300" cy="822325"/>
          </a:xfrm>
        </p:grpSpPr>
        <p:sp>
          <p:nvSpPr>
            <p:cNvPr id="14" name="AutoShape 3"/>
            <p:cNvSpPr>
              <a:spLocks noChangeAspect="1" noChangeArrowheads="1" noTextEdit="1"/>
            </p:cNvSpPr>
            <p:nvPr/>
          </p:nvSpPr>
          <p:spPr bwMode="gray">
            <a:xfrm>
              <a:off x="4324350" y="3017838"/>
              <a:ext cx="354330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a:endParaRPr lang="en-CA" dirty="0"/>
            </a:p>
          </p:txBody>
        </p:sp>
        <p:grpSp>
          <p:nvGrpSpPr>
            <p:cNvPr id="15" name="Groupe 14"/>
            <p:cNvGrpSpPr/>
            <p:nvPr/>
          </p:nvGrpSpPr>
          <p:grpSpPr bwMode="gray">
            <a:xfrm>
              <a:off x="4324350" y="3017838"/>
              <a:ext cx="808038" cy="817563"/>
              <a:chOff x="4324350" y="3017838"/>
              <a:chExt cx="808038" cy="817563"/>
            </a:xfrm>
          </p:grpSpPr>
          <p:sp>
            <p:nvSpPr>
              <p:cNvPr id="28" name="Freeform 8"/>
              <p:cNvSpPr>
                <a:spLocks/>
              </p:cNvSpPr>
              <p:nvPr/>
            </p:nvSpPr>
            <p:spPr bwMode="gray">
              <a:xfrm>
                <a:off x="4324350" y="3017838"/>
                <a:ext cx="808038" cy="817563"/>
              </a:xfrm>
              <a:custGeom>
                <a:avLst/>
                <a:gdLst>
                  <a:gd name="T0" fmla="*/ 199 w 215"/>
                  <a:gd name="T1" fmla="*/ 0 h 215"/>
                  <a:gd name="T2" fmla="*/ 16 w 215"/>
                  <a:gd name="T3" fmla="*/ 0 h 215"/>
                  <a:gd name="T4" fmla="*/ 0 w 215"/>
                  <a:gd name="T5" fmla="*/ 15 h 215"/>
                  <a:gd name="T6" fmla="*/ 0 w 215"/>
                  <a:gd name="T7" fmla="*/ 199 h 215"/>
                  <a:gd name="T8" fmla="*/ 16 w 215"/>
                  <a:gd name="T9" fmla="*/ 215 h 215"/>
                  <a:gd name="T10" fmla="*/ 199 w 215"/>
                  <a:gd name="T11" fmla="*/ 215 h 215"/>
                  <a:gd name="T12" fmla="*/ 215 w 215"/>
                  <a:gd name="T13" fmla="*/ 199 h 215"/>
                  <a:gd name="T14" fmla="*/ 215 w 215"/>
                  <a:gd name="T15" fmla="*/ 15 h 215"/>
                  <a:gd name="T16" fmla="*/ 199 w 215"/>
                  <a:gd name="T17" fmla="*/ 0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5" h="215">
                    <a:moveTo>
                      <a:pt x="199" y="0"/>
                    </a:moveTo>
                    <a:cubicBezTo>
                      <a:pt x="16" y="0"/>
                      <a:pt x="16" y="0"/>
                      <a:pt x="16" y="0"/>
                    </a:cubicBezTo>
                    <a:cubicBezTo>
                      <a:pt x="7" y="0"/>
                      <a:pt x="0" y="7"/>
                      <a:pt x="0" y="15"/>
                    </a:cubicBezTo>
                    <a:cubicBezTo>
                      <a:pt x="0" y="199"/>
                      <a:pt x="0" y="199"/>
                      <a:pt x="0" y="199"/>
                    </a:cubicBezTo>
                    <a:cubicBezTo>
                      <a:pt x="0" y="208"/>
                      <a:pt x="7" y="215"/>
                      <a:pt x="16" y="215"/>
                    </a:cubicBezTo>
                    <a:cubicBezTo>
                      <a:pt x="199" y="215"/>
                      <a:pt x="199" y="215"/>
                      <a:pt x="199" y="215"/>
                    </a:cubicBezTo>
                    <a:cubicBezTo>
                      <a:pt x="207" y="215"/>
                      <a:pt x="215" y="208"/>
                      <a:pt x="215" y="199"/>
                    </a:cubicBezTo>
                    <a:cubicBezTo>
                      <a:pt x="215" y="15"/>
                      <a:pt x="215" y="15"/>
                      <a:pt x="215" y="15"/>
                    </a:cubicBezTo>
                    <a:cubicBezTo>
                      <a:pt x="215" y="7"/>
                      <a:pt x="207" y="0"/>
                      <a:pt x="199" y="0"/>
                    </a:cubicBezTo>
                  </a:path>
                </a:pathLst>
              </a:custGeom>
              <a:solidFill>
                <a:srgbClr val="007BB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eaLnBrk="1"/>
                <a:endParaRPr lang="en-CA" dirty="0"/>
              </a:p>
            </p:txBody>
          </p:sp>
          <p:sp>
            <p:nvSpPr>
              <p:cNvPr id="29" name="Freeform 9"/>
              <p:cNvSpPr>
                <a:spLocks noEditPoints="1"/>
              </p:cNvSpPr>
              <p:nvPr/>
            </p:nvSpPr>
            <p:spPr bwMode="gray">
              <a:xfrm>
                <a:off x="4433888" y="3127376"/>
                <a:ext cx="138113" cy="587375"/>
              </a:xfrm>
              <a:custGeom>
                <a:avLst/>
                <a:gdLst>
                  <a:gd name="T0" fmla="*/ 19 w 37"/>
                  <a:gd name="T1" fmla="*/ 0 h 154"/>
                  <a:gd name="T2" fmla="*/ 37 w 37"/>
                  <a:gd name="T3" fmla="*/ 19 h 154"/>
                  <a:gd name="T4" fmla="*/ 19 w 37"/>
                  <a:gd name="T5" fmla="*/ 37 h 154"/>
                  <a:gd name="T6" fmla="*/ 0 w 37"/>
                  <a:gd name="T7" fmla="*/ 19 h 154"/>
                  <a:gd name="T8" fmla="*/ 19 w 37"/>
                  <a:gd name="T9" fmla="*/ 0 h 154"/>
                  <a:gd name="T10" fmla="*/ 3 w 37"/>
                  <a:gd name="T11" fmla="*/ 51 h 154"/>
                  <a:gd name="T12" fmla="*/ 35 w 37"/>
                  <a:gd name="T13" fmla="*/ 51 h 154"/>
                  <a:gd name="T14" fmla="*/ 35 w 37"/>
                  <a:gd name="T15" fmla="*/ 154 h 154"/>
                  <a:gd name="T16" fmla="*/ 3 w 37"/>
                  <a:gd name="T17" fmla="*/ 154 h 154"/>
                  <a:gd name="T18" fmla="*/ 3 w 37"/>
                  <a:gd name="T19" fmla="*/ 51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7" h="154">
                    <a:moveTo>
                      <a:pt x="19" y="0"/>
                    </a:moveTo>
                    <a:cubicBezTo>
                      <a:pt x="29" y="0"/>
                      <a:pt x="37" y="9"/>
                      <a:pt x="37" y="19"/>
                    </a:cubicBezTo>
                    <a:cubicBezTo>
                      <a:pt x="37" y="29"/>
                      <a:pt x="29" y="37"/>
                      <a:pt x="19" y="37"/>
                    </a:cubicBezTo>
                    <a:cubicBezTo>
                      <a:pt x="8" y="37"/>
                      <a:pt x="0" y="29"/>
                      <a:pt x="0" y="19"/>
                    </a:cubicBezTo>
                    <a:cubicBezTo>
                      <a:pt x="0" y="9"/>
                      <a:pt x="8" y="0"/>
                      <a:pt x="19" y="0"/>
                    </a:cubicBezTo>
                    <a:moveTo>
                      <a:pt x="3" y="51"/>
                    </a:moveTo>
                    <a:cubicBezTo>
                      <a:pt x="35" y="51"/>
                      <a:pt x="35" y="51"/>
                      <a:pt x="35" y="51"/>
                    </a:cubicBezTo>
                    <a:cubicBezTo>
                      <a:pt x="35" y="154"/>
                      <a:pt x="35" y="154"/>
                      <a:pt x="35" y="154"/>
                    </a:cubicBezTo>
                    <a:cubicBezTo>
                      <a:pt x="3" y="154"/>
                      <a:pt x="3" y="154"/>
                      <a:pt x="3" y="154"/>
                    </a:cubicBezTo>
                    <a:lnTo>
                      <a:pt x="3" y="5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eaLnBrk="1"/>
                <a:endParaRPr lang="en-CA" dirty="0"/>
              </a:p>
            </p:txBody>
          </p:sp>
          <p:sp>
            <p:nvSpPr>
              <p:cNvPr id="30" name="Freeform 10"/>
              <p:cNvSpPr>
                <a:spLocks/>
              </p:cNvSpPr>
              <p:nvPr/>
            </p:nvSpPr>
            <p:spPr bwMode="gray">
              <a:xfrm>
                <a:off x="4640263" y="3314701"/>
                <a:ext cx="371475" cy="400050"/>
              </a:xfrm>
              <a:custGeom>
                <a:avLst/>
                <a:gdLst>
                  <a:gd name="T0" fmla="*/ 0 w 99"/>
                  <a:gd name="T1" fmla="*/ 2 h 105"/>
                  <a:gd name="T2" fmla="*/ 30 w 99"/>
                  <a:gd name="T3" fmla="*/ 2 h 105"/>
                  <a:gd name="T4" fmla="*/ 30 w 99"/>
                  <a:gd name="T5" fmla="*/ 16 h 105"/>
                  <a:gd name="T6" fmla="*/ 30 w 99"/>
                  <a:gd name="T7" fmla="*/ 16 h 105"/>
                  <a:gd name="T8" fmla="*/ 61 w 99"/>
                  <a:gd name="T9" fmla="*/ 0 h 105"/>
                  <a:gd name="T10" fmla="*/ 99 w 99"/>
                  <a:gd name="T11" fmla="*/ 49 h 105"/>
                  <a:gd name="T12" fmla="*/ 99 w 99"/>
                  <a:gd name="T13" fmla="*/ 105 h 105"/>
                  <a:gd name="T14" fmla="*/ 67 w 99"/>
                  <a:gd name="T15" fmla="*/ 105 h 105"/>
                  <a:gd name="T16" fmla="*/ 67 w 99"/>
                  <a:gd name="T17" fmla="*/ 55 h 105"/>
                  <a:gd name="T18" fmla="*/ 50 w 99"/>
                  <a:gd name="T19" fmla="*/ 28 h 105"/>
                  <a:gd name="T20" fmla="*/ 31 w 99"/>
                  <a:gd name="T21" fmla="*/ 54 h 105"/>
                  <a:gd name="T22" fmla="*/ 31 w 99"/>
                  <a:gd name="T23" fmla="*/ 105 h 105"/>
                  <a:gd name="T24" fmla="*/ 0 w 99"/>
                  <a:gd name="T25" fmla="*/ 105 h 105"/>
                  <a:gd name="T26" fmla="*/ 0 w 99"/>
                  <a:gd name="T27" fmla="*/ 2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99" h="105">
                    <a:moveTo>
                      <a:pt x="0" y="2"/>
                    </a:moveTo>
                    <a:cubicBezTo>
                      <a:pt x="30" y="2"/>
                      <a:pt x="30" y="2"/>
                      <a:pt x="30" y="2"/>
                    </a:cubicBezTo>
                    <a:cubicBezTo>
                      <a:pt x="30" y="16"/>
                      <a:pt x="30" y="16"/>
                      <a:pt x="30" y="16"/>
                    </a:cubicBezTo>
                    <a:cubicBezTo>
                      <a:pt x="30" y="16"/>
                      <a:pt x="30" y="16"/>
                      <a:pt x="30" y="16"/>
                    </a:cubicBezTo>
                    <a:cubicBezTo>
                      <a:pt x="35" y="8"/>
                      <a:pt x="45" y="0"/>
                      <a:pt x="61" y="0"/>
                    </a:cubicBezTo>
                    <a:cubicBezTo>
                      <a:pt x="93" y="0"/>
                      <a:pt x="99" y="21"/>
                      <a:pt x="99" y="49"/>
                    </a:cubicBezTo>
                    <a:cubicBezTo>
                      <a:pt x="99" y="105"/>
                      <a:pt x="99" y="105"/>
                      <a:pt x="99" y="105"/>
                    </a:cubicBezTo>
                    <a:cubicBezTo>
                      <a:pt x="67" y="105"/>
                      <a:pt x="67" y="105"/>
                      <a:pt x="67" y="105"/>
                    </a:cubicBezTo>
                    <a:cubicBezTo>
                      <a:pt x="67" y="55"/>
                      <a:pt x="67" y="55"/>
                      <a:pt x="67" y="55"/>
                    </a:cubicBezTo>
                    <a:cubicBezTo>
                      <a:pt x="67" y="43"/>
                      <a:pt x="67" y="28"/>
                      <a:pt x="50" y="28"/>
                    </a:cubicBezTo>
                    <a:cubicBezTo>
                      <a:pt x="34" y="28"/>
                      <a:pt x="31" y="41"/>
                      <a:pt x="31" y="54"/>
                    </a:cubicBezTo>
                    <a:cubicBezTo>
                      <a:pt x="31" y="105"/>
                      <a:pt x="31" y="105"/>
                      <a:pt x="31" y="105"/>
                    </a:cubicBezTo>
                    <a:cubicBezTo>
                      <a:pt x="0" y="105"/>
                      <a:pt x="0" y="105"/>
                      <a:pt x="0" y="105"/>
                    </a:cubicBezTo>
                    <a:lnTo>
                      <a:pt x="0" y="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eaLnBrk="1"/>
                <a:endParaRPr lang="en-CA" dirty="0"/>
              </a:p>
            </p:txBody>
          </p:sp>
        </p:grpSp>
        <p:grpSp>
          <p:nvGrpSpPr>
            <p:cNvPr id="18" name="Groupe 17"/>
            <p:cNvGrpSpPr/>
            <p:nvPr/>
          </p:nvGrpSpPr>
          <p:grpSpPr bwMode="gray">
            <a:xfrm>
              <a:off x="7054850" y="3017838"/>
              <a:ext cx="809625" cy="817563"/>
              <a:chOff x="7054850" y="3017838"/>
              <a:chExt cx="809625" cy="817563"/>
            </a:xfrm>
          </p:grpSpPr>
          <p:sp>
            <p:nvSpPr>
              <p:cNvPr id="25" name="Freeform 7"/>
              <p:cNvSpPr>
                <a:spLocks/>
              </p:cNvSpPr>
              <p:nvPr/>
            </p:nvSpPr>
            <p:spPr bwMode="gray">
              <a:xfrm>
                <a:off x="7054850" y="3017838"/>
                <a:ext cx="809625" cy="817563"/>
              </a:xfrm>
              <a:custGeom>
                <a:avLst/>
                <a:gdLst>
                  <a:gd name="T0" fmla="*/ 199 w 215"/>
                  <a:gd name="T1" fmla="*/ 0 h 215"/>
                  <a:gd name="T2" fmla="*/ 16 w 215"/>
                  <a:gd name="T3" fmla="*/ 0 h 215"/>
                  <a:gd name="T4" fmla="*/ 0 w 215"/>
                  <a:gd name="T5" fmla="*/ 15 h 215"/>
                  <a:gd name="T6" fmla="*/ 0 w 215"/>
                  <a:gd name="T7" fmla="*/ 199 h 215"/>
                  <a:gd name="T8" fmla="*/ 16 w 215"/>
                  <a:gd name="T9" fmla="*/ 215 h 215"/>
                  <a:gd name="T10" fmla="*/ 199 w 215"/>
                  <a:gd name="T11" fmla="*/ 215 h 215"/>
                  <a:gd name="T12" fmla="*/ 215 w 215"/>
                  <a:gd name="T13" fmla="*/ 199 h 215"/>
                  <a:gd name="T14" fmla="*/ 215 w 215"/>
                  <a:gd name="T15" fmla="*/ 15 h 215"/>
                  <a:gd name="T16" fmla="*/ 199 w 215"/>
                  <a:gd name="T17" fmla="*/ 0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5" h="215">
                    <a:moveTo>
                      <a:pt x="199" y="0"/>
                    </a:moveTo>
                    <a:cubicBezTo>
                      <a:pt x="16" y="0"/>
                      <a:pt x="16" y="0"/>
                      <a:pt x="16" y="0"/>
                    </a:cubicBezTo>
                    <a:cubicBezTo>
                      <a:pt x="7" y="0"/>
                      <a:pt x="0" y="7"/>
                      <a:pt x="0" y="15"/>
                    </a:cubicBezTo>
                    <a:cubicBezTo>
                      <a:pt x="0" y="199"/>
                      <a:pt x="0" y="199"/>
                      <a:pt x="0" y="199"/>
                    </a:cubicBezTo>
                    <a:cubicBezTo>
                      <a:pt x="0" y="208"/>
                      <a:pt x="7" y="215"/>
                      <a:pt x="16" y="215"/>
                    </a:cubicBezTo>
                    <a:cubicBezTo>
                      <a:pt x="199" y="215"/>
                      <a:pt x="199" y="215"/>
                      <a:pt x="199" y="215"/>
                    </a:cubicBezTo>
                    <a:cubicBezTo>
                      <a:pt x="208" y="215"/>
                      <a:pt x="215" y="208"/>
                      <a:pt x="215" y="199"/>
                    </a:cubicBezTo>
                    <a:cubicBezTo>
                      <a:pt x="215" y="15"/>
                      <a:pt x="215" y="15"/>
                      <a:pt x="215" y="15"/>
                    </a:cubicBezTo>
                    <a:cubicBezTo>
                      <a:pt x="215" y="7"/>
                      <a:pt x="208" y="0"/>
                      <a:pt x="199" y="0"/>
                    </a:cubicBezTo>
                  </a:path>
                </a:pathLst>
              </a:custGeom>
              <a:solidFill>
                <a:srgbClr val="DC4A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eaLnBrk="1"/>
                <a:endParaRPr lang="en-CA" dirty="0"/>
              </a:p>
            </p:txBody>
          </p:sp>
          <p:sp>
            <p:nvSpPr>
              <p:cNvPr id="26" name="Freeform 11"/>
              <p:cNvSpPr>
                <a:spLocks/>
              </p:cNvSpPr>
              <p:nvPr/>
            </p:nvSpPr>
            <p:spPr bwMode="gray">
              <a:xfrm>
                <a:off x="7551738" y="3170238"/>
                <a:ext cx="247650" cy="250825"/>
              </a:xfrm>
              <a:custGeom>
                <a:avLst/>
                <a:gdLst>
                  <a:gd name="T0" fmla="*/ 156 w 156"/>
                  <a:gd name="T1" fmla="*/ 65 h 158"/>
                  <a:gd name="T2" fmla="*/ 92 w 156"/>
                  <a:gd name="T3" fmla="*/ 65 h 158"/>
                  <a:gd name="T4" fmla="*/ 92 w 156"/>
                  <a:gd name="T5" fmla="*/ 0 h 158"/>
                  <a:gd name="T6" fmla="*/ 78 w 156"/>
                  <a:gd name="T7" fmla="*/ 0 h 158"/>
                  <a:gd name="T8" fmla="*/ 78 w 156"/>
                  <a:gd name="T9" fmla="*/ 65 h 158"/>
                  <a:gd name="T10" fmla="*/ 0 w 156"/>
                  <a:gd name="T11" fmla="*/ 65 h 158"/>
                  <a:gd name="T12" fmla="*/ 0 w 156"/>
                  <a:gd name="T13" fmla="*/ 91 h 158"/>
                  <a:gd name="T14" fmla="*/ 78 w 156"/>
                  <a:gd name="T15" fmla="*/ 91 h 158"/>
                  <a:gd name="T16" fmla="*/ 78 w 156"/>
                  <a:gd name="T17" fmla="*/ 158 h 158"/>
                  <a:gd name="T18" fmla="*/ 92 w 156"/>
                  <a:gd name="T19" fmla="*/ 158 h 158"/>
                  <a:gd name="T20" fmla="*/ 92 w 156"/>
                  <a:gd name="T21" fmla="*/ 91 h 158"/>
                  <a:gd name="T22" fmla="*/ 156 w 156"/>
                  <a:gd name="T23" fmla="*/ 91 h 158"/>
                  <a:gd name="T24" fmla="*/ 156 w 156"/>
                  <a:gd name="T25" fmla="*/ 65 h 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6" h="158">
                    <a:moveTo>
                      <a:pt x="156" y="65"/>
                    </a:moveTo>
                    <a:lnTo>
                      <a:pt x="92" y="65"/>
                    </a:lnTo>
                    <a:lnTo>
                      <a:pt x="92" y="0"/>
                    </a:lnTo>
                    <a:lnTo>
                      <a:pt x="78" y="0"/>
                    </a:lnTo>
                    <a:lnTo>
                      <a:pt x="78" y="65"/>
                    </a:lnTo>
                    <a:lnTo>
                      <a:pt x="0" y="65"/>
                    </a:lnTo>
                    <a:lnTo>
                      <a:pt x="0" y="91"/>
                    </a:lnTo>
                    <a:lnTo>
                      <a:pt x="78" y="91"/>
                    </a:lnTo>
                    <a:lnTo>
                      <a:pt x="78" y="158"/>
                    </a:lnTo>
                    <a:lnTo>
                      <a:pt x="92" y="158"/>
                    </a:lnTo>
                    <a:lnTo>
                      <a:pt x="92" y="91"/>
                    </a:lnTo>
                    <a:lnTo>
                      <a:pt x="156" y="91"/>
                    </a:lnTo>
                    <a:lnTo>
                      <a:pt x="156" y="65"/>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eaLnBrk="1"/>
                <a:endParaRPr lang="en-CA" dirty="0"/>
              </a:p>
            </p:txBody>
          </p:sp>
          <p:sp>
            <p:nvSpPr>
              <p:cNvPr id="27" name="Freeform 12"/>
              <p:cNvSpPr>
                <a:spLocks noEditPoints="1"/>
              </p:cNvSpPr>
              <p:nvPr/>
            </p:nvSpPr>
            <p:spPr bwMode="gray">
              <a:xfrm>
                <a:off x="7148513" y="3170238"/>
                <a:ext cx="361950" cy="555625"/>
              </a:xfrm>
              <a:custGeom>
                <a:avLst/>
                <a:gdLst>
                  <a:gd name="T0" fmla="*/ 47 w 96"/>
                  <a:gd name="T1" fmla="*/ 139 h 146"/>
                  <a:gd name="T2" fmla="*/ 17 w 96"/>
                  <a:gd name="T3" fmla="*/ 114 h 146"/>
                  <a:gd name="T4" fmla="*/ 50 w 96"/>
                  <a:gd name="T5" fmla="*/ 91 h 146"/>
                  <a:gd name="T6" fmla="*/ 61 w 96"/>
                  <a:gd name="T7" fmla="*/ 92 h 146"/>
                  <a:gd name="T8" fmla="*/ 80 w 96"/>
                  <a:gd name="T9" fmla="*/ 110 h 146"/>
                  <a:gd name="T10" fmla="*/ 80 w 96"/>
                  <a:gd name="T11" fmla="*/ 115 h 146"/>
                  <a:gd name="T12" fmla="*/ 47 w 96"/>
                  <a:gd name="T13" fmla="*/ 139 h 146"/>
                  <a:gd name="T14" fmla="*/ 52 w 96"/>
                  <a:gd name="T15" fmla="*/ 61 h 146"/>
                  <a:gd name="T16" fmla="*/ 27 w 96"/>
                  <a:gd name="T17" fmla="*/ 32 h 146"/>
                  <a:gd name="T18" fmla="*/ 44 w 96"/>
                  <a:gd name="T19" fmla="*/ 5 h 146"/>
                  <a:gd name="T20" fmla="*/ 69 w 96"/>
                  <a:gd name="T21" fmla="*/ 33 h 146"/>
                  <a:gd name="T22" fmla="*/ 52 w 96"/>
                  <a:gd name="T23" fmla="*/ 61 h 146"/>
                  <a:gd name="T24" fmla="*/ 76 w 96"/>
                  <a:gd name="T25" fmla="*/ 83 h 146"/>
                  <a:gd name="T26" fmla="*/ 64 w 96"/>
                  <a:gd name="T27" fmla="*/ 69 h 146"/>
                  <a:gd name="T28" fmla="*/ 73 w 96"/>
                  <a:gd name="T29" fmla="*/ 56 h 146"/>
                  <a:gd name="T30" fmla="*/ 86 w 96"/>
                  <a:gd name="T31" fmla="*/ 32 h 146"/>
                  <a:gd name="T32" fmla="*/ 71 w 96"/>
                  <a:gd name="T33" fmla="*/ 5 h 146"/>
                  <a:gd name="T34" fmla="*/ 85 w 96"/>
                  <a:gd name="T35" fmla="*/ 5 h 146"/>
                  <a:gd name="T36" fmla="*/ 96 w 96"/>
                  <a:gd name="T37" fmla="*/ 0 h 146"/>
                  <a:gd name="T38" fmla="*/ 50 w 96"/>
                  <a:gd name="T39" fmla="*/ 0 h 146"/>
                  <a:gd name="T40" fmla="*/ 10 w 96"/>
                  <a:gd name="T41" fmla="*/ 33 h 146"/>
                  <a:gd name="T42" fmla="*/ 45 w 96"/>
                  <a:gd name="T43" fmla="*/ 66 h 146"/>
                  <a:gd name="T44" fmla="*/ 49 w 96"/>
                  <a:gd name="T45" fmla="*/ 65 h 146"/>
                  <a:gd name="T46" fmla="*/ 47 w 96"/>
                  <a:gd name="T47" fmla="*/ 74 h 146"/>
                  <a:gd name="T48" fmla="*/ 53 w 96"/>
                  <a:gd name="T49" fmla="*/ 86 h 146"/>
                  <a:gd name="T50" fmla="*/ 45 w 96"/>
                  <a:gd name="T51" fmla="*/ 86 h 146"/>
                  <a:gd name="T52" fmla="*/ 0 w 96"/>
                  <a:gd name="T53" fmla="*/ 119 h 146"/>
                  <a:gd name="T54" fmla="*/ 47 w 96"/>
                  <a:gd name="T55" fmla="*/ 146 h 146"/>
                  <a:gd name="T56" fmla="*/ 92 w 96"/>
                  <a:gd name="T57" fmla="*/ 113 h 146"/>
                  <a:gd name="T58" fmla="*/ 76 w 96"/>
                  <a:gd name="T59" fmla="*/ 83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96" h="146">
                    <a:moveTo>
                      <a:pt x="47" y="139"/>
                    </a:moveTo>
                    <a:cubicBezTo>
                      <a:pt x="29" y="139"/>
                      <a:pt x="17" y="128"/>
                      <a:pt x="17" y="114"/>
                    </a:cubicBezTo>
                    <a:cubicBezTo>
                      <a:pt x="17" y="101"/>
                      <a:pt x="32" y="90"/>
                      <a:pt x="50" y="91"/>
                    </a:cubicBezTo>
                    <a:cubicBezTo>
                      <a:pt x="54" y="91"/>
                      <a:pt x="58" y="91"/>
                      <a:pt x="61" y="92"/>
                    </a:cubicBezTo>
                    <a:cubicBezTo>
                      <a:pt x="71" y="99"/>
                      <a:pt x="78" y="103"/>
                      <a:pt x="80" y="110"/>
                    </a:cubicBezTo>
                    <a:cubicBezTo>
                      <a:pt x="80" y="112"/>
                      <a:pt x="80" y="113"/>
                      <a:pt x="80" y="115"/>
                    </a:cubicBezTo>
                    <a:cubicBezTo>
                      <a:pt x="80" y="128"/>
                      <a:pt x="72" y="139"/>
                      <a:pt x="47" y="139"/>
                    </a:cubicBezTo>
                    <a:moveTo>
                      <a:pt x="52" y="61"/>
                    </a:moveTo>
                    <a:cubicBezTo>
                      <a:pt x="40" y="60"/>
                      <a:pt x="29" y="47"/>
                      <a:pt x="27" y="32"/>
                    </a:cubicBezTo>
                    <a:cubicBezTo>
                      <a:pt x="25" y="16"/>
                      <a:pt x="32" y="5"/>
                      <a:pt x="44" y="5"/>
                    </a:cubicBezTo>
                    <a:cubicBezTo>
                      <a:pt x="56" y="5"/>
                      <a:pt x="67" y="18"/>
                      <a:pt x="69" y="33"/>
                    </a:cubicBezTo>
                    <a:cubicBezTo>
                      <a:pt x="71" y="49"/>
                      <a:pt x="63" y="61"/>
                      <a:pt x="52" y="61"/>
                    </a:cubicBezTo>
                    <a:moveTo>
                      <a:pt x="76" y="83"/>
                    </a:moveTo>
                    <a:cubicBezTo>
                      <a:pt x="72" y="81"/>
                      <a:pt x="64" y="73"/>
                      <a:pt x="64" y="69"/>
                    </a:cubicBezTo>
                    <a:cubicBezTo>
                      <a:pt x="64" y="64"/>
                      <a:pt x="65" y="62"/>
                      <a:pt x="73" y="56"/>
                    </a:cubicBezTo>
                    <a:cubicBezTo>
                      <a:pt x="80" y="50"/>
                      <a:pt x="86" y="42"/>
                      <a:pt x="86" y="32"/>
                    </a:cubicBezTo>
                    <a:cubicBezTo>
                      <a:pt x="86" y="21"/>
                      <a:pt x="81" y="11"/>
                      <a:pt x="71" y="5"/>
                    </a:cubicBezTo>
                    <a:cubicBezTo>
                      <a:pt x="85" y="5"/>
                      <a:pt x="85" y="5"/>
                      <a:pt x="85" y="5"/>
                    </a:cubicBezTo>
                    <a:cubicBezTo>
                      <a:pt x="96" y="0"/>
                      <a:pt x="96" y="0"/>
                      <a:pt x="96" y="0"/>
                    </a:cubicBezTo>
                    <a:cubicBezTo>
                      <a:pt x="50" y="0"/>
                      <a:pt x="50" y="0"/>
                      <a:pt x="50" y="0"/>
                    </a:cubicBezTo>
                    <a:cubicBezTo>
                      <a:pt x="29" y="0"/>
                      <a:pt x="10" y="15"/>
                      <a:pt x="10" y="33"/>
                    </a:cubicBezTo>
                    <a:cubicBezTo>
                      <a:pt x="10" y="51"/>
                      <a:pt x="24" y="66"/>
                      <a:pt x="45" y="66"/>
                    </a:cubicBezTo>
                    <a:cubicBezTo>
                      <a:pt x="46" y="66"/>
                      <a:pt x="48" y="65"/>
                      <a:pt x="49" y="65"/>
                    </a:cubicBezTo>
                    <a:cubicBezTo>
                      <a:pt x="48" y="68"/>
                      <a:pt x="47" y="71"/>
                      <a:pt x="47" y="74"/>
                    </a:cubicBezTo>
                    <a:cubicBezTo>
                      <a:pt x="47" y="79"/>
                      <a:pt x="50" y="83"/>
                      <a:pt x="53" y="86"/>
                    </a:cubicBezTo>
                    <a:cubicBezTo>
                      <a:pt x="50" y="86"/>
                      <a:pt x="48" y="86"/>
                      <a:pt x="45" y="86"/>
                    </a:cubicBezTo>
                    <a:cubicBezTo>
                      <a:pt x="20" y="86"/>
                      <a:pt x="0" y="103"/>
                      <a:pt x="0" y="119"/>
                    </a:cubicBezTo>
                    <a:cubicBezTo>
                      <a:pt x="0" y="136"/>
                      <a:pt x="22" y="146"/>
                      <a:pt x="47" y="146"/>
                    </a:cubicBezTo>
                    <a:cubicBezTo>
                      <a:pt x="76" y="146"/>
                      <a:pt x="92" y="130"/>
                      <a:pt x="92" y="113"/>
                    </a:cubicBezTo>
                    <a:cubicBezTo>
                      <a:pt x="92" y="100"/>
                      <a:pt x="88" y="92"/>
                      <a:pt x="76" y="83"/>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eaLnBrk="1"/>
                <a:endParaRPr lang="en-CA" dirty="0"/>
              </a:p>
            </p:txBody>
          </p:sp>
        </p:grpSp>
        <p:grpSp>
          <p:nvGrpSpPr>
            <p:cNvPr id="19" name="Groupe 18"/>
            <p:cNvGrpSpPr/>
            <p:nvPr/>
          </p:nvGrpSpPr>
          <p:grpSpPr bwMode="gray">
            <a:xfrm>
              <a:off x="6137275" y="3017838"/>
              <a:ext cx="808038" cy="817563"/>
              <a:chOff x="6137275" y="3017838"/>
              <a:chExt cx="808038" cy="817563"/>
            </a:xfrm>
          </p:grpSpPr>
          <p:sp>
            <p:nvSpPr>
              <p:cNvPr id="23" name="Freeform 6"/>
              <p:cNvSpPr>
                <a:spLocks/>
              </p:cNvSpPr>
              <p:nvPr/>
            </p:nvSpPr>
            <p:spPr bwMode="gray">
              <a:xfrm>
                <a:off x="6137275" y="3017838"/>
                <a:ext cx="808038" cy="817563"/>
              </a:xfrm>
              <a:custGeom>
                <a:avLst/>
                <a:gdLst>
                  <a:gd name="T0" fmla="*/ 199 w 215"/>
                  <a:gd name="T1" fmla="*/ 0 h 215"/>
                  <a:gd name="T2" fmla="*/ 16 w 215"/>
                  <a:gd name="T3" fmla="*/ 0 h 215"/>
                  <a:gd name="T4" fmla="*/ 0 w 215"/>
                  <a:gd name="T5" fmla="*/ 15 h 215"/>
                  <a:gd name="T6" fmla="*/ 0 w 215"/>
                  <a:gd name="T7" fmla="*/ 199 h 215"/>
                  <a:gd name="T8" fmla="*/ 16 w 215"/>
                  <a:gd name="T9" fmla="*/ 215 h 215"/>
                  <a:gd name="T10" fmla="*/ 199 w 215"/>
                  <a:gd name="T11" fmla="*/ 215 h 215"/>
                  <a:gd name="T12" fmla="*/ 215 w 215"/>
                  <a:gd name="T13" fmla="*/ 199 h 215"/>
                  <a:gd name="T14" fmla="*/ 215 w 215"/>
                  <a:gd name="T15" fmla="*/ 15 h 215"/>
                  <a:gd name="T16" fmla="*/ 199 w 215"/>
                  <a:gd name="T17" fmla="*/ 0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5" h="215">
                    <a:moveTo>
                      <a:pt x="199" y="0"/>
                    </a:moveTo>
                    <a:cubicBezTo>
                      <a:pt x="16" y="0"/>
                      <a:pt x="16" y="0"/>
                      <a:pt x="16" y="0"/>
                    </a:cubicBezTo>
                    <a:cubicBezTo>
                      <a:pt x="7" y="0"/>
                      <a:pt x="0" y="7"/>
                      <a:pt x="0" y="15"/>
                    </a:cubicBezTo>
                    <a:cubicBezTo>
                      <a:pt x="0" y="199"/>
                      <a:pt x="0" y="199"/>
                      <a:pt x="0" y="199"/>
                    </a:cubicBezTo>
                    <a:cubicBezTo>
                      <a:pt x="0" y="208"/>
                      <a:pt x="7" y="215"/>
                      <a:pt x="16" y="215"/>
                    </a:cubicBezTo>
                    <a:cubicBezTo>
                      <a:pt x="199" y="215"/>
                      <a:pt x="199" y="215"/>
                      <a:pt x="199" y="215"/>
                    </a:cubicBezTo>
                    <a:cubicBezTo>
                      <a:pt x="207" y="215"/>
                      <a:pt x="215" y="208"/>
                      <a:pt x="215" y="199"/>
                    </a:cubicBezTo>
                    <a:cubicBezTo>
                      <a:pt x="215" y="15"/>
                      <a:pt x="215" y="15"/>
                      <a:pt x="215" y="15"/>
                    </a:cubicBezTo>
                    <a:cubicBezTo>
                      <a:pt x="215" y="7"/>
                      <a:pt x="207" y="0"/>
                      <a:pt x="199" y="0"/>
                    </a:cubicBezTo>
                  </a:path>
                </a:pathLst>
              </a:custGeom>
              <a:gradFill flip="none" rotWithShape="1">
                <a:gsLst>
                  <a:gs pos="0">
                    <a:srgbClr val="B62026"/>
                  </a:gs>
                  <a:gs pos="100000">
                    <a:srgbClr val="E32E27"/>
                  </a:gs>
                </a:gsLst>
                <a:lin ang="16200000" scaled="1"/>
                <a:tileRect/>
              </a:gradFill>
              <a:ln>
                <a:noFill/>
              </a:ln>
            </p:spPr>
            <p:txBody>
              <a:bodyPr vert="horz" wrap="square" lIns="91440" tIns="45720" rIns="91440" bIns="45720" numCol="1" anchor="t" anchorCtr="0" compatLnSpc="1">
                <a:prstTxWarp prst="textNoShape">
                  <a:avLst/>
                </a:prstTxWarp>
              </a:bodyPr>
              <a:lstStyle/>
              <a:p>
                <a:pPr eaLnBrk="1"/>
                <a:endParaRPr lang="en-CA" dirty="0"/>
              </a:p>
            </p:txBody>
          </p:sp>
          <p:sp>
            <p:nvSpPr>
              <p:cNvPr id="24" name="Freeform 13"/>
              <p:cNvSpPr>
                <a:spLocks noEditPoints="1"/>
              </p:cNvSpPr>
              <p:nvPr/>
            </p:nvSpPr>
            <p:spPr bwMode="gray">
              <a:xfrm>
                <a:off x="6280150" y="3222626"/>
                <a:ext cx="530225" cy="404813"/>
              </a:xfrm>
              <a:custGeom>
                <a:avLst/>
                <a:gdLst>
                  <a:gd name="T0" fmla="*/ 50 w 141"/>
                  <a:gd name="T1" fmla="*/ 76 h 106"/>
                  <a:gd name="T2" fmla="*/ 50 w 141"/>
                  <a:gd name="T3" fmla="*/ 29 h 106"/>
                  <a:gd name="T4" fmla="*/ 91 w 141"/>
                  <a:gd name="T5" fmla="*/ 53 h 106"/>
                  <a:gd name="T6" fmla="*/ 50 w 141"/>
                  <a:gd name="T7" fmla="*/ 76 h 106"/>
                  <a:gd name="T8" fmla="*/ 120 w 141"/>
                  <a:gd name="T9" fmla="*/ 0 h 106"/>
                  <a:gd name="T10" fmla="*/ 21 w 141"/>
                  <a:gd name="T11" fmla="*/ 0 h 106"/>
                  <a:gd name="T12" fmla="*/ 0 w 141"/>
                  <a:gd name="T13" fmla="*/ 21 h 106"/>
                  <a:gd name="T14" fmla="*/ 0 w 141"/>
                  <a:gd name="T15" fmla="*/ 85 h 106"/>
                  <a:gd name="T16" fmla="*/ 21 w 141"/>
                  <a:gd name="T17" fmla="*/ 106 h 106"/>
                  <a:gd name="T18" fmla="*/ 120 w 141"/>
                  <a:gd name="T19" fmla="*/ 106 h 106"/>
                  <a:gd name="T20" fmla="*/ 141 w 141"/>
                  <a:gd name="T21" fmla="*/ 85 h 106"/>
                  <a:gd name="T22" fmla="*/ 141 w 141"/>
                  <a:gd name="T23" fmla="*/ 21 h 106"/>
                  <a:gd name="T24" fmla="*/ 120 w 141"/>
                  <a:gd name="T25"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41" h="106">
                    <a:moveTo>
                      <a:pt x="50" y="76"/>
                    </a:moveTo>
                    <a:cubicBezTo>
                      <a:pt x="50" y="29"/>
                      <a:pt x="50" y="29"/>
                      <a:pt x="50" y="29"/>
                    </a:cubicBezTo>
                    <a:cubicBezTo>
                      <a:pt x="91" y="53"/>
                      <a:pt x="91" y="53"/>
                      <a:pt x="91" y="53"/>
                    </a:cubicBezTo>
                    <a:lnTo>
                      <a:pt x="50" y="76"/>
                    </a:lnTo>
                    <a:close/>
                    <a:moveTo>
                      <a:pt x="120" y="0"/>
                    </a:moveTo>
                    <a:cubicBezTo>
                      <a:pt x="21" y="0"/>
                      <a:pt x="21" y="0"/>
                      <a:pt x="21" y="0"/>
                    </a:cubicBezTo>
                    <a:cubicBezTo>
                      <a:pt x="9" y="0"/>
                      <a:pt x="0" y="9"/>
                      <a:pt x="0" y="21"/>
                    </a:cubicBezTo>
                    <a:cubicBezTo>
                      <a:pt x="0" y="85"/>
                      <a:pt x="0" y="85"/>
                      <a:pt x="0" y="85"/>
                    </a:cubicBezTo>
                    <a:cubicBezTo>
                      <a:pt x="0" y="97"/>
                      <a:pt x="9" y="106"/>
                      <a:pt x="21" y="106"/>
                    </a:cubicBezTo>
                    <a:cubicBezTo>
                      <a:pt x="120" y="106"/>
                      <a:pt x="120" y="106"/>
                      <a:pt x="120" y="106"/>
                    </a:cubicBezTo>
                    <a:cubicBezTo>
                      <a:pt x="131" y="106"/>
                      <a:pt x="141" y="97"/>
                      <a:pt x="141" y="85"/>
                    </a:cubicBezTo>
                    <a:cubicBezTo>
                      <a:pt x="141" y="21"/>
                      <a:pt x="141" y="21"/>
                      <a:pt x="141" y="21"/>
                    </a:cubicBezTo>
                    <a:cubicBezTo>
                      <a:pt x="141" y="9"/>
                      <a:pt x="131" y="0"/>
                      <a:pt x="120"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eaLnBrk="1"/>
                <a:endParaRPr lang="en-CA" dirty="0"/>
              </a:p>
            </p:txBody>
          </p:sp>
        </p:grpSp>
        <p:grpSp>
          <p:nvGrpSpPr>
            <p:cNvPr id="20" name="Groupe 19"/>
            <p:cNvGrpSpPr/>
            <p:nvPr/>
          </p:nvGrpSpPr>
          <p:grpSpPr bwMode="gray">
            <a:xfrm>
              <a:off x="5222875" y="3017838"/>
              <a:ext cx="809625" cy="817563"/>
              <a:chOff x="5222875" y="3017838"/>
              <a:chExt cx="809625" cy="817563"/>
            </a:xfrm>
          </p:grpSpPr>
          <p:sp>
            <p:nvSpPr>
              <p:cNvPr id="21" name="Freeform 5"/>
              <p:cNvSpPr>
                <a:spLocks/>
              </p:cNvSpPr>
              <p:nvPr/>
            </p:nvSpPr>
            <p:spPr bwMode="gray">
              <a:xfrm>
                <a:off x="5222875" y="3017838"/>
                <a:ext cx="809625" cy="817563"/>
              </a:xfrm>
              <a:custGeom>
                <a:avLst/>
                <a:gdLst>
                  <a:gd name="T0" fmla="*/ 199 w 215"/>
                  <a:gd name="T1" fmla="*/ 0 h 215"/>
                  <a:gd name="T2" fmla="*/ 16 w 215"/>
                  <a:gd name="T3" fmla="*/ 0 h 215"/>
                  <a:gd name="T4" fmla="*/ 0 w 215"/>
                  <a:gd name="T5" fmla="*/ 15 h 215"/>
                  <a:gd name="T6" fmla="*/ 0 w 215"/>
                  <a:gd name="T7" fmla="*/ 199 h 215"/>
                  <a:gd name="T8" fmla="*/ 16 w 215"/>
                  <a:gd name="T9" fmla="*/ 215 h 215"/>
                  <a:gd name="T10" fmla="*/ 199 w 215"/>
                  <a:gd name="T11" fmla="*/ 215 h 215"/>
                  <a:gd name="T12" fmla="*/ 215 w 215"/>
                  <a:gd name="T13" fmla="*/ 199 h 215"/>
                  <a:gd name="T14" fmla="*/ 215 w 215"/>
                  <a:gd name="T15" fmla="*/ 15 h 215"/>
                  <a:gd name="T16" fmla="*/ 199 w 215"/>
                  <a:gd name="T17" fmla="*/ 0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5" h="215">
                    <a:moveTo>
                      <a:pt x="199" y="0"/>
                    </a:moveTo>
                    <a:cubicBezTo>
                      <a:pt x="16" y="0"/>
                      <a:pt x="16" y="0"/>
                      <a:pt x="16" y="0"/>
                    </a:cubicBezTo>
                    <a:cubicBezTo>
                      <a:pt x="7" y="0"/>
                      <a:pt x="0" y="7"/>
                      <a:pt x="0" y="15"/>
                    </a:cubicBezTo>
                    <a:cubicBezTo>
                      <a:pt x="0" y="199"/>
                      <a:pt x="0" y="199"/>
                      <a:pt x="0" y="199"/>
                    </a:cubicBezTo>
                    <a:cubicBezTo>
                      <a:pt x="0" y="208"/>
                      <a:pt x="7" y="215"/>
                      <a:pt x="16" y="215"/>
                    </a:cubicBezTo>
                    <a:cubicBezTo>
                      <a:pt x="199" y="215"/>
                      <a:pt x="199" y="215"/>
                      <a:pt x="199" y="215"/>
                    </a:cubicBezTo>
                    <a:cubicBezTo>
                      <a:pt x="208" y="215"/>
                      <a:pt x="215" y="208"/>
                      <a:pt x="215" y="199"/>
                    </a:cubicBezTo>
                    <a:cubicBezTo>
                      <a:pt x="215" y="15"/>
                      <a:pt x="215" y="15"/>
                      <a:pt x="215" y="15"/>
                    </a:cubicBezTo>
                    <a:cubicBezTo>
                      <a:pt x="215" y="7"/>
                      <a:pt x="208" y="0"/>
                      <a:pt x="199" y="0"/>
                    </a:cubicBezTo>
                  </a:path>
                </a:pathLst>
              </a:custGeom>
              <a:solidFill>
                <a:srgbClr val="60A9D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eaLnBrk="1"/>
                <a:endParaRPr lang="en-CA" dirty="0"/>
              </a:p>
            </p:txBody>
          </p:sp>
          <p:sp>
            <p:nvSpPr>
              <p:cNvPr id="22" name="Freeform 14"/>
              <p:cNvSpPr>
                <a:spLocks/>
              </p:cNvSpPr>
              <p:nvPr/>
            </p:nvSpPr>
            <p:spPr bwMode="gray">
              <a:xfrm>
                <a:off x="5346700" y="3192463"/>
                <a:ext cx="573088" cy="473075"/>
              </a:xfrm>
              <a:custGeom>
                <a:avLst/>
                <a:gdLst>
                  <a:gd name="T0" fmla="*/ 152 w 152"/>
                  <a:gd name="T1" fmla="*/ 15 h 124"/>
                  <a:gd name="T2" fmla="*/ 134 w 152"/>
                  <a:gd name="T3" fmla="*/ 20 h 124"/>
                  <a:gd name="T4" fmla="*/ 148 w 152"/>
                  <a:gd name="T5" fmla="*/ 3 h 124"/>
                  <a:gd name="T6" fmla="*/ 128 w 152"/>
                  <a:gd name="T7" fmla="*/ 10 h 124"/>
                  <a:gd name="T8" fmla="*/ 105 w 152"/>
                  <a:gd name="T9" fmla="*/ 0 h 124"/>
                  <a:gd name="T10" fmla="*/ 74 w 152"/>
                  <a:gd name="T11" fmla="*/ 32 h 124"/>
                  <a:gd name="T12" fmla="*/ 75 w 152"/>
                  <a:gd name="T13" fmla="*/ 39 h 124"/>
                  <a:gd name="T14" fmla="*/ 10 w 152"/>
                  <a:gd name="T15" fmla="*/ 6 h 124"/>
                  <a:gd name="T16" fmla="*/ 6 w 152"/>
                  <a:gd name="T17" fmla="*/ 22 h 124"/>
                  <a:gd name="T18" fmla="*/ 20 w 152"/>
                  <a:gd name="T19" fmla="*/ 48 h 124"/>
                  <a:gd name="T20" fmla="*/ 6 w 152"/>
                  <a:gd name="T21" fmla="*/ 44 h 124"/>
                  <a:gd name="T22" fmla="*/ 6 w 152"/>
                  <a:gd name="T23" fmla="*/ 44 h 124"/>
                  <a:gd name="T24" fmla="*/ 31 w 152"/>
                  <a:gd name="T25" fmla="*/ 75 h 124"/>
                  <a:gd name="T26" fmla="*/ 23 w 152"/>
                  <a:gd name="T27" fmla="*/ 76 h 124"/>
                  <a:gd name="T28" fmla="*/ 17 w 152"/>
                  <a:gd name="T29" fmla="*/ 75 h 124"/>
                  <a:gd name="T30" fmla="*/ 46 w 152"/>
                  <a:gd name="T31" fmla="*/ 97 h 124"/>
                  <a:gd name="T32" fmla="*/ 7 w 152"/>
                  <a:gd name="T33" fmla="*/ 111 h 124"/>
                  <a:gd name="T34" fmla="*/ 0 w 152"/>
                  <a:gd name="T35" fmla="*/ 110 h 124"/>
                  <a:gd name="T36" fmla="*/ 48 w 152"/>
                  <a:gd name="T37" fmla="*/ 124 h 124"/>
                  <a:gd name="T38" fmla="*/ 137 w 152"/>
                  <a:gd name="T39" fmla="*/ 35 h 124"/>
                  <a:gd name="T40" fmla="*/ 137 w 152"/>
                  <a:gd name="T41" fmla="*/ 31 h 124"/>
                  <a:gd name="T42" fmla="*/ 152 w 152"/>
                  <a:gd name="T43" fmla="*/ 15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52" h="124">
                    <a:moveTo>
                      <a:pt x="152" y="15"/>
                    </a:moveTo>
                    <a:cubicBezTo>
                      <a:pt x="147" y="17"/>
                      <a:pt x="141" y="19"/>
                      <a:pt x="134" y="20"/>
                    </a:cubicBezTo>
                    <a:cubicBezTo>
                      <a:pt x="141" y="16"/>
                      <a:pt x="146" y="10"/>
                      <a:pt x="148" y="3"/>
                    </a:cubicBezTo>
                    <a:cubicBezTo>
                      <a:pt x="142" y="6"/>
                      <a:pt x="135" y="9"/>
                      <a:pt x="128" y="10"/>
                    </a:cubicBezTo>
                    <a:cubicBezTo>
                      <a:pt x="122" y="4"/>
                      <a:pt x="114" y="0"/>
                      <a:pt x="105" y="0"/>
                    </a:cubicBezTo>
                    <a:cubicBezTo>
                      <a:pt x="88" y="0"/>
                      <a:pt x="74" y="14"/>
                      <a:pt x="74" y="32"/>
                    </a:cubicBezTo>
                    <a:cubicBezTo>
                      <a:pt x="74" y="34"/>
                      <a:pt x="74" y="36"/>
                      <a:pt x="75" y="39"/>
                    </a:cubicBezTo>
                    <a:cubicBezTo>
                      <a:pt x="49" y="37"/>
                      <a:pt x="26" y="25"/>
                      <a:pt x="10" y="6"/>
                    </a:cubicBezTo>
                    <a:cubicBezTo>
                      <a:pt x="8" y="11"/>
                      <a:pt x="6" y="16"/>
                      <a:pt x="6" y="22"/>
                    </a:cubicBezTo>
                    <a:cubicBezTo>
                      <a:pt x="6" y="33"/>
                      <a:pt x="12" y="42"/>
                      <a:pt x="20" y="48"/>
                    </a:cubicBezTo>
                    <a:cubicBezTo>
                      <a:pt x="15" y="48"/>
                      <a:pt x="10" y="46"/>
                      <a:pt x="6" y="44"/>
                    </a:cubicBezTo>
                    <a:cubicBezTo>
                      <a:pt x="6" y="44"/>
                      <a:pt x="6" y="44"/>
                      <a:pt x="6" y="44"/>
                    </a:cubicBezTo>
                    <a:cubicBezTo>
                      <a:pt x="6" y="59"/>
                      <a:pt x="17" y="72"/>
                      <a:pt x="31" y="75"/>
                    </a:cubicBezTo>
                    <a:cubicBezTo>
                      <a:pt x="28" y="76"/>
                      <a:pt x="26" y="76"/>
                      <a:pt x="23" y="76"/>
                    </a:cubicBezTo>
                    <a:cubicBezTo>
                      <a:pt x="21" y="76"/>
                      <a:pt x="19" y="76"/>
                      <a:pt x="17" y="75"/>
                    </a:cubicBezTo>
                    <a:cubicBezTo>
                      <a:pt x="21" y="88"/>
                      <a:pt x="32" y="97"/>
                      <a:pt x="46" y="97"/>
                    </a:cubicBezTo>
                    <a:cubicBezTo>
                      <a:pt x="35" y="106"/>
                      <a:pt x="22" y="111"/>
                      <a:pt x="7" y="111"/>
                    </a:cubicBezTo>
                    <a:cubicBezTo>
                      <a:pt x="5" y="111"/>
                      <a:pt x="2" y="110"/>
                      <a:pt x="0" y="110"/>
                    </a:cubicBezTo>
                    <a:cubicBezTo>
                      <a:pt x="14" y="119"/>
                      <a:pt x="30" y="124"/>
                      <a:pt x="48" y="124"/>
                    </a:cubicBezTo>
                    <a:cubicBezTo>
                      <a:pt x="105" y="124"/>
                      <a:pt x="137" y="77"/>
                      <a:pt x="137" y="35"/>
                    </a:cubicBezTo>
                    <a:cubicBezTo>
                      <a:pt x="137" y="34"/>
                      <a:pt x="137" y="33"/>
                      <a:pt x="137" y="31"/>
                    </a:cubicBezTo>
                    <a:cubicBezTo>
                      <a:pt x="143" y="27"/>
                      <a:pt x="148" y="21"/>
                      <a:pt x="152" y="15"/>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eaLnBrk="1"/>
                <a:endParaRPr lang="en-CA" dirty="0"/>
              </a:p>
            </p:txBody>
          </p:sp>
        </p:grpSp>
      </p:grpSp>
      <p:sp>
        <p:nvSpPr>
          <p:cNvPr id="31" name="Freeform 228"/>
          <p:cNvSpPr>
            <a:spLocks noEditPoints="1"/>
          </p:cNvSpPr>
          <p:nvPr userDrawn="1"/>
        </p:nvSpPr>
        <p:spPr bwMode="auto">
          <a:xfrm>
            <a:off x="1980000" y="830099"/>
            <a:ext cx="822808" cy="331758"/>
          </a:xfrm>
          <a:custGeom>
            <a:avLst/>
            <a:gdLst>
              <a:gd name="T0" fmla="*/ 1076 w 1134"/>
              <a:gd name="T1" fmla="*/ 308 h 455"/>
              <a:gd name="T2" fmla="*/ 891 w 1134"/>
              <a:gd name="T3" fmla="*/ 347 h 455"/>
              <a:gd name="T4" fmla="*/ 980 w 1134"/>
              <a:gd name="T5" fmla="*/ 241 h 455"/>
              <a:gd name="T6" fmla="*/ 1079 w 1134"/>
              <a:gd name="T7" fmla="*/ 223 h 455"/>
              <a:gd name="T8" fmla="*/ 891 w 1134"/>
              <a:gd name="T9" fmla="*/ 9 h 455"/>
              <a:gd name="T10" fmla="*/ 987 w 1134"/>
              <a:gd name="T11" fmla="*/ 404 h 455"/>
              <a:gd name="T12" fmla="*/ 999 w 1134"/>
              <a:gd name="T13" fmla="*/ 356 h 455"/>
              <a:gd name="T14" fmla="*/ 852 w 1134"/>
              <a:gd name="T15" fmla="*/ 259 h 455"/>
              <a:gd name="T16" fmla="*/ 783 w 1134"/>
              <a:gd name="T17" fmla="*/ 347 h 455"/>
              <a:gd name="T18" fmla="*/ 625 w 1134"/>
              <a:gd name="T19" fmla="*/ 347 h 455"/>
              <a:gd name="T20" fmla="*/ 852 w 1134"/>
              <a:gd name="T21" fmla="*/ 9 h 455"/>
              <a:gd name="T22" fmla="*/ 687 w 1134"/>
              <a:gd name="T23" fmla="*/ 347 h 455"/>
              <a:gd name="T24" fmla="*/ 580 w 1134"/>
              <a:gd name="T25" fmla="*/ 207 h 455"/>
              <a:gd name="T26" fmla="*/ 419 w 1134"/>
              <a:gd name="T27" fmla="*/ 347 h 455"/>
              <a:gd name="T28" fmla="*/ 393 w 1134"/>
              <a:gd name="T29" fmla="*/ 207 h 455"/>
              <a:gd name="T30" fmla="*/ 580 w 1134"/>
              <a:gd name="T31" fmla="*/ 9 h 455"/>
              <a:gd name="T32" fmla="*/ 567 w 1134"/>
              <a:gd name="T33" fmla="*/ 259 h 455"/>
              <a:gd name="T34" fmla="*/ 372 w 1134"/>
              <a:gd name="T35" fmla="*/ 313 h 455"/>
              <a:gd name="T36" fmla="*/ 356 w 1134"/>
              <a:gd name="T37" fmla="*/ 314 h 455"/>
              <a:gd name="T38" fmla="*/ 352 w 1134"/>
              <a:gd name="T39" fmla="*/ 275 h 455"/>
              <a:gd name="T40" fmla="*/ 381 w 1134"/>
              <a:gd name="T41" fmla="*/ 246 h 455"/>
              <a:gd name="T42" fmla="*/ 372 w 1134"/>
              <a:gd name="T43" fmla="*/ 313 h 455"/>
              <a:gd name="T44" fmla="*/ 270 w 1134"/>
              <a:gd name="T45" fmla="*/ 343 h 455"/>
              <a:gd name="T46" fmla="*/ 150 w 1134"/>
              <a:gd name="T47" fmla="*/ 329 h 455"/>
              <a:gd name="T48" fmla="*/ 100 w 1134"/>
              <a:gd name="T49" fmla="*/ 307 h 455"/>
              <a:gd name="T50" fmla="*/ 74 w 1134"/>
              <a:gd name="T51" fmla="*/ 9 h 455"/>
              <a:gd name="T52" fmla="*/ 882 w 1134"/>
              <a:gd name="T53" fmla="*/ 0 h 455"/>
              <a:gd name="T54" fmla="*/ 861 w 1134"/>
              <a:gd name="T55" fmla="*/ 0 h 455"/>
              <a:gd name="T56" fmla="*/ 589 w 1134"/>
              <a:gd name="T57" fmla="*/ 207 h 455"/>
              <a:gd name="T58" fmla="*/ 337 w 1134"/>
              <a:gd name="T59" fmla="*/ 207 h 455"/>
              <a:gd name="T60" fmla="*/ 65 w 1134"/>
              <a:gd name="T61" fmla="*/ 0 h 455"/>
              <a:gd name="T62" fmla="*/ 57 w 1134"/>
              <a:gd name="T63" fmla="*/ 450 h 455"/>
              <a:gd name="T64" fmla="*/ 140 w 1134"/>
              <a:gd name="T65" fmla="*/ 450 h 455"/>
              <a:gd name="T66" fmla="*/ 266 w 1134"/>
              <a:gd name="T67" fmla="*/ 356 h 455"/>
              <a:gd name="T68" fmla="*/ 327 w 1134"/>
              <a:gd name="T69" fmla="*/ 356 h 455"/>
              <a:gd name="T70" fmla="*/ 360 w 1134"/>
              <a:gd name="T71" fmla="*/ 356 h 455"/>
              <a:gd name="T72" fmla="*/ 451 w 1134"/>
              <a:gd name="T73" fmla="*/ 450 h 455"/>
              <a:gd name="T74" fmla="*/ 568 w 1134"/>
              <a:gd name="T75" fmla="*/ 356 h 455"/>
              <a:gd name="T76" fmla="*/ 681 w 1134"/>
              <a:gd name="T77" fmla="*/ 356 h 455"/>
              <a:gd name="T78" fmla="*/ 761 w 1134"/>
              <a:gd name="T79" fmla="*/ 450 h 455"/>
              <a:gd name="T80" fmla="*/ 842 w 1134"/>
              <a:gd name="T81" fmla="*/ 429 h 455"/>
              <a:gd name="T82" fmla="*/ 1064 w 1134"/>
              <a:gd name="T83" fmla="*/ 356 h 455"/>
              <a:gd name="T84" fmla="*/ 882 w 1134"/>
              <a:gd name="T85" fmla="*/ 0 h 4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134" h="455">
                <a:moveTo>
                  <a:pt x="1125" y="347"/>
                </a:moveTo>
                <a:cubicBezTo>
                  <a:pt x="1066" y="347"/>
                  <a:pt x="1066" y="347"/>
                  <a:pt x="1066" y="347"/>
                </a:cubicBezTo>
                <a:cubicBezTo>
                  <a:pt x="1076" y="308"/>
                  <a:pt x="1076" y="308"/>
                  <a:pt x="1076" y="308"/>
                </a:cubicBezTo>
                <a:cubicBezTo>
                  <a:pt x="958" y="308"/>
                  <a:pt x="958" y="308"/>
                  <a:pt x="958" y="308"/>
                </a:cubicBezTo>
                <a:cubicBezTo>
                  <a:pt x="948" y="347"/>
                  <a:pt x="948" y="347"/>
                  <a:pt x="948" y="347"/>
                </a:cubicBezTo>
                <a:cubicBezTo>
                  <a:pt x="891" y="347"/>
                  <a:pt x="891" y="347"/>
                  <a:pt x="891" y="347"/>
                </a:cubicBezTo>
                <a:cubicBezTo>
                  <a:pt x="891" y="339"/>
                  <a:pt x="891" y="339"/>
                  <a:pt x="891" y="339"/>
                </a:cubicBezTo>
                <a:cubicBezTo>
                  <a:pt x="892" y="334"/>
                  <a:pt x="893" y="330"/>
                  <a:pt x="894" y="325"/>
                </a:cubicBezTo>
                <a:cubicBezTo>
                  <a:pt x="904" y="283"/>
                  <a:pt x="932" y="241"/>
                  <a:pt x="980" y="241"/>
                </a:cubicBezTo>
                <a:cubicBezTo>
                  <a:pt x="998" y="241"/>
                  <a:pt x="1017" y="248"/>
                  <a:pt x="1015" y="275"/>
                </a:cubicBezTo>
                <a:cubicBezTo>
                  <a:pt x="1085" y="275"/>
                  <a:pt x="1085" y="275"/>
                  <a:pt x="1085" y="275"/>
                </a:cubicBezTo>
                <a:cubicBezTo>
                  <a:pt x="1088" y="262"/>
                  <a:pt x="1092" y="242"/>
                  <a:pt x="1079" y="223"/>
                </a:cubicBezTo>
                <a:cubicBezTo>
                  <a:pt x="1064" y="202"/>
                  <a:pt x="1034" y="194"/>
                  <a:pt x="995" y="194"/>
                </a:cubicBezTo>
                <a:cubicBezTo>
                  <a:pt x="967" y="194"/>
                  <a:pt x="926" y="198"/>
                  <a:pt x="891" y="221"/>
                </a:cubicBezTo>
                <a:cubicBezTo>
                  <a:pt x="891" y="9"/>
                  <a:pt x="891" y="9"/>
                  <a:pt x="891" y="9"/>
                </a:cubicBezTo>
                <a:cubicBezTo>
                  <a:pt x="1125" y="9"/>
                  <a:pt x="1125" y="9"/>
                  <a:pt x="1125" y="9"/>
                </a:cubicBezTo>
                <a:lnTo>
                  <a:pt x="1125" y="347"/>
                </a:lnTo>
                <a:close/>
                <a:moveTo>
                  <a:pt x="987" y="404"/>
                </a:moveTo>
                <a:cubicBezTo>
                  <a:pt x="974" y="406"/>
                  <a:pt x="960" y="408"/>
                  <a:pt x="948" y="408"/>
                </a:cubicBezTo>
                <a:cubicBezTo>
                  <a:pt x="914" y="408"/>
                  <a:pt x="891" y="392"/>
                  <a:pt x="890" y="356"/>
                </a:cubicBezTo>
                <a:cubicBezTo>
                  <a:pt x="999" y="356"/>
                  <a:pt x="999" y="356"/>
                  <a:pt x="999" y="356"/>
                </a:cubicBezTo>
                <a:lnTo>
                  <a:pt x="987" y="404"/>
                </a:lnTo>
                <a:close/>
                <a:moveTo>
                  <a:pt x="852" y="211"/>
                </a:moveTo>
                <a:cubicBezTo>
                  <a:pt x="852" y="259"/>
                  <a:pt x="852" y="259"/>
                  <a:pt x="852" y="259"/>
                </a:cubicBezTo>
                <a:cubicBezTo>
                  <a:pt x="836" y="282"/>
                  <a:pt x="826" y="306"/>
                  <a:pt x="821" y="326"/>
                </a:cubicBezTo>
                <a:cubicBezTo>
                  <a:pt x="819" y="333"/>
                  <a:pt x="818" y="340"/>
                  <a:pt x="817" y="347"/>
                </a:cubicBezTo>
                <a:cubicBezTo>
                  <a:pt x="783" y="347"/>
                  <a:pt x="783" y="347"/>
                  <a:pt x="783" y="347"/>
                </a:cubicBezTo>
                <a:cubicBezTo>
                  <a:pt x="812" y="207"/>
                  <a:pt x="812" y="207"/>
                  <a:pt x="812" y="207"/>
                </a:cubicBezTo>
                <a:cubicBezTo>
                  <a:pt x="713" y="207"/>
                  <a:pt x="713" y="207"/>
                  <a:pt x="713" y="207"/>
                </a:cubicBezTo>
                <a:cubicBezTo>
                  <a:pt x="625" y="347"/>
                  <a:pt x="625" y="347"/>
                  <a:pt x="625" y="347"/>
                </a:cubicBezTo>
                <a:cubicBezTo>
                  <a:pt x="618" y="347"/>
                  <a:pt x="618" y="347"/>
                  <a:pt x="618" y="347"/>
                </a:cubicBezTo>
                <a:cubicBezTo>
                  <a:pt x="618" y="9"/>
                  <a:pt x="618" y="9"/>
                  <a:pt x="618" y="9"/>
                </a:cubicBezTo>
                <a:cubicBezTo>
                  <a:pt x="852" y="9"/>
                  <a:pt x="852" y="9"/>
                  <a:pt x="852" y="9"/>
                </a:cubicBezTo>
                <a:lnTo>
                  <a:pt x="852" y="211"/>
                </a:lnTo>
                <a:close/>
                <a:moveTo>
                  <a:pt x="722" y="347"/>
                </a:moveTo>
                <a:cubicBezTo>
                  <a:pt x="687" y="347"/>
                  <a:pt x="687" y="347"/>
                  <a:pt x="687" y="347"/>
                </a:cubicBezTo>
                <a:cubicBezTo>
                  <a:pt x="740" y="263"/>
                  <a:pt x="740" y="263"/>
                  <a:pt x="740" y="263"/>
                </a:cubicBezTo>
                <a:lnTo>
                  <a:pt x="722" y="347"/>
                </a:lnTo>
                <a:close/>
                <a:moveTo>
                  <a:pt x="580" y="207"/>
                </a:moveTo>
                <a:cubicBezTo>
                  <a:pt x="521" y="207"/>
                  <a:pt x="521" y="207"/>
                  <a:pt x="521" y="207"/>
                </a:cubicBezTo>
                <a:cubicBezTo>
                  <a:pt x="481" y="347"/>
                  <a:pt x="481" y="347"/>
                  <a:pt x="481" y="347"/>
                </a:cubicBezTo>
                <a:cubicBezTo>
                  <a:pt x="419" y="347"/>
                  <a:pt x="419" y="347"/>
                  <a:pt x="419" y="347"/>
                </a:cubicBezTo>
                <a:cubicBezTo>
                  <a:pt x="451" y="335"/>
                  <a:pt x="470" y="313"/>
                  <a:pt x="476" y="280"/>
                </a:cubicBezTo>
                <a:cubicBezTo>
                  <a:pt x="481" y="254"/>
                  <a:pt x="478" y="237"/>
                  <a:pt x="468" y="224"/>
                </a:cubicBezTo>
                <a:cubicBezTo>
                  <a:pt x="452" y="205"/>
                  <a:pt x="421" y="207"/>
                  <a:pt x="393" y="207"/>
                </a:cubicBezTo>
                <a:cubicBezTo>
                  <a:pt x="388" y="207"/>
                  <a:pt x="346" y="207"/>
                  <a:pt x="346" y="207"/>
                </a:cubicBezTo>
                <a:cubicBezTo>
                  <a:pt x="346" y="9"/>
                  <a:pt x="346" y="9"/>
                  <a:pt x="346" y="9"/>
                </a:cubicBezTo>
                <a:cubicBezTo>
                  <a:pt x="580" y="9"/>
                  <a:pt x="580" y="9"/>
                  <a:pt x="580" y="9"/>
                </a:cubicBezTo>
                <a:lnTo>
                  <a:pt x="580" y="207"/>
                </a:lnTo>
                <a:close/>
                <a:moveTo>
                  <a:pt x="542" y="347"/>
                </a:moveTo>
                <a:cubicBezTo>
                  <a:pt x="567" y="259"/>
                  <a:pt x="567" y="259"/>
                  <a:pt x="567" y="259"/>
                </a:cubicBezTo>
                <a:cubicBezTo>
                  <a:pt x="568" y="347"/>
                  <a:pt x="568" y="347"/>
                  <a:pt x="568" y="347"/>
                </a:cubicBezTo>
                <a:lnTo>
                  <a:pt x="542" y="347"/>
                </a:lnTo>
                <a:close/>
                <a:moveTo>
                  <a:pt x="372" y="313"/>
                </a:moveTo>
                <a:cubicBezTo>
                  <a:pt x="372" y="313"/>
                  <a:pt x="372" y="313"/>
                  <a:pt x="372" y="313"/>
                </a:cubicBezTo>
                <a:cubicBezTo>
                  <a:pt x="370" y="314"/>
                  <a:pt x="368" y="314"/>
                  <a:pt x="365" y="314"/>
                </a:cubicBezTo>
                <a:cubicBezTo>
                  <a:pt x="362" y="314"/>
                  <a:pt x="359" y="314"/>
                  <a:pt x="356" y="314"/>
                </a:cubicBezTo>
                <a:cubicBezTo>
                  <a:pt x="341" y="314"/>
                  <a:pt x="341" y="314"/>
                  <a:pt x="341" y="314"/>
                </a:cubicBezTo>
                <a:cubicBezTo>
                  <a:pt x="348" y="288"/>
                  <a:pt x="348" y="288"/>
                  <a:pt x="348" y="288"/>
                </a:cubicBezTo>
                <a:cubicBezTo>
                  <a:pt x="352" y="275"/>
                  <a:pt x="352" y="275"/>
                  <a:pt x="352" y="275"/>
                </a:cubicBezTo>
                <a:cubicBezTo>
                  <a:pt x="359" y="246"/>
                  <a:pt x="359" y="246"/>
                  <a:pt x="359" y="246"/>
                </a:cubicBezTo>
                <a:cubicBezTo>
                  <a:pt x="363" y="246"/>
                  <a:pt x="366" y="246"/>
                  <a:pt x="370" y="246"/>
                </a:cubicBezTo>
                <a:cubicBezTo>
                  <a:pt x="373" y="246"/>
                  <a:pt x="377" y="246"/>
                  <a:pt x="381" y="246"/>
                </a:cubicBezTo>
                <a:cubicBezTo>
                  <a:pt x="401" y="246"/>
                  <a:pt x="413" y="247"/>
                  <a:pt x="418" y="253"/>
                </a:cubicBezTo>
                <a:cubicBezTo>
                  <a:pt x="421" y="258"/>
                  <a:pt x="421" y="266"/>
                  <a:pt x="417" y="279"/>
                </a:cubicBezTo>
                <a:cubicBezTo>
                  <a:pt x="410" y="300"/>
                  <a:pt x="401" y="311"/>
                  <a:pt x="372" y="313"/>
                </a:cubicBezTo>
                <a:moveTo>
                  <a:pt x="307" y="219"/>
                </a:moveTo>
                <a:cubicBezTo>
                  <a:pt x="304" y="231"/>
                  <a:pt x="304" y="231"/>
                  <a:pt x="304" y="231"/>
                </a:cubicBezTo>
                <a:cubicBezTo>
                  <a:pt x="270" y="343"/>
                  <a:pt x="270" y="343"/>
                  <a:pt x="270" y="343"/>
                </a:cubicBezTo>
                <a:cubicBezTo>
                  <a:pt x="269" y="347"/>
                  <a:pt x="269" y="347"/>
                  <a:pt x="269" y="347"/>
                </a:cubicBezTo>
                <a:cubicBezTo>
                  <a:pt x="159" y="347"/>
                  <a:pt x="159" y="347"/>
                  <a:pt x="159" y="347"/>
                </a:cubicBezTo>
                <a:cubicBezTo>
                  <a:pt x="150" y="329"/>
                  <a:pt x="150" y="329"/>
                  <a:pt x="150" y="329"/>
                </a:cubicBezTo>
                <a:cubicBezTo>
                  <a:pt x="269" y="207"/>
                  <a:pt x="269" y="207"/>
                  <a:pt x="269" y="207"/>
                </a:cubicBezTo>
                <a:cubicBezTo>
                  <a:pt x="192" y="207"/>
                  <a:pt x="192" y="207"/>
                  <a:pt x="192" y="207"/>
                </a:cubicBezTo>
                <a:cubicBezTo>
                  <a:pt x="100" y="307"/>
                  <a:pt x="100" y="307"/>
                  <a:pt x="100" y="307"/>
                </a:cubicBezTo>
                <a:cubicBezTo>
                  <a:pt x="130" y="207"/>
                  <a:pt x="130" y="207"/>
                  <a:pt x="130" y="207"/>
                </a:cubicBezTo>
                <a:cubicBezTo>
                  <a:pt x="74" y="207"/>
                  <a:pt x="74" y="207"/>
                  <a:pt x="74" y="207"/>
                </a:cubicBezTo>
                <a:cubicBezTo>
                  <a:pt x="74" y="9"/>
                  <a:pt x="74" y="9"/>
                  <a:pt x="74" y="9"/>
                </a:cubicBezTo>
                <a:cubicBezTo>
                  <a:pt x="307" y="9"/>
                  <a:pt x="307" y="9"/>
                  <a:pt x="307" y="9"/>
                </a:cubicBezTo>
                <a:lnTo>
                  <a:pt x="307" y="219"/>
                </a:lnTo>
                <a:close/>
                <a:moveTo>
                  <a:pt x="882" y="0"/>
                </a:moveTo>
                <a:cubicBezTo>
                  <a:pt x="882" y="227"/>
                  <a:pt x="882" y="227"/>
                  <a:pt x="882" y="227"/>
                </a:cubicBezTo>
                <a:cubicBezTo>
                  <a:pt x="874" y="234"/>
                  <a:pt x="868" y="240"/>
                  <a:pt x="861" y="247"/>
                </a:cubicBezTo>
                <a:cubicBezTo>
                  <a:pt x="861" y="0"/>
                  <a:pt x="861" y="0"/>
                  <a:pt x="861" y="0"/>
                </a:cubicBezTo>
                <a:cubicBezTo>
                  <a:pt x="610" y="0"/>
                  <a:pt x="610" y="0"/>
                  <a:pt x="610" y="0"/>
                </a:cubicBezTo>
                <a:cubicBezTo>
                  <a:pt x="610" y="207"/>
                  <a:pt x="610" y="207"/>
                  <a:pt x="610" y="207"/>
                </a:cubicBezTo>
                <a:cubicBezTo>
                  <a:pt x="589" y="207"/>
                  <a:pt x="589" y="207"/>
                  <a:pt x="589" y="207"/>
                </a:cubicBezTo>
                <a:cubicBezTo>
                  <a:pt x="589" y="0"/>
                  <a:pt x="589" y="0"/>
                  <a:pt x="589" y="0"/>
                </a:cubicBezTo>
                <a:cubicBezTo>
                  <a:pt x="337" y="0"/>
                  <a:pt x="337" y="0"/>
                  <a:pt x="337" y="0"/>
                </a:cubicBezTo>
                <a:cubicBezTo>
                  <a:pt x="337" y="207"/>
                  <a:pt x="337" y="207"/>
                  <a:pt x="337" y="207"/>
                </a:cubicBezTo>
                <a:cubicBezTo>
                  <a:pt x="316" y="207"/>
                  <a:pt x="316" y="207"/>
                  <a:pt x="316" y="207"/>
                </a:cubicBezTo>
                <a:cubicBezTo>
                  <a:pt x="316" y="0"/>
                  <a:pt x="316" y="0"/>
                  <a:pt x="316" y="0"/>
                </a:cubicBezTo>
                <a:cubicBezTo>
                  <a:pt x="65" y="0"/>
                  <a:pt x="65" y="0"/>
                  <a:pt x="65" y="0"/>
                </a:cubicBezTo>
                <a:cubicBezTo>
                  <a:pt x="65" y="236"/>
                  <a:pt x="65" y="236"/>
                  <a:pt x="65" y="236"/>
                </a:cubicBezTo>
                <a:cubicBezTo>
                  <a:pt x="0" y="450"/>
                  <a:pt x="0" y="450"/>
                  <a:pt x="0" y="450"/>
                </a:cubicBezTo>
                <a:cubicBezTo>
                  <a:pt x="57" y="450"/>
                  <a:pt x="57" y="450"/>
                  <a:pt x="57" y="450"/>
                </a:cubicBezTo>
                <a:cubicBezTo>
                  <a:pt x="85" y="356"/>
                  <a:pt x="85" y="356"/>
                  <a:pt x="85" y="356"/>
                </a:cubicBezTo>
                <a:cubicBezTo>
                  <a:pt x="93" y="356"/>
                  <a:pt x="93" y="356"/>
                  <a:pt x="93" y="356"/>
                </a:cubicBezTo>
                <a:cubicBezTo>
                  <a:pt x="140" y="450"/>
                  <a:pt x="140" y="450"/>
                  <a:pt x="140" y="450"/>
                </a:cubicBezTo>
                <a:cubicBezTo>
                  <a:pt x="208" y="450"/>
                  <a:pt x="208" y="450"/>
                  <a:pt x="208" y="450"/>
                </a:cubicBezTo>
                <a:cubicBezTo>
                  <a:pt x="163" y="356"/>
                  <a:pt x="163" y="356"/>
                  <a:pt x="163" y="356"/>
                </a:cubicBezTo>
                <a:cubicBezTo>
                  <a:pt x="266" y="356"/>
                  <a:pt x="266" y="356"/>
                  <a:pt x="266" y="356"/>
                </a:cubicBezTo>
                <a:cubicBezTo>
                  <a:pt x="237" y="450"/>
                  <a:pt x="237" y="450"/>
                  <a:pt x="237" y="450"/>
                </a:cubicBezTo>
                <a:cubicBezTo>
                  <a:pt x="299" y="450"/>
                  <a:pt x="299" y="450"/>
                  <a:pt x="299" y="450"/>
                </a:cubicBezTo>
                <a:cubicBezTo>
                  <a:pt x="327" y="356"/>
                  <a:pt x="327" y="356"/>
                  <a:pt x="327" y="356"/>
                </a:cubicBezTo>
                <a:cubicBezTo>
                  <a:pt x="341" y="356"/>
                  <a:pt x="341" y="356"/>
                  <a:pt x="341" y="356"/>
                </a:cubicBezTo>
                <a:cubicBezTo>
                  <a:pt x="341" y="356"/>
                  <a:pt x="341" y="356"/>
                  <a:pt x="341" y="356"/>
                </a:cubicBezTo>
                <a:cubicBezTo>
                  <a:pt x="360" y="356"/>
                  <a:pt x="360" y="356"/>
                  <a:pt x="360" y="356"/>
                </a:cubicBezTo>
                <a:cubicBezTo>
                  <a:pt x="362" y="356"/>
                  <a:pt x="362" y="356"/>
                  <a:pt x="362" y="356"/>
                </a:cubicBezTo>
                <a:cubicBezTo>
                  <a:pt x="478" y="356"/>
                  <a:pt x="478" y="356"/>
                  <a:pt x="478" y="356"/>
                </a:cubicBezTo>
                <a:cubicBezTo>
                  <a:pt x="451" y="450"/>
                  <a:pt x="451" y="450"/>
                  <a:pt x="451" y="450"/>
                </a:cubicBezTo>
                <a:cubicBezTo>
                  <a:pt x="513" y="450"/>
                  <a:pt x="513" y="450"/>
                  <a:pt x="513" y="450"/>
                </a:cubicBezTo>
                <a:cubicBezTo>
                  <a:pt x="540" y="356"/>
                  <a:pt x="540" y="356"/>
                  <a:pt x="540" y="356"/>
                </a:cubicBezTo>
                <a:cubicBezTo>
                  <a:pt x="568" y="356"/>
                  <a:pt x="568" y="356"/>
                  <a:pt x="568" y="356"/>
                </a:cubicBezTo>
                <a:cubicBezTo>
                  <a:pt x="569" y="450"/>
                  <a:pt x="569" y="450"/>
                  <a:pt x="569" y="450"/>
                </a:cubicBezTo>
                <a:cubicBezTo>
                  <a:pt x="621" y="450"/>
                  <a:pt x="621" y="450"/>
                  <a:pt x="621" y="450"/>
                </a:cubicBezTo>
                <a:cubicBezTo>
                  <a:pt x="681" y="356"/>
                  <a:pt x="681" y="356"/>
                  <a:pt x="681" y="356"/>
                </a:cubicBezTo>
                <a:cubicBezTo>
                  <a:pt x="720" y="356"/>
                  <a:pt x="720" y="356"/>
                  <a:pt x="720" y="356"/>
                </a:cubicBezTo>
                <a:cubicBezTo>
                  <a:pt x="700" y="450"/>
                  <a:pt x="700" y="450"/>
                  <a:pt x="700" y="450"/>
                </a:cubicBezTo>
                <a:cubicBezTo>
                  <a:pt x="761" y="450"/>
                  <a:pt x="761" y="450"/>
                  <a:pt x="761" y="450"/>
                </a:cubicBezTo>
                <a:cubicBezTo>
                  <a:pt x="781" y="356"/>
                  <a:pt x="781" y="356"/>
                  <a:pt x="781" y="356"/>
                </a:cubicBezTo>
                <a:cubicBezTo>
                  <a:pt x="816" y="356"/>
                  <a:pt x="816" y="356"/>
                  <a:pt x="816" y="356"/>
                </a:cubicBezTo>
                <a:cubicBezTo>
                  <a:pt x="815" y="385"/>
                  <a:pt x="822" y="411"/>
                  <a:pt x="842" y="429"/>
                </a:cubicBezTo>
                <a:cubicBezTo>
                  <a:pt x="866" y="451"/>
                  <a:pt x="902" y="455"/>
                  <a:pt x="929" y="455"/>
                </a:cubicBezTo>
                <a:cubicBezTo>
                  <a:pt x="966" y="455"/>
                  <a:pt x="1004" y="450"/>
                  <a:pt x="1043" y="441"/>
                </a:cubicBezTo>
                <a:cubicBezTo>
                  <a:pt x="1064" y="356"/>
                  <a:pt x="1064" y="356"/>
                  <a:pt x="1064" y="356"/>
                </a:cubicBezTo>
                <a:cubicBezTo>
                  <a:pt x="1134" y="356"/>
                  <a:pt x="1134" y="356"/>
                  <a:pt x="1134" y="356"/>
                </a:cubicBezTo>
                <a:cubicBezTo>
                  <a:pt x="1134" y="0"/>
                  <a:pt x="1134" y="0"/>
                  <a:pt x="1134" y="0"/>
                </a:cubicBezTo>
                <a:lnTo>
                  <a:pt x="882" y="0"/>
                </a:lnTo>
                <a:close/>
              </a:path>
            </a:pathLst>
          </a:custGeom>
          <a:solidFill>
            <a:srgbClr val="00338D"/>
          </a:solidFill>
          <a:ln>
            <a:noFill/>
          </a:ln>
        </p:spPr>
        <p:txBody>
          <a:bodyPr vert="horz" wrap="square" lIns="91440" tIns="45720" rIns="91440" bIns="45720" numCol="1" anchor="t" anchorCtr="0" compatLnSpc="1">
            <a:prstTxWarp prst="textNoShape">
              <a:avLst/>
            </a:prstTxWarp>
          </a:bodyPr>
          <a:lstStyle/>
          <a:p>
            <a:pPr eaLnBrk="1"/>
            <a:endParaRPr lang="en-CA" dirty="0"/>
          </a:p>
        </p:txBody>
      </p:sp>
    </p:spTree>
    <p:extLst>
      <p:ext uri="{BB962C8B-B14F-4D97-AF65-F5344CB8AC3E}">
        <p14:creationId xmlns:p14="http://schemas.microsoft.com/office/powerpoint/2010/main" val="2468703269"/>
      </p:ext>
    </p:extLst>
  </p:cSld>
  <p:clrMapOvr>
    <a:masterClrMapping/>
  </p:clrMapOvr>
  <p:timing>
    <p:tnLst>
      <p:par>
        <p:cTn id="1" dur="indefinite" restart="never" nodeType="tmRoot"/>
      </p:par>
    </p:tnLst>
  </p:timing>
  <p:extLst mod="1">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TWO COLUMN TEXT">
    <p:spTree>
      <p:nvGrpSpPr>
        <p:cNvPr id="1" name=""/>
        <p:cNvGrpSpPr/>
        <p:nvPr/>
      </p:nvGrpSpPr>
      <p:grpSpPr>
        <a:xfrm>
          <a:off x="0" y="0"/>
          <a:ext cx="0" cy="0"/>
          <a:chOff x="0" y="0"/>
          <a:chExt cx="0" cy="0"/>
        </a:xfrm>
      </p:grpSpPr>
      <p:sp>
        <p:nvSpPr>
          <p:cNvPr id="9" name="Text Placeholder 8"/>
          <p:cNvSpPr>
            <a:spLocks noGrp="1"/>
          </p:cNvSpPr>
          <p:nvPr>
            <p:ph type="body" sz="quarter" idx="10"/>
          </p:nvPr>
        </p:nvSpPr>
        <p:spPr>
          <a:xfrm>
            <a:off x="431799" y="1426659"/>
            <a:ext cx="4068763" cy="4582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dirty="0"/>
          </a:p>
        </p:txBody>
      </p:sp>
      <p:sp>
        <p:nvSpPr>
          <p:cNvPr id="4" name="Text Placeholder 8"/>
          <p:cNvSpPr>
            <a:spLocks noGrp="1"/>
          </p:cNvSpPr>
          <p:nvPr>
            <p:ph type="body" sz="quarter" idx="11"/>
          </p:nvPr>
        </p:nvSpPr>
        <p:spPr>
          <a:xfrm>
            <a:off x="4643438" y="1426659"/>
            <a:ext cx="4068762" cy="4582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dirty="0"/>
          </a:p>
        </p:txBody>
      </p:sp>
      <p:sp>
        <p:nvSpPr>
          <p:cNvPr id="3" name="Title 2"/>
          <p:cNvSpPr>
            <a:spLocks noGrp="1"/>
          </p:cNvSpPr>
          <p:nvPr>
            <p:ph type="title"/>
          </p:nvPr>
        </p:nvSpPr>
        <p:spPr/>
        <p:txBody>
          <a:bodyPr/>
          <a:lstStyle/>
          <a:p>
            <a:r>
              <a:rPr lang="en-US" smtClean="0"/>
              <a:t>Click to edit Master title style</a:t>
            </a:r>
            <a:endParaRPr lang="en-CA" dirty="0"/>
          </a:p>
        </p:txBody>
      </p:sp>
      <p:sp>
        <p:nvSpPr>
          <p:cNvPr id="5" name="Text Placeholder 4"/>
          <p:cNvSpPr>
            <a:spLocks noGrp="1"/>
          </p:cNvSpPr>
          <p:nvPr>
            <p:ph type="body" sz="quarter" idx="12" hasCustomPrompt="1"/>
          </p:nvPr>
        </p:nvSpPr>
        <p:spPr>
          <a:xfrm>
            <a:off x="431800" y="227993"/>
            <a:ext cx="8284464" cy="169200"/>
          </a:xfrm>
        </p:spPr>
        <p:txBody>
          <a:bodyPr anchor="b"/>
          <a:lstStyle>
            <a:lvl1pPr>
              <a:spcAft>
                <a:spcPts val="0"/>
              </a:spcAft>
              <a:defRPr sz="1200"/>
            </a:lvl1pPr>
          </a:lstStyle>
          <a:p>
            <a:pPr lvl="0"/>
            <a:r>
              <a:rPr lang="en-CA" dirty="0" smtClean="0"/>
              <a:t>Super title here</a:t>
            </a:r>
          </a:p>
        </p:txBody>
      </p:sp>
    </p:spTree>
    <p:extLst>
      <p:ext uri="{BB962C8B-B14F-4D97-AF65-F5344CB8AC3E}">
        <p14:creationId xmlns:p14="http://schemas.microsoft.com/office/powerpoint/2010/main" val="1857601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3_DIVIDER 1">
    <p:spTree>
      <p:nvGrpSpPr>
        <p:cNvPr id="1" name=""/>
        <p:cNvGrpSpPr/>
        <p:nvPr/>
      </p:nvGrpSpPr>
      <p:grpSpPr>
        <a:xfrm>
          <a:off x="0" y="0"/>
          <a:ext cx="0" cy="0"/>
          <a:chOff x="0" y="0"/>
          <a:chExt cx="0" cy="0"/>
        </a:xfrm>
      </p:grpSpPr>
      <p:sp>
        <p:nvSpPr>
          <p:cNvPr id="4" name="object 3"/>
          <p:cNvSpPr/>
          <p:nvPr userDrawn="1"/>
        </p:nvSpPr>
        <p:spPr bwMode="gray">
          <a:xfrm>
            <a:off x="0" y="0"/>
            <a:ext cx="9144000"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chemeClr val="tx2"/>
          </a:solidFill>
        </p:spPr>
        <p:txBody>
          <a:bodyPr wrap="square" lIns="0" tIns="0" rIns="0" bIns="0" rtlCol="0">
            <a:noAutofit/>
          </a:bodyPr>
          <a:lstStyle/>
          <a:p>
            <a:pPr eaLnBrk="1"/>
            <a:endParaRPr lang="en-CA" dirty="0">
              <a:latin typeface="Arial" panose="020B0604020202020204" pitchFamily="34" charset="0"/>
            </a:endParaRPr>
          </a:p>
        </p:txBody>
      </p:sp>
      <p:sp>
        <p:nvSpPr>
          <p:cNvPr id="6" name="Text Placeholder 6"/>
          <p:cNvSpPr>
            <a:spLocks noGrp="1"/>
          </p:cNvSpPr>
          <p:nvPr>
            <p:ph type="body" sz="quarter" idx="11"/>
          </p:nvPr>
        </p:nvSpPr>
        <p:spPr bwMode="gray">
          <a:xfrm>
            <a:off x="1995055" y="3859200"/>
            <a:ext cx="6165273" cy="672353"/>
          </a:xfrm>
          <a:prstGeom prst="rect">
            <a:avLst/>
          </a:prstGeom>
        </p:spPr>
        <p:txBody>
          <a:bodyPr vert="horz" lIns="0" tIns="0" rIns="0" bIns="0"/>
          <a:lstStyle>
            <a:lvl1pPr>
              <a:spcBef>
                <a:spcPts val="0"/>
              </a:spcBef>
              <a:spcAft>
                <a:spcPts val="0"/>
              </a:spcAft>
              <a:defRPr sz="1600" b="1" i="0">
                <a:solidFill>
                  <a:srgbClr val="FFFFFF"/>
                </a:solidFill>
                <a:latin typeface="+mn-lt"/>
                <a:cs typeface="Univers for KPMG" panose="020B0603020202020204" pitchFamily="34" charset="0"/>
              </a:defRPr>
            </a:lvl1pPr>
            <a:lvl2pPr>
              <a:defRPr>
                <a:solidFill>
                  <a:srgbClr val="FFFFFF"/>
                </a:solidFill>
              </a:defRPr>
            </a:lvl2pPr>
            <a:lvl3pPr>
              <a:defRPr>
                <a:solidFill>
                  <a:srgbClr val="FFFFFF"/>
                </a:solidFill>
              </a:defRPr>
            </a:lvl3pPr>
            <a:lvl4pPr>
              <a:defRPr>
                <a:solidFill>
                  <a:srgbClr val="FFFFFF"/>
                </a:solidFill>
              </a:defRPr>
            </a:lvl4pPr>
            <a:lvl5pPr>
              <a:defRPr>
                <a:solidFill>
                  <a:srgbClr val="FFFFFF"/>
                </a:solidFill>
              </a:defRPr>
            </a:lvl5pPr>
          </a:lstStyle>
          <a:p>
            <a:pPr lvl="0"/>
            <a:r>
              <a:rPr lang="en-US" noProof="0" smtClean="0"/>
              <a:t>Click to edit Master text styles</a:t>
            </a:r>
          </a:p>
        </p:txBody>
      </p:sp>
      <p:sp>
        <p:nvSpPr>
          <p:cNvPr id="7" name="Title 1"/>
          <p:cNvSpPr>
            <a:spLocks noGrp="1"/>
          </p:cNvSpPr>
          <p:nvPr>
            <p:ph type="title"/>
          </p:nvPr>
        </p:nvSpPr>
        <p:spPr bwMode="gray">
          <a:xfrm>
            <a:off x="1995055" y="1337703"/>
            <a:ext cx="6192982" cy="2068259"/>
          </a:xfrm>
        </p:spPr>
        <p:txBody>
          <a:bodyPr anchor="t" anchorCtr="0"/>
          <a:lstStyle>
            <a:lvl1pPr>
              <a:lnSpc>
                <a:spcPct val="70000"/>
              </a:lnSpc>
              <a:defRPr sz="9600">
                <a:solidFill>
                  <a:srgbClr val="FFFFFF"/>
                </a:solidFill>
                <a:latin typeface="KPMG Extralight" panose="020B0303030202040204" pitchFamily="34" charset="0"/>
              </a:defRPr>
            </a:lvl1pPr>
          </a:lstStyle>
          <a:p>
            <a:r>
              <a:rPr lang="en-US" noProof="0" smtClean="0"/>
              <a:t>Click to edit Master title style</a:t>
            </a:r>
            <a:endParaRPr lang="en-CA" noProof="0" dirty="0"/>
          </a:p>
        </p:txBody>
      </p:sp>
      <p:pic>
        <p:nvPicPr>
          <p:cNvPr id="8" name="Picture 4" descr="KPMG_NoCP_white_US_283_6780.eps"/>
          <p:cNvPicPr>
            <a:picLocks noChangeAspect="1"/>
          </p:cNvPicPr>
          <p:nvPr userDrawn="1"/>
        </p:nvPicPr>
        <p:blipFill rotWithShape="1">
          <a:blip r:embed="rId2" cstate="email">
            <a:extLst>
              <a:ext uri="{28A0092B-C50C-407E-A947-70E740481C1C}">
                <a14:useLocalDpi xmlns:a14="http://schemas.microsoft.com/office/drawing/2010/main"/>
              </a:ext>
            </a:extLst>
          </a:blip>
          <a:srcRect l="7816" t="22176" r="7816" b="22176"/>
          <a:stretch/>
        </p:blipFill>
        <p:spPr>
          <a:xfrm>
            <a:off x="1995055" y="612639"/>
            <a:ext cx="979460" cy="463126"/>
          </a:xfrm>
          <a:prstGeom prst="rect">
            <a:avLst/>
          </a:prstGeom>
        </p:spPr>
      </p:pic>
      <p:sp>
        <p:nvSpPr>
          <p:cNvPr id="9" name="object 3"/>
          <p:cNvSpPr/>
          <p:nvPr userDrawn="1"/>
        </p:nvSpPr>
        <p:spPr bwMode="gray">
          <a:xfrm>
            <a:off x="0" y="0"/>
            <a:ext cx="1573213"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chemeClr val="accent1"/>
          </a:solidFill>
        </p:spPr>
        <p:txBody>
          <a:bodyPr wrap="square" lIns="0" tIns="0" rIns="0" bIns="0" rtlCol="0">
            <a:noAutofit/>
          </a:bodyPr>
          <a:lstStyle/>
          <a:p>
            <a:pPr eaLnBrk="1"/>
            <a:endParaRPr lang="en-CA" dirty="0">
              <a:latin typeface="Arial" panose="020B0604020202020204" pitchFamily="34" charset="0"/>
            </a:endParaRPr>
          </a:p>
        </p:txBody>
      </p:sp>
    </p:spTree>
    <p:extLst>
      <p:ext uri="{BB962C8B-B14F-4D97-AF65-F5344CB8AC3E}">
        <p14:creationId xmlns:p14="http://schemas.microsoft.com/office/powerpoint/2010/main" val="3880208551"/>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1_KEY MESSAGE TWO COLUMN TEXT">
    <p:spTree>
      <p:nvGrpSpPr>
        <p:cNvPr id="1" name=""/>
        <p:cNvGrpSpPr/>
        <p:nvPr/>
      </p:nvGrpSpPr>
      <p:grpSpPr>
        <a:xfrm>
          <a:off x="0" y="0"/>
          <a:ext cx="0" cy="0"/>
          <a:chOff x="0" y="0"/>
          <a:chExt cx="0" cy="0"/>
        </a:xfrm>
      </p:grpSpPr>
      <p:sp>
        <p:nvSpPr>
          <p:cNvPr id="9" name="Text Placeholder 8"/>
          <p:cNvSpPr>
            <a:spLocks noGrp="1"/>
          </p:cNvSpPr>
          <p:nvPr>
            <p:ph type="body" sz="quarter" idx="10"/>
          </p:nvPr>
        </p:nvSpPr>
        <p:spPr>
          <a:xfrm>
            <a:off x="434340" y="1426659"/>
            <a:ext cx="1508760" cy="4594225"/>
          </a:xfrm>
          <a:solidFill>
            <a:schemeClr val="accent1"/>
          </a:solidFill>
          <a:ln>
            <a:solidFill>
              <a:schemeClr val="accent1"/>
            </a:solidFill>
          </a:ln>
        </p:spPr>
        <p:txBody>
          <a:bodyPr lIns="54000" tIns="54000" rIns="54000" bIns="54000" anchor="t" anchorCtr="0"/>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dirty="0"/>
          </a:p>
        </p:txBody>
      </p:sp>
      <p:sp>
        <p:nvSpPr>
          <p:cNvPr id="5" name="Text Placeholder 8"/>
          <p:cNvSpPr>
            <a:spLocks noGrp="1"/>
          </p:cNvSpPr>
          <p:nvPr>
            <p:ph type="body" sz="quarter" idx="11"/>
          </p:nvPr>
        </p:nvSpPr>
        <p:spPr>
          <a:xfrm>
            <a:off x="2099178" y="1426659"/>
            <a:ext cx="3244347" cy="4594225"/>
          </a:xfrm>
          <a:ln>
            <a:solidFill>
              <a:schemeClr val="accent1"/>
            </a:solidFill>
          </a:ln>
        </p:spPr>
        <p:txBody>
          <a:bodyPr lIns="54000" tIns="54000" rIns="54000" bIns="54000" anchor="t" anchorCtr="0"/>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CA" dirty="0"/>
          </a:p>
        </p:txBody>
      </p:sp>
      <p:sp>
        <p:nvSpPr>
          <p:cNvPr id="6" name="Text Placeholder 8"/>
          <p:cNvSpPr>
            <a:spLocks noGrp="1"/>
          </p:cNvSpPr>
          <p:nvPr>
            <p:ph type="body" sz="quarter" idx="12"/>
          </p:nvPr>
        </p:nvSpPr>
        <p:spPr>
          <a:xfrm>
            <a:off x="5465763" y="1426659"/>
            <a:ext cx="3246437" cy="4594225"/>
          </a:xfrm>
          <a:ln>
            <a:solidFill>
              <a:schemeClr val="accent1"/>
            </a:solidFill>
          </a:ln>
        </p:spPr>
        <p:txBody>
          <a:bodyPr lIns="54000" tIns="54000" rIns="54000" bIns="54000" anchor="t" anchorCtr="0"/>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CA" dirty="0"/>
          </a:p>
        </p:txBody>
      </p:sp>
      <p:sp>
        <p:nvSpPr>
          <p:cNvPr id="3" name="Title 2"/>
          <p:cNvSpPr>
            <a:spLocks noGrp="1"/>
          </p:cNvSpPr>
          <p:nvPr>
            <p:ph type="title"/>
          </p:nvPr>
        </p:nvSpPr>
        <p:spPr/>
        <p:txBody>
          <a:bodyPr/>
          <a:lstStyle/>
          <a:p>
            <a:r>
              <a:rPr lang="en-US" smtClean="0"/>
              <a:t>Click to edit Master title style</a:t>
            </a:r>
            <a:endParaRPr lang="en-CA" dirty="0"/>
          </a:p>
        </p:txBody>
      </p:sp>
      <p:sp>
        <p:nvSpPr>
          <p:cNvPr id="7" name="Text Placeholder 4"/>
          <p:cNvSpPr>
            <a:spLocks noGrp="1"/>
          </p:cNvSpPr>
          <p:nvPr>
            <p:ph type="body" sz="quarter" idx="13" hasCustomPrompt="1"/>
          </p:nvPr>
        </p:nvSpPr>
        <p:spPr>
          <a:xfrm>
            <a:off x="431800" y="227993"/>
            <a:ext cx="8284464" cy="169200"/>
          </a:xfrm>
        </p:spPr>
        <p:txBody>
          <a:bodyPr anchor="b"/>
          <a:lstStyle>
            <a:lvl1pPr>
              <a:spcAft>
                <a:spcPts val="0"/>
              </a:spcAft>
              <a:defRPr sz="1200"/>
            </a:lvl1pPr>
          </a:lstStyle>
          <a:p>
            <a:pPr lvl="0"/>
            <a:r>
              <a:rPr lang="en-CA" dirty="0" smtClean="0"/>
              <a:t>Super title here</a:t>
            </a:r>
          </a:p>
        </p:txBody>
      </p:sp>
    </p:spTree>
    <p:extLst>
      <p:ext uri="{BB962C8B-B14F-4D97-AF65-F5344CB8AC3E}">
        <p14:creationId xmlns:p14="http://schemas.microsoft.com/office/powerpoint/2010/main" val="1496152080"/>
      </p:ext>
    </p:extLst>
  </p:cSld>
  <p:clrMapOvr>
    <a:masterClrMapping/>
  </p:clrMapOvr>
  <p:timing>
    <p:tnLst>
      <p:par>
        <p:cTn id="1" dur="indefinite" restart="never" nodeType="tmRoot"/>
      </p:par>
    </p:tnLst>
  </p:timing>
  <p:extLst mod="1">
    <p:ext uri="{DCECCB84-F9BA-43D5-87BE-67443E8EF086}">
      <p15:sldGuideLst xmlns:p15="http://schemas.microsoft.com/office/powerpoint/2012/main">
        <p15:guide id="1" pos="1224">
          <p15:clr>
            <a:srgbClr val="FBAE40"/>
          </p15:clr>
        </p15:guide>
        <p15:guide id="2" pos="1320">
          <p15:clr>
            <a:srgbClr val="FBAE40"/>
          </p15:clr>
        </p15:guide>
        <p15:guide id="3" pos="3443">
          <p15:clr>
            <a:srgbClr val="FBAE40"/>
          </p15:clr>
        </p15:guide>
        <p15:guide id="4" pos="3366">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TITLE SLIDE 6 - No image">
    <p:spTree>
      <p:nvGrpSpPr>
        <p:cNvPr id="1" name=""/>
        <p:cNvGrpSpPr/>
        <p:nvPr/>
      </p:nvGrpSpPr>
      <p:grpSpPr>
        <a:xfrm>
          <a:off x="0" y="0"/>
          <a:ext cx="0" cy="0"/>
          <a:chOff x="0" y="0"/>
          <a:chExt cx="0" cy="0"/>
        </a:xfrm>
      </p:grpSpPr>
      <p:graphicFrame>
        <p:nvGraphicFramePr>
          <p:cNvPr id="5" name="Objet 4"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308707"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3" name="Rectangle 2"/>
          <p:cNvSpPr/>
          <p:nvPr userDrawn="1"/>
        </p:nvSpPr>
        <p:spPr bwMode="gray">
          <a:xfrm>
            <a:off x="0" y="0"/>
            <a:ext cx="9144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endParaRPr lang="en-CA" sz="900" dirty="0" smtClean="0">
              <a:solidFill>
                <a:prstClr val="white"/>
              </a:solidFill>
            </a:endParaRPr>
          </a:p>
        </p:txBody>
      </p:sp>
      <p:sp>
        <p:nvSpPr>
          <p:cNvPr id="2" name="Title 1"/>
          <p:cNvSpPr>
            <a:spLocks noGrp="1"/>
          </p:cNvSpPr>
          <p:nvPr>
            <p:ph type="ctrTitle" hasCustomPrompt="1"/>
          </p:nvPr>
        </p:nvSpPr>
        <p:spPr bwMode="gray">
          <a:xfrm>
            <a:off x="2044800" y="1346400"/>
            <a:ext cx="6192000" cy="3510000"/>
          </a:xfrm>
        </p:spPr>
        <p:txBody>
          <a:bodyPr anchor="t" anchorCtr="0"/>
          <a:lstStyle>
            <a:lvl1pPr algn="l">
              <a:defRPr sz="11000">
                <a:solidFill>
                  <a:schemeClr val="bg1"/>
                </a:solidFill>
              </a:defRPr>
            </a:lvl1pPr>
          </a:lstStyle>
          <a:p>
            <a:r>
              <a:rPr lang="en-CA" dirty="0" smtClean="0"/>
              <a:t>Title slide 6</a:t>
            </a:r>
            <a:br>
              <a:rPr lang="en-CA" dirty="0" smtClean="0"/>
            </a:br>
            <a:r>
              <a:rPr lang="en-CA" dirty="0" smtClean="0"/>
              <a:t>no image</a:t>
            </a:r>
            <a:endParaRPr lang="en-CA" dirty="0"/>
          </a:p>
        </p:txBody>
      </p:sp>
      <p:sp>
        <p:nvSpPr>
          <p:cNvPr id="4" name="object 3"/>
          <p:cNvSpPr/>
          <p:nvPr userDrawn="1"/>
        </p:nvSpPr>
        <p:spPr bwMode="gray">
          <a:xfrm>
            <a:off x="0" y="0"/>
            <a:ext cx="1587731"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00338D"/>
          </a:solidFill>
        </p:spPr>
        <p:txBody>
          <a:bodyPr wrap="square" lIns="0" tIns="0" rIns="0" bIns="0" rtlCol="0">
            <a:noAutofit/>
          </a:bodyPr>
          <a:lstStyle/>
          <a:p>
            <a:endParaRPr lang="en-CA" sz="1800" dirty="0">
              <a:solidFill>
                <a:srgbClr val="000000"/>
              </a:solidFill>
            </a:endParaRPr>
          </a:p>
        </p:txBody>
      </p:sp>
      <p:sp>
        <p:nvSpPr>
          <p:cNvPr id="6" name="Freeform 19"/>
          <p:cNvSpPr>
            <a:spLocks noEditPoints="1"/>
          </p:cNvSpPr>
          <p:nvPr userDrawn="1"/>
        </p:nvSpPr>
        <p:spPr bwMode="gray">
          <a:xfrm>
            <a:off x="2064100" y="784800"/>
            <a:ext cx="777600" cy="316800"/>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CA" dirty="0">
              <a:solidFill>
                <a:srgbClr val="000000"/>
              </a:solidFill>
            </a:endParaRPr>
          </a:p>
        </p:txBody>
      </p:sp>
      <p:sp>
        <p:nvSpPr>
          <p:cNvPr id="7" name="Text Placeholder 3"/>
          <p:cNvSpPr>
            <a:spLocks noGrp="1"/>
          </p:cNvSpPr>
          <p:nvPr>
            <p:ph type="body" sz="quarter" idx="11"/>
          </p:nvPr>
        </p:nvSpPr>
        <p:spPr bwMode="gray">
          <a:xfrm>
            <a:off x="2064100" y="5036400"/>
            <a:ext cx="6172700" cy="216000"/>
          </a:xfrm>
        </p:spPr>
        <p:txBody>
          <a:bodyPr/>
          <a:lstStyle>
            <a:lvl1pPr>
              <a:defRPr sz="1100">
                <a:solidFill>
                  <a:schemeClr val="bg1"/>
                </a:solidFill>
              </a:defRPr>
            </a:lvl1pPr>
            <a:lvl2pPr>
              <a:defRPr sz="11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smtClean="0"/>
              <a:t>Click to edit Master text styles</a:t>
            </a:r>
          </a:p>
        </p:txBody>
      </p:sp>
    </p:spTree>
    <p:extLst>
      <p:ext uri="{BB962C8B-B14F-4D97-AF65-F5344CB8AC3E}">
        <p14:creationId xmlns:p14="http://schemas.microsoft.com/office/powerpoint/2010/main" val="1405596019"/>
      </p:ext>
    </p:extLst>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re seul">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309731" name="think-cell Slide" r:id="rId4" imgW="592" imgH="591" progId="TCLayout.ActiveDocument.1">
                  <p:embed/>
                </p:oleObj>
              </mc:Choice>
              <mc:Fallback>
                <p:oleObj name="think-cell Slide" r:id="rId4" imgW="592" imgH="591"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3" name="Title 2"/>
          <p:cNvSpPr>
            <a:spLocks noGrp="1"/>
          </p:cNvSpPr>
          <p:nvPr>
            <p:ph type="title"/>
          </p:nvPr>
        </p:nvSpPr>
        <p:spPr/>
        <p:txBody>
          <a:bodyPr/>
          <a:lstStyle/>
          <a:p>
            <a:r>
              <a:rPr lang="en-US" smtClean="0"/>
              <a:t>Click to edit Master title style</a:t>
            </a:r>
            <a:endParaRPr lang="en-CA" dirty="0"/>
          </a:p>
        </p:txBody>
      </p:sp>
      <p:sp>
        <p:nvSpPr>
          <p:cNvPr id="4" name="Text Placeholder 4"/>
          <p:cNvSpPr>
            <a:spLocks noGrp="1"/>
          </p:cNvSpPr>
          <p:nvPr>
            <p:ph type="body" sz="quarter" idx="12" hasCustomPrompt="1"/>
          </p:nvPr>
        </p:nvSpPr>
        <p:spPr>
          <a:xfrm>
            <a:off x="431800" y="227993"/>
            <a:ext cx="8284464" cy="169200"/>
          </a:xfrm>
        </p:spPr>
        <p:txBody>
          <a:bodyPr anchor="b"/>
          <a:lstStyle>
            <a:lvl1pPr>
              <a:spcAft>
                <a:spcPts val="0"/>
              </a:spcAft>
              <a:defRPr sz="1200"/>
            </a:lvl1pPr>
          </a:lstStyle>
          <a:p>
            <a:pPr lvl="0"/>
            <a:r>
              <a:rPr lang="en-CA" dirty="0" smtClean="0"/>
              <a:t>Super title here</a:t>
            </a:r>
          </a:p>
        </p:txBody>
      </p:sp>
    </p:spTree>
    <p:extLst>
      <p:ext uri="{BB962C8B-B14F-4D97-AF65-F5344CB8AC3E}">
        <p14:creationId xmlns:p14="http://schemas.microsoft.com/office/powerpoint/2010/main" val="4145674027"/>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2.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vmlDrawing" Target="../drawings/vmlDrawing1.v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image" Target="../media/image1.emf"/><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oleObject" Target="../embeddings/oleObject1.bin"/></Relationships>
</file>

<file path=ppt/slideMasters/_rels/slideMaster2.xml.rels><?xml version="1.0" encoding="UTF-8" standalone="yes"?>
<Relationships xmlns="http://schemas.openxmlformats.org/package/2006/relationships"><Relationship Id="rId3" Type="http://schemas.openxmlformats.org/officeDocument/2006/relationships/tags" Target="../tags/tag5.xml"/><Relationship Id="rId2" Type="http://schemas.openxmlformats.org/officeDocument/2006/relationships/vmlDrawing" Target="../drawings/vmlDrawing4.vml"/><Relationship Id="rId1" Type="http://schemas.openxmlformats.org/officeDocument/2006/relationships/theme" Target="../theme/theme2.xml"/><Relationship Id="rId5" Type="http://schemas.openxmlformats.org/officeDocument/2006/relationships/image" Target="../media/image1.emf"/><Relationship Id="rId4" Type="http://schemas.openxmlformats.org/officeDocument/2006/relationships/oleObject" Target="../embeddings/oleObject4.bin"/></Relationships>
</file>

<file path=ppt/slideMasters/_rels/slideMaster3.xml.rels><?xml version="1.0" encoding="UTF-8" standalone="yes"?>
<Relationships xmlns="http://schemas.openxmlformats.org/package/2006/relationships"><Relationship Id="rId8" Type="http://schemas.openxmlformats.org/officeDocument/2006/relationships/image" Target="../media/image1.emf"/><Relationship Id="rId3" Type="http://schemas.openxmlformats.org/officeDocument/2006/relationships/slideLayout" Target="../slideLayouts/slideLayout13.xml"/><Relationship Id="rId7" Type="http://schemas.openxmlformats.org/officeDocument/2006/relationships/oleObject" Target="../embeddings/oleObject5.bin"/><Relationship Id="rId2" Type="http://schemas.openxmlformats.org/officeDocument/2006/relationships/slideLayout" Target="../slideLayouts/slideLayout12.xml"/><Relationship Id="rId1" Type="http://schemas.openxmlformats.org/officeDocument/2006/relationships/slideLayout" Target="../slideLayouts/slideLayout11.xml"/><Relationship Id="rId6" Type="http://schemas.openxmlformats.org/officeDocument/2006/relationships/tags" Target="../tags/tag6.xml"/><Relationship Id="rId5" Type="http://schemas.openxmlformats.org/officeDocument/2006/relationships/vmlDrawing" Target="../drawings/vmlDrawing5.vml"/><Relationship Id="rId4"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4" name="Objet 3" hidden="1"/>
          <p:cNvGraphicFramePr>
            <a:graphicFrameLocks noChangeAspect="1"/>
          </p:cNvGraphicFramePr>
          <p:nvPr userDrawn="1">
            <p:custDataLst>
              <p:tags r:id="rId13"/>
            </p:custDataLst>
            <p:extLst>
              <p:ext uri="{D42A27DB-BD31-4B8C-83A1-F6EECF244321}">
                <p14:modId xmlns:p14="http://schemas.microsoft.com/office/powerpoint/2010/main" val="1574281516"/>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301697" name="think-cell Slide" r:id="rId14" imgW="270" imgH="270" progId="TCLayout.ActiveDocument.1">
                  <p:embed/>
                </p:oleObj>
              </mc:Choice>
              <mc:Fallback>
                <p:oleObj name="think-cell Slide" r:id="rId14" imgW="270" imgH="270" progId="TCLayout.ActiveDocument.1">
                  <p:embed/>
                  <p:pic>
                    <p:nvPicPr>
                      <p:cNvPr id="0" name=""/>
                      <p:cNvPicPr/>
                      <p:nvPr/>
                    </p:nvPicPr>
                    <p:blipFill>
                      <a:blip r:embed="rId15"/>
                      <a:stretch>
                        <a:fillRect/>
                      </a:stretch>
                    </p:blipFill>
                    <p:spPr>
                      <a:xfrm>
                        <a:off x="1588" y="1588"/>
                        <a:ext cx="1587" cy="1587"/>
                      </a:xfrm>
                      <a:prstGeom prst="rect">
                        <a:avLst/>
                      </a:prstGeom>
                    </p:spPr>
                  </p:pic>
                </p:oleObj>
              </mc:Fallback>
            </mc:AlternateContent>
          </a:graphicData>
        </a:graphic>
      </p:graphicFrame>
      <p:sp>
        <p:nvSpPr>
          <p:cNvPr id="2" name="Title Placeholder 1"/>
          <p:cNvSpPr>
            <a:spLocks noGrp="1"/>
          </p:cNvSpPr>
          <p:nvPr>
            <p:ph type="title"/>
          </p:nvPr>
        </p:nvSpPr>
        <p:spPr bwMode="gray">
          <a:xfrm>
            <a:off x="431800" y="480476"/>
            <a:ext cx="8280400" cy="734400"/>
          </a:xfrm>
          <a:prstGeom prst="rect">
            <a:avLst/>
          </a:prstGeom>
        </p:spPr>
        <p:txBody>
          <a:bodyPr vert="horz" lIns="0" tIns="0" rIns="0" bIns="0" rtlCol="0" anchor="t" anchorCtr="0">
            <a:noAutofit/>
          </a:bodyPr>
          <a:lstStyle/>
          <a:p>
            <a:r>
              <a:rPr lang="en-CA" noProof="0" dirty="0" err="1" smtClean="0"/>
              <a:t>Modifiez</a:t>
            </a:r>
            <a:r>
              <a:rPr lang="en-CA" noProof="0" dirty="0" smtClean="0"/>
              <a:t> le style du titre</a:t>
            </a:r>
            <a:endParaRPr lang="en-CA" noProof="0" dirty="0"/>
          </a:p>
        </p:txBody>
      </p:sp>
      <p:sp>
        <p:nvSpPr>
          <p:cNvPr id="3" name="Text Placeholder 2"/>
          <p:cNvSpPr>
            <a:spLocks noGrp="1"/>
          </p:cNvSpPr>
          <p:nvPr>
            <p:ph type="body" idx="1"/>
          </p:nvPr>
        </p:nvSpPr>
        <p:spPr bwMode="gray">
          <a:xfrm>
            <a:off x="431800" y="1426659"/>
            <a:ext cx="8280400" cy="4582800"/>
          </a:xfrm>
          <a:prstGeom prst="rect">
            <a:avLst/>
          </a:prstGeom>
        </p:spPr>
        <p:txBody>
          <a:bodyPr vert="horz" lIns="0" tIns="0" rIns="0" bIns="0" rtlCol="0" anchor="t" anchorCtr="0">
            <a:noAutofit/>
          </a:bodyPr>
          <a:lstStyle/>
          <a:p>
            <a:pPr lvl="0"/>
            <a:r>
              <a:rPr lang="en-CA" noProof="0" dirty="0" err="1" smtClean="0"/>
              <a:t>Modifiez</a:t>
            </a:r>
            <a:r>
              <a:rPr lang="en-CA" noProof="0" dirty="0" smtClean="0"/>
              <a:t> les styles du </a:t>
            </a:r>
            <a:r>
              <a:rPr lang="en-CA" noProof="0" dirty="0" err="1" smtClean="0"/>
              <a:t>texte</a:t>
            </a:r>
            <a:r>
              <a:rPr lang="en-CA" noProof="0" dirty="0" smtClean="0"/>
              <a:t> du masque</a:t>
            </a:r>
          </a:p>
          <a:p>
            <a:pPr lvl="1"/>
            <a:r>
              <a:rPr lang="en-CA" noProof="0" dirty="0" err="1" smtClean="0"/>
              <a:t>Deuxième</a:t>
            </a:r>
            <a:r>
              <a:rPr lang="en-CA" noProof="0" dirty="0" smtClean="0"/>
              <a:t> </a:t>
            </a:r>
            <a:r>
              <a:rPr lang="en-CA" noProof="0" dirty="0" err="1" smtClean="0"/>
              <a:t>niveau</a:t>
            </a:r>
            <a:endParaRPr lang="en-CA" noProof="0" dirty="0" smtClean="0"/>
          </a:p>
          <a:p>
            <a:pPr lvl="2"/>
            <a:r>
              <a:rPr lang="en-CA" noProof="0" dirty="0" err="1" smtClean="0"/>
              <a:t>Troisième</a:t>
            </a:r>
            <a:r>
              <a:rPr lang="en-CA" noProof="0" dirty="0" smtClean="0"/>
              <a:t> </a:t>
            </a:r>
            <a:r>
              <a:rPr lang="en-CA" noProof="0" dirty="0" err="1" smtClean="0"/>
              <a:t>niveau</a:t>
            </a:r>
            <a:endParaRPr lang="en-CA" noProof="0" dirty="0" smtClean="0"/>
          </a:p>
          <a:p>
            <a:pPr lvl="3"/>
            <a:r>
              <a:rPr lang="en-CA" noProof="0" dirty="0" err="1" smtClean="0"/>
              <a:t>Quatrième</a:t>
            </a:r>
            <a:r>
              <a:rPr lang="en-CA" noProof="0" dirty="0" smtClean="0"/>
              <a:t> </a:t>
            </a:r>
            <a:r>
              <a:rPr lang="en-CA" noProof="0" dirty="0" err="1" smtClean="0"/>
              <a:t>niveau</a:t>
            </a:r>
            <a:endParaRPr lang="en-CA" noProof="0" dirty="0" smtClean="0"/>
          </a:p>
          <a:p>
            <a:pPr lvl="4"/>
            <a:r>
              <a:rPr lang="en-CA" noProof="0" dirty="0" err="1" smtClean="0"/>
              <a:t>Cinquième</a:t>
            </a:r>
            <a:r>
              <a:rPr lang="en-CA" noProof="0" dirty="0" smtClean="0"/>
              <a:t> </a:t>
            </a:r>
            <a:r>
              <a:rPr lang="en-CA" noProof="0" dirty="0" err="1" smtClean="0"/>
              <a:t>niveau</a:t>
            </a:r>
            <a:endParaRPr lang="en-CA" noProof="0" dirty="0" smtClean="0"/>
          </a:p>
        </p:txBody>
      </p:sp>
      <p:sp>
        <p:nvSpPr>
          <p:cNvPr id="28" name="Freeform 19"/>
          <p:cNvSpPr>
            <a:spLocks noEditPoints="1"/>
          </p:cNvSpPr>
          <p:nvPr userDrawn="1"/>
        </p:nvSpPr>
        <p:spPr bwMode="gray">
          <a:xfrm>
            <a:off x="431800" y="6320118"/>
            <a:ext cx="424800" cy="172800"/>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eaLnBrk="1"/>
            <a:endParaRPr lang="en-CA" dirty="0"/>
          </a:p>
        </p:txBody>
      </p:sp>
      <p:sp>
        <p:nvSpPr>
          <p:cNvPr id="29" name="Shape 8"/>
          <p:cNvSpPr txBox="1">
            <a:spLocks/>
          </p:cNvSpPr>
          <p:nvPr userDrawn="1"/>
        </p:nvSpPr>
        <p:spPr bwMode="gray">
          <a:xfrm>
            <a:off x="8369980" y="6320118"/>
            <a:ext cx="342220"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CA" sz="900" smtClean="0">
                <a:solidFill>
                  <a:schemeClr val="tx2"/>
                </a:solidFill>
                <a:latin typeface="+mn-lt"/>
                <a:ea typeface="Arial"/>
                <a:cs typeface="Arial" panose="020B0604020202020204" pitchFamily="34" charset="0"/>
              </a:rPr>
              <a:pPr algn="r"/>
              <a:t>‹#›</a:t>
            </a:fld>
            <a:endParaRPr lang="en-CA" sz="900" dirty="0">
              <a:solidFill>
                <a:schemeClr val="tx2"/>
              </a:solidFill>
              <a:latin typeface="+mn-lt"/>
              <a:ea typeface="Arial"/>
              <a:cs typeface="Arial" panose="020B0604020202020204" pitchFamily="34" charset="0"/>
            </a:endParaRPr>
          </a:p>
        </p:txBody>
      </p:sp>
      <p:sp>
        <p:nvSpPr>
          <p:cNvPr id="30" name="TextBox 29"/>
          <p:cNvSpPr txBox="1"/>
          <p:nvPr userDrawn="1"/>
        </p:nvSpPr>
        <p:spPr bwMode="auto">
          <a:xfrm>
            <a:off x="1731600" y="6336273"/>
            <a:ext cx="6318000" cy="184666"/>
          </a:xfrm>
          <a:prstGeom prst="rect">
            <a:avLst/>
          </a:prstGeom>
          <a:noFill/>
        </p:spPr>
        <p:txBody>
          <a:bodyPr wrap="square" lIns="0" tIns="0" rIns="0" b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600" kern="1200" noProof="0" dirty="0" smtClean="0">
                <a:solidFill>
                  <a:schemeClr val="bg1">
                    <a:lumMod val="65000"/>
                  </a:schemeClr>
                </a:solidFill>
                <a:latin typeface="+mn-lt"/>
                <a:ea typeface="+mn-ea"/>
                <a:cs typeface="+mn-cs"/>
              </a:rPr>
              <a:t>© 2018 KPMG LLP, a Canadian limited liability partnership and a member firm of the KPMG network of independent member firms affiliated with KPMG International Cooperative </a:t>
            </a:r>
            <a:br>
              <a:rPr lang="en-CA" sz="600" kern="1200" noProof="0" dirty="0" smtClean="0">
                <a:solidFill>
                  <a:schemeClr val="bg1">
                    <a:lumMod val="65000"/>
                  </a:schemeClr>
                </a:solidFill>
                <a:latin typeface="+mn-lt"/>
                <a:ea typeface="+mn-ea"/>
                <a:cs typeface="+mn-cs"/>
              </a:rPr>
            </a:br>
            <a:r>
              <a:rPr lang="en-CA" sz="600" kern="1200" noProof="0" dirty="0" smtClean="0">
                <a:solidFill>
                  <a:schemeClr val="bg1">
                    <a:lumMod val="65000"/>
                  </a:schemeClr>
                </a:solidFill>
                <a:latin typeface="+mn-lt"/>
                <a:ea typeface="+mn-ea"/>
                <a:cs typeface="+mn-cs"/>
              </a:rPr>
              <a:t>(“KPMG International”), a Swiss entity. All rights reserved. The KPMG name and logo are registered trademarks or trademarks of KPMG International.</a:t>
            </a:r>
          </a:p>
        </p:txBody>
      </p:sp>
    </p:spTree>
    <p:extLst>
      <p:ext uri="{BB962C8B-B14F-4D97-AF65-F5344CB8AC3E}">
        <p14:creationId xmlns:p14="http://schemas.microsoft.com/office/powerpoint/2010/main" val="576069301"/>
      </p:ext>
    </p:extLst>
  </p:cSld>
  <p:clrMap bg1="lt1" tx1="dk1" bg2="lt2" tx2="dk2" accent1="accent1" accent2="accent2" accent3="accent3" accent4="accent4" accent5="accent5" accent6="accent6" hlink="hlink" folHlink="folHlink"/>
  <p:sldLayoutIdLst>
    <p:sldLayoutId id="2147484801" r:id="rId1"/>
    <p:sldLayoutId id="2147484802" r:id="rId2"/>
    <p:sldLayoutId id="2147484806" r:id="rId3"/>
    <p:sldLayoutId id="2147484811" r:id="rId4"/>
    <p:sldLayoutId id="2147484812" r:id="rId5"/>
    <p:sldLayoutId id="2147484813" r:id="rId6"/>
    <p:sldLayoutId id="2147484814" r:id="rId7"/>
    <p:sldLayoutId id="2147484815" r:id="rId8"/>
    <p:sldLayoutId id="2147484828" r:id="rId9"/>
    <p:sldLayoutId id="2147484829" r:id="rId10"/>
  </p:sldLayoutIdLst>
  <p:timing>
    <p:tnLst>
      <p:par>
        <p:cTn id="1" dur="indefinite" restart="never" nodeType="tmRoot"/>
      </p:par>
    </p:tnLst>
  </p:timing>
  <p:txStyles>
    <p:titleStyle>
      <a:lvl1pPr algn="l" defTabSz="914400" rtl="0" eaLnBrk="1" latinLnBrk="0" hangingPunct="1">
        <a:lnSpc>
          <a:spcPct val="70000"/>
        </a:lnSpc>
        <a:spcBef>
          <a:spcPct val="0"/>
        </a:spcBef>
        <a:buNone/>
        <a:defRPr sz="3800" kern="1200">
          <a:solidFill>
            <a:schemeClr val="tx2"/>
          </a:solidFill>
          <a:latin typeface="+mj-lt"/>
          <a:ea typeface="+mj-ea"/>
          <a:cs typeface="+mj-cs"/>
        </a:defRPr>
      </a:lvl1pPr>
    </p:titleStyle>
    <p:bodyStyle>
      <a:lvl1pPr marL="0" indent="0" algn="l" defTabSz="914400" rtl="0" eaLnBrk="1" latinLnBrk="0" hangingPunct="1">
        <a:lnSpc>
          <a:spcPct val="100000"/>
        </a:lnSpc>
        <a:spcBef>
          <a:spcPts val="0"/>
        </a:spcBef>
        <a:spcAft>
          <a:spcPts val="600"/>
        </a:spcAft>
        <a:buFontTx/>
        <a:buNone/>
        <a:defRPr sz="900" b="1" kern="1200">
          <a:solidFill>
            <a:schemeClr val="tx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kern="1200">
          <a:solidFill>
            <a:schemeClr val="tx2"/>
          </a:solidFill>
          <a:latin typeface="+mn-lt"/>
          <a:ea typeface="+mn-ea"/>
          <a:cs typeface="+mn-cs"/>
        </a:defRPr>
      </a:lvl2pPr>
      <a:lvl3pPr marL="179388" indent="-179388"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3pPr>
      <a:lvl4pPr marL="358775" indent="-179388"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4pPr>
      <a:lvl5pPr marL="538163" indent="-179388"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baseline="0">
          <a:solidFill>
            <a:schemeClr val="tx2"/>
          </a:solidFill>
          <a:latin typeface="+mn-lt"/>
          <a:ea typeface="+mn-ea"/>
          <a:cs typeface="+mn-cs"/>
        </a:defRPr>
      </a:lvl5pPr>
      <a:lvl6pPr marL="720000" indent="-144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6pPr>
      <a:lvl7pPr marL="936000" indent="-216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7pPr>
      <a:lvl8pPr marL="1080000" indent="-144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3784" userDrawn="1">
          <p15:clr>
            <a:srgbClr val="F26B43"/>
          </p15:clr>
        </p15:guide>
        <p15:guide id="2" pos="272" userDrawn="1">
          <p15:clr>
            <a:srgbClr val="F26B43"/>
          </p15:clr>
        </p15:guide>
        <p15:guide id="3" pos="5488" userDrawn="1">
          <p15:clr>
            <a:srgbClr val="F26B43"/>
          </p15:clr>
        </p15:guide>
        <p15:guide id="4" orient="horz" pos="763" userDrawn="1">
          <p15:clr>
            <a:srgbClr val="F26B43"/>
          </p15:clr>
        </p15:guide>
        <p15:guide id="5" orient="horz" pos="300" userDrawn="1">
          <p15:clr>
            <a:srgbClr val="F26B43"/>
          </p15:clr>
        </p15:guide>
        <p15:guide id="6" orient="horz" pos="896" userDrawn="1">
          <p15:clr>
            <a:srgbClr val="F26B43"/>
          </p15:clr>
        </p15:guide>
        <p15:guide id="7" pos="2925" userDrawn="1">
          <p15:clr>
            <a:srgbClr val="F26B43"/>
          </p15:clr>
        </p15:guide>
        <p15:guide id="8" pos="2835"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4" name="Objet 3" hidden="1"/>
          <p:cNvGraphicFramePr>
            <a:graphicFrameLocks noChangeAspect="1"/>
          </p:cNvGraphicFramePr>
          <p:nvPr userDrawn="1">
            <p:custDataLst>
              <p:tags r:id="rId3"/>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315801"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2" name="Title Placeholder 1"/>
          <p:cNvSpPr>
            <a:spLocks noGrp="1"/>
          </p:cNvSpPr>
          <p:nvPr>
            <p:ph type="title"/>
          </p:nvPr>
        </p:nvSpPr>
        <p:spPr bwMode="gray">
          <a:xfrm>
            <a:off x="431800" y="480476"/>
            <a:ext cx="8280400" cy="734400"/>
          </a:xfrm>
          <a:prstGeom prst="rect">
            <a:avLst/>
          </a:prstGeom>
        </p:spPr>
        <p:txBody>
          <a:bodyPr vert="horz" lIns="0" tIns="0" rIns="0" bIns="0" rtlCol="0" anchor="t" anchorCtr="0">
            <a:noAutofit/>
          </a:bodyPr>
          <a:lstStyle/>
          <a:p>
            <a:r>
              <a:rPr lang="en-CA" noProof="0" dirty="0" err="1" smtClean="0"/>
              <a:t>Modifiez</a:t>
            </a:r>
            <a:r>
              <a:rPr lang="en-CA" noProof="0" dirty="0" smtClean="0"/>
              <a:t> le style du titre</a:t>
            </a:r>
            <a:endParaRPr lang="en-CA" noProof="0" dirty="0"/>
          </a:p>
        </p:txBody>
      </p:sp>
      <p:sp>
        <p:nvSpPr>
          <p:cNvPr id="3" name="Text Placeholder 2"/>
          <p:cNvSpPr>
            <a:spLocks noGrp="1"/>
          </p:cNvSpPr>
          <p:nvPr>
            <p:ph type="body" idx="1"/>
          </p:nvPr>
        </p:nvSpPr>
        <p:spPr bwMode="gray">
          <a:xfrm>
            <a:off x="431800" y="1426659"/>
            <a:ext cx="8280400" cy="4582800"/>
          </a:xfrm>
          <a:prstGeom prst="rect">
            <a:avLst/>
          </a:prstGeom>
        </p:spPr>
        <p:txBody>
          <a:bodyPr vert="horz" lIns="0" tIns="0" rIns="0" bIns="0" rtlCol="0" anchor="t" anchorCtr="0">
            <a:noAutofit/>
          </a:bodyPr>
          <a:lstStyle/>
          <a:p>
            <a:pPr lvl="0"/>
            <a:r>
              <a:rPr lang="en-CA" noProof="0" dirty="0" err="1" smtClean="0"/>
              <a:t>Modifiez</a:t>
            </a:r>
            <a:r>
              <a:rPr lang="en-CA" noProof="0" dirty="0" smtClean="0"/>
              <a:t> les styles du </a:t>
            </a:r>
            <a:r>
              <a:rPr lang="en-CA" noProof="0" dirty="0" err="1" smtClean="0"/>
              <a:t>texte</a:t>
            </a:r>
            <a:r>
              <a:rPr lang="en-CA" noProof="0" dirty="0" smtClean="0"/>
              <a:t> du masque</a:t>
            </a:r>
          </a:p>
          <a:p>
            <a:pPr lvl="1"/>
            <a:r>
              <a:rPr lang="en-CA" noProof="0" dirty="0" err="1" smtClean="0"/>
              <a:t>Deuxième</a:t>
            </a:r>
            <a:r>
              <a:rPr lang="en-CA" noProof="0" dirty="0" smtClean="0"/>
              <a:t> </a:t>
            </a:r>
            <a:r>
              <a:rPr lang="en-CA" noProof="0" dirty="0" err="1" smtClean="0"/>
              <a:t>niveau</a:t>
            </a:r>
            <a:endParaRPr lang="en-CA" noProof="0" dirty="0" smtClean="0"/>
          </a:p>
          <a:p>
            <a:pPr lvl="2"/>
            <a:r>
              <a:rPr lang="en-CA" noProof="0" dirty="0" err="1" smtClean="0"/>
              <a:t>Troisième</a:t>
            </a:r>
            <a:r>
              <a:rPr lang="en-CA" noProof="0" dirty="0" smtClean="0"/>
              <a:t> </a:t>
            </a:r>
            <a:r>
              <a:rPr lang="en-CA" noProof="0" dirty="0" err="1" smtClean="0"/>
              <a:t>niveau</a:t>
            </a:r>
            <a:endParaRPr lang="en-CA" noProof="0" dirty="0" smtClean="0"/>
          </a:p>
          <a:p>
            <a:pPr lvl="3"/>
            <a:r>
              <a:rPr lang="en-CA" noProof="0" dirty="0" err="1" smtClean="0"/>
              <a:t>Quatrième</a:t>
            </a:r>
            <a:r>
              <a:rPr lang="en-CA" noProof="0" dirty="0" smtClean="0"/>
              <a:t> </a:t>
            </a:r>
            <a:r>
              <a:rPr lang="en-CA" noProof="0" dirty="0" err="1" smtClean="0"/>
              <a:t>niveau</a:t>
            </a:r>
            <a:endParaRPr lang="en-CA" noProof="0" dirty="0" smtClean="0"/>
          </a:p>
          <a:p>
            <a:pPr lvl="4"/>
            <a:r>
              <a:rPr lang="en-CA" noProof="0" dirty="0" err="1" smtClean="0"/>
              <a:t>Cinquième</a:t>
            </a:r>
            <a:r>
              <a:rPr lang="en-CA" noProof="0" dirty="0" smtClean="0"/>
              <a:t> </a:t>
            </a:r>
            <a:r>
              <a:rPr lang="en-CA" noProof="0" dirty="0" err="1" smtClean="0"/>
              <a:t>niveau</a:t>
            </a:r>
            <a:endParaRPr lang="en-CA" noProof="0" dirty="0" smtClean="0"/>
          </a:p>
        </p:txBody>
      </p:sp>
      <p:sp>
        <p:nvSpPr>
          <p:cNvPr id="28" name="Freeform 19"/>
          <p:cNvSpPr>
            <a:spLocks noEditPoints="1"/>
          </p:cNvSpPr>
          <p:nvPr userDrawn="1"/>
        </p:nvSpPr>
        <p:spPr bwMode="gray">
          <a:xfrm>
            <a:off x="431800" y="6320118"/>
            <a:ext cx="424800" cy="172800"/>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en-CA" dirty="0">
              <a:solidFill>
                <a:srgbClr val="000000"/>
              </a:solidFill>
            </a:endParaRPr>
          </a:p>
        </p:txBody>
      </p:sp>
      <p:sp>
        <p:nvSpPr>
          <p:cNvPr id="29" name="Shape 8"/>
          <p:cNvSpPr txBox="1">
            <a:spLocks/>
          </p:cNvSpPr>
          <p:nvPr userDrawn="1"/>
        </p:nvSpPr>
        <p:spPr bwMode="gray">
          <a:xfrm>
            <a:off x="8369980" y="6320118"/>
            <a:ext cx="342220"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CA" sz="900" smtClean="0">
                <a:solidFill>
                  <a:srgbClr val="00338D"/>
                </a:solidFill>
                <a:cs typeface="Arial" panose="020B0604020202020204" pitchFamily="34" charset="0"/>
              </a:rPr>
              <a:pPr algn="r"/>
              <a:t>‹#›</a:t>
            </a:fld>
            <a:endParaRPr lang="en-CA" sz="900" dirty="0">
              <a:solidFill>
                <a:srgbClr val="00338D"/>
              </a:solidFill>
              <a:cs typeface="Arial" panose="020B0604020202020204" pitchFamily="34" charset="0"/>
            </a:endParaRPr>
          </a:p>
        </p:txBody>
      </p:sp>
      <p:sp>
        <p:nvSpPr>
          <p:cNvPr id="30" name="TextBox 29"/>
          <p:cNvSpPr txBox="1"/>
          <p:nvPr userDrawn="1"/>
        </p:nvSpPr>
        <p:spPr bwMode="auto">
          <a:xfrm>
            <a:off x="1731600" y="6336273"/>
            <a:ext cx="6318000" cy="184666"/>
          </a:xfrm>
          <a:prstGeom prst="rect">
            <a:avLst/>
          </a:prstGeom>
          <a:noFill/>
        </p:spPr>
        <p:txBody>
          <a:bodyPr wrap="square" lIns="0" tIns="0" rIns="0" bIns="0" rtlCol="0" anchor="ctr" anchorCtr="0">
            <a:spAutoFit/>
          </a:bodyPr>
          <a:lstStyle/>
          <a:p>
            <a:pPr defTabSz="914400">
              <a:defRPr/>
            </a:pPr>
            <a:r>
              <a:rPr lang="en-CA" sz="600" dirty="0" smtClean="0">
                <a:solidFill>
                  <a:prstClr val="white">
                    <a:lumMod val="65000"/>
                  </a:prstClr>
                </a:solidFill>
              </a:rPr>
              <a:t>© 2018 KPMG LLP, a Canadian limited liability partnership and a member firm of the KPMG network of independent member firms affiliated with KPMG International Cooperative </a:t>
            </a:r>
            <a:br>
              <a:rPr lang="en-CA" sz="600" dirty="0" smtClean="0">
                <a:solidFill>
                  <a:prstClr val="white">
                    <a:lumMod val="65000"/>
                  </a:prstClr>
                </a:solidFill>
              </a:rPr>
            </a:br>
            <a:r>
              <a:rPr lang="en-CA" sz="600" dirty="0" smtClean="0">
                <a:solidFill>
                  <a:prstClr val="white">
                    <a:lumMod val="65000"/>
                  </a:prstClr>
                </a:solidFill>
              </a:rPr>
              <a:t>(“KPMG International”), a Swiss entity. All rights reserved. The KPMG name and logo are registered trademarks or trademarks of KPMG International.</a:t>
            </a:r>
          </a:p>
        </p:txBody>
      </p:sp>
    </p:spTree>
    <p:extLst>
      <p:ext uri="{BB962C8B-B14F-4D97-AF65-F5344CB8AC3E}">
        <p14:creationId xmlns:p14="http://schemas.microsoft.com/office/powerpoint/2010/main" val="3357842298"/>
      </p:ext>
    </p:extLst>
  </p:cSld>
  <p:clrMap bg1="lt1" tx1="dk1" bg2="lt2" tx2="dk2" accent1="accent1" accent2="accent2" accent3="accent3" accent4="accent4" accent5="accent5" accent6="accent6" hlink="hlink" folHlink="folHlink"/>
  <p:timing>
    <p:tnLst>
      <p:par>
        <p:cTn id="1" dur="indefinite" restart="never" nodeType="tmRoot"/>
      </p:par>
    </p:tnLst>
  </p:timing>
  <p:txStyles>
    <p:titleStyle>
      <a:lvl1pPr algn="l" defTabSz="914400" rtl="0" eaLnBrk="1" latinLnBrk="0" hangingPunct="1">
        <a:lnSpc>
          <a:spcPct val="70000"/>
        </a:lnSpc>
        <a:spcBef>
          <a:spcPct val="0"/>
        </a:spcBef>
        <a:buNone/>
        <a:defRPr sz="3800" kern="1200">
          <a:solidFill>
            <a:schemeClr val="tx2"/>
          </a:solidFill>
          <a:latin typeface="+mj-lt"/>
          <a:ea typeface="+mj-ea"/>
          <a:cs typeface="+mj-cs"/>
        </a:defRPr>
      </a:lvl1pPr>
    </p:titleStyle>
    <p:bodyStyle>
      <a:lvl1pPr marL="0" indent="0" algn="l" defTabSz="914400" rtl="0" eaLnBrk="1" latinLnBrk="0" hangingPunct="1">
        <a:lnSpc>
          <a:spcPct val="100000"/>
        </a:lnSpc>
        <a:spcBef>
          <a:spcPts val="0"/>
        </a:spcBef>
        <a:spcAft>
          <a:spcPts val="600"/>
        </a:spcAft>
        <a:buFontTx/>
        <a:buNone/>
        <a:defRPr sz="900" b="1" kern="1200">
          <a:solidFill>
            <a:schemeClr val="tx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kern="1200">
          <a:solidFill>
            <a:schemeClr val="tx2"/>
          </a:solidFill>
          <a:latin typeface="+mn-lt"/>
          <a:ea typeface="+mn-ea"/>
          <a:cs typeface="+mn-cs"/>
        </a:defRPr>
      </a:lvl2pPr>
      <a:lvl3pPr marL="179388" indent="-179388"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3pPr>
      <a:lvl4pPr marL="358775" indent="-179388"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4pPr>
      <a:lvl5pPr marL="538163" indent="-179388"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baseline="0">
          <a:solidFill>
            <a:schemeClr val="tx2"/>
          </a:solidFill>
          <a:latin typeface="+mn-lt"/>
          <a:ea typeface="+mn-ea"/>
          <a:cs typeface="+mn-cs"/>
        </a:defRPr>
      </a:lvl5pPr>
      <a:lvl6pPr marL="720000" indent="-144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6pPr>
      <a:lvl7pPr marL="936000" indent="-216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7pPr>
      <a:lvl8pPr marL="1080000" indent="-144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3784">
          <p15:clr>
            <a:srgbClr val="F26B43"/>
          </p15:clr>
        </p15:guide>
        <p15:guide id="2" pos="272">
          <p15:clr>
            <a:srgbClr val="F26B43"/>
          </p15:clr>
        </p15:guide>
        <p15:guide id="3" pos="5488">
          <p15:clr>
            <a:srgbClr val="F26B43"/>
          </p15:clr>
        </p15:guide>
        <p15:guide id="4" orient="horz" pos="763">
          <p15:clr>
            <a:srgbClr val="F26B43"/>
          </p15:clr>
        </p15:guide>
        <p15:guide id="5" orient="horz" pos="300">
          <p15:clr>
            <a:srgbClr val="F26B43"/>
          </p15:clr>
        </p15:guide>
        <p15:guide id="6" orient="horz" pos="896">
          <p15:clr>
            <a:srgbClr val="F26B43"/>
          </p15:clr>
        </p15:guide>
        <p15:guide id="7" pos="2925">
          <p15:clr>
            <a:srgbClr val="F26B43"/>
          </p15:clr>
        </p15:guide>
        <p15:guide id="8" pos="2835">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4" name="Objet 3" hidden="1"/>
          <p:cNvGraphicFramePr>
            <a:graphicFrameLocks noChangeAspect="1"/>
          </p:cNvGraphicFramePr>
          <p:nvPr userDrawn="1">
            <p:custDataLst>
              <p:tags r:id="rId6"/>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306661" name="think-cell Slide" r:id="rId7" imgW="270" imgH="270" progId="TCLayout.ActiveDocument.1">
                  <p:embed/>
                </p:oleObj>
              </mc:Choice>
              <mc:Fallback>
                <p:oleObj name="think-cell Slide" r:id="rId7" imgW="270" imgH="270" progId="TCLayout.ActiveDocument.1">
                  <p:embed/>
                  <p:pic>
                    <p:nvPicPr>
                      <p:cNvPr id="0" name=""/>
                      <p:cNvPicPr/>
                      <p:nvPr/>
                    </p:nvPicPr>
                    <p:blipFill>
                      <a:blip r:embed="rId8"/>
                      <a:stretch>
                        <a:fillRect/>
                      </a:stretch>
                    </p:blipFill>
                    <p:spPr>
                      <a:xfrm>
                        <a:off x="1588" y="1588"/>
                        <a:ext cx="1587" cy="1587"/>
                      </a:xfrm>
                      <a:prstGeom prst="rect">
                        <a:avLst/>
                      </a:prstGeom>
                    </p:spPr>
                  </p:pic>
                </p:oleObj>
              </mc:Fallback>
            </mc:AlternateContent>
          </a:graphicData>
        </a:graphic>
      </p:graphicFrame>
      <p:sp>
        <p:nvSpPr>
          <p:cNvPr id="2" name="Title Placeholder 1"/>
          <p:cNvSpPr>
            <a:spLocks noGrp="1"/>
          </p:cNvSpPr>
          <p:nvPr>
            <p:ph type="title"/>
          </p:nvPr>
        </p:nvSpPr>
        <p:spPr bwMode="gray">
          <a:xfrm>
            <a:off x="431800" y="480476"/>
            <a:ext cx="8280400" cy="734400"/>
          </a:xfrm>
          <a:prstGeom prst="rect">
            <a:avLst/>
          </a:prstGeom>
        </p:spPr>
        <p:txBody>
          <a:bodyPr vert="horz" lIns="0" tIns="0" rIns="0" bIns="0" rtlCol="0" anchor="t" anchorCtr="0">
            <a:noAutofit/>
          </a:bodyPr>
          <a:lstStyle/>
          <a:p>
            <a:r>
              <a:rPr lang="en-CA" noProof="0" dirty="0" err="1" smtClean="0"/>
              <a:t>Modifiez</a:t>
            </a:r>
            <a:r>
              <a:rPr lang="en-CA" noProof="0" dirty="0" smtClean="0"/>
              <a:t> le style du titre</a:t>
            </a:r>
            <a:endParaRPr lang="en-CA" noProof="0" dirty="0"/>
          </a:p>
        </p:txBody>
      </p:sp>
      <p:sp>
        <p:nvSpPr>
          <p:cNvPr id="3" name="Text Placeholder 2"/>
          <p:cNvSpPr>
            <a:spLocks noGrp="1"/>
          </p:cNvSpPr>
          <p:nvPr>
            <p:ph type="body" idx="1"/>
          </p:nvPr>
        </p:nvSpPr>
        <p:spPr bwMode="gray">
          <a:xfrm>
            <a:off x="431800" y="1426659"/>
            <a:ext cx="8280400" cy="4582800"/>
          </a:xfrm>
          <a:prstGeom prst="rect">
            <a:avLst/>
          </a:prstGeom>
        </p:spPr>
        <p:txBody>
          <a:bodyPr vert="horz" lIns="0" tIns="0" rIns="0" bIns="0" rtlCol="0" anchor="t" anchorCtr="0">
            <a:noAutofit/>
          </a:bodyPr>
          <a:lstStyle/>
          <a:p>
            <a:pPr lvl="0"/>
            <a:r>
              <a:rPr lang="en-CA" noProof="0" dirty="0" err="1" smtClean="0"/>
              <a:t>Modifiez</a:t>
            </a:r>
            <a:r>
              <a:rPr lang="en-CA" noProof="0" dirty="0" smtClean="0"/>
              <a:t> les styles du </a:t>
            </a:r>
            <a:r>
              <a:rPr lang="en-CA" noProof="0" dirty="0" err="1" smtClean="0"/>
              <a:t>texte</a:t>
            </a:r>
            <a:r>
              <a:rPr lang="en-CA" noProof="0" dirty="0" smtClean="0"/>
              <a:t> du masque</a:t>
            </a:r>
          </a:p>
          <a:p>
            <a:pPr lvl="1"/>
            <a:r>
              <a:rPr lang="en-CA" noProof="0" dirty="0" err="1" smtClean="0"/>
              <a:t>Deuxième</a:t>
            </a:r>
            <a:r>
              <a:rPr lang="en-CA" noProof="0" dirty="0" smtClean="0"/>
              <a:t> </a:t>
            </a:r>
            <a:r>
              <a:rPr lang="en-CA" noProof="0" dirty="0" err="1" smtClean="0"/>
              <a:t>niveau</a:t>
            </a:r>
            <a:endParaRPr lang="en-CA" noProof="0" dirty="0" smtClean="0"/>
          </a:p>
          <a:p>
            <a:pPr lvl="2"/>
            <a:r>
              <a:rPr lang="en-CA" noProof="0" dirty="0" err="1" smtClean="0"/>
              <a:t>Troisième</a:t>
            </a:r>
            <a:r>
              <a:rPr lang="en-CA" noProof="0" dirty="0" smtClean="0"/>
              <a:t> </a:t>
            </a:r>
            <a:r>
              <a:rPr lang="en-CA" noProof="0" dirty="0" err="1" smtClean="0"/>
              <a:t>niveau</a:t>
            </a:r>
            <a:endParaRPr lang="en-CA" noProof="0" dirty="0" smtClean="0"/>
          </a:p>
          <a:p>
            <a:pPr lvl="3"/>
            <a:r>
              <a:rPr lang="en-CA" noProof="0" dirty="0" err="1" smtClean="0"/>
              <a:t>Quatrième</a:t>
            </a:r>
            <a:r>
              <a:rPr lang="en-CA" noProof="0" dirty="0" smtClean="0"/>
              <a:t> </a:t>
            </a:r>
            <a:r>
              <a:rPr lang="en-CA" noProof="0" dirty="0" err="1" smtClean="0"/>
              <a:t>niveau</a:t>
            </a:r>
            <a:endParaRPr lang="en-CA" noProof="0" dirty="0" smtClean="0"/>
          </a:p>
          <a:p>
            <a:pPr lvl="4"/>
            <a:r>
              <a:rPr lang="en-CA" noProof="0" dirty="0" err="1" smtClean="0"/>
              <a:t>Cinquième</a:t>
            </a:r>
            <a:r>
              <a:rPr lang="en-CA" noProof="0" dirty="0" smtClean="0"/>
              <a:t> </a:t>
            </a:r>
            <a:r>
              <a:rPr lang="en-CA" noProof="0" dirty="0" err="1" smtClean="0"/>
              <a:t>niveau</a:t>
            </a:r>
            <a:endParaRPr lang="en-CA" noProof="0" dirty="0" smtClean="0"/>
          </a:p>
        </p:txBody>
      </p:sp>
      <p:sp>
        <p:nvSpPr>
          <p:cNvPr id="28" name="Freeform 19"/>
          <p:cNvSpPr>
            <a:spLocks noEditPoints="1"/>
          </p:cNvSpPr>
          <p:nvPr userDrawn="1"/>
        </p:nvSpPr>
        <p:spPr bwMode="gray">
          <a:xfrm>
            <a:off x="431800" y="6320118"/>
            <a:ext cx="424800" cy="172800"/>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en-CA" dirty="0">
              <a:solidFill>
                <a:srgbClr val="000000"/>
              </a:solidFill>
            </a:endParaRPr>
          </a:p>
        </p:txBody>
      </p:sp>
      <p:sp>
        <p:nvSpPr>
          <p:cNvPr id="29" name="Shape 8"/>
          <p:cNvSpPr txBox="1">
            <a:spLocks/>
          </p:cNvSpPr>
          <p:nvPr userDrawn="1"/>
        </p:nvSpPr>
        <p:spPr bwMode="gray">
          <a:xfrm>
            <a:off x="8369980" y="6320118"/>
            <a:ext cx="342220"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CA" sz="900" smtClean="0">
                <a:solidFill>
                  <a:srgbClr val="00338D"/>
                </a:solidFill>
                <a:cs typeface="Arial" panose="020B0604020202020204" pitchFamily="34" charset="0"/>
              </a:rPr>
              <a:pPr algn="r"/>
              <a:t>‹#›</a:t>
            </a:fld>
            <a:endParaRPr lang="en-CA" sz="900" dirty="0">
              <a:solidFill>
                <a:srgbClr val="00338D"/>
              </a:solidFill>
              <a:cs typeface="Arial" panose="020B0604020202020204" pitchFamily="34" charset="0"/>
            </a:endParaRPr>
          </a:p>
        </p:txBody>
      </p:sp>
      <p:sp>
        <p:nvSpPr>
          <p:cNvPr id="30" name="TextBox 29"/>
          <p:cNvSpPr txBox="1"/>
          <p:nvPr userDrawn="1"/>
        </p:nvSpPr>
        <p:spPr bwMode="auto">
          <a:xfrm>
            <a:off x="1731600" y="6336273"/>
            <a:ext cx="6318000" cy="184666"/>
          </a:xfrm>
          <a:prstGeom prst="rect">
            <a:avLst/>
          </a:prstGeom>
          <a:noFill/>
        </p:spPr>
        <p:txBody>
          <a:bodyPr wrap="square" lIns="0" tIns="0" rIns="0" bIns="0" rtlCol="0" anchor="ctr" anchorCtr="0">
            <a:spAutoFit/>
          </a:bodyPr>
          <a:lstStyle/>
          <a:p>
            <a:pPr defTabSz="914400">
              <a:defRPr/>
            </a:pPr>
            <a:r>
              <a:rPr lang="en-CA" sz="600" dirty="0" smtClean="0">
                <a:solidFill>
                  <a:prstClr val="white">
                    <a:lumMod val="65000"/>
                  </a:prstClr>
                </a:solidFill>
              </a:rPr>
              <a:t>© 2018 KPMG LLP, a Canadian limited liability partnership and a member firm of the KPMG network of independent member firms affiliated with KPMG International Cooperative </a:t>
            </a:r>
            <a:br>
              <a:rPr lang="en-CA" sz="600" dirty="0" smtClean="0">
                <a:solidFill>
                  <a:prstClr val="white">
                    <a:lumMod val="65000"/>
                  </a:prstClr>
                </a:solidFill>
              </a:rPr>
            </a:br>
            <a:r>
              <a:rPr lang="en-CA" sz="600" dirty="0" smtClean="0">
                <a:solidFill>
                  <a:prstClr val="white">
                    <a:lumMod val="65000"/>
                  </a:prstClr>
                </a:solidFill>
              </a:rPr>
              <a:t>(“KPMG International”), a Swiss entity. All rights reserved. The KPMG name and logo are registered trademarks or trademarks of KPMG International.</a:t>
            </a:r>
          </a:p>
        </p:txBody>
      </p:sp>
    </p:spTree>
    <p:extLst>
      <p:ext uri="{BB962C8B-B14F-4D97-AF65-F5344CB8AC3E}">
        <p14:creationId xmlns:p14="http://schemas.microsoft.com/office/powerpoint/2010/main" val="1604990627"/>
      </p:ext>
    </p:extLst>
  </p:cSld>
  <p:clrMap bg1="lt1" tx1="dk1" bg2="lt2" tx2="dk2" accent1="accent1" accent2="accent2" accent3="accent3" accent4="accent4" accent5="accent5" accent6="accent6" hlink="hlink" folHlink="folHlink"/>
  <p:sldLayoutIdLst>
    <p:sldLayoutId id="2147484825" r:id="rId1"/>
    <p:sldLayoutId id="2147484826" r:id="rId2"/>
    <p:sldLayoutId id="2147484827" r:id="rId3"/>
  </p:sldLayoutIdLst>
  <p:timing>
    <p:tnLst>
      <p:par>
        <p:cTn id="1" dur="indefinite" restart="never" nodeType="tmRoot"/>
      </p:par>
    </p:tnLst>
  </p:timing>
  <p:txStyles>
    <p:titleStyle>
      <a:lvl1pPr algn="l" defTabSz="914400" rtl="0" eaLnBrk="1" latinLnBrk="0" hangingPunct="1">
        <a:lnSpc>
          <a:spcPct val="70000"/>
        </a:lnSpc>
        <a:spcBef>
          <a:spcPct val="0"/>
        </a:spcBef>
        <a:buNone/>
        <a:defRPr sz="3800" kern="1200">
          <a:solidFill>
            <a:schemeClr val="tx2"/>
          </a:solidFill>
          <a:latin typeface="+mj-lt"/>
          <a:ea typeface="+mj-ea"/>
          <a:cs typeface="+mj-cs"/>
        </a:defRPr>
      </a:lvl1pPr>
    </p:titleStyle>
    <p:bodyStyle>
      <a:lvl1pPr marL="0" indent="0" algn="l" defTabSz="914400" rtl="0" eaLnBrk="1" latinLnBrk="0" hangingPunct="1">
        <a:lnSpc>
          <a:spcPct val="100000"/>
        </a:lnSpc>
        <a:spcBef>
          <a:spcPts val="0"/>
        </a:spcBef>
        <a:spcAft>
          <a:spcPts val="600"/>
        </a:spcAft>
        <a:buFontTx/>
        <a:buNone/>
        <a:defRPr sz="900" b="1" kern="1200">
          <a:solidFill>
            <a:schemeClr val="tx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kern="1200">
          <a:solidFill>
            <a:schemeClr val="tx2"/>
          </a:solidFill>
          <a:latin typeface="+mn-lt"/>
          <a:ea typeface="+mn-ea"/>
          <a:cs typeface="+mn-cs"/>
        </a:defRPr>
      </a:lvl2pPr>
      <a:lvl3pPr marL="179388" indent="-179388"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3pPr>
      <a:lvl4pPr marL="358775" indent="-179388"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4pPr>
      <a:lvl5pPr marL="538163" indent="-179388"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baseline="0">
          <a:solidFill>
            <a:schemeClr val="tx2"/>
          </a:solidFill>
          <a:latin typeface="+mn-lt"/>
          <a:ea typeface="+mn-ea"/>
          <a:cs typeface="+mn-cs"/>
        </a:defRPr>
      </a:lvl5pPr>
      <a:lvl6pPr marL="720000" indent="-144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6pPr>
      <a:lvl7pPr marL="936000" indent="-216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7pPr>
      <a:lvl8pPr marL="1080000" indent="-144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3784">
          <p15:clr>
            <a:srgbClr val="F26B43"/>
          </p15:clr>
        </p15:guide>
        <p15:guide id="2" pos="272">
          <p15:clr>
            <a:srgbClr val="F26B43"/>
          </p15:clr>
        </p15:guide>
        <p15:guide id="3" pos="5488">
          <p15:clr>
            <a:srgbClr val="F26B43"/>
          </p15:clr>
        </p15:guide>
        <p15:guide id="4" orient="horz" pos="763">
          <p15:clr>
            <a:srgbClr val="F26B43"/>
          </p15:clr>
        </p15:guide>
        <p15:guide id="5" orient="horz" pos="300">
          <p15:clr>
            <a:srgbClr val="F26B43"/>
          </p15:clr>
        </p15:guide>
        <p15:guide id="6" orient="horz" pos="896">
          <p15:clr>
            <a:srgbClr val="F26B43"/>
          </p15:clr>
        </p15:guide>
        <p15:guide id="7" pos="2925">
          <p15:clr>
            <a:srgbClr val="F26B43"/>
          </p15:clr>
        </p15:guide>
        <p15:guide id="8" pos="2835">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ags" Target="../tags/tag9.xml"/><Relationship Id="rId5" Type="http://schemas.openxmlformats.org/officeDocument/2006/relationships/image" Target="../media/image8.emf"/><Relationship Id="rId4" Type="http://schemas.openxmlformats.org/officeDocument/2006/relationships/image" Target="../media/image7.emf"/></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9.xml"/><Relationship Id="rId1" Type="http://schemas.openxmlformats.org/officeDocument/2006/relationships/tags" Target="../tags/tag10.xml"/><Relationship Id="rId4" Type="http://schemas.openxmlformats.org/officeDocument/2006/relationships/image" Target="../media/image9.emf"/></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9.xml"/><Relationship Id="rId1" Type="http://schemas.openxmlformats.org/officeDocument/2006/relationships/tags" Target="../tags/tag11.xml"/><Relationship Id="rId4" Type="http://schemas.openxmlformats.org/officeDocument/2006/relationships/image" Target="../media/image10.emf"/></Relationships>
</file>

<file path=ppt/slides/_rels/slide11.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notesSlide" Target="../notesSlides/notesSlide11.xml"/><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notesSlide" Target="../notesSlides/notesSlide13.xml"/><Relationship Id="rId1" Type="http://schemas.openxmlformats.org/officeDocument/2006/relationships/slideLayout" Target="../slideLayouts/slideLayout9.xml"/><Relationship Id="rId4" Type="http://schemas.openxmlformats.org/officeDocument/2006/relationships/image" Target="../media/image13.emf"/></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3.xml"/><Relationship Id="rId1" Type="http://schemas.openxmlformats.org/officeDocument/2006/relationships/tags" Target="../tags/tag12.xml"/><Relationship Id="rId4" Type="http://schemas.openxmlformats.org/officeDocument/2006/relationships/image" Target="../media/image14.emf"/></Relationships>
</file>

<file path=ppt/slides/_rels/slide16.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6.emf"/></Relationships>
</file>

<file path=ppt/slides/_rels/slide17.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16.emf"/></Relationships>
</file>

<file path=ppt/slides/_rels/slide18.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16.emf"/><Relationship Id="rId4" Type="http://schemas.openxmlformats.org/officeDocument/2006/relationships/image" Target="../media/image19.emf"/></Relationships>
</file>

<file path=ppt/slides/_rels/slide19.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16.emf"/></Relationships>
</file>

<file path=ppt/slides/_rels/slide20.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16.emf"/></Relationships>
</file>

<file path=ppt/slides/_rels/slide21.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23.emf"/></Relationships>
</file>

<file path=ppt/slides/_rels/slide22.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25.emf"/><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26.emf"/><Relationship Id="rId2" Type="http://schemas.openxmlformats.org/officeDocument/2006/relationships/notesSlide" Target="../notesSlides/notesSlide26.xml"/><Relationship Id="rId1" Type="http://schemas.openxmlformats.org/officeDocument/2006/relationships/slideLayout" Target="../slideLayouts/slideLayout3.xml"/><Relationship Id="rId6" Type="http://schemas.openxmlformats.org/officeDocument/2006/relationships/image" Target="../media/image29.emf"/><Relationship Id="rId5" Type="http://schemas.openxmlformats.org/officeDocument/2006/relationships/image" Target="../media/image28.emf"/><Relationship Id="rId4" Type="http://schemas.openxmlformats.org/officeDocument/2006/relationships/image" Target="../media/image27.emf"/></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0.xml"/></Relationships>
</file>

<file path=ppt/slides/_rels/slide28.xml.rels><?xml version="1.0" encoding="UTF-8" standalone="yes"?>
<Relationships xmlns="http://schemas.openxmlformats.org/package/2006/relationships"><Relationship Id="rId3" Type="http://schemas.openxmlformats.org/officeDocument/2006/relationships/image" Target="../media/image30.emf"/><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3.xml"/><Relationship Id="rId1" Type="http://schemas.openxmlformats.org/officeDocument/2006/relationships/tags" Target="../tags/tag13.xml"/><Relationship Id="rId5" Type="http://schemas.openxmlformats.org/officeDocument/2006/relationships/image" Target="../media/image32.emf"/><Relationship Id="rId4" Type="http://schemas.openxmlformats.org/officeDocument/2006/relationships/image" Target="../media/image31.emf"/></Relationships>
</file>

<file path=ppt/slides/_rels/slide30.xml.rels><?xml version="1.0" encoding="UTF-8" standalone="yes"?>
<Relationships xmlns="http://schemas.openxmlformats.org/package/2006/relationships"><Relationship Id="rId3" Type="http://schemas.openxmlformats.org/officeDocument/2006/relationships/image" Target="../media/image33.emf"/><Relationship Id="rId2" Type="http://schemas.openxmlformats.org/officeDocument/2006/relationships/notesSlide" Target="../notesSlides/notesSlide30.xml"/><Relationship Id="rId1" Type="http://schemas.openxmlformats.org/officeDocument/2006/relationships/slideLayout" Target="../slideLayouts/slideLayout3.xml"/><Relationship Id="rId5" Type="http://schemas.openxmlformats.org/officeDocument/2006/relationships/image" Target="../media/image35.emf"/><Relationship Id="rId4" Type="http://schemas.openxmlformats.org/officeDocument/2006/relationships/image" Target="../media/image34.emf"/></Relationships>
</file>

<file path=ppt/slides/_rels/slide31.xml.rels><?xml version="1.0" encoding="UTF-8" standalone="yes"?>
<Relationships xmlns="http://schemas.openxmlformats.org/package/2006/relationships"><Relationship Id="rId3" Type="http://schemas.openxmlformats.org/officeDocument/2006/relationships/image" Target="../media/image35.emf"/><Relationship Id="rId2" Type="http://schemas.openxmlformats.org/officeDocument/2006/relationships/notesSlide" Target="../notesSlides/notesSlide31.xml"/><Relationship Id="rId1" Type="http://schemas.openxmlformats.org/officeDocument/2006/relationships/slideLayout" Target="../slideLayouts/slideLayout3.xml"/><Relationship Id="rId5" Type="http://schemas.openxmlformats.org/officeDocument/2006/relationships/image" Target="../media/image37.emf"/><Relationship Id="rId4" Type="http://schemas.openxmlformats.org/officeDocument/2006/relationships/image" Target="../media/image36.emf"/></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3.xml"/><Relationship Id="rId1" Type="http://schemas.openxmlformats.org/officeDocument/2006/relationships/slideLayout" Target="../slideLayouts/slideLayout3.xml"/><Relationship Id="rId4" Type="http://schemas.openxmlformats.org/officeDocument/2006/relationships/image" Target="../media/image39.png"/></Relationships>
</file>

<file path=ppt/slides/_rels/slide34.xml.rels><?xml version="1.0" encoding="UTF-8" standalone="yes"?>
<Relationships xmlns="http://schemas.openxmlformats.org/package/2006/relationships"><Relationship Id="rId3" Type="http://schemas.openxmlformats.org/officeDocument/2006/relationships/image" Target="../media/image40.emf"/><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41.emf"/></Relationships>
</file>

<file path=ppt/slides/_rels/slide35.xml.rels><?xml version="1.0" encoding="UTF-8" standalone="yes"?>
<Relationships xmlns="http://schemas.openxmlformats.org/package/2006/relationships"><Relationship Id="rId3" Type="http://schemas.openxmlformats.org/officeDocument/2006/relationships/image" Target="../media/image42.emf"/><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image" Target="../media/image43.emf"/><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3" Type="http://schemas.openxmlformats.org/officeDocument/2006/relationships/image" Target="../media/image44.emf"/><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image" Target="../media/image45.emf"/></Relationships>
</file>

<file path=ppt/slides/_rels/slide38.xml.rels><?xml version="1.0" encoding="UTF-8" standalone="yes"?>
<Relationships xmlns="http://schemas.openxmlformats.org/package/2006/relationships"><Relationship Id="rId3" Type="http://schemas.openxmlformats.org/officeDocument/2006/relationships/image" Target="../media/image46.emf"/><Relationship Id="rId2" Type="http://schemas.openxmlformats.org/officeDocument/2006/relationships/notesSlide" Target="../notesSlides/notesSlide38.xml"/><Relationship Id="rId1" Type="http://schemas.openxmlformats.org/officeDocument/2006/relationships/slideLayout" Target="../slideLayouts/slideLayout2.xml"/><Relationship Id="rId4" Type="http://schemas.openxmlformats.org/officeDocument/2006/relationships/image" Target="../media/image47.emf"/></Relationships>
</file>

<file path=ppt/slides/_rels/slide39.xml.rels><?xml version="1.0" encoding="UTF-8" standalone="yes"?>
<Relationships xmlns="http://schemas.openxmlformats.org/package/2006/relationships"><Relationship Id="rId3" Type="http://schemas.openxmlformats.org/officeDocument/2006/relationships/tags" Target="../tags/tag16.xml"/><Relationship Id="rId2" Type="http://schemas.openxmlformats.org/officeDocument/2006/relationships/tags" Target="../tags/tag15.xml"/><Relationship Id="rId1" Type="http://schemas.openxmlformats.org/officeDocument/2006/relationships/tags" Target="../tags/tag14.xml"/><Relationship Id="rId6" Type="http://schemas.openxmlformats.org/officeDocument/2006/relationships/image" Target="../media/image48.emf"/><Relationship Id="rId5" Type="http://schemas.openxmlformats.org/officeDocument/2006/relationships/notesSlide" Target="../notesSlides/notesSlide39.xml"/><Relationship Id="rId4"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8.xml"/><Relationship Id="rId1" Type="http://schemas.openxmlformats.org/officeDocument/2006/relationships/tags" Target="../tags/tag17.xml"/><Relationship Id="rId5" Type="http://schemas.openxmlformats.org/officeDocument/2006/relationships/image" Target="../media/image49.emf"/><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3" Type="http://schemas.openxmlformats.org/officeDocument/2006/relationships/tags" Target="../tags/tag21.xml"/><Relationship Id="rId2" Type="http://schemas.openxmlformats.org/officeDocument/2006/relationships/tags" Target="../tags/tag20.xml"/><Relationship Id="rId1" Type="http://schemas.openxmlformats.org/officeDocument/2006/relationships/tags" Target="../tags/tag19.xml"/><Relationship Id="rId6" Type="http://schemas.openxmlformats.org/officeDocument/2006/relationships/image" Target="../media/image50.emf"/><Relationship Id="rId5" Type="http://schemas.openxmlformats.org/officeDocument/2006/relationships/notesSlide" Target="../notesSlides/notesSlide41.xml"/><Relationship Id="rId4"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51.emf"/><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3" Type="http://schemas.openxmlformats.org/officeDocument/2006/relationships/image" Target="../media/image52.emf"/><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8" Type="http://schemas.openxmlformats.org/officeDocument/2006/relationships/image" Target="../media/image55.emf"/><Relationship Id="rId3" Type="http://schemas.openxmlformats.org/officeDocument/2006/relationships/tags" Target="../tags/tag24.xml"/><Relationship Id="rId7" Type="http://schemas.openxmlformats.org/officeDocument/2006/relationships/image" Target="../media/image54.emf"/><Relationship Id="rId2" Type="http://schemas.openxmlformats.org/officeDocument/2006/relationships/tags" Target="../tags/tag23.xml"/><Relationship Id="rId1" Type="http://schemas.openxmlformats.org/officeDocument/2006/relationships/tags" Target="../tags/tag22.xml"/><Relationship Id="rId6" Type="http://schemas.openxmlformats.org/officeDocument/2006/relationships/image" Target="../media/image53.emf"/><Relationship Id="rId5" Type="http://schemas.openxmlformats.org/officeDocument/2006/relationships/notesSlide" Target="../notesSlides/notesSlide44.xml"/><Relationship Id="rId4" Type="http://schemas.openxmlformats.org/officeDocument/2006/relationships/slideLayout" Target="../slideLayouts/slideLayout3.xml"/><Relationship Id="rId9" Type="http://schemas.openxmlformats.org/officeDocument/2006/relationships/image" Target="../media/image56.emf"/></Relationships>
</file>

<file path=ppt/slides/_rels/slide45.xml.rels><?xml version="1.0" encoding="UTF-8" standalone="yes"?>
<Relationships xmlns="http://schemas.openxmlformats.org/package/2006/relationships"><Relationship Id="rId3" Type="http://schemas.openxmlformats.org/officeDocument/2006/relationships/image" Target="../media/image57.emf"/><Relationship Id="rId2" Type="http://schemas.openxmlformats.org/officeDocument/2006/relationships/notesSlide" Target="../notesSlides/notesSlide45.xml"/><Relationship Id="rId1" Type="http://schemas.openxmlformats.org/officeDocument/2006/relationships/slideLayout" Target="../slideLayouts/slideLayout3.xml"/><Relationship Id="rId4" Type="http://schemas.openxmlformats.org/officeDocument/2006/relationships/image" Target="../media/image58.emf"/></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body" sz="quarter" idx="11"/>
          </p:nvPr>
        </p:nvSpPr>
        <p:spPr>
          <a:xfrm>
            <a:off x="2044800" y="4539854"/>
            <a:ext cx="3721686" cy="216000"/>
          </a:xfrm>
        </p:spPr>
        <p:txBody>
          <a:bodyPr/>
          <a:lstStyle/>
          <a:p>
            <a:r>
              <a:rPr lang="en-GB" sz="1200" dirty="0" smtClean="0">
                <a:latin typeface="Univers for KPMG" panose="020B0603020202020204" pitchFamily="34" charset="0"/>
                <a:cs typeface="Arial" panose="020B0604020202020204" pitchFamily="34" charset="0"/>
              </a:rPr>
              <a:t>Deal </a:t>
            </a:r>
            <a:r>
              <a:rPr lang="en-GB" sz="1200" dirty="0" smtClean="0">
                <a:latin typeface="Univers for KPMG" panose="020B0603020202020204" pitchFamily="34" charset="0"/>
                <a:cs typeface="Arial" panose="020B0604020202020204" pitchFamily="34" charset="0"/>
              </a:rPr>
              <a:t>Advisory</a:t>
            </a:r>
          </a:p>
          <a:p>
            <a:pPr lvl="1"/>
            <a:r>
              <a:rPr lang="en-GB" sz="1200" dirty="0" smtClean="0">
                <a:solidFill>
                  <a:srgbClr val="00338D"/>
                </a:solidFill>
                <a:latin typeface="Univers for KPMG" panose="020B0603020202020204" pitchFamily="34" charset="0"/>
                <a:cs typeface="Arial" panose="020B0604020202020204" pitchFamily="34" charset="0"/>
              </a:rPr>
              <a:t>—</a:t>
            </a:r>
          </a:p>
          <a:p>
            <a:pPr lvl="1"/>
            <a:r>
              <a:rPr lang="en-GB" sz="1200" dirty="0" smtClean="0">
                <a:solidFill>
                  <a:srgbClr val="00338D"/>
                </a:solidFill>
                <a:latin typeface="Univers for KPMG" panose="020B0603020202020204" pitchFamily="34" charset="0"/>
                <a:cs typeface="Arial" panose="020B0604020202020204" pitchFamily="34" charset="0"/>
              </a:rPr>
              <a:t>March 27, </a:t>
            </a:r>
            <a:r>
              <a:rPr lang="en-GB" sz="1200" dirty="0" smtClean="0">
                <a:solidFill>
                  <a:srgbClr val="00338D"/>
                </a:solidFill>
                <a:latin typeface="Univers for KPMG" panose="020B0603020202020204" pitchFamily="34" charset="0"/>
                <a:cs typeface="Arial" panose="020B0604020202020204" pitchFamily="34" charset="0"/>
              </a:rPr>
              <a:t>2018</a:t>
            </a:r>
            <a:endParaRPr lang="en-GB" sz="1200" dirty="0" smtClean="0">
              <a:solidFill>
                <a:srgbClr val="00338D"/>
              </a:solidFill>
              <a:latin typeface="Univers for KPMG" panose="020B0603020202020204" pitchFamily="34" charset="0"/>
              <a:cs typeface="Arial" panose="020B0604020202020204" pitchFamily="34" charset="0"/>
            </a:endParaRPr>
          </a:p>
        </p:txBody>
      </p:sp>
      <p:sp>
        <p:nvSpPr>
          <p:cNvPr id="7" name="Title 3"/>
          <p:cNvSpPr>
            <a:spLocks noGrp="1"/>
          </p:cNvSpPr>
          <p:nvPr>
            <p:ph type="ctrTitle"/>
          </p:nvPr>
        </p:nvSpPr>
        <p:spPr>
          <a:xfrm>
            <a:off x="2044800" y="1346400"/>
            <a:ext cx="6192000" cy="2551832"/>
          </a:xfrm>
        </p:spPr>
        <p:txBody>
          <a:bodyPr/>
          <a:lstStyle/>
          <a:p>
            <a:r>
              <a:rPr lang="en-CA" sz="9600" noProof="0" dirty="0" smtClean="0"/>
              <a:t>Project Ascend</a:t>
            </a:r>
            <a:endParaRPr lang="en-CA" sz="9600" noProof="0" dirty="0"/>
          </a:p>
        </p:txBody>
      </p:sp>
    </p:spTree>
    <p:extLst>
      <p:ext uri="{BB962C8B-B14F-4D97-AF65-F5344CB8AC3E}">
        <p14:creationId xmlns:p14="http://schemas.microsoft.com/office/powerpoint/2010/main" val="85538773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Important notice</a:t>
            </a:r>
            <a:endParaRPr lang="en-US" dirty="0"/>
          </a:p>
        </p:txBody>
      </p:sp>
      <p:sp>
        <p:nvSpPr>
          <p:cNvPr id="3" name="Text Placeholder 2"/>
          <p:cNvSpPr>
            <a:spLocks noGrp="1"/>
          </p:cNvSpPr>
          <p:nvPr>
            <p:ph type="body" sz="quarter" idx="11"/>
          </p:nvPr>
        </p:nvSpPr>
        <p:spPr>
          <a:xfrm>
            <a:off x="324000" y="1071000"/>
            <a:ext cx="8496000" cy="4644000"/>
          </a:xfrm>
        </p:spPr>
        <p:txBody>
          <a:bodyPr/>
          <a:lstStyle/>
          <a:p>
            <a:pPr algn="just">
              <a:spcBef>
                <a:spcPts val="600"/>
              </a:spcBef>
            </a:pPr>
            <a:r>
              <a:rPr lang="en-US" b="0" dirty="0">
                <a:solidFill>
                  <a:srgbClr val="00338D"/>
                </a:solidFill>
                <a:latin typeface="Univers for KPMG" panose="020B0603020202020204" pitchFamily="34" charset="0"/>
              </a:rPr>
              <a:t>This </a:t>
            </a:r>
            <a:r>
              <a:rPr lang="en-US" b="0" dirty="0" smtClean="0">
                <a:solidFill>
                  <a:srgbClr val="00338D"/>
                </a:solidFill>
                <a:latin typeface="Univers for KPMG" panose="020B0603020202020204" pitchFamily="34" charset="0"/>
              </a:rPr>
              <a:t>report is </a:t>
            </a:r>
            <a:r>
              <a:rPr lang="en-US" b="0" dirty="0">
                <a:solidFill>
                  <a:srgbClr val="00338D"/>
                </a:solidFill>
                <a:latin typeface="Univers for KPMG" panose="020B0603020202020204" pitchFamily="34" charset="0"/>
              </a:rPr>
              <a:t>provided to </a:t>
            </a:r>
            <a:r>
              <a:rPr lang="en-US" b="0" dirty="0" smtClean="0">
                <a:solidFill>
                  <a:srgbClr val="00338D"/>
                </a:solidFill>
                <a:latin typeface="Univers for KPMG" panose="020B0603020202020204" pitchFamily="34" charset="0"/>
              </a:rPr>
              <a:t>DW Healthcare Partners (“</a:t>
            </a:r>
            <a:r>
              <a:rPr lang="en-US" b="0" dirty="0">
                <a:solidFill>
                  <a:srgbClr val="00338D"/>
                </a:solidFill>
                <a:latin typeface="Univers for KPMG" panose="020B0603020202020204" pitchFamily="34" charset="0"/>
              </a:rPr>
              <a:t>Client”) on a confidential basis pursuant to our engagement letter dated </a:t>
            </a:r>
            <a:r>
              <a:rPr lang="en-US" b="0" dirty="0" smtClean="0">
                <a:solidFill>
                  <a:srgbClr val="00338D"/>
                </a:solidFill>
                <a:latin typeface="Univers for KPMG" panose="020B0603020202020204" pitchFamily="34" charset="0"/>
              </a:rPr>
              <a:t>December 18, 2017</a:t>
            </a:r>
            <a:r>
              <a:rPr lang="en-US" b="0" dirty="0" smtClean="0">
                <a:latin typeface="Univers for KPMG" panose="020B0603020202020204" pitchFamily="34" charset="0"/>
              </a:rPr>
              <a:t> </a:t>
            </a:r>
            <a:r>
              <a:rPr lang="en-US" b="0" dirty="0">
                <a:latin typeface="Univers for KPMG" panose="020B0603020202020204" pitchFamily="34" charset="0"/>
              </a:rPr>
              <a:t>(“Engagement Agreement”) and is subject in all respects to the terms and conditions of the Engagement Agreement, including restrictions on use of this report by third parties. </a:t>
            </a:r>
          </a:p>
          <a:p>
            <a:pPr algn="just">
              <a:spcBef>
                <a:spcPts val="600"/>
              </a:spcBef>
              <a:defRPr/>
            </a:pPr>
            <a:r>
              <a:rPr lang="en-US" b="0" dirty="0">
                <a:latin typeface="Univers for KPMG" panose="020B0603020202020204" pitchFamily="34" charset="0"/>
              </a:rPr>
              <a:t>If this </a:t>
            </a:r>
            <a:r>
              <a:rPr lang="en-US" b="0" dirty="0" smtClean="0">
                <a:latin typeface="Univers for KPMG" panose="020B0603020202020204" pitchFamily="34" charset="0"/>
              </a:rPr>
              <a:t>report is </a:t>
            </a:r>
            <a:r>
              <a:rPr lang="en-US" b="0" dirty="0">
                <a:latin typeface="Univers for KPMG" panose="020B0603020202020204" pitchFamily="34" charset="0"/>
              </a:rPr>
              <a:t>received by any party other than Client, the recipient is placed on notice that this report has been prepared solely for Client’s benefit and its own use. KPMG LLP (“KPMG”) does not authorize recipient or any other party to rely on this </a:t>
            </a:r>
            <a:r>
              <a:rPr lang="en-US" b="0" dirty="0" smtClean="0">
                <a:latin typeface="Univers for KPMG" panose="020B0603020202020204" pitchFamily="34" charset="0"/>
              </a:rPr>
              <a:t>report and </a:t>
            </a:r>
            <a:r>
              <a:rPr lang="en-US" b="0" dirty="0">
                <a:latin typeface="Univers for KPMG" panose="020B0603020202020204" pitchFamily="34" charset="0"/>
              </a:rPr>
              <a:t>any such reliance shall be at recipient’s sole risk. Therefore, KPMG shall have no liability or responsibility in respect of the advice, recommendations, or other information in this report </a:t>
            </a:r>
            <a:r>
              <a:rPr lang="en-US" b="0" dirty="0" smtClean="0">
                <a:latin typeface="Univers for KPMG" panose="020B0603020202020204" pitchFamily="34" charset="0"/>
              </a:rPr>
              <a:t>to </a:t>
            </a:r>
            <a:r>
              <a:rPr lang="en-US" b="0" dirty="0">
                <a:latin typeface="Univers for KPMG" panose="020B0603020202020204" pitchFamily="34" charset="0"/>
              </a:rPr>
              <a:t>recipient or any other party other than Client. Further, this </a:t>
            </a:r>
            <a:r>
              <a:rPr lang="en-US" b="0" dirty="0" smtClean="0">
                <a:latin typeface="Univers for KPMG" panose="020B0603020202020204" pitchFamily="34" charset="0"/>
              </a:rPr>
              <a:t>report and </a:t>
            </a:r>
            <a:r>
              <a:rPr lang="en-US" b="0" dirty="0">
                <a:latin typeface="Univers for KPMG" panose="020B0603020202020204" pitchFamily="34" charset="0"/>
              </a:rPr>
              <a:t>its contents may not be shared with or disclosed by the recipient to any party without the express written consent of Client and KPMG. KPMG neither warrants nor represents that the information contained in this report </a:t>
            </a:r>
            <a:r>
              <a:rPr lang="en-US" b="0" dirty="0" smtClean="0">
                <a:latin typeface="Univers for KPMG" panose="020B0603020202020204" pitchFamily="34" charset="0"/>
              </a:rPr>
              <a:t>is </a:t>
            </a:r>
            <a:r>
              <a:rPr lang="en-US" b="0" dirty="0">
                <a:latin typeface="Univers for KPMG" panose="020B0603020202020204" pitchFamily="34" charset="0"/>
              </a:rPr>
              <a:t>accurate, complete, sufficient or appropriate for use by any person or entity other than Client or for any purpose other than set out in the Engagement Agreement. </a:t>
            </a:r>
          </a:p>
          <a:p>
            <a:pPr algn="just">
              <a:spcBef>
                <a:spcPts val="600"/>
              </a:spcBef>
              <a:defRPr/>
            </a:pPr>
            <a:r>
              <a:rPr lang="en-US" b="0" dirty="0">
                <a:latin typeface="Univers for KPMG" panose="020B0603020202020204" pitchFamily="34" charset="0"/>
              </a:rPr>
              <a:t>The quality of earnings analysis is for indicative purposes only. We have sought to illustrate the effect on </a:t>
            </a:r>
            <a:r>
              <a:rPr lang="en-US" b="0" dirty="0" smtClean="0">
                <a:latin typeface="Univers for KPMG" panose="020B0603020202020204" pitchFamily="34" charset="0"/>
              </a:rPr>
              <a:t>EBITDA </a:t>
            </a:r>
            <a:r>
              <a:rPr lang="en-US" b="0" dirty="0">
                <a:latin typeface="Univers for KPMG" panose="020B0603020202020204" pitchFamily="34" charset="0"/>
              </a:rPr>
              <a:t>of adjusting for those items identified in the course of our work that may be considered to be 'non-recurring' or 'exceptional'. However the selection and quantification of such adjustments is necessarily judgmental. Because there is no authoritative literature or common standard with respect to the calculation of 'underlying' earnings, there is no basis to state whether all appropriate and comparable adjustments have been made. In addition, while the adjustments may indeed relate to items which are 'non-recurring’ or 'exceptional' or otherwise unrepresentative of the trend, it is possible that earnings trends for future periods may be affected by such items, which may be different from the historical items</a:t>
            </a:r>
            <a:r>
              <a:rPr lang="en-US" b="0" dirty="0" smtClean="0">
                <a:latin typeface="Univers for KPMG" panose="020B0603020202020204" pitchFamily="34" charset="0"/>
              </a:rPr>
              <a:t>.</a:t>
            </a:r>
          </a:p>
          <a:p>
            <a:pPr algn="just">
              <a:spcBef>
                <a:spcPts val="600"/>
              </a:spcBef>
              <a:defRPr/>
            </a:pPr>
            <a:r>
              <a:rPr lang="en-US" b="0" dirty="0">
                <a:latin typeface="Univers for KPMG" panose="020B0603020202020204" pitchFamily="34" charset="0"/>
              </a:rPr>
              <a:t>The sources of information used are noted, wherever possible, in the report. We have not sought to establish the reliability of these sources by reference to evidence independent of management. We have, however, reviewed the information produced and have satisfied ourselves, so far as possible, that the information presented is consistent with other information obtained by us during the course of the work undertaken to prepare this report. </a:t>
            </a:r>
          </a:p>
          <a:p>
            <a:pPr algn="just">
              <a:spcBef>
                <a:spcPts val="600"/>
              </a:spcBef>
              <a:defRPr/>
            </a:pPr>
            <a:endParaRPr lang="en-US" b="0" dirty="0">
              <a:latin typeface="Univers for KPMG" panose="020B0603020202020204" pitchFamily="34" charset="0"/>
            </a:endParaRPr>
          </a:p>
        </p:txBody>
      </p:sp>
    </p:spTree>
    <p:extLst>
      <p:ext uri="{BB962C8B-B14F-4D97-AF65-F5344CB8AC3E}">
        <p14:creationId xmlns:p14="http://schemas.microsoft.com/office/powerpoint/2010/main" val="256491779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Title 37"/>
          <p:cNvSpPr>
            <a:spLocks noGrp="1"/>
          </p:cNvSpPr>
          <p:nvPr>
            <p:ph type="title"/>
          </p:nvPr>
        </p:nvSpPr>
        <p:spPr>
          <a:xfrm>
            <a:off x="431800" y="171526"/>
            <a:ext cx="8280400" cy="734400"/>
          </a:xfrm>
        </p:spPr>
        <p:txBody>
          <a:bodyPr tIns="91440"/>
          <a:lstStyle/>
          <a:p>
            <a:r>
              <a:rPr lang="en-CA" noProof="0" dirty="0" smtClean="0"/>
              <a:t>Glossary</a:t>
            </a:r>
            <a:endParaRPr lang="en-CA" noProof="0" dirty="0"/>
          </a:p>
        </p:txBody>
      </p:sp>
      <p:graphicFrame>
        <p:nvGraphicFramePr>
          <p:cNvPr id="10" name="Table 16"/>
          <p:cNvGraphicFramePr>
            <a:graphicFrameLocks noGrp="1"/>
          </p:cNvGraphicFramePr>
          <p:nvPr>
            <p:extLst>
              <p:ext uri="{D42A27DB-BD31-4B8C-83A1-F6EECF244321}">
                <p14:modId xmlns:p14="http://schemas.microsoft.com/office/powerpoint/2010/main" val="928536575"/>
              </p:ext>
            </p:extLst>
          </p:nvPr>
        </p:nvGraphicFramePr>
        <p:xfrm>
          <a:off x="428368" y="877950"/>
          <a:ext cx="4160108" cy="5082066"/>
        </p:xfrm>
        <a:graphic>
          <a:graphicData uri="http://schemas.openxmlformats.org/drawingml/2006/table">
            <a:tbl>
              <a:tblPr firstRow="1" bandRow="1">
                <a:tableStyleId>{5C22544A-7EE6-4342-B048-85BDC9FD1C3A}</a:tableStyleId>
              </a:tblPr>
              <a:tblGrid>
                <a:gridCol w="1188481"/>
                <a:gridCol w="2971627"/>
              </a:tblGrid>
              <a:tr h="282337">
                <a:tc>
                  <a:txBody>
                    <a:bodyPr/>
                    <a:lstStyle/>
                    <a:p>
                      <a:pPr algn="l" rtl="0" fontAlgn="b"/>
                      <a:r>
                        <a:rPr lang="en-US" sz="800" b="1" i="0" u="none" strike="noStrike" dirty="0">
                          <a:solidFill>
                            <a:srgbClr val="00338D"/>
                          </a:solidFill>
                          <a:effectLst/>
                          <a:latin typeface="Univers for KPMG" panose="020B0603020202020204" pitchFamily="34" charset="0"/>
                        </a:rPr>
                        <a:t>$'000</a:t>
                      </a:r>
                    </a:p>
                  </a:txBody>
                  <a:tcPr marL="9525" marR="9525" marT="9525" marB="0" anchor="b">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l" rtl="0" fontAlgn="b"/>
                      <a:r>
                        <a:rPr lang="en-US" sz="800" b="0" i="0" u="none" strike="noStrike" dirty="0">
                          <a:solidFill>
                            <a:srgbClr val="00338D"/>
                          </a:solidFill>
                          <a:effectLst/>
                          <a:latin typeface="Univers for KPMG" panose="020B0603020202020204" pitchFamily="34" charset="0"/>
                        </a:rPr>
                        <a:t>Thousands of United States dollars</a:t>
                      </a:r>
                    </a:p>
                  </a:txBody>
                  <a:tcPr marL="9525" marR="9525" marT="9525" marB="0" anchor="b">
                    <a:lnL w="12700" cmpd="sng">
                      <a:noFill/>
                    </a:lnL>
                    <a:lnR w="12700" cmpd="sng">
                      <a:noFill/>
                    </a:lnR>
                    <a:lnT w="12700" cmpd="sng">
                      <a:noFill/>
                    </a:lnT>
                    <a:lnB w="38100" cmpd="sng">
                      <a:noFill/>
                    </a:lnB>
                    <a:lnTlToBr w="12700" cmpd="sng">
                      <a:noFill/>
                      <a:prstDash val="solid"/>
                    </a:lnTlToBr>
                    <a:lnBlToTr w="12700" cmpd="sng">
                      <a:noFill/>
                      <a:prstDash val="solid"/>
                    </a:lnBlToTr>
                    <a:noFill/>
                  </a:tcPr>
                </a:tc>
              </a:tr>
              <a:tr h="282337">
                <a:tc>
                  <a:txBody>
                    <a:bodyPr/>
                    <a:lstStyle/>
                    <a:p>
                      <a:pPr algn="l" rtl="0" fontAlgn="b"/>
                      <a:r>
                        <a:rPr lang="en-US" sz="800" b="1" i="0" u="none" strike="noStrike" dirty="0" smtClean="0">
                          <a:solidFill>
                            <a:srgbClr val="00338D"/>
                          </a:solidFill>
                          <a:effectLst/>
                          <a:latin typeface="Univers for KPMG" panose="020B0603020202020204" pitchFamily="34" charset="0"/>
                        </a:rPr>
                        <a:t>ADP</a:t>
                      </a:r>
                      <a:endParaRPr lang="en-US" sz="800" b="1" i="0" u="none" strike="noStrike" dirty="0">
                        <a:solidFill>
                          <a:srgbClr val="00338D"/>
                        </a:solidFill>
                        <a:effectLst/>
                        <a:latin typeface="Univers for KPMG" panose="020B0603020202020204" pitchFamily="34" charset="0"/>
                      </a:endParaRPr>
                    </a:p>
                  </a:txBody>
                  <a:tcPr marL="9525" marR="9525" marT="9525" marB="0" anchor="b">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l" rtl="0" fontAlgn="b"/>
                      <a:r>
                        <a:rPr lang="en-US" sz="800" b="0" i="0" u="none" strike="noStrike" dirty="0" smtClean="0">
                          <a:solidFill>
                            <a:srgbClr val="00338D"/>
                          </a:solidFill>
                          <a:effectLst/>
                          <a:latin typeface="Univers for KPMG" panose="020B0603020202020204" pitchFamily="34" charset="0"/>
                        </a:rPr>
                        <a:t>Company’s payroll service</a:t>
                      </a:r>
                      <a:r>
                        <a:rPr lang="en-US" sz="800" b="0" i="0" u="none" strike="noStrike" baseline="0" dirty="0" smtClean="0">
                          <a:solidFill>
                            <a:srgbClr val="00338D"/>
                          </a:solidFill>
                          <a:effectLst/>
                          <a:latin typeface="Univers for KPMG" panose="020B0603020202020204" pitchFamily="34" charset="0"/>
                        </a:rPr>
                        <a:t> </a:t>
                      </a:r>
                      <a:r>
                        <a:rPr lang="en-US" sz="800" b="0" i="0" u="none" strike="noStrike" dirty="0" smtClean="0">
                          <a:solidFill>
                            <a:srgbClr val="00338D"/>
                          </a:solidFill>
                          <a:effectLst/>
                          <a:latin typeface="Univers for KPMG" panose="020B0603020202020204" pitchFamily="34" charset="0"/>
                        </a:rPr>
                        <a:t>provider</a:t>
                      </a:r>
                      <a:endParaRPr lang="en-US" sz="800" b="0" i="0" u="none" strike="noStrike" dirty="0">
                        <a:solidFill>
                          <a:srgbClr val="00338D"/>
                        </a:solidFill>
                        <a:effectLst/>
                        <a:latin typeface="Univers for KPMG" panose="020B0603020202020204" pitchFamily="34" charset="0"/>
                      </a:endParaRPr>
                    </a:p>
                  </a:txBody>
                  <a:tcPr marL="9525" marR="9525" marT="9525" marB="0" anchor="b">
                    <a:lnL w="12700" cmpd="sng">
                      <a:noFill/>
                    </a:lnL>
                    <a:lnR w="12700" cmpd="sng">
                      <a:noFill/>
                    </a:lnR>
                    <a:lnT w="12700" cmpd="sng">
                      <a:noFill/>
                    </a:lnT>
                    <a:lnB w="38100" cmpd="sng">
                      <a:noFill/>
                    </a:lnB>
                    <a:lnTlToBr w="12700" cmpd="sng">
                      <a:noFill/>
                      <a:prstDash val="solid"/>
                    </a:lnTlToBr>
                    <a:lnBlToTr w="12700" cmpd="sng">
                      <a:noFill/>
                      <a:prstDash val="solid"/>
                    </a:lnBlToTr>
                    <a:noFill/>
                  </a:tcPr>
                </a:tc>
              </a:tr>
              <a:tr h="282337">
                <a:tc>
                  <a:txBody>
                    <a:bodyPr/>
                    <a:lstStyle/>
                    <a:p>
                      <a:pPr algn="l" rtl="0" fontAlgn="b"/>
                      <a:r>
                        <a:rPr lang="en-US" sz="800" b="1" i="0" u="none" strike="noStrike" dirty="0" smtClean="0">
                          <a:solidFill>
                            <a:srgbClr val="00338D"/>
                          </a:solidFill>
                          <a:effectLst/>
                          <a:latin typeface="Univers for KPMG" panose="020B0603020202020204" pitchFamily="34" charset="0"/>
                        </a:rPr>
                        <a:t>AR</a:t>
                      </a:r>
                      <a:endParaRPr lang="en-US" sz="800" b="1" i="0" u="none" strike="noStrike" dirty="0">
                        <a:solidFill>
                          <a:srgbClr val="00338D"/>
                        </a:solidFill>
                        <a:effectLst/>
                        <a:latin typeface="Univers for KPMG" panose="020B0603020202020204" pitchFamily="34" charset="0"/>
                      </a:endParaRPr>
                    </a:p>
                  </a:txBody>
                  <a:tcPr marL="9525" marR="9525" marT="9525" marB="0" anchor="b">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l" rtl="0" fontAlgn="b"/>
                      <a:r>
                        <a:rPr lang="en-US" sz="800" b="0" i="0" u="none" strike="noStrike" dirty="0" smtClean="0">
                          <a:solidFill>
                            <a:srgbClr val="00338D"/>
                          </a:solidFill>
                          <a:effectLst/>
                          <a:latin typeface="Univers for KPMG" panose="020B0603020202020204" pitchFamily="34" charset="0"/>
                        </a:rPr>
                        <a:t>Accounts receivable</a:t>
                      </a:r>
                      <a:endParaRPr lang="en-US" sz="800" b="0" i="0" u="none" strike="noStrike" dirty="0">
                        <a:solidFill>
                          <a:srgbClr val="00338D"/>
                        </a:solidFill>
                        <a:effectLst/>
                        <a:latin typeface="Univers for KPMG" panose="020B0603020202020204" pitchFamily="34" charset="0"/>
                      </a:endParaRPr>
                    </a:p>
                  </a:txBody>
                  <a:tcPr marL="9525" marR="9525" marT="9525" marB="0" anchor="b">
                    <a:lnL w="12700" cmpd="sng">
                      <a:noFill/>
                    </a:lnL>
                    <a:lnR w="12700" cmpd="sng">
                      <a:noFill/>
                    </a:lnR>
                    <a:lnT w="12700" cmpd="sng">
                      <a:noFill/>
                    </a:lnT>
                    <a:lnB w="38100" cmpd="sng">
                      <a:noFill/>
                    </a:lnB>
                    <a:lnTlToBr w="12700" cmpd="sng">
                      <a:noFill/>
                      <a:prstDash val="solid"/>
                    </a:lnTlToBr>
                    <a:lnBlToTr w="12700" cmpd="sng">
                      <a:noFill/>
                      <a:prstDash val="solid"/>
                    </a:lnBlToTr>
                    <a:noFill/>
                  </a:tcPr>
                </a:tc>
              </a:tr>
              <a:tr h="282337">
                <a:tc>
                  <a:txBody>
                    <a:bodyPr/>
                    <a:lstStyle/>
                    <a:p>
                      <a:pPr algn="l" rtl="0" fontAlgn="b"/>
                      <a:r>
                        <a:rPr lang="en-US" sz="800" b="1" i="0" u="none" strike="noStrike" dirty="0" smtClean="0">
                          <a:solidFill>
                            <a:srgbClr val="00338D"/>
                          </a:solidFill>
                          <a:effectLst/>
                          <a:latin typeface="Univers for KPMG" panose="020B0603020202020204" pitchFamily="34" charset="0"/>
                        </a:rPr>
                        <a:t>Capstone Headwaters</a:t>
                      </a:r>
                      <a:endParaRPr lang="en-US" sz="800" b="1" i="0" u="none" strike="noStrike" dirty="0">
                        <a:solidFill>
                          <a:srgbClr val="00338D"/>
                        </a:solidFill>
                        <a:effectLst/>
                        <a:latin typeface="Univers for KPMG" panose="020B0603020202020204" pitchFamily="34" charset="0"/>
                      </a:endParaRPr>
                    </a:p>
                  </a:txBody>
                  <a:tcPr marL="9525" marR="9525" marT="9525" marB="0" anchor="b">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l" rtl="0" fontAlgn="b"/>
                      <a:r>
                        <a:rPr lang="en-US" sz="800" b="0" i="0" u="none" strike="noStrike" dirty="0" smtClean="0">
                          <a:solidFill>
                            <a:srgbClr val="00338D"/>
                          </a:solidFill>
                          <a:effectLst/>
                          <a:latin typeface="Univers for KPMG" panose="020B0603020202020204" pitchFamily="34" charset="0"/>
                        </a:rPr>
                        <a:t>Company’s sell-side advisors</a:t>
                      </a:r>
                      <a:endParaRPr lang="en-US" sz="800" b="0" i="0" u="none" strike="noStrike" dirty="0">
                        <a:solidFill>
                          <a:srgbClr val="00338D"/>
                        </a:solidFill>
                        <a:effectLst/>
                        <a:latin typeface="Univers for KPMG" panose="020B0603020202020204" pitchFamily="34" charset="0"/>
                      </a:endParaRPr>
                    </a:p>
                  </a:txBody>
                  <a:tcPr marL="9525" marR="9525" marT="9525" marB="0" anchor="b">
                    <a:lnL w="12700" cmpd="sng">
                      <a:noFill/>
                    </a:lnL>
                    <a:lnR w="12700" cmpd="sng">
                      <a:noFill/>
                    </a:lnR>
                    <a:lnT w="12700" cmpd="sng">
                      <a:noFill/>
                    </a:lnT>
                    <a:lnB w="38100" cmpd="sng">
                      <a:noFill/>
                    </a:lnB>
                    <a:lnTlToBr w="12700" cmpd="sng">
                      <a:noFill/>
                      <a:prstDash val="solid"/>
                    </a:lnTlToBr>
                    <a:lnBlToTr w="12700" cmpd="sng">
                      <a:noFill/>
                      <a:prstDash val="solid"/>
                    </a:lnBlToTr>
                    <a:noFill/>
                  </a:tcPr>
                </a:tc>
              </a:tr>
              <a:tr h="282337">
                <a:tc>
                  <a:txBody>
                    <a:bodyPr/>
                    <a:lstStyle/>
                    <a:p>
                      <a:pPr algn="l" rtl="0" fontAlgn="b"/>
                      <a:r>
                        <a:rPr lang="en-US" sz="800" b="1" i="0" u="none" strike="noStrike" dirty="0">
                          <a:solidFill>
                            <a:srgbClr val="00338D"/>
                          </a:solidFill>
                          <a:effectLst/>
                          <a:latin typeface="Univers for KPMG" panose="020B0603020202020204" pitchFamily="34" charset="0"/>
                        </a:rPr>
                        <a:t>CEO</a:t>
                      </a:r>
                    </a:p>
                  </a:txBody>
                  <a:tcPr marL="9525" marR="9525" marT="9525" marB="0" anchor="b">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l" rtl="0" fontAlgn="b"/>
                      <a:r>
                        <a:rPr lang="en-US" sz="800" b="0" i="0" u="none" strike="noStrike" dirty="0">
                          <a:solidFill>
                            <a:srgbClr val="00338D"/>
                          </a:solidFill>
                          <a:effectLst/>
                          <a:latin typeface="Univers for KPMG" panose="020B0603020202020204" pitchFamily="34" charset="0"/>
                        </a:rPr>
                        <a:t>Chief Executive Officer</a:t>
                      </a:r>
                    </a:p>
                  </a:txBody>
                  <a:tcPr marL="9525" marR="9525" marT="9525" marB="0" anchor="b">
                    <a:lnL w="12700" cmpd="sng">
                      <a:noFill/>
                    </a:lnL>
                    <a:lnR w="12700" cmpd="sng">
                      <a:noFill/>
                    </a:lnR>
                    <a:lnT w="12700" cmpd="sng">
                      <a:noFill/>
                    </a:lnT>
                    <a:lnB w="38100" cmpd="sng">
                      <a:noFill/>
                    </a:lnB>
                    <a:lnTlToBr w="12700" cmpd="sng">
                      <a:noFill/>
                      <a:prstDash val="solid"/>
                    </a:lnTlToBr>
                    <a:lnBlToTr w="12700" cmpd="sng">
                      <a:noFill/>
                      <a:prstDash val="solid"/>
                    </a:lnBlToTr>
                    <a:noFill/>
                  </a:tcPr>
                </a:tc>
              </a:tr>
              <a:tr h="282337">
                <a:tc>
                  <a:txBody>
                    <a:bodyPr/>
                    <a:lstStyle/>
                    <a:p>
                      <a:pPr algn="l" rtl="0" fontAlgn="b"/>
                      <a:r>
                        <a:rPr lang="en-US" sz="800" b="1" i="0" u="none" strike="noStrike" dirty="0" smtClean="0">
                          <a:solidFill>
                            <a:srgbClr val="00338D"/>
                          </a:solidFill>
                          <a:effectLst/>
                          <a:latin typeface="Univers for KPMG" panose="020B0603020202020204" pitchFamily="34" charset="0"/>
                        </a:rPr>
                        <a:t>CFO</a:t>
                      </a:r>
                      <a:endParaRPr lang="en-US" sz="800" b="1" i="0" u="none" strike="noStrike" dirty="0">
                        <a:solidFill>
                          <a:srgbClr val="00338D"/>
                        </a:solidFill>
                        <a:effectLst/>
                        <a:latin typeface="Univers for KPMG" panose="020B0603020202020204" pitchFamily="34" charset="0"/>
                      </a:endParaRPr>
                    </a:p>
                  </a:txBody>
                  <a:tcPr marL="9525" marR="9525" marT="9525" marB="0" anchor="b">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l" rtl="0" fontAlgn="b"/>
                      <a:r>
                        <a:rPr lang="en-US" sz="800" b="0" i="0" u="none" strike="noStrike" dirty="0" smtClean="0">
                          <a:solidFill>
                            <a:srgbClr val="00338D"/>
                          </a:solidFill>
                          <a:effectLst/>
                          <a:latin typeface="Univers for KPMG" panose="020B0603020202020204" pitchFamily="34" charset="0"/>
                        </a:rPr>
                        <a:t>Chief Financial Officer</a:t>
                      </a:r>
                      <a:endParaRPr lang="en-US" sz="800" b="0" i="0" u="none" strike="noStrike" dirty="0">
                        <a:solidFill>
                          <a:srgbClr val="00338D"/>
                        </a:solidFill>
                        <a:effectLst/>
                        <a:latin typeface="Univers for KPMG" panose="020B0603020202020204" pitchFamily="34" charset="0"/>
                      </a:endParaRPr>
                    </a:p>
                  </a:txBody>
                  <a:tcPr marL="9525" marR="9525" marT="9525" marB="0" anchor="b">
                    <a:lnL w="12700" cmpd="sng">
                      <a:noFill/>
                    </a:lnL>
                    <a:lnR w="12700" cmpd="sng">
                      <a:noFill/>
                    </a:lnR>
                    <a:lnT w="12700" cmpd="sng">
                      <a:noFill/>
                    </a:lnT>
                    <a:lnB w="38100" cmpd="sng">
                      <a:noFill/>
                    </a:lnB>
                    <a:lnTlToBr w="12700" cmpd="sng">
                      <a:noFill/>
                      <a:prstDash val="solid"/>
                    </a:lnTlToBr>
                    <a:lnBlToTr w="12700" cmpd="sng">
                      <a:noFill/>
                      <a:prstDash val="solid"/>
                    </a:lnBlToTr>
                    <a:noFill/>
                  </a:tcPr>
                </a:tc>
              </a:tr>
              <a:tr h="282337">
                <a:tc>
                  <a:txBody>
                    <a:bodyPr/>
                    <a:lstStyle/>
                    <a:p>
                      <a:pPr algn="l" rtl="0" fontAlgn="b"/>
                      <a:r>
                        <a:rPr lang="en-US" sz="800" b="1" i="0" u="none" strike="noStrike" dirty="0" smtClean="0">
                          <a:solidFill>
                            <a:srgbClr val="00338D"/>
                          </a:solidFill>
                          <a:effectLst/>
                          <a:latin typeface="Univers for KPMG" panose="020B0603020202020204" pitchFamily="34" charset="0"/>
                        </a:rPr>
                        <a:t>Client/DWHP/You</a:t>
                      </a:r>
                      <a:endParaRPr lang="en-US" sz="800" b="1" i="0" u="none" strike="noStrike" dirty="0">
                        <a:solidFill>
                          <a:srgbClr val="00338D"/>
                        </a:solidFill>
                        <a:effectLst/>
                        <a:latin typeface="Univers for KPMG" panose="020B0603020202020204" pitchFamily="34" charset="0"/>
                      </a:endParaRPr>
                    </a:p>
                  </a:txBody>
                  <a:tcPr marL="9525" marR="9525" marT="9525" marB="0" anchor="b">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marL="0" algn="l" defTabSz="914400" rtl="0" eaLnBrk="1" fontAlgn="b" latinLnBrk="0" hangingPunct="1"/>
                      <a:r>
                        <a:rPr lang="en-US" sz="800" b="0" i="0" u="none" strike="noStrike" kern="1200" dirty="0" smtClean="0">
                          <a:solidFill>
                            <a:srgbClr val="00338D"/>
                          </a:solidFill>
                          <a:effectLst/>
                          <a:latin typeface="Univers for KPMG" panose="020B0603020202020204" pitchFamily="34" charset="0"/>
                          <a:ea typeface="+mn-ea"/>
                          <a:cs typeface="+mn-cs"/>
                        </a:rPr>
                        <a:t>DW Healthcare Partners</a:t>
                      </a:r>
                      <a:endParaRPr lang="en-US" sz="800" b="0" i="0" u="none" strike="noStrike" kern="1200" dirty="0">
                        <a:solidFill>
                          <a:srgbClr val="00338D"/>
                        </a:solidFill>
                        <a:effectLst/>
                        <a:latin typeface="Univers for KPMG" panose="020B0603020202020204" pitchFamily="34" charset="0"/>
                        <a:ea typeface="+mn-ea"/>
                        <a:cs typeface="+mn-cs"/>
                      </a:endParaRPr>
                    </a:p>
                  </a:txBody>
                  <a:tcPr marL="9525" marR="9525" marT="9525" marB="0" anchor="b">
                    <a:lnL w="12700" cmpd="sng">
                      <a:noFill/>
                    </a:lnL>
                    <a:lnR w="12700" cmpd="sng">
                      <a:noFill/>
                    </a:lnR>
                    <a:lnT w="12700" cmpd="sng">
                      <a:noFill/>
                    </a:lnT>
                    <a:lnB w="38100" cmpd="sng">
                      <a:noFill/>
                    </a:lnB>
                    <a:lnTlToBr w="12700" cmpd="sng">
                      <a:noFill/>
                      <a:prstDash val="solid"/>
                    </a:lnTlToBr>
                    <a:lnBlToTr w="12700" cmpd="sng">
                      <a:noFill/>
                      <a:prstDash val="solid"/>
                    </a:lnBlToTr>
                    <a:noFill/>
                  </a:tcPr>
                </a:tc>
              </a:tr>
              <a:tr h="282337">
                <a:tc>
                  <a:txBody>
                    <a:bodyPr/>
                    <a:lstStyle/>
                    <a:p>
                      <a:pPr algn="l" rtl="0" fontAlgn="b"/>
                      <a:r>
                        <a:rPr lang="en-US" sz="800" b="1" i="0" u="none" strike="noStrike" dirty="0" smtClean="0">
                          <a:solidFill>
                            <a:srgbClr val="00338D"/>
                          </a:solidFill>
                          <a:effectLst/>
                          <a:latin typeface="Univers for KPMG" panose="020B0603020202020204" pitchFamily="34" charset="0"/>
                        </a:rPr>
                        <a:t>Company/Target</a:t>
                      </a:r>
                      <a:endParaRPr lang="en-US" sz="800" b="1" i="0" u="none" strike="noStrike" dirty="0">
                        <a:solidFill>
                          <a:srgbClr val="00338D"/>
                        </a:solidFill>
                        <a:effectLst/>
                        <a:latin typeface="Univers for KPMG" panose="020B0603020202020204" pitchFamily="34" charset="0"/>
                      </a:endParaRPr>
                    </a:p>
                  </a:txBody>
                  <a:tcPr marL="9525" marR="9525" marT="9525" marB="0" anchor="b">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l" rtl="0" fontAlgn="b"/>
                      <a:r>
                        <a:rPr lang="en-US" sz="800" b="0" i="0" u="none" strike="noStrike" dirty="0" smtClean="0">
                          <a:solidFill>
                            <a:srgbClr val="00338D"/>
                          </a:solidFill>
                          <a:effectLst/>
                          <a:latin typeface="Univers for KPMG" panose="020B0603020202020204" pitchFamily="34" charset="0"/>
                        </a:rPr>
                        <a:t>Aequor Healthcare Services</a:t>
                      </a:r>
                      <a:endParaRPr lang="en-US" sz="800" b="0" i="0" u="none" strike="noStrike" dirty="0">
                        <a:solidFill>
                          <a:srgbClr val="00338D"/>
                        </a:solidFill>
                        <a:effectLst/>
                        <a:latin typeface="Univers for KPMG" panose="020B0603020202020204" pitchFamily="34" charset="0"/>
                      </a:endParaRPr>
                    </a:p>
                  </a:txBody>
                  <a:tcPr marL="9525" marR="9525" marT="9525" marB="0" anchor="b">
                    <a:lnL w="12700" cmpd="sng">
                      <a:noFill/>
                    </a:lnL>
                    <a:lnR w="12700" cmpd="sng">
                      <a:noFill/>
                    </a:lnR>
                    <a:lnT w="12700" cmpd="sng">
                      <a:noFill/>
                    </a:lnT>
                    <a:lnB w="38100" cmpd="sng">
                      <a:noFill/>
                    </a:lnB>
                    <a:lnTlToBr w="12700" cmpd="sng">
                      <a:noFill/>
                      <a:prstDash val="solid"/>
                    </a:lnTlToBr>
                    <a:lnBlToTr w="12700" cmpd="sng">
                      <a:noFill/>
                      <a:prstDash val="solid"/>
                    </a:lnBlToTr>
                    <a:noFill/>
                  </a:tcPr>
                </a:tc>
              </a:tr>
              <a:tr h="282337">
                <a:tc>
                  <a:txBody>
                    <a:bodyPr/>
                    <a:lstStyle/>
                    <a:p>
                      <a:pPr algn="l" rtl="0" fontAlgn="b"/>
                      <a:r>
                        <a:rPr lang="en-US" sz="800" b="1" i="0" u="none" strike="noStrike" dirty="0" smtClean="0">
                          <a:solidFill>
                            <a:srgbClr val="00338D"/>
                          </a:solidFill>
                          <a:effectLst/>
                          <a:latin typeface="Univers for KPMG" panose="020B0603020202020204" pitchFamily="34" charset="0"/>
                        </a:rPr>
                        <a:t>DPO</a:t>
                      </a:r>
                      <a:endParaRPr lang="en-US" sz="800" b="1" i="0" u="none" strike="noStrike" dirty="0">
                        <a:solidFill>
                          <a:srgbClr val="00338D"/>
                        </a:solidFill>
                        <a:effectLst/>
                        <a:latin typeface="Univers for KPMG" panose="020B0603020202020204" pitchFamily="34" charset="0"/>
                      </a:endParaRPr>
                    </a:p>
                  </a:txBody>
                  <a:tcPr marL="9525" marR="9525" marT="9525" marB="0" anchor="b">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l" rtl="0" fontAlgn="b"/>
                      <a:r>
                        <a:rPr lang="en-US" sz="800" b="0" i="0" u="none" strike="noStrike" dirty="0" smtClean="0">
                          <a:solidFill>
                            <a:srgbClr val="00338D"/>
                          </a:solidFill>
                          <a:effectLst/>
                          <a:latin typeface="Univers for KPMG" panose="020B0603020202020204" pitchFamily="34" charset="0"/>
                        </a:rPr>
                        <a:t>Days payable</a:t>
                      </a:r>
                      <a:r>
                        <a:rPr lang="en-US" sz="800" b="0" i="0" u="none" strike="noStrike" baseline="0" dirty="0" smtClean="0">
                          <a:solidFill>
                            <a:srgbClr val="00338D"/>
                          </a:solidFill>
                          <a:effectLst/>
                          <a:latin typeface="Univers for KPMG" panose="020B0603020202020204" pitchFamily="34" charset="0"/>
                        </a:rPr>
                        <a:t> outstanding</a:t>
                      </a:r>
                      <a:endParaRPr lang="en-US" sz="800" b="0" i="0" u="none" strike="noStrike" dirty="0">
                        <a:solidFill>
                          <a:srgbClr val="00338D"/>
                        </a:solidFill>
                        <a:effectLst/>
                        <a:latin typeface="Univers for KPMG" panose="020B0603020202020204" pitchFamily="34" charset="0"/>
                      </a:endParaRPr>
                    </a:p>
                  </a:txBody>
                  <a:tcPr marL="9525" marR="9525" marT="9525" marB="0" anchor="b">
                    <a:lnL w="12700" cmpd="sng">
                      <a:noFill/>
                    </a:lnL>
                    <a:lnR w="12700" cmpd="sng">
                      <a:noFill/>
                    </a:lnR>
                    <a:lnT w="12700" cmpd="sng">
                      <a:noFill/>
                    </a:lnT>
                    <a:lnB w="38100" cmpd="sng">
                      <a:noFill/>
                    </a:lnB>
                    <a:lnTlToBr w="12700" cmpd="sng">
                      <a:noFill/>
                      <a:prstDash val="solid"/>
                    </a:lnTlToBr>
                    <a:lnBlToTr w="12700" cmpd="sng">
                      <a:noFill/>
                      <a:prstDash val="solid"/>
                    </a:lnBlToTr>
                    <a:noFill/>
                  </a:tcPr>
                </a:tc>
              </a:tr>
              <a:tr h="282337">
                <a:tc>
                  <a:txBody>
                    <a:bodyPr/>
                    <a:lstStyle/>
                    <a:p>
                      <a:pPr algn="l" rtl="0" fontAlgn="b"/>
                      <a:r>
                        <a:rPr lang="en-US" sz="800" b="1" i="0" u="none" strike="noStrike" dirty="0" smtClean="0">
                          <a:solidFill>
                            <a:srgbClr val="00338D"/>
                          </a:solidFill>
                          <a:effectLst/>
                          <a:latin typeface="Univers for KPMG" panose="020B0603020202020204" pitchFamily="34" charset="0"/>
                        </a:rPr>
                        <a:t>DSO</a:t>
                      </a:r>
                      <a:endParaRPr lang="en-US" sz="800" b="1" i="0" u="none" strike="noStrike" dirty="0">
                        <a:solidFill>
                          <a:srgbClr val="00338D"/>
                        </a:solidFill>
                        <a:effectLst/>
                        <a:latin typeface="Univers for KPMG" panose="020B0603020202020204" pitchFamily="34" charset="0"/>
                      </a:endParaRPr>
                    </a:p>
                  </a:txBody>
                  <a:tcPr marL="9525" marR="9525" marT="9525" marB="0" anchor="b">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l" rtl="0" fontAlgn="b"/>
                      <a:r>
                        <a:rPr lang="en-US" sz="800" b="0" i="0" u="none" strike="noStrike" dirty="0" smtClean="0">
                          <a:solidFill>
                            <a:srgbClr val="00338D"/>
                          </a:solidFill>
                          <a:effectLst/>
                          <a:latin typeface="Univers for KPMG" panose="020B0603020202020204" pitchFamily="34" charset="0"/>
                        </a:rPr>
                        <a:t>Days sales outstanding</a:t>
                      </a:r>
                      <a:endParaRPr lang="en-US" sz="800" b="0" i="0" u="none" strike="noStrike" dirty="0">
                        <a:solidFill>
                          <a:srgbClr val="00338D"/>
                        </a:solidFill>
                        <a:effectLst/>
                        <a:latin typeface="Univers for KPMG" panose="020B0603020202020204" pitchFamily="34" charset="0"/>
                      </a:endParaRPr>
                    </a:p>
                  </a:txBody>
                  <a:tcPr marL="9525" marR="9525" marT="9525" marB="0" anchor="b">
                    <a:lnL w="12700" cmpd="sng">
                      <a:noFill/>
                    </a:lnL>
                    <a:lnR w="12700" cmpd="sng">
                      <a:noFill/>
                    </a:lnR>
                    <a:lnT w="12700" cmpd="sng">
                      <a:noFill/>
                    </a:lnT>
                    <a:lnB w="38100" cmpd="sng">
                      <a:noFill/>
                    </a:lnB>
                    <a:lnTlToBr w="12700" cmpd="sng">
                      <a:noFill/>
                      <a:prstDash val="solid"/>
                    </a:lnTlToBr>
                    <a:lnBlToTr w="12700" cmpd="sng">
                      <a:noFill/>
                      <a:prstDash val="solid"/>
                    </a:lnBlToTr>
                    <a:noFill/>
                  </a:tcPr>
                </a:tc>
              </a:tr>
              <a:tr h="282337">
                <a:tc>
                  <a:txBody>
                    <a:bodyPr/>
                    <a:lstStyle/>
                    <a:p>
                      <a:pPr algn="l" rtl="0" fontAlgn="b"/>
                      <a:r>
                        <a:rPr lang="en-US" sz="800" b="1" i="0" u="none" strike="noStrike" dirty="0">
                          <a:solidFill>
                            <a:srgbClr val="00338D"/>
                          </a:solidFill>
                          <a:effectLst/>
                          <a:latin typeface="Univers for KPMG" panose="020B0603020202020204" pitchFamily="34" charset="0"/>
                        </a:rPr>
                        <a:t>EBITDA</a:t>
                      </a:r>
                    </a:p>
                  </a:txBody>
                  <a:tcPr marL="9525" marR="9525" marT="9525" marB="0" anchor="b">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l" rtl="0" fontAlgn="b"/>
                      <a:r>
                        <a:rPr lang="en-US" sz="800" b="0" i="0" u="none" strike="noStrike" dirty="0" smtClean="0">
                          <a:solidFill>
                            <a:srgbClr val="00338D"/>
                          </a:solidFill>
                          <a:effectLst/>
                          <a:latin typeface="Univers for KPMG" panose="020B0603020202020204" pitchFamily="34" charset="0"/>
                        </a:rPr>
                        <a:t>Earnings </a:t>
                      </a:r>
                      <a:r>
                        <a:rPr lang="en-US" sz="800" b="0" i="0" u="none" strike="noStrike" dirty="0">
                          <a:solidFill>
                            <a:srgbClr val="00338D"/>
                          </a:solidFill>
                          <a:effectLst/>
                          <a:latin typeface="Univers for KPMG" panose="020B0603020202020204" pitchFamily="34" charset="0"/>
                        </a:rPr>
                        <a:t>before </a:t>
                      </a:r>
                      <a:r>
                        <a:rPr lang="en-US" sz="800" b="0" i="0" u="none" strike="noStrike" dirty="0" smtClean="0">
                          <a:solidFill>
                            <a:srgbClr val="00338D"/>
                          </a:solidFill>
                          <a:effectLst/>
                          <a:latin typeface="Univers for KPMG" panose="020B0603020202020204" pitchFamily="34" charset="0"/>
                        </a:rPr>
                        <a:t>interest</a:t>
                      </a:r>
                      <a:r>
                        <a:rPr lang="en-US" sz="800" b="0" i="0" u="none" strike="noStrike" dirty="0">
                          <a:solidFill>
                            <a:srgbClr val="00338D"/>
                          </a:solidFill>
                          <a:effectLst/>
                          <a:latin typeface="Univers for KPMG" panose="020B0603020202020204" pitchFamily="34" charset="0"/>
                        </a:rPr>
                        <a:t>, tax, </a:t>
                      </a:r>
                      <a:r>
                        <a:rPr lang="en-US" sz="800" b="0" i="0" u="none" strike="noStrike" dirty="0" smtClean="0">
                          <a:solidFill>
                            <a:srgbClr val="00338D"/>
                          </a:solidFill>
                          <a:effectLst/>
                          <a:latin typeface="Univers for KPMG" panose="020B0603020202020204" pitchFamily="34" charset="0"/>
                        </a:rPr>
                        <a:t>depreciation, </a:t>
                      </a:r>
                      <a:r>
                        <a:rPr lang="en-US" sz="800" b="0" i="0" u="none" strike="noStrike" dirty="0">
                          <a:solidFill>
                            <a:srgbClr val="00338D"/>
                          </a:solidFill>
                          <a:effectLst/>
                          <a:latin typeface="Univers for KPMG" panose="020B0603020202020204" pitchFamily="34" charset="0"/>
                        </a:rPr>
                        <a:t>and amortization</a:t>
                      </a:r>
                    </a:p>
                  </a:txBody>
                  <a:tcPr marL="9525" marR="9525" marT="9525" marB="0" anchor="b">
                    <a:lnL w="12700" cmpd="sng">
                      <a:noFill/>
                    </a:lnL>
                    <a:lnR w="12700" cmpd="sng">
                      <a:noFill/>
                    </a:lnR>
                    <a:lnT w="12700" cmpd="sng">
                      <a:noFill/>
                    </a:lnT>
                    <a:lnB w="38100" cmpd="sng">
                      <a:noFill/>
                    </a:lnB>
                    <a:lnTlToBr w="12700" cmpd="sng">
                      <a:noFill/>
                      <a:prstDash val="solid"/>
                    </a:lnTlToBr>
                    <a:lnBlToTr w="12700" cmpd="sng">
                      <a:noFill/>
                      <a:prstDash val="solid"/>
                    </a:lnBlToTr>
                    <a:noFill/>
                  </a:tcPr>
                </a:tc>
              </a:tr>
              <a:tr h="282337">
                <a:tc>
                  <a:txBody>
                    <a:bodyPr/>
                    <a:lstStyle/>
                    <a:p>
                      <a:pPr algn="l" rtl="0" fontAlgn="b"/>
                      <a:r>
                        <a:rPr lang="en-US" sz="800" b="1" i="0" u="none" strike="noStrike" dirty="0" smtClean="0">
                          <a:solidFill>
                            <a:srgbClr val="00338D"/>
                          </a:solidFill>
                          <a:effectLst/>
                          <a:latin typeface="Univers for KPMG" panose="020B0603020202020204" pitchFamily="34" charset="0"/>
                        </a:rPr>
                        <a:t>EI</a:t>
                      </a:r>
                      <a:endParaRPr lang="en-US" sz="800" b="1" i="0" u="none" strike="noStrike" dirty="0">
                        <a:solidFill>
                          <a:srgbClr val="00338D"/>
                        </a:solidFill>
                        <a:effectLst/>
                        <a:latin typeface="Univers for KPMG" panose="020B0603020202020204" pitchFamily="34" charset="0"/>
                      </a:endParaRPr>
                    </a:p>
                  </a:txBody>
                  <a:tcPr marL="9525" marR="9525" marT="9525" marB="0" anchor="b">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l" rtl="0" fontAlgn="b"/>
                      <a:r>
                        <a:rPr lang="en-US" sz="800" b="0" i="0" u="none" strike="noStrike" dirty="0" smtClean="0">
                          <a:solidFill>
                            <a:srgbClr val="00338D"/>
                          </a:solidFill>
                          <a:effectLst/>
                          <a:latin typeface="Univers for KPMG" panose="020B0603020202020204" pitchFamily="34" charset="0"/>
                        </a:rPr>
                        <a:t>Employment insurance</a:t>
                      </a:r>
                      <a:endParaRPr lang="en-US" sz="800" b="0" i="0" u="none" strike="noStrike" dirty="0">
                        <a:solidFill>
                          <a:srgbClr val="00338D"/>
                        </a:solidFill>
                        <a:effectLst/>
                        <a:latin typeface="Univers for KPMG" panose="020B0603020202020204" pitchFamily="34" charset="0"/>
                      </a:endParaRPr>
                    </a:p>
                  </a:txBody>
                  <a:tcPr marL="9525" marR="9525" marT="9525" marB="0" anchor="b">
                    <a:lnL w="12700" cmpd="sng">
                      <a:noFill/>
                    </a:lnL>
                    <a:lnR w="12700" cmpd="sng">
                      <a:noFill/>
                    </a:lnR>
                    <a:lnT w="12700" cmpd="sng">
                      <a:noFill/>
                    </a:lnT>
                    <a:lnB w="38100" cmpd="sng">
                      <a:noFill/>
                    </a:lnB>
                    <a:lnTlToBr w="12700" cmpd="sng">
                      <a:noFill/>
                      <a:prstDash val="solid"/>
                    </a:lnTlToBr>
                    <a:lnBlToTr w="12700" cmpd="sng">
                      <a:noFill/>
                      <a:prstDash val="solid"/>
                    </a:lnBlToTr>
                    <a:noFill/>
                  </a:tcPr>
                </a:tc>
              </a:tr>
              <a:tr h="282337">
                <a:tc>
                  <a:txBody>
                    <a:bodyPr/>
                    <a:lstStyle/>
                    <a:p>
                      <a:pPr algn="l" rtl="0" fontAlgn="b"/>
                      <a:r>
                        <a:rPr lang="en-US" sz="800" b="1" i="0" u="none" strike="noStrike" dirty="0" smtClean="0">
                          <a:solidFill>
                            <a:srgbClr val="00338D"/>
                          </a:solidFill>
                          <a:effectLst/>
                          <a:latin typeface="Univers for KPMG" panose="020B0603020202020204" pitchFamily="34" charset="0"/>
                        </a:rPr>
                        <a:t>FYXX</a:t>
                      </a:r>
                      <a:endParaRPr lang="en-US" sz="800" b="1" i="0" u="none" strike="noStrike" dirty="0">
                        <a:solidFill>
                          <a:srgbClr val="00338D"/>
                        </a:solidFill>
                        <a:effectLst/>
                        <a:latin typeface="Univers for KPMG" panose="020B0603020202020204" pitchFamily="34" charset="0"/>
                      </a:endParaRPr>
                    </a:p>
                  </a:txBody>
                  <a:tcPr marL="9525" marR="9525" marT="9525" marB="0" anchor="b">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l" rtl="0" fontAlgn="b"/>
                      <a:r>
                        <a:rPr lang="en-US" sz="800" b="0" i="0" u="none" strike="noStrike" dirty="0" smtClean="0">
                          <a:solidFill>
                            <a:srgbClr val="00338D"/>
                          </a:solidFill>
                          <a:effectLst/>
                          <a:latin typeface="Univers for KPMG" panose="020B0603020202020204" pitchFamily="34" charset="0"/>
                        </a:rPr>
                        <a:t>Fiscal </a:t>
                      </a:r>
                      <a:r>
                        <a:rPr lang="en-US" sz="800" b="0" i="0" u="none" strike="noStrike" dirty="0">
                          <a:solidFill>
                            <a:srgbClr val="00338D"/>
                          </a:solidFill>
                          <a:effectLst/>
                          <a:latin typeface="Univers for KPMG" panose="020B0603020202020204" pitchFamily="34" charset="0"/>
                        </a:rPr>
                        <a:t>year </a:t>
                      </a:r>
                      <a:r>
                        <a:rPr lang="en-US" sz="800" b="0" i="0" u="none" strike="noStrike" dirty="0" smtClean="0">
                          <a:solidFill>
                            <a:srgbClr val="00338D"/>
                          </a:solidFill>
                          <a:effectLst/>
                          <a:latin typeface="Univers for KPMG" panose="020B0603020202020204" pitchFamily="34" charset="0"/>
                        </a:rPr>
                        <a:t>XX</a:t>
                      </a:r>
                      <a:endParaRPr lang="en-US" sz="800" b="0" i="0" u="none" strike="noStrike" dirty="0">
                        <a:solidFill>
                          <a:srgbClr val="00338D"/>
                        </a:solidFill>
                        <a:effectLst/>
                        <a:latin typeface="Univers for KPMG" panose="020B0603020202020204" pitchFamily="34" charset="0"/>
                      </a:endParaRPr>
                    </a:p>
                  </a:txBody>
                  <a:tcPr marL="9525" marR="9525" marT="9525" marB="0" anchor="b">
                    <a:lnL w="12700" cmpd="sng">
                      <a:noFill/>
                    </a:lnL>
                    <a:lnR w="12700" cmpd="sng">
                      <a:noFill/>
                    </a:lnR>
                    <a:lnT w="12700" cmpd="sng">
                      <a:noFill/>
                    </a:lnT>
                    <a:lnB w="38100" cmpd="sng">
                      <a:noFill/>
                    </a:lnB>
                    <a:lnTlToBr w="12700" cmpd="sng">
                      <a:noFill/>
                      <a:prstDash val="solid"/>
                    </a:lnTlToBr>
                    <a:lnBlToTr w="12700" cmpd="sng">
                      <a:noFill/>
                      <a:prstDash val="solid"/>
                    </a:lnBlToTr>
                    <a:noFill/>
                  </a:tcPr>
                </a:tc>
              </a:tr>
              <a:tr h="282337">
                <a:tc>
                  <a:txBody>
                    <a:bodyPr/>
                    <a:lstStyle/>
                    <a:p>
                      <a:pPr algn="l" rtl="0" fontAlgn="b"/>
                      <a:r>
                        <a:rPr lang="en-US" sz="800" b="1" i="0" u="none" strike="noStrike" dirty="0" smtClean="0">
                          <a:solidFill>
                            <a:srgbClr val="00338D"/>
                          </a:solidFill>
                          <a:effectLst/>
                          <a:latin typeface="Univers for KPMG" panose="020B0603020202020204" pitchFamily="34" charset="0"/>
                        </a:rPr>
                        <a:t>FX</a:t>
                      </a:r>
                      <a:endParaRPr lang="en-US" sz="800" b="1" i="0" u="none" strike="noStrike" dirty="0">
                        <a:solidFill>
                          <a:srgbClr val="00338D"/>
                        </a:solidFill>
                        <a:effectLst/>
                        <a:latin typeface="Univers for KPMG" panose="020B0603020202020204" pitchFamily="34" charset="0"/>
                      </a:endParaRPr>
                    </a:p>
                  </a:txBody>
                  <a:tcPr marL="9525" marR="9525" marT="9525" marB="0" anchor="b">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l" rtl="0" fontAlgn="b"/>
                      <a:r>
                        <a:rPr lang="en-US" sz="800" b="0" i="0" u="none" strike="noStrike" dirty="0" smtClean="0">
                          <a:solidFill>
                            <a:srgbClr val="00338D"/>
                          </a:solidFill>
                          <a:effectLst/>
                          <a:latin typeface="Univers for KPMG" panose="020B0603020202020204" pitchFamily="34" charset="0"/>
                        </a:rPr>
                        <a:t>Foreign exchange</a:t>
                      </a:r>
                      <a:endParaRPr lang="en-US" sz="800" b="0" i="0" u="none" strike="noStrike" dirty="0">
                        <a:solidFill>
                          <a:srgbClr val="00338D"/>
                        </a:solidFill>
                        <a:effectLst/>
                        <a:latin typeface="Univers for KPMG" panose="020B0603020202020204" pitchFamily="34" charset="0"/>
                      </a:endParaRPr>
                    </a:p>
                  </a:txBody>
                  <a:tcPr marL="9525" marR="9525" marT="9525" marB="0" anchor="b">
                    <a:lnL w="12700" cmpd="sng">
                      <a:noFill/>
                    </a:lnL>
                    <a:lnR w="12700" cmpd="sng">
                      <a:noFill/>
                    </a:lnR>
                    <a:lnT w="12700" cmpd="sng">
                      <a:noFill/>
                    </a:lnT>
                    <a:lnB w="38100" cmpd="sng">
                      <a:noFill/>
                    </a:lnB>
                    <a:lnTlToBr w="12700" cmpd="sng">
                      <a:noFill/>
                      <a:prstDash val="solid"/>
                    </a:lnTlToBr>
                    <a:lnBlToTr w="12700" cmpd="sng">
                      <a:noFill/>
                      <a:prstDash val="solid"/>
                    </a:lnBlToTr>
                    <a:noFill/>
                  </a:tcPr>
                </a:tc>
              </a:tr>
              <a:tr h="282337">
                <a:tc>
                  <a:txBody>
                    <a:bodyPr/>
                    <a:lstStyle/>
                    <a:p>
                      <a:pPr algn="l" rtl="0" fontAlgn="b"/>
                      <a:r>
                        <a:rPr lang="en-US" sz="800" b="1" i="0" u="none" strike="noStrike" dirty="0">
                          <a:solidFill>
                            <a:srgbClr val="00338D"/>
                          </a:solidFill>
                          <a:effectLst/>
                          <a:latin typeface="Univers for KPMG" panose="020B0603020202020204" pitchFamily="34" charset="0"/>
                        </a:rPr>
                        <a:t>GAAP</a:t>
                      </a:r>
                    </a:p>
                  </a:txBody>
                  <a:tcPr marL="9525" marR="9525" marT="9525" marB="0" anchor="b">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l" rtl="0" fontAlgn="b"/>
                      <a:r>
                        <a:rPr lang="en-US" sz="800" b="0" i="0" u="none" strike="noStrike" dirty="0">
                          <a:solidFill>
                            <a:srgbClr val="00338D"/>
                          </a:solidFill>
                          <a:effectLst/>
                          <a:latin typeface="Univers for KPMG" panose="020B0603020202020204" pitchFamily="34" charset="0"/>
                        </a:rPr>
                        <a:t>Generally accepted accounting policies</a:t>
                      </a:r>
                    </a:p>
                  </a:txBody>
                  <a:tcPr marL="9525" marR="9525" marT="9525" marB="0" anchor="b">
                    <a:lnL w="12700" cmpd="sng">
                      <a:noFill/>
                    </a:lnL>
                    <a:lnR w="12700" cmpd="sng">
                      <a:noFill/>
                    </a:lnR>
                    <a:lnT w="12700" cmpd="sng">
                      <a:noFill/>
                    </a:lnT>
                    <a:lnB w="38100" cmpd="sng">
                      <a:noFill/>
                    </a:lnB>
                    <a:lnTlToBr w="12700" cmpd="sng">
                      <a:noFill/>
                      <a:prstDash val="solid"/>
                    </a:lnTlToBr>
                    <a:lnBlToTr w="12700" cmpd="sng">
                      <a:noFill/>
                      <a:prstDash val="solid"/>
                    </a:lnBlToTr>
                    <a:noFill/>
                  </a:tcPr>
                </a:tc>
              </a:tr>
              <a:tr h="282337">
                <a:tc>
                  <a:txBody>
                    <a:bodyPr/>
                    <a:lstStyle/>
                    <a:p>
                      <a:pPr algn="l" rtl="0" fontAlgn="b"/>
                      <a:r>
                        <a:rPr lang="en-US" sz="800" b="1" i="0" u="none" strike="noStrike" dirty="0" smtClean="0">
                          <a:solidFill>
                            <a:srgbClr val="00338D"/>
                          </a:solidFill>
                          <a:effectLst/>
                          <a:latin typeface="Univers for KPMG" panose="020B0603020202020204" pitchFamily="34" charset="0"/>
                        </a:rPr>
                        <a:t>GL</a:t>
                      </a:r>
                      <a:endParaRPr lang="en-US" sz="800" b="1" i="0" u="none" strike="noStrike" dirty="0">
                        <a:solidFill>
                          <a:srgbClr val="00338D"/>
                        </a:solidFill>
                        <a:effectLst/>
                        <a:latin typeface="Univers for KPMG" panose="020B0603020202020204" pitchFamily="34" charset="0"/>
                      </a:endParaRPr>
                    </a:p>
                  </a:txBody>
                  <a:tcPr marL="9525" marR="9525" marT="9525" marB="0" anchor="b">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l" rtl="0" fontAlgn="b"/>
                      <a:r>
                        <a:rPr lang="en-US" sz="800" b="0" i="0" u="none" strike="noStrike" dirty="0" smtClean="0">
                          <a:solidFill>
                            <a:srgbClr val="00338D"/>
                          </a:solidFill>
                          <a:effectLst/>
                          <a:latin typeface="Univers for KPMG" panose="020B0603020202020204" pitchFamily="34" charset="0"/>
                        </a:rPr>
                        <a:t>General ledger</a:t>
                      </a:r>
                      <a:endParaRPr lang="en-US" sz="800" b="0" i="0" u="none" strike="noStrike" dirty="0">
                        <a:solidFill>
                          <a:srgbClr val="00338D"/>
                        </a:solidFill>
                        <a:effectLst/>
                        <a:latin typeface="Univers for KPMG" panose="020B0603020202020204" pitchFamily="34" charset="0"/>
                      </a:endParaRPr>
                    </a:p>
                  </a:txBody>
                  <a:tcPr marL="9525" marR="9525" marT="9525" marB="0" anchor="b">
                    <a:lnL w="12700" cmpd="sng">
                      <a:noFill/>
                    </a:lnL>
                    <a:lnR w="12700" cmpd="sng">
                      <a:noFill/>
                    </a:lnR>
                    <a:lnT w="12700" cmpd="sng">
                      <a:noFill/>
                    </a:lnT>
                    <a:lnB w="38100" cmpd="sng">
                      <a:noFill/>
                    </a:lnB>
                    <a:lnTlToBr w="12700" cmpd="sng">
                      <a:noFill/>
                      <a:prstDash val="solid"/>
                    </a:lnTlToBr>
                    <a:lnBlToTr w="12700" cmpd="sng">
                      <a:noFill/>
                      <a:prstDash val="solid"/>
                    </a:lnBlToTr>
                    <a:noFill/>
                  </a:tcPr>
                </a:tc>
              </a:tr>
              <a:tr h="282337">
                <a:tc>
                  <a:txBody>
                    <a:bodyPr/>
                    <a:lstStyle/>
                    <a:p>
                      <a:pPr algn="l" rtl="0" fontAlgn="b"/>
                      <a:r>
                        <a:rPr lang="en-US" sz="800" b="1" i="0" u="none" strike="noStrike" dirty="0">
                          <a:solidFill>
                            <a:srgbClr val="00338D"/>
                          </a:solidFill>
                          <a:effectLst/>
                          <a:latin typeface="Univers for KPMG" panose="020B0603020202020204" pitchFamily="34" charset="0"/>
                        </a:rPr>
                        <a:t>IS</a:t>
                      </a:r>
                    </a:p>
                  </a:txBody>
                  <a:tcPr marL="9525" marR="9525" marT="9525" marB="0" anchor="b">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l" rtl="0" fontAlgn="b"/>
                      <a:r>
                        <a:rPr lang="en-US" sz="800" b="0" i="0" u="none" strike="noStrike" dirty="0">
                          <a:solidFill>
                            <a:srgbClr val="00338D"/>
                          </a:solidFill>
                          <a:effectLst/>
                          <a:latin typeface="Univers for KPMG" panose="020B0603020202020204" pitchFamily="34" charset="0"/>
                        </a:rPr>
                        <a:t>Income Statement</a:t>
                      </a:r>
                    </a:p>
                  </a:txBody>
                  <a:tcPr marL="9525" marR="9525" marT="9525" marB="0" anchor="b">
                    <a:lnL w="12700" cmpd="sng">
                      <a:noFill/>
                    </a:lnL>
                    <a:lnR w="12700" cmpd="sng">
                      <a:noFill/>
                    </a:lnR>
                    <a:lnT w="12700" cmpd="sng">
                      <a:noFill/>
                    </a:lnT>
                    <a:lnB w="38100" cmpd="sng">
                      <a:noFill/>
                    </a:lnB>
                    <a:lnTlToBr w="12700" cmpd="sng">
                      <a:noFill/>
                      <a:prstDash val="solid"/>
                    </a:lnTlToBr>
                    <a:lnBlToTr w="12700" cmpd="sng">
                      <a:noFill/>
                      <a:prstDash val="solid"/>
                    </a:lnBlToTr>
                    <a:noFill/>
                  </a:tcPr>
                </a:tc>
              </a:tr>
              <a:tr h="282337">
                <a:tc>
                  <a:txBody>
                    <a:bodyPr/>
                    <a:lstStyle/>
                    <a:p>
                      <a:pPr algn="l" rtl="0" fontAlgn="b"/>
                      <a:endParaRPr lang="en-US" sz="800" b="1" i="0" u="none" strike="noStrike" dirty="0">
                        <a:solidFill>
                          <a:srgbClr val="00338D"/>
                        </a:solidFill>
                        <a:effectLst/>
                        <a:latin typeface="Univers for KPMG" panose="020B0603020202020204" pitchFamily="34" charset="0"/>
                      </a:endParaRPr>
                    </a:p>
                  </a:txBody>
                  <a:tcPr marL="9525" marR="9525" marT="9525" marB="0" anchor="b">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l" rtl="0" fontAlgn="b"/>
                      <a:endParaRPr lang="en-US" sz="800" b="0" i="0" u="none" strike="noStrike" dirty="0">
                        <a:solidFill>
                          <a:srgbClr val="00338D"/>
                        </a:solidFill>
                        <a:effectLst/>
                        <a:latin typeface="Univers for KPMG" panose="020B0603020202020204" pitchFamily="34" charset="0"/>
                      </a:endParaRPr>
                    </a:p>
                  </a:txBody>
                  <a:tcPr marL="9525" marR="9525" marT="9525" marB="0" anchor="b">
                    <a:lnL w="12700" cmpd="sng">
                      <a:noFill/>
                    </a:lnL>
                    <a:lnR w="12700" cmpd="sng">
                      <a:noFill/>
                    </a:lnR>
                    <a:lnT w="12700" cmpd="sng">
                      <a:noFill/>
                    </a:lnT>
                    <a:lnB w="38100" cmpd="sng">
                      <a:noFill/>
                    </a:lnB>
                    <a:lnTlToBr w="12700" cmpd="sng">
                      <a:noFill/>
                      <a:prstDash val="solid"/>
                    </a:lnTlToBr>
                    <a:lnBlToTr w="12700" cmpd="sng">
                      <a:noFill/>
                      <a:prstDash val="solid"/>
                    </a:lnBlToTr>
                    <a:noFill/>
                  </a:tcPr>
                </a:tc>
              </a:tr>
            </a:tbl>
          </a:graphicData>
        </a:graphic>
      </p:graphicFrame>
      <p:sp>
        <p:nvSpPr>
          <p:cNvPr id="6" name="Espace réservé du texte 3"/>
          <p:cNvSpPr>
            <a:spLocks noGrp="1"/>
          </p:cNvSpPr>
          <p:nvPr>
            <p:ph type="body" sz="quarter" idx="11"/>
          </p:nvPr>
        </p:nvSpPr>
        <p:spPr>
          <a:xfrm>
            <a:off x="304800" y="5781675"/>
            <a:ext cx="8515199" cy="584775"/>
          </a:xfrm>
          <a:prstGeom prst="rect">
            <a:avLst/>
          </a:prstGeom>
          <a:ln>
            <a:noFill/>
          </a:ln>
        </p:spPr>
        <p:txBody>
          <a:bodyPr wrap="square" lIns="45720" tIns="45720" rIns="45720" bIns="45720">
            <a:spAutoFit/>
          </a:bodyPr>
          <a:lstStyle/>
          <a:p>
            <a:pPr lvl="1" algn="ctr" rtl="0">
              <a:spcAft>
                <a:spcPts val="0"/>
              </a:spcAft>
            </a:pPr>
            <a:r>
              <a:rPr lang="en-US" sz="800" dirty="0" smtClean="0">
                <a:solidFill>
                  <a:schemeClr val="tx2"/>
                </a:solidFill>
              </a:rPr>
              <a:t>All figures are denominated in USD, unless otherwise noted.</a:t>
            </a:r>
          </a:p>
          <a:p>
            <a:pPr lvl="1" algn="ctr" rtl="0">
              <a:spcAft>
                <a:spcPts val="0"/>
              </a:spcAft>
            </a:pPr>
            <a:r>
              <a:rPr lang="en-US" sz="800" dirty="0" smtClean="0">
                <a:solidFill>
                  <a:schemeClr val="tx2"/>
                </a:solidFill>
              </a:rPr>
              <a:t>Our report makes reference to “KPMG analysis”. This indicates only that KPMG has undertaken certain analytical procedures on the underlying data to arrive at the information presented. We do not accept responsibility for the underlying data.</a:t>
            </a:r>
            <a:endParaRPr lang="en-US" sz="800" dirty="0">
              <a:solidFill>
                <a:schemeClr val="tx2"/>
              </a:solidFill>
            </a:endParaRPr>
          </a:p>
          <a:p>
            <a:pPr algn="ctr"/>
            <a:endParaRPr lang="en-CA" sz="800" b="0" kern="1200" dirty="0">
              <a:solidFill>
                <a:schemeClr val="tx1"/>
              </a:solidFill>
            </a:endParaRPr>
          </a:p>
        </p:txBody>
      </p:sp>
      <p:graphicFrame>
        <p:nvGraphicFramePr>
          <p:cNvPr id="8" name="Table 16"/>
          <p:cNvGraphicFramePr>
            <a:graphicFrameLocks noGrp="1"/>
          </p:cNvGraphicFramePr>
          <p:nvPr>
            <p:extLst>
              <p:ext uri="{D42A27DB-BD31-4B8C-83A1-F6EECF244321}">
                <p14:modId xmlns:p14="http://schemas.microsoft.com/office/powerpoint/2010/main" val="883567812"/>
              </p:ext>
            </p:extLst>
          </p:nvPr>
        </p:nvGraphicFramePr>
        <p:xfrm>
          <a:off x="4860679" y="877950"/>
          <a:ext cx="4036952" cy="4517392"/>
        </p:xfrm>
        <a:graphic>
          <a:graphicData uri="http://schemas.openxmlformats.org/drawingml/2006/table">
            <a:tbl>
              <a:tblPr firstRow="1" bandRow="1">
                <a:tableStyleId>{5C22544A-7EE6-4342-B048-85BDC9FD1C3A}</a:tableStyleId>
              </a:tblPr>
              <a:tblGrid>
                <a:gridCol w="1115774"/>
                <a:gridCol w="2921178"/>
              </a:tblGrid>
              <a:tr h="282337">
                <a:tc>
                  <a:txBody>
                    <a:bodyPr/>
                    <a:lstStyle/>
                    <a:p>
                      <a:pPr algn="l" rtl="0" fontAlgn="b"/>
                      <a:r>
                        <a:rPr lang="en-US" sz="800" b="1" i="0" u="none" strike="noStrike" dirty="0" smtClean="0">
                          <a:solidFill>
                            <a:srgbClr val="00338D"/>
                          </a:solidFill>
                          <a:effectLst/>
                          <a:latin typeface="Univers for KPMG" panose="020B0603020202020204" pitchFamily="34" charset="0"/>
                        </a:rPr>
                        <a:t>IT</a:t>
                      </a:r>
                      <a:endParaRPr lang="en-US" sz="800" b="1" i="0" u="none" strike="noStrike" dirty="0">
                        <a:solidFill>
                          <a:srgbClr val="00338D"/>
                        </a:solidFill>
                        <a:effectLst/>
                        <a:latin typeface="Univers for KPMG" panose="020B0603020202020204" pitchFamily="34" charset="0"/>
                      </a:endParaRPr>
                    </a:p>
                  </a:txBody>
                  <a:tcPr marL="9525" marR="9525" marT="9525" marB="0" anchor="b">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l" rtl="0" fontAlgn="b"/>
                      <a:r>
                        <a:rPr lang="en-US" sz="800" b="0" i="0" u="none" strike="noStrike" dirty="0" smtClean="0">
                          <a:solidFill>
                            <a:srgbClr val="00338D"/>
                          </a:solidFill>
                          <a:effectLst/>
                          <a:latin typeface="Univers for KPMG" panose="020B0603020202020204" pitchFamily="34" charset="0"/>
                        </a:rPr>
                        <a:t>Information</a:t>
                      </a:r>
                      <a:r>
                        <a:rPr lang="en-US" sz="800" b="0" i="0" u="none" strike="noStrike" baseline="0" dirty="0" smtClean="0">
                          <a:solidFill>
                            <a:srgbClr val="00338D"/>
                          </a:solidFill>
                          <a:effectLst/>
                          <a:latin typeface="Univers for KPMG" panose="020B0603020202020204" pitchFamily="34" charset="0"/>
                        </a:rPr>
                        <a:t> Technology</a:t>
                      </a:r>
                      <a:endParaRPr lang="en-US" sz="800" b="0" i="0" u="none" strike="noStrike" dirty="0">
                        <a:solidFill>
                          <a:srgbClr val="00338D"/>
                        </a:solidFill>
                        <a:effectLst/>
                        <a:latin typeface="Univers for KPMG" panose="020B0603020202020204" pitchFamily="34" charset="0"/>
                      </a:endParaRPr>
                    </a:p>
                  </a:txBody>
                  <a:tcPr marL="9525" marR="9525" marT="9525" marB="0" anchor="b">
                    <a:lnL w="12700" cmpd="sng">
                      <a:noFill/>
                    </a:lnL>
                    <a:lnR w="12700" cmpd="sng">
                      <a:noFill/>
                    </a:lnR>
                    <a:lnT w="12700" cmpd="sng">
                      <a:noFill/>
                    </a:lnT>
                    <a:lnB w="38100" cmpd="sng">
                      <a:noFill/>
                    </a:lnB>
                    <a:lnTlToBr w="12700" cmpd="sng">
                      <a:noFill/>
                      <a:prstDash val="solid"/>
                    </a:lnTlToBr>
                    <a:lnBlToTr w="12700" cmpd="sng">
                      <a:noFill/>
                      <a:prstDash val="solid"/>
                    </a:lnBlToTr>
                    <a:noFill/>
                  </a:tcPr>
                </a:tc>
              </a:tr>
              <a:tr h="282337">
                <a:tc>
                  <a:txBody>
                    <a:bodyPr/>
                    <a:lstStyle/>
                    <a:p>
                      <a:pPr algn="l" rtl="0" fontAlgn="b"/>
                      <a:r>
                        <a:rPr lang="en-US" sz="800" b="1" i="0" u="none" strike="noStrike" dirty="0" smtClean="0">
                          <a:solidFill>
                            <a:srgbClr val="00338D"/>
                          </a:solidFill>
                          <a:effectLst/>
                          <a:latin typeface="Univers for KPMG" panose="020B0603020202020204" pitchFamily="34" charset="0"/>
                        </a:rPr>
                        <a:t>LLC</a:t>
                      </a:r>
                      <a:endParaRPr lang="en-US" sz="800" b="1" i="0" u="none" strike="noStrike" dirty="0">
                        <a:solidFill>
                          <a:srgbClr val="00338D"/>
                        </a:solidFill>
                        <a:effectLst/>
                        <a:latin typeface="Univers for KPMG" panose="020B0603020202020204" pitchFamily="34" charset="0"/>
                      </a:endParaRPr>
                    </a:p>
                  </a:txBody>
                  <a:tcPr marL="9525" marR="9525" marT="9525" marB="0" anchor="b">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l" rtl="0" fontAlgn="b"/>
                      <a:r>
                        <a:rPr lang="en-US" sz="800" b="0" i="0" u="none" strike="noStrike" dirty="0" smtClean="0">
                          <a:solidFill>
                            <a:srgbClr val="00338D"/>
                          </a:solidFill>
                          <a:effectLst/>
                          <a:latin typeface="Univers for KPMG" panose="020B0603020202020204" pitchFamily="34" charset="0"/>
                        </a:rPr>
                        <a:t>Limited liability company</a:t>
                      </a:r>
                      <a:endParaRPr lang="en-US" sz="800" b="0" i="0" u="none" strike="noStrike" dirty="0">
                        <a:solidFill>
                          <a:srgbClr val="00338D"/>
                        </a:solidFill>
                        <a:effectLst/>
                        <a:latin typeface="Univers for KPMG" panose="020B0603020202020204" pitchFamily="34" charset="0"/>
                      </a:endParaRPr>
                    </a:p>
                  </a:txBody>
                  <a:tcPr marL="9525" marR="9525" marT="9525" marB="0" anchor="b">
                    <a:lnL w="12700" cmpd="sng">
                      <a:noFill/>
                    </a:lnL>
                    <a:lnR w="12700" cmpd="sng">
                      <a:noFill/>
                    </a:lnR>
                    <a:lnT w="12700" cmpd="sng">
                      <a:noFill/>
                    </a:lnT>
                    <a:lnB w="38100" cmpd="sng">
                      <a:noFill/>
                    </a:lnB>
                    <a:lnTlToBr w="12700" cmpd="sng">
                      <a:noFill/>
                      <a:prstDash val="solid"/>
                    </a:lnTlToBr>
                    <a:lnBlToTr w="12700" cmpd="sng">
                      <a:noFill/>
                      <a:prstDash val="solid"/>
                    </a:lnBlToTr>
                    <a:noFill/>
                  </a:tcPr>
                </a:tc>
              </a:tr>
              <a:tr h="282337">
                <a:tc>
                  <a:txBody>
                    <a:bodyPr/>
                    <a:lstStyle/>
                    <a:p>
                      <a:pPr algn="l" rtl="0" fontAlgn="b"/>
                      <a:r>
                        <a:rPr lang="en-US" sz="800" b="1" i="0" u="none" strike="noStrike" dirty="0" smtClean="0">
                          <a:solidFill>
                            <a:srgbClr val="00338D"/>
                          </a:solidFill>
                          <a:effectLst/>
                          <a:latin typeface="Univers for KPMG" panose="020B0603020202020204" pitchFamily="34" charset="0"/>
                        </a:rPr>
                        <a:t>LOI</a:t>
                      </a:r>
                      <a:endParaRPr lang="en-US" sz="800" b="1" i="0" u="none" strike="noStrike" dirty="0">
                        <a:solidFill>
                          <a:srgbClr val="00338D"/>
                        </a:solidFill>
                        <a:effectLst/>
                        <a:latin typeface="Univers for KPMG" panose="020B0603020202020204" pitchFamily="34" charset="0"/>
                      </a:endParaRPr>
                    </a:p>
                  </a:txBody>
                  <a:tcPr marL="9525" marR="9525" marT="9525" marB="0" anchor="b">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l" rtl="0" fontAlgn="b"/>
                      <a:r>
                        <a:rPr lang="en-US" sz="800" b="0" i="0" u="none" strike="noStrike" dirty="0" smtClean="0">
                          <a:solidFill>
                            <a:srgbClr val="00338D"/>
                          </a:solidFill>
                          <a:effectLst/>
                          <a:latin typeface="Univers for KPMG" panose="020B0603020202020204" pitchFamily="34" charset="0"/>
                        </a:rPr>
                        <a:t>Letter of intent</a:t>
                      </a:r>
                      <a:endParaRPr lang="en-US" sz="800" b="0" i="0" u="none" strike="noStrike" dirty="0">
                        <a:solidFill>
                          <a:srgbClr val="00338D"/>
                        </a:solidFill>
                        <a:effectLst/>
                        <a:latin typeface="Univers for KPMG" panose="020B0603020202020204" pitchFamily="34" charset="0"/>
                      </a:endParaRPr>
                    </a:p>
                  </a:txBody>
                  <a:tcPr marL="9525" marR="9525" marT="9525" marB="0" anchor="b">
                    <a:lnL w="12700" cmpd="sng">
                      <a:noFill/>
                    </a:lnL>
                    <a:lnR w="12700" cmpd="sng">
                      <a:noFill/>
                    </a:lnR>
                    <a:lnT w="12700" cmpd="sng">
                      <a:noFill/>
                    </a:lnT>
                    <a:lnB w="38100" cmpd="sng">
                      <a:noFill/>
                    </a:lnB>
                    <a:lnTlToBr w="12700" cmpd="sng">
                      <a:noFill/>
                      <a:prstDash val="solid"/>
                    </a:lnTlToBr>
                    <a:lnBlToTr w="12700" cmpd="sng">
                      <a:noFill/>
                      <a:prstDash val="solid"/>
                    </a:lnBlToTr>
                    <a:noFill/>
                  </a:tcPr>
                </a:tc>
              </a:tr>
              <a:tr h="282337">
                <a:tc>
                  <a:txBody>
                    <a:bodyPr/>
                    <a:lstStyle/>
                    <a:p>
                      <a:pPr algn="l" rtl="0" fontAlgn="b"/>
                      <a:r>
                        <a:rPr lang="en-US" sz="800" b="1" i="0" u="none" strike="noStrike" dirty="0" smtClean="0">
                          <a:solidFill>
                            <a:srgbClr val="00338D"/>
                          </a:solidFill>
                          <a:effectLst/>
                          <a:latin typeface="Univers for KPMG" panose="020B0603020202020204" pitchFamily="34" charset="0"/>
                        </a:rPr>
                        <a:t>Management</a:t>
                      </a:r>
                      <a:endParaRPr lang="en-US" sz="800" b="1" i="0" u="none" strike="noStrike" dirty="0">
                        <a:solidFill>
                          <a:srgbClr val="00338D"/>
                        </a:solidFill>
                        <a:effectLst/>
                        <a:latin typeface="Univers for KPMG" panose="020B0603020202020204" pitchFamily="34" charset="0"/>
                      </a:endParaRPr>
                    </a:p>
                  </a:txBody>
                  <a:tcPr marL="9525" marR="9525" marT="9525" marB="0" anchor="b">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l" rtl="0" fontAlgn="b"/>
                      <a:r>
                        <a:rPr lang="en-US" sz="800" b="0" i="0" u="none" strike="noStrike" dirty="0" smtClean="0">
                          <a:solidFill>
                            <a:srgbClr val="00338D"/>
                          </a:solidFill>
                          <a:effectLst/>
                          <a:latin typeface="Univers for KPMG" panose="020B0603020202020204" pitchFamily="34" charset="0"/>
                        </a:rPr>
                        <a:t>Management</a:t>
                      </a:r>
                      <a:r>
                        <a:rPr lang="en-US" sz="800" b="0" i="0" u="none" strike="noStrike" baseline="0" dirty="0" smtClean="0">
                          <a:solidFill>
                            <a:srgbClr val="00338D"/>
                          </a:solidFill>
                          <a:effectLst/>
                          <a:latin typeface="Univers for KPMG" panose="020B0603020202020204" pitchFamily="34" charset="0"/>
                        </a:rPr>
                        <a:t> of Target</a:t>
                      </a:r>
                      <a:endParaRPr lang="en-US" sz="800" b="0" i="0" u="none" strike="noStrike" dirty="0">
                        <a:solidFill>
                          <a:srgbClr val="00338D"/>
                        </a:solidFill>
                        <a:effectLst/>
                        <a:latin typeface="Univers for KPMG" panose="020B0603020202020204" pitchFamily="34" charset="0"/>
                      </a:endParaRPr>
                    </a:p>
                  </a:txBody>
                  <a:tcPr marL="9525" marR="9525" marT="9525" marB="0" anchor="b">
                    <a:lnL w="12700" cmpd="sng">
                      <a:noFill/>
                    </a:lnL>
                    <a:lnR w="12700" cmpd="sng">
                      <a:noFill/>
                    </a:lnR>
                    <a:lnT w="12700" cmpd="sng">
                      <a:noFill/>
                    </a:lnT>
                    <a:lnB w="38100" cmpd="sng">
                      <a:noFill/>
                    </a:lnB>
                    <a:lnTlToBr w="12700" cmpd="sng">
                      <a:noFill/>
                      <a:prstDash val="solid"/>
                    </a:lnTlToBr>
                    <a:lnBlToTr w="12700" cmpd="sng">
                      <a:noFill/>
                      <a:prstDash val="solid"/>
                    </a:lnBlToTr>
                    <a:noFill/>
                  </a:tcPr>
                </a:tc>
              </a:tr>
              <a:tr h="282337">
                <a:tc>
                  <a:txBody>
                    <a:bodyPr/>
                    <a:lstStyle/>
                    <a:p>
                      <a:pPr algn="l" rtl="0" fontAlgn="b"/>
                      <a:r>
                        <a:rPr lang="en-US" sz="800" b="1" i="0" u="none" strike="noStrike" dirty="0" smtClean="0">
                          <a:solidFill>
                            <a:srgbClr val="00338D"/>
                          </a:solidFill>
                          <a:effectLst/>
                          <a:latin typeface="Univers for KPMG" panose="020B0603020202020204" pitchFamily="34" charset="0"/>
                        </a:rPr>
                        <a:t>Max</a:t>
                      </a:r>
                      <a:endParaRPr lang="en-US" sz="800" b="1" i="0" u="none" strike="noStrike" dirty="0">
                        <a:solidFill>
                          <a:srgbClr val="00338D"/>
                        </a:solidFill>
                        <a:effectLst/>
                        <a:latin typeface="Univers for KPMG" panose="020B0603020202020204" pitchFamily="34" charset="0"/>
                      </a:endParaRPr>
                    </a:p>
                  </a:txBody>
                  <a:tcPr marL="9525" marR="9525" marT="9525" marB="0" anchor="b">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l" rtl="0" fontAlgn="b"/>
                      <a:r>
                        <a:rPr lang="en-US" sz="800" b="0" i="0" u="none" strike="noStrike" dirty="0" smtClean="0">
                          <a:solidFill>
                            <a:srgbClr val="00338D"/>
                          </a:solidFill>
                          <a:effectLst/>
                          <a:latin typeface="Univers for KPMG" panose="020B0603020202020204" pitchFamily="34" charset="0"/>
                        </a:rPr>
                        <a:t>Maximum</a:t>
                      </a:r>
                      <a:endParaRPr lang="en-US" sz="800" b="0" i="0" u="none" strike="noStrike" dirty="0">
                        <a:solidFill>
                          <a:srgbClr val="00338D"/>
                        </a:solidFill>
                        <a:effectLst/>
                        <a:latin typeface="Univers for KPMG" panose="020B0603020202020204" pitchFamily="34" charset="0"/>
                      </a:endParaRPr>
                    </a:p>
                  </a:txBody>
                  <a:tcPr marL="9525" marR="9525" marT="9525" marB="0" anchor="b">
                    <a:lnL w="12700" cmpd="sng">
                      <a:noFill/>
                    </a:lnL>
                    <a:lnR w="12700" cmpd="sng">
                      <a:noFill/>
                    </a:lnR>
                    <a:lnT w="12700" cmpd="sng">
                      <a:noFill/>
                    </a:lnT>
                    <a:lnB w="38100" cmpd="sng">
                      <a:noFill/>
                    </a:lnB>
                    <a:lnTlToBr w="12700" cmpd="sng">
                      <a:noFill/>
                      <a:prstDash val="solid"/>
                    </a:lnTlToBr>
                    <a:lnBlToTr w="12700" cmpd="sng">
                      <a:noFill/>
                      <a:prstDash val="solid"/>
                    </a:lnBlToTr>
                    <a:noFill/>
                  </a:tcPr>
                </a:tc>
              </a:tr>
              <a:tr h="282337">
                <a:tc>
                  <a:txBody>
                    <a:bodyPr/>
                    <a:lstStyle/>
                    <a:p>
                      <a:pPr algn="l" rtl="0" fontAlgn="b"/>
                      <a:r>
                        <a:rPr lang="en-US" sz="800" b="1" i="0" u="none" strike="noStrike" dirty="0" smtClean="0">
                          <a:solidFill>
                            <a:srgbClr val="00338D"/>
                          </a:solidFill>
                          <a:effectLst/>
                          <a:latin typeface="Univers for KPMG" panose="020B0603020202020204" pitchFamily="34" charset="0"/>
                        </a:rPr>
                        <a:t>Min</a:t>
                      </a:r>
                      <a:endParaRPr lang="en-US" sz="800" b="1" i="0" u="none" strike="noStrike" dirty="0">
                        <a:solidFill>
                          <a:srgbClr val="00338D"/>
                        </a:solidFill>
                        <a:effectLst/>
                        <a:latin typeface="Univers for KPMG" panose="020B0603020202020204" pitchFamily="34" charset="0"/>
                      </a:endParaRPr>
                    </a:p>
                  </a:txBody>
                  <a:tcPr marL="9525" marR="9525" marT="9525" marB="0" anchor="b">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l" rtl="0" fontAlgn="b"/>
                      <a:r>
                        <a:rPr lang="en-US" sz="800" b="0" i="0" u="none" strike="noStrike" dirty="0" smtClean="0">
                          <a:solidFill>
                            <a:srgbClr val="00338D"/>
                          </a:solidFill>
                          <a:effectLst/>
                          <a:latin typeface="Univers for KPMG" panose="020B0603020202020204" pitchFamily="34" charset="0"/>
                        </a:rPr>
                        <a:t>Minimum</a:t>
                      </a:r>
                      <a:endParaRPr lang="en-US" sz="800" b="0" i="0" u="none" strike="noStrike" dirty="0">
                        <a:solidFill>
                          <a:srgbClr val="00338D"/>
                        </a:solidFill>
                        <a:effectLst/>
                        <a:latin typeface="Univers for KPMG" panose="020B0603020202020204" pitchFamily="34" charset="0"/>
                      </a:endParaRPr>
                    </a:p>
                  </a:txBody>
                  <a:tcPr marL="9525" marR="9525" marT="9525" marB="0" anchor="b">
                    <a:lnL w="12700" cmpd="sng">
                      <a:noFill/>
                    </a:lnL>
                    <a:lnR w="12700" cmpd="sng">
                      <a:noFill/>
                    </a:lnR>
                    <a:lnT w="12700" cmpd="sng">
                      <a:noFill/>
                    </a:lnT>
                    <a:lnB w="38100" cmpd="sng">
                      <a:noFill/>
                    </a:lnB>
                    <a:lnTlToBr w="12700" cmpd="sng">
                      <a:noFill/>
                      <a:prstDash val="solid"/>
                    </a:lnTlToBr>
                    <a:lnBlToTr w="12700" cmpd="sng">
                      <a:noFill/>
                      <a:prstDash val="solid"/>
                    </a:lnBlToTr>
                    <a:noFill/>
                  </a:tcPr>
                </a:tc>
              </a:tr>
              <a:tr h="282337">
                <a:tc>
                  <a:txBody>
                    <a:bodyPr/>
                    <a:lstStyle/>
                    <a:p>
                      <a:pPr algn="l" rtl="0" fontAlgn="b"/>
                      <a:r>
                        <a:rPr lang="en-US" sz="800" b="1" i="0" u="none" strike="noStrike" dirty="0" smtClean="0">
                          <a:solidFill>
                            <a:srgbClr val="00338D"/>
                          </a:solidFill>
                          <a:effectLst/>
                          <a:latin typeface="Univers for KPMG" panose="020B0603020202020204" pitchFamily="34" charset="0"/>
                        </a:rPr>
                        <a:t>n.a.</a:t>
                      </a:r>
                      <a:endParaRPr lang="en-US" sz="800" b="1" i="0" u="none" strike="noStrike" dirty="0">
                        <a:solidFill>
                          <a:srgbClr val="00338D"/>
                        </a:solidFill>
                        <a:effectLst/>
                        <a:latin typeface="Univers for KPMG" panose="020B0603020202020204" pitchFamily="34" charset="0"/>
                      </a:endParaRPr>
                    </a:p>
                  </a:txBody>
                  <a:tcPr marL="9525" marR="9525" marT="9525" marB="0" anchor="b">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l" rtl="0" fontAlgn="b"/>
                      <a:r>
                        <a:rPr lang="en-US" sz="800" b="0" i="0" u="none" strike="noStrike" dirty="0">
                          <a:solidFill>
                            <a:srgbClr val="00338D"/>
                          </a:solidFill>
                          <a:effectLst/>
                          <a:latin typeface="Univers for KPMG" panose="020B0603020202020204" pitchFamily="34" charset="0"/>
                        </a:rPr>
                        <a:t>Not </a:t>
                      </a:r>
                      <a:r>
                        <a:rPr lang="en-US" sz="800" b="0" i="0" u="none" strike="noStrike" dirty="0" smtClean="0">
                          <a:solidFill>
                            <a:srgbClr val="00338D"/>
                          </a:solidFill>
                          <a:effectLst/>
                          <a:latin typeface="Univers for KPMG" panose="020B0603020202020204" pitchFamily="34" charset="0"/>
                        </a:rPr>
                        <a:t>applicable</a:t>
                      </a:r>
                      <a:endParaRPr lang="en-US" sz="800" b="0" i="0" u="none" strike="noStrike" dirty="0">
                        <a:solidFill>
                          <a:srgbClr val="00338D"/>
                        </a:solidFill>
                        <a:effectLst/>
                        <a:latin typeface="Univers for KPMG" panose="020B0603020202020204" pitchFamily="34" charset="0"/>
                      </a:endParaRPr>
                    </a:p>
                  </a:txBody>
                  <a:tcPr marL="9525" marR="9525" marT="9525" marB="0" anchor="b">
                    <a:lnL w="12700" cmpd="sng">
                      <a:noFill/>
                    </a:lnL>
                    <a:lnR w="12700" cmpd="sng">
                      <a:noFill/>
                    </a:lnR>
                    <a:lnT w="12700" cmpd="sng">
                      <a:noFill/>
                    </a:lnT>
                    <a:lnB w="38100" cmpd="sng">
                      <a:noFill/>
                    </a:lnB>
                    <a:lnTlToBr w="12700" cmpd="sng">
                      <a:noFill/>
                      <a:prstDash val="solid"/>
                    </a:lnTlToBr>
                    <a:lnBlToTr w="12700" cmpd="sng">
                      <a:noFill/>
                      <a:prstDash val="solid"/>
                    </a:lnBlToTr>
                    <a:noFill/>
                  </a:tcPr>
                </a:tc>
              </a:tr>
              <a:tr h="282337">
                <a:tc>
                  <a:txBody>
                    <a:bodyPr/>
                    <a:lstStyle/>
                    <a:p>
                      <a:pPr algn="l" rtl="0" fontAlgn="b"/>
                      <a:r>
                        <a:rPr lang="en-US" sz="800" b="1" i="0" u="none" strike="noStrike" dirty="0" smtClean="0">
                          <a:solidFill>
                            <a:srgbClr val="00338D"/>
                          </a:solidFill>
                          <a:effectLst/>
                          <a:latin typeface="Univers for KPMG" panose="020B0603020202020204" pitchFamily="34" charset="0"/>
                        </a:rPr>
                        <a:t>n.q. </a:t>
                      </a:r>
                      <a:endParaRPr lang="en-US" sz="800" b="1" i="0" u="none" strike="noStrike" dirty="0">
                        <a:solidFill>
                          <a:srgbClr val="00338D"/>
                        </a:solidFill>
                        <a:effectLst/>
                        <a:latin typeface="Univers for KPMG" panose="020B0603020202020204" pitchFamily="34" charset="0"/>
                      </a:endParaRPr>
                    </a:p>
                  </a:txBody>
                  <a:tcPr marL="9525" marR="9525" marT="9525" marB="0" anchor="b">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l" rtl="0" fontAlgn="b"/>
                      <a:r>
                        <a:rPr lang="en-US" sz="800" b="0" i="0" u="none" strike="noStrike" dirty="0" smtClean="0">
                          <a:solidFill>
                            <a:srgbClr val="00338D"/>
                          </a:solidFill>
                          <a:effectLst/>
                          <a:latin typeface="Univers for KPMG" panose="020B0603020202020204" pitchFamily="34" charset="0"/>
                        </a:rPr>
                        <a:t>Not quantifiable</a:t>
                      </a:r>
                      <a:endParaRPr lang="en-US" sz="800" b="0" i="0" u="none" strike="noStrike" dirty="0">
                        <a:solidFill>
                          <a:srgbClr val="00338D"/>
                        </a:solidFill>
                        <a:effectLst/>
                        <a:latin typeface="Univers for KPMG" panose="020B0603020202020204" pitchFamily="34" charset="0"/>
                      </a:endParaRPr>
                    </a:p>
                  </a:txBody>
                  <a:tcPr marL="9525" marR="9525" marT="9525" marB="0" anchor="b">
                    <a:lnL w="12700" cmpd="sng">
                      <a:noFill/>
                    </a:lnL>
                    <a:lnR w="12700" cmpd="sng">
                      <a:noFill/>
                    </a:lnR>
                    <a:lnT w="12700" cmpd="sng">
                      <a:noFill/>
                    </a:lnT>
                    <a:lnB w="38100" cmpd="sng">
                      <a:noFill/>
                    </a:lnB>
                    <a:lnTlToBr w="12700" cmpd="sng">
                      <a:noFill/>
                      <a:prstDash val="solid"/>
                    </a:lnTlToBr>
                    <a:lnBlToTr w="12700" cmpd="sng">
                      <a:noFill/>
                      <a:prstDash val="solid"/>
                    </a:lnBlToTr>
                    <a:noFill/>
                  </a:tcPr>
                </a:tc>
              </a:tr>
              <a:tr h="282337">
                <a:tc>
                  <a:txBody>
                    <a:bodyPr/>
                    <a:lstStyle/>
                    <a:p>
                      <a:pPr algn="l" rtl="0" fontAlgn="b"/>
                      <a:r>
                        <a:rPr lang="en-US" sz="800" b="1" i="0" u="none" strike="noStrike" dirty="0" smtClean="0">
                          <a:solidFill>
                            <a:srgbClr val="00338D"/>
                          </a:solidFill>
                          <a:effectLst/>
                          <a:latin typeface="Univers for KPMG" panose="020B0603020202020204" pitchFamily="34" charset="0"/>
                        </a:rPr>
                        <a:t>NWC</a:t>
                      </a:r>
                      <a:endParaRPr lang="en-US" sz="800" b="1" i="0" u="none" strike="noStrike" dirty="0">
                        <a:solidFill>
                          <a:srgbClr val="00338D"/>
                        </a:solidFill>
                        <a:effectLst/>
                        <a:latin typeface="Univers for KPMG" panose="020B0603020202020204" pitchFamily="34" charset="0"/>
                      </a:endParaRPr>
                    </a:p>
                  </a:txBody>
                  <a:tcPr marL="9525" marR="9525" marT="9525" marB="0" anchor="b">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l" rtl="0" fontAlgn="b"/>
                      <a:r>
                        <a:rPr lang="en-US" sz="800" b="0" i="0" u="none" strike="noStrike" dirty="0" smtClean="0">
                          <a:solidFill>
                            <a:srgbClr val="00338D"/>
                          </a:solidFill>
                          <a:effectLst/>
                          <a:latin typeface="Univers for KPMG" panose="020B0603020202020204" pitchFamily="34" charset="0"/>
                        </a:rPr>
                        <a:t>Net working capital</a:t>
                      </a:r>
                      <a:endParaRPr lang="en-US" sz="800" b="0" i="0" u="none" strike="noStrike" dirty="0">
                        <a:solidFill>
                          <a:srgbClr val="00338D"/>
                        </a:solidFill>
                        <a:effectLst/>
                        <a:latin typeface="Univers for KPMG" panose="020B0603020202020204" pitchFamily="34" charset="0"/>
                      </a:endParaRPr>
                    </a:p>
                  </a:txBody>
                  <a:tcPr marL="9525" marR="9525" marT="9525" marB="0" anchor="b">
                    <a:lnL w="12700" cmpd="sng">
                      <a:noFill/>
                    </a:lnL>
                    <a:lnR w="12700" cmpd="sng">
                      <a:noFill/>
                    </a:lnR>
                    <a:lnT w="12700" cmpd="sng">
                      <a:noFill/>
                    </a:lnT>
                    <a:lnB w="38100" cmpd="sng">
                      <a:noFill/>
                    </a:lnB>
                    <a:lnTlToBr w="12700" cmpd="sng">
                      <a:noFill/>
                      <a:prstDash val="solid"/>
                    </a:lnTlToBr>
                    <a:lnBlToTr w="12700" cmpd="sng">
                      <a:noFill/>
                      <a:prstDash val="solid"/>
                    </a:lnBlToTr>
                    <a:noFill/>
                  </a:tcPr>
                </a:tc>
              </a:tr>
              <a:tr h="282337">
                <a:tc>
                  <a:txBody>
                    <a:bodyPr/>
                    <a:lstStyle/>
                    <a:p>
                      <a:pPr algn="l" rtl="0" fontAlgn="b"/>
                      <a:r>
                        <a:rPr lang="en-US" sz="800" b="1" i="0" u="none" strike="noStrike" dirty="0">
                          <a:solidFill>
                            <a:srgbClr val="00338D"/>
                          </a:solidFill>
                          <a:effectLst/>
                          <a:latin typeface="Univers for KPMG" panose="020B0603020202020204" pitchFamily="34" charset="0"/>
                        </a:rPr>
                        <a:t>QofE</a:t>
                      </a:r>
                    </a:p>
                  </a:txBody>
                  <a:tcPr marL="9525" marR="9525" marT="9525" marB="0" anchor="b">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l" rtl="0" fontAlgn="b"/>
                      <a:r>
                        <a:rPr lang="en-US" sz="800" b="0" i="0" u="none" strike="noStrike" dirty="0">
                          <a:solidFill>
                            <a:srgbClr val="00338D"/>
                          </a:solidFill>
                          <a:effectLst/>
                          <a:latin typeface="Univers for KPMG" panose="020B0603020202020204" pitchFamily="34" charset="0"/>
                        </a:rPr>
                        <a:t>Quality of </a:t>
                      </a:r>
                      <a:r>
                        <a:rPr lang="en-US" sz="800" b="0" i="0" u="none" strike="noStrike" dirty="0" smtClean="0">
                          <a:solidFill>
                            <a:srgbClr val="00338D"/>
                          </a:solidFill>
                          <a:effectLst/>
                          <a:latin typeface="Univers for KPMG" panose="020B0603020202020204" pitchFamily="34" charset="0"/>
                        </a:rPr>
                        <a:t>earnings</a:t>
                      </a:r>
                      <a:endParaRPr lang="en-US" sz="800" b="0" i="0" u="none" strike="noStrike" dirty="0">
                        <a:solidFill>
                          <a:srgbClr val="00338D"/>
                        </a:solidFill>
                        <a:effectLst/>
                        <a:latin typeface="Univers for KPMG" panose="020B0603020202020204" pitchFamily="34" charset="0"/>
                      </a:endParaRPr>
                    </a:p>
                  </a:txBody>
                  <a:tcPr marL="9525" marR="9525" marT="9525" marB="0" anchor="b">
                    <a:lnL w="12700" cmpd="sng">
                      <a:noFill/>
                    </a:lnL>
                    <a:lnR w="12700" cmpd="sng">
                      <a:noFill/>
                    </a:lnR>
                    <a:lnT w="12700" cmpd="sng">
                      <a:noFill/>
                    </a:lnT>
                    <a:lnB w="38100" cmpd="sng">
                      <a:noFill/>
                    </a:lnB>
                    <a:lnTlToBr w="12700" cmpd="sng">
                      <a:noFill/>
                      <a:prstDash val="solid"/>
                    </a:lnTlToBr>
                    <a:lnBlToTr w="12700" cmpd="sng">
                      <a:noFill/>
                      <a:prstDash val="solid"/>
                    </a:lnBlToTr>
                    <a:noFill/>
                  </a:tcPr>
                </a:tc>
              </a:tr>
              <a:tr h="282337">
                <a:tc>
                  <a:txBody>
                    <a:bodyPr/>
                    <a:lstStyle/>
                    <a:p>
                      <a:pPr algn="l" rtl="0" fontAlgn="b"/>
                      <a:r>
                        <a:rPr lang="en-US" sz="800" b="1" i="0" u="none" strike="noStrike" dirty="0" smtClean="0">
                          <a:solidFill>
                            <a:srgbClr val="00338D"/>
                          </a:solidFill>
                          <a:effectLst/>
                          <a:latin typeface="Univers for KPMG" panose="020B0603020202020204" pitchFamily="34" charset="0"/>
                        </a:rPr>
                        <a:t>RRBB</a:t>
                      </a:r>
                      <a:endParaRPr lang="en-US" sz="800" b="1" i="0" u="none" strike="noStrike" dirty="0">
                        <a:solidFill>
                          <a:srgbClr val="00338D"/>
                        </a:solidFill>
                        <a:effectLst/>
                        <a:latin typeface="Univers for KPMG" panose="020B0603020202020204" pitchFamily="34" charset="0"/>
                      </a:endParaRPr>
                    </a:p>
                  </a:txBody>
                  <a:tcPr marL="9525" marR="9525" marT="9525" marB="0" anchor="b">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l" rtl="0" fontAlgn="b"/>
                      <a:r>
                        <a:rPr lang="en-US" sz="800" b="0" i="0" u="none" strike="noStrike" dirty="0" smtClean="0">
                          <a:solidFill>
                            <a:srgbClr val="00338D"/>
                          </a:solidFill>
                          <a:effectLst/>
                          <a:latin typeface="Univers for KPMG" panose="020B0603020202020204" pitchFamily="34" charset="0"/>
                        </a:rPr>
                        <a:t>Rosenberg Rich Baker Berman &amp; Company</a:t>
                      </a:r>
                      <a:endParaRPr lang="en-US" sz="800" b="0" i="0" u="none" strike="noStrike" dirty="0">
                        <a:solidFill>
                          <a:srgbClr val="00338D"/>
                        </a:solidFill>
                        <a:effectLst/>
                        <a:latin typeface="Univers for KPMG" panose="020B0603020202020204" pitchFamily="34" charset="0"/>
                      </a:endParaRPr>
                    </a:p>
                  </a:txBody>
                  <a:tcPr marL="9525" marR="9525" marT="9525" marB="0" anchor="b">
                    <a:lnL w="12700" cmpd="sng">
                      <a:noFill/>
                    </a:lnL>
                    <a:lnR w="12700" cmpd="sng">
                      <a:noFill/>
                    </a:lnR>
                    <a:lnT w="12700" cmpd="sng">
                      <a:noFill/>
                    </a:lnT>
                    <a:lnB w="38100" cmpd="sng">
                      <a:noFill/>
                    </a:lnB>
                    <a:lnTlToBr w="12700" cmpd="sng">
                      <a:noFill/>
                      <a:prstDash val="solid"/>
                    </a:lnTlToBr>
                    <a:lnBlToTr w="12700" cmpd="sng">
                      <a:noFill/>
                      <a:prstDash val="solid"/>
                    </a:lnBlToTr>
                    <a:noFill/>
                  </a:tcPr>
                </a:tc>
              </a:tr>
              <a:tr h="282337">
                <a:tc>
                  <a:txBody>
                    <a:bodyPr/>
                    <a:lstStyle/>
                    <a:p>
                      <a:pPr algn="l" rtl="0" fontAlgn="b"/>
                      <a:r>
                        <a:rPr lang="en-US" sz="800" b="1" i="0" u="none" strike="noStrike" dirty="0">
                          <a:solidFill>
                            <a:srgbClr val="00338D"/>
                          </a:solidFill>
                          <a:effectLst/>
                          <a:latin typeface="Univers for KPMG" panose="020B0603020202020204" pitchFamily="34" charset="0"/>
                        </a:rPr>
                        <a:t>TTM</a:t>
                      </a:r>
                    </a:p>
                  </a:txBody>
                  <a:tcPr marL="9525" marR="9525" marT="9525" marB="0" anchor="b">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l" rtl="0" fontAlgn="b"/>
                      <a:r>
                        <a:rPr lang="en-US" sz="800" b="0" i="0" u="none" strike="noStrike" dirty="0">
                          <a:solidFill>
                            <a:srgbClr val="00338D"/>
                          </a:solidFill>
                          <a:effectLst/>
                          <a:latin typeface="Univers for KPMG" panose="020B0603020202020204" pitchFamily="34" charset="0"/>
                        </a:rPr>
                        <a:t>Trailing </a:t>
                      </a:r>
                      <a:r>
                        <a:rPr lang="en-US" sz="800" b="0" i="0" u="none" strike="noStrike" dirty="0" smtClean="0">
                          <a:solidFill>
                            <a:srgbClr val="00338D"/>
                          </a:solidFill>
                          <a:effectLst/>
                          <a:latin typeface="Univers for KPMG" panose="020B0603020202020204" pitchFamily="34" charset="0"/>
                        </a:rPr>
                        <a:t>twelve </a:t>
                      </a:r>
                      <a:r>
                        <a:rPr lang="en-US" sz="800" b="0" i="0" u="none" strike="noStrike" dirty="0">
                          <a:solidFill>
                            <a:srgbClr val="00338D"/>
                          </a:solidFill>
                          <a:effectLst/>
                          <a:latin typeface="Univers for KPMG" panose="020B0603020202020204" pitchFamily="34" charset="0"/>
                        </a:rPr>
                        <a:t>m</a:t>
                      </a:r>
                      <a:r>
                        <a:rPr lang="en-US" sz="800" b="0" i="0" u="none" strike="noStrike" dirty="0" smtClean="0">
                          <a:solidFill>
                            <a:srgbClr val="00338D"/>
                          </a:solidFill>
                          <a:effectLst/>
                          <a:latin typeface="Univers for KPMG" panose="020B0603020202020204" pitchFamily="34" charset="0"/>
                        </a:rPr>
                        <a:t>onths</a:t>
                      </a:r>
                      <a:endParaRPr lang="en-US" sz="800" b="0" i="0" u="none" strike="noStrike" dirty="0">
                        <a:solidFill>
                          <a:srgbClr val="00338D"/>
                        </a:solidFill>
                        <a:effectLst/>
                        <a:latin typeface="Univers for KPMG" panose="020B0603020202020204" pitchFamily="34" charset="0"/>
                      </a:endParaRPr>
                    </a:p>
                  </a:txBody>
                  <a:tcPr marL="9525" marR="9525" marT="9525" marB="0" anchor="b">
                    <a:lnL w="12700" cmpd="sng">
                      <a:noFill/>
                    </a:lnL>
                    <a:lnR w="12700" cmpd="sng">
                      <a:noFill/>
                    </a:lnR>
                    <a:lnT w="12700" cmpd="sng">
                      <a:noFill/>
                    </a:lnT>
                    <a:lnB w="38100" cmpd="sng">
                      <a:noFill/>
                    </a:lnB>
                    <a:lnTlToBr w="12700" cmpd="sng">
                      <a:noFill/>
                      <a:prstDash val="solid"/>
                    </a:lnTlToBr>
                    <a:lnBlToTr w="12700" cmpd="sng">
                      <a:noFill/>
                      <a:prstDash val="solid"/>
                    </a:lnBlToTr>
                    <a:noFill/>
                  </a:tcPr>
                </a:tc>
              </a:tr>
              <a:tr h="282337">
                <a:tc>
                  <a:txBody>
                    <a:bodyPr/>
                    <a:lstStyle/>
                    <a:p>
                      <a:pPr algn="l" rtl="0" fontAlgn="b"/>
                      <a:r>
                        <a:rPr lang="en-US" sz="800" b="1" i="0" u="none" strike="noStrike" dirty="0" smtClean="0">
                          <a:solidFill>
                            <a:srgbClr val="00338D"/>
                          </a:solidFill>
                          <a:effectLst/>
                          <a:latin typeface="Univers for KPMG" panose="020B0603020202020204" pitchFamily="34" charset="0"/>
                        </a:rPr>
                        <a:t>T9M</a:t>
                      </a:r>
                      <a:endParaRPr lang="en-US" sz="800" b="1" i="0" u="none" strike="noStrike" dirty="0">
                        <a:solidFill>
                          <a:srgbClr val="00338D"/>
                        </a:solidFill>
                        <a:effectLst/>
                        <a:latin typeface="Univers for KPMG" panose="020B0603020202020204" pitchFamily="34" charset="0"/>
                      </a:endParaRPr>
                    </a:p>
                  </a:txBody>
                  <a:tcPr marL="9525" marR="9525" marT="9525" marB="0" anchor="b">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l" rtl="0" fontAlgn="b"/>
                      <a:r>
                        <a:rPr lang="en-US" sz="800" b="0" i="0" u="none" strike="noStrike" dirty="0" smtClean="0">
                          <a:solidFill>
                            <a:srgbClr val="00338D"/>
                          </a:solidFill>
                          <a:effectLst/>
                          <a:latin typeface="Univers for KPMG" panose="020B0603020202020204" pitchFamily="34" charset="0"/>
                        </a:rPr>
                        <a:t>Trailing nine months</a:t>
                      </a:r>
                      <a:endParaRPr lang="en-US" sz="800" b="0" i="0" u="none" strike="noStrike" dirty="0">
                        <a:solidFill>
                          <a:srgbClr val="00338D"/>
                        </a:solidFill>
                        <a:effectLst/>
                        <a:latin typeface="Univers for KPMG" panose="020B0603020202020204" pitchFamily="34" charset="0"/>
                      </a:endParaRPr>
                    </a:p>
                  </a:txBody>
                  <a:tcPr marL="9525" marR="9525" marT="9525" marB="0" anchor="b">
                    <a:lnL w="12700" cmpd="sng">
                      <a:noFill/>
                    </a:lnL>
                    <a:lnR w="12700" cmpd="sng">
                      <a:noFill/>
                    </a:lnR>
                    <a:lnT w="12700" cmpd="sng">
                      <a:noFill/>
                    </a:lnT>
                    <a:lnB w="38100" cmpd="sng">
                      <a:noFill/>
                    </a:lnB>
                    <a:lnTlToBr w="12700" cmpd="sng">
                      <a:noFill/>
                      <a:prstDash val="solid"/>
                    </a:lnTlToBr>
                    <a:lnBlToTr w="12700" cmpd="sng">
                      <a:noFill/>
                      <a:prstDash val="solid"/>
                    </a:lnBlToTr>
                    <a:noFill/>
                  </a:tcPr>
                </a:tc>
              </a:tr>
              <a:tr h="282337">
                <a:tc>
                  <a:txBody>
                    <a:bodyPr/>
                    <a:lstStyle/>
                    <a:p>
                      <a:pPr algn="l" rtl="0" fontAlgn="b"/>
                      <a:r>
                        <a:rPr lang="en-US" sz="800" b="1" i="0" u="none" strike="noStrike" dirty="0" smtClean="0">
                          <a:solidFill>
                            <a:srgbClr val="00338D"/>
                          </a:solidFill>
                          <a:effectLst/>
                          <a:latin typeface="Univers for KPMG" panose="020B0603020202020204" pitchFamily="34" charset="0"/>
                        </a:rPr>
                        <a:t>T6M</a:t>
                      </a:r>
                      <a:endParaRPr lang="en-US" sz="800" b="1" i="0" u="none" strike="noStrike" dirty="0">
                        <a:solidFill>
                          <a:srgbClr val="00338D"/>
                        </a:solidFill>
                        <a:effectLst/>
                        <a:latin typeface="Univers for KPMG" panose="020B0603020202020204" pitchFamily="34" charset="0"/>
                      </a:endParaRPr>
                    </a:p>
                  </a:txBody>
                  <a:tcPr marL="9525" marR="9525" marT="9525" marB="0" anchor="b">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l" rtl="0" fontAlgn="b"/>
                      <a:r>
                        <a:rPr lang="en-US" sz="800" b="0" i="0" u="none" strike="noStrike" dirty="0" smtClean="0">
                          <a:solidFill>
                            <a:srgbClr val="00338D"/>
                          </a:solidFill>
                          <a:effectLst/>
                          <a:latin typeface="Univers for KPMG" panose="020B0603020202020204" pitchFamily="34" charset="0"/>
                        </a:rPr>
                        <a:t>Trailing six</a:t>
                      </a:r>
                      <a:r>
                        <a:rPr lang="en-US" sz="800" b="0" i="0" u="none" strike="noStrike" baseline="0" dirty="0" smtClean="0">
                          <a:solidFill>
                            <a:srgbClr val="00338D"/>
                          </a:solidFill>
                          <a:effectLst/>
                          <a:latin typeface="Univers for KPMG" panose="020B0603020202020204" pitchFamily="34" charset="0"/>
                        </a:rPr>
                        <a:t> months</a:t>
                      </a:r>
                      <a:endParaRPr lang="en-US" sz="800" b="0" i="0" u="none" strike="noStrike" dirty="0">
                        <a:solidFill>
                          <a:srgbClr val="00338D"/>
                        </a:solidFill>
                        <a:effectLst/>
                        <a:latin typeface="Univers for KPMG" panose="020B0603020202020204" pitchFamily="34" charset="0"/>
                      </a:endParaRPr>
                    </a:p>
                  </a:txBody>
                  <a:tcPr marL="9525" marR="9525" marT="9525" marB="0" anchor="b">
                    <a:lnL w="12700" cmpd="sng">
                      <a:noFill/>
                    </a:lnL>
                    <a:lnR w="12700" cmpd="sng">
                      <a:noFill/>
                    </a:lnR>
                    <a:lnT w="12700" cmpd="sng">
                      <a:noFill/>
                    </a:lnT>
                    <a:lnB w="38100" cmpd="sng">
                      <a:noFill/>
                    </a:lnB>
                    <a:lnTlToBr w="12700" cmpd="sng">
                      <a:noFill/>
                      <a:prstDash val="solid"/>
                    </a:lnTlToBr>
                    <a:lnBlToTr w="12700" cmpd="sng">
                      <a:noFill/>
                      <a:prstDash val="solid"/>
                    </a:lnBlToTr>
                    <a:noFill/>
                  </a:tcPr>
                </a:tc>
              </a:tr>
              <a:tr h="282337">
                <a:tc>
                  <a:txBody>
                    <a:bodyPr/>
                    <a:lstStyle/>
                    <a:p>
                      <a:pPr algn="l" rtl="0" fontAlgn="b"/>
                      <a:r>
                        <a:rPr lang="en-US" sz="800" b="1" i="0" u="none" strike="noStrike" dirty="0" smtClean="0">
                          <a:solidFill>
                            <a:srgbClr val="00338D"/>
                          </a:solidFill>
                          <a:effectLst/>
                          <a:latin typeface="Univers for KPMG" panose="020B0603020202020204" pitchFamily="34" charset="0"/>
                        </a:rPr>
                        <a:t>T3M</a:t>
                      </a:r>
                      <a:endParaRPr lang="en-US" sz="800" b="1" i="0" u="none" strike="noStrike" dirty="0">
                        <a:solidFill>
                          <a:srgbClr val="00338D"/>
                        </a:solidFill>
                        <a:effectLst/>
                        <a:latin typeface="Univers for KPMG" panose="020B0603020202020204" pitchFamily="34" charset="0"/>
                      </a:endParaRPr>
                    </a:p>
                  </a:txBody>
                  <a:tcPr marL="9525" marR="9525" marT="9525" marB="0" anchor="b">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l" rtl="0" fontAlgn="b"/>
                      <a:r>
                        <a:rPr lang="en-US" sz="800" b="0" i="0" u="none" strike="noStrike" dirty="0" smtClean="0">
                          <a:solidFill>
                            <a:srgbClr val="00338D"/>
                          </a:solidFill>
                          <a:effectLst/>
                          <a:latin typeface="Univers for KPMG" panose="020B0603020202020204" pitchFamily="34" charset="0"/>
                        </a:rPr>
                        <a:t>Trailing three months</a:t>
                      </a:r>
                      <a:endParaRPr lang="en-US" sz="800" b="0" i="0" u="none" strike="noStrike" dirty="0">
                        <a:solidFill>
                          <a:srgbClr val="00338D"/>
                        </a:solidFill>
                        <a:effectLst/>
                        <a:latin typeface="Univers for KPMG" panose="020B0603020202020204" pitchFamily="34" charset="0"/>
                      </a:endParaRPr>
                    </a:p>
                  </a:txBody>
                  <a:tcPr marL="9525" marR="9525" marT="9525" marB="0" anchor="b">
                    <a:lnL w="12700" cmpd="sng">
                      <a:noFill/>
                    </a:lnL>
                    <a:lnR w="12700" cmpd="sng">
                      <a:noFill/>
                    </a:lnR>
                    <a:lnT w="12700" cmpd="sng">
                      <a:noFill/>
                    </a:lnT>
                    <a:lnB w="38100" cmpd="sng">
                      <a:noFill/>
                    </a:lnB>
                    <a:lnTlToBr w="12700" cmpd="sng">
                      <a:noFill/>
                      <a:prstDash val="solid"/>
                    </a:lnTlToBr>
                    <a:lnBlToTr w="12700" cmpd="sng">
                      <a:noFill/>
                      <a:prstDash val="solid"/>
                    </a:lnBlToTr>
                    <a:noFill/>
                  </a:tcPr>
                </a:tc>
              </a:tr>
              <a:tr h="282337">
                <a:tc>
                  <a:txBody>
                    <a:bodyPr/>
                    <a:lstStyle/>
                    <a:p>
                      <a:pPr algn="l" rtl="0" fontAlgn="b"/>
                      <a:r>
                        <a:rPr lang="en-US" sz="800" b="1" i="0" u="none" strike="noStrike" dirty="0" smtClean="0">
                          <a:solidFill>
                            <a:srgbClr val="00338D"/>
                          </a:solidFill>
                          <a:effectLst/>
                          <a:latin typeface="Univers for KPMG" panose="020B0603020202020204" pitchFamily="34" charset="0"/>
                        </a:rPr>
                        <a:t>VP</a:t>
                      </a:r>
                      <a:endParaRPr lang="en-US" sz="800" b="1" i="0" u="none" strike="noStrike" dirty="0">
                        <a:solidFill>
                          <a:srgbClr val="00338D"/>
                        </a:solidFill>
                        <a:effectLst/>
                        <a:latin typeface="Univers for KPMG" panose="020B0603020202020204" pitchFamily="34" charset="0"/>
                      </a:endParaRPr>
                    </a:p>
                  </a:txBody>
                  <a:tcPr marL="9525" marR="9525" marT="9525" marB="0" anchor="b">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l" rtl="0" fontAlgn="b"/>
                      <a:r>
                        <a:rPr lang="en-US" sz="800" b="0" i="0" u="none" strike="noStrike" dirty="0" smtClean="0">
                          <a:solidFill>
                            <a:srgbClr val="00338D"/>
                          </a:solidFill>
                          <a:effectLst/>
                          <a:latin typeface="Univers for KPMG" panose="020B0603020202020204" pitchFamily="34" charset="0"/>
                        </a:rPr>
                        <a:t>Vice President</a:t>
                      </a:r>
                      <a:endParaRPr lang="en-US" sz="800" b="0" i="0" u="none" strike="noStrike" dirty="0">
                        <a:solidFill>
                          <a:srgbClr val="00338D"/>
                        </a:solidFill>
                        <a:effectLst/>
                        <a:latin typeface="Univers for KPMG" panose="020B0603020202020204" pitchFamily="34" charset="0"/>
                      </a:endParaRPr>
                    </a:p>
                  </a:txBody>
                  <a:tcPr marL="9525" marR="9525" marT="9525" marB="0" anchor="b">
                    <a:lnL w="12700" cmpd="sng">
                      <a:noFill/>
                    </a:lnL>
                    <a:lnR w="12700" cmpd="sng">
                      <a:noFill/>
                    </a:lnR>
                    <a:lnT w="12700" cmpd="sng">
                      <a:noFill/>
                    </a:lnT>
                    <a:lnB w="38100" cmpd="sng">
                      <a:noFill/>
                    </a:lnB>
                    <a:lnTlToBr w="12700" cmpd="sng">
                      <a:noFill/>
                      <a:prstDash val="solid"/>
                    </a:lnTlToBr>
                    <a:lnBlToTr w="12700" cmpd="sng">
                      <a:noFill/>
                      <a:prstDash val="solid"/>
                    </a:lnBlToTr>
                    <a:noFill/>
                  </a:tcPr>
                </a:tc>
              </a:tr>
            </a:tbl>
          </a:graphicData>
        </a:graphic>
      </p:graphicFrame>
    </p:spTree>
    <p:extLst>
      <p:ext uri="{BB962C8B-B14F-4D97-AF65-F5344CB8AC3E}">
        <p14:creationId xmlns:p14="http://schemas.microsoft.com/office/powerpoint/2010/main" val="138475272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Espace réservé du texte 8"/>
          <p:cNvSpPr>
            <a:spLocks noGrp="1"/>
          </p:cNvSpPr>
          <p:nvPr>
            <p:ph type="body" sz="quarter" idx="15"/>
          </p:nvPr>
        </p:nvSpPr>
        <p:spPr>
          <a:xfrm>
            <a:off x="324000" y="1301520"/>
            <a:ext cx="4068000" cy="4916400"/>
          </a:xfrm>
        </p:spPr>
        <p:txBody>
          <a:bodyPr/>
          <a:lstStyle/>
          <a:p>
            <a:pPr lvl="0"/>
            <a:r>
              <a:rPr lang="en-CA" dirty="0" smtClean="0">
                <a:latin typeface="Univers for KPMG" panose="020B0603020202020204" pitchFamily="34" charset="0"/>
              </a:rPr>
              <a:t>Private and confidential</a:t>
            </a:r>
            <a:r>
              <a:rPr lang="en-CA" dirty="0" smtClean="0">
                <a:solidFill>
                  <a:srgbClr val="FF0000"/>
                </a:solidFill>
                <a:latin typeface="Univers for KPMG" panose="020B0603020202020204" pitchFamily="34" charset="0"/>
              </a:rPr>
              <a:t/>
            </a:r>
            <a:br>
              <a:rPr lang="en-CA" dirty="0" smtClean="0">
                <a:solidFill>
                  <a:srgbClr val="FF0000"/>
                </a:solidFill>
                <a:latin typeface="Univers for KPMG" panose="020B0603020202020204" pitchFamily="34" charset="0"/>
              </a:rPr>
            </a:br>
            <a:endParaRPr lang="en-CA" dirty="0" smtClean="0">
              <a:solidFill>
                <a:srgbClr val="00338D"/>
              </a:solidFill>
              <a:latin typeface="Univers for KPMG" panose="020B0603020202020204" pitchFamily="34" charset="0"/>
            </a:endParaRPr>
          </a:p>
          <a:p>
            <a:pPr lvl="1">
              <a:spcAft>
                <a:spcPts val="0"/>
              </a:spcAft>
            </a:pPr>
            <a:r>
              <a:rPr lang="en-US" dirty="0">
                <a:solidFill>
                  <a:srgbClr val="00338D"/>
                </a:solidFill>
                <a:latin typeface="Univers for KPMG" panose="020B0603020202020204" pitchFamily="34" charset="0"/>
              </a:rPr>
              <a:t>Mr. </a:t>
            </a:r>
            <a:r>
              <a:rPr lang="en-US" dirty="0" smtClean="0">
                <a:solidFill>
                  <a:srgbClr val="00338D"/>
                </a:solidFill>
                <a:latin typeface="Univers for KPMG" panose="020B0603020202020204" pitchFamily="34" charset="0"/>
              </a:rPr>
              <a:t>Gabe Becher</a:t>
            </a:r>
            <a:endParaRPr lang="en-US" dirty="0">
              <a:solidFill>
                <a:srgbClr val="00338D"/>
              </a:solidFill>
              <a:latin typeface="Univers for KPMG" panose="020B0603020202020204" pitchFamily="34" charset="0"/>
            </a:endParaRPr>
          </a:p>
          <a:p>
            <a:pPr lvl="1">
              <a:spcAft>
                <a:spcPts val="0"/>
              </a:spcAft>
            </a:pPr>
            <a:r>
              <a:rPr lang="en-US" dirty="0" smtClean="0">
                <a:solidFill>
                  <a:srgbClr val="00338D"/>
                </a:solidFill>
                <a:latin typeface="Univers for KPMG" panose="020B0603020202020204" pitchFamily="34" charset="0"/>
              </a:rPr>
              <a:t>DW Healthcare Partners </a:t>
            </a:r>
          </a:p>
          <a:p>
            <a:pPr lvl="1">
              <a:spcAft>
                <a:spcPts val="0"/>
              </a:spcAft>
            </a:pPr>
            <a:r>
              <a:rPr lang="en-US" dirty="0" smtClean="0">
                <a:solidFill>
                  <a:srgbClr val="00338D"/>
                </a:solidFill>
                <a:latin typeface="Univers for KPMG" panose="020B0603020202020204" pitchFamily="34" charset="0"/>
              </a:rPr>
              <a:t>1 Toronto Street, Ste. 401</a:t>
            </a:r>
            <a:endParaRPr lang="en-US" dirty="0">
              <a:solidFill>
                <a:srgbClr val="00338D"/>
              </a:solidFill>
              <a:latin typeface="Univers for KPMG" panose="020B0603020202020204" pitchFamily="34" charset="0"/>
            </a:endParaRPr>
          </a:p>
          <a:p>
            <a:pPr lvl="1">
              <a:spcAft>
                <a:spcPts val="0"/>
              </a:spcAft>
            </a:pPr>
            <a:r>
              <a:rPr lang="en-US" dirty="0" smtClean="0">
                <a:solidFill>
                  <a:srgbClr val="00338D"/>
                </a:solidFill>
                <a:latin typeface="Univers for KPMG" panose="020B0603020202020204" pitchFamily="34" charset="0"/>
              </a:rPr>
              <a:t>Toronto, ON M5C 2V6 </a:t>
            </a:r>
            <a:endParaRPr lang="en-US" dirty="0">
              <a:solidFill>
                <a:srgbClr val="00338D"/>
              </a:solidFill>
              <a:latin typeface="Univers for KPMG" panose="020B0603020202020204" pitchFamily="34" charset="0"/>
            </a:endParaRPr>
          </a:p>
          <a:p>
            <a:pPr lvl="1">
              <a:spcAft>
                <a:spcPts val="0"/>
              </a:spcAft>
            </a:pPr>
            <a:endParaRPr lang="en-US" b="1" dirty="0" smtClean="0">
              <a:solidFill>
                <a:srgbClr val="00338D"/>
              </a:solidFill>
              <a:latin typeface="Univers for KPMG" panose="020B0603020202020204" pitchFamily="34" charset="0"/>
            </a:endParaRPr>
          </a:p>
          <a:p>
            <a:pPr lvl="1">
              <a:spcAft>
                <a:spcPts val="0"/>
              </a:spcAft>
            </a:pPr>
            <a:r>
              <a:rPr lang="en-US" dirty="0" smtClean="0">
                <a:solidFill>
                  <a:srgbClr val="00338D"/>
                </a:solidFill>
                <a:latin typeface="Univers for KPMG" panose="020B0603020202020204" pitchFamily="34" charset="0"/>
              </a:rPr>
              <a:t>March 27, 2018</a:t>
            </a:r>
            <a:endParaRPr lang="en-CA" dirty="0" smtClean="0">
              <a:solidFill>
                <a:srgbClr val="00338D"/>
              </a:solidFill>
              <a:latin typeface="Univers for KPMG" panose="020B0603020202020204" pitchFamily="34" charset="0"/>
            </a:endParaRPr>
          </a:p>
          <a:p>
            <a:pPr lvl="1">
              <a:spcAft>
                <a:spcPts val="0"/>
              </a:spcAft>
            </a:pPr>
            <a:endParaRPr lang="en-CA" dirty="0" smtClean="0">
              <a:solidFill>
                <a:srgbClr val="00338D"/>
              </a:solidFill>
              <a:latin typeface="Univers for KPMG" panose="020B0603020202020204" pitchFamily="34" charset="0"/>
            </a:endParaRPr>
          </a:p>
          <a:p>
            <a:pPr lvl="1">
              <a:spcAft>
                <a:spcPts val="0"/>
              </a:spcAft>
            </a:pPr>
            <a:r>
              <a:rPr lang="en-CA" dirty="0" smtClean="0">
                <a:solidFill>
                  <a:srgbClr val="00338D"/>
                </a:solidFill>
                <a:latin typeface="Univers for KPMG" panose="020B0603020202020204" pitchFamily="34" charset="0"/>
              </a:rPr>
              <a:t>Dear Gabe: </a:t>
            </a:r>
            <a:endParaRPr lang="en-CA" dirty="0">
              <a:solidFill>
                <a:srgbClr val="00338D"/>
              </a:solidFill>
              <a:latin typeface="Univers for KPMG" panose="020B0603020202020204" pitchFamily="34" charset="0"/>
            </a:endParaRPr>
          </a:p>
          <a:p>
            <a:pPr lvl="1">
              <a:spcAft>
                <a:spcPts val="0"/>
              </a:spcAft>
            </a:pPr>
            <a:endParaRPr lang="en-US" dirty="0">
              <a:solidFill>
                <a:srgbClr val="00338D"/>
              </a:solidFill>
              <a:latin typeface="Univers for KPMG" panose="020B0603020202020204" pitchFamily="34" charset="0"/>
            </a:endParaRPr>
          </a:p>
          <a:p>
            <a:pPr lvl="1"/>
            <a:r>
              <a:rPr lang="en-US" dirty="0">
                <a:solidFill>
                  <a:srgbClr val="00338D"/>
                </a:solidFill>
                <a:latin typeface="Univers for KPMG" panose="020B0603020202020204" pitchFamily="34" charset="0"/>
              </a:rPr>
              <a:t>We have </a:t>
            </a:r>
            <a:r>
              <a:rPr lang="en-US" dirty="0" smtClean="0">
                <a:solidFill>
                  <a:srgbClr val="00338D"/>
                </a:solidFill>
                <a:latin typeface="Univers for KPMG" panose="020B0603020202020204" pitchFamily="34" charset="0"/>
              </a:rPr>
              <a:t>completed </a:t>
            </a:r>
            <a:r>
              <a:rPr lang="en-US" dirty="0">
                <a:solidFill>
                  <a:srgbClr val="00338D"/>
                </a:solidFill>
                <a:latin typeface="Univers for KPMG" panose="020B0603020202020204" pitchFamily="34" charset="0"/>
              </a:rPr>
              <a:t>our </a:t>
            </a:r>
            <a:r>
              <a:rPr lang="en-US" dirty="0" smtClean="0">
                <a:solidFill>
                  <a:srgbClr val="00338D"/>
                </a:solidFill>
                <a:latin typeface="Univers for KPMG" panose="020B0603020202020204" pitchFamily="34" charset="0"/>
              </a:rPr>
              <a:t>procedures to assist DW Healthcare Partners (“Client” or </a:t>
            </a:r>
            <a:r>
              <a:rPr lang="en-US" dirty="0">
                <a:solidFill>
                  <a:srgbClr val="00338D"/>
                </a:solidFill>
                <a:latin typeface="Univers for KPMG" panose="020B0603020202020204" pitchFamily="34" charset="0"/>
              </a:rPr>
              <a:t>“you”) in performing due diligence in connection with your </a:t>
            </a:r>
            <a:r>
              <a:rPr lang="en-US" dirty="0" smtClean="0">
                <a:solidFill>
                  <a:srgbClr val="00338D"/>
                </a:solidFill>
                <a:latin typeface="Univers for KPMG" panose="020B0603020202020204" pitchFamily="34" charset="0"/>
              </a:rPr>
              <a:t>prospective acquisition (the “Transaction”) of Aequor Healthcare services (collectively, the “Company” or “Target”) in </a:t>
            </a:r>
            <a:r>
              <a:rPr lang="en-US" dirty="0">
                <a:solidFill>
                  <a:srgbClr val="00338D"/>
                </a:solidFill>
                <a:latin typeface="Univers for KPMG" panose="020B0603020202020204" pitchFamily="34" charset="0"/>
              </a:rPr>
              <a:t>accordance with the </a:t>
            </a:r>
            <a:r>
              <a:rPr lang="en-US" dirty="0" smtClean="0">
                <a:solidFill>
                  <a:srgbClr val="00338D"/>
                </a:solidFill>
                <a:latin typeface="Univers for KPMG" panose="020B0603020202020204" pitchFamily="34" charset="0"/>
              </a:rPr>
              <a:t>terms </a:t>
            </a:r>
            <a:r>
              <a:rPr lang="en-US" dirty="0">
                <a:solidFill>
                  <a:srgbClr val="00338D"/>
                </a:solidFill>
                <a:latin typeface="Univers for KPMG" panose="020B0603020202020204" pitchFamily="34" charset="0"/>
              </a:rPr>
              <a:t>of our engagement letter dated </a:t>
            </a:r>
            <a:r>
              <a:rPr lang="en-US" dirty="0" smtClean="0">
                <a:solidFill>
                  <a:srgbClr val="00338D"/>
                </a:solidFill>
                <a:latin typeface="Univers for KPMG" panose="020B0603020202020204" pitchFamily="34" charset="0"/>
              </a:rPr>
              <a:t>December 18, 2017, </a:t>
            </a:r>
            <a:r>
              <a:rPr lang="en-US" dirty="0">
                <a:solidFill>
                  <a:srgbClr val="00338D"/>
                </a:solidFill>
                <a:latin typeface="Univers for KPMG" panose="020B0603020202020204" pitchFamily="34" charset="0"/>
              </a:rPr>
              <a:t>including its Terms and Conditions for Advisory and Tax Services.</a:t>
            </a:r>
          </a:p>
          <a:p>
            <a:pPr lvl="1"/>
            <a:r>
              <a:rPr lang="en-US" b="1" dirty="0" smtClean="0">
                <a:solidFill>
                  <a:srgbClr val="00338D"/>
                </a:solidFill>
                <a:latin typeface="Univers for KPMG" panose="020B0603020202020204" pitchFamily="34" charset="0"/>
              </a:rPr>
              <a:t>Objective</a:t>
            </a:r>
          </a:p>
          <a:p>
            <a:pPr lvl="1"/>
            <a:r>
              <a:rPr lang="en-US" dirty="0" smtClean="0">
                <a:solidFill>
                  <a:srgbClr val="00338D"/>
                </a:solidFill>
                <a:latin typeface="Univers for KPMG" panose="020B0603020202020204" pitchFamily="34" charset="0"/>
              </a:rPr>
              <a:t>The </a:t>
            </a:r>
            <a:r>
              <a:rPr lang="en-US" dirty="0">
                <a:solidFill>
                  <a:srgbClr val="00338D"/>
                </a:solidFill>
                <a:latin typeface="Univers for KPMG" panose="020B0603020202020204" pitchFamily="34" charset="0"/>
              </a:rPr>
              <a:t>objective of our engagement was to assist you with your assessment of the risks and </a:t>
            </a:r>
            <a:r>
              <a:rPr lang="en-US" dirty="0" smtClean="0">
                <a:solidFill>
                  <a:srgbClr val="00338D"/>
                </a:solidFill>
                <a:latin typeface="Univers for KPMG" panose="020B0603020202020204" pitchFamily="34" charset="0"/>
              </a:rPr>
              <a:t>opportunities of the Company. </a:t>
            </a:r>
            <a:r>
              <a:rPr lang="en-US" dirty="0">
                <a:solidFill>
                  <a:srgbClr val="00338D"/>
                </a:solidFill>
                <a:latin typeface="Univers for KPMG" panose="020B0603020202020204" pitchFamily="34" charset="0"/>
              </a:rPr>
              <a:t>Our work in this report was based on information provided by you and obtained in an electronic data room and various discussions/correspondence </a:t>
            </a:r>
            <a:r>
              <a:rPr lang="en-US" dirty="0" smtClean="0">
                <a:solidFill>
                  <a:srgbClr val="00338D"/>
                </a:solidFill>
                <a:latin typeface="Univers for KPMG" panose="020B0603020202020204" pitchFamily="34" charset="0"/>
              </a:rPr>
              <a:t>with you. </a:t>
            </a:r>
            <a:r>
              <a:rPr lang="en-US" dirty="0">
                <a:solidFill>
                  <a:srgbClr val="00338D"/>
                </a:solidFill>
                <a:latin typeface="Univers for KPMG" panose="020B0603020202020204" pitchFamily="34" charset="0"/>
              </a:rPr>
              <a:t>The primary scope of our engagement was to make inquiries and perform analyses based on information made available to us, directed toward those business activities and related financial data of interest to you. </a:t>
            </a:r>
          </a:p>
          <a:p>
            <a:pPr lvl="1"/>
            <a:r>
              <a:rPr lang="en-US" b="1" dirty="0" smtClean="0">
                <a:solidFill>
                  <a:srgbClr val="00338D"/>
                </a:solidFill>
                <a:latin typeface="Univers for KPMG" panose="020B0603020202020204" pitchFamily="34" charset="0"/>
              </a:rPr>
              <a:t>Basis </a:t>
            </a:r>
            <a:r>
              <a:rPr lang="en-US" b="1" dirty="0">
                <a:solidFill>
                  <a:srgbClr val="00338D"/>
                </a:solidFill>
                <a:latin typeface="Univers for KPMG" panose="020B0603020202020204" pitchFamily="34" charset="0"/>
              </a:rPr>
              <a:t>of </a:t>
            </a:r>
            <a:r>
              <a:rPr lang="en-US" b="1" dirty="0" smtClean="0">
                <a:solidFill>
                  <a:srgbClr val="00338D"/>
                </a:solidFill>
                <a:latin typeface="Univers for KPMG" panose="020B0603020202020204" pitchFamily="34" charset="0"/>
              </a:rPr>
              <a:t>Information</a:t>
            </a:r>
          </a:p>
          <a:p>
            <a:pPr lvl="1"/>
            <a:r>
              <a:rPr lang="en-US" dirty="0" smtClean="0">
                <a:solidFill>
                  <a:srgbClr val="00338D"/>
                </a:solidFill>
                <a:latin typeface="Univers for KPMG" panose="020B0603020202020204" pitchFamily="34" charset="0"/>
              </a:rPr>
              <a:t>The </a:t>
            </a:r>
            <a:r>
              <a:rPr lang="en-US" dirty="0">
                <a:solidFill>
                  <a:srgbClr val="00338D"/>
                </a:solidFill>
                <a:latin typeface="Univers for KPMG" panose="020B0603020202020204" pitchFamily="34" charset="0"/>
              </a:rPr>
              <a:t>engagement letter describes the procedures we were to </a:t>
            </a:r>
            <a:r>
              <a:rPr lang="en-US" dirty="0" smtClean="0">
                <a:solidFill>
                  <a:srgbClr val="00338D"/>
                </a:solidFill>
                <a:latin typeface="Univers for KPMG" panose="020B0603020202020204" pitchFamily="34" charset="0"/>
              </a:rPr>
              <a:t>perform. Those </a:t>
            </a:r>
            <a:r>
              <a:rPr lang="en-US" dirty="0">
                <a:solidFill>
                  <a:srgbClr val="00338D"/>
                </a:solidFill>
                <a:latin typeface="Univers for KPMG" panose="020B0603020202020204" pitchFamily="34" charset="0"/>
              </a:rPr>
              <a:t>procedures were selected by you and were limited in nature and extent to those that you determined best fit your needs. </a:t>
            </a:r>
            <a:r>
              <a:rPr lang="en-US" dirty="0" smtClean="0">
                <a:solidFill>
                  <a:srgbClr val="00338D"/>
                </a:solidFill>
                <a:latin typeface="Univers for KPMG" panose="020B0603020202020204" pitchFamily="34" charset="0"/>
              </a:rPr>
              <a:t>We </a:t>
            </a:r>
            <a:r>
              <a:rPr lang="en-US" dirty="0">
                <a:solidFill>
                  <a:srgbClr val="00338D"/>
                </a:solidFill>
                <a:latin typeface="Univers for KPMG" panose="020B0603020202020204" pitchFamily="34" charset="0"/>
              </a:rPr>
              <a:t>make no representation regarding the sufficiency for your purposes of the procedures selected, and those procedures will not necessarily disclose all significant matters about Target or reveal errors in the underlying information, instances of fraud, or illegal acts, if any. </a:t>
            </a:r>
            <a:r>
              <a:rPr lang="en-US" dirty="0" smtClean="0">
                <a:solidFill>
                  <a:srgbClr val="00338D"/>
                </a:solidFill>
                <a:latin typeface="Univers for KPMG" panose="020B0603020202020204" pitchFamily="34" charset="0"/>
              </a:rPr>
              <a:t>This </a:t>
            </a:r>
            <a:r>
              <a:rPr lang="en-US" dirty="0">
                <a:solidFill>
                  <a:srgbClr val="00338D"/>
                </a:solidFill>
                <a:latin typeface="Univers for KPMG" panose="020B0603020202020204" pitchFamily="34" charset="0"/>
              </a:rPr>
              <a:t>report was prepared by us on the basis that you provided us with all relevant information you received concerning Target.</a:t>
            </a:r>
          </a:p>
          <a:p>
            <a:pPr lvl="1"/>
            <a:endParaRPr lang="en-US" dirty="0">
              <a:latin typeface="Univers for KPMG" panose="020B0603020202020204" pitchFamily="34" charset="0"/>
            </a:endParaRPr>
          </a:p>
        </p:txBody>
      </p:sp>
      <p:sp>
        <p:nvSpPr>
          <p:cNvPr id="17" name="Text Box 7"/>
          <p:cNvSpPr txBox="1">
            <a:spLocks noChangeArrowheads="1"/>
          </p:cNvSpPr>
          <p:nvPr/>
        </p:nvSpPr>
        <p:spPr bwMode="auto">
          <a:xfrm>
            <a:off x="1371600" y="332656"/>
            <a:ext cx="1455072" cy="633111"/>
          </a:xfrm>
          <a:prstGeom prst="rect">
            <a:avLst/>
          </a:prstGeom>
          <a:noFill/>
          <a:ln w="6350">
            <a:noFill/>
            <a:miter lim="800000"/>
            <a:headEnd/>
            <a:tailEnd/>
          </a:ln>
        </p:spPr>
        <p:txBody>
          <a:bodyPr wrap="square" lIns="93587" tIns="46794" rIns="93587" bIns="46794">
            <a:spAutoFit/>
          </a:bodyPr>
          <a:lstStyle/>
          <a:p>
            <a:pPr defTabSz="762000" eaLnBrk="0" hangingPunct="0">
              <a:buClr>
                <a:srgbClr val="003399"/>
              </a:buClr>
              <a:buSzPct val="85000"/>
            </a:pPr>
            <a:r>
              <a:rPr lang="en-US" sz="700" b="1" dirty="0" smtClean="0">
                <a:solidFill>
                  <a:srgbClr val="00338D"/>
                </a:solidFill>
                <a:cs typeface="Angsana New" pitchFamily="18" charset="-34"/>
              </a:rPr>
              <a:t>KPMG LLP</a:t>
            </a:r>
          </a:p>
          <a:p>
            <a:pPr defTabSz="762000" eaLnBrk="0" hangingPunct="0">
              <a:buClr>
                <a:srgbClr val="003399"/>
              </a:buClr>
              <a:buSzPct val="85000"/>
              <a:buFont typeface="Times New Roman" pitchFamily="18" charset="0"/>
              <a:buNone/>
            </a:pPr>
            <a:r>
              <a:rPr lang="en-US" sz="700" dirty="0" smtClean="0">
                <a:solidFill>
                  <a:srgbClr val="00338D"/>
                </a:solidFill>
                <a:cs typeface="Angsana New" pitchFamily="18" charset="-34"/>
              </a:rPr>
              <a:t>Bay Adelaide Centre</a:t>
            </a:r>
          </a:p>
          <a:p>
            <a:pPr defTabSz="762000" eaLnBrk="0" hangingPunct="0">
              <a:buClr>
                <a:srgbClr val="003399"/>
              </a:buClr>
              <a:buSzPct val="85000"/>
              <a:buFont typeface="Times New Roman" pitchFamily="18" charset="0"/>
              <a:buNone/>
            </a:pPr>
            <a:r>
              <a:rPr lang="en-US" sz="700" dirty="0" smtClean="0">
                <a:solidFill>
                  <a:srgbClr val="00338D"/>
                </a:solidFill>
                <a:cs typeface="Angsana New" pitchFamily="18" charset="-34"/>
              </a:rPr>
              <a:t>333 Bay Street Suite 4600</a:t>
            </a:r>
          </a:p>
          <a:p>
            <a:pPr defTabSz="762000" eaLnBrk="0" hangingPunct="0">
              <a:buClr>
                <a:srgbClr val="003399"/>
              </a:buClr>
              <a:buSzPct val="85000"/>
              <a:buFont typeface="Times New Roman" pitchFamily="18" charset="0"/>
              <a:buNone/>
            </a:pPr>
            <a:r>
              <a:rPr lang="en-US" sz="700" dirty="0" smtClean="0">
                <a:solidFill>
                  <a:srgbClr val="00338D"/>
                </a:solidFill>
                <a:cs typeface="Angsana New" pitchFamily="18" charset="-34"/>
              </a:rPr>
              <a:t>Toronto ON  M5H 2S5</a:t>
            </a:r>
          </a:p>
          <a:p>
            <a:pPr defTabSz="762000" eaLnBrk="0" hangingPunct="0">
              <a:buClr>
                <a:srgbClr val="003399"/>
              </a:buClr>
              <a:buSzPct val="85000"/>
              <a:buFont typeface="Times New Roman" pitchFamily="18" charset="0"/>
              <a:buNone/>
            </a:pPr>
            <a:r>
              <a:rPr lang="en-US" sz="700" dirty="0" smtClean="0">
                <a:solidFill>
                  <a:srgbClr val="00338D"/>
                </a:solidFill>
                <a:cs typeface="Angsana New" pitchFamily="18" charset="-34"/>
              </a:rPr>
              <a:t>Canada</a:t>
            </a:r>
            <a:endParaRPr lang="en-US" sz="700" dirty="0">
              <a:solidFill>
                <a:srgbClr val="00338D"/>
              </a:solidFill>
              <a:cs typeface="Angsana New" pitchFamily="18" charset="-34"/>
            </a:endParaRPr>
          </a:p>
        </p:txBody>
      </p:sp>
      <p:sp>
        <p:nvSpPr>
          <p:cNvPr id="18" name="Text Box 8"/>
          <p:cNvSpPr txBox="1">
            <a:spLocks noChangeArrowheads="1"/>
          </p:cNvSpPr>
          <p:nvPr/>
        </p:nvSpPr>
        <p:spPr bwMode="auto">
          <a:xfrm>
            <a:off x="2374737" y="332656"/>
            <a:ext cx="1891391" cy="568478"/>
          </a:xfrm>
          <a:prstGeom prst="rect">
            <a:avLst/>
          </a:prstGeom>
          <a:noFill/>
          <a:ln w="6350">
            <a:noFill/>
            <a:miter lim="800000"/>
            <a:headEnd/>
            <a:tailEnd/>
          </a:ln>
        </p:spPr>
        <p:txBody>
          <a:bodyPr wrap="none" lIns="93587" tIns="46794" rIns="93587" bIns="46794">
            <a:spAutoFit/>
          </a:bodyPr>
          <a:lstStyle/>
          <a:p>
            <a:pPr indent="457200" defTabSz="485775" eaLnBrk="0" hangingPunct="0">
              <a:buClr>
                <a:srgbClr val="003399"/>
              </a:buClr>
              <a:buSzPct val="85000"/>
              <a:buFont typeface="Times New Roman" pitchFamily="18" charset="0"/>
              <a:buNone/>
            </a:pPr>
            <a:r>
              <a:rPr lang="en-US" sz="700" dirty="0" smtClean="0">
                <a:solidFill>
                  <a:srgbClr val="00338D"/>
                </a:solidFill>
                <a:cs typeface="Angsana New" pitchFamily="18" charset="-34"/>
              </a:rPr>
              <a:t>Telephone +1 (416) 777-8500</a:t>
            </a:r>
          </a:p>
          <a:p>
            <a:pPr indent="457200" defTabSz="485775" eaLnBrk="0" hangingPunct="0">
              <a:buClr>
                <a:srgbClr val="003399"/>
              </a:buClr>
              <a:buSzPct val="85000"/>
              <a:buFont typeface="Times New Roman" pitchFamily="18" charset="0"/>
              <a:buNone/>
            </a:pPr>
            <a:r>
              <a:rPr lang="en-US" sz="700" dirty="0" smtClean="0">
                <a:solidFill>
                  <a:srgbClr val="00338D"/>
                </a:solidFill>
                <a:cs typeface="Angsana New" pitchFamily="18" charset="-34"/>
              </a:rPr>
              <a:t>Fax +1 (416) 777-8818</a:t>
            </a:r>
          </a:p>
          <a:p>
            <a:pPr indent="457200" defTabSz="485775" eaLnBrk="0" hangingPunct="0">
              <a:buClr>
                <a:srgbClr val="003399"/>
              </a:buClr>
              <a:buSzPct val="85000"/>
              <a:buFont typeface="Times New Roman" pitchFamily="18" charset="0"/>
              <a:buNone/>
            </a:pPr>
            <a:r>
              <a:rPr lang="en-US" sz="700" dirty="0" smtClean="0">
                <a:solidFill>
                  <a:srgbClr val="00338D"/>
                </a:solidFill>
                <a:cs typeface="Angsana New" pitchFamily="18" charset="-34"/>
              </a:rPr>
              <a:t>www.kpmg.ca</a:t>
            </a:r>
          </a:p>
          <a:p>
            <a:pPr indent="457200" defTabSz="762000" eaLnBrk="0" hangingPunct="0">
              <a:spcBef>
                <a:spcPct val="40000"/>
              </a:spcBef>
              <a:buClr>
                <a:srgbClr val="003399"/>
              </a:buClr>
              <a:buSzPct val="85000"/>
              <a:buFont typeface="Times New Roman" pitchFamily="18" charset="0"/>
              <a:buNone/>
            </a:pPr>
            <a:endParaRPr lang="en-US" sz="700" dirty="0">
              <a:cs typeface="Angsana New" pitchFamily="18" charset="-34"/>
            </a:endParaRPr>
          </a:p>
        </p:txBody>
      </p:sp>
      <p:grpSp>
        <p:nvGrpSpPr>
          <p:cNvPr id="19" name="Group 18"/>
          <p:cNvGrpSpPr/>
          <p:nvPr/>
        </p:nvGrpSpPr>
        <p:grpSpPr bwMode="gray">
          <a:xfrm>
            <a:off x="195849" y="165857"/>
            <a:ext cx="889489" cy="695325"/>
            <a:chOff x="175518" y="0"/>
            <a:chExt cx="963613" cy="695325"/>
          </a:xfrm>
        </p:grpSpPr>
        <p:sp>
          <p:nvSpPr>
            <p:cNvPr id="20" name="Freeform 6"/>
            <p:cNvSpPr>
              <a:spLocks noEditPoints="1"/>
            </p:cNvSpPr>
            <p:nvPr userDrawn="1"/>
          </p:nvSpPr>
          <p:spPr bwMode="gray">
            <a:xfrm>
              <a:off x="286643" y="215900"/>
              <a:ext cx="700088" cy="271463"/>
            </a:xfrm>
            <a:custGeom>
              <a:avLst/>
              <a:gdLst/>
              <a:ahLst/>
              <a:cxnLst>
                <a:cxn ang="0">
                  <a:pos x="6130" y="2584"/>
                </a:cxn>
                <a:cxn ang="0">
                  <a:pos x="6106" y="2594"/>
                </a:cxn>
                <a:cxn ang="0">
                  <a:pos x="5549" y="2661"/>
                </a:cxn>
                <a:cxn ang="0">
                  <a:pos x="5025" y="2423"/>
                </a:cxn>
                <a:cxn ang="0">
                  <a:pos x="4926" y="2101"/>
                </a:cxn>
                <a:cxn ang="0">
                  <a:pos x="4756" y="2101"/>
                </a:cxn>
                <a:cxn ang="0">
                  <a:pos x="4625" y="2625"/>
                </a:cxn>
                <a:cxn ang="0">
                  <a:pos x="4182" y="2625"/>
                </a:cxn>
                <a:cxn ang="0">
                  <a:pos x="4338" y="2101"/>
                </a:cxn>
                <a:cxn ang="0">
                  <a:pos x="4197" y="2101"/>
                </a:cxn>
                <a:cxn ang="0">
                  <a:pos x="3859" y="2625"/>
                </a:cxn>
                <a:cxn ang="0">
                  <a:pos x="3503" y="2625"/>
                </a:cxn>
                <a:cxn ang="0">
                  <a:pos x="3471" y="2101"/>
                </a:cxn>
                <a:cxn ang="0">
                  <a:pos x="3314" y="2101"/>
                </a:cxn>
                <a:cxn ang="0">
                  <a:pos x="3159" y="2625"/>
                </a:cxn>
                <a:cxn ang="0">
                  <a:pos x="2780" y="2625"/>
                </a:cxn>
                <a:cxn ang="0">
                  <a:pos x="2940" y="2101"/>
                </a:cxn>
                <a:cxn ang="0">
                  <a:pos x="2047" y="2101"/>
                </a:cxn>
                <a:cxn ang="0">
                  <a:pos x="2047" y="2093"/>
                </a:cxn>
                <a:cxn ang="0">
                  <a:pos x="1888" y="2626"/>
                </a:cxn>
                <a:cxn ang="0">
                  <a:pos x="1484" y="2626"/>
                </a:cxn>
                <a:cxn ang="0">
                  <a:pos x="1642" y="2101"/>
                </a:cxn>
                <a:cxn ang="0">
                  <a:pos x="1148" y="2101"/>
                </a:cxn>
                <a:cxn ang="0">
                  <a:pos x="1394" y="2626"/>
                </a:cxn>
                <a:cxn ang="0">
                  <a:pos x="927" y="2626"/>
                </a:cxn>
                <a:cxn ang="0">
                  <a:pos x="715" y="2101"/>
                </a:cxn>
                <a:cxn ang="0">
                  <a:pos x="588" y="2101"/>
                </a:cxn>
                <a:cxn ang="0">
                  <a:pos x="442" y="2583"/>
                </a:cxn>
                <a:cxn ang="0">
                  <a:pos x="434" y="2626"/>
                </a:cxn>
                <a:cxn ang="0">
                  <a:pos x="0" y="2626"/>
                </a:cxn>
                <a:cxn ang="0">
                  <a:pos x="397" y="1303"/>
                </a:cxn>
                <a:cxn ang="0">
                  <a:pos x="397" y="0"/>
                </a:cxn>
                <a:cxn ang="0">
                  <a:pos x="1888" y="0"/>
                </a:cxn>
                <a:cxn ang="0">
                  <a:pos x="1888" y="1287"/>
                </a:cxn>
                <a:cxn ang="0">
                  <a:pos x="1944" y="1098"/>
                </a:cxn>
                <a:cxn ang="0">
                  <a:pos x="2047" y="1098"/>
                </a:cxn>
                <a:cxn ang="0">
                  <a:pos x="2047" y="0"/>
                </a:cxn>
                <a:cxn ang="0">
                  <a:pos x="3534" y="0"/>
                </a:cxn>
                <a:cxn ang="0">
                  <a:pos x="3534" y="1098"/>
                </a:cxn>
                <a:cxn ang="0">
                  <a:pos x="3694" y="1098"/>
                </a:cxn>
                <a:cxn ang="0">
                  <a:pos x="3694" y="0"/>
                </a:cxn>
                <a:cxn ang="0">
                  <a:pos x="5180" y="0"/>
                </a:cxn>
                <a:cxn ang="0">
                  <a:pos x="5180" y="1388"/>
                </a:cxn>
                <a:cxn ang="0">
                  <a:pos x="5340" y="1222"/>
                </a:cxn>
                <a:cxn ang="0">
                  <a:pos x="5340" y="0"/>
                </a:cxn>
                <a:cxn ang="0">
                  <a:pos x="6827" y="0"/>
                </a:cxn>
                <a:cxn ang="0">
                  <a:pos x="6827" y="2101"/>
                </a:cxn>
                <a:cxn ang="0">
                  <a:pos x="6266" y="2101"/>
                </a:cxn>
                <a:cxn ang="0">
                  <a:pos x="6130" y="2584"/>
                </a:cxn>
                <a:cxn ang="0">
                  <a:pos x="5342" y="2101"/>
                </a:cxn>
                <a:cxn ang="0">
                  <a:pos x="5386" y="2264"/>
                </a:cxn>
                <a:cxn ang="0">
                  <a:pos x="5610" y="2349"/>
                </a:cxn>
                <a:cxn ang="0">
                  <a:pos x="5788" y="2330"/>
                </a:cxn>
                <a:cxn ang="0">
                  <a:pos x="5861" y="2101"/>
                </a:cxn>
                <a:cxn ang="0">
                  <a:pos x="5342" y="2101"/>
                </a:cxn>
              </a:cxnLst>
              <a:rect l="0" t="0" r="r" b="b"/>
              <a:pathLst>
                <a:path w="6827" h="2661">
                  <a:moveTo>
                    <a:pt x="6130" y="2584"/>
                  </a:moveTo>
                  <a:cubicBezTo>
                    <a:pt x="6106" y="2594"/>
                    <a:pt x="6106" y="2594"/>
                    <a:pt x="6106" y="2594"/>
                  </a:cubicBezTo>
                  <a:cubicBezTo>
                    <a:pt x="6010" y="2632"/>
                    <a:pt x="5728" y="2661"/>
                    <a:pt x="5549" y="2661"/>
                  </a:cubicBezTo>
                  <a:cubicBezTo>
                    <a:pt x="5381" y="2661"/>
                    <a:pt x="5156" y="2599"/>
                    <a:pt x="5025" y="2423"/>
                  </a:cubicBezTo>
                  <a:cubicBezTo>
                    <a:pt x="4975" y="2355"/>
                    <a:pt x="4927" y="2250"/>
                    <a:pt x="4926" y="2101"/>
                  </a:cubicBezTo>
                  <a:cubicBezTo>
                    <a:pt x="4756" y="2101"/>
                    <a:pt x="4756" y="2101"/>
                    <a:pt x="4756" y="2101"/>
                  </a:cubicBezTo>
                  <a:cubicBezTo>
                    <a:pt x="4625" y="2625"/>
                    <a:pt x="4625" y="2625"/>
                    <a:pt x="4625" y="2625"/>
                  </a:cubicBezTo>
                  <a:cubicBezTo>
                    <a:pt x="4182" y="2625"/>
                    <a:pt x="4182" y="2625"/>
                    <a:pt x="4182" y="2625"/>
                  </a:cubicBezTo>
                  <a:cubicBezTo>
                    <a:pt x="4338" y="2101"/>
                    <a:pt x="4338" y="2101"/>
                    <a:pt x="4338" y="2101"/>
                  </a:cubicBezTo>
                  <a:cubicBezTo>
                    <a:pt x="4197" y="2101"/>
                    <a:pt x="4197" y="2101"/>
                    <a:pt x="4197" y="2101"/>
                  </a:cubicBezTo>
                  <a:cubicBezTo>
                    <a:pt x="3859" y="2625"/>
                    <a:pt x="3859" y="2625"/>
                    <a:pt x="3859" y="2625"/>
                  </a:cubicBezTo>
                  <a:cubicBezTo>
                    <a:pt x="3503" y="2625"/>
                    <a:pt x="3503" y="2625"/>
                    <a:pt x="3503" y="2625"/>
                  </a:cubicBezTo>
                  <a:cubicBezTo>
                    <a:pt x="3471" y="2101"/>
                    <a:pt x="3471" y="2101"/>
                    <a:pt x="3471" y="2101"/>
                  </a:cubicBezTo>
                  <a:cubicBezTo>
                    <a:pt x="3314" y="2101"/>
                    <a:pt x="3314" y="2101"/>
                    <a:pt x="3314" y="2101"/>
                  </a:cubicBezTo>
                  <a:cubicBezTo>
                    <a:pt x="3159" y="2625"/>
                    <a:pt x="3159" y="2625"/>
                    <a:pt x="3159" y="2625"/>
                  </a:cubicBezTo>
                  <a:cubicBezTo>
                    <a:pt x="2780" y="2625"/>
                    <a:pt x="2780" y="2625"/>
                    <a:pt x="2780" y="2625"/>
                  </a:cubicBezTo>
                  <a:cubicBezTo>
                    <a:pt x="2940" y="2101"/>
                    <a:pt x="2940" y="2101"/>
                    <a:pt x="2940" y="2101"/>
                  </a:cubicBezTo>
                  <a:cubicBezTo>
                    <a:pt x="2047" y="2101"/>
                    <a:pt x="2047" y="2101"/>
                    <a:pt x="2047" y="2101"/>
                  </a:cubicBezTo>
                  <a:cubicBezTo>
                    <a:pt x="2047" y="2093"/>
                    <a:pt x="2047" y="2093"/>
                    <a:pt x="2047" y="2093"/>
                  </a:cubicBezTo>
                  <a:cubicBezTo>
                    <a:pt x="1888" y="2626"/>
                    <a:pt x="1888" y="2626"/>
                    <a:pt x="1888" y="2626"/>
                  </a:cubicBezTo>
                  <a:cubicBezTo>
                    <a:pt x="1484" y="2626"/>
                    <a:pt x="1484" y="2626"/>
                    <a:pt x="1484" y="2626"/>
                  </a:cubicBezTo>
                  <a:cubicBezTo>
                    <a:pt x="1642" y="2101"/>
                    <a:pt x="1642" y="2101"/>
                    <a:pt x="1642" y="2101"/>
                  </a:cubicBezTo>
                  <a:cubicBezTo>
                    <a:pt x="1148" y="2101"/>
                    <a:pt x="1148" y="2101"/>
                    <a:pt x="1148" y="2101"/>
                  </a:cubicBezTo>
                  <a:cubicBezTo>
                    <a:pt x="1394" y="2626"/>
                    <a:pt x="1394" y="2626"/>
                    <a:pt x="1394" y="2626"/>
                  </a:cubicBezTo>
                  <a:cubicBezTo>
                    <a:pt x="927" y="2626"/>
                    <a:pt x="927" y="2626"/>
                    <a:pt x="927" y="2626"/>
                  </a:cubicBezTo>
                  <a:cubicBezTo>
                    <a:pt x="715" y="2101"/>
                    <a:pt x="715" y="2101"/>
                    <a:pt x="715" y="2101"/>
                  </a:cubicBezTo>
                  <a:cubicBezTo>
                    <a:pt x="588" y="2101"/>
                    <a:pt x="588" y="2101"/>
                    <a:pt x="588" y="2101"/>
                  </a:cubicBezTo>
                  <a:cubicBezTo>
                    <a:pt x="509" y="2359"/>
                    <a:pt x="447" y="2567"/>
                    <a:pt x="442" y="2583"/>
                  </a:cubicBezTo>
                  <a:cubicBezTo>
                    <a:pt x="434" y="2626"/>
                    <a:pt x="434" y="2626"/>
                    <a:pt x="434" y="2626"/>
                  </a:cubicBezTo>
                  <a:cubicBezTo>
                    <a:pt x="0" y="2626"/>
                    <a:pt x="0" y="2626"/>
                    <a:pt x="0" y="2626"/>
                  </a:cubicBezTo>
                  <a:cubicBezTo>
                    <a:pt x="397" y="1303"/>
                    <a:pt x="397" y="1303"/>
                    <a:pt x="397" y="1303"/>
                  </a:cubicBezTo>
                  <a:cubicBezTo>
                    <a:pt x="397" y="0"/>
                    <a:pt x="397" y="0"/>
                    <a:pt x="397" y="0"/>
                  </a:cubicBezTo>
                  <a:cubicBezTo>
                    <a:pt x="1888" y="0"/>
                    <a:pt x="1888" y="0"/>
                    <a:pt x="1888" y="0"/>
                  </a:cubicBezTo>
                  <a:cubicBezTo>
                    <a:pt x="1888" y="1287"/>
                    <a:pt x="1888" y="1287"/>
                    <a:pt x="1888" y="1287"/>
                  </a:cubicBezTo>
                  <a:cubicBezTo>
                    <a:pt x="1944" y="1098"/>
                    <a:pt x="1944" y="1098"/>
                    <a:pt x="1944" y="1098"/>
                  </a:cubicBezTo>
                  <a:cubicBezTo>
                    <a:pt x="2047" y="1098"/>
                    <a:pt x="2047" y="1098"/>
                    <a:pt x="2047" y="1098"/>
                  </a:cubicBezTo>
                  <a:cubicBezTo>
                    <a:pt x="2047" y="0"/>
                    <a:pt x="2047" y="0"/>
                    <a:pt x="2047" y="0"/>
                  </a:cubicBezTo>
                  <a:cubicBezTo>
                    <a:pt x="3534" y="0"/>
                    <a:pt x="3534" y="0"/>
                    <a:pt x="3534" y="0"/>
                  </a:cubicBezTo>
                  <a:cubicBezTo>
                    <a:pt x="3534" y="1098"/>
                    <a:pt x="3534" y="1098"/>
                    <a:pt x="3534" y="1098"/>
                  </a:cubicBezTo>
                  <a:cubicBezTo>
                    <a:pt x="3694" y="1098"/>
                    <a:pt x="3694" y="1098"/>
                    <a:pt x="3694" y="1098"/>
                  </a:cubicBezTo>
                  <a:cubicBezTo>
                    <a:pt x="3694" y="0"/>
                    <a:pt x="3694" y="0"/>
                    <a:pt x="3694" y="0"/>
                  </a:cubicBezTo>
                  <a:cubicBezTo>
                    <a:pt x="5180" y="0"/>
                    <a:pt x="5180" y="0"/>
                    <a:pt x="5180" y="0"/>
                  </a:cubicBezTo>
                  <a:cubicBezTo>
                    <a:pt x="5180" y="1388"/>
                    <a:pt x="5180" y="1388"/>
                    <a:pt x="5180" y="1388"/>
                  </a:cubicBezTo>
                  <a:cubicBezTo>
                    <a:pt x="5231" y="1319"/>
                    <a:pt x="5285" y="1264"/>
                    <a:pt x="5340" y="1222"/>
                  </a:cubicBezTo>
                  <a:cubicBezTo>
                    <a:pt x="5340" y="0"/>
                    <a:pt x="5340" y="0"/>
                    <a:pt x="5340" y="0"/>
                  </a:cubicBezTo>
                  <a:cubicBezTo>
                    <a:pt x="6827" y="0"/>
                    <a:pt x="6827" y="0"/>
                    <a:pt x="6827" y="0"/>
                  </a:cubicBezTo>
                  <a:cubicBezTo>
                    <a:pt x="6827" y="2101"/>
                    <a:pt x="6827" y="2101"/>
                    <a:pt x="6827" y="2101"/>
                  </a:cubicBezTo>
                  <a:cubicBezTo>
                    <a:pt x="6266" y="2101"/>
                    <a:pt x="6266" y="2101"/>
                    <a:pt x="6266" y="2101"/>
                  </a:cubicBezTo>
                  <a:lnTo>
                    <a:pt x="6130" y="2584"/>
                  </a:lnTo>
                  <a:close/>
                  <a:moveTo>
                    <a:pt x="5342" y="2101"/>
                  </a:moveTo>
                  <a:cubicBezTo>
                    <a:pt x="5344" y="2169"/>
                    <a:pt x="5356" y="2226"/>
                    <a:pt x="5386" y="2264"/>
                  </a:cubicBezTo>
                  <a:cubicBezTo>
                    <a:pt x="5429" y="2321"/>
                    <a:pt x="5503" y="2349"/>
                    <a:pt x="5610" y="2349"/>
                  </a:cubicBezTo>
                  <a:cubicBezTo>
                    <a:pt x="5728" y="2349"/>
                    <a:pt x="5773" y="2336"/>
                    <a:pt x="5788" y="2330"/>
                  </a:cubicBezTo>
                  <a:cubicBezTo>
                    <a:pt x="5861" y="2101"/>
                    <a:pt x="5861" y="2101"/>
                    <a:pt x="5861" y="2101"/>
                  </a:cubicBezTo>
                  <a:lnTo>
                    <a:pt x="5342" y="2101"/>
                  </a:lnTo>
                  <a:close/>
                </a:path>
              </a:pathLst>
            </a:custGeom>
            <a:solidFill>
              <a:srgbClr val="00338D"/>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sp>
          <p:nvSpPr>
            <p:cNvPr id="21" name="Freeform 7"/>
            <p:cNvSpPr>
              <a:spLocks noEditPoints="1"/>
            </p:cNvSpPr>
            <p:nvPr userDrawn="1"/>
          </p:nvSpPr>
          <p:spPr bwMode="gray">
            <a:xfrm>
              <a:off x="294581" y="330200"/>
              <a:ext cx="650875" cy="152400"/>
            </a:xfrm>
            <a:custGeom>
              <a:avLst/>
              <a:gdLst/>
              <a:ahLst/>
              <a:cxnLst>
                <a:cxn ang="0">
                  <a:pos x="2581" y="459"/>
                </a:cxn>
                <a:cxn ang="0">
                  <a:pos x="2254" y="682"/>
                </a:cxn>
                <a:cxn ang="0">
                  <a:pos x="2000" y="681"/>
                </a:cxn>
                <a:cxn ang="0">
                  <a:pos x="2130" y="234"/>
                </a:cxn>
                <a:cxn ang="0">
                  <a:pos x="2581" y="459"/>
                </a:cxn>
                <a:cxn ang="0">
                  <a:pos x="749" y="30"/>
                </a:cxn>
                <a:cxn ang="0">
                  <a:pos x="427" y="30"/>
                </a:cxn>
                <a:cxn ang="0">
                  <a:pos x="0" y="1452"/>
                </a:cxn>
                <a:cxn ang="0">
                  <a:pos x="319" y="1452"/>
                </a:cxn>
                <a:cxn ang="0">
                  <a:pos x="749" y="30"/>
                </a:cxn>
                <a:cxn ang="0">
                  <a:pos x="1585" y="30"/>
                </a:cxn>
                <a:cxn ang="0">
                  <a:pos x="1194" y="30"/>
                </a:cxn>
                <a:cxn ang="0">
                  <a:pos x="571" y="658"/>
                </a:cxn>
                <a:cxn ang="0">
                  <a:pos x="571" y="657"/>
                </a:cxn>
                <a:cxn ang="0">
                  <a:pos x="571" y="658"/>
                </a:cxn>
                <a:cxn ang="0">
                  <a:pos x="571" y="658"/>
                </a:cxn>
                <a:cxn ang="0">
                  <a:pos x="571" y="658"/>
                </a:cxn>
                <a:cxn ang="0">
                  <a:pos x="571" y="658"/>
                </a:cxn>
                <a:cxn ang="0">
                  <a:pos x="571" y="658"/>
                </a:cxn>
                <a:cxn ang="0">
                  <a:pos x="892" y="1452"/>
                </a:cxn>
                <a:cxn ang="0">
                  <a:pos x="1239" y="1452"/>
                </a:cxn>
                <a:cxn ang="0">
                  <a:pos x="881" y="688"/>
                </a:cxn>
                <a:cxn ang="0">
                  <a:pos x="1585" y="30"/>
                </a:cxn>
                <a:cxn ang="0">
                  <a:pos x="2875" y="459"/>
                </a:cxn>
                <a:cxn ang="0">
                  <a:pos x="2275" y="30"/>
                </a:cxn>
                <a:cxn ang="0">
                  <a:pos x="1913" y="30"/>
                </a:cxn>
                <a:cxn ang="0">
                  <a:pos x="1484" y="1452"/>
                </a:cxn>
                <a:cxn ang="0">
                  <a:pos x="1777" y="1452"/>
                </a:cxn>
                <a:cxn ang="0">
                  <a:pos x="1945" y="890"/>
                </a:cxn>
                <a:cxn ang="0">
                  <a:pos x="2179" y="890"/>
                </a:cxn>
                <a:cxn ang="0">
                  <a:pos x="2875" y="459"/>
                </a:cxn>
                <a:cxn ang="0">
                  <a:pos x="4866" y="30"/>
                </a:cxn>
                <a:cxn ang="0">
                  <a:pos x="4400" y="30"/>
                </a:cxn>
                <a:cxn ang="0">
                  <a:pos x="3694" y="1259"/>
                </a:cxn>
                <a:cxn ang="0">
                  <a:pos x="3678" y="30"/>
                </a:cxn>
                <a:cxn ang="0">
                  <a:pos x="3216" y="30"/>
                </a:cxn>
                <a:cxn ang="0">
                  <a:pos x="2781" y="1451"/>
                </a:cxn>
                <a:cxn ang="0">
                  <a:pos x="3048" y="1451"/>
                </a:cxn>
                <a:cxn ang="0">
                  <a:pos x="3408" y="234"/>
                </a:cxn>
                <a:cxn ang="0">
                  <a:pos x="3482" y="1451"/>
                </a:cxn>
                <a:cxn ang="0">
                  <a:pos x="3758" y="1451"/>
                </a:cxn>
                <a:cxn ang="0">
                  <a:pos x="4544" y="234"/>
                </a:cxn>
                <a:cxn ang="0">
                  <a:pos x="4183" y="1451"/>
                </a:cxn>
                <a:cxn ang="0">
                  <a:pos x="4512" y="1451"/>
                </a:cxn>
                <a:cxn ang="0">
                  <a:pos x="4866" y="30"/>
                </a:cxn>
                <a:cxn ang="0">
                  <a:pos x="5792" y="0"/>
                </a:cxn>
                <a:cxn ang="0">
                  <a:pos x="4947" y="735"/>
                </a:cxn>
                <a:cxn ang="0">
                  <a:pos x="5478" y="1487"/>
                </a:cxn>
                <a:cxn ang="0">
                  <a:pos x="6015" y="1424"/>
                </a:cxn>
                <a:cxn ang="0">
                  <a:pos x="6217" y="706"/>
                </a:cxn>
                <a:cxn ang="0">
                  <a:pos x="5614" y="706"/>
                </a:cxn>
                <a:cxn ang="0">
                  <a:pos x="5547" y="920"/>
                </a:cxn>
                <a:cxn ang="0">
                  <a:pos x="5865" y="920"/>
                </a:cxn>
                <a:cxn ang="0">
                  <a:pos x="5766" y="1232"/>
                </a:cxn>
                <a:cxn ang="0">
                  <a:pos x="5540" y="1282"/>
                </a:cxn>
                <a:cxn ang="0">
                  <a:pos x="5254" y="727"/>
                </a:cxn>
                <a:cxn ang="0">
                  <a:pos x="5764" y="205"/>
                </a:cxn>
                <a:cxn ang="0">
                  <a:pos x="6001" y="451"/>
                </a:cxn>
                <a:cxn ang="0">
                  <a:pos x="5991" y="487"/>
                </a:cxn>
                <a:cxn ang="0">
                  <a:pos x="6284" y="487"/>
                </a:cxn>
                <a:cxn ang="0">
                  <a:pos x="5792" y="0"/>
                </a:cxn>
              </a:cxnLst>
              <a:rect l="0" t="0" r="r" b="b"/>
              <a:pathLst>
                <a:path w="6358" h="1487">
                  <a:moveTo>
                    <a:pt x="2581" y="459"/>
                  </a:moveTo>
                  <a:cubicBezTo>
                    <a:pt x="2533" y="604"/>
                    <a:pt x="2468" y="678"/>
                    <a:pt x="2254" y="682"/>
                  </a:cubicBezTo>
                  <a:cubicBezTo>
                    <a:pt x="2183" y="683"/>
                    <a:pt x="2106" y="681"/>
                    <a:pt x="2000" y="681"/>
                  </a:cubicBezTo>
                  <a:cubicBezTo>
                    <a:pt x="2130" y="234"/>
                    <a:pt x="2130" y="234"/>
                    <a:pt x="2130" y="234"/>
                  </a:cubicBezTo>
                  <a:cubicBezTo>
                    <a:pt x="2451" y="234"/>
                    <a:pt x="2665" y="208"/>
                    <a:pt x="2581" y="459"/>
                  </a:cubicBezTo>
                  <a:moveTo>
                    <a:pt x="749" y="30"/>
                  </a:moveTo>
                  <a:cubicBezTo>
                    <a:pt x="427" y="30"/>
                    <a:pt x="427" y="30"/>
                    <a:pt x="427" y="30"/>
                  </a:cubicBezTo>
                  <a:cubicBezTo>
                    <a:pt x="0" y="1452"/>
                    <a:pt x="0" y="1452"/>
                    <a:pt x="0" y="1452"/>
                  </a:cubicBezTo>
                  <a:cubicBezTo>
                    <a:pt x="319" y="1452"/>
                    <a:pt x="319" y="1452"/>
                    <a:pt x="319" y="1452"/>
                  </a:cubicBezTo>
                  <a:cubicBezTo>
                    <a:pt x="325" y="1422"/>
                    <a:pt x="749" y="30"/>
                    <a:pt x="749" y="30"/>
                  </a:cubicBezTo>
                  <a:moveTo>
                    <a:pt x="1585" y="30"/>
                  </a:moveTo>
                  <a:cubicBezTo>
                    <a:pt x="1194" y="30"/>
                    <a:pt x="1194" y="30"/>
                    <a:pt x="1194" y="30"/>
                  </a:cubicBezTo>
                  <a:cubicBezTo>
                    <a:pt x="571" y="658"/>
                    <a:pt x="571" y="658"/>
                    <a:pt x="571" y="658"/>
                  </a:cubicBezTo>
                  <a:cubicBezTo>
                    <a:pt x="571" y="657"/>
                    <a:pt x="571" y="657"/>
                    <a:pt x="571" y="657"/>
                  </a:cubicBezTo>
                  <a:cubicBezTo>
                    <a:pt x="571" y="658"/>
                    <a:pt x="571" y="658"/>
                    <a:pt x="571" y="658"/>
                  </a:cubicBezTo>
                  <a:cubicBezTo>
                    <a:pt x="571" y="658"/>
                    <a:pt x="571" y="658"/>
                    <a:pt x="571" y="658"/>
                  </a:cubicBezTo>
                  <a:cubicBezTo>
                    <a:pt x="571" y="658"/>
                    <a:pt x="571" y="658"/>
                    <a:pt x="571" y="658"/>
                  </a:cubicBezTo>
                  <a:cubicBezTo>
                    <a:pt x="571" y="658"/>
                    <a:pt x="571" y="658"/>
                    <a:pt x="571" y="658"/>
                  </a:cubicBezTo>
                  <a:cubicBezTo>
                    <a:pt x="571" y="658"/>
                    <a:pt x="571" y="658"/>
                    <a:pt x="571" y="658"/>
                  </a:cubicBezTo>
                  <a:cubicBezTo>
                    <a:pt x="892" y="1452"/>
                    <a:pt x="892" y="1452"/>
                    <a:pt x="892" y="1452"/>
                  </a:cubicBezTo>
                  <a:cubicBezTo>
                    <a:pt x="1239" y="1452"/>
                    <a:pt x="1239" y="1452"/>
                    <a:pt x="1239" y="1452"/>
                  </a:cubicBezTo>
                  <a:cubicBezTo>
                    <a:pt x="881" y="688"/>
                    <a:pt x="881" y="688"/>
                    <a:pt x="881" y="688"/>
                  </a:cubicBezTo>
                  <a:lnTo>
                    <a:pt x="1585" y="30"/>
                  </a:lnTo>
                  <a:close/>
                  <a:moveTo>
                    <a:pt x="2875" y="459"/>
                  </a:moveTo>
                  <a:cubicBezTo>
                    <a:pt x="2956" y="21"/>
                    <a:pt x="2603" y="26"/>
                    <a:pt x="2275" y="30"/>
                  </a:cubicBezTo>
                  <a:cubicBezTo>
                    <a:pt x="1913" y="30"/>
                    <a:pt x="1913" y="30"/>
                    <a:pt x="1913" y="30"/>
                  </a:cubicBezTo>
                  <a:cubicBezTo>
                    <a:pt x="1484" y="1452"/>
                    <a:pt x="1484" y="1452"/>
                    <a:pt x="1484" y="1452"/>
                  </a:cubicBezTo>
                  <a:cubicBezTo>
                    <a:pt x="1777" y="1452"/>
                    <a:pt x="1777" y="1452"/>
                    <a:pt x="1777" y="1452"/>
                  </a:cubicBezTo>
                  <a:cubicBezTo>
                    <a:pt x="1945" y="890"/>
                    <a:pt x="1945" y="890"/>
                    <a:pt x="1945" y="890"/>
                  </a:cubicBezTo>
                  <a:cubicBezTo>
                    <a:pt x="2179" y="890"/>
                    <a:pt x="2179" y="890"/>
                    <a:pt x="2179" y="890"/>
                  </a:cubicBezTo>
                  <a:cubicBezTo>
                    <a:pt x="2633" y="890"/>
                    <a:pt x="2833" y="689"/>
                    <a:pt x="2875" y="459"/>
                  </a:cubicBezTo>
                  <a:moveTo>
                    <a:pt x="4866" y="30"/>
                  </a:moveTo>
                  <a:cubicBezTo>
                    <a:pt x="4400" y="30"/>
                    <a:pt x="4400" y="30"/>
                    <a:pt x="4400" y="30"/>
                  </a:cubicBezTo>
                  <a:cubicBezTo>
                    <a:pt x="3832" y="817"/>
                    <a:pt x="3694" y="1259"/>
                    <a:pt x="3694" y="1259"/>
                  </a:cubicBezTo>
                  <a:cubicBezTo>
                    <a:pt x="3749" y="759"/>
                    <a:pt x="3678" y="30"/>
                    <a:pt x="3678" y="30"/>
                  </a:cubicBezTo>
                  <a:cubicBezTo>
                    <a:pt x="3216" y="30"/>
                    <a:pt x="3216" y="30"/>
                    <a:pt x="3216" y="30"/>
                  </a:cubicBezTo>
                  <a:cubicBezTo>
                    <a:pt x="2781" y="1451"/>
                    <a:pt x="2781" y="1451"/>
                    <a:pt x="2781" y="1451"/>
                  </a:cubicBezTo>
                  <a:cubicBezTo>
                    <a:pt x="3048" y="1451"/>
                    <a:pt x="3048" y="1451"/>
                    <a:pt x="3048" y="1451"/>
                  </a:cubicBezTo>
                  <a:cubicBezTo>
                    <a:pt x="3408" y="234"/>
                    <a:pt x="3408" y="234"/>
                    <a:pt x="3408" y="234"/>
                  </a:cubicBezTo>
                  <a:cubicBezTo>
                    <a:pt x="3482" y="1451"/>
                    <a:pt x="3482" y="1451"/>
                    <a:pt x="3482" y="1451"/>
                  </a:cubicBezTo>
                  <a:cubicBezTo>
                    <a:pt x="3758" y="1451"/>
                    <a:pt x="3758" y="1451"/>
                    <a:pt x="3758" y="1451"/>
                  </a:cubicBezTo>
                  <a:cubicBezTo>
                    <a:pt x="4544" y="234"/>
                    <a:pt x="4544" y="234"/>
                    <a:pt x="4544" y="234"/>
                  </a:cubicBezTo>
                  <a:cubicBezTo>
                    <a:pt x="4183" y="1451"/>
                    <a:pt x="4183" y="1451"/>
                    <a:pt x="4183" y="1451"/>
                  </a:cubicBezTo>
                  <a:cubicBezTo>
                    <a:pt x="4512" y="1451"/>
                    <a:pt x="4512" y="1451"/>
                    <a:pt x="4512" y="1451"/>
                  </a:cubicBezTo>
                  <a:lnTo>
                    <a:pt x="4866" y="30"/>
                  </a:lnTo>
                  <a:close/>
                  <a:moveTo>
                    <a:pt x="5792" y="0"/>
                  </a:moveTo>
                  <a:cubicBezTo>
                    <a:pt x="5506" y="0"/>
                    <a:pt x="5151" y="64"/>
                    <a:pt x="4947" y="735"/>
                  </a:cubicBezTo>
                  <a:cubicBezTo>
                    <a:pt x="4777" y="1296"/>
                    <a:pt x="5191" y="1487"/>
                    <a:pt x="5478" y="1487"/>
                  </a:cubicBezTo>
                  <a:cubicBezTo>
                    <a:pt x="5667" y="1487"/>
                    <a:pt x="5935" y="1455"/>
                    <a:pt x="6015" y="1424"/>
                  </a:cubicBezTo>
                  <a:cubicBezTo>
                    <a:pt x="6217" y="706"/>
                    <a:pt x="6217" y="706"/>
                    <a:pt x="6217" y="706"/>
                  </a:cubicBezTo>
                  <a:cubicBezTo>
                    <a:pt x="5614" y="706"/>
                    <a:pt x="5614" y="706"/>
                    <a:pt x="5614" y="706"/>
                  </a:cubicBezTo>
                  <a:cubicBezTo>
                    <a:pt x="5547" y="920"/>
                    <a:pt x="5547" y="920"/>
                    <a:pt x="5547" y="920"/>
                  </a:cubicBezTo>
                  <a:cubicBezTo>
                    <a:pt x="5865" y="920"/>
                    <a:pt x="5865" y="920"/>
                    <a:pt x="5865" y="920"/>
                  </a:cubicBezTo>
                  <a:cubicBezTo>
                    <a:pt x="5766" y="1232"/>
                    <a:pt x="5766" y="1232"/>
                    <a:pt x="5766" y="1232"/>
                  </a:cubicBezTo>
                  <a:cubicBezTo>
                    <a:pt x="5766" y="1232"/>
                    <a:pt x="5779" y="1281"/>
                    <a:pt x="5540" y="1282"/>
                  </a:cubicBezTo>
                  <a:cubicBezTo>
                    <a:pt x="5238" y="1283"/>
                    <a:pt x="5155" y="1072"/>
                    <a:pt x="5254" y="727"/>
                  </a:cubicBezTo>
                  <a:cubicBezTo>
                    <a:pt x="5346" y="407"/>
                    <a:pt x="5493" y="192"/>
                    <a:pt x="5764" y="205"/>
                  </a:cubicBezTo>
                  <a:cubicBezTo>
                    <a:pt x="5947" y="214"/>
                    <a:pt x="6052" y="282"/>
                    <a:pt x="6001" y="451"/>
                  </a:cubicBezTo>
                  <a:cubicBezTo>
                    <a:pt x="5998" y="463"/>
                    <a:pt x="5996" y="477"/>
                    <a:pt x="5991" y="487"/>
                  </a:cubicBezTo>
                  <a:cubicBezTo>
                    <a:pt x="6284" y="487"/>
                    <a:pt x="6284" y="487"/>
                    <a:pt x="6284" y="487"/>
                  </a:cubicBezTo>
                  <a:cubicBezTo>
                    <a:pt x="6358" y="270"/>
                    <a:pt x="6210" y="0"/>
                    <a:pt x="5792" y="0"/>
                  </a:cubicBezTo>
                </a:path>
              </a:pathLst>
            </a:custGeom>
            <a:solidFill>
              <a:schemeClr val="bg1"/>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sp>
          <p:nvSpPr>
            <p:cNvPr id="22" name="Freeform 8"/>
            <p:cNvSpPr>
              <a:spLocks noEditPoints="1"/>
            </p:cNvSpPr>
            <p:nvPr userDrawn="1"/>
          </p:nvSpPr>
          <p:spPr bwMode="gray">
            <a:xfrm>
              <a:off x="175518" y="0"/>
              <a:ext cx="963613" cy="695325"/>
            </a:xfrm>
            <a:custGeom>
              <a:avLst/>
              <a:gdLst/>
              <a:ahLst/>
              <a:cxnLst>
                <a:cxn ang="0">
                  <a:pos x="607" y="136"/>
                </a:cxn>
                <a:cxn ang="0">
                  <a:pos x="511" y="136"/>
                </a:cxn>
                <a:cxn ang="0">
                  <a:pos x="511" y="0"/>
                </a:cxn>
                <a:cxn ang="0">
                  <a:pos x="607" y="0"/>
                </a:cxn>
                <a:cxn ang="0">
                  <a:pos x="607" y="136"/>
                </a:cxn>
                <a:cxn ang="0">
                  <a:pos x="607" y="302"/>
                </a:cxn>
                <a:cxn ang="0">
                  <a:pos x="511" y="302"/>
                </a:cxn>
                <a:cxn ang="0">
                  <a:pos x="511" y="438"/>
                </a:cxn>
                <a:cxn ang="0">
                  <a:pos x="607" y="438"/>
                </a:cxn>
                <a:cxn ang="0">
                  <a:pos x="607" y="302"/>
                </a:cxn>
                <a:cxn ang="0">
                  <a:pos x="96" y="0"/>
                </a:cxn>
                <a:cxn ang="0">
                  <a:pos x="0" y="0"/>
                </a:cxn>
                <a:cxn ang="0">
                  <a:pos x="0" y="136"/>
                </a:cxn>
                <a:cxn ang="0">
                  <a:pos x="96" y="136"/>
                </a:cxn>
                <a:cxn ang="0">
                  <a:pos x="96" y="0"/>
                </a:cxn>
                <a:cxn ang="0">
                  <a:pos x="96" y="302"/>
                </a:cxn>
                <a:cxn ang="0">
                  <a:pos x="0" y="302"/>
                </a:cxn>
                <a:cxn ang="0">
                  <a:pos x="0" y="438"/>
                </a:cxn>
                <a:cxn ang="0">
                  <a:pos x="96" y="438"/>
                </a:cxn>
                <a:cxn ang="0">
                  <a:pos x="96" y="302"/>
                </a:cxn>
              </a:cxnLst>
              <a:rect l="0" t="0" r="r" b="b"/>
              <a:pathLst>
                <a:path w="607" h="438">
                  <a:moveTo>
                    <a:pt x="607" y="136"/>
                  </a:moveTo>
                  <a:lnTo>
                    <a:pt x="511" y="136"/>
                  </a:lnTo>
                  <a:lnTo>
                    <a:pt x="511" y="0"/>
                  </a:lnTo>
                  <a:lnTo>
                    <a:pt x="607" y="0"/>
                  </a:lnTo>
                  <a:lnTo>
                    <a:pt x="607" y="136"/>
                  </a:lnTo>
                  <a:close/>
                  <a:moveTo>
                    <a:pt x="607" y="302"/>
                  </a:moveTo>
                  <a:lnTo>
                    <a:pt x="511" y="302"/>
                  </a:lnTo>
                  <a:lnTo>
                    <a:pt x="511" y="438"/>
                  </a:lnTo>
                  <a:lnTo>
                    <a:pt x="607" y="438"/>
                  </a:lnTo>
                  <a:lnTo>
                    <a:pt x="607" y="302"/>
                  </a:lnTo>
                  <a:close/>
                  <a:moveTo>
                    <a:pt x="96" y="0"/>
                  </a:moveTo>
                  <a:lnTo>
                    <a:pt x="0" y="0"/>
                  </a:lnTo>
                  <a:lnTo>
                    <a:pt x="0" y="136"/>
                  </a:lnTo>
                  <a:lnTo>
                    <a:pt x="96" y="136"/>
                  </a:lnTo>
                  <a:lnTo>
                    <a:pt x="96" y="0"/>
                  </a:lnTo>
                  <a:close/>
                  <a:moveTo>
                    <a:pt x="96" y="302"/>
                  </a:moveTo>
                  <a:lnTo>
                    <a:pt x="0" y="302"/>
                  </a:lnTo>
                  <a:lnTo>
                    <a:pt x="0" y="438"/>
                  </a:lnTo>
                  <a:lnTo>
                    <a:pt x="96" y="438"/>
                  </a:lnTo>
                  <a:lnTo>
                    <a:pt x="96" y="302"/>
                  </a:lnTo>
                  <a:close/>
                </a:path>
              </a:pathLst>
            </a:custGeom>
            <a:no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grpSp>
      <p:sp>
        <p:nvSpPr>
          <p:cNvPr id="10" name="Espace réservé du texte 8"/>
          <p:cNvSpPr>
            <a:spLocks noGrp="1"/>
          </p:cNvSpPr>
          <p:nvPr>
            <p:ph type="body" sz="quarter" idx="15"/>
          </p:nvPr>
        </p:nvSpPr>
        <p:spPr>
          <a:xfrm>
            <a:off x="4776255" y="1301520"/>
            <a:ext cx="4068000" cy="4916400"/>
          </a:xfrm>
        </p:spPr>
        <p:txBody>
          <a:bodyPr/>
          <a:lstStyle/>
          <a:p>
            <a:pPr lvl="0"/>
            <a:r>
              <a:rPr lang="en-US" sz="800" b="0" dirty="0">
                <a:solidFill>
                  <a:srgbClr val="00338D"/>
                </a:solidFill>
                <a:latin typeface="Univers for KPMG" panose="020B0603020202020204" pitchFamily="34" charset="0"/>
              </a:rPr>
              <a:t>The procedures we performed do not constitute an audit, examination or review in accordance with standards established by the Auditing and Assurance Standards Board (“AASB”) in Canada, and we have not otherwise verified the information we obtained or presented in this report. We express no opinion or any other form of assurance on Target’s internal control over financial reporting or on the information presented in our report, and make no representations concerning its accuracy or completeness.</a:t>
            </a:r>
          </a:p>
          <a:p>
            <a:pPr lvl="0"/>
            <a:r>
              <a:rPr lang="en-US" sz="800" b="0" dirty="0">
                <a:solidFill>
                  <a:srgbClr val="00338D"/>
                </a:solidFill>
                <a:latin typeface="Univers for KPMG" panose="020B0603020202020204" pitchFamily="34" charset="0"/>
              </a:rPr>
              <a:t>We have not compiled, examined, or applied other procedures in accordance with the Assurance and Related Services Guidelines issued by the AASB to prospective information contained in this document and, accordingly, express no opinion or any other form of assurance or representations concerning the accuracy, completeness or presentation format of such prospective information. There will usually be differences between projected and actual results, because events and circumstances frequently do not occur as expected, and those differences may be material.</a:t>
            </a:r>
          </a:p>
          <a:p>
            <a:pPr lvl="0"/>
            <a:r>
              <a:rPr lang="en-US" sz="800" b="0" dirty="0" smtClean="0">
                <a:solidFill>
                  <a:srgbClr val="00338D"/>
                </a:solidFill>
                <a:latin typeface="Univers for KPMG" panose="020B0603020202020204" pitchFamily="34" charset="0"/>
              </a:rPr>
              <a:t>The data </a:t>
            </a:r>
            <a:r>
              <a:rPr lang="en-US" sz="800" b="0" dirty="0">
                <a:solidFill>
                  <a:srgbClr val="00338D"/>
                </a:solidFill>
                <a:latin typeface="Univers for KPMG" panose="020B0603020202020204" pitchFamily="34" charset="0"/>
              </a:rPr>
              <a:t>included in this report was obtained from </a:t>
            </a:r>
            <a:r>
              <a:rPr lang="en-US" sz="800" b="0" dirty="0" smtClean="0">
                <a:solidFill>
                  <a:srgbClr val="00338D"/>
                </a:solidFill>
                <a:latin typeface="Univers for KPMG" panose="020B0603020202020204" pitchFamily="34" charset="0"/>
              </a:rPr>
              <a:t>you </a:t>
            </a:r>
            <a:r>
              <a:rPr lang="en-US" sz="800" b="0" dirty="0">
                <a:solidFill>
                  <a:srgbClr val="00338D"/>
                </a:solidFill>
                <a:latin typeface="Univers for KPMG" panose="020B0603020202020204" pitchFamily="34" charset="0"/>
              </a:rPr>
              <a:t>from </a:t>
            </a:r>
            <a:r>
              <a:rPr lang="en-US" sz="800" b="0" dirty="0" smtClean="0">
                <a:solidFill>
                  <a:srgbClr val="00338D"/>
                </a:solidFill>
                <a:latin typeface="Univers for KPMG" panose="020B0603020202020204" pitchFamily="34" charset="0"/>
              </a:rPr>
              <a:t>December 18, 2017 to March 27, 2018, </a:t>
            </a:r>
            <a:r>
              <a:rPr lang="en-US" sz="800" b="0" dirty="0">
                <a:solidFill>
                  <a:srgbClr val="00338D"/>
                </a:solidFill>
                <a:latin typeface="Univers for KPMG" panose="020B0603020202020204" pitchFamily="34" charset="0"/>
              </a:rPr>
              <a:t>inclusive. Since many aspects of the transaction with Target have either not been finalized or are not yet documented, changes may occur that materially affect the financial and other information we received and reported to you. We have no obligation to update our report or to revise the information contained herein to reflect events and transactions occurring subsequent to </a:t>
            </a:r>
            <a:r>
              <a:rPr lang="en-US" sz="800" b="0" dirty="0" smtClean="0">
                <a:solidFill>
                  <a:srgbClr val="00338D"/>
                </a:solidFill>
                <a:latin typeface="Univers for KPMG" panose="020B0603020202020204" pitchFamily="34" charset="0"/>
              </a:rPr>
              <a:t>March 27, 2018. </a:t>
            </a:r>
            <a:endParaRPr lang="en-US" sz="800" b="0" dirty="0">
              <a:solidFill>
                <a:srgbClr val="00338D"/>
              </a:solidFill>
              <a:latin typeface="Univers for KPMG" panose="020B0603020202020204" pitchFamily="34" charset="0"/>
            </a:endParaRPr>
          </a:p>
          <a:p>
            <a:pPr lvl="0"/>
            <a:r>
              <a:rPr lang="en-US" sz="800" b="0" dirty="0" smtClean="0">
                <a:solidFill>
                  <a:srgbClr val="00338D"/>
                </a:solidFill>
                <a:latin typeface="Univers for KPMG" panose="020B0603020202020204" pitchFamily="34" charset="0"/>
              </a:rPr>
              <a:t>Because </a:t>
            </a:r>
            <a:r>
              <a:rPr lang="en-US" sz="800" b="0" dirty="0">
                <a:solidFill>
                  <a:srgbClr val="00338D"/>
                </a:solidFill>
                <a:latin typeface="Univers for KPMG" panose="020B0603020202020204" pitchFamily="34" charset="0"/>
              </a:rPr>
              <a:t>of its special nature, this report is not suited for any purpose other than to assist Client </a:t>
            </a:r>
            <a:r>
              <a:rPr lang="en-US" sz="800" b="0" dirty="0" smtClean="0">
                <a:solidFill>
                  <a:srgbClr val="00338D"/>
                </a:solidFill>
                <a:latin typeface="Univers for KPMG" panose="020B0603020202020204" pitchFamily="34" charset="0"/>
              </a:rPr>
              <a:t>in its evaluation of Target </a:t>
            </a:r>
            <a:r>
              <a:rPr lang="en-US" sz="800" b="0" dirty="0">
                <a:solidFill>
                  <a:srgbClr val="00338D"/>
                </a:solidFill>
                <a:latin typeface="Univers for KPMG" panose="020B0603020202020204" pitchFamily="34" charset="0"/>
              </a:rPr>
              <a:t>and, as such and as agreed in the engagement letter, is restricted for your internal use only. Accordingly, KPMG does not accept any liability or responsibility to any third party who </a:t>
            </a:r>
            <a:r>
              <a:rPr lang="en-US" sz="800" b="0" dirty="0" smtClean="0">
                <a:solidFill>
                  <a:srgbClr val="00338D"/>
                </a:solidFill>
                <a:latin typeface="Univers for KPMG" panose="020B0603020202020204" pitchFamily="34" charset="0"/>
              </a:rPr>
              <a:t>may </a:t>
            </a:r>
            <a:r>
              <a:rPr lang="en-US" sz="800" b="0" dirty="0">
                <a:solidFill>
                  <a:srgbClr val="00338D"/>
                </a:solidFill>
                <a:latin typeface="Univers for KPMG" panose="020B0603020202020204" pitchFamily="34" charset="0"/>
              </a:rPr>
              <a:t>use or place reliance on our report.</a:t>
            </a:r>
          </a:p>
          <a:p>
            <a:pPr lvl="0"/>
            <a:r>
              <a:rPr lang="en-US" sz="800" b="0" dirty="0">
                <a:solidFill>
                  <a:srgbClr val="00338D"/>
                </a:solidFill>
                <a:latin typeface="Univers for KPMG" panose="020B0603020202020204" pitchFamily="34" charset="0"/>
              </a:rPr>
              <a:t>Yours truly</a:t>
            </a:r>
            <a:r>
              <a:rPr lang="en-US" sz="800" b="0" dirty="0" smtClean="0">
                <a:solidFill>
                  <a:srgbClr val="00338D"/>
                </a:solidFill>
                <a:latin typeface="Univers for KPMG" panose="020B0603020202020204" pitchFamily="34" charset="0"/>
              </a:rPr>
              <a:t>,</a:t>
            </a:r>
          </a:p>
          <a:p>
            <a:pPr lvl="0"/>
            <a:endParaRPr lang="en-US" sz="800" b="0" dirty="0">
              <a:solidFill>
                <a:srgbClr val="00338D"/>
              </a:solidFill>
              <a:latin typeface="Univers for KPMG" panose="020B0603020202020204" pitchFamily="34" charset="0"/>
            </a:endParaRPr>
          </a:p>
          <a:p>
            <a:pPr lvl="0"/>
            <a:endParaRPr lang="en-US" sz="800" b="0" dirty="0" smtClean="0">
              <a:solidFill>
                <a:srgbClr val="00338D"/>
              </a:solidFill>
              <a:latin typeface="Univers for KPMG" panose="020B0603020202020204" pitchFamily="34" charset="0"/>
            </a:endParaRPr>
          </a:p>
          <a:p>
            <a:pPr lvl="1"/>
            <a:endParaRPr lang="en-CA" dirty="0">
              <a:solidFill>
                <a:srgbClr val="00338D"/>
              </a:solidFill>
              <a:latin typeface="Univers for KPMG" panose="020B0603020202020204" pitchFamily="34" charset="0"/>
            </a:endParaRPr>
          </a:p>
          <a:p>
            <a:pPr lvl="1"/>
            <a:endParaRPr lang="en-US" dirty="0">
              <a:latin typeface="Univers for KPMG" panose="020B0603020202020204" pitchFamily="34" charset="0"/>
            </a:endParaRPr>
          </a:p>
          <a:p>
            <a:pPr lvl="1"/>
            <a:endParaRPr lang="en-CA" dirty="0">
              <a:latin typeface="Univers for KPMG" panose="020B0603020202020204" pitchFamily="34" charset="0"/>
            </a:endParaRP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76255" y="4909751"/>
            <a:ext cx="1761734" cy="799072"/>
          </a:xfrm>
          <a:prstGeom prst="rect">
            <a:avLst/>
          </a:prstGeom>
        </p:spPr>
      </p:pic>
    </p:spTree>
    <p:extLst>
      <p:ext uri="{BB962C8B-B14F-4D97-AF65-F5344CB8AC3E}">
        <p14:creationId xmlns:p14="http://schemas.microsoft.com/office/powerpoint/2010/main" val="162972111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1800" y="396000"/>
            <a:ext cx="8280400" cy="470898"/>
          </a:xfrm>
        </p:spPr>
        <p:txBody>
          <a:bodyPr/>
          <a:lstStyle/>
          <a:p>
            <a:r>
              <a:rPr lang="en-CA" dirty="0" smtClean="0"/>
              <a:t>Contents</a:t>
            </a:r>
            <a:endParaRPr lang="en-CA" dirty="0"/>
          </a:p>
        </p:txBody>
      </p:sp>
      <p:graphicFrame>
        <p:nvGraphicFramePr>
          <p:cNvPr id="4" name="Group 2"/>
          <p:cNvGraphicFramePr>
            <a:graphicFrameLocks noGrp="1"/>
          </p:cNvGraphicFramePr>
          <p:nvPr>
            <p:extLst>
              <p:ext uri="{D42A27DB-BD31-4B8C-83A1-F6EECF244321}">
                <p14:modId xmlns:p14="http://schemas.microsoft.com/office/powerpoint/2010/main" val="4196630129"/>
              </p:ext>
            </p:extLst>
          </p:nvPr>
        </p:nvGraphicFramePr>
        <p:xfrm>
          <a:off x="992038" y="1193075"/>
          <a:ext cx="7203056" cy="3040200"/>
        </p:xfrm>
        <a:graphic>
          <a:graphicData uri="http://schemas.openxmlformats.org/drawingml/2006/table">
            <a:tbl>
              <a:tblPr/>
              <a:tblGrid>
                <a:gridCol w="5986661"/>
                <a:gridCol w="1216395"/>
              </a:tblGrid>
              <a:tr h="0">
                <a:tc>
                  <a:txBody>
                    <a:bodyPr/>
                    <a:lstStyle/>
                    <a:p>
                      <a:pPr marL="0" marR="0" lvl="0" indent="0" algn="l" defTabSz="762000" rtl="0" eaLnBrk="1" fontAlgn="base" latinLnBrk="0" hangingPunct="1">
                        <a:lnSpc>
                          <a:spcPct val="100000"/>
                        </a:lnSpc>
                        <a:spcBef>
                          <a:spcPct val="40000"/>
                        </a:spcBef>
                        <a:spcAft>
                          <a:spcPct val="0"/>
                        </a:spcAft>
                        <a:buClrTx/>
                        <a:buSzTx/>
                        <a:buFontTx/>
                        <a:buNone/>
                        <a:tabLst/>
                      </a:pPr>
                      <a:endParaRPr kumimoji="0" lang="en-CA" sz="1050" b="1" i="1" u="none" strike="noStrike" cap="none" normalizeH="0" baseline="0" noProof="0" dirty="0" smtClean="0">
                        <a:ln>
                          <a:noFill/>
                        </a:ln>
                        <a:solidFill>
                          <a:srgbClr val="00338D"/>
                        </a:solidFill>
                        <a:effectLst/>
                        <a:latin typeface="Univers for KPMG" panose="020B0603020202020204" pitchFamily="34" charset="0"/>
                        <a:cs typeface="Univers for KPMG"/>
                      </a:endParaRPr>
                    </a:p>
                  </a:txBody>
                  <a:tcPr marL="72000" marR="72000" marT="72000" marB="72000" anchor="ctr" horzOverflow="overflow">
                    <a:lnL cap="flat">
                      <a:noFill/>
                    </a:lnL>
                    <a:lnR>
                      <a:noFill/>
                    </a:lnR>
                    <a:lnT cap="flat">
                      <a:noFill/>
                    </a:lnT>
                    <a:lnB>
                      <a:noFill/>
                    </a:lnB>
                    <a:lnTlToBr>
                      <a:noFill/>
                    </a:lnTlToBr>
                    <a:lnBlToTr>
                      <a:noFill/>
                    </a:lnBlToTr>
                    <a:noFill/>
                  </a:tcPr>
                </a:tc>
                <a:tc>
                  <a:txBody>
                    <a:bodyPr/>
                    <a:lstStyle/>
                    <a:p>
                      <a:pPr marL="0" marR="0" lvl="0" indent="0" algn="r" defTabSz="762000" rtl="0" eaLnBrk="1" fontAlgn="base" latinLnBrk="0" hangingPunct="1">
                        <a:lnSpc>
                          <a:spcPct val="100000"/>
                        </a:lnSpc>
                        <a:spcBef>
                          <a:spcPct val="40000"/>
                        </a:spcBef>
                        <a:spcAft>
                          <a:spcPct val="0"/>
                        </a:spcAft>
                        <a:buClrTx/>
                        <a:buSzTx/>
                        <a:buFontTx/>
                        <a:buNone/>
                        <a:tabLst/>
                      </a:pPr>
                      <a:r>
                        <a:rPr lang="en-CA" sz="1050" b="1" u="none" kern="1200" noProof="0" dirty="0" smtClean="0">
                          <a:solidFill>
                            <a:srgbClr val="00338D"/>
                          </a:solidFill>
                          <a:latin typeface="Univers for KPMG" panose="020B0603020202020204" pitchFamily="34" charset="0"/>
                          <a:ea typeface="+mn-ea"/>
                          <a:cs typeface="Univers for KPMG"/>
                        </a:rPr>
                        <a:t> Page</a:t>
                      </a:r>
                    </a:p>
                  </a:txBody>
                  <a:tcPr marL="72000" marR="72000" marT="72000" marB="72000" anchor="ctr" horzOverflow="overflow">
                    <a:lnL>
                      <a:noFill/>
                    </a:lnL>
                    <a:lnR cap="flat">
                      <a:noFill/>
                    </a:lnR>
                    <a:lnT cap="flat">
                      <a:noFill/>
                    </a:lnT>
                    <a:lnB>
                      <a:noFill/>
                    </a:lnB>
                    <a:lnTlToBr>
                      <a:noFill/>
                    </a:lnTlToBr>
                    <a:lnBlToTr>
                      <a:noFill/>
                    </a:lnBlToTr>
                    <a:noFill/>
                  </a:tcPr>
                </a:tc>
              </a:tr>
              <a:tr h="0">
                <a:tc>
                  <a:txBody>
                    <a:bodyPr/>
                    <a:lstStyle/>
                    <a:p>
                      <a:pPr marL="0" marR="0" lvl="0" indent="0" algn="l" defTabSz="762000" rtl="0" eaLnBrk="1" fontAlgn="base" latinLnBrk="0" hangingPunct="1">
                        <a:lnSpc>
                          <a:spcPct val="100000"/>
                        </a:lnSpc>
                        <a:spcBef>
                          <a:spcPct val="40000"/>
                        </a:spcBef>
                        <a:spcAft>
                          <a:spcPct val="0"/>
                        </a:spcAft>
                        <a:buClrTx/>
                        <a:buSzTx/>
                        <a:buFontTx/>
                        <a:buNone/>
                        <a:tabLst/>
                      </a:pPr>
                      <a:r>
                        <a:rPr lang="en-CA" sz="1050" b="1" u="none" kern="1200" noProof="0" dirty="0" smtClean="0">
                          <a:solidFill>
                            <a:srgbClr val="00338D"/>
                          </a:solidFill>
                          <a:latin typeface="Univers for KPMG" panose="020B0603020202020204" pitchFamily="34" charset="0"/>
                          <a:ea typeface="+mn-ea"/>
                          <a:cs typeface="Univers for KPMG"/>
                        </a:rPr>
                        <a:t>Executive summary</a:t>
                      </a:r>
                    </a:p>
                  </a:txBody>
                  <a:tcPr marL="72000" marR="72000" marT="72000" marB="72000" anchor="ctr" horzOverflow="overflow">
                    <a:lnL cap="flat">
                      <a:noFill/>
                    </a:lnL>
                    <a:lnR>
                      <a:noFill/>
                    </a:lnR>
                    <a:lnT>
                      <a:noFill/>
                    </a:lnT>
                    <a:lnB>
                      <a:noFill/>
                    </a:lnB>
                    <a:lnTlToBr>
                      <a:noFill/>
                    </a:lnTlToBr>
                    <a:lnBlToTr>
                      <a:noFill/>
                    </a:lnBlToTr>
                    <a:noFill/>
                  </a:tcPr>
                </a:tc>
                <a:tc>
                  <a:txBody>
                    <a:bodyPr/>
                    <a:lstStyle/>
                    <a:p>
                      <a:pPr marL="187325" marR="0" lvl="1" indent="-185738" algn="r" defTabSz="762000" rtl="0" eaLnBrk="1" fontAlgn="base" latinLnBrk="0" hangingPunct="1">
                        <a:lnSpc>
                          <a:spcPct val="100000"/>
                        </a:lnSpc>
                        <a:spcBef>
                          <a:spcPct val="40000"/>
                        </a:spcBef>
                        <a:spcAft>
                          <a:spcPct val="0"/>
                        </a:spcAft>
                        <a:buClr>
                          <a:schemeClr val="tx2"/>
                        </a:buClr>
                        <a:buSzPct val="85000"/>
                        <a:buFont typeface="Wingdings" pitchFamily="2" charset="2"/>
                        <a:buNone/>
                        <a:tabLst/>
                      </a:pPr>
                      <a:endParaRPr lang="en-CA" sz="1050" b="0" kern="1200" noProof="0" dirty="0" smtClean="0">
                        <a:solidFill>
                          <a:srgbClr val="00338D"/>
                        </a:solidFill>
                        <a:latin typeface="Univers for KPMG" panose="020B0603020202020204" pitchFamily="34" charset="0"/>
                        <a:ea typeface="+mn-ea"/>
                        <a:cs typeface="Univers for KPMG"/>
                      </a:endParaRPr>
                    </a:p>
                  </a:txBody>
                  <a:tcPr marL="72000" marR="72000" marT="72000" marB="72000" anchor="ctr" horzOverflow="overflow">
                    <a:lnL>
                      <a:noFill/>
                    </a:lnL>
                    <a:lnR cap="flat">
                      <a:noFill/>
                    </a:lnR>
                    <a:lnT>
                      <a:noFill/>
                    </a:lnT>
                    <a:lnB>
                      <a:noFill/>
                    </a:lnB>
                    <a:lnTlToBr>
                      <a:noFill/>
                    </a:lnTlToBr>
                    <a:lnBlToTr>
                      <a:noFill/>
                    </a:lnBlToTr>
                    <a:noFill/>
                  </a:tcPr>
                </a:tc>
              </a:tr>
              <a:tr h="0">
                <a:tc>
                  <a:txBody>
                    <a:bodyPr/>
                    <a:lstStyle/>
                    <a:p>
                      <a:pPr marL="177800" marR="0" lvl="2" indent="-177800" algn="l" defTabSz="914400" rtl="0" eaLnBrk="1" fontAlgn="base" latinLnBrk="0" hangingPunct="1">
                        <a:lnSpc>
                          <a:spcPct val="100000"/>
                        </a:lnSpc>
                        <a:spcBef>
                          <a:spcPts val="600"/>
                        </a:spcBef>
                        <a:spcAft>
                          <a:spcPct val="0"/>
                        </a:spcAft>
                        <a:buClr>
                          <a:schemeClr val="tx2"/>
                        </a:buClr>
                        <a:buSzPct val="100000"/>
                        <a:buFont typeface="Univers for KPMG Light" panose="020B0403020202020204" pitchFamily="34" charset="0"/>
                        <a:buChar char="—"/>
                        <a:tabLst/>
                      </a:pPr>
                      <a:r>
                        <a:rPr lang="en-CA" sz="1050" b="0" u="none" kern="1200" noProof="0" dirty="0" smtClean="0">
                          <a:solidFill>
                            <a:srgbClr val="00338D"/>
                          </a:solidFill>
                          <a:latin typeface="Univers for KPMG" panose="020B0603020202020204" pitchFamily="34" charset="0"/>
                          <a:ea typeface="+mn-ea"/>
                          <a:cs typeface="Univers for KPMG"/>
                        </a:rPr>
                        <a:t>Business overview</a:t>
                      </a:r>
                    </a:p>
                  </a:txBody>
                  <a:tcPr marL="72000" marR="72000" marT="72000" marB="72000" anchor="ctr" horzOverflow="overflow">
                    <a:lnL cap="flat">
                      <a:noFill/>
                    </a:lnL>
                    <a:lnR>
                      <a:noFill/>
                    </a:lnR>
                    <a:lnT>
                      <a:noFill/>
                    </a:lnT>
                    <a:lnB>
                      <a:noFill/>
                    </a:lnB>
                    <a:lnTlToBr>
                      <a:noFill/>
                    </a:lnTlToBr>
                    <a:lnBlToTr>
                      <a:noFill/>
                    </a:lnBlToTr>
                    <a:noFill/>
                  </a:tcPr>
                </a:tc>
                <a:tc>
                  <a:txBody>
                    <a:bodyPr/>
                    <a:lstStyle/>
                    <a:p>
                      <a:pPr marL="187325" marR="0" lvl="1" indent="-185738" algn="r" defTabSz="762000" rtl="0" eaLnBrk="1" fontAlgn="base" latinLnBrk="0" hangingPunct="1">
                        <a:lnSpc>
                          <a:spcPct val="100000"/>
                        </a:lnSpc>
                        <a:spcBef>
                          <a:spcPct val="40000"/>
                        </a:spcBef>
                        <a:spcAft>
                          <a:spcPct val="0"/>
                        </a:spcAft>
                        <a:buClr>
                          <a:schemeClr val="tx2"/>
                        </a:buClr>
                        <a:buSzPct val="85000"/>
                        <a:buFont typeface="Wingdings" pitchFamily="2" charset="2"/>
                        <a:buNone/>
                        <a:tabLst/>
                      </a:pPr>
                      <a:r>
                        <a:rPr lang="en-CA" sz="1050" b="0" u="none" kern="1200" noProof="0" dirty="0" smtClean="0">
                          <a:solidFill>
                            <a:srgbClr val="00338D"/>
                          </a:solidFill>
                          <a:latin typeface="Univers for KPMG" panose="020B0603020202020204" pitchFamily="34" charset="0"/>
                          <a:ea typeface="+mn-ea"/>
                          <a:cs typeface="Univers for KPMG"/>
                        </a:rPr>
                        <a:t>7</a:t>
                      </a:r>
                    </a:p>
                  </a:txBody>
                  <a:tcPr marL="72000" marR="72000" marT="72000" marB="72000" anchor="ctr" horzOverflow="overflow">
                    <a:lnL>
                      <a:noFill/>
                    </a:lnL>
                    <a:lnR cap="flat">
                      <a:noFill/>
                    </a:lnR>
                    <a:lnT>
                      <a:noFill/>
                    </a:lnT>
                    <a:lnB>
                      <a:noFill/>
                    </a:lnB>
                    <a:lnTlToBr>
                      <a:noFill/>
                    </a:lnTlToBr>
                    <a:lnBlToTr>
                      <a:noFill/>
                    </a:lnBlToTr>
                    <a:noFill/>
                  </a:tcPr>
                </a:tc>
              </a:tr>
              <a:tr h="0">
                <a:tc>
                  <a:txBody>
                    <a:bodyPr/>
                    <a:lstStyle/>
                    <a:p>
                      <a:pPr marL="177800" marR="0" lvl="2" indent="-177800" algn="l" defTabSz="914400" rtl="0" eaLnBrk="1" fontAlgn="base" latinLnBrk="0" hangingPunct="1">
                        <a:lnSpc>
                          <a:spcPct val="100000"/>
                        </a:lnSpc>
                        <a:spcBef>
                          <a:spcPts val="600"/>
                        </a:spcBef>
                        <a:spcAft>
                          <a:spcPct val="0"/>
                        </a:spcAft>
                        <a:buClr>
                          <a:schemeClr val="tx2"/>
                        </a:buClr>
                        <a:buSzPct val="100000"/>
                        <a:buFont typeface="Univers for KPMG Light" panose="020B0403020202020204" pitchFamily="34" charset="0"/>
                        <a:buChar char="—"/>
                        <a:tabLst/>
                      </a:pPr>
                      <a:r>
                        <a:rPr lang="en-CA" sz="1050" b="0" u="none" kern="1200" baseline="0" noProof="0" dirty="0" smtClean="0">
                          <a:solidFill>
                            <a:srgbClr val="00338D"/>
                          </a:solidFill>
                          <a:latin typeface="Univers for KPMG" panose="020B0603020202020204" pitchFamily="34" charset="0"/>
                          <a:ea typeface="+mn-ea"/>
                          <a:cs typeface="Univers for KPMG"/>
                        </a:rPr>
                        <a:t>Summary financial statements</a:t>
                      </a:r>
                      <a:endParaRPr lang="en-CA" sz="1050" b="0" u="none" kern="1200" noProof="0" dirty="0" smtClean="0">
                        <a:solidFill>
                          <a:srgbClr val="00338D"/>
                        </a:solidFill>
                        <a:latin typeface="Univers for KPMG" panose="020B0603020202020204" pitchFamily="34" charset="0"/>
                        <a:ea typeface="+mn-ea"/>
                        <a:cs typeface="Univers for KPMG"/>
                      </a:endParaRPr>
                    </a:p>
                  </a:txBody>
                  <a:tcPr marL="72000" marR="72000" marT="72000" marB="72000" anchor="ctr" horzOverflow="overflow">
                    <a:lnL cap="flat">
                      <a:noFill/>
                    </a:lnL>
                    <a:lnR>
                      <a:noFill/>
                    </a:lnR>
                    <a:lnT>
                      <a:noFill/>
                    </a:lnT>
                    <a:lnB>
                      <a:noFill/>
                    </a:lnB>
                    <a:lnTlToBr>
                      <a:noFill/>
                    </a:lnTlToBr>
                    <a:lnBlToTr>
                      <a:noFill/>
                    </a:lnBlToTr>
                    <a:noFill/>
                  </a:tcPr>
                </a:tc>
                <a:tc>
                  <a:txBody>
                    <a:bodyPr/>
                    <a:lstStyle/>
                    <a:p>
                      <a:pPr marL="187325" marR="0" lvl="1" indent="-185738" algn="r" defTabSz="762000" rtl="0" eaLnBrk="1" fontAlgn="base" latinLnBrk="0" hangingPunct="1">
                        <a:lnSpc>
                          <a:spcPct val="100000"/>
                        </a:lnSpc>
                        <a:spcBef>
                          <a:spcPct val="40000"/>
                        </a:spcBef>
                        <a:spcAft>
                          <a:spcPct val="0"/>
                        </a:spcAft>
                        <a:buClr>
                          <a:schemeClr val="tx2"/>
                        </a:buClr>
                        <a:buSzPct val="85000"/>
                        <a:buFont typeface="Wingdings" pitchFamily="2" charset="2"/>
                        <a:buNone/>
                        <a:tabLst/>
                      </a:pPr>
                      <a:r>
                        <a:rPr lang="en-CA" sz="1050" b="0" u="none" kern="1200" noProof="0" dirty="0" smtClean="0">
                          <a:solidFill>
                            <a:srgbClr val="00338D"/>
                          </a:solidFill>
                          <a:latin typeface="Univers for KPMG" panose="020B0603020202020204" pitchFamily="34" charset="0"/>
                          <a:ea typeface="+mn-ea"/>
                          <a:cs typeface="Univers for KPMG"/>
                        </a:rPr>
                        <a:t>8</a:t>
                      </a:r>
                    </a:p>
                  </a:txBody>
                  <a:tcPr marL="72000" marR="72000" marT="72000" marB="72000" anchor="ctr" horzOverflow="overflow">
                    <a:lnL>
                      <a:noFill/>
                    </a:lnL>
                    <a:lnR cap="flat">
                      <a:noFill/>
                    </a:lnR>
                    <a:lnT>
                      <a:noFill/>
                    </a:lnT>
                    <a:lnB>
                      <a:noFill/>
                    </a:lnB>
                    <a:lnTlToBr>
                      <a:noFill/>
                    </a:lnTlToBr>
                    <a:lnBlToTr>
                      <a:noFill/>
                    </a:lnBlToTr>
                    <a:noFill/>
                  </a:tcPr>
                </a:tc>
              </a:tr>
              <a:tr h="0">
                <a:tc>
                  <a:txBody>
                    <a:bodyPr/>
                    <a:lstStyle/>
                    <a:p>
                      <a:pPr marL="177800" marR="0" lvl="2" indent="-177800" algn="l" defTabSz="914400" rtl="0" eaLnBrk="1" fontAlgn="base" latinLnBrk="0" hangingPunct="1">
                        <a:lnSpc>
                          <a:spcPct val="100000"/>
                        </a:lnSpc>
                        <a:spcBef>
                          <a:spcPts val="600"/>
                        </a:spcBef>
                        <a:spcAft>
                          <a:spcPct val="0"/>
                        </a:spcAft>
                        <a:buClr>
                          <a:schemeClr val="tx2"/>
                        </a:buClr>
                        <a:buSzPct val="100000"/>
                        <a:buFont typeface="Univers for KPMG Light" panose="020B0403020202020204" pitchFamily="34" charset="0"/>
                        <a:buChar char="—"/>
                        <a:tabLst/>
                      </a:pPr>
                      <a:r>
                        <a:rPr lang="en-CA" sz="1050" b="0" u="none" kern="1200" noProof="0" dirty="0" smtClean="0">
                          <a:solidFill>
                            <a:srgbClr val="00338D"/>
                          </a:solidFill>
                          <a:latin typeface="Univers for KPMG" panose="020B0603020202020204" pitchFamily="34" charset="0"/>
                          <a:ea typeface="+mn-ea"/>
                          <a:cs typeface="Univers for KPMG"/>
                        </a:rPr>
                        <a:t>Key findings</a:t>
                      </a:r>
                    </a:p>
                  </a:txBody>
                  <a:tcPr marL="72000" marR="72000" marT="72000" marB="72000" anchor="ctr" horzOverflow="overflow">
                    <a:lnL cap="flat">
                      <a:noFill/>
                    </a:lnL>
                    <a:lnR>
                      <a:noFill/>
                    </a:lnR>
                    <a:lnT>
                      <a:noFill/>
                    </a:lnT>
                    <a:lnB>
                      <a:noFill/>
                    </a:lnB>
                    <a:lnTlToBr>
                      <a:noFill/>
                    </a:lnTlToBr>
                    <a:lnBlToTr>
                      <a:noFill/>
                    </a:lnBlToTr>
                    <a:noFill/>
                  </a:tcPr>
                </a:tc>
                <a:tc>
                  <a:txBody>
                    <a:bodyPr/>
                    <a:lstStyle/>
                    <a:p>
                      <a:pPr marL="187325" marR="0" lvl="1" indent="-185738" algn="r" defTabSz="762000" rtl="0" eaLnBrk="1" fontAlgn="base" latinLnBrk="0" hangingPunct="1">
                        <a:lnSpc>
                          <a:spcPct val="100000"/>
                        </a:lnSpc>
                        <a:spcBef>
                          <a:spcPct val="40000"/>
                        </a:spcBef>
                        <a:spcAft>
                          <a:spcPct val="0"/>
                        </a:spcAft>
                        <a:buClr>
                          <a:schemeClr val="tx2"/>
                        </a:buClr>
                        <a:buSzPct val="85000"/>
                        <a:buFont typeface="Wingdings" pitchFamily="2" charset="2"/>
                        <a:buNone/>
                        <a:tabLst/>
                      </a:pPr>
                      <a:r>
                        <a:rPr lang="en-CA" sz="1050" b="0" u="none" kern="1200" noProof="0" dirty="0" smtClean="0">
                          <a:solidFill>
                            <a:srgbClr val="00338D"/>
                          </a:solidFill>
                          <a:latin typeface="Univers for KPMG" panose="020B0603020202020204" pitchFamily="34" charset="0"/>
                          <a:ea typeface="+mn-ea"/>
                          <a:cs typeface="Univers for KPMG"/>
                        </a:rPr>
                        <a:t>9</a:t>
                      </a:r>
                    </a:p>
                  </a:txBody>
                  <a:tcPr marL="72000" marR="72000" marT="72000" marB="72000" anchor="ctr" horzOverflow="overflow">
                    <a:lnL>
                      <a:noFill/>
                    </a:lnL>
                    <a:lnR cap="flat">
                      <a:noFill/>
                    </a:lnR>
                    <a:lnT>
                      <a:noFill/>
                    </a:lnT>
                    <a:lnB>
                      <a:noFill/>
                    </a:lnB>
                    <a:lnTlToBr>
                      <a:noFill/>
                    </a:lnTlToBr>
                    <a:lnBlToTr>
                      <a:noFill/>
                    </a:lnBlToTr>
                    <a:noFill/>
                  </a:tcPr>
                </a:tc>
              </a:tr>
              <a:tr h="0">
                <a:tc>
                  <a:txBody>
                    <a:bodyPr/>
                    <a:lstStyle/>
                    <a:p>
                      <a:pPr marL="187325" marR="0" lvl="1" indent="-185738" algn="l" defTabSz="762000" rtl="0" eaLnBrk="1" fontAlgn="base" latinLnBrk="0" hangingPunct="1">
                        <a:lnSpc>
                          <a:spcPct val="100000"/>
                        </a:lnSpc>
                        <a:spcBef>
                          <a:spcPct val="40000"/>
                        </a:spcBef>
                        <a:spcAft>
                          <a:spcPct val="0"/>
                        </a:spcAft>
                        <a:buClr>
                          <a:schemeClr val="tx2"/>
                        </a:buClr>
                        <a:buSzPct val="85000"/>
                        <a:buFont typeface="Wingdings" pitchFamily="2" charset="2"/>
                        <a:buNone/>
                        <a:tabLst/>
                      </a:pPr>
                      <a:r>
                        <a:rPr lang="en-CA" sz="1050" b="1" u="none" kern="1200" noProof="0" dirty="0" smtClean="0">
                          <a:solidFill>
                            <a:srgbClr val="00338D"/>
                          </a:solidFill>
                          <a:latin typeface="Univers for KPMG" panose="020B0603020202020204" pitchFamily="34" charset="0"/>
                          <a:ea typeface="+mn-ea"/>
                          <a:cs typeface="Univers for KPMG"/>
                        </a:rPr>
                        <a:t>Supporting analysis to key findings</a:t>
                      </a:r>
                    </a:p>
                  </a:txBody>
                  <a:tcPr marL="72000" marR="72000" marT="72000" marB="72000" anchor="ctr" horzOverflow="overflow">
                    <a:lnL cap="flat">
                      <a:noFill/>
                    </a:lnL>
                    <a:lnR>
                      <a:noFill/>
                    </a:lnR>
                    <a:lnT>
                      <a:noFill/>
                    </a:lnT>
                    <a:lnB>
                      <a:noFill/>
                    </a:lnB>
                    <a:lnTlToBr>
                      <a:noFill/>
                    </a:lnTlToBr>
                    <a:lnBlToTr>
                      <a:noFill/>
                    </a:lnBlToTr>
                    <a:noFill/>
                  </a:tcPr>
                </a:tc>
                <a:tc>
                  <a:txBody>
                    <a:bodyPr/>
                    <a:lstStyle/>
                    <a:p>
                      <a:pPr marL="187325" marR="0" lvl="1" indent="-185738" algn="r" defTabSz="762000" rtl="0" eaLnBrk="1" fontAlgn="base" latinLnBrk="0" hangingPunct="1">
                        <a:lnSpc>
                          <a:spcPct val="100000"/>
                        </a:lnSpc>
                        <a:spcBef>
                          <a:spcPct val="40000"/>
                        </a:spcBef>
                        <a:spcAft>
                          <a:spcPct val="0"/>
                        </a:spcAft>
                        <a:buClr>
                          <a:schemeClr val="tx2"/>
                        </a:buClr>
                        <a:buSzPct val="85000"/>
                        <a:buFont typeface="Wingdings" pitchFamily="2" charset="2"/>
                        <a:buNone/>
                        <a:tabLst/>
                      </a:pPr>
                      <a:endParaRPr lang="en-CA" sz="1050" b="0" kern="1200" noProof="0" dirty="0" smtClean="0">
                        <a:solidFill>
                          <a:srgbClr val="00338D"/>
                        </a:solidFill>
                        <a:latin typeface="Univers for KPMG" panose="020B0603020202020204" pitchFamily="34" charset="0"/>
                        <a:ea typeface="+mn-ea"/>
                        <a:cs typeface="Univers for KPMG"/>
                      </a:endParaRPr>
                    </a:p>
                  </a:txBody>
                  <a:tcPr marL="72000" marR="72000" marT="72000" marB="72000" anchor="ctr" horzOverflow="overflow">
                    <a:lnL>
                      <a:noFill/>
                    </a:lnL>
                    <a:lnR cap="flat">
                      <a:noFill/>
                    </a:lnR>
                    <a:lnT>
                      <a:noFill/>
                    </a:lnT>
                    <a:lnB>
                      <a:noFill/>
                    </a:lnB>
                    <a:lnTlToBr>
                      <a:noFill/>
                    </a:lnTlToBr>
                    <a:lnBlToTr>
                      <a:noFill/>
                    </a:lnBlToTr>
                    <a:noFill/>
                  </a:tcPr>
                </a:tc>
              </a:tr>
              <a:tr h="0">
                <a:tc>
                  <a:txBody>
                    <a:bodyPr/>
                    <a:lstStyle/>
                    <a:p>
                      <a:pPr marL="177800" marR="0" lvl="2" indent="-177800" algn="l" defTabSz="914400" rtl="0" eaLnBrk="1" fontAlgn="base" latinLnBrk="0" hangingPunct="1">
                        <a:lnSpc>
                          <a:spcPct val="100000"/>
                        </a:lnSpc>
                        <a:spcBef>
                          <a:spcPts val="600"/>
                        </a:spcBef>
                        <a:spcAft>
                          <a:spcPct val="0"/>
                        </a:spcAft>
                        <a:buClr>
                          <a:schemeClr val="tx2"/>
                        </a:buClr>
                        <a:buSzPct val="100000"/>
                        <a:buFont typeface="Univers for KPMG Light" panose="020B0403020202020204" pitchFamily="34" charset="0"/>
                        <a:buChar char="—"/>
                        <a:tabLst/>
                      </a:pPr>
                      <a:r>
                        <a:rPr lang="en-CA" sz="1050" b="0" u="none" kern="1200" noProof="0" dirty="0" smtClean="0">
                          <a:solidFill>
                            <a:srgbClr val="00338D"/>
                          </a:solidFill>
                          <a:latin typeface="Univers for KPMG" panose="020B0603020202020204" pitchFamily="34" charset="0"/>
                          <a:ea typeface="+mn-ea"/>
                          <a:cs typeface="Univers for KPMG"/>
                        </a:rPr>
                        <a:t>Quality of earnings</a:t>
                      </a:r>
                    </a:p>
                  </a:txBody>
                  <a:tcPr marL="72000" marR="72000" marT="72000" marB="72000" anchor="ctr" horzOverflow="overflow">
                    <a:lnL cap="flat">
                      <a:noFill/>
                    </a:lnL>
                    <a:lnR>
                      <a:noFill/>
                    </a:lnR>
                    <a:lnT>
                      <a:noFill/>
                    </a:lnT>
                    <a:lnB>
                      <a:noFill/>
                    </a:lnB>
                    <a:lnTlToBr>
                      <a:noFill/>
                    </a:lnTlToBr>
                    <a:lnBlToTr>
                      <a:noFill/>
                    </a:lnBlToTr>
                    <a:noFill/>
                  </a:tcPr>
                </a:tc>
                <a:tc>
                  <a:txBody>
                    <a:bodyPr/>
                    <a:lstStyle/>
                    <a:p>
                      <a:pPr marL="187325" marR="0" lvl="1" indent="-185738" algn="r" defTabSz="762000" rtl="0" eaLnBrk="1" fontAlgn="base" latinLnBrk="0" hangingPunct="1">
                        <a:lnSpc>
                          <a:spcPct val="100000"/>
                        </a:lnSpc>
                        <a:spcBef>
                          <a:spcPct val="40000"/>
                        </a:spcBef>
                        <a:spcAft>
                          <a:spcPct val="0"/>
                        </a:spcAft>
                        <a:buClr>
                          <a:schemeClr val="tx2"/>
                        </a:buClr>
                        <a:buSzPct val="85000"/>
                        <a:buFont typeface="Wingdings" pitchFamily="2" charset="2"/>
                        <a:buNone/>
                        <a:tabLst/>
                      </a:pPr>
                      <a:r>
                        <a:rPr lang="en-CA" sz="1050" b="0" u="none" kern="1200" noProof="0" dirty="0" smtClean="0">
                          <a:solidFill>
                            <a:srgbClr val="00338D"/>
                          </a:solidFill>
                          <a:latin typeface="Univers for KPMG" panose="020B0603020202020204" pitchFamily="34" charset="0"/>
                          <a:ea typeface="+mn-ea"/>
                          <a:cs typeface="Univers for KPMG"/>
                        </a:rPr>
                        <a:t>15</a:t>
                      </a:r>
                    </a:p>
                  </a:txBody>
                  <a:tcPr marL="72000" marR="72000" marT="72000" marB="72000" anchor="ctr" horzOverflow="overflow">
                    <a:lnL>
                      <a:noFill/>
                    </a:lnL>
                    <a:lnR cap="flat">
                      <a:noFill/>
                    </a:lnR>
                    <a:lnT>
                      <a:noFill/>
                    </a:lnT>
                    <a:lnB>
                      <a:noFill/>
                    </a:lnB>
                    <a:lnTlToBr>
                      <a:noFill/>
                    </a:lnTlToBr>
                    <a:lnBlToTr>
                      <a:noFill/>
                    </a:lnBlToTr>
                    <a:noFill/>
                  </a:tcPr>
                </a:tc>
              </a:tr>
              <a:tr h="0">
                <a:tc>
                  <a:txBody>
                    <a:bodyPr/>
                    <a:lstStyle/>
                    <a:p>
                      <a:pPr marL="177800" marR="0" lvl="2" indent="-177800" algn="l" defTabSz="914400" rtl="0" eaLnBrk="1" fontAlgn="base" latinLnBrk="0" hangingPunct="1">
                        <a:lnSpc>
                          <a:spcPct val="100000"/>
                        </a:lnSpc>
                        <a:spcBef>
                          <a:spcPts val="600"/>
                        </a:spcBef>
                        <a:spcAft>
                          <a:spcPct val="0"/>
                        </a:spcAft>
                        <a:buClr>
                          <a:schemeClr val="tx2"/>
                        </a:buClr>
                        <a:buSzPct val="100000"/>
                        <a:buFont typeface="Univers for KPMG Light" panose="020B0403020202020204" pitchFamily="34" charset="0"/>
                        <a:buChar char="—"/>
                        <a:tabLst/>
                      </a:pPr>
                      <a:r>
                        <a:rPr lang="en-CA" sz="1050" b="0" u="none" kern="1200" noProof="0" dirty="0" smtClean="0">
                          <a:solidFill>
                            <a:srgbClr val="00338D"/>
                          </a:solidFill>
                          <a:latin typeface="Univers for KPMG" panose="020B0603020202020204" pitchFamily="34" charset="0"/>
                          <a:ea typeface="+mn-ea"/>
                          <a:cs typeface="Univers for KPMG"/>
                        </a:rPr>
                        <a:t>Income statement analysis</a:t>
                      </a:r>
                    </a:p>
                  </a:txBody>
                  <a:tcPr marL="72000" marR="72000" marT="72000" marB="72000" anchor="ctr" horzOverflow="overflow">
                    <a:lnL cap="flat">
                      <a:noFill/>
                    </a:lnL>
                    <a:lnR>
                      <a:noFill/>
                    </a:lnR>
                    <a:lnT>
                      <a:noFill/>
                    </a:lnT>
                    <a:lnB>
                      <a:noFill/>
                    </a:lnB>
                    <a:lnTlToBr>
                      <a:noFill/>
                    </a:lnTlToBr>
                    <a:lnBlToTr>
                      <a:noFill/>
                    </a:lnBlToTr>
                    <a:noFill/>
                  </a:tcPr>
                </a:tc>
                <a:tc>
                  <a:txBody>
                    <a:bodyPr/>
                    <a:lstStyle/>
                    <a:p>
                      <a:pPr marL="187325" marR="0" lvl="1" indent="-185738" algn="r" defTabSz="762000" rtl="0" eaLnBrk="1" fontAlgn="base" latinLnBrk="0" hangingPunct="1">
                        <a:lnSpc>
                          <a:spcPct val="100000"/>
                        </a:lnSpc>
                        <a:spcBef>
                          <a:spcPct val="40000"/>
                        </a:spcBef>
                        <a:spcAft>
                          <a:spcPct val="0"/>
                        </a:spcAft>
                        <a:buClr>
                          <a:schemeClr val="tx2"/>
                        </a:buClr>
                        <a:buSzPct val="85000"/>
                        <a:buFont typeface="Wingdings" pitchFamily="2" charset="2"/>
                        <a:buNone/>
                        <a:tabLst/>
                      </a:pPr>
                      <a:r>
                        <a:rPr lang="en-CA" sz="1050" b="0" u="none" kern="1200" noProof="0" dirty="0" smtClean="0">
                          <a:solidFill>
                            <a:srgbClr val="00338D"/>
                          </a:solidFill>
                          <a:latin typeface="Univers for KPMG" panose="020B0603020202020204" pitchFamily="34" charset="0"/>
                          <a:ea typeface="+mn-ea"/>
                          <a:cs typeface="Univers for KPMG"/>
                        </a:rPr>
                        <a:t>25</a:t>
                      </a:r>
                    </a:p>
                  </a:txBody>
                  <a:tcPr marL="72000" marR="72000" marT="72000" marB="72000" anchor="ctr" horzOverflow="overflow">
                    <a:lnL>
                      <a:noFill/>
                    </a:lnL>
                    <a:lnR cap="flat">
                      <a:noFill/>
                    </a:lnR>
                    <a:lnT>
                      <a:noFill/>
                    </a:lnT>
                    <a:lnB>
                      <a:noFill/>
                    </a:lnB>
                    <a:lnTlToBr>
                      <a:noFill/>
                    </a:lnTlToBr>
                    <a:lnBlToTr>
                      <a:noFill/>
                    </a:lnBlToTr>
                    <a:noFill/>
                  </a:tcPr>
                </a:tc>
              </a:tr>
              <a:tr h="0">
                <a:tc>
                  <a:txBody>
                    <a:bodyPr/>
                    <a:lstStyle/>
                    <a:p>
                      <a:pPr marL="177800" marR="0" lvl="2" indent="-177800" algn="l" defTabSz="914400" rtl="0" eaLnBrk="1" fontAlgn="base" latinLnBrk="0" hangingPunct="1">
                        <a:lnSpc>
                          <a:spcPct val="100000"/>
                        </a:lnSpc>
                        <a:spcBef>
                          <a:spcPts val="600"/>
                        </a:spcBef>
                        <a:spcAft>
                          <a:spcPct val="0"/>
                        </a:spcAft>
                        <a:buClr>
                          <a:schemeClr val="tx2"/>
                        </a:buClr>
                        <a:buSzPct val="100000"/>
                        <a:buFont typeface="Univers for KPMG Light" panose="020B0403020202020204" pitchFamily="34" charset="0"/>
                        <a:buChar char="—"/>
                        <a:tabLst/>
                      </a:pPr>
                      <a:r>
                        <a:rPr lang="en-CA" sz="1050" b="0" u="none" kern="1200" noProof="0" dirty="0" smtClean="0">
                          <a:solidFill>
                            <a:srgbClr val="00338D"/>
                          </a:solidFill>
                          <a:latin typeface="Univers for KPMG" panose="020B0603020202020204" pitchFamily="34" charset="0"/>
                          <a:ea typeface="+mn-ea"/>
                          <a:cs typeface="Univers for KPMG"/>
                        </a:rPr>
                        <a:t>Net working capital</a:t>
                      </a:r>
                    </a:p>
                  </a:txBody>
                  <a:tcPr marL="72000" marR="72000" marT="72000" marB="72000" anchor="ctr" horzOverflow="overflow">
                    <a:lnL cap="flat">
                      <a:noFill/>
                    </a:lnL>
                    <a:lnR>
                      <a:noFill/>
                    </a:lnR>
                    <a:lnT>
                      <a:noFill/>
                    </a:lnT>
                    <a:lnB>
                      <a:noFill/>
                    </a:lnB>
                    <a:lnTlToBr>
                      <a:noFill/>
                    </a:lnTlToBr>
                    <a:lnBlToTr>
                      <a:noFill/>
                    </a:lnBlToTr>
                    <a:noFill/>
                  </a:tcPr>
                </a:tc>
                <a:tc>
                  <a:txBody>
                    <a:bodyPr/>
                    <a:lstStyle/>
                    <a:p>
                      <a:pPr marL="187325" marR="0" lvl="1" indent="-185738" algn="r" defTabSz="762000" rtl="0" eaLnBrk="1" fontAlgn="base" latinLnBrk="0" hangingPunct="1">
                        <a:lnSpc>
                          <a:spcPct val="100000"/>
                        </a:lnSpc>
                        <a:spcBef>
                          <a:spcPct val="40000"/>
                        </a:spcBef>
                        <a:spcAft>
                          <a:spcPct val="0"/>
                        </a:spcAft>
                        <a:buClr>
                          <a:schemeClr val="tx2"/>
                        </a:buClr>
                        <a:buSzPct val="85000"/>
                        <a:buFont typeface="Wingdings" pitchFamily="2" charset="2"/>
                        <a:buNone/>
                        <a:tabLst/>
                      </a:pPr>
                      <a:r>
                        <a:rPr lang="en-CA" sz="1050" b="0" u="none" kern="1200" noProof="0" dirty="0" smtClean="0">
                          <a:solidFill>
                            <a:srgbClr val="00338D"/>
                          </a:solidFill>
                          <a:latin typeface="Univers for KPMG" panose="020B0603020202020204" pitchFamily="34" charset="0"/>
                          <a:ea typeface="+mn-ea"/>
                          <a:cs typeface="Univers for KPMG"/>
                        </a:rPr>
                        <a:t>28</a:t>
                      </a:r>
                    </a:p>
                  </a:txBody>
                  <a:tcPr marL="72000" marR="72000" marT="72000" marB="72000" anchor="ctr" horzOverflow="overflow">
                    <a:lnL>
                      <a:noFill/>
                    </a:lnL>
                    <a:lnR cap="flat">
                      <a:noFill/>
                    </a:lnR>
                    <a:lnT>
                      <a:noFill/>
                    </a:lnT>
                    <a:lnB>
                      <a:noFill/>
                    </a:lnB>
                    <a:lnTlToBr>
                      <a:noFill/>
                    </a:lnTlToBr>
                    <a:lnBlToTr>
                      <a:noFill/>
                    </a:lnBlToTr>
                    <a:noFill/>
                  </a:tcPr>
                </a:tc>
              </a:tr>
              <a:tr h="196744">
                <a:tc>
                  <a:txBody>
                    <a:bodyPr/>
                    <a:lstStyle/>
                    <a:p>
                      <a:pPr marL="187325" marR="0" lvl="1" indent="-185738" algn="l" defTabSz="762000" rtl="0" eaLnBrk="1" fontAlgn="base" latinLnBrk="0" hangingPunct="1">
                        <a:lnSpc>
                          <a:spcPct val="100000"/>
                        </a:lnSpc>
                        <a:spcBef>
                          <a:spcPct val="100000"/>
                        </a:spcBef>
                        <a:spcAft>
                          <a:spcPct val="0"/>
                        </a:spcAft>
                        <a:buClr>
                          <a:schemeClr val="tx2"/>
                        </a:buClr>
                        <a:buSzPct val="85000"/>
                        <a:buFont typeface="Wingdings" pitchFamily="2" charset="2"/>
                        <a:buNone/>
                        <a:tabLst/>
                      </a:pPr>
                      <a:r>
                        <a:rPr lang="en-CA" sz="1050" b="1" u="none" kern="1200" noProof="0" dirty="0" smtClean="0">
                          <a:solidFill>
                            <a:srgbClr val="00338D"/>
                          </a:solidFill>
                          <a:latin typeface="Univers for KPMG" panose="020B0603020202020204" pitchFamily="34" charset="0"/>
                          <a:ea typeface="+mn-ea"/>
                          <a:cs typeface="Univers for KPMG"/>
                        </a:rPr>
                        <a:t>Appendices</a:t>
                      </a:r>
                    </a:p>
                  </a:txBody>
                  <a:tcPr marL="72000" marR="72000" marT="72000" marB="72000" anchor="ctr" horzOverflow="overflow">
                    <a:lnL cap="flat">
                      <a:noFill/>
                    </a:lnL>
                    <a:lnR>
                      <a:noFill/>
                    </a:lnR>
                    <a:lnT>
                      <a:noFill/>
                    </a:lnT>
                    <a:lnB cap="flat">
                      <a:noFill/>
                    </a:lnB>
                    <a:lnTlToBr>
                      <a:noFill/>
                    </a:lnTlToBr>
                    <a:lnBlToTr>
                      <a:noFill/>
                    </a:lnBlToTr>
                    <a:noFill/>
                  </a:tcPr>
                </a:tc>
                <a:tc>
                  <a:txBody>
                    <a:bodyPr/>
                    <a:lstStyle/>
                    <a:p>
                      <a:pPr marL="187325" marR="0" lvl="1" indent="-185738" algn="r" defTabSz="762000" rtl="0" eaLnBrk="1" fontAlgn="base" latinLnBrk="0" hangingPunct="1">
                        <a:lnSpc>
                          <a:spcPct val="100000"/>
                        </a:lnSpc>
                        <a:spcBef>
                          <a:spcPct val="40000"/>
                        </a:spcBef>
                        <a:spcAft>
                          <a:spcPct val="0"/>
                        </a:spcAft>
                        <a:buClr>
                          <a:schemeClr val="tx2"/>
                        </a:buClr>
                        <a:buSzPct val="85000"/>
                        <a:buFont typeface="Wingdings" pitchFamily="2" charset="2"/>
                        <a:buNone/>
                        <a:tabLst/>
                      </a:pPr>
                      <a:r>
                        <a:rPr lang="en-CA" sz="1050" b="0" u="none" kern="1200" noProof="0" dirty="0" smtClean="0">
                          <a:solidFill>
                            <a:srgbClr val="00338D"/>
                          </a:solidFill>
                          <a:latin typeface="Univers for KPMG" panose="020B0603020202020204" pitchFamily="34" charset="0"/>
                          <a:ea typeface="+mn-ea"/>
                          <a:cs typeface="Univers for KPMG"/>
                        </a:rPr>
                        <a:t>32</a:t>
                      </a:r>
                    </a:p>
                  </a:txBody>
                  <a:tcPr marL="72000" marR="72000" marT="72000" marB="72000" anchor="ctr" horzOverflow="overflow">
                    <a:lnL>
                      <a:noFill/>
                    </a:lnL>
                    <a:lnR cap="flat">
                      <a:noFill/>
                    </a:lnR>
                    <a:lnT>
                      <a:noFill/>
                    </a:lnT>
                    <a:lnB cap="flat">
                      <a:noFill/>
                    </a:lnB>
                    <a:lnTlToBr>
                      <a:noFill/>
                    </a:lnTlToBr>
                    <a:lnBlToTr>
                      <a:noFill/>
                    </a:lnBlToTr>
                    <a:noFill/>
                  </a:tcPr>
                </a:tc>
              </a:tr>
            </a:tbl>
          </a:graphicData>
        </a:graphic>
      </p:graphicFrame>
    </p:spTree>
    <p:extLst>
      <p:ext uri="{BB962C8B-B14F-4D97-AF65-F5344CB8AC3E}">
        <p14:creationId xmlns:p14="http://schemas.microsoft.com/office/powerpoint/2010/main" val="319861989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re 6"/>
          <p:cNvSpPr>
            <a:spLocks noGrp="1"/>
          </p:cNvSpPr>
          <p:nvPr>
            <p:ph type="title"/>
          </p:nvPr>
        </p:nvSpPr>
        <p:spPr>
          <a:xfrm>
            <a:off x="1995055" y="1337703"/>
            <a:ext cx="6192982" cy="581698"/>
          </a:xfrm>
        </p:spPr>
        <p:txBody>
          <a:bodyPr/>
          <a:lstStyle/>
          <a:p>
            <a:r>
              <a:rPr lang="en-CA" sz="5400" dirty="0"/>
              <a:t>Executive </a:t>
            </a:r>
            <a:r>
              <a:rPr lang="en-CA" sz="5400" dirty="0" smtClean="0"/>
              <a:t>summary</a:t>
            </a:r>
            <a:endParaRPr lang="en-CA" sz="5400" dirty="0"/>
          </a:p>
        </p:txBody>
      </p:sp>
    </p:spTree>
    <p:extLst>
      <p:ext uri="{BB962C8B-B14F-4D97-AF65-F5344CB8AC3E}">
        <p14:creationId xmlns:p14="http://schemas.microsoft.com/office/powerpoint/2010/main" val="387595795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 name="Rounded Rectangle 76"/>
          <p:cNvSpPr/>
          <p:nvPr/>
        </p:nvSpPr>
        <p:spPr>
          <a:xfrm>
            <a:off x="276225" y="1903383"/>
            <a:ext cx="4164794" cy="1667535"/>
          </a:xfrm>
          <a:prstGeom prst="roundRect">
            <a:avLst>
              <a:gd name="adj" fmla="val 4366"/>
            </a:avLst>
          </a:prstGeom>
          <a:noFill/>
          <a:ln w="15875">
            <a:solidFill>
              <a:srgbClr val="00A3A1"/>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900" dirty="0" smtClean="0">
              <a:solidFill>
                <a:schemeClr val="bg1"/>
              </a:solidFill>
            </a:endParaRPr>
          </a:p>
        </p:txBody>
      </p:sp>
      <p:sp>
        <p:nvSpPr>
          <p:cNvPr id="91" name="Rectangle 90"/>
          <p:cNvSpPr/>
          <p:nvPr/>
        </p:nvSpPr>
        <p:spPr>
          <a:xfrm>
            <a:off x="339707" y="1101001"/>
            <a:ext cx="4065996" cy="240120"/>
          </a:xfrm>
          <a:prstGeom prst="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r>
              <a:rPr lang="en-US" sz="900" b="1" dirty="0" smtClean="0">
                <a:solidFill>
                  <a:schemeClr val="bg1"/>
                </a:solidFill>
                <a:latin typeface="Univers for KPMG" panose="020B0603020202020204" pitchFamily="34" charset="0"/>
              </a:rPr>
              <a:t>Corporate structure </a:t>
            </a:r>
            <a:r>
              <a:rPr lang="en-US" sz="900" b="1" dirty="0">
                <a:solidFill>
                  <a:schemeClr val="bg1"/>
                </a:solidFill>
                <a:latin typeface="Univers for KPMG" panose="020B0603020202020204" pitchFamily="34" charset="0"/>
              </a:rPr>
              <a:t>o</a:t>
            </a:r>
            <a:r>
              <a:rPr lang="en-US" sz="900" b="1" dirty="0" smtClean="0">
                <a:solidFill>
                  <a:schemeClr val="bg1"/>
                </a:solidFill>
                <a:latin typeface="Univers for KPMG" panose="020B0603020202020204" pitchFamily="34" charset="0"/>
              </a:rPr>
              <a:t>verview</a:t>
            </a:r>
            <a:endParaRPr lang="en-US" sz="900" b="1" dirty="0">
              <a:solidFill>
                <a:schemeClr val="bg1"/>
              </a:solidFill>
              <a:latin typeface="Univers for KPMG" panose="020B0603020202020204" pitchFamily="34" charset="0"/>
            </a:endParaRPr>
          </a:p>
        </p:txBody>
      </p:sp>
      <p:sp>
        <p:nvSpPr>
          <p:cNvPr id="6" name="Titre 5"/>
          <p:cNvSpPr>
            <a:spLocks noGrp="1"/>
          </p:cNvSpPr>
          <p:nvPr>
            <p:ph type="title"/>
          </p:nvPr>
        </p:nvSpPr>
        <p:spPr>
          <a:xfrm>
            <a:off x="431800" y="228600"/>
            <a:ext cx="8280400" cy="784830"/>
          </a:xfrm>
        </p:spPr>
        <p:txBody>
          <a:bodyPr/>
          <a:lstStyle/>
          <a:p>
            <a:r>
              <a:rPr lang="en-CA" sz="2400" dirty="0" smtClean="0">
                <a:solidFill>
                  <a:schemeClr val="bg1">
                    <a:lumMod val="50000"/>
                  </a:schemeClr>
                </a:solidFill>
              </a:rPr>
              <a:t>Executive summary</a:t>
            </a:r>
            <a:r>
              <a:rPr lang="en-CA" dirty="0" smtClean="0"/>
              <a:t/>
            </a:r>
            <a:br>
              <a:rPr lang="en-CA" dirty="0" smtClean="0"/>
            </a:br>
            <a:r>
              <a:rPr lang="en-CA" sz="4400" dirty="0" smtClean="0"/>
              <a:t>Business overview</a:t>
            </a:r>
            <a:endParaRPr lang="en-CA" sz="4400" dirty="0"/>
          </a:p>
        </p:txBody>
      </p:sp>
      <p:sp>
        <p:nvSpPr>
          <p:cNvPr id="10" name="Espace réservé du texte 3"/>
          <p:cNvSpPr>
            <a:spLocks noGrp="1"/>
          </p:cNvSpPr>
          <p:nvPr>
            <p:ph type="body" sz="quarter" idx="15"/>
          </p:nvPr>
        </p:nvSpPr>
        <p:spPr>
          <a:xfrm>
            <a:off x="4567423" y="1010560"/>
            <a:ext cx="4345917" cy="5447904"/>
          </a:xfrm>
          <a:prstGeom prst="rect">
            <a:avLst/>
          </a:prstGeom>
        </p:spPr>
        <p:txBody>
          <a:bodyPr/>
          <a:lstStyle/>
          <a:p>
            <a:pPr algn="just"/>
            <a:r>
              <a:rPr lang="en-CA" dirty="0"/>
              <a:t>Business o</a:t>
            </a:r>
            <a:r>
              <a:rPr lang="en-CA" dirty="0" smtClean="0"/>
              <a:t>verview</a:t>
            </a:r>
            <a:endParaRPr lang="en-CA" dirty="0"/>
          </a:p>
          <a:p>
            <a:pPr marL="177800" lvl="2" indent="-177800" algn="just">
              <a:spcBef>
                <a:spcPts val="0"/>
              </a:spcBef>
              <a:spcAft>
                <a:spcPts val="400"/>
              </a:spcAft>
              <a:buClr>
                <a:srgbClr val="97989A"/>
              </a:buClr>
              <a:buFont typeface="Arial" pitchFamily="34" charset="0"/>
              <a:buChar char="■"/>
              <a:defRPr/>
            </a:pPr>
            <a:r>
              <a:rPr lang="en-CA" dirty="0" smtClean="0">
                <a:solidFill>
                  <a:schemeClr val="tx1"/>
                </a:solidFill>
                <a:latin typeface="Univers for KPMG" panose="020B0603020202020204" pitchFamily="34" charset="0"/>
              </a:rPr>
              <a:t>Aequor Healthcare Services, LLC, Aequor Technologies, Inc. and its affiliated entities (“Aequor” or the “Company”) is a contingent and managed staffing solutions provider. </a:t>
            </a:r>
            <a:r>
              <a:rPr lang="en-CA" dirty="0">
                <a:solidFill>
                  <a:schemeClr val="tx1"/>
                </a:solidFill>
                <a:latin typeface="Univers for KPMG" panose="020B0603020202020204" pitchFamily="34" charset="0"/>
              </a:rPr>
              <a:t>The Company was founded in 1998 and is headquartered in Piscataway, New Jersey. </a:t>
            </a:r>
            <a:endParaRPr lang="en-CA" dirty="0" smtClean="0">
              <a:solidFill>
                <a:schemeClr val="tx1"/>
              </a:solidFill>
              <a:latin typeface="Univers for KPMG" panose="020B0603020202020204" pitchFamily="34" charset="0"/>
            </a:endParaRPr>
          </a:p>
          <a:p>
            <a:pPr marL="177800" lvl="2" indent="-177800" algn="just">
              <a:spcBef>
                <a:spcPts val="0"/>
              </a:spcBef>
              <a:spcAft>
                <a:spcPts val="400"/>
              </a:spcAft>
              <a:buClr>
                <a:srgbClr val="97989A"/>
              </a:buClr>
              <a:buFont typeface="Arial" pitchFamily="34" charset="0"/>
              <a:buChar char="■"/>
              <a:defRPr/>
            </a:pPr>
            <a:r>
              <a:rPr lang="en-CA" dirty="0">
                <a:solidFill>
                  <a:schemeClr val="tx1"/>
                </a:solidFill>
                <a:latin typeface="Univers for KPMG" panose="020B0603020202020204" pitchFamily="34" charset="0"/>
              </a:rPr>
              <a:t>The Company provides workforce solutions in healthcare and pharmaceutical industries by offering clinical, scientific, regulatory, allied (physical therapy), health, IT, and therapeutic staffing services on a contractual basis. </a:t>
            </a:r>
          </a:p>
          <a:p>
            <a:pPr marL="177800" lvl="2" indent="-177800" algn="just" rtl="0">
              <a:spcBef>
                <a:spcPts val="0"/>
              </a:spcBef>
              <a:spcAft>
                <a:spcPts val="400"/>
              </a:spcAft>
              <a:buClr>
                <a:srgbClr val="97989A"/>
              </a:buClr>
              <a:buFont typeface="Arial" pitchFamily="34" charset="0"/>
              <a:buChar char="■"/>
              <a:defRPr/>
            </a:pPr>
            <a:r>
              <a:rPr lang="en-CA" dirty="0" smtClean="0">
                <a:solidFill>
                  <a:schemeClr val="tx1"/>
                </a:solidFill>
                <a:latin typeface="Univers for KPMG" panose="020B0603020202020204" pitchFamily="34" charset="0"/>
              </a:rPr>
              <a:t>For the year ended December 31, 2017, the combined Company generated $49.4 million and $5.1 million in net revenue and reported EBITDA, respectively. The combined Company generated $5.7 million in adjusted EBITDA over the same period. </a:t>
            </a:r>
          </a:p>
          <a:p>
            <a:pPr algn="just">
              <a:spcBef>
                <a:spcPts val="0"/>
              </a:spcBef>
            </a:pPr>
            <a:r>
              <a:rPr lang="en-CA" dirty="0" smtClean="0"/>
              <a:t>Division overview</a:t>
            </a:r>
          </a:p>
          <a:p>
            <a:pPr marL="177800" lvl="2" indent="-177800" algn="just">
              <a:spcBef>
                <a:spcPts val="0"/>
              </a:spcBef>
              <a:spcAft>
                <a:spcPts val="400"/>
              </a:spcAft>
              <a:buClr>
                <a:srgbClr val="97989A"/>
              </a:buClr>
              <a:buFont typeface="Arial" pitchFamily="34" charset="0"/>
              <a:buChar char="■"/>
              <a:defRPr/>
            </a:pPr>
            <a:r>
              <a:rPr lang="en-CA" b="1" dirty="0" smtClean="0">
                <a:solidFill>
                  <a:schemeClr val="tx1"/>
                </a:solidFill>
                <a:latin typeface="Univers for KPMG" panose="020B0603020202020204" pitchFamily="34" charset="0"/>
              </a:rPr>
              <a:t>Allied: </a:t>
            </a:r>
            <a:r>
              <a:rPr lang="en-CA" dirty="0" smtClean="0">
                <a:solidFill>
                  <a:schemeClr val="tx1"/>
                </a:solidFill>
                <a:latin typeface="Univers for KPMG" panose="020B0603020202020204" pitchFamily="34" charset="0"/>
              </a:rPr>
              <a:t>Provides </a:t>
            </a:r>
            <a:r>
              <a:rPr lang="en-CA" dirty="0">
                <a:solidFill>
                  <a:schemeClr val="tx1"/>
                </a:solidFill>
                <a:latin typeface="Univers for KPMG" panose="020B0603020202020204" pitchFamily="34" charset="0"/>
              </a:rPr>
              <a:t>p</a:t>
            </a:r>
            <a:r>
              <a:rPr lang="en-CA" dirty="0" smtClean="0">
                <a:solidFill>
                  <a:schemeClr val="tx1"/>
                </a:solidFill>
                <a:latin typeface="Univers for KPMG" panose="020B0603020202020204" pitchFamily="34" charset="0"/>
              </a:rPr>
              <a:t>hysical and occupational therapy and speech language pathology services to rehab facilities, schools and homecare.</a:t>
            </a:r>
          </a:p>
          <a:p>
            <a:pPr marL="177800" lvl="2" indent="-177800" algn="just">
              <a:spcBef>
                <a:spcPts val="0"/>
              </a:spcBef>
              <a:spcAft>
                <a:spcPts val="400"/>
              </a:spcAft>
              <a:buClr>
                <a:srgbClr val="97989A"/>
              </a:buClr>
              <a:buFont typeface="Arial" pitchFamily="34" charset="0"/>
              <a:buChar char="■"/>
              <a:defRPr/>
            </a:pPr>
            <a:r>
              <a:rPr lang="en-CA" b="1" dirty="0">
                <a:solidFill>
                  <a:schemeClr val="tx1"/>
                </a:solidFill>
                <a:latin typeface="Univers for KPMG" panose="020B0603020202020204" pitchFamily="34" charset="0"/>
              </a:rPr>
              <a:t>Nursing</a:t>
            </a:r>
            <a:r>
              <a:rPr lang="en-CA" b="1" dirty="0" smtClean="0">
                <a:solidFill>
                  <a:schemeClr val="tx1"/>
                </a:solidFill>
                <a:latin typeface="Univers for KPMG" panose="020B0603020202020204" pitchFamily="34" charset="0"/>
              </a:rPr>
              <a:t>: </a:t>
            </a:r>
            <a:r>
              <a:rPr lang="en-CA" dirty="0" smtClean="0">
                <a:solidFill>
                  <a:schemeClr val="tx1"/>
                </a:solidFill>
                <a:latin typeface="Univers for KPMG" panose="020B0603020202020204" pitchFamily="34" charset="0"/>
              </a:rPr>
              <a:t>Provides temporary nurse staffing solutions to hospitals, nursing homes, government agencies and schools.</a:t>
            </a:r>
            <a:endParaRPr lang="en-CA" dirty="0">
              <a:solidFill>
                <a:schemeClr val="tx1"/>
              </a:solidFill>
              <a:latin typeface="Univers for KPMG" panose="020B0603020202020204" pitchFamily="34" charset="0"/>
            </a:endParaRPr>
          </a:p>
          <a:p>
            <a:pPr marL="177800" lvl="2" indent="-177800" algn="just">
              <a:spcBef>
                <a:spcPts val="0"/>
              </a:spcBef>
              <a:spcAft>
                <a:spcPts val="400"/>
              </a:spcAft>
              <a:buClr>
                <a:srgbClr val="97989A"/>
              </a:buClr>
              <a:buFont typeface="Arial" pitchFamily="34" charset="0"/>
              <a:buChar char="■"/>
              <a:defRPr/>
            </a:pPr>
            <a:r>
              <a:rPr lang="en-CA" b="1" dirty="0" smtClean="0">
                <a:solidFill>
                  <a:schemeClr val="tx1"/>
                </a:solidFill>
                <a:latin typeface="Univers for KPMG" panose="020B0603020202020204" pitchFamily="34" charset="0"/>
              </a:rPr>
              <a:t>IT, Scientific and Clinical: </a:t>
            </a:r>
            <a:r>
              <a:rPr lang="en-CA" dirty="0" smtClean="0">
                <a:solidFill>
                  <a:schemeClr val="tx1"/>
                </a:solidFill>
                <a:latin typeface="Univers for KPMG" panose="020B0603020202020204" pitchFamily="34" charset="0"/>
              </a:rPr>
              <a:t>Provides scientist and technician support for pharmaceutical and diagnostic laboratories as well as IT staffing and software solutions.</a:t>
            </a:r>
          </a:p>
          <a:p>
            <a:pPr marL="177800" lvl="2" indent="-177800" algn="just">
              <a:spcBef>
                <a:spcPts val="0"/>
              </a:spcBef>
              <a:spcAft>
                <a:spcPts val="400"/>
              </a:spcAft>
              <a:buClr>
                <a:srgbClr val="97989A"/>
              </a:buClr>
              <a:buFont typeface="Arial" pitchFamily="34" charset="0"/>
              <a:buChar char="■"/>
              <a:defRPr/>
            </a:pPr>
            <a:r>
              <a:rPr lang="en-CA" b="1" dirty="0" smtClean="0">
                <a:solidFill>
                  <a:schemeClr val="tx1"/>
                </a:solidFill>
                <a:latin typeface="Univers for KPMG" panose="020B0603020202020204" pitchFamily="34" charset="0"/>
              </a:rPr>
              <a:t>Payroll: </a:t>
            </a:r>
            <a:r>
              <a:rPr lang="en-CA" dirty="0" smtClean="0">
                <a:solidFill>
                  <a:schemeClr val="tx1"/>
                </a:solidFill>
                <a:latin typeface="Univers for KPMG" panose="020B0603020202020204" pitchFamily="34" charset="0"/>
              </a:rPr>
              <a:t>The Company utilizes separate entities to process payroll across the various businesses and divisions.</a:t>
            </a:r>
          </a:p>
          <a:p>
            <a:pPr marL="177800" lvl="2" indent="-177800" algn="just">
              <a:spcBef>
                <a:spcPts val="0"/>
              </a:spcBef>
              <a:spcAft>
                <a:spcPts val="400"/>
              </a:spcAft>
              <a:buClr>
                <a:srgbClr val="97989A"/>
              </a:buClr>
              <a:buFont typeface="Arial" pitchFamily="34" charset="0"/>
              <a:buChar char="■"/>
              <a:defRPr/>
            </a:pPr>
            <a:r>
              <a:rPr lang="en-CA" b="1" dirty="0" smtClean="0">
                <a:solidFill>
                  <a:schemeClr val="tx1"/>
                </a:solidFill>
                <a:latin typeface="Univers for KPMG" panose="020B0603020202020204" pitchFamily="34" charset="0"/>
              </a:rPr>
              <a:t>India: </a:t>
            </a:r>
            <a:r>
              <a:rPr lang="en-CA" dirty="0" smtClean="0">
                <a:solidFill>
                  <a:schemeClr val="tx1"/>
                </a:solidFill>
                <a:latin typeface="Univers for KPMG" panose="020B0603020202020204" pitchFamily="34" charset="0"/>
              </a:rPr>
              <a:t>Provides back office, IT (including software development) and recruitment support to the Company as well as some third party sales in India.</a:t>
            </a:r>
          </a:p>
          <a:p>
            <a:pPr marL="177800" lvl="2" indent="-177800" algn="just">
              <a:spcBef>
                <a:spcPts val="0"/>
              </a:spcBef>
              <a:buClr>
                <a:srgbClr val="97989A"/>
              </a:buClr>
              <a:buFont typeface="Arial" pitchFamily="34" charset="0"/>
              <a:buChar char="■"/>
              <a:defRPr/>
            </a:pPr>
            <a:r>
              <a:rPr lang="en-CA" b="1" dirty="0" smtClean="0">
                <a:solidFill>
                  <a:schemeClr val="tx1"/>
                </a:solidFill>
                <a:latin typeface="Univers for KPMG" panose="020B0603020202020204" pitchFamily="34" charset="0"/>
              </a:rPr>
              <a:t>Switzerland</a:t>
            </a:r>
            <a:r>
              <a:rPr lang="en-CA" dirty="0" smtClean="0">
                <a:solidFill>
                  <a:schemeClr val="tx1"/>
                </a:solidFill>
                <a:latin typeface="Univers for KPMG" panose="020B0603020202020204" pitchFamily="34" charset="0"/>
              </a:rPr>
              <a:t>: European branch focuses on growth and third party sales.</a:t>
            </a:r>
          </a:p>
          <a:p>
            <a:pPr marL="0" lvl="2" indent="0" algn="just">
              <a:spcBef>
                <a:spcPts val="0"/>
              </a:spcBef>
              <a:buClr>
                <a:srgbClr val="97989A"/>
              </a:buClr>
              <a:buNone/>
              <a:defRPr/>
            </a:pPr>
            <a:r>
              <a:rPr lang="en-CA" b="1" dirty="0" smtClean="0">
                <a:latin typeface="Univers for KPMG" panose="020B0603020202020204" pitchFamily="34" charset="0"/>
                <a:cs typeface="Univers for KPMG" panose="020B0603020202020204" pitchFamily="34" charset="0"/>
              </a:rPr>
              <a:t>Transaction overview</a:t>
            </a:r>
          </a:p>
          <a:p>
            <a:pPr marL="0" lvl="2" indent="0" algn="just">
              <a:spcBef>
                <a:spcPts val="0"/>
              </a:spcBef>
              <a:buClr>
                <a:srgbClr val="97989A"/>
              </a:buClr>
              <a:buNone/>
              <a:defRPr/>
            </a:pPr>
            <a:r>
              <a:rPr lang="en-US" dirty="0" smtClean="0">
                <a:solidFill>
                  <a:schemeClr val="tx1"/>
                </a:solidFill>
                <a:latin typeface="Univers for KPMG" panose="020B0603020202020204" pitchFamily="34" charset="0"/>
              </a:rPr>
              <a:t>The Transaction contemplates DWHP’s potential acquisition of an ownership interest in Aequor Healthcare Services, LLC, Aequor Technologies, Inc., and its affiliated entities.</a:t>
            </a:r>
            <a:endParaRPr lang="en-CA" sz="850" dirty="0">
              <a:solidFill>
                <a:srgbClr val="FF0000"/>
              </a:solidFill>
              <a:latin typeface="Univers for KPMG" panose="020B0603020202020204" pitchFamily="34" charset="0"/>
            </a:endParaRPr>
          </a:p>
        </p:txBody>
      </p:sp>
      <p:sp>
        <p:nvSpPr>
          <p:cNvPr id="23" name="Rectangle 22"/>
          <p:cNvSpPr/>
          <p:nvPr/>
        </p:nvSpPr>
        <p:spPr>
          <a:xfrm>
            <a:off x="1746557" y="1406759"/>
            <a:ext cx="1222359" cy="366282"/>
          </a:xfrm>
          <a:prstGeom prst="rect">
            <a:avLst/>
          </a:prstGeom>
          <a:solidFill>
            <a:srgbClr val="470A68"/>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US" sz="700" dirty="0" smtClean="0">
                <a:latin typeface="Univers for KPMG" panose="020B0603020202020204" pitchFamily="34" charset="0"/>
              </a:rPr>
              <a:t>Manmeet S. Virdi (50%)</a:t>
            </a:r>
          </a:p>
          <a:p>
            <a:pPr algn="ctr"/>
            <a:r>
              <a:rPr lang="en-US" sz="700" dirty="0" smtClean="0">
                <a:solidFill>
                  <a:schemeClr val="bg1"/>
                </a:solidFill>
                <a:latin typeface="Univers for KPMG" panose="020B0603020202020204" pitchFamily="34" charset="0"/>
              </a:rPr>
              <a:t>Kamalpreet S. Virdi (50%)</a:t>
            </a:r>
            <a:endParaRPr lang="en-US" sz="700" dirty="0">
              <a:solidFill>
                <a:schemeClr val="bg1"/>
              </a:solidFill>
              <a:latin typeface="Univers for KPMG" panose="020B0603020202020204" pitchFamily="34" charset="0"/>
            </a:endParaRPr>
          </a:p>
        </p:txBody>
      </p:sp>
      <p:sp>
        <p:nvSpPr>
          <p:cNvPr id="29" name="TextBox 28"/>
          <p:cNvSpPr txBox="1"/>
          <p:nvPr/>
        </p:nvSpPr>
        <p:spPr>
          <a:xfrm>
            <a:off x="1295773" y="5720381"/>
            <a:ext cx="2472397" cy="369332"/>
          </a:xfrm>
          <a:prstGeom prst="rect">
            <a:avLst/>
          </a:prstGeom>
          <a:noFill/>
        </p:spPr>
        <p:txBody>
          <a:bodyPr wrap="square" lIns="0" tIns="0" rIns="0" bIns="0" rtlCol="0">
            <a:spAutoFit/>
          </a:bodyPr>
          <a:lstStyle/>
          <a:p>
            <a:pPr indent="-400050" defTabSz="914400"/>
            <a:r>
              <a:rPr lang="en-US" sz="600" dirty="0" smtClean="0">
                <a:solidFill>
                  <a:srgbClr val="000000"/>
                </a:solidFill>
              </a:rPr>
              <a:t>Note: FY15 figures are based on the audited USA financial statements and information provided by Management.  The due diligence and analysis herein focuses solely on FY16 and FY17. </a:t>
            </a:r>
          </a:p>
          <a:p>
            <a:pPr marL="400050" indent="-400050" defTabSz="914400"/>
            <a:r>
              <a:rPr lang="en-US" sz="600" i="1" dirty="0" smtClean="0">
                <a:solidFill>
                  <a:srgbClr val="000000"/>
                </a:solidFill>
              </a:rPr>
              <a:t>Source: Management provided information</a:t>
            </a:r>
            <a:endParaRPr lang="en-US" sz="600" i="1" dirty="0">
              <a:solidFill>
                <a:srgbClr val="000000"/>
              </a:solidFill>
            </a:endParaRPr>
          </a:p>
        </p:txBody>
      </p:sp>
      <p:sp>
        <p:nvSpPr>
          <p:cNvPr id="95" name="Rectangle 94"/>
          <p:cNvSpPr/>
          <p:nvPr/>
        </p:nvSpPr>
        <p:spPr>
          <a:xfrm>
            <a:off x="339706" y="3771019"/>
            <a:ext cx="4065997" cy="240120"/>
          </a:xfrm>
          <a:prstGeom prst="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r>
              <a:rPr lang="en-US" sz="900" b="1" dirty="0" smtClean="0">
                <a:solidFill>
                  <a:schemeClr val="bg1"/>
                </a:solidFill>
                <a:latin typeface="Univers for KPMG" panose="020B0603020202020204" pitchFamily="34" charset="0"/>
              </a:rPr>
              <a:t>Financial summary</a:t>
            </a:r>
            <a:endParaRPr lang="en-US" sz="900" b="1" dirty="0">
              <a:solidFill>
                <a:schemeClr val="bg1"/>
              </a:solidFill>
              <a:latin typeface="Univers for KPMG" panose="020B0603020202020204" pitchFamily="34" charset="0"/>
            </a:endParaRPr>
          </a:p>
        </p:txBody>
      </p:sp>
      <p:sp>
        <p:nvSpPr>
          <p:cNvPr id="25" name="TextBox 24"/>
          <p:cNvSpPr txBox="1"/>
          <p:nvPr/>
        </p:nvSpPr>
        <p:spPr>
          <a:xfrm>
            <a:off x="429768" y="3587161"/>
            <a:ext cx="2334973" cy="92333"/>
          </a:xfrm>
          <a:prstGeom prst="rect">
            <a:avLst/>
          </a:prstGeom>
          <a:noFill/>
        </p:spPr>
        <p:txBody>
          <a:bodyPr wrap="square" lIns="0" tIns="0" rIns="0" bIns="0" rtlCol="0">
            <a:spAutoFit/>
          </a:bodyPr>
          <a:lstStyle/>
          <a:p>
            <a:pPr marL="400050" indent="-400050" defTabSz="914400"/>
            <a:r>
              <a:rPr lang="en-US" sz="600" i="1" dirty="0" smtClean="0">
                <a:solidFill>
                  <a:srgbClr val="000000"/>
                </a:solidFill>
              </a:rPr>
              <a:t>Source: Aequor corporate structure</a:t>
            </a:r>
            <a:endParaRPr lang="en-US" sz="600" i="1" dirty="0">
              <a:solidFill>
                <a:srgbClr val="000000"/>
              </a:solidFill>
            </a:endParaRPr>
          </a:p>
        </p:txBody>
      </p:sp>
      <p:sp>
        <p:nvSpPr>
          <p:cNvPr id="31" name="Rectangle 30"/>
          <p:cNvSpPr/>
          <p:nvPr/>
        </p:nvSpPr>
        <p:spPr>
          <a:xfrm>
            <a:off x="426944" y="2057967"/>
            <a:ext cx="685800" cy="316507"/>
          </a:xfrm>
          <a:prstGeom prst="rect">
            <a:avLst/>
          </a:prstGeom>
          <a:solidFill>
            <a:srgbClr val="005EB8"/>
          </a:solidFill>
          <a:ln>
            <a:solidFill>
              <a:srgbClr val="005EB8"/>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US" sz="700" dirty="0" smtClean="0">
                <a:solidFill>
                  <a:schemeClr val="bg1"/>
                </a:solidFill>
                <a:latin typeface="Univers for KPMG" panose="020B0603020202020204" pitchFamily="34" charset="0"/>
              </a:rPr>
              <a:t>Allied</a:t>
            </a:r>
            <a:endParaRPr lang="en-US" sz="700" dirty="0" smtClean="0">
              <a:solidFill>
                <a:srgbClr val="00338D"/>
              </a:solidFill>
            </a:endParaRPr>
          </a:p>
        </p:txBody>
      </p:sp>
      <p:sp>
        <p:nvSpPr>
          <p:cNvPr id="36" name="Rectangle 35"/>
          <p:cNvSpPr/>
          <p:nvPr/>
        </p:nvSpPr>
        <p:spPr>
          <a:xfrm>
            <a:off x="1219380" y="2056200"/>
            <a:ext cx="685800" cy="320040"/>
          </a:xfrm>
          <a:prstGeom prst="rect">
            <a:avLst/>
          </a:prstGeom>
          <a:solidFill>
            <a:srgbClr val="005EB8"/>
          </a:solidFill>
          <a:ln>
            <a:solidFill>
              <a:srgbClr val="005EB8"/>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US" sz="700" dirty="0" smtClean="0">
                <a:solidFill>
                  <a:schemeClr val="bg1"/>
                </a:solidFill>
                <a:latin typeface="Univers for KPMG" panose="020B0603020202020204" pitchFamily="34" charset="0"/>
              </a:rPr>
              <a:t>IT / Scientific and Clinical</a:t>
            </a:r>
            <a:endParaRPr lang="en-US" sz="700" dirty="0" smtClean="0">
              <a:solidFill>
                <a:srgbClr val="00338D"/>
              </a:solidFill>
            </a:endParaRPr>
          </a:p>
        </p:txBody>
      </p:sp>
      <p:sp>
        <p:nvSpPr>
          <p:cNvPr id="38" name="Rectangle 37"/>
          <p:cNvSpPr/>
          <p:nvPr/>
        </p:nvSpPr>
        <p:spPr>
          <a:xfrm>
            <a:off x="3597876" y="2051188"/>
            <a:ext cx="685800" cy="320040"/>
          </a:xfrm>
          <a:prstGeom prst="rect">
            <a:avLst/>
          </a:prstGeom>
          <a:solidFill>
            <a:srgbClr val="005EB8"/>
          </a:solidFill>
          <a:ln>
            <a:solidFill>
              <a:srgbClr val="005EB8"/>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US" sz="700" dirty="0" smtClean="0">
                <a:solidFill>
                  <a:schemeClr val="bg1"/>
                </a:solidFill>
              </a:rPr>
              <a:t>India &amp; Switzerland</a:t>
            </a:r>
          </a:p>
        </p:txBody>
      </p:sp>
      <p:sp>
        <p:nvSpPr>
          <p:cNvPr id="39" name="Rectangle 38"/>
          <p:cNvSpPr/>
          <p:nvPr/>
        </p:nvSpPr>
        <p:spPr>
          <a:xfrm>
            <a:off x="423610" y="2465814"/>
            <a:ext cx="688409" cy="897357"/>
          </a:xfrm>
          <a:prstGeom prst="rect">
            <a:avLst/>
          </a:prstGeom>
          <a:solidFill>
            <a:srgbClr val="0091DA"/>
          </a:solidFill>
          <a:ln>
            <a:solidFill>
              <a:srgbClr val="0091DA"/>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spcAft>
                <a:spcPts val="600"/>
              </a:spcAft>
            </a:pPr>
            <a:r>
              <a:rPr lang="en-US" sz="700" dirty="0" smtClean="0">
                <a:solidFill>
                  <a:schemeClr val="bg1"/>
                </a:solidFill>
                <a:latin typeface="Univers for KPMG" panose="020B0603020202020204" pitchFamily="34" charset="0"/>
              </a:rPr>
              <a:t>Therapy Staff</a:t>
            </a:r>
          </a:p>
          <a:p>
            <a:pPr algn="ctr"/>
            <a:r>
              <a:rPr lang="en-US" sz="700" dirty="0" smtClean="0">
                <a:solidFill>
                  <a:schemeClr val="bg1"/>
                </a:solidFill>
                <a:latin typeface="Univers for KPMG" panose="020B0603020202020204" pitchFamily="34" charset="0"/>
              </a:rPr>
              <a:t>TheraStaff</a:t>
            </a:r>
            <a:endParaRPr lang="en-US" sz="700" dirty="0">
              <a:solidFill>
                <a:schemeClr val="bg1"/>
              </a:solidFill>
              <a:latin typeface="Univers for KPMG" panose="020B0603020202020204" pitchFamily="34" charset="0"/>
            </a:endParaRPr>
          </a:p>
          <a:p>
            <a:pPr algn="ctr"/>
            <a:endParaRPr lang="en-US" sz="700" dirty="0">
              <a:solidFill>
                <a:schemeClr val="bg1"/>
              </a:solidFill>
              <a:latin typeface="Univers for KPMG" panose="020B0603020202020204" pitchFamily="34" charset="0"/>
            </a:endParaRPr>
          </a:p>
        </p:txBody>
      </p:sp>
      <p:sp>
        <p:nvSpPr>
          <p:cNvPr id="40" name="Rectangle 39"/>
          <p:cNvSpPr/>
          <p:nvPr/>
        </p:nvSpPr>
        <p:spPr>
          <a:xfrm>
            <a:off x="1212349" y="2465815"/>
            <a:ext cx="689760" cy="897356"/>
          </a:xfrm>
          <a:prstGeom prst="rect">
            <a:avLst/>
          </a:prstGeom>
          <a:solidFill>
            <a:srgbClr val="0091DA"/>
          </a:solidFill>
          <a:ln>
            <a:solidFill>
              <a:srgbClr val="0091DA"/>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US" sz="700" dirty="0" smtClean="0">
                <a:solidFill>
                  <a:schemeClr val="bg1"/>
                </a:solidFill>
                <a:latin typeface="Univers for KPMG" panose="020B0603020202020204" pitchFamily="34" charset="0"/>
              </a:rPr>
              <a:t>Aequor Technologies Inc.</a:t>
            </a:r>
            <a:endParaRPr lang="en-US" sz="700" dirty="0">
              <a:solidFill>
                <a:schemeClr val="bg1"/>
              </a:solidFill>
              <a:latin typeface="Univers for KPMG" panose="020B0603020202020204" pitchFamily="34" charset="0"/>
            </a:endParaRPr>
          </a:p>
          <a:p>
            <a:pPr algn="ctr"/>
            <a:endParaRPr lang="en-US" sz="800" dirty="0">
              <a:solidFill>
                <a:schemeClr val="bg1"/>
              </a:solidFill>
              <a:latin typeface="Univers for KPMG" panose="020B0603020202020204" pitchFamily="34" charset="0"/>
            </a:endParaRPr>
          </a:p>
        </p:txBody>
      </p:sp>
      <p:sp>
        <p:nvSpPr>
          <p:cNvPr id="41" name="Rectangle 40"/>
          <p:cNvSpPr/>
          <p:nvPr/>
        </p:nvSpPr>
        <p:spPr>
          <a:xfrm>
            <a:off x="2011816" y="2461398"/>
            <a:ext cx="685800" cy="901773"/>
          </a:xfrm>
          <a:prstGeom prst="rect">
            <a:avLst/>
          </a:prstGeom>
          <a:solidFill>
            <a:srgbClr val="0091DA"/>
          </a:solidFill>
          <a:ln>
            <a:solidFill>
              <a:srgbClr val="0091DA"/>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endParaRPr lang="en-US" sz="700" dirty="0" smtClean="0">
              <a:solidFill>
                <a:schemeClr val="bg1"/>
              </a:solidFill>
              <a:latin typeface="Univers for KPMG" panose="020B0603020202020204" pitchFamily="34" charset="0"/>
            </a:endParaRPr>
          </a:p>
          <a:p>
            <a:pPr algn="ctr">
              <a:spcAft>
                <a:spcPts val="600"/>
              </a:spcAft>
            </a:pPr>
            <a:r>
              <a:rPr lang="en-US" sz="700" dirty="0" smtClean="0">
                <a:solidFill>
                  <a:schemeClr val="bg1"/>
                </a:solidFill>
                <a:latin typeface="Univers for KPMG" panose="020B0603020202020204" pitchFamily="34" charset="0"/>
              </a:rPr>
              <a:t>Aequor Healthcare Services, LLC</a:t>
            </a:r>
          </a:p>
          <a:p>
            <a:pPr algn="ctr">
              <a:spcAft>
                <a:spcPts val="600"/>
              </a:spcAft>
            </a:pPr>
            <a:r>
              <a:rPr lang="en-US" sz="700" dirty="0" smtClean="0">
                <a:solidFill>
                  <a:schemeClr val="bg1"/>
                </a:solidFill>
                <a:latin typeface="Univers for KPMG" panose="020B0603020202020204" pitchFamily="34" charset="0"/>
              </a:rPr>
              <a:t>AHS Staffing</a:t>
            </a:r>
          </a:p>
          <a:p>
            <a:pPr algn="ctr"/>
            <a:r>
              <a:rPr lang="en-US" sz="700" dirty="0" smtClean="0">
                <a:solidFill>
                  <a:schemeClr val="bg1"/>
                </a:solidFill>
                <a:latin typeface="Univers for KPMG" panose="020B0603020202020204" pitchFamily="34" charset="0"/>
              </a:rPr>
              <a:t>Lititz</a:t>
            </a:r>
            <a:endParaRPr lang="en-US" sz="700" dirty="0">
              <a:solidFill>
                <a:schemeClr val="bg1"/>
              </a:solidFill>
              <a:latin typeface="Univers for KPMG" panose="020B0603020202020204" pitchFamily="34" charset="0"/>
            </a:endParaRPr>
          </a:p>
          <a:p>
            <a:pPr algn="ctr"/>
            <a:endParaRPr lang="en-US" sz="800" dirty="0">
              <a:solidFill>
                <a:schemeClr val="bg1"/>
              </a:solidFill>
              <a:latin typeface="Univers for KPMG" panose="020B0603020202020204" pitchFamily="34" charset="0"/>
            </a:endParaRPr>
          </a:p>
        </p:txBody>
      </p:sp>
      <p:sp>
        <p:nvSpPr>
          <p:cNvPr id="42" name="Rectangle 41"/>
          <p:cNvSpPr/>
          <p:nvPr/>
        </p:nvSpPr>
        <p:spPr>
          <a:xfrm>
            <a:off x="3599796" y="2460138"/>
            <a:ext cx="685800" cy="903033"/>
          </a:xfrm>
          <a:prstGeom prst="rect">
            <a:avLst/>
          </a:prstGeom>
          <a:solidFill>
            <a:srgbClr val="0091DA"/>
          </a:solidFill>
          <a:ln>
            <a:solidFill>
              <a:srgbClr val="0091DA"/>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spcAft>
                <a:spcPts val="600"/>
              </a:spcAft>
            </a:pPr>
            <a:r>
              <a:rPr lang="en-US" sz="700" dirty="0" smtClean="0">
                <a:solidFill>
                  <a:schemeClr val="bg1"/>
                </a:solidFill>
                <a:latin typeface="Univers for KPMG" panose="020B0603020202020204" pitchFamily="34" charset="0"/>
              </a:rPr>
              <a:t>Aequor Information Technology, PVT LTD</a:t>
            </a:r>
          </a:p>
          <a:p>
            <a:pPr algn="ctr"/>
            <a:r>
              <a:rPr lang="en-US" sz="700" dirty="0" smtClean="0">
                <a:solidFill>
                  <a:schemeClr val="bg1"/>
                </a:solidFill>
                <a:latin typeface="Univers for KPMG" panose="020B0603020202020204" pitchFamily="34" charset="0"/>
              </a:rPr>
              <a:t>Aequor Consulting Gmbh</a:t>
            </a:r>
            <a:endParaRPr lang="en-US" sz="800" dirty="0">
              <a:solidFill>
                <a:schemeClr val="bg1"/>
              </a:solidFill>
              <a:latin typeface="Univers for KPMG" panose="020B0603020202020204" pitchFamily="34" charset="0"/>
            </a:endParaRPr>
          </a:p>
        </p:txBody>
      </p:sp>
      <p:sp>
        <p:nvSpPr>
          <p:cNvPr id="43" name="Rectangle 42"/>
          <p:cNvSpPr/>
          <p:nvPr/>
        </p:nvSpPr>
        <p:spPr>
          <a:xfrm>
            <a:off x="2808309" y="2051188"/>
            <a:ext cx="685800" cy="320040"/>
          </a:xfrm>
          <a:prstGeom prst="rect">
            <a:avLst/>
          </a:prstGeom>
          <a:solidFill>
            <a:srgbClr val="005EB8"/>
          </a:solidFill>
          <a:ln>
            <a:solidFill>
              <a:srgbClr val="005EB8"/>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US" sz="700" dirty="0" smtClean="0">
                <a:solidFill>
                  <a:schemeClr val="bg1"/>
                </a:solidFill>
                <a:latin typeface="Univers for KPMG" panose="020B0603020202020204" pitchFamily="34" charset="0"/>
              </a:rPr>
              <a:t>Corporate (Payroll)</a:t>
            </a:r>
            <a:endParaRPr lang="en-US" sz="700" dirty="0" smtClean="0">
              <a:solidFill>
                <a:srgbClr val="00338D"/>
              </a:solidFill>
            </a:endParaRPr>
          </a:p>
        </p:txBody>
      </p:sp>
      <p:sp>
        <p:nvSpPr>
          <p:cNvPr id="44" name="Rectangle 43"/>
          <p:cNvSpPr/>
          <p:nvPr/>
        </p:nvSpPr>
        <p:spPr>
          <a:xfrm>
            <a:off x="2808309" y="2460140"/>
            <a:ext cx="685800" cy="903032"/>
          </a:xfrm>
          <a:prstGeom prst="rect">
            <a:avLst/>
          </a:prstGeom>
          <a:solidFill>
            <a:srgbClr val="0091DA"/>
          </a:solidFill>
          <a:ln>
            <a:solidFill>
              <a:srgbClr val="0091DA"/>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spcAft>
                <a:spcPts val="600"/>
              </a:spcAft>
            </a:pPr>
            <a:r>
              <a:rPr lang="en-US" sz="700" dirty="0" smtClean="0">
                <a:solidFill>
                  <a:schemeClr val="bg1"/>
                </a:solidFill>
                <a:latin typeface="Univers for KPMG" panose="020B0603020202020204" pitchFamily="34" charset="0"/>
              </a:rPr>
              <a:t>AHNV, LLC</a:t>
            </a:r>
          </a:p>
          <a:p>
            <a:pPr algn="ctr">
              <a:spcAft>
                <a:spcPts val="600"/>
              </a:spcAft>
            </a:pPr>
            <a:r>
              <a:rPr lang="en-US" sz="700" dirty="0" smtClean="0">
                <a:solidFill>
                  <a:schemeClr val="bg1"/>
                </a:solidFill>
                <a:latin typeface="Univers for KPMG" panose="020B0603020202020204" pitchFamily="34" charset="0"/>
              </a:rPr>
              <a:t>Aequor Healthcare Services, Inc</a:t>
            </a:r>
          </a:p>
        </p:txBody>
      </p:sp>
      <p:sp>
        <p:nvSpPr>
          <p:cNvPr id="47" name="Rectangle 46"/>
          <p:cNvSpPr/>
          <p:nvPr/>
        </p:nvSpPr>
        <p:spPr>
          <a:xfrm>
            <a:off x="2011816" y="2056200"/>
            <a:ext cx="685800" cy="320040"/>
          </a:xfrm>
          <a:prstGeom prst="rect">
            <a:avLst/>
          </a:prstGeom>
          <a:solidFill>
            <a:srgbClr val="005EB8"/>
          </a:solidFill>
          <a:ln>
            <a:solidFill>
              <a:srgbClr val="005EB8"/>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US" sz="700" dirty="0" smtClean="0">
                <a:solidFill>
                  <a:schemeClr val="bg1"/>
                </a:solidFill>
                <a:latin typeface="Univers for KPMG" panose="020B0603020202020204" pitchFamily="34" charset="0"/>
              </a:rPr>
              <a:t>Nursing</a:t>
            </a:r>
            <a:endParaRPr lang="en-US" sz="700" dirty="0" smtClean="0">
              <a:solidFill>
                <a:srgbClr val="00338D"/>
              </a:solidFill>
            </a:endParaRPr>
          </a:p>
        </p:txBody>
      </p:sp>
      <p:cxnSp>
        <p:nvCxnSpPr>
          <p:cNvPr id="11" name="Elbow Connector 10"/>
          <p:cNvCxnSpPr>
            <a:stCxn id="23" idx="2"/>
            <a:endCxn id="31" idx="0"/>
          </p:cNvCxnSpPr>
          <p:nvPr/>
        </p:nvCxnSpPr>
        <p:spPr>
          <a:xfrm rot="5400000">
            <a:off x="1421328" y="1121558"/>
            <a:ext cx="284926" cy="1587893"/>
          </a:xfrm>
          <a:prstGeom prst="bentConnector3">
            <a:avLst>
              <a:gd name="adj1" fmla="val 26871"/>
            </a:avLst>
          </a:prstGeom>
          <a:ln>
            <a:solidFill>
              <a:srgbClr val="6D2077"/>
            </a:solidFill>
            <a:tailEnd type="triangle"/>
          </a:ln>
        </p:spPr>
        <p:style>
          <a:lnRef idx="1">
            <a:schemeClr val="accent1"/>
          </a:lnRef>
          <a:fillRef idx="0">
            <a:schemeClr val="accent1"/>
          </a:fillRef>
          <a:effectRef idx="0">
            <a:schemeClr val="accent1"/>
          </a:effectRef>
          <a:fontRef idx="minor">
            <a:schemeClr val="tx1"/>
          </a:fontRef>
        </p:style>
      </p:cxnSp>
      <p:cxnSp>
        <p:nvCxnSpPr>
          <p:cNvPr id="48" name="Elbow Connector 47"/>
          <p:cNvCxnSpPr>
            <a:stCxn id="23" idx="2"/>
            <a:endCxn id="36" idx="0"/>
          </p:cNvCxnSpPr>
          <p:nvPr/>
        </p:nvCxnSpPr>
        <p:spPr>
          <a:xfrm rot="5400000">
            <a:off x="1818430" y="1516892"/>
            <a:ext cx="283159" cy="795457"/>
          </a:xfrm>
          <a:prstGeom prst="bentConnector3">
            <a:avLst>
              <a:gd name="adj1" fmla="val 26726"/>
            </a:avLst>
          </a:prstGeom>
          <a:ln>
            <a:solidFill>
              <a:srgbClr val="6D2077"/>
            </a:solidFill>
            <a:tailEnd type="triangle"/>
          </a:ln>
        </p:spPr>
        <p:style>
          <a:lnRef idx="1">
            <a:schemeClr val="accent1"/>
          </a:lnRef>
          <a:fillRef idx="0">
            <a:schemeClr val="accent1"/>
          </a:fillRef>
          <a:effectRef idx="0">
            <a:schemeClr val="accent1"/>
          </a:effectRef>
          <a:fontRef idx="minor">
            <a:schemeClr val="tx1"/>
          </a:fontRef>
        </p:style>
      </p:cxnSp>
      <p:cxnSp>
        <p:nvCxnSpPr>
          <p:cNvPr id="50" name="Elbow Connector 49"/>
          <p:cNvCxnSpPr>
            <a:stCxn id="23" idx="2"/>
            <a:endCxn id="38" idx="0"/>
          </p:cNvCxnSpPr>
          <p:nvPr/>
        </p:nvCxnSpPr>
        <p:spPr>
          <a:xfrm rot="16200000" flipH="1">
            <a:off x="3010183" y="1120594"/>
            <a:ext cx="278147" cy="1583039"/>
          </a:xfrm>
          <a:prstGeom prst="bentConnector3">
            <a:avLst>
              <a:gd name="adj1" fmla="val 26307"/>
            </a:avLst>
          </a:prstGeom>
          <a:ln>
            <a:solidFill>
              <a:srgbClr val="6D2077"/>
            </a:solidFill>
            <a:tailEnd type="triangle"/>
          </a:ln>
        </p:spPr>
        <p:style>
          <a:lnRef idx="1">
            <a:schemeClr val="accent1"/>
          </a:lnRef>
          <a:fillRef idx="0">
            <a:schemeClr val="accent1"/>
          </a:fillRef>
          <a:effectRef idx="0">
            <a:schemeClr val="accent1"/>
          </a:effectRef>
          <a:fontRef idx="minor">
            <a:schemeClr val="tx1"/>
          </a:fontRef>
        </p:style>
      </p:cxnSp>
      <p:cxnSp>
        <p:nvCxnSpPr>
          <p:cNvPr id="53" name="Elbow Connector 52"/>
          <p:cNvCxnSpPr>
            <a:stCxn id="23" idx="2"/>
            <a:endCxn id="43" idx="0"/>
          </p:cNvCxnSpPr>
          <p:nvPr/>
        </p:nvCxnSpPr>
        <p:spPr>
          <a:xfrm rot="16200000" flipH="1">
            <a:off x="2615400" y="1515378"/>
            <a:ext cx="278147" cy="793472"/>
          </a:xfrm>
          <a:prstGeom prst="bentConnector3">
            <a:avLst>
              <a:gd name="adj1" fmla="val 26307"/>
            </a:avLst>
          </a:prstGeom>
          <a:ln>
            <a:solidFill>
              <a:srgbClr val="6D2077"/>
            </a:solidFill>
            <a:tailEnd type="triangle"/>
          </a:ln>
        </p:spPr>
        <p:style>
          <a:lnRef idx="1">
            <a:schemeClr val="accent1"/>
          </a:lnRef>
          <a:fillRef idx="0">
            <a:schemeClr val="accent1"/>
          </a:fillRef>
          <a:effectRef idx="0">
            <a:schemeClr val="accent1"/>
          </a:effectRef>
          <a:fontRef idx="minor">
            <a:schemeClr val="tx1"/>
          </a:fontRef>
        </p:style>
      </p:cxnSp>
      <p:cxnSp>
        <p:nvCxnSpPr>
          <p:cNvPr id="62" name="Straight Arrow Connector 61"/>
          <p:cNvCxnSpPr>
            <a:stCxn id="23" idx="2"/>
            <a:endCxn id="47" idx="0"/>
          </p:cNvCxnSpPr>
          <p:nvPr/>
        </p:nvCxnSpPr>
        <p:spPr>
          <a:xfrm flipH="1">
            <a:off x="2354716" y="1773041"/>
            <a:ext cx="3021" cy="283159"/>
          </a:xfrm>
          <a:prstGeom prst="straightConnector1">
            <a:avLst/>
          </a:prstGeom>
          <a:ln>
            <a:solidFill>
              <a:srgbClr val="6D2077"/>
            </a:solidFill>
            <a:tailEnd type="triangle"/>
          </a:ln>
        </p:spPr>
        <p:style>
          <a:lnRef idx="1">
            <a:schemeClr val="accent1"/>
          </a:lnRef>
          <a:fillRef idx="0">
            <a:schemeClr val="accent1"/>
          </a:fillRef>
          <a:effectRef idx="0">
            <a:schemeClr val="accent1"/>
          </a:effectRef>
          <a:fontRef idx="minor">
            <a:schemeClr val="tx1"/>
          </a:fontRef>
        </p:style>
      </p:cxnSp>
      <p:sp>
        <p:nvSpPr>
          <p:cNvPr id="76" name="Rounded Rectangle 75"/>
          <p:cNvSpPr/>
          <p:nvPr/>
        </p:nvSpPr>
        <p:spPr>
          <a:xfrm>
            <a:off x="339706" y="1989132"/>
            <a:ext cx="3225046" cy="1500247"/>
          </a:xfrm>
          <a:prstGeom prst="roundRect">
            <a:avLst>
              <a:gd name="adj" fmla="val 4366"/>
            </a:avLst>
          </a:prstGeom>
          <a:noFill/>
          <a:ln w="15875">
            <a:solidFill>
              <a:srgbClr val="C6007E"/>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900" dirty="0" smtClean="0">
              <a:solidFill>
                <a:schemeClr val="bg1"/>
              </a:solidFill>
            </a:endParaRPr>
          </a:p>
        </p:txBody>
      </p:sp>
      <p:sp>
        <p:nvSpPr>
          <p:cNvPr id="78" name="TextBox 77"/>
          <p:cNvSpPr txBox="1"/>
          <p:nvPr/>
        </p:nvSpPr>
        <p:spPr>
          <a:xfrm>
            <a:off x="2383220" y="3374329"/>
            <a:ext cx="1121376" cy="92333"/>
          </a:xfrm>
          <a:prstGeom prst="rect">
            <a:avLst/>
          </a:prstGeom>
          <a:noFill/>
        </p:spPr>
        <p:txBody>
          <a:bodyPr wrap="square" lIns="0" tIns="0" rIns="0" bIns="0" rtlCol="0">
            <a:spAutoFit/>
          </a:bodyPr>
          <a:lstStyle/>
          <a:p>
            <a:pPr marL="400050" indent="-400050" defTabSz="914400"/>
            <a:r>
              <a:rPr lang="en-US" sz="600" b="1" i="1" dirty="0" smtClean="0">
                <a:solidFill>
                  <a:srgbClr val="C6007E"/>
                </a:solidFill>
              </a:rPr>
              <a:t>USA consolidation perimeter </a:t>
            </a:r>
            <a:endParaRPr lang="en-US" sz="600" b="1" i="1" dirty="0">
              <a:solidFill>
                <a:srgbClr val="C6007E"/>
              </a:solidFill>
            </a:endParaRPr>
          </a:p>
        </p:txBody>
      </p:sp>
      <p:sp>
        <p:nvSpPr>
          <p:cNvPr id="79" name="TextBox 78"/>
          <p:cNvSpPr txBox="1"/>
          <p:nvPr/>
        </p:nvSpPr>
        <p:spPr>
          <a:xfrm>
            <a:off x="3597876" y="3451815"/>
            <a:ext cx="936423" cy="92333"/>
          </a:xfrm>
          <a:prstGeom prst="rect">
            <a:avLst/>
          </a:prstGeom>
          <a:noFill/>
        </p:spPr>
        <p:txBody>
          <a:bodyPr wrap="square" lIns="0" tIns="0" rIns="0" bIns="0" rtlCol="0">
            <a:spAutoFit/>
          </a:bodyPr>
          <a:lstStyle/>
          <a:p>
            <a:pPr marL="400050" indent="-400050" defTabSz="914400"/>
            <a:r>
              <a:rPr lang="en-US" sz="600" b="1" i="1" dirty="0" smtClean="0">
                <a:solidFill>
                  <a:srgbClr val="00A3A1"/>
                </a:solidFill>
              </a:rPr>
              <a:t>Transaction perimeter </a:t>
            </a:r>
            <a:endParaRPr lang="en-US" sz="600" b="1" i="1" dirty="0">
              <a:solidFill>
                <a:srgbClr val="00A3A1"/>
              </a:solidFill>
            </a:endParaRPr>
          </a:p>
        </p:txBody>
      </p:sp>
      <p:pic>
        <p:nvPicPr>
          <p:cNvPr id="2" name="Picture 1"/>
          <p:cNvPicPr>
            <a:picLocks noChangeAspect="1"/>
          </p:cNvPicPr>
          <p:nvPr/>
        </p:nvPicPr>
        <p:blipFill>
          <a:blip r:embed="rId3"/>
          <a:stretch>
            <a:fillRect/>
          </a:stretch>
        </p:blipFill>
        <p:spPr>
          <a:xfrm>
            <a:off x="1282692" y="4102664"/>
            <a:ext cx="2485478" cy="1590481"/>
          </a:xfrm>
          <a:prstGeom prst="rect">
            <a:avLst/>
          </a:prstGeom>
        </p:spPr>
      </p:pic>
    </p:spTree>
    <p:extLst>
      <p:ext uri="{BB962C8B-B14F-4D97-AF65-F5344CB8AC3E}">
        <p14:creationId xmlns:p14="http://schemas.microsoft.com/office/powerpoint/2010/main" val="45693798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4"/>
          <a:stretch>
            <a:fillRect/>
          </a:stretch>
        </p:blipFill>
        <p:spPr>
          <a:xfrm>
            <a:off x="2104567" y="1421446"/>
            <a:ext cx="3318419" cy="2808806"/>
          </a:xfrm>
          <a:prstGeom prst="rect">
            <a:avLst/>
          </a:prstGeom>
        </p:spPr>
      </p:pic>
      <p:sp>
        <p:nvSpPr>
          <p:cNvPr id="14" name="Text Placeholder 1"/>
          <p:cNvSpPr>
            <a:spLocks noGrp="1"/>
          </p:cNvSpPr>
          <p:nvPr>
            <p:ph type="body" sz="quarter" idx="4294967295"/>
          </p:nvPr>
        </p:nvSpPr>
        <p:spPr>
          <a:xfrm>
            <a:off x="429768" y="1421447"/>
            <a:ext cx="1508760" cy="4589495"/>
          </a:xfrm>
          <a:prstGeom prst="rect">
            <a:avLst/>
          </a:prstGeom>
          <a:solidFill>
            <a:schemeClr val="accent1"/>
          </a:solidFill>
          <a:ln>
            <a:solidFill>
              <a:schemeClr val="accent1"/>
            </a:solidFill>
          </a:ln>
        </p:spPr>
        <p:txBody>
          <a:bodyPr vert="horz" lIns="54000" tIns="54000" rIns="54000" bIns="54000" rtlCol="0" anchor="t" anchorCtr="0">
            <a:noAutofit/>
          </a:bodyPr>
          <a:lstStyle/>
          <a:p>
            <a:r>
              <a:rPr lang="en-US" dirty="0" smtClean="0">
                <a:solidFill>
                  <a:schemeClr val="bg1"/>
                </a:solidFill>
                <a:latin typeface="Univers for KPMG" panose="020B0603020202020204" pitchFamily="34" charset="0"/>
              </a:rPr>
              <a:t>The adjacent tables present the operating results of the combined Company. The combined operating results include the operations in the USA, Switzerland and India. </a:t>
            </a:r>
            <a:endParaRPr lang="en-US" dirty="0">
              <a:solidFill>
                <a:schemeClr val="bg1"/>
              </a:solidFill>
              <a:latin typeface="Univers for KPMG" panose="020B0603020202020204" pitchFamily="34" charset="0"/>
            </a:endParaRPr>
          </a:p>
          <a:p>
            <a:r>
              <a:rPr lang="en-US" dirty="0" smtClean="0">
                <a:solidFill>
                  <a:schemeClr val="bg1"/>
                </a:solidFill>
                <a:latin typeface="Univers for KPMG" panose="020B0603020202020204" pitchFamily="34" charset="0"/>
              </a:rPr>
              <a:t>The Company prepares its USA entity financial statements in accordance with US GAAP and its fiscal year end is December 31</a:t>
            </a:r>
            <a:r>
              <a:rPr lang="en-US" baseline="30000" dirty="0" smtClean="0">
                <a:solidFill>
                  <a:schemeClr val="bg1"/>
                </a:solidFill>
                <a:latin typeface="Univers for KPMG" panose="020B0603020202020204" pitchFamily="34" charset="0"/>
              </a:rPr>
              <a:t>st</a:t>
            </a:r>
            <a:r>
              <a:rPr lang="en-US" dirty="0" smtClean="0">
                <a:solidFill>
                  <a:schemeClr val="bg1"/>
                </a:solidFill>
                <a:latin typeface="Univers for KPMG" panose="020B0603020202020204" pitchFamily="34" charset="0"/>
              </a:rPr>
              <a:t>.</a:t>
            </a:r>
          </a:p>
          <a:p>
            <a:r>
              <a:rPr lang="en-US" dirty="0" smtClean="0">
                <a:solidFill>
                  <a:schemeClr val="bg1"/>
                </a:solidFill>
                <a:latin typeface="Univers for KPMG" panose="020B0603020202020204" pitchFamily="34" charset="0"/>
              </a:rPr>
              <a:t>The FY15 and FY16 financial statements for the USA entity are audited by Rosenberg Rich Baker Berman &amp; Company (“RRBB”).  The Swiss and Indian entities are not audited.</a:t>
            </a:r>
          </a:p>
          <a:p>
            <a:r>
              <a:rPr lang="en-US" dirty="0" smtClean="0">
                <a:solidFill>
                  <a:schemeClr val="bg1"/>
                </a:solidFill>
                <a:latin typeface="Univers for KPMG" panose="020B0603020202020204" pitchFamily="34" charset="0"/>
              </a:rPr>
              <a:t>Refer to Appendix 2 for a reconciliation of the internal Management accounts to the audited financial statements.</a:t>
            </a:r>
          </a:p>
        </p:txBody>
      </p:sp>
      <p:sp>
        <p:nvSpPr>
          <p:cNvPr id="6" name="Titre 5"/>
          <p:cNvSpPr>
            <a:spLocks noGrp="1"/>
          </p:cNvSpPr>
          <p:nvPr>
            <p:ph type="title"/>
          </p:nvPr>
        </p:nvSpPr>
        <p:spPr>
          <a:xfrm>
            <a:off x="431800" y="228600"/>
            <a:ext cx="8280400" cy="784830"/>
          </a:xfrm>
        </p:spPr>
        <p:txBody>
          <a:bodyPr/>
          <a:lstStyle/>
          <a:p>
            <a:r>
              <a:rPr lang="en-CA" sz="2400" dirty="0" smtClean="0">
                <a:solidFill>
                  <a:schemeClr val="bg1">
                    <a:lumMod val="50000"/>
                  </a:schemeClr>
                </a:solidFill>
              </a:rPr>
              <a:t>Executive summary</a:t>
            </a:r>
            <a:r>
              <a:rPr lang="en-CA" dirty="0"/>
              <a:t/>
            </a:r>
            <a:br>
              <a:rPr lang="en-CA" dirty="0"/>
            </a:br>
            <a:r>
              <a:rPr lang="en-CA" sz="4400" dirty="0"/>
              <a:t>Summary financial </a:t>
            </a:r>
            <a:r>
              <a:rPr lang="en-CA" sz="4400" dirty="0" smtClean="0"/>
              <a:t>statements</a:t>
            </a:r>
            <a:endParaRPr lang="en-CA" sz="4400" dirty="0"/>
          </a:p>
        </p:txBody>
      </p:sp>
      <p:sp>
        <p:nvSpPr>
          <p:cNvPr id="9" name="TextBox 8"/>
          <p:cNvSpPr txBox="1"/>
          <p:nvPr/>
        </p:nvSpPr>
        <p:spPr>
          <a:xfrm>
            <a:off x="2104567" y="4230252"/>
            <a:ext cx="2598880" cy="184666"/>
          </a:xfrm>
          <a:prstGeom prst="rect">
            <a:avLst/>
          </a:prstGeom>
          <a:noFill/>
        </p:spPr>
        <p:txBody>
          <a:bodyPr wrap="square" lIns="0" tIns="0" rIns="0" bIns="0" rtlCol="0">
            <a:spAutoFit/>
          </a:bodyPr>
          <a:lstStyle/>
          <a:p>
            <a:pPr marL="400050" indent="-400050" defTabSz="914400"/>
            <a:r>
              <a:rPr lang="en-US" sz="600" i="1" dirty="0" smtClean="0">
                <a:solidFill>
                  <a:srgbClr val="000000"/>
                </a:solidFill>
              </a:rPr>
              <a:t>Source: Management provided information</a:t>
            </a:r>
          </a:p>
          <a:p>
            <a:pPr marL="400050" indent="-400050" defTabSz="914400"/>
            <a:r>
              <a:rPr lang="en-US" sz="600" i="1" dirty="0">
                <a:solidFill>
                  <a:srgbClr val="000000"/>
                </a:solidFill>
              </a:rPr>
              <a:t>Note: FY15 combined does not include the results of Switzerland</a:t>
            </a:r>
            <a:r>
              <a:rPr lang="en-US" sz="600" i="1" dirty="0" smtClean="0">
                <a:solidFill>
                  <a:srgbClr val="000000"/>
                </a:solidFill>
              </a:rPr>
              <a:t>.</a:t>
            </a:r>
            <a:endParaRPr lang="en-US" sz="600" i="1" dirty="0">
              <a:solidFill>
                <a:srgbClr val="000000"/>
              </a:solidFill>
            </a:endParaRPr>
          </a:p>
        </p:txBody>
      </p:sp>
      <p:sp>
        <p:nvSpPr>
          <p:cNvPr id="10" name="Rectangle 4"/>
          <p:cNvSpPr>
            <a:spLocks noChangeArrowheads="1"/>
          </p:cNvSpPr>
          <p:nvPr>
            <p:custDataLst>
              <p:tags r:id="rId1"/>
            </p:custDataLst>
          </p:nvPr>
        </p:nvSpPr>
        <p:spPr bwMode="gray">
          <a:xfrm>
            <a:off x="2104567" y="5081663"/>
            <a:ext cx="5681396" cy="929279"/>
          </a:xfrm>
          <a:prstGeom prst="rect">
            <a:avLst/>
          </a:prstGeom>
          <a:noFill/>
          <a:ln w="6350">
            <a:solidFill>
              <a:srgbClr val="00338D"/>
            </a:solidFill>
            <a:miter lim="800000"/>
            <a:headEnd/>
            <a:tailEnd/>
          </a:ln>
          <a:effectLst/>
        </p:spPr>
        <p:txBody>
          <a:bodyPr wrap="square" lIns="54000" tIns="54000" rIns="54000" bIns="54000" anchor="ctr" anchorCtr="1">
            <a:spAutoFit/>
          </a:bodyPr>
          <a:lstStyle/>
          <a:p>
            <a:pPr defTabSz="762000" eaLnBrk="0" hangingPunct="0">
              <a:lnSpc>
                <a:spcPct val="90000"/>
              </a:lnSpc>
              <a:spcBef>
                <a:spcPts val="600"/>
              </a:spcBef>
              <a:spcAft>
                <a:spcPts val="600"/>
              </a:spcAft>
            </a:pPr>
            <a:r>
              <a:rPr lang="en-US" sz="700" b="1" dirty="0">
                <a:solidFill>
                  <a:srgbClr val="00338D"/>
                </a:solidFill>
              </a:rPr>
              <a:t>Basis of </a:t>
            </a:r>
            <a:r>
              <a:rPr lang="en-US" sz="700" b="1" dirty="0" smtClean="0">
                <a:solidFill>
                  <a:srgbClr val="00338D"/>
                </a:solidFill>
              </a:rPr>
              <a:t>presentation</a:t>
            </a:r>
          </a:p>
          <a:p>
            <a:pPr marL="171450" indent="-171450">
              <a:buClr>
                <a:schemeClr val="tx2"/>
              </a:buClr>
              <a:buFont typeface="Arial" panose="020B0604020202020204" pitchFamily="34" charset="0"/>
              <a:buChar char="—"/>
            </a:pPr>
            <a:r>
              <a:rPr lang="en-US" sz="700" dirty="0" smtClean="0">
                <a:solidFill>
                  <a:srgbClr val="00338D"/>
                </a:solidFill>
              </a:rPr>
              <a:t>The USA financial </a:t>
            </a:r>
            <a:r>
              <a:rPr lang="en-US" sz="700" dirty="0">
                <a:solidFill>
                  <a:srgbClr val="00338D"/>
                </a:solidFill>
              </a:rPr>
              <a:t>statements include the accounts of Aequor Technologies Inc., Aequor Healthcare Services LLC, AHS Staffing, Inc., Aequor Therapy Staff, Aequor Healthcare </a:t>
            </a:r>
            <a:r>
              <a:rPr lang="en-US" sz="700" dirty="0" smtClean="0">
                <a:solidFill>
                  <a:srgbClr val="00338D"/>
                </a:solidFill>
              </a:rPr>
              <a:t>Services </a:t>
            </a:r>
            <a:r>
              <a:rPr lang="en-US" sz="700" dirty="0">
                <a:solidFill>
                  <a:srgbClr val="00338D"/>
                </a:solidFill>
              </a:rPr>
              <a:t>Inc</a:t>
            </a:r>
            <a:r>
              <a:rPr lang="en-US" sz="700" dirty="0" smtClean="0">
                <a:solidFill>
                  <a:srgbClr val="00338D"/>
                </a:solidFill>
              </a:rPr>
              <a:t>., </a:t>
            </a:r>
            <a:r>
              <a:rPr lang="en-US" sz="700" dirty="0">
                <a:solidFill>
                  <a:srgbClr val="00338D"/>
                </a:solidFill>
              </a:rPr>
              <a:t>Lititz Healthcare Staffing Solutions LLC, AHH LLC, and AHNV </a:t>
            </a:r>
            <a:r>
              <a:rPr lang="en-US" sz="700" dirty="0" smtClean="0">
                <a:solidFill>
                  <a:srgbClr val="00338D"/>
                </a:solidFill>
              </a:rPr>
              <a:t>LLC</a:t>
            </a:r>
            <a:r>
              <a:rPr lang="en-US" sz="700" dirty="0">
                <a:solidFill>
                  <a:srgbClr val="00338D"/>
                </a:solidFill>
              </a:rPr>
              <a:t> </a:t>
            </a:r>
            <a:r>
              <a:rPr lang="en-US" sz="700" dirty="0" smtClean="0">
                <a:solidFill>
                  <a:srgbClr val="00338D"/>
                </a:solidFill>
              </a:rPr>
              <a:t>(collectively, Aequor USA).</a:t>
            </a:r>
          </a:p>
          <a:p>
            <a:pPr marL="171450" indent="-171450">
              <a:buClr>
                <a:schemeClr val="tx2"/>
              </a:buClr>
              <a:buFont typeface="Arial" panose="020B0604020202020204" pitchFamily="34" charset="0"/>
              <a:buChar char="—"/>
            </a:pPr>
            <a:r>
              <a:rPr lang="en-US" sz="700" dirty="0" smtClean="0">
                <a:solidFill>
                  <a:srgbClr val="00338D"/>
                </a:solidFill>
              </a:rPr>
              <a:t>The above noted combined financial results are based on the combined USA, Switzerland and India entities. As a result, intercompany transactions are not eliminated and figures are presented on a gross basis.  Intercompany transactions primarily relate to the funding of the Swiss and Indian entities by Aequor USA.</a:t>
            </a:r>
          </a:p>
        </p:txBody>
      </p:sp>
      <p:sp>
        <p:nvSpPr>
          <p:cNvPr id="16" name="TextBox 15"/>
          <p:cNvSpPr txBox="1"/>
          <p:nvPr/>
        </p:nvSpPr>
        <p:spPr>
          <a:xfrm>
            <a:off x="5541400" y="4213980"/>
            <a:ext cx="2598880" cy="92333"/>
          </a:xfrm>
          <a:prstGeom prst="rect">
            <a:avLst/>
          </a:prstGeom>
          <a:noFill/>
        </p:spPr>
        <p:txBody>
          <a:bodyPr wrap="square" lIns="0" tIns="0" rIns="0" bIns="0" rtlCol="0">
            <a:spAutoFit/>
          </a:bodyPr>
          <a:lstStyle/>
          <a:p>
            <a:pPr marL="400050" indent="-400050" defTabSz="914400"/>
            <a:r>
              <a:rPr lang="en-US" sz="600" i="1" dirty="0" smtClean="0">
                <a:solidFill>
                  <a:srgbClr val="000000"/>
                </a:solidFill>
              </a:rPr>
              <a:t>Source: Management provided information</a:t>
            </a:r>
          </a:p>
        </p:txBody>
      </p:sp>
      <p:pic>
        <p:nvPicPr>
          <p:cNvPr id="3" name="Picture 2"/>
          <p:cNvPicPr>
            <a:picLocks noChangeAspect="1"/>
          </p:cNvPicPr>
          <p:nvPr/>
        </p:nvPicPr>
        <p:blipFill>
          <a:blip r:embed="rId5"/>
          <a:stretch>
            <a:fillRect/>
          </a:stretch>
        </p:blipFill>
        <p:spPr>
          <a:xfrm>
            <a:off x="5541400" y="1421446"/>
            <a:ext cx="2943225" cy="2792534"/>
          </a:xfrm>
          <a:prstGeom prst="rect">
            <a:avLst/>
          </a:prstGeom>
        </p:spPr>
      </p:pic>
    </p:spTree>
    <p:extLst>
      <p:ext uri="{BB962C8B-B14F-4D97-AF65-F5344CB8AC3E}">
        <p14:creationId xmlns:p14="http://schemas.microsoft.com/office/powerpoint/2010/main" val="201965155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6" name="Group 3"/>
          <p:cNvGraphicFramePr>
            <a:graphicFrameLocks noGrp="1"/>
          </p:cNvGraphicFramePr>
          <p:nvPr>
            <p:extLst>
              <p:ext uri="{D42A27DB-BD31-4B8C-83A1-F6EECF244321}">
                <p14:modId xmlns:p14="http://schemas.microsoft.com/office/powerpoint/2010/main" val="997351032"/>
              </p:ext>
            </p:extLst>
          </p:nvPr>
        </p:nvGraphicFramePr>
        <p:xfrm>
          <a:off x="431799" y="1024128"/>
          <a:ext cx="8280401" cy="5120640"/>
        </p:xfrm>
        <a:graphic>
          <a:graphicData uri="http://schemas.openxmlformats.org/drawingml/2006/table">
            <a:tbl>
              <a:tblPr/>
              <a:tblGrid>
                <a:gridCol w="1315502"/>
                <a:gridCol w="6164104"/>
                <a:gridCol w="800795"/>
              </a:tblGrid>
              <a:tr h="205245">
                <a:tc>
                  <a:txBody>
                    <a:bodyPr/>
                    <a:lstStyle/>
                    <a:p>
                      <a:pPr marL="0" marR="0" lvl="1" indent="0" algn="l" defTabSz="914400" rtl="0" eaLnBrk="1" fontAlgn="base" latinLnBrk="0" hangingPunct="1">
                        <a:lnSpc>
                          <a:spcPct val="100000"/>
                        </a:lnSpc>
                        <a:spcBef>
                          <a:spcPts val="0"/>
                        </a:spcBef>
                        <a:spcAft>
                          <a:spcPts val="600"/>
                        </a:spcAft>
                        <a:buClrTx/>
                        <a:buSzTx/>
                        <a:buFontTx/>
                        <a:buNone/>
                        <a:tabLst/>
                      </a:pPr>
                      <a:r>
                        <a:rPr lang="en-US" sz="900" b="1" kern="1200" dirty="0" smtClean="0">
                          <a:solidFill>
                            <a:schemeClr val="bg1"/>
                          </a:solidFill>
                          <a:latin typeface="Univers for KPMG" panose="020B0603020202020204" pitchFamily="34" charset="0"/>
                          <a:ea typeface="+mn-ea"/>
                          <a:cs typeface="+mn-cs"/>
                        </a:rPr>
                        <a:t>Finding</a:t>
                      </a:r>
                    </a:p>
                  </a:txBody>
                  <a:tcPr marL="45720" marR="45720" anchor="b" horzOverflow="overflow">
                    <a:lnL w="6350" cap="flat" cmpd="sng" algn="ctr">
                      <a:solidFill>
                        <a:srgbClr val="00338D"/>
                      </a:solidFill>
                      <a:prstDash val="solid"/>
                      <a:round/>
                      <a:headEnd type="none" w="med" len="med"/>
                      <a:tailEnd type="none" w="med" len="med"/>
                    </a:lnL>
                    <a:lnR w="6350" cap="flat" cmpd="sng" algn="ctr">
                      <a:solidFill>
                        <a:srgbClr val="00338D"/>
                      </a:solidFill>
                      <a:prstDash val="solid"/>
                      <a:round/>
                      <a:headEnd type="none" w="med" len="med"/>
                      <a:tailEnd type="none" w="med" len="med"/>
                    </a:lnR>
                    <a:lnT w="6350" cap="flat" cmpd="sng" algn="ctr">
                      <a:solidFill>
                        <a:srgbClr val="00338D"/>
                      </a:solidFill>
                      <a:prstDash val="solid"/>
                      <a:round/>
                      <a:headEnd type="none" w="med" len="med"/>
                      <a:tailEnd type="none" w="med" len="med"/>
                    </a:lnT>
                    <a:lnB w="6350" cap="flat" cmpd="sng" algn="ctr">
                      <a:solidFill>
                        <a:srgbClr val="00338D"/>
                      </a:solidFill>
                      <a:prstDash val="solid"/>
                      <a:round/>
                      <a:headEnd type="none" w="med" len="med"/>
                      <a:tailEnd type="none" w="med" len="med"/>
                    </a:lnB>
                    <a:lnTlToBr>
                      <a:noFill/>
                    </a:lnTlToBr>
                    <a:lnBlToTr>
                      <a:noFill/>
                    </a:lnBlToTr>
                    <a:solidFill>
                      <a:srgbClr val="00338D"/>
                    </a:solidFill>
                  </a:tcPr>
                </a:tc>
                <a:tc>
                  <a:txBody>
                    <a:bodyPr/>
                    <a:lstStyle/>
                    <a:p>
                      <a:pPr marL="0" marR="0" lvl="1" indent="0" algn="l" defTabSz="914400" rtl="0" eaLnBrk="1" fontAlgn="auto" latinLnBrk="0" hangingPunct="1">
                        <a:lnSpc>
                          <a:spcPct val="100000"/>
                        </a:lnSpc>
                        <a:spcBef>
                          <a:spcPts val="0"/>
                        </a:spcBef>
                        <a:spcAft>
                          <a:spcPts val="600"/>
                        </a:spcAft>
                        <a:buClr>
                          <a:srgbClr val="97989A"/>
                        </a:buClr>
                        <a:buSzTx/>
                        <a:buFontTx/>
                        <a:buNone/>
                        <a:tabLst/>
                        <a:defRPr/>
                      </a:pPr>
                      <a:r>
                        <a:rPr lang="en-US" sz="900" b="1" kern="1200" noProof="0" dirty="0" smtClean="0">
                          <a:solidFill>
                            <a:schemeClr val="bg1"/>
                          </a:solidFill>
                          <a:latin typeface="Univers for KPMG" panose="020B0603020202020204" pitchFamily="34" charset="0"/>
                          <a:ea typeface="+mn-ea"/>
                          <a:cs typeface="+mn-cs"/>
                        </a:rPr>
                        <a:t>Summary observations</a:t>
                      </a:r>
                    </a:p>
                  </a:txBody>
                  <a:tcPr marL="45720" marR="45720" anchor="b" horzOverflow="overflow">
                    <a:lnL w="6350" cap="flat" cmpd="sng" algn="ctr">
                      <a:solidFill>
                        <a:srgbClr val="00338D"/>
                      </a:solidFill>
                      <a:prstDash val="solid"/>
                      <a:round/>
                      <a:headEnd type="none" w="med" len="med"/>
                      <a:tailEnd type="none" w="med" len="med"/>
                    </a:lnL>
                    <a:lnR w="6350" cap="flat" cmpd="sng" algn="ctr">
                      <a:solidFill>
                        <a:srgbClr val="00338D"/>
                      </a:solidFill>
                      <a:prstDash val="solid"/>
                      <a:round/>
                      <a:headEnd type="none" w="med" len="med"/>
                      <a:tailEnd type="none" w="med" len="med"/>
                    </a:lnR>
                    <a:lnT w="6350" cap="flat" cmpd="sng" algn="ctr">
                      <a:solidFill>
                        <a:srgbClr val="00338D"/>
                      </a:solidFill>
                      <a:prstDash val="solid"/>
                      <a:round/>
                      <a:headEnd type="none" w="med" len="med"/>
                      <a:tailEnd type="none" w="med" len="med"/>
                    </a:lnT>
                    <a:lnB w="6350" cap="flat" cmpd="sng" algn="ctr">
                      <a:solidFill>
                        <a:srgbClr val="00338D"/>
                      </a:solidFill>
                      <a:prstDash val="solid"/>
                      <a:round/>
                      <a:headEnd type="none" w="med" len="med"/>
                      <a:tailEnd type="none" w="med" len="med"/>
                    </a:lnB>
                    <a:lnTlToBr>
                      <a:noFill/>
                    </a:lnTlToBr>
                    <a:lnBlToTr>
                      <a:noFill/>
                    </a:lnBlToTr>
                    <a:solidFill>
                      <a:srgbClr val="00338D"/>
                    </a:solidFill>
                  </a:tcPr>
                </a:tc>
                <a:tc>
                  <a:txBody>
                    <a:bodyPr/>
                    <a:lstStyle/>
                    <a:p>
                      <a:pPr marL="0" marR="0" lvl="1" indent="0" algn="l" defTabSz="914400" rtl="0" eaLnBrk="1" fontAlgn="auto" latinLnBrk="0" hangingPunct="1">
                        <a:lnSpc>
                          <a:spcPct val="100000"/>
                        </a:lnSpc>
                        <a:spcBef>
                          <a:spcPts val="0"/>
                        </a:spcBef>
                        <a:spcAft>
                          <a:spcPts val="600"/>
                        </a:spcAft>
                        <a:buClr>
                          <a:srgbClr val="97989A"/>
                        </a:buClr>
                        <a:buSzTx/>
                        <a:buFontTx/>
                        <a:buNone/>
                        <a:tabLst/>
                        <a:defRPr/>
                      </a:pPr>
                      <a:r>
                        <a:rPr lang="en-US" sz="900" b="1" kern="1200" noProof="0" dirty="0" smtClean="0">
                          <a:solidFill>
                            <a:schemeClr val="bg1"/>
                          </a:solidFill>
                          <a:latin typeface="Univers for KPMG" panose="020B0603020202020204" pitchFamily="34" charset="0"/>
                          <a:ea typeface="+mn-ea"/>
                          <a:cs typeface="+mn-cs"/>
                        </a:rPr>
                        <a:t>Key analysis</a:t>
                      </a:r>
                    </a:p>
                  </a:txBody>
                  <a:tcPr marL="45720" marR="45720" anchor="b" horzOverflow="overflow">
                    <a:lnL w="6350" cap="flat" cmpd="sng" algn="ctr">
                      <a:solidFill>
                        <a:srgbClr val="00338D"/>
                      </a:solidFill>
                      <a:prstDash val="solid"/>
                      <a:round/>
                      <a:headEnd type="none" w="med" len="med"/>
                      <a:tailEnd type="none" w="med" len="med"/>
                    </a:lnL>
                    <a:lnR w="6350" cap="flat" cmpd="sng" algn="ctr">
                      <a:solidFill>
                        <a:srgbClr val="00338D"/>
                      </a:solidFill>
                      <a:prstDash val="solid"/>
                      <a:round/>
                      <a:headEnd type="none" w="med" len="med"/>
                      <a:tailEnd type="none" w="med" len="med"/>
                    </a:lnR>
                    <a:lnT w="6350" cap="flat" cmpd="sng" algn="ctr">
                      <a:solidFill>
                        <a:srgbClr val="00338D"/>
                      </a:solidFill>
                      <a:prstDash val="solid"/>
                      <a:round/>
                      <a:headEnd type="none" w="med" len="med"/>
                      <a:tailEnd type="none" w="med" len="med"/>
                    </a:lnT>
                    <a:lnB w="6350" cap="flat" cmpd="sng" algn="ctr">
                      <a:solidFill>
                        <a:srgbClr val="00338D"/>
                      </a:solidFill>
                      <a:prstDash val="solid"/>
                      <a:round/>
                      <a:headEnd type="none" w="med" len="med"/>
                      <a:tailEnd type="none" w="med" len="med"/>
                    </a:lnB>
                    <a:lnTlToBr>
                      <a:noFill/>
                    </a:lnTlToBr>
                    <a:lnBlToTr>
                      <a:noFill/>
                    </a:lnBlToTr>
                    <a:solidFill>
                      <a:srgbClr val="00338D"/>
                    </a:solidFill>
                  </a:tcPr>
                </a:tc>
              </a:tr>
              <a:tr h="4405756">
                <a:tc>
                  <a:txBody>
                    <a:bodyPr/>
                    <a:lstStyle/>
                    <a:p>
                      <a:pPr marL="0" marR="0" lvl="1" indent="0" algn="l" defTabSz="914400" rtl="0" eaLnBrk="1" fontAlgn="base" latinLnBrk="0" hangingPunct="1">
                        <a:lnSpc>
                          <a:spcPct val="100000"/>
                        </a:lnSpc>
                        <a:spcBef>
                          <a:spcPts val="0"/>
                        </a:spcBef>
                        <a:spcAft>
                          <a:spcPts val="600"/>
                        </a:spcAft>
                        <a:buClrTx/>
                        <a:buSzTx/>
                        <a:buFontTx/>
                        <a:buNone/>
                        <a:tabLst/>
                        <a:defRPr/>
                      </a:pPr>
                      <a:r>
                        <a:rPr lang="en-US" sz="900" b="1" kern="1200" dirty="0" smtClean="0">
                          <a:solidFill>
                            <a:srgbClr val="00338D"/>
                          </a:solidFill>
                          <a:latin typeface="Univers for KPMG" panose="020B0603020202020204" pitchFamily="34" charset="0"/>
                          <a:ea typeface="+mn-ea"/>
                          <a:cs typeface="+mn-cs"/>
                        </a:rPr>
                        <a:t>Quality</a:t>
                      </a:r>
                      <a:r>
                        <a:rPr lang="en-US" sz="900" b="1" kern="1200" baseline="0" dirty="0" smtClean="0">
                          <a:solidFill>
                            <a:srgbClr val="00338D"/>
                          </a:solidFill>
                          <a:latin typeface="Univers for KPMG" panose="020B0603020202020204" pitchFamily="34" charset="0"/>
                          <a:ea typeface="+mn-ea"/>
                          <a:cs typeface="+mn-cs"/>
                        </a:rPr>
                        <a:t> of earnings</a:t>
                      </a:r>
                    </a:p>
                    <a:p>
                      <a:pPr marL="0" marR="0" lvl="1" indent="0" algn="l" defTabSz="914400" rtl="0" eaLnBrk="1" fontAlgn="base" latinLnBrk="0" hangingPunct="1">
                        <a:lnSpc>
                          <a:spcPct val="100000"/>
                        </a:lnSpc>
                        <a:spcBef>
                          <a:spcPts val="0"/>
                        </a:spcBef>
                        <a:spcAft>
                          <a:spcPts val="600"/>
                        </a:spcAft>
                        <a:buClrTx/>
                        <a:buSzTx/>
                        <a:buFontTx/>
                        <a:buNone/>
                        <a:tabLst/>
                        <a:defRPr/>
                      </a:pPr>
                      <a:r>
                        <a:rPr lang="en-US" sz="900" b="0" kern="1200" baseline="0" dirty="0" smtClean="0">
                          <a:solidFill>
                            <a:srgbClr val="00338D"/>
                          </a:solidFill>
                          <a:latin typeface="Univers for KPMG" panose="020B0603020202020204" pitchFamily="34" charset="0"/>
                          <a:ea typeface="+mn-ea"/>
                          <a:cs typeface="+mn-cs"/>
                        </a:rPr>
                        <a:t>FY17 reported USA EBITDA of $5.1 million increases to $5.8 million subsequent to adjustments identified by Management. FY17 Management adjusted EBITDA decreases to $5.7 million after adjustments identified during due diligence. </a:t>
                      </a:r>
                    </a:p>
                    <a:p>
                      <a:pPr marL="0" marR="0" lvl="1" indent="0" algn="l" defTabSz="914400" rtl="0" eaLnBrk="1" fontAlgn="base" latinLnBrk="0" hangingPunct="1">
                        <a:lnSpc>
                          <a:spcPct val="100000"/>
                        </a:lnSpc>
                        <a:spcBef>
                          <a:spcPts val="0"/>
                        </a:spcBef>
                        <a:spcAft>
                          <a:spcPts val="600"/>
                        </a:spcAft>
                        <a:buClrTx/>
                        <a:buSzTx/>
                        <a:buFontTx/>
                        <a:buNone/>
                        <a:tabLst/>
                        <a:defRPr/>
                      </a:pPr>
                      <a:r>
                        <a:rPr lang="en-US" sz="900" b="0" kern="1200" baseline="0" dirty="0" smtClean="0">
                          <a:solidFill>
                            <a:srgbClr val="00338D"/>
                          </a:solidFill>
                          <a:latin typeface="Univers for KPMG" panose="020B0603020202020204" pitchFamily="34" charset="0"/>
                          <a:ea typeface="+mn-ea"/>
                          <a:cs typeface="+mn-cs"/>
                        </a:rPr>
                        <a:t>Other considerations are discussed in the details of this report. </a:t>
                      </a:r>
                    </a:p>
                  </a:txBody>
                  <a:tcPr marL="45720" marR="45720" horzOverflow="overflow">
                    <a:lnL w="6350" cap="flat" cmpd="sng" algn="ctr">
                      <a:solidFill>
                        <a:srgbClr val="00338D"/>
                      </a:solidFill>
                      <a:prstDash val="solid"/>
                      <a:round/>
                      <a:headEnd type="none" w="med" len="med"/>
                      <a:tailEnd type="none" w="med" len="med"/>
                    </a:lnL>
                    <a:lnR w="6350" cap="flat" cmpd="sng" algn="ctr">
                      <a:solidFill>
                        <a:srgbClr val="00338D"/>
                      </a:solidFill>
                      <a:prstDash val="solid"/>
                      <a:round/>
                      <a:headEnd type="none" w="med" len="med"/>
                      <a:tailEnd type="none" w="med" len="med"/>
                    </a:lnR>
                    <a:lnT w="6350" cap="flat" cmpd="sng" algn="ctr">
                      <a:solidFill>
                        <a:srgbClr val="00338D"/>
                      </a:solidFill>
                      <a:prstDash val="solid"/>
                      <a:round/>
                      <a:headEnd type="none" w="med" len="med"/>
                      <a:tailEnd type="none" w="med" len="med"/>
                    </a:lnT>
                    <a:lnB w="6350" cap="flat" cmpd="sng" algn="ctr">
                      <a:solidFill>
                        <a:srgbClr val="00338D"/>
                      </a:solidFill>
                      <a:prstDash val="solid"/>
                      <a:round/>
                      <a:headEnd type="none" w="med" len="med"/>
                      <a:tailEnd type="none" w="med" len="med"/>
                    </a:lnB>
                    <a:lnTlToBr>
                      <a:noFill/>
                    </a:lnTlToBr>
                    <a:lnBlToTr>
                      <a:noFill/>
                    </a:lnBlToTr>
                    <a:solidFill>
                      <a:schemeClr val="bg1"/>
                    </a:solidFill>
                  </a:tcPr>
                </a:tc>
                <a:tc>
                  <a:txBody>
                    <a:bodyPr/>
                    <a:lstStyle/>
                    <a:p>
                      <a:pPr marL="177800" marR="0" lvl="2" indent="-177800" algn="l" defTabSz="914400" rtl="0" eaLnBrk="1" fontAlgn="auto" latinLnBrk="0" hangingPunct="1">
                        <a:lnSpc>
                          <a:spcPts val="1000"/>
                        </a:lnSpc>
                        <a:spcBef>
                          <a:spcPts val="600"/>
                        </a:spcBef>
                        <a:spcAft>
                          <a:spcPts val="0"/>
                        </a:spcAft>
                        <a:buClr>
                          <a:srgbClr val="97989A"/>
                        </a:buClr>
                        <a:buSzTx/>
                        <a:buFont typeface="Arial" pitchFamily="34" charset="0"/>
                        <a:buChar char="■"/>
                        <a:tabLst/>
                        <a:defRPr/>
                      </a:pPr>
                      <a:r>
                        <a:rPr kumimoji="0" lang="en-US" sz="900" b="0" i="0" u="none" strike="noStrike" kern="1200" cap="none" spc="0" normalizeH="0" baseline="0" noProof="0" dirty="0" smtClean="0">
                          <a:ln>
                            <a:noFill/>
                          </a:ln>
                          <a:solidFill>
                            <a:srgbClr val="000000"/>
                          </a:solidFill>
                          <a:effectLst/>
                          <a:uLnTx/>
                          <a:uFillTx/>
                          <a:latin typeface="Univers for KPMG" panose="020B0603020202020204" pitchFamily="34" charset="0"/>
                          <a:ea typeface="+mn-ea"/>
                          <a:cs typeface="Arial" pitchFamily="34" charset="0"/>
                        </a:rPr>
                        <a:t>The table below summarizes reported and potentially adjusted revenue and EBITDA for FY16 and FY17: </a:t>
                      </a:r>
                    </a:p>
                    <a:p>
                      <a:pPr marL="177800" marR="0" lvl="2" indent="-177800" algn="l" defTabSz="914400" rtl="0" eaLnBrk="1" fontAlgn="auto" latinLnBrk="0" hangingPunct="1">
                        <a:lnSpc>
                          <a:spcPts val="1000"/>
                        </a:lnSpc>
                        <a:spcBef>
                          <a:spcPts val="600"/>
                        </a:spcBef>
                        <a:spcAft>
                          <a:spcPts val="0"/>
                        </a:spcAft>
                        <a:buClr>
                          <a:srgbClr val="97989A"/>
                        </a:buClr>
                        <a:buSzTx/>
                        <a:buFont typeface="Arial" pitchFamily="34" charset="0"/>
                        <a:buChar char="■"/>
                        <a:tabLst/>
                        <a:defRPr/>
                      </a:pPr>
                      <a:endParaRPr kumimoji="0" lang="en-US" sz="900" b="0" i="0" u="none" strike="noStrike" kern="1200" cap="none" spc="0" normalizeH="0" baseline="0" noProof="0" dirty="0" smtClean="0">
                        <a:ln>
                          <a:noFill/>
                        </a:ln>
                        <a:solidFill>
                          <a:srgbClr val="000000"/>
                        </a:solidFill>
                        <a:effectLst/>
                        <a:uLnTx/>
                        <a:uFillTx/>
                        <a:latin typeface="Univers for KPMG" panose="020B0603020202020204" pitchFamily="34" charset="0"/>
                        <a:ea typeface="+mn-ea"/>
                        <a:cs typeface="Arial" pitchFamily="34" charset="0"/>
                      </a:endParaRPr>
                    </a:p>
                    <a:p>
                      <a:pPr marL="177800" marR="0" lvl="2" indent="-177800" algn="l" defTabSz="914400" rtl="0" eaLnBrk="1" fontAlgn="auto" latinLnBrk="0" hangingPunct="1">
                        <a:lnSpc>
                          <a:spcPts val="1000"/>
                        </a:lnSpc>
                        <a:spcBef>
                          <a:spcPts val="600"/>
                        </a:spcBef>
                        <a:spcAft>
                          <a:spcPts val="0"/>
                        </a:spcAft>
                        <a:buClr>
                          <a:srgbClr val="97989A"/>
                        </a:buClr>
                        <a:buSzTx/>
                        <a:buFont typeface="Arial" pitchFamily="34" charset="0"/>
                        <a:buChar char="■"/>
                        <a:tabLst/>
                        <a:defRPr/>
                      </a:pPr>
                      <a:endParaRPr kumimoji="0" lang="en-US" sz="900" b="0" i="0" u="none" strike="noStrike" kern="1200" cap="none" spc="0" normalizeH="0" baseline="0" noProof="0" dirty="0" smtClean="0">
                        <a:ln>
                          <a:noFill/>
                        </a:ln>
                        <a:solidFill>
                          <a:srgbClr val="000000"/>
                        </a:solidFill>
                        <a:effectLst/>
                        <a:uLnTx/>
                        <a:uFillTx/>
                        <a:latin typeface="Univers for KPMG" panose="020B0603020202020204" pitchFamily="34" charset="0"/>
                        <a:ea typeface="+mn-ea"/>
                        <a:cs typeface="Arial" pitchFamily="34" charset="0"/>
                      </a:endParaRPr>
                    </a:p>
                    <a:p>
                      <a:pPr marL="177800" marR="0" lvl="2" indent="-177800" algn="l" defTabSz="914400" rtl="0" eaLnBrk="1" fontAlgn="auto" latinLnBrk="0" hangingPunct="1">
                        <a:lnSpc>
                          <a:spcPts val="1000"/>
                        </a:lnSpc>
                        <a:spcBef>
                          <a:spcPts val="600"/>
                        </a:spcBef>
                        <a:spcAft>
                          <a:spcPts val="0"/>
                        </a:spcAft>
                        <a:buClr>
                          <a:srgbClr val="97989A"/>
                        </a:buClr>
                        <a:buSzTx/>
                        <a:buFont typeface="Arial" pitchFamily="34" charset="0"/>
                        <a:buChar char="■"/>
                        <a:tabLst/>
                        <a:defRPr/>
                      </a:pPr>
                      <a:endParaRPr kumimoji="0" lang="en-US" sz="900" b="0" i="0" u="none" strike="noStrike" kern="1200" cap="none" spc="0" normalizeH="0" baseline="0" noProof="0" dirty="0" smtClean="0">
                        <a:ln>
                          <a:noFill/>
                        </a:ln>
                        <a:solidFill>
                          <a:srgbClr val="000000"/>
                        </a:solidFill>
                        <a:effectLst/>
                        <a:uLnTx/>
                        <a:uFillTx/>
                        <a:latin typeface="Univers for KPMG" panose="020B0603020202020204" pitchFamily="34" charset="0"/>
                        <a:ea typeface="+mn-ea"/>
                        <a:cs typeface="Arial" pitchFamily="34" charset="0"/>
                      </a:endParaRPr>
                    </a:p>
                    <a:p>
                      <a:pPr marL="177800" marR="0" lvl="2" indent="-177800" algn="l" defTabSz="914400" rtl="0" eaLnBrk="1" fontAlgn="auto" latinLnBrk="0" hangingPunct="1">
                        <a:lnSpc>
                          <a:spcPts val="1000"/>
                        </a:lnSpc>
                        <a:spcBef>
                          <a:spcPts val="600"/>
                        </a:spcBef>
                        <a:spcAft>
                          <a:spcPts val="0"/>
                        </a:spcAft>
                        <a:buClr>
                          <a:srgbClr val="97989A"/>
                        </a:buClr>
                        <a:buSzTx/>
                        <a:buFont typeface="Arial" pitchFamily="34" charset="0"/>
                        <a:buChar char="■"/>
                        <a:tabLst/>
                        <a:defRPr/>
                      </a:pPr>
                      <a:endParaRPr kumimoji="0" lang="en-US" sz="900" b="0" i="0" u="none" strike="noStrike" kern="1200" cap="none" spc="0" normalizeH="0" baseline="0" noProof="0" dirty="0" smtClean="0">
                        <a:ln>
                          <a:noFill/>
                        </a:ln>
                        <a:solidFill>
                          <a:srgbClr val="000000"/>
                        </a:solidFill>
                        <a:effectLst/>
                        <a:uLnTx/>
                        <a:uFillTx/>
                        <a:latin typeface="Univers for KPMG" panose="020B0603020202020204" pitchFamily="34" charset="0"/>
                        <a:ea typeface="+mn-ea"/>
                        <a:cs typeface="Arial" pitchFamily="34" charset="0"/>
                      </a:endParaRPr>
                    </a:p>
                    <a:p>
                      <a:pPr marL="177800" marR="0" lvl="2" indent="-177800" algn="l" defTabSz="914400" rtl="0" eaLnBrk="1" fontAlgn="auto" latinLnBrk="0" hangingPunct="1">
                        <a:lnSpc>
                          <a:spcPts val="1000"/>
                        </a:lnSpc>
                        <a:spcBef>
                          <a:spcPts val="600"/>
                        </a:spcBef>
                        <a:spcAft>
                          <a:spcPts val="0"/>
                        </a:spcAft>
                        <a:buClr>
                          <a:srgbClr val="97989A"/>
                        </a:buClr>
                        <a:buSzTx/>
                        <a:buFont typeface="Arial" pitchFamily="34" charset="0"/>
                        <a:buChar char="■"/>
                        <a:tabLst/>
                        <a:defRPr/>
                      </a:pPr>
                      <a:endParaRPr kumimoji="0" lang="en-US" sz="900" b="0" i="0" u="none" strike="noStrike" kern="1200" cap="none" spc="0" normalizeH="0" baseline="0" noProof="0" dirty="0" smtClean="0">
                        <a:ln>
                          <a:noFill/>
                        </a:ln>
                        <a:solidFill>
                          <a:srgbClr val="000000"/>
                        </a:solidFill>
                        <a:effectLst/>
                        <a:uLnTx/>
                        <a:uFillTx/>
                        <a:latin typeface="Univers for KPMG" panose="020B0603020202020204" pitchFamily="34" charset="0"/>
                        <a:ea typeface="+mn-ea"/>
                        <a:cs typeface="Arial" pitchFamily="34" charset="0"/>
                      </a:endParaRPr>
                    </a:p>
                    <a:p>
                      <a:pPr marL="177800" marR="0" lvl="2" indent="-177800" algn="l" defTabSz="914400" rtl="0" eaLnBrk="1" fontAlgn="auto" latinLnBrk="0" hangingPunct="1">
                        <a:lnSpc>
                          <a:spcPts val="1000"/>
                        </a:lnSpc>
                        <a:spcBef>
                          <a:spcPts val="600"/>
                        </a:spcBef>
                        <a:spcAft>
                          <a:spcPts val="0"/>
                        </a:spcAft>
                        <a:buClr>
                          <a:srgbClr val="97989A"/>
                        </a:buClr>
                        <a:buSzTx/>
                        <a:buFont typeface="Arial" pitchFamily="34" charset="0"/>
                        <a:buChar char="■"/>
                        <a:tabLst/>
                        <a:defRPr/>
                      </a:pPr>
                      <a:endParaRPr kumimoji="0" lang="en-US" sz="900" b="0" i="0" u="none" strike="noStrike" kern="1200" cap="none" spc="0" normalizeH="0" baseline="0" noProof="0" dirty="0" smtClean="0">
                        <a:ln>
                          <a:noFill/>
                        </a:ln>
                        <a:solidFill>
                          <a:srgbClr val="000000"/>
                        </a:solidFill>
                        <a:effectLst/>
                        <a:uLnTx/>
                        <a:uFillTx/>
                        <a:latin typeface="Univers for KPMG" panose="020B0603020202020204" pitchFamily="34" charset="0"/>
                        <a:ea typeface="+mn-ea"/>
                        <a:cs typeface="Arial" pitchFamily="34" charset="0"/>
                      </a:endParaRPr>
                    </a:p>
                    <a:p>
                      <a:pPr marL="177800" marR="0" lvl="2" indent="-177800" algn="l" defTabSz="914400" rtl="0" eaLnBrk="1" fontAlgn="auto" latinLnBrk="0" hangingPunct="1">
                        <a:lnSpc>
                          <a:spcPts val="1000"/>
                        </a:lnSpc>
                        <a:spcBef>
                          <a:spcPts val="600"/>
                        </a:spcBef>
                        <a:spcAft>
                          <a:spcPts val="0"/>
                        </a:spcAft>
                        <a:buClr>
                          <a:srgbClr val="97989A"/>
                        </a:buClr>
                        <a:buSzTx/>
                        <a:buFont typeface="Arial" pitchFamily="34" charset="0"/>
                        <a:buChar char="■"/>
                        <a:tabLst/>
                        <a:defRPr/>
                      </a:pPr>
                      <a:endParaRPr kumimoji="0" lang="en-US" sz="900" b="0" i="0" u="none" strike="noStrike" kern="1200" cap="none" spc="0" normalizeH="0" baseline="0" noProof="0" dirty="0" smtClean="0">
                        <a:ln>
                          <a:noFill/>
                        </a:ln>
                        <a:solidFill>
                          <a:srgbClr val="000000"/>
                        </a:solidFill>
                        <a:effectLst/>
                        <a:uLnTx/>
                        <a:uFillTx/>
                        <a:latin typeface="Univers for KPMG" panose="020B0603020202020204" pitchFamily="34" charset="0"/>
                        <a:ea typeface="+mn-ea"/>
                        <a:cs typeface="Arial" pitchFamily="34" charset="0"/>
                      </a:endParaRPr>
                    </a:p>
                    <a:p>
                      <a:pPr marL="177800" marR="0" lvl="2" indent="-177800" algn="l" defTabSz="914400" rtl="0" eaLnBrk="1" fontAlgn="auto" latinLnBrk="0" hangingPunct="1">
                        <a:lnSpc>
                          <a:spcPts val="1000"/>
                        </a:lnSpc>
                        <a:spcBef>
                          <a:spcPts val="600"/>
                        </a:spcBef>
                        <a:spcAft>
                          <a:spcPts val="0"/>
                        </a:spcAft>
                        <a:buClr>
                          <a:srgbClr val="97989A"/>
                        </a:buClr>
                        <a:buSzTx/>
                        <a:buFont typeface="Arial" pitchFamily="34" charset="0"/>
                        <a:buChar char="■"/>
                        <a:tabLst/>
                        <a:defRPr/>
                      </a:pPr>
                      <a:endParaRPr kumimoji="0" lang="en-US" sz="900" b="0" i="0" u="none" strike="noStrike" kern="1200" cap="none" spc="0" normalizeH="0" baseline="0" noProof="0" dirty="0" smtClean="0">
                        <a:ln>
                          <a:noFill/>
                        </a:ln>
                        <a:solidFill>
                          <a:srgbClr val="000000"/>
                        </a:solidFill>
                        <a:effectLst/>
                        <a:uLnTx/>
                        <a:uFillTx/>
                        <a:latin typeface="Univers for KPMG" panose="020B0603020202020204" pitchFamily="34" charset="0"/>
                        <a:ea typeface="+mn-ea"/>
                        <a:cs typeface="Arial" pitchFamily="34" charset="0"/>
                      </a:endParaRPr>
                    </a:p>
                    <a:p>
                      <a:pPr marL="0" marR="0" lvl="2" indent="0" algn="l" defTabSz="914400" rtl="0" eaLnBrk="1" fontAlgn="auto" latinLnBrk="0" hangingPunct="1">
                        <a:lnSpc>
                          <a:spcPts val="1000"/>
                        </a:lnSpc>
                        <a:spcBef>
                          <a:spcPts val="600"/>
                        </a:spcBef>
                        <a:spcAft>
                          <a:spcPts val="0"/>
                        </a:spcAft>
                        <a:buClr>
                          <a:srgbClr val="97989A"/>
                        </a:buClr>
                        <a:buSzTx/>
                        <a:buFont typeface="Arial" pitchFamily="34" charset="0"/>
                        <a:buNone/>
                        <a:tabLst/>
                        <a:defRPr/>
                      </a:pPr>
                      <a:endParaRPr kumimoji="0" lang="en-US" sz="900" b="0" i="0" u="none" strike="noStrike" kern="1200" cap="none" spc="0" normalizeH="0" baseline="0" noProof="0" dirty="0" smtClean="0">
                        <a:ln>
                          <a:noFill/>
                        </a:ln>
                        <a:solidFill>
                          <a:srgbClr val="000000"/>
                        </a:solidFill>
                        <a:effectLst/>
                        <a:uLnTx/>
                        <a:uFillTx/>
                        <a:latin typeface="Univers for KPMG" panose="020B0603020202020204" pitchFamily="34" charset="0"/>
                        <a:ea typeface="+mn-ea"/>
                        <a:cs typeface="Arial" pitchFamily="34" charset="0"/>
                      </a:endParaRPr>
                    </a:p>
                    <a:p>
                      <a:pPr marL="177800" marR="0" lvl="2" indent="-177800" algn="just" defTabSz="914400" rtl="0" eaLnBrk="1" fontAlgn="auto" latinLnBrk="0" hangingPunct="1">
                        <a:lnSpc>
                          <a:spcPct val="100000"/>
                        </a:lnSpc>
                        <a:spcBef>
                          <a:spcPts val="600"/>
                        </a:spcBef>
                        <a:spcAft>
                          <a:spcPts val="300"/>
                        </a:spcAft>
                        <a:buClr>
                          <a:srgbClr val="97989A"/>
                        </a:buClr>
                        <a:buSzTx/>
                        <a:buFont typeface="Arial" pitchFamily="34" charset="0"/>
                        <a:buChar char="■"/>
                        <a:tabLst/>
                        <a:defRPr/>
                      </a:pPr>
                      <a:r>
                        <a:rPr kumimoji="0" lang="en-US" sz="900" b="0" i="0" u="none" strike="noStrike" kern="1200" cap="none" spc="0" normalizeH="0" baseline="0" dirty="0" smtClean="0">
                          <a:ln>
                            <a:noFill/>
                          </a:ln>
                          <a:solidFill>
                            <a:srgbClr val="000000"/>
                          </a:solidFill>
                          <a:effectLst/>
                          <a:uLnTx/>
                          <a:uFillTx/>
                          <a:latin typeface="Univers for KPMG" panose="020B0603020202020204" pitchFamily="34" charset="0"/>
                          <a:ea typeface="+mn-ea"/>
                          <a:cs typeface="Arial" pitchFamily="34" charset="0"/>
                        </a:rPr>
                        <a:t>Significant Management adjustments to FY17 EBITDA include the following: </a:t>
                      </a:r>
                    </a:p>
                    <a:p>
                      <a:pPr marL="347663" marR="0" lvl="2" indent="-177800" algn="just" defTabSz="914400" rtl="0" eaLnBrk="1" fontAlgn="auto" latinLnBrk="0" hangingPunct="1">
                        <a:lnSpc>
                          <a:spcPts val="1000"/>
                        </a:lnSpc>
                        <a:spcBef>
                          <a:spcPts val="400"/>
                        </a:spcBef>
                        <a:spcAft>
                          <a:spcPts val="0"/>
                        </a:spcAft>
                        <a:buClr>
                          <a:srgbClr val="97989A"/>
                        </a:buClr>
                        <a:buSzTx/>
                        <a:buFont typeface="Arial" panose="020B0604020202020204" pitchFamily="34" charset="0"/>
                        <a:buChar char="–"/>
                        <a:tabLst/>
                        <a:defRPr/>
                      </a:pPr>
                      <a:r>
                        <a:rPr lang="en-US" sz="900" b="1" kern="1200" dirty="0" smtClean="0">
                          <a:solidFill>
                            <a:schemeClr val="tx1"/>
                          </a:solidFill>
                          <a:latin typeface="Univers for KPMG" panose="020B0603020202020204" pitchFamily="34" charset="0"/>
                          <a:ea typeface="+mn-ea"/>
                          <a:cs typeface="+mn-cs"/>
                        </a:rPr>
                        <a:t>Transaction costs (increase </a:t>
                      </a:r>
                      <a:r>
                        <a:rPr lang="en-US" sz="900" b="1" u="none" kern="1200" dirty="0" smtClean="0">
                          <a:solidFill>
                            <a:schemeClr val="tx1"/>
                          </a:solidFill>
                          <a:latin typeface="Univers for KPMG" panose="020B0603020202020204" pitchFamily="34" charset="0"/>
                          <a:ea typeface="+mn-ea"/>
                          <a:cs typeface="+mn-cs"/>
                        </a:rPr>
                        <a:t>to EBITDA </a:t>
                      </a:r>
                      <a:r>
                        <a:rPr lang="en-US" sz="900" b="1" u="none" kern="1200" baseline="0" dirty="0" smtClean="0">
                          <a:solidFill>
                            <a:schemeClr val="tx1"/>
                          </a:solidFill>
                          <a:latin typeface="Univers for KPMG" panose="020B0603020202020204" pitchFamily="34" charset="0"/>
                          <a:ea typeface="+mn-ea"/>
                          <a:cs typeface="+mn-cs"/>
                        </a:rPr>
                        <a:t>of </a:t>
                      </a:r>
                      <a:r>
                        <a:rPr lang="en-US" sz="900" b="1" kern="1200" baseline="0" dirty="0" smtClean="0">
                          <a:solidFill>
                            <a:schemeClr val="tx1"/>
                          </a:solidFill>
                          <a:latin typeface="Univers for KPMG" panose="020B0603020202020204" pitchFamily="34" charset="0"/>
                          <a:ea typeface="+mn-ea"/>
                          <a:cs typeface="+mn-cs"/>
                        </a:rPr>
                        <a:t>$0.3 million)</a:t>
                      </a:r>
                      <a:r>
                        <a:rPr lang="en-US" sz="900" b="1" kern="1200" dirty="0" smtClean="0">
                          <a:solidFill>
                            <a:schemeClr val="tx1"/>
                          </a:solidFill>
                          <a:latin typeface="Univers for KPMG" panose="020B0603020202020204" pitchFamily="34" charset="0"/>
                          <a:ea typeface="+mn-ea"/>
                          <a:cs typeface="+mn-cs"/>
                        </a:rPr>
                        <a:t>: </a:t>
                      </a:r>
                      <a:r>
                        <a:rPr lang="en-US" sz="900" b="0" kern="1200" dirty="0" smtClean="0">
                          <a:solidFill>
                            <a:schemeClr val="tx1"/>
                          </a:solidFill>
                          <a:latin typeface="Univers for KPMG" panose="020B0603020202020204" pitchFamily="34" charset="0"/>
                          <a:ea typeface="+mn-ea"/>
                          <a:cs typeface="+mn-cs"/>
                        </a:rPr>
                        <a:t>Represents</a:t>
                      </a:r>
                      <a:r>
                        <a:rPr lang="en-US" sz="900" b="0" kern="1200" baseline="0" dirty="0" smtClean="0">
                          <a:solidFill>
                            <a:schemeClr val="tx1"/>
                          </a:solidFill>
                          <a:latin typeface="Univers for KPMG" panose="020B0603020202020204" pitchFamily="34" charset="0"/>
                          <a:ea typeface="+mn-ea"/>
                          <a:cs typeface="+mn-cs"/>
                        </a:rPr>
                        <a:t> </a:t>
                      </a:r>
                      <a:r>
                        <a:rPr lang="en-CA" sz="900" dirty="0" smtClean="0">
                          <a:solidFill>
                            <a:schemeClr val="tx1"/>
                          </a:solidFill>
                          <a:latin typeface="Univers for KPMG" panose="020B0603020202020204" pitchFamily="34" charset="0"/>
                        </a:rPr>
                        <a:t>adjustments </a:t>
                      </a:r>
                      <a:r>
                        <a:rPr lang="en-US" sz="900" dirty="0" smtClean="0">
                          <a:solidFill>
                            <a:schemeClr val="tx1"/>
                          </a:solidFill>
                          <a:latin typeface="Univers for KPMG" panose="020B0603020202020204" pitchFamily="34" charset="0"/>
                        </a:rPr>
                        <a:t>associated with the Company’s past acquisitions and professional fees which Management considers to be non-recurring</a:t>
                      </a:r>
                      <a:r>
                        <a:rPr lang="en-US" sz="900" baseline="0" dirty="0" smtClean="0">
                          <a:solidFill>
                            <a:schemeClr val="tx1"/>
                          </a:solidFill>
                          <a:latin typeface="Univers for KPMG" panose="020B0603020202020204" pitchFamily="34" charset="0"/>
                        </a:rPr>
                        <a:t>.</a:t>
                      </a:r>
                    </a:p>
                    <a:p>
                      <a:pPr marL="347663" marR="0" lvl="2" indent="-177800" algn="just" defTabSz="914400" rtl="0" eaLnBrk="1" fontAlgn="auto" latinLnBrk="0" hangingPunct="1">
                        <a:lnSpc>
                          <a:spcPts val="1000"/>
                        </a:lnSpc>
                        <a:spcBef>
                          <a:spcPts val="400"/>
                        </a:spcBef>
                        <a:spcAft>
                          <a:spcPts val="0"/>
                        </a:spcAft>
                        <a:buClr>
                          <a:srgbClr val="97989A"/>
                        </a:buClr>
                        <a:buSzTx/>
                        <a:buFont typeface="Arial" panose="020B0604020202020204" pitchFamily="34" charset="0"/>
                        <a:buChar char="–"/>
                        <a:tabLst/>
                        <a:defRPr/>
                      </a:pPr>
                      <a:r>
                        <a:rPr lang="en-US" sz="900" b="1" dirty="0" smtClean="0">
                          <a:solidFill>
                            <a:schemeClr val="tx1"/>
                          </a:solidFill>
                          <a:latin typeface="Univers for KPMG" panose="020B0603020202020204" pitchFamily="34" charset="0"/>
                        </a:rPr>
                        <a:t>Owner compensation adjustment (increase </a:t>
                      </a:r>
                      <a:r>
                        <a:rPr lang="en-US" sz="900" b="1" u="none" dirty="0" smtClean="0">
                          <a:solidFill>
                            <a:schemeClr val="tx1"/>
                          </a:solidFill>
                          <a:latin typeface="Univers for KPMG" panose="020B0603020202020204" pitchFamily="34" charset="0"/>
                        </a:rPr>
                        <a:t>to EBITDA </a:t>
                      </a:r>
                      <a:r>
                        <a:rPr lang="en-US" sz="900" b="1" dirty="0" smtClean="0">
                          <a:solidFill>
                            <a:schemeClr val="tx1"/>
                          </a:solidFill>
                          <a:latin typeface="Univers for KPMG" panose="020B0603020202020204" pitchFamily="34" charset="0"/>
                        </a:rPr>
                        <a:t>of $0.2 million): </a:t>
                      </a:r>
                      <a:r>
                        <a:rPr lang="en-US" sz="900" dirty="0" smtClean="0">
                          <a:solidFill>
                            <a:schemeClr val="tx1"/>
                          </a:solidFill>
                          <a:latin typeface="Univers for KPMG" panose="020B0603020202020204" pitchFamily="34" charset="0"/>
                        </a:rPr>
                        <a:t>Represents the difference between the current officer salaries ($371,000 for each CEO) and their expected salary post transaction. It is our understanding that post transaction, the CEOs will each earn $250,000. </a:t>
                      </a:r>
                    </a:p>
                    <a:p>
                      <a:pPr marL="347663" marR="0" lvl="2" indent="-177800" algn="just" defTabSz="914400" rtl="0" eaLnBrk="1" fontAlgn="auto" latinLnBrk="0" hangingPunct="1">
                        <a:lnSpc>
                          <a:spcPts val="1000"/>
                        </a:lnSpc>
                        <a:spcBef>
                          <a:spcPts val="400"/>
                        </a:spcBef>
                        <a:spcAft>
                          <a:spcPts val="0"/>
                        </a:spcAft>
                        <a:buClr>
                          <a:srgbClr val="97989A"/>
                        </a:buClr>
                        <a:buSzTx/>
                        <a:buFont typeface="Arial" panose="020B0604020202020204" pitchFamily="34" charset="0"/>
                        <a:buChar char="–"/>
                        <a:tabLst/>
                        <a:defRPr/>
                      </a:pPr>
                      <a:r>
                        <a:rPr lang="en-US" sz="900" b="1" kern="1200" dirty="0" smtClean="0">
                          <a:solidFill>
                            <a:schemeClr val="tx1"/>
                          </a:solidFill>
                          <a:latin typeface="Univers for KPMG" panose="020B0603020202020204" pitchFamily="34" charset="0"/>
                          <a:ea typeface="+mn-ea"/>
                          <a:cs typeface="+mn-cs"/>
                        </a:rPr>
                        <a:t>Other adjustments</a:t>
                      </a:r>
                      <a:r>
                        <a:rPr lang="en-US" sz="900" b="1" kern="1200" baseline="0" dirty="0" smtClean="0">
                          <a:solidFill>
                            <a:schemeClr val="tx1"/>
                          </a:solidFill>
                          <a:latin typeface="Univers for KPMG" panose="020B0603020202020204" pitchFamily="34" charset="0"/>
                          <a:ea typeface="+mn-ea"/>
                          <a:cs typeface="+mn-cs"/>
                        </a:rPr>
                        <a:t> (increase </a:t>
                      </a:r>
                      <a:r>
                        <a:rPr lang="en-US" sz="900" b="1" u="none" kern="1200" baseline="0" dirty="0" smtClean="0">
                          <a:solidFill>
                            <a:schemeClr val="tx1"/>
                          </a:solidFill>
                          <a:latin typeface="Univers for KPMG" panose="020B0603020202020204" pitchFamily="34" charset="0"/>
                          <a:ea typeface="+mn-ea"/>
                          <a:cs typeface="+mn-cs"/>
                        </a:rPr>
                        <a:t>to EBITDA of </a:t>
                      </a:r>
                      <a:r>
                        <a:rPr lang="en-US" sz="900" b="1" kern="1200" baseline="0" dirty="0" smtClean="0">
                          <a:solidFill>
                            <a:schemeClr val="tx1"/>
                          </a:solidFill>
                          <a:latin typeface="Univers for KPMG" panose="020B0603020202020204" pitchFamily="34" charset="0"/>
                          <a:ea typeface="+mn-ea"/>
                          <a:cs typeface="+mn-cs"/>
                        </a:rPr>
                        <a:t>$0.6 million): </a:t>
                      </a:r>
                      <a:r>
                        <a:rPr lang="en-US" sz="900" b="0" kern="1200" baseline="0" dirty="0" smtClean="0">
                          <a:solidFill>
                            <a:schemeClr val="tx1"/>
                          </a:solidFill>
                          <a:latin typeface="Univers for KPMG" panose="020B0603020202020204" pitchFamily="34" charset="0"/>
                          <a:ea typeface="+mn-ea"/>
                          <a:cs typeface="+mn-cs"/>
                        </a:rPr>
                        <a:t>Represents other non-recurring expenses including the owner’s personal expenses, start up costs for new locations and cost savings from relocating recruiters from USA to India.</a:t>
                      </a:r>
                    </a:p>
                    <a:p>
                      <a:pPr marL="347663" marR="0" lvl="2" indent="-177800" algn="just" defTabSz="914400" rtl="0" eaLnBrk="1" fontAlgn="auto" latinLnBrk="0" hangingPunct="1">
                        <a:lnSpc>
                          <a:spcPts val="1000"/>
                        </a:lnSpc>
                        <a:spcBef>
                          <a:spcPts val="400"/>
                        </a:spcBef>
                        <a:spcAft>
                          <a:spcPts val="0"/>
                        </a:spcAft>
                        <a:buClr>
                          <a:srgbClr val="97989A"/>
                        </a:buClr>
                        <a:buSzTx/>
                        <a:buFont typeface="Arial" panose="020B0604020202020204" pitchFamily="34" charset="0"/>
                        <a:buChar char="–"/>
                        <a:tabLst/>
                        <a:defRPr/>
                      </a:pPr>
                      <a:r>
                        <a:rPr lang="en-US" sz="900" b="1" kern="1200" dirty="0" smtClean="0">
                          <a:solidFill>
                            <a:schemeClr val="tx1"/>
                          </a:solidFill>
                          <a:latin typeface="Univers for KPMG" panose="020B0603020202020204" pitchFamily="34" charset="0"/>
                          <a:ea typeface="+mn-ea"/>
                          <a:cs typeface="+mn-cs"/>
                        </a:rPr>
                        <a:t>Other income / other expense (</a:t>
                      </a:r>
                      <a:r>
                        <a:rPr lang="en-US" sz="900" b="1" u="none" kern="1200" dirty="0" smtClean="0">
                          <a:solidFill>
                            <a:schemeClr val="tx1"/>
                          </a:solidFill>
                          <a:latin typeface="Univers for KPMG" panose="020B0603020202020204" pitchFamily="34" charset="0"/>
                          <a:ea typeface="+mn-ea"/>
                          <a:cs typeface="+mn-cs"/>
                        </a:rPr>
                        <a:t>decrease to EBITDA of </a:t>
                      </a:r>
                      <a:r>
                        <a:rPr lang="en-US" sz="900" b="1" kern="1200" dirty="0" smtClean="0">
                          <a:solidFill>
                            <a:schemeClr val="tx1"/>
                          </a:solidFill>
                          <a:latin typeface="Univers for KPMG" panose="020B0603020202020204" pitchFamily="34" charset="0"/>
                          <a:ea typeface="+mn-ea"/>
                          <a:cs typeface="+mn-cs"/>
                        </a:rPr>
                        <a:t>$0.4 million):</a:t>
                      </a:r>
                      <a:r>
                        <a:rPr lang="en-US" sz="900" b="1" kern="1200" baseline="0" dirty="0" smtClean="0">
                          <a:solidFill>
                            <a:schemeClr val="tx1"/>
                          </a:solidFill>
                          <a:latin typeface="Univers for KPMG" panose="020B0603020202020204" pitchFamily="34" charset="0"/>
                          <a:ea typeface="+mn-ea"/>
                          <a:cs typeface="+mn-cs"/>
                        </a:rPr>
                        <a:t> </a:t>
                      </a:r>
                      <a:r>
                        <a:rPr lang="en-CA" sz="900" dirty="0" smtClean="0">
                          <a:solidFill>
                            <a:schemeClr val="tx1"/>
                          </a:solidFill>
                          <a:latin typeface="Univers for KPMG" panose="020B0603020202020204" pitchFamily="34" charset="0"/>
                        </a:rPr>
                        <a:t>This adjustment relates to the reversal of $440,000 of contingent liabilities which were released into other income in FY17</a:t>
                      </a:r>
                      <a:r>
                        <a:rPr lang="en-CA" sz="900" baseline="0" dirty="0" smtClean="0">
                          <a:solidFill>
                            <a:schemeClr val="tx1"/>
                          </a:solidFill>
                          <a:latin typeface="Univers for KPMG" panose="020B0603020202020204" pitchFamily="34" charset="0"/>
                        </a:rPr>
                        <a:t> and are considered to be non-recurring in nature</a:t>
                      </a:r>
                      <a:r>
                        <a:rPr lang="en-CA" sz="900" dirty="0" smtClean="0">
                          <a:solidFill>
                            <a:schemeClr val="tx1"/>
                          </a:solidFill>
                          <a:latin typeface="Univers for KPMG" panose="020B0603020202020204" pitchFamily="34" charset="0"/>
                        </a:rPr>
                        <a:t>. In December 2017, Management reversed $300,000 of contingent liability associated with the acquisition of TheraStaff and $140,000 attributable to the acquisition of SoundAdvice. </a:t>
                      </a:r>
                      <a:endParaRPr lang="en-US" sz="900" b="0" kern="1200" baseline="0" dirty="0" smtClean="0">
                        <a:solidFill>
                          <a:schemeClr val="tx1"/>
                        </a:solidFill>
                        <a:latin typeface="Univers for KPMG" panose="020B0603020202020204" pitchFamily="34" charset="0"/>
                        <a:ea typeface="+mn-ea"/>
                        <a:cs typeface="+mn-cs"/>
                      </a:endParaRPr>
                    </a:p>
                    <a:p>
                      <a:pPr marL="177800" marR="0" lvl="2" indent="-177800" algn="just" defTabSz="914400" rtl="0" eaLnBrk="1" fontAlgn="auto" latinLnBrk="0" hangingPunct="1">
                        <a:lnSpc>
                          <a:spcPct val="100000"/>
                        </a:lnSpc>
                        <a:spcBef>
                          <a:spcPts val="600"/>
                        </a:spcBef>
                        <a:spcAft>
                          <a:spcPts val="300"/>
                        </a:spcAft>
                        <a:buClr>
                          <a:srgbClr val="97989A"/>
                        </a:buClr>
                        <a:buSzTx/>
                        <a:buFont typeface="Arial" pitchFamily="34" charset="0"/>
                        <a:buChar char="■"/>
                        <a:tabLst/>
                        <a:defRPr/>
                      </a:pPr>
                      <a:r>
                        <a:rPr kumimoji="0" lang="en-US" sz="900" b="0" i="0" u="none" strike="noStrike" kern="1200" cap="none" spc="0" normalizeH="0" baseline="0" dirty="0" smtClean="0">
                          <a:ln>
                            <a:noFill/>
                          </a:ln>
                          <a:solidFill>
                            <a:srgbClr val="000000"/>
                          </a:solidFill>
                          <a:effectLst/>
                          <a:uLnTx/>
                          <a:uFillTx/>
                          <a:latin typeface="Univers for KPMG" panose="020B0603020202020204" pitchFamily="34" charset="0"/>
                          <a:ea typeface="+mn-ea"/>
                          <a:cs typeface="Arial" pitchFamily="34" charset="0"/>
                        </a:rPr>
                        <a:t>Potential adjustments to FY17 EBITDA include the addback of audit fees and recurring employee wage expenses (decrease to EBITDA of $0.1 million).</a:t>
                      </a:r>
                    </a:p>
                    <a:p>
                      <a:pPr marL="177800" marR="0" lvl="2" indent="-177800" algn="just" defTabSz="914400" rtl="0" eaLnBrk="1" fontAlgn="auto" latinLnBrk="0" hangingPunct="1">
                        <a:lnSpc>
                          <a:spcPct val="100000"/>
                        </a:lnSpc>
                        <a:spcBef>
                          <a:spcPts val="600"/>
                        </a:spcBef>
                        <a:spcAft>
                          <a:spcPts val="300"/>
                        </a:spcAft>
                        <a:buClr>
                          <a:srgbClr val="97989A"/>
                        </a:buClr>
                        <a:buSzTx/>
                        <a:buFont typeface="Arial" pitchFamily="34" charset="0"/>
                        <a:buChar char="■"/>
                        <a:tabLst/>
                        <a:defRPr/>
                      </a:pPr>
                      <a:r>
                        <a:rPr kumimoji="0" lang="en-US" sz="900" b="0" i="0" u="none" strike="noStrike" kern="1200" cap="none" spc="0" normalizeH="0" baseline="0" noProof="0" dirty="0" smtClean="0">
                          <a:ln>
                            <a:noFill/>
                          </a:ln>
                          <a:solidFill>
                            <a:srgbClr val="000000"/>
                          </a:solidFill>
                          <a:effectLst/>
                          <a:uLnTx/>
                          <a:uFillTx/>
                          <a:latin typeface="Univers for KPMG" panose="020B0603020202020204" pitchFamily="34" charset="0"/>
                          <a:ea typeface="+mn-ea"/>
                          <a:cs typeface="Arial" pitchFamily="34" charset="0"/>
                        </a:rPr>
                        <a:t>DWHP should consider these potential adjustments as part of its valuation model and in finalizing credit agreements with prospective lenders.</a:t>
                      </a:r>
                    </a:p>
                  </a:txBody>
                  <a:tcPr marL="45720" marR="45720" horzOverflow="overflow">
                    <a:lnL w="6350" cap="flat" cmpd="sng" algn="ctr">
                      <a:solidFill>
                        <a:srgbClr val="00338D"/>
                      </a:solidFill>
                      <a:prstDash val="solid"/>
                      <a:round/>
                      <a:headEnd type="none" w="med" len="med"/>
                      <a:tailEnd type="none" w="med" len="med"/>
                    </a:lnL>
                    <a:lnR w="6350" cap="flat" cmpd="sng" algn="ctr">
                      <a:solidFill>
                        <a:srgbClr val="00338D"/>
                      </a:solidFill>
                      <a:prstDash val="solid"/>
                      <a:round/>
                      <a:headEnd type="none" w="med" len="med"/>
                      <a:tailEnd type="none" w="med" len="med"/>
                    </a:lnR>
                    <a:lnT w="6350" cap="flat" cmpd="sng" algn="ctr">
                      <a:solidFill>
                        <a:srgbClr val="00338D"/>
                      </a:solidFill>
                      <a:prstDash val="solid"/>
                      <a:round/>
                      <a:headEnd type="none" w="med" len="med"/>
                      <a:tailEnd type="none" w="med" len="med"/>
                    </a:lnT>
                    <a:lnB w="6350" cap="flat" cmpd="sng" algn="ctr">
                      <a:solidFill>
                        <a:srgbClr val="00338D"/>
                      </a:solidFill>
                      <a:prstDash val="solid"/>
                      <a:round/>
                      <a:headEnd type="none" w="med" len="med"/>
                      <a:tailEnd type="none" w="med" len="med"/>
                    </a:lnB>
                    <a:lnTlToBr>
                      <a:noFill/>
                    </a:lnTlToBr>
                    <a:lnBlToTr>
                      <a:noFill/>
                    </a:lnBlToTr>
                    <a:solidFill>
                      <a:schemeClr val="bg1"/>
                    </a:solidFill>
                  </a:tcPr>
                </a:tc>
                <a:tc>
                  <a:txBody>
                    <a:bodyPr/>
                    <a:lstStyle/>
                    <a:p>
                      <a:pPr marL="91440" marR="0" indent="0" algn="r" defTabSz="914400" eaLnBrk="1" fontAlgn="auto" latinLnBrk="0" hangingPunct="1">
                        <a:lnSpc>
                          <a:spcPct val="100000"/>
                        </a:lnSpc>
                        <a:spcBef>
                          <a:spcPts val="0"/>
                        </a:spcBef>
                        <a:spcAft>
                          <a:spcPts val="0"/>
                        </a:spcAft>
                        <a:buClrTx/>
                        <a:buSzTx/>
                        <a:buFont typeface="Arial" panose="020B0604020202020204" pitchFamily="34" charset="0"/>
                        <a:buNone/>
                        <a:tabLst/>
                        <a:defRPr/>
                      </a:pPr>
                      <a:r>
                        <a:rPr lang="en-US" sz="900" b="0" dirty="0" smtClean="0">
                          <a:solidFill>
                            <a:schemeClr val="tx1"/>
                          </a:solidFill>
                          <a:latin typeface="Univers for KPMG" panose="020B0603020202020204" pitchFamily="34" charset="0"/>
                        </a:rPr>
                        <a:t>Pages 15 to 23</a:t>
                      </a:r>
                      <a:r>
                        <a:rPr lang="en-US" sz="900" b="0" baseline="0" dirty="0" smtClean="0">
                          <a:solidFill>
                            <a:schemeClr val="tx1"/>
                          </a:solidFill>
                          <a:latin typeface="Univers for KPMG" panose="020B0603020202020204" pitchFamily="34" charset="0"/>
                        </a:rPr>
                        <a:t> </a:t>
                      </a:r>
                      <a:endParaRPr lang="en-US" sz="900" b="0" dirty="0" smtClean="0">
                        <a:solidFill>
                          <a:schemeClr val="tx1"/>
                        </a:solidFill>
                        <a:latin typeface="Univers for KPMG" panose="020B0603020202020204" pitchFamily="34" charset="0"/>
                      </a:endParaRPr>
                    </a:p>
                  </a:txBody>
                  <a:tcPr marL="45720" marR="45720" horzOverflow="overflow">
                    <a:lnL w="6350" cap="flat" cmpd="sng" algn="ctr">
                      <a:solidFill>
                        <a:srgbClr val="00338D"/>
                      </a:solidFill>
                      <a:prstDash val="solid"/>
                      <a:round/>
                      <a:headEnd type="none" w="med" len="med"/>
                      <a:tailEnd type="none" w="med" len="med"/>
                    </a:lnL>
                    <a:lnR w="6350" cap="flat" cmpd="sng" algn="ctr">
                      <a:solidFill>
                        <a:srgbClr val="00338D"/>
                      </a:solidFill>
                      <a:prstDash val="solid"/>
                      <a:round/>
                      <a:headEnd type="none" w="med" len="med"/>
                      <a:tailEnd type="none" w="med" len="med"/>
                    </a:lnR>
                    <a:lnT w="6350" cap="flat" cmpd="sng" algn="ctr">
                      <a:solidFill>
                        <a:srgbClr val="00338D"/>
                      </a:solidFill>
                      <a:prstDash val="solid"/>
                      <a:round/>
                      <a:headEnd type="none" w="med" len="med"/>
                      <a:tailEnd type="none" w="med" len="med"/>
                    </a:lnT>
                    <a:lnB w="6350" cap="flat" cmpd="sng" algn="ctr">
                      <a:solidFill>
                        <a:srgbClr val="00338D"/>
                      </a:solidFill>
                      <a:prstDash val="solid"/>
                      <a:round/>
                      <a:headEnd type="none" w="med" len="med"/>
                      <a:tailEnd type="none" w="med" len="med"/>
                    </a:lnB>
                    <a:lnTlToBr>
                      <a:noFill/>
                    </a:lnTlToBr>
                    <a:lnBlToTr>
                      <a:noFill/>
                    </a:lnBlToTr>
                    <a:solidFill>
                      <a:schemeClr val="bg1"/>
                    </a:solidFill>
                  </a:tcPr>
                </a:tc>
              </a:tr>
            </a:tbl>
          </a:graphicData>
        </a:graphic>
      </p:graphicFrame>
      <p:pic>
        <p:nvPicPr>
          <p:cNvPr id="2" name="Picture 1"/>
          <p:cNvPicPr>
            <a:picLocks noChangeAspect="1"/>
          </p:cNvPicPr>
          <p:nvPr/>
        </p:nvPicPr>
        <p:blipFill>
          <a:blip r:embed="rId4"/>
          <a:stretch>
            <a:fillRect/>
          </a:stretch>
        </p:blipFill>
        <p:spPr>
          <a:xfrm>
            <a:off x="1933333" y="1494322"/>
            <a:ext cx="3004299" cy="1533372"/>
          </a:xfrm>
          <a:prstGeom prst="rect">
            <a:avLst/>
          </a:prstGeom>
        </p:spPr>
      </p:pic>
      <p:sp>
        <p:nvSpPr>
          <p:cNvPr id="4" name="Title 3"/>
          <p:cNvSpPr>
            <a:spLocks noGrp="1"/>
          </p:cNvSpPr>
          <p:nvPr>
            <p:ph type="title"/>
          </p:nvPr>
        </p:nvSpPr>
        <p:spPr/>
        <p:txBody>
          <a:bodyPr/>
          <a:lstStyle/>
          <a:p>
            <a:r>
              <a:rPr lang="en-US" dirty="0" smtClean="0"/>
              <a:t>Key findings </a:t>
            </a:r>
            <a:r>
              <a:rPr lang="en-US" dirty="0"/>
              <a:t>– Financial due diligence </a:t>
            </a:r>
            <a:r>
              <a:rPr lang="en-US" dirty="0" smtClean="0"/>
              <a:t>(</a:t>
            </a:r>
            <a:r>
              <a:rPr lang="en-US" dirty="0"/>
              <a:t>1</a:t>
            </a:r>
            <a:r>
              <a:rPr lang="en-US" dirty="0" smtClean="0"/>
              <a:t> of 5)</a:t>
            </a:r>
            <a:endParaRPr lang="en-US" dirty="0"/>
          </a:p>
        </p:txBody>
      </p:sp>
      <p:sp>
        <p:nvSpPr>
          <p:cNvPr id="11" name="Titre 5"/>
          <p:cNvSpPr txBox="1">
            <a:spLocks/>
          </p:cNvSpPr>
          <p:nvPr/>
        </p:nvSpPr>
        <p:spPr bwMode="gray">
          <a:xfrm>
            <a:off x="422072" y="208109"/>
            <a:ext cx="8496000" cy="784830"/>
          </a:xfrm>
          <a:prstGeom prst="rect">
            <a:avLst/>
          </a:prstGeom>
        </p:spPr>
        <p:txBody>
          <a:bodyPr vert="horz" lIns="0" tIns="0" rIns="0" bIns="0" rtlCol="0" anchor="t" anchorCtr="0">
            <a:noAutofit/>
          </a:bodyPr>
          <a:lstStyle>
            <a:lvl1pPr algn="l" defTabSz="914400" rtl="0" eaLnBrk="1" latinLnBrk="0" hangingPunct="1">
              <a:lnSpc>
                <a:spcPct val="70000"/>
              </a:lnSpc>
              <a:spcBef>
                <a:spcPct val="0"/>
              </a:spcBef>
              <a:buNone/>
              <a:defRPr sz="3800" kern="1200">
                <a:solidFill>
                  <a:schemeClr val="tx2"/>
                </a:solidFill>
                <a:latin typeface="+mj-lt"/>
                <a:ea typeface="+mj-ea"/>
                <a:cs typeface="+mj-cs"/>
              </a:defRPr>
            </a:lvl1pPr>
          </a:lstStyle>
          <a:p>
            <a:r>
              <a:rPr lang="en-CA" sz="2400" dirty="0" smtClean="0">
                <a:solidFill>
                  <a:prstClr val="white">
                    <a:lumMod val="50000"/>
                  </a:prstClr>
                </a:solidFill>
              </a:rPr>
              <a:t>Executive summary</a:t>
            </a:r>
            <a:r>
              <a:rPr lang="en-CA" dirty="0" smtClean="0">
                <a:solidFill>
                  <a:srgbClr val="00338D"/>
                </a:solidFill>
              </a:rPr>
              <a:t/>
            </a:r>
            <a:br>
              <a:rPr lang="en-CA" dirty="0" smtClean="0">
                <a:solidFill>
                  <a:srgbClr val="00338D"/>
                </a:solidFill>
              </a:rPr>
            </a:br>
            <a:endParaRPr lang="en-CA" sz="4000" dirty="0">
              <a:solidFill>
                <a:srgbClr val="00338D"/>
              </a:solidFill>
            </a:endParaRPr>
          </a:p>
        </p:txBody>
      </p:sp>
      <p:sp>
        <p:nvSpPr>
          <p:cNvPr id="7" name="TextBox 6"/>
          <p:cNvSpPr txBox="1"/>
          <p:nvPr/>
        </p:nvSpPr>
        <p:spPr>
          <a:xfrm>
            <a:off x="1933332" y="3019678"/>
            <a:ext cx="2598880" cy="184666"/>
          </a:xfrm>
          <a:prstGeom prst="rect">
            <a:avLst/>
          </a:prstGeom>
          <a:noFill/>
        </p:spPr>
        <p:txBody>
          <a:bodyPr wrap="square" lIns="0" tIns="0" rIns="0" bIns="0" rtlCol="0">
            <a:spAutoFit/>
          </a:bodyPr>
          <a:lstStyle/>
          <a:p>
            <a:pPr marL="400050" indent="-400050" defTabSz="914400"/>
            <a:r>
              <a:rPr lang="en-US" sz="600" i="1" dirty="0" smtClean="0">
                <a:solidFill>
                  <a:srgbClr val="000000"/>
                </a:solidFill>
              </a:rPr>
              <a:t>Source: Management provided information; KPMG analysis</a:t>
            </a:r>
          </a:p>
          <a:p>
            <a:pPr marL="400050" indent="-400050" defTabSz="914400"/>
            <a:r>
              <a:rPr lang="en-US" sz="600" i="1" dirty="0" smtClean="0">
                <a:solidFill>
                  <a:srgbClr val="000000"/>
                </a:solidFill>
              </a:rPr>
              <a:t>Note: Refer to page 26 for breakdown of net revenue.</a:t>
            </a:r>
          </a:p>
        </p:txBody>
      </p:sp>
      <p:sp>
        <p:nvSpPr>
          <p:cNvPr id="8" name="Rounded Rectangle 7"/>
          <p:cNvSpPr/>
          <p:nvPr/>
        </p:nvSpPr>
        <p:spPr>
          <a:xfrm>
            <a:off x="4142786" y="2881271"/>
            <a:ext cx="794845" cy="141744"/>
          </a:xfrm>
          <a:prstGeom prst="roundRect">
            <a:avLst/>
          </a:prstGeom>
          <a:noFill/>
          <a:ln>
            <a:solidFill>
              <a:srgbClr val="00338D"/>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smtClean="0">
              <a:solidFill>
                <a:schemeClr val="bg1"/>
              </a:solidFill>
            </a:endParaRPr>
          </a:p>
        </p:txBody>
      </p:sp>
      <p:cxnSp>
        <p:nvCxnSpPr>
          <p:cNvPr id="9" name="Straight Arrow Connector 13"/>
          <p:cNvCxnSpPr>
            <a:stCxn id="10" idx="1"/>
            <a:endCxn id="8" idx="3"/>
          </p:cNvCxnSpPr>
          <p:nvPr/>
        </p:nvCxnSpPr>
        <p:spPr>
          <a:xfrm rot="10800000" flipV="1">
            <a:off x="4937632" y="2696167"/>
            <a:ext cx="427119" cy="255975"/>
          </a:xfrm>
          <a:prstGeom prst="bentConnector3">
            <a:avLst>
              <a:gd name="adj1" fmla="val 50000"/>
            </a:avLst>
          </a:prstGeom>
          <a:solidFill>
            <a:srgbClr val="00A3A1"/>
          </a:solidFill>
          <a:ln w="9525">
            <a:solidFill>
              <a:srgbClr val="00338D"/>
            </a:solidFill>
            <a:headEnd type="none" w="sm" len="sm"/>
            <a:tailEnd type="triangle" w="sm" len="sm"/>
          </a:ln>
        </p:spPr>
        <p:style>
          <a:lnRef idx="1">
            <a:schemeClr val="accent1"/>
          </a:lnRef>
          <a:fillRef idx="0">
            <a:schemeClr val="accent1"/>
          </a:fillRef>
          <a:effectRef idx="0">
            <a:schemeClr val="accent1"/>
          </a:effectRef>
          <a:fontRef idx="minor">
            <a:schemeClr val="tx1"/>
          </a:fontRef>
        </p:style>
      </p:cxnSp>
      <p:sp>
        <p:nvSpPr>
          <p:cNvPr id="10" name="Rectangle 4"/>
          <p:cNvSpPr>
            <a:spLocks noChangeArrowheads="1"/>
          </p:cNvSpPr>
          <p:nvPr>
            <p:custDataLst>
              <p:tags r:id="rId1"/>
            </p:custDataLst>
          </p:nvPr>
        </p:nvSpPr>
        <p:spPr bwMode="auto">
          <a:xfrm>
            <a:off x="5364750" y="2364641"/>
            <a:ext cx="1938250" cy="663053"/>
          </a:xfrm>
          <a:prstGeom prst="rect">
            <a:avLst/>
          </a:prstGeom>
          <a:noFill/>
          <a:ln w="9525">
            <a:solidFill>
              <a:srgbClr val="00338D"/>
            </a:solidFill>
            <a:miter lim="800000"/>
            <a:headEnd/>
            <a:tailEnd/>
          </a:ln>
          <a:effectLst/>
        </p:spPr>
        <p:txBody>
          <a:bodyPr wrap="square" lIns="54000" tIns="54000" rIns="54000" bIns="54000" anchor="ctr" anchorCtr="1">
            <a:spAutoFit/>
          </a:bodyPr>
          <a:lstStyle/>
          <a:p>
            <a:pPr algn="ctr" defTabSz="762000" eaLnBrk="0" hangingPunct="0">
              <a:lnSpc>
                <a:spcPct val="90000"/>
              </a:lnSpc>
              <a:spcBef>
                <a:spcPts val="600"/>
              </a:spcBef>
            </a:pPr>
            <a:r>
              <a:rPr lang="en-US" sz="800" dirty="0" smtClean="0">
                <a:latin typeface="Univers for KPMG" panose="020B0603020202020204" pitchFamily="34" charset="0"/>
              </a:rPr>
              <a:t>Increase in EBITDA margin from FY16 to FY17 is primarily driven by an increase in revenue and margin. This increase is attributable to volume growth across the business.</a:t>
            </a:r>
            <a:endParaRPr lang="en-GB" sz="800" dirty="0"/>
          </a:p>
        </p:txBody>
      </p:sp>
    </p:spTree>
    <p:extLst>
      <p:ext uri="{BB962C8B-B14F-4D97-AF65-F5344CB8AC3E}">
        <p14:creationId xmlns:p14="http://schemas.microsoft.com/office/powerpoint/2010/main" val="24736982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6" name="Group 3"/>
          <p:cNvGraphicFramePr>
            <a:graphicFrameLocks noGrp="1"/>
          </p:cNvGraphicFramePr>
          <p:nvPr>
            <p:extLst>
              <p:ext uri="{D42A27DB-BD31-4B8C-83A1-F6EECF244321}">
                <p14:modId xmlns:p14="http://schemas.microsoft.com/office/powerpoint/2010/main" val="927232848"/>
              </p:ext>
            </p:extLst>
          </p:nvPr>
        </p:nvGraphicFramePr>
        <p:xfrm>
          <a:off x="431799" y="1024128"/>
          <a:ext cx="8280401" cy="4634356"/>
        </p:xfrm>
        <a:graphic>
          <a:graphicData uri="http://schemas.openxmlformats.org/drawingml/2006/table">
            <a:tbl>
              <a:tblPr/>
              <a:tblGrid>
                <a:gridCol w="1315502"/>
                <a:gridCol w="6164104"/>
                <a:gridCol w="800795"/>
              </a:tblGrid>
              <a:tr h="205245">
                <a:tc>
                  <a:txBody>
                    <a:bodyPr/>
                    <a:lstStyle/>
                    <a:p>
                      <a:pPr marL="0" marR="0" lvl="1" indent="0" algn="l" defTabSz="914400" rtl="0" eaLnBrk="1" fontAlgn="base" latinLnBrk="0" hangingPunct="1">
                        <a:lnSpc>
                          <a:spcPct val="100000"/>
                        </a:lnSpc>
                        <a:spcBef>
                          <a:spcPts val="0"/>
                        </a:spcBef>
                        <a:spcAft>
                          <a:spcPts val="600"/>
                        </a:spcAft>
                        <a:buClrTx/>
                        <a:buSzTx/>
                        <a:buFontTx/>
                        <a:buNone/>
                        <a:tabLst/>
                      </a:pPr>
                      <a:r>
                        <a:rPr lang="en-US" sz="900" b="1" kern="1200" dirty="0" smtClean="0">
                          <a:solidFill>
                            <a:schemeClr val="bg1"/>
                          </a:solidFill>
                          <a:latin typeface="Univers for KPMG" panose="020B0603020202020204" pitchFamily="34" charset="0"/>
                          <a:ea typeface="+mn-ea"/>
                          <a:cs typeface="+mn-cs"/>
                        </a:rPr>
                        <a:t>Finding</a:t>
                      </a:r>
                    </a:p>
                  </a:txBody>
                  <a:tcPr marL="45720" marR="45720" anchor="b" horzOverflow="overflow">
                    <a:lnL w="6350" cap="flat" cmpd="sng" algn="ctr">
                      <a:solidFill>
                        <a:srgbClr val="00338D"/>
                      </a:solidFill>
                      <a:prstDash val="solid"/>
                      <a:round/>
                      <a:headEnd type="none" w="med" len="med"/>
                      <a:tailEnd type="none" w="med" len="med"/>
                    </a:lnL>
                    <a:lnR w="6350" cap="flat" cmpd="sng" algn="ctr">
                      <a:solidFill>
                        <a:srgbClr val="00338D"/>
                      </a:solidFill>
                      <a:prstDash val="solid"/>
                      <a:round/>
                      <a:headEnd type="none" w="med" len="med"/>
                      <a:tailEnd type="none" w="med" len="med"/>
                    </a:lnR>
                    <a:lnT w="6350" cap="flat" cmpd="sng" algn="ctr">
                      <a:solidFill>
                        <a:srgbClr val="00338D"/>
                      </a:solidFill>
                      <a:prstDash val="solid"/>
                      <a:round/>
                      <a:headEnd type="none" w="med" len="med"/>
                      <a:tailEnd type="none" w="med" len="med"/>
                    </a:lnT>
                    <a:lnB w="6350" cap="flat" cmpd="sng" algn="ctr">
                      <a:solidFill>
                        <a:srgbClr val="00338D"/>
                      </a:solidFill>
                      <a:prstDash val="solid"/>
                      <a:round/>
                      <a:headEnd type="none" w="med" len="med"/>
                      <a:tailEnd type="none" w="med" len="med"/>
                    </a:lnB>
                    <a:lnTlToBr>
                      <a:noFill/>
                    </a:lnTlToBr>
                    <a:lnBlToTr>
                      <a:noFill/>
                    </a:lnBlToTr>
                    <a:solidFill>
                      <a:srgbClr val="00338D"/>
                    </a:solidFill>
                  </a:tcPr>
                </a:tc>
                <a:tc>
                  <a:txBody>
                    <a:bodyPr/>
                    <a:lstStyle/>
                    <a:p>
                      <a:pPr marL="0" marR="0" lvl="1" indent="0" algn="l" defTabSz="914400" rtl="0" eaLnBrk="1" fontAlgn="auto" latinLnBrk="0" hangingPunct="1">
                        <a:lnSpc>
                          <a:spcPct val="100000"/>
                        </a:lnSpc>
                        <a:spcBef>
                          <a:spcPts val="0"/>
                        </a:spcBef>
                        <a:spcAft>
                          <a:spcPts val="600"/>
                        </a:spcAft>
                        <a:buClr>
                          <a:srgbClr val="97989A"/>
                        </a:buClr>
                        <a:buSzTx/>
                        <a:buFontTx/>
                        <a:buNone/>
                        <a:tabLst/>
                        <a:defRPr/>
                      </a:pPr>
                      <a:r>
                        <a:rPr lang="en-US" sz="900" b="1" kern="1200" noProof="0" dirty="0" smtClean="0">
                          <a:solidFill>
                            <a:schemeClr val="bg1"/>
                          </a:solidFill>
                          <a:latin typeface="Univers for KPMG" panose="020B0603020202020204" pitchFamily="34" charset="0"/>
                          <a:ea typeface="+mn-ea"/>
                          <a:cs typeface="+mn-cs"/>
                        </a:rPr>
                        <a:t>Summary observations</a:t>
                      </a:r>
                    </a:p>
                  </a:txBody>
                  <a:tcPr marL="45720" marR="45720" anchor="b" horzOverflow="overflow">
                    <a:lnL w="6350" cap="flat" cmpd="sng" algn="ctr">
                      <a:solidFill>
                        <a:srgbClr val="00338D"/>
                      </a:solidFill>
                      <a:prstDash val="solid"/>
                      <a:round/>
                      <a:headEnd type="none" w="med" len="med"/>
                      <a:tailEnd type="none" w="med" len="med"/>
                    </a:lnL>
                    <a:lnR w="6350" cap="flat" cmpd="sng" algn="ctr">
                      <a:solidFill>
                        <a:srgbClr val="00338D"/>
                      </a:solidFill>
                      <a:prstDash val="solid"/>
                      <a:round/>
                      <a:headEnd type="none" w="med" len="med"/>
                      <a:tailEnd type="none" w="med" len="med"/>
                    </a:lnR>
                    <a:lnT w="6350" cap="flat" cmpd="sng" algn="ctr">
                      <a:solidFill>
                        <a:srgbClr val="00338D"/>
                      </a:solidFill>
                      <a:prstDash val="solid"/>
                      <a:round/>
                      <a:headEnd type="none" w="med" len="med"/>
                      <a:tailEnd type="none" w="med" len="med"/>
                    </a:lnT>
                    <a:lnB w="6350" cap="flat" cmpd="sng" algn="ctr">
                      <a:solidFill>
                        <a:srgbClr val="00338D"/>
                      </a:solidFill>
                      <a:prstDash val="solid"/>
                      <a:round/>
                      <a:headEnd type="none" w="med" len="med"/>
                      <a:tailEnd type="none" w="med" len="med"/>
                    </a:lnB>
                    <a:lnTlToBr>
                      <a:noFill/>
                    </a:lnTlToBr>
                    <a:lnBlToTr>
                      <a:noFill/>
                    </a:lnBlToTr>
                    <a:solidFill>
                      <a:srgbClr val="00338D"/>
                    </a:solidFill>
                  </a:tcPr>
                </a:tc>
                <a:tc>
                  <a:txBody>
                    <a:bodyPr/>
                    <a:lstStyle/>
                    <a:p>
                      <a:pPr marL="0" marR="0" lvl="1" indent="0" algn="l" defTabSz="914400" rtl="0" eaLnBrk="1" fontAlgn="auto" latinLnBrk="0" hangingPunct="1">
                        <a:lnSpc>
                          <a:spcPct val="100000"/>
                        </a:lnSpc>
                        <a:spcBef>
                          <a:spcPts val="0"/>
                        </a:spcBef>
                        <a:spcAft>
                          <a:spcPts val="600"/>
                        </a:spcAft>
                        <a:buClr>
                          <a:srgbClr val="97989A"/>
                        </a:buClr>
                        <a:buSzTx/>
                        <a:buFontTx/>
                        <a:buNone/>
                        <a:tabLst/>
                        <a:defRPr/>
                      </a:pPr>
                      <a:r>
                        <a:rPr lang="en-US" sz="900" b="1" kern="1200" noProof="0" dirty="0" smtClean="0">
                          <a:solidFill>
                            <a:schemeClr val="bg1"/>
                          </a:solidFill>
                          <a:latin typeface="Univers for KPMG" panose="020B0603020202020204" pitchFamily="34" charset="0"/>
                          <a:ea typeface="+mn-ea"/>
                          <a:cs typeface="+mn-cs"/>
                        </a:rPr>
                        <a:t>Key analysis</a:t>
                      </a:r>
                    </a:p>
                  </a:txBody>
                  <a:tcPr marL="45720" marR="45720" anchor="b" horzOverflow="overflow">
                    <a:lnL w="6350" cap="flat" cmpd="sng" algn="ctr">
                      <a:solidFill>
                        <a:srgbClr val="00338D"/>
                      </a:solidFill>
                      <a:prstDash val="solid"/>
                      <a:round/>
                      <a:headEnd type="none" w="med" len="med"/>
                      <a:tailEnd type="none" w="med" len="med"/>
                    </a:lnL>
                    <a:lnR w="6350" cap="flat" cmpd="sng" algn="ctr">
                      <a:solidFill>
                        <a:srgbClr val="00338D"/>
                      </a:solidFill>
                      <a:prstDash val="solid"/>
                      <a:round/>
                      <a:headEnd type="none" w="med" len="med"/>
                      <a:tailEnd type="none" w="med" len="med"/>
                    </a:lnR>
                    <a:lnT w="6350" cap="flat" cmpd="sng" algn="ctr">
                      <a:solidFill>
                        <a:srgbClr val="00338D"/>
                      </a:solidFill>
                      <a:prstDash val="solid"/>
                      <a:round/>
                      <a:headEnd type="none" w="med" len="med"/>
                      <a:tailEnd type="none" w="med" len="med"/>
                    </a:lnT>
                    <a:lnB w="6350" cap="flat" cmpd="sng" algn="ctr">
                      <a:solidFill>
                        <a:srgbClr val="00338D"/>
                      </a:solidFill>
                      <a:prstDash val="solid"/>
                      <a:round/>
                      <a:headEnd type="none" w="med" len="med"/>
                      <a:tailEnd type="none" w="med" len="med"/>
                    </a:lnB>
                    <a:lnTlToBr>
                      <a:noFill/>
                    </a:lnTlToBr>
                    <a:lnBlToTr>
                      <a:noFill/>
                    </a:lnBlToTr>
                    <a:solidFill>
                      <a:srgbClr val="00338D"/>
                    </a:solidFill>
                  </a:tcPr>
                </a:tc>
              </a:tr>
              <a:tr h="4405756">
                <a:tc>
                  <a:txBody>
                    <a:bodyPr/>
                    <a:lstStyle/>
                    <a:p>
                      <a:pPr marL="0" marR="0" lvl="1" indent="0" algn="l" defTabSz="914400" rtl="0" eaLnBrk="1" fontAlgn="base" latinLnBrk="0" hangingPunct="1">
                        <a:lnSpc>
                          <a:spcPct val="100000"/>
                        </a:lnSpc>
                        <a:spcBef>
                          <a:spcPts val="0"/>
                        </a:spcBef>
                        <a:spcAft>
                          <a:spcPts val="600"/>
                        </a:spcAft>
                        <a:buClrTx/>
                        <a:buSzTx/>
                        <a:buFontTx/>
                        <a:buNone/>
                        <a:tabLst/>
                        <a:defRPr/>
                      </a:pPr>
                      <a:r>
                        <a:rPr lang="en-US" sz="900" b="1" kern="1200" dirty="0" smtClean="0">
                          <a:solidFill>
                            <a:srgbClr val="00338D"/>
                          </a:solidFill>
                          <a:latin typeface="Univers for KPMG" panose="020B0603020202020204" pitchFamily="34" charset="0"/>
                          <a:ea typeface="+mn-ea"/>
                          <a:cs typeface="+mn-cs"/>
                        </a:rPr>
                        <a:t>Net working capital</a:t>
                      </a:r>
                    </a:p>
                    <a:p>
                      <a:pPr marL="0" marR="0" lvl="1" indent="0" algn="l" defTabSz="914400" rtl="0" eaLnBrk="1" fontAlgn="base" latinLnBrk="0" hangingPunct="1">
                        <a:lnSpc>
                          <a:spcPct val="100000"/>
                        </a:lnSpc>
                        <a:spcBef>
                          <a:spcPts val="0"/>
                        </a:spcBef>
                        <a:spcAft>
                          <a:spcPts val="600"/>
                        </a:spcAft>
                        <a:buClrTx/>
                        <a:buSzTx/>
                        <a:buFontTx/>
                        <a:buNone/>
                        <a:tabLst/>
                        <a:defRPr/>
                      </a:pPr>
                      <a:r>
                        <a:rPr lang="en-US" sz="900" b="0" kern="1200" baseline="0" dirty="0" smtClean="0">
                          <a:solidFill>
                            <a:srgbClr val="00338D"/>
                          </a:solidFill>
                          <a:latin typeface="Univers for KPMG" panose="020B0603020202020204" pitchFamily="34" charset="0"/>
                          <a:ea typeface="+mn-ea"/>
                          <a:cs typeface="+mn-cs"/>
                        </a:rPr>
                        <a:t>Average adjusted net working capital for FY17 is $11.0 million.</a:t>
                      </a:r>
                    </a:p>
                    <a:p>
                      <a:pPr marL="0" marR="0" lvl="1" indent="0" algn="l" defTabSz="914400" rtl="0" eaLnBrk="1" fontAlgn="base" latinLnBrk="0" hangingPunct="1">
                        <a:lnSpc>
                          <a:spcPct val="100000"/>
                        </a:lnSpc>
                        <a:spcBef>
                          <a:spcPts val="0"/>
                        </a:spcBef>
                        <a:spcAft>
                          <a:spcPts val="600"/>
                        </a:spcAft>
                        <a:buClrTx/>
                        <a:buSzTx/>
                        <a:buFontTx/>
                        <a:buNone/>
                        <a:tabLst/>
                        <a:defRPr/>
                      </a:pPr>
                      <a:r>
                        <a:rPr lang="en-US" sz="900" b="0" kern="1200" baseline="0" dirty="0" smtClean="0">
                          <a:solidFill>
                            <a:srgbClr val="00338D"/>
                          </a:solidFill>
                          <a:latin typeface="Univers for KPMG" panose="020B0603020202020204" pitchFamily="34" charset="0"/>
                          <a:ea typeface="+mn-ea"/>
                          <a:cs typeface="+mn-cs"/>
                        </a:rPr>
                        <a:t>The average net working capital increases to $11.8 million over the last three months. This is primarily driven by the increase in accounts receivable mirroring the increase in revenue volumes over the period.</a:t>
                      </a:r>
                    </a:p>
                  </a:txBody>
                  <a:tcPr marL="45720" marR="45720" horzOverflow="overflow">
                    <a:lnL w="6350" cap="flat" cmpd="sng" algn="ctr">
                      <a:solidFill>
                        <a:srgbClr val="00338D"/>
                      </a:solidFill>
                      <a:prstDash val="solid"/>
                      <a:round/>
                      <a:headEnd type="none" w="med" len="med"/>
                      <a:tailEnd type="none" w="med" len="med"/>
                    </a:lnL>
                    <a:lnR w="6350" cap="flat" cmpd="sng" algn="ctr">
                      <a:solidFill>
                        <a:srgbClr val="00338D"/>
                      </a:solidFill>
                      <a:prstDash val="solid"/>
                      <a:round/>
                      <a:headEnd type="none" w="med" len="med"/>
                      <a:tailEnd type="none" w="med" len="med"/>
                    </a:lnR>
                    <a:lnT w="6350" cap="flat" cmpd="sng" algn="ctr">
                      <a:solidFill>
                        <a:srgbClr val="00338D"/>
                      </a:solidFill>
                      <a:prstDash val="solid"/>
                      <a:round/>
                      <a:headEnd type="none" w="med" len="med"/>
                      <a:tailEnd type="none" w="med" len="med"/>
                    </a:lnT>
                    <a:lnB w="6350" cap="flat" cmpd="sng" algn="ctr">
                      <a:solidFill>
                        <a:srgbClr val="00338D"/>
                      </a:solidFill>
                      <a:prstDash val="solid"/>
                      <a:round/>
                      <a:headEnd type="none" w="med" len="med"/>
                      <a:tailEnd type="none" w="med" len="med"/>
                    </a:lnB>
                    <a:lnTlToBr>
                      <a:noFill/>
                    </a:lnTlToBr>
                    <a:lnBlToTr>
                      <a:noFill/>
                    </a:lnBlToTr>
                    <a:solidFill>
                      <a:schemeClr val="bg1"/>
                    </a:solidFill>
                  </a:tcPr>
                </a:tc>
                <a:tc>
                  <a:txBody>
                    <a:bodyPr/>
                    <a:lstStyle/>
                    <a:p>
                      <a:pPr marL="177800" marR="0" lvl="2" indent="-177800" algn="l" defTabSz="914400" rtl="0" eaLnBrk="1" fontAlgn="auto" latinLnBrk="0" hangingPunct="1">
                        <a:lnSpc>
                          <a:spcPts val="1000"/>
                        </a:lnSpc>
                        <a:spcBef>
                          <a:spcPts val="600"/>
                        </a:spcBef>
                        <a:spcAft>
                          <a:spcPts val="0"/>
                        </a:spcAft>
                        <a:buClr>
                          <a:srgbClr val="97989A"/>
                        </a:buClr>
                        <a:buSzTx/>
                        <a:buFont typeface="Arial" pitchFamily="34" charset="0"/>
                        <a:buChar char="■"/>
                        <a:tabLst/>
                        <a:defRPr/>
                      </a:pPr>
                      <a:r>
                        <a:rPr kumimoji="0" lang="en-US" sz="900" b="0" i="0" u="none" strike="noStrike" kern="1200" cap="none" spc="0" normalizeH="0" baseline="0" noProof="0" dirty="0" smtClean="0">
                          <a:ln>
                            <a:noFill/>
                          </a:ln>
                          <a:solidFill>
                            <a:srgbClr val="000000"/>
                          </a:solidFill>
                          <a:effectLst/>
                          <a:uLnTx/>
                          <a:uFillTx/>
                          <a:latin typeface="Univers for KPMG" panose="020B0603020202020204" pitchFamily="34" charset="0"/>
                          <a:ea typeface="+mn-ea"/>
                          <a:cs typeface="Arial" pitchFamily="34" charset="0"/>
                        </a:rPr>
                        <a:t>The table below presents the average net working capital for FY17.</a:t>
                      </a:r>
                    </a:p>
                    <a:p>
                      <a:pPr marL="177800" marR="0" lvl="2" indent="-177800" algn="l" defTabSz="914400" rtl="0" eaLnBrk="1" fontAlgn="auto" latinLnBrk="0" hangingPunct="1">
                        <a:lnSpc>
                          <a:spcPts val="1000"/>
                        </a:lnSpc>
                        <a:spcBef>
                          <a:spcPts val="600"/>
                        </a:spcBef>
                        <a:spcAft>
                          <a:spcPts val="0"/>
                        </a:spcAft>
                        <a:buClr>
                          <a:srgbClr val="97989A"/>
                        </a:buClr>
                        <a:buSzTx/>
                        <a:buFont typeface="Arial" pitchFamily="34" charset="0"/>
                        <a:buChar char="■"/>
                        <a:tabLst/>
                        <a:defRPr/>
                      </a:pPr>
                      <a:endParaRPr kumimoji="0" lang="en-US" sz="900" b="0" i="0" u="none" strike="noStrike" kern="1200" cap="none" spc="0" normalizeH="0" baseline="0" noProof="0" dirty="0" smtClean="0">
                        <a:ln>
                          <a:noFill/>
                        </a:ln>
                        <a:solidFill>
                          <a:srgbClr val="000000"/>
                        </a:solidFill>
                        <a:effectLst/>
                        <a:uLnTx/>
                        <a:uFillTx/>
                        <a:latin typeface="Univers for KPMG" panose="020B0603020202020204" pitchFamily="34" charset="0"/>
                        <a:ea typeface="+mn-ea"/>
                        <a:cs typeface="Arial" pitchFamily="34" charset="0"/>
                      </a:endParaRPr>
                    </a:p>
                    <a:p>
                      <a:pPr marL="177800" marR="0" lvl="2" indent="-177800" algn="l" defTabSz="914400" rtl="0" eaLnBrk="1" fontAlgn="auto" latinLnBrk="0" hangingPunct="1">
                        <a:lnSpc>
                          <a:spcPts val="1000"/>
                        </a:lnSpc>
                        <a:spcBef>
                          <a:spcPts val="600"/>
                        </a:spcBef>
                        <a:spcAft>
                          <a:spcPts val="0"/>
                        </a:spcAft>
                        <a:buClr>
                          <a:srgbClr val="97989A"/>
                        </a:buClr>
                        <a:buSzTx/>
                        <a:buFont typeface="Arial" pitchFamily="34" charset="0"/>
                        <a:buChar char="■"/>
                        <a:tabLst/>
                        <a:defRPr/>
                      </a:pPr>
                      <a:endParaRPr kumimoji="0" lang="en-US" sz="900" b="0" i="0" u="none" strike="noStrike" kern="1200" cap="none" spc="0" normalizeH="0" baseline="0" noProof="0" dirty="0" smtClean="0">
                        <a:ln>
                          <a:noFill/>
                        </a:ln>
                        <a:solidFill>
                          <a:srgbClr val="000000"/>
                        </a:solidFill>
                        <a:effectLst/>
                        <a:uLnTx/>
                        <a:uFillTx/>
                        <a:latin typeface="Univers for KPMG" panose="020B0603020202020204" pitchFamily="34" charset="0"/>
                        <a:ea typeface="+mn-ea"/>
                        <a:cs typeface="Arial" pitchFamily="34" charset="0"/>
                      </a:endParaRPr>
                    </a:p>
                    <a:p>
                      <a:pPr marL="177800" marR="0" lvl="2" indent="-177800" algn="l" defTabSz="914400" rtl="0" eaLnBrk="1" fontAlgn="auto" latinLnBrk="0" hangingPunct="1">
                        <a:lnSpc>
                          <a:spcPts val="1000"/>
                        </a:lnSpc>
                        <a:spcBef>
                          <a:spcPts val="600"/>
                        </a:spcBef>
                        <a:spcAft>
                          <a:spcPts val="0"/>
                        </a:spcAft>
                        <a:buClr>
                          <a:srgbClr val="97989A"/>
                        </a:buClr>
                        <a:buSzTx/>
                        <a:buFont typeface="Arial" pitchFamily="34" charset="0"/>
                        <a:buChar char="■"/>
                        <a:tabLst/>
                        <a:defRPr/>
                      </a:pPr>
                      <a:endParaRPr kumimoji="0" lang="en-US" sz="900" b="0" i="0" u="none" strike="noStrike" kern="1200" cap="none" spc="0" normalizeH="0" baseline="0" noProof="0" dirty="0" smtClean="0">
                        <a:ln>
                          <a:noFill/>
                        </a:ln>
                        <a:solidFill>
                          <a:srgbClr val="000000"/>
                        </a:solidFill>
                        <a:effectLst/>
                        <a:uLnTx/>
                        <a:uFillTx/>
                        <a:latin typeface="Univers for KPMG" panose="020B0603020202020204" pitchFamily="34" charset="0"/>
                        <a:ea typeface="+mn-ea"/>
                        <a:cs typeface="Arial" pitchFamily="34" charset="0"/>
                      </a:endParaRPr>
                    </a:p>
                    <a:p>
                      <a:pPr marL="177800" marR="0" lvl="2" indent="-177800" algn="l" defTabSz="914400" rtl="0" eaLnBrk="1" fontAlgn="auto" latinLnBrk="0" hangingPunct="1">
                        <a:lnSpc>
                          <a:spcPts val="1000"/>
                        </a:lnSpc>
                        <a:spcBef>
                          <a:spcPts val="600"/>
                        </a:spcBef>
                        <a:spcAft>
                          <a:spcPts val="0"/>
                        </a:spcAft>
                        <a:buClr>
                          <a:srgbClr val="97989A"/>
                        </a:buClr>
                        <a:buSzTx/>
                        <a:buFont typeface="Arial" pitchFamily="34" charset="0"/>
                        <a:buChar char="■"/>
                        <a:tabLst/>
                        <a:defRPr/>
                      </a:pPr>
                      <a:endParaRPr kumimoji="0" lang="en-US" sz="900" b="0" i="0" u="none" strike="noStrike" kern="1200" cap="none" spc="0" normalizeH="0" baseline="0" noProof="0" dirty="0" smtClean="0">
                        <a:ln>
                          <a:noFill/>
                        </a:ln>
                        <a:solidFill>
                          <a:srgbClr val="000000"/>
                        </a:solidFill>
                        <a:effectLst/>
                        <a:uLnTx/>
                        <a:uFillTx/>
                        <a:latin typeface="Univers for KPMG" panose="020B0603020202020204" pitchFamily="34" charset="0"/>
                        <a:ea typeface="+mn-ea"/>
                        <a:cs typeface="Arial" pitchFamily="34" charset="0"/>
                      </a:endParaRPr>
                    </a:p>
                    <a:p>
                      <a:pPr marL="177800" marR="0" lvl="2" indent="-177800" algn="l" defTabSz="914400" rtl="0" eaLnBrk="1" fontAlgn="auto" latinLnBrk="0" hangingPunct="1">
                        <a:lnSpc>
                          <a:spcPts val="1000"/>
                        </a:lnSpc>
                        <a:spcBef>
                          <a:spcPts val="600"/>
                        </a:spcBef>
                        <a:spcAft>
                          <a:spcPts val="0"/>
                        </a:spcAft>
                        <a:buClr>
                          <a:srgbClr val="97989A"/>
                        </a:buClr>
                        <a:buSzTx/>
                        <a:buFont typeface="Arial" pitchFamily="34" charset="0"/>
                        <a:buChar char="■"/>
                        <a:tabLst/>
                        <a:defRPr/>
                      </a:pPr>
                      <a:endParaRPr kumimoji="0" lang="en-US" sz="900" b="0" i="0" u="none" strike="noStrike" kern="1200" cap="none" spc="0" normalizeH="0" baseline="0" noProof="0" dirty="0" smtClean="0">
                        <a:ln>
                          <a:noFill/>
                        </a:ln>
                        <a:solidFill>
                          <a:srgbClr val="000000"/>
                        </a:solidFill>
                        <a:effectLst/>
                        <a:uLnTx/>
                        <a:uFillTx/>
                        <a:latin typeface="Univers for KPMG" panose="020B0603020202020204" pitchFamily="34" charset="0"/>
                        <a:ea typeface="+mn-ea"/>
                        <a:cs typeface="Arial" pitchFamily="34" charset="0"/>
                      </a:endParaRPr>
                    </a:p>
                    <a:p>
                      <a:pPr marL="177800" marR="0" lvl="2" indent="-177800" algn="l" defTabSz="914400" rtl="0" eaLnBrk="1" fontAlgn="auto" latinLnBrk="0" hangingPunct="1">
                        <a:lnSpc>
                          <a:spcPts val="1000"/>
                        </a:lnSpc>
                        <a:spcBef>
                          <a:spcPts val="600"/>
                        </a:spcBef>
                        <a:spcAft>
                          <a:spcPts val="0"/>
                        </a:spcAft>
                        <a:buClr>
                          <a:srgbClr val="97989A"/>
                        </a:buClr>
                        <a:buSzTx/>
                        <a:buFont typeface="Arial" pitchFamily="34" charset="0"/>
                        <a:buChar char="■"/>
                        <a:tabLst/>
                        <a:defRPr/>
                      </a:pPr>
                      <a:endParaRPr kumimoji="0" lang="en-US" sz="900" b="0" i="0" u="none" strike="noStrike" kern="1200" cap="none" spc="0" normalizeH="0" baseline="0" noProof="0" dirty="0" smtClean="0">
                        <a:ln>
                          <a:noFill/>
                        </a:ln>
                        <a:solidFill>
                          <a:srgbClr val="000000"/>
                        </a:solidFill>
                        <a:effectLst/>
                        <a:uLnTx/>
                        <a:uFillTx/>
                        <a:latin typeface="Univers for KPMG" panose="020B0603020202020204" pitchFamily="34" charset="0"/>
                        <a:ea typeface="+mn-ea"/>
                        <a:cs typeface="Arial" pitchFamily="34" charset="0"/>
                      </a:endParaRPr>
                    </a:p>
                    <a:p>
                      <a:pPr marL="177800" marR="0" lvl="2" indent="-177800" algn="l" defTabSz="914400" rtl="0" eaLnBrk="1" fontAlgn="auto" latinLnBrk="0" hangingPunct="1">
                        <a:lnSpc>
                          <a:spcPts val="1000"/>
                        </a:lnSpc>
                        <a:spcBef>
                          <a:spcPts val="600"/>
                        </a:spcBef>
                        <a:spcAft>
                          <a:spcPts val="0"/>
                        </a:spcAft>
                        <a:buClr>
                          <a:srgbClr val="97989A"/>
                        </a:buClr>
                        <a:buSzTx/>
                        <a:buFont typeface="Arial" pitchFamily="34" charset="0"/>
                        <a:buChar char="■"/>
                        <a:tabLst/>
                        <a:defRPr/>
                      </a:pPr>
                      <a:endParaRPr kumimoji="0" lang="en-US" sz="900" b="0" i="0" u="none" strike="noStrike" kern="1200" cap="none" spc="0" normalizeH="0" baseline="0" noProof="0" dirty="0" smtClean="0">
                        <a:ln>
                          <a:noFill/>
                        </a:ln>
                        <a:solidFill>
                          <a:srgbClr val="000000"/>
                        </a:solidFill>
                        <a:effectLst/>
                        <a:uLnTx/>
                        <a:uFillTx/>
                        <a:latin typeface="Univers for KPMG" panose="020B0603020202020204" pitchFamily="34" charset="0"/>
                        <a:ea typeface="+mn-ea"/>
                        <a:cs typeface="Arial" pitchFamily="34" charset="0"/>
                      </a:endParaRPr>
                    </a:p>
                    <a:p>
                      <a:pPr marL="177800" marR="0" lvl="2" indent="-177800" algn="l" defTabSz="914400" rtl="0" eaLnBrk="1" fontAlgn="auto" latinLnBrk="0" hangingPunct="1">
                        <a:lnSpc>
                          <a:spcPts val="1000"/>
                        </a:lnSpc>
                        <a:spcBef>
                          <a:spcPts val="600"/>
                        </a:spcBef>
                        <a:spcAft>
                          <a:spcPts val="0"/>
                        </a:spcAft>
                        <a:buClr>
                          <a:srgbClr val="97989A"/>
                        </a:buClr>
                        <a:buSzTx/>
                        <a:buFont typeface="Arial" pitchFamily="34" charset="0"/>
                        <a:buChar char="■"/>
                        <a:tabLst/>
                        <a:defRPr/>
                      </a:pPr>
                      <a:endParaRPr kumimoji="0" lang="en-US" sz="900" b="0" i="0" u="none" strike="noStrike" kern="1200" cap="none" spc="0" normalizeH="0" baseline="0" noProof="0" dirty="0" smtClean="0">
                        <a:ln>
                          <a:noFill/>
                        </a:ln>
                        <a:solidFill>
                          <a:srgbClr val="000000"/>
                        </a:solidFill>
                        <a:effectLst/>
                        <a:uLnTx/>
                        <a:uFillTx/>
                        <a:latin typeface="Univers for KPMG" panose="020B0603020202020204" pitchFamily="34" charset="0"/>
                        <a:ea typeface="+mn-ea"/>
                        <a:cs typeface="Arial" pitchFamily="34" charset="0"/>
                      </a:endParaRPr>
                    </a:p>
                    <a:p>
                      <a:pPr marL="177800" marR="0" lvl="2" indent="-177800" algn="l" defTabSz="914400" rtl="0" eaLnBrk="1" fontAlgn="auto" latinLnBrk="0" hangingPunct="1">
                        <a:lnSpc>
                          <a:spcPts val="1000"/>
                        </a:lnSpc>
                        <a:spcBef>
                          <a:spcPts val="600"/>
                        </a:spcBef>
                        <a:spcAft>
                          <a:spcPts val="0"/>
                        </a:spcAft>
                        <a:buClr>
                          <a:srgbClr val="97989A"/>
                        </a:buClr>
                        <a:buSzTx/>
                        <a:buFont typeface="Arial" pitchFamily="34" charset="0"/>
                        <a:buChar char="■"/>
                        <a:tabLst/>
                        <a:defRPr/>
                      </a:pPr>
                      <a:endParaRPr kumimoji="0" lang="en-US" sz="900" b="0" i="0" u="none" strike="noStrike" kern="1200" cap="none" spc="0" normalizeH="0" baseline="0" noProof="0" dirty="0" smtClean="0">
                        <a:ln>
                          <a:noFill/>
                        </a:ln>
                        <a:solidFill>
                          <a:srgbClr val="000000"/>
                        </a:solidFill>
                        <a:effectLst/>
                        <a:uLnTx/>
                        <a:uFillTx/>
                        <a:latin typeface="Univers for KPMG" panose="020B0603020202020204" pitchFamily="34" charset="0"/>
                        <a:ea typeface="+mn-ea"/>
                        <a:cs typeface="Arial" pitchFamily="34" charset="0"/>
                      </a:endParaRPr>
                    </a:p>
                    <a:p>
                      <a:pPr marL="177800" marR="0" lvl="2" indent="-177800" algn="l" defTabSz="914400" rtl="0" eaLnBrk="1" fontAlgn="auto" latinLnBrk="0" hangingPunct="1">
                        <a:lnSpc>
                          <a:spcPts val="1000"/>
                        </a:lnSpc>
                        <a:spcBef>
                          <a:spcPts val="600"/>
                        </a:spcBef>
                        <a:spcAft>
                          <a:spcPts val="0"/>
                        </a:spcAft>
                        <a:buClr>
                          <a:srgbClr val="97989A"/>
                        </a:buClr>
                        <a:buSzTx/>
                        <a:buFont typeface="Arial" pitchFamily="34" charset="0"/>
                        <a:buChar char="■"/>
                        <a:tabLst/>
                        <a:defRPr/>
                      </a:pPr>
                      <a:endParaRPr kumimoji="0" lang="en-US" sz="900" b="0" i="0" u="none" strike="noStrike" kern="1200" cap="none" spc="0" normalizeH="0" baseline="0" noProof="0" dirty="0" smtClean="0">
                        <a:ln>
                          <a:noFill/>
                        </a:ln>
                        <a:solidFill>
                          <a:srgbClr val="000000"/>
                        </a:solidFill>
                        <a:effectLst/>
                        <a:uLnTx/>
                        <a:uFillTx/>
                        <a:latin typeface="Univers for KPMG" panose="020B0603020202020204" pitchFamily="34" charset="0"/>
                        <a:ea typeface="+mn-ea"/>
                        <a:cs typeface="Arial" pitchFamily="34" charset="0"/>
                      </a:endParaRPr>
                    </a:p>
                    <a:p>
                      <a:pPr marL="177800" marR="0" lvl="2" indent="-177800" algn="l" defTabSz="914400" rtl="0" eaLnBrk="1" fontAlgn="auto" latinLnBrk="0" hangingPunct="1">
                        <a:lnSpc>
                          <a:spcPts val="1000"/>
                        </a:lnSpc>
                        <a:spcBef>
                          <a:spcPts val="600"/>
                        </a:spcBef>
                        <a:spcAft>
                          <a:spcPts val="0"/>
                        </a:spcAft>
                        <a:buClr>
                          <a:srgbClr val="97989A"/>
                        </a:buClr>
                        <a:buSzTx/>
                        <a:buFont typeface="Arial" pitchFamily="34" charset="0"/>
                        <a:buChar char="■"/>
                        <a:tabLst/>
                        <a:defRPr/>
                      </a:pPr>
                      <a:r>
                        <a:rPr kumimoji="0" lang="en-US" sz="900" b="0" i="0" u="none" strike="noStrike" kern="1200" cap="none" spc="0" normalizeH="0" baseline="0" noProof="0" dirty="0" smtClean="0">
                          <a:ln>
                            <a:noFill/>
                          </a:ln>
                          <a:solidFill>
                            <a:srgbClr val="000000"/>
                          </a:solidFill>
                          <a:effectLst/>
                          <a:uLnTx/>
                          <a:uFillTx/>
                          <a:latin typeface="Univers for KPMG" panose="020B0603020202020204" pitchFamily="34" charset="0"/>
                          <a:ea typeface="+mn-ea"/>
                          <a:cs typeface="Arial" pitchFamily="34" charset="0"/>
                        </a:rPr>
                        <a:t>Significant potential adjustments to average net working capital for FY17 include the following:</a:t>
                      </a:r>
                    </a:p>
                    <a:p>
                      <a:pPr marL="347663" marR="0" lvl="2" indent="-177800" algn="just" defTabSz="914400" rtl="0" eaLnBrk="1" fontAlgn="auto" latinLnBrk="0" hangingPunct="1">
                        <a:lnSpc>
                          <a:spcPts val="1000"/>
                        </a:lnSpc>
                        <a:spcBef>
                          <a:spcPts val="400"/>
                        </a:spcBef>
                        <a:spcAft>
                          <a:spcPts val="0"/>
                        </a:spcAft>
                        <a:buClr>
                          <a:srgbClr val="97989A"/>
                        </a:buClr>
                        <a:buSzTx/>
                        <a:buFont typeface="Arial" panose="020B0604020202020204" pitchFamily="34" charset="0"/>
                        <a:buChar char="–"/>
                        <a:tabLst/>
                        <a:defRPr/>
                      </a:pPr>
                      <a:r>
                        <a:rPr lang="en-US" sz="900" b="1" kern="1200" noProof="0" dirty="0" smtClean="0">
                          <a:solidFill>
                            <a:schemeClr val="tx1"/>
                          </a:solidFill>
                          <a:latin typeface="Univers for KPMG" panose="020B0603020202020204" pitchFamily="34" charset="0"/>
                          <a:ea typeface="+mn-ea"/>
                          <a:cs typeface="+mn-cs"/>
                        </a:rPr>
                        <a:t>Accrued revenue</a:t>
                      </a:r>
                      <a:r>
                        <a:rPr lang="en-US" sz="900" b="1" kern="1200" baseline="0" noProof="0" dirty="0" smtClean="0">
                          <a:solidFill>
                            <a:schemeClr val="tx1"/>
                          </a:solidFill>
                          <a:latin typeface="Univers for KPMG" panose="020B0603020202020204" pitchFamily="34" charset="0"/>
                          <a:ea typeface="+mn-ea"/>
                          <a:cs typeface="+mn-cs"/>
                        </a:rPr>
                        <a:t> (average decrease </a:t>
                      </a:r>
                      <a:r>
                        <a:rPr lang="en-US" sz="900" b="1" u="none" kern="1200" baseline="0" noProof="0" dirty="0" smtClean="0">
                          <a:solidFill>
                            <a:schemeClr val="tx1"/>
                          </a:solidFill>
                          <a:latin typeface="Univers for KPMG" panose="020B0603020202020204" pitchFamily="34" charset="0"/>
                          <a:ea typeface="+mn-ea"/>
                          <a:cs typeface="+mn-cs"/>
                        </a:rPr>
                        <a:t>of $0.6 </a:t>
                      </a:r>
                      <a:r>
                        <a:rPr lang="en-US" sz="900" b="1" kern="1200" baseline="0" noProof="0" dirty="0" smtClean="0">
                          <a:solidFill>
                            <a:schemeClr val="tx1"/>
                          </a:solidFill>
                          <a:latin typeface="Univers for KPMG" panose="020B0603020202020204" pitchFamily="34" charset="0"/>
                          <a:ea typeface="+mn-ea"/>
                          <a:cs typeface="+mn-cs"/>
                        </a:rPr>
                        <a:t>million in FY17): </a:t>
                      </a:r>
                      <a:r>
                        <a:rPr lang="en-US" sz="900" dirty="0" smtClean="0">
                          <a:solidFill>
                            <a:schemeClr val="tx1"/>
                          </a:solidFill>
                          <a:latin typeface="Univers for KPMG" panose="020B0603020202020204" pitchFamily="34" charset="0"/>
                        </a:rPr>
                        <a:t>This adjustment aligns the monthly accrued revenue based on the date services are performed.</a:t>
                      </a:r>
                    </a:p>
                    <a:p>
                      <a:pPr marL="347663" marR="0" lvl="2" indent="-177800" algn="just" defTabSz="914400" rtl="0" eaLnBrk="1" fontAlgn="auto" latinLnBrk="0" hangingPunct="1">
                        <a:lnSpc>
                          <a:spcPts val="1000"/>
                        </a:lnSpc>
                        <a:spcBef>
                          <a:spcPts val="400"/>
                        </a:spcBef>
                        <a:spcAft>
                          <a:spcPts val="0"/>
                        </a:spcAft>
                        <a:buClr>
                          <a:srgbClr val="97989A"/>
                        </a:buClr>
                        <a:buSzTx/>
                        <a:buFont typeface="Arial" panose="020B0604020202020204" pitchFamily="34" charset="0"/>
                        <a:buChar char="–"/>
                        <a:tabLst/>
                        <a:defRPr/>
                      </a:pPr>
                      <a:r>
                        <a:rPr lang="en-US" sz="900" b="1" kern="1200" noProof="0" dirty="0" smtClean="0">
                          <a:solidFill>
                            <a:schemeClr val="tx1"/>
                          </a:solidFill>
                          <a:latin typeface="Univers for KPMG" panose="020B0603020202020204" pitchFamily="34" charset="0"/>
                          <a:ea typeface="+mn-ea"/>
                          <a:cs typeface="+mn-cs"/>
                        </a:rPr>
                        <a:t>Accrued payroll (average decrease of $0.2 million in FY17): </a:t>
                      </a:r>
                      <a:r>
                        <a:rPr lang="en-US" sz="900" b="0" kern="1200" dirty="0" smtClean="0">
                          <a:solidFill>
                            <a:schemeClr val="tx1"/>
                          </a:solidFill>
                          <a:latin typeface="Univers for KPMG" panose="020B0603020202020204" pitchFamily="34" charset="0"/>
                          <a:ea typeface="+mn-ea"/>
                          <a:cs typeface="+mn-cs"/>
                        </a:rPr>
                        <a:t>This adjustment aligns the monthly accrued payroll based on the date services are performed.</a:t>
                      </a:r>
                    </a:p>
                    <a:p>
                      <a:pPr marL="347663" marR="0" lvl="2" indent="-177800" algn="just" defTabSz="914400" rtl="0" eaLnBrk="1" fontAlgn="auto" latinLnBrk="0" hangingPunct="1">
                        <a:lnSpc>
                          <a:spcPts val="1000"/>
                        </a:lnSpc>
                        <a:spcBef>
                          <a:spcPts val="400"/>
                        </a:spcBef>
                        <a:spcAft>
                          <a:spcPts val="0"/>
                        </a:spcAft>
                        <a:buClr>
                          <a:srgbClr val="97989A"/>
                        </a:buClr>
                        <a:buSzTx/>
                        <a:buFont typeface="Arial" panose="020B0604020202020204" pitchFamily="34" charset="0"/>
                        <a:buChar char="–"/>
                        <a:tabLst/>
                        <a:defRPr/>
                      </a:pPr>
                      <a:r>
                        <a:rPr lang="en-US" sz="900" b="1" kern="1200" noProof="0" dirty="0" smtClean="0">
                          <a:solidFill>
                            <a:schemeClr val="tx1"/>
                          </a:solidFill>
                          <a:latin typeface="Univers for KPMG" panose="020B0603020202020204" pitchFamily="34" charset="0"/>
                          <a:ea typeface="+mn-ea"/>
                          <a:cs typeface="+mn-cs"/>
                        </a:rPr>
                        <a:t>Prepaid expenses (average decrease</a:t>
                      </a:r>
                      <a:r>
                        <a:rPr lang="en-US" sz="900" b="1" kern="1200" baseline="0" noProof="0" dirty="0" smtClean="0">
                          <a:solidFill>
                            <a:schemeClr val="tx1"/>
                          </a:solidFill>
                          <a:latin typeface="Univers for KPMG" panose="020B0603020202020204" pitchFamily="34" charset="0"/>
                          <a:ea typeface="+mn-ea"/>
                          <a:cs typeface="+mn-cs"/>
                        </a:rPr>
                        <a:t> of $0.1 million in FY17): </a:t>
                      </a:r>
                      <a:r>
                        <a:rPr lang="en-US" sz="900" b="0" kern="1200" noProof="0" dirty="0" smtClean="0">
                          <a:solidFill>
                            <a:schemeClr val="tx1"/>
                          </a:solidFill>
                          <a:latin typeface="Univers for KPMG" panose="020B0603020202020204" pitchFamily="34" charset="0"/>
                          <a:ea typeface="+mn-ea"/>
                          <a:cs typeface="+mn-cs"/>
                        </a:rPr>
                        <a:t>Straight</a:t>
                      </a:r>
                      <a:r>
                        <a:rPr lang="en-US" sz="900" b="0" kern="1200" baseline="0" noProof="0" dirty="0" smtClean="0">
                          <a:solidFill>
                            <a:schemeClr val="tx1"/>
                          </a:solidFill>
                          <a:latin typeface="Univers for KPMG" panose="020B0603020202020204" pitchFamily="34" charset="0"/>
                          <a:ea typeface="+mn-ea"/>
                          <a:cs typeface="+mn-cs"/>
                        </a:rPr>
                        <a:t> </a:t>
                      </a:r>
                      <a:r>
                        <a:rPr lang="en-US" sz="900" b="0" kern="1200" noProof="0" dirty="0" smtClean="0">
                          <a:solidFill>
                            <a:schemeClr val="tx1"/>
                          </a:solidFill>
                          <a:latin typeface="Univers for KPMG" panose="020B0603020202020204" pitchFamily="34" charset="0"/>
                          <a:ea typeface="+mn-ea"/>
                          <a:cs typeface="+mn-cs"/>
                        </a:rPr>
                        <a:t>lines</a:t>
                      </a:r>
                      <a:r>
                        <a:rPr lang="en-US" sz="900" b="0" kern="1200" baseline="0" noProof="0" dirty="0" smtClean="0">
                          <a:solidFill>
                            <a:schemeClr val="tx1"/>
                          </a:solidFill>
                          <a:latin typeface="Univers for KPMG" panose="020B0603020202020204" pitchFamily="34" charset="0"/>
                          <a:ea typeface="+mn-ea"/>
                          <a:cs typeface="+mn-cs"/>
                        </a:rPr>
                        <a:t> individual prepaid components to reflect their monthly expenses. Note: Management does not amortize / adjust prepaids until year end.</a:t>
                      </a:r>
                      <a:endParaRPr lang="en-US" sz="900" b="1" kern="1200" noProof="0" dirty="0" smtClean="0">
                        <a:solidFill>
                          <a:schemeClr val="tx1"/>
                        </a:solidFill>
                        <a:latin typeface="Univers for KPMG" panose="020B0603020202020204" pitchFamily="34" charset="0"/>
                        <a:ea typeface="+mn-ea"/>
                        <a:cs typeface="+mn-cs"/>
                      </a:endParaRPr>
                    </a:p>
                    <a:p>
                      <a:pPr marL="177800" marR="0" lvl="2" indent="-177800" algn="just" defTabSz="914400" rtl="0" eaLnBrk="1" fontAlgn="auto" latinLnBrk="0" hangingPunct="1">
                        <a:lnSpc>
                          <a:spcPts val="1000"/>
                        </a:lnSpc>
                        <a:spcBef>
                          <a:spcPts val="600"/>
                        </a:spcBef>
                        <a:spcAft>
                          <a:spcPts val="0"/>
                        </a:spcAft>
                        <a:buClr>
                          <a:srgbClr val="97989A"/>
                        </a:buClr>
                        <a:buSzTx/>
                        <a:buFont typeface="Arial" pitchFamily="34" charset="0"/>
                        <a:buChar char="■"/>
                        <a:tabLst/>
                        <a:defRPr/>
                      </a:pPr>
                      <a:r>
                        <a:rPr kumimoji="0" lang="en-US" sz="900" b="0" i="0" u="none" strike="noStrike" kern="1200" cap="none" spc="0" normalizeH="0" baseline="0" noProof="0" dirty="0" smtClean="0">
                          <a:ln>
                            <a:noFill/>
                          </a:ln>
                          <a:solidFill>
                            <a:srgbClr val="000000"/>
                          </a:solidFill>
                          <a:effectLst/>
                          <a:uLnTx/>
                          <a:uFillTx/>
                          <a:latin typeface="Univers for KPMG" panose="020B0603020202020204" pitchFamily="34" charset="0"/>
                          <a:ea typeface="+mn-ea"/>
                          <a:cs typeface="Arial" pitchFamily="34" charset="0"/>
                        </a:rPr>
                        <a:t>Given the growth in the business, Client should consider utilizing the average NWC for a more recent / shorter time period. Refer to net working capital analysis for further details and average net working capital over FY17, T9M, T6M and T3M.</a:t>
                      </a:r>
                    </a:p>
                    <a:p>
                      <a:pPr marL="177800" marR="0" lvl="2" indent="-177800" algn="l" defTabSz="914400" rtl="0" eaLnBrk="1" fontAlgn="auto" latinLnBrk="0" hangingPunct="1">
                        <a:lnSpc>
                          <a:spcPts val="1000"/>
                        </a:lnSpc>
                        <a:spcBef>
                          <a:spcPts val="600"/>
                        </a:spcBef>
                        <a:spcAft>
                          <a:spcPts val="0"/>
                        </a:spcAft>
                        <a:buClr>
                          <a:srgbClr val="97989A"/>
                        </a:buClr>
                        <a:buSzTx/>
                        <a:buFont typeface="Arial" pitchFamily="34" charset="0"/>
                        <a:buChar char="■"/>
                        <a:tabLst/>
                        <a:defRPr/>
                      </a:pPr>
                      <a:endParaRPr kumimoji="0" lang="en-US" sz="900" b="0" i="0" u="none" strike="noStrike" kern="1200" cap="none" spc="0" normalizeH="0" baseline="0" noProof="0" dirty="0" smtClean="0">
                        <a:ln>
                          <a:noFill/>
                        </a:ln>
                        <a:solidFill>
                          <a:srgbClr val="000000"/>
                        </a:solidFill>
                        <a:effectLst/>
                        <a:uLnTx/>
                        <a:uFillTx/>
                        <a:latin typeface="Univers for KPMG" panose="020B0603020202020204" pitchFamily="34" charset="0"/>
                        <a:ea typeface="+mn-ea"/>
                        <a:cs typeface="Arial" pitchFamily="34" charset="0"/>
                      </a:endParaRPr>
                    </a:p>
                  </a:txBody>
                  <a:tcPr marL="45720" marR="45720" horzOverflow="overflow">
                    <a:lnL w="6350" cap="flat" cmpd="sng" algn="ctr">
                      <a:solidFill>
                        <a:srgbClr val="00338D"/>
                      </a:solidFill>
                      <a:prstDash val="solid"/>
                      <a:round/>
                      <a:headEnd type="none" w="med" len="med"/>
                      <a:tailEnd type="none" w="med" len="med"/>
                    </a:lnL>
                    <a:lnR w="6350" cap="flat" cmpd="sng" algn="ctr">
                      <a:solidFill>
                        <a:srgbClr val="00338D"/>
                      </a:solidFill>
                      <a:prstDash val="solid"/>
                      <a:round/>
                      <a:headEnd type="none" w="med" len="med"/>
                      <a:tailEnd type="none" w="med" len="med"/>
                    </a:lnR>
                    <a:lnT w="6350" cap="flat" cmpd="sng" algn="ctr">
                      <a:solidFill>
                        <a:srgbClr val="00338D"/>
                      </a:solidFill>
                      <a:prstDash val="solid"/>
                      <a:round/>
                      <a:headEnd type="none" w="med" len="med"/>
                      <a:tailEnd type="none" w="med" len="med"/>
                    </a:lnT>
                    <a:lnB w="6350" cap="flat" cmpd="sng" algn="ctr">
                      <a:solidFill>
                        <a:srgbClr val="00338D"/>
                      </a:solidFill>
                      <a:prstDash val="solid"/>
                      <a:round/>
                      <a:headEnd type="none" w="med" len="med"/>
                      <a:tailEnd type="none" w="med" len="med"/>
                    </a:lnB>
                    <a:lnTlToBr>
                      <a:noFill/>
                    </a:lnTlToBr>
                    <a:lnBlToTr>
                      <a:noFill/>
                    </a:lnBlToTr>
                    <a:solidFill>
                      <a:schemeClr val="bg1"/>
                    </a:solidFill>
                  </a:tcPr>
                </a:tc>
                <a:tc>
                  <a:txBody>
                    <a:bodyPr/>
                    <a:lstStyle/>
                    <a:p>
                      <a:pPr marL="91440" marR="0" indent="0" algn="r" defTabSz="914400" eaLnBrk="1" fontAlgn="auto" latinLnBrk="0" hangingPunct="1">
                        <a:lnSpc>
                          <a:spcPct val="100000"/>
                        </a:lnSpc>
                        <a:spcBef>
                          <a:spcPts val="0"/>
                        </a:spcBef>
                        <a:spcAft>
                          <a:spcPts val="0"/>
                        </a:spcAft>
                        <a:buClrTx/>
                        <a:buSzTx/>
                        <a:buFont typeface="Arial" panose="020B0604020202020204" pitchFamily="34" charset="0"/>
                        <a:buNone/>
                        <a:tabLst/>
                        <a:defRPr/>
                      </a:pPr>
                      <a:r>
                        <a:rPr lang="en-US" sz="900" b="0" dirty="0" smtClean="0">
                          <a:solidFill>
                            <a:schemeClr val="tx1"/>
                          </a:solidFill>
                          <a:latin typeface="Univers for KPMG" panose="020B0603020202020204" pitchFamily="34" charset="0"/>
                        </a:rPr>
                        <a:t>Pages 28 to 31</a:t>
                      </a:r>
                    </a:p>
                  </a:txBody>
                  <a:tcPr marL="45720" marR="45720" horzOverflow="overflow">
                    <a:lnL w="6350" cap="flat" cmpd="sng" algn="ctr">
                      <a:solidFill>
                        <a:srgbClr val="00338D"/>
                      </a:solidFill>
                      <a:prstDash val="solid"/>
                      <a:round/>
                      <a:headEnd type="none" w="med" len="med"/>
                      <a:tailEnd type="none" w="med" len="med"/>
                    </a:lnL>
                    <a:lnR w="6350" cap="flat" cmpd="sng" algn="ctr">
                      <a:solidFill>
                        <a:srgbClr val="00338D"/>
                      </a:solidFill>
                      <a:prstDash val="solid"/>
                      <a:round/>
                      <a:headEnd type="none" w="med" len="med"/>
                      <a:tailEnd type="none" w="med" len="med"/>
                    </a:lnR>
                    <a:lnT w="6350" cap="flat" cmpd="sng" algn="ctr">
                      <a:solidFill>
                        <a:srgbClr val="00338D"/>
                      </a:solidFill>
                      <a:prstDash val="solid"/>
                      <a:round/>
                      <a:headEnd type="none" w="med" len="med"/>
                      <a:tailEnd type="none" w="med" len="med"/>
                    </a:lnT>
                    <a:lnB w="6350" cap="flat" cmpd="sng" algn="ctr">
                      <a:solidFill>
                        <a:srgbClr val="00338D"/>
                      </a:solidFill>
                      <a:prstDash val="solid"/>
                      <a:round/>
                      <a:headEnd type="none" w="med" len="med"/>
                      <a:tailEnd type="none" w="med" len="med"/>
                    </a:lnB>
                    <a:lnTlToBr>
                      <a:noFill/>
                    </a:lnTlToBr>
                    <a:lnBlToTr>
                      <a:noFill/>
                    </a:lnBlToTr>
                    <a:solidFill>
                      <a:schemeClr val="bg1"/>
                    </a:solidFill>
                  </a:tcPr>
                </a:tc>
              </a:tr>
            </a:tbl>
          </a:graphicData>
        </a:graphic>
      </p:graphicFrame>
      <p:pic>
        <p:nvPicPr>
          <p:cNvPr id="2" name="Picture 1"/>
          <p:cNvPicPr>
            <a:picLocks noChangeAspect="1"/>
          </p:cNvPicPr>
          <p:nvPr/>
        </p:nvPicPr>
        <p:blipFill>
          <a:blip r:embed="rId4"/>
          <a:stretch>
            <a:fillRect/>
          </a:stretch>
        </p:blipFill>
        <p:spPr>
          <a:xfrm>
            <a:off x="1974531" y="1487243"/>
            <a:ext cx="3469298" cy="1907840"/>
          </a:xfrm>
          <a:prstGeom prst="rect">
            <a:avLst/>
          </a:prstGeom>
        </p:spPr>
      </p:pic>
      <p:sp>
        <p:nvSpPr>
          <p:cNvPr id="4" name="Title 3"/>
          <p:cNvSpPr>
            <a:spLocks noGrp="1"/>
          </p:cNvSpPr>
          <p:nvPr>
            <p:ph type="title"/>
          </p:nvPr>
        </p:nvSpPr>
        <p:spPr/>
        <p:txBody>
          <a:bodyPr/>
          <a:lstStyle/>
          <a:p>
            <a:r>
              <a:rPr lang="en-US" dirty="0" smtClean="0"/>
              <a:t>Key findings </a:t>
            </a:r>
            <a:r>
              <a:rPr lang="en-US" dirty="0"/>
              <a:t>– Financial due diligence </a:t>
            </a:r>
            <a:r>
              <a:rPr lang="en-US" dirty="0" smtClean="0"/>
              <a:t>(</a:t>
            </a:r>
            <a:r>
              <a:rPr lang="en-US" dirty="0"/>
              <a:t>2</a:t>
            </a:r>
            <a:r>
              <a:rPr lang="en-US" dirty="0" smtClean="0"/>
              <a:t> of 5)</a:t>
            </a:r>
            <a:endParaRPr lang="en-US" dirty="0"/>
          </a:p>
        </p:txBody>
      </p:sp>
      <p:sp>
        <p:nvSpPr>
          <p:cNvPr id="16" name="TextBox 15"/>
          <p:cNvSpPr txBox="1"/>
          <p:nvPr/>
        </p:nvSpPr>
        <p:spPr>
          <a:xfrm>
            <a:off x="1931754" y="3342686"/>
            <a:ext cx="2820697" cy="183648"/>
          </a:xfrm>
          <a:prstGeom prst="rect">
            <a:avLst/>
          </a:prstGeom>
          <a:noFill/>
        </p:spPr>
        <p:txBody>
          <a:bodyPr wrap="square" lIns="54610" tIns="54610" rIns="54610" bIns="54610" rtlCol="0">
            <a:noAutofit/>
          </a:bodyPr>
          <a:lstStyle/>
          <a:p>
            <a:r>
              <a:rPr lang="en-US" sz="600" i="1" dirty="0" smtClean="0">
                <a:latin typeface="Univers for KPMG" panose="020B0603020202020204" pitchFamily="34" charset="0"/>
              </a:rPr>
              <a:t>Source</a:t>
            </a:r>
            <a:r>
              <a:rPr lang="en-US" sz="600" i="1" dirty="0">
                <a:latin typeface="Univers for KPMG" panose="020B0603020202020204" pitchFamily="34" charset="0"/>
              </a:rPr>
              <a:t>: Management provided information; KPMG analysis</a:t>
            </a:r>
          </a:p>
        </p:txBody>
      </p:sp>
      <p:sp>
        <p:nvSpPr>
          <p:cNvPr id="11" name="Titre 5"/>
          <p:cNvSpPr txBox="1">
            <a:spLocks/>
          </p:cNvSpPr>
          <p:nvPr/>
        </p:nvSpPr>
        <p:spPr bwMode="gray">
          <a:xfrm>
            <a:off x="422072" y="208109"/>
            <a:ext cx="8496000" cy="784830"/>
          </a:xfrm>
          <a:prstGeom prst="rect">
            <a:avLst/>
          </a:prstGeom>
        </p:spPr>
        <p:txBody>
          <a:bodyPr vert="horz" lIns="0" tIns="0" rIns="0" bIns="0" rtlCol="0" anchor="t" anchorCtr="0">
            <a:noAutofit/>
          </a:bodyPr>
          <a:lstStyle>
            <a:lvl1pPr algn="l" defTabSz="914400" rtl="0" eaLnBrk="1" latinLnBrk="0" hangingPunct="1">
              <a:lnSpc>
                <a:spcPct val="70000"/>
              </a:lnSpc>
              <a:spcBef>
                <a:spcPct val="0"/>
              </a:spcBef>
              <a:buNone/>
              <a:defRPr sz="3800" kern="1200">
                <a:solidFill>
                  <a:schemeClr val="tx2"/>
                </a:solidFill>
                <a:latin typeface="+mj-lt"/>
                <a:ea typeface="+mj-ea"/>
                <a:cs typeface="+mj-cs"/>
              </a:defRPr>
            </a:lvl1pPr>
          </a:lstStyle>
          <a:p>
            <a:r>
              <a:rPr lang="en-CA" sz="2400" dirty="0" smtClean="0">
                <a:solidFill>
                  <a:prstClr val="white">
                    <a:lumMod val="50000"/>
                  </a:prstClr>
                </a:solidFill>
              </a:rPr>
              <a:t>Executive summary</a:t>
            </a:r>
            <a:r>
              <a:rPr lang="en-CA" dirty="0" smtClean="0">
                <a:solidFill>
                  <a:srgbClr val="00338D"/>
                </a:solidFill>
              </a:rPr>
              <a:t/>
            </a:r>
            <a:br>
              <a:rPr lang="en-CA" dirty="0" smtClean="0">
                <a:solidFill>
                  <a:srgbClr val="00338D"/>
                </a:solidFill>
              </a:rPr>
            </a:br>
            <a:endParaRPr lang="en-CA" sz="4000" dirty="0">
              <a:solidFill>
                <a:srgbClr val="00338D"/>
              </a:solidFill>
            </a:endParaRPr>
          </a:p>
        </p:txBody>
      </p:sp>
      <p:sp>
        <p:nvSpPr>
          <p:cNvPr id="7" name="Rectangle 4"/>
          <p:cNvSpPr>
            <a:spLocks noChangeArrowheads="1"/>
          </p:cNvSpPr>
          <p:nvPr>
            <p:custDataLst>
              <p:tags r:id="rId1"/>
            </p:custDataLst>
          </p:nvPr>
        </p:nvSpPr>
        <p:spPr bwMode="auto">
          <a:xfrm>
            <a:off x="5763200" y="2399632"/>
            <a:ext cx="1938250" cy="995451"/>
          </a:xfrm>
          <a:prstGeom prst="rect">
            <a:avLst/>
          </a:prstGeom>
          <a:noFill/>
          <a:ln w="9525">
            <a:solidFill>
              <a:srgbClr val="00338D"/>
            </a:solidFill>
            <a:miter lim="800000"/>
            <a:headEnd/>
            <a:tailEnd/>
          </a:ln>
          <a:effectLst/>
        </p:spPr>
        <p:txBody>
          <a:bodyPr wrap="square" lIns="54000" tIns="54000" rIns="54000" bIns="54000" anchor="ctr" anchorCtr="1">
            <a:spAutoFit/>
          </a:bodyPr>
          <a:lstStyle/>
          <a:p>
            <a:pPr algn="ctr" defTabSz="762000" eaLnBrk="0" hangingPunct="0">
              <a:lnSpc>
                <a:spcPct val="90000"/>
              </a:lnSpc>
              <a:spcBef>
                <a:spcPts val="600"/>
              </a:spcBef>
            </a:pPr>
            <a:r>
              <a:rPr lang="en-US" sz="800" dirty="0" smtClean="0">
                <a:latin typeface="Univers for KPMG" panose="020B0603020202020204" pitchFamily="34" charset="0"/>
              </a:rPr>
              <a:t>Only year end  balance sheets for India and Switzerland were provided (i.e. vs monthly). The monthly build-up for these accounts is the straight line difference between December 31, 2016 and December 31, 2017.   Overall, the NWC contribution is insignificant.</a:t>
            </a:r>
          </a:p>
        </p:txBody>
      </p:sp>
      <p:sp>
        <p:nvSpPr>
          <p:cNvPr id="8" name="Rounded Rectangle 7"/>
          <p:cNvSpPr/>
          <p:nvPr/>
        </p:nvSpPr>
        <p:spPr>
          <a:xfrm>
            <a:off x="4176585" y="2739590"/>
            <a:ext cx="1267244" cy="217794"/>
          </a:xfrm>
          <a:prstGeom prst="roundRect">
            <a:avLst/>
          </a:prstGeom>
          <a:noFill/>
          <a:ln>
            <a:solidFill>
              <a:srgbClr val="00338D"/>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smtClean="0">
              <a:solidFill>
                <a:schemeClr val="bg1"/>
              </a:solidFill>
            </a:endParaRPr>
          </a:p>
        </p:txBody>
      </p:sp>
      <p:cxnSp>
        <p:nvCxnSpPr>
          <p:cNvPr id="9" name="Straight Arrow Connector 13"/>
          <p:cNvCxnSpPr>
            <a:stCxn id="7" idx="1"/>
            <a:endCxn id="8" idx="3"/>
          </p:cNvCxnSpPr>
          <p:nvPr/>
        </p:nvCxnSpPr>
        <p:spPr>
          <a:xfrm rot="10800000">
            <a:off x="5443830" y="2848488"/>
            <a:ext cx="319371" cy="48871"/>
          </a:xfrm>
          <a:prstGeom prst="bentConnector3">
            <a:avLst>
              <a:gd name="adj1" fmla="val 50000"/>
            </a:avLst>
          </a:prstGeom>
          <a:solidFill>
            <a:srgbClr val="00A3A1"/>
          </a:solidFill>
          <a:ln w="9525">
            <a:solidFill>
              <a:srgbClr val="00338D"/>
            </a:solidFill>
            <a:headEnd type="none" w="sm" len="sm"/>
            <a:tailEnd type="triangle" w="sm" len="sm"/>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0080468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6" name="Group 3"/>
          <p:cNvGraphicFramePr>
            <a:graphicFrameLocks noGrp="1"/>
          </p:cNvGraphicFramePr>
          <p:nvPr>
            <p:extLst>
              <p:ext uri="{D42A27DB-BD31-4B8C-83A1-F6EECF244321}">
                <p14:modId xmlns:p14="http://schemas.microsoft.com/office/powerpoint/2010/main" val="2635255282"/>
              </p:ext>
            </p:extLst>
          </p:nvPr>
        </p:nvGraphicFramePr>
        <p:xfrm>
          <a:off x="431799" y="1024128"/>
          <a:ext cx="8280401" cy="4815840"/>
        </p:xfrm>
        <a:graphic>
          <a:graphicData uri="http://schemas.openxmlformats.org/drawingml/2006/table">
            <a:tbl>
              <a:tblPr/>
              <a:tblGrid>
                <a:gridCol w="1315502"/>
                <a:gridCol w="6164104"/>
                <a:gridCol w="800795"/>
              </a:tblGrid>
              <a:tr h="205245">
                <a:tc>
                  <a:txBody>
                    <a:bodyPr/>
                    <a:lstStyle/>
                    <a:p>
                      <a:pPr marL="0" marR="0" lvl="1" indent="0" algn="l" defTabSz="914400" rtl="0" eaLnBrk="1" fontAlgn="base" latinLnBrk="0" hangingPunct="1">
                        <a:lnSpc>
                          <a:spcPct val="100000"/>
                        </a:lnSpc>
                        <a:spcBef>
                          <a:spcPts val="0"/>
                        </a:spcBef>
                        <a:spcAft>
                          <a:spcPts val="600"/>
                        </a:spcAft>
                        <a:buClrTx/>
                        <a:buSzTx/>
                        <a:buFontTx/>
                        <a:buNone/>
                        <a:tabLst/>
                      </a:pPr>
                      <a:r>
                        <a:rPr lang="en-US" sz="900" b="1" kern="1200" dirty="0" smtClean="0">
                          <a:solidFill>
                            <a:schemeClr val="bg1"/>
                          </a:solidFill>
                          <a:latin typeface="Univers for KPMG" panose="020B0603020202020204" pitchFamily="34" charset="0"/>
                          <a:ea typeface="+mn-ea"/>
                          <a:cs typeface="+mn-cs"/>
                        </a:rPr>
                        <a:t>Finding</a:t>
                      </a:r>
                    </a:p>
                  </a:txBody>
                  <a:tcPr marL="45720" marR="45720" anchor="b" horzOverflow="overflow">
                    <a:lnL w="6350" cap="flat" cmpd="sng" algn="ctr">
                      <a:solidFill>
                        <a:srgbClr val="00338D"/>
                      </a:solidFill>
                      <a:prstDash val="solid"/>
                      <a:round/>
                      <a:headEnd type="none" w="med" len="med"/>
                      <a:tailEnd type="none" w="med" len="med"/>
                    </a:lnL>
                    <a:lnR w="6350" cap="flat" cmpd="sng" algn="ctr">
                      <a:solidFill>
                        <a:srgbClr val="00338D"/>
                      </a:solidFill>
                      <a:prstDash val="solid"/>
                      <a:round/>
                      <a:headEnd type="none" w="med" len="med"/>
                      <a:tailEnd type="none" w="med" len="med"/>
                    </a:lnR>
                    <a:lnT w="6350" cap="flat" cmpd="sng" algn="ctr">
                      <a:solidFill>
                        <a:srgbClr val="00338D"/>
                      </a:solidFill>
                      <a:prstDash val="solid"/>
                      <a:round/>
                      <a:headEnd type="none" w="med" len="med"/>
                      <a:tailEnd type="none" w="med" len="med"/>
                    </a:lnT>
                    <a:lnB w="6350" cap="flat" cmpd="sng" algn="ctr">
                      <a:solidFill>
                        <a:srgbClr val="00338D"/>
                      </a:solidFill>
                      <a:prstDash val="solid"/>
                      <a:round/>
                      <a:headEnd type="none" w="med" len="med"/>
                      <a:tailEnd type="none" w="med" len="med"/>
                    </a:lnB>
                    <a:lnTlToBr>
                      <a:noFill/>
                    </a:lnTlToBr>
                    <a:lnBlToTr>
                      <a:noFill/>
                    </a:lnBlToTr>
                    <a:solidFill>
                      <a:srgbClr val="00338D"/>
                    </a:solidFill>
                  </a:tcPr>
                </a:tc>
                <a:tc>
                  <a:txBody>
                    <a:bodyPr/>
                    <a:lstStyle/>
                    <a:p>
                      <a:pPr marL="0" marR="0" lvl="1" indent="0" algn="l" defTabSz="914400" rtl="0" eaLnBrk="1" fontAlgn="auto" latinLnBrk="0" hangingPunct="1">
                        <a:lnSpc>
                          <a:spcPct val="100000"/>
                        </a:lnSpc>
                        <a:spcBef>
                          <a:spcPts val="0"/>
                        </a:spcBef>
                        <a:spcAft>
                          <a:spcPts val="600"/>
                        </a:spcAft>
                        <a:buClr>
                          <a:srgbClr val="97989A"/>
                        </a:buClr>
                        <a:buSzTx/>
                        <a:buFontTx/>
                        <a:buNone/>
                        <a:tabLst/>
                        <a:defRPr/>
                      </a:pPr>
                      <a:r>
                        <a:rPr lang="en-US" sz="900" b="1" kern="1200" noProof="0" dirty="0" smtClean="0">
                          <a:solidFill>
                            <a:schemeClr val="bg1"/>
                          </a:solidFill>
                          <a:latin typeface="Univers for KPMG" panose="020B0603020202020204" pitchFamily="34" charset="0"/>
                          <a:ea typeface="+mn-ea"/>
                          <a:cs typeface="+mn-cs"/>
                        </a:rPr>
                        <a:t>Summary observations</a:t>
                      </a:r>
                    </a:p>
                  </a:txBody>
                  <a:tcPr marL="45720" marR="45720" anchor="b" horzOverflow="overflow">
                    <a:lnL w="6350" cap="flat" cmpd="sng" algn="ctr">
                      <a:solidFill>
                        <a:srgbClr val="00338D"/>
                      </a:solidFill>
                      <a:prstDash val="solid"/>
                      <a:round/>
                      <a:headEnd type="none" w="med" len="med"/>
                      <a:tailEnd type="none" w="med" len="med"/>
                    </a:lnL>
                    <a:lnR w="6350" cap="flat" cmpd="sng" algn="ctr">
                      <a:solidFill>
                        <a:srgbClr val="00338D"/>
                      </a:solidFill>
                      <a:prstDash val="solid"/>
                      <a:round/>
                      <a:headEnd type="none" w="med" len="med"/>
                      <a:tailEnd type="none" w="med" len="med"/>
                    </a:lnR>
                    <a:lnT w="6350" cap="flat" cmpd="sng" algn="ctr">
                      <a:solidFill>
                        <a:srgbClr val="00338D"/>
                      </a:solidFill>
                      <a:prstDash val="solid"/>
                      <a:round/>
                      <a:headEnd type="none" w="med" len="med"/>
                      <a:tailEnd type="none" w="med" len="med"/>
                    </a:lnT>
                    <a:lnB w="6350" cap="flat" cmpd="sng" algn="ctr">
                      <a:solidFill>
                        <a:srgbClr val="00338D"/>
                      </a:solidFill>
                      <a:prstDash val="solid"/>
                      <a:round/>
                      <a:headEnd type="none" w="med" len="med"/>
                      <a:tailEnd type="none" w="med" len="med"/>
                    </a:lnB>
                    <a:lnTlToBr>
                      <a:noFill/>
                    </a:lnTlToBr>
                    <a:lnBlToTr>
                      <a:noFill/>
                    </a:lnBlToTr>
                    <a:solidFill>
                      <a:srgbClr val="00338D"/>
                    </a:solidFill>
                  </a:tcPr>
                </a:tc>
                <a:tc>
                  <a:txBody>
                    <a:bodyPr/>
                    <a:lstStyle/>
                    <a:p>
                      <a:pPr marL="0" marR="0" lvl="1" indent="0" algn="l" defTabSz="914400" rtl="0" eaLnBrk="1" fontAlgn="auto" latinLnBrk="0" hangingPunct="1">
                        <a:lnSpc>
                          <a:spcPct val="100000"/>
                        </a:lnSpc>
                        <a:spcBef>
                          <a:spcPts val="0"/>
                        </a:spcBef>
                        <a:spcAft>
                          <a:spcPts val="600"/>
                        </a:spcAft>
                        <a:buClr>
                          <a:srgbClr val="97989A"/>
                        </a:buClr>
                        <a:buSzTx/>
                        <a:buFontTx/>
                        <a:buNone/>
                        <a:tabLst/>
                        <a:defRPr/>
                      </a:pPr>
                      <a:r>
                        <a:rPr lang="en-US" sz="900" b="1" kern="1200" noProof="0" dirty="0" smtClean="0">
                          <a:solidFill>
                            <a:schemeClr val="bg1"/>
                          </a:solidFill>
                          <a:latin typeface="Univers for KPMG" panose="020B0603020202020204" pitchFamily="34" charset="0"/>
                          <a:ea typeface="+mn-ea"/>
                          <a:cs typeface="+mn-cs"/>
                        </a:rPr>
                        <a:t>Key analysis</a:t>
                      </a:r>
                    </a:p>
                  </a:txBody>
                  <a:tcPr marL="45720" marR="45720" anchor="b" horzOverflow="overflow">
                    <a:lnL w="6350" cap="flat" cmpd="sng" algn="ctr">
                      <a:solidFill>
                        <a:srgbClr val="00338D"/>
                      </a:solidFill>
                      <a:prstDash val="solid"/>
                      <a:round/>
                      <a:headEnd type="none" w="med" len="med"/>
                      <a:tailEnd type="none" w="med" len="med"/>
                    </a:lnL>
                    <a:lnR w="6350" cap="flat" cmpd="sng" algn="ctr">
                      <a:solidFill>
                        <a:srgbClr val="00338D"/>
                      </a:solidFill>
                      <a:prstDash val="solid"/>
                      <a:round/>
                      <a:headEnd type="none" w="med" len="med"/>
                      <a:tailEnd type="none" w="med" len="med"/>
                    </a:lnR>
                    <a:lnT w="6350" cap="flat" cmpd="sng" algn="ctr">
                      <a:solidFill>
                        <a:srgbClr val="00338D"/>
                      </a:solidFill>
                      <a:prstDash val="solid"/>
                      <a:round/>
                      <a:headEnd type="none" w="med" len="med"/>
                      <a:tailEnd type="none" w="med" len="med"/>
                    </a:lnT>
                    <a:lnB w="6350" cap="flat" cmpd="sng" algn="ctr">
                      <a:solidFill>
                        <a:srgbClr val="00338D"/>
                      </a:solidFill>
                      <a:prstDash val="solid"/>
                      <a:round/>
                      <a:headEnd type="none" w="med" len="med"/>
                      <a:tailEnd type="none" w="med" len="med"/>
                    </a:lnB>
                    <a:lnTlToBr>
                      <a:noFill/>
                    </a:lnTlToBr>
                    <a:lnBlToTr>
                      <a:noFill/>
                    </a:lnBlToTr>
                    <a:solidFill>
                      <a:srgbClr val="00338D"/>
                    </a:solidFill>
                  </a:tcPr>
                </a:tc>
              </a:tr>
              <a:tr h="4405756">
                <a:tc>
                  <a:txBody>
                    <a:bodyPr/>
                    <a:lstStyle/>
                    <a:p>
                      <a:pPr marL="0" marR="0" lvl="1" indent="0" algn="l" defTabSz="914400" rtl="0" eaLnBrk="1" fontAlgn="base" latinLnBrk="0" hangingPunct="1">
                        <a:lnSpc>
                          <a:spcPct val="100000"/>
                        </a:lnSpc>
                        <a:spcBef>
                          <a:spcPts val="0"/>
                        </a:spcBef>
                        <a:spcAft>
                          <a:spcPts val="600"/>
                        </a:spcAft>
                        <a:buClrTx/>
                        <a:buSzTx/>
                        <a:buFontTx/>
                        <a:buNone/>
                        <a:tabLst/>
                        <a:defRPr/>
                      </a:pPr>
                      <a:r>
                        <a:rPr lang="en-US" sz="900" b="1" kern="1200" dirty="0" smtClean="0">
                          <a:solidFill>
                            <a:srgbClr val="00338D"/>
                          </a:solidFill>
                          <a:latin typeface="Univers for KPMG" panose="020B0603020202020204" pitchFamily="34" charset="0"/>
                          <a:ea typeface="+mn-ea"/>
                          <a:cs typeface="+mn-cs"/>
                        </a:rPr>
                        <a:t>Net</a:t>
                      </a:r>
                      <a:r>
                        <a:rPr lang="en-US" sz="900" b="1" kern="1200" baseline="0" dirty="0" smtClean="0">
                          <a:solidFill>
                            <a:srgbClr val="00338D"/>
                          </a:solidFill>
                          <a:latin typeface="Univers for KPMG" panose="020B0603020202020204" pitchFamily="34" charset="0"/>
                          <a:ea typeface="+mn-ea"/>
                          <a:cs typeface="+mn-cs"/>
                        </a:rPr>
                        <a:t> debt</a:t>
                      </a:r>
                      <a:endParaRPr lang="en-US" sz="900" b="1" kern="1200" dirty="0" smtClean="0">
                        <a:solidFill>
                          <a:srgbClr val="00338D"/>
                        </a:solidFill>
                        <a:latin typeface="Univers for KPMG" panose="020B0603020202020204" pitchFamily="34" charset="0"/>
                        <a:ea typeface="+mn-ea"/>
                        <a:cs typeface="+mn-cs"/>
                      </a:endParaRPr>
                    </a:p>
                    <a:p>
                      <a:pPr marL="0" marR="0" lvl="1" indent="0" algn="l" defTabSz="914400" rtl="0" eaLnBrk="1" fontAlgn="base" latinLnBrk="0" hangingPunct="1">
                        <a:lnSpc>
                          <a:spcPct val="100000"/>
                        </a:lnSpc>
                        <a:spcBef>
                          <a:spcPts val="0"/>
                        </a:spcBef>
                        <a:spcAft>
                          <a:spcPts val="600"/>
                        </a:spcAft>
                        <a:buClrTx/>
                        <a:buSzTx/>
                        <a:buFontTx/>
                        <a:buNone/>
                        <a:tabLst/>
                        <a:defRPr/>
                      </a:pPr>
                      <a:r>
                        <a:rPr lang="en-US" sz="900" b="0" kern="1200" baseline="0" dirty="0" smtClean="0">
                          <a:solidFill>
                            <a:srgbClr val="00338D"/>
                          </a:solidFill>
                          <a:latin typeface="Univers for KPMG" panose="020B0603020202020204" pitchFamily="34" charset="0"/>
                          <a:ea typeface="+mn-ea"/>
                          <a:cs typeface="+mn-cs"/>
                        </a:rPr>
                        <a:t>Reported net debt as at December 31, 2017 is $10.7 million. </a:t>
                      </a:r>
                    </a:p>
                    <a:p>
                      <a:pPr marL="0" marR="0" lvl="1" indent="0" algn="l" defTabSz="914400" rtl="0" eaLnBrk="1" fontAlgn="base" latinLnBrk="0" hangingPunct="1">
                        <a:lnSpc>
                          <a:spcPct val="100000"/>
                        </a:lnSpc>
                        <a:spcBef>
                          <a:spcPts val="0"/>
                        </a:spcBef>
                        <a:spcAft>
                          <a:spcPts val="600"/>
                        </a:spcAft>
                        <a:buClrTx/>
                        <a:buSzTx/>
                        <a:buFontTx/>
                        <a:buNone/>
                        <a:tabLst/>
                        <a:defRPr/>
                      </a:pPr>
                      <a:r>
                        <a:rPr lang="en-US" sz="900" b="0" kern="1200" baseline="0" dirty="0" smtClean="0">
                          <a:solidFill>
                            <a:srgbClr val="00338D"/>
                          </a:solidFill>
                          <a:latin typeface="Univers for KPMG" panose="020B0603020202020204" pitchFamily="34" charset="0"/>
                          <a:ea typeface="+mn-ea"/>
                          <a:cs typeface="+mn-cs"/>
                        </a:rPr>
                        <a:t>This amount may be decreased to $9.8 million subject to potential adjustments.</a:t>
                      </a:r>
                    </a:p>
                    <a:p>
                      <a:pPr marL="0" marR="0" lvl="1" indent="0" algn="l" defTabSz="914400" rtl="0" eaLnBrk="1" fontAlgn="base" latinLnBrk="0" hangingPunct="1">
                        <a:lnSpc>
                          <a:spcPct val="100000"/>
                        </a:lnSpc>
                        <a:spcBef>
                          <a:spcPts val="0"/>
                        </a:spcBef>
                        <a:spcAft>
                          <a:spcPts val="600"/>
                        </a:spcAft>
                        <a:buClrTx/>
                        <a:buSzTx/>
                        <a:buFontTx/>
                        <a:buNone/>
                        <a:tabLst/>
                        <a:defRPr/>
                      </a:pPr>
                      <a:r>
                        <a:rPr lang="en-US" sz="900" b="0" kern="1200" baseline="0" dirty="0" smtClean="0">
                          <a:solidFill>
                            <a:srgbClr val="00338D"/>
                          </a:solidFill>
                          <a:latin typeface="Univers for KPMG" panose="020B0603020202020204" pitchFamily="34" charset="0"/>
                          <a:ea typeface="+mn-ea"/>
                          <a:cs typeface="+mn-cs"/>
                        </a:rPr>
                        <a:t>It is our understanding that the contemplated transaction is on a cash free / debt free basis.</a:t>
                      </a:r>
                    </a:p>
                  </a:txBody>
                  <a:tcPr marL="45720" marR="45720" horzOverflow="overflow">
                    <a:lnL w="6350" cap="flat" cmpd="sng" algn="ctr">
                      <a:solidFill>
                        <a:srgbClr val="00338D"/>
                      </a:solidFill>
                      <a:prstDash val="solid"/>
                      <a:round/>
                      <a:headEnd type="none" w="med" len="med"/>
                      <a:tailEnd type="none" w="med" len="med"/>
                    </a:lnL>
                    <a:lnR w="6350" cap="flat" cmpd="sng" algn="ctr">
                      <a:solidFill>
                        <a:srgbClr val="00338D"/>
                      </a:solidFill>
                      <a:prstDash val="solid"/>
                      <a:round/>
                      <a:headEnd type="none" w="med" len="med"/>
                      <a:tailEnd type="none" w="med" len="med"/>
                    </a:lnR>
                    <a:lnT w="6350" cap="flat" cmpd="sng" algn="ctr">
                      <a:solidFill>
                        <a:srgbClr val="00338D"/>
                      </a:solidFill>
                      <a:prstDash val="solid"/>
                      <a:round/>
                      <a:headEnd type="none" w="med" len="med"/>
                      <a:tailEnd type="none" w="med" len="med"/>
                    </a:lnT>
                    <a:lnB w="6350" cap="flat" cmpd="sng" algn="ctr">
                      <a:solidFill>
                        <a:srgbClr val="00338D"/>
                      </a:solidFill>
                      <a:prstDash val="solid"/>
                      <a:round/>
                      <a:headEnd type="none" w="med" len="med"/>
                      <a:tailEnd type="none" w="med" len="med"/>
                    </a:lnB>
                    <a:lnTlToBr>
                      <a:noFill/>
                    </a:lnTlToBr>
                    <a:lnBlToTr>
                      <a:noFill/>
                    </a:lnBlToTr>
                    <a:solidFill>
                      <a:schemeClr val="bg1"/>
                    </a:solidFill>
                  </a:tcPr>
                </a:tc>
                <a:tc>
                  <a:txBody>
                    <a:bodyPr/>
                    <a:lstStyle/>
                    <a:p>
                      <a:pPr marL="177800" marR="0" lvl="2" indent="-177800" algn="l" defTabSz="914400" rtl="0" eaLnBrk="1" fontAlgn="auto" latinLnBrk="0" hangingPunct="1">
                        <a:lnSpc>
                          <a:spcPts val="1000"/>
                        </a:lnSpc>
                        <a:spcBef>
                          <a:spcPts val="600"/>
                        </a:spcBef>
                        <a:spcAft>
                          <a:spcPts val="0"/>
                        </a:spcAft>
                        <a:buClr>
                          <a:srgbClr val="97989A"/>
                        </a:buClr>
                        <a:buSzTx/>
                        <a:buFont typeface="Arial" pitchFamily="34" charset="0"/>
                        <a:buChar char="■"/>
                        <a:tabLst/>
                        <a:defRPr/>
                      </a:pPr>
                      <a:r>
                        <a:rPr kumimoji="0" lang="en-US" sz="900" b="0" i="0" u="none" strike="noStrike" kern="1200" cap="none" spc="0" normalizeH="0" baseline="0" noProof="0" dirty="0" smtClean="0">
                          <a:ln>
                            <a:noFill/>
                          </a:ln>
                          <a:solidFill>
                            <a:srgbClr val="000000"/>
                          </a:solidFill>
                          <a:effectLst/>
                          <a:uLnTx/>
                          <a:uFillTx/>
                          <a:latin typeface="Univers for KPMG" panose="020B0603020202020204" pitchFamily="34" charset="0"/>
                          <a:ea typeface="+mn-ea"/>
                          <a:cs typeface="Arial" pitchFamily="34" charset="0"/>
                        </a:rPr>
                        <a:t>The following table summarizes reported and potentially adjusted net debt as at December 31, 2017: </a:t>
                      </a:r>
                    </a:p>
                    <a:p>
                      <a:pPr marL="177800" marR="0" lvl="2" indent="-177800" algn="l" defTabSz="914400" rtl="0" eaLnBrk="1" fontAlgn="auto" latinLnBrk="0" hangingPunct="1">
                        <a:lnSpc>
                          <a:spcPts val="1000"/>
                        </a:lnSpc>
                        <a:spcBef>
                          <a:spcPts val="600"/>
                        </a:spcBef>
                        <a:spcAft>
                          <a:spcPts val="0"/>
                        </a:spcAft>
                        <a:buClr>
                          <a:srgbClr val="97989A"/>
                        </a:buClr>
                        <a:buSzTx/>
                        <a:buFont typeface="Arial" pitchFamily="34" charset="0"/>
                        <a:buChar char="■"/>
                        <a:tabLst/>
                        <a:defRPr/>
                      </a:pPr>
                      <a:endParaRPr kumimoji="0" lang="en-US" sz="900" b="0" i="0" u="none" strike="noStrike" kern="1200" cap="none" spc="0" normalizeH="0" baseline="0" noProof="0" dirty="0" smtClean="0">
                        <a:ln>
                          <a:noFill/>
                        </a:ln>
                        <a:solidFill>
                          <a:srgbClr val="000000"/>
                        </a:solidFill>
                        <a:effectLst/>
                        <a:uLnTx/>
                        <a:uFillTx/>
                        <a:latin typeface="Univers for KPMG" panose="020B0603020202020204" pitchFamily="34" charset="0"/>
                        <a:ea typeface="+mn-ea"/>
                        <a:cs typeface="Arial" pitchFamily="34" charset="0"/>
                      </a:endParaRPr>
                    </a:p>
                    <a:p>
                      <a:pPr marL="177800" marR="0" lvl="2" indent="-177800" algn="l" defTabSz="914400" rtl="0" eaLnBrk="1" fontAlgn="auto" latinLnBrk="0" hangingPunct="1">
                        <a:lnSpc>
                          <a:spcPts val="1000"/>
                        </a:lnSpc>
                        <a:spcBef>
                          <a:spcPts val="600"/>
                        </a:spcBef>
                        <a:spcAft>
                          <a:spcPts val="0"/>
                        </a:spcAft>
                        <a:buClr>
                          <a:srgbClr val="97989A"/>
                        </a:buClr>
                        <a:buSzTx/>
                        <a:buFont typeface="Arial" pitchFamily="34" charset="0"/>
                        <a:buChar char="■"/>
                        <a:tabLst/>
                        <a:defRPr/>
                      </a:pPr>
                      <a:endParaRPr kumimoji="0" lang="en-US" sz="900" b="0" i="0" u="none" strike="noStrike" kern="1200" cap="none" spc="0" normalizeH="0" baseline="0" noProof="0" dirty="0" smtClean="0">
                        <a:ln>
                          <a:noFill/>
                        </a:ln>
                        <a:solidFill>
                          <a:srgbClr val="000000"/>
                        </a:solidFill>
                        <a:effectLst/>
                        <a:uLnTx/>
                        <a:uFillTx/>
                        <a:latin typeface="Univers for KPMG" panose="020B0603020202020204" pitchFamily="34" charset="0"/>
                        <a:ea typeface="+mn-ea"/>
                        <a:cs typeface="Arial" pitchFamily="34" charset="0"/>
                      </a:endParaRPr>
                    </a:p>
                    <a:p>
                      <a:pPr marL="177800" marR="0" lvl="2" indent="-177800" algn="l" defTabSz="914400" rtl="0" eaLnBrk="1" fontAlgn="auto" latinLnBrk="0" hangingPunct="1">
                        <a:lnSpc>
                          <a:spcPts val="1000"/>
                        </a:lnSpc>
                        <a:spcBef>
                          <a:spcPts val="600"/>
                        </a:spcBef>
                        <a:spcAft>
                          <a:spcPts val="0"/>
                        </a:spcAft>
                        <a:buClr>
                          <a:srgbClr val="97989A"/>
                        </a:buClr>
                        <a:buSzTx/>
                        <a:buFont typeface="Arial" pitchFamily="34" charset="0"/>
                        <a:buChar char="■"/>
                        <a:tabLst/>
                        <a:defRPr/>
                      </a:pPr>
                      <a:endParaRPr kumimoji="0" lang="en-US" sz="900" b="0" i="0" u="none" strike="noStrike" kern="1200" cap="none" spc="0" normalizeH="0" baseline="0" noProof="0" dirty="0" smtClean="0">
                        <a:ln>
                          <a:noFill/>
                        </a:ln>
                        <a:solidFill>
                          <a:srgbClr val="000000"/>
                        </a:solidFill>
                        <a:effectLst/>
                        <a:uLnTx/>
                        <a:uFillTx/>
                        <a:latin typeface="Univers for KPMG" panose="020B0603020202020204" pitchFamily="34" charset="0"/>
                        <a:ea typeface="+mn-ea"/>
                        <a:cs typeface="Arial" pitchFamily="34" charset="0"/>
                      </a:endParaRPr>
                    </a:p>
                    <a:p>
                      <a:pPr marL="177800" marR="0" lvl="2" indent="-177800" algn="l" defTabSz="914400" rtl="0" eaLnBrk="1" fontAlgn="auto" latinLnBrk="0" hangingPunct="1">
                        <a:lnSpc>
                          <a:spcPts val="1000"/>
                        </a:lnSpc>
                        <a:spcBef>
                          <a:spcPts val="600"/>
                        </a:spcBef>
                        <a:spcAft>
                          <a:spcPts val="0"/>
                        </a:spcAft>
                        <a:buClr>
                          <a:srgbClr val="97989A"/>
                        </a:buClr>
                        <a:buSzTx/>
                        <a:buFont typeface="Arial" pitchFamily="34" charset="0"/>
                        <a:buChar char="■"/>
                        <a:tabLst/>
                        <a:defRPr/>
                      </a:pPr>
                      <a:endParaRPr kumimoji="0" lang="en-US" sz="900" b="0" i="0" u="none" strike="noStrike" kern="1200" cap="none" spc="0" normalizeH="0" baseline="0" noProof="0" dirty="0" smtClean="0">
                        <a:ln>
                          <a:noFill/>
                        </a:ln>
                        <a:solidFill>
                          <a:srgbClr val="000000"/>
                        </a:solidFill>
                        <a:effectLst/>
                        <a:uLnTx/>
                        <a:uFillTx/>
                        <a:latin typeface="Univers for KPMG" panose="020B0603020202020204" pitchFamily="34" charset="0"/>
                        <a:ea typeface="+mn-ea"/>
                        <a:cs typeface="Arial" pitchFamily="34" charset="0"/>
                      </a:endParaRPr>
                    </a:p>
                    <a:p>
                      <a:pPr marL="177800" marR="0" lvl="2" indent="-177800" algn="l" defTabSz="914400" rtl="0" eaLnBrk="1" fontAlgn="auto" latinLnBrk="0" hangingPunct="1">
                        <a:lnSpc>
                          <a:spcPts val="1000"/>
                        </a:lnSpc>
                        <a:spcBef>
                          <a:spcPts val="600"/>
                        </a:spcBef>
                        <a:spcAft>
                          <a:spcPts val="0"/>
                        </a:spcAft>
                        <a:buClr>
                          <a:srgbClr val="97989A"/>
                        </a:buClr>
                        <a:buSzTx/>
                        <a:buFont typeface="Arial" pitchFamily="34" charset="0"/>
                        <a:buChar char="■"/>
                        <a:tabLst/>
                        <a:defRPr/>
                      </a:pPr>
                      <a:endParaRPr kumimoji="0" lang="en-US" sz="900" b="0" i="0" u="none" strike="noStrike" kern="1200" cap="none" spc="0" normalizeH="0" baseline="0" noProof="0" dirty="0" smtClean="0">
                        <a:ln>
                          <a:noFill/>
                        </a:ln>
                        <a:solidFill>
                          <a:srgbClr val="000000"/>
                        </a:solidFill>
                        <a:effectLst/>
                        <a:uLnTx/>
                        <a:uFillTx/>
                        <a:latin typeface="Univers for KPMG" panose="020B0603020202020204" pitchFamily="34" charset="0"/>
                        <a:ea typeface="+mn-ea"/>
                        <a:cs typeface="Arial" pitchFamily="34" charset="0"/>
                      </a:endParaRPr>
                    </a:p>
                    <a:p>
                      <a:pPr marL="177800" marR="0" lvl="2" indent="-177800" algn="l" defTabSz="914400" rtl="0" eaLnBrk="1" fontAlgn="auto" latinLnBrk="0" hangingPunct="1">
                        <a:lnSpc>
                          <a:spcPts val="1000"/>
                        </a:lnSpc>
                        <a:spcBef>
                          <a:spcPts val="600"/>
                        </a:spcBef>
                        <a:spcAft>
                          <a:spcPts val="0"/>
                        </a:spcAft>
                        <a:buClr>
                          <a:srgbClr val="97989A"/>
                        </a:buClr>
                        <a:buSzTx/>
                        <a:buFont typeface="Arial" pitchFamily="34" charset="0"/>
                        <a:buChar char="■"/>
                        <a:tabLst/>
                        <a:defRPr/>
                      </a:pPr>
                      <a:endParaRPr kumimoji="0" lang="en-US" sz="900" b="0" i="0" u="none" strike="noStrike" kern="1200" cap="none" spc="0" normalizeH="0" baseline="0" noProof="0" dirty="0" smtClean="0">
                        <a:ln>
                          <a:noFill/>
                        </a:ln>
                        <a:solidFill>
                          <a:srgbClr val="000000"/>
                        </a:solidFill>
                        <a:effectLst/>
                        <a:uLnTx/>
                        <a:uFillTx/>
                        <a:latin typeface="Univers for KPMG" panose="020B0603020202020204" pitchFamily="34" charset="0"/>
                        <a:ea typeface="+mn-ea"/>
                        <a:cs typeface="Arial" pitchFamily="34" charset="0"/>
                      </a:endParaRPr>
                    </a:p>
                    <a:p>
                      <a:pPr marL="177800" marR="0" lvl="2" indent="-177800" algn="l" defTabSz="914400" rtl="0" eaLnBrk="1" fontAlgn="auto" latinLnBrk="0" hangingPunct="1">
                        <a:lnSpc>
                          <a:spcPts val="1000"/>
                        </a:lnSpc>
                        <a:spcBef>
                          <a:spcPts val="600"/>
                        </a:spcBef>
                        <a:spcAft>
                          <a:spcPts val="0"/>
                        </a:spcAft>
                        <a:buClr>
                          <a:srgbClr val="97989A"/>
                        </a:buClr>
                        <a:buSzTx/>
                        <a:buFont typeface="Arial" pitchFamily="34" charset="0"/>
                        <a:buChar char="■"/>
                        <a:tabLst/>
                        <a:defRPr/>
                      </a:pPr>
                      <a:endParaRPr kumimoji="0" lang="en-US" sz="900" b="0" i="0" u="none" strike="noStrike" kern="1200" cap="none" spc="0" normalizeH="0" baseline="0" noProof="0" dirty="0" smtClean="0">
                        <a:ln>
                          <a:noFill/>
                        </a:ln>
                        <a:solidFill>
                          <a:srgbClr val="000000"/>
                        </a:solidFill>
                        <a:effectLst/>
                        <a:uLnTx/>
                        <a:uFillTx/>
                        <a:latin typeface="Univers for KPMG" panose="020B0603020202020204" pitchFamily="34" charset="0"/>
                        <a:ea typeface="+mn-ea"/>
                        <a:cs typeface="Arial" pitchFamily="34" charset="0"/>
                      </a:endParaRPr>
                    </a:p>
                    <a:p>
                      <a:pPr marL="177800" marR="0" lvl="2" indent="-177800" algn="l" defTabSz="914400" rtl="0" eaLnBrk="1" fontAlgn="auto" latinLnBrk="0" hangingPunct="1">
                        <a:lnSpc>
                          <a:spcPts val="1000"/>
                        </a:lnSpc>
                        <a:spcBef>
                          <a:spcPts val="600"/>
                        </a:spcBef>
                        <a:spcAft>
                          <a:spcPts val="0"/>
                        </a:spcAft>
                        <a:buClr>
                          <a:srgbClr val="97989A"/>
                        </a:buClr>
                        <a:buSzTx/>
                        <a:buFont typeface="Arial" pitchFamily="34" charset="0"/>
                        <a:buChar char="■"/>
                        <a:tabLst/>
                        <a:defRPr/>
                      </a:pPr>
                      <a:endParaRPr kumimoji="0" lang="en-US" sz="900" b="0" i="0" u="none" strike="noStrike" kern="1200" cap="none" spc="0" normalizeH="0" baseline="0" noProof="0" dirty="0" smtClean="0">
                        <a:ln>
                          <a:noFill/>
                        </a:ln>
                        <a:solidFill>
                          <a:srgbClr val="000000"/>
                        </a:solidFill>
                        <a:effectLst/>
                        <a:uLnTx/>
                        <a:uFillTx/>
                        <a:latin typeface="Univers for KPMG" panose="020B0603020202020204" pitchFamily="34" charset="0"/>
                        <a:ea typeface="+mn-ea"/>
                        <a:cs typeface="Arial" pitchFamily="34" charset="0"/>
                      </a:endParaRPr>
                    </a:p>
                    <a:p>
                      <a:pPr marL="177800" marR="0" lvl="2" indent="-177800" algn="l" defTabSz="914400" rtl="0" eaLnBrk="1" fontAlgn="auto" latinLnBrk="0" hangingPunct="1">
                        <a:lnSpc>
                          <a:spcPts val="1000"/>
                        </a:lnSpc>
                        <a:spcBef>
                          <a:spcPts val="600"/>
                        </a:spcBef>
                        <a:spcAft>
                          <a:spcPts val="0"/>
                        </a:spcAft>
                        <a:buClr>
                          <a:srgbClr val="97989A"/>
                        </a:buClr>
                        <a:buSzTx/>
                        <a:buFont typeface="Arial" pitchFamily="34" charset="0"/>
                        <a:buChar char="■"/>
                        <a:tabLst/>
                        <a:defRPr/>
                      </a:pPr>
                      <a:endParaRPr kumimoji="0" lang="en-US" sz="900" b="0" i="0" u="none" strike="noStrike" kern="1200" cap="none" spc="0" normalizeH="0" baseline="0" noProof="0" dirty="0" smtClean="0">
                        <a:ln>
                          <a:noFill/>
                        </a:ln>
                        <a:solidFill>
                          <a:srgbClr val="000000"/>
                        </a:solidFill>
                        <a:effectLst/>
                        <a:uLnTx/>
                        <a:uFillTx/>
                        <a:latin typeface="Univers for KPMG" panose="020B0603020202020204" pitchFamily="34" charset="0"/>
                        <a:ea typeface="+mn-ea"/>
                        <a:cs typeface="Arial" pitchFamily="34" charset="0"/>
                      </a:endParaRPr>
                    </a:p>
                    <a:p>
                      <a:pPr marL="177800" marR="0" lvl="2" indent="-177800" algn="l" defTabSz="914400" rtl="0" eaLnBrk="1" fontAlgn="auto" latinLnBrk="0" hangingPunct="1">
                        <a:lnSpc>
                          <a:spcPts val="1000"/>
                        </a:lnSpc>
                        <a:spcBef>
                          <a:spcPts val="600"/>
                        </a:spcBef>
                        <a:spcAft>
                          <a:spcPts val="0"/>
                        </a:spcAft>
                        <a:buClr>
                          <a:srgbClr val="97989A"/>
                        </a:buClr>
                        <a:buSzTx/>
                        <a:buFont typeface="Arial" pitchFamily="34" charset="0"/>
                        <a:buChar char="■"/>
                        <a:tabLst/>
                        <a:defRPr/>
                      </a:pPr>
                      <a:endParaRPr kumimoji="0" lang="en-US" sz="900" b="0" i="0" u="none" strike="noStrike" kern="1200" cap="none" spc="0" normalizeH="0" baseline="0" noProof="0" dirty="0" smtClean="0">
                        <a:ln>
                          <a:noFill/>
                        </a:ln>
                        <a:solidFill>
                          <a:srgbClr val="000000"/>
                        </a:solidFill>
                        <a:effectLst/>
                        <a:uLnTx/>
                        <a:uFillTx/>
                        <a:latin typeface="Univers for KPMG" panose="020B0603020202020204" pitchFamily="34" charset="0"/>
                        <a:ea typeface="+mn-ea"/>
                        <a:cs typeface="Arial" pitchFamily="34" charset="0"/>
                      </a:endParaRPr>
                    </a:p>
                    <a:p>
                      <a:pPr marL="0" marR="0" lvl="2" indent="0" algn="l" defTabSz="914400" rtl="0" eaLnBrk="1" fontAlgn="auto" latinLnBrk="0" hangingPunct="1">
                        <a:lnSpc>
                          <a:spcPts val="1000"/>
                        </a:lnSpc>
                        <a:spcBef>
                          <a:spcPts val="600"/>
                        </a:spcBef>
                        <a:spcAft>
                          <a:spcPts val="0"/>
                        </a:spcAft>
                        <a:buClr>
                          <a:srgbClr val="97989A"/>
                        </a:buClr>
                        <a:buSzTx/>
                        <a:buFont typeface="Arial" pitchFamily="34" charset="0"/>
                        <a:buNone/>
                        <a:tabLst/>
                        <a:defRPr/>
                      </a:pPr>
                      <a:endParaRPr kumimoji="0" lang="en-US" sz="900" b="0" i="0" u="none" strike="noStrike" kern="1200" cap="none" spc="0" normalizeH="0" baseline="0" noProof="0" dirty="0" smtClean="0">
                        <a:ln>
                          <a:noFill/>
                        </a:ln>
                        <a:solidFill>
                          <a:srgbClr val="000000"/>
                        </a:solidFill>
                        <a:effectLst/>
                        <a:uLnTx/>
                        <a:uFillTx/>
                        <a:latin typeface="Univers for KPMG" panose="020B0603020202020204" pitchFamily="34" charset="0"/>
                        <a:ea typeface="+mn-ea"/>
                        <a:cs typeface="Arial" pitchFamily="34" charset="0"/>
                      </a:endParaRPr>
                    </a:p>
                    <a:p>
                      <a:pPr marL="177800" marR="0" lvl="2" indent="-177800" algn="l" defTabSz="914400" rtl="0" eaLnBrk="1" fontAlgn="auto" latinLnBrk="0" hangingPunct="1">
                        <a:lnSpc>
                          <a:spcPts val="1000"/>
                        </a:lnSpc>
                        <a:spcBef>
                          <a:spcPts val="600"/>
                        </a:spcBef>
                        <a:spcAft>
                          <a:spcPts val="0"/>
                        </a:spcAft>
                        <a:buClr>
                          <a:srgbClr val="97989A"/>
                        </a:buClr>
                        <a:buSzTx/>
                        <a:buFont typeface="Arial" pitchFamily="34" charset="0"/>
                        <a:buChar char="■"/>
                        <a:tabLst/>
                        <a:defRPr/>
                      </a:pPr>
                      <a:r>
                        <a:rPr kumimoji="0" lang="en-US" sz="900" b="0" i="0" u="none" strike="noStrike" kern="1200" cap="none" spc="0" normalizeH="0" baseline="0" noProof="0" dirty="0" smtClean="0">
                          <a:ln>
                            <a:noFill/>
                          </a:ln>
                          <a:solidFill>
                            <a:srgbClr val="000000"/>
                          </a:solidFill>
                          <a:effectLst/>
                          <a:uLnTx/>
                          <a:uFillTx/>
                          <a:latin typeface="Univers for KPMG" panose="020B0603020202020204" pitchFamily="34" charset="0"/>
                          <a:ea typeface="+mn-ea"/>
                          <a:cs typeface="Arial" pitchFamily="34" charset="0"/>
                        </a:rPr>
                        <a:t>Potential debt-like items identified as a result of due diligence include: </a:t>
                      </a:r>
                    </a:p>
                    <a:p>
                      <a:pPr marL="347663" marR="0" lvl="2" indent="-177800" algn="just" defTabSz="914400" rtl="0" eaLnBrk="1" fontAlgn="auto" latinLnBrk="0" hangingPunct="1">
                        <a:lnSpc>
                          <a:spcPts val="1000"/>
                        </a:lnSpc>
                        <a:spcBef>
                          <a:spcPts val="400"/>
                        </a:spcBef>
                        <a:spcAft>
                          <a:spcPts val="0"/>
                        </a:spcAft>
                        <a:buClr>
                          <a:srgbClr val="97989A"/>
                        </a:buClr>
                        <a:buSzTx/>
                        <a:buFont typeface="Arial" panose="020B0604020202020204" pitchFamily="34" charset="0"/>
                        <a:buChar char="–"/>
                        <a:tabLst/>
                        <a:defRPr/>
                      </a:pPr>
                      <a:r>
                        <a:rPr lang="en-US" sz="900" b="1" kern="1200" noProof="0" dirty="0" smtClean="0">
                          <a:solidFill>
                            <a:schemeClr val="tx1"/>
                          </a:solidFill>
                          <a:latin typeface="Univers for KPMG" panose="020B0603020202020204" pitchFamily="34" charset="0"/>
                          <a:ea typeface="+mn-ea"/>
                          <a:cs typeface="+mn-cs"/>
                        </a:rPr>
                        <a:t>Due from affiliates</a:t>
                      </a:r>
                      <a:r>
                        <a:rPr lang="en-US" sz="900" b="1" kern="1200" baseline="0" noProof="0" dirty="0" smtClean="0">
                          <a:solidFill>
                            <a:schemeClr val="tx1"/>
                          </a:solidFill>
                          <a:latin typeface="Univers for KPMG" panose="020B0603020202020204" pitchFamily="34" charset="0"/>
                          <a:ea typeface="+mn-ea"/>
                          <a:cs typeface="+mn-cs"/>
                        </a:rPr>
                        <a:t> (increase of $1.1 million): </a:t>
                      </a:r>
                      <a:r>
                        <a:rPr lang="en-US" sz="900" b="0" kern="1200" baseline="0" noProof="0" dirty="0" smtClean="0">
                          <a:solidFill>
                            <a:schemeClr val="tx1"/>
                          </a:solidFill>
                          <a:latin typeface="Univers for KPMG" panose="020B0603020202020204" pitchFamily="34" charset="0"/>
                          <a:ea typeface="+mn-ea"/>
                          <a:cs typeface="+mn-cs"/>
                        </a:rPr>
                        <a:t>Relates to a receivable for a Management loan to the owners.</a:t>
                      </a:r>
                    </a:p>
                    <a:p>
                      <a:pPr marL="347663" marR="0" lvl="2" indent="-177800" algn="just" defTabSz="914400" rtl="0" eaLnBrk="1" fontAlgn="auto" latinLnBrk="0" hangingPunct="1">
                        <a:lnSpc>
                          <a:spcPts val="1000"/>
                        </a:lnSpc>
                        <a:spcBef>
                          <a:spcPts val="400"/>
                        </a:spcBef>
                        <a:spcAft>
                          <a:spcPts val="0"/>
                        </a:spcAft>
                        <a:buClr>
                          <a:srgbClr val="97989A"/>
                        </a:buClr>
                        <a:buSzTx/>
                        <a:buFont typeface="Arial" panose="020B0604020202020204" pitchFamily="34" charset="0"/>
                        <a:buChar char="–"/>
                        <a:tabLst/>
                        <a:defRPr/>
                      </a:pPr>
                      <a:r>
                        <a:rPr lang="en-US" sz="900" b="1" kern="1200" baseline="0" noProof="0" dirty="0" smtClean="0">
                          <a:solidFill>
                            <a:schemeClr val="tx1"/>
                          </a:solidFill>
                          <a:latin typeface="Univers for KPMG" panose="020B0603020202020204" pitchFamily="34" charset="0"/>
                          <a:ea typeface="+mn-ea"/>
                          <a:cs typeface="+mn-cs"/>
                        </a:rPr>
                        <a:t>Employee contribution penalty (decrease of $0.3 million): </a:t>
                      </a:r>
                      <a:r>
                        <a:rPr lang="en-US" sz="900" b="0" kern="1200" baseline="0" noProof="0" dirty="0" smtClean="0">
                          <a:solidFill>
                            <a:schemeClr val="tx1"/>
                          </a:solidFill>
                          <a:latin typeface="Univers for KPMG" panose="020B0603020202020204" pitchFamily="34" charset="0"/>
                          <a:ea typeface="+mn-ea"/>
                          <a:cs typeface="+mn-cs"/>
                        </a:rPr>
                        <a:t>Represents a liability associated with the New Jersey employment deductions. A discrepancy was identified between the rate at which Aequor was contributing to EI and the rate at which it should have been contributing to EI from 2010 – 2014. We understand that Aequor amended its EI contribution rate in 2014 and that the total amount currently owed by Aequor is approximately $329,000. </a:t>
                      </a:r>
                    </a:p>
                    <a:p>
                      <a:pPr marL="347663" marR="0" lvl="2" indent="-177800" algn="just" defTabSz="914400" rtl="0" eaLnBrk="1" fontAlgn="auto" latinLnBrk="0" hangingPunct="1">
                        <a:lnSpc>
                          <a:spcPts val="1000"/>
                        </a:lnSpc>
                        <a:spcBef>
                          <a:spcPts val="400"/>
                        </a:spcBef>
                        <a:spcAft>
                          <a:spcPts val="0"/>
                        </a:spcAft>
                        <a:buClr>
                          <a:srgbClr val="97989A"/>
                        </a:buClr>
                        <a:buSzTx/>
                        <a:buFont typeface="Arial" panose="020B0604020202020204" pitchFamily="34" charset="0"/>
                        <a:buChar char="–"/>
                        <a:tabLst/>
                        <a:defRPr/>
                      </a:pPr>
                      <a:r>
                        <a:rPr lang="en-US" sz="900" b="1" kern="1200" baseline="0" noProof="0" dirty="0" smtClean="0">
                          <a:solidFill>
                            <a:schemeClr val="tx1"/>
                          </a:solidFill>
                          <a:latin typeface="Univers for KPMG" panose="020B0603020202020204" pitchFamily="34" charset="0"/>
                          <a:ea typeface="+mn-ea"/>
                          <a:cs typeface="+mn-cs"/>
                        </a:rPr>
                        <a:t>Security deposits (increase of $56,000): </a:t>
                      </a:r>
                      <a:r>
                        <a:rPr lang="en-US" sz="900" b="0" kern="1200" baseline="0" noProof="0" dirty="0" smtClean="0">
                          <a:solidFill>
                            <a:schemeClr val="tx1"/>
                          </a:solidFill>
                          <a:latin typeface="Univers for KPMG" panose="020B0603020202020204" pitchFamily="34" charset="0"/>
                          <a:ea typeface="+mn-ea"/>
                          <a:cs typeface="+mn-cs"/>
                        </a:rPr>
                        <a:t>Represents amounts relating to rent and miscellaneous security deposits that have been consistent throughout the historical period.  </a:t>
                      </a:r>
                    </a:p>
                    <a:p>
                      <a:pPr marL="347663" marR="0" lvl="2" indent="-177800" algn="just" defTabSz="914400" rtl="0" eaLnBrk="1" fontAlgn="auto" latinLnBrk="0" hangingPunct="1">
                        <a:lnSpc>
                          <a:spcPts val="1000"/>
                        </a:lnSpc>
                        <a:spcBef>
                          <a:spcPts val="400"/>
                        </a:spcBef>
                        <a:spcAft>
                          <a:spcPts val="0"/>
                        </a:spcAft>
                        <a:buClr>
                          <a:srgbClr val="97989A"/>
                        </a:buClr>
                        <a:buSzTx/>
                        <a:buFont typeface="Arial" panose="020B0604020202020204" pitchFamily="34" charset="0"/>
                        <a:buChar char="–"/>
                        <a:tabLst/>
                        <a:defRPr/>
                      </a:pPr>
                      <a:r>
                        <a:rPr lang="en-US" sz="900" b="1" kern="1200" baseline="0" noProof="0" dirty="0" smtClean="0">
                          <a:solidFill>
                            <a:schemeClr val="tx1"/>
                          </a:solidFill>
                          <a:latin typeface="Univers for KPMG" panose="020B0603020202020204" pitchFamily="34" charset="0"/>
                          <a:ea typeface="+mn-ea"/>
                          <a:cs typeface="+mn-cs"/>
                        </a:rPr>
                        <a:t>Potential deal success fee (n.q.): </a:t>
                      </a:r>
                      <a:r>
                        <a:rPr lang="en-US" sz="900" b="0" kern="1200" baseline="0" noProof="0" dirty="0" smtClean="0">
                          <a:solidFill>
                            <a:schemeClr val="tx1"/>
                          </a:solidFill>
                          <a:latin typeface="Univers for KPMG" panose="020B0603020202020204" pitchFamily="34" charset="0"/>
                          <a:ea typeface="+mn-ea"/>
                          <a:cs typeface="+mn-cs"/>
                        </a:rPr>
                        <a:t>Relates to amounts that will be payable upon the successful close of this transaction. </a:t>
                      </a:r>
                    </a:p>
                    <a:p>
                      <a:pPr marL="177800" marR="0" lvl="2" indent="-177800" algn="just" defTabSz="914400" rtl="0" eaLnBrk="1" fontAlgn="auto" latinLnBrk="0" hangingPunct="1">
                        <a:lnSpc>
                          <a:spcPts val="1000"/>
                        </a:lnSpc>
                        <a:spcBef>
                          <a:spcPts val="600"/>
                        </a:spcBef>
                        <a:spcAft>
                          <a:spcPts val="0"/>
                        </a:spcAft>
                        <a:buClr>
                          <a:srgbClr val="97989A"/>
                        </a:buClr>
                        <a:buSzTx/>
                        <a:buFont typeface="Arial" pitchFamily="34" charset="0"/>
                        <a:buChar char="■"/>
                        <a:tabLst/>
                        <a:defRPr/>
                      </a:pPr>
                      <a:r>
                        <a:rPr kumimoji="0" lang="en-US" sz="900" b="0" i="0" u="none" strike="noStrike" kern="1200" cap="none" spc="0" normalizeH="0" baseline="0" noProof="0" dirty="0" smtClean="0">
                          <a:ln>
                            <a:noFill/>
                          </a:ln>
                          <a:solidFill>
                            <a:srgbClr val="000000"/>
                          </a:solidFill>
                          <a:effectLst/>
                          <a:uLnTx/>
                          <a:uFillTx/>
                          <a:latin typeface="Univers for KPMG" panose="020B0603020202020204" pitchFamily="34" charset="0"/>
                          <a:ea typeface="+mn-ea"/>
                          <a:cs typeface="Arial" pitchFamily="34" charset="0"/>
                        </a:rPr>
                        <a:t>The Company’s principal source of debt is from an asset based revolving line of credit from Provident Bank. The line of credit is collateralized by all assets of the Company.</a:t>
                      </a:r>
                      <a:endParaRPr kumimoji="0" lang="en-US" sz="900" b="0" i="0" u="sng" strike="noStrike" kern="1200" cap="none" spc="0" normalizeH="0" baseline="0" noProof="0" dirty="0" smtClean="0">
                        <a:ln>
                          <a:noFill/>
                        </a:ln>
                        <a:solidFill>
                          <a:srgbClr val="000000"/>
                        </a:solidFill>
                        <a:effectLst/>
                        <a:uLnTx/>
                        <a:uFillTx/>
                        <a:latin typeface="Univers for KPMG" panose="020B0603020202020204" pitchFamily="34" charset="0"/>
                        <a:ea typeface="+mn-ea"/>
                        <a:cs typeface="Arial" pitchFamily="34" charset="0"/>
                      </a:endParaRPr>
                    </a:p>
                  </a:txBody>
                  <a:tcPr marL="45720" marR="45720" horzOverflow="overflow">
                    <a:lnL w="6350" cap="flat" cmpd="sng" algn="ctr">
                      <a:solidFill>
                        <a:srgbClr val="00338D"/>
                      </a:solidFill>
                      <a:prstDash val="solid"/>
                      <a:round/>
                      <a:headEnd type="none" w="med" len="med"/>
                      <a:tailEnd type="none" w="med" len="med"/>
                    </a:lnL>
                    <a:lnR w="6350" cap="flat" cmpd="sng" algn="ctr">
                      <a:solidFill>
                        <a:srgbClr val="00338D"/>
                      </a:solidFill>
                      <a:prstDash val="solid"/>
                      <a:round/>
                      <a:headEnd type="none" w="med" len="med"/>
                      <a:tailEnd type="none" w="med" len="med"/>
                    </a:lnR>
                    <a:lnT w="6350" cap="flat" cmpd="sng" algn="ctr">
                      <a:solidFill>
                        <a:srgbClr val="00338D"/>
                      </a:solidFill>
                      <a:prstDash val="solid"/>
                      <a:round/>
                      <a:headEnd type="none" w="med" len="med"/>
                      <a:tailEnd type="none" w="med" len="med"/>
                    </a:lnT>
                    <a:lnB w="6350" cap="flat" cmpd="sng" algn="ctr">
                      <a:solidFill>
                        <a:srgbClr val="00338D"/>
                      </a:solidFill>
                      <a:prstDash val="solid"/>
                      <a:round/>
                      <a:headEnd type="none" w="med" len="med"/>
                      <a:tailEnd type="none" w="med" len="med"/>
                    </a:lnB>
                    <a:lnTlToBr>
                      <a:noFill/>
                    </a:lnTlToBr>
                    <a:lnBlToTr>
                      <a:noFill/>
                    </a:lnBlToTr>
                    <a:solidFill>
                      <a:schemeClr val="bg1"/>
                    </a:solidFill>
                  </a:tcPr>
                </a:tc>
                <a:tc>
                  <a:txBody>
                    <a:bodyPr/>
                    <a:lstStyle/>
                    <a:p>
                      <a:pPr marL="91440" marR="0" indent="0" algn="r" defTabSz="914400" eaLnBrk="1" fontAlgn="auto" latinLnBrk="0" hangingPunct="1">
                        <a:lnSpc>
                          <a:spcPct val="100000"/>
                        </a:lnSpc>
                        <a:spcBef>
                          <a:spcPts val="0"/>
                        </a:spcBef>
                        <a:spcAft>
                          <a:spcPts val="0"/>
                        </a:spcAft>
                        <a:buClrTx/>
                        <a:buSzTx/>
                        <a:buFont typeface="Arial" panose="020B0604020202020204" pitchFamily="34" charset="0"/>
                        <a:buNone/>
                        <a:tabLst/>
                        <a:defRPr/>
                      </a:pPr>
                      <a:r>
                        <a:rPr lang="en-US" sz="900" b="0" dirty="0" smtClean="0">
                          <a:solidFill>
                            <a:schemeClr val="tx1"/>
                          </a:solidFill>
                          <a:latin typeface="Univers for KPMG" panose="020B0603020202020204" pitchFamily="34" charset="0"/>
                        </a:rPr>
                        <a:t>n.a.</a:t>
                      </a:r>
                    </a:p>
                  </a:txBody>
                  <a:tcPr marL="45720" marR="45720" horzOverflow="overflow">
                    <a:lnL w="6350" cap="flat" cmpd="sng" algn="ctr">
                      <a:solidFill>
                        <a:srgbClr val="00338D"/>
                      </a:solidFill>
                      <a:prstDash val="solid"/>
                      <a:round/>
                      <a:headEnd type="none" w="med" len="med"/>
                      <a:tailEnd type="none" w="med" len="med"/>
                    </a:lnL>
                    <a:lnR w="6350" cap="flat" cmpd="sng" algn="ctr">
                      <a:solidFill>
                        <a:srgbClr val="00338D"/>
                      </a:solidFill>
                      <a:prstDash val="solid"/>
                      <a:round/>
                      <a:headEnd type="none" w="med" len="med"/>
                      <a:tailEnd type="none" w="med" len="med"/>
                    </a:lnR>
                    <a:lnT w="6350" cap="flat" cmpd="sng" algn="ctr">
                      <a:solidFill>
                        <a:srgbClr val="00338D"/>
                      </a:solidFill>
                      <a:prstDash val="solid"/>
                      <a:round/>
                      <a:headEnd type="none" w="med" len="med"/>
                      <a:tailEnd type="none" w="med" len="med"/>
                    </a:lnT>
                    <a:lnB w="6350" cap="flat" cmpd="sng" algn="ctr">
                      <a:solidFill>
                        <a:srgbClr val="00338D"/>
                      </a:solidFill>
                      <a:prstDash val="solid"/>
                      <a:round/>
                      <a:headEnd type="none" w="med" len="med"/>
                      <a:tailEnd type="none" w="med" len="med"/>
                    </a:lnB>
                    <a:lnTlToBr>
                      <a:noFill/>
                    </a:lnTlToBr>
                    <a:lnBlToTr>
                      <a:noFill/>
                    </a:lnBlToTr>
                    <a:solidFill>
                      <a:schemeClr val="bg1"/>
                    </a:solidFill>
                  </a:tcPr>
                </a:tc>
              </a:tr>
            </a:tbl>
          </a:graphicData>
        </a:graphic>
      </p:graphicFrame>
      <p:sp>
        <p:nvSpPr>
          <p:cNvPr id="4" name="Title 3"/>
          <p:cNvSpPr>
            <a:spLocks noGrp="1"/>
          </p:cNvSpPr>
          <p:nvPr>
            <p:ph type="title"/>
          </p:nvPr>
        </p:nvSpPr>
        <p:spPr/>
        <p:txBody>
          <a:bodyPr/>
          <a:lstStyle/>
          <a:p>
            <a:r>
              <a:rPr lang="en-US" dirty="0" smtClean="0"/>
              <a:t>Key findings </a:t>
            </a:r>
            <a:r>
              <a:rPr lang="en-US" dirty="0"/>
              <a:t>– Financial due diligence </a:t>
            </a:r>
            <a:r>
              <a:rPr lang="en-US" dirty="0" smtClean="0"/>
              <a:t>(</a:t>
            </a:r>
            <a:r>
              <a:rPr lang="en-US" dirty="0"/>
              <a:t>3</a:t>
            </a:r>
            <a:r>
              <a:rPr lang="en-US" dirty="0" smtClean="0"/>
              <a:t> of 5)</a:t>
            </a:r>
            <a:endParaRPr lang="en-US" dirty="0"/>
          </a:p>
        </p:txBody>
      </p:sp>
      <p:sp>
        <p:nvSpPr>
          <p:cNvPr id="11" name="Titre 5"/>
          <p:cNvSpPr txBox="1">
            <a:spLocks/>
          </p:cNvSpPr>
          <p:nvPr/>
        </p:nvSpPr>
        <p:spPr bwMode="gray">
          <a:xfrm>
            <a:off x="422072" y="208109"/>
            <a:ext cx="8496000" cy="784830"/>
          </a:xfrm>
          <a:prstGeom prst="rect">
            <a:avLst/>
          </a:prstGeom>
        </p:spPr>
        <p:txBody>
          <a:bodyPr vert="horz" lIns="0" tIns="0" rIns="0" bIns="0" rtlCol="0" anchor="t" anchorCtr="0">
            <a:noAutofit/>
          </a:bodyPr>
          <a:lstStyle>
            <a:lvl1pPr algn="l" defTabSz="914400" rtl="0" eaLnBrk="1" latinLnBrk="0" hangingPunct="1">
              <a:lnSpc>
                <a:spcPct val="70000"/>
              </a:lnSpc>
              <a:spcBef>
                <a:spcPct val="0"/>
              </a:spcBef>
              <a:buNone/>
              <a:defRPr sz="3800" kern="1200">
                <a:solidFill>
                  <a:schemeClr val="tx2"/>
                </a:solidFill>
                <a:latin typeface="+mj-lt"/>
                <a:ea typeface="+mj-ea"/>
                <a:cs typeface="+mj-cs"/>
              </a:defRPr>
            </a:lvl1pPr>
          </a:lstStyle>
          <a:p>
            <a:r>
              <a:rPr lang="en-CA" sz="2400" dirty="0" smtClean="0">
                <a:solidFill>
                  <a:prstClr val="white">
                    <a:lumMod val="50000"/>
                  </a:prstClr>
                </a:solidFill>
              </a:rPr>
              <a:t>Executive summary</a:t>
            </a:r>
            <a:r>
              <a:rPr lang="en-CA" dirty="0" smtClean="0">
                <a:solidFill>
                  <a:srgbClr val="00338D"/>
                </a:solidFill>
              </a:rPr>
              <a:t/>
            </a:r>
            <a:br>
              <a:rPr lang="en-CA" dirty="0" smtClean="0">
                <a:solidFill>
                  <a:srgbClr val="00338D"/>
                </a:solidFill>
              </a:rPr>
            </a:br>
            <a:endParaRPr lang="en-CA" sz="4000" dirty="0">
              <a:solidFill>
                <a:srgbClr val="00338D"/>
              </a:solidFill>
            </a:endParaRPr>
          </a:p>
        </p:txBody>
      </p:sp>
      <p:sp>
        <p:nvSpPr>
          <p:cNvPr id="10" name="TextBox 9"/>
          <p:cNvSpPr txBox="1"/>
          <p:nvPr/>
        </p:nvSpPr>
        <p:spPr>
          <a:xfrm>
            <a:off x="1905183" y="3445986"/>
            <a:ext cx="2820697" cy="183648"/>
          </a:xfrm>
          <a:prstGeom prst="rect">
            <a:avLst/>
          </a:prstGeom>
          <a:noFill/>
        </p:spPr>
        <p:txBody>
          <a:bodyPr wrap="square" lIns="54610" tIns="54610" rIns="54610" bIns="54610" rtlCol="0">
            <a:noAutofit/>
          </a:bodyPr>
          <a:lstStyle/>
          <a:p>
            <a:r>
              <a:rPr lang="en-US" sz="600" i="1" dirty="0" smtClean="0">
                <a:latin typeface="Univers for KPMG" panose="020B0603020202020204" pitchFamily="34" charset="0"/>
              </a:rPr>
              <a:t>Source</a:t>
            </a:r>
            <a:r>
              <a:rPr lang="en-US" sz="600" i="1" dirty="0">
                <a:latin typeface="Univers for KPMG" panose="020B0603020202020204" pitchFamily="34" charset="0"/>
              </a:rPr>
              <a:t>: Management provided information; KPMG </a:t>
            </a:r>
            <a:r>
              <a:rPr lang="en-US" sz="600" i="1" dirty="0" smtClean="0">
                <a:latin typeface="Univers for KPMG" panose="020B0603020202020204" pitchFamily="34" charset="0"/>
              </a:rPr>
              <a:t>analysis</a:t>
            </a:r>
            <a:endParaRPr lang="en-US" sz="600" i="1" dirty="0">
              <a:latin typeface="Univers for KPMG" panose="020B0603020202020204" pitchFamily="34" charset="0"/>
            </a:endParaRPr>
          </a:p>
        </p:txBody>
      </p:sp>
      <p:pic>
        <p:nvPicPr>
          <p:cNvPr id="2" name="Picture 1"/>
          <p:cNvPicPr>
            <a:picLocks noChangeAspect="1"/>
          </p:cNvPicPr>
          <p:nvPr/>
        </p:nvPicPr>
        <p:blipFill>
          <a:blip r:embed="rId3"/>
          <a:stretch>
            <a:fillRect/>
          </a:stretch>
        </p:blipFill>
        <p:spPr>
          <a:xfrm>
            <a:off x="1962849" y="1498050"/>
            <a:ext cx="2426423" cy="1999361"/>
          </a:xfrm>
          <a:prstGeom prst="rect">
            <a:avLst/>
          </a:prstGeom>
        </p:spPr>
      </p:pic>
    </p:spTree>
    <p:extLst>
      <p:ext uri="{BB962C8B-B14F-4D97-AF65-F5344CB8AC3E}">
        <p14:creationId xmlns:p14="http://schemas.microsoft.com/office/powerpoint/2010/main" val="330792097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6" name="Group 3"/>
          <p:cNvGraphicFramePr>
            <a:graphicFrameLocks noGrp="1"/>
          </p:cNvGraphicFramePr>
          <p:nvPr>
            <p:extLst>
              <p:ext uri="{D42A27DB-BD31-4B8C-83A1-F6EECF244321}">
                <p14:modId xmlns:p14="http://schemas.microsoft.com/office/powerpoint/2010/main" val="1580573107"/>
              </p:ext>
            </p:extLst>
          </p:nvPr>
        </p:nvGraphicFramePr>
        <p:xfrm>
          <a:off x="431799" y="1024128"/>
          <a:ext cx="8280401" cy="3459480"/>
        </p:xfrm>
        <a:graphic>
          <a:graphicData uri="http://schemas.openxmlformats.org/drawingml/2006/table">
            <a:tbl>
              <a:tblPr/>
              <a:tblGrid>
                <a:gridCol w="1315502"/>
                <a:gridCol w="6164104"/>
                <a:gridCol w="800795"/>
              </a:tblGrid>
              <a:tr h="205245">
                <a:tc>
                  <a:txBody>
                    <a:bodyPr/>
                    <a:lstStyle/>
                    <a:p>
                      <a:pPr marL="0" marR="0" lvl="1" indent="0" algn="l" defTabSz="914400" rtl="0" eaLnBrk="1" fontAlgn="base" latinLnBrk="0" hangingPunct="1">
                        <a:lnSpc>
                          <a:spcPct val="100000"/>
                        </a:lnSpc>
                        <a:spcBef>
                          <a:spcPts val="0"/>
                        </a:spcBef>
                        <a:spcAft>
                          <a:spcPts val="600"/>
                        </a:spcAft>
                        <a:buClrTx/>
                        <a:buSzTx/>
                        <a:buFontTx/>
                        <a:buNone/>
                        <a:tabLst/>
                      </a:pPr>
                      <a:r>
                        <a:rPr lang="en-US" sz="900" b="1" kern="1200" dirty="0" smtClean="0">
                          <a:solidFill>
                            <a:schemeClr val="bg1"/>
                          </a:solidFill>
                          <a:latin typeface="Univers for KPMG" panose="020B0603020202020204" pitchFamily="34" charset="0"/>
                          <a:ea typeface="+mn-ea"/>
                          <a:cs typeface="+mn-cs"/>
                        </a:rPr>
                        <a:t>Finding</a:t>
                      </a:r>
                    </a:p>
                  </a:txBody>
                  <a:tcPr marL="45720" marR="45720" anchor="b" horzOverflow="overflow">
                    <a:lnL w="6350" cap="flat" cmpd="sng" algn="ctr">
                      <a:solidFill>
                        <a:srgbClr val="00338D"/>
                      </a:solidFill>
                      <a:prstDash val="solid"/>
                      <a:round/>
                      <a:headEnd type="none" w="med" len="med"/>
                      <a:tailEnd type="none" w="med" len="med"/>
                    </a:lnL>
                    <a:lnR w="6350" cap="flat" cmpd="sng" algn="ctr">
                      <a:solidFill>
                        <a:srgbClr val="00338D"/>
                      </a:solidFill>
                      <a:prstDash val="solid"/>
                      <a:round/>
                      <a:headEnd type="none" w="med" len="med"/>
                      <a:tailEnd type="none" w="med" len="med"/>
                    </a:lnR>
                    <a:lnT w="6350" cap="flat" cmpd="sng" algn="ctr">
                      <a:solidFill>
                        <a:srgbClr val="00338D"/>
                      </a:solidFill>
                      <a:prstDash val="solid"/>
                      <a:round/>
                      <a:headEnd type="none" w="med" len="med"/>
                      <a:tailEnd type="none" w="med" len="med"/>
                    </a:lnT>
                    <a:lnB w="6350" cap="flat" cmpd="sng" algn="ctr">
                      <a:solidFill>
                        <a:srgbClr val="00338D"/>
                      </a:solidFill>
                      <a:prstDash val="solid"/>
                      <a:round/>
                      <a:headEnd type="none" w="med" len="med"/>
                      <a:tailEnd type="none" w="med" len="med"/>
                    </a:lnB>
                    <a:lnTlToBr>
                      <a:noFill/>
                    </a:lnTlToBr>
                    <a:lnBlToTr>
                      <a:noFill/>
                    </a:lnBlToTr>
                    <a:solidFill>
                      <a:srgbClr val="00338D"/>
                    </a:solidFill>
                  </a:tcPr>
                </a:tc>
                <a:tc>
                  <a:txBody>
                    <a:bodyPr/>
                    <a:lstStyle/>
                    <a:p>
                      <a:pPr marL="0" marR="0" lvl="1" indent="0" algn="l" defTabSz="914400" rtl="0" eaLnBrk="1" fontAlgn="auto" latinLnBrk="0" hangingPunct="1">
                        <a:lnSpc>
                          <a:spcPct val="100000"/>
                        </a:lnSpc>
                        <a:spcBef>
                          <a:spcPts val="0"/>
                        </a:spcBef>
                        <a:spcAft>
                          <a:spcPts val="600"/>
                        </a:spcAft>
                        <a:buClr>
                          <a:srgbClr val="97989A"/>
                        </a:buClr>
                        <a:buSzTx/>
                        <a:buFontTx/>
                        <a:buNone/>
                        <a:tabLst/>
                        <a:defRPr/>
                      </a:pPr>
                      <a:r>
                        <a:rPr lang="en-US" sz="900" b="1" kern="1200" noProof="0" dirty="0" smtClean="0">
                          <a:solidFill>
                            <a:schemeClr val="bg1"/>
                          </a:solidFill>
                          <a:latin typeface="Univers for KPMG" panose="020B0603020202020204" pitchFamily="34" charset="0"/>
                          <a:ea typeface="+mn-ea"/>
                          <a:cs typeface="+mn-cs"/>
                        </a:rPr>
                        <a:t>Summary observations</a:t>
                      </a:r>
                    </a:p>
                  </a:txBody>
                  <a:tcPr marL="45720" marR="45720" anchor="b" horzOverflow="overflow">
                    <a:lnL w="6350" cap="flat" cmpd="sng" algn="ctr">
                      <a:solidFill>
                        <a:srgbClr val="00338D"/>
                      </a:solidFill>
                      <a:prstDash val="solid"/>
                      <a:round/>
                      <a:headEnd type="none" w="med" len="med"/>
                      <a:tailEnd type="none" w="med" len="med"/>
                    </a:lnL>
                    <a:lnR w="6350" cap="flat" cmpd="sng" algn="ctr">
                      <a:solidFill>
                        <a:srgbClr val="00338D"/>
                      </a:solidFill>
                      <a:prstDash val="solid"/>
                      <a:round/>
                      <a:headEnd type="none" w="med" len="med"/>
                      <a:tailEnd type="none" w="med" len="med"/>
                    </a:lnR>
                    <a:lnT w="6350" cap="flat" cmpd="sng" algn="ctr">
                      <a:solidFill>
                        <a:srgbClr val="00338D"/>
                      </a:solidFill>
                      <a:prstDash val="solid"/>
                      <a:round/>
                      <a:headEnd type="none" w="med" len="med"/>
                      <a:tailEnd type="none" w="med" len="med"/>
                    </a:lnT>
                    <a:lnB w="6350" cap="flat" cmpd="sng" algn="ctr">
                      <a:solidFill>
                        <a:srgbClr val="00338D"/>
                      </a:solidFill>
                      <a:prstDash val="solid"/>
                      <a:round/>
                      <a:headEnd type="none" w="med" len="med"/>
                      <a:tailEnd type="none" w="med" len="med"/>
                    </a:lnB>
                    <a:lnTlToBr>
                      <a:noFill/>
                    </a:lnTlToBr>
                    <a:lnBlToTr>
                      <a:noFill/>
                    </a:lnBlToTr>
                    <a:solidFill>
                      <a:srgbClr val="00338D"/>
                    </a:solidFill>
                  </a:tcPr>
                </a:tc>
                <a:tc>
                  <a:txBody>
                    <a:bodyPr/>
                    <a:lstStyle/>
                    <a:p>
                      <a:pPr marL="0" marR="0" lvl="1" indent="0" algn="l" defTabSz="914400" rtl="0" eaLnBrk="1" fontAlgn="auto" latinLnBrk="0" hangingPunct="1">
                        <a:lnSpc>
                          <a:spcPct val="100000"/>
                        </a:lnSpc>
                        <a:spcBef>
                          <a:spcPts val="0"/>
                        </a:spcBef>
                        <a:spcAft>
                          <a:spcPts val="600"/>
                        </a:spcAft>
                        <a:buClr>
                          <a:srgbClr val="97989A"/>
                        </a:buClr>
                        <a:buSzTx/>
                        <a:buFontTx/>
                        <a:buNone/>
                        <a:tabLst/>
                        <a:defRPr/>
                      </a:pPr>
                      <a:r>
                        <a:rPr lang="en-US" sz="900" b="1" kern="1200" noProof="0" dirty="0" smtClean="0">
                          <a:solidFill>
                            <a:schemeClr val="bg1"/>
                          </a:solidFill>
                          <a:latin typeface="Univers for KPMG" panose="020B0603020202020204" pitchFamily="34" charset="0"/>
                          <a:ea typeface="+mn-ea"/>
                          <a:cs typeface="+mn-cs"/>
                        </a:rPr>
                        <a:t>Key analysis</a:t>
                      </a:r>
                    </a:p>
                  </a:txBody>
                  <a:tcPr marL="45720" marR="45720" anchor="b" horzOverflow="overflow">
                    <a:lnL w="6350" cap="flat" cmpd="sng" algn="ctr">
                      <a:solidFill>
                        <a:srgbClr val="00338D"/>
                      </a:solidFill>
                      <a:prstDash val="solid"/>
                      <a:round/>
                      <a:headEnd type="none" w="med" len="med"/>
                      <a:tailEnd type="none" w="med" len="med"/>
                    </a:lnL>
                    <a:lnR w="6350" cap="flat" cmpd="sng" algn="ctr">
                      <a:solidFill>
                        <a:srgbClr val="00338D"/>
                      </a:solidFill>
                      <a:prstDash val="solid"/>
                      <a:round/>
                      <a:headEnd type="none" w="med" len="med"/>
                      <a:tailEnd type="none" w="med" len="med"/>
                    </a:lnR>
                    <a:lnT w="6350" cap="flat" cmpd="sng" algn="ctr">
                      <a:solidFill>
                        <a:srgbClr val="00338D"/>
                      </a:solidFill>
                      <a:prstDash val="solid"/>
                      <a:round/>
                      <a:headEnd type="none" w="med" len="med"/>
                      <a:tailEnd type="none" w="med" len="med"/>
                    </a:lnT>
                    <a:lnB w="6350" cap="flat" cmpd="sng" algn="ctr">
                      <a:solidFill>
                        <a:srgbClr val="00338D"/>
                      </a:solidFill>
                      <a:prstDash val="solid"/>
                      <a:round/>
                      <a:headEnd type="none" w="med" len="med"/>
                      <a:tailEnd type="none" w="med" len="med"/>
                    </a:lnB>
                    <a:lnTlToBr>
                      <a:noFill/>
                    </a:lnTlToBr>
                    <a:lnBlToTr>
                      <a:noFill/>
                    </a:lnBlToTr>
                    <a:solidFill>
                      <a:srgbClr val="00338D"/>
                    </a:solidFill>
                  </a:tcPr>
                </a:tc>
              </a:tr>
              <a:tr h="2853605">
                <a:tc>
                  <a:txBody>
                    <a:bodyPr/>
                    <a:lstStyle/>
                    <a:p>
                      <a:pPr marL="0" marR="0" lvl="1" indent="0" algn="l" defTabSz="914400" rtl="0" eaLnBrk="1" fontAlgn="base" latinLnBrk="0" hangingPunct="1">
                        <a:lnSpc>
                          <a:spcPct val="100000"/>
                        </a:lnSpc>
                        <a:spcBef>
                          <a:spcPts val="0"/>
                        </a:spcBef>
                        <a:spcAft>
                          <a:spcPts val="600"/>
                        </a:spcAft>
                        <a:buClrTx/>
                        <a:buSzTx/>
                        <a:buFontTx/>
                        <a:buNone/>
                        <a:tabLst/>
                        <a:defRPr/>
                      </a:pPr>
                      <a:r>
                        <a:rPr lang="en-US" sz="900" b="1" kern="1200" dirty="0" smtClean="0">
                          <a:solidFill>
                            <a:srgbClr val="00338D"/>
                          </a:solidFill>
                          <a:latin typeface="Univers for KPMG" panose="020B0603020202020204" pitchFamily="34" charset="0"/>
                          <a:ea typeface="+mn-ea"/>
                          <a:cs typeface="+mn-cs"/>
                        </a:rPr>
                        <a:t>Financial</a:t>
                      </a:r>
                      <a:r>
                        <a:rPr lang="en-US" sz="900" b="1" kern="1200" baseline="0" dirty="0" smtClean="0">
                          <a:solidFill>
                            <a:srgbClr val="00338D"/>
                          </a:solidFill>
                          <a:latin typeface="Univers for KPMG" panose="020B0603020202020204" pitchFamily="34" charset="0"/>
                          <a:ea typeface="+mn-ea"/>
                          <a:cs typeface="+mn-cs"/>
                        </a:rPr>
                        <a:t> reporting </a:t>
                      </a:r>
                      <a:r>
                        <a:rPr lang="en-US" sz="900" b="1" kern="1200" dirty="0" smtClean="0">
                          <a:solidFill>
                            <a:srgbClr val="00338D"/>
                          </a:solidFill>
                          <a:latin typeface="Univers for KPMG" panose="020B0603020202020204" pitchFamily="34" charset="0"/>
                          <a:ea typeface="+mn-ea"/>
                          <a:cs typeface="+mn-cs"/>
                        </a:rPr>
                        <a:t>function</a:t>
                      </a:r>
                    </a:p>
                    <a:p>
                      <a:pPr marL="0" marR="0" lvl="1" indent="0" algn="l" defTabSz="914400" rtl="0" eaLnBrk="1" fontAlgn="base" latinLnBrk="0" hangingPunct="1">
                        <a:lnSpc>
                          <a:spcPct val="100000"/>
                        </a:lnSpc>
                        <a:spcBef>
                          <a:spcPts val="0"/>
                        </a:spcBef>
                        <a:spcAft>
                          <a:spcPts val="600"/>
                        </a:spcAft>
                        <a:buClrTx/>
                        <a:buSzTx/>
                        <a:buFontTx/>
                        <a:buNone/>
                        <a:tabLst/>
                        <a:defRPr/>
                      </a:pPr>
                      <a:r>
                        <a:rPr lang="en-US" sz="900" b="0" kern="1200" baseline="0" dirty="0" smtClean="0">
                          <a:solidFill>
                            <a:srgbClr val="00338D"/>
                          </a:solidFill>
                          <a:latin typeface="Univers for KPMG" panose="020B0603020202020204" pitchFamily="34" charset="0"/>
                          <a:ea typeface="+mn-ea"/>
                          <a:cs typeface="+mn-cs"/>
                        </a:rPr>
                        <a:t>There were various financial processes and procedures identified during due diligence that may need to be improved under DWHP’s ownership. </a:t>
                      </a:r>
                    </a:p>
                  </a:txBody>
                  <a:tcPr marL="45720" marR="45720" horzOverflow="overflow">
                    <a:lnL w="6350" cap="flat" cmpd="sng" algn="ctr">
                      <a:solidFill>
                        <a:srgbClr val="00338D"/>
                      </a:solidFill>
                      <a:prstDash val="solid"/>
                      <a:round/>
                      <a:headEnd type="none" w="med" len="med"/>
                      <a:tailEnd type="none" w="med" len="med"/>
                    </a:lnL>
                    <a:lnR w="6350" cap="flat" cmpd="sng" algn="ctr">
                      <a:solidFill>
                        <a:srgbClr val="00338D"/>
                      </a:solidFill>
                      <a:prstDash val="solid"/>
                      <a:round/>
                      <a:headEnd type="none" w="med" len="med"/>
                      <a:tailEnd type="none" w="med" len="med"/>
                    </a:lnR>
                    <a:lnT w="6350" cap="flat" cmpd="sng" algn="ctr">
                      <a:solidFill>
                        <a:srgbClr val="00338D"/>
                      </a:solidFill>
                      <a:prstDash val="solid"/>
                      <a:round/>
                      <a:headEnd type="none" w="med" len="med"/>
                      <a:tailEnd type="none" w="med" len="med"/>
                    </a:lnT>
                    <a:lnB w="6350" cap="flat" cmpd="sng" algn="ctr">
                      <a:solidFill>
                        <a:srgbClr val="00338D"/>
                      </a:solidFill>
                      <a:prstDash val="solid"/>
                      <a:round/>
                      <a:headEnd type="none" w="med" len="med"/>
                      <a:tailEnd type="none" w="med" len="med"/>
                    </a:lnB>
                    <a:lnTlToBr>
                      <a:noFill/>
                    </a:lnTlToBr>
                    <a:lnBlToTr>
                      <a:noFill/>
                    </a:lnBlToTr>
                    <a:solidFill>
                      <a:schemeClr val="bg1"/>
                    </a:solidFill>
                  </a:tcPr>
                </a:tc>
                <a:tc>
                  <a:txBody>
                    <a:bodyPr/>
                    <a:lstStyle/>
                    <a:p>
                      <a:pPr marL="177800" marR="0" lvl="2" indent="-177800" algn="l" defTabSz="914400" rtl="0" eaLnBrk="1" fontAlgn="auto" latinLnBrk="0" hangingPunct="1">
                        <a:lnSpc>
                          <a:spcPct val="100000"/>
                        </a:lnSpc>
                        <a:spcBef>
                          <a:spcPts val="600"/>
                        </a:spcBef>
                        <a:spcAft>
                          <a:spcPts val="0"/>
                        </a:spcAft>
                        <a:buClr>
                          <a:srgbClr val="97989A"/>
                        </a:buClr>
                        <a:buSzTx/>
                        <a:buFont typeface="Arial" pitchFamily="34" charset="0"/>
                        <a:buChar char="■"/>
                        <a:tabLst/>
                        <a:defRPr/>
                      </a:pPr>
                      <a:r>
                        <a:rPr kumimoji="0" lang="en-US" sz="900" b="0" i="0" u="none" strike="noStrike" kern="1200" cap="none" spc="0" normalizeH="0" baseline="0" noProof="0" dirty="0" smtClean="0">
                          <a:ln>
                            <a:noFill/>
                          </a:ln>
                          <a:solidFill>
                            <a:srgbClr val="000000"/>
                          </a:solidFill>
                          <a:effectLst/>
                          <a:uLnTx/>
                          <a:uFillTx/>
                          <a:latin typeface="Univers for KPMG" panose="020B0603020202020204" pitchFamily="34" charset="0"/>
                          <a:ea typeface="+mn-ea"/>
                          <a:cs typeface="Arial" pitchFamily="34" charset="0"/>
                        </a:rPr>
                        <a:t>The Company’s finance and accounting team is comprised of an accounting manager and several clerks located at the Company’s head office in New Jersey, USA.  Additional employees supporting the bookkeeping, accounts payable, accounts receivable, and payroll processing functions are located in India.</a:t>
                      </a:r>
                    </a:p>
                    <a:p>
                      <a:pPr marL="177800" marR="0" lvl="2" indent="-177800" algn="l" defTabSz="914400" rtl="0" eaLnBrk="1" fontAlgn="auto" latinLnBrk="0" hangingPunct="1">
                        <a:lnSpc>
                          <a:spcPct val="100000"/>
                        </a:lnSpc>
                        <a:spcBef>
                          <a:spcPts val="600"/>
                        </a:spcBef>
                        <a:spcAft>
                          <a:spcPts val="0"/>
                        </a:spcAft>
                        <a:buClr>
                          <a:srgbClr val="97989A"/>
                        </a:buClr>
                        <a:buSzTx/>
                        <a:buFont typeface="Arial" pitchFamily="34" charset="0"/>
                        <a:buChar char="■"/>
                        <a:tabLst/>
                        <a:defRPr/>
                      </a:pPr>
                      <a:r>
                        <a:rPr lang="en-US" sz="900" dirty="0" smtClean="0">
                          <a:solidFill>
                            <a:schemeClr val="tx1"/>
                          </a:solidFill>
                          <a:latin typeface="Univers for KPMG" panose="020B0603020202020204" pitchFamily="34" charset="0"/>
                        </a:rPr>
                        <a:t>The</a:t>
                      </a:r>
                      <a:r>
                        <a:rPr lang="en-US" sz="900" baseline="0" dirty="0" smtClean="0">
                          <a:solidFill>
                            <a:schemeClr val="tx1"/>
                          </a:solidFill>
                          <a:latin typeface="Univers for KPMG" panose="020B0603020202020204" pitchFamily="34" charset="0"/>
                        </a:rPr>
                        <a:t> Company’s finance department has historically not included a CFO and/or a Controller.</a:t>
                      </a:r>
                      <a:r>
                        <a:rPr lang="en-US" sz="900" dirty="0" smtClean="0">
                          <a:solidFill>
                            <a:schemeClr val="tx1"/>
                          </a:solidFill>
                          <a:latin typeface="Univers for KPMG" panose="020B0603020202020204" pitchFamily="34" charset="0"/>
                        </a:rPr>
                        <a:t> In December 2017, the Company hired an external consultant to support the contemplated transaction.</a:t>
                      </a:r>
                      <a:r>
                        <a:rPr lang="en-US" sz="900" baseline="0" dirty="0" smtClean="0">
                          <a:solidFill>
                            <a:schemeClr val="tx1"/>
                          </a:solidFill>
                          <a:latin typeface="Univers for KPMG" panose="020B0603020202020204" pitchFamily="34" charset="0"/>
                        </a:rPr>
                        <a:t> </a:t>
                      </a:r>
                      <a:r>
                        <a:rPr lang="en-US" sz="900" dirty="0" smtClean="0">
                          <a:solidFill>
                            <a:schemeClr val="tx1"/>
                          </a:solidFill>
                          <a:latin typeface="Univers for KPMG" panose="020B0603020202020204" pitchFamily="34" charset="0"/>
                        </a:rPr>
                        <a:t>The individual is tasked with the responsibilities of an interim CFO.</a:t>
                      </a:r>
                    </a:p>
                    <a:p>
                      <a:pPr marL="177800" marR="0" lvl="2" indent="-177800" algn="l" defTabSz="914400" rtl="0" eaLnBrk="1" fontAlgn="auto" latinLnBrk="0" hangingPunct="1">
                        <a:lnSpc>
                          <a:spcPct val="100000"/>
                        </a:lnSpc>
                        <a:spcBef>
                          <a:spcPts val="600"/>
                        </a:spcBef>
                        <a:spcAft>
                          <a:spcPts val="0"/>
                        </a:spcAft>
                        <a:buClr>
                          <a:srgbClr val="97989A"/>
                        </a:buClr>
                        <a:buSzTx/>
                        <a:buFont typeface="Arial" pitchFamily="34" charset="0"/>
                        <a:buChar char="■"/>
                        <a:tabLst/>
                        <a:defRPr/>
                      </a:pPr>
                      <a:r>
                        <a:rPr lang="en-US" sz="900" dirty="0" smtClean="0">
                          <a:solidFill>
                            <a:schemeClr val="tx1"/>
                          </a:solidFill>
                          <a:latin typeface="Univers for KPMG" panose="020B0603020202020204" pitchFamily="34" charset="0"/>
                        </a:rPr>
                        <a:t>Historically,</a:t>
                      </a:r>
                      <a:r>
                        <a:rPr lang="en-US" sz="900" baseline="0" dirty="0" smtClean="0">
                          <a:solidFill>
                            <a:schemeClr val="tx1"/>
                          </a:solidFill>
                          <a:latin typeface="Univers for KPMG" panose="020B0603020202020204" pitchFamily="34" charset="0"/>
                        </a:rPr>
                        <a:t> the Company’s financial reporting encompassed:</a:t>
                      </a:r>
                      <a:endParaRPr lang="en-US" sz="900" dirty="0" smtClean="0">
                        <a:solidFill>
                          <a:schemeClr val="tx1"/>
                        </a:solidFill>
                        <a:latin typeface="Univers for KPMG" panose="020B0603020202020204" pitchFamily="34" charset="0"/>
                      </a:endParaRPr>
                    </a:p>
                    <a:p>
                      <a:pPr marL="635000" marR="0" lvl="3" indent="-177800" algn="l" defTabSz="914400" rtl="0" eaLnBrk="1" fontAlgn="auto" latinLnBrk="0" hangingPunct="1">
                        <a:lnSpc>
                          <a:spcPct val="100000"/>
                        </a:lnSpc>
                        <a:spcBef>
                          <a:spcPts val="600"/>
                        </a:spcBef>
                        <a:spcAft>
                          <a:spcPts val="0"/>
                        </a:spcAft>
                        <a:buClr>
                          <a:srgbClr val="97989A"/>
                        </a:buClr>
                        <a:buSzTx/>
                        <a:buFont typeface="Univers for KPMG" panose="020B0603020202020204" pitchFamily="34" charset="0"/>
                        <a:buChar char="−"/>
                        <a:tabLst/>
                        <a:defRPr/>
                      </a:pPr>
                      <a:r>
                        <a:rPr kumimoji="0" lang="en-US" sz="900" b="0" i="0" u="none" strike="noStrike" kern="1200" cap="none" spc="0" normalizeH="0" baseline="0" noProof="0" dirty="0" smtClean="0">
                          <a:ln>
                            <a:noFill/>
                          </a:ln>
                          <a:solidFill>
                            <a:srgbClr val="000000"/>
                          </a:solidFill>
                          <a:effectLst/>
                          <a:uLnTx/>
                          <a:uFillTx/>
                          <a:latin typeface="Univers for KPMG" panose="020B0603020202020204" pitchFamily="34" charset="0"/>
                          <a:ea typeface="+mn-ea"/>
                          <a:cs typeface="Arial" pitchFamily="34" charset="0"/>
                        </a:rPr>
                        <a:t>“Soft” monthly closing procedures and relied on the assistance from their auditors for year end closing procedures. However, beginning in January 2017, the Company began to improve the monthly close process.</a:t>
                      </a:r>
                    </a:p>
                    <a:p>
                      <a:pPr marL="635000" marR="0" lvl="3" indent="-177800" algn="l" defTabSz="914400" rtl="0" eaLnBrk="1" fontAlgn="auto" latinLnBrk="0" hangingPunct="1">
                        <a:lnSpc>
                          <a:spcPct val="100000"/>
                        </a:lnSpc>
                        <a:spcBef>
                          <a:spcPts val="600"/>
                        </a:spcBef>
                        <a:spcAft>
                          <a:spcPts val="0"/>
                        </a:spcAft>
                        <a:buClr>
                          <a:srgbClr val="97989A"/>
                        </a:buClr>
                        <a:buSzTx/>
                        <a:buFont typeface="Univers for KPMG" panose="020B0603020202020204" pitchFamily="34" charset="0"/>
                        <a:buChar char="−"/>
                        <a:tabLst/>
                        <a:defRPr/>
                      </a:pPr>
                      <a:r>
                        <a:rPr lang="en-US" sz="900" baseline="0" dirty="0" smtClean="0">
                          <a:solidFill>
                            <a:schemeClr val="tx1"/>
                          </a:solidFill>
                          <a:latin typeface="Univers for KPMG" panose="020B0603020202020204" pitchFamily="34" charset="0"/>
                        </a:rPr>
                        <a:t>No monthly accruals. During the 2016 year end, Company’s auditors quantified the accrued revenue and payroll amounts. These amounts were booked by the Company however were not subsequently reversed until December 2017.</a:t>
                      </a:r>
                    </a:p>
                    <a:p>
                      <a:pPr marL="635000" marR="0" lvl="3" indent="-177800" algn="l" defTabSz="914400" rtl="0" eaLnBrk="1" fontAlgn="auto" latinLnBrk="0" hangingPunct="1">
                        <a:lnSpc>
                          <a:spcPct val="100000"/>
                        </a:lnSpc>
                        <a:spcBef>
                          <a:spcPts val="600"/>
                        </a:spcBef>
                        <a:spcAft>
                          <a:spcPts val="0"/>
                        </a:spcAft>
                        <a:buClr>
                          <a:srgbClr val="97989A"/>
                        </a:buClr>
                        <a:buSzTx/>
                        <a:buFont typeface="Univers for KPMG" panose="020B0603020202020204" pitchFamily="34" charset="0"/>
                        <a:buChar char="−"/>
                        <a:tabLst/>
                        <a:defRPr/>
                      </a:pPr>
                      <a:r>
                        <a:rPr lang="en-US" sz="900" baseline="0" dirty="0" smtClean="0">
                          <a:solidFill>
                            <a:schemeClr val="tx1"/>
                          </a:solidFill>
                          <a:latin typeface="Univers for KPMG" panose="020B0603020202020204" pitchFamily="34" charset="0"/>
                        </a:rPr>
                        <a:t>No amortization of annual prepaids. In December 2016, the Company set up prepaid assets for various items including insurance. Management did not amortize these prepaid assets on a monthly basis.</a:t>
                      </a:r>
                    </a:p>
                    <a:p>
                      <a:pPr marL="635000" marR="0" lvl="3" indent="-177800" algn="l" defTabSz="914400" rtl="0" eaLnBrk="1" fontAlgn="auto" latinLnBrk="0" hangingPunct="1">
                        <a:lnSpc>
                          <a:spcPct val="100000"/>
                        </a:lnSpc>
                        <a:spcBef>
                          <a:spcPts val="600"/>
                        </a:spcBef>
                        <a:spcAft>
                          <a:spcPts val="0"/>
                        </a:spcAft>
                        <a:buClr>
                          <a:srgbClr val="97989A"/>
                        </a:buClr>
                        <a:buSzTx/>
                        <a:buFont typeface="Univers for KPMG" panose="020B0603020202020204" pitchFamily="34" charset="0"/>
                        <a:buChar char="−"/>
                        <a:tabLst/>
                        <a:defRPr/>
                      </a:pPr>
                      <a:r>
                        <a:rPr lang="en-US" sz="900" baseline="0" dirty="0" smtClean="0">
                          <a:solidFill>
                            <a:schemeClr val="tx1"/>
                          </a:solidFill>
                          <a:latin typeface="Univers for KPMG" panose="020B0603020202020204" pitchFamily="34" charset="0"/>
                        </a:rPr>
                        <a:t>No reconciliation of intercompany balances on a monthly basis.</a:t>
                      </a:r>
                    </a:p>
                    <a:p>
                      <a:pPr marL="177800" marR="0" lvl="2" indent="-177800" algn="l" defTabSz="914400" rtl="0" eaLnBrk="1" fontAlgn="auto" latinLnBrk="0" hangingPunct="1">
                        <a:lnSpc>
                          <a:spcPct val="100000"/>
                        </a:lnSpc>
                        <a:spcBef>
                          <a:spcPts val="600"/>
                        </a:spcBef>
                        <a:spcAft>
                          <a:spcPts val="0"/>
                        </a:spcAft>
                        <a:buClr>
                          <a:srgbClr val="97989A"/>
                        </a:buClr>
                        <a:buSzTx/>
                        <a:buFont typeface="Arial" pitchFamily="34" charset="0"/>
                        <a:buChar char="■"/>
                        <a:tabLst/>
                        <a:defRPr/>
                      </a:pPr>
                      <a:r>
                        <a:rPr lang="en-US" sz="900" kern="1200" dirty="0" smtClean="0">
                          <a:solidFill>
                            <a:schemeClr val="tx1"/>
                          </a:solidFill>
                          <a:latin typeface="Univers for KPMG" panose="020B0603020202020204" pitchFamily="34" charset="0"/>
                          <a:ea typeface="+mn-ea"/>
                          <a:cs typeface="+mn-cs"/>
                        </a:rPr>
                        <a:t>In addition</a:t>
                      </a:r>
                      <a:r>
                        <a:rPr lang="en-US" sz="900" kern="1200" baseline="0" dirty="0" smtClean="0">
                          <a:solidFill>
                            <a:schemeClr val="tx1"/>
                          </a:solidFill>
                          <a:latin typeface="Univers for KPMG" panose="020B0603020202020204" pitchFamily="34" charset="0"/>
                          <a:ea typeface="+mn-ea"/>
                          <a:cs typeface="+mn-cs"/>
                        </a:rPr>
                        <a:t> to as noted above, the interim CFO is mandated with the responsibility of improving the overall financial reporting process of the Company.</a:t>
                      </a:r>
                      <a:endParaRPr lang="en-US" sz="900" kern="1200" dirty="0" smtClean="0">
                        <a:solidFill>
                          <a:schemeClr val="tx1"/>
                        </a:solidFill>
                        <a:latin typeface="Univers for KPMG" panose="020B0603020202020204" pitchFamily="34" charset="0"/>
                        <a:ea typeface="+mn-ea"/>
                        <a:cs typeface="+mn-cs"/>
                      </a:endParaRPr>
                    </a:p>
                  </a:txBody>
                  <a:tcPr marL="45720" marR="45720" horzOverflow="overflow">
                    <a:lnL w="6350" cap="flat" cmpd="sng" algn="ctr">
                      <a:solidFill>
                        <a:srgbClr val="00338D"/>
                      </a:solidFill>
                      <a:prstDash val="solid"/>
                      <a:round/>
                      <a:headEnd type="none" w="med" len="med"/>
                      <a:tailEnd type="none" w="med" len="med"/>
                    </a:lnL>
                    <a:lnR w="6350" cap="flat" cmpd="sng" algn="ctr">
                      <a:solidFill>
                        <a:srgbClr val="00338D"/>
                      </a:solidFill>
                      <a:prstDash val="solid"/>
                      <a:round/>
                      <a:headEnd type="none" w="med" len="med"/>
                      <a:tailEnd type="none" w="med" len="med"/>
                    </a:lnR>
                    <a:lnT w="6350" cap="flat" cmpd="sng" algn="ctr">
                      <a:solidFill>
                        <a:srgbClr val="00338D"/>
                      </a:solidFill>
                      <a:prstDash val="solid"/>
                      <a:round/>
                      <a:headEnd type="none" w="med" len="med"/>
                      <a:tailEnd type="none" w="med" len="med"/>
                    </a:lnT>
                    <a:lnB w="6350" cap="flat" cmpd="sng" algn="ctr">
                      <a:solidFill>
                        <a:srgbClr val="00338D"/>
                      </a:solidFill>
                      <a:prstDash val="solid"/>
                      <a:round/>
                      <a:headEnd type="none" w="med" len="med"/>
                      <a:tailEnd type="none" w="med" len="med"/>
                    </a:lnB>
                    <a:lnTlToBr>
                      <a:noFill/>
                    </a:lnTlToBr>
                    <a:lnBlToTr>
                      <a:noFill/>
                    </a:lnBlToTr>
                    <a:solidFill>
                      <a:schemeClr val="bg1"/>
                    </a:solidFill>
                  </a:tcPr>
                </a:tc>
                <a:tc>
                  <a:txBody>
                    <a:bodyPr/>
                    <a:lstStyle/>
                    <a:p>
                      <a:pPr marL="91440" marR="0" indent="0" algn="r" defTabSz="914400" eaLnBrk="1" fontAlgn="auto" latinLnBrk="0" hangingPunct="1">
                        <a:lnSpc>
                          <a:spcPct val="100000"/>
                        </a:lnSpc>
                        <a:spcBef>
                          <a:spcPts val="0"/>
                        </a:spcBef>
                        <a:spcAft>
                          <a:spcPts val="0"/>
                        </a:spcAft>
                        <a:buClrTx/>
                        <a:buSzTx/>
                        <a:buFont typeface="Arial" panose="020B0604020202020204" pitchFamily="34" charset="0"/>
                        <a:buNone/>
                        <a:tabLst/>
                        <a:defRPr/>
                      </a:pPr>
                      <a:r>
                        <a:rPr lang="en-US" sz="900" b="0" dirty="0" smtClean="0">
                          <a:solidFill>
                            <a:schemeClr val="tx1"/>
                          </a:solidFill>
                          <a:latin typeface="Univers for KPMG" panose="020B0603020202020204" pitchFamily="34" charset="0"/>
                        </a:rPr>
                        <a:t>n.a.</a:t>
                      </a:r>
                    </a:p>
                  </a:txBody>
                  <a:tcPr marL="45720" marR="45720" horzOverflow="overflow">
                    <a:lnL w="6350" cap="flat" cmpd="sng" algn="ctr">
                      <a:solidFill>
                        <a:srgbClr val="00338D"/>
                      </a:solidFill>
                      <a:prstDash val="solid"/>
                      <a:round/>
                      <a:headEnd type="none" w="med" len="med"/>
                      <a:tailEnd type="none" w="med" len="med"/>
                    </a:lnL>
                    <a:lnR w="6350" cap="flat" cmpd="sng" algn="ctr">
                      <a:solidFill>
                        <a:srgbClr val="00338D"/>
                      </a:solidFill>
                      <a:prstDash val="solid"/>
                      <a:round/>
                      <a:headEnd type="none" w="med" len="med"/>
                      <a:tailEnd type="none" w="med" len="med"/>
                    </a:lnR>
                    <a:lnT w="6350" cap="flat" cmpd="sng" algn="ctr">
                      <a:solidFill>
                        <a:srgbClr val="00338D"/>
                      </a:solidFill>
                      <a:prstDash val="solid"/>
                      <a:round/>
                      <a:headEnd type="none" w="med" len="med"/>
                      <a:tailEnd type="none" w="med" len="med"/>
                    </a:lnT>
                    <a:lnB w="6350" cap="flat" cmpd="sng" algn="ctr">
                      <a:solidFill>
                        <a:srgbClr val="00338D"/>
                      </a:solidFill>
                      <a:prstDash val="solid"/>
                      <a:round/>
                      <a:headEnd type="none" w="med" len="med"/>
                      <a:tailEnd type="none" w="med" len="med"/>
                    </a:lnB>
                    <a:lnTlToBr>
                      <a:noFill/>
                    </a:lnTlToBr>
                    <a:lnBlToTr>
                      <a:noFill/>
                    </a:lnBlToTr>
                    <a:solidFill>
                      <a:schemeClr val="bg1"/>
                    </a:solidFill>
                  </a:tcPr>
                </a:tc>
              </a:tr>
            </a:tbl>
          </a:graphicData>
        </a:graphic>
      </p:graphicFrame>
      <p:sp>
        <p:nvSpPr>
          <p:cNvPr id="4" name="Title 3"/>
          <p:cNvSpPr>
            <a:spLocks noGrp="1"/>
          </p:cNvSpPr>
          <p:nvPr>
            <p:ph type="title"/>
          </p:nvPr>
        </p:nvSpPr>
        <p:spPr/>
        <p:txBody>
          <a:bodyPr/>
          <a:lstStyle/>
          <a:p>
            <a:r>
              <a:rPr lang="en-US" dirty="0" smtClean="0"/>
              <a:t>Key findings </a:t>
            </a:r>
            <a:r>
              <a:rPr lang="en-US" dirty="0"/>
              <a:t>– Financial due diligence </a:t>
            </a:r>
            <a:r>
              <a:rPr lang="en-US" dirty="0" smtClean="0"/>
              <a:t>(</a:t>
            </a:r>
            <a:r>
              <a:rPr lang="en-US" dirty="0"/>
              <a:t>4</a:t>
            </a:r>
            <a:r>
              <a:rPr lang="en-US" dirty="0" smtClean="0"/>
              <a:t> of </a:t>
            </a:r>
            <a:r>
              <a:rPr lang="en-US" dirty="0"/>
              <a:t>5</a:t>
            </a:r>
            <a:r>
              <a:rPr lang="en-US" dirty="0" smtClean="0"/>
              <a:t>)</a:t>
            </a:r>
            <a:endParaRPr lang="en-US" dirty="0"/>
          </a:p>
        </p:txBody>
      </p:sp>
      <p:sp>
        <p:nvSpPr>
          <p:cNvPr id="11" name="Titre 5"/>
          <p:cNvSpPr txBox="1">
            <a:spLocks/>
          </p:cNvSpPr>
          <p:nvPr/>
        </p:nvSpPr>
        <p:spPr bwMode="gray">
          <a:xfrm>
            <a:off x="422072" y="208109"/>
            <a:ext cx="8496000" cy="784830"/>
          </a:xfrm>
          <a:prstGeom prst="rect">
            <a:avLst/>
          </a:prstGeom>
        </p:spPr>
        <p:txBody>
          <a:bodyPr vert="horz" lIns="0" tIns="0" rIns="0" bIns="0" rtlCol="0" anchor="t" anchorCtr="0">
            <a:noAutofit/>
          </a:bodyPr>
          <a:lstStyle>
            <a:lvl1pPr algn="l" defTabSz="914400" rtl="0" eaLnBrk="1" latinLnBrk="0" hangingPunct="1">
              <a:lnSpc>
                <a:spcPct val="70000"/>
              </a:lnSpc>
              <a:spcBef>
                <a:spcPct val="0"/>
              </a:spcBef>
              <a:buNone/>
              <a:defRPr sz="3800" kern="1200">
                <a:solidFill>
                  <a:schemeClr val="tx2"/>
                </a:solidFill>
                <a:latin typeface="+mj-lt"/>
                <a:ea typeface="+mj-ea"/>
                <a:cs typeface="+mj-cs"/>
              </a:defRPr>
            </a:lvl1pPr>
          </a:lstStyle>
          <a:p>
            <a:r>
              <a:rPr lang="en-CA" sz="2400" dirty="0" smtClean="0">
                <a:solidFill>
                  <a:prstClr val="white">
                    <a:lumMod val="50000"/>
                  </a:prstClr>
                </a:solidFill>
              </a:rPr>
              <a:t>Executive summary</a:t>
            </a:r>
            <a:r>
              <a:rPr lang="en-CA" dirty="0" smtClean="0">
                <a:solidFill>
                  <a:srgbClr val="00338D"/>
                </a:solidFill>
              </a:rPr>
              <a:t/>
            </a:r>
            <a:br>
              <a:rPr lang="en-CA" dirty="0" smtClean="0">
                <a:solidFill>
                  <a:srgbClr val="00338D"/>
                </a:solidFill>
              </a:rPr>
            </a:br>
            <a:endParaRPr lang="en-CA" sz="4000" dirty="0">
              <a:solidFill>
                <a:srgbClr val="00338D"/>
              </a:solidFill>
            </a:endParaRPr>
          </a:p>
        </p:txBody>
      </p:sp>
    </p:spTree>
    <p:extLst>
      <p:ext uri="{BB962C8B-B14F-4D97-AF65-F5344CB8AC3E}">
        <p14:creationId xmlns:p14="http://schemas.microsoft.com/office/powerpoint/2010/main" val="98639105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6" name="Group 3"/>
          <p:cNvGraphicFramePr>
            <a:graphicFrameLocks noGrp="1"/>
          </p:cNvGraphicFramePr>
          <p:nvPr>
            <p:extLst>
              <p:ext uri="{D42A27DB-BD31-4B8C-83A1-F6EECF244321}">
                <p14:modId xmlns:p14="http://schemas.microsoft.com/office/powerpoint/2010/main" val="495553402"/>
              </p:ext>
            </p:extLst>
          </p:nvPr>
        </p:nvGraphicFramePr>
        <p:xfrm>
          <a:off x="431799" y="1024128"/>
          <a:ext cx="8280401" cy="4732020"/>
        </p:xfrm>
        <a:graphic>
          <a:graphicData uri="http://schemas.openxmlformats.org/drawingml/2006/table">
            <a:tbl>
              <a:tblPr/>
              <a:tblGrid>
                <a:gridCol w="1315502"/>
                <a:gridCol w="6164104"/>
                <a:gridCol w="800795"/>
              </a:tblGrid>
              <a:tr h="205245">
                <a:tc>
                  <a:txBody>
                    <a:bodyPr/>
                    <a:lstStyle/>
                    <a:p>
                      <a:pPr marL="0" marR="0" lvl="1" indent="0" algn="l" defTabSz="914400" rtl="0" eaLnBrk="1" fontAlgn="base" latinLnBrk="0" hangingPunct="1">
                        <a:lnSpc>
                          <a:spcPct val="100000"/>
                        </a:lnSpc>
                        <a:spcBef>
                          <a:spcPts val="0"/>
                        </a:spcBef>
                        <a:spcAft>
                          <a:spcPts val="600"/>
                        </a:spcAft>
                        <a:buClrTx/>
                        <a:buSzTx/>
                        <a:buFontTx/>
                        <a:buNone/>
                        <a:tabLst/>
                      </a:pPr>
                      <a:r>
                        <a:rPr lang="en-US" sz="900" b="1" kern="1200" dirty="0" smtClean="0">
                          <a:solidFill>
                            <a:schemeClr val="bg1"/>
                          </a:solidFill>
                          <a:latin typeface="Univers for KPMG" panose="020B0603020202020204" pitchFamily="34" charset="0"/>
                          <a:ea typeface="+mn-ea"/>
                          <a:cs typeface="+mn-cs"/>
                        </a:rPr>
                        <a:t>Finding</a:t>
                      </a:r>
                    </a:p>
                  </a:txBody>
                  <a:tcPr marL="45720" marR="45720" anchor="b" horzOverflow="overflow">
                    <a:lnL w="6350" cap="flat" cmpd="sng" algn="ctr">
                      <a:solidFill>
                        <a:srgbClr val="00338D"/>
                      </a:solidFill>
                      <a:prstDash val="solid"/>
                      <a:round/>
                      <a:headEnd type="none" w="med" len="med"/>
                      <a:tailEnd type="none" w="med" len="med"/>
                    </a:lnL>
                    <a:lnR w="6350" cap="flat" cmpd="sng" algn="ctr">
                      <a:solidFill>
                        <a:srgbClr val="00338D"/>
                      </a:solidFill>
                      <a:prstDash val="solid"/>
                      <a:round/>
                      <a:headEnd type="none" w="med" len="med"/>
                      <a:tailEnd type="none" w="med" len="med"/>
                    </a:lnR>
                    <a:lnT w="6350" cap="flat" cmpd="sng" algn="ctr">
                      <a:solidFill>
                        <a:srgbClr val="00338D"/>
                      </a:solidFill>
                      <a:prstDash val="solid"/>
                      <a:round/>
                      <a:headEnd type="none" w="med" len="med"/>
                      <a:tailEnd type="none" w="med" len="med"/>
                    </a:lnT>
                    <a:lnB w="6350" cap="flat" cmpd="sng" algn="ctr">
                      <a:solidFill>
                        <a:srgbClr val="00338D"/>
                      </a:solidFill>
                      <a:prstDash val="solid"/>
                      <a:round/>
                      <a:headEnd type="none" w="med" len="med"/>
                      <a:tailEnd type="none" w="med" len="med"/>
                    </a:lnB>
                    <a:lnTlToBr>
                      <a:noFill/>
                    </a:lnTlToBr>
                    <a:lnBlToTr>
                      <a:noFill/>
                    </a:lnBlToTr>
                    <a:solidFill>
                      <a:srgbClr val="00338D"/>
                    </a:solidFill>
                  </a:tcPr>
                </a:tc>
                <a:tc>
                  <a:txBody>
                    <a:bodyPr/>
                    <a:lstStyle/>
                    <a:p>
                      <a:pPr marL="0" marR="0" lvl="1" indent="0" algn="l" defTabSz="914400" rtl="0" eaLnBrk="1" fontAlgn="auto" latinLnBrk="0" hangingPunct="1">
                        <a:lnSpc>
                          <a:spcPct val="100000"/>
                        </a:lnSpc>
                        <a:spcBef>
                          <a:spcPts val="0"/>
                        </a:spcBef>
                        <a:spcAft>
                          <a:spcPts val="600"/>
                        </a:spcAft>
                        <a:buClr>
                          <a:srgbClr val="97989A"/>
                        </a:buClr>
                        <a:buSzTx/>
                        <a:buFontTx/>
                        <a:buNone/>
                        <a:tabLst/>
                        <a:defRPr/>
                      </a:pPr>
                      <a:r>
                        <a:rPr lang="en-US" sz="900" b="1" kern="1200" noProof="0" dirty="0" smtClean="0">
                          <a:solidFill>
                            <a:schemeClr val="bg1"/>
                          </a:solidFill>
                          <a:latin typeface="Univers for KPMG" panose="020B0603020202020204" pitchFamily="34" charset="0"/>
                          <a:ea typeface="+mn-ea"/>
                          <a:cs typeface="+mn-cs"/>
                        </a:rPr>
                        <a:t>Summary observations</a:t>
                      </a:r>
                    </a:p>
                  </a:txBody>
                  <a:tcPr marL="45720" marR="45720" anchor="b" horzOverflow="overflow">
                    <a:lnL w="6350" cap="flat" cmpd="sng" algn="ctr">
                      <a:solidFill>
                        <a:srgbClr val="00338D"/>
                      </a:solidFill>
                      <a:prstDash val="solid"/>
                      <a:round/>
                      <a:headEnd type="none" w="med" len="med"/>
                      <a:tailEnd type="none" w="med" len="med"/>
                    </a:lnL>
                    <a:lnR w="6350" cap="flat" cmpd="sng" algn="ctr">
                      <a:solidFill>
                        <a:srgbClr val="00338D"/>
                      </a:solidFill>
                      <a:prstDash val="solid"/>
                      <a:round/>
                      <a:headEnd type="none" w="med" len="med"/>
                      <a:tailEnd type="none" w="med" len="med"/>
                    </a:lnR>
                    <a:lnT w="6350" cap="flat" cmpd="sng" algn="ctr">
                      <a:solidFill>
                        <a:srgbClr val="00338D"/>
                      </a:solidFill>
                      <a:prstDash val="solid"/>
                      <a:round/>
                      <a:headEnd type="none" w="med" len="med"/>
                      <a:tailEnd type="none" w="med" len="med"/>
                    </a:lnT>
                    <a:lnB w="6350" cap="flat" cmpd="sng" algn="ctr">
                      <a:solidFill>
                        <a:srgbClr val="00338D"/>
                      </a:solidFill>
                      <a:prstDash val="solid"/>
                      <a:round/>
                      <a:headEnd type="none" w="med" len="med"/>
                      <a:tailEnd type="none" w="med" len="med"/>
                    </a:lnB>
                    <a:lnTlToBr>
                      <a:noFill/>
                    </a:lnTlToBr>
                    <a:lnBlToTr>
                      <a:noFill/>
                    </a:lnBlToTr>
                    <a:solidFill>
                      <a:srgbClr val="00338D"/>
                    </a:solidFill>
                  </a:tcPr>
                </a:tc>
                <a:tc>
                  <a:txBody>
                    <a:bodyPr/>
                    <a:lstStyle/>
                    <a:p>
                      <a:pPr marL="0" marR="0" lvl="1" indent="0" algn="l" defTabSz="914400" rtl="0" eaLnBrk="1" fontAlgn="auto" latinLnBrk="0" hangingPunct="1">
                        <a:lnSpc>
                          <a:spcPct val="100000"/>
                        </a:lnSpc>
                        <a:spcBef>
                          <a:spcPts val="0"/>
                        </a:spcBef>
                        <a:spcAft>
                          <a:spcPts val="600"/>
                        </a:spcAft>
                        <a:buClr>
                          <a:srgbClr val="97989A"/>
                        </a:buClr>
                        <a:buSzTx/>
                        <a:buFontTx/>
                        <a:buNone/>
                        <a:tabLst/>
                        <a:defRPr/>
                      </a:pPr>
                      <a:r>
                        <a:rPr lang="en-US" sz="900" b="1" kern="1200" noProof="0" dirty="0" smtClean="0">
                          <a:solidFill>
                            <a:schemeClr val="bg1"/>
                          </a:solidFill>
                          <a:latin typeface="Univers for KPMG" panose="020B0603020202020204" pitchFamily="34" charset="0"/>
                          <a:ea typeface="+mn-ea"/>
                          <a:cs typeface="+mn-cs"/>
                        </a:rPr>
                        <a:t>Key analysis</a:t>
                      </a:r>
                    </a:p>
                  </a:txBody>
                  <a:tcPr marL="45720" marR="45720" anchor="b" horzOverflow="overflow">
                    <a:lnL w="6350" cap="flat" cmpd="sng" algn="ctr">
                      <a:solidFill>
                        <a:srgbClr val="00338D"/>
                      </a:solidFill>
                      <a:prstDash val="solid"/>
                      <a:round/>
                      <a:headEnd type="none" w="med" len="med"/>
                      <a:tailEnd type="none" w="med" len="med"/>
                    </a:lnL>
                    <a:lnR w="6350" cap="flat" cmpd="sng" algn="ctr">
                      <a:solidFill>
                        <a:srgbClr val="00338D"/>
                      </a:solidFill>
                      <a:prstDash val="solid"/>
                      <a:round/>
                      <a:headEnd type="none" w="med" len="med"/>
                      <a:tailEnd type="none" w="med" len="med"/>
                    </a:lnR>
                    <a:lnT w="6350" cap="flat" cmpd="sng" algn="ctr">
                      <a:solidFill>
                        <a:srgbClr val="00338D"/>
                      </a:solidFill>
                      <a:prstDash val="solid"/>
                      <a:round/>
                      <a:headEnd type="none" w="med" len="med"/>
                      <a:tailEnd type="none" w="med" len="med"/>
                    </a:lnT>
                    <a:lnB w="6350" cap="flat" cmpd="sng" algn="ctr">
                      <a:solidFill>
                        <a:srgbClr val="00338D"/>
                      </a:solidFill>
                      <a:prstDash val="solid"/>
                      <a:round/>
                      <a:headEnd type="none" w="med" len="med"/>
                      <a:tailEnd type="none" w="med" len="med"/>
                    </a:lnB>
                    <a:lnTlToBr>
                      <a:noFill/>
                    </a:lnTlToBr>
                    <a:lnBlToTr>
                      <a:noFill/>
                    </a:lnBlToTr>
                    <a:solidFill>
                      <a:srgbClr val="00338D"/>
                    </a:solidFill>
                  </a:tcPr>
                </a:tc>
              </a:tr>
              <a:tr h="2853605">
                <a:tc>
                  <a:txBody>
                    <a:bodyPr/>
                    <a:lstStyle/>
                    <a:p>
                      <a:pPr marL="0" marR="0" lvl="1" indent="0" algn="l" defTabSz="914400" rtl="0" eaLnBrk="1" fontAlgn="base" latinLnBrk="0" hangingPunct="1">
                        <a:lnSpc>
                          <a:spcPct val="100000"/>
                        </a:lnSpc>
                        <a:spcBef>
                          <a:spcPts val="0"/>
                        </a:spcBef>
                        <a:spcAft>
                          <a:spcPts val="600"/>
                        </a:spcAft>
                        <a:buClrTx/>
                        <a:buSzTx/>
                        <a:buFontTx/>
                        <a:buNone/>
                        <a:tabLst/>
                        <a:defRPr/>
                      </a:pPr>
                      <a:r>
                        <a:rPr lang="en-US" sz="900" b="1" kern="1200" dirty="0" smtClean="0">
                          <a:solidFill>
                            <a:srgbClr val="00338D"/>
                          </a:solidFill>
                          <a:latin typeface="Univers for KPMG" panose="020B0603020202020204" pitchFamily="34" charset="0"/>
                          <a:ea typeface="+mn-ea"/>
                          <a:cs typeface="+mn-cs"/>
                        </a:rPr>
                        <a:t>Customers</a:t>
                      </a:r>
                    </a:p>
                    <a:p>
                      <a:pPr marL="0" marR="0" lvl="1" indent="0" algn="l" defTabSz="914400" rtl="0" eaLnBrk="1" fontAlgn="base" latinLnBrk="0" hangingPunct="1">
                        <a:lnSpc>
                          <a:spcPct val="100000"/>
                        </a:lnSpc>
                        <a:spcBef>
                          <a:spcPts val="0"/>
                        </a:spcBef>
                        <a:spcAft>
                          <a:spcPts val="600"/>
                        </a:spcAft>
                        <a:buClrTx/>
                        <a:buSzTx/>
                        <a:buFontTx/>
                        <a:buNone/>
                        <a:tabLst/>
                        <a:defRPr/>
                      </a:pPr>
                      <a:r>
                        <a:rPr lang="en-US" sz="900" b="0" kern="1200" baseline="0" dirty="0" smtClean="0">
                          <a:solidFill>
                            <a:srgbClr val="00338D"/>
                          </a:solidFill>
                          <a:latin typeface="Univers for KPMG" panose="020B0603020202020204" pitchFamily="34" charset="0"/>
                          <a:ea typeface="+mn-ea"/>
                          <a:cs typeface="+mn-cs"/>
                        </a:rPr>
                        <a:t>The Company’s IT and clinical/scientific division has several key customers that account for a significant portion of the division’s revenue. </a:t>
                      </a:r>
                    </a:p>
                  </a:txBody>
                  <a:tcPr marL="45720" marR="45720" horzOverflow="overflow">
                    <a:lnL w="6350" cap="flat" cmpd="sng" algn="ctr">
                      <a:solidFill>
                        <a:srgbClr val="00338D"/>
                      </a:solidFill>
                      <a:prstDash val="solid"/>
                      <a:round/>
                      <a:headEnd type="none" w="med" len="med"/>
                      <a:tailEnd type="none" w="med" len="med"/>
                    </a:lnL>
                    <a:lnR w="6350" cap="flat" cmpd="sng" algn="ctr">
                      <a:solidFill>
                        <a:srgbClr val="00338D"/>
                      </a:solidFill>
                      <a:prstDash val="solid"/>
                      <a:round/>
                      <a:headEnd type="none" w="med" len="med"/>
                      <a:tailEnd type="none" w="med" len="med"/>
                    </a:lnR>
                    <a:lnT w="6350" cap="flat" cmpd="sng" algn="ctr">
                      <a:solidFill>
                        <a:srgbClr val="00338D"/>
                      </a:solidFill>
                      <a:prstDash val="solid"/>
                      <a:round/>
                      <a:headEnd type="none" w="med" len="med"/>
                      <a:tailEnd type="none" w="med" len="med"/>
                    </a:lnT>
                    <a:lnB w="6350" cap="flat" cmpd="sng" algn="ctr">
                      <a:solidFill>
                        <a:srgbClr val="00338D"/>
                      </a:solidFill>
                      <a:prstDash val="solid"/>
                      <a:round/>
                      <a:headEnd type="none" w="med" len="med"/>
                      <a:tailEnd type="none" w="med" len="med"/>
                    </a:lnB>
                    <a:lnTlToBr>
                      <a:noFill/>
                    </a:lnTlToBr>
                    <a:lnBlToTr>
                      <a:noFill/>
                    </a:lnBlToTr>
                    <a:solidFill>
                      <a:schemeClr val="bg1"/>
                    </a:solidFill>
                  </a:tcPr>
                </a:tc>
                <a:tc>
                  <a:txBody>
                    <a:bodyPr/>
                    <a:lstStyle/>
                    <a:p>
                      <a:pPr marL="177800" marR="0" lvl="2" indent="-177800" algn="l" defTabSz="914400" rtl="0" eaLnBrk="1" fontAlgn="auto" latinLnBrk="0" hangingPunct="1">
                        <a:lnSpc>
                          <a:spcPct val="100000"/>
                        </a:lnSpc>
                        <a:spcBef>
                          <a:spcPts val="600"/>
                        </a:spcBef>
                        <a:spcAft>
                          <a:spcPts val="0"/>
                        </a:spcAft>
                        <a:buClr>
                          <a:srgbClr val="97989A"/>
                        </a:buClr>
                        <a:buSzTx/>
                        <a:buFont typeface="Arial" pitchFamily="34" charset="0"/>
                        <a:buChar char="■"/>
                        <a:tabLst/>
                        <a:defRPr/>
                      </a:pPr>
                      <a:r>
                        <a:rPr kumimoji="0" lang="en-US" sz="900" b="0" i="0" u="none" strike="noStrike" kern="1200" cap="none" spc="0" normalizeH="0" baseline="0" noProof="0" dirty="0" smtClean="0">
                          <a:ln>
                            <a:noFill/>
                          </a:ln>
                          <a:solidFill>
                            <a:srgbClr val="000000"/>
                          </a:solidFill>
                          <a:effectLst/>
                          <a:uLnTx/>
                          <a:uFillTx/>
                          <a:latin typeface="Univers for KPMG" panose="020B0603020202020204" pitchFamily="34" charset="0"/>
                          <a:ea typeface="+mn-ea"/>
                          <a:cs typeface="Arial" pitchFamily="34" charset="0"/>
                        </a:rPr>
                        <a:t>The Company’s revenue and customer concentration by division for FY16 and FY17 for USA is summarized in the table below: </a:t>
                      </a:r>
                    </a:p>
                    <a:p>
                      <a:pPr marL="0" marR="0" lvl="2" indent="0" algn="l" defTabSz="914400" rtl="0" eaLnBrk="1" fontAlgn="auto" latinLnBrk="0" hangingPunct="1">
                        <a:lnSpc>
                          <a:spcPct val="100000"/>
                        </a:lnSpc>
                        <a:spcBef>
                          <a:spcPts val="600"/>
                        </a:spcBef>
                        <a:spcAft>
                          <a:spcPts val="0"/>
                        </a:spcAft>
                        <a:buClr>
                          <a:srgbClr val="97989A"/>
                        </a:buClr>
                        <a:buSzTx/>
                        <a:buFont typeface="Arial" pitchFamily="34" charset="0"/>
                        <a:buNone/>
                        <a:tabLst/>
                        <a:defRPr/>
                      </a:pPr>
                      <a:endParaRPr kumimoji="0" lang="en-US" sz="900" b="0" i="0" u="none" strike="noStrike" kern="1200" cap="none" spc="0" normalizeH="0" baseline="0" noProof="0" dirty="0" smtClean="0">
                        <a:ln>
                          <a:noFill/>
                        </a:ln>
                        <a:solidFill>
                          <a:srgbClr val="000000"/>
                        </a:solidFill>
                        <a:effectLst/>
                        <a:uLnTx/>
                        <a:uFillTx/>
                        <a:latin typeface="Univers for KPMG" panose="020B0603020202020204" pitchFamily="34" charset="0"/>
                        <a:ea typeface="+mn-ea"/>
                        <a:cs typeface="Arial" pitchFamily="34" charset="0"/>
                      </a:endParaRPr>
                    </a:p>
                    <a:p>
                      <a:pPr marL="0" marR="0" lvl="2" indent="0" algn="l" defTabSz="914400" rtl="0" eaLnBrk="1" fontAlgn="auto" latinLnBrk="0" hangingPunct="1">
                        <a:lnSpc>
                          <a:spcPct val="100000"/>
                        </a:lnSpc>
                        <a:spcBef>
                          <a:spcPts val="600"/>
                        </a:spcBef>
                        <a:spcAft>
                          <a:spcPts val="0"/>
                        </a:spcAft>
                        <a:buClr>
                          <a:srgbClr val="97989A"/>
                        </a:buClr>
                        <a:buSzTx/>
                        <a:buFont typeface="Arial" pitchFamily="34" charset="0"/>
                        <a:buNone/>
                        <a:tabLst/>
                        <a:defRPr/>
                      </a:pPr>
                      <a:endParaRPr kumimoji="0" lang="en-US" sz="900" b="0" i="0" u="none" strike="noStrike" kern="1200" cap="none" spc="0" normalizeH="0" baseline="0" noProof="0" dirty="0" smtClean="0">
                        <a:ln>
                          <a:noFill/>
                        </a:ln>
                        <a:solidFill>
                          <a:srgbClr val="000000"/>
                        </a:solidFill>
                        <a:effectLst/>
                        <a:uLnTx/>
                        <a:uFillTx/>
                        <a:latin typeface="Univers for KPMG" panose="020B0603020202020204" pitchFamily="34" charset="0"/>
                        <a:ea typeface="+mn-ea"/>
                        <a:cs typeface="Arial" pitchFamily="34" charset="0"/>
                      </a:endParaRPr>
                    </a:p>
                    <a:p>
                      <a:pPr marL="0" marR="0" lvl="2" indent="0" algn="l" defTabSz="914400" rtl="0" eaLnBrk="1" fontAlgn="auto" latinLnBrk="0" hangingPunct="1">
                        <a:lnSpc>
                          <a:spcPct val="100000"/>
                        </a:lnSpc>
                        <a:spcBef>
                          <a:spcPts val="600"/>
                        </a:spcBef>
                        <a:spcAft>
                          <a:spcPts val="0"/>
                        </a:spcAft>
                        <a:buClr>
                          <a:srgbClr val="97989A"/>
                        </a:buClr>
                        <a:buSzTx/>
                        <a:buFont typeface="Arial" pitchFamily="34" charset="0"/>
                        <a:buNone/>
                        <a:tabLst/>
                        <a:defRPr/>
                      </a:pPr>
                      <a:endParaRPr kumimoji="0" lang="en-US" sz="900" b="0" i="0" u="none" strike="noStrike" kern="1200" cap="none" spc="0" normalizeH="0" baseline="0" noProof="0" dirty="0" smtClean="0">
                        <a:ln>
                          <a:noFill/>
                        </a:ln>
                        <a:solidFill>
                          <a:srgbClr val="000000"/>
                        </a:solidFill>
                        <a:effectLst/>
                        <a:uLnTx/>
                        <a:uFillTx/>
                        <a:latin typeface="Univers for KPMG" panose="020B0603020202020204" pitchFamily="34" charset="0"/>
                        <a:ea typeface="+mn-ea"/>
                        <a:cs typeface="Arial" pitchFamily="34" charset="0"/>
                      </a:endParaRPr>
                    </a:p>
                    <a:p>
                      <a:pPr marL="177800" marR="0" lvl="2" indent="-177800" algn="l" defTabSz="914400" rtl="0" eaLnBrk="1" fontAlgn="auto" latinLnBrk="0" hangingPunct="1">
                        <a:lnSpc>
                          <a:spcPct val="100000"/>
                        </a:lnSpc>
                        <a:spcBef>
                          <a:spcPts val="600"/>
                        </a:spcBef>
                        <a:spcAft>
                          <a:spcPts val="0"/>
                        </a:spcAft>
                        <a:buClr>
                          <a:srgbClr val="97989A"/>
                        </a:buClr>
                        <a:buSzTx/>
                        <a:buFont typeface="Arial" pitchFamily="34" charset="0"/>
                        <a:buChar char="■"/>
                        <a:tabLst/>
                        <a:defRPr/>
                      </a:pPr>
                      <a:endParaRPr kumimoji="0" lang="en-US" sz="900" b="0" i="0" u="none" strike="noStrike" kern="1200" cap="none" spc="0" normalizeH="0" baseline="0" noProof="0" dirty="0" smtClean="0">
                        <a:ln>
                          <a:noFill/>
                        </a:ln>
                        <a:solidFill>
                          <a:srgbClr val="000000"/>
                        </a:solidFill>
                        <a:effectLst/>
                        <a:uLnTx/>
                        <a:uFillTx/>
                        <a:latin typeface="Univers for KPMG" panose="020B0603020202020204" pitchFamily="34" charset="0"/>
                        <a:ea typeface="+mn-ea"/>
                        <a:cs typeface="Arial" pitchFamily="34" charset="0"/>
                      </a:endParaRPr>
                    </a:p>
                    <a:p>
                      <a:pPr marL="177800" marR="0" lvl="2" indent="-177800" algn="l" defTabSz="914400" rtl="0" eaLnBrk="1" fontAlgn="auto" latinLnBrk="0" hangingPunct="1">
                        <a:lnSpc>
                          <a:spcPct val="100000"/>
                        </a:lnSpc>
                        <a:spcBef>
                          <a:spcPts val="600"/>
                        </a:spcBef>
                        <a:spcAft>
                          <a:spcPts val="0"/>
                        </a:spcAft>
                        <a:buClr>
                          <a:srgbClr val="97989A"/>
                        </a:buClr>
                        <a:buSzTx/>
                        <a:buFont typeface="Arial" pitchFamily="34" charset="0"/>
                        <a:buChar char="■"/>
                        <a:tabLst/>
                        <a:defRPr/>
                      </a:pPr>
                      <a:endParaRPr kumimoji="0" lang="en-US" sz="900" b="0" i="0" u="none" strike="noStrike" kern="1200" cap="none" spc="0" normalizeH="0" baseline="0" noProof="0" dirty="0" smtClean="0">
                        <a:ln>
                          <a:noFill/>
                        </a:ln>
                        <a:solidFill>
                          <a:srgbClr val="000000"/>
                        </a:solidFill>
                        <a:effectLst/>
                        <a:uLnTx/>
                        <a:uFillTx/>
                        <a:latin typeface="Univers for KPMG" panose="020B0603020202020204" pitchFamily="34" charset="0"/>
                        <a:ea typeface="+mn-ea"/>
                        <a:cs typeface="Arial" pitchFamily="34" charset="0"/>
                      </a:endParaRPr>
                    </a:p>
                    <a:p>
                      <a:pPr marL="177800" marR="0" lvl="2" indent="-177800" algn="l" defTabSz="914400" rtl="0" eaLnBrk="1" fontAlgn="auto" latinLnBrk="0" hangingPunct="1">
                        <a:lnSpc>
                          <a:spcPct val="100000"/>
                        </a:lnSpc>
                        <a:spcBef>
                          <a:spcPts val="600"/>
                        </a:spcBef>
                        <a:spcAft>
                          <a:spcPts val="0"/>
                        </a:spcAft>
                        <a:buClr>
                          <a:srgbClr val="97989A"/>
                        </a:buClr>
                        <a:buSzTx/>
                        <a:buFont typeface="Arial" pitchFamily="34" charset="0"/>
                        <a:buChar char="■"/>
                        <a:tabLst/>
                        <a:defRPr/>
                      </a:pPr>
                      <a:endParaRPr kumimoji="0" lang="en-US" sz="900" b="0" i="0" u="none" strike="noStrike" kern="1200" cap="none" spc="0" normalizeH="0" baseline="0" noProof="0" dirty="0" smtClean="0">
                        <a:ln>
                          <a:noFill/>
                        </a:ln>
                        <a:solidFill>
                          <a:srgbClr val="000000"/>
                        </a:solidFill>
                        <a:effectLst/>
                        <a:uLnTx/>
                        <a:uFillTx/>
                        <a:latin typeface="Univers for KPMG" panose="020B0603020202020204" pitchFamily="34" charset="0"/>
                        <a:ea typeface="+mn-ea"/>
                        <a:cs typeface="Arial" pitchFamily="34" charset="0"/>
                      </a:endParaRPr>
                    </a:p>
                    <a:p>
                      <a:pPr marL="177800" marR="0" lvl="2" indent="-177800" algn="l" defTabSz="914400" rtl="0" eaLnBrk="1" fontAlgn="auto" latinLnBrk="0" hangingPunct="1">
                        <a:lnSpc>
                          <a:spcPct val="100000"/>
                        </a:lnSpc>
                        <a:spcBef>
                          <a:spcPts val="600"/>
                        </a:spcBef>
                        <a:spcAft>
                          <a:spcPts val="0"/>
                        </a:spcAft>
                        <a:buClr>
                          <a:srgbClr val="97989A"/>
                        </a:buClr>
                        <a:buSzTx/>
                        <a:buFont typeface="Arial" pitchFamily="34" charset="0"/>
                        <a:buChar char="■"/>
                        <a:tabLst/>
                        <a:defRPr/>
                      </a:pPr>
                      <a:endParaRPr kumimoji="0" lang="en-US" sz="900" b="0" i="0" u="none" strike="noStrike" kern="1200" cap="none" spc="0" normalizeH="0" baseline="0" noProof="0" dirty="0" smtClean="0">
                        <a:ln>
                          <a:noFill/>
                        </a:ln>
                        <a:solidFill>
                          <a:srgbClr val="000000"/>
                        </a:solidFill>
                        <a:effectLst/>
                        <a:uLnTx/>
                        <a:uFillTx/>
                        <a:latin typeface="Univers for KPMG" panose="020B0603020202020204" pitchFamily="34" charset="0"/>
                        <a:ea typeface="+mn-ea"/>
                        <a:cs typeface="Arial" pitchFamily="34" charset="0"/>
                      </a:endParaRPr>
                    </a:p>
                    <a:p>
                      <a:pPr marL="177800" marR="0" lvl="2" indent="-177800" algn="l" defTabSz="914400" rtl="0" eaLnBrk="1" fontAlgn="auto" latinLnBrk="0" hangingPunct="1">
                        <a:lnSpc>
                          <a:spcPct val="100000"/>
                        </a:lnSpc>
                        <a:spcBef>
                          <a:spcPts val="600"/>
                        </a:spcBef>
                        <a:spcAft>
                          <a:spcPts val="0"/>
                        </a:spcAft>
                        <a:buClr>
                          <a:srgbClr val="97989A"/>
                        </a:buClr>
                        <a:buSzTx/>
                        <a:buFont typeface="Arial" pitchFamily="34" charset="0"/>
                        <a:buChar char="■"/>
                        <a:tabLst/>
                        <a:defRPr/>
                      </a:pPr>
                      <a:endParaRPr kumimoji="0" lang="en-US" sz="900" b="0" i="0" u="none" strike="noStrike" kern="1200" cap="none" spc="0" normalizeH="0" baseline="0" noProof="0" dirty="0" smtClean="0">
                        <a:ln>
                          <a:noFill/>
                        </a:ln>
                        <a:solidFill>
                          <a:srgbClr val="000000"/>
                        </a:solidFill>
                        <a:effectLst/>
                        <a:uLnTx/>
                        <a:uFillTx/>
                        <a:latin typeface="Univers for KPMG" panose="020B0603020202020204" pitchFamily="34" charset="0"/>
                        <a:ea typeface="+mn-ea"/>
                        <a:cs typeface="Arial" pitchFamily="34" charset="0"/>
                      </a:endParaRPr>
                    </a:p>
                    <a:p>
                      <a:pPr marL="177800" marR="0" lvl="2" indent="-177800" algn="l" defTabSz="914400" rtl="0" eaLnBrk="1" fontAlgn="auto" latinLnBrk="0" hangingPunct="1">
                        <a:lnSpc>
                          <a:spcPct val="100000"/>
                        </a:lnSpc>
                        <a:spcBef>
                          <a:spcPts val="600"/>
                        </a:spcBef>
                        <a:spcAft>
                          <a:spcPts val="0"/>
                        </a:spcAft>
                        <a:buClr>
                          <a:srgbClr val="97989A"/>
                        </a:buClr>
                        <a:buSzTx/>
                        <a:buFont typeface="Arial" pitchFamily="34" charset="0"/>
                        <a:buChar char="■"/>
                        <a:tabLst/>
                        <a:defRPr/>
                      </a:pPr>
                      <a:endParaRPr kumimoji="0" lang="en-US" sz="900" b="0" i="0" u="none" strike="noStrike" kern="1200" cap="none" spc="0" normalizeH="0" baseline="0" noProof="0" dirty="0" smtClean="0">
                        <a:ln>
                          <a:noFill/>
                        </a:ln>
                        <a:solidFill>
                          <a:srgbClr val="000000"/>
                        </a:solidFill>
                        <a:effectLst/>
                        <a:uLnTx/>
                        <a:uFillTx/>
                        <a:latin typeface="Univers for KPMG" panose="020B0603020202020204" pitchFamily="34" charset="0"/>
                        <a:ea typeface="+mn-ea"/>
                        <a:cs typeface="Arial" pitchFamily="34" charset="0"/>
                      </a:endParaRPr>
                    </a:p>
                    <a:p>
                      <a:pPr marL="0" marR="0" lvl="2" indent="0" algn="l" defTabSz="914400" rtl="0" eaLnBrk="1" fontAlgn="auto" latinLnBrk="0" hangingPunct="1">
                        <a:lnSpc>
                          <a:spcPct val="100000"/>
                        </a:lnSpc>
                        <a:spcBef>
                          <a:spcPts val="600"/>
                        </a:spcBef>
                        <a:spcAft>
                          <a:spcPts val="0"/>
                        </a:spcAft>
                        <a:buClr>
                          <a:srgbClr val="97989A"/>
                        </a:buClr>
                        <a:buSzTx/>
                        <a:buFont typeface="Arial" pitchFamily="34" charset="0"/>
                        <a:buNone/>
                        <a:tabLst/>
                        <a:defRPr/>
                      </a:pPr>
                      <a:endParaRPr kumimoji="0" lang="en-US" sz="900" b="0" i="0" u="none" strike="noStrike" kern="1200" cap="none" spc="0" normalizeH="0" baseline="0" noProof="0" dirty="0" smtClean="0">
                        <a:ln>
                          <a:noFill/>
                        </a:ln>
                        <a:solidFill>
                          <a:srgbClr val="000000"/>
                        </a:solidFill>
                        <a:effectLst/>
                        <a:uLnTx/>
                        <a:uFillTx/>
                        <a:latin typeface="Univers for KPMG" panose="020B0603020202020204" pitchFamily="34" charset="0"/>
                        <a:ea typeface="+mn-ea"/>
                        <a:cs typeface="Arial" pitchFamily="34" charset="0"/>
                      </a:endParaRPr>
                    </a:p>
                    <a:p>
                      <a:pPr marL="177800" marR="0" lvl="2" indent="-177800" algn="l" defTabSz="914400" rtl="0" eaLnBrk="1" fontAlgn="auto" latinLnBrk="0" hangingPunct="1">
                        <a:lnSpc>
                          <a:spcPct val="100000"/>
                        </a:lnSpc>
                        <a:spcBef>
                          <a:spcPts val="600"/>
                        </a:spcBef>
                        <a:spcAft>
                          <a:spcPts val="0"/>
                        </a:spcAft>
                        <a:buClr>
                          <a:srgbClr val="97989A"/>
                        </a:buClr>
                        <a:buSzTx/>
                        <a:buFont typeface="Arial" pitchFamily="34" charset="0"/>
                        <a:buChar char="■"/>
                        <a:tabLst/>
                        <a:defRPr/>
                      </a:pPr>
                      <a:endParaRPr kumimoji="0" lang="en-US" sz="900" b="0" i="0" u="none" strike="noStrike" kern="1200" cap="none" spc="0" normalizeH="0" baseline="0" noProof="0" dirty="0" smtClean="0">
                        <a:ln>
                          <a:noFill/>
                        </a:ln>
                        <a:solidFill>
                          <a:srgbClr val="000000"/>
                        </a:solidFill>
                        <a:effectLst/>
                        <a:uLnTx/>
                        <a:uFillTx/>
                        <a:latin typeface="Univers for KPMG" panose="020B0603020202020204" pitchFamily="34" charset="0"/>
                        <a:ea typeface="+mn-ea"/>
                        <a:cs typeface="Arial" pitchFamily="34" charset="0"/>
                      </a:endParaRPr>
                    </a:p>
                    <a:p>
                      <a:pPr marL="0" marR="0" lvl="2" indent="0" algn="l" defTabSz="914400" rtl="0" eaLnBrk="1" fontAlgn="auto" latinLnBrk="0" hangingPunct="1">
                        <a:lnSpc>
                          <a:spcPct val="100000"/>
                        </a:lnSpc>
                        <a:spcBef>
                          <a:spcPts val="600"/>
                        </a:spcBef>
                        <a:spcAft>
                          <a:spcPts val="0"/>
                        </a:spcAft>
                        <a:buClr>
                          <a:srgbClr val="97989A"/>
                        </a:buClr>
                        <a:buSzTx/>
                        <a:buFont typeface="Arial" pitchFamily="34" charset="0"/>
                        <a:buNone/>
                        <a:tabLst/>
                        <a:defRPr/>
                      </a:pPr>
                      <a:endParaRPr kumimoji="0" lang="en-US" sz="900" b="0" i="0" u="none" strike="noStrike" kern="1200" cap="none" spc="0" normalizeH="0" baseline="0" noProof="0" dirty="0" smtClean="0">
                        <a:ln>
                          <a:noFill/>
                        </a:ln>
                        <a:solidFill>
                          <a:srgbClr val="000000"/>
                        </a:solidFill>
                        <a:effectLst/>
                        <a:uLnTx/>
                        <a:uFillTx/>
                        <a:latin typeface="Univers for KPMG" panose="020B0603020202020204" pitchFamily="34" charset="0"/>
                        <a:ea typeface="+mn-ea"/>
                        <a:cs typeface="Arial" pitchFamily="34" charset="0"/>
                      </a:endParaRPr>
                    </a:p>
                    <a:p>
                      <a:pPr marL="0" marR="0" lvl="2" indent="0" algn="l" defTabSz="914400" rtl="0" eaLnBrk="1" fontAlgn="auto" latinLnBrk="0" hangingPunct="1">
                        <a:lnSpc>
                          <a:spcPct val="100000"/>
                        </a:lnSpc>
                        <a:spcBef>
                          <a:spcPts val="600"/>
                        </a:spcBef>
                        <a:spcAft>
                          <a:spcPts val="0"/>
                        </a:spcAft>
                        <a:buClr>
                          <a:srgbClr val="97989A"/>
                        </a:buClr>
                        <a:buSzTx/>
                        <a:buFont typeface="Arial" pitchFamily="34" charset="0"/>
                        <a:buNone/>
                        <a:tabLst/>
                        <a:defRPr/>
                      </a:pPr>
                      <a:endParaRPr kumimoji="0" lang="en-US" sz="900" b="0" i="0" u="none" strike="noStrike" kern="1200" cap="none" spc="0" normalizeH="0" baseline="0" noProof="0" dirty="0" smtClean="0">
                        <a:ln>
                          <a:noFill/>
                        </a:ln>
                        <a:solidFill>
                          <a:srgbClr val="000000"/>
                        </a:solidFill>
                        <a:effectLst/>
                        <a:uLnTx/>
                        <a:uFillTx/>
                        <a:latin typeface="Univers for KPMG" panose="020B0603020202020204" pitchFamily="34" charset="0"/>
                        <a:ea typeface="+mn-ea"/>
                        <a:cs typeface="Arial" pitchFamily="34" charset="0"/>
                      </a:endParaRPr>
                    </a:p>
                    <a:p>
                      <a:pPr marL="177800" marR="0" lvl="2" indent="-177800" algn="l" defTabSz="914400" rtl="0" eaLnBrk="1" fontAlgn="auto" latinLnBrk="0" hangingPunct="1">
                        <a:lnSpc>
                          <a:spcPct val="100000"/>
                        </a:lnSpc>
                        <a:spcBef>
                          <a:spcPts val="600"/>
                        </a:spcBef>
                        <a:spcAft>
                          <a:spcPts val="0"/>
                        </a:spcAft>
                        <a:buClr>
                          <a:srgbClr val="97989A"/>
                        </a:buClr>
                        <a:buSzTx/>
                        <a:buFont typeface="Arial" pitchFamily="34" charset="0"/>
                        <a:buChar char="■"/>
                        <a:tabLst/>
                        <a:defRPr/>
                      </a:pPr>
                      <a:r>
                        <a:rPr kumimoji="0" lang="en-US" sz="900" b="0" i="0" u="none" strike="noStrike" kern="1200" cap="none" spc="0" normalizeH="0" baseline="0" noProof="0" dirty="0" smtClean="0">
                          <a:ln>
                            <a:noFill/>
                          </a:ln>
                          <a:solidFill>
                            <a:srgbClr val="000000"/>
                          </a:solidFill>
                          <a:effectLst/>
                          <a:uLnTx/>
                          <a:uFillTx/>
                          <a:latin typeface="Univers for KPMG" panose="020B0603020202020204" pitchFamily="34" charset="0"/>
                          <a:ea typeface="+mn-ea"/>
                          <a:cs typeface="Arial" pitchFamily="34" charset="0"/>
                        </a:rPr>
                        <a:t>Revenue from the Company’s customer base can fluctuate on an annual basis depending on the staffing needs of each customer. </a:t>
                      </a:r>
                    </a:p>
                    <a:p>
                      <a:pPr marL="177800" marR="0" lvl="2" indent="-177800" algn="l" defTabSz="914400" rtl="0" eaLnBrk="1" fontAlgn="auto" latinLnBrk="0" hangingPunct="1">
                        <a:lnSpc>
                          <a:spcPct val="100000"/>
                        </a:lnSpc>
                        <a:spcBef>
                          <a:spcPts val="600"/>
                        </a:spcBef>
                        <a:spcAft>
                          <a:spcPts val="0"/>
                        </a:spcAft>
                        <a:buClr>
                          <a:srgbClr val="97989A"/>
                        </a:buClr>
                        <a:buSzTx/>
                        <a:buFont typeface="Arial" pitchFamily="34" charset="0"/>
                        <a:buChar char="■"/>
                        <a:tabLst/>
                        <a:defRPr/>
                      </a:pPr>
                      <a:r>
                        <a:rPr kumimoji="0" lang="en-US" sz="900" b="1" i="0" u="none" strike="noStrike" kern="1200" cap="none" spc="0" normalizeH="0" baseline="0" noProof="0" dirty="0" smtClean="0">
                          <a:ln>
                            <a:noFill/>
                          </a:ln>
                          <a:solidFill>
                            <a:srgbClr val="000000"/>
                          </a:solidFill>
                          <a:effectLst/>
                          <a:uLnTx/>
                          <a:uFillTx/>
                          <a:latin typeface="Univers for KPMG" panose="020B0603020202020204" pitchFamily="34" charset="0"/>
                          <a:ea typeface="+mn-ea"/>
                          <a:cs typeface="Arial" pitchFamily="34" charset="0"/>
                        </a:rPr>
                        <a:t>IT and clinical/scientific: </a:t>
                      </a:r>
                      <a:r>
                        <a:rPr kumimoji="0" lang="en-US" sz="900" b="0" i="0" u="none" strike="noStrike" kern="1200" cap="none" spc="0" normalizeH="0" baseline="0" noProof="0" dirty="0" smtClean="0">
                          <a:ln>
                            <a:noFill/>
                          </a:ln>
                          <a:solidFill>
                            <a:srgbClr val="000000"/>
                          </a:solidFill>
                          <a:effectLst/>
                          <a:uLnTx/>
                          <a:uFillTx/>
                          <a:latin typeface="Univers for KPMG" panose="020B0603020202020204" pitchFamily="34" charset="0"/>
                          <a:ea typeface="+mn-ea"/>
                          <a:cs typeface="Arial" pitchFamily="34" charset="0"/>
                        </a:rPr>
                        <a:t>Customer concentration for the top ten customers in the division is 96.6% for FY17</a:t>
                      </a:r>
                      <a:r>
                        <a:rPr kumimoji="0" lang="en-US" sz="900" b="0" i="0" u="none" strike="noStrike" kern="1200" cap="none" spc="0" normalizeH="0" baseline="0" noProof="0" dirty="0" smtClean="0">
                          <a:ln>
                            <a:noFill/>
                          </a:ln>
                          <a:solidFill>
                            <a:schemeClr val="tx1"/>
                          </a:solidFill>
                          <a:effectLst/>
                          <a:uLnTx/>
                          <a:uFillTx/>
                          <a:latin typeface="Univers for KPMG" panose="020B0603020202020204" pitchFamily="34" charset="0"/>
                          <a:ea typeface="+mn-ea"/>
                          <a:cs typeface="Arial" pitchFamily="34" charset="0"/>
                        </a:rPr>
                        <a:t>. This division has several key customers that generate the majority of the division’s revenue. </a:t>
                      </a:r>
                    </a:p>
                    <a:p>
                      <a:pPr marL="457200" marR="0" lvl="3" indent="-177800" algn="l" defTabSz="914400" rtl="0" eaLnBrk="1" fontAlgn="auto" latinLnBrk="0" hangingPunct="1">
                        <a:lnSpc>
                          <a:spcPct val="100000"/>
                        </a:lnSpc>
                        <a:spcBef>
                          <a:spcPts val="300"/>
                        </a:spcBef>
                        <a:spcAft>
                          <a:spcPts val="0"/>
                        </a:spcAft>
                        <a:buClr>
                          <a:srgbClr val="97989A"/>
                        </a:buClr>
                        <a:buSzTx/>
                        <a:buFont typeface="Univers for KPMG" panose="020B0603020202020204" pitchFamily="34" charset="0"/>
                        <a:buChar char="−"/>
                        <a:tabLst/>
                        <a:defRPr/>
                      </a:pPr>
                      <a:r>
                        <a:rPr kumimoji="0" lang="en-US" sz="900" b="0" i="1" u="none" strike="noStrike" kern="1200" cap="none" spc="0" normalizeH="0" baseline="0" noProof="0" dirty="0" smtClean="0">
                          <a:ln>
                            <a:noFill/>
                          </a:ln>
                          <a:solidFill>
                            <a:schemeClr val="tx1"/>
                          </a:solidFill>
                          <a:effectLst/>
                          <a:uLnTx/>
                          <a:uFillTx/>
                          <a:latin typeface="Univers for KPMG" panose="020B0603020202020204" pitchFamily="34" charset="0"/>
                          <a:ea typeface="+mn-ea"/>
                          <a:cs typeface="Arial" pitchFamily="34" charset="0"/>
                        </a:rPr>
                        <a:t>Pfizer: </a:t>
                      </a:r>
                      <a:r>
                        <a:rPr kumimoji="0" lang="en-US" sz="900" b="0" i="0" u="none" strike="noStrike" kern="1200" cap="none" spc="0" normalizeH="0" baseline="0" noProof="0" dirty="0" smtClean="0">
                          <a:ln>
                            <a:noFill/>
                          </a:ln>
                          <a:solidFill>
                            <a:schemeClr val="tx1"/>
                          </a:solidFill>
                          <a:effectLst/>
                          <a:uLnTx/>
                          <a:uFillTx/>
                          <a:latin typeface="Univers for KPMG" panose="020B0603020202020204" pitchFamily="34" charset="0"/>
                          <a:ea typeface="+mn-ea"/>
                          <a:cs typeface="Arial" pitchFamily="34" charset="0"/>
                        </a:rPr>
                        <a:t>This customer h</a:t>
                      </a:r>
                      <a:r>
                        <a:rPr lang="en-US" sz="900" dirty="0" smtClean="0">
                          <a:solidFill>
                            <a:schemeClr val="tx1"/>
                          </a:solidFill>
                          <a:latin typeface="Univers for KPMG" panose="020B0603020202020204" pitchFamily="34" charset="0"/>
                        </a:rPr>
                        <a:t>as a policy in place whereby they are able to hire the Company’s employees on a full time basis after the employee has worked with them for 18 months.</a:t>
                      </a:r>
                      <a:r>
                        <a:rPr lang="en-US" sz="900" baseline="0" dirty="0" smtClean="0">
                          <a:solidFill>
                            <a:schemeClr val="tx1"/>
                          </a:solidFill>
                          <a:latin typeface="Univers for KPMG" panose="020B0603020202020204" pitchFamily="34" charset="0"/>
                        </a:rPr>
                        <a:t> </a:t>
                      </a:r>
                      <a:r>
                        <a:rPr lang="en-US" sz="900" dirty="0" smtClean="0">
                          <a:solidFill>
                            <a:schemeClr val="tx1"/>
                          </a:solidFill>
                          <a:latin typeface="Univers for KPMG" panose="020B0603020202020204" pitchFamily="34" charset="0"/>
                        </a:rPr>
                        <a:t>Many of Aequor’s employees were hired by Pfizer in Q4 2016 resulting in a decrease in annual</a:t>
                      </a:r>
                      <a:r>
                        <a:rPr lang="en-US" sz="900" baseline="0" dirty="0" smtClean="0">
                          <a:solidFill>
                            <a:schemeClr val="tx1"/>
                          </a:solidFill>
                          <a:latin typeface="Univers for KPMG" panose="020B0603020202020204" pitchFamily="34" charset="0"/>
                        </a:rPr>
                        <a:t> revenue from FY16 to FY17.</a:t>
                      </a:r>
                      <a:endParaRPr lang="en-US" sz="900" dirty="0" smtClean="0">
                        <a:solidFill>
                          <a:schemeClr val="tx1"/>
                        </a:solidFill>
                        <a:latin typeface="Univers for KPMG" panose="020B0603020202020204" pitchFamily="34" charset="0"/>
                      </a:endParaRPr>
                    </a:p>
                    <a:p>
                      <a:pPr marL="177800" marR="0" lvl="2" indent="-177800" algn="l" defTabSz="914400" rtl="0" eaLnBrk="1" fontAlgn="auto" latinLnBrk="0" hangingPunct="1">
                        <a:lnSpc>
                          <a:spcPct val="100000"/>
                        </a:lnSpc>
                        <a:spcBef>
                          <a:spcPts val="600"/>
                        </a:spcBef>
                        <a:spcAft>
                          <a:spcPts val="0"/>
                        </a:spcAft>
                        <a:buClr>
                          <a:srgbClr val="97989A"/>
                        </a:buClr>
                        <a:buSzTx/>
                        <a:buFont typeface="Arial" pitchFamily="34" charset="0"/>
                        <a:buChar char="■"/>
                        <a:tabLst/>
                        <a:defRPr/>
                      </a:pPr>
                      <a:r>
                        <a:rPr lang="en-US" sz="900" b="0" dirty="0" smtClean="0">
                          <a:solidFill>
                            <a:schemeClr val="tx1"/>
                          </a:solidFill>
                          <a:latin typeface="Univers for KPMG" panose="020B0603020202020204" pitchFamily="34" charset="0"/>
                        </a:rPr>
                        <a:t>DWHP should consider</a:t>
                      </a:r>
                      <a:r>
                        <a:rPr lang="en-US" sz="900" b="0" baseline="0" dirty="0" smtClean="0">
                          <a:solidFill>
                            <a:schemeClr val="tx1"/>
                          </a:solidFill>
                          <a:latin typeface="Univers for KPMG" panose="020B0603020202020204" pitchFamily="34" charset="0"/>
                        </a:rPr>
                        <a:t> the customer concentration and profile within its valuation model of the business.</a:t>
                      </a:r>
                      <a:endParaRPr lang="en-GB" sz="900" b="0" dirty="0" smtClean="0">
                        <a:solidFill>
                          <a:schemeClr val="tx1"/>
                        </a:solidFill>
                      </a:endParaRPr>
                    </a:p>
                  </a:txBody>
                  <a:tcPr marL="45720" marR="45720" horzOverflow="overflow">
                    <a:lnL w="6350" cap="flat" cmpd="sng" algn="ctr">
                      <a:solidFill>
                        <a:srgbClr val="00338D"/>
                      </a:solidFill>
                      <a:prstDash val="solid"/>
                      <a:round/>
                      <a:headEnd type="none" w="med" len="med"/>
                      <a:tailEnd type="none" w="med" len="med"/>
                    </a:lnL>
                    <a:lnR w="6350" cap="flat" cmpd="sng" algn="ctr">
                      <a:solidFill>
                        <a:srgbClr val="00338D"/>
                      </a:solidFill>
                      <a:prstDash val="solid"/>
                      <a:round/>
                      <a:headEnd type="none" w="med" len="med"/>
                      <a:tailEnd type="none" w="med" len="med"/>
                    </a:lnR>
                    <a:lnT w="6350" cap="flat" cmpd="sng" algn="ctr">
                      <a:solidFill>
                        <a:srgbClr val="00338D"/>
                      </a:solidFill>
                      <a:prstDash val="solid"/>
                      <a:round/>
                      <a:headEnd type="none" w="med" len="med"/>
                      <a:tailEnd type="none" w="med" len="med"/>
                    </a:lnT>
                    <a:lnB w="6350" cap="flat" cmpd="sng" algn="ctr">
                      <a:solidFill>
                        <a:srgbClr val="00338D"/>
                      </a:solidFill>
                      <a:prstDash val="solid"/>
                      <a:round/>
                      <a:headEnd type="none" w="med" len="med"/>
                      <a:tailEnd type="none" w="med" len="med"/>
                    </a:lnB>
                    <a:lnTlToBr>
                      <a:noFill/>
                    </a:lnTlToBr>
                    <a:lnBlToTr>
                      <a:noFill/>
                    </a:lnBlToTr>
                    <a:solidFill>
                      <a:schemeClr val="bg1"/>
                    </a:solidFill>
                  </a:tcPr>
                </a:tc>
                <a:tc>
                  <a:txBody>
                    <a:bodyPr/>
                    <a:lstStyle/>
                    <a:p>
                      <a:pPr marL="91440" marR="0" indent="0" algn="r" defTabSz="914400" eaLnBrk="1" fontAlgn="auto" latinLnBrk="0" hangingPunct="1">
                        <a:lnSpc>
                          <a:spcPct val="100000"/>
                        </a:lnSpc>
                        <a:spcBef>
                          <a:spcPts val="0"/>
                        </a:spcBef>
                        <a:spcAft>
                          <a:spcPts val="0"/>
                        </a:spcAft>
                        <a:buClrTx/>
                        <a:buSzTx/>
                        <a:buFont typeface="Arial" panose="020B0604020202020204" pitchFamily="34" charset="0"/>
                        <a:buNone/>
                        <a:tabLst/>
                        <a:defRPr/>
                      </a:pPr>
                      <a:r>
                        <a:rPr lang="en-US" sz="900" b="0" dirty="0" smtClean="0">
                          <a:solidFill>
                            <a:schemeClr val="tx1"/>
                          </a:solidFill>
                          <a:latin typeface="Univers for KPMG" panose="020B0603020202020204" pitchFamily="34" charset="0"/>
                        </a:rPr>
                        <a:t>Pages 39 to 41</a:t>
                      </a:r>
                    </a:p>
                  </a:txBody>
                  <a:tcPr marL="45720" marR="45720" horzOverflow="overflow">
                    <a:lnL w="6350" cap="flat" cmpd="sng" algn="ctr">
                      <a:solidFill>
                        <a:srgbClr val="00338D"/>
                      </a:solidFill>
                      <a:prstDash val="solid"/>
                      <a:round/>
                      <a:headEnd type="none" w="med" len="med"/>
                      <a:tailEnd type="none" w="med" len="med"/>
                    </a:lnL>
                    <a:lnR w="6350" cap="flat" cmpd="sng" algn="ctr">
                      <a:solidFill>
                        <a:srgbClr val="00338D"/>
                      </a:solidFill>
                      <a:prstDash val="solid"/>
                      <a:round/>
                      <a:headEnd type="none" w="med" len="med"/>
                      <a:tailEnd type="none" w="med" len="med"/>
                    </a:lnR>
                    <a:lnT w="6350" cap="flat" cmpd="sng" algn="ctr">
                      <a:solidFill>
                        <a:srgbClr val="00338D"/>
                      </a:solidFill>
                      <a:prstDash val="solid"/>
                      <a:round/>
                      <a:headEnd type="none" w="med" len="med"/>
                      <a:tailEnd type="none" w="med" len="med"/>
                    </a:lnT>
                    <a:lnB w="6350" cap="flat" cmpd="sng" algn="ctr">
                      <a:solidFill>
                        <a:srgbClr val="00338D"/>
                      </a:solidFill>
                      <a:prstDash val="solid"/>
                      <a:round/>
                      <a:headEnd type="none" w="med" len="med"/>
                      <a:tailEnd type="none" w="med" len="med"/>
                    </a:lnB>
                    <a:lnTlToBr>
                      <a:noFill/>
                    </a:lnTlToBr>
                    <a:lnBlToTr>
                      <a:noFill/>
                    </a:lnBlToTr>
                    <a:solidFill>
                      <a:schemeClr val="bg1"/>
                    </a:solidFill>
                  </a:tcPr>
                </a:tc>
              </a:tr>
            </a:tbl>
          </a:graphicData>
        </a:graphic>
      </p:graphicFrame>
      <p:sp>
        <p:nvSpPr>
          <p:cNvPr id="4" name="Title 3"/>
          <p:cNvSpPr>
            <a:spLocks noGrp="1"/>
          </p:cNvSpPr>
          <p:nvPr>
            <p:ph type="title"/>
          </p:nvPr>
        </p:nvSpPr>
        <p:spPr/>
        <p:txBody>
          <a:bodyPr/>
          <a:lstStyle/>
          <a:p>
            <a:r>
              <a:rPr lang="en-US" dirty="0" smtClean="0"/>
              <a:t>Key findings </a:t>
            </a:r>
            <a:r>
              <a:rPr lang="en-US" dirty="0"/>
              <a:t>– Financial due diligence </a:t>
            </a:r>
            <a:r>
              <a:rPr lang="en-US" dirty="0" smtClean="0"/>
              <a:t>(</a:t>
            </a:r>
            <a:r>
              <a:rPr lang="en-US" dirty="0"/>
              <a:t>5</a:t>
            </a:r>
            <a:r>
              <a:rPr lang="en-US" dirty="0" smtClean="0"/>
              <a:t> of </a:t>
            </a:r>
            <a:r>
              <a:rPr lang="en-US" dirty="0"/>
              <a:t>5</a:t>
            </a:r>
            <a:r>
              <a:rPr lang="en-US" dirty="0" smtClean="0"/>
              <a:t>)</a:t>
            </a:r>
            <a:endParaRPr lang="en-US" dirty="0"/>
          </a:p>
        </p:txBody>
      </p:sp>
      <p:sp>
        <p:nvSpPr>
          <p:cNvPr id="11" name="Titre 5"/>
          <p:cNvSpPr txBox="1">
            <a:spLocks/>
          </p:cNvSpPr>
          <p:nvPr/>
        </p:nvSpPr>
        <p:spPr bwMode="gray">
          <a:xfrm>
            <a:off x="422072" y="208109"/>
            <a:ext cx="8496000" cy="784830"/>
          </a:xfrm>
          <a:prstGeom prst="rect">
            <a:avLst/>
          </a:prstGeom>
        </p:spPr>
        <p:txBody>
          <a:bodyPr vert="horz" lIns="0" tIns="0" rIns="0" bIns="0" rtlCol="0" anchor="t" anchorCtr="0">
            <a:noAutofit/>
          </a:bodyPr>
          <a:lstStyle>
            <a:lvl1pPr algn="l" defTabSz="914400" rtl="0" eaLnBrk="1" latinLnBrk="0" hangingPunct="1">
              <a:lnSpc>
                <a:spcPct val="70000"/>
              </a:lnSpc>
              <a:spcBef>
                <a:spcPct val="0"/>
              </a:spcBef>
              <a:buNone/>
              <a:defRPr sz="3800" kern="1200">
                <a:solidFill>
                  <a:schemeClr val="tx2"/>
                </a:solidFill>
                <a:latin typeface="+mj-lt"/>
                <a:ea typeface="+mj-ea"/>
                <a:cs typeface="+mj-cs"/>
              </a:defRPr>
            </a:lvl1pPr>
          </a:lstStyle>
          <a:p>
            <a:r>
              <a:rPr lang="en-CA" sz="2400" dirty="0" smtClean="0">
                <a:solidFill>
                  <a:prstClr val="white">
                    <a:lumMod val="50000"/>
                  </a:prstClr>
                </a:solidFill>
              </a:rPr>
              <a:t>Executive summary</a:t>
            </a:r>
            <a:r>
              <a:rPr lang="en-CA" dirty="0" smtClean="0">
                <a:solidFill>
                  <a:srgbClr val="00338D"/>
                </a:solidFill>
              </a:rPr>
              <a:t/>
            </a:r>
            <a:br>
              <a:rPr lang="en-CA" dirty="0" smtClean="0">
                <a:solidFill>
                  <a:srgbClr val="00338D"/>
                </a:solidFill>
              </a:rPr>
            </a:br>
            <a:endParaRPr lang="en-CA" sz="4000" dirty="0">
              <a:solidFill>
                <a:srgbClr val="00338D"/>
              </a:solidFill>
            </a:endParaRPr>
          </a:p>
        </p:txBody>
      </p:sp>
      <p:sp>
        <p:nvSpPr>
          <p:cNvPr id="45" name="TextBox 44"/>
          <p:cNvSpPr txBox="1"/>
          <p:nvPr/>
        </p:nvSpPr>
        <p:spPr>
          <a:xfrm>
            <a:off x="2000826" y="3840596"/>
            <a:ext cx="2076875" cy="461665"/>
          </a:xfrm>
          <a:prstGeom prst="rect">
            <a:avLst/>
          </a:prstGeom>
          <a:noFill/>
        </p:spPr>
        <p:txBody>
          <a:bodyPr wrap="square" lIns="0" tIns="0" rIns="0" bIns="0" rtlCol="0">
            <a:spAutoFit/>
          </a:bodyPr>
          <a:lstStyle/>
          <a:p>
            <a:pPr marL="285750" indent="-285750" defTabSz="914400"/>
            <a:r>
              <a:rPr lang="en-US" sz="600" i="1" dirty="0">
                <a:solidFill>
                  <a:srgbClr val="000000"/>
                </a:solidFill>
              </a:rPr>
              <a:t>Source: Management provided information</a:t>
            </a:r>
          </a:p>
          <a:p>
            <a:pPr marL="285750" indent="-285750" defTabSz="914400"/>
            <a:r>
              <a:rPr lang="en-US" sz="600" dirty="0" smtClean="0">
                <a:solidFill>
                  <a:srgbClr val="000000"/>
                </a:solidFill>
              </a:rPr>
              <a:t>Note 1: There are approximately $300,000 and $100,000 of reconciling differences related to total USA revenue for FY16 and FY17, respectively. The amounts are not considered significant for this indicative analysis.</a:t>
            </a:r>
          </a:p>
        </p:txBody>
      </p:sp>
      <p:pic>
        <p:nvPicPr>
          <p:cNvPr id="12" name="Picture 11"/>
          <p:cNvPicPr>
            <a:picLocks noChangeAspect="1"/>
          </p:cNvPicPr>
          <p:nvPr/>
        </p:nvPicPr>
        <p:blipFill>
          <a:blip r:embed="rId3"/>
          <a:stretch>
            <a:fillRect/>
          </a:stretch>
        </p:blipFill>
        <p:spPr>
          <a:xfrm>
            <a:off x="4281532" y="1656255"/>
            <a:ext cx="2397465" cy="2232534"/>
          </a:xfrm>
          <a:prstGeom prst="rect">
            <a:avLst/>
          </a:prstGeom>
        </p:spPr>
      </p:pic>
      <p:sp>
        <p:nvSpPr>
          <p:cNvPr id="18" name="TextBox 17"/>
          <p:cNvSpPr txBox="1"/>
          <p:nvPr/>
        </p:nvSpPr>
        <p:spPr>
          <a:xfrm>
            <a:off x="4281531" y="3888789"/>
            <a:ext cx="1993977" cy="92333"/>
          </a:xfrm>
          <a:prstGeom prst="rect">
            <a:avLst/>
          </a:prstGeom>
          <a:noFill/>
        </p:spPr>
        <p:txBody>
          <a:bodyPr wrap="square" lIns="0" tIns="0" rIns="0" bIns="0" rtlCol="0">
            <a:spAutoFit/>
          </a:bodyPr>
          <a:lstStyle/>
          <a:p>
            <a:pPr marL="285750" indent="-285750" defTabSz="914400"/>
            <a:r>
              <a:rPr lang="en-US" sz="600" i="1" dirty="0">
                <a:solidFill>
                  <a:srgbClr val="000000"/>
                </a:solidFill>
              </a:rPr>
              <a:t>Source: Management provided </a:t>
            </a:r>
            <a:r>
              <a:rPr lang="en-US" sz="600" i="1" dirty="0" smtClean="0">
                <a:solidFill>
                  <a:srgbClr val="000000"/>
                </a:solidFill>
              </a:rPr>
              <a:t>information</a:t>
            </a:r>
            <a:endParaRPr lang="en-US" sz="600" i="1" dirty="0">
              <a:solidFill>
                <a:srgbClr val="000000"/>
              </a:solidFill>
            </a:endParaRPr>
          </a:p>
        </p:txBody>
      </p:sp>
      <p:pic>
        <p:nvPicPr>
          <p:cNvPr id="2" name="Picture 1"/>
          <p:cNvPicPr>
            <a:picLocks noChangeAspect="1"/>
          </p:cNvPicPr>
          <p:nvPr/>
        </p:nvPicPr>
        <p:blipFill>
          <a:blip r:embed="rId4"/>
          <a:stretch>
            <a:fillRect/>
          </a:stretch>
        </p:blipFill>
        <p:spPr>
          <a:xfrm>
            <a:off x="2000827" y="1656255"/>
            <a:ext cx="2153537" cy="2204627"/>
          </a:xfrm>
          <a:prstGeom prst="rect">
            <a:avLst/>
          </a:prstGeom>
        </p:spPr>
      </p:pic>
      <p:sp>
        <p:nvSpPr>
          <p:cNvPr id="14" name="Rounded Rectangle 13"/>
          <p:cNvSpPr/>
          <p:nvPr/>
        </p:nvSpPr>
        <p:spPr>
          <a:xfrm>
            <a:off x="3494252" y="3740890"/>
            <a:ext cx="685364" cy="119992"/>
          </a:xfrm>
          <a:prstGeom prst="roundRect">
            <a:avLst/>
          </a:prstGeom>
          <a:noFill/>
          <a:ln>
            <a:solidFill>
              <a:srgbClr val="00A3A1"/>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smtClean="0">
              <a:solidFill>
                <a:schemeClr val="bg1"/>
              </a:solidFill>
            </a:endParaRPr>
          </a:p>
        </p:txBody>
      </p:sp>
      <p:sp>
        <p:nvSpPr>
          <p:cNvPr id="15" name="Rounded Rectangle 14"/>
          <p:cNvSpPr/>
          <p:nvPr/>
        </p:nvSpPr>
        <p:spPr>
          <a:xfrm>
            <a:off x="5993634" y="3546860"/>
            <a:ext cx="685364" cy="119992"/>
          </a:xfrm>
          <a:prstGeom prst="roundRect">
            <a:avLst/>
          </a:prstGeom>
          <a:noFill/>
          <a:ln>
            <a:solidFill>
              <a:srgbClr val="00A3A1"/>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smtClean="0">
              <a:solidFill>
                <a:schemeClr val="bg1"/>
              </a:solidFill>
            </a:endParaRPr>
          </a:p>
        </p:txBody>
      </p:sp>
      <p:cxnSp>
        <p:nvCxnSpPr>
          <p:cNvPr id="16" name="Elbow Connector 15"/>
          <p:cNvCxnSpPr>
            <a:stCxn id="15" idx="3"/>
            <a:endCxn id="14" idx="2"/>
          </p:cNvCxnSpPr>
          <p:nvPr/>
        </p:nvCxnSpPr>
        <p:spPr>
          <a:xfrm flipH="1">
            <a:off x="3836934" y="3606856"/>
            <a:ext cx="2842064" cy="254026"/>
          </a:xfrm>
          <a:prstGeom prst="bentConnector4">
            <a:avLst>
              <a:gd name="adj1" fmla="val -8043"/>
              <a:gd name="adj2" fmla="val 143329"/>
            </a:avLst>
          </a:prstGeom>
          <a:ln>
            <a:solidFill>
              <a:srgbClr val="00A3A1"/>
            </a:solidFill>
            <a:headEnd type="triangl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8962509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re 6"/>
          <p:cNvSpPr>
            <a:spLocks noGrp="1"/>
          </p:cNvSpPr>
          <p:nvPr>
            <p:ph type="title"/>
          </p:nvPr>
        </p:nvSpPr>
        <p:spPr>
          <a:xfrm>
            <a:off x="1995055" y="1337703"/>
            <a:ext cx="6192982" cy="581698"/>
          </a:xfrm>
        </p:spPr>
        <p:txBody>
          <a:bodyPr/>
          <a:lstStyle/>
          <a:p>
            <a:r>
              <a:rPr lang="en-CA" sz="5400" dirty="0"/>
              <a:t>Supporting analysis to key findings</a:t>
            </a:r>
            <a:br>
              <a:rPr lang="en-CA" sz="5400" dirty="0"/>
            </a:br>
            <a:r>
              <a:rPr lang="en-CA" sz="4000" i="1" dirty="0"/>
              <a:t>Quality of earnings</a:t>
            </a:r>
          </a:p>
        </p:txBody>
      </p:sp>
    </p:spTree>
    <p:extLst>
      <p:ext uri="{BB962C8B-B14F-4D97-AF65-F5344CB8AC3E}">
        <p14:creationId xmlns:p14="http://schemas.microsoft.com/office/powerpoint/2010/main" val="127260623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 Placeholder 7"/>
          <p:cNvSpPr>
            <a:spLocks noGrp="1"/>
          </p:cNvSpPr>
          <p:nvPr>
            <p:ph type="body" sz="quarter" idx="10"/>
          </p:nvPr>
        </p:nvSpPr>
        <p:spPr>
          <a:xfrm>
            <a:off x="439924" y="1270000"/>
            <a:ext cx="1508760" cy="4742090"/>
          </a:xfrm>
        </p:spPr>
        <p:txBody>
          <a:bodyPr/>
          <a:lstStyle/>
          <a:p>
            <a:r>
              <a:rPr lang="en-US" dirty="0" smtClean="0">
                <a:latin typeface="Univers for KPMG" panose="020B0603020202020204" pitchFamily="34" charset="0"/>
              </a:rPr>
              <a:t>FY17 USA reported EBITDA of $5.1 million increases to $5.7 million after Management and potential adjustments identified during due diligence. </a:t>
            </a:r>
          </a:p>
          <a:p>
            <a:r>
              <a:rPr lang="en-US" dirty="0" smtClean="0">
                <a:latin typeface="Univers for KPMG" panose="020B0603020202020204" pitchFamily="34" charset="0"/>
              </a:rPr>
              <a:t>Significant adjustments are discussed on the following pages.</a:t>
            </a:r>
          </a:p>
          <a:p>
            <a:endParaRPr lang="en-US" dirty="0" smtClean="0">
              <a:latin typeface="Univers for KPMG" panose="020B0603020202020204" pitchFamily="34" charset="0"/>
            </a:endParaRPr>
          </a:p>
        </p:txBody>
      </p:sp>
      <p:sp>
        <p:nvSpPr>
          <p:cNvPr id="3" name="TextBox 2"/>
          <p:cNvSpPr txBox="1"/>
          <p:nvPr/>
        </p:nvSpPr>
        <p:spPr>
          <a:xfrm>
            <a:off x="6227618" y="143739"/>
            <a:ext cx="2694709" cy="784830"/>
          </a:xfrm>
          <a:prstGeom prst="rect">
            <a:avLst/>
          </a:prstGeom>
          <a:noFill/>
        </p:spPr>
        <p:txBody>
          <a:bodyPr wrap="square" lIns="54610" tIns="54610" rIns="54610" bIns="54610" rtlCol="0">
            <a:noAutofit/>
          </a:bodyPr>
          <a:lstStyle/>
          <a:p>
            <a:pPr>
              <a:spcAft>
                <a:spcPts val="600"/>
              </a:spcAft>
            </a:pPr>
            <a:endParaRPr lang="en-US" sz="900" dirty="0" smtClean="0">
              <a:solidFill>
                <a:schemeClr val="tx2"/>
              </a:solidFill>
            </a:endParaRPr>
          </a:p>
        </p:txBody>
      </p:sp>
      <p:sp>
        <p:nvSpPr>
          <p:cNvPr id="8" name="Espace réservé du texte 3"/>
          <p:cNvSpPr>
            <a:spLocks noGrp="1"/>
          </p:cNvSpPr>
          <p:nvPr>
            <p:ph type="body" sz="quarter" idx="4294967295"/>
          </p:nvPr>
        </p:nvSpPr>
        <p:spPr>
          <a:xfrm>
            <a:off x="5061851" y="1269997"/>
            <a:ext cx="3773390" cy="4567337"/>
          </a:xfrm>
          <a:prstGeom prst="rect">
            <a:avLst/>
          </a:prstGeom>
        </p:spPr>
        <p:txBody>
          <a:bodyPr/>
          <a:lstStyle/>
          <a:p>
            <a:pPr algn="just"/>
            <a:r>
              <a:rPr lang="en-CA" sz="900" dirty="0" smtClean="0">
                <a:latin typeface="Univers for KPMG" panose="020B0603020202020204" pitchFamily="34" charset="0"/>
              </a:rPr>
              <a:t>Overview</a:t>
            </a:r>
            <a:endParaRPr lang="en-CA" sz="900" b="0" dirty="0">
              <a:latin typeface="Univers for KPMG" panose="020B0603020202020204" pitchFamily="34" charset="0"/>
            </a:endParaRPr>
          </a:p>
          <a:p>
            <a:pPr marL="177800" lvl="2" indent="-177800" algn="just" rtl="0">
              <a:spcBef>
                <a:spcPts val="0"/>
              </a:spcBef>
              <a:spcAft>
                <a:spcPts val="400"/>
              </a:spcAft>
              <a:buClr>
                <a:srgbClr val="97989A"/>
              </a:buClr>
              <a:buFont typeface="Arial" pitchFamily="34" charset="0"/>
              <a:buChar char="■"/>
              <a:defRPr/>
            </a:pPr>
            <a:r>
              <a:rPr lang="en-CA" sz="900" kern="1200" dirty="0" smtClean="0">
                <a:solidFill>
                  <a:schemeClr val="tx1"/>
                </a:solidFill>
                <a:latin typeface="Univers for KPMG" panose="020B0603020202020204" pitchFamily="34" charset="0"/>
              </a:rPr>
              <a:t>The quality of earnings analysis is prepared based on the following sources of information:</a:t>
            </a:r>
          </a:p>
          <a:p>
            <a:pPr marL="347663" lvl="2" indent="-177800" algn="just" rtl="0">
              <a:spcBef>
                <a:spcPts val="0"/>
              </a:spcBef>
              <a:spcAft>
                <a:spcPts val="400"/>
              </a:spcAft>
              <a:buClr>
                <a:srgbClr val="97989A"/>
              </a:buClr>
              <a:buFont typeface="Arial" panose="020B0604020202020204" pitchFamily="34" charset="0"/>
              <a:buChar char="–"/>
              <a:defRPr/>
            </a:pPr>
            <a:r>
              <a:rPr lang="en-US" sz="900" kern="1200" dirty="0" smtClean="0">
                <a:solidFill>
                  <a:schemeClr val="tx1"/>
                </a:solidFill>
                <a:latin typeface="Univers for KPMG" panose="020B0603020202020204" pitchFamily="34" charset="0"/>
              </a:rPr>
              <a:t>Internal trial balances and other information provided by Management; and</a:t>
            </a:r>
          </a:p>
          <a:p>
            <a:pPr marL="347663" lvl="2" indent="-177800" algn="just" rtl="0">
              <a:spcBef>
                <a:spcPts val="0"/>
              </a:spcBef>
              <a:spcAft>
                <a:spcPts val="400"/>
              </a:spcAft>
              <a:buClr>
                <a:srgbClr val="97989A"/>
              </a:buClr>
              <a:buFont typeface="Arial" panose="020B0604020202020204" pitchFamily="34" charset="0"/>
              <a:buChar char="–"/>
              <a:defRPr/>
            </a:pPr>
            <a:r>
              <a:rPr lang="en-US" sz="900" kern="1200" dirty="0" smtClean="0">
                <a:solidFill>
                  <a:schemeClr val="tx1"/>
                </a:solidFill>
                <a:latin typeface="Univers for KPMG" panose="020B0603020202020204" pitchFamily="34" charset="0"/>
              </a:rPr>
              <a:t>Discussions held with Management, namely Manmeet and Kamalpreet Virdi (CEOs), Michael Darbin (interim Controller) and the Company’s sell-side advisors (Capstone Headwaters).</a:t>
            </a:r>
          </a:p>
          <a:p>
            <a:pPr marL="177800" lvl="2" indent="-177800" algn="just" rtl="0">
              <a:spcBef>
                <a:spcPts val="0"/>
              </a:spcBef>
              <a:spcAft>
                <a:spcPts val="400"/>
              </a:spcAft>
              <a:buClr>
                <a:srgbClr val="97989A"/>
              </a:buClr>
              <a:buFont typeface="Arial" pitchFamily="34" charset="0"/>
              <a:buChar char="■"/>
              <a:defRPr/>
            </a:pPr>
            <a:r>
              <a:rPr lang="en-CA" sz="900" kern="1200" dirty="0" smtClean="0">
                <a:solidFill>
                  <a:schemeClr val="tx1"/>
                </a:solidFill>
                <a:latin typeface="Univers for KPMG" panose="020B0603020202020204" pitchFamily="34" charset="0"/>
              </a:rPr>
              <a:t>The nature of adjustments included in the quality of earnings analysis are as follows</a:t>
            </a:r>
            <a:r>
              <a:rPr lang="en-CA" dirty="0" smtClean="0">
                <a:solidFill>
                  <a:schemeClr val="tx1"/>
                </a:solidFill>
                <a:latin typeface="Univers for KPMG" panose="020B0603020202020204" pitchFamily="34" charset="0"/>
              </a:rPr>
              <a:t>:</a:t>
            </a:r>
          </a:p>
          <a:p>
            <a:pPr marL="347663" lvl="2" indent="-177800" algn="just">
              <a:spcAft>
                <a:spcPts val="400"/>
              </a:spcAft>
              <a:buClr>
                <a:srgbClr val="97989A"/>
              </a:buClr>
              <a:defRPr/>
            </a:pPr>
            <a:r>
              <a:rPr lang="en-US" b="1" dirty="0" smtClean="0">
                <a:solidFill>
                  <a:schemeClr val="tx1"/>
                </a:solidFill>
                <a:latin typeface="Univers for KPMG" panose="020B0603020202020204" pitchFamily="34" charset="0"/>
              </a:rPr>
              <a:t>USA EBITDA</a:t>
            </a:r>
            <a:r>
              <a:rPr lang="en-US" b="1" dirty="0">
                <a:solidFill>
                  <a:schemeClr val="tx1"/>
                </a:solidFill>
                <a:latin typeface="Univers for KPMG" panose="020B0603020202020204" pitchFamily="34" charset="0"/>
              </a:rPr>
              <a:t>, reported: </a:t>
            </a:r>
            <a:r>
              <a:rPr lang="en-US" dirty="0">
                <a:solidFill>
                  <a:schemeClr val="tx1"/>
                </a:solidFill>
                <a:latin typeface="Univers for KPMG" panose="020B0603020202020204" pitchFamily="34" charset="0"/>
              </a:rPr>
              <a:t>Reflects the Company’s view point of “reported” </a:t>
            </a:r>
            <a:r>
              <a:rPr lang="en-US" dirty="0" smtClean="0">
                <a:solidFill>
                  <a:schemeClr val="tx1"/>
                </a:solidFill>
                <a:latin typeface="Univers for KPMG" panose="020B0603020202020204" pitchFamily="34" charset="0"/>
              </a:rPr>
              <a:t>USA EBITDA </a:t>
            </a:r>
            <a:r>
              <a:rPr lang="en-US" dirty="0">
                <a:solidFill>
                  <a:schemeClr val="tx1"/>
                </a:solidFill>
                <a:latin typeface="Univers for KPMG" panose="020B0603020202020204" pitchFamily="34" charset="0"/>
              </a:rPr>
              <a:t>and includes definitional add-backs (i.e. interest, income taxes, depreciation and amortization</a:t>
            </a:r>
            <a:r>
              <a:rPr lang="en-US" dirty="0" smtClean="0">
                <a:solidFill>
                  <a:schemeClr val="tx1"/>
                </a:solidFill>
                <a:latin typeface="Univers for KPMG" panose="020B0603020202020204" pitchFamily="34" charset="0"/>
              </a:rPr>
              <a:t>);</a:t>
            </a:r>
            <a:endParaRPr lang="en-CA" dirty="0">
              <a:solidFill>
                <a:schemeClr val="tx1"/>
              </a:solidFill>
              <a:latin typeface="Univers for KPMG" panose="020B0603020202020204" pitchFamily="34" charset="0"/>
            </a:endParaRPr>
          </a:p>
          <a:p>
            <a:pPr marL="347663" lvl="2" indent="-177800" algn="just">
              <a:spcAft>
                <a:spcPts val="400"/>
              </a:spcAft>
              <a:buClr>
                <a:srgbClr val="97989A"/>
              </a:buClr>
              <a:defRPr/>
            </a:pPr>
            <a:r>
              <a:rPr lang="en-US" b="1" dirty="0" smtClean="0">
                <a:solidFill>
                  <a:schemeClr val="tx1"/>
                </a:solidFill>
                <a:latin typeface="Univers for KPMG" panose="020B0603020202020204" pitchFamily="34" charset="0"/>
              </a:rPr>
              <a:t>Management adjustments:</a:t>
            </a:r>
            <a:r>
              <a:rPr lang="en-US" dirty="0" smtClean="0">
                <a:solidFill>
                  <a:schemeClr val="tx1"/>
                </a:solidFill>
                <a:latin typeface="Univers for KPMG" panose="020B0603020202020204" pitchFamily="34" charset="0"/>
              </a:rPr>
              <a:t> Normalization adjustments to reported USA EBITDA identified by Management; and </a:t>
            </a:r>
            <a:endParaRPr lang="en-US" b="1" dirty="0">
              <a:solidFill>
                <a:schemeClr val="tx1"/>
              </a:solidFill>
              <a:latin typeface="Univers for KPMG" panose="020B0603020202020204" pitchFamily="34" charset="0"/>
            </a:endParaRPr>
          </a:p>
          <a:p>
            <a:pPr marL="347663" lvl="2" indent="-177800" algn="just">
              <a:spcAft>
                <a:spcPts val="400"/>
              </a:spcAft>
              <a:buClr>
                <a:srgbClr val="97989A"/>
              </a:buClr>
              <a:defRPr/>
            </a:pPr>
            <a:r>
              <a:rPr lang="en-US" b="1" dirty="0">
                <a:solidFill>
                  <a:schemeClr val="tx1"/>
                </a:solidFill>
                <a:latin typeface="Univers for KPMG" panose="020B0603020202020204" pitchFamily="34" charset="0"/>
              </a:rPr>
              <a:t>Potential adjustments: </a:t>
            </a:r>
            <a:r>
              <a:rPr lang="en-US" dirty="0">
                <a:solidFill>
                  <a:schemeClr val="tx1"/>
                </a:solidFill>
                <a:latin typeface="Univers for KPMG" panose="020B0603020202020204" pitchFamily="34" charset="0"/>
              </a:rPr>
              <a:t>Adjustments of non-recurring and other items to reflect the underlying revenue and earnings of the core </a:t>
            </a:r>
            <a:r>
              <a:rPr lang="en-US" dirty="0" smtClean="0">
                <a:solidFill>
                  <a:schemeClr val="tx1"/>
                </a:solidFill>
                <a:latin typeface="Univers for KPMG" panose="020B0603020202020204" pitchFamily="34" charset="0"/>
              </a:rPr>
              <a:t>business and the contributions from the Switzerland and India entities.</a:t>
            </a:r>
            <a:endParaRPr lang="en-US" dirty="0">
              <a:solidFill>
                <a:schemeClr val="tx1"/>
              </a:solidFill>
              <a:latin typeface="Univers for KPMG" panose="020B0603020202020204" pitchFamily="34" charset="0"/>
            </a:endParaRPr>
          </a:p>
          <a:p>
            <a:pPr marL="177800" lvl="2" indent="-177800" algn="just" rtl="0">
              <a:spcBef>
                <a:spcPts val="0"/>
              </a:spcBef>
              <a:spcAft>
                <a:spcPts val="400"/>
              </a:spcAft>
              <a:buClr>
                <a:srgbClr val="97989A"/>
              </a:buClr>
              <a:buFont typeface="Arial" pitchFamily="34" charset="0"/>
              <a:buChar char="■"/>
              <a:defRPr/>
            </a:pPr>
            <a:r>
              <a:rPr lang="en-CA" sz="900" kern="1200" dirty="0" smtClean="0">
                <a:solidFill>
                  <a:schemeClr val="tx1"/>
                </a:solidFill>
                <a:latin typeface="Univers for KPMG" panose="020B0603020202020204" pitchFamily="34" charset="0"/>
              </a:rPr>
              <a:t>Significant </a:t>
            </a:r>
            <a:r>
              <a:rPr lang="en-US" sz="900" kern="1200" dirty="0">
                <a:solidFill>
                  <a:schemeClr val="tx1"/>
                </a:solidFill>
                <a:latin typeface="Univers for KPMG" panose="020B0603020202020204" pitchFamily="34" charset="0"/>
              </a:rPr>
              <a:t>adjustments are discussed further on the following pages. Certain other items which were not </a:t>
            </a:r>
            <a:r>
              <a:rPr lang="en-US" sz="900" kern="1200" dirty="0" smtClean="0">
                <a:solidFill>
                  <a:schemeClr val="tx1"/>
                </a:solidFill>
                <a:latin typeface="Univers for KPMG" panose="020B0603020202020204" pitchFamily="34" charset="0"/>
              </a:rPr>
              <a:t>included as an adjustment, but are included in the </a:t>
            </a:r>
            <a:r>
              <a:rPr lang="en-US" sz="900" kern="1200" dirty="0">
                <a:solidFill>
                  <a:schemeClr val="tx1"/>
                </a:solidFill>
                <a:latin typeface="Univers for KPMG" panose="020B0603020202020204" pitchFamily="34" charset="0"/>
              </a:rPr>
              <a:t>‘Other Considerations’ </a:t>
            </a:r>
            <a:r>
              <a:rPr lang="en-US" dirty="0" smtClean="0">
                <a:solidFill>
                  <a:schemeClr val="tx1"/>
                </a:solidFill>
                <a:latin typeface="Univers for KPMG" panose="020B0603020202020204" pitchFamily="34" charset="0"/>
              </a:rPr>
              <a:t>section are highlighted for your consideration.</a:t>
            </a:r>
            <a:endParaRPr lang="en-US" sz="900" kern="1200" dirty="0" smtClean="0">
              <a:solidFill>
                <a:schemeClr val="tx1"/>
              </a:solidFill>
              <a:latin typeface="Univers for KPMG" panose="020B0603020202020204" pitchFamily="34" charset="0"/>
            </a:endParaRPr>
          </a:p>
        </p:txBody>
      </p:sp>
      <p:sp>
        <p:nvSpPr>
          <p:cNvPr id="14" name="Rectangle 4"/>
          <p:cNvSpPr>
            <a:spLocks noChangeArrowheads="1"/>
          </p:cNvSpPr>
          <p:nvPr>
            <p:custDataLst>
              <p:tags r:id="rId1"/>
            </p:custDataLst>
          </p:nvPr>
        </p:nvSpPr>
        <p:spPr bwMode="gray">
          <a:xfrm>
            <a:off x="2135871" y="3776019"/>
            <a:ext cx="2664416" cy="981601"/>
          </a:xfrm>
          <a:prstGeom prst="rect">
            <a:avLst/>
          </a:prstGeom>
          <a:noFill/>
          <a:ln w="6350">
            <a:solidFill>
              <a:srgbClr val="00338D"/>
            </a:solidFill>
            <a:miter lim="800000"/>
            <a:headEnd/>
            <a:tailEnd/>
          </a:ln>
          <a:effectLst/>
        </p:spPr>
        <p:txBody>
          <a:bodyPr wrap="square" lIns="54000" tIns="54000" rIns="54000" bIns="54000" anchor="ctr" anchorCtr="1">
            <a:spAutoFit/>
          </a:bodyPr>
          <a:lstStyle/>
          <a:p>
            <a:pPr defTabSz="762000" eaLnBrk="0" hangingPunct="0">
              <a:lnSpc>
                <a:spcPct val="90000"/>
              </a:lnSpc>
            </a:pPr>
            <a:r>
              <a:rPr lang="en-US" sz="700" dirty="0" smtClean="0">
                <a:solidFill>
                  <a:srgbClr val="00338D"/>
                </a:solidFill>
                <a:latin typeface="Univers for KPMG" panose="020B0603020202020204" pitchFamily="34" charset="0"/>
              </a:rPr>
              <a:t>The quality </a:t>
            </a:r>
            <a:r>
              <a:rPr lang="en-US" sz="700" dirty="0">
                <a:solidFill>
                  <a:srgbClr val="00338D"/>
                </a:solidFill>
                <a:latin typeface="Univers for KPMG" panose="020B0603020202020204" pitchFamily="34" charset="0"/>
              </a:rPr>
              <a:t>of earnings </a:t>
            </a:r>
            <a:r>
              <a:rPr lang="en-US" sz="700" dirty="0" smtClean="0">
                <a:solidFill>
                  <a:srgbClr val="00338D"/>
                </a:solidFill>
                <a:latin typeface="Univers for KPMG" panose="020B0603020202020204" pitchFamily="34" charset="0"/>
              </a:rPr>
              <a:t>schedule above illustrates </a:t>
            </a:r>
            <a:r>
              <a:rPr lang="en-US" sz="700" dirty="0">
                <a:solidFill>
                  <a:srgbClr val="00338D"/>
                </a:solidFill>
                <a:latin typeface="Univers for KPMG" panose="020B0603020202020204" pitchFamily="34" charset="0"/>
              </a:rPr>
              <a:t>potential </a:t>
            </a:r>
            <a:r>
              <a:rPr lang="en-US" sz="700" dirty="0" smtClean="0">
                <a:solidFill>
                  <a:srgbClr val="00338D"/>
                </a:solidFill>
                <a:latin typeface="Univers for KPMG" panose="020B0603020202020204" pitchFamily="34" charset="0"/>
              </a:rPr>
              <a:t>EBITDA adjustments </a:t>
            </a:r>
            <a:r>
              <a:rPr lang="en-US" sz="700" dirty="0">
                <a:solidFill>
                  <a:srgbClr val="00338D"/>
                </a:solidFill>
                <a:latin typeface="Univers for KPMG" panose="020B0603020202020204" pitchFamily="34" charset="0"/>
              </a:rPr>
              <a:t>and other factors to be considered which were identified for the </a:t>
            </a:r>
            <a:r>
              <a:rPr lang="en-US" sz="700" dirty="0" smtClean="0">
                <a:solidFill>
                  <a:srgbClr val="00338D"/>
                </a:solidFill>
                <a:latin typeface="Univers for KPMG" panose="020B0603020202020204" pitchFamily="34" charset="0"/>
              </a:rPr>
              <a:t>fiscal years </a:t>
            </a:r>
            <a:r>
              <a:rPr lang="en-US" sz="700" dirty="0">
                <a:solidFill>
                  <a:srgbClr val="00338D"/>
                </a:solidFill>
                <a:latin typeface="Univers for KPMG" panose="020B0603020202020204" pitchFamily="34" charset="0"/>
              </a:rPr>
              <a:t>ended </a:t>
            </a:r>
            <a:r>
              <a:rPr lang="en-US" sz="700" dirty="0" smtClean="0">
                <a:solidFill>
                  <a:srgbClr val="00338D"/>
                </a:solidFill>
                <a:latin typeface="Univers for KPMG" panose="020B0603020202020204" pitchFamily="34" charset="0"/>
              </a:rPr>
              <a:t>December 31, 2016 and 2017. </a:t>
            </a:r>
          </a:p>
          <a:p>
            <a:pPr defTabSz="762000" eaLnBrk="0" hangingPunct="0">
              <a:lnSpc>
                <a:spcPct val="90000"/>
              </a:lnSpc>
            </a:pPr>
            <a:endParaRPr lang="en-US" sz="700" dirty="0" smtClean="0">
              <a:solidFill>
                <a:srgbClr val="00338D"/>
              </a:solidFill>
              <a:latin typeface="Univers for KPMG" panose="020B0603020202020204" pitchFamily="34" charset="0"/>
            </a:endParaRPr>
          </a:p>
          <a:p>
            <a:pPr defTabSz="762000" eaLnBrk="0" hangingPunct="0">
              <a:lnSpc>
                <a:spcPct val="90000"/>
              </a:lnSpc>
            </a:pPr>
            <a:r>
              <a:rPr lang="en-US" sz="700" dirty="0" smtClean="0">
                <a:solidFill>
                  <a:srgbClr val="00338D"/>
                </a:solidFill>
                <a:latin typeface="Univers for KPMG" panose="020B0603020202020204" pitchFamily="34" charset="0"/>
              </a:rPr>
              <a:t>The proposed </a:t>
            </a:r>
            <a:r>
              <a:rPr lang="en-US" sz="700" dirty="0">
                <a:solidFill>
                  <a:srgbClr val="00338D"/>
                </a:solidFill>
                <a:latin typeface="Univers for KPMG" panose="020B0603020202020204" pitchFamily="34" charset="0"/>
              </a:rPr>
              <a:t>adjustments are not </a:t>
            </a:r>
            <a:r>
              <a:rPr lang="en-US" sz="700" dirty="0" smtClean="0">
                <a:solidFill>
                  <a:srgbClr val="00338D"/>
                </a:solidFill>
                <a:latin typeface="Univers for KPMG" panose="020B0603020202020204" pitchFamily="34" charset="0"/>
              </a:rPr>
              <a:t>necessarily all-inclusive and are based on information provided by Management to date. Further analysis and access to additional information could uncover additional or different proposed adjustments.</a:t>
            </a:r>
          </a:p>
        </p:txBody>
      </p:sp>
      <p:sp>
        <p:nvSpPr>
          <p:cNvPr id="9" name="Titre 5"/>
          <p:cNvSpPr>
            <a:spLocks noGrp="1"/>
          </p:cNvSpPr>
          <p:nvPr>
            <p:ph type="title"/>
          </p:nvPr>
        </p:nvSpPr>
        <p:spPr>
          <a:xfrm>
            <a:off x="431799" y="228600"/>
            <a:ext cx="8280401" cy="784830"/>
          </a:xfrm>
        </p:spPr>
        <p:txBody>
          <a:bodyPr/>
          <a:lstStyle/>
          <a:p>
            <a:r>
              <a:rPr lang="en-CA" sz="2400" dirty="0">
                <a:solidFill>
                  <a:prstClr val="white">
                    <a:lumMod val="50000"/>
                  </a:prstClr>
                </a:solidFill>
              </a:rPr>
              <a:t>Supporting analysis</a:t>
            </a:r>
            <a:r>
              <a:rPr lang="en-CA" dirty="0" smtClean="0"/>
              <a:t/>
            </a:r>
            <a:br>
              <a:rPr lang="en-CA" dirty="0" smtClean="0"/>
            </a:br>
            <a:r>
              <a:rPr lang="en-CA" sz="4400" dirty="0" smtClean="0"/>
              <a:t>Quality of earnings (</a:t>
            </a:r>
            <a:r>
              <a:rPr lang="en-CA" sz="4400" dirty="0"/>
              <a:t>1</a:t>
            </a:r>
            <a:r>
              <a:rPr lang="en-CA" sz="4400" dirty="0" smtClean="0"/>
              <a:t>) – </a:t>
            </a:r>
            <a:r>
              <a:rPr lang="en-CA" sz="4400" i="1" dirty="0" smtClean="0"/>
              <a:t>Overview</a:t>
            </a:r>
            <a:endParaRPr lang="en-CA" sz="4400" i="1" dirty="0"/>
          </a:p>
        </p:txBody>
      </p:sp>
      <p:sp>
        <p:nvSpPr>
          <p:cNvPr id="11" name="TextBox 10"/>
          <p:cNvSpPr txBox="1"/>
          <p:nvPr/>
        </p:nvSpPr>
        <p:spPr>
          <a:xfrm>
            <a:off x="2135867" y="3183869"/>
            <a:ext cx="2825878" cy="129570"/>
          </a:xfrm>
          <a:prstGeom prst="rect">
            <a:avLst/>
          </a:prstGeom>
          <a:noFill/>
        </p:spPr>
        <p:txBody>
          <a:bodyPr wrap="square" lIns="0" tIns="0" rIns="0" bIns="0" rtlCol="0">
            <a:noAutofit/>
          </a:bodyPr>
          <a:lstStyle/>
          <a:p>
            <a:r>
              <a:rPr lang="en-US" sz="600" i="1" dirty="0" smtClean="0">
                <a:cs typeface="Arial" pitchFamily="34" charset="0"/>
              </a:rPr>
              <a:t>Source: Management provided information</a:t>
            </a:r>
          </a:p>
        </p:txBody>
      </p:sp>
      <p:pic>
        <p:nvPicPr>
          <p:cNvPr id="2" name="Picture 1"/>
          <p:cNvPicPr>
            <a:picLocks noChangeAspect="1"/>
          </p:cNvPicPr>
          <p:nvPr/>
        </p:nvPicPr>
        <p:blipFill>
          <a:blip r:embed="rId4"/>
          <a:stretch>
            <a:fillRect/>
          </a:stretch>
        </p:blipFill>
        <p:spPr>
          <a:xfrm>
            <a:off x="2135867" y="1269995"/>
            <a:ext cx="2650852" cy="1913600"/>
          </a:xfrm>
          <a:prstGeom prst="rect">
            <a:avLst/>
          </a:prstGeom>
        </p:spPr>
      </p:pic>
    </p:spTree>
    <p:extLst>
      <p:ext uri="{BB962C8B-B14F-4D97-AF65-F5344CB8AC3E}">
        <p14:creationId xmlns:p14="http://schemas.microsoft.com/office/powerpoint/2010/main" val="210001986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Espace réservé du texte 3"/>
          <p:cNvSpPr>
            <a:spLocks noGrp="1"/>
          </p:cNvSpPr>
          <p:nvPr>
            <p:ph type="body" sz="quarter" idx="15"/>
          </p:nvPr>
        </p:nvSpPr>
        <p:spPr>
          <a:xfrm>
            <a:off x="3931920" y="1271016"/>
            <a:ext cx="4868332" cy="4813309"/>
          </a:xfrm>
          <a:prstGeom prst="rect">
            <a:avLst/>
          </a:prstGeom>
        </p:spPr>
        <p:txBody>
          <a:bodyPr tIns="0"/>
          <a:lstStyle/>
          <a:p>
            <a:pPr algn="just">
              <a:spcAft>
                <a:spcPts val="0"/>
              </a:spcAft>
            </a:pPr>
            <a:r>
              <a:rPr lang="en-CA" dirty="0" smtClean="0"/>
              <a:t>Management </a:t>
            </a:r>
            <a:r>
              <a:rPr lang="en-CA" dirty="0"/>
              <a:t>adjustments</a:t>
            </a:r>
          </a:p>
          <a:p>
            <a:pPr marL="0" lvl="2" indent="0" algn="just">
              <a:spcBef>
                <a:spcPts val="600"/>
              </a:spcBef>
              <a:spcAft>
                <a:spcPts val="0"/>
              </a:spcAft>
              <a:buClr>
                <a:srgbClr val="97989A"/>
              </a:buClr>
              <a:buNone/>
              <a:defRPr/>
            </a:pPr>
            <a:r>
              <a:rPr lang="en-US" dirty="0" smtClean="0">
                <a:solidFill>
                  <a:schemeClr val="tx1"/>
                </a:solidFill>
                <a:latin typeface="Univers for KPMG" panose="020B0603020202020204" pitchFamily="34" charset="0"/>
              </a:rPr>
              <a:t>The following are adjustments to reported USA EBITDA identified by Management: </a:t>
            </a:r>
            <a:endParaRPr lang="en-US" dirty="0">
              <a:solidFill>
                <a:schemeClr val="tx1"/>
              </a:solidFill>
              <a:latin typeface="Univers for KPMG" panose="020B0603020202020204" pitchFamily="34" charset="0"/>
            </a:endParaRPr>
          </a:p>
          <a:p>
            <a:pPr marL="228600" lvl="2" indent="-228600" algn="just">
              <a:spcBef>
                <a:spcPts val="600"/>
              </a:spcBef>
              <a:spcAft>
                <a:spcPts val="0"/>
              </a:spcAft>
              <a:buClr>
                <a:srgbClr val="97989A"/>
              </a:buClr>
              <a:buFont typeface="Univers for KPMG Light" panose="020B0403020202020204" pitchFamily="34" charset="0"/>
              <a:buAutoNum type="arabicPeriod"/>
              <a:defRPr/>
            </a:pPr>
            <a:r>
              <a:rPr lang="en-CA" b="1" dirty="0" smtClean="0">
                <a:solidFill>
                  <a:schemeClr val="tx1"/>
                </a:solidFill>
                <a:latin typeface="Univers for KPMG" panose="020B0603020202020204" pitchFamily="34" charset="0"/>
              </a:rPr>
              <a:t>Other income / other expense:</a:t>
            </a:r>
            <a:r>
              <a:rPr lang="en-CA" dirty="0" smtClean="0">
                <a:solidFill>
                  <a:schemeClr val="tx1"/>
                </a:solidFill>
                <a:latin typeface="Univers for KPMG" panose="020B0603020202020204" pitchFamily="34" charset="0"/>
              </a:rPr>
              <a:t> This adjustment primarily relates to the reversal of $440,000 of contingent liabilities which were released into other income in FY17. In December 2017, Management reversed a $300,000 contingent liability associated with the acquisition of TheraStaff as the terms for paying out this amount were not achieved. Management also decreased the acquisition payable amount associated with the acquisition of SoundAdvice as the amount payable is currently estimated to be approximately $30,000 compared to the $170,000 that was initially booked. We understand that the contingent purchase obligations are excluded from the transaction and will be settled prior to close. This amount is included in the net debt analysis. </a:t>
            </a:r>
          </a:p>
          <a:p>
            <a:pPr marL="228600" lvl="2" indent="-228600" algn="just">
              <a:spcBef>
                <a:spcPts val="600"/>
              </a:spcBef>
              <a:spcAft>
                <a:spcPts val="0"/>
              </a:spcAft>
              <a:buClr>
                <a:srgbClr val="97989A"/>
              </a:buClr>
              <a:buFont typeface="Univers for KPMG Light" panose="020B0403020202020204" pitchFamily="34" charset="0"/>
              <a:buAutoNum type="arabicPeriod"/>
              <a:defRPr/>
            </a:pPr>
            <a:r>
              <a:rPr lang="en-CA" dirty="0" smtClean="0">
                <a:solidFill>
                  <a:schemeClr val="tx1"/>
                </a:solidFill>
                <a:latin typeface="Univers for KPMG" panose="020B0603020202020204" pitchFamily="34" charset="0"/>
              </a:rPr>
              <a:t>The remainder of this adjustment includes individually insignificant non-recurring items </a:t>
            </a:r>
            <a:r>
              <a:rPr lang="en-US" dirty="0">
                <a:solidFill>
                  <a:schemeClr val="tx1"/>
                </a:solidFill>
                <a:latin typeface="Univers for KPMG" panose="020B0603020202020204" pitchFamily="34" charset="0"/>
              </a:rPr>
              <a:t>as well as exchange gains and </a:t>
            </a:r>
            <a:r>
              <a:rPr lang="en-US" dirty="0" smtClean="0">
                <a:solidFill>
                  <a:schemeClr val="tx1"/>
                </a:solidFill>
                <a:latin typeface="Univers for KPMG" panose="020B0603020202020204" pitchFamily="34" charset="0"/>
              </a:rPr>
              <a:t>losses.</a:t>
            </a:r>
            <a:endParaRPr lang="en-CA" dirty="0" smtClean="0">
              <a:solidFill>
                <a:schemeClr val="tx1"/>
              </a:solidFill>
              <a:latin typeface="Univers for KPMG" panose="020B0603020202020204" pitchFamily="34" charset="0"/>
            </a:endParaRPr>
          </a:p>
          <a:p>
            <a:pPr marL="228600" lvl="2" indent="-228600" algn="just">
              <a:spcBef>
                <a:spcPts val="600"/>
              </a:spcBef>
              <a:spcAft>
                <a:spcPts val="0"/>
              </a:spcAft>
              <a:buClr>
                <a:srgbClr val="97989A"/>
              </a:buClr>
              <a:buFont typeface="Univers for KPMG Light" panose="020B0403020202020204" pitchFamily="34" charset="0"/>
              <a:buAutoNum type="arabicPeriod"/>
              <a:defRPr/>
            </a:pPr>
            <a:endParaRPr lang="en-CA" dirty="0">
              <a:solidFill>
                <a:schemeClr val="tx1"/>
              </a:solidFill>
              <a:latin typeface="Univers for KPMG" panose="020B0603020202020204" pitchFamily="34" charset="0"/>
            </a:endParaRPr>
          </a:p>
          <a:p>
            <a:pPr marL="0" lvl="2" indent="0" algn="just">
              <a:spcBef>
                <a:spcPts val="600"/>
              </a:spcBef>
              <a:spcAft>
                <a:spcPts val="0"/>
              </a:spcAft>
              <a:buClr>
                <a:srgbClr val="97989A"/>
              </a:buClr>
              <a:buNone/>
              <a:defRPr/>
            </a:pPr>
            <a:endParaRPr lang="en-CA" dirty="0" smtClean="0">
              <a:solidFill>
                <a:schemeClr val="tx1"/>
              </a:solidFill>
              <a:latin typeface="Univers for KPMG" panose="020B0603020202020204" pitchFamily="34" charset="0"/>
            </a:endParaRPr>
          </a:p>
          <a:p>
            <a:pPr marL="0" lvl="2" indent="0" algn="just">
              <a:spcBef>
                <a:spcPts val="600"/>
              </a:spcBef>
              <a:spcAft>
                <a:spcPts val="0"/>
              </a:spcAft>
              <a:buClr>
                <a:srgbClr val="97989A"/>
              </a:buClr>
              <a:buNone/>
              <a:defRPr/>
            </a:pPr>
            <a:endParaRPr lang="en-CA" dirty="0">
              <a:solidFill>
                <a:schemeClr val="tx1"/>
              </a:solidFill>
              <a:latin typeface="Univers for KPMG" panose="020B0603020202020204" pitchFamily="34" charset="0"/>
            </a:endParaRPr>
          </a:p>
          <a:p>
            <a:pPr marL="411480" lvl="3" indent="-228600" algn="just">
              <a:spcBef>
                <a:spcPts val="600"/>
              </a:spcBef>
              <a:spcAft>
                <a:spcPts val="0"/>
              </a:spcAft>
              <a:buClr>
                <a:srgbClr val="97989A"/>
              </a:buClr>
              <a:buFont typeface="+mj-lt"/>
              <a:buAutoNum type="alphaLcParenR"/>
              <a:defRPr/>
            </a:pPr>
            <a:endParaRPr lang="en-US" dirty="0">
              <a:solidFill>
                <a:schemeClr val="tx1"/>
              </a:solidFill>
              <a:latin typeface="Univers for KPMG" panose="020B0603020202020204" pitchFamily="34" charset="0"/>
            </a:endParaRPr>
          </a:p>
          <a:p>
            <a:pPr marL="411480" lvl="3" indent="-228600" algn="just">
              <a:spcBef>
                <a:spcPts val="600"/>
              </a:spcBef>
              <a:spcAft>
                <a:spcPts val="0"/>
              </a:spcAft>
              <a:buClr>
                <a:srgbClr val="97989A"/>
              </a:buClr>
              <a:buFont typeface="+mj-lt"/>
              <a:buAutoNum type="alphaLcParenR"/>
              <a:defRPr/>
            </a:pPr>
            <a:endParaRPr lang="en-US" dirty="0" smtClean="0">
              <a:solidFill>
                <a:schemeClr val="tx1"/>
              </a:solidFill>
              <a:latin typeface="Univers for KPMG" panose="020B0603020202020204" pitchFamily="34" charset="0"/>
            </a:endParaRPr>
          </a:p>
          <a:p>
            <a:pPr marL="411480" lvl="3" indent="-228600" algn="just">
              <a:spcBef>
                <a:spcPts val="600"/>
              </a:spcBef>
              <a:spcAft>
                <a:spcPts val="0"/>
              </a:spcAft>
              <a:buClr>
                <a:srgbClr val="97989A"/>
              </a:buClr>
              <a:buFont typeface="+mj-lt"/>
              <a:buAutoNum type="alphaLcParenR"/>
              <a:defRPr/>
            </a:pPr>
            <a:endParaRPr lang="en-US" dirty="0">
              <a:solidFill>
                <a:schemeClr val="tx1"/>
              </a:solidFill>
              <a:latin typeface="Univers for KPMG" panose="020B0603020202020204" pitchFamily="34" charset="0"/>
            </a:endParaRPr>
          </a:p>
          <a:p>
            <a:pPr marL="411480" lvl="3" indent="-228600" algn="just">
              <a:spcBef>
                <a:spcPts val="600"/>
              </a:spcBef>
              <a:spcAft>
                <a:spcPts val="0"/>
              </a:spcAft>
              <a:buClr>
                <a:srgbClr val="97989A"/>
              </a:buClr>
              <a:buFont typeface="+mj-lt"/>
              <a:buAutoNum type="alphaLcParenR"/>
              <a:defRPr/>
            </a:pPr>
            <a:endParaRPr lang="en-US" dirty="0" smtClean="0">
              <a:solidFill>
                <a:schemeClr val="tx1"/>
              </a:solidFill>
              <a:latin typeface="Univers for KPMG" panose="020B0603020202020204" pitchFamily="34" charset="0"/>
            </a:endParaRPr>
          </a:p>
          <a:p>
            <a:pPr marL="411480" lvl="3" indent="-228600" algn="just">
              <a:spcBef>
                <a:spcPts val="600"/>
              </a:spcBef>
              <a:spcAft>
                <a:spcPts val="0"/>
              </a:spcAft>
              <a:buClr>
                <a:srgbClr val="97989A"/>
              </a:buClr>
              <a:buFont typeface="+mj-lt"/>
              <a:buAutoNum type="alphaLcParenR"/>
              <a:defRPr/>
            </a:pPr>
            <a:endParaRPr lang="en-US" dirty="0">
              <a:solidFill>
                <a:schemeClr val="tx1"/>
              </a:solidFill>
              <a:latin typeface="Univers for KPMG" panose="020B0603020202020204" pitchFamily="34" charset="0"/>
            </a:endParaRPr>
          </a:p>
          <a:p>
            <a:pPr marL="228600" lvl="2" indent="-228600" algn="just">
              <a:spcBef>
                <a:spcPts val="600"/>
              </a:spcBef>
              <a:spcAft>
                <a:spcPts val="0"/>
              </a:spcAft>
              <a:buClr>
                <a:srgbClr val="97989A"/>
              </a:buClr>
              <a:buFont typeface="Univers for KPMG Light" panose="020B0403020202020204" pitchFamily="34" charset="0"/>
              <a:buAutoNum type="arabicPeriod"/>
              <a:defRPr/>
            </a:pPr>
            <a:endParaRPr lang="en-US" b="1" dirty="0">
              <a:solidFill>
                <a:schemeClr val="tx1"/>
              </a:solidFill>
              <a:latin typeface="Univers for KPMG" panose="020B0603020202020204" pitchFamily="34" charset="0"/>
            </a:endParaRPr>
          </a:p>
          <a:p>
            <a:pPr marL="228600" lvl="2" indent="-228600" algn="just">
              <a:spcBef>
                <a:spcPts val="600"/>
              </a:spcBef>
              <a:spcAft>
                <a:spcPts val="0"/>
              </a:spcAft>
              <a:buClr>
                <a:srgbClr val="97989A"/>
              </a:buClr>
              <a:buFont typeface="Univers for KPMG Light" panose="020B0403020202020204" pitchFamily="34" charset="0"/>
              <a:buAutoNum type="arabicPeriod"/>
              <a:defRPr/>
            </a:pPr>
            <a:endParaRPr lang="en-US" b="1" dirty="0" smtClean="0">
              <a:solidFill>
                <a:schemeClr val="tx1"/>
              </a:solidFill>
              <a:latin typeface="Univers for KPMG" panose="020B0603020202020204" pitchFamily="34" charset="0"/>
            </a:endParaRPr>
          </a:p>
          <a:p>
            <a:pPr marL="228600" lvl="2" indent="-228600" algn="just">
              <a:spcBef>
                <a:spcPts val="600"/>
              </a:spcBef>
              <a:spcAft>
                <a:spcPts val="0"/>
              </a:spcAft>
              <a:buClr>
                <a:srgbClr val="97989A"/>
              </a:buClr>
              <a:buFont typeface="Univers for KPMG Light" panose="020B0403020202020204" pitchFamily="34" charset="0"/>
              <a:buAutoNum type="arabicPeriod"/>
              <a:defRPr/>
            </a:pPr>
            <a:endParaRPr lang="en-US" b="1" dirty="0">
              <a:solidFill>
                <a:schemeClr val="tx1"/>
              </a:solidFill>
              <a:latin typeface="Univers for KPMG" panose="020B0603020202020204" pitchFamily="34" charset="0"/>
            </a:endParaRPr>
          </a:p>
          <a:p>
            <a:pPr marL="228600" lvl="2" indent="-228600" algn="just">
              <a:spcBef>
                <a:spcPts val="600"/>
              </a:spcBef>
              <a:spcAft>
                <a:spcPts val="0"/>
              </a:spcAft>
              <a:buClr>
                <a:srgbClr val="97989A"/>
              </a:buClr>
              <a:buFont typeface="Univers for KPMG Light" panose="020B0403020202020204" pitchFamily="34" charset="0"/>
              <a:buAutoNum type="arabicPeriod"/>
              <a:defRPr/>
            </a:pPr>
            <a:endParaRPr lang="en-US" b="1" dirty="0" smtClean="0">
              <a:solidFill>
                <a:schemeClr val="tx1"/>
              </a:solidFill>
              <a:latin typeface="Univers for KPMG" panose="020B0603020202020204" pitchFamily="34" charset="0"/>
            </a:endParaRPr>
          </a:p>
        </p:txBody>
      </p:sp>
      <p:pic>
        <p:nvPicPr>
          <p:cNvPr id="4" name="Picture 3"/>
          <p:cNvPicPr>
            <a:picLocks noChangeAspect="1"/>
          </p:cNvPicPr>
          <p:nvPr/>
        </p:nvPicPr>
        <p:blipFill>
          <a:blip r:embed="rId3"/>
          <a:stretch>
            <a:fillRect/>
          </a:stretch>
        </p:blipFill>
        <p:spPr>
          <a:xfrm>
            <a:off x="4217088" y="3516335"/>
            <a:ext cx="1518029" cy="724377"/>
          </a:xfrm>
          <a:prstGeom prst="rect">
            <a:avLst/>
          </a:prstGeom>
        </p:spPr>
      </p:pic>
      <p:sp>
        <p:nvSpPr>
          <p:cNvPr id="6" name="Titre 5"/>
          <p:cNvSpPr>
            <a:spLocks noGrp="1"/>
          </p:cNvSpPr>
          <p:nvPr>
            <p:ph type="title"/>
          </p:nvPr>
        </p:nvSpPr>
        <p:spPr>
          <a:xfrm>
            <a:off x="431799" y="228600"/>
            <a:ext cx="8280401" cy="784830"/>
          </a:xfrm>
        </p:spPr>
        <p:txBody>
          <a:bodyPr/>
          <a:lstStyle/>
          <a:p>
            <a:r>
              <a:rPr lang="en-CA" sz="2400" dirty="0">
                <a:solidFill>
                  <a:prstClr val="white">
                    <a:lumMod val="50000"/>
                  </a:prstClr>
                </a:solidFill>
              </a:rPr>
              <a:t>Supporting analysis</a:t>
            </a:r>
            <a:r>
              <a:rPr lang="en-CA" dirty="0" smtClean="0"/>
              <a:t/>
            </a:r>
            <a:br>
              <a:rPr lang="en-CA" dirty="0" smtClean="0"/>
            </a:br>
            <a:r>
              <a:rPr lang="en-CA" sz="4400" dirty="0" smtClean="0"/>
              <a:t>Quality of earnings (</a:t>
            </a:r>
            <a:r>
              <a:rPr lang="en-CA" sz="4400" dirty="0"/>
              <a:t>2</a:t>
            </a:r>
            <a:r>
              <a:rPr lang="en-CA" sz="4400" dirty="0" smtClean="0"/>
              <a:t>) – </a:t>
            </a:r>
            <a:r>
              <a:rPr lang="en-CA" sz="4400" i="1" dirty="0" smtClean="0"/>
              <a:t>Management adjustments</a:t>
            </a:r>
            <a:endParaRPr lang="en-CA" sz="4400" i="1" dirty="0"/>
          </a:p>
        </p:txBody>
      </p:sp>
      <p:sp>
        <p:nvSpPr>
          <p:cNvPr id="11" name="TextBox 10"/>
          <p:cNvSpPr txBox="1"/>
          <p:nvPr/>
        </p:nvSpPr>
        <p:spPr>
          <a:xfrm>
            <a:off x="4218518" y="4231158"/>
            <a:ext cx="3033197" cy="92333"/>
          </a:xfrm>
          <a:prstGeom prst="rect">
            <a:avLst/>
          </a:prstGeom>
          <a:noFill/>
        </p:spPr>
        <p:txBody>
          <a:bodyPr wrap="square" lIns="0" tIns="0" rIns="0" bIns="0" rtlCol="0">
            <a:spAutoFit/>
          </a:bodyPr>
          <a:lstStyle/>
          <a:p>
            <a:pPr marL="288925" indent="-288925"/>
            <a:r>
              <a:rPr lang="en-US" sz="600" i="1" dirty="0" smtClean="0">
                <a:solidFill>
                  <a:srgbClr val="000000"/>
                </a:solidFill>
                <a:cs typeface="Arial" pitchFamily="34" charset="0"/>
              </a:rPr>
              <a:t>Source: Management provided information</a:t>
            </a:r>
          </a:p>
        </p:txBody>
      </p:sp>
      <p:sp>
        <p:nvSpPr>
          <p:cNvPr id="10" name="TextBox 9"/>
          <p:cNvSpPr txBox="1"/>
          <p:nvPr/>
        </p:nvSpPr>
        <p:spPr>
          <a:xfrm>
            <a:off x="431799" y="4605629"/>
            <a:ext cx="2825878" cy="129570"/>
          </a:xfrm>
          <a:prstGeom prst="rect">
            <a:avLst/>
          </a:prstGeom>
          <a:noFill/>
        </p:spPr>
        <p:txBody>
          <a:bodyPr wrap="square" lIns="0" tIns="0" rIns="0" bIns="0" rtlCol="0">
            <a:noAutofit/>
          </a:bodyPr>
          <a:lstStyle/>
          <a:p>
            <a:r>
              <a:rPr lang="en-US" sz="600" i="1" dirty="0" smtClean="0">
                <a:cs typeface="Arial" pitchFamily="34" charset="0"/>
              </a:rPr>
              <a:t>Source: Management provided information</a:t>
            </a:r>
          </a:p>
        </p:txBody>
      </p:sp>
      <p:pic>
        <p:nvPicPr>
          <p:cNvPr id="7" name="Picture 6"/>
          <p:cNvPicPr>
            <a:picLocks noChangeAspect="1"/>
          </p:cNvPicPr>
          <p:nvPr/>
        </p:nvPicPr>
        <p:blipFill>
          <a:blip r:embed="rId4"/>
          <a:stretch>
            <a:fillRect/>
          </a:stretch>
        </p:blipFill>
        <p:spPr>
          <a:xfrm>
            <a:off x="431799" y="1271015"/>
            <a:ext cx="2871383" cy="3334614"/>
          </a:xfrm>
          <a:prstGeom prst="rect">
            <a:avLst/>
          </a:prstGeom>
        </p:spPr>
      </p:pic>
    </p:spTree>
    <p:extLst>
      <p:ext uri="{BB962C8B-B14F-4D97-AF65-F5344CB8AC3E}">
        <p14:creationId xmlns:p14="http://schemas.microsoft.com/office/powerpoint/2010/main" val="116184260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Espace réservé du texte 3"/>
          <p:cNvSpPr>
            <a:spLocks noGrp="1"/>
          </p:cNvSpPr>
          <p:nvPr>
            <p:ph type="body" sz="quarter" idx="15"/>
          </p:nvPr>
        </p:nvSpPr>
        <p:spPr>
          <a:xfrm>
            <a:off x="3931920" y="1271016"/>
            <a:ext cx="4868332" cy="4813309"/>
          </a:xfrm>
          <a:prstGeom prst="rect">
            <a:avLst/>
          </a:prstGeom>
        </p:spPr>
        <p:txBody>
          <a:bodyPr tIns="0"/>
          <a:lstStyle/>
          <a:p>
            <a:pPr algn="just">
              <a:spcAft>
                <a:spcPts val="0"/>
              </a:spcAft>
            </a:pPr>
            <a:r>
              <a:rPr lang="en-CA" dirty="0" smtClean="0"/>
              <a:t>Management adjustments (continued)</a:t>
            </a:r>
            <a:endParaRPr lang="en-CA" dirty="0"/>
          </a:p>
          <a:p>
            <a:pPr marL="228600" lvl="2" indent="-228600" algn="just">
              <a:spcBef>
                <a:spcPts val="600"/>
              </a:spcBef>
              <a:spcAft>
                <a:spcPts val="0"/>
              </a:spcAft>
              <a:buClr>
                <a:srgbClr val="97989A"/>
              </a:buClr>
              <a:buFont typeface="+mj-lt"/>
              <a:buAutoNum type="arabicPeriod" startAt="2"/>
              <a:defRPr/>
            </a:pPr>
            <a:r>
              <a:rPr lang="en-CA" b="1" dirty="0" smtClean="0">
                <a:solidFill>
                  <a:schemeClr val="tx1"/>
                </a:solidFill>
                <a:latin typeface="Univers for KPMG" panose="020B0603020202020204" pitchFamily="34" charset="0"/>
              </a:rPr>
              <a:t>Transaction expenses:</a:t>
            </a:r>
            <a:r>
              <a:rPr lang="en-CA" dirty="0" smtClean="0">
                <a:solidFill>
                  <a:schemeClr val="tx1"/>
                </a:solidFill>
                <a:latin typeface="Univers for KPMG" panose="020B0603020202020204" pitchFamily="34" charset="0"/>
              </a:rPr>
              <a:t> The following reflect adjustments </a:t>
            </a:r>
            <a:r>
              <a:rPr lang="en-US" dirty="0" smtClean="0">
                <a:solidFill>
                  <a:schemeClr val="tx1"/>
                </a:solidFill>
                <a:latin typeface="Univers for KPMG" panose="020B0603020202020204" pitchFamily="34" charset="0"/>
              </a:rPr>
              <a:t>associated </a:t>
            </a:r>
            <a:r>
              <a:rPr lang="en-US" dirty="0">
                <a:solidFill>
                  <a:schemeClr val="tx1"/>
                </a:solidFill>
                <a:latin typeface="Univers for KPMG" panose="020B0603020202020204" pitchFamily="34" charset="0"/>
              </a:rPr>
              <a:t>with </a:t>
            </a:r>
            <a:r>
              <a:rPr lang="en-US" dirty="0" smtClean="0">
                <a:solidFill>
                  <a:schemeClr val="tx1"/>
                </a:solidFill>
                <a:latin typeface="Univers for KPMG" panose="020B0603020202020204" pitchFamily="34" charset="0"/>
              </a:rPr>
              <a:t>the Company’s past acquisitions and professional fees which Management considers to be non-recurring:</a:t>
            </a:r>
          </a:p>
          <a:p>
            <a:pPr marL="411480" lvl="3" indent="-228600" algn="just">
              <a:spcBef>
                <a:spcPts val="600"/>
              </a:spcBef>
              <a:spcAft>
                <a:spcPts val="0"/>
              </a:spcAft>
              <a:buClr>
                <a:srgbClr val="97989A"/>
              </a:buClr>
              <a:buFont typeface="+mj-lt"/>
              <a:buAutoNum type="alphaLcParenR"/>
              <a:defRPr/>
            </a:pPr>
            <a:r>
              <a:rPr lang="en-US" b="1" dirty="0" smtClean="0">
                <a:solidFill>
                  <a:schemeClr val="tx1"/>
                </a:solidFill>
                <a:latin typeface="Univers for KPMG" panose="020B0603020202020204" pitchFamily="34" charset="0"/>
              </a:rPr>
              <a:t>Acquisition related consulting fees: </a:t>
            </a:r>
            <a:r>
              <a:rPr lang="en-US" dirty="0" smtClean="0">
                <a:solidFill>
                  <a:schemeClr val="tx1"/>
                </a:solidFill>
                <a:latin typeface="Univers for KPMG" panose="020B0603020202020204" pitchFamily="34" charset="0"/>
              </a:rPr>
              <a:t>Costs related to the acquisition of TheraStaff (FY16) and fees to Capstone regarding the contemplated transaction. We obtained supporting invoices for the Capstone consulting fees related to the transaction with no discrepancies noted. </a:t>
            </a:r>
            <a:endParaRPr lang="en-US" dirty="0">
              <a:solidFill>
                <a:schemeClr val="tx1"/>
              </a:solidFill>
              <a:latin typeface="Univers for KPMG" panose="020B0603020202020204" pitchFamily="34" charset="0"/>
            </a:endParaRPr>
          </a:p>
          <a:p>
            <a:pPr marL="411480" lvl="3" indent="-228600" algn="just">
              <a:spcBef>
                <a:spcPts val="600"/>
              </a:spcBef>
              <a:spcAft>
                <a:spcPts val="0"/>
              </a:spcAft>
              <a:buClr>
                <a:srgbClr val="97989A"/>
              </a:buClr>
              <a:buFont typeface="+mj-lt"/>
              <a:buAutoNum type="alphaLcParenR"/>
              <a:defRPr/>
            </a:pPr>
            <a:r>
              <a:rPr lang="en-US" b="1" dirty="0">
                <a:solidFill>
                  <a:schemeClr val="tx1"/>
                </a:solidFill>
                <a:latin typeface="Univers for KPMG" panose="020B0603020202020204" pitchFamily="34" charset="0"/>
              </a:rPr>
              <a:t>Non-recurring audit fees: </a:t>
            </a:r>
            <a:r>
              <a:rPr lang="en-US" dirty="0" smtClean="0">
                <a:solidFill>
                  <a:schemeClr val="tx1"/>
                </a:solidFill>
                <a:latin typeface="Univers for KPMG" panose="020B0603020202020204" pitchFamily="34" charset="0"/>
              </a:rPr>
              <a:t>Represents </a:t>
            </a:r>
            <a:r>
              <a:rPr lang="en-US" dirty="0">
                <a:solidFill>
                  <a:schemeClr val="tx1"/>
                </a:solidFill>
                <a:latin typeface="Univers for KPMG" panose="020B0603020202020204" pitchFamily="34" charset="0"/>
              </a:rPr>
              <a:t>t</a:t>
            </a:r>
            <a:r>
              <a:rPr lang="en-US" dirty="0" smtClean="0">
                <a:solidFill>
                  <a:schemeClr val="tx1"/>
                </a:solidFill>
                <a:latin typeface="Univers for KPMG" panose="020B0603020202020204" pitchFamily="34" charset="0"/>
              </a:rPr>
              <a:t>he </a:t>
            </a:r>
            <a:r>
              <a:rPr lang="en-US" dirty="0">
                <a:solidFill>
                  <a:schemeClr val="tx1"/>
                </a:solidFill>
                <a:latin typeface="Univers for KPMG" panose="020B0603020202020204" pitchFamily="34" charset="0"/>
              </a:rPr>
              <a:t>Company’s annual audit fees for </a:t>
            </a:r>
            <a:r>
              <a:rPr lang="en-US" dirty="0" smtClean="0">
                <a:solidFill>
                  <a:schemeClr val="tx1"/>
                </a:solidFill>
                <a:latin typeface="Univers for KPMG" panose="020B0603020202020204" pitchFamily="34" charset="0"/>
              </a:rPr>
              <a:t>FY16.  </a:t>
            </a:r>
            <a:r>
              <a:rPr lang="en-US" dirty="0">
                <a:solidFill>
                  <a:schemeClr val="tx1"/>
                </a:solidFill>
                <a:latin typeface="Univers for KPMG" panose="020B0603020202020204" pitchFamily="34" charset="0"/>
              </a:rPr>
              <a:t>See QofE adjustment </a:t>
            </a:r>
            <a:r>
              <a:rPr lang="en-US" dirty="0" smtClean="0">
                <a:solidFill>
                  <a:schemeClr val="tx1"/>
                </a:solidFill>
                <a:latin typeface="Univers for KPMG" panose="020B0603020202020204" pitchFamily="34" charset="0"/>
              </a:rPr>
              <a:t>#8 </a:t>
            </a:r>
            <a:r>
              <a:rPr lang="en-US" dirty="0">
                <a:solidFill>
                  <a:schemeClr val="tx1"/>
                </a:solidFill>
                <a:latin typeface="Univers for KPMG" panose="020B0603020202020204" pitchFamily="34" charset="0"/>
              </a:rPr>
              <a:t>for further considerations. </a:t>
            </a:r>
            <a:endParaRPr lang="en-US" dirty="0" smtClean="0">
              <a:solidFill>
                <a:schemeClr val="tx1"/>
              </a:solidFill>
              <a:latin typeface="Univers for KPMG" panose="020B0603020202020204" pitchFamily="34" charset="0"/>
            </a:endParaRPr>
          </a:p>
          <a:p>
            <a:pPr marL="411480" lvl="3" indent="-228600" algn="just">
              <a:spcBef>
                <a:spcPts val="600"/>
              </a:spcBef>
              <a:spcAft>
                <a:spcPts val="0"/>
              </a:spcAft>
              <a:buClr>
                <a:srgbClr val="97989A"/>
              </a:buClr>
              <a:buFont typeface="+mj-lt"/>
              <a:buAutoNum type="alphaLcParenR"/>
              <a:defRPr/>
            </a:pPr>
            <a:r>
              <a:rPr lang="en-US" b="1" dirty="0" smtClean="0">
                <a:solidFill>
                  <a:schemeClr val="tx1"/>
                </a:solidFill>
                <a:latin typeface="Univers for KPMG" panose="020B0603020202020204" pitchFamily="34" charset="0"/>
              </a:rPr>
              <a:t>Recruiting software implementation fees: </a:t>
            </a:r>
            <a:r>
              <a:rPr lang="en-US" dirty="0" smtClean="0">
                <a:solidFill>
                  <a:schemeClr val="tx1"/>
                </a:solidFill>
                <a:latin typeface="Univers for KPMG" panose="020B0603020202020204" pitchFamily="34" charset="0"/>
              </a:rPr>
              <a:t>Costs related to recruitment of individuals to assist in the upgrading and customizing the Company’s information technology systems in order to integrate QuickBooks and ADP reports. Management represents that these costs are non-recurring in nature. </a:t>
            </a:r>
          </a:p>
          <a:p>
            <a:pPr marL="411480" lvl="3" indent="-228600" algn="just">
              <a:spcBef>
                <a:spcPts val="600"/>
              </a:spcBef>
              <a:spcAft>
                <a:spcPts val="0"/>
              </a:spcAft>
              <a:buClr>
                <a:srgbClr val="97989A"/>
              </a:buClr>
              <a:buFont typeface="+mj-lt"/>
              <a:buAutoNum type="alphaLcParenR"/>
              <a:defRPr/>
            </a:pPr>
            <a:r>
              <a:rPr lang="en-US" b="1" dirty="0" smtClean="0">
                <a:solidFill>
                  <a:schemeClr val="tx1"/>
                </a:solidFill>
                <a:latin typeface="Univers for KPMG" panose="020B0603020202020204" pitchFamily="34" charset="0"/>
              </a:rPr>
              <a:t>Duplicate bank payment: </a:t>
            </a:r>
            <a:r>
              <a:rPr lang="en-US" dirty="0" smtClean="0">
                <a:solidFill>
                  <a:schemeClr val="tx1"/>
                </a:solidFill>
                <a:latin typeface="Univers for KPMG" panose="020B0603020202020204" pitchFamily="34" charset="0"/>
              </a:rPr>
              <a:t>Costs related to the Company’s semi-annual bank audit (Provident bank). </a:t>
            </a:r>
          </a:p>
          <a:p>
            <a:pPr marL="411480" lvl="3" indent="-228600" algn="just">
              <a:spcBef>
                <a:spcPts val="600"/>
              </a:spcBef>
              <a:spcAft>
                <a:spcPts val="0"/>
              </a:spcAft>
              <a:buClr>
                <a:srgbClr val="97989A"/>
              </a:buClr>
              <a:buFont typeface="+mj-lt"/>
              <a:buAutoNum type="alphaLcParenR"/>
              <a:defRPr/>
            </a:pPr>
            <a:r>
              <a:rPr lang="en-US" b="1" dirty="0" smtClean="0">
                <a:solidFill>
                  <a:schemeClr val="tx1"/>
                </a:solidFill>
                <a:latin typeface="Univers for KPMG" panose="020B0603020202020204" pitchFamily="34" charset="0"/>
              </a:rPr>
              <a:t>Acquisition related legal fees: </a:t>
            </a:r>
            <a:r>
              <a:rPr lang="en-US" dirty="0" smtClean="0">
                <a:solidFill>
                  <a:schemeClr val="tx1"/>
                </a:solidFill>
                <a:latin typeface="Univers for KPMG" panose="020B0603020202020204" pitchFamily="34" charset="0"/>
              </a:rPr>
              <a:t>Costs primarily related to the Company’s acquisition of TheraStaff in FY16</a:t>
            </a:r>
            <a:r>
              <a:rPr lang="en-US" dirty="0">
                <a:solidFill>
                  <a:schemeClr val="tx1"/>
                </a:solidFill>
                <a:latin typeface="Univers for KPMG" panose="020B0603020202020204" pitchFamily="34" charset="0"/>
              </a:rPr>
              <a:t> </a:t>
            </a:r>
            <a:r>
              <a:rPr lang="en-US" dirty="0" smtClean="0">
                <a:solidFill>
                  <a:schemeClr val="tx1"/>
                </a:solidFill>
                <a:latin typeface="Univers for KPMG" panose="020B0603020202020204" pitchFamily="34" charset="0"/>
              </a:rPr>
              <a:t>incremental to the costs identified in a) above. </a:t>
            </a:r>
          </a:p>
          <a:p>
            <a:pPr marL="411480" lvl="3" indent="-228600" algn="just">
              <a:spcBef>
                <a:spcPts val="600"/>
              </a:spcBef>
              <a:spcAft>
                <a:spcPts val="0"/>
              </a:spcAft>
              <a:buClr>
                <a:srgbClr val="97989A"/>
              </a:buClr>
              <a:buFont typeface="+mj-lt"/>
              <a:buAutoNum type="alphaLcParenR"/>
              <a:defRPr/>
            </a:pPr>
            <a:r>
              <a:rPr lang="en-US" b="1" dirty="0" smtClean="0">
                <a:solidFill>
                  <a:schemeClr val="tx1"/>
                </a:solidFill>
                <a:latin typeface="Univers for KPMG" panose="020B0603020202020204" pitchFamily="34" charset="0"/>
              </a:rPr>
              <a:t>Bank switching fees: </a:t>
            </a:r>
            <a:r>
              <a:rPr lang="en-US" dirty="0" smtClean="0">
                <a:solidFill>
                  <a:schemeClr val="tx1"/>
                </a:solidFill>
                <a:latin typeface="Univers for KPMG" panose="020B0603020202020204" pitchFamily="34" charset="0"/>
              </a:rPr>
              <a:t>The Company switched from Wells Fargo to Provident in FY16 resulting in additional charges associated with loan origination. </a:t>
            </a:r>
          </a:p>
          <a:p>
            <a:pPr marL="411480" lvl="3" indent="-228600" algn="just">
              <a:spcBef>
                <a:spcPts val="600"/>
              </a:spcBef>
              <a:spcAft>
                <a:spcPts val="0"/>
              </a:spcAft>
              <a:buClr>
                <a:srgbClr val="97989A"/>
              </a:buClr>
              <a:buFont typeface="+mj-lt"/>
              <a:buAutoNum type="alphaLcParenR"/>
              <a:defRPr/>
            </a:pPr>
            <a:endParaRPr lang="en-US" dirty="0">
              <a:solidFill>
                <a:schemeClr val="tx1"/>
              </a:solidFill>
              <a:latin typeface="Univers for KPMG" panose="020B0603020202020204" pitchFamily="34" charset="0"/>
            </a:endParaRPr>
          </a:p>
          <a:p>
            <a:pPr marL="411480" lvl="3" indent="-228600" algn="just">
              <a:spcBef>
                <a:spcPts val="600"/>
              </a:spcBef>
              <a:spcAft>
                <a:spcPts val="0"/>
              </a:spcAft>
              <a:buClr>
                <a:srgbClr val="97989A"/>
              </a:buClr>
              <a:buFont typeface="+mj-lt"/>
              <a:buAutoNum type="alphaLcParenR"/>
              <a:defRPr/>
            </a:pPr>
            <a:endParaRPr lang="en-US" dirty="0" smtClean="0">
              <a:solidFill>
                <a:schemeClr val="tx1"/>
              </a:solidFill>
              <a:latin typeface="Univers for KPMG" panose="020B0603020202020204" pitchFamily="34" charset="0"/>
            </a:endParaRPr>
          </a:p>
          <a:p>
            <a:pPr marL="411480" lvl="3" indent="-228600" algn="just">
              <a:spcBef>
                <a:spcPts val="600"/>
              </a:spcBef>
              <a:spcAft>
                <a:spcPts val="0"/>
              </a:spcAft>
              <a:buClr>
                <a:srgbClr val="97989A"/>
              </a:buClr>
              <a:buFont typeface="+mj-lt"/>
              <a:buAutoNum type="alphaLcParenR"/>
              <a:defRPr/>
            </a:pPr>
            <a:endParaRPr lang="en-US" dirty="0">
              <a:solidFill>
                <a:schemeClr val="tx1"/>
              </a:solidFill>
              <a:latin typeface="Univers for KPMG" panose="020B0603020202020204" pitchFamily="34" charset="0"/>
            </a:endParaRPr>
          </a:p>
          <a:p>
            <a:pPr marL="411480" lvl="3" indent="-228600" algn="just">
              <a:spcBef>
                <a:spcPts val="600"/>
              </a:spcBef>
              <a:spcAft>
                <a:spcPts val="0"/>
              </a:spcAft>
              <a:buClr>
                <a:srgbClr val="97989A"/>
              </a:buClr>
              <a:buFont typeface="+mj-lt"/>
              <a:buAutoNum type="alphaLcParenR"/>
              <a:defRPr/>
            </a:pPr>
            <a:endParaRPr lang="en-US" dirty="0" smtClean="0">
              <a:solidFill>
                <a:schemeClr val="tx1"/>
              </a:solidFill>
              <a:latin typeface="Univers for KPMG" panose="020B0603020202020204" pitchFamily="34" charset="0"/>
            </a:endParaRPr>
          </a:p>
          <a:p>
            <a:pPr marL="411480" lvl="3" indent="-228600" algn="just">
              <a:spcBef>
                <a:spcPts val="600"/>
              </a:spcBef>
              <a:spcAft>
                <a:spcPts val="0"/>
              </a:spcAft>
              <a:buClr>
                <a:srgbClr val="97989A"/>
              </a:buClr>
              <a:buFont typeface="+mj-lt"/>
              <a:buAutoNum type="alphaLcParenR"/>
              <a:defRPr/>
            </a:pPr>
            <a:endParaRPr lang="en-US" dirty="0">
              <a:solidFill>
                <a:schemeClr val="tx1"/>
              </a:solidFill>
              <a:latin typeface="Univers for KPMG" panose="020B0603020202020204" pitchFamily="34" charset="0"/>
            </a:endParaRPr>
          </a:p>
          <a:p>
            <a:pPr marL="411480" lvl="3" indent="-228600" algn="just">
              <a:spcBef>
                <a:spcPts val="600"/>
              </a:spcBef>
              <a:spcAft>
                <a:spcPts val="0"/>
              </a:spcAft>
              <a:buClr>
                <a:srgbClr val="97989A"/>
              </a:buClr>
              <a:buFont typeface="+mj-lt"/>
              <a:buAutoNum type="alphaLcParenR"/>
              <a:defRPr/>
            </a:pPr>
            <a:endParaRPr lang="en-US" dirty="0" smtClean="0">
              <a:solidFill>
                <a:schemeClr val="tx1"/>
              </a:solidFill>
              <a:latin typeface="Univers for KPMG" panose="020B0603020202020204" pitchFamily="34" charset="0"/>
            </a:endParaRPr>
          </a:p>
          <a:p>
            <a:pPr marL="411480" lvl="3" indent="-228600" algn="just">
              <a:spcBef>
                <a:spcPts val="600"/>
              </a:spcBef>
              <a:spcAft>
                <a:spcPts val="0"/>
              </a:spcAft>
              <a:buClr>
                <a:srgbClr val="97989A"/>
              </a:buClr>
              <a:buFont typeface="+mj-lt"/>
              <a:buAutoNum type="alphaLcParenR"/>
              <a:defRPr/>
            </a:pPr>
            <a:endParaRPr lang="en-US" dirty="0">
              <a:solidFill>
                <a:schemeClr val="tx1"/>
              </a:solidFill>
              <a:latin typeface="Univers for KPMG" panose="020B0603020202020204" pitchFamily="34" charset="0"/>
            </a:endParaRPr>
          </a:p>
          <a:p>
            <a:pPr marL="228600" lvl="2" indent="-228600" algn="just">
              <a:spcBef>
                <a:spcPts val="600"/>
              </a:spcBef>
              <a:spcAft>
                <a:spcPts val="0"/>
              </a:spcAft>
              <a:buClr>
                <a:srgbClr val="97989A"/>
              </a:buClr>
              <a:buFont typeface="Univers for KPMG Light" panose="020B0403020202020204" pitchFamily="34" charset="0"/>
              <a:buAutoNum type="arabicPeriod" startAt="2"/>
              <a:defRPr/>
            </a:pPr>
            <a:endParaRPr lang="en-US" b="1" dirty="0">
              <a:solidFill>
                <a:schemeClr val="tx1"/>
              </a:solidFill>
              <a:latin typeface="Univers for KPMG" panose="020B0603020202020204" pitchFamily="34" charset="0"/>
            </a:endParaRPr>
          </a:p>
          <a:p>
            <a:pPr marL="228600" lvl="2" indent="-228600" algn="just">
              <a:spcBef>
                <a:spcPts val="600"/>
              </a:spcBef>
              <a:spcAft>
                <a:spcPts val="0"/>
              </a:spcAft>
              <a:buClr>
                <a:srgbClr val="97989A"/>
              </a:buClr>
              <a:buFont typeface="Univers for KPMG Light" panose="020B0403020202020204" pitchFamily="34" charset="0"/>
              <a:buAutoNum type="arabicPeriod" startAt="2"/>
              <a:defRPr/>
            </a:pPr>
            <a:endParaRPr lang="en-US" b="1" dirty="0" smtClean="0">
              <a:solidFill>
                <a:schemeClr val="tx1"/>
              </a:solidFill>
              <a:latin typeface="Univers for KPMG" panose="020B0603020202020204" pitchFamily="34" charset="0"/>
            </a:endParaRPr>
          </a:p>
          <a:p>
            <a:pPr marL="228600" lvl="2" indent="-228600" algn="just">
              <a:spcBef>
                <a:spcPts val="600"/>
              </a:spcBef>
              <a:spcAft>
                <a:spcPts val="0"/>
              </a:spcAft>
              <a:buClr>
                <a:srgbClr val="97989A"/>
              </a:buClr>
              <a:buFont typeface="Univers for KPMG Light" panose="020B0403020202020204" pitchFamily="34" charset="0"/>
              <a:buAutoNum type="arabicPeriod" startAt="2"/>
              <a:defRPr/>
            </a:pPr>
            <a:endParaRPr lang="en-US" b="1" dirty="0">
              <a:solidFill>
                <a:schemeClr val="tx1"/>
              </a:solidFill>
              <a:latin typeface="Univers for KPMG" panose="020B0603020202020204" pitchFamily="34" charset="0"/>
            </a:endParaRPr>
          </a:p>
          <a:p>
            <a:pPr marL="228600" lvl="2" indent="-228600" algn="just">
              <a:spcBef>
                <a:spcPts val="600"/>
              </a:spcBef>
              <a:spcAft>
                <a:spcPts val="0"/>
              </a:spcAft>
              <a:buClr>
                <a:srgbClr val="97989A"/>
              </a:buClr>
              <a:buFont typeface="Univers for KPMG Light" panose="020B0403020202020204" pitchFamily="34" charset="0"/>
              <a:buAutoNum type="arabicPeriod" startAt="2"/>
              <a:defRPr/>
            </a:pPr>
            <a:endParaRPr lang="en-US" b="1" dirty="0" smtClean="0">
              <a:solidFill>
                <a:schemeClr val="tx1"/>
              </a:solidFill>
              <a:latin typeface="Univers for KPMG" panose="020B0603020202020204" pitchFamily="34" charset="0"/>
            </a:endParaRPr>
          </a:p>
          <a:p>
            <a:pPr marL="0" lvl="2" indent="0" algn="just">
              <a:spcBef>
                <a:spcPts val="600"/>
              </a:spcBef>
              <a:spcAft>
                <a:spcPts val="0"/>
              </a:spcAft>
              <a:buClr>
                <a:srgbClr val="97989A"/>
              </a:buClr>
              <a:buNone/>
              <a:defRPr/>
            </a:pPr>
            <a:endParaRPr lang="en-US" b="1" dirty="0">
              <a:solidFill>
                <a:schemeClr val="tx1"/>
              </a:solidFill>
              <a:latin typeface="Univers for KPMG" panose="020B0603020202020204" pitchFamily="34" charset="0"/>
            </a:endParaRPr>
          </a:p>
        </p:txBody>
      </p:sp>
      <p:sp>
        <p:nvSpPr>
          <p:cNvPr id="6" name="Titre 5"/>
          <p:cNvSpPr>
            <a:spLocks noGrp="1"/>
          </p:cNvSpPr>
          <p:nvPr>
            <p:ph type="title"/>
          </p:nvPr>
        </p:nvSpPr>
        <p:spPr>
          <a:xfrm>
            <a:off x="431799" y="228600"/>
            <a:ext cx="8280401" cy="784830"/>
          </a:xfrm>
        </p:spPr>
        <p:txBody>
          <a:bodyPr/>
          <a:lstStyle/>
          <a:p>
            <a:r>
              <a:rPr lang="en-CA" sz="2400" dirty="0">
                <a:solidFill>
                  <a:prstClr val="white">
                    <a:lumMod val="50000"/>
                  </a:prstClr>
                </a:solidFill>
              </a:rPr>
              <a:t>Supporting analysis</a:t>
            </a:r>
            <a:r>
              <a:rPr lang="en-CA" dirty="0" smtClean="0"/>
              <a:t/>
            </a:r>
            <a:br>
              <a:rPr lang="en-CA" dirty="0" smtClean="0"/>
            </a:br>
            <a:r>
              <a:rPr lang="en-CA" sz="4400" dirty="0" smtClean="0"/>
              <a:t>Quality of earnings (</a:t>
            </a:r>
            <a:r>
              <a:rPr lang="en-CA" sz="4400" dirty="0"/>
              <a:t>3</a:t>
            </a:r>
            <a:r>
              <a:rPr lang="en-CA" sz="4400" dirty="0" smtClean="0"/>
              <a:t>) – </a:t>
            </a:r>
            <a:r>
              <a:rPr lang="en-CA" sz="4400" i="1" dirty="0" smtClean="0"/>
              <a:t>Management adjustments</a:t>
            </a:r>
            <a:endParaRPr lang="en-CA" sz="4400" i="1" dirty="0"/>
          </a:p>
        </p:txBody>
      </p:sp>
      <p:sp>
        <p:nvSpPr>
          <p:cNvPr id="11" name="TextBox 10"/>
          <p:cNvSpPr txBox="1"/>
          <p:nvPr/>
        </p:nvSpPr>
        <p:spPr>
          <a:xfrm>
            <a:off x="4186186" y="6084325"/>
            <a:ext cx="3033197" cy="92333"/>
          </a:xfrm>
          <a:prstGeom prst="rect">
            <a:avLst/>
          </a:prstGeom>
          <a:noFill/>
        </p:spPr>
        <p:txBody>
          <a:bodyPr wrap="square" lIns="0" tIns="0" rIns="0" bIns="0" rtlCol="0">
            <a:spAutoFit/>
          </a:bodyPr>
          <a:lstStyle/>
          <a:p>
            <a:pPr marL="288925" indent="-288925"/>
            <a:r>
              <a:rPr lang="en-US" sz="600" i="1" dirty="0" smtClean="0">
                <a:solidFill>
                  <a:srgbClr val="000000"/>
                </a:solidFill>
                <a:cs typeface="Arial" pitchFamily="34" charset="0"/>
              </a:rPr>
              <a:t>Source: Management provided information</a:t>
            </a:r>
          </a:p>
        </p:txBody>
      </p:sp>
      <p:pic>
        <p:nvPicPr>
          <p:cNvPr id="5" name="Picture 4"/>
          <p:cNvPicPr>
            <a:picLocks noChangeAspect="1"/>
          </p:cNvPicPr>
          <p:nvPr/>
        </p:nvPicPr>
        <p:blipFill>
          <a:blip r:embed="rId3"/>
          <a:stretch>
            <a:fillRect/>
          </a:stretch>
        </p:blipFill>
        <p:spPr>
          <a:xfrm>
            <a:off x="4186186" y="4812245"/>
            <a:ext cx="2669669" cy="1225900"/>
          </a:xfrm>
          <a:prstGeom prst="rect">
            <a:avLst/>
          </a:prstGeom>
        </p:spPr>
      </p:pic>
      <p:sp>
        <p:nvSpPr>
          <p:cNvPr id="14" name="TextBox 13"/>
          <p:cNvSpPr txBox="1"/>
          <p:nvPr/>
        </p:nvSpPr>
        <p:spPr>
          <a:xfrm>
            <a:off x="431799" y="4605629"/>
            <a:ext cx="2825878" cy="129570"/>
          </a:xfrm>
          <a:prstGeom prst="rect">
            <a:avLst/>
          </a:prstGeom>
          <a:noFill/>
        </p:spPr>
        <p:txBody>
          <a:bodyPr wrap="square" lIns="0" tIns="0" rIns="0" bIns="0" rtlCol="0">
            <a:noAutofit/>
          </a:bodyPr>
          <a:lstStyle/>
          <a:p>
            <a:r>
              <a:rPr lang="en-US" sz="600" i="1" dirty="0" smtClean="0">
                <a:cs typeface="Arial" pitchFamily="34" charset="0"/>
              </a:rPr>
              <a:t>Source: Management provided information</a:t>
            </a:r>
          </a:p>
        </p:txBody>
      </p:sp>
      <p:pic>
        <p:nvPicPr>
          <p:cNvPr id="15" name="Picture 14"/>
          <p:cNvPicPr>
            <a:picLocks noChangeAspect="1"/>
          </p:cNvPicPr>
          <p:nvPr/>
        </p:nvPicPr>
        <p:blipFill>
          <a:blip r:embed="rId4"/>
          <a:stretch>
            <a:fillRect/>
          </a:stretch>
        </p:blipFill>
        <p:spPr>
          <a:xfrm>
            <a:off x="431799" y="1271015"/>
            <a:ext cx="2871383" cy="3334614"/>
          </a:xfrm>
          <a:prstGeom prst="rect">
            <a:avLst/>
          </a:prstGeom>
        </p:spPr>
      </p:pic>
    </p:spTree>
    <p:extLst>
      <p:ext uri="{BB962C8B-B14F-4D97-AF65-F5344CB8AC3E}">
        <p14:creationId xmlns:p14="http://schemas.microsoft.com/office/powerpoint/2010/main" val="3164257184"/>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Espace réservé du texte 3"/>
          <p:cNvSpPr>
            <a:spLocks noGrp="1"/>
          </p:cNvSpPr>
          <p:nvPr>
            <p:ph type="body" sz="quarter" idx="15"/>
          </p:nvPr>
        </p:nvSpPr>
        <p:spPr>
          <a:xfrm>
            <a:off x="3931920" y="1271016"/>
            <a:ext cx="4868332" cy="4813309"/>
          </a:xfrm>
          <a:prstGeom prst="rect">
            <a:avLst/>
          </a:prstGeom>
        </p:spPr>
        <p:txBody>
          <a:bodyPr tIns="0"/>
          <a:lstStyle/>
          <a:p>
            <a:pPr algn="just">
              <a:spcAft>
                <a:spcPts val="0"/>
              </a:spcAft>
            </a:pPr>
            <a:r>
              <a:rPr lang="en-CA" dirty="0" smtClean="0"/>
              <a:t>Management adjustments (continued)</a:t>
            </a:r>
            <a:endParaRPr lang="en-CA" dirty="0"/>
          </a:p>
          <a:p>
            <a:pPr marL="228600" lvl="2" indent="-228600" algn="just">
              <a:spcBef>
                <a:spcPts val="600"/>
              </a:spcBef>
              <a:buClr>
                <a:srgbClr val="97989A"/>
              </a:buClr>
              <a:buFont typeface="+mj-lt"/>
              <a:buAutoNum type="arabicPeriod" startAt="3"/>
              <a:defRPr/>
            </a:pPr>
            <a:r>
              <a:rPr lang="en-US" b="1" dirty="0">
                <a:solidFill>
                  <a:schemeClr val="tx1"/>
                </a:solidFill>
                <a:latin typeface="Univers for KPMG" panose="020B0603020202020204" pitchFamily="34" charset="0"/>
              </a:rPr>
              <a:t>Owner compensation adjustment: </a:t>
            </a:r>
            <a:r>
              <a:rPr lang="en-US" dirty="0">
                <a:solidFill>
                  <a:schemeClr val="tx1"/>
                </a:solidFill>
                <a:latin typeface="Univers for KPMG" panose="020B0603020202020204" pitchFamily="34" charset="0"/>
              </a:rPr>
              <a:t>Represents the difference between the current officer salaries ($371,000 for each CEO) and </a:t>
            </a:r>
            <a:r>
              <a:rPr lang="en-US" dirty="0" smtClean="0">
                <a:solidFill>
                  <a:schemeClr val="tx1"/>
                </a:solidFill>
                <a:latin typeface="Univers for KPMG" panose="020B0603020202020204" pitchFamily="34" charset="0"/>
              </a:rPr>
              <a:t>their agreed upon </a:t>
            </a:r>
            <a:r>
              <a:rPr lang="en-US" dirty="0">
                <a:solidFill>
                  <a:schemeClr val="tx1"/>
                </a:solidFill>
                <a:latin typeface="Univers for KPMG" panose="020B0603020202020204" pitchFamily="34" charset="0"/>
              </a:rPr>
              <a:t>salary </a:t>
            </a:r>
            <a:r>
              <a:rPr lang="en-US" dirty="0" smtClean="0">
                <a:solidFill>
                  <a:schemeClr val="tx1"/>
                </a:solidFill>
                <a:latin typeface="Univers for KPMG" panose="020B0603020202020204" pitchFamily="34" charset="0"/>
              </a:rPr>
              <a:t>post transaction ($250,000 for each CEO). </a:t>
            </a:r>
            <a:endParaRPr lang="en-US" dirty="0">
              <a:solidFill>
                <a:schemeClr val="tx1"/>
              </a:solidFill>
              <a:latin typeface="Univers for KPMG" panose="020B0603020202020204" pitchFamily="34" charset="0"/>
            </a:endParaRPr>
          </a:p>
          <a:p>
            <a:pPr marL="228600" lvl="2" indent="-228600" algn="just">
              <a:spcBef>
                <a:spcPts val="600"/>
              </a:spcBef>
              <a:buClr>
                <a:srgbClr val="97989A"/>
              </a:buClr>
              <a:buFont typeface="+mj-lt"/>
              <a:buAutoNum type="arabicPeriod" startAt="3"/>
              <a:defRPr/>
            </a:pPr>
            <a:r>
              <a:rPr lang="en-CA" b="1" dirty="0" smtClean="0">
                <a:solidFill>
                  <a:schemeClr val="tx1"/>
                </a:solidFill>
                <a:latin typeface="Univers for KPMG" panose="020B0603020202020204" pitchFamily="34" charset="0"/>
              </a:rPr>
              <a:t>Owner personal expenses:</a:t>
            </a:r>
            <a:r>
              <a:rPr lang="en-CA" dirty="0" smtClean="0">
                <a:solidFill>
                  <a:schemeClr val="tx1"/>
                </a:solidFill>
                <a:latin typeface="Univers for KPMG" panose="020B0603020202020204" pitchFamily="34" charset="0"/>
              </a:rPr>
              <a:t> This adjustment adds back personal expenses incurred by the Company’s CEOs. These include rent expense, legal and other professional fees, auto expenses, salaries and other benefits for non-active family members. Refer to the table below for a breakdown of these costs. </a:t>
            </a:r>
            <a:endParaRPr lang="en-CA" dirty="0">
              <a:solidFill>
                <a:schemeClr val="tx1"/>
              </a:solidFill>
              <a:latin typeface="Univers for KPMG" panose="020B0603020202020204" pitchFamily="34" charset="0"/>
            </a:endParaRPr>
          </a:p>
          <a:p>
            <a:pPr marL="228600" algn="just">
              <a:buClr>
                <a:srgbClr val="97989A"/>
              </a:buClr>
              <a:defRPr/>
            </a:pPr>
            <a:r>
              <a:rPr lang="en-CA" b="0" dirty="0" smtClean="0">
                <a:solidFill>
                  <a:schemeClr val="tx1"/>
                </a:solidFill>
                <a:latin typeface="Univers for KPMG" panose="020B0603020202020204" pitchFamily="34" charset="0"/>
              </a:rPr>
              <a:t>These </a:t>
            </a:r>
            <a:r>
              <a:rPr lang="en-CA" b="0" dirty="0">
                <a:solidFill>
                  <a:schemeClr val="tx1"/>
                </a:solidFill>
                <a:latin typeface="Univers for KPMG" panose="020B0603020202020204" pitchFamily="34" charset="0"/>
              </a:rPr>
              <a:t>expenses are tracked and recorded in separate GL accounts by </a:t>
            </a:r>
            <a:r>
              <a:rPr lang="en-CA" b="0" dirty="0" smtClean="0">
                <a:solidFill>
                  <a:schemeClr val="tx1"/>
                </a:solidFill>
                <a:latin typeface="Univers for KPMG" panose="020B0603020202020204" pitchFamily="34" charset="0"/>
              </a:rPr>
              <a:t>Management</a:t>
            </a:r>
            <a:r>
              <a:rPr lang="en-CA" b="0" dirty="0">
                <a:solidFill>
                  <a:schemeClr val="tx1"/>
                </a:solidFill>
                <a:latin typeface="Univers for KPMG" panose="020B0603020202020204" pitchFamily="34" charset="0"/>
              </a:rPr>
              <a:t>. Based on discussions with Management, we </a:t>
            </a:r>
            <a:r>
              <a:rPr lang="en-CA" b="0" dirty="0" smtClean="0">
                <a:solidFill>
                  <a:schemeClr val="tx1"/>
                </a:solidFill>
                <a:latin typeface="Univers for KPMG" panose="020B0603020202020204" pitchFamily="34" charset="0"/>
              </a:rPr>
              <a:t>understand </a:t>
            </a:r>
            <a:r>
              <a:rPr lang="en-CA" b="0" dirty="0">
                <a:solidFill>
                  <a:schemeClr val="tx1"/>
                </a:solidFill>
                <a:latin typeface="Univers for KPMG" panose="020B0603020202020204" pitchFamily="34" charset="0"/>
              </a:rPr>
              <a:t>that the rent is related to a personal property and the </a:t>
            </a:r>
            <a:r>
              <a:rPr lang="en-CA" b="0" dirty="0" smtClean="0">
                <a:solidFill>
                  <a:schemeClr val="tx1"/>
                </a:solidFill>
                <a:latin typeface="Univers for KPMG" panose="020B0603020202020204" pitchFamily="34" charset="0"/>
              </a:rPr>
              <a:t>professional </a:t>
            </a:r>
            <a:r>
              <a:rPr lang="en-CA" b="0" dirty="0">
                <a:solidFill>
                  <a:schemeClr val="tx1"/>
                </a:solidFill>
                <a:latin typeface="Univers for KPMG" panose="020B0603020202020204" pitchFamily="34" charset="0"/>
              </a:rPr>
              <a:t>fees are related to the owners’ relatives</a:t>
            </a:r>
            <a:r>
              <a:rPr lang="en-CA" b="0" dirty="0" smtClean="0">
                <a:solidFill>
                  <a:schemeClr val="tx1"/>
                </a:solidFill>
                <a:latin typeface="Univers for KPMG" panose="020B0603020202020204" pitchFamily="34" charset="0"/>
              </a:rPr>
              <a:t>. Based on discussions with Management as well as the monthly FY17 breakdown below, </a:t>
            </a:r>
            <a:r>
              <a:rPr lang="en-US" b="0" dirty="0" smtClean="0">
                <a:solidFill>
                  <a:schemeClr val="tx1"/>
                </a:solidFill>
                <a:latin typeface="Univers for KPMG" panose="020B0603020202020204" pitchFamily="34" charset="0"/>
              </a:rPr>
              <a:t>the owners stopped flowing personal expenses through the business in April 2017. </a:t>
            </a:r>
            <a:endParaRPr lang="en-US" b="1" dirty="0">
              <a:solidFill>
                <a:schemeClr val="tx1"/>
              </a:solidFill>
              <a:latin typeface="Univers for KPMG" panose="020B0603020202020204" pitchFamily="34" charset="0"/>
            </a:endParaRPr>
          </a:p>
          <a:p>
            <a:pPr marL="0" lvl="2" indent="0">
              <a:spcBef>
                <a:spcPts val="600"/>
              </a:spcBef>
              <a:spcAft>
                <a:spcPts val="0"/>
              </a:spcAft>
              <a:buClr>
                <a:srgbClr val="97989A"/>
              </a:buClr>
              <a:buNone/>
              <a:defRPr/>
            </a:pPr>
            <a:endParaRPr lang="en-US" b="1" dirty="0">
              <a:solidFill>
                <a:schemeClr val="tx1"/>
              </a:solidFill>
              <a:latin typeface="Univers for KPMG" panose="020B0603020202020204" pitchFamily="34" charset="0"/>
            </a:endParaRPr>
          </a:p>
          <a:p>
            <a:pPr marL="169863" lvl="3" indent="0">
              <a:spcBef>
                <a:spcPts val="600"/>
              </a:spcBef>
              <a:spcAft>
                <a:spcPts val="0"/>
              </a:spcAft>
              <a:buClr>
                <a:srgbClr val="97989A"/>
              </a:buClr>
              <a:buNone/>
              <a:defRPr/>
            </a:pPr>
            <a:endParaRPr lang="en-US" b="1" dirty="0">
              <a:solidFill>
                <a:schemeClr val="tx1"/>
              </a:solidFill>
              <a:latin typeface="Univers for KPMG" panose="020B0603020202020204" pitchFamily="34" charset="0"/>
            </a:endParaRPr>
          </a:p>
          <a:p>
            <a:pPr marL="360000" lvl="3" indent="0">
              <a:spcBef>
                <a:spcPts val="600"/>
              </a:spcBef>
              <a:buClr>
                <a:srgbClr val="97989A"/>
              </a:buClr>
              <a:buNone/>
              <a:defRPr/>
            </a:pPr>
            <a:endParaRPr lang="en-US" dirty="0">
              <a:solidFill>
                <a:schemeClr val="tx1"/>
              </a:solidFill>
              <a:latin typeface="Univers for KPMG" panose="020B0603020202020204" pitchFamily="34" charset="0"/>
            </a:endParaRPr>
          </a:p>
        </p:txBody>
      </p:sp>
      <p:pic>
        <p:nvPicPr>
          <p:cNvPr id="2" name="Picture 1"/>
          <p:cNvPicPr>
            <a:picLocks noChangeAspect="1"/>
          </p:cNvPicPr>
          <p:nvPr/>
        </p:nvPicPr>
        <p:blipFill>
          <a:blip r:embed="rId3"/>
          <a:stretch>
            <a:fillRect/>
          </a:stretch>
        </p:blipFill>
        <p:spPr>
          <a:xfrm>
            <a:off x="4205359" y="3695264"/>
            <a:ext cx="1457595" cy="1196000"/>
          </a:xfrm>
          <a:prstGeom prst="rect">
            <a:avLst/>
          </a:prstGeom>
        </p:spPr>
      </p:pic>
      <p:sp>
        <p:nvSpPr>
          <p:cNvPr id="6" name="Titre 5"/>
          <p:cNvSpPr>
            <a:spLocks noGrp="1"/>
          </p:cNvSpPr>
          <p:nvPr>
            <p:ph type="title"/>
          </p:nvPr>
        </p:nvSpPr>
        <p:spPr>
          <a:xfrm>
            <a:off x="431799" y="228600"/>
            <a:ext cx="8280401" cy="784830"/>
          </a:xfrm>
        </p:spPr>
        <p:txBody>
          <a:bodyPr/>
          <a:lstStyle/>
          <a:p>
            <a:r>
              <a:rPr lang="en-CA" sz="2400" dirty="0">
                <a:solidFill>
                  <a:prstClr val="white">
                    <a:lumMod val="50000"/>
                  </a:prstClr>
                </a:solidFill>
              </a:rPr>
              <a:t>Supporting analysis</a:t>
            </a:r>
            <a:r>
              <a:rPr lang="en-CA" dirty="0" smtClean="0"/>
              <a:t/>
            </a:r>
            <a:br>
              <a:rPr lang="en-CA" dirty="0" smtClean="0"/>
            </a:br>
            <a:r>
              <a:rPr lang="en-CA" sz="4400" dirty="0" smtClean="0"/>
              <a:t>Quality of earnings (</a:t>
            </a:r>
            <a:r>
              <a:rPr lang="en-CA" sz="4400" dirty="0"/>
              <a:t>4</a:t>
            </a:r>
            <a:r>
              <a:rPr lang="en-CA" sz="4400" dirty="0" smtClean="0"/>
              <a:t>) – </a:t>
            </a:r>
            <a:r>
              <a:rPr lang="en-CA" sz="4400" i="1" dirty="0" smtClean="0"/>
              <a:t>Management adjustments</a:t>
            </a:r>
            <a:endParaRPr lang="en-CA" sz="4400" i="1" dirty="0"/>
          </a:p>
        </p:txBody>
      </p:sp>
      <p:sp>
        <p:nvSpPr>
          <p:cNvPr id="10" name="TextBox 9"/>
          <p:cNvSpPr txBox="1"/>
          <p:nvPr/>
        </p:nvSpPr>
        <p:spPr>
          <a:xfrm>
            <a:off x="4205359" y="4891264"/>
            <a:ext cx="3033197" cy="92333"/>
          </a:xfrm>
          <a:prstGeom prst="rect">
            <a:avLst/>
          </a:prstGeom>
          <a:noFill/>
        </p:spPr>
        <p:txBody>
          <a:bodyPr wrap="square" lIns="0" tIns="0" rIns="0" bIns="0" rtlCol="0">
            <a:spAutoFit/>
          </a:bodyPr>
          <a:lstStyle/>
          <a:p>
            <a:pPr marL="288925" indent="-288925"/>
            <a:r>
              <a:rPr lang="en-US" sz="600" i="1" dirty="0" smtClean="0">
                <a:solidFill>
                  <a:srgbClr val="000000"/>
                </a:solidFill>
                <a:cs typeface="Arial" pitchFamily="34" charset="0"/>
              </a:rPr>
              <a:t>Source: Management provided information</a:t>
            </a:r>
          </a:p>
        </p:txBody>
      </p:sp>
      <p:pic>
        <p:nvPicPr>
          <p:cNvPr id="3" name="Picture 2"/>
          <p:cNvPicPr>
            <a:picLocks noChangeAspect="1"/>
          </p:cNvPicPr>
          <p:nvPr/>
        </p:nvPicPr>
        <p:blipFill>
          <a:blip r:embed="rId4"/>
          <a:stretch>
            <a:fillRect/>
          </a:stretch>
        </p:blipFill>
        <p:spPr>
          <a:xfrm>
            <a:off x="4205359" y="5090016"/>
            <a:ext cx="4641604" cy="1046500"/>
          </a:xfrm>
          <a:prstGeom prst="rect">
            <a:avLst/>
          </a:prstGeom>
        </p:spPr>
      </p:pic>
      <p:sp>
        <p:nvSpPr>
          <p:cNvPr id="9" name="TextBox 8"/>
          <p:cNvSpPr txBox="1"/>
          <p:nvPr/>
        </p:nvSpPr>
        <p:spPr>
          <a:xfrm>
            <a:off x="4205359" y="6136516"/>
            <a:ext cx="3033197" cy="92333"/>
          </a:xfrm>
          <a:prstGeom prst="rect">
            <a:avLst/>
          </a:prstGeom>
          <a:noFill/>
        </p:spPr>
        <p:txBody>
          <a:bodyPr wrap="square" lIns="0" tIns="0" rIns="0" bIns="0" rtlCol="0">
            <a:spAutoFit/>
          </a:bodyPr>
          <a:lstStyle/>
          <a:p>
            <a:pPr marL="288925" indent="-288925"/>
            <a:r>
              <a:rPr lang="en-US" sz="600" i="1" dirty="0" smtClean="0">
                <a:solidFill>
                  <a:srgbClr val="000000"/>
                </a:solidFill>
                <a:cs typeface="Arial" pitchFamily="34" charset="0"/>
              </a:rPr>
              <a:t>Source: Management provided information</a:t>
            </a:r>
          </a:p>
        </p:txBody>
      </p:sp>
      <p:sp>
        <p:nvSpPr>
          <p:cNvPr id="18" name="TextBox 17"/>
          <p:cNvSpPr txBox="1"/>
          <p:nvPr/>
        </p:nvSpPr>
        <p:spPr>
          <a:xfrm>
            <a:off x="431799" y="4605629"/>
            <a:ext cx="2825878" cy="129570"/>
          </a:xfrm>
          <a:prstGeom prst="rect">
            <a:avLst/>
          </a:prstGeom>
          <a:noFill/>
        </p:spPr>
        <p:txBody>
          <a:bodyPr wrap="square" lIns="0" tIns="0" rIns="0" bIns="0" rtlCol="0">
            <a:noAutofit/>
          </a:bodyPr>
          <a:lstStyle/>
          <a:p>
            <a:r>
              <a:rPr lang="en-US" sz="600" i="1" dirty="0" smtClean="0">
                <a:cs typeface="Arial" pitchFamily="34" charset="0"/>
              </a:rPr>
              <a:t>Source: Management provided information</a:t>
            </a:r>
          </a:p>
        </p:txBody>
      </p:sp>
      <p:pic>
        <p:nvPicPr>
          <p:cNvPr id="19" name="Picture 18"/>
          <p:cNvPicPr>
            <a:picLocks noChangeAspect="1"/>
          </p:cNvPicPr>
          <p:nvPr/>
        </p:nvPicPr>
        <p:blipFill>
          <a:blip r:embed="rId5"/>
          <a:stretch>
            <a:fillRect/>
          </a:stretch>
        </p:blipFill>
        <p:spPr>
          <a:xfrm>
            <a:off x="431799" y="1271015"/>
            <a:ext cx="2871383" cy="3334614"/>
          </a:xfrm>
          <a:prstGeom prst="rect">
            <a:avLst/>
          </a:prstGeom>
        </p:spPr>
      </p:pic>
    </p:spTree>
    <p:extLst>
      <p:ext uri="{BB962C8B-B14F-4D97-AF65-F5344CB8AC3E}">
        <p14:creationId xmlns:p14="http://schemas.microsoft.com/office/powerpoint/2010/main" val="2637353454"/>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Espace réservé du texte 3"/>
          <p:cNvSpPr>
            <a:spLocks noGrp="1"/>
          </p:cNvSpPr>
          <p:nvPr>
            <p:ph type="body" sz="quarter" idx="15"/>
          </p:nvPr>
        </p:nvSpPr>
        <p:spPr>
          <a:xfrm>
            <a:off x="3933825" y="1271016"/>
            <a:ext cx="4778375" cy="4813309"/>
          </a:xfrm>
          <a:prstGeom prst="rect">
            <a:avLst/>
          </a:prstGeom>
        </p:spPr>
        <p:txBody>
          <a:bodyPr tIns="0"/>
          <a:lstStyle/>
          <a:p>
            <a:pPr algn="just">
              <a:spcAft>
                <a:spcPts val="0"/>
              </a:spcAft>
            </a:pPr>
            <a:r>
              <a:rPr lang="en-CA" dirty="0" smtClean="0"/>
              <a:t>Management adjustments (continued)</a:t>
            </a:r>
            <a:endParaRPr lang="en-CA" dirty="0"/>
          </a:p>
          <a:p>
            <a:pPr marL="228600" lvl="2" indent="-228600" algn="just">
              <a:spcBef>
                <a:spcPts val="600"/>
              </a:spcBef>
              <a:spcAft>
                <a:spcPts val="0"/>
              </a:spcAft>
              <a:buClr>
                <a:srgbClr val="97989A"/>
              </a:buClr>
              <a:buFont typeface="+mj-lt"/>
              <a:buAutoNum type="arabicPeriod" startAt="5"/>
              <a:defRPr/>
            </a:pPr>
            <a:r>
              <a:rPr lang="en-US" b="1" dirty="0">
                <a:solidFill>
                  <a:schemeClr val="tx1"/>
                </a:solidFill>
                <a:latin typeface="Univers for KPMG" panose="020B0603020202020204" pitchFamily="34" charset="0"/>
              </a:rPr>
              <a:t>Start up </a:t>
            </a:r>
            <a:r>
              <a:rPr lang="en-US" b="1" dirty="0" smtClean="0">
                <a:solidFill>
                  <a:schemeClr val="tx1"/>
                </a:solidFill>
                <a:latin typeface="Univers for KPMG" panose="020B0603020202020204" pitchFamily="34" charset="0"/>
              </a:rPr>
              <a:t>expenses:</a:t>
            </a:r>
            <a:r>
              <a:rPr lang="en-US" dirty="0" smtClean="0">
                <a:solidFill>
                  <a:schemeClr val="tx1"/>
                </a:solidFill>
                <a:latin typeface="Univers for KPMG" panose="020B0603020202020204" pitchFamily="34" charset="0"/>
              </a:rPr>
              <a:t> </a:t>
            </a:r>
            <a:r>
              <a:rPr lang="en-US" dirty="0">
                <a:solidFill>
                  <a:schemeClr val="tx1"/>
                </a:solidFill>
                <a:latin typeface="Univers for KPMG" panose="020B0603020202020204" pitchFamily="34" charset="0"/>
              </a:rPr>
              <a:t>This adjustment adds back the net costs associated with the </a:t>
            </a:r>
            <a:r>
              <a:rPr lang="en-US" dirty="0" smtClean="0">
                <a:solidFill>
                  <a:schemeClr val="tx1"/>
                </a:solidFill>
                <a:latin typeface="Univers for KPMG" panose="020B0603020202020204" pitchFamily="34" charset="0"/>
              </a:rPr>
              <a:t>Houston, Denver, Dallas, and Austin (locum) </a:t>
            </a:r>
            <a:r>
              <a:rPr lang="en-US" dirty="0">
                <a:solidFill>
                  <a:schemeClr val="tx1"/>
                </a:solidFill>
                <a:latin typeface="Univers for KPMG" panose="020B0603020202020204" pitchFamily="34" charset="0"/>
              </a:rPr>
              <a:t>offices. </a:t>
            </a:r>
            <a:r>
              <a:rPr lang="en-US" dirty="0" smtClean="0">
                <a:solidFill>
                  <a:schemeClr val="tx1"/>
                </a:solidFill>
                <a:latin typeface="Univers for KPMG" panose="020B0603020202020204" pitchFamily="34" charset="0"/>
              </a:rPr>
              <a:t>These are new locations that are ramping up. Management </a:t>
            </a:r>
            <a:r>
              <a:rPr lang="en-US" dirty="0">
                <a:solidFill>
                  <a:schemeClr val="tx1"/>
                </a:solidFill>
                <a:latin typeface="Univers for KPMG" panose="020B0603020202020204" pitchFamily="34" charset="0"/>
              </a:rPr>
              <a:t>represents that the Houston office is expected to breakeven in Q2-18 whereas the </a:t>
            </a:r>
            <a:r>
              <a:rPr lang="en-US" dirty="0" smtClean="0">
                <a:solidFill>
                  <a:schemeClr val="tx1"/>
                </a:solidFill>
                <a:latin typeface="Univers for KPMG" panose="020B0603020202020204" pitchFamily="34" charset="0"/>
              </a:rPr>
              <a:t>Denver, Dallas, and Austin locations have </a:t>
            </a:r>
            <a:r>
              <a:rPr lang="en-US" dirty="0">
                <a:solidFill>
                  <a:schemeClr val="tx1"/>
                </a:solidFill>
                <a:latin typeface="Univers for KPMG" panose="020B0603020202020204" pitchFamily="34" charset="0"/>
              </a:rPr>
              <a:t>not yet generated any revenue. Refer to the table below for a breakdown of these costs. </a:t>
            </a:r>
            <a:endParaRPr lang="en-US" dirty="0" smtClean="0">
              <a:solidFill>
                <a:schemeClr val="tx1"/>
              </a:solidFill>
              <a:latin typeface="Univers for KPMG" panose="020B0603020202020204" pitchFamily="34" charset="0"/>
            </a:endParaRPr>
          </a:p>
          <a:p>
            <a:pPr marL="228600" lvl="2" indent="-228600" algn="just">
              <a:spcBef>
                <a:spcPts val="600"/>
              </a:spcBef>
              <a:spcAft>
                <a:spcPts val="0"/>
              </a:spcAft>
              <a:buClr>
                <a:srgbClr val="97989A"/>
              </a:buClr>
              <a:buFont typeface="+mj-lt"/>
              <a:buAutoNum type="arabicPeriod" startAt="5"/>
              <a:defRPr/>
            </a:pPr>
            <a:endParaRPr lang="en-US" dirty="0">
              <a:solidFill>
                <a:schemeClr val="tx1"/>
              </a:solidFill>
              <a:latin typeface="Univers for KPMG" panose="020B0603020202020204" pitchFamily="34" charset="0"/>
            </a:endParaRPr>
          </a:p>
          <a:p>
            <a:pPr marL="228600" lvl="2" indent="-228600" algn="just">
              <a:spcBef>
                <a:spcPts val="600"/>
              </a:spcBef>
              <a:spcAft>
                <a:spcPts val="0"/>
              </a:spcAft>
              <a:buClr>
                <a:srgbClr val="97989A"/>
              </a:buClr>
              <a:buFont typeface="+mj-lt"/>
              <a:buAutoNum type="arabicPeriod" startAt="5"/>
              <a:defRPr/>
            </a:pPr>
            <a:endParaRPr lang="en-US" dirty="0" smtClean="0">
              <a:solidFill>
                <a:schemeClr val="tx1"/>
              </a:solidFill>
              <a:latin typeface="Univers for KPMG" panose="020B0603020202020204" pitchFamily="34" charset="0"/>
            </a:endParaRPr>
          </a:p>
          <a:p>
            <a:pPr marL="228600" lvl="2" indent="-228600" algn="just">
              <a:spcBef>
                <a:spcPts val="600"/>
              </a:spcBef>
              <a:spcAft>
                <a:spcPts val="0"/>
              </a:spcAft>
              <a:buClr>
                <a:srgbClr val="97989A"/>
              </a:buClr>
              <a:buFont typeface="+mj-lt"/>
              <a:buAutoNum type="arabicPeriod" startAt="5"/>
              <a:defRPr/>
            </a:pPr>
            <a:endParaRPr lang="en-US" dirty="0">
              <a:solidFill>
                <a:schemeClr val="tx1"/>
              </a:solidFill>
              <a:latin typeface="Univers for KPMG" panose="020B0603020202020204" pitchFamily="34" charset="0"/>
            </a:endParaRPr>
          </a:p>
          <a:p>
            <a:pPr marL="228600" lvl="2" indent="-228600" algn="just">
              <a:spcBef>
                <a:spcPts val="600"/>
              </a:spcBef>
              <a:spcAft>
                <a:spcPts val="0"/>
              </a:spcAft>
              <a:buClr>
                <a:srgbClr val="97989A"/>
              </a:buClr>
              <a:buFont typeface="+mj-lt"/>
              <a:buAutoNum type="arabicPeriod" startAt="5"/>
              <a:defRPr/>
            </a:pPr>
            <a:endParaRPr lang="en-US" dirty="0" smtClean="0">
              <a:solidFill>
                <a:schemeClr val="tx1"/>
              </a:solidFill>
              <a:latin typeface="Univers for KPMG" panose="020B0603020202020204" pitchFamily="34" charset="0"/>
            </a:endParaRPr>
          </a:p>
          <a:p>
            <a:pPr marL="228600" lvl="2" indent="-228600" algn="just">
              <a:spcBef>
                <a:spcPts val="600"/>
              </a:spcBef>
              <a:spcAft>
                <a:spcPts val="0"/>
              </a:spcAft>
              <a:buClr>
                <a:srgbClr val="97989A"/>
              </a:buClr>
              <a:buFont typeface="+mj-lt"/>
              <a:buAutoNum type="arabicPeriod" startAt="5"/>
              <a:defRPr/>
            </a:pPr>
            <a:endParaRPr lang="en-US" dirty="0">
              <a:solidFill>
                <a:schemeClr val="tx1"/>
              </a:solidFill>
              <a:latin typeface="Univers for KPMG" panose="020B0603020202020204" pitchFamily="34" charset="0"/>
            </a:endParaRPr>
          </a:p>
          <a:p>
            <a:pPr marL="228600" lvl="2" indent="-228600" algn="just">
              <a:spcBef>
                <a:spcPts val="600"/>
              </a:spcBef>
              <a:spcAft>
                <a:spcPts val="0"/>
              </a:spcAft>
              <a:buClr>
                <a:srgbClr val="97989A"/>
              </a:buClr>
              <a:buFont typeface="+mj-lt"/>
              <a:buAutoNum type="arabicPeriod" startAt="5"/>
              <a:defRPr/>
            </a:pPr>
            <a:endParaRPr lang="en-US" dirty="0" smtClean="0">
              <a:solidFill>
                <a:schemeClr val="tx1"/>
              </a:solidFill>
              <a:latin typeface="Univers for KPMG" panose="020B0603020202020204" pitchFamily="34" charset="0"/>
            </a:endParaRPr>
          </a:p>
          <a:p>
            <a:pPr marL="228600" lvl="2" indent="-228600" algn="just">
              <a:spcBef>
                <a:spcPts val="600"/>
              </a:spcBef>
              <a:spcAft>
                <a:spcPts val="0"/>
              </a:spcAft>
              <a:buClr>
                <a:srgbClr val="97989A"/>
              </a:buClr>
              <a:buFont typeface="+mj-lt"/>
              <a:buAutoNum type="arabicPeriod" startAt="5"/>
              <a:defRPr/>
            </a:pPr>
            <a:endParaRPr lang="en-US" dirty="0">
              <a:solidFill>
                <a:schemeClr val="tx1"/>
              </a:solidFill>
              <a:latin typeface="Univers for KPMG" panose="020B0603020202020204" pitchFamily="34" charset="0"/>
            </a:endParaRPr>
          </a:p>
          <a:p>
            <a:pPr marL="0" lvl="2" indent="0" algn="just">
              <a:spcBef>
                <a:spcPts val="600"/>
              </a:spcBef>
              <a:spcAft>
                <a:spcPts val="0"/>
              </a:spcAft>
              <a:buClr>
                <a:srgbClr val="97989A"/>
              </a:buClr>
              <a:buNone/>
              <a:defRPr/>
            </a:pPr>
            <a:endParaRPr lang="en-US" dirty="0" smtClean="0">
              <a:solidFill>
                <a:schemeClr val="tx1"/>
              </a:solidFill>
              <a:latin typeface="Univers for KPMG" panose="020B0603020202020204" pitchFamily="34" charset="0"/>
            </a:endParaRPr>
          </a:p>
          <a:p>
            <a:pPr marL="0" lvl="2" indent="0" algn="just">
              <a:spcBef>
                <a:spcPts val="600"/>
              </a:spcBef>
              <a:spcAft>
                <a:spcPts val="0"/>
              </a:spcAft>
              <a:buClr>
                <a:srgbClr val="97989A"/>
              </a:buClr>
              <a:buNone/>
              <a:defRPr/>
            </a:pPr>
            <a:endParaRPr lang="en-US" dirty="0">
              <a:solidFill>
                <a:schemeClr val="tx1"/>
              </a:solidFill>
              <a:latin typeface="Univers for KPMG" panose="020B0603020202020204" pitchFamily="34" charset="0"/>
            </a:endParaRPr>
          </a:p>
          <a:p>
            <a:pPr marL="0" lvl="2" indent="0" algn="just">
              <a:spcBef>
                <a:spcPts val="600"/>
              </a:spcBef>
              <a:spcAft>
                <a:spcPts val="0"/>
              </a:spcAft>
              <a:buClr>
                <a:srgbClr val="97989A"/>
              </a:buClr>
              <a:buNone/>
              <a:defRPr/>
            </a:pPr>
            <a:endParaRPr lang="en-US" dirty="0" smtClean="0">
              <a:solidFill>
                <a:schemeClr val="tx1"/>
              </a:solidFill>
              <a:latin typeface="Univers for KPMG" panose="020B0603020202020204" pitchFamily="34" charset="0"/>
            </a:endParaRPr>
          </a:p>
          <a:p>
            <a:pPr marL="0" lvl="2" indent="0" algn="just">
              <a:spcBef>
                <a:spcPts val="600"/>
              </a:spcBef>
              <a:spcAft>
                <a:spcPts val="0"/>
              </a:spcAft>
              <a:buClr>
                <a:srgbClr val="97989A"/>
              </a:buClr>
              <a:buNone/>
              <a:defRPr/>
            </a:pPr>
            <a:endParaRPr lang="en-US" dirty="0">
              <a:solidFill>
                <a:schemeClr val="tx1"/>
              </a:solidFill>
              <a:latin typeface="Univers for KPMG" panose="020B0603020202020204" pitchFamily="34" charset="0"/>
            </a:endParaRPr>
          </a:p>
          <a:p>
            <a:pPr marL="228600" lvl="2" indent="-228600" algn="just">
              <a:spcBef>
                <a:spcPts val="600"/>
              </a:spcBef>
              <a:spcAft>
                <a:spcPts val="0"/>
              </a:spcAft>
              <a:buClr>
                <a:srgbClr val="97989A"/>
              </a:buClr>
              <a:buFont typeface="+mj-lt"/>
              <a:buAutoNum type="arabicPeriod" startAt="6"/>
              <a:defRPr/>
            </a:pPr>
            <a:r>
              <a:rPr lang="en-US" b="1" dirty="0" smtClean="0">
                <a:solidFill>
                  <a:schemeClr val="tx1"/>
                </a:solidFill>
                <a:latin typeface="Univers for KPMG" panose="020B0603020202020204" pitchFamily="34" charset="0"/>
              </a:rPr>
              <a:t>Relocation savings (US to India):</a:t>
            </a:r>
            <a:r>
              <a:rPr lang="en-US" dirty="0" smtClean="0">
                <a:solidFill>
                  <a:schemeClr val="tx1"/>
                </a:solidFill>
                <a:latin typeface="Univers for KPMG" panose="020B0603020202020204" pitchFamily="34" charset="0"/>
              </a:rPr>
              <a:t> This adjustment adds back the payroll cost difference of various recruiter positions that have been relocated from the US to India. We understand that the average annual salary for a US recruiter is approximately $30,000 whereas the average annual salary for a recruiter in India is approximately $10,000 per year based on information provided by Management. The US individuals that were terminated and replaced by employees in India were shown to have equal or less productivity (converted hires) than the average Indian employee.  </a:t>
            </a:r>
          </a:p>
          <a:p>
            <a:pPr marL="0" lvl="2" indent="0" algn="just">
              <a:spcBef>
                <a:spcPts val="600"/>
              </a:spcBef>
              <a:spcAft>
                <a:spcPts val="0"/>
              </a:spcAft>
              <a:buClr>
                <a:srgbClr val="97989A"/>
              </a:buClr>
              <a:buNone/>
              <a:defRPr/>
            </a:pPr>
            <a:endParaRPr lang="en-US" dirty="0" smtClean="0">
              <a:solidFill>
                <a:schemeClr val="tx1"/>
              </a:solidFill>
              <a:latin typeface="Univers for KPMG" panose="020B0603020202020204" pitchFamily="34" charset="0"/>
            </a:endParaRPr>
          </a:p>
          <a:p>
            <a:pPr marL="0" lvl="2" indent="0" algn="just">
              <a:spcBef>
                <a:spcPts val="600"/>
              </a:spcBef>
              <a:spcAft>
                <a:spcPts val="0"/>
              </a:spcAft>
              <a:buClr>
                <a:srgbClr val="97989A"/>
              </a:buClr>
              <a:buNone/>
              <a:defRPr/>
            </a:pPr>
            <a:endParaRPr lang="en-US" dirty="0" smtClean="0">
              <a:solidFill>
                <a:schemeClr val="tx1"/>
              </a:solidFill>
              <a:latin typeface="Univers for KPMG" panose="020B0603020202020204" pitchFamily="34" charset="0"/>
            </a:endParaRPr>
          </a:p>
        </p:txBody>
      </p:sp>
      <p:pic>
        <p:nvPicPr>
          <p:cNvPr id="2" name="Picture 1"/>
          <p:cNvPicPr>
            <a:picLocks noChangeAspect="1"/>
          </p:cNvPicPr>
          <p:nvPr/>
        </p:nvPicPr>
        <p:blipFill>
          <a:blip r:embed="rId3"/>
          <a:stretch>
            <a:fillRect/>
          </a:stretch>
        </p:blipFill>
        <p:spPr>
          <a:xfrm>
            <a:off x="4232867" y="2359710"/>
            <a:ext cx="2152940" cy="2033200"/>
          </a:xfrm>
          <a:prstGeom prst="rect">
            <a:avLst/>
          </a:prstGeom>
        </p:spPr>
      </p:pic>
      <p:sp>
        <p:nvSpPr>
          <p:cNvPr id="6" name="Titre 5"/>
          <p:cNvSpPr>
            <a:spLocks noGrp="1"/>
          </p:cNvSpPr>
          <p:nvPr>
            <p:ph type="title"/>
          </p:nvPr>
        </p:nvSpPr>
        <p:spPr>
          <a:xfrm>
            <a:off x="431799" y="228600"/>
            <a:ext cx="8280401" cy="784830"/>
          </a:xfrm>
        </p:spPr>
        <p:txBody>
          <a:bodyPr/>
          <a:lstStyle/>
          <a:p>
            <a:r>
              <a:rPr lang="en-CA" sz="2400" dirty="0">
                <a:solidFill>
                  <a:prstClr val="white">
                    <a:lumMod val="50000"/>
                  </a:prstClr>
                </a:solidFill>
              </a:rPr>
              <a:t>Supporting analysis</a:t>
            </a:r>
            <a:r>
              <a:rPr lang="en-CA" dirty="0" smtClean="0"/>
              <a:t/>
            </a:r>
            <a:br>
              <a:rPr lang="en-CA" dirty="0" smtClean="0"/>
            </a:br>
            <a:r>
              <a:rPr lang="en-CA" sz="4400" dirty="0" smtClean="0"/>
              <a:t>Quality of earnings (</a:t>
            </a:r>
            <a:r>
              <a:rPr lang="en-CA" sz="4400" dirty="0"/>
              <a:t>5</a:t>
            </a:r>
            <a:r>
              <a:rPr lang="en-CA" sz="4400" dirty="0" smtClean="0"/>
              <a:t>) – </a:t>
            </a:r>
            <a:r>
              <a:rPr lang="en-CA" sz="4400" i="1" dirty="0" smtClean="0"/>
              <a:t>Management adjustments</a:t>
            </a:r>
            <a:endParaRPr lang="en-CA" sz="4400" i="1" dirty="0"/>
          </a:p>
        </p:txBody>
      </p:sp>
      <p:sp>
        <p:nvSpPr>
          <p:cNvPr id="13" name="TextBox 12"/>
          <p:cNvSpPr txBox="1"/>
          <p:nvPr/>
        </p:nvSpPr>
        <p:spPr>
          <a:xfrm>
            <a:off x="4232867" y="4392910"/>
            <a:ext cx="2825878" cy="129570"/>
          </a:xfrm>
          <a:prstGeom prst="rect">
            <a:avLst/>
          </a:prstGeom>
          <a:noFill/>
        </p:spPr>
        <p:txBody>
          <a:bodyPr wrap="square" lIns="0" tIns="0" rIns="0" bIns="0" rtlCol="0">
            <a:noAutofit/>
          </a:bodyPr>
          <a:lstStyle/>
          <a:p>
            <a:r>
              <a:rPr lang="en-US" sz="600" i="1" dirty="0" smtClean="0">
                <a:cs typeface="Arial" pitchFamily="34" charset="0"/>
              </a:rPr>
              <a:t>Source: Management provided information</a:t>
            </a:r>
          </a:p>
        </p:txBody>
      </p:sp>
      <p:sp>
        <p:nvSpPr>
          <p:cNvPr id="12" name="TextBox 11"/>
          <p:cNvSpPr txBox="1"/>
          <p:nvPr/>
        </p:nvSpPr>
        <p:spPr>
          <a:xfrm>
            <a:off x="431799" y="4605629"/>
            <a:ext cx="2825878" cy="129570"/>
          </a:xfrm>
          <a:prstGeom prst="rect">
            <a:avLst/>
          </a:prstGeom>
          <a:noFill/>
        </p:spPr>
        <p:txBody>
          <a:bodyPr wrap="square" lIns="0" tIns="0" rIns="0" bIns="0" rtlCol="0">
            <a:noAutofit/>
          </a:bodyPr>
          <a:lstStyle/>
          <a:p>
            <a:r>
              <a:rPr lang="en-US" sz="600" i="1" dirty="0" smtClean="0">
                <a:cs typeface="Arial" pitchFamily="34" charset="0"/>
              </a:rPr>
              <a:t>Source: Management provided information</a:t>
            </a:r>
          </a:p>
        </p:txBody>
      </p:sp>
      <p:pic>
        <p:nvPicPr>
          <p:cNvPr id="14" name="Picture 13"/>
          <p:cNvPicPr>
            <a:picLocks noChangeAspect="1"/>
          </p:cNvPicPr>
          <p:nvPr/>
        </p:nvPicPr>
        <p:blipFill>
          <a:blip r:embed="rId4"/>
          <a:stretch>
            <a:fillRect/>
          </a:stretch>
        </p:blipFill>
        <p:spPr>
          <a:xfrm>
            <a:off x="431799" y="1271015"/>
            <a:ext cx="2871383" cy="3334614"/>
          </a:xfrm>
          <a:prstGeom prst="rect">
            <a:avLst/>
          </a:prstGeom>
        </p:spPr>
      </p:pic>
    </p:spTree>
    <p:extLst>
      <p:ext uri="{BB962C8B-B14F-4D97-AF65-F5344CB8AC3E}">
        <p14:creationId xmlns:p14="http://schemas.microsoft.com/office/powerpoint/2010/main" val="3998048160"/>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re 5"/>
          <p:cNvSpPr>
            <a:spLocks noGrp="1"/>
          </p:cNvSpPr>
          <p:nvPr>
            <p:ph type="title"/>
          </p:nvPr>
        </p:nvSpPr>
        <p:spPr>
          <a:xfrm>
            <a:off x="431799" y="228600"/>
            <a:ext cx="8280401" cy="784830"/>
          </a:xfrm>
        </p:spPr>
        <p:txBody>
          <a:bodyPr/>
          <a:lstStyle/>
          <a:p>
            <a:r>
              <a:rPr lang="en-CA" sz="2400" dirty="0">
                <a:solidFill>
                  <a:prstClr val="white">
                    <a:lumMod val="50000"/>
                  </a:prstClr>
                </a:solidFill>
              </a:rPr>
              <a:t>Supporting analysis</a:t>
            </a:r>
            <a:r>
              <a:rPr lang="en-CA" dirty="0" smtClean="0"/>
              <a:t/>
            </a:r>
            <a:br>
              <a:rPr lang="en-CA" dirty="0" smtClean="0"/>
            </a:br>
            <a:r>
              <a:rPr lang="en-CA" sz="4400" dirty="0" smtClean="0"/>
              <a:t>Quality of earnings (</a:t>
            </a:r>
            <a:r>
              <a:rPr lang="en-CA" sz="4400" dirty="0"/>
              <a:t>6</a:t>
            </a:r>
            <a:r>
              <a:rPr lang="en-CA" sz="4400" dirty="0" smtClean="0"/>
              <a:t>) – </a:t>
            </a:r>
            <a:r>
              <a:rPr lang="en-CA" sz="4400" i="1" dirty="0" smtClean="0"/>
              <a:t>Management adjustments</a:t>
            </a:r>
            <a:endParaRPr lang="en-CA" sz="4400" i="1" dirty="0"/>
          </a:p>
        </p:txBody>
      </p:sp>
      <p:sp>
        <p:nvSpPr>
          <p:cNvPr id="16" name="Espace réservé du texte 3"/>
          <p:cNvSpPr>
            <a:spLocks noGrp="1"/>
          </p:cNvSpPr>
          <p:nvPr>
            <p:ph type="body" sz="quarter" idx="15"/>
          </p:nvPr>
        </p:nvSpPr>
        <p:spPr>
          <a:xfrm>
            <a:off x="3933825" y="1271016"/>
            <a:ext cx="4778375" cy="4813309"/>
          </a:xfrm>
          <a:prstGeom prst="rect">
            <a:avLst/>
          </a:prstGeom>
        </p:spPr>
        <p:txBody>
          <a:bodyPr tIns="0"/>
          <a:lstStyle/>
          <a:p>
            <a:pPr algn="just">
              <a:spcAft>
                <a:spcPts val="0"/>
              </a:spcAft>
            </a:pPr>
            <a:r>
              <a:rPr lang="en-CA" dirty="0" smtClean="0"/>
              <a:t>Management adjustments (continued)</a:t>
            </a:r>
            <a:endParaRPr lang="en-US" dirty="0" smtClean="0">
              <a:solidFill>
                <a:schemeClr val="tx1"/>
              </a:solidFill>
            </a:endParaRPr>
          </a:p>
          <a:p>
            <a:pPr marL="228600" lvl="2" indent="-228600" algn="just">
              <a:spcBef>
                <a:spcPts val="600"/>
              </a:spcBef>
              <a:spcAft>
                <a:spcPts val="0"/>
              </a:spcAft>
              <a:buClr>
                <a:srgbClr val="97989A"/>
              </a:buClr>
              <a:buFont typeface="+mj-lt"/>
              <a:buAutoNum type="arabicPeriod" startAt="7"/>
              <a:defRPr/>
            </a:pPr>
            <a:r>
              <a:rPr lang="en-US" b="1" dirty="0" smtClean="0">
                <a:solidFill>
                  <a:schemeClr val="tx1"/>
                </a:solidFill>
                <a:latin typeface="Univers for KPMG" panose="020B0603020202020204" pitchFamily="34" charset="0"/>
              </a:rPr>
              <a:t>Non-recurring wage expenses: </a:t>
            </a:r>
            <a:r>
              <a:rPr lang="en-US" dirty="0" smtClean="0">
                <a:solidFill>
                  <a:schemeClr val="tx1"/>
                </a:solidFill>
                <a:latin typeface="Univers for KPMG" panose="020B0603020202020204" pitchFamily="34" charset="0"/>
              </a:rPr>
              <a:t>Represents an add back for various wages that Management determined to be non-recurring in nature including: </a:t>
            </a:r>
          </a:p>
          <a:p>
            <a:pPr marL="228600" lvl="2" indent="-228600" algn="just">
              <a:spcBef>
                <a:spcPts val="600"/>
              </a:spcBef>
              <a:spcAft>
                <a:spcPts val="0"/>
              </a:spcAft>
              <a:buClr>
                <a:srgbClr val="97989A"/>
              </a:buClr>
              <a:buAutoNum type="alphaLcParenR"/>
              <a:defRPr/>
            </a:pPr>
            <a:r>
              <a:rPr lang="en-US" dirty="0" smtClean="0">
                <a:solidFill>
                  <a:schemeClr val="tx1"/>
                </a:solidFill>
                <a:latin typeface="Univers for KPMG" panose="020B0603020202020204" pitchFamily="34" charset="0"/>
              </a:rPr>
              <a:t>Retiree – Relates to the Company’s first retiring employee who was paid for an extra six months by the Company so that she would be eligible for a higher social security bracket upon retiring. Management represents that this individual did not contribute to the day-to-day operations of the Company in FY17.</a:t>
            </a:r>
          </a:p>
          <a:p>
            <a:pPr marL="228600" lvl="2" indent="-228600" algn="just">
              <a:spcBef>
                <a:spcPts val="600"/>
              </a:spcBef>
              <a:spcAft>
                <a:spcPts val="0"/>
              </a:spcAft>
              <a:buClr>
                <a:srgbClr val="97989A"/>
              </a:buClr>
              <a:buAutoNum type="alphaLcParenR"/>
              <a:defRPr/>
            </a:pPr>
            <a:r>
              <a:rPr lang="en-US" dirty="0" smtClean="0">
                <a:solidFill>
                  <a:schemeClr val="tx1"/>
                </a:solidFill>
                <a:latin typeface="Univers for KPMG" panose="020B0603020202020204" pitchFamily="34" charset="0"/>
              </a:rPr>
              <a:t>IT sales consultant – Relates to an employee hired to assist in an IT role however, we understand that the individual did not have the necessary skills for the role and was terminated several months later. Management represents that this individual did not generate any revenue and that the Company is not looking to fill this role. </a:t>
            </a:r>
          </a:p>
          <a:p>
            <a:pPr marL="228600" lvl="2" indent="-228600" algn="just">
              <a:spcBef>
                <a:spcPts val="600"/>
              </a:spcBef>
              <a:spcAft>
                <a:spcPts val="0"/>
              </a:spcAft>
              <a:buClr>
                <a:srgbClr val="97989A"/>
              </a:buClr>
              <a:buAutoNum type="alphaLcParenR"/>
              <a:defRPr/>
            </a:pPr>
            <a:r>
              <a:rPr lang="en-US" dirty="0" smtClean="0">
                <a:solidFill>
                  <a:schemeClr val="tx1"/>
                </a:solidFill>
                <a:latin typeface="Univers for KPMG" panose="020B0603020202020204" pitchFamily="34" charset="0"/>
              </a:rPr>
              <a:t>Bank audit support – Relates to an employee hired to assist with the semi-annual bank audit performed by Provident bank. See QofE adjustment #10 for further considerations. </a:t>
            </a:r>
            <a:endParaRPr lang="en-US" b="1" dirty="0" smtClean="0">
              <a:solidFill>
                <a:schemeClr val="tx1"/>
              </a:solidFill>
              <a:latin typeface="Univers for KPMG" panose="020B0603020202020204" pitchFamily="34" charset="0"/>
            </a:endParaRPr>
          </a:p>
          <a:p>
            <a:pPr marL="0" lvl="2" indent="0" algn="just">
              <a:spcBef>
                <a:spcPts val="600"/>
              </a:spcBef>
              <a:spcAft>
                <a:spcPts val="0"/>
              </a:spcAft>
              <a:buClr>
                <a:srgbClr val="97989A"/>
              </a:buClr>
              <a:buNone/>
              <a:defRPr/>
            </a:pPr>
            <a:endParaRPr lang="en-US" b="1" dirty="0">
              <a:solidFill>
                <a:schemeClr val="tx1"/>
              </a:solidFill>
              <a:latin typeface="Univers for KPMG" panose="020B0603020202020204" pitchFamily="34" charset="0"/>
            </a:endParaRPr>
          </a:p>
          <a:p>
            <a:pPr marL="0" lvl="2" indent="0" algn="just">
              <a:spcBef>
                <a:spcPts val="600"/>
              </a:spcBef>
              <a:spcAft>
                <a:spcPts val="0"/>
              </a:spcAft>
              <a:buClr>
                <a:srgbClr val="97989A"/>
              </a:buClr>
              <a:buNone/>
              <a:defRPr/>
            </a:pPr>
            <a:endParaRPr lang="en-US" b="1" dirty="0" smtClean="0">
              <a:solidFill>
                <a:schemeClr val="tx1"/>
              </a:solidFill>
              <a:latin typeface="Univers for KPMG" panose="020B0603020202020204" pitchFamily="34" charset="0"/>
            </a:endParaRPr>
          </a:p>
          <a:p>
            <a:pPr marL="0" lvl="2" indent="0" algn="just">
              <a:spcBef>
                <a:spcPts val="600"/>
              </a:spcBef>
              <a:spcAft>
                <a:spcPts val="0"/>
              </a:spcAft>
              <a:buClr>
                <a:srgbClr val="97989A"/>
              </a:buClr>
              <a:buNone/>
              <a:defRPr/>
            </a:pPr>
            <a:endParaRPr lang="en-US" b="1" dirty="0">
              <a:solidFill>
                <a:schemeClr val="tx1"/>
              </a:solidFill>
              <a:latin typeface="Univers for KPMG" panose="020B0603020202020204" pitchFamily="34" charset="0"/>
            </a:endParaRPr>
          </a:p>
          <a:p>
            <a:pPr marL="0" lvl="2" indent="0" algn="just">
              <a:spcBef>
                <a:spcPts val="600"/>
              </a:spcBef>
              <a:spcAft>
                <a:spcPts val="0"/>
              </a:spcAft>
              <a:buClr>
                <a:srgbClr val="97989A"/>
              </a:buClr>
              <a:buNone/>
              <a:defRPr/>
            </a:pPr>
            <a:endParaRPr lang="en-US" b="1" dirty="0" smtClean="0">
              <a:solidFill>
                <a:schemeClr val="tx1"/>
              </a:solidFill>
              <a:latin typeface="Univers for KPMG" panose="020B0603020202020204" pitchFamily="34" charset="0"/>
            </a:endParaRPr>
          </a:p>
          <a:p>
            <a:pPr marL="0" lvl="2" indent="0" algn="just">
              <a:spcBef>
                <a:spcPts val="600"/>
              </a:spcBef>
              <a:spcAft>
                <a:spcPts val="0"/>
              </a:spcAft>
              <a:buClr>
                <a:srgbClr val="97989A"/>
              </a:buClr>
              <a:buNone/>
              <a:defRPr/>
            </a:pPr>
            <a:endParaRPr lang="en-US" b="1" dirty="0">
              <a:solidFill>
                <a:schemeClr val="tx1"/>
              </a:solidFill>
              <a:latin typeface="Univers for KPMG" panose="020B0603020202020204" pitchFamily="34" charset="0"/>
            </a:endParaRPr>
          </a:p>
        </p:txBody>
      </p:sp>
      <p:sp>
        <p:nvSpPr>
          <p:cNvPr id="11" name="TextBox 10"/>
          <p:cNvSpPr txBox="1"/>
          <p:nvPr/>
        </p:nvSpPr>
        <p:spPr>
          <a:xfrm>
            <a:off x="4232865" y="4688950"/>
            <a:ext cx="2825878" cy="129570"/>
          </a:xfrm>
          <a:prstGeom prst="rect">
            <a:avLst/>
          </a:prstGeom>
          <a:noFill/>
        </p:spPr>
        <p:txBody>
          <a:bodyPr wrap="square" lIns="0" tIns="0" rIns="0" bIns="0" rtlCol="0">
            <a:noAutofit/>
          </a:bodyPr>
          <a:lstStyle/>
          <a:p>
            <a:r>
              <a:rPr lang="en-US" sz="600" i="1" dirty="0" smtClean="0">
                <a:cs typeface="Arial" pitchFamily="34" charset="0"/>
              </a:rPr>
              <a:t>Source: Management provided information</a:t>
            </a:r>
          </a:p>
        </p:txBody>
      </p:sp>
      <p:pic>
        <p:nvPicPr>
          <p:cNvPr id="4" name="Picture 3"/>
          <p:cNvPicPr>
            <a:picLocks noChangeAspect="1"/>
          </p:cNvPicPr>
          <p:nvPr/>
        </p:nvPicPr>
        <p:blipFill>
          <a:blip r:embed="rId3"/>
          <a:stretch>
            <a:fillRect/>
          </a:stretch>
        </p:blipFill>
        <p:spPr>
          <a:xfrm>
            <a:off x="4232865" y="3872680"/>
            <a:ext cx="1483282" cy="816270"/>
          </a:xfrm>
          <a:prstGeom prst="rect">
            <a:avLst/>
          </a:prstGeom>
        </p:spPr>
      </p:pic>
      <p:sp>
        <p:nvSpPr>
          <p:cNvPr id="13" name="TextBox 12"/>
          <p:cNvSpPr txBox="1"/>
          <p:nvPr/>
        </p:nvSpPr>
        <p:spPr>
          <a:xfrm>
            <a:off x="431799" y="4605629"/>
            <a:ext cx="2825878" cy="129570"/>
          </a:xfrm>
          <a:prstGeom prst="rect">
            <a:avLst/>
          </a:prstGeom>
          <a:noFill/>
        </p:spPr>
        <p:txBody>
          <a:bodyPr wrap="square" lIns="0" tIns="0" rIns="0" bIns="0" rtlCol="0">
            <a:noAutofit/>
          </a:bodyPr>
          <a:lstStyle/>
          <a:p>
            <a:r>
              <a:rPr lang="en-US" sz="600" i="1" dirty="0" smtClean="0">
                <a:cs typeface="Arial" pitchFamily="34" charset="0"/>
              </a:rPr>
              <a:t>Source: Management provided information</a:t>
            </a:r>
          </a:p>
        </p:txBody>
      </p:sp>
      <p:pic>
        <p:nvPicPr>
          <p:cNvPr id="14" name="Picture 13"/>
          <p:cNvPicPr>
            <a:picLocks noChangeAspect="1"/>
          </p:cNvPicPr>
          <p:nvPr/>
        </p:nvPicPr>
        <p:blipFill>
          <a:blip r:embed="rId4"/>
          <a:stretch>
            <a:fillRect/>
          </a:stretch>
        </p:blipFill>
        <p:spPr>
          <a:xfrm>
            <a:off x="431799" y="1271015"/>
            <a:ext cx="2871383" cy="3334614"/>
          </a:xfrm>
          <a:prstGeom prst="rect">
            <a:avLst/>
          </a:prstGeom>
        </p:spPr>
      </p:pic>
    </p:spTree>
    <p:extLst>
      <p:ext uri="{BB962C8B-B14F-4D97-AF65-F5344CB8AC3E}">
        <p14:creationId xmlns:p14="http://schemas.microsoft.com/office/powerpoint/2010/main" val="3676150647"/>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3"/>
          <a:stretch>
            <a:fillRect/>
          </a:stretch>
        </p:blipFill>
        <p:spPr>
          <a:xfrm>
            <a:off x="425877" y="1271015"/>
            <a:ext cx="2871383" cy="3211414"/>
          </a:xfrm>
          <a:prstGeom prst="rect">
            <a:avLst/>
          </a:prstGeom>
        </p:spPr>
      </p:pic>
      <p:sp>
        <p:nvSpPr>
          <p:cNvPr id="16" name="Espace réservé du texte 3"/>
          <p:cNvSpPr>
            <a:spLocks noGrp="1"/>
          </p:cNvSpPr>
          <p:nvPr>
            <p:ph type="body" sz="quarter" idx="15"/>
          </p:nvPr>
        </p:nvSpPr>
        <p:spPr>
          <a:xfrm>
            <a:off x="3931920" y="1271016"/>
            <a:ext cx="4780280" cy="4834509"/>
          </a:xfrm>
          <a:prstGeom prst="rect">
            <a:avLst/>
          </a:prstGeom>
        </p:spPr>
        <p:txBody>
          <a:bodyPr tIns="0"/>
          <a:lstStyle/>
          <a:p>
            <a:pPr algn="just">
              <a:spcAft>
                <a:spcPts val="0"/>
              </a:spcAft>
            </a:pPr>
            <a:r>
              <a:rPr lang="en-CA" dirty="0"/>
              <a:t>Potential adjustments</a:t>
            </a:r>
          </a:p>
          <a:p>
            <a:pPr marL="0" lvl="2" indent="0" algn="just">
              <a:spcBef>
                <a:spcPts val="600"/>
              </a:spcBef>
              <a:spcAft>
                <a:spcPts val="0"/>
              </a:spcAft>
              <a:buClr>
                <a:srgbClr val="97989A"/>
              </a:buClr>
              <a:buNone/>
              <a:defRPr/>
            </a:pPr>
            <a:r>
              <a:rPr lang="en-CA" dirty="0">
                <a:solidFill>
                  <a:schemeClr val="tx1"/>
                </a:solidFill>
                <a:latin typeface="Univers for KPMG" panose="020B0603020202020204" pitchFamily="34" charset="0"/>
              </a:rPr>
              <a:t>The following are potential </a:t>
            </a:r>
            <a:r>
              <a:rPr lang="en-CA" dirty="0" smtClean="0">
                <a:solidFill>
                  <a:schemeClr val="tx1"/>
                </a:solidFill>
                <a:latin typeface="Univers for KPMG" panose="020B0603020202020204" pitchFamily="34" charset="0"/>
              </a:rPr>
              <a:t>adjustments to Management adjusted EBITDA identified </a:t>
            </a:r>
            <a:r>
              <a:rPr lang="en-CA" dirty="0">
                <a:solidFill>
                  <a:schemeClr val="tx1"/>
                </a:solidFill>
                <a:latin typeface="Univers for KPMG" panose="020B0603020202020204" pitchFamily="34" charset="0"/>
              </a:rPr>
              <a:t>during diligence</a:t>
            </a:r>
            <a:r>
              <a:rPr lang="en-CA" dirty="0" smtClean="0">
                <a:solidFill>
                  <a:schemeClr val="tx1"/>
                </a:solidFill>
                <a:latin typeface="Univers for KPMG" panose="020B0603020202020204" pitchFamily="34" charset="0"/>
              </a:rPr>
              <a:t>:</a:t>
            </a:r>
          </a:p>
          <a:p>
            <a:pPr marL="228600" lvl="2" indent="-228600" algn="just">
              <a:spcBef>
                <a:spcPts val="600"/>
              </a:spcBef>
              <a:spcAft>
                <a:spcPts val="0"/>
              </a:spcAft>
              <a:buClr>
                <a:srgbClr val="97989A"/>
              </a:buClr>
              <a:buFont typeface="+mj-lt"/>
              <a:buAutoNum type="arabicPeriod" startAt="8"/>
              <a:defRPr/>
            </a:pPr>
            <a:r>
              <a:rPr lang="en-US" b="1" dirty="0">
                <a:solidFill>
                  <a:srgbClr val="000000"/>
                </a:solidFill>
                <a:latin typeface="Univers for KPMG" panose="020B0603020202020204" pitchFamily="34" charset="0"/>
                <a:cs typeface="Arial" pitchFamily="34" charset="0"/>
              </a:rPr>
              <a:t>Audit fees: </a:t>
            </a:r>
            <a:r>
              <a:rPr lang="en-US" dirty="0">
                <a:solidFill>
                  <a:srgbClr val="000000"/>
                </a:solidFill>
                <a:latin typeface="Univers for KPMG" panose="020B0603020202020204" pitchFamily="34" charset="0"/>
                <a:cs typeface="Arial" pitchFamily="34" charset="0"/>
              </a:rPr>
              <a:t>This adjustment eliminates Management’s add back for audit fees per </a:t>
            </a:r>
            <a:r>
              <a:rPr lang="en-US" dirty="0" smtClean="0">
                <a:solidFill>
                  <a:srgbClr val="000000"/>
                </a:solidFill>
                <a:latin typeface="Univers for KPMG" panose="020B0603020202020204" pitchFamily="34" charset="0"/>
                <a:cs typeface="Arial" pitchFamily="34" charset="0"/>
              </a:rPr>
              <a:t>QofE adjustment 2b </a:t>
            </a:r>
            <a:r>
              <a:rPr lang="en-US" dirty="0">
                <a:solidFill>
                  <a:srgbClr val="000000"/>
                </a:solidFill>
                <a:latin typeface="Univers for KPMG" panose="020B0603020202020204" pitchFamily="34" charset="0"/>
                <a:cs typeface="Arial" pitchFamily="34" charset="0"/>
              </a:rPr>
              <a:t>given that these audit fees are recurring in nature. We have also included a normalized level of audit fees in both FY16 and </a:t>
            </a:r>
            <a:r>
              <a:rPr lang="en-US" dirty="0" smtClean="0">
                <a:solidFill>
                  <a:srgbClr val="000000"/>
                </a:solidFill>
                <a:latin typeface="Univers for KPMG" panose="020B0603020202020204" pitchFamily="34" charset="0"/>
                <a:cs typeface="Arial" pitchFamily="34" charset="0"/>
              </a:rPr>
              <a:t>FY17 based </a:t>
            </a:r>
            <a:r>
              <a:rPr lang="en-US" dirty="0">
                <a:solidFill>
                  <a:srgbClr val="000000"/>
                </a:solidFill>
                <a:latin typeface="Univers for KPMG" panose="020B0603020202020204" pitchFamily="34" charset="0"/>
                <a:cs typeface="Arial" pitchFamily="34" charset="0"/>
              </a:rPr>
              <a:t>on the expenses incurred over the historical </a:t>
            </a:r>
            <a:r>
              <a:rPr lang="en-US" dirty="0" smtClean="0">
                <a:solidFill>
                  <a:srgbClr val="000000"/>
                </a:solidFill>
                <a:latin typeface="Univers for KPMG" panose="020B0603020202020204" pitchFamily="34" charset="0"/>
                <a:cs typeface="Arial" pitchFamily="34" charset="0"/>
              </a:rPr>
              <a:t>period</a:t>
            </a:r>
            <a:r>
              <a:rPr lang="en-US" dirty="0" smtClean="0">
                <a:solidFill>
                  <a:schemeClr val="tx1"/>
                </a:solidFill>
                <a:latin typeface="Univers for KPMG" panose="020B0603020202020204" pitchFamily="34" charset="0"/>
                <a:cs typeface="Arial" pitchFamily="34" charset="0"/>
              </a:rPr>
              <a:t>. </a:t>
            </a:r>
            <a:r>
              <a:rPr lang="en-US" dirty="0">
                <a:solidFill>
                  <a:schemeClr val="tx1"/>
                </a:solidFill>
                <a:latin typeface="Univers for KPMG" panose="020B0603020202020204" pitchFamily="34" charset="0"/>
                <a:cs typeface="Arial" pitchFamily="34" charset="0"/>
              </a:rPr>
              <a:t>We have obtained invoices relating to the RRBB </a:t>
            </a:r>
            <a:r>
              <a:rPr lang="en-US" dirty="0" smtClean="0">
                <a:solidFill>
                  <a:schemeClr val="tx1"/>
                </a:solidFill>
                <a:latin typeface="Univers for KPMG" panose="020B0603020202020204" pitchFamily="34" charset="0"/>
                <a:cs typeface="Arial" pitchFamily="34" charset="0"/>
              </a:rPr>
              <a:t>fees</a:t>
            </a:r>
            <a:r>
              <a:rPr lang="en-US" dirty="0">
                <a:solidFill>
                  <a:schemeClr val="tx1"/>
                </a:solidFill>
                <a:latin typeface="Univers for KPMG" panose="020B0603020202020204" pitchFamily="34" charset="0"/>
                <a:cs typeface="Arial" pitchFamily="34" charset="0"/>
              </a:rPr>
              <a:t> </a:t>
            </a:r>
            <a:r>
              <a:rPr lang="en-US" dirty="0" smtClean="0">
                <a:solidFill>
                  <a:schemeClr val="tx1"/>
                </a:solidFill>
                <a:latin typeface="Univers for KPMG" panose="020B0603020202020204" pitchFamily="34" charset="0"/>
                <a:cs typeface="Arial" pitchFamily="34" charset="0"/>
              </a:rPr>
              <a:t>with no discrepancies noted. </a:t>
            </a:r>
          </a:p>
          <a:p>
            <a:pPr marL="228600" lvl="2" indent="-228600" algn="just">
              <a:spcBef>
                <a:spcPts val="600"/>
              </a:spcBef>
              <a:spcAft>
                <a:spcPts val="0"/>
              </a:spcAft>
              <a:buClr>
                <a:srgbClr val="97989A"/>
              </a:buClr>
              <a:buFont typeface="+mj-lt"/>
              <a:buAutoNum type="arabicPeriod" startAt="8"/>
              <a:defRPr/>
            </a:pPr>
            <a:endParaRPr lang="en-US" b="1" dirty="0">
              <a:solidFill>
                <a:schemeClr val="tx1"/>
              </a:solidFill>
              <a:latin typeface="Univers for KPMG" panose="020B0603020202020204" pitchFamily="34" charset="0"/>
              <a:cs typeface="Arial" pitchFamily="34" charset="0"/>
            </a:endParaRPr>
          </a:p>
          <a:p>
            <a:pPr marL="0" lvl="2" indent="0" algn="just">
              <a:spcBef>
                <a:spcPts val="600"/>
              </a:spcBef>
              <a:spcAft>
                <a:spcPts val="0"/>
              </a:spcAft>
              <a:buClr>
                <a:srgbClr val="97989A"/>
              </a:buClr>
              <a:buNone/>
              <a:defRPr/>
            </a:pPr>
            <a:endParaRPr lang="en-US" b="1" dirty="0">
              <a:solidFill>
                <a:schemeClr val="tx1"/>
              </a:solidFill>
              <a:latin typeface="Univers for KPMG" panose="020B0603020202020204" pitchFamily="34" charset="0"/>
            </a:endParaRPr>
          </a:p>
          <a:p>
            <a:pPr marL="0" lvl="2" indent="0" algn="just">
              <a:spcBef>
                <a:spcPts val="600"/>
              </a:spcBef>
              <a:spcAft>
                <a:spcPts val="0"/>
              </a:spcAft>
              <a:buClr>
                <a:srgbClr val="97989A"/>
              </a:buClr>
              <a:buNone/>
              <a:defRPr/>
            </a:pPr>
            <a:endParaRPr lang="en-US" b="1" dirty="0" smtClean="0">
              <a:solidFill>
                <a:schemeClr val="tx1"/>
              </a:solidFill>
              <a:latin typeface="Univers for KPMG" panose="020B0603020202020204" pitchFamily="34" charset="0"/>
            </a:endParaRPr>
          </a:p>
          <a:p>
            <a:pPr marL="0" lvl="2" indent="0" algn="just">
              <a:spcBef>
                <a:spcPts val="600"/>
              </a:spcBef>
              <a:spcAft>
                <a:spcPts val="0"/>
              </a:spcAft>
              <a:buClr>
                <a:srgbClr val="97989A"/>
              </a:buClr>
              <a:buNone/>
              <a:defRPr/>
            </a:pPr>
            <a:endParaRPr lang="en-US" b="1" dirty="0">
              <a:solidFill>
                <a:schemeClr val="tx1"/>
              </a:solidFill>
              <a:latin typeface="Univers for KPMG" panose="020B0603020202020204" pitchFamily="34" charset="0"/>
            </a:endParaRPr>
          </a:p>
          <a:p>
            <a:pPr marL="0" lvl="2" indent="0" algn="just">
              <a:spcBef>
                <a:spcPts val="600"/>
              </a:spcBef>
              <a:spcAft>
                <a:spcPts val="0"/>
              </a:spcAft>
              <a:buClr>
                <a:srgbClr val="97989A"/>
              </a:buClr>
              <a:buNone/>
              <a:defRPr/>
            </a:pPr>
            <a:endParaRPr lang="en-US" b="1" dirty="0" smtClean="0">
              <a:solidFill>
                <a:schemeClr val="tx1"/>
              </a:solidFill>
              <a:latin typeface="Univers for KPMG" panose="020B0603020202020204" pitchFamily="34" charset="0"/>
            </a:endParaRPr>
          </a:p>
          <a:p>
            <a:pPr marL="0" lvl="2" indent="0" algn="just">
              <a:spcBef>
                <a:spcPts val="600"/>
              </a:spcBef>
              <a:spcAft>
                <a:spcPts val="0"/>
              </a:spcAft>
              <a:buClr>
                <a:srgbClr val="97989A"/>
              </a:buClr>
              <a:buNone/>
              <a:defRPr/>
            </a:pPr>
            <a:endParaRPr lang="en-US" b="1" dirty="0" smtClean="0">
              <a:solidFill>
                <a:srgbClr val="000000"/>
              </a:solidFill>
              <a:latin typeface="Univers for KPMG" panose="020B0603020202020204" pitchFamily="34" charset="0"/>
              <a:cs typeface="Arial" pitchFamily="34" charset="0"/>
            </a:endParaRPr>
          </a:p>
          <a:p>
            <a:pPr marL="228600" lvl="2" indent="-228600" algn="just">
              <a:spcBef>
                <a:spcPts val="600"/>
              </a:spcBef>
              <a:spcAft>
                <a:spcPts val="0"/>
              </a:spcAft>
              <a:buClr>
                <a:srgbClr val="97989A"/>
              </a:buClr>
              <a:buFont typeface="+mj-lt"/>
              <a:buAutoNum type="arabicPeriod" startAt="9"/>
              <a:defRPr/>
            </a:pPr>
            <a:r>
              <a:rPr lang="en-US" b="1" dirty="0">
                <a:solidFill>
                  <a:srgbClr val="000000"/>
                </a:solidFill>
                <a:latin typeface="Univers for KPMG" panose="020B0603020202020204" pitchFamily="34" charset="0"/>
                <a:cs typeface="Arial" pitchFamily="34" charset="0"/>
              </a:rPr>
              <a:t>Wage expenses: </a:t>
            </a:r>
            <a:r>
              <a:rPr lang="en-US" dirty="0" smtClean="0">
                <a:solidFill>
                  <a:srgbClr val="000000"/>
                </a:solidFill>
                <a:latin typeface="Univers for KPMG" panose="020B0603020202020204" pitchFamily="34" charset="0"/>
                <a:cs typeface="Arial" pitchFamily="34" charset="0"/>
              </a:rPr>
              <a:t>Reverses Management’s QofE adjustments 7b </a:t>
            </a:r>
            <a:r>
              <a:rPr lang="en-US" dirty="0">
                <a:solidFill>
                  <a:srgbClr val="000000"/>
                </a:solidFill>
                <a:latin typeface="Univers for KPMG" panose="020B0603020202020204" pitchFamily="34" charset="0"/>
                <a:cs typeface="Arial" pitchFamily="34" charset="0"/>
              </a:rPr>
              <a:t>and </a:t>
            </a:r>
            <a:r>
              <a:rPr lang="en-US" dirty="0" smtClean="0">
                <a:solidFill>
                  <a:srgbClr val="000000"/>
                </a:solidFill>
                <a:latin typeface="Univers for KPMG" panose="020B0603020202020204" pitchFamily="34" charset="0"/>
                <a:cs typeface="Arial" pitchFamily="34" charset="0"/>
              </a:rPr>
              <a:t>7c relating </a:t>
            </a:r>
            <a:r>
              <a:rPr lang="en-US" dirty="0">
                <a:solidFill>
                  <a:srgbClr val="000000"/>
                </a:solidFill>
                <a:latin typeface="Univers for KPMG" panose="020B0603020202020204" pitchFamily="34" charset="0"/>
                <a:cs typeface="Arial" pitchFamily="34" charset="0"/>
              </a:rPr>
              <a:t>to </a:t>
            </a:r>
            <a:r>
              <a:rPr lang="en-US" dirty="0" smtClean="0">
                <a:solidFill>
                  <a:srgbClr val="000000"/>
                </a:solidFill>
                <a:latin typeface="Univers for KPMG" panose="020B0603020202020204" pitchFamily="34" charset="0"/>
                <a:cs typeface="Arial" pitchFamily="34" charset="0"/>
              </a:rPr>
              <a:t>wages </a:t>
            </a:r>
            <a:r>
              <a:rPr lang="en-US" dirty="0">
                <a:solidFill>
                  <a:srgbClr val="000000"/>
                </a:solidFill>
                <a:latin typeface="Univers for KPMG" panose="020B0603020202020204" pitchFamily="34" charset="0"/>
                <a:cs typeface="Arial" pitchFamily="34" charset="0"/>
              </a:rPr>
              <a:t>for an IT consultant and an employee to support the semi-annual bank </a:t>
            </a:r>
            <a:r>
              <a:rPr lang="en-US" dirty="0" smtClean="0">
                <a:solidFill>
                  <a:srgbClr val="000000"/>
                </a:solidFill>
                <a:latin typeface="Univers for KPMG" panose="020B0603020202020204" pitchFamily="34" charset="0"/>
                <a:cs typeface="Arial" pitchFamily="34" charset="0"/>
              </a:rPr>
              <a:t>audit as we view these costs as recurring. </a:t>
            </a:r>
          </a:p>
          <a:p>
            <a:pPr marL="0" lvl="2" indent="0" algn="just">
              <a:spcBef>
                <a:spcPts val="600"/>
              </a:spcBef>
              <a:spcAft>
                <a:spcPts val="0"/>
              </a:spcAft>
              <a:buClr>
                <a:srgbClr val="97989A"/>
              </a:buClr>
              <a:buNone/>
              <a:defRPr/>
            </a:pPr>
            <a:endParaRPr lang="en-US" b="1" dirty="0" smtClean="0">
              <a:solidFill>
                <a:schemeClr val="tx1"/>
              </a:solidFill>
              <a:latin typeface="Univers for KPMG" panose="020B0603020202020204" pitchFamily="34" charset="0"/>
            </a:endParaRPr>
          </a:p>
          <a:p>
            <a:pPr marL="0" lvl="2" indent="0" algn="just">
              <a:spcBef>
                <a:spcPts val="600"/>
              </a:spcBef>
              <a:spcAft>
                <a:spcPts val="0"/>
              </a:spcAft>
              <a:buClr>
                <a:srgbClr val="97989A"/>
              </a:buClr>
              <a:buNone/>
              <a:defRPr/>
            </a:pPr>
            <a:endParaRPr lang="en-US" b="1" dirty="0" smtClean="0">
              <a:solidFill>
                <a:schemeClr val="tx1"/>
              </a:solidFill>
              <a:latin typeface="Univers for KPMG" panose="020B0603020202020204" pitchFamily="34" charset="0"/>
            </a:endParaRPr>
          </a:p>
          <a:p>
            <a:pPr marL="0" lvl="2" indent="0" algn="just">
              <a:spcBef>
                <a:spcPts val="600"/>
              </a:spcBef>
              <a:spcAft>
                <a:spcPts val="0"/>
              </a:spcAft>
              <a:buClr>
                <a:srgbClr val="97989A"/>
              </a:buClr>
              <a:buNone/>
              <a:defRPr/>
            </a:pPr>
            <a:endParaRPr lang="en-US" dirty="0" smtClean="0">
              <a:solidFill>
                <a:schemeClr val="tx1"/>
              </a:solidFill>
              <a:latin typeface="Univers for KPMG" panose="020B0603020202020204" pitchFamily="34" charset="0"/>
            </a:endParaRPr>
          </a:p>
          <a:p>
            <a:pPr marL="228600" lvl="2" indent="-228600" algn="just">
              <a:spcBef>
                <a:spcPts val="600"/>
              </a:spcBef>
              <a:spcAft>
                <a:spcPts val="0"/>
              </a:spcAft>
              <a:buClr>
                <a:srgbClr val="97989A"/>
              </a:buClr>
              <a:buFont typeface="+mj-lt"/>
              <a:buAutoNum type="arabicPeriod" startAt="8"/>
              <a:defRPr/>
            </a:pPr>
            <a:endParaRPr lang="en-US" dirty="0">
              <a:solidFill>
                <a:schemeClr val="tx1"/>
              </a:solidFill>
              <a:latin typeface="Univers for KPMG" panose="020B0603020202020204" pitchFamily="34" charset="0"/>
            </a:endParaRPr>
          </a:p>
          <a:p>
            <a:pPr marL="228600" lvl="2" indent="-228600" algn="just">
              <a:spcBef>
                <a:spcPts val="600"/>
              </a:spcBef>
              <a:spcAft>
                <a:spcPts val="0"/>
              </a:spcAft>
              <a:buClr>
                <a:srgbClr val="97989A"/>
              </a:buClr>
              <a:buFont typeface="+mj-lt"/>
              <a:buAutoNum type="arabicPeriod" startAt="8"/>
              <a:defRPr/>
            </a:pPr>
            <a:endParaRPr lang="en-US" dirty="0" smtClean="0">
              <a:solidFill>
                <a:schemeClr val="tx1"/>
              </a:solidFill>
              <a:latin typeface="Univers for KPMG" panose="020B0603020202020204" pitchFamily="34" charset="0"/>
            </a:endParaRPr>
          </a:p>
          <a:p>
            <a:pPr marL="228600" lvl="2" indent="-228600" algn="just">
              <a:spcBef>
                <a:spcPts val="600"/>
              </a:spcBef>
              <a:spcAft>
                <a:spcPts val="0"/>
              </a:spcAft>
              <a:buClr>
                <a:srgbClr val="97989A"/>
              </a:buClr>
              <a:buFont typeface="+mj-lt"/>
              <a:buAutoNum type="arabicPeriod" startAt="8"/>
              <a:defRPr/>
            </a:pPr>
            <a:endParaRPr lang="en-US" dirty="0">
              <a:solidFill>
                <a:schemeClr val="tx1"/>
              </a:solidFill>
              <a:latin typeface="Univers for KPMG" panose="020B0603020202020204" pitchFamily="34" charset="0"/>
            </a:endParaRPr>
          </a:p>
          <a:p>
            <a:pPr marL="228600" lvl="2" indent="-228600" algn="just">
              <a:spcBef>
                <a:spcPts val="600"/>
              </a:spcBef>
              <a:spcAft>
                <a:spcPts val="0"/>
              </a:spcAft>
              <a:buClr>
                <a:srgbClr val="97989A"/>
              </a:buClr>
              <a:buFont typeface="+mj-lt"/>
              <a:buAutoNum type="arabicPeriod" startAt="8"/>
              <a:defRPr/>
            </a:pPr>
            <a:endParaRPr lang="en-US" dirty="0" smtClean="0">
              <a:solidFill>
                <a:schemeClr val="tx1"/>
              </a:solidFill>
              <a:latin typeface="Univers for KPMG" panose="020B0603020202020204" pitchFamily="34" charset="0"/>
            </a:endParaRPr>
          </a:p>
          <a:p>
            <a:pPr marL="228600" lvl="2" indent="-228600" algn="just">
              <a:spcBef>
                <a:spcPts val="600"/>
              </a:spcBef>
              <a:spcAft>
                <a:spcPts val="0"/>
              </a:spcAft>
              <a:buClr>
                <a:srgbClr val="97989A"/>
              </a:buClr>
              <a:buFont typeface="+mj-lt"/>
              <a:buAutoNum type="arabicPeriod" startAt="8"/>
              <a:defRPr/>
            </a:pPr>
            <a:endParaRPr lang="en-US" dirty="0" smtClean="0">
              <a:solidFill>
                <a:schemeClr val="tx1"/>
              </a:solidFill>
              <a:latin typeface="Univers for KPMG" panose="020B0603020202020204" pitchFamily="34" charset="0"/>
            </a:endParaRPr>
          </a:p>
          <a:p>
            <a:pPr marL="228600" lvl="2" indent="-228600" algn="just">
              <a:spcBef>
                <a:spcPts val="600"/>
              </a:spcBef>
              <a:spcAft>
                <a:spcPts val="0"/>
              </a:spcAft>
              <a:buClr>
                <a:srgbClr val="97989A"/>
              </a:buClr>
              <a:buFont typeface="+mj-lt"/>
              <a:buAutoNum type="arabicPeriod" startAt="10"/>
              <a:defRPr/>
            </a:pPr>
            <a:endParaRPr lang="en-US" dirty="0">
              <a:solidFill>
                <a:schemeClr val="tx1"/>
              </a:solidFill>
              <a:latin typeface="Univers for KPMG" panose="020B0603020202020204" pitchFamily="34" charset="0"/>
            </a:endParaRPr>
          </a:p>
          <a:p>
            <a:pPr marL="0" lvl="2" indent="0">
              <a:spcBef>
                <a:spcPts val="600"/>
              </a:spcBef>
              <a:spcAft>
                <a:spcPts val="0"/>
              </a:spcAft>
              <a:buClr>
                <a:srgbClr val="97989A"/>
              </a:buClr>
              <a:buNone/>
              <a:defRPr/>
            </a:pPr>
            <a:endParaRPr lang="en-US" sz="500" b="1" dirty="0">
              <a:solidFill>
                <a:schemeClr val="tx1"/>
              </a:solidFill>
              <a:latin typeface="Univers for KPMG" panose="020B0603020202020204" pitchFamily="34" charset="0"/>
            </a:endParaRPr>
          </a:p>
          <a:p>
            <a:pPr marL="0" lvl="2" indent="0">
              <a:spcBef>
                <a:spcPts val="600"/>
              </a:spcBef>
              <a:spcAft>
                <a:spcPts val="0"/>
              </a:spcAft>
              <a:buClr>
                <a:srgbClr val="97989A"/>
              </a:buClr>
              <a:buNone/>
              <a:defRPr/>
            </a:pPr>
            <a:endParaRPr lang="en-US" b="1" dirty="0">
              <a:solidFill>
                <a:schemeClr val="tx1"/>
              </a:solidFill>
              <a:latin typeface="Univers for KPMG" panose="020B0603020202020204" pitchFamily="34" charset="0"/>
            </a:endParaRPr>
          </a:p>
          <a:p>
            <a:pPr marL="0" lvl="2" indent="0">
              <a:spcBef>
                <a:spcPts val="600"/>
              </a:spcBef>
              <a:spcAft>
                <a:spcPts val="0"/>
              </a:spcAft>
              <a:buClr>
                <a:srgbClr val="97989A"/>
              </a:buClr>
              <a:buNone/>
              <a:defRPr/>
            </a:pPr>
            <a:endParaRPr lang="en-US" b="1" dirty="0">
              <a:solidFill>
                <a:schemeClr val="tx1"/>
              </a:solidFill>
              <a:latin typeface="Univers for KPMG" panose="020B0603020202020204" pitchFamily="34" charset="0"/>
            </a:endParaRPr>
          </a:p>
          <a:p>
            <a:pPr marL="169863" lvl="3" indent="0">
              <a:spcBef>
                <a:spcPts val="600"/>
              </a:spcBef>
              <a:spcAft>
                <a:spcPts val="0"/>
              </a:spcAft>
              <a:buClr>
                <a:srgbClr val="97989A"/>
              </a:buClr>
              <a:buNone/>
              <a:defRPr/>
            </a:pPr>
            <a:endParaRPr lang="en-US" b="1" dirty="0">
              <a:solidFill>
                <a:schemeClr val="tx1"/>
              </a:solidFill>
              <a:latin typeface="Univers for KPMG" panose="020B0603020202020204" pitchFamily="34" charset="0"/>
            </a:endParaRPr>
          </a:p>
          <a:p>
            <a:pPr marL="588600" lvl="3" indent="-228600">
              <a:spcBef>
                <a:spcPts val="600"/>
              </a:spcBef>
              <a:buClr>
                <a:srgbClr val="97989A"/>
              </a:buClr>
              <a:buFont typeface="+mj-lt"/>
              <a:buAutoNum type="alphaUcPeriod"/>
              <a:defRPr/>
            </a:pPr>
            <a:endParaRPr lang="en-US" dirty="0">
              <a:solidFill>
                <a:schemeClr val="tx1"/>
              </a:solidFill>
              <a:latin typeface="Univers for KPMG" panose="020B0603020202020204" pitchFamily="34" charset="0"/>
            </a:endParaRPr>
          </a:p>
        </p:txBody>
      </p:sp>
      <p:sp>
        <p:nvSpPr>
          <p:cNvPr id="6" name="Titre 5"/>
          <p:cNvSpPr>
            <a:spLocks noGrp="1"/>
          </p:cNvSpPr>
          <p:nvPr>
            <p:ph type="title"/>
          </p:nvPr>
        </p:nvSpPr>
        <p:spPr>
          <a:xfrm>
            <a:off x="431799" y="228600"/>
            <a:ext cx="8280401" cy="784830"/>
          </a:xfrm>
        </p:spPr>
        <p:txBody>
          <a:bodyPr/>
          <a:lstStyle/>
          <a:p>
            <a:r>
              <a:rPr lang="en-CA" sz="2400" dirty="0">
                <a:solidFill>
                  <a:prstClr val="white">
                    <a:lumMod val="50000"/>
                  </a:prstClr>
                </a:solidFill>
              </a:rPr>
              <a:t>Supporting analysis</a:t>
            </a:r>
            <a:r>
              <a:rPr lang="en-CA" dirty="0" smtClean="0"/>
              <a:t/>
            </a:r>
            <a:br>
              <a:rPr lang="en-CA" dirty="0" smtClean="0"/>
            </a:br>
            <a:r>
              <a:rPr lang="en-CA" sz="4400" dirty="0" smtClean="0"/>
              <a:t>Quality of earnings (</a:t>
            </a:r>
            <a:r>
              <a:rPr lang="en-CA" sz="4400" dirty="0"/>
              <a:t>7</a:t>
            </a:r>
            <a:r>
              <a:rPr lang="en-CA" sz="4400" dirty="0" smtClean="0"/>
              <a:t>) – </a:t>
            </a:r>
            <a:r>
              <a:rPr lang="en-CA" sz="4400" i="1" dirty="0" smtClean="0"/>
              <a:t>Potential adjustments</a:t>
            </a:r>
            <a:endParaRPr lang="en-CA" sz="4400" i="1" dirty="0"/>
          </a:p>
        </p:txBody>
      </p:sp>
      <p:sp>
        <p:nvSpPr>
          <p:cNvPr id="9" name="TextBox 8"/>
          <p:cNvSpPr txBox="1"/>
          <p:nvPr/>
        </p:nvSpPr>
        <p:spPr>
          <a:xfrm>
            <a:off x="4215468" y="3605818"/>
            <a:ext cx="2277748" cy="92333"/>
          </a:xfrm>
          <a:prstGeom prst="rect">
            <a:avLst/>
          </a:prstGeom>
          <a:noFill/>
        </p:spPr>
        <p:txBody>
          <a:bodyPr wrap="square" lIns="0" tIns="0" rIns="0" bIns="0" rtlCol="0">
            <a:spAutoFit/>
          </a:bodyPr>
          <a:lstStyle/>
          <a:p>
            <a:r>
              <a:rPr lang="en-US" sz="600" i="1" dirty="0" smtClean="0">
                <a:solidFill>
                  <a:srgbClr val="000000"/>
                </a:solidFill>
                <a:cs typeface="Arial" pitchFamily="34" charset="0"/>
              </a:rPr>
              <a:t>Source: Management provided information</a:t>
            </a:r>
          </a:p>
        </p:txBody>
      </p:sp>
      <p:sp>
        <p:nvSpPr>
          <p:cNvPr id="8" name="TextBox 7"/>
          <p:cNvSpPr txBox="1"/>
          <p:nvPr/>
        </p:nvSpPr>
        <p:spPr>
          <a:xfrm>
            <a:off x="425877" y="4482429"/>
            <a:ext cx="2825878" cy="129570"/>
          </a:xfrm>
          <a:prstGeom prst="rect">
            <a:avLst/>
          </a:prstGeom>
          <a:noFill/>
        </p:spPr>
        <p:txBody>
          <a:bodyPr wrap="square" lIns="0" tIns="0" rIns="0" bIns="0" rtlCol="0">
            <a:noAutofit/>
          </a:bodyPr>
          <a:lstStyle/>
          <a:p>
            <a:r>
              <a:rPr lang="en-US" sz="600" i="1" dirty="0" smtClean="0">
                <a:cs typeface="Arial" pitchFamily="34" charset="0"/>
              </a:rPr>
              <a:t>Source: Management provided information</a:t>
            </a:r>
          </a:p>
        </p:txBody>
      </p:sp>
      <p:pic>
        <p:nvPicPr>
          <p:cNvPr id="7" name="Picture 6"/>
          <p:cNvPicPr>
            <a:picLocks noChangeAspect="1"/>
          </p:cNvPicPr>
          <p:nvPr/>
        </p:nvPicPr>
        <p:blipFill>
          <a:blip r:embed="rId4"/>
          <a:stretch>
            <a:fillRect/>
          </a:stretch>
        </p:blipFill>
        <p:spPr>
          <a:xfrm>
            <a:off x="4215468" y="2617124"/>
            <a:ext cx="2532870" cy="988694"/>
          </a:xfrm>
          <a:prstGeom prst="rect">
            <a:avLst/>
          </a:prstGeom>
        </p:spPr>
      </p:pic>
    </p:spTree>
    <p:extLst>
      <p:ext uri="{BB962C8B-B14F-4D97-AF65-F5344CB8AC3E}">
        <p14:creationId xmlns:p14="http://schemas.microsoft.com/office/powerpoint/2010/main" val="2689085307"/>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re 5"/>
          <p:cNvSpPr>
            <a:spLocks noGrp="1"/>
          </p:cNvSpPr>
          <p:nvPr>
            <p:ph type="title"/>
          </p:nvPr>
        </p:nvSpPr>
        <p:spPr>
          <a:xfrm>
            <a:off x="431799" y="228600"/>
            <a:ext cx="8280401" cy="784830"/>
          </a:xfrm>
        </p:spPr>
        <p:txBody>
          <a:bodyPr/>
          <a:lstStyle/>
          <a:p>
            <a:r>
              <a:rPr lang="en-CA" sz="2400" dirty="0">
                <a:solidFill>
                  <a:prstClr val="white">
                    <a:lumMod val="50000"/>
                  </a:prstClr>
                </a:solidFill>
              </a:rPr>
              <a:t>Supporting analysis</a:t>
            </a:r>
            <a:r>
              <a:rPr lang="en-CA" dirty="0" smtClean="0"/>
              <a:t/>
            </a:r>
            <a:br>
              <a:rPr lang="en-CA" dirty="0" smtClean="0"/>
            </a:br>
            <a:r>
              <a:rPr lang="en-CA" sz="4400" dirty="0" smtClean="0"/>
              <a:t>Quality of earnings (</a:t>
            </a:r>
            <a:r>
              <a:rPr lang="en-CA" sz="4400" dirty="0"/>
              <a:t>8</a:t>
            </a:r>
            <a:r>
              <a:rPr lang="en-CA" sz="4400" dirty="0" smtClean="0"/>
              <a:t>) – </a:t>
            </a:r>
            <a:r>
              <a:rPr lang="en-CA" sz="4400" i="1" dirty="0" smtClean="0"/>
              <a:t>Potential adjustments</a:t>
            </a:r>
            <a:endParaRPr lang="en-CA" sz="4400" i="1" dirty="0"/>
          </a:p>
        </p:txBody>
      </p:sp>
      <p:sp>
        <p:nvSpPr>
          <p:cNvPr id="16" name="Espace réservé du texte 3"/>
          <p:cNvSpPr>
            <a:spLocks noGrp="1"/>
          </p:cNvSpPr>
          <p:nvPr>
            <p:ph type="body" sz="quarter" idx="15"/>
          </p:nvPr>
        </p:nvSpPr>
        <p:spPr>
          <a:xfrm>
            <a:off x="3931920" y="1271015"/>
            <a:ext cx="4780280" cy="4834509"/>
          </a:xfrm>
          <a:prstGeom prst="rect">
            <a:avLst/>
          </a:prstGeom>
        </p:spPr>
        <p:txBody>
          <a:bodyPr tIns="0"/>
          <a:lstStyle/>
          <a:p>
            <a:pPr algn="just">
              <a:spcAft>
                <a:spcPts val="0"/>
              </a:spcAft>
            </a:pPr>
            <a:r>
              <a:rPr lang="en-CA" dirty="0"/>
              <a:t>Potential </a:t>
            </a:r>
            <a:r>
              <a:rPr lang="en-CA" dirty="0" smtClean="0"/>
              <a:t>adjustments (continued)</a:t>
            </a:r>
            <a:endParaRPr lang="en-US" b="1" dirty="0">
              <a:solidFill>
                <a:schemeClr val="tx1"/>
              </a:solidFill>
              <a:latin typeface="Univers for KPMG" panose="020B0603020202020204" pitchFamily="34" charset="0"/>
            </a:endParaRPr>
          </a:p>
          <a:p>
            <a:pPr marL="228600" lvl="2" indent="-228600" algn="just">
              <a:spcBef>
                <a:spcPts val="600"/>
              </a:spcBef>
              <a:spcAft>
                <a:spcPts val="0"/>
              </a:spcAft>
              <a:buClr>
                <a:srgbClr val="97989A"/>
              </a:buClr>
              <a:buFont typeface="+mj-lt"/>
              <a:buAutoNum type="arabicPeriod" startAt="10"/>
              <a:defRPr/>
            </a:pPr>
            <a:r>
              <a:rPr lang="en-US" b="1" dirty="0">
                <a:solidFill>
                  <a:srgbClr val="000000"/>
                </a:solidFill>
                <a:latin typeface="Univers for KPMG" panose="020B0603020202020204" pitchFamily="34" charset="0"/>
                <a:cs typeface="Arial" pitchFamily="34" charset="0"/>
              </a:rPr>
              <a:t>EBITDA contribution from India entity: </a:t>
            </a:r>
            <a:r>
              <a:rPr lang="en-US" dirty="0">
                <a:solidFill>
                  <a:srgbClr val="000000"/>
                </a:solidFill>
                <a:latin typeface="Univers for KPMG" panose="020B0603020202020204" pitchFamily="34" charset="0"/>
                <a:cs typeface="Arial" pitchFamily="34" charset="0"/>
              </a:rPr>
              <a:t>Represents the EBITDA </a:t>
            </a:r>
            <a:r>
              <a:rPr lang="en-US" dirty="0" smtClean="0">
                <a:solidFill>
                  <a:srgbClr val="000000"/>
                </a:solidFill>
                <a:latin typeface="Univers for KPMG" panose="020B0603020202020204" pitchFamily="34" charset="0"/>
                <a:cs typeface="Arial" pitchFamily="34" charset="0"/>
              </a:rPr>
              <a:t>generated </a:t>
            </a:r>
            <a:r>
              <a:rPr lang="en-US" dirty="0">
                <a:solidFill>
                  <a:srgbClr val="000000"/>
                </a:solidFill>
                <a:latin typeface="Univers for KPMG" panose="020B0603020202020204" pitchFamily="34" charset="0"/>
                <a:cs typeface="Arial" pitchFamily="34" charset="0"/>
              </a:rPr>
              <a:t>by Aequor Information Technology, PVT LTD as this entity is not consolidated with the Company’s financial statements</a:t>
            </a:r>
            <a:r>
              <a:rPr lang="en-US" dirty="0" smtClean="0">
                <a:solidFill>
                  <a:srgbClr val="000000"/>
                </a:solidFill>
                <a:latin typeface="Univers for KPMG" panose="020B0603020202020204" pitchFamily="34" charset="0"/>
                <a:cs typeface="Arial" pitchFamily="34" charset="0"/>
              </a:rPr>
              <a:t>. Refer to Appendix 5 for the India entity’s financial statements.</a:t>
            </a:r>
            <a:endParaRPr lang="en-US" dirty="0">
              <a:solidFill>
                <a:srgbClr val="000000"/>
              </a:solidFill>
              <a:latin typeface="Univers for KPMG" panose="020B0603020202020204" pitchFamily="34" charset="0"/>
              <a:cs typeface="Arial" pitchFamily="34" charset="0"/>
            </a:endParaRPr>
          </a:p>
          <a:p>
            <a:pPr marL="228600" lvl="2" indent="0" algn="just">
              <a:spcBef>
                <a:spcPts val="600"/>
              </a:spcBef>
              <a:spcAft>
                <a:spcPts val="0"/>
              </a:spcAft>
              <a:buClr>
                <a:srgbClr val="97989A"/>
              </a:buClr>
              <a:buNone/>
              <a:defRPr/>
            </a:pPr>
            <a:r>
              <a:rPr lang="en-US" dirty="0" smtClean="0">
                <a:solidFill>
                  <a:srgbClr val="000000"/>
                </a:solidFill>
                <a:latin typeface="Univers for KPMG" panose="020B0603020202020204" pitchFamily="34" charset="0"/>
                <a:cs typeface="Arial" pitchFamily="34" charset="0"/>
              </a:rPr>
              <a:t>Note: We did not obtain monthly financial statements and the figures are therefore based on the annual statements. The operations are currently not significant to the Company’s overall operations and figures. </a:t>
            </a:r>
          </a:p>
          <a:p>
            <a:pPr marL="228600" lvl="2" indent="-228600" algn="just">
              <a:spcBef>
                <a:spcPts val="600"/>
              </a:spcBef>
              <a:spcAft>
                <a:spcPts val="0"/>
              </a:spcAft>
              <a:buClr>
                <a:srgbClr val="97989A"/>
              </a:buClr>
              <a:buFont typeface="+mj-lt"/>
              <a:buAutoNum type="arabicPeriod" startAt="11"/>
              <a:defRPr/>
            </a:pPr>
            <a:r>
              <a:rPr lang="en-US" b="1" dirty="0" smtClean="0">
                <a:solidFill>
                  <a:schemeClr val="tx1"/>
                </a:solidFill>
                <a:latin typeface="Univers for KPMG" panose="020B0603020202020204" pitchFamily="34" charset="0"/>
              </a:rPr>
              <a:t>EBITDA </a:t>
            </a:r>
            <a:r>
              <a:rPr lang="en-US" b="1" dirty="0">
                <a:solidFill>
                  <a:schemeClr val="tx1"/>
                </a:solidFill>
                <a:latin typeface="Univers for KPMG" panose="020B0603020202020204" pitchFamily="34" charset="0"/>
              </a:rPr>
              <a:t>contribution from </a:t>
            </a:r>
            <a:r>
              <a:rPr lang="en-US" b="1" dirty="0" smtClean="0">
                <a:solidFill>
                  <a:schemeClr val="tx1"/>
                </a:solidFill>
                <a:latin typeface="Univers for KPMG" panose="020B0603020202020204" pitchFamily="34" charset="0"/>
              </a:rPr>
              <a:t>Switzerland </a:t>
            </a:r>
            <a:r>
              <a:rPr lang="en-US" b="1" dirty="0">
                <a:solidFill>
                  <a:schemeClr val="tx1"/>
                </a:solidFill>
                <a:latin typeface="Univers for KPMG" panose="020B0603020202020204" pitchFamily="34" charset="0"/>
              </a:rPr>
              <a:t>entity: </a:t>
            </a:r>
            <a:r>
              <a:rPr lang="en-US" dirty="0">
                <a:solidFill>
                  <a:srgbClr val="000000"/>
                </a:solidFill>
                <a:latin typeface="Univers for KPMG" panose="020B0603020202020204" pitchFamily="34" charset="0"/>
                <a:cs typeface="Arial" pitchFamily="34" charset="0"/>
              </a:rPr>
              <a:t>Represents the EBITDA generated by Aequor </a:t>
            </a:r>
            <a:r>
              <a:rPr lang="en-US" dirty="0" smtClean="0">
                <a:solidFill>
                  <a:srgbClr val="000000"/>
                </a:solidFill>
                <a:latin typeface="Univers for KPMG" panose="020B0603020202020204" pitchFamily="34" charset="0"/>
                <a:cs typeface="Arial" pitchFamily="34" charset="0"/>
              </a:rPr>
              <a:t>Consulting </a:t>
            </a:r>
            <a:r>
              <a:rPr lang="en-US" dirty="0">
                <a:solidFill>
                  <a:srgbClr val="000000"/>
                </a:solidFill>
                <a:latin typeface="Univers for KPMG" panose="020B0603020202020204" pitchFamily="34" charset="0"/>
                <a:cs typeface="Arial" pitchFamily="34" charset="0"/>
              </a:rPr>
              <a:t>GmbH that is not included in the Company’s annual audited financial statements. </a:t>
            </a:r>
            <a:r>
              <a:rPr lang="en-US" dirty="0" smtClean="0">
                <a:solidFill>
                  <a:srgbClr val="000000"/>
                </a:solidFill>
                <a:latin typeface="Univers for KPMG" panose="020B0603020202020204" pitchFamily="34" charset="0"/>
                <a:cs typeface="Arial" pitchFamily="34" charset="0"/>
              </a:rPr>
              <a:t>Refer to Appendix 6 for the Switzerland entity’s financial statements. </a:t>
            </a:r>
          </a:p>
          <a:p>
            <a:pPr marL="228600" lvl="2" indent="0" algn="just">
              <a:spcBef>
                <a:spcPts val="600"/>
              </a:spcBef>
              <a:spcAft>
                <a:spcPts val="0"/>
              </a:spcAft>
              <a:buClr>
                <a:srgbClr val="97989A"/>
              </a:buClr>
              <a:buNone/>
              <a:defRPr/>
            </a:pPr>
            <a:r>
              <a:rPr lang="en-US" dirty="0">
                <a:solidFill>
                  <a:srgbClr val="000000"/>
                </a:solidFill>
                <a:latin typeface="Univers for KPMG" panose="020B0603020202020204" pitchFamily="34" charset="0"/>
                <a:cs typeface="Arial" pitchFamily="34" charset="0"/>
              </a:rPr>
              <a:t>Note: We did not obtain monthly financial statements and the figures are therefore based on the annual statements. The operations are currently not significant to the </a:t>
            </a:r>
            <a:r>
              <a:rPr lang="en-US" dirty="0" smtClean="0">
                <a:solidFill>
                  <a:srgbClr val="000000"/>
                </a:solidFill>
                <a:latin typeface="Univers for KPMG" panose="020B0603020202020204" pitchFamily="34" charset="0"/>
                <a:cs typeface="Arial" pitchFamily="34" charset="0"/>
              </a:rPr>
              <a:t>Company’s overall </a:t>
            </a:r>
            <a:r>
              <a:rPr lang="en-US" dirty="0">
                <a:solidFill>
                  <a:srgbClr val="000000"/>
                </a:solidFill>
                <a:latin typeface="Univers for KPMG" panose="020B0603020202020204" pitchFamily="34" charset="0"/>
                <a:cs typeface="Arial" pitchFamily="34" charset="0"/>
              </a:rPr>
              <a:t>operations and figures. </a:t>
            </a:r>
          </a:p>
          <a:p>
            <a:pPr marL="228600" lvl="2" indent="-228600" algn="just">
              <a:spcBef>
                <a:spcPts val="600"/>
              </a:spcBef>
              <a:spcAft>
                <a:spcPts val="0"/>
              </a:spcAft>
              <a:buClr>
                <a:srgbClr val="97989A"/>
              </a:buClr>
              <a:buFont typeface="+mj-lt"/>
              <a:buAutoNum type="arabicPeriod" startAt="12"/>
              <a:defRPr/>
            </a:pPr>
            <a:r>
              <a:rPr lang="en-US" b="1" dirty="0" smtClean="0">
                <a:solidFill>
                  <a:schemeClr val="tx1"/>
                </a:solidFill>
                <a:latin typeface="Univers for KPMG" panose="020B0603020202020204" pitchFamily="34" charset="0"/>
              </a:rPr>
              <a:t>Revenue </a:t>
            </a:r>
            <a:r>
              <a:rPr lang="en-US" b="1" dirty="0">
                <a:solidFill>
                  <a:schemeClr val="tx1"/>
                </a:solidFill>
                <a:latin typeface="Univers for KPMG" panose="020B0603020202020204" pitchFamily="34" charset="0"/>
              </a:rPr>
              <a:t>accrual: </a:t>
            </a:r>
            <a:r>
              <a:rPr lang="en-US" dirty="0">
                <a:solidFill>
                  <a:schemeClr val="tx1"/>
                </a:solidFill>
                <a:latin typeface="Univers for KPMG" panose="020B0603020202020204" pitchFamily="34" charset="0"/>
              </a:rPr>
              <a:t>Represents revenue that </a:t>
            </a:r>
            <a:r>
              <a:rPr lang="en-US" dirty="0" smtClean="0">
                <a:solidFill>
                  <a:schemeClr val="tx1"/>
                </a:solidFill>
                <a:latin typeface="Univers for KPMG" panose="020B0603020202020204" pitchFamily="34" charset="0"/>
              </a:rPr>
              <a:t>is </a:t>
            </a:r>
            <a:r>
              <a:rPr lang="en-US" dirty="0">
                <a:solidFill>
                  <a:schemeClr val="tx1"/>
                </a:solidFill>
                <a:latin typeface="Univers for KPMG" panose="020B0603020202020204" pitchFamily="34" charset="0"/>
              </a:rPr>
              <a:t>over accrued in Dec-16. </a:t>
            </a:r>
            <a:r>
              <a:rPr lang="en-US" dirty="0" smtClean="0">
                <a:solidFill>
                  <a:schemeClr val="tx1"/>
                </a:solidFill>
                <a:latin typeface="Univers for KPMG" panose="020B0603020202020204" pitchFamily="34" charset="0"/>
              </a:rPr>
              <a:t>The </a:t>
            </a:r>
            <a:r>
              <a:rPr lang="en-US" dirty="0">
                <a:solidFill>
                  <a:schemeClr val="tx1"/>
                </a:solidFill>
                <a:latin typeface="Univers for KPMG" panose="020B0603020202020204" pitchFamily="34" charset="0"/>
              </a:rPr>
              <a:t>Company recognized $637,000 of </a:t>
            </a:r>
            <a:r>
              <a:rPr lang="en-US" dirty="0" smtClean="0">
                <a:solidFill>
                  <a:schemeClr val="tx1"/>
                </a:solidFill>
                <a:latin typeface="Univers for KPMG" panose="020B0603020202020204" pitchFamily="34" charset="0"/>
              </a:rPr>
              <a:t>revenue </a:t>
            </a:r>
            <a:r>
              <a:rPr lang="en-US" dirty="0">
                <a:solidFill>
                  <a:schemeClr val="tx1"/>
                </a:solidFill>
                <a:latin typeface="Univers for KPMG" panose="020B0603020202020204" pitchFamily="34" charset="0"/>
              </a:rPr>
              <a:t>in Dec-16 that related to Jan-17 </a:t>
            </a:r>
            <a:r>
              <a:rPr lang="en-US" dirty="0" smtClean="0">
                <a:solidFill>
                  <a:schemeClr val="tx1"/>
                </a:solidFill>
                <a:latin typeface="Univers for KPMG" panose="020B0603020202020204" pitchFamily="34" charset="0"/>
              </a:rPr>
              <a:t>which is subsequently recognized </a:t>
            </a:r>
            <a:r>
              <a:rPr lang="en-US" dirty="0">
                <a:solidFill>
                  <a:schemeClr val="tx1"/>
                </a:solidFill>
                <a:latin typeface="Univers for KPMG" panose="020B0603020202020204" pitchFamily="34" charset="0"/>
              </a:rPr>
              <a:t>in </a:t>
            </a:r>
            <a:r>
              <a:rPr lang="en-US" dirty="0" smtClean="0">
                <a:solidFill>
                  <a:schemeClr val="tx1"/>
                </a:solidFill>
                <a:latin typeface="Univers for KPMG" panose="020B0603020202020204" pitchFamily="34" charset="0"/>
              </a:rPr>
              <a:t>Jan-17. In order to correct for this, Management booked an entry in Dec-17 to decrease opening retained earnings by the over accrued amount. Based on the monthly closing process implemented in Jan-17, the Company accrues for this on a monthly basis and therefore, no equivalent adjustment is necessary in Dec-17. </a:t>
            </a:r>
            <a:endParaRPr lang="en-US" dirty="0">
              <a:solidFill>
                <a:schemeClr val="tx1"/>
              </a:solidFill>
              <a:latin typeface="Univers for KPMG" panose="020B0603020202020204" pitchFamily="34" charset="0"/>
            </a:endParaRPr>
          </a:p>
          <a:p>
            <a:pPr marL="228600" lvl="2" indent="-228600" algn="just">
              <a:spcBef>
                <a:spcPts val="600"/>
              </a:spcBef>
              <a:spcAft>
                <a:spcPts val="0"/>
              </a:spcAft>
              <a:buClr>
                <a:srgbClr val="97989A"/>
              </a:buClr>
              <a:buFont typeface="+mj-lt"/>
              <a:buAutoNum type="arabicPeriod" startAt="12"/>
              <a:defRPr/>
            </a:pPr>
            <a:r>
              <a:rPr lang="en-US" b="1" dirty="0">
                <a:solidFill>
                  <a:schemeClr val="tx1"/>
                </a:solidFill>
                <a:latin typeface="Univers for KPMG" panose="020B0603020202020204" pitchFamily="34" charset="0"/>
              </a:rPr>
              <a:t>Payroll accrual: </a:t>
            </a:r>
            <a:r>
              <a:rPr lang="en-US" dirty="0">
                <a:solidFill>
                  <a:schemeClr val="tx1"/>
                </a:solidFill>
                <a:latin typeface="Univers for KPMG" panose="020B0603020202020204" pitchFamily="34" charset="0"/>
              </a:rPr>
              <a:t>Represents payroll expense that </a:t>
            </a:r>
            <a:r>
              <a:rPr lang="en-US" dirty="0" smtClean="0">
                <a:solidFill>
                  <a:schemeClr val="tx1"/>
                </a:solidFill>
                <a:latin typeface="Univers for KPMG" panose="020B0603020202020204" pitchFamily="34" charset="0"/>
              </a:rPr>
              <a:t>is </a:t>
            </a:r>
            <a:r>
              <a:rPr lang="en-US" dirty="0">
                <a:solidFill>
                  <a:schemeClr val="tx1"/>
                </a:solidFill>
                <a:latin typeface="Univers for KPMG" panose="020B0603020202020204" pitchFamily="34" charset="0"/>
              </a:rPr>
              <a:t>over accrued in Dec-16. </a:t>
            </a:r>
            <a:r>
              <a:rPr lang="en-US" dirty="0" smtClean="0">
                <a:solidFill>
                  <a:schemeClr val="tx1"/>
                </a:solidFill>
                <a:latin typeface="Univers for KPMG" panose="020B0603020202020204" pitchFamily="34" charset="0"/>
              </a:rPr>
              <a:t>The Company </a:t>
            </a:r>
            <a:r>
              <a:rPr lang="en-US" dirty="0">
                <a:solidFill>
                  <a:schemeClr val="tx1"/>
                </a:solidFill>
                <a:latin typeface="Univers for KPMG" panose="020B0603020202020204" pitchFamily="34" charset="0"/>
              </a:rPr>
              <a:t>recognized $192,000 of payroll expenses in Dec-16 that related to Jan-17 </a:t>
            </a:r>
            <a:r>
              <a:rPr lang="en-US" dirty="0" smtClean="0">
                <a:solidFill>
                  <a:schemeClr val="tx1"/>
                </a:solidFill>
                <a:latin typeface="Univers for KPMG" panose="020B0603020202020204" pitchFamily="34" charset="0"/>
              </a:rPr>
              <a:t>which is subsequently recognized </a:t>
            </a:r>
            <a:r>
              <a:rPr lang="en-US" dirty="0">
                <a:solidFill>
                  <a:schemeClr val="tx1"/>
                </a:solidFill>
                <a:latin typeface="Univers for KPMG" panose="020B0603020202020204" pitchFamily="34" charset="0"/>
              </a:rPr>
              <a:t>in Jan-17. In order to </a:t>
            </a:r>
            <a:r>
              <a:rPr lang="en-US" dirty="0" smtClean="0">
                <a:solidFill>
                  <a:schemeClr val="tx1"/>
                </a:solidFill>
                <a:latin typeface="Univers for KPMG" panose="020B0603020202020204" pitchFamily="34" charset="0"/>
              </a:rPr>
              <a:t>correct for this, </a:t>
            </a:r>
            <a:r>
              <a:rPr lang="en-US" dirty="0">
                <a:solidFill>
                  <a:schemeClr val="tx1"/>
                </a:solidFill>
                <a:latin typeface="Univers for KPMG" panose="020B0603020202020204" pitchFamily="34" charset="0"/>
              </a:rPr>
              <a:t>Management booked an entry in Dec-17 to </a:t>
            </a:r>
            <a:r>
              <a:rPr lang="en-US" dirty="0" smtClean="0">
                <a:solidFill>
                  <a:schemeClr val="tx1"/>
                </a:solidFill>
                <a:latin typeface="Univers for KPMG" panose="020B0603020202020204" pitchFamily="34" charset="0"/>
              </a:rPr>
              <a:t>increase </a:t>
            </a:r>
            <a:r>
              <a:rPr lang="en-US" dirty="0">
                <a:solidFill>
                  <a:schemeClr val="tx1"/>
                </a:solidFill>
                <a:latin typeface="Univers for KPMG" panose="020B0603020202020204" pitchFamily="34" charset="0"/>
              </a:rPr>
              <a:t>opening retained earnings</a:t>
            </a:r>
            <a:r>
              <a:rPr lang="en-US" dirty="0" smtClean="0">
                <a:solidFill>
                  <a:schemeClr val="tx1"/>
                </a:solidFill>
                <a:latin typeface="Univers for KPMG" panose="020B0603020202020204" pitchFamily="34" charset="0"/>
              </a:rPr>
              <a:t>. </a:t>
            </a:r>
            <a:r>
              <a:rPr lang="en-US" dirty="0">
                <a:solidFill>
                  <a:schemeClr val="tx1"/>
                </a:solidFill>
                <a:latin typeface="Univers for KPMG" panose="020B0603020202020204" pitchFamily="34" charset="0"/>
              </a:rPr>
              <a:t>Based on the monthly closing process implemented in Jan-17, the Company accrues for this on a monthly basis and therefore, no equivalent adjustment is necessary in Dec-17</a:t>
            </a:r>
            <a:r>
              <a:rPr lang="en-US" dirty="0" smtClean="0">
                <a:solidFill>
                  <a:schemeClr val="tx1"/>
                </a:solidFill>
                <a:latin typeface="Univers for KPMG" panose="020B0603020202020204" pitchFamily="34" charset="0"/>
              </a:rPr>
              <a:t>.</a:t>
            </a:r>
            <a:endParaRPr lang="en-US" dirty="0">
              <a:solidFill>
                <a:schemeClr val="tx1"/>
              </a:solidFill>
              <a:latin typeface="Univers for KPMG" panose="020B0603020202020204" pitchFamily="34" charset="0"/>
            </a:endParaRPr>
          </a:p>
        </p:txBody>
      </p:sp>
      <p:pic>
        <p:nvPicPr>
          <p:cNvPr id="8" name="Picture 7"/>
          <p:cNvPicPr>
            <a:picLocks noChangeAspect="1"/>
          </p:cNvPicPr>
          <p:nvPr/>
        </p:nvPicPr>
        <p:blipFill>
          <a:blip r:embed="rId3"/>
          <a:stretch>
            <a:fillRect/>
          </a:stretch>
        </p:blipFill>
        <p:spPr>
          <a:xfrm>
            <a:off x="425877" y="1271015"/>
            <a:ext cx="2871383" cy="3211414"/>
          </a:xfrm>
          <a:prstGeom prst="rect">
            <a:avLst/>
          </a:prstGeom>
        </p:spPr>
      </p:pic>
      <p:sp>
        <p:nvSpPr>
          <p:cNvPr id="10" name="TextBox 9"/>
          <p:cNvSpPr txBox="1"/>
          <p:nvPr/>
        </p:nvSpPr>
        <p:spPr>
          <a:xfrm>
            <a:off x="425877" y="4482429"/>
            <a:ext cx="2825878" cy="129570"/>
          </a:xfrm>
          <a:prstGeom prst="rect">
            <a:avLst/>
          </a:prstGeom>
          <a:noFill/>
        </p:spPr>
        <p:txBody>
          <a:bodyPr wrap="square" lIns="0" tIns="0" rIns="0" bIns="0" rtlCol="0">
            <a:noAutofit/>
          </a:bodyPr>
          <a:lstStyle/>
          <a:p>
            <a:r>
              <a:rPr lang="en-US" sz="600" i="1" dirty="0" smtClean="0">
                <a:cs typeface="Arial" pitchFamily="34" charset="0"/>
              </a:rPr>
              <a:t>Source: Management provided information</a:t>
            </a:r>
          </a:p>
        </p:txBody>
      </p:sp>
    </p:spTree>
    <p:extLst>
      <p:ext uri="{BB962C8B-B14F-4D97-AF65-F5344CB8AC3E}">
        <p14:creationId xmlns:p14="http://schemas.microsoft.com/office/powerpoint/2010/main" val="3191155419"/>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Espace réservé du texte 3"/>
          <p:cNvSpPr>
            <a:spLocks noGrp="1"/>
          </p:cNvSpPr>
          <p:nvPr>
            <p:ph type="body" sz="quarter" idx="15"/>
          </p:nvPr>
        </p:nvSpPr>
        <p:spPr>
          <a:xfrm>
            <a:off x="4643438" y="1271016"/>
            <a:ext cx="3931920" cy="4765548"/>
          </a:xfrm>
          <a:prstGeom prst="rect">
            <a:avLst/>
          </a:prstGeom>
        </p:spPr>
        <p:txBody>
          <a:bodyPr tIns="0"/>
          <a:lstStyle/>
          <a:p>
            <a:pPr marL="285750" lvl="2" indent="-285750" algn="just">
              <a:spcBef>
                <a:spcPts val="600"/>
              </a:spcBef>
              <a:spcAft>
                <a:spcPts val="0"/>
              </a:spcAft>
              <a:buClr>
                <a:srgbClr val="97989A"/>
              </a:buClr>
              <a:buFont typeface="+mj-lt"/>
              <a:buAutoNum type="romanLcPeriod" startAt="4"/>
              <a:defRPr/>
            </a:pPr>
            <a:r>
              <a:rPr lang="en-CA" b="1" dirty="0">
                <a:solidFill>
                  <a:schemeClr val="tx1"/>
                </a:solidFill>
                <a:latin typeface="Univers for KPMG" panose="020B0603020202020204" pitchFamily="34" charset="0"/>
              </a:rPr>
              <a:t>Software development costs: </a:t>
            </a:r>
            <a:r>
              <a:rPr lang="en-CA" dirty="0">
                <a:solidFill>
                  <a:schemeClr val="tx1"/>
                </a:solidFill>
                <a:latin typeface="Univers for KPMG" panose="020B0603020202020204" pitchFamily="34" charset="0"/>
              </a:rPr>
              <a:t>The Company capitalizes software development </a:t>
            </a:r>
            <a:r>
              <a:rPr lang="en-CA" dirty="0" smtClean="0">
                <a:solidFill>
                  <a:schemeClr val="tx1"/>
                </a:solidFill>
                <a:latin typeface="Univers for KPMG" panose="020B0603020202020204" pitchFamily="34" charset="0"/>
              </a:rPr>
              <a:t>costs as follows: </a:t>
            </a:r>
          </a:p>
          <a:p>
            <a:pPr marL="285750" lvl="2" indent="-285750" algn="just">
              <a:spcBef>
                <a:spcPts val="600"/>
              </a:spcBef>
              <a:spcAft>
                <a:spcPts val="0"/>
              </a:spcAft>
              <a:buClr>
                <a:srgbClr val="97989A"/>
              </a:buClr>
              <a:buFont typeface="+mj-lt"/>
              <a:buAutoNum type="romanLcPeriod" startAt="4"/>
              <a:defRPr/>
            </a:pPr>
            <a:endParaRPr lang="en-CA" dirty="0">
              <a:solidFill>
                <a:schemeClr val="tx1"/>
              </a:solidFill>
              <a:latin typeface="Univers for KPMG" panose="020B0603020202020204" pitchFamily="34" charset="0"/>
            </a:endParaRPr>
          </a:p>
          <a:p>
            <a:pPr marL="285750" lvl="2" indent="-285750" algn="just">
              <a:spcBef>
                <a:spcPts val="600"/>
              </a:spcBef>
              <a:spcAft>
                <a:spcPts val="0"/>
              </a:spcAft>
              <a:buClr>
                <a:srgbClr val="97989A"/>
              </a:buClr>
              <a:buFont typeface="+mj-lt"/>
              <a:buAutoNum type="romanLcPeriod" startAt="4"/>
              <a:defRPr/>
            </a:pPr>
            <a:endParaRPr lang="en-CA" dirty="0" smtClean="0">
              <a:solidFill>
                <a:schemeClr val="tx1"/>
              </a:solidFill>
              <a:latin typeface="Univers for KPMG" panose="020B0603020202020204" pitchFamily="34" charset="0"/>
            </a:endParaRPr>
          </a:p>
          <a:p>
            <a:pPr marL="285750" lvl="2" indent="-285750" algn="just">
              <a:spcBef>
                <a:spcPts val="600"/>
              </a:spcBef>
              <a:spcAft>
                <a:spcPts val="0"/>
              </a:spcAft>
              <a:buClr>
                <a:srgbClr val="97989A"/>
              </a:buClr>
              <a:buFont typeface="+mj-lt"/>
              <a:buAutoNum type="romanLcPeriod" startAt="4"/>
              <a:defRPr/>
            </a:pPr>
            <a:endParaRPr lang="en-CA" dirty="0" smtClean="0">
              <a:solidFill>
                <a:schemeClr val="tx1"/>
              </a:solidFill>
              <a:latin typeface="Univers for KPMG" panose="020B0603020202020204" pitchFamily="34" charset="0"/>
            </a:endParaRPr>
          </a:p>
          <a:p>
            <a:pPr marL="285750" lvl="2" indent="-285750" algn="just">
              <a:spcBef>
                <a:spcPts val="600"/>
              </a:spcBef>
              <a:spcAft>
                <a:spcPts val="0"/>
              </a:spcAft>
              <a:buClr>
                <a:srgbClr val="97989A"/>
              </a:buClr>
              <a:buFont typeface="+mj-lt"/>
              <a:buAutoNum type="romanLcPeriod" startAt="4"/>
              <a:defRPr/>
            </a:pPr>
            <a:endParaRPr lang="en-CA" dirty="0">
              <a:solidFill>
                <a:schemeClr val="tx1"/>
              </a:solidFill>
              <a:latin typeface="Univers for KPMG" panose="020B0603020202020204" pitchFamily="34" charset="0"/>
            </a:endParaRPr>
          </a:p>
          <a:p>
            <a:pPr marL="274320" lvl="2" indent="0" algn="just">
              <a:spcBef>
                <a:spcPts val="600"/>
              </a:spcBef>
              <a:spcAft>
                <a:spcPts val="0"/>
              </a:spcAft>
              <a:buClr>
                <a:srgbClr val="97989A"/>
              </a:buClr>
              <a:buNone/>
              <a:defRPr/>
            </a:pPr>
            <a:r>
              <a:rPr lang="en-CA" dirty="0" smtClean="0">
                <a:solidFill>
                  <a:schemeClr val="tx1"/>
                </a:solidFill>
                <a:latin typeface="Univers for KPMG" panose="020B0603020202020204" pitchFamily="34" charset="0"/>
              </a:rPr>
              <a:t>Management represents that these costs relate to a recruiting software customization project that is expected to go into service in the latter part of FY18. We understand that an additional $150,000 is expected to be incurred in FY18 relating to completing this project based on the current project plan. Management represents that nine employees and one delivery head are dedicated to the software development function and external consultants are used on an as needed basis to assist with module development. Therefore, the software development costs are tracked based on the associated payroll costs for these specific employees. </a:t>
            </a:r>
            <a:endParaRPr lang="en-CA" dirty="0">
              <a:solidFill>
                <a:schemeClr val="tx1"/>
              </a:solidFill>
              <a:latin typeface="Univers for KPMG" panose="020B0603020202020204" pitchFamily="34" charset="0"/>
            </a:endParaRPr>
          </a:p>
          <a:p>
            <a:pPr marL="285750" lvl="2" indent="-285750" algn="just">
              <a:spcBef>
                <a:spcPts val="600"/>
              </a:spcBef>
              <a:spcAft>
                <a:spcPts val="0"/>
              </a:spcAft>
              <a:buClr>
                <a:srgbClr val="97989A"/>
              </a:buClr>
              <a:buFont typeface="+mj-lt"/>
              <a:buAutoNum type="romanLcPeriod" startAt="4"/>
              <a:defRPr/>
            </a:pPr>
            <a:r>
              <a:rPr lang="en-CA" b="1" dirty="0" smtClean="0">
                <a:solidFill>
                  <a:schemeClr val="tx1"/>
                </a:solidFill>
                <a:latin typeface="Univers for KPMG" panose="020B0603020202020204" pitchFamily="34" charset="0"/>
              </a:rPr>
              <a:t>Potential </a:t>
            </a:r>
            <a:r>
              <a:rPr lang="en-CA" b="1" dirty="0">
                <a:solidFill>
                  <a:schemeClr val="tx1"/>
                </a:solidFill>
                <a:latin typeface="Univers for KPMG" panose="020B0603020202020204" pitchFamily="34" charset="0"/>
              </a:rPr>
              <a:t>FX impact. </a:t>
            </a:r>
            <a:r>
              <a:rPr lang="en-CA" dirty="0">
                <a:solidFill>
                  <a:schemeClr val="tx1"/>
                </a:solidFill>
                <a:latin typeface="Univers for KPMG" panose="020B0603020202020204" pitchFamily="34" charset="0"/>
              </a:rPr>
              <a:t>The Company has operating entities in  Switzerland and India. Management represents that the FX impact over the historical period is not significant. However, if these operations continue to grow, the FX impact may become significant.</a:t>
            </a:r>
            <a:endParaRPr lang="en-US" dirty="0">
              <a:solidFill>
                <a:schemeClr val="tx1"/>
              </a:solidFill>
              <a:latin typeface="Univers for KPMG" panose="020B0603020202020204" pitchFamily="34" charset="0"/>
            </a:endParaRPr>
          </a:p>
          <a:p>
            <a:pPr marL="0" lvl="2" indent="0" algn="just">
              <a:spcBef>
                <a:spcPts val="600"/>
              </a:spcBef>
              <a:spcAft>
                <a:spcPts val="0"/>
              </a:spcAft>
              <a:buClr>
                <a:srgbClr val="97989A"/>
              </a:buClr>
              <a:buNone/>
              <a:defRPr/>
            </a:pPr>
            <a:endParaRPr lang="en-US" dirty="0">
              <a:solidFill>
                <a:schemeClr val="tx1"/>
              </a:solidFill>
              <a:latin typeface="Univers for KPMG" panose="020B0603020202020204" pitchFamily="34" charset="0"/>
            </a:endParaRPr>
          </a:p>
        </p:txBody>
      </p:sp>
      <p:sp>
        <p:nvSpPr>
          <p:cNvPr id="7" name="Espace réservé du texte 3"/>
          <p:cNvSpPr>
            <a:spLocks noGrp="1"/>
          </p:cNvSpPr>
          <p:nvPr>
            <p:ph type="body" sz="quarter" idx="15"/>
          </p:nvPr>
        </p:nvSpPr>
        <p:spPr>
          <a:xfrm>
            <a:off x="420624" y="1271016"/>
            <a:ext cx="3931920" cy="4765548"/>
          </a:xfrm>
          <a:prstGeom prst="rect">
            <a:avLst/>
          </a:prstGeom>
        </p:spPr>
        <p:txBody>
          <a:bodyPr tIns="0"/>
          <a:lstStyle/>
          <a:p>
            <a:pPr algn="just">
              <a:spcAft>
                <a:spcPts val="0"/>
              </a:spcAft>
            </a:pPr>
            <a:r>
              <a:rPr lang="en-CA" dirty="0" smtClean="0"/>
              <a:t>Other considerations</a:t>
            </a:r>
            <a:endParaRPr lang="en-CA" dirty="0"/>
          </a:p>
          <a:p>
            <a:pPr marL="0" lvl="2" indent="0" algn="just">
              <a:spcBef>
                <a:spcPts val="600"/>
              </a:spcBef>
              <a:spcAft>
                <a:spcPts val="0"/>
              </a:spcAft>
              <a:buClr>
                <a:srgbClr val="97989A"/>
              </a:buClr>
              <a:buNone/>
              <a:defRPr/>
            </a:pPr>
            <a:r>
              <a:rPr lang="en-US" dirty="0">
                <a:solidFill>
                  <a:schemeClr val="tx1"/>
                </a:solidFill>
                <a:latin typeface="Univers for KPMG" panose="020B0603020202020204" pitchFamily="34" charset="0"/>
              </a:rPr>
              <a:t>The following includes potential </a:t>
            </a:r>
            <a:r>
              <a:rPr lang="en-US" dirty="0" smtClean="0">
                <a:solidFill>
                  <a:schemeClr val="tx1"/>
                </a:solidFill>
                <a:latin typeface="Univers for KPMG" panose="020B0603020202020204" pitchFamily="34" charset="0"/>
              </a:rPr>
              <a:t>quality </a:t>
            </a:r>
            <a:r>
              <a:rPr lang="en-US" dirty="0">
                <a:solidFill>
                  <a:schemeClr val="tx1"/>
                </a:solidFill>
                <a:latin typeface="Univers for KPMG" panose="020B0603020202020204" pitchFamily="34" charset="0"/>
              </a:rPr>
              <a:t>of </a:t>
            </a:r>
            <a:r>
              <a:rPr lang="en-US" dirty="0" smtClean="0">
                <a:solidFill>
                  <a:schemeClr val="tx1"/>
                </a:solidFill>
                <a:latin typeface="Univers for KPMG" panose="020B0603020202020204" pitchFamily="34" charset="0"/>
              </a:rPr>
              <a:t>earnings </a:t>
            </a:r>
            <a:r>
              <a:rPr lang="en-US" dirty="0">
                <a:solidFill>
                  <a:schemeClr val="tx1"/>
                </a:solidFill>
                <a:latin typeface="Univers for KPMG" panose="020B0603020202020204" pitchFamily="34" charset="0"/>
              </a:rPr>
              <a:t>considerations identified during due diligence. These items relate to other potential business issues that should be considered in the overall evaluation of the business. In addition, these items may be subjective in nature and as a result, they have not been included in the </a:t>
            </a:r>
            <a:r>
              <a:rPr lang="en-US" dirty="0" smtClean="0">
                <a:solidFill>
                  <a:schemeClr val="tx1"/>
                </a:solidFill>
                <a:latin typeface="Univers for KPMG" panose="020B0603020202020204" pitchFamily="34" charset="0"/>
              </a:rPr>
              <a:t>quality </a:t>
            </a:r>
            <a:r>
              <a:rPr lang="en-US" dirty="0">
                <a:solidFill>
                  <a:schemeClr val="tx1"/>
                </a:solidFill>
                <a:latin typeface="Univers for KPMG" panose="020B0603020202020204" pitchFamily="34" charset="0"/>
              </a:rPr>
              <a:t>of </a:t>
            </a:r>
            <a:r>
              <a:rPr lang="en-US" dirty="0" smtClean="0">
                <a:solidFill>
                  <a:schemeClr val="tx1"/>
                </a:solidFill>
                <a:latin typeface="Univers for KPMG" panose="020B0603020202020204" pitchFamily="34" charset="0"/>
              </a:rPr>
              <a:t>earnings </a:t>
            </a:r>
            <a:r>
              <a:rPr lang="en-US" dirty="0">
                <a:solidFill>
                  <a:schemeClr val="tx1"/>
                </a:solidFill>
                <a:latin typeface="Univers for KPMG" panose="020B0603020202020204" pitchFamily="34" charset="0"/>
              </a:rPr>
              <a:t>schedule</a:t>
            </a:r>
            <a:r>
              <a:rPr lang="en-US" dirty="0" smtClean="0">
                <a:solidFill>
                  <a:schemeClr val="tx1"/>
                </a:solidFill>
                <a:latin typeface="Univers for KPMG" panose="020B0603020202020204" pitchFamily="34" charset="0"/>
              </a:rPr>
              <a:t>.</a:t>
            </a:r>
          </a:p>
          <a:p>
            <a:pPr marL="285750" lvl="2" indent="-285750" algn="just">
              <a:spcBef>
                <a:spcPts val="600"/>
              </a:spcBef>
              <a:spcAft>
                <a:spcPts val="0"/>
              </a:spcAft>
              <a:buClr>
                <a:srgbClr val="97989A"/>
              </a:buClr>
              <a:buFont typeface="+mj-lt"/>
              <a:buAutoNum type="romanLcPeriod"/>
              <a:defRPr/>
            </a:pPr>
            <a:r>
              <a:rPr lang="en-US" b="1" dirty="0" smtClean="0">
                <a:solidFill>
                  <a:schemeClr val="tx1"/>
                </a:solidFill>
                <a:latin typeface="Univers for KPMG" panose="020B0603020202020204" pitchFamily="34" charset="0"/>
              </a:rPr>
              <a:t>Rent cash to GAAP (decrease </a:t>
            </a:r>
            <a:r>
              <a:rPr lang="en-US" b="1" dirty="0">
                <a:solidFill>
                  <a:schemeClr val="tx1"/>
                </a:solidFill>
                <a:latin typeface="Univers for KPMG" panose="020B0603020202020204" pitchFamily="34" charset="0"/>
              </a:rPr>
              <a:t>of $144,000): </a:t>
            </a:r>
            <a:r>
              <a:rPr lang="en-US" dirty="0" smtClean="0">
                <a:solidFill>
                  <a:schemeClr val="tx1"/>
                </a:solidFill>
                <a:latin typeface="Univers for KPMG" panose="020B0603020202020204" pitchFamily="34" charset="0"/>
              </a:rPr>
              <a:t>The Company currently expenses rent associated with its New Jersey headquarters on a cash basis. Given that there are lease step ups associated with the current lease agreement, the annual rent expense under GAAP is $144,000 higher. It is our understanding that the lease terms will be renegotiated prior to closing of the transaction. </a:t>
            </a:r>
          </a:p>
          <a:p>
            <a:pPr marL="285750" lvl="2" indent="-285750" algn="just">
              <a:spcBef>
                <a:spcPts val="600"/>
              </a:spcBef>
              <a:spcAft>
                <a:spcPts val="0"/>
              </a:spcAft>
              <a:buClr>
                <a:srgbClr val="97989A"/>
              </a:buClr>
              <a:buFont typeface="+mj-lt"/>
              <a:buAutoNum type="romanLcPeriod"/>
              <a:defRPr/>
            </a:pPr>
            <a:r>
              <a:rPr lang="en-US" b="1" dirty="0" smtClean="0">
                <a:solidFill>
                  <a:schemeClr val="tx1"/>
                </a:solidFill>
                <a:latin typeface="Univers for KPMG" panose="020B0603020202020204" pitchFamily="34" charset="0"/>
              </a:rPr>
              <a:t>Controller and CFO:  </a:t>
            </a:r>
            <a:r>
              <a:rPr lang="en-US" dirty="0" smtClean="0">
                <a:solidFill>
                  <a:schemeClr val="tx1"/>
                </a:solidFill>
                <a:latin typeface="Univers for KPMG" panose="020B0603020202020204" pitchFamily="34" charset="0"/>
              </a:rPr>
              <a:t>The Company’s accounting / finance team does not include a: (i) Chief Financial Officer (“CFO”) and/or (ii) Controller.  As the Company continues to grow and expand into other geographies and in order to provide adequate financial reporting on a timely basis, it is anticipated that these positions will be required.  </a:t>
            </a:r>
          </a:p>
          <a:p>
            <a:pPr marL="274320" lvl="2" indent="0" algn="just">
              <a:spcBef>
                <a:spcPts val="600"/>
              </a:spcBef>
              <a:spcAft>
                <a:spcPts val="0"/>
              </a:spcAft>
              <a:buClr>
                <a:srgbClr val="97989A"/>
              </a:buClr>
              <a:buNone/>
              <a:tabLst>
                <a:tab pos="284163" algn="l"/>
              </a:tabLst>
              <a:defRPr/>
            </a:pPr>
            <a:r>
              <a:rPr lang="en-US" dirty="0" smtClean="0">
                <a:solidFill>
                  <a:schemeClr val="tx1"/>
                </a:solidFill>
                <a:latin typeface="Univers for KPMG" panose="020B0603020202020204" pitchFamily="34" charset="0"/>
              </a:rPr>
              <a:t>	Note: In December 2017, the Company hired an external 	consultant </a:t>
            </a:r>
            <a:r>
              <a:rPr lang="en-US" dirty="0">
                <a:solidFill>
                  <a:schemeClr val="tx1"/>
                </a:solidFill>
                <a:latin typeface="Univers for KPMG" panose="020B0603020202020204" pitchFamily="34" charset="0"/>
              </a:rPr>
              <a:t>to support the </a:t>
            </a:r>
            <a:r>
              <a:rPr lang="en-US" dirty="0" smtClean="0">
                <a:solidFill>
                  <a:schemeClr val="tx1"/>
                </a:solidFill>
                <a:latin typeface="Univers for KPMG" panose="020B0603020202020204" pitchFamily="34" charset="0"/>
              </a:rPr>
              <a:t>contemplated transaction.  The </a:t>
            </a:r>
            <a:r>
              <a:rPr lang="en-US" dirty="0">
                <a:solidFill>
                  <a:schemeClr val="tx1"/>
                </a:solidFill>
                <a:latin typeface="Univers for KPMG" panose="020B0603020202020204" pitchFamily="34" charset="0"/>
              </a:rPr>
              <a:t>	individual is tasked with the responsibilities of an 	interim Controller. His monthly salary of $6,300 in Dec-17      implies an annual salary of approximately $76,000. </a:t>
            </a:r>
          </a:p>
          <a:p>
            <a:pPr marL="285750" lvl="2" indent="-285750" algn="just">
              <a:spcBef>
                <a:spcPts val="600"/>
              </a:spcBef>
              <a:spcAft>
                <a:spcPts val="0"/>
              </a:spcAft>
              <a:buClr>
                <a:srgbClr val="97989A"/>
              </a:buClr>
              <a:buFont typeface="+mj-lt"/>
              <a:buAutoNum type="romanLcPeriod" startAt="3"/>
              <a:tabLst>
                <a:tab pos="284163" algn="l"/>
              </a:tabLst>
              <a:defRPr/>
            </a:pPr>
            <a:r>
              <a:rPr lang="en-CA" b="1" dirty="0" smtClean="0">
                <a:solidFill>
                  <a:schemeClr val="tx1"/>
                </a:solidFill>
                <a:latin typeface="Univers for KPMG" panose="020B0603020202020204" pitchFamily="34" charset="0"/>
              </a:rPr>
              <a:t>Director, Recruitment Education: </a:t>
            </a:r>
            <a:r>
              <a:rPr lang="en-CA" dirty="0">
                <a:solidFill>
                  <a:schemeClr val="tx1"/>
                </a:solidFill>
                <a:latin typeface="Univers for KPMG" panose="020B0603020202020204" pitchFamily="34" charset="0"/>
              </a:rPr>
              <a:t>We understand that the Company </a:t>
            </a:r>
            <a:r>
              <a:rPr lang="en-CA" dirty="0" smtClean="0">
                <a:solidFill>
                  <a:schemeClr val="tx1"/>
                </a:solidFill>
                <a:latin typeface="Univers for KPMG" panose="020B0603020202020204" pitchFamily="34" charset="0"/>
              </a:rPr>
              <a:t>hired </a:t>
            </a:r>
            <a:r>
              <a:rPr lang="en-CA" dirty="0">
                <a:solidFill>
                  <a:schemeClr val="tx1"/>
                </a:solidFill>
                <a:latin typeface="Univers for KPMG" panose="020B0603020202020204" pitchFamily="34" charset="0"/>
              </a:rPr>
              <a:t>a </a:t>
            </a:r>
            <a:r>
              <a:rPr lang="en-CA" dirty="0" smtClean="0">
                <a:solidFill>
                  <a:schemeClr val="tx1"/>
                </a:solidFill>
                <a:latin typeface="Univers for KPMG" panose="020B0603020202020204" pitchFamily="34" charset="0"/>
              </a:rPr>
              <a:t>Director, Recruitment Education in </a:t>
            </a:r>
            <a:r>
              <a:rPr lang="en-CA" dirty="0">
                <a:solidFill>
                  <a:schemeClr val="tx1"/>
                </a:solidFill>
                <a:latin typeface="Univers for KPMG" panose="020B0603020202020204" pitchFamily="34" charset="0"/>
              </a:rPr>
              <a:t>order to support the continued growth of the Company. </a:t>
            </a:r>
            <a:r>
              <a:rPr lang="en-CA" dirty="0" smtClean="0">
                <a:solidFill>
                  <a:schemeClr val="tx1"/>
                </a:solidFill>
                <a:latin typeface="Univers for KPMG" panose="020B0603020202020204" pitchFamily="34" charset="0"/>
              </a:rPr>
              <a:t>He will be starting on April 1, 2018 with an annual salary of $85,000. This </a:t>
            </a:r>
            <a:r>
              <a:rPr lang="en-CA" dirty="0">
                <a:solidFill>
                  <a:schemeClr val="tx1"/>
                </a:solidFill>
                <a:latin typeface="Univers for KPMG" panose="020B0603020202020204" pitchFamily="34" charset="0"/>
              </a:rPr>
              <a:t>is a new position that is directly associated with the Company’s overall growth strategy. </a:t>
            </a:r>
          </a:p>
          <a:p>
            <a:pPr marL="0" lvl="2" indent="0" algn="just">
              <a:spcBef>
                <a:spcPts val="600"/>
              </a:spcBef>
              <a:spcAft>
                <a:spcPts val="0"/>
              </a:spcAft>
              <a:buClr>
                <a:srgbClr val="97989A"/>
              </a:buClr>
              <a:buNone/>
              <a:tabLst>
                <a:tab pos="284163" algn="l"/>
              </a:tabLst>
              <a:defRPr/>
            </a:pPr>
            <a:endParaRPr lang="en-US" dirty="0">
              <a:solidFill>
                <a:schemeClr val="tx1"/>
              </a:solidFill>
              <a:latin typeface="Univers for KPMG" panose="020B0603020202020204" pitchFamily="34" charset="0"/>
            </a:endParaRPr>
          </a:p>
        </p:txBody>
      </p:sp>
      <p:sp>
        <p:nvSpPr>
          <p:cNvPr id="6" name="Titre 5"/>
          <p:cNvSpPr>
            <a:spLocks noGrp="1"/>
          </p:cNvSpPr>
          <p:nvPr>
            <p:ph type="title"/>
          </p:nvPr>
        </p:nvSpPr>
        <p:spPr>
          <a:xfrm>
            <a:off x="431799" y="228600"/>
            <a:ext cx="8280401" cy="784830"/>
          </a:xfrm>
        </p:spPr>
        <p:txBody>
          <a:bodyPr/>
          <a:lstStyle/>
          <a:p>
            <a:r>
              <a:rPr lang="en-CA" sz="2400" dirty="0">
                <a:solidFill>
                  <a:prstClr val="white">
                    <a:lumMod val="50000"/>
                  </a:prstClr>
                </a:solidFill>
              </a:rPr>
              <a:t>Supporting analysis</a:t>
            </a:r>
            <a:r>
              <a:rPr lang="en-CA" dirty="0" smtClean="0"/>
              <a:t/>
            </a:r>
            <a:br>
              <a:rPr lang="en-CA" dirty="0" smtClean="0"/>
            </a:br>
            <a:r>
              <a:rPr lang="en-CA" sz="4400" dirty="0" smtClean="0"/>
              <a:t>Quality of earnings (9) – </a:t>
            </a:r>
            <a:r>
              <a:rPr lang="en-CA" sz="4400" i="1" dirty="0" smtClean="0"/>
              <a:t>Other considerations</a:t>
            </a:r>
            <a:endParaRPr lang="en-CA" sz="4400" i="1" dirty="0"/>
          </a:p>
        </p:txBody>
      </p:sp>
      <p:sp>
        <p:nvSpPr>
          <p:cNvPr id="8" name="TextBox 7"/>
          <p:cNvSpPr txBox="1"/>
          <p:nvPr/>
        </p:nvSpPr>
        <p:spPr>
          <a:xfrm>
            <a:off x="4994420" y="2366555"/>
            <a:ext cx="2825878" cy="129570"/>
          </a:xfrm>
          <a:prstGeom prst="rect">
            <a:avLst/>
          </a:prstGeom>
          <a:noFill/>
        </p:spPr>
        <p:txBody>
          <a:bodyPr wrap="square" lIns="0" tIns="0" rIns="0" bIns="0" rtlCol="0">
            <a:noAutofit/>
          </a:bodyPr>
          <a:lstStyle/>
          <a:p>
            <a:r>
              <a:rPr lang="en-US" sz="600" i="1" dirty="0" smtClean="0">
                <a:cs typeface="Arial" pitchFamily="34" charset="0"/>
              </a:rPr>
              <a:t>Source: Management provided information</a:t>
            </a:r>
          </a:p>
        </p:txBody>
      </p:sp>
      <p:pic>
        <p:nvPicPr>
          <p:cNvPr id="2" name="Picture 1"/>
          <p:cNvPicPr>
            <a:picLocks noChangeAspect="1"/>
          </p:cNvPicPr>
          <p:nvPr/>
        </p:nvPicPr>
        <p:blipFill>
          <a:blip r:embed="rId3"/>
          <a:stretch>
            <a:fillRect/>
          </a:stretch>
        </p:blipFill>
        <p:spPr>
          <a:xfrm>
            <a:off x="4995437" y="1613075"/>
            <a:ext cx="2042027" cy="753480"/>
          </a:xfrm>
          <a:prstGeom prst="rect">
            <a:avLst/>
          </a:prstGeom>
        </p:spPr>
      </p:pic>
    </p:spTree>
    <p:extLst>
      <p:ext uri="{BB962C8B-B14F-4D97-AF65-F5344CB8AC3E}">
        <p14:creationId xmlns:p14="http://schemas.microsoft.com/office/powerpoint/2010/main" val="734441946"/>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re 6"/>
          <p:cNvSpPr>
            <a:spLocks noGrp="1"/>
          </p:cNvSpPr>
          <p:nvPr>
            <p:ph type="title"/>
          </p:nvPr>
        </p:nvSpPr>
        <p:spPr>
          <a:xfrm>
            <a:off x="1995055" y="1337703"/>
            <a:ext cx="6192982" cy="581698"/>
          </a:xfrm>
        </p:spPr>
        <p:txBody>
          <a:bodyPr/>
          <a:lstStyle/>
          <a:p>
            <a:r>
              <a:rPr lang="en-CA" sz="5400" dirty="0"/>
              <a:t>Supporting analysis to key findings</a:t>
            </a:r>
            <a:br>
              <a:rPr lang="en-CA" sz="5400" dirty="0"/>
            </a:br>
            <a:r>
              <a:rPr lang="en-CA" sz="4000" i="1" dirty="0" smtClean="0"/>
              <a:t>Income statement analysis</a:t>
            </a:r>
            <a:endParaRPr lang="en-CA" sz="4000" i="1" dirty="0"/>
          </a:p>
        </p:txBody>
      </p:sp>
    </p:spTree>
    <p:extLst>
      <p:ext uri="{BB962C8B-B14F-4D97-AF65-F5344CB8AC3E}">
        <p14:creationId xmlns:p14="http://schemas.microsoft.com/office/powerpoint/2010/main" val="3951573800"/>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7"/>
          <p:cNvSpPr>
            <a:spLocks noGrp="1"/>
          </p:cNvSpPr>
          <p:nvPr>
            <p:ph type="body" sz="quarter" idx="10"/>
          </p:nvPr>
        </p:nvSpPr>
        <p:spPr>
          <a:xfrm>
            <a:off x="439924" y="1102270"/>
            <a:ext cx="1508760" cy="4911484"/>
          </a:xfrm>
        </p:spPr>
        <p:txBody>
          <a:bodyPr/>
          <a:lstStyle/>
          <a:p>
            <a:r>
              <a:rPr lang="en-CA" dirty="0" smtClean="0">
                <a:latin typeface="Univers for KPMG" panose="020B0603020202020204" pitchFamily="34" charset="0"/>
              </a:rPr>
              <a:t>Gross profit for the USA entity increased from 25.3% in FY16 to 26.4% in FY17.</a:t>
            </a:r>
            <a:endParaRPr lang="en-CA" dirty="0">
              <a:latin typeface="Univers for KPMG" panose="020B0603020202020204" pitchFamily="34" charset="0"/>
            </a:endParaRPr>
          </a:p>
        </p:txBody>
      </p:sp>
      <p:sp>
        <p:nvSpPr>
          <p:cNvPr id="28" name="TextBox 27"/>
          <p:cNvSpPr txBox="1"/>
          <p:nvPr/>
        </p:nvSpPr>
        <p:spPr>
          <a:xfrm>
            <a:off x="2193557" y="3656545"/>
            <a:ext cx="1870979" cy="369332"/>
          </a:xfrm>
          <a:prstGeom prst="rect">
            <a:avLst/>
          </a:prstGeom>
          <a:noFill/>
        </p:spPr>
        <p:txBody>
          <a:bodyPr wrap="square" lIns="0" tIns="0" rIns="0" bIns="0" rtlCol="0">
            <a:spAutoFit/>
          </a:bodyPr>
          <a:lstStyle/>
          <a:p>
            <a:pPr indent="-400050" defTabSz="914400"/>
            <a:r>
              <a:rPr lang="en-US" sz="600" dirty="0" smtClean="0">
                <a:solidFill>
                  <a:srgbClr val="000000"/>
                </a:solidFill>
              </a:rPr>
              <a:t>Note: There are approximately $300,000 and $100,000 of reconciling differences related to total revenue for the USA entity for FY16 and FY17, respectively. </a:t>
            </a:r>
          </a:p>
          <a:p>
            <a:pPr indent="-400050" defTabSz="914400"/>
            <a:r>
              <a:rPr lang="en-US" sz="600" i="1" dirty="0" smtClean="0">
                <a:solidFill>
                  <a:srgbClr val="000000"/>
                </a:solidFill>
              </a:rPr>
              <a:t>Source: Management provided information</a:t>
            </a:r>
            <a:endParaRPr lang="en-US" sz="600" i="1" dirty="0">
              <a:solidFill>
                <a:srgbClr val="000000"/>
              </a:solidFill>
            </a:endParaRPr>
          </a:p>
        </p:txBody>
      </p:sp>
      <p:sp>
        <p:nvSpPr>
          <p:cNvPr id="11" name="Titre 5"/>
          <p:cNvSpPr txBox="1">
            <a:spLocks/>
          </p:cNvSpPr>
          <p:nvPr/>
        </p:nvSpPr>
        <p:spPr bwMode="gray">
          <a:xfrm>
            <a:off x="431800" y="228600"/>
            <a:ext cx="8496000" cy="784830"/>
          </a:xfrm>
          <a:prstGeom prst="rect">
            <a:avLst/>
          </a:prstGeom>
        </p:spPr>
        <p:txBody>
          <a:bodyPr vert="horz" lIns="0" tIns="0" rIns="0" bIns="0" rtlCol="0" anchor="t" anchorCtr="0">
            <a:noAutofit/>
          </a:bodyPr>
          <a:lstStyle>
            <a:lvl1pPr algn="l" defTabSz="914400" rtl="0" eaLnBrk="1" latinLnBrk="0" hangingPunct="1">
              <a:lnSpc>
                <a:spcPct val="70000"/>
              </a:lnSpc>
              <a:spcBef>
                <a:spcPct val="0"/>
              </a:spcBef>
              <a:buNone/>
              <a:defRPr sz="3800" kern="1200">
                <a:solidFill>
                  <a:schemeClr val="tx2"/>
                </a:solidFill>
                <a:latin typeface="+mj-lt"/>
                <a:ea typeface="+mj-ea"/>
                <a:cs typeface="+mj-cs"/>
              </a:defRPr>
            </a:lvl1pPr>
          </a:lstStyle>
          <a:p>
            <a:r>
              <a:rPr lang="en-CA" sz="2400" dirty="0" smtClean="0">
                <a:solidFill>
                  <a:prstClr val="white">
                    <a:lumMod val="50000"/>
                  </a:prstClr>
                </a:solidFill>
              </a:rPr>
              <a:t>Supporting analysis</a:t>
            </a:r>
          </a:p>
          <a:p>
            <a:r>
              <a:rPr lang="en-CA" sz="4000" dirty="0" smtClean="0">
                <a:solidFill>
                  <a:srgbClr val="00338D"/>
                </a:solidFill>
              </a:rPr>
              <a:t>Revenue and gross profit analysis</a:t>
            </a:r>
            <a:endParaRPr lang="en-CA" sz="4000" dirty="0">
              <a:solidFill>
                <a:srgbClr val="00338D"/>
              </a:solidFill>
            </a:endParaRPr>
          </a:p>
        </p:txBody>
      </p:sp>
      <p:sp>
        <p:nvSpPr>
          <p:cNvPr id="10" name="Espace réservé du texte 3"/>
          <p:cNvSpPr>
            <a:spLocks noGrp="1"/>
          </p:cNvSpPr>
          <p:nvPr>
            <p:ph type="body" sz="quarter" idx="4294967295"/>
          </p:nvPr>
        </p:nvSpPr>
        <p:spPr>
          <a:xfrm>
            <a:off x="4679800" y="1116242"/>
            <a:ext cx="3740300" cy="2149306"/>
          </a:xfrm>
          <a:prstGeom prst="rect">
            <a:avLst/>
          </a:prstGeom>
        </p:spPr>
        <p:txBody>
          <a:bodyPr wrap="square">
            <a:spAutoFit/>
          </a:bodyPr>
          <a:lstStyle/>
          <a:p>
            <a:pPr>
              <a:spcBef>
                <a:spcPts val="600"/>
              </a:spcBef>
              <a:spcAft>
                <a:spcPts val="0"/>
              </a:spcAft>
            </a:pPr>
            <a:r>
              <a:rPr lang="en-CA" dirty="0" smtClean="0">
                <a:latin typeface="Univers for KPMG" panose="020B0603020202020204" pitchFamily="34" charset="0"/>
              </a:rPr>
              <a:t>Basis of presentation</a:t>
            </a:r>
          </a:p>
          <a:p>
            <a:pPr marL="177800" lvl="2" indent="-177800" algn="just">
              <a:lnSpc>
                <a:spcPts val="1000"/>
              </a:lnSpc>
              <a:spcBef>
                <a:spcPts val="600"/>
              </a:spcBef>
              <a:spcAft>
                <a:spcPts val="0"/>
              </a:spcAft>
              <a:buClr>
                <a:srgbClr val="97989A"/>
              </a:buClr>
              <a:buFont typeface="Arial" pitchFamily="34" charset="0"/>
              <a:buChar char="■"/>
              <a:defRPr/>
            </a:pPr>
            <a:r>
              <a:rPr lang="en-US" dirty="0" smtClean="0">
                <a:solidFill>
                  <a:srgbClr val="000000"/>
                </a:solidFill>
                <a:latin typeface="Univers for KPMG" panose="020B0603020202020204" pitchFamily="34" charset="0"/>
                <a:cs typeface="Arial" pitchFamily="34" charset="0"/>
              </a:rPr>
              <a:t>The adjacent table provides an indicative gross margin analysis for the USA entity. </a:t>
            </a:r>
          </a:p>
          <a:p>
            <a:pPr marL="177800" lvl="2" indent="-177800" algn="just">
              <a:lnSpc>
                <a:spcPts val="1000"/>
              </a:lnSpc>
              <a:spcBef>
                <a:spcPts val="600"/>
              </a:spcBef>
              <a:spcAft>
                <a:spcPts val="0"/>
              </a:spcAft>
              <a:buClr>
                <a:srgbClr val="97989A"/>
              </a:buClr>
              <a:buFont typeface="Arial" pitchFamily="34" charset="0"/>
              <a:buChar char="■"/>
              <a:defRPr/>
            </a:pPr>
            <a:r>
              <a:rPr lang="en-US" dirty="0" smtClean="0">
                <a:solidFill>
                  <a:srgbClr val="000000"/>
                </a:solidFill>
                <a:latin typeface="Univers for KPMG" panose="020B0603020202020204" pitchFamily="34" charset="0"/>
                <a:cs typeface="Arial" pitchFamily="34" charset="0"/>
              </a:rPr>
              <a:t>The </a:t>
            </a:r>
            <a:r>
              <a:rPr lang="en-US" dirty="0">
                <a:solidFill>
                  <a:srgbClr val="000000"/>
                </a:solidFill>
                <a:latin typeface="Univers for KPMG" panose="020B0603020202020204" pitchFamily="34" charset="0"/>
                <a:cs typeface="Arial" pitchFamily="34" charset="0"/>
              </a:rPr>
              <a:t>revenue </a:t>
            </a:r>
            <a:r>
              <a:rPr lang="en-US" dirty="0" smtClean="0">
                <a:solidFill>
                  <a:srgbClr val="000000"/>
                </a:solidFill>
                <a:latin typeface="Univers for KPMG" panose="020B0603020202020204" pitchFamily="34" charset="0"/>
                <a:cs typeface="Arial" pitchFamily="34" charset="0"/>
              </a:rPr>
              <a:t>and direct cost figures are </a:t>
            </a:r>
            <a:r>
              <a:rPr lang="en-US" dirty="0">
                <a:solidFill>
                  <a:srgbClr val="000000"/>
                </a:solidFill>
                <a:latin typeface="Univers for KPMG" panose="020B0603020202020204" pitchFamily="34" charset="0"/>
                <a:cs typeface="Arial" pitchFamily="34" charset="0"/>
              </a:rPr>
              <a:t>obtained from transaction level </a:t>
            </a:r>
            <a:r>
              <a:rPr lang="en-US" dirty="0" smtClean="0">
                <a:solidFill>
                  <a:srgbClr val="000000"/>
                </a:solidFill>
                <a:latin typeface="Univers for KPMG" panose="020B0603020202020204" pitchFamily="34" charset="0"/>
                <a:cs typeface="Arial" pitchFamily="34" charset="0"/>
              </a:rPr>
              <a:t>details (i.e. revenue and payroll) provided </a:t>
            </a:r>
            <a:r>
              <a:rPr lang="en-US" dirty="0">
                <a:solidFill>
                  <a:srgbClr val="000000"/>
                </a:solidFill>
                <a:latin typeface="Univers for KPMG" panose="020B0603020202020204" pitchFamily="34" charset="0"/>
                <a:cs typeface="Arial" pitchFamily="34" charset="0"/>
              </a:rPr>
              <a:t>by </a:t>
            </a:r>
            <a:r>
              <a:rPr lang="en-US" dirty="0" smtClean="0">
                <a:solidFill>
                  <a:srgbClr val="000000"/>
                </a:solidFill>
                <a:latin typeface="Univers for KPMG" panose="020B0603020202020204" pitchFamily="34" charset="0"/>
                <a:cs typeface="Arial" pitchFamily="34" charset="0"/>
              </a:rPr>
              <a:t>Management.</a:t>
            </a:r>
            <a:endParaRPr lang="en-US" dirty="0">
              <a:solidFill>
                <a:srgbClr val="000000"/>
              </a:solidFill>
              <a:latin typeface="Univers for KPMG" panose="020B0603020202020204" pitchFamily="34" charset="0"/>
              <a:cs typeface="Arial" pitchFamily="34" charset="0"/>
            </a:endParaRPr>
          </a:p>
          <a:p>
            <a:pPr>
              <a:spcBef>
                <a:spcPts val="600"/>
              </a:spcBef>
              <a:spcAft>
                <a:spcPts val="0"/>
              </a:spcAft>
            </a:pPr>
            <a:r>
              <a:rPr lang="en-CA" dirty="0" smtClean="0">
                <a:latin typeface="Univers for KPMG" panose="020B0603020202020204" pitchFamily="34" charset="0"/>
              </a:rPr>
              <a:t>Gross profit </a:t>
            </a:r>
          </a:p>
          <a:p>
            <a:pPr marL="177800" lvl="2" indent="-177800" algn="just">
              <a:lnSpc>
                <a:spcPts val="1000"/>
              </a:lnSpc>
              <a:spcBef>
                <a:spcPts val="600"/>
              </a:spcBef>
              <a:spcAft>
                <a:spcPts val="0"/>
              </a:spcAft>
              <a:buClr>
                <a:srgbClr val="97989A"/>
              </a:buClr>
              <a:buFont typeface="Arial" pitchFamily="34" charset="0"/>
              <a:buChar char="■"/>
              <a:defRPr/>
            </a:pPr>
            <a:r>
              <a:rPr lang="en-US" dirty="0" smtClean="0">
                <a:solidFill>
                  <a:schemeClr val="tx1"/>
                </a:solidFill>
                <a:latin typeface="Univers for KPMG" panose="020B0603020202020204" pitchFamily="34" charset="0"/>
              </a:rPr>
              <a:t>We understand that the Aequor Technology division has higher margins as typical billing rates for this division range from $50 - $150 per hour for IT contracts. This compares to rates of $40 - $70 per hour for nursing contracts and $48 to $70 per hour for Allied contracts.</a:t>
            </a:r>
            <a:endParaRPr lang="en-GB" dirty="0" smtClean="0">
              <a:solidFill>
                <a:schemeClr val="tx1"/>
              </a:solidFill>
            </a:endParaRPr>
          </a:p>
          <a:p>
            <a:pPr marL="177800" lvl="2" indent="-177800" algn="just">
              <a:lnSpc>
                <a:spcPts val="1000"/>
              </a:lnSpc>
              <a:spcBef>
                <a:spcPts val="600"/>
              </a:spcBef>
              <a:spcAft>
                <a:spcPts val="0"/>
              </a:spcAft>
              <a:buClr>
                <a:srgbClr val="97989A"/>
              </a:buClr>
              <a:buFont typeface="Arial" pitchFamily="34" charset="0"/>
              <a:buChar char="■"/>
              <a:defRPr/>
            </a:pPr>
            <a:endParaRPr lang="en-US" dirty="0" smtClean="0">
              <a:solidFill>
                <a:schemeClr val="tx1"/>
              </a:solidFill>
              <a:latin typeface="Univers for KPMG" panose="020B0603020202020204" pitchFamily="34" charset="0"/>
              <a:cs typeface="Arial" pitchFamily="34" charset="0"/>
            </a:endParaRPr>
          </a:p>
          <a:p>
            <a:pPr lvl="4">
              <a:lnSpc>
                <a:spcPts val="1000"/>
              </a:lnSpc>
              <a:spcBef>
                <a:spcPts val="600"/>
              </a:spcBef>
              <a:spcAft>
                <a:spcPts val="0"/>
              </a:spcAft>
              <a:buClr>
                <a:srgbClr val="97989A"/>
              </a:buClr>
              <a:buFont typeface="Arial" panose="020B0604020202020204" pitchFamily="34" charset="0"/>
              <a:buChar char="•"/>
              <a:defRPr/>
            </a:pPr>
            <a:endParaRPr lang="en-US" dirty="0">
              <a:solidFill>
                <a:schemeClr val="tx1"/>
              </a:solidFill>
              <a:latin typeface="Univers for KPMG" panose="020B0603020202020204" pitchFamily="34" charset="0"/>
            </a:endParaRPr>
          </a:p>
        </p:txBody>
      </p:sp>
      <p:pic>
        <p:nvPicPr>
          <p:cNvPr id="8" name="Picture 7"/>
          <p:cNvPicPr>
            <a:picLocks noChangeAspect="1"/>
          </p:cNvPicPr>
          <p:nvPr/>
        </p:nvPicPr>
        <p:blipFill>
          <a:blip r:embed="rId3"/>
          <a:stretch>
            <a:fillRect/>
          </a:stretch>
        </p:blipFill>
        <p:spPr>
          <a:xfrm>
            <a:off x="2193557" y="1116242"/>
            <a:ext cx="1870979" cy="2540304"/>
          </a:xfrm>
          <a:prstGeom prst="rect">
            <a:avLst/>
          </a:prstGeom>
        </p:spPr>
      </p:pic>
    </p:spTree>
    <p:extLst>
      <p:ext uri="{BB962C8B-B14F-4D97-AF65-F5344CB8AC3E}">
        <p14:creationId xmlns:p14="http://schemas.microsoft.com/office/powerpoint/2010/main" val="263120290"/>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rotWithShape="1">
          <a:blip r:embed="rId3"/>
          <a:srcRect b="30334"/>
          <a:stretch/>
        </p:blipFill>
        <p:spPr>
          <a:xfrm>
            <a:off x="2046112" y="3954913"/>
            <a:ext cx="6908611" cy="1920915"/>
          </a:xfrm>
          <a:prstGeom prst="rect">
            <a:avLst/>
          </a:prstGeom>
        </p:spPr>
      </p:pic>
      <p:sp>
        <p:nvSpPr>
          <p:cNvPr id="6" name="Text Placeholder 7"/>
          <p:cNvSpPr>
            <a:spLocks noGrp="1"/>
          </p:cNvSpPr>
          <p:nvPr>
            <p:ph type="body" sz="quarter" idx="10"/>
          </p:nvPr>
        </p:nvSpPr>
        <p:spPr>
          <a:xfrm>
            <a:off x="439924" y="1102270"/>
            <a:ext cx="1508760" cy="4911484"/>
          </a:xfrm>
        </p:spPr>
        <p:txBody>
          <a:bodyPr/>
          <a:lstStyle/>
          <a:p>
            <a:r>
              <a:rPr lang="en-CA" dirty="0" smtClean="0">
                <a:latin typeface="Univers for KPMG" panose="020B0603020202020204" pitchFamily="34" charset="0"/>
              </a:rPr>
              <a:t>Potentially adjusted gross margin for the combined entity increases from 25.1% in FY16 to 26.6% in FY17.</a:t>
            </a:r>
            <a:endParaRPr lang="en-CA" dirty="0">
              <a:latin typeface="Univers for KPMG" panose="020B0603020202020204" pitchFamily="34" charset="0"/>
            </a:endParaRPr>
          </a:p>
        </p:txBody>
      </p:sp>
      <p:sp>
        <p:nvSpPr>
          <p:cNvPr id="28" name="TextBox 27"/>
          <p:cNvSpPr txBox="1"/>
          <p:nvPr/>
        </p:nvSpPr>
        <p:spPr>
          <a:xfrm>
            <a:off x="2109933" y="5918712"/>
            <a:ext cx="2967077" cy="92333"/>
          </a:xfrm>
          <a:prstGeom prst="rect">
            <a:avLst/>
          </a:prstGeom>
          <a:noFill/>
        </p:spPr>
        <p:txBody>
          <a:bodyPr wrap="square" lIns="0" tIns="0" rIns="0" bIns="0" rtlCol="0">
            <a:spAutoFit/>
          </a:bodyPr>
          <a:lstStyle/>
          <a:p>
            <a:pPr marL="400050" indent="-400050" defTabSz="914400"/>
            <a:r>
              <a:rPr lang="en-US" sz="600" i="1" dirty="0" smtClean="0">
                <a:solidFill>
                  <a:srgbClr val="000000"/>
                </a:solidFill>
              </a:rPr>
              <a:t>Source : 	Management provided information</a:t>
            </a:r>
            <a:endParaRPr lang="en-US" sz="600" i="1" dirty="0">
              <a:solidFill>
                <a:srgbClr val="000000"/>
              </a:solidFill>
            </a:endParaRPr>
          </a:p>
        </p:txBody>
      </p:sp>
      <p:sp>
        <p:nvSpPr>
          <p:cNvPr id="11" name="Titre 5"/>
          <p:cNvSpPr txBox="1">
            <a:spLocks/>
          </p:cNvSpPr>
          <p:nvPr/>
        </p:nvSpPr>
        <p:spPr bwMode="gray">
          <a:xfrm>
            <a:off x="431800" y="228600"/>
            <a:ext cx="8496000" cy="784830"/>
          </a:xfrm>
          <a:prstGeom prst="rect">
            <a:avLst/>
          </a:prstGeom>
        </p:spPr>
        <p:txBody>
          <a:bodyPr vert="horz" lIns="0" tIns="0" rIns="0" bIns="0" rtlCol="0" anchor="t" anchorCtr="0">
            <a:noAutofit/>
          </a:bodyPr>
          <a:lstStyle>
            <a:lvl1pPr algn="l" defTabSz="914400" rtl="0" eaLnBrk="1" latinLnBrk="0" hangingPunct="1">
              <a:lnSpc>
                <a:spcPct val="70000"/>
              </a:lnSpc>
              <a:spcBef>
                <a:spcPct val="0"/>
              </a:spcBef>
              <a:buNone/>
              <a:defRPr sz="3800" kern="1200">
                <a:solidFill>
                  <a:schemeClr val="tx2"/>
                </a:solidFill>
                <a:latin typeface="+mj-lt"/>
                <a:ea typeface="+mj-ea"/>
                <a:cs typeface="+mj-cs"/>
              </a:defRPr>
            </a:lvl1pPr>
          </a:lstStyle>
          <a:p>
            <a:r>
              <a:rPr lang="en-CA" sz="2400" dirty="0" smtClean="0">
                <a:solidFill>
                  <a:prstClr val="white">
                    <a:lumMod val="50000"/>
                  </a:prstClr>
                </a:solidFill>
              </a:rPr>
              <a:t>Supporting analysis</a:t>
            </a:r>
          </a:p>
          <a:p>
            <a:r>
              <a:rPr lang="en-CA" sz="4000" dirty="0" smtClean="0">
                <a:solidFill>
                  <a:srgbClr val="00338D"/>
                </a:solidFill>
              </a:rPr>
              <a:t>Monthly revenue and gross profit</a:t>
            </a:r>
            <a:endParaRPr lang="en-CA" sz="4000" dirty="0">
              <a:solidFill>
                <a:srgbClr val="00338D"/>
              </a:solidFill>
            </a:endParaRPr>
          </a:p>
        </p:txBody>
      </p:sp>
      <p:sp>
        <p:nvSpPr>
          <p:cNvPr id="10" name="Espace réservé du texte 3"/>
          <p:cNvSpPr>
            <a:spLocks noGrp="1"/>
          </p:cNvSpPr>
          <p:nvPr>
            <p:ph type="body" sz="quarter" idx="4294967295"/>
          </p:nvPr>
        </p:nvSpPr>
        <p:spPr>
          <a:xfrm>
            <a:off x="5216975" y="1102270"/>
            <a:ext cx="3710825" cy="3344505"/>
          </a:xfrm>
          <a:prstGeom prst="rect">
            <a:avLst/>
          </a:prstGeom>
        </p:spPr>
        <p:txBody>
          <a:bodyPr wrap="square">
            <a:spAutoFit/>
          </a:bodyPr>
          <a:lstStyle/>
          <a:p>
            <a:pPr>
              <a:spcBef>
                <a:spcPts val="600"/>
              </a:spcBef>
              <a:spcAft>
                <a:spcPts val="0"/>
              </a:spcAft>
            </a:pPr>
            <a:r>
              <a:rPr lang="en-CA" dirty="0" smtClean="0">
                <a:latin typeface="Univers for KPMG" panose="020B0603020202020204" pitchFamily="34" charset="0"/>
              </a:rPr>
              <a:t>Basis of presentation</a:t>
            </a:r>
          </a:p>
          <a:p>
            <a:pPr marL="357187" lvl="3" indent="-177800" algn="just">
              <a:lnSpc>
                <a:spcPts val="1000"/>
              </a:lnSpc>
              <a:spcBef>
                <a:spcPts val="600"/>
              </a:spcBef>
              <a:spcAft>
                <a:spcPts val="0"/>
              </a:spcAft>
              <a:buClr>
                <a:srgbClr val="97989A"/>
              </a:buClr>
              <a:buFont typeface="Arial" pitchFamily="34" charset="0"/>
              <a:buChar char="■"/>
              <a:defRPr/>
            </a:pPr>
            <a:r>
              <a:rPr lang="en-CA" dirty="0" smtClean="0">
                <a:solidFill>
                  <a:schemeClr val="tx1"/>
                </a:solidFill>
                <a:latin typeface="Univers for KPMG" panose="020B0603020202020204" pitchFamily="34" charset="0"/>
                <a:cs typeface="Arial" pitchFamily="34" charset="0"/>
              </a:rPr>
              <a:t>The adjacent </a:t>
            </a:r>
            <a:r>
              <a:rPr lang="en-CA" dirty="0">
                <a:solidFill>
                  <a:schemeClr val="tx1"/>
                </a:solidFill>
                <a:latin typeface="Univers for KPMG" panose="020B0603020202020204" pitchFamily="34" charset="0"/>
                <a:cs typeface="Arial" pitchFamily="34" charset="0"/>
              </a:rPr>
              <a:t>table presents </a:t>
            </a:r>
            <a:r>
              <a:rPr lang="en-CA" dirty="0" smtClean="0">
                <a:solidFill>
                  <a:schemeClr val="tx1"/>
                </a:solidFill>
                <a:latin typeface="Univers for KPMG" panose="020B0603020202020204" pitchFamily="34" charset="0"/>
                <a:cs typeface="Arial" pitchFamily="34" charset="0"/>
              </a:rPr>
              <a:t>net revenue, gross profit, and gross margin for the combined entity (USA, Switzerland, and India) on a potentially adjusted basis. </a:t>
            </a:r>
            <a:endParaRPr lang="en-CA" dirty="0">
              <a:solidFill>
                <a:schemeClr val="tx1"/>
              </a:solidFill>
              <a:latin typeface="Univers for KPMG" panose="020B0603020202020204" pitchFamily="34" charset="0"/>
              <a:cs typeface="Arial" pitchFamily="34" charset="0"/>
            </a:endParaRPr>
          </a:p>
          <a:p>
            <a:pPr marL="357187" lvl="3" indent="-177800" algn="just">
              <a:lnSpc>
                <a:spcPts val="1000"/>
              </a:lnSpc>
              <a:spcBef>
                <a:spcPts val="600"/>
              </a:spcBef>
              <a:spcAft>
                <a:spcPts val="0"/>
              </a:spcAft>
              <a:buClr>
                <a:srgbClr val="97989A"/>
              </a:buClr>
              <a:buFont typeface="Arial" pitchFamily="34" charset="0"/>
              <a:buChar char="■"/>
              <a:defRPr/>
            </a:pPr>
            <a:r>
              <a:rPr lang="en-CA" dirty="0" smtClean="0">
                <a:solidFill>
                  <a:schemeClr val="tx1"/>
                </a:solidFill>
                <a:latin typeface="Univers for KPMG" panose="020B0603020202020204" pitchFamily="34" charset="0"/>
                <a:cs typeface="Arial" pitchFamily="34" charset="0"/>
              </a:rPr>
              <a:t>The revenue figures are based on the following sources of information: </a:t>
            </a:r>
          </a:p>
          <a:p>
            <a:pPr lvl="4" algn="just">
              <a:lnSpc>
                <a:spcPts val="1000"/>
              </a:lnSpc>
              <a:spcBef>
                <a:spcPts val="600"/>
              </a:spcBef>
              <a:spcAft>
                <a:spcPts val="0"/>
              </a:spcAft>
              <a:buClr>
                <a:srgbClr val="97989A"/>
              </a:buClr>
              <a:buFont typeface="Univers for KPMG" panose="020B0603020202020204" pitchFamily="34" charset="0"/>
              <a:buChar char="−"/>
              <a:defRPr/>
            </a:pPr>
            <a:r>
              <a:rPr lang="en-CA" dirty="0" smtClean="0">
                <a:solidFill>
                  <a:schemeClr val="tx1"/>
                </a:solidFill>
                <a:latin typeface="Univers for KPMG" panose="020B0603020202020204" pitchFamily="34" charset="0"/>
                <a:cs typeface="Arial" pitchFamily="34" charset="0"/>
              </a:rPr>
              <a:t>USA revenue per the audited financial statements. </a:t>
            </a:r>
          </a:p>
          <a:p>
            <a:pPr lvl="4" algn="just">
              <a:lnSpc>
                <a:spcPts val="1000"/>
              </a:lnSpc>
              <a:spcBef>
                <a:spcPts val="600"/>
              </a:spcBef>
              <a:spcAft>
                <a:spcPts val="0"/>
              </a:spcAft>
              <a:buClr>
                <a:srgbClr val="97989A"/>
              </a:buClr>
              <a:buFont typeface="Univers for KPMG" panose="020B0603020202020204" pitchFamily="34" charset="0"/>
              <a:buChar char="−"/>
              <a:defRPr/>
            </a:pPr>
            <a:r>
              <a:rPr lang="en-CA" dirty="0" smtClean="0">
                <a:solidFill>
                  <a:schemeClr val="tx1"/>
                </a:solidFill>
                <a:latin typeface="Univers for KPMG" panose="020B0603020202020204" pitchFamily="34" charset="0"/>
                <a:cs typeface="Arial" pitchFamily="34" charset="0"/>
              </a:rPr>
              <a:t>Potential adjustments to revenue identified during due diligence. Note that the numbers reference the corresponding QofE adjustment. </a:t>
            </a:r>
          </a:p>
          <a:p>
            <a:pPr lvl="4" algn="just">
              <a:lnSpc>
                <a:spcPts val="1000"/>
              </a:lnSpc>
              <a:spcBef>
                <a:spcPts val="600"/>
              </a:spcBef>
              <a:spcAft>
                <a:spcPts val="0"/>
              </a:spcAft>
              <a:buClr>
                <a:srgbClr val="97989A"/>
              </a:buClr>
              <a:buFont typeface="Univers for KPMG" panose="020B0603020202020204" pitchFamily="34" charset="0"/>
              <a:buChar char="−"/>
              <a:defRPr/>
            </a:pPr>
            <a:r>
              <a:rPr lang="en-CA" dirty="0" smtClean="0">
                <a:solidFill>
                  <a:schemeClr val="tx1"/>
                </a:solidFill>
                <a:latin typeface="Univers for KPMG" panose="020B0603020202020204" pitchFamily="34" charset="0"/>
                <a:cs typeface="Arial" pitchFamily="34" charset="0"/>
              </a:rPr>
              <a:t>Intercompany revenue from India and Switzerland.</a:t>
            </a:r>
          </a:p>
          <a:p>
            <a:pPr lvl="3" algn="just">
              <a:lnSpc>
                <a:spcPts val="1000"/>
              </a:lnSpc>
              <a:spcBef>
                <a:spcPts val="600"/>
              </a:spcBef>
              <a:spcAft>
                <a:spcPts val="0"/>
              </a:spcAft>
              <a:buClr>
                <a:srgbClr val="97989A"/>
              </a:buClr>
              <a:buFont typeface="Univers for KPMG" panose="020B0603020202020204" pitchFamily="34" charset="0"/>
              <a:buChar char="−"/>
              <a:defRPr/>
            </a:pPr>
            <a:r>
              <a:rPr lang="en-CA" dirty="0" smtClean="0">
                <a:solidFill>
                  <a:schemeClr val="tx1"/>
                </a:solidFill>
                <a:latin typeface="Univers for KPMG" panose="020B0603020202020204" pitchFamily="34" charset="0"/>
                <a:cs typeface="Arial" pitchFamily="34" charset="0"/>
              </a:rPr>
              <a:t>The gross profit figures are based on the following sources of information: </a:t>
            </a:r>
          </a:p>
          <a:p>
            <a:pPr lvl="4" algn="just">
              <a:lnSpc>
                <a:spcPts val="1000"/>
              </a:lnSpc>
              <a:spcBef>
                <a:spcPts val="600"/>
              </a:spcBef>
              <a:spcAft>
                <a:spcPts val="0"/>
              </a:spcAft>
              <a:buClr>
                <a:srgbClr val="97989A"/>
              </a:buClr>
              <a:buFont typeface="Univers for KPMG" panose="020B0603020202020204" pitchFamily="34" charset="0"/>
              <a:buChar char="−"/>
              <a:defRPr/>
            </a:pPr>
            <a:r>
              <a:rPr lang="en-CA" dirty="0">
                <a:solidFill>
                  <a:schemeClr val="tx1"/>
                </a:solidFill>
                <a:latin typeface="Univers for KPMG" panose="020B0603020202020204" pitchFamily="34" charset="0"/>
                <a:cs typeface="Arial" pitchFamily="34" charset="0"/>
              </a:rPr>
              <a:t>USA gross profit per the audited financial statements. </a:t>
            </a:r>
          </a:p>
          <a:p>
            <a:pPr lvl="4" algn="just">
              <a:lnSpc>
                <a:spcPts val="1000"/>
              </a:lnSpc>
              <a:spcBef>
                <a:spcPts val="600"/>
              </a:spcBef>
              <a:spcAft>
                <a:spcPts val="0"/>
              </a:spcAft>
              <a:buClr>
                <a:srgbClr val="97989A"/>
              </a:buClr>
              <a:buFont typeface="Univers for KPMG" panose="020B0603020202020204" pitchFamily="34" charset="0"/>
              <a:buChar char="−"/>
              <a:defRPr/>
            </a:pPr>
            <a:r>
              <a:rPr lang="en-CA" dirty="0">
                <a:solidFill>
                  <a:schemeClr val="tx1"/>
                </a:solidFill>
                <a:latin typeface="Univers for KPMG" panose="020B0603020202020204" pitchFamily="34" charset="0"/>
                <a:cs typeface="Arial" pitchFamily="34" charset="0"/>
              </a:rPr>
              <a:t>Potential adjustments to gross profit accounts identified during due diligence including the direct salaries associated with the India and Switzerland entities as well as the payroll accrual adjustment in Dec-17. </a:t>
            </a:r>
          </a:p>
          <a:p>
            <a:pPr marL="536575" lvl="4" indent="-177800" algn="just">
              <a:lnSpc>
                <a:spcPts val="1000"/>
              </a:lnSpc>
              <a:spcBef>
                <a:spcPts val="600"/>
              </a:spcBef>
              <a:spcAft>
                <a:spcPts val="0"/>
              </a:spcAft>
              <a:buClr>
                <a:srgbClr val="97989A"/>
              </a:buClr>
              <a:buFont typeface="Arial" pitchFamily="34" charset="0"/>
              <a:buChar char="■"/>
              <a:defRPr/>
            </a:pPr>
            <a:endParaRPr lang="en-CA" dirty="0" smtClean="0">
              <a:solidFill>
                <a:srgbClr val="000000"/>
              </a:solidFill>
              <a:latin typeface="Univers for KPMG" panose="020B0603020202020204" pitchFamily="34" charset="0"/>
              <a:cs typeface="Arial" pitchFamily="34" charset="0"/>
            </a:endParaRPr>
          </a:p>
          <a:p>
            <a:pPr lvl="4">
              <a:lnSpc>
                <a:spcPts val="1000"/>
              </a:lnSpc>
              <a:spcBef>
                <a:spcPts val="600"/>
              </a:spcBef>
              <a:spcAft>
                <a:spcPts val="0"/>
              </a:spcAft>
              <a:buClr>
                <a:srgbClr val="97989A"/>
              </a:buClr>
              <a:buFont typeface="Arial" panose="020B0604020202020204" pitchFamily="34" charset="0"/>
              <a:buChar char="•"/>
              <a:defRPr/>
            </a:pPr>
            <a:endParaRPr lang="en-US" dirty="0">
              <a:solidFill>
                <a:schemeClr val="tx1"/>
              </a:solidFill>
              <a:latin typeface="Univers for KPMG" panose="020B0603020202020204" pitchFamily="34" charset="0"/>
            </a:endParaRPr>
          </a:p>
        </p:txBody>
      </p:sp>
      <p:pic>
        <p:nvPicPr>
          <p:cNvPr id="3" name="Picture 2"/>
          <p:cNvPicPr>
            <a:picLocks noChangeAspect="1"/>
          </p:cNvPicPr>
          <p:nvPr/>
        </p:nvPicPr>
        <p:blipFill>
          <a:blip r:embed="rId4"/>
          <a:stretch>
            <a:fillRect/>
          </a:stretch>
        </p:blipFill>
        <p:spPr>
          <a:xfrm>
            <a:off x="2286704" y="1102270"/>
            <a:ext cx="2780781" cy="641853"/>
          </a:xfrm>
          <a:prstGeom prst="rect">
            <a:avLst/>
          </a:prstGeom>
        </p:spPr>
      </p:pic>
      <p:sp>
        <p:nvSpPr>
          <p:cNvPr id="12" name="Rounded Rectangle 11"/>
          <p:cNvSpPr/>
          <p:nvPr/>
        </p:nvSpPr>
        <p:spPr>
          <a:xfrm>
            <a:off x="4356869" y="1387075"/>
            <a:ext cx="710616" cy="120300"/>
          </a:xfrm>
          <a:prstGeom prst="roundRect">
            <a:avLst/>
          </a:prstGeom>
          <a:noFill/>
          <a:ln>
            <a:solidFill>
              <a:srgbClr val="00A3A1"/>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smtClean="0">
              <a:solidFill>
                <a:schemeClr val="bg1"/>
              </a:solidFill>
            </a:endParaRPr>
          </a:p>
        </p:txBody>
      </p:sp>
      <p:sp>
        <p:nvSpPr>
          <p:cNvPr id="13" name="Rounded Rectangle 12"/>
          <p:cNvSpPr/>
          <p:nvPr/>
        </p:nvSpPr>
        <p:spPr>
          <a:xfrm>
            <a:off x="4050216" y="3061343"/>
            <a:ext cx="710616" cy="120300"/>
          </a:xfrm>
          <a:prstGeom prst="roundRect">
            <a:avLst/>
          </a:prstGeom>
          <a:noFill/>
          <a:ln>
            <a:solidFill>
              <a:srgbClr val="00A3A1"/>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smtClean="0">
              <a:solidFill>
                <a:schemeClr val="bg1"/>
              </a:solidFill>
            </a:endParaRPr>
          </a:p>
        </p:txBody>
      </p:sp>
      <p:cxnSp>
        <p:nvCxnSpPr>
          <p:cNvPr id="14" name="Elbow Connector 13"/>
          <p:cNvCxnSpPr>
            <a:stCxn id="3" idx="3"/>
            <a:endCxn id="13" idx="3"/>
          </p:cNvCxnSpPr>
          <p:nvPr/>
        </p:nvCxnSpPr>
        <p:spPr>
          <a:xfrm flipH="1">
            <a:off x="4760832" y="1423197"/>
            <a:ext cx="306653" cy="1698296"/>
          </a:xfrm>
          <a:prstGeom prst="bentConnector3">
            <a:avLst>
              <a:gd name="adj1" fmla="val -74547"/>
            </a:avLst>
          </a:prstGeom>
          <a:ln>
            <a:solidFill>
              <a:srgbClr val="00A3A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0" name="Espace réservé du texte 3"/>
          <p:cNvSpPr>
            <a:spLocks noGrp="1"/>
          </p:cNvSpPr>
          <p:nvPr>
            <p:ph type="body" sz="quarter" idx="4294967295"/>
          </p:nvPr>
        </p:nvSpPr>
        <p:spPr>
          <a:xfrm>
            <a:off x="2293360" y="3377886"/>
            <a:ext cx="2774126" cy="600164"/>
          </a:xfrm>
          <a:prstGeom prst="rect">
            <a:avLst/>
          </a:prstGeom>
        </p:spPr>
        <p:txBody>
          <a:bodyPr wrap="square">
            <a:spAutoFit/>
          </a:bodyPr>
          <a:lstStyle/>
          <a:p>
            <a:pPr>
              <a:spcBef>
                <a:spcPts val="600"/>
              </a:spcBef>
              <a:spcAft>
                <a:spcPts val="0"/>
              </a:spcAft>
            </a:pPr>
            <a:r>
              <a:rPr lang="en-CA" dirty="0" smtClean="0">
                <a:latin typeface="Univers for KPMG" panose="020B0603020202020204" pitchFamily="34" charset="0"/>
              </a:rPr>
              <a:t>Revenue</a:t>
            </a:r>
          </a:p>
          <a:p>
            <a:pPr marL="171450" lvl="3" indent="-171450" algn="just">
              <a:lnSpc>
                <a:spcPts val="1000"/>
              </a:lnSpc>
              <a:spcBef>
                <a:spcPts val="600"/>
              </a:spcBef>
              <a:spcAft>
                <a:spcPts val="0"/>
              </a:spcAft>
              <a:buClr>
                <a:srgbClr val="97989A"/>
              </a:buClr>
              <a:buFont typeface="Arial" pitchFamily="34" charset="0"/>
              <a:buChar char="■"/>
              <a:defRPr/>
            </a:pPr>
            <a:r>
              <a:rPr lang="en-CA" dirty="0" smtClean="0">
                <a:solidFill>
                  <a:srgbClr val="000000"/>
                </a:solidFill>
                <a:latin typeface="Univers for KPMG" panose="020B0603020202020204" pitchFamily="34" charset="0"/>
                <a:cs typeface="Arial" pitchFamily="34" charset="0"/>
              </a:rPr>
              <a:t>Consistent with Management’s representation, the graph below highlights no significant seasonal trends over the historical period. </a:t>
            </a:r>
            <a:endParaRPr lang="en-CA" dirty="0">
              <a:solidFill>
                <a:srgbClr val="000000"/>
              </a:solidFill>
              <a:latin typeface="Univers for KPMG" panose="020B0603020202020204" pitchFamily="34" charset="0"/>
              <a:cs typeface="Arial" pitchFamily="34" charset="0"/>
            </a:endParaRPr>
          </a:p>
        </p:txBody>
      </p:sp>
      <p:pic>
        <p:nvPicPr>
          <p:cNvPr id="18" name="Picture 17"/>
          <p:cNvPicPr>
            <a:picLocks noChangeAspect="1"/>
          </p:cNvPicPr>
          <p:nvPr/>
        </p:nvPicPr>
        <p:blipFill rotWithShape="1">
          <a:blip r:embed="rId5"/>
          <a:srcRect l="6250" t="76883" r="8439" b="16331"/>
          <a:stretch/>
        </p:blipFill>
        <p:spPr>
          <a:xfrm>
            <a:off x="2046112" y="5785751"/>
            <a:ext cx="6055279" cy="192239"/>
          </a:xfrm>
          <a:prstGeom prst="rect">
            <a:avLst/>
          </a:prstGeom>
        </p:spPr>
      </p:pic>
      <p:sp>
        <p:nvSpPr>
          <p:cNvPr id="22" name="TextBox 21"/>
          <p:cNvSpPr txBox="1"/>
          <p:nvPr/>
        </p:nvSpPr>
        <p:spPr>
          <a:xfrm>
            <a:off x="2286704" y="1739913"/>
            <a:ext cx="2825878" cy="129570"/>
          </a:xfrm>
          <a:prstGeom prst="rect">
            <a:avLst/>
          </a:prstGeom>
          <a:noFill/>
        </p:spPr>
        <p:txBody>
          <a:bodyPr wrap="square" lIns="0" tIns="0" rIns="0" bIns="0" rtlCol="0">
            <a:noAutofit/>
          </a:bodyPr>
          <a:lstStyle/>
          <a:p>
            <a:r>
              <a:rPr lang="en-US" sz="600" i="1" dirty="0" smtClean="0">
                <a:cs typeface="Arial" pitchFamily="34" charset="0"/>
              </a:rPr>
              <a:t>Source: Management provided information, KPMG analysis</a:t>
            </a:r>
          </a:p>
        </p:txBody>
      </p:sp>
      <p:sp>
        <p:nvSpPr>
          <p:cNvPr id="24" name="TextBox 23"/>
          <p:cNvSpPr txBox="1"/>
          <p:nvPr/>
        </p:nvSpPr>
        <p:spPr>
          <a:xfrm>
            <a:off x="2286704" y="3174563"/>
            <a:ext cx="2825878" cy="129570"/>
          </a:xfrm>
          <a:prstGeom prst="rect">
            <a:avLst/>
          </a:prstGeom>
          <a:noFill/>
        </p:spPr>
        <p:txBody>
          <a:bodyPr wrap="square" lIns="0" tIns="0" rIns="0" bIns="0" rtlCol="0">
            <a:noAutofit/>
          </a:bodyPr>
          <a:lstStyle/>
          <a:p>
            <a:r>
              <a:rPr lang="en-US" sz="600" i="1" dirty="0" smtClean="0">
                <a:cs typeface="Arial" pitchFamily="34" charset="0"/>
              </a:rPr>
              <a:t>Source: Management provided information, KPMG analysis</a:t>
            </a:r>
          </a:p>
        </p:txBody>
      </p:sp>
      <p:pic>
        <p:nvPicPr>
          <p:cNvPr id="5" name="Picture 4"/>
          <p:cNvPicPr>
            <a:picLocks noChangeAspect="1"/>
          </p:cNvPicPr>
          <p:nvPr/>
        </p:nvPicPr>
        <p:blipFill>
          <a:blip r:embed="rId6"/>
          <a:stretch>
            <a:fillRect/>
          </a:stretch>
        </p:blipFill>
        <p:spPr>
          <a:xfrm>
            <a:off x="2299646" y="2014016"/>
            <a:ext cx="2461186" cy="1161600"/>
          </a:xfrm>
          <a:prstGeom prst="rect">
            <a:avLst/>
          </a:prstGeom>
        </p:spPr>
      </p:pic>
    </p:spTree>
    <p:extLst>
      <p:ext uri="{BB962C8B-B14F-4D97-AF65-F5344CB8AC3E}">
        <p14:creationId xmlns:p14="http://schemas.microsoft.com/office/powerpoint/2010/main" val="3279955619"/>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re 6"/>
          <p:cNvSpPr>
            <a:spLocks noGrp="1"/>
          </p:cNvSpPr>
          <p:nvPr>
            <p:ph type="title"/>
          </p:nvPr>
        </p:nvSpPr>
        <p:spPr/>
        <p:txBody>
          <a:bodyPr/>
          <a:lstStyle/>
          <a:p>
            <a:r>
              <a:rPr lang="en-CA" sz="5400" dirty="0"/>
              <a:t>Supporting analysis to key findings</a:t>
            </a:r>
            <a:br>
              <a:rPr lang="en-CA" sz="5400" dirty="0"/>
            </a:br>
            <a:r>
              <a:rPr lang="en-CA" sz="4000" i="1" dirty="0" smtClean="0"/>
              <a:t>Net </a:t>
            </a:r>
            <a:r>
              <a:rPr lang="en-CA" sz="4000" i="1" dirty="0"/>
              <a:t>w</a:t>
            </a:r>
            <a:r>
              <a:rPr lang="en-CA" sz="4000" i="1" dirty="0" smtClean="0"/>
              <a:t>orking capital</a:t>
            </a:r>
            <a:endParaRPr lang="en-CA" sz="4000" i="1" dirty="0"/>
          </a:p>
        </p:txBody>
      </p:sp>
    </p:spTree>
    <p:extLst>
      <p:ext uri="{BB962C8B-B14F-4D97-AF65-F5344CB8AC3E}">
        <p14:creationId xmlns:p14="http://schemas.microsoft.com/office/powerpoint/2010/main" val="1222888697"/>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7"/>
          <p:cNvSpPr>
            <a:spLocks noGrp="1"/>
          </p:cNvSpPr>
          <p:nvPr>
            <p:ph type="body" sz="quarter" idx="10"/>
          </p:nvPr>
        </p:nvSpPr>
        <p:spPr>
          <a:xfrm>
            <a:off x="439924" y="1102270"/>
            <a:ext cx="1508760" cy="4911484"/>
          </a:xfrm>
        </p:spPr>
        <p:txBody>
          <a:bodyPr/>
          <a:lstStyle/>
          <a:p>
            <a:r>
              <a:rPr lang="en-CA" dirty="0" smtClean="0">
                <a:latin typeface="Univers for KPMG" panose="020B0603020202020204" pitchFamily="34" charset="0"/>
              </a:rPr>
              <a:t>The adjacent table presents a portion of the Company’s USA balance sheet segregated into its components as at December 31, 2017.</a:t>
            </a:r>
          </a:p>
          <a:p>
            <a:endParaRPr lang="en-CA" dirty="0">
              <a:latin typeface="Univers for KPMG" panose="020B0603020202020204" pitchFamily="34" charset="0"/>
            </a:endParaRPr>
          </a:p>
          <a:p>
            <a:r>
              <a:rPr lang="en-CA" dirty="0" smtClean="0">
                <a:latin typeface="Univers for KPMG" panose="020B0603020202020204" pitchFamily="34" charset="0"/>
              </a:rPr>
              <a:t>Refer to the following pages for net working capital analysis.</a:t>
            </a:r>
          </a:p>
          <a:p>
            <a:endParaRPr lang="en-CA" dirty="0">
              <a:latin typeface="Univers for KPMG" panose="020B0603020202020204" pitchFamily="34" charset="0"/>
            </a:endParaRPr>
          </a:p>
          <a:p>
            <a:r>
              <a:rPr lang="en-CA" dirty="0" smtClean="0">
                <a:latin typeface="Univers for KPMG" panose="020B0603020202020204" pitchFamily="34" charset="0"/>
              </a:rPr>
              <a:t>See Appendix 5 and Appendix 6 for the India and Switzerland entity stratified balance sheets</a:t>
            </a:r>
            <a:endParaRPr lang="en-CA" dirty="0">
              <a:latin typeface="Univers for KPMG" panose="020B0603020202020204" pitchFamily="34" charset="0"/>
            </a:endParaRPr>
          </a:p>
        </p:txBody>
      </p:sp>
      <p:sp>
        <p:nvSpPr>
          <p:cNvPr id="28" name="TextBox 27"/>
          <p:cNvSpPr txBox="1"/>
          <p:nvPr/>
        </p:nvSpPr>
        <p:spPr>
          <a:xfrm>
            <a:off x="2079257" y="4192830"/>
            <a:ext cx="2967077" cy="92333"/>
          </a:xfrm>
          <a:prstGeom prst="rect">
            <a:avLst/>
          </a:prstGeom>
          <a:noFill/>
        </p:spPr>
        <p:txBody>
          <a:bodyPr wrap="square" lIns="0" tIns="0" rIns="0" bIns="0" rtlCol="0">
            <a:spAutoFit/>
          </a:bodyPr>
          <a:lstStyle/>
          <a:p>
            <a:pPr marL="400050" indent="-400050" defTabSz="914400"/>
            <a:r>
              <a:rPr lang="en-US" sz="600" i="1" dirty="0" smtClean="0">
                <a:solidFill>
                  <a:srgbClr val="000000"/>
                </a:solidFill>
              </a:rPr>
              <a:t>Source : 	Management provided information</a:t>
            </a:r>
            <a:endParaRPr lang="en-US" sz="600" i="1" dirty="0">
              <a:solidFill>
                <a:srgbClr val="000000"/>
              </a:solidFill>
            </a:endParaRPr>
          </a:p>
        </p:txBody>
      </p:sp>
      <p:sp>
        <p:nvSpPr>
          <p:cNvPr id="11" name="Titre 5"/>
          <p:cNvSpPr txBox="1">
            <a:spLocks/>
          </p:cNvSpPr>
          <p:nvPr/>
        </p:nvSpPr>
        <p:spPr bwMode="gray">
          <a:xfrm>
            <a:off x="431800" y="228600"/>
            <a:ext cx="8496000" cy="784830"/>
          </a:xfrm>
          <a:prstGeom prst="rect">
            <a:avLst/>
          </a:prstGeom>
        </p:spPr>
        <p:txBody>
          <a:bodyPr vert="horz" lIns="0" tIns="0" rIns="0" bIns="0" rtlCol="0" anchor="t" anchorCtr="0">
            <a:noAutofit/>
          </a:bodyPr>
          <a:lstStyle>
            <a:lvl1pPr algn="l" defTabSz="914400" rtl="0" eaLnBrk="1" latinLnBrk="0" hangingPunct="1">
              <a:lnSpc>
                <a:spcPct val="70000"/>
              </a:lnSpc>
              <a:spcBef>
                <a:spcPct val="0"/>
              </a:spcBef>
              <a:buNone/>
              <a:defRPr sz="3800" kern="1200">
                <a:solidFill>
                  <a:schemeClr val="tx2"/>
                </a:solidFill>
                <a:latin typeface="+mj-lt"/>
                <a:ea typeface="+mj-ea"/>
                <a:cs typeface="+mj-cs"/>
              </a:defRPr>
            </a:lvl1pPr>
          </a:lstStyle>
          <a:p>
            <a:r>
              <a:rPr lang="en-CA" sz="2400" dirty="0" smtClean="0">
                <a:solidFill>
                  <a:prstClr val="white">
                    <a:lumMod val="50000"/>
                  </a:prstClr>
                </a:solidFill>
              </a:rPr>
              <a:t>Supporting analysis</a:t>
            </a:r>
          </a:p>
          <a:p>
            <a:r>
              <a:rPr lang="en-CA" sz="4000" dirty="0" smtClean="0">
                <a:solidFill>
                  <a:srgbClr val="00338D"/>
                </a:solidFill>
              </a:rPr>
              <a:t>Stratified balance sheet</a:t>
            </a:r>
            <a:endParaRPr lang="en-CA" sz="4000" dirty="0">
              <a:solidFill>
                <a:srgbClr val="00338D"/>
              </a:solidFill>
            </a:endParaRPr>
          </a:p>
        </p:txBody>
      </p:sp>
      <p:sp>
        <p:nvSpPr>
          <p:cNvPr id="10" name="Espace réservé du texte 3"/>
          <p:cNvSpPr>
            <a:spLocks noGrp="1"/>
          </p:cNvSpPr>
          <p:nvPr>
            <p:ph type="body" sz="quarter" idx="4294967295"/>
          </p:nvPr>
        </p:nvSpPr>
        <p:spPr>
          <a:xfrm>
            <a:off x="5866846" y="1118690"/>
            <a:ext cx="3007614" cy="3985706"/>
          </a:xfrm>
          <a:prstGeom prst="rect">
            <a:avLst/>
          </a:prstGeom>
        </p:spPr>
        <p:txBody>
          <a:bodyPr wrap="square">
            <a:spAutoFit/>
          </a:bodyPr>
          <a:lstStyle/>
          <a:p>
            <a:pPr>
              <a:spcBef>
                <a:spcPts val="600"/>
              </a:spcBef>
              <a:spcAft>
                <a:spcPts val="0"/>
              </a:spcAft>
            </a:pPr>
            <a:r>
              <a:rPr lang="en-CA" dirty="0" smtClean="0">
                <a:latin typeface="Univers for KPMG" panose="020B0603020202020204" pitchFamily="34" charset="0"/>
              </a:rPr>
              <a:t>Balance sheet</a:t>
            </a:r>
          </a:p>
          <a:p>
            <a:pPr marL="177800" lvl="2" indent="-177800" algn="just">
              <a:lnSpc>
                <a:spcPts val="1000"/>
              </a:lnSpc>
              <a:spcBef>
                <a:spcPts val="600"/>
              </a:spcBef>
              <a:spcAft>
                <a:spcPts val="0"/>
              </a:spcAft>
              <a:buClr>
                <a:srgbClr val="97989A"/>
              </a:buClr>
              <a:buFont typeface="Arial" pitchFamily="34" charset="0"/>
              <a:buChar char="■"/>
              <a:defRPr/>
            </a:pPr>
            <a:r>
              <a:rPr lang="en-US" b="1" dirty="0">
                <a:solidFill>
                  <a:srgbClr val="000000"/>
                </a:solidFill>
                <a:latin typeface="Univers for KPMG" panose="020B0603020202020204" pitchFamily="34" charset="0"/>
                <a:cs typeface="Arial" pitchFamily="34" charset="0"/>
              </a:rPr>
              <a:t>Accounts receivable: </a:t>
            </a:r>
            <a:r>
              <a:rPr lang="en-US" dirty="0">
                <a:solidFill>
                  <a:srgbClr val="000000"/>
                </a:solidFill>
                <a:latin typeface="Univers for KPMG" panose="020B0603020202020204" pitchFamily="34" charset="0"/>
                <a:cs typeface="Arial" pitchFamily="34" charset="0"/>
              </a:rPr>
              <a:t>Includes third party trade AR.  The Company has minimal bad debt accounts due to the nature of it’s customer profile (hospitals, large </a:t>
            </a:r>
            <a:r>
              <a:rPr lang="en-US" dirty="0" smtClean="0">
                <a:solidFill>
                  <a:srgbClr val="000000"/>
                </a:solidFill>
                <a:latin typeface="Univers for KPMG" panose="020B0603020202020204" pitchFamily="34" charset="0"/>
                <a:cs typeface="Arial" pitchFamily="34" charset="0"/>
              </a:rPr>
              <a:t>corporations </a:t>
            </a:r>
            <a:r>
              <a:rPr lang="en-US" dirty="0">
                <a:solidFill>
                  <a:srgbClr val="000000"/>
                </a:solidFill>
                <a:latin typeface="Univers for KPMG" panose="020B0603020202020204" pitchFamily="34" charset="0"/>
                <a:cs typeface="Arial" pitchFamily="34" charset="0"/>
              </a:rPr>
              <a:t>etc</a:t>
            </a:r>
            <a:r>
              <a:rPr lang="en-US" dirty="0" smtClean="0">
                <a:solidFill>
                  <a:srgbClr val="000000"/>
                </a:solidFill>
                <a:latin typeface="Univers for KPMG" panose="020B0603020202020204" pitchFamily="34" charset="0"/>
                <a:cs typeface="Arial" pitchFamily="34" charset="0"/>
              </a:rPr>
              <a:t>.).</a:t>
            </a:r>
            <a:endParaRPr lang="en-US" dirty="0">
              <a:solidFill>
                <a:srgbClr val="000000"/>
              </a:solidFill>
              <a:latin typeface="Univers for KPMG" panose="020B0603020202020204" pitchFamily="34" charset="0"/>
              <a:cs typeface="Arial" pitchFamily="34" charset="0"/>
            </a:endParaRPr>
          </a:p>
          <a:p>
            <a:pPr marL="177800" lvl="2" indent="-177800" algn="just">
              <a:lnSpc>
                <a:spcPts val="1000"/>
              </a:lnSpc>
              <a:spcBef>
                <a:spcPts val="600"/>
              </a:spcBef>
              <a:spcAft>
                <a:spcPts val="0"/>
              </a:spcAft>
              <a:buClr>
                <a:srgbClr val="97989A"/>
              </a:buClr>
              <a:buFont typeface="Arial" pitchFamily="34" charset="0"/>
              <a:buChar char="■"/>
              <a:defRPr/>
            </a:pPr>
            <a:r>
              <a:rPr lang="en-US" b="1" dirty="0">
                <a:solidFill>
                  <a:srgbClr val="000000"/>
                </a:solidFill>
                <a:latin typeface="Univers for KPMG" panose="020B0603020202020204" pitchFamily="34" charset="0"/>
                <a:cs typeface="Arial" pitchFamily="34" charset="0"/>
              </a:rPr>
              <a:t>Accrued revenue: </a:t>
            </a:r>
            <a:r>
              <a:rPr lang="en-US" dirty="0">
                <a:solidFill>
                  <a:srgbClr val="000000"/>
                </a:solidFill>
                <a:latin typeface="Univers for KPMG" panose="020B0603020202020204" pitchFamily="34" charset="0"/>
                <a:cs typeface="Arial" pitchFamily="34" charset="0"/>
              </a:rPr>
              <a:t>Revenue performed in the </a:t>
            </a:r>
            <a:r>
              <a:rPr lang="en-US" dirty="0" smtClean="0">
                <a:solidFill>
                  <a:srgbClr val="000000"/>
                </a:solidFill>
                <a:latin typeface="Univers for KPMG" panose="020B0603020202020204" pitchFamily="34" charset="0"/>
                <a:cs typeface="Arial" pitchFamily="34" charset="0"/>
              </a:rPr>
              <a:t>period that has not yet been invoiced</a:t>
            </a:r>
            <a:r>
              <a:rPr lang="en-US" dirty="0">
                <a:solidFill>
                  <a:srgbClr val="000000"/>
                </a:solidFill>
                <a:latin typeface="Univers for KPMG" panose="020B0603020202020204" pitchFamily="34" charset="0"/>
                <a:cs typeface="Arial" pitchFamily="34" charset="0"/>
              </a:rPr>
              <a:t>.</a:t>
            </a:r>
          </a:p>
          <a:p>
            <a:pPr marL="177800" lvl="2" indent="-177800" algn="just">
              <a:lnSpc>
                <a:spcPts val="1000"/>
              </a:lnSpc>
              <a:spcBef>
                <a:spcPts val="600"/>
              </a:spcBef>
              <a:spcAft>
                <a:spcPts val="0"/>
              </a:spcAft>
              <a:buClr>
                <a:srgbClr val="97989A"/>
              </a:buClr>
              <a:buFont typeface="Arial" pitchFamily="34" charset="0"/>
              <a:buChar char="■"/>
              <a:defRPr/>
            </a:pPr>
            <a:r>
              <a:rPr lang="en-US" b="1" dirty="0">
                <a:solidFill>
                  <a:srgbClr val="000000"/>
                </a:solidFill>
                <a:latin typeface="Univers for KPMG" panose="020B0603020202020204" pitchFamily="34" charset="0"/>
                <a:cs typeface="Arial" pitchFamily="34" charset="0"/>
              </a:rPr>
              <a:t>Prepaid expenses: </a:t>
            </a:r>
            <a:r>
              <a:rPr lang="en-US" dirty="0">
                <a:solidFill>
                  <a:srgbClr val="000000"/>
                </a:solidFill>
                <a:latin typeface="Univers for KPMG" panose="020B0603020202020204" pitchFamily="34" charset="0"/>
                <a:cs typeface="Arial" pitchFamily="34" charset="0"/>
              </a:rPr>
              <a:t>This account largely relates to prepaid insurance and </a:t>
            </a:r>
            <a:r>
              <a:rPr lang="en-US" dirty="0" smtClean="0">
                <a:solidFill>
                  <a:srgbClr val="000000"/>
                </a:solidFill>
                <a:latin typeface="Univers for KPMG" panose="020B0603020202020204" pitchFamily="34" charset="0"/>
                <a:cs typeface="Arial" pitchFamily="34" charset="0"/>
              </a:rPr>
              <a:t>the funding of cash to India and Switzerland.</a:t>
            </a:r>
            <a:endParaRPr lang="en-US" dirty="0">
              <a:solidFill>
                <a:srgbClr val="000000"/>
              </a:solidFill>
              <a:latin typeface="Univers for KPMG" panose="020B0603020202020204" pitchFamily="34" charset="0"/>
              <a:cs typeface="Arial" pitchFamily="34" charset="0"/>
            </a:endParaRPr>
          </a:p>
          <a:p>
            <a:pPr marL="177800" lvl="2" indent="-177800" algn="just">
              <a:lnSpc>
                <a:spcPts val="1000"/>
              </a:lnSpc>
              <a:spcBef>
                <a:spcPts val="600"/>
              </a:spcBef>
              <a:spcAft>
                <a:spcPts val="0"/>
              </a:spcAft>
              <a:buClr>
                <a:srgbClr val="97989A"/>
              </a:buClr>
              <a:buFont typeface="Arial" pitchFamily="34" charset="0"/>
              <a:buChar char="■"/>
              <a:defRPr/>
            </a:pPr>
            <a:r>
              <a:rPr lang="en-US" b="1" dirty="0">
                <a:solidFill>
                  <a:srgbClr val="000000"/>
                </a:solidFill>
                <a:latin typeface="Univers for KPMG" panose="020B0603020202020204" pitchFamily="34" charset="0"/>
                <a:cs typeface="Arial" pitchFamily="34" charset="0"/>
              </a:rPr>
              <a:t>Accounts payable: </a:t>
            </a:r>
            <a:r>
              <a:rPr lang="en-US" dirty="0" smtClean="0">
                <a:solidFill>
                  <a:srgbClr val="000000"/>
                </a:solidFill>
                <a:latin typeface="Univers for KPMG" panose="020B0603020202020204" pitchFamily="34" charset="0"/>
                <a:cs typeface="Arial" pitchFamily="34" charset="0"/>
              </a:rPr>
              <a:t>Third party trade payables.</a:t>
            </a:r>
            <a:endParaRPr lang="en-US" dirty="0">
              <a:solidFill>
                <a:srgbClr val="000000"/>
              </a:solidFill>
              <a:latin typeface="Univers for KPMG" panose="020B0603020202020204" pitchFamily="34" charset="0"/>
              <a:cs typeface="Arial" pitchFamily="34" charset="0"/>
            </a:endParaRPr>
          </a:p>
          <a:p>
            <a:pPr marL="177800" lvl="2" indent="-177800" algn="just">
              <a:lnSpc>
                <a:spcPts val="1000"/>
              </a:lnSpc>
              <a:spcBef>
                <a:spcPts val="600"/>
              </a:spcBef>
              <a:spcAft>
                <a:spcPts val="0"/>
              </a:spcAft>
              <a:buClr>
                <a:srgbClr val="97989A"/>
              </a:buClr>
              <a:buFont typeface="Arial" pitchFamily="34" charset="0"/>
              <a:buChar char="■"/>
              <a:defRPr/>
            </a:pPr>
            <a:r>
              <a:rPr lang="en-US" b="1" dirty="0">
                <a:solidFill>
                  <a:srgbClr val="000000"/>
                </a:solidFill>
                <a:latin typeface="Univers for KPMG" panose="020B0603020202020204" pitchFamily="34" charset="0"/>
                <a:cs typeface="Arial" pitchFamily="34" charset="0"/>
              </a:rPr>
              <a:t>Accrued liabilities: </a:t>
            </a:r>
            <a:r>
              <a:rPr lang="en-US" dirty="0">
                <a:solidFill>
                  <a:srgbClr val="000000"/>
                </a:solidFill>
                <a:latin typeface="Univers for KPMG" panose="020B0603020202020204" pitchFamily="34" charset="0"/>
                <a:cs typeface="Arial" pitchFamily="34" charset="0"/>
              </a:rPr>
              <a:t>Predominantly consists of accrued payroll. </a:t>
            </a:r>
          </a:p>
          <a:p>
            <a:pPr marL="177800" lvl="2" indent="-177800" algn="just">
              <a:lnSpc>
                <a:spcPts val="1000"/>
              </a:lnSpc>
              <a:spcBef>
                <a:spcPts val="600"/>
              </a:spcBef>
              <a:spcAft>
                <a:spcPts val="0"/>
              </a:spcAft>
              <a:buClr>
                <a:srgbClr val="97989A"/>
              </a:buClr>
              <a:buFont typeface="Arial" pitchFamily="34" charset="0"/>
              <a:buChar char="■"/>
              <a:defRPr/>
            </a:pPr>
            <a:r>
              <a:rPr lang="en-US" b="1" dirty="0" smtClean="0">
                <a:solidFill>
                  <a:srgbClr val="000000"/>
                </a:solidFill>
                <a:latin typeface="Univers for KPMG" panose="020B0603020202020204" pitchFamily="34" charset="0"/>
                <a:cs typeface="Arial" pitchFamily="34" charset="0"/>
              </a:rPr>
              <a:t>Fixed </a:t>
            </a:r>
            <a:r>
              <a:rPr lang="en-US" b="1" dirty="0">
                <a:solidFill>
                  <a:srgbClr val="000000"/>
                </a:solidFill>
                <a:latin typeface="Univers for KPMG" panose="020B0603020202020204" pitchFamily="34" charset="0"/>
                <a:cs typeface="Arial" pitchFamily="34" charset="0"/>
              </a:rPr>
              <a:t>assets: </a:t>
            </a:r>
            <a:r>
              <a:rPr lang="en-US" dirty="0" smtClean="0">
                <a:solidFill>
                  <a:srgbClr val="000000"/>
                </a:solidFill>
                <a:latin typeface="Univers for KPMG" panose="020B0603020202020204" pitchFamily="34" charset="0"/>
                <a:cs typeface="Arial" pitchFamily="34" charset="0"/>
              </a:rPr>
              <a:t>Leasehold improvements and office furniture and equipment.</a:t>
            </a:r>
          </a:p>
          <a:p>
            <a:pPr marL="177800" lvl="2" indent="-177800" algn="just">
              <a:lnSpc>
                <a:spcPts val="1000"/>
              </a:lnSpc>
              <a:spcBef>
                <a:spcPts val="600"/>
              </a:spcBef>
              <a:spcAft>
                <a:spcPts val="0"/>
              </a:spcAft>
              <a:buClr>
                <a:srgbClr val="97989A"/>
              </a:buClr>
              <a:buFont typeface="Arial" pitchFamily="34" charset="0"/>
              <a:buChar char="■"/>
              <a:defRPr/>
            </a:pPr>
            <a:r>
              <a:rPr lang="en-US" b="1" dirty="0" smtClean="0">
                <a:solidFill>
                  <a:srgbClr val="000000"/>
                </a:solidFill>
                <a:latin typeface="Univers for KPMG" panose="020B0603020202020204" pitchFamily="34" charset="0"/>
                <a:cs typeface="Arial" pitchFamily="34" charset="0"/>
              </a:rPr>
              <a:t>Intangibles: </a:t>
            </a:r>
            <a:r>
              <a:rPr lang="en-US" dirty="0" smtClean="0">
                <a:solidFill>
                  <a:srgbClr val="000000"/>
                </a:solidFill>
                <a:latin typeface="Univers for KPMG" panose="020B0603020202020204" pitchFamily="34" charset="0"/>
                <a:cs typeface="Arial" pitchFamily="34" charset="0"/>
              </a:rPr>
              <a:t>Goodwill from previous acquisitions.</a:t>
            </a:r>
            <a:endParaRPr lang="en-US" b="1" dirty="0">
              <a:solidFill>
                <a:srgbClr val="000000"/>
              </a:solidFill>
              <a:latin typeface="Univers for KPMG" panose="020B0603020202020204" pitchFamily="34" charset="0"/>
              <a:cs typeface="Arial" pitchFamily="34" charset="0"/>
            </a:endParaRPr>
          </a:p>
          <a:p>
            <a:pPr marL="177800" lvl="2" indent="-177800" algn="just">
              <a:lnSpc>
                <a:spcPts val="1000"/>
              </a:lnSpc>
              <a:spcBef>
                <a:spcPts val="600"/>
              </a:spcBef>
              <a:spcAft>
                <a:spcPts val="0"/>
              </a:spcAft>
              <a:buClr>
                <a:srgbClr val="97989A"/>
              </a:buClr>
              <a:buFont typeface="Arial" pitchFamily="34" charset="0"/>
              <a:buChar char="■"/>
              <a:defRPr/>
            </a:pPr>
            <a:r>
              <a:rPr lang="en-US" b="1" dirty="0">
                <a:solidFill>
                  <a:srgbClr val="000000"/>
                </a:solidFill>
                <a:latin typeface="Univers for KPMG" panose="020B0603020202020204" pitchFamily="34" charset="0"/>
                <a:cs typeface="Arial" pitchFamily="34" charset="0"/>
              </a:rPr>
              <a:t>Software development</a:t>
            </a:r>
            <a:r>
              <a:rPr lang="en-US" b="1" dirty="0" smtClean="0">
                <a:solidFill>
                  <a:srgbClr val="000000"/>
                </a:solidFill>
                <a:latin typeface="Univers for KPMG" panose="020B0603020202020204" pitchFamily="34" charset="0"/>
                <a:cs typeface="Arial" pitchFamily="34" charset="0"/>
              </a:rPr>
              <a:t>: </a:t>
            </a:r>
            <a:r>
              <a:rPr lang="en-US" dirty="0" smtClean="0">
                <a:solidFill>
                  <a:srgbClr val="000000"/>
                </a:solidFill>
                <a:latin typeface="Univers for KPMG" panose="020B0603020202020204" pitchFamily="34" charset="0"/>
                <a:cs typeface="Arial" pitchFamily="34" charset="0"/>
              </a:rPr>
              <a:t>The Company capitalizes its development costs related to the customization of specific staffing modules.</a:t>
            </a:r>
            <a:endParaRPr lang="en-US" b="1" dirty="0">
              <a:solidFill>
                <a:srgbClr val="000000"/>
              </a:solidFill>
              <a:latin typeface="Univers for KPMG" panose="020B0603020202020204" pitchFamily="34" charset="0"/>
              <a:cs typeface="Arial" pitchFamily="34" charset="0"/>
            </a:endParaRPr>
          </a:p>
          <a:p>
            <a:pPr marL="177800" lvl="2" indent="-177800" algn="just">
              <a:lnSpc>
                <a:spcPts val="1000"/>
              </a:lnSpc>
              <a:spcBef>
                <a:spcPts val="600"/>
              </a:spcBef>
              <a:spcAft>
                <a:spcPts val="0"/>
              </a:spcAft>
              <a:buClr>
                <a:srgbClr val="97989A"/>
              </a:buClr>
              <a:buFont typeface="Arial" pitchFamily="34" charset="0"/>
              <a:buChar char="■"/>
              <a:defRPr/>
            </a:pPr>
            <a:r>
              <a:rPr lang="en-US" b="1" dirty="0" smtClean="0">
                <a:solidFill>
                  <a:srgbClr val="000000"/>
                </a:solidFill>
                <a:latin typeface="Univers for KPMG" panose="020B0603020202020204" pitchFamily="34" charset="0"/>
                <a:cs typeface="Arial" pitchFamily="34" charset="0"/>
              </a:rPr>
              <a:t>Due from affiliates:</a:t>
            </a:r>
            <a:r>
              <a:rPr lang="en-US" dirty="0" smtClean="0">
                <a:solidFill>
                  <a:srgbClr val="000000"/>
                </a:solidFill>
                <a:latin typeface="Univers for KPMG" panose="020B0603020202020204" pitchFamily="34" charset="0"/>
                <a:cs typeface="Arial" pitchFamily="34" charset="0"/>
              </a:rPr>
              <a:t> Management loan receivables between from the Company’s owners and receivables from the India and Switzerland entities for start </a:t>
            </a:r>
            <a:r>
              <a:rPr lang="en-US" dirty="0">
                <a:solidFill>
                  <a:srgbClr val="000000"/>
                </a:solidFill>
                <a:latin typeface="Univers for KPMG" panose="020B0603020202020204" pitchFamily="34" charset="0"/>
                <a:cs typeface="Arial" pitchFamily="34" charset="0"/>
              </a:rPr>
              <a:t>u</a:t>
            </a:r>
            <a:r>
              <a:rPr lang="en-US" dirty="0" smtClean="0">
                <a:solidFill>
                  <a:srgbClr val="000000"/>
                </a:solidFill>
                <a:latin typeface="Univers for KPMG" panose="020B0603020202020204" pitchFamily="34" charset="0"/>
                <a:cs typeface="Arial" pitchFamily="34" charset="0"/>
              </a:rPr>
              <a:t>p costs.</a:t>
            </a:r>
            <a:endParaRPr lang="en-US" b="1" dirty="0">
              <a:solidFill>
                <a:srgbClr val="000000"/>
              </a:solidFill>
              <a:latin typeface="Univers for KPMG" panose="020B0603020202020204" pitchFamily="34" charset="0"/>
              <a:cs typeface="Arial" pitchFamily="34" charset="0"/>
            </a:endParaRPr>
          </a:p>
          <a:p>
            <a:pPr lvl="4">
              <a:lnSpc>
                <a:spcPts val="1000"/>
              </a:lnSpc>
              <a:spcBef>
                <a:spcPts val="600"/>
              </a:spcBef>
              <a:spcAft>
                <a:spcPts val="0"/>
              </a:spcAft>
              <a:buClr>
                <a:srgbClr val="97989A"/>
              </a:buClr>
              <a:buFont typeface="Arial" panose="020B0604020202020204" pitchFamily="34" charset="0"/>
              <a:buChar char="•"/>
              <a:defRPr/>
            </a:pPr>
            <a:endParaRPr lang="en-US" dirty="0">
              <a:solidFill>
                <a:schemeClr val="tx1"/>
              </a:solidFill>
              <a:latin typeface="Univers for KPMG" panose="020B0603020202020204" pitchFamily="34" charset="0"/>
            </a:endParaRPr>
          </a:p>
        </p:txBody>
      </p:sp>
      <p:pic>
        <p:nvPicPr>
          <p:cNvPr id="3" name="Picture 2"/>
          <p:cNvPicPr>
            <a:picLocks noChangeAspect="1"/>
          </p:cNvPicPr>
          <p:nvPr/>
        </p:nvPicPr>
        <p:blipFill>
          <a:blip r:embed="rId3"/>
          <a:stretch>
            <a:fillRect/>
          </a:stretch>
        </p:blipFill>
        <p:spPr>
          <a:xfrm>
            <a:off x="2079257" y="1102270"/>
            <a:ext cx="3657016" cy="3090560"/>
          </a:xfrm>
          <a:prstGeom prst="rect">
            <a:avLst/>
          </a:prstGeom>
        </p:spPr>
      </p:pic>
    </p:spTree>
    <p:extLst>
      <p:ext uri="{BB962C8B-B14F-4D97-AF65-F5344CB8AC3E}">
        <p14:creationId xmlns:p14="http://schemas.microsoft.com/office/powerpoint/2010/main" val="1904313090"/>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p:cNvPicPr>
            <a:picLocks noChangeAspect="1"/>
          </p:cNvPicPr>
          <p:nvPr/>
        </p:nvPicPr>
        <p:blipFill>
          <a:blip r:embed="rId4"/>
          <a:stretch>
            <a:fillRect/>
          </a:stretch>
        </p:blipFill>
        <p:spPr>
          <a:xfrm>
            <a:off x="1834434" y="2904680"/>
            <a:ext cx="5985386" cy="2481173"/>
          </a:xfrm>
          <a:prstGeom prst="rect">
            <a:avLst/>
          </a:prstGeom>
        </p:spPr>
      </p:pic>
      <p:sp>
        <p:nvSpPr>
          <p:cNvPr id="9" name="Text Placeholder 7"/>
          <p:cNvSpPr>
            <a:spLocks noGrp="1"/>
          </p:cNvSpPr>
          <p:nvPr>
            <p:ph type="body" sz="quarter" idx="10"/>
          </p:nvPr>
        </p:nvSpPr>
        <p:spPr>
          <a:xfrm>
            <a:off x="439924" y="1102270"/>
            <a:ext cx="1508760" cy="4911484"/>
          </a:xfrm>
        </p:spPr>
        <p:txBody>
          <a:bodyPr/>
          <a:lstStyle/>
          <a:p>
            <a:r>
              <a:rPr lang="en-CA" dirty="0" smtClean="0">
                <a:latin typeface="Univers for KPMG" panose="020B0603020202020204" pitchFamily="34" charset="0"/>
              </a:rPr>
              <a:t>Average net </a:t>
            </a:r>
            <a:r>
              <a:rPr lang="en-CA" dirty="0">
                <a:latin typeface="Univers for KPMG" panose="020B0603020202020204" pitchFamily="34" charset="0"/>
              </a:rPr>
              <a:t>working capital </a:t>
            </a:r>
            <a:r>
              <a:rPr lang="en-CA" dirty="0" smtClean="0">
                <a:latin typeface="Univers for KPMG" panose="020B0603020202020204" pitchFamily="34" charset="0"/>
              </a:rPr>
              <a:t>decreases from $11.9 million to $11.0 million in FY17 subsequent to potential adjustments identified during due diligence.</a:t>
            </a:r>
          </a:p>
          <a:p>
            <a:r>
              <a:rPr lang="en-CA" dirty="0" smtClean="0">
                <a:latin typeface="Univers for KPMG" panose="020B0603020202020204" pitchFamily="34" charset="0"/>
              </a:rPr>
              <a:t>Refer </a:t>
            </a:r>
            <a:r>
              <a:rPr lang="en-CA" dirty="0">
                <a:latin typeface="Univers for KPMG" panose="020B0603020202020204" pitchFamily="34" charset="0"/>
              </a:rPr>
              <a:t>to the following pages for </a:t>
            </a:r>
            <a:r>
              <a:rPr lang="en-CA" dirty="0" smtClean="0">
                <a:latin typeface="Univers for KPMG" panose="020B0603020202020204" pitchFamily="34" charset="0"/>
              </a:rPr>
              <a:t>further details on potential adjustments.</a:t>
            </a:r>
            <a:endParaRPr lang="en-CA" dirty="0">
              <a:latin typeface="Univers for KPMG" panose="020B0603020202020204" pitchFamily="34" charset="0"/>
            </a:endParaRPr>
          </a:p>
        </p:txBody>
      </p:sp>
      <p:sp>
        <p:nvSpPr>
          <p:cNvPr id="28" name="TextBox 27"/>
          <p:cNvSpPr txBox="1"/>
          <p:nvPr/>
        </p:nvSpPr>
        <p:spPr>
          <a:xfrm>
            <a:off x="2163719" y="5427716"/>
            <a:ext cx="2967077" cy="92333"/>
          </a:xfrm>
          <a:prstGeom prst="rect">
            <a:avLst/>
          </a:prstGeom>
          <a:noFill/>
        </p:spPr>
        <p:txBody>
          <a:bodyPr wrap="square" lIns="0" tIns="0" rIns="0" bIns="0" rtlCol="0">
            <a:spAutoFit/>
          </a:bodyPr>
          <a:lstStyle/>
          <a:p>
            <a:pPr marL="400050" indent="-400050" defTabSz="914400"/>
            <a:r>
              <a:rPr lang="en-US" sz="600" i="1" dirty="0" smtClean="0">
                <a:solidFill>
                  <a:srgbClr val="000000"/>
                </a:solidFill>
              </a:rPr>
              <a:t>Source : 	Management provided information</a:t>
            </a:r>
            <a:endParaRPr lang="en-US" sz="600" i="1" dirty="0">
              <a:solidFill>
                <a:srgbClr val="000000"/>
              </a:solidFill>
            </a:endParaRPr>
          </a:p>
        </p:txBody>
      </p:sp>
      <p:sp>
        <p:nvSpPr>
          <p:cNvPr id="11" name="Titre 5"/>
          <p:cNvSpPr txBox="1">
            <a:spLocks/>
          </p:cNvSpPr>
          <p:nvPr/>
        </p:nvSpPr>
        <p:spPr bwMode="gray">
          <a:xfrm>
            <a:off x="431800" y="228600"/>
            <a:ext cx="8496000" cy="784830"/>
          </a:xfrm>
          <a:prstGeom prst="rect">
            <a:avLst/>
          </a:prstGeom>
        </p:spPr>
        <p:txBody>
          <a:bodyPr vert="horz" lIns="0" tIns="0" rIns="0" bIns="0" rtlCol="0" anchor="t" anchorCtr="0">
            <a:noAutofit/>
          </a:bodyPr>
          <a:lstStyle>
            <a:lvl1pPr algn="l" defTabSz="914400" rtl="0" eaLnBrk="1" latinLnBrk="0" hangingPunct="1">
              <a:lnSpc>
                <a:spcPct val="70000"/>
              </a:lnSpc>
              <a:spcBef>
                <a:spcPct val="0"/>
              </a:spcBef>
              <a:buNone/>
              <a:defRPr sz="3800" kern="1200">
                <a:solidFill>
                  <a:schemeClr val="tx2"/>
                </a:solidFill>
                <a:latin typeface="+mj-lt"/>
                <a:ea typeface="+mj-ea"/>
                <a:cs typeface="+mj-cs"/>
              </a:defRPr>
            </a:lvl1pPr>
          </a:lstStyle>
          <a:p>
            <a:r>
              <a:rPr lang="en-CA" sz="2400" dirty="0" smtClean="0">
                <a:solidFill>
                  <a:prstClr val="white">
                    <a:lumMod val="50000"/>
                  </a:prstClr>
                </a:solidFill>
              </a:rPr>
              <a:t>Supporting analysis</a:t>
            </a:r>
            <a:r>
              <a:rPr lang="en-CA" dirty="0" smtClean="0">
                <a:solidFill>
                  <a:srgbClr val="00338D"/>
                </a:solidFill>
              </a:rPr>
              <a:t/>
            </a:r>
            <a:br>
              <a:rPr lang="en-CA" dirty="0" smtClean="0">
                <a:solidFill>
                  <a:srgbClr val="00338D"/>
                </a:solidFill>
              </a:rPr>
            </a:br>
            <a:r>
              <a:rPr lang="en-CA" sz="4000" dirty="0" smtClean="0">
                <a:solidFill>
                  <a:srgbClr val="00338D"/>
                </a:solidFill>
              </a:rPr>
              <a:t>Net working capital - Overview</a:t>
            </a:r>
            <a:endParaRPr lang="en-CA" sz="4000" dirty="0">
              <a:solidFill>
                <a:srgbClr val="00338D"/>
              </a:solidFill>
            </a:endParaRPr>
          </a:p>
        </p:txBody>
      </p:sp>
      <p:sp>
        <p:nvSpPr>
          <p:cNvPr id="6" name="Espace réservé du texte 3"/>
          <p:cNvSpPr>
            <a:spLocks noGrp="1"/>
          </p:cNvSpPr>
          <p:nvPr>
            <p:ph type="body" sz="quarter" idx="4294967295"/>
          </p:nvPr>
        </p:nvSpPr>
        <p:spPr>
          <a:xfrm>
            <a:off x="5935845" y="1114491"/>
            <a:ext cx="2405898" cy="1246495"/>
          </a:xfrm>
          <a:prstGeom prst="rect">
            <a:avLst/>
          </a:prstGeom>
          <a:ln>
            <a:solidFill>
              <a:srgbClr val="00338D"/>
            </a:solidFill>
          </a:ln>
        </p:spPr>
        <p:txBody>
          <a:bodyPr wrap="square" lIns="45720" tIns="45720" rIns="45720" bIns="45720">
            <a:spAutoFit/>
          </a:bodyPr>
          <a:lstStyle/>
          <a:p>
            <a:pPr>
              <a:spcAft>
                <a:spcPts val="300"/>
              </a:spcAft>
              <a:buClr>
                <a:srgbClr val="00338D"/>
              </a:buClr>
            </a:pPr>
            <a:r>
              <a:rPr lang="en-CA" sz="700" dirty="0">
                <a:solidFill>
                  <a:srgbClr val="00338D"/>
                </a:solidFill>
                <a:latin typeface="Univers for KPMG" panose="020B0603020202020204" pitchFamily="34" charset="0"/>
              </a:rPr>
              <a:t>Basis of presentation</a:t>
            </a:r>
          </a:p>
          <a:p>
            <a:pPr marL="171450" indent="-171450" algn="just">
              <a:spcAft>
                <a:spcPts val="300"/>
              </a:spcAft>
              <a:buClr>
                <a:srgbClr val="00338D"/>
              </a:buClr>
              <a:buFont typeface="Arial" panose="020B0604020202020204" pitchFamily="34" charset="0"/>
              <a:buChar char="■"/>
            </a:pPr>
            <a:r>
              <a:rPr lang="en-US" sz="700" b="0" dirty="0" smtClean="0">
                <a:solidFill>
                  <a:srgbClr val="00338D"/>
                </a:solidFill>
                <a:latin typeface="Univers for KPMG" panose="020B0603020202020204" pitchFamily="34" charset="0"/>
              </a:rPr>
              <a:t>The net </a:t>
            </a:r>
            <a:r>
              <a:rPr lang="en-US" sz="700" b="0" dirty="0">
                <a:solidFill>
                  <a:srgbClr val="00338D"/>
                </a:solidFill>
                <a:latin typeface="Univers for KPMG" panose="020B0603020202020204" pitchFamily="34" charset="0"/>
              </a:rPr>
              <a:t>w</a:t>
            </a:r>
            <a:r>
              <a:rPr lang="en-US" sz="700" b="0" dirty="0" smtClean="0">
                <a:solidFill>
                  <a:srgbClr val="00338D"/>
                </a:solidFill>
                <a:latin typeface="Univers for KPMG" panose="020B0603020202020204" pitchFamily="34" charset="0"/>
              </a:rPr>
              <a:t>orking </a:t>
            </a:r>
            <a:r>
              <a:rPr lang="en-US" sz="700" b="0" dirty="0">
                <a:solidFill>
                  <a:srgbClr val="00338D"/>
                </a:solidFill>
                <a:latin typeface="Univers for KPMG" panose="020B0603020202020204" pitchFamily="34" charset="0"/>
              </a:rPr>
              <a:t>c</a:t>
            </a:r>
            <a:r>
              <a:rPr lang="en-US" sz="700" b="0" dirty="0" smtClean="0">
                <a:solidFill>
                  <a:srgbClr val="00338D"/>
                </a:solidFill>
                <a:latin typeface="Univers for KPMG" panose="020B0603020202020204" pitchFamily="34" charset="0"/>
              </a:rPr>
              <a:t>apital normalization schedule summarizes potential </a:t>
            </a:r>
            <a:r>
              <a:rPr lang="en-US" sz="700" b="0" dirty="0">
                <a:solidFill>
                  <a:srgbClr val="00338D"/>
                </a:solidFill>
                <a:latin typeface="Univers for KPMG" panose="020B0603020202020204" pitchFamily="34" charset="0"/>
              </a:rPr>
              <a:t>adjustments </a:t>
            </a:r>
            <a:r>
              <a:rPr lang="en-US" sz="700" b="0" dirty="0" smtClean="0">
                <a:solidFill>
                  <a:srgbClr val="00338D"/>
                </a:solidFill>
                <a:latin typeface="Univers for KPMG" panose="020B0603020202020204" pitchFamily="34" charset="0"/>
              </a:rPr>
              <a:t>to </a:t>
            </a:r>
            <a:r>
              <a:rPr lang="en-US" sz="700" b="0" dirty="0">
                <a:solidFill>
                  <a:srgbClr val="00338D"/>
                </a:solidFill>
                <a:latin typeface="Univers for KPMG" panose="020B0603020202020204" pitchFamily="34" charset="0"/>
              </a:rPr>
              <a:t>be considered which were identified for the fiscal </a:t>
            </a:r>
            <a:r>
              <a:rPr lang="en-US" sz="700" b="0" dirty="0" smtClean="0">
                <a:solidFill>
                  <a:srgbClr val="00338D"/>
                </a:solidFill>
                <a:latin typeface="Univers for KPMG" panose="020B0603020202020204" pitchFamily="34" charset="0"/>
              </a:rPr>
              <a:t>year ended December 31</a:t>
            </a:r>
            <a:r>
              <a:rPr lang="en-US" sz="700" b="0" dirty="0">
                <a:solidFill>
                  <a:srgbClr val="00338D"/>
                </a:solidFill>
                <a:latin typeface="Univers for KPMG" panose="020B0603020202020204" pitchFamily="34" charset="0"/>
              </a:rPr>
              <a:t>, </a:t>
            </a:r>
            <a:r>
              <a:rPr lang="en-US" sz="700" b="0" dirty="0" smtClean="0">
                <a:solidFill>
                  <a:srgbClr val="00338D"/>
                </a:solidFill>
                <a:latin typeface="Univers for KPMG" panose="020B0603020202020204" pitchFamily="34" charset="0"/>
              </a:rPr>
              <a:t>2016 and 2017.</a:t>
            </a:r>
            <a:endParaRPr lang="en-US" sz="700" b="0" dirty="0">
              <a:solidFill>
                <a:srgbClr val="00338D"/>
              </a:solidFill>
              <a:latin typeface="Univers for KPMG" panose="020B0603020202020204" pitchFamily="34" charset="0"/>
            </a:endParaRPr>
          </a:p>
          <a:p>
            <a:pPr marL="171450" lvl="2" indent="-171450" algn="just">
              <a:spcAft>
                <a:spcPts val="300"/>
              </a:spcAft>
              <a:buClr>
                <a:srgbClr val="00338D"/>
              </a:buClr>
              <a:buFont typeface="Arial" panose="020B0604020202020204" pitchFamily="34" charset="0"/>
              <a:buChar char="■"/>
            </a:pPr>
            <a:r>
              <a:rPr lang="en-US" sz="700" dirty="0">
                <a:solidFill>
                  <a:srgbClr val="00338D"/>
                </a:solidFill>
                <a:latin typeface="Univers for KPMG" panose="020B0603020202020204" pitchFamily="34" charset="0"/>
              </a:rPr>
              <a:t>The proposed adjustments are not necessarily all-inclusive and are based on information provided by Management to date. Further analysis and access to additional information could uncover additional or different proposed adjustments.</a:t>
            </a:r>
          </a:p>
        </p:txBody>
      </p:sp>
      <p:sp>
        <p:nvSpPr>
          <p:cNvPr id="7" name="Text Box 7"/>
          <p:cNvSpPr txBox="1">
            <a:spLocks noChangeArrowheads="1"/>
          </p:cNvSpPr>
          <p:nvPr>
            <p:custDataLst>
              <p:tags r:id="rId1"/>
            </p:custDataLst>
          </p:nvPr>
        </p:nvSpPr>
        <p:spPr bwMode="gray">
          <a:xfrm>
            <a:off x="2163719" y="2946543"/>
            <a:ext cx="3244850" cy="138499"/>
          </a:xfrm>
          <a:prstGeom prst="rect">
            <a:avLst/>
          </a:prstGeom>
          <a:noFill/>
          <a:ln w="6350">
            <a:noFill/>
            <a:miter lim="800000"/>
            <a:headEnd type="none" w="sm" len="sm"/>
            <a:tailEnd type="none" w="sm" len="sm"/>
          </a:ln>
          <a:effectLst/>
        </p:spPr>
        <p:txBody>
          <a:bodyPr lIns="0" tIns="0" rIns="0" bIns="0">
            <a:spAutoFit/>
          </a:bodyPr>
          <a:lstStyle/>
          <a:p>
            <a:pPr defTabSz="762000" eaLnBrk="0" hangingPunct="0"/>
            <a:r>
              <a:rPr lang="en-GB" sz="900" b="1" dirty="0" smtClean="0">
                <a:solidFill>
                  <a:schemeClr val="tx2"/>
                </a:solidFill>
                <a:latin typeface="Univers for KPMG" panose="020B0603020202020204" pitchFamily="34" charset="0"/>
                <a:cs typeface="Arial" pitchFamily="34" charset="0"/>
              </a:rPr>
              <a:t>Net working capital, potentially adjusted</a:t>
            </a:r>
            <a:endParaRPr lang="en-GB" sz="900" b="1" dirty="0">
              <a:solidFill>
                <a:schemeClr val="tx2"/>
              </a:solidFill>
              <a:latin typeface="Univers for KPMG" panose="020B0603020202020204" pitchFamily="34" charset="0"/>
              <a:cs typeface="Arial" pitchFamily="34" charset="0"/>
            </a:endParaRPr>
          </a:p>
        </p:txBody>
      </p:sp>
      <p:sp>
        <p:nvSpPr>
          <p:cNvPr id="10" name="TextBox 9"/>
          <p:cNvSpPr txBox="1"/>
          <p:nvPr/>
        </p:nvSpPr>
        <p:spPr>
          <a:xfrm>
            <a:off x="2163719" y="2485358"/>
            <a:ext cx="2967077" cy="92333"/>
          </a:xfrm>
          <a:prstGeom prst="rect">
            <a:avLst/>
          </a:prstGeom>
          <a:noFill/>
        </p:spPr>
        <p:txBody>
          <a:bodyPr wrap="square" lIns="0" tIns="0" rIns="0" bIns="0" rtlCol="0">
            <a:spAutoFit/>
          </a:bodyPr>
          <a:lstStyle/>
          <a:p>
            <a:pPr marL="400050" indent="-400050" defTabSz="914400"/>
            <a:r>
              <a:rPr lang="en-US" sz="600" i="1" dirty="0" smtClean="0">
                <a:solidFill>
                  <a:srgbClr val="000000"/>
                </a:solidFill>
              </a:rPr>
              <a:t>Source : 	Management provided information</a:t>
            </a:r>
            <a:endParaRPr lang="en-US" sz="600" i="1" dirty="0">
              <a:solidFill>
                <a:srgbClr val="000000"/>
              </a:solidFill>
            </a:endParaRPr>
          </a:p>
        </p:txBody>
      </p:sp>
      <p:pic>
        <p:nvPicPr>
          <p:cNvPr id="2" name="Picture 1"/>
          <p:cNvPicPr>
            <a:picLocks noChangeAspect="1"/>
          </p:cNvPicPr>
          <p:nvPr/>
        </p:nvPicPr>
        <p:blipFill>
          <a:blip r:embed="rId5"/>
          <a:stretch>
            <a:fillRect/>
          </a:stretch>
        </p:blipFill>
        <p:spPr>
          <a:xfrm>
            <a:off x="2163720" y="1099895"/>
            <a:ext cx="3469298" cy="1379840"/>
          </a:xfrm>
          <a:prstGeom prst="rect">
            <a:avLst/>
          </a:prstGeom>
        </p:spPr>
      </p:pic>
    </p:spTree>
    <p:extLst>
      <p:ext uri="{BB962C8B-B14F-4D97-AF65-F5344CB8AC3E}">
        <p14:creationId xmlns:p14="http://schemas.microsoft.com/office/powerpoint/2010/main" val="4233467069"/>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Espace réservé du texte 3"/>
          <p:cNvSpPr>
            <a:spLocks noGrp="1"/>
          </p:cNvSpPr>
          <p:nvPr>
            <p:ph type="body" sz="quarter" idx="4294967295"/>
          </p:nvPr>
        </p:nvSpPr>
        <p:spPr>
          <a:xfrm>
            <a:off x="4282440" y="1211263"/>
            <a:ext cx="4429760" cy="4524315"/>
          </a:xfrm>
          <a:prstGeom prst="rect">
            <a:avLst/>
          </a:prstGeom>
        </p:spPr>
        <p:txBody>
          <a:bodyPr wrap="square">
            <a:spAutoFit/>
          </a:bodyPr>
          <a:lstStyle/>
          <a:p>
            <a:pPr>
              <a:spcBef>
                <a:spcPts val="600"/>
              </a:spcBef>
              <a:spcAft>
                <a:spcPts val="0"/>
              </a:spcAft>
            </a:pPr>
            <a:r>
              <a:rPr lang="en-CA" dirty="0" smtClean="0">
                <a:latin typeface="Univers for KPMG" panose="020B0603020202020204" pitchFamily="34" charset="0"/>
              </a:rPr>
              <a:t>Net working capital adjustments</a:t>
            </a:r>
          </a:p>
          <a:p>
            <a:pPr marL="0" lvl="2" indent="0" algn="just">
              <a:lnSpc>
                <a:spcPts val="1000"/>
              </a:lnSpc>
              <a:spcBef>
                <a:spcPts val="600"/>
              </a:spcBef>
              <a:spcAft>
                <a:spcPts val="0"/>
              </a:spcAft>
              <a:buClr>
                <a:srgbClr val="97989A"/>
              </a:buClr>
              <a:buNone/>
              <a:defRPr/>
            </a:pPr>
            <a:r>
              <a:rPr lang="en-US" dirty="0" smtClean="0">
                <a:solidFill>
                  <a:schemeClr val="tx1"/>
                </a:solidFill>
                <a:latin typeface="Univers for KPMG" panose="020B0603020202020204" pitchFamily="34" charset="0"/>
              </a:rPr>
              <a:t>The following adjustments represent the potential adjustments identified during due diligence that may impact net working capital. </a:t>
            </a:r>
          </a:p>
          <a:p>
            <a:pPr marL="228600" lvl="2" indent="-228600" algn="just">
              <a:lnSpc>
                <a:spcPts val="1000"/>
              </a:lnSpc>
              <a:spcBef>
                <a:spcPts val="600"/>
              </a:spcBef>
              <a:spcAft>
                <a:spcPts val="0"/>
              </a:spcAft>
              <a:buClr>
                <a:srgbClr val="97989A"/>
              </a:buClr>
              <a:buAutoNum type="arabicPeriod"/>
              <a:defRPr/>
            </a:pPr>
            <a:r>
              <a:rPr lang="en-US" b="1" dirty="0" smtClean="0">
                <a:solidFill>
                  <a:schemeClr val="tx1"/>
                </a:solidFill>
                <a:latin typeface="Univers for KPMG" panose="020B0603020202020204" pitchFamily="34" charset="0"/>
              </a:rPr>
              <a:t>Accrued revenue: </a:t>
            </a:r>
            <a:r>
              <a:rPr lang="en-US" dirty="0" smtClean="0">
                <a:solidFill>
                  <a:schemeClr val="tx1"/>
                </a:solidFill>
                <a:latin typeface="Univers for KPMG" panose="020B0603020202020204" pitchFamily="34" charset="0"/>
              </a:rPr>
              <a:t>The Company historically had “soft” month end cut-off procedures and relied on their auditors to assist in the determination of year end accruals. Beginning in January 2017, the Company initiated a detailed  methodology to provide consistent revenue and payroll cut-off procedures based on the date services are performed.  The Company did not adjust for the opening balance sheet impact from this change in methodology until December 31, 2017. </a:t>
            </a:r>
          </a:p>
          <a:p>
            <a:pPr marL="228600" lvl="2" indent="0" algn="just">
              <a:lnSpc>
                <a:spcPts val="1000"/>
              </a:lnSpc>
              <a:spcBef>
                <a:spcPts val="600"/>
              </a:spcBef>
              <a:spcAft>
                <a:spcPts val="0"/>
              </a:spcAft>
              <a:buClr>
                <a:srgbClr val="97989A"/>
              </a:buClr>
              <a:buNone/>
              <a:defRPr/>
            </a:pPr>
            <a:r>
              <a:rPr lang="en-US" dirty="0" smtClean="0">
                <a:solidFill>
                  <a:schemeClr val="tx1"/>
                </a:solidFill>
                <a:latin typeface="Univers for KPMG" panose="020B0603020202020204" pitchFamily="34" charset="0"/>
              </a:rPr>
              <a:t>This adjustment aligns the monthly accrued revenue based on the date services are performed.</a:t>
            </a:r>
          </a:p>
          <a:p>
            <a:pPr marL="228600" lvl="2" indent="0">
              <a:lnSpc>
                <a:spcPts val="1000"/>
              </a:lnSpc>
              <a:spcBef>
                <a:spcPts val="600"/>
              </a:spcBef>
              <a:spcAft>
                <a:spcPts val="0"/>
              </a:spcAft>
              <a:buClr>
                <a:srgbClr val="97989A"/>
              </a:buClr>
              <a:buNone/>
              <a:defRPr/>
            </a:pPr>
            <a:endParaRPr lang="en-US" dirty="0" smtClean="0">
              <a:solidFill>
                <a:schemeClr val="tx1"/>
              </a:solidFill>
              <a:latin typeface="Univers for KPMG" panose="020B0603020202020204" pitchFamily="34" charset="0"/>
            </a:endParaRPr>
          </a:p>
          <a:p>
            <a:pPr marL="407987" lvl="3" indent="-228600">
              <a:lnSpc>
                <a:spcPts val="1000"/>
              </a:lnSpc>
              <a:spcBef>
                <a:spcPts val="600"/>
              </a:spcBef>
              <a:spcAft>
                <a:spcPts val="0"/>
              </a:spcAft>
              <a:buClr>
                <a:srgbClr val="97989A"/>
              </a:buClr>
              <a:buAutoNum type="arabicPeriod"/>
              <a:defRPr/>
            </a:pPr>
            <a:endParaRPr lang="en-US" dirty="0" smtClean="0">
              <a:solidFill>
                <a:schemeClr val="tx1"/>
              </a:solidFill>
              <a:latin typeface="Univers for KPMG" panose="020B0603020202020204" pitchFamily="34" charset="0"/>
            </a:endParaRPr>
          </a:p>
          <a:p>
            <a:pPr marL="228600" lvl="2" indent="-228600">
              <a:lnSpc>
                <a:spcPts val="1000"/>
              </a:lnSpc>
              <a:spcBef>
                <a:spcPts val="600"/>
              </a:spcBef>
              <a:spcAft>
                <a:spcPts val="0"/>
              </a:spcAft>
              <a:buClr>
                <a:srgbClr val="97989A"/>
              </a:buClr>
              <a:buAutoNum type="arabicPeriod"/>
              <a:defRPr/>
            </a:pPr>
            <a:endParaRPr lang="en-US" dirty="0">
              <a:solidFill>
                <a:schemeClr val="tx1"/>
              </a:solidFill>
              <a:latin typeface="Univers for KPMG" panose="020B0603020202020204" pitchFamily="34" charset="0"/>
            </a:endParaRPr>
          </a:p>
          <a:p>
            <a:pPr marL="228600" lvl="2" indent="-228600">
              <a:lnSpc>
                <a:spcPts val="1000"/>
              </a:lnSpc>
              <a:spcBef>
                <a:spcPts val="600"/>
              </a:spcBef>
              <a:spcAft>
                <a:spcPts val="0"/>
              </a:spcAft>
              <a:buClr>
                <a:srgbClr val="97989A"/>
              </a:buClr>
              <a:buAutoNum type="arabicPeriod"/>
              <a:defRPr/>
            </a:pPr>
            <a:endParaRPr lang="en-US" b="1" dirty="0">
              <a:solidFill>
                <a:schemeClr val="tx1"/>
              </a:solidFill>
              <a:latin typeface="Univers for KPMG" panose="020B0603020202020204" pitchFamily="34" charset="0"/>
            </a:endParaRPr>
          </a:p>
          <a:p>
            <a:pPr marL="228600" lvl="2" indent="-228600">
              <a:lnSpc>
                <a:spcPts val="1000"/>
              </a:lnSpc>
              <a:spcBef>
                <a:spcPts val="600"/>
              </a:spcBef>
              <a:spcAft>
                <a:spcPts val="0"/>
              </a:spcAft>
              <a:buClr>
                <a:srgbClr val="97989A"/>
              </a:buClr>
              <a:buAutoNum type="arabicPeriod"/>
              <a:defRPr/>
            </a:pPr>
            <a:endParaRPr lang="en-US" b="1" dirty="0" smtClean="0">
              <a:solidFill>
                <a:schemeClr val="tx1"/>
              </a:solidFill>
              <a:latin typeface="Univers for KPMG" panose="020B0603020202020204" pitchFamily="34" charset="0"/>
            </a:endParaRPr>
          </a:p>
          <a:p>
            <a:pPr marL="228600" lvl="2" indent="-228600" algn="just">
              <a:lnSpc>
                <a:spcPts val="1000"/>
              </a:lnSpc>
              <a:spcAft>
                <a:spcPts val="0"/>
              </a:spcAft>
              <a:buClr>
                <a:srgbClr val="97989A"/>
              </a:buClr>
              <a:buFont typeface="+mj-lt"/>
              <a:buAutoNum type="arabicPeriod" startAt="2"/>
              <a:defRPr/>
            </a:pPr>
            <a:r>
              <a:rPr lang="en-US" b="1" dirty="0" smtClean="0">
                <a:solidFill>
                  <a:schemeClr val="tx1"/>
                </a:solidFill>
                <a:latin typeface="Univers for KPMG" panose="020B0603020202020204" pitchFamily="34" charset="0"/>
              </a:rPr>
              <a:t>Accrued payroll: </a:t>
            </a:r>
            <a:r>
              <a:rPr lang="en-US" dirty="0" smtClean="0">
                <a:solidFill>
                  <a:schemeClr val="tx1"/>
                </a:solidFill>
                <a:latin typeface="Univers for KPMG" panose="020B0603020202020204" pitchFamily="34" charset="0"/>
              </a:rPr>
              <a:t>As discussed in NWC adjustment #1, the Company initiated a payroll cut-off methodology in January 2017 based on the date services are performed. The opening </a:t>
            </a:r>
            <a:r>
              <a:rPr lang="en-US" dirty="0">
                <a:solidFill>
                  <a:schemeClr val="tx1"/>
                </a:solidFill>
                <a:latin typeface="Univers for KPMG" panose="020B0603020202020204" pitchFamily="34" charset="0"/>
              </a:rPr>
              <a:t>balance sheet impact from this change in methodology </a:t>
            </a:r>
            <a:r>
              <a:rPr lang="en-US" dirty="0" smtClean="0">
                <a:solidFill>
                  <a:schemeClr val="tx1"/>
                </a:solidFill>
                <a:latin typeface="Univers for KPMG" panose="020B0603020202020204" pitchFamily="34" charset="0"/>
              </a:rPr>
              <a:t>is not adjusted for until December 31, 2017. </a:t>
            </a:r>
          </a:p>
          <a:p>
            <a:pPr marL="228600" lvl="2" indent="-228600" algn="just">
              <a:lnSpc>
                <a:spcPts val="1000"/>
              </a:lnSpc>
              <a:spcAft>
                <a:spcPts val="0"/>
              </a:spcAft>
              <a:buClr>
                <a:srgbClr val="97989A"/>
              </a:buClr>
              <a:buFont typeface="+mj-lt"/>
              <a:buAutoNum type="arabicPeriod" startAt="2"/>
              <a:defRPr/>
            </a:pPr>
            <a:endParaRPr lang="en-US" dirty="0">
              <a:solidFill>
                <a:schemeClr val="tx1"/>
              </a:solidFill>
              <a:latin typeface="Univers for KPMG" panose="020B0603020202020204" pitchFamily="34" charset="0"/>
            </a:endParaRPr>
          </a:p>
          <a:p>
            <a:pPr marL="228600" lvl="2" indent="0" algn="just">
              <a:lnSpc>
                <a:spcPts val="1000"/>
              </a:lnSpc>
              <a:spcAft>
                <a:spcPts val="0"/>
              </a:spcAft>
              <a:buClr>
                <a:srgbClr val="97989A"/>
              </a:buClr>
              <a:buNone/>
              <a:defRPr/>
            </a:pPr>
            <a:r>
              <a:rPr lang="en-US" dirty="0" smtClean="0">
                <a:solidFill>
                  <a:schemeClr val="tx1"/>
                </a:solidFill>
                <a:latin typeface="Univers for KPMG" panose="020B0603020202020204" pitchFamily="34" charset="0"/>
              </a:rPr>
              <a:t>This </a:t>
            </a:r>
            <a:r>
              <a:rPr lang="en-US" dirty="0">
                <a:solidFill>
                  <a:schemeClr val="tx1"/>
                </a:solidFill>
                <a:latin typeface="Univers for KPMG" panose="020B0603020202020204" pitchFamily="34" charset="0"/>
              </a:rPr>
              <a:t>adjustment aligns the monthly accrued </a:t>
            </a:r>
            <a:r>
              <a:rPr lang="en-US" dirty="0" smtClean="0">
                <a:solidFill>
                  <a:schemeClr val="tx1"/>
                </a:solidFill>
                <a:latin typeface="Univers for KPMG" panose="020B0603020202020204" pitchFamily="34" charset="0"/>
              </a:rPr>
              <a:t>payroll </a:t>
            </a:r>
            <a:r>
              <a:rPr lang="en-US" dirty="0">
                <a:solidFill>
                  <a:schemeClr val="tx1"/>
                </a:solidFill>
                <a:latin typeface="Univers for KPMG" panose="020B0603020202020204" pitchFamily="34" charset="0"/>
              </a:rPr>
              <a:t>based on the date services are performed.</a:t>
            </a:r>
          </a:p>
          <a:p>
            <a:pPr marL="228600" lvl="2" indent="-228600">
              <a:lnSpc>
                <a:spcPts val="1000"/>
              </a:lnSpc>
              <a:spcBef>
                <a:spcPts val="600"/>
              </a:spcBef>
              <a:spcAft>
                <a:spcPts val="0"/>
              </a:spcAft>
              <a:buClr>
                <a:srgbClr val="97989A"/>
              </a:buClr>
              <a:buFont typeface="+mj-lt"/>
              <a:buAutoNum type="arabicPeriod" startAt="2"/>
              <a:defRPr/>
            </a:pPr>
            <a:endParaRPr lang="en-US" dirty="0">
              <a:solidFill>
                <a:schemeClr val="tx1"/>
              </a:solidFill>
              <a:latin typeface="Univers for KPMG" panose="020B0603020202020204" pitchFamily="34" charset="0"/>
            </a:endParaRPr>
          </a:p>
          <a:p>
            <a:pPr marL="228600" lvl="2" indent="-228600">
              <a:lnSpc>
                <a:spcPts val="1000"/>
              </a:lnSpc>
              <a:spcBef>
                <a:spcPts val="600"/>
              </a:spcBef>
              <a:spcAft>
                <a:spcPts val="0"/>
              </a:spcAft>
              <a:buClr>
                <a:srgbClr val="97989A"/>
              </a:buClr>
              <a:buFont typeface="+mj-lt"/>
              <a:buAutoNum type="arabicPeriod" startAt="2"/>
              <a:defRPr/>
            </a:pPr>
            <a:endParaRPr lang="en-US" b="1" dirty="0" smtClean="0">
              <a:solidFill>
                <a:schemeClr val="tx1"/>
              </a:solidFill>
              <a:latin typeface="Univers for KPMG" panose="020B0603020202020204" pitchFamily="34" charset="0"/>
            </a:endParaRPr>
          </a:p>
          <a:p>
            <a:pPr marL="228600" lvl="2" indent="-228600">
              <a:lnSpc>
                <a:spcPts val="1000"/>
              </a:lnSpc>
              <a:spcBef>
                <a:spcPts val="600"/>
              </a:spcBef>
              <a:spcAft>
                <a:spcPts val="0"/>
              </a:spcAft>
              <a:buClr>
                <a:srgbClr val="97989A"/>
              </a:buClr>
              <a:buAutoNum type="arabicPeriod" startAt="2"/>
              <a:defRPr/>
            </a:pPr>
            <a:endParaRPr lang="en-US" dirty="0" smtClean="0">
              <a:solidFill>
                <a:schemeClr val="tx1"/>
              </a:solidFill>
              <a:latin typeface="Univers for KPMG" panose="020B0603020202020204" pitchFamily="34" charset="0"/>
            </a:endParaRPr>
          </a:p>
          <a:p>
            <a:pPr marL="228600" lvl="2" indent="-228600">
              <a:lnSpc>
                <a:spcPts val="1000"/>
              </a:lnSpc>
              <a:spcBef>
                <a:spcPts val="600"/>
              </a:spcBef>
              <a:spcAft>
                <a:spcPts val="0"/>
              </a:spcAft>
              <a:buClr>
                <a:srgbClr val="97989A"/>
              </a:buClr>
              <a:buAutoNum type="arabicPeriod" startAt="2"/>
              <a:defRPr/>
            </a:pPr>
            <a:endParaRPr lang="en-US" dirty="0">
              <a:solidFill>
                <a:schemeClr val="tx1"/>
              </a:solidFill>
              <a:latin typeface="Univers for KPMG" panose="020B0603020202020204" pitchFamily="34" charset="0"/>
            </a:endParaRPr>
          </a:p>
        </p:txBody>
      </p:sp>
      <p:pic>
        <p:nvPicPr>
          <p:cNvPr id="8" name="Picture 7"/>
          <p:cNvPicPr>
            <a:picLocks noChangeAspect="1"/>
          </p:cNvPicPr>
          <p:nvPr/>
        </p:nvPicPr>
        <p:blipFill>
          <a:blip r:embed="rId3"/>
          <a:stretch>
            <a:fillRect/>
          </a:stretch>
        </p:blipFill>
        <p:spPr>
          <a:xfrm>
            <a:off x="4511707" y="4975258"/>
            <a:ext cx="2217847" cy="760320"/>
          </a:xfrm>
          <a:prstGeom prst="rect">
            <a:avLst/>
          </a:prstGeom>
        </p:spPr>
      </p:pic>
      <p:pic>
        <p:nvPicPr>
          <p:cNvPr id="7" name="Picture 6"/>
          <p:cNvPicPr>
            <a:picLocks noChangeAspect="1"/>
          </p:cNvPicPr>
          <p:nvPr/>
        </p:nvPicPr>
        <p:blipFill>
          <a:blip r:embed="rId4"/>
          <a:stretch>
            <a:fillRect/>
          </a:stretch>
        </p:blipFill>
        <p:spPr>
          <a:xfrm>
            <a:off x="4511707" y="3023598"/>
            <a:ext cx="2224800" cy="760320"/>
          </a:xfrm>
          <a:prstGeom prst="rect">
            <a:avLst/>
          </a:prstGeom>
        </p:spPr>
      </p:pic>
      <p:sp>
        <p:nvSpPr>
          <p:cNvPr id="28" name="TextBox 27"/>
          <p:cNvSpPr txBox="1"/>
          <p:nvPr/>
        </p:nvSpPr>
        <p:spPr>
          <a:xfrm>
            <a:off x="431800" y="4055424"/>
            <a:ext cx="2967077" cy="92333"/>
          </a:xfrm>
          <a:prstGeom prst="rect">
            <a:avLst/>
          </a:prstGeom>
          <a:noFill/>
        </p:spPr>
        <p:txBody>
          <a:bodyPr wrap="square" lIns="0" tIns="0" rIns="0" bIns="0" rtlCol="0">
            <a:spAutoFit/>
          </a:bodyPr>
          <a:lstStyle/>
          <a:p>
            <a:pPr marL="400050" indent="-400050" defTabSz="914400"/>
            <a:r>
              <a:rPr lang="en-US" sz="600" i="1" dirty="0" smtClean="0">
                <a:solidFill>
                  <a:srgbClr val="000000"/>
                </a:solidFill>
              </a:rPr>
              <a:t>Source : 	Management provided information</a:t>
            </a:r>
            <a:endParaRPr lang="en-US" sz="600" i="1" dirty="0">
              <a:solidFill>
                <a:srgbClr val="000000"/>
              </a:solidFill>
            </a:endParaRPr>
          </a:p>
        </p:txBody>
      </p:sp>
      <p:sp>
        <p:nvSpPr>
          <p:cNvPr id="11" name="Titre 5"/>
          <p:cNvSpPr txBox="1">
            <a:spLocks/>
          </p:cNvSpPr>
          <p:nvPr/>
        </p:nvSpPr>
        <p:spPr bwMode="gray">
          <a:xfrm>
            <a:off x="431800" y="228600"/>
            <a:ext cx="8496000" cy="784830"/>
          </a:xfrm>
          <a:prstGeom prst="rect">
            <a:avLst/>
          </a:prstGeom>
        </p:spPr>
        <p:txBody>
          <a:bodyPr vert="horz" lIns="0" tIns="0" rIns="0" bIns="0" rtlCol="0" anchor="t" anchorCtr="0">
            <a:noAutofit/>
          </a:bodyPr>
          <a:lstStyle>
            <a:lvl1pPr algn="l" defTabSz="914400" rtl="0" eaLnBrk="1" latinLnBrk="0" hangingPunct="1">
              <a:lnSpc>
                <a:spcPct val="70000"/>
              </a:lnSpc>
              <a:spcBef>
                <a:spcPct val="0"/>
              </a:spcBef>
              <a:buNone/>
              <a:defRPr sz="3800" kern="1200">
                <a:solidFill>
                  <a:schemeClr val="tx2"/>
                </a:solidFill>
                <a:latin typeface="+mj-lt"/>
                <a:ea typeface="+mj-ea"/>
                <a:cs typeface="+mj-cs"/>
              </a:defRPr>
            </a:lvl1pPr>
          </a:lstStyle>
          <a:p>
            <a:r>
              <a:rPr lang="en-CA" sz="2400" dirty="0" smtClean="0">
                <a:solidFill>
                  <a:prstClr val="white">
                    <a:lumMod val="50000"/>
                  </a:prstClr>
                </a:solidFill>
              </a:rPr>
              <a:t>Supporting analysis </a:t>
            </a:r>
          </a:p>
          <a:p>
            <a:r>
              <a:rPr lang="en-CA" sz="4000" dirty="0" smtClean="0">
                <a:solidFill>
                  <a:srgbClr val="00338D"/>
                </a:solidFill>
              </a:rPr>
              <a:t>Net working capital </a:t>
            </a:r>
            <a:endParaRPr lang="en-CA" sz="4000" dirty="0">
              <a:solidFill>
                <a:srgbClr val="00338D"/>
              </a:solidFill>
            </a:endParaRPr>
          </a:p>
        </p:txBody>
      </p:sp>
      <p:sp>
        <p:nvSpPr>
          <p:cNvPr id="9" name="TextBox 8"/>
          <p:cNvSpPr txBox="1"/>
          <p:nvPr/>
        </p:nvSpPr>
        <p:spPr>
          <a:xfrm>
            <a:off x="4511707" y="3783918"/>
            <a:ext cx="2967077" cy="92333"/>
          </a:xfrm>
          <a:prstGeom prst="rect">
            <a:avLst/>
          </a:prstGeom>
          <a:noFill/>
        </p:spPr>
        <p:txBody>
          <a:bodyPr wrap="square" lIns="0" tIns="0" rIns="0" bIns="0" rtlCol="0">
            <a:spAutoFit/>
          </a:bodyPr>
          <a:lstStyle/>
          <a:p>
            <a:pPr marL="400050" indent="-400050" defTabSz="914400"/>
            <a:r>
              <a:rPr lang="en-US" sz="600" i="1" dirty="0" smtClean="0">
                <a:solidFill>
                  <a:srgbClr val="000000"/>
                </a:solidFill>
              </a:rPr>
              <a:t>Source : 	Management provided information</a:t>
            </a:r>
            <a:endParaRPr lang="en-US" sz="600" i="1" dirty="0">
              <a:solidFill>
                <a:srgbClr val="000000"/>
              </a:solidFill>
            </a:endParaRPr>
          </a:p>
        </p:txBody>
      </p:sp>
      <p:sp>
        <p:nvSpPr>
          <p:cNvPr id="12" name="TextBox 11"/>
          <p:cNvSpPr txBox="1"/>
          <p:nvPr/>
        </p:nvSpPr>
        <p:spPr>
          <a:xfrm>
            <a:off x="4511707" y="5735578"/>
            <a:ext cx="2967077" cy="92333"/>
          </a:xfrm>
          <a:prstGeom prst="rect">
            <a:avLst/>
          </a:prstGeom>
          <a:noFill/>
        </p:spPr>
        <p:txBody>
          <a:bodyPr wrap="square" lIns="0" tIns="0" rIns="0" bIns="0" rtlCol="0">
            <a:spAutoFit/>
          </a:bodyPr>
          <a:lstStyle/>
          <a:p>
            <a:pPr marL="400050" indent="-400050" defTabSz="914400"/>
            <a:r>
              <a:rPr lang="en-US" sz="600" i="1" dirty="0" smtClean="0">
                <a:solidFill>
                  <a:srgbClr val="000000"/>
                </a:solidFill>
              </a:rPr>
              <a:t>Source : 	Management provided information</a:t>
            </a:r>
            <a:endParaRPr lang="en-US" sz="600" i="1" dirty="0">
              <a:solidFill>
                <a:srgbClr val="000000"/>
              </a:solidFill>
            </a:endParaRPr>
          </a:p>
        </p:txBody>
      </p:sp>
      <p:pic>
        <p:nvPicPr>
          <p:cNvPr id="3" name="Picture 2"/>
          <p:cNvPicPr>
            <a:picLocks noChangeAspect="1"/>
          </p:cNvPicPr>
          <p:nvPr/>
        </p:nvPicPr>
        <p:blipFill>
          <a:blip r:embed="rId5"/>
          <a:stretch>
            <a:fillRect/>
          </a:stretch>
        </p:blipFill>
        <p:spPr>
          <a:xfrm>
            <a:off x="431800" y="1211263"/>
            <a:ext cx="3747398" cy="2844161"/>
          </a:xfrm>
          <a:prstGeom prst="rect">
            <a:avLst/>
          </a:prstGeom>
        </p:spPr>
      </p:pic>
    </p:spTree>
    <p:extLst>
      <p:ext uri="{BB962C8B-B14F-4D97-AF65-F5344CB8AC3E}">
        <p14:creationId xmlns:p14="http://schemas.microsoft.com/office/powerpoint/2010/main" val="2790960361"/>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TextBox 27"/>
          <p:cNvSpPr txBox="1"/>
          <p:nvPr/>
        </p:nvSpPr>
        <p:spPr>
          <a:xfrm>
            <a:off x="431800" y="4055424"/>
            <a:ext cx="2967077" cy="92333"/>
          </a:xfrm>
          <a:prstGeom prst="rect">
            <a:avLst/>
          </a:prstGeom>
          <a:noFill/>
        </p:spPr>
        <p:txBody>
          <a:bodyPr wrap="square" lIns="0" tIns="0" rIns="0" bIns="0" rtlCol="0">
            <a:spAutoFit/>
          </a:bodyPr>
          <a:lstStyle/>
          <a:p>
            <a:pPr marL="400050" indent="-400050" defTabSz="914400"/>
            <a:r>
              <a:rPr lang="en-US" sz="600" i="1" dirty="0" smtClean="0">
                <a:solidFill>
                  <a:srgbClr val="000000"/>
                </a:solidFill>
              </a:rPr>
              <a:t>Source : 	Management provided information</a:t>
            </a:r>
            <a:endParaRPr lang="en-US" sz="600" i="1" dirty="0">
              <a:solidFill>
                <a:srgbClr val="000000"/>
              </a:solidFill>
            </a:endParaRPr>
          </a:p>
        </p:txBody>
      </p:sp>
      <p:sp>
        <p:nvSpPr>
          <p:cNvPr id="11" name="Titre 5"/>
          <p:cNvSpPr txBox="1">
            <a:spLocks/>
          </p:cNvSpPr>
          <p:nvPr/>
        </p:nvSpPr>
        <p:spPr bwMode="gray">
          <a:xfrm>
            <a:off x="431800" y="228600"/>
            <a:ext cx="8496000" cy="784830"/>
          </a:xfrm>
          <a:prstGeom prst="rect">
            <a:avLst/>
          </a:prstGeom>
        </p:spPr>
        <p:txBody>
          <a:bodyPr vert="horz" lIns="0" tIns="0" rIns="0" bIns="0" rtlCol="0" anchor="t" anchorCtr="0">
            <a:noAutofit/>
          </a:bodyPr>
          <a:lstStyle>
            <a:lvl1pPr algn="l" defTabSz="914400" rtl="0" eaLnBrk="1" latinLnBrk="0" hangingPunct="1">
              <a:lnSpc>
                <a:spcPct val="70000"/>
              </a:lnSpc>
              <a:spcBef>
                <a:spcPct val="0"/>
              </a:spcBef>
              <a:buNone/>
              <a:defRPr sz="3800" kern="1200">
                <a:solidFill>
                  <a:schemeClr val="tx2"/>
                </a:solidFill>
                <a:latin typeface="+mj-lt"/>
                <a:ea typeface="+mj-ea"/>
                <a:cs typeface="+mj-cs"/>
              </a:defRPr>
            </a:lvl1pPr>
          </a:lstStyle>
          <a:p>
            <a:r>
              <a:rPr lang="en-CA" sz="2400" dirty="0" smtClean="0">
                <a:solidFill>
                  <a:prstClr val="white">
                    <a:lumMod val="50000"/>
                  </a:prstClr>
                </a:solidFill>
              </a:rPr>
              <a:t>Supporting analysis</a:t>
            </a:r>
            <a:r>
              <a:rPr lang="en-CA" dirty="0" smtClean="0">
                <a:solidFill>
                  <a:srgbClr val="00338D"/>
                </a:solidFill>
              </a:rPr>
              <a:t/>
            </a:r>
            <a:br>
              <a:rPr lang="en-CA" dirty="0" smtClean="0">
                <a:solidFill>
                  <a:srgbClr val="00338D"/>
                </a:solidFill>
              </a:rPr>
            </a:br>
            <a:r>
              <a:rPr lang="en-CA" sz="4000" dirty="0" smtClean="0">
                <a:solidFill>
                  <a:srgbClr val="00338D"/>
                </a:solidFill>
              </a:rPr>
              <a:t>Net working capital </a:t>
            </a:r>
            <a:endParaRPr lang="en-CA" sz="4000" dirty="0">
              <a:solidFill>
                <a:srgbClr val="00338D"/>
              </a:solidFill>
            </a:endParaRPr>
          </a:p>
        </p:txBody>
      </p:sp>
      <p:pic>
        <p:nvPicPr>
          <p:cNvPr id="6" name="Picture 5"/>
          <p:cNvPicPr>
            <a:picLocks noChangeAspect="1"/>
          </p:cNvPicPr>
          <p:nvPr/>
        </p:nvPicPr>
        <p:blipFill>
          <a:blip r:embed="rId3"/>
          <a:stretch>
            <a:fillRect/>
          </a:stretch>
        </p:blipFill>
        <p:spPr>
          <a:xfrm>
            <a:off x="431800" y="1211263"/>
            <a:ext cx="3747398" cy="2844161"/>
          </a:xfrm>
          <a:prstGeom prst="rect">
            <a:avLst/>
          </a:prstGeom>
        </p:spPr>
      </p:pic>
      <p:sp>
        <p:nvSpPr>
          <p:cNvPr id="7" name="Espace réservé du texte 3"/>
          <p:cNvSpPr>
            <a:spLocks noGrp="1"/>
          </p:cNvSpPr>
          <p:nvPr>
            <p:ph type="body" sz="quarter" idx="4294967295"/>
          </p:nvPr>
        </p:nvSpPr>
        <p:spPr>
          <a:xfrm>
            <a:off x="4282440" y="1211263"/>
            <a:ext cx="4429760" cy="5114221"/>
          </a:xfrm>
          <a:prstGeom prst="rect">
            <a:avLst/>
          </a:prstGeom>
        </p:spPr>
        <p:txBody>
          <a:bodyPr wrap="square">
            <a:spAutoFit/>
          </a:bodyPr>
          <a:lstStyle/>
          <a:p>
            <a:pPr>
              <a:spcBef>
                <a:spcPts val="600"/>
              </a:spcBef>
              <a:spcAft>
                <a:spcPts val="0"/>
              </a:spcAft>
            </a:pPr>
            <a:r>
              <a:rPr lang="en-CA" dirty="0" smtClean="0">
                <a:latin typeface="Univers for KPMG" panose="020B0603020202020204" pitchFamily="34" charset="0"/>
              </a:rPr>
              <a:t>Net working capital adjustments (continued)</a:t>
            </a:r>
          </a:p>
          <a:p>
            <a:pPr marL="228600" lvl="2" indent="-228600" algn="just">
              <a:lnSpc>
                <a:spcPts val="1000"/>
              </a:lnSpc>
              <a:spcBef>
                <a:spcPts val="600"/>
              </a:spcBef>
              <a:spcAft>
                <a:spcPts val="0"/>
              </a:spcAft>
              <a:buClr>
                <a:srgbClr val="97989A"/>
              </a:buClr>
              <a:buFont typeface="+mj-lt"/>
              <a:buAutoNum type="arabicPeriod" startAt="3"/>
              <a:defRPr/>
            </a:pPr>
            <a:r>
              <a:rPr lang="en-US" b="1" dirty="0" smtClean="0">
                <a:solidFill>
                  <a:schemeClr val="tx1"/>
                </a:solidFill>
                <a:latin typeface="Univers for KPMG" panose="020B0603020202020204" pitchFamily="34" charset="0"/>
              </a:rPr>
              <a:t>Prepaid expenses: </a:t>
            </a:r>
            <a:r>
              <a:rPr lang="en-US" dirty="0" smtClean="0">
                <a:solidFill>
                  <a:schemeClr val="tx1"/>
                </a:solidFill>
                <a:latin typeface="Univers for KPMG" panose="020B0603020202020204" pitchFamily="34" charset="0"/>
              </a:rPr>
              <a:t>The Company did not correctly record prepaid expenses at December 31, 2016 and did not draw down the annual insurance prepayments on a consistent monthly basis throughout FY17.  Management adjusted the prepaid to actual in December 2017.  This adjustment straight-lines the individual prepaid components to reflect an indicative view of the monthly prepaid expense accounts.</a:t>
            </a:r>
          </a:p>
          <a:p>
            <a:pPr marL="228600" lvl="2" indent="-228600">
              <a:lnSpc>
                <a:spcPts val="1000"/>
              </a:lnSpc>
              <a:spcBef>
                <a:spcPts val="600"/>
              </a:spcBef>
              <a:spcAft>
                <a:spcPts val="0"/>
              </a:spcAft>
              <a:buClr>
                <a:srgbClr val="97989A"/>
              </a:buClr>
              <a:buFont typeface="+mj-lt"/>
              <a:buAutoNum type="arabicPeriod" startAt="3"/>
              <a:defRPr/>
            </a:pPr>
            <a:endParaRPr lang="en-US" dirty="0" smtClean="0">
              <a:solidFill>
                <a:schemeClr val="tx1"/>
              </a:solidFill>
              <a:latin typeface="Univers for KPMG" panose="020B0603020202020204" pitchFamily="34" charset="0"/>
            </a:endParaRPr>
          </a:p>
          <a:p>
            <a:pPr marL="228600" lvl="2" indent="-228600">
              <a:lnSpc>
                <a:spcPts val="1000"/>
              </a:lnSpc>
              <a:spcBef>
                <a:spcPts val="600"/>
              </a:spcBef>
              <a:spcAft>
                <a:spcPts val="0"/>
              </a:spcAft>
              <a:buClr>
                <a:srgbClr val="97989A"/>
              </a:buClr>
              <a:buFont typeface="+mj-lt"/>
              <a:buAutoNum type="arabicPeriod" startAt="3"/>
              <a:defRPr/>
            </a:pPr>
            <a:endParaRPr lang="en-US" dirty="0">
              <a:solidFill>
                <a:schemeClr val="tx1"/>
              </a:solidFill>
              <a:latin typeface="Univers for KPMG" panose="020B0603020202020204" pitchFamily="34" charset="0"/>
            </a:endParaRPr>
          </a:p>
          <a:p>
            <a:pPr marL="228600" lvl="2" indent="-228600">
              <a:lnSpc>
                <a:spcPts val="1000"/>
              </a:lnSpc>
              <a:spcBef>
                <a:spcPts val="600"/>
              </a:spcBef>
              <a:spcAft>
                <a:spcPts val="0"/>
              </a:spcAft>
              <a:buClr>
                <a:srgbClr val="97989A"/>
              </a:buClr>
              <a:buFont typeface="+mj-lt"/>
              <a:buAutoNum type="arabicPeriod" startAt="3"/>
              <a:defRPr/>
            </a:pPr>
            <a:endParaRPr lang="en-US" dirty="0" smtClean="0">
              <a:solidFill>
                <a:schemeClr val="tx1"/>
              </a:solidFill>
              <a:latin typeface="Univers for KPMG" panose="020B0603020202020204" pitchFamily="34" charset="0"/>
            </a:endParaRPr>
          </a:p>
          <a:p>
            <a:pPr marL="228600" lvl="2" indent="-228600">
              <a:lnSpc>
                <a:spcPts val="1000"/>
              </a:lnSpc>
              <a:spcBef>
                <a:spcPts val="600"/>
              </a:spcBef>
              <a:spcAft>
                <a:spcPts val="0"/>
              </a:spcAft>
              <a:buClr>
                <a:srgbClr val="97989A"/>
              </a:buClr>
              <a:buFont typeface="+mj-lt"/>
              <a:buAutoNum type="arabicPeriod" startAt="3"/>
              <a:defRPr/>
            </a:pPr>
            <a:endParaRPr lang="en-US" dirty="0">
              <a:solidFill>
                <a:schemeClr val="tx1"/>
              </a:solidFill>
              <a:latin typeface="Univers for KPMG" panose="020B0603020202020204" pitchFamily="34" charset="0"/>
            </a:endParaRPr>
          </a:p>
          <a:p>
            <a:pPr marL="228600" lvl="2" indent="-228600" algn="just">
              <a:lnSpc>
                <a:spcPts val="1000"/>
              </a:lnSpc>
              <a:spcBef>
                <a:spcPts val="1200"/>
              </a:spcBef>
              <a:spcAft>
                <a:spcPts val="0"/>
              </a:spcAft>
              <a:buClr>
                <a:srgbClr val="97989A"/>
              </a:buClr>
              <a:buAutoNum type="arabicPeriod" startAt="3"/>
              <a:defRPr/>
            </a:pPr>
            <a:r>
              <a:rPr lang="en-US" b="1" dirty="0" smtClean="0">
                <a:solidFill>
                  <a:schemeClr val="tx1"/>
                </a:solidFill>
                <a:latin typeface="Univers for KPMG" panose="020B0603020202020204" pitchFamily="34" charset="0"/>
              </a:rPr>
              <a:t>Working capital impact of QofE adjustments: </a:t>
            </a:r>
            <a:r>
              <a:rPr lang="en-US" dirty="0" smtClean="0">
                <a:solidFill>
                  <a:schemeClr val="tx1"/>
                </a:solidFill>
                <a:latin typeface="Univers for KPMG" panose="020B0603020202020204" pitchFamily="34" charset="0"/>
              </a:rPr>
              <a:t>This adjustment determined the indicative net working capital adjustment attributable to QofE adjustments #2 to #9. The adjustment is primarily determined based on DPO calculations. Refer to Appendix 9 for further details.</a:t>
            </a:r>
          </a:p>
          <a:p>
            <a:pPr marL="228600" lvl="2" indent="-228600" algn="just">
              <a:lnSpc>
                <a:spcPts val="1000"/>
              </a:lnSpc>
              <a:spcBef>
                <a:spcPts val="600"/>
              </a:spcBef>
              <a:spcAft>
                <a:spcPts val="0"/>
              </a:spcAft>
              <a:buClr>
                <a:srgbClr val="97989A"/>
              </a:buClr>
              <a:buAutoNum type="arabicPeriod" startAt="3"/>
              <a:defRPr/>
            </a:pPr>
            <a:endParaRPr lang="en-US" b="1" dirty="0" smtClean="0">
              <a:solidFill>
                <a:schemeClr val="tx1"/>
              </a:solidFill>
              <a:latin typeface="Univers for KPMG" panose="020B0603020202020204" pitchFamily="34" charset="0"/>
            </a:endParaRPr>
          </a:p>
          <a:p>
            <a:pPr marL="228600" lvl="2" indent="-228600" algn="just">
              <a:lnSpc>
                <a:spcPts val="1000"/>
              </a:lnSpc>
              <a:spcBef>
                <a:spcPts val="600"/>
              </a:spcBef>
              <a:spcAft>
                <a:spcPts val="0"/>
              </a:spcAft>
              <a:buClr>
                <a:srgbClr val="97989A"/>
              </a:buClr>
              <a:buAutoNum type="arabicPeriod" startAt="3"/>
              <a:defRPr/>
            </a:pPr>
            <a:endParaRPr lang="en-US" b="1" dirty="0">
              <a:solidFill>
                <a:schemeClr val="tx1"/>
              </a:solidFill>
              <a:latin typeface="Univers for KPMG" panose="020B0603020202020204" pitchFamily="34" charset="0"/>
            </a:endParaRPr>
          </a:p>
          <a:p>
            <a:pPr marL="228600" lvl="2" indent="-228600" algn="just">
              <a:lnSpc>
                <a:spcPts val="1000"/>
              </a:lnSpc>
              <a:spcBef>
                <a:spcPts val="600"/>
              </a:spcBef>
              <a:spcAft>
                <a:spcPts val="0"/>
              </a:spcAft>
              <a:buClr>
                <a:srgbClr val="97989A"/>
              </a:buClr>
              <a:buAutoNum type="arabicPeriod" startAt="3"/>
              <a:defRPr/>
            </a:pPr>
            <a:endParaRPr lang="en-US" b="1" dirty="0" smtClean="0">
              <a:solidFill>
                <a:schemeClr val="tx1"/>
              </a:solidFill>
              <a:latin typeface="Univers for KPMG" panose="020B0603020202020204" pitchFamily="34" charset="0"/>
            </a:endParaRPr>
          </a:p>
          <a:p>
            <a:pPr marL="228600" lvl="2" indent="-228600" algn="just">
              <a:lnSpc>
                <a:spcPts val="1000"/>
              </a:lnSpc>
              <a:spcBef>
                <a:spcPts val="600"/>
              </a:spcBef>
              <a:spcAft>
                <a:spcPts val="0"/>
              </a:spcAft>
              <a:buClr>
                <a:srgbClr val="97989A"/>
              </a:buClr>
              <a:buAutoNum type="arabicPeriod" startAt="3"/>
              <a:defRPr/>
            </a:pPr>
            <a:endParaRPr lang="en-US" b="1" dirty="0">
              <a:solidFill>
                <a:schemeClr val="tx1"/>
              </a:solidFill>
              <a:latin typeface="Univers for KPMG" panose="020B0603020202020204" pitchFamily="34" charset="0"/>
            </a:endParaRPr>
          </a:p>
          <a:p>
            <a:pPr marL="228600" lvl="2" indent="-228600" algn="just">
              <a:lnSpc>
                <a:spcPts val="1000"/>
              </a:lnSpc>
              <a:spcBef>
                <a:spcPts val="600"/>
              </a:spcBef>
              <a:spcAft>
                <a:spcPts val="0"/>
              </a:spcAft>
              <a:buClr>
                <a:srgbClr val="97989A"/>
              </a:buClr>
              <a:buAutoNum type="arabicPeriod" startAt="3"/>
              <a:defRPr/>
            </a:pPr>
            <a:endParaRPr lang="en-US" b="1" dirty="0" smtClean="0">
              <a:solidFill>
                <a:schemeClr val="tx1"/>
              </a:solidFill>
              <a:latin typeface="Univers for KPMG" panose="020B0603020202020204" pitchFamily="34" charset="0"/>
            </a:endParaRPr>
          </a:p>
          <a:p>
            <a:pPr marL="228600" lvl="2" indent="-228600" algn="just">
              <a:lnSpc>
                <a:spcPts val="1000"/>
              </a:lnSpc>
              <a:spcBef>
                <a:spcPts val="600"/>
              </a:spcBef>
              <a:spcAft>
                <a:spcPts val="0"/>
              </a:spcAft>
              <a:buClr>
                <a:srgbClr val="97989A"/>
              </a:buClr>
              <a:buAutoNum type="arabicPeriod" startAt="3"/>
              <a:defRPr/>
            </a:pPr>
            <a:endParaRPr lang="en-US" b="1" dirty="0" smtClean="0">
              <a:solidFill>
                <a:schemeClr val="tx1"/>
              </a:solidFill>
              <a:latin typeface="Univers for KPMG" panose="020B0603020202020204" pitchFamily="34" charset="0"/>
            </a:endParaRPr>
          </a:p>
          <a:p>
            <a:pPr marL="228600" lvl="2" indent="-228600" algn="just">
              <a:lnSpc>
                <a:spcPts val="1000"/>
              </a:lnSpc>
              <a:spcBef>
                <a:spcPts val="600"/>
              </a:spcBef>
              <a:spcAft>
                <a:spcPts val="0"/>
              </a:spcAft>
              <a:buClr>
                <a:srgbClr val="97989A"/>
              </a:buClr>
              <a:buAutoNum type="arabicPeriod" startAt="3"/>
              <a:defRPr/>
            </a:pPr>
            <a:endParaRPr lang="en-US" b="1" dirty="0">
              <a:solidFill>
                <a:schemeClr val="tx1"/>
              </a:solidFill>
              <a:latin typeface="Univers for KPMG" panose="020B0603020202020204" pitchFamily="34" charset="0"/>
            </a:endParaRPr>
          </a:p>
          <a:p>
            <a:pPr marL="228600" lvl="2" indent="-228600" algn="just">
              <a:lnSpc>
                <a:spcPts val="1000"/>
              </a:lnSpc>
              <a:spcBef>
                <a:spcPts val="600"/>
              </a:spcBef>
              <a:spcAft>
                <a:spcPts val="0"/>
              </a:spcAft>
              <a:buClr>
                <a:srgbClr val="97989A"/>
              </a:buClr>
              <a:buAutoNum type="arabicPeriod" startAt="3"/>
              <a:defRPr/>
            </a:pPr>
            <a:endParaRPr lang="en-US" b="1" dirty="0">
              <a:solidFill>
                <a:schemeClr val="tx1"/>
              </a:solidFill>
              <a:latin typeface="Univers for KPMG" panose="020B0603020202020204" pitchFamily="34" charset="0"/>
            </a:endParaRPr>
          </a:p>
          <a:p>
            <a:pPr marL="228600" lvl="2" indent="-228600" algn="just">
              <a:lnSpc>
                <a:spcPts val="1000"/>
              </a:lnSpc>
              <a:spcBef>
                <a:spcPts val="600"/>
              </a:spcBef>
              <a:spcAft>
                <a:spcPts val="0"/>
              </a:spcAft>
              <a:buClr>
                <a:srgbClr val="97989A"/>
              </a:buClr>
              <a:buAutoNum type="arabicPeriod" startAt="3"/>
              <a:defRPr/>
            </a:pPr>
            <a:endParaRPr lang="en-US" b="1" dirty="0" smtClean="0">
              <a:solidFill>
                <a:schemeClr val="tx1"/>
              </a:solidFill>
              <a:latin typeface="Univers for KPMG" panose="020B0603020202020204" pitchFamily="34" charset="0"/>
            </a:endParaRPr>
          </a:p>
          <a:p>
            <a:pPr marL="228600" lvl="2" indent="-228600" algn="just">
              <a:lnSpc>
                <a:spcPts val="1000"/>
              </a:lnSpc>
              <a:spcBef>
                <a:spcPts val="900"/>
              </a:spcBef>
              <a:spcAft>
                <a:spcPts val="0"/>
              </a:spcAft>
              <a:buClr>
                <a:srgbClr val="97989A"/>
              </a:buClr>
              <a:buAutoNum type="arabicPeriod" startAt="3"/>
              <a:defRPr/>
            </a:pPr>
            <a:r>
              <a:rPr lang="en-US" b="1" dirty="0" smtClean="0">
                <a:solidFill>
                  <a:schemeClr val="tx1"/>
                </a:solidFill>
                <a:latin typeface="Univers for KPMG" panose="020B0603020202020204" pitchFamily="34" charset="0"/>
              </a:rPr>
              <a:t>India NWC contribution: </a:t>
            </a:r>
            <a:r>
              <a:rPr lang="en-US" dirty="0" smtClean="0">
                <a:solidFill>
                  <a:schemeClr val="tx1"/>
                </a:solidFill>
                <a:latin typeface="Univers for KPMG" panose="020B0603020202020204" pitchFamily="34" charset="0"/>
              </a:rPr>
              <a:t>This adjustment presents the net working capital contribution from the India entity. Refer to Appendix 10 for further details.</a:t>
            </a:r>
          </a:p>
          <a:p>
            <a:pPr marL="228600" lvl="2" indent="-228600" algn="just">
              <a:lnSpc>
                <a:spcPts val="1000"/>
              </a:lnSpc>
              <a:spcBef>
                <a:spcPts val="600"/>
              </a:spcBef>
              <a:spcAft>
                <a:spcPts val="0"/>
              </a:spcAft>
              <a:buClr>
                <a:srgbClr val="97989A"/>
              </a:buClr>
              <a:buAutoNum type="arabicPeriod" startAt="3"/>
              <a:defRPr/>
            </a:pPr>
            <a:r>
              <a:rPr lang="en-US" b="1" dirty="0" smtClean="0">
                <a:solidFill>
                  <a:schemeClr val="tx1"/>
                </a:solidFill>
                <a:latin typeface="Univers for KPMG" panose="020B0603020202020204" pitchFamily="34" charset="0"/>
              </a:rPr>
              <a:t>Switzerland NWC contribution: </a:t>
            </a:r>
            <a:r>
              <a:rPr lang="en-US" dirty="0" smtClean="0">
                <a:solidFill>
                  <a:schemeClr val="tx1"/>
                </a:solidFill>
                <a:latin typeface="Univers for KPMG" panose="020B0603020202020204" pitchFamily="34" charset="0"/>
              </a:rPr>
              <a:t>This adjustment presents the net working capital contribution from the Switzerland entity. Refer to Appendix 10 for further details.</a:t>
            </a:r>
            <a:endParaRPr lang="en-US" dirty="0">
              <a:solidFill>
                <a:schemeClr val="tx1"/>
              </a:solidFill>
              <a:latin typeface="Univers for KPMG" panose="020B0603020202020204" pitchFamily="34" charset="0"/>
            </a:endParaRPr>
          </a:p>
        </p:txBody>
      </p:sp>
      <p:pic>
        <p:nvPicPr>
          <p:cNvPr id="5" name="Picture 4"/>
          <p:cNvPicPr>
            <a:picLocks noChangeAspect="1"/>
          </p:cNvPicPr>
          <p:nvPr/>
        </p:nvPicPr>
        <p:blipFill>
          <a:blip r:embed="rId4"/>
          <a:stretch>
            <a:fillRect/>
          </a:stretch>
        </p:blipFill>
        <p:spPr>
          <a:xfrm>
            <a:off x="4513419" y="2235076"/>
            <a:ext cx="2252610" cy="760320"/>
          </a:xfrm>
          <a:prstGeom prst="rect">
            <a:avLst/>
          </a:prstGeom>
        </p:spPr>
      </p:pic>
      <p:sp>
        <p:nvSpPr>
          <p:cNvPr id="12" name="TextBox 11"/>
          <p:cNvSpPr txBox="1"/>
          <p:nvPr/>
        </p:nvSpPr>
        <p:spPr>
          <a:xfrm>
            <a:off x="4513419" y="2995396"/>
            <a:ext cx="2967077" cy="92333"/>
          </a:xfrm>
          <a:prstGeom prst="rect">
            <a:avLst/>
          </a:prstGeom>
          <a:noFill/>
        </p:spPr>
        <p:txBody>
          <a:bodyPr wrap="square" lIns="0" tIns="0" rIns="0" bIns="0" rtlCol="0">
            <a:spAutoFit/>
          </a:bodyPr>
          <a:lstStyle/>
          <a:p>
            <a:pPr marL="400050" indent="-400050" defTabSz="914400"/>
            <a:r>
              <a:rPr lang="en-US" sz="600" i="1" dirty="0" smtClean="0">
                <a:solidFill>
                  <a:srgbClr val="000000"/>
                </a:solidFill>
              </a:rPr>
              <a:t>Source : 	Management provided information</a:t>
            </a:r>
            <a:endParaRPr lang="en-US" sz="600" i="1" dirty="0">
              <a:solidFill>
                <a:srgbClr val="000000"/>
              </a:solidFill>
            </a:endParaRPr>
          </a:p>
        </p:txBody>
      </p:sp>
      <p:sp>
        <p:nvSpPr>
          <p:cNvPr id="9" name="TextBox 8"/>
          <p:cNvSpPr txBox="1"/>
          <p:nvPr/>
        </p:nvSpPr>
        <p:spPr>
          <a:xfrm>
            <a:off x="4513419" y="5463892"/>
            <a:ext cx="2967077" cy="92333"/>
          </a:xfrm>
          <a:prstGeom prst="rect">
            <a:avLst/>
          </a:prstGeom>
          <a:noFill/>
        </p:spPr>
        <p:txBody>
          <a:bodyPr wrap="square" lIns="0" tIns="0" rIns="0" bIns="0" rtlCol="0">
            <a:spAutoFit/>
          </a:bodyPr>
          <a:lstStyle/>
          <a:p>
            <a:pPr marL="400050" indent="-400050" defTabSz="914400"/>
            <a:r>
              <a:rPr lang="en-US" sz="600" i="1" dirty="0" smtClean="0">
                <a:solidFill>
                  <a:srgbClr val="000000"/>
                </a:solidFill>
              </a:rPr>
              <a:t>Source : 	Management provided information</a:t>
            </a:r>
            <a:endParaRPr lang="en-US" sz="600" i="1" dirty="0">
              <a:solidFill>
                <a:srgbClr val="000000"/>
              </a:solidFill>
            </a:endParaRPr>
          </a:p>
        </p:txBody>
      </p:sp>
      <p:pic>
        <p:nvPicPr>
          <p:cNvPr id="3" name="Picture 2"/>
          <p:cNvPicPr>
            <a:picLocks noChangeAspect="1"/>
          </p:cNvPicPr>
          <p:nvPr/>
        </p:nvPicPr>
        <p:blipFill>
          <a:blip r:embed="rId5"/>
          <a:stretch>
            <a:fillRect/>
          </a:stretch>
        </p:blipFill>
        <p:spPr>
          <a:xfrm>
            <a:off x="4513421" y="3735662"/>
            <a:ext cx="2792131" cy="1727024"/>
          </a:xfrm>
          <a:prstGeom prst="rect">
            <a:avLst/>
          </a:prstGeom>
        </p:spPr>
      </p:pic>
    </p:spTree>
    <p:extLst>
      <p:ext uri="{BB962C8B-B14F-4D97-AF65-F5344CB8AC3E}">
        <p14:creationId xmlns:p14="http://schemas.microsoft.com/office/powerpoint/2010/main" val="1870503874"/>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u texte 4"/>
          <p:cNvSpPr>
            <a:spLocks noGrp="1"/>
          </p:cNvSpPr>
          <p:nvPr>
            <p:ph type="body" sz="quarter" idx="11"/>
          </p:nvPr>
        </p:nvSpPr>
        <p:spPr>
          <a:xfrm>
            <a:off x="1995055" y="2147047"/>
            <a:ext cx="6165273" cy="3826370"/>
          </a:xfrm>
        </p:spPr>
        <p:txBody>
          <a:bodyPr/>
          <a:lstStyle/>
          <a:p>
            <a:pPr marL="227013" indent="-227013">
              <a:spcBef>
                <a:spcPts val="300"/>
              </a:spcBef>
              <a:spcAft>
                <a:spcPts val="300"/>
              </a:spcAft>
              <a:buFont typeface="+mj-lt"/>
              <a:buAutoNum type="arabicPeriod"/>
            </a:pPr>
            <a:r>
              <a:rPr lang="en-CA" sz="1000" dirty="0" smtClean="0"/>
              <a:t>Engagement letter procedures</a:t>
            </a:r>
          </a:p>
          <a:p>
            <a:pPr marL="227013" indent="-227013">
              <a:spcBef>
                <a:spcPts val="300"/>
              </a:spcBef>
              <a:spcAft>
                <a:spcPts val="300"/>
              </a:spcAft>
              <a:buFont typeface="+mj-lt"/>
              <a:buAutoNum type="arabicPeriod"/>
            </a:pPr>
            <a:r>
              <a:rPr lang="en-CA" sz="1000" dirty="0"/>
              <a:t>Reconciliation to audited financial </a:t>
            </a:r>
            <a:r>
              <a:rPr lang="en-CA" sz="1000" dirty="0" smtClean="0"/>
              <a:t>statements</a:t>
            </a:r>
          </a:p>
          <a:p>
            <a:pPr marL="227013" indent="-227013">
              <a:spcBef>
                <a:spcPts val="300"/>
              </a:spcBef>
              <a:spcAft>
                <a:spcPts val="300"/>
              </a:spcAft>
              <a:buFont typeface="+mj-lt"/>
              <a:buAutoNum type="arabicPeriod"/>
            </a:pPr>
            <a:r>
              <a:rPr lang="en-CA" sz="1000" dirty="0"/>
              <a:t>Combining income statement (Aequor USA, India, Switzerland)</a:t>
            </a:r>
          </a:p>
          <a:p>
            <a:pPr marL="227013" indent="-227013">
              <a:spcBef>
                <a:spcPts val="300"/>
              </a:spcBef>
              <a:spcAft>
                <a:spcPts val="300"/>
              </a:spcAft>
              <a:buFont typeface="+mj-lt"/>
              <a:buAutoNum type="arabicPeriod"/>
            </a:pPr>
            <a:r>
              <a:rPr lang="en-CA" sz="1000" dirty="0"/>
              <a:t>Combining balance sheet (Aequor USA, India, Switzerland)</a:t>
            </a:r>
          </a:p>
          <a:p>
            <a:pPr marL="227013" indent="-227013">
              <a:spcBef>
                <a:spcPts val="300"/>
              </a:spcBef>
              <a:spcAft>
                <a:spcPts val="300"/>
              </a:spcAft>
              <a:buFont typeface="+mj-lt"/>
              <a:buAutoNum type="arabicPeriod"/>
            </a:pPr>
            <a:r>
              <a:rPr lang="en-CA" sz="1000" dirty="0"/>
              <a:t>India financial statements</a:t>
            </a:r>
          </a:p>
          <a:p>
            <a:pPr marL="227013" indent="-227013">
              <a:spcBef>
                <a:spcPts val="300"/>
              </a:spcBef>
              <a:spcAft>
                <a:spcPts val="300"/>
              </a:spcAft>
              <a:buFont typeface="+mj-lt"/>
              <a:buAutoNum type="arabicPeriod"/>
            </a:pPr>
            <a:r>
              <a:rPr lang="en-CA" sz="1000" dirty="0"/>
              <a:t>Switzerland financial statements</a:t>
            </a:r>
          </a:p>
          <a:p>
            <a:pPr marL="227013" indent="-227013">
              <a:spcBef>
                <a:spcPts val="300"/>
              </a:spcBef>
              <a:spcAft>
                <a:spcPts val="300"/>
              </a:spcAft>
              <a:buFont typeface="+mj-lt"/>
              <a:buAutoNum type="arabicPeriod"/>
            </a:pPr>
            <a:r>
              <a:rPr lang="en-CA" sz="1000" dirty="0" smtClean="0"/>
              <a:t>Customer </a:t>
            </a:r>
            <a:r>
              <a:rPr lang="en-CA" sz="1000" dirty="0"/>
              <a:t>analysis</a:t>
            </a:r>
          </a:p>
          <a:p>
            <a:pPr marL="227013" indent="-227013">
              <a:spcBef>
                <a:spcPts val="300"/>
              </a:spcBef>
              <a:spcAft>
                <a:spcPts val="300"/>
              </a:spcAft>
              <a:buFont typeface="+mj-lt"/>
              <a:buAutoNum type="arabicPeriod"/>
            </a:pPr>
            <a:r>
              <a:rPr lang="en-CA" sz="1000" dirty="0"/>
              <a:t>Indicative NWC adjustment</a:t>
            </a:r>
          </a:p>
          <a:p>
            <a:pPr marL="227013" indent="-227013">
              <a:spcBef>
                <a:spcPts val="300"/>
              </a:spcBef>
              <a:spcAft>
                <a:spcPts val="300"/>
              </a:spcAft>
              <a:buFont typeface="+mj-lt"/>
              <a:buAutoNum type="arabicPeriod"/>
            </a:pPr>
            <a:r>
              <a:rPr lang="en-CA" sz="1000" dirty="0"/>
              <a:t>India &amp; Switzerland net working capital </a:t>
            </a:r>
            <a:r>
              <a:rPr lang="en-CA" sz="1000" dirty="0" smtClean="0"/>
              <a:t>contribution</a:t>
            </a:r>
          </a:p>
          <a:p>
            <a:pPr marL="227013" indent="-227013">
              <a:spcBef>
                <a:spcPts val="300"/>
              </a:spcBef>
              <a:spcAft>
                <a:spcPts val="300"/>
              </a:spcAft>
              <a:buFont typeface="+mj-lt"/>
              <a:buAutoNum type="arabicPeriod"/>
            </a:pPr>
            <a:r>
              <a:rPr lang="en-CA" sz="1000" dirty="0" smtClean="0"/>
              <a:t>NWC days metrics</a:t>
            </a:r>
          </a:p>
          <a:p>
            <a:pPr marL="227013" indent="-227013">
              <a:spcBef>
                <a:spcPts val="300"/>
              </a:spcBef>
              <a:spcAft>
                <a:spcPts val="300"/>
              </a:spcAft>
              <a:buFont typeface="+mj-lt"/>
              <a:buAutoNum type="arabicPeriod"/>
            </a:pPr>
            <a:r>
              <a:rPr lang="en-CA" sz="1000" dirty="0" smtClean="0"/>
              <a:t>AR aging</a:t>
            </a:r>
            <a:endParaRPr lang="en-CA" sz="1000" dirty="0"/>
          </a:p>
          <a:p>
            <a:pPr marL="227013" indent="-227013">
              <a:spcBef>
                <a:spcPts val="300"/>
              </a:spcBef>
              <a:spcAft>
                <a:spcPts val="300"/>
              </a:spcAft>
              <a:buFont typeface="+mj-lt"/>
              <a:buAutoNum type="arabicPeriod"/>
            </a:pPr>
            <a:endParaRPr lang="en-CA" sz="1000" dirty="0" smtClean="0"/>
          </a:p>
          <a:p>
            <a:pPr>
              <a:spcBef>
                <a:spcPts val="300"/>
              </a:spcBef>
              <a:spcAft>
                <a:spcPts val="300"/>
              </a:spcAft>
            </a:pPr>
            <a:endParaRPr lang="en-CA" sz="1000" dirty="0" smtClean="0"/>
          </a:p>
          <a:p>
            <a:pPr marL="227013" indent="-227013">
              <a:spcBef>
                <a:spcPts val="300"/>
              </a:spcBef>
              <a:spcAft>
                <a:spcPts val="300"/>
              </a:spcAft>
              <a:buFont typeface="+mj-lt"/>
              <a:buAutoNum type="arabicPeriod"/>
            </a:pPr>
            <a:endParaRPr lang="en-CA" sz="1000" dirty="0" smtClean="0">
              <a:solidFill>
                <a:schemeClr val="bg1"/>
              </a:solidFill>
            </a:endParaRPr>
          </a:p>
        </p:txBody>
      </p:sp>
      <p:sp>
        <p:nvSpPr>
          <p:cNvPr id="6" name="Titre 6"/>
          <p:cNvSpPr>
            <a:spLocks noGrp="1"/>
          </p:cNvSpPr>
          <p:nvPr>
            <p:ph type="title"/>
          </p:nvPr>
        </p:nvSpPr>
        <p:spPr>
          <a:xfrm>
            <a:off x="1995055" y="1337703"/>
            <a:ext cx="6192982" cy="581698"/>
          </a:xfrm>
        </p:spPr>
        <p:txBody>
          <a:bodyPr/>
          <a:lstStyle/>
          <a:p>
            <a:r>
              <a:rPr lang="en-CA" sz="5400" dirty="0" smtClean="0"/>
              <a:t>Appendices</a:t>
            </a:r>
            <a:endParaRPr lang="en-CA" sz="5400" dirty="0"/>
          </a:p>
        </p:txBody>
      </p:sp>
    </p:spTree>
    <p:extLst>
      <p:ext uri="{BB962C8B-B14F-4D97-AF65-F5344CB8AC3E}">
        <p14:creationId xmlns:p14="http://schemas.microsoft.com/office/powerpoint/2010/main" val="3986878164"/>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Title 37"/>
          <p:cNvSpPr>
            <a:spLocks noGrp="1"/>
          </p:cNvSpPr>
          <p:nvPr>
            <p:ph type="title"/>
          </p:nvPr>
        </p:nvSpPr>
        <p:spPr/>
        <p:txBody>
          <a:bodyPr tIns="91440"/>
          <a:lstStyle/>
          <a:p>
            <a:r>
              <a:rPr lang="en-CA" noProof="0" dirty="0" smtClean="0"/>
              <a:t>Engagement letter procedures</a:t>
            </a:r>
            <a:endParaRPr lang="en-CA" noProof="0" dirty="0"/>
          </a:p>
        </p:txBody>
      </p:sp>
      <p:sp>
        <p:nvSpPr>
          <p:cNvPr id="42" name="Text Placeholder 41"/>
          <p:cNvSpPr>
            <a:spLocks noGrp="1"/>
          </p:cNvSpPr>
          <p:nvPr>
            <p:ph type="body" sz="quarter" idx="13"/>
          </p:nvPr>
        </p:nvSpPr>
        <p:spPr/>
        <p:txBody>
          <a:bodyPr anchor="ctr"/>
          <a:lstStyle/>
          <a:p>
            <a:r>
              <a:rPr lang="en-CA" sz="2400" b="0" dirty="0" smtClean="0">
                <a:solidFill>
                  <a:schemeClr val="bg1">
                    <a:lumMod val="50000"/>
                  </a:schemeClr>
                </a:solidFill>
                <a:latin typeface="+mj-lt"/>
              </a:rPr>
              <a:t>Appendix 1</a:t>
            </a:r>
            <a:endParaRPr lang="en-CA" sz="2400" b="0" dirty="0">
              <a:solidFill>
                <a:schemeClr val="bg1">
                  <a:lumMod val="50000"/>
                </a:schemeClr>
              </a:solidFill>
              <a:latin typeface="+mj-lt"/>
            </a:endParaRPr>
          </a:p>
        </p:txBody>
      </p:sp>
      <p:pic>
        <p:nvPicPr>
          <p:cNvPr id="3" name="Picture 2"/>
          <p:cNvPicPr>
            <a:picLocks noChangeAspect="1"/>
          </p:cNvPicPr>
          <p:nvPr/>
        </p:nvPicPr>
        <p:blipFill>
          <a:blip r:embed="rId3"/>
          <a:stretch>
            <a:fillRect/>
          </a:stretch>
        </p:blipFill>
        <p:spPr>
          <a:xfrm>
            <a:off x="4693390" y="1193841"/>
            <a:ext cx="3547110" cy="4087177"/>
          </a:xfrm>
          <a:prstGeom prst="rect">
            <a:avLst/>
          </a:prstGeom>
        </p:spPr>
      </p:pic>
      <p:pic>
        <p:nvPicPr>
          <p:cNvPr id="9" name="Picture 8"/>
          <p:cNvPicPr>
            <a:picLocks noChangeAspect="1"/>
          </p:cNvPicPr>
          <p:nvPr/>
        </p:nvPicPr>
        <p:blipFill>
          <a:blip r:embed="rId4"/>
          <a:stretch>
            <a:fillRect/>
          </a:stretch>
        </p:blipFill>
        <p:spPr>
          <a:xfrm>
            <a:off x="431800" y="1062035"/>
            <a:ext cx="3467100" cy="4753928"/>
          </a:xfrm>
          <a:prstGeom prst="rect">
            <a:avLst/>
          </a:prstGeom>
        </p:spPr>
      </p:pic>
    </p:spTree>
    <p:extLst>
      <p:ext uri="{BB962C8B-B14F-4D97-AF65-F5344CB8AC3E}">
        <p14:creationId xmlns:p14="http://schemas.microsoft.com/office/powerpoint/2010/main" val="483134374"/>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re 5"/>
          <p:cNvSpPr>
            <a:spLocks noGrp="1"/>
          </p:cNvSpPr>
          <p:nvPr>
            <p:ph type="title"/>
          </p:nvPr>
        </p:nvSpPr>
        <p:spPr>
          <a:xfrm>
            <a:off x="431799" y="228600"/>
            <a:ext cx="8280401" cy="784830"/>
          </a:xfrm>
        </p:spPr>
        <p:txBody>
          <a:bodyPr/>
          <a:lstStyle/>
          <a:p>
            <a:r>
              <a:rPr lang="en-CA" sz="2400" dirty="0" smtClean="0">
                <a:solidFill>
                  <a:prstClr val="white">
                    <a:lumMod val="50000"/>
                  </a:prstClr>
                </a:solidFill>
              </a:rPr>
              <a:t>Appendix 2</a:t>
            </a:r>
            <a:r>
              <a:rPr lang="en-CA" dirty="0" smtClean="0"/>
              <a:t/>
            </a:r>
            <a:br>
              <a:rPr lang="en-CA" dirty="0" smtClean="0"/>
            </a:br>
            <a:r>
              <a:rPr lang="en-CA" sz="4000" dirty="0" smtClean="0"/>
              <a:t>Reconciliation to audited financial statements</a:t>
            </a:r>
            <a:endParaRPr lang="en-CA" sz="4000" i="1" dirty="0"/>
          </a:p>
        </p:txBody>
      </p:sp>
      <p:sp>
        <p:nvSpPr>
          <p:cNvPr id="12" name="TextBox 11"/>
          <p:cNvSpPr txBox="1"/>
          <p:nvPr/>
        </p:nvSpPr>
        <p:spPr>
          <a:xfrm>
            <a:off x="429766" y="5266305"/>
            <a:ext cx="3558563" cy="92333"/>
          </a:xfrm>
          <a:prstGeom prst="rect">
            <a:avLst/>
          </a:prstGeom>
          <a:noFill/>
        </p:spPr>
        <p:txBody>
          <a:bodyPr wrap="square" lIns="0" tIns="0" rIns="0" bIns="0" rtlCol="0">
            <a:spAutoFit/>
          </a:bodyPr>
          <a:lstStyle/>
          <a:p>
            <a:pPr marL="285750" indent="-285750" defTabSz="914400"/>
            <a:r>
              <a:rPr lang="en-US" sz="600" i="1" dirty="0" smtClean="0">
                <a:solidFill>
                  <a:srgbClr val="000000"/>
                </a:solidFill>
              </a:rPr>
              <a:t>Source: Management provided consolidation schedules; audited financial statements</a:t>
            </a:r>
            <a:endParaRPr lang="en-US" sz="600" i="1" dirty="0">
              <a:solidFill>
                <a:srgbClr val="000000"/>
              </a:solidFill>
            </a:endParaRPr>
          </a:p>
        </p:txBody>
      </p:sp>
      <p:sp>
        <p:nvSpPr>
          <p:cNvPr id="13" name="TextBox 12"/>
          <p:cNvSpPr txBox="1"/>
          <p:nvPr/>
        </p:nvSpPr>
        <p:spPr>
          <a:xfrm>
            <a:off x="4219591" y="4820495"/>
            <a:ext cx="3558563" cy="92333"/>
          </a:xfrm>
          <a:prstGeom prst="rect">
            <a:avLst/>
          </a:prstGeom>
          <a:noFill/>
        </p:spPr>
        <p:txBody>
          <a:bodyPr wrap="square" lIns="0" tIns="0" rIns="0" bIns="0" rtlCol="0">
            <a:spAutoFit/>
          </a:bodyPr>
          <a:lstStyle/>
          <a:p>
            <a:pPr marL="285750" indent="-285750" defTabSz="914400"/>
            <a:r>
              <a:rPr lang="en-US" sz="600" i="1" dirty="0" smtClean="0">
                <a:solidFill>
                  <a:srgbClr val="000000"/>
                </a:solidFill>
              </a:rPr>
              <a:t>Source: Management provided consolidation schedules; audited financial statements</a:t>
            </a:r>
            <a:endParaRPr lang="en-US" sz="600" i="1" dirty="0">
              <a:solidFill>
                <a:srgbClr val="000000"/>
              </a:solidFill>
            </a:endParaRPr>
          </a:p>
        </p:txBody>
      </p:sp>
      <p:pic>
        <p:nvPicPr>
          <p:cNvPr id="3" name="Picture 2"/>
          <p:cNvPicPr>
            <a:picLocks noChangeAspect="1"/>
          </p:cNvPicPr>
          <p:nvPr/>
        </p:nvPicPr>
        <p:blipFill>
          <a:blip r:embed="rId3"/>
          <a:stretch>
            <a:fillRect/>
          </a:stretch>
        </p:blipFill>
        <p:spPr>
          <a:xfrm>
            <a:off x="429766" y="1013428"/>
            <a:ext cx="3598090" cy="4252877"/>
          </a:xfrm>
          <a:prstGeom prst="rect">
            <a:avLst/>
          </a:prstGeom>
        </p:spPr>
      </p:pic>
      <p:pic>
        <p:nvPicPr>
          <p:cNvPr id="4" name="Picture 3"/>
          <p:cNvPicPr>
            <a:picLocks noChangeAspect="1"/>
          </p:cNvPicPr>
          <p:nvPr/>
        </p:nvPicPr>
        <p:blipFill>
          <a:blip r:embed="rId4"/>
          <a:stretch>
            <a:fillRect/>
          </a:stretch>
        </p:blipFill>
        <p:spPr>
          <a:xfrm>
            <a:off x="4219591" y="1013427"/>
            <a:ext cx="4460500" cy="3807068"/>
          </a:xfrm>
          <a:prstGeom prst="rect">
            <a:avLst/>
          </a:prstGeom>
        </p:spPr>
      </p:pic>
    </p:spTree>
    <p:extLst>
      <p:ext uri="{BB962C8B-B14F-4D97-AF65-F5344CB8AC3E}">
        <p14:creationId xmlns:p14="http://schemas.microsoft.com/office/powerpoint/2010/main" val="491123037"/>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re 5"/>
          <p:cNvSpPr txBox="1">
            <a:spLocks/>
          </p:cNvSpPr>
          <p:nvPr/>
        </p:nvSpPr>
        <p:spPr bwMode="gray">
          <a:xfrm>
            <a:off x="431800" y="228600"/>
            <a:ext cx="8496000" cy="784830"/>
          </a:xfrm>
          <a:prstGeom prst="rect">
            <a:avLst/>
          </a:prstGeom>
        </p:spPr>
        <p:txBody>
          <a:bodyPr vert="horz" lIns="0" tIns="0" rIns="0" bIns="0" rtlCol="0" anchor="t" anchorCtr="0">
            <a:noAutofit/>
          </a:bodyPr>
          <a:lstStyle>
            <a:lvl1pPr algn="l" defTabSz="914400" rtl="0" eaLnBrk="1" latinLnBrk="0" hangingPunct="1">
              <a:lnSpc>
                <a:spcPct val="70000"/>
              </a:lnSpc>
              <a:spcBef>
                <a:spcPct val="0"/>
              </a:spcBef>
              <a:buNone/>
              <a:defRPr sz="3800" kern="1200">
                <a:solidFill>
                  <a:schemeClr val="tx2"/>
                </a:solidFill>
                <a:latin typeface="+mj-lt"/>
                <a:ea typeface="+mj-ea"/>
                <a:cs typeface="+mj-cs"/>
              </a:defRPr>
            </a:lvl1pPr>
          </a:lstStyle>
          <a:p>
            <a:r>
              <a:rPr lang="en-CA" sz="2400" dirty="0" smtClean="0">
                <a:solidFill>
                  <a:prstClr val="white">
                    <a:lumMod val="50000"/>
                  </a:prstClr>
                </a:solidFill>
              </a:rPr>
              <a:t>Appendix 3</a:t>
            </a:r>
          </a:p>
          <a:p>
            <a:pPr>
              <a:spcBef>
                <a:spcPts val="300"/>
              </a:spcBef>
              <a:spcAft>
                <a:spcPts val="300"/>
              </a:spcAft>
            </a:pPr>
            <a:r>
              <a:rPr lang="en-CA" sz="4000" dirty="0" smtClean="0"/>
              <a:t>Combining </a:t>
            </a:r>
            <a:r>
              <a:rPr lang="en-CA" sz="4000" dirty="0"/>
              <a:t>income statement (Aequor USA, India, Switzerland)</a:t>
            </a:r>
          </a:p>
        </p:txBody>
      </p:sp>
      <p:sp>
        <p:nvSpPr>
          <p:cNvPr id="6" name="Text Placeholder 6"/>
          <p:cNvSpPr txBox="1">
            <a:spLocks/>
          </p:cNvSpPr>
          <p:nvPr/>
        </p:nvSpPr>
        <p:spPr bwMode="gray">
          <a:xfrm>
            <a:off x="431800" y="975950"/>
            <a:ext cx="7612988" cy="301102"/>
          </a:xfrm>
          <a:prstGeom prst="rect">
            <a:avLst/>
          </a:prstGeom>
        </p:spPr>
        <p:txBody>
          <a:bodyPr vert="horz" lIns="0" tIns="0" rIns="0" bIns="0" rtlCol="0">
            <a:noAutofit/>
          </a:bodyPr>
          <a:lstStyle>
            <a:lvl1pPr algn="l" eaLnBrk="1" hangingPunct="1">
              <a:spcBef>
                <a:spcPts val="900"/>
              </a:spcBef>
              <a:spcAft>
                <a:spcPts val="0"/>
              </a:spcAft>
              <a:defRPr sz="1200" b="1" i="0">
                <a:solidFill>
                  <a:srgbClr val="00338D"/>
                </a:solidFill>
                <a:latin typeface="Univers for KPMG" panose="020B0603020202020204" pitchFamily="34" charset="0"/>
                <a:cs typeface="Arial" panose="020B0604020202020204" pitchFamily="34" charset="0"/>
              </a:defRPr>
            </a:lvl1pPr>
            <a:lvl2pPr marL="0" indent="0" algn="l" eaLnBrk="1" hangingPunct="1">
              <a:spcBef>
                <a:spcPts val="600"/>
              </a:spcBef>
              <a:spcAft>
                <a:spcPts val="0"/>
              </a:spcAft>
              <a:buFont typeface="Univers for KPMG"/>
              <a:buNone/>
              <a:defRPr sz="1200" b="0" i="0">
                <a:solidFill>
                  <a:srgbClr val="00338D"/>
                </a:solidFill>
                <a:latin typeface="+mn-lt"/>
                <a:cs typeface="Arial" panose="020B0604020202020204" pitchFamily="34" charset="0"/>
              </a:defRPr>
            </a:lvl2pPr>
            <a:lvl3pPr marL="270000" indent="-270000" algn="l" eaLnBrk="1" hangingPunct="1">
              <a:spcBef>
                <a:spcPts val="300"/>
              </a:spcBef>
              <a:spcAft>
                <a:spcPts val="0"/>
              </a:spcAft>
              <a:buClr>
                <a:schemeClr val="tx2"/>
              </a:buClr>
              <a:buFont typeface="Univers for KPMG Light" panose="020B0403020202020204" pitchFamily="34" charset="0"/>
              <a:buChar char="—"/>
              <a:defRPr sz="1100" b="0" i="0">
                <a:solidFill>
                  <a:srgbClr val="00338D"/>
                </a:solidFill>
                <a:latin typeface="+mn-lt"/>
                <a:cs typeface="Arial" panose="020B0604020202020204" pitchFamily="34" charset="0"/>
              </a:defRPr>
            </a:lvl3pPr>
            <a:lvl4pPr marL="630000" indent="-270000" algn="l" eaLnBrk="1" hangingPunct="1">
              <a:spcBef>
                <a:spcPts val="200"/>
              </a:spcBef>
              <a:spcAft>
                <a:spcPts val="0"/>
              </a:spcAft>
              <a:buClr>
                <a:schemeClr val="tx2"/>
              </a:buClr>
              <a:buFont typeface="Univers for KPMG Light" panose="020B0403020202020204" pitchFamily="34" charset="0"/>
              <a:buChar char="—"/>
              <a:defRPr lang="en-US" sz="1000" b="0" i="0" dirty="0" smtClean="0">
                <a:solidFill>
                  <a:srgbClr val="00338D"/>
                </a:solidFill>
                <a:latin typeface="+mn-lt"/>
                <a:cs typeface="Arial" panose="020B0604020202020204" pitchFamily="34" charset="0"/>
              </a:defRPr>
            </a:lvl4pPr>
            <a:lvl5pPr marL="990000" indent="-270000" algn="l" eaLnBrk="1" hangingPunct="1">
              <a:spcBef>
                <a:spcPts val="200"/>
              </a:spcBef>
              <a:spcAft>
                <a:spcPts val="0"/>
              </a:spcAft>
              <a:buClr>
                <a:schemeClr val="tx2"/>
              </a:buClr>
              <a:buFont typeface="Univers for KPMG Light" panose="020B0403020202020204" pitchFamily="34" charset="0"/>
              <a:buChar char="—"/>
              <a:defRPr lang="en-CA" sz="900" b="0" i="0" dirty="0">
                <a:solidFill>
                  <a:srgbClr val="00338D"/>
                </a:solidFill>
                <a:latin typeface="+mn-lt"/>
                <a:cs typeface="Arial" panose="020B0604020202020204" pitchFamily="34" charset="0"/>
              </a:defRPr>
            </a:lvl5pPr>
            <a:lvl6pPr marL="1166813" indent="-248400" algn="l" eaLnBrk="1" hangingPunct="1">
              <a:spcAft>
                <a:spcPts val="600"/>
              </a:spcAft>
              <a:buFont typeface="Univers for KPMG Light" panose="020B0403020202020204" pitchFamily="34" charset="0"/>
              <a:buChar char="-"/>
              <a:defRPr lang="en-US" sz="1400" b="0" i="0" baseline="0" dirty="0" smtClean="0">
                <a:solidFill>
                  <a:srgbClr val="003087"/>
                </a:solidFill>
                <a:latin typeface="Univers for KPMG Light" panose="020B0403020202020204" pitchFamily="34" charset="0"/>
              </a:defRPr>
            </a:lvl6pPr>
            <a:lvl7pPr marL="1524000" indent="-309600" algn="l" eaLnBrk="1" hangingPunct="1">
              <a:spcAft>
                <a:spcPts val="600"/>
              </a:spcAft>
              <a:buFont typeface="Univers for KPMG Light" panose="020B0403020202020204" pitchFamily="34" charset="0"/>
              <a:buChar char="—"/>
              <a:defRPr lang="en-US" sz="1400" b="0" i="0" dirty="0" smtClean="0">
                <a:solidFill>
                  <a:srgbClr val="003087"/>
                </a:solidFill>
                <a:latin typeface="Univers for KPMG Light" panose="020B0403020202020204" pitchFamily="34" charset="0"/>
              </a:defRPr>
            </a:lvl7pPr>
            <a:lvl8pPr marL="1881188" indent="-248400" algn="l" eaLnBrk="1" hangingPunct="1">
              <a:spcAft>
                <a:spcPts val="600"/>
              </a:spcAft>
              <a:buFont typeface="Univers for KPMG Light" panose="020B0403020202020204" pitchFamily="34" charset="0"/>
              <a:buChar char="-"/>
              <a:defRPr lang="en-US" sz="1400" b="0" i="0" baseline="0" dirty="0" smtClean="0">
                <a:solidFill>
                  <a:srgbClr val="003087"/>
                </a:solidFill>
                <a:latin typeface="Univers for KPMG Light" panose="020B0403020202020204" pitchFamily="34" charset="0"/>
              </a:defRPr>
            </a:lvl8pPr>
            <a:lvl9pPr marL="2238375" indent="-309600" algn="l" eaLnBrk="1" hangingPunct="1">
              <a:spcAft>
                <a:spcPts val="600"/>
              </a:spcAft>
              <a:buFont typeface="Univers for KPMG Light" panose="020B0403020202020204" pitchFamily="34" charset="0"/>
              <a:buChar char="—"/>
              <a:defRPr lang="en-US" sz="1400" b="0" i="0" dirty="0" smtClean="0">
                <a:solidFill>
                  <a:srgbClr val="003087"/>
                </a:solidFill>
                <a:latin typeface="Univers for KPMG Light" panose="020B0403020202020204" pitchFamily="34" charset="0"/>
              </a:defRPr>
            </a:lvl9pPr>
          </a:lstStyle>
          <a:p>
            <a:r>
              <a:rPr lang="en-US" sz="900" b="0" dirty="0" smtClean="0">
                <a:solidFill>
                  <a:srgbClr val="6D2077"/>
                </a:solidFill>
              </a:rPr>
              <a:t>The Company’s financials are presented on a combined (grossed) up basis.</a:t>
            </a:r>
          </a:p>
        </p:txBody>
      </p:sp>
      <p:sp>
        <p:nvSpPr>
          <p:cNvPr id="5" name="TextBox 4"/>
          <p:cNvSpPr txBox="1"/>
          <p:nvPr/>
        </p:nvSpPr>
        <p:spPr>
          <a:xfrm>
            <a:off x="431798" y="4814222"/>
            <a:ext cx="3558563" cy="92333"/>
          </a:xfrm>
          <a:prstGeom prst="rect">
            <a:avLst/>
          </a:prstGeom>
          <a:noFill/>
        </p:spPr>
        <p:txBody>
          <a:bodyPr wrap="square" lIns="0" tIns="0" rIns="0" bIns="0" rtlCol="0">
            <a:spAutoFit/>
          </a:bodyPr>
          <a:lstStyle/>
          <a:p>
            <a:pPr marL="285750" indent="-285750" defTabSz="914400"/>
            <a:r>
              <a:rPr lang="en-US" sz="600" i="1" dirty="0" smtClean="0">
                <a:solidFill>
                  <a:srgbClr val="000000"/>
                </a:solidFill>
              </a:rPr>
              <a:t>Source: Management provided information; KPMG analysis</a:t>
            </a:r>
            <a:endParaRPr lang="en-US" sz="600" i="1" dirty="0">
              <a:solidFill>
                <a:srgbClr val="000000"/>
              </a:solidFill>
            </a:endParaRPr>
          </a:p>
        </p:txBody>
      </p:sp>
      <p:pic>
        <p:nvPicPr>
          <p:cNvPr id="10" name="Picture 9"/>
          <p:cNvPicPr>
            <a:picLocks noChangeAspect="1"/>
          </p:cNvPicPr>
          <p:nvPr/>
        </p:nvPicPr>
        <p:blipFill>
          <a:blip r:embed="rId3"/>
          <a:stretch>
            <a:fillRect/>
          </a:stretch>
        </p:blipFill>
        <p:spPr>
          <a:xfrm>
            <a:off x="431799" y="1277052"/>
            <a:ext cx="5770643" cy="3537170"/>
          </a:xfrm>
          <a:prstGeom prst="rect">
            <a:avLst/>
          </a:prstGeom>
        </p:spPr>
      </p:pic>
    </p:spTree>
    <p:extLst>
      <p:ext uri="{BB962C8B-B14F-4D97-AF65-F5344CB8AC3E}">
        <p14:creationId xmlns:p14="http://schemas.microsoft.com/office/powerpoint/2010/main" val="1563058960"/>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stretch>
            <a:fillRect/>
          </a:stretch>
        </p:blipFill>
        <p:spPr>
          <a:xfrm>
            <a:off x="431799" y="1277052"/>
            <a:ext cx="6210909" cy="3628664"/>
          </a:xfrm>
          <a:prstGeom prst="rect">
            <a:avLst/>
          </a:prstGeom>
        </p:spPr>
      </p:pic>
      <p:sp>
        <p:nvSpPr>
          <p:cNvPr id="11" name="Titre 5"/>
          <p:cNvSpPr txBox="1">
            <a:spLocks/>
          </p:cNvSpPr>
          <p:nvPr/>
        </p:nvSpPr>
        <p:spPr bwMode="gray">
          <a:xfrm>
            <a:off x="431800" y="228600"/>
            <a:ext cx="8496000" cy="784830"/>
          </a:xfrm>
          <a:prstGeom prst="rect">
            <a:avLst/>
          </a:prstGeom>
        </p:spPr>
        <p:txBody>
          <a:bodyPr vert="horz" lIns="0" tIns="0" rIns="0" bIns="0" rtlCol="0" anchor="t" anchorCtr="0">
            <a:noAutofit/>
          </a:bodyPr>
          <a:lstStyle>
            <a:lvl1pPr algn="l" defTabSz="914400" rtl="0" eaLnBrk="1" latinLnBrk="0" hangingPunct="1">
              <a:lnSpc>
                <a:spcPct val="70000"/>
              </a:lnSpc>
              <a:spcBef>
                <a:spcPct val="0"/>
              </a:spcBef>
              <a:buNone/>
              <a:defRPr sz="3800" kern="1200">
                <a:solidFill>
                  <a:schemeClr val="tx2"/>
                </a:solidFill>
                <a:latin typeface="+mj-lt"/>
                <a:ea typeface="+mj-ea"/>
                <a:cs typeface="+mj-cs"/>
              </a:defRPr>
            </a:lvl1pPr>
          </a:lstStyle>
          <a:p>
            <a:r>
              <a:rPr lang="en-CA" sz="2400" dirty="0" smtClean="0">
                <a:solidFill>
                  <a:prstClr val="white">
                    <a:lumMod val="50000"/>
                  </a:prstClr>
                </a:solidFill>
              </a:rPr>
              <a:t>Appendix </a:t>
            </a:r>
            <a:r>
              <a:rPr lang="en-CA" sz="2400" dirty="0">
                <a:solidFill>
                  <a:prstClr val="white">
                    <a:lumMod val="50000"/>
                  </a:prstClr>
                </a:solidFill>
              </a:rPr>
              <a:t>4</a:t>
            </a:r>
            <a:endParaRPr lang="en-CA" sz="2400" dirty="0" smtClean="0">
              <a:solidFill>
                <a:prstClr val="white">
                  <a:lumMod val="50000"/>
                </a:prstClr>
              </a:solidFill>
            </a:endParaRPr>
          </a:p>
          <a:p>
            <a:pPr>
              <a:spcBef>
                <a:spcPts val="300"/>
              </a:spcBef>
              <a:spcAft>
                <a:spcPts val="300"/>
              </a:spcAft>
            </a:pPr>
            <a:r>
              <a:rPr lang="en-CA" sz="4000" dirty="0" smtClean="0"/>
              <a:t>Combining balance sheet (Aequor </a:t>
            </a:r>
            <a:r>
              <a:rPr lang="en-CA" sz="4000" dirty="0"/>
              <a:t>USA, India, Switzerland)</a:t>
            </a:r>
          </a:p>
        </p:txBody>
      </p:sp>
      <p:sp>
        <p:nvSpPr>
          <p:cNvPr id="6" name="Text Placeholder 6"/>
          <p:cNvSpPr txBox="1">
            <a:spLocks/>
          </p:cNvSpPr>
          <p:nvPr/>
        </p:nvSpPr>
        <p:spPr bwMode="gray">
          <a:xfrm>
            <a:off x="431800" y="975950"/>
            <a:ext cx="7612988" cy="301102"/>
          </a:xfrm>
          <a:prstGeom prst="rect">
            <a:avLst/>
          </a:prstGeom>
        </p:spPr>
        <p:txBody>
          <a:bodyPr vert="horz" lIns="0" tIns="0" rIns="0" bIns="0" rtlCol="0">
            <a:noAutofit/>
          </a:bodyPr>
          <a:lstStyle>
            <a:lvl1pPr algn="l" eaLnBrk="1" hangingPunct="1">
              <a:spcBef>
                <a:spcPts val="900"/>
              </a:spcBef>
              <a:spcAft>
                <a:spcPts val="0"/>
              </a:spcAft>
              <a:defRPr sz="1200" b="1" i="0">
                <a:solidFill>
                  <a:srgbClr val="00338D"/>
                </a:solidFill>
                <a:latin typeface="Univers for KPMG" panose="020B0603020202020204" pitchFamily="34" charset="0"/>
                <a:cs typeface="Arial" panose="020B0604020202020204" pitchFamily="34" charset="0"/>
              </a:defRPr>
            </a:lvl1pPr>
            <a:lvl2pPr marL="0" indent="0" algn="l" eaLnBrk="1" hangingPunct="1">
              <a:spcBef>
                <a:spcPts val="600"/>
              </a:spcBef>
              <a:spcAft>
                <a:spcPts val="0"/>
              </a:spcAft>
              <a:buFont typeface="Univers for KPMG"/>
              <a:buNone/>
              <a:defRPr sz="1200" b="0" i="0">
                <a:solidFill>
                  <a:srgbClr val="00338D"/>
                </a:solidFill>
                <a:latin typeface="+mn-lt"/>
                <a:cs typeface="Arial" panose="020B0604020202020204" pitchFamily="34" charset="0"/>
              </a:defRPr>
            </a:lvl2pPr>
            <a:lvl3pPr marL="270000" indent="-270000" algn="l" eaLnBrk="1" hangingPunct="1">
              <a:spcBef>
                <a:spcPts val="300"/>
              </a:spcBef>
              <a:spcAft>
                <a:spcPts val="0"/>
              </a:spcAft>
              <a:buClr>
                <a:schemeClr val="tx2"/>
              </a:buClr>
              <a:buFont typeface="Univers for KPMG Light" panose="020B0403020202020204" pitchFamily="34" charset="0"/>
              <a:buChar char="—"/>
              <a:defRPr sz="1100" b="0" i="0">
                <a:solidFill>
                  <a:srgbClr val="00338D"/>
                </a:solidFill>
                <a:latin typeface="+mn-lt"/>
                <a:cs typeface="Arial" panose="020B0604020202020204" pitchFamily="34" charset="0"/>
              </a:defRPr>
            </a:lvl3pPr>
            <a:lvl4pPr marL="630000" indent="-270000" algn="l" eaLnBrk="1" hangingPunct="1">
              <a:spcBef>
                <a:spcPts val="200"/>
              </a:spcBef>
              <a:spcAft>
                <a:spcPts val="0"/>
              </a:spcAft>
              <a:buClr>
                <a:schemeClr val="tx2"/>
              </a:buClr>
              <a:buFont typeface="Univers for KPMG Light" panose="020B0403020202020204" pitchFamily="34" charset="0"/>
              <a:buChar char="—"/>
              <a:defRPr lang="en-US" sz="1000" b="0" i="0" dirty="0" smtClean="0">
                <a:solidFill>
                  <a:srgbClr val="00338D"/>
                </a:solidFill>
                <a:latin typeface="+mn-lt"/>
                <a:cs typeface="Arial" panose="020B0604020202020204" pitchFamily="34" charset="0"/>
              </a:defRPr>
            </a:lvl4pPr>
            <a:lvl5pPr marL="990000" indent="-270000" algn="l" eaLnBrk="1" hangingPunct="1">
              <a:spcBef>
                <a:spcPts val="200"/>
              </a:spcBef>
              <a:spcAft>
                <a:spcPts val="0"/>
              </a:spcAft>
              <a:buClr>
                <a:schemeClr val="tx2"/>
              </a:buClr>
              <a:buFont typeface="Univers for KPMG Light" panose="020B0403020202020204" pitchFamily="34" charset="0"/>
              <a:buChar char="—"/>
              <a:defRPr lang="en-CA" sz="900" b="0" i="0" dirty="0">
                <a:solidFill>
                  <a:srgbClr val="00338D"/>
                </a:solidFill>
                <a:latin typeface="+mn-lt"/>
                <a:cs typeface="Arial" panose="020B0604020202020204" pitchFamily="34" charset="0"/>
              </a:defRPr>
            </a:lvl5pPr>
            <a:lvl6pPr marL="1166813" indent="-248400" algn="l" eaLnBrk="1" hangingPunct="1">
              <a:spcAft>
                <a:spcPts val="600"/>
              </a:spcAft>
              <a:buFont typeface="Univers for KPMG Light" panose="020B0403020202020204" pitchFamily="34" charset="0"/>
              <a:buChar char="-"/>
              <a:defRPr lang="en-US" sz="1400" b="0" i="0" baseline="0" dirty="0" smtClean="0">
                <a:solidFill>
                  <a:srgbClr val="003087"/>
                </a:solidFill>
                <a:latin typeface="Univers for KPMG Light" panose="020B0403020202020204" pitchFamily="34" charset="0"/>
              </a:defRPr>
            </a:lvl6pPr>
            <a:lvl7pPr marL="1524000" indent="-309600" algn="l" eaLnBrk="1" hangingPunct="1">
              <a:spcAft>
                <a:spcPts val="600"/>
              </a:spcAft>
              <a:buFont typeface="Univers for KPMG Light" panose="020B0403020202020204" pitchFamily="34" charset="0"/>
              <a:buChar char="—"/>
              <a:defRPr lang="en-US" sz="1400" b="0" i="0" dirty="0" smtClean="0">
                <a:solidFill>
                  <a:srgbClr val="003087"/>
                </a:solidFill>
                <a:latin typeface="Univers for KPMG Light" panose="020B0403020202020204" pitchFamily="34" charset="0"/>
              </a:defRPr>
            </a:lvl7pPr>
            <a:lvl8pPr marL="1881188" indent="-248400" algn="l" eaLnBrk="1" hangingPunct="1">
              <a:spcAft>
                <a:spcPts val="600"/>
              </a:spcAft>
              <a:buFont typeface="Univers for KPMG Light" panose="020B0403020202020204" pitchFamily="34" charset="0"/>
              <a:buChar char="-"/>
              <a:defRPr lang="en-US" sz="1400" b="0" i="0" baseline="0" dirty="0" smtClean="0">
                <a:solidFill>
                  <a:srgbClr val="003087"/>
                </a:solidFill>
                <a:latin typeface="Univers for KPMG Light" panose="020B0403020202020204" pitchFamily="34" charset="0"/>
              </a:defRPr>
            </a:lvl8pPr>
            <a:lvl9pPr marL="2238375" indent="-309600" algn="l" eaLnBrk="1" hangingPunct="1">
              <a:spcAft>
                <a:spcPts val="600"/>
              </a:spcAft>
              <a:buFont typeface="Univers for KPMG Light" panose="020B0403020202020204" pitchFamily="34" charset="0"/>
              <a:buChar char="—"/>
              <a:defRPr lang="en-US" sz="1400" b="0" i="0" dirty="0" smtClean="0">
                <a:solidFill>
                  <a:srgbClr val="003087"/>
                </a:solidFill>
                <a:latin typeface="Univers for KPMG Light" panose="020B0403020202020204" pitchFamily="34" charset="0"/>
              </a:defRPr>
            </a:lvl9pPr>
          </a:lstStyle>
          <a:p>
            <a:r>
              <a:rPr lang="en-US" sz="900" b="0" dirty="0" smtClean="0">
                <a:solidFill>
                  <a:srgbClr val="6D2077"/>
                </a:solidFill>
              </a:rPr>
              <a:t>The Company’s financials are presented on a combined (grossed) up basis.</a:t>
            </a:r>
          </a:p>
        </p:txBody>
      </p:sp>
      <p:sp>
        <p:nvSpPr>
          <p:cNvPr id="5" name="TextBox 4"/>
          <p:cNvSpPr txBox="1"/>
          <p:nvPr/>
        </p:nvSpPr>
        <p:spPr>
          <a:xfrm>
            <a:off x="431798" y="4905716"/>
            <a:ext cx="3558563" cy="92333"/>
          </a:xfrm>
          <a:prstGeom prst="rect">
            <a:avLst/>
          </a:prstGeom>
          <a:noFill/>
        </p:spPr>
        <p:txBody>
          <a:bodyPr wrap="square" lIns="0" tIns="0" rIns="0" bIns="0" rtlCol="0">
            <a:spAutoFit/>
          </a:bodyPr>
          <a:lstStyle/>
          <a:p>
            <a:pPr marL="285750" indent="-285750" defTabSz="914400"/>
            <a:r>
              <a:rPr lang="en-US" sz="600" i="1" dirty="0" smtClean="0">
                <a:solidFill>
                  <a:srgbClr val="000000"/>
                </a:solidFill>
              </a:rPr>
              <a:t>Source: Management provided information; KPMG analysis</a:t>
            </a:r>
            <a:endParaRPr lang="en-US" sz="600" i="1" dirty="0">
              <a:solidFill>
                <a:srgbClr val="000000"/>
              </a:solidFill>
            </a:endParaRPr>
          </a:p>
        </p:txBody>
      </p:sp>
    </p:spTree>
    <p:extLst>
      <p:ext uri="{BB962C8B-B14F-4D97-AF65-F5344CB8AC3E}">
        <p14:creationId xmlns:p14="http://schemas.microsoft.com/office/powerpoint/2010/main" val="3281007374"/>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re 5"/>
          <p:cNvSpPr>
            <a:spLocks noGrp="1"/>
          </p:cNvSpPr>
          <p:nvPr>
            <p:ph type="title"/>
          </p:nvPr>
        </p:nvSpPr>
        <p:spPr>
          <a:xfrm>
            <a:off x="431799" y="228600"/>
            <a:ext cx="8280401" cy="784830"/>
          </a:xfrm>
        </p:spPr>
        <p:txBody>
          <a:bodyPr/>
          <a:lstStyle/>
          <a:p>
            <a:r>
              <a:rPr lang="en-CA" sz="2400" dirty="0" smtClean="0">
                <a:solidFill>
                  <a:prstClr val="white">
                    <a:lumMod val="50000"/>
                  </a:prstClr>
                </a:solidFill>
              </a:rPr>
              <a:t>Appendix 5</a:t>
            </a:r>
            <a:r>
              <a:rPr lang="en-CA" dirty="0" smtClean="0"/>
              <a:t/>
            </a:r>
            <a:br>
              <a:rPr lang="en-CA" dirty="0" smtClean="0"/>
            </a:br>
            <a:r>
              <a:rPr lang="en-CA" sz="4000" dirty="0" smtClean="0"/>
              <a:t>India financial statements</a:t>
            </a:r>
            <a:endParaRPr lang="en-CA" sz="4000" i="1" dirty="0"/>
          </a:p>
        </p:txBody>
      </p:sp>
      <p:pic>
        <p:nvPicPr>
          <p:cNvPr id="5" name="Picture 4"/>
          <p:cNvPicPr>
            <a:picLocks noChangeAspect="1"/>
          </p:cNvPicPr>
          <p:nvPr/>
        </p:nvPicPr>
        <p:blipFill>
          <a:blip r:embed="rId3"/>
          <a:stretch>
            <a:fillRect/>
          </a:stretch>
        </p:blipFill>
        <p:spPr>
          <a:xfrm>
            <a:off x="431798" y="1013430"/>
            <a:ext cx="2182410" cy="2511600"/>
          </a:xfrm>
          <a:prstGeom prst="rect">
            <a:avLst/>
          </a:prstGeom>
        </p:spPr>
      </p:pic>
      <p:pic>
        <p:nvPicPr>
          <p:cNvPr id="2" name="Picture 1"/>
          <p:cNvPicPr>
            <a:picLocks noChangeAspect="1"/>
          </p:cNvPicPr>
          <p:nvPr/>
        </p:nvPicPr>
        <p:blipFill>
          <a:blip r:embed="rId4"/>
          <a:stretch>
            <a:fillRect/>
          </a:stretch>
        </p:blipFill>
        <p:spPr>
          <a:xfrm>
            <a:off x="2838818" y="1013430"/>
            <a:ext cx="3263162" cy="2264925"/>
          </a:xfrm>
          <a:prstGeom prst="rect">
            <a:avLst/>
          </a:prstGeom>
        </p:spPr>
      </p:pic>
      <p:sp>
        <p:nvSpPr>
          <p:cNvPr id="7" name="TextBox 6"/>
          <p:cNvSpPr txBox="1"/>
          <p:nvPr/>
        </p:nvSpPr>
        <p:spPr>
          <a:xfrm>
            <a:off x="431797" y="3525030"/>
            <a:ext cx="3558563" cy="92333"/>
          </a:xfrm>
          <a:prstGeom prst="rect">
            <a:avLst/>
          </a:prstGeom>
          <a:noFill/>
        </p:spPr>
        <p:txBody>
          <a:bodyPr wrap="square" lIns="0" tIns="0" rIns="0" bIns="0" rtlCol="0">
            <a:spAutoFit/>
          </a:bodyPr>
          <a:lstStyle/>
          <a:p>
            <a:pPr marL="285750" indent="-285750" defTabSz="914400"/>
            <a:r>
              <a:rPr lang="en-US" sz="600" i="1" dirty="0" smtClean="0">
                <a:solidFill>
                  <a:srgbClr val="000000"/>
                </a:solidFill>
              </a:rPr>
              <a:t>Source: Management provided information; KPMG analysis</a:t>
            </a:r>
            <a:endParaRPr lang="en-US" sz="600" i="1" dirty="0">
              <a:solidFill>
                <a:srgbClr val="000000"/>
              </a:solidFill>
            </a:endParaRPr>
          </a:p>
        </p:txBody>
      </p:sp>
      <p:sp>
        <p:nvSpPr>
          <p:cNvPr id="8" name="TextBox 7"/>
          <p:cNvSpPr txBox="1"/>
          <p:nvPr/>
        </p:nvSpPr>
        <p:spPr>
          <a:xfrm>
            <a:off x="2838818" y="3278355"/>
            <a:ext cx="3558563" cy="92333"/>
          </a:xfrm>
          <a:prstGeom prst="rect">
            <a:avLst/>
          </a:prstGeom>
          <a:noFill/>
        </p:spPr>
        <p:txBody>
          <a:bodyPr wrap="square" lIns="0" tIns="0" rIns="0" bIns="0" rtlCol="0">
            <a:spAutoFit/>
          </a:bodyPr>
          <a:lstStyle/>
          <a:p>
            <a:pPr marL="285750" indent="-285750" defTabSz="914400"/>
            <a:r>
              <a:rPr lang="en-US" sz="600" i="1" dirty="0" smtClean="0">
                <a:solidFill>
                  <a:srgbClr val="000000"/>
                </a:solidFill>
              </a:rPr>
              <a:t>Source: Management provided information; KPMG analysis</a:t>
            </a:r>
            <a:endParaRPr lang="en-US" sz="600" i="1" dirty="0">
              <a:solidFill>
                <a:srgbClr val="000000"/>
              </a:solidFill>
            </a:endParaRPr>
          </a:p>
        </p:txBody>
      </p:sp>
    </p:spTree>
    <p:extLst>
      <p:ext uri="{BB962C8B-B14F-4D97-AF65-F5344CB8AC3E}">
        <p14:creationId xmlns:p14="http://schemas.microsoft.com/office/powerpoint/2010/main" val="315866149"/>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re 5"/>
          <p:cNvSpPr>
            <a:spLocks noGrp="1"/>
          </p:cNvSpPr>
          <p:nvPr>
            <p:ph type="title"/>
          </p:nvPr>
        </p:nvSpPr>
        <p:spPr>
          <a:xfrm>
            <a:off x="431799" y="228600"/>
            <a:ext cx="8280401" cy="784830"/>
          </a:xfrm>
        </p:spPr>
        <p:txBody>
          <a:bodyPr/>
          <a:lstStyle/>
          <a:p>
            <a:r>
              <a:rPr lang="en-CA" sz="2400" dirty="0" smtClean="0">
                <a:solidFill>
                  <a:prstClr val="white">
                    <a:lumMod val="50000"/>
                  </a:prstClr>
                </a:solidFill>
              </a:rPr>
              <a:t>Appendix 6</a:t>
            </a:r>
            <a:r>
              <a:rPr lang="en-CA" dirty="0" smtClean="0"/>
              <a:t/>
            </a:r>
            <a:br>
              <a:rPr lang="en-CA" dirty="0" smtClean="0"/>
            </a:br>
            <a:r>
              <a:rPr lang="en-CA" sz="4000" dirty="0" smtClean="0"/>
              <a:t>Switzerland financial statements</a:t>
            </a:r>
            <a:endParaRPr lang="en-CA" sz="4000" i="1" dirty="0"/>
          </a:p>
        </p:txBody>
      </p:sp>
      <p:pic>
        <p:nvPicPr>
          <p:cNvPr id="11" name="Picture 10"/>
          <p:cNvPicPr>
            <a:picLocks noChangeAspect="1"/>
          </p:cNvPicPr>
          <p:nvPr/>
        </p:nvPicPr>
        <p:blipFill>
          <a:blip r:embed="rId3"/>
          <a:stretch>
            <a:fillRect/>
          </a:stretch>
        </p:blipFill>
        <p:spPr>
          <a:xfrm>
            <a:off x="431799" y="1013430"/>
            <a:ext cx="2198340" cy="3532187"/>
          </a:xfrm>
          <a:prstGeom prst="rect">
            <a:avLst/>
          </a:prstGeom>
        </p:spPr>
      </p:pic>
      <p:sp>
        <p:nvSpPr>
          <p:cNvPr id="13" name="TextBox 12"/>
          <p:cNvSpPr txBox="1"/>
          <p:nvPr/>
        </p:nvSpPr>
        <p:spPr>
          <a:xfrm>
            <a:off x="431799" y="4545617"/>
            <a:ext cx="3558563" cy="92333"/>
          </a:xfrm>
          <a:prstGeom prst="rect">
            <a:avLst/>
          </a:prstGeom>
          <a:noFill/>
        </p:spPr>
        <p:txBody>
          <a:bodyPr wrap="square" lIns="0" tIns="0" rIns="0" bIns="0" rtlCol="0">
            <a:spAutoFit/>
          </a:bodyPr>
          <a:lstStyle/>
          <a:p>
            <a:pPr marL="285750" indent="-285750" defTabSz="914400"/>
            <a:r>
              <a:rPr lang="en-US" sz="600" i="1" dirty="0" smtClean="0">
                <a:solidFill>
                  <a:srgbClr val="000000"/>
                </a:solidFill>
              </a:rPr>
              <a:t>Source: Management provided information; KPMG analysis</a:t>
            </a:r>
            <a:endParaRPr lang="en-US" sz="600" i="1" dirty="0">
              <a:solidFill>
                <a:srgbClr val="000000"/>
              </a:solidFill>
            </a:endParaRPr>
          </a:p>
        </p:txBody>
      </p:sp>
      <p:sp>
        <p:nvSpPr>
          <p:cNvPr id="14" name="TextBox 13"/>
          <p:cNvSpPr txBox="1"/>
          <p:nvPr/>
        </p:nvSpPr>
        <p:spPr>
          <a:xfrm>
            <a:off x="2852423" y="3166230"/>
            <a:ext cx="3558563" cy="92333"/>
          </a:xfrm>
          <a:prstGeom prst="rect">
            <a:avLst/>
          </a:prstGeom>
          <a:noFill/>
        </p:spPr>
        <p:txBody>
          <a:bodyPr wrap="square" lIns="0" tIns="0" rIns="0" bIns="0" rtlCol="0">
            <a:spAutoFit/>
          </a:bodyPr>
          <a:lstStyle/>
          <a:p>
            <a:pPr marL="285750" indent="-285750" defTabSz="914400"/>
            <a:r>
              <a:rPr lang="en-US" sz="600" i="1" dirty="0" smtClean="0">
                <a:solidFill>
                  <a:srgbClr val="000000"/>
                </a:solidFill>
              </a:rPr>
              <a:t>Source: Management provided information; KPMG analysis</a:t>
            </a:r>
            <a:endParaRPr lang="en-US" sz="600" i="1" dirty="0">
              <a:solidFill>
                <a:srgbClr val="000000"/>
              </a:solidFill>
            </a:endParaRPr>
          </a:p>
        </p:txBody>
      </p:sp>
      <p:pic>
        <p:nvPicPr>
          <p:cNvPr id="2" name="Picture 1"/>
          <p:cNvPicPr>
            <a:picLocks noChangeAspect="1"/>
          </p:cNvPicPr>
          <p:nvPr/>
        </p:nvPicPr>
        <p:blipFill>
          <a:blip r:embed="rId4"/>
          <a:stretch>
            <a:fillRect/>
          </a:stretch>
        </p:blipFill>
        <p:spPr>
          <a:xfrm>
            <a:off x="2852422" y="1013430"/>
            <a:ext cx="3785864" cy="2152800"/>
          </a:xfrm>
          <a:prstGeom prst="rect">
            <a:avLst/>
          </a:prstGeom>
        </p:spPr>
      </p:pic>
    </p:spTree>
    <p:extLst>
      <p:ext uri="{BB962C8B-B14F-4D97-AF65-F5344CB8AC3E}">
        <p14:creationId xmlns:p14="http://schemas.microsoft.com/office/powerpoint/2010/main" val="3946571671"/>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6"/>
          <a:stretch>
            <a:fillRect/>
          </a:stretch>
        </p:blipFill>
        <p:spPr>
          <a:xfrm>
            <a:off x="431801" y="1007847"/>
            <a:ext cx="2894282" cy="2541500"/>
          </a:xfrm>
          <a:prstGeom prst="rect">
            <a:avLst/>
          </a:prstGeom>
        </p:spPr>
      </p:pic>
      <p:sp>
        <p:nvSpPr>
          <p:cNvPr id="6" name="Titre 5"/>
          <p:cNvSpPr>
            <a:spLocks noGrp="1"/>
          </p:cNvSpPr>
          <p:nvPr>
            <p:ph type="title"/>
          </p:nvPr>
        </p:nvSpPr>
        <p:spPr>
          <a:xfrm>
            <a:off x="431799" y="228600"/>
            <a:ext cx="8280401" cy="784830"/>
          </a:xfrm>
        </p:spPr>
        <p:txBody>
          <a:bodyPr/>
          <a:lstStyle/>
          <a:p>
            <a:r>
              <a:rPr lang="en-CA" sz="2400" dirty="0" smtClean="0">
                <a:solidFill>
                  <a:prstClr val="white">
                    <a:lumMod val="50000"/>
                  </a:prstClr>
                </a:solidFill>
              </a:rPr>
              <a:t>Appendix </a:t>
            </a:r>
            <a:r>
              <a:rPr lang="en-CA" sz="2400" dirty="0">
                <a:solidFill>
                  <a:prstClr val="white">
                    <a:lumMod val="50000"/>
                  </a:prstClr>
                </a:solidFill>
              </a:rPr>
              <a:t>7</a:t>
            </a:r>
            <a:r>
              <a:rPr lang="en-CA" dirty="0" smtClean="0"/>
              <a:t/>
            </a:r>
            <a:br>
              <a:rPr lang="en-CA" dirty="0" smtClean="0"/>
            </a:br>
            <a:r>
              <a:rPr lang="en-CA" dirty="0" smtClean="0"/>
              <a:t>Top customers (1) - Nursing</a:t>
            </a:r>
            <a:endParaRPr lang="en-CA" sz="4000" i="1" dirty="0"/>
          </a:p>
        </p:txBody>
      </p:sp>
      <p:sp>
        <p:nvSpPr>
          <p:cNvPr id="5" name="TextBox 4"/>
          <p:cNvSpPr txBox="1"/>
          <p:nvPr/>
        </p:nvSpPr>
        <p:spPr>
          <a:xfrm>
            <a:off x="431799" y="3556289"/>
            <a:ext cx="3030482" cy="461665"/>
          </a:xfrm>
          <a:prstGeom prst="rect">
            <a:avLst/>
          </a:prstGeom>
          <a:noFill/>
        </p:spPr>
        <p:txBody>
          <a:bodyPr wrap="square" lIns="0" tIns="0" rIns="0" bIns="0" rtlCol="0">
            <a:spAutoFit/>
          </a:bodyPr>
          <a:lstStyle/>
          <a:p>
            <a:pPr marL="285750" indent="-285750" defTabSz="914400"/>
            <a:r>
              <a:rPr lang="en-US" sz="600" dirty="0" smtClean="0">
                <a:solidFill>
                  <a:srgbClr val="000000"/>
                </a:solidFill>
              </a:rPr>
              <a:t>Note: Customers are presented in descending order based on total revenue for FY17</a:t>
            </a:r>
          </a:p>
          <a:p>
            <a:pPr defTabSz="914400"/>
            <a:r>
              <a:rPr lang="en-US" sz="600" dirty="0" smtClean="0">
                <a:solidFill>
                  <a:srgbClr val="000000"/>
                </a:solidFill>
              </a:rPr>
              <a:t>(1) This total represents the top 10 customers in each year (these customers are highlighted in the table)</a:t>
            </a:r>
          </a:p>
          <a:p>
            <a:pPr defTabSz="914400"/>
            <a:r>
              <a:rPr lang="en-US" sz="600" i="1" dirty="0" smtClean="0">
                <a:solidFill>
                  <a:srgbClr val="000000"/>
                </a:solidFill>
              </a:rPr>
              <a:t>Source: Management provided information</a:t>
            </a:r>
          </a:p>
          <a:p>
            <a:pPr defTabSz="914400"/>
            <a:endParaRPr lang="en-US" sz="600" dirty="0">
              <a:solidFill>
                <a:srgbClr val="000000"/>
              </a:solidFill>
            </a:endParaRPr>
          </a:p>
        </p:txBody>
      </p:sp>
      <p:cxnSp>
        <p:nvCxnSpPr>
          <p:cNvPr id="8" name="Straight Arrow Connector 13"/>
          <p:cNvCxnSpPr/>
          <p:nvPr/>
        </p:nvCxnSpPr>
        <p:spPr>
          <a:xfrm rot="10800000" flipV="1">
            <a:off x="3309148" y="2460314"/>
            <a:ext cx="1358882" cy="354890"/>
          </a:xfrm>
          <a:prstGeom prst="bentConnector3">
            <a:avLst>
              <a:gd name="adj1" fmla="val 71184"/>
            </a:avLst>
          </a:prstGeom>
          <a:solidFill>
            <a:srgbClr val="00A3A1"/>
          </a:solidFill>
          <a:ln w="9525">
            <a:solidFill>
              <a:srgbClr val="00A3A1"/>
            </a:solidFill>
            <a:headEnd type="none" w="sm" len="sm"/>
            <a:tailEnd type="triangle" w="sm" len="sm"/>
          </a:ln>
        </p:spPr>
        <p:style>
          <a:lnRef idx="1">
            <a:schemeClr val="accent1"/>
          </a:lnRef>
          <a:fillRef idx="0">
            <a:schemeClr val="accent1"/>
          </a:fillRef>
          <a:effectRef idx="0">
            <a:schemeClr val="accent1"/>
          </a:effectRef>
          <a:fontRef idx="minor">
            <a:schemeClr val="tx1"/>
          </a:fontRef>
        </p:style>
      </p:cxnSp>
      <p:sp>
        <p:nvSpPr>
          <p:cNvPr id="9" name="Rectangle 4"/>
          <p:cNvSpPr>
            <a:spLocks noChangeArrowheads="1"/>
          </p:cNvSpPr>
          <p:nvPr>
            <p:custDataLst>
              <p:tags r:id="rId1"/>
            </p:custDataLst>
          </p:nvPr>
        </p:nvSpPr>
        <p:spPr bwMode="auto">
          <a:xfrm>
            <a:off x="4684146" y="2073389"/>
            <a:ext cx="1938250" cy="773852"/>
          </a:xfrm>
          <a:prstGeom prst="rect">
            <a:avLst/>
          </a:prstGeom>
          <a:solidFill>
            <a:srgbClr val="00A3A1"/>
          </a:solidFill>
          <a:ln w="12700">
            <a:solidFill>
              <a:srgbClr val="00A3A1"/>
            </a:solidFill>
            <a:miter lim="800000"/>
            <a:headEnd/>
            <a:tailEnd/>
          </a:ln>
          <a:effectLst/>
        </p:spPr>
        <p:txBody>
          <a:bodyPr wrap="square" lIns="54000" tIns="54000" rIns="54000" bIns="54000" anchor="ctr" anchorCtr="1">
            <a:spAutoFit/>
          </a:bodyPr>
          <a:lstStyle/>
          <a:p>
            <a:pPr algn="ctr" defTabSz="762000" eaLnBrk="0" hangingPunct="0">
              <a:lnSpc>
                <a:spcPct val="90000"/>
              </a:lnSpc>
              <a:spcBef>
                <a:spcPts val="600"/>
              </a:spcBef>
            </a:pPr>
            <a:r>
              <a:rPr lang="en-US" sz="800" dirty="0" smtClean="0">
                <a:solidFill>
                  <a:schemeClr val="bg1"/>
                </a:solidFill>
                <a:latin typeface="Univers for KPMG" panose="020B0603020202020204" pitchFamily="34" charset="0"/>
              </a:rPr>
              <a:t>We understand that the Plaza acquired one of the Saint Barnabas entities during FY16 resulting in an increase in revenue for the Plaza and a decrease in Saint Barnabas revenue during FY17.</a:t>
            </a:r>
            <a:endParaRPr lang="en-GB" sz="800" dirty="0">
              <a:solidFill>
                <a:schemeClr val="bg1"/>
              </a:solidFill>
            </a:endParaRPr>
          </a:p>
        </p:txBody>
      </p:sp>
      <p:cxnSp>
        <p:nvCxnSpPr>
          <p:cNvPr id="11" name="Straight Arrow Connector 13"/>
          <p:cNvCxnSpPr>
            <a:endCxn id="36" idx="3"/>
          </p:cNvCxnSpPr>
          <p:nvPr/>
        </p:nvCxnSpPr>
        <p:spPr>
          <a:xfrm rot="16200000" flipV="1">
            <a:off x="3260078" y="2018226"/>
            <a:ext cx="525029" cy="359147"/>
          </a:xfrm>
          <a:prstGeom prst="bentConnector2">
            <a:avLst/>
          </a:prstGeom>
          <a:solidFill>
            <a:srgbClr val="00A3A1"/>
          </a:solidFill>
          <a:ln w="9525">
            <a:solidFill>
              <a:srgbClr val="00A3A1"/>
            </a:solidFill>
            <a:headEnd type="non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22" name="Straight Arrow Connector 13"/>
          <p:cNvCxnSpPr>
            <a:stCxn id="24" idx="1"/>
          </p:cNvCxnSpPr>
          <p:nvPr/>
        </p:nvCxnSpPr>
        <p:spPr>
          <a:xfrm rot="10800000">
            <a:off x="3317616" y="2698090"/>
            <a:ext cx="1366531" cy="1010337"/>
          </a:xfrm>
          <a:prstGeom prst="bentConnector3">
            <a:avLst>
              <a:gd name="adj1" fmla="val 67348"/>
            </a:avLst>
          </a:prstGeom>
          <a:solidFill>
            <a:srgbClr val="00A3A1"/>
          </a:solidFill>
          <a:ln w="9525">
            <a:solidFill>
              <a:srgbClr val="00A3A1"/>
            </a:solidFill>
            <a:headEnd type="none" w="sm" len="sm"/>
            <a:tailEnd type="triangle" w="sm" len="sm"/>
          </a:ln>
        </p:spPr>
        <p:style>
          <a:lnRef idx="1">
            <a:schemeClr val="accent1"/>
          </a:lnRef>
          <a:fillRef idx="0">
            <a:schemeClr val="accent1"/>
          </a:fillRef>
          <a:effectRef idx="0">
            <a:schemeClr val="accent1"/>
          </a:effectRef>
          <a:fontRef idx="minor">
            <a:schemeClr val="tx1"/>
          </a:fontRef>
        </p:style>
      </p:cxnSp>
      <p:sp>
        <p:nvSpPr>
          <p:cNvPr id="24" name="Rectangle 4"/>
          <p:cNvSpPr>
            <a:spLocks noChangeArrowheads="1"/>
          </p:cNvSpPr>
          <p:nvPr>
            <p:custDataLst>
              <p:tags r:id="rId2"/>
            </p:custDataLst>
          </p:nvPr>
        </p:nvSpPr>
        <p:spPr bwMode="auto">
          <a:xfrm>
            <a:off x="4684146" y="3155300"/>
            <a:ext cx="1938250" cy="1106251"/>
          </a:xfrm>
          <a:prstGeom prst="rect">
            <a:avLst/>
          </a:prstGeom>
          <a:solidFill>
            <a:srgbClr val="00A3A1"/>
          </a:solidFill>
          <a:ln w="12700">
            <a:solidFill>
              <a:srgbClr val="00A3A1"/>
            </a:solidFill>
            <a:miter lim="800000"/>
            <a:headEnd/>
            <a:tailEnd/>
          </a:ln>
          <a:effectLst/>
        </p:spPr>
        <p:txBody>
          <a:bodyPr wrap="square" lIns="54000" tIns="54000" rIns="54000" bIns="54000" anchor="ctr" anchorCtr="1">
            <a:spAutoFit/>
          </a:bodyPr>
          <a:lstStyle/>
          <a:p>
            <a:pPr algn="ctr" defTabSz="762000" eaLnBrk="0" hangingPunct="0">
              <a:lnSpc>
                <a:spcPct val="90000"/>
              </a:lnSpc>
              <a:spcBef>
                <a:spcPts val="600"/>
              </a:spcBef>
            </a:pPr>
            <a:r>
              <a:rPr lang="en-US" sz="800" dirty="0" smtClean="0">
                <a:solidFill>
                  <a:schemeClr val="bg1"/>
                </a:solidFill>
                <a:latin typeface="Univers for KPMG" panose="020B0603020202020204" pitchFamily="34" charset="0"/>
              </a:rPr>
              <a:t>Management represents that this customer was having financial challenges and became a credit risk and therefore Management decided to discontinue working with this customer during FY17. We understand that there was no uncollectible amounts associated with these customers. </a:t>
            </a:r>
            <a:endParaRPr lang="en-GB" sz="800" dirty="0">
              <a:solidFill>
                <a:schemeClr val="bg1"/>
              </a:solidFill>
            </a:endParaRPr>
          </a:p>
        </p:txBody>
      </p:sp>
      <p:sp>
        <p:nvSpPr>
          <p:cNvPr id="16" name="Rectangle 4"/>
          <p:cNvSpPr>
            <a:spLocks noChangeArrowheads="1"/>
          </p:cNvSpPr>
          <p:nvPr>
            <p:custDataLst>
              <p:tags r:id="rId3"/>
            </p:custDataLst>
          </p:nvPr>
        </p:nvSpPr>
        <p:spPr bwMode="gray">
          <a:xfrm>
            <a:off x="3679775" y="1007392"/>
            <a:ext cx="5032425" cy="713836"/>
          </a:xfrm>
          <a:prstGeom prst="rect">
            <a:avLst/>
          </a:prstGeom>
          <a:noFill/>
          <a:ln w="6350">
            <a:solidFill>
              <a:srgbClr val="00338D"/>
            </a:solidFill>
            <a:miter lim="800000"/>
            <a:headEnd/>
            <a:tailEnd/>
          </a:ln>
          <a:effectLst/>
        </p:spPr>
        <p:txBody>
          <a:bodyPr wrap="square" lIns="54000" tIns="54000" rIns="54000" bIns="54000" anchor="ctr" anchorCtr="1">
            <a:spAutoFit/>
          </a:bodyPr>
          <a:lstStyle/>
          <a:p>
            <a:pPr defTabSz="762000" eaLnBrk="0" hangingPunct="0">
              <a:lnSpc>
                <a:spcPct val="90000"/>
              </a:lnSpc>
              <a:spcBef>
                <a:spcPts val="600"/>
              </a:spcBef>
              <a:spcAft>
                <a:spcPts val="600"/>
              </a:spcAft>
            </a:pPr>
            <a:r>
              <a:rPr lang="en-US" sz="700" b="1" dirty="0">
                <a:solidFill>
                  <a:srgbClr val="00338D"/>
                </a:solidFill>
              </a:rPr>
              <a:t>Basis of </a:t>
            </a:r>
            <a:r>
              <a:rPr lang="en-US" sz="700" b="1" dirty="0" smtClean="0">
                <a:solidFill>
                  <a:srgbClr val="00338D"/>
                </a:solidFill>
              </a:rPr>
              <a:t>presentation</a:t>
            </a:r>
          </a:p>
          <a:p>
            <a:pPr marL="171450" indent="-171450">
              <a:buClr>
                <a:schemeClr val="tx2"/>
              </a:buClr>
              <a:buFont typeface="Arial" panose="020B0604020202020204" pitchFamily="34" charset="0"/>
              <a:buChar char="—"/>
            </a:pPr>
            <a:r>
              <a:rPr lang="en-US" sz="700" dirty="0" smtClean="0">
                <a:solidFill>
                  <a:srgbClr val="00338D"/>
                </a:solidFill>
              </a:rPr>
              <a:t>The top customer data in the adjacent table as well as in the tables in the following slides was obtained from transaction level revenue detail provided by Management.  </a:t>
            </a:r>
          </a:p>
          <a:p>
            <a:pPr marL="171450" indent="-171450">
              <a:buClr>
                <a:schemeClr val="tx2"/>
              </a:buClr>
              <a:buFont typeface="Arial" panose="020B0604020202020204" pitchFamily="34" charset="0"/>
              <a:buChar char="—"/>
            </a:pPr>
            <a:r>
              <a:rPr lang="en-US" sz="700" dirty="0" smtClean="0">
                <a:solidFill>
                  <a:srgbClr val="00338D"/>
                </a:solidFill>
              </a:rPr>
              <a:t>In order to determine monthly revenue amounts given that the invoice date may be later than the date the services were provided, we used the memo field which included a description of the date the services were provided. </a:t>
            </a:r>
          </a:p>
        </p:txBody>
      </p:sp>
      <p:sp>
        <p:nvSpPr>
          <p:cNvPr id="36" name="Rounded Rectangle 35"/>
          <p:cNvSpPr/>
          <p:nvPr/>
        </p:nvSpPr>
        <p:spPr>
          <a:xfrm>
            <a:off x="2632402" y="1875135"/>
            <a:ext cx="710616" cy="120300"/>
          </a:xfrm>
          <a:prstGeom prst="roundRect">
            <a:avLst/>
          </a:prstGeom>
          <a:noFill/>
          <a:ln>
            <a:solidFill>
              <a:srgbClr val="00A3A1"/>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smtClean="0">
              <a:solidFill>
                <a:schemeClr val="bg1"/>
              </a:solidFill>
            </a:endParaRPr>
          </a:p>
        </p:txBody>
      </p:sp>
      <p:sp>
        <p:nvSpPr>
          <p:cNvPr id="38" name="Rounded Rectangle 37"/>
          <p:cNvSpPr/>
          <p:nvPr/>
        </p:nvSpPr>
        <p:spPr>
          <a:xfrm>
            <a:off x="2606999" y="2639165"/>
            <a:ext cx="710616" cy="120300"/>
          </a:xfrm>
          <a:prstGeom prst="roundRect">
            <a:avLst/>
          </a:prstGeom>
          <a:noFill/>
          <a:ln>
            <a:solidFill>
              <a:srgbClr val="00A3A1"/>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smtClean="0">
              <a:solidFill>
                <a:schemeClr val="bg1"/>
              </a:solidFill>
            </a:endParaRPr>
          </a:p>
        </p:txBody>
      </p:sp>
      <p:sp>
        <p:nvSpPr>
          <p:cNvPr id="39" name="Rounded Rectangle 38"/>
          <p:cNvSpPr/>
          <p:nvPr/>
        </p:nvSpPr>
        <p:spPr>
          <a:xfrm>
            <a:off x="2602216" y="2766407"/>
            <a:ext cx="710616" cy="120300"/>
          </a:xfrm>
          <a:prstGeom prst="roundRect">
            <a:avLst/>
          </a:prstGeom>
          <a:noFill/>
          <a:ln>
            <a:solidFill>
              <a:srgbClr val="00A3A1"/>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smtClean="0">
              <a:solidFill>
                <a:schemeClr val="bg1"/>
              </a:solidFill>
            </a:endParaRPr>
          </a:p>
        </p:txBody>
      </p:sp>
    </p:spTree>
    <p:extLst>
      <p:ext uri="{BB962C8B-B14F-4D97-AF65-F5344CB8AC3E}">
        <p14:creationId xmlns:p14="http://schemas.microsoft.com/office/powerpoint/2010/main" val="4036072864"/>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5"/>
          <a:stretch>
            <a:fillRect/>
          </a:stretch>
        </p:blipFill>
        <p:spPr>
          <a:xfrm>
            <a:off x="431800" y="1013430"/>
            <a:ext cx="2826580" cy="2287350"/>
          </a:xfrm>
          <a:prstGeom prst="rect">
            <a:avLst/>
          </a:prstGeom>
        </p:spPr>
      </p:pic>
      <p:sp>
        <p:nvSpPr>
          <p:cNvPr id="6" name="Titre 5"/>
          <p:cNvSpPr>
            <a:spLocks noGrp="1"/>
          </p:cNvSpPr>
          <p:nvPr>
            <p:ph type="title"/>
          </p:nvPr>
        </p:nvSpPr>
        <p:spPr>
          <a:xfrm>
            <a:off x="431799" y="228600"/>
            <a:ext cx="8280401" cy="784830"/>
          </a:xfrm>
        </p:spPr>
        <p:txBody>
          <a:bodyPr/>
          <a:lstStyle/>
          <a:p>
            <a:r>
              <a:rPr lang="en-CA" sz="2400" dirty="0" smtClean="0">
                <a:solidFill>
                  <a:prstClr val="white">
                    <a:lumMod val="50000"/>
                  </a:prstClr>
                </a:solidFill>
              </a:rPr>
              <a:t>Appendix 7</a:t>
            </a:r>
            <a:r>
              <a:rPr lang="en-CA" dirty="0" smtClean="0"/>
              <a:t/>
            </a:r>
            <a:br>
              <a:rPr lang="en-CA" dirty="0" smtClean="0"/>
            </a:br>
            <a:r>
              <a:rPr lang="en-CA" dirty="0" smtClean="0"/>
              <a:t>Top customers (2) – IT and clinical / scientific</a:t>
            </a:r>
            <a:endParaRPr lang="en-CA" sz="4000" i="1" dirty="0"/>
          </a:p>
        </p:txBody>
      </p:sp>
      <p:sp>
        <p:nvSpPr>
          <p:cNvPr id="5" name="TextBox 4"/>
          <p:cNvSpPr txBox="1"/>
          <p:nvPr/>
        </p:nvSpPr>
        <p:spPr>
          <a:xfrm>
            <a:off x="431799" y="3300780"/>
            <a:ext cx="2959596" cy="461665"/>
          </a:xfrm>
          <a:prstGeom prst="rect">
            <a:avLst/>
          </a:prstGeom>
          <a:noFill/>
        </p:spPr>
        <p:txBody>
          <a:bodyPr wrap="square" lIns="0" tIns="0" rIns="0" bIns="0" rtlCol="0">
            <a:spAutoFit/>
          </a:bodyPr>
          <a:lstStyle/>
          <a:p>
            <a:pPr marL="285750" indent="-285750" defTabSz="914400"/>
            <a:r>
              <a:rPr lang="en-US" sz="600" dirty="0" smtClean="0">
                <a:solidFill>
                  <a:srgbClr val="000000"/>
                </a:solidFill>
              </a:rPr>
              <a:t>Note: Customers are presented in descending order based on total revenue for FY17</a:t>
            </a:r>
          </a:p>
          <a:p>
            <a:pPr defTabSz="914400"/>
            <a:r>
              <a:rPr lang="en-US" sz="600" dirty="0" smtClean="0">
                <a:solidFill>
                  <a:srgbClr val="000000"/>
                </a:solidFill>
              </a:rPr>
              <a:t>(1) This total represents the top 10 customers in each year (these customers are highlighted in the table)</a:t>
            </a:r>
          </a:p>
          <a:p>
            <a:pPr defTabSz="914400"/>
            <a:r>
              <a:rPr lang="en-US" sz="600" i="1" dirty="0" smtClean="0">
                <a:solidFill>
                  <a:srgbClr val="000000"/>
                </a:solidFill>
              </a:rPr>
              <a:t>Source: Management provided information</a:t>
            </a:r>
          </a:p>
          <a:p>
            <a:pPr defTabSz="914400"/>
            <a:endParaRPr lang="en-US" sz="600" dirty="0">
              <a:solidFill>
                <a:srgbClr val="000000"/>
              </a:solidFill>
            </a:endParaRPr>
          </a:p>
        </p:txBody>
      </p:sp>
      <p:cxnSp>
        <p:nvCxnSpPr>
          <p:cNvPr id="7" name="Straight Arrow Connector 13"/>
          <p:cNvCxnSpPr>
            <a:endCxn id="8" idx="3"/>
          </p:cNvCxnSpPr>
          <p:nvPr/>
        </p:nvCxnSpPr>
        <p:spPr>
          <a:xfrm rot="10800000" flipV="1">
            <a:off x="3237112" y="1476909"/>
            <a:ext cx="1465887" cy="206726"/>
          </a:xfrm>
          <a:prstGeom prst="bentConnector3">
            <a:avLst>
              <a:gd name="adj1" fmla="val 50000"/>
            </a:avLst>
          </a:prstGeom>
          <a:solidFill>
            <a:srgbClr val="00A3A1"/>
          </a:solidFill>
          <a:ln w="9525">
            <a:solidFill>
              <a:srgbClr val="00A3A1"/>
            </a:solidFill>
            <a:headEnd type="none" w="sm" len="sm"/>
            <a:tailEnd type="triangle" w="sm" len="sm"/>
          </a:ln>
        </p:spPr>
        <p:style>
          <a:lnRef idx="1">
            <a:schemeClr val="accent1"/>
          </a:lnRef>
          <a:fillRef idx="0">
            <a:schemeClr val="accent1"/>
          </a:fillRef>
          <a:effectRef idx="0">
            <a:schemeClr val="accent1"/>
          </a:effectRef>
          <a:fontRef idx="minor">
            <a:schemeClr val="tx1"/>
          </a:fontRef>
        </p:style>
      </p:cxnSp>
      <p:sp>
        <p:nvSpPr>
          <p:cNvPr id="8" name="Rounded Rectangle 7"/>
          <p:cNvSpPr/>
          <p:nvPr/>
        </p:nvSpPr>
        <p:spPr>
          <a:xfrm>
            <a:off x="2526495" y="1623485"/>
            <a:ext cx="710616" cy="120300"/>
          </a:xfrm>
          <a:prstGeom prst="roundRect">
            <a:avLst/>
          </a:prstGeom>
          <a:noFill/>
          <a:ln>
            <a:solidFill>
              <a:srgbClr val="00A3A1"/>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smtClean="0">
              <a:solidFill>
                <a:schemeClr val="bg1"/>
              </a:solidFill>
            </a:endParaRPr>
          </a:p>
        </p:txBody>
      </p:sp>
      <p:sp>
        <p:nvSpPr>
          <p:cNvPr id="10" name="Rectangle 4"/>
          <p:cNvSpPr>
            <a:spLocks noChangeArrowheads="1"/>
          </p:cNvSpPr>
          <p:nvPr>
            <p:custDataLst>
              <p:tags r:id="rId1"/>
            </p:custDataLst>
          </p:nvPr>
        </p:nvSpPr>
        <p:spPr bwMode="auto">
          <a:xfrm>
            <a:off x="4681728" y="1135324"/>
            <a:ext cx="1938250" cy="663053"/>
          </a:xfrm>
          <a:prstGeom prst="rect">
            <a:avLst/>
          </a:prstGeom>
          <a:solidFill>
            <a:srgbClr val="00A3A1"/>
          </a:solidFill>
          <a:ln w="12700">
            <a:solidFill>
              <a:srgbClr val="00A3A1"/>
            </a:solidFill>
            <a:miter lim="800000"/>
            <a:headEnd/>
            <a:tailEnd/>
          </a:ln>
          <a:effectLst/>
        </p:spPr>
        <p:txBody>
          <a:bodyPr wrap="square" lIns="54000" tIns="54000" rIns="54000" bIns="54000" anchor="ctr" anchorCtr="1">
            <a:spAutoFit/>
          </a:bodyPr>
          <a:lstStyle/>
          <a:p>
            <a:pPr algn="ctr" defTabSz="762000" eaLnBrk="0" hangingPunct="0">
              <a:lnSpc>
                <a:spcPct val="90000"/>
              </a:lnSpc>
              <a:spcBef>
                <a:spcPts val="600"/>
              </a:spcBef>
            </a:pPr>
            <a:r>
              <a:rPr lang="en-US" sz="800" dirty="0" smtClean="0">
                <a:solidFill>
                  <a:schemeClr val="bg1"/>
                </a:solidFill>
                <a:latin typeface="Univers for KPMG" panose="020B0603020202020204" pitchFamily="34" charset="0"/>
              </a:rPr>
              <a:t>The increase in Atos and XTensgrity revenue is due to the Company having dedicated account teams for these customers with an increased number of recruiters in FY17.</a:t>
            </a:r>
            <a:endParaRPr lang="en-GB" sz="800" dirty="0">
              <a:solidFill>
                <a:schemeClr val="bg1"/>
              </a:solidFill>
            </a:endParaRPr>
          </a:p>
        </p:txBody>
      </p:sp>
      <p:cxnSp>
        <p:nvCxnSpPr>
          <p:cNvPr id="12" name="Straight Arrow Connector 13"/>
          <p:cNvCxnSpPr/>
          <p:nvPr/>
        </p:nvCxnSpPr>
        <p:spPr>
          <a:xfrm rot="10800000" flipV="1">
            <a:off x="3240523" y="1673575"/>
            <a:ext cx="749736" cy="117051"/>
          </a:xfrm>
          <a:prstGeom prst="bentConnector3">
            <a:avLst>
              <a:gd name="adj1" fmla="val 311"/>
            </a:avLst>
          </a:prstGeom>
          <a:solidFill>
            <a:srgbClr val="00A3A1"/>
          </a:solidFill>
          <a:ln w="9525">
            <a:solidFill>
              <a:srgbClr val="00A3A1"/>
            </a:solidFill>
            <a:headEnd type="non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22" name="Straight Arrow Connector 13"/>
          <p:cNvCxnSpPr>
            <a:stCxn id="24" idx="1"/>
            <a:endCxn id="20" idx="3"/>
          </p:cNvCxnSpPr>
          <p:nvPr/>
        </p:nvCxnSpPr>
        <p:spPr>
          <a:xfrm rot="10800000">
            <a:off x="3249452" y="1924014"/>
            <a:ext cx="1432276" cy="585180"/>
          </a:xfrm>
          <a:prstGeom prst="bentConnector3">
            <a:avLst>
              <a:gd name="adj1" fmla="val 50000"/>
            </a:avLst>
          </a:prstGeom>
          <a:solidFill>
            <a:srgbClr val="00A3A1"/>
          </a:solidFill>
          <a:ln w="9525">
            <a:solidFill>
              <a:srgbClr val="00A3A1"/>
            </a:solidFill>
            <a:headEnd type="none" w="sm" len="sm"/>
            <a:tailEnd type="triangle" w="sm" len="sm"/>
          </a:ln>
        </p:spPr>
        <p:style>
          <a:lnRef idx="1">
            <a:schemeClr val="accent1"/>
          </a:lnRef>
          <a:fillRef idx="0">
            <a:schemeClr val="accent1"/>
          </a:fillRef>
          <a:effectRef idx="0">
            <a:schemeClr val="accent1"/>
          </a:effectRef>
          <a:fontRef idx="minor">
            <a:schemeClr val="tx1"/>
          </a:fontRef>
        </p:style>
      </p:cxnSp>
      <p:sp>
        <p:nvSpPr>
          <p:cNvPr id="24" name="Rectangle 4"/>
          <p:cNvSpPr>
            <a:spLocks noChangeArrowheads="1"/>
          </p:cNvSpPr>
          <p:nvPr>
            <p:custDataLst>
              <p:tags r:id="rId2"/>
            </p:custDataLst>
          </p:nvPr>
        </p:nvSpPr>
        <p:spPr bwMode="auto">
          <a:xfrm>
            <a:off x="4681728" y="1956068"/>
            <a:ext cx="1938250" cy="1106251"/>
          </a:xfrm>
          <a:prstGeom prst="rect">
            <a:avLst/>
          </a:prstGeom>
          <a:solidFill>
            <a:srgbClr val="00A3A1"/>
          </a:solidFill>
          <a:ln w="12700">
            <a:solidFill>
              <a:srgbClr val="00A3A1"/>
            </a:solidFill>
            <a:miter lim="800000"/>
            <a:headEnd/>
            <a:tailEnd/>
          </a:ln>
          <a:effectLst/>
        </p:spPr>
        <p:txBody>
          <a:bodyPr wrap="square" lIns="54000" tIns="54000" rIns="54000" bIns="54000" anchor="ctr" anchorCtr="1">
            <a:spAutoFit/>
          </a:bodyPr>
          <a:lstStyle/>
          <a:p>
            <a:pPr algn="ctr" defTabSz="762000" eaLnBrk="0" hangingPunct="0">
              <a:lnSpc>
                <a:spcPct val="90000"/>
              </a:lnSpc>
              <a:spcBef>
                <a:spcPts val="600"/>
              </a:spcBef>
            </a:pPr>
            <a:r>
              <a:rPr lang="en-US" sz="800" dirty="0" smtClean="0">
                <a:solidFill>
                  <a:schemeClr val="bg1"/>
                </a:solidFill>
                <a:latin typeface="Univers for KPMG" panose="020B0603020202020204" pitchFamily="34" charset="0"/>
              </a:rPr>
              <a:t>We understand that Pfizer has a policy in place whereby they are able to hire the Company’s employees on a full time basis after the employee has worked with them for 18 months. We understand that Pfizer hired many of Aequor’s employees in Q4 2016 and therefore revenue decreased in FY17.</a:t>
            </a:r>
            <a:endParaRPr lang="en-GB" sz="800" dirty="0">
              <a:solidFill>
                <a:schemeClr val="bg1"/>
              </a:solidFill>
            </a:endParaRPr>
          </a:p>
        </p:txBody>
      </p:sp>
      <p:sp>
        <p:nvSpPr>
          <p:cNvPr id="13" name="Rounded Rectangle 12"/>
          <p:cNvSpPr/>
          <p:nvPr/>
        </p:nvSpPr>
        <p:spPr>
          <a:xfrm>
            <a:off x="2529907" y="1738110"/>
            <a:ext cx="710616" cy="120300"/>
          </a:xfrm>
          <a:prstGeom prst="roundRect">
            <a:avLst/>
          </a:prstGeom>
          <a:noFill/>
          <a:ln>
            <a:solidFill>
              <a:srgbClr val="00A3A1"/>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smtClean="0">
              <a:solidFill>
                <a:schemeClr val="bg1"/>
              </a:solidFill>
            </a:endParaRPr>
          </a:p>
        </p:txBody>
      </p:sp>
      <p:sp>
        <p:nvSpPr>
          <p:cNvPr id="20" name="Rounded Rectangle 19"/>
          <p:cNvSpPr/>
          <p:nvPr/>
        </p:nvSpPr>
        <p:spPr>
          <a:xfrm>
            <a:off x="2538836" y="1863864"/>
            <a:ext cx="710616" cy="120300"/>
          </a:xfrm>
          <a:prstGeom prst="roundRect">
            <a:avLst/>
          </a:prstGeom>
          <a:noFill/>
          <a:ln>
            <a:solidFill>
              <a:srgbClr val="00A3A1"/>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smtClean="0">
              <a:solidFill>
                <a:schemeClr val="bg1"/>
              </a:solidFill>
            </a:endParaRPr>
          </a:p>
        </p:txBody>
      </p:sp>
    </p:spTree>
    <p:extLst>
      <p:ext uri="{BB962C8B-B14F-4D97-AF65-F5344CB8AC3E}">
        <p14:creationId xmlns:p14="http://schemas.microsoft.com/office/powerpoint/2010/main" val="3852650350"/>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6"/>
          <a:stretch>
            <a:fillRect/>
          </a:stretch>
        </p:blipFill>
        <p:spPr>
          <a:xfrm>
            <a:off x="431803" y="1007782"/>
            <a:ext cx="3317423" cy="2541500"/>
          </a:xfrm>
          <a:prstGeom prst="rect">
            <a:avLst/>
          </a:prstGeom>
        </p:spPr>
      </p:pic>
      <p:sp>
        <p:nvSpPr>
          <p:cNvPr id="6" name="Titre 5"/>
          <p:cNvSpPr>
            <a:spLocks noGrp="1"/>
          </p:cNvSpPr>
          <p:nvPr>
            <p:ph type="title"/>
          </p:nvPr>
        </p:nvSpPr>
        <p:spPr>
          <a:xfrm>
            <a:off x="431799" y="228600"/>
            <a:ext cx="8280401" cy="784830"/>
          </a:xfrm>
        </p:spPr>
        <p:txBody>
          <a:bodyPr/>
          <a:lstStyle/>
          <a:p>
            <a:r>
              <a:rPr lang="en-CA" sz="2400" dirty="0" smtClean="0">
                <a:solidFill>
                  <a:prstClr val="white">
                    <a:lumMod val="50000"/>
                  </a:prstClr>
                </a:solidFill>
              </a:rPr>
              <a:t>Appendix 7</a:t>
            </a:r>
            <a:r>
              <a:rPr lang="en-CA" dirty="0" smtClean="0"/>
              <a:t/>
            </a:r>
            <a:br>
              <a:rPr lang="en-CA" dirty="0" smtClean="0"/>
            </a:br>
            <a:r>
              <a:rPr lang="en-CA" dirty="0" smtClean="0"/>
              <a:t>Top customers (3) – Allied</a:t>
            </a:r>
            <a:endParaRPr lang="en-CA" sz="4000" i="1" dirty="0"/>
          </a:p>
        </p:txBody>
      </p:sp>
      <p:sp>
        <p:nvSpPr>
          <p:cNvPr id="7" name="TextBox 6"/>
          <p:cNvSpPr txBox="1"/>
          <p:nvPr/>
        </p:nvSpPr>
        <p:spPr>
          <a:xfrm>
            <a:off x="431799" y="3549282"/>
            <a:ext cx="3468413" cy="461665"/>
          </a:xfrm>
          <a:prstGeom prst="rect">
            <a:avLst/>
          </a:prstGeom>
          <a:noFill/>
        </p:spPr>
        <p:txBody>
          <a:bodyPr wrap="square" lIns="0" tIns="0" rIns="0" bIns="0" rtlCol="0">
            <a:spAutoFit/>
          </a:bodyPr>
          <a:lstStyle/>
          <a:p>
            <a:pPr marL="285750" indent="-285750" defTabSz="914400"/>
            <a:r>
              <a:rPr lang="en-US" sz="600" dirty="0" smtClean="0">
                <a:solidFill>
                  <a:srgbClr val="000000"/>
                </a:solidFill>
              </a:rPr>
              <a:t>Note: Customers are presented in descending order based on total revenue for FY17</a:t>
            </a:r>
          </a:p>
          <a:p>
            <a:pPr defTabSz="914400"/>
            <a:r>
              <a:rPr lang="en-US" sz="600" dirty="0" smtClean="0">
                <a:solidFill>
                  <a:srgbClr val="000000"/>
                </a:solidFill>
              </a:rPr>
              <a:t>(1) This total represents the top 10 customers in each year (these customers are highlighted in the table)</a:t>
            </a:r>
          </a:p>
          <a:p>
            <a:pPr defTabSz="914400"/>
            <a:r>
              <a:rPr lang="en-US" sz="600" i="1" dirty="0" smtClean="0">
                <a:solidFill>
                  <a:srgbClr val="000000"/>
                </a:solidFill>
              </a:rPr>
              <a:t>Source: Management provided information</a:t>
            </a:r>
          </a:p>
          <a:p>
            <a:pPr defTabSz="914400"/>
            <a:endParaRPr lang="en-US" sz="600" dirty="0">
              <a:solidFill>
                <a:srgbClr val="000000"/>
              </a:solidFill>
            </a:endParaRPr>
          </a:p>
        </p:txBody>
      </p:sp>
      <p:cxnSp>
        <p:nvCxnSpPr>
          <p:cNvPr id="9" name="Straight Arrow Connector 13"/>
          <p:cNvCxnSpPr>
            <a:stCxn id="10" idx="1"/>
          </p:cNvCxnSpPr>
          <p:nvPr/>
        </p:nvCxnSpPr>
        <p:spPr>
          <a:xfrm rot="10800000">
            <a:off x="3749226" y="2952386"/>
            <a:ext cx="932502" cy="457861"/>
          </a:xfrm>
          <a:prstGeom prst="bentConnector3">
            <a:avLst>
              <a:gd name="adj1" fmla="val 50000"/>
            </a:avLst>
          </a:prstGeom>
          <a:solidFill>
            <a:srgbClr val="00A3A1"/>
          </a:solidFill>
          <a:ln w="9525">
            <a:solidFill>
              <a:srgbClr val="00A3A1"/>
            </a:solidFill>
            <a:headEnd type="none" w="sm" len="sm"/>
            <a:tailEnd type="triangle" w="sm" len="sm"/>
          </a:ln>
        </p:spPr>
        <p:style>
          <a:lnRef idx="1">
            <a:schemeClr val="accent1"/>
          </a:lnRef>
          <a:fillRef idx="0">
            <a:schemeClr val="accent1"/>
          </a:fillRef>
          <a:effectRef idx="0">
            <a:schemeClr val="accent1"/>
          </a:effectRef>
          <a:fontRef idx="minor">
            <a:schemeClr val="tx1"/>
          </a:fontRef>
        </p:style>
      </p:cxnSp>
      <p:sp>
        <p:nvSpPr>
          <p:cNvPr id="10" name="Rectangle 4"/>
          <p:cNvSpPr>
            <a:spLocks noChangeArrowheads="1"/>
          </p:cNvSpPr>
          <p:nvPr>
            <p:custDataLst>
              <p:tags r:id="rId1"/>
            </p:custDataLst>
          </p:nvPr>
        </p:nvSpPr>
        <p:spPr bwMode="auto">
          <a:xfrm>
            <a:off x="4681728" y="3189519"/>
            <a:ext cx="1938250" cy="441453"/>
          </a:xfrm>
          <a:prstGeom prst="rect">
            <a:avLst/>
          </a:prstGeom>
          <a:solidFill>
            <a:srgbClr val="00A3A1"/>
          </a:solidFill>
          <a:ln w="12700">
            <a:solidFill>
              <a:srgbClr val="00A3A1"/>
            </a:solidFill>
            <a:miter lim="800000"/>
            <a:headEnd/>
            <a:tailEnd/>
          </a:ln>
          <a:effectLst/>
        </p:spPr>
        <p:txBody>
          <a:bodyPr wrap="square" lIns="54000" tIns="54000" rIns="54000" bIns="54000" anchor="ctr" anchorCtr="1">
            <a:spAutoFit/>
          </a:bodyPr>
          <a:lstStyle/>
          <a:p>
            <a:pPr algn="ctr" defTabSz="762000" eaLnBrk="0" hangingPunct="0">
              <a:lnSpc>
                <a:spcPct val="90000"/>
              </a:lnSpc>
              <a:spcBef>
                <a:spcPts val="600"/>
              </a:spcBef>
            </a:pPr>
            <a:r>
              <a:rPr lang="en-US" sz="800" dirty="0" smtClean="0">
                <a:solidFill>
                  <a:schemeClr val="bg1"/>
                </a:solidFill>
                <a:latin typeface="Univers for KPMG" panose="020B0603020202020204" pitchFamily="34" charset="0"/>
              </a:rPr>
              <a:t>We understand that this facility closed in FY17 resulting in the decrease in revenue during FY17.</a:t>
            </a:r>
            <a:endParaRPr lang="en-GB" sz="800" dirty="0">
              <a:solidFill>
                <a:schemeClr val="bg1"/>
              </a:solidFill>
            </a:endParaRPr>
          </a:p>
        </p:txBody>
      </p:sp>
      <p:cxnSp>
        <p:nvCxnSpPr>
          <p:cNvPr id="11" name="Straight Arrow Connector 13"/>
          <p:cNvCxnSpPr>
            <a:stCxn id="13" idx="1"/>
          </p:cNvCxnSpPr>
          <p:nvPr/>
        </p:nvCxnSpPr>
        <p:spPr>
          <a:xfrm rot="10800000" flipV="1">
            <a:off x="3749226" y="1746929"/>
            <a:ext cx="932502" cy="193445"/>
          </a:xfrm>
          <a:prstGeom prst="bentConnector3">
            <a:avLst>
              <a:gd name="adj1" fmla="val 50000"/>
            </a:avLst>
          </a:prstGeom>
          <a:solidFill>
            <a:srgbClr val="00A3A1"/>
          </a:solidFill>
          <a:ln w="9525">
            <a:solidFill>
              <a:srgbClr val="00A3A1"/>
            </a:solidFill>
            <a:headEnd type="none" w="sm" len="sm"/>
            <a:tailEnd type="triangle" w="sm" len="sm"/>
          </a:ln>
        </p:spPr>
        <p:style>
          <a:lnRef idx="1">
            <a:schemeClr val="accent1"/>
          </a:lnRef>
          <a:fillRef idx="0">
            <a:schemeClr val="accent1"/>
          </a:fillRef>
          <a:effectRef idx="0">
            <a:schemeClr val="accent1"/>
          </a:effectRef>
          <a:fontRef idx="minor">
            <a:schemeClr val="tx1"/>
          </a:fontRef>
        </p:style>
      </p:cxnSp>
      <p:sp>
        <p:nvSpPr>
          <p:cNvPr id="13" name="Rectangle 4"/>
          <p:cNvSpPr>
            <a:spLocks noChangeArrowheads="1"/>
          </p:cNvSpPr>
          <p:nvPr>
            <p:custDataLst>
              <p:tags r:id="rId2"/>
            </p:custDataLst>
          </p:nvPr>
        </p:nvSpPr>
        <p:spPr bwMode="auto">
          <a:xfrm>
            <a:off x="4681728" y="1249204"/>
            <a:ext cx="1938250" cy="995451"/>
          </a:xfrm>
          <a:prstGeom prst="rect">
            <a:avLst/>
          </a:prstGeom>
          <a:solidFill>
            <a:srgbClr val="00A3A1"/>
          </a:solidFill>
          <a:ln w="12700">
            <a:solidFill>
              <a:srgbClr val="00A3A1"/>
            </a:solidFill>
            <a:miter lim="800000"/>
            <a:headEnd/>
            <a:tailEnd/>
          </a:ln>
          <a:effectLst/>
        </p:spPr>
        <p:txBody>
          <a:bodyPr wrap="square" lIns="54000" tIns="54000" rIns="54000" bIns="54000" anchor="ctr" anchorCtr="1">
            <a:spAutoFit/>
          </a:bodyPr>
          <a:lstStyle/>
          <a:p>
            <a:pPr algn="ctr" defTabSz="762000" eaLnBrk="0" hangingPunct="0">
              <a:lnSpc>
                <a:spcPct val="90000"/>
              </a:lnSpc>
              <a:spcBef>
                <a:spcPts val="600"/>
              </a:spcBef>
            </a:pPr>
            <a:r>
              <a:rPr lang="en-US" sz="800" dirty="0" smtClean="0">
                <a:solidFill>
                  <a:schemeClr val="bg1"/>
                </a:solidFill>
                <a:latin typeface="Univers for KPMG" panose="020B0603020202020204" pitchFamily="34" charset="0"/>
              </a:rPr>
              <a:t>Management represents that the decrease in revenue is a result of these state supported living centers slowly reducing patients. We understand that these centers will eventually be phased out to a residential model with less resident density.   </a:t>
            </a:r>
            <a:endParaRPr lang="en-GB" sz="800" dirty="0">
              <a:solidFill>
                <a:schemeClr val="bg1"/>
              </a:solidFill>
            </a:endParaRPr>
          </a:p>
        </p:txBody>
      </p:sp>
      <p:cxnSp>
        <p:nvCxnSpPr>
          <p:cNvPr id="16" name="Straight Arrow Connector 13"/>
          <p:cNvCxnSpPr>
            <a:stCxn id="17" idx="1"/>
          </p:cNvCxnSpPr>
          <p:nvPr/>
        </p:nvCxnSpPr>
        <p:spPr>
          <a:xfrm rot="10800000">
            <a:off x="3749226" y="2455246"/>
            <a:ext cx="932502" cy="274753"/>
          </a:xfrm>
          <a:prstGeom prst="bentConnector3">
            <a:avLst>
              <a:gd name="adj1" fmla="val 50000"/>
            </a:avLst>
          </a:prstGeom>
          <a:solidFill>
            <a:srgbClr val="00A3A1"/>
          </a:solidFill>
          <a:ln w="9525">
            <a:solidFill>
              <a:srgbClr val="00A3A1"/>
            </a:solidFill>
            <a:headEnd type="none" w="sm" len="sm"/>
            <a:tailEnd type="triangle" w="sm" len="sm"/>
          </a:ln>
        </p:spPr>
        <p:style>
          <a:lnRef idx="1">
            <a:schemeClr val="accent1"/>
          </a:lnRef>
          <a:fillRef idx="0">
            <a:schemeClr val="accent1"/>
          </a:fillRef>
          <a:effectRef idx="0">
            <a:schemeClr val="accent1"/>
          </a:effectRef>
          <a:fontRef idx="minor">
            <a:schemeClr val="tx1"/>
          </a:fontRef>
        </p:style>
      </p:cxnSp>
      <p:sp>
        <p:nvSpPr>
          <p:cNvPr id="17" name="Rectangle 4"/>
          <p:cNvSpPr>
            <a:spLocks noChangeArrowheads="1"/>
          </p:cNvSpPr>
          <p:nvPr>
            <p:custDataLst>
              <p:tags r:id="rId3"/>
            </p:custDataLst>
          </p:nvPr>
        </p:nvSpPr>
        <p:spPr bwMode="auto">
          <a:xfrm>
            <a:off x="4681728" y="2509271"/>
            <a:ext cx="1938250" cy="441453"/>
          </a:xfrm>
          <a:prstGeom prst="rect">
            <a:avLst/>
          </a:prstGeom>
          <a:solidFill>
            <a:srgbClr val="00A3A1"/>
          </a:solidFill>
          <a:ln w="12700">
            <a:solidFill>
              <a:srgbClr val="00A3A1"/>
            </a:solidFill>
            <a:miter lim="800000"/>
            <a:headEnd/>
            <a:tailEnd/>
          </a:ln>
          <a:effectLst/>
        </p:spPr>
        <p:txBody>
          <a:bodyPr wrap="square" lIns="54000" tIns="54000" rIns="54000" bIns="54000" anchor="ctr" anchorCtr="1">
            <a:spAutoFit/>
          </a:bodyPr>
          <a:lstStyle/>
          <a:p>
            <a:pPr algn="ctr" defTabSz="762000" eaLnBrk="0" hangingPunct="0">
              <a:lnSpc>
                <a:spcPct val="90000"/>
              </a:lnSpc>
              <a:spcBef>
                <a:spcPts val="600"/>
              </a:spcBef>
            </a:pPr>
            <a:r>
              <a:rPr lang="en-US" sz="800" dirty="0" smtClean="0">
                <a:solidFill>
                  <a:schemeClr val="bg1"/>
                </a:solidFill>
                <a:latin typeface="Univers for KPMG" panose="020B0603020202020204" pitchFamily="34" charset="0"/>
              </a:rPr>
              <a:t>We understand that the Company won a bid in FY17 to staff more resources.</a:t>
            </a:r>
            <a:endParaRPr lang="en-GB" sz="800" dirty="0">
              <a:solidFill>
                <a:schemeClr val="bg1"/>
              </a:solidFill>
            </a:endParaRPr>
          </a:p>
        </p:txBody>
      </p:sp>
      <p:sp>
        <p:nvSpPr>
          <p:cNvPr id="28" name="Rounded Rectangle 27"/>
          <p:cNvSpPr/>
          <p:nvPr/>
        </p:nvSpPr>
        <p:spPr>
          <a:xfrm>
            <a:off x="3038610" y="1877008"/>
            <a:ext cx="710616" cy="120300"/>
          </a:xfrm>
          <a:prstGeom prst="roundRect">
            <a:avLst/>
          </a:prstGeom>
          <a:noFill/>
          <a:ln>
            <a:solidFill>
              <a:srgbClr val="00A3A1"/>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smtClean="0">
              <a:solidFill>
                <a:schemeClr val="bg1"/>
              </a:solidFill>
            </a:endParaRPr>
          </a:p>
        </p:txBody>
      </p:sp>
      <p:sp>
        <p:nvSpPr>
          <p:cNvPr id="29" name="Rounded Rectangle 28"/>
          <p:cNvSpPr/>
          <p:nvPr/>
        </p:nvSpPr>
        <p:spPr>
          <a:xfrm>
            <a:off x="3038610" y="2391827"/>
            <a:ext cx="710616" cy="120300"/>
          </a:xfrm>
          <a:prstGeom prst="roundRect">
            <a:avLst/>
          </a:prstGeom>
          <a:noFill/>
          <a:ln>
            <a:solidFill>
              <a:srgbClr val="00A3A1"/>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smtClean="0">
              <a:solidFill>
                <a:schemeClr val="bg1"/>
              </a:solidFill>
            </a:endParaRPr>
          </a:p>
        </p:txBody>
      </p:sp>
      <p:sp>
        <p:nvSpPr>
          <p:cNvPr id="30" name="Rounded Rectangle 29"/>
          <p:cNvSpPr/>
          <p:nvPr/>
        </p:nvSpPr>
        <p:spPr>
          <a:xfrm>
            <a:off x="3038610" y="2885437"/>
            <a:ext cx="710616" cy="120300"/>
          </a:xfrm>
          <a:prstGeom prst="roundRect">
            <a:avLst/>
          </a:prstGeom>
          <a:noFill/>
          <a:ln>
            <a:solidFill>
              <a:srgbClr val="00A3A1"/>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smtClean="0">
              <a:solidFill>
                <a:schemeClr val="bg1"/>
              </a:solidFill>
            </a:endParaRPr>
          </a:p>
        </p:txBody>
      </p:sp>
    </p:spTree>
    <p:extLst>
      <p:ext uri="{BB962C8B-B14F-4D97-AF65-F5344CB8AC3E}">
        <p14:creationId xmlns:p14="http://schemas.microsoft.com/office/powerpoint/2010/main" val="997967578"/>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TextBox 27"/>
          <p:cNvSpPr txBox="1"/>
          <p:nvPr/>
        </p:nvSpPr>
        <p:spPr>
          <a:xfrm>
            <a:off x="431800" y="2970360"/>
            <a:ext cx="2967077" cy="92333"/>
          </a:xfrm>
          <a:prstGeom prst="rect">
            <a:avLst/>
          </a:prstGeom>
          <a:noFill/>
        </p:spPr>
        <p:txBody>
          <a:bodyPr wrap="square" lIns="0" tIns="0" rIns="0" bIns="0" rtlCol="0">
            <a:spAutoFit/>
          </a:bodyPr>
          <a:lstStyle/>
          <a:p>
            <a:pPr marL="400050" indent="-400050" defTabSz="914400"/>
            <a:r>
              <a:rPr lang="en-US" sz="600" i="1" dirty="0" smtClean="0">
                <a:solidFill>
                  <a:srgbClr val="000000"/>
                </a:solidFill>
              </a:rPr>
              <a:t>Source: 	Management provided information</a:t>
            </a:r>
          </a:p>
        </p:txBody>
      </p:sp>
      <p:sp>
        <p:nvSpPr>
          <p:cNvPr id="11" name="Titre 5"/>
          <p:cNvSpPr txBox="1">
            <a:spLocks/>
          </p:cNvSpPr>
          <p:nvPr/>
        </p:nvSpPr>
        <p:spPr bwMode="gray">
          <a:xfrm>
            <a:off x="431800" y="228600"/>
            <a:ext cx="8496000" cy="784830"/>
          </a:xfrm>
          <a:prstGeom prst="rect">
            <a:avLst/>
          </a:prstGeom>
        </p:spPr>
        <p:txBody>
          <a:bodyPr vert="horz" lIns="0" tIns="0" rIns="0" bIns="0" rtlCol="0" anchor="t" anchorCtr="0">
            <a:noAutofit/>
          </a:bodyPr>
          <a:lstStyle>
            <a:lvl1pPr algn="l" defTabSz="914400" rtl="0" eaLnBrk="1" latinLnBrk="0" hangingPunct="1">
              <a:lnSpc>
                <a:spcPct val="70000"/>
              </a:lnSpc>
              <a:spcBef>
                <a:spcPct val="0"/>
              </a:spcBef>
              <a:buNone/>
              <a:defRPr sz="3800" kern="1200">
                <a:solidFill>
                  <a:schemeClr val="tx2"/>
                </a:solidFill>
                <a:latin typeface="+mj-lt"/>
                <a:ea typeface="+mj-ea"/>
                <a:cs typeface="+mj-cs"/>
              </a:defRPr>
            </a:lvl1pPr>
          </a:lstStyle>
          <a:p>
            <a:r>
              <a:rPr lang="en-CA" sz="2400" dirty="0" smtClean="0">
                <a:solidFill>
                  <a:prstClr val="white">
                    <a:lumMod val="50000"/>
                  </a:prstClr>
                </a:solidFill>
              </a:rPr>
              <a:t>Appendix 8</a:t>
            </a:r>
          </a:p>
          <a:p>
            <a:r>
              <a:rPr lang="en-CA" sz="4000" dirty="0" smtClean="0">
                <a:solidFill>
                  <a:srgbClr val="00338D"/>
                </a:solidFill>
              </a:rPr>
              <a:t>Indicative NWC adjustment</a:t>
            </a:r>
            <a:endParaRPr lang="en-CA" sz="4000" dirty="0">
              <a:solidFill>
                <a:srgbClr val="00338D"/>
              </a:solidFill>
            </a:endParaRPr>
          </a:p>
        </p:txBody>
      </p:sp>
      <p:sp>
        <p:nvSpPr>
          <p:cNvPr id="6" name="Text Placeholder 6"/>
          <p:cNvSpPr txBox="1">
            <a:spLocks/>
          </p:cNvSpPr>
          <p:nvPr/>
        </p:nvSpPr>
        <p:spPr bwMode="gray">
          <a:xfrm>
            <a:off x="431800" y="3070931"/>
            <a:ext cx="5598297" cy="279108"/>
          </a:xfrm>
          <a:prstGeom prst="rect">
            <a:avLst/>
          </a:prstGeom>
        </p:spPr>
        <p:txBody>
          <a:bodyPr vert="horz" lIns="0" tIns="0" rIns="0" bIns="0" rtlCol="0">
            <a:noAutofit/>
          </a:bodyPr>
          <a:lstStyle>
            <a:lvl1pPr algn="l" eaLnBrk="1" hangingPunct="1">
              <a:spcBef>
                <a:spcPts val="900"/>
              </a:spcBef>
              <a:spcAft>
                <a:spcPts val="0"/>
              </a:spcAft>
              <a:defRPr sz="1200" b="1" i="0">
                <a:solidFill>
                  <a:srgbClr val="00338D"/>
                </a:solidFill>
                <a:latin typeface="Univers for KPMG" panose="020B0603020202020204" pitchFamily="34" charset="0"/>
                <a:cs typeface="Arial" panose="020B0604020202020204" pitchFamily="34" charset="0"/>
              </a:defRPr>
            </a:lvl1pPr>
            <a:lvl2pPr marL="0" indent="0" algn="l" eaLnBrk="1" hangingPunct="1">
              <a:spcBef>
                <a:spcPts val="600"/>
              </a:spcBef>
              <a:spcAft>
                <a:spcPts val="0"/>
              </a:spcAft>
              <a:buFont typeface="Univers for KPMG"/>
              <a:buNone/>
              <a:defRPr sz="1200" b="0" i="0">
                <a:solidFill>
                  <a:srgbClr val="00338D"/>
                </a:solidFill>
                <a:latin typeface="+mn-lt"/>
                <a:cs typeface="Arial" panose="020B0604020202020204" pitchFamily="34" charset="0"/>
              </a:defRPr>
            </a:lvl2pPr>
            <a:lvl3pPr marL="270000" indent="-270000" algn="l" eaLnBrk="1" hangingPunct="1">
              <a:spcBef>
                <a:spcPts val="300"/>
              </a:spcBef>
              <a:spcAft>
                <a:spcPts val="0"/>
              </a:spcAft>
              <a:buClr>
                <a:schemeClr val="tx2"/>
              </a:buClr>
              <a:buFont typeface="Univers for KPMG Light" panose="020B0403020202020204" pitchFamily="34" charset="0"/>
              <a:buChar char="—"/>
              <a:defRPr sz="1100" b="0" i="0">
                <a:solidFill>
                  <a:srgbClr val="00338D"/>
                </a:solidFill>
                <a:latin typeface="+mn-lt"/>
                <a:cs typeface="Arial" panose="020B0604020202020204" pitchFamily="34" charset="0"/>
              </a:defRPr>
            </a:lvl3pPr>
            <a:lvl4pPr marL="630000" indent="-270000" algn="l" eaLnBrk="1" hangingPunct="1">
              <a:spcBef>
                <a:spcPts val="200"/>
              </a:spcBef>
              <a:spcAft>
                <a:spcPts val="0"/>
              </a:spcAft>
              <a:buClr>
                <a:schemeClr val="tx2"/>
              </a:buClr>
              <a:buFont typeface="Univers for KPMG Light" panose="020B0403020202020204" pitchFamily="34" charset="0"/>
              <a:buChar char="—"/>
              <a:defRPr lang="en-US" sz="1000" b="0" i="0" dirty="0" smtClean="0">
                <a:solidFill>
                  <a:srgbClr val="00338D"/>
                </a:solidFill>
                <a:latin typeface="+mn-lt"/>
                <a:cs typeface="Arial" panose="020B0604020202020204" pitchFamily="34" charset="0"/>
              </a:defRPr>
            </a:lvl4pPr>
            <a:lvl5pPr marL="990000" indent="-270000" algn="l" eaLnBrk="1" hangingPunct="1">
              <a:spcBef>
                <a:spcPts val="200"/>
              </a:spcBef>
              <a:spcAft>
                <a:spcPts val="0"/>
              </a:spcAft>
              <a:buClr>
                <a:schemeClr val="tx2"/>
              </a:buClr>
              <a:buFont typeface="Univers for KPMG Light" panose="020B0403020202020204" pitchFamily="34" charset="0"/>
              <a:buChar char="—"/>
              <a:defRPr lang="en-CA" sz="900" b="0" i="0" dirty="0">
                <a:solidFill>
                  <a:srgbClr val="00338D"/>
                </a:solidFill>
                <a:latin typeface="+mn-lt"/>
                <a:cs typeface="Arial" panose="020B0604020202020204" pitchFamily="34" charset="0"/>
              </a:defRPr>
            </a:lvl5pPr>
            <a:lvl6pPr marL="1166813" indent="-248400" algn="l" eaLnBrk="1" hangingPunct="1">
              <a:spcAft>
                <a:spcPts val="600"/>
              </a:spcAft>
              <a:buFont typeface="Univers for KPMG Light" panose="020B0403020202020204" pitchFamily="34" charset="0"/>
              <a:buChar char="-"/>
              <a:defRPr lang="en-US" sz="1400" b="0" i="0" baseline="0" dirty="0" smtClean="0">
                <a:solidFill>
                  <a:srgbClr val="003087"/>
                </a:solidFill>
                <a:latin typeface="Univers for KPMG Light" panose="020B0403020202020204" pitchFamily="34" charset="0"/>
              </a:defRPr>
            </a:lvl6pPr>
            <a:lvl7pPr marL="1524000" indent="-309600" algn="l" eaLnBrk="1" hangingPunct="1">
              <a:spcAft>
                <a:spcPts val="600"/>
              </a:spcAft>
              <a:buFont typeface="Univers for KPMG Light" panose="020B0403020202020204" pitchFamily="34" charset="0"/>
              <a:buChar char="—"/>
              <a:defRPr lang="en-US" sz="1400" b="0" i="0" dirty="0" smtClean="0">
                <a:solidFill>
                  <a:srgbClr val="003087"/>
                </a:solidFill>
                <a:latin typeface="Univers for KPMG Light" panose="020B0403020202020204" pitchFamily="34" charset="0"/>
              </a:defRPr>
            </a:lvl7pPr>
            <a:lvl8pPr marL="1881188" indent="-248400" algn="l" eaLnBrk="1" hangingPunct="1">
              <a:spcAft>
                <a:spcPts val="600"/>
              </a:spcAft>
              <a:buFont typeface="Univers for KPMG Light" panose="020B0403020202020204" pitchFamily="34" charset="0"/>
              <a:buChar char="-"/>
              <a:defRPr lang="en-US" sz="1400" b="0" i="0" baseline="0" dirty="0" smtClean="0">
                <a:solidFill>
                  <a:srgbClr val="003087"/>
                </a:solidFill>
                <a:latin typeface="Univers for KPMG Light" panose="020B0403020202020204" pitchFamily="34" charset="0"/>
              </a:defRPr>
            </a:lvl8pPr>
            <a:lvl9pPr marL="2238375" indent="-309600" algn="l" eaLnBrk="1" hangingPunct="1">
              <a:spcAft>
                <a:spcPts val="600"/>
              </a:spcAft>
              <a:buFont typeface="Univers for KPMG Light" panose="020B0403020202020204" pitchFamily="34" charset="0"/>
              <a:buChar char="—"/>
              <a:defRPr lang="en-US" sz="1400" b="0" i="0" dirty="0" smtClean="0">
                <a:solidFill>
                  <a:srgbClr val="003087"/>
                </a:solidFill>
                <a:latin typeface="Univers for KPMG Light" panose="020B0403020202020204" pitchFamily="34" charset="0"/>
              </a:defRPr>
            </a:lvl9pPr>
          </a:lstStyle>
          <a:p>
            <a:pPr lvl="1">
              <a:spcBef>
                <a:spcPts val="900"/>
              </a:spcBef>
            </a:pPr>
            <a:r>
              <a:rPr lang="en-US" sz="600" i="1" dirty="0" smtClean="0">
                <a:solidFill>
                  <a:schemeClr val="tx1"/>
                </a:solidFill>
              </a:rPr>
              <a:t>Note:          The monthly NWC adjustment is calculated as the total of QofE adjustments #2 to #9 multiplied by the monthly DPO multiplied by (12/365).</a:t>
            </a:r>
            <a:endParaRPr lang="en-US" sz="600" i="1" dirty="0">
              <a:solidFill>
                <a:schemeClr val="tx1"/>
              </a:solidFill>
              <a:latin typeface="Univers for KPMG" panose="020B0603020202020204" pitchFamily="34" charset="0"/>
            </a:endParaRPr>
          </a:p>
        </p:txBody>
      </p:sp>
      <p:pic>
        <p:nvPicPr>
          <p:cNvPr id="3" name="Picture 2"/>
          <p:cNvPicPr>
            <a:picLocks noChangeAspect="1"/>
          </p:cNvPicPr>
          <p:nvPr/>
        </p:nvPicPr>
        <p:blipFill>
          <a:blip r:embed="rId3"/>
          <a:stretch>
            <a:fillRect/>
          </a:stretch>
        </p:blipFill>
        <p:spPr>
          <a:xfrm>
            <a:off x="431800" y="1195097"/>
            <a:ext cx="8241984" cy="1775263"/>
          </a:xfrm>
          <a:prstGeom prst="rect">
            <a:avLst/>
          </a:prstGeom>
        </p:spPr>
      </p:pic>
    </p:spTree>
    <p:extLst>
      <p:ext uri="{BB962C8B-B14F-4D97-AF65-F5344CB8AC3E}">
        <p14:creationId xmlns:p14="http://schemas.microsoft.com/office/powerpoint/2010/main" val="184667569"/>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stretch>
            <a:fillRect/>
          </a:stretch>
        </p:blipFill>
        <p:spPr>
          <a:xfrm>
            <a:off x="431800" y="1399865"/>
            <a:ext cx="7612988" cy="2858240"/>
          </a:xfrm>
          <a:prstGeom prst="rect">
            <a:avLst/>
          </a:prstGeom>
        </p:spPr>
      </p:pic>
      <p:sp>
        <p:nvSpPr>
          <p:cNvPr id="28" name="TextBox 27"/>
          <p:cNvSpPr txBox="1"/>
          <p:nvPr/>
        </p:nvSpPr>
        <p:spPr>
          <a:xfrm>
            <a:off x="431800" y="2612220"/>
            <a:ext cx="2967077" cy="92333"/>
          </a:xfrm>
          <a:prstGeom prst="rect">
            <a:avLst/>
          </a:prstGeom>
          <a:noFill/>
        </p:spPr>
        <p:txBody>
          <a:bodyPr wrap="square" lIns="0" tIns="0" rIns="0" bIns="0" rtlCol="0">
            <a:spAutoFit/>
          </a:bodyPr>
          <a:lstStyle/>
          <a:p>
            <a:pPr marL="400050" indent="-400050" defTabSz="914400"/>
            <a:r>
              <a:rPr lang="en-US" sz="600" i="1" dirty="0" smtClean="0">
                <a:solidFill>
                  <a:srgbClr val="000000"/>
                </a:solidFill>
              </a:rPr>
              <a:t>Source : 	Management provided information</a:t>
            </a:r>
          </a:p>
        </p:txBody>
      </p:sp>
      <p:sp>
        <p:nvSpPr>
          <p:cNvPr id="11" name="Titre 5"/>
          <p:cNvSpPr txBox="1">
            <a:spLocks/>
          </p:cNvSpPr>
          <p:nvPr/>
        </p:nvSpPr>
        <p:spPr bwMode="gray">
          <a:xfrm>
            <a:off x="431800" y="228600"/>
            <a:ext cx="8496000" cy="784830"/>
          </a:xfrm>
          <a:prstGeom prst="rect">
            <a:avLst/>
          </a:prstGeom>
        </p:spPr>
        <p:txBody>
          <a:bodyPr vert="horz" lIns="0" tIns="0" rIns="0" bIns="0" rtlCol="0" anchor="t" anchorCtr="0">
            <a:noAutofit/>
          </a:bodyPr>
          <a:lstStyle>
            <a:lvl1pPr algn="l" defTabSz="914400" rtl="0" eaLnBrk="1" latinLnBrk="0" hangingPunct="1">
              <a:lnSpc>
                <a:spcPct val="70000"/>
              </a:lnSpc>
              <a:spcBef>
                <a:spcPct val="0"/>
              </a:spcBef>
              <a:buNone/>
              <a:defRPr sz="3800" kern="1200">
                <a:solidFill>
                  <a:schemeClr val="tx2"/>
                </a:solidFill>
                <a:latin typeface="+mj-lt"/>
                <a:ea typeface="+mj-ea"/>
                <a:cs typeface="+mj-cs"/>
              </a:defRPr>
            </a:lvl1pPr>
          </a:lstStyle>
          <a:p>
            <a:r>
              <a:rPr lang="en-CA" sz="2400" dirty="0" smtClean="0">
                <a:solidFill>
                  <a:prstClr val="white">
                    <a:lumMod val="50000"/>
                  </a:prstClr>
                </a:solidFill>
              </a:rPr>
              <a:t>Appendix </a:t>
            </a:r>
            <a:r>
              <a:rPr lang="en-CA" sz="2400" dirty="0">
                <a:solidFill>
                  <a:prstClr val="white">
                    <a:lumMod val="50000"/>
                  </a:prstClr>
                </a:solidFill>
              </a:rPr>
              <a:t>9</a:t>
            </a:r>
            <a:endParaRPr lang="en-CA" sz="2400" dirty="0" smtClean="0">
              <a:solidFill>
                <a:prstClr val="white">
                  <a:lumMod val="50000"/>
                </a:prstClr>
              </a:solidFill>
            </a:endParaRPr>
          </a:p>
          <a:p>
            <a:r>
              <a:rPr lang="en-CA" sz="4000" dirty="0" smtClean="0">
                <a:solidFill>
                  <a:srgbClr val="00338D"/>
                </a:solidFill>
              </a:rPr>
              <a:t>India &amp; Switzerland NWC contribution</a:t>
            </a:r>
            <a:endParaRPr lang="en-CA" sz="4000" dirty="0">
              <a:solidFill>
                <a:srgbClr val="00338D"/>
              </a:solidFill>
            </a:endParaRPr>
          </a:p>
        </p:txBody>
      </p:sp>
      <p:sp>
        <p:nvSpPr>
          <p:cNvPr id="6" name="TextBox 5"/>
          <p:cNvSpPr txBox="1"/>
          <p:nvPr/>
        </p:nvSpPr>
        <p:spPr>
          <a:xfrm>
            <a:off x="431800" y="4258105"/>
            <a:ext cx="2967077" cy="92333"/>
          </a:xfrm>
          <a:prstGeom prst="rect">
            <a:avLst/>
          </a:prstGeom>
          <a:noFill/>
        </p:spPr>
        <p:txBody>
          <a:bodyPr wrap="square" lIns="0" tIns="0" rIns="0" bIns="0" rtlCol="0">
            <a:spAutoFit/>
          </a:bodyPr>
          <a:lstStyle/>
          <a:p>
            <a:pPr marL="400050" indent="-400050" defTabSz="914400"/>
            <a:r>
              <a:rPr lang="en-US" sz="600" i="1" dirty="0" smtClean="0">
                <a:solidFill>
                  <a:srgbClr val="000000"/>
                </a:solidFill>
              </a:rPr>
              <a:t>Source : 	Management provided information</a:t>
            </a:r>
          </a:p>
        </p:txBody>
      </p:sp>
      <p:sp>
        <p:nvSpPr>
          <p:cNvPr id="7" name="Text Placeholder 6"/>
          <p:cNvSpPr txBox="1">
            <a:spLocks/>
          </p:cNvSpPr>
          <p:nvPr/>
        </p:nvSpPr>
        <p:spPr bwMode="gray">
          <a:xfrm>
            <a:off x="431800" y="975950"/>
            <a:ext cx="7612988" cy="301102"/>
          </a:xfrm>
          <a:prstGeom prst="rect">
            <a:avLst/>
          </a:prstGeom>
        </p:spPr>
        <p:txBody>
          <a:bodyPr vert="horz" lIns="0" tIns="0" rIns="0" bIns="0" rtlCol="0">
            <a:noAutofit/>
          </a:bodyPr>
          <a:lstStyle>
            <a:lvl1pPr algn="l" eaLnBrk="1" hangingPunct="1">
              <a:spcBef>
                <a:spcPts val="900"/>
              </a:spcBef>
              <a:spcAft>
                <a:spcPts val="0"/>
              </a:spcAft>
              <a:defRPr sz="1200" b="1" i="0">
                <a:solidFill>
                  <a:srgbClr val="00338D"/>
                </a:solidFill>
                <a:latin typeface="Univers for KPMG" panose="020B0603020202020204" pitchFamily="34" charset="0"/>
                <a:cs typeface="Arial" panose="020B0604020202020204" pitchFamily="34" charset="0"/>
              </a:defRPr>
            </a:lvl1pPr>
            <a:lvl2pPr marL="0" indent="0" algn="l" eaLnBrk="1" hangingPunct="1">
              <a:spcBef>
                <a:spcPts val="600"/>
              </a:spcBef>
              <a:spcAft>
                <a:spcPts val="0"/>
              </a:spcAft>
              <a:buFont typeface="Univers for KPMG"/>
              <a:buNone/>
              <a:defRPr sz="1200" b="0" i="0">
                <a:solidFill>
                  <a:srgbClr val="00338D"/>
                </a:solidFill>
                <a:latin typeface="+mn-lt"/>
                <a:cs typeface="Arial" panose="020B0604020202020204" pitchFamily="34" charset="0"/>
              </a:defRPr>
            </a:lvl2pPr>
            <a:lvl3pPr marL="270000" indent="-270000" algn="l" eaLnBrk="1" hangingPunct="1">
              <a:spcBef>
                <a:spcPts val="300"/>
              </a:spcBef>
              <a:spcAft>
                <a:spcPts val="0"/>
              </a:spcAft>
              <a:buClr>
                <a:schemeClr val="tx2"/>
              </a:buClr>
              <a:buFont typeface="Univers for KPMG Light" panose="020B0403020202020204" pitchFamily="34" charset="0"/>
              <a:buChar char="—"/>
              <a:defRPr sz="1100" b="0" i="0">
                <a:solidFill>
                  <a:srgbClr val="00338D"/>
                </a:solidFill>
                <a:latin typeface="+mn-lt"/>
                <a:cs typeface="Arial" panose="020B0604020202020204" pitchFamily="34" charset="0"/>
              </a:defRPr>
            </a:lvl3pPr>
            <a:lvl4pPr marL="630000" indent="-270000" algn="l" eaLnBrk="1" hangingPunct="1">
              <a:spcBef>
                <a:spcPts val="200"/>
              </a:spcBef>
              <a:spcAft>
                <a:spcPts val="0"/>
              </a:spcAft>
              <a:buClr>
                <a:schemeClr val="tx2"/>
              </a:buClr>
              <a:buFont typeface="Univers for KPMG Light" panose="020B0403020202020204" pitchFamily="34" charset="0"/>
              <a:buChar char="—"/>
              <a:defRPr lang="en-US" sz="1000" b="0" i="0" dirty="0" smtClean="0">
                <a:solidFill>
                  <a:srgbClr val="00338D"/>
                </a:solidFill>
                <a:latin typeface="+mn-lt"/>
                <a:cs typeface="Arial" panose="020B0604020202020204" pitchFamily="34" charset="0"/>
              </a:defRPr>
            </a:lvl4pPr>
            <a:lvl5pPr marL="990000" indent="-270000" algn="l" eaLnBrk="1" hangingPunct="1">
              <a:spcBef>
                <a:spcPts val="200"/>
              </a:spcBef>
              <a:spcAft>
                <a:spcPts val="0"/>
              </a:spcAft>
              <a:buClr>
                <a:schemeClr val="tx2"/>
              </a:buClr>
              <a:buFont typeface="Univers for KPMG Light" panose="020B0403020202020204" pitchFamily="34" charset="0"/>
              <a:buChar char="—"/>
              <a:defRPr lang="en-CA" sz="900" b="0" i="0" dirty="0">
                <a:solidFill>
                  <a:srgbClr val="00338D"/>
                </a:solidFill>
                <a:latin typeface="+mn-lt"/>
                <a:cs typeface="Arial" panose="020B0604020202020204" pitchFamily="34" charset="0"/>
              </a:defRPr>
            </a:lvl5pPr>
            <a:lvl6pPr marL="1166813" indent="-248400" algn="l" eaLnBrk="1" hangingPunct="1">
              <a:spcAft>
                <a:spcPts val="600"/>
              </a:spcAft>
              <a:buFont typeface="Univers for KPMG Light" panose="020B0403020202020204" pitchFamily="34" charset="0"/>
              <a:buChar char="-"/>
              <a:defRPr lang="en-US" sz="1400" b="0" i="0" baseline="0" dirty="0" smtClean="0">
                <a:solidFill>
                  <a:srgbClr val="003087"/>
                </a:solidFill>
                <a:latin typeface="Univers for KPMG Light" panose="020B0403020202020204" pitchFamily="34" charset="0"/>
              </a:defRPr>
            </a:lvl6pPr>
            <a:lvl7pPr marL="1524000" indent="-309600" algn="l" eaLnBrk="1" hangingPunct="1">
              <a:spcAft>
                <a:spcPts val="600"/>
              </a:spcAft>
              <a:buFont typeface="Univers for KPMG Light" panose="020B0403020202020204" pitchFamily="34" charset="0"/>
              <a:buChar char="—"/>
              <a:defRPr lang="en-US" sz="1400" b="0" i="0" dirty="0" smtClean="0">
                <a:solidFill>
                  <a:srgbClr val="003087"/>
                </a:solidFill>
                <a:latin typeface="Univers for KPMG Light" panose="020B0403020202020204" pitchFamily="34" charset="0"/>
              </a:defRPr>
            </a:lvl7pPr>
            <a:lvl8pPr marL="1881188" indent="-248400" algn="l" eaLnBrk="1" hangingPunct="1">
              <a:spcAft>
                <a:spcPts val="600"/>
              </a:spcAft>
              <a:buFont typeface="Univers for KPMG Light" panose="020B0403020202020204" pitchFamily="34" charset="0"/>
              <a:buChar char="-"/>
              <a:defRPr lang="en-US" sz="1400" b="0" i="0" baseline="0" dirty="0" smtClean="0">
                <a:solidFill>
                  <a:srgbClr val="003087"/>
                </a:solidFill>
                <a:latin typeface="Univers for KPMG Light" panose="020B0403020202020204" pitchFamily="34" charset="0"/>
              </a:defRPr>
            </a:lvl8pPr>
            <a:lvl9pPr marL="2238375" indent="-309600" algn="l" eaLnBrk="1" hangingPunct="1">
              <a:spcAft>
                <a:spcPts val="600"/>
              </a:spcAft>
              <a:buFont typeface="Univers for KPMG Light" panose="020B0403020202020204" pitchFamily="34" charset="0"/>
              <a:buChar char="—"/>
              <a:defRPr lang="en-US" sz="1400" b="0" i="0" dirty="0" smtClean="0">
                <a:solidFill>
                  <a:srgbClr val="003087"/>
                </a:solidFill>
                <a:latin typeface="Univers for KPMG Light" panose="020B0403020202020204" pitchFamily="34" charset="0"/>
              </a:defRPr>
            </a:lvl9pPr>
          </a:lstStyle>
          <a:p>
            <a:r>
              <a:rPr lang="en-US" sz="900" b="0" dirty="0" smtClean="0">
                <a:solidFill>
                  <a:srgbClr val="6D2077"/>
                </a:solidFill>
              </a:rPr>
              <a:t>The India and Switzerland financials were provided on an annual basis only.  As such, the FY17 monthly working capital amounts for India and Switzerland were calculated as the straight-line difference between each account’s December 31, 2016 and December 31, 2017 amounts.</a:t>
            </a:r>
          </a:p>
        </p:txBody>
      </p:sp>
    </p:spTree>
    <p:extLst>
      <p:ext uri="{BB962C8B-B14F-4D97-AF65-F5344CB8AC3E}">
        <p14:creationId xmlns:p14="http://schemas.microsoft.com/office/powerpoint/2010/main" val="473912954"/>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re 5"/>
          <p:cNvSpPr txBox="1">
            <a:spLocks/>
          </p:cNvSpPr>
          <p:nvPr/>
        </p:nvSpPr>
        <p:spPr bwMode="gray">
          <a:xfrm>
            <a:off x="431800" y="228600"/>
            <a:ext cx="8496000" cy="784830"/>
          </a:xfrm>
          <a:prstGeom prst="rect">
            <a:avLst/>
          </a:prstGeom>
        </p:spPr>
        <p:txBody>
          <a:bodyPr vert="horz" lIns="0" tIns="0" rIns="0" bIns="0" rtlCol="0" anchor="t" anchorCtr="0">
            <a:noAutofit/>
          </a:bodyPr>
          <a:lstStyle>
            <a:lvl1pPr algn="l" defTabSz="914400" rtl="0" eaLnBrk="1" latinLnBrk="0" hangingPunct="1">
              <a:lnSpc>
                <a:spcPct val="70000"/>
              </a:lnSpc>
              <a:spcBef>
                <a:spcPct val="0"/>
              </a:spcBef>
              <a:buNone/>
              <a:defRPr sz="3800" kern="1200">
                <a:solidFill>
                  <a:schemeClr val="tx2"/>
                </a:solidFill>
                <a:latin typeface="+mj-lt"/>
                <a:ea typeface="+mj-ea"/>
                <a:cs typeface="+mj-cs"/>
              </a:defRPr>
            </a:lvl1pPr>
          </a:lstStyle>
          <a:p>
            <a:r>
              <a:rPr lang="en-CA" sz="2400" dirty="0" smtClean="0">
                <a:solidFill>
                  <a:prstClr val="white">
                    <a:lumMod val="50000"/>
                  </a:prstClr>
                </a:solidFill>
              </a:rPr>
              <a:t>Appendix 10</a:t>
            </a:r>
          </a:p>
          <a:p>
            <a:r>
              <a:rPr lang="en-CA" sz="4000" dirty="0">
                <a:solidFill>
                  <a:srgbClr val="00338D"/>
                </a:solidFill>
              </a:rPr>
              <a:t>Net working capital, adjusted – Days ratio metrics</a:t>
            </a:r>
          </a:p>
        </p:txBody>
      </p:sp>
      <p:pic>
        <p:nvPicPr>
          <p:cNvPr id="8" name="Picture 7"/>
          <p:cNvPicPr>
            <a:picLocks noChangeAspect="1"/>
          </p:cNvPicPr>
          <p:nvPr/>
        </p:nvPicPr>
        <p:blipFill>
          <a:blip r:embed="rId6"/>
          <a:stretch>
            <a:fillRect/>
          </a:stretch>
        </p:blipFill>
        <p:spPr>
          <a:xfrm>
            <a:off x="431800" y="1438816"/>
            <a:ext cx="3140894" cy="1713568"/>
          </a:xfrm>
          <a:prstGeom prst="rect">
            <a:avLst/>
          </a:prstGeom>
        </p:spPr>
      </p:pic>
      <p:sp>
        <p:nvSpPr>
          <p:cNvPr id="9" name="Text Box 7"/>
          <p:cNvSpPr txBox="1">
            <a:spLocks noChangeArrowheads="1"/>
          </p:cNvSpPr>
          <p:nvPr>
            <p:custDataLst>
              <p:tags r:id="rId1"/>
            </p:custDataLst>
          </p:nvPr>
        </p:nvSpPr>
        <p:spPr bwMode="gray">
          <a:xfrm>
            <a:off x="608280" y="1281765"/>
            <a:ext cx="3244850" cy="138499"/>
          </a:xfrm>
          <a:prstGeom prst="rect">
            <a:avLst/>
          </a:prstGeom>
          <a:noFill/>
          <a:ln w="6350">
            <a:noFill/>
            <a:miter lim="800000"/>
            <a:headEnd type="none" w="sm" len="sm"/>
            <a:tailEnd type="none" w="sm" len="sm"/>
          </a:ln>
          <a:effectLst/>
        </p:spPr>
        <p:txBody>
          <a:bodyPr lIns="0" tIns="0" rIns="0" bIns="0">
            <a:spAutoFit/>
          </a:bodyPr>
          <a:lstStyle/>
          <a:p>
            <a:pPr defTabSz="762000" eaLnBrk="0" hangingPunct="0"/>
            <a:r>
              <a:rPr lang="en-GB" sz="900" b="1" dirty="0" smtClean="0">
                <a:solidFill>
                  <a:schemeClr val="tx2"/>
                </a:solidFill>
                <a:latin typeface="Univers for KPMG" panose="020B0603020202020204" pitchFamily="34" charset="0"/>
                <a:cs typeface="Arial" pitchFamily="34" charset="0"/>
              </a:rPr>
              <a:t>Days sales outstanding, adjusted</a:t>
            </a:r>
            <a:endParaRPr lang="en-GB" sz="900" b="1" dirty="0">
              <a:solidFill>
                <a:schemeClr val="tx2"/>
              </a:solidFill>
              <a:latin typeface="Univers for KPMG" panose="020B0603020202020204" pitchFamily="34" charset="0"/>
              <a:cs typeface="Arial" pitchFamily="34" charset="0"/>
            </a:endParaRPr>
          </a:p>
        </p:txBody>
      </p:sp>
      <p:sp>
        <p:nvSpPr>
          <p:cNvPr id="10" name="Text Box 7"/>
          <p:cNvSpPr txBox="1">
            <a:spLocks noChangeArrowheads="1"/>
          </p:cNvSpPr>
          <p:nvPr>
            <p:custDataLst>
              <p:tags r:id="rId2"/>
            </p:custDataLst>
          </p:nvPr>
        </p:nvSpPr>
        <p:spPr bwMode="gray">
          <a:xfrm>
            <a:off x="666874" y="3620571"/>
            <a:ext cx="3244850" cy="138499"/>
          </a:xfrm>
          <a:prstGeom prst="rect">
            <a:avLst/>
          </a:prstGeom>
          <a:noFill/>
          <a:ln w="6350">
            <a:noFill/>
            <a:miter lim="800000"/>
            <a:headEnd type="none" w="sm" len="sm"/>
            <a:tailEnd type="none" w="sm" len="sm"/>
          </a:ln>
          <a:effectLst/>
        </p:spPr>
        <p:txBody>
          <a:bodyPr lIns="0" tIns="0" rIns="0" bIns="0">
            <a:spAutoFit/>
          </a:bodyPr>
          <a:lstStyle/>
          <a:p>
            <a:pPr defTabSz="762000" eaLnBrk="0" hangingPunct="0"/>
            <a:r>
              <a:rPr lang="en-GB" sz="900" b="1" dirty="0" smtClean="0">
                <a:solidFill>
                  <a:schemeClr val="tx2"/>
                </a:solidFill>
                <a:latin typeface="Univers for KPMG" panose="020B0603020202020204" pitchFamily="34" charset="0"/>
                <a:cs typeface="Arial" pitchFamily="34" charset="0"/>
              </a:rPr>
              <a:t>Days payables outstanding, adjusted</a:t>
            </a:r>
            <a:endParaRPr lang="en-GB" sz="900" b="1" dirty="0">
              <a:solidFill>
                <a:schemeClr val="tx2"/>
              </a:solidFill>
              <a:latin typeface="Univers for KPMG" panose="020B0603020202020204" pitchFamily="34" charset="0"/>
              <a:cs typeface="Arial" pitchFamily="34" charset="0"/>
            </a:endParaRPr>
          </a:p>
        </p:txBody>
      </p:sp>
      <p:sp>
        <p:nvSpPr>
          <p:cNvPr id="12" name="Text Box 7"/>
          <p:cNvSpPr txBox="1">
            <a:spLocks noChangeArrowheads="1"/>
          </p:cNvSpPr>
          <p:nvPr>
            <p:custDataLst>
              <p:tags r:id="rId3"/>
            </p:custDataLst>
          </p:nvPr>
        </p:nvSpPr>
        <p:spPr bwMode="gray">
          <a:xfrm>
            <a:off x="4074020" y="1277052"/>
            <a:ext cx="3244850" cy="138499"/>
          </a:xfrm>
          <a:prstGeom prst="rect">
            <a:avLst/>
          </a:prstGeom>
          <a:noFill/>
          <a:ln w="6350">
            <a:noFill/>
            <a:miter lim="800000"/>
            <a:headEnd type="none" w="sm" len="sm"/>
            <a:tailEnd type="none" w="sm" len="sm"/>
          </a:ln>
          <a:effectLst/>
        </p:spPr>
        <p:txBody>
          <a:bodyPr lIns="0" tIns="0" rIns="0" bIns="0">
            <a:spAutoFit/>
          </a:bodyPr>
          <a:lstStyle/>
          <a:p>
            <a:pPr defTabSz="762000" eaLnBrk="0" hangingPunct="0"/>
            <a:r>
              <a:rPr lang="en-GB" sz="900" b="1" dirty="0" smtClean="0">
                <a:solidFill>
                  <a:schemeClr val="tx2"/>
                </a:solidFill>
                <a:latin typeface="Univers for KPMG" panose="020B0603020202020204" pitchFamily="34" charset="0"/>
                <a:cs typeface="Arial" pitchFamily="34" charset="0"/>
              </a:rPr>
              <a:t>Cash conversion cycle, adjusted</a:t>
            </a:r>
            <a:endParaRPr lang="en-GB" sz="900" b="1" dirty="0">
              <a:solidFill>
                <a:schemeClr val="tx2"/>
              </a:solidFill>
              <a:latin typeface="Univers for KPMG" panose="020B0603020202020204" pitchFamily="34" charset="0"/>
              <a:cs typeface="Arial" pitchFamily="34" charset="0"/>
            </a:endParaRPr>
          </a:p>
        </p:txBody>
      </p:sp>
      <p:sp>
        <p:nvSpPr>
          <p:cNvPr id="13" name="TextBox 12"/>
          <p:cNvSpPr txBox="1"/>
          <p:nvPr/>
        </p:nvSpPr>
        <p:spPr>
          <a:xfrm>
            <a:off x="4074019" y="5982160"/>
            <a:ext cx="2967077" cy="92333"/>
          </a:xfrm>
          <a:prstGeom prst="rect">
            <a:avLst/>
          </a:prstGeom>
          <a:noFill/>
        </p:spPr>
        <p:txBody>
          <a:bodyPr wrap="square" lIns="0" tIns="0" rIns="0" bIns="0" rtlCol="0">
            <a:spAutoFit/>
          </a:bodyPr>
          <a:lstStyle/>
          <a:p>
            <a:pPr marL="400050" indent="-400050" defTabSz="914400"/>
            <a:r>
              <a:rPr lang="en-US" sz="600" i="1" dirty="0" smtClean="0">
                <a:solidFill>
                  <a:srgbClr val="000000"/>
                </a:solidFill>
              </a:rPr>
              <a:t>Source : 	Management provided information</a:t>
            </a:r>
            <a:endParaRPr lang="en-US" sz="600" i="1" dirty="0">
              <a:solidFill>
                <a:srgbClr val="000000"/>
              </a:solidFill>
            </a:endParaRPr>
          </a:p>
        </p:txBody>
      </p:sp>
      <p:sp>
        <p:nvSpPr>
          <p:cNvPr id="14" name="TextBox 13"/>
          <p:cNvSpPr txBox="1"/>
          <p:nvPr/>
        </p:nvSpPr>
        <p:spPr>
          <a:xfrm>
            <a:off x="608279" y="5602711"/>
            <a:ext cx="2967077" cy="92333"/>
          </a:xfrm>
          <a:prstGeom prst="rect">
            <a:avLst/>
          </a:prstGeom>
          <a:noFill/>
        </p:spPr>
        <p:txBody>
          <a:bodyPr wrap="square" lIns="0" tIns="0" rIns="0" bIns="0" rtlCol="0">
            <a:spAutoFit/>
          </a:bodyPr>
          <a:lstStyle/>
          <a:p>
            <a:pPr marL="400050" indent="-400050" defTabSz="914400"/>
            <a:r>
              <a:rPr lang="en-US" sz="600" i="1" dirty="0" smtClean="0">
                <a:solidFill>
                  <a:srgbClr val="000000"/>
                </a:solidFill>
              </a:rPr>
              <a:t>Source : 	Management provided information</a:t>
            </a:r>
            <a:endParaRPr lang="en-US" sz="600" i="1" dirty="0">
              <a:solidFill>
                <a:srgbClr val="000000"/>
              </a:solidFill>
            </a:endParaRPr>
          </a:p>
        </p:txBody>
      </p:sp>
      <p:sp>
        <p:nvSpPr>
          <p:cNvPr id="15" name="TextBox 14"/>
          <p:cNvSpPr txBox="1"/>
          <p:nvPr/>
        </p:nvSpPr>
        <p:spPr>
          <a:xfrm>
            <a:off x="605617" y="3212994"/>
            <a:ext cx="2967077" cy="92333"/>
          </a:xfrm>
          <a:prstGeom prst="rect">
            <a:avLst/>
          </a:prstGeom>
          <a:noFill/>
        </p:spPr>
        <p:txBody>
          <a:bodyPr wrap="square" lIns="0" tIns="0" rIns="0" bIns="0" rtlCol="0">
            <a:spAutoFit/>
          </a:bodyPr>
          <a:lstStyle/>
          <a:p>
            <a:pPr marL="400050" indent="-400050" defTabSz="914400"/>
            <a:r>
              <a:rPr lang="en-US" sz="600" i="1" dirty="0" smtClean="0">
                <a:solidFill>
                  <a:srgbClr val="000000"/>
                </a:solidFill>
              </a:rPr>
              <a:t>Source : 	Management provided information</a:t>
            </a:r>
            <a:endParaRPr lang="en-US" sz="600" i="1" dirty="0">
              <a:solidFill>
                <a:srgbClr val="000000"/>
              </a:solidFill>
            </a:endParaRPr>
          </a:p>
        </p:txBody>
      </p:sp>
      <p:sp>
        <p:nvSpPr>
          <p:cNvPr id="16" name="TextBox 15"/>
          <p:cNvSpPr txBox="1"/>
          <p:nvPr/>
        </p:nvSpPr>
        <p:spPr>
          <a:xfrm>
            <a:off x="4074019" y="3213415"/>
            <a:ext cx="2967077" cy="92333"/>
          </a:xfrm>
          <a:prstGeom prst="rect">
            <a:avLst/>
          </a:prstGeom>
          <a:noFill/>
        </p:spPr>
        <p:txBody>
          <a:bodyPr wrap="square" lIns="0" tIns="0" rIns="0" bIns="0" rtlCol="0">
            <a:spAutoFit/>
          </a:bodyPr>
          <a:lstStyle/>
          <a:p>
            <a:pPr marL="400050" indent="-400050" defTabSz="914400"/>
            <a:r>
              <a:rPr lang="en-US" sz="600" i="1" dirty="0" smtClean="0">
                <a:solidFill>
                  <a:srgbClr val="000000"/>
                </a:solidFill>
              </a:rPr>
              <a:t>Source : 	Management provided information</a:t>
            </a:r>
            <a:endParaRPr lang="en-US" sz="600" i="1" dirty="0">
              <a:solidFill>
                <a:srgbClr val="000000"/>
              </a:solidFill>
            </a:endParaRPr>
          </a:p>
        </p:txBody>
      </p:sp>
      <p:pic>
        <p:nvPicPr>
          <p:cNvPr id="17" name="Picture 16"/>
          <p:cNvPicPr>
            <a:picLocks noChangeAspect="1"/>
          </p:cNvPicPr>
          <p:nvPr/>
        </p:nvPicPr>
        <p:blipFill>
          <a:blip r:embed="rId7"/>
          <a:stretch>
            <a:fillRect/>
          </a:stretch>
        </p:blipFill>
        <p:spPr>
          <a:xfrm>
            <a:off x="444455" y="3768640"/>
            <a:ext cx="3613553" cy="1914448"/>
          </a:xfrm>
          <a:prstGeom prst="rect">
            <a:avLst/>
          </a:prstGeom>
        </p:spPr>
      </p:pic>
      <p:pic>
        <p:nvPicPr>
          <p:cNvPr id="18" name="Picture 17"/>
          <p:cNvPicPr>
            <a:picLocks noChangeAspect="1"/>
          </p:cNvPicPr>
          <p:nvPr/>
        </p:nvPicPr>
        <p:blipFill>
          <a:blip r:embed="rId8"/>
          <a:stretch>
            <a:fillRect/>
          </a:stretch>
        </p:blipFill>
        <p:spPr>
          <a:xfrm>
            <a:off x="3426018" y="1564129"/>
            <a:ext cx="3615078" cy="1690740"/>
          </a:xfrm>
          <a:prstGeom prst="rect">
            <a:avLst/>
          </a:prstGeom>
        </p:spPr>
      </p:pic>
      <p:pic>
        <p:nvPicPr>
          <p:cNvPr id="19" name="Picture 18"/>
          <p:cNvPicPr>
            <a:picLocks noChangeAspect="1"/>
          </p:cNvPicPr>
          <p:nvPr/>
        </p:nvPicPr>
        <p:blipFill>
          <a:blip r:embed="rId9"/>
          <a:stretch>
            <a:fillRect/>
          </a:stretch>
        </p:blipFill>
        <p:spPr>
          <a:xfrm>
            <a:off x="4074019" y="3465360"/>
            <a:ext cx="1461184" cy="2516800"/>
          </a:xfrm>
          <a:prstGeom prst="rect">
            <a:avLst/>
          </a:prstGeom>
        </p:spPr>
      </p:pic>
      <p:sp>
        <p:nvSpPr>
          <p:cNvPr id="20" name="Espace réservé du texte 3"/>
          <p:cNvSpPr>
            <a:spLocks noGrp="1"/>
          </p:cNvSpPr>
          <p:nvPr>
            <p:ph type="body" sz="quarter" idx="4294967295"/>
          </p:nvPr>
        </p:nvSpPr>
        <p:spPr>
          <a:xfrm>
            <a:off x="5823163" y="3456943"/>
            <a:ext cx="2758682" cy="1447212"/>
          </a:xfrm>
          <a:prstGeom prst="rect">
            <a:avLst/>
          </a:prstGeom>
        </p:spPr>
        <p:txBody>
          <a:bodyPr/>
          <a:lstStyle/>
          <a:p>
            <a:pPr>
              <a:lnSpc>
                <a:spcPts val="1000"/>
              </a:lnSpc>
              <a:spcBef>
                <a:spcPts val="600"/>
              </a:spcBef>
              <a:spcAft>
                <a:spcPts val="0"/>
              </a:spcAft>
            </a:pPr>
            <a:r>
              <a:rPr lang="en-US" dirty="0" smtClean="0">
                <a:latin typeface="Univers for KPMG" panose="020B0603020202020204" pitchFamily="34" charset="0"/>
              </a:rPr>
              <a:t>Working capital metrics</a:t>
            </a:r>
            <a:endParaRPr lang="en-US" dirty="0" smtClean="0">
              <a:solidFill>
                <a:schemeClr val="tx1"/>
              </a:solidFill>
              <a:latin typeface="Univers for KPMG" panose="020B0603020202020204" pitchFamily="34" charset="0"/>
            </a:endParaRPr>
          </a:p>
          <a:p>
            <a:pPr marL="177800" lvl="2" indent="-177800">
              <a:lnSpc>
                <a:spcPts val="1000"/>
              </a:lnSpc>
              <a:spcBef>
                <a:spcPts val="600"/>
              </a:spcBef>
              <a:spcAft>
                <a:spcPts val="0"/>
              </a:spcAft>
              <a:buClr>
                <a:srgbClr val="97989A"/>
              </a:buClr>
              <a:buFont typeface="Arial" pitchFamily="34" charset="0"/>
              <a:buChar char="■"/>
              <a:defRPr/>
            </a:pPr>
            <a:r>
              <a:rPr lang="en-CA" dirty="0">
                <a:solidFill>
                  <a:schemeClr val="tx1"/>
                </a:solidFill>
                <a:latin typeface="Univers for KPMG" panose="020B0603020202020204" pitchFamily="34" charset="0"/>
              </a:rPr>
              <a:t>The Company’s cash conversion cycle has averaged 75 days over FY17.</a:t>
            </a:r>
          </a:p>
          <a:p>
            <a:pPr marL="177800" lvl="2" indent="-177800">
              <a:lnSpc>
                <a:spcPts val="1000"/>
              </a:lnSpc>
              <a:spcBef>
                <a:spcPts val="600"/>
              </a:spcBef>
              <a:spcAft>
                <a:spcPts val="0"/>
              </a:spcAft>
              <a:buClr>
                <a:srgbClr val="97989A"/>
              </a:buClr>
              <a:buFont typeface="Arial" pitchFamily="34" charset="0"/>
              <a:buChar char="■"/>
              <a:defRPr/>
            </a:pPr>
            <a:r>
              <a:rPr lang="en-CA" dirty="0">
                <a:solidFill>
                  <a:schemeClr val="tx1"/>
                </a:solidFill>
                <a:latin typeface="Univers for KPMG" panose="020B0603020202020204" pitchFamily="34" charset="0"/>
              </a:rPr>
              <a:t>The Company’s FY17 average DSO of 80 is expected as the majority of the </a:t>
            </a:r>
            <a:r>
              <a:rPr lang="en-CA" dirty="0" smtClean="0">
                <a:solidFill>
                  <a:schemeClr val="tx1"/>
                </a:solidFill>
                <a:latin typeface="Univers for KPMG" panose="020B0603020202020204" pitchFamily="34" charset="0"/>
              </a:rPr>
              <a:t>customer </a:t>
            </a:r>
            <a:r>
              <a:rPr lang="en-CA" dirty="0">
                <a:solidFill>
                  <a:schemeClr val="tx1"/>
                </a:solidFill>
                <a:latin typeface="Univers for KPMG" panose="020B0603020202020204" pitchFamily="34" charset="0"/>
              </a:rPr>
              <a:t>terms are between 60 to 120 days.</a:t>
            </a:r>
          </a:p>
          <a:p>
            <a:pPr marL="177800" lvl="2" indent="-177800">
              <a:lnSpc>
                <a:spcPts val="1000"/>
              </a:lnSpc>
              <a:spcBef>
                <a:spcPts val="600"/>
              </a:spcBef>
              <a:spcAft>
                <a:spcPts val="0"/>
              </a:spcAft>
              <a:buClr>
                <a:srgbClr val="97989A"/>
              </a:buClr>
              <a:buFont typeface="Arial" pitchFamily="34" charset="0"/>
              <a:buChar char="■"/>
              <a:defRPr/>
            </a:pPr>
            <a:r>
              <a:rPr lang="en-CA" dirty="0">
                <a:solidFill>
                  <a:schemeClr val="tx1"/>
                </a:solidFill>
                <a:latin typeface="Univers for KPMG" panose="020B0603020202020204" pitchFamily="34" charset="0"/>
              </a:rPr>
              <a:t>The Company’s DPO average of 5 days for FY17 is due to the nature its expenses being predominantly payroll to employees.</a:t>
            </a:r>
          </a:p>
        </p:txBody>
      </p:sp>
    </p:spTree>
    <p:extLst>
      <p:ext uri="{BB962C8B-B14F-4D97-AF65-F5344CB8AC3E}">
        <p14:creationId xmlns:p14="http://schemas.microsoft.com/office/powerpoint/2010/main" val="1079628977"/>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re 5"/>
          <p:cNvSpPr txBox="1">
            <a:spLocks/>
          </p:cNvSpPr>
          <p:nvPr/>
        </p:nvSpPr>
        <p:spPr bwMode="gray">
          <a:xfrm>
            <a:off x="431800" y="228600"/>
            <a:ext cx="8496000" cy="784830"/>
          </a:xfrm>
          <a:prstGeom prst="rect">
            <a:avLst/>
          </a:prstGeom>
        </p:spPr>
        <p:txBody>
          <a:bodyPr vert="horz" lIns="0" tIns="0" rIns="0" bIns="0" rtlCol="0" anchor="t" anchorCtr="0">
            <a:noAutofit/>
          </a:bodyPr>
          <a:lstStyle>
            <a:lvl1pPr algn="l" defTabSz="914400" rtl="0" eaLnBrk="1" latinLnBrk="0" hangingPunct="1">
              <a:lnSpc>
                <a:spcPct val="70000"/>
              </a:lnSpc>
              <a:spcBef>
                <a:spcPct val="0"/>
              </a:spcBef>
              <a:buNone/>
              <a:defRPr sz="3800" kern="1200">
                <a:solidFill>
                  <a:schemeClr val="tx2"/>
                </a:solidFill>
                <a:latin typeface="+mj-lt"/>
                <a:ea typeface="+mj-ea"/>
                <a:cs typeface="+mj-cs"/>
              </a:defRPr>
            </a:lvl1pPr>
          </a:lstStyle>
          <a:p>
            <a:r>
              <a:rPr lang="en-CA" sz="2400" dirty="0" smtClean="0">
                <a:solidFill>
                  <a:prstClr val="white">
                    <a:lumMod val="50000"/>
                  </a:prstClr>
                </a:solidFill>
              </a:rPr>
              <a:t>Appendix 11</a:t>
            </a:r>
          </a:p>
          <a:p>
            <a:r>
              <a:rPr lang="en-CA" sz="4000" dirty="0" smtClean="0">
                <a:solidFill>
                  <a:srgbClr val="00338D"/>
                </a:solidFill>
              </a:rPr>
              <a:t>Accounts receivable</a:t>
            </a:r>
            <a:endParaRPr lang="en-CA" sz="4000" dirty="0">
              <a:solidFill>
                <a:srgbClr val="00338D"/>
              </a:solidFill>
            </a:endParaRPr>
          </a:p>
        </p:txBody>
      </p:sp>
      <p:sp>
        <p:nvSpPr>
          <p:cNvPr id="13" name="TextBox 12"/>
          <p:cNvSpPr txBox="1"/>
          <p:nvPr/>
        </p:nvSpPr>
        <p:spPr>
          <a:xfrm>
            <a:off x="431799" y="4559644"/>
            <a:ext cx="2967077" cy="92333"/>
          </a:xfrm>
          <a:prstGeom prst="rect">
            <a:avLst/>
          </a:prstGeom>
          <a:noFill/>
        </p:spPr>
        <p:txBody>
          <a:bodyPr wrap="square" lIns="0" tIns="0" rIns="0" bIns="0" rtlCol="0">
            <a:spAutoFit/>
          </a:bodyPr>
          <a:lstStyle/>
          <a:p>
            <a:pPr marL="400050" indent="-400050" defTabSz="914400"/>
            <a:r>
              <a:rPr lang="en-US" sz="600" i="1" dirty="0" smtClean="0">
                <a:solidFill>
                  <a:srgbClr val="000000"/>
                </a:solidFill>
              </a:rPr>
              <a:t>Source : 	Management provided information</a:t>
            </a:r>
            <a:endParaRPr lang="en-US" sz="600" i="1" dirty="0">
              <a:solidFill>
                <a:srgbClr val="000000"/>
              </a:solidFill>
            </a:endParaRPr>
          </a:p>
        </p:txBody>
      </p:sp>
      <p:sp>
        <p:nvSpPr>
          <p:cNvPr id="14" name="TextBox 13"/>
          <p:cNvSpPr txBox="1"/>
          <p:nvPr/>
        </p:nvSpPr>
        <p:spPr>
          <a:xfrm>
            <a:off x="431799" y="2510035"/>
            <a:ext cx="2967077" cy="92333"/>
          </a:xfrm>
          <a:prstGeom prst="rect">
            <a:avLst/>
          </a:prstGeom>
          <a:noFill/>
        </p:spPr>
        <p:txBody>
          <a:bodyPr wrap="square" lIns="0" tIns="0" rIns="0" bIns="0" rtlCol="0">
            <a:spAutoFit/>
          </a:bodyPr>
          <a:lstStyle/>
          <a:p>
            <a:pPr marL="400050" indent="-400050" defTabSz="914400"/>
            <a:r>
              <a:rPr lang="en-US" sz="600" i="1" dirty="0" smtClean="0">
                <a:solidFill>
                  <a:srgbClr val="000000"/>
                </a:solidFill>
              </a:rPr>
              <a:t>Source : 	Management provided information</a:t>
            </a:r>
            <a:endParaRPr lang="en-US" sz="600" i="1" dirty="0">
              <a:solidFill>
                <a:srgbClr val="000000"/>
              </a:solidFill>
            </a:endParaRPr>
          </a:p>
        </p:txBody>
      </p:sp>
      <p:sp>
        <p:nvSpPr>
          <p:cNvPr id="21" name="TextBox 20"/>
          <p:cNvSpPr txBox="1"/>
          <p:nvPr/>
        </p:nvSpPr>
        <p:spPr>
          <a:xfrm>
            <a:off x="431800" y="4269928"/>
            <a:ext cx="2967077" cy="92333"/>
          </a:xfrm>
          <a:prstGeom prst="rect">
            <a:avLst/>
          </a:prstGeom>
          <a:noFill/>
        </p:spPr>
        <p:txBody>
          <a:bodyPr wrap="square" lIns="0" tIns="0" rIns="0" bIns="0" rtlCol="0">
            <a:spAutoFit/>
          </a:bodyPr>
          <a:lstStyle/>
          <a:p>
            <a:pPr marL="400050" indent="-400050" defTabSz="914400"/>
            <a:r>
              <a:rPr lang="en-US" sz="600" i="1" dirty="0" smtClean="0">
                <a:solidFill>
                  <a:srgbClr val="000000"/>
                </a:solidFill>
              </a:rPr>
              <a:t>Source : 	Management provided information</a:t>
            </a:r>
            <a:endParaRPr lang="en-US" sz="600" i="1" dirty="0">
              <a:solidFill>
                <a:srgbClr val="000000"/>
              </a:solidFill>
            </a:endParaRPr>
          </a:p>
        </p:txBody>
      </p:sp>
      <p:sp>
        <p:nvSpPr>
          <p:cNvPr id="22" name="TextBox 21"/>
          <p:cNvSpPr txBox="1"/>
          <p:nvPr/>
        </p:nvSpPr>
        <p:spPr>
          <a:xfrm>
            <a:off x="431800" y="2129696"/>
            <a:ext cx="2967077" cy="92333"/>
          </a:xfrm>
          <a:prstGeom prst="rect">
            <a:avLst/>
          </a:prstGeom>
          <a:noFill/>
        </p:spPr>
        <p:txBody>
          <a:bodyPr wrap="square" lIns="0" tIns="0" rIns="0" bIns="0" rtlCol="0">
            <a:spAutoFit/>
          </a:bodyPr>
          <a:lstStyle/>
          <a:p>
            <a:pPr marL="400050" indent="-400050" defTabSz="914400"/>
            <a:r>
              <a:rPr lang="en-US" sz="600" i="1" dirty="0" smtClean="0">
                <a:solidFill>
                  <a:srgbClr val="000000"/>
                </a:solidFill>
              </a:rPr>
              <a:t>Source : 	Management provided information</a:t>
            </a:r>
            <a:endParaRPr lang="en-US" sz="600" i="1" dirty="0">
              <a:solidFill>
                <a:srgbClr val="000000"/>
              </a:solidFill>
            </a:endParaRPr>
          </a:p>
        </p:txBody>
      </p:sp>
      <p:pic>
        <p:nvPicPr>
          <p:cNvPr id="23" name="Picture 22"/>
          <p:cNvPicPr>
            <a:picLocks noChangeAspect="1"/>
          </p:cNvPicPr>
          <p:nvPr/>
        </p:nvPicPr>
        <p:blipFill>
          <a:blip r:embed="rId3"/>
          <a:stretch>
            <a:fillRect/>
          </a:stretch>
        </p:blipFill>
        <p:spPr>
          <a:xfrm>
            <a:off x="431801" y="1399032"/>
            <a:ext cx="3464775" cy="1116266"/>
          </a:xfrm>
          <a:prstGeom prst="rect">
            <a:avLst/>
          </a:prstGeom>
        </p:spPr>
      </p:pic>
      <p:pic>
        <p:nvPicPr>
          <p:cNvPr id="24" name="Picture 23"/>
          <p:cNvPicPr>
            <a:picLocks noChangeAspect="1"/>
          </p:cNvPicPr>
          <p:nvPr/>
        </p:nvPicPr>
        <p:blipFill>
          <a:blip r:embed="rId4"/>
          <a:stretch>
            <a:fillRect/>
          </a:stretch>
        </p:blipFill>
        <p:spPr>
          <a:xfrm>
            <a:off x="431800" y="2701060"/>
            <a:ext cx="3963783" cy="1858584"/>
          </a:xfrm>
          <a:prstGeom prst="rect">
            <a:avLst/>
          </a:prstGeom>
        </p:spPr>
      </p:pic>
      <p:sp>
        <p:nvSpPr>
          <p:cNvPr id="25" name="Espace réservé du texte 3"/>
          <p:cNvSpPr>
            <a:spLocks noGrp="1"/>
          </p:cNvSpPr>
          <p:nvPr>
            <p:ph type="body" sz="quarter" idx="4294967295"/>
          </p:nvPr>
        </p:nvSpPr>
        <p:spPr>
          <a:xfrm>
            <a:off x="4818916" y="1399032"/>
            <a:ext cx="3660850" cy="1447212"/>
          </a:xfrm>
          <a:prstGeom prst="rect">
            <a:avLst/>
          </a:prstGeom>
        </p:spPr>
        <p:txBody>
          <a:bodyPr/>
          <a:lstStyle/>
          <a:p>
            <a:pPr>
              <a:lnSpc>
                <a:spcPts val="1000"/>
              </a:lnSpc>
              <a:spcBef>
                <a:spcPts val="600"/>
              </a:spcBef>
              <a:spcAft>
                <a:spcPts val="0"/>
              </a:spcAft>
            </a:pPr>
            <a:r>
              <a:rPr lang="en-CA" dirty="0" smtClean="0">
                <a:latin typeface="Univers for KPMG" panose="020B0603020202020204" pitchFamily="34" charset="0"/>
              </a:rPr>
              <a:t>Accounts receivable management</a:t>
            </a:r>
          </a:p>
          <a:p>
            <a:pPr marL="177800" lvl="2" indent="-177800">
              <a:lnSpc>
                <a:spcPts val="1000"/>
              </a:lnSpc>
              <a:spcBef>
                <a:spcPts val="600"/>
              </a:spcBef>
              <a:spcAft>
                <a:spcPts val="0"/>
              </a:spcAft>
              <a:buClr>
                <a:srgbClr val="97989A"/>
              </a:buClr>
              <a:buFont typeface="Arial" pitchFamily="34" charset="0"/>
              <a:buChar char="■"/>
              <a:defRPr/>
            </a:pPr>
            <a:r>
              <a:rPr lang="en-US" dirty="0" smtClean="0">
                <a:solidFill>
                  <a:schemeClr val="tx1"/>
                </a:solidFill>
                <a:latin typeface="Univers for KPMG" panose="020B0603020202020204" pitchFamily="34" charset="0"/>
              </a:rPr>
              <a:t>Amounts are aged based on invoice date. </a:t>
            </a:r>
          </a:p>
          <a:p>
            <a:pPr marL="177800" lvl="2" indent="-177800" rtl="0">
              <a:lnSpc>
                <a:spcPts val="1000"/>
              </a:lnSpc>
              <a:spcBef>
                <a:spcPts val="600"/>
              </a:spcBef>
              <a:spcAft>
                <a:spcPts val="0"/>
              </a:spcAft>
              <a:buClr>
                <a:srgbClr val="97989A"/>
              </a:buClr>
              <a:buFont typeface="Arial" pitchFamily="34" charset="0"/>
              <a:buChar char="■"/>
              <a:defRPr/>
            </a:pPr>
            <a:r>
              <a:rPr lang="en-US" dirty="0" smtClean="0">
                <a:solidFill>
                  <a:schemeClr val="tx1"/>
                </a:solidFill>
                <a:latin typeface="Univers for KPMG" panose="020B0603020202020204" pitchFamily="34" charset="0"/>
              </a:rPr>
              <a:t>Management represents that there is no risk relating to the collectability of these accounts. </a:t>
            </a:r>
            <a:r>
              <a:rPr lang="en-US" dirty="0">
                <a:solidFill>
                  <a:schemeClr val="tx1"/>
                </a:solidFill>
                <a:latin typeface="Univers for KPMG" panose="020B0603020202020204" pitchFamily="34" charset="0"/>
              </a:rPr>
              <a:t>W</a:t>
            </a:r>
            <a:r>
              <a:rPr lang="en-US" dirty="0" smtClean="0">
                <a:solidFill>
                  <a:schemeClr val="tx1"/>
                </a:solidFill>
                <a:latin typeface="Univers for KPMG" panose="020B0603020202020204" pitchFamily="34" charset="0"/>
              </a:rPr>
              <a:t>e understand that receivables may be aged greater than 90 days however there has been no historical issue relating to collecting these amounts. As well, there has been minimal bad debt expense incurred over the historical period.</a:t>
            </a:r>
          </a:p>
        </p:txBody>
      </p:sp>
    </p:spTree>
    <p:extLst>
      <p:ext uri="{BB962C8B-B14F-4D97-AF65-F5344CB8AC3E}">
        <p14:creationId xmlns:p14="http://schemas.microsoft.com/office/powerpoint/2010/main" val="4003043743"/>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re 6"/>
          <p:cNvSpPr>
            <a:spLocks noGrp="1"/>
          </p:cNvSpPr>
          <p:nvPr>
            <p:ph type="title"/>
          </p:nvPr>
        </p:nvSpPr>
        <p:spPr>
          <a:xfrm>
            <a:off x="1995055" y="1151959"/>
            <a:ext cx="6192982" cy="581698"/>
          </a:xfrm>
        </p:spPr>
        <p:txBody>
          <a:bodyPr/>
          <a:lstStyle/>
          <a:p>
            <a:r>
              <a:rPr lang="en-CA" sz="5400" dirty="0" smtClean="0"/>
              <a:t>Contacts</a:t>
            </a:r>
            <a:endParaRPr lang="en-CA" sz="5400" dirty="0"/>
          </a:p>
        </p:txBody>
      </p:sp>
      <p:sp>
        <p:nvSpPr>
          <p:cNvPr id="7" name="Espace réservé du texte 4"/>
          <p:cNvSpPr txBox="1">
            <a:spLocks/>
          </p:cNvSpPr>
          <p:nvPr/>
        </p:nvSpPr>
        <p:spPr bwMode="gray">
          <a:xfrm>
            <a:off x="1995056" y="2078717"/>
            <a:ext cx="4533932" cy="3990145"/>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0"/>
              </a:spcAft>
              <a:buFontTx/>
              <a:buNone/>
              <a:defRPr sz="1600" b="1" i="0" kern="1200">
                <a:solidFill>
                  <a:srgbClr val="FFFFFF"/>
                </a:solidFill>
                <a:latin typeface="+mn-lt"/>
                <a:ea typeface="+mn-ea"/>
                <a:cs typeface="Univers for KPMG" panose="020B0603020202020204" pitchFamily="34" charset="0"/>
              </a:defRPr>
            </a:lvl1pPr>
            <a:lvl2pPr marL="0" indent="0" algn="l" defTabSz="914400" rtl="0" eaLnBrk="1" latinLnBrk="0" hangingPunct="1">
              <a:lnSpc>
                <a:spcPct val="100000"/>
              </a:lnSpc>
              <a:spcBef>
                <a:spcPts val="0"/>
              </a:spcBef>
              <a:spcAft>
                <a:spcPts val="600"/>
              </a:spcAft>
              <a:buFontTx/>
              <a:buNone/>
              <a:defRPr sz="900" kern="1200">
                <a:solidFill>
                  <a:srgbClr val="FFFFFF"/>
                </a:solidFill>
                <a:latin typeface="+mn-lt"/>
                <a:ea typeface="+mn-ea"/>
                <a:cs typeface="+mn-cs"/>
              </a:defRPr>
            </a:lvl2pPr>
            <a:lvl3pPr marL="179388" indent="-179388"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rgbClr val="FFFFFF"/>
                </a:solidFill>
                <a:latin typeface="+mn-lt"/>
                <a:ea typeface="+mn-ea"/>
                <a:cs typeface="+mn-cs"/>
              </a:defRPr>
            </a:lvl3pPr>
            <a:lvl4pPr marL="358775" indent="-179388"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rgbClr val="FFFFFF"/>
                </a:solidFill>
                <a:latin typeface="+mn-lt"/>
                <a:ea typeface="+mn-ea"/>
                <a:cs typeface="+mn-cs"/>
              </a:defRPr>
            </a:lvl4pPr>
            <a:lvl5pPr marL="538163" indent="-179388"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baseline="0">
                <a:solidFill>
                  <a:srgbClr val="FFFFFF"/>
                </a:solidFill>
                <a:latin typeface="+mn-lt"/>
                <a:ea typeface="+mn-ea"/>
                <a:cs typeface="+mn-cs"/>
              </a:defRPr>
            </a:lvl5pPr>
            <a:lvl6pPr marL="720000" indent="-144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6pPr>
            <a:lvl7pPr marL="936000" indent="-216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7pPr>
            <a:lvl8pPr marL="1080000" indent="-144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CA" sz="1200" dirty="0" smtClean="0">
                <a:latin typeface="Univers for KPMG" panose="020B0603020202020204" pitchFamily="34" charset="0"/>
              </a:rPr>
              <a:t>The contacts at KPMG in connection with this report are:</a:t>
            </a:r>
            <a:endParaRPr lang="en-CA" sz="1200" dirty="0" smtClean="0">
              <a:solidFill>
                <a:srgbClr val="FF0000"/>
              </a:solidFill>
              <a:latin typeface="Univers for KPMG" panose="020B0603020202020204" pitchFamily="34" charset="0"/>
            </a:endParaRPr>
          </a:p>
          <a:p>
            <a:endParaRPr lang="en-CA" sz="1200" b="0" dirty="0" smtClean="0">
              <a:latin typeface="Univers for KPMG" panose="020B0603020202020204" pitchFamily="34" charset="0"/>
            </a:endParaRPr>
          </a:p>
          <a:p>
            <a:r>
              <a:rPr lang="en-CA" sz="1200" b="0" dirty="0" smtClean="0">
                <a:latin typeface="Univers for KPMG" panose="020B0603020202020204" pitchFamily="34" charset="0"/>
              </a:rPr>
              <a:t>John Cho</a:t>
            </a:r>
          </a:p>
          <a:p>
            <a:r>
              <a:rPr lang="en-CA" sz="1200" b="0" dirty="0" smtClean="0">
                <a:latin typeface="Univers for KPMG" panose="020B0603020202020204" pitchFamily="34" charset="0"/>
              </a:rPr>
              <a:t>Partner, Transaction Services</a:t>
            </a:r>
          </a:p>
          <a:p>
            <a:r>
              <a:rPr lang="en-CA" sz="1200" b="0" dirty="0" smtClean="0">
                <a:latin typeface="Univers for KPMG" panose="020B0603020202020204" pitchFamily="34" charset="0"/>
              </a:rPr>
              <a:t>+1 416 777 3994</a:t>
            </a:r>
          </a:p>
          <a:p>
            <a:r>
              <a:rPr lang="en-CA" sz="1200" b="0" dirty="0" smtClean="0">
                <a:latin typeface="Univers for KPMG" panose="020B0603020202020204" pitchFamily="34" charset="0"/>
              </a:rPr>
              <a:t>johncho@kpmg.ca</a:t>
            </a:r>
            <a:endParaRPr lang="en-CA" sz="1200" b="0" dirty="0">
              <a:latin typeface="Univers for KPMG" panose="020B0603020202020204" pitchFamily="34" charset="0"/>
            </a:endParaRPr>
          </a:p>
          <a:p>
            <a:endParaRPr lang="en-CA" sz="1200" b="0" dirty="0" smtClean="0">
              <a:latin typeface="Univers for KPMG" panose="020B0603020202020204" pitchFamily="34" charset="0"/>
            </a:endParaRPr>
          </a:p>
          <a:p>
            <a:r>
              <a:rPr lang="en-CA" sz="1200" b="0" dirty="0" smtClean="0">
                <a:latin typeface="Univers for KPMG" panose="020B0603020202020204" pitchFamily="34" charset="0"/>
              </a:rPr>
              <a:t>Mike Mammoliti</a:t>
            </a:r>
          </a:p>
          <a:p>
            <a:r>
              <a:rPr lang="en-CA" sz="1200" b="0" dirty="0" smtClean="0">
                <a:latin typeface="Univers for KPMG" panose="020B0603020202020204" pitchFamily="34" charset="0"/>
              </a:rPr>
              <a:t>Partner, Transaction Services</a:t>
            </a:r>
          </a:p>
          <a:p>
            <a:r>
              <a:rPr lang="en-CA" sz="1200" b="0" dirty="0" smtClean="0">
                <a:latin typeface="Univers for KPMG" panose="020B0603020202020204" pitchFamily="34" charset="0"/>
              </a:rPr>
              <a:t>+1 416 777 8931</a:t>
            </a:r>
          </a:p>
          <a:p>
            <a:r>
              <a:rPr lang="en-CA" sz="1200" b="0" dirty="0" smtClean="0">
                <a:latin typeface="Univers for KPMG" panose="020B0603020202020204" pitchFamily="34" charset="0"/>
              </a:rPr>
              <a:t>mmammoliti@kpmg.ca</a:t>
            </a:r>
          </a:p>
          <a:p>
            <a:endParaRPr lang="en-CA" sz="1200" b="0" dirty="0" smtClean="0">
              <a:latin typeface="Univers for KPMG" panose="020B0603020202020204" pitchFamily="34" charset="0"/>
            </a:endParaRPr>
          </a:p>
          <a:p>
            <a:r>
              <a:rPr lang="en-CA" sz="1200" b="0" dirty="0" smtClean="0">
                <a:latin typeface="Univers for KPMG" panose="020B0603020202020204" pitchFamily="34" charset="0"/>
              </a:rPr>
              <a:t>Brendan Charles</a:t>
            </a:r>
          </a:p>
          <a:p>
            <a:r>
              <a:rPr lang="en-CA" sz="1200" b="0" dirty="0" smtClean="0">
                <a:latin typeface="Univers for KPMG" panose="020B0603020202020204" pitchFamily="34" charset="0"/>
              </a:rPr>
              <a:t>Manager, Transaction Services</a:t>
            </a:r>
          </a:p>
          <a:p>
            <a:r>
              <a:rPr lang="en-CA" sz="1200" b="0" dirty="0">
                <a:latin typeface="Univers for KPMG" panose="020B0603020202020204" pitchFamily="34" charset="0"/>
              </a:rPr>
              <a:t>+1 </a:t>
            </a:r>
            <a:r>
              <a:rPr lang="en-CA" sz="1200" b="0" dirty="0" smtClean="0">
                <a:latin typeface="Univers for KPMG" panose="020B0603020202020204" pitchFamily="34" charset="0"/>
              </a:rPr>
              <a:t>416 476 2559</a:t>
            </a:r>
          </a:p>
          <a:p>
            <a:r>
              <a:rPr lang="en-CA" sz="1200" b="0" dirty="0" smtClean="0">
                <a:latin typeface="Univers for KPMG" panose="020B0603020202020204" pitchFamily="34" charset="0"/>
              </a:rPr>
              <a:t>bcharles@kpmg.ca</a:t>
            </a:r>
          </a:p>
          <a:p>
            <a:endParaRPr lang="en-CA" sz="1200" b="0" dirty="0" smtClean="0">
              <a:latin typeface="Univers for KPMG" panose="020B0603020202020204" pitchFamily="34" charset="0"/>
            </a:endParaRPr>
          </a:p>
          <a:p>
            <a:r>
              <a:rPr lang="en-CA" sz="1200" b="0" dirty="0" smtClean="0">
                <a:latin typeface="Univers for KPMG" panose="020B0603020202020204" pitchFamily="34" charset="0"/>
              </a:rPr>
              <a:t>Eve Hurowitz</a:t>
            </a:r>
          </a:p>
          <a:p>
            <a:r>
              <a:rPr lang="en-CA" sz="1200" b="0" dirty="0" smtClean="0">
                <a:latin typeface="Univers for KPMG" panose="020B0603020202020204" pitchFamily="34" charset="0"/>
              </a:rPr>
              <a:t>Senior Associate, Transaction Services</a:t>
            </a:r>
          </a:p>
          <a:p>
            <a:r>
              <a:rPr lang="en-CA" sz="1200" b="0" dirty="0" smtClean="0">
                <a:latin typeface="Univers for KPMG" panose="020B0603020202020204" pitchFamily="34" charset="0"/>
              </a:rPr>
              <a:t>+1 416 791 2042</a:t>
            </a:r>
          </a:p>
          <a:p>
            <a:r>
              <a:rPr lang="en-CA" sz="1200" b="0" dirty="0" smtClean="0">
                <a:latin typeface="Univers for KPMG" panose="020B0603020202020204" pitchFamily="34" charset="0"/>
              </a:rPr>
              <a:t>ehurowitz@kpmg.ca</a:t>
            </a:r>
          </a:p>
          <a:p>
            <a:endParaRPr lang="en-CA" sz="1200" b="0" dirty="0">
              <a:latin typeface="Univers for KPMG" panose="020B0603020202020204" pitchFamily="34" charset="0"/>
            </a:endParaRPr>
          </a:p>
        </p:txBody>
      </p:sp>
    </p:spTree>
    <p:extLst>
      <p:ext uri="{BB962C8B-B14F-4D97-AF65-F5344CB8AC3E}">
        <p14:creationId xmlns:p14="http://schemas.microsoft.com/office/powerpoint/2010/main" val="3354843444"/>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 Placeholder 2"/>
          <p:cNvSpPr>
            <a:spLocks noGrp="1"/>
          </p:cNvSpPr>
          <p:nvPr>
            <p:ph type="body" sz="quarter" idx="4294967295"/>
          </p:nvPr>
        </p:nvSpPr>
        <p:spPr>
          <a:xfrm>
            <a:off x="0" y="1320800"/>
            <a:ext cx="6835775" cy="1308100"/>
          </a:xfrm>
          <a:prstGeom prst="rect">
            <a:avLst/>
          </a:prstGeom>
        </p:spPr>
        <p:txBody>
          <a:bodyPr>
            <a:normAutofit fontScale="32500" lnSpcReduction="20000"/>
          </a:bodyPr>
          <a:lstStyle/>
          <a:p>
            <a:r>
              <a:rPr lang="en-CA" dirty="0" smtClean="0"/>
              <a:t>Detail</a:t>
            </a:r>
          </a:p>
          <a:p>
            <a:pPr lvl="1"/>
            <a:r>
              <a:rPr lang="en-CA" dirty="0" smtClean="0"/>
              <a:t>Heading</a:t>
            </a:r>
          </a:p>
          <a:p>
            <a:pPr lvl="1"/>
            <a:endParaRPr lang="en-CA" dirty="0" smtClean="0"/>
          </a:p>
          <a:p>
            <a:r>
              <a:rPr lang="en-CA" dirty="0" smtClean="0"/>
              <a:t>Detail </a:t>
            </a:r>
          </a:p>
          <a:p>
            <a:pPr lvl="1"/>
            <a:r>
              <a:rPr lang="en-CA" dirty="0" smtClean="0"/>
              <a:t>Heading</a:t>
            </a:r>
          </a:p>
          <a:p>
            <a:pPr lvl="1"/>
            <a:endParaRPr lang="en-CA" dirty="0" smtClean="0"/>
          </a:p>
          <a:p>
            <a:r>
              <a:rPr lang="en-CA" dirty="0" smtClean="0"/>
              <a:t>Detail</a:t>
            </a:r>
          </a:p>
          <a:p>
            <a:pPr lvl="1"/>
            <a:r>
              <a:rPr lang="en-CA" dirty="0" smtClean="0"/>
              <a:t>Heading</a:t>
            </a:r>
          </a:p>
          <a:p>
            <a:pPr lvl="1"/>
            <a:endParaRPr lang="en-CA" dirty="0" smtClean="0"/>
          </a:p>
          <a:p>
            <a:r>
              <a:rPr lang="en-CA" dirty="0" smtClean="0"/>
              <a:t>Detail</a:t>
            </a:r>
          </a:p>
          <a:p>
            <a:pPr lvl="1"/>
            <a:r>
              <a:rPr lang="en-CA" dirty="0" smtClean="0"/>
              <a:t>Heading</a:t>
            </a:r>
          </a:p>
          <a:p>
            <a:endParaRPr lang="en-CA" dirty="0"/>
          </a:p>
        </p:txBody>
      </p:sp>
    </p:spTree>
    <p:extLst>
      <p:ext uri="{BB962C8B-B14F-4D97-AF65-F5344CB8AC3E}">
        <p14:creationId xmlns:p14="http://schemas.microsoft.com/office/powerpoint/2010/main" val="1388846590"/>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 name="CREATEDBY" val="Global PowerPoint Toolbar"/>
  <p:tag name="TOOLBARVERSION" val="5.1"/>
  <p:tag name="TYPE" val="Report"/>
  <p:tag name="KEYWORD" val="REPORT"/>
  <p:tag name="TEMPLATEVERSION" val="13/12/2016 11:02:01"/>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FASFONT" val="Univers55"/>
</p:tagLst>
</file>

<file path=ppt/tags/tag10.xml><?xml version="1.0" encoding="utf-8"?>
<p:tagLst xmlns:a="http://schemas.openxmlformats.org/drawingml/2006/main" xmlns:r="http://schemas.openxmlformats.org/officeDocument/2006/relationships" xmlns:p="http://schemas.openxmlformats.org/presentationml/2006/main">
  <p:tag name="FASFONT" val="Univers55"/>
</p:tagLst>
</file>

<file path=ppt/tags/tag11.xml><?xml version="1.0" encoding="utf-8"?>
<p:tagLst xmlns:a="http://schemas.openxmlformats.org/drawingml/2006/main" xmlns:r="http://schemas.openxmlformats.org/officeDocument/2006/relationships" xmlns:p="http://schemas.openxmlformats.org/presentationml/2006/main">
  <p:tag name="FASFONT" val="Univers55"/>
</p:tagLst>
</file>

<file path=ppt/tags/tag12.xml><?xml version="1.0" encoding="utf-8"?>
<p:tagLst xmlns:a="http://schemas.openxmlformats.org/drawingml/2006/main" xmlns:r="http://schemas.openxmlformats.org/officeDocument/2006/relationships" xmlns:p="http://schemas.openxmlformats.org/presentationml/2006/main">
  <p:tag name="FASFONT" val="Univers55"/>
</p:tagLst>
</file>

<file path=ppt/tags/tag13.xml><?xml version="1.0" encoding="utf-8"?>
<p:tagLst xmlns:a="http://schemas.openxmlformats.org/drawingml/2006/main" xmlns:r="http://schemas.openxmlformats.org/officeDocument/2006/relationships" xmlns:p="http://schemas.openxmlformats.org/presentationml/2006/main">
  <p:tag name="FASFONT" val="Univers55"/>
  <p:tag name="ADV_TOP" val="112"/>
  <p:tag name="ADV_LEFT" val="165.125"/>
  <p:tag name="ADV_HEIGHT" val="14.62"/>
  <p:tag name="ADV_WIDTH" val="255.5"/>
</p:tagLst>
</file>

<file path=ppt/tags/tag14.xml><?xml version="1.0" encoding="utf-8"?>
<p:tagLst xmlns:a="http://schemas.openxmlformats.org/drawingml/2006/main" xmlns:r="http://schemas.openxmlformats.org/officeDocument/2006/relationships" xmlns:p="http://schemas.openxmlformats.org/presentationml/2006/main">
  <p:tag name="FASFONT" val="Univers55"/>
</p:tagLst>
</file>

<file path=ppt/tags/tag15.xml><?xml version="1.0" encoding="utf-8"?>
<p:tagLst xmlns:a="http://schemas.openxmlformats.org/drawingml/2006/main" xmlns:r="http://schemas.openxmlformats.org/officeDocument/2006/relationships" xmlns:p="http://schemas.openxmlformats.org/presentationml/2006/main">
  <p:tag name="FASFONT" val="Univers55"/>
</p:tagLst>
</file>

<file path=ppt/tags/tag16.xml><?xml version="1.0" encoding="utf-8"?>
<p:tagLst xmlns:a="http://schemas.openxmlformats.org/drawingml/2006/main" xmlns:r="http://schemas.openxmlformats.org/officeDocument/2006/relationships" xmlns:p="http://schemas.openxmlformats.org/presentationml/2006/main">
  <p:tag name="FASFONT" val="Univers55"/>
</p:tagLst>
</file>

<file path=ppt/tags/tag17.xml><?xml version="1.0" encoding="utf-8"?>
<p:tagLst xmlns:a="http://schemas.openxmlformats.org/drawingml/2006/main" xmlns:r="http://schemas.openxmlformats.org/officeDocument/2006/relationships" xmlns:p="http://schemas.openxmlformats.org/presentationml/2006/main">
  <p:tag name="FASFONT" val="Univers55"/>
</p:tagLst>
</file>

<file path=ppt/tags/tag18.xml><?xml version="1.0" encoding="utf-8"?>
<p:tagLst xmlns:a="http://schemas.openxmlformats.org/drawingml/2006/main" xmlns:r="http://schemas.openxmlformats.org/officeDocument/2006/relationships" xmlns:p="http://schemas.openxmlformats.org/presentationml/2006/main">
  <p:tag name="FASFONT" val="Univers55"/>
</p:tagLst>
</file>

<file path=ppt/tags/tag19.xml><?xml version="1.0" encoding="utf-8"?>
<p:tagLst xmlns:a="http://schemas.openxmlformats.org/drawingml/2006/main" xmlns:r="http://schemas.openxmlformats.org/officeDocument/2006/relationships" xmlns:p="http://schemas.openxmlformats.org/presentationml/2006/main">
  <p:tag name="FASFONT" val="Univers55"/>
</p:tagLst>
</file>

<file path=ppt/tags/tag20.xml><?xml version="1.0" encoding="utf-8"?>
<p:tagLst xmlns:a="http://schemas.openxmlformats.org/drawingml/2006/main" xmlns:r="http://schemas.openxmlformats.org/officeDocument/2006/relationships" xmlns:p="http://schemas.openxmlformats.org/presentationml/2006/main">
  <p:tag name="FASFONT" val="Univers55"/>
</p:tagLst>
</file>

<file path=ppt/tags/tag21.xml><?xml version="1.0" encoding="utf-8"?>
<p:tagLst xmlns:a="http://schemas.openxmlformats.org/drawingml/2006/main" xmlns:r="http://schemas.openxmlformats.org/officeDocument/2006/relationships" xmlns:p="http://schemas.openxmlformats.org/presentationml/2006/main">
  <p:tag name="FASFONT" val="Univers55"/>
</p:tagLst>
</file>

<file path=ppt/tags/tag22.xml><?xml version="1.0" encoding="utf-8"?>
<p:tagLst xmlns:a="http://schemas.openxmlformats.org/drawingml/2006/main" xmlns:r="http://schemas.openxmlformats.org/officeDocument/2006/relationships" xmlns:p="http://schemas.openxmlformats.org/presentationml/2006/main">
  <p:tag name="FASFONT" val="Univers55"/>
  <p:tag name="ADV_TOP" val="112"/>
  <p:tag name="ADV_LEFT" val="165.125"/>
  <p:tag name="ADV_HEIGHT" val="14.62"/>
  <p:tag name="ADV_WIDTH" val="255.5"/>
</p:tagLst>
</file>

<file path=ppt/tags/tag23.xml><?xml version="1.0" encoding="utf-8"?>
<p:tagLst xmlns:a="http://schemas.openxmlformats.org/drawingml/2006/main" xmlns:r="http://schemas.openxmlformats.org/officeDocument/2006/relationships" xmlns:p="http://schemas.openxmlformats.org/presentationml/2006/main">
  <p:tag name="FASFONT" val="Univers55"/>
  <p:tag name="ADV_TOP" val="112"/>
  <p:tag name="ADV_LEFT" val="165.125"/>
  <p:tag name="ADV_HEIGHT" val="14.62"/>
  <p:tag name="ADV_WIDTH" val="255.5"/>
</p:tagLst>
</file>

<file path=ppt/tags/tag24.xml><?xml version="1.0" encoding="utf-8"?>
<p:tagLst xmlns:a="http://schemas.openxmlformats.org/drawingml/2006/main" xmlns:r="http://schemas.openxmlformats.org/officeDocument/2006/relationships" xmlns:p="http://schemas.openxmlformats.org/presentationml/2006/main">
  <p:tag name="FASFONT" val="Univers55"/>
  <p:tag name="ADV_TOP" val="112"/>
  <p:tag name="ADV_LEFT" val="165.125"/>
  <p:tag name="ADV_HEIGHT" val="14.62"/>
  <p:tag name="ADV_WIDTH" val="255.5"/>
</p:tagLst>
</file>

<file path=ppt/theme/theme1.xml><?xml version="1.0" encoding="utf-8"?>
<a:theme xmlns:a="http://schemas.openxmlformats.org/drawingml/2006/main" name="KPMG_Report">
  <a:themeElements>
    <a:clrScheme name="New KPMG Colours">
      <a:dk1>
        <a:srgbClr val="000000"/>
      </a:dk1>
      <a:lt1>
        <a:sysClr val="window" lastClr="FFFFFF"/>
      </a:lt1>
      <a:dk2>
        <a:srgbClr val="00338D"/>
      </a:dk2>
      <a:lt2>
        <a:srgbClr val="F0F0F0"/>
      </a:lt2>
      <a:accent1>
        <a:srgbClr val="0091DA"/>
      </a:accent1>
      <a:accent2>
        <a:srgbClr val="6D2077"/>
      </a:accent2>
      <a:accent3>
        <a:srgbClr val="005EB8"/>
      </a:accent3>
      <a:accent4>
        <a:srgbClr val="00A3A1"/>
      </a:accent4>
      <a:accent5>
        <a:srgbClr val="EAAA00"/>
      </a:accent5>
      <a:accent6>
        <a:srgbClr val="43B02A"/>
      </a:accent6>
      <a:hlink>
        <a:srgbClr val="0091DA"/>
      </a:hlink>
      <a:folHlink>
        <a:srgbClr val="0091DA"/>
      </a:folHlink>
    </a:clrScheme>
    <a:fontScheme name="Personnalisé 4">
      <a:majorFont>
        <a:latin typeface="KPMG Extralight"/>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lIns="54610" tIns="54610" rIns="54610" bIns="54610" rtlCol="0" anchor="ctr"/>
      <a:lstStyle>
        <a:defPPr algn="l">
          <a:defRPr sz="900" dirty="0" err="1"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bg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54610" tIns="54610" rIns="54610" bIns="54610" rtlCol="0">
        <a:noAutofit/>
      </a:bodyPr>
      <a:lstStyle>
        <a:defPPr>
          <a:spcAft>
            <a:spcPts val="600"/>
          </a:spcAft>
          <a:defRPr sz="900" dirty="0" err="1" smtClean="0">
            <a:solidFill>
              <a:schemeClr val="tx2"/>
            </a:solidFill>
          </a:defRPr>
        </a:defPPr>
      </a:lstStyle>
    </a:txDef>
  </a:objectDefaults>
  <a:extraClrSchemeLst/>
  <a:custClrLst>
    <a:custClr name="KPMG Blue">
      <a:srgbClr val="00338D"/>
    </a:custClr>
    <a:custClr name="Medium Blue">
      <a:srgbClr val="005EB8"/>
    </a:custClr>
    <a:custClr name="Light Blue">
      <a:srgbClr val="0091DA"/>
    </a:custClr>
    <a:custClr name="Violet">
      <a:srgbClr val="483698"/>
    </a:custClr>
    <a:custClr name="Purple">
      <a:srgbClr val="470A68"/>
    </a:custClr>
    <a:custClr name="Light Purple">
      <a:srgbClr val="6D2077"/>
    </a:custClr>
    <a:custClr name="Green">
      <a:srgbClr val="00A3A1"/>
    </a:custClr>
    <a:custClr name="Dark Green">
      <a:srgbClr val="009A44"/>
    </a:custClr>
    <a:custClr name="Light Green">
      <a:srgbClr val="43B02A"/>
    </a:custClr>
    <a:custClr name="Yellow">
      <a:srgbClr val="EAAA00"/>
    </a:custClr>
    <a:custClr name="Orange">
      <a:srgbClr val="F68D2E"/>
    </a:custClr>
    <a:custClr name="Red ">
      <a:srgbClr val="BC204B"/>
    </a:custClr>
    <a:custClr name="Pink">
      <a:srgbClr val="C6007E"/>
    </a:custClr>
    <a:custClr name="Dark Brown">
      <a:srgbClr val="753F19"/>
    </a:custClr>
    <a:custClr name="Light Brown">
      <a:srgbClr val="9B642E"/>
    </a:custClr>
    <a:custClr name="Olive">
      <a:srgbClr val="9D9375"/>
    </a:custClr>
    <a:custClr name="Beige">
      <a:srgbClr val="E3BC9F"/>
    </a:custClr>
    <a:custClr name="Light Pink">
      <a:srgbClr val="E36877"/>
    </a:custClr>
  </a:custClrLst>
  <a:extLst>
    <a:ext uri="{05A4C25C-085E-4340-85A3-A5531E510DB2}">
      <thm15:themeFamily xmlns:thm15="http://schemas.microsoft.com/office/thememl/2012/main" name="EN KPMG Report Template.potx" id="{4F54DAFC-0EC3-4B43-9507-A9B93D227559}" vid="{B0600B8B-3777-4627-9E9B-CB92E23A9FEB}"/>
    </a:ext>
  </a:extLst>
</a:theme>
</file>

<file path=ppt/theme/theme2.xml><?xml version="1.0" encoding="utf-8"?>
<a:theme xmlns:a="http://schemas.openxmlformats.org/drawingml/2006/main" name="1_KPMG_Report">
  <a:themeElements>
    <a:clrScheme name="New KPMG Colours">
      <a:dk1>
        <a:srgbClr val="000000"/>
      </a:dk1>
      <a:lt1>
        <a:sysClr val="window" lastClr="FFFFFF"/>
      </a:lt1>
      <a:dk2>
        <a:srgbClr val="00338D"/>
      </a:dk2>
      <a:lt2>
        <a:srgbClr val="F0F0F0"/>
      </a:lt2>
      <a:accent1>
        <a:srgbClr val="0091DA"/>
      </a:accent1>
      <a:accent2>
        <a:srgbClr val="6D2077"/>
      </a:accent2>
      <a:accent3>
        <a:srgbClr val="005EB8"/>
      </a:accent3>
      <a:accent4>
        <a:srgbClr val="00A3A1"/>
      </a:accent4>
      <a:accent5>
        <a:srgbClr val="EAAA00"/>
      </a:accent5>
      <a:accent6>
        <a:srgbClr val="43B02A"/>
      </a:accent6>
      <a:hlink>
        <a:srgbClr val="0091DA"/>
      </a:hlink>
      <a:folHlink>
        <a:srgbClr val="0091DA"/>
      </a:folHlink>
    </a:clrScheme>
    <a:fontScheme name="Personnalisé 4">
      <a:majorFont>
        <a:latin typeface="KPMG Extralight"/>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lIns="54610" tIns="54610" rIns="54610" bIns="54610" rtlCol="0" anchor="ctr"/>
      <a:lstStyle>
        <a:defPPr algn="l">
          <a:defRPr sz="900" dirty="0" err="1"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bg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54610" tIns="54610" rIns="54610" bIns="54610" rtlCol="0">
        <a:noAutofit/>
      </a:bodyPr>
      <a:lstStyle>
        <a:defPPr>
          <a:spcAft>
            <a:spcPts val="600"/>
          </a:spcAft>
          <a:defRPr sz="900" dirty="0" err="1" smtClean="0">
            <a:solidFill>
              <a:schemeClr val="tx2"/>
            </a:solidFill>
          </a:defRPr>
        </a:defPPr>
      </a:lstStyle>
    </a:txDef>
  </a:objectDefaults>
  <a:extraClrSchemeLst/>
  <a:custClrLst>
    <a:custClr name="KPMG Blue">
      <a:srgbClr val="00338D"/>
    </a:custClr>
    <a:custClr name="Medium Blue">
      <a:srgbClr val="005EB8"/>
    </a:custClr>
    <a:custClr name="Light Blue">
      <a:srgbClr val="0091DA"/>
    </a:custClr>
    <a:custClr name="Violet">
      <a:srgbClr val="483698"/>
    </a:custClr>
    <a:custClr name="Purple">
      <a:srgbClr val="470A68"/>
    </a:custClr>
    <a:custClr name="Light Purple">
      <a:srgbClr val="6D2077"/>
    </a:custClr>
    <a:custClr name="Green">
      <a:srgbClr val="00A3A1"/>
    </a:custClr>
    <a:custClr name="Dark Green">
      <a:srgbClr val="009A44"/>
    </a:custClr>
    <a:custClr name="Light Green">
      <a:srgbClr val="43B02A"/>
    </a:custClr>
    <a:custClr name="Yellow">
      <a:srgbClr val="EAAA00"/>
    </a:custClr>
    <a:custClr name="Orange">
      <a:srgbClr val="F68D2E"/>
    </a:custClr>
    <a:custClr name="Red ">
      <a:srgbClr val="BC204B"/>
    </a:custClr>
    <a:custClr name="Pink">
      <a:srgbClr val="C6007E"/>
    </a:custClr>
    <a:custClr name="Dark Brown">
      <a:srgbClr val="753F19"/>
    </a:custClr>
    <a:custClr name="Light Brown">
      <a:srgbClr val="9B642E"/>
    </a:custClr>
    <a:custClr name="Olive">
      <a:srgbClr val="9D9375"/>
    </a:custClr>
    <a:custClr name="Beige">
      <a:srgbClr val="E3BC9F"/>
    </a:custClr>
    <a:custClr name="Light Pink">
      <a:srgbClr val="E36877"/>
    </a:custClr>
  </a:custClrLst>
  <a:extLst>
    <a:ext uri="{05A4C25C-085E-4340-85A3-A5531E510DB2}">
      <thm15:themeFamily xmlns:thm15="http://schemas.microsoft.com/office/thememl/2012/main" name="EN KPMG Report Template.potx" id="{4F54DAFC-0EC3-4B43-9507-A9B93D227559}" vid="{B0600B8B-3777-4627-9E9B-CB92E23A9FEB}"/>
    </a:ext>
  </a:extLst>
</a:theme>
</file>

<file path=ppt/theme/theme3.xml><?xml version="1.0" encoding="utf-8"?>
<a:theme xmlns:a="http://schemas.openxmlformats.org/drawingml/2006/main" name="2_KPMG_Report">
  <a:themeElements>
    <a:clrScheme name="New KPMG Colours">
      <a:dk1>
        <a:srgbClr val="000000"/>
      </a:dk1>
      <a:lt1>
        <a:sysClr val="window" lastClr="FFFFFF"/>
      </a:lt1>
      <a:dk2>
        <a:srgbClr val="00338D"/>
      </a:dk2>
      <a:lt2>
        <a:srgbClr val="F0F0F0"/>
      </a:lt2>
      <a:accent1>
        <a:srgbClr val="0091DA"/>
      </a:accent1>
      <a:accent2>
        <a:srgbClr val="6D2077"/>
      </a:accent2>
      <a:accent3>
        <a:srgbClr val="005EB8"/>
      </a:accent3>
      <a:accent4>
        <a:srgbClr val="00A3A1"/>
      </a:accent4>
      <a:accent5>
        <a:srgbClr val="EAAA00"/>
      </a:accent5>
      <a:accent6>
        <a:srgbClr val="43B02A"/>
      </a:accent6>
      <a:hlink>
        <a:srgbClr val="0091DA"/>
      </a:hlink>
      <a:folHlink>
        <a:srgbClr val="0091DA"/>
      </a:folHlink>
    </a:clrScheme>
    <a:fontScheme name="Personnalisé 4">
      <a:majorFont>
        <a:latin typeface="KPMG Extralight"/>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lIns="54610" tIns="54610" rIns="54610" bIns="54610" rtlCol="0" anchor="ctr"/>
      <a:lstStyle>
        <a:defPPr algn="l">
          <a:defRPr sz="900" dirty="0" err="1"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bg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54610" tIns="54610" rIns="54610" bIns="54610" rtlCol="0">
        <a:noAutofit/>
      </a:bodyPr>
      <a:lstStyle>
        <a:defPPr>
          <a:spcAft>
            <a:spcPts val="600"/>
          </a:spcAft>
          <a:defRPr sz="900" dirty="0" err="1" smtClean="0">
            <a:solidFill>
              <a:schemeClr val="tx2"/>
            </a:solidFill>
          </a:defRPr>
        </a:defPPr>
      </a:lstStyle>
    </a:txDef>
  </a:objectDefaults>
  <a:extraClrSchemeLst/>
  <a:custClrLst>
    <a:custClr name="KPMG Blue">
      <a:srgbClr val="00338D"/>
    </a:custClr>
    <a:custClr name="Medium Blue">
      <a:srgbClr val="005EB8"/>
    </a:custClr>
    <a:custClr name="Light Blue">
      <a:srgbClr val="0091DA"/>
    </a:custClr>
    <a:custClr name="Violet">
      <a:srgbClr val="483698"/>
    </a:custClr>
    <a:custClr name="Purple">
      <a:srgbClr val="470A68"/>
    </a:custClr>
    <a:custClr name="Light Purple">
      <a:srgbClr val="6D2077"/>
    </a:custClr>
    <a:custClr name="Green">
      <a:srgbClr val="00A3A1"/>
    </a:custClr>
    <a:custClr name="Dark Green">
      <a:srgbClr val="009A44"/>
    </a:custClr>
    <a:custClr name="Light Green">
      <a:srgbClr val="43B02A"/>
    </a:custClr>
    <a:custClr name="Yellow">
      <a:srgbClr val="EAAA00"/>
    </a:custClr>
    <a:custClr name="Orange">
      <a:srgbClr val="F68D2E"/>
    </a:custClr>
    <a:custClr name="Red ">
      <a:srgbClr val="BC204B"/>
    </a:custClr>
    <a:custClr name="Pink">
      <a:srgbClr val="C6007E"/>
    </a:custClr>
    <a:custClr name="Dark Brown">
      <a:srgbClr val="753F19"/>
    </a:custClr>
    <a:custClr name="Light Brown">
      <a:srgbClr val="9B642E"/>
    </a:custClr>
    <a:custClr name="Olive">
      <a:srgbClr val="9D9375"/>
    </a:custClr>
    <a:custClr name="Beige">
      <a:srgbClr val="E3BC9F"/>
    </a:custClr>
    <a:custClr name="Light Pink">
      <a:srgbClr val="E36877"/>
    </a:custClr>
  </a:custClrLst>
  <a:extLst>
    <a:ext uri="{05A4C25C-085E-4340-85A3-A5531E510DB2}">
      <thm15:themeFamily xmlns:thm15="http://schemas.microsoft.com/office/thememl/2012/main" name="EN KPMG Report Template.potx" id="{4F54DAFC-0EC3-4B43-9507-A9B93D227559}" vid="{B0600B8B-3777-4627-9E9B-CB92E23A9FEB}"/>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B50ACECE49572E49B9E2B6EEF15646F3" ma:contentTypeVersion="10" ma:contentTypeDescription="Create a new document." ma:contentTypeScope="" ma:versionID="8fdd78ded99f2352216c5d618f5b216c">
  <xsd:schema xmlns:xsd="http://www.w3.org/2001/XMLSchema" xmlns:xs="http://www.w3.org/2001/XMLSchema" xmlns:p="http://schemas.microsoft.com/office/2006/metadata/properties" xmlns:ns2="30996f19-b754-4f90-98d6-c022be1420b3" xmlns:ns3="ce774d3a-0da9-40f3-b86d-c9c3902288d7" targetNamespace="http://schemas.microsoft.com/office/2006/metadata/properties" ma:root="true" ma:fieldsID="412b5359f0c396b6faa7a13f838c7055" ns2:_="" ns3:_="">
    <xsd:import namespace="30996f19-b754-4f90-98d6-c022be1420b3"/>
    <xsd:import namespace="ce774d3a-0da9-40f3-b86d-c9c3902288d7"/>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0996f19-b754-4f90-98d6-c022be1420b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8883d318-f35c-4577-94aa-4c8e836d27a7"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ce774d3a-0da9-40f3-b86d-c9c3902288d7"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7e5af1eb-79bf-4b24-8cd0-115ead010127}" ma:internalName="TaxCatchAll" ma:showField="CatchAllData" ma:web="ce774d3a-0da9-40f3-b86d-c9c3902288d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30996f19-b754-4f90-98d6-c022be1420b3">
      <Terms xmlns="http://schemas.microsoft.com/office/infopath/2007/PartnerControls"/>
    </lcf76f155ced4ddcb4097134ff3c332f>
    <TaxCatchAll xmlns="ce774d3a-0da9-40f3-b86d-c9c3902288d7" xsi:nil="true"/>
  </documentManagement>
</p:properties>
</file>

<file path=customXml/itemProps1.xml><?xml version="1.0" encoding="utf-8"?>
<ds:datastoreItem xmlns:ds="http://schemas.openxmlformats.org/officeDocument/2006/customXml" ds:itemID="{8A54E365-F7DF-49E9-9C22-18C09CD83AA6}"/>
</file>

<file path=customXml/itemProps2.xml><?xml version="1.0" encoding="utf-8"?>
<ds:datastoreItem xmlns:ds="http://schemas.openxmlformats.org/officeDocument/2006/customXml" ds:itemID="{75541AA6-385F-4791-A9EE-503D7F21950D}"/>
</file>

<file path=customXml/itemProps3.xml><?xml version="1.0" encoding="utf-8"?>
<ds:datastoreItem xmlns:ds="http://schemas.openxmlformats.org/officeDocument/2006/customXml" ds:itemID="{8FEE0808-F557-443D-9526-AF431A0D327F}"/>
</file>

<file path=docProps/app.xml><?xml version="1.0" encoding="utf-8"?>
<Properties xmlns="http://schemas.openxmlformats.org/officeDocument/2006/extended-properties" xmlns:vt="http://schemas.openxmlformats.org/officeDocument/2006/docPropsVTypes">
  <Template/>
  <TotalTime>0</TotalTime>
  <Words>7198</Words>
  <Application>Microsoft Office PowerPoint</Application>
  <PresentationFormat>Letter Paper (8.5x11 in)</PresentationFormat>
  <Paragraphs>711</Paragraphs>
  <Slides>47</Slides>
  <Notes>47</Notes>
  <HiddenSlides>0</HiddenSlides>
  <MMClips>0</MMClips>
  <ScaleCrop>false</ScaleCrop>
  <HeadingPairs>
    <vt:vector size="8" baseType="variant">
      <vt:variant>
        <vt:lpstr>Fonts Used</vt:lpstr>
      </vt:variant>
      <vt:variant>
        <vt:i4>7</vt:i4>
      </vt:variant>
      <vt:variant>
        <vt:lpstr>Theme</vt:lpstr>
      </vt:variant>
      <vt:variant>
        <vt:i4>3</vt:i4>
      </vt:variant>
      <vt:variant>
        <vt:lpstr>Embedded OLE Servers</vt:lpstr>
      </vt:variant>
      <vt:variant>
        <vt:i4>2</vt:i4>
      </vt:variant>
      <vt:variant>
        <vt:lpstr>Slide Titles</vt:lpstr>
      </vt:variant>
      <vt:variant>
        <vt:i4>47</vt:i4>
      </vt:variant>
    </vt:vector>
  </HeadingPairs>
  <TitlesOfParts>
    <vt:vector size="59" baseType="lpstr">
      <vt:lpstr>Angsana New</vt:lpstr>
      <vt:lpstr>Arial</vt:lpstr>
      <vt:lpstr>KPMG Extralight</vt:lpstr>
      <vt:lpstr>Times New Roman</vt:lpstr>
      <vt:lpstr>Univers for KPMG</vt:lpstr>
      <vt:lpstr>Univers for KPMG Light</vt:lpstr>
      <vt:lpstr>Wingdings</vt:lpstr>
      <vt:lpstr>KPMG_Report</vt:lpstr>
      <vt:lpstr>1_KPMG_Report</vt:lpstr>
      <vt:lpstr>2_KPMG_Report</vt:lpstr>
      <vt:lpstr>think-cell Slide</vt:lpstr>
      <vt:lpstr>Diapositive think-cell</vt:lpstr>
      <vt:lpstr>Project Ascend</vt:lpstr>
      <vt:lpstr>Important notice</vt:lpstr>
      <vt:lpstr>Glossary</vt:lpstr>
      <vt:lpstr>PowerPoint Presentation</vt:lpstr>
      <vt:lpstr>Contents</vt:lpstr>
      <vt:lpstr>Executive summary</vt:lpstr>
      <vt:lpstr>Executive summary Business overview</vt:lpstr>
      <vt:lpstr>Executive summary Summary financial statements</vt:lpstr>
      <vt:lpstr>Key findings – Financial due diligence (1 of 5)</vt:lpstr>
      <vt:lpstr>Key findings – Financial due diligence (2 of 5)</vt:lpstr>
      <vt:lpstr>Key findings – Financial due diligence (3 of 5)</vt:lpstr>
      <vt:lpstr>Key findings – Financial due diligence (4 of 5)</vt:lpstr>
      <vt:lpstr>Key findings – Financial due diligence (5 of 5)</vt:lpstr>
      <vt:lpstr>Supporting analysis to key findings Quality of earnings</vt:lpstr>
      <vt:lpstr>Supporting analysis Quality of earnings (1) – Overview</vt:lpstr>
      <vt:lpstr>Supporting analysis Quality of earnings (2) – Management adjustments</vt:lpstr>
      <vt:lpstr>Supporting analysis Quality of earnings (3) – Management adjustments</vt:lpstr>
      <vt:lpstr>Supporting analysis Quality of earnings (4) – Management adjustments</vt:lpstr>
      <vt:lpstr>Supporting analysis Quality of earnings (5) – Management adjustments</vt:lpstr>
      <vt:lpstr>Supporting analysis Quality of earnings (6) – Management adjustments</vt:lpstr>
      <vt:lpstr>Supporting analysis Quality of earnings (7) – Potential adjustments</vt:lpstr>
      <vt:lpstr>Supporting analysis Quality of earnings (8) – Potential adjustments</vt:lpstr>
      <vt:lpstr>Supporting analysis Quality of earnings (9) – Other considerations</vt:lpstr>
      <vt:lpstr>Supporting analysis to key findings Income statement analysis</vt:lpstr>
      <vt:lpstr>PowerPoint Presentation</vt:lpstr>
      <vt:lpstr>PowerPoint Presentation</vt:lpstr>
      <vt:lpstr>Supporting analysis to key findings Net working capital</vt:lpstr>
      <vt:lpstr>PowerPoint Presentation</vt:lpstr>
      <vt:lpstr>PowerPoint Presentation</vt:lpstr>
      <vt:lpstr>PowerPoint Presentation</vt:lpstr>
      <vt:lpstr>PowerPoint Presentation</vt:lpstr>
      <vt:lpstr>Appendices</vt:lpstr>
      <vt:lpstr>Engagement letter procedures</vt:lpstr>
      <vt:lpstr>Appendix 2 Reconciliation to audited financial statements</vt:lpstr>
      <vt:lpstr>PowerPoint Presentation</vt:lpstr>
      <vt:lpstr>PowerPoint Presentation</vt:lpstr>
      <vt:lpstr>Appendix 5 India financial statements</vt:lpstr>
      <vt:lpstr>Appendix 6 Switzerland financial statements</vt:lpstr>
      <vt:lpstr>Appendix 7 Top customers (1) - Nursing</vt:lpstr>
      <vt:lpstr>Appendix 7 Top customers (2) – IT and clinical / scientific</vt:lpstr>
      <vt:lpstr>Appendix 7 Top customers (3) – Allied</vt:lpstr>
      <vt:lpstr>PowerPoint Presentation</vt:lpstr>
      <vt:lpstr>PowerPoint Presentation</vt:lpstr>
      <vt:lpstr>PowerPoint Presentation</vt:lpstr>
      <vt:lpstr>PowerPoint Presentation</vt:lpstr>
      <vt:lpstr>Contacts</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dc:description/>
  <cp:lastModifiedBy/>
  <cp:revision>1</cp:revision>
  <dcterms:created xsi:type="dcterms:W3CDTF">2017-08-28T17:30:56Z</dcterms:created>
  <dcterms:modified xsi:type="dcterms:W3CDTF">2018-04-10T20:52:36Z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0x010100B50ACECE49572E49B9E2B6EEF15646F3</vt:lpwstr>
  </property>
</Properties>
</file>