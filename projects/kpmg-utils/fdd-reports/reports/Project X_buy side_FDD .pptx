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comments/modernComment_313_7E774330.xml" ContentType="application/vnd.ms-powerpoint.comment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notesSlides/notesSlide1.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notesSlides/notesSlide2.xml" ContentType="application/vnd.openxmlformats-officedocument.presentationml.notesSlide+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03" r:id="rId5"/>
  </p:sldMasterIdLst>
  <p:notesMasterIdLst>
    <p:notesMasterId r:id="rId88"/>
  </p:notesMasterIdLst>
  <p:handoutMasterIdLst>
    <p:handoutMasterId r:id="rId89"/>
  </p:handoutMasterIdLst>
  <p:sldIdLst>
    <p:sldId id="783" r:id="rId6"/>
    <p:sldId id="784" r:id="rId7"/>
    <p:sldId id="790" r:id="rId8"/>
    <p:sldId id="789" r:id="rId9"/>
    <p:sldId id="787" r:id="rId10"/>
    <p:sldId id="897" r:id="rId11"/>
    <p:sldId id="905" r:id="rId12"/>
    <p:sldId id="795" r:id="rId13"/>
    <p:sldId id="798" r:id="rId14"/>
    <p:sldId id="898" r:id="rId15"/>
    <p:sldId id="934" r:id="rId16"/>
    <p:sldId id="860" r:id="rId17"/>
    <p:sldId id="901" r:id="rId18"/>
    <p:sldId id="861" r:id="rId19"/>
    <p:sldId id="900" r:id="rId20"/>
    <p:sldId id="738" r:id="rId21"/>
    <p:sldId id="803" r:id="rId22"/>
    <p:sldId id="866" r:id="rId23"/>
    <p:sldId id="906" r:id="rId24"/>
    <p:sldId id="874" r:id="rId25"/>
    <p:sldId id="908" r:id="rId26"/>
    <p:sldId id="902" r:id="rId27"/>
    <p:sldId id="903" r:id="rId28"/>
    <p:sldId id="904" r:id="rId29"/>
    <p:sldId id="818" r:id="rId30"/>
    <p:sldId id="876" r:id="rId31"/>
    <p:sldId id="909" r:id="rId32"/>
    <p:sldId id="910" r:id="rId33"/>
    <p:sldId id="911" r:id="rId34"/>
    <p:sldId id="920" r:id="rId35"/>
    <p:sldId id="878" r:id="rId36"/>
    <p:sldId id="875" r:id="rId37"/>
    <p:sldId id="879" r:id="rId38"/>
    <p:sldId id="880" r:id="rId39"/>
    <p:sldId id="912" r:id="rId40"/>
    <p:sldId id="805" r:id="rId41"/>
    <p:sldId id="881" r:id="rId42"/>
    <p:sldId id="913" r:id="rId43"/>
    <p:sldId id="882" r:id="rId44"/>
    <p:sldId id="884" r:id="rId45"/>
    <p:sldId id="885" r:id="rId46"/>
    <p:sldId id="806" r:id="rId47"/>
    <p:sldId id="886" r:id="rId48"/>
    <p:sldId id="914" r:id="rId49"/>
    <p:sldId id="887" r:id="rId50"/>
    <p:sldId id="915" r:id="rId51"/>
    <p:sldId id="916" r:id="rId52"/>
    <p:sldId id="888" r:id="rId53"/>
    <p:sldId id="889" r:id="rId54"/>
    <p:sldId id="917" r:id="rId55"/>
    <p:sldId id="918" r:id="rId56"/>
    <p:sldId id="919" r:id="rId57"/>
    <p:sldId id="807" r:id="rId58"/>
    <p:sldId id="890" r:id="rId59"/>
    <p:sldId id="808" r:id="rId60"/>
    <p:sldId id="831" r:id="rId61"/>
    <p:sldId id="891" r:id="rId62"/>
    <p:sldId id="928" r:id="rId63"/>
    <p:sldId id="871" r:id="rId64"/>
    <p:sldId id="943" r:id="rId65"/>
    <p:sldId id="938" r:id="rId66"/>
    <p:sldId id="937" r:id="rId67"/>
    <p:sldId id="936" r:id="rId68"/>
    <p:sldId id="691" r:id="rId69"/>
    <p:sldId id="935" r:id="rId70"/>
    <p:sldId id="939" r:id="rId71"/>
    <p:sldId id="929" r:id="rId72"/>
    <p:sldId id="930" r:id="rId73"/>
    <p:sldId id="931" r:id="rId74"/>
    <p:sldId id="932" r:id="rId75"/>
    <p:sldId id="933" r:id="rId76"/>
    <p:sldId id="940" r:id="rId77"/>
    <p:sldId id="922" r:id="rId78"/>
    <p:sldId id="923" r:id="rId79"/>
    <p:sldId id="927" r:id="rId80"/>
    <p:sldId id="921" r:id="rId81"/>
    <p:sldId id="924" r:id="rId82"/>
    <p:sldId id="925" r:id="rId83"/>
    <p:sldId id="926" r:id="rId84"/>
    <p:sldId id="942" r:id="rId85"/>
    <p:sldId id="694" r:id="rId86"/>
    <p:sldId id="695" r:id="rId87"/>
  </p:sldIdLst>
  <p:sldSz cx="12192000" cy="6858000"/>
  <p:notesSz cx="6858000" cy="9144000"/>
  <p:custDataLst>
    <p:tags r:id="rId9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969229-0E42-9023-5092-F7CA8E2A2FF7}" name="Dorrington, Thomas" initials="DT" userId="S::Thomas.Dorrington@kpmg.co.uk::4209e60b-ca9d-4a50-bacb-d8757fa9351e" providerId="AD"/>
  <p188:author id="{603FE580-7E24-E1A8-E2BB-ADC6C73F05A9}" name="KGS" initials="JM" userId="KGS"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8F5"/>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13" autoAdjust="0"/>
    <p:restoredTop sz="94694"/>
  </p:normalViewPr>
  <p:slideViewPr>
    <p:cSldViewPr snapToGrid="0">
      <p:cViewPr varScale="1">
        <p:scale>
          <a:sx n="107" d="100"/>
          <a:sy n="107" d="100"/>
        </p:scale>
        <p:origin x="560" y="4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handoutMaster" Target="handoutMasters/handoutMaster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tags" Target="tags/tag1.xml"/><Relationship Id="rId95" Type="http://schemas.openxmlformats.org/officeDocument/2006/relationships/tableStyles" Target="tableStyle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notesMaster" Target="notesMasters/notesMaster1.xml"/><Relationship Id="rId91" Type="http://schemas.openxmlformats.org/officeDocument/2006/relationships/commentAuthors" Target="commentAuthors.xml"/><Relationship Id="rId9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charts/_rels/chart1.xml.rels><?xml version="1.0" encoding="UTF-8" standalone="yes"?>
<Relationships xmlns="http://schemas.openxmlformats.org/package/2006/relationships"><Relationship Id="rId3" Type="http://schemas.openxmlformats.org/officeDocument/2006/relationships/oleObject" Target="https://kpmgoneuk-my.sharepoint.com/personal/thomas_dorrington_kpmg_co_uk/Documents/Documents/1.TS/Diligence+/Example%20Reports/Magnus/Project%20Magnus%20-%20PL%20databook%20-%20anonymised%20updated.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kpmgoneuk-my.sharepoint.com/personal/thomas_dorrington_kpmg_co_uk/Documents/Documents/1.TS/Diligence+/Example%20Reports/Magnus/Project%20Magnus%20-%20PL%20databook%20-%20anonymised%20updated.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00338D"/>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1-C8CF-4E66-AB54-7B41831B3DC8}"/>
              </c:ext>
            </c:extLst>
          </c:dPt>
          <c:dPt>
            <c:idx val="1"/>
            <c:bubble3D val="0"/>
            <c:spPr>
              <a:solidFill>
                <a:srgbClr val="00B8F5"/>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3-C8CF-4E66-AB54-7B41831B3DC8}"/>
              </c:ext>
            </c:extLst>
          </c:dPt>
          <c:dPt>
            <c:idx val="2"/>
            <c:bubble3D val="0"/>
            <c:spPr>
              <a:solidFill>
                <a:srgbClr val="1E49E2"/>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5-C8CF-4E66-AB54-7B41831B3DC8}"/>
              </c:ext>
            </c:extLst>
          </c:dPt>
          <c:dPt>
            <c:idx val="3"/>
            <c:bubble3D val="0"/>
            <c:spPr>
              <a:solidFill>
                <a:srgbClr val="76D2FF"/>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7-C8CF-4E66-AB54-7B41831B3DC8}"/>
              </c:ext>
            </c:extLst>
          </c:dPt>
          <c:dPt>
            <c:idx val="4"/>
            <c:bubble3D val="0"/>
            <c:spPr>
              <a:solidFill>
                <a:srgbClr val="7213EA"/>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9-C8CF-4E66-AB54-7B41831B3DC8}"/>
              </c:ext>
            </c:extLst>
          </c:dPt>
          <c:dLbls>
            <c:dLbl>
              <c:idx val="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1-C8CF-4E66-AB54-7B41831B3DC8}"/>
                </c:ext>
              </c:extLst>
            </c:dLbl>
            <c:dLbl>
              <c:idx val="2"/>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5-C8CF-4E66-AB54-7B41831B3DC8}"/>
                </c:ext>
              </c:extLst>
            </c:dLbl>
            <c:dLbl>
              <c:idx val="4"/>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9-C8CF-4E66-AB54-7B41831B3DC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a:ea typeface="Arial"/>
                    <a:cs typeface="Arial"/>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('FTE analysis Jan-22'!$B$11,'FTE analysis Jan-22'!$B$13:$B$16)</c:f>
              <c:strCache>
                <c:ptCount val="5"/>
                <c:pt idx="0">
                  <c:v>Marker post production COS </c:v>
                </c:pt>
                <c:pt idx="1">
                  <c:v>Vehicle production </c:v>
                </c:pt>
                <c:pt idx="2">
                  <c:v>Vehicle admin wages </c:v>
                </c:pt>
                <c:pt idx="3">
                  <c:v>Administration wages </c:v>
                </c:pt>
                <c:pt idx="4">
                  <c:v>Directors salaries </c:v>
                </c:pt>
              </c:strCache>
            </c:strRef>
          </c:cat>
          <c:val>
            <c:numRef>
              <c:f>('FTE analysis Jan-22'!$C$11,'FTE analysis Jan-22'!$C$13:$C$16)</c:f>
              <c:numCache>
                <c:formatCode>#,##0.0_);\(#,##0.0\);\-_);@_)</c:formatCode>
                <c:ptCount val="5"/>
                <c:pt idx="0">
                  <c:v>2.6</c:v>
                </c:pt>
                <c:pt idx="1">
                  <c:v>10.6</c:v>
                </c:pt>
                <c:pt idx="2">
                  <c:v>7.8</c:v>
                </c:pt>
                <c:pt idx="3">
                  <c:v>4</c:v>
                </c:pt>
                <c:pt idx="4">
                  <c:v>4</c:v>
                </c:pt>
              </c:numCache>
            </c:numRef>
          </c:val>
          <c:extLst>
            <c:ext xmlns:c16="http://schemas.microsoft.com/office/drawing/2014/chart" uri="{C3380CC4-5D6E-409C-BE32-E72D297353CC}">
              <c16:uniqueId val="{0000000A-C8CF-4E66-AB54-7B41831B3DC8}"/>
            </c:ext>
          </c:extLst>
        </c:ser>
        <c:dLbls>
          <c:showLegendKey val="0"/>
          <c:showVal val="0"/>
          <c:showCatName val="0"/>
          <c:showSerName val="0"/>
          <c:showPercent val="0"/>
          <c:showBubbleSize val="0"/>
          <c:showLeaderLines val="1"/>
        </c:dLbls>
        <c:firstSliceAng val="0"/>
      </c:pieChart>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5400" cap="flat" cmpd="sng" algn="ctr">
      <a:noFill/>
      <a:round/>
    </a:ln>
    <a:effectLst/>
  </c:spPr>
  <c:txPr>
    <a:bodyPr/>
    <a:lstStyle/>
    <a:p>
      <a:pPr>
        <a:defRPr sz="800">
          <a:latin typeface="Arial"/>
          <a:ea typeface="Arial"/>
          <a:cs typeface="Aria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00338D"/>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1-797D-470A-9BA2-31B2334D62EF}"/>
              </c:ext>
            </c:extLst>
          </c:dPt>
          <c:dPt>
            <c:idx val="1"/>
            <c:bubble3D val="0"/>
            <c:spPr>
              <a:solidFill>
                <a:srgbClr val="00B8F5"/>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3-797D-470A-9BA2-31B2334D62EF}"/>
              </c:ext>
            </c:extLst>
          </c:dPt>
          <c:dPt>
            <c:idx val="2"/>
            <c:bubble3D val="0"/>
            <c:spPr>
              <a:solidFill>
                <a:srgbClr val="1E49E2"/>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5-797D-470A-9BA2-31B2334D62EF}"/>
              </c:ext>
            </c:extLst>
          </c:dPt>
          <c:dPt>
            <c:idx val="3"/>
            <c:bubble3D val="0"/>
            <c:spPr>
              <a:solidFill>
                <a:srgbClr val="76D2FF"/>
              </a:solidFill>
              <a:ln w="19050">
                <a:noFill/>
              </a:ln>
              <a:effectLst/>
              <a:extLst>
                <a:ext uri="{91240B29-F687-4F45-9708-019B960494DF}">
                  <a14:hiddenLine xmlns:a14="http://schemas.microsoft.com/office/drawing/2010/main" w="19050">
                    <a:solidFill>
                      <a:sysClr val="window" lastClr="FFFFFF"/>
                    </a:solidFill>
                  </a14:hiddenLine>
                </a:ext>
              </a:extLst>
            </c:spPr>
            <c:extLst>
              <c:ext xmlns:c16="http://schemas.microsoft.com/office/drawing/2014/chart" uri="{C3380CC4-5D6E-409C-BE32-E72D297353CC}">
                <c16:uniqueId val="{00000007-797D-470A-9BA2-31B2334D62EF}"/>
              </c:ext>
            </c:extLst>
          </c:dPt>
          <c:dLbls>
            <c:dLbl>
              <c:idx val="1"/>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3-797D-470A-9BA2-31B2334D62EF}"/>
                </c:ext>
              </c:extLst>
            </c:dLbl>
            <c:dLbl>
              <c:idx val="2"/>
              <c:layout>
                <c:manualLayout>
                  <c:x val="3.1966532718703727E-2"/>
                  <c:y val="0.1137780054394887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97D-470A-9BA2-31B2334D62EF}"/>
                </c:ext>
              </c:extLst>
            </c:dLbl>
            <c:dLbl>
              <c:idx val="3"/>
              <c:layout>
                <c:manualLayout>
                  <c:x val="1.1816843338378296E-2"/>
                  <c:y val="0.12093227470637739"/>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Arial"/>
                      <a:ea typeface="Arial"/>
                      <a:cs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7D-470A-9BA2-31B2334D62E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a:ea typeface="Arial"/>
                    <a:cs typeface="Arial"/>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'Hire fleet by contract type'!$B$11:$B$16</c:f>
              <c:strCache>
                <c:ptCount val="4"/>
                <c:pt idx="0">
                  <c:v>18t IPV</c:v>
                </c:pt>
                <c:pt idx="1">
                  <c:v>3.5t &amp; 3.5t Low Bodied TMV</c:v>
                </c:pt>
                <c:pt idx="2">
                  <c:v>7.2t &amp; 7.5t TMV</c:v>
                </c:pt>
                <c:pt idx="3">
                  <c:v>Other Vans</c:v>
                </c:pt>
              </c:strCache>
            </c:strRef>
          </c:cat>
          <c:val>
            <c:numRef>
              <c:f>'Hire fleet by contract type'!$C$11:$C$16</c:f>
              <c:numCache>
                <c:formatCode>#,##0_);\(#,##0\);\-_);@</c:formatCode>
                <c:ptCount val="4"/>
                <c:pt idx="0">
                  <c:v>77</c:v>
                </c:pt>
                <c:pt idx="1">
                  <c:v>193</c:v>
                </c:pt>
                <c:pt idx="2">
                  <c:v>8</c:v>
                </c:pt>
                <c:pt idx="3">
                  <c:v>9</c:v>
                </c:pt>
              </c:numCache>
            </c:numRef>
          </c:val>
          <c:extLst>
            <c:ext xmlns:c16="http://schemas.microsoft.com/office/drawing/2014/chart" uri="{C3380CC4-5D6E-409C-BE32-E72D297353CC}">
              <c16:uniqueId val="{00000008-797D-470A-9BA2-31B2334D62EF}"/>
            </c:ext>
          </c:extLst>
        </c:ser>
        <c:dLbls>
          <c:showLegendKey val="0"/>
          <c:showVal val="0"/>
          <c:showCatName val="0"/>
          <c:showSerName val="0"/>
          <c:showPercent val="0"/>
          <c:showBubbleSize val="0"/>
          <c:showLeaderLines val="1"/>
        </c:dLbls>
        <c:firstSliceAng val="0"/>
      </c:pieChart>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5400" cap="flat" cmpd="sng" algn="ctr">
      <a:noFill/>
      <a:round/>
    </a:ln>
    <a:effectLst/>
  </c:spPr>
  <c:txPr>
    <a:bodyPr/>
    <a:lstStyle/>
    <a:p>
      <a:pPr>
        <a:defRPr sz="800">
          <a:latin typeface="Arial"/>
          <a:ea typeface="Arial"/>
          <a:cs typeface="Aria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176470588235295"/>
          <c:y val="0.15294117647058825"/>
          <c:w val="0.73568627450980395"/>
          <c:h val="0.69411764705882351"/>
        </c:manualLayout>
      </c:layout>
      <c:barChart>
        <c:barDir val="col"/>
        <c:grouping val="stacked"/>
        <c:varyColors val="0"/>
        <c:ser>
          <c:idx val="0"/>
          <c:order val="0"/>
          <c:spPr>
            <a:solidFill>
              <a:srgbClr val="00338D"/>
            </a:solidFill>
            <a:ln>
              <a:noFill/>
            </a:ln>
          </c:spPr>
          <c:invertIfNegative val="0"/>
          <c:dLbls>
            <c:dLbl>
              <c:idx val="0"/>
              <c:layout>
                <c:manualLayout>
                  <c:x val="0"/>
                  <c:y val="0"/>
                </c:manualLayout>
              </c:layout>
              <c:numFmt formatCode="#,##0.0;&quot;-&quot;#,##0.0" sourceLinked="0"/>
              <c:spPr>
                <a:noFill/>
                <a:ln>
                  <a:noFill/>
                </a:ln>
              </c:spPr>
              <c:txPr>
                <a:bodyPr wrap="none"/>
                <a:lstStyle/>
                <a:p>
                  <a:pPr>
                    <a:defRPr sz="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967-4FC0-AF8B-7457E09584B9}"/>
                </c:ext>
              </c:extLst>
            </c:dLbl>
            <c:dLbl>
              <c:idx val="1"/>
              <c:layout>
                <c:manualLayout>
                  <c:x val="0"/>
                  <c:y val="-2.9411764705882353E-3"/>
                </c:manualLayout>
              </c:layout>
              <c:numFmt formatCode="#,##0.0;&quot;-&quot;#,##0.0" sourceLinked="0"/>
              <c:spPr>
                <a:noFill/>
                <a:ln>
                  <a:noFill/>
                </a:ln>
              </c:spPr>
              <c:txPr>
                <a:bodyPr wrap="none"/>
                <a:lstStyle/>
                <a:p>
                  <a:pPr>
                    <a:defRPr sz="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967-4FC0-AF8B-7457E09584B9}"/>
                </c:ext>
              </c:extLst>
            </c:dLbl>
            <c:dLbl>
              <c:idx val="2"/>
              <c:layout>
                <c:manualLayout>
                  <c:x val="0"/>
                  <c:y val="0"/>
                </c:manualLayout>
              </c:layout>
              <c:numFmt formatCode="#,##0.0;&quot;-&quot;#,##0.0" sourceLinked="0"/>
              <c:spPr>
                <a:noFill/>
                <a:ln>
                  <a:noFill/>
                </a:ln>
              </c:spPr>
              <c:txPr>
                <a:bodyPr wrap="none"/>
                <a:lstStyle/>
                <a:p>
                  <a:pPr>
                    <a:defRPr sz="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967-4FC0-AF8B-7457E09584B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#,##0.0;"-"#,##0.0</c:formatCode>
                <c:ptCount val="3"/>
                <c:pt idx="0">
                  <c:v>6.1</c:v>
                </c:pt>
                <c:pt idx="1">
                  <c:v>6.8</c:v>
                </c:pt>
                <c:pt idx="2">
                  <c:v>7.5</c:v>
                </c:pt>
              </c:numCache>
            </c:numRef>
          </c:val>
          <c:extLst>
            <c:ext xmlns:c16="http://schemas.microsoft.com/office/drawing/2014/chart" uri="{C3380CC4-5D6E-409C-BE32-E72D297353CC}">
              <c16:uniqueId val="{00000003-0967-4FC0-AF8B-7457E09584B9}"/>
            </c:ext>
          </c:extLst>
        </c:ser>
        <c:dLbls>
          <c:showLegendKey val="0"/>
          <c:showVal val="0"/>
          <c:showCatName val="0"/>
          <c:showSerName val="0"/>
          <c:showPercent val="0"/>
          <c:showBubbleSize val="0"/>
        </c:dLbls>
        <c:gapWidth val="80"/>
        <c:overlap val="100"/>
        <c:axId val="790120191"/>
        <c:axId val="1"/>
      </c:barChart>
      <c:catAx>
        <c:axId val="790120191"/>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0"/>
          <c:min val="0"/>
        </c:scaling>
        <c:delete val="0"/>
        <c:axPos val="l"/>
        <c:majorGridlines>
          <c:spPr>
            <a:ln>
              <a:noFill/>
            </a:ln>
          </c:spPr>
        </c:majorGridlines>
        <c:numFmt formatCode="#,##0.0;&quot;-&quot;#,##0.0" sourceLinked="1"/>
        <c:majorTickMark val="out"/>
        <c:minorTickMark val="none"/>
        <c:tickLblPos val="none"/>
        <c:spPr>
          <a:ln w="9525" algn="ctr">
            <a:solidFill>
              <a:srgbClr val="FFFFFF"/>
            </a:solidFill>
            <a:prstDash val="solid"/>
          </a:ln>
        </c:spPr>
        <c:txPr>
          <a:bodyPr wrap="none"/>
          <a:lstStyle/>
          <a:p>
            <a:pPr>
              <a:defRPr sz="800" kern="1200">
                <a:latin typeface="+mn-lt"/>
                <a:ea typeface="+mn-ea"/>
                <a:cs typeface="+mn-cs"/>
              </a:defRPr>
            </a:pPr>
            <a:endParaRPr lang="en-US"/>
          </a:p>
        </c:txPr>
        <c:crossAx val="790120191"/>
        <c:crosses val="min"/>
        <c:crossBetween val="between"/>
        <c:majorUnit val="1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904030710172742E-2"/>
          <c:y val="0.15294117647058825"/>
          <c:w val="0.90019193857965452"/>
          <c:h val="0.69411764705882351"/>
        </c:manualLayout>
      </c:layout>
      <c:barChart>
        <c:barDir val="col"/>
        <c:grouping val="stacked"/>
        <c:varyColors val="0"/>
        <c:ser>
          <c:idx val="0"/>
          <c:order val="0"/>
          <c:spPr>
            <a:solidFill>
              <a:srgbClr val="00338D"/>
            </a:solidFill>
            <a:ln>
              <a:noFill/>
            </a:ln>
          </c:spPr>
          <c:invertIfNegative val="0"/>
          <c:val>
            <c:numRef>
              <c:f>Sheet1!$A$1:$C$1</c:f>
              <c:numCache>
                <c:formatCode>General</c:formatCode>
                <c:ptCount val="3"/>
                <c:pt idx="0">
                  <c:v>3.7</c:v>
                </c:pt>
                <c:pt idx="1">
                  <c:v>4</c:v>
                </c:pt>
                <c:pt idx="2">
                  <c:v>4.0999999999999996</c:v>
                </c:pt>
              </c:numCache>
            </c:numRef>
          </c:val>
          <c:extLst>
            <c:ext xmlns:c16="http://schemas.microsoft.com/office/drawing/2014/chart" uri="{C3380CC4-5D6E-409C-BE32-E72D297353CC}">
              <c16:uniqueId val="{00000000-8105-4792-8016-767AA5304ABD}"/>
            </c:ext>
          </c:extLst>
        </c:ser>
        <c:dLbls>
          <c:showLegendKey val="0"/>
          <c:showVal val="0"/>
          <c:showCatName val="0"/>
          <c:showSerName val="0"/>
          <c:showPercent val="0"/>
          <c:showBubbleSize val="0"/>
        </c:dLbls>
        <c:gapWidth val="80"/>
        <c:overlap val="100"/>
        <c:axId val="790132255"/>
        <c:axId val="1"/>
      </c:barChart>
      <c:catAx>
        <c:axId val="790132255"/>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0"/>
          <c:min val="0"/>
        </c:scaling>
        <c:delete val="0"/>
        <c:axPos val="l"/>
        <c:majorGridlines>
          <c:spPr>
            <a:ln>
              <a:noFill/>
            </a:ln>
          </c:spPr>
        </c:majorGridlines>
        <c:numFmt formatCode="General" sourceLinked="1"/>
        <c:majorTickMark val="out"/>
        <c:minorTickMark val="none"/>
        <c:tickLblPos val="none"/>
        <c:spPr>
          <a:ln w="9525" algn="ctr">
            <a:solidFill>
              <a:srgbClr val="FFFFFF"/>
            </a:solidFill>
            <a:prstDash val="solid"/>
          </a:ln>
        </c:spPr>
        <c:txPr>
          <a:bodyPr wrap="none"/>
          <a:lstStyle/>
          <a:p>
            <a:pPr>
              <a:defRPr sz="800" kern="1200">
                <a:latin typeface="+mn-lt"/>
                <a:ea typeface="+mn-ea"/>
                <a:cs typeface="+mn-cs"/>
              </a:defRPr>
            </a:pPr>
            <a:endParaRPr lang="en-US"/>
          </a:p>
        </c:txPr>
        <c:crossAx val="790132255"/>
        <c:crosses val="min"/>
        <c:crossBetween val="between"/>
        <c:majorUnit val="10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904030710172742E-2"/>
          <c:y val="0.15294117647058825"/>
          <c:w val="0.90019193857965452"/>
          <c:h val="0.69411764705882351"/>
        </c:manualLayout>
      </c:layout>
      <c:barChart>
        <c:barDir val="col"/>
        <c:grouping val="stacked"/>
        <c:varyColors val="0"/>
        <c:ser>
          <c:idx val="0"/>
          <c:order val="0"/>
          <c:spPr>
            <a:solidFill>
              <a:srgbClr val="00338D"/>
            </a:solidFill>
            <a:ln>
              <a:noFill/>
            </a:ln>
          </c:spPr>
          <c:invertIfNegative val="0"/>
          <c:val>
            <c:numRef>
              <c:f>Sheet1!$A$1:$C$1</c:f>
              <c:numCache>
                <c:formatCode>General</c:formatCode>
                <c:ptCount val="3"/>
                <c:pt idx="0">
                  <c:v>2.5</c:v>
                </c:pt>
                <c:pt idx="1">
                  <c:v>2.6</c:v>
                </c:pt>
                <c:pt idx="2">
                  <c:v>2.8</c:v>
                </c:pt>
              </c:numCache>
            </c:numRef>
          </c:val>
          <c:extLst>
            <c:ext xmlns:c16="http://schemas.microsoft.com/office/drawing/2014/chart" uri="{C3380CC4-5D6E-409C-BE32-E72D297353CC}">
              <c16:uniqueId val="{00000000-0E0D-4746-9F71-50526CBFCC88}"/>
            </c:ext>
          </c:extLst>
        </c:ser>
        <c:dLbls>
          <c:showLegendKey val="0"/>
          <c:showVal val="0"/>
          <c:showCatName val="0"/>
          <c:showSerName val="0"/>
          <c:showPercent val="0"/>
          <c:showBubbleSize val="0"/>
        </c:dLbls>
        <c:gapWidth val="80"/>
        <c:overlap val="100"/>
        <c:axId val="790134335"/>
        <c:axId val="1"/>
      </c:barChart>
      <c:catAx>
        <c:axId val="790134335"/>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10"/>
          <c:min val="0"/>
        </c:scaling>
        <c:delete val="0"/>
        <c:axPos val="l"/>
        <c:majorGridlines>
          <c:spPr>
            <a:ln>
              <a:noFill/>
            </a:ln>
          </c:spPr>
        </c:majorGridlines>
        <c:numFmt formatCode="General" sourceLinked="1"/>
        <c:majorTickMark val="out"/>
        <c:minorTickMark val="none"/>
        <c:tickLblPos val="none"/>
        <c:spPr>
          <a:ln w="9525" algn="ctr">
            <a:solidFill>
              <a:srgbClr val="FFFFFF"/>
            </a:solidFill>
            <a:prstDash val="solid"/>
          </a:ln>
        </c:spPr>
        <c:txPr>
          <a:bodyPr wrap="none"/>
          <a:lstStyle/>
          <a:p>
            <a:pPr>
              <a:defRPr sz="800" kern="1200">
                <a:latin typeface="+mn-lt"/>
                <a:ea typeface="+mn-ea"/>
                <a:cs typeface="+mn-cs"/>
              </a:defRPr>
            </a:pPr>
            <a:endParaRPr lang="en-US"/>
          </a:p>
        </c:txPr>
        <c:crossAx val="790134335"/>
        <c:crosses val="min"/>
        <c:crossBetween val="between"/>
        <c:majorUnit val="10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904030710172742E-2"/>
          <c:y val="0.15294117647058825"/>
          <c:w val="0.90019193857965452"/>
          <c:h val="0.69411764705882351"/>
        </c:manualLayout>
      </c:layout>
      <c:barChart>
        <c:barDir val="col"/>
        <c:grouping val="stacked"/>
        <c:varyColors val="0"/>
        <c:ser>
          <c:idx val="0"/>
          <c:order val="0"/>
          <c:spPr>
            <a:solidFill>
              <a:srgbClr val="00338D"/>
            </a:solidFill>
            <a:ln>
              <a:noFill/>
            </a:ln>
          </c:spPr>
          <c:invertIfNegative val="0"/>
          <c:val>
            <c:numRef>
              <c:f>Sheet1!$A$1:$C$1</c:f>
              <c:numCache>
                <c:formatCode>General</c:formatCode>
                <c:ptCount val="3"/>
                <c:pt idx="0">
                  <c:v>1.2</c:v>
                </c:pt>
                <c:pt idx="1">
                  <c:v>1.5</c:v>
                </c:pt>
                <c:pt idx="2">
                  <c:v>1.4</c:v>
                </c:pt>
              </c:numCache>
            </c:numRef>
          </c:val>
          <c:extLst>
            <c:ext xmlns:c16="http://schemas.microsoft.com/office/drawing/2014/chart" uri="{C3380CC4-5D6E-409C-BE32-E72D297353CC}">
              <c16:uniqueId val="{00000000-FEA3-44B9-9311-9DCDA9DCD6D5}"/>
            </c:ext>
          </c:extLst>
        </c:ser>
        <c:dLbls>
          <c:showLegendKey val="0"/>
          <c:showVal val="0"/>
          <c:showCatName val="0"/>
          <c:showSerName val="0"/>
          <c:showPercent val="0"/>
          <c:showBubbleSize val="0"/>
        </c:dLbls>
        <c:gapWidth val="80"/>
        <c:overlap val="100"/>
        <c:axId val="790128927"/>
        <c:axId val="1"/>
      </c:barChart>
      <c:catAx>
        <c:axId val="790128927"/>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l"/>
        <c:majorGridlines>
          <c:spPr>
            <a:ln>
              <a:noFill/>
            </a:ln>
          </c:spPr>
        </c:majorGridlines>
        <c:numFmt formatCode="General" sourceLinked="1"/>
        <c:majorTickMark val="out"/>
        <c:minorTickMark val="none"/>
        <c:tickLblPos val="none"/>
        <c:spPr>
          <a:ln w="9525" algn="ctr">
            <a:solidFill>
              <a:srgbClr val="FFFFFF"/>
            </a:solidFill>
            <a:prstDash val="solid"/>
          </a:ln>
        </c:spPr>
        <c:txPr>
          <a:bodyPr wrap="none"/>
          <a:lstStyle/>
          <a:p>
            <a:pPr>
              <a:defRPr sz="800" kern="1200">
                <a:latin typeface="+mn-lt"/>
                <a:ea typeface="+mn-ea"/>
                <a:cs typeface="+mn-cs"/>
              </a:defRPr>
            </a:pPr>
            <a:endParaRPr lang="en-US"/>
          </a:p>
        </c:txPr>
        <c:crossAx val="790128927"/>
        <c:crosses val="min"/>
        <c:crossBetween val="between"/>
        <c:majorUnit val="10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904030710172742E-2"/>
          <c:y val="0.15294117647058825"/>
          <c:w val="0.90019193857965452"/>
          <c:h val="0.69411764705882351"/>
        </c:manualLayout>
      </c:layout>
      <c:barChart>
        <c:barDir val="col"/>
        <c:grouping val="stacked"/>
        <c:varyColors val="0"/>
        <c:ser>
          <c:idx val="0"/>
          <c:order val="0"/>
          <c:spPr>
            <a:solidFill>
              <a:srgbClr val="00338D"/>
            </a:solidFill>
            <a:ln>
              <a:noFill/>
            </a:ln>
          </c:spPr>
          <c:invertIfNegative val="0"/>
          <c:val>
            <c:numRef>
              <c:f>Sheet1!$A$1:$C$1</c:f>
              <c:numCache>
                <c:formatCode>General</c:formatCode>
                <c:ptCount val="3"/>
                <c:pt idx="0">
                  <c:v>1.1000000000000001</c:v>
                </c:pt>
                <c:pt idx="1">
                  <c:v>1.3</c:v>
                </c:pt>
                <c:pt idx="2">
                  <c:v>0.7</c:v>
                </c:pt>
              </c:numCache>
            </c:numRef>
          </c:val>
          <c:extLst>
            <c:ext xmlns:c16="http://schemas.microsoft.com/office/drawing/2014/chart" uri="{C3380CC4-5D6E-409C-BE32-E72D297353CC}">
              <c16:uniqueId val="{00000000-81B7-46A1-A06A-16E8C53387B2}"/>
            </c:ext>
          </c:extLst>
        </c:ser>
        <c:dLbls>
          <c:showLegendKey val="0"/>
          <c:showVal val="0"/>
          <c:showCatName val="0"/>
          <c:showSerName val="0"/>
          <c:showPercent val="0"/>
          <c:showBubbleSize val="0"/>
        </c:dLbls>
        <c:gapWidth val="80"/>
        <c:overlap val="100"/>
        <c:axId val="790128927"/>
        <c:axId val="1"/>
      </c:barChart>
      <c:catAx>
        <c:axId val="790128927"/>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5"/>
          <c:min val="0"/>
        </c:scaling>
        <c:delete val="0"/>
        <c:axPos val="l"/>
        <c:majorGridlines>
          <c:spPr>
            <a:ln>
              <a:noFill/>
            </a:ln>
          </c:spPr>
        </c:majorGridlines>
        <c:numFmt formatCode="General" sourceLinked="1"/>
        <c:majorTickMark val="out"/>
        <c:minorTickMark val="none"/>
        <c:tickLblPos val="none"/>
        <c:spPr>
          <a:ln w="9525" algn="ctr">
            <a:solidFill>
              <a:srgbClr val="FFFFFF"/>
            </a:solidFill>
            <a:prstDash val="solid"/>
          </a:ln>
        </c:spPr>
        <c:txPr>
          <a:bodyPr wrap="none"/>
          <a:lstStyle/>
          <a:p>
            <a:pPr>
              <a:defRPr sz="800" kern="1200">
                <a:latin typeface="+mn-lt"/>
                <a:ea typeface="+mn-ea"/>
                <a:cs typeface="+mn-cs"/>
              </a:defRPr>
            </a:pPr>
            <a:endParaRPr lang="en-US"/>
          </a:p>
        </c:txPr>
        <c:crossAx val="790128927"/>
        <c:crosses val="min"/>
        <c:crossBetween val="between"/>
        <c:majorUnit val="100"/>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313_7E774330.xml><?xml version="1.0" encoding="utf-8"?>
<p188:cmLst xmlns:a="http://schemas.openxmlformats.org/drawingml/2006/main" xmlns:r="http://schemas.openxmlformats.org/officeDocument/2006/relationships" xmlns:p188="http://schemas.microsoft.com/office/powerpoint/2018/8/main">
  <p188:cm id="{D26CDE4B-7687-4D15-B77E-AFA2FFDF5A44}" authorId="{603FE580-7E24-E1A8-E2BB-ADC6C73F05A9}" created="2023-12-13T08:51:49.459">
    <ac:txMkLst xmlns:ac="http://schemas.microsoft.com/office/drawing/2013/main/command">
      <pc:docMk xmlns:pc="http://schemas.microsoft.com/office/powerpoint/2013/main/command"/>
      <pc:sldMk xmlns:pc="http://schemas.microsoft.com/office/powerpoint/2013/main/command" cId="2121745200" sldId="787"/>
      <ac:spMk id="5" creationId="{699EB117-7B29-3EC2-C6E5-1FE552B028FF}"/>
      <ac:txMk cp="5" len="62">
        <ac:context len="68" hash="3081053097"/>
      </ac:txMk>
    </ac:txMkLst>
    <p188:pos x="10664825" y="1819275"/>
    <p188:txBody>
      <a:bodyPr/>
      <a:lstStyle/>
      <a:p>
        <a:r>
          <a:rPr lang="en-US"/>
          <a:t>The map seems to be revealing the regions served by the entity</a:t>
        </a:r>
      </a:p>
    </p188:txBody>
  </p188:cm>
</p188:cmLst>
</file>

<file path=ppt/drawings/drawing1.xml><?xml version="1.0" encoding="utf-8"?>
<c:userShapes xmlns:c="http://schemas.openxmlformats.org/drawingml/2006/chart">
  <cdr:relSizeAnchor xmlns:cdr="http://schemas.openxmlformats.org/drawingml/2006/chartDrawing">
    <cdr:from>
      <cdr:x>0.01111</cdr:x>
      <cdr:y>0.01852</cdr:y>
    </cdr:from>
    <cdr:to>
      <cdr:x>0.01111</cdr:x>
      <cdr:y>0.01852</cdr:y>
    </cdr:to>
    <cdr:sp macro="" textlink="">
      <cdr:nvSpPr>
        <cdr:cNvPr id="2" name="#UpSlide#ChartHasBeenCopiedWithUpSlideActive#" hidden="1">
          <a:extLst xmlns:a="http://schemas.openxmlformats.org/drawingml/2006/main">
            <a:ext uri="{FF2B5EF4-FFF2-40B4-BE49-F238E27FC236}">
              <a16:creationId xmlns:a16="http://schemas.microsoft.com/office/drawing/2014/main" id="{B4AC6463-F784-4F29-B489-3B16C9F6853B}"/>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0.01111</cdr:x>
      <cdr:y>0.01852</cdr:y>
    </cdr:from>
    <cdr:to>
      <cdr:x>0.01111</cdr:x>
      <cdr:y>0.01852</cdr:y>
    </cdr:to>
    <cdr:sp macro="" textlink="">
      <cdr:nvSpPr>
        <cdr:cNvPr id="3" name="UpSlideExportSave" hidden="1">
          <a:extLst xmlns:a="http://schemas.openxmlformats.org/drawingml/2006/main">
            <a:ext uri="{FF2B5EF4-FFF2-40B4-BE49-F238E27FC236}">
              <a16:creationId xmlns:a16="http://schemas.microsoft.com/office/drawing/2014/main" id="{B12A9DA8-26CC-4F67-93D1-57B9D036B671}"/>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drawings/drawing2.xml><?xml version="1.0" encoding="utf-8"?>
<c:userShapes xmlns:c="http://schemas.openxmlformats.org/drawingml/2006/chart">
  <cdr:relSizeAnchor xmlns:cdr="http://schemas.openxmlformats.org/drawingml/2006/chartDrawing">
    <cdr:from>
      <cdr:x>0.01111</cdr:x>
      <cdr:y>0.01852</cdr:y>
    </cdr:from>
    <cdr:to>
      <cdr:x>0.01111</cdr:x>
      <cdr:y>0.01852</cdr:y>
    </cdr:to>
    <cdr:sp macro="" textlink="">
      <cdr:nvSpPr>
        <cdr:cNvPr id="2" name="#UpSlide#ChartHasBeenCopiedWithUpSlideActive#" hidden="1">
          <a:extLst xmlns:a="http://schemas.openxmlformats.org/drawingml/2006/main">
            <a:ext uri="{FF2B5EF4-FFF2-40B4-BE49-F238E27FC236}">
              <a16:creationId xmlns:a16="http://schemas.microsoft.com/office/drawing/2014/main" id="{67A10AFE-83EB-4286-A01E-5EC5DA152743}"/>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0.01111</cdr:x>
      <cdr:y>0.01852</cdr:y>
    </cdr:from>
    <cdr:to>
      <cdr:x>0.01111</cdr:x>
      <cdr:y>0.01852</cdr:y>
    </cdr:to>
    <cdr:sp macro="" textlink="">
      <cdr:nvSpPr>
        <cdr:cNvPr id="3" name="UpSlideExportSave" descr="_EXPORT31_2_7858414678156.497769_414678198.587557_json{&quot;DestinationType&quot;:&quot;Powerpoint&quot;,&quot;PowerPointDestination&quot;:{&quot;FilePath&quot;:&quot;https://kpmgoneuk-my.sharepoint.com/personal/thomas_dorrington_kpmg_co_uk/Documents/Documents/1.TS/Diligence+/Example Reports/Magnus/Project Magnus - new template.pptx&quot;,&quot;SlideId&quot;:905}}" hidden="1">
          <a:extLst xmlns:a="http://schemas.openxmlformats.org/drawingml/2006/main">
            <a:ext uri="{FF2B5EF4-FFF2-40B4-BE49-F238E27FC236}">
              <a16:creationId xmlns:a16="http://schemas.microsoft.com/office/drawing/2014/main" id="{E745651E-40FA-473C-BC12-4DA5E109DEAD}"/>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0.25073</cdr:x>
      <cdr:y>0.09086</cdr:y>
    </cdr:from>
    <cdr:to>
      <cdr:x>0.44572</cdr:x>
      <cdr:y>0.1654</cdr:y>
    </cdr:to>
    <cdr:sp macro="" textlink="">
      <cdr:nvSpPr>
        <cdr:cNvPr id="4" name="Text Placeholder 2">
          <a:extLst xmlns:a="http://schemas.openxmlformats.org/drawingml/2006/main">
            <a:ext uri="{FF2B5EF4-FFF2-40B4-BE49-F238E27FC236}">
              <a16:creationId xmlns:a16="http://schemas.microsoft.com/office/drawing/2014/main" id="{0FBF7A66-BF48-4A3E-BBA7-CF245ABC16F1}"/>
            </a:ext>
          </a:extLst>
        </cdr:cNvPr>
        <cdr:cNvSpPr>
          <a:spLocks xmlns:a="http://schemas.openxmlformats.org/drawingml/2006/main" noGrp="1"/>
        </cdr:cNvSpPr>
      </cdr:nvSpPr>
      <cdr:spPr bwMode="auto">
        <a:xfrm xmlns:a="http://schemas.openxmlformats.org/drawingml/2006/main">
          <a:off x="767519" y="148995"/>
          <a:ext cx="596900" cy="122238"/>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crgbClr r="0" g="0" b="0"/>
              </a:solidFill>
            </a14:hiddenFill>
          </a:ext>
        </a:extLst>
      </cdr:spPr>
      <cdr:txBody>
        <a:bodyPr xmlns:a="http://schemas.openxmlformats.org/drawingml/2006/main" vert="horz" wrap="none" lIns="0" tIns="0" rIns="0" bIns="0" numCol="1" spcCol="0" rtlCol="0" anchor="ctr" anchorCtr="0">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lvl="1" algn="r">
            <a:spcBef>
              <a:spcPct val="0"/>
            </a:spcBef>
            <a:spcAft>
              <a:spcPct val="0"/>
            </a:spcAft>
          </a:pPr>
          <a:r>
            <a:rPr lang="en-US" sz="800" dirty="0">
              <a:solidFill>
                <a:srgbClr val="00338D"/>
              </a:solidFill>
            </a:rPr>
            <a:t>7.2t &amp; 7.5t TMV</a:t>
          </a:r>
        </a:p>
      </cdr:txBody>
    </cdr:sp>
  </cdr:relSizeAnchor>
  <cdr:relSizeAnchor xmlns:cdr="http://schemas.openxmlformats.org/drawingml/2006/chartDrawing">
    <cdr:from>
      <cdr:x>0.44538</cdr:x>
      <cdr:y>0.06729</cdr:y>
    </cdr:from>
    <cdr:to>
      <cdr:x>0.64037</cdr:x>
      <cdr:y>0.14183</cdr:y>
    </cdr:to>
    <cdr:sp macro="" textlink="">
      <cdr:nvSpPr>
        <cdr:cNvPr id="5" name="Text Placeholder 2">
          <a:extLst xmlns:a="http://schemas.openxmlformats.org/drawingml/2006/main">
            <a:ext uri="{FF2B5EF4-FFF2-40B4-BE49-F238E27FC236}">
              <a16:creationId xmlns:a16="http://schemas.microsoft.com/office/drawing/2014/main" id="{5B1EC83F-474C-4EA8-969E-1AB479CCC03E}"/>
            </a:ext>
          </a:extLst>
        </cdr:cNvPr>
        <cdr:cNvSpPr>
          <a:spLocks xmlns:a="http://schemas.openxmlformats.org/drawingml/2006/main" noGrp="1"/>
        </cdr:cNvSpPr>
      </cdr:nvSpPr>
      <cdr:spPr bwMode="auto">
        <a:xfrm xmlns:a="http://schemas.openxmlformats.org/drawingml/2006/main">
          <a:off x="1363376" y="110345"/>
          <a:ext cx="596900" cy="122238"/>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crgbClr r="0" g="0" b="0"/>
              </a:solidFill>
            </a14:hiddenFill>
          </a:ext>
        </a:extLst>
      </cdr:spPr>
      <cdr:txBody>
        <a:bodyPr xmlns:a="http://schemas.openxmlformats.org/drawingml/2006/main" vert="horz" wrap="none" lIns="0" tIns="0" rIns="0" bIns="0" numCol="1" spcCol="0" rtlCol="0" anchor="ctr" anchorCtr="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lvl="1" algn="r">
            <a:spcBef>
              <a:spcPct val="0"/>
            </a:spcBef>
            <a:spcAft>
              <a:spcPct val="0"/>
            </a:spcAft>
          </a:pPr>
          <a:r>
            <a:rPr lang="en-US" sz="800" dirty="0">
              <a:solidFill>
                <a:srgbClr val="00338D"/>
              </a:solidFill>
            </a:rPr>
            <a:t>Other vans</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12/01/2026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71</a:t>
            </a:fld>
            <a:endParaRPr lang="en-GB"/>
          </a:p>
        </p:txBody>
      </p:sp>
    </p:spTree>
    <p:extLst>
      <p:ext uri="{BB962C8B-B14F-4D97-AF65-F5344CB8AC3E}">
        <p14:creationId xmlns:p14="http://schemas.microsoft.com/office/powerpoint/2010/main" val="1724404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75</a:t>
            </a:fld>
            <a:endParaRPr lang="en-GB"/>
          </a:p>
        </p:txBody>
      </p:sp>
    </p:spTree>
    <p:extLst>
      <p:ext uri="{BB962C8B-B14F-4D97-AF65-F5344CB8AC3E}">
        <p14:creationId xmlns:p14="http://schemas.microsoft.com/office/powerpoint/2010/main" val="28804452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4.svg"/><Relationship Id="rId9"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9.svg"/><Relationship Id="rId9"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5.emf"/></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6.png"/></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5.emf"/></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slideMaster" Target="../slideMasters/slideMaster2.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2" Type="http://schemas.openxmlformats.org/officeDocument/2006/relationships/tags" Target="../tags/tag18.xml"/><Relationship Id="rId16" Type="http://schemas.openxmlformats.org/officeDocument/2006/relationships/image" Target="../media/image2.svg"/><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image" Target="../media/image1.png"/><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slide" Target="../slides/slide3.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slideMaster" Target="../slideMasters/slideMaster2.xml"/><Relationship Id="rId5" Type="http://schemas.openxmlformats.org/officeDocument/2006/relationships/tags" Target="../tags/tag33.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image" Target="../media/image4.sv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3.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Master" Target="../slideMasters/slideMaster2.xml"/><Relationship Id="rId5" Type="http://schemas.openxmlformats.org/officeDocument/2006/relationships/tags" Target="../tags/tag43.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tags" Target="../tags/tag49.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rgbClr val="B2B2B2"/>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2022 KPMG LLP, a xx limited liability partnership and a member firm of the KPMG global </a:t>
            </a:r>
            <a:r>
              <a:rPr lang="en-US" sz="600" kern="1200" noProof="0" dirty="0" err="1">
                <a:solidFill>
                  <a:schemeClr val="bg1">
                    <a:lumMod val="65000"/>
                  </a:schemeClr>
                </a:solidFill>
                <a:latin typeface="+mn-lt"/>
                <a:ea typeface="+mn-ea"/>
                <a:cs typeface="+mn-cs"/>
              </a:rPr>
              <a:t>organisation</a:t>
            </a:r>
            <a:r>
              <a:rPr lang="en-US" sz="600" kern="1200" noProof="0" dirty="0">
                <a:solidFill>
                  <a:schemeClr val="bg1">
                    <a:lumMod val="65000"/>
                  </a:schemeClr>
                </a:solidFill>
                <a:latin typeface="+mn-lt"/>
                <a:ea typeface="+mn-ea"/>
                <a:cs typeface="+mn-cs"/>
              </a:rPr>
              <a:t> of independent member firms affiliated with KPMG International Limited, a private xx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75366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47634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3" name="TextBox 12">
            <a:extLst>
              <a:ext uri="{FF2B5EF4-FFF2-40B4-BE49-F238E27FC236}">
                <a16:creationId xmlns:a16="http://schemas.microsoft.com/office/drawing/2014/main" id="{CD9A00E0-4C3E-439B-83F8-17A00C5749F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9A8E3364-F2BB-4CC4-A2E1-CAEB50694A9A}"/>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179937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3" name="TextBox 12">
            <a:extLst>
              <a:ext uri="{FF2B5EF4-FFF2-40B4-BE49-F238E27FC236}">
                <a16:creationId xmlns:a16="http://schemas.microsoft.com/office/drawing/2014/main" id="{4B184749-EDA3-4D6C-9BFB-503330E0B0AB}"/>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5358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49912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21" name="TextBox 20">
            <a:extLst>
              <a:ext uri="{FF2B5EF4-FFF2-40B4-BE49-F238E27FC236}">
                <a16:creationId xmlns:a16="http://schemas.microsoft.com/office/drawing/2014/main" id="{666D64AE-F0C6-4181-83E0-90CF967C67A3}"/>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2083640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2" name="TextBox 11">
            <a:extLst>
              <a:ext uri="{FF2B5EF4-FFF2-40B4-BE49-F238E27FC236}">
                <a16:creationId xmlns:a16="http://schemas.microsoft.com/office/drawing/2014/main" id="{07F035AC-2BE7-43E8-B50B-71453D439415}"/>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2022 KPMG LLP, a xx limited liability partnership and a member firm of the KPMG global </a:t>
            </a:r>
            <a:r>
              <a:rPr lang="en-US" sz="600" kern="1200" noProof="0" dirty="0" err="1">
                <a:solidFill>
                  <a:schemeClr val="bg1"/>
                </a:solidFill>
                <a:latin typeface="+mn-lt"/>
                <a:ea typeface="+mn-ea"/>
                <a:cs typeface="+mn-cs"/>
              </a:rPr>
              <a:t>organisation</a:t>
            </a:r>
            <a:r>
              <a:rPr lang="en-US" sz="600" kern="1200" noProof="0" dirty="0">
                <a:solidFill>
                  <a:schemeClr val="bg1"/>
                </a:solidFill>
                <a:latin typeface="+mn-lt"/>
                <a:ea typeface="+mn-ea"/>
                <a:cs typeface="+mn-cs"/>
              </a:rPr>
              <a:t> of independent member firms affiliated with KPMG International Limited, a private xx company limited by guarantee. All rights reserved.</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15505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706178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8292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HEADLINES">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2747068299"/>
              </p:ext>
            </p:extLst>
          </p:nvPr>
        </p:nvGraphicFramePr>
        <p:xfrm>
          <a:off x="998399" y="1332226"/>
          <a:ext cx="10192161" cy="4242183"/>
        </p:xfrm>
        <a:graphic>
          <a:graphicData uri="http://schemas.openxmlformats.org/drawingml/2006/table">
            <a:tbl>
              <a:tblPr firstRow="1" bandRow="1">
                <a:tableStyleId>{5C22544A-7EE6-4342-B048-85BDC9FD1C3A}</a:tableStyleId>
              </a:tblPr>
              <a:tblGrid>
                <a:gridCol w="4808133">
                  <a:extLst>
                    <a:ext uri="{9D8B030D-6E8A-4147-A177-3AD203B41FA5}">
                      <a16:colId xmlns:a16="http://schemas.microsoft.com/office/drawing/2014/main" val="3484522192"/>
                    </a:ext>
                  </a:extLst>
                </a:gridCol>
                <a:gridCol w="953106">
                  <a:extLst>
                    <a:ext uri="{9D8B030D-6E8A-4147-A177-3AD203B41FA5}">
                      <a16:colId xmlns:a16="http://schemas.microsoft.com/office/drawing/2014/main" val="2898080812"/>
                    </a:ext>
                  </a:extLst>
                </a:gridCol>
                <a:gridCol w="953106">
                  <a:extLst>
                    <a:ext uri="{9D8B030D-6E8A-4147-A177-3AD203B41FA5}">
                      <a16:colId xmlns:a16="http://schemas.microsoft.com/office/drawing/2014/main" val="4060292537"/>
                    </a:ext>
                  </a:extLst>
                </a:gridCol>
                <a:gridCol w="953106">
                  <a:extLst>
                    <a:ext uri="{9D8B030D-6E8A-4147-A177-3AD203B41FA5}">
                      <a16:colId xmlns:a16="http://schemas.microsoft.com/office/drawing/2014/main" val="1277292110"/>
                    </a:ext>
                  </a:extLst>
                </a:gridCol>
                <a:gridCol w="1262355">
                  <a:extLst>
                    <a:ext uri="{9D8B030D-6E8A-4147-A177-3AD203B41FA5}">
                      <a16:colId xmlns:a16="http://schemas.microsoft.com/office/drawing/2014/main" val="4096450474"/>
                    </a:ext>
                  </a:extLst>
                </a:gridCol>
                <a:gridCol w="1262355">
                  <a:extLst>
                    <a:ext uri="{9D8B030D-6E8A-4147-A177-3AD203B41FA5}">
                      <a16:colId xmlns:a16="http://schemas.microsoft.com/office/drawing/2014/main" val="3523288619"/>
                    </a:ext>
                  </a:extLst>
                </a:gridCol>
              </a:tblGrid>
              <a:tr h="0">
                <a:tc rowSpan="2">
                  <a:txBody>
                    <a:bodyPr/>
                    <a:lstStyle/>
                    <a:p>
                      <a:r>
                        <a:rPr lang="en-US" sz="1000" dirty="0"/>
                        <a:t>Topic</a:t>
                      </a:r>
                    </a:p>
                  </a:txBody>
                  <a:tcPr marL="72000" marR="72000" marT="72000" marB="72000" anchor="ct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000"/>
                        <a:t>Implication</a:t>
                      </a:r>
                    </a:p>
                  </a:txBody>
                  <a:tcPr marL="54864" marR="54864" marT="54864" marB="54864"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gridSpan="2">
                  <a:txBody>
                    <a:bodyPr/>
                    <a:lstStyle/>
                    <a:p>
                      <a:pPr algn="ctr"/>
                      <a:r>
                        <a:rPr lang="en-US" sz="1000"/>
                        <a:t>Value impact</a:t>
                      </a:r>
                    </a:p>
                  </a:txBody>
                  <a:tcPr marL="54864" marR="54864" marT="54864" marB="54864"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599696076"/>
                  </a:ext>
                </a:extLst>
              </a:tr>
              <a:tr h="0">
                <a:tc v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000" b="1">
                          <a:solidFill>
                            <a:schemeClr val="bg1"/>
                          </a:solidFill>
                        </a:rPr>
                        <a:t>Valuation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SPA</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Other</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Impact</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Proposed adjustments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r h="1177085">
                <a:tc>
                  <a:txBody>
                    <a:bodyPr/>
                    <a:lstStyle/>
                    <a:p>
                      <a:pPr marL="640080" lvl="0">
                        <a:spcAft>
                          <a:spcPts val="900"/>
                        </a:spcAft>
                      </a:pPr>
                      <a:endParaRPr lang="en-US" sz="1000" kern="1200" dirty="0">
                        <a:solidFill>
                          <a:schemeClr val="accent2"/>
                        </a:solidFill>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1">
                        <a:solidFill>
                          <a:schemeClr val="accent6"/>
                        </a:solidFill>
                        <a:latin typeface="+mn-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716089"/>
                  </a:ext>
                </a:extLst>
              </a:tr>
              <a:tr h="1177085">
                <a:tc>
                  <a:txBody>
                    <a:bodyPr/>
                    <a:lstStyle/>
                    <a:p>
                      <a:pPr marL="640080">
                        <a:spcAft>
                          <a:spcPts val="900"/>
                        </a:spcAft>
                      </a:pPr>
                      <a:endParaRPr lang="en-US" sz="1000">
                        <a:solidFill>
                          <a:schemeClr val="tx2"/>
                        </a:solidFill>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4082819"/>
                  </a:ext>
                </a:extLst>
              </a:tr>
              <a:tr h="1177085">
                <a:tc>
                  <a:txBody>
                    <a:bodyPr/>
                    <a:lstStyle/>
                    <a:p>
                      <a:pPr marL="640080">
                        <a:spcAft>
                          <a:spcPts val="900"/>
                        </a:spcAft>
                      </a:pPr>
                      <a:endParaRPr lang="en-US" sz="1000">
                        <a:solidFill>
                          <a:schemeClr val="tx2"/>
                        </a:solidFill>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chemeClr val="accent6"/>
                        </a:solidFill>
                        <a:effectLst/>
                        <a:uLnTx/>
                        <a:uFillTx/>
                        <a:latin typeface="+mn-lt"/>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00338D"/>
                        </a:solidFill>
                        <a:effectLst/>
                        <a:uLnTx/>
                        <a:uFillTx/>
                        <a:latin typeface="Arial"/>
                        <a:ea typeface="+mn-ea"/>
                        <a:cs typeface="+mn-cs"/>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600"/>
                        </a:spcAft>
                      </a:pPr>
                      <a:endParaRPr lang="en-US" sz="1000" b="0" dirty="0">
                        <a:solidFill>
                          <a:schemeClr val="accent1"/>
                        </a:solidFill>
                        <a:latin typeface="+mj-lt"/>
                      </a:endParaRPr>
                    </a:p>
                  </a:txBody>
                  <a:tcPr marL="72000" marR="7200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6403123"/>
                  </a:ext>
                </a:extLst>
              </a:tr>
            </a:tbl>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7" name="Text Placeholder 6">
            <a:extLst>
              <a:ext uri="{FF2B5EF4-FFF2-40B4-BE49-F238E27FC236}">
                <a16:creationId xmlns:a16="http://schemas.microsoft.com/office/drawing/2014/main" id="{89ACCD68-19FB-4EAB-B33A-F30E928C6EEE}"/>
              </a:ext>
            </a:extLst>
          </p:cNvPr>
          <p:cNvSpPr>
            <a:spLocks noGrp="1"/>
          </p:cNvSpPr>
          <p:nvPr>
            <p:ph type="body" sz="quarter" idx="10" hasCustomPrompt="1"/>
          </p:nvPr>
        </p:nvSpPr>
        <p:spPr>
          <a:xfrm>
            <a:off x="8721311" y="2497122"/>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EBITDA/cash</a:t>
            </a:r>
            <a:endParaRPr lang="fi-FI" dirty="0"/>
          </a:p>
        </p:txBody>
      </p:sp>
      <p:sp>
        <p:nvSpPr>
          <p:cNvPr id="8" name="Text Placeholder 6">
            <a:extLst>
              <a:ext uri="{FF2B5EF4-FFF2-40B4-BE49-F238E27FC236}">
                <a16:creationId xmlns:a16="http://schemas.microsoft.com/office/drawing/2014/main" id="{A1B65DC5-EFFD-454B-A441-3C65BB9D1E1C}"/>
              </a:ext>
            </a:extLst>
          </p:cNvPr>
          <p:cNvSpPr>
            <a:spLocks noGrp="1"/>
          </p:cNvSpPr>
          <p:nvPr>
            <p:ph type="body" sz="quarter" idx="11" hasCustomPrompt="1"/>
          </p:nvPr>
        </p:nvSpPr>
        <p:spPr>
          <a:xfrm>
            <a:off x="8721311" y="3699207"/>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EBITDA/cash</a:t>
            </a:r>
            <a:endParaRPr lang="fi-FI"/>
          </a:p>
        </p:txBody>
      </p:sp>
      <p:sp>
        <p:nvSpPr>
          <p:cNvPr id="9" name="Text Placeholder 6">
            <a:extLst>
              <a:ext uri="{FF2B5EF4-FFF2-40B4-BE49-F238E27FC236}">
                <a16:creationId xmlns:a16="http://schemas.microsoft.com/office/drawing/2014/main" id="{3E7D4F57-0A45-4D59-B0BA-C057887627B1}"/>
              </a:ext>
            </a:extLst>
          </p:cNvPr>
          <p:cNvSpPr>
            <a:spLocks noGrp="1"/>
          </p:cNvSpPr>
          <p:nvPr>
            <p:ph type="body" sz="quarter" idx="12" hasCustomPrompt="1"/>
          </p:nvPr>
        </p:nvSpPr>
        <p:spPr>
          <a:xfrm>
            <a:off x="8721311" y="4863771"/>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EBITDA/cash</a:t>
            </a:r>
            <a:endParaRPr lang="fi-FI"/>
          </a:p>
        </p:txBody>
      </p:sp>
      <p:sp>
        <p:nvSpPr>
          <p:cNvPr id="10" name="Text Placeholder 6">
            <a:extLst>
              <a:ext uri="{FF2B5EF4-FFF2-40B4-BE49-F238E27FC236}">
                <a16:creationId xmlns:a16="http://schemas.microsoft.com/office/drawing/2014/main" id="{FF65A6F2-43C1-4C4E-8DFD-6A751704BF30}"/>
              </a:ext>
            </a:extLst>
          </p:cNvPr>
          <p:cNvSpPr>
            <a:spLocks noGrp="1"/>
          </p:cNvSpPr>
          <p:nvPr>
            <p:ph type="body" sz="quarter" idx="13" hasCustomPrompt="1"/>
          </p:nvPr>
        </p:nvSpPr>
        <p:spPr>
          <a:xfrm>
            <a:off x="9955935" y="2497122"/>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1" name="Text Placeholder 6">
            <a:extLst>
              <a:ext uri="{FF2B5EF4-FFF2-40B4-BE49-F238E27FC236}">
                <a16:creationId xmlns:a16="http://schemas.microsoft.com/office/drawing/2014/main" id="{F3083AC8-DA9F-47BF-8B60-74EB5A2AA03E}"/>
              </a:ext>
            </a:extLst>
          </p:cNvPr>
          <p:cNvSpPr>
            <a:spLocks noGrp="1"/>
          </p:cNvSpPr>
          <p:nvPr>
            <p:ph type="body" sz="quarter" idx="14" hasCustomPrompt="1"/>
          </p:nvPr>
        </p:nvSpPr>
        <p:spPr>
          <a:xfrm>
            <a:off x="9955935" y="3699207"/>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2" name="Text Placeholder 6">
            <a:extLst>
              <a:ext uri="{FF2B5EF4-FFF2-40B4-BE49-F238E27FC236}">
                <a16:creationId xmlns:a16="http://schemas.microsoft.com/office/drawing/2014/main" id="{ABDF267A-E8A4-44D2-A045-E6466541A5A1}"/>
              </a:ext>
            </a:extLst>
          </p:cNvPr>
          <p:cNvSpPr>
            <a:spLocks noGrp="1"/>
          </p:cNvSpPr>
          <p:nvPr>
            <p:ph type="body" sz="quarter" idx="15" hasCustomPrompt="1"/>
          </p:nvPr>
        </p:nvSpPr>
        <p:spPr>
          <a:xfrm>
            <a:off x="9955935" y="4863771"/>
            <a:ext cx="1176068" cy="474902"/>
          </a:xfrm>
        </p:spPr>
        <p:txBody>
          <a:bodyPr bIns="72000" anchor="ctr" anchorCtr="0"/>
          <a:lstStyle>
            <a:lvl1pPr algn="ctr">
              <a:lnSpc>
                <a:spcPct val="100000"/>
              </a:lnSpc>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995362" y="2233794"/>
            <a:ext cx="4659311" cy="267866"/>
          </a:xfrm>
        </p:spPr>
        <p:txBody>
          <a:bodyPr lIns="72000" anchor="ctr"/>
          <a:lstStyle>
            <a:lvl1pPr>
              <a:defRPr sz="1000"/>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995362" y="3411748"/>
            <a:ext cx="4659310" cy="267866"/>
          </a:xfrm>
        </p:spPr>
        <p:txBody>
          <a:bodyPr lIns="72000" anchor="ctr"/>
          <a:lstStyle>
            <a:lvl1pPr>
              <a:defRPr sz="1000"/>
            </a:lvl1pPr>
          </a:lstStyle>
          <a:p>
            <a:pPr lvl="0"/>
            <a:r>
              <a:rPr lang="en-US" dirty="0"/>
              <a:t>Heading (e.g., Quality of earnings)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995362" y="4589702"/>
            <a:ext cx="4659309" cy="267866"/>
          </a:xfrm>
        </p:spPr>
        <p:txBody>
          <a:bodyPr lIns="72000" anchor="ctr"/>
          <a:lstStyle>
            <a:lvl1pPr>
              <a:defRPr sz="1000"/>
            </a:lvl1pPr>
          </a:lstStyle>
          <a:p>
            <a:pPr lvl="0"/>
            <a:r>
              <a:rPr lang="en-US"/>
              <a:t>Heading (e.g., Quality of earnings)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995362" y="3746410"/>
            <a:ext cx="4659312" cy="665420"/>
          </a:xfrm>
        </p:spPr>
        <p:txBody>
          <a:bodyPr lIns="72000"/>
          <a:lstStyle>
            <a:lvl2pPr>
              <a:defRPr sz="1000" b="0">
                <a:solidFill>
                  <a:schemeClr val="tx1"/>
                </a:solidFill>
              </a:defRPr>
            </a:lvl2pPr>
            <a:lvl3pPr marL="0" indent="0">
              <a:buNone/>
              <a:defRPr sz="1000"/>
            </a:lvl3pPr>
            <a:lvl4pPr>
              <a:defRPr sz="1000"/>
            </a:lvl4pPr>
            <a:lvl5pPr>
              <a:defRPr sz="1000"/>
            </a:lvl5pPr>
          </a:lstStyle>
          <a:p>
            <a:pPr lvl="1"/>
            <a:r>
              <a:rPr lang="en-US"/>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995362" y="4924364"/>
            <a:ext cx="4659312" cy="665420"/>
          </a:xfrm>
        </p:spPr>
        <p:txBody>
          <a:bodyPr lIns="72000"/>
          <a:lstStyle>
            <a:lvl2pPr>
              <a:defRPr sz="1000" b="0">
                <a:solidFill>
                  <a:schemeClr val="tx1"/>
                </a:solidFill>
              </a:defRPr>
            </a:lvl2pPr>
            <a:lvl3pPr marL="0" indent="0">
              <a:buNone/>
              <a:defRPr sz="1000"/>
            </a:lvl3pPr>
            <a:lvl4pPr>
              <a:defRPr sz="1000"/>
            </a:lvl4pPr>
            <a:lvl5pPr>
              <a:defRPr sz="1000"/>
            </a:lvl5pPr>
          </a:lstStyle>
          <a:p>
            <a:pPr lvl="1"/>
            <a:r>
              <a:rPr lang="en-US"/>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995362" y="2567974"/>
            <a:ext cx="4659312" cy="665420"/>
          </a:xfrm>
        </p:spPr>
        <p:txBody>
          <a:bodyPr lIns="72000"/>
          <a:lstStyle>
            <a:lvl2pPr>
              <a:defRPr lang="en-US" sz="1000" kern="1200" dirty="0" smtClean="0">
                <a:solidFill>
                  <a:schemeClr val="tx1"/>
                </a:solidFill>
                <a:latin typeface="+mn-lt"/>
                <a:ea typeface="+mn-ea"/>
                <a:cs typeface="+mn-cs"/>
              </a:defRPr>
            </a:lvl2pPr>
            <a:lvl3pPr marL="0" indent="0">
              <a:buNone/>
              <a:defRPr sz="1000"/>
            </a:lvl3pPr>
            <a:lvl4pPr>
              <a:defRPr sz="1000"/>
            </a:lvl4pPr>
            <a:lvl5pPr>
              <a:defRPr sz="1000"/>
            </a:lvl5pPr>
          </a:lstStyle>
          <a:p>
            <a:pPr marL="0" lvl="1" indent="0" algn="l" defTabSz="914400" rtl="0" eaLnBrk="1" latinLnBrk="0" hangingPunct="1">
              <a:lnSpc>
                <a:spcPct val="100000"/>
              </a:lnSpc>
              <a:spcBef>
                <a:spcPts val="0"/>
              </a:spcBef>
              <a:spcAft>
                <a:spcPts val="600"/>
              </a:spcAft>
              <a:buFontTx/>
              <a:buNone/>
            </a:pPr>
            <a:r>
              <a:rPr lang="en-US" dirty="0"/>
              <a:t>Summary/key message of the topic</a:t>
            </a:r>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6059718"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7021561"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6059718"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7021561"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6059718"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7021561"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7970230" y="249712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7970230" y="3699207"/>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7970230" y="486377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Tree>
    <p:extLst>
      <p:ext uri="{BB962C8B-B14F-4D97-AF65-F5344CB8AC3E}">
        <p14:creationId xmlns:p14="http://schemas.microsoft.com/office/powerpoint/2010/main" val="34601073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9" name="TextBox 18">
            <a:extLst>
              <a:ext uri="{FF2B5EF4-FFF2-40B4-BE49-F238E27FC236}">
                <a16:creationId xmlns:a16="http://schemas.microsoft.com/office/drawing/2014/main" id="{5F7B43C9-6BC3-4452-B3FB-8B4984BD9C3A}"/>
              </a:ext>
            </a:extLst>
          </p:cNvPr>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18" name="Text Placeholder 2">
            <a:extLst>
              <a:ext uri="{FF2B5EF4-FFF2-40B4-BE49-F238E27FC236}">
                <a16:creationId xmlns:a16="http://schemas.microsoft.com/office/drawing/2014/main" id="{9912FAA0-7774-43FD-AD5B-A78801A81347}"/>
              </a:ext>
            </a:extLst>
          </p:cNvPr>
          <p:cNvSpPr>
            <a:spLocks noGrp="1"/>
          </p:cNvSpPr>
          <p:nvPr>
            <p:ph type="body" sz="quarter" idx="11"/>
          </p:nvPr>
        </p:nvSpPr>
        <p:spPr>
          <a:xfrm>
            <a:off x="989012" y="5370529"/>
            <a:ext cx="6660000" cy="138499"/>
          </a:xfrm>
        </p:spPr>
        <p:txBody>
          <a:bodyPr anchor="b">
            <a:spAutoFit/>
          </a:bodyPr>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p:txBody>
      </p:sp>
      <p:grpSp>
        <p:nvGrpSpPr>
          <p:cNvPr id="20" name="Group 19">
            <a:extLst>
              <a:ext uri="{FF2B5EF4-FFF2-40B4-BE49-F238E27FC236}">
                <a16:creationId xmlns:a16="http://schemas.microsoft.com/office/drawing/2014/main" id="{B75D6712-C46E-4B3F-9C1A-1E3B6C20BE0C}"/>
              </a:ext>
            </a:extLst>
          </p:cNvPr>
          <p:cNvGrpSpPr/>
          <p:nvPr userDrawn="1"/>
        </p:nvGrpSpPr>
        <p:grpSpPr>
          <a:xfrm>
            <a:off x="998476" y="4501406"/>
            <a:ext cx="2023200" cy="367957"/>
            <a:chOff x="998476" y="4240429"/>
            <a:chExt cx="2023200" cy="367957"/>
          </a:xfrm>
        </p:grpSpPr>
        <p:sp>
          <p:nvSpPr>
            <p:cNvPr id="21" name="Rectangle 20">
              <a:extLst>
                <a:ext uri="{FF2B5EF4-FFF2-40B4-BE49-F238E27FC236}">
                  <a16:creationId xmlns:a16="http://schemas.microsoft.com/office/drawing/2014/main" id="{3FD414CE-5B6D-4579-937D-40296B6F9C4A}"/>
                </a:ext>
              </a:extLst>
            </p:cNvPr>
            <p:cNvSpPr/>
            <p:nvPr userDrawn="1"/>
          </p:nvSpPr>
          <p:spPr>
            <a:xfrm>
              <a:off x="1441950" y="42774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2" name="Rectangle 21">
              <a:extLst>
                <a:ext uri="{FF2B5EF4-FFF2-40B4-BE49-F238E27FC236}">
                  <a16:creationId xmlns:a16="http://schemas.microsoft.com/office/drawing/2014/main" id="{58FC8D41-E780-4BCE-86DA-DB5275426239}"/>
                </a:ext>
              </a:extLst>
            </p:cNvPr>
            <p:cNvSpPr/>
            <p:nvPr userDrawn="1"/>
          </p:nvSpPr>
          <p:spPr>
            <a:xfrm>
              <a:off x="1877844" y="42774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3" name="Rectangle 22">
              <a:extLst>
                <a:ext uri="{FF2B5EF4-FFF2-40B4-BE49-F238E27FC236}">
                  <a16:creationId xmlns:a16="http://schemas.microsoft.com/office/drawing/2014/main" id="{AA16E231-1BC9-439A-B23B-363759FB5A2A}"/>
                </a:ext>
              </a:extLst>
            </p:cNvPr>
            <p:cNvSpPr/>
            <p:nvPr userDrawn="1"/>
          </p:nvSpPr>
          <p:spPr>
            <a:xfrm>
              <a:off x="2689276" y="42830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4" name="Rectangle 23">
              <a:extLst>
                <a:ext uri="{FF2B5EF4-FFF2-40B4-BE49-F238E27FC236}">
                  <a16:creationId xmlns:a16="http://schemas.microsoft.com/office/drawing/2014/main" id="{D958F02F-E728-4203-850B-CC960EDC8A35}"/>
                </a:ext>
              </a:extLst>
            </p:cNvPr>
            <p:cNvSpPr/>
            <p:nvPr userDrawn="1"/>
          </p:nvSpPr>
          <p:spPr>
            <a:xfrm>
              <a:off x="1025526" y="42830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pic>
          <p:nvPicPr>
            <p:cNvPr id="25" name="Picture 24">
              <a:extLst>
                <a:ext uri="{FF2B5EF4-FFF2-40B4-BE49-F238E27FC236}">
                  <a16:creationId xmlns:a16="http://schemas.microsoft.com/office/drawing/2014/main" id="{EE706006-FE55-4C9E-884B-F4C95D57E0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22950" y="4240429"/>
              <a:ext cx="360000" cy="360000"/>
            </a:xfrm>
            <a:prstGeom prst="rect">
              <a:avLst/>
            </a:prstGeom>
          </p:spPr>
        </p:pic>
        <p:pic>
          <p:nvPicPr>
            <p:cNvPr id="26" name="Picture 25" descr="Icon&#10;&#10;Description automatically generated">
              <a:extLst>
                <a:ext uri="{FF2B5EF4-FFF2-40B4-BE49-F238E27FC236}">
                  <a16:creationId xmlns:a16="http://schemas.microsoft.com/office/drawing/2014/main" id="{BAD7D92E-3F0D-4559-A017-29057205ED4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242336" y="4240429"/>
              <a:ext cx="359648" cy="360000"/>
            </a:xfrm>
            <a:prstGeom prst="rect">
              <a:avLst/>
            </a:prstGeom>
          </p:spPr>
        </p:pic>
        <p:pic>
          <p:nvPicPr>
            <p:cNvPr id="27" name="Picture 26" descr="Logo&#10;&#10;Description automatically generated">
              <a:extLst>
                <a:ext uri="{FF2B5EF4-FFF2-40B4-BE49-F238E27FC236}">
                  <a16:creationId xmlns:a16="http://schemas.microsoft.com/office/drawing/2014/main" id="{0674FCA0-BF93-4E70-85E5-623D244AC3C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14350" y="4248386"/>
              <a:ext cx="360000" cy="360000"/>
            </a:xfrm>
            <a:prstGeom prst="rect">
              <a:avLst/>
            </a:prstGeom>
          </p:spPr>
        </p:pic>
        <p:pic>
          <p:nvPicPr>
            <p:cNvPr id="28" name="Picture 27" descr="Logo&#10;&#10;Description automatically generated">
              <a:extLst>
                <a:ext uri="{FF2B5EF4-FFF2-40B4-BE49-F238E27FC236}">
                  <a16:creationId xmlns:a16="http://schemas.microsoft.com/office/drawing/2014/main" id="{0E03F6AD-EF38-48F6-AC73-E59C2072FD1B}"/>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98476" y="4243175"/>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66E4B78D-D846-4BBE-A2D0-6D95F69D26A7}"/>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661676" y="4240429"/>
              <a:ext cx="360000" cy="360000"/>
            </a:xfrm>
            <a:prstGeom prst="rect">
              <a:avLst/>
            </a:prstGeom>
          </p:spPr>
        </p:pic>
      </p:grpSp>
    </p:spTree>
    <p:extLst>
      <p:ext uri="{BB962C8B-B14F-4D97-AF65-F5344CB8AC3E}">
        <p14:creationId xmlns:p14="http://schemas.microsoft.com/office/powerpoint/2010/main" val="41571773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1278481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8">
            <a:extLst>
              <a:ext uri="{FF2B5EF4-FFF2-40B4-BE49-F238E27FC236}">
                <a16:creationId xmlns:a16="http://schemas.microsoft.com/office/drawing/2014/main" id="{C6CAF37B-D8C8-48E4-A64E-E50EEA177A38}"/>
              </a:ext>
            </a:extLst>
          </p:cNvPr>
          <p:cNvSpPr>
            <a:spLocks noGrp="1"/>
          </p:cNvSpPr>
          <p:nvPr>
            <p:ph type="body" sz="quarter" idx="13" hasCustomPrompt="1"/>
          </p:nvPr>
        </p:nvSpPr>
        <p:spPr>
          <a:xfrm>
            <a:off x="8556861" y="1116048"/>
            <a:ext cx="2652442" cy="310198"/>
          </a:xfrm>
        </p:spPr>
        <p:txBody>
          <a:bodyPr/>
          <a:lstStyle>
            <a:lvl1pPr algn="r">
              <a:defRPr/>
            </a:lvl1pPr>
          </a:lstStyle>
          <a:p>
            <a:pPr>
              <a:spcAft>
                <a:spcPts val="300"/>
              </a:spcAft>
            </a:pPr>
            <a:r>
              <a:rPr lang="en-US" sz="900" b="0" spc="-20">
                <a:solidFill>
                  <a:schemeClr val="tx2"/>
                </a:solidFill>
              </a:rPr>
              <a:t>[</a:t>
            </a:r>
            <a:r>
              <a:rPr lang="en-US" sz="900" b="0" spc="-20">
                <a:solidFill>
                  <a:srgbClr val="FD349C"/>
                </a:solidFill>
              </a:rPr>
              <a:t>date</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404B5F02-6946-4796-B93B-3238A3C22A56}"/>
              </a:ext>
            </a:extLst>
          </p:cNvPr>
          <p:cNvSpPr/>
          <p:nvPr userDrawn="1"/>
        </p:nvSpPr>
        <p:spPr>
          <a:xfrm>
            <a:off x="1810753" y="6271101"/>
            <a:ext cx="5877426" cy="310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15" name="Text Placeholder 8">
            <a:extLst>
              <a:ext uri="{FF2B5EF4-FFF2-40B4-BE49-F238E27FC236}">
                <a16:creationId xmlns:a16="http://schemas.microsoft.com/office/drawing/2014/main" id="{BAAD9B2C-D98A-43EC-8DB5-925EAC45CB70}"/>
              </a:ext>
            </a:extLst>
          </p:cNvPr>
          <p:cNvSpPr>
            <a:spLocks noGrp="1"/>
          </p:cNvSpPr>
          <p:nvPr>
            <p:ph type="body" sz="quarter" idx="12" hasCustomPrompt="1"/>
          </p:nvPr>
        </p:nvSpPr>
        <p:spPr>
          <a:xfrm>
            <a:off x="1009216" y="1332698"/>
            <a:ext cx="4961984" cy="750665"/>
          </a:xfrm>
        </p:spPr>
        <p:txBody>
          <a:bodyPr/>
          <a:lstStyle>
            <a:lvl1pPr>
              <a:defRPr baseline="0"/>
            </a:lvl1pPr>
          </a:lstStyle>
          <a:p>
            <a:pPr>
              <a:spcAft>
                <a:spcPts val="300"/>
              </a:spcAft>
            </a:pPr>
            <a:r>
              <a:rPr lang="en-US" sz="900" b="0" spc="-20">
                <a:solidFill>
                  <a:schemeClr val="tx2"/>
                </a:solidFill>
              </a:rPr>
              <a:t>[</a:t>
            </a:r>
            <a:r>
              <a:rPr lang="en-US" sz="900" b="0" spc="-20">
                <a:solidFill>
                  <a:srgbClr val="FD349C"/>
                </a:solidFill>
              </a:rPr>
              <a:t>Company name</a:t>
            </a:r>
            <a:r>
              <a:rPr lang="en-US" sz="900" b="0" spc="-20">
                <a:solidFill>
                  <a:schemeClr val="tx2"/>
                </a:solidFill>
              </a:rPr>
              <a:t>]</a:t>
            </a:r>
          </a:p>
          <a:p>
            <a:pPr>
              <a:spcAft>
                <a:spcPts val="300"/>
              </a:spcAft>
            </a:pPr>
            <a:r>
              <a:rPr lang="en-US" sz="900" b="0" spc="-20" err="1">
                <a:solidFill>
                  <a:schemeClr val="tx2"/>
                </a:solidFill>
              </a:rPr>
              <a:t>Att</a:t>
            </a:r>
            <a:r>
              <a:rPr lang="en-US" sz="900" b="0" spc="-20">
                <a:solidFill>
                  <a:schemeClr val="tx2"/>
                </a:solidFill>
              </a:rPr>
              <a:t>: [</a:t>
            </a:r>
            <a:r>
              <a:rPr lang="en-US" sz="900" b="0" spc="-20">
                <a:solidFill>
                  <a:srgbClr val="FD349C"/>
                </a:solidFill>
              </a:rPr>
              <a:t>client name</a:t>
            </a:r>
            <a:r>
              <a:rPr lang="en-US" sz="900" b="0" spc="-20">
                <a:solidFill>
                  <a:schemeClr val="tx2"/>
                </a:solidFill>
              </a:rPr>
              <a:t>]</a:t>
            </a:r>
          </a:p>
          <a:p>
            <a:pPr>
              <a:spcAft>
                <a:spcPts val="300"/>
              </a:spcAft>
            </a:pPr>
            <a:r>
              <a:rPr lang="en-US" sz="900" b="0" spc="-20">
                <a:solidFill>
                  <a:schemeClr val="tx2"/>
                </a:solidFill>
              </a:rPr>
              <a:t>[</a:t>
            </a:r>
            <a:r>
              <a:rPr lang="en-US" sz="900" b="0" spc="-20">
                <a:solidFill>
                  <a:srgbClr val="FD349C"/>
                </a:solidFill>
              </a:rPr>
              <a:t>Address line 1</a:t>
            </a:r>
            <a:r>
              <a:rPr lang="en-US" sz="900" b="0" spc="-20">
                <a:solidFill>
                  <a:schemeClr val="tx2"/>
                </a:solidFill>
              </a:rPr>
              <a:t>]</a:t>
            </a:r>
          </a:p>
          <a:p>
            <a:pPr>
              <a:spcAft>
                <a:spcPts val="300"/>
              </a:spcAft>
            </a:pPr>
            <a:r>
              <a:rPr lang="en-US" sz="900" b="0" spc="-20">
                <a:solidFill>
                  <a:schemeClr val="tx2"/>
                </a:solidFill>
              </a:rPr>
              <a:t>[</a:t>
            </a:r>
            <a:r>
              <a:rPr lang="en-US" sz="900" b="0" spc="-20">
                <a:solidFill>
                  <a:srgbClr val="FD349C"/>
                </a:solidFill>
              </a:rPr>
              <a:t>Address line 2</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7BBB9F2A-97C8-4DBE-BEC7-A74C9B7A7FDA}"/>
              </a:ext>
            </a:extLst>
          </p:cNvPr>
          <p:cNvSpPr>
            <a:spLocks noGrp="1"/>
          </p:cNvSpPr>
          <p:nvPr>
            <p:ph type="body" sz="quarter" idx="10"/>
          </p:nvPr>
        </p:nvSpPr>
        <p:spPr>
          <a:xfrm>
            <a:off x="1003200" y="2345461"/>
            <a:ext cx="4968000" cy="3071557"/>
          </a:xfrm>
        </p:spPr>
        <p:txBody>
          <a:bodyPr/>
          <a:lstStyle>
            <a:lvl1pPr>
              <a:defRPr baseline="0">
                <a:solidFill>
                  <a:schemeClr val="tx1"/>
                </a:solidFill>
              </a:defRPr>
            </a:lvl1pPr>
          </a:lstStyle>
          <a:p>
            <a:pPr lvl="0">
              <a:spcAft>
                <a:spcPts val="300"/>
              </a:spcAft>
            </a:pPr>
            <a:r>
              <a:rPr lang="en-US" sz="900" b="0" spc="-20"/>
              <a:t>Click to edit Master text styles</a:t>
            </a:r>
          </a:p>
        </p:txBody>
      </p:sp>
      <p:sp>
        <p:nvSpPr>
          <p:cNvPr id="12" name="Text Box 32">
            <a:extLst>
              <a:ext uri="{FF2B5EF4-FFF2-40B4-BE49-F238E27FC236}">
                <a16:creationId xmlns:a16="http://schemas.microsoft.com/office/drawing/2014/main" id="{6BD707DD-2562-4C6C-8676-C469CD2B6D79}"/>
              </a:ext>
            </a:extLst>
          </p:cNvPr>
          <p:cNvSpPr txBox="1">
            <a:spLocks noChangeArrowheads="1"/>
          </p:cNvSpPr>
          <p:nvPr userDrawn="1"/>
        </p:nvSpPr>
        <p:spPr bwMode="auto">
          <a:xfrm>
            <a:off x="1012563" y="431800"/>
            <a:ext cx="3234584" cy="692497"/>
          </a:xfrm>
          <a:prstGeom prst="rect">
            <a:avLst/>
          </a:prstGeom>
          <a:noFill/>
          <a:ln w="6350">
            <a:noFill/>
            <a:miter lim="800000"/>
            <a:headEnd/>
            <a:tailEnd/>
          </a:ln>
          <a:effectLst/>
        </p:spPr>
        <p:txBody>
          <a:bodyPr wrap="square" lIns="0" tIns="0" rIns="0" bIns="0">
            <a:spAutoFit/>
          </a:bodyPr>
          <a:lstStyle/>
          <a:p>
            <a:pPr hangingPunct="0"/>
            <a:r>
              <a:rPr lang="en-US" sz="900" b="1" dirty="0">
                <a:solidFill>
                  <a:schemeClr val="tx2"/>
                </a:solidFill>
                <a:latin typeface="Arial" panose="020B0604020202020204" pitchFamily="34" charset="0"/>
                <a:cs typeface="Arial" panose="020B0604020202020204" pitchFamily="34" charset="0"/>
              </a:rPr>
              <a:t>KPMG LLP</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rgbClr val="FD349C"/>
                </a:solidFill>
              </a:rPr>
              <a:t>Address line 1</a:t>
            </a:r>
            <a:r>
              <a:rPr lang="en-US" sz="900"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rgbClr val="FD349C"/>
                </a:solidFill>
              </a:rPr>
              <a:t>Address line 2</a:t>
            </a:r>
            <a:r>
              <a:rPr lang="en-US" sz="900" dirty="0">
                <a:solidFill>
                  <a:schemeClr val="tx2"/>
                </a:solidFill>
                <a:latin typeface="Arial" panose="020B0604020202020204" pitchFamily="34" charset="0"/>
                <a:cs typeface="Arial" panose="020B0604020202020204" pitchFamily="34" charset="0"/>
              </a:rPr>
              <a:t>]</a:t>
            </a:r>
          </a:p>
          <a:p>
            <a:pPr hangingPunct="0"/>
            <a:endParaRPr lang="en-US" sz="900" dirty="0">
              <a:solidFill>
                <a:schemeClr val="tx2"/>
              </a:solidFill>
              <a:latin typeface="Arial" panose="020B0604020202020204" pitchFamily="34" charset="0"/>
              <a:cs typeface="Arial" panose="020B0604020202020204" pitchFamily="34" charset="0"/>
            </a:endParaRPr>
          </a:p>
          <a:p>
            <a:pPr>
              <a:spcAft>
                <a:spcPts val="300"/>
              </a:spcAft>
            </a:pPr>
            <a:r>
              <a:rPr lang="en-US" sz="900" b="1" spc="-20" dirty="0">
                <a:solidFill>
                  <a:schemeClr val="tx2"/>
                </a:solidFill>
              </a:rPr>
              <a:t>Private and confidential</a:t>
            </a:r>
            <a:endParaRPr lang="en-US" sz="900" dirty="0">
              <a:solidFill>
                <a:schemeClr val="tx2"/>
              </a:solidFill>
              <a:latin typeface="Arial" panose="020B0604020202020204" pitchFamily="34" charset="0"/>
              <a:cs typeface="Arial" panose="020B0604020202020204" pitchFamily="34" charset="0"/>
            </a:endParaRPr>
          </a:p>
        </p:txBody>
      </p:sp>
      <p:sp>
        <p:nvSpPr>
          <p:cNvPr id="13" name="Text Box 33">
            <a:extLst>
              <a:ext uri="{FF2B5EF4-FFF2-40B4-BE49-F238E27FC236}">
                <a16:creationId xmlns:a16="http://schemas.microsoft.com/office/drawing/2014/main" id="{D14C2C1B-677D-4680-9E14-12E705B9BE1A}"/>
              </a:ext>
            </a:extLst>
          </p:cNvPr>
          <p:cNvSpPr txBox="1">
            <a:spLocks noChangeArrowheads="1"/>
          </p:cNvSpPr>
          <p:nvPr userDrawn="1"/>
        </p:nvSpPr>
        <p:spPr bwMode="auto">
          <a:xfrm>
            <a:off x="8760296" y="431800"/>
            <a:ext cx="2449007" cy="415498"/>
          </a:xfrm>
          <a:prstGeom prst="rect">
            <a:avLst/>
          </a:prstGeom>
          <a:noFill/>
          <a:ln w="6350">
            <a:noFill/>
            <a:miter lim="800000"/>
            <a:headEnd/>
            <a:tailEnd/>
          </a:ln>
          <a:effectLst/>
        </p:spPr>
        <p:txBody>
          <a:bodyPr wrap="square" lIns="0" tIns="0" rIns="0" bIns="0">
            <a:spAutoFit/>
          </a:bodyPr>
          <a:lstStyle/>
          <a:p>
            <a:pPr algn="r" hangingPunct="0"/>
            <a:r>
              <a:rPr lang="en-US" sz="900" dirty="0">
                <a:solidFill>
                  <a:schemeClr val="tx2"/>
                </a:solidFill>
                <a:latin typeface="Arial" panose="020B0604020202020204" pitchFamily="34" charset="0"/>
                <a:cs typeface="Arial" panose="020B0604020202020204" pitchFamily="34" charset="0"/>
              </a:rPr>
              <a:t>Visiting address: [</a:t>
            </a:r>
            <a:r>
              <a:rPr lang="en-US" sz="900" spc="-20" dirty="0">
                <a:solidFill>
                  <a:srgbClr val="FD349C"/>
                </a:solidFill>
              </a:rPr>
              <a:t>Address line 1</a:t>
            </a:r>
            <a:r>
              <a:rPr lang="en-US" sz="900" dirty="0">
                <a:solidFill>
                  <a:schemeClr val="tx2"/>
                </a:solidFill>
                <a:latin typeface="Arial" panose="020B0604020202020204" pitchFamily="34" charset="0"/>
                <a:cs typeface="Arial" panose="020B0604020202020204" pitchFamily="34" charset="0"/>
              </a:rPr>
              <a:t>]</a:t>
            </a:r>
          </a:p>
          <a:p>
            <a:pPr algn="r" hangingPunct="0"/>
            <a:r>
              <a:rPr lang="en-US" sz="900" dirty="0">
                <a:solidFill>
                  <a:schemeClr val="tx2"/>
                </a:solidFill>
                <a:latin typeface="Arial" panose="020B0604020202020204" pitchFamily="34" charset="0"/>
                <a:cs typeface="Arial" panose="020B0604020202020204" pitchFamily="34" charset="0"/>
              </a:rPr>
              <a:t>Tel: +[</a:t>
            </a:r>
            <a:r>
              <a:rPr lang="en-US" sz="900" dirty="0">
                <a:solidFill>
                  <a:schemeClr val="accent6"/>
                </a:solidFill>
                <a:latin typeface="Arial" panose="020B0604020202020204" pitchFamily="34" charset="0"/>
                <a:cs typeface="Arial" panose="020B0604020202020204" pitchFamily="34" charset="0"/>
              </a:rPr>
              <a:t>number</a:t>
            </a:r>
            <a:r>
              <a:rPr lang="en-US" sz="900" dirty="0">
                <a:solidFill>
                  <a:schemeClr val="tx2"/>
                </a:solidFill>
                <a:latin typeface="Arial" panose="020B0604020202020204" pitchFamily="34" charset="0"/>
                <a:cs typeface="Arial" panose="020B0604020202020204" pitchFamily="34" charset="0"/>
              </a:rPr>
              <a:t>]</a:t>
            </a:r>
          </a:p>
          <a:p>
            <a:pPr algn="r" hangingPunct="0"/>
            <a:r>
              <a:rPr lang="en-US" sz="900" dirty="0">
                <a:solidFill>
                  <a:schemeClr val="tx2"/>
                </a:solidFill>
                <a:latin typeface="Arial" panose="020B0604020202020204" pitchFamily="34" charset="0"/>
                <a:cs typeface="Arial" panose="020B0604020202020204" pitchFamily="34" charset="0"/>
              </a:rPr>
              <a:t>www.kpmg.co.xx</a:t>
            </a:r>
          </a:p>
        </p:txBody>
      </p:sp>
      <p:sp>
        <p:nvSpPr>
          <p:cNvPr id="14" name="Text Placeholder 8">
            <a:extLst>
              <a:ext uri="{FF2B5EF4-FFF2-40B4-BE49-F238E27FC236}">
                <a16:creationId xmlns:a16="http://schemas.microsoft.com/office/drawing/2014/main" id="{78BF920B-FA8C-4998-B2E1-FB28E5B5DBDA}"/>
              </a:ext>
            </a:extLst>
          </p:cNvPr>
          <p:cNvSpPr>
            <a:spLocks noGrp="1"/>
          </p:cNvSpPr>
          <p:nvPr>
            <p:ph type="body" sz="quarter" idx="11"/>
          </p:nvPr>
        </p:nvSpPr>
        <p:spPr>
          <a:xfrm>
            <a:off x="6220800" y="2345461"/>
            <a:ext cx="4968000" cy="3071557"/>
          </a:xfrm>
        </p:spPr>
        <p:txBody>
          <a:bodyPr/>
          <a:lstStyle>
            <a:lvl1pPr>
              <a:defRPr>
                <a:solidFill>
                  <a:schemeClr val="tx1"/>
                </a:solidFill>
              </a:defRPr>
            </a:lvl1pPr>
          </a:lstStyle>
          <a:p>
            <a:pPr lvl="0">
              <a:spcAft>
                <a:spcPts val="300"/>
              </a:spcAft>
            </a:pPr>
            <a:r>
              <a:rPr lang="en-US" sz="900" b="0" spc="-20"/>
              <a:t>Click to edit Master text styles</a:t>
            </a:r>
          </a:p>
        </p:txBody>
      </p:sp>
      <p:sp>
        <p:nvSpPr>
          <p:cNvPr id="16" name="Rectangle 6">
            <a:extLst>
              <a:ext uri="{FF2B5EF4-FFF2-40B4-BE49-F238E27FC236}">
                <a16:creationId xmlns:a16="http://schemas.microsoft.com/office/drawing/2014/main" id="{A7105EC9-D813-45A3-9963-6B64FECDE587}"/>
              </a:ext>
            </a:extLst>
          </p:cNvPr>
          <p:cNvSpPr>
            <a:spLocks noChangeArrowheads="1"/>
          </p:cNvSpPr>
          <p:nvPr userDrawn="1"/>
        </p:nvSpPr>
        <p:spPr bwMode="gray">
          <a:xfrm>
            <a:off x="1887216" y="6271101"/>
            <a:ext cx="4083984" cy="310198"/>
          </a:xfrm>
          <a:prstGeom prst="rect">
            <a:avLst/>
          </a:prstGeom>
          <a:noFill/>
          <a:ln w="6350">
            <a:noFill/>
            <a:miter lim="800000"/>
            <a:headEnd/>
            <a:tailEnd/>
          </a:ln>
          <a:effectLst/>
        </p:spPr>
        <p:txBody>
          <a:bodyPr lIns="0" tIns="0" rIns="0" bIns="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2022 Copyright owned by one or more of the KPMG International entities. KPMG International entities provide no services to clients.  All rights reserved.</a:t>
            </a:r>
          </a:p>
        </p:txBody>
      </p:sp>
      <p:sp>
        <p:nvSpPr>
          <p:cNvPr id="17" name="Rectangle 7">
            <a:extLst>
              <a:ext uri="{FF2B5EF4-FFF2-40B4-BE49-F238E27FC236}">
                <a16:creationId xmlns:a16="http://schemas.microsoft.com/office/drawing/2014/main" id="{7A9A45CD-31A0-497E-98CD-08612E57280A}"/>
              </a:ext>
            </a:extLst>
          </p:cNvPr>
          <p:cNvSpPr>
            <a:spLocks noChangeArrowheads="1"/>
          </p:cNvSpPr>
          <p:nvPr userDrawn="1"/>
        </p:nvSpPr>
        <p:spPr bwMode="gray">
          <a:xfrm>
            <a:off x="6220800" y="6271101"/>
            <a:ext cx="1252610" cy="310198"/>
          </a:xfrm>
          <a:prstGeom prst="rect">
            <a:avLst/>
          </a:prstGeom>
          <a:noFill/>
          <a:ln w="6350">
            <a:noFill/>
            <a:miter lim="800000"/>
            <a:headEnd/>
            <a:tailEnd/>
          </a:ln>
          <a:effectLst/>
        </p:spPr>
        <p:txBody>
          <a:bodyPr lIns="0" tIns="0" rIns="0" bIns="0" anchor="t" anchorCtr="0"/>
          <a:lstStyle/>
          <a:p>
            <a:r>
              <a:rPr lang="en-US" sz="600" dirty="0">
                <a:solidFill>
                  <a:schemeClr val="bg1">
                    <a:lumMod val="65000"/>
                  </a:schemeClr>
                </a:solidFill>
                <a:latin typeface="+mn-lt"/>
                <a:cs typeface="Arial" panose="020B0604020202020204" pitchFamily="34" charset="0"/>
              </a:rPr>
              <a:t>Business ID xx</a:t>
            </a:r>
          </a:p>
          <a:p>
            <a:r>
              <a:rPr lang="en-US" sz="600" dirty="0">
                <a:solidFill>
                  <a:schemeClr val="bg1">
                    <a:lumMod val="65000"/>
                  </a:schemeClr>
                </a:solidFill>
                <a:latin typeface="+mn-lt"/>
                <a:cs typeface="Arial" panose="020B0604020202020204" pitchFamily="34" charset="0"/>
              </a:rPr>
              <a:t>Registered in xx</a:t>
            </a:r>
          </a:p>
          <a:p>
            <a:r>
              <a:rPr lang="en-US" sz="600" dirty="0">
                <a:solidFill>
                  <a:schemeClr val="bg1">
                    <a:lumMod val="65000"/>
                  </a:schemeClr>
                </a:solidFill>
                <a:latin typeface="+mn-lt"/>
                <a:cs typeface="Arial" panose="020B0604020202020204" pitchFamily="34" charset="0"/>
              </a:rPr>
              <a:t>xx </a:t>
            </a:r>
            <a:r>
              <a:rPr lang="en-US" sz="600" dirty="0" err="1">
                <a:solidFill>
                  <a:schemeClr val="bg1">
                    <a:lumMod val="65000"/>
                  </a:schemeClr>
                </a:solidFill>
                <a:latin typeface="+mn-lt"/>
                <a:cs typeface="Arial" panose="020B0604020202020204" pitchFamily="34" charset="0"/>
              </a:rPr>
              <a:t>xx</a:t>
            </a:r>
            <a:endParaRPr lang="en-US" sz="600" dirty="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5397193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dirty="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dirty="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a:solidFill>
                  <a:schemeClr val="bg1"/>
                </a:solidFill>
                <a:latin typeface="+mn-lt"/>
              </a:rPr>
              <a:t>Slide Title (DO NOT DELETE)</a:t>
            </a:r>
            <a:endParaRPr lang="fr-FR" sz="1400" i="1">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dirty="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dirty="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dirty="0">
                <a:solidFill>
                  <a:schemeClr val="tx2"/>
                </a:solidFill>
                <a:latin typeface="+mj-lt"/>
                <a:cs typeface="Arial" panose="020B0604020202020204" pitchFamily="34" charset="0"/>
              </a:rPr>
              <a:t>Section Title (DO NOT DELETE)</a:t>
            </a:r>
          </a:p>
        </p:txBody>
      </p:sp>
      <p:sp>
        <p:nvSpPr>
          <p:cNvPr id="15" name="Rectangle 14">
            <a:extLst>
              <a:ext uri="{FF2B5EF4-FFF2-40B4-BE49-F238E27FC236}">
                <a16:creationId xmlns:a16="http://schemas.microsoft.com/office/drawing/2014/main" id="{02CC41A5-C973-4F01-88A1-C1FC4BB20F07}"/>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672728046"/>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ZoneTexte 25">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2563791"/>
            <a:ext cx="13104000" cy="1873094"/>
          </a:xfrm>
          <a:prstGeom prst="rect">
            <a:avLst/>
          </a:prstGeom>
          <a:noFill/>
        </p:spPr>
        <p:txBody>
          <a:bodyPr vert="horz" wrap="square" lIns="0" tIns="1008000" rIns="0" bIns="0" rtlCol="0">
            <a:noAutofit/>
          </a:bodyPr>
          <a:lstStyle/>
          <a:p>
            <a:pPr>
              <a:lnSpc>
                <a:spcPct val="70000"/>
              </a:lnSpc>
            </a:pPr>
            <a:r>
              <a:rPr lang="en-US" sz="660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16191" y="4911884"/>
            <a:ext cx="9720000" cy="276999"/>
          </a:xfrm>
          <a:prstGeom prst="rect">
            <a:avLst/>
          </a:prstGeom>
          <a:noFill/>
        </p:spPr>
        <p:txBody>
          <a:bodyPr vert="horz" wrap="square" lIns="0" tIns="0" rIns="0" bIns="0" rtlCol="0" anchor="t" anchorCtr="0">
            <a:noAutofit/>
          </a:bodyPr>
          <a:lstStyle/>
          <a:p>
            <a:r>
              <a:rPr lang="fr-FR" sz="1200" i="0">
                <a:solidFill>
                  <a:schemeClr val="bg1"/>
                </a:solidFill>
                <a:latin typeface="Arial" panose="020B0604020202020204" pitchFamily="34" charset="0"/>
              </a:rPr>
              <a:t>A</a:t>
            </a:r>
          </a:p>
        </p:txBody>
      </p:sp>
      <p:sp>
        <p:nvSpPr>
          <p:cNvPr id="14" name="ZoneTexte 14">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7414762" y="4911884"/>
            <a:ext cx="558000" cy="276999"/>
          </a:xfrm>
          <a:prstGeom prst="rect">
            <a:avLst/>
          </a:prstGeom>
          <a:noFill/>
        </p:spPr>
        <p:txBody>
          <a:bodyPr vert="horz" wrap="square" lIns="0" tIns="0" rIns="0" bIns="0" rtlCol="0" anchor="t" anchorCtr="0">
            <a:noAutofit/>
          </a:bodyPr>
          <a:lstStyle/>
          <a:p>
            <a:pPr algn="ctr"/>
            <a:r>
              <a:rPr lang="fr-FR" sz="1200" i="0">
                <a:solidFill>
                  <a:schemeClr val="bg1"/>
                </a:solidFill>
                <a:latin typeface="Arial" panose="020B0604020202020204" pitchFamily="34" charset="0"/>
              </a:rPr>
              <a:t>1</a:t>
            </a:r>
          </a:p>
        </p:txBody>
      </p:sp>
      <p:sp>
        <p:nvSpPr>
          <p:cNvPr id="15" name="Rectangle 14">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2064470" y="1408252"/>
            <a:ext cx="7324627" cy="46717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TextBox 6">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03409" y="4112885"/>
            <a:ext cx="376801" cy="25200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18" name="ZoneTexte 31">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735454" y="4112884"/>
            <a:ext cx="9274403" cy="252000"/>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rgbClr val="FFFFFF"/>
                </a:solidFill>
                <a:effectLst/>
                <a:latin typeface="+mn-lt"/>
              </a:rPr>
              <a:t>A</a:t>
            </a:r>
          </a:p>
        </p:txBody>
      </p:sp>
      <p:sp>
        <p:nvSpPr>
          <p:cNvPr id="19" name="ZoneTexte 32">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6295994" y="4112884"/>
            <a:ext cx="72000" cy="36000"/>
          </a:xfrm>
          <a:prstGeom prst="rect">
            <a:avLst/>
          </a:prstGeom>
          <a:noFill/>
        </p:spPr>
        <p:txBody>
          <a:bodyPr vert="horz" wrap="none" lIns="0" tIns="0" rIns="0" bIns="0" rtlCol="0" anchor="ctr" anchorCtr="0">
            <a:noAutofit/>
          </a:bodyPr>
          <a:lstStyle/>
          <a:p>
            <a:pPr algn="ctr"/>
            <a:r>
              <a:rPr lang="fr-FR" sz="100">
                <a:noFill/>
                <a:latin typeface="+mj-lt"/>
              </a:rPr>
              <a:t>4</a:t>
            </a:r>
          </a:p>
        </p:txBody>
      </p:sp>
      <p:sp>
        <p:nvSpPr>
          <p:cNvPr id="20" name="ZoneTexte 33">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6367994" y="4112884"/>
            <a:ext cx="558000" cy="252000"/>
          </a:xfrm>
          <a:prstGeom prst="rect">
            <a:avLst/>
          </a:prstGeom>
          <a:noFill/>
        </p:spPr>
        <p:txBody>
          <a:bodyPr vert="horz" wrap="square" lIns="0" tIns="0" rIns="0" bIns="0" rtlCol="0" anchor="t" anchorCtr="0">
            <a:noAutofit/>
          </a:bodyPr>
          <a:lstStyle/>
          <a:p>
            <a:pPr marL="0" indent="0" algn="r">
              <a:buFont typeface="Arial" panose="020B0604020202020204" pitchFamily="34" charset="0"/>
              <a:buNone/>
            </a:pPr>
            <a:r>
              <a:rPr lang="fr-FR" sz="1200">
                <a:solidFill>
                  <a:srgbClr val="FFFFFF"/>
                </a:solidFill>
                <a:effectLst/>
                <a:latin typeface="+mn-lt"/>
              </a:rPr>
              <a:t>5</a:t>
            </a:r>
          </a:p>
        </p:txBody>
      </p:sp>
      <p:sp>
        <p:nvSpPr>
          <p:cNvPr id="23" name="TextBox 22">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860" y="1538062"/>
            <a:ext cx="3952700" cy="1012636"/>
          </a:xfrm>
          <a:prstGeom prst="rect">
            <a:avLst/>
          </a:prstGeom>
        </p:spPr>
        <p:txBody>
          <a:bodyPr vert="horz" wrap="square" lIns="0" tIns="0" rIns="0" bIns="0" rtlCol="0" anchor="t" anchorCtr="0">
            <a:noAutofit/>
          </a:bodyPr>
          <a:lstStyle/>
          <a:p>
            <a:pPr algn="l">
              <a:lnSpc>
                <a:spcPct val="80000"/>
              </a:lnSpc>
              <a:spcAft>
                <a:spcPts val="600"/>
              </a:spcAft>
            </a:pPr>
            <a:r>
              <a:rPr lang="en-GB" sz="6600" b="1">
                <a:solidFill>
                  <a:srgbClr val="FFFFFF"/>
                </a:solidFill>
                <a:latin typeface="+mj-lt"/>
              </a:rPr>
              <a:t>01</a:t>
            </a:r>
          </a:p>
        </p:txBody>
      </p:sp>
      <p:sp>
        <p:nvSpPr>
          <p:cNvPr id="2" name="Rectangle 1">
            <a:extLst>
              <a:ext uri="{FF2B5EF4-FFF2-40B4-BE49-F238E27FC236}">
                <a16:creationId xmlns:a16="http://schemas.microsoft.com/office/drawing/2014/main" id="{236E7905-E330-450D-9BF0-8F5AC19F3BF3}"/>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918829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a:solidFill>
                  <a:srgbClr val="FFFFFF"/>
                </a:solidFill>
                <a:latin typeface="+mj-lt"/>
              </a:rPr>
              <a:t>A</a:t>
            </a:r>
          </a:p>
          <a:p>
            <a:pPr lvl="0">
              <a:lnSpc>
                <a:spcPct val="70000"/>
              </a:lnSpc>
            </a:pPr>
            <a:endParaRPr lang="fr-FR" sz="8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2" name="Rectangle 1">
            <a:extLst>
              <a:ext uri="{FF2B5EF4-FFF2-40B4-BE49-F238E27FC236}">
                <a16:creationId xmlns:a16="http://schemas.microsoft.com/office/drawing/2014/main" id="{035E31A0-04B8-488D-954C-4452DE9165CB}"/>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22006227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tx2"/>
                </a:solidFill>
              </a:rPr>
              <a:t>&lt;%SECTIONNAME%&gt;&lt;%SPACEIFINSUBSEC%&gt;&lt;%TIRETIFINSUBSEC%&gt;&lt;%SPACEIFINSUBSEC%&gt;&lt;%SUBSECTIONNAME%&gt;</a:t>
            </a:r>
            <a:endParaRPr lang="en-GB" sz="1200" b="1">
              <a:solidFill>
                <a:schemeClr val="tx2"/>
              </a:solidFill>
            </a:endParaRPr>
          </a:p>
        </p:txBody>
      </p:sp>
      <p:sp>
        <p:nvSpPr>
          <p:cNvPr id="2" name="Rectangle 1">
            <a:extLst>
              <a:ext uri="{FF2B5EF4-FFF2-40B4-BE49-F238E27FC236}">
                <a16:creationId xmlns:a16="http://schemas.microsoft.com/office/drawing/2014/main" id="{94DE918C-2F27-45B8-99A4-1E4DEAA0A777}"/>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36040930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2" name="Rectangle 1">
            <a:extLst>
              <a:ext uri="{FF2B5EF4-FFF2-40B4-BE49-F238E27FC236}">
                <a16:creationId xmlns:a16="http://schemas.microsoft.com/office/drawing/2014/main" id="{F0197EB1-8575-476E-AB5F-649337BB588B}"/>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dirty="0">
              <a:solidFill>
                <a:schemeClr val="bg1"/>
              </a:solidFill>
            </a:endParaRPr>
          </a:p>
        </p:txBody>
      </p:sp>
    </p:spTree>
    <p:extLst>
      <p:ext uri="{BB962C8B-B14F-4D97-AF65-F5344CB8AC3E}">
        <p14:creationId xmlns:p14="http://schemas.microsoft.com/office/powerpoint/2010/main" val="40552850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 Target="../slides/slide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2.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45"/>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2022 KPMG LLP, a xx limited liability partnership and a member firm of the KPMG global </a:t>
            </a:r>
            <a:r>
              <a:rPr lang="en-US" sz="600" kern="1200" noProof="0" dirty="0" err="1">
                <a:solidFill>
                  <a:schemeClr val="bg1">
                    <a:lumMod val="65000"/>
                  </a:schemeClr>
                </a:solidFill>
                <a:latin typeface="+mn-lt"/>
                <a:ea typeface="+mn-ea"/>
                <a:cs typeface="+mn-cs"/>
              </a:rPr>
              <a:t>organisation</a:t>
            </a:r>
            <a:r>
              <a:rPr lang="en-US" sz="600" kern="1200" noProof="0" dirty="0">
                <a:solidFill>
                  <a:schemeClr val="bg1">
                    <a:lumMod val="65000"/>
                  </a:schemeClr>
                </a:solidFill>
                <a:latin typeface="+mn-lt"/>
                <a:ea typeface="+mn-ea"/>
                <a:cs typeface="+mn-cs"/>
              </a:rPr>
              <a:t> of independent member firms affiliated with KPMG International Limited, a private xx company limited by guarantee. All rights reserved.</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hlinkClick r:id="rId47"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48" cstate="screen">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1571850" y="134089"/>
            <a:ext cx="222478" cy="222478"/>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46"/>
            </p:custDataLst>
          </p:nvPr>
        </p:nvSpPr>
        <p:spPr bwMode="gray">
          <a:xfrm>
            <a:off x="9516536" y="6463890"/>
            <a:ext cx="2527116"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dirty="0">
                <a:solidFill>
                  <a:schemeClr val="accent6"/>
                </a:solidFill>
              </a:rPr>
              <a:t>For illustrative purposes only</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96" r:id="rId10"/>
    <p:sldLayoutId id="2147483712" r:id="rId11"/>
    <p:sldLayoutId id="2147483797" r:id="rId12"/>
    <p:sldLayoutId id="2147483664" r:id="rId13"/>
    <p:sldLayoutId id="2147483769" r:id="rId14"/>
    <p:sldLayoutId id="2147483770" r:id="rId15"/>
    <p:sldLayoutId id="2147483714" r:id="rId16"/>
    <p:sldLayoutId id="2147483689" r:id="rId17"/>
    <p:sldLayoutId id="2147483716" r:id="rId18"/>
    <p:sldLayoutId id="2147483690" r:id="rId19"/>
    <p:sldLayoutId id="2147483692" r:id="rId20"/>
    <p:sldLayoutId id="2147483691" r:id="rId21"/>
    <p:sldLayoutId id="2147483693" r:id="rId22"/>
    <p:sldLayoutId id="2147483701" r:id="rId23"/>
    <p:sldLayoutId id="2147483771" r:id="rId24"/>
    <p:sldLayoutId id="2147483752" r:id="rId25"/>
    <p:sldLayoutId id="2147483697" r:id="rId26"/>
    <p:sldLayoutId id="2147483772" r:id="rId27"/>
    <p:sldLayoutId id="2147483754" r:id="rId28"/>
    <p:sldLayoutId id="2147483699" r:id="rId29"/>
    <p:sldLayoutId id="2147483700" r:id="rId30"/>
    <p:sldLayoutId id="2147483722" r:id="rId31"/>
    <p:sldLayoutId id="2147483792" r:id="rId32"/>
    <p:sldLayoutId id="2147483793" r:id="rId33"/>
    <p:sldLayoutId id="2147483789" r:id="rId34"/>
    <p:sldLayoutId id="2147483791" r:id="rId35"/>
    <p:sldLayoutId id="2147483790" r:id="rId36"/>
    <p:sldLayoutId id="2147483794" r:id="rId37"/>
    <p:sldLayoutId id="2147483795" r:id="rId38"/>
    <p:sldLayoutId id="2147483667" r:id="rId39"/>
    <p:sldLayoutId id="2147483748" r:id="rId40"/>
    <p:sldLayoutId id="2147483799" r:id="rId41"/>
    <p:sldLayoutId id="2147483801" r:id="rId42"/>
    <p:sldLayoutId id="2147483802" r:id="rId43"/>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grpSp>
        <p:nvGrpSpPr>
          <p:cNvPr id="22" name="Group 21">
            <a:extLst>
              <a:ext uri="{FF2B5EF4-FFF2-40B4-BE49-F238E27FC236}">
                <a16:creationId xmlns:a16="http://schemas.microsoft.com/office/drawing/2014/main" id="{1E8F9C72-6853-4CD6-813F-9D47C7779EE6}"/>
              </a:ext>
            </a:extLst>
          </p:cNvPr>
          <p:cNvGrpSpPr>
            <a:grpSpLocks noChangeAspect="1"/>
          </p:cNvGrpSpPr>
          <p:nvPr userDrawn="1"/>
        </p:nvGrpSpPr>
        <p:grpSpPr>
          <a:xfrm>
            <a:off x="994328" y="1155066"/>
            <a:ext cx="10203331" cy="4547869"/>
            <a:chOff x="251518" y="843558"/>
            <a:chExt cx="8713094" cy="3672880"/>
          </a:xfrm>
        </p:grpSpPr>
        <p:grpSp>
          <p:nvGrpSpPr>
            <p:cNvPr id="23" name="Group 22">
              <a:extLst>
                <a:ext uri="{FF2B5EF4-FFF2-40B4-BE49-F238E27FC236}">
                  <a16:creationId xmlns:a16="http://schemas.microsoft.com/office/drawing/2014/main" id="{FD381A65-1E4C-4673-8228-B579F2C9615B}"/>
                </a:ext>
              </a:extLst>
            </p:cNvPr>
            <p:cNvGrpSpPr/>
            <p:nvPr userDrawn="1"/>
          </p:nvGrpSpPr>
          <p:grpSpPr>
            <a:xfrm>
              <a:off x="2265552" y="843558"/>
              <a:ext cx="216024" cy="3672880"/>
              <a:chOff x="2195736" y="1124744"/>
              <a:chExt cx="216024" cy="4968552"/>
            </a:xfrm>
          </p:grpSpPr>
          <p:cxnSp>
            <p:nvCxnSpPr>
              <p:cNvPr id="38" name="Straight Connector 37">
                <a:extLst>
                  <a:ext uri="{FF2B5EF4-FFF2-40B4-BE49-F238E27FC236}">
                    <a16:creationId xmlns:a16="http://schemas.microsoft.com/office/drawing/2014/main" id="{600C3F44-42EA-4555-BF49-79370F18410E}"/>
                  </a:ext>
                </a:extLst>
              </p:cNvPr>
              <p:cNvCxnSpPr/>
              <p:nvPr userDrawn="1"/>
            </p:nvCxnSpPr>
            <p:spPr>
              <a:xfrm rot="5400000">
                <a:off x="-288540"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81B4E9B-07D6-4410-B990-2022DD38D1D0}"/>
                  </a:ext>
                </a:extLst>
              </p:cNvPr>
              <p:cNvCxnSpPr/>
              <p:nvPr userDrawn="1"/>
            </p:nvCxnSpPr>
            <p:spPr>
              <a:xfrm rot="5400000">
                <a:off x="-72516"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7230318-B503-46A0-89C4-C0C1668A2BE8}"/>
                </a:ext>
              </a:extLst>
            </p:cNvPr>
            <p:cNvGrpSpPr/>
            <p:nvPr userDrawn="1"/>
          </p:nvGrpSpPr>
          <p:grpSpPr>
            <a:xfrm>
              <a:off x="4498562" y="843558"/>
              <a:ext cx="216024" cy="3672880"/>
              <a:chOff x="2195736" y="1124744"/>
              <a:chExt cx="216024" cy="4968552"/>
            </a:xfrm>
          </p:grpSpPr>
          <p:cxnSp>
            <p:nvCxnSpPr>
              <p:cNvPr id="36" name="Straight Connector 35">
                <a:extLst>
                  <a:ext uri="{FF2B5EF4-FFF2-40B4-BE49-F238E27FC236}">
                    <a16:creationId xmlns:a16="http://schemas.microsoft.com/office/drawing/2014/main" id="{8F4DD75C-1B36-430B-A3D9-6F2A27D9E191}"/>
                  </a:ext>
                </a:extLst>
              </p:cNvPr>
              <p:cNvCxnSpPr/>
              <p:nvPr userDrawn="1"/>
            </p:nvCxnSpPr>
            <p:spPr>
              <a:xfrm rot="5400000">
                <a:off x="-288540"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A150A1-AF27-400D-B56E-D3C34A38BB03}"/>
                  </a:ext>
                </a:extLst>
              </p:cNvPr>
              <p:cNvCxnSpPr/>
              <p:nvPr userDrawn="1"/>
            </p:nvCxnSpPr>
            <p:spPr>
              <a:xfrm rot="5400000">
                <a:off x="-72516"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670C55AF-DED4-487D-982B-E7AC89DD00D5}"/>
                </a:ext>
              </a:extLst>
            </p:cNvPr>
            <p:cNvGrpSpPr/>
            <p:nvPr userDrawn="1"/>
          </p:nvGrpSpPr>
          <p:grpSpPr>
            <a:xfrm>
              <a:off x="6731572" y="843558"/>
              <a:ext cx="216024" cy="3672880"/>
              <a:chOff x="2195736" y="1124744"/>
              <a:chExt cx="216024" cy="4968552"/>
            </a:xfrm>
          </p:grpSpPr>
          <p:cxnSp>
            <p:nvCxnSpPr>
              <p:cNvPr id="34" name="Straight Connector 33">
                <a:extLst>
                  <a:ext uri="{FF2B5EF4-FFF2-40B4-BE49-F238E27FC236}">
                    <a16:creationId xmlns:a16="http://schemas.microsoft.com/office/drawing/2014/main" id="{CE2C9343-48A2-43E7-BDFA-F51A30435928}"/>
                  </a:ext>
                </a:extLst>
              </p:cNvPr>
              <p:cNvCxnSpPr/>
              <p:nvPr userDrawn="1"/>
            </p:nvCxnSpPr>
            <p:spPr>
              <a:xfrm rot="5400000">
                <a:off x="-288540"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B8F686B-0346-4198-92A6-ABC1622E1C8D}"/>
                  </a:ext>
                </a:extLst>
              </p:cNvPr>
              <p:cNvCxnSpPr/>
              <p:nvPr userDrawn="1"/>
            </p:nvCxnSpPr>
            <p:spPr>
              <a:xfrm rot="5400000">
                <a:off x="-72516"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E38F132E-10CA-42F7-AB13-84A47DA61622}"/>
                </a:ext>
              </a:extLst>
            </p:cNvPr>
            <p:cNvGrpSpPr/>
            <p:nvPr userDrawn="1"/>
          </p:nvGrpSpPr>
          <p:grpSpPr>
            <a:xfrm rot="16200000">
              <a:off x="4500053" y="-1676804"/>
              <a:ext cx="216024" cy="8713093"/>
              <a:chOff x="2195736" y="1124744"/>
              <a:chExt cx="216024" cy="4968552"/>
            </a:xfrm>
          </p:grpSpPr>
          <p:cxnSp>
            <p:nvCxnSpPr>
              <p:cNvPr id="32" name="Straight Connector 31">
                <a:extLst>
                  <a:ext uri="{FF2B5EF4-FFF2-40B4-BE49-F238E27FC236}">
                    <a16:creationId xmlns:a16="http://schemas.microsoft.com/office/drawing/2014/main" id="{65FCEBB6-DD33-448B-8A99-586F3A10212C}"/>
                  </a:ext>
                </a:extLst>
              </p:cNvPr>
              <p:cNvCxnSpPr/>
              <p:nvPr userDrawn="1"/>
            </p:nvCxnSpPr>
            <p:spPr>
              <a:xfrm rot="5400000">
                <a:off x="-288540"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D8672A9-9867-4CEF-8E4C-C3C166701898}"/>
                  </a:ext>
                </a:extLst>
              </p:cNvPr>
              <p:cNvCxnSpPr/>
              <p:nvPr userDrawn="1"/>
            </p:nvCxnSpPr>
            <p:spPr>
              <a:xfrm rot="5400000">
                <a:off x="-72516" y="3609020"/>
                <a:ext cx="4968552"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80640B35-FD38-472C-904E-78FCF5B26E19}"/>
                </a:ext>
              </a:extLst>
            </p:cNvPr>
            <p:cNvGrpSpPr/>
            <p:nvPr userDrawn="1"/>
          </p:nvGrpSpPr>
          <p:grpSpPr>
            <a:xfrm>
              <a:off x="251519" y="843558"/>
              <a:ext cx="8713093" cy="3672880"/>
              <a:chOff x="251519" y="843558"/>
              <a:chExt cx="8713093" cy="3672880"/>
            </a:xfrm>
          </p:grpSpPr>
          <p:cxnSp>
            <p:nvCxnSpPr>
              <p:cNvPr id="28" name="Straight Connector 27">
                <a:extLst>
                  <a:ext uri="{FF2B5EF4-FFF2-40B4-BE49-F238E27FC236}">
                    <a16:creationId xmlns:a16="http://schemas.microsoft.com/office/drawing/2014/main" id="{2639D7A1-CFB2-42AB-BDAE-EAD9CF452B46}"/>
                  </a:ext>
                </a:extLst>
              </p:cNvPr>
              <p:cNvCxnSpPr/>
              <p:nvPr userDrawn="1"/>
            </p:nvCxnSpPr>
            <p:spPr>
              <a:xfrm>
                <a:off x="251519" y="843558"/>
                <a:ext cx="8713093"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5C1ECF-40AA-41B0-9DD5-40E4D3D02538}"/>
                  </a:ext>
                </a:extLst>
              </p:cNvPr>
              <p:cNvCxnSpPr/>
              <p:nvPr userDrawn="1"/>
            </p:nvCxnSpPr>
            <p:spPr>
              <a:xfrm>
                <a:off x="251519" y="4516438"/>
                <a:ext cx="8713093"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B763846-E3FB-4558-AE18-1EA77AD47C08}"/>
                  </a:ext>
                </a:extLst>
              </p:cNvPr>
              <p:cNvCxnSpPr/>
              <p:nvPr userDrawn="1"/>
            </p:nvCxnSpPr>
            <p:spPr>
              <a:xfrm rot="5400000">
                <a:off x="-1584921" y="2679998"/>
                <a:ext cx="3672880"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949CABA-A7D8-483D-BB19-D512252BEF2B}"/>
                  </a:ext>
                </a:extLst>
              </p:cNvPr>
              <p:cNvCxnSpPr/>
              <p:nvPr userDrawn="1"/>
            </p:nvCxnSpPr>
            <p:spPr>
              <a:xfrm rot="5400000">
                <a:off x="7128172" y="2679998"/>
                <a:ext cx="3672880" cy="0"/>
              </a:xfrm>
              <a:prstGeom prst="line">
                <a:avLst/>
              </a:prstGeom>
              <a:ln w="6350">
                <a:solidFill>
                  <a:srgbClr val="BABBBC"/>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38162005"/>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userDrawn="1">
          <p15:clr>
            <a:srgbClr val="F26B43"/>
          </p15:clr>
        </p15:guide>
        <p15:guide id="2" pos="624" userDrawn="1">
          <p15:clr>
            <a:srgbClr val="F26B43"/>
          </p15:clr>
        </p15:guide>
        <p15:guide id="3" pos="7056" userDrawn="1">
          <p15:clr>
            <a:srgbClr val="F26B43"/>
          </p15:clr>
        </p15:guide>
        <p15:guide id="4" orient="horz" pos="840" userDrawn="1">
          <p15:clr>
            <a:srgbClr val="F26B43"/>
          </p15:clr>
        </p15:guide>
        <p15:guide id="5" orient="horz" pos="616"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52.xml"/><Relationship Id="rId4" Type="http://schemas.openxmlformats.org/officeDocument/2006/relationships/image" Target="../media/image15.emf"/></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43.xml"/><Relationship Id="rId7" Type="http://schemas.openxmlformats.org/officeDocument/2006/relationships/image" Target="../media/image170.png"/><Relationship Id="rId12" Type="http://schemas.openxmlformats.org/officeDocument/2006/relationships/image" Target="../media/image200.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7.png"/><Relationship Id="rId11" Type="http://schemas.openxmlformats.org/officeDocument/2006/relationships/image" Target="../media/image20.png"/><Relationship Id="rId5" Type="http://schemas.openxmlformats.org/officeDocument/2006/relationships/image" Target="../media/image15.emf"/><Relationship Id="rId10" Type="http://schemas.openxmlformats.org/officeDocument/2006/relationships/image" Target="../media/image19.png"/><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26" Type="http://schemas.openxmlformats.org/officeDocument/2006/relationships/tags" Target="../tags/tag80.xml"/><Relationship Id="rId117" Type="http://schemas.openxmlformats.org/officeDocument/2006/relationships/slide" Target="slide56.xml"/><Relationship Id="rId21" Type="http://schemas.openxmlformats.org/officeDocument/2006/relationships/tags" Target="../tags/tag75.xml"/><Relationship Id="rId42" Type="http://schemas.openxmlformats.org/officeDocument/2006/relationships/tags" Target="../tags/tag96.xml"/><Relationship Id="rId47" Type="http://schemas.openxmlformats.org/officeDocument/2006/relationships/tags" Target="../tags/tag101.xml"/><Relationship Id="rId63" Type="http://schemas.openxmlformats.org/officeDocument/2006/relationships/tags" Target="../tags/tag117.xml"/><Relationship Id="rId68" Type="http://schemas.openxmlformats.org/officeDocument/2006/relationships/tags" Target="../tags/tag122.xml"/><Relationship Id="rId84" Type="http://schemas.openxmlformats.org/officeDocument/2006/relationships/tags" Target="../tags/tag138.xml"/><Relationship Id="rId89" Type="http://schemas.openxmlformats.org/officeDocument/2006/relationships/slideLayout" Target="../slideLayouts/slideLayout9.xml"/><Relationship Id="rId112" Type="http://schemas.openxmlformats.org/officeDocument/2006/relationships/slide" Target="slide48.xml"/><Relationship Id="rId16" Type="http://schemas.openxmlformats.org/officeDocument/2006/relationships/tags" Target="../tags/tag70.xml"/><Relationship Id="rId107" Type="http://schemas.openxmlformats.org/officeDocument/2006/relationships/slide" Target="slide36.xml"/><Relationship Id="rId11" Type="http://schemas.openxmlformats.org/officeDocument/2006/relationships/tags" Target="../tags/tag65.xml"/><Relationship Id="rId32" Type="http://schemas.openxmlformats.org/officeDocument/2006/relationships/tags" Target="../tags/tag86.xml"/><Relationship Id="rId37" Type="http://schemas.openxmlformats.org/officeDocument/2006/relationships/tags" Target="../tags/tag91.xml"/><Relationship Id="rId53" Type="http://schemas.openxmlformats.org/officeDocument/2006/relationships/tags" Target="../tags/tag107.xml"/><Relationship Id="rId58" Type="http://schemas.openxmlformats.org/officeDocument/2006/relationships/tags" Target="../tags/tag112.xml"/><Relationship Id="rId74" Type="http://schemas.openxmlformats.org/officeDocument/2006/relationships/tags" Target="../tags/tag128.xml"/><Relationship Id="rId79" Type="http://schemas.openxmlformats.org/officeDocument/2006/relationships/tags" Target="../tags/tag133.xml"/><Relationship Id="rId102" Type="http://schemas.openxmlformats.org/officeDocument/2006/relationships/slide" Target="slide18.xml"/><Relationship Id="rId5" Type="http://schemas.openxmlformats.org/officeDocument/2006/relationships/tags" Target="../tags/tag59.xml"/><Relationship Id="rId90" Type="http://schemas.openxmlformats.org/officeDocument/2006/relationships/slide" Target="slide81.xml"/><Relationship Id="rId95" Type="http://schemas.openxmlformats.org/officeDocument/2006/relationships/slide" Target="slide5.xml"/><Relationship Id="rId22" Type="http://schemas.openxmlformats.org/officeDocument/2006/relationships/tags" Target="../tags/tag76.xml"/><Relationship Id="rId27" Type="http://schemas.openxmlformats.org/officeDocument/2006/relationships/tags" Target="../tags/tag81.xml"/><Relationship Id="rId43" Type="http://schemas.openxmlformats.org/officeDocument/2006/relationships/tags" Target="../tags/tag97.xml"/><Relationship Id="rId48" Type="http://schemas.openxmlformats.org/officeDocument/2006/relationships/tags" Target="../tags/tag102.xml"/><Relationship Id="rId64" Type="http://schemas.openxmlformats.org/officeDocument/2006/relationships/tags" Target="../tags/tag118.xml"/><Relationship Id="rId69" Type="http://schemas.openxmlformats.org/officeDocument/2006/relationships/tags" Target="../tags/tag123.xml"/><Relationship Id="rId113" Type="http://schemas.openxmlformats.org/officeDocument/2006/relationships/slide" Target="slide49.xml"/><Relationship Id="rId118" Type="http://schemas.openxmlformats.org/officeDocument/2006/relationships/slide" Target="slide59.xml"/><Relationship Id="rId80" Type="http://schemas.openxmlformats.org/officeDocument/2006/relationships/tags" Target="../tags/tag134.xml"/><Relationship Id="rId85" Type="http://schemas.openxmlformats.org/officeDocument/2006/relationships/tags" Target="../tags/tag139.xml"/><Relationship Id="rId12" Type="http://schemas.openxmlformats.org/officeDocument/2006/relationships/tags" Target="../tags/tag66.xml"/><Relationship Id="rId17" Type="http://schemas.openxmlformats.org/officeDocument/2006/relationships/tags" Target="../tags/tag71.xml"/><Relationship Id="rId33" Type="http://schemas.openxmlformats.org/officeDocument/2006/relationships/tags" Target="../tags/tag87.xml"/><Relationship Id="rId38" Type="http://schemas.openxmlformats.org/officeDocument/2006/relationships/tags" Target="../tags/tag92.xml"/><Relationship Id="rId59" Type="http://schemas.openxmlformats.org/officeDocument/2006/relationships/tags" Target="../tags/tag113.xml"/><Relationship Id="rId103" Type="http://schemas.openxmlformats.org/officeDocument/2006/relationships/slide" Target="slide25.xml"/><Relationship Id="rId108" Type="http://schemas.openxmlformats.org/officeDocument/2006/relationships/slide" Target="slide37.xml"/><Relationship Id="rId54" Type="http://schemas.openxmlformats.org/officeDocument/2006/relationships/tags" Target="../tags/tag108.xml"/><Relationship Id="rId70" Type="http://schemas.openxmlformats.org/officeDocument/2006/relationships/tags" Target="../tags/tag124.xml"/><Relationship Id="rId75" Type="http://schemas.openxmlformats.org/officeDocument/2006/relationships/tags" Target="../tags/tag129.xml"/><Relationship Id="rId91" Type="http://schemas.openxmlformats.org/officeDocument/2006/relationships/image" Target="../media/image21.jpeg"/><Relationship Id="rId96" Type="http://schemas.openxmlformats.org/officeDocument/2006/relationships/slide" Target="slide8.xml"/><Relationship Id="rId1" Type="http://schemas.openxmlformats.org/officeDocument/2006/relationships/tags" Target="../tags/tag55.xml"/><Relationship Id="rId6" Type="http://schemas.openxmlformats.org/officeDocument/2006/relationships/tags" Target="../tags/tag60.xml"/><Relationship Id="rId23" Type="http://schemas.openxmlformats.org/officeDocument/2006/relationships/tags" Target="../tags/tag77.xml"/><Relationship Id="rId28" Type="http://schemas.openxmlformats.org/officeDocument/2006/relationships/tags" Target="../tags/tag82.xml"/><Relationship Id="rId49" Type="http://schemas.openxmlformats.org/officeDocument/2006/relationships/tags" Target="../tags/tag103.xml"/><Relationship Id="rId114" Type="http://schemas.openxmlformats.org/officeDocument/2006/relationships/slide" Target="slide53.xml"/><Relationship Id="rId119" Type="http://schemas.openxmlformats.org/officeDocument/2006/relationships/slide" Target="slide62.xml"/><Relationship Id="rId44" Type="http://schemas.openxmlformats.org/officeDocument/2006/relationships/tags" Target="../tags/tag98.xml"/><Relationship Id="rId60" Type="http://schemas.openxmlformats.org/officeDocument/2006/relationships/tags" Target="../tags/tag114.xml"/><Relationship Id="rId65" Type="http://schemas.openxmlformats.org/officeDocument/2006/relationships/tags" Target="../tags/tag119.xml"/><Relationship Id="rId81" Type="http://schemas.openxmlformats.org/officeDocument/2006/relationships/tags" Target="../tags/tag135.xml"/><Relationship Id="rId86" Type="http://schemas.openxmlformats.org/officeDocument/2006/relationships/tags" Target="../tags/tag140.xml"/><Relationship Id="rId4" Type="http://schemas.openxmlformats.org/officeDocument/2006/relationships/tags" Target="../tags/tag58.xml"/><Relationship Id="rId9" Type="http://schemas.openxmlformats.org/officeDocument/2006/relationships/tags" Target="../tags/tag63.xml"/><Relationship Id="rId13" Type="http://schemas.openxmlformats.org/officeDocument/2006/relationships/tags" Target="../tags/tag67.xml"/><Relationship Id="rId18" Type="http://schemas.openxmlformats.org/officeDocument/2006/relationships/tags" Target="../tags/tag72.xml"/><Relationship Id="rId39" Type="http://schemas.openxmlformats.org/officeDocument/2006/relationships/tags" Target="../tags/tag93.xml"/><Relationship Id="rId109" Type="http://schemas.openxmlformats.org/officeDocument/2006/relationships/slide" Target="slide40.xml"/><Relationship Id="rId34" Type="http://schemas.openxmlformats.org/officeDocument/2006/relationships/tags" Target="../tags/tag88.xml"/><Relationship Id="rId50" Type="http://schemas.openxmlformats.org/officeDocument/2006/relationships/tags" Target="../tags/tag104.xml"/><Relationship Id="rId55" Type="http://schemas.openxmlformats.org/officeDocument/2006/relationships/tags" Target="../tags/tag109.xml"/><Relationship Id="rId76" Type="http://schemas.openxmlformats.org/officeDocument/2006/relationships/tags" Target="../tags/tag130.xml"/><Relationship Id="rId97" Type="http://schemas.openxmlformats.org/officeDocument/2006/relationships/slide" Target="slide9.xml"/><Relationship Id="rId104" Type="http://schemas.openxmlformats.org/officeDocument/2006/relationships/slide" Target="slide26.xml"/><Relationship Id="rId120" Type="http://schemas.openxmlformats.org/officeDocument/2006/relationships/slide" Target="slide66.xml"/><Relationship Id="rId7" Type="http://schemas.openxmlformats.org/officeDocument/2006/relationships/tags" Target="../tags/tag61.xml"/><Relationship Id="rId71" Type="http://schemas.openxmlformats.org/officeDocument/2006/relationships/tags" Target="../tags/tag125.xml"/><Relationship Id="rId92" Type="http://schemas.openxmlformats.org/officeDocument/2006/relationships/slide" Target="slide82.xml"/><Relationship Id="rId2" Type="http://schemas.openxmlformats.org/officeDocument/2006/relationships/tags" Target="../tags/tag56.xml"/><Relationship Id="rId29" Type="http://schemas.openxmlformats.org/officeDocument/2006/relationships/tags" Target="../tags/tag83.xml"/><Relationship Id="rId24" Type="http://schemas.openxmlformats.org/officeDocument/2006/relationships/tags" Target="../tags/tag78.xml"/><Relationship Id="rId40" Type="http://schemas.openxmlformats.org/officeDocument/2006/relationships/tags" Target="../tags/tag94.xml"/><Relationship Id="rId45" Type="http://schemas.openxmlformats.org/officeDocument/2006/relationships/tags" Target="../tags/tag99.xml"/><Relationship Id="rId66" Type="http://schemas.openxmlformats.org/officeDocument/2006/relationships/tags" Target="../tags/tag120.xml"/><Relationship Id="rId87" Type="http://schemas.openxmlformats.org/officeDocument/2006/relationships/tags" Target="../tags/tag141.xml"/><Relationship Id="rId110" Type="http://schemas.openxmlformats.org/officeDocument/2006/relationships/slide" Target="slide42.xml"/><Relationship Id="rId115" Type="http://schemas.openxmlformats.org/officeDocument/2006/relationships/slide" Target="slide54.xml"/><Relationship Id="rId61" Type="http://schemas.openxmlformats.org/officeDocument/2006/relationships/tags" Target="../tags/tag115.xml"/><Relationship Id="rId82" Type="http://schemas.openxmlformats.org/officeDocument/2006/relationships/tags" Target="../tags/tag136.xml"/><Relationship Id="rId19" Type="http://schemas.openxmlformats.org/officeDocument/2006/relationships/tags" Target="../tags/tag73.xml"/><Relationship Id="rId14" Type="http://schemas.openxmlformats.org/officeDocument/2006/relationships/tags" Target="../tags/tag68.xml"/><Relationship Id="rId30" Type="http://schemas.openxmlformats.org/officeDocument/2006/relationships/tags" Target="../tags/tag84.xml"/><Relationship Id="rId35" Type="http://schemas.openxmlformats.org/officeDocument/2006/relationships/tags" Target="../tags/tag89.xml"/><Relationship Id="rId56" Type="http://schemas.openxmlformats.org/officeDocument/2006/relationships/tags" Target="../tags/tag110.xml"/><Relationship Id="rId77" Type="http://schemas.openxmlformats.org/officeDocument/2006/relationships/tags" Target="../tags/tag131.xml"/><Relationship Id="rId100" Type="http://schemas.openxmlformats.org/officeDocument/2006/relationships/slide" Target="slide16.xml"/><Relationship Id="rId105" Type="http://schemas.openxmlformats.org/officeDocument/2006/relationships/slide" Target="slide32.xml"/><Relationship Id="rId8" Type="http://schemas.openxmlformats.org/officeDocument/2006/relationships/tags" Target="../tags/tag62.xml"/><Relationship Id="rId51" Type="http://schemas.openxmlformats.org/officeDocument/2006/relationships/tags" Target="../tags/tag105.xml"/><Relationship Id="rId72" Type="http://schemas.openxmlformats.org/officeDocument/2006/relationships/tags" Target="../tags/tag126.xml"/><Relationship Id="rId93" Type="http://schemas.openxmlformats.org/officeDocument/2006/relationships/image" Target="../media/image22.jpeg"/><Relationship Id="rId98" Type="http://schemas.openxmlformats.org/officeDocument/2006/relationships/slide" Target="slide11.xml"/><Relationship Id="rId121" Type="http://schemas.openxmlformats.org/officeDocument/2006/relationships/slide" Target="slide72.xml"/><Relationship Id="rId3" Type="http://schemas.openxmlformats.org/officeDocument/2006/relationships/tags" Target="../tags/tag57.xml"/><Relationship Id="rId25" Type="http://schemas.openxmlformats.org/officeDocument/2006/relationships/tags" Target="../tags/tag79.xml"/><Relationship Id="rId46" Type="http://schemas.openxmlformats.org/officeDocument/2006/relationships/tags" Target="../tags/tag100.xml"/><Relationship Id="rId67" Type="http://schemas.openxmlformats.org/officeDocument/2006/relationships/tags" Target="../tags/tag121.xml"/><Relationship Id="rId116" Type="http://schemas.openxmlformats.org/officeDocument/2006/relationships/slide" Target="slide55.xml"/><Relationship Id="rId20" Type="http://schemas.openxmlformats.org/officeDocument/2006/relationships/tags" Target="../tags/tag74.xml"/><Relationship Id="rId41" Type="http://schemas.openxmlformats.org/officeDocument/2006/relationships/tags" Target="../tags/tag95.xml"/><Relationship Id="rId62" Type="http://schemas.openxmlformats.org/officeDocument/2006/relationships/tags" Target="../tags/tag116.xml"/><Relationship Id="rId83" Type="http://schemas.openxmlformats.org/officeDocument/2006/relationships/tags" Target="../tags/tag137.xml"/><Relationship Id="rId88" Type="http://schemas.openxmlformats.org/officeDocument/2006/relationships/tags" Target="../tags/tag142.xml"/><Relationship Id="rId111" Type="http://schemas.openxmlformats.org/officeDocument/2006/relationships/slide" Target="slide43.xml"/><Relationship Id="rId15" Type="http://schemas.openxmlformats.org/officeDocument/2006/relationships/tags" Target="../tags/tag69.xml"/><Relationship Id="rId36" Type="http://schemas.openxmlformats.org/officeDocument/2006/relationships/tags" Target="../tags/tag90.xml"/><Relationship Id="rId57" Type="http://schemas.openxmlformats.org/officeDocument/2006/relationships/tags" Target="../tags/tag111.xml"/><Relationship Id="rId106" Type="http://schemas.openxmlformats.org/officeDocument/2006/relationships/slide" Target="slide33.xml"/><Relationship Id="rId10" Type="http://schemas.openxmlformats.org/officeDocument/2006/relationships/tags" Target="../tags/tag64.xml"/><Relationship Id="rId31" Type="http://schemas.openxmlformats.org/officeDocument/2006/relationships/tags" Target="../tags/tag85.xml"/><Relationship Id="rId52" Type="http://schemas.openxmlformats.org/officeDocument/2006/relationships/tags" Target="../tags/tag106.xml"/><Relationship Id="rId73" Type="http://schemas.openxmlformats.org/officeDocument/2006/relationships/tags" Target="../tags/tag127.xml"/><Relationship Id="rId78" Type="http://schemas.openxmlformats.org/officeDocument/2006/relationships/tags" Target="../tags/tag132.xml"/><Relationship Id="rId94" Type="http://schemas.openxmlformats.org/officeDocument/2006/relationships/slide" Target="slide4.xml"/><Relationship Id="rId99" Type="http://schemas.openxmlformats.org/officeDocument/2006/relationships/slide" Target="slide12.xml"/><Relationship Id="rId101" Type="http://schemas.openxmlformats.org/officeDocument/2006/relationships/slide" Target="slide17.xml"/></Relationships>
</file>

<file path=ppt/slides/_rels/slide4.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tags" Target="../tags/tag155.xml"/><Relationship Id="rId18" Type="http://schemas.openxmlformats.org/officeDocument/2006/relationships/tags" Target="../tags/tag160.xml"/><Relationship Id="rId26" Type="http://schemas.openxmlformats.org/officeDocument/2006/relationships/slide" Target="slide8.xml"/><Relationship Id="rId3" Type="http://schemas.openxmlformats.org/officeDocument/2006/relationships/tags" Target="../tags/tag145.xml"/><Relationship Id="rId21" Type="http://schemas.openxmlformats.org/officeDocument/2006/relationships/tags" Target="../tags/tag163.xml"/><Relationship Id="rId7" Type="http://schemas.openxmlformats.org/officeDocument/2006/relationships/tags" Target="../tags/tag149.xml"/><Relationship Id="rId12" Type="http://schemas.openxmlformats.org/officeDocument/2006/relationships/tags" Target="../tags/tag154.xml"/><Relationship Id="rId17" Type="http://schemas.openxmlformats.org/officeDocument/2006/relationships/tags" Target="../tags/tag159.xml"/><Relationship Id="rId25" Type="http://schemas.openxmlformats.org/officeDocument/2006/relationships/slide" Target="slide5.xml"/><Relationship Id="rId2" Type="http://schemas.openxmlformats.org/officeDocument/2006/relationships/tags" Target="../tags/tag144.xml"/><Relationship Id="rId16" Type="http://schemas.openxmlformats.org/officeDocument/2006/relationships/tags" Target="../tags/tag158.xml"/><Relationship Id="rId20" Type="http://schemas.openxmlformats.org/officeDocument/2006/relationships/tags" Target="../tags/tag162.xml"/><Relationship Id="rId29" Type="http://schemas.openxmlformats.org/officeDocument/2006/relationships/slide" Target="slide12.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24" Type="http://schemas.openxmlformats.org/officeDocument/2006/relationships/slide" Target="slide4.xml"/><Relationship Id="rId5" Type="http://schemas.openxmlformats.org/officeDocument/2006/relationships/tags" Target="../tags/tag147.xml"/><Relationship Id="rId15" Type="http://schemas.openxmlformats.org/officeDocument/2006/relationships/tags" Target="../tags/tag157.xml"/><Relationship Id="rId23" Type="http://schemas.openxmlformats.org/officeDocument/2006/relationships/slideLayout" Target="../slideLayouts/slideLayout34.xml"/><Relationship Id="rId28" Type="http://schemas.openxmlformats.org/officeDocument/2006/relationships/slide" Target="slide11.xml"/><Relationship Id="rId10" Type="http://schemas.openxmlformats.org/officeDocument/2006/relationships/tags" Target="../tags/tag152.xml"/><Relationship Id="rId19" Type="http://schemas.openxmlformats.org/officeDocument/2006/relationships/tags" Target="../tags/tag161.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tags" Target="../tags/tag156.xml"/><Relationship Id="rId22" Type="http://schemas.openxmlformats.org/officeDocument/2006/relationships/tags" Target="../tags/tag164.xml"/><Relationship Id="rId27" Type="http://schemas.openxmlformats.org/officeDocument/2006/relationships/slide" Target="slide9.xml"/><Relationship Id="rId30" Type="http://schemas.openxmlformats.org/officeDocument/2006/relationships/slide" Target="slide16.xml"/></Relationships>
</file>

<file path=ppt/slides/_rels/slide5.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167.xml"/><Relationship Id="rId7" Type="http://schemas.openxmlformats.org/officeDocument/2006/relationships/image" Target="../media/image15.emf"/><Relationship Id="rId12" Type="http://schemas.openxmlformats.org/officeDocument/2006/relationships/slide" Target="slide53.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oleObject" Target="../embeddings/oleObject5.bin"/><Relationship Id="rId11" Type="http://schemas.openxmlformats.org/officeDocument/2006/relationships/slide" Target="slide42.xml"/><Relationship Id="rId5" Type="http://schemas.microsoft.com/office/2018/10/relationships/comments" Target="../comments/modernComment_313_7E774330.xml"/><Relationship Id="rId10" Type="http://schemas.openxmlformats.org/officeDocument/2006/relationships/slide" Target="slide36.xml"/><Relationship Id="rId4" Type="http://schemas.openxmlformats.org/officeDocument/2006/relationships/slideLayout" Target="../slideLayouts/slideLayout9.xml"/><Relationship Id="rId9" Type="http://schemas.openxmlformats.org/officeDocument/2006/relationships/slide" Target="slide17.xml"/><Relationship Id="rId14" Type="http://schemas.openxmlformats.org/officeDocument/2006/relationships/slide" Target="slide59.xml"/></Relationships>
</file>

<file path=ppt/slides/_rels/slide6.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170.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15.emf"/><Relationship Id="rId11" Type="http://schemas.openxmlformats.org/officeDocument/2006/relationships/slide" Target="slide53.xml"/><Relationship Id="rId5" Type="http://schemas.openxmlformats.org/officeDocument/2006/relationships/oleObject" Target="../embeddings/oleObject5.bin"/><Relationship Id="rId10" Type="http://schemas.openxmlformats.org/officeDocument/2006/relationships/slide" Target="slide42.xml"/><Relationship Id="rId4" Type="http://schemas.openxmlformats.org/officeDocument/2006/relationships/slideLayout" Target="../slideLayouts/slideLayout9.xml"/><Relationship Id="rId9" Type="http://schemas.openxmlformats.org/officeDocument/2006/relationships/slide" Target="slide36.xml"/></Relationships>
</file>

<file path=ppt/slides/_rels/slide7.xml.rels><?xml version="1.0" encoding="UTF-8" standalone="yes"?>
<Relationships xmlns="http://schemas.openxmlformats.org/package/2006/relationships"><Relationship Id="rId13" Type="http://schemas.openxmlformats.org/officeDocument/2006/relationships/tags" Target="../tags/tag183.xml"/><Relationship Id="rId18" Type="http://schemas.openxmlformats.org/officeDocument/2006/relationships/slide" Target="slide31.xml"/><Relationship Id="rId26" Type="http://schemas.openxmlformats.org/officeDocument/2006/relationships/chart" Target="../charts/chart2.xml"/><Relationship Id="rId3" Type="http://schemas.openxmlformats.org/officeDocument/2006/relationships/tags" Target="../tags/tag173.xml"/><Relationship Id="rId21" Type="http://schemas.openxmlformats.org/officeDocument/2006/relationships/image" Target="../media/image24.emf"/><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chart" Target="../charts/chart1.xml"/><Relationship Id="rId25" Type="http://schemas.openxmlformats.org/officeDocument/2006/relationships/image" Target="../media/image26.emf"/><Relationship Id="rId33" Type="http://schemas.openxmlformats.org/officeDocument/2006/relationships/slide" Target="slide59.xml"/><Relationship Id="rId2" Type="http://schemas.openxmlformats.org/officeDocument/2006/relationships/tags" Target="../tags/tag172.xml"/><Relationship Id="rId16" Type="http://schemas.openxmlformats.org/officeDocument/2006/relationships/slideLayout" Target="../slideLayouts/slideLayout9.xml"/><Relationship Id="rId20" Type="http://schemas.openxmlformats.org/officeDocument/2006/relationships/image" Target="../media/image23.emf"/><Relationship Id="rId29" Type="http://schemas.openxmlformats.org/officeDocument/2006/relationships/slide" Target="slide36.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24" Type="http://schemas.openxmlformats.org/officeDocument/2006/relationships/slide" Target="slide10.xml"/><Relationship Id="rId32" Type="http://schemas.openxmlformats.org/officeDocument/2006/relationships/slide" Target="slide55.xml"/><Relationship Id="rId5" Type="http://schemas.openxmlformats.org/officeDocument/2006/relationships/tags" Target="../tags/tag175.xml"/><Relationship Id="rId15" Type="http://schemas.openxmlformats.org/officeDocument/2006/relationships/tags" Target="../tags/tag185.xml"/><Relationship Id="rId23" Type="http://schemas.openxmlformats.org/officeDocument/2006/relationships/slide" Target="slide9.xml"/><Relationship Id="rId28" Type="http://schemas.openxmlformats.org/officeDocument/2006/relationships/slide" Target="slide17.xml"/><Relationship Id="rId10" Type="http://schemas.openxmlformats.org/officeDocument/2006/relationships/tags" Target="../tags/tag180.xml"/><Relationship Id="rId19" Type="http://schemas.openxmlformats.org/officeDocument/2006/relationships/slide" Target="slide37.xml"/><Relationship Id="rId31" Type="http://schemas.openxmlformats.org/officeDocument/2006/relationships/slide" Target="slide53.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 Id="rId22" Type="http://schemas.openxmlformats.org/officeDocument/2006/relationships/image" Target="../media/image25.emf"/><Relationship Id="rId27" Type="http://schemas.openxmlformats.org/officeDocument/2006/relationships/slide" Target="slide4.xml"/><Relationship Id="rId30" Type="http://schemas.openxmlformats.org/officeDocument/2006/relationships/slide" Target="slide42.xml"/><Relationship Id="rId8" Type="http://schemas.openxmlformats.org/officeDocument/2006/relationships/tags" Target="../tags/tag178.xml"/></Relationships>
</file>

<file path=ppt/slides/_rels/slide8.xml.rels><?xml version="1.0" encoding="UTF-8" standalone="yes"?>
<Relationships xmlns="http://schemas.openxmlformats.org/package/2006/relationships"><Relationship Id="rId26" Type="http://schemas.openxmlformats.org/officeDocument/2006/relationships/tags" Target="../tags/tag211.xml"/><Relationship Id="rId21" Type="http://schemas.openxmlformats.org/officeDocument/2006/relationships/tags" Target="../tags/tag206.xml"/><Relationship Id="rId42" Type="http://schemas.openxmlformats.org/officeDocument/2006/relationships/tags" Target="../tags/tag227.xml"/><Relationship Id="rId47" Type="http://schemas.openxmlformats.org/officeDocument/2006/relationships/tags" Target="../tags/tag232.xml"/><Relationship Id="rId63" Type="http://schemas.openxmlformats.org/officeDocument/2006/relationships/tags" Target="../tags/tag248.xml"/><Relationship Id="rId68" Type="http://schemas.openxmlformats.org/officeDocument/2006/relationships/tags" Target="../tags/tag253.xml"/><Relationship Id="rId84" Type="http://schemas.openxmlformats.org/officeDocument/2006/relationships/chart" Target="../charts/chart7.xml"/><Relationship Id="rId89" Type="http://schemas.openxmlformats.org/officeDocument/2006/relationships/slide" Target="slide53.xml"/><Relationship Id="rId16" Type="http://schemas.openxmlformats.org/officeDocument/2006/relationships/tags" Target="../tags/tag201.xml"/><Relationship Id="rId11" Type="http://schemas.openxmlformats.org/officeDocument/2006/relationships/tags" Target="../tags/tag196.xml"/><Relationship Id="rId32" Type="http://schemas.openxmlformats.org/officeDocument/2006/relationships/tags" Target="../tags/tag217.xml"/><Relationship Id="rId37" Type="http://schemas.openxmlformats.org/officeDocument/2006/relationships/tags" Target="../tags/tag222.xml"/><Relationship Id="rId53" Type="http://schemas.openxmlformats.org/officeDocument/2006/relationships/tags" Target="../tags/tag238.xml"/><Relationship Id="rId58" Type="http://schemas.openxmlformats.org/officeDocument/2006/relationships/tags" Target="../tags/tag243.xml"/><Relationship Id="rId74" Type="http://schemas.openxmlformats.org/officeDocument/2006/relationships/chart" Target="../charts/chart3.xml"/><Relationship Id="rId79" Type="http://schemas.openxmlformats.org/officeDocument/2006/relationships/slide" Target="slide26.xml"/><Relationship Id="rId5" Type="http://schemas.openxmlformats.org/officeDocument/2006/relationships/tags" Target="../tags/tag190.xml"/><Relationship Id="rId90" Type="http://schemas.openxmlformats.org/officeDocument/2006/relationships/slide" Target="slide55.xml"/><Relationship Id="rId14" Type="http://schemas.openxmlformats.org/officeDocument/2006/relationships/tags" Target="../tags/tag199.xml"/><Relationship Id="rId22" Type="http://schemas.openxmlformats.org/officeDocument/2006/relationships/tags" Target="../tags/tag207.xml"/><Relationship Id="rId27" Type="http://schemas.openxmlformats.org/officeDocument/2006/relationships/tags" Target="../tags/tag212.xml"/><Relationship Id="rId30" Type="http://schemas.openxmlformats.org/officeDocument/2006/relationships/tags" Target="../tags/tag215.xml"/><Relationship Id="rId35" Type="http://schemas.openxmlformats.org/officeDocument/2006/relationships/tags" Target="../tags/tag220.xml"/><Relationship Id="rId43" Type="http://schemas.openxmlformats.org/officeDocument/2006/relationships/tags" Target="../tags/tag228.xml"/><Relationship Id="rId48" Type="http://schemas.openxmlformats.org/officeDocument/2006/relationships/tags" Target="../tags/tag233.xml"/><Relationship Id="rId56" Type="http://schemas.openxmlformats.org/officeDocument/2006/relationships/tags" Target="../tags/tag241.xml"/><Relationship Id="rId64" Type="http://schemas.openxmlformats.org/officeDocument/2006/relationships/tags" Target="../tags/tag249.xml"/><Relationship Id="rId69" Type="http://schemas.openxmlformats.org/officeDocument/2006/relationships/tags" Target="../tags/tag254.xml"/><Relationship Id="rId77" Type="http://schemas.openxmlformats.org/officeDocument/2006/relationships/chart" Target="../charts/chart6.xml"/><Relationship Id="rId8" Type="http://schemas.openxmlformats.org/officeDocument/2006/relationships/tags" Target="../tags/tag193.xml"/><Relationship Id="rId51" Type="http://schemas.openxmlformats.org/officeDocument/2006/relationships/tags" Target="../tags/tag236.xml"/><Relationship Id="rId72" Type="http://schemas.openxmlformats.org/officeDocument/2006/relationships/oleObject" Target="../embeddings/oleObject6.bin"/><Relationship Id="rId80" Type="http://schemas.openxmlformats.org/officeDocument/2006/relationships/slide" Target="slide33.xml"/><Relationship Id="rId85" Type="http://schemas.openxmlformats.org/officeDocument/2006/relationships/slide" Target="slide4.xml"/><Relationship Id="rId3" Type="http://schemas.openxmlformats.org/officeDocument/2006/relationships/tags" Target="../tags/tag188.xml"/><Relationship Id="rId12" Type="http://schemas.openxmlformats.org/officeDocument/2006/relationships/tags" Target="../tags/tag197.xml"/><Relationship Id="rId17" Type="http://schemas.openxmlformats.org/officeDocument/2006/relationships/tags" Target="../tags/tag202.xml"/><Relationship Id="rId25" Type="http://schemas.openxmlformats.org/officeDocument/2006/relationships/tags" Target="../tags/tag210.xml"/><Relationship Id="rId33" Type="http://schemas.openxmlformats.org/officeDocument/2006/relationships/tags" Target="../tags/tag218.xml"/><Relationship Id="rId38" Type="http://schemas.openxmlformats.org/officeDocument/2006/relationships/tags" Target="../tags/tag223.xml"/><Relationship Id="rId46" Type="http://schemas.openxmlformats.org/officeDocument/2006/relationships/tags" Target="../tags/tag231.xml"/><Relationship Id="rId59" Type="http://schemas.openxmlformats.org/officeDocument/2006/relationships/tags" Target="../tags/tag244.xml"/><Relationship Id="rId67" Type="http://schemas.openxmlformats.org/officeDocument/2006/relationships/tags" Target="../tags/tag252.xml"/><Relationship Id="rId20" Type="http://schemas.openxmlformats.org/officeDocument/2006/relationships/tags" Target="../tags/tag205.xml"/><Relationship Id="rId41" Type="http://schemas.openxmlformats.org/officeDocument/2006/relationships/tags" Target="../tags/tag226.xml"/><Relationship Id="rId54" Type="http://schemas.openxmlformats.org/officeDocument/2006/relationships/tags" Target="../tags/tag239.xml"/><Relationship Id="rId62" Type="http://schemas.openxmlformats.org/officeDocument/2006/relationships/tags" Target="../tags/tag247.xml"/><Relationship Id="rId70" Type="http://schemas.openxmlformats.org/officeDocument/2006/relationships/tags" Target="../tags/tag255.xml"/><Relationship Id="rId75" Type="http://schemas.openxmlformats.org/officeDocument/2006/relationships/chart" Target="../charts/chart4.xml"/><Relationship Id="rId83" Type="http://schemas.openxmlformats.org/officeDocument/2006/relationships/slide" Target="slide73.xml"/><Relationship Id="rId88" Type="http://schemas.openxmlformats.org/officeDocument/2006/relationships/slide" Target="slide42.xml"/><Relationship Id="rId91" Type="http://schemas.openxmlformats.org/officeDocument/2006/relationships/slide" Target="slide59.xml"/><Relationship Id="rId1" Type="http://schemas.openxmlformats.org/officeDocument/2006/relationships/tags" Target="../tags/tag186.xml"/><Relationship Id="rId6" Type="http://schemas.openxmlformats.org/officeDocument/2006/relationships/tags" Target="../tags/tag191.xml"/><Relationship Id="rId15" Type="http://schemas.openxmlformats.org/officeDocument/2006/relationships/tags" Target="../tags/tag200.xml"/><Relationship Id="rId23" Type="http://schemas.openxmlformats.org/officeDocument/2006/relationships/tags" Target="../tags/tag208.xml"/><Relationship Id="rId28" Type="http://schemas.openxmlformats.org/officeDocument/2006/relationships/tags" Target="../tags/tag213.xml"/><Relationship Id="rId36" Type="http://schemas.openxmlformats.org/officeDocument/2006/relationships/tags" Target="../tags/tag221.xml"/><Relationship Id="rId49" Type="http://schemas.openxmlformats.org/officeDocument/2006/relationships/tags" Target="../tags/tag234.xml"/><Relationship Id="rId57" Type="http://schemas.openxmlformats.org/officeDocument/2006/relationships/tags" Target="../tags/tag242.xml"/><Relationship Id="rId10" Type="http://schemas.openxmlformats.org/officeDocument/2006/relationships/tags" Target="../tags/tag195.xml"/><Relationship Id="rId31" Type="http://schemas.openxmlformats.org/officeDocument/2006/relationships/tags" Target="../tags/tag216.xml"/><Relationship Id="rId44" Type="http://schemas.openxmlformats.org/officeDocument/2006/relationships/tags" Target="../tags/tag229.xml"/><Relationship Id="rId52" Type="http://schemas.openxmlformats.org/officeDocument/2006/relationships/tags" Target="../tags/tag237.xml"/><Relationship Id="rId60" Type="http://schemas.openxmlformats.org/officeDocument/2006/relationships/tags" Target="../tags/tag245.xml"/><Relationship Id="rId65" Type="http://schemas.openxmlformats.org/officeDocument/2006/relationships/tags" Target="../tags/tag250.xml"/><Relationship Id="rId73" Type="http://schemas.openxmlformats.org/officeDocument/2006/relationships/image" Target="../media/image15.emf"/><Relationship Id="rId78" Type="http://schemas.openxmlformats.org/officeDocument/2006/relationships/slide" Target="slide30.xml"/><Relationship Id="rId81" Type="http://schemas.openxmlformats.org/officeDocument/2006/relationships/slide" Target="slide34.xml"/><Relationship Id="rId86" Type="http://schemas.openxmlformats.org/officeDocument/2006/relationships/slide" Target="slide17.xml"/><Relationship Id="rId4" Type="http://schemas.openxmlformats.org/officeDocument/2006/relationships/tags" Target="../tags/tag189.xml"/><Relationship Id="rId9" Type="http://schemas.openxmlformats.org/officeDocument/2006/relationships/tags" Target="../tags/tag194.xml"/><Relationship Id="rId13" Type="http://schemas.openxmlformats.org/officeDocument/2006/relationships/tags" Target="../tags/tag198.xml"/><Relationship Id="rId18" Type="http://schemas.openxmlformats.org/officeDocument/2006/relationships/tags" Target="../tags/tag203.xml"/><Relationship Id="rId39" Type="http://schemas.openxmlformats.org/officeDocument/2006/relationships/tags" Target="../tags/tag224.xml"/><Relationship Id="rId34" Type="http://schemas.openxmlformats.org/officeDocument/2006/relationships/tags" Target="../tags/tag219.xml"/><Relationship Id="rId50" Type="http://schemas.openxmlformats.org/officeDocument/2006/relationships/tags" Target="../tags/tag235.xml"/><Relationship Id="rId55" Type="http://schemas.openxmlformats.org/officeDocument/2006/relationships/tags" Target="../tags/tag240.xml"/><Relationship Id="rId76" Type="http://schemas.openxmlformats.org/officeDocument/2006/relationships/chart" Target="../charts/chart5.xml"/><Relationship Id="rId7" Type="http://schemas.openxmlformats.org/officeDocument/2006/relationships/tags" Target="../tags/tag192.xml"/><Relationship Id="rId71" Type="http://schemas.openxmlformats.org/officeDocument/2006/relationships/slideLayout" Target="../slideLayouts/slideLayout9.xml"/><Relationship Id="rId2" Type="http://schemas.openxmlformats.org/officeDocument/2006/relationships/tags" Target="../tags/tag187.xml"/><Relationship Id="rId29" Type="http://schemas.openxmlformats.org/officeDocument/2006/relationships/tags" Target="../tags/tag214.xml"/><Relationship Id="rId24" Type="http://schemas.openxmlformats.org/officeDocument/2006/relationships/tags" Target="../tags/tag209.xml"/><Relationship Id="rId40" Type="http://schemas.openxmlformats.org/officeDocument/2006/relationships/tags" Target="../tags/tag225.xml"/><Relationship Id="rId45" Type="http://schemas.openxmlformats.org/officeDocument/2006/relationships/tags" Target="../tags/tag230.xml"/><Relationship Id="rId66" Type="http://schemas.openxmlformats.org/officeDocument/2006/relationships/tags" Target="../tags/tag251.xml"/><Relationship Id="rId87" Type="http://schemas.openxmlformats.org/officeDocument/2006/relationships/slide" Target="slide36.xml"/><Relationship Id="rId61" Type="http://schemas.openxmlformats.org/officeDocument/2006/relationships/tags" Target="../tags/tag246.xml"/><Relationship Id="rId82" Type="http://schemas.openxmlformats.org/officeDocument/2006/relationships/slide" Target="slide35.xml"/><Relationship Id="rId19" Type="http://schemas.openxmlformats.org/officeDocument/2006/relationships/tags" Target="../tags/tag204.xml"/></Relationships>
</file>

<file path=ppt/slides/_rels/slide9.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slide" Target="slide42.xml"/><Relationship Id="rId3" Type="http://schemas.openxmlformats.org/officeDocument/2006/relationships/tags" Target="../tags/tag258.xml"/><Relationship Id="rId7" Type="http://schemas.openxmlformats.org/officeDocument/2006/relationships/image" Target="../media/image15.emf"/><Relationship Id="rId12" Type="http://schemas.openxmlformats.org/officeDocument/2006/relationships/slide" Target="slide36.xml"/><Relationship Id="rId2" Type="http://schemas.openxmlformats.org/officeDocument/2006/relationships/tags" Target="../tags/tag257.xml"/><Relationship Id="rId16" Type="http://schemas.openxmlformats.org/officeDocument/2006/relationships/slide" Target="slide59.xml"/><Relationship Id="rId1" Type="http://schemas.openxmlformats.org/officeDocument/2006/relationships/tags" Target="../tags/tag256.xml"/><Relationship Id="rId6" Type="http://schemas.openxmlformats.org/officeDocument/2006/relationships/oleObject" Target="../embeddings/oleObject7.bin"/><Relationship Id="rId11" Type="http://schemas.openxmlformats.org/officeDocument/2006/relationships/slide" Target="slide17.xml"/><Relationship Id="rId5" Type="http://schemas.openxmlformats.org/officeDocument/2006/relationships/slideLayout" Target="../slideLayouts/slideLayout41.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259.xml"/><Relationship Id="rId9" Type="http://schemas.openxmlformats.org/officeDocument/2006/relationships/slide" Target="slide14.xml"/><Relationship Id="rId14" Type="http://schemas.openxmlformats.org/officeDocument/2006/relationships/slide" Target="slide53.xml"/></Relationships>
</file>

<file path=ppt/slides/_rels/slide10.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42.xml"/><Relationship Id="rId3" Type="http://schemas.openxmlformats.org/officeDocument/2006/relationships/tags" Target="../tags/tag262.xml"/><Relationship Id="rId7" Type="http://schemas.openxmlformats.org/officeDocument/2006/relationships/image" Target="../media/image15.emf"/><Relationship Id="rId12" Type="http://schemas.openxmlformats.org/officeDocument/2006/relationships/slide" Target="slide36.xml"/><Relationship Id="rId2" Type="http://schemas.openxmlformats.org/officeDocument/2006/relationships/tags" Target="../tags/tag261.xml"/><Relationship Id="rId16" Type="http://schemas.openxmlformats.org/officeDocument/2006/relationships/slide" Target="slide59.xml"/><Relationship Id="rId1" Type="http://schemas.openxmlformats.org/officeDocument/2006/relationships/tags" Target="../tags/tag260.xml"/><Relationship Id="rId6" Type="http://schemas.openxmlformats.org/officeDocument/2006/relationships/oleObject" Target="../embeddings/oleObject7.bin"/><Relationship Id="rId11" Type="http://schemas.openxmlformats.org/officeDocument/2006/relationships/slide" Target="slide17.xml"/><Relationship Id="rId5" Type="http://schemas.openxmlformats.org/officeDocument/2006/relationships/slideLayout" Target="../slideLayouts/slideLayout41.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263.xml"/><Relationship Id="rId9" Type="http://schemas.openxmlformats.org/officeDocument/2006/relationships/slide" Target="slide15.xml"/><Relationship Id="rId14" Type="http://schemas.openxmlformats.org/officeDocument/2006/relationships/slide" Target="slide53.xml"/></Relationships>
</file>

<file path=ppt/slides/_rels/slide11.xml.rels><?xml version="1.0" encoding="UTF-8" standalone="yes"?>
<Relationships xmlns="http://schemas.openxmlformats.org/package/2006/relationships"><Relationship Id="rId8" Type="http://schemas.openxmlformats.org/officeDocument/2006/relationships/slide" Target="slide45.xml"/><Relationship Id="rId13" Type="http://schemas.openxmlformats.org/officeDocument/2006/relationships/slide" Target="slide36.xml"/><Relationship Id="rId3" Type="http://schemas.openxmlformats.org/officeDocument/2006/relationships/tags" Target="../tags/tag266.xml"/><Relationship Id="rId7" Type="http://schemas.openxmlformats.org/officeDocument/2006/relationships/slideLayout" Target="../slideLayouts/slideLayout9.xml"/><Relationship Id="rId12" Type="http://schemas.openxmlformats.org/officeDocument/2006/relationships/slide" Target="slide17.xml"/><Relationship Id="rId17" Type="http://schemas.openxmlformats.org/officeDocument/2006/relationships/slide" Target="slide59.xml"/><Relationship Id="rId2" Type="http://schemas.openxmlformats.org/officeDocument/2006/relationships/tags" Target="../tags/tag265.xml"/><Relationship Id="rId16" Type="http://schemas.openxmlformats.org/officeDocument/2006/relationships/slide" Target="slide5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slide" Target="slide4.xml"/><Relationship Id="rId5" Type="http://schemas.openxmlformats.org/officeDocument/2006/relationships/tags" Target="../tags/tag268.xml"/><Relationship Id="rId15" Type="http://schemas.openxmlformats.org/officeDocument/2006/relationships/slide" Target="slide53.xml"/><Relationship Id="rId10" Type="http://schemas.openxmlformats.org/officeDocument/2006/relationships/image" Target="../media/image27.emf"/><Relationship Id="rId4" Type="http://schemas.openxmlformats.org/officeDocument/2006/relationships/tags" Target="../tags/tag267.xml"/><Relationship Id="rId9" Type="http://schemas.openxmlformats.org/officeDocument/2006/relationships/slide" Target="slide20.xml"/><Relationship Id="rId14" Type="http://schemas.openxmlformats.org/officeDocument/2006/relationships/slide" Target="slide42.xml"/></Relationships>
</file>

<file path=ppt/slides/_rels/slide12.x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slide" Target="slide42.xml"/><Relationship Id="rId3" Type="http://schemas.openxmlformats.org/officeDocument/2006/relationships/tags" Target="../tags/tag272.xml"/><Relationship Id="rId7" Type="http://schemas.openxmlformats.org/officeDocument/2006/relationships/slide" Target="slide20.xml"/><Relationship Id="rId12" Type="http://schemas.openxmlformats.org/officeDocument/2006/relationships/slide" Target="slide36.xml"/><Relationship Id="rId2" Type="http://schemas.openxmlformats.org/officeDocument/2006/relationships/tags" Target="../tags/tag271.xml"/><Relationship Id="rId16" Type="http://schemas.openxmlformats.org/officeDocument/2006/relationships/slide" Target="slide59.xml"/><Relationship Id="rId1" Type="http://schemas.openxmlformats.org/officeDocument/2006/relationships/tags" Target="../tags/tag270.xml"/><Relationship Id="rId6" Type="http://schemas.openxmlformats.org/officeDocument/2006/relationships/slide" Target="slide18.xml"/><Relationship Id="rId11" Type="http://schemas.openxmlformats.org/officeDocument/2006/relationships/slide" Target="slide17.xml"/><Relationship Id="rId5" Type="http://schemas.openxmlformats.org/officeDocument/2006/relationships/slideLayout" Target="../slideLayouts/slideLayout9.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273.xml"/><Relationship Id="rId9" Type="http://schemas.openxmlformats.org/officeDocument/2006/relationships/image" Target="../media/image29.emf"/><Relationship Id="rId14" Type="http://schemas.openxmlformats.org/officeDocument/2006/relationships/slide" Target="slide53.xml"/></Relationships>
</file>

<file path=ppt/slides/_rels/slide13.xml.rels><?xml version="1.0" encoding="UTF-8" standalone="yes"?>
<Relationships xmlns="http://schemas.openxmlformats.org/package/2006/relationships"><Relationship Id="rId8" Type="http://schemas.openxmlformats.org/officeDocument/2006/relationships/image" Target="../media/image30.emf"/><Relationship Id="rId13" Type="http://schemas.openxmlformats.org/officeDocument/2006/relationships/slide" Target="slide42.xml"/><Relationship Id="rId3" Type="http://schemas.openxmlformats.org/officeDocument/2006/relationships/tags" Target="../tags/tag276.xml"/><Relationship Id="rId7" Type="http://schemas.openxmlformats.org/officeDocument/2006/relationships/slide" Target="slide45.xml"/><Relationship Id="rId12" Type="http://schemas.openxmlformats.org/officeDocument/2006/relationships/slide" Target="slide36.xml"/><Relationship Id="rId2" Type="http://schemas.openxmlformats.org/officeDocument/2006/relationships/tags" Target="../tags/tag275.xml"/><Relationship Id="rId16" Type="http://schemas.openxmlformats.org/officeDocument/2006/relationships/slide" Target="slide59.xml"/><Relationship Id="rId1" Type="http://schemas.openxmlformats.org/officeDocument/2006/relationships/tags" Target="../tags/tag274.xml"/><Relationship Id="rId6" Type="http://schemas.openxmlformats.org/officeDocument/2006/relationships/slide" Target="slide43.xml"/><Relationship Id="rId11" Type="http://schemas.openxmlformats.org/officeDocument/2006/relationships/slide" Target="slide17.xml"/><Relationship Id="rId5" Type="http://schemas.openxmlformats.org/officeDocument/2006/relationships/slideLayout" Target="../slideLayouts/slideLayout9.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277.xml"/><Relationship Id="rId9" Type="http://schemas.openxmlformats.org/officeDocument/2006/relationships/image" Target="../media/image31.emf"/><Relationship Id="rId14" Type="http://schemas.openxmlformats.org/officeDocument/2006/relationships/slide" Target="slide53.xml"/></Relationships>
</file>

<file path=ppt/slides/_rels/slide14.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Layout" Target="../slideLayouts/slideLayout9.xml"/><Relationship Id="rId7" Type="http://schemas.openxmlformats.org/officeDocument/2006/relationships/slide" Target="slide17.xml"/><Relationship Id="rId12" Type="http://schemas.openxmlformats.org/officeDocument/2006/relationships/slide" Target="slide59.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slide" Target="slide4.xml"/><Relationship Id="rId11" Type="http://schemas.openxmlformats.org/officeDocument/2006/relationships/slide" Target="slide55.xml"/><Relationship Id="rId5" Type="http://schemas.openxmlformats.org/officeDocument/2006/relationships/slide" Target="slide39.xml"/><Relationship Id="rId10" Type="http://schemas.openxmlformats.org/officeDocument/2006/relationships/slide" Target="slide53.xml"/><Relationship Id="rId4" Type="http://schemas.openxmlformats.org/officeDocument/2006/relationships/slide" Target="slide37.xml"/><Relationship Id="rId9" Type="http://schemas.openxmlformats.org/officeDocument/2006/relationships/slide" Target="slide42.xml"/></Relationships>
</file>

<file path=ppt/slides/_rels/slide15.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slideLayout" Target="../slideLayouts/slideLayout9.xml"/><Relationship Id="rId7" Type="http://schemas.openxmlformats.org/officeDocument/2006/relationships/slide" Target="slide36.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slide" Target="slide17.xml"/><Relationship Id="rId11" Type="http://schemas.openxmlformats.org/officeDocument/2006/relationships/slide" Target="slide59.xml"/><Relationship Id="rId5" Type="http://schemas.openxmlformats.org/officeDocument/2006/relationships/slide" Target="slide4.xml"/><Relationship Id="rId10" Type="http://schemas.openxmlformats.org/officeDocument/2006/relationships/slide" Target="slide55.xml"/><Relationship Id="rId4" Type="http://schemas.openxmlformats.org/officeDocument/2006/relationships/slide" Target="slide56.xml"/><Relationship Id="rId9" Type="http://schemas.openxmlformats.org/officeDocument/2006/relationships/slide" Target="slide53.xml"/></Relationships>
</file>

<file path=ppt/slides/_rels/slide16.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284.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image" Target="../media/image15.emf"/><Relationship Id="rId11" Type="http://schemas.openxmlformats.org/officeDocument/2006/relationships/slide" Target="slide53.xml"/><Relationship Id="rId5" Type="http://schemas.openxmlformats.org/officeDocument/2006/relationships/oleObject" Target="../embeddings/oleObject8.bin"/><Relationship Id="rId10" Type="http://schemas.openxmlformats.org/officeDocument/2006/relationships/slide" Target="slide42.xml"/><Relationship Id="rId4" Type="http://schemas.openxmlformats.org/officeDocument/2006/relationships/slideLayout" Target="../slideLayouts/slideLayout9.xml"/><Relationship Id="rId9" Type="http://schemas.openxmlformats.org/officeDocument/2006/relationships/slide" Target="slide36.xml"/></Relationships>
</file>

<file path=ppt/slides/_rels/slide17.xml.rels><?xml version="1.0" encoding="UTF-8" standalone="yes"?>
<Relationships xmlns="http://schemas.openxmlformats.org/package/2006/relationships"><Relationship Id="rId8" Type="http://schemas.openxmlformats.org/officeDocument/2006/relationships/tags" Target="../tags/tag292.xml"/><Relationship Id="rId13" Type="http://schemas.openxmlformats.org/officeDocument/2006/relationships/tags" Target="../tags/tag297.xml"/><Relationship Id="rId18" Type="http://schemas.openxmlformats.org/officeDocument/2006/relationships/tags" Target="../tags/tag302.xml"/><Relationship Id="rId26" Type="http://schemas.openxmlformats.org/officeDocument/2006/relationships/slide" Target="slide33.xml"/><Relationship Id="rId3" Type="http://schemas.openxmlformats.org/officeDocument/2006/relationships/tags" Target="../tags/tag287.xml"/><Relationship Id="rId21" Type="http://schemas.openxmlformats.org/officeDocument/2006/relationships/slide" Target="slide17.xml"/><Relationship Id="rId7" Type="http://schemas.openxmlformats.org/officeDocument/2006/relationships/tags" Target="../tags/tag291.xml"/><Relationship Id="rId12" Type="http://schemas.openxmlformats.org/officeDocument/2006/relationships/tags" Target="../tags/tag296.xml"/><Relationship Id="rId17" Type="http://schemas.openxmlformats.org/officeDocument/2006/relationships/tags" Target="../tags/tag301.xml"/><Relationship Id="rId25" Type="http://schemas.openxmlformats.org/officeDocument/2006/relationships/slide" Target="slide32.xml"/><Relationship Id="rId2" Type="http://schemas.openxmlformats.org/officeDocument/2006/relationships/tags" Target="../tags/tag286.xml"/><Relationship Id="rId16" Type="http://schemas.openxmlformats.org/officeDocument/2006/relationships/tags" Target="../tags/tag300.xml"/><Relationship Id="rId20" Type="http://schemas.openxmlformats.org/officeDocument/2006/relationships/slideLayout" Target="../slideLayouts/slideLayout34.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tags" Target="../tags/tag295.xml"/><Relationship Id="rId24" Type="http://schemas.openxmlformats.org/officeDocument/2006/relationships/slide" Target="slide26.xml"/><Relationship Id="rId5" Type="http://schemas.openxmlformats.org/officeDocument/2006/relationships/tags" Target="../tags/tag289.xml"/><Relationship Id="rId15" Type="http://schemas.openxmlformats.org/officeDocument/2006/relationships/tags" Target="../tags/tag299.xml"/><Relationship Id="rId23" Type="http://schemas.openxmlformats.org/officeDocument/2006/relationships/slide" Target="slide25.xml"/><Relationship Id="rId10" Type="http://schemas.openxmlformats.org/officeDocument/2006/relationships/tags" Target="../tags/tag294.xml"/><Relationship Id="rId19" Type="http://schemas.openxmlformats.org/officeDocument/2006/relationships/tags" Target="../tags/tag303.xml"/><Relationship Id="rId4" Type="http://schemas.openxmlformats.org/officeDocument/2006/relationships/tags" Target="../tags/tag288.xml"/><Relationship Id="rId9" Type="http://schemas.openxmlformats.org/officeDocument/2006/relationships/tags" Target="../tags/tag293.xml"/><Relationship Id="rId14" Type="http://schemas.openxmlformats.org/officeDocument/2006/relationships/tags" Target="../tags/tag298.xml"/><Relationship Id="rId22" Type="http://schemas.openxmlformats.org/officeDocument/2006/relationships/slide" Target="slide18.xml"/></Relationships>
</file>

<file path=ppt/slides/_rels/slide18.x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slide" Target="slide53.xml"/><Relationship Id="rId3" Type="http://schemas.openxmlformats.org/officeDocument/2006/relationships/tags" Target="../tags/tag306.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slide" Target="slide36.xml"/><Relationship Id="rId5" Type="http://schemas.openxmlformats.org/officeDocument/2006/relationships/tags" Target="../tags/tag308.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07.xml"/><Relationship Id="rId9" Type="http://schemas.openxmlformats.org/officeDocument/2006/relationships/slide" Target="slide4.xml"/><Relationship Id="rId14" Type="http://schemas.openxmlformats.org/officeDocument/2006/relationships/slide" Target="slide55.xml"/></Relationships>
</file>

<file path=ppt/slides/_rels/slide19.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slide" Target="slide53.xml"/><Relationship Id="rId3" Type="http://schemas.openxmlformats.org/officeDocument/2006/relationships/tags" Target="../tags/tag312.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slide" Target="slide36.xml"/><Relationship Id="rId5" Type="http://schemas.openxmlformats.org/officeDocument/2006/relationships/tags" Target="../tags/tag314.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13.xml"/><Relationship Id="rId9" Type="http://schemas.openxmlformats.org/officeDocument/2006/relationships/slide" Target="slide4.xml"/><Relationship Id="rId14" Type="http://schemas.openxmlformats.org/officeDocument/2006/relationships/slide" Target="slide55.xml"/></Relationships>
</file>

<file path=ppt/slides/_rels/slide20.xml.rels><?xml version="1.0" encoding="UTF-8" standalone="yes"?>
<Relationships xmlns="http://schemas.openxmlformats.org/package/2006/relationships"><Relationship Id="rId8" Type="http://schemas.openxmlformats.org/officeDocument/2006/relationships/image" Target="../media/image34.emf"/><Relationship Id="rId13" Type="http://schemas.openxmlformats.org/officeDocument/2006/relationships/slide" Target="slide53.xml"/><Relationship Id="rId3" Type="http://schemas.openxmlformats.org/officeDocument/2006/relationships/tags" Target="../tags/tag318.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tags" Target="../tags/tag321.xml"/><Relationship Id="rId11" Type="http://schemas.openxmlformats.org/officeDocument/2006/relationships/slide" Target="slide36.xml"/><Relationship Id="rId5" Type="http://schemas.openxmlformats.org/officeDocument/2006/relationships/tags" Target="../tags/tag320.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19.xml"/><Relationship Id="rId9" Type="http://schemas.openxmlformats.org/officeDocument/2006/relationships/slide" Target="slide4.xml"/><Relationship Id="rId14" Type="http://schemas.openxmlformats.org/officeDocument/2006/relationships/slide" Target="slide55.xml"/></Relationships>
</file>

<file path=ppt/slides/_rels/slide21.xml.rels><?xml version="1.0" encoding="UTF-8" standalone="yes"?>
<Relationships xmlns="http://schemas.openxmlformats.org/package/2006/relationships"><Relationship Id="rId8" Type="http://schemas.openxmlformats.org/officeDocument/2006/relationships/image" Target="../media/image35.emf"/><Relationship Id="rId13" Type="http://schemas.openxmlformats.org/officeDocument/2006/relationships/slide" Target="slide53.xml"/><Relationship Id="rId3" Type="http://schemas.openxmlformats.org/officeDocument/2006/relationships/tags" Target="../tags/tag324.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slide" Target="slide36.xml"/><Relationship Id="rId5" Type="http://schemas.openxmlformats.org/officeDocument/2006/relationships/tags" Target="../tags/tag326.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25.xml"/><Relationship Id="rId9" Type="http://schemas.openxmlformats.org/officeDocument/2006/relationships/slide" Target="slide4.xml"/><Relationship Id="rId14" Type="http://schemas.openxmlformats.org/officeDocument/2006/relationships/slide" Target="slide55.xml"/></Relationships>
</file>

<file path=ppt/slides/_rels/slide22.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slide" Target="slide53.xml"/><Relationship Id="rId3" Type="http://schemas.openxmlformats.org/officeDocument/2006/relationships/tags" Target="../tags/tag330.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29.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slide" Target="slide36.xml"/><Relationship Id="rId5" Type="http://schemas.openxmlformats.org/officeDocument/2006/relationships/tags" Target="../tags/tag332.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31.xml"/><Relationship Id="rId9" Type="http://schemas.openxmlformats.org/officeDocument/2006/relationships/slide" Target="slide4.xml"/><Relationship Id="rId14" Type="http://schemas.openxmlformats.org/officeDocument/2006/relationships/slide" Target="slide55.xml"/></Relationships>
</file>

<file path=ppt/slides/_rels/slide23.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slide" Target="slide53.xml"/><Relationship Id="rId3" Type="http://schemas.openxmlformats.org/officeDocument/2006/relationships/tags" Target="../tags/tag336.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35.xml"/><Relationship Id="rId1" Type="http://schemas.openxmlformats.org/officeDocument/2006/relationships/tags" Target="../tags/tag334.xml"/><Relationship Id="rId6" Type="http://schemas.openxmlformats.org/officeDocument/2006/relationships/tags" Target="../tags/tag339.xml"/><Relationship Id="rId11" Type="http://schemas.openxmlformats.org/officeDocument/2006/relationships/slide" Target="slide36.xml"/><Relationship Id="rId5" Type="http://schemas.openxmlformats.org/officeDocument/2006/relationships/tags" Target="../tags/tag338.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37.xml"/><Relationship Id="rId9" Type="http://schemas.openxmlformats.org/officeDocument/2006/relationships/slide" Target="slide4.xml"/><Relationship Id="rId14" Type="http://schemas.openxmlformats.org/officeDocument/2006/relationships/slide" Target="slide55.xml"/></Relationships>
</file>

<file path=ppt/slides/_rels/slide24.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slide" Target="slide53.xml"/><Relationship Id="rId3" Type="http://schemas.openxmlformats.org/officeDocument/2006/relationships/tags" Target="../tags/tag342.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slide" Target="slide36.xml"/><Relationship Id="rId5" Type="http://schemas.openxmlformats.org/officeDocument/2006/relationships/tags" Target="../tags/tag344.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43.xml"/><Relationship Id="rId9" Type="http://schemas.openxmlformats.org/officeDocument/2006/relationships/slide" Target="slide4.xml"/><Relationship Id="rId14" Type="http://schemas.openxmlformats.org/officeDocument/2006/relationships/slide" Target="slide55.xml"/></Relationships>
</file>

<file path=ppt/slides/_rels/slide25.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348.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image" Target="../media/image39.emf"/><Relationship Id="rId11" Type="http://schemas.openxmlformats.org/officeDocument/2006/relationships/slide" Target="slide53.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349.xml"/><Relationship Id="rId9" Type="http://schemas.openxmlformats.org/officeDocument/2006/relationships/slide" Target="slide36.xml"/></Relationships>
</file>

<file path=ppt/slides/_rels/slide2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352.xml"/><Relationship Id="rId7" Type="http://schemas.openxmlformats.org/officeDocument/2006/relationships/image" Target="../media/image40.emf"/><Relationship Id="rId12" Type="http://schemas.openxmlformats.org/officeDocument/2006/relationships/slide" Target="slide53.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354.xml"/><Relationship Id="rId10" Type="http://schemas.openxmlformats.org/officeDocument/2006/relationships/slide" Target="slide36.xml"/><Relationship Id="rId4" Type="http://schemas.openxmlformats.org/officeDocument/2006/relationships/tags" Target="../tags/tag353.xml"/><Relationship Id="rId9" Type="http://schemas.openxmlformats.org/officeDocument/2006/relationships/slide" Target="slide17.xml"/><Relationship Id="rId14" Type="http://schemas.openxmlformats.org/officeDocument/2006/relationships/slide" Target="slide59.xml"/></Relationships>
</file>

<file path=ppt/slides/_rels/slide2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357.xml"/><Relationship Id="rId7" Type="http://schemas.openxmlformats.org/officeDocument/2006/relationships/image" Target="../media/image41.emf"/><Relationship Id="rId12" Type="http://schemas.openxmlformats.org/officeDocument/2006/relationships/slide" Target="slide53.xml"/><Relationship Id="rId2" Type="http://schemas.openxmlformats.org/officeDocument/2006/relationships/tags" Target="../tags/tag356.xml"/><Relationship Id="rId1" Type="http://schemas.openxmlformats.org/officeDocument/2006/relationships/tags" Target="../tags/tag355.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359.xml"/><Relationship Id="rId10" Type="http://schemas.openxmlformats.org/officeDocument/2006/relationships/slide" Target="slide36.xml"/><Relationship Id="rId4" Type="http://schemas.openxmlformats.org/officeDocument/2006/relationships/tags" Target="../tags/tag358.xml"/><Relationship Id="rId9" Type="http://schemas.openxmlformats.org/officeDocument/2006/relationships/slide" Target="slide17.xml"/><Relationship Id="rId14" Type="http://schemas.openxmlformats.org/officeDocument/2006/relationships/slide" Target="slide59.xml"/></Relationships>
</file>

<file path=ppt/slides/_rels/slide2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362.xml"/><Relationship Id="rId7" Type="http://schemas.openxmlformats.org/officeDocument/2006/relationships/image" Target="../media/image42.emf"/><Relationship Id="rId12" Type="http://schemas.openxmlformats.org/officeDocument/2006/relationships/slide" Target="slide53.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364.xml"/><Relationship Id="rId10" Type="http://schemas.openxmlformats.org/officeDocument/2006/relationships/slide" Target="slide36.xml"/><Relationship Id="rId4" Type="http://schemas.openxmlformats.org/officeDocument/2006/relationships/tags" Target="../tags/tag363.xml"/><Relationship Id="rId9" Type="http://schemas.openxmlformats.org/officeDocument/2006/relationships/slide" Target="slide17.xml"/><Relationship Id="rId14" Type="http://schemas.openxmlformats.org/officeDocument/2006/relationships/slide" Target="slide59.xml"/></Relationships>
</file>

<file path=ppt/slides/_rels/slide2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367.xml"/><Relationship Id="rId7" Type="http://schemas.openxmlformats.org/officeDocument/2006/relationships/image" Target="../media/image43.emf"/><Relationship Id="rId12" Type="http://schemas.openxmlformats.org/officeDocument/2006/relationships/slide" Target="slide53.xml"/><Relationship Id="rId2" Type="http://schemas.openxmlformats.org/officeDocument/2006/relationships/tags" Target="../tags/tag366.xml"/><Relationship Id="rId1" Type="http://schemas.openxmlformats.org/officeDocument/2006/relationships/tags" Target="../tags/tag365.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369.xml"/><Relationship Id="rId10" Type="http://schemas.openxmlformats.org/officeDocument/2006/relationships/slide" Target="slide36.xml"/><Relationship Id="rId4" Type="http://schemas.openxmlformats.org/officeDocument/2006/relationships/tags" Target="../tags/tag368.xml"/><Relationship Id="rId9" Type="http://schemas.openxmlformats.org/officeDocument/2006/relationships/slide" Target="slide17.xml"/><Relationship Id="rId14" Type="http://schemas.openxmlformats.org/officeDocument/2006/relationships/slide" Target="slide59.xml"/></Relationships>
</file>

<file path=ppt/slides/_rels/slide30.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slide" Target="slide53.xml"/><Relationship Id="rId3" Type="http://schemas.openxmlformats.org/officeDocument/2006/relationships/tags" Target="../tags/tag372.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11" Type="http://schemas.openxmlformats.org/officeDocument/2006/relationships/slide" Target="slide36.xml"/><Relationship Id="rId5" Type="http://schemas.openxmlformats.org/officeDocument/2006/relationships/tags" Target="../tags/tag374.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73.xml"/><Relationship Id="rId9" Type="http://schemas.openxmlformats.org/officeDocument/2006/relationships/slide" Target="slide4.xml"/><Relationship Id="rId14" Type="http://schemas.openxmlformats.org/officeDocument/2006/relationships/slide" Target="slide55.xml"/></Relationships>
</file>

<file path=ppt/slides/_rels/slide31.xml.rels><?xml version="1.0" encoding="UTF-8" standalone="yes"?>
<Relationships xmlns="http://schemas.openxmlformats.org/package/2006/relationships"><Relationship Id="rId8" Type="http://schemas.openxmlformats.org/officeDocument/2006/relationships/image" Target="../media/image45.emf"/><Relationship Id="rId13" Type="http://schemas.openxmlformats.org/officeDocument/2006/relationships/slide" Target="slide42.xml"/><Relationship Id="rId3" Type="http://schemas.openxmlformats.org/officeDocument/2006/relationships/tags" Target="../tags/tag378.xml"/><Relationship Id="rId7" Type="http://schemas.openxmlformats.org/officeDocument/2006/relationships/slideLayout" Target="../slideLayouts/slideLayout9.xml"/><Relationship Id="rId12" Type="http://schemas.openxmlformats.org/officeDocument/2006/relationships/slide" Target="slide36.xml"/><Relationship Id="rId2" Type="http://schemas.openxmlformats.org/officeDocument/2006/relationships/tags" Target="../tags/tag377.xml"/><Relationship Id="rId16" Type="http://schemas.openxmlformats.org/officeDocument/2006/relationships/slide" Target="slide59.xml"/><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slide" Target="slide17.xml"/><Relationship Id="rId5" Type="http://schemas.openxmlformats.org/officeDocument/2006/relationships/tags" Target="../tags/tag380.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379.xml"/><Relationship Id="rId9" Type="http://schemas.openxmlformats.org/officeDocument/2006/relationships/image" Target="../media/image46.emf"/><Relationship Id="rId14" Type="http://schemas.openxmlformats.org/officeDocument/2006/relationships/slide" Target="slide53.xml"/></Relationships>
</file>

<file path=ppt/slides/_rels/slide32.xml.rels><?xml version="1.0" encoding="UTF-8" standalone="yes"?>
<Relationships xmlns="http://schemas.openxmlformats.org/package/2006/relationships"><Relationship Id="rId8" Type="http://schemas.openxmlformats.org/officeDocument/2006/relationships/image" Target="../media/image47.emf"/><Relationship Id="rId13" Type="http://schemas.openxmlformats.org/officeDocument/2006/relationships/slide" Target="slide53.xml"/><Relationship Id="rId3" Type="http://schemas.openxmlformats.org/officeDocument/2006/relationships/tags" Target="../tags/tag384.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383.xml"/><Relationship Id="rId1" Type="http://schemas.openxmlformats.org/officeDocument/2006/relationships/tags" Target="../tags/tag382.xml"/><Relationship Id="rId6" Type="http://schemas.openxmlformats.org/officeDocument/2006/relationships/tags" Target="../tags/tag387.xml"/><Relationship Id="rId11" Type="http://schemas.openxmlformats.org/officeDocument/2006/relationships/slide" Target="slide36.xml"/><Relationship Id="rId5" Type="http://schemas.openxmlformats.org/officeDocument/2006/relationships/tags" Target="../tags/tag386.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85.xml"/><Relationship Id="rId9" Type="http://schemas.openxmlformats.org/officeDocument/2006/relationships/slide" Target="slide4.xml"/><Relationship Id="rId14" Type="http://schemas.openxmlformats.org/officeDocument/2006/relationships/slide" Target="slide55.xml"/></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slide" Target="slide53.xml"/><Relationship Id="rId3" Type="http://schemas.openxmlformats.org/officeDocument/2006/relationships/tags" Target="../tags/tag390.xml"/><Relationship Id="rId7" Type="http://schemas.openxmlformats.org/officeDocument/2006/relationships/image" Target="../media/image48.emf"/><Relationship Id="rId12" Type="http://schemas.openxmlformats.org/officeDocument/2006/relationships/slide" Target="slide42.xml"/><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392.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91.xml"/><Relationship Id="rId9" Type="http://schemas.openxmlformats.org/officeDocument/2006/relationships/slide" Target="slide4.xml"/><Relationship Id="rId14" Type="http://schemas.openxmlformats.org/officeDocument/2006/relationships/slide" Target="slide55.xml"/></Relationships>
</file>

<file path=ppt/slides/_rels/slide3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slide" Target="slide53.xml"/><Relationship Id="rId3" Type="http://schemas.openxmlformats.org/officeDocument/2006/relationships/tags" Target="../tags/tag395.xml"/><Relationship Id="rId7" Type="http://schemas.openxmlformats.org/officeDocument/2006/relationships/image" Target="../media/image50.emf"/><Relationship Id="rId12" Type="http://schemas.openxmlformats.org/officeDocument/2006/relationships/slide" Target="slide42.xml"/><Relationship Id="rId2" Type="http://schemas.openxmlformats.org/officeDocument/2006/relationships/tags" Target="../tags/tag394.xml"/><Relationship Id="rId1" Type="http://schemas.openxmlformats.org/officeDocument/2006/relationships/tags" Target="../tags/tag393.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397.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396.xml"/><Relationship Id="rId9" Type="http://schemas.openxmlformats.org/officeDocument/2006/relationships/slide" Target="slide4.xml"/><Relationship Id="rId14" Type="http://schemas.openxmlformats.org/officeDocument/2006/relationships/slide" Target="slide55.xml"/></Relationships>
</file>

<file path=ppt/slides/_rels/slide3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slide" Target="slide53.xml"/><Relationship Id="rId3" Type="http://schemas.openxmlformats.org/officeDocument/2006/relationships/tags" Target="../tags/tag400.xml"/><Relationship Id="rId7" Type="http://schemas.openxmlformats.org/officeDocument/2006/relationships/image" Target="../media/image51.emf"/><Relationship Id="rId12" Type="http://schemas.openxmlformats.org/officeDocument/2006/relationships/slide" Target="slide42.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402.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01.xml"/><Relationship Id="rId9" Type="http://schemas.openxmlformats.org/officeDocument/2006/relationships/slide" Target="slide4.xml"/><Relationship Id="rId14" Type="http://schemas.openxmlformats.org/officeDocument/2006/relationships/slide" Target="slide55.xml"/></Relationships>
</file>

<file path=ppt/slides/_rels/slide36.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slide" Target="slide37.xml"/><Relationship Id="rId3" Type="http://schemas.openxmlformats.org/officeDocument/2006/relationships/tags" Target="../tags/tag405.xml"/><Relationship Id="rId7" Type="http://schemas.openxmlformats.org/officeDocument/2006/relationships/tags" Target="../tags/tag409.xml"/><Relationship Id="rId12" Type="http://schemas.openxmlformats.org/officeDocument/2006/relationships/slide" Target="slide36.xml"/><Relationship Id="rId2" Type="http://schemas.openxmlformats.org/officeDocument/2006/relationships/tags" Target="../tags/tag404.xm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slideLayout" Target="../slideLayouts/slideLayout34.xml"/><Relationship Id="rId5" Type="http://schemas.openxmlformats.org/officeDocument/2006/relationships/tags" Target="../tags/tag407.xml"/><Relationship Id="rId10" Type="http://schemas.openxmlformats.org/officeDocument/2006/relationships/tags" Target="../tags/tag412.xml"/><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slide" Target="slide40.xml"/></Relationships>
</file>

<file path=ppt/slides/_rels/slide3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slide" Target="slide53.xml"/><Relationship Id="rId3" Type="http://schemas.openxmlformats.org/officeDocument/2006/relationships/tags" Target="../tags/tag415.xml"/><Relationship Id="rId7" Type="http://schemas.openxmlformats.org/officeDocument/2006/relationships/image" Target="../media/image52.emf"/><Relationship Id="rId12" Type="http://schemas.openxmlformats.org/officeDocument/2006/relationships/slide" Target="slide42.xml"/><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417.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16.xml"/><Relationship Id="rId9" Type="http://schemas.openxmlformats.org/officeDocument/2006/relationships/slide" Target="slide4.xml"/><Relationship Id="rId14" Type="http://schemas.openxmlformats.org/officeDocument/2006/relationships/slide" Target="slide55.xml"/></Relationships>
</file>

<file path=ppt/slides/_rels/slide38.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slide" Target="slide53.xml"/><Relationship Id="rId3" Type="http://schemas.openxmlformats.org/officeDocument/2006/relationships/tags" Target="../tags/tag420.xml"/><Relationship Id="rId7" Type="http://schemas.openxmlformats.org/officeDocument/2006/relationships/image" Target="../media/image53.emf"/><Relationship Id="rId12" Type="http://schemas.openxmlformats.org/officeDocument/2006/relationships/slide" Target="slide42.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422.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21.xml"/><Relationship Id="rId9" Type="http://schemas.openxmlformats.org/officeDocument/2006/relationships/slide" Target="slide4.xml"/><Relationship Id="rId14" Type="http://schemas.openxmlformats.org/officeDocument/2006/relationships/slide" Target="slide55.xml"/></Relationships>
</file>

<file path=ppt/slides/_rels/slide39.xml.rels><?xml version="1.0" encoding="UTF-8" standalone="yes"?>
<Relationships xmlns="http://schemas.openxmlformats.org/package/2006/relationships"><Relationship Id="rId8" Type="http://schemas.openxmlformats.org/officeDocument/2006/relationships/image" Target="../media/image54.emf"/><Relationship Id="rId13" Type="http://schemas.openxmlformats.org/officeDocument/2006/relationships/slide" Target="slide53.xml"/><Relationship Id="rId3" Type="http://schemas.openxmlformats.org/officeDocument/2006/relationships/tags" Target="../tags/tag425.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24.xml"/><Relationship Id="rId1" Type="http://schemas.openxmlformats.org/officeDocument/2006/relationships/tags" Target="../tags/tag423.xml"/><Relationship Id="rId6" Type="http://schemas.openxmlformats.org/officeDocument/2006/relationships/tags" Target="../tags/tag428.xml"/><Relationship Id="rId11" Type="http://schemas.openxmlformats.org/officeDocument/2006/relationships/slide" Target="slide36.xml"/><Relationship Id="rId5" Type="http://schemas.openxmlformats.org/officeDocument/2006/relationships/tags" Target="../tags/tag427.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26.xml"/><Relationship Id="rId9" Type="http://schemas.openxmlformats.org/officeDocument/2006/relationships/slide" Target="slide4.xml"/><Relationship Id="rId14" Type="http://schemas.openxmlformats.org/officeDocument/2006/relationships/slide" Target="slide55.xml"/></Relationships>
</file>

<file path=ppt/slides/_rels/slide40.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431.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430.xml"/><Relationship Id="rId1" Type="http://schemas.openxmlformats.org/officeDocument/2006/relationships/tags" Target="../tags/tag429.xml"/><Relationship Id="rId6" Type="http://schemas.openxmlformats.org/officeDocument/2006/relationships/image" Target="../media/image55.emf"/><Relationship Id="rId11" Type="http://schemas.openxmlformats.org/officeDocument/2006/relationships/slide" Target="slide53.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432.xml"/><Relationship Id="rId9" Type="http://schemas.openxmlformats.org/officeDocument/2006/relationships/slide" Target="slide36.xml"/></Relationships>
</file>

<file path=ppt/slides/_rels/slide4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435.xml"/><Relationship Id="rId7" Type="http://schemas.openxmlformats.org/officeDocument/2006/relationships/image" Target="../media/image56.emf"/><Relationship Id="rId12" Type="http://schemas.openxmlformats.org/officeDocument/2006/relationships/slide" Target="slide53.xml"/><Relationship Id="rId2" Type="http://schemas.openxmlformats.org/officeDocument/2006/relationships/tags" Target="../tags/tag434.xml"/><Relationship Id="rId1" Type="http://schemas.openxmlformats.org/officeDocument/2006/relationships/tags" Target="../tags/tag433.xml"/><Relationship Id="rId6" Type="http://schemas.openxmlformats.org/officeDocument/2006/relationships/slideLayout" Target="../slideLayouts/slideLayout9.xml"/><Relationship Id="rId11" Type="http://schemas.openxmlformats.org/officeDocument/2006/relationships/slide" Target="slide42.xml"/><Relationship Id="rId5" Type="http://schemas.openxmlformats.org/officeDocument/2006/relationships/tags" Target="../tags/tag437.xml"/><Relationship Id="rId10" Type="http://schemas.openxmlformats.org/officeDocument/2006/relationships/slide" Target="slide36.xml"/><Relationship Id="rId4" Type="http://schemas.openxmlformats.org/officeDocument/2006/relationships/tags" Target="../tags/tag436.xml"/><Relationship Id="rId9" Type="http://schemas.openxmlformats.org/officeDocument/2006/relationships/slide" Target="slide17.xml"/><Relationship Id="rId14" Type="http://schemas.openxmlformats.org/officeDocument/2006/relationships/slide" Target="slide59.xml"/></Relationships>
</file>

<file path=ppt/slides/_rels/slide42.xml.rels><?xml version="1.0" encoding="UTF-8" standalone="yes"?>
<Relationships xmlns="http://schemas.openxmlformats.org/package/2006/relationships"><Relationship Id="rId8" Type="http://schemas.openxmlformats.org/officeDocument/2006/relationships/tags" Target="../tags/tag445.xml"/><Relationship Id="rId13" Type="http://schemas.openxmlformats.org/officeDocument/2006/relationships/tags" Target="../tags/tag450.xml"/><Relationship Id="rId18" Type="http://schemas.openxmlformats.org/officeDocument/2006/relationships/slide" Target="slide49.xml"/><Relationship Id="rId3" Type="http://schemas.openxmlformats.org/officeDocument/2006/relationships/tags" Target="../tags/tag440.xml"/><Relationship Id="rId7" Type="http://schemas.openxmlformats.org/officeDocument/2006/relationships/tags" Target="../tags/tag444.xml"/><Relationship Id="rId12" Type="http://schemas.openxmlformats.org/officeDocument/2006/relationships/tags" Target="../tags/tag449.xml"/><Relationship Id="rId17" Type="http://schemas.openxmlformats.org/officeDocument/2006/relationships/slide" Target="slide48.xml"/><Relationship Id="rId2" Type="http://schemas.openxmlformats.org/officeDocument/2006/relationships/tags" Target="../tags/tag439.xml"/><Relationship Id="rId16" Type="http://schemas.openxmlformats.org/officeDocument/2006/relationships/slide" Target="slide43.xml"/><Relationship Id="rId1" Type="http://schemas.openxmlformats.org/officeDocument/2006/relationships/tags" Target="../tags/tag438.xml"/><Relationship Id="rId6" Type="http://schemas.openxmlformats.org/officeDocument/2006/relationships/tags" Target="../tags/tag443.xml"/><Relationship Id="rId11" Type="http://schemas.openxmlformats.org/officeDocument/2006/relationships/tags" Target="../tags/tag448.xml"/><Relationship Id="rId5" Type="http://schemas.openxmlformats.org/officeDocument/2006/relationships/tags" Target="../tags/tag442.xml"/><Relationship Id="rId15" Type="http://schemas.openxmlformats.org/officeDocument/2006/relationships/slide" Target="slide42.xml"/><Relationship Id="rId10" Type="http://schemas.openxmlformats.org/officeDocument/2006/relationships/tags" Target="../tags/tag447.xml"/><Relationship Id="rId4" Type="http://schemas.openxmlformats.org/officeDocument/2006/relationships/tags" Target="../tags/tag441.xml"/><Relationship Id="rId9" Type="http://schemas.openxmlformats.org/officeDocument/2006/relationships/tags" Target="../tags/tag446.xml"/><Relationship Id="rId14"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slide" Target="slide53.xml"/><Relationship Id="rId3" Type="http://schemas.openxmlformats.org/officeDocument/2006/relationships/tags" Target="../tags/tag453.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tags" Target="../tags/tag456.xml"/><Relationship Id="rId11" Type="http://schemas.openxmlformats.org/officeDocument/2006/relationships/slide" Target="slide36.xml"/><Relationship Id="rId5" Type="http://schemas.openxmlformats.org/officeDocument/2006/relationships/tags" Target="../tags/tag455.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54.xml"/><Relationship Id="rId9" Type="http://schemas.openxmlformats.org/officeDocument/2006/relationships/slide" Target="slide4.xml"/><Relationship Id="rId14" Type="http://schemas.openxmlformats.org/officeDocument/2006/relationships/slide" Target="slide55.xml"/></Relationships>
</file>

<file path=ppt/slides/_rels/slide44.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slide" Target="slide53.xml"/><Relationship Id="rId3" Type="http://schemas.openxmlformats.org/officeDocument/2006/relationships/tags" Target="../tags/tag459.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58.xml"/><Relationship Id="rId1" Type="http://schemas.openxmlformats.org/officeDocument/2006/relationships/tags" Target="../tags/tag457.xml"/><Relationship Id="rId6" Type="http://schemas.openxmlformats.org/officeDocument/2006/relationships/tags" Target="../tags/tag462.xml"/><Relationship Id="rId11" Type="http://schemas.openxmlformats.org/officeDocument/2006/relationships/slide" Target="slide36.xml"/><Relationship Id="rId5" Type="http://schemas.openxmlformats.org/officeDocument/2006/relationships/tags" Target="../tags/tag461.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60.xml"/><Relationship Id="rId9" Type="http://schemas.openxmlformats.org/officeDocument/2006/relationships/slide" Target="slide4.xml"/><Relationship Id="rId14" Type="http://schemas.openxmlformats.org/officeDocument/2006/relationships/slide" Target="slide55.xml"/></Relationships>
</file>

<file path=ppt/slides/_rels/slide45.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slide" Target="slide53.xml"/><Relationship Id="rId3" Type="http://schemas.openxmlformats.org/officeDocument/2006/relationships/tags" Target="../tags/tag465.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tags" Target="../tags/tag468.xml"/><Relationship Id="rId11" Type="http://schemas.openxmlformats.org/officeDocument/2006/relationships/slide" Target="slide36.xml"/><Relationship Id="rId5" Type="http://schemas.openxmlformats.org/officeDocument/2006/relationships/tags" Target="../tags/tag467.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66.xml"/><Relationship Id="rId9" Type="http://schemas.openxmlformats.org/officeDocument/2006/relationships/slide" Target="slide4.xml"/><Relationship Id="rId14" Type="http://schemas.openxmlformats.org/officeDocument/2006/relationships/slide" Target="slide55.xml"/></Relationships>
</file>

<file path=ppt/slides/_rels/slide46.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slide" Target="slide53.xml"/><Relationship Id="rId3" Type="http://schemas.openxmlformats.org/officeDocument/2006/relationships/tags" Target="../tags/tag471.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70.xml"/><Relationship Id="rId1" Type="http://schemas.openxmlformats.org/officeDocument/2006/relationships/tags" Target="../tags/tag469.xml"/><Relationship Id="rId6" Type="http://schemas.openxmlformats.org/officeDocument/2006/relationships/tags" Target="../tags/tag474.xml"/><Relationship Id="rId11" Type="http://schemas.openxmlformats.org/officeDocument/2006/relationships/slide" Target="slide36.xml"/><Relationship Id="rId5" Type="http://schemas.openxmlformats.org/officeDocument/2006/relationships/tags" Target="../tags/tag473.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72.xml"/><Relationship Id="rId9" Type="http://schemas.openxmlformats.org/officeDocument/2006/relationships/slide" Target="slide4.xml"/><Relationship Id="rId14" Type="http://schemas.openxmlformats.org/officeDocument/2006/relationships/slide" Target="slide55.xml"/></Relationships>
</file>

<file path=ppt/slides/_rels/slide47.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slide" Target="slide53.xml"/><Relationship Id="rId3" Type="http://schemas.openxmlformats.org/officeDocument/2006/relationships/tags" Target="../tags/tag477.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476.xml"/><Relationship Id="rId1" Type="http://schemas.openxmlformats.org/officeDocument/2006/relationships/tags" Target="../tags/tag475.xml"/><Relationship Id="rId6" Type="http://schemas.openxmlformats.org/officeDocument/2006/relationships/tags" Target="../tags/tag480.xml"/><Relationship Id="rId11" Type="http://schemas.openxmlformats.org/officeDocument/2006/relationships/slide" Target="slide36.xml"/><Relationship Id="rId5" Type="http://schemas.openxmlformats.org/officeDocument/2006/relationships/tags" Target="../tags/tag479.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478.xml"/><Relationship Id="rId9" Type="http://schemas.openxmlformats.org/officeDocument/2006/relationships/slide" Target="slide4.xml"/><Relationship Id="rId14" Type="http://schemas.openxmlformats.org/officeDocument/2006/relationships/slide" Target="slide55.xml"/></Relationships>
</file>

<file path=ppt/slides/_rels/slide48.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slide" Target="slide36.xml"/><Relationship Id="rId3" Type="http://schemas.openxmlformats.org/officeDocument/2006/relationships/tags" Target="../tags/tag483.xml"/><Relationship Id="rId7" Type="http://schemas.openxmlformats.org/officeDocument/2006/relationships/slideLayout" Target="../slideLayouts/slideLayout9.xml"/><Relationship Id="rId12" Type="http://schemas.openxmlformats.org/officeDocument/2006/relationships/slide" Target="slide17.xml"/><Relationship Id="rId17" Type="http://schemas.openxmlformats.org/officeDocument/2006/relationships/slide" Target="slide59.xml"/><Relationship Id="rId2" Type="http://schemas.openxmlformats.org/officeDocument/2006/relationships/tags" Target="../tags/tag482.xml"/><Relationship Id="rId16" Type="http://schemas.openxmlformats.org/officeDocument/2006/relationships/slide" Target="slide55.xml"/><Relationship Id="rId1" Type="http://schemas.openxmlformats.org/officeDocument/2006/relationships/tags" Target="../tags/tag481.xml"/><Relationship Id="rId6" Type="http://schemas.openxmlformats.org/officeDocument/2006/relationships/tags" Target="../tags/tag486.xml"/><Relationship Id="rId11" Type="http://schemas.openxmlformats.org/officeDocument/2006/relationships/slide" Target="slide4.xml"/><Relationship Id="rId5" Type="http://schemas.openxmlformats.org/officeDocument/2006/relationships/tags" Target="../tags/tag485.xml"/><Relationship Id="rId15" Type="http://schemas.openxmlformats.org/officeDocument/2006/relationships/slide" Target="slide53.xml"/><Relationship Id="rId10" Type="http://schemas.openxmlformats.org/officeDocument/2006/relationships/image" Target="../media/image61.emf"/><Relationship Id="rId4" Type="http://schemas.openxmlformats.org/officeDocument/2006/relationships/tags" Target="../tags/tag484.xml"/><Relationship Id="rId9" Type="http://schemas.openxmlformats.org/officeDocument/2006/relationships/image" Target="../media/image60.emf"/><Relationship Id="rId14" Type="http://schemas.openxmlformats.org/officeDocument/2006/relationships/slide" Target="slide42.xml"/></Relationships>
</file>

<file path=ppt/slides/_rels/slide49.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42.xml"/><Relationship Id="rId3" Type="http://schemas.openxmlformats.org/officeDocument/2006/relationships/tags" Target="../tags/tag489.xml"/><Relationship Id="rId7" Type="http://schemas.openxmlformats.org/officeDocument/2006/relationships/slideLayout" Target="../slideLayouts/slideLayout9.xml"/><Relationship Id="rId12" Type="http://schemas.openxmlformats.org/officeDocument/2006/relationships/slide" Target="slide36.xml"/><Relationship Id="rId2" Type="http://schemas.openxmlformats.org/officeDocument/2006/relationships/tags" Target="../tags/tag488.xml"/><Relationship Id="rId16" Type="http://schemas.openxmlformats.org/officeDocument/2006/relationships/slide" Target="slide59.xml"/><Relationship Id="rId1" Type="http://schemas.openxmlformats.org/officeDocument/2006/relationships/tags" Target="../tags/tag487.xml"/><Relationship Id="rId6" Type="http://schemas.openxmlformats.org/officeDocument/2006/relationships/tags" Target="../tags/tag492.xml"/><Relationship Id="rId11" Type="http://schemas.openxmlformats.org/officeDocument/2006/relationships/slide" Target="slide17.xml"/><Relationship Id="rId5" Type="http://schemas.openxmlformats.org/officeDocument/2006/relationships/tags" Target="../tags/tag491.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490.xml"/><Relationship Id="rId9" Type="http://schemas.openxmlformats.org/officeDocument/2006/relationships/image" Target="../media/image49.png"/><Relationship Id="rId14" Type="http://schemas.openxmlformats.org/officeDocument/2006/relationships/slide" Target="slide53.xml"/></Relationships>
</file>

<file path=ppt/slides/_rels/slide50.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42.xml"/><Relationship Id="rId3" Type="http://schemas.openxmlformats.org/officeDocument/2006/relationships/tags" Target="../tags/tag495.xml"/><Relationship Id="rId7" Type="http://schemas.openxmlformats.org/officeDocument/2006/relationships/slideLayout" Target="../slideLayouts/slideLayout9.xml"/><Relationship Id="rId12" Type="http://schemas.openxmlformats.org/officeDocument/2006/relationships/slide" Target="slide36.xml"/><Relationship Id="rId2" Type="http://schemas.openxmlformats.org/officeDocument/2006/relationships/tags" Target="../tags/tag494.xml"/><Relationship Id="rId16" Type="http://schemas.openxmlformats.org/officeDocument/2006/relationships/slide" Target="slide59.xml"/><Relationship Id="rId1" Type="http://schemas.openxmlformats.org/officeDocument/2006/relationships/tags" Target="../tags/tag493.xml"/><Relationship Id="rId6" Type="http://schemas.openxmlformats.org/officeDocument/2006/relationships/tags" Target="../tags/tag498.xml"/><Relationship Id="rId11" Type="http://schemas.openxmlformats.org/officeDocument/2006/relationships/slide" Target="slide17.xml"/><Relationship Id="rId5" Type="http://schemas.openxmlformats.org/officeDocument/2006/relationships/tags" Target="../tags/tag497.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496.xml"/><Relationship Id="rId9" Type="http://schemas.openxmlformats.org/officeDocument/2006/relationships/image" Target="../media/image49.png"/><Relationship Id="rId14" Type="http://schemas.openxmlformats.org/officeDocument/2006/relationships/slide" Target="slide53.xml"/></Relationships>
</file>

<file path=ppt/slides/_rels/slide51.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42.xml"/><Relationship Id="rId3" Type="http://schemas.openxmlformats.org/officeDocument/2006/relationships/tags" Target="../tags/tag501.xml"/><Relationship Id="rId7" Type="http://schemas.openxmlformats.org/officeDocument/2006/relationships/slideLayout" Target="../slideLayouts/slideLayout9.xml"/><Relationship Id="rId12" Type="http://schemas.openxmlformats.org/officeDocument/2006/relationships/slide" Target="slide36.xml"/><Relationship Id="rId2" Type="http://schemas.openxmlformats.org/officeDocument/2006/relationships/tags" Target="../tags/tag500.xml"/><Relationship Id="rId16" Type="http://schemas.openxmlformats.org/officeDocument/2006/relationships/slide" Target="slide59.xml"/><Relationship Id="rId1" Type="http://schemas.openxmlformats.org/officeDocument/2006/relationships/tags" Target="../tags/tag499.xml"/><Relationship Id="rId6" Type="http://schemas.openxmlformats.org/officeDocument/2006/relationships/tags" Target="../tags/tag504.xml"/><Relationship Id="rId11" Type="http://schemas.openxmlformats.org/officeDocument/2006/relationships/slide" Target="slide17.xml"/><Relationship Id="rId5" Type="http://schemas.openxmlformats.org/officeDocument/2006/relationships/tags" Target="../tags/tag503.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502.xml"/><Relationship Id="rId9" Type="http://schemas.openxmlformats.org/officeDocument/2006/relationships/image" Target="../media/image49.png"/><Relationship Id="rId14" Type="http://schemas.openxmlformats.org/officeDocument/2006/relationships/slide" Target="slide53.xml"/></Relationships>
</file>

<file path=ppt/slides/_rels/slide52.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slide" Target="slide53.xml"/><Relationship Id="rId3" Type="http://schemas.openxmlformats.org/officeDocument/2006/relationships/tags" Target="../tags/tag507.xml"/><Relationship Id="rId7" Type="http://schemas.openxmlformats.org/officeDocument/2006/relationships/slideLayout" Target="../slideLayouts/slideLayout9.xml"/><Relationship Id="rId12" Type="http://schemas.openxmlformats.org/officeDocument/2006/relationships/slide" Target="slide42.xml"/><Relationship Id="rId2" Type="http://schemas.openxmlformats.org/officeDocument/2006/relationships/tags" Target="../tags/tag506.xml"/><Relationship Id="rId1" Type="http://schemas.openxmlformats.org/officeDocument/2006/relationships/tags" Target="../tags/tag505.xml"/><Relationship Id="rId6" Type="http://schemas.openxmlformats.org/officeDocument/2006/relationships/tags" Target="../tags/tag510.xml"/><Relationship Id="rId11" Type="http://schemas.openxmlformats.org/officeDocument/2006/relationships/slide" Target="slide36.xml"/><Relationship Id="rId5" Type="http://schemas.openxmlformats.org/officeDocument/2006/relationships/tags" Target="../tags/tag509.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508.xml"/><Relationship Id="rId9" Type="http://schemas.openxmlformats.org/officeDocument/2006/relationships/slide" Target="slide4.xml"/><Relationship Id="rId14" Type="http://schemas.openxmlformats.org/officeDocument/2006/relationships/slide" Target="slide55.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513.xml"/><Relationship Id="rId7" Type="http://schemas.openxmlformats.org/officeDocument/2006/relationships/tags" Target="../tags/tag517.xml"/><Relationship Id="rId2" Type="http://schemas.openxmlformats.org/officeDocument/2006/relationships/tags" Target="../tags/tag512.xml"/><Relationship Id="rId1" Type="http://schemas.openxmlformats.org/officeDocument/2006/relationships/tags" Target="../tags/tag511.xml"/><Relationship Id="rId6" Type="http://schemas.openxmlformats.org/officeDocument/2006/relationships/tags" Target="../tags/tag516.xml"/><Relationship Id="rId5" Type="http://schemas.openxmlformats.org/officeDocument/2006/relationships/tags" Target="../tags/tag515.xml"/><Relationship Id="rId10" Type="http://schemas.openxmlformats.org/officeDocument/2006/relationships/slide" Target="slide54.xml"/><Relationship Id="rId4" Type="http://schemas.openxmlformats.org/officeDocument/2006/relationships/tags" Target="../tags/tag514.xml"/><Relationship Id="rId9" Type="http://schemas.openxmlformats.org/officeDocument/2006/relationships/slide" Target="slide53.xml"/></Relationships>
</file>

<file path=ppt/slides/_rels/slide54.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520.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image" Target="../media/image63.emf"/><Relationship Id="rId11" Type="http://schemas.openxmlformats.org/officeDocument/2006/relationships/slide" Target="slide53.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521.xml"/><Relationship Id="rId9" Type="http://schemas.openxmlformats.org/officeDocument/2006/relationships/slide" Target="slide36.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524.xml"/><Relationship Id="rId7" Type="http://schemas.openxmlformats.org/officeDocument/2006/relationships/tags" Target="../tags/tag528.xml"/><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tags" Target="../tags/tag527.xml"/><Relationship Id="rId5" Type="http://schemas.openxmlformats.org/officeDocument/2006/relationships/tags" Target="../tags/tag526.xml"/><Relationship Id="rId10" Type="http://schemas.openxmlformats.org/officeDocument/2006/relationships/slide" Target="slide56.xml"/><Relationship Id="rId4" Type="http://schemas.openxmlformats.org/officeDocument/2006/relationships/tags" Target="../tags/tag525.xml"/><Relationship Id="rId9" Type="http://schemas.openxmlformats.org/officeDocument/2006/relationships/slide" Target="slide55.xml"/></Relationships>
</file>

<file path=ppt/slides/_rels/slide56.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tags" Target="../tags/tag531.xml"/><Relationship Id="rId7" Type="http://schemas.openxmlformats.org/officeDocument/2006/relationships/slide" Target="slide36.xml"/><Relationship Id="rId2" Type="http://schemas.openxmlformats.org/officeDocument/2006/relationships/tags" Target="../tags/tag530.xml"/><Relationship Id="rId1" Type="http://schemas.openxmlformats.org/officeDocument/2006/relationships/tags" Target="../tags/tag529.xml"/><Relationship Id="rId6" Type="http://schemas.openxmlformats.org/officeDocument/2006/relationships/slide" Target="slide17.xml"/><Relationship Id="rId11" Type="http://schemas.openxmlformats.org/officeDocument/2006/relationships/slide" Target="slide59.xml"/><Relationship Id="rId5" Type="http://schemas.openxmlformats.org/officeDocument/2006/relationships/slide" Target="slide4.xml"/><Relationship Id="rId10" Type="http://schemas.openxmlformats.org/officeDocument/2006/relationships/slide" Target="slide55.xml"/><Relationship Id="rId4" Type="http://schemas.openxmlformats.org/officeDocument/2006/relationships/slideLayout" Target="../slideLayouts/slideLayout9.xml"/><Relationship Id="rId9" Type="http://schemas.openxmlformats.org/officeDocument/2006/relationships/slide" Target="slide53.xml"/></Relationships>
</file>

<file path=ppt/slides/_rels/slide57.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tags" Target="../tags/tag534.xml"/><Relationship Id="rId7" Type="http://schemas.openxmlformats.org/officeDocument/2006/relationships/slide" Target="slide36.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slide" Target="slide17.xml"/><Relationship Id="rId11" Type="http://schemas.openxmlformats.org/officeDocument/2006/relationships/slide" Target="slide59.xml"/><Relationship Id="rId5" Type="http://schemas.openxmlformats.org/officeDocument/2006/relationships/slide" Target="slide4.xml"/><Relationship Id="rId10" Type="http://schemas.openxmlformats.org/officeDocument/2006/relationships/slide" Target="slide55.xml"/><Relationship Id="rId4" Type="http://schemas.openxmlformats.org/officeDocument/2006/relationships/slideLayout" Target="../slideLayouts/slideLayout9.xml"/><Relationship Id="rId9" Type="http://schemas.openxmlformats.org/officeDocument/2006/relationships/slide" Target="slide53.xml"/></Relationships>
</file>

<file path=ppt/slides/_rels/slide58.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tags" Target="../tags/tag537.xml"/><Relationship Id="rId7" Type="http://schemas.openxmlformats.org/officeDocument/2006/relationships/slide" Target="slide36.xml"/><Relationship Id="rId2" Type="http://schemas.openxmlformats.org/officeDocument/2006/relationships/tags" Target="../tags/tag536.xml"/><Relationship Id="rId1" Type="http://schemas.openxmlformats.org/officeDocument/2006/relationships/tags" Target="../tags/tag535.xml"/><Relationship Id="rId6" Type="http://schemas.openxmlformats.org/officeDocument/2006/relationships/slide" Target="slide17.xml"/><Relationship Id="rId11" Type="http://schemas.openxmlformats.org/officeDocument/2006/relationships/slide" Target="slide59.xml"/><Relationship Id="rId5" Type="http://schemas.openxmlformats.org/officeDocument/2006/relationships/slide" Target="slide4.xml"/><Relationship Id="rId10" Type="http://schemas.openxmlformats.org/officeDocument/2006/relationships/slide" Target="slide55.xml"/><Relationship Id="rId4" Type="http://schemas.openxmlformats.org/officeDocument/2006/relationships/slideLayout" Target="../slideLayouts/slideLayout9.xml"/><Relationship Id="rId9" Type="http://schemas.openxmlformats.org/officeDocument/2006/relationships/slide" Target="slide53.xml"/></Relationships>
</file>

<file path=ppt/slides/_rels/slide59.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tags" Target="../tags/tag550.xml"/><Relationship Id="rId18" Type="http://schemas.openxmlformats.org/officeDocument/2006/relationships/slide" Target="slide59.xml"/><Relationship Id="rId3" Type="http://schemas.openxmlformats.org/officeDocument/2006/relationships/tags" Target="../tags/tag540.xml"/><Relationship Id="rId21" Type="http://schemas.openxmlformats.org/officeDocument/2006/relationships/slide" Target="slide72.xml"/><Relationship Id="rId7" Type="http://schemas.openxmlformats.org/officeDocument/2006/relationships/tags" Target="../tags/tag544.xml"/><Relationship Id="rId12" Type="http://schemas.openxmlformats.org/officeDocument/2006/relationships/tags" Target="../tags/tag549.xml"/><Relationship Id="rId17" Type="http://schemas.openxmlformats.org/officeDocument/2006/relationships/slideLayout" Target="../slideLayouts/slideLayout34.xml"/><Relationship Id="rId2" Type="http://schemas.openxmlformats.org/officeDocument/2006/relationships/tags" Target="../tags/tag539.xml"/><Relationship Id="rId16" Type="http://schemas.openxmlformats.org/officeDocument/2006/relationships/tags" Target="../tags/tag553.xml"/><Relationship Id="rId20" Type="http://schemas.openxmlformats.org/officeDocument/2006/relationships/slide" Target="slide66.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5" Type="http://schemas.openxmlformats.org/officeDocument/2006/relationships/tags" Target="../tags/tag542.xml"/><Relationship Id="rId15" Type="http://schemas.openxmlformats.org/officeDocument/2006/relationships/tags" Target="../tags/tag552.xml"/><Relationship Id="rId10" Type="http://schemas.openxmlformats.org/officeDocument/2006/relationships/tags" Target="../tags/tag547.xml"/><Relationship Id="rId19" Type="http://schemas.openxmlformats.org/officeDocument/2006/relationships/slide" Target="slide62.xml"/><Relationship Id="rId4" Type="http://schemas.openxmlformats.org/officeDocument/2006/relationships/tags" Target="../tags/tag541.xml"/><Relationship Id="rId9" Type="http://schemas.openxmlformats.org/officeDocument/2006/relationships/tags" Target="../tags/tag546.xml"/><Relationship Id="rId14" Type="http://schemas.openxmlformats.org/officeDocument/2006/relationships/tags" Target="../tags/tag551.xml"/><Relationship Id="rId22" Type="http://schemas.openxmlformats.org/officeDocument/2006/relationships/slide" Target="slide8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1.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slideLayout" Target="../slideLayouts/slideLayout17.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555.xml"/><Relationship Id="rId1" Type="http://schemas.openxmlformats.org/officeDocument/2006/relationships/tags" Target="../tags/tag554.xml"/><Relationship Id="rId6" Type="http://schemas.openxmlformats.org/officeDocument/2006/relationships/slide" Target="slide3.xml"/><Relationship Id="rId11" Type="http://schemas.openxmlformats.org/officeDocument/2006/relationships/slide" Target="slide53.xml"/><Relationship Id="rId5" Type="http://schemas.openxmlformats.org/officeDocument/2006/relationships/image" Target="../media/image15.emf"/><Relationship Id="rId10" Type="http://schemas.openxmlformats.org/officeDocument/2006/relationships/slide" Target="slide42.xml"/><Relationship Id="rId4" Type="http://schemas.openxmlformats.org/officeDocument/2006/relationships/oleObject" Target="../embeddings/oleObject9.bin"/><Relationship Id="rId9" Type="http://schemas.openxmlformats.org/officeDocument/2006/relationships/slide" Target="slide36.xml"/></Relationships>
</file>

<file path=ppt/slides/_rels/slide62.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tags" Target="../tags/tag558.xml"/><Relationship Id="rId7" Type="http://schemas.openxmlformats.org/officeDocument/2006/relationships/slide" Target="slide17.xml"/><Relationship Id="rId12" Type="http://schemas.openxmlformats.org/officeDocument/2006/relationships/slide" Target="slide59.xml"/><Relationship Id="rId2" Type="http://schemas.openxmlformats.org/officeDocument/2006/relationships/tags" Target="../tags/tag557.xml"/><Relationship Id="rId1" Type="http://schemas.openxmlformats.org/officeDocument/2006/relationships/tags" Target="../tags/tag556.xml"/><Relationship Id="rId6" Type="http://schemas.openxmlformats.org/officeDocument/2006/relationships/slide" Target="slide4.xml"/><Relationship Id="rId11" Type="http://schemas.openxmlformats.org/officeDocument/2006/relationships/slide" Target="slide55.xml"/><Relationship Id="rId5" Type="http://schemas.openxmlformats.org/officeDocument/2006/relationships/slide" Target="slide64.xml"/><Relationship Id="rId10" Type="http://schemas.openxmlformats.org/officeDocument/2006/relationships/slide" Target="slide53.xml"/><Relationship Id="rId4" Type="http://schemas.openxmlformats.org/officeDocument/2006/relationships/slideLayout" Target="../slideLayouts/slideLayout9.xml"/><Relationship Id="rId9" Type="http://schemas.openxmlformats.org/officeDocument/2006/relationships/slide" Target="slide42.xml"/></Relationships>
</file>

<file path=ppt/slides/_rels/slide63.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50.xml"/><Relationship Id="rId18" Type="http://schemas.openxmlformats.org/officeDocument/2006/relationships/slide" Target="slide53.xml"/><Relationship Id="rId3" Type="http://schemas.openxmlformats.org/officeDocument/2006/relationships/tags" Target="../tags/tag561.xml"/><Relationship Id="rId7" Type="http://schemas.openxmlformats.org/officeDocument/2006/relationships/image" Target="../media/image15.emf"/><Relationship Id="rId12" Type="http://schemas.openxmlformats.org/officeDocument/2006/relationships/slide" Target="slide35.xml"/><Relationship Id="rId17" Type="http://schemas.openxmlformats.org/officeDocument/2006/relationships/slide" Target="slide42.xml"/><Relationship Id="rId2" Type="http://schemas.openxmlformats.org/officeDocument/2006/relationships/tags" Target="../tags/tag560.xml"/><Relationship Id="rId16" Type="http://schemas.openxmlformats.org/officeDocument/2006/relationships/slide" Target="slide36.xml"/><Relationship Id="rId20" Type="http://schemas.openxmlformats.org/officeDocument/2006/relationships/slide" Target="slide59.xml"/><Relationship Id="rId1" Type="http://schemas.openxmlformats.org/officeDocument/2006/relationships/tags" Target="../tags/tag559.xml"/><Relationship Id="rId6" Type="http://schemas.openxmlformats.org/officeDocument/2006/relationships/oleObject" Target="../embeddings/oleObject10.bin"/><Relationship Id="rId11" Type="http://schemas.openxmlformats.org/officeDocument/2006/relationships/slide" Target="slide4.xml"/><Relationship Id="rId5" Type="http://schemas.openxmlformats.org/officeDocument/2006/relationships/slideLayout" Target="../slideLayouts/slideLayout9.xml"/><Relationship Id="rId15" Type="http://schemas.openxmlformats.org/officeDocument/2006/relationships/slide" Target="slide17.xml"/><Relationship Id="rId10" Type="http://schemas.openxmlformats.org/officeDocument/2006/relationships/slide" Target="slide48.xml"/><Relationship Id="rId19" Type="http://schemas.openxmlformats.org/officeDocument/2006/relationships/slide" Target="slide55.xml"/><Relationship Id="rId4" Type="http://schemas.openxmlformats.org/officeDocument/2006/relationships/tags" Target="../tags/tag562.xml"/><Relationship Id="rId9" Type="http://schemas.openxmlformats.org/officeDocument/2006/relationships/slide" Target="slide43.xml"/><Relationship Id="rId14" Type="http://schemas.openxmlformats.org/officeDocument/2006/relationships/slide" Target="slide52.xml"/></Relationships>
</file>

<file path=ppt/slides/_rels/slide64.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50.xml"/><Relationship Id="rId18" Type="http://schemas.openxmlformats.org/officeDocument/2006/relationships/slide" Target="slide53.xml"/><Relationship Id="rId3" Type="http://schemas.openxmlformats.org/officeDocument/2006/relationships/tags" Target="../tags/tag565.xml"/><Relationship Id="rId7" Type="http://schemas.openxmlformats.org/officeDocument/2006/relationships/image" Target="../media/image15.emf"/><Relationship Id="rId12" Type="http://schemas.openxmlformats.org/officeDocument/2006/relationships/slide" Target="slide35.xml"/><Relationship Id="rId17" Type="http://schemas.openxmlformats.org/officeDocument/2006/relationships/slide" Target="slide42.xml"/><Relationship Id="rId2" Type="http://schemas.openxmlformats.org/officeDocument/2006/relationships/tags" Target="../tags/tag564.xml"/><Relationship Id="rId16" Type="http://schemas.openxmlformats.org/officeDocument/2006/relationships/slide" Target="slide36.xml"/><Relationship Id="rId20" Type="http://schemas.openxmlformats.org/officeDocument/2006/relationships/slide" Target="slide59.xml"/><Relationship Id="rId1" Type="http://schemas.openxmlformats.org/officeDocument/2006/relationships/tags" Target="../tags/tag563.xml"/><Relationship Id="rId6" Type="http://schemas.openxmlformats.org/officeDocument/2006/relationships/oleObject" Target="../embeddings/oleObject10.bin"/><Relationship Id="rId11" Type="http://schemas.openxmlformats.org/officeDocument/2006/relationships/slide" Target="slide4.xml"/><Relationship Id="rId5" Type="http://schemas.openxmlformats.org/officeDocument/2006/relationships/slideLayout" Target="../slideLayouts/slideLayout9.xml"/><Relationship Id="rId15" Type="http://schemas.openxmlformats.org/officeDocument/2006/relationships/slide" Target="slide17.xml"/><Relationship Id="rId10" Type="http://schemas.openxmlformats.org/officeDocument/2006/relationships/slide" Target="slide48.xml"/><Relationship Id="rId19" Type="http://schemas.openxmlformats.org/officeDocument/2006/relationships/slide" Target="slide55.xml"/><Relationship Id="rId4" Type="http://schemas.openxmlformats.org/officeDocument/2006/relationships/tags" Target="../tags/tag566.xml"/><Relationship Id="rId9" Type="http://schemas.openxmlformats.org/officeDocument/2006/relationships/slide" Target="slide43.xml"/><Relationship Id="rId14" Type="http://schemas.openxmlformats.org/officeDocument/2006/relationships/slide" Target="slide52.xml"/></Relationships>
</file>

<file path=ppt/slides/_rels/slide65.xml.rels><?xml version="1.0" encoding="UTF-8" standalone="yes"?>
<Relationships xmlns="http://schemas.openxmlformats.org/package/2006/relationships"><Relationship Id="rId8" Type="http://schemas.openxmlformats.org/officeDocument/2006/relationships/slide" Target="slide25.xml"/><Relationship Id="rId13" Type="http://schemas.openxmlformats.org/officeDocument/2006/relationships/slide" Target="slide50.xml"/><Relationship Id="rId18" Type="http://schemas.openxmlformats.org/officeDocument/2006/relationships/slide" Target="slide53.xml"/><Relationship Id="rId3" Type="http://schemas.openxmlformats.org/officeDocument/2006/relationships/tags" Target="../tags/tag569.xml"/><Relationship Id="rId7" Type="http://schemas.openxmlformats.org/officeDocument/2006/relationships/image" Target="../media/image15.emf"/><Relationship Id="rId12" Type="http://schemas.openxmlformats.org/officeDocument/2006/relationships/slide" Target="slide35.xml"/><Relationship Id="rId17" Type="http://schemas.openxmlformats.org/officeDocument/2006/relationships/slide" Target="slide42.xml"/><Relationship Id="rId2" Type="http://schemas.openxmlformats.org/officeDocument/2006/relationships/tags" Target="../tags/tag568.xml"/><Relationship Id="rId16" Type="http://schemas.openxmlformats.org/officeDocument/2006/relationships/slide" Target="slide36.xml"/><Relationship Id="rId20" Type="http://schemas.openxmlformats.org/officeDocument/2006/relationships/slide" Target="slide59.xml"/><Relationship Id="rId1" Type="http://schemas.openxmlformats.org/officeDocument/2006/relationships/tags" Target="../tags/tag567.xml"/><Relationship Id="rId6" Type="http://schemas.openxmlformats.org/officeDocument/2006/relationships/oleObject" Target="../embeddings/oleObject10.bin"/><Relationship Id="rId11" Type="http://schemas.openxmlformats.org/officeDocument/2006/relationships/slide" Target="slide4.xml"/><Relationship Id="rId5" Type="http://schemas.openxmlformats.org/officeDocument/2006/relationships/slideLayout" Target="../slideLayouts/slideLayout9.xml"/><Relationship Id="rId15" Type="http://schemas.openxmlformats.org/officeDocument/2006/relationships/slide" Target="slide17.xml"/><Relationship Id="rId10" Type="http://schemas.openxmlformats.org/officeDocument/2006/relationships/slide" Target="slide48.xml"/><Relationship Id="rId19" Type="http://schemas.openxmlformats.org/officeDocument/2006/relationships/slide" Target="slide55.xml"/><Relationship Id="rId4" Type="http://schemas.openxmlformats.org/officeDocument/2006/relationships/tags" Target="../tags/tag570.xml"/><Relationship Id="rId9" Type="http://schemas.openxmlformats.org/officeDocument/2006/relationships/slide" Target="slide43.xml"/><Relationship Id="rId14" Type="http://schemas.openxmlformats.org/officeDocument/2006/relationships/slide" Target="slide5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571.xml"/></Relationships>
</file>

<file path=ppt/slides/_rels/slide67.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slide" Target="slide53.xml"/><Relationship Id="rId3" Type="http://schemas.openxmlformats.org/officeDocument/2006/relationships/tags" Target="../tags/tag574.xml"/><Relationship Id="rId7" Type="http://schemas.openxmlformats.org/officeDocument/2006/relationships/image" Target="../media/image64.emf"/><Relationship Id="rId12" Type="http://schemas.openxmlformats.org/officeDocument/2006/relationships/slide" Target="slide42.xml"/><Relationship Id="rId2" Type="http://schemas.openxmlformats.org/officeDocument/2006/relationships/tags" Target="../tags/tag573.xml"/><Relationship Id="rId1" Type="http://schemas.openxmlformats.org/officeDocument/2006/relationships/tags" Target="../tags/tag572.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576.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575.xml"/><Relationship Id="rId9" Type="http://schemas.openxmlformats.org/officeDocument/2006/relationships/slide" Target="slide4.xml"/><Relationship Id="rId14" Type="http://schemas.openxmlformats.org/officeDocument/2006/relationships/slide" Target="slide55.xml"/></Relationships>
</file>

<file path=ppt/slides/_rels/slide68.xml.rels><?xml version="1.0" encoding="UTF-8" standalone="yes"?>
<Relationships xmlns="http://schemas.openxmlformats.org/package/2006/relationships"><Relationship Id="rId8" Type="http://schemas.openxmlformats.org/officeDocument/2006/relationships/image" Target="../media/image67.emf"/><Relationship Id="rId13" Type="http://schemas.openxmlformats.org/officeDocument/2006/relationships/slide" Target="slide53.xml"/><Relationship Id="rId3" Type="http://schemas.openxmlformats.org/officeDocument/2006/relationships/tags" Target="../tags/tag579.xml"/><Relationship Id="rId7" Type="http://schemas.openxmlformats.org/officeDocument/2006/relationships/image" Target="../media/image66.emf"/><Relationship Id="rId12" Type="http://schemas.openxmlformats.org/officeDocument/2006/relationships/slide" Target="slide42.xml"/><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581.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580.xml"/><Relationship Id="rId9" Type="http://schemas.openxmlformats.org/officeDocument/2006/relationships/slide" Target="slide4.xml"/><Relationship Id="rId14" Type="http://schemas.openxmlformats.org/officeDocument/2006/relationships/slide" Target="slide55.xml"/></Relationships>
</file>

<file path=ppt/slides/_rels/slide69.xml.rels><?xml version="1.0" encoding="UTF-8" standalone="yes"?>
<Relationships xmlns="http://schemas.openxmlformats.org/package/2006/relationships"><Relationship Id="rId8" Type="http://schemas.openxmlformats.org/officeDocument/2006/relationships/image" Target="../media/image69.emf"/><Relationship Id="rId13" Type="http://schemas.openxmlformats.org/officeDocument/2006/relationships/slide" Target="slide53.xml"/><Relationship Id="rId3" Type="http://schemas.openxmlformats.org/officeDocument/2006/relationships/tags" Target="../tags/tag584.xml"/><Relationship Id="rId7" Type="http://schemas.openxmlformats.org/officeDocument/2006/relationships/image" Target="../media/image68.emf"/><Relationship Id="rId12" Type="http://schemas.openxmlformats.org/officeDocument/2006/relationships/slide" Target="slide42.xml"/><Relationship Id="rId2" Type="http://schemas.openxmlformats.org/officeDocument/2006/relationships/tags" Target="../tags/tag583.xml"/><Relationship Id="rId1" Type="http://schemas.openxmlformats.org/officeDocument/2006/relationships/tags" Target="../tags/tag582.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586.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585.xml"/><Relationship Id="rId9" Type="http://schemas.openxmlformats.org/officeDocument/2006/relationships/slide" Target="slide4.xml"/><Relationship Id="rId14" Type="http://schemas.openxmlformats.org/officeDocument/2006/relationships/slide" Target="slide55.xml"/></Relationships>
</file>

<file path=ppt/slides/_rels/slide70.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589.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588.xml"/><Relationship Id="rId1" Type="http://schemas.openxmlformats.org/officeDocument/2006/relationships/tags" Target="../tags/tag587.xml"/><Relationship Id="rId6" Type="http://schemas.openxmlformats.org/officeDocument/2006/relationships/image" Target="../media/image70.emf"/><Relationship Id="rId11" Type="http://schemas.openxmlformats.org/officeDocument/2006/relationships/slide" Target="slide53.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590.xml"/><Relationship Id="rId9" Type="http://schemas.openxmlformats.org/officeDocument/2006/relationships/slide" Target="slide36.xml"/></Relationships>
</file>

<file path=ppt/slides/_rels/slide71.xml.rels><?xml version="1.0" encoding="UTF-8" standalone="yes"?>
<Relationships xmlns="http://schemas.openxmlformats.org/package/2006/relationships"><Relationship Id="rId8" Type="http://schemas.openxmlformats.org/officeDocument/2006/relationships/tags" Target="../tags/tag598.xml"/><Relationship Id="rId13" Type="http://schemas.openxmlformats.org/officeDocument/2006/relationships/slide" Target="slide4.xml"/><Relationship Id="rId18" Type="http://schemas.openxmlformats.org/officeDocument/2006/relationships/slide" Target="slide55.xml"/><Relationship Id="rId3" Type="http://schemas.openxmlformats.org/officeDocument/2006/relationships/tags" Target="../tags/tag593.xml"/><Relationship Id="rId7" Type="http://schemas.openxmlformats.org/officeDocument/2006/relationships/tags" Target="../tags/tag597.xml"/><Relationship Id="rId12" Type="http://schemas.openxmlformats.org/officeDocument/2006/relationships/image" Target="../media/image72.emf"/><Relationship Id="rId17" Type="http://schemas.openxmlformats.org/officeDocument/2006/relationships/slide" Target="slide53.xml"/><Relationship Id="rId2" Type="http://schemas.openxmlformats.org/officeDocument/2006/relationships/tags" Target="../tags/tag592.xml"/><Relationship Id="rId16" Type="http://schemas.openxmlformats.org/officeDocument/2006/relationships/slide" Target="slide42.xml"/><Relationship Id="rId1" Type="http://schemas.openxmlformats.org/officeDocument/2006/relationships/tags" Target="../tags/tag591.xml"/><Relationship Id="rId6" Type="http://schemas.openxmlformats.org/officeDocument/2006/relationships/tags" Target="../tags/tag596.xml"/><Relationship Id="rId11" Type="http://schemas.openxmlformats.org/officeDocument/2006/relationships/image" Target="../media/image71.emf"/><Relationship Id="rId5" Type="http://schemas.openxmlformats.org/officeDocument/2006/relationships/tags" Target="../tags/tag595.xml"/><Relationship Id="rId15" Type="http://schemas.openxmlformats.org/officeDocument/2006/relationships/slide" Target="slide36.xml"/><Relationship Id="rId10" Type="http://schemas.openxmlformats.org/officeDocument/2006/relationships/notesSlide" Target="../notesSlides/notesSlide1.xml"/><Relationship Id="rId19" Type="http://schemas.openxmlformats.org/officeDocument/2006/relationships/slide" Target="slide59.xml"/><Relationship Id="rId4" Type="http://schemas.openxmlformats.org/officeDocument/2006/relationships/tags" Target="../tags/tag594.xml"/><Relationship Id="rId9" Type="http://schemas.openxmlformats.org/officeDocument/2006/relationships/slideLayout" Target="../slideLayouts/slideLayout9.xml"/><Relationship Id="rId14" Type="http://schemas.openxmlformats.org/officeDocument/2006/relationships/slide" Target="slide17.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599.xml"/></Relationships>
</file>

<file path=ppt/slides/_rels/slide73.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602.xml"/><Relationship Id="rId7" Type="http://schemas.openxmlformats.org/officeDocument/2006/relationships/image" Target="../media/image49.png"/><Relationship Id="rId12" Type="http://schemas.openxmlformats.org/officeDocument/2006/relationships/slide" Target="slide53.xml"/><Relationship Id="rId2" Type="http://schemas.openxmlformats.org/officeDocument/2006/relationships/tags" Target="../tags/tag601.xml"/><Relationship Id="rId1" Type="http://schemas.openxmlformats.org/officeDocument/2006/relationships/tags" Target="../tags/tag600.xml"/><Relationship Id="rId6" Type="http://schemas.openxmlformats.org/officeDocument/2006/relationships/image" Target="../media/image73.emf"/><Relationship Id="rId11" Type="http://schemas.openxmlformats.org/officeDocument/2006/relationships/slide" Target="slide42.xml"/><Relationship Id="rId5" Type="http://schemas.openxmlformats.org/officeDocument/2006/relationships/slideLayout" Target="../slideLayouts/slideLayout9.xml"/><Relationship Id="rId10" Type="http://schemas.openxmlformats.org/officeDocument/2006/relationships/slide" Target="slide36.xml"/><Relationship Id="rId4" Type="http://schemas.openxmlformats.org/officeDocument/2006/relationships/tags" Target="../tags/tag603.xml"/><Relationship Id="rId9" Type="http://schemas.openxmlformats.org/officeDocument/2006/relationships/slide" Target="slide17.xml"/><Relationship Id="rId14" Type="http://schemas.openxmlformats.org/officeDocument/2006/relationships/slide" Target="slide59.xml"/></Relationships>
</file>

<file path=ppt/slides/_rels/slide74.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606.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605.xml"/><Relationship Id="rId1" Type="http://schemas.openxmlformats.org/officeDocument/2006/relationships/tags" Target="../tags/tag604.xml"/><Relationship Id="rId6" Type="http://schemas.openxmlformats.org/officeDocument/2006/relationships/image" Target="../media/image74.emf"/><Relationship Id="rId11" Type="http://schemas.openxmlformats.org/officeDocument/2006/relationships/slide" Target="slide53.xml"/><Relationship Id="rId5" Type="http://schemas.openxmlformats.org/officeDocument/2006/relationships/slideLayout" Target="../slideLayouts/slideLayout9.xml"/><Relationship Id="rId10" Type="http://schemas.openxmlformats.org/officeDocument/2006/relationships/slide" Target="slide42.xml"/><Relationship Id="rId4" Type="http://schemas.openxmlformats.org/officeDocument/2006/relationships/tags" Target="../tags/tag607.xml"/><Relationship Id="rId9" Type="http://schemas.openxmlformats.org/officeDocument/2006/relationships/slide" Target="slide36.xml"/></Relationships>
</file>

<file path=ppt/slides/_rels/slide75.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5.xml"/><Relationship Id="rId3" Type="http://schemas.openxmlformats.org/officeDocument/2006/relationships/tags" Target="../tags/tag610.xml"/><Relationship Id="rId7" Type="http://schemas.openxmlformats.org/officeDocument/2006/relationships/image" Target="../media/image75.emf"/><Relationship Id="rId12" Type="http://schemas.openxmlformats.org/officeDocument/2006/relationships/slide" Target="slide53.xml"/><Relationship Id="rId2" Type="http://schemas.openxmlformats.org/officeDocument/2006/relationships/tags" Target="../tags/tag609.xml"/><Relationship Id="rId1" Type="http://schemas.openxmlformats.org/officeDocument/2006/relationships/tags" Target="../tags/tag608.xml"/><Relationship Id="rId6" Type="http://schemas.openxmlformats.org/officeDocument/2006/relationships/notesSlide" Target="../notesSlides/notesSlide2.xml"/><Relationship Id="rId11" Type="http://schemas.openxmlformats.org/officeDocument/2006/relationships/slide" Target="slide42.xml"/><Relationship Id="rId5" Type="http://schemas.openxmlformats.org/officeDocument/2006/relationships/slideLayout" Target="../slideLayouts/slideLayout9.xml"/><Relationship Id="rId10" Type="http://schemas.openxmlformats.org/officeDocument/2006/relationships/slide" Target="slide36.xml"/><Relationship Id="rId4" Type="http://schemas.openxmlformats.org/officeDocument/2006/relationships/tags" Target="../tags/tag611.xml"/><Relationship Id="rId9" Type="http://schemas.openxmlformats.org/officeDocument/2006/relationships/slide" Target="slide17.xml"/><Relationship Id="rId14" Type="http://schemas.openxmlformats.org/officeDocument/2006/relationships/slide" Target="slide59.xml"/></Relationships>
</file>

<file path=ppt/slides/_rels/slide76.xml.rels><?xml version="1.0" encoding="UTF-8" standalone="yes"?>
<Relationships xmlns="http://schemas.openxmlformats.org/package/2006/relationships"><Relationship Id="rId8" Type="http://schemas.openxmlformats.org/officeDocument/2006/relationships/image" Target="../media/image76.emf"/><Relationship Id="rId13" Type="http://schemas.openxmlformats.org/officeDocument/2006/relationships/slide" Target="slide42.xml"/><Relationship Id="rId3" Type="http://schemas.openxmlformats.org/officeDocument/2006/relationships/tags" Target="../tags/tag614.xml"/><Relationship Id="rId7" Type="http://schemas.openxmlformats.org/officeDocument/2006/relationships/slideLayout" Target="../slideLayouts/slideLayout9.xml"/><Relationship Id="rId12" Type="http://schemas.openxmlformats.org/officeDocument/2006/relationships/slide" Target="slide36.xml"/><Relationship Id="rId2" Type="http://schemas.openxmlformats.org/officeDocument/2006/relationships/tags" Target="../tags/tag613.xml"/><Relationship Id="rId16" Type="http://schemas.openxmlformats.org/officeDocument/2006/relationships/slide" Target="slide59.xml"/><Relationship Id="rId1" Type="http://schemas.openxmlformats.org/officeDocument/2006/relationships/tags" Target="../tags/tag612.xml"/><Relationship Id="rId6" Type="http://schemas.openxmlformats.org/officeDocument/2006/relationships/tags" Target="../tags/tag617.xml"/><Relationship Id="rId11" Type="http://schemas.openxmlformats.org/officeDocument/2006/relationships/slide" Target="slide17.xml"/><Relationship Id="rId5" Type="http://schemas.openxmlformats.org/officeDocument/2006/relationships/tags" Target="../tags/tag616.xml"/><Relationship Id="rId15" Type="http://schemas.openxmlformats.org/officeDocument/2006/relationships/slide" Target="slide55.xml"/><Relationship Id="rId10" Type="http://schemas.openxmlformats.org/officeDocument/2006/relationships/slide" Target="slide4.xml"/><Relationship Id="rId4" Type="http://schemas.openxmlformats.org/officeDocument/2006/relationships/tags" Target="../tags/tag615.xml"/><Relationship Id="rId9" Type="http://schemas.openxmlformats.org/officeDocument/2006/relationships/image" Target="../media/image77.emf"/><Relationship Id="rId14" Type="http://schemas.openxmlformats.org/officeDocument/2006/relationships/slide" Target="slide53.xml"/></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17.xml"/><Relationship Id="rId18" Type="http://schemas.openxmlformats.org/officeDocument/2006/relationships/slide" Target="slide59.xml"/><Relationship Id="rId3" Type="http://schemas.openxmlformats.org/officeDocument/2006/relationships/tags" Target="../tags/tag620.xml"/><Relationship Id="rId7" Type="http://schemas.openxmlformats.org/officeDocument/2006/relationships/tags" Target="../tags/tag624.xml"/><Relationship Id="rId12" Type="http://schemas.openxmlformats.org/officeDocument/2006/relationships/slide" Target="slide4.xml"/><Relationship Id="rId17" Type="http://schemas.openxmlformats.org/officeDocument/2006/relationships/slide" Target="slide55.xml"/><Relationship Id="rId2" Type="http://schemas.openxmlformats.org/officeDocument/2006/relationships/tags" Target="../tags/tag619.xml"/><Relationship Id="rId16" Type="http://schemas.openxmlformats.org/officeDocument/2006/relationships/slide" Target="slide53.xml"/><Relationship Id="rId1" Type="http://schemas.openxmlformats.org/officeDocument/2006/relationships/tags" Target="../tags/tag618.xml"/><Relationship Id="rId6" Type="http://schemas.openxmlformats.org/officeDocument/2006/relationships/tags" Target="../tags/tag623.xml"/><Relationship Id="rId11" Type="http://schemas.openxmlformats.org/officeDocument/2006/relationships/image" Target="../media/image49.png"/><Relationship Id="rId5" Type="http://schemas.openxmlformats.org/officeDocument/2006/relationships/tags" Target="../tags/tag622.xml"/><Relationship Id="rId15" Type="http://schemas.openxmlformats.org/officeDocument/2006/relationships/slide" Target="slide42.xml"/><Relationship Id="rId10" Type="http://schemas.openxmlformats.org/officeDocument/2006/relationships/image" Target="../media/image79.emf"/><Relationship Id="rId4" Type="http://schemas.openxmlformats.org/officeDocument/2006/relationships/tags" Target="../tags/tag621.xml"/><Relationship Id="rId9" Type="http://schemas.openxmlformats.org/officeDocument/2006/relationships/image" Target="../media/image78.emf"/><Relationship Id="rId14" Type="http://schemas.openxmlformats.org/officeDocument/2006/relationships/slide" Target="slide36.xml"/></Relationships>
</file>

<file path=ppt/slides/_rels/slide78.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slide" Target="slide53.xml"/><Relationship Id="rId3" Type="http://schemas.openxmlformats.org/officeDocument/2006/relationships/tags" Target="../tags/tag627.xml"/><Relationship Id="rId7" Type="http://schemas.openxmlformats.org/officeDocument/2006/relationships/image" Target="../media/image80.emf"/><Relationship Id="rId12" Type="http://schemas.openxmlformats.org/officeDocument/2006/relationships/slide" Target="slide42.xml"/><Relationship Id="rId2" Type="http://schemas.openxmlformats.org/officeDocument/2006/relationships/tags" Target="../tags/tag626.xml"/><Relationship Id="rId1" Type="http://schemas.openxmlformats.org/officeDocument/2006/relationships/tags" Target="../tags/tag625.xml"/><Relationship Id="rId6" Type="http://schemas.openxmlformats.org/officeDocument/2006/relationships/slideLayout" Target="../slideLayouts/slideLayout9.xml"/><Relationship Id="rId11" Type="http://schemas.openxmlformats.org/officeDocument/2006/relationships/slide" Target="slide36.xml"/><Relationship Id="rId5" Type="http://schemas.openxmlformats.org/officeDocument/2006/relationships/tags" Target="../tags/tag629.xml"/><Relationship Id="rId15" Type="http://schemas.openxmlformats.org/officeDocument/2006/relationships/slide" Target="slide59.xml"/><Relationship Id="rId10" Type="http://schemas.openxmlformats.org/officeDocument/2006/relationships/slide" Target="slide17.xml"/><Relationship Id="rId4" Type="http://schemas.openxmlformats.org/officeDocument/2006/relationships/tags" Target="../tags/tag628.xml"/><Relationship Id="rId9" Type="http://schemas.openxmlformats.org/officeDocument/2006/relationships/slide" Target="slide4.xml"/><Relationship Id="rId14" Type="http://schemas.openxmlformats.org/officeDocument/2006/relationships/slide" Target="slide55.xml"/></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36.xml"/><Relationship Id="rId3" Type="http://schemas.openxmlformats.org/officeDocument/2006/relationships/tags" Target="../tags/tag632.xml"/><Relationship Id="rId7" Type="http://schemas.openxmlformats.org/officeDocument/2006/relationships/tags" Target="../tags/tag636.xml"/><Relationship Id="rId12" Type="http://schemas.openxmlformats.org/officeDocument/2006/relationships/slide" Target="slide17.xml"/><Relationship Id="rId17" Type="http://schemas.openxmlformats.org/officeDocument/2006/relationships/slide" Target="slide59.xml"/><Relationship Id="rId2" Type="http://schemas.openxmlformats.org/officeDocument/2006/relationships/tags" Target="../tags/tag631.xml"/><Relationship Id="rId16" Type="http://schemas.openxmlformats.org/officeDocument/2006/relationships/slide" Target="slide55.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slide" Target="slide4.xml"/><Relationship Id="rId5" Type="http://schemas.openxmlformats.org/officeDocument/2006/relationships/tags" Target="../tags/tag634.xml"/><Relationship Id="rId15" Type="http://schemas.openxmlformats.org/officeDocument/2006/relationships/slide" Target="slide53.xml"/><Relationship Id="rId10" Type="http://schemas.openxmlformats.org/officeDocument/2006/relationships/image" Target="../media/image83.emf"/><Relationship Id="rId4" Type="http://schemas.openxmlformats.org/officeDocument/2006/relationships/tags" Target="../tags/tag633.xml"/><Relationship Id="rId9" Type="http://schemas.openxmlformats.org/officeDocument/2006/relationships/image" Target="../media/image82.emf"/><Relationship Id="rId14" Type="http://schemas.openxmlformats.org/officeDocument/2006/relationships/slide" Target="slide4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tags" Target="../tags/tag637.xml"/></Relationships>
</file>

<file path=ppt/slides/_rels/slide81.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59.xml"/><Relationship Id="rId3" Type="http://schemas.openxmlformats.org/officeDocument/2006/relationships/tags" Target="../tags/tag640.xml"/><Relationship Id="rId7" Type="http://schemas.openxmlformats.org/officeDocument/2006/relationships/slide" Target="slide4.xml"/><Relationship Id="rId12" Type="http://schemas.openxmlformats.org/officeDocument/2006/relationships/slide" Target="slide55.xml"/><Relationship Id="rId2" Type="http://schemas.openxmlformats.org/officeDocument/2006/relationships/tags" Target="../tags/tag639.xml"/><Relationship Id="rId1" Type="http://schemas.openxmlformats.org/officeDocument/2006/relationships/tags" Target="../tags/tag638.xml"/><Relationship Id="rId6" Type="http://schemas.openxmlformats.org/officeDocument/2006/relationships/image" Target="../media/image15.emf"/><Relationship Id="rId11" Type="http://schemas.openxmlformats.org/officeDocument/2006/relationships/slide" Target="slide53.xml"/><Relationship Id="rId5" Type="http://schemas.openxmlformats.org/officeDocument/2006/relationships/oleObject" Target="../embeddings/oleObject11.bin"/><Relationship Id="rId10" Type="http://schemas.openxmlformats.org/officeDocument/2006/relationships/slide" Target="slide42.xml"/><Relationship Id="rId4" Type="http://schemas.openxmlformats.org/officeDocument/2006/relationships/slideLayout" Target="../slideLayouts/slideLayout9.xml"/><Relationship Id="rId9" Type="http://schemas.openxmlformats.org/officeDocument/2006/relationships/slide" Target="slide36.xml"/></Relationships>
</file>

<file path=ppt/slides/_rels/slide82.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39.xml"/><Relationship Id="rId1" Type="http://schemas.openxmlformats.org/officeDocument/2006/relationships/tags" Target="../tags/tag64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314105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274841" y="1759937"/>
            <a:ext cx="5765982" cy="2903488"/>
          </a:xfrm>
        </p:spPr>
        <p:txBody>
          <a:bodyPr vert="horz"/>
          <a:lstStyle/>
          <a:p>
            <a:pPr>
              <a:buClr>
                <a:schemeClr val="dk1">
                  <a:lumMod val="100000"/>
                </a:schemeClr>
              </a:buClr>
            </a:pPr>
            <a:r>
              <a:rPr lang="en-US" dirty="0"/>
              <a:t>Project X</a:t>
            </a:r>
            <a:br>
              <a:rPr lang="en-US" dirty="0"/>
            </a:br>
            <a:endParaRPr lang="en-US" dirty="0"/>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1274841" y="4752153"/>
            <a:ext cx="5765982" cy="816606"/>
          </a:xfrm>
        </p:spPr>
        <p:txBody>
          <a:bodyPr/>
          <a:lstStyle/>
          <a:p>
            <a:pPr lvl="1">
              <a:buClr>
                <a:schemeClr val="dk1">
                  <a:lumMod val="100000"/>
                </a:schemeClr>
              </a:buClr>
            </a:pPr>
            <a:r>
              <a:rPr lang="en-US" noProof="0" dirty="0"/>
              <a:t>Diligence</a:t>
            </a:r>
            <a:r>
              <a:rPr lang="en-US" baseline="30000" noProof="0" dirty="0"/>
              <a:t>+</a:t>
            </a:r>
            <a:r>
              <a:rPr lang="en-US" noProof="0" dirty="0"/>
              <a:t> example FDD report</a:t>
            </a:r>
          </a:p>
          <a:p>
            <a:pPr lvl="1">
              <a:buClr>
                <a:schemeClr val="dk1">
                  <a:lumMod val="100000"/>
                </a:schemeClr>
              </a:buClr>
            </a:pPr>
            <a:r>
              <a:rPr lang="en-US" noProof="0" dirty="0"/>
              <a:t>—</a:t>
            </a:r>
          </a:p>
          <a:p>
            <a:pPr lvl="1">
              <a:buClr>
                <a:schemeClr val="dk1">
                  <a:lumMod val="100000"/>
                </a:schemeClr>
              </a:buClr>
            </a:pPr>
            <a:r>
              <a:rPr lang="en-US" dirty="0"/>
              <a:t>[ ] 2023</a:t>
            </a:r>
            <a:endParaRPr lang="en-US" noProof="0" dirty="0"/>
          </a:p>
        </p:txBody>
      </p:sp>
      <p:sp>
        <p:nvSpPr>
          <p:cNvPr id="6" name="TextBox 5">
            <a:extLst>
              <a:ext uri="{FF2B5EF4-FFF2-40B4-BE49-F238E27FC236}">
                <a16:creationId xmlns:a16="http://schemas.microsoft.com/office/drawing/2014/main" id="{51228BF9-DBEC-41FD-B4B9-0350EF8589FD}"/>
              </a:ext>
            </a:extLst>
          </p:cNvPr>
          <p:cNvSpPr txBox="1"/>
          <p:nvPr/>
        </p:nvSpPr>
        <p:spPr>
          <a:xfrm>
            <a:off x="7648207" y="1501096"/>
            <a:ext cx="3109020" cy="2525337"/>
          </a:xfrm>
          <a:prstGeom prst="rect">
            <a:avLst/>
          </a:prstGeom>
          <a:ln w="38100">
            <a:solidFill>
              <a:schemeClr val="accent6"/>
            </a:solidFill>
          </a:ln>
        </p:spPr>
        <p:txBody>
          <a:bodyPr vert="horz" wrap="square" lIns="0" tIns="0" rIns="0" bIns="0" rtlCol="0" anchor="ctr" anchorCtr="0">
            <a:noAutofit/>
          </a:bodyPr>
          <a:lstStyle/>
          <a:p>
            <a:pPr algn="ctr">
              <a:spcAft>
                <a:spcPts val="600"/>
              </a:spcAft>
            </a:pPr>
            <a:r>
              <a:rPr lang="en-GB" sz="1600" b="1" dirty="0">
                <a:solidFill>
                  <a:schemeClr val="bg1"/>
                </a:solidFill>
              </a:rPr>
              <a:t>Note: This example report has been prepared for illustrative purposes only to showcase the new report style and format. </a:t>
            </a:r>
          </a:p>
          <a:p>
            <a:pPr algn="ctr">
              <a:spcAft>
                <a:spcPts val="600"/>
              </a:spcAft>
            </a:pPr>
            <a:r>
              <a:rPr lang="en-GB" sz="1600" b="1" dirty="0">
                <a:solidFill>
                  <a:schemeClr val="bg1"/>
                </a:solidFill>
              </a:rPr>
              <a:t>For Internal use – please do not share externally.  </a:t>
            </a:r>
          </a:p>
        </p:txBody>
      </p:sp>
    </p:spTree>
    <p:extLst>
      <p:ext uri="{BB962C8B-B14F-4D97-AF65-F5344CB8AC3E}">
        <p14:creationId xmlns:p14="http://schemas.microsoft.com/office/powerpoint/2010/main" val="285625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25BA1A3B-3D07-43E4-AD2C-1E3ECB178C8E}"/>
              </a:ext>
            </a:extLst>
          </p:cNvPr>
          <p:cNvSpPr>
            <a:spLocks noGrp="1"/>
          </p:cNvSpPr>
          <p:nvPr>
            <p:ph type="body" sz="quarter" idx="13"/>
          </p:nvPr>
        </p:nvSpPr>
        <p:spPr>
          <a:xfrm>
            <a:off x="8556861" y="1116048"/>
            <a:ext cx="2652442" cy="310198"/>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date</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p:txBody>
      </p:sp>
      <p:sp>
        <p:nvSpPr>
          <p:cNvPr id="7" name="Text Placeholder 8">
            <a:extLst>
              <a:ext uri="{FF2B5EF4-FFF2-40B4-BE49-F238E27FC236}">
                <a16:creationId xmlns:a16="http://schemas.microsoft.com/office/drawing/2014/main" id="{93E5D6F8-5507-4CB2-BB49-275CDCC2B0FF}"/>
              </a:ext>
            </a:extLst>
          </p:cNvPr>
          <p:cNvSpPr>
            <a:spLocks noGrp="1"/>
          </p:cNvSpPr>
          <p:nvPr>
            <p:ph type="body" sz="quarter" idx="12"/>
          </p:nvPr>
        </p:nvSpPr>
        <p:spPr>
          <a:xfrm>
            <a:off x="1009216" y="1332698"/>
            <a:ext cx="4961984" cy="750665"/>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900" b="0" i="0" u="none" strike="noStrike" kern="1200" cap="none" spc="-20" normalizeH="0" baseline="0" noProof="0" dirty="0">
              <a:ln>
                <a:noFill/>
              </a:ln>
              <a:solidFill>
                <a:srgbClr val="00338D"/>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err="1">
                <a:ln>
                  <a:noFill/>
                </a:ln>
                <a:solidFill>
                  <a:srgbClr val="00338D"/>
                </a:solidFill>
                <a:effectLst/>
                <a:uLnTx/>
                <a:uFillTx/>
                <a:latin typeface="Arial"/>
                <a:ea typeface="+mn-ea"/>
                <a:cs typeface="+mn-cs"/>
              </a:rPr>
              <a:t>Att</a:t>
            </a:r>
            <a:r>
              <a:rPr kumimoji="0" lang="en-US" sz="900" b="0" i="0" u="none" strike="noStrike" kern="1200" cap="none" spc="-20" normalizeH="0" baseline="0" noProof="0" dirty="0">
                <a:ln>
                  <a:noFill/>
                </a:ln>
                <a:solidFill>
                  <a:srgbClr val="00338D"/>
                </a:solidFill>
                <a:effectLst/>
                <a:uLnTx/>
                <a:uFillTx/>
                <a:latin typeface="Arial"/>
                <a:ea typeface="+mn-ea"/>
                <a:cs typeface="+mn-cs"/>
              </a:rPr>
              <a:t>: [</a:t>
            </a:r>
            <a:r>
              <a:rPr kumimoji="0" lang="en-US" sz="900" b="0" i="0" u="none" strike="noStrike" kern="1200" cap="none" spc="-20" normalizeH="0" baseline="0" noProof="0" dirty="0">
                <a:ln>
                  <a:noFill/>
                </a:ln>
                <a:solidFill>
                  <a:srgbClr val="FD349C"/>
                </a:solidFill>
                <a:effectLst/>
                <a:uLnTx/>
                <a:uFillTx/>
                <a:latin typeface="Arial"/>
                <a:ea typeface="+mn-ea"/>
                <a:cs typeface="+mn-cs"/>
              </a:rPr>
              <a:t>client name</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Address line 1</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338D"/>
                </a:solidFill>
                <a:effectLst/>
                <a:uLnTx/>
                <a:uFillTx/>
                <a:latin typeface="Arial"/>
                <a:ea typeface="+mn-ea"/>
                <a:cs typeface="+mn-cs"/>
              </a:rPr>
              <a:t>[</a:t>
            </a:r>
            <a:r>
              <a:rPr kumimoji="0" lang="en-US" sz="900" b="0" i="0" u="none" strike="noStrike" kern="1200" cap="none" spc="-20" normalizeH="0" baseline="0" noProof="0" dirty="0">
                <a:ln>
                  <a:noFill/>
                </a:ln>
                <a:solidFill>
                  <a:srgbClr val="FD349C"/>
                </a:solidFill>
                <a:effectLst/>
                <a:uLnTx/>
                <a:uFillTx/>
                <a:latin typeface="Arial"/>
                <a:ea typeface="+mn-ea"/>
                <a:cs typeface="+mn-cs"/>
              </a:rPr>
              <a:t>Address line 2</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endParaRPr kumimoji="0" lang="en-US" sz="900" b="0" i="0" u="none" strike="noStrike" kern="1200" cap="none" spc="0" normalizeH="0" baseline="0" noProof="0" dirty="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6" name="Text Placeholder 25">
            <a:extLst>
              <a:ext uri="{FF2B5EF4-FFF2-40B4-BE49-F238E27FC236}">
                <a16:creationId xmlns:a16="http://schemas.microsoft.com/office/drawing/2014/main" id="{5D56B06A-8657-208D-9D82-1BBD7EAA9037}"/>
              </a:ext>
            </a:extLst>
          </p:cNvPr>
          <p:cNvSpPr>
            <a:spLocks noGrp="1"/>
          </p:cNvSpPr>
          <p:nvPr>
            <p:ph type="body" sz="quarter" idx="10"/>
          </p:nvPr>
        </p:nvSpPr>
        <p:spPr>
          <a:xfrm>
            <a:off x="1003200" y="2225809"/>
            <a:ext cx="4968000" cy="3071557"/>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20" normalizeH="0" baseline="0" noProof="0" dirty="0">
                <a:ln>
                  <a:noFill/>
                </a:ln>
                <a:solidFill>
                  <a:srgbClr val="00338D"/>
                </a:solidFill>
                <a:effectLst/>
                <a:uLnTx/>
                <a:uFillTx/>
                <a:latin typeface="Arial"/>
                <a:ea typeface="+mn-ea"/>
                <a:cs typeface="+mn-cs"/>
              </a:rPr>
              <a:t>Project [</a:t>
            </a:r>
            <a:r>
              <a:rPr lang="en-US" sz="900" spc="-20" dirty="0">
                <a:solidFill>
                  <a:srgbClr val="00338D"/>
                </a:solidFill>
                <a:latin typeface="Arial"/>
              </a:rPr>
              <a:t>X] </a:t>
            </a:r>
            <a:r>
              <a:rPr kumimoji="0" lang="en-US" sz="900" b="1" i="0" u="none" strike="noStrike" kern="1200" cap="none" spc="-20" normalizeH="0" baseline="0" noProof="0" dirty="0">
                <a:ln>
                  <a:noFill/>
                </a:ln>
                <a:solidFill>
                  <a:srgbClr val="00338D"/>
                </a:solidFill>
                <a:effectLst/>
                <a:uLnTx/>
                <a:uFillTx/>
                <a:latin typeface="Arial"/>
                <a:ea typeface="+mn-ea"/>
                <a:cs typeface="+mn-cs"/>
              </a:rPr>
              <a:t>– Financial, Value and Tax due diligence</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In accordance with the terms of reference set out in our engagement letter dated </a:t>
            </a:r>
            <a:r>
              <a:rPr lang="en-US" sz="900" b="0" spc="-20" dirty="0">
                <a:solidFill>
                  <a:srgbClr val="000000"/>
                </a:solidFill>
                <a:latin typeface="Arial"/>
              </a:rPr>
              <a:t>[XX</a:t>
            </a:r>
            <a:r>
              <a:rPr kumimoji="0" lang="en-US" sz="900" b="0" i="0" u="none" strike="noStrike" kern="1200" cap="none" spc="-20" normalizeH="0" baseline="0" noProof="0" dirty="0">
                <a:ln>
                  <a:noFill/>
                </a:ln>
                <a:solidFill>
                  <a:srgbClr val="000000"/>
                </a:solidFill>
                <a:effectLst/>
                <a:uLnTx/>
                <a:uFillTx/>
                <a:latin typeface="Arial"/>
                <a:ea typeface="+mn-ea"/>
                <a:cs typeface="+mn-cs"/>
              </a:rPr>
              <a:t>] (“Engagement Letter”), we enclose a copy of our financial</a:t>
            </a:r>
            <a:r>
              <a:rPr lang="en-US" sz="900" b="0" spc="-20" dirty="0">
                <a:solidFill>
                  <a:srgbClr val="000000"/>
                </a:solidFill>
                <a:latin typeface="Arial"/>
              </a:rPr>
              <a:t> </a:t>
            </a:r>
            <a:r>
              <a:rPr kumimoji="0" lang="en-US" sz="900" b="0" i="0" u="none" strike="noStrike" kern="1200" cap="none" spc="-20" normalizeH="0" baseline="0" noProof="0" dirty="0">
                <a:ln>
                  <a:noFill/>
                </a:ln>
                <a:solidFill>
                  <a:srgbClr val="000000"/>
                </a:solidFill>
                <a:effectLst/>
                <a:uLnTx/>
                <a:uFillTx/>
                <a:latin typeface="Arial"/>
                <a:ea typeface="+mn-ea"/>
                <a:cs typeface="+mn-cs"/>
              </a:rPr>
              <a:t>and tax due diligence report (“report”) on [</a:t>
            </a:r>
            <a:r>
              <a:rPr lang="en-US" sz="900" b="0" spc="-20" dirty="0">
                <a:solidFill>
                  <a:srgbClr val="000000"/>
                </a:solidFill>
                <a:latin typeface="Arial"/>
              </a:rPr>
              <a:t>Target] </a:t>
            </a:r>
            <a:r>
              <a:rPr kumimoji="0" lang="en-US" sz="900" b="0" i="0" u="none" strike="noStrike" kern="1200" cap="none" spc="-20" normalizeH="0" baseline="0" noProof="0" dirty="0">
                <a:ln>
                  <a:noFill/>
                </a:ln>
                <a:solidFill>
                  <a:srgbClr val="000000"/>
                </a:solidFill>
                <a:effectLst/>
                <a:uLnTx/>
                <a:uFillTx/>
                <a:latin typeface="Arial"/>
                <a:ea typeface="+mn-ea"/>
                <a:cs typeface="+mn-cs"/>
              </a:rPr>
              <a:t>(“Target”) based on the scope of work agreed with you. Our work commenced on</a:t>
            </a:r>
            <a:r>
              <a:rPr lang="en-US" sz="900" b="0" spc="-20" dirty="0">
                <a:solidFill>
                  <a:srgbClr val="000000"/>
                </a:solidFill>
                <a:latin typeface="Arial"/>
              </a:rPr>
              <a:t> [XX</a:t>
            </a:r>
            <a:r>
              <a:rPr kumimoji="0" lang="en-US" sz="900" b="0" i="0" u="none" strike="noStrike" kern="1200" cap="none" spc="-20" normalizeH="0" baseline="0" noProof="0" dirty="0">
                <a:ln>
                  <a:noFill/>
                </a:ln>
                <a:solidFill>
                  <a:srgbClr val="000000"/>
                </a:solidFill>
                <a:effectLst/>
                <a:uLnTx/>
                <a:uFillTx/>
                <a:latin typeface="Arial"/>
                <a:ea typeface="+mn-ea"/>
                <a:cs typeface="+mn-cs"/>
              </a:rPr>
              <a:t>] and our fieldwork was completed on [</a:t>
            </a:r>
            <a:r>
              <a:rPr lang="en-US" sz="900" b="0" spc="-20" dirty="0">
                <a:solidFill>
                  <a:srgbClr val="000000"/>
                </a:solidFill>
                <a:latin typeface="Arial"/>
              </a:rPr>
              <a:t>XX</a:t>
            </a:r>
            <a:r>
              <a:rPr kumimoji="0" lang="en-US" sz="900" b="0" i="0" u="none" strike="noStrike" kern="1200" cap="none" spc="-20" normalizeH="0" baseline="0" noProof="0" dirty="0">
                <a:ln>
                  <a:noFill/>
                </a:ln>
                <a:solidFill>
                  <a:srgbClr val="000000"/>
                </a:solidFill>
                <a:effectLst/>
                <a:uLnTx/>
                <a:uFillTx/>
                <a:latin typeface="Arial"/>
                <a:ea typeface="+mn-ea"/>
                <a:cs typeface="+mn-cs"/>
              </a:rPr>
              <a:t>]. We have not undertaken to update our report for events or circumstances arising after that date.</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draw your attention to the following matters:</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Our work on historical trading comprises the financial years ended </a:t>
            </a:r>
            <a:r>
              <a:rPr kumimoji="0" lang="en-US" sz="900" b="0" i="0" u="none" strike="noStrike" kern="1200" cap="none" spc="-20" normalizeH="0" baseline="0" noProof="0" dirty="0">
                <a:ln>
                  <a:noFill/>
                </a:ln>
                <a:effectLst/>
                <a:uLnTx/>
                <a:uFillTx/>
                <a:latin typeface="Arial"/>
                <a:ea typeface="+mn-ea"/>
                <a:cs typeface="+mn-cs"/>
              </a:rPr>
              <a:t>April 30, 2020 and 2021, and </a:t>
            </a:r>
            <a:r>
              <a:rPr lang="en-US" sz="900" b="0" spc="-20">
                <a:latin typeface="Arial"/>
              </a:rPr>
              <a:t>2022</a:t>
            </a:r>
            <a:r>
              <a:rPr kumimoji="0" lang="en-US" sz="900" b="0" i="0" u="none" strike="noStrike" kern="1200" cap="none" spc="-20" normalizeH="0" baseline="0" noProof="0">
                <a:ln>
                  <a:noFill/>
                </a:ln>
                <a:solidFill>
                  <a:srgbClr val="000000"/>
                </a:solidFill>
                <a:effectLst/>
                <a:uLnTx/>
                <a:uFillTx/>
                <a:latin typeface="Arial"/>
                <a:ea typeface="+mn-ea"/>
                <a:cs typeface="+mn-cs"/>
              </a:rPr>
              <a:t>. </a:t>
            </a:r>
            <a:r>
              <a:rPr kumimoji="0" lang="en-US" sz="900" b="0" i="0" u="none" strike="noStrike" kern="1200" cap="none" spc="-20" normalizeH="0" baseline="0" noProof="0" dirty="0">
                <a:ln>
                  <a:noFill/>
                </a:ln>
                <a:solidFill>
                  <a:srgbClr val="000000"/>
                </a:solidFill>
                <a:effectLst/>
                <a:uLnTx/>
                <a:uFillTx/>
                <a:latin typeface="Arial"/>
                <a:ea typeface="+mn-ea"/>
                <a:cs typeface="+mn-cs"/>
              </a:rPr>
              <a:t>With respect to prospective financial trading, our scope of work includes </a:t>
            </a:r>
            <a:r>
              <a:rPr kumimoji="0" lang="en-US" sz="900" b="0" i="0" u="none" strike="noStrike" kern="1200" cap="none" spc="-20" normalizeH="0" baseline="0" noProof="0" dirty="0">
                <a:ln>
                  <a:noFill/>
                </a:ln>
                <a:effectLst/>
                <a:uLnTx/>
                <a:uFillTx/>
                <a:latin typeface="Arial"/>
                <a:ea typeface="+mn-ea"/>
                <a:cs typeface="+mn-cs"/>
              </a:rPr>
              <a:t>2023</a:t>
            </a:r>
            <a:r>
              <a:rPr lang="en-US" sz="900" b="0" spc="-20" dirty="0">
                <a:latin typeface="Arial"/>
              </a:rPr>
              <a:t> </a:t>
            </a:r>
            <a:r>
              <a:rPr kumimoji="0" lang="en-US" sz="900" b="0" i="0" u="none" strike="noStrike" kern="1200" cap="none" spc="-20" normalizeH="0" baseline="0" noProof="0" dirty="0">
                <a:ln>
                  <a:noFill/>
                </a:ln>
                <a:solidFill>
                  <a:srgbClr val="000000"/>
                </a:solidFill>
                <a:effectLst/>
                <a:uLnTx/>
                <a:uFillTx/>
                <a:latin typeface="Arial"/>
                <a:ea typeface="+mn-ea"/>
                <a:cs typeface="+mn-cs"/>
              </a:rPr>
              <a:t>forecast.</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have only covered the specific financial and tax issues agreed in the scope of work. We have not covered e.g., commercial, operational, environmental or legal matters.</a:t>
            </a:r>
          </a:p>
          <a:p>
            <a:pPr marL="171446" marR="0" lvl="0" indent="-171446" algn="l" defTabSz="914377" rtl="0" eaLnBrk="1" fontAlgn="auto" latinLnBrk="0" hangingPunct="1">
              <a:lnSpc>
                <a:spcPts val="1100"/>
              </a:lnSpc>
              <a:spcBef>
                <a:spcPts val="0"/>
              </a:spcBef>
              <a:spcAft>
                <a:spcPts val="300"/>
              </a:spcAft>
              <a:buClrTx/>
              <a:buSzTx/>
              <a:buFont typeface="Arial" panose="020B0604020202020204" pitchFamily="34" charset="0"/>
              <a:buChar char="•"/>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The value creation opportunities shown are indicative estimates only and are based on limited information, high-level analysis and assumptions. The analysis have been carried out using limited data and do not comprise a detailed diagnostic. Accordingly, the analysis needs to be interpreted with caution.</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Please review the following documents in the appendices, which set out the basis and limitations of our work performed:</a:t>
            </a:r>
          </a:p>
        </p:txBody>
      </p:sp>
      <p:sp>
        <p:nvSpPr>
          <p:cNvPr id="4" name="Text Placeholder 3">
            <a:extLst>
              <a:ext uri="{FF2B5EF4-FFF2-40B4-BE49-F238E27FC236}">
                <a16:creationId xmlns:a16="http://schemas.microsoft.com/office/drawing/2014/main" id="{C0374A25-A982-4360-AFD6-886803B60C9D}"/>
              </a:ext>
            </a:extLst>
          </p:cNvPr>
          <p:cNvSpPr>
            <a:spLocks noGrp="1"/>
          </p:cNvSpPr>
          <p:nvPr>
            <p:ph type="body" sz="quarter" idx="11"/>
          </p:nvPr>
        </p:nvSpPr>
        <p:spPr>
          <a:xfrm>
            <a:off x="6220800" y="2225809"/>
            <a:ext cx="4968000" cy="3071557"/>
          </a:xfrm>
        </p:spPr>
        <p:txBody>
          <a:bodyPr/>
          <a:lstStyle/>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In accordance with our Engagement Letter and its attachments, you have agreed that our final report shall take precedence over this draft, and that no reliance will be placed by you on any draft report other than at your own risk</a:t>
            </a:r>
            <a:r>
              <a:rPr kumimoji="0" lang="en-US" sz="900" b="0" i="0" u="none" strike="noStrike" kern="1200" cap="none" spc="-20" normalizeH="0" baseline="0" noProof="0" dirty="0">
                <a:ln>
                  <a:noFill/>
                </a:ln>
                <a:solidFill>
                  <a:srgbClr val="00338D"/>
                </a:solidFill>
                <a:effectLst/>
                <a:uLnTx/>
                <a:uFillTx/>
                <a:latin typeface="Arial"/>
                <a:ea typeface="+mn-ea"/>
                <a:cs typeface="+mn-cs"/>
              </a:rPr>
              <a:t>.</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You should note that our findings do not constitute recommendations to you as to whether or not you should proceed with the proposed transaction.</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Our report is confidential and is released to you on the basis that it is not to be copied, referred to or disclosed, in whole or in part, to any other party without our prior written consent, except as specifically provided in our Engagement Letter. In accordance with the Engagement Letter, you may disclose our report to your legal and other professional advisers in order to seek advice in relation to our work for you, provided that when doing so you inform them that, to the fullest extent permitted by law, we accept no responsibility or liability to them in connection with our report and our work for you.</a:t>
            </a: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We would be pleased to receive your observations on our report. Please feel free to contact us to discuss.</a:t>
            </a:r>
          </a:p>
          <a:p>
            <a:pPr marL="0" marR="0" lvl="0" indent="0" algn="l" defTabSz="914377" rtl="0" eaLnBrk="1" fontAlgn="auto" latinLnBrk="0" hangingPunct="1">
              <a:lnSpc>
                <a:spcPts val="1100"/>
              </a:lnSpc>
              <a:spcBef>
                <a:spcPts val="0"/>
              </a:spcBef>
              <a:spcAft>
                <a:spcPts val="300"/>
              </a:spcAft>
              <a:buClrTx/>
              <a:buSzTx/>
              <a:buFontTx/>
              <a:buNone/>
              <a:tabLst/>
              <a:defRPr/>
            </a:pPr>
            <a:endParaRPr kumimoji="0" lang="en-US" sz="900" b="0" i="0" u="none" strike="noStrike" kern="1200" cap="none" spc="-20" normalizeH="0" baseline="0" noProof="0" dirty="0">
              <a:ln>
                <a:noFill/>
              </a:ln>
              <a:solidFill>
                <a:srgbClr val="000000"/>
              </a:solidFill>
              <a:effectLst/>
              <a:uLnTx/>
              <a:uFillTx/>
              <a:latin typeface="Arial"/>
              <a:ea typeface="+mn-ea"/>
              <a:cs typeface="+mn-cs"/>
            </a:endParaRP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Yours sincerely</a:t>
            </a:r>
          </a:p>
          <a:p>
            <a:pPr marL="0" marR="0" lvl="0" indent="0" algn="l" defTabSz="914377" rtl="0" eaLnBrk="1" fontAlgn="auto" latinLnBrk="0" hangingPunct="1">
              <a:lnSpc>
                <a:spcPts val="1100"/>
              </a:lnSpc>
              <a:spcBef>
                <a:spcPts val="0"/>
              </a:spcBef>
              <a:spcAft>
                <a:spcPts val="300"/>
              </a:spcAft>
              <a:buClrTx/>
              <a:buSzTx/>
              <a:buFontTx/>
              <a:buNone/>
              <a:tabLst/>
              <a:defRPr/>
            </a:pPr>
            <a:endParaRPr kumimoji="0" lang="en-US" sz="900" b="0" i="0" u="none" strike="noStrike" kern="1200" cap="none" spc="-20" normalizeH="0" baseline="0" noProof="0" dirty="0">
              <a:ln>
                <a:noFill/>
              </a:ln>
              <a:solidFill>
                <a:srgbClr val="000000"/>
              </a:solidFill>
              <a:effectLst/>
              <a:uLnTx/>
              <a:uFillTx/>
              <a:latin typeface="Arial"/>
              <a:ea typeface="+mn-ea"/>
              <a:cs typeface="+mn-cs"/>
            </a:endParaRPr>
          </a:p>
          <a:p>
            <a:pPr marL="0" marR="0" lvl="0" indent="0" algn="l" defTabSz="914377" rtl="0" eaLnBrk="1" fontAlgn="auto" latinLnBrk="0" hangingPunct="1">
              <a:lnSpc>
                <a:spcPts val="1100"/>
              </a:lnSpc>
              <a:spcBef>
                <a:spcPts val="0"/>
              </a:spcBef>
              <a:spcAft>
                <a:spcPts val="300"/>
              </a:spcAft>
              <a:buClrTx/>
              <a:buSzTx/>
              <a:buFontTx/>
              <a:buNone/>
              <a:tabLst/>
              <a:defRPr/>
            </a:pPr>
            <a:endParaRPr lang="en-US" sz="900" b="0" spc="-20" dirty="0">
              <a:solidFill>
                <a:srgbClr val="000000"/>
              </a:solidFill>
              <a:latin typeface="Arial"/>
            </a:endParaRPr>
          </a:p>
          <a:p>
            <a:pPr marL="0" marR="0" lvl="0" indent="0" algn="l" defTabSz="914377" rtl="0" eaLnBrk="1" fontAlgn="auto" latinLnBrk="0" hangingPunct="1">
              <a:lnSpc>
                <a:spcPts val="1100"/>
              </a:lnSpc>
              <a:spcBef>
                <a:spcPts val="0"/>
              </a:spcBef>
              <a:spcAft>
                <a:spcPts val="300"/>
              </a:spcAft>
              <a:buClrTx/>
              <a:buSzTx/>
              <a:buFontTx/>
              <a:buNone/>
              <a:tabLst/>
              <a:defRPr/>
            </a:pPr>
            <a:r>
              <a:rPr kumimoji="0" lang="en-US" sz="900" b="0" i="0" u="none" strike="noStrike" kern="1200" cap="none" spc="-20" normalizeH="0" baseline="0" noProof="0" dirty="0">
                <a:ln>
                  <a:noFill/>
                </a:ln>
                <a:solidFill>
                  <a:srgbClr val="000000"/>
                </a:solidFill>
                <a:effectLst/>
                <a:uLnTx/>
                <a:uFillTx/>
                <a:latin typeface="Arial"/>
                <a:ea typeface="+mn-ea"/>
                <a:cs typeface="+mn-cs"/>
              </a:rPr>
              <a:t>KPMG </a:t>
            </a:r>
            <a:r>
              <a:rPr lang="en-US" sz="900" b="0" spc="-20" dirty="0">
                <a:solidFill>
                  <a:srgbClr val="000000"/>
                </a:solidFill>
                <a:latin typeface="Arial"/>
              </a:rPr>
              <a:t>LLP</a:t>
            </a:r>
            <a:br>
              <a:rPr kumimoji="0" lang="en-US" sz="900" b="0" i="0" u="none" strike="noStrike" kern="1200" cap="none" spc="-20" normalizeH="0" baseline="0" noProof="0" dirty="0">
                <a:ln>
                  <a:noFill/>
                </a:ln>
                <a:solidFill>
                  <a:srgbClr val="000000"/>
                </a:solidFill>
                <a:effectLst/>
                <a:uLnTx/>
                <a:uFillTx/>
                <a:latin typeface="Arial"/>
                <a:ea typeface="+mn-ea"/>
                <a:cs typeface="+mn-cs"/>
              </a:rPr>
            </a:br>
            <a:endParaRPr kumimoji="0" lang="en-US" sz="900" b="0" i="0" u="none" strike="noStrike" kern="1200" cap="none" spc="-20" normalizeH="0" baseline="0" noProof="0" dirty="0">
              <a:ln>
                <a:noFill/>
              </a:ln>
              <a:solidFill>
                <a:srgbClr val="000000"/>
              </a:solidFill>
              <a:effectLst/>
              <a:uLnTx/>
              <a:uFillTx/>
              <a:latin typeface="Arial"/>
              <a:ea typeface="+mn-ea"/>
              <a:cs typeface="+mn-cs"/>
            </a:endParaRPr>
          </a:p>
        </p:txBody>
      </p:sp>
      <p:sp>
        <p:nvSpPr>
          <p:cNvPr id="14" name="TextBox 13">
            <a:extLst>
              <a:ext uri="{FF2B5EF4-FFF2-40B4-BE49-F238E27FC236}">
                <a16:creationId xmlns:a16="http://schemas.microsoft.com/office/drawing/2014/main" id="{8F85CD3C-4334-4AC3-B5F2-E8D51DB115CA}"/>
              </a:ext>
            </a:extLst>
          </p:cNvPr>
          <p:cNvSpPr txBox="1">
            <a:spLocks/>
          </p:cNvSpPr>
          <p:nvPr/>
        </p:nvSpPr>
        <p:spPr>
          <a:xfrm>
            <a:off x="4300124" y="496806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Scope of work</a:t>
            </a:r>
          </a:p>
        </p:txBody>
      </p:sp>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8462D4A4-79FA-CAD8-47B5-BFE45774FCC4}"/>
                  </a:ext>
                </a:extLst>
              </p:cNvPr>
              <p:cNvGraphicFramePr>
                <a:graphicFrameLocks noChangeAspect="1"/>
              </p:cNvGraphicFramePr>
              <p:nvPr>
                <p:extLst>
                  <p:ext uri="{D42A27DB-BD31-4B8C-83A1-F6EECF244321}">
                    <p14:modId xmlns:p14="http://schemas.microsoft.com/office/powerpoint/2010/main" val="4112225393"/>
                  </p:ext>
                </p:extLst>
              </p:nvPr>
            </p:nvGraphicFramePr>
            <p:xfrm>
              <a:off x="4300124" y="5135710"/>
              <a:ext cx="1044000" cy="552356"/>
            </p:xfrm>
            <a:graphic>
              <a:graphicData uri="http://schemas.microsoft.com/office/powerpoint/2016/slidezoom">
                <pslz:sldZm>
                  <pslz:sldZmObj sldId="691" cId="4137788745">
                    <pslz:zmPr id="{C41F5FBB-A759-4175-91D4-9D7249D3EE95}" returnToParent="0" transitionDur="1000">
                      <p166:blipFill xmlns:p166="http://schemas.microsoft.com/office/powerpoint/2016/6/main">
                        <a:blip r:embed="rId6"/>
                        <a:stretch>
                          <a:fillRect/>
                        </a:stretch>
                      </p166:blipFill>
                      <p166:spPr xmlns:p166="http://schemas.microsoft.com/office/powerpoint/2016/6/main">
                        <a:xfrm>
                          <a:off x="0" y="0"/>
                          <a:ext cx="1044000" cy="552356"/>
                        </a:xfrm>
                        <a:prstGeom prst="rect">
                          <a:avLst/>
                        </a:prstGeom>
                        <a:ln w="12700">
                          <a:solidFill>
                            <a:schemeClr val="tx2"/>
                          </a:solidFill>
                        </a:ln>
                      </p166:spPr>
                    </pslz:zmPr>
                  </pslz:sldZmObj>
                </pslz:sldZm>
              </a:graphicData>
            </a:graphic>
          </p:graphicFrame>
        </mc:Choice>
        <mc:Fallback xmlns="">
          <p:pic>
            <p:nvPicPr>
              <p:cNvPr id="17" name="Slide Zoom 16">
                <a:extLst>
                  <a:ext uri="{FF2B5EF4-FFF2-40B4-BE49-F238E27FC236}">
                    <a16:creationId xmlns:a16="http://schemas.microsoft.com/office/drawing/2014/main" id="{8462D4A4-79FA-CAD8-47B5-BFE45774FCC4}"/>
                  </a:ext>
                </a:extLst>
              </p:cNvPr>
              <p:cNvPicPr>
                <a:picLocks noGrp="1" noRot="1" noChangeAspect="1" noMove="1" noResize="1" noEditPoints="1" noAdjustHandles="1" noChangeArrowheads="1" noChangeShapeType="1"/>
              </p:cNvPicPr>
              <p:nvPr/>
            </p:nvPicPr>
            <p:blipFill>
              <a:blip r:embed="rId7"/>
              <a:stretch>
                <a:fillRect/>
              </a:stretch>
            </p:blipFill>
            <p:spPr>
              <a:xfrm>
                <a:off x="4300124" y="5135710"/>
                <a:ext cx="1044000" cy="552356"/>
              </a:xfrm>
              <a:prstGeom prst="rect">
                <a:avLst/>
              </a:prstGeom>
              <a:ln w="12700">
                <a:solidFill>
                  <a:schemeClr val="tx2"/>
                </a:solidFill>
              </a:ln>
            </p:spPr>
          </p:pic>
        </mc:Fallback>
      </mc:AlternateContent>
      <p:sp>
        <p:nvSpPr>
          <p:cNvPr id="2" name="UpSlide SubSection Marker" hidden="1">
            <a:extLst>
              <a:ext uri="{FF2B5EF4-FFF2-40B4-BE49-F238E27FC236}">
                <a16:creationId xmlns:a16="http://schemas.microsoft.com/office/drawing/2014/main" id="{BA4AE1A7-66FA-B8AF-686E-DCF4B83C231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Key findings</a:t>
            </a:r>
            <a:endParaRPr lang="en-US" sz="900" dirty="0">
              <a:solidFill>
                <a:schemeClr val="bg1"/>
              </a:solidFill>
            </a:endParaRPr>
          </a:p>
        </p:txBody>
      </p:sp>
      <p:grpSp>
        <p:nvGrpSpPr>
          <p:cNvPr id="9" name="Group 8">
            <a:extLst>
              <a:ext uri="{FF2B5EF4-FFF2-40B4-BE49-F238E27FC236}">
                <a16:creationId xmlns:a16="http://schemas.microsoft.com/office/drawing/2014/main" id="{89C62CF0-2BDB-4E29-9EE0-41CFD126D0F6}"/>
              </a:ext>
            </a:extLst>
          </p:cNvPr>
          <p:cNvGrpSpPr/>
          <p:nvPr/>
        </p:nvGrpSpPr>
        <p:grpSpPr>
          <a:xfrm>
            <a:off x="2651662" y="4968066"/>
            <a:ext cx="1116001" cy="720000"/>
            <a:chOff x="2651661" y="5251646"/>
            <a:chExt cx="1116001" cy="720000"/>
          </a:xfrm>
        </p:grpSpPr>
        <p:sp>
          <p:nvSpPr>
            <p:cNvPr id="12" name="TextBox 11">
              <a:extLst>
                <a:ext uri="{FF2B5EF4-FFF2-40B4-BE49-F238E27FC236}">
                  <a16:creationId xmlns:a16="http://schemas.microsoft.com/office/drawing/2014/main" id="{2C2B4922-C9A9-4839-918C-9FC530A58F61}"/>
                </a:ext>
              </a:extLst>
            </p:cNvPr>
            <p:cNvSpPr txBox="1">
              <a:spLocks/>
            </p:cNvSpPr>
            <p:nvPr/>
          </p:nvSpPr>
          <p:spPr>
            <a:xfrm>
              <a:off x="2651662" y="5251646"/>
              <a:ext cx="1116000" cy="14048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Basis of preparation</a:t>
              </a:r>
            </a:p>
          </p:txBody>
        </p:sp>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EB11A661-5EED-48A9-ABC0-2AB36B19FB72}"/>
                    </a:ext>
                  </a:extLst>
                </p:cNvPr>
                <p:cNvGraphicFramePr>
                  <a:graphicFrameLocks noChangeAspect="1"/>
                </p:cNvGraphicFramePr>
                <p:nvPr>
                  <p:extLst>
                    <p:ext uri="{D42A27DB-BD31-4B8C-83A1-F6EECF244321}">
                      <p14:modId xmlns:p14="http://schemas.microsoft.com/office/powerpoint/2010/main" val="1397529467"/>
                    </p:ext>
                  </p:extLst>
                </p:nvPr>
              </p:nvGraphicFramePr>
              <p:xfrm>
                <a:off x="2651661" y="5419290"/>
                <a:ext cx="1044000" cy="552356"/>
              </p:xfrm>
              <a:graphic>
                <a:graphicData uri="http://schemas.microsoft.com/office/powerpoint/2016/slidezoom">
                  <pslz:sldZm>
                    <pslz:sldZmObj sldId="937" cId="3821638800">
                      <pslz:zmPr id="{154A20A2-0D88-4F85-B0C3-E0FF95566DE1}" returnToParent="0" transitionDur="1000">
                        <p166:blipFill xmlns:p166="http://schemas.microsoft.com/office/powerpoint/2016/6/main">
                          <a:blip r:embed="rId8"/>
                          <a:stretch>
                            <a:fillRect/>
                          </a:stretch>
                        </p166:blipFill>
                        <p166:spPr xmlns:p166="http://schemas.microsoft.com/office/powerpoint/2016/6/main">
                          <a:xfrm>
                            <a:off x="0" y="0"/>
                            <a:ext cx="1044000" cy="552356"/>
                          </a:xfrm>
                          <a:prstGeom prst="rect">
                            <a:avLst/>
                          </a:prstGeom>
                          <a:ln w="12700">
                            <a:solidFill>
                              <a:srgbClr val="00338D"/>
                            </a:solidFill>
                          </a:ln>
                        </p166:spPr>
                      </pslz:zmPr>
                    </pslz:sldZmObj>
                  </pslz:sldZm>
                </a:graphicData>
              </a:graphic>
            </p:graphicFrame>
          </mc:Choice>
          <mc:Fallback xmlns="">
            <p:pic>
              <p:nvPicPr>
                <p:cNvPr id="8" name="Slide Zoom 7">
                  <a:extLst>
                    <a:ext uri="{FF2B5EF4-FFF2-40B4-BE49-F238E27FC236}">
                      <a16:creationId xmlns:a16="http://schemas.microsoft.com/office/drawing/2014/main" id="{EB11A661-5EED-48A9-ABC0-2AB36B19FB72}"/>
                    </a:ext>
                  </a:extLst>
                </p:cNvPr>
                <p:cNvPicPr>
                  <a:picLocks noGrp="1" noRot="1" noChangeAspect="1" noMove="1" noResize="1" noEditPoints="1" noAdjustHandles="1" noChangeArrowheads="1" noChangeShapeType="1"/>
                </p:cNvPicPr>
                <p:nvPr/>
              </p:nvPicPr>
              <p:blipFill>
                <a:blip r:embed="rId10"/>
                <a:stretch>
                  <a:fillRect/>
                </a:stretch>
              </p:blipFill>
              <p:spPr>
                <a:xfrm>
                  <a:off x="2651661" y="5419290"/>
                  <a:ext cx="1044000" cy="552356"/>
                </a:xfrm>
                <a:prstGeom prst="rect">
                  <a:avLst/>
                </a:prstGeom>
                <a:ln w="12700">
                  <a:solidFill>
                    <a:srgbClr val="00338D"/>
                  </a:solidFill>
                </a:ln>
              </p:spPr>
            </p:pic>
          </mc:Fallback>
        </mc:AlternateContent>
      </p:grpSp>
      <p:grpSp>
        <p:nvGrpSpPr>
          <p:cNvPr id="13" name="Group 12">
            <a:extLst>
              <a:ext uri="{FF2B5EF4-FFF2-40B4-BE49-F238E27FC236}">
                <a16:creationId xmlns:a16="http://schemas.microsoft.com/office/drawing/2014/main" id="{AFDA1643-9AF2-4AA6-9F67-602E43A9ABDC}"/>
              </a:ext>
            </a:extLst>
          </p:cNvPr>
          <p:cNvGrpSpPr/>
          <p:nvPr/>
        </p:nvGrpSpPr>
        <p:grpSpPr>
          <a:xfrm>
            <a:off x="1041885" y="4968070"/>
            <a:ext cx="1158339" cy="719997"/>
            <a:chOff x="1041885" y="4968066"/>
            <a:chExt cx="1158339" cy="699353"/>
          </a:xfrm>
        </p:grpSpPr>
        <p:sp>
          <p:nvSpPr>
            <p:cNvPr id="11" name="TextBox 10">
              <a:extLst>
                <a:ext uri="{FF2B5EF4-FFF2-40B4-BE49-F238E27FC236}">
                  <a16:creationId xmlns:a16="http://schemas.microsoft.com/office/drawing/2014/main" id="{6E202935-381F-4AA5-9A5A-24E571AE50D6}"/>
                </a:ext>
              </a:extLst>
            </p:cNvPr>
            <p:cNvSpPr txBox="1">
              <a:spLocks/>
            </p:cNvSpPr>
            <p:nvPr/>
          </p:nvSpPr>
          <p:spPr>
            <a:xfrm>
              <a:off x="1084224" y="4968066"/>
              <a:ext cx="1116000" cy="140488"/>
            </a:xfrm>
            <a:prstGeom prst="rect">
              <a:avLst/>
            </a:prstGeom>
            <a:noFill/>
            <a:ln>
              <a:noFill/>
            </a:ln>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900" b="1" i="0" u="none" strike="noStrike" kern="1200" cap="none" spc="0" normalizeH="0" baseline="0" noProof="0" dirty="0">
                  <a:ln>
                    <a:noFill/>
                  </a:ln>
                  <a:solidFill>
                    <a:schemeClr val="dk2">
                      <a:lumMod val="100000"/>
                    </a:schemeClr>
                  </a:solidFill>
                  <a:effectLst/>
                  <a:uLnTx/>
                  <a:uFillTx/>
                  <a:ea typeface="+mn-ea"/>
                  <a:cs typeface="+mn-cs"/>
                </a:rPr>
                <a:t>Important notice</a:t>
              </a:r>
            </a:p>
          </p:txBody>
        </p:sp>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758A4C5A-7AE7-40BA-84FE-130433B1A36D}"/>
                    </a:ext>
                  </a:extLst>
                </p:cNvPr>
                <p:cNvGraphicFramePr>
                  <a:graphicFrameLocks noChangeAspect="1"/>
                </p:cNvGraphicFramePr>
                <p:nvPr>
                  <p:extLst>
                    <p:ext uri="{D42A27DB-BD31-4B8C-83A1-F6EECF244321}">
                      <p14:modId xmlns:p14="http://schemas.microsoft.com/office/powerpoint/2010/main" val="2362722338"/>
                    </p:ext>
                  </p:extLst>
                </p:nvPr>
              </p:nvGraphicFramePr>
              <p:xfrm>
                <a:off x="1041885" y="5135712"/>
                <a:ext cx="1044000" cy="531707"/>
              </p:xfrm>
              <a:graphic>
                <a:graphicData uri="http://schemas.microsoft.com/office/powerpoint/2016/slidezoom">
                  <pslz:sldZm>
                    <pslz:sldZmObj sldId="938" cId="976196160">
                      <pslz:zmPr id="{3639C151-6759-4386-BAF0-FE38B150C5B0}" returnToParent="0" transitionDur="1000">
                        <p166:blipFill xmlns:p166="http://schemas.microsoft.com/office/powerpoint/2016/6/main">
                          <a:blip r:embed="rId11"/>
                          <a:stretch>
                            <a:fillRect/>
                          </a:stretch>
                        </p166:blipFill>
                        <p166:spPr xmlns:p166="http://schemas.microsoft.com/office/powerpoint/2016/6/main">
                          <a:xfrm>
                            <a:off x="0" y="0"/>
                            <a:ext cx="1044000" cy="547402"/>
                          </a:xfrm>
                          <a:prstGeom prst="rect">
                            <a:avLst/>
                          </a:prstGeom>
                          <a:ln w="12700">
                            <a:solidFill>
                              <a:schemeClr val="accent2"/>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758A4C5A-7AE7-40BA-84FE-130433B1A36D}"/>
                    </a:ext>
                  </a:extLst>
                </p:cNvPr>
                <p:cNvPicPr>
                  <a:picLocks noGrp="1" noRot="1" noChangeAspect="1" noMove="1" noResize="1" noEditPoints="1" noAdjustHandles="1" noChangeArrowheads="1" noChangeShapeType="1"/>
                </p:cNvPicPr>
                <p:nvPr/>
              </p:nvPicPr>
              <p:blipFill>
                <a:blip r:embed="rId12"/>
                <a:stretch>
                  <a:fillRect/>
                </a:stretch>
              </p:blipFill>
              <p:spPr>
                <a:xfrm>
                  <a:off x="1041885" y="5140665"/>
                  <a:ext cx="1044000" cy="547402"/>
                </a:xfrm>
                <a:prstGeom prst="rect">
                  <a:avLst/>
                </a:prstGeom>
                <a:ln w="12700">
                  <a:solidFill>
                    <a:schemeClr val="accent2"/>
                  </a:solidFill>
                </a:ln>
              </p:spPr>
            </p:pic>
          </mc:Fallback>
        </mc:AlternateContent>
      </p:grpSp>
    </p:spTree>
    <p:extLst>
      <p:ext uri="{BB962C8B-B14F-4D97-AF65-F5344CB8AC3E}">
        <p14:creationId xmlns:p14="http://schemas.microsoft.com/office/powerpoint/2010/main" val="579516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a:t>Contents</a:t>
            </a:r>
            <a:endParaRPr lang="en-US" dirty="0"/>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dirty="0">
                <a:solidFill>
                  <a:schemeClr val="tx2"/>
                </a:solidFill>
              </a:rPr>
              <a:t>Glossary</a:t>
            </a:r>
          </a:p>
        </p:txBody>
      </p:sp>
      <p:pic>
        <p:nvPicPr>
          <p:cNvPr id="3637" name="Picture 3636">
            <a:hlinkClick r:id="rId90"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91"/>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97077"/>
            <a:ext cx="886461" cy="153888"/>
          </a:xfrm>
          <a:prstGeom prst="rect">
            <a:avLst/>
          </a:prstGeom>
        </p:spPr>
        <p:txBody>
          <a:bodyPr wrap="none" lIns="0" tIns="0" rIns="0" bIns="0" anchor="ctr">
            <a:spAutoFit/>
          </a:bodyPr>
          <a:lstStyle/>
          <a:p>
            <a:pPr algn="r"/>
            <a:r>
              <a:rPr lang="en-US" sz="1000" dirty="0">
                <a:solidFill>
                  <a:schemeClr val="tx2"/>
                </a:solidFill>
              </a:rPr>
              <a:t>KPMG contacts</a:t>
            </a:r>
          </a:p>
        </p:txBody>
      </p:sp>
      <p:pic>
        <p:nvPicPr>
          <p:cNvPr id="3638" name="Picture 3637">
            <a:hlinkClick r:id="rId92"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93"/>
          <a:stretch>
            <a:fillRect/>
          </a:stretch>
        </p:blipFill>
        <p:spPr>
          <a:xfrm>
            <a:off x="11828635" y="1039584"/>
            <a:ext cx="254677" cy="254677"/>
          </a:xfrm>
          <a:prstGeom prst="rect">
            <a:avLst/>
          </a:prstGeom>
        </p:spPr>
      </p:pic>
      <p:sp>
        <p:nvSpPr>
          <p:cNvPr id="5" name="TextBox 4">
            <a:hlinkClick r:id="rId94" action="ppaction://hlinksldjump"/>
            <a:extLst>
              <a:ext uri="{FF2B5EF4-FFF2-40B4-BE49-F238E27FC236}">
                <a16:creationId xmlns:a16="http://schemas.microsoft.com/office/drawing/2014/main" id="{7655BFEE-F1AB-4F5A-8CE1-7CAD2F1B9DB0}"/>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Executive summary</a:t>
            </a:r>
            <a:endParaRPr lang="en-GB" sz="2400" b="0" u="none" dirty="0">
              <a:solidFill>
                <a:schemeClr val="tx2"/>
              </a:solidFill>
              <a:latin typeface="+mj-lt"/>
              <a:cs typeface="Arial" panose="020B0604020202020204" pitchFamily="34" charset="0"/>
            </a:endParaRPr>
          </a:p>
        </p:txBody>
      </p:sp>
      <p:sp>
        <p:nvSpPr>
          <p:cNvPr id="6" name="TextBox 5">
            <a:hlinkClick r:id="rId95" action="ppaction://hlinksldjump"/>
            <a:extLst>
              <a:ext uri="{FF2B5EF4-FFF2-40B4-BE49-F238E27FC236}">
                <a16:creationId xmlns:a16="http://schemas.microsoft.com/office/drawing/2014/main" id="{B0EFCAC1-ED7C-4EC8-B878-C4F12D80566C}"/>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Business overview</a:t>
            </a:r>
            <a:endParaRPr lang="en-GB" sz="900" dirty="0">
              <a:solidFill>
                <a:schemeClr val="tx2"/>
              </a:solidFill>
              <a:latin typeface="+mn-lt"/>
              <a:cs typeface="Arial" panose="020B0604020202020204" pitchFamily="34" charset="0"/>
            </a:endParaRPr>
          </a:p>
        </p:txBody>
      </p:sp>
      <p:sp>
        <p:nvSpPr>
          <p:cNvPr id="7" name="TextBox 6">
            <a:hlinkClick r:id="rId96" action="ppaction://hlinksldjump"/>
            <a:extLst>
              <a:ext uri="{FF2B5EF4-FFF2-40B4-BE49-F238E27FC236}">
                <a16:creationId xmlns:a16="http://schemas.microsoft.com/office/drawing/2014/main" id="{4DE8173F-E0DA-4A5F-A400-64FD05AD7BDA}"/>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Key financial drivers</a:t>
            </a:r>
            <a:endParaRPr lang="en-GB" sz="900" dirty="0">
              <a:solidFill>
                <a:schemeClr val="tx2"/>
              </a:solidFill>
              <a:latin typeface="+mn-lt"/>
              <a:cs typeface="Arial" panose="020B0604020202020204" pitchFamily="34" charset="0"/>
            </a:endParaRPr>
          </a:p>
        </p:txBody>
      </p:sp>
      <p:sp>
        <p:nvSpPr>
          <p:cNvPr id="8" name="TextBox 7">
            <a:hlinkClick r:id="rId97" action="ppaction://hlinksldjump"/>
            <a:extLst>
              <a:ext uri="{FF2B5EF4-FFF2-40B4-BE49-F238E27FC236}">
                <a16:creationId xmlns:a16="http://schemas.microsoft.com/office/drawing/2014/main" id="{2C96A883-66EB-481A-9A2F-703077D75D1E}"/>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Headlines</a:t>
            </a:r>
            <a:endParaRPr lang="en-GB" sz="900" dirty="0">
              <a:solidFill>
                <a:schemeClr val="tx2"/>
              </a:solidFill>
              <a:latin typeface="+mn-lt"/>
              <a:cs typeface="Arial" panose="020B0604020202020204" pitchFamily="34" charset="0"/>
            </a:endParaRPr>
          </a:p>
        </p:txBody>
      </p:sp>
      <p:sp>
        <p:nvSpPr>
          <p:cNvPr id="9" name="TextBox 8">
            <a:hlinkClick r:id="rId98" action="ppaction://hlinksldjump"/>
            <a:extLst>
              <a:ext uri="{FF2B5EF4-FFF2-40B4-BE49-F238E27FC236}">
                <a16:creationId xmlns:a16="http://schemas.microsoft.com/office/drawing/2014/main" id="{A4DE96E4-40AA-49A2-99D1-4E7867F8F703}"/>
              </a:ext>
            </a:extLst>
          </p:cNvPr>
          <p:cNvSpPr txBox="1"/>
          <p:nvPr>
            <p:custDataLst>
              <p:tags r:id="rId6"/>
            </p:custDataLst>
          </p:nvPr>
        </p:nvSpPr>
        <p:spPr>
          <a:xfrm>
            <a:off x="1249682" y="20239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EV to equity bridge</a:t>
            </a:r>
            <a:endParaRPr lang="en-GB" sz="900" dirty="0">
              <a:solidFill>
                <a:schemeClr val="tx2"/>
              </a:solidFill>
              <a:latin typeface="+mn-lt"/>
              <a:cs typeface="Arial" panose="020B0604020202020204" pitchFamily="34" charset="0"/>
            </a:endParaRPr>
          </a:p>
        </p:txBody>
      </p:sp>
      <p:sp>
        <p:nvSpPr>
          <p:cNvPr id="10" name="TextBox 9">
            <a:hlinkClick r:id="rId99" action="ppaction://hlinksldjump"/>
            <a:extLst>
              <a:ext uri="{FF2B5EF4-FFF2-40B4-BE49-F238E27FC236}">
                <a16:creationId xmlns:a16="http://schemas.microsoft.com/office/drawing/2014/main" id="{4C21618E-033D-45E0-9F5B-BEBDBE013186}"/>
              </a:ext>
            </a:extLst>
          </p:cNvPr>
          <p:cNvSpPr txBox="1"/>
          <p:nvPr>
            <p:custDataLst>
              <p:tags r:id="rId7"/>
            </p:custDataLst>
          </p:nvPr>
        </p:nvSpPr>
        <p:spPr>
          <a:xfrm>
            <a:off x="1249682" y="21626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Key findings</a:t>
            </a:r>
            <a:endParaRPr lang="en-GB" sz="900" dirty="0">
              <a:solidFill>
                <a:schemeClr val="tx2"/>
              </a:solidFill>
              <a:latin typeface="+mn-lt"/>
              <a:cs typeface="Arial" panose="020B0604020202020204" pitchFamily="34" charset="0"/>
            </a:endParaRPr>
          </a:p>
        </p:txBody>
      </p:sp>
      <p:sp>
        <p:nvSpPr>
          <p:cNvPr id="11" name="TextBox 10">
            <a:hlinkClick r:id="rId100" action="ppaction://hlinksldjump"/>
            <a:extLst>
              <a:ext uri="{FF2B5EF4-FFF2-40B4-BE49-F238E27FC236}">
                <a16:creationId xmlns:a16="http://schemas.microsoft.com/office/drawing/2014/main" id="{B6CB3D25-3B8D-495C-BCF0-B72C0B2A7EAB}"/>
              </a:ext>
            </a:extLst>
          </p:cNvPr>
          <p:cNvSpPr txBox="1"/>
          <p:nvPr>
            <p:custDataLst>
              <p:tags r:id="rId8"/>
            </p:custDataLst>
          </p:nvPr>
        </p:nvSpPr>
        <p:spPr>
          <a:xfrm>
            <a:off x="1249682" y="23013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Key deal considerations</a:t>
            </a:r>
            <a:endParaRPr lang="en-GB" sz="900" dirty="0">
              <a:solidFill>
                <a:schemeClr val="tx2"/>
              </a:solidFill>
              <a:latin typeface="+mn-lt"/>
              <a:cs typeface="Arial" panose="020B0604020202020204" pitchFamily="34" charset="0"/>
            </a:endParaRPr>
          </a:p>
        </p:txBody>
      </p:sp>
      <p:sp>
        <p:nvSpPr>
          <p:cNvPr id="12" name="TextBox 11">
            <a:hlinkClick r:id="rId101" action="ppaction://hlinksldjump"/>
            <a:extLst>
              <a:ext uri="{FF2B5EF4-FFF2-40B4-BE49-F238E27FC236}">
                <a16:creationId xmlns:a16="http://schemas.microsoft.com/office/drawing/2014/main" id="{58ADE9D3-BE6D-4B2F-9E68-388C1689D13C}"/>
              </a:ext>
            </a:extLst>
          </p:cNvPr>
          <p:cNvSpPr txBox="1"/>
          <p:nvPr>
            <p:custDataLst>
              <p:tags r:id="rId9"/>
            </p:custDataLst>
          </p:nvPr>
        </p:nvSpPr>
        <p:spPr>
          <a:xfrm>
            <a:off x="1249682" y="2490820"/>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Historical trading</a:t>
            </a:r>
            <a:endParaRPr lang="en-GB" sz="2400" b="0" u="none" dirty="0">
              <a:solidFill>
                <a:schemeClr val="tx2"/>
              </a:solidFill>
              <a:latin typeface="+mj-lt"/>
              <a:cs typeface="Arial" panose="020B0604020202020204" pitchFamily="34" charset="0"/>
            </a:endParaRPr>
          </a:p>
        </p:txBody>
      </p:sp>
      <p:sp>
        <p:nvSpPr>
          <p:cNvPr id="13" name="TextBox 12">
            <a:hlinkClick r:id="rId102" action="ppaction://hlinksldjump"/>
            <a:extLst>
              <a:ext uri="{FF2B5EF4-FFF2-40B4-BE49-F238E27FC236}">
                <a16:creationId xmlns:a16="http://schemas.microsoft.com/office/drawing/2014/main" id="{1F23E097-8E25-4FCD-9415-52738313F3C4}"/>
              </a:ext>
            </a:extLst>
          </p:cNvPr>
          <p:cNvSpPr txBox="1"/>
          <p:nvPr>
            <p:custDataLst>
              <p:tags r:id="rId10"/>
            </p:custDataLst>
          </p:nvPr>
        </p:nvSpPr>
        <p:spPr>
          <a:xfrm>
            <a:off x="1249682" y="28692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Profit &amp; loss overview</a:t>
            </a:r>
            <a:endParaRPr lang="en-GB" sz="900" dirty="0">
              <a:solidFill>
                <a:schemeClr val="tx2"/>
              </a:solidFill>
              <a:latin typeface="+mn-lt"/>
              <a:cs typeface="Arial" panose="020B0604020202020204" pitchFamily="34" charset="0"/>
            </a:endParaRPr>
          </a:p>
        </p:txBody>
      </p:sp>
      <p:sp>
        <p:nvSpPr>
          <p:cNvPr id="14" name="TextBox 13">
            <a:hlinkClick r:id="rId103" action="ppaction://hlinksldjump"/>
            <a:extLst>
              <a:ext uri="{FF2B5EF4-FFF2-40B4-BE49-F238E27FC236}">
                <a16:creationId xmlns:a16="http://schemas.microsoft.com/office/drawing/2014/main" id="{BC60104D-42B4-49B3-8429-2905B43706AF}"/>
              </a:ext>
            </a:extLst>
          </p:cNvPr>
          <p:cNvSpPr txBox="1"/>
          <p:nvPr>
            <p:custDataLst>
              <p:tags r:id="rId11"/>
            </p:custDataLst>
          </p:nvPr>
        </p:nvSpPr>
        <p:spPr>
          <a:xfrm>
            <a:off x="1249682" y="30079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Revenue and EBITDA bridge</a:t>
            </a:r>
            <a:endParaRPr lang="en-GB" sz="900" dirty="0">
              <a:solidFill>
                <a:schemeClr val="tx2"/>
              </a:solidFill>
              <a:latin typeface="+mn-lt"/>
              <a:cs typeface="Arial" panose="020B0604020202020204" pitchFamily="34" charset="0"/>
            </a:endParaRPr>
          </a:p>
        </p:txBody>
      </p:sp>
      <p:sp>
        <p:nvSpPr>
          <p:cNvPr id="15" name="TextBox 14">
            <a:hlinkClick r:id="rId104" action="ppaction://hlinksldjump"/>
            <a:extLst>
              <a:ext uri="{FF2B5EF4-FFF2-40B4-BE49-F238E27FC236}">
                <a16:creationId xmlns:a16="http://schemas.microsoft.com/office/drawing/2014/main" id="{C9A1D1D0-7889-4D01-8388-DAAF27C9FAB3}"/>
              </a:ext>
            </a:extLst>
          </p:cNvPr>
          <p:cNvSpPr txBox="1"/>
          <p:nvPr>
            <p:custDataLst>
              <p:tags r:id="rId12"/>
            </p:custDataLst>
          </p:nvPr>
        </p:nvSpPr>
        <p:spPr>
          <a:xfrm>
            <a:off x="1249682" y="31466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Profit &amp; loss overview</a:t>
            </a:r>
            <a:endParaRPr lang="en-GB" sz="900" dirty="0">
              <a:solidFill>
                <a:schemeClr val="tx2"/>
              </a:solidFill>
              <a:latin typeface="+mn-lt"/>
              <a:cs typeface="Arial" panose="020B0604020202020204" pitchFamily="34" charset="0"/>
            </a:endParaRPr>
          </a:p>
        </p:txBody>
      </p:sp>
      <p:sp>
        <p:nvSpPr>
          <p:cNvPr id="16" name="TextBox 15">
            <a:hlinkClick r:id="rId105" action="ppaction://hlinksldjump"/>
            <a:extLst>
              <a:ext uri="{FF2B5EF4-FFF2-40B4-BE49-F238E27FC236}">
                <a16:creationId xmlns:a16="http://schemas.microsoft.com/office/drawing/2014/main" id="{CFE213EF-67A9-4A5E-A974-54EDB44F3097}"/>
              </a:ext>
            </a:extLst>
          </p:cNvPr>
          <p:cNvSpPr txBox="1"/>
          <p:nvPr>
            <p:custDataLst>
              <p:tags r:id="rId13"/>
            </p:custDataLst>
          </p:nvPr>
        </p:nvSpPr>
        <p:spPr>
          <a:xfrm>
            <a:off x="1249682" y="32853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EBIT bridge</a:t>
            </a:r>
            <a:endParaRPr lang="en-GB" sz="900" dirty="0">
              <a:solidFill>
                <a:schemeClr val="tx2"/>
              </a:solidFill>
              <a:latin typeface="+mn-lt"/>
              <a:cs typeface="Arial" panose="020B0604020202020204" pitchFamily="34" charset="0"/>
            </a:endParaRPr>
          </a:p>
        </p:txBody>
      </p:sp>
      <p:sp>
        <p:nvSpPr>
          <p:cNvPr id="17" name="TextBox 16">
            <a:hlinkClick r:id="rId106" action="ppaction://hlinksldjump"/>
            <a:extLst>
              <a:ext uri="{FF2B5EF4-FFF2-40B4-BE49-F238E27FC236}">
                <a16:creationId xmlns:a16="http://schemas.microsoft.com/office/drawing/2014/main" id="{628D5141-2117-42FD-B942-88BDC23E8C68}"/>
              </a:ext>
            </a:extLst>
          </p:cNvPr>
          <p:cNvSpPr txBox="1"/>
          <p:nvPr>
            <p:custDataLst>
              <p:tags r:id="rId14"/>
            </p:custDataLst>
          </p:nvPr>
        </p:nvSpPr>
        <p:spPr>
          <a:xfrm>
            <a:off x="1249682" y="342408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Cost breakdown</a:t>
            </a:r>
            <a:endParaRPr lang="en-GB" sz="900" dirty="0">
              <a:solidFill>
                <a:schemeClr val="tx2"/>
              </a:solidFill>
              <a:latin typeface="+mn-lt"/>
              <a:cs typeface="Arial" panose="020B0604020202020204" pitchFamily="34" charset="0"/>
            </a:endParaRPr>
          </a:p>
        </p:txBody>
      </p:sp>
      <p:sp>
        <p:nvSpPr>
          <p:cNvPr id="18" name="TextBox 17">
            <a:hlinkClick r:id="rId107" action="ppaction://hlinksldjump"/>
            <a:extLst>
              <a:ext uri="{FF2B5EF4-FFF2-40B4-BE49-F238E27FC236}">
                <a16:creationId xmlns:a16="http://schemas.microsoft.com/office/drawing/2014/main" id="{16A0C58F-5420-4ABD-AE27-379FA101D56F}"/>
              </a:ext>
            </a:extLst>
          </p:cNvPr>
          <p:cNvSpPr txBox="1"/>
          <p:nvPr>
            <p:custDataLst>
              <p:tags r:id="rId15"/>
            </p:custDataLst>
          </p:nvPr>
        </p:nvSpPr>
        <p:spPr>
          <a:xfrm>
            <a:off x="1249682" y="3613581"/>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Forecast trading</a:t>
            </a:r>
            <a:endParaRPr lang="en-GB" sz="2400" b="0" u="none" dirty="0">
              <a:solidFill>
                <a:schemeClr val="tx2"/>
              </a:solidFill>
              <a:latin typeface="+mj-lt"/>
              <a:cs typeface="Arial" panose="020B0604020202020204" pitchFamily="34" charset="0"/>
            </a:endParaRPr>
          </a:p>
        </p:txBody>
      </p:sp>
      <p:sp>
        <p:nvSpPr>
          <p:cNvPr id="19" name="TextBox 18">
            <a:hlinkClick r:id="rId108" action="ppaction://hlinksldjump"/>
            <a:extLst>
              <a:ext uri="{FF2B5EF4-FFF2-40B4-BE49-F238E27FC236}">
                <a16:creationId xmlns:a16="http://schemas.microsoft.com/office/drawing/2014/main" id="{0C5190CC-2ECC-4389-AE8C-C03B6D71E9E3}"/>
              </a:ext>
            </a:extLst>
          </p:cNvPr>
          <p:cNvSpPr txBox="1"/>
          <p:nvPr>
            <p:custDataLst>
              <p:tags r:id="rId16"/>
            </p:custDataLst>
          </p:nvPr>
        </p:nvSpPr>
        <p:spPr>
          <a:xfrm>
            <a:off x="1249682" y="39920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Forecast trading overview</a:t>
            </a:r>
            <a:endParaRPr lang="en-GB" sz="900" dirty="0">
              <a:solidFill>
                <a:schemeClr val="tx2"/>
              </a:solidFill>
              <a:latin typeface="+mn-lt"/>
              <a:cs typeface="Arial" panose="020B0604020202020204" pitchFamily="34" charset="0"/>
            </a:endParaRPr>
          </a:p>
        </p:txBody>
      </p:sp>
      <p:sp>
        <p:nvSpPr>
          <p:cNvPr id="20" name="TextBox 19">
            <a:hlinkClick r:id="rId109" action="ppaction://hlinksldjump"/>
            <a:extLst>
              <a:ext uri="{FF2B5EF4-FFF2-40B4-BE49-F238E27FC236}">
                <a16:creationId xmlns:a16="http://schemas.microsoft.com/office/drawing/2014/main" id="{9A919516-6FA1-4787-AA1E-4407C45F6A4B}"/>
              </a:ext>
            </a:extLst>
          </p:cNvPr>
          <p:cNvSpPr txBox="1"/>
          <p:nvPr>
            <p:custDataLst>
              <p:tags r:id="rId17"/>
            </p:custDataLst>
          </p:nvPr>
        </p:nvSpPr>
        <p:spPr>
          <a:xfrm>
            <a:off x="1249682" y="41307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Forecast Revenue and EBIT bridge</a:t>
            </a:r>
            <a:endParaRPr lang="en-GB" sz="900" dirty="0">
              <a:solidFill>
                <a:schemeClr val="tx2"/>
              </a:solidFill>
              <a:latin typeface="+mn-lt"/>
              <a:cs typeface="Arial" panose="020B0604020202020204" pitchFamily="34" charset="0"/>
            </a:endParaRPr>
          </a:p>
        </p:txBody>
      </p:sp>
      <p:sp>
        <p:nvSpPr>
          <p:cNvPr id="21" name="TextBox 20">
            <a:hlinkClick r:id="rId110" action="ppaction://hlinksldjump"/>
            <a:extLst>
              <a:ext uri="{FF2B5EF4-FFF2-40B4-BE49-F238E27FC236}">
                <a16:creationId xmlns:a16="http://schemas.microsoft.com/office/drawing/2014/main" id="{AAA54D52-0990-45EE-A165-1CA53620DD28}"/>
              </a:ext>
            </a:extLst>
          </p:cNvPr>
          <p:cNvSpPr txBox="1"/>
          <p:nvPr>
            <p:custDataLst>
              <p:tags r:id="rId18"/>
            </p:custDataLst>
          </p:nvPr>
        </p:nvSpPr>
        <p:spPr>
          <a:xfrm>
            <a:off x="1249682" y="4320241"/>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Balance sheet</a:t>
            </a:r>
            <a:endParaRPr lang="en-GB" sz="2400" b="0" u="none" dirty="0">
              <a:solidFill>
                <a:schemeClr val="tx2"/>
              </a:solidFill>
              <a:latin typeface="+mj-lt"/>
              <a:cs typeface="Arial" panose="020B0604020202020204" pitchFamily="34" charset="0"/>
            </a:endParaRPr>
          </a:p>
        </p:txBody>
      </p:sp>
      <p:sp>
        <p:nvSpPr>
          <p:cNvPr id="22" name="TextBox 21">
            <a:hlinkClick r:id="rId111" action="ppaction://hlinksldjump"/>
            <a:extLst>
              <a:ext uri="{FF2B5EF4-FFF2-40B4-BE49-F238E27FC236}">
                <a16:creationId xmlns:a16="http://schemas.microsoft.com/office/drawing/2014/main" id="{7E38FEB4-56D3-4226-A4C7-78DF3CD5DE27}"/>
              </a:ext>
            </a:extLst>
          </p:cNvPr>
          <p:cNvSpPr txBox="1"/>
          <p:nvPr>
            <p:custDataLst>
              <p:tags r:id="rId19"/>
            </p:custDataLst>
          </p:nvPr>
        </p:nvSpPr>
        <p:spPr>
          <a:xfrm>
            <a:off x="1249682" y="46987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Balance sheet overview</a:t>
            </a:r>
            <a:endParaRPr lang="en-GB" sz="900" dirty="0">
              <a:solidFill>
                <a:schemeClr val="tx2"/>
              </a:solidFill>
              <a:latin typeface="+mn-lt"/>
              <a:cs typeface="Arial" panose="020B0604020202020204" pitchFamily="34" charset="0"/>
            </a:endParaRPr>
          </a:p>
        </p:txBody>
      </p:sp>
      <p:sp>
        <p:nvSpPr>
          <p:cNvPr id="23" name="TextBox 22">
            <a:hlinkClick r:id="rId112" action="ppaction://hlinksldjump"/>
            <a:extLst>
              <a:ext uri="{FF2B5EF4-FFF2-40B4-BE49-F238E27FC236}">
                <a16:creationId xmlns:a16="http://schemas.microsoft.com/office/drawing/2014/main" id="{DA1AACC1-2594-4086-916E-32117F4F6A21}"/>
              </a:ext>
            </a:extLst>
          </p:cNvPr>
          <p:cNvSpPr txBox="1"/>
          <p:nvPr>
            <p:custDataLst>
              <p:tags r:id="rId20"/>
            </p:custDataLst>
          </p:nvPr>
        </p:nvSpPr>
        <p:spPr>
          <a:xfrm>
            <a:off x="1249682" y="48374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Net working capital</a:t>
            </a:r>
            <a:endParaRPr lang="en-GB" sz="900" dirty="0">
              <a:solidFill>
                <a:schemeClr val="tx2"/>
              </a:solidFill>
              <a:latin typeface="+mn-lt"/>
              <a:cs typeface="Arial" panose="020B0604020202020204" pitchFamily="34" charset="0"/>
            </a:endParaRPr>
          </a:p>
        </p:txBody>
      </p:sp>
      <p:sp>
        <p:nvSpPr>
          <p:cNvPr id="24" name="TextBox 23">
            <a:hlinkClick r:id="rId113" action="ppaction://hlinksldjump"/>
            <a:extLst>
              <a:ext uri="{FF2B5EF4-FFF2-40B4-BE49-F238E27FC236}">
                <a16:creationId xmlns:a16="http://schemas.microsoft.com/office/drawing/2014/main" id="{3F23AB87-560F-4140-8575-59DB6D6757A3}"/>
              </a:ext>
            </a:extLst>
          </p:cNvPr>
          <p:cNvSpPr txBox="1"/>
          <p:nvPr>
            <p:custDataLst>
              <p:tags r:id="rId21"/>
            </p:custDataLst>
          </p:nvPr>
        </p:nvSpPr>
        <p:spPr>
          <a:xfrm>
            <a:off x="1249682" y="497610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Net debt</a:t>
            </a:r>
            <a:endParaRPr lang="en-GB" sz="900" dirty="0">
              <a:solidFill>
                <a:schemeClr val="tx2"/>
              </a:solidFill>
              <a:latin typeface="+mn-lt"/>
              <a:cs typeface="Arial" panose="020B0604020202020204" pitchFamily="34" charset="0"/>
            </a:endParaRPr>
          </a:p>
        </p:txBody>
      </p:sp>
      <p:sp>
        <p:nvSpPr>
          <p:cNvPr id="25" name="TextBox 24">
            <a:hlinkClick r:id="rId114" action="ppaction://hlinksldjump"/>
            <a:extLst>
              <a:ext uri="{FF2B5EF4-FFF2-40B4-BE49-F238E27FC236}">
                <a16:creationId xmlns:a16="http://schemas.microsoft.com/office/drawing/2014/main" id="{6C527AFD-AB65-453D-901E-B27D30059E41}"/>
              </a:ext>
            </a:extLst>
          </p:cNvPr>
          <p:cNvSpPr txBox="1"/>
          <p:nvPr>
            <p:custDataLst>
              <p:tags r:id="rId22"/>
            </p:custDataLst>
          </p:nvPr>
        </p:nvSpPr>
        <p:spPr>
          <a:xfrm>
            <a:off x="1249682" y="5165601"/>
            <a:ext cx="394207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Cash flows</a:t>
            </a:r>
            <a:endParaRPr lang="en-GB" sz="2400" b="0" u="none" dirty="0">
              <a:solidFill>
                <a:schemeClr val="tx2"/>
              </a:solidFill>
              <a:latin typeface="+mj-lt"/>
              <a:cs typeface="Arial" panose="020B0604020202020204" pitchFamily="34" charset="0"/>
            </a:endParaRPr>
          </a:p>
        </p:txBody>
      </p:sp>
      <p:sp>
        <p:nvSpPr>
          <p:cNvPr id="26" name="TextBox 25">
            <a:hlinkClick r:id="rId115" action="ppaction://hlinksldjump"/>
            <a:extLst>
              <a:ext uri="{FF2B5EF4-FFF2-40B4-BE49-F238E27FC236}">
                <a16:creationId xmlns:a16="http://schemas.microsoft.com/office/drawing/2014/main" id="{9F349F7F-16D3-40DD-85C1-985BB62B9DD5}"/>
              </a:ext>
            </a:extLst>
          </p:cNvPr>
          <p:cNvSpPr txBox="1"/>
          <p:nvPr>
            <p:custDataLst>
              <p:tags r:id="rId23"/>
            </p:custDataLst>
          </p:nvPr>
        </p:nvSpPr>
        <p:spPr>
          <a:xfrm>
            <a:off x="1249682" y="55440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Summary cash flow</a:t>
            </a:r>
            <a:endParaRPr lang="en-GB" sz="900" dirty="0">
              <a:solidFill>
                <a:schemeClr val="tx2"/>
              </a:solidFill>
              <a:latin typeface="+mn-lt"/>
              <a:cs typeface="Arial" panose="020B0604020202020204" pitchFamily="34" charset="0"/>
            </a:endParaRPr>
          </a:p>
        </p:txBody>
      </p:sp>
      <p:sp>
        <p:nvSpPr>
          <p:cNvPr id="27" name="TextBox 26">
            <a:hlinkClick r:id="rId116" action="ppaction://hlinksldjump"/>
            <a:extLst>
              <a:ext uri="{FF2B5EF4-FFF2-40B4-BE49-F238E27FC236}">
                <a16:creationId xmlns:a16="http://schemas.microsoft.com/office/drawing/2014/main" id="{85E0FBD3-2252-4144-A15D-10B2E1463B91}"/>
              </a:ext>
            </a:extLst>
          </p:cNvPr>
          <p:cNvSpPr txBox="1"/>
          <p:nvPr>
            <p:custDataLst>
              <p:tags r:id="rId24"/>
            </p:custDataLst>
          </p:nvPr>
        </p:nvSpPr>
        <p:spPr>
          <a:xfrm>
            <a:off x="5904464" y="1229360"/>
            <a:ext cx="4452737"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Reporting environment</a:t>
            </a:r>
            <a:endParaRPr lang="en-GB" sz="2400" b="0" u="none" dirty="0">
              <a:solidFill>
                <a:schemeClr val="tx2"/>
              </a:solidFill>
              <a:latin typeface="+mj-lt"/>
              <a:cs typeface="Arial" panose="020B0604020202020204" pitchFamily="34" charset="0"/>
            </a:endParaRPr>
          </a:p>
        </p:txBody>
      </p:sp>
      <p:sp>
        <p:nvSpPr>
          <p:cNvPr id="28" name="TextBox 27">
            <a:hlinkClick r:id="rId117" action="ppaction://hlinksldjump"/>
            <a:extLst>
              <a:ext uri="{FF2B5EF4-FFF2-40B4-BE49-F238E27FC236}">
                <a16:creationId xmlns:a16="http://schemas.microsoft.com/office/drawing/2014/main" id="{D5B7519D-412C-4A48-9A93-6DE17542C087}"/>
              </a:ext>
            </a:extLst>
          </p:cNvPr>
          <p:cNvSpPr txBox="1"/>
          <p:nvPr>
            <p:custDataLst>
              <p:tags r:id="rId25"/>
            </p:custDataLst>
          </p:nvPr>
        </p:nvSpPr>
        <p:spPr>
          <a:xfrm>
            <a:off x="5904463" y="16078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Financial reporting environment</a:t>
            </a:r>
            <a:endParaRPr lang="en-GB" sz="900" dirty="0">
              <a:solidFill>
                <a:schemeClr val="tx2"/>
              </a:solidFill>
              <a:latin typeface="+mn-lt"/>
              <a:cs typeface="Arial" panose="020B0604020202020204" pitchFamily="34" charset="0"/>
            </a:endParaRPr>
          </a:p>
        </p:txBody>
      </p:sp>
      <p:sp>
        <p:nvSpPr>
          <p:cNvPr id="29" name="TextBox 28">
            <a:hlinkClick r:id="rId118" action="ppaction://hlinksldjump"/>
            <a:extLst>
              <a:ext uri="{FF2B5EF4-FFF2-40B4-BE49-F238E27FC236}">
                <a16:creationId xmlns:a16="http://schemas.microsoft.com/office/drawing/2014/main" id="{44DB82F5-89DD-4103-81F4-D0575FF9475E}"/>
              </a:ext>
            </a:extLst>
          </p:cNvPr>
          <p:cNvSpPr txBox="1"/>
          <p:nvPr>
            <p:custDataLst>
              <p:tags r:id="rId26"/>
            </p:custDataLst>
          </p:nvPr>
        </p:nvSpPr>
        <p:spPr>
          <a:xfrm>
            <a:off x="5904463" y="1797320"/>
            <a:ext cx="4452739" cy="347289"/>
          </a:xfrm>
          <a:prstGeom prst="rect">
            <a:avLst/>
          </a:prstGeom>
          <a:noFill/>
        </p:spPr>
        <p:txBody>
          <a:bodyPr vert="horz" wrap="square" lIns="0" tIns="0" rIns="0" bIns="0" rtlCol="0" anchor="t">
            <a:noAutofit/>
          </a:bodyPr>
          <a:lstStyle/>
          <a:p>
            <a:pPr algn="l"/>
            <a:r>
              <a:rPr lang="en-GB" sz="2400" b="0" u="none">
                <a:solidFill>
                  <a:schemeClr val="tx2"/>
                </a:solidFill>
                <a:latin typeface="+mj-lt"/>
                <a:cs typeface="Arial" panose="020B0604020202020204" pitchFamily="34" charset="0"/>
              </a:rPr>
              <a:t>Appendices</a:t>
            </a:r>
            <a:endParaRPr lang="en-GB" sz="2400" b="0" u="none" dirty="0">
              <a:solidFill>
                <a:schemeClr val="tx2"/>
              </a:solidFill>
              <a:latin typeface="+mj-lt"/>
              <a:cs typeface="Arial" panose="020B0604020202020204" pitchFamily="34" charset="0"/>
            </a:endParaRPr>
          </a:p>
        </p:txBody>
      </p:sp>
      <p:sp>
        <p:nvSpPr>
          <p:cNvPr id="30" name="TextBox 29">
            <a:hlinkClick r:id="rId119" action="ppaction://hlinksldjump"/>
            <a:extLst>
              <a:ext uri="{FF2B5EF4-FFF2-40B4-BE49-F238E27FC236}">
                <a16:creationId xmlns:a16="http://schemas.microsoft.com/office/drawing/2014/main" id="{8644DB5B-1530-44C5-8762-D865756F3740}"/>
              </a:ext>
            </a:extLst>
          </p:cNvPr>
          <p:cNvSpPr txBox="1"/>
          <p:nvPr>
            <p:custDataLst>
              <p:tags r:id="rId27"/>
            </p:custDataLst>
          </p:nvPr>
        </p:nvSpPr>
        <p:spPr>
          <a:xfrm>
            <a:off x="5904463" y="21757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Engagement</a:t>
            </a:r>
            <a:endParaRPr lang="en-GB" sz="900" dirty="0">
              <a:solidFill>
                <a:schemeClr val="tx2"/>
              </a:solidFill>
              <a:latin typeface="+mn-lt"/>
              <a:cs typeface="Arial" panose="020B0604020202020204" pitchFamily="34" charset="0"/>
            </a:endParaRPr>
          </a:p>
        </p:txBody>
      </p:sp>
      <p:sp>
        <p:nvSpPr>
          <p:cNvPr id="31" name="TextBox 30">
            <a:hlinkClick r:id="rId120" action="ppaction://hlinksldjump"/>
            <a:extLst>
              <a:ext uri="{FF2B5EF4-FFF2-40B4-BE49-F238E27FC236}">
                <a16:creationId xmlns:a16="http://schemas.microsoft.com/office/drawing/2014/main" id="{148E73A8-09BE-47F2-B80C-4444AD657487}"/>
              </a:ext>
            </a:extLst>
          </p:cNvPr>
          <p:cNvSpPr txBox="1"/>
          <p:nvPr>
            <p:custDataLst>
              <p:tags r:id="rId28"/>
            </p:custDataLst>
          </p:nvPr>
        </p:nvSpPr>
        <p:spPr>
          <a:xfrm>
            <a:off x="5904463" y="23144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Data Integrity</a:t>
            </a:r>
            <a:endParaRPr lang="en-GB" sz="900" dirty="0">
              <a:solidFill>
                <a:schemeClr val="tx2"/>
              </a:solidFill>
              <a:latin typeface="+mn-lt"/>
              <a:cs typeface="Arial" panose="020B0604020202020204" pitchFamily="34" charset="0"/>
            </a:endParaRPr>
          </a:p>
        </p:txBody>
      </p:sp>
      <p:sp>
        <p:nvSpPr>
          <p:cNvPr id="32" name="TextBox 31">
            <a:hlinkClick r:id="rId121" action="ppaction://hlinksldjump"/>
            <a:extLst>
              <a:ext uri="{FF2B5EF4-FFF2-40B4-BE49-F238E27FC236}">
                <a16:creationId xmlns:a16="http://schemas.microsoft.com/office/drawing/2014/main" id="{A0D55D28-EFE0-4ACC-BA59-D4755585FD20}"/>
              </a:ext>
            </a:extLst>
          </p:cNvPr>
          <p:cNvSpPr txBox="1"/>
          <p:nvPr>
            <p:custDataLst>
              <p:tags r:id="rId29"/>
            </p:custDataLst>
          </p:nvPr>
        </p:nvSpPr>
        <p:spPr>
          <a:xfrm>
            <a:off x="5904463" y="24531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Balance sheet breakdowns</a:t>
            </a:r>
            <a:endParaRPr lang="en-GB" sz="900" dirty="0">
              <a:solidFill>
                <a:schemeClr val="tx2"/>
              </a:solidFill>
              <a:latin typeface="+mn-lt"/>
              <a:cs typeface="Arial" panose="020B0604020202020204" pitchFamily="34" charset="0"/>
            </a:endParaRPr>
          </a:p>
        </p:txBody>
      </p:sp>
      <p:sp>
        <p:nvSpPr>
          <p:cNvPr id="33" name="TextBox 32">
            <a:hlinkClick r:id="rId90" action="ppaction://hlinksldjump"/>
            <a:extLst>
              <a:ext uri="{FF2B5EF4-FFF2-40B4-BE49-F238E27FC236}">
                <a16:creationId xmlns:a16="http://schemas.microsoft.com/office/drawing/2014/main" id="{F4679F7A-1767-4E06-8F4F-F168E5644641}"/>
              </a:ext>
            </a:extLst>
          </p:cNvPr>
          <p:cNvSpPr txBox="1"/>
          <p:nvPr>
            <p:custDataLst>
              <p:tags r:id="rId30"/>
            </p:custDataLst>
          </p:nvPr>
        </p:nvSpPr>
        <p:spPr>
          <a:xfrm>
            <a:off x="5904463" y="259188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GB" sz="900">
                <a:solidFill>
                  <a:schemeClr val="tx2"/>
                </a:solidFill>
                <a:latin typeface="+mn-lt"/>
                <a:cs typeface="Arial" panose="020B0604020202020204" pitchFamily="34" charset="0"/>
              </a:rPr>
              <a:t>Glossary</a:t>
            </a:r>
            <a:endParaRPr lang="en-GB" sz="900" dirty="0">
              <a:solidFill>
                <a:schemeClr val="tx2"/>
              </a:solidFill>
              <a:latin typeface="+mn-lt"/>
              <a:cs typeface="Arial" panose="020B0604020202020204" pitchFamily="34" charset="0"/>
            </a:endParaRPr>
          </a:p>
        </p:txBody>
      </p:sp>
      <p:sp>
        <p:nvSpPr>
          <p:cNvPr id="34" name="TextBox 33">
            <a:hlinkClick r:id="rId94" action="ppaction://hlinksldjump"/>
            <a:extLst>
              <a:ext uri="{FF2B5EF4-FFF2-40B4-BE49-F238E27FC236}">
                <a16:creationId xmlns:a16="http://schemas.microsoft.com/office/drawing/2014/main" id="{82C5FFAB-7D94-4C1C-82E7-910D2E62E870}"/>
              </a:ext>
            </a:extLst>
          </p:cNvPr>
          <p:cNvSpPr txBox="1"/>
          <p:nvPr>
            <p:custDataLst>
              <p:tags r:id="rId31"/>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1.</a:t>
            </a:r>
            <a:endParaRPr lang="en-GB" sz="2400" b="0" dirty="0">
              <a:ln>
                <a:noFill/>
              </a:ln>
              <a:solidFill>
                <a:schemeClr val="tx2"/>
              </a:solidFill>
              <a:latin typeface="+mj-lt"/>
              <a:cs typeface="Arial" panose="020B0604020202020204" pitchFamily="34" charset="0"/>
            </a:endParaRPr>
          </a:p>
        </p:txBody>
      </p:sp>
      <p:sp>
        <p:nvSpPr>
          <p:cNvPr id="35" name="TextBox 34">
            <a:hlinkClick r:id="rId101" action="ppaction://hlinksldjump"/>
            <a:extLst>
              <a:ext uri="{FF2B5EF4-FFF2-40B4-BE49-F238E27FC236}">
                <a16:creationId xmlns:a16="http://schemas.microsoft.com/office/drawing/2014/main" id="{D36451B0-C19E-4305-BFE9-5D24030BA0FC}"/>
              </a:ext>
            </a:extLst>
          </p:cNvPr>
          <p:cNvSpPr txBox="1"/>
          <p:nvPr>
            <p:custDataLst>
              <p:tags r:id="rId32"/>
            </p:custDataLst>
          </p:nvPr>
        </p:nvSpPr>
        <p:spPr>
          <a:xfrm>
            <a:off x="798977" y="249082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2.</a:t>
            </a:r>
            <a:endParaRPr lang="en-GB" sz="2400" b="0" dirty="0">
              <a:ln>
                <a:noFill/>
              </a:ln>
              <a:solidFill>
                <a:schemeClr val="tx2"/>
              </a:solidFill>
              <a:latin typeface="+mj-lt"/>
              <a:cs typeface="Arial" panose="020B0604020202020204" pitchFamily="34" charset="0"/>
            </a:endParaRPr>
          </a:p>
        </p:txBody>
      </p:sp>
      <p:sp>
        <p:nvSpPr>
          <p:cNvPr id="36" name="TextBox 35">
            <a:hlinkClick r:id="rId107" action="ppaction://hlinksldjump"/>
            <a:extLst>
              <a:ext uri="{FF2B5EF4-FFF2-40B4-BE49-F238E27FC236}">
                <a16:creationId xmlns:a16="http://schemas.microsoft.com/office/drawing/2014/main" id="{BB5708DB-2BED-4A00-9D12-F6D06A0A68D6}"/>
              </a:ext>
            </a:extLst>
          </p:cNvPr>
          <p:cNvSpPr txBox="1"/>
          <p:nvPr>
            <p:custDataLst>
              <p:tags r:id="rId33"/>
            </p:custDataLst>
          </p:nvPr>
        </p:nvSpPr>
        <p:spPr>
          <a:xfrm>
            <a:off x="798977" y="3613581"/>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3.</a:t>
            </a:r>
            <a:endParaRPr lang="en-GB" sz="2400" b="0" dirty="0">
              <a:ln>
                <a:noFill/>
              </a:ln>
              <a:solidFill>
                <a:schemeClr val="tx2"/>
              </a:solidFill>
              <a:latin typeface="+mj-lt"/>
              <a:cs typeface="Arial" panose="020B0604020202020204" pitchFamily="34" charset="0"/>
            </a:endParaRPr>
          </a:p>
        </p:txBody>
      </p:sp>
      <p:sp>
        <p:nvSpPr>
          <p:cNvPr id="37" name="TextBox 36">
            <a:hlinkClick r:id="rId110" action="ppaction://hlinksldjump"/>
            <a:extLst>
              <a:ext uri="{FF2B5EF4-FFF2-40B4-BE49-F238E27FC236}">
                <a16:creationId xmlns:a16="http://schemas.microsoft.com/office/drawing/2014/main" id="{06F6B77E-6936-4B5A-BF7C-F08E5F879B39}"/>
              </a:ext>
            </a:extLst>
          </p:cNvPr>
          <p:cNvSpPr txBox="1"/>
          <p:nvPr>
            <p:custDataLst>
              <p:tags r:id="rId34"/>
            </p:custDataLst>
          </p:nvPr>
        </p:nvSpPr>
        <p:spPr>
          <a:xfrm>
            <a:off x="798977" y="4320241"/>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4.</a:t>
            </a:r>
            <a:endParaRPr lang="en-GB" sz="2400" b="0" dirty="0">
              <a:ln>
                <a:noFill/>
              </a:ln>
              <a:solidFill>
                <a:schemeClr val="tx2"/>
              </a:solidFill>
              <a:latin typeface="+mj-lt"/>
              <a:cs typeface="Arial" panose="020B0604020202020204" pitchFamily="34" charset="0"/>
            </a:endParaRPr>
          </a:p>
        </p:txBody>
      </p:sp>
      <p:sp>
        <p:nvSpPr>
          <p:cNvPr id="38" name="TextBox 37">
            <a:hlinkClick r:id="rId114" action="ppaction://hlinksldjump"/>
            <a:extLst>
              <a:ext uri="{FF2B5EF4-FFF2-40B4-BE49-F238E27FC236}">
                <a16:creationId xmlns:a16="http://schemas.microsoft.com/office/drawing/2014/main" id="{59789F26-EE95-42DA-AC29-400284CB220B}"/>
              </a:ext>
            </a:extLst>
          </p:cNvPr>
          <p:cNvSpPr txBox="1"/>
          <p:nvPr>
            <p:custDataLst>
              <p:tags r:id="rId35"/>
            </p:custDataLst>
          </p:nvPr>
        </p:nvSpPr>
        <p:spPr>
          <a:xfrm>
            <a:off x="798977" y="5165601"/>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5.</a:t>
            </a:r>
            <a:endParaRPr lang="en-GB" sz="2400" b="0" dirty="0">
              <a:ln>
                <a:noFill/>
              </a:ln>
              <a:solidFill>
                <a:schemeClr val="tx2"/>
              </a:solidFill>
              <a:latin typeface="+mj-lt"/>
              <a:cs typeface="Arial" panose="020B0604020202020204" pitchFamily="34" charset="0"/>
            </a:endParaRPr>
          </a:p>
        </p:txBody>
      </p:sp>
      <p:sp>
        <p:nvSpPr>
          <p:cNvPr id="39" name="TextBox 38">
            <a:hlinkClick r:id="rId116" action="ppaction://hlinksldjump"/>
            <a:extLst>
              <a:ext uri="{FF2B5EF4-FFF2-40B4-BE49-F238E27FC236}">
                <a16:creationId xmlns:a16="http://schemas.microsoft.com/office/drawing/2014/main" id="{82E8F9C6-D33D-4B4A-AEC8-042F1FD00C4B}"/>
              </a:ext>
            </a:extLst>
          </p:cNvPr>
          <p:cNvSpPr txBox="1"/>
          <p:nvPr>
            <p:custDataLst>
              <p:tags r:id="rId36"/>
            </p:custDataLst>
          </p:nvPr>
        </p:nvSpPr>
        <p:spPr>
          <a:xfrm>
            <a:off x="5453759" y="122936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6.</a:t>
            </a:r>
            <a:endParaRPr lang="en-GB" sz="2400" b="0" dirty="0">
              <a:ln>
                <a:noFill/>
              </a:ln>
              <a:solidFill>
                <a:schemeClr val="tx2"/>
              </a:solidFill>
              <a:latin typeface="+mj-lt"/>
              <a:cs typeface="Arial" panose="020B0604020202020204" pitchFamily="34" charset="0"/>
            </a:endParaRPr>
          </a:p>
        </p:txBody>
      </p:sp>
      <p:sp>
        <p:nvSpPr>
          <p:cNvPr id="40" name="TextBox 39">
            <a:hlinkClick r:id="rId118" action="ppaction://hlinksldjump"/>
            <a:extLst>
              <a:ext uri="{FF2B5EF4-FFF2-40B4-BE49-F238E27FC236}">
                <a16:creationId xmlns:a16="http://schemas.microsoft.com/office/drawing/2014/main" id="{0C0F3EB9-4983-4D9E-927D-DFCF88F562D3}"/>
              </a:ext>
            </a:extLst>
          </p:cNvPr>
          <p:cNvSpPr txBox="1"/>
          <p:nvPr>
            <p:custDataLst>
              <p:tags r:id="rId37"/>
            </p:custDataLst>
          </p:nvPr>
        </p:nvSpPr>
        <p:spPr>
          <a:xfrm>
            <a:off x="5453759" y="1797320"/>
            <a:ext cx="338308" cy="347289"/>
          </a:xfrm>
          <a:prstGeom prst="rect">
            <a:avLst/>
          </a:prstGeom>
          <a:noFill/>
          <a:ln>
            <a:noFill/>
          </a:ln>
        </p:spPr>
        <p:txBody>
          <a:bodyPr vert="horz" wrap="none" lIns="0" tIns="0" rIns="0" bIns="0" rtlCol="0" anchor="t" anchorCtr="0">
            <a:noAutofit/>
          </a:bodyPr>
          <a:lstStyle/>
          <a:p>
            <a:pPr algn="r"/>
            <a:r>
              <a:rPr lang="en-GB" sz="2400" b="0">
                <a:ln>
                  <a:noFill/>
                </a:ln>
                <a:solidFill>
                  <a:schemeClr val="tx2"/>
                </a:solidFill>
                <a:latin typeface="+mj-lt"/>
                <a:cs typeface="Arial" panose="020B0604020202020204" pitchFamily="34" charset="0"/>
              </a:rPr>
              <a:t>7.</a:t>
            </a:r>
            <a:endParaRPr lang="en-GB" sz="2400" b="0" dirty="0">
              <a:ln>
                <a:noFill/>
              </a:ln>
              <a:solidFill>
                <a:schemeClr val="tx2"/>
              </a:solidFill>
              <a:latin typeface="+mj-lt"/>
              <a:cs typeface="Arial" panose="020B0604020202020204" pitchFamily="34" charset="0"/>
            </a:endParaRPr>
          </a:p>
        </p:txBody>
      </p:sp>
      <p:sp>
        <p:nvSpPr>
          <p:cNvPr id="41" name="TextBox 40">
            <a:hlinkClick r:id="rId94" action="ppaction://hlinksldjump"/>
            <a:extLst>
              <a:ext uri="{FF2B5EF4-FFF2-40B4-BE49-F238E27FC236}">
                <a16:creationId xmlns:a16="http://schemas.microsoft.com/office/drawing/2014/main" id="{93470424-6B34-47AA-8A05-08049176C501}"/>
              </a:ext>
            </a:extLst>
          </p:cNvPr>
          <p:cNvSpPr txBox="1"/>
          <p:nvPr>
            <p:custDataLst>
              <p:tags r:id="rId38"/>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4</a:t>
            </a:r>
            <a:endParaRPr lang="en-GB" sz="2000" b="0" dirty="0">
              <a:solidFill>
                <a:schemeClr val="tx2"/>
              </a:solidFill>
              <a:latin typeface="+mj-lt"/>
              <a:cs typeface="Arial" panose="020B0604020202020204" pitchFamily="34" charset="0"/>
            </a:endParaRPr>
          </a:p>
        </p:txBody>
      </p:sp>
      <p:sp>
        <p:nvSpPr>
          <p:cNvPr id="42" name="TextBox 41">
            <a:hlinkClick r:id="rId101" action="ppaction://hlinksldjump"/>
            <a:extLst>
              <a:ext uri="{FF2B5EF4-FFF2-40B4-BE49-F238E27FC236}">
                <a16:creationId xmlns:a16="http://schemas.microsoft.com/office/drawing/2014/main" id="{2D1C4F26-AAAE-4A05-A9FE-6F7189D27555}"/>
              </a:ext>
            </a:extLst>
          </p:cNvPr>
          <p:cNvSpPr txBox="1"/>
          <p:nvPr>
            <p:custDataLst>
              <p:tags r:id="rId39"/>
            </p:custDataLst>
          </p:nvPr>
        </p:nvSpPr>
        <p:spPr>
          <a:xfrm>
            <a:off x="5245758" y="248890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17</a:t>
            </a:r>
            <a:endParaRPr lang="en-GB" sz="2000" b="0" dirty="0">
              <a:solidFill>
                <a:schemeClr val="tx2"/>
              </a:solidFill>
              <a:latin typeface="+mj-lt"/>
              <a:cs typeface="Arial" panose="020B0604020202020204" pitchFamily="34" charset="0"/>
            </a:endParaRPr>
          </a:p>
        </p:txBody>
      </p:sp>
      <p:sp>
        <p:nvSpPr>
          <p:cNvPr id="43" name="TextBox 42">
            <a:hlinkClick r:id="rId107" action="ppaction://hlinksldjump"/>
            <a:extLst>
              <a:ext uri="{FF2B5EF4-FFF2-40B4-BE49-F238E27FC236}">
                <a16:creationId xmlns:a16="http://schemas.microsoft.com/office/drawing/2014/main" id="{BD90A9CB-C483-421B-9291-5FA13876DA69}"/>
              </a:ext>
            </a:extLst>
          </p:cNvPr>
          <p:cNvSpPr txBox="1"/>
          <p:nvPr>
            <p:custDataLst>
              <p:tags r:id="rId40"/>
            </p:custDataLst>
          </p:nvPr>
        </p:nvSpPr>
        <p:spPr>
          <a:xfrm>
            <a:off x="5245758" y="3611670"/>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36</a:t>
            </a:r>
            <a:endParaRPr lang="en-GB" sz="2000" b="0" dirty="0">
              <a:solidFill>
                <a:schemeClr val="tx2"/>
              </a:solidFill>
              <a:latin typeface="+mj-lt"/>
              <a:cs typeface="Arial" panose="020B0604020202020204" pitchFamily="34" charset="0"/>
            </a:endParaRPr>
          </a:p>
        </p:txBody>
      </p:sp>
      <p:sp>
        <p:nvSpPr>
          <p:cNvPr id="44" name="TextBox 43">
            <a:hlinkClick r:id="rId110" action="ppaction://hlinksldjump"/>
            <a:extLst>
              <a:ext uri="{FF2B5EF4-FFF2-40B4-BE49-F238E27FC236}">
                <a16:creationId xmlns:a16="http://schemas.microsoft.com/office/drawing/2014/main" id="{33E834AB-1EDA-4C52-96DB-8CFA11E0F8BE}"/>
              </a:ext>
            </a:extLst>
          </p:cNvPr>
          <p:cNvSpPr txBox="1"/>
          <p:nvPr>
            <p:custDataLst>
              <p:tags r:id="rId41"/>
            </p:custDataLst>
          </p:nvPr>
        </p:nvSpPr>
        <p:spPr>
          <a:xfrm>
            <a:off x="5245758" y="4318330"/>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42</a:t>
            </a:r>
            <a:endParaRPr lang="en-GB" sz="2000" b="0" dirty="0">
              <a:solidFill>
                <a:schemeClr val="tx2"/>
              </a:solidFill>
              <a:latin typeface="+mj-lt"/>
              <a:cs typeface="Arial" panose="020B0604020202020204" pitchFamily="34" charset="0"/>
            </a:endParaRPr>
          </a:p>
        </p:txBody>
      </p:sp>
      <p:sp>
        <p:nvSpPr>
          <p:cNvPr id="45" name="TextBox 44">
            <a:hlinkClick r:id="rId114" action="ppaction://hlinksldjump"/>
            <a:extLst>
              <a:ext uri="{FF2B5EF4-FFF2-40B4-BE49-F238E27FC236}">
                <a16:creationId xmlns:a16="http://schemas.microsoft.com/office/drawing/2014/main" id="{94FD197C-33CA-447E-AFFB-7D3544E66F22}"/>
              </a:ext>
            </a:extLst>
          </p:cNvPr>
          <p:cNvSpPr txBox="1"/>
          <p:nvPr>
            <p:custDataLst>
              <p:tags r:id="rId42"/>
            </p:custDataLst>
          </p:nvPr>
        </p:nvSpPr>
        <p:spPr>
          <a:xfrm>
            <a:off x="5245758" y="5163690"/>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53</a:t>
            </a:r>
            <a:endParaRPr lang="en-GB" sz="2000" b="0" dirty="0">
              <a:solidFill>
                <a:schemeClr val="tx2"/>
              </a:solidFill>
              <a:latin typeface="+mj-lt"/>
              <a:cs typeface="Arial" panose="020B0604020202020204" pitchFamily="34" charset="0"/>
            </a:endParaRPr>
          </a:p>
        </p:txBody>
      </p:sp>
      <p:sp>
        <p:nvSpPr>
          <p:cNvPr id="46" name="TextBox 45">
            <a:hlinkClick r:id="rId116" action="ppaction://hlinksldjump"/>
            <a:extLst>
              <a:ext uri="{FF2B5EF4-FFF2-40B4-BE49-F238E27FC236}">
                <a16:creationId xmlns:a16="http://schemas.microsoft.com/office/drawing/2014/main" id="{1DB22377-A303-4B77-8147-FA6F50ED25CB}"/>
              </a:ext>
            </a:extLst>
          </p:cNvPr>
          <p:cNvSpPr txBox="1"/>
          <p:nvPr>
            <p:custDataLst>
              <p:tags r:id="rId43"/>
            </p:custDataLst>
          </p:nvPr>
        </p:nvSpPr>
        <p:spPr>
          <a:xfrm>
            <a:off x="10374885" y="122744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55</a:t>
            </a:r>
            <a:endParaRPr lang="en-GB" sz="2000" b="0" dirty="0">
              <a:solidFill>
                <a:schemeClr val="tx2"/>
              </a:solidFill>
              <a:latin typeface="+mj-lt"/>
              <a:cs typeface="Arial" panose="020B0604020202020204" pitchFamily="34" charset="0"/>
            </a:endParaRPr>
          </a:p>
        </p:txBody>
      </p:sp>
      <p:sp>
        <p:nvSpPr>
          <p:cNvPr id="47" name="TextBox 46">
            <a:hlinkClick r:id="rId118" action="ppaction://hlinksldjump"/>
            <a:extLst>
              <a:ext uri="{FF2B5EF4-FFF2-40B4-BE49-F238E27FC236}">
                <a16:creationId xmlns:a16="http://schemas.microsoft.com/office/drawing/2014/main" id="{3254E100-7869-446F-9645-9A8746615E1D}"/>
              </a:ext>
            </a:extLst>
          </p:cNvPr>
          <p:cNvSpPr txBox="1"/>
          <p:nvPr>
            <p:custDataLst>
              <p:tags r:id="rId44"/>
            </p:custDataLst>
          </p:nvPr>
        </p:nvSpPr>
        <p:spPr>
          <a:xfrm>
            <a:off x="10374885" y="1795409"/>
            <a:ext cx="54000" cy="349200"/>
          </a:xfrm>
          <a:prstGeom prst="rect">
            <a:avLst/>
          </a:prstGeom>
          <a:noFill/>
        </p:spPr>
        <p:txBody>
          <a:bodyPr vert="horz" wrap="none" lIns="0" tIns="0" rIns="0" bIns="0" rtlCol="0" anchor="t" anchorCtr="0">
            <a:noAutofit/>
          </a:bodyPr>
          <a:lstStyle/>
          <a:p>
            <a:pPr algn="r"/>
            <a:r>
              <a:rPr lang="en-GB" sz="2000" b="0">
                <a:solidFill>
                  <a:schemeClr val="tx2"/>
                </a:solidFill>
                <a:latin typeface="+mj-lt"/>
                <a:cs typeface="Arial" panose="020B0604020202020204" pitchFamily="34" charset="0"/>
              </a:rPr>
              <a:t>59</a:t>
            </a:r>
            <a:endParaRPr lang="en-GB" sz="2000" b="0" dirty="0">
              <a:solidFill>
                <a:schemeClr val="tx2"/>
              </a:solidFill>
              <a:latin typeface="+mj-lt"/>
              <a:cs typeface="Arial" panose="020B0604020202020204" pitchFamily="34" charset="0"/>
            </a:endParaRPr>
          </a:p>
        </p:txBody>
      </p:sp>
      <p:sp>
        <p:nvSpPr>
          <p:cNvPr id="48" name="TextBox 47">
            <a:hlinkClick r:id="rId95" action="ppaction://hlinksldjump"/>
            <a:extLst>
              <a:ext uri="{FF2B5EF4-FFF2-40B4-BE49-F238E27FC236}">
                <a16:creationId xmlns:a16="http://schemas.microsoft.com/office/drawing/2014/main" id="{37DCBA7D-564A-43F8-82FB-BEF52F744F8C}"/>
              </a:ext>
            </a:extLst>
          </p:cNvPr>
          <p:cNvSpPr txBox="1"/>
          <p:nvPr>
            <p:custDataLst>
              <p:tags r:id="rId45"/>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1.1</a:t>
            </a:r>
          </a:p>
        </p:txBody>
      </p:sp>
      <p:sp>
        <p:nvSpPr>
          <p:cNvPr id="49" name="TextBox 48">
            <a:hlinkClick r:id="rId96" action="ppaction://hlinksldjump"/>
            <a:extLst>
              <a:ext uri="{FF2B5EF4-FFF2-40B4-BE49-F238E27FC236}">
                <a16:creationId xmlns:a16="http://schemas.microsoft.com/office/drawing/2014/main" id="{83AFC17C-77B7-494E-8E78-65E9DE4C10A8}"/>
              </a:ext>
            </a:extLst>
          </p:cNvPr>
          <p:cNvSpPr txBox="1"/>
          <p:nvPr>
            <p:custDataLst>
              <p:tags r:id="rId46"/>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1.2</a:t>
            </a:r>
          </a:p>
        </p:txBody>
      </p:sp>
      <p:sp>
        <p:nvSpPr>
          <p:cNvPr id="50" name="TextBox 49">
            <a:hlinkClick r:id="rId97" action="ppaction://hlinksldjump"/>
            <a:extLst>
              <a:ext uri="{FF2B5EF4-FFF2-40B4-BE49-F238E27FC236}">
                <a16:creationId xmlns:a16="http://schemas.microsoft.com/office/drawing/2014/main" id="{AB5C58DA-0AF0-4EE3-8A58-EF3E632DA39C}"/>
              </a:ext>
            </a:extLst>
          </p:cNvPr>
          <p:cNvSpPr txBox="1"/>
          <p:nvPr>
            <p:custDataLst>
              <p:tags r:id="rId47"/>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1.3</a:t>
            </a:r>
          </a:p>
        </p:txBody>
      </p:sp>
      <p:sp>
        <p:nvSpPr>
          <p:cNvPr id="51" name="TextBox 50">
            <a:hlinkClick r:id="rId98" action="ppaction://hlinksldjump"/>
            <a:extLst>
              <a:ext uri="{FF2B5EF4-FFF2-40B4-BE49-F238E27FC236}">
                <a16:creationId xmlns:a16="http://schemas.microsoft.com/office/drawing/2014/main" id="{20A84A12-E912-45A2-9AF7-D504A4C3688B}"/>
              </a:ext>
            </a:extLst>
          </p:cNvPr>
          <p:cNvSpPr txBox="1"/>
          <p:nvPr>
            <p:custDataLst>
              <p:tags r:id="rId48"/>
            </p:custDataLst>
          </p:nvPr>
        </p:nvSpPr>
        <p:spPr>
          <a:xfrm>
            <a:off x="296316" y="20239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1.4</a:t>
            </a:r>
          </a:p>
        </p:txBody>
      </p:sp>
      <p:sp>
        <p:nvSpPr>
          <p:cNvPr id="52" name="TextBox 51">
            <a:hlinkClick r:id="rId99" action="ppaction://hlinksldjump"/>
            <a:extLst>
              <a:ext uri="{FF2B5EF4-FFF2-40B4-BE49-F238E27FC236}">
                <a16:creationId xmlns:a16="http://schemas.microsoft.com/office/drawing/2014/main" id="{95682680-1B5C-41C3-A140-8C7052746465}"/>
              </a:ext>
            </a:extLst>
          </p:cNvPr>
          <p:cNvSpPr txBox="1"/>
          <p:nvPr>
            <p:custDataLst>
              <p:tags r:id="rId49"/>
            </p:custDataLst>
          </p:nvPr>
        </p:nvSpPr>
        <p:spPr>
          <a:xfrm>
            <a:off x="296316" y="21626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1.5</a:t>
            </a:r>
          </a:p>
        </p:txBody>
      </p:sp>
      <p:sp>
        <p:nvSpPr>
          <p:cNvPr id="53" name="TextBox 52">
            <a:hlinkClick r:id="rId100" action="ppaction://hlinksldjump"/>
            <a:extLst>
              <a:ext uri="{FF2B5EF4-FFF2-40B4-BE49-F238E27FC236}">
                <a16:creationId xmlns:a16="http://schemas.microsoft.com/office/drawing/2014/main" id="{50FA0F25-2F27-440F-987F-524F52D869E6}"/>
              </a:ext>
            </a:extLst>
          </p:cNvPr>
          <p:cNvSpPr txBox="1"/>
          <p:nvPr>
            <p:custDataLst>
              <p:tags r:id="rId50"/>
            </p:custDataLst>
          </p:nvPr>
        </p:nvSpPr>
        <p:spPr>
          <a:xfrm>
            <a:off x="296316" y="23013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1.6</a:t>
            </a:r>
          </a:p>
        </p:txBody>
      </p:sp>
      <p:sp>
        <p:nvSpPr>
          <p:cNvPr id="54" name="TextBox 53">
            <a:hlinkClick r:id="rId102" action="ppaction://hlinksldjump"/>
            <a:extLst>
              <a:ext uri="{FF2B5EF4-FFF2-40B4-BE49-F238E27FC236}">
                <a16:creationId xmlns:a16="http://schemas.microsoft.com/office/drawing/2014/main" id="{E3973AD5-E971-4C4C-AEB8-1B5B3CC17CA5}"/>
              </a:ext>
            </a:extLst>
          </p:cNvPr>
          <p:cNvSpPr txBox="1"/>
          <p:nvPr>
            <p:custDataLst>
              <p:tags r:id="rId51"/>
            </p:custDataLst>
          </p:nvPr>
        </p:nvSpPr>
        <p:spPr>
          <a:xfrm>
            <a:off x="296316" y="28692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2.1</a:t>
            </a:r>
          </a:p>
        </p:txBody>
      </p:sp>
      <p:sp>
        <p:nvSpPr>
          <p:cNvPr id="55" name="TextBox 54">
            <a:hlinkClick r:id="rId103" action="ppaction://hlinksldjump"/>
            <a:extLst>
              <a:ext uri="{FF2B5EF4-FFF2-40B4-BE49-F238E27FC236}">
                <a16:creationId xmlns:a16="http://schemas.microsoft.com/office/drawing/2014/main" id="{D4E48CE6-5EE8-4E79-9451-434E1F5F98E2}"/>
              </a:ext>
            </a:extLst>
          </p:cNvPr>
          <p:cNvSpPr txBox="1"/>
          <p:nvPr>
            <p:custDataLst>
              <p:tags r:id="rId52"/>
            </p:custDataLst>
          </p:nvPr>
        </p:nvSpPr>
        <p:spPr>
          <a:xfrm>
            <a:off x="296316" y="30079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2.2</a:t>
            </a:r>
          </a:p>
        </p:txBody>
      </p:sp>
      <p:sp>
        <p:nvSpPr>
          <p:cNvPr id="56" name="TextBox 55">
            <a:hlinkClick r:id="rId104" action="ppaction://hlinksldjump"/>
            <a:extLst>
              <a:ext uri="{FF2B5EF4-FFF2-40B4-BE49-F238E27FC236}">
                <a16:creationId xmlns:a16="http://schemas.microsoft.com/office/drawing/2014/main" id="{B0A5E002-79BD-437C-8DB7-F277AC28A85A}"/>
              </a:ext>
            </a:extLst>
          </p:cNvPr>
          <p:cNvSpPr txBox="1"/>
          <p:nvPr>
            <p:custDataLst>
              <p:tags r:id="rId53"/>
            </p:custDataLst>
          </p:nvPr>
        </p:nvSpPr>
        <p:spPr>
          <a:xfrm>
            <a:off x="296316" y="31466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2.3</a:t>
            </a:r>
          </a:p>
        </p:txBody>
      </p:sp>
      <p:sp>
        <p:nvSpPr>
          <p:cNvPr id="57" name="TextBox 56">
            <a:hlinkClick r:id="rId105" action="ppaction://hlinksldjump"/>
            <a:extLst>
              <a:ext uri="{FF2B5EF4-FFF2-40B4-BE49-F238E27FC236}">
                <a16:creationId xmlns:a16="http://schemas.microsoft.com/office/drawing/2014/main" id="{A7932284-AE4D-4A6F-B9B3-5A2360E8120D}"/>
              </a:ext>
            </a:extLst>
          </p:cNvPr>
          <p:cNvSpPr txBox="1"/>
          <p:nvPr>
            <p:custDataLst>
              <p:tags r:id="rId54"/>
            </p:custDataLst>
          </p:nvPr>
        </p:nvSpPr>
        <p:spPr>
          <a:xfrm>
            <a:off x="296316" y="32853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2.4</a:t>
            </a:r>
          </a:p>
        </p:txBody>
      </p:sp>
      <p:sp>
        <p:nvSpPr>
          <p:cNvPr id="58" name="TextBox 57">
            <a:hlinkClick r:id="rId106" action="ppaction://hlinksldjump"/>
            <a:extLst>
              <a:ext uri="{FF2B5EF4-FFF2-40B4-BE49-F238E27FC236}">
                <a16:creationId xmlns:a16="http://schemas.microsoft.com/office/drawing/2014/main" id="{7565BF93-FB97-4E94-A098-05A56A39DCFF}"/>
              </a:ext>
            </a:extLst>
          </p:cNvPr>
          <p:cNvSpPr txBox="1"/>
          <p:nvPr>
            <p:custDataLst>
              <p:tags r:id="rId55"/>
            </p:custDataLst>
          </p:nvPr>
        </p:nvSpPr>
        <p:spPr>
          <a:xfrm>
            <a:off x="296316" y="342408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2.5</a:t>
            </a:r>
          </a:p>
        </p:txBody>
      </p:sp>
      <p:sp>
        <p:nvSpPr>
          <p:cNvPr id="59" name="TextBox 58">
            <a:hlinkClick r:id="rId108" action="ppaction://hlinksldjump"/>
            <a:extLst>
              <a:ext uri="{FF2B5EF4-FFF2-40B4-BE49-F238E27FC236}">
                <a16:creationId xmlns:a16="http://schemas.microsoft.com/office/drawing/2014/main" id="{498633DC-3673-4B8E-9116-7EDCB8123AC2}"/>
              </a:ext>
            </a:extLst>
          </p:cNvPr>
          <p:cNvSpPr txBox="1"/>
          <p:nvPr>
            <p:custDataLst>
              <p:tags r:id="rId56"/>
            </p:custDataLst>
          </p:nvPr>
        </p:nvSpPr>
        <p:spPr>
          <a:xfrm>
            <a:off x="296316" y="39920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3.1</a:t>
            </a:r>
          </a:p>
        </p:txBody>
      </p:sp>
      <p:sp>
        <p:nvSpPr>
          <p:cNvPr id="60" name="TextBox 59">
            <a:hlinkClick r:id="rId109" action="ppaction://hlinksldjump"/>
            <a:extLst>
              <a:ext uri="{FF2B5EF4-FFF2-40B4-BE49-F238E27FC236}">
                <a16:creationId xmlns:a16="http://schemas.microsoft.com/office/drawing/2014/main" id="{7F090D54-26D4-43D4-94E9-B4EF6FD1C532}"/>
              </a:ext>
            </a:extLst>
          </p:cNvPr>
          <p:cNvSpPr txBox="1"/>
          <p:nvPr>
            <p:custDataLst>
              <p:tags r:id="rId57"/>
            </p:custDataLst>
          </p:nvPr>
        </p:nvSpPr>
        <p:spPr>
          <a:xfrm>
            <a:off x="296316" y="413074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3.2</a:t>
            </a:r>
          </a:p>
        </p:txBody>
      </p:sp>
      <p:sp>
        <p:nvSpPr>
          <p:cNvPr id="61" name="TextBox 60">
            <a:hlinkClick r:id="rId111" action="ppaction://hlinksldjump"/>
            <a:extLst>
              <a:ext uri="{FF2B5EF4-FFF2-40B4-BE49-F238E27FC236}">
                <a16:creationId xmlns:a16="http://schemas.microsoft.com/office/drawing/2014/main" id="{5962F6BB-4B16-40E0-A01F-EFD61FF252CF}"/>
              </a:ext>
            </a:extLst>
          </p:cNvPr>
          <p:cNvSpPr txBox="1"/>
          <p:nvPr>
            <p:custDataLst>
              <p:tags r:id="rId58"/>
            </p:custDataLst>
          </p:nvPr>
        </p:nvSpPr>
        <p:spPr>
          <a:xfrm>
            <a:off x="296316" y="469870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4.1</a:t>
            </a:r>
          </a:p>
        </p:txBody>
      </p:sp>
      <p:sp>
        <p:nvSpPr>
          <p:cNvPr id="62" name="TextBox 61">
            <a:hlinkClick r:id="rId112" action="ppaction://hlinksldjump"/>
            <a:extLst>
              <a:ext uri="{FF2B5EF4-FFF2-40B4-BE49-F238E27FC236}">
                <a16:creationId xmlns:a16="http://schemas.microsoft.com/office/drawing/2014/main" id="{59D84CDB-40FA-483B-8F7F-1F0671ED500D}"/>
              </a:ext>
            </a:extLst>
          </p:cNvPr>
          <p:cNvSpPr txBox="1"/>
          <p:nvPr>
            <p:custDataLst>
              <p:tags r:id="rId59"/>
            </p:custDataLst>
          </p:nvPr>
        </p:nvSpPr>
        <p:spPr>
          <a:xfrm>
            <a:off x="296316" y="483740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4.2</a:t>
            </a:r>
          </a:p>
        </p:txBody>
      </p:sp>
      <p:sp>
        <p:nvSpPr>
          <p:cNvPr id="63" name="TextBox 62">
            <a:hlinkClick r:id="rId113" action="ppaction://hlinksldjump"/>
            <a:extLst>
              <a:ext uri="{FF2B5EF4-FFF2-40B4-BE49-F238E27FC236}">
                <a16:creationId xmlns:a16="http://schemas.microsoft.com/office/drawing/2014/main" id="{D7DD71D8-CEDF-412B-900B-64071A55355B}"/>
              </a:ext>
            </a:extLst>
          </p:cNvPr>
          <p:cNvSpPr txBox="1"/>
          <p:nvPr>
            <p:custDataLst>
              <p:tags r:id="rId60"/>
            </p:custDataLst>
          </p:nvPr>
        </p:nvSpPr>
        <p:spPr>
          <a:xfrm>
            <a:off x="296316" y="4976101"/>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4.3</a:t>
            </a:r>
          </a:p>
        </p:txBody>
      </p:sp>
      <p:sp>
        <p:nvSpPr>
          <p:cNvPr id="3584" name="TextBox 3583">
            <a:hlinkClick r:id="rId115" action="ppaction://hlinksldjump"/>
            <a:extLst>
              <a:ext uri="{FF2B5EF4-FFF2-40B4-BE49-F238E27FC236}">
                <a16:creationId xmlns:a16="http://schemas.microsoft.com/office/drawing/2014/main" id="{0A74C56E-0F22-4A8B-BED1-535461AA1AD0}"/>
              </a:ext>
            </a:extLst>
          </p:cNvPr>
          <p:cNvSpPr txBox="1"/>
          <p:nvPr>
            <p:custDataLst>
              <p:tags r:id="rId61"/>
            </p:custDataLst>
          </p:nvPr>
        </p:nvSpPr>
        <p:spPr>
          <a:xfrm>
            <a:off x="296316" y="554406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5.1</a:t>
            </a:r>
          </a:p>
        </p:txBody>
      </p:sp>
      <p:sp>
        <p:nvSpPr>
          <p:cNvPr id="3585" name="TextBox 3584">
            <a:hlinkClick r:id="rId117" action="ppaction://hlinksldjump"/>
            <a:extLst>
              <a:ext uri="{FF2B5EF4-FFF2-40B4-BE49-F238E27FC236}">
                <a16:creationId xmlns:a16="http://schemas.microsoft.com/office/drawing/2014/main" id="{B44E0C42-CCDF-4A55-84CE-C81240B088E4}"/>
              </a:ext>
            </a:extLst>
          </p:cNvPr>
          <p:cNvSpPr txBox="1"/>
          <p:nvPr>
            <p:custDataLst>
              <p:tags r:id="rId62"/>
            </p:custDataLst>
          </p:nvPr>
        </p:nvSpPr>
        <p:spPr>
          <a:xfrm>
            <a:off x="4951098" y="160782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6.1</a:t>
            </a:r>
          </a:p>
        </p:txBody>
      </p:sp>
      <p:sp>
        <p:nvSpPr>
          <p:cNvPr id="3586" name="TextBox 3585">
            <a:hlinkClick r:id="rId119" action="ppaction://hlinksldjump"/>
            <a:extLst>
              <a:ext uri="{FF2B5EF4-FFF2-40B4-BE49-F238E27FC236}">
                <a16:creationId xmlns:a16="http://schemas.microsoft.com/office/drawing/2014/main" id="{B2B334C5-6C10-45A4-AB3D-E4A745B1400D}"/>
              </a:ext>
            </a:extLst>
          </p:cNvPr>
          <p:cNvSpPr txBox="1"/>
          <p:nvPr>
            <p:custDataLst>
              <p:tags r:id="rId63"/>
            </p:custDataLst>
          </p:nvPr>
        </p:nvSpPr>
        <p:spPr>
          <a:xfrm>
            <a:off x="4951098" y="21757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7.1</a:t>
            </a:r>
          </a:p>
        </p:txBody>
      </p:sp>
      <p:sp>
        <p:nvSpPr>
          <p:cNvPr id="3587" name="TextBox 3586">
            <a:hlinkClick r:id="rId120" action="ppaction://hlinksldjump"/>
            <a:extLst>
              <a:ext uri="{FF2B5EF4-FFF2-40B4-BE49-F238E27FC236}">
                <a16:creationId xmlns:a16="http://schemas.microsoft.com/office/drawing/2014/main" id="{D8DC034E-E214-429C-B5AB-7AFB811B609E}"/>
              </a:ext>
            </a:extLst>
          </p:cNvPr>
          <p:cNvSpPr txBox="1"/>
          <p:nvPr>
            <p:custDataLst>
              <p:tags r:id="rId64"/>
            </p:custDataLst>
          </p:nvPr>
        </p:nvSpPr>
        <p:spPr>
          <a:xfrm>
            <a:off x="4951098" y="23144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7.2</a:t>
            </a:r>
          </a:p>
        </p:txBody>
      </p:sp>
      <p:sp>
        <p:nvSpPr>
          <p:cNvPr id="3588" name="TextBox 3587">
            <a:hlinkClick r:id="rId121" action="ppaction://hlinksldjump"/>
            <a:extLst>
              <a:ext uri="{FF2B5EF4-FFF2-40B4-BE49-F238E27FC236}">
                <a16:creationId xmlns:a16="http://schemas.microsoft.com/office/drawing/2014/main" id="{BBDC2561-5DE0-4F3F-B4A6-02EFCC523E2D}"/>
              </a:ext>
            </a:extLst>
          </p:cNvPr>
          <p:cNvSpPr txBox="1"/>
          <p:nvPr>
            <p:custDataLst>
              <p:tags r:id="rId65"/>
            </p:custDataLst>
          </p:nvPr>
        </p:nvSpPr>
        <p:spPr>
          <a:xfrm>
            <a:off x="4951098" y="24531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7.3</a:t>
            </a:r>
          </a:p>
        </p:txBody>
      </p:sp>
      <p:sp>
        <p:nvSpPr>
          <p:cNvPr id="3589" name="TextBox 3588">
            <a:hlinkClick r:id="rId90" action="ppaction://hlinksldjump"/>
            <a:extLst>
              <a:ext uri="{FF2B5EF4-FFF2-40B4-BE49-F238E27FC236}">
                <a16:creationId xmlns:a16="http://schemas.microsoft.com/office/drawing/2014/main" id="{94FF1808-AF49-462C-8D91-36EDEC78DA99}"/>
              </a:ext>
            </a:extLst>
          </p:cNvPr>
          <p:cNvSpPr txBox="1"/>
          <p:nvPr>
            <p:custDataLst>
              <p:tags r:id="rId66"/>
            </p:custDataLst>
          </p:nvPr>
        </p:nvSpPr>
        <p:spPr>
          <a:xfrm>
            <a:off x="4951098" y="2591880"/>
            <a:ext cx="0" cy="0"/>
          </a:xfrm>
          <a:prstGeom prst="rect">
            <a:avLst/>
          </a:prstGeom>
          <a:noFill/>
          <a:ln>
            <a:noFill/>
          </a:ln>
        </p:spPr>
        <p:txBody>
          <a:bodyPr vert="horz" wrap="none" lIns="0" tIns="0" rIns="0" bIns="0" rtlCol="0" anchor="b" anchorCtr="0">
            <a:noAutofit/>
          </a:bodyPr>
          <a:lstStyle/>
          <a:p>
            <a:pPr algn="l"/>
            <a:r>
              <a:rPr lang="en-GB" sz="100" b="0">
                <a:ln>
                  <a:noFill/>
                </a:ln>
                <a:noFill/>
                <a:latin typeface="+mn-lt"/>
                <a:cs typeface="Arial" panose="020B0604020202020204" pitchFamily="34" charset="0"/>
              </a:rPr>
              <a:t>7.4</a:t>
            </a:r>
          </a:p>
        </p:txBody>
      </p:sp>
      <p:sp>
        <p:nvSpPr>
          <p:cNvPr id="3590" name="TextBox 3589">
            <a:hlinkClick r:id="rId95" action="ppaction://hlinksldjump"/>
            <a:extLst>
              <a:ext uri="{FF2B5EF4-FFF2-40B4-BE49-F238E27FC236}">
                <a16:creationId xmlns:a16="http://schemas.microsoft.com/office/drawing/2014/main" id="{097BFBAC-F85E-463E-9559-8E3E782CAB79}"/>
              </a:ext>
            </a:extLst>
          </p:cNvPr>
          <p:cNvSpPr txBox="1"/>
          <p:nvPr>
            <p:custDataLst>
              <p:tags r:id="rId67"/>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a:t>
            </a:r>
            <a:endParaRPr lang="en-GB" sz="900" b="0" dirty="0">
              <a:solidFill>
                <a:schemeClr val="tx2"/>
              </a:solidFill>
              <a:latin typeface="+mn-lt"/>
              <a:cs typeface="Arial" panose="020B0604020202020204" pitchFamily="34" charset="0"/>
            </a:endParaRPr>
          </a:p>
        </p:txBody>
      </p:sp>
      <p:sp>
        <p:nvSpPr>
          <p:cNvPr id="3591" name="TextBox 3590">
            <a:hlinkClick r:id="rId96" action="ppaction://hlinksldjump"/>
            <a:extLst>
              <a:ext uri="{FF2B5EF4-FFF2-40B4-BE49-F238E27FC236}">
                <a16:creationId xmlns:a16="http://schemas.microsoft.com/office/drawing/2014/main" id="{EB615DBF-7D0A-41B8-9B89-ACC7FF55BD9D}"/>
              </a:ext>
            </a:extLst>
          </p:cNvPr>
          <p:cNvSpPr txBox="1"/>
          <p:nvPr>
            <p:custDataLst>
              <p:tags r:id="rId68"/>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8</a:t>
            </a:r>
            <a:endParaRPr lang="en-GB" sz="900" b="0" dirty="0">
              <a:solidFill>
                <a:schemeClr val="tx2"/>
              </a:solidFill>
              <a:latin typeface="+mn-lt"/>
              <a:cs typeface="Arial" panose="020B0604020202020204" pitchFamily="34" charset="0"/>
            </a:endParaRPr>
          </a:p>
        </p:txBody>
      </p:sp>
      <p:sp>
        <p:nvSpPr>
          <p:cNvPr id="3592" name="TextBox 3591">
            <a:hlinkClick r:id="rId97" action="ppaction://hlinksldjump"/>
            <a:extLst>
              <a:ext uri="{FF2B5EF4-FFF2-40B4-BE49-F238E27FC236}">
                <a16:creationId xmlns:a16="http://schemas.microsoft.com/office/drawing/2014/main" id="{A5BE5141-4E16-4BC5-90BF-19F81282494C}"/>
              </a:ext>
            </a:extLst>
          </p:cNvPr>
          <p:cNvSpPr txBox="1"/>
          <p:nvPr>
            <p:custDataLst>
              <p:tags r:id="rId69"/>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9</a:t>
            </a:r>
            <a:endParaRPr lang="en-GB" sz="900" b="0" dirty="0">
              <a:solidFill>
                <a:schemeClr val="tx2"/>
              </a:solidFill>
              <a:latin typeface="+mn-lt"/>
              <a:cs typeface="Arial" panose="020B0604020202020204" pitchFamily="34" charset="0"/>
            </a:endParaRPr>
          </a:p>
        </p:txBody>
      </p:sp>
      <p:sp>
        <p:nvSpPr>
          <p:cNvPr id="3593" name="TextBox 3592">
            <a:hlinkClick r:id="rId98" action="ppaction://hlinksldjump"/>
            <a:extLst>
              <a:ext uri="{FF2B5EF4-FFF2-40B4-BE49-F238E27FC236}">
                <a16:creationId xmlns:a16="http://schemas.microsoft.com/office/drawing/2014/main" id="{24591457-197C-448F-A0A2-B90A2CB06AAB}"/>
              </a:ext>
            </a:extLst>
          </p:cNvPr>
          <p:cNvSpPr txBox="1"/>
          <p:nvPr>
            <p:custDataLst>
              <p:tags r:id="rId70"/>
            </p:custDataLst>
          </p:nvPr>
        </p:nvSpPr>
        <p:spPr>
          <a:xfrm>
            <a:off x="5245758" y="20239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11</a:t>
            </a:r>
            <a:endParaRPr lang="en-GB" sz="900" b="0" dirty="0">
              <a:solidFill>
                <a:schemeClr val="tx2"/>
              </a:solidFill>
              <a:latin typeface="+mn-lt"/>
              <a:cs typeface="Arial" panose="020B0604020202020204" pitchFamily="34" charset="0"/>
            </a:endParaRPr>
          </a:p>
        </p:txBody>
      </p:sp>
      <p:sp>
        <p:nvSpPr>
          <p:cNvPr id="3594" name="TextBox 3593">
            <a:hlinkClick r:id="rId99" action="ppaction://hlinksldjump"/>
            <a:extLst>
              <a:ext uri="{FF2B5EF4-FFF2-40B4-BE49-F238E27FC236}">
                <a16:creationId xmlns:a16="http://schemas.microsoft.com/office/drawing/2014/main" id="{9BE0CF57-702E-4053-842F-D8DE872F10BB}"/>
              </a:ext>
            </a:extLst>
          </p:cNvPr>
          <p:cNvSpPr txBox="1"/>
          <p:nvPr>
            <p:custDataLst>
              <p:tags r:id="rId71"/>
            </p:custDataLst>
          </p:nvPr>
        </p:nvSpPr>
        <p:spPr>
          <a:xfrm>
            <a:off x="5245758" y="21626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12</a:t>
            </a:r>
            <a:endParaRPr lang="en-GB" sz="900" b="0" dirty="0">
              <a:solidFill>
                <a:schemeClr val="tx2"/>
              </a:solidFill>
              <a:latin typeface="+mn-lt"/>
              <a:cs typeface="Arial" panose="020B0604020202020204" pitchFamily="34" charset="0"/>
            </a:endParaRPr>
          </a:p>
        </p:txBody>
      </p:sp>
      <p:sp>
        <p:nvSpPr>
          <p:cNvPr id="3595" name="TextBox 3594">
            <a:hlinkClick r:id="rId100" action="ppaction://hlinksldjump"/>
            <a:extLst>
              <a:ext uri="{FF2B5EF4-FFF2-40B4-BE49-F238E27FC236}">
                <a16:creationId xmlns:a16="http://schemas.microsoft.com/office/drawing/2014/main" id="{0FC62515-2075-42B7-B8AD-C458731F8CD4}"/>
              </a:ext>
            </a:extLst>
          </p:cNvPr>
          <p:cNvSpPr txBox="1"/>
          <p:nvPr>
            <p:custDataLst>
              <p:tags r:id="rId72"/>
            </p:custDataLst>
          </p:nvPr>
        </p:nvSpPr>
        <p:spPr>
          <a:xfrm>
            <a:off x="5245758" y="23013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16</a:t>
            </a:r>
            <a:endParaRPr lang="en-GB" sz="900" b="0" dirty="0">
              <a:solidFill>
                <a:schemeClr val="tx2"/>
              </a:solidFill>
              <a:latin typeface="+mn-lt"/>
              <a:cs typeface="Arial" panose="020B0604020202020204" pitchFamily="34" charset="0"/>
            </a:endParaRPr>
          </a:p>
        </p:txBody>
      </p:sp>
      <p:sp>
        <p:nvSpPr>
          <p:cNvPr id="3596" name="TextBox 3595">
            <a:hlinkClick r:id="rId102" action="ppaction://hlinksldjump"/>
            <a:extLst>
              <a:ext uri="{FF2B5EF4-FFF2-40B4-BE49-F238E27FC236}">
                <a16:creationId xmlns:a16="http://schemas.microsoft.com/office/drawing/2014/main" id="{8426EE3C-B1B2-4ACA-959C-BA3D78B01EB0}"/>
              </a:ext>
            </a:extLst>
          </p:cNvPr>
          <p:cNvSpPr txBox="1"/>
          <p:nvPr>
            <p:custDataLst>
              <p:tags r:id="rId73"/>
            </p:custDataLst>
          </p:nvPr>
        </p:nvSpPr>
        <p:spPr>
          <a:xfrm>
            <a:off x="5245758" y="28692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18</a:t>
            </a:r>
            <a:endParaRPr lang="en-GB" sz="900" b="0" dirty="0">
              <a:solidFill>
                <a:schemeClr val="tx2"/>
              </a:solidFill>
              <a:latin typeface="+mn-lt"/>
              <a:cs typeface="Arial" panose="020B0604020202020204" pitchFamily="34" charset="0"/>
            </a:endParaRPr>
          </a:p>
        </p:txBody>
      </p:sp>
      <p:sp>
        <p:nvSpPr>
          <p:cNvPr id="3597" name="TextBox 3596">
            <a:hlinkClick r:id="rId103" action="ppaction://hlinksldjump"/>
            <a:extLst>
              <a:ext uri="{FF2B5EF4-FFF2-40B4-BE49-F238E27FC236}">
                <a16:creationId xmlns:a16="http://schemas.microsoft.com/office/drawing/2014/main" id="{08C14E67-61AB-4D2E-8A2A-7385A6770A5A}"/>
              </a:ext>
            </a:extLst>
          </p:cNvPr>
          <p:cNvSpPr txBox="1"/>
          <p:nvPr>
            <p:custDataLst>
              <p:tags r:id="rId74"/>
            </p:custDataLst>
          </p:nvPr>
        </p:nvSpPr>
        <p:spPr>
          <a:xfrm>
            <a:off x="5245758" y="30079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25</a:t>
            </a:r>
            <a:endParaRPr lang="en-GB" sz="900" b="0" dirty="0">
              <a:solidFill>
                <a:schemeClr val="tx2"/>
              </a:solidFill>
              <a:latin typeface="+mn-lt"/>
              <a:cs typeface="Arial" panose="020B0604020202020204" pitchFamily="34" charset="0"/>
            </a:endParaRPr>
          </a:p>
        </p:txBody>
      </p:sp>
      <p:sp>
        <p:nvSpPr>
          <p:cNvPr id="3598" name="TextBox 3597">
            <a:hlinkClick r:id="rId104" action="ppaction://hlinksldjump"/>
            <a:extLst>
              <a:ext uri="{FF2B5EF4-FFF2-40B4-BE49-F238E27FC236}">
                <a16:creationId xmlns:a16="http://schemas.microsoft.com/office/drawing/2014/main" id="{45336EFF-9B09-476A-8A8B-6D843A1A001E}"/>
              </a:ext>
            </a:extLst>
          </p:cNvPr>
          <p:cNvSpPr txBox="1"/>
          <p:nvPr>
            <p:custDataLst>
              <p:tags r:id="rId75"/>
            </p:custDataLst>
          </p:nvPr>
        </p:nvSpPr>
        <p:spPr>
          <a:xfrm>
            <a:off x="5245758" y="31466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26</a:t>
            </a:r>
            <a:endParaRPr lang="en-GB" sz="900" b="0" dirty="0">
              <a:solidFill>
                <a:schemeClr val="tx2"/>
              </a:solidFill>
              <a:latin typeface="+mn-lt"/>
              <a:cs typeface="Arial" panose="020B0604020202020204" pitchFamily="34" charset="0"/>
            </a:endParaRPr>
          </a:p>
        </p:txBody>
      </p:sp>
      <p:sp>
        <p:nvSpPr>
          <p:cNvPr id="3599" name="TextBox 3598">
            <a:hlinkClick r:id="rId105" action="ppaction://hlinksldjump"/>
            <a:extLst>
              <a:ext uri="{FF2B5EF4-FFF2-40B4-BE49-F238E27FC236}">
                <a16:creationId xmlns:a16="http://schemas.microsoft.com/office/drawing/2014/main" id="{22DF7329-244A-4E25-A616-A1B38CAEC92F}"/>
              </a:ext>
            </a:extLst>
          </p:cNvPr>
          <p:cNvSpPr txBox="1"/>
          <p:nvPr>
            <p:custDataLst>
              <p:tags r:id="rId76"/>
            </p:custDataLst>
          </p:nvPr>
        </p:nvSpPr>
        <p:spPr>
          <a:xfrm>
            <a:off x="5245758" y="32853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32</a:t>
            </a:r>
            <a:endParaRPr lang="en-GB" sz="900" b="0" dirty="0">
              <a:solidFill>
                <a:schemeClr val="tx2"/>
              </a:solidFill>
              <a:latin typeface="+mn-lt"/>
              <a:cs typeface="Arial" panose="020B0604020202020204" pitchFamily="34" charset="0"/>
            </a:endParaRPr>
          </a:p>
        </p:txBody>
      </p:sp>
      <p:sp>
        <p:nvSpPr>
          <p:cNvPr id="3600" name="TextBox 3599">
            <a:hlinkClick r:id="rId106" action="ppaction://hlinksldjump"/>
            <a:extLst>
              <a:ext uri="{FF2B5EF4-FFF2-40B4-BE49-F238E27FC236}">
                <a16:creationId xmlns:a16="http://schemas.microsoft.com/office/drawing/2014/main" id="{7EC02E30-0F55-4244-AB0A-8FEA962A4B2C}"/>
              </a:ext>
            </a:extLst>
          </p:cNvPr>
          <p:cNvSpPr txBox="1"/>
          <p:nvPr>
            <p:custDataLst>
              <p:tags r:id="rId77"/>
            </p:custDataLst>
          </p:nvPr>
        </p:nvSpPr>
        <p:spPr>
          <a:xfrm>
            <a:off x="5245758" y="342408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33</a:t>
            </a:r>
            <a:endParaRPr lang="en-GB" sz="900" b="0" dirty="0">
              <a:solidFill>
                <a:schemeClr val="tx2"/>
              </a:solidFill>
              <a:latin typeface="+mn-lt"/>
              <a:cs typeface="Arial" panose="020B0604020202020204" pitchFamily="34" charset="0"/>
            </a:endParaRPr>
          </a:p>
        </p:txBody>
      </p:sp>
      <p:sp>
        <p:nvSpPr>
          <p:cNvPr id="3601" name="TextBox 3600">
            <a:hlinkClick r:id="rId108" action="ppaction://hlinksldjump"/>
            <a:extLst>
              <a:ext uri="{FF2B5EF4-FFF2-40B4-BE49-F238E27FC236}">
                <a16:creationId xmlns:a16="http://schemas.microsoft.com/office/drawing/2014/main" id="{99493831-6F7C-4FC7-8E82-A8AF953918B5}"/>
              </a:ext>
            </a:extLst>
          </p:cNvPr>
          <p:cNvSpPr txBox="1"/>
          <p:nvPr>
            <p:custDataLst>
              <p:tags r:id="rId78"/>
            </p:custDataLst>
          </p:nvPr>
        </p:nvSpPr>
        <p:spPr>
          <a:xfrm>
            <a:off x="5245758" y="39920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37</a:t>
            </a:r>
            <a:endParaRPr lang="en-GB" sz="900" b="0" dirty="0">
              <a:solidFill>
                <a:schemeClr val="tx2"/>
              </a:solidFill>
              <a:latin typeface="+mn-lt"/>
              <a:cs typeface="Arial" panose="020B0604020202020204" pitchFamily="34" charset="0"/>
            </a:endParaRPr>
          </a:p>
        </p:txBody>
      </p:sp>
      <p:sp>
        <p:nvSpPr>
          <p:cNvPr id="3602" name="TextBox 3601">
            <a:hlinkClick r:id="rId109" action="ppaction://hlinksldjump"/>
            <a:extLst>
              <a:ext uri="{FF2B5EF4-FFF2-40B4-BE49-F238E27FC236}">
                <a16:creationId xmlns:a16="http://schemas.microsoft.com/office/drawing/2014/main" id="{213CFB82-68DA-4A10-85EC-8122A454C307}"/>
              </a:ext>
            </a:extLst>
          </p:cNvPr>
          <p:cNvSpPr txBox="1"/>
          <p:nvPr>
            <p:custDataLst>
              <p:tags r:id="rId79"/>
            </p:custDataLst>
          </p:nvPr>
        </p:nvSpPr>
        <p:spPr>
          <a:xfrm>
            <a:off x="5245758" y="413074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40</a:t>
            </a:r>
            <a:endParaRPr lang="en-GB" sz="900" b="0" dirty="0">
              <a:solidFill>
                <a:schemeClr val="tx2"/>
              </a:solidFill>
              <a:latin typeface="+mn-lt"/>
              <a:cs typeface="Arial" panose="020B0604020202020204" pitchFamily="34" charset="0"/>
            </a:endParaRPr>
          </a:p>
        </p:txBody>
      </p:sp>
      <p:sp>
        <p:nvSpPr>
          <p:cNvPr id="3603" name="TextBox 3602">
            <a:hlinkClick r:id="rId111" action="ppaction://hlinksldjump"/>
            <a:extLst>
              <a:ext uri="{FF2B5EF4-FFF2-40B4-BE49-F238E27FC236}">
                <a16:creationId xmlns:a16="http://schemas.microsoft.com/office/drawing/2014/main" id="{7C2E1B5B-9AF9-48E9-8207-DDF3C12870B8}"/>
              </a:ext>
            </a:extLst>
          </p:cNvPr>
          <p:cNvSpPr txBox="1"/>
          <p:nvPr>
            <p:custDataLst>
              <p:tags r:id="rId80"/>
            </p:custDataLst>
          </p:nvPr>
        </p:nvSpPr>
        <p:spPr>
          <a:xfrm>
            <a:off x="5245758" y="469870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43</a:t>
            </a:r>
            <a:endParaRPr lang="en-GB" sz="900" b="0" dirty="0">
              <a:solidFill>
                <a:schemeClr val="tx2"/>
              </a:solidFill>
              <a:latin typeface="+mn-lt"/>
              <a:cs typeface="Arial" panose="020B0604020202020204" pitchFamily="34" charset="0"/>
            </a:endParaRPr>
          </a:p>
        </p:txBody>
      </p:sp>
      <p:sp>
        <p:nvSpPr>
          <p:cNvPr id="3604" name="TextBox 3603">
            <a:hlinkClick r:id="rId112" action="ppaction://hlinksldjump"/>
            <a:extLst>
              <a:ext uri="{FF2B5EF4-FFF2-40B4-BE49-F238E27FC236}">
                <a16:creationId xmlns:a16="http://schemas.microsoft.com/office/drawing/2014/main" id="{FEB166C9-9133-49DB-87A2-DBF8257C2478}"/>
              </a:ext>
            </a:extLst>
          </p:cNvPr>
          <p:cNvSpPr txBox="1"/>
          <p:nvPr>
            <p:custDataLst>
              <p:tags r:id="rId81"/>
            </p:custDataLst>
          </p:nvPr>
        </p:nvSpPr>
        <p:spPr>
          <a:xfrm>
            <a:off x="5245758" y="483740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48</a:t>
            </a:r>
            <a:endParaRPr lang="en-GB" sz="900" b="0" dirty="0">
              <a:solidFill>
                <a:schemeClr val="tx2"/>
              </a:solidFill>
              <a:latin typeface="+mn-lt"/>
              <a:cs typeface="Arial" panose="020B0604020202020204" pitchFamily="34" charset="0"/>
            </a:endParaRPr>
          </a:p>
        </p:txBody>
      </p:sp>
      <p:sp>
        <p:nvSpPr>
          <p:cNvPr id="3605" name="TextBox 3604">
            <a:hlinkClick r:id="rId113" action="ppaction://hlinksldjump"/>
            <a:extLst>
              <a:ext uri="{FF2B5EF4-FFF2-40B4-BE49-F238E27FC236}">
                <a16:creationId xmlns:a16="http://schemas.microsoft.com/office/drawing/2014/main" id="{0A6FE9E2-E670-405A-A277-4FE35A9B1738}"/>
              </a:ext>
            </a:extLst>
          </p:cNvPr>
          <p:cNvSpPr txBox="1"/>
          <p:nvPr>
            <p:custDataLst>
              <p:tags r:id="rId82"/>
            </p:custDataLst>
          </p:nvPr>
        </p:nvSpPr>
        <p:spPr>
          <a:xfrm>
            <a:off x="5245758" y="4976101"/>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49</a:t>
            </a:r>
            <a:endParaRPr lang="en-GB" sz="900" b="0" dirty="0">
              <a:solidFill>
                <a:schemeClr val="tx2"/>
              </a:solidFill>
              <a:latin typeface="+mn-lt"/>
              <a:cs typeface="Arial" panose="020B0604020202020204" pitchFamily="34" charset="0"/>
            </a:endParaRPr>
          </a:p>
        </p:txBody>
      </p:sp>
      <p:sp>
        <p:nvSpPr>
          <p:cNvPr id="3606" name="TextBox 3605">
            <a:hlinkClick r:id="rId115" action="ppaction://hlinksldjump"/>
            <a:extLst>
              <a:ext uri="{FF2B5EF4-FFF2-40B4-BE49-F238E27FC236}">
                <a16:creationId xmlns:a16="http://schemas.microsoft.com/office/drawing/2014/main" id="{0D83C11E-1F79-48E1-975E-79FF16A38A17}"/>
              </a:ext>
            </a:extLst>
          </p:cNvPr>
          <p:cNvSpPr txBox="1"/>
          <p:nvPr>
            <p:custDataLst>
              <p:tags r:id="rId83"/>
            </p:custDataLst>
          </p:nvPr>
        </p:nvSpPr>
        <p:spPr>
          <a:xfrm>
            <a:off x="5245758" y="554406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54</a:t>
            </a:r>
            <a:endParaRPr lang="en-GB" sz="900" b="0" dirty="0">
              <a:solidFill>
                <a:schemeClr val="tx2"/>
              </a:solidFill>
              <a:latin typeface="+mn-lt"/>
              <a:cs typeface="Arial" panose="020B0604020202020204" pitchFamily="34" charset="0"/>
            </a:endParaRPr>
          </a:p>
        </p:txBody>
      </p:sp>
      <p:sp>
        <p:nvSpPr>
          <p:cNvPr id="3607" name="TextBox 3606">
            <a:hlinkClick r:id="rId117" action="ppaction://hlinksldjump"/>
            <a:extLst>
              <a:ext uri="{FF2B5EF4-FFF2-40B4-BE49-F238E27FC236}">
                <a16:creationId xmlns:a16="http://schemas.microsoft.com/office/drawing/2014/main" id="{36AB63DA-38BA-46B6-B216-42BF37EFCEA5}"/>
              </a:ext>
            </a:extLst>
          </p:cNvPr>
          <p:cNvSpPr txBox="1"/>
          <p:nvPr>
            <p:custDataLst>
              <p:tags r:id="rId84"/>
            </p:custDataLst>
          </p:nvPr>
        </p:nvSpPr>
        <p:spPr>
          <a:xfrm>
            <a:off x="10374885" y="160782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56</a:t>
            </a:r>
            <a:endParaRPr lang="en-GB" sz="900" b="0" dirty="0">
              <a:solidFill>
                <a:schemeClr val="tx2"/>
              </a:solidFill>
              <a:latin typeface="+mn-lt"/>
              <a:cs typeface="Arial" panose="020B0604020202020204" pitchFamily="34" charset="0"/>
            </a:endParaRPr>
          </a:p>
        </p:txBody>
      </p:sp>
      <p:sp>
        <p:nvSpPr>
          <p:cNvPr id="3608" name="TextBox 3607">
            <a:hlinkClick r:id="rId119" action="ppaction://hlinksldjump"/>
            <a:extLst>
              <a:ext uri="{FF2B5EF4-FFF2-40B4-BE49-F238E27FC236}">
                <a16:creationId xmlns:a16="http://schemas.microsoft.com/office/drawing/2014/main" id="{49CE934B-7ED4-4443-B270-70DE66CA0D2D}"/>
              </a:ext>
            </a:extLst>
          </p:cNvPr>
          <p:cNvSpPr txBox="1"/>
          <p:nvPr>
            <p:custDataLst>
              <p:tags r:id="rId85"/>
            </p:custDataLst>
          </p:nvPr>
        </p:nvSpPr>
        <p:spPr>
          <a:xfrm>
            <a:off x="10374885" y="21757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62</a:t>
            </a:r>
            <a:endParaRPr lang="en-GB" sz="900" b="0" dirty="0">
              <a:solidFill>
                <a:schemeClr val="tx2"/>
              </a:solidFill>
              <a:latin typeface="+mn-lt"/>
              <a:cs typeface="Arial" panose="020B0604020202020204" pitchFamily="34" charset="0"/>
            </a:endParaRPr>
          </a:p>
        </p:txBody>
      </p:sp>
      <p:sp>
        <p:nvSpPr>
          <p:cNvPr id="3609" name="TextBox 3608">
            <a:hlinkClick r:id="rId120" action="ppaction://hlinksldjump"/>
            <a:extLst>
              <a:ext uri="{FF2B5EF4-FFF2-40B4-BE49-F238E27FC236}">
                <a16:creationId xmlns:a16="http://schemas.microsoft.com/office/drawing/2014/main" id="{C95EBCA6-F87B-4525-9C5D-A513C9512283}"/>
              </a:ext>
            </a:extLst>
          </p:cNvPr>
          <p:cNvSpPr txBox="1"/>
          <p:nvPr>
            <p:custDataLst>
              <p:tags r:id="rId86"/>
            </p:custDataLst>
          </p:nvPr>
        </p:nvSpPr>
        <p:spPr>
          <a:xfrm>
            <a:off x="10374885" y="23144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66</a:t>
            </a:r>
            <a:endParaRPr lang="en-GB" sz="900" b="0" dirty="0">
              <a:solidFill>
                <a:schemeClr val="tx2"/>
              </a:solidFill>
              <a:latin typeface="+mn-lt"/>
              <a:cs typeface="Arial" panose="020B0604020202020204" pitchFamily="34" charset="0"/>
            </a:endParaRPr>
          </a:p>
        </p:txBody>
      </p:sp>
      <p:sp>
        <p:nvSpPr>
          <p:cNvPr id="3610" name="TextBox 3609">
            <a:hlinkClick r:id="rId121" action="ppaction://hlinksldjump"/>
            <a:extLst>
              <a:ext uri="{FF2B5EF4-FFF2-40B4-BE49-F238E27FC236}">
                <a16:creationId xmlns:a16="http://schemas.microsoft.com/office/drawing/2014/main" id="{805B2C1C-9F33-4B67-8358-7B6BD307C881}"/>
              </a:ext>
            </a:extLst>
          </p:cNvPr>
          <p:cNvSpPr txBox="1"/>
          <p:nvPr>
            <p:custDataLst>
              <p:tags r:id="rId87"/>
            </p:custDataLst>
          </p:nvPr>
        </p:nvSpPr>
        <p:spPr>
          <a:xfrm>
            <a:off x="10374885" y="24531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72</a:t>
            </a:r>
            <a:endParaRPr lang="en-GB" sz="900" b="0" dirty="0">
              <a:solidFill>
                <a:schemeClr val="tx2"/>
              </a:solidFill>
              <a:latin typeface="+mn-lt"/>
              <a:cs typeface="Arial" panose="020B0604020202020204" pitchFamily="34" charset="0"/>
            </a:endParaRPr>
          </a:p>
        </p:txBody>
      </p:sp>
      <p:sp>
        <p:nvSpPr>
          <p:cNvPr id="3611" name="TextBox 3610">
            <a:hlinkClick r:id="rId90" action="ppaction://hlinksldjump"/>
            <a:extLst>
              <a:ext uri="{FF2B5EF4-FFF2-40B4-BE49-F238E27FC236}">
                <a16:creationId xmlns:a16="http://schemas.microsoft.com/office/drawing/2014/main" id="{6FF6434E-B392-4AE2-8E0E-2EC40ACE2139}"/>
              </a:ext>
            </a:extLst>
          </p:cNvPr>
          <p:cNvSpPr txBox="1"/>
          <p:nvPr>
            <p:custDataLst>
              <p:tags r:id="rId88"/>
            </p:custDataLst>
          </p:nvPr>
        </p:nvSpPr>
        <p:spPr>
          <a:xfrm>
            <a:off x="10374885" y="2591880"/>
            <a:ext cx="54000" cy="126000"/>
          </a:xfrm>
          <a:prstGeom prst="rect">
            <a:avLst/>
          </a:prstGeom>
          <a:noFill/>
        </p:spPr>
        <p:txBody>
          <a:bodyPr vert="horz" wrap="none" lIns="0" tIns="0" rIns="0" bIns="18000" rtlCol="0" anchor="b" anchorCtr="0">
            <a:noAutofit/>
          </a:bodyPr>
          <a:lstStyle/>
          <a:p>
            <a:pPr algn="r"/>
            <a:r>
              <a:rPr lang="en-GB" sz="900" b="0">
                <a:solidFill>
                  <a:schemeClr val="tx2"/>
                </a:solidFill>
                <a:latin typeface="+mn-lt"/>
                <a:cs typeface="Arial" panose="020B0604020202020204" pitchFamily="34" charset="0"/>
              </a:rPr>
              <a:t>81</a:t>
            </a:r>
            <a:endParaRPr lang="en-GB" sz="900" b="0" dirty="0">
              <a:solidFill>
                <a:schemeClr val="tx2"/>
              </a:solidFill>
              <a:latin typeface="+mn-lt"/>
              <a:cs typeface="Arial" panose="020B0604020202020204" pitchFamily="34" charset="0"/>
            </a:endParaRP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4" action="ppaction://hlinksldjump"/>
            <a:extLst>
              <a:ext uri="{FF2B5EF4-FFF2-40B4-BE49-F238E27FC236}">
                <a16:creationId xmlns:a16="http://schemas.microsoft.com/office/drawing/2014/main" id="{45AA561B-8CEF-41B1-9C31-746A032ACE21}"/>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Executive summary</a:t>
            </a:r>
          </a:p>
        </p:txBody>
      </p:sp>
      <p:sp>
        <p:nvSpPr>
          <p:cNvPr id="5" name="TextBox 4">
            <a:hlinkClick r:id="rId25" action="ppaction://hlinksldjump"/>
            <a:extLst>
              <a:ext uri="{FF2B5EF4-FFF2-40B4-BE49-F238E27FC236}">
                <a16:creationId xmlns:a16="http://schemas.microsoft.com/office/drawing/2014/main" id="{FA26B641-B6D0-4336-A5DA-652EDC434A25}"/>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Business overview</a:t>
            </a:r>
          </a:p>
        </p:txBody>
      </p:sp>
      <p:sp>
        <p:nvSpPr>
          <p:cNvPr id="6" name="TextBox 5">
            <a:hlinkClick r:id="rId26" action="ppaction://hlinksldjump"/>
            <a:extLst>
              <a:ext uri="{FF2B5EF4-FFF2-40B4-BE49-F238E27FC236}">
                <a16:creationId xmlns:a16="http://schemas.microsoft.com/office/drawing/2014/main" id="{9DBFD1BC-7427-4F04-AD42-5AB4A6DFE4B4}"/>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Key financial drivers</a:t>
            </a:r>
          </a:p>
        </p:txBody>
      </p:sp>
      <p:sp>
        <p:nvSpPr>
          <p:cNvPr id="7" name="TextBox 6">
            <a:hlinkClick r:id="rId27" action="ppaction://hlinksldjump"/>
            <a:extLst>
              <a:ext uri="{FF2B5EF4-FFF2-40B4-BE49-F238E27FC236}">
                <a16:creationId xmlns:a16="http://schemas.microsoft.com/office/drawing/2014/main" id="{86475C4E-25FD-43DD-9C71-42D7EDF85028}"/>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Headlines</a:t>
            </a:r>
          </a:p>
        </p:txBody>
      </p:sp>
      <p:sp>
        <p:nvSpPr>
          <p:cNvPr id="8" name="TextBox 7">
            <a:hlinkClick r:id="rId28" action="ppaction://hlinksldjump"/>
            <a:extLst>
              <a:ext uri="{FF2B5EF4-FFF2-40B4-BE49-F238E27FC236}">
                <a16:creationId xmlns:a16="http://schemas.microsoft.com/office/drawing/2014/main" id="{66BD99FE-0D89-4A4F-8836-9008F0308067}"/>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EV to equity bridge</a:t>
            </a:r>
          </a:p>
        </p:txBody>
      </p:sp>
      <p:sp>
        <p:nvSpPr>
          <p:cNvPr id="9" name="TextBox 8">
            <a:hlinkClick r:id="rId29" action="ppaction://hlinksldjump"/>
            <a:extLst>
              <a:ext uri="{FF2B5EF4-FFF2-40B4-BE49-F238E27FC236}">
                <a16:creationId xmlns:a16="http://schemas.microsoft.com/office/drawing/2014/main" id="{F02B6CFE-7308-4A6C-9AA3-D3C6B1B41129}"/>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Key findings</a:t>
            </a:r>
          </a:p>
        </p:txBody>
      </p:sp>
      <p:sp>
        <p:nvSpPr>
          <p:cNvPr id="10" name="TextBox 9">
            <a:hlinkClick r:id="rId30" action="ppaction://hlinksldjump"/>
            <a:extLst>
              <a:ext uri="{FF2B5EF4-FFF2-40B4-BE49-F238E27FC236}">
                <a16:creationId xmlns:a16="http://schemas.microsoft.com/office/drawing/2014/main" id="{1F79EB8A-E46B-455B-BDD7-FB97A0815869}"/>
              </a:ext>
            </a:extLst>
          </p:cNvPr>
          <p:cNvSpPr txBox="1"/>
          <p:nvPr>
            <p:custDataLst>
              <p:tags r:id="rId8"/>
            </p:custDataLst>
          </p:nvPr>
        </p:nvSpPr>
        <p:spPr>
          <a:xfrm>
            <a:off x="1735455" y="5303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Key deal considerations</a:t>
            </a:r>
          </a:p>
        </p:txBody>
      </p:sp>
      <p:sp>
        <p:nvSpPr>
          <p:cNvPr id="11" name="TextBox 10">
            <a:hlinkClick r:id="rId24" action="ppaction://hlinksldjump"/>
            <a:extLst>
              <a:ext uri="{FF2B5EF4-FFF2-40B4-BE49-F238E27FC236}">
                <a16:creationId xmlns:a16="http://schemas.microsoft.com/office/drawing/2014/main" id="{8FDB739B-0BFF-450E-AEE8-B06237B7A455}"/>
              </a:ext>
            </a:extLst>
          </p:cNvPr>
          <p:cNvSpPr txBox="1"/>
          <p:nvPr>
            <p:custDataLst>
              <p:tags r:id="rId9"/>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1.</a:t>
            </a:r>
          </a:p>
        </p:txBody>
      </p:sp>
      <p:sp>
        <p:nvSpPr>
          <p:cNvPr id="12" name="TextBox 11">
            <a:hlinkClick r:id="rId24" action="ppaction://hlinksldjump"/>
            <a:extLst>
              <a:ext uri="{FF2B5EF4-FFF2-40B4-BE49-F238E27FC236}">
                <a16:creationId xmlns:a16="http://schemas.microsoft.com/office/drawing/2014/main" id="{02191537-B805-4C91-A6C1-83D6E7524400}"/>
              </a:ext>
            </a:extLst>
          </p:cNvPr>
          <p:cNvSpPr txBox="1"/>
          <p:nvPr>
            <p:custDataLst>
              <p:tags r:id="rId10"/>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4</a:t>
            </a:r>
          </a:p>
        </p:txBody>
      </p:sp>
      <p:sp>
        <p:nvSpPr>
          <p:cNvPr id="13" name="TextBox 12">
            <a:hlinkClick r:id="rId25" action="ppaction://hlinksldjump"/>
            <a:extLst>
              <a:ext uri="{FF2B5EF4-FFF2-40B4-BE49-F238E27FC236}">
                <a16:creationId xmlns:a16="http://schemas.microsoft.com/office/drawing/2014/main" id="{476C9788-05FD-481C-A5A9-6A542F284E15}"/>
              </a:ext>
            </a:extLst>
          </p:cNvPr>
          <p:cNvSpPr txBox="1"/>
          <p:nvPr>
            <p:custDataLst>
              <p:tags r:id="rId11"/>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1.1</a:t>
            </a:r>
          </a:p>
        </p:txBody>
      </p:sp>
      <p:sp>
        <p:nvSpPr>
          <p:cNvPr id="14" name="TextBox 13">
            <a:hlinkClick r:id="rId26" action="ppaction://hlinksldjump"/>
            <a:extLst>
              <a:ext uri="{FF2B5EF4-FFF2-40B4-BE49-F238E27FC236}">
                <a16:creationId xmlns:a16="http://schemas.microsoft.com/office/drawing/2014/main" id="{4E9D784B-212D-4193-B180-08359981B445}"/>
              </a:ext>
            </a:extLst>
          </p:cNvPr>
          <p:cNvSpPr txBox="1"/>
          <p:nvPr>
            <p:custDataLst>
              <p:tags r:id="rId12"/>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1.2</a:t>
            </a:r>
          </a:p>
        </p:txBody>
      </p:sp>
      <p:sp>
        <p:nvSpPr>
          <p:cNvPr id="15" name="TextBox 14">
            <a:hlinkClick r:id="rId27" action="ppaction://hlinksldjump"/>
            <a:extLst>
              <a:ext uri="{FF2B5EF4-FFF2-40B4-BE49-F238E27FC236}">
                <a16:creationId xmlns:a16="http://schemas.microsoft.com/office/drawing/2014/main" id="{F7DFC435-802F-4412-BC32-1F2CD4785486}"/>
              </a:ext>
            </a:extLst>
          </p:cNvPr>
          <p:cNvSpPr txBox="1"/>
          <p:nvPr>
            <p:custDataLst>
              <p:tags r:id="rId13"/>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1.3</a:t>
            </a:r>
          </a:p>
        </p:txBody>
      </p:sp>
      <p:sp>
        <p:nvSpPr>
          <p:cNvPr id="16" name="TextBox 15">
            <a:hlinkClick r:id="rId28" action="ppaction://hlinksldjump"/>
            <a:extLst>
              <a:ext uri="{FF2B5EF4-FFF2-40B4-BE49-F238E27FC236}">
                <a16:creationId xmlns:a16="http://schemas.microsoft.com/office/drawing/2014/main" id="{4936A9B7-6273-40E1-A7D6-9289B64B04C6}"/>
              </a:ext>
            </a:extLst>
          </p:cNvPr>
          <p:cNvSpPr txBox="1"/>
          <p:nvPr>
            <p:custDataLst>
              <p:tags r:id="rId14"/>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1.4</a:t>
            </a:r>
          </a:p>
        </p:txBody>
      </p:sp>
      <p:sp>
        <p:nvSpPr>
          <p:cNvPr id="17" name="TextBox 16">
            <a:hlinkClick r:id="rId29" action="ppaction://hlinksldjump"/>
            <a:extLst>
              <a:ext uri="{FF2B5EF4-FFF2-40B4-BE49-F238E27FC236}">
                <a16:creationId xmlns:a16="http://schemas.microsoft.com/office/drawing/2014/main" id="{C75AB8F0-EC24-4412-894F-FA84DD865DEB}"/>
              </a:ext>
            </a:extLst>
          </p:cNvPr>
          <p:cNvSpPr txBox="1"/>
          <p:nvPr>
            <p:custDataLst>
              <p:tags r:id="rId15"/>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1.5</a:t>
            </a:r>
          </a:p>
        </p:txBody>
      </p:sp>
      <p:sp>
        <p:nvSpPr>
          <p:cNvPr id="18" name="TextBox 17">
            <a:hlinkClick r:id="rId30" action="ppaction://hlinksldjump"/>
            <a:extLst>
              <a:ext uri="{FF2B5EF4-FFF2-40B4-BE49-F238E27FC236}">
                <a16:creationId xmlns:a16="http://schemas.microsoft.com/office/drawing/2014/main" id="{81A31BAC-D3A0-4615-A23B-7BC773C7EC0B}"/>
              </a:ext>
            </a:extLst>
          </p:cNvPr>
          <p:cNvSpPr txBox="1"/>
          <p:nvPr>
            <p:custDataLst>
              <p:tags r:id="rId16"/>
            </p:custDataLst>
          </p:nvPr>
        </p:nvSpPr>
        <p:spPr bwMode="auto">
          <a:xfrm>
            <a:off x="1303409" y="5303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1.6</a:t>
            </a:r>
          </a:p>
        </p:txBody>
      </p:sp>
      <p:sp>
        <p:nvSpPr>
          <p:cNvPr id="19" name="TextBox 18">
            <a:hlinkClick r:id="rId25" action="ppaction://hlinksldjump"/>
            <a:extLst>
              <a:ext uri="{FF2B5EF4-FFF2-40B4-BE49-F238E27FC236}">
                <a16:creationId xmlns:a16="http://schemas.microsoft.com/office/drawing/2014/main" id="{E6B20727-553F-41B7-B4C1-EB42B3394955}"/>
              </a:ext>
            </a:extLst>
          </p:cNvPr>
          <p:cNvSpPr txBox="1"/>
          <p:nvPr>
            <p:custDataLst>
              <p:tags r:id="rId17"/>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a:t>
            </a:r>
          </a:p>
        </p:txBody>
      </p:sp>
      <p:sp>
        <p:nvSpPr>
          <p:cNvPr id="20" name="TextBox 19">
            <a:hlinkClick r:id="rId26" action="ppaction://hlinksldjump"/>
            <a:extLst>
              <a:ext uri="{FF2B5EF4-FFF2-40B4-BE49-F238E27FC236}">
                <a16:creationId xmlns:a16="http://schemas.microsoft.com/office/drawing/2014/main" id="{D50ECB46-5B18-454C-80B5-A1C93990EE80}"/>
              </a:ext>
            </a:extLst>
          </p:cNvPr>
          <p:cNvSpPr txBox="1"/>
          <p:nvPr>
            <p:custDataLst>
              <p:tags r:id="rId18"/>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8</a:t>
            </a:r>
          </a:p>
        </p:txBody>
      </p:sp>
      <p:sp>
        <p:nvSpPr>
          <p:cNvPr id="21" name="TextBox 20">
            <a:hlinkClick r:id="rId27" action="ppaction://hlinksldjump"/>
            <a:extLst>
              <a:ext uri="{FF2B5EF4-FFF2-40B4-BE49-F238E27FC236}">
                <a16:creationId xmlns:a16="http://schemas.microsoft.com/office/drawing/2014/main" id="{3D1A2855-B533-4A1B-BE78-8BFB0C40F3DA}"/>
              </a:ext>
            </a:extLst>
          </p:cNvPr>
          <p:cNvSpPr txBox="1"/>
          <p:nvPr>
            <p:custDataLst>
              <p:tags r:id="rId19"/>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9</a:t>
            </a:r>
          </a:p>
        </p:txBody>
      </p:sp>
      <p:sp>
        <p:nvSpPr>
          <p:cNvPr id="22" name="TextBox 21">
            <a:hlinkClick r:id="rId28" action="ppaction://hlinksldjump"/>
            <a:extLst>
              <a:ext uri="{FF2B5EF4-FFF2-40B4-BE49-F238E27FC236}">
                <a16:creationId xmlns:a16="http://schemas.microsoft.com/office/drawing/2014/main" id="{4B0F2BCB-B4EE-4355-9505-348D9C9A3FB0}"/>
              </a:ext>
            </a:extLst>
          </p:cNvPr>
          <p:cNvSpPr txBox="1"/>
          <p:nvPr>
            <p:custDataLst>
              <p:tags r:id="rId20"/>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11</a:t>
            </a:r>
          </a:p>
        </p:txBody>
      </p:sp>
      <p:sp>
        <p:nvSpPr>
          <p:cNvPr id="32" name="TextBox 31">
            <a:hlinkClick r:id="rId29" action="ppaction://hlinksldjump"/>
            <a:extLst>
              <a:ext uri="{FF2B5EF4-FFF2-40B4-BE49-F238E27FC236}">
                <a16:creationId xmlns:a16="http://schemas.microsoft.com/office/drawing/2014/main" id="{9868B669-D39C-421E-BAE6-E376723A4225}"/>
              </a:ext>
            </a:extLst>
          </p:cNvPr>
          <p:cNvSpPr txBox="1"/>
          <p:nvPr>
            <p:custDataLst>
              <p:tags r:id="rId21"/>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12</a:t>
            </a:r>
          </a:p>
        </p:txBody>
      </p:sp>
      <p:sp>
        <p:nvSpPr>
          <p:cNvPr id="33" name="TextBox 32">
            <a:hlinkClick r:id="rId30" action="ppaction://hlinksldjump"/>
            <a:extLst>
              <a:ext uri="{FF2B5EF4-FFF2-40B4-BE49-F238E27FC236}">
                <a16:creationId xmlns:a16="http://schemas.microsoft.com/office/drawing/2014/main" id="{1205614B-6D22-4EA8-8831-0BD1FF807DC8}"/>
              </a:ext>
            </a:extLst>
          </p:cNvPr>
          <p:cNvSpPr txBox="1"/>
          <p:nvPr>
            <p:custDataLst>
              <p:tags r:id="rId22"/>
            </p:custDataLst>
          </p:nvPr>
        </p:nvSpPr>
        <p:spPr>
          <a:xfrm>
            <a:off x="7004859" y="5303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16</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extLst>
              <p:ext uri="{D42A27DB-BD31-4B8C-83A1-F6EECF244321}">
                <p14:modId xmlns:p14="http://schemas.microsoft.com/office/powerpoint/2010/main" val="809032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Business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Business overview</a:t>
            </a:r>
            <a:endParaRPr lang="en-US" sz="1600" dirty="0">
              <a:solidFill>
                <a:schemeClr val="bg1"/>
              </a:solidFill>
            </a:endParaRPr>
          </a:p>
        </p:txBody>
      </p:sp>
      <p:sp>
        <p:nvSpPr>
          <p:cNvPr id="15" name="TextBox 14">
            <a:extLst>
              <a:ext uri="{FF2B5EF4-FFF2-40B4-BE49-F238E27FC236}">
                <a16:creationId xmlns:a16="http://schemas.microsoft.com/office/drawing/2014/main" id="{A6CD8178-5D45-A60E-7015-84F6A30CD54E}"/>
              </a:ext>
            </a:extLst>
          </p:cNvPr>
          <p:cNvSpPr txBox="1">
            <a:spLocks/>
          </p:cNvSpPr>
          <p:nvPr/>
        </p:nvSpPr>
        <p:spPr>
          <a:xfrm>
            <a:off x="998400" y="2949796"/>
            <a:ext cx="4219935" cy="369332"/>
          </a:xfrm>
          <a:prstGeom prst="rect">
            <a:avLst/>
          </a:prstGeom>
          <a:noFill/>
        </p:spPr>
        <p:txBody>
          <a:bodyPr wrap="square" lIns="0" tIns="0" rIns="0" bIns="0">
            <a:spAutoFit/>
          </a:bodyPr>
          <a:lstStyle/>
          <a:p>
            <a:r>
              <a:rPr lang="en-US" sz="2400" b="1" dirty="0">
                <a:solidFill>
                  <a:schemeClr val="accent1"/>
                </a:solidFill>
                <a:latin typeface="+mj-lt"/>
              </a:rPr>
              <a:t>Company overview</a:t>
            </a:r>
          </a:p>
        </p:txBody>
      </p:sp>
      <p:sp>
        <p:nvSpPr>
          <p:cNvPr id="16" name="TextBox 15">
            <a:extLst>
              <a:ext uri="{FF2B5EF4-FFF2-40B4-BE49-F238E27FC236}">
                <a16:creationId xmlns:a16="http://schemas.microsoft.com/office/drawing/2014/main" id="{98EE6537-8C20-A87B-3CC8-FD592EA19D01}"/>
              </a:ext>
            </a:extLst>
          </p:cNvPr>
          <p:cNvSpPr txBox="1">
            <a:spLocks/>
          </p:cNvSpPr>
          <p:nvPr/>
        </p:nvSpPr>
        <p:spPr>
          <a:xfrm>
            <a:off x="1040165" y="3359703"/>
            <a:ext cx="4854931" cy="2616101"/>
          </a:xfrm>
          <a:prstGeom prst="rect">
            <a:avLst/>
          </a:prstGeom>
          <a:noFill/>
        </p:spPr>
        <p:txBody>
          <a:bodyPr wrap="square" lIns="0" tIns="0" rIns="0" bIns="0">
            <a:spAutoFit/>
          </a:bodyPr>
          <a:lstStyle/>
          <a:p>
            <a:pPr marL="0" lvl="2" indent="0">
              <a:buNone/>
            </a:pPr>
            <a:r>
              <a:rPr lang="en-GB" sz="1000" dirty="0"/>
              <a:t>[Target] operates mainly from one site at [Location 1] as well as a smaller storage facility located in [Location 2] . We have not visited these premises during the course of our work, however conducted the bulk of our field work through analysing the documents uploaded into the vendors’ data room and through discussions with the Management team.</a:t>
            </a:r>
          </a:p>
          <a:p>
            <a:pPr marL="0" lvl="2" indent="0">
              <a:buNone/>
            </a:pPr>
            <a:r>
              <a:rPr lang="en-GB" sz="1000" dirty="0"/>
              <a:t> </a:t>
            </a:r>
          </a:p>
          <a:p>
            <a:pPr marL="0" lvl="2" indent="0">
              <a:buNone/>
            </a:pPr>
            <a:r>
              <a:rPr lang="en-GB" sz="1000" dirty="0"/>
              <a:t>The [Location 1] site is currently leased on a five year lease commencing Mar-21 from a related party landlord, [Landlord 1].</a:t>
            </a:r>
          </a:p>
          <a:p>
            <a:pPr marL="0" lvl="2" indent="0">
              <a:buNone/>
            </a:pPr>
            <a:r>
              <a:rPr lang="en-GB" sz="1000" dirty="0"/>
              <a:t> The business is managed by the Joint Managing Directors, [Shareholder 1] and [Shareholder 2] , with the support and oversight provided by [Shareholder 3] (Non-Executive Director). </a:t>
            </a:r>
          </a:p>
          <a:p>
            <a:pPr marL="0" lvl="2" indent="0">
              <a:buNone/>
            </a:pPr>
            <a:endParaRPr lang="en-GB" sz="1000" dirty="0"/>
          </a:p>
          <a:p>
            <a:pPr marL="0" lvl="2" indent="0">
              <a:buNone/>
            </a:pPr>
            <a:r>
              <a:rPr lang="en-GB" sz="1000" dirty="0"/>
              <a:t>Management notes that [Shareholder 3]’s involvement in the business has reduced over the Historical Period and he currently spends less than 0.5 working days within the business, providing strategic advice to the board. We understand post completion only [Shareholder 1] will be retained for a period of 12 months. The remaining directors/ shareholders will be exiting the business</a:t>
            </a:r>
            <a:endParaRPr lang="en-US" sz="1000" dirty="0">
              <a:latin typeface="Arial"/>
            </a:endParaRPr>
          </a:p>
        </p:txBody>
      </p:sp>
      <p:sp>
        <p:nvSpPr>
          <p:cNvPr id="17" name="Rectangle 16">
            <a:extLst>
              <a:ext uri="{FF2B5EF4-FFF2-40B4-BE49-F238E27FC236}">
                <a16:creationId xmlns:a16="http://schemas.microsoft.com/office/drawing/2014/main" id="{C8F9BAEB-039B-2F50-F8B6-7172293BB6E6}"/>
              </a:ext>
            </a:extLst>
          </p:cNvPr>
          <p:cNvSpPr/>
          <p:nvPr/>
        </p:nvSpPr>
        <p:spPr>
          <a:xfrm>
            <a:off x="6246675" y="1330325"/>
            <a:ext cx="4953139" cy="4546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18" name="TextBox 17">
            <a:extLst>
              <a:ext uri="{FF2B5EF4-FFF2-40B4-BE49-F238E27FC236}">
                <a16:creationId xmlns:a16="http://schemas.microsoft.com/office/drawing/2014/main" id="{894E06B0-09C6-18B0-8B0F-76167C76DACC}"/>
              </a:ext>
            </a:extLst>
          </p:cNvPr>
          <p:cNvSpPr txBox="1">
            <a:spLocks/>
          </p:cNvSpPr>
          <p:nvPr/>
        </p:nvSpPr>
        <p:spPr bwMode="white">
          <a:xfrm>
            <a:off x="6472161" y="1368589"/>
            <a:ext cx="3869935" cy="318805"/>
          </a:xfrm>
          <a:prstGeom prst="rect">
            <a:avLst/>
          </a:prstGeom>
          <a:noFill/>
        </p:spPr>
        <p:txBody>
          <a:bodyPr wrap="square" lIns="0" tIns="0" rIns="0" bIns="0">
            <a:spAutoFit/>
          </a:bodyPr>
          <a:lstStyle/>
          <a:p>
            <a:pPr>
              <a:lnSpc>
                <a:spcPts val="2880"/>
              </a:lnSpc>
            </a:pPr>
            <a:r>
              <a:rPr lang="en-US" sz="2400" b="1" dirty="0">
                <a:solidFill>
                  <a:schemeClr val="bg1"/>
                </a:solidFill>
                <a:latin typeface="+mj-lt"/>
              </a:rPr>
              <a:t>Geographical footprint</a:t>
            </a:r>
          </a:p>
        </p:txBody>
      </p:sp>
      <p:grpSp>
        <p:nvGrpSpPr>
          <p:cNvPr id="19" name="Group 18">
            <a:extLst>
              <a:ext uri="{FF2B5EF4-FFF2-40B4-BE49-F238E27FC236}">
                <a16:creationId xmlns:a16="http://schemas.microsoft.com/office/drawing/2014/main" id="{5D8AB52C-45E3-80B2-FDBD-A5178873CD9C}"/>
              </a:ext>
            </a:extLst>
          </p:cNvPr>
          <p:cNvGrpSpPr/>
          <p:nvPr/>
        </p:nvGrpSpPr>
        <p:grpSpPr>
          <a:xfrm>
            <a:off x="7608398" y="1942399"/>
            <a:ext cx="2356593" cy="3728679"/>
            <a:chOff x="7671197" y="1942399"/>
            <a:chExt cx="2356593" cy="3728678"/>
          </a:xfrm>
          <a:solidFill>
            <a:schemeClr val="bg1"/>
          </a:solidFill>
        </p:grpSpPr>
        <p:grpSp>
          <p:nvGrpSpPr>
            <p:cNvPr id="20" name="Group 19">
              <a:extLst>
                <a:ext uri="{FF2B5EF4-FFF2-40B4-BE49-F238E27FC236}">
                  <a16:creationId xmlns:a16="http://schemas.microsoft.com/office/drawing/2014/main" id="{948046EB-6577-8783-D0FA-40040FF34D18}"/>
                </a:ext>
              </a:extLst>
            </p:cNvPr>
            <p:cNvGrpSpPr/>
            <p:nvPr/>
          </p:nvGrpSpPr>
          <p:grpSpPr>
            <a:xfrm>
              <a:off x="7671197" y="1942399"/>
              <a:ext cx="2356593" cy="3728678"/>
              <a:chOff x="-1830388" y="3668713"/>
              <a:chExt cx="2287588" cy="3619501"/>
            </a:xfrm>
            <a:grpFill/>
          </p:grpSpPr>
          <p:sp>
            <p:nvSpPr>
              <p:cNvPr id="28" name="Freeform 5">
                <a:extLst>
                  <a:ext uri="{FF2B5EF4-FFF2-40B4-BE49-F238E27FC236}">
                    <a16:creationId xmlns:a16="http://schemas.microsoft.com/office/drawing/2014/main" id="{7686AD8E-543B-0936-55D6-BF2FE4C8B751}"/>
                  </a:ext>
                </a:extLst>
              </p:cNvPr>
              <p:cNvSpPr>
                <a:spLocks/>
              </p:cNvSpPr>
              <p:nvPr/>
            </p:nvSpPr>
            <p:spPr bwMode="auto">
              <a:xfrm>
                <a:off x="-612775" y="3668713"/>
                <a:ext cx="14288" cy="19050"/>
              </a:xfrm>
              <a:custGeom>
                <a:avLst/>
                <a:gdLst>
                  <a:gd name="T0" fmla="*/ 2 w 4"/>
                  <a:gd name="T1" fmla="*/ 0 h 5"/>
                  <a:gd name="T2" fmla="*/ 4 w 4"/>
                  <a:gd name="T3" fmla="*/ 0 h 5"/>
                  <a:gd name="T4" fmla="*/ 4 w 4"/>
                  <a:gd name="T5" fmla="*/ 1 h 5"/>
                  <a:gd name="T6" fmla="*/ 4 w 4"/>
                  <a:gd name="T7" fmla="*/ 4 h 5"/>
                  <a:gd name="T8" fmla="*/ 3 w 4"/>
                  <a:gd name="T9" fmla="*/ 5 h 5"/>
                  <a:gd name="T10" fmla="*/ 1 w 4"/>
                  <a:gd name="T11" fmla="*/ 4 h 5"/>
                  <a:gd name="T12" fmla="*/ 0 w 4"/>
                  <a:gd name="T13" fmla="*/ 2 h 5"/>
                  <a:gd name="T14" fmla="*/ 2 w 4"/>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2" y="0"/>
                    </a:moveTo>
                    <a:cubicBezTo>
                      <a:pt x="3" y="0"/>
                      <a:pt x="3" y="0"/>
                      <a:pt x="4" y="0"/>
                    </a:cubicBezTo>
                    <a:cubicBezTo>
                      <a:pt x="4" y="0"/>
                      <a:pt x="4" y="0"/>
                      <a:pt x="4" y="1"/>
                    </a:cubicBezTo>
                    <a:cubicBezTo>
                      <a:pt x="4" y="2"/>
                      <a:pt x="4" y="3"/>
                      <a:pt x="4" y="4"/>
                    </a:cubicBezTo>
                    <a:cubicBezTo>
                      <a:pt x="3" y="4"/>
                      <a:pt x="3" y="4"/>
                      <a:pt x="3" y="5"/>
                    </a:cubicBezTo>
                    <a:cubicBezTo>
                      <a:pt x="2" y="4"/>
                      <a:pt x="2" y="4"/>
                      <a:pt x="1" y="4"/>
                    </a:cubicBezTo>
                    <a:cubicBezTo>
                      <a:pt x="0" y="4"/>
                      <a:pt x="0" y="3"/>
                      <a:pt x="0" y="2"/>
                    </a:cubicBezTo>
                    <a:cubicBezTo>
                      <a:pt x="1" y="1"/>
                      <a:pt x="1" y="0"/>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29" name="Freeform 6">
                <a:extLst>
                  <a:ext uri="{FF2B5EF4-FFF2-40B4-BE49-F238E27FC236}">
                    <a16:creationId xmlns:a16="http://schemas.microsoft.com/office/drawing/2014/main" id="{B1289803-66A9-56D0-41C9-22484774D2DC}"/>
                  </a:ext>
                </a:extLst>
              </p:cNvPr>
              <p:cNvSpPr>
                <a:spLocks/>
              </p:cNvSpPr>
              <p:nvPr/>
            </p:nvSpPr>
            <p:spPr bwMode="auto">
              <a:xfrm>
                <a:off x="-703263" y="3676651"/>
                <a:ext cx="7938" cy="22225"/>
              </a:xfrm>
              <a:custGeom>
                <a:avLst/>
                <a:gdLst>
                  <a:gd name="T0" fmla="*/ 1 w 2"/>
                  <a:gd name="T1" fmla="*/ 0 h 6"/>
                  <a:gd name="T2" fmla="*/ 2 w 2"/>
                  <a:gd name="T3" fmla="*/ 0 h 6"/>
                  <a:gd name="T4" fmla="*/ 2 w 2"/>
                  <a:gd name="T5" fmla="*/ 2 h 6"/>
                  <a:gd name="T6" fmla="*/ 2 w 2"/>
                  <a:gd name="T7" fmla="*/ 6 h 6"/>
                  <a:gd name="T8" fmla="*/ 1 w 2"/>
                  <a:gd name="T9" fmla="*/ 6 h 6"/>
                  <a:gd name="T10" fmla="*/ 0 w 2"/>
                  <a:gd name="T11" fmla="*/ 4 h 6"/>
                  <a:gd name="T12" fmla="*/ 1 w 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0"/>
                    </a:moveTo>
                    <a:cubicBezTo>
                      <a:pt x="2" y="0"/>
                      <a:pt x="2" y="0"/>
                      <a:pt x="2" y="0"/>
                    </a:cubicBezTo>
                    <a:cubicBezTo>
                      <a:pt x="2" y="1"/>
                      <a:pt x="2" y="1"/>
                      <a:pt x="2" y="2"/>
                    </a:cubicBezTo>
                    <a:cubicBezTo>
                      <a:pt x="2" y="3"/>
                      <a:pt x="2" y="4"/>
                      <a:pt x="2" y="6"/>
                    </a:cubicBezTo>
                    <a:cubicBezTo>
                      <a:pt x="2" y="6"/>
                      <a:pt x="1" y="6"/>
                      <a:pt x="1" y="6"/>
                    </a:cubicBezTo>
                    <a:cubicBezTo>
                      <a:pt x="0" y="5"/>
                      <a:pt x="0" y="5"/>
                      <a:pt x="0" y="4"/>
                    </a:cubicBezTo>
                    <a:cubicBezTo>
                      <a:pt x="0" y="3"/>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0" name="Freeform 7">
                <a:extLst>
                  <a:ext uri="{FF2B5EF4-FFF2-40B4-BE49-F238E27FC236}">
                    <a16:creationId xmlns:a16="http://schemas.microsoft.com/office/drawing/2014/main" id="{092AB346-8E1F-A6E3-19AC-F9D991B1A6D5}"/>
                  </a:ext>
                </a:extLst>
              </p:cNvPr>
              <p:cNvSpPr>
                <a:spLocks/>
              </p:cNvSpPr>
              <p:nvPr/>
            </p:nvSpPr>
            <p:spPr bwMode="auto">
              <a:xfrm>
                <a:off x="-733425" y="3684588"/>
                <a:ext cx="49213" cy="47625"/>
              </a:xfrm>
              <a:custGeom>
                <a:avLst/>
                <a:gdLst>
                  <a:gd name="T0" fmla="*/ 0 w 13"/>
                  <a:gd name="T1" fmla="*/ 3 h 13"/>
                  <a:gd name="T2" fmla="*/ 3 w 13"/>
                  <a:gd name="T3" fmla="*/ 3 h 13"/>
                  <a:gd name="T4" fmla="*/ 5 w 13"/>
                  <a:gd name="T5" fmla="*/ 0 h 13"/>
                  <a:gd name="T6" fmla="*/ 6 w 13"/>
                  <a:gd name="T7" fmla="*/ 0 h 13"/>
                  <a:gd name="T8" fmla="*/ 6 w 13"/>
                  <a:gd name="T9" fmla="*/ 3 h 13"/>
                  <a:gd name="T10" fmla="*/ 5 w 13"/>
                  <a:gd name="T11" fmla="*/ 5 h 13"/>
                  <a:gd name="T12" fmla="*/ 13 w 13"/>
                  <a:gd name="T13" fmla="*/ 10 h 13"/>
                  <a:gd name="T14" fmla="*/ 11 w 13"/>
                  <a:gd name="T15" fmla="*/ 13 h 13"/>
                  <a:gd name="T16" fmla="*/ 10 w 13"/>
                  <a:gd name="T17" fmla="*/ 13 h 13"/>
                  <a:gd name="T18" fmla="*/ 10 w 13"/>
                  <a:gd name="T19" fmla="*/ 12 h 13"/>
                  <a:gd name="T20" fmla="*/ 6 w 13"/>
                  <a:gd name="T21" fmla="*/ 9 h 13"/>
                  <a:gd name="T22" fmla="*/ 4 w 13"/>
                  <a:gd name="T23" fmla="*/ 10 h 13"/>
                  <a:gd name="T24" fmla="*/ 2 w 13"/>
                  <a:gd name="T25" fmla="*/ 9 h 13"/>
                  <a:gd name="T26" fmla="*/ 2 w 13"/>
                  <a:gd name="T27" fmla="*/ 7 h 13"/>
                  <a:gd name="T28" fmla="*/ 0 w 13"/>
                  <a:gd name="T29"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13">
                    <a:moveTo>
                      <a:pt x="0" y="3"/>
                    </a:moveTo>
                    <a:cubicBezTo>
                      <a:pt x="1" y="3"/>
                      <a:pt x="1" y="3"/>
                      <a:pt x="3" y="3"/>
                    </a:cubicBezTo>
                    <a:cubicBezTo>
                      <a:pt x="3" y="1"/>
                      <a:pt x="3" y="0"/>
                      <a:pt x="5" y="0"/>
                    </a:cubicBezTo>
                    <a:cubicBezTo>
                      <a:pt x="6" y="0"/>
                      <a:pt x="5" y="0"/>
                      <a:pt x="6" y="0"/>
                    </a:cubicBezTo>
                    <a:cubicBezTo>
                      <a:pt x="6" y="1"/>
                      <a:pt x="6" y="2"/>
                      <a:pt x="6" y="3"/>
                    </a:cubicBezTo>
                    <a:cubicBezTo>
                      <a:pt x="6" y="3"/>
                      <a:pt x="5" y="4"/>
                      <a:pt x="5" y="5"/>
                    </a:cubicBezTo>
                    <a:cubicBezTo>
                      <a:pt x="8" y="5"/>
                      <a:pt x="12" y="8"/>
                      <a:pt x="13" y="10"/>
                    </a:cubicBezTo>
                    <a:cubicBezTo>
                      <a:pt x="12" y="11"/>
                      <a:pt x="11" y="12"/>
                      <a:pt x="11" y="13"/>
                    </a:cubicBezTo>
                    <a:cubicBezTo>
                      <a:pt x="11" y="13"/>
                      <a:pt x="11" y="13"/>
                      <a:pt x="10" y="13"/>
                    </a:cubicBezTo>
                    <a:cubicBezTo>
                      <a:pt x="10" y="13"/>
                      <a:pt x="10" y="13"/>
                      <a:pt x="10" y="12"/>
                    </a:cubicBezTo>
                    <a:cubicBezTo>
                      <a:pt x="9" y="11"/>
                      <a:pt x="9" y="9"/>
                      <a:pt x="6" y="9"/>
                    </a:cubicBezTo>
                    <a:cubicBezTo>
                      <a:pt x="5" y="10"/>
                      <a:pt x="5" y="10"/>
                      <a:pt x="4" y="10"/>
                    </a:cubicBezTo>
                    <a:cubicBezTo>
                      <a:pt x="3" y="10"/>
                      <a:pt x="2" y="9"/>
                      <a:pt x="2" y="9"/>
                    </a:cubicBezTo>
                    <a:cubicBezTo>
                      <a:pt x="2" y="8"/>
                      <a:pt x="2" y="7"/>
                      <a:pt x="2" y="7"/>
                    </a:cubicBezTo>
                    <a:cubicBezTo>
                      <a:pt x="1" y="5"/>
                      <a:pt x="0" y="5"/>
                      <a:pt x="0" y="3"/>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1" name="Freeform 8">
                <a:extLst>
                  <a:ext uri="{FF2B5EF4-FFF2-40B4-BE49-F238E27FC236}">
                    <a16:creationId xmlns:a16="http://schemas.microsoft.com/office/drawing/2014/main" id="{652BB3A2-B490-D8C3-C627-30B169D0E485}"/>
                  </a:ext>
                </a:extLst>
              </p:cNvPr>
              <p:cNvSpPr>
                <a:spLocks/>
              </p:cNvSpPr>
              <p:nvPr/>
            </p:nvSpPr>
            <p:spPr bwMode="auto">
              <a:xfrm>
                <a:off x="-661988" y="3698876"/>
                <a:ext cx="63500" cy="49213"/>
              </a:xfrm>
              <a:custGeom>
                <a:avLst/>
                <a:gdLst>
                  <a:gd name="T0" fmla="*/ 15 w 17"/>
                  <a:gd name="T1" fmla="*/ 0 h 13"/>
                  <a:gd name="T2" fmla="*/ 16 w 17"/>
                  <a:gd name="T3" fmla="*/ 3 h 13"/>
                  <a:gd name="T4" fmla="*/ 16 w 17"/>
                  <a:gd name="T5" fmla="*/ 3 h 13"/>
                  <a:gd name="T6" fmla="*/ 16 w 17"/>
                  <a:gd name="T7" fmla="*/ 4 h 13"/>
                  <a:gd name="T8" fmla="*/ 13 w 17"/>
                  <a:gd name="T9" fmla="*/ 4 h 13"/>
                  <a:gd name="T10" fmla="*/ 9 w 17"/>
                  <a:gd name="T11" fmla="*/ 7 h 13"/>
                  <a:gd name="T12" fmla="*/ 8 w 17"/>
                  <a:gd name="T13" fmla="*/ 9 h 13"/>
                  <a:gd name="T14" fmla="*/ 5 w 17"/>
                  <a:gd name="T15" fmla="*/ 8 h 13"/>
                  <a:gd name="T16" fmla="*/ 2 w 17"/>
                  <a:gd name="T17" fmla="*/ 13 h 13"/>
                  <a:gd name="T18" fmla="*/ 1 w 17"/>
                  <a:gd name="T19" fmla="*/ 13 h 13"/>
                  <a:gd name="T20" fmla="*/ 0 w 17"/>
                  <a:gd name="T21" fmla="*/ 10 h 13"/>
                  <a:gd name="T22" fmla="*/ 5 w 17"/>
                  <a:gd name="T23" fmla="*/ 6 h 13"/>
                  <a:gd name="T24" fmla="*/ 5 w 17"/>
                  <a:gd name="T25" fmla="*/ 3 h 13"/>
                  <a:gd name="T26" fmla="*/ 9 w 17"/>
                  <a:gd name="T27" fmla="*/ 1 h 13"/>
                  <a:gd name="T28" fmla="*/ 10 w 17"/>
                  <a:gd name="T29" fmla="*/ 2 h 13"/>
                  <a:gd name="T30" fmla="*/ 8 w 17"/>
                  <a:gd name="T31" fmla="*/ 4 h 13"/>
                  <a:gd name="T32" fmla="*/ 10 w 17"/>
                  <a:gd name="T33" fmla="*/ 4 h 13"/>
                  <a:gd name="T34" fmla="*/ 15 w 17"/>
                  <a:gd name="T3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 h="13">
                    <a:moveTo>
                      <a:pt x="15" y="0"/>
                    </a:moveTo>
                    <a:cubicBezTo>
                      <a:pt x="17" y="0"/>
                      <a:pt x="16" y="1"/>
                      <a:pt x="16" y="3"/>
                    </a:cubicBezTo>
                    <a:cubicBezTo>
                      <a:pt x="16" y="3"/>
                      <a:pt x="16" y="3"/>
                      <a:pt x="16" y="3"/>
                    </a:cubicBezTo>
                    <a:cubicBezTo>
                      <a:pt x="16" y="3"/>
                      <a:pt x="16" y="3"/>
                      <a:pt x="16" y="4"/>
                    </a:cubicBezTo>
                    <a:cubicBezTo>
                      <a:pt x="15" y="4"/>
                      <a:pt x="14" y="4"/>
                      <a:pt x="13" y="4"/>
                    </a:cubicBezTo>
                    <a:cubicBezTo>
                      <a:pt x="12" y="6"/>
                      <a:pt x="12" y="8"/>
                      <a:pt x="9" y="7"/>
                    </a:cubicBezTo>
                    <a:cubicBezTo>
                      <a:pt x="9" y="8"/>
                      <a:pt x="8" y="9"/>
                      <a:pt x="8" y="9"/>
                    </a:cubicBezTo>
                    <a:cubicBezTo>
                      <a:pt x="7" y="9"/>
                      <a:pt x="7" y="9"/>
                      <a:pt x="5" y="8"/>
                    </a:cubicBezTo>
                    <a:cubicBezTo>
                      <a:pt x="4" y="10"/>
                      <a:pt x="3" y="12"/>
                      <a:pt x="2" y="13"/>
                    </a:cubicBezTo>
                    <a:cubicBezTo>
                      <a:pt x="1" y="13"/>
                      <a:pt x="2" y="13"/>
                      <a:pt x="1" y="13"/>
                    </a:cubicBezTo>
                    <a:cubicBezTo>
                      <a:pt x="0" y="12"/>
                      <a:pt x="0" y="11"/>
                      <a:pt x="0" y="10"/>
                    </a:cubicBezTo>
                    <a:cubicBezTo>
                      <a:pt x="1" y="9"/>
                      <a:pt x="4" y="6"/>
                      <a:pt x="5" y="6"/>
                    </a:cubicBezTo>
                    <a:cubicBezTo>
                      <a:pt x="5" y="5"/>
                      <a:pt x="5" y="4"/>
                      <a:pt x="5" y="3"/>
                    </a:cubicBezTo>
                    <a:cubicBezTo>
                      <a:pt x="5" y="2"/>
                      <a:pt x="7" y="1"/>
                      <a:pt x="9" y="1"/>
                    </a:cubicBezTo>
                    <a:cubicBezTo>
                      <a:pt x="10" y="1"/>
                      <a:pt x="10" y="1"/>
                      <a:pt x="10" y="2"/>
                    </a:cubicBezTo>
                    <a:cubicBezTo>
                      <a:pt x="9" y="2"/>
                      <a:pt x="9" y="3"/>
                      <a:pt x="8" y="4"/>
                    </a:cubicBezTo>
                    <a:cubicBezTo>
                      <a:pt x="9" y="4"/>
                      <a:pt x="9" y="4"/>
                      <a:pt x="10" y="4"/>
                    </a:cubicBezTo>
                    <a:cubicBezTo>
                      <a:pt x="11" y="2"/>
                      <a:pt x="14" y="1"/>
                      <a:pt x="15"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2" name="Freeform 9">
                <a:extLst>
                  <a:ext uri="{FF2B5EF4-FFF2-40B4-BE49-F238E27FC236}">
                    <a16:creationId xmlns:a16="http://schemas.microsoft.com/office/drawing/2014/main" id="{0470F596-45A9-1DD0-54EF-2221DBF9F652}"/>
                  </a:ext>
                </a:extLst>
              </p:cNvPr>
              <p:cNvSpPr>
                <a:spLocks/>
              </p:cNvSpPr>
              <p:nvPr/>
            </p:nvSpPr>
            <p:spPr bwMode="auto">
              <a:xfrm>
                <a:off x="-688975" y="3721101"/>
                <a:ext cx="23813" cy="46038"/>
              </a:xfrm>
              <a:custGeom>
                <a:avLst/>
                <a:gdLst>
                  <a:gd name="T0" fmla="*/ 3 w 6"/>
                  <a:gd name="T1" fmla="*/ 0 h 12"/>
                  <a:gd name="T2" fmla="*/ 4 w 6"/>
                  <a:gd name="T3" fmla="*/ 0 h 12"/>
                  <a:gd name="T4" fmla="*/ 6 w 6"/>
                  <a:gd name="T5" fmla="*/ 4 h 12"/>
                  <a:gd name="T6" fmla="*/ 5 w 6"/>
                  <a:gd name="T7" fmla="*/ 11 h 12"/>
                  <a:gd name="T8" fmla="*/ 3 w 6"/>
                  <a:gd name="T9" fmla="*/ 12 h 12"/>
                  <a:gd name="T10" fmla="*/ 3 w 6"/>
                  <a:gd name="T11" fmla="*/ 12 h 12"/>
                  <a:gd name="T12" fmla="*/ 0 w 6"/>
                  <a:gd name="T13" fmla="*/ 8 h 12"/>
                  <a:gd name="T14" fmla="*/ 2 w 6"/>
                  <a:gd name="T15" fmla="*/ 5 h 12"/>
                  <a:gd name="T16" fmla="*/ 0 w 6"/>
                  <a:gd name="T17" fmla="*/ 4 h 12"/>
                  <a:gd name="T18" fmla="*/ 3 w 6"/>
                  <a:gd name="T19"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12">
                    <a:moveTo>
                      <a:pt x="3" y="0"/>
                    </a:moveTo>
                    <a:cubicBezTo>
                      <a:pt x="3" y="0"/>
                      <a:pt x="4" y="0"/>
                      <a:pt x="4" y="0"/>
                    </a:cubicBezTo>
                    <a:cubicBezTo>
                      <a:pt x="5" y="2"/>
                      <a:pt x="6" y="2"/>
                      <a:pt x="6" y="4"/>
                    </a:cubicBezTo>
                    <a:cubicBezTo>
                      <a:pt x="4" y="7"/>
                      <a:pt x="6" y="10"/>
                      <a:pt x="5" y="11"/>
                    </a:cubicBezTo>
                    <a:cubicBezTo>
                      <a:pt x="5" y="12"/>
                      <a:pt x="4" y="12"/>
                      <a:pt x="3" y="12"/>
                    </a:cubicBezTo>
                    <a:cubicBezTo>
                      <a:pt x="3" y="12"/>
                      <a:pt x="3" y="12"/>
                      <a:pt x="3" y="12"/>
                    </a:cubicBezTo>
                    <a:cubicBezTo>
                      <a:pt x="2" y="11"/>
                      <a:pt x="1" y="10"/>
                      <a:pt x="0" y="8"/>
                    </a:cubicBezTo>
                    <a:cubicBezTo>
                      <a:pt x="2" y="8"/>
                      <a:pt x="2" y="7"/>
                      <a:pt x="2" y="5"/>
                    </a:cubicBezTo>
                    <a:cubicBezTo>
                      <a:pt x="1" y="5"/>
                      <a:pt x="1" y="5"/>
                      <a:pt x="0" y="4"/>
                    </a:cubicBezTo>
                    <a:cubicBezTo>
                      <a:pt x="2" y="3"/>
                      <a:pt x="2" y="2"/>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3" name="Freeform 10">
                <a:extLst>
                  <a:ext uri="{FF2B5EF4-FFF2-40B4-BE49-F238E27FC236}">
                    <a16:creationId xmlns:a16="http://schemas.microsoft.com/office/drawing/2014/main" id="{70F98CFB-2F5F-2AE0-F891-0474DF32578E}"/>
                  </a:ext>
                </a:extLst>
              </p:cNvPr>
              <p:cNvSpPr>
                <a:spLocks/>
              </p:cNvSpPr>
              <p:nvPr/>
            </p:nvSpPr>
            <p:spPr bwMode="auto">
              <a:xfrm>
                <a:off x="-744538" y="3743326"/>
                <a:ext cx="44450" cy="34925"/>
              </a:xfrm>
              <a:custGeom>
                <a:avLst/>
                <a:gdLst>
                  <a:gd name="T0" fmla="*/ 7 w 12"/>
                  <a:gd name="T1" fmla="*/ 0 h 9"/>
                  <a:gd name="T2" fmla="*/ 8 w 12"/>
                  <a:gd name="T3" fmla="*/ 0 h 9"/>
                  <a:gd name="T4" fmla="*/ 12 w 12"/>
                  <a:gd name="T5" fmla="*/ 7 h 9"/>
                  <a:gd name="T6" fmla="*/ 7 w 12"/>
                  <a:gd name="T7" fmla="*/ 9 h 9"/>
                  <a:gd name="T8" fmla="*/ 0 w 12"/>
                  <a:gd name="T9" fmla="*/ 3 h 9"/>
                  <a:gd name="T10" fmla="*/ 0 w 12"/>
                  <a:gd name="T11" fmla="*/ 2 h 9"/>
                  <a:gd name="T12" fmla="*/ 2 w 12"/>
                  <a:gd name="T13" fmla="*/ 0 h 9"/>
                  <a:gd name="T14" fmla="*/ 6 w 12"/>
                  <a:gd name="T15" fmla="*/ 1 h 9"/>
                  <a:gd name="T16" fmla="*/ 7 w 12"/>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9">
                    <a:moveTo>
                      <a:pt x="7" y="0"/>
                    </a:moveTo>
                    <a:cubicBezTo>
                      <a:pt x="7" y="0"/>
                      <a:pt x="7" y="0"/>
                      <a:pt x="8" y="0"/>
                    </a:cubicBezTo>
                    <a:cubicBezTo>
                      <a:pt x="9" y="3"/>
                      <a:pt x="12" y="2"/>
                      <a:pt x="12" y="7"/>
                    </a:cubicBezTo>
                    <a:cubicBezTo>
                      <a:pt x="10" y="8"/>
                      <a:pt x="10" y="9"/>
                      <a:pt x="7" y="9"/>
                    </a:cubicBezTo>
                    <a:cubicBezTo>
                      <a:pt x="4" y="7"/>
                      <a:pt x="1" y="7"/>
                      <a:pt x="0" y="3"/>
                    </a:cubicBezTo>
                    <a:cubicBezTo>
                      <a:pt x="0" y="3"/>
                      <a:pt x="0" y="3"/>
                      <a:pt x="0" y="2"/>
                    </a:cubicBezTo>
                    <a:cubicBezTo>
                      <a:pt x="1" y="2"/>
                      <a:pt x="2" y="1"/>
                      <a:pt x="2" y="0"/>
                    </a:cubicBezTo>
                    <a:cubicBezTo>
                      <a:pt x="4" y="1"/>
                      <a:pt x="5" y="1"/>
                      <a:pt x="6" y="1"/>
                    </a:cubicBezTo>
                    <a:cubicBezTo>
                      <a:pt x="6" y="1"/>
                      <a:pt x="6" y="1"/>
                      <a:pt x="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4" name="Freeform 11">
                <a:extLst>
                  <a:ext uri="{FF2B5EF4-FFF2-40B4-BE49-F238E27FC236}">
                    <a16:creationId xmlns:a16="http://schemas.microsoft.com/office/drawing/2014/main" id="{5A1AD185-F058-E02E-D007-361E76EA9F87}"/>
                  </a:ext>
                </a:extLst>
              </p:cNvPr>
              <p:cNvSpPr>
                <a:spLocks/>
              </p:cNvSpPr>
              <p:nvPr/>
            </p:nvSpPr>
            <p:spPr bwMode="auto">
              <a:xfrm>
                <a:off x="-658813" y="3759201"/>
                <a:ext cx="34925" cy="38100"/>
              </a:xfrm>
              <a:custGeom>
                <a:avLst/>
                <a:gdLst>
                  <a:gd name="T0" fmla="*/ 2 w 9"/>
                  <a:gd name="T1" fmla="*/ 0 h 10"/>
                  <a:gd name="T2" fmla="*/ 6 w 9"/>
                  <a:gd name="T3" fmla="*/ 1 h 10"/>
                  <a:gd name="T4" fmla="*/ 6 w 9"/>
                  <a:gd name="T5" fmla="*/ 3 h 10"/>
                  <a:gd name="T6" fmla="*/ 8 w 9"/>
                  <a:gd name="T7" fmla="*/ 3 h 10"/>
                  <a:gd name="T8" fmla="*/ 9 w 9"/>
                  <a:gd name="T9" fmla="*/ 9 h 10"/>
                  <a:gd name="T10" fmla="*/ 8 w 9"/>
                  <a:gd name="T11" fmla="*/ 9 h 10"/>
                  <a:gd name="T12" fmla="*/ 4 w 9"/>
                  <a:gd name="T13" fmla="*/ 8 h 10"/>
                  <a:gd name="T14" fmla="*/ 1 w 9"/>
                  <a:gd name="T15" fmla="*/ 10 h 10"/>
                  <a:gd name="T16" fmla="*/ 1 w 9"/>
                  <a:gd name="T17" fmla="*/ 9 h 10"/>
                  <a:gd name="T18" fmla="*/ 0 w 9"/>
                  <a:gd name="T19" fmla="*/ 6 h 10"/>
                  <a:gd name="T20" fmla="*/ 3 w 9"/>
                  <a:gd name="T21" fmla="*/ 3 h 10"/>
                  <a:gd name="T22" fmla="*/ 2 w 9"/>
                  <a:gd name="T2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0">
                    <a:moveTo>
                      <a:pt x="2" y="0"/>
                    </a:moveTo>
                    <a:cubicBezTo>
                      <a:pt x="3" y="0"/>
                      <a:pt x="5" y="0"/>
                      <a:pt x="6" y="1"/>
                    </a:cubicBezTo>
                    <a:cubicBezTo>
                      <a:pt x="6" y="1"/>
                      <a:pt x="6" y="2"/>
                      <a:pt x="6" y="3"/>
                    </a:cubicBezTo>
                    <a:cubicBezTo>
                      <a:pt x="6" y="4"/>
                      <a:pt x="7" y="3"/>
                      <a:pt x="8" y="3"/>
                    </a:cubicBezTo>
                    <a:cubicBezTo>
                      <a:pt x="9" y="4"/>
                      <a:pt x="9" y="8"/>
                      <a:pt x="9" y="9"/>
                    </a:cubicBezTo>
                    <a:cubicBezTo>
                      <a:pt x="8" y="9"/>
                      <a:pt x="8" y="9"/>
                      <a:pt x="8" y="9"/>
                    </a:cubicBezTo>
                    <a:cubicBezTo>
                      <a:pt x="7" y="8"/>
                      <a:pt x="6" y="8"/>
                      <a:pt x="4" y="8"/>
                    </a:cubicBezTo>
                    <a:cubicBezTo>
                      <a:pt x="3" y="9"/>
                      <a:pt x="3" y="10"/>
                      <a:pt x="1" y="10"/>
                    </a:cubicBezTo>
                    <a:cubicBezTo>
                      <a:pt x="1" y="9"/>
                      <a:pt x="1" y="10"/>
                      <a:pt x="1" y="9"/>
                    </a:cubicBezTo>
                    <a:cubicBezTo>
                      <a:pt x="1" y="8"/>
                      <a:pt x="1" y="7"/>
                      <a:pt x="0" y="6"/>
                    </a:cubicBezTo>
                    <a:cubicBezTo>
                      <a:pt x="2" y="5"/>
                      <a:pt x="3" y="5"/>
                      <a:pt x="3" y="3"/>
                    </a:cubicBezTo>
                    <a:cubicBezTo>
                      <a:pt x="2" y="2"/>
                      <a:pt x="1" y="1"/>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5" name="Freeform 12">
                <a:extLst>
                  <a:ext uri="{FF2B5EF4-FFF2-40B4-BE49-F238E27FC236}">
                    <a16:creationId xmlns:a16="http://schemas.microsoft.com/office/drawing/2014/main" id="{944BD279-404E-B897-046F-3EDFFFC95F41}"/>
                  </a:ext>
                </a:extLst>
              </p:cNvPr>
              <p:cNvSpPr>
                <a:spLocks/>
              </p:cNvSpPr>
              <p:nvPr/>
            </p:nvSpPr>
            <p:spPr bwMode="auto">
              <a:xfrm>
                <a:off x="-793750" y="3762376"/>
                <a:ext cx="134938" cy="161925"/>
              </a:xfrm>
              <a:custGeom>
                <a:avLst/>
                <a:gdLst>
                  <a:gd name="T0" fmla="*/ 21 w 36"/>
                  <a:gd name="T1" fmla="*/ 42 h 43"/>
                  <a:gd name="T2" fmla="*/ 19 w 36"/>
                  <a:gd name="T3" fmla="*/ 34 h 43"/>
                  <a:gd name="T4" fmla="*/ 20 w 36"/>
                  <a:gd name="T5" fmla="*/ 32 h 43"/>
                  <a:gd name="T6" fmla="*/ 20 w 36"/>
                  <a:gd name="T7" fmla="*/ 30 h 43"/>
                  <a:gd name="T8" fmla="*/ 20 w 36"/>
                  <a:gd name="T9" fmla="*/ 23 h 43"/>
                  <a:gd name="T10" fmla="*/ 17 w 36"/>
                  <a:gd name="T11" fmla="*/ 23 h 43"/>
                  <a:gd name="T12" fmla="*/ 15 w 36"/>
                  <a:gd name="T13" fmla="*/ 25 h 43"/>
                  <a:gd name="T14" fmla="*/ 12 w 36"/>
                  <a:gd name="T15" fmla="*/ 26 h 43"/>
                  <a:gd name="T16" fmla="*/ 9 w 36"/>
                  <a:gd name="T17" fmla="*/ 24 h 43"/>
                  <a:gd name="T18" fmla="*/ 8 w 36"/>
                  <a:gd name="T19" fmla="*/ 18 h 43"/>
                  <a:gd name="T20" fmla="*/ 7 w 36"/>
                  <a:gd name="T21" fmla="*/ 17 h 43"/>
                  <a:gd name="T22" fmla="*/ 4 w 36"/>
                  <a:gd name="T23" fmla="*/ 21 h 43"/>
                  <a:gd name="T24" fmla="*/ 1 w 36"/>
                  <a:gd name="T25" fmla="*/ 20 h 43"/>
                  <a:gd name="T26" fmla="*/ 2 w 36"/>
                  <a:gd name="T27" fmla="*/ 4 h 43"/>
                  <a:gd name="T28" fmla="*/ 11 w 36"/>
                  <a:gd name="T29" fmla="*/ 0 h 43"/>
                  <a:gd name="T30" fmla="*/ 15 w 36"/>
                  <a:gd name="T31" fmla="*/ 2 h 43"/>
                  <a:gd name="T32" fmla="*/ 20 w 36"/>
                  <a:gd name="T33" fmla="*/ 10 h 43"/>
                  <a:gd name="T34" fmla="*/ 16 w 36"/>
                  <a:gd name="T35" fmla="*/ 16 h 43"/>
                  <a:gd name="T36" fmla="*/ 17 w 36"/>
                  <a:gd name="T37" fmla="*/ 16 h 43"/>
                  <a:gd name="T38" fmla="*/ 21 w 36"/>
                  <a:gd name="T39" fmla="*/ 14 h 43"/>
                  <a:gd name="T40" fmla="*/ 28 w 36"/>
                  <a:gd name="T41" fmla="*/ 17 h 43"/>
                  <a:gd name="T42" fmla="*/ 31 w 36"/>
                  <a:gd name="T43" fmla="*/ 16 h 43"/>
                  <a:gd name="T44" fmla="*/ 32 w 36"/>
                  <a:gd name="T45" fmla="*/ 17 h 43"/>
                  <a:gd name="T46" fmla="*/ 30 w 36"/>
                  <a:gd name="T47" fmla="*/ 21 h 43"/>
                  <a:gd name="T48" fmla="*/ 32 w 36"/>
                  <a:gd name="T49" fmla="*/ 22 h 43"/>
                  <a:gd name="T50" fmla="*/ 35 w 36"/>
                  <a:gd name="T51" fmla="*/ 18 h 43"/>
                  <a:gd name="T52" fmla="*/ 35 w 36"/>
                  <a:gd name="T53" fmla="*/ 18 h 43"/>
                  <a:gd name="T54" fmla="*/ 36 w 36"/>
                  <a:gd name="T55" fmla="*/ 24 h 43"/>
                  <a:gd name="T56" fmla="*/ 32 w 36"/>
                  <a:gd name="T57" fmla="*/ 25 h 43"/>
                  <a:gd name="T58" fmla="*/ 27 w 36"/>
                  <a:gd name="T59" fmla="*/ 28 h 43"/>
                  <a:gd name="T60" fmla="*/ 27 w 36"/>
                  <a:gd name="T61" fmla="*/ 28 h 43"/>
                  <a:gd name="T62" fmla="*/ 26 w 36"/>
                  <a:gd name="T63" fmla="*/ 29 h 43"/>
                  <a:gd name="T64" fmla="*/ 28 w 36"/>
                  <a:gd name="T65" fmla="*/ 31 h 43"/>
                  <a:gd name="T66" fmla="*/ 27 w 36"/>
                  <a:gd name="T67" fmla="*/ 34 h 43"/>
                  <a:gd name="T68" fmla="*/ 26 w 36"/>
                  <a:gd name="T69" fmla="*/ 36 h 43"/>
                  <a:gd name="T70" fmla="*/ 26 w 36"/>
                  <a:gd name="T71" fmla="*/ 42 h 43"/>
                  <a:gd name="T72" fmla="*/ 24 w 36"/>
                  <a:gd name="T73" fmla="*/ 43 h 43"/>
                  <a:gd name="T74" fmla="*/ 21 w 36"/>
                  <a:gd name="T75"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43">
                    <a:moveTo>
                      <a:pt x="21" y="42"/>
                    </a:moveTo>
                    <a:cubicBezTo>
                      <a:pt x="21" y="39"/>
                      <a:pt x="19" y="37"/>
                      <a:pt x="19" y="34"/>
                    </a:cubicBezTo>
                    <a:cubicBezTo>
                      <a:pt x="19" y="33"/>
                      <a:pt x="20" y="33"/>
                      <a:pt x="20" y="32"/>
                    </a:cubicBezTo>
                    <a:cubicBezTo>
                      <a:pt x="20" y="31"/>
                      <a:pt x="20" y="31"/>
                      <a:pt x="20" y="30"/>
                    </a:cubicBezTo>
                    <a:cubicBezTo>
                      <a:pt x="20" y="27"/>
                      <a:pt x="20" y="25"/>
                      <a:pt x="20" y="23"/>
                    </a:cubicBezTo>
                    <a:cubicBezTo>
                      <a:pt x="19" y="23"/>
                      <a:pt x="18" y="23"/>
                      <a:pt x="17" y="23"/>
                    </a:cubicBezTo>
                    <a:cubicBezTo>
                      <a:pt x="16" y="24"/>
                      <a:pt x="15" y="24"/>
                      <a:pt x="15" y="25"/>
                    </a:cubicBezTo>
                    <a:cubicBezTo>
                      <a:pt x="14" y="26"/>
                      <a:pt x="16" y="27"/>
                      <a:pt x="12" y="26"/>
                    </a:cubicBezTo>
                    <a:cubicBezTo>
                      <a:pt x="11" y="26"/>
                      <a:pt x="9" y="25"/>
                      <a:pt x="9" y="24"/>
                    </a:cubicBezTo>
                    <a:cubicBezTo>
                      <a:pt x="7" y="22"/>
                      <a:pt x="8" y="20"/>
                      <a:pt x="8" y="18"/>
                    </a:cubicBezTo>
                    <a:cubicBezTo>
                      <a:pt x="8" y="18"/>
                      <a:pt x="8" y="17"/>
                      <a:pt x="7" y="17"/>
                    </a:cubicBezTo>
                    <a:cubicBezTo>
                      <a:pt x="6" y="19"/>
                      <a:pt x="6" y="21"/>
                      <a:pt x="4" y="21"/>
                    </a:cubicBezTo>
                    <a:cubicBezTo>
                      <a:pt x="3" y="21"/>
                      <a:pt x="1" y="20"/>
                      <a:pt x="1" y="20"/>
                    </a:cubicBezTo>
                    <a:cubicBezTo>
                      <a:pt x="0" y="18"/>
                      <a:pt x="1" y="6"/>
                      <a:pt x="2" y="4"/>
                    </a:cubicBezTo>
                    <a:cubicBezTo>
                      <a:pt x="4" y="2"/>
                      <a:pt x="6" y="0"/>
                      <a:pt x="11" y="0"/>
                    </a:cubicBezTo>
                    <a:cubicBezTo>
                      <a:pt x="12" y="1"/>
                      <a:pt x="14" y="1"/>
                      <a:pt x="15" y="2"/>
                    </a:cubicBezTo>
                    <a:cubicBezTo>
                      <a:pt x="17" y="4"/>
                      <a:pt x="20" y="7"/>
                      <a:pt x="20" y="10"/>
                    </a:cubicBezTo>
                    <a:cubicBezTo>
                      <a:pt x="18" y="11"/>
                      <a:pt x="16" y="13"/>
                      <a:pt x="16" y="16"/>
                    </a:cubicBezTo>
                    <a:cubicBezTo>
                      <a:pt x="16" y="16"/>
                      <a:pt x="16" y="16"/>
                      <a:pt x="17" y="16"/>
                    </a:cubicBezTo>
                    <a:cubicBezTo>
                      <a:pt x="18" y="15"/>
                      <a:pt x="20" y="14"/>
                      <a:pt x="21" y="14"/>
                    </a:cubicBezTo>
                    <a:cubicBezTo>
                      <a:pt x="22" y="16"/>
                      <a:pt x="24" y="17"/>
                      <a:pt x="28" y="17"/>
                    </a:cubicBezTo>
                    <a:cubicBezTo>
                      <a:pt x="29" y="16"/>
                      <a:pt x="30" y="16"/>
                      <a:pt x="31" y="16"/>
                    </a:cubicBezTo>
                    <a:cubicBezTo>
                      <a:pt x="32" y="16"/>
                      <a:pt x="32" y="16"/>
                      <a:pt x="32" y="17"/>
                    </a:cubicBezTo>
                    <a:cubicBezTo>
                      <a:pt x="31" y="18"/>
                      <a:pt x="30" y="20"/>
                      <a:pt x="30" y="21"/>
                    </a:cubicBezTo>
                    <a:cubicBezTo>
                      <a:pt x="30" y="21"/>
                      <a:pt x="31" y="22"/>
                      <a:pt x="32" y="22"/>
                    </a:cubicBezTo>
                    <a:cubicBezTo>
                      <a:pt x="32" y="20"/>
                      <a:pt x="34" y="18"/>
                      <a:pt x="35" y="18"/>
                    </a:cubicBezTo>
                    <a:cubicBezTo>
                      <a:pt x="35" y="18"/>
                      <a:pt x="35" y="18"/>
                      <a:pt x="35" y="18"/>
                    </a:cubicBezTo>
                    <a:cubicBezTo>
                      <a:pt x="36" y="19"/>
                      <a:pt x="36" y="22"/>
                      <a:pt x="36" y="24"/>
                    </a:cubicBezTo>
                    <a:cubicBezTo>
                      <a:pt x="35" y="24"/>
                      <a:pt x="33" y="24"/>
                      <a:pt x="32" y="25"/>
                    </a:cubicBezTo>
                    <a:cubicBezTo>
                      <a:pt x="31" y="27"/>
                      <a:pt x="31" y="28"/>
                      <a:pt x="27" y="28"/>
                    </a:cubicBezTo>
                    <a:cubicBezTo>
                      <a:pt x="27" y="27"/>
                      <a:pt x="27" y="28"/>
                      <a:pt x="27" y="28"/>
                    </a:cubicBezTo>
                    <a:cubicBezTo>
                      <a:pt x="26" y="28"/>
                      <a:pt x="26" y="28"/>
                      <a:pt x="26" y="29"/>
                    </a:cubicBezTo>
                    <a:cubicBezTo>
                      <a:pt x="27" y="30"/>
                      <a:pt x="28" y="30"/>
                      <a:pt x="28" y="31"/>
                    </a:cubicBezTo>
                    <a:cubicBezTo>
                      <a:pt x="27" y="32"/>
                      <a:pt x="28" y="33"/>
                      <a:pt x="27" y="34"/>
                    </a:cubicBezTo>
                    <a:cubicBezTo>
                      <a:pt x="27" y="35"/>
                      <a:pt x="26" y="35"/>
                      <a:pt x="26" y="36"/>
                    </a:cubicBezTo>
                    <a:cubicBezTo>
                      <a:pt x="26" y="37"/>
                      <a:pt x="26" y="40"/>
                      <a:pt x="26" y="42"/>
                    </a:cubicBezTo>
                    <a:cubicBezTo>
                      <a:pt x="25" y="42"/>
                      <a:pt x="25" y="43"/>
                      <a:pt x="24" y="43"/>
                    </a:cubicBezTo>
                    <a:cubicBezTo>
                      <a:pt x="23" y="42"/>
                      <a:pt x="23" y="42"/>
                      <a:pt x="21" y="42"/>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6" name="Freeform 13">
                <a:extLst>
                  <a:ext uri="{FF2B5EF4-FFF2-40B4-BE49-F238E27FC236}">
                    <a16:creationId xmlns:a16="http://schemas.microsoft.com/office/drawing/2014/main" id="{71AE8F06-29D4-16C9-8FBE-3D52FAEBBEA2}"/>
                  </a:ext>
                </a:extLst>
              </p:cNvPr>
              <p:cNvSpPr>
                <a:spLocks/>
              </p:cNvSpPr>
              <p:nvPr/>
            </p:nvSpPr>
            <p:spPr bwMode="auto">
              <a:xfrm>
                <a:off x="-703263" y="3789363"/>
                <a:ext cx="38100" cy="25400"/>
              </a:xfrm>
              <a:custGeom>
                <a:avLst/>
                <a:gdLst>
                  <a:gd name="T0" fmla="*/ 4 w 10"/>
                  <a:gd name="T1" fmla="*/ 0 h 7"/>
                  <a:gd name="T2" fmla="*/ 10 w 10"/>
                  <a:gd name="T3" fmla="*/ 6 h 7"/>
                  <a:gd name="T4" fmla="*/ 7 w 10"/>
                  <a:gd name="T5" fmla="*/ 7 h 7"/>
                  <a:gd name="T6" fmla="*/ 5 w 10"/>
                  <a:gd name="T7" fmla="*/ 6 h 7"/>
                  <a:gd name="T8" fmla="*/ 1 w 10"/>
                  <a:gd name="T9" fmla="*/ 6 h 7"/>
                  <a:gd name="T10" fmla="*/ 0 w 10"/>
                  <a:gd name="T11" fmla="*/ 3 h 7"/>
                  <a:gd name="T12" fmla="*/ 1 w 10"/>
                  <a:gd name="T13" fmla="*/ 2 h 7"/>
                  <a:gd name="T14" fmla="*/ 4 w 10"/>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7">
                    <a:moveTo>
                      <a:pt x="4" y="0"/>
                    </a:moveTo>
                    <a:cubicBezTo>
                      <a:pt x="8" y="0"/>
                      <a:pt x="10" y="2"/>
                      <a:pt x="10" y="6"/>
                    </a:cubicBezTo>
                    <a:cubicBezTo>
                      <a:pt x="9" y="6"/>
                      <a:pt x="8" y="7"/>
                      <a:pt x="7" y="7"/>
                    </a:cubicBezTo>
                    <a:cubicBezTo>
                      <a:pt x="6" y="7"/>
                      <a:pt x="6" y="6"/>
                      <a:pt x="5" y="6"/>
                    </a:cubicBezTo>
                    <a:cubicBezTo>
                      <a:pt x="5" y="6"/>
                      <a:pt x="3" y="6"/>
                      <a:pt x="1" y="6"/>
                    </a:cubicBezTo>
                    <a:cubicBezTo>
                      <a:pt x="0" y="5"/>
                      <a:pt x="0" y="5"/>
                      <a:pt x="0" y="3"/>
                    </a:cubicBezTo>
                    <a:cubicBezTo>
                      <a:pt x="0" y="3"/>
                      <a:pt x="0" y="2"/>
                      <a:pt x="1" y="2"/>
                    </a:cubicBezTo>
                    <a:cubicBezTo>
                      <a:pt x="2" y="1"/>
                      <a:pt x="3" y="2"/>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7" name="Freeform 14">
                <a:extLst>
                  <a:ext uri="{FF2B5EF4-FFF2-40B4-BE49-F238E27FC236}">
                    <a16:creationId xmlns:a16="http://schemas.microsoft.com/office/drawing/2014/main" id="{EB07EC7B-6F5E-4CC3-0A8B-8FF94CC4020E}"/>
                  </a:ext>
                </a:extLst>
              </p:cNvPr>
              <p:cNvSpPr>
                <a:spLocks/>
              </p:cNvSpPr>
              <p:nvPr/>
            </p:nvSpPr>
            <p:spPr bwMode="auto">
              <a:xfrm>
                <a:off x="-801688" y="3849688"/>
                <a:ext cx="71438" cy="63500"/>
              </a:xfrm>
              <a:custGeom>
                <a:avLst/>
                <a:gdLst>
                  <a:gd name="T0" fmla="*/ 3 w 19"/>
                  <a:gd name="T1" fmla="*/ 0 h 17"/>
                  <a:gd name="T2" fmla="*/ 6 w 19"/>
                  <a:gd name="T3" fmla="*/ 0 h 17"/>
                  <a:gd name="T4" fmla="*/ 10 w 19"/>
                  <a:gd name="T5" fmla="*/ 3 h 17"/>
                  <a:gd name="T6" fmla="*/ 13 w 19"/>
                  <a:gd name="T7" fmla="*/ 8 h 17"/>
                  <a:gd name="T8" fmla="*/ 17 w 19"/>
                  <a:gd name="T9" fmla="*/ 8 h 17"/>
                  <a:gd name="T10" fmla="*/ 19 w 19"/>
                  <a:gd name="T11" fmla="*/ 11 h 17"/>
                  <a:gd name="T12" fmla="*/ 19 w 19"/>
                  <a:gd name="T13" fmla="*/ 11 h 17"/>
                  <a:gd name="T14" fmla="*/ 18 w 19"/>
                  <a:gd name="T15" fmla="*/ 12 h 17"/>
                  <a:gd name="T16" fmla="*/ 16 w 19"/>
                  <a:gd name="T17" fmla="*/ 12 h 17"/>
                  <a:gd name="T18" fmla="*/ 16 w 19"/>
                  <a:gd name="T19" fmla="*/ 14 h 17"/>
                  <a:gd name="T20" fmla="*/ 8 w 19"/>
                  <a:gd name="T21" fmla="*/ 17 h 17"/>
                  <a:gd name="T22" fmla="*/ 5 w 19"/>
                  <a:gd name="T23" fmla="*/ 14 h 17"/>
                  <a:gd name="T24" fmla="*/ 5 w 19"/>
                  <a:gd name="T25" fmla="*/ 12 h 17"/>
                  <a:gd name="T26" fmla="*/ 0 w 19"/>
                  <a:gd name="T27" fmla="*/ 5 h 17"/>
                  <a:gd name="T28" fmla="*/ 0 w 19"/>
                  <a:gd name="T29" fmla="*/ 2 h 17"/>
                  <a:gd name="T30" fmla="*/ 3 w 19"/>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 h="17">
                    <a:moveTo>
                      <a:pt x="3" y="0"/>
                    </a:moveTo>
                    <a:cubicBezTo>
                      <a:pt x="4" y="0"/>
                      <a:pt x="5" y="0"/>
                      <a:pt x="6" y="0"/>
                    </a:cubicBezTo>
                    <a:cubicBezTo>
                      <a:pt x="7" y="1"/>
                      <a:pt x="9" y="2"/>
                      <a:pt x="10" y="3"/>
                    </a:cubicBezTo>
                    <a:cubicBezTo>
                      <a:pt x="11" y="4"/>
                      <a:pt x="12" y="6"/>
                      <a:pt x="13" y="8"/>
                    </a:cubicBezTo>
                    <a:cubicBezTo>
                      <a:pt x="15" y="7"/>
                      <a:pt x="15" y="8"/>
                      <a:pt x="17" y="8"/>
                    </a:cubicBezTo>
                    <a:cubicBezTo>
                      <a:pt x="18" y="9"/>
                      <a:pt x="18" y="9"/>
                      <a:pt x="19" y="11"/>
                    </a:cubicBezTo>
                    <a:cubicBezTo>
                      <a:pt x="19" y="11"/>
                      <a:pt x="19" y="11"/>
                      <a:pt x="19" y="11"/>
                    </a:cubicBezTo>
                    <a:cubicBezTo>
                      <a:pt x="19" y="12"/>
                      <a:pt x="18" y="12"/>
                      <a:pt x="18" y="12"/>
                    </a:cubicBezTo>
                    <a:cubicBezTo>
                      <a:pt x="18" y="12"/>
                      <a:pt x="17" y="12"/>
                      <a:pt x="16" y="12"/>
                    </a:cubicBezTo>
                    <a:cubicBezTo>
                      <a:pt x="16" y="13"/>
                      <a:pt x="16" y="14"/>
                      <a:pt x="16" y="14"/>
                    </a:cubicBezTo>
                    <a:cubicBezTo>
                      <a:pt x="15" y="15"/>
                      <a:pt x="10" y="16"/>
                      <a:pt x="8" y="17"/>
                    </a:cubicBezTo>
                    <a:cubicBezTo>
                      <a:pt x="7" y="16"/>
                      <a:pt x="6" y="15"/>
                      <a:pt x="5" y="14"/>
                    </a:cubicBezTo>
                    <a:cubicBezTo>
                      <a:pt x="5" y="13"/>
                      <a:pt x="5" y="13"/>
                      <a:pt x="5" y="12"/>
                    </a:cubicBezTo>
                    <a:cubicBezTo>
                      <a:pt x="4" y="10"/>
                      <a:pt x="2" y="7"/>
                      <a:pt x="0" y="5"/>
                    </a:cubicBezTo>
                    <a:cubicBezTo>
                      <a:pt x="0" y="4"/>
                      <a:pt x="0" y="3"/>
                      <a:pt x="0" y="2"/>
                    </a:cubicBezTo>
                    <a:cubicBezTo>
                      <a:pt x="1" y="1"/>
                      <a:pt x="3" y="0"/>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8" name="Freeform 15">
                <a:extLst>
                  <a:ext uri="{FF2B5EF4-FFF2-40B4-BE49-F238E27FC236}">
                    <a16:creationId xmlns:a16="http://schemas.microsoft.com/office/drawing/2014/main" id="{90D03B7D-F3BA-4F18-AE95-99FBBD9F7AE0}"/>
                  </a:ext>
                </a:extLst>
              </p:cNvPr>
              <p:cNvSpPr>
                <a:spLocks/>
              </p:cNvSpPr>
              <p:nvPr/>
            </p:nvSpPr>
            <p:spPr bwMode="auto">
              <a:xfrm>
                <a:off x="-1487488" y="3943351"/>
                <a:ext cx="1944688" cy="3344863"/>
              </a:xfrm>
              <a:custGeom>
                <a:avLst/>
                <a:gdLst>
                  <a:gd name="T0" fmla="*/ 138 w 516"/>
                  <a:gd name="T1" fmla="*/ 85 h 889"/>
                  <a:gd name="T2" fmla="*/ 152 w 516"/>
                  <a:gd name="T3" fmla="*/ 112 h 889"/>
                  <a:gd name="T4" fmla="*/ 277 w 516"/>
                  <a:gd name="T5" fmla="*/ 116 h 889"/>
                  <a:gd name="T6" fmla="*/ 241 w 516"/>
                  <a:gd name="T7" fmla="*/ 202 h 889"/>
                  <a:gd name="T8" fmla="*/ 199 w 516"/>
                  <a:gd name="T9" fmla="*/ 267 h 889"/>
                  <a:gd name="T10" fmla="*/ 259 w 516"/>
                  <a:gd name="T11" fmla="*/ 279 h 889"/>
                  <a:gd name="T12" fmla="*/ 296 w 516"/>
                  <a:gd name="T13" fmla="*/ 344 h 889"/>
                  <a:gd name="T14" fmla="*/ 360 w 516"/>
                  <a:gd name="T15" fmla="*/ 422 h 889"/>
                  <a:gd name="T16" fmla="*/ 357 w 516"/>
                  <a:gd name="T17" fmla="*/ 500 h 889"/>
                  <a:gd name="T18" fmla="*/ 419 w 516"/>
                  <a:gd name="T19" fmla="*/ 589 h 889"/>
                  <a:gd name="T20" fmla="*/ 513 w 516"/>
                  <a:gd name="T21" fmla="*/ 598 h 889"/>
                  <a:gd name="T22" fmla="*/ 491 w 516"/>
                  <a:gd name="T23" fmla="*/ 679 h 889"/>
                  <a:gd name="T24" fmla="*/ 452 w 516"/>
                  <a:gd name="T25" fmla="*/ 718 h 889"/>
                  <a:gd name="T26" fmla="*/ 473 w 516"/>
                  <a:gd name="T27" fmla="*/ 728 h 889"/>
                  <a:gd name="T28" fmla="*/ 501 w 516"/>
                  <a:gd name="T29" fmla="*/ 755 h 889"/>
                  <a:gd name="T30" fmla="*/ 382 w 516"/>
                  <a:gd name="T31" fmla="*/ 796 h 889"/>
                  <a:gd name="T32" fmla="*/ 303 w 516"/>
                  <a:gd name="T33" fmla="*/ 808 h 889"/>
                  <a:gd name="T34" fmla="*/ 246 w 516"/>
                  <a:gd name="T35" fmla="*/ 815 h 889"/>
                  <a:gd name="T36" fmla="*/ 164 w 516"/>
                  <a:gd name="T37" fmla="*/ 855 h 889"/>
                  <a:gd name="T38" fmla="*/ 100 w 516"/>
                  <a:gd name="T39" fmla="*/ 866 h 889"/>
                  <a:gd name="T40" fmla="*/ 65 w 516"/>
                  <a:gd name="T41" fmla="*/ 864 h 889"/>
                  <a:gd name="T42" fmla="*/ 122 w 516"/>
                  <a:gd name="T43" fmla="*/ 795 h 889"/>
                  <a:gd name="T44" fmla="*/ 206 w 516"/>
                  <a:gd name="T45" fmla="*/ 762 h 889"/>
                  <a:gd name="T46" fmla="*/ 213 w 516"/>
                  <a:gd name="T47" fmla="*/ 742 h 889"/>
                  <a:gd name="T48" fmla="*/ 139 w 516"/>
                  <a:gd name="T49" fmla="*/ 721 h 889"/>
                  <a:gd name="T50" fmla="*/ 114 w 516"/>
                  <a:gd name="T51" fmla="*/ 716 h 889"/>
                  <a:gd name="T52" fmla="*/ 84 w 516"/>
                  <a:gd name="T53" fmla="*/ 704 h 889"/>
                  <a:gd name="T54" fmla="*/ 134 w 516"/>
                  <a:gd name="T55" fmla="*/ 659 h 889"/>
                  <a:gd name="T56" fmla="*/ 149 w 516"/>
                  <a:gd name="T57" fmla="*/ 603 h 889"/>
                  <a:gd name="T58" fmla="*/ 124 w 516"/>
                  <a:gd name="T59" fmla="*/ 585 h 889"/>
                  <a:gd name="T60" fmla="*/ 122 w 516"/>
                  <a:gd name="T61" fmla="*/ 543 h 889"/>
                  <a:gd name="T62" fmla="*/ 209 w 516"/>
                  <a:gd name="T63" fmla="*/ 546 h 889"/>
                  <a:gd name="T64" fmla="*/ 218 w 516"/>
                  <a:gd name="T65" fmla="*/ 460 h 889"/>
                  <a:gd name="T66" fmla="*/ 186 w 516"/>
                  <a:gd name="T67" fmla="*/ 437 h 889"/>
                  <a:gd name="T68" fmla="*/ 180 w 516"/>
                  <a:gd name="T69" fmla="*/ 377 h 889"/>
                  <a:gd name="T70" fmla="*/ 135 w 516"/>
                  <a:gd name="T71" fmla="*/ 400 h 889"/>
                  <a:gd name="T72" fmla="*/ 98 w 516"/>
                  <a:gd name="T73" fmla="*/ 405 h 889"/>
                  <a:gd name="T74" fmla="*/ 118 w 516"/>
                  <a:gd name="T75" fmla="*/ 323 h 889"/>
                  <a:gd name="T76" fmla="*/ 108 w 516"/>
                  <a:gd name="T77" fmla="*/ 278 h 889"/>
                  <a:gd name="T78" fmla="*/ 87 w 516"/>
                  <a:gd name="T79" fmla="*/ 294 h 889"/>
                  <a:gd name="T80" fmla="*/ 91 w 516"/>
                  <a:gd name="T81" fmla="*/ 257 h 889"/>
                  <a:gd name="T82" fmla="*/ 62 w 516"/>
                  <a:gd name="T83" fmla="*/ 344 h 889"/>
                  <a:gd name="T84" fmla="*/ 57 w 516"/>
                  <a:gd name="T85" fmla="*/ 284 h 889"/>
                  <a:gd name="T86" fmla="*/ 66 w 516"/>
                  <a:gd name="T87" fmla="*/ 238 h 889"/>
                  <a:gd name="T88" fmla="*/ 72 w 516"/>
                  <a:gd name="T89" fmla="*/ 220 h 889"/>
                  <a:gd name="T90" fmla="*/ 74 w 516"/>
                  <a:gd name="T91" fmla="*/ 209 h 889"/>
                  <a:gd name="T92" fmla="*/ 38 w 516"/>
                  <a:gd name="T93" fmla="*/ 244 h 889"/>
                  <a:gd name="T94" fmla="*/ 39 w 516"/>
                  <a:gd name="T95" fmla="*/ 223 h 889"/>
                  <a:gd name="T96" fmla="*/ 49 w 516"/>
                  <a:gd name="T97" fmla="*/ 206 h 889"/>
                  <a:gd name="T98" fmla="*/ 60 w 516"/>
                  <a:gd name="T99" fmla="*/ 187 h 889"/>
                  <a:gd name="T100" fmla="*/ 59 w 516"/>
                  <a:gd name="T101" fmla="*/ 160 h 889"/>
                  <a:gd name="T102" fmla="*/ 42 w 516"/>
                  <a:gd name="T103" fmla="*/ 153 h 889"/>
                  <a:gd name="T104" fmla="*/ 5 w 516"/>
                  <a:gd name="T105" fmla="*/ 134 h 889"/>
                  <a:gd name="T106" fmla="*/ 22 w 516"/>
                  <a:gd name="T107" fmla="*/ 116 h 889"/>
                  <a:gd name="T108" fmla="*/ 55 w 516"/>
                  <a:gd name="T109" fmla="*/ 144 h 889"/>
                  <a:gd name="T110" fmla="*/ 54 w 516"/>
                  <a:gd name="T111" fmla="*/ 112 h 889"/>
                  <a:gd name="T112" fmla="*/ 66 w 516"/>
                  <a:gd name="T113" fmla="*/ 89 h 889"/>
                  <a:gd name="T114" fmla="*/ 81 w 516"/>
                  <a:gd name="T115" fmla="*/ 73 h 889"/>
                  <a:gd name="T116" fmla="*/ 90 w 516"/>
                  <a:gd name="T117" fmla="*/ 38 h 889"/>
                  <a:gd name="T118" fmla="*/ 118 w 516"/>
                  <a:gd name="T119" fmla="*/ 15 h 889"/>
                  <a:gd name="T120" fmla="*/ 164 w 516"/>
                  <a:gd name="T121" fmla="*/ 1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6" h="889">
                    <a:moveTo>
                      <a:pt x="203" y="2"/>
                    </a:moveTo>
                    <a:cubicBezTo>
                      <a:pt x="203" y="5"/>
                      <a:pt x="204" y="5"/>
                      <a:pt x="204" y="6"/>
                    </a:cubicBezTo>
                    <a:cubicBezTo>
                      <a:pt x="203" y="7"/>
                      <a:pt x="200" y="14"/>
                      <a:pt x="201" y="16"/>
                    </a:cubicBezTo>
                    <a:cubicBezTo>
                      <a:pt x="201" y="19"/>
                      <a:pt x="204" y="23"/>
                      <a:pt x="203" y="27"/>
                    </a:cubicBezTo>
                    <a:cubicBezTo>
                      <a:pt x="201" y="30"/>
                      <a:pt x="195" y="39"/>
                      <a:pt x="193" y="40"/>
                    </a:cubicBezTo>
                    <a:cubicBezTo>
                      <a:pt x="191" y="42"/>
                      <a:pt x="188" y="41"/>
                      <a:pt x="187" y="43"/>
                    </a:cubicBezTo>
                    <a:cubicBezTo>
                      <a:pt x="184" y="45"/>
                      <a:pt x="183" y="49"/>
                      <a:pt x="181" y="52"/>
                    </a:cubicBezTo>
                    <a:cubicBezTo>
                      <a:pt x="179" y="55"/>
                      <a:pt x="172" y="59"/>
                      <a:pt x="170" y="61"/>
                    </a:cubicBezTo>
                    <a:cubicBezTo>
                      <a:pt x="168" y="62"/>
                      <a:pt x="168" y="63"/>
                      <a:pt x="167" y="64"/>
                    </a:cubicBezTo>
                    <a:cubicBezTo>
                      <a:pt x="165" y="65"/>
                      <a:pt x="162" y="66"/>
                      <a:pt x="161" y="68"/>
                    </a:cubicBezTo>
                    <a:cubicBezTo>
                      <a:pt x="160" y="70"/>
                      <a:pt x="158" y="72"/>
                      <a:pt x="157" y="73"/>
                    </a:cubicBezTo>
                    <a:cubicBezTo>
                      <a:pt x="155" y="74"/>
                      <a:pt x="152" y="74"/>
                      <a:pt x="150" y="75"/>
                    </a:cubicBezTo>
                    <a:cubicBezTo>
                      <a:pt x="151" y="77"/>
                      <a:pt x="152" y="79"/>
                      <a:pt x="153" y="82"/>
                    </a:cubicBezTo>
                    <a:cubicBezTo>
                      <a:pt x="152" y="83"/>
                      <a:pt x="152" y="84"/>
                      <a:pt x="150" y="84"/>
                    </a:cubicBezTo>
                    <a:cubicBezTo>
                      <a:pt x="147" y="86"/>
                      <a:pt x="138" y="83"/>
                      <a:pt x="135" y="83"/>
                    </a:cubicBezTo>
                    <a:cubicBezTo>
                      <a:pt x="135" y="83"/>
                      <a:pt x="135" y="83"/>
                      <a:pt x="135" y="84"/>
                    </a:cubicBezTo>
                    <a:cubicBezTo>
                      <a:pt x="136" y="84"/>
                      <a:pt x="136" y="85"/>
                      <a:pt x="138" y="85"/>
                    </a:cubicBezTo>
                    <a:cubicBezTo>
                      <a:pt x="139" y="86"/>
                      <a:pt x="150" y="88"/>
                      <a:pt x="152" y="88"/>
                    </a:cubicBezTo>
                    <a:cubicBezTo>
                      <a:pt x="153" y="87"/>
                      <a:pt x="155" y="86"/>
                      <a:pt x="156" y="86"/>
                    </a:cubicBezTo>
                    <a:cubicBezTo>
                      <a:pt x="157" y="87"/>
                      <a:pt x="156" y="88"/>
                      <a:pt x="159" y="89"/>
                    </a:cubicBezTo>
                    <a:cubicBezTo>
                      <a:pt x="159" y="88"/>
                      <a:pt x="161" y="88"/>
                      <a:pt x="161" y="87"/>
                    </a:cubicBezTo>
                    <a:cubicBezTo>
                      <a:pt x="163" y="85"/>
                      <a:pt x="162" y="84"/>
                      <a:pt x="165" y="84"/>
                    </a:cubicBezTo>
                    <a:cubicBezTo>
                      <a:pt x="165" y="85"/>
                      <a:pt x="166" y="85"/>
                      <a:pt x="166" y="87"/>
                    </a:cubicBezTo>
                    <a:cubicBezTo>
                      <a:pt x="164" y="88"/>
                      <a:pt x="164" y="89"/>
                      <a:pt x="163" y="91"/>
                    </a:cubicBezTo>
                    <a:cubicBezTo>
                      <a:pt x="162" y="93"/>
                      <a:pt x="159" y="95"/>
                      <a:pt x="158" y="97"/>
                    </a:cubicBezTo>
                    <a:cubicBezTo>
                      <a:pt x="157" y="98"/>
                      <a:pt x="157" y="99"/>
                      <a:pt x="156" y="100"/>
                    </a:cubicBezTo>
                    <a:cubicBezTo>
                      <a:pt x="155" y="101"/>
                      <a:pt x="153" y="102"/>
                      <a:pt x="153" y="102"/>
                    </a:cubicBezTo>
                    <a:cubicBezTo>
                      <a:pt x="153" y="103"/>
                      <a:pt x="153" y="104"/>
                      <a:pt x="153" y="104"/>
                    </a:cubicBezTo>
                    <a:cubicBezTo>
                      <a:pt x="153" y="105"/>
                      <a:pt x="151" y="107"/>
                      <a:pt x="150" y="108"/>
                    </a:cubicBezTo>
                    <a:cubicBezTo>
                      <a:pt x="148" y="112"/>
                      <a:pt x="142" y="115"/>
                      <a:pt x="141" y="120"/>
                    </a:cubicBezTo>
                    <a:cubicBezTo>
                      <a:pt x="142" y="121"/>
                      <a:pt x="142" y="121"/>
                      <a:pt x="144" y="121"/>
                    </a:cubicBezTo>
                    <a:cubicBezTo>
                      <a:pt x="145" y="119"/>
                      <a:pt x="147" y="118"/>
                      <a:pt x="149" y="116"/>
                    </a:cubicBezTo>
                    <a:cubicBezTo>
                      <a:pt x="149" y="116"/>
                      <a:pt x="149" y="116"/>
                      <a:pt x="150" y="116"/>
                    </a:cubicBezTo>
                    <a:cubicBezTo>
                      <a:pt x="151" y="114"/>
                      <a:pt x="150" y="113"/>
                      <a:pt x="152" y="112"/>
                    </a:cubicBezTo>
                    <a:cubicBezTo>
                      <a:pt x="154" y="110"/>
                      <a:pt x="157" y="113"/>
                      <a:pt x="160" y="112"/>
                    </a:cubicBezTo>
                    <a:cubicBezTo>
                      <a:pt x="164" y="110"/>
                      <a:pt x="167" y="104"/>
                      <a:pt x="172" y="104"/>
                    </a:cubicBezTo>
                    <a:cubicBezTo>
                      <a:pt x="173" y="104"/>
                      <a:pt x="175" y="104"/>
                      <a:pt x="176" y="104"/>
                    </a:cubicBezTo>
                    <a:cubicBezTo>
                      <a:pt x="177" y="104"/>
                      <a:pt x="179" y="103"/>
                      <a:pt x="179" y="103"/>
                    </a:cubicBezTo>
                    <a:cubicBezTo>
                      <a:pt x="181" y="100"/>
                      <a:pt x="180" y="98"/>
                      <a:pt x="184" y="98"/>
                    </a:cubicBezTo>
                    <a:cubicBezTo>
                      <a:pt x="185" y="97"/>
                      <a:pt x="190" y="97"/>
                      <a:pt x="191" y="97"/>
                    </a:cubicBezTo>
                    <a:cubicBezTo>
                      <a:pt x="194" y="101"/>
                      <a:pt x="200" y="103"/>
                      <a:pt x="207" y="103"/>
                    </a:cubicBezTo>
                    <a:cubicBezTo>
                      <a:pt x="210" y="97"/>
                      <a:pt x="216" y="99"/>
                      <a:pt x="222" y="100"/>
                    </a:cubicBezTo>
                    <a:cubicBezTo>
                      <a:pt x="224" y="100"/>
                      <a:pt x="225" y="100"/>
                      <a:pt x="227" y="100"/>
                    </a:cubicBezTo>
                    <a:cubicBezTo>
                      <a:pt x="228" y="100"/>
                      <a:pt x="229" y="101"/>
                      <a:pt x="230" y="101"/>
                    </a:cubicBezTo>
                    <a:cubicBezTo>
                      <a:pt x="233" y="102"/>
                      <a:pt x="234" y="100"/>
                      <a:pt x="236" y="100"/>
                    </a:cubicBezTo>
                    <a:cubicBezTo>
                      <a:pt x="238" y="101"/>
                      <a:pt x="242" y="102"/>
                      <a:pt x="244" y="101"/>
                    </a:cubicBezTo>
                    <a:cubicBezTo>
                      <a:pt x="244" y="100"/>
                      <a:pt x="245" y="100"/>
                      <a:pt x="245" y="100"/>
                    </a:cubicBezTo>
                    <a:cubicBezTo>
                      <a:pt x="247" y="99"/>
                      <a:pt x="251" y="101"/>
                      <a:pt x="253" y="101"/>
                    </a:cubicBezTo>
                    <a:cubicBezTo>
                      <a:pt x="254" y="98"/>
                      <a:pt x="257" y="98"/>
                      <a:pt x="261" y="98"/>
                    </a:cubicBezTo>
                    <a:cubicBezTo>
                      <a:pt x="262" y="100"/>
                      <a:pt x="264" y="99"/>
                      <a:pt x="266" y="100"/>
                    </a:cubicBezTo>
                    <a:cubicBezTo>
                      <a:pt x="270" y="103"/>
                      <a:pt x="275" y="110"/>
                      <a:pt x="277" y="116"/>
                    </a:cubicBezTo>
                    <a:cubicBezTo>
                      <a:pt x="277" y="117"/>
                      <a:pt x="276" y="120"/>
                      <a:pt x="276" y="122"/>
                    </a:cubicBezTo>
                    <a:cubicBezTo>
                      <a:pt x="276" y="124"/>
                      <a:pt x="276" y="125"/>
                      <a:pt x="275" y="127"/>
                    </a:cubicBezTo>
                    <a:cubicBezTo>
                      <a:pt x="274" y="128"/>
                      <a:pt x="273" y="128"/>
                      <a:pt x="272" y="129"/>
                    </a:cubicBezTo>
                    <a:cubicBezTo>
                      <a:pt x="271" y="130"/>
                      <a:pt x="271" y="131"/>
                      <a:pt x="271" y="132"/>
                    </a:cubicBezTo>
                    <a:cubicBezTo>
                      <a:pt x="269" y="134"/>
                      <a:pt x="266" y="135"/>
                      <a:pt x="264" y="139"/>
                    </a:cubicBezTo>
                    <a:cubicBezTo>
                      <a:pt x="263" y="140"/>
                      <a:pt x="264" y="142"/>
                      <a:pt x="263" y="143"/>
                    </a:cubicBezTo>
                    <a:cubicBezTo>
                      <a:pt x="262" y="146"/>
                      <a:pt x="261" y="149"/>
                      <a:pt x="260" y="152"/>
                    </a:cubicBezTo>
                    <a:cubicBezTo>
                      <a:pt x="259" y="155"/>
                      <a:pt x="262" y="156"/>
                      <a:pt x="261" y="160"/>
                    </a:cubicBezTo>
                    <a:cubicBezTo>
                      <a:pt x="259" y="164"/>
                      <a:pt x="255" y="169"/>
                      <a:pt x="254" y="172"/>
                    </a:cubicBezTo>
                    <a:cubicBezTo>
                      <a:pt x="254" y="173"/>
                      <a:pt x="254" y="174"/>
                      <a:pt x="254" y="175"/>
                    </a:cubicBezTo>
                    <a:cubicBezTo>
                      <a:pt x="255" y="179"/>
                      <a:pt x="254" y="181"/>
                      <a:pt x="252" y="184"/>
                    </a:cubicBezTo>
                    <a:cubicBezTo>
                      <a:pt x="252" y="184"/>
                      <a:pt x="251" y="185"/>
                      <a:pt x="251" y="185"/>
                    </a:cubicBezTo>
                    <a:cubicBezTo>
                      <a:pt x="250" y="187"/>
                      <a:pt x="249" y="190"/>
                      <a:pt x="247" y="191"/>
                    </a:cubicBezTo>
                    <a:cubicBezTo>
                      <a:pt x="246" y="192"/>
                      <a:pt x="244" y="192"/>
                      <a:pt x="244" y="194"/>
                    </a:cubicBezTo>
                    <a:cubicBezTo>
                      <a:pt x="243" y="194"/>
                      <a:pt x="243" y="195"/>
                      <a:pt x="243" y="196"/>
                    </a:cubicBezTo>
                    <a:cubicBezTo>
                      <a:pt x="243" y="197"/>
                      <a:pt x="241" y="198"/>
                      <a:pt x="241" y="199"/>
                    </a:cubicBezTo>
                    <a:cubicBezTo>
                      <a:pt x="241" y="200"/>
                      <a:pt x="241" y="201"/>
                      <a:pt x="241" y="202"/>
                    </a:cubicBezTo>
                    <a:cubicBezTo>
                      <a:pt x="240" y="203"/>
                      <a:pt x="240" y="207"/>
                      <a:pt x="239" y="209"/>
                    </a:cubicBezTo>
                    <a:cubicBezTo>
                      <a:pt x="237" y="214"/>
                      <a:pt x="232" y="217"/>
                      <a:pt x="228" y="220"/>
                    </a:cubicBezTo>
                    <a:cubicBezTo>
                      <a:pt x="226" y="222"/>
                      <a:pt x="226" y="225"/>
                      <a:pt x="223" y="225"/>
                    </a:cubicBezTo>
                    <a:cubicBezTo>
                      <a:pt x="222" y="223"/>
                      <a:pt x="217" y="224"/>
                      <a:pt x="215" y="225"/>
                    </a:cubicBezTo>
                    <a:cubicBezTo>
                      <a:pt x="215" y="225"/>
                      <a:pt x="215" y="226"/>
                      <a:pt x="215" y="226"/>
                    </a:cubicBezTo>
                    <a:cubicBezTo>
                      <a:pt x="216" y="226"/>
                      <a:pt x="218" y="226"/>
                      <a:pt x="219" y="226"/>
                    </a:cubicBezTo>
                    <a:cubicBezTo>
                      <a:pt x="219" y="227"/>
                      <a:pt x="221" y="227"/>
                      <a:pt x="221" y="228"/>
                    </a:cubicBezTo>
                    <a:cubicBezTo>
                      <a:pt x="224" y="231"/>
                      <a:pt x="223" y="236"/>
                      <a:pt x="226" y="238"/>
                    </a:cubicBezTo>
                    <a:cubicBezTo>
                      <a:pt x="228" y="240"/>
                      <a:pt x="232" y="239"/>
                      <a:pt x="233" y="241"/>
                    </a:cubicBezTo>
                    <a:cubicBezTo>
                      <a:pt x="237" y="246"/>
                      <a:pt x="227" y="250"/>
                      <a:pt x="224" y="252"/>
                    </a:cubicBezTo>
                    <a:cubicBezTo>
                      <a:pt x="224" y="253"/>
                      <a:pt x="222" y="254"/>
                      <a:pt x="221" y="254"/>
                    </a:cubicBezTo>
                    <a:cubicBezTo>
                      <a:pt x="220" y="254"/>
                      <a:pt x="219" y="254"/>
                      <a:pt x="219" y="253"/>
                    </a:cubicBezTo>
                    <a:cubicBezTo>
                      <a:pt x="216" y="253"/>
                      <a:pt x="214" y="253"/>
                      <a:pt x="212" y="253"/>
                    </a:cubicBezTo>
                    <a:cubicBezTo>
                      <a:pt x="210" y="256"/>
                      <a:pt x="204" y="258"/>
                      <a:pt x="204" y="262"/>
                    </a:cubicBezTo>
                    <a:cubicBezTo>
                      <a:pt x="204" y="263"/>
                      <a:pt x="204" y="264"/>
                      <a:pt x="204" y="265"/>
                    </a:cubicBezTo>
                    <a:cubicBezTo>
                      <a:pt x="203" y="266"/>
                      <a:pt x="202" y="267"/>
                      <a:pt x="201" y="268"/>
                    </a:cubicBezTo>
                    <a:cubicBezTo>
                      <a:pt x="200" y="267"/>
                      <a:pt x="200" y="267"/>
                      <a:pt x="199" y="267"/>
                    </a:cubicBezTo>
                    <a:cubicBezTo>
                      <a:pt x="199" y="267"/>
                      <a:pt x="199" y="267"/>
                      <a:pt x="199" y="268"/>
                    </a:cubicBezTo>
                    <a:cubicBezTo>
                      <a:pt x="198" y="268"/>
                      <a:pt x="196" y="268"/>
                      <a:pt x="195" y="269"/>
                    </a:cubicBezTo>
                    <a:cubicBezTo>
                      <a:pt x="194" y="270"/>
                      <a:pt x="193" y="271"/>
                      <a:pt x="192" y="272"/>
                    </a:cubicBezTo>
                    <a:cubicBezTo>
                      <a:pt x="192" y="272"/>
                      <a:pt x="192" y="272"/>
                      <a:pt x="192" y="272"/>
                    </a:cubicBezTo>
                    <a:cubicBezTo>
                      <a:pt x="192" y="272"/>
                      <a:pt x="192" y="272"/>
                      <a:pt x="192" y="272"/>
                    </a:cubicBezTo>
                    <a:cubicBezTo>
                      <a:pt x="193" y="273"/>
                      <a:pt x="194" y="273"/>
                      <a:pt x="195" y="274"/>
                    </a:cubicBezTo>
                    <a:cubicBezTo>
                      <a:pt x="194" y="274"/>
                      <a:pt x="193" y="274"/>
                      <a:pt x="194" y="274"/>
                    </a:cubicBezTo>
                    <a:cubicBezTo>
                      <a:pt x="196" y="276"/>
                      <a:pt x="199" y="275"/>
                      <a:pt x="203" y="276"/>
                    </a:cubicBezTo>
                    <a:cubicBezTo>
                      <a:pt x="205" y="276"/>
                      <a:pt x="208" y="278"/>
                      <a:pt x="210" y="277"/>
                    </a:cubicBezTo>
                    <a:cubicBezTo>
                      <a:pt x="211" y="277"/>
                      <a:pt x="211" y="276"/>
                      <a:pt x="212" y="276"/>
                    </a:cubicBezTo>
                    <a:cubicBezTo>
                      <a:pt x="213" y="275"/>
                      <a:pt x="215" y="275"/>
                      <a:pt x="215" y="274"/>
                    </a:cubicBezTo>
                    <a:cubicBezTo>
                      <a:pt x="217" y="271"/>
                      <a:pt x="219" y="266"/>
                      <a:pt x="223" y="266"/>
                    </a:cubicBezTo>
                    <a:cubicBezTo>
                      <a:pt x="225" y="264"/>
                      <a:pt x="230" y="266"/>
                      <a:pt x="232" y="266"/>
                    </a:cubicBezTo>
                    <a:cubicBezTo>
                      <a:pt x="234" y="268"/>
                      <a:pt x="234" y="268"/>
                      <a:pt x="236" y="271"/>
                    </a:cubicBezTo>
                    <a:cubicBezTo>
                      <a:pt x="241" y="271"/>
                      <a:pt x="245" y="274"/>
                      <a:pt x="247" y="276"/>
                    </a:cubicBezTo>
                    <a:cubicBezTo>
                      <a:pt x="248" y="277"/>
                      <a:pt x="249" y="278"/>
                      <a:pt x="250" y="279"/>
                    </a:cubicBezTo>
                    <a:cubicBezTo>
                      <a:pt x="253" y="279"/>
                      <a:pt x="256" y="279"/>
                      <a:pt x="259" y="279"/>
                    </a:cubicBezTo>
                    <a:cubicBezTo>
                      <a:pt x="261" y="281"/>
                      <a:pt x="263" y="283"/>
                      <a:pt x="264" y="284"/>
                    </a:cubicBezTo>
                    <a:cubicBezTo>
                      <a:pt x="264" y="285"/>
                      <a:pt x="264" y="285"/>
                      <a:pt x="264" y="286"/>
                    </a:cubicBezTo>
                    <a:cubicBezTo>
                      <a:pt x="264" y="287"/>
                      <a:pt x="265" y="287"/>
                      <a:pt x="266" y="287"/>
                    </a:cubicBezTo>
                    <a:cubicBezTo>
                      <a:pt x="267" y="289"/>
                      <a:pt x="269" y="292"/>
                      <a:pt x="270" y="293"/>
                    </a:cubicBezTo>
                    <a:cubicBezTo>
                      <a:pt x="270" y="294"/>
                      <a:pt x="271" y="295"/>
                      <a:pt x="271" y="296"/>
                    </a:cubicBezTo>
                    <a:cubicBezTo>
                      <a:pt x="271" y="297"/>
                      <a:pt x="274" y="299"/>
                      <a:pt x="274" y="299"/>
                    </a:cubicBezTo>
                    <a:cubicBezTo>
                      <a:pt x="274" y="299"/>
                      <a:pt x="274" y="300"/>
                      <a:pt x="275" y="301"/>
                    </a:cubicBezTo>
                    <a:cubicBezTo>
                      <a:pt x="276" y="302"/>
                      <a:pt x="277" y="303"/>
                      <a:pt x="279" y="304"/>
                    </a:cubicBezTo>
                    <a:cubicBezTo>
                      <a:pt x="280" y="305"/>
                      <a:pt x="281" y="307"/>
                      <a:pt x="282" y="309"/>
                    </a:cubicBezTo>
                    <a:cubicBezTo>
                      <a:pt x="283" y="310"/>
                      <a:pt x="285" y="309"/>
                      <a:pt x="287" y="310"/>
                    </a:cubicBezTo>
                    <a:cubicBezTo>
                      <a:pt x="288" y="310"/>
                      <a:pt x="290" y="313"/>
                      <a:pt x="291" y="314"/>
                    </a:cubicBezTo>
                    <a:cubicBezTo>
                      <a:pt x="292" y="317"/>
                      <a:pt x="292" y="318"/>
                      <a:pt x="293" y="320"/>
                    </a:cubicBezTo>
                    <a:cubicBezTo>
                      <a:pt x="293" y="321"/>
                      <a:pt x="294" y="322"/>
                      <a:pt x="294" y="322"/>
                    </a:cubicBezTo>
                    <a:cubicBezTo>
                      <a:pt x="295" y="325"/>
                      <a:pt x="295" y="328"/>
                      <a:pt x="295" y="331"/>
                    </a:cubicBezTo>
                    <a:cubicBezTo>
                      <a:pt x="295" y="332"/>
                      <a:pt x="294" y="333"/>
                      <a:pt x="294" y="334"/>
                    </a:cubicBezTo>
                    <a:cubicBezTo>
                      <a:pt x="295" y="336"/>
                      <a:pt x="296" y="338"/>
                      <a:pt x="296" y="340"/>
                    </a:cubicBezTo>
                    <a:cubicBezTo>
                      <a:pt x="296" y="341"/>
                      <a:pt x="296" y="343"/>
                      <a:pt x="296" y="344"/>
                    </a:cubicBezTo>
                    <a:cubicBezTo>
                      <a:pt x="297" y="346"/>
                      <a:pt x="299" y="349"/>
                      <a:pt x="300" y="351"/>
                    </a:cubicBezTo>
                    <a:cubicBezTo>
                      <a:pt x="300" y="353"/>
                      <a:pt x="300" y="354"/>
                      <a:pt x="300" y="355"/>
                    </a:cubicBezTo>
                    <a:cubicBezTo>
                      <a:pt x="300" y="357"/>
                      <a:pt x="302" y="360"/>
                      <a:pt x="302" y="361"/>
                    </a:cubicBezTo>
                    <a:cubicBezTo>
                      <a:pt x="302" y="362"/>
                      <a:pt x="303" y="363"/>
                      <a:pt x="303" y="364"/>
                    </a:cubicBezTo>
                    <a:cubicBezTo>
                      <a:pt x="304" y="367"/>
                      <a:pt x="307" y="370"/>
                      <a:pt x="309" y="372"/>
                    </a:cubicBezTo>
                    <a:cubicBezTo>
                      <a:pt x="310" y="375"/>
                      <a:pt x="310" y="378"/>
                      <a:pt x="310" y="380"/>
                    </a:cubicBezTo>
                    <a:cubicBezTo>
                      <a:pt x="311" y="383"/>
                      <a:pt x="313" y="388"/>
                      <a:pt x="314" y="392"/>
                    </a:cubicBezTo>
                    <a:cubicBezTo>
                      <a:pt x="314" y="393"/>
                      <a:pt x="314" y="394"/>
                      <a:pt x="314" y="394"/>
                    </a:cubicBezTo>
                    <a:cubicBezTo>
                      <a:pt x="315" y="397"/>
                      <a:pt x="319" y="399"/>
                      <a:pt x="321" y="401"/>
                    </a:cubicBezTo>
                    <a:cubicBezTo>
                      <a:pt x="322" y="403"/>
                      <a:pt x="321" y="406"/>
                      <a:pt x="322" y="408"/>
                    </a:cubicBezTo>
                    <a:cubicBezTo>
                      <a:pt x="322" y="408"/>
                      <a:pt x="322" y="408"/>
                      <a:pt x="322" y="408"/>
                    </a:cubicBezTo>
                    <a:cubicBezTo>
                      <a:pt x="324" y="407"/>
                      <a:pt x="329" y="408"/>
                      <a:pt x="332" y="410"/>
                    </a:cubicBezTo>
                    <a:cubicBezTo>
                      <a:pt x="332" y="410"/>
                      <a:pt x="333" y="411"/>
                      <a:pt x="333" y="411"/>
                    </a:cubicBezTo>
                    <a:cubicBezTo>
                      <a:pt x="335" y="411"/>
                      <a:pt x="337" y="411"/>
                      <a:pt x="339" y="411"/>
                    </a:cubicBezTo>
                    <a:cubicBezTo>
                      <a:pt x="343" y="413"/>
                      <a:pt x="349" y="415"/>
                      <a:pt x="353" y="417"/>
                    </a:cubicBezTo>
                    <a:cubicBezTo>
                      <a:pt x="354" y="418"/>
                      <a:pt x="355" y="420"/>
                      <a:pt x="357" y="421"/>
                    </a:cubicBezTo>
                    <a:cubicBezTo>
                      <a:pt x="358" y="421"/>
                      <a:pt x="359" y="421"/>
                      <a:pt x="360" y="422"/>
                    </a:cubicBezTo>
                    <a:cubicBezTo>
                      <a:pt x="362" y="425"/>
                      <a:pt x="366" y="430"/>
                      <a:pt x="367" y="433"/>
                    </a:cubicBezTo>
                    <a:cubicBezTo>
                      <a:pt x="368" y="437"/>
                      <a:pt x="370" y="441"/>
                      <a:pt x="372" y="444"/>
                    </a:cubicBezTo>
                    <a:cubicBezTo>
                      <a:pt x="373" y="445"/>
                      <a:pt x="376" y="445"/>
                      <a:pt x="377" y="446"/>
                    </a:cubicBezTo>
                    <a:cubicBezTo>
                      <a:pt x="379" y="447"/>
                      <a:pt x="379" y="451"/>
                      <a:pt x="381" y="452"/>
                    </a:cubicBezTo>
                    <a:cubicBezTo>
                      <a:pt x="384" y="454"/>
                      <a:pt x="389" y="454"/>
                      <a:pt x="390" y="458"/>
                    </a:cubicBezTo>
                    <a:cubicBezTo>
                      <a:pt x="386" y="460"/>
                      <a:pt x="383" y="462"/>
                      <a:pt x="383" y="467"/>
                    </a:cubicBezTo>
                    <a:cubicBezTo>
                      <a:pt x="386" y="470"/>
                      <a:pt x="384" y="476"/>
                      <a:pt x="387" y="481"/>
                    </a:cubicBezTo>
                    <a:cubicBezTo>
                      <a:pt x="391" y="487"/>
                      <a:pt x="397" y="492"/>
                      <a:pt x="401" y="498"/>
                    </a:cubicBezTo>
                    <a:cubicBezTo>
                      <a:pt x="402" y="499"/>
                      <a:pt x="404" y="500"/>
                      <a:pt x="405" y="501"/>
                    </a:cubicBezTo>
                    <a:cubicBezTo>
                      <a:pt x="406" y="502"/>
                      <a:pt x="406" y="503"/>
                      <a:pt x="407" y="504"/>
                    </a:cubicBezTo>
                    <a:cubicBezTo>
                      <a:pt x="407" y="505"/>
                      <a:pt x="407" y="505"/>
                      <a:pt x="407" y="506"/>
                    </a:cubicBezTo>
                    <a:cubicBezTo>
                      <a:pt x="402" y="506"/>
                      <a:pt x="397" y="505"/>
                      <a:pt x="390" y="505"/>
                    </a:cubicBezTo>
                    <a:cubicBezTo>
                      <a:pt x="388" y="502"/>
                      <a:pt x="381" y="495"/>
                      <a:pt x="376" y="496"/>
                    </a:cubicBezTo>
                    <a:cubicBezTo>
                      <a:pt x="374" y="497"/>
                      <a:pt x="372" y="498"/>
                      <a:pt x="370" y="499"/>
                    </a:cubicBezTo>
                    <a:cubicBezTo>
                      <a:pt x="368" y="499"/>
                      <a:pt x="364" y="499"/>
                      <a:pt x="362" y="499"/>
                    </a:cubicBezTo>
                    <a:cubicBezTo>
                      <a:pt x="360" y="499"/>
                      <a:pt x="359" y="499"/>
                      <a:pt x="357" y="499"/>
                    </a:cubicBezTo>
                    <a:cubicBezTo>
                      <a:pt x="357" y="499"/>
                      <a:pt x="357" y="499"/>
                      <a:pt x="357" y="500"/>
                    </a:cubicBezTo>
                    <a:cubicBezTo>
                      <a:pt x="361" y="500"/>
                      <a:pt x="362" y="502"/>
                      <a:pt x="364" y="502"/>
                    </a:cubicBezTo>
                    <a:cubicBezTo>
                      <a:pt x="370" y="504"/>
                      <a:pt x="376" y="498"/>
                      <a:pt x="379" y="500"/>
                    </a:cubicBezTo>
                    <a:cubicBezTo>
                      <a:pt x="383" y="501"/>
                      <a:pt x="386" y="508"/>
                      <a:pt x="390" y="510"/>
                    </a:cubicBezTo>
                    <a:cubicBezTo>
                      <a:pt x="391" y="511"/>
                      <a:pt x="392" y="511"/>
                      <a:pt x="393" y="512"/>
                    </a:cubicBezTo>
                    <a:cubicBezTo>
                      <a:pt x="396" y="514"/>
                      <a:pt x="399" y="516"/>
                      <a:pt x="402" y="518"/>
                    </a:cubicBezTo>
                    <a:cubicBezTo>
                      <a:pt x="404" y="519"/>
                      <a:pt x="406" y="519"/>
                      <a:pt x="408" y="520"/>
                    </a:cubicBezTo>
                    <a:cubicBezTo>
                      <a:pt x="409" y="521"/>
                      <a:pt x="410" y="523"/>
                      <a:pt x="410" y="524"/>
                    </a:cubicBezTo>
                    <a:cubicBezTo>
                      <a:pt x="411" y="525"/>
                      <a:pt x="413" y="527"/>
                      <a:pt x="414" y="528"/>
                    </a:cubicBezTo>
                    <a:cubicBezTo>
                      <a:pt x="415" y="529"/>
                      <a:pt x="415" y="531"/>
                      <a:pt x="415" y="533"/>
                    </a:cubicBezTo>
                    <a:cubicBezTo>
                      <a:pt x="416" y="535"/>
                      <a:pt x="418" y="537"/>
                      <a:pt x="419" y="539"/>
                    </a:cubicBezTo>
                    <a:cubicBezTo>
                      <a:pt x="421" y="543"/>
                      <a:pt x="425" y="550"/>
                      <a:pt x="423" y="557"/>
                    </a:cubicBezTo>
                    <a:cubicBezTo>
                      <a:pt x="422" y="561"/>
                      <a:pt x="421" y="560"/>
                      <a:pt x="419" y="562"/>
                    </a:cubicBezTo>
                    <a:cubicBezTo>
                      <a:pt x="416" y="566"/>
                      <a:pt x="412" y="570"/>
                      <a:pt x="409" y="574"/>
                    </a:cubicBezTo>
                    <a:cubicBezTo>
                      <a:pt x="408" y="576"/>
                      <a:pt x="406" y="577"/>
                      <a:pt x="405" y="579"/>
                    </a:cubicBezTo>
                    <a:cubicBezTo>
                      <a:pt x="406" y="579"/>
                      <a:pt x="406" y="579"/>
                      <a:pt x="406" y="579"/>
                    </a:cubicBezTo>
                    <a:cubicBezTo>
                      <a:pt x="407" y="580"/>
                      <a:pt x="408" y="579"/>
                      <a:pt x="409" y="580"/>
                    </a:cubicBezTo>
                    <a:cubicBezTo>
                      <a:pt x="413" y="582"/>
                      <a:pt x="416" y="586"/>
                      <a:pt x="419" y="589"/>
                    </a:cubicBezTo>
                    <a:cubicBezTo>
                      <a:pt x="420" y="588"/>
                      <a:pt x="421" y="588"/>
                      <a:pt x="421" y="588"/>
                    </a:cubicBezTo>
                    <a:cubicBezTo>
                      <a:pt x="423" y="587"/>
                      <a:pt x="425" y="589"/>
                      <a:pt x="426" y="589"/>
                    </a:cubicBezTo>
                    <a:cubicBezTo>
                      <a:pt x="427" y="587"/>
                      <a:pt x="428" y="587"/>
                      <a:pt x="429" y="586"/>
                    </a:cubicBezTo>
                    <a:cubicBezTo>
                      <a:pt x="429" y="585"/>
                      <a:pt x="429" y="583"/>
                      <a:pt x="429" y="582"/>
                    </a:cubicBezTo>
                    <a:cubicBezTo>
                      <a:pt x="429" y="581"/>
                      <a:pt x="434" y="572"/>
                      <a:pt x="434" y="571"/>
                    </a:cubicBezTo>
                    <a:cubicBezTo>
                      <a:pt x="435" y="571"/>
                      <a:pt x="438" y="569"/>
                      <a:pt x="438" y="569"/>
                    </a:cubicBezTo>
                    <a:cubicBezTo>
                      <a:pt x="440" y="569"/>
                      <a:pt x="441" y="570"/>
                      <a:pt x="442" y="569"/>
                    </a:cubicBezTo>
                    <a:cubicBezTo>
                      <a:pt x="443" y="569"/>
                      <a:pt x="444" y="567"/>
                      <a:pt x="446" y="568"/>
                    </a:cubicBezTo>
                    <a:cubicBezTo>
                      <a:pt x="447" y="568"/>
                      <a:pt x="450" y="569"/>
                      <a:pt x="452" y="569"/>
                    </a:cubicBezTo>
                    <a:cubicBezTo>
                      <a:pt x="454" y="568"/>
                      <a:pt x="459" y="570"/>
                      <a:pt x="460" y="570"/>
                    </a:cubicBezTo>
                    <a:cubicBezTo>
                      <a:pt x="461" y="569"/>
                      <a:pt x="461" y="568"/>
                      <a:pt x="462" y="568"/>
                    </a:cubicBezTo>
                    <a:cubicBezTo>
                      <a:pt x="464" y="567"/>
                      <a:pt x="467" y="569"/>
                      <a:pt x="468" y="570"/>
                    </a:cubicBezTo>
                    <a:cubicBezTo>
                      <a:pt x="470" y="570"/>
                      <a:pt x="472" y="570"/>
                      <a:pt x="474" y="570"/>
                    </a:cubicBezTo>
                    <a:cubicBezTo>
                      <a:pt x="477" y="571"/>
                      <a:pt x="480" y="571"/>
                      <a:pt x="483" y="572"/>
                    </a:cubicBezTo>
                    <a:cubicBezTo>
                      <a:pt x="484" y="572"/>
                      <a:pt x="486" y="573"/>
                      <a:pt x="487" y="573"/>
                    </a:cubicBezTo>
                    <a:cubicBezTo>
                      <a:pt x="489" y="574"/>
                      <a:pt x="491" y="576"/>
                      <a:pt x="493" y="578"/>
                    </a:cubicBezTo>
                    <a:cubicBezTo>
                      <a:pt x="502" y="584"/>
                      <a:pt x="509" y="587"/>
                      <a:pt x="513" y="598"/>
                    </a:cubicBezTo>
                    <a:cubicBezTo>
                      <a:pt x="513" y="600"/>
                      <a:pt x="513" y="601"/>
                      <a:pt x="514" y="603"/>
                    </a:cubicBezTo>
                    <a:cubicBezTo>
                      <a:pt x="514" y="604"/>
                      <a:pt x="513" y="606"/>
                      <a:pt x="513" y="607"/>
                    </a:cubicBezTo>
                    <a:cubicBezTo>
                      <a:pt x="513" y="609"/>
                      <a:pt x="516" y="613"/>
                      <a:pt x="515" y="615"/>
                    </a:cubicBezTo>
                    <a:cubicBezTo>
                      <a:pt x="515" y="616"/>
                      <a:pt x="514" y="618"/>
                      <a:pt x="514" y="618"/>
                    </a:cubicBezTo>
                    <a:cubicBezTo>
                      <a:pt x="513" y="620"/>
                      <a:pt x="514" y="624"/>
                      <a:pt x="513" y="626"/>
                    </a:cubicBezTo>
                    <a:cubicBezTo>
                      <a:pt x="512" y="629"/>
                      <a:pt x="510" y="633"/>
                      <a:pt x="509" y="637"/>
                    </a:cubicBezTo>
                    <a:cubicBezTo>
                      <a:pt x="509" y="640"/>
                      <a:pt x="509" y="644"/>
                      <a:pt x="509" y="647"/>
                    </a:cubicBezTo>
                    <a:cubicBezTo>
                      <a:pt x="508" y="650"/>
                      <a:pt x="508" y="654"/>
                      <a:pt x="507" y="657"/>
                    </a:cubicBezTo>
                    <a:cubicBezTo>
                      <a:pt x="499" y="657"/>
                      <a:pt x="499" y="670"/>
                      <a:pt x="492" y="672"/>
                    </a:cubicBezTo>
                    <a:cubicBezTo>
                      <a:pt x="491" y="672"/>
                      <a:pt x="491" y="671"/>
                      <a:pt x="490" y="671"/>
                    </a:cubicBezTo>
                    <a:cubicBezTo>
                      <a:pt x="490" y="671"/>
                      <a:pt x="490" y="671"/>
                      <a:pt x="490" y="671"/>
                    </a:cubicBezTo>
                    <a:cubicBezTo>
                      <a:pt x="490" y="672"/>
                      <a:pt x="490" y="673"/>
                      <a:pt x="489" y="674"/>
                    </a:cubicBezTo>
                    <a:cubicBezTo>
                      <a:pt x="489" y="675"/>
                      <a:pt x="487" y="675"/>
                      <a:pt x="487" y="677"/>
                    </a:cubicBezTo>
                    <a:cubicBezTo>
                      <a:pt x="487" y="677"/>
                      <a:pt x="487" y="677"/>
                      <a:pt x="487" y="677"/>
                    </a:cubicBezTo>
                    <a:cubicBezTo>
                      <a:pt x="487" y="677"/>
                      <a:pt x="487" y="677"/>
                      <a:pt x="487" y="677"/>
                    </a:cubicBezTo>
                    <a:cubicBezTo>
                      <a:pt x="488" y="677"/>
                      <a:pt x="489" y="677"/>
                      <a:pt x="490" y="677"/>
                    </a:cubicBezTo>
                    <a:cubicBezTo>
                      <a:pt x="491" y="678"/>
                      <a:pt x="491" y="678"/>
                      <a:pt x="491" y="679"/>
                    </a:cubicBezTo>
                    <a:cubicBezTo>
                      <a:pt x="490" y="680"/>
                      <a:pt x="490" y="681"/>
                      <a:pt x="489" y="683"/>
                    </a:cubicBezTo>
                    <a:cubicBezTo>
                      <a:pt x="486" y="687"/>
                      <a:pt x="482" y="691"/>
                      <a:pt x="474" y="691"/>
                    </a:cubicBezTo>
                    <a:cubicBezTo>
                      <a:pt x="474" y="690"/>
                      <a:pt x="473" y="690"/>
                      <a:pt x="472" y="689"/>
                    </a:cubicBezTo>
                    <a:cubicBezTo>
                      <a:pt x="471" y="690"/>
                      <a:pt x="470" y="691"/>
                      <a:pt x="468" y="691"/>
                    </a:cubicBezTo>
                    <a:cubicBezTo>
                      <a:pt x="468" y="691"/>
                      <a:pt x="467" y="690"/>
                      <a:pt x="467" y="690"/>
                    </a:cubicBezTo>
                    <a:cubicBezTo>
                      <a:pt x="466" y="691"/>
                      <a:pt x="466" y="694"/>
                      <a:pt x="464" y="694"/>
                    </a:cubicBezTo>
                    <a:cubicBezTo>
                      <a:pt x="464" y="694"/>
                      <a:pt x="463" y="693"/>
                      <a:pt x="462" y="693"/>
                    </a:cubicBezTo>
                    <a:cubicBezTo>
                      <a:pt x="460" y="693"/>
                      <a:pt x="456" y="695"/>
                      <a:pt x="456" y="697"/>
                    </a:cubicBezTo>
                    <a:cubicBezTo>
                      <a:pt x="456" y="698"/>
                      <a:pt x="456" y="698"/>
                      <a:pt x="456" y="699"/>
                    </a:cubicBezTo>
                    <a:cubicBezTo>
                      <a:pt x="457" y="699"/>
                      <a:pt x="458" y="699"/>
                      <a:pt x="460" y="699"/>
                    </a:cubicBezTo>
                    <a:cubicBezTo>
                      <a:pt x="461" y="700"/>
                      <a:pt x="468" y="700"/>
                      <a:pt x="470" y="700"/>
                    </a:cubicBezTo>
                    <a:cubicBezTo>
                      <a:pt x="470" y="701"/>
                      <a:pt x="469" y="702"/>
                      <a:pt x="469" y="704"/>
                    </a:cubicBezTo>
                    <a:cubicBezTo>
                      <a:pt x="470" y="705"/>
                      <a:pt x="470" y="706"/>
                      <a:pt x="470" y="707"/>
                    </a:cubicBezTo>
                    <a:cubicBezTo>
                      <a:pt x="470" y="708"/>
                      <a:pt x="470" y="709"/>
                      <a:pt x="469" y="710"/>
                    </a:cubicBezTo>
                    <a:cubicBezTo>
                      <a:pt x="466" y="712"/>
                      <a:pt x="463" y="715"/>
                      <a:pt x="459" y="716"/>
                    </a:cubicBezTo>
                    <a:cubicBezTo>
                      <a:pt x="457" y="717"/>
                      <a:pt x="455" y="715"/>
                      <a:pt x="454" y="716"/>
                    </a:cubicBezTo>
                    <a:cubicBezTo>
                      <a:pt x="453" y="716"/>
                      <a:pt x="453" y="717"/>
                      <a:pt x="452" y="718"/>
                    </a:cubicBezTo>
                    <a:cubicBezTo>
                      <a:pt x="452" y="718"/>
                      <a:pt x="451" y="718"/>
                      <a:pt x="451" y="718"/>
                    </a:cubicBezTo>
                    <a:cubicBezTo>
                      <a:pt x="450" y="718"/>
                      <a:pt x="449" y="719"/>
                      <a:pt x="449" y="719"/>
                    </a:cubicBezTo>
                    <a:cubicBezTo>
                      <a:pt x="448" y="719"/>
                      <a:pt x="447" y="719"/>
                      <a:pt x="446" y="719"/>
                    </a:cubicBezTo>
                    <a:cubicBezTo>
                      <a:pt x="445" y="719"/>
                      <a:pt x="444" y="720"/>
                      <a:pt x="443" y="720"/>
                    </a:cubicBezTo>
                    <a:cubicBezTo>
                      <a:pt x="443" y="720"/>
                      <a:pt x="443" y="721"/>
                      <a:pt x="443" y="721"/>
                    </a:cubicBezTo>
                    <a:cubicBezTo>
                      <a:pt x="444" y="721"/>
                      <a:pt x="444" y="721"/>
                      <a:pt x="444" y="721"/>
                    </a:cubicBezTo>
                    <a:cubicBezTo>
                      <a:pt x="446" y="719"/>
                      <a:pt x="455" y="720"/>
                      <a:pt x="457" y="722"/>
                    </a:cubicBezTo>
                    <a:cubicBezTo>
                      <a:pt x="458" y="722"/>
                      <a:pt x="458" y="723"/>
                      <a:pt x="459" y="723"/>
                    </a:cubicBezTo>
                    <a:cubicBezTo>
                      <a:pt x="458" y="725"/>
                      <a:pt x="457" y="726"/>
                      <a:pt x="455" y="726"/>
                    </a:cubicBezTo>
                    <a:cubicBezTo>
                      <a:pt x="454" y="726"/>
                      <a:pt x="453" y="726"/>
                      <a:pt x="453" y="726"/>
                    </a:cubicBezTo>
                    <a:cubicBezTo>
                      <a:pt x="451" y="727"/>
                      <a:pt x="450" y="729"/>
                      <a:pt x="449" y="730"/>
                    </a:cubicBezTo>
                    <a:cubicBezTo>
                      <a:pt x="449" y="730"/>
                      <a:pt x="449" y="730"/>
                      <a:pt x="449" y="730"/>
                    </a:cubicBezTo>
                    <a:cubicBezTo>
                      <a:pt x="450" y="731"/>
                      <a:pt x="450" y="731"/>
                      <a:pt x="450" y="731"/>
                    </a:cubicBezTo>
                    <a:cubicBezTo>
                      <a:pt x="452" y="730"/>
                      <a:pt x="455" y="731"/>
                      <a:pt x="457" y="730"/>
                    </a:cubicBezTo>
                    <a:cubicBezTo>
                      <a:pt x="458" y="729"/>
                      <a:pt x="459" y="727"/>
                      <a:pt x="460" y="726"/>
                    </a:cubicBezTo>
                    <a:cubicBezTo>
                      <a:pt x="462" y="726"/>
                      <a:pt x="467" y="724"/>
                      <a:pt x="469" y="725"/>
                    </a:cubicBezTo>
                    <a:cubicBezTo>
                      <a:pt x="470" y="725"/>
                      <a:pt x="472" y="727"/>
                      <a:pt x="473" y="728"/>
                    </a:cubicBezTo>
                    <a:cubicBezTo>
                      <a:pt x="474" y="730"/>
                      <a:pt x="472" y="732"/>
                      <a:pt x="471" y="732"/>
                    </a:cubicBezTo>
                    <a:cubicBezTo>
                      <a:pt x="471" y="733"/>
                      <a:pt x="471" y="732"/>
                      <a:pt x="471" y="733"/>
                    </a:cubicBezTo>
                    <a:cubicBezTo>
                      <a:pt x="472" y="733"/>
                      <a:pt x="472" y="733"/>
                      <a:pt x="473" y="733"/>
                    </a:cubicBezTo>
                    <a:cubicBezTo>
                      <a:pt x="474" y="731"/>
                      <a:pt x="474" y="733"/>
                      <a:pt x="476" y="733"/>
                    </a:cubicBezTo>
                    <a:cubicBezTo>
                      <a:pt x="477" y="732"/>
                      <a:pt x="479" y="730"/>
                      <a:pt x="480" y="729"/>
                    </a:cubicBezTo>
                    <a:cubicBezTo>
                      <a:pt x="482" y="729"/>
                      <a:pt x="483" y="729"/>
                      <a:pt x="485" y="729"/>
                    </a:cubicBezTo>
                    <a:cubicBezTo>
                      <a:pt x="485" y="729"/>
                      <a:pt x="485" y="729"/>
                      <a:pt x="486" y="728"/>
                    </a:cubicBezTo>
                    <a:cubicBezTo>
                      <a:pt x="486" y="728"/>
                      <a:pt x="490" y="728"/>
                      <a:pt x="490" y="728"/>
                    </a:cubicBezTo>
                    <a:cubicBezTo>
                      <a:pt x="491" y="728"/>
                      <a:pt x="491" y="729"/>
                      <a:pt x="492" y="728"/>
                    </a:cubicBezTo>
                    <a:cubicBezTo>
                      <a:pt x="493" y="728"/>
                      <a:pt x="496" y="727"/>
                      <a:pt x="496" y="727"/>
                    </a:cubicBezTo>
                    <a:cubicBezTo>
                      <a:pt x="499" y="728"/>
                      <a:pt x="501" y="726"/>
                      <a:pt x="504" y="726"/>
                    </a:cubicBezTo>
                    <a:cubicBezTo>
                      <a:pt x="505" y="727"/>
                      <a:pt x="505" y="727"/>
                      <a:pt x="505" y="728"/>
                    </a:cubicBezTo>
                    <a:cubicBezTo>
                      <a:pt x="507" y="731"/>
                      <a:pt x="502" y="733"/>
                      <a:pt x="502" y="734"/>
                    </a:cubicBezTo>
                    <a:cubicBezTo>
                      <a:pt x="502" y="735"/>
                      <a:pt x="502" y="736"/>
                      <a:pt x="502" y="736"/>
                    </a:cubicBezTo>
                    <a:cubicBezTo>
                      <a:pt x="503" y="738"/>
                      <a:pt x="502" y="739"/>
                      <a:pt x="503" y="741"/>
                    </a:cubicBezTo>
                    <a:cubicBezTo>
                      <a:pt x="503" y="741"/>
                      <a:pt x="504" y="742"/>
                      <a:pt x="504" y="742"/>
                    </a:cubicBezTo>
                    <a:cubicBezTo>
                      <a:pt x="506" y="746"/>
                      <a:pt x="502" y="753"/>
                      <a:pt x="501" y="755"/>
                    </a:cubicBezTo>
                    <a:cubicBezTo>
                      <a:pt x="500" y="756"/>
                      <a:pt x="498" y="755"/>
                      <a:pt x="497" y="756"/>
                    </a:cubicBezTo>
                    <a:cubicBezTo>
                      <a:pt x="496" y="757"/>
                      <a:pt x="495" y="759"/>
                      <a:pt x="493" y="760"/>
                    </a:cubicBezTo>
                    <a:cubicBezTo>
                      <a:pt x="489" y="761"/>
                      <a:pt x="478" y="765"/>
                      <a:pt x="478" y="772"/>
                    </a:cubicBezTo>
                    <a:cubicBezTo>
                      <a:pt x="479" y="773"/>
                      <a:pt x="478" y="776"/>
                      <a:pt x="478" y="777"/>
                    </a:cubicBezTo>
                    <a:cubicBezTo>
                      <a:pt x="478" y="777"/>
                      <a:pt x="477" y="778"/>
                      <a:pt x="477" y="778"/>
                    </a:cubicBezTo>
                    <a:cubicBezTo>
                      <a:pt x="474" y="779"/>
                      <a:pt x="468" y="775"/>
                      <a:pt x="465" y="777"/>
                    </a:cubicBezTo>
                    <a:cubicBezTo>
                      <a:pt x="463" y="779"/>
                      <a:pt x="461" y="781"/>
                      <a:pt x="458" y="783"/>
                    </a:cubicBezTo>
                    <a:cubicBezTo>
                      <a:pt x="457" y="784"/>
                      <a:pt x="456" y="785"/>
                      <a:pt x="455" y="786"/>
                    </a:cubicBezTo>
                    <a:cubicBezTo>
                      <a:pt x="452" y="788"/>
                      <a:pt x="448" y="787"/>
                      <a:pt x="444" y="788"/>
                    </a:cubicBezTo>
                    <a:cubicBezTo>
                      <a:pt x="442" y="788"/>
                      <a:pt x="440" y="790"/>
                      <a:pt x="438" y="791"/>
                    </a:cubicBezTo>
                    <a:cubicBezTo>
                      <a:pt x="436" y="793"/>
                      <a:pt x="436" y="798"/>
                      <a:pt x="432" y="798"/>
                    </a:cubicBezTo>
                    <a:cubicBezTo>
                      <a:pt x="430" y="799"/>
                      <a:pt x="428" y="797"/>
                      <a:pt x="427" y="797"/>
                    </a:cubicBezTo>
                    <a:cubicBezTo>
                      <a:pt x="426" y="797"/>
                      <a:pt x="425" y="797"/>
                      <a:pt x="424" y="797"/>
                    </a:cubicBezTo>
                    <a:cubicBezTo>
                      <a:pt x="424" y="797"/>
                      <a:pt x="423" y="796"/>
                      <a:pt x="422" y="796"/>
                    </a:cubicBezTo>
                    <a:cubicBezTo>
                      <a:pt x="421" y="796"/>
                      <a:pt x="419" y="796"/>
                      <a:pt x="418" y="796"/>
                    </a:cubicBezTo>
                    <a:cubicBezTo>
                      <a:pt x="414" y="795"/>
                      <a:pt x="409" y="791"/>
                      <a:pt x="404" y="792"/>
                    </a:cubicBezTo>
                    <a:cubicBezTo>
                      <a:pt x="396" y="793"/>
                      <a:pt x="389" y="794"/>
                      <a:pt x="382" y="796"/>
                    </a:cubicBezTo>
                    <a:cubicBezTo>
                      <a:pt x="378" y="797"/>
                      <a:pt x="375" y="797"/>
                      <a:pt x="372" y="798"/>
                    </a:cubicBezTo>
                    <a:cubicBezTo>
                      <a:pt x="370" y="799"/>
                      <a:pt x="368" y="802"/>
                      <a:pt x="365" y="802"/>
                    </a:cubicBezTo>
                    <a:cubicBezTo>
                      <a:pt x="364" y="801"/>
                      <a:pt x="361" y="801"/>
                      <a:pt x="359" y="799"/>
                    </a:cubicBezTo>
                    <a:cubicBezTo>
                      <a:pt x="357" y="798"/>
                      <a:pt x="357" y="794"/>
                      <a:pt x="354" y="794"/>
                    </a:cubicBezTo>
                    <a:cubicBezTo>
                      <a:pt x="353" y="794"/>
                      <a:pt x="352" y="794"/>
                      <a:pt x="351" y="795"/>
                    </a:cubicBezTo>
                    <a:cubicBezTo>
                      <a:pt x="350" y="795"/>
                      <a:pt x="350" y="797"/>
                      <a:pt x="349" y="798"/>
                    </a:cubicBezTo>
                    <a:cubicBezTo>
                      <a:pt x="348" y="799"/>
                      <a:pt x="342" y="800"/>
                      <a:pt x="339" y="799"/>
                    </a:cubicBezTo>
                    <a:cubicBezTo>
                      <a:pt x="336" y="797"/>
                      <a:pt x="335" y="794"/>
                      <a:pt x="331" y="793"/>
                    </a:cubicBezTo>
                    <a:cubicBezTo>
                      <a:pt x="331" y="793"/>
                      <a:pt x="331" y="794"/>
                      <a:pt x="331" y="794"/>
                    </a:cubicBezTo>
                    <a:cubicBezTo>
                      <a:pt x="332" y="795"/>
                      <a:pt x="332" y="795"/>
                      <a:pt x="332" y="797"/>
                    </a:cubicBezTo>
                    <a:cubicBezTo>
                      <a:pt x="331" y="797"/>
                      <a:pt x="330" y="799"/>
                      <a:pt x="328" y="800"/>
                    </a:cubicBezTo>
                    <a:cubicBezTo>
                      <a:pt x="328" y="800"/>
                      <a:pt x="327" y="800"/>
                      <a:pt x="326" y="800"/>
                    </a:cubicBezTo>
                    <a:cubicBezTo>
                      <a:pt x="326" y="800"/>
                      <a:pt x="325" y="802"/>
                      <a:pt x="324" y="802"/>
                    </a:cubicBezTo>
                    <a:cubicBezTo>
                      <a:pt x="323" y="803"/>
                      <a:pt x="322" y="803"/>
                      <a:pt x="321" y="804"/>
                    </a:cubicBezTo>
                    <a:cubicBezTo>
                      <a:pt x="319" y="805"/>
                      <a:pt x="319" y="807"/>
                      <a:pt x="316" y="808"/>
                    </a:cubicBezTo>
                    <a:cubicBezTo>
                      <a:pt x="315" y="807"/>
                      <a:pt x="309" y="805"/>
                      <a:pt x="308" y="806"/>
                    </a:cubicBezTo>
                    <a:cubicBezTo>
                      <a:pt x="306" y="806"/>
                      <a:pt x="304" y="808"/>
                      <a:pt x="303" y="808"/>
                    </a:cubicBezTo>
                    <a:cubicBezTo>
                      <a:pt x="301" y="809"/>
                      <a:pt x="301" y="807"/>
                      <a:pt x="300" y="808"/>
                    </a:cubicBezTo>
                    <a:cubicBezTo>
                      <a:pt x="300" y="808"/>
                      <a:pt x="297" y="808"/>
                      <a:pt x="297" y="808"/>
                    </a:cubicBezTo>
                    <a:cubicBezTo>
                      <a:pt x="297" y="809"/>
                      <a:pt x="297" y="809"/>
                      <a:pt x="296" y="809"/>
                    </a:cubicBezTo>
                    <a:cubicBezTo>
                      <a:pt x="293" y="811"/>
                      <a:pt x="292" y="809"/>
                      <a:pt x="292" y="814"/>
                    </a:cubicBezTo>
                    <a:cubicBezTo>
                      <a:pt x="294" y="815"/>
                      <a:pt x="294" y="816"/>
                      <a:pt x="293" y="819"/>
                    </a:cubicBezTo>
                    <a:cubicBezTo>
                      <a:pt x="293" y="819"/>
                      <a:pt x="293" y="819"/>
                      <a:pt x="293" y="819"/>
                    </a:cubicBezTo>
                    <a:cubicBezTo>
                      <a:pt x="292" y="820"/>
                      <a:pt x="291" y="821"/>
                      <a:pt x="290" y="822"/>
                    </a:cubicBezTo>
                    <a:cubicBezTo>
                      <a:pt x="289" y="822"/>
                      <a:pt x="288" y="822"/>
                      <a:pt x="286" y="822"/>
                    </a:cubicBezTo>
                    <a:cubicBezTo>
                      <a:pt x="282" y="822"/>
                      <a:pt x="282" y="821"/>
                      <a:pt x="279" y="820"/>
                    </a:cubicBezTo>
                    <a:cubicBezTo>
                      <a:pt x="277" y="819"/>
                      <a:pt x="275" y="819"/>
                      <a:pt x="273" y="819"/>
                    </a:cubicBezTo>
                    <a:cubicBezTo>
                      <a:pt x="267" y="817"/>
                      <a:pt x="260" y="819"/>
                      <a:pt x="258" y="822"/>
                    </a:cubicBezTo>
                    <a:cubicBezTo>
                      <a:pt x="260" y="824"/>
                      <a:pt x="261" y="825"/>
                      <a:pt x="261" y="827"/>
                    </a:cubicBezTo>
                    <a:cubicBezTo>
                      <a:pt x="261" y="827"/>
                      <a:pt x="260" y="828"/>
                      <a:pt x="260" y="829"/>
                    </a:cubicBezTo>
                    <a:cubicBezTo>
                      <a:pt x="260" y="829"/>
                      <a:pt x="260" y="829"/>
                      <a:pt x="259" y="829"/>
                    </a:cubicBezTo>
                    <a:cubicBezTo>
                      <a:pt x="258" y="827"/>
                      <a:pt x="258" y="825"/>
                      <a:pt x="256" y="823"/>
                    </a:cubicBezTo>
                    <a:cubicBezTo>
                      <a:pt x="255" y="821"/>
                      <a:pt x="252" y="820"/>
                      <a:pt x="249" y="818"/>
                    </a:cubicBezTo>
                    <a:cubicBezTo>
                      <a:pt x="248" y="817"/>
                      <a:pt x="247" y="816"/>
                      <a:pt x="246" y="815"/>
                    </a:cubicBezTo>
                    <a:cubicBezTo>
                      <a:pt x="245" y="815"/>
                      <a:pt x="244" y="815"/>
                      <a:pt x="243" y="814"/>
                    </a:cubicBezTo>
                    <a:cubicBezTo>
                      <a:pt x="242" y="814"/>
                      <a:pt x="241" y="813"/>
                      <a:pt x="241" y="812"/>
                    </a:cubicBezTo>
                    <a:cubicBezTo>
                      <a:pt x="240" y="812"/>
                      <a:pt x="239" y="812"/>
                      <a:pt x="239" y="812"/>
                    </a:cubicBezTo>
                    <a:cubicBezTo>
                      <a:pt x="237" y="812"/>
                      <a:pt x="232" y="808"/>
                      <a:pt x="228" y="810"/>
                    </a:cubicBezTo>
                    <a:cubicBezTo>
                      <a:pt x="227" y="810"/>
                      <a:pt x="225" y="812"/>
                      <a:pt x="223" y="812"/>
                    </a:cubicBezTo>
                    <a:cubicBezTo>
                      <a:pt x="222" y="812"/>
                      <a:pt x="221" y="813"/>
                      <a:pt x="220" y="813"/>
                    </a:cubicBezTo>
                    <a:cubicBezTo>
                      <a:pt x="218" y="813"/>
                      <a:pt x="217" y="814"/>
                      <a:pt x="216" y="815"/>
                    </a:cubicBezTo>
                    <a:cubicBezTo>
                      <a:pt x="213" y="815"/>
                      <a:pt x="210" y="816"/>
                      <a:pt x="207" y="816"/>
                    </a:cubicBezTo>
                    <a:cubicBezTo>
                      <a:pt x="204" y="817"/>
                      <a:pt x="203" y="821"/>
                      <a:pt x="200" y="823"/>
                    </a:cubicBezTo>
                    <a:cubicBezTo>
                      <a:pt x="198" y="823"/>
                      <a:pt x="197" y="823"/>
                      <a:pt x="195" y="824"/>
                    </a:cubicBezTo>
                    <a:cubicBezTo>
                      <a:pt x="194" y="824"/>
                      <a:pt x="191" y="829"/>
                      <a:pt x="191" y="831"/>
                    </a:cubicBezTo>
                    <a:cubicBezTo>
                      <a:pt x="191" y="831"/>
                      <a:pt x="190" y="833"/>
                      <a:pt x="191" y="835"/>
                    </a:cubicBezTo>
                    <a:cubicBezTo>
                      <a:pt x="192" y="839"/>
                      <a:pt x="192" y="846"/>
                      <a:pt x="190" y="849"/>
                    </a:cubicBezTo>
                    <a:cubicBezTo>
                      <a:pt x="188" y="851"/>
                      <a:pt x="184" y="851"/>
                      <a:pt x="183" y="855"/>
                    </a:cubicBezTo>
                    <a:cubicBezTo>
                      <a:pt x="182" y="857"/>
                      <a:pt x="184" y="860"/>
                      <a:pt x="182" y="862"/>
                    </a:cubicBezTo>
                    <a:cubicBezTo>
                      <a:pt x="178" y="865"/>
                      <a:pt x="176" y="863"/>
                      <a:pt x="171" y="863"/>
                    </a:cubicBezTo>
                    <a:cubicBezTo>
                      <a:pt x="170" y="861"/>
                      <a:pt x="166" y="856"/>
                      <a:pt x="164" y="855"/>
                    </a:cubicBezTo>
                    <a:cubicBezTo>
                      <a:pt x="162" y="854"/>
                      <a:pt x="160" y="855"/>
                      <a:pt x="158" y="856"/>
                    </a:cubicBezTo>
                    <a:cubicBezTo>
                      <a:pt x="157" y="856"/>
                      <a:pt x="156" y="855"/>
                      <a:pt x="154" y="855"/>
                    </a:cubicBezTo>
                    <a:cubicBezTo>
                      <a:pt x="153" y="854"/>
                      <a:pt x="152" y="853"/>
                      <a:pt x="151" y="852"/>
                    </a:cubicBezTo>
                    <a:cubicBezTo>
                      <a:pt x="150" y="850"/>
                      <a:pt x="150" y="848"/>
                      <a:pt x="147" y="848"/>
                    </a:cubicBezTo>
                    <a:cubicBezTo>
                      <a:pt x="147" y="848"/>
                      <a:pt x="147" y="848"/>
                      <a:pt x="147" y="848"/>
                    </a:cubicBezTo>
                    <a:cubicBezTo>
                      <a:pt x="147" y="850"/>
                      <a:pt x="147" y="852"/>
                      <a:pt x="145" y="852"/>
                    </a:cubicBezTo>
                    <a:cubicBezTo>
                      <a:pt x="145" y="852"/>
                      <a:pt x="145" y="852"/>
                      <a:pt x="144" y="852"/>
                    </a:cubicBezTo>
                    <a:cubicBezTo>
                      <a:pt x="144" y="851"/>
                      <a:pt x="143" y="851"/>
                      <a:pt x="142" y="850"/>
                    </a:cubicBezTo>
                    <a:cubicBezTo>
                      <a:pt x="140" y="853"/>
                      <a:pt x="135" y="848"/>
                      <a:pt x="131" y="849"/>
                    </a:cubicBezTo>
                    <a:cubicBezTo>
                      <a:pt x="130" y="850"/>
                      <a:pt x="128" y="852"/>
                      <a:pt x="126" y="853"/>
                    </a:cubicBezTo>
                    <a:cubicBezTo>
                      <a:pt x="124" y="854"/>
                      <a:pt x="122" y="853"/>
                      <a:pt x="121" y="852"/>
                    </a:cubicBezTo>
                    <a:cubicBezTo>
                      <a:pt x="119" y="852"/>
                      <a:pt x="117" y="853"/>
                      <a:pt x="116" y="853"/>
                    </a:cubicBezTo>
                    <a:cubicBezTo>
                      <a:pt x="114" y="853"/>
                      <a:pt x="114" y="852"/>
                      <a:pt x="112" y="852"/>
                    </a:cubicBezTo>
                    <a:cubicBezTo>
                      <a:pt x="111" y="853"/>
                      <a:pt x="110" y="854"/>
                      <a:pt x="109" y="855"/>
                    </a:cubicBezTo>
                    <a:cubicBezTo>
                      <a:pt x="108" y="858"/>
                      <a:pt x="109" y="863"/>
                      <a:pt x="105" y="863"/>
                    </a:cubicBezTo>
                    <a:cubicBezTo>
                      <a:pt x="105" y="863"/>
                      <a:pt x="104" y="862"/>
                      <a:pt x="103" y="862"/>
                    </a:cubicBezTo>
                    <a:cubicBezTo>
                      <a:pt x="102" y="863"/>
                      <a:pt x="101" y="865"/>
                      <a:pt x="100" y="866"/>
                    </a:cubicBezTo>
                    <a:cubicBezTo>
                      <a:pt x="99" y="866"/>
                      <a:pt x="98" y="866"/>
                      <a:pt x="97" y="867"/>
                    </a:cubicBezTo>
                    <a:cubicBezTo>
                      <a:pt x="95" y="868"/>
                      <a:pt x="96" y="870"/>
                      <a:pt x="93" y="870"/>
                    </a:cubicBezTo>
                    <a:cubicBezTo>
                      <a:pt x="92" y="869"/>
                      <a:pt x="92" y="869"/>
                      <a:pt x="91" y="869"/>
                    </a:cubicBezTo>
                    <a:cubicBezTo>
                      <a:pt x="90" y="870"/>
                      <a:pt x="88" y="874"/>
                      <a:pt x="88" y="875"/>
                    </a:cubicBezTo>
                    <a:cubicBezTo>
                      <a:pt x="89" y="876"/>
                      <a:pt x="90" y="878"/>
                      <a:pt x="90" y="880"/>
                    </a:cubicBezTo>
                    <a:cubicBezTo>
                      <a:pt x="89" y="882"/>
                      <a:pt x="89" y="884"/>
                      <a:pt x="87" y="884"/>
                    </a:cubicBezTo>
                    <a:cubicBezTo>
                      <a:pt x="86" y="885"/>
                      <a:pt x="84" y="885"/>
                      <a:pt x="84" y="885"/>
                    </a:cubicBezTo>
                    <a:cubicBezTo>
                      <a:pt x="82" y="887"/>
                      <a:pt x="84" y="889"/>
                      <a:pt x="79" y="889"/>
                    </a:cubicBezTo>
                    <a:cubicBezTo>
                      <a:pt x="77" y="887"/>
                      <a:pt x="76" y="885"/>
                      <a:pt x="75" y="883"/>
                    </a:cubicBezTo>
                    <a:cubicBezTo>
                      <a:pt x="75" y="882"/>
                      <a:pt x="75" y="881"/>
                      <a:pt x="75" y="880"/>
                    </a:cubicBezTo>
                    <a:cubicBezTo>
                      <a:pt x="74" y="876"/>
                      <a:pt x="64" y="873"/>
                      <a:pt x="59" y="873"/>
                    </a:cubicBezTo>
                    <a:cubicBezTo>
                      <a:pt x="58" y="876"/>
                      <a:pt x="58" y="878"/>
                      <a:pt x="57" y="880"/>
                    </a:cubicBezTo>
                    <a:cubicBezTo>
                      <a:pt x="51" y="881"/>
                      <a:pt x="50" y="881"/>
                      <a:pt x="46" y="879"/>
                    </a:cubicBezTo>
                    <a:cubicBezTo>
                      <a:pt x="45" y="877"/>
                      <a:pt x="47" y="877"/>
                      <a:pt x="47" y="875"/>
                    </a:cubicBezTo>
                    <a:cubicBezTo>
                      <a:pt x="47" y="873"/>
                      <a:pt x="47" y="872"/>
                      <a:pt x="46" y="871"/>
                    </a:cubicBezTo>
                    <a:cubicBezTo>
                      <a:pt x="47" y="869"/>
                      <a:pt x="56" y="863"/>
                      <a:pt x="58" y="863"/>
                    </a:cubicBezTo>
                    <a:cubicBezTo>
                      <a:pt x="61" y="862"/>
                      <a:pt x="63" y="864"/>
                      <a:pt x="65" y="864"/>
                    </a:cubicBezTo>
                    <a:cubicBezTo>
                      <a:pt x="66" y="862"/>
                      <a:pt x="68" y="862"/>
                      <a:pt x="71" y="860"/>
                    </a:cubicBezTo>
                    <a:cubicBezTo>
                      <a:pt x="73" y="859"/>
                      <a:pt x="74" y="858"/>
                      <a:pt x="76" y="856"/>
                    </a:cubicBezTo>
                    <a:cubicBezTo>
                      <a:pt x="78" y="854"/>
                      <a:pt x="80" y="852"/>
                      <a:pt x="83" y="849"/>
                    </a:cubicBezTo>
                    <a:cubicBezTo>
                      <a:pt x="83" y="848"/>
                      <a:pt x="83" y="845"/>
                      <a:pt x="84" y="844"/>
                    </a:cubicBezTo>
                    <a:cubicBezTo>
                      <a:pt x="85" y="842"/>
                      <a:pt x="88" y="842"/>
                      <a:pt x="89" y="842"/>
                    </a:cubicBezTo>
                    <a:cubicBezTo>
                      <a:pt x="90" y="841"/>
                      <a:pt x="91" y="839"/>
                      <a:pt x="91" y="838"/>
                    </a:cubicBezTo>
                    <a:cubicBezTo>
                      <a:pt x="92" y="835"/>
                      <a:pt x="90" y="832"/>
                      <a:pt x="92" y="830"/>
                    </a:cubicBezTo>
                    <a:cubicBezTo>
                      <a:pt x="93" y="829"/>
                      <a:pt x="94" y="830"/>
                      <a:pt x="95" y="829"/>
                    </a:cubicBezTo>
                    <a:cubicBezTo>
                      <a:pt x="95" y="829"/>
                      <a:pt x="96" y="828"/>
                      <a:pt x="96" y="828"/>
                    </a:cubicBezTo>
                    <a:cubicBezTo>
                      <a:pt x="97" y="827"/>
                      <a:pt x="98" y="828"/>
                      <a:pt x="98" y="828"/>
                    </a:cubicBezTo>
                    <a:cubicBezTo>
                      <a:pt x="99" y="826"/>
                      <a:pt x="98" y="826"/>
                      <a:pt x="99" y="826"/>
                    </a:cubicBezTo>
                    <a:cubicBezTo>
                      <a:pt x="101" y="825"/>
                      <a:pt x="105" y="825"/>
                      <a:pt x="108" y="824"/>
                    </a:cubicBezTo>
                    <a:cubicBezTo>
                      <a:pt x="108" y="821"/>
                      <a:pt x="110" y="820"/>
                      <a:pt x="109" y="817"/>
                    </a:cubicBezTo>
                    <a:cubicBezTo>
                      <a:pt x="111" y="816"/>
                      <a:pt x="114" y="815"/>
                      <a:pt x="115" y="813"/>
                    </a:cubicBezTo>
                    <a:cubicBezTo>
                      <a:pt x="116" y="812"/>
                      <a:pt x="116" y="810"/>
                      <a:pt x="117" y="809"/>
                    </a:cubicBezTo>
                    <a:cubicBezTo>
                      <a:pt x="119" y="808"/>
                      <a:pt x="122" y="806"/>
                      <a:pt x="123" y="804"/>
                    </a:cubicBezTo>
                    <a:cubicBezTo>
                      <a:pt x="124" y="801"/>
                      <a:pt x="122" y="797"/>
                      <a:pt x="122" y="795"/>
                    </a:cubicBezTo>
                    <a:cubicBezTo>
                      <a:pt x="121" y="793"/>
                      <a:pt x="123" y="787"/>
                      <a:pt x="123" y="785"/>
                    </a:cubicBezTo>
                    <a:cubicBezTo>
                      <a:pt x="124" y="783"/>
                      <a:pt x="124" y="782"/>
                      <a:pt x="126" y="781"/>
                    </a:cubicBezTo>
                    <a:cubicBezTo>
                      <a:pt x="127" y="780"/>
                      <a:pt x="134" y="782"/>
                      <a:pt x="137" y="782"/>
                    </a:cubicBezTo>
                    <a:cubicBezTo>
                      <a:pt x="139" y="779"/>
                      <a:pt x="144" y="778"/>
                      <a:pt x="144" y="774"/>
                    </a:cubicBezTo>
                    <a:cubicBezTo>
                      <a:pt x="144" y="773"/>
                      <a:pt x="141" y="769"/>
                      <a:pt x="142" y="768"/>
                    </a:cubicBezTo>
                    <a:cubicBezTo>
                      <a:pt x="142" y="767"/>
                      <a:pt x="143" y="767"/>
                      <a:pt x="143" y="766"/>
                    </a:cubicBezTo>
                    <a:cubicBezTo>
                      <a:pt x="144" y="765"/>
                      <a:pt x="144" y="763"/>
                      <a:pt x="144" y="763"/>
                    </a:cubicBezTo>
                    <a:cubicBezTo>
                      <a:pt x="146" y="762"/>
                      <a:pt x="149" y="761"/>
                      <a:pt x="151" y="760"/>
                    </a:cubicBezTo>
                    <a:cubicBezTo>
                      <a:pt x="153" y="760"/>
                      <a:pt x="155" y="760"/>
                      <a:pt x="158" y="761"/>
                    </a:cubicBezTo>
                    <a:cubicBezTo>
                      <a:pt x="159" y="760"/>
                      <a:pt x="160" y="759"/>
                      <a:pt x="161" y="759"/>
                    </a:cubicBezTo>
                    <a:cubicBezTo>
                      <a:pt x="162" y="759"/>
                      <a:pt x="174" y="758"/>
                      <a:pt x="174" y="758"/>
                    </a:cubicBezTo>
                    <a:cubicBezTo>
                      <a:pt x="176" y="758"/>
                      <a:pt x="178" y="759"/>
                      <a:pt x="179" y="759"/>
                    </a:cubicBezTo>
                    <a:cubicBezTo>
                      <a:pt x="181" y="760"/>
                      <a:pt x="183" y="759"/>
                      <a:pt x="184" y="759"/>
                    </a:cubicBezTo>
                    <a:cubicBezTo>
                      <a:pt x="186" y="759"/>
                      <a:pt x="189" y="759"/>
                      <a:pt x="191" y="760"/>
                    </a:cubicBezTo>
                    <a:cubicBezTo>
                      <a:pt x="194" y="760"/>
                      <a:pt x="195" y="762"/>
                      <a:pt x="198" y="763"/>
                    </a:cubicBezTo>
                    <a:cubicBezTo>
                      <a:pt x="199" y="763"/>
                      <a:pt x="199" y="763"/>
                      <a:pt x="200" y="762"/>
                    </a:cubicBezTo>
                    <a:cubicBezTo>
                      <a:pt x="202" y="762"/>
                      <a:pt x="204" y="763"/>
                      <a:pt x="206" y="762"/>
                    </a:cubicBezTo>
                    <a:cubicBezTo>
                      <a:pt x="207" y="762"/>
                      <a:pt x="209" y="761"/>
                      <a:pt x="210" y="761"/>
                    </a:cubicBezTo>
                    <a:cubicBezTo>
                      <a:pt x="214" y="760"/>
                      <a:pt x="217" y="760"/>
                      <a:pt x="221" y="760"/>
                    </a:cubicBezTo>
                    <a:cubicBezTo>
                      <a:pt x="221" y="753"/>
                      <a:pt x="221" y="746"/>
                      <a:pt x="224" y="742"/>
                    </a:cubicBezTo>
                    <a:cubicBezTo>
                      <a:pt x="225" y="741"/>
                      <a:pt x="226" y="741"/>
                      <a:pt x="227" y="740"/>
                    </a:cubicBezTo>
                    <a:cubicBezTo>
                      <a:pt x="229" y="738"/>
                      <a:pt x="230" y="735"/>
                      <a:pt x="233" y="733"/>
                    </a:cubicBezTo>
                    <a:cubicBezTo>
                      <a:pt x="234" y="732"/>
                      <a:pt x="239" y="731"/>
                      <a:pt x="240" y="729"/>
                    </a:cubicBezTo>
                    <a:cubicBezTo>
                      <a:pt x="240" y="728"/>
                      <a:pt x="241" y="727"/>
                      <a:pt x="242" y="725"/>
                    </a:cubicBezTo>
                    <a:cubicBezTo>
                      <a:pt x="245" y="720"/>
                      <a:pt x="250" y="714"/>
                      <a:pt x="253" y="709"/>
                    </a:cubicBezTo>
                    <a:cubicBezTo>
                      <a:pt x="253" y="708"/>
                      <a:pt x="253" y="709"/>
                      <a:pt x="253" y="708"/>
                    </a:cubicBezTo>
                    <a:cubicBezTo>
                      <a:pt x="250" y="710"/>
                      <a:pt x="246" y="713"/>
                      <a:pt x="244" y="716"/>
                    </a:cubicBezTo>
                    <a:cubicBezTo>
                      <a:pt x="243" y="717"/>
                      <a:pt x="242" y="719"/>
                      <a:pt x="241" y="720"/>
                    </a:cubicBezTo>
                    <a:cubicBezTo>
                      <a:pt x="237" y="724"/>
                      <a:pt x="229" y="725"/>
                      <a:pt x="222" y="726"/>
                    </a:cubicBezTo>
                    <a:cubicBezTo>
                      <a:pt x="221" y="727"/>
                      <a:pt x="219" y="729"/>
                      <a:pt x="218" y="730"/>
                    </a:cubicBezTo>
                    <a:cubicBezTo>
                      <a:pt x="217" y="731"/>
                      <a:pt x="215" y="731"/>
                      <a:pt x="214" y="732"/>
                    </a:cubicBezTo>
                    <a:cubicBezTo>
                      <a:pt x="213" y="733"/>
                      <a:pt x="213" y="735"/>
                      <a:pt x="212" y="735"/>
                    </a:cubicBezTo>
                    <a:cubicBezTo>
                      <a:pt x="212" y="738"/>
                      <a:pt x="214" y="738"/>
                      <a:pt x="214" y="741"/>
                    </a:cubicBezTo>
                    <a:cubicBezTo>
                      <a:pt x="213" y="741"/>
                      <a:pt x="213" y="742"/>
                      <a:pt x="213" y="742"/>
                    </a:cubicBezTo>
                    <a:cubicBezTo>
                      <a:pt x="211" y="743"/>
                      <a:pt x="208" y="741"/>
                      <a:pt x="206" y="742"/>
                    </a:cubicBezTo>
                    <a:cubicBezTo>
                      <a:pt x="205" y="742"/>
                      <a:pt x="204" y="743"/>
                      <a:pt x="204" y="743"/>
                    </a:cubicBezTo>
                    <a:cubicBezTo>
                      <a:pt x="203" y="743"/>
                      <a:pt x="202" y="743"/>
                      <a:pt x="202" y="743"/>
                    </a:cubicBezTo>
                    <a:cubicBezTo>
                      <a:pt x="196" y="745"/>
                      <a:pt x="193" y="744"/>
                      <a:pt x="189" y="742"/>
                    </a:cubicBezTo>
                    <a:cubicBezTo>
                      <a:pt x="188" y="742"/>
                      <a:pt x="187" y="742"/>
                      <a:pt x="186" y="742"/>
                    </a:cubicBezTo>
                    <a:cubicBezTo>
                      <a:pt x="185" y="740"/>
                      <a:pt x="184" y="739"/>
                      <a:pt x="183" y="738"/>
                    </a:cubicBezTo>
                    <a:cubicBezTo>
                      <a:pt x="181" y="736"/>
                      <a:pt x="176" y="736"/>
                      <a:pt x="175" y="734"/>
                    </a:cubicBezTo>
                    <a:cubicBezTo>
                      <a:pt x="174" y="733"/>
                      <a:pt x="172" y="730"/>
                      <a:pt x="172" y="729"/>
                    </a:cubicBezTo>
                    <a:cubicBezTo>
                      <a:pt x="172" y="728"/>
                      <a:pt x="172" y="727"/>
                      <a:pt x="172" y="726"/>
                    </a:cubicBezTo>
                    <a:cubicBezTo>
                      <a:pt x="171" y="724"/>
                      <a:pt x="168" y="722"/>
                      <a:pt x="167" y="719"/>
                    </a:cubicBezTo>
                    <a:cubicBezTo>
                      <a:pt x="164" y="720"/>
                      <a:pt x="159" y="721"/>
                      <a:pt x="158" y="723"/>
                    </a:cubicBezTo>
                    <a:cubicBezTo>
                      <a:pt x="159" y="724"/>
                      <a:pt x="159" y="724"/>
                      <a:pt x="159" y="725"/>
                    </a:cubicBezTo>
                    <a:cubicBezTo>
                      <a:pt x="156" y="728"/>
                      <a:pt x="153" y="725"/>
                      <a:pt x="150" y="726"/>
                    </a:cubicBezTo>
                    <a:cubicBezTo>
                      <a:pt x="150" y="726"/>
                      <a:pt x="149" y="727"/>
                      <a:pt x="149" y="727"/>
                    </a:cubicBezTo>
                    <a:cubicBezTo>
                      <a:pt x="147" y="729"/>
                      <a:pt x="143" y="728"/>
                      <a:pt x="141" y="728"/>
                    </a:cubicBezTo>
                    <a:cubicBezTo>
                      <a:pt x="140" y="727"/>
                      <a:pt x="139" y="727"/>
                      <a:pt x="139" y="724"/>
                    </a:cubicBezTo>
                    <a:cubicBezTo>
                      <a:pt x="139" y="724"/>
                      <a:pt x="139" y="722"/>
                      <a:pt x="139" y="721"/>
                    </a:cubicBezTo>
                    <a:cubicBezTo>
                      <a:pt x="140" y="719"/>
                      <a:pt x="142" y="717"/>
                      <a:pt x="143" y="717"/>
                    </a:cubicBezTo>
                    <a:cubicBezTo>
                      <a:pt x="146" y="720"/>
                      <a:pt x="150" y="716"/>
                      <a:pt x="151" y="717"/>
                    </a:cubicBezTo>
                    <a:cubicBezTo>
                      <a:pt x="152" y="717"/>
                      <a:pt x="152" y="717"/>
                      <a:pt x="152" y="718"/>
                    </a:cubicBezTo>
                    <a:cubicBezTo>
                      <a:pt x="153" y="717"/>
                      <a:pt x="153" y="717"/>
                      <a:pt x="153" y="717"/>
                    </a:cubicBezTo>
                    <a:cubicBezTo>
                      <a:pt x="152" y="716"/>
                      <a:pt x="152" y="715"/>
                      <a:pt x="150" y="715"/>
                    </a:cubicBezTo>
                    <a:cubicBezTo>
                      <a:pt x="148" y="717"/>
                      <a:pt x="146" y="714"/>
                      <a:pt x="144" y="714"/>
                    </a:cubicBezTo>
                    <a:cubicBezTo>
                      <a:pt x="143" y="713"/>
                      <a:pt x="141" y="715"/>
                      <a:pt x="140" y="715"/>
                    </a:cubicBezTo>
                    <a:cubicBezTo>
                      <a:pt x="138" y="716"/>
                      <a:pt x="134" y="711"/>
                      <a:pt x="134" y="709"/>
                    </a:cubicBezTo>
                    <a:cubicBezTo>
                      <a:pt x="135" y="708"/>
                      <a:pt x="134" y="707"/>
                      <a:pt x="134" y="705"/>
                    </a:cubicBezTo>
                    <a:cubicBezTo>
                      <a:pt x="134" y="705"/>
                      <a:pt x="134" y="705"/>
                      <a:pt x="134" y="704"/>
                    </a:cubicBezTo>
                    <a:cubicBezTo>
                      <a:pt x="133" y="704"/>
                      <a:pt x="133" y="704"/>
                      <a:pt x="133" y="704"/>
                    </a:cubicBezTo>
                    <a:cubicBezTo>
                      <a:pt x="133" y="704"/>
                      <a:pt x="133" y="705"/>
                      <a:pt x="133" y="705"/>
                    </a:cubicBezTo>
                    <a:cubicBezTo>
                      <a:pt x="133" y="705"/>
                      <a:pt x="133" y="705"/>
                      <a:pt x="133" y="706"/>
                    </a:cubicBezTo>
                    <a:cubicBezTo>
                      <a:pt x="133" y="706"/>
                      <a:pt x="133" y="706"/>
                      <a:pt x="133" y="707"/>
                    </a:cubicBezTo>
                    <a:cubicBezTo>
                      <a:pt x="133" y="707"/>
                      <a:pt x="132" y="707"/>
                      <a:pt x="132" y="707"/>
                    </a:cubicBezTo>
                    <a:cubicBezTo>
                      <a:pt x="128" y="711"/>
                      <a:pt x="116" y="706"/>
                      <a:pt x="115" y="712"/>
                    </a:cubicBezTo>
                    <a:cubicBezTo>
                      <a:pt x="115" y="713"/>
                      <a:pt x="114" y="714"/>
                      <a:pt x="114" y="716"/>
                    </a:cubicBezTo>
                    <a:cubicBezTo>
                      <a:pt x="113" y="717"/>
                      <a:pt x="113" y="718"/>
                      <a:pt x="110" y="718"/>
                    </a:cubicBezTo>
                    <a:cubicBezTo>
                      <a:pt x="109" y="718"/>
                      <a:pt x="106" y="717"/>
                      <a:pt x="104" y="718"/>
                    </a:cubicBezTo>
                    <a:cubicBezTo>
                      <a:pt x="102" y="718"/>
                      <a:pt x="102" y="720"/>
                      <a:pt x="101" y="721"/>
                    </a:cubicBezTo>
                    <a:cubicBezTo>
                      <a:pt x="98" y="723"/>
                      <a:pt x="91" y="722"/>
                      <a:pt x="92" y="718"/>
                    </a:cubicBezTo>
                    <a:cubicBezTo>
                      <a:pt x="90" y="717"/>
                      <a:pt x="87" y="715"/>
                      <a:pt x="87" y="713"/>
                    </a:cubicBezTo>
                    <a:cubicBezTo>
                      <a:pt x="87" y="713"/>
                      <a:pt x="87" y="713"/>
                      <a:pt x="87" y="713"/>
                    </a:cubicBezTo>
                    <a:cubicBezTo>
                      <a:pt x="87" y="712"/>
                      <a:pt x="87" y="712"/>
                      <a:pt x="87" y="712"/>
                    </a:cubicBezTo>
                    <a:cubicBezTo>
                      <a:pt x="88" y="712"/>
                      <a:pt x="90" y="712"/>
                      <a:pt x="91" y="712"/>
                    </a:cubicBezTo>
                    <a:cubicBezTo>
                      <a:pt x="91" y="712"/>
                      <a:pt x="91" y="712"/>
                      <a:pt x="92" y="711"/>
                    </a:cubicBezTo>
                    <a:cubicBezTo>
                      <a:pt x="91" y="711"/>
                      <a:pt x="91" y="711"/>
                      <a:pt x="91" y="711"/>
                    </a:cubicBezTo>
                    <a:cubicBezTo>
                      <a:pt x="91" y="711"/>
                      <a:pt x="91" y="711"/>
                      <a:pt x="91" y="711"/>
                    </a:cubicBezTo>
                    <a:cubicBezTo>
                      <a:pt x="90" y="711"/>
                      <a:pt x="88" y="711"/>
                      <a:pt x="86" y="711"/>
                    </a:cubicBezTo>
                    <a:cubicBezTo>
                      <a:pt x="85" y="712"/>
                      <a:pt x="85" y="713"/>
                      <a:pt x="83" y="713"/>
                    </a:cubicBezTo>
                    <a:cubicBezTo>
                      <a:pt x="82" y="711"/>
                      <a:pt x="79" y="709"/>
                      <a:pt x="79" y="707"/>
                    </a:cubicBezTo>
                    <a:cubicBezTo>
                      <a:pt x="79" y="707"/>
                      <a:pt x="79" y="707"/>
                      <a:pt x="80" y="707"/>
                    </a:cubicBezTo>
                    <a:cubicBezTo>
                      <a:pt x="81" y="708"/>
                      <a:pt x="80" y="708"/>
                      <a:pt x="81" y="707"/>
                    </a:cubicBezTo>
                    <a:cubicBezTo>
                      <a:pt x="82" y="707"/>
                      <a:pt x="83" y="705"/>
                      <a:pt x="84" y="704"/>
                    </a:cubicBezTo>
                    <a:cubicBezTo>
                      <a:pt x="86" y="703"/>
                      <a:pt x="87" y="706"/>
                      <a:pt x="87" y="701"/>
                    </a:cubicBezTo>
                    <a:cubicBezTo>
                      <a:pt x="85" y="699"/>
                      <a:pt x="85" y="695"/>
                      <a:pt x="82" y="695"/>
                    </a:cubicBezTo>
                    <a:cubicBezTo>
                      <a:pt x="80" y="694"/>
                      <a:pt x="77" y="695"/>
                      <a:pt x="75" y="695"/>
                    </a:cubicBezTo>
                    <a:cubicBezTo>
                      <a:pt x="75" y="694"/>
                      <a:pt x="75" y="693"/>
                      <a:pt x="75" y="692"/>
                    </a:cubicBezTo>
                    <a:cubicBezTo>
                      <a:pt x="75" y="692"/>
                      <a:pt x="75" y="692"/>
                      <a:pt x="75" y="691"/>
                    </a:cubicBezTo>
                    <a:cubicBezTo>
                      <a:pt x="78" y="689"/>
                      <a:pt x="81" y="687"/>
                      <a:pt x="84" y="685"/>
                    </a:cubicBezTo>
                    <a:cubicBezTo>
                      <a:pt x="85" y="685"/>
                      <a:pt x="86" y="685"/>
                      <a:pt x="87" y="685"/>
                    </a:cubicBezTo>
                    <a:cubicBezTo>
                      <a:pt x="89" y="683"/>
                      <a:pt x="88" y="680"/>
                      <a:pt x="90" y="679"/>
                    </a:cubicBezTo>
                    <a:cubicBezTo>
                      <a:pt x="91" y="678"/>
                      <a:pt x="100" y="678"/>
                      <a:pt x="101" y="678"/>
                    </a:cubicBezTo>
                    <a:cubicBezTo>
                      <a:pt x="102" y="678"/>
                      <a:pt x="103" y="679"/>
                      <a:pt x="104" y="679"/>
                    </a:cubicBezTo>
                    <a:cubicBezTo>
                      <a:pt x="104" y="678"/>
                      <a:pt x="104" y="677"/>
                      <a:pt x="104" y="677"/>
                    </a:cubicBezTo>
                    <a:cubicBezTo>
                      <a:pt x="105" y="675"/>
                      <a:pt x="106" y="676"/>
                      <a:pt x="108" y="675"/>
                    </a:cubicBezTo>
                    <a:cubicBezTo>
                      <a:pt x="109" y="674"/>
                      <a:pt x="109" y="672"/>
                      <a:pt x="110" y="671"/>
                    </a:cubicBezTo>
                    <a:cubicBezTo>
                      <a:pt x="112" y="670"/>
                      <a:pt x="115" y="668"/>
                      <a:pt x="117" y="667"/>
                    </a:cubicBezTo>
                    <a:cubicBezTo>
                      <a:pt x="120" y="666"/>
                      <a:pt x="123" y="668"/>
                      <a:pt x="126" y="666"/>
                    </a:cubicBezTo>
                    <a:cubicBezTo>
                      <a:pt x="128" y="665"/>
                      <a:pt x="131" y="662"/>
                      <a:pt x="133" y="660"/>
                    </a:cubicBezTo>
                    <a:cubicBezTo>
                      <a:pt x="133" y="660"/>
                      <a:pt x="133" y="659"/>
                      <a:pt x="134" y="659"/>
                    </a:cubicBezTo>
                    <a:cubicBezTo>
                      <a:pt x="135" y="659"/>
                      <a:pt x="136" y="659"/>
                      <a:pt x="137" y="659"/>
                    </a:cubicBezTo>
                    <a:cubicBezTo>
                      <a:pt x="137" y="658"/>
                      <a:pt x="137" y="658"/>
                      <a:pt x="138" y="657"/>
                    </a:cubicBezTo>
                    <a:cubicBezTo>
                      <a:pt x="138" y="657"/>
                      <a:pt x="139" y="657"/>
                      <a:pt x="140" y="657"/>
                    </a:cubicBezTo>
                    <a:cubicBezTo>
                      <a:pt x="140" y="656"/>
                      <a:pt x="144" y="654"/>
                      <a:pt x="144" y="653"/>
                    </a:cubicBezTo>
                    <a:cubicBezTo>
                      <a:pt x="146" y="650"/>
                      <a:pt x="148" y="645"/>
                      <a:pt x="150" y="641"/>
                    </a:cubicBezTo>
                    <a:cubicBezTo>
                      <a:pt x="150" y="640"/>
                      <a:pt x="149" y="640"/>
                      <a:pt x="150" y="638"/>
                    </a:cubicBezTo>
                    <a:cubicBezTo>
                      <a:pt x="150" y="637"/>
                      <a:pt x="151" y="637"/>
                      <a:pt x="151" y="637"/>
                    </a:cubicBezTo>
                    <a:cubicBezTo>
                      <a:pt x="151" y="636"/>
                      <a:pt x="151" y="635"/>
                      <a:pt x="151" y="634"/>
                    </a:cubicBezTo>
                    <a:cubicBezTo>
                      <a:pt x="152" y="634"/>
                      <a:pt x="153" y="633"/>
                      <a:pt x="153" y="632"/>
                    </a:cubicBezTo>
                    <a:cubicBezTo>
                      <a:pt x="153" y="631"/>
                      <a:pt x="152" y="630"/>
                      <a:pt x="152" y="629"/>
                    </a:cubicBezTo>
                    <a:cubicBezTo>
                      <a:pt x="152" y="629"/>
                      <a:pt x="153" y="629"/>
                      <a:pt x="153" y="628"/>
                    </a:cubicBezTo>
                    <a:cubicBezTo>
                      <a:pt x="152" y="628"/>
                      <a:pt x="150" y="626"/>
                      <a:pt x="150" y="625"/>
                    </a:cubicBezTo>
                    <a:cubicBezTo>
                      <a:pt x="150" y="625"/>
                      <a:pt x="149" y="616"/>
                      <a:pt x="149" y="616"/>
                    </a:cubicBezTo>
                    <a:cubicBezTo>
                      <a:pt x="150" y="613"/>
                      <a:pt x="153" y="612"/>
                      <a:pt x="153" y="609"/>
                    </a:cubicBezTo>
                    <a:cubicBezTo>
                      <a:pt x="152" y="609"/>
                      <a:pt x="151" y="608"/>
                      <a:pt x="150" y="608"/>
                    </a:cubicBezTo>
                    <a:cubicBezTo>
                      <a:pt x="150" y="608"/>
                      <a:pt x="149" y="607"/>
                      <a:pt x="149" y="607"/>
                    </a:cubicBezTo>
                    <a:cubicBezTo>
                      <a:pt x="149" y="606"/>
                      <a:pt x="149" y="604"/>
                      <a:pt x="149" y="603"/>
                    </a:cubicBezTo>
                    <a:cubicBezTo>
                      <a:pt x="148" y="602"/>
                      <a:pt x="147" y="602"/>
                      <a:pt x="147" y="599"/>
                    </a:cubicBezTo>
                    <a:cubicBezTo>
                      <a:pt x="147" y="599"/>
                      <a:pt x="147" y="599"/>
                      <a:pt x="147" y="598"/>
                    </a:cubicBezTo>
                    <a:cubicBezTo>
                      <a:pt x="148" y="598"/>
                      <a:pt x="148" y="598"/>
                      <a:pt x="149" y="598"/>
                    </a:cubicBezTo>
                    <a:cubicBezTo>
                      <a:pt x="149" y="597"/>
                      <a:pt x="149" y="597"/>
                      <a:pt x="149" y="597"/>
                    </a:cubicBezTo>
                    <a:cubicBezTo>
                      <a:pt x="149" y="595"/>
                      <a:pt x="148" y="595"/>
                      <a:pt x="148" y="595"/>
                    </a:cubicBezTo>
                    <a:cubicBezTo>
                      <a:pt x="147" y="593"/>
                      <a:pt x="149" y="589"/>
                      <a:pt x="149" y="589"/>
                    </a:cubicBezTo>
                    <a:cubicBezTo>
                      <a:pt x="148" y="589"/>
                      <a:pt x="148" y="589"/>
                      <a:pt x="147" y="589"/>
                    </a:cubicBezTo>
                    <a:cubicBezTo>
                      <a:pt x="145" y="590"/>
                      <a:pt x="143" y="588"/>
                      <a:pt x="141" y="589"/>
                    </a:cubicBezTo>
                    <a:cubicBezTo>
                      <a:pt x="138" y="589"/>
                      <a:pt x="128" y="593"/>
                      <a:pt x="127" y="596"/>
                    </a:cubicBezTo>
                    <a:cubicBezTo>
                      <a:pt x="127" y="598"/>
                      <a:pt x="127" y="599"/>
                      <a:pt x="127" y="601"/>
                    </a:cubicBezTo>
                    <a:cubicBezTo>
                      <a:pt x="126" y="601"/>
                      <a:pt x="126" y="601"/>
                      <a:pt x="126" y="602"/>
                    </a:cubicBezTo>
                    <a:cubicBezTo>
                      <a:pt x="123" y="601"/>
                      <a:pt x="123" y="599"/>
                      <a:pt x="120" y="599"/>
                    </a:cubicBezTo>
                    <a:cubicBezTo>
                      <a:pt x="118" y="601"/>
                      <a:pt x="113" y="601"/>
                      <a:pt x="110" y="601"/>
                    </a:cubicBezTo>
                    <a:cubicBezTo>
                      <a:pt x="110" y="601"/>
                      <a:pt x="110" y="600"/>
                      <a:pt x="110" y="599"/>
                    </a:cubicBezTo>
                    <a:cubicBezTo>
                      <a:pt x="111" y="598"/>
                      <a:pt x="111" y="596"/>
                      <a:pt x="112" y="594"/>
                    </a:cubicBezTo>
                    <a:cubicBezTo>
                      <a:pt x="113" y="593"/>
                      <a:pt x="118" y="588"/>
                      <a:pt x="120" y="587"/>
                    </a:cubicBezTo>
                    <a:cubicBezTo>
                      <a:pt x="121" y="586"/>
                      <a:pt x="123" y="586"/>
                      <a:pt x="124" y="585"/>
                    </a:cubicBezTo>
                    <a:cubicBezTo>
                      <a:pt x="128" y="583"/>
                      <a:pt x="134" y="577"/>
                      <a:pt x="135" y="573"/>
                    </a:cubicBezTo>
                    <a:cubicBezTo>
                      <a:pt x="135" y="571"/>
                      <a:pt x="135" y="569"/>
                      <a:pt x="135" y="568"/>
                    </a:cubicBezTo>
                    <a:cubicBezTo>
                      <a:pt x="135" y="568"/>
                      <a:pt x="135" y="568"/>
                      <a:pt x="135" y="568"/>
                    </a:cubicBezTo>
                    <a:cubicBezTo>
                      <a:pt x="135" y="567"/>
                      <a:pt x="135" y="567"/>
                      <a:pt x="135" y="567"/>
                    </a:cubicBezTo>
                    <a:cubicBezTo>
                      <a:pt x="134" y="567"/>
                      <a:pt x="132" y="567"/>
                      <a:pt x="132" y="567"/>
                    </a:cubicBezTo>
                    <a:cubicBezTo>
                      <a:pt x="131" y="566"/>
                      <a:pt x="130" y="564"/>
                      <a:pt x="130" y="563"/>
                    </a:cubicBezTo>
                    <a:cubicBezTo>
                      <a:pt x="128" y="562"/>
                      <a:pt x="125" y="561"/>
                      <a:pt x="124" y="559"/>
                    </a:cubicBezTo>
                    <a:cubicBezTo>
                      <a:pt x="123" y="558"/>
                      <a:pt x="124" y="557"/>
                      <a:pt x="124" y="557"/>
                    </a:cubicBezTo>
                    <a:cubicBezTo>
                      <a:pt x="123" y="556"/>
                      <a:pt x="123" y="555"/>
                      <a:pt x="122" y="555"/>
                    </a:cubicBezTo>
                    <a:cubicBezTo>
                      <a:pt x="121" y="555"/>
                      <a:pt x="121" y="555"/>
                      <a:pt x="120" y="555"/>
                    </a:cubicBezTo>
                    <a:cubicBezTo>
                      <a:pt x="119" y="552"/>
                      <a:pt x="118" y="552"/>
                      <a:pt x="115" y="551"/>
                    </a:cubicBezTo>
                    <a:cubicBezTo>
                      <a:pt x="115" y="550"/>
                      <a:pt x="114" y="550"/>
                      <a:pt x="114" y="548"/>
                    </a:cubicBezTo>
                    <a:cubicBezTo>
                      <a:pt x="115" y="548"/>
                      <a:pt x="115" y="546"/>
                      <a:pt x="115" y="546"/>
                    </a:cubicBezTo>
                    <a:cubicBezTo>
                      <a:pt x="117" y="546"/>
                      <a:pt x="118" y="547"/>
                      <a:pt x="121" y="547"/>
                    </a:cubicBezTo>
                    <a:cubicBezTo>
                      <a:pt x="121" y="547"/>
                      <a:pt x="121" y="547"/>
                      <a:pt x="121" y="547"/>
                    </a:cubicBezTo>
                    <a:cubicBezTo>
                      <a:pt x="121" y="547"/>
                      <a:pt x="121" y="547"/>
                      <a:pt x="121" y="547"/>
                    </a:cubicBezTo>
                    <a:cubicBezTo>
                      <a:pt x="121" y="545"/>
                      <a:pt x="122" y="544"/>
                      <a:pt x="122" y="543"/>
                    </a:cubicBezTo>
                    <a:cubicBezTo>
                      <a:pt x="122" y="541"/>
                      <a:pt x="121" y="540"/>
                      <a:pt x="121" y="538"/>
                    </a:cubicBezTo>
                    <a:cubicBezTo>
                      <a:pt x="126" y="535"/>
                      <a:pt x="132" y="536"/>
                      <a:pt x="139" y="537"/>
                    </a:cubicBezTo>
                    <a:cubicBezTo>
                      <a:pt x="140" y="539"/>
                      <a:pt x="143" y="548"/>
                      <a:pt x="145" y="548"/>
                    </a:cubicBezTo>
                    <a:cubicBezTo>
                      <a:pt x="146" y="549"/>
                      <a:pt x="146" y="549"/>
                      <a:pt x="147" y="549"/>
                    </a:cubicBezTo>
                    <a:cubicBezTo>
                      <a:pt x="147" y="547"/>
                      <a:pt x="148" y="547"/>
                      <a:pt x="151" y="547"/>
                    </a:cubicBezTo>
                    <a:cubicBezTo>
                      <a:pt x="151" y="547"/>
                      <a:pt x="153" y="547"/>
                      <a:pt x="153" y="548"/>
                    </a:cubicBezTo>
                    <a:cubicBezTo>
                      <a:pt x="154" y="548"/>
                      <a:pt x="154" y="548"/>
                      <a:pt x="154" y="549"/>
                    </a:cubicBezTo>
                    <a:cubicBezTo>
                      <a:pt x="153" y="549"/>
                      <a:pt x="149" y="555"/>
                      <a:pt x="149" y="556"/>
                    </a:cubicBezTo>
                    <a:cubicBezTo>
                      <a:pt x="149" y="556"/>
                      <a:pt x="150" y="556"/>
                      <a:pt x="150" y="556"/>
                    </a:cubicBezTo>
                    <a:cubicBezTo>
                      <a:pt x="150" y="556"/>
                      <a:pt x="152" y="556"/>
                      <a:pt x="153" y="556"/>
                    </a:cubicBezTo>
                    <a:cubicBezTo>
                      <a:pt x="156" y="553"/>
                      <a:pt x="162" y="551"/>
                      <a:pt x="166" y="549"/>
                    </a:cubicBezTo>
                    <a:cubicBezTo>
                      <a:pt x="166" y="546"/>
                      <a:pt x="166" y="546"/>
                      <a:pt x="169" y="546"/>
                    </a:cubicBezTo>
                    <a:cubicBezTo>
                      <a:pt x="180" y="555"/>
                      <a:pt x="187" y="543"/>
                      <a:pt x="199" y="543"/>
                    </a:cubicBezTo>
                    <a:cubicBezTo>
                      <a:pt x="201" y="546"/>
                      <a:pt x="205" y="548"/>
                      <a:pt x="208" y="550"/>
                    </a:cubicBezTo>
                    <a:cubicBezTo>
                      <a:pt x="208" y="551"/>
                      <a:pt x="210" y="552"/>
                      <a:pt x="210" y="552"/>
                    </a:cubicBezTo>
                    <a:cubicBezTo>
                      <a:pt x="211" y="551"/>
                      <a:pt x="211" y="551"/>
                      <a:pt x="211" y="550"/>
                    </a:cubicBezTo>
                    <a:cubicBezTo>
                      <a:pt x="210" y="549"/>
                      <a:pt x="210" y="548"/>
                      <a:pt x="209" y="546"/>
                    </a:cubicBezTo>
                    <a:cubicBezTo>
                      <a:pt x="208" y="543"/>
                      <a:pt x="205" y="542"/>
                      <a:pt x="205" y="537"/>
                    </a:cubicBezTo>
                    <a:cubicBezTo>
                      <a:pt x="205" y="537"/>
                      <a:pt x="205" y="537"/>
                      <a:pt x="205" y="537"/>
                    </a:cubicBezTo>
                    <a:cubicBezTo>
                      <a:pt x="205" y="537"/>
                      <a:pt x="205" y="537"/>
                      <a:pt x="205" y="537"/>
                    </a:cubicBezTo>
                    <a:cubicBezTo>
                      <a:pt x="208" y="536"/>
                      <a:pt x="210" y="535"/>
                      <a:pt x="212" y="534"/>
                    </a:cubicBezTo>
                    <a:cubicBezTo>
                      <a:pt x="214" y="533"/>
                      <a:pt x="215" y="534"/>
                      <a:pt x="216" y="535"/>
                    </a:cubicBezTo>
                    <a:cubicBezTo>
                      <a:pt x="215" y="529"/>
                      <a:pt x="210" y="526"/>
                      <a:pt x="209" y="521"/>
                    </a:cubicBezTo>
                    <a:cubicBezTo>
                      <a:pt x="210" y="521"/>
                      <a:pt x="216" y="509"/>
                      <a:pt x="216" y="508"/>
                    </a:cubicBezTo>
                    <a:cubicBezTo>
                      <a:pt x="215" y="507"/>
                      <a:pt x="210" y="496"/>
                      <a:pt x="211" y="493"/>
                    </a:cubicBezTo>
                    <a:cubicBezTo>
                      <a:pt x="212" y="492"/>
                      <a:pt x="212" y="492"/>
                      <a:pt x="212" y="492"/>
                    </a:cubicBezTo>
                    <a:cubicBezTo>
                      <a:pt x="213" y="490"/>
                      <a:pt x="211" y="486"/>
                      <a:pt x="212" y="484"/>
                    </a:cubicBezTo>
                    <a:cubicBezTo>
                      <a:pt x="212" y="483"/>
                      <a:pt x="212" y="483"/>
                      <a:pt x="213" y="483"/>
                    </a:cubicBezTo>
                    <a:cubicBezTo>
                      <a:pt x="217" y="480"/>
                      <a:pt x="223" y="482"/>
                      <a:pt x="226" y="476"/>
                    </a:cubicBezTo>
                    <a:cubicBezTo>
                      <a:pt x="224" y="475"/>
                      <a:pt x="222" y="475"/>
                      <a:pt x="221" y="471"/>
                    </a:cubicBezTo>
                    <a:cubicBezTo>
                      <a:pt x="223" y="470"/>
                      <a:pt x="228" y="465"/>
                      <a:pt x="227" y="462"/>
                    </a:cubicBezTo>
                    <a:cubicBezTo>
                      <a:pt x="227" y="460"/>
                      <a:pt x="226" y="458"/>
                      <a:pt x="224" y="457"/>
                    </a:cubicBezTo>
                    <a:cubicBezTo>
                      <a:pt x="224" y="457"/>
                      <a:pt x="222" y="457"/>
                      <a:pt x="221" y="457"/>
                    </a:cubicBezTo>
                    <a:cubicBezTo>
                      <a:pt x="221" y="457"/>
                      <a:pt x="219" y="459"/>
                      <a:pt x="218" y="460"/>
                    </a:cubicBezTo>
                    <a:cubicBezTo>
                      <a:pt x="218" y="460"/>
                      <a:pt x="216" y="461"/>
                      <a:pt x="215" y="461"/>
                    </a:cubicBezTo>
                    <a:cubicBezTo>
                      <a:pt x="214" y="460"/>
                      <a:pt x="214" y="459"/>
                      <a:pt x="213" y="458"/>
                    </a:cubicBezTo>
                    <a:cubicBezTo>
                      <a:pt x="213" y="458"/>
                      <a:pt x="213" y="458"/>
                      <a:pt x="213" y="458"/>
                    </a:cubicBezTo>
                    <a:cubicBezTo>
                      <a:pt x="211" y="460"/>
                      <a:pt x="211" y="463"/>
                      <a:pt x="209" y="465"/>
                    </a:cubicBezTo>
                    <a:cubicBezTo>
                      <a:pt x="209" y="465"/>
                      <a:pt x="207" y="469"/>
                      <a:pt x="207" y="469"/>
                    </a:cubicBezTo>
                    <a:cubicBezTo>
                      <a:pt x="206" y="469"/>
                      <a:pt x="206" y="469"/>
                      <a:pt x="206" y="469"/>
                    </a:cubicBezTo>
                    <a:cubicBezTo>
                      <a:pt x="205" y="470"/>
                      <a:pt x="204" y="471"/>
                      <a:pt x="204" y="471"/>
                    </a:cubicBezTo>
                    <a:cubicBezTo>
                      <a:pt x="201" y="471"/>
                      <a:pt x="198" y="467"/>
                      <a:pt x="198" y="464"/>
                    </a:cubicBezTo>
                    <a:cubicBezTo>
                      <a:pt x="199" y="464"/>
                      <a:pt x="203" y="455"/>
                      <a:pt x="203" y="454"/>
                    </a:cubicBezTo>
                    <a:cubicBezTo>
                      <a:pt x="203" y="453"/>
                      <a:pt x="202" y="451"/>
                      <a:pt x="202" y="451"/>
                    </a:cubicBezTo>
                    <a:cubicBezTo>
                      <a:pt x="202" y="451"/>
                      <a:pt x="201" y="451"/>
                      <a:pt x="201" y="451"/>
                    </a:cubicBezTo>
                    <a:cubicBezTo>
                      <a:pt x="201" y="452"/>
                      <a:pt x="201" y="455"/>
                      <a:pt x="200" y="456"/>
                    </a:cubicBezTo>
                    <a:cubicBezTo>
                      <a:pt x="199" y="457"/>
                      <a:pt x="198" y="457"/>
                      <a:pt x="196" y="458"/>
                    </a:cubicBezTo>
                    <a:cubicBezTo>
                      <a:pt x="195" y="455"/>
                      <a:pt x="192" y="453"/>
                      <a:pt x="191" y="450"/>
                    </a:cubicBezTo>
                    <a:cubicBezTo>
                      <a:pt x="190" y="449"/>
                      <a:pt x="190" y="448"/>
                      <a:pt x="190" y="447"/>
                    </a:cubicBezTo>
                    <a:cubicBezTo>
                      <a:pt x="190" y="446"/>
                      <a:pt x="190" y="444"/>
                      <a:pt x="190" y="443"/>
                    </a:cubicBezTo>
                    <a:cubicBezTo>
                      <a:pt x="189" y="442"/>
                      <a:pt x="187" y="438"/>
                      <a:pt x="186" y="437"/>
                    </a:cubicBezTo>
                    <a:cubicBezTo>
                      <a:pt x="183" y="433"/>
                      <a:pt x="177" y="429"/>
                      <a:pt x="177" y="424"/>
                    </a:cubicBezTo>
                    <a:cubicBezTo>
                      <a:pt x="177" y="423"/>
                      <a:pt x="177" y="422"/>
                      <a:pt x="177" y="421"/>
                    </a:cubicBezTo>
                    <a:cubicBezTo>
                      <a:pt x="178" y="420"/>
                      <a:pt x="179" y="419"/>
                      <a:pt x="180" y="417"/>
                    </a:cubicBezTo>
                    <a:cubicBezTo>
                      <a:pt x="181" y="414"/>
                      <a:pt x="180" y="411"/>
                      <a:pt x="181" y="409"/>
                    </a:cubicBezTo>
                    <a:cubicBezTo>
                      <a:pt x="182" y="404"/>
                      <a:pt x="186" y="402"/>
                      <a:pt x="188" y="398"/>
                    </a:cubicBezTo>
                    <a:cubicBezTo>
                      <a:pt x="189" y="394"/>
                      <a:pt x="189" y="386"/>
                      <a:pt x="192" y="385"/>
                    </a:cubicBezTo>
                    <a:cubicBezTo>
                      <a:pt x="193" y="384"/>
                      <a:pt x="195" y="385"/>
                      <a:pt x="196" y="385"/>
                    </a:cubicBezTo>
                    <a:cubicBezTo>
                      <a:pt x="196" y="384"/>
                      <a:pt x="195" y="384"/>
                      <a:pt x="196" y="383"/>
                    </a:cubicBezTo>
                    <a:cubicBezTo>
                      <a:pt x="196" y="382"/>
                      <a:pt x="198" y="380"/>
                      <a:pt x="199" y="380"/>
                    </a:cubicBezTo>
                    <a:cubicBezTo>
                      <a:pt x="202" y="380"/>
                      <a:pt x="204" y="380"/>
                      <a:pt x="206" y="380"/>
                    </a:cubicBezTo>
                    <a:cubicBezTo>
                      <a:pt x="207" y="380"/>
                      <a:pt x="208" y="379"/>
                      <a:pt x="209" y="379"/>
                    </a:cubicBezTo>
                    <a:cubicBezTo>
                      <a:pt x="209" y="379"/>
                      <a:pt x="209" y="378"/>
                      <a:pt x="209" y="378"/>
                    </a:cubicBezTo>
                    <a:cubicBezTo>
                      <a:pt x="209" y="378"/>
                      <a:pt x="209" y="378"/>
                      <a:pt x="209" y="378"/>
                    </a:cubicBezTo>
                    <a:cubicBezTo>
                      <a:pt x="209" y="378"/>
                      <a:pt x="209" y="378"/>
                      <a:pt x="209" y="378"/>
                    </a:cubicBezTo>
                    <a:cubicBezTo>
                      <a:pt x="206" y="379"/>
                      <a:pt x="201" y="379"/>
                      <a:pt x="196" y="378"/>
                    </a:cubicBezTo>
                    <a:cubicBezTo>
                      <a:pt x="192" y="377"/>
                      <a:pt x="189" y="379"/>
                      <a:pt x="185" y="378"/>
                    </a:cubicBezTo>
                    <a:cubicBezTo>
                      <a:pt x="183" y="378"/>
                      <a:pt x="182" y="377"/>
                      <a:pt x="180" y="377"/>
                    </a:cubicBezTo>
                    <a:cubicBezTo>
                      <a:pt x="181" y="380"/>
                      <a:pt x="181" y="384"/>
                      <a:pt x="181" y="387"/>
                    </a:cubicBezTo>
                    <a:cubicBezTo>
                      <a:pt x="180" y="388"/>
                      <a:pt x="179" y="390"/>
                      <a:pt x="178" y="390"/>
                    </a:cubicBezTo>
                    <a:cubicBezTo>
                      <a:pt x="176" y="391"/>
                      <a:pt x="175" y="388"/>
                      <a:pt x="172" y="389"/>
                    </a:cubicBezTo>
                    <a:cubicBezTo>
                      <a:pt x="172" y="389"/>
                      <a:pt x="171" y="390"/>
                      <a:pt x="171" y="390"/>
                    </a:cubicBezTo>
                    <a:cubicBezTo>
                      <a:pt x="169" y="391"/>
                      <a:pt x="168" y="391"/>
                      <a:pt x="165" y="391"/>
                    </a:cubicBezTo>
                    <a:cubicBezTo>
                      <a:pt x="165" y="392"/>
                      <a:pt x="165" y="393"/>
                      <a:pt x="166" y="394"/>
                    </a:cubicBezTo>
                    <a:cubicBezTo>
                      <a:pt x="162" y="396"/>
                      <a:pt x="161" y="399"/>
                      <a:pt x="155" y="399"/>
                    </a:cubicBezTo>
                    <a:cubicBezTo>
                      <a:pt x="154" y="399"/>
                      <a:pt x="153" y="399"/>
                      <a:pt x="152" y="399"/>
                    </a:cubicBezTo>
                    <a:cubicBezTo>
                      <a:pt x="152" y="399"/>
                      <a:pt x="152" y="399"/>
                      <a:pt x="151" y="398"/>
                    </a:cubicBezTo>
                    <a:cubicBezTo>
                      <a:pt x="150" y="398"/>
                      <a:pt x="149" y="400"/>
                      <a:pt x="147" y="399"/>
                    </a:cubicBezTo>
                    <a:cubicBezTo>
                      <a:pt x="144" y="398"/>
                      <a:pt x="143" y="394"/>
                      <a:pt x="140" y="392"/>
                    </a:cubicBezTo>
                    <a:cubicBezTo>
                      <a:pt x="139" y="391"/>
                      <a:pt x="136" y="391"/>
                      <a:pt x="135" y="390"/>
                    </a:cubicBezTo>
                    <a:cubicBezTo>
                      <a:pt x="133" y="388"/>
                      <a:pt x="134" y="386"/>
                      <a:pt x="132" y="386"/>
                    </a:cubicBezTo>
                    <a:cubicBezTo>
                      <a:pt x="131" y="386"/>
                      <a:pt x="131" y="386"/>
                      <a:pt x="131" y="387"/>
                    </a:cubicBezTo>
                    <a:cubicBezTo>
                      <a:pt x="130" y="388"/>
                      <a:pt x="131" y="390"/>
                      <a:pt x="131" y="392"/>
                    </a:cubicBezTo>
                    <a:cubicBezTo>
                      <a:pt x="133" y="393"/>
                      <a:pt x="135" y="395"/>
                      <a:pt x="135" y="398"/>
                    </a:cubicBezTo>
                    <a:cubicBezTo>
                      <a:pt x="135" y="399"/>
                      <a:pt x="135" y="399"/>
                      <a:pt x="135" y="400"/>
                    </a:cubicBezTo>
                    <a:cubicBezTo>
                      <a:pt x="135" y="401"/>
                      <a:pt x="134" y="402"/>
                      <a:pt x="134" y="403"/>
                    </a:cubicBezTo>
                    <a:cubicBezTo>
                      <a:pt x="135" y="405"/>
                      <a:pt x="136" y="405"/>
                      <a:pt x="134" y="408"/>
                    </a:cubicBezTo>
                    <a:cubicBezTo>
                      <a:pt x="131" y="410"/>
                      <a:pt x="130" y="408"/>
                      <a:pt x="128" y="407"/>
                    </a:cubicBezTo>
                    <a:cubicBezTo>
                      <a:pt x="127" y="406"/>
                      <a:pt x="126" y="407"/>
                      <a:pt x="126" y="406"/>
                    </a:cubicBezTo>
                    <a:cubicBezTo>
                      <a:pt x="123" y="405"/>
                      <a:pt x="123" y="402"/>
                      <a:pt x="121" y="400"/>
                    </a:cubicBezTo>
                    <a:cubicBezTo>
                      <a:pt x="120" y="399"/>
                      <a:pt x="114" y="395"/>
                      <a:pt x="112" y="394"/>
                    </a:cubicBezTo>
                    <a:cubicBezTo>
                      <a:pt x="111" y="394"/>
                      <a:pt x="110" y="394"/>
                      <a:pt x="110" y="394"/>
                    </a:cubicBezTo>
                    <a:cubicBezTo>
                      <a:pt x="108" y="393"/>
                      <a:pt x="108" y="391"/>
                      <a:pt x="106" y="391"/>
                    </a:cubicBezTo>
                    <a:cubicBezTo>
                      <a:pt x="105" y="392"/>
                      <a:pt x="104" y="392"/>
                      <a:pt x="102" y="391"/>
                    </a:cubicBezTo>
                    <a:cubicBezTo>
                      <a:pt x="101" y="393"/>
                      <a:pt x="99" y="394"/>
                      <a:pt x="99" y="397"/>
                    </a:cubicBezTo>
                    <a:cubicBezTo>
                      <a:pt x="101" y="399"/>
                      <a:pt x="101" y="401"/>
                      <a:pt x="101" y="403"/>
                    </a:cubicBezTo>
                    <a:cubicBezTo>
                      <a:pt x="102" y="405"/>
                      <a:pt x="105" y="406"/>
                      <a:pt x="105" y="409"/>
                    </a:cubicBezTo>
                    <a:cubicBezTo>
                      <a:pt x="105" y="410"/>
                      <a:pt x="105" y="412"/>
                      <a:pt x="105" y="413"/>
                    </a:cubicBezTo>
                    <a:cubicBezTo>
                      <a:pt x="105" y="413"/>
                      <a:pt x="104" y="413"/>
                      <a:pt x="104" y="413"/>
                    </a:cubicBezTo>
                    <a:cubicBezTo>
                      <a:pt x="103" y="414"/>
                      <a:pt x="103" y="414"/>
                      <a:pt x="101" y="414"/>
                    </a:cubicBezTo>
                    <a:cubicBezTo>
                      <a:pt x="101" y="413"/>
                      <a:pt x="99" y="412"/>
                      <a:pt x="99" y="412"/>
                    </a:cubicBezTo>
                    <a:cubicBezTo>
                      <a:pt x="97" y="409"/>
                      <a:pt x="98" y="407"/>
                      <a:pt x="98" y="405"/>
                    </a:cubicBezTo>
                    <a:cubicBezTo>
                      <a:pt x="96" y="403"/>
                      <a:pt x="95" y="399"/>
                      <a:pt x="93" y="396"/>
                    </a:cubicBezTo>
                    <a:cubicBezTo>
                      <a:pt x="90" y="393"/>
                      <a:pt x="87" y="391"/>
                      <a:pt x="86" y="387"/>
                    </a:cubicBezTo>
                    <a:cubicBezTo>
                      <a:pt x="85" y="384"/>
                      <a:pt x="84" y="378"/>
                      <a:pt x="86" y="375"/>
                    </a:cubicBezTo>
                    <a:cubicBezTo>
                      <a:pt x="86" y="374"/>
                      <a:pt x="87" y="373"/>
                      <a:pt x="89" y="373"/>
                    </a:cubicBezTo>
                    <a:cubicBezTo>
                      <a:pt x="90" y="373"/>
                      <a:pt x="90" y="373"/>
                      <a:pt x="90" y="373"/>
                    </a:cubicBezTo>
                    <a:cubicBezTo>
                      <a:pt x="91" y="374"/>
                      <a:pt x="92" y="376"/>
                      <a:pt x="93" y="377"/>
                    </a:cubicBezTo>
                    <a:cubicBezTo>
                      <a:pt x="94" y="381"/>
                      <a:pt x="92" y="385"/>
                      <a:pt x="97" y="385"/>
                    </a:cubicBezTo>
                    <a:cubicBezTo>
                      <a:pt x="97" y="379"/>
                      <a:pt x="91" y="375"/>
                      <a:pt x="93" y="369"/>
                    </a:cubicBezTo>
                    <a:cubicBezTo>
                      <a:pt x="94" y="368"/>
                      <a:pt x="95" y="365"/>
                      <a:pt x="95" y="364"/>
                    </a:cubicBezTo>
                    <a:cubicBezTo>
                      <a:pt x="95" y="363"/>
                      <a:pt x="95" y="363"/>
                      <a:pt x="95" y="362"/>
                    </a:cubicBezTo>
                    <a:cubicBezTo>
                      <a:pt x="96" y="361"/>
                      <a:pt x="97" y="360"/>
                      <a:pt x="98" y="360"/>
                    </a:cubicBezTo>
                    <a:cubicBezTo>
                      <a:pt x="100" y="358"/>
                      <a:pt x="103" y="355"/>
                      <a:pt x="104" y="352"/>
                    </a:cubicBezTo>
                    <a:cubicBezTo>
                      <a:pt x="106" y="348"/>
                      <a:pt x="105" y="341"/>
                      <a:pt x="107" y="337"/>
                    </a:cubicBezTo>
                    <a:cubicBezTo>
                      <a:pt x="107" y="337"/>
                      <a:pt x="107" y="337"/>
                      <a:pt x="107" y="337"/>
                    </a:cubicBezTo>
                    <a:cubicBezTo>
                      <a:pt x="108" y="337"/>
                      <a:pt x="110" y="334"/>
                      <a:pt x="110" y="333"/>
                    </a:cubicBezTo>
                    <a:cubicBezTo>
                      <a:pt x="112" y="332"/>
                      <a:pt x="117" y="331"/>
                      <a:pt x="118" y="328"/>
                    </a:cubicBezTo>
                    <a:cubicBezTo>
                      <a:pt x="118" y="327"/>
                      <a:pt x="118" y="325"/>
                      <a:pt x="118" y="323"/>
                    </a:cubicBezTo>
                    <a:cubicBezTo>
                      <a:pt x="115" y="321"/>
                      <a:pt x="116" y="317"/>
                      <a:pt x="114" y="315"/>
                    </a:cubicBezTo>
                    <a:cubicBezTo>
                      <a:pt x="113" y="312"/>
                      <a:pt x="109" y="313"/>
                      <a:pt x="107" y="312"/>
                    </a:cubicBezTo>
                    <a:cubicBezTo>
                      <a:pt x="106" y="311"/>
                      <a:pt x="106" y="309"/>
                      <a:pt x="105" y="308"/>
                    </a:cubicBezTo>
                    <a:cubicBezTo>
                      <a:pt x="104" y="306"/>
                      <a:pt x="99" y="305"/>
                      <a:pt x="98" y="301"/>
                    </a:cubicBezTo>
                    <a:cubicBezTo>
                      <a:pt x="99" y="301"/>
                      <a:pt x="99" y="301"/>
                      <a:pt x="99" y="301"/>
                    </a:cubicBezTo>
                    <a:cubicBezTo>
                      <a:pt x="99" y="301"/>
                      <a:pt x="99" y="301"/>
                      <a:pt x="99" y="301"/>
                    </a:cubicBezTo>
                    <a:cubicBezTo>
                      <a:pt x="99" y="301"/>
                      <a:pt x="99" y="301"/>
                      <a:pt x="99" y="301"/>
                    </a:cubicBezTo>
                    <a:cubicBezTo>
                      <a:pt x="100" y="302"/>
                      <a:pt x="100" y="302"/>
                      <a:pt x="102" y="303"/>
                    </a:cubicBezTo>
                    <a:cubicBezTo>
                      <a:pt x="104" y="299"/>
                      <a:pt x="105" y="301"/>
                      <a:pt x="105" y="295"/>
                    </a:cubicBezTo>
                    <a:cubicBezTo>
                      <a:pt x="101" y="293"/>
                      <a:pt x="101" y="292"/>
                      <a:pt x="101" y="286"/>
                    </a:cubicBezTo>
                    <a:cubicBezTo>
                      <a:pt x="101" y="286"/>
                      <a:pt x="103" y="285"/>
                      <a:pt x="103" y="284"/>
                    </a:cubicBezTo>
                    <a:cubicBezTo>
                      <a:pt x="104" y="284"/>
                      <a:pt x="103" y="281"/>
                      <a:pt x="104" y="280"/>
                    </a:cubicBezTo>
                    <a:cubicBezTo>
                      <a:pt x="106" y="278"/>
                      <a:pt x="108" y="278"/>
                      <a:pt x="111" y="278"/>
                    </a:cubicBezTo>
                    <a:cubicBezTo>
                      <a:pt x="113" y="280"/>
                      <a:pt x="116" y="280"/>
                      <a:pt x="119" y="281"/>
                    </a:cubicBezTo>
                    <a:cubicBezTo>
                      <a:pt x="119" y="281"/>
                      <a:pt x="119" y="280"/>
                      <a:pt x="119" y="280"/>
                    </a:cubicBezTo>
                    <a:cubicBezTo>
                      <a:pt x="119" y="280"/>
                      <a:pt x="118" y="280"/>
                      <a:pt x="118" y="280"/>
                    </a:cubicBezTo>
                    <a:cubicBezTo>
                      <a:pt x="116" y="278"/>
                      <a:pt x="112" y="278"/>
                      <a:pt x="108" y="278"/>
                    </a:cubicBezTo>
                    <a:cubicBezTo>
                      <a:pt x="108" y="277"/>
                      <a:pt x="108" y="277"/>
                      <a:pt x="108" y="276"/>
                    </a:cubicBezTo>
                    <a:cubicBezTo>
                      <a:pt x="107" y="276"/>
                      <a:pt x="106" y="276"/>
                      <a:pt x="105" y="275"/>
                    </a:cubicBezTo>
                    <a:cubicBezTo>
                      <a:pt x="103" y="271"/>
                      <a:pt x="105" y="261"/>
                      <a:pt x="104" y="256"/>
                    </a:cubicBezTo>
                    <a:cubicBezTo>
                      <a:pt x="104" y="256"/>
                      <a:pt x="104" y="256"/>
                      <a:pt x="103" y="256"/>
                    </a:cubicBezTo>
                    <a:cubicBezTo>
                      <a:pt x="103" y="256"/>
                      <a:pt x="103" y="257"/>
                      <a:pt x="103" y="257"/>
                    </a:cubicBezTo>
                    <a:cubicBezTo>
                      <a:pt x="103" y="257"/>
                      <a:pt x="103" y="268"/>
                      <a:pt x="103" y="270"/>
                    </a:cubicBezTo>
                    <a:cubicBezTo>
                      <a:pt x="104" y="271"/>
                      <a:pt x="104" y="274"/>
                      <a:pt x="104" y="275"/>
                    </a:cubicBezTo>
                    <a:cubicBezTo>
                      <a:pt x="104" y="275"/>
                      <a:pt x="103" y="276"/>
                      <a:pt x="102" y="276"/>
                    </a:cubicBezTo>
                    <a:cubicBezTo>
                      <a:pt x="102" y="277"/>
                      <a:pt x="103" y="278"/>
                      <a:pt x="102" y="280"/>
                    </a:cubicBezTo>
                    <a:cubicBezTo>
                      <a:pt x="102" y="282"/>
                      <a:pt x="100" y="284"/>
                      <a:pt x="100" y="286"/>
                    </a:cubicBezTo>
                    <a:cubicBezTo>
                      <a:pt x="94" y="290"/>
                      <a:pt x="96" y="286"/>
                      <a:pt x="94" y="285"/>
                    </a:cubicBezTo>
                    <a:cubicBezTo>
                      <a:pt x="93" y="286"/>
                      <a:pt x="93" y="286"/>
                      <a:pt x="93" y="287"/>
                    </a:cubicBezTo>
                    <a:cubicBezTo>
                      <a:pt x="97" y="292"/>
                      <a:pt x="97" y="296"/>
                      <a:pt x="97" y="302"/>
                    </a:cubicBezTo>
                    <a:cubicBezTo>
                      <a:pt x="96" y="302"/>
                      <a:pt x="96" y="302"/>
                      <a:pt x="96" y="303"/>
                    </a:cubicBezTo>
                    <a:cubicBezTo>
                      <a:pt x="94" y="300"/>
                      <a:pt x="90" y="297"/>
                      <a:pt x="90" y="295"/>
                    </a:cubicBezTo>
                    <a:cubicBezTo>
                      <a:pt x="89" y="295"/>
                      <a:pt x="89" y="296"/>
                      <a:pt x="88" y="296"/>
                    </a:cubicBezTo>
                    <a:cubicBezTo>
                      <a:pt x="87" y="295"/>
                      <a:pt x="87" y="295"/>
                      <a:pt x="87" y="294"/>
                    </a:cubicBezTo>
                    <a:cubicBezTo>
                      <a:pt x="87" y="294"/>
                      <a:pt x="87" y="294"/>
                      <a:pt x="88" y="294"/>
                    </a:cubicBezTo>
                    <a:cubicBezTo>
                      <a:pt x="89" y="294"/>
                      <a:pt x="88" y="294"/>
                      <a:pt x="89" y="294"/>
                    </a:cubicBezTo>
                    <a:cubicBezTo>
                      <a:pt x="89" y="294"/>
                      <a:pt x="89" y="293"/>
                      <a:pt x="89" y="293"/>
                    </a:cubicBezTo>
                    <a:cubicBezTo>
                      <a:pt x="88" y="292"/>
                      <a:pt x="89" y="291"/>
                      <a:pt x="88" y="290"/>
                    </a:cubicBezTo>
                    <a:cubicBezTo>
                      <a:pt x="88" y="289"/>
                      <a:pt x="87" y="289"/>
                      <a:pt x="86" y="288"/>
                    </a:cubicBezTo>
                    <a:cubicBezTo>
                      <a:pt x="86" y="288"/>
                      <a:pt x="86" y="288"/>
                      <a:pt x="86" y="288"/>
                    </a:cubicBezTo>
                    <a:cubicBezTo>
                      <a:pt x="86" y="288"/>
                      <a:pt x="86" y="288"/>
                      <a:pt x="86" y="288"/>
                    </a:cubicBezTo>
                    <a:cubicBezTo>
                      <a:pt x="85" y="289"/>
                      <a:pt x="86" y="290"/>
                      <a:pt x="86" y="291"/>
                    </a:cubicBezTo>
                    <a:cubicBezTo>
                      <a:pt x="85" y="291"/>
                      <a:pt x="84" y="291"/>
                      <a:pt x="83" y="291"/>
                    </a:cubicBezTo>
                    <a:cubicBezTo>
                      <a:pt x="82" y="291"/>
                      <a:pt x="81" y="290"/>
                      <a:pt x="80" y="289"/>
                    </a:cubicBezTo>
                    <a:cubicBezTo>
                      <a:pt x="79" y="288"/>
                      <a:pt x="79" y="287"/>
                      <a:pt x="79" y="286"/>
                    </a:cubicBezTo>
                    <a:cubicBezTo>
                      <a:pt x="78" y="286"/>
                      <a:pt x="78" y="286"/>
                      <a:pt x="78" y="285"/>
                    </a:cubicBezTo>
                    <a:cubicBezTo>
                      <a:pt x="76" y="283"/>
                      <a:pt x="78" y="280"/>
                      <a:pt x="78" y="278"/>
                    </a:cubicBezTo>
                    <a:cubicBezTo>
                      <a:pt x="78" y="277"/>
                      <a:pt x="78" y="275"/>
                      <a:pt x="78" y="274"/>
                    </a:cubicBezTo>
                    <a:cubicBezTo>
                      <a:pt x="79" y="270"/>
                      <a:pt x="85" y="262"/>
                      <a:pt x="87" y="260"/>
                    </a:cubicBezTo>
                    <a:cubicBezTo>
                      <a:pt x="89" y="259"/>
                      <a:pt x="90" y="259"/>
                      <a:pt x="91" y="257"/>
                    </a:cubicBezTo>
                    <a:cubicBezTo>
                      <a:pt x="91" y="257"/>
                      <a:pt x="91" y="257"/>
                      <a:pt x="91" y="257"/>
                    </a:cubicBezTo>
                    <a:cubicBezTo>
                      <a:pt x="91" y="257"/>
                      <a:pt x="91" y="257"/>
                      <a:pt x="91" y="257"/>
                    </a:cubicBezTo>
                    <a:cubicBezTo>
                      <a:pt x="87" y="259"/>
                      <a:pt x="84" y="262"/>
                      <a:pt x="81" y="266"/>
                    </a:cubicBezTo>
                    <a:cubicBezTo>
                      <a:pt x="80" y="268"/>
                      <a:pt x="78" y="272"/>
                      <a:pt x="76" y="273"/>
                    </a:cubicBezTo>
                    <a:cubicBezTo>
                      <a:pt x="75" y="274"/>
                      <a:pt x="74" y="273"/>
                      <a:pt x="73" y="273"/>
                    </a:cubicBezTo>
                    <a:cubicBezTo>
                      <a:pt x="73" y="278"/>
                      <a:pt x="74" y="282"/>
                      <a:pt x="75" y="285"/>
                    </a:cubicBezTo>
                    <a:cubicBezTo>
                      <a:pt x="75" y="286"/>
                      <a:pt x="75" y="287"/>
                      <a:pt x="75" y="288"/>
                    </a:cubicBezTo>
                    <a:cubicBezTo>
                      <a:pt x="77" y="291"/>
                      <a:pt x="79" y="293"/>
                      <a:pt x="80" y="297"/>
                    </a:cubicBezTo>
                    <a:cubicBezTo>
                      <a:pt x="77" y="299"/>
                      <a:pt x="74" y="301"/>
                      <a:pt x="72" y="304"/>
                    </a:cubicBezTo>
                    <a:cubicBezTo>
                      <a:pt x="71" y="306"/>
                      <a:pt x="70" y="310"/>
                      <a:pt x="69" y="311"/>
                    </a:cubicBezTo>
                    <a:cubicBezTo>
                      <a:pt x="69" y="314"/>
                      <a:pt x="72" y="314"/>
                      <a:pt x="71" y="317"/>
                    </a:cubicBezTo>
                    <a:cubicBezTo>
                      <a:pt x="71" y="317"/>
                      <a:pt x="70" y="318"/>
                      <a:pt x="69" y="318"/>
                    </a:cubicBezTo>
                    <a:cubicBezTo>
                      <a:pt x="69" y="319"/>
                      <a:pt x="69" y="321"/>
                      <a:pt x="69" y="322"/>
                    </a:cubicBezTo>
                    <a:cubicBezTo>
                      <a:pt x="69" y="323"/>
                      <a:pt x="67" y="325"/>
                      <a:pt x="67" y="327"/>
                    </a:cubicBezTo>
                    <a:cubicBezTo>
                      <a:pt x="67" y="328"/>
                      <a:pt x="66" y="330"/>
                      <a:pt x="66" y="331"/>
                    </a:cubicBezTo>
                    <a:cubicBezTo>
                      <a:pt x="66" y="332"/>
                      <a:pt x="65" y="332"/>
                      <a:pt x="65" y="332"/>
                    </a:cubicBezTo>
                    <a:cubicBezTo>
                      <a:pt x="65" y="333"/>
                      <a:pt x="68" y="337"/>
                      <a:pt x="67" y="339"/>
                    </a:cubicBezTo>
                    <a:cubicBezTo>
                      <a:pt x="67" y="341"/>
                      <a:pt x="65" y="344"/>
                      <a:pt x="62" y="344"/>
                    </a:cubicBezTo>
                    <a:cubicBezTo>
                      <a:pt x="61" y="345"/>
                      <a:pt x="59" y="344"/>
                      <a:pt x="58" y="344"/>
                    </a:cubicBezTo>
                    <a:cubicBezTo>
                      <a:pt x="56" y="345"/>
                      <a:pt x="54" y="346"/>
                      <a:pt x="52" y="345"/>
                    </a:cubicBezTo>
                    <a:cubicBezTo>
                      <a:pt x="51" y="345"/>
                      <a:pt x="51" y="345"/>
                      <a:pt x="51" y="344"/>
                    </a:cubicBezTo>
                    <a:cubicBezTo>
                      <a:pt x="48" y="341"/>
                      <a:pt x="50" y="335"/>
                      <a:pt x="52" y="333"/>
                    </a:cubicBezTo>
                    <a:cubicBezTo>
                      <a:pt x="53" y="332"/>
                      <a:pt x="54" y="331"/>
                      <a:pt x="55" y="330"/>
                    </a:cubicBezTo>
                    <a:cubicBezTo>
                      <a:pt x="55" y="325"/>
                      <a:pt x="55" y="321"/>
                      <a:pt x="55" y="316"/>
                    </a:cubicBezTo>
                    <a:cubicBezTo>
                      <a:pt x="56" y="314"/>
                      <a:pt x="57" y="312"/>
                      <a:pt x="58" y="310"/>
                    </a:cubicBezTo>
                    <a:cubicBezTo>
                      <a:pt x="58" y="308"/>
                      <a:pt x="57" y="308"/>
                      <a:pt x="58" y="306"/>
                    </a:cubicBezTo>
                    <a:cubicBezTo>
                      <a:pt x="58" y="306"/>
                      <a:pt x="59" y="306"/>
                      <a:pt x="60" y="305"/>
                    </a:cubicBezTo>
                    <a:cubicBezTo>
                      <a:pt x="61" y="304"/>
                      <a:pt x="62" y="301"/>
                      <a:pt x="63" y="299"/>
                    </a:cubicBezTo>
                    <a:cubicBezTo>
                      <a:pt x="63" y="298"/>
                      <a:pt x="60" y="295"/>
                      <a:pt x="59" y="294"/>
                    </a:cubicBezTo>
                    <a:cubicBezTo>
                      <a:pt x="58" y="289"/>
                      <a:pt x="60" y="288"/>
                      <a:pt x="61" y="285"/>
                    </a:cubicBezTo>
                    <a:cubicBezTo>
                      <a:pt x="61" y="285"/>
                      <a:pt x="61" y="285"/>
                      <a:pt x="60" y="285"/>
                    </a:cubicBezTo>
                    <a:cubicBezTo>
                      <a:pt x="60" y="285"/>
                      <a:pt x="60" y="285"/>
                      <a:pt x="60" y="284"/>
                    </a:cubicBezTo>
                    <a:cubicBezTo>
                      <a:pt x="60" y="285"/>
                      <a:pt x="60" y="285"/>
                      <a:pt x="59" y="286"/>
                    </a:cubicBezTo>
                    <a:cubicBezTo>
                      <a:pt x="59" y="286"/>
                      <a:pt x="59" y="286"/>
                      <a:pt x="59" y="285"/>
                    </a:cubicBezTo>
                    <a:cubicBezTo>
                      <a:pt x="58" y="285"/>
                      <a:pt x="58" y="285"/>
                      <a:pt x="57" y="284"/>
                    </a:cubicBezTo>
                    <a:cubicBezTo>
                      <a:pt x="57" y="283"/>
                      <a:pt x="58" y="281"/>
                      <a:pt x="58" y="280"/>
                    </a:cubicBezTo>
                    <a:cubicBezTo>
                      <a:pt x="56" y="274"/>
                      <a:pt x="58" y="274"/>
                      <a:pt x="60" y="270"/>
                    </a:cubicBezTo>
                    <a:cubicBezTo>
                      <a:pt x="61" y="269"/>
                      <a:pt x="61" y="268"/>
                      <a:pt x="61" y="267"/>
                    </a:cubicBezTo>
                    <a:cubicBezTo>
                      <a:pt x="63" y="265"/>
                      <a:pt x="65" y="265"/>
                      <a:pt x="65" y="262"/>
                    </a:cubicBezTo>
                    <a:cubicBezTo>
                      <a:pt x="64" y="262"/>
                      <a:pt x="65" y="261"/>
                      <a:pt x="64" y="260"/>
                    </a:cubicBezTo>
                    <a:cubicBezTo>
                      <a:pt x="64" y="259"/>
                      <a:pt x="63" y="259"/>
                      <a:pt x="63" y="258"/>
                    </a:cubicBezTo>
                    <a:cubicBezTo>
                      <a:pt x="62" y="257"/>
                      <a:pt x="64" y="255"/>
                      <a:pt x="64" y="254"/>
                    </a:cubicBezTo>
                    <a:cubicBezTo>
                      <a:pt x="63" y="253"/>
                      <a:pt x="64" y="253"/>
                      <a:pt x="62" y="253"/>
                    </a:cubicBezTo>
                    <a:cubicBezTo>
                      <a:pt x="62" y="254"/>
                      <a:pt x="62" y="254"/>
                      <a:pt x="61" y="254"/>
                    </a:cubicBezTo>
                    <a:cubicBezTo>
                      <a:pt x="60" y="252"/>
                      <a:pt x="60" y="252"/>
                      <a:pt x="60" y="249"/>
                    </a:cubicBezTo>
                    <a:cubicBezTo>
                      <a:pt x="62" y="247"/>
                      <a:pt x="60" y="245"/>
                      <a:pt x="61" y="241"/>
                    </a:cubicBezTo>
                    <a:cubicBezTo>
                      <a:pt x="62" y="241"/>
                      <a:pt x="62" y="241"/>
                      <a:pt x="63" y="241"/>
                    </a:cubicBezTo>
                    <a:cubicBezTo>
                      <a:pt x="64" y="241"/>
                      <a:pt x="64" y="241"/>
                      <a:pt x="64" y="241"/>
                    </a:cubicBezTo>
                    <a:cubicBezTo>
                      <a:pt x="65" y="240"/>
                      <a:pt x="65" y="239"/>
                      <a:pt x="66" y="238"/>
                    </a:cubicBezTo>
                    <a:cubicBezTo>
                      <a:pt x="66" y="238"/>
                      <a:pt x="66" y="238"/>
                      <a:pt x="66" y="238"/>
                    </a:cubicBezTo>
                    <a:cubicBezTo>
                      <a:pt x="66" y="238"/>
                      <a:pt x="66" y="238"/>
                      <a:pt x="66" y="238"/>
                    </a:cubicBezTo>
                    <a:cubicBezTo>
                      <a:pt x="66" y="238"/>
                      <a:pt x="66" y="238"/>
                      <a:pt x="66" y="238"/>
                    </a:cubicBezTo>
                    <a:cubicBezTo>
                      <a:pt x="67" y="238"/>
                      <a:pt x="67" y="239"/>
                      <a:pt x="67" y="239"/>
                    </a:cubicBezTo>
                    <a:cubicBezTo>
                      <a:pt x="68" y="239"/>
                      <a:pt x="67" y="239"/>
                      <a:pt x="68" y="239"/>
                    </a:cubicBezTo>
                    <a:cubicBezTo>
                      <a:pt x="68" y="239"/>
                      <a:pt x="68" y="239"/>
                      <a:pt x="68" y="238"/>
                    </a:cubicBezTo>
                    <a:cubicBezTo>
                      <a:pt x="68" y="237"/>
                      <a:pt x="67" y="236"/>
                      <a:pt x="67" y="236"/>
                    </a:cubicBezTo>
                    <a:cubicBezTo>
                      <a:pt x="66" y="235"/>
                      <a:pt x="65" y="235"/>
                      <a:pt x="64" y="234"/>
                    </a:cubicBezTo>
                    <a:cubicBezTo>
                      <a:pt x="65" y="234"/>
                      <a:pt x="65" y="233"/>
                      <a:pt x="65" y="232"/>
                    </a:cubicBezTo>
                    <a:cubicBezTo>
                      <a:pt x="65" y="232"/>
                      <a:pt x="65" y="232"/>
                      <a:pt x="66" y="232"/>
                    </a:cubicBezTo>
                    <a:cubicBezTo>
                      <a:pt x="67" y="231"/>
                      <a:pt x="69" y="231"/>
                      <a:pt x="69" y="231"/>
                    </a:cubicBezTo>
                    <a:cubicBezTo>
                      <a:pt x="70" y="231"/>
                      <a:pt x="71" y="229"/>
                      <a:pt x="71" y="228"/>
                    </a:cubicBezTo>
                    <a:cubicBezTo>
                      <a:pt x="74" y="228"/>
                      <a:pt x="74" y="227"/>
                      <a:pt x="77" y="227"/>
                    </a:cubicBezTo>
                    <a:cubicBezTo>
                      <a:pt x="80" y="228"/>
                      <a:pt x="84" y="229"/>
                      <a:pt x="87" y="228"/>
                    </a:cubicBezTo>
                    <a:cubicBezTo>
                      <a:pt x="88" y="226"/>
                      <a:pt x="90" y="224"/>
                      <a:pt x="91" y="222"/>
                    </a:cubicBezTo>
                    <a:cubicBezTo>
                      <a:pt x="91" y="221"/>
                      <a:pt x="91" y="222"/>
                      <a:pt x="91" y="221"/>
                    </a:cubicBezTo>
                    <a:cubicBezTo>
                      <a:pt x="89" y="222"/>
                      <a:pt x="87" y="225"/>
                      <a:pt x="85" y="226"/>
                    </a:cubicBezTo>
                    <a:cubicBezTo>
                      <a:pt x="81" y="227"/>
                      <a:pt x="75" y="226"/>
                      <a:pt x="72" y="225"/>
                    </a:cubicBezTo>
                    <a:cubicBezTo>
                      <a:pt x="72" y="225"/>
                      <a:pt x="71" y="224"/>
                      <a:pt x="71" y="223"/>
                    </a:cubicBezTo>
                    <a:cubicBezTo>
                      <a:pt x="72" y="223"/>
                      <a:pt x="72" y="221"/>
                      <a:pt x="72" y="220"/>
                    </a:cubicBezTo>
                    <a:cubicBezTo>
                      <a:pt x="72" y="220"/>
                      <a:pt x="72" y="220"/>
                      <a:pt x="71" y="220"/>
                    </a:cubicBezTo>
                    <a:cubicBezTo>
                      <a:pt x="70" y="223"/>
                      <a:pt x="67" y="226"/>
                      <a:pt x="63" y="227"/>
                    </a:cubicBezTo>
                    <a:cubicBezTo>
                      <a:pt x="63" y="226"/>
                      <a:pt x="63" y="226"/>
                      <a:pt x="63" y="226"/>
                    </a:cubicBezTo>
                    <a:cubicBezTo>
                      <a:pt x="64" y="225"/>
                      <a:pt x="63" y="225"/>
                      <a:pt x="64" y="224"/>
                    </a:cubicBezTo>
                    <a:cubicBezTo>
                      <a:pt x="65" y="222"/>
                      <a:pt x="67" y="221"/>
                      <a:pt x="68" y="220"/>
                    </a:cubicBezTo>
                    <a:cubicBezTo>
                      <a:pt x="70" y="219"/>
                      <a:pt x="71" y="218"/>
                      <a:pt x="72" y="216"/>
                    </a:cubicBezTo>
                    <a:cubicBezTo>
                      <a:pt x="73" y="217"/>
                      <a:pt x="72" y="216"/>
                      <a:pt x="73" y="217"/>
                    </a:cubicBezTo>
                    <a:cubicBezTo>
                      <a:pt x="73" y="218"/>
                      <a:pt x="73" y="219"/>
                      <a:pt x="73" y="219"/>
                    </a:cubicBezTo>
                    <a:cubicBezTo>
                      <a:pt x="75" y="219"/>
                      <a:pt x="74" y="220"/>
                      <a:pt x="76" y="220"/>
                    </a:cubicBezTo>
                    <a:cubicBezTo>
                      <a:pt x="76" y="218"/>
                      <a:pt x="75" y="218"/>
                      <a:pt x="75" y="216"/>
                    </a:cubicBezTo>
                    <a:cubicBezTo>
                      <a:pt x="77" y="214"/>
                      <a:pt x="77" y="211"/>
                      <a:pt x="79" y="208"/>
                    </a:cubicBezTo>
                    <a:cubicBezTo>
                      <a:pt x="78" y="207"/>
                      <a:pt x="78" y="207"/>
                      <a:pt x="78" y="207"/>
                    </a:cubicBezTo>
                    <a:cubicBezTo>
                      <a:pt x="78" y="207"/>
                      <a:pt x="86" y="203"/>
                      <a:pt x="86" y="203"/>
                    </a:cubicBezTo>
                    <a:cubicBezTo>
                      <a:pt x="85" y="203"/>
                      <a:pt x="85" y="202"/>
                      <a:pt x="85" y="202"/>
                    </a:cubicBezTo>
                    <a:cubicBezTo>
                      <a:pt x="84" y="202"/>
                      <a:pt x="82" y="202"/>
                      <a:pt x="81" y="202"/>
                    </a:cubicBezTo>
                    <a:cubicBezTo>
                      <a:pt x="79" y="203"/>
                      <a:pt x="78" y="206"/>
                      <a:pt x="77" y="207"/>
                    </a:cubicBezTo>
                    <a:cubicBezTo>
                      <a:pt x="76" y="208"/>
                      <a:pt x="75" y="208"/>
                      <a:pt x="74" y="209"/>
                    </a:cubicBezTo>
                    <a:cubicBezTo>
                      <a:pt x="73" y="210"/>
                      <a:pt x="72" y="212"/>
                      <a:pt x="71" y="213"/>
                    </a:cubicBezTo>
                    <a:cubicBezTo>
                      <a:pt x="70" y="214"/>
                      <a:pt x="69" y="215"/>
                      <a:pt x="68" y="216"/>
                    </a:cubicBezTo>
                    <a:cubicBezTo>
                      <a:pt x="66" y="218"/>
                      <a:pt x="65" y="222"/>
                      <a:pt x="61" y="222"/>
                    </a:cubicBezTo>
                    <a:cubicBezTo>
                      <a:pt x="58" y="224"/>
                      <a:pt x="56" y="220"/>
                      <a:pt x="55" y="219"/>
                    </a:cubicBezTo>
                    <a:cubicBezTo>
                      <a:pt x="54" y="219"/>
                      <a:pt x="52" y="219"/>
                      <a:pt x="50" y="218"/>
                    </a:cubicBezTo>
                    <a:cubicBezTo>
                      <a:pt x="47" y="217"/>
                      <a:pt x="45" y="215"/>
                      <a:pt x="43" y="212"/>
                    </a:cubicBezTo>
                    <a:cubicBezTo>
                      <a:pt x="43" y="212"/>
                      <a:pt x="43" y="212"/>
                      <a:pt x="43" y="212"/>
                    </a:cubicBezTo>
                    <a:cubicBezTo>
                      <a:pt x="43" y="212"/>
                      <a:pt x="42" y="212"/>
                      <a:pt x="42" y="212"/>
                    </a:cubicBezTo>
                    <a:cubicBezTo>
                      <a:pt x="43" y="215"/>
                      <a:pt x="44" y="219"/>
                      <a:pt x="47" y="220"/>
                    </a:cubicBezTo>
                    <a:cubicBezTo>
                      <a:pt x="47" y="220"/>
                      <a:pt x="53" y="221"/>
                      <a:pt x="54" y="221"/>
                    </a:cubicBezTo>
                    <a:cubicBezTo>
                      <a:pt x="56" y="223"/>
                      <a:pt x="61" y="226"/>
                      <a:pt x="61" y="228"/>
                    </a:cubicBezTo>
                    <a:cubicBezTo>
                      <a:pt x="60" y="230"/>
                      <a:pt x="62" y="232"/>
                      <a:pt x="60" y="234"/>
                    </a:cubicBezTo>
                    <a:cubicBezTo>
                      <a:pt x="59" y="237"/>
                      <a:pt x="52" y="242"/>
                      <a:pt x="48" y="242"/>
                    </a:cubicBezTo>
                    <a:cubicBezTo>
                      <a:pt x="48" y="241"/>
                      <a:pt x="48" y="241"/>
                      <a:pt x="48" y="240"/>
                    </a:cubicBezTo>
                    <a:cubicBezTo>
                      <a:pt x="47" y="240"/>
                      <a:pt x="46" y="240"/>
                      <a:pt x="45" y="240"/>
                    </a:cubicBezTo>
                    <a:cubicBezTo>
                      <a:pt x="44" y="241"/>
                      <a:pt x="42" y="240"/>
                      <a:pt x="41" y="241"/>
                    </a:cubicBezTo>
                    <a:cubicBezTo>
                      <a:pt x="40" y="242"/>
                      <a:pt x="39" y="244"/>
                      <a:pt x="38" y="244"/>
                    </a:cubicBezTo>
                    <a:cubicBezTo>
                      <a:pt x="35" y="244"/>
                      <a:pt x="32" y="244"/>
                      <a:pt x="28" y="244"/>
                    </a:cubicBezTo>
                    <a:cubicBezTo>
                      <a:pt x="28" y="245"/>
                      <a:pt x="28" y="245"/>
                      <a:pt x="27" y="246"/>
                    </a:cubicBezTo>
                    <a:cubicBezTo>
                      <a:pt x="26" y="246"/>
                      <a:pt x="25" y="246"/>
                      <a:pt x="24" y="246"/>
                    </a:cubicBezTo>
                    <a:cubicBezTo>
                      <a:pt x="24" y="246"/>
                      <a:pt x="23" y="246"/>
                      <a:pt x="22" y="245"/>
                    </a:cubicBezTo>
                    <a:cubicBezTo>
                      <a:pt x="21" y="244"/>
                      <a:pt x="21" y="242"/>
                      <a:pt x="20" y="240"/>
                    </a:cubicBezTo>
                    <a:cubicBezTo>
                      <a:pt x="19" y="241"/>
                      <a:pt x="19" y="241"/>
                      <a:pt x="17" y="241"/>
                    </a:cubicBezTo>
                    <a:cubicBezTo>
                      <a:pt x="17" y="241"/>
                      <a:pt x="17" y="240"/>
                      <a:pt x="17" y="240"/>
                    </a:cubicBezTo>
                    <a:cubicBezTo>
                      <a:pt x="17" y="240"/>
                      <a:pt x="17" y="240"/>
                      <a:pt x="17" y="240"/>
                    </a:cubicBezTo>
                    <a:cubicBezTo>
                      <a:pt x="17" y="239"/>
                      <a:pt x="18" y="237"/>
                      <a:pt x="20" y="237"/>
                    </a:cubicBezTo>
                    <a:cubicBezTo>
                      <a:pt x="21" y="239"/>
                      <a:pt x="22" y="237"/>
                      <a:pt x="24" y="238"/>
                    </a:cubicBezTo>
                    <a:cubicBezTo>
                      <a:pt x="25" y="238"/>
                      <a:pt x="25" y="238"/>
                      <a:pt x="26" y="239"/>
                    </a:cubicBezTo>
                    <a:cubicBezTo>
                      <a:pt x="28" y="239"/>
                      <a:pt x="33" y="238"/>
                      <a:pt x="34" y="237"/>
                    </a:cubicBezTo>
                    <a:cubicBezTo>
                      <a:pt x="32" y="236"/>
                      <a:pt x="30" y="236"/>
                      <a:pt x="29" y="234"/>
                    </a:cubicBezTo>
                    <a:cubicBezTo>
                      <a:pt x="30" y="234"/>
                      <a:pt x="33" y="227"/>
                      <a:pt x="34" y="227"/>
                    </a:cubicBezTo>
                    <a:cubicBezTo>
                      <a:pt x="35" y="227"/>
                      <a:pt x="36" y="227"/>
                      <a:pt x="37" y="227"/>
                    </a:cubicBezTo>
                    <a:cubicBezTo>
                      <a:pt x="37" y="227"/>
                      <a:pt x="40" y="225"/>
                      <a:pt x="40" y="224"/>
                    </a:cubicBezTo>
                    <a:cubicBezTo>
                      <a:pt x="40" y="224"/>
                      <a:pt x="40" y="223"/>
                      <a:pt x="39" y="223"/>
                    </a:cubicBezTo>
                    <a:cubicBezTo>
                      <a:pt x="35" y="224"/>
                      <a:pt x="32" y="225"/>
                      <a:pt x="28" y="226"/>
                    </a:cubicBezTo>
                    <a:cubicBezTo>
                      <a:pt x="27" y="225"/>
                      <a:pt x="27" y="224"/>
                      <a:pt x="25" y="224"/>
                    </a:cubicBezTo>
                    <a:cubicBezTo>
                      <a:pt x="25" y="224"/>
                      <a:pt x="25" y="224"/>
                      <a:pt x="24" y="224"/>
                    </a:cubicBezTo>
                    <a:cubicBezTo>
                      <a:pt x="24" y="223"/>
                      <a:pt x="24" y="223"/>
                      <a:pt x="24" y="222"/>
                    </a:cubicBezTo>
                    <a:cubicBezTo>
                      <a:pt x="24" y="222"/>
                      <a:pt x="25" y="222"/>
                      <a:pt x="26" y="222"/>
                    </a:cubicBezTo>
                    <a:cubicBezTo>
                      <a:pt x="27" y="222"/>
                      <a:pt x="27" y="222"/>
                      <a:pt x="28" y="222"/>
                    </a:cubicBezTo>
                    <a:cubicBezTo>
                      <a:pt x="28" y="221"/>
                      <a:pt x="28" y="221"/>
                      <a:pt x="28" y="220"/>
                    </a:cubicBezTo>
                    <a:cubicBezTo>
                      <a:pt x="26" y="220"/>
                      <a:pt x="23" y="219"/>
                      <a:pt x="23" y="216"/>
                    </a:cubicBezTo>
                    <a:cubicBezTo>
                      <a:pt x="24" y="214"/>
                      <a:pt x="24" y="213"/>
                      <a:pt x="23" y="212"/>
                    </a:cubicBezTo>
                    <a:cubicBezTo>
                      <a:pt x="24" y="211"/>
                      <a:pt x="25" y="210"/>
                      <a:pt x="25" y="210"/>
                    </a:cubicBezTo>
                    <a:cubicBezTo>
                      <a:pt x="26" y="210"/>
                      <a:pt x="27" y="210"/>
                      <a:pt x="28" y="210"/>
                    </a:cubicBezTo>
                    <a:cubicBezTo>
                      <a:pt x="29" y="209"/>
                      <a:pt x="30" y="207"/>
                      <a:pt x="31" y="206"/>
                    </a:cubicBezTo>
                    <a:cubicBezTo>
                      <a:pt x="33" y="207"/>
                      <a:pt x="34" y="207"/>
                      <a:pt x="35" y="207"/>
                    </a:cubicBezTo>
                    <a:cubicBezTo>
                      <a:pt x="35" y="207"/>
                      <a:pt x="35" y="206"/>
                      <a:pt x="36" y="206"/>
                    </a:cubicBezTo>
                    <a:cubicBezTo>
                      <a:pt x="36" y="206"/>
                      <a:pt x="41" y="211"/>
                      <a:pt x="41" y="211"/>
                    </a:cubicBezTo>
                    <a:cubicBezTo>
                      <a:pt x="41" y="209"/>
                      <a:pt x="41" y="209"/>
                      <a:pt x="41" y="207"/>
                    </a:cubicBezTo>
                    <a:cubicBezTo>
                      <a:pt x="43" y="206"/>
                      <a:pt x="46" y="206"/>
                      <a:pt x="49" y="206"/>
                    </a:cubicBezTo>
                    <a:cubicBezTo>
                      <a:pt x="49" y="206"/>
                      <a:pt x="49" y="206"/>
                      <a:pt x="50" y="206"/>
                    </a:cubicBezTo>
                    <a:cubicBezTo>
                      <a:pt x="51" y="205"/>
                      <a:pt x="52" y="204"/>
                      <a:pt x="54" y="202"/>
                    </a:cubicBezTo>
                    <a:cubicBezTo>
                      <a:pt x="53" y="202"/>
                      <a:pt x="54" y="203"/>
                      <a:pt x="53" y="202"/>
                    </a:cubicBezTo>
                    <a:cubicBezTo>
                      <a:pt x="52" y="203"/>
                      <a:pt x="51" y="204"/>
                      <a:pt x="49" y="204"/>
                    </a:cubicBezTo>
                    <a:cubicBezTo>
                      <a:pt x="49" y="204"/>
                      <a:pt x="40" y="204"/>
                      <a:pt x="39" y="204"/>
                    </a:cubicBezTo>
                    <a:cubicBezTo>
                      <a:pt x="39" y="204"/>
                      <a:pt x="38" y="203"/>
                      <a:pt x="38" y="203"/>
                    </a:cubicBezTo>
                    <a:cubicBezTo>
                      <a:pt x="37" y="203"/>
                      <a:pt x="37" y="204"/>
                      <a:pt x="36" y="204"/>
                    </a:cubicBezTo>
                    <a:cubicBezTo>
                      <a:pt x="35" y="204"/>
                      <a:pt x="31" y="204"/>
                      <a:pt x="29" y="203"/>
                    </a:cubicBezTo>
                    <a:cubicBezTo>
                      <a:pt x="28" y="202"/>
                      <a:pt x="28" y="201"/>
                      <a:pt x="28" y="200"/>
                    </a:cubicBezTo>
                    <a:cubicBezTo>
                      <a:pt x="29" y="199"/>
                      <a:pt x="30" y="197"/>
                      <a:pt x="31" y="196"/>
                    </a:cubicBezTo>
                    <a:cubicBezTo>
                      <a:pt x="34" y="195"/>
                      <a:pt x="38" y="196"/>
                      <a:pt x="41" y="195"/>
                    </a:cubicBezTo>
                    <a:cubicBezTo>
                      <a:pt x="41" y="194"/>
                      <a:pt x="42" y="194"/>
                      <a:pt x="42" y="194"/>
                    </a:cubicBezTo>
                    <a:cubicBezTo>
                      <a:pt x="43" y="193"/>
                      <a:pt x="44" y="193"/>
                      <a:pt x="45" y="193"/>
                    </a:cubicBezTo>
                    <a:cubicBezTo>
                      <a:pt x="46" y="194"/>
                      <a:pt x="48" y="196"/>
                      <a:pt x="49" y="196"/>
                    </a:cubicBezTo>
                    <a:cubicBezTo>
                      <a:pt x="50" y="194"/>
                      <a:pt x="49" y="193"/>
                      <a:pt x="49" y="191"/>
                    </a:cubicBezTo>
                    <a:cubicBezTo>
                      <a:pt x="50" y="190"/>
                      <a:pt x="50" y="189"/>
                      <a:pt x="51" y="188"/>
                    </a:cubicBezTo>
                    <a:cubicBezTo>
                      <a:pt x="53" y="187"/>
                      <a:pt x="56" y="187"/>
                      <a:pt x="60" y="187"/>
                    </a:cubicBezTo>
                    <a:cubicBezTo>
                      <a:pt x="60" y="186"/>
                      <a:pt x="61" y="185"/>
                      <a:pt x="61" y="184"/>
                    </a:cubicBezTo>
                    <a:cubicBezTo>
                      <a:pt x="62" y="184"/>
                      <a:pt x="62" y="184"/>
                      <a:pt x="62" y="184"/>
                    </a:cubicBezTo>
                    <a:cubicBezTo>
                      <a:pt x="62" y="184"/>
                      <a:pt x="62" y="184"/>
                      <a:pt x="61" y="183"/>
                    </a:cubicBezTo>
                    <a:cubicBezTo>
                      <a:pt x="60" y="184"/>
                      <a:pt x="57" y="186"/>
                      <a:pt x="55" y="185"/>
                    </a:cubicBezTo>
                    <a:cubicBezTo>
                      <a:pt x="55" y="185"/>
                      <a:pt x="55" y="183"/>
                      <a:pt x="55" y="183"/>
                    </a:cubicBezTo>
                    <a:cubicBezTo>
                      <a:pt x="53" y="183"/>
                      <a:pt x="50" y="184"/>
                      <a:pt x="47" y="184"/>
                    </a:cubicBezTo>
                    <a:cubicBezTo>
                      <a:pt x="47" y="183"/>
                      <a:pt x="47" y="183"/>
                      <a:pt x="47" y="183"/>
                    </a:cubicBezTo>
                    <a:cubicBezTo>
                      <a:pt x="47" y="183"/>
                      <a:pt x="47" y="183"/>
                      <a:pt x="47" y="182"/>
                    </a:cubicBezTo>
                    <a:cubicBezTo>
                      <a:pt x="49" y="182"/>
                      <a:pt x="49" y="181"/>
                      <a:pt x="49" y="178"/>
                    </a:cubicBezTo>
                    <a:cubicBezTo>
                      <a:pt x="51" y="177"/>
                      <a:pt x="51" y="174"/>
                      <a:pt x="51" y="171"/>
                    </a:cubicBezTo>
                    <a:cubicBezTo>
                      <a:pt x="52" y="171"/>
                      <a:pt x="53" y="171"/>
                      <a:pt x="54" y="171"/>
                    </a:cubicBezTo>
                    <a:cubicBezTo>
                      <a:pt x="54" y="171"/>
                      <a:pt x="62" y="172"/>
                      <a:pt x="62" y="172"/>
                    </a:cubicBezTo>
                    <a:cubicBezTo>
                      <a:pt x="63" y="172"/>
                      <a:pt x="63" y="172"/>
                      <a:pt x="63" y="172"/>
                    </a:cubicBezTo>
                    <a:cubicBezTo>
                      <a:pt x="60" y="170"/>
                      <a:pt x="60" y="168"/>
                      <a:pt x="55" y="168"/>
                    </a:cubicBezTo>
                    <a:cubicBezTo>
                      <a:pt x="55" y="167"/>
                      <a:pt x="54" y="167"/>
                      <a:pt x="54" y="166"/>
                    </a:cubicBezTo>
                    <a:cubicBezTo>
                      <a:pt x="54" y="165"/>
                      <a:pt x="54" y="164"/>
                      <a:pt x="54" y="163"/>
                    </a:cubicBezTo>
                    <a:cubicBezTo>
                      <a:pt x="56" y="162"/>
                      <a:pt x="57" y="160"/>
                      <a:pt x="59" y="160"/>
                    </a:cubicBezTo>
                    <a:cubicBezTo>
                      <a:pt x="60" y="159"/>
                      <a:pt x="71" y="161"/>
                      <a:pt x="73" y="161"/>
                    </a:cubicBezTo>
                    <a:cubicBezTo>
                      <a:pt x="73" y="161"/>
                      <a:pt x="73" y="161"/>
                      <a:pt x="73" y="161"/>
                    </a:cubicBezTo>
                    <a:cubicBezTo>
                      <a:pt x="69" y="160"/>
                      <a:pt x="66" y="158"/>
                      <a:pt x="61" y="158"/>
                    </a:cubicBezTo>
                    <a:cubicBezTo>
                      <a:pt x="61" y="157"/>
                      <a:pt x="60" y="157"/>
                      <a:pt x="60" y="155"/>
                    </a:cubicBezTo>
                    <a:cubicBezTo>
                      <a:pt x="60" y="155"/>
                      <a:pt x="60" y="154"/>
                      <a:pt x="60" y="153"/>
                    </a:cubicBezTo>
                    <a:cubicBezTo>
                      <a:pt x="61" y="152"/>
                      <a:pt x="63" y="152"/>
                      <a:pt x="63" y="150"/>
                    </a:cubicBezTo>
                    <a:cubicBezTo>
                      <a:pt x="63" y="150"/>
                      <a:pt x="62" y="150"/>
                      <a:pt x="62" y="150"/>
                    </a:cubicBezTo>
                    <a:cubicBezTo>
                      <a:pt x="61" y="151"/>
                      <a:pt x="59" y="154"/>
                      <a:pt x="58" y="155"/>
                    </a:cubicBezTo>
                    <a:cubicBezTo>
                      <a:pt x="57" y="156"/>
                      <a:pt x="56" y="155"/>
                      <a:pt x="55" y="156"/>
                    </a:cubicBezTo>
                    <a:cubicBezTo>
                      <a:pt x="54" y="157"/>
                      <a:pt x="55" y="159"/>
                      <a:pt x="54" y="160"/>
                    </a:cubicBezTo>
                    <a:cubicBezTo>
                      <a:pt x="53" y="162"/>
                      <a:pt x="50" y="162"/>
                      <a:pt x="49" y="164"/>
                    </a:cubicBezTo>
                    <a:cubicBezTo>
                      <a:pt x="47" y="167"/>
                      <a:pt x="47" y="169"/>
                      <a:pt x="43" y="169"/>
                    </a:cubicBezTo>
                    <a:cubicBezTo>
                      <a:pt x="42" y="169"/>
                      <a:pt x="42" y="169"/>
                      <a:pt x="42" y="168"/>
                    </a:cubicBezTo>
                    <a:cubicBezTo>
                      <a:pt x="42" y="164"/>
                      <a:pt x="43" y="162"/>
                      <a:pt x="43" y="158"/>
                    </a:cubicBezTo>
                    <a:cubicBezTo>
                      <a:pt x="44" y="157"/>
                      <a:pt x="46" y="156"/>
                      <a:pt x="47" y="155"/>
                    </a:cubicBezTo>
                    <a:cubicBezTo>
                      <a:pt x="45" y="154"/>
                      <a:pt x="43" y="153"/>
                      <a:pt x="42" y="152"/>
                    </a:cubicBezTo>
                    <a:cubicBezTo>
                      <a:pt x="42" y="152"/>
                      <a:pt x="42" y="152"/>
                      <a:pt x="42" y="153"/>
                    </a:cubicBezTo>
                    <a:cubicBezTo>
                      <a:pt x="40" y="155"/>
                      <a:pt x="41" y="158"/>
                      <a:pt x="38" y="159"/>
                    </a:cubicBezTo>
                    <a:cubicBezTo>
                      <a:pt x="37" y="158"/>
                      <a:pt x="32" y="157"/>
                      <a:pt x="29" y="157"/>
                    </a:cubicBezTo>
                    <a:cubicBezTo>
                      <a:pt x="29" y="157"/>
                      <a:pt x="29" y="156"/>
                      <a:pt x="29" y="156"/>
                    </a:cubicBezTo>
                    <a:cubicBezTo>
                      <a:pt x="30" y="156"/>
                      <a:pt x="30" y="155"/>
                      <a:pt x="31" y="155"/>
                    </a:cubicBezTo>
                    <a:cubicBezTo>
                      <a:pt x="30" y="154"/>
                      <a:pt x="30" y="154"/>
                      <a:pt x="29" y="154"/>
                    </a:cubicBezTo>
                    <a:cubicBezTo>
                      <a:pt x="28" y="155"/>
                      <a:pt x="27" y="155"/>
                      <a:pt x="26" y="155"/>
                    </a:cubicBezTo>
                    <a:cubicBezTo>
                      <a:pt x="26" y="154"/>
                      <a:pt x="26" y="153"/>
                      <a:pt x="26" y="153"/>
                    </a:cubicBezTo>
                    <a:cubicBezTo>
                      <a:pt x="26" y="152"/>
                      <a:pt x="26" y="152"/>
                      <a:pt x="25" y="152"/>
                    </a:cubicBezTo>
                    <a:cubicBezTo>
                      <a:pt x="24" y="152"/>
                      <a:pt x="24" y="152"/>
                      <a:pt x="23" y="152"/>
                    </a:cubicBezTo>
                    <a:cubicBezTo>
                      <a:pt x="22" y="151"/>
                      <a:pt x="22" y="149"/>
                      <a:pt x="22" y="148"/>
                    </a:cubicBezTo>
                    <a:cubicBezTo>
                      <a:pt x="19" y="144"/>
                      <a:pt x="15" y="145"/>
                      <a:pt x="15" y="139"/>
                    </a:cubicBezTo>
                    <a:cubicBezTo>
                      <a:pt x="16" y="138"/>
                      <a:pt x="15" y="137"/>
                      <a:pt x="16" y="137"/>
                    </a:cubicBezTo>
                    <a:cubicBezTo>
                      <a:pt x="16" y="136"/>
                      <a:pt x="17" y="136"/>
                      <a:pt x="18" y="135"/>
                    </a:cubicBezTo>
                    <a:cubicBezTo>
                      <a:pt x="17" y="134"/>
                      <a:pt x="15" y="132"/>
                      <a:pt x="15" y="130"/>
                    </a:cubicBezTo>
                    <a:cubicBezTo>
                      <a:pt x="14" y="131"/>
                      <a:pt x="14" y="131"/>
                      <a:pt x="14" y="131"/>
                    </a:cubicBezTo>
                    <a:cubicBezTo>
                      <a:pt x="12" y="133"/>
                      <a:pt x="14" y="137"/>
                      <a:pt x="10" y="137"/>
                    </a:cubicBezTo>
                    <a:cubicBezTo>
                      <a:pt x="8" y="135"/>
                      <a:pt x="6" y="136"/>
                      <a:pt x="5" y="134"/>
                    </a:cubicBezTo>
                    <a:cubicBezTo>
                      <a:pt x="3" y="133"/>
                      <a:pt x="4" y="131"/>
                      <a:pt x="3" y="129"/>
                    </a:cubicBezTo>
                    <a:cubicBezTo>
                      <a:pt x="2" y="128"/>
                      <a:pt x="1" y="128"/>
                      <a:pt x="0" y="126"/>
                    </a:cubicBezTo>
                    <a:cubicBezTo>
                      <a:pt x="1" y="125"/>
                      <a:pt x="3" y="124"/>
                      <a:pt x="3" y="122"/>
                    </a:cubicBezTo>
                    <a:cubicBezTo>
                      <a:pt x="2" y="121"/>
                      <a:pt x="3" y="119"/>
                      <a:pt x="4" y="118"/>
                    </a:cubicBezTo>
                    <a:cubicBezTo>
                      <a:pt x="7" y="119"/>
                      <a:pt x="6" y="122"/>
                      <a:pt x="9" y="123"/>
                    </a:cubicBezTo>
                    <a:cubicBezTo>
                      <a:pt x="9" y="122"/>
                      <a:pt x="9" y="122"/>
                      <a:pt x="9" y="122"/>
                    </a:cubicBezTo>
                    <a:cubicBezTo>
                      <a:pt x="9" y="122"/>
                      <a:pt x="9" y="120"/>
                      <a:pt x="9" y="119"/>
                    </a:cubicBezTo>
                    <a:cubicBezTo>
                      <a:pt x="10" y="119"/>
                      <a:pt x="10" y="119"/>
                      <a:pt x="10" y="119"/>
                    </a:cubicBezTo>
                    <a:cubicBezTo>
                      <a:pt x="11" y="118"/>
                      <a:pt x="11" y="118"/>
                      <a:pt x="11" y="118"/>
                    </a:cubicBezTo>
                    <a:cubicBezTo>
                      <a:pt x="10" y="117"/>
                      <a:pt x="8" y="116"/>
                      <a:pt x="8" y="113"/>
                    </a:cubicBezTo>
                    <a:cubicBezTo>
                      <a:pt x="9" y="112"/>
                      <a:pt x="9" y="111"/>
                      <a:pt x="9" y="109"/>
                    </a:cubicBezTo>
                    <a:cubicBezTo>
                      <a:pt x="10" y="109"/>
                      <a:pt x="10" y="109"/>
                      <a:pt x="11" y="109"/>
                    </a:cubicBezTo>
                    <a:cubicBezTo>
                      <a:pt x="12" y="110"/>
                      <a:pt x="13" y="110"/>
                      <a:pt x="13" y="111"/>
                    </a:cubicBezTo>
                    <a:cubicBezTo>
                      <a:pt x="14" y="112"/>
                      <a:pt x="13" y="114"/>
                      <a:pt x="14" y="114"/>
                    </a:cubicBezTo>
                    <a:cubicBezTo>
                      <a:pt x="14" y="115"/>
                      <a:pt x="20" y="118"/>
                      <a:pt x="20" y="118"/>
                    </a:cubicBezTo>
                    <a:cubicBezTo>
                      <a:pt x="20" y="118"/>
                      <a:pt x="21" y="118"/>
                      <a:pt x="22" y="118"/>
                    </a:cubicBezTo>
                    <a:cubicBezTo>
                      <a:pt x="22" y="117"/>
                      <a:pt x="22" y="117"/>
                      <a:pt x="22" y="116"/>
                    </a:cubicBezTo>
                    <a:cubicBezTo>
                      <a:pt x="21" y="115"/>
                      <a:pt x="22" y="113"/>
                      <a:pt x="23" y="112"/>
                    </a:cubicBezTo>
                    <a:cubicBezTo>
                      <a:pt x="21" y="111"/>
                      <a:pt x="21" y="108"/>
                      <a:pt x="21" y="106"/>
                    </a:cubicBezTo>
                    <a:cubicBezTo>
                      <a:pt x="23" y="104"/>
                      <a:pt x="23" y="100"/>
                      <a:pt x="28" y="100"/>
                    </a:cubicBezTo>
                    <a:cubicBezTo>
                      <a:pt x="29" y="102"/>
                      <a:pt x="30" y="102"/>
                      <a:pt x="31" y="104"/>
                    </a:cubicBezTo>
                    <a:cubicBezTo>
                      <a:pt x="31" y="105"/>
                      <a:pt x="32" y="106"/>
                      <a:pt x="32" y="107"/>
                    </a:cubicBezTo>
                    <a:cubicBezTo>
                      <a:pt x="33" y="108"/>
                      <a:pt x="35" y="109"/>
                      <a:pt x="36" y="112"/>
                    </a:cubicBezTo>
                    <a:cubicBezTo>
                      <a:pt x="36" y="114"/>
                      <a:pt x="36" y="116"/>
                      <a:pt x="36" y="118"/>
                    </a:cubicBezTo>
                    <a:cubicBezTo>
                      <a:pt x="36" y="119"/>
                      <a:pt x="38" y="123"/>
                      <a:pt x="37" y="125"/>
                    </a:cubicBezTo>
                    <a:cubicBezTo>
                      <a:pt x="36" y="127"/>
                      <a:pt x="36" y="128"/>
                      <a:pt x="37" y="130"/>
                    </a:cubicBezTo>
                    <a:cubicBezTo>
                      <a:pt x="37" y="131"/>
                      <a:pt x="36" y="132"/>
                      <a:pt x="36" y="132"/>
                    </a:cubicBezTo>
                    <a:cubicBezTo>
                      <a:pt x="36" y="135"/>
                      <a:pt x="37" y="138"/>
                      <a:pt x="39" y="139"/>
                    </a:cubicBezTo>
                    <a:cubicBezTo>
                      <a:pt x="40" y="140"/>
                      <a:pt x="41" y="140"/>
                      <a:pt x="42" y="140"/>
                    </a:cubicBezTo>
                    <a:cubicBezTo>
                      <a:pt x="43" y="139"/>
                      <a:pt x="43" y="139"/>
                      <a:pt x="44" y="138"/>
                    </a:cubicBezTo>
                    <a:cubicBezTo>
                      <a:pt x="48" y="141"/>
                      <a:pt x="48" y="139"/>
                      <a:pt x="47" y="144"/>
                    </a:cubicBezTo>
                    <a:cubicBezTo>
                      <a:pt x="48" y="145"/>
                      <a:pt x="48" y="146"/>
                      <a:pt x="50" y="146"/>
                    </a:cubicBezTo>
                    <a:cubicBezTo>
                      <a:pt x="51" y="145"/>
                      <a:pt x="54" y="145"/>
                      <a:pt x="55" y="144"/>
                    </a:cubicBezTo>
                    <a:cubicBezTo>
                      <a:pt x="55" y="144"/>
                      <a:pt x="55" y="144"/>
                      <a:pt x="55" y="144"/>
                    </a:cubicBezTo>
                    <a:cubicBezTo>
                      <a:pt x="56" y="143"/>
                      <a:pt x="57" y="144"/>
                      <a:pt x="58" y="144"/>
                    </a:cubicBezTo>
                    <a:cubicBezTo>
                      <a:pt x="59" y="141"/>
                      <a:pt x="58" y="137"/>
                      <a:pt x="61" y="136"/>
                    </a:cubicBezTo>
                    <a:cubicBezTo>
                      <a:pt x="63" y="136"/>
                      <a:pt x="63" y="138"/>
                      <a:pt x="65" y="136"/>
                    </a:cubicBezTo>
                    <a:cubicBezTo>
                      <a:pt x="65" y="136"/>
                      <a:pt x="65" y="136"/>
                      <a:pt x="65" y="136"/>
                    </a:cubicBezTo>
                    <a:cubicBezTo>
                      <a:pt x="64" y="135"/>
                      <a:pt x="64" y="135"/>
                      <a:pt x="63" y="134"/>
                    </a:cubicBezTo>
                    <a:cubicBezTo>
                      <a:pt x="64" y="133"/>
                      <a:pt x="64" y="133"/>
                      <a:pt x="64" y="132"/>
                    </a:cubicBezTo>
                    <a:cubicBezTo>
                      <a:pt x="65" y="132"/>
                      <a:pt x="65" y="132"/>
                      <a:pt x="65" y="132"/>
                    </a:cubicBezTo>
                    <a:cubicBezTo>
                      <a:pt x="65" y="131"/>
                      <a:pt x="64" y="131"/>
                      <a:pt x="64" y="131"/>
                    </a:cubicBezTo>
                    <a:cubicBezTo>
                      <a:pt x="64" y="131"/>
                      <a:pt x="64" y="131"/>
                      <a:pt x="63" y="131"/>
                    </a:cubicBezTo>
                    <a:cubicBezTo>
                      <a:pt x="63" y="131"/>
                      <a:pt x="63" y="131"/>
                      <a:pt x="63" y="131"/>
                    </a:cubicBezTo>
                    <a:cubicBezTo>
                      <a:pt x="61" y="134"/>
                      <a:pt x="60" y="137"/>
                      <a:pt x="56" y="137"/>
                    </a:cubicBezTo>
                    <a:cubicBezTo>
                      <a:pt x="55" y="137"/>
                      <a:pt x="55" y="137"/>
                      <a:pt x="55" y="136"/>
                    </a:cubicBezTo>
                    <a:cubicBezTo>
                      <a:pt x="54" y="136"/>
                      <a:pt x="52" y="134"/>
                      <a:pt x="53" y="132"/>
                    </a:cubicBezTo>
                    <a:cubicBezTo>
                      <a:pt x="53" y="132"/>
                      <a:pt x="53" y="131"/>
                      <a:pt x="53" y="130"/>
                    </a:cubicBezTo>
                    <a:cubicBezTo>
                      <a:pt x="53" y="128"/>
                      <a:pt x="50" y="125"/>
                      <a:pt x="50" y="123"/>
                    </a:cubicBezTo>
                    <a:cubicBezTo>
                      <a:pt x="50" y="122"/>
                      <a:pt x="52" y="115"/>
                      <a:pt x="52" y="113"/>
                    </a:cubicBezTo>
                    <a:cubicBezTo>
                      <a:pt x="53" y="113"/>
                      <a:pt x="53" y="112"/>
                      <a:pt x="54" y="112"/>
                    </a:cubicBezTo>
                    <a:cubicBezTo>
                      <a:pt x="55" y="113"/>
                      <a:pt x="56" y="113"/>
                      <a:pt x="57" y="114"/>
                    </a:cubicBezTo>
                    <a:cubicBezTo>
                      <a:pt x="58" y="115"/>
                      <a:pt x="58" y="118"/>
                      <a:pt x="60" y="118"/>
                    </a:cubicBezTo>
                    <a:cubicBezTo>
                      <a:pt x="62" y="118"/>
                      <a:pt x="64" y="118"/>
                      <a:pt x="66" y="118"/>
                    </a:cubicBezTo>
                    <a:cubicBezTo>
                      <a:pt x="67" y="117"/>
                      <a:pt x="69" y="118"/>
                      <a:pt x="70" y="116"/>
                    </a:cubicBezTo>
                    <a:cubicBezTo>
                      <a:pt x="70" y="116"/>
                      <a:pt x="70" y="116"/>
                      <a:pt x="70" y="116"/>
                    </a:cubicBezTo>
                    <a:cubicBezTo>
                      <a:pt x="67" y="116"/>
                      <a:pt x="64" y="116"/>
                      <a:pt x="61" y="116"/>
                    </a:cubicBezTo>
                    <a:cubicBezTo>
                      <a:pt x="61" y="115"/>
                      <a:pt x="60" y="114"/>
                      <a:pt x="60" y="113"/>
                    </a:cubicBezTo>
                    <a:cubicBezTo>
                      <a:pt x="57" y="113"/>
                      <a:pt x="59" y="111"/>
                      <a:pt x="57" y="110"/>
                    </a:cubicBezTo>
                    <a:cubicBezTo>
                      <a:pt x="56" y="109"/>
                      <a:pt x="55" y="109"/>
                      <a:pt x="54" y="108"/>
                    </a:cubicBezTo>
                    <a:cubicBezTo>
                      <a:pt x="54" y="107"/>
                      <a:pt x="54" y="101"/>
                      <a:pt x="55" y="100"/>
                    </a:cubicBezTo>
                    <a:cubicBezTo>
                      <a:pt x="56" y="99"/>
                      <a:pt x="59" y="100"/>
                      <a:pt x="60" y="99"/>
                    </a:cubicBezTo>
                    <a:cubicBezTo>
                      <a:pt x="58" y="98"/>
                      <a:pt x="57" y="97"/>
                      <a:pt x="55" y="96"/>
                    </a:cubicBezTo>
                    <a:cubicBezTo>
                      <a:pt x="55" y="93"/>
                      <a:pt x="54" y="90"/>
                      <a:pt x="54" y="86"/>
                    </a:cubicBezTo>
                    <a:cubicBezTo>
                      <a:pt x="55" y="85"/>
                      <a:pt x="56" y="83"/>
                      <a:pt x="57" y="83"/>
                    </a:cubicBezTo>
                    <a:cubicBezTo>
                      <a:pt x="64" y="79"/>
                      <a:pt x="62" y="89"/>
                      <a:pt x="63" y="93"/>
                    </a:cubicBezTo>
                    <a:cubicBezTo>
                      <a:pt x="64" y="93"/>
                      <a:pt x="63" y="93"/>
                      <a:pt x="64" y="93"/>
                    </a:cubicBezTo>
                    <a:cubicBezTo>
                      <a:pt x="65" y="92"/>
                      <a:pt x="66" y="91"/>
                      <a:pt x="66" y="89"/>
                    </a:cubicBezTo>
                    <a:cubicBezTo>
                      <a:pt x="68" y="87"/>
                      <a:pt x="63" y="84"/>
                      <a:pt x="63" y="81"/>
                    </a:cubicBezTo>
                    <a:cubicBezTo>
                      <a:pt x="64" y="80"/>
                      <a:pt x="64" y="79"/>
                      <a:pt x="64" y="79"/>
                    </a:cubicBezTo>
                    <a:cubicBezTo>
                      <a:pt x="65" y="78"/>
                      <a:pt x="66" y="78"/>
                      <a:pt x="67" y="78"/>
                    </a:cubicBezTo>
                    <a:cubicBezTo>
                      <a:pt x="68" y="79"/>
                      <a:pt x="69" y="78"/>
                      <a:pt x="69" y="81"/>
                    </a:cubicBezTo>
                    <a:cubicBezTo>
                      <a:pt x="69" y="82"/>
                      <a:pt x="69" y="82"/>
                      <a:pt x="69" y="82"/>
                    </a:cubicBezTo>
                    <a:cubicBezTo>
                      <a:pt x="69" y="83"/>
                      <a:pt x="69" y="82"/>
                      <a:pt x="69" y="83"/>
                    </a:cubicBezTo>
                    <a:cubicBezTo>
                      <a:pt x="72" y="83"/>
                      <a:pt x="71" y="84"/>
                      <a:pt x="73" y="84"/>
                    </a:cubicBezTo>
                    <a:cubicBezTo>
                      <a:pt x="74" y="83"/>
                      <a:pt x="74" y="83"/>
                      <a:pt x="74" y="83"/>
                    </a:cubicBezTo>
                    <a:cubicBezTo>
                      <a:pt x="73" y="82"/>
                      <a:pt x="73" y="82"/>
                      <a:pt x="73" y="81"/>
                    </a:cubicBezTo>
                    <a:cubicBezTo>
                      <a:pt x="74" y="80"/>
                      <a:pt x="76" y="80"/>
                      <a:pt x="77" y="79"/>
                    </a:cubicBezTo>
                    <a:cubicBezTo>
                      <a:pt x="77" y="78"/>
                      <a:pt x="77" y="78"/>
                      <a:pt x="77" y="77"/>
                    </a:cubicBezTo>
                    <a:cubicBezTo>
                      <a:pt x="85" y="77"/>
                      <a:pt x="89" y="81"/>
                      <a:pt x="93" y="86"/>
                    </a:cubicBezTo>
                    <a:cubicBezTo>
                      <a:pt x="93" y="86"/>
                      <a:pt x="93" y="86"/>
                      <a:pt x="93" y="86"/>
                    </a:cubicBezTo>
                    <a:cubicBezTo>
                      <a:pt x="93" y="86"/>
                      <a:pt x="93" y="85"/>
                      <a:pt x="93" y="84"/>
                    </a:cubicBezTo>
                    <a:cubicBezTo>
                      <a:pt x="92" y="83"/>
                      <a:pt x="88" y="80"/>
                      <a:pt x="87" y="79"/>
                    </a:cubicBezTo>
                    <a:cubicBezTo>
                      <a:pt x="87" y="77"/>
                      <a:pt x="87" y="77"/>
                      <a:pt x="87" y="76"/>
                    </a:cubicBezTo>
                    <a:cubicBezTo>
                      <a:pt x="85" y="74"/>
                      <a:pt x="83" y="74"/>
                      <a:pt x="81" y="73"/>
                    </a:cubicBezTo>
                    <a:cubicBezTo>
                      <a:pt x="80" y="73"/>
                      <a:pt x="80" y="72"/>
                      <a:pt x="79" y="72"/>
                    </a:cubicBezTo>
                    <a:cubicBezTo>
                      <a:pt x="79" y="72"/>
                      <a:pt x="79" y="71"/>
                      <a:pt x="79" y="71"/>
                    </a:cubicBezTo>
                    <a:cubicBezTo>
                      <a:pt x="78" y="70"/>
                      <a:pt x="77" y="70"/>
                      <a:pt x="76" y="70"/>
                    </a:cubicBezTo>
                    <a:cubicBezTo>
                      <a:pt x="76" y="68"/>
                      <a:pt x="76" y="67"/>
                      <a:pt x="76" y="66"/>
                    </a:cubicBezTo>
                    <a:cubicBezTo>
                      <a:pt x="75" y="64"/>
                      <a:pt x="73" y="63"/>
                      <a:pt x="75" y="60"/>
                    </a:cubicBezTo>
                    <a:cubicBezTo>
                      <a:pt x="75" y="60"/>
                      <a:pt x="76" y="60"/>
                      <a:pt x="77" y="60"/>
                    </a:cubicBezTo>
                    <a:cubicBezTo>
                      <a:pt x="78" y="61"/>
                      <a:pt x="78" y="62"/>
                      <a:pt x="79" y="63"/>
                    </a:cubicBezTo>
                    <a:cubicBezTo>
                      <a:pt x="80" y="62"/>
                      <a:pt x="80" y="62"/>
                      <a:pt x="81" y="62"/>
                    </a:cubicBezTo>
                    <a:cubicBezTo>
                      <a:pt x="81" y="63"/>
                      <a:pt x="81" y="63"/>
                      <a:pt x="82" y="63"/>
                    </a:cubicBezTo>
                    <a:cubicBezTo>
                      <a:pt x="83" y="60"/>
                      <a:pt x="82" y="60"/>
                      <a:pt x="83" y="57"/>
                    </a:cubicBezTo>
                    <a:cubicBezTo>
                      <a:pt x="83" y="57"/>
                      <a:pt x="83" y="57"/>
                      <a:pt x="84" y="55"/>
                    </a:cubicBezTo>
                    <a:cubicBezTo>
                      <a:pt x="80" y="54"/>
                      <a:pt x="78" y="48"/>
                      <a:pt x="77" y="44"/>
                    </a:cubicBezTo>
                    <a:cubicBezTo>
                      <a:pt x="78" y="44"/>
                      <a:pt x="78" y="44"/>
                      <a:pt x="78" y="43"/>
                    </a:cubicBezTo>
                    <a:cubicBezTo>
                      <a:pt x="80" y="44"/>
                      <a:pt x="81" y="45"/>
                      <a:pt x="84" y="46"/>
                    </a:cubicBezTo>
                    <a:cubicBezTo>
                      <a:pt x="86" y="43"/>
                      <a:pt x="89" y="45"/>
                      <a:pt x="91" y="43"/>
                    </a:cubicBezTo>
                    <a:cubicBezTo>
                      <a:pt x="92" y="43"/>
                      <a:pt x="92" y="42"/>
                      <a:pt x="92" y="42"/>
                    </a:cubicBezTo>
                    <a:cubicBezTo>
                      <a:pt x="90" y="41"/>
                      <a:pt x="91" y="40"/>
                      <a:pt x="90" y="38"/>
                    </a:cubicBezTo>
                    <a:cubicBezTo>
                      <a:pt x="90" y="38"/>
                      <a:pt x="89" y="37"/>
                      <a:pt x="89" y="37"/>
                    </a:cubicBezTo>
                    <a:cubicBezTo>
                      <a:pt x="89" y="35"/>
                      <a:pt x="91" y="31"/>
                      <a:pt x="91" y="29"/>
                    </a:cubicBezTo>
                    <a:cubicBezTo>
                      <a:pt x="92" y="29"/>
                      <a:pt x="92" y="29"/>
                      <a:pt x="93" y="29"/>
                    </a:cubicBezTo>
                    <a:cubicBezTo>
                      <a:pt x="94" y="30"/>
                      <a:pt x="94" y="30"/>
                      <a:pt x="95" y="30"/>
                    </a:cubicBezTo>
                    <a:cubicBezTo>
                      <a:pt x="95" y="29"/>
                      <a:pt x="95" y="30"/>
                      <a:pt x="95" y="29"/>
                    </a:cubicBezTo>
                    <a:cubicBezTo>
                      <a:pt x="93" y="27"/>
                      <a:pt x="95" y="26"/>
                      <a:pt x="95" y="24"/>
                    </a:cubicBezTo>
                    <a:cubicBezTo>
                      <a:pt x="94" y="24"/>
                      <a:pt x="94" y="23"/>
                      <a:pt x="93" y="23"/>
                    </a:cubicBezTo>
                    <a:cubicBezTo>
                      <a:pt x="92" y="22"/>
                      <a:pt x="93" y="20"/>
                      <a:pt x="93" y="18"/>
                    </a:cubicBezTo>
                    <a:cubicBezTo>
                      <a:pt x="95" y="17"/>
                      <a:pt x="97" y="16"/>
                      <a:pt x="97" y="13"/>
                    </a:cubicBezTo>
                    <a:cubicBezTo>
                      <a:pt x="98" y="12"/>
                      <a:pt x="98" y="9"/>
                      <a:pt x="98" y="7"/>
                    </a:cubicBezTo>
                    <a:cubicBezTo>
                      <a:pt x="99" y="7"/>
                      <a:pt x="99" y="7"/>
                      <a:pt x="99" y="7"/>
                    </a:cubicBezTo>
                    <a:cubicBezTo>
                      <a:pt x="102" y="8"/>
                      <a:pt x="105" y="7"/>
                      <a:pt x="107" y="8"/>
                    </a:cubicBezTo>
                    <a:cubicBezTo>
                      <a:pt x="109" y="9"/>
                      <a:pt x="109" y="11"/>
                      <a:pt x="110" y="12"/>
                    </a:cubicBezTo>
                    <a:cubicBezTo>
                      <a:pt x="110" y="11"/>
                      <a:pt x="111" y="11"/>
                      <a:pt x="111" y="10"/>
                    </a:cubicBezTo>
                    <a:cubicBezTo>
                      <a:pt x="112" y="10"/>
                      <a:pt x="112" y="10"/>
                      <a:pt x="112" y="10"/>
                    </a:cubicBezTo>
                    <a:cubicBezTo>
                      <a:pt x="113" y="11"/>
                      <a:pt x="116" y="12"/>
                      <a:pt x="117" y="14"/>
                    </a:cubicBezTo>
                    <a:cubicBezTo>
                      <a:pt x="117" y="14"/>
                      <a:pt x="117" y="14"/>
                      <a:pt x="118" y="15"/>
                    </a:cubicBezTo>
                    <a:cubicBezTo>
                      <a:pt x="117" y="16"/>
                      <a:pt x="114" y="21"/>
                      <a:pt x="115" y="21"/>
                    </a:cubicBezTo>
                    <a:cubicBezTo>
                      <a:pt x="115" y="22"/>
                      <a:pt x="115" y="22"/>
                      <a:pt x="115" y="22"/>
                    </a:cubicBezTo>
                    <a:cubicBezTo>
                      <a:pt x="115" y="22"/>
                      <a:pt x="115" y="22"/>
                      <a:pt x="115" y="22"/>
                    </a:cubicBezTo>
                    <a:cubicBezTo>
                      <a:pt x="115" y="22"/>
                      <a:pt x="115" y="22"/>
                      <a:pt x="115" y="21"/>
                    </a:cubicBezTo>
                    <a:cubicBezTo>
                      <a:pt x="116" y="21"/>
                      <a:pt x="116" y="20"/>
                      <a:pt x="117" y="19"/>
                    </a:cubicBezTo>
                    <a:cubicBezTo>
                      <a:pt x="117" y="18"/>
                      <a:pt x="119" y="18"/>
                      <a:pt x="119" y="17"/>
                    </a:cubicBezTo>
                    <a:cubicBezTo>
                      <a:pt x="119" y="17"/>
                      <a:pt x="120" y="17"/>
                      <a:pt x="120" y="17"/>
                    </a:cubicBezTo>
                    <a:cubicBezTo>
                      <a:pt x="121" y="15"/>
                      <a:pt x="120" y="13"/>
                      <a:pt x="121" y="12"/>
                    </a:cubicBezTo>
                    <a:cubicBezTo>
                      <a:pt x="123" y="12"/>
                      <a:pt x="128" y="11"/>
                      <a:pt x="129" y="14"/>
                    </a:cubicBezTo>
                    <a:cubicBezTo>
                      <a:pt x="131" y="16"/>
                      <a:pt x="129" y="20"/>
                      <a:pt x="127" y="22"/>
                    </a:cubicBezTo>
                    <a:cubicBezTo>
                      <a:pt x="127" y="22"/>
                      <a:pt x="127" y="23"/>
                      <a:pt x="128" y="23"/>
                    </a:cubicBezTo>
                    <a:cubicBezTo>
                      <a:pt x="132" y="20"/>
                      <a:pt x="130" y="15"/>
                      <a:pt x="137" y="15"/>
                    </a:cubicBezTo>
                    <a:cubicBezTo>
                      <a:pt x="138" y="16"/>
                      <a:pt x="139" y="16"/>
                      <a:pt x="141" y="16"/>
                    </a:cubicBezTo>
                    <a:cubicBezTo>
                      <a:pt x="142" y="14"/>
                      <a:pt x="144" y="13"/>
                      <a:pt x="145" y="12"/>
                    </a:cubicBezTo>
                    <a:cubicBezTo>
                      <a:pt x="148" y="14"/>
                      <a:pt x="149" y="11"/>
                      <a:pt x="151" y="11"/>
                    </a:cubicBezTo>
                    <a:cubicBezTo>
                      <a:pt x="153" y="11"/>
                      <a:pt x="156" y="12"/>
                      <a:pt x="157" y="12"/>
                    </a:cubicBezTo>
                    <a:cubicBezTo>
                      <a:pt x="159" y="12"/>
                      <a:pt x="161" y="12"/>
                      <a:pt x="164" y="12"/>
                    </a:cubicBezTo>
                    <a:cubicBezTo>
                      <a:pt x="164" y="10"/>
                      <a:pt x="165" y="10"/>
                      <a:pt x="166" y="10"/>
                    </a:cubicBezTo>
                    <a:cubicBezTo>
                      <a:pt x="167" y="9"/>
                      <a:pt x="168" y="8"/>
                      <a:pt x="169" y="7"/>
                    </a:cubicBezTo>
                    <a:cubicBezTo>
                      <a:pt x="173" y="5"/>
                      <a:pt x="180" y="7"/>
                      <a:pt x="185" y="8"/>
                    </a:cubicBezTo>
                    <a:cubicBezTo>
                      <a:pt x="185" y="7"/>
                      <a:pt x="185" y="7"/>
                      <a:pt x="185" y="7"/>
                    </a:cubicBezTo>
                    <a:cubicBezTo>
                      <a:pt x="184" y="6"/>
                      <a:pt x="183" y="5"/>
                      <a:pt x="183" y="3"/>
                    </a:cubicBezTo>
                    <a:cubicBezTo>
                      <a:pt x="184" y="2"/>
                      <a:pt x="185" y="1"/>
                      <a:pt x="187" y="0"/>
                    </a:cubicBezTo>
                    <a:cubicBezTo>
                      <a:pt x="187" y="0"/>
                      <a:pt x="187" y="0"/>
                      <a:pt x="187" y="0"/>
                    </a:cubicBezTo>
                    <a:cubicBezTo>
                      <a:pt x="188" y="2"/>
                      <a:pt x="187" y="3"/>
                      <a:pt x="189" y="4"/>
                    </a:cubicBezTo>
                    <a:cubicBezTo>
                      <a:pt x="189" y="3"/>
                      <a:pt x="190" y="2"/>
                      <a:pt x="190" y="2"/>
                    </a:cubicBezTo>
                    <a:cubicBezTo>
                      <a:pt x="192" y="2"/>
                      <a:pt x="193" y="3"/>
                      <a:pt x="195" y="3"/>
                    </a:cubicBezTo>
                    <a:cubicBezTo>
                      <a:pt x="196" y="2"/>
                      <a:pt x="197" y="1"/>
                      <a:pt x="199" y="1"/>
                    </a:cubicBezTo>
                    <a:cubicBezTo>
                      <a:pt x="200" y="2"/>
                      <a:pt x="200" y="2"/>
                      <a:pt x="202" y="2"/>
                    </a:cubicBezTo>
                    <a:cubicBezTo>
                      <a:pt x="202" y="2"/>
                      <a:pt x="202" y="2"/>
                      <a:pt x="203" y="2"/>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39" name="Freeform 16">
                <a:extLst>
                  <a:ext uri="{FF2B5EF4-FFF2-40B4-BE49-F238E27FC236}">
                    <a16:creationId xmlns:a16="http://schemas.microsoft.com/office/drawing/2014/main" id="{6D41C825-031A-525D-B864-2981C638FFFE}"/>
                  </a:ext>
                </a:extLst>
              </p:cNvPr>
              <p:cNvSpPr>
                <a:spLocks/>
              </p:cNvSpPr>
              <p:nvPr/>
            </p:nvSpPr>
            <p:spPr bwMode="auto">
              <a:xfrm>
                <a:off x="-1555750" y="4006851"/>
                <a:ext cx="211138" cy="298450"/>
              </a:xfrm>
              <a:custGeom>
                <a:avLst/>
                <a:gdLst>
                  <a:gd name="T0" fmla="*/ 4 w 56"/>
                  <a:gd name="T1" fmla="*/ 69 h 79"/>
                  <a:gd name="T2" fmla="*/ 11 w 56"/>
                  <a:gd name="T3" fmla="*/ 62 h 79"/>
                  <a:gd name="T4" fmla="*/ 10 w 56"/>
                  <a:gd name="T5" fmla="*/ 56 h 79"/>
                  <a:gd name="T6" fmla="*/ 3 w 56"/>
                  <a:gd name="T7" fmla="*/ 53 h 79"/>
                  <a:gd name="T8" fmla="*/ 0 w 56"/>
                  <a:gd name="T9" fmla="*/ 48 h 79"/>
                  <a:gd name="T10" fmla="*/ 3 w 56"/>
                  <a:gd name="T11" fmla="*/ 50 h 79"/>
                  <a:gd name="T12" fmla="*/ 4 w 56"/>
                  <a:gd name="T13" fmla="*/ 51 h 79"/>
                  <a:gd name="T14" fmla="*/ 6 w 56"/>
                  <a:gd name="T15" fmla="*/ 46 h 79"/>
                  <a:gd name="T16" fmla="*/ 4 w 56"/>
                  <a:gd name="T17" fmla="*/ 32 h 79"/>
                  <a:gd name="T18" fmla="*/ 7 w 56"/>
                  <a:gd name="T19" fmla="*/ 31 h 79"/>
                  <a:gd name="T20" fmla="*/ 14 w 56"/>
                  <a:gd name="T21" fmla="*/ 31 h 79"/>
                  <a:gd name="T22" fmla="*/ 15 w 56"/>
                  <a:gd name="T23" fmla="*/ 34 h 79"/>
                  <a:gd name="T24" fmla="*/ 15 w 56"/>
                  <a:gd name="T25" fmla="*/ 26 h 79"/>
                  <a:gd name="T26" fmla="*/ 19 w 56"/>
                  <a:gd name="T27" fmla="*/ 27 h 79"/>
                  <a:gd name="T28" fmla="*/ 34 w 56"/>
                  <a:gd name="T29" fmla="*/ 14 h 79"/>
                  <a:gd name="T30" fmla="*/ 47 w 56"/>
                  <a:gd name="T31" fmla="*/ 3 h 79"/>
                  <a:gd name="T32" fmla="*/ 53 w 56"/>
                  <a:gd name="T33" fmla="*/ 2 h 79"/>
                  <a:gd name="T34" fmla="*/ 53 w 56"/>
                  <a:gd name="T35" fmla="*/ 15 h 79"/>
                  <a:gd name="T36" fmla="*/ 50 w 56"/>
                  <a:gd name="T37" fmla="*/ 20 h 79"/>
                  <a:gd name="T38" fmla="*/ 49 w 56"/>
                  <a:gd name="T39" fmla="*/ 24 h 79"/>
                  <a:gd name="T40" fmla="*/ 46 w 56"/>
                  <a:gd name="T41" fmla="*/ 30 h 79"/>
                  <a:gd name="T42" fmla="*/ 53 w 56"/>
                  <a:gd name="T43" fmla="*/ 26 h 79"/>
                  <a:gd name="T44" fmla="*/ 56 w 56"/>
                  <a:gd name="T45" fmla="*/ 27 h 79"/>
                  <a:gd name="T46" fmla="*/ 52 w 56"/>
                  <a:gd name="T47" fmla="*/ 35 h 79"/>
                  <a:gd name="T48" fmla="*/ 43 w 56"/>
                  <a:gd name="T49" fmla="*/ 34 h 79"/>
                  <a:gd name="T50" fmla="*/ 41 w 56"/>
                  <a:gd name="T51" fmla="*/ 40 h 79"/>
                  <a:gd name="T52" fmla="*/ 39 w 56"/>
                  <a:gd name="T53" fmla="*/ 53 h 79"/>
                  <a:gd name="T54" fmla="*/ 33 w 56"/>
                  <a:gd name="T55" fmla="*/ 61 h 79"/>
                  <a:gd name="T56" fmla="*/ 26 w 56"/>
                  <a:gd name="T57" fmla="*/ 63 h 79"/>
                  <a:gd name="T58" fmla="*/ 27 w 56"/>
                  <a:gd name="T59" fmla="*/ 67 h 79"/>
                  <a:gd name="T60" fmla="*/ 23 w 56"/>
                  <a:gd name="T61" fmla="*/ 69 h 79"/>
                  <a:gd name="T62" fmla="*/ 20 w 56"/>
                  <a:gd name="T63" fmla="*/ 71 h 79"/>
                  <a:gd name="T64" fmla="*/ 13 w 56"/>
                  <a:gd name="T65" fmla="*/ 78 h 79"/>
                  <a:gd name="T66" fmla="*/ 7 w 56"/>
                  <a:gd name="T67" fmla="*/ 76 h 79"/>
                  <a:gd name="T68" fmla="*/ 2 w 56"/>
                  <a:gd name="T69" fmla="*/ 6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79">
                    <a:moveTo>
                      <a:pt x="2" y="68"/>
                    </a:moveTo>
                    <a:cubicBezTo>
                      <a:pt x="3" y="68"/>
                      <a:pt x="4" y="69"/>
                      <a:pt x="4" y="69"/>
                    </a:cubicBezTo>
                    <a:cubicBezTo>
                      <a:pt x="6" y="68"/>
                      <a:pt x="10" y="64"/>
                      <a:pt x="11" y="63"/>
                    </a:cubicBezTo>
                    <a:cubicBezTo>
                      <a:pt x="10" y="63"/>
                      <a:pt x="10" y="63"/>
                      <a:pt x="11" y="62"/>
                    </a:cubicBezTo>
                    <a:cubicBezTo>
                      <a:pt x="12" y="61"/>
                      <a:pt x="14" y="61"/>
                      <a:pt x="15" y="59"/>
                    </a:cubicBezTo>
                    <a:cubicBezTo>
                      <a:pt x="13" y="59"/>
                      <a:pt x="12" y="57"/>
                      <a:pt x="10" y="56"/>
                    </a:cubicBezTo>
                    <a:cubicBezTo>
                      <a:pt x="9" y="56"/>
                      <a:pt x="8" y="56"/>
                      <a:pt x="7" y="56"/>
                    </a:cubicBezTo>
                    <a:cubicBezTo>
                      <a:pt x="7" y="56"/>
                      <a:pt x="3" y="53"/>
                      <a:pt x="3" y="53"/>
                    </a:cubicBezTo>
                    <a:cubicBezTo>
                      <a:pt x="3" y="52"/>
                      <a:pt x="3" y="52"/>
                      <a:pt x="3" y="51"/>
                    </a:cubicBezTo>
                    <a:cubicBezTo>
                      <a:pt x="2" y="50"/>
                      <a:pt x="0" y="50"/>
                      <a:pt x="0" y="48"/>
                    </a:cubicBezTo>
                    <a:cubicBezTo>
                      <a:pt x="0" y="48"/>
                      <a:pt x="1" y="48"/>
                      <a:pt x="2" y="47"/>
                    </a:cubicBezTo>
                    <a:cubicBezTo>
                      <a:pt x="3" y="48"/>
                      <a:pt x="3" y="48"/>
                      <a:pt x="3" y="50"/>
                    </a:cubicBezTo>
                    <a:cubicBezTo>
                      <a:pt x="3" y="51"/>
                      <a:pt x="3" y="50"/>
                      <a:pt x="3" y="51"/>
                    </a:cubicBezTo>
                    <a:cubicBezTo>
                      <a:pt x="4" y="51"/>
                      <a:pt x="4" y="51"/>
                      <a:pt x="4" y="51"/>
                    </a:cubicBezTo>
                    <a:cubicBezTo>
                      <a:pt x="5" y="50"/>
                      <a:pt x="6" y="49"/>
                      <a:pt x="6" y="47"/>
                    </a:cubicBezTo>
                    <a:cubicBezTo>
                      <a:pt x="6" y="47"/>
                      <a:pt x="6" y="47"/>
                      <a:pt x="6" y="46"/>
                    </a:cubicBezTo>
                    <a:cubicBezTo>
                      <a:pt x="5" y="45"/>
                      <a:pt x="4" y="45"/>
                      <a:pt x="3" y="43"/>
                    </a:cubicBezTo>
                    <a:cubicBezTo>
                      <a:pt x="1" y="40"/>
                      <a:pt x="3" y="35"/>
                      <a:pt x="4" y="32"/>
                    </a:cubicBezTo>
                    <a:cubicBezTo>
                      <a:pt x="5" y="33"/>
                      <a:pt x="5" y="33"/>
                      <a:pt x="6" y="33"/>
                    </a:cubicBezTo>
                    <a:cubicBezTo>
                      <a:pt x="7" y="32"/>
                      <a:pt x="7" y="32"/>
                      <a:pt x="7" y="31"/>
                    </a:cubicBezTo>
                    <a:cubicBezTo>
                      <a:pt x="6" y="30"/>
                      <a:pt x="7" y="27"/>
                      <a:pt x="8" y="27"/>
                    </a:cubicBezTo>
                    <a:cubicBezTo>
                      <a:pt x="10" y="29"/>
                      <a:pt x="13" y="28"/>
                      <a:pt x="14" y="31"/>
                    </a:cubicBezTo>
                    <a:cubicBezTo>
                      <a:pt x="13" y="32"/>
                      <a:pt x="14" y="33"/>
                      <a:pt x="15" y="34"/>
                    </a:cubicBezTo>
                    <a:cubicBezTo>
                      <a:pt x="15" y="34"/>
                      <a:pt x="15" y="34"/>
                      <a:pt x="15" y="34"/>
                    </a:cubicBezTo>
                    <a:cubicBezTo>
                      <a:pt x="17" y="33"/>
                      <a:pt x="17" y="32"/>
                      <a:pt x="17" y="30"/>
                    </a:cubicBezTo>
                    <a:cubicBezTo>
                      <a:pt x="16" y="29"/>
                      <a:pt x="16" y="28"/>
                      <a:pt x="15" y="26"/>
                    </a:cubicBezTo>
                    <a:cubicBezTo>
                      <a:pt x="16" y="26"/>
                      <a:pt x="16" y="26"/>
                      <a:pt x="17" y="26"/>
                    </a:cubicBezTo>
                    <a:cubicBezTo>
                      <a:pt x="18" y="26"/>
                      <a:pt x="19" y="28"/>
                      <a:pt x="19" y="27"/>
                    </a:cubicBezTo>
                    <a:cubicBezTo>
                      <a:pt x="20" y="26"/>
                      <a:pt x="19" y="23"/>
                      <a:pt x="20" y="22"/>
                    </a:cubicBezTo>
                    <a:cubicBezTo>
                      <a:pt x="21" y="20"/>
                      <a:pt x="31" y="15"/>
                      <a:pt x="34" y="14"/>
                    </a:cubicBezTo>
                    <a:cubicBezTo>
                      <a:pt x="34" y="13"/>
                      <a:pt x="34" y="13"/>
                      <a:pt x="34" y="12"/>
                    </a:cubicBezTo>
                    <a:cubicBezTo>
                      <a:pt x="39" y="10"/>
                      <a:pt x="43" y="7"/>
                      <a:pt x="47" y="3"/>
                    </a:cubicBezTo>
                    <a:cubicBezTo>
                      <a:pt x="48" y="2"/>
                      <a:pt x="48" y="1"/>
                      <a:pt x="51" y="0"/>
                    </a:cubicBezTo>
                    <a:cubicBezTo>
                      <a:pt x="51" y="1"/>
                      <a:pt x="52" y="2"/>
                      <a:pt x="53" y="2"/>
                    </a:cubicBezTo>
                    <a:cubicBezTo>
                      <a:pt x="53" y="4"/>
                      <a:pt x="55" y="8"/>
                      <a:pt x="55" y="10"/>
                    </a:cubicBezTo>
                    <a:cubicBezTo>
                      <a:pt x="54" y="11"/>
                      <a:pt x="52" y="14"/>
                      <a:pt x="53" y="15"/>
                    </a:cubicBezTo>
                    <a:cubicBezTo>
                      <a:pt x="54" y="16"/>
                      <a:pt x="54" y="17"/>
                      <a:pt x="54" y="19"/>
                    </a:cubicBezTo>
                    <a:cubicBezTo>
                      <a:pt x="53" y="19"/>
                      <a:pt x="52" y="20"/>
                      <a:pt x="50" y="20"/>
                    </a:cubicBezTo>
                    <a:cubicBezTo>
                      <a:pt x="51" y="21"/>
                      <a:pt x="52" y="22"/>
                      <a:pt x="51" y="22"/>
                    </a:cubicBezTo>
                    <a:cubicBezTo>
                      <a:pt x="51" y="24"/>
                      <a:pt x="50" y="24"/>
                      <a:pt x="49" y="24"/>
                    </a:cubicBezTo>
                    <a:cubicBezTo>
                      <a:pt x="48" y="26"/>
                      <a:pt x="48" y="28"/>
                      <a:pt x="45" y="29"/>
                    </a:cubicBezTo>
                    <a:cubicBezTo>
                      <a:pt x="46" y="29"/>
                      <a:pt x="46" y="29"/>
                      <a:pt x="46" y="30"/>
                    </a:cubicBezTo>
                    <a:cubicBezTo>
                      <a:pt x="47" y="30"/>
                      <a:pt x="47" y="30"/>
                      <a:pt x="49" y="31"/>
                    </a:cubicBezTo>
                    <a:cubicBezTo>
                      <a:pt x="50" y="29"/>
                      <a:pt x="52" y="27"/>
                      <a:pt x="53" y="26"/>
                    </a:cubicBezTo>
                    <a:cubicBezTo>
                      <a:pt x="55" y="26"/>
                      <a:pt x="55" y="26"/>
                      <a:pt x="56" y="26"/>
                    </a:cubicBezTo>
                    <a:cubicBezTo>
                      <a:pt x="56" y="26"/>
                      <a:pt x="56" y="26"/>
                      <a:pt x="56" y="27"/>
                    </a:cubicBezTo>
                    <a:cubicBezTo>
                      <a:pt x="54" y="28"/>
                      <a:pt x="56" y="28"/>
                      <a:pt x="55" y="31"/>
                    </a:cubicBezTo>
                    <a:cubicBezTo>
                      <a:pt x="55" y="32"/>
                      <a:pt x="53" y="34"/>
                      <a:pt x="52" y="35"/>
                    </a:cubicBezTo>
                    <a:cubicBezTo>
                      <a:pt x="48" y="35"/>
                      <a:pt x="47" y="33"/>
                      <a:pt x="44" y="33"/>
                    </a:cubicBezTo>
                    <a:cubicBezTo>
                      <a:pt x="44" y="33"/>
                      <a:pt x="44" y="33"/>
                      <a:pt x="43" y="34"/>
                    </a:cubicBezTo>
                    <a:cubicBezTo>
                      <a:pt x="44" y="35"/>
                      <a:pt x="43" y="38"/>
                      <a:pt x="43" y="39"/>
                    </a:cubicBezTo>
                    <a:cubicBezTo>
                      <a:pt x="42" y="39"/>
                      <a:pt x="41" y="40"/>
                      <a:pt x="41" y="40"/>
                    </a:cubicBezTo>
                    <a:cubicBezTo>
                      <a:pt x="43" y="44"/>
                      <a:pt x="43" y="46"/>
                      <a:pt x="42" y="51"/>
                    </a:cubicBezTo>
                    <a:cubicBezTo>
                      <a:pt x="42" y="52"/>
                      <a:pt x="39" y="53"/>
                      <a:pt x="39" y="53"/>
                    </a:cubicBezTo>
                    <a:cubicBezTo>
                      <a:pt x="38" y="54"/>
                      <a:pt x="38" y="57"/>
                      <a:pt x="37" y="58"/>
                    </a:cubicBezTo>
                    <a:cubicBezTo>
                      <a:pt x="36" y="59"/>
                      <a:pt x="34" y="61"/>
                      <a:pt x="33" y="61"/>
                    </a:cubicBezTo>
                    <a:cubicBezTo>
                      <a:pt x="31" y="61"/>
                      <a:pt x="28" y="60"/>
                      <a:pt x="27" y="60"/>
                    </a:cubicBezTo>
                    <a:cubicBezTo>
                      <a:pt x="26" y="61"/>
                      <a:pt x="26" y="62"/>
                      <a:pt x="26" y="63"/>
                    </a:cubicBezTo>
                    <a:cubicBezTo>
                      <a:pt x="26" y="63"/>
                      <a:pt x="27" y="65"/>
                      <a:pt x="27" y="67"/>
                    </a:cubicBezTo>
                    <a:cubicBezTo>
                      <a:pt x="27" y="67"/>
                      <a:pt x="27" y="67"/>
                      <a:pt x="27" y="67"/>
                    </a:cubicBezTo>
                    <a:cubicBezTo>
                      <a:pt x="26" y="67"/>
                      <a:pt x="25" y="66"/>
                      <a:pt x="24" y="66"/>
                    </a:cubicBezTo>
                    <a:cubicBezTo>
                      <a:pt x="23" y="67"/>
                      <a:pt x="23" y="68"/>
                      <a:pt x="23" y="69"/>
                    </a:cubicBezTo>
                    <a:cubicBezTo>
                      <a:pt x="23" y="69"/>
                      <a:pt x="22" y="69"/>
                      <a:pt x="21" y="69"/>
                    </a:cubicBezTo>
                    <a:cubicBezTo>
                      <a:pt x="21" y="70"/>
                      <a:pt x="20" y="71"/>
                      <a:pt x="20" y="71"/>
                    </a:cubicBezTo>
                    <a:cubicBezTo>
                      <a:pt x="18" y="72"/>
                      <a:pt x="17" y="71"/>
                      <a:pt x="16" y="73"/>
                    </a:cubicBezTo>
                    <a:cubicBezTo>
                      <a:pt x="15" y="75"/>
                      <a:pt x="15" y="77"/>
                      <a:pt x="13" y="78"/>
                    </a:cubicBezTo>
                    <a:cubicBezTo>
                      <a:pt x="11" y="77"/>
                      <a:pt x="11" y="79"/>
                      <a:pt x="9" y="79"/>
                    </a:cubicBezTo>
                    <a:cubicBezTo>
                      <a:pt x="8" y="78"/>
                      <a:pt x="8" y="78"/>
                      <a:pt x="7" y="76"/>
                    </a:cubicBezTo>
                    <a:cubicBezTo>
                      <a:pt x="7" y="76"/>
                      <a:pt x="6" y="76"/>
                      <a:pt x="5" y="75"/>
                    </a:cubicBezTo>
                    <a:cubicBezTo>
                      <a:pt x="3" y="74"/>
                      <a:pt x="2" y="70"/>
                      <a:pt x="2" y="68"/>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0" name="Freeform 17">
                <a:extLst>
                  <a:ext uri="{FF2B5EF4-FFF2-40B4-BE49-F238E27FC236}">
                    <a16:creationId xmlns:a16="http://schemas.microsoft.com/office/drawing/2014/main" id="{BE8D2FFD-DFBD-E3F2-B33F-7FB55D22C3A3}"/>
                  </a:ext>
                </a:extLst>
              </p:cNvPr>
              <p:cNvSpPr>
                <a:spLocks/>
              </p:cNvSpPr>
              <p:nvPr/>
            </p:nvSpPr>
            <p:spPr bwMode="auto">
              <a:xfrm>
                <a:off x="-1223963" y="4221163"/>
                <a:ext cx="7938" cy="11113"/>
              </a:xfrm>
              <a:custGeom>
                <a:avLst/>
                <a:gdLst>
                  <a:gd name="T0" fmla="*/ 0 w 2"/>
                  <a:gd name="T1" fmla="*/ 0 h 3"/>
                  <a:gd name="T2" fmla="*/ 1 w 2"/>
                  <a:gd name="T3" fmla="*/ 0 h 3"/>
                  <a:gd name="T4" fmla="*/ 2 w 2"/>
                  <a:gd name="T5" fmla="*/ 2 h 3"/>
                  <a:gd name="T6" fmla="*/ 0 w 2"/>
                  <a:gd name="T7" fmla="*/ 3 h 3"/>
                  <a:gd name="T8" fmla="*/ 0 w 2"/>
                  <a:gd name="T9" fmla="*/ 0 h 3"/>
                </a:gdLst>
                <a:ahLst/>
                <a:cxnLst>
                  <a:cxn ang="0">
                    <a:pos x="T0" y="T1"/>
                  </a:cxn>
                  <a:cxn ang="0">
                    <a:pos x="T2" y="T3"/>
                  </a:cxn>
                  <a:cxn ang="0">
                    <a:pos x="T4" y="T5"/>
                  </a:cxn>
                  <a:cxn ang="0">
                    <a:pos x="T6" y="T7"/>
                  </a:cxn>
                  <a:cxn ang="0">
                    <a:pos x="T8" y="T9"/>
                  </a:cxn>
                </a:cxnLst>
                <a:rect l="0" t="0" r="r" b="b"/>
                <a:pathLst>
                  <a:path w="2" h="3">
                    <a:moveTo>
                      <a:pt x="0" y="0"/>
                    </a:moveTo>
                    <a:cubicBezTo>
                      <a:pt x="1" y="0"/>
                      <a:pt x="1" y="0"/>
                      <a:pt x="1" y="0"/>
                    </a:cubicBezTo>
                    <a:cubicBezTo>
                      <a:pt x="2" y="1"/>
                      <a:pt x="2" y="1"/>
                      <a:pt x="2" y="2"/>
                    </a:cubicBezTo>
                    <a:cubicBezTo>
                      <a:pt x="1" y="2"/>
                      <a:pt x="1" y="2"/>
                      <a:pt x="0" y="3"/>
                    </a:cubicBezTo>
                    <a:cubicBezTo>
                      <a:pt x="0" y="1"/>
                      <a:pt x="0" y="2"/>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1" name="Freeform 18">
                <a:extLst>
                  <a:ext uri="{FF2B5EF4-FFF2-40B4-BE49-F238E27FC236}">
                    <a16:creationId xmlns:a16="http://schemas.microsoft.com/office/drawing/2014/main" id="{B7D86688-7F9E-A162-E5B9-CA7C45ECBAE4}"/>
                  </a:ext>
                </a:extLst>
              </p:cNvPr>
              <p:cNvSpPr>
                <a:spLocks/>
              </p:cNvSpPr>
              <p:nvPr/>
            </p:nvSpPr>
            <p:spPr bwMode="auto">
              <a:xfrm>
                <a:off x="-1539875" y="4229101"/>
                <a:ext cx="19050" cy="15875"/>
              </a:xfrm>
              <a:custGeom>
                <a:avLst/>
                <a:gdLst>
                  <a:gd name="T0" fmla="*/ 2 w 5"/>
                  <a:gd name="T1" fmla="*/ 0 h 4"/>
                  <a:gd name="T2" fmla="*/ 4 w 5"/>
                  <a:gd name="T3" fmla="*/ 0 h 4"/>
                  <a:gd name="T4" fmla="*/ 4 w 5"/>
                  <a:gd name="T5" fmla="*/ 1 h 4"/>
                  <a:gd name="T6" fmla="*/ 5 w 5"/>
                  <a:gd name="T7" fmla="*/ 4 h 4"/>
                  <a:gd name="T8" fmla="*/ 4 w 5"/>
                  <a:gd name="T9" fmla="*/ 4 h 4"/>
                  <a:gd name="T10" fmla="*/ 1 w 5"/>
                  <a:gd name="T11" fmla="*/ 4 h 4"/>
                  <a:gd name="T12" fmla="*/ 0 w 5"/>
                  <a:gd name="T13" fmla="*/ 3 h 4"/>
                  <a:gd name="T14" fmla="*/ 2 w 5"/>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0"/>
                    </a:moveTo>
                    <a:cubicBezTo>
                      <a:pt x="3" y="0"/>
                      <a:pt x="4" y="0"/>
                      <a:pt x="4" y="0"/>
                    </a:cubicBezTo>
                    <a:cubicBezTo>
                      <a:pt x="4" y="1"/>
                      <a:pt x="4" y="1"/>
                      <a:pt x="4" y="1"/>
                    </a:cubicBezTo>
                    <a:cubicBezTo>
                      <a:pt x="5" y="2"/>
                      <a:pt x="5" y="3"/>
                      <a:pt x="5" y="4"/>
                    </a:cubicBezTo>
                    <a:cubicBezTo>
                      <a:pt x="4" y="4"/>
                      <a:pt x="4" y="4"/>
                      <a:pt x="4" y="4"/>
                    </a:cubicBezTo>
                    <a:cubicBezTo>
                      <a:pt x="3" y="4"/>
                      <a:pt x="1" y="4"/>
                      <a:pt x="1" y="4"/>
                    </a:cubicBezTo>
                    <a:cubicBezTo>
                      <a:pt x="1" y="4"/>
                      <a:pt x="1" y="3"/>
                      <a:pt x="0" y="3"/>
                    </a:cubicBezTo>
                    <a:cubicBezTo>
                      <a:pt x="1" y="2"/>
                      <a:pt x="2" y="1"/>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2" name="Freeform 19">
                <a:extLst>
                  <a:ext uri="{FF2B5EF4-FFF2-40B4-BE49-F238E27FC236}">
                    <a16:creationId xmlns:a16="http://schemas.microsoft.com/office/drawing/2014/main" id="{AB1C16E1-3E1C-90AD-F850-3D62453A2E72}"/>
                  </a:ext>
                </a:extLst>
              </p:cNvPr>
              <p:cNvSpPr>
                <a:spLocks/>
              </p:cNvSpPr>
              <p:nvPr/>
            </p:nvSpPr>
            <p:spPr bwMode="auto">
              <a:xfrm>
                <a:off x="-1400175" y="4244976"/>
                <a:ext cx="6350" cy="3175"/>
              </a:xfrm>
              <a:custGeom>
                <a:avLst/>
                <a:gdLst>
                  <a:gd name="T0" fmla="*/ 0 w 2"/>
                  <a:gd name="T1" fmla="*/ 1 h 1"/>
                  <a:gd name="T2" fmla="*/ 1 w 2"/>
                  <a:gd name="T3" fmla="*/ 0 h 1"/>
                  <a:gd name="T4" fmla="*/ 1 w 2"/>
                  <a:gd name="T5" fmla="*/ 0 h 1"/>
                  <a:gd name="T6" fmla="*/ 2 w 2"/>
                  <a:gd name="T7" fmla="*/ 0 h 1"/>
                  <a:gd name="T8" fmla="*/ 2 w 2"/>
                  <a:gd name="T9" fmla="*/ 1 h 1"/>
                  <a:gd name="T10" fmla="*/ 0 w 2"/>
                  <a:gd name="T11" fmla="*/ 1 h 1"/>
                </a:gdLst>
                <a:ahLst/>
                <a:cxnLst>
                  <a:cxn ang="0">
                    <a:pos x="T0" y="T1"/>
                  </a:cxn>
                  <a:cxn ang="0">
                    <a:pos x="T2" y="T3"/>
                  </a:cxn>
                  <a:cxn ang="0">
                    <a:pos x="T4" y="T5"/>
                  </a:cxn>
                  <a:cxn ang="0">
                    <a:pos x="T6" y="T7"/>
                  </a:cxn>
                  <a:cxn ang="0">
                    <a:pos x="T8" y="T9"/>
                  </a:cxn>
                  <a:cxn ang="0">
                    <a:pos x="T10" y="T11"/>
                  </a:cxn>
                </a:cxnLst>
                <a:rect l="0" t="0" r="r" b="b"/>
                <a:pathLst>
                  <a:path w="2" h="1">
                    <a:moveTo>
                      <a:pt x="0" y="1"/>
                    </a:moveTo>
                    <a:cubicBezTo>
                      <a:pt x="1" y="0"/>
                      <a:pt x="1" y="0"/>
                      <a:pt x="1" y="0"/>
                    </a:cubicBezTo>
                    <a:cubicBezTo>
                      <a:pt x="1" y="0"/>
                      <a:pt x="1" y="0"/>
                      <a:pt x="1" y="0"/>
                    </a:cubicBezTo>
                    <a:cubicBezTo>
                      <a:pt x="2" y="0"/>
                      <a:pt x="2" y="0"/>
                      <a:pt x="2" y="0"/>
                    </a:cubicBezTo>
                    <a:cubicBezTo>
                      <a:pt x="2" y="1"/>
                      <a:pt x="2" y="0"/>
                      <a:pt x="2" y="1"/>
                    </a:cubicBezTo>
                    <a:cubicBezTo>
                      <a:pt x="1" y="1"/>
                      <a:pt x="1" y="1"/>
                      <a:pt x="0" y="1"/>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3" name="Freeform 20">
                <a:extLst>
                  <a:ext uri="{FF2B5EF4-FFF2-40B4-BE49-F238E27FC236}">
                    <a16:creationId xmlns:a16="http://schemas.microsoft.com/office/drawing/2014/main" id="{B22609D6-16EA-7146-E133-BAFF89AE35EC}"/>
                  </a:ext>
                </a:extLst>
              </p:cNvPr>
              <p:cNvSpPr>
                <a:spLocks/>
              </p:cNvSpPr>
              <p:nvPr/>
            </p:nvSpPr>
            <p:spPr bwMode="auto">
              <a:xfrm>
                <a:off x="-1581150" y="4281488"/>
                <a:ext cx="14288" cy="7938"/>
              </a:xfrm>
              <a:custGeom>
                <a:avLst/>
                <a:gdLst>
                  <a:gd name="T0" fmla="*/ 1 w 4"/>
                  <a:gd name="T1" fmla="*/ 0 h 2"/>
                  <a:gd name="T2" fmla="*/ 4 w 4"/>
                  <a:gd name="T3" fmla="*/ 0 h 2"/>
                  <a:gd name="T4" fmla="*/ 4 w 4"/>
                  <a:gd name="T5" fmla="*/ 1 h 2"/>
                  <a:gd name="T6" fmla="*/ 4 w 4"/>
                  <a:gd name="T7" fmla="*/ 2 h 2"/>
                  <a:gd name="T8" fmla="*/ 1 w 4"/>
                  <a:gd name="T9" fmla="*/ 2 h 2"/>
                  <a:gd name="T10" fmla="*/ 1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1" y="0"/>
                    </a:moveTo>
                    <a:cubicBezTo>
                      <a:pt x="2" y="0"/>
                      <a:pt x="3" y="0"/>
                      <a:pt x="4" y="0"/>
                    </a:cubicBezTo>
                    <a:cubicBezTo>
                      <a:pt x="4" y="1"/>
                      <a:pt x="4" y="1"/>
                      <a:pt x="4" y="1"/>
                    </a:cubicBezTo>
                    <a:cubicBezTo>
                      <a:pt x="4" y="2"/>
                      <a:pt x="4" y="2"/>
                      <a:pt x="4" y="2"/>
                    </a:cubicBezTo>
                    <a:cubicBezTo>
                      <a:pt x="3" y="2"/>
                      <a:pt x="2" y="2"/>
                      <a:pt x="1" y="2"/>
                    </a:cubicBezTo>
                    <a:cubicBezTo>
                      <a:pt x="0" y="1"/>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4" name="Freeform 21">
                <a:extLst>
                  <a:ext uri="{FF2B5EF4-FFF2-40B4-BE49-F238E27FC236}">
                    <a16:creationId xmlns:a16="http://schemas.microsoft.com/office/drawing/2014/main" id="{C0AA0FE3-FDC6-D66D-3CA1-3A6D74CCD52C}"/>
                  </a:ext>
                </a:extLst>
              </p:cNvPr>
              <p:cNvSpPr>
                <a:spLocks/>
              </p:cNvSpPr>
              <p:nvPr/>
            </p:nvSpPr>
            <p:spPr bwMode="auto">
              <a:xfrm>
                <a:off x="-1570038" y="4297363"/>
                <a:ext cx="14288" cy="14288"/>
              </a:xfrm>
              <a:custGeom>
                <a:avLst/>
                <a:gdLst>
                  <a:gd name="T0" fmla="*/ 3 w 4"/>
                  <a:gd name="T1" fmla="*/ 0 h 4"/>
                  <a:gd name="T2" fmla="*/ 4 w 4"/>
                  <a:gd name="T3" fmla="*/ 2 h 4"/>
                  <a:gd name="T4" fmla="*/ 1 w 4"/>
                  <a:gd name="T5" fmla="*/ 4 h 4"/>
                  <a:gd name="T6" fmla="*/ 0 w 4"/>
                  <a:gd name="T7" fmla="*/ 2 h 4"/>
                  <a:gd name="T8" fmla="*/ 3 w 4"/>
                  <a:gd name="T9" fmla="*/ 0 h 4"/>
                </a:gdLst>
                <a:ahLst/>
                <a:cxnLst>
                  <a:cxn ang="0">
                    <a:pos x="T0" y="T1"/>
                  </a:cxn>
                  <a:cxn ang="0">
                    <a:pos x="T2" y="T3"/>
                  </a:cxn>
                  <a:cxn ang="0">
                    <a:pos x="T4" y="T5"/>
                  </a:cxn>
                  <a:cxn ang="0">
                    <a:pos x="T6" y="T7"/>
                  </a:cxn>
                  <a:cxn ang="0">
                    <a:pos x="T8" y="T9"/>
                  </a:cxn>
                </a:cxnLst>
                <a:rect l="0" t="0" r="r" b="b"/>
                <a:pathLst>
                  <a:path w="4" h="4">
                    <a:moveTo>
                      <a:pt x="3" y="0"/>
                    </a:moveTo>
                    <a:cubicBezTo>
                      <a:pt x="4" y="1"/>
                      <a:pt x="4" y="1"/>
                      <a:pt x="4" y="2"/>
                    </a:cubicBezTo>
                    <a:cubicBezTo>
                      <a:pt x="3" y="3"/>
                      <a:pt x="2" y="4"/>
                      <a:pt x="1" y="4"/>
                    </a:cubicBezTo>
                    <a:cubicBezTo>
                      <a:pt x="0" y="3"/>
                      <a:pt x="0" y="3"/>
                      <a:pt x="0" y="2"/>
                    </a:cubicBezTo>
                    <a:cubicBezTo>
                      <a:pt x="1" y="2"/>
                      <a:pt x="2" y="1"/>
                      <a:pt x="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5" name="Freeform 22">
                <a:extLst>
                  <a:ext uri="{FF2B5EF4-FFF2-40B4-BE49-F238E27FC236}">
                    <a16:creationId xmlns:a16="http://schemas.microsoft.com/office/drawing/2014/main" id="{669F4897-2361-FCA1-F0FC-BB98FFF7C5DB}"/>
                  </a:ext>
                </a:extLst>
              </p:cNvPr>
              <p:cNvSpPr>
                <a:spLocks/>
              </p:cNvSpPr>
              <p:nvPr/>
            </p:nvSpPr>
            <p:spPr bwMode="auto">
              <a:xfrm>
                <a:off x="-1592263" y="4308476"/>
                <a:ext cx="6350" cy="7938"/>
              </a:xfrm>
              <a:custGeom>
                <a:avLst/>
                <a:gdLst>
                  <a:gd name="T0" fmla="*/ 1 w 2"/>
                  <a:gd name="T1" fmla="*/ 0 h 2"/>
                  <a:gd name="T2" fmla="*/ 2 w 2"/>
                  <a:gd name="T3" fmla="*/ 1 h 2"/>
                  <a:gd name="T4" fmla="*/ 1 w 2"/>
                  <a:gd name="T5" fmla="*/ 2 h 2"/>
                  <a:gd name="T6" fmla="*/ 1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2" y="0"/>
                      <a:pt x="2" y="0"/>
                      <a:pt x="2" y="1"/>
                    </a:cubicBezTo>
                    <a:cubicBezTo>
                      <a:pt x="2" y="2"/>
                      <a:pt x="2" y="2"/>
                      <a:pt x="1" y="2"/>
                    </a:cubicBezTo>
                    <a:cubicBezTo>
                      <a:pt x="1" y="2"/>
                      <a:pt x="1" y="2"/>
                      <a:pt x="1" y="2"/>
                    </a:cubicBezTo>
                    <a:cubicBezTo>
                      <a:pt x="0" y="1"/>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6" name="Freeform 23">
                <a:extLst>
                  <a:ext uri="{FF2B5EF4-FFF2-40B4-BE49-F238E27FC236}">
                    <a16:creationId xmlns:a16="http://schemas.microsoft.com/office/drawing/2014/main" id="{A9A3577E-C918-91A9-688C-836585CDEB5C}"/>
                  </a:ext>
                </a:extLst>
              </p:cNvPr>
              <p:cNvSpPr>
                <a:spLocks/>
              </p:cNvSpPr>
              <p:nvPr/>
            </p:nvSpPr>
            <p:spPr bwMode="auto">
              <a:xfrm>
                <a:off x="-1641475" y="4316413"/>
                <a:ext cx="104775" cy="244475"/>
              </a:xfrm>
              <a:custGeom>
                <a:avLst/>
                <a:gdLst>
                  <a:gd name="T0" fmla="*/ 23 w 28"/>
                  <a:gd name="T1" fmla="*/ 7 h 65"/>
                  <a:gd name="T2" fmla="*/ 21 w 28"/>
                  <a:gd name="T3" fmla="*/ 7 h 65"/>
                  <a:gd name="T4" fmla="*/ 20 w 28"/>
                  <a:gd name="T5" fmla="*/ 7 h 65"/>
                  <a:gd name="T6" fmla="*/ 20 w 28"/>
                  <a:gd name="T7" fmla="*/ 7 h 65"/>
                  <a:gd name="T8" fmla="*/ 23 w 28"/>
                  <a:gd name="T9" fmla="*/ 11 h 65"/>
                  <a:gd name="T10" fmla="*/ 25 w 28"/>
                  <a:gd name="T11" fmla="*/ 11 h 65"/>
                  <a:gd name="T12" fmla="*/ 25 w 28"/>
                  <a:gd name="T13" fmla="*/ 12 h 65"/>
                  <a:gd name="T14" fmla="*/ 22 w 28"/>
                  <a:gd name="T15" fmla="*/ 16 h 65"/>
                  <a:gd name="T16" fmla="*/ 21 w 28"/>
                  <a:gd name="T17" fmla="*/ 23 h 65"/>
                  <a:gd name="T18" fmla="*/ 18 w 28"/>
                  <a:gd name="T19" fmla="*/ 26 h 65"/>
                  <a:gd name="T20" fmla="*/ 19 w 28"/>
                  <a:gd name="T21" fmla="*/ 28 h 65"/>
                  <a:gd name="T22" fmla="*/ 18 w 28"/>
                  <a:gd name="T23" fmla="*/ 29 h 65"/>
                  <a:gd name="T24" fmla="*/ 20 w 28"/>
                  <a:gd name="T25" fmla="*/ 30 h 65"/>
                  <a:gd name="T26" fmla="*/ 20 w 28"/>
                  <a:gd name="T27" fmla="*/ 30 h 65"/>
                  <a:gd name="T28" fmla="*/ 19 w 28"/>
                  <a:gd name="T29" fmla="*/ 30 h 65"/>
                  <a:gd name="T30" fmla="*/ 15 w 28"/>
                  <a:gd name="T31" fmla="*/ 33 h 65"/>
                  <a:gd name="T32" fmla="*/ 17 w 28"/>
                  <a:gd name="T33" fmla="*/ 36 h 65"/>
                  <a:gd name="T34" fmla="*/ 16 w 28"/>
                  <a:gd name="T35" fmla="*/ 38 h 65"/>
                  <a:gd name="T36" fmla="*/ 19 w 28"/>
                  <a:gd name="T37" fmla="*/ 41 h 65"/>
                  <a:gd name="T38" fmla="*/ 16 w 28"/>
                  <a:gd name="T39" fmla="*/ 46 h 65"/>
                  <a:gd name="T40" fmla="*/ 14 w 28"/>
                  <a:gd name="T41" fmla="*/ 48 h 65"/>
                  <a:gd name="T42" fmla="*/ 15 w 28"/>
                  <a:gd name="T43" fmla="*/ 52 h 65"/>
                  <a:gd name="T44" fmla="*/ 15 w 28"/>
                  <a:gd name="T45" fmla="*/ 55 h 65"/>
                  <a:gd name="T46" fmla="*/ 15 w 28"/>
                  <a:gd name="T47" fmla="*/ 57 h 65"/>
                  <a:gd name="T48" fmla="*/ 17 w 28"/>
                  <a:gd name="T49" fmla="*/ 60 h 65"/>
                  <a:gd name="T50" fmla="*/ 13 w 28"/>
                  <a:gd name="T51" fmla="*/ 65 h 65"/>
                  <a:gd name="T52" fmla="*/ 12 w 28"/>
                  <a:gd name="T53" fmla="*/ 64 h 65"/>
                  <a:gd name="T54" fmla="*/ 10 w 28"/>
                  <a:gd name="T55" fmla="*/ 61 h 65"/>
                  <a:gd name="T56" fmla="*/ 7 w 28"/>
                  <a:gd name="T57" fmla="*/ 59 h 65"/>
                  <a:gd name="T58" fmla="*/ 6 w 28"/>
                  <a:gd name="T59" fmla="*/ 56 h 65"/>
                  <a:gd name="T60" fmla="*/ 4 w 28"/>
                  <a:gd name="T61" fmla="*/ 45 h 65"/>
                  <a:gd name="T62" fmla="*/ 7 w 28"/>
                  <a:gd name="T63" fmla="*/ 38 h 65"/>
                  <a:gd name="T64" fmla="*/ 6 w 28"/>
                  <a:gd name="T65" fmla="*/ 31 h 65"/>
                  <a:gd name="T66" fmla="*/ 8 w 28"/>
                  <a:gd name="T67" fmla="*/ 28 h 65"/>
                  <a:gd name="T68" fmla="*/ 6 w 28"/>
                  <a:gd name="T69" fmla="*/ 24 h 65"/>
                  <a:gd name="T70" fmla="*/ 8 w 28"/>
                  <a:gd name="T71" fmla="*/ 22 h 65"/>
                  <a:gd name="T72" fmla="*/ 12 w 28"/>
                  <a:gd name="T73" fmla="*/ 19 h 65"/>
                  <a:gd name="T74" fmla="*/ 9 w 28"/>
                  <a:gd name="T75" fmla="*/ 18 h 65"/>
                  <a:gd name="T76" fmla="*/ 8 w 28"/>
                  <a:gd name="T77" fmla="*/ 14 h 65"/>
                  <a:gd name="T78" fmla="*/ 7 w 28"/>
                  <a:gd name="T79" fmla="*/ 14 h 65"/>
                  <a:gd name="T80" fmla="*/ 1 w 28"/>
                  <a:gd name="T81" fmla="*/ 13 h 65"/>
                  <a:gd name="T82" fmla="*/ 0 w 28"/>
                  <a:gd name="T83" fmla="*/ 12 h 65"/>
                  <a:gd name="T84" fmla="*/ 1 w 28"/>
                  <a:gd name="T85" fmla="*/ 8 h 65"/>
                  <a:gd name="T86" fmla="*/ 4 w 28"/>
                  <a:gd name="T87" fmla="*/ 3 h 65"/>
                  <a:gd name="T88" fmla="*/ 11 w 28"/>
                  <a:gd name="T89" fmla="*/ 3 h 65"/>
                  <a:gd name="T90" fmla="*/ 13 w 28"/>
                  <a:gd name="T91" fmla="*/ 0 h 65"/>
                  <a:gd name="T92" fmla="*/ 13 w 28"/>
                  <a:gd name="T93" fmla="*/ 1 h 65"/>
                  <a:gd name="T94" fmla="*/ 14 w 28"/>
                  <a:gd name="T95" fmla="*/ 3 h 65"/>
                  <a:gd name="T96" fmla="*/ 15 w 28"/>
                  <a:gd name="T97" fmla="*/ 4 h 65"/>
                  <a:gd name="T98" fmla="*/ 15 w 28"/>
                  <a:gd name="T99" fmla="*/ 4 h 65"/>
                  <a:gd name="T100" fmla="*/ 20 w 28"/>
                  <a:gd name="T101" fmla="*/ 1 h 65"/>
                  <a:gd name="T102" fmla="*/ 21 w 28"/>
                  <a:gd name="T103" fmla="*/ 0 h 65"/>
                  <a:gd name="T104" fmla="*/ 23 w 28"/>
                  <a:gd name="T105" fmla="*/ 4 h 65"/>
                  <a:gd name="T106" fmla="*/ 26 w 28"/>
                  <a:gd name="T107" fmla="*/ 5 h 65"/>
                  <a:gd name="T108" fmla="*/ 23 w 28"/>
                  <a:gd name="T109" fmla="*/ 9 h 65"/>
                  <a:gd name="T110" fmla="*/ 23 w 28"/>
                  <a:gd name="T111"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 h="65">
                    <a:moveTo>
                      <a:pt x="23" y="7"/>
                    </a:moveTo>
                    <a:cubicBezTo>
                      <a:pt x="22" y="7"/>
                      <a:pt x="21" y="6"/>
                      <a:pt x="21" y="7"/>
                    </a:cubicBezTo>
                    <a:cubicBezTo>
                      <a:pt x="20" y="7"/>
                      <a:pt x="20" y="7"/>
                      <a:pt x="20" y="7"/>
                    </a:cubicBezTo>
                    <a:cubicBezTo>
                      <a:pt x="20" y="7"/>
                      <a:pt x="20" y="7"/>
                      <a:pt x="20" y="7"/>
                    </a:cubicBezTo>
                    <a:cubicBezTo>
                      <a:pt x="21" y="8"/>
                      <a:pt x="22" y="10"/>
                      <a:pt x="23" y="11"/>
                    </a:cubicBezTo>
                    <a:cubicBezTo>
                      <a:pt x="23" y="11"/>
                      <a:pt x="24" y="11"/>
                      <a:pt x="25" y="11"/>
                    </a:cubicBezTo>
                    <a:cubicBezTo>
                      <a:pt x="25" y="12"/>
                      <a:pt x="25" y="11"/>
                      <a:pt x="25" y="12"/>
                    </a:cubicBezTo>
                    <a:cubicBezTo>
                      <a:pt x="24" y="14"/>
                      <a:pt x="22" y="14"/>
                      <a:pt x="22" y="16"/>
                    </a:cubicBezTo>
                    <a:cubicBezTo>
                      <a:pt x="23" y="17"/>
                      <a:pt x="21" y="21"/>
                      <a:pt x="21" y="23"/>
                    </a:cubicBezTo>
                    <a:cubicBezTo>
                      <a:pt x="19" y="23"/>
                      <a:pt x="18" y="24"/>
                      <a:pt x="18" y="26"/>
                    </a:cubicBezTo>
                    <a:cubicBezTo>
                      <a:pt x="18" y="27"/>
                      <a:pt x="19" y="27"/>
                      <a:pt x="19" y="28"/>
                    </a:cubicBezTo>
                    <a:cubicBezTo>
                      <a:pt x="18" y="28"/>
                      <a:pt x="18" y="29"/>
                      <a:pt x="18" y="29"/>
                    </a:cubicBezTo>
                    <a:cubicBezTo>
                      <a:pt x="18" y="30"/>
                      <a:pt x="19" y="30"/>
                      <a:pt x="20" y="30"/>
                    </a:cubicBezTo>
                    <a:cubicBezTo>
                      <a:pt x="20" y="30"/>
                      <a:pt x="20" y="30"/>
                      <a:pt x="20" y="30"/>
                    </a:cubicBezTo>
                    <a:cubicBezTo>
                      <a:pt x="19" y="30"/>
                      <a:pt x="19" y="30"/>
                      <a:pt x="19" y="30"/>
                    </a:cubicBezTo>
                    <a:cubicBezTo>
                      <a:pt x="17" y="32"/>
                      <a:pt x="15" y="30"/>
                      <a:pt x="15" y="33"/>
                    </a:cubicBezTo>
                    <a:cubicBezTo>
                      <a:pt x="16" y="34"/>
                      <a:pt x="17" y="35"/>
                      <a:pt x="17" y="36"/>
                    </a:cubicBezTo>
                    <a:cubicBezTo>
                      <a:pt x="16" y="37"/>
                      <a:pt x="16" y="37"/>
                      <a:pt x="16" y="38"/>
                    </a:cubicBezTo>
                    <a:cubicBezTo>
                      <a:pt x="17" y="38"/>
                      <a:pt x="18" y="40"/>
                      <a:pt x="19" y="41"/>
                    </a:cubicBezTo>
                    <a:cubicBezTo>
                      <a:pt x="16" y="42"/>
                      <a:pt x="17" y="43"/>
                      <a:pt x="16" y="46"/>
                    </a:cubicBezTo>
                    <a:cubicBezTo>
                      <a:pt x="16" y="47"/>
                      <a:pt x="15" y="47"/>
                      <a:pt x="14" y="48"/>
                    </a:cubicBezTo>
                    <a:cubicBezTo>
                      <a:pt x="14" y="50"/>
                      <a:pt x="15" y="51"/>
                      <a:pt x="15" y="52"/>
                    </a:cubicBezTo>
                    <a:cubicBezTo>
                      <a:pt x="16" y="54"/>
                      <a:pt x="15" y="54"/>
                      <a:pt x="15" y="55"/>
                    </a:cubicBezTo>
                    <a:cubicBezTo>
                      <a:pt x="15" y="56"/>
                      <a:pt x="15" y="56"/>
                      <a:pt x="15" y="57"/>
                    </a:cubicBezTo>
                    <a:cubicBezTo>
                      <a:pt x="16" y="58"/>
                      <a:pt x="17" y="58"/>
                      <a:pt x="17" y="60"/>
                    </a:cubicBezTo>
                    <a:cubicBezTo>
                      <a:pt x="15" y="61"/>
                      <a:pt x="14" y="62"/>
                      <a:pt x="13" y="65"/>
                    </a:cubicBezTo>
                    <a:cubicBezTo>
                      <a:pt x="12" y="64"/>
                      <a:pt x="13" y="64"/>
                      <a:pt x="12" y="64"/>
                    </a:cubicBezTo>
                    <a:cubicBezTo>
                      <a:pt x="12" y="63"/>
                      <a:pt x="11" y="62"/>
                      <a:pt x="10" y="61"/>
                    </a:cubicBezTo>
                    <a:cubicBezTo>
                      <a:pt x="9" y="60"/>
                      <a:pt x="7" y="60"/>
                      <a:pt x="7" y="59"/>
                    </a:cubicBezTo>
                    <a:cubicBezTo>
                      <a:pt x="6" y="58"/>
                      <a:pt x="7" y="57"/>
                      <a:pt x="6" y="56"/>
                    </a:cubicBezTo>
                    <a:cubicBezTo>
                      <a:pt x="5" y="52"/>
                      <a:pt x="5" y="49"/>
                      <a:pt x="4" y="45"/>
                    </a:cubicBezTo>
                    <a:cubicBezTo>
                      <a:pt x="5" y="44"/>
                      <a:pt x="7" y="40"/>
                      <a:pt x="7" y="38"/>
                    </a:cubicBezTo>
                    <a:cubicBezTo>
                      <a:pt x="5" y="37"/>
                      <a:pt x="6" y="34"/>
                      <a:pt x="6" y="31"/>
                    </a:cubicBezTo>
                    <a:cubicBezTo>
                      <a:pt x="7" y="30"/>
                      <a:pt x="8" y="30"/>
                      <a:pt x="8" y="28"/>
                    </a:cubicBezTo>
                    <a:cubicBezTo>
                      <a:pt x="7" y="27"/>
                      <a:pt x="6" y="26"/>
                      <a:pt x="6" y="24"/>
                    </a:cubicBezTo>
                    <a:cubicBezTo>
                      <a:pt x="7" y="23"/>
                      <a:pt x="7" y="22"/>
                      <a:pt x="8" y="22"/>
                    </a:cubicBezTo>
                    <a:cubicBezTo>
                      <a:pt x="9" y="21"/>
                      <a:pt x="12" y="21"/>
                      <a:pt x="12" y="19"/>
                    </a:cubicBezTo>
                    <a:cubicBezTo>
                      <a:pt x="11" y="18"/>
                      <a:pt x="10" y="18"/>
                      <a:pt x="9" y="18"/>
                    </a:cubicBezTo>
                    <a:cubicBezTo>
                      <a:pt x="9" y="16"/>
                      <a:pt x="9" y="15"/>
                      <a:pt x="8" y="14"/>
                    </a:cubicBezTo>
                    <a:cubicBezTo>
                      <a:pt x="8" y="14"/>
                      <a:pt x="8" y="14"/>
                      <a:pt x="7" y="14"/>
                    </a:cubicBezTo>
                    <a:cubicBezTo>
                      <a:pt x="7" y="14"/>
                      <a:pt x="2" y="14"/>
                      <a:pt x="1" y="13"/>
                    </a:cubicBezTo>
                    <a:cubicBezTo>
                      <a:pt x="0" y="13"/>
                      <a:pt x="1" y="13"/>
                      <a:pt x="0" y="12"/>
                    </a:cubicBezTo>
                    <a:cubicBezTo>
                      <a:pt x="1" y="11"/>
                      <a:pt x="0" y="9"/>
                      <a:pt x="1" y="8"/>
                    </a:cubicBezTo>
                    <a:cubicBezTo>
                      <a:pt x="1" y="6"/>
                      <a:pt x="3" y="4"/>
                      <a:pt x="4" y="3"/>
                    </a:cubicBezTo>
                    <a:cubicBezTo>
                      <a:pt x="6" y="2"/>
                      <a:pt x="9" y="3"/>
                      <a:pt x="11" y="3"/>
                    </a:cubicBezTo>
                    <a:cubicBezTo>
                      <a:pt x="11" y="2"/>
                      <a:pt x="12" y="2"/>
                      <a:pt x="13" y="0"/>
                    </a:cubicBezTo>
                    <a:cubicBezTo>
                      <a:pt x="13" y="1"/>
                      <a:pt x="13" y="0"/>
                      <a:pt x="13" y="1"/>
                    </a:cubicBezTo>
                    <a:cubicBezTo>
                      <a:pt x="14" y="2"/>
                      <a:pt x="13" y="3"/>
                      <a:pt x="14" y="3"/>
                    </a:cubicBezTo>
                    <a:cubicBezTo>
                      <a:pt x="14" y="4"/>
                      <a:pt x="14" y="4"/>
                      <a:pt x="15" y="4"/>
                    </a:cubicBezTo>
                    <a:cubicBezTo>
                      <a:pt x="15" y="4"/>
                      <a:pt x="15" y="4"/>
                      <a:pt x="15" y="4"/>
                    </a:cubicBezTo>
                    <a:cubicBezTo>
                      <a:pt x="17" y="2"/>
                      <a:pt x="16" y="1"/>
                      <a:pt x="20" y="1"/>
                    </a:cubicBezTo>
                    <a:cubicBezTo>
                      <a:pt x="20" y="0"/>
                      <a:pt x="20" y="0"/>
                      <a:pt x="21" y="0"/>
                    </a:cubicBezTo>
                    <a:cubicBezTo>
                      <a:pt x="21" y="1"/>
                      <a:pt x="22" y="4"/>
                      <a:pt x="23" y="4"/>
                    </a:cubicBezTo>
                    <a:cubicBezTo>
                      <a:pt x="25" y="5"/>
                      <a:pt x="25" y="4"/>
                      <a:pt x="26" y="5"/>
                    </a:cubicBezTo>
                    <a:cubicBezTo>
                      <a:pt x="28" y="7"/>
                      <a:pt x="26" y="9"/>
                      <a:pt x="23" y="9"/>
                    </a:cubicBezTo>
                    <a:cubicBezTo>
                      <a:pt x="23" y="8"/>
                      <a:pt x="23" y="8"/>
                      <a:pt x="23" y="7"/>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7" name="Freeform 24">
                <a:extLst>
                  <a:ext uri="{FF2B5EF4-FFF2-40B4-BE49-F238E27FC236}">
                    <a16:creationId xmlns:a16="http://schemas.microsoft.com/office/drawing/2014/main" id="{FECA1ED1-B7BC-CE6A-EC41-14A918B3EAF1}"/>
                  </a:ext>
                </a:extLst>
              </p:cNvPr>
              <p:cNvSpPr>
                <a:spLocks/>
              </p:cNvSpPr>
              <p:nvPr/>
            </p:nvSpPr>
            <p:spPr bwMode="auto">
              <a:xfrm>
                <a:off x="-1320800" y="4371976"/>
                <a:ext cx="6350" cy="15875"/>
              </a:xfrm>
              <a:custGeom>
                <a:avLst/>
                <a:gdLst>
                  <a:gd name="T0" fmla="*/ 1 w 2"/>
                  <a:gd name="T1" fmla="*/ 0 h 4"/>
                  <a:gd name="T2" fmla="*/ 2 w 2"/>
                  <a:gd name="T3" fmla="*/ 2 h 4"/>
                  <a:gd name="T4" fmla="*/ 0 w 2"/>
                  <a:gd name="T5" fmla="*/ 4 h 4"/>
                  <a:gd name="T6" fmla="*/ 0 w 2"/>
                  <a:gd name="T7" fmla="*/ 3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0"/>
                      <a:pt x="2" y="0"/>
                      <a:pt x="2" y="2"/>
                    </a:cubicBezTo>
                    <a:cubicBezTo>
                      <a:pt x="1" y="3"/>
                      <a:pt x="2" y="4"/>
                      <a:pt x="0" y="4"/>
                    </a:cubicBezTo>
                    <a:cubicBezTo>
                      <a:pt x="0" y="4"/>
                      <a:pt x="0" y="4"/>
                      <a:pt x="0" y="3"/>
                    </a:cubicBezTo>
                    <a:cubicBezTo>
                      <a:pt x="0" y="2"/>
                      <a:pt x="1"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8" name="Freeform 25">
                <a:extLst>
                  <a:ext uri="{FF2B5EF4-FFF2-40B4-BE49-F238E27FC236}">
                    <a16:creationId xmlns:a16="http://schemas.microsoft.com/office/drawing/2014/main" id="{110072E0-E4D1-6D8F-530A-5CB246CFEA7C}"/>
                  </a:ext>
                </a:extLst>
              </p:cNvPr>
              <p:cNvSpPr>
                <a:spLocks/>
              </p:cNvSpPr>
              <p:nvPr/>
            </p:nvSpPr>
            <p:spPr bwMode="auto">
              <a:xfrm>
                <a:off x="-1668463" y="4376738"/>
                <a:ext cx="15875" cy="6350"/>
              </a:xfrm>
              <a:custGeom>
                <a:avLst/>
                <a:gdLst>
                  <a:gd name="T0" fmla="*/ 4 w 4"/>
                  <a:gd name="T1" fmla="*/ 0 h 2"/>
                  <a:gd name="T2" fmla="*/ 4 w 4"/>
                  <a:gd name="T3" fmla="*/ 2 h 2"/>
                  <a:gd name="T4" fmla="*/ 4 w 4"/>
                  <a:gd name="T5" fmla="*/ 2 h 2"/>
                  <a:gd name="T6" fmla="*/ 3 w 4"/>
                  <a:gd name="T7" fmla="*/ 1 h 2"/>
                  <a:gd name="T8" fmla="*/ 0 w 4"/>
                  <a:gd name="T9" fmla="*/ 2 h 2"/>
                  <a:gd name="T10" fmla="*/ 0 w 4"/>
                  <a:gd name="T11" fmla="*/ 1 h 2"/>
                  <a:gd name="T12" fmla="*/ 1 w 4"/>
                  <a:gd name="T13" fmla="*/ 0 h 2"/>
                  <a:gd name="T14" fmla="*/ 4 w 4"/>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2">
                    <a:moveTo>
                      <a:pt x="4" y="0"/>
                    </a:moveTo>
                    <a:cubicBezTo>
                      <a:pt x="4" y="1"/>
                      <a:pt x="4" y="1"/>
                      <a:pt x="4" y="2"/>
                    </a:cubicBezTo>
                    <a:cubicBezTo>
                      <a:pt x="4" y="2"/>
                      <a:pt x="4" y="2"/>
                      <a:pt x="4" y="2"/>
                    </a:cubicBezTo>
                    <a:cubicBezTo>
                      <a:pt x="3" y="2"/>
                      <a:pt x="3" y="1"/>
                      <a:pt x="3" y="1"/>
                    </a:cubicBezTo>
                    <a:cubicBezTo>
                      <a:pt x="1" y="1"/>
                      <a:pt x="1" y="2"/>
                      <a:pt x="0" y="2"/>
                    </a:cubicBezTo>
                    <a:cubicBezTo>
                      <a:pt x="0" y="1"/>
                      <a:pt x="0" y="1"/>
                      <a:pt x="0" y="1"/>
                    </a:cubicBezTo>
                    <a:cubicBezTo>
                      <a:pt x="0" y="0"/>
                      <a:pt x="1" y="0"/>
                      <a:pt x="1" y="0"/>
                    </a:cubicBezTo>
                    <a:cubicBezTo>
                      <a:pt x="2" y="0"/>
                      <a:pt x="2" y="0"/>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49" name="Freeform 26">
                <a:extLst>
                  <a:ext uri="{FF2B5EF4-FFF2-40B4-BE49-F238E27FC236}">
                    <a16:creationId xmlns:a16="http://schemas.microsoft.com/office/drawing/2014/main" id="{85D39A9E-FBEC-B944-2F72-3BF8CC50C44D}"/>
                  </a:ext>
                </a:extLst>
              </p:cNvPr>
              <p:cNvSpPr>
                <a:spLocks/>
              </p:cNvSpPr>
              <p:nvPr/>
            </p:nvSpPr>
            <p:spPr bwMode="auto">
              <a:xfrm>
                <a:off x="-1347788" y="4398963"/>
                <a:ext cx="30163" cy="63500"/>
              </a:xfrm>
              <a:custGeom>
                <a:avLst/>
                <a:gdLst>
                  <a:gd name="T0" fmla="*/ 6 w 8"/>
                  <a:gd name="T1" fmla="*/ 0 h 17"/>
                  <a:gd name="T2" fmla="*/ 8 w 8"/>
                  <a:gd name="T3" fmla="*/ 0 h 17"/>
                  <a:gd name="T4" fmla="*/ 8 w 8"/>
                  <a:gd name="T5" fmla="*/ 2 h 17"/>
                  <a:gd name="T6" fmla="*/ 7 w 8"/>
                  <a:gd name="T7" fmla="*/ 16 h 17"/>
                  <a:gd name="T8" fmla="*/ 4 w 8"/>
                  <a:gd name="T9" fmla="*/ 16 h 17"/>
                  <a:gd name="T10" fmla="*/ 3 w 8"/>
                  <a:gd name="T11" fmla="*/ 17 h 17"/>
                  <a:gd name="T12" fmla="*/ 2 w 8"/>
                  <a:gd name="T13" fmla="*/ 4 h 17"/>
                  <a:gd name="T14" fmla="*/ 4 w 8"/>
                  <a:gd name="T15" fmla="*/ 3 h 17"/>
                  <a:gd name="T16" fmla="*/ 4 w 8"/>
                  <a:gd name="T17" fmla="*/ 1 h 17"/>
                  <a:gd name="T18" fmla="*/ 6 w 8"/>
                  <a:gd name="T19"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7">
                    <a:moveTo>
                      <a:pt x="6" y="0"/>
                    </a:moveTo>
                    <a:cubicBezTo>
                      <a:pt x="7" y="0"/>
                      <a:pt x="7" y="0"/>
                      <a:pt x="8" y="0"/>
                    </a:cubicBezTo>
                    <a:cubicBezTo>
                      <a:pt x="8" y="0"/>
                      <a:pt x="8" y="1"/>
                      <a:pt x="8" y="2"/>
                    </a:cubicBezTo>
                    <a:cubicBezTo>
                      <a:pt x="6" y="5"/>
                      <a:pt x="7" y="12"/>
                      <a:pt x="7" y="16"/>
                    </a:cubicBezTo>
                    <a:cubicBezTo>
                      <a:pt x="6" y="16"/>
                      <a:pt x="6" y="16"/>
                      <a:pt x="4" y="16"/>
                    </a:cubicBezTo>
                    <a:cubicBezTo>
                      <a:pt x="4" y="17"/>
                      <a:pt x="3" y="17"/>
                      <a:pt x="3" y="17"/>
                    </a:cubicBezTo>
                    <a:cubicBezTo>
                      <a:pt x="1" y="15"/>
                      <a:pt x="0" y="7"/>
                      <a:pt x="2" y="4"/>
                    </a:cubicBezTo>
                    <a:cubicBezTo>
                      <a:pt x="3" y="4"/>
                      <a:pt x="3" y="3"/>
                      <a:pt x="4" y="3"/>
                    </a:cubicBezTo>
                    <a:cubicBezTo>
                      <a:pt x="4" y="2"/>
                      <a:pt x="4" y="2"/>
                      <a:pt x="4" y="1"/>
                    </a:cubicBezTo>
                    <a:cubicBezTo>
                      <a:pt x="4" y="0"/>
                      <a:pt x="6" y="0"/>
                      <a:pt x="6"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0" name="Freeform 27">
                <a:extLst>
                  <a:ext uri="{FF2B5EF4-FFF2-40B4-BE49-F238E27FC236}">
                    <a16:creationId xmlns:a16="http://schemas.microsoft.com/office/drawing/2014/main" id="{9964A030-1DC8-929F-67B2-B7B99D379F71}"/>
                  </a:ext>
                </a:extLst>
              </p:cNvPr>
              <p:cNvSpPr>
                <a:spLocks/>
              </p:cNvSpPr>
              <p:nvPr/>
            </p:nvSpPr>
            <p:spPr bwMode="auto">
              <a:xfrm>
                <a:off x="-1657350" y="4556126"/>
                <a:ext cx="46038" cy="68263"/>
              </a:xfrm>
              <a:custGeom>
                <a:avLst/>
                <a:gdLst>
                  <a:gd name="T0" fmla="*/ 3 w 12"/>
                  <a:gd name="T1" fmla="*/ 16 h 18"/>
                  <a:gd name="T2" fmla="*/ 5 w 12"/>
                  <a:gd name="T3" fmla="*/ 16 h 18"/>
                  <a:gd name="T4" fmla="*/ 5 w 12"/>
                  <a:gd name="T5" fmla="*/ 17 h 18"/>
                  <a:gd name="T6" fmla="*/ 2 w 12"/>
                  <a:gd name="T7" fmla="*/ 18 h 18"/>
                  <a:gd name="T8" fmla="*/ 0 w 12"/>
                  <a:gd name="T9" fmla="*/ 12 h 18"/>
                  <a:gd name="T10" fmla="*/ 1 w 12"/>
                  <a:gd name="T11" fmla="*/ 9 h 18"/>
                  <a:gd name="T12" fmla="*/ 7 w 12"/>
                  <a:gd name="T13" fmla="*/ 0 h 18"/>
                  <a:gd name="T14" fmla="*/ 11 w 12"/>
                  <a:gd name="T15" fmla="*/ 0 h 18"/>
                  <a:gd name="T16" fmla="*/ 12 w 12"/>
                  <a:gd name="T17" fmla="*/ 1 h 18"/>
                  <a:gd name="T18" fmla="*/ 11 w 12"/>
                  <a:gd name="T19" fmla="*/ 6 h 18"/>
                  <a:gd name="T20" fmla="*/ 12 w 12"/>
                  <a:gd name="T21" fmla="*/ 6 h 18"/>
                  <a:gd name="T22" fmla="*/ 11 w 12"/>
                  <a:gd name="T23" fmla="*/ 8 h 18"/>
                  <a:gd name="T24" fmla="*/ 9 w 12"/>
                  <a:gd name="T25" fmla="*/ 9 h 18"/>
                  <a:gd name="T26" fmla="*/ 8 w 12"/>
                  <a:gd name="T27" fmla="*/ 11 h 18"/>
                  <a:gd name="T28" fmla="*/ 5 w 12"/>
                  <a:gd name="T29" fmla="*/ 12 h 18"/>
                  <a:gd name="T30" fmla="*/ 3 w 12"/>
                  <a:gd name="T31"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 h="18">
                    <a:moveTo>
                      <a:pt x="3" y="16"/>
                    </a:moveTo>
                    <a:cubicBezTo>
                      <a:pt x="4" y="16"/>
                      <a:pt x="4" y="16"/>
                      <a:pt x="5" y="16"/>
                    </a:cubicBezTo>
                    <a:cubicBezTo>
                      <a:pt x="5" y="17"/>
                      <a:pt x="5" y="17"/>
                      <a:pt x="5" y="17"/>
                    </a:cubicBezTo>
                    <a:cubicBezTo>
                      <a:pt x="4" y="18"/>
                      <a:pt x="4" y="18"/>
                      <a:pt x="2" y="18"/>
                    </a:cubicBezTo>
                    <a:cubicBezTo>
                      <a:pt x="1" y="16"/>
                      <a:pt x="0" y="15"/>
                      <a:pt x="0" y="12"/>
                    </a:cubicBezTo>
                    <a:cubicBezTo>
                      <a:pt x="0" y="11"/>
                      <a:pt x="0" y="10"/>
                      <a:pt x="1" y="9"/>
                    </a:cubicBezTo>
                    <a:cubicBezTo>
                      <a:pt x="3" y="7"/>
                      <a:pt x="4" y="1"/>
                      <a:pt x="7" y="0"/>
                    </a:cubicBezTo>
                    <a:cubicBezTo>
                      <a:pt x="8" y="1"/>
                      <a:pt x="9" y="0"/>
                      <a:pt x="11" y="0"/>
                    </a:cubicBezTo>
                    <a:cubicBezTo>
                      <a:pt x="11" y="1"/>
                      <a:pt x="11" y="0"/>
                      <a:pt x="12" y="1"/>
                    </a:cubicBezTo>
                    <a:cubicBezTo>
                      <a:pt x="11" y="2"/>
                      <a:pt x="11" y="5"/>
                      <a:pt x="11" y="6"/>
                    </a:cubicBezTo>
                    <a:cubicBezTo>
                      <a:pt x="11" y="6"/>
                      <a:pt x="12" y="6"/>
                      <a:pt x="12" y="6"/>
                    </a:cubicBezTo>
                    <a:cubicBezTo>
                      <a:pt x="12" y="7"/>
                      <a:pt x="12" y="8"/>
                      <a:pt x="11" y="8"/>
                    </a:cubicBezTo>
                    <a:cubicBezTo>
                      <a:pt x="11" y="8"/>
                      <a:pt x="10" y="9"/>
                      <a:pt x="9" y="9"/>
                    </a:cubicBezTo>
                    <a:cubicBezTo>
                      <a:pt x="9" y="10"/>
                      <a:pt x="9" y="11"/>
                      <a:pt x="8" y="11"/>
                    </a:cubicBezTo>
                    <a:cubicBezTo>
                      <a:pt x="8" y="12"/>
                      <a:pt x="6" y="12"/>
                      <a:pt x="5" y="12"/>
                    </a:cubicBezTo>
                    <a:cubicBezTo>
                      <a:pt x="4" y="14"/>
                      <a:pt x="4" y="14"/>
                      <a:pt x="3" y="16"/>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1" name="Freeform 28">
                <a:extLst>
                  <a:ext uri="{FF2B5EF4-FFF2-40B4-BE49-F238E27FC236}">
                    <a16:creationId xmlns:a16="http://schemas.microsoft.com/office/drawing/2014/main" id="{2A3290C2-7C1D-3EAE-1B54-AFC9F9A1A5F7}"/>
                  </a:ext>
                </a:extLst>
              </p:cNvPr>
              <p:cNvSpPr>
                <a:spLocks/>
              </p:cNvSpPr>
              <p:nvPr/>
            </p:nvSpPr>
            <p:spPr bwMode="auto">
              <a:xfrm>
                <a:off x="-1449388" y="4556126"/>
                <a:ext cx="19050" cy="11113"/>
              </a:xfrm>
              <a:custGeom>
                <a:avLst/>
                <a:gdLst>
                  <a:gd name="T0" fmla="*/ 2 w 5"/>
                  <a:gd name="T1" fmla="*/ 1 h 3"/>
                  <a:gd name="T2" fmla="*/ 5 w 5"/>
                  <a:gd name="T3" fmla="*/ 1 h 3"/>
                  <a:gd name="T4" fmla="*/ 5 w 5"/>
                  <a:gd name="T5" fmla="*/ 1 h 3"/>
                  <a:gd name="T6" fmla="*/ 0 w 5"/>
                  <a:gd name="T7" fmla="*/ 3 h 3"/>
                  <a:gd name="T8" fmla="*/ 0 w 5"/>
                  <a:gd name="T9" fmla="*/ 2 h 3"/>
                  <a:gd name="T10" fmla="*/ 2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2" y="1"/>
                    </a:moveTo>
                    <a:cubicBezTo>
                      <a:pt x="3" y="0"/>
                      <a:pt x="4" y="1"/>
                      <a:pt x="5" y="1"/>
                    </a:cubicBezTo>
                    <a:cubicBezTo>
                      <a:pt x="5" y="1"/>
                      <a:pt x="5" y="1"/>
                      <a:pt x="5" y="1"/>
                    </a:cubicBezTo>
                    <a:cubicBezTo>
                      <a:pt x="4" y="3"/>
                      <a:pt x="2" y="3"/>
                      <a:pt x="0" y="3"/>
                    </a:cubicBezTo>
                    <a:cubicBezTo>
                      <a:pt x="0" y="3"/>
                      <a:pt x="0" y="3"/>
                      <a:pt x="0" y="2"/>
                    </a:cubicBezTo>
                    <a:cubicBezTo>
                      <a:pt x="1" y="1"/>
                      <a:pt x="1" y="1"/>
                      <a:pt x="2" y="1"/>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2" name="Freeform 29">
                <a:extLst>
                  <a:ext uri="{FF2B5EF4-FFF2-40B4-BE49-F238E27FC236}">
                    <a16:creationId xmlns:a16="http://schemas.microsoft.com/office/drawing/2014/main" id="{AC4A3192-34C2-454A-AD3F-3533BA3D1481}"/>
                  </a:ext>
                </a:extLst>
              </p:cNvPr>
              <p:cNvSpPr>
                <a:spLocks/>
              </p:cNvSpPr>
              <p:nvPr/>
            </p:nvSpPr>
            <p:spPr bwMode="auto">
              <a:xfrm>
                <a:off x="-1419225" y="4564063"/>
                <a:ext cx="44450" cy="49213"/>
              </a:xfrm>
              <a:custGeom>
                <a:avLst/>
                <a:gdLst>
                  <a:gd name="T0" fmla="*/ 5 w 12"/>
                  <a:gd name="T1" fmla="*/ 0 h 13"/>
                  <a:gd name="T2" fmla="*/ 7 w 12"/>
                  <a:gd name="T3" fmla="*/ 0 h 13"/>
                  <a:gd name="T4" fmla="*/ 11 w 12"/>
                  <a:gd name="T5" fmla="*/ 3 h 13"/>
                  <a:gd name="T6" fmla="*/ 11 w 12"/>
                  <a:gd name="T7" fmla="*/ 10 h 13"/>
                  <a:gd name="T8" fmla="*/ 5 w 12"/>
                  <a:gd name="T9" fmla="*/ 13 h 13"/>
                  <a:gd name="T10" fmla="*/ 0 w 12"/>
                  <a:gd name="T11" fmla="*/ 5 h 13"/>
                  <a:gd name="T12" fmla="*/ 0 w 12"/>
                  <a:gd name="T13" fmla="*/ 3 h 13"/>
                  <a:gd name="T14" fmla="*/ 2 w 12"/>
                  <a:gd name="T15" fmla="*/ 1 h 13"/>
                  <a:gd name="T16" fmla="*/ 5 w 12"/>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3">
                    <a:moveTo>
                      <a:pt x="5" y="0"/>
                    </a:moveTo>
                    <a:cubicBezTo>
                      <a:pt x="5" y="0"/>
                      <a:pt x="6" y="0"/>
                      <a:pt x="7" y="0"/>
                    </a:cubicBezTo>
                    <a:cubicBezTo>
                      <a:pt x="8" y="1"/>
                      <a:pt x="10" y="2"/>
                      <a:pt x="11" y="3"/>
                    </a:cubicBezTo>
                    <a:cubicBezTo>
                      <a:pt x="11" y="4"/>
                      <a:pt x="12" y="8"/>
                      <a:pt x="11" y="10"/>
                    </a:cubicBezTo>
                    <a:cubicBezTo>
                      <a:pt x="10" y="12"/>
                      <a:pt x="8" y="13"/>
                      <a:pt x="5" y="13"/>
                    </a:cubicBezTo>
                    <a:cubicBezTo>
                      <a:pt x="4" y="10"/>
                      <a:pt x="0" y="7"/>
                      <a:pt x="0" y="5"/>
                    </a:cubicBezTo>
                    <a:cubicBezTo>
                      <a:pt x="0" y="5"/>
                      <a:pt x="0" y="4"/>
                      <a:pt x="0" y="3"/>
                    </a:cubicBezTo>
                    <a:cubicBezTo>
                      <a:pt x="1" y="3"/>
                      <a:pt x="1" y="1"/>
                      <a:pt x="2" y="1"/>
                    </a:cubicBezTo>
                    <a:cubicBezTo>
                      <a:pt x="3" y="0"/>
                      <a:pt x="4" y="0"/>
                      <a:pt x="5"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3" name="Freeform 30">
                <a:extLst>
                  <a:ext uri="{FF2B5EF4-FFF2-40B4-BE49-F238E27FC236}">
                    <a16:creationId xmlns:a16="http://schemas.microsoft.com/office/drawing/2014/main" id="{676CA2B9-6FBB-0E5C-2772-326278846371}"/>
                  </a:ext>
                </a:extLst>
              </p:cNvPr>
              <p:cNvSpPr>
                <a:spLocks/>
              </p:cNvSpPr>
              <p:nvPr/>
            </p:nvSpPr>
            <p:spPr bwMode="auto">
              <a:xfrm>
                <a:off x="-1430338" y="4567238"/>
                <a:ext cx="6350" cy="4763"/>
              </a:xfrm>
              <a:custGeom>
                <a:avLst/>
                <a:gdLst>
                  <a:gd name="T0" fmla="*/ 0 w 2"/>
                  <a:gd name="T1" fmla="*/ 0 h 1"/>
                  <a:gd name="T2" fmla="*/ 1 w 2"/>
                  <a:gd name="T3" fmla="*/ 0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0"/>
                      <a:pt x="1" y="0"/>
                      <a:pt x="1" y="0"/>
                    </a:cubicBezTo>
                    <a:cubicBezTo>
                      <a:pt x="2" y="0"/>
                      <a:pt x="2" y="0"/>
                      <a:pt x="2" y="1"/>
                    </a:cubicBezTo>
                    <a:cubicBezTo>
                      <a:pt x="2" y="1"/>
                      <a:pt x="1" y="1"/>
                      <a:pt x="1" y="1"/>
                    </a:cubicBezTo>
                    <a:cubicBezTo>
                      <a:pt x="1" y="1"/>
                      <a:pt x="0" y="1"/>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4" name="Freeform 31">
                <a:extLst>
                  <a:ext uri="{FF2B5EF4-FFF2-40B4-BE49-F238E27FC236}">
                    <a16:creationId xmlns:a16="http://schemas.microsoft.com/office/drawing/2014/main" id="{B375B16C-4374-33B4-9453-B28984FE7092}"/>
                  </a:ext>
                </a:extLst>
              </p:cNvPr>
              <p:cNvSpPr>
                <a:spLocks/>
              </p:cNvSpPr>
              <p:nvPr/>
            </p:nvSpPr>
            <p:spPr bwMode="auto">
              <a:xfrm>
                <a:off x="-1611313" y="4572001"/>
                <a:ext cx="6350" cy="11113"/>
              </a:xfrm>
              <a:custGeom>
                <a:avLst/>
                <a:gdLst>
                  <a:gd name="T0" fmla="*/ 1 w 2"/>
                  <a:gd name="T1" fmla="*/ 0 h 3"/>
                  <a:gd name="T2" fmla="*/ 2 w 2"/>
                  <a:gd name="T3" fmla="*/ 0 h 3"/>
                  <a:gd name="T4" fmla="*/ 2 w 2"/>
                  <a:gd name="T5" fmla="*/ 2 h 3"/>
                  <a:gd name="T6" fmla="*/ 1 w 2"/>
                  <a:gd name="T7" fmla="*/ 3 h 3"/>
                  <a:gd name="T8" fmla="*/ 1 w 2"/>
                  <a:gd name="T9" fmla="*/ 2 h 3"/>
                  <a:gd name="T10" fmla="*/ 0 w 2"/>
                  <a:gd name="T11" fmla="*/ 2 h 3"/>
                  <a:gd name="T12" fmla="*/ 1 w 2"/>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2" h="3">
                    <a:moveTo>
                      <a:pt x="1" y="0"/>
                    </a:moveTo>
                    <a:cubicBezTo>
                      <a:pt x="1" y="0"/>
                      <a:pt x="1" y="0"/>
                      <a:pt x="2" y="0"/>
                    </a:cubicBezTo>
                    <a:cubicBezTo>
                      <a:pt x="2" y="1"/>
                      <a:pt x="2" y="2"/>
                      <a:pt x="2" y="2"/>
                    </a:cubicBezTo>
                    <a:cubicBezTo>
                      <a:pt x="1" y="3"/>
                      <a:pt x="2" y="3"/>
                      <a:pt x="1" y="3"/>
                    </a:cubicBezTo>
                    <a:cubicBezTo>
                      <a:pt x="1" y="3"/>
                      <a:pt x="1" y="3"/>
                      <a:pt x="1" y="2"/>
                    </a:cubicBezTo>
                    <a:cubicBezTo>
                      <a:pt x="0" y="2"/>
                      <a:pt x="0" y="2"/>
                      <a:pt x="0" y="2"/>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5" name="Freeform 32">
                <a:extLst>
                  <a:ext uri="{FF2B5EF4-FFF2-40B4-BE49-F238E27FC236}">
                    <a16:creationId xmlns:a16="http://schemas.microsoft.com/office/drawing/2014/main" id="{D786BC01-3F23-A95D-A4D4-4F488BE501A3}"/>
                  </a:ext>
                </a:extLst>
              </p:cNvPr>
              <p:cNvSpPr>
                <a:spLocks/>
              </p:cNvSpPr>
              <p:nvPr/>
            </p:nvSpPr>
            <p:spPr bwMode="auto">
              <a:xfrm>
                <a:off x="-1374775" y="4605338"/>
                <a:ext cx="26988" cy="33338"/>
              </a:xfrm>
              <a:custGeom>
                <a:avLst/>
                <a:gdLst>
                  <a:gd name="T0" fmla="*/ 4 w 7"/>
                  <a:gd name="T1" fmla="*/ 0 h 9"/>
                  <a:gd name="T2" fmla="*/ 6 w 7"/>
                  <a:gd name="T3" fmla="*/ 1 h 9"/>
                  <a:gd name="T4" fmla="*/ 7 w 7"/>
                  <a:gd name="T5" fmla="*/ 6 h 9"/>
                  <a:gd name="T6" fmla="*/ 2 w 7"/>
                  <a:gd name="T7" fmla="*/ 9 h 9"/>
                  <a:gd name="T8" fmla="*/ 0 w 7"/>
                  <a:gd name="T9" fmla="*/ 4 h 9"/>
                  <a:gd name="T10" fmla="*/ 4 w 7"/>
                  <a:gd name="T11" fmla="*/ 0 h 9"/>
                </a:gdLst>
                <a:ahLst/>
                <a:cxnLst>
                  <a:cxn ang="0">
                    <a:pos x="T0" y="T1"/>
                  </a:cxn>
                  <a:cxn ang="0">
                    <a:pos x="T2" y="T3"/>
                  </a:cxn>
                  <a:cxn ang="0">
                    <a:pos x="T4" y="T5"/>
                  </a:cxn>
                  <a:cxn ang="0">
                    <a:pos x="T6" y="T7"/>
                  </a:cxn>
                  <a:cxn ang="0">
                    <a:pos x="T8" y="T9"/>
                  </a:cxn>
                  <a:cxn ang="0">
                    <a:pos x="T10" y="T11"/>
                  </a:cxn>
                </a:cxnLst>
                <a:rect l="0" t="0" r="r" b="b"/>
                <a:pathLst>
                  <a:path w="7" h="9">
                    <a:moveTo>
                      <a:pt x="4" y="0"/>
                    </a:moveTo>
                    <a:cubicBezTo>
                      <a:pt x="5" y="1"/>
                      <a:pt x="5" y="1"/>
                      <a:pt x="6" y="1"/>
                    </a:cubicBezTo>
                    <a:cubicBezTo>
                      <a:pt x="7" y="3"/>
                      <a:pt x="7" y="4"/>
                      <a:pt x="7" y="6"/>
                    </a:cubicBezTo>
                    <a:cubicBezTo>
                      <a:pt x="5" y="7"/>
                      <a:pt x="5" y="9"/>
                      <a:pt x="2" y="9"/>
                    </a:cubicBezTo>
                    <a:cubicBezTo>
                      <a:pt x="1" y="7"/>
                      <a:pt x="0" y="7"/>
                      <a:pt x="0" y="4"/>
                    </a:cubicBezTo>
                    <a:cubicBezTo>
                      <a:pt x="2" y="3"/>
                      <a:pt x="3" y="2"/>
                      <a:pt x="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6" name="Freeform 33">
                <a:extLst>
                  <a:ext uri="{FF2B5EF4-FFF2-40B4-BE49-F238E27FC236}">
                    <a16:creationId xmlns:a16="http://schemas.microsoft.com/office/drawing/2014/main" id="{76C330AB-FC58-4855-293A-A69F5E389DF6}"/>
                  </a:ext>
                </a:extLst>
              </p:cNvPr>
              <p:cNvSpPr>
                <a:spLocks/>
              </p:cNvSpPr>
              <p:nvPr/>
            </p:nvSpPr>
            <p:spPr bwMode="auto">
              <a:xfrm>
                <a:off x="-1663700" y="4632326"/>
                <a:ext cx="6350" cy="3175"/>
              </a:xfrm>
              <a:custGeom>
                <a:avLst/>
                <a:gdLst>
                  <a:gd name="T0" fmla="*/ 0 w 2"/>
                  <a:gd name="T1" fmla="*/ 0 h 1"/>
                  <a:gd name="T2" fmla="*/ 2 w 2"/>
                  <a:gd name="T3" fmla="*/ 0 h 1"/>
                  <a:gd name="T4" fmla="*/ 2 w 2"/>
                  <a:gd name="T5" fmla="*/ 1 h 1"/>
                  <a:gd name="T6" fmla="*/ 0 w 2"/>
                  <a:gd name="T7" fmla="*/ 1 h 1"/>
                  <a:gd name="T8" fmla="*/ 0 w 2"/>
                  <a:gd name="T9" fmla="*/ 1 h 1"/>
                  <a:gd name="T10" fmla="*/ 0 w 2"/>
                  <a:gd name="T11" fmla="*/ 0 h 1"/>
                </a:gdLst>
                <a:ahLst/>
                <a:cxnLst>
                  <a:cxn ang="0">
                    <a:pos x="T0" y="T1"/>
                  </a:cxn>
                  <a:cxn ang="0">
                    <a:pos x="T2" y="T3"/>
                  </a:cxn>
                  <a:cxn ang="0">
                    <a:pos x="T4" y="T5"/>
                  </a:cxn>
                  <a:cxn ang="0">
                    <a:pos x="T6" y="T7"/>
                  </a:cxn>
                  <a:cxn ang="0">
                    <a:pos x="T8" y="T9"/>
                  </a:cxn>
                  <a:cxn ang="0">
                    <a:pos x="T10" y="T11"/>
                  </a:cxn>
                </a:cxnLst>
                <a:rect l="0" t="0" r="r" b="b"/>
                <a:pathLst>
                  <a:path w="2" h="1">
                    <a:moveTo>
                      <a:pt x="0" y="0"/>
                    </a:moveTo>
                    <a:cubicBezTo>
                      <a:pt x="1" y="0"/>
                      <a:pt x="1" y="0"/>
                      <a:pt x="2" y="0"/>
                    </a:cubicBezTo>
                    <a:cubicBezTo>
                      <a:pt x="2" y="0"/>
                      <a:pt x="2" y="0"/>
                      <a:pt x="2" y="1"/>
                    </a:cubicBezTo>
                    <a:cubicBezTo>
                      <a:pt x="1" y="1"/>
                      <a:pt x="1" y="1"/>
                      <a:pt x="0" y="1"/>
                    </a:cubicBezTo>
                    <a:cubicBezTo>
                      <a:pt x="0" y="1"/>
                      <a:pt x="0" y="1"/>
                      <a:pt x="0" y="1"/>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7" name="Freeform 34">
                <a:extLst>
                  <a:ext uri="{FF2B5EF4-FFF2-40B4-BE49-F238E27FC236}">
                    <a16:creationId xmlns:a16="http://schemas.microsoft.com/office/drawing/2014/main" id="{1B534030-E2DE-3037-CF73-5046053E837A}"/>
                  </a:ext>
                </a:extLst>
              </p:cNvPr>
              <p:cNvSpPr>
                <a:spLocks/>
              </p:cNvSpPr>
              <p:nvPr/>
            </p:nvSpPr>
            <p:spPr bwMode="auto">
              <a:xfrm>
                <a:off x="-1679575" y="4638676"/>
                <a:ext cx="11113" cy="23813"/>
              </a:xfrm>
              <a:custGeom>
                <a:avLst/>
                <a:gdLst>
                  <a:gd name="T0" fmla="*/ 1 w 3"/>
                  <a:gd name="T1" fmla="*/ 0 h 6"/>
                  <a:gd name="T2" fmla="*/ 2 w 3"/>
                  <a:gd name="T3" fmla="*/ 0 h 6"/>
                  <a:gd name="T4" fmla="*/ 3 w 3"/>
                  <a:gd name="T5" fmla="*/ 2 h 6"/>
                  <a:gd name="T6" fmla="*/ 3 w 3"/>
                  <a:gd name="T7" fmla="*/ 5 h 6"/>
                  <a:gd name="T8" fmla="*/ 1 w 3"/>
                  <a:gd name="T9" fmla="*/ 6 h 6"/>
                  <a:gd name="T10" fmla="*/ 1 w 3"/>
                  <a:gd name="T11" fmla="*/ 5 h 6"/>
                  <a:gd name="T12" fmla="*/ 1 w 3"/>
                  <a:gd name="T13" fmla="*/ 5 h 6"/>
                  <a:gd name="T14" fmla="*/ 1 w 3"/>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6">
                    <a:moveTo>
                      <a:pt x="1" y="0"/>
                    </a:moveTo>
                    <a:cubicBezTo>
                      <a:pt x="2" y="0"/>
                      <a:pt x="2" y="0"/>
                      <a:pt x="2" y="0"/>
                    </a:cubicBezTo>
                    <a:cubicBezTo>
                      <a:pt x="3" y="1"/>
                      <a:pt x="3" y="1"/>
                      <a:pt x="3" y="2"/>
                    </a:cubicBezTo>
                    <a:cubicBezTo>
                      <a:pt x="3" y="3"/>
                      <a:pt x="3" y="4"/>
                      <a:pt x="3" y="5"/>
                    </a:cubicBezTo>
                    <a:cubicBezTo>
                      <a:pt x="3" y="5"/>
                      <a:pt x="2" y="6"/>
                      <a:pt x="1" y="6"/>
                    </a:cubicBezTo>
                    <a:cubicBezTo>
                      <a:pt x="1" y="5"/>
                      <a:pt x="1" y="5"/>
                      <a:pt x="1" y="5"/>
                    </a:cubicBezTo>
                    <a:cubicBezTo>
                      <a:pt x="1" y="5"/>
                      <a:pt x="1" y="5"/>
                      <a:pt x="1" y="5"/>
                    </a:cubicBezTo>
                    <a:cubicBezTo>
                      <a:pt x="1" y="3"/>
                      <a:pt x="0" y="2"/>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8" name="Freeform 35">
                <a:extLst>
                  <a:ext uri="{FF2B5EF4-FFF2-40B4-BE49-F238E27FC236}">
                    <a16:creationId xmlns:a16="http://schemas.microsoft.com/office/drawing/2014/main" id="{32418650-DB6E-02D9-F473-145435FA7EB6}"/>
                  </a:ext>
                </a:extLst>
              </p:cNvPr>
              <p:cNvSpPr>
                <a:spLocks/>
              </p:cNvSpPr>
              <p:nvPr/>
            </p:nvSpPr>
            <p:spPr bwMode="auto">
              <a:xfrm>
                <a:off x="-1358900" y="4638676"/>
                <a:ext cx="7938" cy="7938"/>
              </a:xfrm>
              <a:custGeom>
                <a:avLst/>
                <a:gdLst>
                  <a:gd name="T0" fmla="*/ 2 w 2"/>
                  <a:gd name="T1" fmla="*/ 0 h 2"/>
                  <a:gd name="T2" fmla="*/ 2 w 2"/>
                  <a:gd name="T3" fmla="*/ 1 h 2"/>
                  <a:gd name="T4" fmla="*/ 1 w 2"/>
                  <a:gd name="T5" fmla="*/ 2 h 2"/>
                  <a:gd name="T6" fmla="*/ 1 w 2"/>
                  <a:gd name="T7" fmla="*/ 2 h 2"/>
                  <a:gd name="T8" fmla="*/ 0 w 2"/>
                  <a:gd name="T9" fmla="*/ 1 h 2"/>
                  <a:gd name="T10" fmla="*/ 2 w 2"/>
                  <a:gd name="T11" fmla="*/ 0 h 2"/>
                </a:gdLst>
                <a:ahLst/>
                <a:cxnLst>
                  <a:cxn ang="0">
                    <a:pos x="T0" y="T1"/>
                  </a:cxn>
                  <a:cxn ang="0">
                    <a:pos x="T2" y="T3"/>
                  </a:cxn>
                  <a:cxn ang="0">
                    <a:pos x="T4" y="T5"/>
                  </a:cxn>
                  <a:cxn ang="0">
                    <a:pos x="T6" y="T7"/>
                  </a:cxn>
                  <a:cxn ang="0">
                    <a:pos x="T8" y="T9"/>
                  </a:cxn>
                  <a:cxn ang="0">
                    <a:pos x="T10" y="T11"/>
                  </a:cxn>
                </a:cxnLst>
                <a:rect l="0" t="0" r="r" b="b"/>
                <a:pathLst>
                  <a:path w="2" h="2">
                    <a:moveTo>
                      <a:pt x="2" y="0"/>
                    </a:moveTo>
                    <a:cubicBezTo>
                      <a:pt x="2" y="1"/>
                      <a:pt x="2" y="1"/>
                      <a:pt x="2" y="1"/>
                    </a:cubicBezTo>
                    <a:cubicBezTo>
                      <a:pt x="1" y="2"/>
                      <a:pt x="1" y="2"/>
                      <a:pt x="1" y="2"/>
                    </a:cubicBezTo>
                    <a:cubicBezTo>
                      <a:pt x="1" y="2"/>
                      <a:pt x="1" y="2"/>
                      <a:pt x="1" y="2"/>
                    </a:cubicBezTo>
                    <a:cubicBezTo>
                      <a:pt x="0" y="1"/>
                      <a:pt x="0" y="1"/>
                      <a:pt x="0" y="1"/>
                    </a:cubicBezTo>
                    <a:cubicBezTo>
                      <a:pt x="0" y="0"/>
                      <a:pt x="1" y="0"/>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59" name="Freeform 36">
                <a:extLst>
                  <a:ext uri="{FF2B5EF4-FFF2-40B4-BE49-F238E27FC236}">
                    <a16:creationId xmlns:a16="http://schemas.microsoft.com/office/drawing/2014/main" id="{AF540CAB-CF7C-ADB9-0058-DFF900CE0682}"/>
                  </a:ext>
                </a:extLst>
              </p:cNvPr>
              <p:cNvSpPr>
                <a:spLocks/>
              </p:cNvSpPr>
              <p:nvPr/>
            </p:nvSpPr>
            <p:spPr bwMode="auto">
              <a:xfrm>
                <a:off x="-1385888" y="4646613"/>
                <a:ext cx="7938" cy="7938"/>
              </a:xfrm>
              <a:custGeom>
                <a:avLst/>
                <a:gdLst>
                  <a:gd name="T0" fmla="*/ 1 w 2"/>
                  <a:gd name="T1" fmla="*/ 0 h 2"/>
                  <a:gd name="T2" fmla="*/ 2 w 2"/>
                  <a:gd name="T3" fmla="*/ 1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2" y="0"/>
                      <a:pt x="2" y="0"/>
                      <a:pt x="2" y="1"/>
                    </a:cubicBezTo>
                    <a:cubicBezTo>
                      <a:pt x="2" y="1"/>
                      <a:pt x="2" y="2"/>
                      <a:pt x="1" y="2"/>
                    </a:cubicBezTo>
                    <a:cubicBezTo>
                      <a:pt x="0" y="1"/>
                      <a:pt x="0" y="1"/>
                      <a:pt x="0" y="0"/>
                    </a:cubicBezTo>
                    <a:cubicBezTo>
                      <a:pt x="1" y="0"/>
                      <a:pt x="1"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0" name="Freeform 37">
                <a:extLst>
                  <a:ext uri="{FF2B5EF4-FFF2-40B4-BE49-F238E27FC236}">
                    <a16:creationId xmlns:a16="http://schemas.microsoft.com/office/drawing/2014/main" id="{B774AE13-F1BA-BDF4-3404-FB10D92C7356}"/>
                  </a:ext>
                </a:extLst>
              </p:cNvPr>
              <p:cNvSpPr>
                <a:spLocks/>
              </p:cNvSpPr>
              <p:nvPr/>
            </p:nvSpPr>
            <p:spPr bwMode="auto">
              <a:xfrm>
                <a:off x="-1479550" y="4699001"/>
                <a:ext cx="55563" cy="57150"/>
              </a:xfrm>
              <a:custGeom>
                <a:avLst/>
                <a:gdLst>
                  <a:gd name="T0" fmla="*/ 14 w 15"/>
                  <a:gd name="T1" fmla="*/ 0 h 15"/>
                  <a:gd name="T2" fmla="*/ 15 w 15"/>
                  <a:gd name="T3" fmla="*/ 3 h 15"/>
                  <a:gd name="T4" fmla="*/ 13 w 15"/>
                  <a:gd name="T5" fmla="*/ 6 h 15"/>
                  <a:gd name="T6" fmla="*/ 1 w 15"/>
                  <a:gd name="T7" fmla="*/ 15 h 15"/>
                  <a:gd name="T8" fmla="*/ 0 w 15"/>
                  <a:gd name="T9" fmla="*/ 12 h 15"/>
                  <a:gd name="T10" fmla="*/ 7 w 15"/>
                  <a:gd name="T11" fmla="*/ 3 h 15"/>
                  <a:gd name="T12" fmla="*/ 14 w 15"/>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 h="15">
                    <a:moveTo>
                      <a:pt x="14" y="0"/>
                    </a:moveTo>
                    <a:cubicBezTo>
                      <a:pt x="15" y="0"/>
                      <a:pt x="15" y="1"/>
                      <a:pt x="15" y="3"/>
                    </a:cubicBezTo>
                    <a:cubicBezTo>
                      <a:pt x="14" y="4"/>
                      <a:pt x="14" y="5"/>
                      <a:pt x="13" y="6"/>
                    </a:cubicBezTo>
                    <a:cubicBezTo>
                      <a:pt x="11" y="10"/>
                      <a:pt x="6" y="14"/>
                      <a:pt x="1" y="15"/>
                    </a:cubicBezTo>
                    <a:cubicBezTo>
                      <a:pt x="1" y="14"/>
                      <a:pt x="1" y="13"/>
                      <a:pt x="0" y="12"/>
                    </a:cubicBezTo>
                    <a:cubicBezTo>
                      <a:pt x="3" y="10"/>
                      <a:pt x="4" y="6"/>
                      <a:pt x="7" y="3"/>
                    </a:cubicBezTo>
                    <a:cubicBezTo>
                      <a:pt x="9" y="2"/>
                      <a:pt x="12" y="1"/>
                      <a:pt x="1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1" name="Freeform 38">
                <a:extLst>
                  <a:ext uri="{FF2B5EF4-FFF2-40B4-BE49-F238E27FC236}">
                    <a16:creationId xmlns:a16="http://schemas.microsoft.com/office/drawing/2014/main" id="{4E42E008-DA6A-6A8F-710F-D4662EC3CFDC}"/>
                  </a:ext>
                </a:extLst>
              </p:cNvPr>
              <p:cNvSpPr>
                <a:spLocks/>
              </p:cNvSpPr>
              <p:nvPr/>
            </p:nvSpPr>
            <p:spPr bwMode="auto">
              <a:xfrm>
                <a:off x="-1544638" y="4756151"/>
                <a:ext cx="60325" cy="41275"/>
              </a:xfrm>
              <a:custGeom>
                <a:avLst/>
                <a:gdLst>
                  <a:gd name="T0" fmla="*/ 13 w 16"/>
                  <a:gd name="T1" fmla="*/ 0 h 11"/>
                  <a:gd name="T2" fmla="*/ 14 w 16"/>
                  <a:gd name="T3" fmla="*/ 0 h 11"/>
                  <a:gd name="T4" fmla="*/ 16 w 16"/>
                  <a:gd name="T5" fmla="*/ 1 h 11"/>
                  <a:gd name="T6" fmla="*/ 15 w 16"/>
                  <a:gd name="T7" fmla="*/ 2 h 11"/>
                  <a:gd name="T8" fmla="*/ 12 w 16"/>
                  <a:gd name="T9" fmla="*/ 4 h 11"/>
                  <a:gd name="T10" fmla="*/ 11 w 16"/>
                  <a:gd name="T11" fmla="*/ 6 h 11"/>
                  <a:gd name="T12" fmla="*/ 7 w 16"/>
                  <a:gd name="T13" fmla="*/ 8 h 11"/>
                  <a:gd name="T14" fmla="*/ 6 w 16"/>
                  <a:gd name="T15" fmla="*/ 10 h 11"/>
                  <a:gd name="T16" fmla="*/ 3 w 16"/>
                  <a:gd name="T17" fmla="*/ 11 h 11"/>
                  <a:gd name="T18" fmla="*/ 0 w 16"/>
                  <a:gd name="T19" fmla="*/ 4 h 11"/>
                  <a:gd name="T20" fmla="*/ 3 w 16"/>
                  <a:gd name="T21" fmla="*/ 2 h 11"/>
                  <a:gd name="T22" fmla="*/ 7 w 16"/>
                  <a:gd name="T23" fmla="*/ 2 h 11"/>
                  <a:gd name="T24" fmla="*/ 9 w 16"/>
                  <a:gd name="T25" fmla="*/ 1 h 11"/>
                  <a:gd name="T26" fmla="*/ 13 w 16"/>
                  <a:gd name="T2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11">
                    <a:moveTo>
                      <a:pt x="13" y="0"/>
                    </a:moveTo>
                    <a:cubicBezTo>
                      <a:pt x="13" y="0"/>
                      <a:pt x="14" y="0"/>
                      <a:pt x="14" y="0"/>
                    </a:cubicBezTo>
                    <a:cubicBezTo>
                      <a:pt x="15" y="0"/>
                      <a:pt x="15" y="1"/>
                      <a:pt x="16" y="1"/>
                    </a:cubicBezTo>
                    <a:cubicBezTo>
                      <a:pt x="15" y="2"/>
                      <a:pt x="16" y="2"/>
                      <a:pt x="15" y="2"/>
                    </a:cubicBezTo>
                    <a:cubicBezTo>
                      <a:pt x="15" y="4"/>
                      <a:pt x="14" y="3"/>
                      <a:pt x="12" y="4"/>
                    </a:cubicBezTo>
                    <a:cubicBezTo>
                      <a:pt x="11" y="5"/>
                      <a:pt x="12" y="5"/>
                      <a:pt x="11" y="6"/>
                    </a:cubicBezTo>
                    <a:cubicBezTo>
                      <a:pt x="11" y="7"/>
                      <a:pt x="8" y="7"/>
                      <a:pt x="7" y="8"/>
                    </a:cubicBezTo>
                    <a:cubicBezTo>
                      <a:pt x="7" y="9"/>
                      <a:pt x="7" y="10"/>
                      <a:pt x="6" y="10"/>
                    </a:cubicBezTo>
                    <a:cubicBezTo>
                      <a:pt x="6" y="11"/>
                      <a:pt x="4" y="11"/>
                      <a:pt x="3" y="11"/>
                    </a:cubicBezTo>
                    <a:cubicBezTo>
                      <a:pt x="2" y="9"/>
                      <a:pt x="1" y="7"/>
                      <a:pt x="0" y="4"/>
                    </a:cubicBezTo>
                    <a:cubicBezTo>
                      <a:pt x="1" y="4"/>
                      <a:pt x="2" y="3"/>
                      <a:pt x="3" y="2"/>
                    </a:cubicBezTo>
                    <a:cubicBezTo>
                      <a:pt x="4" y="2"/>
                      <a:pt x="6" y="2"/>
                      <a:pt x="7" y="2"/>
                    </a:cubicBezTo>
                    <a:cubicBezTo>
                      <a:pt x="8" y="2"/>
                      <a:pt x="9" y="1"/>
                      <a:pt x="9" y="1"/>
                    </a:cubicBezTo>
                    <a:cubicBezTo>
                      <a:pt x="11" y="0"/>
                      <a:pt x="12" y="1"/>
                      <a:pt x="13"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2" name="Freeform 39">
                <a:extLst>
                  <a:ext uri="{FF2B5EF4-FFF2-40B4-BE49-F238E27FC236}">
                    <a16:creationId xmlns:a16="http://schemas.microsoft.com/office/drawing/2014/main" id="{0CC542ED-4C01-48CF-BD72-3301E9B77E40}"/>
                  </a:ext>
                </a:extLst>
              </p:cNvPr>
              <p:cNvSpPr>
                <a:spLocks/>
              </p:cNvSpPr>
              <p:nvPr/>
            </p:nvSpPr>
            <p:spPr bwMode="auto">
              <a:xfrm>
                <a:off x="-1427163" y="4778376"/>
                <a:ext cx="7938" cy="7938"/>
              </a:xfrm>
              <a:custGeom>
                <a:avLst/>
                <a:gdLst>
                  <a:gd name="T0" fmla="*/ 1 w 2"/>
                  <a:gd name="T1" fmla="*/ 0 h 2"/>
                  <a:gd name="T2" fmla="*/ 2 w 2"/>
                  <a:gd name="T3" fmla="*/ 0 h 2"/>
                  <a:gd name="T4" fmla="*/ 2 w 2"/>
                  <a:gd name="T5" fmla="*/ 2 h 2"/>
                  <a:gd name="T6" fmla="*/ 1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1" y="0"/>
                      <a:pt x="2" y="0"/>
                    </a:cubicBezTo>
                    <a:cubicBezTo>
                      <a:pt x="2" y="1"/>
                      <a:pt x="2" y="1"/>
                      <a:pt x="2" y="2"/>
                    </a:cubicBezTo>
                    <a:cubicBezTo>
                      <a:pt x="2" y="2"/>
                      <a:pt x="2" y="2"/>
                      <a:pt x="1" y="2"/>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3" name="Freeform 40">
                <a:extLst>
                  <a:ext uri="{FF2B5EF4-FFF2-40B4-BE49-F238E27FC236}">
                    <a16:creationId xmlns:a16="http://schemas.microsoft.com/office/drawing/2014/main" id="{24F8ADB8-AC27-532C-A89B-96123C84A33C}"/>
                  </a:ext>
                </a:extLst>
              </p:cNvPr>
              <p:cNvSpPr>
                <a:spLocks/>
              </p:cNvSpPr>
              <p:nvPr/>
            </p:nvSpPr>
            <p:spPr bwMode="auto">
              <a:xfrm>
                <a:off x="-741363" y="4794251"/>
                <a:ext cx="60325" cy="36513"/>
              </a:xfrm>
              <a:custGeom>
                <a:avLst/>
                <a:gdLst>
                  <a:gd name="T0" fmla="*/ 14 w 16"/>
                  <a:gd name="T1" fmla="*/ 0 h 10"/>
                  <a:gd name="T2" fmla="*/ 9 w 16"/>
                  <a:gd name="T3" fmla="*/ 1 h 10"/>
                  <a:gd name="T4" fmla="*/ 0 w 16"/>
                  <a:gd name="T5" fmla="*/ 9 h 10"/>
                  <a:gd name="T6" fmla="*/ 0 w 16"/>
                  <a:gd name="T7" fmla="*/ 9 h 10"/>
                  <a:gd name="T8" fmla="*/ 2 w 16"/>
                  <a:gd name="T9" fmla="*/ 10 h 10"/>
                  <a:gd name="T10" fmla="*/ 9 w 16"/>
                  <a:gd name="T11" fmla="*/ 6 h 10"/>
                  <a:gd name="T12" fmla="*/ 13 w 16"/>
                  <a:gd name="T13" fmla="*/ 2 h 10"/>
                  <a:gd name="T14" fmla="*/ 16 w 16"/>
                  <a:gd name="T15" fmla="*/ 0 h 10"/>
                  <a:gd name="T16" fmla="*/ 15 w 16"/>
                  <a:gd name="T17" fmla="*/ 0 h 10"/>
                  <a:gd name="T18" fmla="*/ 14 w 16"/>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4" y="0"/>
                    </a:moveTo>
                    <a:cubicBezTo>
                      <a:pt x="13" y="1"/>
                      <a:pt x="10" y="0"/>
                      <a:pt x="9" y="1"/>
                    </a:cubicBezTo>
                    <a:cubicBezTo>
                      <a:pt x="8" y="1"/>
                      <a:pt x="0" y="8"/>
                      <a:pt x="0" y="9"/>
                    </a:cubicBezTo>
                    <a:cubicBezTo>
                      <a:pt x="0" y="9"/>
                      <a:pt x="0" y="9"/>
                      <a:pt x="0" y="9"/>
                    </a:cubicBezTo>
                    <a:cubicBezTo>
                      <a:pt x="1" y="9"/>
                      <a:pt x="1" y="9"/>
                      <a:pt x="2" y="10"/>
                    </a:cubicBezTo>
                    <a:cubicBezTo>
                      <a:pt x="3" y="8"/>
                      <a:pt x="6" y="7"/>
                      <a:pt x="9" y="6"/>
                    </a:cubicBezTo>
                    <a:cubicBezTo>
                      <a:pt x="10" y="4"/>
                      <a:pt x="12" y="3"/>
                      <a:pt x="13" y="2"/>
                    </a:cubicBezTo>
                    <a:cubicBezTo>
                      <a:pt x="14" y="1"/>
                      <a:pt x="15" y="1"/>
                      <a:pt x="16" y="0"/>
                    </a:cubicBezTo>
                    <a:cubicBezTo>
                      <a:pt x="15" y="0"/>
                      <a:pt x="16" y="0"/>
                      <a:pt x="15" y="0"/>
                    </a:cubicBezTo>
                    <a:cubicBezTo>
                      <a:pt x="15" y="0"/>
                      <a:pt x="14" y="0"/>
                      <a:pt x="14"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4" name="Freeform 41">
                <a:extLst>
                  <a:ext uri="{FF2B5EF4-FFF2-40B4-BE49-F238E27FC236}">
                    <a16:creationId xmlns:a16="http://schemas.microsoft.com/office/drawing/2014/main" id="{2C61F064-6175-E5BD-D3BC-B8792AE2805F}"/>
                  </a:ext>
                </a:extLst>
              </p:cNvPr>
              <p:cNvSpPr>
                <a:spLocks/>
              </p:cNvSpPr>
              <p:nvPr/>
            </p:nvSpPr>
            <p:spPr bwMode="auto">
              <a:xfrm>
                <a:off x="-1287463" y="4872038"/>
                <a:ext cx="7938" cy="11113"/>
              </a:xfrm>
              <a:custGeom>
                <a:avLst/>
                <a:gdLst>
                  <a:gd name="T0" fmla="*/ 1 w 2"/>
                  <a:gd name="T1" fmla="*/ 0 h 3"/>
                  <a:gd name="T2" fmla="*/ 2 w 2"/>
                  <a:gd name="T3" fmla="*/ 0 h 3"/>
                  <a:gd name="T4" fmla="*/ 2 w 2"/>
                  <a:gd name="T5" fmla="*/ 2 h 3"/>
                  <a:gd name="T6" fmla="*/ 1 w 2"/>
                  <a:gd name="T7" fmla="*/ 3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0"/>
                      <a:pt x="1" y="0"/>
                      <a:pt x="2" y="0"/>
                    </a:cubicBezTo>
                    <a:cubicBezTo>
                      <a:pt x="2" y="1"/>
                      <a:pt x="2" y="1"/>
                      <a:pt x="2" y="2"/>
                    </a:cubicBezTo>
                    <a:cubicBezTo>
                      <a:pt x="2" y="2"/>
                      <a:pt x="2" y="3"/>
                      <a:pt x="1" y="3"/>
                    </a:cubicBezTo>
                    <a:cubicBezTo>
                      <a:pt x="0" y="2"/>
                      <a:pt x="0" y="2"/>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5" name="Freeform 42">
                <a:extLst>
                  <a:ext uri="{FF2B5EF4-FFF2-40B4-BE49-F238E27FC236}">
                    <a16:creationId xmlns:a16="http://schemas.microsoft.com/office/drawing/2014/main" id="{445EA74D-8A4E-3EF4-89EF-B22C2395FEE7}"/>
                  </a:ext>
                </a:extLst>
              </p:cNvPr>
              <p:cNvSpPr>
                <a:spLocks/>
              </p:cNvSpPr>
              <p:nvPr/>
            </p:nvSpPr>
            <p:spPr bwMode="auto">
              <a:xfrm>
                <a:off x="-1449388" y="4883151"/>
                <a:ext cx="188913" cy="252413"/>
              </a:xfrm>
              <a:custGeom>
                <a:avLst/>
                <a:gdLst>
                  <a:gd name="T0" fmla="*/ 47 w 50"/>
                  <a:gd name="T1" fmla="*/ 0 h 67"/>
                  <a:gd name="T2" fmla="*/ 48 w 50"/>
                  <a:gd name="T3" fmla="*/ 1 h 67"/>
                  <a:gd name="T4" fmla="*/ 50 w 50"/>
                  <a:gd name="T5" fmla="*/ 6 h 67"/>
                  <a:gd name="T6" fmla="*/ 48 w 50"/>
                  <a:gd name="T7" fmla="*/ 8 h 67"/>
                  <a:gd name="T8" fmla="*/ 49 w 50"/>
                  <a:gd name="T9" fmla="*/ 12 h 67"/>
                  <a:gd name="T10" fmla="*/ 45 w 50"/>
                  <a:gd name="T11" fmla="*/ 17 h 67"/>
                  <a:gd name="T12" fmla="*/ 45 w 50"/>
                  <a:gd name="T13" fmla="*/ 20 h 67"/>
                  <a:gd name="T14" fmla="*/ 43 w 50"/>
                  <a:gd name="T15" fmla="*/ 23 h 67"/>
                  <a:gd name="T16" fmla="*/ 41 w 50"/>
                  <a:gd name="T17" fmla="*/ 29 h 67"/>
                  <a:gd name="T18" fmla="*/ 40 w 50"/>
                  <a:gd name="T19" fmla="*/ 29 h 67"/>
                  <a:gd name="T20" fmla="*/ 40 w 50"/>
                  <a:gd name="T21" fmla="*/ 31 h 67"/>
                  <a:gd name="T22" fmla="*/ 36 w 50"/>
                  <a:gd name="T23" fmla="*/ 37 h 67"/>
                  <a:gd name="T24" fmla="*/ 34 w 50"/>
                  <a:gd name="T25" fmla="*/ 38 h 67"/>
                  <a:gd name="T26" fmla="*/ 34 w 50"/>
                  <a:gd name="T27" fmla="*/ 42 h 67"/>
                  <a:gd name="T28" fmla="*/ 32 w 50"/>
                  <a:gd name="T29" fmla="*/ 45 h 67"/>
                  <a:gd name="T30" fmla="*/ 28 w 50"/>
                  <a:gd name="T31" fmla="*/ 45 h 67"/>
                  <a:gd name="T32" fmla="*/ 25 w 50"/>
                  <a:gd name="T33" fmla="*/ 43 h 67"/>
                  <a:gd name="T34" fmla="*/ 25 w 50"/>
                  <a:gd name="T35" fmla="*/ 44 h 67"/>
                  <a:gd name="T36" fmla="*/ 28 w 50"/>
                  <a:gd name="T37" fmla="*/ 47 h 67"/>
                  <a:gd name="T38" fmla="*/ 28 w 50"/>
                  <a:gd name="T39" fmla="*/ 58 h 67"/>
                  <a:gd name="T40" fmla="*/ 21 w 50"/>
                  <a:gd name="T41" fmla="*/ 62 h 67"/>
                  <a:gd name="T42" fmla="*/ 18 w 50"/>
                  <a:gd name="T43" fmla="*/ 62 h 67"/>
                  <a:gd name="T44" fmla="*/ 13 w 50"/>
                  <a:gd name="T45" fmla="*/ 67 h 67"/>
                  <a:gd name="T46" fmla="*/ 10 w 50"/>
                  <a:gd name="T47" fmla="*/ 63 h 67"/>
                  <a:gd name="T48" fmla="*/ 11 w 50"/>
                  <a:gd name="T49" fmla="*/ 61 h 67"/>
                  <a:gd name="T50" fmla="*/ 14 w 50"/>
                  <a:gd name="T51" fmla="*/ 57 h 67"/>
                  <a:gd name="T52" fmla="*/ 11 w 50"/>
                  <a:gd name="T53" fmla="*/ 50 h 67"/>
                  <a:gd name="T54" fmla="*/ 14 w 50"/>
                  <a:gd name="T55" fmla="*/ 47 h 67"/>
                  <a:gd name="T56" fmla="*/ 14 w 50"/>
                  <a:gd name="T57" fmla="*/ 46 h 67"/>
                  <a:gd name="T58" fmla="*/ 11 w 50"/>
                  <a:gd name="T59" fmla="*/ 46 h 67"/>
                  <a:gd name="T60" fmla="*/ 1 w 50"/>
                  <a:gd name="T61" fmla="*/ 57 h 67"/>
                  <a:gd name="T62" fmla="*/ 0 w 50"/>
                  <a:gd name="T63" fmla="*/ 57 h 67"/>
                  <a:gd name="T64" fmla="*/ 1 w 50"/>
                  <a:gd name="T65" fmla="*/ 50 h 67"/>
                  <a:gd name="T66" fmla="*/ 3 w 50"/>
                  <a:gd name="T67" fmla="*/ 48 h 67"/>
                  <a:gd name="T68" fmla="*/ 3 w 50"/>
                  <a:gd name="T69" fmla="*/ 43 h 67"/>
                  <a:gd name="T70" fmla="*/ 4 w 50"/>
                  <a:gd name="T71" fmla="*/ 38 h 67"/>
                  <a:gd name="T72" fmla="*/ 11 w 50"/>
                  <a:gd name="T73" fmla="*/ 34 h 67"/>
                  <a:gd name="T74" fmla="*/ 13 w 50"/>
                  <a:gd name="T75" fmla="*/ 36 h 67"/>
                  <a:gd name="T76" fmla="*/ 13 w 50"/>
                  <a:gd name="T77" fmla="*/ 36 h 67"/>
                  <a:gd name="T78" fmla="*/ 13 w 50"/>
                  <a:gd name="T79" fmla="*/ 36 h 67"/>
                  <a:gd name="T80" fmla="*/ 23 w 50"/>
                  <a:gd name="T81" fmla="*/ 29 h 67"/>
                  <a:gd name="T82" fmla="*/ 24 w 50"/>
                  <a:gd name="T83" fmla="*/ 30 h 67"/>
                  <a:gd name="T84" fmla="*/ 24 w 50"/>
                  <a:gd name="T85" fmla="*/ 35 h 67"/>
                  <a:gd name="T86" fmla="*/ 24 w 50"/>
                  <a:gd name="T87" fmla="*/ 35 h 67"/>
                  <a:gd name="T88" fmla="*/ 32 w 50"/>
                  <a:gd name="T89" fmla="*/ 27 h 67"/>
                  <a:gd name="T90" fmla="*/ 30 w 50"/>
                  <a:gd name="T91" fmla="*/ 23 h 67"/>
                  <a:gd name="T92" fmla="*/ 40 w 50"/>
                  <a:gd name="T93" fmla="*/ 13 h 67"/>
                  <a:gd name="T94" fmla="*/ 40 w 50"/>
                  <a:gd name="T95" fmla="*/ 12 h 67"/>
                  <a:gd name="T96" fmla="*/ 46 w 50"/>
                  <a:gd name="T97" fmla="*/ 7 h 67"/>
                  <a:gd name="T98" fmla="*/ 45 w 50"/>
                  <a:gd name="T99" fmla="*/ 5 h 67"/>
                  <a:gd name="T100" fmla="*/ 48 w 50"/>
                  <a:gd name="T101" fmla="*/ 2 h 67"/>
                  <a:gd name="T102" fmla="*/ 47 w 50"/>
                  <a:gd name="T10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67">
                    <a:moveTo>
                      <a:pt x="47" y="0"/>
                    </a:moveTo>
                    <a:cubicBezTo>
                      <a:pt x="48" y="1"/>
                      <a:pt x="48" y="0"/>
                      <a:pt x="48" y="1"/>
                    </a:cubicBezTo>
                    <a:cubicBezTo>
                      <a:pt x="48" y="1"/>
                      <a:pt x="50" y="5"/>
                      <a:pt x="50" y="6"/>
                    </a:cubicBezTo>
                    <a:cubicBezTo>
                      <a:pt x="48" y="6"/>
                      <a:pt x="48" y="6"/>
                      <a:pt x="48" y="8"/>
                    </a:cubicBezTo>
                    <a:cubicBezTo>
                      <a:pt x="49" y="9"/>
                      <a:pt x="49" y="10"/>
                      <a:pt x="49" y="12"/>
                    </a:cubicBezTo>
                    <a:cubicBezTo>
                      <a:pt x="48" y="13"/>
                      <a:pt x="46" y="16"/>
                      <a:pt x="45" y="17"/>
                    </a:cubicBezTo>
                    <a:cubicBezTo>
                      <a:pt x="45" y="18"/>
                      <a:pt x="45" y="19"/>
                      <a:pt x="45" y="20"/>
                    </a:cubicBezTo>
                    <a:cubicBezTo>
                      <a:pt x="44" y="21"/>
                      <a:pt x="43" y="22"/>
                      <a:pt x="43" y="23"/>
                    </a:cubicBezTo>
                    <a:cubicBezTo>
                      <a:pt x="41" y="25"/>
                      <a:pt x="42" y="26"/>
                      <a:pt x="41" y="29"/>
                    </a:cubicBezTo>
                    <a:cubicBezTo>
                      <a:pt x="40" y="29"/>
                      <a:pt x="40" y="29"/>
                      <a:pt x="40" y="29"/>
                    </a:cubicBezTo>
                    <a:cubicBezTo>
                      <a:pt x="40" y="30"/>
                      <a:pt x="40" y="31"/>
                      <a:pt x="40" y="31"/>
                    </a:cubicBezTo>
                    <a:cubicBezTo>
                      <a:pt x="39" y="32"/>
                      <a:pt x="36" y="37"/>
                      <a:pt x="36" y="37"/>
                    </a:cubicBezTo>
                    <a:cubicBezTo>
                      <a:pt x="35" y="38"/>
                      <a:pt x="35" y="37"/>
                      <a:pt x="34" y="38"/>
                    </a:cubicBezTo>
                    <a:cubicBezTo>
                      <a:pt x="33" y="39"/>
                      <a:pt x="34" y="40"/>
                      <a:pt x="34" y="42"/>
                    </a:cubicBezTo>
                    <a:cubicBezTo>
                      <a:pt x="33" y="42"/>
                      <a:pt x="33" y="43"/>
                      <a:pt x="32" y="45"/>
                    </a:cubicBezTo>
                    <a:cubicBezTo>
                      <a:pt x="31" y="45"/>
                      <a:pt x="30" y="45"/>
                      <a:pt x="28" y="45"/>
                    </a:cubicBezTo>
                    <a:cubicBezTo>
                      <a:pt x="28" y="45"/>
                      <a:pt x="25" y="43"/>
                      <a:pt x="25" y="43"/>
                    </a:cubicBezTo>
                    <a:cubicBezTo>
                      <a:pt x="25" y="43"/>
                      <a:pt x="25" y="43"/>
                      <a:pt x="25" y="44"/>
                    </a:cubicBezTo>
                    <a:cubicBezTo>
                      <a:pt x="26" y="45"/>
                      <a:pt x="27" y="46"/>
                      <a:pt x="28" y="47"/>
                    </a:cubicBezTo>
                    <a:cubicBezTo>
                      <a:pt x="27" y="50"/>
                      <a:pt x="28" y="54"/>
                      <a:pt x="28" y="58"/>
                    </a:cubicBezTo>
                    <a:cubicBezTo>
                      <a:pt x="26" y="59"/>
                      <a:pt x="24" y="61"/>
                      <a:pt x="21" y="62"/>
                    </a:cubicBezTo>
                    <a:cubicBezTo>
                      <a:pt x="20" y="62"/>
                      <a:pt x="19" y="61"/>
                      <a:pt x="18" y="62"/>
                    </a:cubicBezTo>
                    <a:cubicBezTo>
                      <a:pt x="16" y="64"/>
                      <a:pt x="17" y="67"/>
                      <a:pt x="13" y="67"/>
                    </a:cubicBezTo>
                    <a:cubicBezTo>
                      <a:pt x="11" y="66"/>
                      <a:pt x="10" y="66"/>
                      <a:pt x="10" y="63"/>
                    </a:cubicBezTo>
                    <a:cubicBezTo>
                      <a:pt x="11" y="62"/>
                      <a:pt x="10" y="61"/>
                      <a:pt x="11" y="61"/>
                    </a:cubicBezTo>
                    <a:cubicBezTo>
                      <a:pt x="12" y="59"/>
                      <a:pt x="14" y="59"/>
                      <a:pt x="14" y="57"/>
                    </a:cubicBezTo>
                    <a:cubicBezTo>
                      <a:pt x="15" y="54"/>
                      <a:pt x="10" y="53"/>
                      <a:pt x="11" y="50"/>
                    </a:cubicBezTo>
                    <a:cubicBezTo>
                      <a:pt x="11" y="49"/>
                      <a:pt x="13" y="48"/>
                      <a:pt x="14" y="47"/>
                    </a:cubicBezTo>
                    <a:cubicBezTo>
                      <a:pt x="14" y="46"/>
                      <a:pt x="14" y="46"/>
                      <a:pt x="14" y="46"/>
                    </a:cubicBezTo>
                    <a:cubicBezTo>
                      <a:pt x="13" y="46"/>
                      <a:pt x="12" y="46"/>
                      <a:pt x="11" y="46"/>
                    </a:cubicBezTo>
                    <a:cubicBezTo>
                      <a:pt x="9" y="49"/>
                      <a:pt x="6" y="57"/>
                      <a:pt x="1" y="57"/>
                    </a:cubicBezTo>
                    <a:cubicBezTo>
                      <a:pt x="1" y="57"/>
                      <a:pt x="1" y="57"/>
                      <a:pt x="0" y="57"/>
                    </a:cubicBezTo>
                    <a:cubicBezTo>
                      <a:pt x="0" y="55"/>
                      <a:pt x="0" y="52"/>
                      <a:pt x="1" y="50"/>
                    </a:cubicBezTo>
                    <a:cubicBezTo>
                      <a:pt x="1" y="49"/>
                      <a:pt x="2" y="48"/>
                      <a:pt x="3" y="48"/>
                    </a:cubicBezTo>
                    <a:cubicBezTo>
                      <a:pt x="3" y="46"/>
                      <a:pt x="2" y="45"/>
                      <a:pt x="3" y="43"/>
                    </a:cubicBezTo>
                    <a:cubicBezTo>
                      <a:pt x="3" y="42"/>
                      <a:pt x="4" y="40"/>
                      <a:pt x="4" y="38"/>
                    </a:cubicBezTo>
                    <a:cubicBezTo>
                      <a:pt x="6" y="37"/>
                      <a:pt x="9" y="35"/>
                      <a:pt x="11" y="34"/>
                    </a:cubicBezTo>
                    <a:cubicBezTo>
                      <a:pt x="12" y="35"/>
                      <a:pt x="12" y="35"/>
                      <a:pt x="13" y="36"/>
                    </a:cubicBezTo>
                    <a:cubicBezTo>
                      <a:pt x="13" y="36"/>
                      <a:pt x="13" y="36"/>
                      <a:pt x="13" y="36"/>
                    </a:cubicBezTo>
                    <a:cubicBezTo>
                      <a:pt x="13" y="36"/>
                      <a:pt x="13" y="36"/>
                      <a:pt x="13" y="36"/>
                    </a:cubicBezTo>
                    <a:cubicBezTo>
                      <a:pt x="16" y="34"/>
                      <a:pt x="18" y="30"/>
                      <a:pt x="23" y="29"/>
                    </a:cubicBezTo>
                    <a:cubicBezTo>
                      <a:pt x="23" y="30"/>
                      <a:pt x="24" y="30"/>
                      <a:pt x="24" y="30"/>
                    </a:cubicBezTo>
                    <a:cubicBezTo>
                      <a:pt x="24" y="32"/>
                      <a:pt x="24" y="34"/>
                      <a:pt x="24" y="35"/>
                    </a:cubicBezTo>
                    <a:cubicBezTo>
                      <a:pt x="24" y="35"/>
                      <a:pt x="24" y="35"/>
                      <a:pt x="24" y="35"/>
                    </a:cubicBezTo>
                    <a:cubicBezTo>
                      <a:pt x="24" y="30"/>
                      <a:pt x="29" y="30"/>
                      <a:pt x="32" y="27"/>
                    </a:cubicBezTo>
                    <a:cubicBezTo>
                      <a:pt x="30" y="26"/>
                      <a:pt x="30" y="25"/>
                      <a:pt x="30" y="23"/>
                    </a:cubicBezTo>
                    <a:cubicBezTo>
                      <a:pt x="33" y="19"/>
                      <a:pt x="36" y="16"/>
                      <a:pt x="40" y="13"/>
                    </a:cubicBezTo>
                    <a:cubicBezTo>
                      <a:pt x="40" y="13"/>
                      <a:pt x="40" y="12"/>
                      <a:pt x="40" y="12"/>
                    </a:cubicBezTo>
                    <a:cubicBezTo>
                      <a:pt x="43" y="10"/>
                      <a:pt x="45" y="10"/>
                      <a:pt x="46" y="7"/>
                    </a:cubicBezTo>
                    <a:cubicBezTo>
                      <a:pt x="45" y="6"/>
                      <a:pt x="45" y="6"/>
                      <a:pt x="45" y="5"/>
                    </a:cubicBezTo>
                    <a:cubicBezTo>
                      <a:pt x="46" y="4"/>
                      <a:pt x="47" y="4"/>
                      <a:pt x="48" y="2"/>
                    </a:cubicBezTo>
                    <a:cubicBezTo>
                      <a:pt x="47" y="2"/>
                      <a:pt x="47" y="1"/>
                      <a:pt x="4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6" name="Freeform 43">
                <a:extLst>
                  <a:ext uri="{FF2B5EF4-FFF2-40B4-BE49-F238E27FC236}">
                    <a16:creationId xmlns:a16="http://schemas.microsoft.com/office/drawing/2014/main" id="{F746C260-653E-EDDE-46CC-FDBCCC161ADD}"/>
                  </a:ext>
                </a:extLst>
              </p:cNvPr>
              <p:cNvSpPr>
                <a:spLocks/>
              </p:cNvSpPr>
              <p:nvPr/>
            </p:nvSpPr>
            <p:spPr bwMode="auto">
              <a:xfrm>
                <a:off x="-1397000" y="4918076"/>
                <a:ext cx="33338" cy="52388"/>
              </a:xfrm>
              <a:custGeom>
                <a:avLst/>
                <a:gdLst>
                  <a:gd name="T0" fmla="*/ 7 w 9"/>
                  <a:gd name="T1" fmla="*/ 0 h 14"/>
                  <a:gd name="T2" fmla="*/ 8 w 9"/>
                  <a:gd name="T3" fmla="*/ 0 h 14"/>
                  <a:gd name="T4" fmla="*/ 9 w 9"/>
                  <a:gd name="T5" fmla="*/ 3 h 14"/>
                  <a:gd name="T6" fmla="*/ 7 w 9"/>
                  <a:gd name="T7" fmla="*/ 7 h 14"/>
                  <a:gd name="T8" fmla="*/ 7 w 9"/>
                  <a:gd name="T9" fmla="*/ 9 h 14"/>
                  <a:gd name="T10" fmla="*/ 4 w 9"/>
                  <a:gd name="T11" fmla="*/ 11 h 14"/>
                  <a:gd name="T12" fmla="*/ 3 w 9"/>
                  <a:gd name="T13" fmla="*/ 14 h 14"/>
                  <a:gd name="T14" fmla="*/ 1 w 9"/>
                  <a:gd name="T15" fmla="*/ 14 h 14"/>
                  <a:gd name="T16" fmla="*/ 0 w 9"/>
                  <a:gd name="T17" fmla="*/ 11 h 14"/>
                  <a:gd name="T18" fmla="*/ 6 w 9"/>
                  <a:gd name="T19" fmla="*/ 1 h 14"/>
                  <a:gd name="T20" fmla="*/ 7 w 9"/>
                  <a:gd name="T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 h="14">
                    <a:moveTo>
                      <a:pt x="7" y="0"/>
                    </a:moveTo>
                    <a:cubicBezTo>
                      <a:pt x="8" y="0"/>
                      <a:pt x="8" y="0"/>
                      <a:pt x="8" y="0"/>
                    </a:cubicBezTo>
                    <a:cubicBezTo>
                      <a:pt x="9" y="1"/>
                      <a:pt x="9" y="1"/>
                      <a:pt x="9" y="3"/>
                    </a:cubicBezTo>
                    <a:cubicBezTo>
                      <a:pt x="9" y="4"/>
                      <a:pt x="7" y="6"/>
                      <a:pt x="7" y="7"/>
                    </a:cubicBezTo>
                    <a:cubicBezTo>
                      <a:pt x="7" y="8"/>
                      <a:pt x="7" y="9"/>
                      <a:pt x="7" y="9"/>
                    </a:cubicBezTo>
                    <a:cubicBezTo>
                      <a:pt x="6" y="10"/>
                      <a:pt x="5" y="11"/>
                      <a:pt x="4" y="11"/>
                    </a:cubicBezTo>
                    <a:cubicBezTo>
                      <a:pt x="4" y="12"/>
                      <a:pt x="4" y="13"/>
                      <a:pt x="3" y="14"/>
                    </a:cubicBezTo>
                    <a:cubicBezTo>
                      <a:pt x="2" y="14"/>
                      <a:pt x="2" y="14"/>
                      <a:pt x="1" y="14"/>
                    </a:cubicBezTo>
                    <a:cubicBezTo>
                      <a:pt x="1" y="13"/>
                      <a:pt x="1" y="13"/>
                      <a:pt x="0" y="11"/>
                    </a:cubicBezTo>
                    <a:cubicBezTo>
                      <a:pt x="2" y="8"/>
                      <a:pt x="3" y="1"/>
                      <a:pt x="6" y="1"/>
                    </a:cubicBezTo>
                    <a:cubicBezTo>
                      <a:pt x="7" y="1"/>
                      <a:pt x="7" y="1"/>
                      <a:pt x="7"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7" name="Freeform 44">
                <a:extLst>
                  <a:ext uri="{FF2B5EF4-FFF2-40B4-BE49-F238E27FC236}">
                    <a16:creationId xmlns:a16="http://schemas.microsoft.com/office/drawing/2014/main" id="{45E2412B-A500-8CDF-DAEE-07095EE18140}"/>
                  </a:ext>
                </a:extLst>
              </p:cNvPr>
              <p:cNvSpPr>
                <a:spLocks/>
              </p:cNvSpPr>
              <p:nvPr/>
            </p:nvSpPr>
            <p:spPr bwMode="auto">
              <a:xfrm>
                <a:off x="-1114425" y="5053013"/>
                <a:ext cx="15875" cy="19050"/>
              </a:xfrm>
              <a:custGeom>
                <a:avLst/>
                <a:gdLst>
                  <a:gd name="T0" fmla="*/ 0 w 4"/>
                  <a:gd name="T1" fmla="*/ 5 h 5"/>
                  <a:gd name="T2" fmla="*/ 3 w 4"/>
                  <a:gd name="T3" fmla="*/ 0 h 5"/>
                  <a:gd name="T4" fmla="*/ 4 w 4"/>
                  <a:gd name="T5" fmla="*/ 4 h 5"/>
                  <a:gd name="T6" fmla="*/ 3 w 4"/>
                  <a:gd name="T7" fmla="*/ 5 h 5"/>
                  <a:gd name="T8" fmla="*/ 0 w 4"/>
                  <a:gd name="T9" fmla="*/ 5 h 5"/>
                </a:gdLst>
                <a:ahLst/>
                <a:cxnLst>
                  <a:cxn ang="0">
                    <a:pos x="T0" y="T1"/>
                  </a:cxn>
                  <a:cxn ang="0">
                    <a:pos x="T2" y="T3"/>
                  </a:cxn>
                  <a:cxn ang="0">
                    <a:pos x="T4" y="T5"/>
                  </a:cxn>
                  <a:cxn ang="0">
                    <a:pos x="T6" y="T7"/>
                  </a:cxn>
                  <a:cxn ang="0">
                    <a:pos x="T8" y="T9"/>
                  </a:cxn>
                </a:cxnLst>
                <a:rect l="0" t="0" r="r" b="b"/>
                <a:pathLst>
                  <a:path w="4" h="5">
                    <a:moveTo>
                      <a:pt x="0" y="5"/>
                    </a:moveTo>
                    <a:cubicBezTo>
                      <a:pt x="0" y="2"/>
                      <a:pt x="1" y="0"/>
                      <a:pt x="3" y="0"/>
                    </a:cubicBezTo>
                    <a:cubicBezTo>
                      <a:pt x="4" y="1"/>
                      <a:pt x="4" y="2"/>
                      <a:pt x="4" y="4"/>
                    </a:cubicBezTo>
                    <a:cubicBezTo>
                      <a:pt x="4" y="5"/>
                      <a:pt x="3" y="5"/>
                      <a:pt x="3" y="5"/>
                    </a:cubicBezTo>
                    <a:cubicBezTo>
                      <a:pt x="2" y="5"/>
                      <a:pt x="1" y="5"/>
                      <a:pt x="0" y="5"/>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8" name="Freeform 45">
                <a:extLst>
                  <a:ext uri="{FF2B5EF4-FFF2-40B4-BE49-F238E27FC236}">
                    <a16:creationId xmlns:a16="http://schemas.microsoft.com/office/drawing/2014/main" id="{99016465-0089-EFA0-6AD1-0C98FA767BF4}"/>
                  </a:ext>
                </a:extLst>
              </p:cNvPr>
              <p:cNvSpPr>
                <a:spLocks/>
              </p:cNvSpPr>
              <p:nvPr/>
            </p:nvSpPr>
            <p:spPr bwMode="auto">
              <a:xfrm>
                <a:off x="-1290638" y="5075238"/>
                <a:ext cx="14288" cy="34925"/>
              </a:xfrm>
              <a:custGeom>
                <a:avLst/>
                <a:gdLst>
                  <a:gd name="T0" fmla="*/ 2 w 4"/>
                  <a:gd name="T1" fmla="*/ 0 h 9"/>
                  <a:gd name="T2" fmla="*/ 4 w 4"/>
                  <a:gd name="T3" fmla="*/ 0 h 9"/>
                  <a:gd name="T4" fmla="*/ 3 w 4"/>
                  <a:gd name="T5" fmla="*/ 8 h 9"/>
                  <a:gd name="T6" fmla="*/ 2 w 4"/>
                  <a:gd name="T7" fmla="*/ 9 h 9"/>
                  <a:gd name="T8" fmla="*/ 2 w 4"/>
                  <a:gd name="T9" fmla="*/ 8 h 9"/>
                  <a:gd name="T10" fmla="*/ 2 w 4"/>
                  <a:gd name="T11" fmla="*/ 0 h 9"/>
                </a:gdLst>
                <a:ahLst/>
                <a:cxnLst>
                  <a:cxn ang="0">
                    <a:pos x="T0" y="T1"/>
                  </a:cxn>
                  <a:cxn ang="0">
                    <a:pos x="T2" y="T3"/>
                  </a:cxn>
                  <a:cxn ang="0">
                    <a:pos x="T4" y="T5"/>
                  </a:cxn>
                  <a:cxn ang="0">
                    <a:pos x="T6" y="T7"/>
                  </a:cxn>
                  <a:cxn ang="0">
                    <a:pos x="T8" y="T9"/>
                  </a:cxn>
                  <a:cxn ang="0">
                    <a:pos x="T10" y="T11"/>
                  </a:cxn>
                </a:cxnLst>
                <a:rect l="0" t="0" r="r" b="b"/>
                <a:pathLst>
                  <a:path w="4" h="9">
                    <a:moveTo>
                      <a:pt x="2" y="0"/>
                    </a:moveTo>
                    <a:cubicBezTo>
                      <a:pt x="3" y="0"/>
                      <a:pt x="3" y="0"/>
                      <a:pt x="4" y="0"/>
                    </a:cubicBezTo>
                    <a:cubicBezTo>
                      <a:pt x="4" y="3"/>
                      <a:pt x="4" y="6"/>
                      <a:pt x="3" y="8"/>
                    </a:cubicBezTo>
                    <a:cubicBezTo>
                      <a:pt x="2" y="8"/>
                      <a:pt x="2" y="8"/>
                      <a:pt x="2" y="9"/>
                    </a:cubicBezTo>
                    <a:cubicBezTo>
                      <a:pt x="2" y="8"/>
                      <a:pt x="2" y="8"/>
                      <a:pt x="2" y="8"/>
                    </a:cubicBezTo>
                    <a:cubicBezTo>
                      <a:pt x="0" y="6"/>
                      <a:pt x="1" y="2"/>
                      <a:pt x="2"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69" name="Freeform 46">
                <a:extLst>
                  <a:ext uri="{FF2B5EF4-FFF2-40B4-BE49-F238E27FC236}">
                    <a16:creationId xmlns:a16="http://schemas.microsoft.com/office/drawing/2014/main" id="{117C4E63-9758-A66F-D1D6-A91D1405A21F}"/>
                  </a:ext>
                </a:extLst>
              </p:cNvPr>
              <p:cNvSpPr>
                <a:spLocks/>
              </p:cNvSpPr>
              <p:nvPr/>
            </p:nvSpPr>
            <p:spPr bwMode="auto">
              <a:xfrm>
                <a:off x="-1216025" y="5080001"/>
                <a:ext cx="82550" cy="131763"/>
              </a:xfrm>
              <a:custGeom>
                <a:avLst/>
                <a:gdLst>
                  <a:gd name="T0" fmla="*/ 9 w 22"/>
                  <a:gd name="T1" fmla="*/ 0 h 35"/>
                  <a:gd name="T2" fmla="*/ 12 w 22"/>
                  <a:gd name="T3" fmla="*/ 1 h 35"/>
                  <a:gd name="T4" fmla="*/ 18 w 22"/>
                  <a:gd name="T5" fmla="*/ 8 h 35"/>
                  <a:gd name="T6" fmla="*/ 18 w 22"/>
                  <a:gd name="T7" fmla="*/ 13 h 35"/>
                  <a:gd name="T8" fmla="*/ 22 w 22"/>
                  <a:gd name="T9" fmla="*/ 21 h 35"/>
                  <a:gd name="T10" fmla="*/ 21 w 22"/>
                  <a:gd name="T11" fmla="*/ 22 h 35"/>
                  <a:gd name="T12" fmla="*/ 21 w 22"/>
                  <a:gd name="T13" fmla="*/ 31 h 35"/>
                  <a:gd name="T14" fmla="*/ 18 w 22"/>
                  <a:gd name="T15" fmla="*/ 34 h 35"/>
                  <a:gd name="T16" fmla="*/ 7 w 22"/>
                  <a:gd name="T17" fmla="*/ 32 h 35"/>
                  <a:gd name="T18" fmla="*/ 4 w 22"/>
                  <a:gd name="T19" fmla="*/ 26 h 35"/>
                  <a:gd name="T20" fmla="*/ 4 w 22"/>
                  <a:gd name="T21" fmla="*/ 17 h 35"/>
                  <a:gd name="T22" fmla="*/ 3 w 22"/>
                  <a:gd name="T23" fmla="*/ 5 h 35"/>
                  <a:gd name="T24" fmla="*/ 9 w 22"/>
                  <a:gd name="T25"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5">
                    <a:moveTo>
                      <a:pt x="9" y="0"/>
                    </a:moveTo>
                    <a:cubicBezTo>
                      <a:pt x="10" y="0"/>
                      <a:pt x="11" y="0"/>
                      <a:pt x="12" y="1"/>
                    </a:cubicBezTo>
                    <a:cubicBezTo>
                      <a:pt x="15" y="2"/>
                      <a:pt x="17" y="5"/>
                      <a:pt x="18" y="8"/>
                    </a:cubicBezTo>
                    <a:cubicBezTo>
                      <a:pt x="18" y="10"/>
                      <a:pt x="18" y="12"/>
                      <a:pt x="18" y="13"/>
                    </a:cubicBezTo>
                    <a:cubicBezTo>
                      <a:pt x="19" y="16"/>
                      <a:pt x="22" y="18"/>
                      <a:pt x="22" y="21"/>
                    </a:cubicBezTo>
                    <a:cubicBezTo>
                      <a:pt x="22" y="21"/>
                      <a:pt x="21" y="22"/>
                      <a:pt x="21" y="22"/>
                    </a:cubicBezTo>
                    <a:cubicBezTo>
                      <a:pt x="20" y="25"/>
                      <a:pt x="21" y="27"/>
                      <a:pt x="21" y="31"/>
                    </a:cubicBezTo>
                    <a:cubicBezTo>
                      <a:pt x="20" y="32"/>
                      <a:pt x="20" y="33"/>
                      <a:pt x="18" y="34"/>
                    </a:cubicBezTo>
                    <a:cubicBezTo>
                      <a:pt x="16" y="35"/>
                      <a:pt x="8" y="33"/>
                      <a:pt x="7" y="32"/>
                    </a:cubicBezTo>
                    <a:cubicBezTo>
                      <a:pt x="6" y="30"/>
                      <a:pt x="5" y="28"/>
                      <a:pt x="4" y="26"/>
                    </a:cubicBezTo>
                    <a:cubicBezTo>
                      <a:pt x="4" y="23"/>
                      <a:pt x="4" y="20"/>
                      <a:pt x="4" y="17"/>
                    </a:cubicBezTo>
                    <a:cubicBezTo>
                      <a:pt x="3" y="13"/>
                      <a:pt x="0" y="10"/>
                      <a:pt x="3" y="5"/>
                    </a:cubicBezTo>
                    <a:cubicBezTo>
                      <a:pt x="4" y="3"/>
                      <a:pt x="7" y="1"/>
                      <a:pt x="9"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0" name="Freeform 47">
                <a:extLst>
                  <a:ext uri="{FF2B5EF4-FFF2-40B4-BE49-F238E27FC236}">
                    <a16:creationId xmlns:a16="http://schemas.microsoft.com/office/drawing/2014/main" id="{4D992D3F-6ABD-C212-90A1-7CEA6C58BB04}"/>
                  </a:ext>
                </a:extLst>
              </p:cNvPr>
              <p:cNvSpPr>
                <a:spLocks/>
              </p:cNvSpPr>
              <p:nvPr/>
            </p:nvSpPr>
            <p:spPr bwMode="auto">
              <a:xfrm>
                <a:off x="-1423988" y="5102226"/>
                <a:ext cx="7938" cy="7938"/>
              </a:xfrm>
              <a:custGeom>
                <a:avLst/>
                <a:gdLst>
                  <a:gd name="T0" fmla="*/ 1 w 2"/>
                  <a:gd name="T1" fmla="*/ 0 h 2"/>
                  <a:gd name="T2" fmla="*/ 2 w 2"/>
                  <a:gd name="T3" fmla="*/ 2 h 2"/>
                  <a:gd name="T4" fmla="*/ 0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1" y="0"/>
                      <a:pt x="2" y="1"/>
                      <a:pt x="2" y="2"/>
                    </a:cubicBezTo>
                    <a:cubicBezTo>
                      <a:pt x="1" y="2"/>
                      <a:pt x="1" y="2"/>
                      <a:pt x="0" y="1"/>
                    </a:cubicBezTo>
                    <a:cubicBezTo>
                      <a:pt x="0" y="1"/>
                      <a:pt x="0" y="1"/>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1" name="Freeform 48">
                <a:extLst>
                  <a:ext uri="{FF2B5EF4-FFF2-40B4-BE49-F238E27FC236}">
                    <a16:creationId xmlns:a16="http://schemas.microsoft.com/office/drawing/2014/main" id="{FFAA4058-FA15-0726-DEE0-E54815C27010}"/>
                  </a:ext>
                </a:extLst>
              </p:cNvPr>
              <p:cNvSpPr>
                <a:spLocks/>
              </p:cNvSpPr>
              <p:nvPr/>
            </p:nvSpPr>
            <p:spPr bwMode="auto">
              <a:xfrm>
                <a:off x="-1400175" y="5233988"/>
                <a:ext cx="22225" cy="14288"/>
              </a:xfrm>
              <a:custGeom>
                <a:avLst/>
                <a:gdLst>
                  <a:gd name="T0" fmla="*/ 1 w 6"/>
                  <a:gd name="T1" fmla="*/ 0 h 4"/>
                  <a:gd name="T2" fmla="*/ 6 w 6"/>
                  <a:gd name="T3" fmla="*/ 4 h 4"/>
                  <a:gd name="T4" fmla="*/ 5 w 6"/>
                  <a:gd name="T5" fmla="*/ 4 h 4"/>
                  <a:gd name="T6" fmla="*/ 4 w 6"/>
                  <a:gd name="T7" fmla="*/ 2 h 4"/>
                  <a:gd name="T8" fmla="*/ 0 w 6"/>
                  <a:gd name="T9" fmla="*/ 2 h 4"/>
                  <a:gd name="T10" fmla="*/ 0 w 6"/>
                  <a:gd name="T11" fmla="*/ 1 h 4"/>
                  <a:gd name="T12" fmla="*/ 1 w 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6" h="4">
                    <a:moveTo>
                      <a:pt x="1" y="0"/>
                    </a:moveTo>
                    <a:cubicBezTo>
                      <a:pt x="4" y="0"/>
                      <a:pt x="6" y="1"/>
                      <a:pt x="6" y="4"/>
                    </a:cubicBezTo>
                    <a:cubicBezTo>
                      <a:pt x="6" y="4"/>
                      <a:pt x="5" y="4"/>
                      <a:pt x="5" y="4"/>
                    </a:cubicBezTo>
                    <a:cubicBezTo>
                      <a:pt x="5" y="3"/>
                      <a:pt x="4" y="3"/>
                      <a:pt x="4" y="2"/>
                    </a:cubicBezTo>
                    <a:cubicBezTo>
                      <a:pt x="3" y="2"/>
                      <a:pt x="1" y="2"/>
                      <a:pt x="0" y="2"/>
                    </a:cubicBezTo>
                    <a:cubicBezTo>
                      <a:pt x="0" y="1"/>
                      <a:pt x="0" y="1"/>
                      <a:pt x="0" y="1"/>
                    </a:cubicBezTo>
                    <a:cubicBezTo>
                      <a:pt x="0" y="0"/>
                      <a:pt x="0"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2" name="Freeform 49">
                <a:extLst>
                  <a:ext uri="{FF2B5EF4-FFF2-40B4-BE49-F238E27FC236}">
                    <a16:creationId xmlns:a16="http://schemas.microsoft.com/office/drawing/2014/main" id="{4032E01F-E150-C02B-EFCD-7A09DFE0B9B6}"/>
                  </a:ext>
                </a:extLst>
              </p:cNvPr>
              <p:cNvSpPr>
                <a:spLocks/>
              </p:cNvSpPr>
              <p:nvPr/>
            </p:nvSpPr>
            <p:spPr bwMode="auto">
              <a:xfrm>
                <a:off x="-1254125" y="5245101"/>
                <a:ext cx="7938" cy="7938"/>
              </a:xfrm>
              <a:custGeom>
                <a:avLst/>
                <a:gdLst>
                  <a:gd name="T0" fmla="*/ 0 w 2"/>
                  <a:gd name="T1" fmla="*/ 0 h 2"/>
                  <a:gd name="T2" fmla="*/ 2 w 2"/>
                  <a:gd name="T3" fmla="*/ 0 h 2"/>
                  <a:gd name="T4" fmla="*/ 2 w 2"/>
                  <a:gd name="T5" fmla="*/ 2 h 2"/>
                  <a:gd name="T6" fmla="*/ 0 w 2"/>
                  <a:gd name="T7" fmla="*/ 2 h 2"/>
                  <a:gd name="T8" fmla="*/ 0 w 2"/>
                  <a:gd name="T9" fmla="*/ 0 h 2"/>
                </a:gdLst>
                <a:ahLst/>
                <a:cxnLst>
                  <a:cxn ang="0">
                    <a:pos x="T0" y="T1"/>
                  </a:cxn>
                  <a:cxn ang="0">
                    <a:pos x="T2" y="T3"/>
                  </a:cxn>
                  <a:cxn ang="0">
                    <a:pos x="T4" y="T5"/>
                  </a:cxn>
                  <a:cxn ang="0">
                    <a:pos x="T6" y="T7"/>
                  </a:cxn>
                  <a:cxn ang="0">
                    <a:pos x="T8" y="T9"/>
                  </a:cxn>
                </a:cxnLst>
                <a:rect l="0" t="0" r="r" b="b"/>
                <a:pathLst>
                  <a:path w="2" h="2">
                    <a:moveTo>
                      <a:pt x="0" y="0"/>
                    </a:moveTo>
                    <a:cubicBezTo>
                      <a:pt x="1" y="0"/>
                      <a:pt x="1" y="0"/>
                      <a:pt x="2" y="0"/>
                    </a:cubicBezTo>
                    <a:cubicBezTo>
                      <a:pt x="2" y="0"/>
                      <a:pt x="2" y="1"/>
                      <a:pt x="2" y="2"/>
                    </a:cubicBezTo>
                    <a:cubicBezTo>
                      <a:pt x="2" y="2"/>
                      <a:pt x="1" y="2"/>
                      <a:pt x="0" y="2"/>
                    </a:cubicBezTo>
                    <a:cubicBezTo>
                      <a:pt x="0" y="1"/>
                      <a:pt x="0" y="1"/>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3" name="Freeform 50">
                <a:extLst>
                  <a:ext uri="{FF2B5EF4-FFF2-40B4-BE49-F238E27FC236}">
                    <a16:creationId xmlns:a16="http://schemas.microsoft.com/office/drawing/2014/main" id="{B39A51C5-B15E-BF8C-3CD6-0DC407CBBDB0}"/>
                  </a:ext>
                </a:extLst>
              </p:cNvPr>
              <p:cNvSpPr>
                <a:spLocks/>
              </p:cNvSpPr>
              <p:nvPr/>
            </p:nvSpPr>
            <p:spPr bwMode="auto">
              <a:xfrm>
                <a:off x="-1830388" y="5256213"/>
                <a:ext cx="614363" cy="469900"/>
              </a:xfrm>
              <a:custGeom>
                <a:avLst/>
                <a:gdLst>
                  <a:gd name="T0" fmla="*/ 105 w 163"/>
                  <a:gd name="T1" fmla="*/ 1 h 125"/>
                  <a:gd name="T2" fmla="*/ 113 w 163"/>
                  <a:gd name="T3" fmla="*/ 2 h 125"/>
                  <a:gd name="T4" fmla="*/ 116 w 163"/>
                  <a:gd name="T5" fmla="*/ 4 h 125"/>
                  <a:gd name="T6" fmla="*/ 126 w 163"/>
                  <a:gd name="T7" fmla="*/ 5 h 125"/>
                  <a:gd name="T8" fmla="*/ 131 w 163"/>
                  <a:gd name="T9" fmla="*/ 21 h 125"/>
                  <a:gd name="T10" fmla="*/ 138 w 163"/>
                  <a:gd name="T11" fmla="*/ 36 h 125"/>
                  <a:gd name="T12" fmla="*/ 145 w 163"/>
                  <a:gd name="T13" fmla="*/ 40 h 125"/>
                  <a:gd name="T14" fmla="*/ 138 w 163"/>
                  <a:gd name="T15" fmla="*/ 57 h 125"/>
                  <a:gd name="T16" fmla="*/ 135 w 163"/>
                  <a:gd name="T17" fmla="*/ 59 h 125"/>
                  <a:gd name="T18" fmla="*/ 134 w 163"/>
                  <a:gd name="T19" fmla="*/ 64 h 125"/>
                  <a:gd name="T20" fmla="*/ 134 w 163"/>
                  <a:gd name="T21" fmla="*/ 64 h 125"/>
                  <a:gd name="T22" fmla="*/ 148 w 163"/>
                  <a:gd name="T23" fmla="*/ 59 h 125"/>
                  <a:gd name="T24" fmla="*/ 156 w 163"/>
                  <a:gd name="T25" fmla="*/ 60 h 125"/>
                  <a:gd name="T26" fmla="*/ 160 w 163"/>
                  <a:gd name="T27" fmla="*/ 77 h 125"/>
                  <a:gd name="T28" fmla="*/ 161 w 163"/>
                  <a:gd name="T29" fmla="*/ 83 h 125"/>
                  <a:gd name="T30" fmla="*/ 160 w 163"/>
                  <a:gd name="T31" fmla="*/ 93 h 125"/>
                  <a:gd name="T32" fmla="*/ 157 w 163"/>
                  <a:gd name="T33" fmla="*/ 97 h 125"/>
                  <a:gd name="T34" fmla="*/ 149 w 163"/>
                  <a:gd name="T35" fmla="*/ 105 h 125"/>
                  <a:gd name="T36" fmla="*/ 137 w 163"/>
                  <a:gd name="T37" fmla="*/ 105 h 125"/>
                  <a:gd name="T38" fmla="*/ 136 w 163"/>
                  <a:gd name="T39" fmla="*/ 111 h 125"/>
                  <a:gd name="T40" fmla="*/ 123 w 163"/>
                  <a:gd name="T41" fmla="*/ 124 h 125"/>
                  <a:gd name="T42" fmla="*/ 119 w 163"/>
                  <a:gd name="T43" fmla="*/ 120 h 125"/>
                  <a:gd name="T44" fmla="*/ 103 w 163"/>
                  <a:gd name="T45" fmla="*/ 120 h 125"/>
                  <a:gd name="T46" fmla="*/ 99 w 163"/>
                  <a:gd name="T47" fmla="*/ 120 h 125"/>
                  <a:gd name="T48" fmla="*/ 87 w 163"/>
                  <a:gd name="T49" fmla="*/ 114 h 125"/>
                  <a:gd name="T50" fmla="*/ 86 w 163"/>
                  <a:gd name="T51" fmla="*/ 106 h 125"/>
                  <a:gd name="T52" fmla="*/ 79 w 163"/>
                  <a:gd name="T53" fmla="*/ 105 h 125"/>
                  <a:gd name="T54" fmla="*/ 76 w 163"/>
                  <a:gd name="T55" fmla="*/ 92 h 125"/>
                  <a:gd name="T56" fmla="*/ 62 w 163"/>
                  <a:gd name="T57" fmla="*/ 90 h 125"/>
                  <a:gd name="T58" fmla="*/ 60 w 163"/>
                  <a:gd name="T59" fmla="*/ 100 h 125"/>
                  <a:gd name="T60" fmla="*/ 53 w 163"/>
                  <a:gd name="T61" fmla="*/ 106 h 125"/>
                  <a:gd name="T62" fmla="*/ 49 w 163"/>
                  <a:gd name="T63" fmla="*/ 114 h 125"/>
                  <a:gd name="T64" fmla="*/ 41 w 163"/>
                  <a:gd name="T65" fmla="*/ 111 h 125"/>
                  <a:gd name="T66" fmla="*/ 25 w 163"/>
                  <a:gd name="T67" fmla="*/ 104 h 125"/>
                  <a:gd name="T68" fmla="*/ 15 w 163"/>
                  <a:gd name="T69" fmla="*/ 96 h 125"/>
                  <a:gd name="T70" fmla="*/ 13 w 163"/>
                  <a:gd name="T71" fmla="*/ 93 h 125"/>
                  <a:gd name="T72" fmla="*/ 9 w 163"/>
                  <a:gd name="T73" fmla="*/ 88 h 125"/>
                  <a:gd name="T74" fmla="*/ 1 w 163"/>
                  <a:gd name="T75" fmla="*/ 79 h 125"/>
                  <a:gd name="T76" fmla="*/ 0 w 163"/>
                  <a:gd name="T77" fmla="*/ 74 h 125"/>
                  <a:gd name="T78" fmla="*/ 12 w 163"/>
                  <a:gd name="T79" fmla="*/ 67 h 125"/>
                  <a:gd name="T80" fmla="*/ 21 w 163"/>
                  <a:gd name="T81" fmla="*/ 64 h 125"/>
                  <a:gd name="T82" fmla="*/ 22 w 163"/>
                  <a:gd name="T83" fmla="*/ 60 h 125"/>
                  <a:gd name="T84" fmla="*/ 15 w 163"/>
                  <a:gd name="T85" fmla="*/ 55 h 125"/>
                  <a:gd name="T86" fmla="*/ 22 w 163"/>
                  <a:gd name="T87" fmla="*/ 48 h 125"/>
                  <a:gd name="T88" fmla="*/ 33 w 163"/>
                  <a:gd name="T89" fmla="*/ 47 h 125"/>
                  <a:gd name="T90" fmla="*/ 37 w 163"/>
                  <a:gd name="T91" fmla="*/ 46 h 125"/>
                  <a:gd name="T92" fmla="*/ 37 w 163"/>
                  <a:gd name="T93" fmla="*/ 42 h 125"/>
                  <a:gd name="T94" fmla="*/ 43 w 163"/>
                  <a:gd name="T95" fmla="*/ 29 h 125"/>
                  <a:gd name="T96" fmla="*/ 46 w 163"/>
                  <a:gd name="T97" fmla="*/ 23 h 125"/>
                  <a:gd name="T98" fmla="*/ 57 w 163"/>
                  <a:gd name="T99" fmla="*/ 16 h 125"/>
                  <a:gd name="T100" fmla="*/ 57 w 163"/>
                  <a:gd name="T101" fmla="*/ 18 h 125"/>
                  <a:gd name="T102" fmla="*/ 62 w 163"/>
                  <a:gd name="T103" fmla="*/ 17 h 125"/>
                  <a:gd name="T104" fmla="*/ 70 w 163"/>
                  <a:gd name="T105" fmla="*/ 16 h 125"/>
                  <a:gd name="T106" fmla="*/ 72 w 163"/>
                  <a:gd name="T107" fmla="*/ 10 h 125"/>
                  <a:gd name="T108" fmla="*/ 74 w 163"/>
                  <a:gd name="T109" fmla="*/ 5 h 125"/>
                  <a:gd name="T110" fmla="*/ 83 w 163"/>
                  <a:gd name="T111" fmla="*/ 7 h 125"/>
                  <a:gd name="T112" fmla="*/ 87 w 163"/>
                  <a:gd name="T113" fmla="*/ 5 h 125"/>
                  <a:gd name="T114" fmla="*/ 92 w 163"/>
                  <a:gd name="T115" fmla="*/ 3 h 125"/>
                  <a:gd name="T116" fmla="*/ 96 w 163"/>
                  <a:gd name="T117" fmla="*/ 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3" h="125">
                    <a:moveTo>
                      <a:pt x="101" y="0"/>
                    </a:moveTo>
                    <a:cubicBezTo>
                      <a:pt x="102" y="0"/>
                      <a:pt x="104" y="1"/>
                      <a:pt x="105" y="1"/>
                    </a:cubicBezTo>
                    <a:cubicBezTo>
                      <a:pt x="106" y="1"/>
                      <a:pt x="106" y="1"/>
                      <a:pt x="107" y="1"/>
                    </a:cubicBezTo>
                    <a:cubicBezTo>
                      <a:pt x="108" y="0"/>
                      <a:pt x="112" y="1"/>
                      <a:pt x="113" y="2"/>
                    </a:cubicBezTo>
                    <a:cubicBezTo>
                      <a:pt x="113" y="2"/>
                      <a:pt x="113" y="3"/>
                      <a:pt x="113" y="3"/>
                    </a:cubicBezTo>
                    <a:cubicBezTo>
                      <a:pt x="113" y="3"/>
                      <a:pt x="115" y="4"/>
                      <a:pt x="116" y="4"/>
                    </a:cubicBezTo>
                    <a:cubicBezTo>
                      <a:pt x="117" y="4"/>
                      <a:pt x="118" y="3"/>
                      <a:pt x="118" y="3"/>
                    </a:cubicBezTo>
                    <a:cubicBezTo>
                      <a:pt x="122" y="2"/>
                      <a:pt x="125" y="4"/>
                      <a:pt x="126" y="5"/>
                    </a:cubicBezTo>
                    <a:cubicBezTo>
                      <a:pt x="129" y="9"/>
                      <a:pt x="127" y="15"/>
                      <a:pt x="126" y="19"/>
                    </a:cubicBezTo>
                    <a:cubicBezTo>
                      <a:pt x="128" y="19"/>
                      <a:pt x="130" y="19"/>
                      <a:pt x="131" y="21"/>
                    </a:cubicBezTo>
                    <a:cubicBezTo>
                      <a:pt x="132" y="22"/>
                      <a:pt x="131" y="25"/>
                      <a:pt x="131" y="27"/>
                    </a:cubicBezTo>
                    <a:cubicBezTo>
                      <a:pt x="134" y="29"/>
                      <a:pt x="136" y="33"/>
                      <a:pt x="138" y="36"/>
                    </a:cubicBezTo>
                    <a:cubicBezTo>
                      <a:pt x="140" y="37"/>
                      <a:pt x="139" y="40"/>
                      <a:pt x="142" y="40"/>
                    </a:cubicBezTo>
                    <a:cubicBezTo>
                      <a:pt x="142" y="40"/>
                      <a:pt x="143" y="40"/>
                      <a:pt x="145" y="40"/>
                    </a:cubicBezTo>
                    <a:cubicBezTo>
                      <a:pt x="146" y="43"/>
                      <a:pt x="150" y="48"/>
                      <a:pt x="147" y="52"/>
                    </a:cubicBezTo>
                    <a:cubicBezTo>
                      <a:pt x="144" y="55"/>
                      <a:pt x="141" y="55"/>
                      <a:pt x="138" y="57"/>
                    </a:cubicBezTo>
                    <a:cubicBezTo>
                      <a:pt x="137" y="57"/>
                      <a:pt x="137" y="59"/>
                      <a:pt x="137" y="59"/>
                    </a:cubicBezTo>
                    <a:cubicBezTo>
                      <a:pt x="136" y="59"/>
                      <a:pt x="136" y="59"/>
                      <a:pt x="135" y="59"/>
                    </a:cubicBezTo>
                    <a:cubicBezTo>
                      <a:pt x="135" y="60"/>
                      <a:pt x="136" y="60"/>
                      <a:pt x="136" y="61"/>
                    </a:cubicBezTo>
                    <a:cubicBezTo>
                      <a:pt x="135" y="62"/>
                      <a:pt x="134" y="61"/>
                      <a:pt x="134" y="64"/>
                    </a:cubicBezTo>
                    <a:cubicBezTo>
                      <a:pt x="134" y="64"/>
                      <a:pt x="134" y="64"/>
                      <a:pt x="134" y="64"/>
                    </a:cubicBezTo>
                    <a:cubicBezTo>
                      <a:pt x="134" y="64"/>
                      <a:pt x="134" y="64"/>
                      <a:pt x="134" y="64"/>
                    </a:cubicBezTo>
                    <a:cubicBezTo>
                      <a:pt x="136" y="63"/>
                      <a:pt x="138" y="60"/>
                      <a:pt x="140" y="59"/>
                    </a:cubicBezTo>
                    <a:cubicBezTo>
                      <a:pt x="142" y="58"/>
                      <a:pt x="145" y="60"/>
                      <a:pt x="148" y="59"/>
                    </a:cubicBezTo>
                    <a:cubicBezTo>
                      <a:pt x="149" y="59"/>
                      <a:pt x="150" y="58"/>
                      <a:pt x="152" y="58"/>
                    </a:cubicBezTo>
                    <a:cubicBezTo>
                      <a:pt x="153" y="59"/>
                      <a:pt x="155" y="59"/>
                      <a:pt x="156" y="60"/>
                    </a:cubicBezTo>
                    <a:cubicBezTo>
                      <a:pt x="158" y="63"/>
                      <a:pt x="157" y="68"/>
                      <a:pt x="158" y="71"/>
                    </a:cubicBezTo>
                    <a:cubicBezTo>
                      <a:pt x="159" y="72"/>
                      <a:pt x="159" y="76"/>
                      <a:pt x="160" y="77"/>
                    </a:cubicBezTo>
                    <a:cubicBezTo>
                      <a:pt x="161" y="78"/>
                      <a:pt x="162" y="78"/>
                      <a:pt x="162" y="78"/>
                    </a:cubicBezTo>
                    <a:cubicBezTo>
                      <a:pt x="163" y="80"/>
                      <a:pt x="161" y="82"/>
                      <a:pt x="161" y="83"/>
                    </a:cubicBezTo>
                    <a:cubicBezTo>
                      <a:pt x="161" y="85"/>
                      <a:pt x="162" y="88"/>
                      <a:pt x="161" y="89"/>
                    </a:cubicBezTo>
                    <a:cubicBezTo>
                      <a:pt x="161" y="90"/>
                      <a:pt x="160" y="92"/>
                      <a:pt x="160" y="93"/>
                    </a:cubicBezTo>
                    <a:cubicBezTo>
                      <a:pt x="159" y="94"/>
                      <a:pt x="158" y="94"/>
                      <a:pt x="157" y="94"/>
                    </a:cubicBezTo>
                    <a:cubicBezTo>
                      <a:pt x="157" y="95"/>
                      <a:pt x="157" y="96"/>
                      <a:pt x="157" y="97"/>
                    </a:cubicBezTo>
                    <a:cubicBezTo>
                      <a:pt x="157" y="98"/>
                      <a:pt x="156" y="99"/>
                      <a:pt x="156" y="100"/>
                    </a:cubicBezTo>
                    <a:cubicBezTo>
                      <a:pt x="154" y="101"/>
                      <a:pt x="151" y="104"/>
                      <a:pt x="149" y="105"/>
                    </a:cubicBezTo>
                    <a:cubicBezTo>
                      <a:pt x="147" y="105"/>
                      <a:pt x="144" y="104"/>
                      <a:pt x="143" y="104"/>
                    </a:cubicBezTo>
                    <a:cubicBezTo>
                      <a:pt x="140" y="103"/>
                      <a:pt x="138" y="104"/>
                      <a:pt x="137" y="105"/>
                    </a:cubicBezTo>
                    <a:cubicBezTo>
                      <a:pt x="136" y="106"/>
                      <a:pt x="135" y="106"/>
                      <a:pt x="136" y="108"/>
                    </a:cubicBezTo>
                    <a:cubicBezTo>
                      <a:pt x="136" y="109"/>
                      <a:pt x="136" y="110"/>
                      <a:pt x="136" y="111"/>
                    </a:cubicBezTo>
                    <a:cubicBezTo>
                      <a:pt x="136" y="113"/>
                      <a:pt x="135" y="116"/>
                      <a:pt x="134" y="117"/>
                    </a:cubicBezTo>
                    <a:cubicBezTo>
                      <a:pt x="133" y="119"/>
                      <a:pt x="126" y="124"/>
                      <a:pt x="123" y="124"/>
                    </a:cubicBezTo>
                    <a:cubicBezTo>
                      <a:pt x="122" y="123"/>
                      <a:pt x="121" y="124"/>
                      <a:pt x="120" y="123"/>
                    </a:cubicBezTo>
                    <a:cubicBezTo>
                      <a:pt x="120" y="122"/>
                      <a:pt x="119" y="121"/>
                      <a:pt x="119" y="120"/>
                    </a:cubicBezTo>
                    <a:cubicBezTo>
                      <a:pt x="116" y="118"/>
                      <a:pt x="113" y="116"/>
                      <a:pt x="108" y="116"/>
                    </a:cubicBezTo>
                    <a:cubicBezTo>
                      <a:pt x="107" y="117"/>
                      <a:pt x="105" y="120"/>
                      <a:pt x="103" y="120"/>
                    </a:cubicBezTo>
                    <a:cubicBezTo>
                      <a:pt x="102" y="121"/>
                      <a:pt x="102" y="121"/>
                      <a:pt x="101" y="121"/>
                    </a:cubicBezTo>
                    <a:cubicBezTo>
                      <a:pt x="101" y="120"/>
                      <a:pt x="100" y="120"/>
                      <a:pt x="99" y="120"/>
                    </a:cubicBezTo>
                    <a:cubicBezTo>
                      <a:pt x="93" y="122"/>
                      <a:pt x="87" y="125"/>
                      <a:pt x="87" y="116"/>
                    </a:cubicBezTo>
                    <a:cubicBezTo>
                      <a:pt x="87" y="115"/>
                      <a:pt x="87" y="114"/>
                      <a:pt x="87" y="114"/>
                    </a:cubicBezTo>
                    <a:cubicBezTo>
                      <a:pt x="87" y="112"/>
                      <a:pt x="89" y="112"/>
                      <a:pt x="89" y="109"/>
                    </a:cubicBezTo>
                    <a:cubicBezTo>
                      <a:pt x="88" y="108"/>
                      <a:pt x="87" y="107"/>
                      <a:pt x="86" y="106"/>
                    </a:cubicBezTo>
                    <a:cubicBezTo>
                      <a:pt x="85" y="107"/>
                      <a:pt x="85" y="107"/>
                      <a:pt x="83" y="108"/>
                    </a:cubicBezTo>
                    <a:cubicBezTo>
                      <a:pt x="82" y="106"/>
                      <a:pt x="80" y="106"/>
                      <a:pt x="79" y="105"/>
                    </a:cubicBezTo>
                    <a:cubicBezTo>
                      <a:pt x="78" y="103"/>
                      <a:pt x="75" y="98"/>
                      <a:pt x="75" y="96"/>
                    </a:cubicBezTo>
                    <a:cubicBezTo>
                      <a:pt x="76" y="94"/>
                      <a:pt x="75" y="93"/>
                      <a:pt x="76" y="92"/>
                    </a:cubicBezTo>
                    <a:cubicBezTo>
                      <a:pt x="72" y="89"/>
                      <a:pt x="71" y="85"/>
                      <a:pt x="66" y="84"/>
                    </a:cubicBezTo>
                    <a:cubicBezTo>
                      <a:pt x="66" y="85"/>
                      <a:pt x="63" y="89"/>
                      <a:pt x="62" y="90"/>
                    </a:cubicBezTo>
                    <a:cubicBezTo>
                      <a:pt x="60" y="92"/>
                      <a:pt x="58" y="91"/>
                      <a:pt x="58" y="95"/>
                    </a:cubicBezTo>
                    <a:cubicBezTo>
                      <a:pt x="59" y="96"/>
                      <a:pt x="60" y="98"/>
                      <a:pt x="60" y="100"/>
                    </a:cubicBezTo>
                    <a:cubicBezTo>
                      <a:pt x="60" y="101"/>
                      <a:pt x="60" y="101"/>
                      <a:pt x="60" y="102"/>
                    </a:cubicBezTo>
                    <a:cubicBezTo>
                      <a:pt x="58" y="103"/>
                      <a:pt x="54" y="104"/>
                      <a:pt x="53" y="106"/>
                    </a:cubicBezTo>
                    <a:cubicBezTo>
                      <a:pt x="54" y="107"/>
                      <a:pt x="54" y="108"/>
                      <a:pt x="53" y="109"/>
                    </a:cubicBezTo>
                    <a:cubicBezTo>
                      <a:pt x="53" y="111"/>
                      <a:pt x="50" y="112"/>
                      <a:pt x="49" y="114"/>
                    </a:cubicBezTo>
                    <a:cubicBezTo>
                      <a:pt x="48" y="114"/>
                      <a:pt x="45" y="113"/>
                      <a:pt x="44" y="113"/>
                    </a:cubicBezTo>
                    <a:cubicBezTo>
                      <a:pt x="42" y="112"/>
                      <a:pt x="43" y="111"/>
                      <a:pt x="41" y="111"/>
                    </a:cubicBezTo>
                    <a:cubicBezTo>
                      <a:pt x="38" y="113"/>
                      <a:pt x="31" y="111"/>
                      <a:pt x="30" y="109"/>
                    </a:cubicBezTo>
                    <a:cubicBezTo>
                      <a:pt x="28" y="106"/>
                      <a:pt x="29" y="104"/>
                      <a:pt x="25" y="104"/>
                    </a:cubicBezTo>
                    <a:cubicBezTo>
                      <a:pt x="23" y="103"/>
                      <a:pt x="19" y="103"/>
                      <a:pt x="18" y="103"/>
                    </a:cubicBezTo>
                    <a:cubicBezTo>
                      <a:pt x="17" y="101"/>
                      <a:pt x="16" y="96"/>
                      <a:pt x="15" y="96"/>
                    </a:cubicBezTo>
                    <a:cubicBezTo>
                      <a:pt x="15" y="95"/>
                      <a:pt x="15" y="96"/>
                      <a:pt x="14" y="95"/>
                    </a:cubicBezTo>
                    <a:cubicBezTo>
                      <a:pt x="13" y="95"/>
                      <a:pt x="13" y="94"/>
                      <a:pt x="13" y="93"/>
                    </a:cubicBezTo>
                    <a:cubicBezTo>
                      <a:pt x="12" y="92"/>
                      <a:pt x="11" y="92"/>
                      <a:pt x="10" y="91"/>
                    </a:cubicBezTo>
                    <a:cubicBezTo>
                      <a:pt x="10" y="90"/>
                      <a:pt x="10" y="89"/>
                      <a:pt x="9" y="88"/>
                    </a:cubicBezTo>
                    <a:cubicBezTo>
                      <a:pt x="9" y="87"/>
                      <a:pt x="8" y="87"/>
                      <a:pt x="6" y="86"/>
                    </a:cubicBezTo>
                    <a:cubicBezTo>
                      <a:pt x="4" y="85"/>
                      <a:pt x="3" y="81"/>
                      <a:pt x="1" y="79"/>
                    </a:cubicBezTo>
                    <a:cubicBezTo>
                      <a:pt x="1" y="79"/>
                      <a:pt x="0" y="78"/>
                      <a:pt x="0" y="78"/>
                    </a:cubicBezTo>
                    <a:cubicBezTo>
                      <a:pt x="0" y="77"/>
                      <a:pt x="0" y="76"/>
                      <a:pt x="0" y="74"/>
                    </a:cubicBezTo>
                    <a:cubicBezTo>
                      <a:pt x="2" y="73"/>
                      <a:pt x="4" y="73"/>
                      <a:pt x="6" y="72"/>
                    </a:cubicBezTo>
                    <a:cubicBezTo>
                      <a:pt x="8" y="69"/>
                      <a:pt x="8" y="66"/>
                      <a:pt x="12" y="67"/>
                    </a:cubicBezTo>
                    <a:cubicBezTo>
                      <a:pt x="14" y="68"/>
                      <a:pt x="16" y="67"/>
                      <a:pt x="19" y="68"/>
                    </a:cubicBezTo>
                    <a:cubicBezTo>
                      <a:pt x="19" y="67"/>
                      <a:pt x="20" y="65"/>
                      <a:pt x="21" y="64"/>
                    </a:cubicBezTo>
                    <a:cubicBezTo>
                      <a:pt x="23" y="63"/>
                      <a:pt x="24" y="63"/>
                      <a:pt x="25" y="62"/>
                    </a:cubicBezTo>
                    <a:cubicBezTo>
                      <a:pt x="24" y="61"/>
                      <a:pt x="23" y="60"/>
                      <a:pt x="22" y="60"/>
                    </a:cubicBezTo>
                    <a:cubicBezTo>
                      <a:pt x="22" y="60"/>
                      <a:pt x="21" y="60"/>
                      <a:pt x="20" y="60"/>
                    </a:cubicBezTo>
                    <a:cubicBezTo>
                      <a:pt x="18" y="59"/>
                      <a:pt x="16" y="56"/>
                      <a:pt x="15" y="55"/>
                    </a:cubicBezTo>
                    <a:cubicBezTo>
                      <a:pt x="15" y="54"/>
                      <a:pt x="15" y="52"/>
                      <a:pt x="16" y="51"/>
                    </a:cubicBezTo>
                    <a:cubicBezTo>
                      <a:pt x="18" y="50"/>
                      <a:pt x="19" y="48"/>
                      <a:pt x="22" y="48"/>
                    </a:cubicBezTo>
                    <a:cubicBezTo>
                      <a:pt x="23" y="49"/>
                      <a:pt x="24" y="50"/>
                      <a:pt x="27" y="50"/>
                    </a:cubicBezTo>
                    <a:cubicBezTo>
                      <a:pt x="28" y="49"/>
                      <a:pt x="31" y="47"/>
                      <a:pt x="33" y="47"/>
                    </a:cubicBezTo>
                    <a:cubicBezTo>
                      <a:pt x="34" y="47"/>
                      <a:pt x="35" y="48"/>
                      <a:pt x="36" y="48"/>
                    </a:cubicBezTo>
                    <a:cubicBezTo>
                      <a:pt x="37" y="47"/>
                      <a:pt x="37" y="47"/>
                      <a:pt x="37" y="46"/>
                    </a:cubicBezTo>
                    <a:cubicBezTo>
                      <a:pt x="36" y="45"/>
                      <a:pt x="37" y="45"/>
                      <a:pt x="37" y="44"/>
                    </a:cubicBezTo>
                    <a:cubicBezTo>
                      <a:pt x="37" y="44"/>
                      <a:pt x="37" y="43"/>
                      <a:pt x="37" y="42"/>
                    </a:cubicBezTo>
                    <a:cubicBezTo>
                      <a:pt x="39" y="41"/>
                      <a:pt x="42" y="39"/>
                      <a:pt x="43" y="36"/>
                    </a:cubicBezTo>
                    <a:cubicBezTo>
                      <a:pt x="43" y="33"/>
                      <a:pt x="43" y="31"/>
                      <a:pt x="43" y="29"/>
                    </a:cubicBezTo>
                    <a:cubicBezTo>
                      <a:pt x="43" y="28"/>
                      <a:pt x="45" y="28"/>
                      <a:pt x="45" y="27"/>
                    </a:cubicBezTo>
                    <a:cubicBezTo>
                      <a:pt x="46" y="26"/>
                      <a:pt x="46" y="24"/>
                      <a:pt x="46" y="23"/>
                    </a:cubicBezTo>
                    <a:cubicBezTo>
                      <a:pt x="47" y="18"/>
                      <a:pt x="52" y="16"/>
                      <a:pt x="57" y="16"/>
                    </a:cubicBezTo>
                    <a:cubicBezTo>
                      <a:pt x="57" y="16"/>
                      <a:pt x="57" y="16"/>
                      <a:pt x="57" y="16"/>
                    </a:cubicBezTo>
                    <a:cubicBezTo>
                      <a:pt x="57" y="16"/>
                      <a:pt x="58" y="16"/>
                      <a:pt x="58" y="16"/>
                    </a:cubicBezTo>
                    <a:cubicBezTo>
                      <a:pt x="57" y="17"/>
                      <a:pt x="57" y="17"/>
                      <a:pt x="57" y="18"/>
                    </a:cubicBezTo>
                    <a:cubicBezTo>
                      <a:pt x="57" y="18"/>
                      <a:pt x="57" y="18"/>
                      <a:pt x="58" y="18"/>
                    </a:cubicBezTo>
                    <a:cubicBezTo>
                      <a:pt x="59" y="17"/>
                      <a:pt x="61" y="19"/>
                      <a:pt x="62" y="17"/>
                    </a:cubicBezTo>
                    <a:cubicBezTo>
                      <a:pt x="64" y="19"/>
                      <a:pt x="64" y="19"/>
                      <a:pt x="68" y="19"/>
                    </a:cubicBezTo>
                    <a:cubicBezTo>
                      <a:pt x="69" y="18"/>
                      <a:pt x="69" y="18"/>
                      <a:pt x="70" y="16"/>
                    </a:cubicBezTo>
                    <a:cubicBezTo>
                      <a:pt x="69" y="14"/>
                      <a:pt x="72" y="13"/>
                      <a:pt x="72" y="12"/>
                    </a:cubicBezTo>
                    <a:cubicBezTo>
                      <a:pt x="72" y="12"/>
                      <a:pt x="72" y="11"/>
                      <a:pt x="72" y="10"/>
                    </a:cubicBezTo>
                    <a:cubicBezTo>
                      <a:pt x="72" y="10"/>
                      <a:pt x="73" y="9"/>
                      <a:pt x="73" y="8"/>
                    </a:cubicBezTo>
                    <a:cubicBezTo>
                      <a:pt x="74" y="6"/>
                      <a:pt x="72" y="6"/>
                      <a:pt x="74" y="5"/>
                    </a:cubicBezTo>
                    <a:cubicBezTo>
                      <a:pt x="74" y="5"/>
                      <a:pt x="74" y="5"/>
                      <a:pt x="75" y="4"/>
                    </a:cubicBezTo>
                    <a:cubicBezTo>
                      <a:pt x="76" y="7"/>
                      <a:pt x="79" y="7"/>
                      <a:pt x="83" y="7"/>
                    </a:cubicBezTo>
                    <a:cubicBezTo>
                      <a:pt x="84" y="7"/>
                      <a:pt x="85" y="7"/>
                      <a:pt x="86" y="7"/>
                    </a:cubicBezTo>
                    <a:cubicBezTo>
                      <a:pt x="86" y="7"/>
                      <a:pt x="87" y="5"/>
                      <a:pt x="87" y="5"/>
                    </a:cubicBezTo>
                    <a:cubicBezTo>
                      <a:pt x="89" y="5"/>
                      <a:pt x="90" y="4"/>
                      <a:pt x="91" y="4"/>
                    </a:cubicBezTo>
                    <a:cubicBezTo>
                      <a:pt x="92" y="3"/>
                      <a:pt x="92" y="3"/>
                      <a:pt x="92" y="3"/>
                    </a:cubicBezTo>
                    <a:cubicBezTo>
                      <a:pt x="93" y="3"/>
                      <a:pt x="93" y="3"/>
                      <a:pt x="94" y="2"/>
                    </a:cubicBezTo>
                    <a:cubicBezTo>
                      <a:pt x="95" y="2"/>
                      <a:pt x="95" y="1"/>
                      <a:pt x="96" y="1"/>
                    </a:cubicBezTo>
                    <a:cubicBezTo>
                      <a:pt x="97" y="0"/>
                      <a:pt x="99" y="1"/>
                      <a:pt x="10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4" name="Freeform 51">
                <a:extLst>
                  <a:ext uri="{FF2B5EF4-FFF2-40B4-BE49-F238E27FC236}">
                    <a16:creationId xmlns:a16="http://schemas.microsoft.com/office/drawing/2014/main" id="{C2B791B5-AEF6-12FB-C958-52C990A3B1B0}"/>
                  </a:ext>
                </a:extLst>
              </p:cNvPr>
              <p:cNvSpPr>
                <a:spLocks/>
              </p:cNvSpPr>
              <p:nvPr/>
            </p:nvSpPr>
            <p:spPr bwMode="auto">
              <a:xfrm>
                <a:off x="-1325563" y="55006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5" name="Freeform 52">
                <a:extLst>
                  <a:ext uri="{FF2B5EF4-FFF2-40B4-BE49-F238E27FC236}">
                    <a16:creationId xmlns:a16="http://schemas.microsoft.com/office/drawing/2014/main" id="{36BBB30E-C927-61AD-278A-70C89ED2EE9C}"/>
                  </a:ext>
                </a:extLst>
              </p:cNvPr>
              <p:cNvSpPr>
                <a:spLocks/>
              </p:cNvSpPr>
              <p:nvPr/>
            </p:nvSpPr>
            <p:spPr bwMode="auto">
              <a:xfrm>
                <a:off x="-1295400" y="5514976"/>
                <a:ext cx="52388" cy="87313"/>
              </a:xfrm>
              <a:custGeom>
                <a:avLst/>
                <a:gdLst>
                  <a:gd name="T0" fmla="*/ 1 w 14"/>
                  <a:gd name="T1" fmla="*/ 0 h 23"/>
                  <a:gd name="T2" fmla="*/ 0 w 14"/>
                  <a:gd name="T3" fmla="*/ 1 h 23"/>
                  <a:gd name="T4" fmla="*/ 8 w 14"/>
                  <a:gd name="T5" fmla="*/ 10 h 23"/>
                  <a:gd name="T6" fmla="*/ 8 w 14"/>
                  <a:gd name="T7" fmla="*/ 16 h 23"/>
                  <a:gd name="T8" fmla="*/ 6 w 14"/>
                  <a:gd name="T9" fmla="*/ 21 h 23"/>
                  <a:gd name="T10" fmla="*/ 7 w 14"/>
                  <a:gd name="T11" fmla="*/ 21 h 23"/>
                  <a:gd name="T12" fmla="*/ 10 w 14"/>
                  <a:gd name="T13" fmla="*/ 20 h 23"/>
                  <a:gd name="T14" fmla="*/ 13 w 14"/>
                  <a:gd name="T15" fmla="*/ 23 h 23"/>
                  <a:gd name="T16" fmla="*/ 13 w 14"/>
                  <a:gd name="T17" fmla="*/ 23 h 23"/>
                  <a:gd name="T18" fmla="*/ 13 w 14"/>
                  <a:gd name="T19" fmla="*/ 23 h 23"/>
                  <a:gd name="T20" fmla="*/ 13 w 14"/>
                  <a:gd name="T21" fmla="*/ 23 h 23"/>
                  <a:gd name="T22" fmla="*/ 12 w 14"/>
                  <a:gd name="T23" fmla="*/ 19 h 23"/>
                  <a:gd name="T24" fmla="*/ 12 w 14"/>
                  <a:gd name="T25" fmla="*/ 15 h 23"/>
                  <a:gd name="T26" fmla="*/ 12 w 14"/>
                  <a:gd name="T27" fmla="*/ 6 h 23"/>
                  <a:gd name="T28" fmla="*/ 1 w 14"/>
                  <a:gd name="T2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3">
                    <a:moveTo>
                      <a:pt x="1" y="0"/>
                    </a:moveTo>
                    <a:cubicBezTo>
                      <a:pt x="0" y="0"/>
                      <a:pt x="0" y="0"/>
                      <a:pt x="0" y="1"/>
                    </a:cubicBezTo>
                    <a:cubicBezTo>
                      <a:pt x="1" y="2"/>
                      <a:pt x="8" y="9"/>
                      <a:pt x="8" y="10"/>
                    </a:cubicBezTo>
                    <a:cubicBezTo>
                      <a:pt x="8" y="12"/>
                      <a:pt x="8" y="14"/>
                      <a:pt x="8" y="16"/>
                    </a:cubicBezTo>
                    <a:cubicBezTo>
                      <a:pt x="7" y="17"/>
                      <a:pt x="6" y="19"/>
                      <a:pt x="6" y="21"/>
                    </a:cubicBezTo>
                    <a:cubicBezTo>
                      <a:pt x="6" y="21"/>
                      <a:pt x="6" y="21"/>
                      <a:pt x="7" y="21"/>
                    </a:cubicBezTo>
                    <a:cubicBezTo>
                      <a:pt x="7" y="21"/>
                      <a:pt x="9" y="20"/>
                      <a:pt x="10" y="20"/>
                    </a:cubicBezTo>
                    <a:cubicBezTo>
                      <a:pt x="11" y="21"/>
                      <a:pt x="12" y="22"/>
                      <a:pt x="13" y="23"/>
                    </a:cubicBezTo>
                    <a:cubicBezTo>
                      <a:pt x="13" y="23"/>
                      <a:pt x="13" y="23"/>
                      <a:pt x="13" y="23"/>
                    </a:cubicBezTo>
                    <a:cubicBezTo>
                      <a:pt x="13" y="23"/>
                      <a:pt x="13" y="23"/>
                      <a:pt x="13" y="23"/>
                    </a:cubicBezTo>
                    <a:cubicBezTo>
                      <a:pt x="14" y="23"/>
                      <a:pt x="14" y="23"/>
                      <a:pt x="13" y="23"/>
                    </a:cubicBezTo>
                    <a:cubicBezTo>
                      <a:pt x="13" y="21"/>
                      <a:pt x="12" y="20"/>
                      <a:pt x="12" y="19"/>
                    </a:cubicBezTo>
                    <a:cubicBezTo>
                      <a:pt x="11" y="18"/>
                      <a:pt x="12" y="16"/>
                      <a:pt x="12" y="15"/>
                    </a:cubicBezTo>
                    <a:cubicBezTo>
                      <a:pt x="12" y="12"/>
                      <a:pt x="12" y="9"/>
                      <a:pt x="12" y="6"/>
                    </a:cubicBezTo>
                    <a:cubicBezTo>
                      <a:pt x="8" y="3"/>
                      <a:pt x="7" y="0"/>
                      <a:pt x="1"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6" name="Freeform 53">
                <a:extLst>
                  <a:ext uri="{FF2B5EF4-FFF2-40B4-BE49-F238E27FC236}">
                    <a16:creationId xmlns:a16="http://schemas.microsoft.com/office/drawing/2014/main" id="{3F93DF44-E90E-6781-D1EF-894D6EDF3E61}"/>
                  </a:ext>
                </a:extLst>
              </p:cNvPr>
              <p:cNvSpPr>
                <a:spLocks/>
              </p:cNvSpPr>
              <p:nvPr/>
            </p:nvSpPr>
            <p:spPr bwMode="auto">
              <a:xfrm>
                <a:off x="276225" y="6550026"/>
                <a:ext cx="4763" cy="0"/>
              </a:xfrm>
              <a:custGeom>
                <a:avLst/>
                <a:gdLst>
                  <a:gd name="T0" fmla="*/ 0 w 1"/>
                  <a:gd name="T1" fmla="*/ 1 w 1"/>
                  <a:gd name="T2" fmla="*/ 1 w 1"/>
                  <a:gd name="T3" fmla="*/ 0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1" y="0"/>
                    </a:cubicBezTo>
                    <a:cubicBezTo>
                      <a:pt x="1" y="0"/>
                      <a:pt x="1" y="0"/>
                      <a:pt x="1" y="0"/>
                    </a:cubicBezTo>
                    <a:cubicBezTo>
                      <a:pt x="0" y="0"/>
                      <a:pt x="0" y="0"/>
                      <a:pt x="0" y="0"/>
                    </a:cubicBezTo>
                    <a:cubicBezTo>
                      <a:pt x="0" y="0"/>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sp>
            <p:nvSpPr>
              <p:cNvPr id="77" name="Freeform 54">
                <a:extLst>
                  <a:ext uri="{FF2B5EF4-FFF2-40B4-BE49-F238E27FC236}">
                    <a16:creationId xmlns:a16="http://schemas.microsoft.com/office/drawing/2014/main" id="{3E1C9A4E-E734-041D-D84F-A04E8D692814}"/>
                  </a:ext>
                </a:extLst>
              </p:cNvPr>
              <p:cNvSpPr>
                <a:spLocks/>
              </p:cNvSpPr>
              <p:nvPr/>
            </p:nvSpPr>
            <p:spPr bwMode="auto">
              <a:xfrm>
                <a:off x="-1204913" y="6599238"/>
                <a:ext cx="7938" cy="11113"/>
              </a:xfrm>
              <a:custGeom>
                <a:avLst/>
                <a:gdLst>
                  <a:gd name="T0" fmla="*/ 0 w 2"/>
                  <a:gd name="T1" fmla="*/ 0 h 3"/>
                  <a:gd name="T2" fmla="*/ 1 w 2"/>
                  <a:gd name="T3" fmla="*/ 0 h 3"/>
                  <a:gd name="T4" fmla="*/ 2 w 2"/>
                  <a:gd name="T5" fmla="*/ 2 h 3"/>
                  <a:gd name="T6" fmla="*/ 1 w 2"/>
                  <a:gd name="T7" fmla="*/ 3 h 3"/>
                  <a:gd name="T8" fmla="*/ 0 w 2"/>
                  <a:gd name="T9" fmla="*/ 1 h 3"/>
                  <a:gd name="T10" fmla="*/ 0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0" y="0"/>
                    </a:moveTo>
                    <a:cubicBezTo>
                      <a:pt x="0" y="0"/>
                      <a:pt x="1" y="0"/>
                      <a:pt x="1" y="0"/>
                    </a:cubicBezTo>
                    <a:cubicBezTo>
                      <a:pt x="2" y="1"/>
                      <a:pt x="2" y="1"/>
                      <a:pt x="2" y="2"/>
                    </a:cubicBezTo>
                    <a:cubicBezTo>
                      <a:pt x="2" y="2"/>
                      <a:pt x="1" y="3"/>
                      <a:pt x="1" y="3"/>
                    </a:cubicBezTo>
                    <a:cubicBezTo>
                      <a:pt x="0" y="2"/>
                      <a:pt x="0" y="2"/>
                      <a:pt x="0" y="1"/>
                    </a:cubicBezTo>
                    <a:cubicBezTo>
                      <a:pt x="0" y="1"/>
                      <a:pt x="0" y="0"/>
                      <a:pt x="0" y="0"/>
                    </a:cubicBezTo>
                    <a:close/>
                  </a:path>
                </a:pathLst>
              </a:custGeom>
              <a:grpFill/>
              <a:ln w="6350">
                <a:noFill/>
              </a:ln>
            </p:spPr>
            <p:txBody>
              <a:bodyPr vert="horz" wrap="square" lIns="91440" tIns="45720" rIns="91440" bIns="45720" numCol="1" anchor="t" anchorCtr="0" compatLnSpc="1">
                <a:prstTxWarp prst="textNoShape">
                  <a:avLst/>
                </a:prstTxWarp>
              </a:bodyPr>
              <a:lstStyle/>
              <a:p>
                <a:endParaRPr lang="en-GB"/>
              </a:p>
            </p:txBody>
          </p:sp>
        </p:grpSp>
        <p:sp>
          <p:nvSpPr>
            <p:cNvPr id="21" name="Oval 20">
              <a:extLst>
                <a:ext uri="{FF2B5EF4-FFF2-40B4-BE49-F238E27FC236}">
                  <a16:creationId xmlns:a16="http://schemas.microsoft.com/office/drawing/2014/main" id="{ADC9D073-501C-E039-36C3-9DBCC550F269}"/>
                </a:ext>
              </a:extLst>
            </p:cNvPr>
            <p:cNvSpPr/>
            <p:nvPr/>
          </p:nvSpPr>
          <p:spPr>
            <a:xfrm>
              <a:off x="8999541" y="3517123"/>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2" name="Oval 21">
              <a:extLst>
                <a:ext uri="{FF2B5EF4-FFF2-40B4-BE49-F238E27FC236}">
                  <a16:creationId xmlns:a16="http://schemas.microsoft.com/office/drawing/2014/main" id="{68BD2C02-4C42-2A41-FDE9-8702FDA4F75F}"/>
                </a:ext>
              </a:extLst>
            </p:cNvPr>
            <p:cNvSpPr/>
            <p:nvPr/>
          </p:nvSpPr>
          <p:spPr>
            <a:xfrm>
              <a:off x="7987629" y="3727055"/>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3" name="Oval 22">
              <a:extLst>
                <a:ext uri="{FF2B5EF4-FFF2-40B4-BE49-F238E27FC236}">
                  <a16:creationId xmlns:a16="http://schemas.microsoft.com/office/drawing/2014/main" id="{AD18A32B-8795-30A0-5992-7C588FDE543A}"/>
                </a:ext>
              </a:extLst>
            </p:cNvPr>
            <p:cNvSpPr/>
            <p:nvPr/>
          </p:nvSpPr>
          <p:spPr>
            <a:xfrm>
              <a:off x="8546474" y="4830598"/>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4" name="Oval 23">
              <a:extLst>
                <a:ext uri="{FF2B5EF4-FFF2-40B4-BE49-F238E27FC236}">
                  <a16:creationId xmlns:a16="http://schemas.microsoft.com/office/drawing/2014/main" id="{0162457E-B84F-DAD3-32EC-3009D62FA136}"/>
                </a:ext>
              </a:extLst>
            </p:cNvPr>
            <p:cNvSpPr/>
            <p:nvPr/>
          </p:nvSpPr>
          <p:spPr>
            <a:xfrm>
              <a:off x="9166350" y="3662815"/>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5" name="Oval 24">
              <a:extLst>
                <a:ext uri="{FF2B5EF4-FFF2-40B4-BE49-F238E27FC236}">
                  <a16:creationId xmlns:a16="http://schemas.microsoft.com/office/drawing/2014/main" id="{61190D88-70D1-0FC9-461B-418A61B2DDCE}"/>
                </a:ext>
              </a:extLst>
            </p:cNvPr>
            <p:cNvSpPr/>
            <p:nvPr/>
          </p:nvSpPr>
          <p:spPr>
            <a:xfrm>
              <a:off x="9543898" y="4616376"/>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26" name="Oval 25">
              <a:extLst>
                <a:ext uri="{FF2B5EF4-FFF2-40B4-BE49-F238E27FC236}">
                  <a16:creationId xmlns:a16="http://schemas.microsoft.com/office/drawing/2014/main" id="{035CC665-1E97-30F1-5C5E-2787BAB4900F}"/>
                </a:ext>
              </a:extLst>
            </p:cNvPr>
            <p:cNvSpPr/>
            <p:nvPr/>
          </p:nvSpPr>
          <p:spPr>
            <a:xfrm>
              <a:off x="9582210" y="4900150"/>
              <a:ext cx="118365" cy="1183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grpSp>
      <p:sp>
        <p:nvSpPr>
          <p:cNvPr id="80" name="Rectangle 79">
            <a:extLst>
              <a:ext uri="{FF2B5EF4-FFF2-40B4-BE49-F238E27FC236}">
                <a16:creationId xmlns:a16="http://schemas.microsoft.com/office/drawing/2014/main" id="{9C98EA8B-D9F2-100F-E24E-06E6142F6397}"/>
              </a:ext>
            </a:extLst>
          </p:cNvPr>
          <p:cNvSpPr/>
          <p:nvPr/>
        </p:nvSpPr>
        <p:spPr bwMode="white">
          <a:xfrm>
            <a:off x="6477657" y="3603625"/>
            <a:ext cx="1000940" cy="5170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spcAft>
                <a:spcPts val="300"/>
              </a:spcAft>
            </a:pPr>
            <a:r>
              <a:rPr lang="en-US" sz="2400" dirty="0">
                <a:solidFill>
                  <a:schemeClr val="bg1"/>
                </a:solidFill>
                <a:latin typeface="+mj-lt"/>
              </a:rPr>
              <a:t>Base of operation</a:t>
            </a:r>
          </a:p>
        </p:txBody>
      </p:sp>
      <p:cxnSp>
        <p:nvCxnSpPr>
          <p:cNvPr id="88" name="Connector: Elbow 87">
            <a:extLst>
              <a:ext uri="{FF2B5EF4-FFF2-40B4-BE49-F238E27FC236}">
                <a16:creationId xmlns:a16="http://schemas.microsoft.com/office/drawing/2014/main" id="{03683E6C-2493-45B8-CBDF-6E0B6017ED84}"/>
              </a:ext>
            </a:extLst>
          </p:cNvPr>
          <p:cNvCxnSpPr>
            <a:cxnSpLocks/>
            <a:stCxn id="105" idx="2"/>
            <a:endCxn id="80" idx="3"/>
          </p:cNvCxnSpPr>
          <p:nvPr/>
        </p:nvCxnSpPr>
        <p:spPr bwMode="white">
          <a:xfrm rot="10800000">
            <a:off x="7478597" y="3862158"/>
            <a:ext cx="1841876" cy="1086806"/>
          </a:xfrm>
          <a:prstGeom prst="bentConnector3">
            <a:avLst>
              <a:gd name="adj1" fmla="val 50000"/>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8EBDACA5-D695-5AB5-865E-B96C52D2813A}"/>
              </a:ext>
            </a:extLst>
          </p:cNvPr>
          <p:cNvSpPr txBox="1">
            <a:spLocks/>
          </p:cNvSpPr>
          <p:nvPr/>
        </p:nvSpPr>
        <p:spPr>
          <a:xfrm>
            <a:off x="998401" y="1333323"/>
            <a:ext cx="4219935" cy="295466"/>
          </a:xfrm>
          <a:prstGeom prst="rect">
            <a:avLst/>
          </a:prstGeom>
          <a:noFill/>
        </p:spPr>
        <p:txBody>
          <a:bodyPr wrap="square" lIns="0" tIns="0" rIns="0" bIns="0" anchor="t">
            <a:spAutoFit/>
          </a:bodyPr>
          <a:lstStyle/>
          <a:p>
            <a:pPr>
              <a:lnSpc>
                <a:spcPct val="80000"/>
              </a:lnSpc>
            </a:pPr>
            <a:r>
              <a:rPr lang="en-US" sz="2400" dirty="0">
                <a:solidFill>
                  <a:schemeClr val="accent1"/>
                </a:solidFill>
                <a:latin typeface="+mj-lt"/>
              </a:rPr>
              <a:t>Legal chart</a:t>
            </a:r>
          </a:p>
        </p:txBody>
      </p:sp>
      <p:sp>
        <p:nvSpPr>
          <p:cNvPr id="105" name="Oval 104">
            <a:extLst>
              <a:ext uri="{FF2B5EF4-FFF2-40B4-BE49-F238E27FC236}">
                <a16:creationId xmlns:a16="http://schemas.microsoft.com/office/drawing/2014/main" id="{D9CDF807-5047-6565-6858-8DDFC3055FAD}"/>
              </a:ext>
            </a:extLst>
          </p:cNvPr>
          <p:cNvSpPr/>
          <p:nvPr/>
        </p:nvSpPr>
        <p:spPr>
          <a:xfrm>
            <a:off x="9320473" y="4912964"/>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dirty="0" err="1">
              <a:solidFill>
                <a:schemeClr val="bg1"/>
              </a:solidFill>
            </a:endParaRPr>
          </a:p>
        </p:txBody>
      </p:sp>
      <p:grpSp>
        <p:nvGrpSpPr>
          <p:cNvPr id="109" name="Group 108">
            <a:extLst>
              <a:ext uri="{FF2B5EF4-FFF2-40B4-BE49-F238E27FC236}">
                <a16:creationId xmlns:a16="http://schemas.microsoft.com/office/drawing/2014/main" id="{7D90C977-838B-4CF1-A399-FA172B6D081A}"/>
              </a:ext>
            </a:extLst>
          </p:cNvPr>
          <p:cNvGrpSpPr/>
          <p:nvPr/>
        </p:nvGrpSpPr>
        <p:grpSpPr>
          <a:xfrm>
            <a:off x="1017324" y="1672360"/>
            <a:ext cx="4854923" cy="1228880"/>
            <a:chOff x="1006675" y="1645750"/>
            <a:chExt cx="4854923" cy="1228880"/>
          </a:xfrm>
        </p:grpSpPr>
        <p:sp>
          <p:nvSpPr>
            <p:cNvPr id="110" name="TextBox 109">
              <a:extLst>
                <a:ext uri="{FF2B5EF4-FFF2-40B4-BE49-F238E27FC236}">
                  <a16:creationId xmlns:a16="http://schemas.microsoft.com/office/drawing/2014/main" id="{C0A4888A-BF00-4EF3-9239-A2B9A991009A}"/>
                </a:ext>
              </a:extLst>
            </p:cNvPr>
            <p:cNvSpPr txBox="1">
              <a:spLocks/>
            </p:cNvSpPr>
            <p:nvPr/>
          </p:nvSpPr>
          <p:spPr>
            <a:xfrm>
              <a:off x="2898958" y="1753523"/>
              <a:ext cx="1011209" cy="253200"/>
            </a:xfrm>
            <a:prstGeom prst="rect">
              <a:avLst/>
            </a:prstGeom>
            <a:solidFill>
              <a:srgbClr val="00338D"/>
            </a:solidFill>
          </p:spPr>
          <p:txBody>
            <a:bodyPr wrap="square" lIns="90000" tIns="90000" rIns="90000" bIns="90000" rtlCol="0" anchor="ctr" anchorCtr="0">
              <a:noAutofit/>
            </a:bodyPr>
            <a:lstStyle/>
            <a:p>
              <a:pPr algn="ctr"/>
              <a:r>
                <a:rPr lang="en-US" sz="1000" b="1" dirty="0">
                  <a:solidFill>
                    <a:schemeClr val="bg1"/>
                  </a:solidFill>
                </a:rPr>
                <a:t>Target</a:t>
              </a:r>
              <a:endParaRPr lang="en-US" sz="1000" dirty="0">
                <a:solidFill>
                  <a:schemeClr val="bg1"/>
                </a:solidFill>
              </a:endParaRPr>
            </a:p>
          </p:txBody>
        </p:sp>
        <p:sp>
          <p:nvSpPr>
            <p:cNvPr id="111" name="TextBox 110">
              <a:extLst>
                <a:ext uri="{FF2B5EF4-FFF2-40B4-BE49-F238E27FC236}">
                  <a16:creationId xmlns:a16="http://schemas.microsoft.com/office/drawing/2014/main" id="{AD06A6E6-55DD-4823-A2DD-5AD5729586D3}"/>
                </a:ext>
              </a:extLst>
            </p:cNvPr>
            <p:cNvSpPr txBox="1"/>
            <p:nvPr/>
          </p:nvSpPr>
          <p:spPr>
            <a:xfrm>
              <a:off x="1121275" y="2424451"/>
              <a:ext cx="1048465" cy="450179"/>
            </a:xfrm>
            <a:prstGeom prst="rect">
              <a:avLst/>
            </a:prstGeom>
            <a:solidFill>
              <a:schemeClr val="accent1"/>
            </a:solidFill>
          </p:spPr>
          <p:txBody>
            <a:bodyPr wrap="square" lIns="90000" tIns="90000" rIns="90000" bIns="90000" rtlCol="0" anchor="ctr" anchorCtr="0">
              <a:noAutofit/>
            </a:bodyPr>
            <a:lstStyle/>
            <a:p>
              <a:pPr algn="ctr"/>
              <a:r>
                <a:rPr lang="en-US" sz="1000" b="1" dirty="0">
                  <a:solidFill>
                    <a:schemeClr val="bg1"/>
                  </a:solidFill>
                </a:rPr>
                <a:t>Shareholder 1 (Joint MD &amp; shareholder)</a:t>
              </a:r>
              <a:endParaRPr lang="en-US" sz="1000" dirty="0">
                <a:solidFill>
                  <a:schemeClr val="bg1"/>
                </a:solidFill>
              </a:endParaRPr>
            </a:p>
          </p:txBody>
        </p:sp>
        <p:sp>
          <p:nvSpPr>
            <p:cNvPr id="112" name="TextBox 111">
              <a:extLst>
                <a:ext uri="{FF2B5EF4-FFF2-40B4-BE49-F238E27FC236}">
                  <a16:creationId xmlns:a16="http://schemas.microsoft.com/office/drawing/2014/main" id="{C52E0A24-F439-4A5E-8F2C-8CD9DCD97D22}"/>
                </a:ext>
              </a:extLst>
            </p:cNvPr>
            <p:cNvSpPr txBox="1"/>
            <p:nvPr/>
          </p:nvSpPr>
          <p:spPr>
            <a:xfrm>
              <a:off x="2320278" y="2424451"/>
              <a:ext cx="1025104" cy="450179"/>
            </a:xfrm>
            <a:prstGeom prst="rect">
              <a:avLst/>
            </a:prstGeom>
            <a:solidFill>
              <a:schemeClr val="accent1"/>
            </a:solidFill>
          </p:spPr>
          <p:txBody>
            <a:bodyPr wrap="square" lIns="90000" tIns="90000" rIns="90000" bIns="90000" rtlCol="0" anchor="ctr" anchorCtr="0">
              <a:noAutofit/>
            </a:bodyPr>
            <a:lstStyle/>
            <a:p>
              <a:pPr algn="ctr"/>
              <a:r>
                <a:rPr lang="en-US" sz="1000" b="1" dirty="0">
                  <a:solidFill>
                    <a:schemeClr val="bg1"/>
                  </a:solidFill>
                </a:rPr>
                <a:t>Shareholder 2 (Joint MD &amp; shareholder)</a:t>
              </a:r>
              <a:endParaRPr lang="en-US" sz="1000" dirty="0">
                <a:solidFill>
                  <a:schemeClr val="bg1"/>
                </a:solidFill>
              </a:endParaRPr>
            </a:p>
          </p:txBody>
        </p:sp>
        <p:sp>
          <p:nvSpPr>
            <p:cNvPr id="113" name="TextBox 112">
              <a:extLst>
                <a:ext uri="{FF2B5EF4-FFF2-40B4-BE49-F238E27FC236}">
                  <a16:creationId xmlns:a16="http://schemas.microsoft.com/office/drawing/2014/main" id="{8E34D826-638A-48F1-B103-5A9C5CB16077}"/>
                </a:ext>
              </a:extLst>
            </p:cNvPr>
            <p:cNvSpPr txBox="1"/>
            <p:nvPr/>
          </p:nvSpPr>
          <p:spPr>
            <a:xfrm>
              <a:off x="3519279" y="2422755"/>
              <a:ext cx="1025104" cy="450179"/>
            </a:xfrm>
            <a:prstGeom prst="rect">
              <a:avLst/>
            </a:prstGeom>
            <a:solidFill>
              <a:schemeClr val="accent1"/>
            </a:solidFill>
          </p:spPr>
          <p:txBody>
            <a:bodyPr wrap="square" lIns="90000" tIns="90000" rIns="90000" bIns="90000" rtlCol="0" anchor="ctr" anchorCtr="0">
              <a:noAutofit/>
            </a:bodyPr>
            <a:lstStyle/>
            <a:p>
              <a:pPr algn="ctr"/>
              <a:r>
                <a:rPr lang="en-US" sz="1000" b="1" dirty="0">
                  <a:solidFill>
                    <a:schemeClr val="bg1"/>
                  </a:solidFill>
                </a:rPr>
                <a:t>Shareholder 3 (NED &amp; shareholder)</a:t>
              </a:r>
              <a:endParaRPr lang="en-US" sz="1000" dirty="0">
                <a:solidFill>
                  <a:schemeClr val="bg1"/>
                </a:solidFill>
              </a:endParaRPr>
            </a:p>
          </p:txBody>
        </p:sp>
        <p:sp>
          <p:nvSpPr>
            <p:cNvPr id="114" name="TextBox 113">
              <a:extLst>
                <a:ext uri="{FF2B5EF4-FFF2-40B4-BE49-F238E27FC236}">
                  <a16:creationId xmlns:a16="http://schemas.microsoft.com/office/drawing/2014/main" id="{33D6ACC0-A63A-4417-B2F6-0098F58A3233}"/>
                </a:ext>
              </a:extLst>
            </p:cNvPr>
            <p:cNvSpPr txBox="1"/>
            <p:nvPr/>
          </p:nvSpPr>
          <p:spPr>
            <a:xfrm>
              <a:off x="4718282" y="2422755"/>
              <a:ext cx="1039852" cy="450179"/>
            </a:xfrm>
            <a:prstGeom prst="rect">
              <a:avLst/>
            </a:prstGeom>
            <a:solidFill>
              <a:schemeClr val="accent1"/>
            </a:solidFill>
          </p:spPr>
          <p:txBody>
            <a:bodyPr wrap="square" lIns="90000" tIns="90000" rIns="90000" bIns="90000" rtlCol="0" anchor="ctr" anchorCtr="0">
              <a:noAutofit/>
            </a:bodyPr>
            <a:lstStyle/>
            <a:p>
              <a:pPr algn="ctr"/>
              <a:r>
                <a:rPr lang="en-US" sz="1000" b="1" dirty="0">
                  <a:solidFill>
                    <a:schemeClr val="bg1"/>
                  </a:solidFill>
                </a:rPr>
                <a:t>Shareholder 4 (NED &amp; shareholder)</a:t>
              </a:r>
              <a:endParaRPr lang="en-US" sz="1000" dirty="0">
                <a:solidFill>
                  <a:schemeClr val="bg1"/>
                </a:solidFill>
              </a:endParaRPr>
            </a:p>
          </p:txBody>
        </p:sp>
        <p:cxnSp>
          <p:nvCxnSpPr>
            <p:cNvPr id="115" name="Connector: Elbow 114">
              <a:extLst>
                <a:ext uri="{FF2B5EF4-FFF2-40B4-BE49-F238E27FC236}">
                  <a16:creationId xmlns:a16="http://schemas.microsoft.com/office/drawing/2014/main" id="{F1604C87-28DD-41F0-987C-AF99D9A000A3}"/>
                </a:ext>
              </a:extLst>
            </p:cNvPr>
            <p:cNvCxnSpPr>
              <a:cxnSpLocks/>
              <a:stCxn id="111" idx="0"/>
              <a:endCxn id="110" idx="2"/>
            </p:cNvCxnSpPr>
            <p:nvPr/>
          </p:nvCxnSpPr>
          <p:spPr>
            <a:xfrm rot="5400000" flipH="1" flipV="1">
              <a:off x="2316171" y="1336060"/>
              <a:ext cx="417728" cy="1759055"/>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2E8460C6-416E-4354-9B49-54A7EAF2489C}"/>
                </a:ext>
              </a:extLst>
            </p:cNvPr>
            <p:cNvCxnSpPr>
              <a:cxnSpLocks/>
              <a:stCxn id="112" idx="0"/>
              <a:endCxn id="110" idx="2"/>
            </p:cNvCxnSpPr>
            <p:nvPr/>
          </p:nvCxnSpPr>
          <p:spPr>
            <a:xfrm rot="5400000" flipH="1" flipV="1">
              <a:off x="2909832" y="1929721"/>
              <a:ext cx="417728" cy="571733"/>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8FC59E8F-F802-4021-B041-71859C7DB705}"/>
                </a:ext>
              </a:extLst>
            </p:cNvPr>
            <p:cNvCxnSpPr>
              <a:cxnSpLocks/>
              <a:stCxn id="114" idx="0"/>
              <a:endCxn id="110" idx="2"/>
            </p:cNvCxnSpPr>
            <p:nvPr/>
          </p:nvCxnSpPr>
          <p:spPr>
            <a:xfrm rot="16200000" flipV="1">
              <a:off x="4113370" y="1297916"/>
              <a:ext cx="416032" cy="1833645"/>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87F5F146-48BF-4F76-997A-3D99B86D451E}"/>
                </a:ext>
              </a:extLst>
            </p:cNvPr>
            <p:cNvCxnSpPr>
              <a:cxnSpLocks/>
              <a:stCxn id="113" idx="0"/>
              <a:endCxn id="110" idx="2"/>
            </p:cNvCxnSpPr>
            <p:nvPr/>
          </p:nvCxnSpPr>
          <p:spPr>
            <a:xfrm rot="16200000" flipV="1">
              <a:off x="3510181" y="1901105"/>
              <a:ext cx="416032" cy="627268"/>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590335AD-892D-47CA-8350-B70752880123}"/>
                </a:ext>
              </a:extLst>
            </p:cNvPr>
            <p:cNvSpPr/>
            <p:nvPr/>
          </p:nvSpPr>
          <p:spPr>
            <a:xfrm>
              <a:off x="1006675" y="1645750"/>
              <a:ext cx="4854923" cy="447104"/>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r>
                <a:rPr lang="en-US" sz="1000" b="1" dirty="0">
                  <a:solidFill>
                    <a:schemeClr val="tx2"/>
                  </a:solidFill>
                </a:rPr>
                <a:t>Transaction perimeter</a:t>
              </a:r>
            </a:p>
          </p:txBody>
        </p:sp>
      </p:grpSp>
      <p:sp>
        <p:nvSpPr>
          <p:cNvPr id="92" name="Oval 91">
            <a:extLst>
              <a:ext uri="{FF2B5EF4-FFF2-40B4-BE49-F238E27FC236}">
                <a16:creationId xmlns:a16="http://schemas.microsoft.com/office/drawing/2014/main" id="{CA40E5E8-651D-4276-B9EF-FC8251720E6F}"/>
              </a:ext>
            </a:extLst>
          </p:cNvPr>
          <p:cNvSpPr/>
          <p:nvPr/>
        </p:nvSpPr>
        <p:spPr>
          <a:xfrm>
            <a:off x="9335169" y="4794599"/>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dirty="0" err="1">
              <a:solidFill>
                <a:schemeClr val="bg1"/>
              </a:solidFill>
            </a:endParaRPr>
          </a:p>
        </p:txBody>
      </p:sp>
      <p:sp>
        <p:nvSpPr>
          <p:cNvPr id="93" name="Rectangle 92">
            <a:extLst>
              <a:ext uri="{FF2B5EF4-FFF2-40B4-BE49-F238E27FC236}">
                <a16:creationId xmlns:a16="http://schemas.microsoft.com/office/drawing/2014/main" id="{153447F8-7744-45E7-A65B-02D2A3DCD221}"/>
              </a:ext>
            </a:extLst>
          </p:cNvPr>
          <p:cNvSpPr/>
          <p:nvPr/>
        </p:nvSpPr>
        <p:spPr bwMode="white">
          <a:xfrm>
            <a:off x="9708609" y="3049272"/>
            <a:ext cx="1000940" cy="5170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spcAft>
                <a:spcPts val="300"/>
              </a:spcAft>
            </a:pPr>
            <a:r>
              <a:rPr lang="en-US" sz="2400" dirty="0">
                <a:solidFill>
                  <a:schemeClr val="bg1"/>
                </a:solidFill>
                <a:latin typeface="+mj-lt"/>
              </a:rPr>
              <a:t>Storage facility</a:t>
            </a:r>
          </a:p>
        </p:txBody>
      </p:sp>
      <p:cxnSp>
        <p:nvCxnSpPr>
          <p:cNvPr id="95" name="Connector: Elbow 94">
            <a:extLst>
              <a:ext uri="{FF2B5EF4-FFF2-40B4-BE49-F238E27FC236}">
                <a16:creationId xmlns:a16="http://schemas.microsoft.com/office/drawing/2014/main" id="{326924C1-5482-4A29-9E5B-00AFCB9CE3A0}"/>
              </a:ext>
            </a:extLst>
          </p:cNvPr>
          <p:cNvCxnSpPr>
            <a:cxnSpLocks/>
            <a:stCxn id="92" idx="0"/>
            <a:endCxn id="93" idx="2"/>
          </p:cNvCxnSpPr>
          <p:nvPr/>
        </p:nvCxnSpPr>
        <p:spPr bwMode="white">
          <a:xfrm rot="5400000" flipH="1" flipV="1">
            <a:off x="9175993" y="3761513"/>
            <a:ext cx="1228262" cy="837910"/>
          </a:xfrm>
          <a:prstGeom prst="bentConnector3">
            <a:avLst>
              <a:gd name="adj1" fmla="val 50000"/>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9809AEB-2BB2-494D-A259-21F91C8BDED7}"/>
              </a:ext>
            </a:extLst>
          </p:cNvPr>
          <p:cNvGrpSpPr/>
          <p:nvPr>
            <p:custDataLst>
              <p:tags r:id="rId3"/>
            </p:custDataLst>
          </p:nvPr>
        </p:nvGrpSpPr>
        <p:grpSpPr>
          <a:xfrm>
            <a:off x="995364" y="153170"/>
            <a:ext cx="6245240" cy="195814"/>
            <a:chOff x="995364" y="153170"/>
            <a:chExt cx="6245240" cy="195814"/>
          </a:xfrm>
        </p:grpSpPr>
        <p:sp>
          <p:nvSpPr>
            <p:cNvPr id="103" name="Current Section1">
              <a:hlinkClick r:id="rId8"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0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0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0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0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20"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21"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1745200"/>
      </p:ext>
    </p:extLst>
  </p:cSld>
  <p:clrMapOvr>
    <a:masterClrMapping/>
  </p:clrMapOvr>
  <p:extLst>
    <p:ext uri="{6950BFC3-D8DA-4A85-94F7-54DA5524770B}">
      <p188:commentRel xmlns:p188="http://schemas.microsoft.com/office/powerpoint/2018/8/main" r:id="rId5"/>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Transaction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Business overview</a:t>
            </a:r>
            <a:endParaRPr lang="en-US" sz="1600" dirty="0">
              <a:solidFill>
                <a:schemeClr val="bg1"/>
              </a:solidFill>
            </a:endParaRPr>
          </a:p>
        </p:txBody>
      </p:sp>
      <p:sp>
        <p:nvSpPr>
          <p:cNvPr id="15" name="TextBox 14">
            <a:extLst>
              <a:ext uri="{FF2B5EF4-FFF2-40B4-BE49-F238E27FC236}">
                <a16:creationId xmlns:a16="http://schemas.microsoft.com/office/drawing/2014/main" id="{A6CD8178-5D45-A60E-7015-84F6A30CD54E}"/>
              </a:ext>
            </a:extLst>
          </p:cNvPr>
          <p:cNvSpPr txBox="1">
            <a:spLocks/>
          </p:cNvSpPr>
          <p:nvPr/>
        </p:nvSpPr>
        <p:spPr>
          <a:xfrm>
            <a:off x="995363" y="1259219"/>
            <a:ext cx="4219935" cy="369332"/>
          </a:xfrm>
          <a:prstGeom prst="rect">
            <a:avLst/>
          </a:prstGeom>
          <a:noFill/>
        </p:spPr>
        <p:txBody>
          <a:bodyPr wrap="square" lIns="0" tIns="0" rIns="0" bIns="0">
            <a:spAutoFit/>
          </a:bodyPr>
          <a:lstStyle/>
          <a:p>
            <a:r>
              <a:rPr lang="en-US" sz="2400" b="1" dirty="0">
                <a:solidFill>
                  <a:schemeClr val="accent1"/>
                </a:solidFill>
                <a:latin typeface="+mj-lt"/>
              </a:rPr>
              <a:t>Offer letter terms</a:t>
            </a:r>
          </a:p>
        </p:txBody>
      </p:sp>
      <p:sp>
        <p:nvSpPr>
          <p:cNvPr id="16" name="TextBox 15">
            <a:extLst>
              <a:ext uri="{FF2B5EF4-FFF2-40B4-BE49-F238E27FC236}">
                <a16:creationId xmlns:a16="http://schemas.microsoft.com/office/drawing/2014/main" id="{98EE6537-8C20-A87B-3CC8-FD592EA19D01}"/>
              </a:ext>
            </a:extLst>
          </p:cNvPr>
          <p:cNvSpPr txBox="1">
            <a:spLocks/>
          </p:cNvSpPr>
          <p:nvPr/>
        </p:nvSpPr>
        <p:spPr>
          <a:xfrm>
            <a:off x="1053528" y="2011262"/>
            <a:ext cx="4854931" cy="3616375"/>
          </a:xfrm>
          <a:prstGeom prst="rect">
            <a:avLst/>
          </a:prstGeom>
          <a:noFill/>
        </p:spPr>
        <p:txBody>
          <a:bodyPr wrap="square" lIns="0" tIns="0" rIns="0" bIns="0">
            <a:spAutoFit/>
          </a:bodyPr>
          <a:lstStyle/>
          <a:p>
            <a:pPr marL="0" lvl="2" indent="0">
              <a:buNone/>
            </a:pPr>
            <a:r>
              <a:rPr lang="en-GB" sz="1000" dirty="0"/>
              <a:t>The Indicative non-binding offer letter dated [XX] sets out the consideration of the acquisition as follows: </a:t>
            </a:r>
          </a:p>
          <a:p>
            <a:pPr marL="0" lvl="2" indent="0">
              <a:buNone/>
            </a:pPr>
            <a:endParaRPr lang="en-GB" sz="1000" dirty="0"/>
          </a:p>
          <a:p>
            <a:pPr marL="171450" lvl="2" indent="-171450">
              <a:spcBef>
                <a:spcPts val="600"/>
              </a:spcBef>
              <a:buFont typeface="Arial" panose="020B0604020202020204" pitchFamily="34" charset="0"/>
              <a:buChar char="•"/>
            </a:pPr>
            <a:r>
              <a:rPr lang="en-GB" sz="1000" dirty="0"/>
              <a:t>£15.75 million purchase price payable in cash upon completion;</a:t>
            </a:r>
          </a:p>
          <a:p>
            <a:pPr marL="171450" lvl="2" indent="-171450">
              <a:spcBef>
                <a:spcPts val="600"/>
              </a:spcBef>
              <a:buFont typeface="Arial" panose="020B0604020202020204" pitchFamily="34" charset="0"/>
              <a:buChar char="•"/>
            </a:pPr>
            <a:r>
              <a:rPr lang="en-GB" sz="1000" dirty="0"/>
              <a:t>Completion accounts is to be used as a completion mechanism;  </a:t>
            </a:r>
          </a:p>
          <a:p>
            <a:pPr marL="171450" lvl="2" indent="-171450">
              <a:spcBef>
                <a:spcPts val="600"/>
              </a:spcBef>
              <a:buFont typeface="Arial" panose="020B0604020202020204" pitchFamily="34" charset="0"/>
              <a:buChar char="•"/>
            </a:pPr>
            <a:r>
              <a:rPr lang="en-GB" sz="1000" dirty="0"/>
              <a:t>The Company is to be sold on a cash free debt free basis and tax neutral basis with a normal level of working capital;</a:t>
            </a:r>
          </a:p>
          <a:p>
            <a:pPr marL="171450" lvl="2" indent="-171450">
              <a:spcBef>
                <a:spcPts val="600"/>
              </a:spcBef>
              <a:buFont typeface="Arial" panose="020B0604020202020204" pitchFamily="34" charset="0"/>
              <a:buChar char="•"/>
            </a:pPr>
            <a:r>
              <a:rPr lang="en-GB" sz="1000" dirty="0"/>
              <a:t>Normal level of working capital has been defined as the average over the 12 month period preceding the transaction; </a:t>
            </a:r>
          </a:p>
          <a:p>
            <a:pPr marL="171450" lvl="2" indent="-171450">
              <a:spcBef>
                <a:spcPts val="600"/>
              </a:spcBef>
              <a:buFont typeface="Arial" panose="020B0604020202020204" pitchFamily="34" charset="0"/>
              <a:buChar char="•"/>
            </a:pPr>
            <a:r>
              <a:rPr lang="en-GB" sz="1000" dirty="0"/>
              <a:t>There is no allowance made up or down to value for adjusting the value of the fleet to market values; </a:t>
            </a:r>
          </a:p>
          <a:p>
            <a:pPr marL="171450" lvl="2" indent="-171450">
              <a:spcBef>
                <a:spcPts val="600"/>
              </a:spcBef>
              <a:buFont typeface="Arial" panose="020B0604020202020204" pitchFamily="34" charset="0"/>
              <a:buChar char="•"/>
            </a:pPr>
            <a:r>
              <a:rPr lang="en-GB" sz="1000" dirty="0"/>
              <a:t>It is assumed that all vehicles are covered by customers’ own insurance; </a:t>
            </a:r>
          </a:p>
          <a:p>
            <a:pPr marL="171450" lvl="2" indent="-171450">
              <a:spcBef>
                <a:spcPts val="600"/>
              </a:spcBef>
              <a:buFont typeface="Arial" panose="020B0604020202020204" pitchFamily="34" charset="0"/>
              <a:buChar char="•"/>
            </a:pPr>
            <a:r>
              <a:rPr lang="en-GB" sz="1000" dirty="0"/>
              <a:t>No customer contracts are loss making and are capable of termination by the Company with no more than 30 days notice; </a:t>
            </a:r>
          </a:p>
          <a:p>
            <a:pPr marL="171450" lvl="2" indent="-171450">
              <a:spcBef>
                <a:spcPts val="600"/>
              </a:spcBef>
              <a:buFont typeface="Arial" panose="020B0604020202020204" pitchFamily="34" charset="0"/>
              <a:buChar char="•"/>
            </a:pPr>
            <a:r>
              <a:rPr lang="en-GB" sz="1000" dirty="0"/>
              <a:t>The existing property will be leased from the related party landlord on a ten year lease at market rent. Market rent is to be determined by an independent property agent; and</a:t>
            </a:r>
          </a:p>
          <a:p>
            <a:pPr marL="171450" lvl="2" indent="-171450">
              <a:spcBef>
                <a:spcPts val="600"/>
              </a:spcBef>
              <a:buFont typeface="Arial" panose="020B0604020202020204" pitchFamily="34" charset="0"/>
              <a:buChar char="•"/>
            </a:pPr>
            <a:r>
              <a:rPr lang="en-GB" sz="1000" dirty="0"/>
              <a:t>[Shareholder 1] is retained for a period of 12 months. Her remuneration package is to be agreed at a later date, but it will be no less than £125,000 per annum. </a:t>
            </a:r>
          </a:p>
        </p:txBody>
      </p:sp>
      <p:sp>
        <p:nvSpPr>
          <p:cNvPr id="79" name="Rectangle 78">
            <a:extLst>
              <a:ext uri="{FF2B5EF4-FFF2-40B4-BE49-F238E27FC236}">
                <a16:creationId xmlns:a16="http://schemas.microsoft.com/office/drawing/2014/main" id="{150B75FE-73C4-B009-E29C-C8E10F30A844}"/>
              </a:ext>
            </a:extLst>
          </p:cNvPr>
          <p:cNvSpPr/>
          <p:nvPr/>
        </p:nvSpPr>
        <p:spPr bwMode="white">
          <a:xfrm>
            <a:off x="6472161" y="2051465"/>
            <a:ext cx="1000940" cy="96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spcAft>
                <a:spcPts val="300"/>
              </a:spcAft>
            </a:pPr>
            <a:r>
              <a:rPr lang="en-US" sz="2400" dirty="0">
                <a:solidFill>
                  <a:schemeClr val="bg1"/>
                </a:solidFill>
                <a:latin typeface="+mj-lt"/>
              </a:rPr>
              <a:t>$x.xm </a:t>
            </a:r>
          </a:p>
          <a:p>
            <a:pPr>
              <a:lnSpc>
                <a:spcPct val="110000"/>
              </a:lnSpc>
              <a:spcAft>
                <a:spcPts val="300"/>
              </a:spcAft>
            </a:pPr>
            <a:r>
              <a:rPr lang="en-US" sz="1000" dirty="0">
                <a:solidFill>
                  <a:schemeClr val="bg1"/>
                </a:solidFill>
              </a:rPr>
              <a:t>Lorem ipsum dolor sit amet. consectetuer adipiscing elit. </a:t>
            </a:r>
          </a:p>
        </p:txBody>
      </p:sp>
      <p:sp>
        <p:nvSpPr>
          <p:cNvPr id="80" name="Rectangle 79">
            <a:extLst>
              <a:ext uri="{FF2B5EF4-FFF2-40B4-BE49-F238E27FC236}">
                <a16:creationId xmlns:a16="http://schemas.microsoft.com/office/drawing/2014/main" id="{9C98EA8B-D9F2-100F-E24E-06E6142F6397}"/>
              </a:ext>
            </a:extLst>
          </p:cNvPr>
          <p:cNvSpPr/>
          <p:nvPr/>
        </p:nvSpPr>
        <p:spPr bwMode="white">
          <a:xfrm>
            <a:off x="6472161" y="4682698"/>
            <a:ext cx="1000940" cy="96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spcAft>
                <a:spcPts val="300"/>
              </a:spcAft>
            </a:pPr>
            <a:r>
              <a:rPr lang="en-US" sz="2400" dirty="0">
                <a:solidFill>
                  <a:schemeClr val="bg1"/>
                </a:solidFill>
                <a:latin typeface="+mj-lt"/>
              </a:rPr>
              <a:t>$x.xm </a:t>
            </a:r>
          </a:p>
          <a:p>
            <a:pPr>
              <a:lnSpc>
                <a:spcPct val="110000"/>
              </a:lnSpc>
              <a:spcAft>
                <a:spcPts val="300"/>
              </a:spcAft>
            </a:pPr>
            <a:r>
              <a:rPr lang="en-US" sz="1000" dirty="0">
                <a:solidFill>
                  <a:schemeClr val="bg1"/>
                </a:solidFill>
              </a:rPr>
              <a:t>Lorem ipsum dolor sit amet. consectetuer adipiscing elit. </a:t>
            </a:r>
          </a:p>
        </p:txBody>
      </p:sp>
      <p:sp>
        <p:nvSpPr>
          <p:cNvPr id="81" name="Rectangle 80">
            <a:extLst>
              <a:ext uri="{FF2B5EF4-FFF2-40B4-BE49-F238E27FC236}">
                <a16:creationId xmlns:a16="http://schemas.microsoft.com/office/drawing/2014/main" id="{D4A2DD12-DE58-A9E9-45CC-1D554E01E3AA}"/>
              </a:ext>
            </a:extLst>
          </p:cNvPr>
          <p:cNvSpPr>
            <a:spLocks/>
          </p:cNvSpPr>
          <p:nvPr/>
        </p:nvSpPr>
        <p:spPr bwMode="white">
          <a:xfrm>
            <a:off x="10021552" y="3367081"/>
            <a:ext cx="933397" cy="96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r">
              <a:lnSpc>
                <a:spcPct val="70000"/>
              </a:lnSpc>
              <a:spcAft>
                <a:spcPts val="300"/>
              </a:spcAft>
            </a:pPr>
            <a:r>
              <a:rPr lang="en-US" sz="2400" dirty="0">
                <a:solidFill>
                  <a:schemeClr val="bg1"/>
                </a:solidFill>
                <a:latin typeface="+mj-lt"/>
              </a:rPr>
              <a:t>$x.xm </a:t>
            </a:r>
          </a:p>
          <a:p>
            <a:pPr algn="r">
              <a:lnSpc>
                <a:spcPct val="110000"/>
              </a:lnSpc>
              <a:spcAft>
                <a:spcPts val="300"/>
              </a:spcAft>
            </a:pPr>
            <a:r>
              <a:rPr lang="en-US" sz="1000" dirty="0">
                <a:solidFill>
                  <a:schemeClr val="bg1"/>
                </a:solidFill>
              </a:rPr>
              <a:t>Lorem ipsum dolor sit amet. consectetuer adipiscing elit. </a:t>
            </a:r>
          </a:p>
        </p:txBody>
      </p:sp>
      <p:sp>
        <p:nvSpPr>
          <p:cNvPr id="82" name="Rectangle 81">
            <a:extLst>
              <a:ext uri="{FF2B5EF4-FFF2-40B4-BE49-F238E27FC236}">
                <a16:creationId xmlns:a16="http://schemas.microsoft.com/office/drawing/2014/main" id="{1B35C09A-6DBB-E887-EAAD-1D34DE96CCC6}"/>
              </a:ext>
            </a:extLst>
          </p:cNvPr>
          <p:cNvSpPr>
            <a:spLocks/>
          </p:cNvSpPr>
          <p:nvPr/>
        </p:nvSpPr>
        <p:spPr bwMode="white">
          <a:xfrm>
            <a:off x="10021552" y="2051465"/>
            <a:ext cx="933397" cy="96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r">
              <a:lnSpc>
                <a:spcPct val="70000"/>
              </a:lnSpc>
              <a:spcAft>
                <a:spcPts val="300"/>
              </a:spcAft>
            </a:pPr>
            <a:r>
              <a:rPr lang="en-US" sz="2400" dirty="0">
                <a:solidFill>
                  <a:schemeClr val="bg1"/>
                </a:solidFill>
                <a:latin typeface="+mj-lt"/>
              </a:rPr>
              <a:t>$x.xm </a:t>
            </a:r>
          </a:p>
          <a:p>
            <a:pPr algn="r">
              <a:lnSpc>
                <a:spcPct val="110000"/>
              </a:lnSpc>
              <a:spcAft>
                <a:spcPts val="300"/>
              </a:spcAft>
            </a:pPr>
            <a:r>
              <a:rPr lang="en-US" sz="1000" dirty="0">
                <a:solidFill>
                  <a:schemeClr val="bg1"/>
                </a:solidFill>
              </a:rPr>
              <a:t>Lorem ipsum dolor sit amet. consectetuer adipiscing elit. </a:t>
            </a:r>
          </a:p>
        </p:txBody>
      </p:sp>
      <p:sp>
        <p:nvSpPr>
          <p:cNvPr id="83" name="Rectangle 82">
            <a:extLst>
              <a:ext uri="{FF2B5EF4-FFF2-40B4-BE49-F238E27FC236}">
                <a16:creationId xmlns:a16="http://schemas.microsoft.com/office/drawing/2014/main" id="{1B4D9B97-AEAD-C091-16D6-6F565A9BD29B}"/>
              </a:ext>
            </a:extLst>
          </p:cNvPr>
          <p:cNvSpPr>
            <a:spLocks/>
          </p:cNvSpPr>
          <p:nvPr/>
        </p:nvSpPr>
        <p:spPr bwMode="white">
          <a:xfrm>
            <a:off x="10021552" y="4682698"/>
            <a:ext cx="933397" cy="96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gn="r">
              <a:lnSpc>
                <a:spcPct val="70000"/>
              </a:lnSpc>
              <a:spcAft>
                <a:spcPts val="300"/>
              </a:spcAft>
            </a:pPr>
            <a:r>
              <a:rPr lang="en-US" sz="2400" dirty="0">
                <a:solidFill>
                  <a:schemeClr val="bg1"/>
                </a:solidFill>
                <a:latin typeface="+mj-lt"/>
              </a:rPr>
              <a:t>$x.xm </a:t>
            </a:r>
          </a:p>
          <a:p>
            <a:pPr algn="r">
              <a:lnSpc>
                <a:spcPct val="110000"/>
              </a:lnSpc>
              <a:spcAft>
                <a:spcPts val="300"/>
              </a:spcAft>
            </a:pPr>
            <a:r>
              <a:rPr lang="en-US" sz="1000" dirty="0">
                <a:solidFill>
                  <a:schemeClr val="bg1"/>
                </a:solidFill>
              </a:rPr>
              <a:t>Lorem ipsum dolor sit amet. consectetuer adipiscing elit. </a:t>
            </a:r>
          </a:p>
        </p:txBody>
      </p:sp>
      <p:grpSp>
        <p:nvGrpSpPr>
          <p:cNvPr id="30" name="Group 29">
            <a:extLst>
              <a:ext uri="{FF2B5EF4-FFF2-40B4-BE49-F238E27FC236}">
                <a16:creationId xmlns:a16="http://schemas.microsoft.com/office/drawing/2014/main" id="{59809AEB-2BB2-494D-A259-21F91C8BDED7}"/>
              </a:ext>
            </a:extLst>
          </p:cNvPr>
          <p:cNvGrpSpPr/>
          <p:nvPr>
            <p:custDataLst>
              <p:tags r:id="rId3"/>
            </p:custDataLst>
          </p:nvPr>
        </p:nvGrpSpPr>
        <p:grpSpPr>
          <a:xfrm>
            <a:off x="995364" y="153170"/>
            <a:ext cx="6245240" cy="195814"/>
            <a:chOff x="995364" y="153170"/>
            <a:chExt cx="6245240" cy="195814"/>
          </a:xfrm>
        </p:grpSpPr>
        <p:sp>
          <p:nvSpPr>
            <p:cNvPr id="31" name="Current Section1">
              <a:hlinkClick r:id="rId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6"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92608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7797D3B-8823-4861-B150-21244BD2CF5D}"/>
              </a:ext>
            </a:extLst>
          </p:cNvPr>
          <p:cNvSpPr/>
          <p:nvPr/>
        </p:nvSpPr>
        <p:spPr>
          <a:xfrm>
            <a:off x="995361"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graphicFrame>
        <p:nvGraphicFramePr>
          <p:cNvPr id="46" name="Chart 45">
            <a:extLst>
              <a:ext uri="{FF2B5EF4-FFF2-40B4-BE49-F238E27FC236}">
                <a16:creationId xmlns:a16="http://schemas.microsoft.com/office/drawing/2014/main" id="{16102C34-9D50-49F1-B7DD-3306766AA089}"/>
              </a:ext>
            </a:extLst>
          </p:cNvPr>
          <p:cNvGraphicFramePr>
            <a:graphicFrameLocks/>
          </p:cNvGraphicFramePr>
          <p:nvPr>
            <p:extLst>
              <p:ext uri="{D42A27DB-BD31-4B8C-83A1-F6EECF244321}">
                <p14:modId xmlns:p14="http://schemas.microsoft.com/office/powerpoint/2010/main" val="1021974699"/>
              </p:ext>
            </p:extLst>
          </p:nvPr>
        </p:nvGraphicFramePr>
        <p:xfrm>
          <a:off x="1239193" y="4350024"/>
          <a:ext cx="2695575" cy="1435100"/>
        </p:xfrm>
        <a:graphic>
          <a:graphicData uri="http://schemas.openxmlformats.org/drawingml/2006/chart">
            <c:chart xmlns:c="http://schemas.openxmlformats.org/drawingml/2006/chart" xmlns:r="http://schemas.openxmlformats.org/officeDocument/2006/relationships" r:id="rId17"/>
          </a:graphicData>
        </a:graphic>
      </p:graphicFrame>
      <p:sp>
        <p:nvSpPr>
          <p:cNvPr id="45" name="Rectangle 44">
            <a:extLst>
              <a:ext uri="{FF2B5EF4-FFF2-40B4-BE49-F238E27FC236}">
                <a16:creationId xmlns:a16="http://schemas.microsoft.com/office/drawing/2014/main" id="{57671A49-196F-40BB-93B9-9B03DF3D0349}"/>
              </a:ext>
            </a:extLst>
          </p:cNvPr>
          <p:cNvSpPr/>
          <p:nvPr/>
        </p:nvSpPr>
        <p:spPr>
          <a:xfrm>
            <a:off x="4427895" y="3652093"/>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2" name="Title 1">
            <a:extLst>
              <a:ext uri="{FF2B5EF4-FFF2-40B4-BE49-F238E27FC236}">
                <a16:creationId xmlns:a16="http://schemas.microsoft.com/office/drawing/2014/main" id="{371630E8-DAFA-4635-B84A-0CA7AE884371}"/>
              </a:ext>
            </a:extLst>
          </p:cNvPr>
          <p:cNvSpPr>
            <a:spLocks noGrp="1"/>
          </p:cNvSpPr>
          <p:nvPr>
            <p:ph type="title"/>
          </p:nvPr>
        </p:nvSpPr>
        <p:spPr/>
        <p:txBody>
          <a:bodyPr/>
          <a:lstStyle/>
          <a:p>
            <a:r>
              <a:rPr lang="en-US" dirty="0"/>
              <a:t>Summary financials</a:t>
            </a:r>
            <a:endParaRPr lang="en-GB" dirty="0"/>
          </a:p>
        </p:txBody>
      </p:sp>
      <p:sp>
        <p:nvSpPr>
          <p:cNvPr id="3" name="Rectangle 2">
            <a:extLst>
              <a:ext uri="{FF2B5EF4-FFF2-40B4-BE49-F238E27FC236}">
                <a16:creationId xmlns:a16="http://schemas.microsoft.com/office/drawing/2014/main" id="{E6394FF4-BF85-44A3-BE9E-C70466201D9D}"/>
              </a:ext>
            </a:extLst>
          </p:cNvPr>
          <p:cNvSpPr/>
          <p:nvPr/>
        </p:nvSpPr>
        <p:spPr>
          <a:xfrm>
            <a:off x="7860429"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4" name="Rectangle 3">
            <a:extLst>
              <a:ext uri="{FF2B5EF4-FFF2-40B4-BE49-F238E27FC236}">
                <a16:creationId xmlns:a16="http://schemas.microsoft.com/office/drawing/2014/main" id="{8212A4E9-9ED5-4345-81AC-9A8569B32795}"/>
              </a:ext>
            </a:extLst>
          </p:cNvPr>
          <p:cNvSpPr/>
          <p:nvPr/>
        </p:nvSpPr>
        <p:spPr>
          <a:xfrm>
            <a:off x="4427895" y="1330325"/>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6" name="Rectangle 5">
            <a:extLst>
              <a:ext uri="{FF2B5EF4-FFF2-40B4-BE49-F238E27FC236}">
                <a16:creationId xmlns:a16="http://schemas.microsoft.com/office/drawing/2014/main" id="{7F669E82-E2B8-496A-9DDA-440BA294335A}"/>
              </a:ext>
            </a:extLst>
          </p:cNvPr>
          <p:cNvSpPr/>
          <p:nvPr/>
        </p:nvSpPr>
        <p:spPr>
          <a:xfrm>
            <a:off x="995361" y="1358999"/>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7" name="Rectangle 6">
            <a:extLst>
              <a:ext uri="{FF2B5EF4-FFF2-40B4-BE49-F238E27FC236}">
                <a16:creationId xmlns:a16="http://schemas.microsoft.com/office/drawing/2014/main" id="{565AAFF9-C53C-49B9-B773-196CBB95340E}"/>
              </a:ext>
            </a:extLst>
          </p:cNvPr>
          <p:cNvSpPr/>
          <p:nvPr/>
        </p:nvSpPr>
        <p:spPr>
          <a:xfrm>
            <a:off x="7866819" y="3647682"/>
            <a:ext cx="3339383" cy="2224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dirty="0">
              <a:solidFill>
                <a:schemeClr val="accent1"/>
              </a:solidFill>
            </a:endParaRPr>
          </a:p>
        </p:txBody>
      </p:sp>
      <p:sp>
        <p:nvSpPr>
          <p:cNvPr id="8" name="Rectangle: Rounded Corners 7">
            <a:hlinkClick r:id="rId18" action="ppaction://hlinksldjump"/>
            <a:extLst>
              <a:ext uri="{FF2B5EF4-FFF2-40B4-BE49-F238E27FC236}">
                <a16:creationId xmlns:a16="http://schemas.microsoft.com/office/drawing/2014/main" id="{61F89053-BAC2-4C12-8302-2E4CF89E876B}"/>
              </a:ext>
            </a:extLst>
          </p:cNvPr>
          <p:cNvSpPr/>
          <p:nvPr/>
        </p:nvSpPr>
        <p:spPr>
          <a:xfrm>
            <a:off x="3503613" y="380877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9" name="Rectangle: Rounded Corners 8">
            <a:hlinkClick r:id="rId19" action="ppaction://hlinksldjump"/>
            <a:extLst>
              <a:ext uri="{FF2B5EF4-FFF2-40B4-BE49-F238E27FC236}">
                <a16:creationId xmlns:a16="http://schemas.microsoft.com/office/drawing/2014/main" id="{BCAFAC59-EEF6-429A-8C19-31804AFD17C1}"/>
              </a:ext>
            </a:extLst>
          </p:cNvPr>
          <p:cNvSpPr/>
          <p:nvPr/>
        </p:nvSpPr>
        <p:spPr>
          <a:xfrm>
            <a:off x="6936146" y="380877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u="sng" dirty="0">
                <a:solidFill>
                  <a:schemeClr val="bg1"/>
                </a:solidFill>
              </a:rPr>
              <a:t>Read more</a:t>
            </a:r>
          </a:p>
        </p:txBody>
      </p:sp>
      <p:sp>
        <p:nvSpPr>
          <p:cNvPr id="10" name="Rectangle: Rounded Corners 9">
            <a:extLst>
              <a:ext uri="{FF2B5EF4-FFF2-40B4-BE49-F238E27FC236}">
                <a16:creationId xmlns:a16="http://schemas.microsoft.com/office/drawing/2014/main" id="{6F6EBBC3-C902-4F14-9636-82FD7D60AEDB}"/>
              </a:ext>
            </a:extLst>
          </p:cNvPr>
          <p:cNvSpPr/>
          <p:nvPr/>
        </p:nvSpPr>
        <p:spPr>
          <a:xfrm>
            <a:off x="10368681" y="3808775"/>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13" name="Text Placeholder 1">
            <a:extLst>
              <a:ext uri="{FF2B5EF4-FFF2-40B4-BE49-F238E27FC236}">
                <a16:creationId xmlns:a16="http://schemas.microsoft.com/office/drawing/2014/main" id="{32EA2661-3821-4872-85E5-651F15E6576C}"/>
              </a:ext>
            </a:extLst>
          </p:cNvPr>
          <p:cNvSpPr txBox="1">
            <a:spLocks/>
          </p:cNvSpPr>
          <p:nvPr/>
        </p:nvSpPr>
        <p:spPr>
          <a:xfrm>
            <a:off x="1130300" y="1464775"/>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Quality of earnings</a:t>
            </a:r>
            <a:endParaRPr lang="en-US" dirty="0"/>
          </a:p>
        </p:txBody>
      </p:sp>
      <p:sp>
        <p:nvSpPr>
          <p:cNvPr id="14" name="Text Placeholder 4">
            <a:extLst>
              <a:ext uri="{FF2B5EF4-FFF2-40B4-BE49-F238E27FC236}">
                <a16:creationId xmlns:a16="http://schemas.microsoft.com/office/drawing/2014/main" id="{590D76C6-83D6-4706-843B-2A2040716D69}"/>
              </a:ext>
            </a:extLst>
          </p:cNvPr>
          <p:cNvSpPr txBox="1">
            <a:spLocks/>
          </p:cNvSpPr>
          <p:nvPr/>
        </p:nvSpPr>
        <p:spPr>
          <a:xfrm>
            <a:off x="4564796" y="1464775"/>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Net working capital</a:t>
            </a:r>
            <a:endParaRPr lang="en-US" dirty="0"/>
          </a:p>
        </p:txBody>
      </p:sp>
      <p:sp>
        <p:nvSpPr>
          <p:cNvPr id="15" name="Text Placeholder 5">
            <a:extLst>
              <a:ext uri="{FF2B5EF4-FFF2-40B4-BE49-F238E27FC236}">
                <a16:creationId xmlns:a16="http://schemas.microsoft.com/office/drawing/2014/main" id="{093D34C0-416D-4202-BB45-36DDD408CFC4}"/>
              </a:ext>
            </a:extLst>
          </p:cNvPr>
          <p:cNvSpPr txBox="1">
            <a:spLocks/>
          </p:cNvSpPr>
          <p:nvPr/>
        </p:nvSpPr>
        <p:spPr>
          <a:xfrm>
            <a:off x="7995234" y="1464775"/>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Net debt</a:t>
            </a:r>
            <a:endParaRPr lang="en-US" dirty="0"/>
          </a:p>
        </p:txBody>
      </p:sp>
      <p:sp>
        <p:nvSpPr>
          <p:cNvPr id="16" name="Text Placeholder 7">
            <a:extLst>
              <a:ext uri="{FF2B5EF4-FFF2-40B4-BE49-F238E27FC236}">
                <a16:creationId xmlns:a16="http://schemas.microsoft.com/office/drawing/2014/main" id="{2F850DF7-6085-4CF3-BE83-7CCCA9C42908}"/>
              </a:ext>
            </a:extLst>
          </p:cNvPr>
          <p:cNvSpPr txBox="1">
            <a:spLocks/>
          </p:cNvSpPr>
          <p:nvPr/>
        </p:nvSpPr>
        <p:spPr>
          <a:xfrm>
            <a:off x="1130300" y="3787341"/>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dirty="0"/>
              <a:t>Personnel (FTEs), FY22</a:t>
            </a:r>
          </a:p>
        </p:txBody>
      </p:sp>
      <p:sp>
        <p:nvSpPr>
          <p:cNvPr id="17" name="Text Placeholder 8">
            <a:extLst>
              <a:ext uri="{FF2B5EF4-FFF2-40B4-BE49-F238E27FC236}">
                <a16:creationId xmlns:a16="http://schemas.microsoft.com/office/drawing/2014/main" id="{F37E7FC1-4AAD-4F59-8BC3-EBC1A642B3CA}"/>
              </a:ext>
            </a:extLst>
          </p:cNvPr>
          <p:cNvSpPr txBox="1">
            <a:spLocks/>
          </p:cNvSpPr>
          <p:nvPr/>
        </p:nvSpPr>
        <p:spPr>
          <a:xfrm>
            <a:off x="4564796" y="3787341"/>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streams</a:t>
            </a:r>
          </a:p>
        </p:txBody>
      </p:sp>
      <p:sp>
        <p:nvSpPr>
          <p:cNvPr id="18" name="Text Placeholder 9">
            <a:extLst>
              <a:ext uri="{FF2B5EF4-FFF2-40B4-BE49-F238E27FC236}">
                <a16:creationId xmlns:a16="http://schemas.microsoft.com/office/drawing/2014/main" id="{A6852723-AA65-41C9-9BB6-D340238D4213}"/>
              </a:ext>
            </a:extLst>
          </p:cNvPr>
          <p:cNvSpPr txBox="1">
            <a:spLocks/>
          </p:cNvSpPr>
          <p:nvPr/>
        </p:nvSpPr>
        <p:spPr>
          <a:xfrm>
            <a:off x="7995234" y="3787341"/>
            <a:ext cx="2941638" cy="2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Fleet composition FY22</a:t>
            </a:r>
          </a:p>
        </p:txBody>
      </p:sp>
      <p:sp>
        <p:nvSpPr>
          <p:cNvPr id="19" name="Text Placeholder 12">
            <a:extLst>
              <a:ext uri="{FF2B5EF4-FFF2-40B4-BE49-F238E27FC236}">
                <a16:creationId xmlns:a16="http://schemas.microsoft.com/office/drawing/2014/main" id="{0A3A4744-F082-4F43-9F29-DB5B03D0F5BE}"/>
              </a:ext>
            </a:extLst>
          </p:cNvPr>
          <p:cNvSpPr txBox="1">
            <a:spLocks/>
          </p:cNvSpPr>
          <p:nvPr/>
        </p:nvSpPr>
        <p:spPr>
          <a:xfrm>
            <a:off x="986654" y="590632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i="0" u="none" strike="noStrike" kern="1200" baseline="0" dirty="0">
                <a:solidFill>
                  <a:schemeClr val="tx2"/>
                </a:solidFill>
                <a:latin typeface="Arial" panose="020B0604020202020204" pitchFamily="34" charset="0"/>
              </a:rPr>
              <a:t>Sources: Management accounts; Management information; KPMG analysis.</a:t>
            </a:r>
          </a:p>
        </p:txBody>
      </p:sp>
      <p:sp>
        <p:nvSpPr>
          <p:cNvPr id="29" name="Text Placeholder 2">
            <a:extLst>
              <a:ext uri="{FF2B5EF4-FFF2-40B4-BE49-F238E27FC236}">
                <a16:creationId xmlns:a16="http://schemas.microsoft.com/office/drawing/2014/main" id="{C996D22A-D7AB-4ED1-A05F-CD819046DA13}"/>
              </a:ext>
            </a:extLst>
          </p:cNvPr>
          <p:cNvSpPr>
            <a:spLocks noGrp="1"/>
          </p:cNvSpPr>
          <p:nvPr>
            <p:custDataLst>
              <p:tags r:id="rId1"/>
            </p:custDataLst>
          </p:nvPr>
        </p:nvSpPr>
        <p:spPr bwMode="auto">
          <a:xfrm>
            <a:off x="3126271" y="5093894"/>
            <a:ext cx="53975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r>
              <a:rPr lang="en-US" altLang="en-US" sz="800" dirty="0"/>
              <a:t>Production</a:t>
            </a:r>
            <a:endParaRPr lang="en-US" sz="800" dirty="0"/>
          </a:p>
        </p:txBody>
      </p:sp>
      <p:sp>
        <p:nvSpPr>
          <p:cNvPr id="32" name="Text Placeholder 2">
            <a:extLst>
              <a:ext uri="{FF2B5EF4-FFF2-40B4-BE49-F238E27FC236}">
                <a16:creationId xmlns:a16="http://schemas.microsoft.com/office/drawing/2014/main" id="{77C46D7F-1DC3-4B17-B73D-5FCC34C44278}"/>
              </a:ext>
            </a:extLst>
          </p:cNvPr>
          <p:cNvSpPr>
            <a:spLocks noGrp="1"/>
          </p:cNvSpPr>
          <p:nvPr>
            <p:custDataLst>
              <p:tags r:id="rId2"/>
            </p:custDataLst>
          </p:nvPr>
        </p:nvSpPr>
        <p:spPr bwMode="auto">
          <a:xfrm>
            <a:off x="1794272" y="4825634"/>
            <a:ext cx="255588"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dirty="0"/>
              <a:t>Directors</a:t>
            </a:r>
            <a:endParaRPr lang="en-US" sz="800" dirty="0"/>
          </a:p>
        </p:txBody>
      </p:sp>
      <p:sp>
        <p:nvSpPr>
          <p:cNvPr id="34" name="Text Placeholder 2">
            <a:extLst>
              <a:ext uri="{FF2B5EF4-FFF2-40B4-BE49-F238E27FC236}">
                <a16:creationId xmlns:a16="http://schemas.microsoft.com/office/drawing/2014/main" id="{82910166-F1D9-4B8C-B67E-47293317451B}"/>
              </a:ext>
            </a:extLst>
          </p:cNvPr>
          <p:cNvSpPr>
            <a:spLocks noGrp="1"/>
          </p:cNvSpPr>
          <p:nvPr>
            <p:custDataLst>
              <p:tags r:id="rId3"/>
            </p:custDataLst>
          </p:nvPr>
        </p:nvSpPr>
        <p:spPr bwMode="auto">
          <a:xfrm>
            <a:off x="1922066" y="5376763"/>
            <a:ext cx="260350" cy="2444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dirty="0"/>
              <a:t>Admin</a:t>
            </a:r>
            <a:endParaRPr lang="en-US" sz="800" dirty="0"/>
          </a:p>
        </p:txBody>
      </p:sp>
      <p:sp>
        <p:nvSpPr>
          <p:cNvPr id="35" name="Text Placeholder 2">
            <a:extLst>
              <a:ext uri="{FF2B5EF4-FFF2-40B4-BE49-F238E27FC236}">
                <a16:creationId xmlns:a16="http://schemas.microsoft.com/office/drawing/2014/main" id="{801824E3-444B-4A5A-81C9-795BF71E2C40}"/>
              </a:ext>
            </a:extLst>
          </p:cNvPr>
          <p:cNvSpPr>
            <a:spLocks noGrp="1"/>
          </p:cNvSpPr>
          <p:nvPr>
            <p:custDataLst>
              <p:tags r:id="rId4"/>
            </p:custDataLst>
          </p:nvPr>
        </p:nvSpPr>
        <p:spPr bwMode="auto">
          <a:xfrm>
            <a:off x="1721065" y="4507114"/>
            <a:ext cx="59690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dirty="0"/>
              <a:t>Vehicle admin</a:t>
            </a:r>
            <a:endParaRPr lang="en-US" sz="800" dirty="0"/>
          </a:p>
        </p:txBody>
      </p:sp>
      <p:sp>
        <p:nvSpPr>
          <p:cNvPr id="36" name="Text Placeholder 2">
            <a:extLst>
              <a:ext uri="{FF2B5EF4-FFF2-40B4-BE49-F238E27FC236}">
                <a16:creationId xmlns:a16="http://schemas.microsoft.com/office/drawing/2014/main" id="{6B6F9C3A-48F0-435F-9ECD-169C82439B71}"/>
              </a:ext>
            </a:extLst>
          </p:cNvPr>
          <p:cNvSpPr>
            <a:spLocks noGrp="1"/>
          </p:cNvSpPr>
          <p:nvPr>
            <p:custDataLst>
              <p:tags r:id="rId5"/>
            </p:custDataLst>
          </p:nvPr>
        </p:nvSpPr>
        <p:spPr bwMode="auto">
          <a:xfrm>
            <a:off x="4803775" y="4433888"/>
            <a:ext cx="403225"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endParaRPr lang="en-US" sz="800" dirty="0"/>
          </a:p>
        </p:txBody>
      </p:sp>
      <p:sp>
        <p:nvSpPr>
          <p:cNvPr id="37" name="Text Placeholder 2">
            <a:extLst>
              <a:ext uri="{FF2B5EF4-FFF2-40B4-BE49-F238E27FC236}">
                <a16:creationId xmlns:a16="http://schemas.microsoft.com/office/drawing/2014/main" id="{56B02D62-DF48-49CC-A664-48E3437C2533}"/>
              </a:ext>
            </a:extLst>
          </p:cNvPr>
          <p:cNvSpPr>
            <a:spLocks noGrp="1"/>
          </p:cNvSpPr>
          <p:nvPr>
            <p:custDataLst>
              <p:tags r:id="rId6"/>
            </p:custDataLst>
          </p:nvPr>
        </p:nvSpPr>
        <p:spPr bwMode="auto">
          <a:xfrm>
            <a:off x="4465638" y="4656138"/>
            <a:ext cx="36830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endParaRPr lang="en-US" sz="800" dirty="0"/>
          </a:p>
        </p:txBody>
      </p:sp>
      <p:pic>
        <p:nvPicPr>
          <p:cNvPr id="12" name="Picture 11">
            <a:extLst>
              <a:ext uri="{FF2B5EF4-FFF2-40B4-BE49-F238E27FC236}">
                <a16:creationId xmlns:a16="http://schemas.microsoft.com/office/drawing/2014/main" id="{521080F9-681C-4A07-B52E-B41354C8A7BB}"/>
              </a:ext>
            </a:extLst>
          </p:cNvPr>
          <p:cNvPicPr>
            <a:picLocks noChangeAspect="1"/>
          </p:cNvPicPr>
          <p:nvPr>
            <p:custDataLst>
              <p:tags r:id="rId7"/>
            </p:custDataLst>
          </p:nvPr>
        </p:nvPicPr>
        <p:blipFill>
          <a:blip r:embed="rId20"/>
          <a:stretch>
            <a:fillRect/>
          </a:stretch>
        </p:blipFill>
        <p:spPr>
          <a:xfrm>
            <a:off x="1117598" y="1856229"/>
            <a:ext cx="3155950" cy="877764"/>
          </a:xfrm>
          <a:prstGeom prst="rect">
            <a:avLst/>
          </a:prstGeom>
        </p:spPr>
      </p:pic>
      <p:pic>
        <p:nvPicPr>
          <p:cNvPr id="39" name="Picture 38">
            <a:extLst>
              <a:ext uri="{FF2B5EF4-FFF2-40B4-BE49-F238E27FC236}">
                <a16:creationId xmlns:a16="http://schemas.microsoft.com/office/drawing/2014/main" id="{8FB1A4FB-EB47-475F-8189-390E7D0B3AAD}"/>
              </a:ext>
            </a:extLst>
          </p:cNvPr>
          <p:cNvPicPr>
            <a:picLocks noChangeAspect="1"/>
          </p:cNvPicPr>
          <p:nvPr>
            <p:custDataLst>
              <p:tags r:id="rId8"/>
            </p:custDataLst>
          </p:nvPr>
        </p:nvPicPr>
        <p:blipFill>
          <a:blip r:embed="rId21"/>
          <a:stretch>
            <a:fillRect/>
          </a:stretch>
        </p:blipFill>
        <p:spPr>
          <a:xfrm>
            <a:off x="4542878" y="1845590"/>
            <a:ext cx="3035300" cy="1360443"/>
          </a:xfrm>
          <a:prstGeom prst="rect">
            <a:avLst/>
          </a:prstGeom>
        </p:spPr>
      </p:pic>
      <p:pic>
        <p:nvPicPr>
          <p:cNvPr id="40" name="Picture 39">
            <a:extLst>
              <a:ext uri="{FF2B5EF4-FFF2-40B4-BE49-F238E27FC236}">
                <a16:creationId xmlns:a16="http://schemas.microsoft.com/office/drawing/2014/main" id="{E14DBD7D-6467-45ED-A302-6E0AEA3695B5}"/>
              </a:ext>
            </a:extLst>
          </p:cNvPr>
          <p:cNvPicPr>
            <a:picLocks noChangeAspect="1"/>
          </p:cNvPicPr>
          <p:nvPr>
            <p:custDataLst>
              <p:tags r:id="rId9"/>
            </p:custDataLst>
          </p:nvPr>
        </p:nvPicPr>
        <p:blipFill>
          <a:blip r:embed="rId22"/>
          <a:stretch>
            <a:fillRect/>
          </a:stretch>
        </p:blipFill>
        <p:spPr>
          <a:xfrm>
            <a:off x="8262144" y="1850441"/>
            <a:ext cx="2520950" cy="1508945"/>
          </a:xfrm>
          <a:prstGeom prst="rect">
            <a:avLst/>
          </a:prstGeom>
        </p:spPr>
      </p:pic>
      <p:sp>
        <p:nvSpPr>
          <p:cNvPr id="41" name="Rectangle: Rounded Corners 40">
            <a:hlinkClick r:id="rId23" action="ppaction://hlinksldjump"/>
            <a:extLst>
              <a:ext uri="{FF2B5EF4-FFF2-40B4-BE49-F238E27FC236}">
                <a16:creationId xmlns:a16="http://schemas.microsoft.com/office/drawing/2014/main" id="{058E7BD6-C61B-4753-8F86-79274329D2EB}"/>
              </a:ext>
            </a:extLst>
          </p:cNvPr>
          <p:cNvSpPr/>
          <p:nvPr/>
        </p:nvSpPr>
        <p:spPr>
          <a:xfrm>
            <a:off x="3503614" y="1466793"/>
            <a:ext cx="683404" cy="209833"/>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dirty="0">
                <a:ln>
                  <a:noFill/>
                </a:ln>
                <a:solidFill>
                  <a:schemeClr val="bg1"/>
                </a:solidFill>
                <a:effectLst/>
                <a:uLnTx/>
                <a:uFillTx/>
                <a:latin typeface="Arial"/>
                <a:ea typeface="+mn-ea"/>
                <a:cs typeface="+mn-cs"/>
              </a:rPr>
              <a:t>Read more</a:t>
            </a:r>
          </a:p>
        </p:txBody>
      </p:sp>
      <p:sp>
        <p:nvSpPr>
          <p:cNvPr id="42" name="Rectangle: Rounded Corners 41">
            <a:hlinkClick r:id="rId24" action="ppaction://hlinksldjump"/>
            <a:extLst>
              <a:ext uri="{FF2B5EF4-FFF2-40B4-BE49-F238E27FC236}">
                <a16:creationId xmlns:a16="http://schemas.microsoft.com/office/drawing/2014/main" id="{3A2C801C-BF16-4092-B33D-F50E63376A62}"/>
              </a:ext>
            </a:extLst>
          </p:cNvPr>
          <p:cNvSpPr/>
          <p:nvPr/>
        </p:nvSpPr>
        <p:spPr>
          <a:xfrm>
            <a:off x="6936147" y="1466793"/>
            <a:ext cx="683404" cy="209833"/>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chemeClr val="bg1"/>
                </a:solidFill>
                <a:effectLst/>
                <a:uLnTx/>
                <a:uFillTx/>
                <a:latin typeface="Arial"/>
                <a:ea typeface="+mn-ea"/>
                <a:cs typeface="+mn-cs"/>
              </a:rPr>
              <a:t>Read more</a:t>
            </a:r>
          </a:p>
        </p:txBody>
      </p:sp>
      <p:sp>
        <p:nvSpPr>
          <p:cNvPr id="43" name="Rectangle: Rounded Corners 42">
            <a:hlinkClick r:id="rId24" action="ppaction://hlinksldjump"/>
            <a:extLst>
              <a:ext uri="{FF2B5EF4-FFF2-40B4-BE49-F238E27FC236}">
                <a16:creationId xmlns:a16="http://schemas.microsoft.com/office/drawing/2014/main" id="{3D21F2F7-DCFA-487F-83F0-5F76999AE827}"/>
              </a:ext>
            </a:extLst>
          </p:cNvPr>
          <p:cNvSpPr/>
          <p:nvPr/>
        </p:nvSpPr>
        <p:spPr>
          <a:xfrm>
            <a:off x="10368682" y="1466793"/>
            <a:ext cx="683404" cy="209833"/>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chemeClr val="bg1"/>
                </a:solidFill>
                <a:effectLst/>
                <a:uLnTx/>
                <a:uFillTx/>
                <a:latin typeface="Arial"/>
                <a:ea typeface="+mn-ea"/>
                <a:cs typeface="+mn-cs"/>
              </a:rPr>
              <a:t>Read more</a:t>
            </a:r>
          </a:p>
        </p:txBody>
      </p:sp>
      <p:pic>
        <p:nvPicPr>
          <p:cNvPr id="44" name="Picture 43">
            <a:extLst>
              <a:ext uri="{FF2B5EF4-FFF2-40B4-BE49-F238E27FC236}">
                <a16:creationId xmlns:a16="http://schemas.microsoft.com/office/drawing/2014/main" id="{4872772B-8C3D-4F30-BD56-3B2B875C7836}"/>
              </a:ext>
            </a:extLst>
          </p:cNvPr>
          <p:cNvPicPr>
            <a:picLocks noChangeAspect="1"/>
          </p:cNvPicPr>
          <p:nvPr>
            <p:custDataLst>
              <p:tags r:id="rId10"/>
            </p:custDataLst>
          </p:nvPr>
        </p:nvPicPr>
        <p:blipFill>
          <a:blip r:embed="rId25"/>
          <a:stretch>
            <a:fillRect/>
          </a:stretch>
        </p:blipFill>
        <p:spPr>
          <a:xfrm>
            <a:off x="4637336" y="4118534"/>
            <a:ext cx="3144808" cy="1573846"/>
          </a:xfrm>
          <a:prstGeom prst="rect">
            <a:avLst/>
          </a:prstGeom>
        </p:spPr>
      </p:pic>
      <p:sp>
        <p:nvSpPr>
          <p:cNvPr id="47" name="Text Placeholder 2">
            <a:extLst>
              <a:ext uri="{FF2B5EF4-FFF2-40B4-BE49-F238E27FC236}">
                <a16:creationId xmlns:a16="http://schemas.microsoft.com/office/drawing/2014/main" id="{1B45B984-5978-4169-915F-382CF32BEE35}"/>
              </a:ext>
            </a:extLst>
          </p:cNvPr>
          <p:cNvSpPr>
            <a:spLocks noGrp="1"/>
          </p:cNvSpPr>
          <p:nvPr>
            <p:custDataLst>
              <p:tags r:id="rId11"/>
            </p:custDataLst>
          </p:nvPr>
        </p:nvSpPr>
        <p:spPr bwMode="auto">
          <a:xfrm>
            <a:off x="2799837" y="4470207"/>
            <a:ext cx="59690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dirty="0"/>
              <a:t>Post production</a:t>
            </a:r>
            <a:endParaRPr lang="en-US" sz="800" dirty="0"/>
          </a:p>
        </p:txBody>
      </p:sp>
      <p:sp>
        <p:nvSpPr>
          <p:cNvPr id="54" name="Text Placeholder 2">
            <a:extLst>
              <a:ext uri="{FF2B5EF4-FFF2-40B4-BE49-F238E27FC236}">
                <a16:creationId xmlns:a16="http://schemas.microsoft.com/office/drawing/2014/main" id="{0FBF7A66-BF48-4A3E-BBA7-CF245ABC16F1}"/>
              </a:ext>
            </a:extLst>
          </p:cNvPr>
          <p:cNvSpPr>
            <a:spLocks noGrp="1"/>
          </p:cNvSpPr>
          <p:nvPr>
            <p:custDataLst>
              <p:tags r:id="rId12"/>
            </p:custDataLst>
          </p:nvPr>
        </p:nvSpPr>
        <p:spPr bwMode="auto">
          <a:xfrm>
            <a:off x="8692751" y="5493898"/>
            <a:ext cx="59690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GB" altLang="en-US" sz="800" dirty="0"/>
              <a:t>3.5t &amp; 3.5t Low Bodied TMV</a:t>
            </a:r>
            <a:endParaRPr lang="en-US" sz="800" dirty="0"/>
          </a:p>
        </p:txBody>
      </p:sp>
      <p:graphicFrame>
        <p:nvGraphicFramePr>
          <p:cNvPr id="58" name="Chart 57">
            <a:extLst>
              <a:ext uri="{FF2B5EF4-FFF2-40B4-BE49-F238E27FC236}">
                <a16:creationId xmlns:a16="http://schemas.microsoft.com/office/drawing/2014/main" id="{EE129E0C-5C0E-4865-9DAA-EC200E84A062}"/>
              </a:ext>
            </a:extLst>
          </p:cNvPr>
          <p:cNvGraphicFramePr>
            <a:graphicFrameLocks/>
          </p:cNvGraphicFramePr>
          <p:nvPr>
            <p:extLst>
              <p:ext uri="{D42A27DB-BD31-4B8C-83A1-F6EECF244321}">
                <p14:modId xmlns:p14="http://schemas.microsoft.com/office/powerpoint/2010/main" val="2013116700"/>
              </p:ext>
            </p:extLst>
          </p:nvPr>
        </p:nvGraphicFramePr>
        <p:xfrm>
          <a:off x="8145063" y="4232654"/>
          <a:ext cx="3061139" cy="1639860"/>
        </p:xfrm>
        <a:graphic>
          <a:graphicData uri="http://schemas.openxmlformats.org/drawingml/2006/chart">
            <c:chart xmlns:c="http://schemas.openxmlformats.org/drawingml/2006/chart" xmlns:r="http://schemas.openxmlformats.org/officeDocument/2006/relationships" r:id="rId26"/>
          </a:graphicData>
        </a:graphic>
      </p:graphicFrame>
      <p:sp>
        <p:nvSpPr>
          <p:cNvPr id="55" name="Text Placeholder 2">
            <a:extLst>
              <a:ext uri="{FF2B5EF4-FFF2-40B4-BE49-F238E27FC236}">
                <a16:creationId xmlns:a16="http://schemas.microsoft.com/office/drawing/2014/main" id="{D6F1A371-C34E-4996-B92E-03F97B0828F1}"/>
              </a:ext>
            </a:extLst>
          </p:cNvPr>
          <p:cNvSpPr>
            <a:spLocks noGrp="1"/>
          </p:cNvSpPr>
          <p:nvPr>
            <p:custDataLst>
              <p:tags r:id="rId13"/>
            </p:custDataLst>
          </p:nvPr>
        </p:nvSpPr>
        <p:spPr bwMode="auto">
          <a:xfrm>
            <a:off x="10014872" y="4788166"/>
            <a:ext cx="596900" cy="1222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sz="800" dirty="0"/>
              <a:t>18t IPV</a:t>
            </a:r>
          </a:p>
        </p:txBody>
      </p:sp>
      <p:sp>
        <p:nvSpPr>
          <p:cNvPr id="11" name="UpSlide SubSection Marker" hidden="1">
            <a:extLst>
              <a:ext uri="{FF2B5EF4-FFF2-40B4-BE49-F238E27FC236}">
                <a16:creationId xmlns:a16="http://schemas.microsoft.com/office/drawing/2014/main" id="{6FAF51AC-20F5-4588-BE71-9DA72F86CF2A}"/>
              </a:ext>
            </a:extLst>
          </p:cNvPr>
          <p:cNvSpPr/>
          <p:nvPr>
            <p:custDataLst>
              <p:tags r:id="rId1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Business overview</a:t>
            </a:r>
            <a:endParaRPr lang="en-GB" sz="900" dirty="0">
              <a:solidFill>
                <a:schemeClr val="bg1"/>
              </a:solidFill>
            </a:endParaRPr>
          </a:p>
        </p:txBody>
      </p:sp>
      <p:grpSp>
        <p:nvGrpSpPr>
          <p:cNvPr id="59" name="Group 58">
            <a:extLst>
              <a:ext uri="{FF2B5EF4-FFF2-40B4-BE49-F238E27FC236}">
                <a16:creationId xmlns:a16="http://schemas.microsoft.com/office/drawing/2014/main" id="{59809AEB-2BB2-494D-A259-21F91C8BDED7}"/>
              </a:ext>
            </a:extLst>
          </p:cNvPr>
          <p:cNvGrpSpPr/>
          <p:nvPr>
            <p:custDataLst>
              <p:tags r:id="rId15"/>
            </p:custDataLst>
          </p:nvPr>
        </p:nvGrpSpPr>
        <p:grpSpPr>
          <a:xfrm>
            <a:off x="995364" y="153170"/>
            <a:ext cx="6245240" cy="195814"/>
            <a:chOff x="995364" y="153170"/>
            <a:chExt cx="6245240" cy="195814"/>
          </a:xfrm>
        </p:grpSpPr>
        <p:sp>
          <p:nvSpPr>
            <p:cNvPr id="60" name="Current Section1">
              <a:hlinkClick r:id="rId2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61" name="Other Sections2">
              <a:hlinkClick r:id="rId2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62" name="Other Sections3">
              <a:hlinkClick r:id="rId2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63" name="Other Sections4">
              <a:hlinkClick r:id="rId30"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4" name="Other Sections5">
              <a:hlinkClick r:id="rId31"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5" name="Other Sections6">
              <a:hlinkClick r:id="rId32"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6" name="Other Sections7">
              <a:hlinkClick r:id="rId33"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37886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3" name="Verbinder: gewinkelt 7">
            <a:extLst>
              <a:ext uri="{FF2B5EF4-FFF2-40B4-BE49-F238E27FC236}">
                <a16:creationId xmlns:a16="http://schemas.microsoft.com/office/drawing/2014/main" id="{61CE683A-1205-45FF-95B3-6A540EB89AF0}"/>
              </a:ext>
            </a:extLst>
          </p:cNvPr>
          <p:cNvCxnSpPr>
            <a:cxnSpLocks/>
          </p:cNvCxnSpPr>
          <p:nvPr/>
        </p:nvCxnSpPr>
        <p:spPr>
          <a:xfrm flipV="1">
            <a:off x="5190434" y="2127108"/>
            <a:ext cx="742471" cy="538166"/>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graphicFrame>
        <p:nvGraphicFramePr>
          <p:cNvPr id="7" name="Object 6" hidden="1">
            <a:extLst>
              <a:ext uri="{FF2B5EF4-FFF2-40B4-BE49-F238E27FC236}">
                <a16:creationId xmlns:a16="http://schemas.microsoft.com/office/drawing/2014/main" id="{15C7DB92-3F4D-4FBE-8ECB-07CA106FEF61}"/>
              </a:ext>
            </a:extLst>
          </p:cNvPr>
          <p:cNvGraphicFramePr>
            <a:graphicFrameLocks noChangeAspect="1"/>
          </p:cNvGraphicFramePr>
          <p:nvPr>
            <p:custDataLst>
              <p:tags r:id="rId1"/>
            </p:custDataLst>
            <p:extLst>
              <p:ext uri="{D42A27DB-BD31-4B8C-83A1-F6EECF244321}">
                <p14:modId xmlns:p14="http://schemas.microsoft.com/office/powerpoint/2010/main" val="20718212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2" imgW="395" imgH="394" progId="TCLayout.ActiveDocument.1">
                  <p:embed/>
                </p:oleObj>
              </mc:Choice>
              <mc:Fallback>
                <p:oleObj name="think-cell Slide" r:id="rId72" imgW="395" imgH="394" progId="TCLayout.ActiveDocument.1">
                  <p:embed/>
                  <p:pic>
                    <p:nvPicPr>
                      <p:cNvPr id="7" name="Object 6" hidden="1">
                        <a:extLst>
                          <a:ext uri="{FF2B5EF4-FFF2-40B4-BE49-F238E27FC236}">
                            <a16:creationId xmlns:a16="http://schemas.microsoft.com/office/drawing/2014/main" id="{15C7DB92-3F4D-4FBE-8ECB-07CA106FEF61}"/>
                          </a:ext>
                        </a:extLst>
                      </p:cNvPr>
                      <p:cNvPicPr/>
                      <p:nvPr/>
                    </p:nvPicPr>
                    <p:blipFill>
                      <a:blip r:embed="rId73"/>
                      <a:stretch>
                        <a:fillRect/>
                      </a:stretch>
                    </p:blipFill>
                    <p:spPr>
                      <a:xfrm>
                        <a:off x="1588" y="1588"/>
                        <a:ext cx="1588" cy="1588"/>
                      </a:xfrm>
                      <a:prstGeom prst="rect">
                        <a:avLst/>
                      </a:prstGeom>
                    </p:spPr>
                  </p:pic>
                </p:oleObj>
              </mc:Fallback>
            </mc:AlternateContent>
          </a:graphicData>
        </a:graphic>
      </p:graphicFrame>
      <p:sp>
        <p:nvSpPr>
          <p:cNvPr id="209" name="Text Placeholder 12">
            <a:extLst>
              <a:ext uri="{FF2B5EF4-FFF2-40B4-BE49-F238E27FC236}">
                <a16:creationId xmlns:a16="http://schemas.microsoft.com/office/drawing/2014/main" id="{EF054154-26A9-47C1-A16C-A50108B74B65}"/>
              </a:ext>
            </a:extLst>
          </p:cNvPr>
          <p:cNvSpPr txBox="1">
            <a:spLocks/>
          </p:cNvSpPr>
          <p:nvPr/>
        </p:nvSpPr>
        <p:spPr>
          <a:xfrm>
            <a:off x="995362" y="590632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buClr>
                <a:schemeClr val="dk1">
                  <a:lumMod val="100000"/>
                </a:schemeClr>
              </a:buClr>
            </a:pPr>
            <a:r>
              <a:rPr lang="en-US" sz="600" b="0" i="0" u="none" strike="noStrike" kern="1200" baseline="0" dirty="0">
                <a:solidFill>
                  <a:schemeClr val="tx2"/>
                </a:solidFill>
              </a:rPr>
              <a:t>Sources: Management accounts; Management information; KPMG analysis.</a:t>
            </a:r>
          </a:p>
        </p:txBody>
      </p:sp>
      <p:sp>
        <p:nvSpPr>
          <p:cNvPr id="94" name="Title 4">
            <a:extLst>
              <a:ext uri="{FF2B5EF4-FFF2-40B4-BE49-F238E27FC236}">
                <a16:creationId xmlns:a16="http://schemas.microsoft.com/office/drawing/2014/main" id="{1F77EEEF-FA22-42C6-89BA-0C95A83C304F}"/>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Key financial drivers</a:t>
            </a:r>
          </a:p>
        </p:txBody>
      </p:sp>
      <p:sp>
        <p:nvSpPr>
          <p:cNvPr id="2" name="UpSlide SubSection Marker" hidden="1">
            <a:extLst>
              <a:ext uri="{FF2B5EF4-FFF2-40B4-BE49-F238E27FC236}">
                <a16:creationId xmlns:a16="http://schemas.microsoft.com/office/drawing/2014/main" id="{C75198F3-5089-7C53-F614-E6E04956D901}"/>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financial drivers</a:t>
            </a:r>
            <a:endParaRPr lang="en-US" sz="1600" dirty="0">
              <a:solidFill>
                <a:schemeClr val="bg1"/>
              </a:solidFill>
            </a:endParaRPr>
          </a:p>
        </p:txBody>
      </p:sp>
      <p:sp>
        <p:nvSpPr>
          <p:cNvPr id="17" name="Rectangle 27">
            <a:extLst>
              <a:ext uri="{FF2B5EF4-FFF2-40B4-BE49-F238E27FC236}">
                <a16:creationId xmlns:a16="http://schemas.microsoft.com/office/drawing/2014/main" id="{A85E4450-05C6-5135-3520-41791C703E5F}"/>
              </a:ext>
            </a:extLst>
          </p:cNvPr>
          <p:cNvSpPr>
            <a:spLocks noChangeArrowheads="1"/>
          </p:cNvSpPr>
          <p:nvPr>
            <p:custDataLst>
              <p:tags r:id="rId3"/>
            </p:custDataLst>
          </p:nvPr>
        </p:nvSpPr>
        <p:spPr bwMode="gray">
          <a:xfrm>
            <a:off x="3561444" y="2305578"/>
            <a:ext cx="1618208" cy="720000"/>
          </a:xfrm>
          <a:prstGeom prst="rect">
            <a:avLst/>
          </a:prstGeom>
          <a:noFill/>
          <a:ln w="6350">
            <a:solidFill>
              <a:schemeClr val="tx2"/>
            </a:solidFill>
            <a:miter lim="800000"/>
            <a:headEnd type="none" w="sm" len="sm"/>
            <a:tailEnd type="none" w="sm" len="sm"/>
          </a:ln>
          <a:effectLst/>
        </p:spPr>
        <p:txBody>
          <a:bodyPr lIns="72000" tIns="36000" rIns="72000" bIns="72000" anchor="t" anchorCtr="1"/>
          <a:lstStyle/>
          <a:p>
            <a:pPr algn="ctr" defTabSz="761981" eaLnBrk="0" hangingPunct="0"/>
            <a:r>
              <a:rPr lang="en-US" sz="1000" b="1" dirty="0">
                <a:solidFill>
                  <a:schemeClr val="tx2"/>
                </a:solidFill>
              </a:rPr>
              <a:t>Gross profit</a:t>
            </a:r>
          </a:p>
        </p:txBody>
      </p:sp>
      <p:sp>
        <p:nvSpPr>
          <p:cNvPr id="18" name="Rectangle 27">
            <a:extLst>
              <a:ext uri="{FF2B5EF4-FFF2-40B4-BE49-F238E27FC236}">
                <a16:creationId xmlns:a16="http://schemas.microsoft.com/office/drawing/2014/main" id="{201EFA62-D081-51D6-2E5D-9943CFEAF72A}"/>
              </a:ext>
            </a:extLst>
          </p:cNvPr>
          <p:cNvSpPr>
            <a:spLocks noChangeArrowheads="1"/>
          </p:cNvSpPr>
          <p:nvPr>
            <p:custDataLst>
              <p:tags r:id="rId4"/>
            </p:custDataLst>
          </p:nvPr>
        </p:nvSpPr>
        <p:spPr bwMode="gray">
          <a:xfrm>
            <a:off x="3547375" y="3621627"/>
            <a:ext cx="1618208" cy="720000"/>
          </a:xfrm>
          <a:prstGeom prst="rect">
            <a:avLst/>
          </a:prstGeom>
          <a:noFill/>
          <a:ln w="6350">
            <a:solidFill>
              <a:schemeClr val="tx2"/>
            </a:solidFill>
            <a:miter lim="800000"/>
            <a:headEnd type="none" w="sm" len="sm"/>
            <a:tailEnd type="none" w="sm" len="sm"/>
          </a:ln>
          <a:effectLst/>
        </p:spPr>
        <p:txBody>
          <a:bodyPr lIns="72000" tIns="36000" rIns="72000" bIns="72000" anchor="t" anchorCtr="1"/>
          <a:lstStyle/>
          <a:p>
            <a:pPr algn="ctr" defTabSz="761981" eaLnBrk="0" hangingPunct="0"/>
            <a:r>
              <a:rPr lang="en-US" sz="1000" b="1" dirty="0">
                <a:solidFill>
                  <a:schemeClr val="tx2"/>
                </a:solidFill>
              </a:rPr>
              <a:t>EBITDA</a:t>
            </a:r>
          </a:p>
        </p:txBody>
      </p:sp>
      <p:sp>
        <p:nvSpPr>
          <p:cNvPr id="19" name="Rectangle 27">
            <a:extLst>
              <a:ext uri="{FF2B5EF4-FFF2-40B4-BE49-F238E27FC236}">
                <a16:creationId xmlns:a16="http://schemas.microsoft.com/office/drawing/2014/main" id="{77BF03C0-A877-C598-19D2-40C43A260995}"/>
              </a:ext>
            </a:extLst>
          </p:cNvPr>
          <p:cNvSpPr>
            <a:spLocks noChangeArrowheads="1"/>
          </p:cNvSpPr>
          <p:nvPr>
            <p:custDataLst>
              <p:tags r:id="rId5"/>
            </p:custDataLst>
          </p:nvPr>
        </p:nvSpPr>
        <p:spPr bwMode="gray">
          <a:xfrm>
            <a:off x="3547375" y="4891962"/>
            <a:ext cx="1618208" cy="720000"/>
          </a:xfrm>
          <a:prstGeom prst="rect">
            <a:avLst/>
          </a:prstGeom>
          <a:noFill/>
          <a:ln w="6350">
            <a:solidFill>
              <a:schemeClr val="tx2"/>
            </a:solidFill>
            <a:miter lim="800000"/>
            <a:headEnd type="none" w="sm" len="sm"/>
            <a:tailEnd type="none" w="sm" len="sm"/>
          </a:ln>
          <a:effectLst/>
        </p:spPr>
        <p:txBody>
          <a:bodyPr lIns="72000" tIns="36000" rIns="72000" bIns="72000" anchor="t" anchorCtr="1"/>
          <a:lstStyle/>
          <a:p>
            <a:pPr algn="ctr" defTabSz="761981" eaLnBrk="0" hangingPunct="0"/>
            <a:r>
              <a:rPr lang="en-US" sz="1000" b="1" dirty="0">
                <a:solidFill>
                  <a:schemeClr val="tx2"/>
                </a:solidFill>
              </a:rPr>
              <a:t>Net capital expenditure</a:t>
            </a:r>
          </a:p>
        </p:txBody>
      </p:sp>
      <p:cxnSp>
        <p:nvCxnSpPr>
          <p:cNvPr id="20" name="Verbinder: gewinkelt 7">
            <a:extLst>
              <a:ext uri="{FF2B5EF4-FFF2-40B4-BE49-F238E27FC236}">
                <a16:creationId xmlns:a16="http://schemas.microsoft.com/office/drawing/2014/main" id="{6849BB51-A4C6-02E0-0730-5BE3BA3927DF}"/>
              </a:ext>
            </a:extLst>
          </p:cNvPr>
          <p:cNvCxnSpPr>
            <a:cxnSpLocks/>
            <a:stCxn id="41" idx="3"/>
            <a:endCxn id="95" idx="1"/>
          </p:cNvCxnSpPr>
          <p:nvPr/>
        </p:nvCxnSpPr>
        <p:spPr>
          <a:xfrm>
            <a:off x="5137074" y="1363358"/>
            <a:ext cx="803651" cy="249202"/>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21" name="Rectangle 27">
            <a:extLst>
              <a:ext uri="{FF2B5EF4-FFF2-40B4-BE49-F238E27FC236}">
                <a16:creationId xmlns:a16="http://schemas.microsoft.com/office/drawing/2014/main" id="{E6AC8827-6ABB-6A0D-1AA6-B54209F3DA17}"/>
              </a:ext>
            </a:extLst>
          </p:cNvPr>
          <p:cNvSpPr>
            <a:spLocks noChangeArrowheads="1"/>
          </p:cNvSpPr>
          <p:nvPr>
            <p:custDataLst>
              <p:tags r:id="rId6"/>
            </p:custDataLst>
          </p:nvPr>
        </p:nvSpPr>
        <p:spPr bwMode="gray">
          <a:xfrm>
            <a:off x="1022876" y="2608886"/>
            <a:ext cx="1618208" cy="1193796"/>
          </a:xfrm>
          <a:prstGeom prst="rect">
            <a:avLst/>
          </a:prstGeom>
          <a:solidFill>
            <a:schemeClr val="bg1"/>
          </a:solidFill>
          <a:ln w="9525">
            <a:solidFill>
              <a:srgbClr val="00338D"/>
            </a:solidFill>
            <a:miter lim="800000"/>
            <a:headEnd type="none" w="sm" len="sm"/>
            <a:tailEnd type="none" w="sm" len="sm"/>
          </a:ln>
          <a:effectLst/>
        </p:spPr>
        <p:txBody>
          <a:bodyPr lIns="54000" tIns="54000" rIns="54000" bIns="54000" anchor="ctr" anchorCtr="1"/>
          <a:lstStyle/>
          <a:p>
            <a:pPr algn="ctr" defTabSz="761981" eaLnBrk="0" hangingPunct="0"/>
            <a:endParaRPr lang="en-US" sz="900">
              <a:solidFill>
                <a:schemeClr val="bg1"/>
              </a:solidFill>
            </a:endParaRPr>
          </a:p>
        </p:txBody>
      </p:sp>
      <p:sp>
        <p:nvSpPr>
          <p:cNvPr id="22" name="Rectangle 27">
            <a:extLst>
              <a:ext uri="{FF2B5EF4-FFF2-40B4-BE49-F238E27FC236}">
                <a16:creationId xmlns:a16="http://schemas.microsoft.com/office/drawing/2014/main" id="{2AE9811E-20C1-4744-AF8A-C544DA51DB4A}"/>
              </a:ext>
            </a:extLst>
          </p:cNvPr>
          <p:cNvSpPr>
            <a:spLocks noChangeArrowheads="1"/>
          </p:cNvSpPr>
          <p:nvPr>
            <p:custDataLst>
              <p:tags r:id="rId7"/>
            </p:custDataLst>
          </p:nvPr>
        </p:nvSpPr>
        <p:spPr bwMode="gray">
          <a:xfrm>
            <a:off x="1022876" y="2608885"/>
            <a:ext cx="1618208" cy="231688"/>
          </a:xfrm>
          <a:prstGeom prst="rect">
            <a:avLst/>
          </a:prstGeom>
          <a:solidFill>
            <a:srgbClr val="00338D"/>
          </a:solidFill>
          <a:ln w="9525">
            <a:solidFill>
              <a:srgbClr val="00338D"/>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Free cash flow</a:t>
            </a:r>
          </a:p>
        </p:txBody>
      </p:sp>
      <p:cxnSp>
        <p:nvCxnSpPr>
          <p:cNvPr id="23" name="Verbinder: gewinkelt 7">
            <a:extLst>
              <a:ext uri="{FF2B5EF4-FFF2-40B4-BE49-F238E27FC236}">
                <a16:creationId xmlns:a16="http://schemas.microsoft.com/office/drawing/2014/main" id="{939C8907-C9CB-BE42-4400-7FA79573696E}"/>
              </a:ext>
            </a:extLst>
          </p:cNvPr>
          <p:cNvCxnSpPr>
            <a:cxnSpLocks/>
            <a:stCxn id="17" idx="3"/>
          </p:cNvCxnSpPr>
          <p:nvPr/>
        </p:nvCxnSpPr>
        <p:spPr>
          <a:xfrm>
            <a:off x="5179652" y="2665578"/>
            <a:ext cx="783103" cy="403075"/>
          </a:xfrm>
          <a:prstGeom prst="bentConnector3">
            <a:avLst>
              <a:gd name="adj1" fmla="val 48347"/>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4" name="Verbinder: gewinkelt 7">
            <a:extLst>
              <a:ext uri="{FF2B5EF4-FFF2-40B4-BE49-F238E27FC236}">
                <a16:creationId xmlns:a16="http://schemas.microsoft.com/office/drawing/2014/main" id="{DC76D2A6-8E51-9D18-1DDF-4C6C437C6373}"/>
              </a:ext>
            </a:extLst>
          </p:cNvPr>
          <p:cNvCxnSpPr>
            <a:cxnSpLocks/>
            <a:stCxn id="18" idx="3"/>
            <a:endCxn id="121" idx="1"/>
          </p:cNvCxnSpPr>
          <p:nvPr/>
        </p:nvCxnSpPr>
        <p:spPr>
          <a:xfrm>
            <a:off x="5165583" y="3981627"/>
            <a:ext cx="775138" cy="275538"/>
          </a:xfrm>
          <a:prstGeom prst="bentConnector3">
            <a:avLst>
              <a:gd name="adj1" fmla="val 50655"/>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5" name="Verbinder: gewinkelt 7">
            <a:extLst>
              <a:ext uri="{FF2B5EF4-FFF2-40B4-BE49-F238E27FC236}">
                <a16:creationId xmlns:a16="http://schemas.microsoft.com/office/drawing/2014/main" id="{0186C79A-BBF0-824A-AC2C-06FF601B91B8}"/>
              </a:ext>
            </a:extLst>
          </p:cNvPr>
          <p:cNvCxnSpPr>
            <a:cxnSpLocks/>
            <a:stCxn id="21" idx="3"/>
            <a:endCxn id="19" idx="1"/>
          </p:cNvCxnSpPr>
          <p:nvPr/>
        </p:nvCxnSpPr>
        <p:spPr>
          <a:xfrm>
            <a:off x="2641084" y="3205784"/>
            <a:ext cx="906291" cy="2046178"/>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7" name="Verbinder: gewinkelt 7">
            <a:extLst>
              <a:ext uri="{FF2B5EF4-FFF2-40B4-BE49-F238E27FC236}">
                <a16:creationId xmlns:a16="http://schemas.microsoft.com/office/drawing/2014/main" id="{C071B6A4-2CF1-0280-27A3-1724190F9FFD}"/>
              </a:ext>
            </a:extLst>
          </p:cNvPr>
          <p:cNvCxnSpPr>
            <a:cxnSpLocks/>
            <a:stCxn id="21" idx="3"/>
            <a:endCxn id="18" idx="1"/>
          </p:cNvCxnSpPr>
          <p:nvPr/>
        </p:nvCxnSpPr>
        <p:spPr>
          <a:xfrm>
            <a:off x="2641084" y="3205784"/>
            <a:ext cx="906291" cy="775843"/>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8" name="Verbinder: gewinkelt 7">
            <a:extLst>
              <a:ext uri="{FF2B5EF4-FFF2-40B4-BE49-F238E27FC236}">
                <a16:creationId xmlns:a16="http://schemas.microsoft.com/office/drawing/2014/main" id="{6A9B292D-6863-9E85-4F38-8925FF7A722E}"/>
              </a:ext>
            </a:extLst>
          </p:cNvPr>
          <p:cNvCxnSpPr>
            <a:cxnSpLocks/>
            <a:stCxn id="21" idx="3"/>
            <a:endCxn id="17" idx="1"/>
          </p:cNvCxnSpPr>
          <p:nvPr/>
        </p:nvCxnSpPr>
        <p:spPr>
          <a:xfrm flipV="1">
            <a:off x="2641084" y="2665578"/>
            <a:ext cx="920360" cy="540206"/>
          </a:xfrm>
          <a:prstGeom prst="bentConnector3">
            <a:avLst>
              <a:gd name="adj1" fmla="val 49375"/>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9" name="Verbinder: gewinkelt 7">
            <a:extLst>
              <a:ext uri="{FF2B5EF4-FFF2-40B4-BE49-F238E27FC236}">
                <a16:creationId xmlns:a16="http://schemas.microsoft.com/office/drawing/2014/main" id="{3169E1E7-A94D-2374-9DCB-B85EF0407BF7}"/>
              </a:ext>
            </a:extLst>
          </p:cNvPr>
          <p:cNvCxnSpPr>
            <a:cxnSpLocks/>
          </p:cNvCxnSpPr>
          <p:nvPr/>
        </p:nvCxnSpPr>
        <p:spPr>
          <a:xfrm flipV="1">
            <a:off x="2649331" y="1368863"/>
            <a:ext cx="877782" cy="1842426"/>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32" name="Verbinder: gewinkelt 7">
            <a:extLst>
              <a:ext uri="{FF2B5EF4-FFF2-40B4-BE49-F238E27FC236}">
                <a16:creationId xmlns:a16="http://schemas.microsoft.com/office/drawing/2014/main" id="{D5E075B8-DF2C-EB96-4DC5-08B5355FC180}"/>
              </a:ext>
            </a:extLst>
          </p:cNvPr>
          <p:cNvCxnSpPr>
            <a:cxnSpLocks/>
            <a:endCxn id="97" idx="1"/>
          </p:cNvCxnSpPr>
          <p:nvPr/>
        </p:nvCxnSpPr>
        <p:spPr>
          <a:xfrm flipV="1">
            <a:off x="5164995" y="1072645"/>
            <a:ext cx="779030" cy="293008"/>
          </a:xfrm>
          <a:prstGeom prst="bentConnector3">
            <a:avLst>
              <a:gd name="adj1" fmla="val 48524"/>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36" name="Verbinder: gewinkelt 7">
            <a:extLst>
              <a:ext uri="{FF2B5EF4-FFF2-40B4-BE49-F238E27FC236}">
                <a16:creationId xmlns:a16="http://schemas.microsoft.com/office/drawing/2014/main" id="{89279F8F-135C-F01E-3E8C-AAD577575B34}"/>
              </a:ext>
            </a:extLst>
          </p:cNvPr>
          <p:cNvCxnSpPr>
            <a:cxnSpLocks/>
            <a:stCxn id="17" idx="3"/>
          </p:cNvCxnSpPr>
          <p:nvPr/>
        </p:nvCxnSpPr>
        <p:spPr>
          <a:xfrm>
            <a:off x="5179652" y="2665580"/>
            <a:ext cx="783103" cy="865"/>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37" name="Verbinder: gewinkelt 7">
            <a:extLst>
              <a:ext uri="{FF2B5EF4-FFF2-40B4-BE49-F238E27FC236}">
                <a16:creationId xmlns:a16="http://schemas.microsoft.com/office/drawing/2014/main" id="{BDD869D9-E253-9326-3437-781E5DF25B90}"/>
              </a:ext>
            </a:extLst>
          </p:cNvPr>
          <p:cNvCxnSpPr>
            <a:cxnSpLocks/>
            <a:stCxn id="18" idx="3"/>
            <a:endCxn id="118" idx="1"/>
          </p:cNvCxnSpPr>
          <p:nvPr/>
        </p:nvCxnSpPr>
        <p:spPr>
          <a:xfrm flipV="1">
            <a:off x="5165583" y="3670965"/>
            <a:ext cx="763341" cy="310662"/>
          </a:xfrm>
          <a:prstGeom prst="bentConnector3">
            <a:avLst>
              <a:gd name="adj1" fmla="val 51331"/>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41" name="Rectangle 27">
            <a:extLst>
              <a:ext uri="{FF2B5EF4-FFF2-40B4-BE49-F238E27FC236}">
                <a16:creationId xmlns:a16="http://schemas.microsoft.com/office/drawing/2014/main" id="{FB65871C-7758-7C5A-1EA2-94DB804878F1}"/>
              </a:ext>
            </a:extLst>
          </p:cNvPr>
          <p:cNvSpPr>
            <a:spLocks noChangeArrowheads="1"/>
          </p:cNvSpPr>
          <p:nvPr>
            <p:custDataLst>
              <p:tags r:id="rId8"/>
            </p:custDataLst>
          </p:nvPr>
        </p:nvSpPr>
        <p:spPr bwMode="gray">
          <a:xfrm>
            <a:off x="3518866" y="1003358"/>
            <a:ext cx="1618208" cy="720000"/>
          </a:xfrm>
          <a:prstGeom prst="rect">
            <a:avLst/>
          </a:prstGeom>
          <a:noFill/>
          <a:ln w="6350">
            <a:solidFill>
              <a:schemeClr val="tx2"/>
            </a:solidFill>
            <a:miter lim="800000"/>
            <a:headEnd type="none" w="sm" len="sm"/>
            <a:tailEnd type="none" w="sm" len="sm"/>
          </a:ln>
          <a:effectLst/>
        </p:spPr>
        <p:txBody>
          <a:bodyPr lIns="72000" tIns="36000" rIns="72000" bIns="72000" anchor="t" anchorCtr="1"/>
          <a:lstStyle/>
          <a:p>
            <a:pPr algn="ctr" defTabSz="761981" eaLnBrk="0" hangingPunct="0"/>
            <a:r>
              <a:rPr lang="en-US" sz="1000" b="1" dirty="0">
                <a:solidFill>
                  <a:schemeClr val="tx2"/>
                </a:solidFill>
              </a:rPr>
              <a:t>Revenue</a:t>
            </a:r>
          </a:p>
        </p:txBody>
      </p:sp>
      <p:sp>
        <p:nvSpPr>
          <p:cNvPr id="43" name="Text Placeholder 2">
            <a:extLst>
              <a:ext uri="{FF2B5EF4-FFF2-40B4-BE49-F238E27FC236}">
                <a16:creationId xmlns:a16="http://schemas.microsoft.com/office/drawing/2014/main" id="{D777E711-18A5-F440-D507-7989E0879067}"/>
              </a:ext>
            </a:extLst>
          </p:cNvPr>
          <p:cNvSpPr>
            <a:spLocks noGrp="1"/>
          </p:cNvSpPr>
          <p:nvPr>
            <p:custDataLst>
              <p:tags r:id="rId9"/>
            </p:custDataLst>
          </p:nvPr>
        </p:nvSpPr>
        <p:spPr bwMode="auto">
          <a:xfrm>
            <a:off x="1710855" y="3614834"/>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2021</a:t>
            </a:r>
            <a:endParaRPr lang="en-US" sz="800" dirty="0">
              <a:solidFill>
                <a:schemeClr val="tx2"/>
              </a:solidFill>
            </a:endParaRPr>
          </a:p>
        </p:txBody>
      </p:sp>
      <p:sp>
        <p:nvSpPr>
          <p:cNvPr id="44" name="Text Placeholder 2">
            <a:extLst>
              <a:ext uri="{FF2B5EF4-FFF2-40B4-BE49-F238E27FC236}">
                <a16:creationId xmlns:a16="http://schemas.microsoft.com/office/drawing/2014/main" id="{410916AB-09D2-421C-6193-76A4EA2EC7D8}"/>
              </a:ext>
            </a:extLst>
          </p:cNvPr>
          <p:cNvSpPr>
            <a:spLocks noGrp="1"/>
          </p:cNvSpPr>
          <p:nvPr>
            <p:custDataLst>
              <p:tags r:id="rId10"/>
            </p:custDataLst>
          </p:nvPr>
        </p:nvSpPr>
        <p:spPr bwMode="auto">
          <a:xfrm>
            <a:off x="1213967" y="3614834"/>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2020</a:t>
            </a:r>
            <a:endParaRPr lang="en-US" sz="800" dirty="0">
              <a:solidFill>
                <a:schemeClr val="tx2"/>
              </a:solidFill>
            </a:endParaRPr>
          </a:p>
        </p:txBody>
      </p:sp>
      <p:sp>
        <p:nvSpPr>
          <p:cNvPr id="45" name="Text Placeholder 2">
            <a:extLst>
              <a:ext uri="{FF2B5EF4-FFF2-40B4-BE49-F238E27FC236}">
                <a16:creationId xmlns:a16="http://schemas.microsoft.com/office/drawing/2014/main" id="{CED9E300-808C-4088-CA45-AFF2BCFD6735}"/>
              </a:ext>
            </a:extLst>
          </p:cNvPr>
          <p:cNvSpPr>
            <a:spLocks noGrp="1"/>
          </p:cNvSpPr>
          <p:nvPr>
            <p:custDataLst>
              <p:tags r:id="rId11"/>
            </p:custDataLst>
          </p:nvPr>
        </p:nvSpPr>
        <p:spPr bwMode="auto">
          <a:xfrm>
            <a:off x="2206155" y="3614834"/>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2022</a:t>
            </a:r>
            <a:endParaRPr lang="en-US" sz="800" dirty="0">
              <a:solidFill>
                <a:schemeClr val="tx2"/>
              </a:solidFill>
            </a:endParaRPr>
          </a:p>
        </p:txBody>
      </p:sp>
      <p:graphicFrame>
        <p:nvGraphicFramePr>
          <p:cNvPr id="46" name="Chart 45">
            <a:extLst>
              <a:ext uri="{FF2B5EF4-FFF2-40B4-BE49-F238E27FC236}">
                <a16:creationId xmlns:a16="http://schemas.microsoft.com/office/drawing/2014/main" id="{2C639213-8974-F0D9-5D4C-2EE0CF99054C}"/>
              </a:ext>
            </a:extLst>
          </p:cNvPr>
          <p:cNvGraphicFramePr/>
          <p:nvPr>
            <p:custDataLst>
              <p:tags r:id="rId12"/>
            </p:custDataLst>
            <p:extLst>
              <p:ext uri="{D42A27DB-BD31-4B8C-83A1-F6EECF244321}">
                <p14:modId xmlns:p14="http://schemas.microsoft.com/office/powerpoint/2010/main" val="3784806054"/>
              </p:ext>
            </p:extLst>
          </p:nvPr>
        </p:nvGraphicFramePr>
        <p:xfrm>
          <a:off x="3320645" y="1101761"/>
          <a:ext cx="2024063" cy="539751"/>
        </p:xfrm>
        <a:graphic>
          <a:graphicData uri="http://schemas.openxmlformats.org/drawingml/2006/chart">
            <c:chart xmlns:c="http://schemas.openxmlformats.org/drawingml/2006/chart" xmlns:r="http://schemas.openxmlformats.org/officeDocument/2006/relationships" r:id="rId74"/>
          </a:graphicData>
        </a:graphic>
      </p:graphicFrame>
      <p:sp>
        <p:nvSpPr>
          <p:cNvPr id="47" name="Text Placeholder 2">
            <a:extLst>
              <a:ext uri="{FF2B5EF4-FFF2-40B4-BE49-F238E27FC236}">
                <a16:creationId xmlns:a16="http://schemas.microsoft.com/office/drawing/2014/main" id="{306CE4B3-9CE7-AAE4-B3A2-102264A3730B}"/>
              </a:ext>
            </a:extLst>
          </p:cNvPr>
          <p:cNvSpPr>
            <a:spLocks noGrp="1"/>
          </p:cNvSpPr>
          <p:nvPr>
            <p:custDataLst>
              <p:tags r:id="rId13"/>
            </p:custDataLst>
          </p:nvPr>
        </p:nvSpPr>
        <p:spPr bwMode="auto">
          <a:xfrm>
            <a:off x="4239742" y="1866998"/>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2021</a:t>
            </a:r>
            <a:endParaRPr lang="en-US" sz="800" dirty="0">
              <a:solidFill>
                <a:schemeClr val="tx2"/>
              </a:solidFill>
            </a:endParaRPr>
          </a:p>
        </p:txBody>
      </p:sp>
      <p:sp>
        <p:nvSpPr>
          <p:cNvPr id="48" name="Text Placeholder 2">
            <a:extLst>
              <a:ext uri="{FF2B5EF4-FFF2-40B4-BE49-F238E27FC236}">
                <a16:creationId xmlns:a16="http://schemas.microsoft.com/office/drawing/2014/main" id="{D5CF5937-CCD9-133D-8E9D-1F2A9A4B1100}"/>
              </a:ext>
            </a:extLst>
          </p:cNvPr>
          <p:cNvSpPr>
            <a:spLocks noGrp="1"/>
          </p:cNvSpPr>
          <p:nvPr>
            <p:custDataLst>
              <p:tags r:id="rId14"/>
            </p:custDataLst>
          </p:nvPr>
        </p:nvSpPr>
        <p:spPr bwMode="auto">
          <a:xfrm>
            <a:off x="3742855" y="1866998"/>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2020</a:t>
            </a:r>
            <a:endParaRPr lang="en-US" sz="800" dirty="0">
              <a:solidFill>
                <a:schemeClr val="tx2"/>
              </a:solidFill>
            </a:endParaRPr>
          </a:p>
        </p:txBody>
      </p:sp>
      <p:sp>
        <p:nvSpPr>
          <p:cNvPr id="49" name="Text Placeholder 2">
            <a:extLst>
              <a:ext uri="{FF2B5EF4-FFF2-40B4-BE49-F238E27FC236}">
                <a16:creationId xmlns:a16="http://schemas.microsoft.com/office/drawing/2014/main" id="{C9B863C0-60CA-3273-82F3-F01C00FAC2FC}"/>
              </a:ext>
            </a:extLst>
          </p:cNvPr>
          <p:cNvSpPr>
            <a:spLocks noGrp="1"/>
          </p:cNvSpPr>
          <p:nvPr>
            <p:custDataLst>
              <p:tags r:id="rId15"/>
            </p:custDataLst>
          </p:nvPr>
        </p:nvSpPr>
        <p:spPr bwMode="auto">
          <a:xfrm>
            <a:off x="4735042" y="1866998"/>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2022</a:t>
            </a:r>
            <a:endParaRPr lang="en-US" sz="800" dirty="0">
              <a:solidFill>
                <a:schemeClr val="tx2"/>
              </a:solidFill>
            </a:endParaRPr>
          </a:p>
        </p:txBody>
      </p:sp>
      <p:graphicFrame>
        <p:nvGraphicFramePr>
          <p:cNvPr id="50" name="Chart 49">
            <a:extLst>
              <a:ext uri="{FF2B5EF4-FFF2-40B4-BE49-F238E27FC236}">
                <a16:creationId xmlns:a16="http://schemas.microsoft.com/office/drawing/2014/main" id="{C43F61CA-88F2-E53D-865B-01B49E633071}"/>
              </a:ext>
            </a:extLst>
          </p:cNvPr>
          <p:cNvGraphicFramePr/>
          <p:nvPr>
            <p:custDataLst>
              <p:tags r:id="rId16"/>
            </p:custDataLst>
            <p:extLst>
              <p:ext uri="{D42A27DB-BD31-4B8C-83A1-F6EECF244321}">
                <p14:modId xmlns:p14="http://schemas.microsoft.com/office/powerpoint/2010/main" val="3670337723"/>
              </p:ext>
            </p:extLst>
          </p:nvPr>
        </p:nvGraphicFramePr>
        <p:xfrm>
          <a:off x="3547375" y="2401750"/>
          <a:ext cx="1654175" cy="539751"/>
        </p:xfrm>
        <a:graphic>
          <a:graphicData uri="http://schemas.openxmlformats.org/drawingml/2006/chart">
            <c:chart xmlns:c="http://schemas.openxmlformats.org/drawingml/2006/chart" xmlns:r="http://schemas.openxmlformats.org/officeDocument/2006/relationships" r:id="rId75"/>
          </a:graphicData>
        </a:graphic>
      </p:graphicFrame>
      <p:cxnSp>
        <p:nvCxnSpPr>
          <p:cNvPr id="51" name="Straight Connector 50">
            <a:extLst>
              <a:ext uri="{FF2B5EF4-FFF2-40B4-BE49-F238E27FC236}">
                <a16:creationId xmlns:a16="http://schemas.microsoft.com/office/drawing/2014/main" id="{3CFD28E9-F49C-0192-56C5-FFC872A4C03A}"/>
              </a:ext>
            </a:extLst>
          </p:cNvPr>
          <p:cNvCxnSpPr/>
          <p:nvPr>
            <p:custDataLst>
              <p:tags r:id="rId17"/>
            </p:custDataLst>
          </p:nvPr>
        </p:nvCxnSpPr>
        <p:spPr bwMode="gray">
          <a:xfrm>
            <a:off x="3877573" y="2725136"/>
            <a:ext cx="0" cy="79375"/>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7E000667-8A79-615E-16AA-B7F78CBB5DCF}"/>
              </a:ext>
            </a:extLst>
          </p:cNvPr>
          <p:cNvCxnSpPr>
            <a:cxnSpLocks/>
          </p:cNvCxnSpPr>
          <p:nvPr>
            <p:custDataLst>
              <p:tags r:id="rId18"/>
            </p:custDataLst>
          </p:nvPr>
        </p:nvCxnSpPr>
        <p:spPr bwMode="gray">
          <a:xfrm>
            <a:off x="4869760" y="2718784"/>
            <a:ext cx="0" cy="82551"/>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CE759967-D3EA-D5D1-D3CB-BEDAA45E586E}"/>
              </a:ext>
            </a:extLst>
          </p:cNvPr>
          <p:cNvCxnSpPr/>
          <p:nvPr>
            <p:custDataLst>
              <p:tags r:id="rId19"/>
            </p:custDataLst>
          </p:nvPr>
        </p:nvCxnSpPr>
        <p:spPr bwMode="gray">
          <a:xfrm>
            <a:off x="4374460" y="2721960"/>
            <a:ext cx="0" cy="80963"/>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4" name="Text Placeholder 2">
            <a:extLst>
              <a:ext uri="{FF2B5EF4-FFF2-40B4-BE49-F238E27FC236}">
                <a16:creationId xmlns:a16="http://schemas.microsoft.com/office/drawing/2014/main" id="{987CB50C-80CE-5C2A-B483-7B5A42BFC414}"/>
              </a:ext>
            </a:extLst>
          </p:cNvPr>
          <p:cNvSpPr>
            <a:spLocks noGrp="1"/>
          </p:cNvSpPr>
          <p:nvPr>
            <p:custDataLst>
              <p:tags r:id="rId20"/>
            </p:custDataLst>
          </p:nvPr>
        </p:nvSpPr>
        <p:spPr bwMode="gray">
          <a:xfrm>
            <a:off x="4226824" y="2599722"/>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4.0</a:t>
            </a:r>
          </a:p>
        </p:txBody>
      </p:sp>
      <p:sp>
        <p:nvSpPr>
          <p:cNvPr id="55" name="Text Placeholder 2">
            <a:extLst>
              <a:ext uri="{FF2B5EF4-FFF2-40B4-BE49-F238E27FC236}">
                <a16:creationId xmlns:a16="http://schemas.microsoft.com/office/drawing/2014/main" id="{F2A0942D-0E7C-E638-329B-0671A76BE6E5}"/>
              </a:ext>
            </a:extLst>
          </p:cNvPr>
          <p:cNvSpPr>
            <a:spLocks noGrp="1"/>
          </p:cNvSpPr>
          <p:nvPr>
            <p:custDataLst>
              <p:tags r:id="rId21"/>
            </p:custDataLst>
          </p:nvPr>
        </p:nvSpPr>
        <p:spPr bwMode="auto">
          <a:xfrm>
            <a:off x="3756924" y="2891822"/>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2020</a:t>
            </a:r>
            <a:endParaRPr lang="en-US" sz="800" dirty="0">
              <a:solidFill>
                <a:schemeClr val="tx2"/>
              </a:solidFill>
            </a:endParaRPr>
          </a:p>
        </p:txBody>
      </p:sp>
      <p:sp>
        <p:nvSpPr>
          <p:cNvPr id="56" name="Text Placeholder 2">
            <a:extLst>
              <a:ext uri="{FF2B5EF4-FFF2-40B4-BE49-F238E27FC236}">
                <a16:creationId xmlns:a16="http://schemas.microsoft.com/office/drawing/2014/main" id="{F114929F-B82E-2EE0-B116-9C8E13314199}"/>
              </a:ext>
            </a:extLst>
          </p:cNvPr>
          <p:cNvSpPr>
            <a:spLocks noGrp="1"/>
          </p:cNvSpPr>
          <p:nvPr>
            <p:custDataLst>
              <p:tags r:id="rId22"/>
            </p:custDataLst>
          </p:nvPr>
        </p:nvSpPr>
        <p:spPr bwMode="gray">
          <a:xfrm>
            <a:off x="3729936" y="2602897"/>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3.7</a:t>
            </a:r>
          </a:p>
        </p:txBody>
      </p:sp>
      <p:sp>
        <p:nvSpPr>
          <p:cNvPr id="57" name="Text Placeholder 2">
            <a:extLst>
              <a:ext uri="{FF2B5EF4-FFF2-40B4-BE49-F238E27FC236}">
                <a16:creationId xmlns:a16="http://schemas.microsoft.com/office/drawing/2014/main" id="{7BBBBC52-C7C9-F9DA-EE5B-DA1436B0A5C4}"/>
              </a:ext>
            </a:extLst>
          </p:cNvPr>
          <p:cNvSpPr>
            <a:spLocks noGrp="1"/>
          </p:cNvSpPr>
          <p:nvPr>
            <p:custDataLst>
              <p:tags r:id="rId23"/>
            </p:custDataLst>
          </p:nvPr>
        </p:nvSpPr>
        <p:spPr bwMode="gray">
          <a:xfrm>
            <a:off x="4722124" y="2596548"/>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4.1</a:t>
            </a:r>
            <a:endParaRPr lang="en-US" sz="800" dirty="0">
              <a:solidFill>
                <a:schemeClr val="tx2"/>
              </a:solidFill>
            </a:endParaRPr>
          </a:p>
        </p:txBody>
      </p:sp>
      <p:sp>
        <p:nvSpPr>
          <p:cNvPr id="58" name="Text Placeholder 2">
            <a:extLst>
              <a:ext uri="{FF2B5EF4-FFF2-40B4-BE49-F238E27FC236}">
                <a16:creationId xmlns:a16="http://schemas.microsoft.com/office/drawing/2014/main" id="{5AB75950-C121-4EBC-936C-BD54F3F957FA}"/>
              </a:ext>
            </a:extLst>
          </p:cNvPr>
          <p:cNvSpPr>
            <a:spLocks noGrp="1"/>
          </p:cNvSpPr>
          <p:nvPr>
            <p:custDataLst>
              <p:tags r:id="rId24"/>
            </p:custDataLst>
          </p:nvPr>
        </p:nvSpPr>
        <p:spPr bwMode="auto">
          <a:xfrm>
            <a:off x="4253811" y="2891822"/>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2021</a:t>
            </a:r>
            <a:endParaRPr lang="en-US" sz="800" dirty="0">
              <a:solidFill>
                <a:schemeClr val="tx2"/>
              </a:solidFill>
            </a:endParaRPr>
          </a:p>
        </p:txBody>
      </p:sp>
      <p:sp>
        <p:nvSpPr>
          <p:cNvPr id="59" name="Text Placeholder 2">
            <a:extLst>
              <a:ext uri="{FF2B5EF4-FFF2-40B4-BE49-F238E27FC236}">
                <a16:creationId xmlns:a16="http://schemas.microsoft.com/office/drawing/2014/main" id="{FFE6808C-0799-D4A7-2251-D808143D7805}"/>
              </a:ext>
            </a:extLst>
          </p:cNvPr>
          <p:cNvSpPr>
            <a:spLocks noGrp="1"/>
          </p:cNvSpPr>
          <p:nvPr>
            <p:custDataLst>
              <p:tags r:id="rId25"/>
            </p:custDataLst>
          </p:nvPr>
        </p:nvSpPr>
        <p:spPr bwMode="auto">
          <a:xfrm>
            <a:off x="4749111" y="2891822"/>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2022</a:t>
            </a:r>
            <a:endParaRPr lang="en-US" sz="800" dirty="0">
              <a:solidFill>
                <a:schemeClr val="tx2"/>
              </a:solidFill>
            </a:endParaRPr>
          </a:p>
        </p:txBody>
      </p:sp>
      <p:graphicFrame>
        <p:nvGraphicFramePr>
          <p:cNvPr id="60" name="Chart 59">
            <a:extLst>
              <a:ext uri="{FF2B5EF4-FFF2-40B4-BE49-F238E27FC236}">
                <a16:creationId xmlns:a16="http://schemas.microsoft.com/office/drawing/2014/main" id="{E9C31A2D-C974-7DAD-CD78-C259FE419CD7}"/>
              </a:ext>
            </a:extLst>
          </p:cNvPr>
          <p:cNvGraphicFramePr/>
          <p:nvPr>
            <p:custDataLst>
              <p:tags r:id="rId26"/>
            </p:custDataLst>
            <p:extLst>
              <p:ext uri="{D42A27DB-BD31-4B8C-83A1-F6EECF244321}">
                <p14:modId xmlns:p14="http://schemas.microsoft.com/office/powerpoint/2010/main" val="3800279234"/>
              </p:ext>
            </p:extLst>
          </p:nvPr>
        </p:nvGraphicFramePr>
        <p:xfrm>
          <a:off x="3533306" y="3717414"/>
          <a:ext cx="1654175" cy="539751"/>
        </p:xfrm>
        <a:graphic>
          <a:graphicData uri="http://schemas.openxmlformats.org/drawingml/2006/chart">
            <c:chart xmlns:c="http://schemas.openxmlformats.org/drawingml/2006/chart" xmlns:r="http://schemas.openxmlformats.org/officeDocument/2006/relationships" r:id="rId76"/>
          </a:graphicData>
        </a:graphic>
      </p:graphicFrame>
      <p:cxnSp>
        <p:nvCxnSpPr>
          <p:cNvPr id="61" name="Straight Connector 60">
            <a:extLst>
              <a:ext uri="{FF2B5EF4-FFF2-40B4-BE49-F238E27FC236}">
                <a16:creationId xmlns:a16="http://schemas.microsoft.com/office/drawing/2014/main" id="{6220E5C6-5B83-BA22-8864-0A043C5EC3EB}"/>
              </a:ext>
            </a:extLst>
          </p:cNvPr>
          <p:cNvCxnSpPr>
            <a:cxnSpLocks/>
          </p:cNvCxnSpPr>
          <p:nvPr>
            <p:custDataLst>
              <p:tags r:id="rId27"/>
            </p:custDataLst>
          </p:nvPr>
        </p:nvCxnSpPr>
        <p:spPr bwMode="gray">
          <a:xfrm>
            <a:off x="4855691" y="4118584"/>
            <a:ext cx="0" cy="39688"/>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464CF991-C0CF-CAC3-A01D-39F0C0480641}"/>
              </a:ext>
            </a:extLst>
          </p:cNvPr>
          <p:cNvCxnSpPr/>
          <p:nvPr>
            <p:custDataLst>
              <p:tags r:id="rId28"/>
            </p:custDataLst>
          </p:nvPr>
        </p:nvCxnSpPr>
        <p:spPr bwMode="gray">
          <a:xfrm>
            <a:off x="3863504" y="4123347"/>
            <a:ext cx="0" cy="38100"/>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445EFBF9-149A-5E79-0D72-DC4266460FC2}"/>
              </a:ext>
            </a:extLst>
          </p:cNvPr>
          <p:cNvCxnSpPr/>
          <p:nvPr>
            <p:custDataLst>
              <p:tags r:id="rId29"/>
            </p:custDataLst>
          </p:nvPr>
        </p:nvCxnSpPr>
        <p:spPr bwMode="gray">
          <a:xfrm>
            <a:off x="4360391" y="4121759"/>
            <a:ext cx="0" cy="38100"/>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4" name="Text Placeholder 2">
            <a:extLst>
              <a:ext uri="{FF2B5EF4-FFF2-40B4-BE49-F238E27FC236}">
                <a16:creationId xmlns:a16="http://schemas.microsoft.com/office/drawing/2014/main" id="{49ABAEA6-8A90-D1D7-F600-4EBF60BB6DED}"/>
              </a:ext>
            </a:extLst>
          </p:cNvPr>
          <p:cNvSpPr>
            <a:spLocks noGrp="1"/>
          </p:cNvSpPr>
          <p:nvPr>
            <p:custDataLst>
              <p:tags r:id="rId30"/>
            </p:custDataLst>
          </p:nvPr>
        </p:nvSpPr>
        <p:spPr bwMode="auto">
          <a:xfrm>
            <a:off x="4239742" y="4207486"/>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2021</a:t>
            </a:r>
            <a:endParaRPr lang="en-US" sz="800" dirty="0">
              <a:solidFill>
                <a:schemeClr val="tx2"/>
              </a:solidFill>
            </a:endParaRPr>
          </a:p>
        </p:txBody>
      </p:sp>
      <p:sp>
        <p:nvSpPr>
          <p:cNvPr id="65" name="Text Placeholder 2">
            <a:extLst>
              <a:ext uri="{FF2B5EF4-FFF2-40B4-BE49-F238E27FC236}">
                <a16:creationId xmlns:a16="http://schemas.microsoft.com/office/drawing/2014/main" id="{EF0B435A-09E1-2327-BB81-EFA92B954658}"/>
              </a:ext>
            </a:extLst>
          </p:cNvPr>
          <p:cNvSpPr>
            <a:spLocks noGrp="1"/>
          </p:cNvSpPr>
          <p:nvPr>
            <p:custDataLst>
              <p:tags r:id="rId31"/>
            </p:custDataLst>
          </p:nvPr>
        </p:nvSpPr>
        <p:spPr bwMode="gray">
          <a:xfrm>
            <a:off x="3715867" y="3952891"/>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2.5</a:t>
            </a:r>
          </a:p>
        </p:txBody>
      </p:sp>
      <p:sp>
        <p:nvSpPr>
          <p:cNvPr id="66" name="Text Placeholder 2">
            <a:extLst>
              <a:ext uri="{FF2B5EF4-FFF2-40B4-BE49-F238E27FC236}">
                <a16:creationId xmlns:a16="http://schemas.microsoft.com/office/drawing/2014/main" id="{E75F13FC-3F60-17F9-25B4-EDBE81FE6403}"/>
              </a:ext>
            </a:extLst>
          </p:cNvPr>
          <p:cNvSpPr>
            <a:spLocks noGrp="1"/>
          </p:cNvSpPr>
          <p:nvPr>
            <p:custDataLst>
              <p:tags r:id="rId32"/>
            </p:custDataLst>
          </p:nvPr>
        </p:nvSpPr>
        <p:spPr bwMode="auto">
          <a:xfrm>
            <a:off x="3742855" y="4207486"/>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2020</a:t>
            </a:r>
          </a:p>
        </p:txBody>
      </p:sp>
      <p:sp>
        <p:nvSpPr>
          <p:cNvPr id="67" name="Text Placeholder 2">
            <a:extLst>
              <a:ext uri="{FF2B5EF4-FFF2-40B4-BE49-F238E27FC236}">
                <a16:creationId xmlns:a16="http://schemas.microsoft.com/office/drawing/2014/main" id="{7B5EC1F9-2024-078D-2529-FA93378FFA12}"/>
              </a:ext>
            </a:extLst>
          </p:cNvPr>
          <p:cNvSpPr>
            <a:spLocks noGrp="1"/>
          </p:cNvSpPr>
          <p:nvPr>
            <p:custDataLst>
              <p:tags r:id="rId33"/>
            </p:custDataLst>
          </p:nvPr>
        </p:nvSpPr>
        <p:spPr bwMode="gray">
          <a:xfrm>
            <a:off x="4708055" y="3928907"/>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2.8</a:t>
            </a:r>
          </a:p>
        </p:txBody>
      </p:sp>
      <p:sp>
        <p:nvSpPr>
          <p:cNvPr id="68" name="Text Placeholder 2">
            <a:extLst>
              <a:ext uri="{FF2B5EF4-FFF2-40B4-BE49-F238E27FC236}">
                <a16:creationId xmlns:a16="http://schemas.microsoft.com/office/drawing/2014/main" id="{AEE91D5B-1DDE-25E0-4528-8309A915E794}"/>
              </a:ext>
            </a:extLst>
          </p:cNvPr>
          <p:cNvSpPr>
            <a:spLocks noGrp="1"/>
          </p:cNvSpPr>
          <p:nvPr>
            <p:custDataLst>
              <p:tags r:id="rId34"/>
            </p:custDataLst>
          </p:nvPr>
        </p:nvSpPr>
        <p:spPr bwMode="gray">
          <a:xfrm>
            <a:off x="4212755" y="3956795"/>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2.6</a:t>
            </a:r>
          </a:p>
        </p:txBody>
      </p:sp>
      <p:sp>
        <p:nvSpPr>
          <p:cNvPr id="69" name="Text Placeholder 2">
            <a:extLst>
              <a:ext uri="{FF2B5EF4-FFF2-40B4-BE49-F238E27FC236}">
                <a16:creationId xmlns:a16="http://schemas.microsoft.com/office/drawing/2014/main" id="{75616105-BC95-5252-A85A-B8A50783A6BF}"/>
              </a:ext>
            </a:extLst>
          </p:cNvPr>
          <p:cNvSpPr>
            <a:spLocks noGrp="1"/>
          </p:cNvSpPr>
          <p:nvPr>
            <p:custDataLst>
              <p:tags r:id="rId35"/>
            </p:custDataLst>
          </p:nvPr>
        </p:nvSpPr>
        <p:spPr bwMode="auto">
          <a:xfrm>
            <a:off x="4735042" y="4207486"/>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2022</a:t>
            </a:r>
            <a:endParaRPr lang="en-US" sz="800" dirty="0">
              <a:solidFill>
                <a:schemeClr val="tx2"/>
              </a:solidFill>
            </a:endParaRPr>
          </a:p>
        </p:txBody>
      </p:sp>
      <p:graphicFrame>
        <p:nvGraphicFramePr>
          <p:cNvPr id="70" name="Chart 69">
            <a:extLst>
              <a:ext uri="{FF2B5EF4-FFF2-40B4-BE49-F238E27FC236}">
                <a16:creationId xmlns:a16="http://schemas.microsoft.com/office/drawing/2014/main" id="{C9C6DD00-F2BF-259F-AEFB-267760005411}"/>
              </a:ext>
            </a:extLst>
          </p:cNvPr>
          <p:cNvGraphicFramePr/>
          <p:nvPr>
            <p:custDataLst>
              <p:tags r:id="rId36"/>
            </p:custDataLst>
            <p:extLst>
              <p:ext uri="{D42A27DB-BD31-4B8C-83A1-F6EECF244321}">
                <p14:modId xmlns:p14="http://schemas.microsoft.com/office/powerpoint/2010/main" val="2897901063"/>
              </p:ext>
            </p:extLst>
          </p:nvPr>
        </p:nvGraphicFramePr>
        <p:xfrm>
          <a:off x="3533306" y="4995989"/>
          <a:ext cx="1654175" cy="539751"/>
        </p:xfrm>
        <a:graphic>
          <a:graphicData uri="http://schemas.openxmlformats.org/drawingml/2006/chart">
            <c:chart xmlns:c="http://schemas.openxmlformats.org/drawingml/2006/chart" xmlns:r="http://schemas.openxmlformats.org/officeDocument/2006/relationships" r:id="rId77"/>
          </a:graphicData>
        </a:graphic>
      </p:graphicFrame>
      <p:cxnSp>
        <p:nvCxnSpPr>
          <p:cNvPr id="73" name="Straight Connector 72">
            <a:extLst>
              <a:ext uri="{FF2B5EF4-FFF2-40B4-BE49-F238E27FC236}">
                <a16:creationId xmlns:a16="http://schemas.microsoft.com/office/drawing/2014/main" id="{CF46E560-34FC-F695-59A0-8BD81EA5C972}"/>
              </a:ext>
            </a:extLst>
          </p:cNvPr>
          <p:cNvCxnSpPr>
            <a:cxnSpLocks/>
          </p:cNvCxnSpPr>
          <p:nvPr>
            <p:custDataLst>
              <p:tags r:id="rId37"/>
            </p:custDataLst>
          </p:nvPr>
        </p:nvCxnSpPr>
        <p:spPr bwMode="gray">
          <a:xfrm>
            <a:off x="4855691" y="5333658"/>
            <a:ext cx="0" cy="71439"/>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AFF6F4D9-8F77-CE86-1E5B-1F46376D5591}"/>
              </a:ext>
            </a:extLst>
          </p:cNvPr>
          <p:cNvCxnSpPr/>
          <p:nvPr>
            <p:custDataLst>
              <p:tags r:id="rId38"/>
            </p:custDataLst>
          </p:nvPr>
        </p:nvCxnSpPr>
        <p:spPr bwMode="gray">
          <a:xfrm>
            <a:off x="3863504" y="5352711"/>
            <a:ext cx="0" cy="61913"/>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11D72B44-279D-355B-1F88-E843EAD3B3C5}"/>
              </a:ext>
            </a:extLst>
          </p:cNvPr>
          <p:cNvCxnSpPr/>
          <p:nvPr>
            <p:custDataLst>
              <p:tags r:id="rId39"/>
            </p:custDataLst>
          </p:nvPr>
        </p:nvCxnSpPr>
        <p:spPr bwMode="gray">
          <a:xfrm>
            <a:off x="4360391" y="5352711"/>
            <a:ext cx="0" cy="61913"/>
          </a:xfrm>
          <a:prstGeom prst="line">
            <a:avLst/>
          </a:prstGeom>
          <a:ln w="6350" cap="flat" cmpd="sng" algn="ctr">
            <a:solidFill>
              <a:schemeClr val="accent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0" name="Text Placeholder 2">
            <a:extLst>
              <a:ext uri="{FF2B5EF4-FFF2-40B4-BE49-F238E27FC236}">
                <a16:creationId xmlns:a16="http://schemas.microsoft.com/office/drawing/2014/main" id="{DD2341B8-9508-B8A2-2342-B9CEF9B1C53C}"/>
              </a:ext>
            </a:extLst>
          </p:cNvPr>
          <p:cNvSpPr>
            <a:spLocks noGrp="1"/>
          </p:cNvSpPr>
          <p:nvPr>
            <p:custDataLst>
              <p:tags r:id="rId40"/>
            </p:custDataLst>
          </p:nvPr>
        </p:nvSpPr>
        <p:spPr bwMode="auto">
          <a:xfrm>
            <a:off x="4239742" y="5486060"/>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2021</a:t>
            </a:r>
            <a:endParaRPr lang="en-US" sz="800" dirty="0">
              <a:solidFill>
                <a:schemeClr val="tx2"/>
              </a:solidFill>
            </a:endParaRPr>
          </a:p>
        </p:txBody>
      </p:sp>
      <p:sp>
        <p:nvSpPr>
          <p:cNvPr id="82" name="Text Placeholder 2">
            <a:extLst>
              <a:ext uri="{FF2B5EF4-FFF2-40B4-BE49-F238E27FC236}">
                <a16:creationId xmlns:a16="http://schemas.microsoft.com/office/drawing/2014/main" id="{D7E157B9-40B5-9F58-C4A9-71D4B5CB38F1}"/>
              </a:ext>
            </a:extLst>
          </p:cNvPr>
          <p:cNvSpPr>
            <a:spLocks noGrp="1"/>
          </p:cNvSpPr>
          <p:nvPr>
            <p:custDataLst>
              <p:tags r:id="rId41"/>
            </p:custDataLst>
          </p:nvPr>
        </p:nvSpPr>
        <p:spPr bwMode="gray">
          <a:xfrm>
            <a:off x="3715867" y="5213501"/>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(1.2)</a:t>
            </a:r>
            <a:endParaRPr lang="en-US" sz="800" dirty="0">
              <a:solidFill>
                <a:schemeClr val="tx2"/>
              </a:solidFill>
            </a:endParaRPr>
          </a:p>
        </p:txBody>
      </p:sp>
      <p:sp>
        <p:nvSpPr>
          <p:cNvPr id="83" name="Text Placeholder 2">
            <a:extLst>
              <a:ext uri="{FF2B5EF4-FFF2-40B4-BE49-F238E27FC236}">
                <a16:creationId xmlns:a16="http://schemas.microsoft.com/office/drawing/2014/main" id="{FC5F51D2-2F97-4185-9A2A-2339142BAF5C}"/>
              </a:ext>
            </a:extLst>
          </p:cNvPr>
          <p:cNvSpPr>
            <a:spLocks noGrp="1"/>
          </p:cNvSpPr>
          <p:nvPr>
            <p:custDataLst>
              <p:tags r:id="rId42"/>
            </p:custDataLst>
          </p:nvPr>
        </p:nvSpPr>
        <p:spPr bwMode="gray">
          <a:xfrm>
            <a:off x="4708055" y="5211422"/>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(1.4)</a:t>
            </a:r>
            <a:endParaRPr lang="en-US" sz="800" dirty="0">
              <a:solidFill>
                <a:schemeClr val="tx2"/>
              </a:solidFill>
            </a:endParaRPr>
          </a:p>
        </p:txBody>
      </p:sp>
      <p:sp>
        <p:nvSpPr>
          <p:cNvPr id="84" name="Text Placeholder 2">
            <a:extLst>
              <a:ext uri="{FF2B5EF4-FFF2-40B4-BE49-F238E27FC236}">
                <a16:creationId xmlns:a16="http://schemas.microsoft.com/office/drawing/2014/main" id="{4623A6CC-FA88-2D2F-5B6E-16697883BF31}"/>
              </a:ext>
            </a:extLst>
          </p:cNvPr>
          <p:cNvSpPr>
            <a:spLocks noGrp="1"/>
          </p:cNvSpPr>
          <p:nvPr>
            <p:custDataLst>
              <p:tags r:id="rId43"/>
            </p:custDataLst>
          </p:nvPr>
        </p:nvSpPr>
        <p:spPr bwMode="auto">
          <a:xfrm>
            <a:off x="3742855" y="5486060"/>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2020</a:t>
            </a:r>
            <a:endParaRPr lang="en-US" sz="800" dirty="0">
              <a:solidFill>
                <a:schemeClr val="tx2"/>
              </a:solidFill>
            </a:endParaRPr>
          </a:p>
        </p:txBody>
      </p:sp>
      <p:sp>
        <p:nvSpPr>
          <p:cNvPr id="87" name="Text Placeholder 2">
            <a:extLst>
              <a:ext uri="{FF2B5EF4-FFF2-40B4-BE49-F238E27FC236}">
                <a16:creationId xmlns:a16="http://schemas.microsoft.com/office/drawing/2014/main" id="{71F3D709-157B-914A-0DD4-B4B9E2981416}"/>
              </a:ext>
            </a:extLst>
          </p:cNvPr>
          <p:cNvSpPr>
            <a:spLocks noGrp="1"/>
          </p:cNvSpPr>
          <p:nvPr>
            <p:custDataLst>
              <p:tags r:id="rId44"/>
            </p:custDataLst>
          </p:nvPr>
        </p:nvSpPr>
        <p:spPr bwMode="gray">
          <a:xfrm>
            <a:off x="4200383" y="5206447"/>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(1.5)</a:t>
            </a:r>
            <a:endParaRPr lang="en-US" sz="800" dirty="0">
              <a:solidFill>
                <a:schemeClr val="tx2"/>
              </a:solidFill>
            </a:endParaRPr>
          </a:p>
        </p:txBody>
      </p:sp>
      <p:sp>
        <p:nvSpPr>
          <p:cNvPr id="91" name="Text Placeholder 2">
            <a:extLst>
              <a:ext uri="{FF2B5EF4-FFF2-40B4-BE49-F238E27FC236}">
                <a16:creationId xmlns:a16="http://schemas.microsoft.com/office/drawing/2014/main" id="{66CE160D-C0E7-4A5C-BAAB-281289427912}"/>
              </a:ext>
            </a:extLst>
          </p:cNvPr>
          <p:cNvSpPr>
            <a:spLocks noGrp="1"/>
          </p:cNvSpPr>
          <p:nvPr>
            <p:custDataLst>
              <p:tags r:id="rId45"/>
            </p:custDataLst>
          </p:nvPr>
        </p:nvSpPr>
        <p:spPr bwMode="auto">
          <a:xfrm>
            <a:off x="4735042" y="5486060"/>
            <a:ext cx="241300"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altLang="en-US" sz="800" dirty="0">
                <a:solidFill>
                  <a:schemeClr val="tx2"/>
                </a:solidFill>
              </a:rPr>
              <a:t>2022</a:t>
            </a:r>
            <a:endParaRPr lang="en-US" sz="800" dirty="0">
              <a:solidFill>
                <a:schemeClr val="tx2"/>
              </a:solidFill>
            </a:endParaRPr>
          </a:p>
        </p:txBody>
      </p:sp>
      <p:grpSp>
        <p:nvGrpSpPr>
          <p:cNvPr id="92" name="Group 91">
            <a:extLst>
              <a:ext uri="{FF2B5EF4-FFF2-40B4-BE49-F238E27FC236}">
                <a16:creationId xmlns:a16="http://schemas.microsoft.com/office/drawing/2014/main" id="{072ADF4B-1F97-0600-DDAA-F1F2700F429B}"/>
              </a:ext>
            </a:extLst>
          </p:cNvPr>
          <p:cNvGrpSpPr>
            <a:grpSpLocks/>
          </p:cNvGrpSpPr>
          <p:nvPr/>
        </p:nvGrpSpPr>
        <p:grpSpPr>
          <a:xfrm>
            <a:off x="5928924" y="892645"/>
            <a:ext cx="1455096" cy="4884127"/>
            <a:chOff x="5983489" y="1399374"/>
            <a:chExt cx="1337778" cy="3809158"/>
          </a:xfrm>
        </p:grpSpPr>
        <p:sp>
          <p:nvSpPr>
            <p:cNvPr id="95" name="Rectangle 27">
              <a:hlinkClick r:id="rId78" action="ppaction://hlinksldjump"/>
              <a:extLst>
                <a:ext uri="{FF2B5EF4-FFF2-40B4-BE49-F238E27FC236}">
                  <a16:creationId xmlns:a16="http://schemas.microsoft.com/office/drawing/2014/main" id="{1B32F1EE-A764-73AE-0035-15A6049F3C55}"/>
                </a:ext>
              </a:extLst>
            </p:cNvPr>
            <p:cNvSpPr>
              <a:spLocks noChangeArrowheads="1"/>
            </p:cNvSpPr>
            <p:nvPr>
              <p:custDataLst>
                <p:tags r:id="rId62"/>
              </p:custDataLst>
            </p:nvPr>
          </p:nvSpPr>
          <p:spPr bwMode="gray">
            <a:xfrm>
              <a:off x="5994336" y="1820457"/>
              <a:ext cx="1323897"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Pricing evolution</a:t>
              </a:r>
            </a:p>
          </p:txBody>
        </p:sp>
        <p:sp>
          <p:nvSpPr>
            <p:cNvPr id="97" name="Rectangle 27">
              <a:hlinkClick r:id="rId79" action="ppaction://hlinksldjump"/>
              <a:extLst>
                <a:ext uri="{FF2B5EF4-FFF2-40B4-BE49-F238E27FC236}">
                  <a16:creationId xmlns:a16="http://schemas.microsoft.com/office/drawing/2014/main" id="{9FF2071A-5125-E183-2C3D-E7F8CC4D4E67}"/>
                </a:ext>
              </a:extLst>
            </p:cNvPr>
            <p:cNvSpPr>
              <a:spLocks noChangeArrowheads="1"/>
            </p:cNvSpPr>
            <p:nvPr>
              <p:custDataLst>
                <p:tags r:id="rId63"/>
              </p:custDataLst>
            </p:nvPr>
          </p:nvSpPr>
          <p:spPr bwMode="gray">
            <a:xfrm>
              <a:off x="5997370" y="1399374"/>
              <a:ext cx="1323897"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Revenue streams</a:t>
              </a:r>
            </a:p>
          </p:txBody>
        </p:sp>
        <p:sp>
          <p:nvSpPr>
            <p:cNvPr id="99" name="Rectangle 98">
              <a:hlinkClick r:id="rId80" action="ppaction://hlinksldjump"/>
              <a:extLst>
                <a:ext uri="{FF2B5EF4-FFF2-40B4-BE49-F238E27FC236}">
                  <a16:creationId xmlns:a16="http://schemas.microsoft.com/office/drawing/2014/main" id="{0E02C56D-7649-1E8F-C12B-8272FDB30BCF}"/>
                </a:ext>
              </a:extLst>
            </p:cNvPr>
            <p:cNvSpPr>
              <a:spLocks noChangeArrowheads="1"/>
            </p:cNvSpPr>
            <p:nvPr>
              <p:custDataLst>
                <p:tags r:id="rId64"/>
              </p:custDataLst>
            </p:nvPr>
          </p:nvSpPr>
          <p:spPr bwMode="gray">
            <a:xfrm>
              <a:off x="5996864" y="2587874"/>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Marker posts COGS</a:t>
              </a:r>
            </a:p>
          </p:txBody>
        </p:sp>
        <p:sp>
          <p:nvSpPr>
            <p:cNvPr id="117" name="Rectangle 27">
              <a:hlinkClick r:id="rId80" action="ppaction://hlinksldjump"/>
              <a:extLst>
                <a:ext uri="{FF2B5EF4-FFF2-40B4-BE49-F238E27FC236}">
                  <a16:creationId xmlns:a16="http://schemas.microsoft.com/office/drawing/2014/main" id="{9B462288-89D5-9144-99F2-42715156DD29}"/>
                </a:ext>
              </a:extLst>
            </p:cNvPr>
            <p:cNvSpPr>
              <a:spLocks noChangeArrowheads="1"/>
            </p:cNvSpPr>
            <p:nvPr>
              <p:custDataLst>
                <p:tags r:id="rId65"/>
              </p:custDataLst>
            </p:nvPr>
          </p:nvSpPr>
          <p:spPr bwMode="gray">
            <a:xfrm>
              <a:off x="5997368" y="2226709"/>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Vehicle hire COGS</a:t>
              </a:r>
            </a:p>
          </p:txBody>
        </p:sp>
        <p:sp>
          <p:nvSpPr>
            <p:cNvPr id="118" name="Rectangle 27">
              <a:hlinkClick r:id="rId81" action="ppaction://hlinksldjump"/>
              <a:extLst>
                <a:ext uri="{FF2B5EF4-FFF2-40B4-BE49-F238E27FC236}">
                  <a16:creationId xmlns:a16="http://schemas.microsoft.com/office/drawing/2014/main" id="{071A222F-CC7A-8C37-5E52-5600F7B01419}"/>
                </a:ext>
              </a:extLst>
            </p:cNvPr>
            <p:cNvSpPr>
              <a:spLocks noChangeArrowheads="1"/>
            </p:cNvSpPr>
            <p:nvPr>
              <p:custDataLst>
                <p:tags r:id="rId66"/>
              </p:custDataLst>
            </p:nvPr>
          </p:nvSpPr>
          <p:spPr bwMode="gray">
            <a:xfrm>
              <a:off x="5983489" y="3425818"/>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Admin wages</a:t>
              </a:r>
            </a:p>
          </p:txBody>
        </p:sp>
        <p:sp>
          <p:nvSpPr>
            <p:cNvPr id="121" name="Rectangle 27">
              <a:hlinkClick r:id="rId82" action="ppaction://hlinksldjump"/>
              <a:extLst>
                <a:ext uri="{FF2B5EF4-FFF2-40B4-BE49-F238E27FC236}">
                  <a16:creationId xmlns:a16="http://schemas.microsoft.com/office/drawing/2014/main" id="{105EC283-695B-C1DA-2ED2-7D6B1281AB67}"/>
                </a:ext>
              </a:extLst>
            </p:cNvPr>
            <p:cNvSpPr>
              <a:spLocks noChangeArrowheads="1"/>
            </p:cNvSpPr>
            <p:nvPr>
              <p:custDataLst>
                <p:tags r:id="rId67"/>
              </p:custDataLst>
            </p:nvPr>
          </p:nvSpPr>
          <p:spPr bwMode="gray">
            <a:xfrm>
              <a:off x="5994335" y="3882999"/>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Rent and rates</a:t>
              </a:r>
            </a:p>
          </p:txBody>
        </p:sp>
        <p:sp>
          <p:nvSpPr>
            <p:cNvPr id="122" name="Rectangle 27">
              <a:hlinkClick r:id="rId83" action="ppaction://hlinksldjump"/>
              <a:extLst>
                <a:ext uri="{FF2B5EF4-FFF2-40B4-BE49-F238E27FC236}">
                  <a16:creationId xmlns:a16="http://schemas.microsoft.com/office/drawing/2014/main" id="{49517C7E-1DE3-9E81-633D-F01553CF68CE}"/>
                </a:ext>
              </a:extLst>
            </p:cNvPr>
            <p:cNvSpPr>
              <a:spLocks noChangeArrowheads="1"/>
            </p:cNvSpPr>
            <p:nvPr>
              <p:custDataLst>
                <p:tags r:id="rId68"/>
              </p:custDataLst>
            </p:nvPr>
          </p:nvSpPr>
          <p:spPr bwMode="gray">
            <a:xfrm>
              <a:off x="5984371" y="4529306"/>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Fixed assets</a:t>
              </a:r>
            </a:p>
          </p:txBody>
        </p:sp>
        <p:sp>
          <p:nvSpPr>
            <p:cNvPr id="123" name="Rectangle 27">
              <a:hlinkClick r:id="rId83" action="ppaction://hlinksldjump"/>
              <a:extLst>
                <a:ext uri="{FF2B5EF4-FFF2-40B4-BE49-F238E27FC236}">
                  <a16:creationId xmlns:a16="http://schemas.microsoft.com/office/drawing/2014/main" id="{658DDBD0-2BFA-9E3B-EDEA-433C585464FA}"/>
                </a:ext>
              </a:extLst>
            </p:cNvPr>
            <p:cNvSpPr>
              <a:spLocks noChangeArrowheads="1"/>
            </p:cNvSpPr>
            <p:nvPr>
              <p:custDataLst>
                <p:tags r:id="rId69"/>
              </p:custDataLst>
            </p:nvPr>
          </p:nvSpPr>
          <p:spPr bwMode="gray">
            <a:xfrm>
              <a:off x="5984371" y="4927766"/>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Depreciation</a:t>
              </a:r>
            </a:p>
          </p:txBody>
        </p:sp>
        <p:sp>
          <p:nvSpPr>
            <p:cNvPr id="154" name="Rectangle 27">
              <a:hlinkClick r:id="rId80" action="ppaction://hlinksldjump"/>
              <a:extLst>
                <a:ext uri="{FF2B5EF4-FFF2-40B4-BE49-F238E27FC236}">
                  <a16:creationId xmlns:a16="http://schemas.microsoft.com/office/drawing/2014/main" id="{05EBAD7D-D0DF-4811-8F6E-E75CEDDD527F}"/>
                </a:ext>
              </a:extLst>
            </p:cNvPr>
            <p:cNvSpPr>
              <a:spLocks noChangeArrowheads="1"/>
            </p:cNvSpPr>
            <p:nvPr>
              <p:custDataLst>
                <p:tags r:id="rId70"/>
              </p:custDataLst>
            </p:nvPr>
          </p:nvSpPr>
          <p:spPr bwMode="gray">
            <a:xfrm>
              <a:off x="5994512" y="2979621"/>
              <a:ext cx="1323898" cy="280766"/>
            </a:xfrm>
            <a:prstGeom prst="rect">
              <a:avLst/>
            </a:prstGeom>
            <a:solidFill>
              <a:srgbClr val="1E49E2"/>
            </a:solidFill>
            <a:ln w="6350">
              <a:no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chemeClr val="bg1"/>
                  </a:solidFill>
                </a:rPr>
                <a:t>All other COGS</a:t>
              </a:r>
            </a:p>
          </p:txBody>
        </p:sp>
      </p:grpSp>
      <p:graphicFrame>
        <p:nvGraphicFramePr>
          <p:cNvPr id="149" name="Chart 148">
            <a:extLst>
              <a:ext uri="{FF2B5EF4-FFF2-40B4-BE49-F238E27FC236}">
                <a16:creationId xmlns:a16="http://schemas.microsoft.com/office/drawing/2014/main" id="{AA9FB3DA-D600-4EDC-AAC5-681757835098}"/>
              </a:ext>
            </a:extLst>
          </p:cNvPr>
          <p:cNvGraphicFramePr/>
          <p:nvPr>
            <p:custDataLst>
              <p:tags r:id="rId46"/>
            </p:custDataLst>
            <p:extLst>
              <p:ext uri="{D42A27DB-BD31-4B8C-83A1-F6EECF244321}">
                <p14:modId xmlns:p14="http://schemas.microsoft.com/office/powerpoint/2010/main" val="1701938046"/>
              </p:ext>
            </p:extLst>
          </p:nvPr>
        </p:nvGraphicFramePr>
        <p:xfrm>
          <a:off x="995362" y="3112284"/>
          <a:ext cx="1654175" cy="539751"/>
        </p:xfrm>
        <a:graphic>
          <a:graphicData uri="http://schemas.openxmlformats.org/drawingml/2006/chart">
            <c:chart xmlns:c="http://schemas.openxmlformats.org/drawingml/2006/chart" xmlns:r="http://schemas.openxmlformats.org/officeDocument/2006/relationships" r:id="rId84"/>
          </a:graphicData>
        </a:graphic>
      </p:graphicFrame>
      <p:sp>
        <p:nvSpPr>
          <p:cNvPr id="150" name="Text Placeholder 2">
            <a:extLst>
              <a:ext uri="{FF2B5EF4-FFF2-40B4-BE49-F238E27FC236}">
                <a16:creationId xmlns:a16="http://schemas.microsoft.com/office/drawing/2014/main" id="{E0073656-2213-4E2C-B1E4-99958A761658}"/>
              </a:ext>
            </a:extLst>
          </p:cNvPr>
          <p:cNvSpPr>
            <a:spLocks noGrp="1"/>
          </p:cNvSpPr>
          <p:nvPr>
            <p:custDataLst>
              <p:tags r:id="rId47"/>
            </p:custDataLst>
          </p:nvPr>
        </p:nvSpPr>
        <p:spPr bwMode="gray">
          <a:xfrm>
            <a:off x="1185129" y="3356739"/>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1.1</a:t>
            </a:r>
          </a:p>
        </p:txBody>
      </p:sp>
      <p:sp>
        <p:nvSpPr>
          <p:cNvPr id="151" name="Text Placeholder 2">
            <a:extLst>
              <a:ext uri="{FF2B5EF4-FFF2-40B4-BE49-F238E27FC236}">
                <a16:creationId xmlns:a16="http://schemas.microsoft.com/office/drawing/2014/main" id="{787967CD-91F3-4DBA-A014-8DC2A0ED6241}"/>
              </a:ext>
            </a:extLst>
          </p:cNvPr>
          <p:cNvSpPr>
            <a:spLocks noGrp="1"/>
          </p:cNvSpPr>
          <p:nvPr>
            <p:custDataLst>
              <p:tags r:id="rId48"/>
            </p:custDataLst>
          </p:nvPr>
        </p:nvSpPr>
        <p:spPr bwMode="gray">
          <a:xfrm>
            <a:off x="1680429" y="3326344"/>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1.3</a:t>
            </a:r>
          </a:p>
        </p:txBody>
      </p:sp>
      <p:sp>
        <p:nvSpPr>
          <p:cNvPr id="152" name="Text Placeholder 2">
            <a:extLst>
              <a:ext uri="{FF2B5EF4-FFF2-40B4-BE49-F238E27FC236}">
                <a16:creationId xmlns:a16="http://schemas.microsoft.com/office/drawing/2014/main" id="{D210134B-CAEC-4F46-B3A8-5A2AE96341A3}"/>
              </a:ext>
            </a:extLst>
          </p:cNvPr>
          <p:cNvSpPr>
            <a:spLocks noGrp="1"/>
          </p:cNvSpPr>
          <p:nvPr>
            <p:custDataLst>
              <p:tags r:id="rId49"/>
            </p:custDataLst>
          </p:nvPr>
        </p:nvSpPr>
        <p:spPr bwMode="gray">
          <a:xfrm>
            <a:off x="2181925" y="3393052"/>
            <a:ext cx="295275" cy="122239"/>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b" anchorCtr="0">
            <a:no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r>
              <a:rPr lang="en-US" sz="800" dirty="0">
                <a:solidFill>
                  <a:schemeClr val="tx2"/>
                </a:solidFill>
              </a:rPr>
              <a:t>0.7</a:t>
            </a:r>
          </a:p>
        </p:txBody>
      </p:sp>
      <p:sp>
        <p:nvSpPr>
          <p:cNvPr id="114" name="Rectangle 27">
            <a:hlinkClick r:id="rId79" action="ppaction://hlinksldjump"/>
            <a:extLst>
              <a:ext uri="{FF2B5EF4-FFF2-40B4-BE49-F238E27FC236}">
                <a16:creationId xmlns:a16="http://schemas.microsoft.com/office/drawing/2014/main" id="{F768CA9E-6783-4E41-A213-0DBBB93C2B0E}"/>
              </a:ext>
            </a:extLst>
          </p:cNvPr>
          <p:cNvSpPr>
            <a:spLocks noChangeArrowheads="1"/>
          </p:cNvSpPr>
          <p:nvPr>
            <p:custDataLst>
              <p:tags r:id="rId50"/>
            </p:custDataLst>
          </p:nvPr>
        </p:nvSpPr>
        <p:spPr bwMode="gray">
          <a:xfrm>
            <a:off x="8234664" y="1291109"/>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Miscellaneous sales</a:t>
            </a:r>
          </a:p>
        </p:txBody>
      </p:sp>
      <p:grpSp>
        <p:nvGrpSpPr>
          <p:cNvPr id="211" name="Group 210">
            <a:extLst>
              <a:ext uri="{FF2B5EF4-FFF2-40B4-BE49-F238E27FC236}">
                <a16:creationId xmlns:a16="http://schemas.microsoft.com/office/drawing/2014/main" id="{2078587E-D96F-440E-B83E-901CB33B0F99}"/>
              </a:ext>
            </a:extLst>
          </p:cNvPr>
          <p:cNvGrpSpPr/>
          <p:nvPr/>
        </p:nvGrpSpPr>
        <p:grpSpPr>
          <a:xfrm>
            <a:off x="7384023" y="674844"/>
            <a:ext cx="2650641" cy="706265"/>
            <a:chOff x="7384023" y="674844"/>
            <a:chExt cx="2650641" cy="706265"/>
          </a:xfrm>
        </p:grpSpPr>
        <p:cxnSp>
          <p:nvCxnSpPr>
            <p:cNvPr id="100" name="Verbinder: gewinkelt 7">
              <a:extLst>
                <a:ext uri="{FF2B5EF4-FFF2-40B4-BE49-F238E27FC236}">
                  <a16:creationId xmlns:a16="http://schemas.microsoft.com/office/drawing/2014/main" id="{A2E501FF-CE4A-4EDA-90A3-C07A84C2B648}"/>
                </a:ext>
              </a:extLst>
            </p:cNvPr>
            <p:cNvCxnSpPr>
              <a:cxnSpLocks/>
              <a:stCxn id="97" idx="3"/>
            </p:cNvCxnSpPr>
            <p:nvPr/>
          </p:nvCxnSpPr>
          <p:spPr>
            <a:xfrm flipV="1">
              <a:off x="7384023" y="783257"/>
              <a:ext cx="847341" cy="289389"/>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103" name="Rectangle 27">
              <a:hlinkClick r:id="rId79" action="ppaction://hlinksldjump"/>
              <a:extLst>
                <a:ext uri="{FF2B5EF4-FFF2-40B4-BE49-F238E27FC236}">
                  <a16:creationId xmlns:a16="http://schemas.microsoft.com/office/drawing/2014/main" id="{CCFE0ACB-69CE-477F-AEBF-CE256AE5907F}"/>
                </a:ext>
              </a:extLst>
            </p:cNvPr>
            <p:cNvSpPr>
              <a:spLocks noChangeArrowheads="1"/>
            </p:cNvSpPr>
            <p:nvPr>
              <p:custDataLst>
                <p:tags r:id="rId60"/>
              </p:custDataLst>
            </p:nvPr>
          </p:nvSpPr>
          <p:spPr bwMode="gray">
            <a:xfrm>
              <a:off x="8232463" y="674844"/>
              <a:ext cx="1800000" cy="177799"/>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Vehicle hire</a:t>
              </a:r>
            </a:p>
          </p:txBody>
        </p:sp>
        <p:cxnSp>
          <p:nvCxnSpPr>
            <p:cNvPr id="106" name="Verbinder: gewinkelt 7">
              <a:extLst>
                <a:ext uri="{FF2B5EF4-FFF2-40B4-BE49-F238E27FC236}">
                  <a16:creationId xmlns:a16="http://schemas.microsoft.com/office/drawing/2014/main" id="{DE4CDE3B-C56F-4A98-BEE3-68FAEF3802E3}"/>
                </a:ext>
              </a:extLst>
            </p:cNvPr>
            <p:cNvCxnSpPr>
              <a:cxnSpLocks/>
              <a:stCxn id="97" idx="3"/>
              <a:endCxn id="114" idx="1"/>
            </p:cNvCxnSpPr>
            <p:nvPr/>
          </p:nvCxnSpPr>
          <p:spPr>
            <a:xfrm>
              <a:off x="7384023" y="1072645"/>
              <a:ext cx="850641" cy="308464"/>
            </a:xfrm>
            <a:prstGeom prst="bentConnector3">
              <a:avLst>
                <a:gd name="adj1" fmla="val 5000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112" name="Rectangle 27">
              <a:hlinkClick r:id="rId79" action="ppaction://hlinksldjump"/>
              <a:extLst>
                <a:ext uri="{FF2B5EF4-FFF2-40B4-BE49-F238E27FC236}">
                  <a16:creationId xmlns:a16="http://schemas.microsoft.com/office/drawing/2014/main" id="{DBD6E50C-6777-458D-B640-9D91908D2CD6}"/>
                </a:ext>
              </a:extLst>
            </p:cNvPr>
            <p:cNvSpPr>
              <a:spLocks noChangeArrowheads="1"/>
            </p:cNvSpPr>
            <p:nvPr>
              <p:custDataLst>
                <p:tags r:id="rId61"/>
              </p:custDataLst>
            </p:nvPr>
          </p:nvSpPr>
          <p:spPr bwMode="gray">
            <a:xfrm>
              <a:off x="8234664" y="985498"/>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New vehicle sales</a:t>
              </a:r>
            </a:p>
          </p:txBody>
        </p:sp>
        <p:cxnSp>
          <p:nvCxnSpPr>
            <p:cNvPr id="115" name="Straight Connector 114">
              <a:extLst>
                <a:ext uri="{FF2B5EF4-FFF2-40B4-BE49-F238E27FC236}">
                  <a16:creationId xmlns:a16="http://schemas.microsoft.com/office/drawing/2014/main" id="{BE49B8AA-5B31-4C81-81F4-E24347056C14}"/>
                </a:ext>
              </a:extLst>
            </p:cNvPr>
            <p:cNvCxnSpPr>
              <a:cxnSpLocks/>
              <a:stCxn id="97" idx="3"/>
              <a:endCxn id="112" idx="1"/>
            </p:cNvCxnSpPr>
            <p:nvPr/>
          </p:nvCxnSpPr>
          <p:spPr>
            <a:xfrm>
              <a:off x="7384023" y="1072645"/>
              <a:ext cx="850641" cy="2853"/>
            </a:xfrm>
            <a:prstGeom prst="line">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FC792E8D-6454-42DA-9661-7F45A6F172C5}"/>
              </a:ext>
            </a:extLst>
          </p:cNvPr>
          <p:cNvGrpSpPr/>
          <p:nvPr/>
        </p:nvGrpSpPr>
        <p:grpSpPr>
          <a:xfrm>
            <a:off x="7384020" y="1911148"/>
            <a:ext cx="2648443" cy="360498"/>
            <a:chOff x="7384020" y="1999210"/>
            <a:chExt cx="2648443" cy="360498"/>
          </a:xfrm>
        </p:grpSpPr>
        <p:cxnSp>
          <p:nvCxnSpPr>
            <p:cNvPr id="155" name="Verbinder: gewinkelt 7">
              <a:extLst>
                <a:ext uri="{FF2B5EF4-FFF2-40B4-BE49-F238E27FC236}">
                  <a16:creationId xmlns:a16="http://schemas.microsoft.com/office/drawing/2014/main" id="{05723199-A1BF-4EE4-9167-00C9D92216A3}"/>
                </a:ext>
              </a:extLst>
            </p:cNvPr>
            <p:cNvCxnSpPr>
              <a:cxnSpLocks/>
            </p:cNvCxnSpPr>
            <p:nvPr/>
          </p:nvCxnSpPr>
          <p:spPr>
            <a:xfrm flipV="1">
              <a:off x="7384020" y="1999210"/>
              <a:ext cx="848443" cy="226544"/>
            </a:xfrm>
            <a:prstGeom prst="bentConnector3">
              <a:avLst>
                <a:gd name="adj1" fmla="val 50499"/>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156" name="Verbinder: gewinkelt 7">
              <a:extLst>
                <a:ext uri="{FF2B5EF4-FFF2-40B4-BE49-F238E27FC236}">
                  <a16:creationId xmlns:a16="http://schemas.microsoft.com/office/drawing/2014/main" id="{601BFDCE-8F17-4FDF-A0FF-CCEC87AA9952}"/>
                </a:ext>
              </a:extLst>
            </p:cNvPr>
            <p:cNvCxnSpPr>
              <a:cxnSpLocks/>
            </p:cNvCxnSpPr>
            <p:nvPr/>
          </p:nvCxnSpPr>
          <p:spPr>
            <a:xfrm>
              <a:off x="7384023" y="2225919"/>
              <a:ext cx="847340" cy="56625"/>
            </a:xfrm>
            <a:prstGeom prst="bentConnector3">
              <a:avLst>
                <a:gd name="adj1" fmla="val 50437"/>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158" name="Rectangle 27">
              <a:hlinkClick r:id="rId80" action="ppaction://hlinksldjump"/>
              <a:extLst>
                <a:ext uri="{FF2B5EF4-FFF2-40B4-BE49-F238E27FC236}">
                  <a16:creationId xmlns:a16="http://schemas.microsoft.com/office/drawing/2014/main" id="{343FEA71-3842-44BF-9BBC-5E3C30AF800A}"/>
                </a:ext>
              </a:extLst>
            </p:cNvPr>
            <p:cNvSpPr>
              <a:spLocks noChangeArrowheads="1"/>
            </p:cNvSpPr>
            <p:nvPr>
              <p:custDataLst>
                <p:tags r:id="rId59"/>
              </p:custDataLst>
            </p:nvPr>
          </p:nvSpPr>
          <p:spPr bwMode="gray">
            <a:xfrm>
              <a:off x="8232463" y="2179708"/>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Motor insurance</a:t>
              </a:r>
            </a:p>
          </p:txBody>
        </p:sp>
      </p:grpSp>
      <p:sp>
        <p:nvSpPr>
          <p:cNvPr id="159" name="Rectangle 27">
            <a:hlinkClick r:id="rId80" action="ppaction://hlinksldjump"/>
            <a:extLst>
              <a:ext uri="{FF2B5EF4-FFF2-40B4-BE49-F238E27FC236}">
                <a16:creationId xmlns:a16="http://schemas.microsoft.com/office/drawing/2014/main" id="{95871177-8392-44C4-AC81-1B042BA56877}"/>
              </a:ext>
            </a:extLst>
          </p:cNvPr>
          <p:cNvSpPr>
            <a:spLocks noChangeArrowheads="1"/>
          </p:cNvSpPr>
          <p:nvPr>
            <p:custDataLst>
              <p:tags r:id="rId51"/>
            </p:custDataLst>
          </p:nvPr>
        </p:nvSpPr>
        <p:spPr bwMode="gray">
          <a:xfrm>
            <a:off x="8232463" y="1816915"/>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Repairs &amp; maintenance</a:t>
            </a:r>
          </a:p>
        </p:txBody>
      </p:sp>
      <p:grpSp>
        <p:nvGrpSpPr>
          <p:cNvPr id="210" name="Group 209">
            <a:extLst>
              <a:ext uri="{FF2B5EF4-FFF2-40B4-BE49-F238E27FC236}">
                <a16:creationId xmlns:a16="http://schemas.microsoft.com/office/drawing/2014/main" id="{9DEA6FC7-87D3-4A1C-8B0B-66DB64D9ADD5}"/>
              </a:ext>
            </a:extLst>
          </p:cNvPr>
          <p:cNvGrpSpPr/>
          <p:nvPr/>
        </p:nvGrpSpPr>
        <p:grpSpPr>
          <a:xfrm>
            <a:off x="7375500" y="2378424"/>
            <a:ext cx="2656963" cy="422259"/>
            <a:chOff x="7375500" y="2446498"/>
            <a:chExt cx="2656963" cy="422259"/>
          </a:xfrm>
        </p:grpSpPr>
        <p:cxnSp>
          <p:nvCxnSpPr>
            <p:cNvPr id="172" name="Verbinder: gewinkelt 7">
              <a:extLst>
                <a:ext uri="{FF2B5EF4-FFF2-40B4-BE49-F238E27FC236}">
                  <a16:creationId xmlns:a16="http://schemas.microsoft.com/office/drawing/2014/main" id="{140CC863-BE68-4E32-BA98-708F1F2751D3}"/>
                </a:ext>
              </a:extLst>
            </p:cNvPr>
            <p:cNvCxnSpPr>
              <a:cxnSpLocks/>
            </p:cNvCxnSpPr>
            <p:nvPr/>
          </p:nvCxnSpPr>
          <p:spPr>
            <a:xfrm flipV="1">
              <a:off x="7376778" y="2531892"/>
              <a:ext cx="849540" cy="138452"/>
            </a:xfrm>
            <a:prstGeom prst="bentConnector3">
              <a:avLst>
                <a:gd name="adj1" fmla="val 51137"/>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173" name="Verbinder: gewinkelt 7">
              <a:extLst>
                <a:ext uri="{FF2B5EF4-FFF2-40B4-BE49-F238E27FC236}">
                  <a16:creationId xmlns:a16="http://schemas.microsoft.com/office/drawing/2014/main" id="{49AF8142-DFEA-433A-AAEB-235FDD3DFD46}"/>
                </a:ext>
              </a:extLst>
            </p:cNvPr>
            <p:cNvCxnSpPr>
              <a:cxnSpLocks/>
              <a:endCxn id="179" idx="1"/>
            </p:cNvCxnSpPr>
            <p:nvPr/>
          </p:nvCxnSpPr>
          <p:spPr>
            <a:xfrm>
              <a:off x="7375500" y="2670109"/>
              <a:ext cx="856963" cy="108648"/>
            </a:xfrm>
            <a:prstGeom prst="bentConnector3">
              <a:avLst>
                <a:gd name="adj1" fmla="val 51490"/>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178" name="Rectangle 27">
              <a:hlinkClick r:id="rId80" action="ppaction://hlinksldjump"/>
              <a:extLst>
                <a:ext uri="{FF2B5EF4-FFF2-40B4-BE49-F238E27FC236}">
                  <a16:creationId xmlns:a16="http://schemas.microsoft.com/office/drawing/2014/main" id="{0B560530-4D02-4F37-9BE2-92B99D730CE6}"/>
                </a:ext>
              </a:extLst>
            </p:cNvPr>
            <p:cNvSpPr>
              <a:spLocks noChangeArrowheads="1"/>
            </p:cNvSpPr>
            <p:nvPr>
              <p:custDataLst>
                <p:tags r:id="rId57"/>
              </p:custDataLst>
            </p:nvPr>
          </p:nvSpPr>
          <p:spPr bwMode="gray">
            <a:xfrm>
              <a:off x="8232463" y="2446498"/>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Material purchases</a:t>
              </a:r>
            </a:p>
          </p:txBody>
        </p:sp>
        <p:sp>
          <p:nvSpPr>
            <p:cNvPr id="179" name="Rectangle 27">
              <a:hlinkClick r:id="rId80" action="ppaction://hlinksldjump"/>
              <a:extLst>
                <a:ext uri="{FF2B5EF4-FFF2-40B4-BE49-F238E27FC236}">
                  <a16:creationId xmlns:a16="http://schemas.microsoft.com/office/drawing/2014/main" id="{EF37E561-2F2E-4404-AD9B-EBC949CAB0F0}"/>
                </a:ext>
              </a:extLst>
            </p:cNvPr>
            <p:cNvSpPr>
              <a:spLocks noChangeArrowheads="1"/>
            </p:cNvSpPr>
            <p:nvPr>
              <p:custDataLst>
                <p:tags r:id="rId58"/>
              </p:custDataLst>
            </p:nvPr>
          </p:nvSpPr>
          <p:spPr bwMode="gray">
            <a:xfrm>
              <a:off x="8232463" y="2688757"/>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Production wages</a:t>
              </a:r>
            </a:p>
          </p:txBody>
        </p:sp>
      </p:grpSp>
      <p:grpSp>
        <p:nvGrpSpPr>
          <p:cNvPr id="213" name="Group 212">
            <a:extLst>
              <a:ext uri="{FF2B5EF4-FFF2-40B4-BE49-F238E27FC236}">
                <a16:creationId xmlns:a16="http://schemas.microsoft.com/office/drawing/2014/main" id="{B1AFC78C-769F-4E89-B217-4979FE5D4F22}"/>
              </a:ext>
            </a:extLst>
          </p:cNvPr>
          <p:cNvGrpSpPr/>
          <p:nvPr/>
        </p:nvGrpSpPr>
        <p:grpSpPr>
          <a:xfrm>
            <a:off x="7369883" y="2907461"/>
            <a:ext cx="2662580" cy="414905"/>
            <a:chOff x="7369883" y="2907461"/>
            <a:chExt cx="2662580" cy="414905"/>
          </a:xfrm>
        </p:grpSpPr>
        <p:cxnSp>
          <p:nvCxnSpPr>
            <p:cNvPr id="184" name="Verbinder: gewinkelt 7">
              <a:extLst>
                <a:ext uri="{FF2B5EF4-FFF2-40B4-BE49-F238E27FC236}">
                  <a16:creationId xmlns:a16="http://schemas.microsoft.com/office/drawing/2014/main" id="{6D74E408-B979-4667-B489-AD3D0E444170}"/>
                </a:ext>
              </a:extLst>
            </p:cNvPr>
            <p:cNvCxnSpPr>
              <a:cxnSpLocks/>
              <a:endCxn id="186" idx="1"/>
            </p:cNvCxnSpPr>
            <p:nvPr/>
          </p:nvCxnSpPr>
          <p:spPr>
            <a:xfrm flipV="1">
              <a:off x="7371161" y="2997461"/>
              <a:ext cx="861302" cy="121280"/>
            </a:xfrm>
            <a:prstGeom prst="bentConnector3">
              <a:avLst>
                <a:gd name="adj1" fmla="val 51966"/>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185" name="Verbinder: gewinkelt 7">
              <a:extLst>
                <a:ext uri="{FF2B5EF4-FFF2-40B4-BE49-F238E27FC236}">
                  <a16:creationId xmlns:a16="http://schemas.microsoft.com/office/drawing/2014/main" id="{B6027575-4CD5-4CD8-9227-B0815E41C93C}"/>
                </a:ext>
              </a:extLst>
            </p:cNvPr>
            <p:cNvCxnSpPr>
              <a:cxnSpLocks/>
              <a:endCxn id="187" idx="1"/>
            </p:cNvCxnSpPr>
            <p:nvPr/>
          </p:nvCxnSpPr>
          <p:spPr>
            <a:xfrm>
              <a:off x="7369883" y="3118506"/>
              <a:ext cx="862580" cy="113860"/>
            </a:xfrm>
            <a:prstGeom prst="bentConnector3">
              <a:avLst>
                <a:gd name="adj1" fmla="val 51963"/>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186" name="Rectangle 27">
              <a:hlinkClick r:id="rId80" action="ppaction://hlinksldjump"/>
              <a:extLst>
                <a:ext uri="{FF2B5EF4-FFF2-40B4-BE49-F238E27FC236}">
                  <a16:creationId xmlns:a16="http://schemas.microsoft.com/office/drawing/2014/main" id="{CBA616A8-A7BB-4398-9F69-047CCBF36374}"/>
                </a:ext>
              </a:extLst>
            </p:cNvPr>
            <p:cNvSpPr>
              <a:spLocks noChangeArrowheads="1"/>
            </p:cNvSpPr>
            <p:nvPr>
              <p:custDataLst>
                <p:tags r:id="rId55"/>
              </p:custDataLst>
            </p:nvPr>
          </p:nvSpPr>
          <p:spPr bwMode="gray">
            <a:xfrm>
              <a:off x="8232463" y="2907461"/>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Vehicle purchases</a:t>
              </a:r>
            </a:p>
          </p:txBody>
        </p:sp>
        <p:sp>
          <p:nvSpPr>
            <p:cNvPr id="187" name="Rectangle 27">
              <a:hlinkClick r:id="rId80" action="ppaction://hlinksldjump"/>
              <a:extLst>
                <a:ext uri="{FF2B5EF4-FFF2-40B4-BE49-F238E27FC236}">
                  <a16:creationId xmlns:a16="http://schemas.microsoft.com/office/drawing/2014/main" id="{D5528EFA-C275-445B-90A9-33956AA2B467}"/>
                </a:ext>
              </a:extLst>
            </p:cNvPr>
            <p:cNvSpPr>
              <a:spLocks noChangeArrowheads="1"/>
            </p:cNvSpPr>
            <p:nvPr>
              <p:custDataLst>
                <p:tags r:id="rId56"/>
              </p:custDataLst>
            </p:nvPr>
          </p:nvSpPr>
          <p:spPr bwMode="gray">
            <a:xfrm>
              <a:off x="8232463" y="3142366"/>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Crash cushion costs </a:t>
              </a:r>
            </a:p>
          </p:txBody>
        </p:sp>
      </p:grpSp>
      <p:cxnSp>
        <p:nvCxnSpPr>
          <p:cNvPr id="251" name="Verbinder: gewinkelt 7">
            <a:extLst>
              <a:ext uri="{FF2B5EF4-FFF2-40B4-BE49-F238E27FC236}">
                <a16:creationId xmlns:a16="http://schemas.microsoft.com/office/drawing/2014/main" id="{50FF4E00-E330-43F8-8C52-00D9DDC290ED}"/>
              </a:ext>
            </a:extLst>
          </p:cNvPr>
          <p:cNvCxnSpPr>
            <a:cxnSpLocks/>
          </p:cNvCxnSpPr>
          <p:nvPr/>
        </p:nvCxnSpPr>
        <p:spPr>
          <a:xfrm>
            <a:off x="5165583" y="5271125"/>
            <a:ext cx="775138" cy="275538"/>
          </a:xfrm>
          <a:prstGeom prst="bentConnector3">
            <a:avLst>
              <a:gd name="adj1" fmla="val 50655"/>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52" name="Verbinder: gewinkelt 7">
            <a:extLst>
              <a:ext uri="{FF2B5EF4-FFF2-40B4-BE49-F238E27FC236}">
                <a16:creationId xmlns:a16="http://schemas.microsoft.com/office/drawing/2014/main" id="{13A8AEBC-179F-40A7-885B-00D8156B416D}"/>
              </a:ext>
            </a:extLst>
          </p:cNvPr>
          <p:cNvCxnSpPr>
            <a:cxnSpLocks/>
          </p:cNvCxnSpPr>
          <p:nvPr/>
        </p:nvCxnSpPr>
        <p:spPr>
          <a:xfrm flipV="1">
            <a:off x="5165583" y="4960463"/>
            <a:ext cx="763341" cy="310662"/>
          </a:xfrm>
          <a:prstGeom prst="bentConnector3">
            <a:avLst>
              <a:gd name="adj1" fmla="val 51331"/>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53" name="Verbinder: gewinkelt 7">
            <a:extLst>
              <a:ext uri="{FF2B5EF4-FFF2-40B4-BE49-F238E27FC236}">
                <a16:creationId xmlns:a16="http://schemas.microsoft.com/office/drawing/2014/main" id="{4DD7E579-9646-4BCC-8505-A638212AA6A1}"/>
              </a:ext>
            </a:extLst>
          </p:cNvPr>
          <p:cNvCxnSpPr>
            <a:cxnSpLocks/>
          </p:cNvCxnSpPr>
          <p:nvPr/>
        </p:nvCxnSpPr>
        <p:spPr>
          <a:xfrm flipV="1">
            <a:off x="7376778" y="3574126"/>
            <a:ext cx="861302" cy="121280"/>
          </a:xfrm>
          <a:prstGeom prst="bentConnector3">
            <a:avLst>
              <a:gd name="adj1" fmla="val 51475"/>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254" name="Verbinder: gewinkelt 7">
            <a:extLst>
              <a:ext uri="{FF2B5EF4-FFF2-40B4-BE49-F238E27FC236}">
                <a16:creationId xmlns:a16="http://schemas.microsoft.com/office/drawing/2014/main" id="{D090E545-44A6-4F95-8A27-4D58DCDC1924}"/>
              </a:ext>
            </a:extLst>
          </p:cNvPr>
          <p:cNvCxnSpPr>
            <a:cxnSpLocks/>
          </p:cNvCxnSpPr>
          <p:nvPr/>
        </p:nvCxnSpPr>
        <p:spPr>
          <a:xfrm>
            <a:off x="7375500" y="3695171"/>
            <a:ext cx="862580" cy="113860"/>
          </a:xfrm>
          <a:prstGeom prst="bentConnector3">
            <a:avLst>
              <a:gd name="adj1" fmla="val 51963"/>
            </a:avLst>
          </a:prstGeom>
          <a:ln w="9525">
            <a:solidFill>
              <a:srgbClr val="00338D"/>
            </a:solidFill>
          </a:ln>
        </p:spPr>
        <p:style>
          <a:lnRef idx="1">
            <a:schemeClr val="accent1"/>
          </a:lnRef>
          <a:fillRef idx="0">
            <a:schemeClr val="accent1"/>
          </a:fillRef>
          <a:effectRef idx="0">
            <a:schemeClr val="accent1"/>
          </a:effectRef>
          <a:fontRef idx="minor">
            <a:schemeClr val="tx1"/>
          </a:fontRef>
        </p:style>
      </p:cxnSp>
      <p:sp>
        <p:nvSpPr>
          <p:cNvPr id="256" name="Rectangle 27">
            <a:hlinkClick r:id="rId82" action="ppaction://hlinksldjump"/>
            <a:extLst>
              <a:ext uri="{FF2B5EF4-FFF2-40B4-BE49-F238E27FC236}">
                <a16:creationId xmlns:a16="http://schemas.microsoft.com/office/drawing/2014/main" id="{8C01C896-D34E-4E92-923E-3E8C4DE0BC09}"/>
              </a:ext>
            </a:extLst>
          </p:cNvPr>
          <p:cNvSpPr>
            <a:spLocks noChangeArrowheads="1"/>
          </p:cNvSpPr>
          <p:nvPr>
            <p:custDataLst>
              <p:tags r:id="rId52"/>
            </p:custDataLst>
          </p:nvPr>
        </p:nvSpPr>
        <p:spPr bwMode="gray">
          <a:xfrm>
            <a:off x="8226318" y="3478650"/>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Admin wages</a:t>
            </a:r>
          </a:p>
        </p:txBody>
      </p:sp>
      <p:sp>
        <p:nvSpPr>
          <p:cNvPr id="257" name="Rectangle 27">
            <a:hlinkClick r:id="rId82" action="ppaction://hlinksldjump"/>
            <a:extLst>
              <a:ext uri="{FF2B5EF4-FFF2-40B4-BE49-F238E27FC236}">
                <a16:creationId xmlns:a16="http://schemas.microsoft.com/office/drawing/2014/main" id="{4085A779-122B-40C1-A720-AE8A7688810B}"/>
              </a:ext>
            </a:extLst>
          </p:cNvPr>
          <p:cNvSpPr>
            <a:spLocks noChangeArrowheads="1"/>
          </p:cNvSpPr>
          <p:nvPr>
            <p:custDataLst>
              <p:tags r:id="rId53"/>
            </p:custDataLst>
          </p:nvPr>
        </p:nvSpPr>
        <p:spPr bwMode="gray">
          <a:xfrm>
            <a:off x="8226318" y="3731059"/>
            <a:ext cx="1800000" cy="180000"/>
          </a:xfrm>
          <a:prstGeom prst="rect">
            <a:avLst/>
          </a:prstGeom>
          <a:solidFill>
            <a:schemeClr val="bg1"/>
          </a:solidFill>
          <a:ln w="6350">
            <a:solidFill>
              <a:srgbClr val="002060"/>
            </a:solidFill>
            <a:miter lim="800000"/>
            <a:headEnd type="none" w="sm" len="sm"/>
            <a:tailEnd type="none" w="sm" len="sm"/>
          </a:ln>
          <a:effectLst/>
        </p:spPr>
        <p:txBody>
          <a:bodyPr lIns="72000" tIns="72000" rIns="72000" bIns="72000" anchor="ctr" anchorCtr="1"/>
          <a:lstStyle/>
          <a:p>
            <a:pPr algn="ctr" defTabSz="761981" eaLnBrk="0" hangingPunct="0"/>
            <a:r>
              <a:rPr lang="en-US" sz="1000" dirty="0">
                <a:solidFill>
                  <a:srgbClr val="00338D"/>
                </a:solidFill>
              </a:rPr>
              <a:t>Vehicle production wages</a:t>
            </a:r>
          </a:p>
        </p:txBody>
      </p:sp>
      <p:sp>
        <p:nvSpPr>
          <p:cNvPr id="110" name="Rectangle: Rounded Corners 109">
            <a:extLst>
              <a:ext uri="{FF2B5EF4-FFF2-40B4-BE49-F238E27FC236}">
                <a16:creationId xmlns:a16="http://schemas.microsoft.com/office/drawing/2014/main" id="{857B49C9-F8D9-4364-80C0-73BC490561D5}"/>
              </a:ext>
            </a:extLst>
          </p:cNvPr>
          <p:cNvSpPr/>
          <p:nvPr/>
        </p:nvSpPr>
        <p:spPr>
          <a:xfrm>
            <a:off x="8190968" y="625530"/>
            <a:ext cx="1894766" cy="59777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sp>
        <p:nvSpPr>
          <p:cNvPr id="111" name="Rectangle: Rounded Corners 110">
            <a:extLst>
              <a:ext uri="{FF2B5EF4-FFF2-40B4-BE49-F238E27FC236}">
                <a16:creationId xmlns:a16="http://schemas.microsoft.com/office/drawing/2014/main" id="{CEBD39AF-B1B0-441B-9E9C-0F00EFF4D804}"/>
              </a:ext>
            </a:extLst>
          </p:cNvPr>
          <p:cNvSpPr/>
          <p:nvPr/>
        </p:nvSpPr>
        <p:spPr>
          <a:xfrm>
            <a:off x="8184368" y="1765474"/>
            <a:ext cx="1894766" cy="273783"/>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sp>
        <p:nvSpPr>
          <p:cNvPr id="113" name="Rectangle: Rounded Corners 112">
            <a:extLst>
              <a:ext uri="{FF2B5EF4-FFF2-40B4-BE49-F238E27FC236}">
                <a16:creationId xmlns:a16="http://schemas.microsoft.com/office/drawing/2014/main" id="{4F26E6DC-1C29-415C-BF94-B1E1997F562B}"/>
              </a:ext>
            </a:extLst>
          </p:cNvPr>
          <p:cNvSpPr/>
          <p:nvPr/>
        </p:nvSpPr>
        <p:spPr>
          <a:xfrm>
            <a:off x="5893342" y="1373498"/>
            <a:ext cx="1537671" cy="47178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sp>
        <p:nvSpPr>
          <p:cNvPr id="116" name="Rectangle: Rounded Corners 115">
            <a:extLst>
              <a:ext uri="{FF2B5EF4-FFF2-40B4-BE49-F238E27FC236}">
                <a16:creationId xmlns:a16="http://schemas.microsoft.com/office/drawing/2014/main" id="{DEDCDA7A-2FC4-4AEF-8F7B-FB6DF6E3B6B5}"/>
              </a:ext>
            </a:extLst>
          </p:cNvPr>
          <p:cNvSpPr/>
          <p:nvPr/>
        </p:nvSpPr>
        <p:spPr>
          <a:xfrm>
            <a:off x="5871570" y="5357670"/>
            <a:ext cx="1537671" cy="47178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4" name="Group 3">
            <a:extLst>
              <a:ext uri="{FF2B5EF4-FFF2-40B4-BE49-F238E27FC236}">
                <a16:creationId xmlns:a16="http://schemas.microsoft.com/office/drawing/2014/main" id="{ABF08C57-E84C-4AED-82AE-6A9018681D73}"/>
              </a:ext>
            </a:extLst>
          </p:cNvPr>
          <p:cNvGrpSpPr/>
          <p:nvPr/>
        </p:nvGrpSpPr>
        <p:grpSpPr>
          <a:xfrm>
            <a:off x="9844660" y="5424157"/>
            <a:ext cx="1101668" cy="471785"/>
            <a:chOff x="8226318" y="5244246"/>
            <a:chExt cx="1101668" cy="471785"/>
          </a:xfrm>
        </p:grpSpPr>
        <p:sp>
          <p:nvSpPr>
            <p:cNvPr id="119" name="Rectangle: Rounded Corners 118">
              <a:extLst>
                <a:ext uri="{FF2B5EF4-FFF2-40B4-BE49-F238E27FC236}">
                  <a16:creationId xmlns:a16="http://schemas.microsoft.com/office/drawing/2014/main" id="{BF4FC8EF-5FD6-4E8A-B79F-4C09F41F9FE6}"/>
                </a:ext>
              </a:extLst>
            </p:cNvPr>
            <p:cNvSpPr/>
            <p:nvPr/>
          </p:nvSpPr>
          <p:spPr>
            <a:xfrm>
              <a:off x="8226318" y="5244246"/>
              <a:ext cx="1070338" cy="47178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sp>
          <p:nvSpPr>
            <p:cNvPr id="3" name="TextBox 2">
              <a:extLst>
                <a:ext uri="{FF2B5EF4-FFF2-40B4-BE49-F238E27FC236}">
                  <a16:creationId xmlns:a16="http://schemas.microsoft.com/office/drawing/2014/main" id="{A6488642-2932-431E-9201-04E1C629C524}"/>
                </a:ext>
              </a:extLst>
            </p:cNvPr>
            <p:cNvSpPr txBox="1"/>
            <p:nvPr/>
          </p:nvSpPr>
          <p:spPr>
            <a:xfrm>
              <a:off x="8342052" y="5400065"/>
              <a:ext cx="985934" cy="191596"/>
            </a:xfrm>
            <a:prstGeom prst="rect">
              <a:avLst/>
            </a:prstGeom>
          </p:spPr>
          <p:txBody>
            <a:bodyPr vert="horz" wrap="square" lIns="0" tIns="0" rIns="0" bIns="0" rtlCol="0" anchor="t" anchorCtr="0">
              <a:noAutofit/>
            </a:bodyPr>
            <a:lstStyle/>
            <a:p>
              <a:pPr algn="l">
                <a:spcAft>
                  <a:spcPts val="600"/>
                </a:spcAft>
              </a:pPr>
              <a:r>
                <a:rPr lang="en-GB" sz="800" b="1" dirty="0">
                  <a:solidFill>
                    <a:schemeClr val="tx2"/>
                  </a:solidFill>
                </a:rPr>
                <a:t>Key value drivers</a:t>
              </a:r>
            </a:p>
          </p:txBody>
        </p:sp>
      </p:grpSp>
      <p:grpSp>
        <p:nvGrpSpPr>
          <p:cNvPr id="131" name="Group 130">
            <a:extLst>
              <a:ext uri="{FF2B5EF4-FFF2-40B4-BE49-F238E27FC236}">
                <a16:creationId xmlns:a16="http://schemas.microsoft.com/office/drawing/2014/main" id="{59809AEB-2BB2-494D-A259-21F91C8BDED7}"/>
              </a:ext>
            </a:extLst>
          </p:cNvPr>
          <p:cNvGrpSpPr/>
          <p:nvPr>
            <p:custDataLst>
              <p:tags r:id="rId54"/>
            </p:custDataLst>
          </p:nvPr>
        </p:nvGrpSpPr>
        <p:grpSpPr>
          <a:xfrm>
            <a:off x="995364" y="153170"/>
            <a:ext cx="6245240" cy="195814"/>
            <a:chOff x="995364" y="153170"/>
            <a:chExt cx="6245240" cy="195814"/>
          </a:xfrm>
        </p:grpSpPr>
        <p:sp>
          <p:nvSpPr>
            <p:cNvPr id="132" name="Current Section1">
              <a:hlinkClick r:id="rId85"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133" name="Other Sections2">
              <a:hlinkClick r:id="rId86"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134" name="Other Sections3">
              <a:hlinkClick r:id="rId87"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135" name="Other Sections4">
              <a:hlinkClick r:id="rId88"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136" name="Other Sections5">
              <a:hlinkClick r:id="rId89"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137" name="Other Sections6">
              <a:hlinkClick r:id="rId90"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138" name="Other Sections7">
              <a:hlinkClick r:id="rId91"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02868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Text Placeholder 214">
            <a:extLst>
              <a:ext uri="{FF2B5EF4-FFF2-40B4-BE49-F238E27FC236}">
                <a16:creationId xmlns:a16="http://schemas.microsoft.com/office/drawing/2014/main" id="{33A670E0-2517-4289-ACC7-093D7FD4E91F}"/>
              </a:ext>
            </a:extLst>
          </p:cNvPr>
          <p:cNvSpPr>
            <a:spLocks noGrp="1"/>
          </p:cNvSpPr>
          <p:nvPr>
            <p:ph type="body" sz="quarter" idx="34"/>
          </p:nvPr>
        </p:nvSpPr>
        <p:spPr>
          <a:xfrm>
            <a:off x="7715513" y="3248860"/>
            <a:ext cx="947242" cy="1123516"/>
          </a:xfrm>
          <a:solidFill>
            <a:schemeClr val="bg2"/>
          </a:solidFill>
        </p:spPr>
        <p:txBody>
          <a:bodyPr/>
          <a:lstStyle/>
          <a:p>
            <a:endParaRPr lang="en-US" dirty="0"/>
          </a:p>
        </p:txBody>
      </p:sp>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2"/>
            </p:custDataLst>
            <p:extLst>
              <p:ext uri="{D42A27DB-BD31-4B8C-83A1-F6EECF244321}">
                <p14:modId xmlns:p14="http://schemas.microsoft.com/office/powerpoint/2010/main" val="16926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dirty="0"/>
              <a:t>Headlines </a:t>
            </a:r>
          </a:p>
        </p:txBody>
      </p:sp>
      <p:sp>
        <p:nvSpPr>
          <p:cNvPr id="140" name="Text Placeholder 139">
            <a:extLst>
              <a:ext uri="{FF2B5EF4-FFF2-40B4-BE49-F238E27FC236}">
                <a16:creationId xmlns:a16="http://schemas.microsoft.com/office/drawing/2014/main" id="{DBF2D6F4-68AD-DFBD-3771-A7BFD2E29827}"/>
              </a:ext>
            </a:extLst>
          </p:cNvPr>
          <p:cNvSpPr>
            <a:spLocks noGrp="1"/>
          </p:cNvSpPr>
          <p:nvPr>
            <p:ph type="body" sz="quarter" idx="10"/>
          </p:nvPr>
        </p:nvSpPr>
        <p:spPr/>
        <p:txBody>
          <a:bodyPr/>
          <a:lstStyle/>
          <a:p>
            <a:r>
              <a:rPr lang="en-US" dirty="0"/>
              <a:t>EBITDA</a:t>
            </a:r>
            <a:r>
              <a:rPr lang="en-US"/>
              <a:t>/cash</a:t>
            </a:r>
            <a:endParaRPr lang="en-US" dirty="0"/>
          </a:p>
        </p:txBody>
      </p:sp>
      <p:sp>
        <p:nvSpPr>
          <p:cNvPr id="141" name="Text Placeholder 140">
            <a:extLst>
              <a:ext uri="{FF2B5EF4-FFF2-40B4-BE49-F238E27FC236}">
                <a16:creationId xmlns:a16="http://schemas.microsoft.com/office/drawing/2014/main" id="{9CDBAB0A-2DF1-A5E8-56D5-DEC34E30EDB7}"/>
              </a:ext>
            </a:extLst>
          </p:cNvPr>
          <p:cNvSpPr>
            <a:spLocks noGrp="1"/>
          </p:cNvSpPr>
          <p:nvPr>
            <p:ph type="body" sz="quarter" idx="11"/>
          </p:nvPr>
        </p:nvSpPr>
        <p:spPr/>
        <p:txBody>
          <a:bodyPr/>
          <a:lstStyle/>
          <a:p>
            <a:r>
              <a:rPr lang="en-US" dirty="0"/>
              <a:t>EBITDA</a:t>
            </a:r>
          </a:p>
        </p:txBody>
      </p:sp>
      <p:sp>
        <p:nvSpPr>
          <p:cNvPr id="142" name="Text Placeholder 141">
            <a:extLst>
              <a:ext uri="{FF2B5EF4-FFF2-40B4-BE49-F238E27FC236}">
                <a16:creationId xmlns:a16="http://schemas.microsoft.com/office/drawing/2014/main" id="{AF083AD5-6757-FB72-8B62-94E9B21AEB34}"/>
              </a:ext>
            </a:extLst>
          </p:cNvPr>
          <p:cNvSpPr>
            <a:spLocks noGrp="1"/>
          </p:cNvSpPr>
          <p:nvPr>
            <p:ph type="body" sz="quarter" idx="12"/>
          </p:nvPr>
        </p:nvSpPr>
        <p:spPr/>
        <p:txBody>
          <a:bodyPr/>
          <a:lstStyle/>
          <a:p>
            <a:r>
              <a:rPr lang="en-US" dirty="0"/>
              <a:t>EBITDA</a:t>
            </a:r>
          </a:p>
        </p:txBody>
      </p:sp>
      <p:sp>
        <p:nvSpPr>
          <p:cNvPr id="143" name="Text Placeholder 142">
            <a:extLst>
              <a:ext uri="{FF2B5EF4-FFF2-40B4-BE49-F238E27FC236}">
                <a16:creationId xmlns:a16="http://schemas.microsoft.com/office/drawing/2014/main" id="{24AD16EA-4A51-1DC9-7078-D44FA0142FCC}"/>
              </a:ext>
            </a:extLst>
          </p:cNvPr>
          <p:cNvSpPr>
            <a:spLocks noGrp="1"/>
          </p:cNvSpPr>
          <p:nvPr>
            <p:ph type="body" sz="quarter" idx="13"/>
          </p:nvPr>
        </p:nvSpPr>
        <p:spPr/>
        <p:txBody>
          <a:bodyPr/>
          <a:lstStyle/>
          <a:p>
            <a:r>
              <a:rPr lang="en-US" dirty="0"/>
              <a:t>£0.2m</a:t>
            </a:r>
          </a:p>
        </p:txBody>
      </p:sp>
      <p:sp>
        <p:nvSpPr>
          <p:cNvPr id="144" name="Text Placeholder 143">
            <a:extLst>
              <a:ext uri="{FF2B5EF4-FFF2-40B4-BE49-F238E27FC236}">
                <a16:creationId xmlns:a16="http://schemas.microsoft.com/office/drawing/2014/main" id="{429B2934-CBD4-9B77-3D93-57A3F95B8158}"/>
              </a:ext>
            </a:extLst>
          </p:cNvPr>
          <p:cNvSpPr>
            <a:spLocks noGrp="1"/>
          </p:cNvSpPr>
          <p:nvPr>
            <p:ph type="body" sz="quarter" idx="14"/>
          </p:nvPr>
        </p:nvSpPr>
        <p:spPr/>
        <p:txBody>
          <a:bodyPr/>
          <a:lstStyle/>
          <a:p>
            <a:r>
              <a:rPr lang="en-US" dirty="0"/>
              <a:t>n/a</a:t>
            </a:r>
          </a:p>
        </p:txBody>
      </p:sp>
      <p:sp>
        <p:nvSpPr>
          <p:cNvPr id="145" name="Text Placeholder 144">
            <a:extLst>
              <a:ext uri="{FF2B5EF4-FFF2-40B4-BE49-F238E27FC236}">
                <a16:creationId xmlns:a16="http://schemas.microsoft.com/office/drawing/2014/main" id="{CED62355-292A-52B5-A729-5F1B50569228}"/>
              </a:ext>
            </a:extLst>
          </p:cNvPr>
          <p:cNvSpPr>
            <a:spLocks noGrp="1"/>
          </p:cNvSpPr>
          <p:nvPr>
            <p:ph type="body" sz="quarter" idx="15"/>
          </p:nvPr>
        </p:nvSpPr>
        <p:spPr/>
        <p:txBody>
          <a:bodyPr/>
          <a:lstStyle/>
          <a:p>
            <a:r>
              <a:rPr lang="en-US" dirty="0"/>
              <a:t>n/a</a:t>
            </a:r>
          </a:p>
        </p:txBody>
      </p:sp>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6"/>
          </p:nvPr>
        </p:nvSpPr>
        <p:spPr>
          <a:xfrm>
            <a:off x="995362" y="2201445"/>
            <a:ext cx="4659311" cy="267866"/>
          </a:xfrm>
        </p:spPr>
        <p:txBody>
          <a:bodyPr/>
          <a:lstStyle/>
          <a:p>
            <a:r>
              <a:rPr lang="en-US" dirty="0"/>
              <a:t>Historical trading and underlying earnings</a:t>
            </a:r>
          </a:p>
        </p:txBody>
      </p:sp>
      <p:sp>
        <p:nvSpPr>
          <p:cNvPr id="147" name="Text Placeholder 146">
            <a:extLst>
              <a:ext uri="{FF2B5EF4-FFF2-40B4-BE49-F238E27FC236}">
                <a16:creationId xmlns:a16="http://schemas.microsoft.com/office/drawing/2014/main" id="{FEBE6775-F61A-902F-A2E3-63184456E199}"/>
              </a:ext>
            </a:extLst>
          </p:cNvPr>
          <p:cNvSpPr>
            <a:spLocks noGrp="1"/>
          </p:cNvSpPr>
          <p:nvPr>
            <p:ph type="body" sz="quarter" idx="17"/>
          </p:nvPr>
        </p:nvSpPr>
        <p:spPr/>
        <p:txBody>
          <a:bodyPr/>
          <a:lstStyle/>
          <a:p>
            <a:r>
              <a:rPr lang="en-IN" dirty="0"/>
              <a:t>FY22 underperformance vs forecast</a:t>
            </a:r>
          </a:p>
        </p:txBody>
      </p:sp>
      <p:sp>
        <p:nvSpPr>
          <p:cNvPr id="148" name="Text Placeholder 147">
            <a:extLst>
              <a:ext uri="{FF2B5EF4-FFF2-40B4-BE49-F238E27FC236}">
                <a16:creationId xmlns:a16="http://schemas.microsoft.com/office/drawing/2014/main" id="{3890DCD0-A957-1EF1-AA45-C2FD369C4DB5}"/>
              </a:ext>
            </a:extLst>
          </p:cNvPr>
          <p:cNvSpPr>
            <a:spLocks noGrp="1"/>
          </p:cNvSpPr>
          <p:nvPr>
            <p:ph type="body" sz="quarter" idx="18"/>
          </p:nvPr>
        </p:nvSpPr>
        <p:spPr/>
        <p:txBody>
          <a:bodyPr/>
          <a:lstStyle/>
          <a:p>
            <a:r>
              <a:rPr lang="en-IN" dirty="0"/>
              <a:t>FY23 budget</a:t>
            </a:r>
          </a:p>
        </p:txBody>
      </p:sp>
      <p:sp>
        <p:nvSpPr>
          <p:cNvPr id="156" name="Text Placeholder 155">
            <a:extLst>
              <a:ext uri="{FF2B5EF4-FFF2-40B4-BE49-F238E27FC236}">
                <a16:creationId xmlns:a16="http://schemas.microsoft.com/office/drawing/2014/main" id="{988316A1-823D-4EB8-819D-FD1DE06834F3}"/>
              </a:ext>
            </a:extLst>
          </p:cNvPr>
          <p:cNvSpPr>
            <a:spLocks noGrp="1"/>
          </p:cNvSpPr>
          <p:nvPr>
            <p:ph type="body" sz="quarter" idx="20"/>
          </p:nvPr>
        </p:nvSpPr>
        <p:spPr/>
        <p:txBody>
          <a:bodyPr/>
          <a:lstStyle/>
          <a:p>
            <a:pPr lvl="1" defTabSz="914377"/>
            <a:r>
              <a:rPr lang="en-GB" dirty="0"/>
              <a:t>Compared to the FY22 forecast (9+3 basis) of £7.7 million revenue and £3.0 million EBITDA actual results fell below forecast levels, with reported revenue and EBITDA of £7.2 million and £2.8 million, respectively. At EBIT level the forecast of £1.3 million compares to a delivered EBIT of £1.2 million.</a:t>
            </a:r>
          </a:p>
        </p:txBody>
      </p:sp>
      <p:sp>
        <p:nvSpPr>
          <p:cNvPr id="157" name="Text Placeholder 156">
            <a:extLst>
              <a:ext uri="{FF2B5EF4-FFF2-40B4-BE49-F238E27FC236}">
                <a16:creationId xmlns:a16="http://schemas.microsoft.com/office/drawing/2014/main" id="{C8B67826-7D22-4097-9AB6-19E4E31EEFB7}"/>
              </a:ext>
            </a:extLst>
          </p:cNvPr>
          <p:cNvSpPr>
            <a:spLocks noGrp="1"/>
          </p:cNvSpPr>
          <p:nvPr>
            <p:ph type="body" sz="quarter" idx="21"/>
          </p:nvPr>
        </p:nvSpPr>
        <p:spPr>
          <a:xfrm>
            <a:off x="995362" y="4924363"/>
            <a:ext cx="4659312" cy="831861"/>
          </a:xfrm>
        </p:spPr>
        <p:txBody>
          <a:bodyPr/>
          <a:lstStyle/>
          <a:p>
            <a:pPr lvl="1" defTabSz="914377"/>
            <a:r>
              <a:rPr lang="en-GB" dirty="0"/>
              <a:t>Management has forecast FY23 revenue and EBITDA of £9.4 million and £4.2 million (EBIT of £2.1 million), which reflects significant growth versus FY22 results, in spite of the opening fleet size being significantly smaller than the key fleet assumptions that underpin the forecast, reflecting a potential risk to achievability of FY23. </a:t>
            </a:r>
          </a:p>
        </p:txBody>
      </p:sp>
      <p:sp>
        <p:nvSpPr>
          <p:cNvPr id="149" name="Text Placeholder 148">
            <a:extLst>
              <a:ext uri="{FF2B5EF4-FFF2-40B4-BE49-F238E27FC236}">
                <a16:creationId xmlns:a16="http://schemas.microsoft.com/office/drawing/2014/main" id="{3B2EE4C7-E867-E767-2497-E39D25E94107}"/>
              </a:ext>
            </a:extLst>
          </p:cNvPr>
          <p:cNvSpPr>
            <a:spLocks noGrp="1"/>
          </p:cNvSpPr>
          <p:nvPr>
            <p:ph type="body" sz="quarter" idx="19"/>
          </p:nvPr>
        </p:nvSpPr>
        <p:spPr>
          <a:xfrm>
            <a:off x="995363" y="2459566"/>
            <a:ext cx="4841912" cy="665420"/>
          </a:xfrm>
        </p:spPr>
        <p:txBody>
          <a:bodyPr/>
          <a:lstStyle/>
          <a:p>
            <a:pPr lvl="1" defTabSz="914377"/>
            <a:r>
              <a:rPr lang="en-GB" dirty="0"/>
              <a:t>The business has seen a steady growth in revenue and earnings across the period FY20-22, in spite of the wider macro-economic impact of Covid-19. Revenue has increased from £6.1 million to £7.5 million, whilst reported EBITDA has also increased, from £2.5 million to £2.8 million (with a similar increase to EBIT to £1.2 million by FY22 and underlying EBITDA increasing from £2.6 million to £3.0 million).</a:t>
            </a:r>
          </a:p>
          <a:p>
            <a:pPr lvl="1"/>
            <a:endParaRPr lang="en-US" dirty="0"/>
          </a:p>
        </p:txBody>
      </p:sp>
      <p:sp>
        <p:nvSpPr>
          <p:cNvPr id="208" name="Text Placeholder 207">
            <a:extLst>
              <a:ext uri="{FF2B5EF4-FFF2-40B4-BE49-F238E27FC236}">
                <a16:creationId xmlns:a16="http://schemas.microsoft.com/office/drawing/2014/main" id="{AF1E9629-48F0-4BAC-8841-0F8A83DFC4DD}"/>
              </a:ext>
            </a:extLst>
          </p:cNvPr>
          <p:cNvSpPr>
            <a:spLocks noGrp="1"/>
          </p:cNvSpPr>
          <p:nvPr>
            <p:ph type="body" sz="quarter" idx="27"/>
          </p:nvPr>
        </p:nvSpPr>
        <p:spPr/>
        <p:txBody>
          <a:bodyPr/>
          <a:lstStyle/>
          <a:p>
            <a:r>
              <a:rPr lang="en-US" dirty="0">
                <a:sym typeface="Wingdings" panose="05000000000000000000" pitchFamily="2" charset="2"/>
              </a:rPr>
              <a:t></a:t>
            </a:r>
            <a:endParaRPr lang="en-US" dirty="0"/>
          </a:p>
        </p:txBody>
      </p:sp>
      <p:sp>
        <p:nvSpPr>
          <p:cNvPr id="210" name="Text Placeholder 209">
            <a:extLst>
              <a:ext uri="{FF2B5EF4-FFF2-40B4-BE49-F238E27FC236}">
                <a16:creationId xmlns:a16="http://schemas.microsoft.com/office/drawing/2014/main" id="{912D38E0-B838-4F3B-89E8-DBDC9C016CB6}"/>
              </a:ext>
            </a:extLst>
          </p:cNvPr>
          <p:cNvSpPr>
            <a:spLocks noGrp="1"/>
          </p:cNvSpPr>
          <p:nvPr>
            <p:ph type="body" sz="quarter" idx="29"/>
          </p:nvPr>
        </p:nvSpPr>
        <p:spPr/>
        <p:txBody>
          <a:bodyPr/>
          <a:lstStyle/>
          <a:p>
            <a:r>
              <a:rPr lang="en-US" dirty="0">
                <a:sym typeface="Wingdings" panose="05000000000000000000" pitchFamily="2" charset="2"/>
              </a:rPr>
              <a:t></a:t>
            </a:r>
            <a:endParaRPr lang="en-US" dirty="0"/>
          </a:p>
        </p:txBody>
      </p:sp>
      <p:sp>
        <p:nvSpPr>
          <p:cNvPr id="211" name="Text Placeholder 210">
            <a:extLst>
              <a:ext uri="{FF2B5EF4-FFF2-40B4-BE49-F238E27FC236}">
                <a16:creationId xmlns:a16="http://schemas.microsoft.com/office/drawing/2014/main" id="{2E8DD645-9DCC-496D-AC63-0565A7E3E147}"/>
              </a:ext>
            </a:extLst>
          </p:cNvPr>
          <p:cNvSpPr>
            <a:spLocks noGrp="1"/>
          </p:cNvSpPr>
          <p:nvPr>
            <p:ph type="body" sz="quarter" idx="30"/>
          </p:nvPr>
        </p:nvSpPr>
        <p:spPr>
          <a:noFill/>
        </p:spPr>
        <p:txBody>
          <a:bodyPr/>
          <a:lstStyle/>
          <a:p>
            <a:r>
              <a:rPr lang="en-US" dirty="0">
                <a:sym typeface="Wingdings" panose="05000000000000000000" pitchFamily="2" charset="2"/>
              </a:rPr>
              <a:t></a:t>
            </a:r>
            <a:endParaRPr lang="en-US" dirty="0"/>
          </a:p>
        </p:txBody>
      </p:sp>
      <p:sp>
        <p:nvSpPr>
          <p:cNvPr id="212" name="Text Placeholder 211">
            <a:extLst>
              <a:ext uri="{FF2B5EF4-FFF2-40B4-BE49-F238E27FC236}">
                <a16:creationId xmlns:a16="http://schemas.microsoft.com/office/drawing/2014/main" id="{05F643A2-7913-4700-A188-742C37198E91}"/>
              </a:ext>
            </a:extLst>
          </p:cNvPr>
          <p:cNvSpPr>
            <a:spLocks noGrp="1"/>
          </p:cNvSpPr>
          <p:nvPr>
            <p:ph type="body" sz="quarter" idx="31"/>
          </p:nvPr>
        </p:nvSpPr>
        <p:spPr/>
        <p:txBody>
          <a:bodyPr/>
          <a:lstStyle/>
          <a:p>
            <a:r>
              <a:rPr lang="en-US" dirty="0">
                <a:sym typeface="Wingdings" panose="05000000000000000000" pitchFamily="2" charset="2"/>
              </a:rPr>
              <a:t></a:t>
            </a:r>
            <a:endParaRPr lang="en-US" dirty="0"/>
          </a:p>
        </p:txBody>
      </p:sp>
      <p:sp>
        <p:nvSpPr>
          <p:cNvPr id="213" name="Text Placeholder 212">
            <a:extLst>
              <a:ext uri="{FF2B5EF4-FFF2-40B4-BE49-F238E27FC236}">
                <a16:creationId xmlns:a16="http://schemas.microsoft.com/office/drawing/2014/main" id="{AE08C39C-110C-407F-9BD7-BCDE1D673FCB}"/>
              </a:ext>
            </a:extLst>
          </p:cNvPr>
          <p:cNvSpPr>
            <a:spLocks noGrp="1"/>
          </p:cNvSpPr>
          <p:nvPr>
            <p:ph type="body" sz="quarter" idx="32"/>
          </p:nvPr>
        </p:nvSpPr>
        <p:spPr/>
        <p:txBody>
          <a:bodyPr/>
          <a:lstStyle/>
          <a:p>
            <a:r>
              <a:rPr lang="en-US" dirty="0">
                <a:sym typeface="Wingdings" panose="05000000000000000000" pitchFamily="2" charset="2"/>
              </a:rPr>
              <a:t></a:t>
            </a:r>
            <a:endParaRPr lang="en-US" dirty="0"/>
          </a:p>
        </p:txBody>
      </p:sp>
      <p:sp>
        <p:nvSpPr>
          <p:cNvPr id="216" name="Text Placeholder 215">
            <a:extLst>
              <a:ext uri="{FF2B5EF4-FFF2-40B4-BE49-F238E27FC236}">
                <a16:creationId xmlns:a16="http://schemas.microsoft.com/office/drawing/2014/main" id="{C9B3A750-082F-4861-9799-90F901B3A8F9}"/>
              </a:ext>
            </a:extLst>
          </p:cNvPr>
          <p:cNvSpPr>
            <a:spLocks noGrp="1"/>
          </p:cNvSpPr>
          <p:nvPr>
            <p:ph type="body" sz="quarter" idx="35"/>
          </p:nvPr>
        </p:nvSpPr>
        <p:spPr/>
        <p:txBody>
          <a:bodyPr/>
          <a:lstStyle/>
          <a:p>
            <a:r>
              <a:rPr lang="en-US" dirty="0">
                <a:sym typeface="Wingdings" panose="05000000000000000000" pitchFamily="2" charset="2"/>
              </a:rPr>
              <a:t></a:t>
            </a:r>
            <a:endParaRPr lang="en-US" dirty="0"/>
          </a:p>
        </p:txBody>
      </p:sp>
      <p:sp>
        <p:nvSpPr>
          <p:cNvPr id="59" name="Rectangle: Rounded Corners 58">
            <a:hlinkClick r:id="rId8" action="ppaction://hlinksldjump"/>
            <a:extLst>
              <a:ext uri="{FF2B5EF4-FFF2-40B4-BE49-F238E27FC236}">
                <a16:creationId xmlns:a16="http://schemas.microsoft.com/office/drawing/2014/main" id="{65EEA60D-E16E-4522-AB08-0A9BA63711EF}"/>
              </a:ext>
            </a:extLst>
          </p:cNvPr>
          <p:cNvSpPr/>
          <p:nvPr/>
        </p:nvSpPr>
        <p:spPr>
          <a:xfrm>
            <a:off x="5035904" y="2216482"/>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60" name="Rectangle: Rounded Corners 59">
            <a:hlinkClick r:id="rId9" action="ppaction://hlinksldjump"/>
            <a:extLst>
              <a:ext uri="{FF2B5EF4-FFF2-40B4-BE49-F238E27FC236}">
                <a16:creationId xmlns:a16="http://schemas.microsoft.com/office/drawing/2014/main" id="{BEC89A34-DD5A-432A-BFA1-4E86BC6BDA45}"/>
              </a:ext>
            </a:extLst>
          </p:cNvPr>
          <p:cNvSpPr/>
          <p:nvPr/>
        </p:nvSpPr>
        <p:spPr>
          <a:xfrm>
            <a:off x="5035904" y="3440764"/>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61" name="Rectangle: Rounded Corners 60">
            <a:hlinkClick r:id="rId9" action="ppaction://hlinksldjump"/>
            <a:extLst>
              <a:ext uri="{FF2B5EF4-FFF2-40B4-BE49-F238E27FC236}">
                <a16:creationId xmlns:a16="http://schemas.microsoft.com/office/drawing/2014/main" id="{048FF60C-760D-4120-ADFE-0263FC945FC7}"/>
              </a:ext>
            </a:extLst>
          </p:cNvPr>
          <p:cNvSpPr/>
          <p:nvPr/>
        </p:nvSpPr>
        <p:spPr>
          <a:xfrm>
            <a:off x="5035904" y="461300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endParaRPr lang="en-US" sz="1600" dirty="0">
              <a:solidFill>
                <a:schemeClr val="bg1"/>
              </a:solidFill>
            </a:endParaRPr>
          </a:p>
        </p:txBody>
      </p:sp>
      <p:sp>
        <p:nvSpPr>
          <p:cNvPr id="16" name="Text Placeholder 15">
            <a:extLst>
              <a:ext uri="{FF2B5EF4-FFF2-40B4-BE49-F238E27FC236}">
                <a16:creationId xmlns:a16="http://schemas.microsoft.com/office/drawing/2014/main" id="{7F577115-9245-4793-8A06-9253A5177856}"/>
              </a:ext>
            </a:extLst>
          </p:cNvPr>
          <p:cNvSpPr>
            <a:spLocks noGrp="1"/>
          </p:cNvSpPr>
          <p:nvPr>
            <p:ph type="body" sz="quarter" idx="33"/>
          </p:nvPr>
        </p:nvSpPr>
        <p:spPr>
          <a:xfrm>
            <a:off x="7715513" y="2064775"/>
            <a:ext cx="947242" cy="1123516"/>
          </a:xfrm>
          <a:solidFill>
            <a:schemeClr val="bg2"/>
          </a:solidFill>
        </p:spPr>
        <p:txBody>
          <a:bodyPr/>
          <a:lstStyle/>
          <a:p>
            <a:endParaRPr lang="en-GB" dirty="0"/>
          </a:p>
        </p:txBody>
      </p:sp>
      <p:sp>
        <p:nvSpPr>
          <p:cNvPr id="18" name="Text Placeholder 17">
            <a:extLst>
              <a:ext uri="{FF2B5EF4-FFF2-40B4-BE49-F238E27FC236}">
                <a16:creationId xmlns:a16="http://schemas.microsoft.com/office/drawing/2014/main" id="{D184B734-E359-4D3F-8462-9D70C9CBD979}"/>
              </a:ext>
            </a:extLst>
          </p:cNvPr>
          <p:cNvSpPr>
            <a:spLocks noGrp="1"/>
          </p:cNvSpPr>
          <p:nvPr>
            <p:ph type="body" sz="quarter" idx="28"/>
          </p:nvPr>
        </p:nvSpPr>
        <p:spPr>
          <a:noFill/>
        </p:spPr>
        <p:txBody>
          <a:bodyPr/>
          <a:lstStyle/>
          <a:p>
            <a:r>
              <a:rPr lang="en-US" dirty="0">
                <a:sym typeface="Wingdings" panose="05000000000000000000" pitchFamily="2" charset="2"/>
              </a:rPr>
              <a:t></a:t>
            </a:r>
            <a:endParaRPr lang="en-US" dirty="0"/>
          </a:p>
        </p:txBody>
      </p:sp>
      <p:grpSp>
        <p:nvGrpSpPr>
          <p:cNvPr id="45" name="Group 44">
            <a:extLst>
              <a:ext uri="{FF2B5EF4-FFF2-40B4-BE49-F238E27FC236}">
                <a16:creationId xmlns:a16="http://schemas.microsoft.com/office/drawing/2014/main" id="{59809AEB-2BB2-494D-A259-21F91C8BDED7}"/>
              </a:ext>
            </a:extLst>
          </p:cNvPr>
          <p:cNvGrpSpPr/>
          <p:nvPr>
            <p:custDataLst>
              <p:tags r:id="rId4"/>
            </p:custDataLst>
          </p:nvPr>
        </p:nvGrpSpPr>
        <p:grpSpPr>
          <a:xfrm>
            <a:off x="995364" y="153170"/>
            <a:ext cx="6245240" cy="195814"/>
            <a:chOff x="995364" y="153170"/>
            <a:chExt cx="6245240" cy="195814"/>
          </a:xfrm>
        </p:grpSpPr>
        <p:sp>
          <p:nvSpPr>
            <p:cNvPr id="46"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7"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8"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9"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0"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1"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639085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D128250-FBE9-4E9B-B55A-21CEAF3F458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0" name="Object 9" hidden="1">
                        <a:extLst>
                          <a:ext uri="{FF2B5EF4-FFF2-40B4-BE49-F238E27FC236}">
                            <a16:creationId xmlns:a16="http://schemas.microsoft.com/office/drawing/2014/main" id="{ED128250-FBE9-4E9B-B55A-21CEAF3F458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17" name="Title 216">
            <a:extLst>
              <a:ext uri="{FF2B5EF4-FFF2-40B4-BE49-F238E27FC236}">
                <a16:creationId xmlns:a16="http://schemas.microsoft.com/office/drawing/2014/main" id="{D44D8C1B-7095-47BC-AB75-3346CAC9AA91}"/>
              </a:ext>
            </a:extLst>
          </p:cNvPr>
          <p:cNvSpPr>
            <a:spLocks noGrp="1"/>
          </p:cNvSpPr>
          <p:nvPr>
            <p:ph type="title"/>
          </p:nvPr>
        </p:nvSpPr>
        <p:spPr/>
        <p:txBody>
          <a:bodyPr/>
          <a:lstStyle/>
          <a:p>
            <a:r>
              <a:rPr lang="en-US" dirty="0"/>
              <a:t>Headlines (2/2)</a:t>
            </a:r>
          </a:p>
        </p:txBody>
      </p:sp>
      <p:sp>
        <p:nvSpPr>
          <p:cNvPr id="140" name="Text Placeholder 139">
            <a:extLst>
              <a:ext uri="{FF2B5EF4-FFF2-40B4-BE49-F238E27FC236}">
                <a16:creationId xmlns:a16="http://schemas.microsoft.com/office/drawing/2014/main" id="{DBF2D6F4-68AD-DFBD-3771-A7BFD2E29827}"/>
              </a:ext>
            </a:extLst>
          </p:cNvPr>
          <p:cNvSpPr>
            <a:spLocks noGrp="1"/>
          </p:cNvSpPr>
          <p:nvPr>
            <p:ph type="body" sz="quarter" idx="10"/>
          </p:nvPr>
        </p:nvSpPr>
        <p:spPr/>
        <p:txBody>
          <a:bodyPr/>
          <a:lstStyle/>
          <a:p>
            <a:r>
              <a:rPr lang="en-US" dirty="0"/>
              <a:t>Cash</a:t>
            </a:r>
          </a:p>
        </p:txBody>
      </p:sp>
      <p:sp>
        <p:nvSpPr>
          <p:cNvPr id="141" name="Text Placeholder 140">
            <a:extLst>
              <a:ext uri="{FF2B5EF4-FFF2-40B4-BE49-F238E27FC236}">
                <a16:creationId xmlns:a16="http://schemas.microsoft.com/office/drawing/2014/main" id="{9CDBAB0A-2DF1-A5E8-56D5-DEC34E30EDB7}"/>
              </a:ext>
            </a:extLst>
          </p:cNvPr>
          <p:cNvSpPr>
            <a:spLocks noGrp="1"/>
          </p:cNvSpPr>
          <p:nvPr>
            <p:ph type="body" sz="quarter" idx="11"/>
          </p:nvPr>
        </p:nvSpPr>
        <p:spPr/>
        <p:txBody>
          <a:bodyPr/>
          <a:lstStyle/>
          <a:p>
            <a:r>
              <a:rPr lang="en-US" dirty="0"/>
              <a:t>Cash</a:t>
            </a:r>
          </a:p>
        </p:txBody>
      </p:sp>
      <p:sp>
        <p:nvSpPr>
          <p:cNvPr id="142" name="Text Placeholder 141">
            <a:extLst>
              <a:ext uri="{FF2B5EF4-FFF2-40B4-BE49-F238E27FC236}">
                <a16:creationId xmlns:a16="http://schemas.microsoft.com/office/drawing/2014/main" id="{AF083AD5-6757-FB72-8B62-94E9B21AEB34}"/>
              </a:ext>
            </a:extLst>
          </p:cNvPr>
          <p:cNvSpPr>
            <a:spLocks noGrp="1"/>
          </p:cNvSpPr>
          <p:nvPr>
            <p:ph type="body" sz="quarter" idx="12"/>
          </p:nvPr>
        </p:nvSpPr>
        <p:spPr/>
        <p:txBody>
          <a:bodyPr/>
          <a:lstStyle/>
          <a:p>
            <a:r>
              <a:rPr lang="en-US" dirty="0"/>
              <a:t>EBITDA/cash</a:t>
            </a:r>
          </a:p>
        </p:txBody>
      </p:sp>
      <p:sp>
        <p:nvSpPr>
          <p:cNvPr id="143" name="Text Placeholder 142">
            <a:extLst>
              <a:ext uri="{FF2B5EF4-FFF2-40B4-BE49-F238E27FC236}">
                <a16:creationId xmlns:a16="http://schemas.microsoft.com/office/drawing/2014/main" id="{24AD16EA-4A51-1DC9-7078-D44FA0142FCC}"/>
              </a:ext>
            </a:extLst>
          </p:cNvPr>
          <p:cNvSpPr>
            <a:spLocks noGrp="1"/>
          </p:cNvSpPr>
          <p:nvPr>
            <p:ph type="body" sz="quarter" idx="13"/>
          </p:nvPr>
        </p:nvSpPr>
        <p:spPr/>
        <p:txBody>
          <a:bodyPr/>
          <a:lstStyle/>
          <a:p>
            <a:r>
              <a:rPr lang="en-US" dirty="0"/>
              <a:t>(£0.1m)</a:t>
            </a:r>
          </a:p>
        </p:txBody>
      </p:sp>
      <p:sp>
        <p:nvSpPr>
          <p:cNvPr id="144" name="Text Placeholder 143">
            <a:extLst>
              <a:ext uri="{FF2B5EF4-FFF2-40B4-BE49-F238E27FC236}">
                <a16:creationId xmlns:a16="http://schemas.microsoft.com/office/drawing/2014/main" id="{429B2934-CBD4-9B77-3D93-57A3F95B8158}"/>
              </a:ext>
            </a:extLst>
          </p:cNvPr>
          <p:cNvSpPr>
            <a:spLocks noGrp="1"/>
          </p:cNvSpPr>
          <p:nvPr>
            <p:ph type="body" sz="quarter" idx="14"/>
          </p:nvPr>
        </p:nvSpPr>
        <p:spPr/>
        <p:txBody>
          <a:bodyPr/>
          <a:lstStyle/>
          <a:p>
            <a:r>
              <a:rPr lang="en-US" dirty="0"/>
              <a:t>£0.0m</a:t>
            </a:r>
          </a:p>
        </p:txBody>
      </p:sp>
      <p:sp>
        <p:nvSpPr>
          <p:cNvPr id="145" name="Text Placeholder 144">
            <a:extLst>
              <a:ext uri="{FF2B5EF4-FFF2-40B4-BE49-F238E27FC236}">
                <a16:creationId xmlns:a16="http://schemas.microsoft.com/office/drawing/2014/main" id="{CED62355-292A-52B5-A729-5F1B50569228}"/>
              </a:ext>
            </a:extLst>
          </p:cNvPr>
          <p:cNvSpPr>
            <a:spLocks noGrp="1"/>
          </p:cNvSpPr>
          <p:nvPr>
            <p:ph type="body" sz="quarter" idx="15"/>
          </p:nvPr>
        </p:nvSpPr>
        <p:spPr/>
        <p:txBody>
          <a:bodyPr/>
          <a:lstStyle/>
          <a:p>
            <a:r>
              <a:rPr lang="en-US" dirty="0"/>
              <a:t>n/a</a:t>
            </a:r>
          </a:p>
        </p:txBody>
      </p:sp>
      <p:sp>
        <p:nvSpPr>
          <p:cNvPr id="146" name="Text Placeholder 145">
            <a:extLst>
              <a:ext uri="{FF2B5EF4-FFF2-40B4-BE49-F238E27FC236}">
                <a16:creationId xmlns:a16="http://schemas.microsoft.com/office/drawing/2014/main" id="{B81516F1-61F8-34F6-DAA8-4F668E45FBF1}"/>
              </a:ext>
            </a:extLst>
          </p:cNvPr>
          <p:cNvSpPr>
            <a:spLocks noGrp="1"/>
          </p:cNvSpPr>
          <p:nvPr>
            <p:ph type="body" sz="quarter" idx="16"/>
          </p:nvPr>
        </p:nvSpPr>
        <p:spPr>
          <a:xfrm>
            <a:off x="995362" y="2201445"/>
            <a:ext cx="4659311" cy="267866"/>
          </a:xfrm>
        </p:spPr>
        <p:txBody>
          <a:bodyPr/>
          <a:lstStyle/>
          <a:p>
            <a:r>
              <a:rPr lang="en-IN" dirty="0"/>
              <a:t>Balance sheet and net debt</a:t>
            </a:r>
          </a:p>
        </p:txBody>
      </p:sp>
      <p:sp>
        <p:nvSpPr>
          <p:cNvPr id="147" name="Text Placeholder 146">
            <a:extLst>
              <a:ext uri="{FF2B5EF4-FFF2-40B4-BE49-F238E27FC236}">
                <a16:creationId xmlns:a16="http://schemas.microsoft.com/office/drawing/2014/main" id="{FEBE6775-F61A-902F-A2E3-63184456E199}"/>
              </a:ext>
            </a:extLst>
          </p:cNvPr>
          <p:cNvSpPr>
            <a:spLocks noGrp="1"/>
          </p:cNvSpPr>
          <p:nvPr>
            <p:ph type="body" sz="quarter" idx="17"/>
          </p:nvPr>
        </p:nvSpPr>
        <p:spPr/>
        <p:txBody>
          <a:bodyPr/>
          <a:lstStyle/>
          <a:p>
            <a:r>
              <a:rPr lang="en-IN" dirty="0"/>
              <a:t>Working capital and cash flow</a:t>
            </a:r>
          </a:p>
        </p:txBody>
      </p:sp>
      <p:sp>
        <p:nvSpPr>
          <p:cNvPr id="148" name="Text Placeholder 147">
            <a:extLst>
              <a:ext uri="{FF2B5EF4-FFF2-40B4-BE49-F238E27FC236}">
                <a16:creationId xmlns:a16="http://schemas.microsoft.com/office/drawing/2014/main" id="{3890DCD0-A957-1EF1-AA45-C2FD369C4DB5}"/>
              </a:ext>
            </a:extLst>
          </p:cNvPr>
          <p:cNvSpPr>
            <a:spLocks noGrp="1"/>
          </p:cNvSpPr>
          <p:nvPr>
            <p:ph type="body" sz="quarter" idx="18"/>
          </p:nvPr>
        </p:nvSpPr>
        <p:spPr/>
        <p:txBody>
          <a:bodyPr/>
          <a:lstStyle/>
          <a:p>
            <a:r>
              <a:rPr lang="en-IN" dirty="0"/>
              <a:t>Financial reporting</a:t>
            </a:r>
          </a:p>
        </p:txBody>
      </p:sp>
      <p:sp>
        <p:nvSpPr>
          <p:cNvPr id="156" name="Text Placeholder 155">
            <a:extLst>
              <a:ext uri="{FF2B5EF4-FFF2-40B4-BE49-F238E27FC236}">
                <a16:creationId xmlns:a16="http://schemas.microsoft.com/office/drawing/2014/main" id="{988316A1-823D-4EB8-819D-FD1DE06834F3}"/>
              </a:ext>
            </a:extLst>
          </p:cNvPr>
          <p:cNvSpPr>
            <a:spLocks noGrp="1"/>
          </p:cNvSpPr>
          <p:nvPr>
            <p:ph type="body" sz="quarter" idx="20"/>
          </p:nvPr>
        </p:nvSpPr>
        <p:spPr/>
        <p:txBody>
          <a:bodyPr/>
          <a:lstStyle/>
          <a:p>
            <a:pPr lvl="1" defTabSz="914377"/>
            <a:r>
              <a:rPr lang="en-GB" dirty="0"/>
              <a:t>Operating cash flow has typically been maintained at a level of £2.2 million to £2.8 million per annum over the Historical Period, with cumulative operating cash flow conversion averaging 91% (with conversion dropping in FY22). </a:t>
            </a:r>
          </a:p>
        </p:txBody>
      </p:sp>
      <p:sp>
        <p:nvSpPr>
          <p:cNvPr id="157" name="Text Placeholder 156">
            <a:extLst>
              <a:ext uri="{FF2B5EF4-FFF2-40B4-BE49-F238E27FC236}">
                <a16:creationId xmlns:a16="http://schemas.microsoft.com/office/drawing/2014/main" id="{C8B67826-7D22-4097-9AB6-19E4E31EEFB7}"/>
              </a:ext>
            </a:extLst>
          </p:cNvPr>
          <p:cNvSpPr>
            <a:spLocks noGrp="1"/>
          </p:cNvSpPr>
          <p:nvPr>
            <p:ph type="body" sz="quarter" idx="21"/>
          </p:nvPr>
        </p:nvSpPr>
        <p:spPr/>
        <p:txBody>
          <a:bodyPr/>
          <a:lstStyle/>
          <a:p>
            <a:pPr lvl="1"/>
            <a:r>
              <a:rPr lang="en-GB" dirty="0"/>
              <a:t>The business accounts under FRS102 however given its size has not historically been audited. Adjustments mainly occur at year-end for the purposes of the annual (unaudited) accounts. Given the lack of historical audit it will be important for you to review key accounting practices and principles post deal</a:t>
            </a:r>
            <a:r>
              <a:rPr lang="en-GB" noProof="0" dirty="0"/>
              <a:t>. </a:t>
            </a:r>
          </a:p>
        </p:txBody>
      </p:sp>
      <p:sp>
        <p:nvSpPr>
          <p:cNvPr id="149" name="Text Placeholder 148">
            <a:extLst>
              <a:ext uri="{FF2B5EF4-FFF2-40B4-BE49-F238E27FC236}">
                <a16:creationId xmlns:a16="http://schemas.microsoft.com/office/drawing/2014/main" id="{3B2EE4C7-E867-E767-2497-E39D25E94107}"/>
              </a:ext>
            </a:extLst>
          </p:cNvPr>
          <p:cNvSpPr>
            <a:spLocks noGrp="1"/>
          </p:cNvSpPr>
          <p:nvPr>
            <p:ph type="body" sz="quarter" idx="19"/>
          </p:nvPr>
        </p:nvSpPr>
        <p:spPr>
          <a:xfrm>
            <a:off x="995363" y="2459566"/>
            <a:ext cx="4841912" cy="665420"/>
          </a:xfrm>
        </p:spPr>
        <p:txBody>
          <a:bodyPr/>
          <a:lstStyle/>
          <a:p>
            <a:pPr lvl="1" defTabSz="914377"/>
            <a:r>
              <a:rPr lang="en-GB" dirty="0"/>
              <a:t>As at April-22 net assets amounted to £2.7 million, with fixed assets at that date of £7.4 million (largely the vehicle hire fleet and crash cushions for hire) typically acquired on a combination of HP or funded through cash. The business utilises a with-recourse (and therefore on-balance sheet) invoice financing facility, with the drawn balance fluctuating each period, and amounting to £(0.8) million at April-22</a:t>
            </a:r>
            <a:r>
              <a:rPr lang="en-GB" noProof="0" dirty="0"/>
              <a:t>.</a:t>
            </a:r>
            <a:endParaRPr lang="en-US" dirty="0"/>
          </a:p>
        </p:txBody>
      </p:sp>
      <p:sp>
        <p:nvSpPr>
          <p:cNvPr id="208" name="Text Placeholder 207">
            <a:extLst>
              <a:ext uri="{FF2B5EF4-FFF2-40B4-BE49-F238E27FC236}">
                <a16:creationId xmlns:a16="http://schemas.microsoft.com/office/drawing/2014/main" id="{AF1E9629-48F0-4BAC-8841-0F8A83DFC4DD}"/>
              </a:ext>
            </a:extLst>
          </p:cNvPr>
          <p:cNvSpPr>
            <a:spLocks noGrp="1"/>
          </p:cNvSpPr>
          <p:nvPr>
            <p:ph type="body" sz="quarter" idx="27"/>
          </p:nvPr>
        </p:nvSpPr>
        <p:spPr/>
        <p:txBody>
          <a:bodyPr/>
          <a:lstStyle/>
          <a:p>
            <a:r>
              <a:rPr lang="en-US" dirty="0">
                <a:sym typeface="Wingdings" panose="05000000000000000000" pitchFamily="2" charset="2"/>
              </a:rPr>
              <a:t></a:t>
            </a:r>
            <a:endParaRPr lang="en-US" dirty="0"/>
          </a:p>
        </p:txBody>
      </p:sp>
      <p:sp>
        <p:nvSpPr>
          <p:cNvPr id="209" name="Text Placeholder 208">
            <a:extLst>
              <a:ext uri="{FF2B5EF4-FFF2-40B4-BE49-F238E27FC236}">
                <a16:creationId xmlns:a16="http://schemas.microsoft.com/office/drawing/2014/main" id="{362E3230-36DB-415C-B15C-49D846966F23}"/>
              </a:ext>
            </a:extLst>
          </p:cNvPr>
          <p:cNvSpPr>
            <a:spLocks noGrp="1"/>
          </p:cNvSpPr>
          <p:nvPr>
            <p:ph type="body" sz="quarter" idx="28"/>
          </p:nvPr>
        </p:nvSpPr>
        <p:spPr/>
        <p:txBody>
          <a:bodyPr/>
          <a:lstStyle/>
          <a:p>
            <a:r>
              <a:rPr lang="en-US" dirty="0">
                <a:sym typeface="Wingdings" panose="05000000000000000000" pitchFamily="2" charset="2"/>
              </a:rPr>
              <a:t></a:t>
            </a:r>
            <a:endParaRPr lang="en-US" dirty="0"/>
          </a:p>
        </p:txBody>
      </p:sp>
      <p:sp>
        <p:nvSpPr>
          <p:cNvPr id="210" name="Text Placeholder 209">
            <a:extLst>
              <a:ext uri="{FF2B5EF4-FFF2-40B4-BE49-F238E27FC236}">
                <a16:creationId xmlns:a16="http://schemas.microsoft.com/office/drawing/2014/main" id="{912D38E0-B838-4F3B-89E8-DBDC9C016CB6}"/>
              </a:ext>
            </a:extLst>
          </p:cNvPr>
          <p:cNvSpPr>
            <a:spLocks noGrp="1"/>
          </p:cNvSpPr>
          <p:nvPr>
            <p:ph type="body" sz="quarter" idx="29"/>
          </p:nvPr>
        </p:nvSpPr>
        <p:spPr/>
        <p:txBody>
          <a:bodyPr/>
          <a:lstStyle/>
          <a:p>
            <a:r>
              <a:rPr lang="en-US" dirty="0">
                <a:sym typeface="Wingdings" panose="05000000000000000000" pitchFamily="2" charset="2"/>
              </a:rPr>
              <a:t></a:t>
            </a:r>
            <a:endParaRPr lang="en-US" dirty="0"/>
          </a:p>
        </p:txBody>
      </p:sp>
      <p:sp>
        <p:nvSpPr>
          <p:cNvPr id="211" name="Text Placeholder 210">
            <a:extLst>
              <a:ext uri="{FF2B5EF4-FFF2-40B4-BE49-F238E27FC236}">
                <a16:creationId xmlns:a16="http://schemas.microsoft.com/office/drawing/2014/main" id="{2E8DD645-9DCC-496D-AC63-0565A7E3E147}"/>
              </a:ext>
            </a:extLst>
          </p:cNvPr>
          <p:cNvSpPr>
            <a:spLocks noGrp="1"/>
          </p:cNvSpPr>
          <p:nvPr>
            <p:ph type="body" sz="quarter" idx="30"/>
          </p:nvPr>
        </p:nvSpPr>
        <p:spPr/>
        <p:txBody>
          <a:bodyPr/>
          <a:lstStyle/>
          <a:p>
            <a:r>
              <a:rPr lang="en-US" dirty="0">
                <a:sym typeface="Wingdings" panose="05000000000000000000" pitchFamily="2" charset="2"/>
              </a:rPr>
              <a:t></a:t>
            </a:r>
            <a:endParaRPr lang="en-US" dirty="0"/>
          </a:p>
        </p:txBody>
      </p:sp>
      <p:sp>
        <p:nvSpPr>
          <p:cNvPr id="212" name="Text Placeholder 211">
            <a:extLst>
              <a:ext uri="{FF2B5EF4-FFF2-40B4-BE49-F238E27FC236}">
                <a16:creationId xmlns:a16="http://schemas.microsoft.com/office/drawing/2014/main" id="{05F643A2-7913-4700-A188-742C37198E91}"/>
              </a:ext>
            </a:extLst>
          </p:cNvPr>
          <p:cNvSpPr>
            <a:spLocks noGrp="1"/>
          </p:cNvSpPr>
          <p:nvPr>
            <p:ph type="body" sz="quarter" idx="31"/>
          </p:nvPr>
        </p:nvSpPr>
        <p:spPr/>
        <p:txBody>
          <a:bodyPr/>
          <a:lstStyle/>
          <a:p>
            <a:r>
              <a:rPr lang="en-US" dirty="0">
                <a:sym typeface="Wingdings" panose="05000000000000000000" pitchFamily="2" charset="2"/>
              </a:rPr>
              <a:t></a:t>
            </a:r>
            <a:endParaRPr lang="en-US" dirty="0"/>
          </a:p>
        </p:txBody>
      </p:sp>
      <p:sp>
        <p:nvSpPr>
          <p:cNvPr id="213" name="Text Placeholder 212">
            <a:extLst>
              <a:ext uri="{FF2B5EF4-FFF2-40B4-BE49-F238E27FC236}">
                <a16:creationId xmlns:a16="http://schemas.microsoft.com/office/drawing/2014/main" id="{AE08C39C-110C-407F-9BD7-BCDE1D673FCB}"/>
              </a:ext>
            </a:extLst>
          </p:cNvPr>
          <p:cNvSpPr>
            <a:spLocks noGrp="1"/>
          </p:cNvSpPr>
          <p:nvPr>
            <p:ph type="body" sz="quarter" idx="32"/>
          </p:nvPr>
        </p:nvSpPr>
        <p:spPr/>
        <p:txBody>
          <a:bodyPr/>
          <a:lstStyle/>
          <a:p>
            <a:r>
              <a:rPr lang="en-US" dirty="0">
                <a:sym typeface="Wingdings" panose="05000000000000000000" pitchFamily="2" charset="2"/>
              </a:rPr>
              <a:t></a:t>
            </a:r>
            <a:endParaRPr lang="en-US" dirty="0"/>
          </a:p>
        </p:txBody>
      </p:sp>
      <p:sp>
        <p:nvSpPr>
          <p:cNvPr id="215" name="Text Placeholder 214">
            <a:extLst>
              <a:ext uri="{FF2B5EF4-FFF2-40B4-BE49-F238E27FC236}">
                <a16:creationId xmlns:a16="http://schemas.microsoft.com/office/drawing/2014/main" id="{33A670E0-2517-4289-ACC7-093D7FD4E91F}"/>
              </a:ext>
            </a:extLst>
          </p:cNvPr>
          <p:cNvSpPr>
            <a:spLocks noGrp="1"/>
          </p:cNvSpPr>
          <p:nvPr>
            <p:ph type="body" sz="quarter" idx="34"/>
          </p:nvPr>
        </p:nvSpPr>
        <p:spPr>
          <a:xfrm>
            <a:off x="7715538" y="3248326"/>
            <a:ext cx="947242" cy="1123516"/>
          </a:xfrm>
          <a:solidFill>
            <a:schemeClr val="bg2"/>
          </a:solidFill>
        </p:spPr>
        <p:txBody>
          <a:bodyPr/>
          <a:lstStyle/>
          <a:p>
            <a:endParaRPr lang="en-US" dirty="0"/>
          </a:p>
        </p:txBody>
      </p:sp>
      <p:sp>
        <p:nvSpPr>
          <p:cNvPr id="216" name="Text Placeholder 215">
            <a:extLst>
              <a:ext uri="{FF2B5EF4-FFF2-40B4-BE49-F238E27FC236}">
                <a16:creationId xmlns:a16="http://schemas.microsoft.com/office/drawing/2014/main" id="{C9B3A750-082F-4861-9799-90F901B3A8F9}"/>
              </a:ext>
            </a:extLst>
          </p:cNvPr>
          <p:cNvSpPr>
            <a:spLocks noGrp="1"/>
          </p:cNvSpPr>
          <p:nvPr>
            <p:ph type="body" sz="quarter" idx="35"/>
          </p:nvPr>
        </p:nvSpPr>
        <p:spPr/>
        <p:txBody>
          <a:bodyPr/>
          <a:lstStyle/>
          <a:p>
            <a:r>
              <a:rPr lang="en-US" dirty="0">
                <a:sym typeface="Wingdings" panose="05000000000000000000" pitchFamily="2" charset="2"/>
              </a:rPr>
              <a:t></a:t>
            </a:r>
            <a:endParaRPr lang="en-US" dirty="0"/>
          </a:p>
        </p:txBody>
      </p:sp>
      <p:sp>
        <p:nvSpPr>
          <p:cNvPr id="59" name="Rectangle: Rounded Corners 58">
            <a:hlinkClick r:id="rId8" action="ppaction://hlinksldjump"/>
            <a:extLst>
              <a:ext uri="{FF2B5EF4-FFF2-40B4-BE49-F238E27FC236}">
                <a16:creationId xmlns:a16="http://schemas.microsoft.com/office/drawing/2014/main" id="{65EEA60D-E16E-4522-AB08-0A9BA63711EF}"/>
              </a:ext>
            </a:extLst>
          </p:cNvPr>
          <p:cNvSpPr/>
          <p:nvPr/>
        </p:nvSpPr>
        <p:spPr>
          <a:xfrm>
            <a:off x="5035904" y="2216482"/>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60" name="Rectangle: Rounded Corners 59">
            <a:hlinkClick r:id="rId8" action="ppaction://hlinksldjump"/>
            <a:extLst>
              <a:ext uri="{FF2B5EF4-FFF2-40B4-BE49-F238E27FC236}">
                <a16:creationId xmlns:a16="http://schemas.microsoft.com/office/drawing/2014/main" id="{BEC89A34-DD5A-432A-BFA1-4E86BC6BDA45}"/>
              </a:ext>
            </a:extLst>
          </p:cNvPr>
          <p:cNvSpPr/>
          <p:nvPr/>
        </p:nvSpPr>
        <p:spPr>
          <a:xfrm>
            <a:off x="5035904" y="3440764"/>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61" name="Rectangle: Rounded Corners 60">
            <a:hlinkClick r:id="rId9" action="ppaction://hlinksldjump"/>
            <a:extLst>
              <a:ext uri="{FF2B5EF4-FFF2-40B4-BE49-F238E27FC236}">
                <a16:creationId xmlns:a16="http://schemas.microsoft.com/office/drawing/2014/main" id="{048FF60C-760D-4120-ADFE-0263FC945FC7}"/>
              </a:ext>
            </a:extLst>
          </p:cNvPr>
          <p:cNvSpPr/>
          <p:nvPr/>
        </p:nvSpPr>
        <p:spPr>
          <a:xfrm>
            <a:off x="5035904" y="4613003"/>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
                <a:schemeClr val="dk1">
                  <a:lumMod val="100000"/>
                </a:schemeClr>
              </a:buClr>
            </a:pPr>
            <a:r>
              <a:rPr lang="en-US" sz="800" b="1" dirty="0">
                <a:solidFill>
                  <a:schemeClr val="bg1"/>
                </a:solidFill>
              </a:rPr>
              <a:t>Read more</a:t>
            </a:r>
          </a:p>
        </p:txBody>
      </p:sp>
      <p:sp>
        <p:nvSpPr>
          <p:cNvPr id="2" name="UpSlide SubSection Marker" hidden="1">
            <a:extLst>
              <a:ext uri="{FF2B5EF4-FFF2-40B4-BE49-F238E27FC236}">
                <a16:creationId xmlns:a16="http://schemas.microsoft.com/office/drawing/2014/main" id="{BA2C3198-1EA4-32E5-6BEE-64C608DF44EA}"/>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Headlines</a:t>
            </a:r>
            <a:endParaRPr lang="en-US" sz="1600" dirty="0">
              <a:solidFill>
                <a:schemeClr val="bg1"/>
              </a:solidFill>
            </a:endParaRPr>
          </a:p>
        </p:txBody>
      </p:sp>
      <p:sp>
        <p:nvSpPr>
          <p:cNvPr id="16" name="Text Placeholder 15">
            <a:extLst>
              <a:ext uri="{FF2B5EF4-FFF2-40B4-BE49-F238E27FC236}">
                <a16:creationId xmlns:a16="http://schemas.microsoft.com/office/drawing/2014/main" id="{94A75470-FD53-4104-90C2-B5805D28F0CC}"/>
              </a:ext>
            </a:extLst>
          </p:cNvPr>
          <p:cNvSpPr>
            <a:spLocks noGrp="1"/>
          </p:cNvSpPr>
          <p:nvPr>
            <p:ph type="body" sz="quarter" idx="33"/>
          </p:nvPr>
        </p:nvSpPr>
        <p:spPr>
          <a:xfrm>
            <a:off x="7715538" y="2063097"/>
            <a:ext cx="947242" cy="1123516"/>
          </a:xfrm>
          <a:solidFill>
            <a:schemeClr val="bg2"/>
          </a:solidFill>
        </p:spPr>
        <p:txBody>
          <a:bodyPr/>
          <a:lstStyle/>
          <a:p>
            <a:endParaRPr lang="en-GB" dirty="0"/>
          </a:p>
        </p:txBody>
      </p:sp>
      <p:grpSp>
        <p:nvGrpSpPr>
          <p:cNvPr id="45" name="Group 44">
            <a:extLst>
              <a:ext uri="{FF2B5EF4-FFF2-40B4-BE49-F238E27FC236}">
                <a16:creationId xmlns:a16="http://schemas.microsoft.com/office/drawing/2014/main" id="{59809AEB-2BB2-494D-A259-21F91C8BDED7}"/>
              </a:ext>
            </a:extLst>
          </p:cNvPr>
          <p:cNvGrpSpPr/>
          <p:nvPr>
            <p:custDataLst>
              <p:tags r:id="rId4"/>
            </p:custDataLst>
          </p:nvPr>
        </p:nvGrpSpPr>
        <p:grpSpPr>
          <a:xfrm>
            <a:off x="995364" y="153170"/>
            <a:ext cx="6245240" cy="195814"/>
            <a:chOff x="995364" y="153170"/>
            <a:chExt cx="6245240" cy="195814"/>
          </a:xfrm>
        </p:grpSpPr>
        <p:sp>
          <p:nvSpPr>
            <p:cNvPr id="46"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7"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8"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9"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0"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1"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002552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EV to equity bridge</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Indicative enterprise value to equity bridge</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599" y="2223113"/>
            <a:ext cx="6404721"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Font typeface="Arial" panose="020B0604020202020204" pitchFamily="34" charset="0"/>
              <a:buChar char="•"/>
            </a:pPr>
            <a:r>
              <a:rPr lang="en-GB" dirty="0"/>
              <a:t>Enterprise value - Consideration will be paid out in cash upon completion of the transaction. Completion accounts are to be used as a completion mechanism. We have not presented an update to enterprise value, albeit the current trading of the Group should be considered. </a:t>
            </a:r>
          </a:p>
          <a:p>
            <a:pPr marL="171450" lvl="1" indent="-171450">
              <a:buFont typeface="Arial" panose="020B0604020202020204" pitchFamily="34" charset="0"/>
              <a:buChar char="•"/>
            </a:pPr>
            <a:r>
              <a:rPr lang="en-GB" dirty="0"/>
              <a:t>Target NWC - Target NWC of £0.8 million is based on the average level of net working capital over the 12-month period to Apr-22, this has been adjusted for items on </a:t>
            </a:r>
            <a:r>
              <a:rPr lang="en-GB" dirty="0">
                <a:hlinkClick r:id="rId8" action="ppaction://hlinksldjump">
                  <a:extLst>
                    <a:ext uri="{A12FA001-AC4F-418D-AE19-62706E023703}">
                      <ahyp:hlinkClr xmlns:ahyp="http://schemas.microsoft.com/office/drawing/2018/hyperlinkcolor" val="tx"/>
                    </a:ext>
                  </a:extLst>
                </a:hlinkClick>
              </a:rPr>
              <a:t>page 45</a:t>
            </a:r>
            <a:r>
              <a:rPr lang="en-GB" dirty="0"/>
              <a:t>.</a:t>
            </a:r>
            <a:endParaRPr lang="en-GB" u="sng" dirty="0"/>
          </a:p>
          <a:p>
            <a:pPr marL="171450" lvl="1" indent="-171450">
              <a:buFont typeface="Arial" panose="020B0604020202020204" pitchFamily="34" charset="0"/>
              <a:buChar char="•"/>
            </a:pPr>
            <a:r>
              <a:rPr lang="en-GB" dirty="0"/>
              <a:t>Reported net cash/(debt) - This reflects the reported cash of £0.3 million of [Target] less outstanding debts in relation to finance leases (£4.6 million), invoice financing (£0.8 million), corporation tax (£0.2 million) and other loans (£0.1 million) as at Apr-22.</a:t>
            </a:r>
          </a:p>
          <a:p>
            <a:pPr marL="180000" lvl="1"/>
            <a:r>
              <a:rPr lang="en-GB" dirty="0"/>
              <a:t>We note the vendor has included a corporation tax true up as at Apr-22 per [Accountant] computations as well as deferred tax liability as a debt like item in the EV/equity bridge. These are not included within this bridge as tax computations are subject to a true up, whilst deferred tax would typically not feature as a debt like item. </a:t>
            </a:r>
          </a:p>
          <a:p>
            <a:pPr marL="180000" lvl="1" indent="-171450">
              <a:buFont typeface="Arial" panose="020B0604020202020204" pitchFamily="34" charset="0"/>
              <a:buChar char="•"/>
            </a:pPr>
            <a:r>
              <a:rPr lang="en-GB" dirty="0"/>
              <a:t>Proposed adjustments - These reflect mostly a number of off-balance sheet potential tax liabilities. </a:t>
            </a:r>
            <a:r>
              <a:rPr lang="en-GB" dirty="0">
                <a:hlinkClick r:id="rId9" action="ppaction://hlinksldjump">
                  <a:extLst>
                    <a:ext uri="{A12FA001-AC4F-418D-AE19-62706E023703}">
                      <ahyp:hlinkClr xmlns:ahyp="http://schemas.microsoft.com/office/drawing/2018/hyperlinkcolor" val="tx"/>
                    </a:ext>
                  </a:extLst>
                </a:hlinkClick>
              </a:rPr>
              <a:t>See page 20</a:t>
            </a:r>
            <a:r>
              <a:rPr lang="en-GB" dirty="0"/>
              <a:t>.</a:t>
            </a:r>
          </a:p>
          <a:p>
            <a:pPr marL="180000" lvl="1" indent="-171450">
              <a:buFont typeface="Arial" panose="020B0604020202020204" pitchFamily="34" charset="0"/>
              <a:buChar char="•"/>
            </a:pPr>
            <a:r>
              <a:rPr lang="en-GB" dirty="0"/>
              <a:t>Vehicle adjustment - This bridge contains no upward or downward adjustment on the fleet, which we understand is subject to a separate discussion and true up.</a:t>
            </a:r>
            <a:endParaRPr lang="en-GB" u="sng" dirty="0"/>
          </a:p>
          <a:p>
            <a:pPr lvl="4"/>
            <a:endParaRPr lang="en-US"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8" name="Title 7">
            <a:extLst>
              <a:ext uri="{FF2B5EF4-FFF2-40B4-BE49-F238E27FC236}">
                <a16:creationId xmlns:a16="http://schemas.microsoft.com/office/drawing/2014/main" id="{1A05944A-B09F-44F2-838B-B891FC9EE98C}"/>
              </a:ext>
            </a:extLst>
          </p:cNvPr>
          <p:cNvSpPr>
            <a:spLocks noGrp="1"/>
          </p:cNvSpPr>
          <p:nvPr>
            <p:ph type="title"/>
          </p:nvPr>
        </p:nvSpPr>
        <p:spPr/>
        <p:txBody>
          <a:bodyPr/>
          <a:lstStyle/>
          <a:p>
            <a:r>
              <a:rPr lang="en-GB" dirty="0"/>
              <a:t>Indicative value to equity bridge</a:t>
            </a:r>
          </a:p>
        </p:txBody>
      </p:sp>
      <p:pic>
        <p:nvPicPr>
          <p:cNvPr id="12" name="Picture 11">
            <a:extLst>
              <a:ext uri="{FF2B5EF4-FFF2-40B4-BE49-F238E27FC236}">
                <a16:creationId xmlns:a16="http://schemas.microsoft.com/office/drawing/2014/main" id="{1DD5416E-2D96-46C3-B22E-6C151D37A66F}"/>
              </a:ext>
            </a:extLst>
          </p:cNvPr>
          <p:cNvPicPr>
            <a:picLocks noChangeAspect="1"/>
          </p:cNvPicPr>
          <p:nvPr>
            <p:custDataLst>
              <p:tags r:id="rId5"/>
            </p:custDataLst>
          </p:nvPr>
        </p:nvPicPr>
        <p:blipFill rotWithShape="1">
          <a:blip r:embed="rId10"/>
          <a:srcRect l="497" r="-1"/>
          <a:stretch/>
        </p:blipFill>
        <p:spPr>
          <a:xfrm>
            <a:off x="1017917" y="1912838"/>
            <a:ext cx="3255034" cy="2717309"/>
          </a:xfrm>
          <a:prstGeom prst="rect">
            <a:avLst/>
          </a:prstGeom>
        </p:spPr>
      </p:pic>
      <p:sp>
        <p:nvSpPr>
          <p:cNvPr id="28" name="Flowchart: Connector 27">
            <a:extLst>
              <a:ext uri="{FF2B5EF4-FFF2-40B4-BE49-F238E27FC236}">
                <a16:creationId xmlns:a16="http://schemas.microsoft.com/office/drawing/2014/main" id="{B922446D-A275-46AC-A618-CBAF74F4D54D}"/>
              </a:ext>
            </a:extLst>
          </p:cNvPr>
          <p:cNvSpPr/>
          <p:nvPr/>
        </p:nvSpPr>
        <p:spPr>
          <a:xfrm>
            <a:off x="3689657" y="2938089"/>
            <a:ext cx="131418" cy="130309"/>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a:solidFill>
                  <a:srgbClr val="FFFFFF"/>
                </a:solidFill>
              </a:rPr>
              <a:t>A</a:t>
            </a:r>
          </a:p>
        </p:txBody>
      </p:sp>
      <p:sp>
        <p:nvSpPr>
          <p:cNvPr id="29" name="Flowchart: Connector 28">
            <a:extLst>
              <a:ext uri="{FF2B5EF4-FFF2-40B4-BE49-F238E27FC236}">
                <a16:creationId xmlns:a16="http://schemas.microsoft.com/office/drawing/2014/main" id="{BEAACC15-5D91-4961-A42E-DECF300076D9}"/>
              </a:ext>
            </a:extLst>
          </p:cNvPr>
          <p:cNvSpPr/>
          <p:nvPr/>
        </p:nvSpPr>
        <p:spPr>
          <a:xfrm>
            <a:off x="3689657" y="3919911"/>
            <a:ext cx="131418" cy="130309"/>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a:solidFill>
                  <a:srgbClr val="FFFFFF"/>
                </a:solidFill>
              </a:rPr>
              <a:t>B</a:t>
            </a:r>
          </a:p>
        </p:txBody>
      </p:sp>
      <p:sp>
        <p:nvSpPr>
          <p:cNvPr id="30" name="Flowchart: Connector 29">
            <a:extLst>
              <a:ext uri="{FF2B5EF4-FFF2-40B4-BE49-F238E27FC236}">
                <a16:creationId xmlns:a16="http://schemas.microsoft.com/office/drawing/2014/main" id="{6E8923AE-4FDA-4B22-A7E3-838C4D8CC54A}"/>
              </a:ext>
            </a:extLst>
          </p:cNvPr>
          <p:cNvSpPr/>
          <p:nvPr/>
        </p:nvSpPr>
        <p:spPr>
          <a:xfrm>
            <a:off x="3692106" y="4105288"/>
            <a:ext cx="131418" cy="130309"/>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a:solidFill>
                  <a:srgbClr val="FFFFFF"/>
                </a:solidFill>
              </a:rPr>
              <a:t>B</a:t>
            </a:r>
          </a:p>
        </p:txBody>
      </p:sp>
      <p:sp>
        <p:nvSpPr>
          <p:cNvPr id="31" name="Flowchart: Connector 30">
            <a:extLst>
              <a:ext uri="{FF2B5EF4-FFF2-40B4-BE49-F238E27FC236}">
                <a16:creationId xmlns:a16="http://schemas.microsoft.com/office/drawing/2014/main" id="{2F26F84E-3D6C-45D1-849A-017BF224666F}"/>
              </a:ext>
            </a:extLst>
          </p:cNvPr>
          <p:cNvSpPr/>
          <p:nvPr/>
        </p:nvSpPr>
        <p:spPr>
          <a:xfrm>
            <a:off x="3409936" y="4105287"/>
            <a:ext cx="131418" cy="130309"/>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a:solidFill>
                  <a:srgbClr val="FFFFFF"/>
                </a:solidFill>
              </a:rPr>
              <a:t>A</a:t>
            </a:r>
          </a:p>
        </p:txBody>
      </p:sp>
      <p:sp>
        <p:nvSpPr>
          <p:cNvPr id="11" name="Plus Sign 10">
            <a:extLst>
              <a:ext uri="{FF2B5EF4-FFF2-40B4-BE49-F238E27FC236}">
                <a16:creationId xmlns:a16="http://schemas.microsoft.com/office/drawing/2014/main" id="{798B3CC2-CC55-4413-BE09-6FB6DB31AD64}"/>
              </a:ext>
            </a:extLst>
          </p:cNvPr>
          <p:cNvSpPr/>
          <p:nvPr/>
        </p:nvSpPr>
        <p:spPr>
          <a:xfrm>
            <a:off x="3582224" y="4135935"/>
            <a:ext cx="69011" cy="69011"/>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GB" sz="900" dirty="0">
              <a:solidFill>
                <a:schemeClr val="bg1"/>
              </a:solidFill>
            </a:endParaRPr>
          </a:p>
        </p:txBody>
      </p:sp>
      <p:grpSp>
        <p:nvGrpSpPr>
          <p:cNvPr id="40" name="Group 39">
            <a:extLst>
              <a:ext uri="{FF2B5EF4-FFF2-40B4-BE49-F238E27FC236}">
                <a16:creationId xmlns:a16="http://schemas.microsoft.com/office/drawing/2014/main" id="{59809AEB-2BB2-494D-A259-21F91C8BDED7}"/>
              </a:ext>
            </a:extLst>
          </p:cNvPr>
          <p:cNvGrpSpPr/>
          <p:nvPr>
            <p:custDataLst>
              <p:tags r:id="rId6"/>
            </p:custDataLst>
          </p:nvPr>
        </p:nvGrpSpPr>
        <p:grpSpPr>
          <a:xfrm>
            <a:off x="995364" y="153170"/>
            <a:ext cx="6245240" cy="195814"/>
            <a:chOff x="995364" y="153170"/>
            <a:chExt cx="6245240" cy="195814"/>
          </a:xfrm>
        </p:grpSpPr>
        <p:sp>
          <p:nvSpPr>
            <p:cNvPr id="41" name="Current Section1">
              <a:hlinkClick r:id="rId11"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6"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7"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8"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9"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071370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F55A-7131-1404-FC5A-2CA9AF998E84}"/>
              </a:ext>
            </a:extLst>
          </p:cNvPr>
          <p:cNvSpPr>
            <a:spLocks noGrp="1"/>
          </p:cNvSpPr>
          <p:nvPr>
            <p:ph type="title"/>
          </p:nvPr>
        </p:nvSpPr>
        <p:spPr>
          <a:xfrm>
            <a:off x="995362" y="431800"/>
            <a:ext cx="10204452" cy="539750"/>
          </a:xfrm>
        </p:spPr>
        <p:txBody>
          <a:bodyPr/>
          <a:lstStyle/>
          <a:p>
            <a:r>
              <a:rPr lang="en-US" dirty="0"/>
              <a:t>Key findings – Financial</a:t>
            </a:r>
          </a:p>
        </p:txBody>
      </p:sp>
      <p:sp>
        <p:nvSpPr>
          <p:cNvPr id="28" name="UpSlide SubSection Marker" hidden="1">
            <a:extLst>
              <a:ext uri="{FF2B5EF4-FFF2-40B4-BE49-F238E27FC236}">
                <a16:creationId xmlns:a16="http://schemas.microsoft.com/office/drawing/2014/main" id="{BBD83FDB-3B4B-65EC-A07A-DF0A72EEEB6F}"/>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endParaRPr lang="en-US" sz="1600" dirty="0">
              <a:solidFill>
                <a:schemeClr val="bg1"/>
              </a:solidFill>
            </a:endParaRPr>
          </a:p>
        </p:txBody>
      </p:sp>
      <p:sp>
        <p:nvSpPr>
          <p:cNvPr id="23" name="Rectangle 22">
            <a:extLst>
              <a:ext uri="{FF2B5EF4-FFF2-40B4-BE49-F238E27FC236}">
                <a16:creationId xmlns:a16="http://schemas.microsoft.com/office/drawing/2014/main" id="{F48ACC0A-0395-88D8-30EE-71810BAE36F6}"/>
              </a:ext>
            </a:extLst>
          </p:cNvPr>
          <p:cNvSpPr>
            <a:spLocks/>
          </p:cNvSpPr>
          <p:nvPr/>
        </p:nvSpPr>
        <p:spPr>
          <a:xfrm>
            <a:off x="6157200"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Underlying earnings</a:t>
            </a:r>
          </a:p>
        </p:txBody>
      </p:sp>
      <p:sp>
        <p:nvSpPr>
          <p:cNvPr id="24" name="Rectangle 23">
            <a:extLst>
              <a:ext uri="{FF2B5EF4-FFF2-40B4-BE49-F238E27FC236}">
                <a16:creationId xmlns:a16="http://schemas.microsoft.com/office/drawing/2014/main" id="{F854AC87-4B2C-0F13-3708-BABA395A93C4}"/>
              </a:ext>
            </a:extLst>
          </p:cNvPr>
          <p:cNvSpPr>
            <a:spLocks/>
          </p:cNvSpPr>
          <p:nvPr/>
        </p:nvSpPr>
        <p:spPr>
          <a:xfrm>
            <a:off x="995359"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Historical trading</a:t>
            </a:r>
          </a:p>
        </p:txBody>
      </p:sp>
      <p:sp>
        <p:nvSpPr>
          <p:cNvPr id="25" name="Text Placeholder 19">
            <a:extLst>
              <a:ext uri="{FF2B5EF4-FFF2-40B4-BE49-F238E27FC236}">
                <a16:creationId xmlns:a16="http://schemas.microsoft.com/office/drawing/2014/main" id="{9298E8A3-E6C5-CFF3-4A7F-559EEAE5C96F}"/>
              </a:ext>
            </a:extLst>
          </p:cNvPr>
          <p:cNvSpPr txBox="1">
            <a:spLocks/>
          </p:cNvSpPr>
          <p:nvPr/>
        </p:nvSpPr>
        <p:spPr>
          <a:xfrm>
            <a:off x="995359" y="3229089"/>
            <a:ext cx="5036400" cy="1908000"/>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lvl="1"/>
            <a:r>
              <a:rPr lang="en-GB" sz="1000" u="none" kern="1200" dirty="0">
                <a:latin typeface="+mn-lt"/>
                <a:ea typeface="+mn-ea"/>
                <a:cs typeface="+mn-cs"/>
              </a:rPr>
              <a:t>The business’s ability to withstand the impacts of Covid-19 is largely a reflection of the limited impact of the pandemic on the customer base, driven by xx maintaining the level of activity on xx roads over the period.</a:t>
            </a:r>
          </a:p>
          <a:p>
            <a:pPr lvl="1"/>
            <a:r>
              <a:rPr lang="en-GB" sz="1000" u="none" kern="1200" dirty="0">
                <a:latin typeface="+mn-lt"/>
                <a:ea typeface="+mn-ea"/>
                <a:cs typeface="+mn-cs"/>
              </a:rPr>
              <a:t>Overall growth in revenue over FY20-22 was driven by market demand, with continued national focus on xx road improvements. At revenue stream level growth was most notable in new vehicle sales (revenue up from £0.5 million to £1.1 million revenue), with a lower level of growth in vehicle hire (£4.4 million to £4.6 million). </a:t>
            </a:r>
          </a:p>
          <a:p>
            <a:pPr lvl="1"/>
            <a:r>
              <a:rPr lang="en-GB" sz="1000" u="none" kern="1200" dirty="0">
                <a:latin typeface="+mn-lt"/>
                <a:ea typeface="+mn-ea"/>
                <a:cs typeface="+mn-cs"/>
              </a:rPr>
              <a:t>To support the growth in activity headcount has increased over the Historical Period, by six FTEs on an average basis. More recently, a degree of inflationary pressure has been seen on costs, albeit new vehicles are priced on a ‘spot’ basis, whilst vehicle hire reflects purchase costs of vehicles and assumptions on maintenance requirements, which means that inflationary cost increases tend to be passed through.</a:t>
            </a:r>
            <a:endParaRPr lang="en-US" strike="sngStrike" dirty="0"/>
          </a:p>
        </p:txBody>
      </p:sp>
      <p:sp>
        <p:nvSpPr>
          <p:cNvPr id="26" name="Text Placeholder 25">
            <a:extLst>
              <a:ext uri="{FF2B5EF4-FFF2-40B4-BE49-F238E27FC236}">
                <a16:creationId xmlns:a16="http://schemas.microsoft.com/office/drawing/2014/main" id="{F2ABBB07-D828-716E-0047-DC89DBBF013C}"/>
              </a:ext>
            </a:extLst>
          </p:cNvPr>
          <p:cNvSpPr txBox="1">
            <a:spLocks/>
          </p:cNvSpPr>
          <p:nvPr/>
        </p:nvSpPr>
        <p:spPr>
          <a:xfrm>
            <a:off x="995359" y="5202903"/>
            <a:ext cx="4590321"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dirty="0">
                <a:solidFill>
                  <a:srgbClr val="00338D"/>
                </a:solidFill>
              </a:rPr>
              <a:t>The business has withstood the impacts of Covid-19 due to limited impact of the pandemic on customer base. There has been growth from FY20-FY22 with inflationary pressures being passed through.</a:t>
            </a:r>
          </a:p>
        </p:txBody>
      </p:sp>
      <p:sp>
        <p:nvSpPr>
          <p:cNvPr id="27" name="Text Placeholder 19">
            <a:extLst>
              <a:ext uri="{FF2B5EF4-FFF2-40B4-BE49-F238E27FC236}">
                <a16:creationId xmlns:a16="http://schemas.microsoft.com/office/drawing/2014/main" id="{5DD4520A-1E3C-EC2F-0BA4-1F0B4990908A}"/>
              </a:ext>
            </a:extLst>
          </p:cNvPr>
          <p:cNvSpPr txBox="1">
            <a:spLocks/>
          </p:cNvSpPr>
          <p:nvPr/>
        </p:nvSpPr>
        <p:spPr>
          <a:xfrm>
            <a:off x="6157200" y="3229089"/>
            <a:ext cx="5036400" cy="1908000"/>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b="0" dirty="0">
                <a:solidFill>
                  <a:schemeClr val="tx1"/>
                </a:solidFill>
              </a:rPr>
              <a:t>Management has undertaken a detailed review of costs over the period, with vendor salaries and personal costs the key items excluded, which we concur with. Other items identified include £253,000 of property costs in FY21 that are non-recurring in nature, relating to a property move and refurbishment at [Location 1]. Management has also included a notional MD salary going forward of £125,000 p.a. </a:t>
            </a:r>
          </a:p>
          <a:p>
            <a:r>
              <a:rPr lang="en-GB" b="0" dirty="0">
                <a:solidFill>
                  <a:schemeClr val="tx1"/>
                </a:solidFill>
              </a:rPr>
              <a:t>We have included additional adjustments to earnings to reflect a pro forma for additional rental costs going forward, given the recent expansion to an additional property at [Location 1], as well as one-off financing-related benefits in FY20 that would not recur. We have not sought to adjust earnings for the level of used vehicle profits on disposal over the period. It is likely that these profits are inflated in FY22, given the strong market for used vehicles. </a:t>
            </a:r>
          </a:p>
        </p:txBody>
      </p:sp>
      <p:sp>
        <p:nvSpPr>
          <p:cNvPr id="49" name="Text Placeholder 25">
            <a:extLst>
              <a:ext uri="{FF2B5EF4-FFF2-40B4-BE49-F238E27FC236}">
                <a16:creationId xmlns:a16="http://schemas.microsoft.com/office/drawing/2014/main" id="{5E993D7E-7562-7063-D535-B3595C49432D}"/>
              </a:ext>
            </a:extLst>
          </p:cNvPr>
          <p:cNvSpPr txBox="1">
            <a:spLocks/>
          </p:cNvSpPr>
          <p:nvPr/>
        </p:nvSpPr>
        <p:spPr>
          <a:xfrm>
            <a:off x="6157201" y="5202903"/>
            <a:ext cx="4593600"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rgbClr val="00338D"/>
                </a:solidFill>
              </a:rPr>
              <a:t>We recommend you consider possible inflation of profits in FY22 as supply issues are alleviated in FY23. We also recommend you consider the sufficiency of the notional MD salary going forward.</a:t>
            </a:r>
          </a:p>
        </p:txBody>
      </p:sp>
      <p:sp>
        <p:nvSpPr>
          <p:cNvPr id="50" name="Text Placeholder 21">
            <a:extLst>
              <a:ext uri="{FF2B5EF4-FFF2-40B4-BE49-F238E27FC236}">
                <a16:creationId xmlns:a16="http://schemas.microsoft.com/office/drawing/2014/main" id="{E0B86659-2E33-F2DD-B134-F89DA4985D56}"/>
              </a:ext>
            </a:extLst>
          </p:cNvPr>
          <p:cNvSpPr txBox="1">
            <a:spLocks/>
          </p:cNvSpPr>
          <p:nvPr/>
        </p:nvSpPr>
        <p:spPr>
          <a:xfrm>
            <a:off x="5588959"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51" name="Text Placeholder 27">
            <a:extLst>
              <a:ext uri="{FF2B5EF4-FFF2-40B4-BE49-F238E27FC236}">
                <a16:creationId xmlns:a16="http://schemas.microsoft.com/office/drawing/2014/main" id="{D6344BD1-8D78-362F-1D36-27CA2F29D266}"/>
              </a:ext>
            </a:extLst>
          </p:cNvPr>
          <p:cNvSpPr txBox="1">
            <a:spLocks/>
          </p:cNvSpPr>
          <p:nvPr/>
        </p:nvSpPr>
        <p:spPr>
          <a:xfrm>
            <a:off x="10750800"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chemeClr val="bg2">
                    <a:lumMod val="75000"/>
                  </a:schemeClr>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56" name="Text Placeholder 12">
            <a:extLst>
              <a:ext uri="{FF2B5EF4-FFF2-40B4-BE49-F238E27FC236}">
                <a16:creationId xmlns:a16="http://schemas.microsoft.com/office/drawing/2014/main" id="{9C991C38-C751-66AE-1B9F-6D97D3F6FC31}"/>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57" name="Rectangle: Rounded Corners 56">
            <a:hlinkClick r:id="rId6" action="ppaction://hlinksldjump"/>
            <a:extLst>
              <a:ext uri="{FF2B5EF4-FFF2-40B4-BE49-F238E27FC236}">
                <a16:creationId xmlns:a16="http://schemas.microsoft.com/office/drawing/2014/main" id="{F5390733-E310-C3C5-1396-58158694ABAB}"/>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rgbClr val="00B8F5"/>
                </a:solidFill>
              </a:rPr>
              <a:t>‎</a:t>
            </a:r>
            <a:r>
              <a:rPr lang="en-US" sz="800" b="1" dirty="0">
                <a:solidFill>
                  <a:schemeClr val="bg1"/>
                </a:solidFill>
              </a:rPr>
              <a:t>Read more</a:t>
            </a:r>
          </a:p>
        </p:txBody>
      </p:sp>
      <p:sp>
        <p:nvSpPr>
          <p:cNvPr id="58" name="Rectangle: Rounded Corners 57">
            <a:hlinkClick r:id="rId7" action="ppaction://hlinksldjump"/>
            <a:extLst>
              <a:ext uri="{FF2B5EF4-FFF2-40B4-BE49-F238E27FC236}">
                <a16:creationId xmlns:a16="http://schemas.microsoft.com/office/drawing/2014/main" id="{152EB8CB-7C06-F09A-86A8-653348B84840}"/>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pic>
        <p:nvPicPr>
          <p:cNvPr id="13" name="Picture 12">
            <a:extLst>
              <a:ext uri="{FF2B5EF4-FFF2-40B4-BE49-F238E27FC236}">
                <a16:creationId xmlns:a16="http://schemas.microsoft.com/office/drawing/2014/main" id="{CAE70841-BF10-4934-9EFE-5F47BB1BF8A9}"/>
              </a:ext>
            </a:extLst>
          </p:cNvPr>
          <p:cNvPicPr>
            <a:picLocks noChangeAspect="1"/>
          </p:cNvPicPr>
          <p:nvPr>
            <p:custDataLst>
              <p:tags r:id="rId2"/>
            </p:custDataLst>
          </p:nvPr>
        </p:nvPicPr>
        <p:blipFill>
          <a:blip r:embed="rId8"/>
          <a:stretch>
            <a:fillRect/>
          </a:stretch>
        </p:blipFill>
        <p:spPr>
          <a:xfrm>
            <a:off x="1098404" y="1624020"/>
            <a:ext cx="4858894" cy="1854172"/>
          </a:xfrm>
          <a:prstGeom prst="rect">
            <a:avLst/>
          </a:prstGeom>
        </p:spPr>
      </p:pic>
      <p:pic>
        <p:nvPicPr>
          <p:cNvPr id="16" name="Picture 15">
            <a:extLst>
              <a:ext uri="{FF2B5EF4-FFF2-40B4-BE49-F238E27FC236}">
                <a16:creationId xmlns:a16="http://schemas.microsoft.com/office/drawing/2014/main" id="{ACBE8BBF-AA36-49C2-A03B-1AEB1F0C7CF7}"/>
              </a:ext>
            </a:extLst>
          </p:cNvPr>
          <p:cNvPicPr>
            <a:picLocks noChangeAspect="1"/>
          </p:cNvPicPr>
          <p:nvPr>
            <p:custDataLst>
              <p:tags r:id="rId3"/>
            </p:custDataLst>
          </p:nvPr>
        </p:nvPicPr>
        <p:blipFill>
          <a:blip r:embed="rId9"/>
          <a:stretch>
            <a:fillRect/>
          </a:stretch>
        </p:blipFill>
        <p:spPr>
          <a:xfrm>
            <a:off x="6279464" y="1848760"/>
            <a:ext cx="4876019" cy="1231800"/>
          </a:xfrm>
          <a:prstGeom prst="rect">
            <a:avLst/>
          </a:prstGeom>
        </p:spPr>
      </p:pic>
      <p:grpSp>
        <p:nvGrpSpPr>
          <p:cNvPr id="37" name="Group 36">
            <a:extLst>
              <a:ext uri="{FF2B5EF4-FFF2-40B4-BE49-F238E27FC236}">
                <a16:creationId xmlns:a16="http://schemas.microsoft.com/office/drawing/2014/main" id="{59809AEB-2BB2-494D-A259-21F91C8BDED7}"/>
              </a:ext>
            </a:extLst>
          </p:cNvPr>
          <p:cNvGrpSpPr/>
          <p:nvPr>
            <p:custDataLst>
              <p:tags r:id="rId4"/>
            </p:custDataLst>
          </p:nvPr>
        </p:nvGrpSpPr>
        <p:grpSpPr>
          <a:xfrm>
            <a:off x="995364" y="153170"/>
            <a:ext cx="6245240" cy="195814"/>
            <a:chOff x="995364" y="153170"/>
            <a:chExt cx="6245240" cy="195814"/>
          </a:xfrm>
        </p:grpSpPr>
        <p:sp>
          <p:nvSpPr>
            <p:cNvPr id="38"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33725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F55A-7131-1404-FC5A-2CA9AF998E84}"/>
              </a:ext>
            </a:extLst>
          </p:cNvPr>
          <p:cNvSpPr>
            <a:spLocks noGrp="1"/>
          </p:cNvSpPr>
          <p:nvPr>
            <p:ph type="title"/>
          </p:nvPr>
        </p:nvSpPr>
        <p:spPr>
          <a:xfrm>
            <a:off x="995362" y="431800"/>
            <a:ext cx="10204452" cy="539750"/>
          </a:xfrm>
        </p:spPr>
        <p:txBody>
          <a:bodyPr/>
          <a:lstStyle/>
          <a:p>
            <a:r>
              <a:rPr lang="en-US" dirty="0"/>
              <a:t>Key findings – Financial</a:t>
            </a:r>
          </a:p>
        </p:txBody>
      </p:sp>
      <p:sp>
        <p:nvSpPr>
          <p:cNvPr id="28" name="UpSlide SubSection Marker" hidden="1">
            <a:extLst>
              <a:ext uri="{FF2B5EF4-FFF2-40B4-BE49-F238E27FC236}">
                <a16:creationId xmlns:a16="http://schemas.microsoft.com/office/drawing/2014/main" id="{BBD83FDB-3B4B-65EC-A07A-DF0A72EEEB6F}"/>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endParaRPr lang="en-US" sz="1600" dirty="0">
              <a:solidFill>
                <a:schemeClr val="bg1"/>
              </a:solidFill>
            </a:endParaRPr>
          </a:p>
        </p:txBody>
      </p:sp>
      <p:sp>
        <p:nvSpPr>
          <p:cNvPr id="23" name="Rectangle 22">
            <a:extLst>
              <a:ext uri="{FF2B5EF4-FFF2-40B4-BE49-F238E27FC236}">
                <a16:creationId xmlns:a16="http://schemas.microsoft.com/office/drawing/2014/main" id="{F48ACC0A-0395-88D8-30EE-71810BAE36F6}"/>
              </a:ext>
            </a:extLst>
          </p:cNvPr>
          <p:cNvSpPr>
            <a:spLocks/>
          </p:cNvSpPr>
          <p:nvPr/>
        </p:nvSpPr>
        <p:spPr>
          <a:xfrm>
            <a:off x="6157200"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Working capital and cash flow</a:t>
            </a:r>
          </a:p>
        </p:txBody>
      </p:sp>
      <p:sp>
        <p:nvSpPr>
          <p:cNvPr id="24" name="Rectangle 23">
            <a:extLst>
              <a:ext uri="{FF2B5EF4-FFF2-40B4-BE49-F238E27FC236}">
                <a16:creationId xmlns:a16="http://schemas.microsoft.com/office/drawing/2014/main" id="{F854AC87-4B2C-0F13-3708-BABA395A93C4}"/>
              </a:ext>
            </a:extLst>
          </p:cNvPr>
          <p:cNvSpPr>
            <a:spLocks/>
          </p:cNvSpPr>
          <p:nvPr/>
        </p:nvSpPr>
        <p:spPr>
          <a:xfrm>
            <a:off x="995359"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Balance sheet and net debt</a:t>
            </a:r>
          </a:p>
        </p:txBody>
      </p:sp>
      <p:sp>
        <p:nvSpPr>
          <p:cNvPr id="25" name="Text Placeholder 19">
            <a:extLst>
              <a:ext uri="{FF2B5EF4-FFF2-40B4-BE49-F238E27FC236}">
                <a16:creationId xmlns:a16="http://schemas.microsoft.com/office/drawing/2014/main" id="{9298E8A3-E6C5-CFF3-4A7F-559EEAE5C96F}"/>
              </a:ext>
            </a:extLst>
          </p:cNvPr>
          <p:cNvSpPr txBox="1">
            <a:spLocks/>
          </p:cNvSpPr>
          <p:nvPr/>
        </p:nvSpPr>
        <p:spPr>
          <a:xfrm>
            <a:off x="995359" y="3229089"/>
            <a:ext cx="5036400" cy="1908000"/>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b="0" dirty="0">
                <a:solidFill>
                  <a:schemeClr val="tx1"/>
                </a:solidFill>
              </a:rPr>
              <a:t>As at April 2022 reported net debt amounted to £(5.5) million. We have identified a small number of potential adjustments to net debt, including a small number of tax matters for consideration. Other items to note include the following:</a:t>
            </a:r>
          </a:p>
          <a:p>
            <a:r>
              <a:rPr lang="en-GB" b="0" dirty="0">
                <a:solidFill>
                  <a:schemeClr val="tx1"/>
                </a:solidFill>
              </a:rPr>
              <a:t>There is a small amount of deferred HP interest within accruals, which is debt-like in nature, amounting to less than £10,000.</a:t>
            </a:r>
          </a:p>
          <a:p>
            <a:r>
              <a:rPr lang="en-GB" b="0" dirty="0">
                <a:solidFill>
                  <a:schemeClr val="tx1"/>
                </a:solidFill>
              </a:rPr>
              <a:t>No dilapidations provision – we understand new leases will be put in place on current premises (with a new schedule of condition). </a:t>
            </a:r>
          </a:p>
          <a:p>
            <a:r>
              <a:rPr lang="en-GB" b="0" dirty="0">
                <a:solidFill>
                  <a:schemeClr val="tx1"/>
                </a:solidFill>
              </a:rPr>
              <a:t>Any termination fees payable on financing facilities should be included in the definition of net debt in the SPA.</a:t>
            </a:r>
          </a:p>
          <a:p>
            <a:r>
              <a:rPr lang="en-GB" b="0" dirty="0">
                <a:solidFill>
                  <a:schemeClr val="tx1"/>
                </a:solidFill>
              </a:rPr>
              <a:t>We have not seen the findings of legal due diligence, but note there are potential matters relating to holiday pay owed to employees. </a:t>
            </a:r>
          </a:p>
        </p:txBody>
      </p:sp>
      <p:sp>
        <p:nvSpPr>
          <p:cNvPr id="26" name="Text Placeholder 25">
            <a:extLst>
              <a:ext uri="{FF2B5EF4-FFF2-40B4-BE49-F238E27FC236}">
                <a16:creationId xmlns:a16="http://schemas.microsoft.com/office/drawing/2014/main" id="{F2ABBB07-D828-716E-0047-DC89DBBF013C}"/>
              </a:ext>
            </a:extLst>
          </p:cNvPr>
          <p:cNvSpPr txBox="1">
            <a:spLocks/>
          </p:cNvSpPr>
          <p:nvPr/>
        </p:nvSpPr>
        <p:spPr>
          <a:xfrm>
            <a:off x="995359" y="5202903"/>
            <a:ext cx="4590321"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rgbClr val="00338D"/>
                </a:solidFill>
              </a:rPr>
              <a:t>Legal protection should be sought to ensure this remains a vendor cost, as well as other legal findings. We note the corporation tax estimate at April 2022 within the balance sheet is an estimate and will need to be trued up in the completion accounts.</a:t>
            </a:r>
            <a:endParaRPr lang="en-US" sz="1000" dirty="0">
              <a:solidFill>
                <a:srgbClr val="00338D"/>
              </a:solidFill>
            </a:endParaRPr>
          </a:p>
        </p:txBody>
      </p:sp>
      <p:sp>
        <p:nvSpPr>
          <p:cNvPr id="27" name="Text Placeholder 19">
            <a:extLst>
              <a:ext uri="{FF2B5EF4-FFF2-40B4-BE49-F238E27FC236}">
                <a16:creationId xmlns:a16="http://schemas.microsoft.com/office/drawing/2014/main" id="{5DD4520A-1E3C-EC2F-0BA4-1F0B4990908A}"/>
              </a:ext>
            </a:extLst>
          </p:cNvPr>
          <p:cNvSpPr txBox="1">
            <a:spLocks/>
          </p:cNvSpPr>
          <p:nvPr/>
        </p:nvSpPr>
        <p:spPr>
          <a:xfrm>
            <a:off x="6153921" y="3223809"/>
            <a:ext cx="5036400" cy="1908000"/>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b="0" dirty="0">
                <a:solidFill>
                  <a:schemeClr val="tx1"/>
                </a:solidFill>
              </a:rPr>
              <a:t>Free cash flow reflects the approx. £1.5 million per annum net capex spend in the business, largely funded via HP.</a:t>
            </a:r>
          </a:p>
          <a:p>
            <a:r>
              <a:rPr lang="en-GB" b="0" dirty="0">
                <a:solidFill>
                  <a:schemeClr val="tx1"/>
                </a:solidFill>
              </a:rPr>
              <a:t>Working capital has averaged £0.8 million across the Historical Period and has remained relatively consistent on average each year, stepped up in the four months to April 2022, to an average of approx. £1.0 million. </a:t>
            </a:r>
          </a:p>
          <a:p>
            <a:r>
              <a:rPr lang="en-GB" b="0" dirty="0">
                <a:solidFill>
                  <a:schemeClr val="tx1"/>
                </a:solidFill>
              </a:rPr>
              <a:t>Basing a target level of working capital on a go-forward view would be inconsistent with the basis of valuation, and is unlikely to be commercially accepted by the vendors. </a:t>
            </a:r>
          </a:p>
          <a:p>
            <a:r>
              <a:rPr lang="en-GB" b="0" dirty="0">
                <a:solidFill>
                  <a:schemeClr val="tx1"/>
                </a:solidFill>
              </a:rPr>
              <a:t>We note the vendors are arguing that target WC should be based on the average of LTM working capital (£0.8 million target implied). The fact that there has been a significant lengthening of lead times on new vehicles means that the LTM average would be higher had such delays not been experienced. </a:t>
            </a:r>
          </a:p>
          <a:p>
            <a:endParaRPr lang="en-GB" b="0" dirty="0"/>
          </a:p>
        </p:txBody>
      </p:sp>
      <p:sp>
        <p:nvSpPr>
          <p:cNvPr id="49" name="Text Placeholder 25">
            <a:extLst>
              <a:ext uri="{FF2B5EF4-FFF2-40B4-BE49-F238E27FC236}">
                <a16:creationId xmlns:a16="http://schemas.microsoft.com/office/drawing/2014/main" id="{5E993D7E-7562-7063-D535-B3595C49432D}"/>
              </a:ext>
            </a:extLst>
          </p:cNvPr>
          <p:cNvSpPr txBox="1">
            <a:spLocks/>
          </p:cNvSpPr>
          <p:nvPr/>
        </p:nvSpPr>
        <p:spPr>
          <a:xfrm>
            <a:off x="6153921" y="5203725"/>
            <a:ext cx="4596879"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rgbClr val="00338D"/>
                </a:solidFill>
              </a:rPr>
              <a:t>Weighting your assessment of target working capital towards the more recent periods (e.g. using a last 6 months basis) would potentially provide an alternative proposal for target working capital (£0.9-£1.0 million depending on the approach taken).</a:t>
            </a:r>
            <a:endParaRPr lang="en-US" sz="1000" dirty="0">
              <a:solidFill>
                <a:srgbClr val="00338D"/>
              </a:solidFill>
            </a:endParaRPr>
          </a:p>
        </p:txBody>
      </p:sp>
      <p:sp>
        <p:nvSpPr>
          <p:cNvPr id="50" name="Text Placeholder 21">
            <a:extLst>
              <a:ext uri="{FF2B5EF4-FFF2-40B4-BE49-F238E27FC236}">
                <a16:creationId xmlns:a16="http://schemas.microsoft.com/office/drawing/2014/main" id="{E0B86659-2E33-F2DD-B134-F89DA4985D56}"/>
              </a:ext>
            </a:extLst>
          </p:cNvPr>
          <p:cNvSpPr txBox="1">
            <a:spLocks/>
          </p:cNvSpPr>
          <p:nvPr/>
        </p:nvSpPr>
        <p:spPr>
          <a:xfrm>
            <a:off x="5588959"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51" name="Text Placeholder 27">
            <a:extLst>
              <a:ext uri="{FF2B5EF4-FFF2-40B4-BE49-F238E27FC236}">
                <a16:creationId xmlns:a16="http://schemas.microsoft.com/office/drawing/2014/main" id="{D6344BD1-8D78-362F-1D36-27CA2F29D266}"/>
              </a:ext>
            </a:extLst>
          </p:cNvPr>
          <p:cNvSpPr txBox="1">
            <a:spLocks/>
          </p:cNvSpPr>
          <p:nvPr/>
        </p:nvSpPr>
        <p:spPr>
          <a:xfrm>
            <a:off x="10750800"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56" name="Text Placeholder 12">
            <a:extLst>
              <a:ext uri="{FF2B5EF4-FFF2-40B4-BE49-F238E27FC236}">
                <a16:creationId xmlns:a16="http://schemas.microsoft.com/office/drawing/2014/main" id="{9C991C38-C751-66AE-1B9F-6D97D3F6FC31}"/>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57" name="Rectangle: Rounded Corners 56">
            <a:hlinkClick r:id="rId6" action="ppaction://hlinksldjump"/>
            <a:extLst>
              <a:ext uri="{FF2B5EF4-FFF2-40B4-BE49-F238E27FC236}">
                <a16:creationId xmlns:a16="http://schemas.microsoft.com/office/drawing/2014/main" id="{F5390733-E310-C3C5-1396-58158694ABAB}"/>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58" name="Rectangle: Rounded Corners 57">
            <a:hlinkClick r:id="rId7" action="ppaction://hlinksldjump"/>
            <a:extLst>
              <a:ext uri="{FF2B5EF4-FFF2-40B4-BE49-F238E27FC236}">
                <a16:creationId xmlns:a16="http://schemas.microsoft.com/office/drawing/2014/main" id="{152EB8CB-7C06-F09A-86A8-653348B84840}"/>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rgbClr val="00B8F5"/>
                </a:solidFill>
              </a:rPr>
              <a:t>‎</a:t>
            </a:r>
            <a:r>
              <a:rPr lang="en-US" sz="800" b="1" dirty="0">
                <a:solidFill>
                  <a:schemeClr val="bg1"/>
                </a:solidFill>
              </a:rPr>
              <a:t>Read more</a:t>
            </a:r>
          </a:p>
        </p:txBody>
      </p:sp>
      <p:pic>
        <p:nvPicPr>
          <p:cNvPr id="18" name="Picture 17">
            <a:extLst>
              <a:ext uri="{FF2B5EF4-FFF2-40B4-BE49-F238E27FC236}">
                <a16:creationId xmlns:a16="http://schemas.microsoft.com/office/drawing/2014/main" id="{1F88C684-F7DA-4652-8330-7403B483027A}"/>
              </a:ext>
            </a:extLst>
          </p:cNvPr>
          <p:cNvPicPr>
            <a:picLocks noChangeAspect="1"/>
          </p:cNvPicPr>
          <p:nvPr>
            <p:custDataLst>
              <p:tags r:id="rId2"/>
            </p:custDataLst>
          </p:nvPr>
        </p:nvPicPr>
        <p:blipFill>
          <a:blip r:embed="rId8"/>
          <a:stretch>
            <a:fillRect/>
          </a:stretch>
        </p:blipFill>
        <p:spPr>
          <a:xfrm>
            <a:off x="1058279" y="1671099"/>
            <a:ext cx="4880284" cy="1271067"/>
          </a:xfrm>
          <a:prstGeom prst="rect">
            <a:avLst/>
          </a:prstGeom>
        </p:spPr>
      </p:pic>
      <p:pic>
        <p:nvPicPr>
          <p:cNvPr id="11" name="Picture 10">
            <a:extLst>
              <a:ext uri="{FF2B5EF4-FFF2-40B4-BE49-F238E27FC236}">
                <a16:creationId xmlns:a16="http://schemas.microsoft.com/office/drawing/2014/main" id="{2F970834-D0B5-4AE4-A423-5E94A16A951E}"/>
              </a:ext>
            </a:extLst>
          </p:cNvPr>
          <p:cNvPicPr>
            <a:picLocks noChangeAspect="1"/>
          </p:cNvPicPr>
          <p:nvPr>
            <p:custDataLst>
              <p:tags r:id="rId3"/>
            </p:custDataLst>
          </p:nvPr>
        </p:nvPicPr>
        <p:blipFill>
          <a:blip r:embed="rId9"/>
          <a:stretch>
            <a:fillRect/>
          </a:stretch>
        </p:blipFill>
        <p:spPr>
          <a:xfrm>
            <a:off x="6153921" y="1671102"/>
            <a:ext cx="5036400" cy="1507197"/>
          </a:xfrm>
          <a:prstGeom prst="rect">
            <a:avLst/>
          </a:prstGeom>
        </p:spPr>
      </p:pic>
      <p:grpSp>
        <p:nvGrpSpPr>
          <p:cNvPr id="37" name="Group 36">
            <a:extLst>
              <a:ext uri="{FF2B5EF4-FFF2-40B4-BE49-F238E27FC236}">
                <a16:creationId xmlns:a16="http://schemas.microsoft.com/office/drawing/2014/main" id="{59809AEB-2BB2-494D-A259-21F91C8BDED7}"/>
              </a:ext>
            </a:extLst>
          </p:cNvPr>
          <p:cNvGrpSpPr/>
          <p:nvPr>
            <p:custDataLst>
              <p:tags r:id="rId4"/>
            </p:custDataLst>
          </p:nvPr>
        </p:nvGrpSpPr>
        <p:grpSpPr>
          <a:xfrm>
            <a:off x="995364" y="153170"/>
            <a:ext cx="6245240" cy="195814"/>
            <a:chOff x="995364" y="153170"/>
            <a:chExt cx="6245240" cy="195814"/>
          </a:xfrm>
        </p:grpSpPr>
        <p:sp>
          <p:nvSpPr>
            <p:cNvPr id="38"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91796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8C6E3-B148-C514-6D28-3BC01ECF1EF7}"/>
              </a:ext>
            </a:extLst>
          </p:cNvPr>
          <p:cNvSpPr>
            <a:spLocks noGrp="1"/>
          </p:cNvSpPr>
          <p:nvPr>
            <p:ph type="title"/>
          </p:nvPr>
        </p:nvSpPr>
        <p:spPr>
          <a:xfrm>
            <a:off x="995362" y="431800"/>
            <a:ext cx="10204452" cy="539750"/>
          </a:xfrm>
        </p:spPr>
        <p:txBody>
          <a:bodyPr/>
          <a:lstStyle/>
          <a:p>
            <a:r>
              <a:rPr lang="en-US" dirty="0"/>
              <a:t>Key findings — Financial</a:t>
            </a:r>
          </a:p>
        </p:txBody>
      </p:sp>
      <p:sp>
        <p:nvSpPr>
          <p:cNvPr id="4" name="UpSlide SubSection Marker" hidden="1">
            <a:extLst>
              <a:ext uri="{FF2B5EF4-FFF2-40B4-BE49-F238E27FC236}">
                <a16:creationId xmlns:a16="http://schemas.microsoft.com/office/drawing/2014/main" id="{58A8EED3-5056-FE9F-EE32-63A626AEDC71}"/>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endParaRPr lang="en-US" sz="1600" dirty="0">
              <a:solidFill>
                <a:schemeClr val="bg1"/>
              </a:solidFill>
            </a:endParaRPr>
          </a:p>
        </p:txBody>
      </p:sp>
      <p:sp>
        <p:nvSpPr>
          <p:cNvPr id="28" name="Rectangle 27">
            <a:extLst>
              <a:ext uri="{FF2B5EF4-FFF2-40B4-BE49-F238E27FC236}">
                <a16:creationId xmlns:a16="http://schemas.microsoft.com/office/drawing/2014/main" id="{01C9BEA4-4E9F-E627-A037-4C1D55D5DFFC}"/>
              </a:ext>
            </a:extLst>
          </p:cNvPr>
          <p:cNvSpPr>
            <a:spLocks/>
          </p:cNvSpPr>
          <p:nvPr/>
        </p:nvSpPr>
        <p:spPr>
          <a:xfrm>
            <a:off x="6157200"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FY22 underperformance vs forecast</a:t>
            </a:r>
          </a:p>
        </p:txBody>
      </p:sp>
      <p:sp>
        <p:nvSpPr>
          <p:cNvPr id="29" name="Rectangle 28">
            <a:extLst>
              <a:ext uri="{FF2B5EF4-FFF2-40B4-BE49-F238E27FC236}">
                <a16:creationId xmlns:a16="http://schemas.microsoft.com/office/drawing/2014/main" id="{67FB299D-ACFC-2BB1-FE3F-BEF6F3E39B88}"/>
              </a:ext>
            </a:extLst>
          </p:cNvPr>
          <p:cNvSpPr>
            <a:spLocks/>
          </p:cNvSpPr>
          <p:nvPr/>
        </p:nvSpPr>
        <p:spPr>
          <a:xfrm>
            <a:off x="995359"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FY23 budget</a:t>
            </a:r>
          </a:p>
        </p:txBody>
      </p:sp>
      <p:sp>
        <p:nvSpPr>
          <p:cNvPr id="30" name="Text Placeholder 19">
            <a:extLst>
              <a:ext uri="{FF2B5EF4-FFF2-40B4-BE49-F238E27FC236}">
                <a16:creationId xmlns:a16="http://schemas.microsoft.com/office/drawing/2014/main" id="{C529DBB8-59E5-CF95-0F3E-5077E2EFF079}"/>
              </a:ext>
            </a:extLst>
          </p:cNvPr>
          <p:cNvSpPr txBox="1">
            <a:spLocks/>
          </p:cNvSpPr>
          <p:nvPr/>
        </p:nvSpPr>
        <p:spPr>
          <a:xfrm>
            <a:off x="995359" y="1653166"/>
            <a:ext cx="5036400" cy="3483923"/>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r>
              <a:rPr lang="en-GB" b="0" dirty="0">
                <a:solidFill>
                  <a:schemeClr val="tx1"/>
                </a:solidFill>
              </a:rPr>
              <a:t>Despite the significant difference in actual fleet numbers at the start of the year versus the assumptions supporting the forecast, Management maintains its confidence over the achievability of the plan, in particular noting the following:</a:t>
            </a:r>
          </a:p>
          <a:p>
            <a:r>
              <a:rPr lang="en-GB" b="0" dirty="0">
                <a:solidFill>
                  <a:schemeClr val="tx1"/>
                </a:solidFill>
              </a:rPr>
              <a:t>Market demand continues to grow, with significant orders recently received (including one for 36 crash cushions at an estimated margin of £0.2 million, which was not forecast), as well as government frameworks continuing to point to continued growth in end market demand. </a:t>
            </a:r>
          </a:p>
          <a:p>
            <a:r>
              <a:rPr lang="en-GB" b="0" dirty="0">
                <a:solidFill>
                  <a:schemeClr val="tx1"/>
                </a:solidFill>
              </a:rPr>
              <a:t>Vehicle lead times and deliveries are expected to improve significantly in the near term, such that Management expects some 505 hire vehicles to be in the business by April 2023, compared to 420 included in the plan. Assuming customer demand for these vehicles is present, this would see an initial shortfall in revenue and earnings in the first half of FY23 being offset by a strong catch-up, and outperformance, in H2 FY23. </a:t>
            </a:r>
          </a:p>
          <a:p>
            <a:r>
              <a:rPr lang="en-GB" b="0" dirty="0">
                <a:solidFill>
                  <a:schemeClr val="tx1"/>
                </a:solidFill>
              </a:rPr>
              <a:t>Costs have been modelled on a relatively simplistic basis, annualising from a historical basis, albeit are only marginally higher than FY22 on an underlying basis. A level of operational leverage is therefore inherent in the plan, and we consider there to be a degree of risk from inflationary cost pressures in the overhead base.</a:t>
            </a:r>
          </a:p>
          <a:p>
            <a:r>
              <a:rPr lang="en-GB" b="0" dirty="0">
                <a:solidFill>
                  <a:schemeClr val="tx1"/>
                </a:solidFill>
              </a:rPr>
              <a:t>The plan is highly sensitive to vehicle supply, and whilst Managements appears confident in its views around growth in vehicle numbers, there is a risk that FY23 earnings growth will not be delivered. We therefore recommend you consider developing a sensitised forecast for FY23 for your own requirements. </a:t>
            </a:r>
          </a:p>
          <a:p>
            <a:pPr lvl="1"/>
            <a:endParaRPr lang="en-GB" strike="sngStrike" dirty="0">
              <a:solidFill>
                <a:srgbClr val="00338D"/>
              </a:solidFill>
            </a:endParaRPr>
          </a:p>
        </p:txBody>
      </p:sp>
      <p:sp>
        <p:nvSpPr>
          <p:cNvPr id="31" name="Text Placeholder 25">
            <a:extLst>
              <a:ext uri="{FF2B5EF4-FFF2-40B4-BE49-F238E27FC236}">
                <a16:creationId xmlns:a16="http://schemas.microsoft.com/office/drawing/2014/main" id="{6CF08F1C-922F-7972-A479-500D5E78CB68}"/>
              </a:ext>
            </a:extLst>
          </p:cNvPr>
          <p:cNvSpPr txBox="1">
            <a:spLocks/>
          </p:cNvSpPr>
          <p:nvPr/>
        </p:nvSpPr>
        <p:spPr>
          <a:xfrm>
            <a:off x="995359" y="5202903"/>
            <a:ext cx="4593600"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rgbClr val="00338D"/>
                </a:solidFill>
              </a:rPr>
              <a:t>Commercial due diligence has not been performed as part of our scope of work. Assessing the cost base for your own requirements and corroborating Management’s positive view of the market will be a key part of your initial operational planning</a:t>
            </a:r>
          </a:p>
        </p:txBody>
      </p:sp>
      <p:sp>
        <p:nvSpPr>
          <p:cNvPr id="32" name="Text Placeholder 19">
            <a:extLst>
              <a:ext uri="{FF2B5EF4-FFF2-40B4-BE49-F238E27FC236}">
                <a16:creationId xmlns:a16="http://schemas.microsoft.com/office/drawing/2014/main" id="{8CC6975A-97A6-F461-8AA5-058A35610111}"/>
              </a:ext>
            </a:extLst>
          </p:cNvPr>
          <p:cNvSpPr txBox="1">
            <a:spLocks/>
          </p:cNvSpPr>
          <p:nvPr/>
        </p:nvSpPr>
        <p:spPr>
          <a:xfrm>
            <a:off x="6157200" y="1653166"/>
            <a:ext cx="5036400" cy="3483923"/>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marL="0" lvl="4" indent="0" algn="l" defTabSz="914400" rtl="0" eaLnBrk="1" latinLnBrk="0" hangingPunct="1">
              <a:spcAft>
                <a:spcPts val="600"/>
              </a:spcAft>
              <a:buClr>
                <a:schemeClr val="tx1"/>
              </a:buClr>
              <a:buFont typeface="Arial" panose="020B0604020202020204" pitchFamily="34" charset="0"/>
              <a:buNone/>
              <a:defRPr/>
            </a:pPr>
            <a:r>
              <a:rPr lang="en-GB" sz="1000" u="none" kern="1200" dirty="0">
                <a:latin typeface="+mn-lt"/>
                <a:ea typeface="+mn-ea"/>
                <a:cs typeface="+mn-cs"/>
              </a:rPr>
              <a:t>Management considers the shortfall in earnings to have been outside of its control, with supply chain issues on new vehicles from extended lead times being the principal driver of a reduction in hire and new vehicle sales revenues – the business had an average of 329 vehicles on hire, compared to a forecast level within the 9+3 forecast of 345 vehicles. </a:t>
            </a:r>
          </a:p>
          <a:p>
            <a:pPr marL="0" lvl="4" indent="0" algn="l" defTabSz="914400" rtl="0" eaLnBrk="1" latinLnBrk="0" hangingPunct="1">
              <a:spcAft>
                <a:spcPts val="600"/>
              </a:spcAft>
              <a:buClr>
                <a:schemeClr val="tx1"/>
              </a:buClr>
              <a:buFont typeface="Arial" panose="020B0604020202020204" pitchFamily="34" charset="0"/>
              <a:buNone/>
              <a:defRPr/>
            </a:pPr>
            <a:r>
              <a:rPr lang="en-GB" sz="1000" u="none" kern="1200" dirty="0">
                <a:latin typeface="+mn-lt"/>
                <a:ea typeface="+mn-ea"/>
                <a:cs typeface="+mn-cs"/>
              </a:rPr>
              <a:t>Management estimates they were some 50 rental vehicles down in the last quarter of the year, which would also have affected ongoing maintenance/repair revenues. At gross profit level, FY22 was £0.2 million behind forecast, with overheads broadly flat. </a:t>
            </a:r>
          </a:p>
          <a:p>
            <a:pPr marL="0" lvl="4" indent="0" algn="l" defTabSz="914400" rtl="0" eaLnBrk="1" latinLnBrk="0" hangingPunct="1">
              <a:spcAft>
                <a:spcPts val="600"/>
              </a:spcAft>
              <a:buClr>
                <a:schemeClr val="tx1"/>
              </a:buClr>
              <a:buFont typeface="Arial" panose="020B0604020202020204" pitchFamily="34" charset="0"/>
              <a:buNone/>
              <a:defRPr/>
            </a:pPr>
            <a:r>
              <a:rPr lang="en-GB" sz="1000" u="none" kern="1200" dirty="0">
                <a:latin typeface="+mn-lt"/>
                <a:ea typeface="+mn-ea"/>
                <a:cs typeface="+mn-cs"/>
              </a:rPr>
              <a:t>Examples of these challenges include lead times on crash cushions being shipped in from </a:t>
            </a:r>
            <a:r>
              <a:rPr lang="en-GB" dirty="0"/>
              <a:t>xx</a:t>
            </a:r>
            <a:r>
              <a:rPr lang="en-GB" sz="1000" u="none" kern="1200" dirty="0">
                <a:latin typeface="+mn-lt"/>
                <a:ea typeface="+mn-ea"/>
                <a:cs typeface="+mn-cs"/>
              </a:rPr>
              <a:t> increasing from six weeks to three months, with vehicles also having been on order for 6-7 months.</a:t>
            </a:r>
          </a:p>
          <a:p>
            <a:pPr marL="0" lvl="4" indent="0" algn="l" defTabSz="914400" rtl="0" eaLnBrk="1" latinLnBrk="0" hangingPunct="1">
              <a:spcAft>
                <a:spcPts val="600"/>
              </a:spcAft>
              <a:buClr>
                <a:schemeClr val="tx1"/>
              </a:buClr>
              <a:buFont typeface="Arial" panose="020B0604020202020204" pitchFamily="34" charset="0"/>
              <a:buNone/>
              <a:defRPr/>
            </a:pPr>
            <a:r>
              <a:rPr lang="en-GB" sz="1000" u="none" kern="1200" dirty="0">
                <a:latin typeface="+mn-lt"/>
                <a:ea typeface="+mn-ea"/>
                <a:cs typeface="+mn-cs"/>
              </a:rPr>
              <a:t>This shortfall is considered to be a short-term challenge, with vehicles now starting to flow through into the business. Management points to the fact that utilisation rates and revenue per vehicle have remained high over the period, as evidence that the underlying business performance remains strong. </a:t>
            </a:r>
          </a:p>
          <a:p>
            <a:pPr lvl="4"/>
            <a:endParaRPr lang="en-US" dirty="0"/>
          </a:p>
        </p:txBody>
      </p:sp>
      <p:sp>
        <p:nvSpPr>
          <p:cNvPr id="33" name="Text Placeholder 25">
            <a:extLst>
              <a:ext uri="{FF2B5EF4-FFF2-40B4-BE49-F238E27FC236}">
                <a16:creationId xmlns:a16="http://schemas.microsoft.com/office/drawing/2014/main" id="{D07159EB-AB9A-42CD-5DF3-A15BA332EEF1}"/>
              </a:ext>
            </a:extLst>
          </p:cNvPr>
          <p:cNvSpPr txBox="1">
            <a:spLocks/>
          </p:cNvSpPr>
          <p:nvPr/>
        </p:nvSpPr>
        <p:spPr>
          <a:xfrm>
            <a:off x="6157200" y="5202903"/>
            <a:ext cx="5036400"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dirty="0">
                <a:solidFill>
                  <a:srgbClr val="00338D"/>
                </a:solidFill>
              </a:rPr>
              <a:t>Management have underperformed against the FY22 forecast, due to challenges on supply chain. The shortfall is expected to be short-term, with vehicles now starting to flow through the business.</a:t>
            </a:r>
          </a:p>
        </p:txBody>
      </p:sp>
      <p:sp>
        <p:nvSpPr>
          <p:cNvPr id="34" name="Text Placeholder 21">
            <a:extLst>
              <a:ext uri="{FF2B5EF4-FFF2-40B4-BE49-F238E27FC236}">
                <a16:creationId xmlns:a16="http://schemas.microsoft.com/office/drawing/2014/main" id="{CB2955FF-AB13-4AD3-E849-FA7171ABF5C7}"/>
              </a:ext>
            </a:extLst>
          </p:cNvPr>
          <p:cNvSpPr txBox="1">
            <a:spLocks/>
          </p:cNvSpPr>
          <p:nvPr/>
        </p:nvSpPr>
        <p:spPr>
          <a:xfrm>
            <a:off x="5588959"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35" name="Text Placeholder 27">
            <a:extLst>
              <a:ext uri="{FF2B5EF4-FFF2-40B4-BE49-F238E27FC236}">
                <a16:creationId xmlns:a16="http://schemas.microsoft.com/office/drawing/2014/main" id="{5414DA0C-C83E-9E0D-62E0-9F3CD28E68FC}"/>
              </a:ext>
            </a:extLst>
          </p:cNvPr>
          <p:cNvSpPr txBox="1">
            <a:spLocks/>
          </p:cNvSpPr>
          <p:nvPr/>
        </p:nvSpPr>
        <p:spPr>
          <a:xfrm>
            <a:off x="10750800"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38" name="Text Placeholder 12">
            <a:extLst>
              <a:ext uri="{FF2B5EF4-FFF2-40B4-BE49-F238E27FC236}">
                <a16:creationId xmlns:a16="http://schemas.microsoft.com/office/drawing/2014/main" id="{6A4D64D2-46AB-5D36-6A4B-316BCAEDB5A0}"/>
              </a:ext>
            </a:extLst>
          </p:cNvPr>
          <p:cNvSpPr txBox="1">
            <a:spLocks/>
          </p:cNvSpPr>
          <p:nvPr/>
        </p:nvSpPr>
        <p:spPr>
          <a:xfrm>
            <a:off x="1059600" y="593805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9" name="Rectangle: Rounded Corners 38">
            <a:hlinkClick r:id="rId4" action="ppaction://hlinksldjump"/>
            <a:extLst>
              <a:ext uri="{FF2B5EF4-FFF2-40B4-BE49-F238E27FC236}">
                <a16:creationId xmlns:a16="http://schemas.microsoft.com/office/drawing/2014/main" id="{75D5FCFB-ECAE-1C51-F8B9-2900E63482B5}"/>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sp>
        <p:nvSpPr>
          <p:cNvPr id="40" name="Rectangle: Rounded Corners 39">
            <a:hlinkClick r:id="rId5" action="ppaction://hlinksldjump"/>
            <a:extLst>
              <a:ext uri="{FF2B5EF4-FFF2-40B4-BE49-F238E27FC236}">
                <a16:creationId xmlns:a16="http://schemas.microsoft.com/office/drawing/2014/main" id="{99C29104-6E9E-5CE2-6176-3E0C058991FD}"/>
              </a:ext>
            </a:extLst>
          </p:cNvPr>
          <p:cNvSpPr/>
          <p:nvPr/>
        </p:nvSpPr>
        <p:spPr>
          <a:xfrm>
            <a:off x="10472079"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grpSp>
        <p:nvGrpSpPr>
          <p:cNvPr id="42" name="Group 41">
            <a:extLst>
              <a:ext uri="{FF2B5EF4-FFF2-40B4-BE49-F238E27FC236}">
                <a16:creationId xmlns:a16="http://schemas.microsoft.com/office/drawing/2014/main" id="{59809AEB-2BB2-494D-A259-21F91C8BDED7}"/>
              </a:ext>
            </a:extLst>
          </p:cNvPr>
          <p:cNvGrpSpPr/>
          <p:nvPr>
            <p:custDataLst>
              <p:tags r:id="rId2"/>
            </p:custDataLst>
          </p:nvPr>
        </p:nvGrpSpPr>
        <p:grpSpPr>
          <a:xfrm>
            <a:off x="995364" y="153170"/>
            <a:ext cx="6245240" cy="195814"/>
            <a:chOff x="995364" y="153170"/>
            <a:chExt cx="6245240" cy="195814"/>
          </a:xfrm>
        </p:grpSpPr>
        <p:sp>
          <p:nvSpPr>
            <p:cNvPr id="43" name="Current Section1">
              <a:hlinkClick r:id="rId6"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44"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5"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6"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7"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8"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9" name="Other Sections7">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688011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8C6E3-B148-C514-6D28-3BC01ECF1EF7}"/>
              </a:ext>
            </a:extLst>
          </p:cNvPr>
          <p:cNvSpPr>
            <a:spLocks noGrp="1"/>
          </p:cNvSpPr>
          <p:nvPr>
            <p:ph type="title"/>
          </p:nvPr>
        </p:nvSpPr>
        <p:spPr>
          <a:xfrm>
            <a:off x="995362" y="431800"/>
            <a:ext cx="10204452" cy="539750"/>
          </a:xfrm>
        </p:spPr>
        <p:txBody>
          <a:bodyPr/>
          <a:lstStyle/>
          <a:p>
            <a:r>
              <a:rPr lang="en-US" dirty="0"/>
              <a:t>Key findings — Financial</a:t>
            </a:r>
          </a:p>
        </p:txBody>
      </p:sp>
      <p:sp>
        <p:nvSpPr>
          <p:cNvPr id="4" name="UpSlide SubSection Marker" hidden="1">
            <a:extLst>
              <a:ext uri="{FF2B5EF4-FFF2-40B4-BE49-F238E27FC236}">
                <a16:creationId xmlns:a16="http://schemas.microsoft.com/office/drawing/2014/main" id="{58A8EED3-5056-FE9F-EE32-63A626AEDC71}"/>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endParaRPr lang="en-US" sz="1600" dirty="0">
              <a:solidFill>
                <a:schemeClr val="bg1"/>
              </a:solidFill>
            </a:endParaRPr>
          </a:p>
        </p:txBody>
      </p:sp>
      <p:sp>
        <p:nvSpPr>
          <p:cNvPr id="29" name="Rectangle 28">
            <a:extLst>
              <a:ext uri="{FF2B5EF4-FFF2-40B4-BE49-F238E27FC236}">
                <a16:creationId xmlns:a16="http://schemas.microsoft.com/office/drawing/2014/main" id="{67FB299D-ACFC-2BB1-FE3F-BEF6F3E39B88}"/>
              </a:ext>
            </a:extLst>
          </p:cNvPr>
          <p:cNvSpPr>
            <a:spLocks/>
          </p:cNvSpPr>
          <p:nvPr/>
        </p:nvSpPr>
        <p:spPr>
          <a:xfrm>
            <a:off x="995359" y="1335600"/>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dirty="0">
                <a:solidFill>
                  <a:schemeClr val="bg1"/>
                </a:solidFill>
              </a:rPr>
              <a:t>Financial reporting</a:t>
            </a:r>
          </a:p>
        </p:txBody>
      </p:sp>
      <p:sp>
        <p:nvSpPr>
          <p:cNvPr id="30" name="Text Placeholder 19">
            <a:extLst>
              <a:ext uri="{FF2B5EF4-FFF2-40B4-BE49-F238E27FC236}">
                <a16:creationId xmlns:a16="http://schemas.microsoft.com/office/drawing/2014/main" id="{C529DBB8-59E5-CF95-0F3E-5077E2EFF079}"/>
              </a:ext>
            </a:extLst>
          </p:cNvPr>
          <p:cNvSpPr txBox="1">
            <a:spLocks/>
          </p:cNvSpPr>
          <p:nvPr/>
        </p:nvSpPr>
        <p:spPr>
          <a:xfrm>
            <a:off x="995359" y="1653166"/>
            <a:ext cx="5036400" cy="3483923"/>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marL="0" lvl="4" indent="0" algn="l" defTabSz="914400" rtl="0" eaLnBrk="1" latinLnBrk="0" hangingPunct="1">
              <a:spcAft>
                <a:spcPts val="600"/>
              </a:spcAft>
              <a:buClr>
                <a:schemeClr val="tx1"/>
              </a:buClr>
              <a:buFont typeface="Arial" panose="020B0604020202020204" pitchFamily="34" charset="0"/>
              <a:buNone/>
              <a:defRPr/>
            </a:pPr>
            <a:r>
              <a:rPr lang="en-GB" sz="1000" u="none" kern="1200" dirty="0">
                <a:latin typeface="+mn-lt"/>
                <a:ea typeface="+mn-ea"/>
                <a:cs typeface="+mn-cs"/>
              </a:rPr>
              <a:t>The nature and extent of management information is consistent with what we would expect from a privately owned business of this size, and there appears to be reasonable depths of information available through the diligence process. Whilst we have encountered delays and relatively slow provision of information we consider these to be a reflection of the limited capacity within the Finance team, rather than due to quality issues surrounding the financial reporting environment. With your increased reporting requirements as a listed group it will be important to consider any further investment in Finance at an early stage – in particular, because of the extended timescales for preparing monthly management accounts (in excess of a month). Further observations from our work include the following:</a:t>
            </a:r>
          </a:p>
          <a:p>
            <a:pPr marL="171450" lvl="4" indent="-171450" algn="l" defTabSz="914400" rtl="0" eaLnBrk="1" latinLnBrk="0" hangingPunct="1">
              <a:spcAft>
                <a:spcPts val="600"/>
              </a:spcAft>
              <a:buClr>
                <a:schemeClr val="tx1"/>
              </a:buClr>
              <a:buFont typeface="Arial" panose="020B0604020202020204" pitchFamily="34" charset="0"/>
              <a:buChar char="•"/>
              <a:defRPr/>
            </a:pPr>
            <a:r>
              <a:rPr lang="en-GB" sz="1000" u="none" kern="1200" dirty="0">
                <a:latin typeface="+mn-lt"/>
                <a:ea typeface="+mn-ea"/>
                <a:cs typeface="+mn-cs"/>
              </a:rPr>
              <a:t>Hire revenue and profitability is monitored by vehicle monthly, however we have not been provided with a rolling historical analysis. Furthermore profitability is not monitored by vehicle/</a:t>
            </a:r>
            <a:r>
              <a:rPr lang="en-GB" sz="1000" u="none" kern="1200">
                <a:latin typeface="+mn-lt"/>
                <a:ea typeface="+mn-ea"/>
                <a:cs typeface="+mn-cs"/>
              </a:rPr>
              <a:t>vehicle type. </a:t>
            </a:r>
            <a:endParaRPr lang="en-GB" sz="1000" u="none" kern="1200" dirty="0">
              <a:latin typeface="+mn-lt"/>
              <a:ea typeface="+mn-ea"/>
              <a:cs typeface="+mn-cs"/>
            </a:endParaRPr>
          </a:p>
          <a:p>
            <a:pPr marL="171450" lvl="4" indent="-171450" algn="l" defTabSz="914400" rtl="0" eaLnBrk="1" latinLnBrk="0" hangingPunct="1">
              <a:spcAft>
                <a:spcPts val="600"/>
              </a:spcAft>
              <a:buClr>
                <a:schemeClr val="tx1"/>
              </a:buClr>
              <a:buFont typeface="Arial" panose="020B0604020202020204" pitchFamily="34" charset="0"/>
              <a:buChar char="•"/>
              <a:defRPr/>
            </a:pPr>
            <a:r>
              <a:rPr lang="en-GB" sz="1000" u="none" kern="1200" dirty="0">
                <a:latin typeface="+mn-lt"/>
                <a:ea typeface="+mn-ea"/>
                <a:cs typeface="+mn-cs"/>
              </a:rPr>
              <a:t>Assets for resale are classed within fixed assets rather than in stock – we would typically expect such items to be considered as stock items rather than fixed assets. For the purposes of the completion accounts it will be important to ensure a consistent treatment is adopted to the past practice.</a:t>
            </a:r>
          </a:p>
          <a:p>
            <a:pPr marL="171450" lvl="4" indent="-171450" algn="l" defTabSz="914400" rtl="0" eaLnBrk="1" latinLnBrk="0" hangingPunct="1">
              <a:spcAft>
                <a:spcPts val="600"/>
              </a:spcAft>
              <a:buClr>
                <a:schemeClr val="tx1"/>
              </a:buClr>
              <a:buFont typeface="Arial" panose="020B0604020202020204" pitchFamily="34" charset="0"/>
              <a:buChar char="•"/>
              <a:defRPr/>
            </a:pPr>
            <a:r>
              <a:rPr lang="en-GB" sz="1000" u="none" kern="1200" dirty="0">
                <a:latin typeface="+mn-lt"/>
                <a:ea typeface="+mn-ea"/>
                <a:cs typeface="+mn-cs"/>
              </a:rPr>
              <a:t>Stock-on-water is not accounted for within inventory until it reaches the business’s premises. We understand from Management, however, that the risk relating to such stock passes at the point that stock leaves the supplier’s premises (and insurance is in place to cover the period the stock is in transit). </a:t>
            </a:r>
          </a:p>
          <a:p>
            <a:endParaRPr lang="en-GB" b="0" dirty="0"/>
          </a:p>
        </p:txBody>
      </p:sp>
      <p:sp>
        <p:nvSpPr>
          <p:cNvPr id="31" name="Text Placeholder 25">
            <a:extLst>
              <a:ext uri="{FF2B5EF4-FFF2-40B4-BE49-F238E27FC236}">
                <a16:creationId xmlns:a16="http://schemas.microsoft.com/office/drawing/2014/main" id="{6CF08F1C-922F-7972-A479-500D5E78CB68}"/>
              </a:ext>
            </a:extLst>
          </p:cNvPr>
          <p:cNvSpPr txBox="1">
            <a:spLocks/>
          </p:cNvSpPr>
          <p:nvPr/>
        </p:nvSpPr>
        <p:spPr>
          <a:xfrm>
            <a:off x="995359" y="5202903"/>
            <a:ext cx="4593600" cy="673200"/>
          </a:xfrm>
          <a:prstGeom prst="rect">
            <a:avLst/>
          </a:prstGeom>
          <a:ln>
            <a:solidFill>
              <a:schemeClr val="tx2"/>
            </a:solidFill>
          </a:ln>
        </p:spPr>
        <p:txBody>
          <a:bodyPr lIns="72000" tIns="72000" rIns="72000" bIns="72000" anchor="ctr" anchorCtr="0"/>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dirty="0">
                <a:solidFill>
                  <a:srgbClr val="00338D"/>
                </a:solidFill>
              </a:rPr>
              <a:t>It will be important to invest in Finance at an early state in order to align timescales to monthly reporting, which will be required going forward.</a:t>
            </a:r>
          </a:p>
        </p:txBody>
      </p:sp>
      <p:sp>
        <p:nvSpPr>
          <p:cNvPr id="32" name="Text Placeholder 19">
            <a:extLst>
              <a:ext uri="{FF2B5EF4-FFF2-40B4-BE49-F238E27FC236}">
                <a16:creationId xmlns:a16="http://schemas.microsoft.com/office/drawing/2014/main" id="{8CC6975A-97A6-F461-8AA5-058A35610111}"/>
              </a:ext>
            </a:extLst>
          </p:cNvPr>
          <p:cNvSpPr txBox="1">
            <a:spLocks/>
          </p:cNvSpPr>
          <p:nvPr/>
        </p:nvSpPr>
        <p:spPr>
          <a:xfrm>
            <a:off x="6157200" y="1653166"/>
            <a:ext cx="5036400" cy="3483923"/>
          </a:xfrm>
          <a:prstGeom prst="rect">
            <a:avLst/>
          </a:prstGeom>
        </p:spPr>
        <p:txBody>
          <a:bodyPr vert="horz" lIns="72000" tIns="0" rIns="72000" bIns="0" rtlCol="0" anchor="t" anchorCtr="0">
            <a:noAutofit/>
          </a:bodyPr>
          <a:lstStyle>
            <a:lvl1pPr lvl="0" indent="0">
              <a:lnSpc>
                <a:spcPct val="100000"/>
              </a:lnSpc>
              <a:spcBef>
                <a:spcPts val="0"/>
              </a:spcBef>
              <a:spcAft>
                <a:spcPts val="600"/>
              </a:spcAft>
              <a:buFontTx/>
              <a:buNone/>
              <a:defRPr sz="1000" b="1">
                <a:solidFill>
                  <a:schemeClr val="tx2"/>
                </a:solidFill>
              </a:defRPr>
            </a:lvl1pPr>
            <a:lvl2pPr marL="0" lvl="1" indent="0">
              <a:lnSpc>
                <a:spcPct val="100000"/>
              </a:lnSpc>
              <a:spcBef>
                <a:spcPts val="0"/>
              </a:spcBef>
              <a:spcAft>
                <a:spcPts val="600"/>
              </a:spcAft>
              <a:buFontTx/>
              <a:buNone/>
              <a:defRPr sz="1000"/>
            </a:lvl2pPr>
            <a:lvl3pPr marL="180975" lvl="2" indent="-180975">
              <a:lnSpc>
                <a:spcPct val="100000"/>
              </a:lnSpc>
              <a:spcBef>
                <a:spcPts val="0"/>
              </a:spcBef>
              <a:spcAft>
                <a:spcPts val="600"/>
              </a:spcAft>
              <a:buClrTx/>
              <a:buFont typeface="Arial" panose="020B0604020202020204" pitchFamily="34" charset="0"/>
              <a:buChar char="•"/>
              <a:defRPr sz="1000"/>
            </a:lvl3pPr>
            <a:lvl4pPr marL="361950" lvl="3" indent="-180975">
              <a:lnSpc>
                <a:spcPct val="100000"/>
              </a:lnSpc>
              <a:spcBef>
                <a:spcPts val="0"/>
              </a:spcBef>
              <a:spcAft>
                <a:spcPts val="600"/>
              </a:spcAft>
              <a:buClrTx/>
              <a:buFont typeface="Arial" panose="020B0604020202020204" pitchFamily="34" charset="0"/>
              <a:buChar char="-"/>
              <a:defRPr sz="1000"/>
            </a:lvl4pPr>
            <a:lvl5pPr marL="542925" lvl="4" indent="-180975">
              <a:lnSpc>
                <a:spcPct val="100000"/>
              </a:lnSpc>
              <a:spcBef>
                <a:spcPts val="0"/>
              </a:spcBef>
              <a:spcAft>
                <a:spcPts val="600"/>
              </a:spcAft>
              <a:buClrTx/>
              <a:buFont typeface="Arial" panose="020B0604020202020204" pitchFamily="34" charset="0"/>
              <a:buChar char="•"/>
              <a:defRPr sz="1000" baseline="0"/>
            </a:lvl5pPr>
            <a:lvl6pPr marL="0" indent="0">
              <a:lnSpc>
                <a:spcPct val="100000"/>
              </a:lnSpc>
              <a:spcBef>
                <a:spcPts val="0"/>
              </a:spcBef>
              <a:spcAft>
                <a:spcPts val="600"/>
              </a:spcAft>
              <a:buClr>
                <a:schemeClr val="tx2"/>
              </a:buClr>
              <a:buFont typeface="Arial" panose="020B0604020202020204" pitchFamily="34" charset="0"/>
              <a:buNone/>
              <a:defRPr sz="1300">
                <a:solidFill>
                  <a:schemeClr val="tx2"/>
                </a:solidFill>
              </a:defRPr>
            </a:lvl6pPr>
            <a:lvl7pPr marL="288000" indent="-288000">
              <a:lnSpc>
                <a:spcPct val="110000"/>
              </a:lnSpc>
              <a:spcBef>
                <a:spcPts val="0"/>
              </a:spcBef>
              <a:spcAft>
                <a:spcPts val="600"/>
              </a:spcAft>
              <a:buClr>
                <a:schemeClr val="tx2"/>
              </a:buClr>
              <a:buFont typeface="Arial" panose="020B0604020202020204" pitchFamily="34" charset="0"/>
              <a:buChar char="•"/>
              <a:defRPr sz="1300">
                <a:solidFill>
                  <a:schemeClr val="tx2"/>
                </a:solidFill>
              </a:defRPr>
            </a:lvl7pPr>
            <a:lvl8pPr marL="1074738" indent="-177800">
              <a:lnSpc>
                <a:spcPct val="100000"/>
              </a:lnSpc>
              <a:spcBef>
                <a:spcPts val="0"/>
              </a:spcBef>
              <a:spcAft>
                <a:spcPts val="600"/>
              </a:spcAft>
              <a:buClr>
                <a:schemeClr val="tx2"/>
              </a:buClr>
              <a:buFont typeface="Arial" panose="020B0604020202020204" pitchFamily="34" charset="0"/>
              <a:buChar char="-"/>
              <a:defRPr sz="1500">
                <a:solidFill>
                  <a:schemeClr val="tx2"/>
                </a:solidFill>
              </a:defRPr>
            </a:lvl8pPr>
            <a:lvl9pPr marL="1257300" indent="-182563">
              <a:lnSpc>
                <a:spcPct val="90000"/>
              </a:lnSpc>
              <a:spcBef>
                <a:spcPts val="500"/>
              </a:spcBef>
              <a:buFont typeface="Arial" panose="020B0604020202020204" pitchFamily="34" charset="0"/>
              <a:buChar char="•"/>
              <a:defRPr sz="1500">
                <a:solidFill>
                  <a:schemeClr val="tx2"/>
                </a:solidFill>
              </a:defRPr>
            </a:lvl9pPr>
          </a:lstStyle>
          <a:p>
            <a:pPr marL="0" lvl="4" indent="0" algn="l" defTabSz="914400" rtl="0" eaLnBrk="1" latinLnBrk="0" hangingPunct="1">
              <a:spcAft>
                <a:spcPts val="600"/>
              </a:spcAft>
              <a:buClr>
                <a:schemeClr val="tx1"/>
              </a:buClr>
              <a:buFont typeface="Arial" panose="020B0604020202020204" pitchFamily="34" charset="0"/>
              <a:buNone/>
              <a:defRPr/>
            </a:pPr>
            <a:endParaRPr lang="en-GB" sz="1000" u="none" kern="1200" dirty="0">
              <a:solidFill>
                <a:srgbClr val="00338D"/>
              </a:solidFill>
              <a:latin typeface="+mn-lt"/>
              <a:ea typeface="+mn-ea"/>
              <a:cs typeface="+mn-cs"/>
            </a:endParaRPr>
          </a:p>
        </p:txBody>
      </p:sp>
      <p:sp>
        <p:nvSpPr>
          <p:cNvPr id="34" name="Text Placeholder 21">
            <a:extLst>
              <a:ext uri="{FF2B5EF4-FFF2-40B4-BE49-F238E27FC236}">
                <a16:creationId xmlns:a16="http://schemas.microsoft.com/office/drawing/2014/main" id="{CB2955FF-AB13-4AD3-E849-FA7171ABF5C7}"/>
              </a:ext>
            </a:extLst>
          </p:cNvPr>
          <p:cNvSpPr txBox="1">
            <a:spLocks/>
          </p:cNvSpPr>
          <p:nvPr/>
        </p:nvSpPr>
        <p:spPr>
          <a:xfrm>
            <a:off x="5588959" y="5202903"/>
            <a:ext cx="442800" cy="673200"/>
          </a:xfrm>
          <a:prstGeom prst="rect">
            <a:avLst/>
          </a:prstGeom>
          <a:solidFill>
            <a:srgbClr val="E5E5E5"/>
          </a:solidFill>
          <a:ln>
            <a:solidFill>
              <a:srgbClr val="00338D"/>
            </a:solidFill>
          </a:ln>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Tx/>
              <a:buNone/>
              <a:defRPr sz="900" b="0"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Value</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SPA</a:t>
            </a:r>
          </a:p>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dirty="0">
                <a:ln>
                  <a:noFill/>
                </a:ln>
                <a:solidFill>
                  <a:srgbClr val="B2B2B2"/>
                </a:solidFill>
                <a:effectLst/>
                <a:uLnTx/>
                <a:uFillTx/>
                <a:latin typeface="Arial"/>
                <a:ea typeface="+mn-ea"/>
                <a:cs typeface="+mn-cs"/>
              </a:rPr>
              <a:t>Other</a:t>
            </a:r>
          </a:p>
        </p:txBody>
      </p:sp>
      <p:sp>
        <p:nvSpPr>
          <p:cNvPr id="38" name="Text Placeholder 12">
            <a:extLst>
              <a:ext uri="{FF2B5EF4-FFF2-40B4-BE49-F238E27FC236}">
                <a16:creationId xmlns:a16="http://schemas.microsoft.com/office/drawing/2014/main" id="{6A4D64D2-46AB-5D36-6A4B-316BCAEDB5A0}"/>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9" name="Rectangle: Rounded Corners 38">
            <a:hlinkClick r:id="rId4" action="ppaction://hlinksldjump"/>
            <a:extLst>
              <a:ext uri="{FF2B5EF4-FFF2-40B4-BE49-F238E27FC236}">
                <a16:creationId xmlns:a16="http://schemas.microsoft.com/office/drawing/2014/main" id="{75D5FCFB-ECAE-1C51-F8B9-2900E63482B5}"/>
              </a:ext>
            </a:extLst>
          </p:cNvPr>
          <p:cNvSpPr/>
          <p:nvPr/>
        </p:nvSpPr>
        <p:spPr>
          <a:xfrm>
            <a:off x="5305832" y="1356606"/>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dirty="0">
                <a:solidFill>
                  <a:schemeClr val="bg1"/>
                </a:solidFill>
              </a:rPr>
              <a:t>Read more</a:t>
            </a:r>
          </a:p>
        </p:txBody>
      </p:sp>
      <p:grpSp>
        <p:nvGrpSpPr>
          <p:cNvPr id="27" name="Group 26">
            <a:extLst>
              <a:ext uri="{FF2B5EF4-FFF2-40B4-BE49-F238E27FC236}">
                <a16:creationId xmlns:a16="http://schemas.microsoft.com/office/drawing/2014/main" id="{59809AEB-2BB2-494D-A259-21F91C8BDED7}"/>
              </a:ext>
            </a:extLst>
          </p:cNvPr>
          <p:cNvGrpSpPr/>
          <p:nvPr>
            <p:custDataLst>
              <p:tags r:id="rId2"/>
            </p:custDataLst>
          </p:nvPr>
        </p:nvGrpSpPr>
        <p:grpSpPr>
          <a:xfrm>
            <a:off x="995364" y="153170"/>
            <a:ext cx="6245240" cy="195814"/>
            <a:chOff x="995364" y="153170"/>
            <a:chExt cx="6245240" cy="195814"/>
          </a:xfrm>
        </p:grpSpPr>
        <p:sp>
          <p:nvSpPr>
            <p:cNvPr id="28" name="Current Section1">
              <a:hlinkClick r:id="rId5"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3"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6"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9"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0"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5972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a:extLst>
              <a:ext uri="{FF2B5EF4-FFF2-40B4-BE49-F238E27FC236}">
                <a16:creationId xmlns:a16="http://schemas.microsoft.com/office/drawing/2014/main" id="{D29BC287-5F41-49C7-8C38-C7307D3189C7}"/>
              </a:ext>
            </a:extLst>
          </p:cNvPr>
          <p:cNvGraphicFramePr>
            <a:graphicFrameLocks noChangeAspect="1"/>
          </p:cNvGraphicFramePr>
          <p:nvPr>
            <p:custDataLst>
              <p:tags r:id="rId1"/>
            </p:custDataLst>
            <p:extLst>
              <p:ext uri="{D42A27DB-BD31-4B8C-83A1-F6EECF244321}">
                <p14:modId xmlns:p14="http://schemas.microsoft.com/office/powerpoint/2010/main" val="432435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29" name="Object 28" hidden="1">
                        <a:extLst>
                          <a:ext uri="{FF2B5EF4-FFF2-40B4-BE49-F238E27FC236}">
                            <a16:creationId xmlns:a16="http://schemas.microsoft.com/office/drawing/2014/main" id="{D29BC287-5F41-49C7-8C38-C7307D3189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4BC05380-8A8F-4829-91A9-745335CA4249}"/>
              </a:ext>
            </a:extLst>
          </p:cNvPr>
          <p:cNvSpPr>
            <a:spLocks noGrp="1"/>
          </p:cNvSpPr>
          <p:nvPr>
            <p:ph type="title"/>
          </p:nvPr>
        </p:nvSpPr>
        <p:spPr>
          <a:xfrm>
            <a:off x="995362" y="431800"/>
            <a:ext cx="10204452" cy="539750"/>
          </a:xfrm>
        </p:spPr>
        <p:txBody>
          <a:bodyPr vert="horz"/>
          <a:lstStyle/>
          <a:p>
            <a:r>
              <a:rPr lang="en-US" dirty="0"/>
              <a:t>Key deal considerations</a:t>
            </a:r>
          </a:p>
        </p:txBody>
      </p:sp>
      <p:graphicFrame>
        <p:nvGraphicFramePr>
          <p:cNvPr id="41" name="Table 5">
            <a:extLst>
              <a:ext uri="{FF2B5EF4-FFF2-40B4-BE49-F238E27FC236}">
                <a16:creationId xmlns:a16="http://schemas.microsoft.com/office/drawing/2014/main" id="{3F75A9AE-A2C2-4BF1-96A5-39F95DADDD81}"/>
              </a:ext>
            </a:extLst>
          </p:cNvPr>
          <p:cNvGraphicFramePr>
            <a:graphicFrameLocks noGrp="1"/>
          </p:cNvGraphicFramePr>
          <p:nvPr>
            <p:extLst>
              <p:ext uri="{D42A27DB-BD31-4B8C-83A1-F6EECF244321}">
                <p14:modId xmlns:p14="http://schemas.microsoft.com/office/powerpoint/2010/main" val="1025988781"/>
              </p:ext>
            </p:extLst>
          </p:nvPr>
        </p:nvGraphicFramePr>
        <p:xfrm>
          <a:off x="998400" y="1322391"/>
          <a:ext cx="10197509" cy="4678407"/>
        </p:xfrm>
        <a:graphic>
          <a:graphicData uri="http://schemas.openxmlformats.org/drawingml/2006/table">
            <a:tbl>
              <a:tblPr firstRow="1" bandRow="1">
                <a:tableStyleId>{5C22544A-7EE6-4342-B048-85BDC9FD1C3A}</a:tableStyleId>
              </a:tblPr>
              <a:tblGrid>
                <a:gridCol w="1908000">
                  <a:extLst>
                    <a:ext uri="{9D8B030D-6E8A-4147-A177-3AD203B41FA5}">
                      <a16:colId xmlns:a16="http://schemas.microsoft.com/office/drawing/2014/main" val="2534074653"/>
                    </a:ext>
                  </a:extLst>
                </a:gridCol>
                <a:gridCol w="2071224">
                  <a:extLst>
                    <a:ext uri="{9D8B030D-6E8A-4147-A177-3AD203B41FA5}">
                      <a16:colId xmlns:a16="http://schemas.microsoft.com/office/drawing/2014/main" val="15913284"/>
                    </a:ext>
                  </a:extLst>
                </a:gridCol>
                <a:gridCol w="2079964">
                  <a:extLst>
                    <a:ext uri="{9D8B030D-6E8A-4147-A177-3AD203B41FA5}">
                      <a16:colId xmlns:a16="http://schemas.microsoft.com/office/drawing/2014/main" val="1241778817"/>
                    </a:ext>
                  </a:extLst>
                </a:gridCol>
                <a:gridCol w="2071225">
                  <a:extLst>
                    <a:ext uri="{9D8B030D-6E8A-4147-A177-3AD203B41FA5}">
                      <a16:colId xmlns:a16="http://schemas.microsoft.com/office/drawing/2014/main" val="1869424930"/>
                    </a:ext>
                  </a:extLst>
                </a:gridCol>
                <a:gridCol w="2067096">
                  <a:extLst>
                    <a:ext uri="{9D8B030D-6E8A-4147-A177-3AD203B41FA5}">
                      <a16:colId xmlns:a16="http://schemas.microsoft.com/office/drawing/2014/main" val="1021479978"/>
                    </a:ext>
                  </a:extLst>
                </a:gridCol>
              </a:tblGrid>
              <a:tr h="0">
                <a:tc>
                  <a:txBody>
                    <a:bodyPr/>
                    <a:lstStyle/>
                    <a:p>
                      <a:pPr>
                        <a:lnSpc>
                          <a:spcPct val="100000"/>
                        </a:lnSpc>
                      </a:pPr>
                      <a:endParaRPr lang="en-US" dirty="0"/>
                    </a:p>
                  </a:txBody>
                  <a:tcPr marL="720000" marR="126000" marT="126000" marB="126000">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KPMG Bold"/>
                          <a:ea typeface="+mn-ea"/>
                          <a:cs typeface="+mn-cs"/>
                        </a:rPr>
                        <a:t>Pre-deal considerations</a:t>
                      </a:r>
                    </a:p>
                  </a:txBody>
                  <a:tcPr marL="90000" marR="90000" marT="126000" marB="126000">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KPMG Bold"/>
                          <a:ea typeface="+mn-ea"/>
                          <a:cs typeface="+mn-cs"/>
                        </a:rPr>
                        <a:t>SPA considerations</a:t>
                      </a:r>
                    </a:p>
                  </a:txBody>
                  <a:tcPr marL="90000" marR="90000" marT="126000" marB="12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KPMG Bold"/>
                          <a:ea typeface="+mn-ea"/>
                          <a:cs typeface="+mn-cs"/>
                        </a:rPr>
                        <a:t>Post-deal considerations</a:t>
                      </a:r>
                    </a:p>
                  </a:txBody>
                  <a:tcPr marL="90000" marR="90000" marT="126000" marB="126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KPMG Bold"/>
                          <a:ea typeface="+mn-ea"/>
                          <a:cs typeface="+mn-cs"/>
                        </a:rPr>
                        <a:t>Other matters</a:t>
                      </a:r>
                    </a:p>
                  </a:txBody>
                  <a:tcPr marL="90000" marR="90000" marT="126000" marB="126000">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26224675"/>
                  </a:ext>
                </a:extLst>
              </a:tr>
              <a:tr h="0">
                <a:tc>
                  <a:txBody>
                    <a:bodyPr/>
                    <a:lstStyle/>
                    <a:p>
                      <a:pPr>
                        <a:lnSpc>
                          <a:spcPct val="100000"/>
                        </a:lnSpc>
                      </a:pPr>
                      <a:endParaRPr lang="en-US" dirty="0"/>
                    </a:p>
                  </a:txBody>
                  <a:tcPr marL="720000" marR="126000" marT="126000" marB="126000">
                    <a:lnL w="12700" cmpd="sng">
                      <a:noFill/>
                    </a:lnL>
                    <a:lnR w="12700" cmpd="sng">
                      <a:noFill/>
                    </a:lnR>
                    <a:lnT w="6350"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5000"/>
                        </a:lnSpc>
                      </a:pPr>
                      <a:r>
                        <a:rPr lang="en-US" sz="3600" b="0" dirty="0">
                          <a:solidFill>
                            <a:schemeClr val="bg1"/>
                          </a:solidFill>
                          <a:latin typeface="+mj-lt"/>
                        </a:rPr>
                        <a:t>01</a:t>
                      </a:r>
                    </a:p>
                  </a:txBody>
                  <a:tcPr marL="90000" marR="90000" marT="54000" marB="54000">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KPMG Bold"/>
                          <a:ea typeface="+mn-ea"/>
                          <a:cs typeface="+mn-cs"/>
                        </a:rPr>
                        <a:t>02</a:t>
                      </a:r>
                    </a:p>
                  </a:txBody>
                  <a:tcPr marL="90000" marR="90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KPMG Bold"/>
                          <a:ea typeface="+mn-ea"/>
                          <a:cs typeface="+mn-cs"/>
                        </a:rPr>
                        <a:t>03</a:t>
                      </a:r>
                    </a:p>
                  </a:txBody>
                  <a:tcPr marL="90000" marR="90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KPMG Bold"/>
                          <a:ea typeface="+mn-ea"/>
                          <a:cs typeface="+mn-cs"/>
                        </a:rPr>
                        <a:t>04</a:t>
                      </a:r>
                    </a:p>
                  </a:txBody>
                  <a:tcPr marL="90000" marR="90000" marT="54000" marB="54000">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54354679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Key financials</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Review the proposed adjustments</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Agree on the definition of EBITDA, Net debt and NWC</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Perform a purchase price allocation</a:t>
                      </a:r>
                    </a:p>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Review completion accounts</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p>
                      <a:pPr marL="0" marR="0" lvl="0" indent="0" algn="ctr" defTabSz="914400" rtl="0" eaLnBrk="1" fontAlgn="auto" latinLnBrk="0" hangingPunct="1">
                        <a:lnSpc>
                          <a:spcPct val="110000"/>
                        </a:lnSpc>
                        <a:spcBef>
                          <a:spcPts val="0"/>
                        </a:spcBef>
                        <a:spcAft>
                          <a:spcPts val="60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81536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Accounting</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p>
                      <a:pPr marL="0" marR="0" lvl="0" indent="0" algn="ctr" defTabSz="914400" rtl="0" eaLnBrk="1" fontAlgn="auto" latinLnBrk="0" hangingPunct="1">
                        <a:lnSpc>
                          <a:spcPct val="110000"/>
                        </a:lnSpc>
                        <a:spcBef>
                          <a:spcPts val="0"/>
                        </a:spcBef>
                        <a:spcAft>
                          <a:spcPts val="60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Ensure that all the historical accounting data is transferred</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Ensure timely audit of the opening balance sheet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10410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Key personnel</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Ensure the commitment of the key employees</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Ensure step-down of the current board to be replaced by the new one</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Consider merging the finance functions of the buyer and seller in order to achieve cost savings</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73688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Customers</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825105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Suppliers</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07627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Separation</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Consider the need for TSAs/LTAs</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Ensure sufficient TSAs/LTAs are in place</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585143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2"/>
                          </a:solidFill>
                          <a:effectLst/>
                          <a:uLnTx/>
                          <a:uFillTx/>
                          <a:latin typeface="+mn-lt"/>
                          <a:ea typeface="+mn-ea"/>
                          <a:cs typeface="+mn-cs"/>
                        </a:rPr>
                        <a:t>Integration</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t>
                      </a:r>
                    </a:p>
                  </a:txBody>
                  <a:tcPr marL="72000" marR="72000" marT="72000" marB="72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474486"/>
                  </a:ext>
                </a:extLst>
              </a:tr>
            </a:tbl>
          </a:graphicData>
        </a:graphic>
      </p:graphicFrame>
      <p:sp>
        <p:nvSpPr>
          <p:cNvPr id="2" name="UpSlide SubSection Marker" hidden="1">
            <a:extLst>
              <a:ext uri="{FF2B5EF4-FFF2-40B4-BE49-F238E27FC236}">
                <a16:creationId xmlns:a16="http://schemas.microsoft.com/office/drawing/2014/main" id="{B6CD0F60-50F7-0266-55F9-9FE5D370A39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deal considerations</a:t>
            </a:r>
            <a:endParaRPr lang="en-US" sz="1600" dirty="0">
              <a:solidFill>
                <a:schemeClr val="bg1"/>
              </a:solidFill>
            </a:endParaRPr>
          </a:p>
        </p:txBody>
      </p:sp>
      <p:grpSp>
        <p:nvGrpSpPr>
          <p:cNvPr id="22" name="Group 21">
            <a:extLst>
              <a:ext uri="{FF2B5EF4-FFF2-40B4-BE49-F238E27FC236}">
                <a16:creationId xmlns:a16="http://schemas.microsoft.com/office/drawing/2014/main" id="{59809AEB-2BB2-494D-A259-21F91C8BDED7}"/>
              </a:ext>
            </a:extLst>
          </p:cNvPr>
          <p:cNvGrpSpPr/>
          <p:nvPr>
            <p:custDataLst>
              <p:tags r:id="rId3"/>
            </p:custDataLst>
          </p:nvPr>
        </p:nvGrpSpPr>
        <p:grpSpPr>
          <a:xfrm>
            <a:off x="995364" y="153170"/>
            <a:ext cx="6245240" cy="195814"/>
            <a:chOff x="995364" y="153170"/>
            <a:chExt cx="6245240" cy="195814"/>
          </a:xfrm>
        </p:grpSpPr>
        <p:sp>
          <p:nvSpPr>
            <p:cNvPr id="23" name="Current Section1">
              <a:hlinkClick r:id="rId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4"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26"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913033"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14068"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0"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6281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1"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5177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2012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1" action="ppaction://hlinksldjump"/>
            <a:extLst>
              <a:ext uri="{FF2B5EF4-FFF2-40B4-BE49-F238E27FC236}">
                <a16:creationId xmlns:a16="http://schemas.microsoft.com/office/drawing/2014/main" id="{08D7B135-931C-47F7-807A-894FFE43ADA8}"/>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Historical trading</a:t>
            </a:r>
          </a:p>
        </p:txBody>
      </p:sp>
      <p:sp>
        <p:nvSpPr>
          <p:cNvPr id="5" name="TextBox 4">
            <a:hlinkClick r:id="rId22" action="ppaction://hlinksldjump"/>
            <a:extLst>
              <a:ext uri="{FF2B5EF4-FFF2-40B4-BE49-F238E27FC236}">
                <a16:creationId xmlns:a16="http://schemas.microsoft.com/office/drawing/2014/main" id="{948A19A1-E7B9-46D7-9ACC-1819E5A0949B}"/>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Profit &amp; loss overview</a:t>
            </a:r>
          </a:p>
        </p:txBody>
      </p:sp>
      <p:sp>
        <p:nvSpPr>
          <p:cNvPr id="6" name="TextBox 5">
            <a:hlinkClick r:id="rId23" action="ppaction://hlinksldjump"/>
            <a:extLst>
              <a:ext uri="{FF2B5EF4-FFF2-40B4-BE49-F238E27FC236}">
                <a16:creationId xmlns:a16="http://schemas.microsoft.com/office/drawing/2014/main" id="{B58EC100-E4AA-4CC4-A471-9256507CB5E7}"/>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Revenue and EBITDA bridge</a:t>
            </a:r>
          </a:p>
        </p:txBody>
      </p:sp>
      <p:sp>
        <p:nvSpPr>
          <p:cNvPr id="7" name="TextBox 6">
            <a:hlinkClick r:id="rId24" action="ppaction://hlinksldjump"/>
            <a:extLst>
              <a:ext uri="{FF2B5EF4-FFF2-40B4-BE49-F238E27FC236}">
                <a16:creationId xmlns:a16="http://schemas.microsoft.com/office/drawing/2014/main" id="{E768FA71-FF26-46D9-8065-217A171617E6}"/>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Profit &amp; loss overview</a:t>
            </a:r>
          </a:p>
        </p:txBody>
      </p:sp>
      <p:sp>
        <p:nvSpPr>
          <p:cNvPr id="8" name="TextBox 7">
            <a:hlinkClick r:id="rId25" action="ppaction://hlinksldjump"/>
            <a:extLst>
              <a:ext uri="{FF2B5EF4-FFF2-40B4-BE49-F238E27FC236}">
                <a16:creationId xmlns:a16="http://schemas.microsoft.com/office/drawing/2014/main" id="{566B0AFF-7094-4911-BDBC-79AA6C5CCF50}"/>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EBIT bridge</a:t>
            </a:r>
          </a:p>
        </p:txBody>
      </p:sp>
      <p:sp>
        <p:nvSpPr>
          <p:cNvPr id="9" name="TextBox 8">
            <a:hlinkClick r:id="rId26" action="ppaction://hlinksldjump"/>
            <a:extLst>
              <a:ext uri="{FF2B5EF4-FFF2-40B4-BE49-F238E27FC236}">
                <a16:creationId xmlns:a16="http://schemas.microsoft.com/office/drawing/2014/main" id="{D1524765-59E9-43C3-AB04-6E632A10CC65}"/>
              </a:ext>
            </a:extLst>
          </p:cNvPr>
          <p:cNvSpPr txBox="1"/>
          <p:nvPr>
            <p:custDataLst>
              <p:tags r:id="rId7"/>
            </p:custDataLst>
          </p:nvPr>
        </p:nvSpPr>
        <p:spPr>
          <a:xfrm>
            <a:off x="1735455" y="4924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Cost breakdown</a:t>
            </a:r>
          </a:p>
        </p:txBody>
      </p:sp>
      <p:sp>
        <p:nvSpPr>
          <p:cNvPr id="10" name="TextBox 9">
            <a:hlinkClick r:id="rId21" action="ppaction://hlinksldjump"/>
            <a:extLst>
              <a:ext uri="{FF2B5EF4-FFF2-40B4-BE49-F238E27FC236}">
                <a16:creationId xmlns:a16="http://schemas.microsoft.com/office/drawing/2014/main" id="{048037C3-4AD7-41A1-8CAA-85ADA7D2A31A}"/>
              </a:ext>
            </a:extLst>
          </p:cNvPr>
          <p:cNvSpPr txBox="1"/>
          <p:nvPr>
            <p:custDataLst>
              <p:tags r:id="rId8"/>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2.</a:t>
            </a:r>
          </a:p>
        </p:txBody>
      </p:sp>
      <p:sp>
        <p:nvSpPr>
          <p:cNvPr id="11" name="TextBox 10">
            <a:hlinkClick r:id="rId21" action="ppaction://hlinksldjump"/>
            <a:extLst>
              <a:ext uri="{FF2B5EF4-FFF2-40B4-BE49-F238E27FC236}">
                <a16:creationId xmlns:a16="http://schemas.microsoft.com/office/drawing/2014/main" id="{0FB4CFEE-024D-4F54-A285-47AD80DE901F}"/>
              </a:ext>
            </a:extLst>
          </p:cNvPr>
          <p:cNvSpPr txBox="1"/>
          <p:nvPr>
            <p:custDataLst>
              <p:tags r:id="rId9"/>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17</a:t>
            </a:r>
          </a:p>
        </p:txBody>
      </p:sp>
      <p:sp>
        <p:nvSpPr>
          <p:cNvPr id="12" name="TextBox 11">
            <a:hlinkClick r:id="rId22" action="ppaction://hlinksldjump"/>
            <a:extLst>
              <a:ext uri="{FF2B5EF4-FFF2-40B4-BE49-F238E27FC236}">
                <a16:creationId xmlns:a16="http://schemas.microsoft.com/office/drawing/2014/main" id="{47AEBA11-4BF4-4692-9834-7DA21B1057B8}"/>
              </a:ext>
            </a:extLst>
          </p:cNvPr>
          <p:cNvSpPr txBox="1"/>
          <p:nvPr>
            <p:custDataLst>
              <p:tags r:id="rId10"/>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2.1</a:t>
            </a:r>
          </a:p>
        </p:txBody>
      </p:sp>
      <p:sp>
        <p:nvSpPr>
          <p:cNvPr id="13" name="TextBox 12">
            <a:hlinkClick r:id="rId23" action="ppaction://hlinksldjump"/>
            <a:extLst>
              <a:ext uri="{FF2B5EF4-FFF2-40B4-BE49-F238E27FC236}">
                <a16:creationId xmlns:a16="http://schemas.microsoft.com/office/drawing/2014/main" id="{07A72CC8-A1C6-4743-B3F6-21A2F4288A43}"/>
              </a:ext>
            </a:extLst>
          </p:cNvPr>
          <p:cNvSpPr txBox="1"/>
          <p:nvPr>
            <p:custDataLst>
              <p:tags r:id="rId11"/>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2.2</a:t>
            </a:r>
          </a:p>
        </p:txBody>
      </p:sp>
      <p:sp>
        <p:nvSpPr>
          <p:cNvPr id="14" name="TextBox 13">
            <a:hlinkClick r:id="rId24" action="ppaction://hlinksldjump"/>
            <a:extLst>
              <a:ext uri="{FF2B5EF4-FFF2-40B4-BE49-F238E27FC236}">
                <a16:creationId xmlns:a16="http://schemas.microsoft.com/office/drawing/2014/main" id="{5BDE8DED-E1A0-48F9-92FF-CABB8AE9CF36}"/>
              </a:ext>
            </a:extLst>
          </p:cNvPr>
          <p:cNvSpPr txBox="1"/>
          <p:nvPr>
            <p:custDataLst>
              <p:tags r:id="rId12"/>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2.3</a:t>
            </a:r>
          </a:p>
        </p:txBody>
      </p:sp>
      <p:sp>
        <p:nvSpPr>
          <p:cNvPr id="15" name="TextBox 14">
            <a:hlinkClick r:id="rId25" action="ppaction://hlinksldjump"/>
            <a:extLst>
              <a:ext uri="{FF2B5EF4-FFF2-40B4-BE49-F238E27FC236}">
                <a16:creationId xmlns:a16="http://schemas.microsoft.com/office/drawing/2014/main" id="{E5B0AC83-E6C3-4C06-8E68-B8C990EE81B2}"/>
              </a:ext>
            </a:extLst>
          </p:cNvPr>
          <p:cNvSpPr txBox="1"/>
          <p:nvPr>
            <p:custDataLst>
              <p:tags r:id="rId13"/>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2.4</a:t>
            </a:r>
          </a:p>
        </p:txBody>
      </p:sp>
      <p:sp>
        <p:nvSpPr>
          <p:cNvPr id="16" name="TextBox 15">
            <a:hlinkClick r:id="rId26" action="ppaction://hlinksldjump"/>
            <a:extLst>
              <a:ext uri="{FF2B5EF4-FFF2-40B4-BE49-F238E27FC236}">
                <a16:creationId xmlns:a16="http://schemas.microsoft.com/office/drawing/2014/main" id="{BF4496B4-4499-49F3-8DA4-E30907040009}"/>
              </a:ext>
            </a:extLst>
          </p:cNvPr>
          <p:cNvSpPr txBox="1"/>
          <p:nvPr>
            <p:custDataLst>
              <p:tags r:id="rId14"/>
            </p:custDataLst>
          </p:nvPr>
        </p:nvSpPr>
        <p:spPr bwMode="auto">
          <a:xfrm>
            <a:off x="1303409" y="4924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2.5</a:t>
            </a:r>
          </a:p>
        </p:txBody>
      </p:sp>
      <p:sp>
        <p:nvSpPr>
          <p:cNvPr id="17" name="TextBox 16">
            <a:hlinkClick r:id="rId22" action="ppaction://hlinksldjump"/>
            <a:extLst>
              <a:ext uri="{FF2B5EF4-FFF2-40B4-BE49-F238E27FC236}">
                <a16:creationId xmlns:a16="http://schemas.microsoft.com/office/drawing/2014/main" id="{E7789258-C67B-461C-B0EC-315DC114EDCF}"/>
              </a:ext>
            </a:extLst>
          </p:cNvPr>
          <p:cNvSpPr txBox="1"/>
          <p:nvPr>
            <p:custDataLst>
              <p:tags r:id="rId15"/>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18</a:t>
            </a:r>
          </a:p>
        </p:txBody>
      </p:sp>
      <p:sp>
        <p:nvSpPr>
          <p:cNvPr id="18" name="TextBox 17">
            <a:hlinkClick r:id="rId23" action="ppaction://hlinksldjump"/>
            <a:extLst>
              <a:ext uri="{FF2B5EF4-FFF2-40B4-BE49-F238E27FC236}">
                <a16:creationId xmlns:a16="http://schemas.microsoft.com/office/drawing/2014/main" id="{9A2E0433-045A-4271-B700-DFC15CB1D84F}"/>
              </a:ext>
            </a:extLst>
          </p:cNvPr>
          <p:cNvSpPr txBox="1"/>
          <p:nvPr>
            <p:custDataLst>
              <p:tags r:id="rId16"/>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25</a:t>
            </a:r>
          </a:p>
        </p:txBody>
      </p:sp>
      <p:sp>
        <p:nvSpPr>
          <p:cNvPr id="19" name="TextBox 18">
            <a:hlinkClick r:id="rId24" action="ppaction://hlinksldjump"/>
            <a:extLst>
              <a:ext uri="{FF2B5EF4-FFF2-40B4-BE49-F238E27FC236}">
                <a16:creationId xmlns:a16="http://schemas.microsoft.com/office/drawing/2014/main" id="{00BD5B69-CE68-44C6-8C4B-979AAE46B571}"/>
              </a:ext>
            </a:extLst>
          </p:cNvPr>
          <p:cNvSpPr txBox="1"/>
          <p:nvPr>
            <p:custDataLst>
              <p:tags r:id="rId17"/>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26</a:t>
            </a:r>
          </a:p>
        </p:txBody>
      </p:sp>
      <p:sp>
        <p:nvSpPr>
          <p:cNvPr id="20" name="TextBox 19">
            <a:hlinkClick r:id="rId25" action="ppaction://hlinksldjump"/>
            <a:extLst>
              <a:ext uri="{FF2B5EF4-FFF2-40B4-BE49-F238E27FC236}">
                <a16:creationId xmlns:a16="http://schemas.microsoft.com/office/drawing/2014/main" id="{CD7E382F-D784-4F02-AB60-ABBE997A0029}"/>
              </a:ext>
            </a:extLst>
          </p:cNvPr>
          <p:cNvSpPr txBox="1"/>
          <p:nvPr>
            <p:custDataLst>
              <p:tags r:id="rId18"/>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32</a:t>
            </a:r>
          </a:p>
        </p:txBody>
      </p:sp>
      <p:sp>
        <p:nvSpPr>
          <p:cNvPr id="21" name="TextBox 20">
            <a:hlinkClick r:id="rId26" action="ppaction://hlinksldjump"/>
            <a:extLst>
              <a:ext uri="{FF2B5EF4-FFF2-40B4-BE49-F238E27FC236}">
                <a16:creationId xmlns:a16="http://schemas.microsoft.com/office/drawing/2014/main" id="{02B13224-CFBE-4BCA-8720-AF931682AB06}"/>
              </a:ext>
            </a:extLst>
          </p:cNvPr>
          <p:cNvSpPr txBox="1"/>
          <p:nvPr>
            <p:custDataLst>
              <p:tags r:id="rId19"/>
            </p:custDataLst>
          </p:nvPr>
        </p:nvSpPr>
        <p:spPr>
          <a:xfrm>
            <a:off x="7004859" y="4924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33</a:t>
            </a:r>
          </a:p>
        </p:txBody>
      </p:sp>
    </p:spTree>
    <p:custDataLst>
      <p:tags r:id="rId1"/>
    </p:custDataLst>
    <p:extLst>
      <p:ext uri="{BB962C8B-B14F-4D97-AF65-F5344CB8AC3E}">
        <p14:creationId xmlns:p14="http://schemas.microsoft.com/office/powerpoint/2010/main" val="2671633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7650" y="1334429"/>
            <a:ext cx="10188640" cy="53019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FY20-22 has been a stable period of trading driven by a ‘BAU’ approach taken by xx during Covid-19. The overall cost base appears to have been controlled successfully, with annual costs remaining reasonably stable on an underlying basis (FY21 being affected by non-recurring property costs).</a:t>
            </a:r>
            <a:endParaRPr lang="en-US" dirty="0"/>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599"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Given the significant quantum of vehicle deprecation as a cost to the business, we have sought to present both EBITDA and EBIT metrics in this report. </a:t>
            </a:r>
          </a:p>
          <a:p>
            <a:pPr lvl="1">
              <a:defRPr/>
            </a:pPr>
            <a:r>
              <a:rPr lang="en-GB" b="1" dirty="0">
                <a:solidFill>
                  <a:schemeClr val="tx2"/>
                </a:solidFill>
              </a:rPr>
              <a:t>Revenue </a:t>
            </a:r>
          </a:p>
          <a:p>
            <a:pPr lvl="1"/>
            <a:r>
              <a:rPr lang="en-GB" dirty="0"/>
              <a:t>[Target] is predominantly a vehicle hire business, with this revenue stream accounting for 62.1% of total revenue in LTM22. Hire revenue is derived predominantly from rolling spot hire contracts with the core customer base consisting of [Customer 2, Customer 3, Customer 1, Customer 4] amongst others, which in turn have been xx projects in a contractor capacity. </a:t>
            </a:r>
          </a:p>
          <a:p>
            <a:pPr lvl="1"/>
            <a:r>
              <a:rPr lang="en-GB" dirty="0"/>
              <a:t>The fleet consists of a range of 3.5 tonne, 3.5 tonne low bodied (collectively making up 62% of total fleet), 18 tonne (26.3%), 7.2 tonne- 7.5 tonne (5.1%) and other vehicles (6.6%- all at Apr-21). 18 tonne vehicles are also referred to as crash cushion vehicles as they are fitted with crash cushion technology, which is sourced from two separate suppliers - one in xx and one in xx. 3.5 tonne vehicles have historically (Apr-19-Apr-21) made up between 56.1% to 62.0% of the total fleet</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9" name="Picture 8">
            <a:extLst>
              <a:ext uri="{FF2B5EF4-FFF2-40B4-BE49-F238E27FC236}">
                <a16:creationId xmlns:a16="http://schemas.microsoft.com/office/drawing/2014/main" id="{FAE6FFD1-1AEA-4F2F-A63D-199A40271E2B}"/>
              </a:ext>
            </a:extLst>
          </p:cNvPr>
          <p:cNvPicPr>
            <a:picLocks noChangeAspect="1"/>
          </p:cNvPicPr>
          <p:nvPr>
            <p:custDataLst>
              <p:tags r:id="rId5"/>
            </p:custDataLst>
          </p:nvPr>
        </p:nvPicPr>
        <p:blipFill>
          <a:blip r:embed="rId8"/>
          <a:stretch>
            <a:fillRect/>
          </a:stretch>
        </p:blipFill>
        <p:spPr>
          <a:xfrm>
            <a:off x="992189" y="1910541"/>
            <a:ext cx="3243937" cy="3857811"/>
          </a:xfrm>
          <a:prstGeom prst="rect">
            <a:avLst/>
          </a:prstGeom>
        </p:spPr>
      </p:pic>
      <p:sp>
        <p:nvSpPr>
          <p:cNvPr id="35" name="Text Placeholder 48">
            <a:extLst>
              <a:ext uri="{FF2B5EF4-FFF2-40B4-BE49-F238E27FC236}">
                <a16:creationId xmlns:a16="http://schemas.microsoft.com/office/drawing/2014/main" id="{AFA3E495-EC2F-47AD-ADBA-A1EEF3864FE3}"/>
              </a:ext>
            </a:extLst>
          </p:cNvPr>
          <p:cNvSpPr txBox="1">
            <a:spLocks/>
          </p:cNvSpPr>
          <p:nvPr/>
        </p:nvSpPr>
        <p:spPr>
          <a:xfrm>
            <a:off x="8067813"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and the demand for these vehicles continues to grow driven by industry practices and less stringent licencing requirements. Whilst 3.5 tonne vehicles generally generate a lower weekly rental (£175 per vehicle), 18 tonne vehicles which make up the second largest component of the fleet generate a much higher rental of £550 per vehicle and have supplemented the lower rentals of 3.5 tonne vehicles, with average rentals per week remaining broadly flat at £275 per vehicle (FY20-LTM22).</a:t>
            </a:r>
          </a:p>
          <a:p>
            <a:pPr lvl="1"/>
            <a:r>
              <a:rPr lang="en-GB" dirty="0"/>
              <a:t>We have not been provided with revenue, gross profit or utilisation rates by vehicle type across the Historical Period. However, historical vehicle utilisation across the fleet overall has averaged around 95% across FY20-22. Hire revenue is reported separately in the accounts from other recharges to hire customers for damages, repairs or other costs (these are reported in Miscellaneous sales). </a:t>
            </a:r>
          </a:p>
          <a:p>
            <a:pPr lvl="1"/>
            <a:r>
              <a:rPr lang="en-GB" dirty="0"/>
              <a:t>Other revenue streams include new vehicle sales and crash cushion sales amongst others, albeit these have historically been largely supplemental to vehicle hire – albeit new vehicle sales have been an important driver of revenue growth, in FY22 in particular - see later in the report for further detail.</a:t>
            </a:r>
          </a:p>
        </p:txBody>
      </p:sp>
      <p:grpSp>
        <p:nvGrpSpPr>
          <p:cNvPr id="8" name="Group 7">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3"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0"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558056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Cost base</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9354" y="1334558"/>
            <a:ext cx="10184646" cy="417646"/>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FY20-22 has been a stable period of trading driven by a ‘BAU’ approach taken by xx during Covid-19. The overall cost base appears to have been controlled successfully, with annual costs remaining reasonably stable on an underlying basis (FY21 being affected by non-recurring property costs).</a:t>
            </a:r>
            <a:endParaRPr lang="en-US" dirty="0"/>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599" y="2223113"/>
            <a:ext cx="6404721"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Costs of sales consist mainly of repair work on the hire fleet as well as cost of stock purchased for resale (</a:t>
            </a:r>
            <a:r>
              <a:rPr lang="en-GB" dirty="0" err="1"/>
              <a:t>eg</a:t>
            </a:r>
            <a:r>
              <a:rPr lang="en-GB" dirty="0"/>
              <a:t> crash cushions). [Target] uses a range of garages for repairs as well as more recently utilising own technicians for repair works on third party vehicles. </a:t>
            </a:r>
          </a:p>
          <a:p>
            <a:pPr lvl="1"/>
            <a:r>
              <a:rPr lang="en-GB" dirty="0"/>
              <a:t>Most revenue streams are not fully loaded with labour costs, instead labour costs of technicians are recognised in overheads as their roles include working across a number of revenue streams and their time is not tracked by way of timesheets. Please see supporting analysis for breakdowns of costs of sales and overheads. </a:t>
            </a:r>
          </a:p>
          <a:p>
            <a:pPr lvl="4"/>
            <a:endParaRPr lang="en-US"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941BE4BE-50F6-423B-8150-848B91EEC6C5}"/>
              </a:ext>
            </a:extLst>
          </p:cNvPr>
          <p:cNvPicPr>
            <a:picLocks noChangeAspect="1"/>
          </p:cNvPicPr>
          <p:nvPr>
            <p:custDataLst>
              <p:tags r:id="rId5"/>
            </p:custDataLst>
          </p:nvPr>
        </p:nvPicPr>
        <p:blipFill>
          <a:blip r:embed="rId8"/>
          <a:stretch>
            <a:fillRect/>
          </a:stretch>
        </p:blipFill>
        <p:spPr>
          <a:xfrm>
            <a:off x="1001681" y="1912838"/>
            <a:ext cx="3243937" cy="3857811"/>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203359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Quality of earnings</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Management’s 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9354" y="133366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Reported EBIT of £1.2 million in FY22 compares with £1.4 million on an underlying basis with most significant adjustment relating to the removal of family related costs (which are not expected to recur post the transaction), totalling £171,000, as well as the removal of director remuneration (£68,000), offset by replacement costs of [Shareholder 1] £(125,000).</a:t>
            </a:r>
          </a:p>
          <a:p>
            <a:r>
              <a:rPr lang="en-US" dirty="0"/>
              <a:t>.</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lgn="l">
              <a:spcAft>
                <a:spcPts val="600"/>
              </a:spcAft>
              <a:buAutoNum type="arabicPeriod"/>
            </a:pPr>
            <a:r>
              <a:rPr lang="en-GB" sz="1000" b="0" dirty="0"/>
              <a:t>In FY20 [Target] engaged external consultants, [Consultant 1] relating to heath &amp; safety actions. In FY22 [Target] engaged [VDD advisor[ to lead the sales process. Given these costs are non-recurring, the removal of these from underlying earnings appears reasonable. Management confirmed there are no accruals for these costs, as such there should be a limited NWC impact arising from this adjustment (i.e. costs were paid when invoiced).</a:t>
            </a:r>
          </a:p>
          <a:p>
            <a:pPr marL="228600" indent="-228600">
              <a:spcAft>
                <a:spcPts val="600"/>
              </a:spcAft>
              <a:buFontTx/>
              <a:buAutoNum type="arabicPeriod"/>
            </a:pPr>
            <a:r>
              <a:rPr lang="en-GB" sz="1000" b="0" dirty="0"/>
              <a:t>In Mar-21 [Target] moved from previous premises at [Location 4] to a new facility at [Location 1], leased from a related party, [Landlord 1](a company owned by the director and shareholders) on a 5 year lease commencing Mar-21. Across the period from Sep-20 to Apr-21 [Target] incurred £253,000 of costs for the new property comprising mechanical and heating systems repairs, replacement of walls and ceilings, other electrical repairs (most of these taking place in Sep-20 and amounting to £186,000) as well as well other equipment costs (expensed across</a:t>
            </a:r>
            <a:endParaRPr lang="en-US" b="0" dirty="0"/>
          </a:p>
        </p:txBody>
      </p:sp>
      <p:sp>
        <p:nvSpPr>
          <p:cNvPr id="22" name="Text Placeholder 48">
            <a:extLst>
              <a:ext uri="{FF2B5EF4-FFF2-40B4-BE49-F238E27FC236}">
                <a16:creationId xmlns:a16="http://schemas.microsoft.com/office/drawing/2014/main" id="{AEE261E0-85FF-3208-2DF9-1062C335829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34000" lvl="3" indent="0">
              <a:buNone/>
            </a:pPr>
            <a:r>
              <a:rPr lang="en-GB" b="0" dirty="0"/>
              <a:t>Sep-20-Apr-21 amounting to £67,000). Management informed us that these costs reflect [Target]’s share of the repair costs, with a portion of total repair costs borne by the related party landlord. . Management has informed us there is no NWC impact of these add backs, however there appear to be some refurbishment costs prepayments recognised at Apr-20. Given these costs were mostly expensed in FY21, in the absence of monthly information we have not been able to adjust NWC for these</a:t>
            </a:r>
            <a:endParaRPr lang="en-GB" dirty="0"/>
          </a:p>
          <a:p>
            <a:pPr marL="228600" lvl="1" indent="-228600">
              <a:buFont typeface="+mj-lt"/>
              <a:buAutoNum type="arabicPeriod" startAt="3"/>
            </a:pPr>
            <a:r>
              <a:rPr lang="en-GB" dirty="0"/>
              <a:t>In Aug-19 (FY20) [Target] recognised a loss on disposal of the property at [Location 4] which was used as headquarters prior to the move to [Location 1]. Given this disposal is not a recurring feature of the business, the removal of the losses made on this disposal from underlying earnings appears reasonable. There is no NWC impact of this adjustment.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2">
            <a:extLst>
              <a:ext uri="{FF2B5EF4-FFF2-40B4-BE49-F238E27FC236}">
                <a16:creationId xmlns:a16="http://schemas.microsoft.com/office/drawing/2014/main" id="{B19D3B33-7E4C-2D69-CC43-419FC7E4738D}"/>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632FD993-4467-400C-BAAC-2F5D450F89BE}"/>
              </a:ext>
            </a:extLst>
          </p:cNvPr>
          <p:cNvPicPr>
            <a:picLocks noChangeAspect="1"/>
          </p:cNvPicPr>
          <p:nvPr>
            <p:custDataLst>
              <p:tags r:id="rId5"/>
            </p:custDataLst>
          </p:nvPr>
        </p:nvPicPr>
        <p:blipFill>
          <a:blip r:embed="rId8"/>
          <a:stretch>
            <a:fillRect/>
          </a:stretch>
        </p:blipFill>
        <p:spPr>
          <a:xfrm>
            <a:off x="995121" y="1912838"/>
            <a:ext cx="3422650" cy="2914134"/>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04681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Quality of earnings</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Management’s 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9354" y="1331840"/>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Reported EBIT of £1.2 million in FY22 compares with £1.4 million on an underlying basis with most significant adjustment relating to the removal of family related costs (which are not expected to recur post the transaction), totalling £171,000, as well as the removal of director remuneration (£68,000), offset by replacement costs of [Shareholder 1] £(125,000).</a:t>
            </a:r>
          </a:p>
          <a:p>
            <a:r>
              <a:rPr lang="en-US" dirty="0"/>
              <a:t>.</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lgn="l">
              <a:spcAft>
                <a:spcPts val="600"/>
              </a:spcAft>
              <a:buFont typeface="+mj-lt"/>
              <a:buAutoNum type="arabicPeriod" startAt="4"/>
            </a:pPr>
            <a:r>
              <a:rPr lang="en-GB" sz="1000" b="0" dirty="0"/>
              <a:t>The Vendors have added back family-related costs expensed through the P&amp;L, comprising payroll costs of five family members who do not routinely work in the business (remuneration of Joint MDs [Shareholder 1] and [Shareholder 2] has been considered separately- see adjustment 5), additional dividends paid to [Shareholder 3] by way of rent, cars used by family members as well as other ad-hoc expenditure. Management informed us that these costs are considered non-recurring and that these individuals do not hold active roles in the business which will need to be replaced. Management has confirmed there is no NWC impact of these add backs</a:t>
            </a:r>
            <a:r>
              <a:rPr lang="en-GB" b="0" dirty="0"/>
              <a:t>. </a:t>
            </a:r>
          </a:p>
          <a:p>
            <a:pPr marL="228600" indent="-228600" algn="l">
              <a:spcAft>
                <a:spcPts val="600"/>
              </a:spcAft>
              <a:buAutoNum type="arabicPeriod" startAt="4"/>
            </a:pPr>
            <a:endParaRPr lang="en-US" b="0" dirty="0"/>
          </a:p>
        </p:txBody>
      </p:sp>
      <p:sp>
        <p:nvSpPr>
          <p:cNvPr id="22" name="Text Placeholder 48">
            <a:extLst>
              <a:ext uri="{FF2B5EF4-FFF2-40B4-BE49-F238E27FC236}">
                <a16:creationId xmlns:a16="http://schemas.microsoft.com/office/drawing/2014/main" id="{AEE261E0-85FF-3208-2DF9-1062C335829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5"/>
            </a:pPr>
            <a:r>
              <a:rPr lang="en-GB" sz="1000" b="0" dirty="0"/>
              <a:t>Shareholder remuneration &amp; MD market salary – The add back relates to the remuneration taken by joint MDs and shareholders [Shareholder 2] and [Shareholder 1] totalling £88,000 per annum, offset by a notional MD replacement costs of £125,000. We note that joint MDs also get remunerated by way of dividends (however as these do not get expensed from P&amp;L, the adjustment does not add back these costs). We note this add back is in line with the terms of the offer letter which stipulated that one MD will be retained for a period of 12 months. The notional MD costs of £125,000 appear to be broadly in line with FY21 total remuneration package (including dividends) paid to each of these individuals. See appendices for details of Management remuneration. Consideration will need to be given to adjusting this item subject to any deviation in packages agreed going forward. Management has informed us there is no NWC impact of these add backs</a:t>
            </a:r>
            <a:endParaRPr lang="en-GB"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2">
            <a:extLst>
              <a:ext uri="{FF2B5EF4-FFF2-40B4-BE49-F238E27FC236}">
                <a16:creationId xmlns:a16="http://schemas.microsoft.com/office/drawing/2014/main" id="{B19D3B33-7E4C-2D69-CC43-419FC7E4738D}"/>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4E79FE4A-4FC5-4A7B-8AC8-632813B887E2}"/>
              </a:ext>
            </a:extLst>
          </p:cNvPr>
          <p:cNvPicPr>
            <a:picLocks noChangeAspect="1"/>
          </p:cNvPicPr>
          <p:nvPr>
            <p:custDataLst>
              <p:tags r:id="rId5"/>
            </p:custDataLst>
          </p:nvPr>
        </p:nvPicPr>
        <p:blipFill>
          <a:blip r:embed="rId8"/>
          <a:stretch>
            <a:fillRect/>
          </a:stretch>
        </p:blipFill>
        <p:spPr>
          <a:xfrm>
            <a:off x="995121" y="1912838"/>
            <a:ext cx="3422650" cy="2914134"/>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64560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Quality of earnings</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Management’s 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1000521" y="1332280"/>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Management estimates that an above market rate for this property has been paid at [Location 1], resulting in a proposed adjustment of £23,000 to remove the excess rent paid and bring it in line with the deemed ‘market rate’ of £85,000. To the extent your negotiations result in a rent exceeding £85,000, the value of the add back to underlying earnings should be reduced accordingly. </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lgn="l">
              <a:spcAft>
                <a:spcPts val="600"/>
              </a:spcAft>
              <a:buFont typeface="+mj-lt"/>
              <a:buAutoNum type="arabicPeriod" startAt="6"/>
            </a:pPr>
            <a:r>
              <a:rPr lang="en-GB" b="0" dirty="0"/>
              <a:t>The Vendors have proposed to add back between £20,000- £30,000 of costs to underlying earnings in relation to the premises at [Location 1]. We understand [Location 1] is leased from [Landlord 1]at an monthly rent of £9,000 per month or £108,000 per annum, whilst the market rate stipulated in the rental agreement provides for a market rate of £85,000, resulting in a £23,000 cost add back in FY21 (and FY22) and £32,000 in FY20. We have been informed however that it is the joint parties’ intention to renegotiate the terms of the current rental agreement for [Location 1]. As the purpose of the adjustment is to reflect an ongoing rental cost to the business, to the extent the rental costs stipulated in this new agreement exceed the ‘market rate’ benchmark used by the vendors, the value of this adjustment should be reduced by the same amount. Given the post deal rent profile is subject to negotiations, we have not proposed to adjust NWC for this. </a:t>
            </a:r>
          </a:p>
          <a:p>
            <a:pPr marL="228600" indent="-228600" algn="l">
              <a:spcAft>
                <a:spcPts val="600"/>
              </a:spcAft>
              <a:buAutoNum type="arabicPeriod" startAt="6"/>
            </a:pPr>
            <a:endParaRPr lang="en-US" b="0" dirty="0"/>
          </a:p>
        </p:txBody>
      </p:sp>
      <p:sp>
        <p:nvSpPr>
          <p:cNvPr id="22" name="Text Placeholder 48">
            <a:extLst>
              <a:ext uri="{FF2B5EF4-FFF2-40B4-BE49-F238E27FC236}">
                <a16:creationId xmlns:a16="http://schemas.microsoft.com/office/drawing/2014/main" id="{AEE261E0-85FF-3208-2DF9-1062C335829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6"/>
            </a:pPr>
            <a:endParaRPr lang="en-GB"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2">
            <a:extLst>
              <a:ext uri="{FF2B5EF4-FFF2-40B4-BE49-F238E27FC236}">
                <a16:creationId xmlns:a16="http://schemas.microsoft.com/office/drawing/2014/main" id="{B19D3B33-7E4C-2D69-CC43-419FC7E4738D}"/>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07881005-4CF1-4D57-85B2-BAA65CEE49F5}"/>
              </a:ext>
            </a:extLst>
          </p:cNvPr>
          <p:cNvPicPr>
            <a:picLocks noChangeAspect="1"/>
          </p:cNvPicPr>
          <p:nvPr>
            <p:custDataLst>
              <p:tags r:id="rId5"/>
            </p:custDataLst>
          </p:nvPr>
        </p:nvPicPr>
        <p:blipFill>
          <a:blip r:embed="rId8"/>
          <a:stretch>
            <a:fillRect/>
          </a:stretch>
        </p:blipFill>
        <p:spPr>
          <a:xfrm>
            <a:off x="995122" y="1912838"/>
            <a:ext cx="3422650" cy="2914134"/>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44733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Quality of earnings</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Other potential adjustments and considerations</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Other potential adjustments</a:t>
            </a:r>
          </a:p>
          <a:p>
            <a:pPr algn="l">
              <a:spcAft>
                <a:spcPts val="600"/>
              </a:spcAft>
            </a:pPr>
            <a:r>
              <a:rPr lang="en-GB" sz="1000" b="0" dirty="0"/>
              <a:t>During the course of our fieldwork we have identified the following adjustments:</a:t>
            </a:r>
          </a:p>
          <a:p>
            <a:pPr marL="228600" indent="-228600" algn="l">
              <a:spcAft>
                <a:spcPts val="600"/>
              </a:spcAft>
              <a:buFont typeface="+mj-lt"/>
              <a:buAutoNum type="arabicPeriod" startAt="7"/>
            </a:pPr>
            <a:r>
              <a:rPr lang="en-GB" sz="1000" b="0" dirty="0"/>
              <a:t>[Bank 1] Dowry – Reflects a one-off cash receipt from [Bank 1] paid to the Company to switch banking providers. </a:t>
            </a:r>
          </a:p>
          <a:p>
            <a:pPr marL="228600" indent="-228600" algn="l">
              <a:spcAft>
                <a:spcPts val="600"/>
              </a:spcAft>
              <a:buFont typeface="+mj-lt"/>
              <a:buAutoNum type="arabicPeriod" startAt="7"/>
            </a:pPr>
            <a:r>
              <a:rPr lang="en-GB" sz="1000" b="0" dirty="0"/>
              <a:t>This is a pro-forma adjustment for new premises at [Location 3]. The lease started in Jan-22 and is for five years at a total annual cost of £36,000. Given this appears to be a committed future cost, albeit subject to a renegotiation of a lease, we have included it as a cost in underlying earnings. </a:t>
            </a:r>
          </a:p>
          <a:p>
            <a:pPr>
              <a:defRPr/>
            </a:pPr>
            <a:r>
              <a:rPr lang="en-GB" sz="1000" dirty="0">
                <a:solidFill>
                  <a:schemeClr val="tx2"/>
                </a:solidFill>
              </a:rPr>
              <a:t>Other considerations</a:t>
            </a:r>
          </a:p>
          <a:p>
            <a:pPr algn="l">
              <a:spcAft>
                <a:spcPts val="600"/>
              </a:spcAft>
            </a:pPr>
            <a:r>
              <a:rPr lang="en-GB" sz="1000" b="0" dirty="0"/>
              <a:t>Covid-19 – Covid-19 resulted in a reduction in vehicle utilisation from an average of 94% at end of Mar-20 to an average of 84% for 5 weeks (Apr-20- May-20) driven mostly by [Customer 1] off hiring 50 vehicles for a period of five weeks (approx. impact at an average weekly hire rate of £276 per vehicle in FY20 amounts to an approximate loss of revenue of </a:t>
            </a:r>
          </a:p>
          <a:p>
            <a:pPr marL="228600" indent="-228600" algn="l">
              <a:spcAft>
                <a:spcPts val="600"/>
              </a:spcAft>
              <a:buFont typeface="+mj-lt"/>
              <a:buAutoNum type="arabicPeriod" startAt="7"/>
            </a:pPr>
            <a:endParaRPr lang="en-GB" b="0" dirty="0"/>
          </a:p>
          <a:p>
            <a:pPr marL="228600" indent="-228600" algn="l">
              <a:spcAft>
                <a:spcPts val="600"/>
              </a:spcAft>
              <a:buAutoNum type="arabicPeriod" startAt="7"/>
            </a:pPr>
            <a:endParaRPr lang="en-US" b="0" dirty="0"/>
          </a:p>
        </p:txBody>
      </p:sp>
      <p:sp>
        <p:nvSpPr>
          <p:cNvPr id="22" name="Text Placeholder 48">
            <a:extLst>
              <a:ext uri="{FF2B5EF4-FFF2-40B4-BE49-F238E27FC236}">
                <a16:creationId xmlns:a16="http://schemas.microsoft.com/office/drawing/2014/main" id="{AEE261E0-85FF-3208-2DF9-1062C335829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sz="1000" b="0" dirty="0"/>
              <a:t>£70,000). The business has, on the other hand, benefited from using the furlough scheme, as well as the receipt of grant income, savings made on road tax levy and CBILS interest savings (totalling £91,000 across numerous periods):</a:t>
            </a:r>
          </a:p>
          <a:p>
            <a:pPr marL="180000" indent="-171450" algn="l">
              <a:spcAft>
                <a:spcPts val="600"/>
              </a:spcAft>
              <a:buFont typeface="Arial" panose="020B0604020202020204" pitchFamily="34" charset="0"/>
              <a:buChar char="•"/>
            </a:pPr>
            <a:r>
              <a:rPr lang="en-GB" sz="1000" b="0" dirty="0">
                <a:solidFill>
                  <a:srgbClr val="000000"/>
                </a:solidFill>
              </a:rPr>
              <a:t>Furlough scheme – the business used the furlough scheme for two employees (one Sales Manager and one PA) for a period of one month only (Apr-20) and received minimal income of £4,000. </a:t>
            </a:r>
            <a:r>
              <a:rPr lang="en-GB" sz="1000" b="0" dirty="0"/>
              <a:t>	</a:t>
            </a:r>
          </a:p>
          <a:p>
            <a:pPr lvl="2">
              <a:defRPr/>
            </a:pPr>
            <a:r>
              <a:rPr lang="en-GB" dirty="0">
                <a:solidFill>
                  <a:srgbClr val="000000"/>
                </a:solidFill>
              </a:rPr>
              <a:t>Grant – the business received a grant to cover the cost of rates in Apr-20 (£10,000). Management note this is a one-off payment and there are no remaining terms attached.</a:t>
            </a:r>
          </a:p>
          <a:p>
            <a:pPr marL="0" lvl="2" indent="0">
              <a:buNone/>
              <a:defRPr/>
            </a:pPr>
            <a:r>
              <a:rPr lang="en-GB" sz="1000" b="0" dirty="0"/>
              <a:t>Road tax levy savings – [Target] received a yearly levy charge saving of £315 per crash cushion vehicle for a period from Aug-20 to Jul-22 totalling £59,000 (£22,000 – FY21, £29,000- FY22 and £7,000 in FY23). We have not included these given they relate to Covid-19 and we have not sought to fully adjust earnings for the impact of Covid. Consideration could be given to including the £29,000 receipt in FY22 as an adjustment, given the improvement in performance in that year.</a:t>
            </a:r>
            <a:endParaRPr lang="en-GB" dirty="0">
              <a:solidFill>
                <a:srgbClr val="000000"/>
              </a:solidFill>
            </a:endParaRPr>
          </a:p>
          <a:p>
            <a:pPr lvl="1"/>
            <a:endParaRPr lang="en-GB" sz="1000" b="0" dirty="0"/>
          </a:p>
          <a:p>
            <a:pPr marL="228600" lvl="1" indent="-228600">
              <a:buFont typeface="+mj-lt"/>
              <a:buAutoNum type="arabicPeriod" startAt="3"/>
            </a:pPr>
            <a:endParaRPr lang="en-GB"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2">
            <a:extLst>
              <a:ext uri="{FF2B5EF4-FFF2-40B4-BE49-F238E27FC236}">
                <a16:creationId xmlns:a16="http://schemas.microsoft.com/office/drawing/2014/main" id="{B19D3B33-7E4C-2D69-CC43-419FC7E4738D}"/>
              </a:ext>
            </a:extLst>
          </p:cNvPr>
          <p:cNvSpPr txBox="1">
            <a:spLocks/>
          </p:cNvSpPr>
          <p:nvPr/>
        </p:nvSpPr>
        <p:spPr>
          <a:xfrm>
            <a:off x="995121" y="5880926"/>
            <a:ext cx="10195200"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C618D0FF-F8FC-4314-A45F-9495D0A84BB8}"/>
              </a:ext>
            </a:extLst>
          </p:cNvPr>
          <p:cNvPicPr>
            <a:picLocks noChangeAspect="1"/>
          </p:cNvPicPr>
          <p:nvPr>
            <p:custDataLst>
              <p:tags r:id="rId5"/>
            </p:custDataLst>
          </p:nvPr>
        </p:nvPicPr>
        <p:blipFill>
          <a:blip r:embed="rId8"/>
          <a:stretch>
            <a:fillRect/>
          </a:stretch>
        </p:blipFill>
        <p:spPr>
          <a:xfrm>
            <a:off x="995122" y="1912838"/>
            <a:ext cx="3422650" cy="2914134"/>
          </a:xfrm>
          <a:prstGeom prst="rect">
            <a:avLst/>
          </a:prstGeom>
        </p:spPr>
      </p:pic>
      <p:sp>
        <p:nvSpPr>
          <p:cNvPr id="28" name="TextBox 27">
            <a:extLst>
              <a:ext uri="{FF2B5EF4-FFF2-40B4-BE49-F238E27FC236}">
                <a16:creationId xmlns:a16="http://schemas.microsoft.com/office/drawing/2014/main" id="{E7E41588-6669-4E37-A454-FFD497428602}"/>
              </a:ext>
            </a:extLst>
          </p:cNvPr>
          <p:cNvSpPr txBox="1"/>
          <p:nvPr/>
        </p:nvSpPr>
        <p:spPr>
          <a:xfrm>
            <a:off x="3474427" y="3244334"/>
            <a:ext cx="6948854" cy="369332"/>
          </a:xfrm>
          <a:prstGeom prst="rect">
            <a:avLst/>
          </a:prstGeom>
          <a:noFill/>
        </p:spPr>
        <p:txBody>
          <a:bodyPr wrap="square">
            <a:spAutoFit/>
          </a:bodyPr>
          <a:lstStyle/>
          <a:p>
            <a:pPr marL="228600" indent="-228600" algn="l">
              <a:spcAft>
                <a:spcPts val="600"/>
              </a:spcAft>
              <a:buAutoNum type="arabicPeriod"/>
            </a:pPr>
            <a:endParaRPr lang="en-US" b="0" dirty="0"/>
          </a:p>
        </p:txBody>
      </p:sp>
      <p:sp>
        <p:nvSpPr>
          <p:cNvPr id="39" name="Text Placeholder 11">
            <a:extLst>
              <a:ext uri="{FF2B5EF4-FFF2-40B4-BE49-F238E27FC236}">
                <a16:creationId xmlns:a16="http://schemas.microsoft.com/office/drawing/2014/main" id="{6F89EB41-EE8D-4E69-B5D4-F6D9DF2F4BC0}"/>
              </a:ext>
            </a:extLst>
          </p:cNvPr>
          <p:cNvSpPr txBox="1">
            <a:spLocks/>
          </p:cNvSpPr>
          <p:nvPr/>
        </p:nvSpPr>
        <p:spPr>
          <a:xfrm>
            <a:off x="991200" y="1319677"/>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Trading performance was not significantly impacted by Covid-19 in FY20 or other periods. The reduction in sales has been offset through the recognition of CJRS income, grant income, road levy savings and CBILs interest cover. We have not sought to adjust earnings for these items.</a:t>
            </a:r>
          </a:p>
        </p:txBody>
      </p:sp>
      <p:grpSp>
        <p:nvGrpSpPr>
          <p:cNvPr id="34" name="Group 33">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5"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7"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8"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4"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5"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2892160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Quality of earnings</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Other potential adjustments and considerations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1200" y="1319677"/>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Trading performance was not significantly impacted by Covid-19 in FY20 or other periods. The reduction in sales has been offset through the recognition of CJRS income, grant income, road levy savings and CBILs interest cover. We have not sought to adjust earnings for these items.</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GB" sz="900" b="0" dirty="0"/>
              <a:t>xx [Bank 2] Agreement – the business took advantage of the CBILS loan scheme with xx Government having covered upfront 12 months of interest cost in relation to specific agreements, recognising a total receipt of £18,000 in Apr-21 and May-21 as revenue, whilst the equivalent cost has been spread over a 12 month period until a full saving had been expensed. </a:t>
            </a:r>
          </a:p>
          <a:p>
            <a:pPr algn="l">
              <a:spcAft>
                <a:spcPts val="600"/>
              </a:spcAft>
            </a:pPr>
            <a:r>
              <a:rPr lang="en-GB" sz="900" b="0" dirty="0"/>
              <a:t>The loss of income and benefits associated with the above mentioned support mechanisms are classified within reported and adjusted EBITDA. We have not sought to adjust earnings for the impact of Covid-19 as the support received offsets the loss of revenues. </a:t>
            </a:r>
          </a:p>
          <a:p>
            <a:pPr algn="l">
              <a:spcAft>
                <a:spcPts val="600"/>
              </a:spcAft>
            </a:pPr>
            <a:r>
              <a:rPr lang="en-GB" sz="900" b="0" dirty="0"/>
              <a:t>Profit/loss on disposal of aged assets – In addition to the sale of new vehicles (recognised within gross profit), the business also sells aged fleet, recognising profits/ losses on disposals of these vehicles within overheads (and therefore included in EBITDA). Whilst the loss on disposal of [Location 4](£73,000 in FY20) has been adjusted out of EBITDA, the other profits/losses in disposal are recognised within underlying EBITDA. </a:t>
            </a:r>
          </a:p>
          <a:p>
            <a:pPr algn="l">
              <a:spcAft>
                <a:spcPts val="600"/>
              </a:spcAft>
            </a:pPr>
            <a:endParaRPr lang="en-US" b="0" dirty="0"/>
          </a:p>
        </p:txBody>
      </p:sp>
      <p:sp>
        <p:nvSpPr>
          <p:cNvPr id="22" name="Text Placeholder 48">
            <a:extLst>
              <a:ext uri="{FF2B5EF4-FFF2-40B4-BE49-F238E27FC236}">
                <a16:creationId xmlns:a16="http://schemas.microsoft.com/office/drawing/2014/main" id="{AEE261E0-85FF-3208-2DF9-1062C335829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600"/>
              </a:spcAft>
              <a:buClr>
                <a:schemeClr val="tx2"/>
              </a:buClr>
            </a:pPr>
            <a:r>
              <a:rPr lang="en-GB" sz="1000" b="0" dirty="0">
                <a:solidFill>
                  <a:schemeClr val="tx1"/>
                </a:solidFill>
              </a:rPr>
              <a:t>There may, however, be argument for normalising profits on disposal in </a:t>
            </a:r>
            <a:r>
              <a:rPr lang="en-GB" sz="1000" b="0" dirty="0"/>
              <a:t>FY</a:t>
            </a:r>
            <a:r>
              <a:rPr lang="en-GB" sz="1000" b="0" dirty="0">
                <a:solidFill>
                  <a:schemeClr val="tx1"/>
                </a:solidFill>
              </a:rPr>
              <a:t>22 as these have been slightly higher compared to FY20-FY21 and are most likely inflated by high used vehicle pricing in the market, which may not be sustained going forward as lead times on new vehicles reduce. </a:t>
            </a:r>
          </a:p>
          <a:p>
            <a:pPr algn="l">
              <a:spcAft>
                <a:spcPts val="600"/>
              </a:spcAft>
              <a:buClr>
                <a:schemeClr val="tx2"/>
              </a:buClr>
            </a:pPr>
            <a:r>
              <a:rPr lang="en-GB" sz="1000" b="0" dirty="0">
                <a:solidFill>
                  <a:schemeClr val="tx1"/>
                </a:solidFill>
              </a:rPr>
              <a:t>However, we note that disposing of used vehicles is an ongoing feature of the business, particularly once maintenance costs start increasing, and an adjustment to exclude all such profits may be overly harsh</a:t>
            </a:r>
            <a:r>
              <a:rPr lang="en-GB" sz="1000" dirty="0"/>
              <a:t>. </a:t>
            </a:r>
            <a:r>
              <a:rPr lang="en-GB" sz="1000" b="0" dirty="0"/>
              <a:t>We have therefore not proposed an adjustment to earnings</a:t>
            </a:r>
          </a:p>
          <a:p>
            <a:pPr marL="228600" lvl="1" indent="-228600">
              <a:buFont typeface="+mj-lt"/>
              <a:buAutoNum type="arabicPeriod" startAt="3"/>
            </a:pPr>
            <a:endParaRPr lang="en-GB"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3" name="Text Placeholder 12">
            <a:extLst>
              <a:ext uri="{FF2B5EF4-FFF2-40B4-BE49-F238E27FC236}">
                <a16:creationId xmlns:a16="http://schemas.microsoft.com/office/drawing/2014/main" id="{B19D3B33-7E4C-2D69-CC43-419FC7E4738D}"/>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EFC5793D-0A6C-45DB-8C18-AF30802C06F3}"/>
              </a:ext>
            </a:extLst>
          </p:cNvPr>
          <p:cNvPicPr>
            <a:picLocks noChangeAspect="1"/>
          </p:cNvPicPr>
          <p:nvPr>
            <p:custDataLst>
              <p:tags r:id="rId5"/>
            </p:custDataLst>
          </p:nvPr>
        </p:nvPicPr>
        <p:blipFill>
          <a:blip r:embed="rId8"/>
          <a:stretch>
            <a:fillRect/>
          </a:stretch>
        </p:blipFill>
        <p:spPr>
          <a:xfrm>
            <a:off x="995122" y="1912838"/>
            <a:ext cx="3422650" cy="2914134"/>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459844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Revenue bridge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Revenue and EBITDA bridge</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The majority of the FY20-22 increase in revenue came from other revenue streams as opposed to vehicle hire which represented £0.2 million of the total movement (driven by the a recovery in vehicle utilisation rates from 92.5% to 95.3%). This has been offset by a 5.5ppts decrease in gross margin %, reflecting the mix shift (as other revenue streams are margin dilutive – whilst new vehicle sales have supported much of the revenue growth these have been at a low margin). </a:t>
            </a:r>
            <a:endParaRPr lang="en-US" dirty="0"/>
          </a:p>
        </p:txBody>
      </p:sp>
      <p:sp>
        <p:nvSpPr>
          <p:cNvPr id="106" name="Text Placeholder 25">
            <a:extLst>
              <a:ext uri="{FF2B5EF4-FFF2-40B4-BE49-F238E27FC236}">
                <a16:creationId xmlns:a16="http://schemas.microsoft.com/office/drawing/2014/main" id="{52178562-6DF0-B95D-228E-F6C03AB70895}"/>
              </a:ext>
            </a:extLst>
          </p:cNvPr>
          <p:cNvSpPr txBox="1">
            <a:spLocks/>
          </p:cNvSpPr>
          <p:nvPr/>
        </p:nvSpPr>
        <p:spPr>
          <a:xfrm>
            <a:off x="998262" y="1912838"/>
            <a:ext cx="10192298"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bridge FY20-FY22</a:t>
            </a:r>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C49807B3-D46F-44ED-0412-D25B99CF5791}"/>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13" name="Picture 12">
            <a:extLst>
              <a:ext uri="{FF2B5EF4-FFF2-40B4-BE49-F238E27FC236}">
                <a16:creationId xmlns:a16="http://schemas.microsoft.com/office/drawing/2014/main" id="{088AA4D7-D81A-4486-8AF0-9369A0FC7180}"/>
              </a:ext>
            </a:extLst>
          </p:cNvPr>
          <p:cNvPicPr>
            <a:picLocks noChangeAspect="1"/>
          </p:cNvPicPr>
          <p:nvPr>
            <p:custDataLst>
              <p:tags r:id="rId3"/>
            </p:custDataLst>
          </p:nvPr>
        </p:nvPicPr>
        <p:blipFill>
          <a:blip r:embed="rId6"/>
          <a:stretch>
            <a:fillRect/>
          </a:stretch>
        </p:blipFill>
        <p:spPr>
          <a:xfrm>
            <a:off x="842873" y="2715266"/>
            <a:ext cx="10356940" cy="2429288"/>
          </a:xfrm>
          <a:prstGeom prst="rect">
            <a:avLst/>
          </a:prstGeom>
        </p:spPr>
      </p:pic>
      <p:grpSp>
        <p:nvGrpSpPr>
          <p:cNvPr id="29" name="Group 28">
            <a:extLst>
              <a:ext uri="{FF2B5EF4-FFF2-40B4-BE49-F238E27FC236}">
                <a16:creationId xmlns:a16="http://schemas.microsoft.com/office/drawing/2014/main" id="{CE414DB1-9CCC-4F2F-8A9E-597F28901E4A}"/>
              </a:ext>
            </a:extLst>
          </p:cNvPr>
          <p:cNvGrpSpPr/>
          <p:nvPr>
            <p:custDataLst>
              <p:tags r:id="rId4"/>
            </p:custDataLst>
          </p:nvPr>
        </p:nvGrpSpPr>
        <p:grpSpPr>
          <a:xfrm>
            <a:off x="995364" y="153170"/>
            <a:ext cx="6253254" cy="195814"/>
            <a:chOff x="995364" y="153170"/>
            <a:chExt cx="6253254" cy="195814"/>
          </a:xfrm>
        </p:grpSpPr>
        <p:sp>
          <p:nvSpPr>
            <p:cNvPr id="30"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Current Section2">
              <a:hlinkClick r:id="rId8"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7"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27670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Revenue streams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streams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In FY22 vehicle hire made up 61.5% of total revenue. From FY20 to FY22 utilisation improved 2.8 ppts to 95.3%, driven by the re-hire of vehicles off-hired due to Covid-19. This and the increase in the fleet size accounts for £0.2 million of revenue growth. Forecast growth of £1.1 million is driven by the expansion of the vehicle fleet whilst both average weekly rentals and utilisation have been assumed broadly in line with FY22.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8" name="Picture 7">
            <a:extLst>
              <a:ext uri="{FF2B5EF4-FFF2-40B4-BE49-F238E27FC236}">
                <a16:creationId xmlns:a16="http://schemas.microsoft.com/office/drawing/2014/main" id="{5B1A707F-F830-426F-90FF-E90DD7872C63}"/>
              </a:ext>
            </a:extLst>
          </p:cNvPr>
          <p:cNvPicPr>
            <a:picLocks noChangeAspect="1"/>
          </p:cNvPicPr>
          <p:nvPr>
            <p:custDataLst>
              <p:tags r:id="rId4"/>
            </p:custDataLst>
          </p:nvPr>
        </p:nvPicPr>
        <p:blipFill>
          <a:blip r:embed="rId7"/>
          <a:stretch>
            <a:fillRect/>
          </a:stretch>
        </p:blipFill>
        <p:spPr>
          <a:xfrm>
            <a:off x="1001680" y="1912840"/>
            <a:ext cx="3422650" cy="3223643"/>
          </a:xfrm>
          <a:prstGeom prst="rect">
            <a:avLst/>
          </a:prstGeom>
        </p:spPr>
      </p:pic>
      <p:sp>
        <p:nvSpPr>
          <p:cNvPr id="40" name="Text Placeholder 48">
            <a:extLst>
              <a:ext uri="{FF2B5EF4-FFF2-40B4-BE49-F238E27FC236}">
                <a16:creationId xmlns:a16="http://schemas.microsoft.com/office/drawing/2014/main" id="{2D475A2B-0503-4950-98E1-B1C7C8977D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chemeClr val="tx2"/>
                </a:solidFill>
              </a:rPr>
              <a:t>Vehicle hire </a:t>
            </a:r>
            <a:endParaRPr lang="en-GB" b="0" dirty="0"/>
          </a:p>
          <a:p>
            <a:pPr lvl="1">
              <a:defRPr/>
            </a:pPr>
            <a:r>
              <a:rPr lang="en-GB" dirty="0">
                <a:solidFill>
                  <a:srgbClr val="000000"/>
                </a:solidFill>
              </a:rPr>
              <a:t>Contracts for vehicle hire are agreed on a spot basis with rates calculated based upon vehicle type and indicative length of contract as notified by the customer. Once the initial rental period ends contracts can continue at this agreed rate on a rolling monthly basis. Where vehicles are returned prior to the end of contract, a charge is levied based on the higher amount that would have been charged for a shorter contract duration, although management note this is rare. Invoices are issued monthly in arrears with most customers offered 30 day terms, but some new customers billed on proforma basis. The longest rolling contract as at Apr-22 was 6 years in length, although the average rolling contract is currently 650 days. As at Apr-22 vehicles were hired to 33 customers, whilst [Customer 2 and Customer 3] have remained the largest customers by revenue across the Historical Period. </a:t>
            </a:r>
          </a:p>
          <a:p>
            <a:pPr lvl="1">
              <a:defRPr/>
            </a:pPr>
            <a:r>
              <a:rPr lang="en-GB" dirty="0"/>
              <a:t>As at Apr-22 [Customer 2] had 84 vehicles on hire (average duration of 2.5 years) whilst [Customer 3] had 64 vehicles on hire for an average period of 1.5 years; both mainly rent 3.5 tonne vehicles and crash cushions. </a:t>
            </a:r>
          </a:p>
          <a:p>
            <a:pPr lvl="1">
              <a:defRPr/>
            </a:pPr>
            <a:endParaRPr lang="en-GB" dirty="0">
              <a:solidFill>
                <a:srgbClr val="000000"/>
              </a:solidFill>
            </a:endParaRPr>
          </a:p>
          <a:p>
            <a:pPr algn="l">
              <a:spcAft>
                <a:spcPts val="600"/>
              </a:spcAft>
            </a:pPr>
            <a:endParaRPr lang="en-US" b="0" dirty="0"/>
          </a:p>
        </p:txBody>
      </p:sp>
      <p:sp>
        <p:nvSpPr>
          <p:cNvPr id="41" name="Text Placeholder 48">
            <a:extLst>
              <a:ext uri="{FF2B5EF4-FFF2-40B4-BE49-F238E27FC236}">
                <a16:creationId xmlns:a16="http://schemas.microsoft.com/office/drawing/2014/main" id="{1EEAFD2C-E008-4391-893A-2BA7BA7F495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Revenue has increased £0.2 million between FY20 and FY22 as the business recovered from the impact, albeit minor, of Covid-19 which saw [Customer 1], a key customer, off-hiring 50 vehicles and then re-hiring a large proportion of them five weeks later. Between FY22 and FY23 revenue is forecast to increase £1.1 million driven by the growth in overall size of the fleet to an average of 413 vehicles from 329 in FY22. Most of these new vehicles will be 3.5 tonne vehicles (266 out of 413, 64.3%) which have seen an increased demand as a result of less onerous licence requirements for drivers, however these are also supplemented by an increased number of crash cushion/18 tonne vehicles (117 out of 413, 28%). The slight change in mix results in a small reduction to the average rental price per vehicle per week in FY23 as a result of lower rental prices charged on 3.5 tonne vehicles (average of weekly rate of £175 per vehicle). Refer to previous comments relating to supply chain issues affecting vehicle supply and the implications for the forecast.</a:t>
            </a:r>
          </a:p>
          <a:p>
            <a:pPr marL="228600" lvl="1" indent="-228600">
              <a:buFont typeface="+mj-lt"/>
              <a:buAutoNum type="arabicPeriod" startAt="3"/>
            </a:pPr>
            <a:endParaRPr lang="en-GB" dirty="0"/>
          </a:p>
        </p:txBody>
      </p:sp>
      <p:sp>
        <p:nvSpPr>
          <p:cNvPr id="33" name="Oval 32">
            <a:extLst>
              <a:ext uri="{FF2B5EF4-FFF2-40B4-BE49-F238E27FC236}">
                <a16:creationId xmlns:a16="http://schemas.microsoft.com/office/drawing/2014/main" id="{B14542AE-DB3B-4777-924F-9B4C9FE071D8}"/>
              </a:ext>
            </a:extLst>
          </p:cNvPr>
          <p:cNvSpPr/>
          <p:nvPr/>
        </p:nvSpPr>
        <p:spPr>
          <a:xfrm>
            <a:off x="4627086" y="2268908"/>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a:latin typeface="Arial" panose="020B0604020202020204" pitchFamily="34" charset="0"/>
                <a:cs typeface="Arial" panose="020B0604020202020204" pitchFamily="34" charset="0"/>
              </a:rPr>
              <a:t>1</a:t>
            </a:r>
          </a:p>
        </p:txBody>
      </p:sp>
      <p:sp>
        <p:nvSpPr>
          <p:cNvPr id="34" name="Oval 33">
            <a:extLst>
              <a:ext uri="{FF2B5EF4-FFF2-40B4-BE49-F238E27FC236}">
                <a16:creationId xmlns:a16="http://schemas.microsoft.com/office/drawing/2014/main" id="{6DD554C1-6FDB-4736-819C-D481952FC7A8}"/>
              </a:ext>
            </a:extLst>
          </p:cNvPr>
          <p:cNvSpPr/>
          <p:nvPr/>
        </p:nvSpPr>
        <p:spPr>
          <a:xfrm>
            <a:off x="915166" y="2379406"/>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a:latin typeface="Arial" panose="020B0604020202020204" pitchFamily="34" charset="0"/>
                <a:cs typeface="Arial" panose="020B0604020202020204" pitchFamily="34" charset="0"/>
              </a:rPr>
              <a:t>1</a:t>
            </a:r>
          </a:p>
        </p:txBody>
      </p:sp>
      <p:grpSp>
        <p:nvGrpSpPr>
          <p:cNvPr id="37" name="Group 36">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38"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6"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7"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8"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741790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Revenue streams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streams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In FY22 vehicle hire made up 61.5% of total revenue. From FY20 to FY22 utilisation improved 2.8 ppts to 95.3%, driven by the re-hire of vehicles off-hired due to Covid-19. This and the increase in the fleet size accounts for £0.2 million of revenue growth. Forecast growth of £1.1 million is driven by the expansion of the vehicle fleet whilst both average weekly rentals and utilisation have been assumed broadly in line with FY22.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2D56CA31-7322-4406-BAE3-96E65FB492E2}"/>
              </a:ext>
            </a:extLst>
          </p:cNvPr>
          <p:cNvPicPr>
            <a:picLocks noChangeAspect="1"/>
          </p:cNvPicPr>
          <p:nvPr>
            <p:custDataLst>
              <p:tags r:id="rId4"/>
            </p:custDataLst>
          </p:nvPr>
        </p:nvPicPr>
        <p:blipFill>
          <a:blip r:embed="rId7"/>
          <a:stretch>
            <a:fillRect/>
          </a:stretch>
        </p:blipFill>
        <p:spPr>
          <a:xfrm>
            <a:off x="1001680" y="1912841"/>
            <a:ext cx="3422650" cy="3223643"/>
          </a:xfrm>
          <a:prstGeom prst="rect">
            <a:avLst/>
          </a:prstGeom>
        </p:spPr>
      </p:pic>
      <p:sp>
        <p:nvSpPr>
          <p:cNvPr id="40" name="Text Placeholder 48">
            <a:extLst>
              <a:ext uri="{FF2B5EF4-FFF2-40B4-BE49-F238E27FC236}">
                <a16:creationId xmlns:a16="http://schemas.microsoft.com/office/drawing/2014/main" id="{2D475A2B-0503-4950-98E1-B1C7C8977D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chemeClr val="tx2"/>
                </a:solidFill>
              </a:rPr>
              <a:t>Vehicle hire cont.</a:t>
            </a:r>
          </a:p>
          <a:p>
            <a:r>
              <a:rPr lang="en-GB" sz="1000" b="0" dirty="0"/>
              <a:t>Gross margin on vehicle hire (excluding depreciation) has reduced over the Historical Period driven by the ageing fleet, incurring more holding costs (e.g. repairs &amp; maintenance) as well as general input price inflation, albeit Management asserts they have actively managed the garage supply chain in order to avoid significant cost increases and made strategic disposals of aged vehicles to mitigate this risk. In the forecast period the fleet renewal sees gross margin percentage improve to  78.6% in FY23, reversing the historical trend.</a:t>
            </a:r>
          </a:p>
          <a:p>
            <a:r>
              <a:rPr lang="en-GB" sz="1000" dirty="0">
                <a:solidFill>
                  <a:schemeClr val="tx2"/>
                </a:solidFill>
              </a:rPr>
              <a:t>Miscellaneous sales</a:t>
            </a:r>
          </a:p>
          <a:p>
            <a:r>
              <a:rPr lang="en-GB" sz="1000" b="0" dirty="0"/>
              <a:t>Consist of recharges to customers for damage to vehicles during rental periods, additional off-hire charges and 3rd party vehicle repairs. This revenue stream combined with ‘crash cushion sales’ are referred to in the IM as ‘Servicing’. The £0.1 million increase in miscellaneous sales revenue between FY20 and FY22 is driven by the move to the current premises which afforded greater capacity for in-house vehicle repair and maintenance. </a:t>
            </a:r>
          </a:p>
          <a:p>
            <a:endParaRPr lang="en-GB" b="0" dirty="0"/>
          </a:p>
          <a:p>
            <a:pPr algn="l">
              <a:spcAft>
                <a:spcPts val="600"/>
              </a:spcAft>
            </a:pPr>
            <a:endParaRPr lang="en-US" b="0" dirty="0"/>
          </a:p>
        </p:txBody>
      </p:sp>
      <p:sp>
        <p:nvSpPr>
          <p:cNvPr id="41" name="Text Placeholder 48">
            <a:extLst>
              <a:ext uri="{FF2B5EF4-FFF2-40B4-BE49-F238E27FC236}">
                <a16:creationId xmlns:a16="http://schemas.microsoft.com/office/drawing/2014/main" id="{1EEAFD2C-E008-4391-893A-2BA7BA7F495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This is forecast to increase a further £0.2 million by FY23 due to the impact of the increased vehicle fleet size. Management advised that the current forecast does not include the costs or the benefit of a third unit at the current premises, which would further increase capacity. The gross margin in relation to this revenue stream is not fully loaded with labour costs, which sit below gross profit, as technician time is split between various revenue streams and their time is not currently tracked. Historically gross margin has improved 8.7ppts growing to 48.6% in FY22, this is driven by the mix of repairs carried out. </a:t>
            </a:r>
          </a:p>
          <a:p>
            <a:pPr lvl="1">
              <a:defRPr/>
            </a:pPr>
            <a:r>
              <a:rPr lang="en-GB" b="1" dirty="0">
                <a:solidFill>
                  <a:schemeClr val="tx2"/>
                </a:solidFill>
              </a:rPr>
              <a:t>Crash cushion sales</a:t>
            </a:r>
          </a:p>
          <a:p>
            <a:pPr lvl="1">
              <a:defRPr/>
            </a:pPr>
            <a:r>
              <a:rPr lang="en-GB" dirty="0">
                <a:solidFill>
                  <a:srgbClr val="000000"/>
                </a:solidFill>
              </a:rPr>
              <a:t>Crash cushions are supplied to [Target] by two suppliers – [Supplier 1] (xx) and [Supplier 2] (xx) and are sold to 3rd party customers as well as the suppliers of the company’s vehicle fleet which are then fitted to their vehicles (e.g. [Customer 5]). The £0.2 million increase in sales between FY22 and FY23 is driven by the forecast increase in 18 tonne vehicles (reflecting 20 cushions recharged [Customer 5] at £35,000 per crash cushion). </a:t>
            </a:r>
          </a:p>
        </p:txBody>
      </p:sp>
      <p:sp>
        <p:nvSpPr>
          <p:cNvPr id="33" name="Oval 32">
            <a:extLst>
              <a:ext uri="{FF2B5EF4-FFF2-40B4-BE49-F238E27FC236}">
                <a16:creationId xmlns:a16="http://schemas.microsoft.com/office/drawing/2014/main" id="{0C871087-9DA6-43C1-A53F-17CE1F4AF2F3}"/>
              </a:ext>
            </a:extLst>
          </p:cNvPr>
          <p:cNvSpPr/>
          <p:nvPr/>
        </p:nvSpPr>
        <p:spPr>
          <a:xfrm>
            <a:off x="4627086" y="2268908"/>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1</a:t>
            </a:r>
          </a:p>
        </p:txBody>
      </p:sp>
      <p:sp>
        <p:nvSpPr>
          <p:cNvPr id="34" name="Oval 33">
            <a:extLst>
              <a:ext uri="{FF2B5EF4-FFF2-40B4-BE49-F238E27FC236}">
                <a16:creationId xmlns:a16="http://schemas.microsoft.com/office/drawing/2014/main" id="{E0B76EFA-CA6C-4218-9CB4-AC5BC825F82F}"/>
              </a:ext>
            </a:extLst>
          </p:cNvPr>
          <p:cNvSpPr/>
          <p:nvPr/>
        </p:nvSpPr>
        <p:spPr>
          <a:xfrm>
            <a:off x="947428" y="2379197"/>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a:latin typeface="Arial" panose="020B0604020202020204" pitchFamily="34" charset="0"/>
                <a:cs typeface="Arial" panose="020B0604020202020204" pitchFamily="34" charset="0"/>
              </a:rPr>
              <a:t>1</a:t>
            </a:r>
          </a:p>
        </p:txBody>
      </p:sp>
      <p:sp>
        <p:nvSpPr>
          <p:cNvPr id="35" name="Oval 34">
            <a:extLst>
              <a:ext uri="{FF2B5EF4-FFF2-40B4-BE49-F238E27FC236}">
                <a16:creationId xmlns:a16="http://schemas.microsoft.com/office/drawing/2014/main" id="{EFCC6AFD-EE10-4E88-A344-83991C540EEC}"/>
              </a:ext>
            </a:extLst>
          </p:cNvPr>
          <p:cNvSpPr/>
          <p:nvPr/>
        </p:nvSpPr>
        <p:spPr>
          <a:xfrm>
            <a:off x="4635107" y="4418550"/>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2</a:t>
            </a:r>
          </a:p>
        </p:txBody>
      </p:sp>
      <p:sp>
        <p:nvSpPr>
          <p:cNvPr id="37" name="Oval 36">
            <a:extLst>
              <a:ext uri="{FF2B5EF4-FFF2-40B4-BE49-F238E27FC236}">
                <a16:creationId xmlns:a16="http://schemas.microsoft.com/office/drawing/2014/main" id="{E12FEFD1-A55A-4DFA-933C-9920A7C934B9}"/>
              </a:ext>
            </a:extLst>
          </p:cNvPr>
          <p:cNvSpPr/>
          <p:nvPr/>
        </p:nvSpPr>
        <p:spPr>
          <a:xfrm>
            <a:off x="7957828" y="4179924"/>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3</a:t>
            </a:r>
          </a:p>
        </p:txBody>
      </p:sp>
      <p:sp>
        <p:nvSpPr>
          <p:cNvPr id="38" name="Oval 37">
            <a:extLst>
              <a:ext uri="{FF2B5EF4-FFF2-40B4-BE49-F238E27FC236}">
                <a16:creationId xmlns:a16="http://schemas.microsoft.com/office/drawing/2014/main" id="{B0303F5B-9BB1-4ED0-9BC4-A84C9C0E7E64}"/>
              </a:ext>
            </a:extLst>
          </p:cNvPr>
          <p:cNvSpPr/>
          <p:nvPr/>
        </p:nvSpPr>
        <p:spPr>
          <a:xfrm>
            <a:off x="947428" y="2788402"/>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3</a:t>
            </a:r>
          </a:p>
        </p:txBody>
      </p:sp>
      <p:sp>
        <p:nvSpPr>
          <p:cNvPr id="39" name="Oval 38">
            <a:extLst>
              <a:ext uri="{FF2B5EF4-FFF2-40B4-BE49-F238E27FC236}">
                <a16:creationId xmlns:a16="http://schemas.microsoft.com/office/drawing/2014/main" id="{20D954C4-DB7F-4393-AB00-367B4C64142D}"/>
              </a:ext>
            </a:extLst>
          </p:cNvPr>
          <p:cNvSpPr/>
          <p:nvPr/>
        </p:nvSpPr>
        <p:spPr>
          <a:xfrm>
            <a:off x="947428" y="2614067"/>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2</a:t>
            </a:r>
          </a:p>
        </p:txBody>
      </p:sp>
      <p:grpSp>
        <p:nvGrpSpPr>
          <p:cNvPr id="49" name="Group 48">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5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1"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6"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4617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Revenue streams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streams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Other revenue streams made up 38.5% of total revenue in FY22. In the Historical Period overall revenue growth was supported by new vehicle sales which made up £0.6 million of £1.4 million total revenue growth, with the fleet renewal also delivering £0.3 million of revenue improvement through crash cushion sales recharged to suppliers.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6E458DCA-1029-4377-A2F5-ECF11DE2F633}"/>
              </a:ext>
            </a:extLst>
          </p:cNvPr>
          <p:cNvPicPr>
            <a:picLocks noChangeAspect="1"/>
          </p:cNvPicPr>
          <p:nvPr>
            <p:custDataLst>
              <p:tags r:id="rId4"/>
            </p:custDataLst>
          </p:nvPr>
        </p:nvPicPr>
        <p:blipFill>
          <a:blip r:embed="rId7"/>
          <a:stretch>
            <a:fillRect/>
          </a:stretch>
        </p:blipFill>
        <p:spPr>
          <a:xfrm>
            <a:off x="1001680" y="1912841"/>
            <a:ext cx="3422650" cy="3223643"/>
          </a:xfrm>
          <a:prstGeom prst="rect">
            <a:avLst/>
          </a:prstGeom>
        </p:spPr>
      </p:pic>
      <p:sp>
        <p:nvSpPr>
          <p:cNvPr id="40" name="Text Placeholder 48">
            <a:extLst>
              <a:ext uri="{FF2B5EF4-FFF2-40B4-BE49-F238E27FC236}">
                <a16:creationId xmlns:a16="http://schemas.microsoft.com/office/drawing/2014/main" id="{2D475A2B-0503-4950-98E1-B1C7C8977D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solidFill>
                  <a:schemeClr val="tx2"/>
                </a:solidFill>
              </a:rPr>
              <a:t>Crash cushion sales cont.</a:t>
            </a:r>
            <a:endParaRPr lang="en-GB" b="0" dirty="0"/>
          </a:p>
          <a:p>
            <a:pPr lvl="1">
              <a:defRPr/>
            </a:pPr>
            <a:r>
              <a:rPr lang="en-GB" dirty="0">
                <a:solidFill>
                  <a:srgbClr val="000000"/>
                </a:solidFill>
              </a:rPr>
              <a:t>Management notes that crash cushion margins are lower than other revenue streams, varying between 17-19%, as this is more of a distribution activity with less value added. The step-up in gross margin of 2.6ppts seen between FY20 and FY22 is a result of management negotiating a deal direct with [Supplier 2] rather than going through a third party. The forecast margin reduction to 17.8% reflects FY21 sample costs being used to derive FY23 gross margins. Gross margins for crash cushions are not fully loaded with labour costs (approx. £4,000 per cushion x 20 cushions would result in a margin of 6.4% compared to 17.8%). </a:t>
            </a:r>
          </a:p>
          <a:p>
            <a:pPr lvl="1">
              <a:defRPr/>
            </a:pPr>
            <a:r>
              <a:rPr lang="en-US" b="1" dirty="0">
                <a:solidFill>
                  <a:schemeClr val="tx2"/>
                </a:solidFill>
              </a:rPr>
              <a:t>Marker posts </a:t>
            </a:r>
          </a:p>
          <a:p>
            <a:pPr lvl="1">
              <a:defRPr/>
            </a:pPr>
            <a:r>
              <a:rPr lang="en-GB" dirty="0">
                <a:solidFill>
                  <a:srgbClr val="000000"/>
                </a:solidFill>
              </a:rPr>
              <a:t>[Target] orders marker posts from a factory in xx. Once a customer order is placed these are modified to customer specification and then dispatched. Revenue remains flat across both the historical and forecast periods, with it being difficult to increase demand further in xx market and Management noting that they are the sole supplier of these components</a:t>
            </a:r>
            <a:endParaRPr lang="en-US" dirty="0">
              <a:solidFill>
                <a:srgbClr val="000000"/>
              </a:solidFill>
            </a:endParaRPr>
          </a:p>
        </p:txBody>
      </p:sp>
      <p:sp>
        <p:nvSpPr>
          <p:cNvPr id="41" name="Text Placeholder 48">
            <a:extLst>
              <a:ext uri="{FF2B5EF4-FFF2-40B4-BE49-F238E27FC236}">
                <a16:creationId xmlns:a16="http://schemas.microsoft.com/office/drawing/2014/main" id="{1EEAFD2C-E008-4391-893A-2BA7BA7F495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dirty="0">
                <a:solidFill>
                  <a:srgbClr val="000000"/>
                </a:solidFill>
              </a:rPr>
              <a:t>The gross margin achieved has remained relatively flat at around 32% across both the historical and forecast periods, with the exception of a spike in FY22 to 42.4%. Management has not explained this uplift at the time of reporting and consideration should be given to treating this as an anomaly and adjusting in underlying earnings.</a:t>
            </a:r>
          </a:p>
          <a:p>
            <a:pPr lvl="1">
              <a:defRPr/>
            </a:pPr>
            <a:r>
              <a:rPr lang="en-GB" b="1" dirty="0">
                <a:solidFill>
                  <a:schemeClr val="tx2"/>
                </a:solidFill>
              </a:rPr>
              <a:t>Motor parts sales </a:t>
            </a:r>
          </a:p>
          <a:p>
            <a:pPr lvl="1">
              <a:defRPr/>
            </a:pPr>
            <a:r>
              <a:rPr lang="en-GB" dirty="0"/>
              <a:t>This reflects orders of parts on behalf of a single customer. All orders are paid in advance and shipped straight to the customer. The motor parts margin is low, with [Target]  acting as a distributor. </a:t>
            </a:r>
          </a:p>
          <a:p>
            <a:pPr lvl="1">
              <a:defRPr/>
            </a:pPr>
            <a:r>
              <a:rPr lang="en-GB" b="1" dirty="0">
                <a:solidFill>
                  <a:schemeClr val="tx2"/>
                </a:solidFill>
              </a:rPr>
              <a:t>New vehicle sales </a:t>
            </a:r>
          </a:p>
          <a:p>
            <a:pPr lvl="1">
              <a:defRPr/>
            </a:pPr>
            <a:r>
              <a:rPr lang="en-GB" dirty="0">
                <a:solidFill>
                  <a:srgbClr val="000000"/>
                </a:solidFill>
              </a:rPr>
              <a:t>Historically revenue from new vehicle sales has increased £0.6 million due to increased demand in the market due to tax rate changes which have encouraged vehicle capex expenditure. By FY23 new vehicle revenue is forecast to grow a further £0.5 million driven by an assumption of the continued market demand, with new vehicle sales assumed at 20% of total vehicle additions.</a:t>
            </a:r>
          </a:p>
          <a:p>
            <a:pPr lvl="1">
              <a:defRPr/>
            </a:pPr>
            <a:endParaRPr lang="en-GB" b="1" dirty="0">
              <a:solidFill>
                <a:schemeClr val="tx2"/>
              </a:solidFill>
            </a:endParaRPr>
          </a:p>
          <a:p>
            <a:pPr lvl="1"/>
            <a:endParaRPr lang="en-GB" dirty="0"/>
          </a:p>
        </p:txBody>
      </p:sp>
      <p:sp>
        <p:nvSpPr>
          <p:cNvPr id="33" name="Oval 32">
            <a:extLst>
              <a:ext uri="{FF2B5EF4-FFF2-40B4-BE49-F238E27FC236}">
                <a16:creationId xmlns:a16="http://schemas.microsoft.com/office/drawing/2014/main" id="{A3C52447-F113-40CC-81DE-46CE49DAA787}"/>
              </a:ext>
            </a:extLst>
          </p:cNvPr>
          <p:cNvSpPr/>
          <p:nvPr/>
        </p:nvSpPr>
        <p:spPr>
          <a:xfrm>
            <a:off x="4679223" y="2266903"/>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3</a:t>
            </a:r>
          </a:p>
        </p:txBody>
      </p:sp>
      <p:sp>
        <p:nvSpPr>
          <p:cNvPr id="34" name="Oval 33">
            <a:extLst>
              <a:ext uri="{FF2B5EF4-FFF2-40B4-BE49-F238E27FC236}">
                <a16:creationId xmlns:a16="http://schemas.microsoft.com/office/drawing/2014/main" id="{97C54FFB-C669-4EDB-8F73-5A6918F93707}"/>
              </a:ext>
            </a:extLst>
          </p:cNvPr>
          <p:cNvSpPr/>
          <p:nvPr/>
        </p:nvSpPr>
        <p:spPr>
          <a:xfrm>
            <a:off x="4679223" y="4535260"/>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4</a:t>
            </a:r>
          </a:p>
        </p:txBody>
      </p:sp>
      <p:sp>
        <p:nvSpPr>
          <p:cNvPr id="35" name="Oval 34">
            <a:extLst>
              <a:ext uri="{FF2B5EF4-FFF2-40B4-BE49-F238E27FC236}">
                <a16:creationId xmlns:a16="http://schemas.microsoft.com/office/drawing/2014/main" id="{B02D8522-0D7D-4FA9-ADD7-16B7A124AE98}"/>
              </a:ext>
            </a:extLst>
          </p:cNvPr>
          <p:cNvSpPr/>
          <p:nvPr/>
        </p:nvSpPr>
        <p:spPr>
          <a:xfrm>
            <a:off x="7951977" y="3415176"/>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5</a:t>
            </a:r>
          </a:p>
        </p:txBody>
      </p:sp>
      <p:sp>
        <p:nvSpPr>
          <p:cNvPr id="37" name="Oval 36">
            <a:extLst>
              <a:ext uri="{FF2B5EF4-FFF2-40B4-BE49-F238E27FC236}">
                <a16:creationId xmlns:a16="http://schemas.microsoft.com/office/drawing/2014/main" id="{8BF0CFC1-5392-4A36-92A1-903B2E82C4B6}"/>
              </a:ext>
            </a:extLst>
          </p:cNvPr>
          <p:cNvSpPr/>
          <p:nvPr/>
        </p:nvSpPr>
        <p:spPr>
          <a:xfrm>
            <a:off x="7951977" y="4335388"/>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6</a:t>
            </a:r>
          </a:p>
        </p:txBody>
      </p:sp>
      <p:sp>
        <p:nvSpPr>
          <p:cNvPr id="38" name="Oval 37">
            <a:extLst>
              <a:ext uri="{FF2B5EF4-FFF2-40B4-BE49-F238E27FC236}">
                <a16:creationId xmlns:a16="http://schemas.microsoft.com/office/drawing/2014/main" id="{555EED63-BEE8-4109-8CAB-C9E2F1B07220}"/>
              </a:ext>
            </a:extLst>
          </p:cNvPr>
          <p:cNvSpPr/>
          <p:nvPr/>
        </p:nvSpPr>
        <p:spPr>
          <a:xfrm>
            <a:off x="945423" y="2774234"/>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3</a:t>
            </a:r>
          </a:p>
        </p:txBody>
      </p:sp>
      <p:sp>
        <p:nvSpPr>
          <p:cNvPr id="39" name="Oval 38">
            <a:extLst>
              <a:ext uri="{FF2B5EF4-FFF2-40B4-BE49-F238E27FC236}">
                <a16:creationId xmlns:a16="http://schemas.microsoft.com/office/drawing/2014/main" id="{53C891B6-E107-4CA0-8F54-304D67D7EC63}"/>
              </a:ext>
            </a:extLst>
          </p:cNvPr>
          <p:cNvSpPr/>
          <p:nvPr/>
        </p:nvSpPr>
        <p:spPr>
          <a:xfrm>
            <a:off x="945423" y="2914005"/>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4</a:t>
            </a:r>
          </a:p>
        </p:txBody>
      </p:sp>
      <p:sp>
        <p:nvSpPr>
          <p:cNvPr id="43" name="Oval 42">
            <a:extLst>
              <a:ext uri="{FF2B5EF4-FFF2-40B4-BE49-F238E27FC236}">
                <a16:creationId xmlns:a16="http://schemas.microsoft.com/office/drawing/2014/main" id="{297EA18C-69B1-4085-8A97-A2891D408E29}"/>
              </a:ext>
            </a:extLst>
          </p:cNvPr>
          <p:cNvSpPr/>
          <p:nvPr/>
        </p:nvSpPr>
        <p:spPr>
          <a:xfrm>
            <a:off x="945423" y="3041183"/>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5</a:t>
            </a:r>
          </a:p>
        </p:txBody>
      </p:sp>
      <p:sp>
        <p:nvSpPr>
          <p:cNvPr id="44" name="Oval 43">
            <a:extLst>
              <a:ext uri="{FF2B5EF4-FFF2-40B4-BE49-F238E27FC236}">
                <a16:creationId xmlns:a16="http://schemas.microsoft.com/office/drawing/2014/main" id="{1FEC26F2-DF8F-4125-96D9-FD80AD6856A6}"/>
              </a:ext>
            </a:extLst>
          </p:cNvPr>
          <p:cNvSpPr/>
          <p:nvPr/>
        </p:nvSpPr>
        <p:spPr>
          <a:xfrm>
            <a:off x="945423" y="3169278"/>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6</a:t>
            </a:r>
          </a:p>
        </p:txBody>
      </p:sp>
      <p:grpSp>
        <p:nvGrpSpPr>
          <p:cNvPr id="53" name="Group 52">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5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5"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0"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826445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Revenue streams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Revenue streams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Other revenue streams made up 38.5% of total revenue in FY22. In the Historical Period overall revenue growth was supported by new vehicle sales which made up £0.6 million of £1.4 million total revenue growth, with the fleet renewal also delivering £0.3 million of revenue improvement through crash cushion sales recharged to suppliers.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73FC6A37-7EDE-4FD5-9812-E011D183D171}"/>
              </a:ext>
            </a:extLst>
          </p:cNvPr>
          <p:cNvPicPr>
            <a:picLocks noChangeAspect="1"/>
          </p:cNvPicPr>
          <p:nvPr>
            <p:custDataLst>
              <p:tags r:id="rId4"/>
            </p:custDataLst>
          </p:nvPr>
        </p:nvPicPr>
        <p:blipFill>
          <a:blip r:embed="rId7"/>
          <a:stretch>
            <a:fillRect/>
          </a:stretch>
        </p:blipFill>
        <p:spPr>
          <a:xfrm>
            <a:off x="1001680" y="1912841"/>
            <a:ext cx="3422650" cy="3223643"/>
          </a:xfrm>
          <a:prstGeom prst="rect">
            <a:avLst/>
          </a:prstGeom>
        </p:spPr>
      </p:pic>
      <p:sp>
        <p:nvSpPr>
          <p:cNvPr id="40" name="Text Placeholder 48">
            <a:extLst>
              <a:ext uri="{FF2B5EF4-FFF2-40B4-BE49-F238E27FC236}">
                <a16:creationId xmlns:a16="http://schemas.microsoft.com/office/drawing/2014/main" id="{2D475A2B-0503-4950-98E1-B1C7C8977D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dirty="0">
                <a:solidFill>
                  <a:schemeClr val="tx2"/>
                </a:solidFill>
              </a:rPr>
              <a:t>New vehicle sales cont.</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Gross margins have increased notably across FY20-FY22 driven by Management capitalising on the high vehicle demand in the market, also likely to be through product mix although this has not been confirmed. The subsequent decrease in FY23 to 12.8% is reflective of the cost base assumptions used (with build cost for FY23 estimated using a sample of between four to eight disposals across Mar-21- Apr-21). </a:t>
            </a:r>
          </a:p>
          <a:p>
            <a:pPr marR="0" lvl="1" fontAlgn="auto">
              <a:buClrTx/>
              <a:buSzTx/>
              <a:tabLst/>
              <a:defRPr/>
            </a:pPr>
            <a:r>
              <a:rPr lang="en-US" b="1" dirty="0">
                <a:solidFill>
                  <a:schemeClr val="tx2"/>
                </a:solidFill>
              </a:rPr>
              <a:t>Other income </a:t>
            </a:r>
          </a:p>
          <a:p>
            <a:pPr marR="0" lvl="1" fontAlgn="auto">
              <a:buClrTx/>
              <a:buSzTx/>
              <a:tabLst/>
              <a:defRPr/>
            </a:pPr>
            <a:r>
              <a:rPr lang="en-GB" dirty="0">
                <a:solidFill>
                  <a:srgbClr val="000000"/>
                </a:solidFill>
                <a:latin typeface="Arial"/>
              </a:rPr>
              <a:t>Consists of a £50,000 payment from [Bank 1] in FY20 to end a banking agreement (adjusted in </a:t>
            </a:r>
            <a:r>
              <a:rPr lang="en-GB" dirty="0" err="1">
                <a:solidFill>
                  <a:srgbClr val="000000"/>
                </a:solidFill>
                <a:latin typeface="Arial"/>
              </a:rPr>
              <a:t>QoE</a:t>
            </a:r>
            <a:r>
              <a:rPr lang="en-GB" dirty="0">
                <a:solidFill>
                  <a:srgbClr val="000000"/>
                </a:solidFill>
                <a:latin typeface="Arial"/>
              </a:rPr>
              <a:t>), xx job retention scheme payments relating to two staff members and a £10,000 grant from [Council] received in FY20 to alleviate the impact of the Covid-19 pandemic.</a:t>
            </a:r>
            <a:endParaRPr lang="en-US" dirty="0">
              <a:solidFill>
                <a:srgbClr val="000000"/>
              </a:solidFill>
              <a:latin typeface="Arial"/>
            </a:endParaRPr>
          </a:p>
        </p:txBody>
      </p:sp>
      <p:sp>
        <p:nvSpPr>
          <p:cNvPr id="41" name="Text Placeholder 48">
            <a:extLst>
              <a:ext uri="{FF2B5EF4-FFF2-40B4-BE49-F238E27FC236}">
                <a16:creationId xmlns:a16="http://schemas.microsoft.com/office/drawing/2014/main" id="{1EEAFD2C-E008-4391-893A-2BA7BA7F495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endParaRPr lang="en-GB" b="1" dirty="0">
              <a:solidFill>
                <a:schemeClr val="tx2"/>
              </a:solidFill>
            </a:endParaRPr>
          </a:p>
          <a:p>
            <a:pPr lvl="1"/>
            <a:endParaRPr lang="en-GB" dirty="0"/>
          </a:p>
        </p:txBody>
      </p:sp>
      <p:sp>
        <p:nvSpPr>
          <p:cNvPr id="33" name="Oval 32">
            <a:extLst>
              <a:ext uri="{FF2B5EF4-FFF2-40B4-BE49-F238E27FC236}">
                <a16:creationId xmlns:a16="http://schemas.microsoft.com/office/drawing/2014/main" id="{31D754DA-D6E9-4F9B-B000-2B44BE83C30A}"/>
              </a:ext>
            </a:extLst>
          </p:cNvPr>
          <p:cNvSpPr/>
          <p:nvPr/>
        </p:nvSpPr>
        <p:spPr>
          <a:xfrm>
            <a:off x="943582" y="3144262"/>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6</a:t>
            </a:r>
          </a:p>
        </p:txBody>
      </p:sp>
      <p:sp>
        <p:nvSpPr>
          <p:cNvPr id="34" name="Oval 33">
            <a:extLst>
              <a:ext uri="{FF2B5EF4-FFF2-40B4-BE49-F238E27FC236}">
                <a16:creationId xmlns:a16="http://schemas.microsoft.com/office/drawing/2014/main" id="{B36B3D23-9D29-48A7-96EC-71A87D33CAA1}"/>
              </a:ext>
            </a:extLst>
          </p:cNvPr>
          <p:cNvSpPr/>
          <p:nvPr/>
        </p:nvSpPr>
        <p:spPr>
          <a:xfrm>
            <a:off x="4689035" y="2268908"/>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6</a:t>
            </a:r>
          </a:p>
        </p:txBody>
      </p:sp>
      <p:sp>
        <p:nvSpPr>
          <p:cNvPr id="35" name="Oval 34">
            <a:extLst>
              <a:ext uri="{FF2B5EF4-FFF2-40B4-BE49-F238E27FC236}">
                <a16:creationId xmlns:a16="http://schemas.microsoft.com/office/drawing/2014/main" id="{DD1AB671-5608-4445-A303-DA07A6DCA74F}"/>
              </a:ext>
            </a:extLst>
          </p:cNvPr>
          <p:cNvSpPr/>
          <p:nvPr/>
        </p:nvSpPr>
        <p:spPr>
          <a:xfrm>
            <a:off x="943582" y="3288262"/>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7</a:t>
            </a:r>
          </a:p>
        </p:txBody>
      </p:sp>
      <p:sp>
        <p:nvSpPr>
          <p:cNvPr id="37" name="Oval 36">
            <a:extLst>
              <a:ext uri="{FF2B5EF4-FFF2-40B4-BE49-F238E27FC236}">
                <a16:creationId xmlns:a16="http://schemas.microsoft.com/office/drawing/2014/main" id="{E9E518FC-D9B7-4847-99EC-968924845F4C}"/>
              </a:ext>
            </a:extLst>
          </p:cNvPr>
          <p:cNvSpPr/>
          <p:nvPr/>
        </p:nvSpPr>
        <p:spPr>
          <a:xfrm>
            <a:off x="4686067" y="3947282"/>
            <a:ext cx="144000" cy="144000"/>
          </a:xfrm>
          <a:prstGeom prst="ellipse">
            <a:avLst/>
          </a:prstGeom>
          <a:solidFill>
            <a:srgbClr val="1E49E2"/>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800" dirty="0">
                <a:latin typeface="Arial" panose="020B0604020202020204" pitchFamily="34" charset="0"/>
                <a:cs typeface="Arial" panose="020B0604020202020204" pitchFamily="34" charset="0"/>
              </a:rPr>
              <a:t>7</a:t>
            </a:r>
          </a:p>
        </p:txBody>
      </p:sp>
      <p:grpSp>
        <p:nvGrpSpPr>
          <p:cNvPr id="44" name="Group 43">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46"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7"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8"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9"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0"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1"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5537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Pricing evolution</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[Customer 2] hire vehicle sample testing </a:t>
            </a:r>
            <a:endParaRPr lang="en-US" dirty="0"/>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599" y="2223113"/>
            <a:ext cx="6404721"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We have sampled a number of vehicles which are currently on hire to [Customer 2] (as at Apr-22), looking at each vehicle category to understand the pricing evolution across the rolling hire contracts’ duration and then comparing this with the forecast average weekly hire rate in FY23 for this vehicle category. </a:t>
            </a:r>
          </a:p>
          <a:p>
            <a:pPr lvl="1"/>
            <a:r>
              <a:rPr lang="en-GB" dirty="0"/>
              <a:t>There is limited evidence of price increases on vehicles which have been on hire for long term periods and like-for-like rates have decreased in certain vehicles (e.g. xx) as they have aged. </a:t>
            </a:r>
          </a:p>
          <a:p>
            <a:pPr lvl="1"/>
            <a:r>
              <a:rPr lang="en-GB" dirty="0"/>
              <a:t>Further, on new vehicles on hire where contracts have only recently commenced (e.g. xx), there is little price differentiation between new hire rate and the hire rate for same type vehicle already charged to the customer.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64" name="Text Placeholder 11">
            <a:extLst>
              <a:ext uri="{FF2B5EF4-FFF2-40B4-BE49-F238E27FC236}">
                <a16:creationId xmlns:a16="http://schemas.microsoft.com/office/drawing/2014/main" id="{C588A536-821B-4ADB-8114-23A24CBB5193}"/>
              </a:ext>
            </a:extLst>
          </p:cNvPr>
          <p:cNvSpPr txBox="1">
            <a:spLocks/>
          </p:cNvSpPr>
          <p:nvPr/>
        </p:nvSpPr>
        <p:spPr>
          <a:xfrm>
            <a:off x="1004855" y="1335215"/>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600"/>
              </a:spcAft>
            </a:pPr>
            <a:r>
              <a:rPr lang="en-GB" dirty="0"/>
              <a:t>The general stability of pricing over extended periods implies a potential for margin pressure as costs (including labour and overheads) rise – albeit the largest cost related to vehicle hire is the upfront (and one-time) purchase cost of a vehicle, which is reflected in prices set with customers. This means that directly attributable operating costs (i.e. maintenance) and business overheads would appear to be the main areas of possible inflationary pressure. </a:t>
            </a:r>
          </a:p>
        </p:txBody>
      </p:sp>
      <p:pic>
        <p:nvPicPr>
          <p:cNvPr id="7" name="Picture 6">
            <a:extLst>
              <a:ext uri="{FF2B5EF4-FFF2-40B4-BE49-F238E27FC236}">
                <a16:creationId xmlns:a16="http://schemas.microsoft.com/office/drawing/2014/main" id="{87C1FC99-F6B7-419D-951A-49DE268C6B9B}"/>
              </a:ext>
            </a:extLst>
          </p:cNvPr>
          <p:cNvPicPr>
            <a:picLocks noChangeAspect="1"/>
          </p:cNvPicPr>
          <p:nvPr>
            <p:custDataLst>
              <p:tags r:id="rId4"/>
            </p:custDataLst>
          </p:nvPr>
        </p:nvPicPr>
        <p:blipFill>
          <a:blip r:embed="rId8"/>
          <a:stretch>
            <a:fillRect/>
          </a:stretch>
        </p:blipFill>
        <p:spPr>
          <a:xfrm>
            <a:off x="995122" y="1912839"/>
            <a:ext cx="3607007" cy="2702089"/>
          </a:xfrm>
          <a:prstGeom prst="rect">
            <a:avLst/>
          </a:prstGeom>
        </p:spPr>
      </p:pic>
      <p:sp>
        <p:nvSpPr>
          <p:cNvPr id="26" name="Text Box 8">
            <a:extLst>
              <a:ext uri="{FF2B5EF4-FFF2-40B4-BE49-F238E27FC236}">
                <a16:creationId xmlns:a16="http://schemas.microsoft.com/office/drawing/2014/main" id="{01053C8E-3AEC-4E50-803D-4B20F6BA7E5C}"/>
              </a:ext>
            </a:extLst>
          </p:cNvPr>
          <p:cNvSpPr txBox="1">
            <a:spLocks noChangeArrowheads="1"/>
          </p:cNvSpPr>
          <p:nvPr>
            <p:custDataLst>
              <p:tags r:id="rId5"/>
            </p:custDataLst>
          </p:nvPr>
        </p:nvSpPr>
        <p:spPr bwMode="auto">
          <a:xfrm>
            <a:off x="1001680" y="4680402"/>
            <a:ext cx="3600448" cy="275529"/>
          </a:xfrm>
          <a:prstGeom prst="rect">
            <a:avLst/>
          </a:prstGeom>
          <a:noFill/>
          <a:ln w="6350">
            <a:noFill/>
            <a:miter lim="800000"/>
            <a:headEnd type="none" w="sm" len="sm"/>
            <a:tailEnd type="none" w="sm" len="sm"/>
          </a:ln>
          <a:effectLst/>
        </p:spPr>
        <p:txBody>
          <a:bodyPr wrap="square" lIns="0" tIns="0" rIns="0" bIns="0" anchor="b">
            <a:noAutofit/>
          </a:bodyPr>
          <a:lstStyle/>
          <a:p>
            <a:pPr marL="534988" indent="-534988" defTabSz="762000" eaLnBrk="0" hangingPunct="0">
              <a:spcBef>
                <a:spcPts val="200"/>
              </a:spcBef>
              <a:tabLst>
                <a:tab pos="355600" algn="l"/>
              </a:tabLst>
            </a:pPr>
            <a:r>
              <a:rPr lang="en-GB" sz="600" dirty="0">
                <a:solidFill>
                  <a:srgbClr val="00338D"/>
                </a:solidFill>
                <a:cs typeface="Arial" pitchFamily="34" charset="0"/>
              </a:rPr>
              <a:t>Note: 	a)	We have included rolling/spot rate agreements only as at Apr-22.</a:t>
            </a:r>
          </a:p>
          <a:p>
            <a:pPr marL="534988" indent="-534988" defTabSz="762000" eaLnBrk="0" hangingPunct="0">
              <a:spcBef>
                <a:spcPts val="200"/>
              </a:spcBef>
              <a:tabLst>
                <a:tab pos="355600" algn="l"/>
              </a:tabLst>
            </a:pPr>
            <a:r>
              <a:rPr lang="en-GB" sz="600" dirty="0">
                <a:solidFill>
                  <a:srgbClr val="00338D"/>
                </a:solidFill>
                <a:cs typeface="Arial" pitchFamily="34" charset="0"/>
              </a:rPr>
              <a:t>	b)	On hire duration reflects the duration of hire to the specific customer. The vehicle may have been hired to other customers prior to this period.</a:t>
            </a:r>
          </a:p>
        </p:txBody>
      </p:sp>
      <p:grpSp>
        <p:nvGrpSpPr>
          <p:cNvPr id="34" name="Group 33">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5"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7"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8"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9"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0"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1"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44472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Business drivers — Pricing evolution</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[Customer 3] hire vehicle sample testing </a:t>
            </a:r>
            <a:r>
              <a:rPr lang="en-US" dirty="0"/>
              <a:t> </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85599" y="2223113"/>
            <a:ext cx="6404721"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We have also included a sample of [Customer 3] vehicles on hire. The 3.5 tonne TMV &amp; 3.5 tonne Low Bodied TMV category incorporates both types of vehicles, with Low Bodied TMV generally commanding a higher price. As such the prices vary more significantly due to the mix of products.  </a:t>
            </a:r>
          </a:p>
          <a:p>
            <a:pPr lvl="1"/>
            <a:r>
              <a:rPr lang="en-GB" dirty="0"/>
              <a:t>The findings are similar to the [Customer 2] sample - there is little evidence of overall price increases year on year, albeit [Target] did increase prices at Apr-22 on some of their 18 tonne vehicles.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64" name="Text Placeholder 11">
            <a:extLst>
              <a:ext uri="{FF2B5EF4-FFF2-40B4-BE49-F238E27FC236}">
                <a16:creationId xmlns:a16="http://schemas.microsoft.com/office/drawing/2014/main" id="{C588A536-821B-4ADB-8114-23A24CBB5193}"/>
              </a:ext>
            </a:extLst>
          </p:cNvPr>
          <p:cNvSpPr txBox="1">
            <a:spLocks/>
          </p:cNvSpPr>
          <p:nvPr/>
        </p:nvSpPr>
        <p:spPr>
          <a:xfrm>
            <a:off x="1004855" y="1335215"/>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600"/>
              </a:spcAft>
            </a:pPr>
            <a:r>
              <a:rPr lang="en-GB" dirty="0"/>
              <a:t>The general stability of pricing over extended periods implies a potential for margin pressure as costs (including labour and overheads) rise – albeit the largest cost related to vehicle hire is the upfront (and one-time) purchase cost of a vehicle, which is reflected in prices set with customers. This means that directly attributable operating costs (i.e. maintenance) and business overheads would appear to be the main areas of possible inflationary pressure. </a:t>
            </a:r>
          </a:p>
        </p:txBody>
      </p:sp>
      <p:pic>
        <p:nvPicPr>
          <p:cNvPr id="7" name="Picture 6">
            <a:extLst>
              <a:ext uri="{FF2B5EF4-FFF2-40B4-BE49-F238E27FC236}">
                <a16:creationId xmlns:a16="http://schemas.microsoft.com/office/drawing/2014/main" id="{7498F175-8752-4285-A665-406463D62AF3}"/>
              </a:ext>
            </a:extLst>
          </p:cNvPr>
          <p:cNvPicPr>
            <a:picLocks noChangeAspect="1"/>
          </p:cNvPicPr>
          <p:nvPr>
            <p:custDataLst>
              <p:tags r:id="rId4"/>
            </p:custDataLst>
          </p:nvPr>
        </p:nvPicPr>
        <p:blipFill>
          <a:blip r:embed="rId8"/>
          <a:stretch>
            <a:fillRect/>
          </a:stretch>
        </p:blipFill>
        <p:spPr>
          <a:xfrm>
            <a:off x="995121" y="1912839"/>
            <a:ext cx="3609332" cy="1920797"/>
          </a:xfrm>
          <a:prstGeom prst="rect">
            <a:avLst/>
          </a:prstGeom>
        </p:spPr>
      </p:pic>
      <p:pic>
        <p:nvPicPr>
          <p:cNvPr id="66" name="Picture 65">
            <a:extLst>
              <a:ext uri="{FF2B5EF4-FFF2-40B4-BE49-F238E27FC236}">
                <a16:creationId xmlns:a16="http://schemas.microsoft.com/office/drawing/2014/main" id="{4C39E570-3B09-4FAA-9805-C2CC4D758BFC}"/>
              </a:ext>
            </a:extLst>
          </p:cNvPr>
          <p:cNvPicPr>
            <a:picLocks noChangeAspect="1"/>
          </p:cNvPicPr>
          <p:nvPr>
            <p:custDataLst>
              <p:tags r:id="rId5"/>
            </p:custDataLst>
          </p:nvPr>
        </p:nvPicPr>
        <p:blipFill>
          <a:blip r:embed="rId9"/>
          <a:stretch>
            <a:fillRect/>
          </a:stretch>
        </p:blipFill>
        <p:spPr>
          <a:xfrm>
            <a:off x="992352" y="3979512"/>
            <a:ext cx="3609332" cy="1431628"/>
          </a:xfrm>
          <a:prstGeom prst="rect">
            <a:avLst/>
          </a:prstGeom>
        </p:spPr>
      </p:pic>
      <p:grpSp>
        <p:nvGrpSpPr>
          <p:cNvPr id="33" name="Group 32">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34"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82383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EBIT bridge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EBIT bridge</a:t>
            </a:r>
            <a:endParaRPr lang="en-US" sz="1600" dirty="0">
              <a:solidFill>
                <a:schemeClr val="bg1"/>
              </a:solidFill>
            </a:endParaRPr>
          </a:p>
        </p:txBody>
      </p:sp>
      <p:sp>
        <p:nvSpPr>
          <p:cNvPr id="106" name="Text Placeholder 25">
            <a:extLst>
              <a:ext uri="{FF2B5EF4-FFF2-40B4-BE49-F238E27FC236}">
                <a16:creationId xmlns:a16="http://schemas.microsoft.com/office/drawing/2014/main" id="{52178562-6DF0-B95D-228E-F6C03AB70895}"/>
              </a:ext>
            </a:extLst>
          </p:cNvPr>
          <p:cNvSpPr txBox="1">
            <a:spLocks/>
          </p:cNvSpPr>
          <p:nvPr/>
        </p:nvSpPr>
        <p:spPr>
          <a:xfrm>
            <a:off x="998262" y="1912838"/>
            <a:ext cx="10192298"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EBIT bridge FY20-FY22</a:t>
            </a:r>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15" name="Picture 14">
            <a:extLst>
              <a:ext uri="{FF2B5EF4-FFF2-40B4-BE49-F238E27FC236}">
                <a16:creationId xmlns:a16="http://schemas.microsoft.com/office/drawing/2014/main" id="{B5721D47-F4A7-4A14-AB20-6522D38F5A2E}"/>
              </a:ext>
            </a:extLst>
          </p:cNvPr>
          <p:cNvPicPr>
            <a:picLocks noChangeAspect="1"/>
          </p:cNvPicPr>
          <p:nvPr>
            <p:custDataLst>
              <p:tags r:id="rId3"/>
            </p:custDataLst>
          </p:nvPr>
        </p:nvPicPr>
        <p:blipFill>
          <a:blip r:embed="rId8"/>
          <a:stretch>
            <a:fillRect/>
          </a:stretch>
        </p:blipFill>
        <p:spPr>
          <a:xfrm>
            <a:off x="962521" y="2713224"/>
            <a:ext cx="10356940" cy="2429288"/>
          </a:xfrm>
          <a:prstGeom prst="rect">
            <a:avLst/>
          </a:prstGeom>
        </p:spPr>
      </p:pic>
      <p:sp>
        <p:nvSpPr>
          <p:cNvPr id="37" name="Text Placeholder 11">
            <a:extLst>
              <a:ext uri="{FF2B5EF4-FFF2-40B4-BE49-F238E27FC236}">
                <a16:creationId xmlns:a16="http://schemas.microsoft.com/office/drawing/2014/main" id="{99823B9D-EC7D-4EFC-A3A4-46507AD87303}"/>
              </a:ext>
            </a:extLst>
          </p:cNvPr>
          <p:cNvSpPr txBox="1">
            <a:spLocks/>
          </p:cNvSpPr>
          <p:nvPr/>
        </p:nvSpPr>
        <p:spPr>
          <a:xfrm>
            <a:off x="995360" y="134076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Further, the base overhead costs have increased by £0.4 million reflecting mostly an increase in headcount. This has been offset by a £0.2 million positive swing in profit/losses on aged fleet disposals (as used equipment is currently attracting premium pricing due to long lead times on new vehicles), driving an overall increase in EBITDA of £0.3 million across the period. </a:t>
            </a:r>
            <a:endParaRPr lang="en-US" dirty="0"/>
          </a:p>
        </p:txBody>
      </p:sp>
      <p:sp>
        <p:nvSpPr>
          <p:cNvPr id="3" name="TextBox 2">
            <a:extLst>
              <a:ext uri="{FF2B5EF4-FFF2-40B4-BE49-F238E27FC236}">
                <a16:creationId xmlns:a16="http://schemas.microsoft.com/office/drawing/2014/main" id="{89DCAA09-1256-4D83-A431-7D23A995FC27}"/>
              </a:ext>
            </a:extLst>
          </p:cNvPr>
          <p:cNvSpPr txBox="1"/>
          <p:nvPr/>
        </p:nvSpPr>
        <p:spPr>
          <a:xfrm>
            <a:off x="2534348" y="2766146"/>
            <a:ext cx="1287262" cy="202874"/>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Gross profit (+187)</a:t>
            </a:r>
          </a:p>
        </p:txBody>
      </p:sp>
      <p:sp>
        <p:nvSpPr>
          <p:cNvPr id="25" name="TextBox 24">
            <a:extLst>
              <a:ext uri="{FF2B5EF4-FFF2-40B4-BE49-F238E27FC236}">
                <a16:creationId xmlns:a16="http://schemas.microsoft.com/office/drawing/2014/main" id="{9CF133B6-6EAC-4D75-BEFB-8461B58FE4D8}"/>
              </a:ext>
            </a:extLst>
          </p:cNvPr>
          <p:cNvSpPr txBox="1"/>
          <p:nvPr/>
        </p:nvSpPr>
        <p:spPr>
          <a:xfrm>
            <a:off x="7261155" y="2864558"/>
            <a:ext cx="1287262" cy="202874"/>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Gross profit (+158)</a:t>
            </a:r>
          </a:p>
        </p:txBody>
      </p:sp>
      <p:sp>
        <p:nvSpPr>
          <p:cNvPr id="26" name="Rounded Rectangle 7">
            <a:extLst>
              <a:ext uri="{FF2B5EF4-FFF2-40B4-BE49-F238E27FC236}">
                <a16:creationId xmlns:a16="http://schemas.microsoft.com/office/drawing/2014/main" id="{227EEF8E-E4B0-4CD3-A7EC-626433367402}"/>
              </a:ext>
            </a:extLst>
          </p:cNvPr>
          <p:cNvSpPr/>
          <p:nvPr>
            <p:custDataLst>
              <p:tags r:id="rId4"/>
            </p:custDataLst>
          </p:nvPr>
        </p:nvSpPr>
        <p:spPr>
          <a:xfrm>
            <a:off x="6487113" y="3107141"/>
            <a:ext cx="2835346" cy="990881"/>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7" name="Rounded Rectangle 7">
            <a:extLst>
              <a:ext uri="{FF2B5EF4-FFF2-40B4-BE49-F238E27FC236}">
                <a16:creationId xmlns:a16="http://schemas.microsoft.com/office/drawing/2014/main" id="{C3D6D87D-7982-499B-AF6D-E22DEE0E8761}"/>
              </a:ext>
            </a:extLst>
          </p:cNvPr>
          <p:cNvSpPr/>
          <p:nvPr>
            <p:custDataLst>
              <p:tags r:id="rId5"/>
            </p:custDataLst>
          </p:nvPr>
        </p:nvSpPr>
        <p:spPr>
          <a:xfrm>
            <a:off x="1808009" y="2965995"/>
            <a:ext cx="2835346" cy="990881"/>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grpSp>
        <p:nvGrpSpPr>
          <p:cNvPr id="39" name="Group 38">
            <a:extLst>
              <a:ext uri="{FF2B5EF4-FFF2-40B4-BE49-F238E27FC236}">
                <a16:creationId xmlns:a16="http://schemas.microsoft.com/office/drawing/2014/main" id="{CE414DB1-9CCC-4F2F-8A9E-597F28901E4A}"/>
              </a:ext>
            </a:extLst>
          </p:cNvPr>
          <p:cNvGrpSpPr/>
          <p:nvPr>
            <p:custDataLst>
              <p:tags r:id="rId6"/>
            </p:custDataLst>
          </p:nvPr>
        </p:nvGrpSpPr>
        <p:grpSpPr>
          <a:xfrm>
            <a:off x="995364" y="153170"/>
            <a:ext cx="6253254" cy="195814"/>
            <a:chOff x="995364" y="153170"/>
            <a:chExt cx="6253254" cy="195814"/>
          </a:xfrm>
        </p:grpSpPr>
        <p:sp>
          <p:nvSpPr>
            <p:cNvPr id="4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1"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42"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5"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6"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71039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Cost breakdown — Cost of sales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Cost breakdown</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Cost of sales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1004855" y="1335215"/>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Costs of sales consist mainly of servicing and repair costs on hire fleet as well as purchase costs of vehicles for resale. Repair works are mainly outsourced on routine vehicle repairs. Crash cushions are only repaired in-house. Most of the direct wages however are recognised in overheads, with COGS reflecting only the remuneration of two technicians – see next page for wages information.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485E35B6-486F-4C07-842E-B88394B334B1}"/>
              </a:ext>
            </a:extLst>
          </p:cNvPr>
          <p:cNvPicPr>
            <a:picLocks noChangeAspect="1"/>
          </p:cNvPicPr>
          <p:nvPr>
            <p:custDataLst>
              <p:tags r:id="rId4"/>
            </p:custDataLst>
          </p:nvPr>
        </p:nvPicPr>
        <p:blipFill>
          <a:blip r:embed="rId7"/>
          <a:stretch>
            <a:fillRect/>
          </a:stretch>
        </p:blipFill>
        <p:spPr>
          <a:xfrm>
            <a:off x="1001677" y="1916514"/>
            <a:ext cx="3273710" cy="3637187"/>
          </a:xfrm>
          <a:prstGeom prst="rect">
            <a:avLst/>
          </a:prstGeom>
        </p:spPr>
      </p:pic>
      <p:sp>
        <p:nvSpPr>
          <p:cNvPr id="37" name="Text Placeholder 48">
            <a:extLst>
              <a:ext uri="{FF2B5EF4-FFF2-40B4-BE49-F238E27FC236}">
                <a16:creationId xmlns:a16="http://schemas.microsoft.com/office/drawing/2014/main" id="{398A109A-E627-403C-B8BB-E6A2DDF7DCA0}"/>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Repairs and maintenance</a:t>
            </a:r>
          </a:p>
          <a:p>
            <a:pPr>
              <a:defRPr/>
            </a:pPr>
            <a:r>
              <a:rPr lang="en-GB" sz="1000" b="0" dirty="0">
                <a:solidFill>
                  <a:srgbClr val="000000"/>
                </a:solidFill>
              </a:rPr>
              <a:t>Repairs and maintenance includes the cost of parts / consumables associated with assets on hire, as well as parts used to repair and refurbish assets for hire. Customers can be recharged for certain repairs but only if caused by damages to the vehicle due to the fault of the customer. Routine wear and tear repairs cannot be recharged. </a:t>
            </a:r>
          </a:p>
          <a:p>
            <a:pPr>
              <a:defRPr/>
            </a:pPr>
            <a:r>
              <a:rPr lang="en-GB" sz="1000" b="0" dirty="0">
                <a:solidFill>
                  <a:srgbClr val="000000"/>
                </a:solidFill>
              </a:rPr>
              <a:t>The work is typically done by third party subcontractors, but can also be conducted in-house, however Management prefer to occupy own technicians with fee generating work such as third party repairs. Crash cushions however can only be repaired by [Target]. </a:t>
            </a:r>
          </a:p>
          <a:p>
            <a:pPr>
              <a:defRPr/>
            </a:pPr>
            <a:r>
              <a:rPr lang="en-US" sz="1000" dirty="0">
                <a:solidFill>
                  <a:schemeClr val="tx2"/>
                </a:solidFill>
              </a:rPr>
              <a:t>Motor insurance – vehicle hire</a:t>
            </a:r>
          </a:p>
          <a:p>
            <a:pPr>
              <a:defRPr/>
            </a:pPr>
            <a:r>
              <a:rPr lang="en-GB" sz="1000" b="0" dirty="0">
                <a:solidFill>
                  <a:srgbClr val="000000"/>
                </a:solidFill>
              </a:rPr>
              <a:t>Management informs that all vehicles on hire must be insured through customer's comprehensive insurance policies. The costs reflected within this line reflect level of ‘back up’ insurance. </a:t>
            </a:r>
          </a:p>
          <a:p>
            <a:pPr>
              <a:defRPr/>
            </a:pPr>
            <a:endParaRPr lang="en-US" sz="900" dirty="0">
              <a:solidFill>
                <a:schemeClr val="tx2"/>
              </a:solidFill>
            </a:endParaRPr>
          </a:p>
          <a:p>
            <a:pPr>
              <a:defRPr/>
            </a:pPr>
            <a:endParaRPr lang="en-US" sz="900" dirty="0">
              <a:solidFill>
                <a:schemeClr val="tx2"/>
              </a:solidFill>
            </a:endParaRPr>
          </a:p>
          <a:p>
            <a:endParaRPr lang="en-US" sz="1000" b="0" dirty="0">
              <a:solidFill>
                <a:srgbClr val="000000"/>
              </a:solidFill>
            </a:endParaRPr>
          </a:p>
        </p:txBody>
      </p:sp>
      <p:sp>
        <p:nvSpPr>
          <p:cNvPr id="38" name="Text Placeholder 48">
            <a:extLst>
              <a:ext uri="{FF2B5EF4-FFF2-40B4-BE49-F238E27FC236}">
                <a16:creationId xmlns:a16="http://schemas.microsoft.com/office/drawing/2014/main" id="{97A43394-B444-4D9D-A3C1-7692645606A1}"/>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Production wages</a:t>
            </a:r>
          </a:p>
          <a:p>
            <a:pPr>
              <a:defRPr/>
            </a:pPr>
            <a:r>
              <a:rPr lang="en-GB" sz="1000" b="0" dirty="0">
                <a:solidFill>
                  <a:srgbClr val="000000"/>
                </a:solidFill>
              </a:rPr>
              <a:t>Production wages consist of 2 FTEs consisting of technicians. Although their costs are recognised within marker posts costs line, they are also involved in other work such as ad hoc repairs and fit outs. All staff are salaried employees and the business’ operating hours are 9 am- 5 pm Monday to Friday. Overtime is available for technicians for out of hour work. </a:t>
            </a:r>
          </a:p>
          <a:p>
            <a:pPr marR="0" lvl="0" fontAlgn="auto">
              <a:buClrTx/>
              <a:buSzTx/>
              <a:tabLst/>
              <a:defRPr/>
            </a:pPr>
            <a:r>
              <a:rPr lang="en-US" sz="1000" dirty="0">
                <a:solidFill>
                  <a:schemeClr val="tx2"/>
                </a:solidFill>
              </a:rPr>
              <a:t>Motor servicing charges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effectLst/>
                <a:uLnTx/>
                <a:uFillTx/>
                <a:latin typeface="Arial"/>
                <a:ea typeface="+mn-ea"/>
                <a:cs typeface="+mn-cs"/>
              </a:rPr>
              <a:t>These consists of repair and servicing costs of both own fleet damaged during hire (recharged to the customer) or third party repairs undertaken. The rates charged on these two types of activity are the same.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dirty="0">
              <a:latin typeface="Arial"/>
            </a:endParaRPr>
          </a:p>
          <a:p>
            <a:pPr>
              <a:defRPr/>
            </a:pPr>
            <a:r>
              <a:rPr lang="en-GB" sz="1000" dirty="0">
                <a:solidFill>
                  <a:schemeClr val="tx2"/>
                </a:solidFill>
              </a:rPr>
              <a:t>Vehicle purchases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dirty="0">
                <a:solidFill>
                  <a:srgbClr val="000000"/>
                </a:solidFill>
              </a:rPr>
              <a:t>These reflect the purchase costs of vehicles for resale, with the increase matching the revenue growth over the period.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i="0" u="none" strike="noStrike" kern="1200" cap="none" spc="0" normalizeH="0" baseline="0" noProof="0" dirty="0">
              <a:ln>
                <a:noFill/>
              </a:ln>
              <a:solidFill>
                <a:srgbClr val="00338D"/>
              </a:solidFill>
              <a:effectLst/>
              <a:uLnTx/>
              <a:uFillTx/>
              <a:latin typeface="Arial"/>
              <a:ea typeface="+mn-ea"/>
              <a:cs typeface="+mn-cs"/>
            </a:endParaRPr>
          </a:p>
          <a:p>
            <a:pPr>
              <a:defRPr/>
            </a:pPr>
            <a:endParaRPr lang="en-US" sz="1000" dirty="0">
              <a:solidFill>
                <a:schemeClr val="tx2"/>
              </a:solidFill>
            </a:endParaRPr>
          </a:p>
          <a:p>
            <a:pPr>
              <a:defRPr/>
            </a:pPr>
            <a:endParaRPr lang="en-US" sz="1000" dirty="0">
              <a:solidFill>
                <a:schemeClr val="tx2"/>
              </a:solidFill>
            </a:endParaRPr>
          </a:p>
          <a:p>
            <a:pPr lvl="1"/>
            <a:endParaRPr lang="en-GB" dirty="0"/>
          </a:p>
        </p:txBody>
      </p:sp>
      <p:sp>
        <p:nvSpPr>
          <p:cNvPr id="34" name="object 31">
            <a:extLst>
              <a:ext uri="{FF2B5EF4-FFF2-40B4-BE49-F238E27FC236}">
                <a16:creationId xmlns:a16="http://schemas.microsoft.com/office/drawing/2014/main" id="{72B51EE5-518B-4626-884E-5534EDC7924C}"/>
              </a:ext>
            </a:extLst>
          </p:cNvPr>
          <p:cNvSpPr>
            <a:spLocks/>
          </p:cNvSpPr>
          <p:nvPr/>
        </p:nvSpPr>
        <p:spPr>
          <a:xfrm>
            <a:off x="930049" y="237286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5" name="object 31">
            <a:extLst>
              <a:ext uri="{FF2B5EF4-FFF2-40B4-BE49-F238E27FC236}">
                <a16:creationId xmlns:a16="http://schemas.microsoft.com/office/drawing/2014/main" id="{7B0D7D6F-8F6E-47D2-BF1A-1F1BACFD59AA}"/>
              </a:ext>
            </a:extLst>
          </p:cNvPr>
          <p:cNvSpPr>
            <a:spLocks/>
          </p:cNvSpPr>
          <p:nvPr/>
        </p:nvSpPr>
        <p:spPr>
          <a:xfrm>
            <a:off x="930049" y="261002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39" name="object 31">
            <a:extLst>
              <a:ext uri="{FF2B5EF4-FFF2-40B4-BE49-F238E27FC236}">
                <a16:creationId xmlns:a16="http://schemas.microsoft.com/office/drawing/2014/main" id="{E4F4E4FE-5452-4A3F-923C-0E30107CA682}"/>
              </a:ext>
            </a:extLst>
          </p:cNvPr>
          <p:cNvSpPr>
            <a:spLocks/>
          </p:cNvSpPr>
          <p:nvPr/>
        </p:nvSpPr>
        <p:spPr>
          <a:xfrm>
            <a:off x="4661177" y="2285844"/>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40" name="object 31">
            <a:extLst>
              <a:ext uri="{FF2B5EF4-FFF2-40B4-BE49-F238E27FC236}">
                <a16:creationId xmlns:a16="http://schemas.microsoft.com/office/drawing/2014/main" id="{669AF823-A35F-421A-A8D3-656CFABE4355}"/>
              </a:ext>
            </a:extLst>
          </p:cNvPr>
          <p:cNvSpPr>
            <a:spLocks/>
          </p:cNvSpPr>
          <p:nvPr/>
        </p:nvSpPr>
        <p:spPr>
          <a:xfrm>
            <a:off x="4663794" y="4642552"/>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1" name="object 31">
            <a:extLst>
              <a:ext uri="{FF2B5EF4-FFF2-40B4-BE49-F238E27FC236}">
                <a16:creationId xmlns:a16="http://schemas.microsoft.com/office/drawing/2014/main" id="{59D9CABC-8685-4BC2-9296-26DDC4FE7E33}"/>
              </a:ext>
            </a:extLst>
          </p:cNvPr>
          <p:cNvSpPr>
            <a:spLocks/>
          </p:cNvSpPr>
          <p:nvPr/>
        </p:nvSpPr>
        <p:spPr>
          <a:xfrm>
            <a:off x="930049" y="3855933"/>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3" name="object 31">
            <a:extLst>
              <a:ext uri="{FF2B5EF4-FFF2-40B4-BE49-F238E27FC236}">
                <a16:creationId xmlns:a16="http://schemas.microsoft.com/office/drawing/2014/main" id="{7677C97A-1907-4F3F-8034-4A8FE63EAEE6}"/>
              </a:ext>
            </a:extLst>
          </p:cNvPr>
          <p:cNvSpPr>
            <a:spLocks/>
          </p:cNvSpPr>
          <p:nvPr/>
        </p:nvSpPr>
        <p:spPr>
          <a:xfrm>
            <a:off x="7943966" y="2285844"/>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4" name="object 31">
            <a:extLst>
              <a:ext uri="{FF2B5EF4-FFF2-40B4-BE49-F238E27FC236}">
                <a16:creationId xmlns:a16="http://schemas.microsoft.com/office/drawing/2014/main" id="{B885CEC0-5303-4FB6-B89F-7F8A88D5E7BD}"/>
              </a:ext>
            </a:extLst>
          </p:cNvPr>
          <p:cNvSpPr>
            <a:spLocks/>
          </p:cNvSpPr>
          <p:nvPr/>
        </p:nvSpPr>
        <p:spPr>
          <a:xfrm>
            <a:off x="7943966" y="3804398"/>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sp>
        <p:nvSpPr>
          <p:cNvPr id="46" name="object 31">
            <a:extLst>
              <a:ext uri="{FF2B5EF4-FFF2-40B4-BE49-F238E27FC236}">
                <a16:creationId xmlns:a16="http://schemas.microsoft.com/office/drawing/2014/main" id="{462BEA8D-1CF7-49D6-9BD6-BE650137941C}"/>
              </a:ext>
            </a:extLst>
          </p:cNvPr>
          <p:cNvSpPr>
            <a:spLocks/>
          </p:cNvSpPr>
          <p:nvPr/>
        </p:nvSpPr>
        <p:spPr>
          <a:xfrm>
            <a:off x="7943966" y="4971144"/>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5</a:t>
            </a:r>
            <a:endParaRPr sz="800" dirty="0">
              <a:solidFill>
                <a:schemeClr val="bg1"/>
              </a:solidFill>
            </a:endParaRPr>
          </a:p>
        </p:txBody>
      </p:sp>
      <p:sp>
        <p:nvSpPr>
          <p:cNvPr id="47" name="object 31">
            <a:extLst>
              <a:ext uri="{FF2B5EF4-FFF2-40B4-BE49-F238E27FC236}">
                <a16:creationId xmlns:a16="http://schemas.microsoft.com/office/drawing/2014/main" id="{15082200-04BE-49BE-B1E0-057B1AAD1F0A}"/>
              </a:ext>
            </a:extLst>
          </p:cNvPr>
          <p:cNvSpPr>
            <a:spLocks/>
          </p:cNvSpPr>
          <p:nvPr/>
        </p:nvSpPr>
        <p:spPr>
          <a:xfrm>
            <a:off x="930049" y="4471671"/>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sp>
        <p:nvSpPr>
          <p:cNvPr id="48" name="object 31">
            <a:extLst>
              <a:ext uri="{FF2B5EF4-FFF2-40B4-BE49-F238E27FC236}">
                <a16:creationId xmlns:a16="http://schemas.microsoft.com/office/drawing/2014/main" id="{355E9C31-BF06-4F96-AFED-19DEA4E22378}"/>
              </a:ext>
            </a:extLst>
          </p:cNvPr>
          <p:cNvSpPr>
            <a:spLocks/>
          </p:cNvSpPr>
          <p:nvPr/>
        </p:nvSpPr>
        <p:spPr>
          <a:xfrm>
            <a:off x="930049" y="461492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5</a:t>
            </a:r>
            <a:endParaRPr sz="800" dirty="0">
              <a:solidFill>
                <a:schemeClr val="bg1"/>
              </a:solidFill>
            </a:endParaRPr>
          </a:p>
        </p:txBody>
      </p:sp>
      <p:grpSp>
        <p:nvGrpSpPr>
          <p:cNvPr id="57" name="Group 56">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58"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9"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60"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61"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62"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4"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8032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F9F86A-B38A-4AD5-9F01-09B5C7FFAE29}"/>
              </a:ext>
            </a:extLst>
          </p:cNvPr>
          <p:cNvPicPr>
            <a:picLocks noChangeAspect="1"/>
          </p:cNvPicPr>
          <p:nvPr>
            <p:custDataLst>
              <p:tags r:id="rId1"/>
            </p:custDataLst>
          </p:nvPr>
        </p:nvPicPr>
        <p:blipFill>
          <a:blip r:embed="rId7"/>
          <a:stretch>
            <a:fillRect/>
          </a:stretch>
        </p:blipFill>
        <p:spPr>
          <a:xfrm>
            <a:off x="995120" y="1879565"/>
            <a:ext cx="3273710" cy="4177199"/>
          </a:xfrm>
          <a:prstGeom prst="rect">
            <a:avLst/>
          </a:prstGeom>
        </p:spPr>
      </p:pic>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Cost breakdown — Overheads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Cost breakdown</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Overheads</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[Target] operates with a semi-fixed overhead base and staff costs make up the largest portion of the cost base. On an adjusted basis overheads relative to revenue have increased from 15.0% in FY20 to 16.1% reflecting additional headcount (with total headcount increasing by six heads). FY23 budget assumes a level of operational gearing, with overheads decreasing as % of revenue to 13.4%.</a:t>
            </a:r>
            <a:endParaRPr lang="en-US"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4773" y="608859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7" name="Text Placeholder 48">
            <a:extLst>
              <a:ext uri="{FF2B5EF4-FFF2-40B4-BE49-F238E27FC236}">
                <a16:creationId xmlns:a16="http://schemas.microsoft.com/office/drawing/2014/main" id="{72874044-EEFB-4A6E-9672-14E50F11420B}"/>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Admin wages and directors remuneration</a:t>
            </a:r>
          </a:p>
          <a:p>
            <a:r>
              <a:rPr lang="en-GB" sz="1000" b="0" dirty="0">
                <a:solidFill>
                  <a:srgbClr val="000000"/>
                </a:solidFill>
              </a:rPr>
              <a:t>All employee costs, other than a small portion of direct labour recorded in COGS, are recorded in administration overheads. Out of 26 FTEs, four are directors reflecting [Shareholder 1}, [Shareholder 2], [Shareholder 3] and [Shareholder 4] (their costs salaries are recognised in Director Wages) and two more FTEs reflect family members on payroll namely [PA] and [Facilities manager).</a:t>
            </a:r>
          </a:p>
          <a:p>
            <a:r>
              <a:rPr lang="en-GB" sz="1000" b="0" dirty="0">
                <a:solidFill>
                  <a:srgbClr val="000000"/>
                </a:solidFill>
              </a:rPr>
              <a:t>The remuneration and other non-business related expenditure of all family members including the directors is being added back to EBITDA and replaced with the ongoing remuneration for [Shareholder 1] only as she will remain in the business in her capacity as MD. Management considers it would not be necessary to replace the roles of [PA} and [Facilities manager] as the workload could be split between the existing staff. To the extent you need to replace their roles, the additional cost needs to be factored into EBITDA.</a:t>
            </a:r>
          </a:p>
          <a:p>
            <a:r>
              <a:rPr lang="en-GB" sz="1000" b="0" dirty="0">
                <a:solidFill>
                  <a:srgbClr val="000000"/>
                </a:solidFill>
              </a:rPr>
              <a:t>Please see supporting analysis for further details of the roles held by the family members. </a:t>
            </a:r>
          </a:p>
          <a:p>
            <a:endParaRPr lang="en-US" sz="1000" b="0" dirty="0">
              <a:solidFill>
                <a:srgbClr val="000000"/>
              </a:solidFill>
            </a:endParaRPr>
          </a:p>
        </p:txBody>
      </p:sp>
      <p:sp>
        <p:nvSpPr>
          <p:cNvPr id="38" name="Text Placeholder 48">
            <a:extLst>
              <a:ext uri="{FF2B5EF4-FFF2-40B4-BE49-F238E27FC236}">
                <a16:creationId xmlns:a16="http://schemas.microsoft.com/office/drawing/2014/main" id="{21F3E6C5-6C14-430C-BA9F-E6DB970A7D2C}"/>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dirty="0">
                <a:solidFill>
                  <a:srgbClr val="000000"/>
                </a:solidFill>
              </a:rPr>
              <a:t>Agency labour is used rarely and this accounted for 2% of admin wages in FY22. All employees are salaried and with the exception of Sales Director's commission most are remunerated by way of salary only. </a:t>
            </a:r>
          </a:p>
          <a:p>
            <a:pPr lvl="1">
              <a:defRPr/>
            </a:pPr>
            <a:r>
              <a:rPr lang="en-GB" dirty="0">
                <a:solidFill>
                  <a:srgbClr val="000000"/>
                </a:solidFill>
              </a:rPr>
              <a:t>Management does not currently allocate technician time to specific revenue generating activities, noting that technicians work across multiple revenue streams as required.</a:t>
            </a:r>
          </a:p>
          <a:p>
            <a:pPr lvl="1">
              <a:defRPr/>
            </a:pPr>
            <a:r>
              <a:rPr lang="en-GB" dirty="0">
                <a:solidFill>
                  <a:srgbClr val="000000"/>
                </a:solidFill>
              </a:rPr>
              <a:t>As discussed earlier in the report, furlough was not widely utilised, as such the costs reflected here are fully loaded. The increase in costs per FTE across FY21- FY22 reflect reflects the annual wage inflation (implemented Jul each year at approximately 3% per annum). </a:t>
            </a:r>
          </a:p>
          <a:p>
            <a:pPr lvl="1">
              <a:defRPr/>
            </a:pPr>
            <a:r>
              <a:rPr lang="en-GB" dirty="0">
                <a:solidFill>
                  <a:srgbClr val="000000"/>
                </a:solidFill>
              </a:rPr>
              <a:t>A 3% salary increase has been agreed and will be implemented Jul-22 onwards, which will result in the increase in the cost per FTE in FY23. </a:t>
            </a:r>
          </a:p>
          <a:p>
            <a:pPr lvl="1">
              <a:defRPr/>
            </a:pPr>
            <a:endParaRPr lang="en-GB" dirty="0">
              <a:solidFill>
                <a:srgbClr val="000000"/>
              </a:solidFill>
            </a:endParaRPr>
          </a:p>
          <a:p>
            <a:pPr lvl="1"/>
            <a:endParaRPr lang="en-GB" dirty="0"/>
          </a:p>
        </p:txBody>
      </p:sp>
      <p:sp>
        <p:nvSpPr>
          <p:cNvPr id="33" name="object 31">
            <a:extLst>
              <a:ext uri="{FF2B5EF4-FFF2-40B4-BE49-F238E27FC236}">
                <a16:creationId xmlns:a16="http://schemas.microsoft.com/office/drawing/2014/main" id="{BBE768D4-17BE-4601-8FF3-2B9C72D6B1B0}"/>
              </a:ext>
            </a:extLst>
          </p:cNvPr>
          <p:cNvSpPr>
            <a:spLocks/>
          </p:cNvSpPr>
          <p:nvPr/>
        </p:nvSpPr>
        <p:spPr>
          <a:xfrm>
            <a:off x="4690571" y="2268908"/>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4" name="object 31">
            <a:extLst>
              <a:ext uri="{FF2B5EF4-FFF2-40B4-BE49-F238E27FC236}">
                <a16:creationId xmlns:a16="http://schemas.microsoft.com/office/drawing/2014/main" id="{5BB0B2B8-B1C8-4EE0-A7A9-9BD2A602E31F}"/>
              </a:ext>
            </a:extLst>
          </p:cNvPr>
          <p:cNvSpPr>
            <a:spLocks/>
          </p:cNvSpPr>
          <p:nvPr/>
        </p:nvSpPr>
        <p:spPr>
          <a:xfrm>
            <a:off x="923491" y="2707238"/>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5" name="object 31">
            <a:extLst>
              <a:ext uri="{FF2B5EF4-FFF2-40B4-BE49-F238E27FC236}">
                <a16:creationId xmlns:a16="http://schemas.microsoft.com/office/drawing/2014/main" id="{B9F1AB41-055E-4A44-92B5-C1AF37E03B4A}"/>
              </a:ext>
            </a:extLst>
          </p:cNvPr>
          <p:cNvSpPr>
            <a:spLocks/>
          </p:cNvSpPr>
          <p:nvPr/>
        </p:nvSpPr>
        <p:spPr>
          <a:xfrm>
            <a:off x="923491" y="2843865"/>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39" name="object 31">
            <a:extLst>
              <a:ext uri="{FF2B5EF4-FFF2-40B4-BE49-F238E27FC236}">
                <a16:creationId xmlns:a16="http://schemas.microsoft.com/office/drawing/2014/main" id="{A0BAD891-44DA-4CAE-9D33-73B3989F8691}"/>
              </a:ext>
            </a:extLst>
          </p:cNvPr>
          <p:cNvSpPr>
            <a:spLocks/>
          </p:cNvSpPr>
          <p:nvPr/>
        </p:nvSpPr>
        <p:spPr>
          <a:xfrm>
            <a:off x="923372" y="3038194"/>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40" name="object 31">
            <a:extLst>
              <a:ext uri="{FF2B5EF4-FFF2-40B4-BE49-F238E27FC236}">
                <a16:creationId xmlns:a16="http://schemas.microsoft.com/office/drawing/2014/main" id="{85926264-DDC8-4C82-9DF4-1D8EDACB31A0}"/>
              </a:ext>
            </a:extLst>
          </p:cNvPr>
          <p:cNvSpPr>
            <a:spLocks/>
          </p:cNvSpPr>
          <p:nvPr/>
        </p:nvSpPr>
        <p:spPr>
          <a:xfrm>
            <a:off x="923145" y="325944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1" name="object 31">
            <a:extLst>
              <a:ext uri="{FF2B5EF4-FFF2-40B4-BE49-F238E27FC236}">
                <a16:creationId xmlns:a16="http://schemas.microsoft.com/office/drawing/2014/main" id="{0F75BF7B-76E6-449D-8C23-BB65388D7F6F}"/>
              </a:ext>
            </a:extLst>
          </p:cNvPr>
          <p:cNvSpPr>
            <a:spLocks/>
          </p:cNvSpPr>
          <p:nvPr/>
        </p:nvSpPr>
        <p:spPr>
          <a:xfrm>
            <a:off x="929069" y="3537256"/>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grpSp>
        <p:nvGrpSpPr>
          <p:cNvPr id="50" name="Group 49">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51"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2"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3"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4"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5"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6"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7"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55849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D452E3-F830-4CFF-8AFA-D49C5AA329F5}"/>
              </a:ext>
            </a:extLst>
          </p:cNvPr>
          <p:cNvPicPr>
            <a:picLocks noChangeAspect="1"/>
          </p:cNvPicPr>
          <p:nvPr>
            <p:custDataLst>
              <p:tags r:id="rId1"/>
            </p:custDataLst>
          </p:nvPr>
        </p:nvPicPr>
        <p:blipFill>
          <a:blip r:embed="rId7"/>
          <a:stretch>
            <a:fillRect/>
          </a:stretch>
        </p:blipFill>
        <p:spPr>
          <a:xfrm>
            <a:off x="995120" y="1879565"/>
            <a:ext cx="3273710" cy="4177199"/>
          </a:xfrm>
          <a:prstGeom prst="rect">
            <a:avLst/>
          </a:prstGeom>
        </p:spPr>
      </p:pic>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Cost breakdown — Overheads</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Cost breakdown</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Overheads</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[Target] operates with a semi-fixed overhead base and staff costs make up the largest portion of the cost base. On an adjusted basis overheads relative to revenue have increased from 15.0% in FY20 to 16.1% reflecting additional headcount (with total headcount increasing by six heads). FY23 budget assumes a level of operational gearing, with overheads decreasing as % of revenue to 13.4%. </a:t>
            </a:r>
            <a:endParaRPr lang="en-US"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1004614" y="611650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7" name="Text Placeholder 48">
            <a:extLst>
              <a:ext uri="{FF2B5EF4-FFF2-40B4-BE49-F238E27FC236}">
                <a16:creationId xmlns:a16="http://schemas.microsoft.com/office/drawing/2014/main" id="{72874044-EEFB-4A6E-9672-14E50F11420B}"/>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Rent and rates</a:t>
            </a:r>
          </a:p>
          <a:p>
            <a:r>
              <a:rPr lang="en-GB" sz="1000" b="0" dirty="0">
                <a:solidFill>
                  <a:srgbClr val="000000"/>
                </a:solidFill>
              </a:rPr>
              <a:t>Rent and rates are associated with the [Location 1] and [Location 5] storage facilities. [Location 1] is the main facility out of which the business operates and this is leased from a related party landlord, [Landlord 2]. Management has confirmed there are no lease incentives or rent free periods associated with this property. We further understand that it is your intention to sign a new lease on this property at completion. </a:t>
            </a:r>
          </a:p>
          <a:p>
            <a:r>
              <a:rPr lang="en-GB" sz="1000" b="0" dirty="0">
                <a:solidFill>
                  <a:srgbClr val="000000"/>
                </a:solidFill>
              </a:rPr>
              <a:t>Further, in Jan-22 [Target] entered into a new 5 year lease on nearby premises at [Location 3]. The lease is with [Landlord 2] and the annual cost is £36,000. We have included a pro forma adjustment for this lease in underlying earnings across the historical period. </a:t>
            </a:r>
          </a:p>
          <a:p>
            <a:pPr>
              <a:defRPr/>
            </a:pPr>
            <a:r>
              <a:rPr lang="en-US" sz="1000" dirty="0">
                <a:solidFill>
                  <a:schemeClr val="tx2"/>
                </a:solidFill>
              </a:rPr>
              <a:t>New premises cost</a:t>
            </a:r>
          </a:p>
          <a:p>
            <a:pPr>
              <a:defRPr/>
            </a:pPr>
            <a:r>
              <a:rPr lang="en-GB" b="0" dirty="0"/>
              <a:t>New premises costs relate to the repairs on [Location 1] property, reflecting [Target]'s share of the total repairs. Please see underlying earnings analysis earlier in the report for further details. </a:t>
            </a:r>
          </a:p>
          <a:p>
            <a:pPr>
              <a:defRPr/>
            </a:pPr>
            <a:endParaRPr lang="en-US" dirty="0">
              <a:solidFill>
                <a:schemeClr val="tx2"/>
              </a:solidFill>
            </a:endParaRPr>
          </a:p>
        </p:txBody>
      </p:sp>
      <p:sp>
        <p:nvSpPr>
          <p:cNvPr id="38" name="Text Placeholder 48">
            <a:extLst>
              <a:ext uri="{FF2B5EF4-FFF2-40B4-BE49-F238E27FC236}">
                <a16:creationId xmlns:a16="http://schemas.microsoft.com/office/drawing/2014/main" id="{21F3E6C5-6C14-430C-BA9F-E6DB970A7D2C}"/>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b="1" dirty="0">
                <a:solidFill>
                  <a:schemeClr val="tx2"/>
                </a:solidFill>
              </a:rPr>
              <a:t>Other</a:t>
            </a:r>
          </a:p>
          <a:p>
            <a:pPr lvl="1">
              <a:defRPr/>
            </a:pPr>
            <a:r>
              <a:rPr lang="en-GB" dirty="0">
                <a:solidFill>
                  <a:srgbClr val="000000"/>
                </a:solidFill>
              </a:rPr>
              <a:t>Other miscellaneous overheads consist of residual repairs and maintenance, travel costs, invoice finance bank charges, office insurance and other sundry expenses. Profits and losses on settlement of non-GBP denominated purchases are recognised within this line, albeit have been minimal. </a:t>
            </a:r>
          </a:p>
          <a:p>
            <a:pPr lvl="1">
              <a:defRPr/>
            </a:pPr>
            <a:r>
              <a:rPr lang="en-GB" dirty="0">
                <a:solidFill>
                  <a:srgbClr val="000000"/>
                </a:solidFill>
              </a:rPr>
              <a:t>[Target] has also recently entered into a fixed price energy contract, fixing the rate of electricity until end of 2023. </a:t>
            </a:r>
          </a:p>
          <a:p>
            <a:pPr lvl="1"/>
            <a:endParaRPr lang="en-GB" dirty="0"/>
          </a:p>
        </p:txBody>
      </p:sp>
      <p:sp>
        <p:nvSpPr>
          <p:cNvPr id="33" name="object 31">
            <a:extLst>
              <a:ext uri="{FF2B5EF4-FFF2-40B4-BE49-F238E27FC236}">
                <a16:creationId xmlns:a16="http://schemas.microsoft.com/office/drawing/2014/main" id="{949DC14D-0AA3-4C30-A8E2-249CB4F9F4DE}"/>
              </a:ext>
            </a:extLst>
          </p:cNvPr>
          <p:cNvSpPr>
            <a:spLocks/>
          </p:cNvSpPr>
          <p:nvPr/>
        </p:nvSpPr>
        <p:spPr>
          <a:xfrm>
            <a:off x="4673106" y="2280273"/>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39" name="object 31">
            <a:extLst>
              <a:ext uri="{FF2B5EF4-FFF2-40B4-BE49-F238E27FC236}">
                <a16:creationId xmlns:a16="http://schemas.microsoft.com/office/drawing/2014/main" id="{568CA88B-1CAE-4F13-BBF4-E88C762E87C8}"/>
              </a:ext>
            </a:extLst>
          </p:cNvPr>
          <p:cNvSpPr>
            <a:spLocks/>
          </p:cNvSpPr>
          <p:nvPr/>
        </p:nvSpPr>
        <p:spPr>
          <a:xfrm>
            <a:off x="923145" y="325944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0" name="object 31">
            <a:extLst>
              <a:ext uri="{FF2B5EF4-FFF2-40B4-BE49-F238E27FC236}">
                <a16:creationId xmlns:a16="http://schemas.microsoft.com/office/drawing/2014/main" id="{C8572762-9148-4D0B-B3F5-73EAC6BF09CC}"/>
              </a:ext>
            </a:extLst>
          </p:cNvPr>
          <p:cNvSpPr>
            <a:spLocks/>
          </p:cNvSpPr>
          <p:nvPr/>
        </p:nvSpPr>
        <p:spPr>
          <a:xfrm>
            <a:off x="929069" y="3537256"/>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sp>
        <p:nvSpPr>
          <p:cNvPr id="41" name="object 31">
            <a:extLst>
              <a:ext uri="{FF2B5EF4-FFF2-40B4-BE49-F238E27FC236}">
                <a16:creationId xmlns:a16="http://schemas.microsoft.com/office/drawing/2014/main" id="{A173CCC0-18D9-4C35-A560-309FEC863C0E}"/>
              </a:ext>
            </a:extLst>
          </p:cNvPr>
          <p:cNvSpPr>
            <a:spLocks/>
          </p:cNvSpPr>
          <p:nvPr/>
        </p:nvSpPr>
        <p:spPr>
          <a:xfrm>
            <a:off x="923145" y="2816941"/>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3" name="object 31">
            <a:extLst>
              <a:ext uri="{FF2B5EF4-FFF2-40B4-BE49-F238E27FC236}">
                <a16:creationId xmlns:a16="http://schemas.microsoft.com/office/drawing/2014/main" id="{8E61C8A6-E8B4-4277-A455-E903D315C9E0}"/>
              </a:ext>
            </a:extLst>
          </p:cNvPr>
          <p:cNvSpPr>
            <a:spLocks/>
          </p:cNvSpPr>
          <p:nvPr/>
        </p:nvSpPr>
        <p:spPr>
          <a:xfrm>
            <a:off x="4675636" y="4941598"/>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4" name="object 31">
            <a:extLst>
              <a:ext uri="{FF2B5EF4-FFF2-40B4-BE49-F238E27FC236}">
                <a16:creationId xmlns:a16="http://schemas.microsoft.com/office/drawing/2014/main" id="{CA45096B-CA32-4F35-B177-C83C2F5E0C4E}"/>
              </a:ext>
            </a:extLst>
          </p:cNvPr>
          <p:cNvSpPr>
            <a:spLocks/>
          </p:cNvSpPr>
          <p:nvPr/>
        </p:nvSpPr>
        <p:spPr>
          <a:xfrm>
            <a:off x="7953846" y="2286426"/>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grpSp>
        <p:nvGrpSpPr>
          <p:cNvPr id="50" name="Group 49">
            <a:extLst>
              <a:ext uri="{FF2B5EF4-FFF2-40B4-BE49-F238E27FC236}">
                <a16:creationId xmlns:a16="http://schemas.microsoft.com/office/drawing/2014/main" id="{CE414DB1-9CCC-4F2F-8A9E-597F28901E4A}"/>
              </a:ext>
            </a:extLst>
          </p:cNvPr>
          <p:cNvGrpSpPr/>
          <p:nvPr>
            <p:custDataLst>
              <p:tags r:id="rId5"/>
            </p:custDataLst>
          </p:nvPr>
        </p:nvGrpSpPr>
        <p:grpSpPr>
          <a:xfrm>
            <a:off x="995364" y="153170"/>
            <a:ext cx="6253254" cy="195814"/>
            <a:chOff x="995364" y="153170"/>
            <a:chExt cx="6253254" cy="195814"/>
          </a:xfrm>
        </p:grpSpPr>
        <p:sp>
          <p:nvSpPr>
            <p:cNvPr id="51"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2" name="Current Section2">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53"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4"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2104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5"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2208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6"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7083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7"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5979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989337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12" action="ppaction://hlinksldjump"/>
            <a:extLst>
              <a:ext uri="{FF2B5EF4-FFF2-40B4-BE49-F238E27FC236}">
                <a16:creationId xmlns:a16="http://schemas.microsoft.com/office/drawing/2014/main" id="{307BF6C5-238F-4F37-9422-9717B89FF886}"/>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Forecast trading</a:t>
            </a:r>
          </a:p>
        </p:txBody>
      </p:sp>
      <p:sp>
        <p:nvSpPr>
          <p:cNvPr id="5" name="TextBox 4">
            <a:hlinkClick r:id="rId13" action="ppaction://hlinksldjump"/>
            <a:extLst>
              <a:ext uri="{FF2B5EF4-FFF2-40B4-BE49-F238E27FC236}">
                <a16:creationId xmlns:a16="http://schemas.microsoft.com/office/drawing/2014/main" id="{A3BD1E9A-40FB-4891-A960-A802AFBF3CCE}"/>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Forecast trading overview</a:t>
            </a:r>
          </a:p>
        </p:txBody>
      </p:sp>
      <p:sp>
        <p:nvSpPr>
          <p:cNvPr id="6" name="TextBox 5">
            <a:hlinkClick r:id="rId14" action="ppaction://hlinksldjump"/>
            <a:extLst>
              <a:ext uri="{FF2B5EF4-FFF2-40B4-BE49-F238E27FC236}">
                <a16:creationId xmlns:a16="http://schemas.microsoft.com/office/drawing/2014/main" id="{29BA97A2-2511-4242-A427-006D37443571}"/>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Forecast Revenue and EBIT bridge</a:t>
            </a:r>
          </a:p>
        </p:txBody>
      </p:sp>
      <p:sp>
        <p:nvSpPr>
          <p:cNvPr id="7" name="TextBox 6">
            <a:hlinkClick r:id="rId12" action="ppaction://hlinksldjump"/>
            <a:extLst>
              <a:ext uri="{FF2B5EF4-FFF2-40B4-BE49-F238E27FC236}">
                <a16:creationId xmlns:a16="http://schemas.microsoft.com/office/drawing/2014/main" id="{1CA70EA2-274E-43D0-BCC5-8B08E49DEF0C}"/>
              </a:ext>
            </a:extLst>
          </p:cNvPr>
          <p:cNvSpPr txBox="1"/>
          <p:nvPr>
            <p:custDataLst>
              <p:tags r:id="rId5"/>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3.</a:t>
            </a:r>
          </a:p>
        </p:txBody>
      </p:sp>
      <p:sp>
        <p:nvSpPr>
          <p:cNvPr id="8" name="TextBox 7">
            <a:hlinkClick r:id="rId12" action="ppaction://hlinksldjump"/>
            <a:extLst>
              <a:ext uri="{FF2B5EF4-FFF2-40B4-BE49-F238E27FC236}">
                <a16:creationId xmlns:a16="http://schemas.microsoft.com/office/drawing/2014/main" id="{DF2C3A31-8B70-41DB-8571-A84ACC2545AB}"/>
              </a:ext>
            </a:extLst>
          </p:cNvPr>
          <p:cNvSpPr txBox="1"/>
          <p:nvPr>
            <p:custDataLst>
              <p:tags r:id="rId6"/>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36</a:t>
            </a:r>
          </a:p>
        </p:txBody>
      </p:sp>
      <p:sp>
        <p:nvSpPr>
          <p:cNvPr id="9" name="TextBox 8">
            <a:hlinkClick r:id="rId13" action="ppaction://hlinksldjump"/>
            <a:extLst>
              <a:ext uri="{FF2B5EF4-FFF2-40B4-BE49-F238E27FC236}">
                <a16:creationId xmlns:a16="http://schemas.microsoft.com/office/drawing/2014/main" id="{5B24C24B-9857-4AA0-A6C1-52BBF10EE021}"/>
              </a:ext>
            </a:extLst>
          </p:cNvPr>
          <p:cNvSpPr txBox="1"/>
          <p:nvPr>
            <p:custDataLst>
              <p:tags r:id="rId7"/>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3.1</a:t>
            </a:r>
          </a:p>
        </p:txBody>
      </p:sp>
      <p:sp>
        <p:nvSpPr>
          <p:cNvPr id="10" name="TextBox 9">
            <a:hlinkClick r:id="rId14" action="ppaction://hlinksldjump"/>
            <a:extLst>
              <a:ext uri="{FF2B5EF4-FFF2-40B4-BE49-F238E27FC236}">
                <a16:creationId xmlns:a16="http://schemas.microsoft.com/office/drawing/2014/main" id="{521A137E-1099-44D7-B52B-A03609512786}"/>
              </a:ext>
            </a:extLst>
          </p:cNvPr>
          <p:cNvSpPr txBox="1"/>
          <p:nvPr>
            <p:custDataLst>
              <p:tags r:id="rId8"/>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3.2</a:t>
            </a:r>
          </a:p>
        </p:txBody>
      </p:sp>
      <p:sp>
        <p:nvSpPr>
          <p:cNvPr id="11" name="TextBox 10">
            <a:hlinkClick r:id="rId13" action="ppaction://hlinksldjump"/>
            <a:extLst>
              <a:ext uri="{FF2B5EF4-FFF2-40B4-BE49-F238E27FC236}">
                <a16:creationId xmlns:a16="http://schemas.microsoft.com/office/drawing/2014/main" id="{458C65FD-A9E7-4631-AA70-A5EA63A2615F}"/>
              </a:ext>
            </a:extLst>
          </p:cNvPr>
          <p:cNvSpPr txBox="1"/>
          <p:nvPr>
            <p:custDataLst>
              <p:tags r:id="rId9"/>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37</a:t>
            </a:r>
          </a:p>
        </p:txBody>
      </p:sp>
      <p:sp>
        <p:nvSpPr>
          <p:cNvPr id="12" name="TextBox 11">
            <a:hlinkClick r:id="rId14" action="ppaction://hlinksldjump"/>
            <a:extLst>
              <a:ext uri="{FF2B5EF4-FFF2-40B4-BE49-F238E27FC236}">
                <a16:creationId xmlns:a16="http://schemas.microsoft.com/office/drawing/2014/main" id="{CD1A7AFE-E2AA-4687-BDA6-2D395A0A9EEC}"/>
              </a:ext>
            </a:extLst>
          </p:cNvPr>
          <p:cNvSpPr txBox="1"/>
          <p:nvPr>
            <p:custDataLst>
              <p:tags r:id="rId10"/>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40</a:t>
            </a:r>
          </a:p>
        </p:txBody>
      </p:sp>
    </p:spTree>
    <p:custDataLst>
      <p:tags r:id="rId1"/>
    </p:custDataLst>
    <p:extLst>
      <p:ext uri="{BB962C8B-B14F-4D97-AF65-F5344CB8AC3E}">
        <p14:creationId xmlns:p14="http://schemas.microsoft.com/office/powerpoint/2010/main" val="4101780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Forecast overview</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Forecast trading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2319" y="1910820"/>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Forecast overview</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1" y="1911599"/>
            <a:ext cx="5036400" cy="3955801"/>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1000250" y="133587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EBIT is forecast to increase from £1.2 million in FY22 to £2.1 million in FY23, reflecting the ramp-up in vehicle hire and vehicle sales volumes, ability to pass on any purchase price inflation and leverage the largely fixed overhead base. The forecast has not been built up by customer with reference to a ‘pipeline’ or committed orders, but rather based on the Sales Director’s discussions with clients.</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8" name="Picture 7">
            <a:extLst>
              <a:ext uri="{FF2B5EF4-FFF2-40B4-BE49-F238E27FC236}">
                <a16:creationId xmlns:a16="http://schemas.microsoft.com/office/drawing/2014/main" id="{2AD67B24-C863-4048-9B8C-4F3CD0F929AB}"/>
              </a:ext>
            </a:extLst>
          </p:cNvPr>
          <p:cNvPicPr>
            <a:picLocks noChangeAspect="1"/>
          </p:cNvPicPr>
          <p:nvPr>
            <p:custDataLst>
              <p:tags r:id="rId4"/>
            </p:custDataLst>
          </p:nvPr>
        </p:nvPicPr>
        <p:blipFill>
          <a:blip r:embed="rId7"/>
          <a:stretch>
            <a:fillRect/>
          </a:stretch>
        </p:blipFill>
        <p:spPr>
          <a:xfrm>
            <a:off x="1001682" y="1910820"/>
            <a:ext cx="3278847" cy="3899328"/>
          </a:xfrm>
          <a:prstGeom prst="rect">
            <a:avLst/>
          </a:prstGeom>
        </p:spPr>
      </p:pic>
      <p:sp>
        <p:nvSpPr>
          <p:cNvPr id="37" name="Text Placeholder 48">
            <a:extLst>
              <a:ext uri="{FF2B5EF4-FFF2-40B4-BE49-F238E27FC236}">
                <a16:creationId xmlns:a16="http://schemas.microsoft.com/office/drawing/2014/main" id="{0F0596FE-5A0E-4533-AD26-2ABA76E451D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Vehicle hire</a:t>
            </a:r>
          </a:p>
          <a:p>
            <a:pPr>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Revenue is forecast by vehicle category, taking into the account both additions and disposals (in line with the business’ growth plan and the Sales Director’s discussions with customers and his perspectives on the potential orders they may place at the point of forecast preparation), revenue rates and utilisation.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Weekly revenue per vehicle has been kept in line with historical rates, whilst a blanket utilisation (96%) has been applied across all vehicles.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000" b="0" dirty="0"/>
              <a:t>The FY23 forecast assumes a closing vehicle number of 428, however based on more recent estimates Management now believes this figure could be closer to 505 vehicles by the end of FY23, if supply chain issues are resolved. Whilst we have not been provided with details of pipeline or confirmed orders, the business has achieved a utilisation rate of 95.3% in FY22, however supply chain lead times present a significant risk to the achievability of the forecast.</a:t>
            </a: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a:p>
            <a:pPr>
              <a:defRPr/>
            </a:pPr>
            <a:endParaRPr lang="en-US" sz="900" dirty="0">
              <a:solidFill>
                <a:schemeClr val="tx2"/>
              </a:solidFill>
            </a:endParaRPr>
          </a:p>
          <a:p>
            <a:pPr>
              <a:defRPr/>
            </a:pPr>
            <a:endParaRPr lang="en-US" dirty="0">
              <a:solidFill>
                <a:schemeClr val="tx2"/>
              </a:solidFill>
            </a:endParaRPr>
          </a:p>
        </p:txBody>
      </p:sp>
      <p:sp>
        <p:nvSpPr>
          <p:cNvPr id="38" name="Text Placeholder 48">
            <a:extLst>
              <a:ext uri="{FF2B5EF4-FFF2-40B4-BE49-F238E27FC236}">
                <a16:creationId xmlns:a16="http://schemas.microsoft.com/office/drawing/2014/main" id="{237717E2-9DBA-4361-BA26-97CE729CC3B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In particular the forecast assumes an opening fleet of approx. 380 vehicles, however Management advises that approx. 323 were in stock at year-end (driving the shortfall on FY22 performance). Converting the orderbook of new vehicles and seeing the improved supply of vehicles is critical to getting to the 505 vehicles by April 2023, and recovering the shortfalls in activity that are likely in the first months of the FY23 year. In the current environment we see this as a particular risk to the plan, and recommend you apply sensitivities to the business plan for a more realistic ramp-up in volumes.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Costs have been forecast with reference to run rate spend, with an assumption that repair costs will decrease as a result of the fleet comprising newer vehicles. The forecast also assumes any further increases in material costs are passed through to customers given the rolling nature of the agreements and the continuing increase in the demand, however weekly rates historically across longer term rolling agreements have stayed broadly flat- see later in the report.</a:t>
            </a:r>
          </a:p>
        </p:txBody>
      </p:sp>
      <p:sp>
        <p:nvSpPr>
          <p:cNvPr id="32" name="object 31">
            <a:extLst>
              <a:ext uri="{FF2B5EF4-FFF2-40B4-BE49-F238E27FC236}">
                <a16:creationId xmlns:a16="http://schemas.microsoft.com/office/drawing/2014/main" id="{552AD72D-6D03-47E9-B96E-52337B8A1E91}"/>
              </a:ext>
            </a:extLst>
          </p:cNvPr>
          <p:cNvSpPr>
            <a:spLocks/>
          </p:cNvSpPr>
          <p:nvPr/>
        </p:nvSpPr>
        <p:spPr>
          <a:xfrm>
            <a:off x="4690571" y="2268908"/>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3" name="object 31">
            <a:extLst>
              <a:ext uri="{FF2B5EF4-FFF2-40B4-BE49-F238E27FC236}">
                <a16:creationId xmlns:a16="http://schemas.microsoft.com/office/drawing/2014/main" id="{311D5EB9-5D65-420E-BFFC-0EFB6A11E07D}"/>
              </a:ext>
            </a:extLst>
          </p:cNvPr>
          <p:cNvSpPr>
            <a:spLocks/>
          </p:cNvSpPr>
          <p:nvPr/>
        </p:nvSpPr>
        <p:spPr>
          <a:xfrm>
            <a:off x="930054" y="2223113"/>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grpSp>
        <p:nvGrpSpPr>
          <p:cNvPr id="9" name="Group 8">
            <a:extLst>
              <a:ext uri="{FF2B5EF4-FFF2-40B4-BE49-F238E27FC236}">
                <a16:creationId xmlns:a16="http://schemas.microsoft.com/office/drawing/2014/main" id="{8D41BCB4-60ED-4665-90C2-0D666177F140}"/>
              </a:ext>
            </a:extLst>
          </p:cNvPr>
          <p:cNvGrpSpPr/>
          <p:nvPr>
            <p:custDataLst>
              <p:tags r:id="rId5"/>
            </p:custDataLst>
          </p:nvPr>
        </p:nvGrpSpPr>
        <p:grpSpPr>
          <a:xfrm>
            <a:off x="995364" y="153170"/>
            <a:ext cx="6234018" cy="195814"/>
            <a:chOff x="995364" y="153170"/>
            <a:chExt cx="6234018" cy="195814"/>
          </a:xfrm>
        </p:grpSpPr>
        <p:sp>
          <p:nvSpPr>
            <p:cNvPr id="39"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0"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1" name="Current Section3">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4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6"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7"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78807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Forecast overview</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Forecast trading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2319" y="1910820"/>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Forecast overview</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1" y="1911599"/>
            <a:ext cx="5036400" cy="3955801"/>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10912389" y="-518772"/>
            <a:ext cx="936174" cy="3633727"/>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GB" sz="1000" b="1" dirty="0">
                <a:solidFill>
                  <a:schemeClr val="tx2"/>
                </a:solidFill>
              </a:rPr>
              <a:t>Vehicle hire</a:t>
            </a:r>
          </a:p>
          <a:p>
            <a:pPr algn="l">
              <a:spcAft>
                <a:spcPts val="600"/>
              </a:spcAft>
            </a:pPr>
            <a:endParaRPr lang="en-GB" sz="1000" b="0" dirty="0"/>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D1FE9023-3E69-4EA2-BA26-0B059939B595}"/>
              </a:ext>
            </a:extLst>
          </p:cNvPr>
          <p:cNvPicPr>
            <a:picLocks noChangeAspect="1"/>
          </p:cNvPicPr>
          <p:nvPr>
            <p:custDataLst>
              <p:tags r:id="rId4"/>
            </p:custDataLst>
          </p:nvPr>
        </p:nvPicPr>
        <p:blipFill>
          <a:blip r:embed="rId7"/>
          <a:stretch>
            <a:fillRect/>
          </a:stretch>
        </p:blipFill>
        <p:spPr>
          <a:xfrm>
            <a:off x="1001682" y="1910819"/>
            <a:ext cx="3278847" cy="3899328"/>
          </a:xfrm>
          <a:prstGeom prst="rect">
            <a:avLst/>
          </a:prstGeom>
        </p:spPr>
      </p:pic>
      <p:sp>
        <p:nvSpPr>
          <p:cNvPr id="37" name="Text Placeholder 48">
            <a:extLst>
              <a:ext uri="{FF2B5EF4-FFF2-40B4-BE49-F238E27FC236}">
                <a16:creationId xmlns:a16="http://schemas.microsoft.com/office/drawing/2014/main" id="{0F0596FE-5A0E-4533-AD26-2ABA76E451D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rgbClr val="00338D"/>
                </a:solidFill>
                <a:latin typeface="Arial"/>
              </a:rPr>
              <a:t>Other revenue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000" b="0" dirty="0">
                <a:solidFill>
                  <a:srgbClr val="000000"/>
                </a:solidFill>
                <a:latin typeface="Arial"/>
              </a:rPr>
              <a:t>Other revenue streams have been mostly forecast as an increment in line with hire fleet revenue growth. A key driver of other revenue growth is new vehicle sales which have been assumed at 20% of total additions in FY23.</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1" i="0" u="none" strike="noStrike" kern="1200" cap="none" spc="0" normalizeH="0" baseline="0" noProof="0" dirty="0">
                <a:ln>
                  <a:noFill/>
                </a:ln>
                <a:solidFill>
                  <a:srgbClr val="00338D"/>
                </a:solidFill>
                <a:effectLst/>
                <a:uLnTx/>
                <a:uFillTx/>
                <a:latin typeface="Arial"/>
                <a:ea typeface="+mn-ea"/>
                <a:cs typeface="+mn-cs"/>
              </a:rPr>
              <a:t>Overheads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0" dirty="0">
                <a:ln>
                  <a:noFill/>
                </a:ln>
                <a:solidFill>
                  <a:srgbClr val="000000"/>
                </a:solidFill>
                <a:effectLst/>
                <a:uLnTx/>
                <a:uFillTx/>
                <a:latin typeface="Arial"/>
                <a:ea typeface="+mn-ea"/>
                <a:cs typeface="+mn-cs"/>
              </a:rPr>
              <a:t>Overheads, which consist mostly of staff costs, have been forecast by pro rating last four months of FY21 costs and adjusting for non-recurring items. [XX] has added 2 FTEs during L4M FY21 (resulting in average FTEs of 29) and the forecast assumes no further headcount added in FY22 or FY23. Admin staff wages are uplifted by 3%. No other cost inflation has been assumed, which presents a risk in the current economic climate.</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GB" dirty="0"/>
          </a:p>
          <a:p>
            <a:pPr>
              <a:defRPr/>
            </a:pPr>
            <a:endParaRPr lang="en-US" dirty="0">
              <a:solidFill>
                <a:schemeClr val="tx2"/>
              </a:solidFill>
            </a:endParaRPr>
          </a:p>
        </p:txBody>
      </p:sp>
      <p:sp>
        <p:nvSpPr>
          <p:cNvPr id="38" name="Text Placeholder 48">
            <a:extLst>
              <a:ext uri="{FF2B5EF4-FFF2-40B4-BE49-F238E27FC236}">
                <a16:creationId xmlns:a16="http://schemas.microsoft.com/office/drawing/2014/main" id="{237717E2-9DBA-4361-BA26-97CE729CC3B8}"/>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34" name="Text Placeholder 11">
            <a:extLst>
              <a:ext uri="{FF2B5EF4-FFF2-40B4-BE49-F238E27FC236}">
                <a16:creationId xmlns:a16="http://schemas.microsoft.com/office/drawing/2014/main" id="{06C12A12-5E8A-42F3-AE9F-9BD0517DD169}"/>
              </a:ext>
            </a:extLst>
          </p:cNvPr>
          <p:cNvSpPr txBox="1">
            <a:spLocks/>
          </p:cNvSpPr>
          <p:nvPr/>
        </p:nvSpPr>
        <p:spPr>
          <a:xfrm>
            <a:off x="1000250" y="133587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EBIT is forecast to increase from £1.2 million in FY22 to £2.1 million in FY23, reflecting the ramp-up in vehicle hire and vehicle sales volumes, ability to pass on any purchase price inflation and leverage the largely fixed overhead base. The forecast has not been built up by customer with reference to a ‘pipeline’ or committed orders, but rather based on the Sales Director’s discussions with clients.</a:t>
            </a:r>
          </a:p>
        </p:txBody>
      </p:sp>
      <p:sp>
        <p:nvSpPr>
          <p:cNvPr id="39" name="object 31">
            <a:extLst>
              <a:ext uri="{FF2B5EF4-FFF2-40B4-BE49-F238E27FC236}">
                <a16:creationId xmlns:a16="http://schemas.microsoft.com/office/drawing/2014/main" id="{74F26A58-C783-4D09-BE2D-35DFAD12AC3D}"/>
              </a:ext>
            </a:extLst>
          </p:cNvPr>
          <p:cNvSpPr>
            <a:spLocks/>
          </p:cNvSpPr>
          <p:nvPr/>
        </p:nvSpPr>
        <p:spPr>
          <a:xfrm>
            <a:off x="930054" y="2223113"/>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0" name="object 31">
            <a:extLst>
              <a:ext uri="{FF2B5EF4-FFF2-40B4-BE49-F238E27FC236}">
                <a16:creationId xmlns:a16="http://schemas.microsoft.com/office/drawing/2014/main" id="{2E9C6A16-B0CB-4F15-AF46-E79F802693C2}"/>
              </a:ext>
            </a:extLst>
          </p:cNvPr>
          <p:cNvSpPr>
            <a:spLocks/>
          </p:cNvSpPr>
          <p:nvPr/>
        </p:nvSpPr>
        <p:spPr>
          <a:xfrm>
            <a:off x="4674042" y="2269762"/>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1" name="object 31">
            <a:extLst>
              <a:ext uri="{FF2B5EF4-FFF2-40B4-BE49-F238E27FC236}">
                <a16:creationId xmlns:a16="http://schemas.microsoft.com/office/drawing/2014/main" id="{C313B7B4-8E4C-468F-BEA0-52BBFF48FE53}"/>
              </a:ext>
            </a:extLst>
          </p:cNvPr>
          <p:cNvSpPr>
            <a:spLocks/>
          </p:cNvSpPr>
          <p:nvPr/>
        </p:nvSpPr>
        <p:spPr>
          <a:xfrm>
            <a:off x="4674042" y="3353067"/>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3" name="object 31">
            <a:extLst>
              <a:ext uri="{FF2B5EF4-FFF2-40B4-BE49-F238E27FC236}">
                <a16:creationId xmlns:a16="http://schemas.microsoft.com/office/drawing/2014/main" id="{CABF60B4-80C5-4081-8FDC-5ED3F78AF926}"/>
              </a:ext>
            </a:extLst>
          </p:cNvPr>
          <p:cNvSpPr>
            <a:spLocks/>
          </p:cNvSpPr>
          <p:nvPr/>
        </p:nvSpPr>
        <p:spPr>
          <a:xfrm>
            <a:off x="923493" y="2792804"/>
            <a:ext cx="143256" cy="143256"/>
          </a:xfrm>
          <a:prstGeom prst="rect">
            <a:avLst/>
          </a:prstGeom>
          <a:blipFill>
            <a:blip r:embed="rId8"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grpSp>
        <p:nvGrpSpPr>
          <p:cNvPr id="48" name="Group 47">
            <a:extLst>
              <a:ext uri="{FF2B5EF4-FFF2-40B4-BE49-F238E27FC236}">
                <a16:creationId xmlns:a16="http://schemas.microsoft.com/office/drawing/2014/main" id="{8D41BCB4-60ED-4665-90C2-0D666177F140}"/>
              </a:ext>
            </a:extLst>
          </p:cNvPr>
          <p:cNvGrpSpPr/>
          <p:nvPr>
            <p:custDataLst>
              <p:tags r:id="rId5"/>
            </p:custDataLst>
          </p:nvPr>
        </p:nvGrpSpPr>
        <p:grpSpPr>
          <a:xfrm>
            <a:off x="995364" y="153170"/>
            <a:ext cx="6234018" cy="195814"/>
            <a:chOff x="995364" y="153170"/>
            <a:chExt cx="6234018" cy="195814"/>
          </a:xfrm>
        </p:grpSpPr>
        <p:sp>
          <p:nvSpPr>
            <p:cNvPr id="49"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0"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51" name="Current Section3">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52"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3"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4"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5"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18133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Historical forecasting accuracy</a:t>
            </a:r>
            <a:endParaRPr lang="en-US" dirty="0"/>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Forecast trading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0" y="134076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Performance in Q4 FY22 has lagged behind forecast levels, due largely to the extent of supply chain challenges that have disrupted the supply of vehicles into the business. At year-end, Management estimated c.323 vehicles were in the business, compared to a forecast of 380. The downside at gross profit level was £185,000, which drops through to the EBITDA shortfall of £207,000, as overheads remained broadly in line with forecast. </a:t>
            </a: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4794029" y="2235228"/>
            <a:ext cx="6408000" cy="3633727"/>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GB" dirty="0"/>
              <a:t>The under-performance against the 9+3 forecast highlights the sensitivity of the business’s growth plan to supply of new vehicles for hire or onward sale as a new vehicle. </a:t>
            </a:r>
          </a:p>
          <a:p>
            <a:pPr lvl="1"/>
            <a:r>
              <a:rPr lang="en-GB" dirty="0"/>
              <a:t>The fact that utilisation rates and average rental per vehicle per week have remained in line with, or better than forecast, demonstrates the business has appeared to perform in line with expectation, save for the lack of new vehicles, however you will need to consider through your own commercial due diligence whether market demand would continue to support utilisation and revenue per vehicle per week once supply shortages are alleviated. </a:t>
            </a:r>
          </a:p>
          <a:p>
            <a:pPr lvl="1"/>
            <a:r>
              <a:rPr lang="en-GB" dirty="0"/>
              <a:t>As noted on the following pages your assessment of market growth, and the supply of vehicles into FY23 would appear to represent the areas for focus when considering the FY23 forecast.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7" name="Picture 6">
            <a:extLst>
              <a:ext uri="{FF2B5EF4-FFF2-40B4-BE49-F238E27FC236}">
                <a16:creationId xmlns:a16="http://schemas.microsoft.com/office/drawing/2014/main" id="{8A170B8C-FF47-4E6E-B3BF-500BA3C1341A}"/>
              </a:ext>
            </a:extLst>
          </p:cNvPr>
          <p:cNvPicPr>
            <a:picLocks noChangeAspect="1"/>
          </p:cNvPicPr>
          <p:nvPr>
            <p:custDataLst>
              <p:tags r:id="rId5"/>
            </p:custDataLst>
          </p:nvPr>
        </p:nvPicPr>
        <p:blipFill>
          <a:blip r:embed="rId8"/>
          <a:stretch>
            <a:fillRect/>
          </a:stretch>
        </p:blipFill>
        <p:spPr>
          <a:xfrm>
            <a:off x="996791" y="1988496"/>
            <a:ext cx="3327400" cy="3775150"/>
          </a:xfrm>
          <a:prstGeom prst="rect">
            <a:avLst/>
          </a:prstGeom>
        </p:spPr>
      </p:pic>
      <p:sp>
        <p:nvSpPr>
          <p:cNvPr id="38" name="Text Placeholder 25">
            <a:extLst>
              <a:ext uri="{FF2B5EF4-FFF2-40B4-BE49-F238E27FC236}">
                <a16:creationId xmlns:a16="http://schemas.microsoft.com/office/drawing/2014/main" id="{53259DDB-68F7-496A-8951-8F97FD5C2F27}"/>
              </a:ext>
            </a:extLst>
          </p:cNvPr>
          <p:cNvSpPr txBox="1">
            <a:spLocks/>
          </p:cNvSpPr>
          <p:nvPr/>
        </p:nvSpPr>
        <p:spPr>
          <a:xfrm>
            <a:off x="4787209" y="1920600"/>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Q4 FY22 results</a:t>
            </a:r>
          </a:p>
        </p:txBody>
      </p:sp>
      <p:grpSp>
        <p:nvGrpSpPr>
          <p:cNvPr id="33" name="Group 32">
            <a:extLst>
              <a:ext uri="{FF2B5EF4-FFF2-40B4-BE49-F238E27FC236}">
                <a16:creationId xmlns:a16="http://schemas.microsoft.com/office/drawing/2014/main" id="{8D41BCB4-60ED-4665-90C2-0D666177F140}"/>
              </a:ext>
            </a:extLst>
          </p:cNvPr>
          <p:cNvGrpSpPr/>
          <p:nvPr>
            <p:custDataLst>
              <p:tags r:id="rId6"/>
            </p:custDataLst>
          </p:nvPr>
        </p:nvGrpSpPr>
        <p:grpSpPr>
          <a:xfrm>
            <a:off x="995364" y="153170"/>
            <a:ext cx="6234018" cy="195814"/>
            <a:chOff x="995364" y="153170"/>
            <a:chExt cx="6234018"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Current Section3">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39"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0"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1"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551410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Forecast revenue bridge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Forecast Revenue and EBIT bridge</a:t>
            </a:r>
            <a:endParaRPr lang="en-US" sz="1600" dirty="0">
              <a:solidFill>
                <a:schemeClr val="bg1"/>
              </a:solidFill>
            </a:endParaRPr>
          </a:p>
        </p:txBody>
      </p:sp>
      <p:sp>
        <p:nvSpPr>
          <p:cNvPr id="106" name="Text Placeholder 25">
            <a:extLst>
              <a:ext uri="{FF2B5EF4-FFF2-40B4-BE49-F238E27FC236}">
                <a16:creationId xmlns:a16="http://schemas.microsoft.com/office/drawing/2014/main" id="{52178562-6DF0-B95D-228E-F6C03AB70895}"/>
              </a:ext>
            </a:extLst>
          </p:cNvPr>
          <p:cNvSpPr txBox="1">
            <a:spLocks/>
          </p:cNvSpPr>
          <p:nvPr/>
        </p:nvSpPr>
        <p:spPr>
          <a:xfrm>
            <a:off x="998262" y="1912838"/>
            <a:ext cx="10192298"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Forecast revenue bridge FY22-FY23F</a:t>
            </a:r>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C49807B3-D46F-44ED-0412-D25B99CF5791}"/>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5" name="Text Placeholder 11">
            <a:extLst>
              <a:ext uri="{FF2B5EF4-FFF2-40B4-BE49-F238E27FC236}">
                <a16:creationId xmlns:a16="http://schemas.microsoft.com/office/drawing/2014/main" id="{9B80B802-A3BF-45E2-93DC-A5EA4EF58A68}"/>
              </a:ext>
            </a:extLst>
          </p:cNvPr>
          <p:cNvSpPr txBox="1">
            <a:spLocks/>
          </p:cNvSpPr>
          <p:nvPr/>
        </p:nvSpPr>
        <p:spPr>
          <a:xfrm>
            <a:off x="1000250" y="133587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Between FY22 and FY23 revenue is forecast to grow by £1.9 million driven by both vehicle hire (£1.1 million) and other revenue (£0.8 million), underpinned by the fleet expansion plan (to 428 vehicles by Apr-23 in the forecast, but to an estimated 505 vehicles anecdotally advised by Management most recently). Volume growth is a key driver of the gross profit increase (£1.1 million of £1.3 million).</a:t>
            </a:r>
          </a:p>
        </p:txBody>
      </p:sp>
      <p:pic>
        <p:nvPicPr>
          <p:cNvPr id="15" name="Picture 14">
            <a:extLst>
              <a:ext uri="{FF2B5EF4-FFF2-40B4-BE49-F238E27FC236}">
                <a16:creationId xmlns:a16="http://schemas.microsoft.com/office/drawing/2014/main" id="{715B8A70-9AE9-464E-98A8-2C8CFCC340F6}"/>
              </a:ext>
            </a:extLst>
          </p:cNvPr>
          <p:cNvPicPr>
            <a:picLocks noChangeAspect="1"/>
          </p:cNvPicPr>
          <p:nvPr>
            <p:custDataLst>
              <p:tags r:id="rId3"/>
            </p:custDataLst>
          </p:nvPr>
        </p:nvPicPr>
        <p:blipFill>
          <a:blip r:embed="rId6"/>
          <a:stretch>
            <a:fillRect/>
          </a:stretch>
        </p:blipFill>
        <p:spPr>
          <a:xfrm>
            <a:off x="960891" y="2575317"/>
            <a:ext cx="10356940" cy="2429288"/>
          </a:xfrm>
          <a:prstGeom prst="rect">
            <a:avLst/>
          </a:prstGeom>
        </p:spPr>
      </p:pic>
      <p:grpSp>
        <p:nvGrpSpPr>
          <p:cNvPr id="29" name="Group 28">
            <a:extLst>
              <a:ext uri="{FF2B5EF4-FFF2-40B4-BE49-F238E27FC236}">
                <a16:creationId xmlns:a16="http://schemas.microsoft.com/office/drawing/2014/main" id="{8D41BCB4-60ED-4665-90C2-0D666177F140}"/>
              </a:ext>
            </a:extLst>
          </p:cNvPr>
          <p:cNvGrpSpPr/>
          <p:nvPr>
            <p:custDataLst>
              <p:tags r:id="rId4"/>
            </p:custDataLst>
          </p:nvPr>
        </p:nvGrpSpPr>
        <p:grpSpPr>
          <a:xfrm>
            <a:off x="995364" y="153170"/>
            <a:ext cx="6234018" cy="195814"/>
            <a:chOff x="995364" y="153170"/>
            <a:chExt cx="6234018" cy="195814"/>
          </a:xfrm>
        </p:grpSpPr>
        <p:sp>
          <p:nvSpPr>
            <p:cNvPr id="30"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3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97483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Forecast EBIT bridge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Forecast Revenue and EBIT bridge</a:t>
            </a:r>
            <a:endParaRPr lang="en-US" sz="1600" dirty="0">
              <a:solidFill>
                <a:schemeClr val="bg1"/>
              </a:solidFill>
            </a:endParaRPr>
          </a:p>
        </p:txBody>
      </p:sp>
      <p:sp>
        <p:nvSpPr>
          <p:cNvPr id="106" name="Text Placeholder 25">
            <a:extLst>
              <a:ext uri="{FF2B5EF4-FFF2-40B4-BE49-F238E27FC236}">
                <a16:creationId xmlns:a16="http://schemas.microsoft.com/office/drawing/2014/main" id="{52178562-6DF0-B95D-228E-F6C03AB70895}"/>
              </a:ext>
            </a:extLst>
          </p:cNvPr>
          <p:cNvSpPr txBox="1">
            <a:spLocks/>
          </p:cNvSpPr>
          <p:nvPr/>
        </p:nvSpPr>
        <p:spPr>
          <a:xfrm>
            <a:off x="998262" y="1912838"/>
            <a:ext cx="10192298"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Forecast EBIT bridge FY22-FY23F</a:t>
            </a:r>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5" name="Text Placeholder 11">
            <a:extLst>
              <a:ext uri="{FF2B5EF4-FFF2-40B4-BE49-F238E27FC236}">
                <a16:creationId xmlns:a16="http://schemas.microsoft.com/office/drawing/2014/main" id="{57121354-A4A3-483F-862A-78DCDD37B6BA}"/>
              </a:ext>
            </a:extLst>
          </p:cNvPr>
          <p:cNvSpPr txBox="1">
            <a:spLocks/>
          </p:cNvSpPr>
          <p:nvPr/>
        </p:nvSpPr>
        <p:spPr>
          <a:xfrm>
            <a:off x="1000250" y="1335878"/>
            <a:ext cx="1019495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Gross margins are forecast to remain broadly flat at 57.0% (56.9% LTM22), as margin improvements at a vehicle hire level are offset by the dilutive impact of other revenue streams- see later in the report for details. No additional FTEs or general cost inflation (outside of staff costs) has been assumed, resulting in EBIT of £2.1 million in FY23. </a:t>
            </a:r>
          </a:p>
        </p:txBody>
      </p:sp>
      <p:pic>
        <p:nvPicPr>
          <p:cNvPr id="37" name="Picture 36">
            <a:extLst>
              <a:ext uri="{FF2B5EF4-FFF2-40B4-BE49-F238E27FC236}">
                <a16:creationId xmlns:a16="http://schemas.microsoft.com/office/drawing/2014/main" id="{87FA6CB0-AC54-4EB2-9476-17096760A4F8}"/>
              </a:ext>
            </a:extLst>
          </p:cNvPr>
          <p:cNvPicPr>
            <a:picLocks noChangeAspect="1"/>
          </p:cNvPicPr>
          <p:nvPr>
            <p:custDataLst>
              <p:tags r:id="rId3"/>
            </p:custDataLst>
          </p:nvPr>
        </p:nvPicPr>
        <p:blipFill>
          <a:blip r:embed="rId7"/>
          <a:stretch>
            <a:fillRect/>
          </a:stretch>
        </p:blipFill>
        <p:spPr>
          <a:xfrm>
            <a:off x="914251" y="2585484"/>
            <a:ext cx="10356940" cy="2429288"/>
          </a:xfrm>
          <a:prstGeom prst="rect">
            <a:avLst/>
          </a:prstGeom>
        </p:spPr>
      </p:pic>
      <p:sp>
        <p:nvSpPr>
          <p:cNvPr id="23" name="TextBox 22">
            <a:extLst>
              <a:ext uri="{FF2B5EF4-FFF2-40B4-BE49-F238E27FC236}">
                <a16:creationId xmlns:a16="http://schemas.microsoft.com/office/drawing/2014/main" id="{EA81C024-EF0A-4F20-BAB6-A168FC1B046C}"/>
              </a:ext>
            </a:extLst>
          </p:cNvPr>
          <p:cNvSpPr txBox="1"/>
          <p:nvPr/>
        </p:nvSpPr>
        <p:spPr>
          <a:xfrm>
            <a:off x="4059215" y="2583865"/>
            <a:ext cx="1287262" cy="202874"/>
          </a:xfrm>
          <a:prstGeom prst="rect">
            <a:avLst/>
          </a:prstGeom>
        </p:spPr>
        <p:txBody>
          <a:bodyPr vert="horz" wrap="square" lIns="0" tIns="0" rIns="0" bIns="0" rtlCol="0" anchor="t" anchorCtr="0">
            <a:noAutofit/>
          </a:bodyPr>
          <a:lstStyle/>
          <a:p>
            <a:pPr algn="l">
              <a:spcAft>
                <a:spcPts val="600"/>
              </a:spcAft>
            </a:pPr>
            <a:r>
              <a:rPr lang="en-GB" sz="1000" b="1" dirty="0">
                <a:solidFill>
                  <a:schemeClr val="tx2"/>
                </a:solidFill>
              </a:rPr>
              <a:t>Gross profit (+1,218)</a:t>
            </a:r>
          </a:p>
        </p:txBody>
      </p:sp>
      <p:sp>
        <p:nvSpPr>
          <p:cNvPr id="52" name="Rounded Rectangle 7">
            <a:extLst>
              <a:ext uri="{FF2B5EF4-FFF2-40B4-BE49-F238E27FC236}">
                <a16:creationId xmlns:a16="http://schemas.microsoft.com/office/drawing/2014/main" id="{16F0B33F-D4F6-46FF-8D4D-A285D1482A74}"/>
              </a:ext>
            </a:extLst>
          </p:cNvPr>
          <p:cNvSpPr/>
          <p:nvPr>
            <p:custDataLst>
              <p:tags r:id="rId4"/>
            </p:custDataLst>
          </p:nvPr>
        </p:nvSpPr>
        <p:spPr>
          <a:xfrm>
            <a:off x="2258077" y="2801283"/>
            <a:ext cx="5220751" cy="1151849"/>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8D41BCB4-60ED-4665-90C2-0D666177F140}"/>
              </a:ext>
            </a:extLst>
          </p:cNvPr>
          <p:cNvGrpSpPr/>
          <p:nvPr>
            <p:custDataLst>
              <p:tags r:id="rId5"/>
            </p:custDataLst>
          </p:nvPr>
        </p:nvGrpSpPr>
        <p:grpSpPr>
          <a:xfrm>
            <a:off x="995364" y="153170"/>
            <a:ext cx="6234018" cy="195814"/>
            <a:chOff x="995364" y="153170"/>
            <a:chExt cx="6234018" cy="195814"/>
          </a:xfrm>
        </p:grpSpPr>
        <p:sp>
          <p:nvSpPr>
            <p:cNvPr id="3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95171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Forecast trading</a:t>
              </a:r>
            </a:p>
          </p:txBody>
        </p:sp>
        <p:sp>
          <p:nvSpPr>
            <p:cNvPr id="40"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901811"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702846"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2"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35159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Other Sections7">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540557"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78549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15" action="ppaction://hlinksldjump"/>
            <a:extLst>
              <a:ext uri="{FF2B5EF4-FFF2-40B4-BE49-F238E27FC236}">
                <a16:creationId xmlns:a16="http://schemas.microsoft.com/office/drawing/2014/main" id="{09B23A3D-9473-49B2-809D-98EC6B1F29C8}"/>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Balance sheet</a:t>
            </a:r>
          </a:p>
        </p:txBody>
      </p:sp>
      <p:sp>
        <p:nvSpPr>
          <p:cNvPr id="5" name="TextBox 4">
            <a:hlinkClick r:id="rId16" action="ppaction://hlinksldjump"/>
            <a:extLst>
              <a:ext uri="{FF2B5EF4-FFF2-40B4-BE49-F238E27FC236}">
                <a16:creationId xmlns:a16="http://schemas.microsoft.com/office/drawing/2014/main" id="{C989C961-AB24-44B3-8777-CD4CEE3D4FEC}"/>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Balance sheet overview</a:t>
            </a:r>
          </a:p>
        </p:txBody>
      </p:sp>
      <p:sp>
        <p:nvSpPr>
          <p:cNvPr id="6" name="TextBox 5">
            <a:hlinkClick r:id="rId17" action="ppaction://hlinksldjump"/>
            <a:extLst>
              <a:ext uri="{FF2B5EF4-FFF2-40B4-BE49-F238E27FC236}">
                <a16:creationId xmlns:a16="http://schemas.microsoft.com/office/drawing/2014/main" id="{B01C1F41-FBD5-4874-96E7-A15FEFD28670}"/>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Net working capital</a:t>
            </a:r>
          </a:p>
        </p:txBody>
      </p:sp>
      <p:sp>
        <p:nvSpPr>
          <p:cNvPr id="7" name="TextBox 6">
            <a:hlinkClick r:id="rId18" action="ppaction://hlinksldjump"/>
            <a:extLst>
              <a:ext uri="{FF2B5EF4-FFF2-40B4-BE49-F238E27FC236}">
                <a16:creationId xmlns:a16="http://schemas.microsoft.com/office/drawing/2014/main" id="{806B76A6-A0C9-4209-946D-0FF8A76452DF}"/>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Net debt</a:t>
            </a:r>
          </a:p>
        </p:txBody>
      </p:sp>
      <p:sp>
        <p:nvSpPr>
          <p:cNvPr id="8" name="TextBox 7">
            <a:hlinkClick r:id="rId15" action="ppaction://hlinksldjump"/>
            <a:extLst>
              <a:ext uri="{FF2B5EF4-FFF2-40B4-BE49-F238E27FC236}">
                <a16:creationId xmlns:a16="http://schemas.microsoft.com/office/drawing/2014/main" id="{445867A7-8995-4D0A-85A1-6EE5C7349BD4}"/>
              </a:ext>
            </a:extLst>
          </p:cNvPr>
          <p:cNvSpPr txBox="1"/>
          <p:nvPr>
            <p:custDataLst>
              <p:tags r:id="rId6"/>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4.</a:t>
            </a:r>
          </a:p>
        </p:txBody>
      </p:sp>
      <p:sp>
        <p:nvSpPr>
          <p:cNvPr id="9" name="TextBox 8">
            <a:hlinkClick r:id="rId15" action="ppaction://hlinksldjump"/>
            <a:extLst>
              <a:ext uri="{FF2B5EF4-FFF2-40B4-BE49-F238E27FC236}">
                <a16:creationId xmlns:a16="http://schemas.microsoft.com/office/drawing/2014/main" id="{6A7293EE-D095-472B-BD58-F02A827A8DA6}"/>
              </a:ext>
            </a:extLst>
          </p:cNvPr>
          <p:cNvSpPr txBox="1"/>
          <p:nvPr>
            <p:custDataLst>
              <p:tags r:id="rId7"/>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42</a:t>
            </a:r>
          </a:p>
        </p:txBody>
      </p:sp>
      <p:sp>
        <p:nvSpPr>
          <p:cNvPr id="10" name="TextBox 9">
            <a:hlinkClick r:id="rId16" action="ppaction://hlinksldjump"/>
            <a:extLst>
              <a:ext uri="{FF2B5EF4-FFF2-40B4-BE49-F238E27FC236}">
                <a16:creationId xmlns:a16="http://schemas.microsoft.com/office/drawing/2014/main" id="{C19BD896-6B71-46B1-97B9-37CB8116AE7B}"/>
              </a:ext>
            </a:extLst>
          </p:cNvPr>
          <p:cNvSpPr txBox="1"/>
          <p:nvPr>
            <p:custDataLst>
              <p:tags r:id="rId8"/>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4.1</a:t>
            </a:r>
          </a:p>
        </p:txBody>
      </p:sp>
      <p:sp>
        <p:nvSpPr>
          <p:cNvPr id="11" name="TextBox 10">
            <a:hlinkClick r:id="rId17" action="ppaction://hlinksldjump"/>
            <a:extLst>
              <a:ext uri="{FF2B5EF4-FFF2-40B4-BE49-F238E27FC236}">
                <a16:creationId xmlns:a16="http://schemas.microsoft.com/office/drawing/2014/main" id="{811D45E5-21D4-440A-AAF7-B346EDF04814}"/>
              </a:ext>
            </a:extLst>
          </p:cNvPr>
          <p:cNvSpPr txBox="1"/>
          <p:nvPr>
            <p:custDataLst>
              <p:tags r:id="rId9"/>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4.2</a:t>
            </a:r>
          </a:p>
        </p:txBody>
      </p:sp>
      <p:sp>
        <p:nvSpPr>
          <p:cNvPr id="12" name="TextBox 11">
            <a:hlinkClick r:id="rId18" action="ppaction://hlinksldjump"/>
            <a:extLst>
              <a:ext uri="{FF2B5EF4-FFF2-40B4-BE49-F238E27FC236}">
                <a16:creationId xmlns:a16="http://schemas.microsoft.com/office/drawing/2014/main" id="{F84B520F-3284-40E8-8B55-8DECEF61BB0A}"/>
              </a:ext>
            </a:extLst>
          </p:cNvPr>
          <p:cNvSpPr txBox="1"/>
          <p:nvPr>
            <p:custDataLst>
              <p:tags r:id="rId10"/>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4.3</a:t>
            </a:r>
          </a:p>
        </p:txBody>
      </p:sp>
      <p:sp>
        <p:nvSpPr>
          <p:cNvPr id="13" name="TextBox 12">
            <a:hlinkClick r:id="rId16" action="ppaction://hlinksldjump"/>
            <a:extLst>
              <a:ext uri="{FF2B5EF4-FFF2-40B4-BE49-F238E27FC236}">
                <a16:creationId xmlns:a16="http://schemas.microsoft.com/office/drawing/2014/main" id="{B8844C42-F644-45F5-941E-FB8A72B9E584}"/>
              </a:ext>
            </a:extLst>
          </p:cNvPr>
          <p:cNvSpPr txBox="1"/>
          <p:nvPr>
            <p:custDataLst>
              <p:tags r:id="rId11"/>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43</a:t>
            </a:r>
          </a:p>
        </p:txBody>
      </p:sp>
      <p:sp>
        <p:nvSpPr>
          <p:cNvPr id="14" name="TextBox 13">
            <a:hlinkClick r:id="rId17" action="ppaction://hlinksldjump"/>
            <a:extLst>
              <a:ext uri="{FF2B5EF4-FFF2-40B4-BE49-F238E27FC236}">
                <a16:creationId xmlns:a16="http://schemas.microsoft.com/office/drawing/2014/main" id="{7CF4CD5E-9A93-4FD7-985C-D6DB663861BE}"/>
              </a:ext>
            </a:extLst>
          </p:cNvPr>
          <p:cNvSpPr txBox="1"/>
          <p:nvPr>
            <p:custDataLst>
              <p:tags r:id="rId12"/>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48</a:t>
            </a:r>
          </a:p>
        </p:txBody>
      </p:sp>
      <p:sp>
        <p:nvSpPr>
          <p:cNvPr id="15" name="TextBox 14">
            <a:hlinkClick r:id="rId18" action="ppaction://hlinksldjump"/>
            <a:extLst>
              <a:ext uri="{FF2B5EF4-FFF2-40B4-BE49-F238E27FC236}">
                <a16:creationId xmlns:a16="http://schemas.microsoft.com/office/drawing/2014/main" id="{C9B0E54B-2C39-4DB0-A906-8A76F4A3CD55}"/>
              </a:ext>
            </a:extLst>
          </p:cNvPr>
          <p:cNvSpPr txBox="1"/>
          <p:nvPr>
            <p:custDataLst>
              <p:tags r:id="rId13"/>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49</a:t>
            </a:r>
          </a:p>
        </p:txBody>
      </p:sp>
    </p:spTree>
    <p:custDataLst>
      <p:tags r:id="rId1"/>
    </p:custDataLst>
    <p:extLst>
      <p:ext uri="{BB962C8B-B14F-4D97-AF65-F5344CB8AC3E}">
        <p14:creationId xmlns:p14="http://schemas.microsoft.com/office/powerpoint/2010/main" val="518680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Balance sheet overview</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Balance sheet</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1" y="1340768"/>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At Apr-22 [Target] had net assets totalling £2.7 million, this consists primarily of fixed assets of £7.4 million (including vehicles for hire £7.1 million), net working capital of £1.3 million, £(5.5) million of net debt and a £0.5 million deferred tax liability.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89961" y="597698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7" name="Text Placeholder 48">
            <a:extLst>
              <a:ext uri="{FF2B5EF4-FFF2-40B4-BE49-F238E27FC236}">
                <a16:creationId xmlns:a16="http://schemas.microsoft.com/office/drawing/2014/main" id="{BE9B7950-EFC5-465E-81DD-ECF5FEC5BA23}"/>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Fixed assets</a:t>
            </a:r>
          </a:p>
          <a:p>
            <a:pPr algn="l">
              <a:spcAft>
                <a:spcPts val="600"/>
              </a:spcAft>
            </a:pPr>
            <a:r>
              <a:rPr lang="en-GB" sz="1000" b="0" dirty="0"/>
              <a:t>The majority of fixed assets relate to the vehicle hire fleet with £2.6 million of assets relating to vehicles for hire/sale (all fleet bar for 18 tonne IPVs) and £4.5 million of associated crash cushions/18 tonne IPVs. Vehicles for hire will inherently include those new vehicles that are acquired for immediate onward sell, these are not separately classified on the balance sheet.</a:t>
            </a:r>
          </a:p>
          <a:p>
            <a:pPr algn="l">
              <a:spcAft>
                <a:spcPts val="600"/>
              </a:spcAft>
            </a:pPr>
            <a:r>
              <a:rPr lang="en-GB" sz="1000" b="0" dirty="0"/>
              <a:t>Smaller balances include amounts for staff vehicles, fixtures and fittings and plant and machinery. The fixed asset base has declined £0.4 million in value across the historical period, management notes that this is caused by supply chain disruption increasing lead times on asset orders with 200 new vehicles more recently ordered to supplement the vehicle fleet forecast to arrive by the end of FY23. See page 48 for a more detailed breakdown of the FAR and later in the report for ageing of fleet assets. </a:t>
            </a:r>
            <a:endParaRPr lang="en-US" sz="900" dirty="0">
              <a:solidFill>
                <a:schemeClr val="tx2"/>
              </a:solidFill>
            </a:endParaRPr>
          </a:p>
          <a:p>
            <a:pPr>
              <a:defRPr/>
            </a:pPr>
            <a:r>
              <a:rPr lang="en-GB" sz="1000" dirty="0">
                <a:solidFill>
                  <a:srgbClr val="00338D"/>
                </a:solidFill>
              </a:rPr>
              <a:t>Net working capital</a:t>
            </a:r>
          </a:p>
          <a:p>
            <a:pPr>
              <a:defRPr/>
            </a:pPr>
            <a:r>
              <a:rPr lang="en-GB" sz="1000" b="0" dirty="0"/>
              <a:t>[Target]’s NWC is structurally positive and consists of stock, debtors, prepayments and deferred income</a:t>
            </a:r>
            <a:r>
              <a:rPr lang="en-GB" sz="900" b="0" dirty="0"/>
              <a:t>. </a:t>
            </a:r>
            <a:endParaRPr lang="en-US" dirty="0">
              <a:solidFill>
                <a:schemeClr val="tx2"/>
              </a:solidFill>
            </a:endParaRPr>
          </a:p>
        </p:txBody>
      </p:sp>
      <p:sp>
        <p:nvSpPr>
          <p:cNvPr id="38" name="Text Placeholder 48">
            <a:extLst>
              <a:ext uri="{FF2B5EF4-FFF2-40B4-BE49-F238E27FC236}">
                <a16:creationId xmlns:a16="http://schemas.microsoft.com/office/drawing/2014/main" id="{E4D95B96-80C9-48EE-9F9F-B70DE5FEF237}"/>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600"/>
              </a:spcAft>
            </a:pPr>
            <a:r>
              <a:rPr lang="en-GB" sz="1000" b="0" dirty="0"/>
              <a:t>NWC had gradually reduced since Apr-20, through to Jan-22, most noticeably in trade debtors due to tighter controls over debt collection, and £0.2 million of trade creditor increases relating to increased crash cushion stock with significant lead times, which are invoiced at the point of order, but not paid in full until receipt of the asset. More recently the level of working capital has increased, in Q4 FY22 in particular, with new stock gradually starting to arrive, but in particular prepaid stock inflating the prepayments balance. Furthermore trade debtors have also stepped up, which Management attributes simply to timing of invoicing/settlement, particularly on new vehicle sales. See later in the report for further details on NWC. We have also presented more detailed breakdowns of NWC in the appendices. </a:t>
            </a:r>
          </a:p>
          <a:p>
            <a:pPr>
              <a:spcAft>
                <a:spcPts val="600"/>
              </a:spcAft>
            </a:pPr>
            <a:r>
              <a:rPr lang="en-GB" sz="1000" b="0" dirty="0"/>
              <a:t>Deposits for new vehicles ordered by customers are taken at 10% of vehicle value and are held within deferred income, these sales do not usually result in a debtor balance with cash taken on delivery of the vehicle - to the extent payments are made one to two days later, after a period-end, then this would distort the receivable position temporarily.</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935E99F5-802A-45F7-BEEB-F17844F9128C}"/>
              </a:ext>
            </a:extLst>
          </p:cNvPr>
          <p:cNvPicPr>
            <a:picLocks noChangeAspect="1"/>
          </p:cNvPicPr>
          <p:nvPr>
            <p:custDataLst>
              <p:tags r:id="rId5"/>
            </p:custDataLst>
          </p:nvPr>
        </p:nvPicPr>
        <p:blipFill>
          <a:blip r:embed="rId8"/>
          <a:stretch>
            <a:fillRect/>
          </a:stretch>
        </p:blipFill>
        <p:spPr>
          <a:xfrm>
            <a:off x="940254" y="1912838"/>
            <a:ext cx="3740150" cy="4002006"/>
          </a:xfrm>
          <a:prstGeom prst="rect">
            <a:avLst/>
          </a:prstGeom>
        </p:spPr>
      </p:pic>
      <p:grpSp>
        <p:nvGrpSpPr>
          <p:cNvPr id="8" name="Group 7">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2"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661446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Balance sheet overview</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Balance sheet</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1" y="1340768"/>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At Apr-22 [Target] had net assets totalling £2.7 million, this consists primarily of fixed assets of £7.4 million (including vehicles for hire £7.1 million), net working capital of £1.3 million, £(5.5) million of net debt and a £0.5 million deferred tax liability.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91985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7" name="Text Placeholder 48">
            <a:extLst>
              <a:ext uri="{FF2B5EF4-FFF2-40B4-BE49-F238E27FC236}">
                <a16:creationId xmlns:a16="http://schemas.microsoft.com/office/drawing/2014/main" id="{BE9B7950-EFC5-465E-81DD-ECF5FEC5BA23}"/>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Net debt</a:t>
            </a:r>
          </a:p>
          <a:p>
            <a:pPr algn="l">
              <a:spcAft>
                <a:spcPts val="600"/>
              </a:spcAft>
            </a:pPr>
            <a:r>
              <a:rPr lang="en-GB" sz="1000" b="0" dirty="0"/>
              <a:t>The £(5.5) million of net debt in Jan-22 is primarily made up of £4.6 million of finance leases, these are hire purchase leases used to fund the acquisition of vehicles in the hire fleet. Other balances relate to cash, the invoice finance facility, corporation tax and other loans which are from the current company directors and will be cleared prior to transaction completion. See later in the report for further details.  </a:t>
            </a:r>
            <a:endParaRPr lang="en-US" sz="900" dirty="0">
              <a:solidFill>
                <a:schemeClr val="tx2"/>
              </a:solidFill>
            </a:endParaRPr>
          </a:p>
          <a:p>
            <a:pPr>
              <a:spcAft>
                <a:spcPts val="600"/>
              </a:spcAft>
              <a:buClr>
                <a:schemeClr val="tx2"/>
              </a:buClr>
            </a:pPr>
            <a:r>
              <a:rPr lang="en-GB" sz="1000" b="1" dirty="0">
                <a:solidFill>
                  <a:schemeClr val="tx2"/>
                </a:solidFill>
              </a:rPr>
              <a:t>Covid-19</a:t>
            </a:r>
          </a:p>
          <a:p>
            <a:pPr>
              <a:defRPr/>
            </a:pPr>
            <a:r>
              <a:rPr lang="en-GB" sz="1000" b="0" dirty="0"/>
              <a:t>Management note the business has benefited from the following deferrals and loans as a result of Covid-19: </a:t>
            </a:r>
          </a:p>
          <a:p>
            <a:pPr lvl="2">
              <a:defRPr/>
            </a:pPr>
            <a:r>
              <a:rPr lang="en-GB" dirty="0">
                <a:solidFill>
                  <a:srgbClr val="000000"/>
                </a:solidFill>
              </a:rPr>
              <a:t>VAT deferral – [Target] deferred Q4 FY20 net VAT liability (£112,000) commencing repayments in accordance with the agreed deferral scheme repaying £52,000 by Jan-21. The remaining deferred VAT at Feb-21 was £60,000, settled in full by monthly payments by end of Jan-22. </a:t>
            </a:r>
          </a:p>
          <a:p>
            <a:pPr>
              <a:defRPr/>
            </a:pPr>
            <a:endParaRPr lang="en-GB" sz="1000" b="0" dirty="0"/>
          </a:p>
        </p:txBody>
      </p:sp>
      <p:sp>
        <p:nvSpPr>
          <p:cNvPr id="38" name="Text Placeholder 48">
            <a:extLst>
              <a:ext uri="{FF2B5EF4-FFF2-40B4-BE49-F238E27FC236}">
                <a16:creationId xmlns:a16="http://schemas.microsoft.com/office/drawing/2014/main" id="{E4D95B96-80C9-48EE-9F9F-B70DE5FEF237}"/>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2">
              <a:defRPr/>
            </a:pPr>
            <a:r>
              <a:rPr lang="en-GB" dirty="0">
                <a:solidFill>
                  <a:srgbClr val="000000"/>
                </a:solidFill>
              </a:rPr>
              <a:t>HP capital repayment deferrals – [Bank 2], [Bank 3] and [Customer 6] granted payment deferrals on HP agreements for a period of between 3 and 4 months commencing Mar-20 (total capital benefit amounted to £443,000), with deferrals resulting in either agreement extensions or quicker repayments over the remaining term of the agreement as well as increased interest costs.</a:t>
            </a:r>
          </a:p>
          <a:p>
            <a:pPr lvl="2">
              <a:defRPr/>
            </a:pPr>
            <a:r>
              <a:rPr lang="en-GB" dirty="0">
                <a:solidFill>
                  <a:srgbClr val="000000"/>
                </a:solidFill>
              </a:rPr>
              <a:t>Bounce bank loan – The company took out a £50,000 loan from [Bank 4] in May-20. The loan is repayable over 60 months commencing Jun-21. The fixed interest rate of 2.5% totals in £3,177 over life of loan. </a:t>
            </a:r>
          </a:p>
          <a:p>
            <a:pPr lvl="2">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pic>
        <p:nvPicPr>
          <p:cNvPr id="33" name="Picture 32">
            <a:extLst>
              <a:ext uri="{FF2B5EF4-FFF2-40B4-BE49-F238E27FC236}">
                <a16:creationId xmlns:a16="http://schemas.microsoft.com/office/drawing/2014/main" id="{760EDC9A-81FB-4739-85A3-A8162896CA9B}"/>
              </a:ext>
            </a:extLst>
          </p:cNvPr>
          <p:cNvPicPr>
            <a:picLocks noChangeAspect="1"/>
          </p:cNvPicPr>
          <p:nvPr>
            <p:custDataLst>
              <p:tags r:id="rId5"/>
            </p:custDataLst>
          </p:nvPr>
        </p:nvPicPr>
        <p:blipFill>
          <a:blip r:embed="rId8"/>
          <a:stretch>
            <a:fillRect/>
          </a:stretch>
        </p:blipFill>
        <p:spPr>
          <a:xfrm>
            <a:off x="940254" y="1912838"/>
            <a:ext cx="3740150" cy="4002006"/>
          </a:xfrm>
          <a:prstGeom prst="rect">
            <a:avLst/>
          </a:prstGeom>
        </p:spPr>
      </p:pic>
      <p:grpSp>
        <p:nvGrpSpPr>
          <p:cNvPr id="34" name="Group 33">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5"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3"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4"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6"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566219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working capital — Overview</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1" y="1340768"/>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Management has identified a VAT deferral adjustment that increases average NWC marginally, resulting in a NWC position of £0.8 million in FY22. During the course of our work a small number of additional adjustments have been identified albeit are not material.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1004614" y="565248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18" name="Picture 17">
            <a:extLst>
              <a:ext uri="{FF2B5EF4-FFF2-40B4-BE49-F238E27FC236}">
                <a16:creationId xmlns:a16="http://schemas.microsoft.com/office/drawing/2014/main" id="{ED3F29BE-3E7F-43AA-9FD5-B00F9BA415FE}"/>
              </a:ext>
            </a:extLst>
          </p:cNvPr>
          <p:cNvPicPr>
            <a:picLocks noChangeAspect="1"/>
          </p:cNvPicPr>
          <p:nvPr>
            <p:custDataLst>
              <p:tags r:id="rId5"/>
            </p:custDataLst>
          </p:nvPr>
        </p:nvPicPr>
        <p:blipFill>
          <a:blip r:embed="rId8"/>
          <a:stretch>
            <a:fillRect/>
          </a:stretch>
        </p:blipFill>
        <p:spPr>
          <a:xfrm>
            <a:off x="1001680" y="1912841"/>
            <a:ext cx="3690666" cy="3715315"/>
          </a:xfrm>
          <a:prstGeom prst="rect">
            <a:avLst/>
          </a:prstGeom>
        </p:spPr>
      </p:pic>
      <p:sp>
        <p:nvSpPr>
          <p:cNvPr id="35" name="Text Placeholder 48">
            <a:extLst>
              <a:ext uri="{FF2B5EF4-FFF2-40B4-BE49-F238E27FC236}">
                <a16:creationId xmlns:a16="http://schemas.microsoft.com/office/drawing/2014/main" id="{C4FB9A35-8F75-47CE-99C4-C651B14005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b="0" dirty="0"/>
              <a:t>We have not sought to adjust for non-recurring items occurring in FY20 due to a lack of data and limited impact on deal</a:t>
            </a:r>
            <a:r>
              <a:rPr lang="en-GB" dirty="0">
                <a:solidFill>
                  <a:srgbClr val="000000"/>
                </a:solidFill>
              </a:rPr>
              <a:t>. </a:t>
            </a:r>
          </a:p>
          <a:p>
            <a:pPr>
              <a:defRPr/>
            </a:pPr>
            <a:r>
              <a:rPr lang="en-GB" sz="1000" dirty="0">
                <a:solidFill>
                  <a:schemeClr val="tx2"/>
                </a:solidFill>
              </a:rPr>
              <a:t>Management adjustments</a:t>
            </a:r>
          </a:p>
          <a:p>
            <a:pPr lvl="1">
              <a:defRPr/>
            </a:pPr>
            <a:r>
              <a:rPr lang="en-GB" dirty="0">
                <a:solidFill>
                  <a:srgbClr val="000000"/>
                </a:solidFill>
              </a:rPr>
              <a:t>Management has presented their view of adjusted NWC. These adjustments include: </a:t>
            </a:r>
          </a:p>
          <a:p>
            <a:pPr lvl="2">
              <a:defRPr/>
            </a:pPr>
            <a:r>
              <a:rPr lang="en-GB" dirty="0">
                <a:solidFill>
                  <a:srgbClr val="000000"/>
                </a:solidFill>
              </a:rPr>
              <a:t>Outstanding VAT liability – During the Covid-19 pandemic Management was able to defer the payment of Q4 FY20 VAT liability (totalling £112,000), resulting in a higher than normal VAT liability from May-20 to Jan-22 (by which point the deferral was settled in full). Management’s adjustment normalises the VAT position for the 13 month period from Jan-21 to Jan-22 which they focused their adjustments on. By Jan-21 £60,000 of the £112,000 was remaining and this was paid down in full by Jan-22. </a:t>
            </a:r>
          </a:p>
          <a:p>
            <a:pPr lvl="1">
              <a:defRPr/>
            </a:pPr>
            <a:endParaRPr lang="en-GB" dirty="0">
              <a:solidFill>
                <a:srgbClr val="000000"/>
              </a:solidFill>
            </a:endParaRPr>
          </a:p>
          <a:p>
            <a:pPr>
              <a:defRPr/>
            </a:pPr>
            <a:endParaRPr lang="en-GB" sz="1000" dirty="0">
              <a:solidFill>
                <a:schemeClr val="tx2"/>
              </a:solidFill>
            </a:endParaRPr>
          </a:p>
          <a:p>
            <a:pPr>
              <a:defRPr/>
            </a:pPr>
            <a:endParaRPr lang="en-GB" dirty="0">
              <a:solidFill>
                <a:srgbClr val="000000"/>
              </a:solidFill>
            </a:endParaRPr>
          </a:p>
          <a:p>
            <a:pPr>
              <a:defRPr/>
            </a:pPr>
            <a:endParaRPr lang="en-GB" sz="1000" b="0" dirty="0"/>
          </a:p>
        </p:txBody>
      </p:sp>
      <p:sp>
        <p:nvSpPr>
          <p:cNvPr id="37" name="Text Placeholder 48">
            <a:extLst>
              <a:ext uri="{FF2B5EF4-FFF2-40B4-BE49-F238E27FC236}">
                <a16:creationId xmlns:a16="http://schemas.microsoft.com/office/drawing/2014/main" id="{B286E286-7E41-43D0-B44E-6C6EC7F74D22}"/>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r>
              <a:rPr lang="en-GB" b="1" dirty="0">
                <a:solidFill>
                  <a:schemeClr val="tx2"/>
                </a:solidFill>
              </a:rPr>
              <a:t>Potential adjustments</a:t>
            </a:r>
          </a:p>
          <a:p>
            <a:pPr lvl="2">
              <a:defRPr/>
            </a:pPr>
            <a:r>
              <a:rPr lang="en-GB" dirty="0">
                <a:solidFill>
                  <a:srgbClr val="000000"/>
                </a:solidFill>
              </a:rPr>
              <a:t>Additional VAT liability – This adjustment flushes Management’s VAT deferral adjustment back into the FY20 period by adding back £112,000 of VAT liability initially deferred in May-20.</a:t>
            </a:r>
          </a:p>
          <a:p>
            <a:pPr lvl="2">
              <a:defRPr/>
            </a:pPr>
            <a:r>
              <a:rPr lang="en-GB" dirty="0">
                <a:solidFill>
                  <a:srgbClr val="000000"/>
                </a:solidFill>
              </a:rPr>
              <a:t>HP interest accrual –removes debt like interest from NWC. </a:t>
            </a:r>
          </a:p>
          <a:p>
            <a:pPr lvl="2">
              <a:defRPr/>
            </a:pPr>
            <a:r>
              <a:rPr lang="en-GB" dirty="0">
                <a:solidFill>
                  <a:srgbClr val="000000"/>
                </a:solidFill>
              </a:rPr>
              <a:t>[Location 1] repairs – At Apr-20 £145,000 of repair costs were recognised in prepayments in relation to [Location 1] refurb. These costs have been removed out of EBITDA as non recurring in nature and as such should also be stripped out of NWC. As we have not been provided with a monthly breakdown of prepayments, we have not been able to adjust NWC for the impact. However, there should be no prepayments of this nature in FY22 and the majority of the cost was recognised in the FY21 P&amp;L.</a:t>
            </a:r>
          </a:p>
          <a:p>
            <a:pPr marL="0" lvl="2" indent="0">
              <a:buNone/>
              <a:defRPr/>
            </a:pPr>
            <a:endParaRPr lang="en-GB" b="1" dirty="0">
              <a:solidFill>
                <a:schemeClr val="tx2"/>
              </a:solidFill>
            </a:endParaRPr>
          </a:p>
          <a:p>
            <a:pPr marL="0" lvl="2" indent="0">
              <a:buNone/>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1"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716163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working capital — Overview</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1" y="1340768"/>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Management has identified a VAT deferral adjustment that increases average NWC marginally, resulting in a NWC position of £0.8 million in FY22. During the course of our work a small number of additional adjustments have been identified albeit are not material.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1004614" y="565248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18" name="Picture 17">
            <a:extLst>
              <a:ext uri="{FF2B5EF4-FFF2-40B4-BE49-F238E27FC236}">
                <a16:creationId xmlns:a16="http://schemas.microsoft.com/office/drawing/2014/main" id="{ED3F29BE-3E7F-43AA-9FD5-B00F9BA415FE}"/>
              </a:ext>
            </a:extLst>
          </p:cNvPr>
          <p:cNvPicPr>
            <a:picLocks noChangeAspect="1"/>
          </p:cNvPicPr>
          <p:nvPr>
            <p:custDataLst>
              <p:tags r:id="rId5"/>
            </p:custDataLst>
          </p:nvPr>
        </p:nvPicPr>
        <p:blipFill>
          <a:blip r:embed="rId8"/>
          <a:stretch>
            <a:fillRect/>
          </a:stretch>
        </p:blipFill>
        <p:spPr>
          <a:xfrm>
            <a:off x="1001680" y="1912841"/>
            <a:ext cx="3690666" cy="3715315"/>
          </a:xfrm>
          <a:prstGeom prst="rect">
            <a:avLst/>
          </a:prstGeom>
        </p:spPr>
      </p:pic>
      <p:sp>
        <p:nvSpPr>
          <p:cNvPr id="35" name="Text Placeholder 48">
            <a:extLst>
              <a:ext uri="{FF2B5EF4-FFF2-40B4-BE49-F238E27FC236}">
                <a16:creationId xmlns:a16="http://schemas.microsoft.com/office/drawing/2014/main" id="{C4FB9A35-8F75-47CE-99C4-C651B14005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Other considerations</a:t>
            </a:r>
          </a:p>
          <a:p>
            <a:pPr lvl="1"/>
            <a:r>
              <a:rPr lang="en-GB" dirty="0"/>
              <a:t>Build in stock on water (prepayments)-  Prepayments have increased on average from £0.1 million in FY20 to £0.3 million in FY22 driven by longer lead times and on crash cushions ordered from xx (with a build in prepayments particularly noticeable in Q4 of FY22 when prepayments averaged £0.4 million).</a:t>
            </a:r>
          </a:p>
          <a:p>
            <a:pPr lvl="1"/>
            <a:r>
              <a:rPr lang="en-GB" dirty="0"/>
              <a:t>We have not sought to adjust historical prepayments up to the current level witnessed in Q4 FY22, on the basis such a build-up is planned to build support future revenue growth under your ownership.</a:t>
            </a:r>
          </a:p>
          <a:p>
            <a:pPr lvl="1"/>
            <a:r>
              <a:rPr lang="en-GB" dirty="0"/>
              <a:t>Furthermore, as discussed with you, your valuation of the business is based on historical earnings and therefore demanding a higher target level of working capital due to a recent increase in stock-ordering is unlikely to be accepted by the vendors.</a:t>
            </a:r>
          </a:p>
          <a:p>
            <a:pPr lvl="1"/>
            <a:r>
              <a:rPr lang="en-GB" dirty="0"/>
              <a:t>We anticipate the recent peak in working capital is likely to continue, due to the level of stock ordering continuing to reduce lead times and build the stock of vehicles/crash cushions. This should be factored into your cash flow forecasting going forward.</a:t>
            </a:r>
          </a:p>
          <a:p>
            <a:pPr lvl="1">
              <a:defRPr/>
            </a:pPr>
            <a:endParaRPr lang="en-GB" dirty="0">
              <a:solidFill>
                <a:srgbClr val="000000"/>
              </a:solidFill>
            </a:endParaRPr>
          </a:p>
          <a:p>
            <a:pPr>
              <a:defRPr/>
            </a:pPr>
            <a:endParaRPr lang="en-GB" sz="1000" dirty="0">
              <a:solidFill>
                <a:schemeClr val="tx2"/>
              </a:solidFill>
            </a:endParaRPr>
          </a:p>
          <a:p>
            <a:pPr>
              <a:defRPr/>
            </a:pPr>
            <a:endParaRPr lang="en-GB" dirty="0">
              <a:solidFill>
                <a:srgbClr val="000000"/>
              </a:solidFill>
            </a:endParaRPr>
          </a:p>
          <a:p>
            <a:pPr>
              <a:defRPr/>
            </a:pPr>
            <a:endParaRPr lang="en-GB" sz="1000" b="0" dirty="0"/>
          </a:p>
        </p:txBody>
      </p:sp>
      <p:sp>
        <p:nvSpPr>
          <p:cNvPr id="37" name="Text Placeholder 48">
            <a:extLst>
              <a:ext uri="{FF2B5EF4-FFF2-40B4-BE49-F238E27FC236}">
                <a16:creationId xmlns:a16="http://schemas.microsoft.com/office/drawing/2014/main" id="{B286E286-7E41-43D0-B44E-6C6EC7F74D22}"/>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dirty="0"/>
              <a:t>New and used vehicles treated as fixed assets – The business purchases certain vehicles for resale rather than for hire and these are included within fixed assets on the BS, rather than re-classified to stock prior to resale. </a:t>
            </a:r>
          </a:p>
          <a:p>
            <a:pPr lvl="1">
              <a:defRPr/>
            </a:pPr>
            <a:r>
              <a:rPr lang="en-GB" dirty="0"/>
              <a:t>The profits made on disposals of these have become a recurring feature of the business and are EBITDA additive (amounting to £0.1 million in FY20, £0.1 million in FY21, £0.2 million in FY22, and £0.2 million forecast in FY23, between 2%-5% of total gross profit generated in those years). </a:t>
            </a:r>
          </a:p>
          <a:p>
            <a:pPr lvl="1">
              <a:defRPr/>
            </a:pPr>
            <a:r>
              <a:rPr lang="en-GB" dirty="0"/>
              <a:t>Furthermore the business also continues to hold used vehicles within fixed assets after it has been determined these would be held for resale, whilst the profits are recognised within EBITDA. </a:t>
            </a:r>
          </a:p>
          <a:p>
            <a:pPr lvl="1">
              <a:defRPr/>
            </a:pPr>
            <a:r>
              <a:rPr lang="en-GB" dirty="0"/>
              <a:t>Given both of these revenue streams reflect a recurring feature of the business model and are EBITDA additive, it could be argued that vehicles for resale should be re-classified into stock and as such form part of NWC. </a:t>
            </a:r>
          </a:p>
          <a:p>
            <a:pPr lvl="1">
              <a:defRPr/>
            </a:pPr>
            <a:r>
              <a:rPr lang="en-GB" dirty="0"/>
              <a:t>We understand this treatment would also be more aligned to your own treatment of these items as inventory rather than as fixed assets. </a:t>
            </a:r>
          </a:p>
          <a:p>
            <a:pPr lvl="1">
              <a:defRPr/>
            </a:pPr>
            <a:endParaRPr lang="en-GB" dirty="0"/>
          </a:p>
          <a:p>
            <a:pPr marL="0" lvl="2" indent="0">
              <a:buNone/>
              <a:defRPr/>
            </a:pPr>
            <a:endParaRPr lang="en-GB" b="1" dirty="0">
              <a:solidFill>
                <a:schemeClr val="tx2"/>
              </a:solidFill>
            </a:endParaRPr>
          </a:p>
          <a:p>
            <a:pPr marL="0" lvl="2" indent="0">
              <a:buNone/>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1"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1039860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working capital — Overview</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overview</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Adjustments</a:t>
            </a: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95361" y="1340768"/>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Management has identified a VAT deferral adjustment that increases average NWC marginally, resulting in a NWC position of £0.8 million in FY22. During the course of our work a small number of additional adjustments have been identified albeit are not material. </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1004614" y="565248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18" name="Picture 17">
            <a:extLst>
              <a:ext uri="{FF2B5EF4-FFF2-40B4-BE49-F238E27FC236}">
                <a16:creationId xmlns:a16="http://schemas.microsoft.com/office/drawing/2014/main" id="{ED3F29BE-3E7F-43AA-9FD5-B00F9BA415FE}"/>
              </a:ext>
            </a:extLst>
          </p:cNvPr>
          <p:cNvPicPr>
            <a:picLocks noChangeAspect="1"/>
          </p:cNvPicPr>
          <p:nvPr>
            <p:custDataLst>
              <p:tags r:id="rId5"/>
            </p:custDataLst>
          </p:nvPr>
        </p:nvPicPr>
        <p:blipFill>
          <a:blip r:embed="rId8"/>
          <a:stretch>
            <a:fillRect/>
          </a:stretch>
        </p:blipFill>
        <p:spPr>
          <a:xfrm>
            <a:off x="1001680" y="1912841"/>
            <a:ext cx="3690666" cy="3715315"/>
          </a:xfrm>
          <a:prstGeom prst="rect">
            <a:avLst/>
          </a:prstGeom>
        </p:spPr>
      </p:pic>
      <p:sp>
        <p:nvSpPr>
          <p:cNvPr id="35" name="Text Placeholder 48">
            <a:extLst>
              <a:ext uri="{FF2B5EF4-FFF2-40B4-BE49-F238E27FC236}">
                <a16:creationId xmlns:a16="http://schemas.microsoft.com/office/drawing/2014/main" id="{C4FB9A35-8F75-47CE-99C4-C651B14005B9}"/>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Other considerations cont.</a:t>
            </a:r>
          </a:p>
          <a:p>
            <a:pPr lvl="1"/>
            <a:r>
              <a:rPr lang="en-GB" dirty="0"/>
              <a:t>However, as Management has not undertaken this re-classification historically, it would be difficult to split out vehicles for resale from other assets throughout the Historical Period and include these in adjusted working capital. </a:t>
            </a:r>
          </a:p>
          <a:p>
            <a:pPr lvl="1"/>
            <a:r>
              <a:rPr lang="en-GB" dirty="0"/>
              <a:t>Furthermore, as the revenues from these disposals have increased across the Historical Period, it is possible that the average levels of this ‘stock’ within target working capital have also increased, meaning that the average would be lower than delivered levels at completion – this would result in a more favourable adjustment for the Vendor in working capital, and we have therefore not proposed this as an adjustment. </a:t>
            </a:r>
          </a:p>
          <a:p>
            <a:pPr lvl="1"/>
            <a:r>
              <a:rPr lang="en-GB" dirty="0"/>
              <a:t>On this basis it will be important to ensure the SPA stipulates consistency in the treatment of such items as fixed assets, to ensure the vendor does not seek to move them into working capital to improve equity value.</a:t>
            </a:r>
          </a:p>
          <a:p>
            <a:pPr lvl="1">
              <a:defRPr/>
            </a:pPr>
            <a:endParaRPr lang="en-GB" dirty="0">
              <a:solidFill>
                <a:srgbClr val="000000"/>
              </a:solidFill>
            </a:endParaRPr>
          </a:p>
          <a:p>
            <a:pPr>
              <a:defRPr/>
            </a:pPr>
            <a:endParaRPr lang="en-GB" sz="1000" dirty="0">
              <a:solidFill>
                <a:schemeClr val="tx2"/>
              </a:solidFill>
            </a:endParaRPr>
          </a:p>
          <a:p>
            <a:pPr>
              <a:defRPr/>
            </a:pPr>
            <a:endParaRPr lang="en-GB" dirty="0">
              <a:solidFill>
                <a:srgbClr val="000000"/>
              </a:solidFill>
            </a:endParaRPr>
          </a:p>
          <a:p>
            <a:pPr>
              <a:defRPr/>
            </a:pPr>
            <a:endParaRPr lang="en-GB" sz="1000" b="0" dirty="0"/>
          </a:p>
        </p:txBody>
      </p:sp>
      <p:sp>
        <p:nvSpPr>
          <p:cNvPr id="37" name="Text Placeholder 48">
            <a:extLst>
              <a:ext uri="{FF2B5EF4-FFF2-40B4-BE49-F238E27FC236}">
                <a16:creationId xmlns:a16="http://schemas.microsoft.com/office/drawing/2014/main" id="{B286E286-7E41-43D0-B44E-6C6EC7F74D22}"/>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b="1" dirty="0">
                <a:solidFill>
                  <a:schemeClr val="tx2"/>
                </a:solidFill>
              </a:rPr>
              <a:t>Target NWC</a:t>
            </a:r>
          </a:p>
          <a:p>
            <a:pPr lvl="1">
              <a:defRPr/>
            </a:pPr>
            <a:r>
              <a:rPr lang="en-GB" dirty="0"/>
              <a:t>We understand that your offer letter defined ‘normal/target’ NWC as an average of 12 months prior to completion. In the event you wished to push for a forward-looking basis of target working capital, in the absence of a forecast monthly balance sheet you could calculate the target based on applying the historical correlation of adjusted working capital to sales (12.6% in L6M to Apr-22) to FY23 forecast sales (£9.4 million), which would imply a target of £1.2 million, which is a notable step-up from FY22 levels. </a:t>
            </a:r>
          </a:p>
          <a:p>
            <a:pPr lvl="1">
              <a:defRPr/>
            </a:pPr>
            <a:r>
              <a:rPr lang="en-GB" dirty="0"/>
              <a:t>However, as we have discussed with you, this approach would be a departure from wording in the offer letter and is not consistent with what we understand your enterprise value is based on, i.e. FY22 results. </a:t>
            </a:r>
          </a:p>
          <a:p>
            <a:pPr lvl="1">
              <a:defRPr/>
            </a:pPr>
            <a:endParaRPr lang="en-GB" b="1" dirty="0">
              <a:solidFill>
                <a:schemeClr val="tx2"/>
              </a:solidFill>
            </a:endParaRPr>
          </a:p>
          <a:p>
            <a:pPr lvl="1">
              <a:defRPr/>
            </a:pPr>
            <a:r>
              <a:rPr lang="en-GB" dirty="0"/>
              <a:t> </a:t>
            </a:r>
          </a:p>
          <a:p>
            <a:pPr lvl="1">
              <a:defRPr/>
            </a:pPr>
            <a:endParaRPr lang="en-GB" dirty="0"/>
          </a:p>
          <a:p>
            <a:pPr marL="0" lvl="2" indent="0">
              <a:buNone/>
              <a:defRPr/>
            </a:pPr>
            <a:endParaRPr lang="en-GB" b="1" dirty="0">
              <a:solidFill>
                <a:schemeClr val="tx2"/>
              </a:solidFill>
            </a:endParaRPr>
          </a:p>
          <a:p>
            <a:pPr marL="0" lvl="2" indent="0">
              <a:buNone/>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1"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95247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3B29A80-6EFF-4A21-8E22-DF04F34F3102}"/>
              </a:ext>
            </a:extLst>
          </p:cNvPr>
          <p:cNvPicPr>
            <a:picLocks noChangeAspect="1"/>
          </p:cNvPicPr>
          <p:nvPr>
            <p:custDataLst>
              <p:tags r:id="rId1"/>
            </p:custDataLst>
          </p:nvPr>
        </p:nvPicPr>
        <p:blipFill>
          <a:blip r:embed="rId8"/>
          <a:stretch>
            <a:fillRect/>
          </a:stretch>
        </p:blipFill>
        <p:spPr>
          <a:xfrm>
            <a:off x="831642" y="2157638"/>
            <a:ext cx="10786004" cy="1796358"/>
          </a:xfrm>
          <a:prstGeom prst="rect">
            <a:avLst/>
          </a:prstGeom>
        </p:spPr>
      </p:pic>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Net working capital - monthly</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Net working capital</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999354" y="133430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On an adjusted basis NWC has remained broadly flat at £0.8 million across the Historical Period (12.8% and 10.8% of L3M revenue annualised for FY20 and FY22 respectively). This reflects a reduction in trade debtors (driven by a higher mix of new vehicle sales, improved credit control processes and leveraging strong customer demand to reduce credit terms) offset by to a smaller degree by increases in trade creditors and increases in the levels of stock held and stock on water during FY22.</a:t>
            </a:r>
          </a:p>
        </p:txBody>
      </p:sp>
      <p:sp>
        <p:nvSpPr>
          <p:cNvPr id="106" name="Text Placeholder 25">
            <a:extLst>
              <a:ext uri="{FF2B5EF4-FFF2-40B4-BE49-F238E27FC236}">
                <a16:creationId xmlns:a16="http://schemas.microsoft.com/office/drawing/2014/main" id="{52178562-6DF0-B95D-228E-F6C03AB70895}"/>
              </a:ext>
            </a:extLst>
          </p:cNvPr>
          <p:cNvSpPr txBox="1">
            <a:spLocks/>
          </p:cNvSpPr>
          <p:nvPr/>
        </p:nvSpPr>
        <p:spPr>
          <a:xfrm>
            <a:off x="998262" y="1912838"/>
            <a:ext cx="10192298"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Monthly NWC</a:t>
            </a:r>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1004614" y="598792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5" name="Picture 4">
            <a:extLst>
              <a:ext uri="{FF2B5EF4-FFF2-40B4-BE49-F238E27FC236}">
                <a16:creationId xmlns:a16="http://schemas.microsoft.com/office/drawing/2014/main" id="{2A3BA0CF-A76E-4554-B4F3-8A5872843CB2}"/>
              </a:ext>
            </a:extLst>
          </p:cNvPr>
          <p:cNvPicPr>
            <a:picLocks noChangeAspect="1"/>
          </p:cNvPicPr>
          <p:nvPr>
            <p:custDataLst>
              <p:tags r:id="rId4"/>
            </p:custDataLst>
          </p:nvPr>
        </p:nvPicPr>
        <p:blipFill>
          <a:blip r:embed="rId9"/>
          <a:stretch>
            <a:fillRect/>
          </a:stretch>
        </p:blipFill>
        <p:spPr>
          <a:xfrm>
            <a:off x="999354" y="4108938"/>
            <a:ext cx="4052172" cy="1878981"/>
          </a:xfrm>
          <a:prstGeom prst="rect">
            <a:avLst/>
          </a:prstGeom>
        </p:spPr>
      </p:pic>
      <p:pic>
        <p:nvPicPr>
          <p:cNvPr id="6" name="Picture 5">
            <a:extLst>
              <a:ext uri="{FF2B5EF4-FFF2-40B4-BE49-F238E27FC236}">
                <a16:creationId xmlns:a16="http://schemas.microsoft.com/office/drawing/2014/main" id="{9515C7A4-2611-49A0-AEA4-89C1DB4E1E4E}"/>
              </a:ext>
            </a:extLst>
          </p:cNvPr>
          <p:cNvPicPr>
            <a:picLocks noChangeAspect="1"/>
          </p:cNvPicPr>
          <p:nvPr>
            <p:custDataLst>
              <p:tags r:id="rId5"/>
            </p:custDataLst>
          </p:nvPr>
        </p:nvPicPr>
        <p:blipFill>
          <a:blip r:embed="rId10"/>
          <a:stretch>
            <a:fillRect/>
          </a:stretch>
        </p:blipFill>
        <p:spPr>
          <a:xfrm>
            <a:off x="6102214" y="4108938"/>
            <a:ext cx="4187711" cy="1607121"/>
          </a:xfrm>
          <a:prstGeom prst="rect">
            <a:avLst/>
          </a:prstGeom>
        </p:spPr>
      </p:pic>
      <p:cxnSp>
        <p:nvCxnSpPr>
          <p:cNvPr id="4" name="Straight Connector 3">
            <a:extLst>
              <a:ext uri="{FF2B5EF4-FFF2-40B4-BE49-F238E27FC236}">
                <a16:creationId xmlns:a16="http://schemas.microsoft.com/office/drawing/2014/main" id="{6296A22A-B259-4F5D-A98C-0E4EBC8D01A5}"/>
              </a:ext>
            </a:extLst>
          </p:cNvPr>
          <p:cNvCxnSpPr/>
          <p:nvPr/>
        </p:nvCxnSpPr>
        <p:spPr>
          <a:xfrm>
            <a:off x="992186" y="3953996"/>
            <a:ext cx="1012265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Current Section4">
              <a:hlinkClick r:id="rId14"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9"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Other Sections7">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23256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debt</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Net debt</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Reported net debt</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37" name="Picture 36">
            <a:extLst>
              <a:ext uri="{FF2B5EF4-FFF2-40B4-BE49-F238E27FC236}">
                <a16:creationId xmlns:a16="http://schemas.microsoft.com/office/drawing/2014/main" id="{444C26EF-5ED7-47FE-A10E-E37EF73D8B01}"/>
              </a:ext>
            </a:extLst>
          </p:cNvPr>
          <p:cNvPicPr>
            <a:picLocks noChangeAspect="1"/>
          </p:cNvPicPr>
          <p:nvPr>
            <p:custDataLst>
              <p:tags r:id="rId5"/>
            </p:custDataLst>
          </p:nvPr>
        </p:nvPicPr>
        <p:blipFill>
          <a:blip r:embed="rId8"/>
          <a:stretch>
            <a:fillRect/>
          </a:stretch>
        </p:blipFill>
        <p:spPr>
          <a:xfrm>
            <a:off x="1008797" y="1908928"/>
            <a:ext cx="3442258" cy="2785909"/>
          </a:xfrm>
          <a:prstGeom prst="rect">
            <a:avLst/>
          </a:prstGeom>
        </p:spPr>
      </p:pic>
      <p:sp>
        <p:nvSpPr>
          <p:cNvPr id="39" name="Text Placeholder 11">
            <a:extLst>
              <a:ext uri="{FF2B5EF4-FFF2-40B4-BE49-F238E27FC236}">
                <a16:creationId xmlns:a16="http://schemas.microsoft.com/office/drawing/2014/main" id="{6AF50323-23BA-4483-A086-4180F198DFF6}"/>
              </a:ext>
            </a:extLst>
          </p:cNvPr>
          <p:cNvSpPr txBox="1">
            <a:spLocks/>
          </p:cNvSpPr>
          <p:nvPr/>
        </p:nvSpPr>
        <p:spPr>
          <a:xfrm>
            <a:off x="999354" y="133430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Net debt primarily consists of finance leases which make up £4.6 million of the £5.5 million reported net debt balance at Apr-22. Our adjustments to net debt include a corporation tax true up as well as a number of potential off-balance sheet tax liabilities. The adjustments total £0.1 million and adjusted net debt at Apr-22 amounted to £5.6 million.</a:t>
            </a:r>
          </a:p>
        </p:txBody>
      </p:sp>
      <p:sp>
        <p:nvSpPr>
          <p:cNvPr id="41" name="Text Placeholder 48">
            <a:extLst>
              <a:ext uri="{FF2B5EF4-FFF2-40B4-BE49-F238E27FC236}">
                <a16:creationId xmlns:a16="http://schemas.microsoft.com/office/drawing/2014/main" id="{CE4FBBF9-CCF6-470A-AA05-4BC113679D1C}"/>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Cash</a:t>
            </a:r>
          </a:p>
          <a:p>
            <a:pPr>
              <a:defRPr/>
            </a:pPr>
            <a:r>
              <a:rPr lang="en-GB" sz="1000" b="0" dirty="0"/>
              <a:t>Balances are held within the companies [Bank 5] . We have reconciled the bank statement as at 1st February 2022 to the Jan-22 closing cash balance. A bank reconciliation has not been provided for Apr-22.</a:t>
            </a:r>
          </a:p>
          <a:p>
            <a:pPr>
              <a:defRPr/>
            </a:pPr>
            <a:r>
              <a:rPr lang="en-GB" sz="1000" dirty="0">
                <a:solidFill>
                  <a:schemeClr val="tx2"/>
                </a:solidFill>
              </a:rPr>
              <a:t>Other debtors </a:t>
            </a:r>
          </a:p>
          <a:p>
            <a:pPr>
              <a:defRPr/>
            </a:pPr>
            <a:r>
              <a:rPr lang="en-GB" sz="1000" b="0" dirty="0"/>
              <a:t>This relates to a director’s loan account balance and is not material. </a:t>
            </a:r>
          </a:p>
          <a:p>
            <a:pPr>
              <a:defRPr/>
            </a:pPr>
            <a:r>
              <a:rPr lang="en-GB" sz="1000" dirty="0">
                <a:solidFill>
                  <a:schemeClr val="tx2"/>
                </a:solidFill>
              </a:rPr>
              <a:t>Invoice financing </a:t>
            </a:r>
          </a:p>
          <a:p>
            <a:pPr>
              <a:defRPr/>
            </a:pPr>
            <a:r>
              <a:rPr lang="en-GB" sz="1000" b="0" dirty="0"/>
              <a:t>[Bank 1] provides the invoice finance facility which is capped at a maximum of £850,000 or 85% of total debtors balances and is utilised across all revenue streams other than new vehicle sales. We understand this facility will be settled out of the funds flow. </a:t>
            </a:r>
          </a:p>
          <a:p>
            <a:pPr lvl="1">
              <a:defRPr/>
            </a:pPr>
            <a:r>
              <a:rPr lang="en-GB" b="1" dirty="0">
                <a:solidFill>
                  <a:schemeClr val="tx2"/>
                </a:solidFill>
              </a:rPr>
              <a:t>Corporation tax</a:t>
            </a:r>
          </a:p>
          <a:p>
            <a:pPr lvl="1">
              <a:defRPr/>
            </a:pPr>
            <a:r>
              <a:rPr lang="en-GB" sz="1000" b="0" dirty="0">
                <a:solidFill>
                  <a:schemeClr val="tx1"/>
                </a:solidFill>
              </a:rPr>
              <a:t>R</a:t>
            </a:r>
            <a:r>
              <a:rPr lang="en-GB" sz="1000" dirty="0"/>
              <a:t>eflects outstanding corporation tax liability estimate accrual. The position will need to be trued up as part of the completion process. The vendor’s EV/equity value bridge includes more recent estimates of this liability at April-22. </a:t>
            </a:r>
          </a:p>
          <a:p>
            <a:pPr lvl="1">
              <a:defRPr/>
            </a:pPr>
            <a:endParaRPr lang="en-GB" b="1" dirty="0">
              <a:solidFill>
                <a:schemeClr val="tx2"/>
              </a:solidFill>
            </a:endParaRPr>
          </a:p>
          <a:p>
            <a:pPr>
              <a:defRPr/>
            </a:pPr>
            <a:endParaRPr lang="en-GB" sz="1000" dirty="0">
              <a:solidFill>
                <a:schemeClr val="tx2"/>
              </a:solidFill>
            </a:endParaRPr>
          </a:p>
          <a:p>
            <a:pPr>
              <a:defRPr/>
            </a:pPr>
            <a:endParaRPr lang="en-GB" dirty="0">
              <a:solidFill>
                <a:srgbClr val="000000"/>
              </a:solidFill>
            </a:endParaRPr>
          </a:p>
          <a:p>
            <a:pPr>
              <a:defRPr/>
            </a:pPr>
            <a:endParaRPr lang="en-GB" sz="1000" b="0" dirty="0"/>
          </a:p>
        </p:txBody>
      </p:sp>
      <p:sp>
        <p:nvSpPr>
          <p:cNvPr id="43" name="Text Placeholder 48">
            <a:extLst>
              <a:ext uri="{FF2B5EF4-FFF2-40B4-BE49-F238E27FC236}">
                <a16:creationId xmlns:a16="http://schemas.microsoft.com/office/drawing/2014/main" id="{4340D0D3-86ED-4674-AD3E-8F961A61776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b="1" dirty="0">
                <a:solidFill>
                  <a:schemeClr val="tx2"/>
                </a:solidFill>
              </a:rPr>
              <a:t>Other loans </a:t>
            </a:r>
          </a:p>
          <a:p>
            <a:pPr lvl="1">
              <a:defRPr/>
            </a:pPr>
            <a:r>
              <a:rPr lang="en-GB" dirty="0"/>
              <a:t>In Apr-22 the other loans balance consists of related party funding in the form of loans from [Related party] (related party) and [Finance company 1] (a company owned by Shareholder 3, a NED) as well as other smaller items totalling £94,000 and Bounce Bank Loan of £43,000 taken on normal terms from [Bank 5] during the Covid-19 pandemic which will not be settled prior to completion. </a:t>
            </a:r>
          </a:p>
          <a:p>
            <a:pPr lvl="1">
              <a:defRPr/>
            </a:pPr>
            <a:r>
              <a:rPr lang="en-GB" dirty="0"/>
              <a:t>We understand the related party loans will either be cleared prior to the completion of the transaction or will be cleared as part of the funds flow. The break fee payable on these (if anything) should be for the account of the vendor. </a:t>
            </a:r>
          </a:p>
          <a:p>
            <a:pPr lvl="1">
              <a:defRPr/>
            </a:pPr>
            <a:r>
              <a:rPr lang="en-GB" b="1" dirty="0">
                <a:solidFill>
                  <a:schemeClr val="tx2"/>
                </a:solidFill>
              </a:rPr>
              <a:t>Finance leases </a:t>
            </a:r>
          </a:p>
          <a:p>
            <a:pPr lvl="1">
              <a:defRPr/>
            </a:pPr>
            <a:r>
              <a:rPr lang="en-GB" dirty="0"/>
              <a:t>Lease agreements are in place mostly with third party funders such as [Bank 3], [Bank 2] and [Customer 6], these are typically for 60 months and are used to fund hire fleet purchases. </a:t>
            </a:r>
          </a:p>
          <a:p>
            <a:pPr lvl="1">
              <a:defRPr/>
            </a:pPr>
            <a:r>
              <a:rPr lang="en-GB" dirty="0"/>
              <a:t> </a:t>
            </a:r>
          </a:p>
          <a:p>
            <a:pPr lvl="1">
              <a:defRPr/>
            </a:pPr>
            <a:endParaRPr lang="en-GB" dirty="0"/>
          </a:p>
          <a:p>
            <a:pPr marL="0" lvl="2" indent="0">
              <a:buNone/>
              <a:defRPr/>
            </a:pPr>
            <a:endParaRPr lang="en-GB" b="1" dirty="0">
              <a:solidFill>
                <a:schemeClr val="tx2"/>
              </a:solidFill>
            </a:endParaRPr>
          </a:p>
          <a:p>
            <a:pPr marL="0" lvl="2" indent="0">
              <a:buNone/>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33" name="object 31">
            <a:extLst>
              <a:ext uri="{FF2B5EF4-FFF2-40B4-BE49-F238E27FC236}">
                <a16:creationId xmlns:a16="http://schemas.microsoft.com/office/drawing/2014/main" id="{1833FB93-B6CA-4E85-BEE3-BCDE5522FCCA}"/>
              </a:ext>
            </a:extLst>
          </p:cNvPr>
          <p:cNvSpPr>
            <a:spLocks/>
          </p:cNvSpPr>
          <p:nvPr/>
        </p:nvSpPr>
        <p:spPr>
          <a:xfrm>
            <a:off x="4690571" y="2268908"/>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4" name="object 31">
            <a:extLst>
              <a:ext uri="{FF2B5EF4-FFF2-40B4-BE49-F238E27FC236}">
                <a16:creationId xmlns:a16="http://schemas.microsoft.com/office/drawing/2014/main" id="{F50DAA1A-2435-4183-B0F0-438A46168ED9}"/>
              </a:ext>
            </a:extLst>
          </p:cNvPr>
          <p:cNvSpPr>
            <a:spLocks/>
          </p:cNvSpPr>
          <p:nvPr/>
        </p:nvSpPr>
        <p:spPr>
          <a:xfrm>
            <a:off x="7951028" y="2268908"/>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5</a:t>
            </a:r>
            <a:endParaRPr sz="800" dirty="0">
              <a:solidFill>
                <a:schemeClr val="bg1"/>
              </a:solidFill>
            </a:endParaRPr>
          </a:p>
        </p:txBody>
      </p:sp>
      <p:sp>
        <p:nvSpPr>
          <p:cNvPr id="35" name="object 31">
            <a:extLst>
              <a:ext uri="{FF2B5EF4-FFF2-40B4-BE49-F238E27FC236}">
                <a16:creationId xmlns:a16="http://schemas.microsoft.com/office/drawing/2014/main" id="{742FF6D8-5547-4102-99E1-C785AB3FFE34}"/>
              </a:ext>
            </a:extLst>
          </p:cNvPr>
          <p:cNvSpPr>
            <a:spLocks/>
          </p:cNvSpPr>
          <p:nvPr/>
        </p:nvSpPr>
        <p:spPr>
          <a:xfrm>
            <a:off x="4680404" y="5028945"/>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sp>
        <p:nvSpPr>
          <p:cNvPr id="38" name="object 31">
            <a:extLst>
              <a:ext uri="{FF2B5EF4-FFF2-40B4-BE49-F238E27FC236}">
                <a16:creationId xmlns:a16="http://schemas.microsoft.com/office/drawing/2014/main" id="{30635C22-1073-4E9B-B373-FC4A83BA5436}"/>
              </a:ext>
            </a:extLst>
          </p:cNvPr>
          <p:cNvSpPr>
            <a:spLocks/>
          </p:cNvSpPr>
          <p:nvPr/>
        </p:nvSpPr>
        <p:spPr>
          <a:xfrm>
            <a:off x="4680404" y="3800407"/>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0" name="object 31">
            <a:extLst>
              <a:ext uri="{FF2B5EF4-FFF2-40B4-BE49-F238E27FC236}">
                <a16:creationId xmlns:a16="http://schemas.microsoft.com/office/drawing/2014/main" id="{A60AF8B8-BC15-4F6C-9BC5-27181591A83C}"/>
              </a:ext>
            </a:extLst>
          </p:cNvPr>
          <p:cNvSpPr>
            <a:spLocks/>
          </p:cNvSpPr>
          <p:nvPr/>
        </p:nvSpPr>
        <p:spPr>
          <a:xfrm>
            <a:off x="4680544" y="3173281"/>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4" name="object 31">
            <a:extLst>
              <a:ext uri="{FF2B5EF4-FFF2-40B4-BE49-F238E27FC236}">
                <a16:creationId xmlns:a16="http://schemas.microsoft.com/office/drawing/2014/main" id="{7FB6D63D-CF44-484A-969C-CD8366092C9D}"/>
              </a:ext>
            </a:extLst>
          </p:cNvPr>
          <p:cNvSpPr>
            <a:spLocks/>
          </p:cNvSpPr>
          <p:nvPr/>
        </p:nvSpPr>
        <p:spPr>
          <a:xfrm>
            <a:off x="7951028" y="4650399"/>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6</a:t>
            </a:r>
            <a:endParaRPr sz="800" dirty="0">
              <a:solidFill>
                <a:schemeClr val="bg1"/>
              </a:solidFill>
            </a:endParaRPr>
          </a:p>
        </p:txBody>
      </p:sp>
      <p:sp>
        <p:nvSpPr>
          <p:cNvPr id="46" name="object 31">
            <a:extLst>
              <a:ext uri="{FF2B5EF4-FFF2-40B4-BE49-F238E27FC236}">
                <a16:creationId xmlns:a16="http://schemas.microsoft.com/office/drawing/2014/main" id="{FCFB5DB7-EEDA-4652-B8E3-1222D7FFA26D}"/>
              </a:ext>
            </a:extLst>
          </p:cNvPr>
          <p:cNvSpPr>
            <a:spLocks/>
          </p:cNvSpPr>
          <p:nvPr/>
        </p:nvSpPr>
        <p:spPr>
          <a:xfrm>
            <a:off x="986761" y="2340536"/>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47" name="object 31">
            <a:extLst>
              <a:ext uri="{FF2B5EF4-FFF2-40B4-BE49-F238E27FC236}">
                <a16:creationId xmlns:a16="http://schemas.microsoft.com/office/drawing/2014/main" id="{29FE779A-61D5-4416-AFF1-88305E8DC156}"/>
              </a:ext>
            </a:extLst>
          </p:cNvPr>
          <p:cNvSpPr>
            <a:spLocks/>
          </p:cNvSpPr>
          <p:nvPr/>
        </p:nvSpPr>
        <p:spPr>
          <a:xfrm>
            <a:off x="989105" y="248379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8" name="object 31">
            <a:extLst>
              <a:ext uri="{FF2B5EF4-FFF2-40B4-BE49-F238E27FC236}">
                <a16:creationId xmlns:a16="http://schemas.microsoft.com/office/drawing/2014/main" id="{EB10D994-F31A-4E78-AEE2-FFF9C00F98F6}"/>
              </a:ext>
            </a:extLst>
          </p:cNvPr>
          <p:cNvSpPr>
            <a:spLocks/>
          </p:cNvSpPr>
          <p:nvPr/>
        </p:nvSpPr>
        <p:spPr>
          <a:xfrm>
            <a:off x="986761" y="263121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49" name="object 31">
            <a:extLst>
              <a:ext uri="{FF2B5EF4-FFF2-40B4-BE49-F238E27FC236}">
                <a16:creationId xmlns:a16="http://schemas.microsoft.com/office/drawing/2014/main" id="{DB5F7FB5-652C-4586-B706-B5FE46BA9795}"/>
              </a:ext>
            </a:extLst>
          </p:cNvPr>
          <p:cNvSpPr>
            <a:spLocks/>
          </p:cNvSpPr>
          <p:nvPr/>
        </p:nvSpPr>
        <p:spPr>
          <a:xfrm>
            <a:off x="995121" y="280259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4</a:t>
            </a:r>
            <a:endParaRPr sz="800" dirty="0">
              <a:solidFill>
                <a:schemeClr val="bg1"/>
              </a:solidFill>
            </a:endParaRPr>
          </a:p>
        </p:txBody>
      </p:sp>
      <p:sp>
        <p:nvSpPr>
          <p:cNvPr id="50" name="object 31">
            <a:extLst>
              <a:ext uri="{FF2B5EF4-FFF2-40B4-BE49-F238E27FC236}">
                <a16:creationId xmlns:a16="http://schemas.microsoft.com/office/drawing/2014/main" id="{DEB962D6-1BE3-42D0-B960-A77394660872}"/>
              </a:ext>
            </a:extLst>
          </p:cNvPr>
          <p:cNvSpPr>
            <a:spLocks/>
          </p:cNvSpPr>
          <p:nvPr/>
        </p:nvSpPr>
        <p:spPr>
          <a:xfrm>
            <a:off x="986761" y="296310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5</a:t>
            </a:r>
            <a:endParaRPr sz="800" dirty="0">
              <a:solidFill>
                <a:schemeClr val="bg1"/>
              </a:solidFill>
            </a:endParaRPr>
          </a:p>
        </p:txBody>
      </p:sp>
      <p:sp>
        <p:nvSpPr>
          <p:cNvPr id="51" name="object 31">
            <a:extLst>
              <a:ext uri="{FF2B5EF4-FFF2-40B4-BE49-F238E27FC236}">
                <a16:creationId xmlns:a16="http://schemas.microsoft.com/office/drawing/2014/main" id="{C75FF721-298B-4F9A-A018-5003DC371B9C}"/>
              </a:ext>
            </a:extLst>
          </p:cNvPr>
          <p:cNvSpPr>
            <a:spLocks/>
          </p:cNvSpPr>
          <p:nvPr/>
        </p:nvSpPr>
        <p:spPr>
          <a:xfrm>
            <a:off x="989105" y="3120889"/>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6</a:t>
            </a:r>
            <a:endParaRPr sz="800" dirty="0">
              <a:solidFill>
                <a:schemeClr val="bg1"/>
              </a:solidFill>
            </a:endParaRPr>
          </a:p>
        </p:txBody>
      </p:sp>
      <p:grpSp>
        <p:nvGrpSpPr>
          <p:cNvPr id="60" name="Group 59">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61"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2"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63"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64"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65"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6"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7"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229674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debt</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Net debt</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Reported net debt</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37" name="Picture 36">
            <a:extLst>
              <a:ext uri="{FF2B5EF4-FFF2-40B4-BE49-F238E27FC236}">
                <a16:creationId xmlns:a16="http://schemas.microsoft.com/office/drawing/2014/main" id="{444C26EF-5ED7-47FE-A10E-E37EF73D8B01}"/>
              </a:ext>
            </a:extLst>
          </p:cNvPr>
          <p:cNvPicPr>
            <a:picLocks noChangeAspect="1"/>
          </p:cNvPicPr>
          <p:nvPr>
            <p:custDataLst>
              <p:tags r:id="rId5"/>
            </p:custDataLst>
          </p:nvPr>
        </p:nvPicPr>
        <p:blipFill>
          <a:blip r:embed="rId8"/>
          <a:stretch>
            <a:fillRect/>
          </a:stretch>
        </p:blipFill>
        <p:spPr>
          <a:xfrm>
            <a:off x="1008797" y="1908928"/>
            <a:ext cx="3442258" cy="2785909"/>
          </a:xfrm>
          <a:prstGeom prst="rect">
            <a:avLst/>
          </a:prstGeom>
        </p:spPr>
      </p:pic>
      <p:sp>
        <p:nvSpPr>
          <p:cNvPr id="39" name="Text Placeholder 11">
            <a:extLst>
              <a:ext uri="{FF2B5EF4-FFF2-40B4-BE49-F238E27FC236}">
                <a16:creationId xmlns:a16="http://schemas.microsoft.com/office/drawing/2014/main" id="{6AF50323-23BA-4483-A086-4180F198DFF6}"/>
              </a:ext>
            </a:extLst>
          </p:cNvPr>
          <p:cNvSpPr txBox="1">
            <a:spLocks/>
          </p:cNvSpPr>
          <p:nvPr/>
        </p:nvSpPr>
        <p:spPr>
          <a:xfrm>
            <a:off x="999354" y="133430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Net debt primarily consists of finance leases which make up £4.6 million of the £5.5 million reported net debt balance at Apr-22. Our adjustments to net debt include a corporation tax true up as well as a number of potential off-balance sheet tax liabilities. The adjustments total £0.1 million and adjusted net debt at Apr-22 amounted to £5.6 million.</a:t>
            </a:r>
          </a:p>
        </p:txBody>
      </p:sp>
      <p:sp>
        <p:nvSpPr>
          <p:cNvPr id="41" name="Text Placeholder 48">
            <a:extLst>
              <a:ext uri="{FF2B5EF4-FFF2-40B4-BE49-F238E27FC236}">
                <a16:creationId xmlns:a16="http://schemas.microsoft.com/office/drawing/2014/main" id="{CE4FBBF9-CCF6-470A-AA05-4BC113679D1C}"/>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Finance leases cont.</a:t>
            </a:r>
          </a:p>
          <a:p>
            <a:pPr lvl="1">
              <a:defRPr/>
            </a:pPr>
            <a:r>
              <a:rPr lang="en-GB" sz="1000" dirty="0"/>
              <a:t>Management has confirmed that these can be repaid in full at any time as such allowing the business to finance all initial vehicle purchases by way of HP and if a decision is made later to sell the vehicle, the finance on that vehicle is repaid per terms of the agreement. </a:t>
            </a:r>
          </a:p>
          <a:p>
            <a:pPr lvl="1">
              <a:defRPr/>
            </a:pPr>
            <a:r>
              <a:rPr lang="en-GB" sz="1000" dirty="0"/>
              <a:t>During the Covid-19 pandemic payments were deferred with months where payments were suspended added to the end of agreements or the value of remaining payments uplifted to offset the deferral, extending some lease deals beyond their normal length. </a:t>
            </a:r>
            <a:endParaRPr lang="en-GB" dirty="0"/>
          </a:p>
          <a:p>
            <a:pPr lvl="1">
              <a:defRPr/>
            </a:pPr>
            <a:r>
              <a:rPr lang="en-GB" sz="1000" dirty="0"/>
              <a:t>The reduction in the liability from Apr-20 to Apr-22 reflects vehicle disposals and capital repayments on HP liabilities over this period, whilst vehicle additions and therefore new finance during this period have decreased. Finance leases are also in place with related party lender [Related party 3] and [Related party 4](totalling £405,000 at Apr-22). </a:t>
            </a:r>
          </a:p>
          <a:p>
            <a:pPr lvl="1">
              <a:defRPr/>
            </a:pPr>
            <a:r>
              <a:rPr lang="en-GB" sz="1000" dirty="0"/>
              <a:t>.</a:t>
            </a:r>
            <a:endParaRPr lang="en-GB" b="1" dirty="0">
              <a:solidFill>
                <a:schemeClr val="tx2"/>
              </a:solidFill>
            </a:endParaRPr>
          </a:p>
          <a:p>
            <a:pPr>
              <a:defRPr/>
            </a:pPr>
            <a:endParaRPr lang="en-GB" sz="1000" dirty="0">
              <a:solidFill>
                <a:schemeClr val="tx2"/>
              </a:solidFill>
            </a:endParaRPr>
          </a:p>
          <a:p>
            <a:pPr>
              <a:defRPr/>
            </a:pPr>
            <a:endParaRPr lang="en-GB" dirty="0">
              <a:solidFill>
                <a:srgbClr val="000000"/>
              </a:solidFill>
            </a:endParaRPr>
          </a:p>
          <a:p>
            <a:pPr>
              <a:defRPr/>
            </a:pPr>
            <a:endParaRPr lang="en-GB" sz="1000" b="0" dirty="0"/>
          </a:p>
        </p:txBody>
      </p:sp>
      <p:sp>
        <p:nvSpPr>
          <p:cNvPr id="43" name="Text Placeholder 48">
            <a:extLst>
              <a:ext uri="{FF2B5EF4-FFF2-40B4-BE49-F238E27FC236}">
                <a16:creationId xmlns:a16="http://schemas.microsoft.com/office/drawing/2014/main" id="{4340D0D3-86ED-4674-AD3E-8F961A61776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endParaRPr lang="en-GB" sz="1000" dirty="0"/>
          </a:p>
          <a:p>
            <a:pPr lvl="1">
              <a:defRPr/>
            </a:pPr>
            <a:r>
              <a:rPr lang="en-GB" sz="1000" dirty="0"/>
              <a:t>We understand these agreements will be settled out of the funds flow. Any break fees on these agreements should be for the account of the vendor</a:t>
            </a: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33" name="object 31">
            <a:extLst>
              <a:ext uri="{FF2B5EF4-FFF2-40B4-BE49-F238E27FC236}">
                <a16:creationId xmlns:a16="http://schemas.microsoft.com/office/drawing/2014/main" id="{275031E3-2392-4730-9617-03DD91261436}"/>
              </a:ext>
            </a:extLst>
          </p:cNvPr>
          <p:cNvSpPr>
            <a:spLocks/>
          </p:cNvSpPr>
          <p:nvPr/>
        </p:nvSpPr>
        <p:spPr>
          <a:xfrm>
            <a:off x="4702502" y="2280178"/>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6</a:t>
            </a:r>
            <a:endParaRPr sz="800" dirty="0">
              <a:solidFill>
                <a:schemeClr val="bg1"/>
              </a:solidFill>
            </a:endParaRPr>
          </a:p>
        </p:txBody>
      </p:sp>
      <p:sp>
        <p:nvSpPr>
          <p:cNvPr id="34" name="object 31">
            <a:extLst>
              <a:ext uri="{FF2B5EF4-FFF2-40B4-BE49-F238E27FC236}">
                <a16:creationId xmlns:a16="http://schemas.microsoft.com/office/drawing/2014/main" id="{0BF06B8B-79D5-4679-A8CA-3BC86B75BC9E}"/>
              </a:ext>
            </a:extLst>
          </p:cNvPr>
          <p:cNvSpPr>
            <a:spLocks/>
          </p:cNvSpPr>
          <p:nvPr/>
        </p:nvSpPr>
        <p:spPr>
          <a:xfrm>
            <a:off x="995121" y="3103299"/>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6</a:t>
            </a:r>
            <a:endParaRPr sz="800" dirty="0">
              <a:solidFill>
                <a:schemeClr val="bg1"/>
              </a:solidFill>
            </a:endParaRPr>
          </a:p>
        </p:txBody>
      </p:sp>
      <p:grpSp>
        <p:nvGrpSpPr>
          <p:cNvPr id="40" name="Group 39">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44"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6"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8"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0"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1"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5056002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debt</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Net debt</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Potential adjustments</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37" name="Picture 36">
            <a:extLst>
              <a:ext uri="{FF2B5EF4-FFF2-40B4-BE49-F238E27FC236}">
                <a16:creationId xmlns:a16="http://schemas.microsoft.com/office/drawing/2014/main" id="{444C26EF-5ED7-47FE-A10E-E37EF73D8B01}"/>
              </a:ext>
            </a:extLst>
          </p:cNvPr>
          <p:cNvPicPr>
            <a:picLocks noChangeAspect="1"/>
          </p:cNvPicPr>
          <p:nvPr>
            <p:custDataLst>
              <p:tags r:id="rId5"/>
            </p:custDataLst>
          </p:nvPr>
        </p:nvPicPr>
        <p:blipFill>
          <a:blip r:embed="rId8"/>
          <a:stretch>
            <a:fillRect/>
          </a:stretch>
        </p:blipFill>
        <p:spPr>
          <a:xfrm>
            <a:off x="1008797" y="1908928"/>
            <a:ext cx="3442258" cy="2785909"/>
          </a:xfrm>
          <a:prstGeom prst="rect">
            <a:avLst/>
          </a:prstGeom>
        </p:spPr>
      </p:pic>
      <p:sp>
        <p:nvSpPr>
          <p:cNvPr id="39" name="Text Placeholder 11">
            <a:extLst>
              <a:ext uri="{FF2B5EF4-FFF2-40B4-BE49-F238E27FC236}">
                <a16:creationId xmlns:a16="http://schemas.microsoft.com/office/drawing/2014/main" id="{6AF50323-23BA-4483-A086-4180F198DFF6}"/>
              </a:ext>
            </a:extLst>
          </p:cNvPr>
          <p:cNvSpPr txBox="1">
            <a:spLocks/>
          </p:cNvSpPr>
          <p:nvPr/>
        </p:nvSpPr>
        <p:spPr>
          <a:xfrm>
            <a:off x="999354" y="133430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Net debt primarily consists of finance leases which make up £4.6 million of the £5.5 million reported net debt balance at Apr-22. Our adjustments to net debt include a corporation tax true up as well as a number of potential off-balance sheet tax liabilities. The adjustments total £0.1 million and adjusted net debt at Apr-22 amounted to £5.6 million.</a:t>
            </a:r>
          </a:p>
        </p:txBody>
      </p:sp>
      <p:sp>
        <p:nvSpPr>
          <p:cNvPr id="41" name="Text Placeholder 48">
            <a:extLst>
              <a:ext uri="{FF2B5EF4-FFF2-40B4-BE49-F238E27FC236}">
                <a16:creationId xmlns:a16="http://schemas.microsoft.com/office/drawing/2014/main" id="{CE4FBBF9-CCF6-470A-AA05-4BC113679D1C}"/>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Corporation tax true up </a:t>
            </a:r>
          </a:p>
          <a:p>
            <a:pPr>
              <a:defRPr/>
            </a:pPr>
            <a:r>
              <a:rPr lang="en-GB" sz="1000" b="0" dirty="0"/>
              <a:t>£0.2 million is an estimate of the corporation tax accrued in FY22. We understand that a tax computation has been performed by the vendors with the liability reducing to £79,000. </a:t>
            </a:r>
          </a:p>
          <a:p>
            <a:pPr>
              <a:defRPr/>
            </a:pPr>
            <a:r>
              <a:rPr lang="en-GB" sz="1000" b="0" dirty="0"/>
              <a:t>To the extent you are satisfied with this computation any adjustment should be included as debt like.</a:t>
            </a:r>
          </a:p>
          <a:p>
            <a:pPr>
              <a:defRPr/>
            </a:pPr>
            <a:r>
              <a:rPr lang="en-GB" sz="1000" b="0" dirty="0"/>
              <a:t>Furthermore, we note the vendor’s EV/equity value bridge includes a £0.8 million deduction for deferred tax, which we would traditionally not expect to see as a deduction for, unless there is a clear link to future cash outflows post deal. </a:t>
            </a:r>
          </a:p>
          <a:p>
            <a:pPr lvl="1">
              <a:defRPr/>
            </a:pPr>
            <a:r>
              <a:rPr lang="en-GB" b="1" dirty="0">
                <a:solidFill>
                  <a:schemeClr val="tx2"/>
                </a:solidFill>
              </a:rPr>
              <a:t>HP interest holiday accrual </a:t>
            </a:r>
          </a:p>
          <a:p>
            <a:pPr>
              <a:defRPr/>
            </a:pPr>
            <a:r>
              <a:rPr lang="en-GB" sz="1000" b="0" dirty="0"/>
              <a:t>The balance is not material at Apr-22 however any unpaid interest on HP should be for the account of the vendor.</a:t>
            </a:r>
            <a:endParaRPr lang="en-GB" sz="1000" b="0" dirty="0">
              <a:solidFill>
                <a:schemeClr val="tx2"/>
              </a:solidFill>
            </a:endParaRPr>
          </a:p>
          <a:p>
            <a:pPr lvl="1">
              <a:defRPr/>
            </a:pPr>
            <a:r>
              <a:rPr lang="en-GB" b="1" dirty="0">
                <a:solidFill>
                  <a:schemeClr val="tx2"/>
                </a:solidFill>
              </a:rPr>
              <a:t>Motor vehicles sales corporation tax </a:t>
            </a:r>
          </a:p>
          <a:p>
            <a:pPr lvl="1">
              <a:defRPr/>
            </a:pPr>
            <a:r>
              <a:rPr lang="en-GB" dirty="0"/>
              <a:t>The company has incorrectly treated the sale of vehicles in its fleet as capital disposals in the FY21 tax return which will result in an additional liability of approximately £20,000. </a:t>
            </a:r>
          </a:p>
          <a:p>
            <a:pPr>
              <a:defRPr/>
            </a:pPr>
            <a:endParaRPr lang="en-GB" dirty="0">
              <a:solidFill>
                <a:srgbClr val="000000"/>
              </a:solidFill>
            </a:endParaRPr>
          </a:p>
          <a:p>
            <a:pPr>
              <a:defRPr/>
            </a:pPr>
            <a:endParaRPr lang="en-GB" sz="1000" b="0" dirty="0"/>
          </a:p>
        </p:txBody>
      </p:sp>
      <p:sp>
        <p:nvSpPr>
          <p:cNvPr id="43" name="Text Placeholder 48">
            <a:extLst>
              <a:ext uri="{FF2B5EF4-FFF2-40B4-BE49-F238E27FC236}">
                <a16:creationId xmlns:a16="http://schemas.microsoft.com/office/drawing/2014/main" id="{4340D0D3-86ED-4674-AD3E-8F961A617769}"/>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b="1" dirty="0">
                <a:solidFill>
                  <a:schemeClr val="tx2"/>
                </a:solidFill>
              </a:rPr>
              <a:t>PD11 error HMRC disclosure</a:t>
            </a:r>
          </a:p>
          <a:p>
            <a:pPr lvl="1">
              <a:defRPr/>
            </a:pPr>
            <a:r>
              <a:rPr lang="en-GB" dirty="0"/>
              <a:t>The company has recently made a voluntary disclosure to xx with respect to a failure to report company cars correctly on P11D forms. Management has estimated total liabilities in respect of this failure of  approximately £50,000 (including interest). We understand this amount has been included in the vendor’s EV/equity bridge. </a:t>
            </a:r>
          </a:p>
          <a:p>
            <a:pPr lvl="1">
              <a:defRPr/>
            </a:pPr>
            <a:r>
              <a:rPr lang="en-GB" sz="1000" b="1" dirty="0">
                <a:solidFill>
                  <a:schemeClr val="tx2"/>
                </a:solidFill>
              </a:rPr>
              <a:t>Employment taxes error</a:t>
            </a:r>
          </a:p>
          <a:p>
            <a:pPr lvl="1">
              <a:defRPr/>
            </a:pPr>
            <a:r>
              <a:rPr lang="en-GB" dirty="0"/>
              <a:t>T</a:t>
            </a:r>
            <a:r>
              <a:rPr lang="en-GB" sz="1000" dirty="0"/>
              <a:t>he company has made personal pension contributions on behalf of a director directly to the pension scheme, without the deduction of tax. This would appear to be an error, with an estimated liability of c£16,000, which may by concession be reduced to £9,000. </a:t>
            </a:r>
          </a:p>
          <a:p>
            <a:pPr lvl="1">
              <a:defRPr/>
            </a:pPr>
            <a:endParaRPr lang="en-GB" b="1" dirty="0"/>
          </a:p>
          <a:p>
            <a:pPr lvl="1">
              <a:defRPr/>
            </a:pPr>
            <a:endParaRPr lang="en-GB" dirty="0"/>
          </a:p>
          <a:p>
            <a:pPr marL="0" lvl="2" indent="0">
              <a:buNone/>
              <a:defRPr/>
            </a:pPr>
            <a:endParaRPr lang="en-GB" b="1" dirty="0">
              <a:solidFill>
                <a:schemeClr val="tx2"/>
              </a:solidFill>
            </a:endParaRPr>
          </a:p>
          <a:p>
            <a:pPr marL="0" lvl="2" indent="0">
              <a:buNone/>
              <a:defRPr/>
            </a:pPr>
            <a:endParaRPr lang="en-GB" dirty="0">
              <a:solidFill>
                <a:srgbClr val="000000"/>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000" b="0" i="0" u="none" strike="noStrike" kern="1200" cap="none" spc="0" normalizeH="0" baseline="0" noProof="0" dirty="0">
              <a:ln>
                <a:noFill/>
              </a:ln>
              <a:solidFill>
                <a:srgbClr val="000000"/>
              </a:solidFill>
              <a:effectLst/>
              <a:uLnTx/>
              <a:uFillTx/>
              <a:latin typeface="Arial"/>
              <a:ea typeface="+mn-ea"/>
              <a:cs typeface="+mn-cs"/>
            </a:endParaRPr>
          </a:p>
        </p:txBody>
      </p:sp>
      <p:sp>
        <p:nvSpPr>
          <p:cNvPr id="33" name="object 31">
            <a:extLst>
              <a:ext uri="{FF2B5EF4-FFF2-40B4-BE49-F238E27FC236}">
                <a16:creationId xmlns:a16="http://schemas.microsoft.com/office/drawing/2014/main" id="{E98879EC-CED6-4EFD-A6F5-C8F25F19F6B4}"/>
              </a:ext>
            </a:extLst>
          </p:cNvPr>
          <p:cNvSpPr>
            <a:spLocks/>
          </p:cNvSpPr>
          <p:nvPr/>
        </p:nvSpPr>
        <p:spPr>
          <a:xfrm>
            <a:off x="4690571" y="2268908"/>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7</a:t>
            </a:r>
            <a:endParaRPr sz="800" dirty="0">
              <a:solidFill>
                <a:schemeClr val="bg1"/>
              </a:solidFill>
            </a:endParaRPr>
          </a:p>
        </p:txBody>
      </p:sp>
      <p:sp>
        <p:nvSpPr>
          <p:cNvPr id="34" name="object 31">
            <a:extLst>
              <a:ext uri="{FF2B5EF4-FFF2-40B4-BE49-F238E27FC236}">
                <a16:creationId xmlns:a16="http://schemas.microsoft.com/office/drawing/2014/main" id="{34EBE83D-AA40-4478-B8B9-2D805D2E3C44}"/>
              </a:ext>
            </a:extLst>
          </p:cNvPr>
          <p:cNvSpPr>
            <a:spLocks/>
          </p:cNvSpPr>
          <p:nvPr/>
        </p:nvSpPr>
        <p:spPr>
          <a:xfrm>
            <a:off x="4690571" y="4406379"/>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8</a:t>
            </a:r>
            <a:endParaRPr sz="800" dirty="0">
              <a:solidFill>
                <a:schemeClr val="bg1"/>
              </a:solidFill>
            </a:endParaRPr>
          </a:p>
        </p:txBody>
      </p:sp>
      <p:sp>
        <p:nvSpPr>
          <p:cNvPr id="35" name="object 31">
            <a:extLst>
              <a:ext uri="{FF2B5EF4-FFF2-40B4-BE49-F238E27FC236}">
                <a16:creationId xmlns:a16="http://schemas.microsoft.com/office/drawing/2014/main" id="{77EE9A86-831F-43D7-90BC-970F9C9E7FA9}"/>
              </a:ext>
            </a:extLst>
          </p:cNvPr>
          <p:cNvSpPr>
            <a:spLocks/>
          </p:cNvSpPr>
          <p:nvPr/>
        </p:nvSpPr>
        <p:spPr>
          <a:xfrm>
            <a:off x="4690571" y="518673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9</a:t>
            </a:r>
            <a:endParaRPr sz="800" dirty="0">
              <a:solidFill>
                <a:schemeClr val="bg1"/>
              </a:solidFill>
            </a:endParaRPr>
          </a:p>
        </p:txBody>
      </p:sp>
      <p:sp>
        <p:nvSpPr>
          <p:cNvPr id="38" name="object 31">
            <a:extLst>
              <a:ext uri="{FF2B5EF4-FFF2-40B4-BE49-F238E27FC236}">
                <a16:creationId xmlns:a16="http://schemas.microsoft.com/office/drawing/2014/main" id="{0EFCCD94-D21D-46B6-89B9-17D19A90EDB7}"/>
              </a:ext>
            </a:extLst>
          </p:cNvPr>
          <p:cNvSpPr>
            <a:spLocks/>
          </p:cNvSpPr>
          <p:nvPr/>
        </p:nvSpPr>
        <p:spPr>
          <a:xfrm>
            <a:off x="7971182" y="227805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10</a:t>
            </a:r>
            <a:endParaRPr sz="800" dirty="0">
              <a:solidFill>
                <a:schemeClr val="bg1"/>
              </a:solidFill>
            </a:endParaRPr>
          </a:p>
        </p:txBody>
      </p:sp>
      <p:sp>
        <p:nvSpPr>
          <p:cNvPr id="40" name="object 31">
            <a:extLst>
              <a:ext uri="{FF2B5EF4-FFF2-40B4-BE49-F238E27FC236}">
                <a16:creationId xmlns:a16="http://schemas.microsoft.com/office/drawing/2014/main" id="{4C9C3475-AADA-497A-9468-4413DFB164B7}"/>
              </a:ext>
            </a:extLst>
          </p:cNvPr>
          <p:cNvSpPr>
            <a:spLocks/>
          </p:cNvSpPr>
          <p:nvPr/>
        </p:nvSpPr>
        <p:spPr>
          <a:xfrm>
            <a:off x="7971182" y="3660561"/>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11</a:t>
            </a:r>
            <a:endParaRPr sz="800" dirty="0">
              <a:solidFill>
                <a:schemeClr val="bg1"/>
              </a:solidFill>
            </a:endParaRPr>
          </a:p>
        </p:txBody>
      </p:sp>
      <p:sp>
        <p:nvSpPr>
          <p:cNvPr id="44" name="object 31">
            <a:extLst>
              <a:ext uri="{FF2B5EF4-FFF2-40B4-BE49-F238E27FC236}">
                <a16:creationId xmlns:a16="http://schemas.microsoft.com/office/drawing/2014/main" id="{90915351-4151-47AB-80B9-66C1DD71ACF0}"/>
              </a:ext>
            </a:extLst>
          </p:cNvPr>
          <p:cNvSpPr>
            <a:spLocks/>
          </p:cNvSpPr>
          <p:nvPr/>
        </p:nvSpPr>
        <p:spPr>
          <a:xfrm>
            <a:off x="990288" y="3601530"/>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7</a:t>
            </a:r>
            <a:endParaRPr sz="800" dirty="0">
              <a:solidFill>
                <a:schemeClr val="bg1"/>
              </a:solidFill>
            </a:endParaRPr>
          </a:p>
        </p:txBody>
      </p:sp>
      <p:sp>
        <p:nvSpPr>
          <p:cNvPr id="46" name="object 31">
            <a:extLst>
              <a:ext uri="{FF2B5EF4-FFF2-40B4-BE49-F238E27FC236}">
                <a16:creationId xmlns:a16="http://schemas.microsoft.com/office/drawing/2014/main" id="{F4829388-8620-4119-AB43-C113ECF16319}"/>
              </a:ext>
            </a:extLst>
          </p:cNvPr>
          <p:cNvSpPr>
            <a:spLocks/>
          </p:cNvSpPr>
          <p:nvPr/>
        </p:nvSpPr>
        <p:spPr>
          <a:xfrm>
            <a:off x="990288" y="3746118"/>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8</a:t>
            </a:r>
            <a:endParaRPr sz="800" dirty="0">
              <a:solidFill>
                <a:schemeClr val="bg1"/>
              </a:solidFill>
            </a:endParaRPr>
          </a:p>
        </p:txBody>
      </p:sp>
      <p:sp>
        <p:nvSpPr>
          <p:cNvPr id="47" name="object 31">
            <a:extLst>
              <a:ext uri="{FF2B5EF4-FFF2-40B4-BE49-F238E27FC236}">
                <a16:creationId xmlns:a16="http://schemas.microsoft.com/office/drawing/2014/main" id="{E2F91F46-BA0C-4370-8107-9608892FF499}"/>
              </a:ext>
            </a:extLst>
          </p:cNvPr>
          <p:cNvSpPr>
            <a:spLocks/>
          </p:cNvSpPr>
          <p:nvPr/>
        </p:nvSpPr>
        <p:spPr>
          <a:xfrm>
            <a:off x="990288" y="3907012"/>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9</a:t>
            </a:r>
            <a:endParaRPr sz="800" dirty="0">
              <a:solidFill>
                <a:schemeClr val="bg1"/>
              </a:solidFill>
            </a:endParaRPr>
          </a:p>
        </p:txBody>
      </p:sp>
      <p:sp>
        <p:nvSpPr>
          <p:cNvPr id="48" name="object 31">
            <a:extLst>
              <a:ext uri="{FF2B5EF4-FFF2-40B4-BE49-F238E27FC236}">
                <a16:creationId xmlns:a16="http://schemas.microsoft.com/office/drawing/2014/main" id="{F7B810C2-C7AB-46A5-80DF-1DF8B617DB87}"/>
              </a:ext>
            </a:extLst>
          </p:cNvPr>
          <p:cNvSpPr>
            <a:spLocks/>
          </p:cNvSpPr>
          <p:nvPr/>
        </p:nvSpPr>
        <p:spPr>
          <a:xfrm>
            <a:off x="984735" y="4073566"/>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10</a:t>
            </a:r>
            <a:endParaRPr sz="800" dirty="0">
              <a:solidFill>
                <a:schemeClr val="bg1"/>
              </a:solidFill>
            </a:endParaRPr>
          </a:p>
        </p:txBody>
      </p:sp>
      <p:sp>
        <p:nvSpPr>
          <p:cNvPr id="49" name="object 31">
            <a:extLst>
              <a:ext uri="{FF2B5EF4-FFF2-40B4-BE49-F238E27FC236}">
                <a16:creationId xmlns:a16="http://schemas.microsoft.com/office/drawing/2014/main" id="{626EE6E6-27FA-4A89-B0AD-0021A7DC834E}"/>
              </a:ext>
            </a:extLst>
          </p:cNvPr>
          <p:cNvSpPr>
            <a:spLocks/>
          </p:cNvSpPr>
          <p:nvPr/>
        </p:nvSpPr>
        <p:spPr>
          <a:xfrm>
            <a:off x="984735" y="4238627"/>
            <a:ext cx="143256" cy="143256"/>
          </a:xfrm>
          <a:prstGeom prst="rect">
            <a:avLst/>
          </a:prstGeom>
          <a:blipFill>
            <a:blip r:embed="rId9" cstate="print"/>
            <a:stretch>
              <a:fillRect/>
            </a:stretch>
          </a:blipFill>
        </p:spPr>
        <p:txBody>
          <a:bodyPr wrap="square" lIns="0" tIns="0" rIns="0" bIns="0" rtlCol="0"/>
          <a:lstStyle/>
          <a:p>
            <a:pPr algn="ctr"/>
            <a:r>
              <a:rPr lang="en-GB" sz="800" dirty="0">
                <a:solidFill>
                  <a:schemeClr val="bg1"/>
                </a:solidFill>
              </a:rPr>
              <a:t>11</a:t>
            </a:r>
            <a:endParaRPr sz="800" dirty="0">
              <a:solidFill>
                <a:schemeClr val="bg1"/>
              </a:solidFill>
            </a:endParaRPr>
          </a:p>
        </p:txBody>
      </p:sp>
      <p:grpSp>
        <p:nvGrpSpPr>
          <p:cNvPr id="58" name="Group 57">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5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6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6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62" name="Current Section4">
              <a:hlinkClick r:id="rId13"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63"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6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65" name="Other Sections7">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497288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Net debt</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Net debt</a:t>
            </a:r>
            <a:endParaRPr lang="en-US" sz="1600" dirty="0">
              <a:solidFill>
                <a:schemeClr val="bg1"/>
              </a:solidFill>
            </a:endParaRP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6" name="Text Placeholder 25">
            <a:extLst>
              <a:ext uri="{FF2B5EF4-FFF2-40B4-BE49-F238E27FC236}">
                <a16:creationId xmlns:a16="http://schemas.microsoft.com/office/drawing/2014/main" id="{0C770F7C-DC5C-D55D-C549-1C140290FE3B}"/>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Other considerations</a:t>
            </a:r>
          </a:p>
        </p:txBody>
      </p:sp>
      <p:sp>
        <p:nvSpPr>
          <p:cNvPr id="18" name="Table Placeholder 45">
            <a:extLst>
              <a:ext uri="{FF2B5EF4-FFF2-40B4-BE49-F238E27FC236}">
                <a16:creationId xmlns:a16="http://schemas.microsoft.com/office/drawing/2014/main" id="{CBD18799-2828-D600-482D-D9E2715734FA}"/>
              </a:ext>
            </a:extLst>
          </p:cNvPr>
          <p:cNvSpPr txBox="1">
            <a:spLocks/>
          </p:cNvSpPr>
          <p:nvPr/>
        </p:nvSpPr>
        <p:spPr>
          <a:xfrm>
            <a:off x="995360" y="1912838"/>
            <a:ext cx="3528000" cy="3964179"/>
          </a:xfrm>
          <a:prstGeom prst="rect">
            <a:avLst/>
          </a:prstGeom>
        </p:spPr>
        <p:txBody>
          <a:bodyPr/>
          <a:lstStyle>
            <a:lvl1pPr marL="0" indent="0" algn="l" defTabSz="914400" rtl="0" eaLnBrk="1" latinLnBrk="0" hangingPunct="1">
              <a:lnSpc>
                <a:spcPct val="100000"/>
              </a:lnSpc>
              <a:spcBef>
                <a:spcPts val="0"/>
              </a:spcBef>
              <a:spcAft>
                <a:spcPts val="600"/>
              </a:spcAft>
              <a:buFontTx/>
              <a:buNone/>
              <a:defRPr sz="9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Add table here</a:t>
            </a: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2">
            <a:extLst>
              <a:ext uri="{FF2B5EF4-FFF2-40B4-BE49-F238E27FC236}">
                <a16:creationId xmlns:a16="http://schemas.microsoft.com/office/drawing/2014/main" id="{27374EFE-EE63-C0FC-BDD0-79D3E9848355}"/>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pic>
        <p:nvPicPr>
          <p:cNvPr id="37" name="Picture 36">
            <a:extLst>
              <a:ext uri="{FF2B5EF4-FFF2-40B4-BE49-F238E27FC236}">
                <a16:creationId xmlns:a16="http://schemas.microsoft.com/office/drawing/2014/main" id="{444C26EF-5ED7-47FE-A10E-E37EF73D8B01}"/>
              </a:ext>
            </a:extLst>
          </p:cNvPr>
          <p:cNvPicPr>
            <a:picLocks noChangeAspect="1"/>
          </p:cNvPicPr>
          <p:nvPr>
            <p:custDataLst>
              <p:tags r:id="rId5"/>
            </p:custDataLst>
          </p:nvPr>
        </p:nvPicPr>
        <p:blipFill>
          <a:blip r:embed="rId8"/>
          <a:stretch>
            <a:fillRect/>
          </a:stretch>
        </p:blipFill>
        <p:spPr>
          <a:xfrm>
            <a:off x="1008797" y="1908928"/>
            <a:ext cx="3442258" cy="2785909"/>
          </a:xfrm>
          <a:prstGeom prst="rect">
            <a:avLst/>
          </a:prstGeom>
        </p:spPr>
      </p:pic>
      <p:sp>
        <p:nvSpPr>
          <p:cNvPr id="39" name="Text Placeholder 11">
            <a:extLst>
              <a:ext uri="{FF2B5EF4-FFF2-40B4-BE49-F238E27FC236}">
                <a16:creationId xmlns:a16="http://schemas.microsoft.com/office/drawing/2014/main" id="{6AF50323-23BA-4483-A086-4180F198DFF6}"/>
              </a:ext>
            </a:extLst>
          </p:cNvPr>
          <p:cNvSpPr txBox="1">
            <a:spLocks/>
          </p:cNvSpPr>
          <p:nvPr/>
        </p:nvSpPr>
        <p:spPr>
          <a:xfrm>
            <a:off x="999354" y="1334303"/>
            <a:ext cx="10184400" cy="4176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Net debt primarily consists of finance leases which make up £4.6 million of the £5.5 million reported net debt balance at Apr-22. Our adjustments to net debt include a corporation tax true up as well as a number of potential off-balance sheet tax liabilities. The adjustments total £0.1 million and adjusted net debt at Apr-22 amounted to £5.6 million.</a:t>
            </a:r>
          </a:p>
        </p:txBody>
      </p:sp>
      <p:sp>
        <p:nvSpPr>
          <p:cNvPr id="41" name="Text Placeholder 48">
            <a:extLst>
              <a:ext uri="{FF2B5EF4-FFF2-40B4-BE49-F238E27FC236}">
                <a16:creationId xmlns:a16="http://schemas.microsoft.com/office/drawing/2014/main" id="{CE4FBBF9-CCF6-470A-AA05-4BC113679D1C}"/>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Dilapidation costs </a:t>
            </a:r>
          </a:p>
          <a:p>
            <a:pPr>
              <a:defRPr/>
            </a:pPr>
            <a:r>
              <a:rPr lang="en-GB" sz="1000" b="0" dirty="0"/>
              <a:t>The business leases premises from related party landlords, with the lease for the main facility at [Location 1] commencing Mar-21. Management has advised that a dilapidation provision is not recorded on the basis it has not been necessary historically. We further understand that a new lease will be entered into on completion. We recommend that a full schedule of condition is prepared as part of this process. </a:t>
            </a:r>
          </a:p>
          <a:p>
            <a:pPr>
              <a:defRPr/>
            </a:pPr>
            <a:r>
              <a:rPr lang="en-GB" sz="1000" dirty="0">
                <a:solidFill>
                  <a:schemeClr val="tx2"/>
                </a:solidFill>
              </a:rPr>
              <a:t>Capital commitments/creditors</a:t>
            </a:r>
          </a:p>
          <a:p>
            <a:pPr>
              <a:defRPr/>
            </a:pPr>
            <a:r>
              <a:rPr lang="en-GB" sz="1000" b="0" dirty="0"/>
              <a:t>To the extent any commitments exist we have not included these, as they would be for your future benefit in terms of revenue generation.</a:t>
            </a:r>
          </a:p>
          <a:p>
            <a:pPr>
              <a:defRPr/>
            </a:pPr>
            <a:r>
              <a:rPr lang="en-GB" sz="1000" dirty="0">
                <a:solidFill>
                  <a:schemeClr val="tx2"/>
                </a:solidFill>
              </a:rPr>
              <a:t>Transaction costs</a:t>
            </a:r>
          </a:p>
          <a:p>
            <a:pPr>
              <a:defRPr/>
            </a:pPr>
            <a:r>
              <a:rPr lang="en-GB" sz="1000" b="0" dirty="0"/>
              <a:t>At the date of our report, Management has not provided us with the details of the transaction costs accrued. Any unpaid transaction costs at completion should be considered in your assessment on net debt, to the extent payable by the target company.</a:t>
            </a:r>
          </a:p>
          <a:p>
            <a:pPr>
              <a:defRPr/>
            </a:pPr>
            <a:endParaRPr lang="en-GB" sz="1000" dirty="0">
              <a:solidFill>
                <a:schemeClr val="tx2"/>
              </a:solidFill>
            </a:endParaRPr>
          </a:p>
          <a:p>
            <a:pPr>
              <a:defRPr/>
            </a:pPr>
            <a:endParaRPr lang="en-GB" sz="1000" b="0" dirty="0"/>
          </a:p>
        </p:txBody>
      </p:sp>
      <p:grpSp>
        <p:nvGrpSpPr>
          <p:cNvPr id="33" name="Group 32">
            <a:extLst>
              <a:ext uri="{FF2B5EF4-FFF2-40B4-BE49-F238E27FC236}">
                <a16:creationId xmlns:a16="http://schemas.microsoft.com/office/drawing/2014/main" id="{C0C1EB9B-5FE8-440B-9965-0EE1835D8512}"/>
              </a:ext>
            </a:extLst>
          </p:cNvPr>
          <p:cNvGrpSpPr/>
          <p:nvPr>
            <p:custDataLst>
              <p:tags r:id="rId6"/>
            </p:custDataLst>
          </p:nvPr>
        </p:nvGrpSpPr>
        <p:grpSpPr>
          <a:xfrm>
            <a:off x="995364" y="153170"/>
            <a:ext cx="6211576" cy="195814"/>
            <a:chOff x="995364" y="153170"/>
            <a:chExt cx="6211576"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8"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Current Section4">
              <a:hlinkClick r:id="rId12" action="ppaction://hlinksldjump"/>
              <a:extLst>
                <a:ext uri="{FF2B5EF4-FFF2-40B4-BE49-F238E27FC236}">
                  <a16:creationId xmlns:a16="http://schemas.microsoft.com/office/drawing/2014/main" id="{89A61135-1F00-E77F-7C78-5FBA241A5742}"/>
                </a:ext>
              </a:extLst>
            </p:cNvPr>
            <p:cNvSpPr>
              <a:spLocks/>
            </p:cNvSpPr>
            <p:nvPr/>
          </p:nvSpPr>
          <p:spPr>
            <a:xfrm>
              <a:off x="3840897"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43"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80404"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4"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329153"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6" name="Other Sections7">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5181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4769693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9" action="ppaction://hlinksldjump"/>
            <a:extLst>
              <a:ext uri="{FF2B5EF4-FFF2-40B4-BE49-F238E27FC236}">
                <a16:creationId xmlns:a16="http://schemas.microsoft.com/office/drawing/2014/main" id="{894FBD40-39E1-478C-90EB-D204D2F24A5C}"/>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Cash flows</a:t>
            </a:r>
          </a:p>
        </p:txBody>
      </p:sp>
      <p:sp>
        <p:nvSpPr>
          <p:cNvPr id="5" name="TextBox 4">
            <a:hlinkClick r:id="rId10" action="ppaction://hlinksldjump"/>
            <a:extLst>
              <a:ext uri="{FF2B5EF4-FFF2-40B4-BE49-F238E27FC236}">
                <a16:creationId xmlns:a16="http://schemas.microsoft.com/office/drawing/2014/main" id="{95B95623-F8EE-4EF2-A0D2-01D17E086B44}"/>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Summary cash flow</a:t>
            </a:r>
          </a:p>
        </p:txBody>
      </p:sp>
      <p:sp>
        <p:nvSpPr>
          <p:cNvPr id="6" name="TextBox 5">
            <a:hlinkClick r:id="rId9" action="ppaction://hlinksldjump"/>
            <a:extLst>
              <a:ext uri="{FF2B5EF4-FFF2-40B4-BE49-F238E27FC236}">
                <a16:creationId xmlns:a16="http://schemas.microsoft.com/office/drawing/2014/main" id="{117804A0-DFFC-4B20-B35C-78F27D271AE0}"/>
              </a:ext>
            </a:extLst>
          </p:cNvPr>
          <p:cNvSpPr txBox="1"/>
          <p:nvPr>
            <p:custDataLst>
              <p:tags r:id="rId4"/>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5.</a:t>
            </a:r>
          </a:p>
        </p:txBody>
      </p:sp>
      <p:sp>
        <p:nvSpPr>
          <p:cNvPr id="7" name="TextBox 6">
            <a:hlinkClick r:id="rId9" action="ppaction://hlinksldjump"/>
            <a:extLst>
              <a:ext uri="{FF2B5EF4-FFF2-40B4-BE49-F238E27FC236}">
                <a16:creationId xmlns:a16="http://schemas.microsoft.com/office/drawing/2014/main" id="{A487BF12-0EEA-440E-A9D7-48D04D5F19EC}"/>
              </a:ext>
            </a:extLst>
          </p:cNvPr>
          <p:cNvSpPr txBox="1"/>
          <p:nvPr>
            <p:custDataLst>
              <p:tags r:id="rId5"/>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53</a:t>
            </a:r>
          </a:p>
        </p:txBody>
      </p:sp>
      <p:sp>
        <p:nvSpPr>
          <p:cNvPr id="8" name="TextBox 7">
            <a:hlinkClick r:id="rId10" action="ppaction://hlinksldjump"/>
            <a:extLst>
              <a:ext uri="{FF2B5EF4-FFF2-40B4-BE49-F238E27FC236}">
                <a16:creationId xmlns:a16="http://schemas.microsoft.com/office/drawing/2014/main" id="{E0DB12BB-5B2F-4F09-8A1F-DC35BDA02616}"/>
              </a:ext>
            </a:extLst>
          </p:cNvPr>
          <p:cNvSpPr txBox="1"/>
          <p:nvPr>
            <p:custDataLst>
              <p:tags r:id="rId6"/>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5.1</a:t>
            </a:r>
          </a:p>
        </p:txBody>
      </p:sp>
      <p:sp>
        <p:nvSpPr>
          <p:cNvPr id="9" name="TextBox 8">
            <a:hlinkClick r:id="rId10" action="ppaction://hlinksldjump"/>
            <a:extLst>
              <a:ext uri="{FF2B5EF4-FFF2-40B4-BE49-F238E27FC236}">
                <a16:creationId xmlns:a16="http://schemas.microsoft.com/office/drawing/2014/main" id="{9169330C-91F6-4424-8129-A427F5318ECF}"/>
              </a:ext>
            </a:extLst>
          </p:cNvPr>
          <p:cNvSpPr txBox="1"/>
          <p:nvPr>
            <p:custDataLst>
              <p:tags r:id="rId7"/>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54</a:t>
            </a:r>
          </a:p>
        </p:txBody>
      </p:sp>
    </p:spTree>
    <p:custDataLst>
      <p:tags r:id="rId1"/>
    </p:custDataLst>
    <p:extLst>
      <p:ext uri="{BB962C8B-B14F-4D97-AF65-F5344CB8AC3E}">
        <p14:creationId xmlns:p14="http://schemas.microsoft.com/office/powerpoint/2010/main" val="20182947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Summary cash flow</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Summary cash flow</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dirty="0"/>
              <a:t>OCF conversion has averaged over 90% across the Historical Period, this reflects management’s close monitoring of working capital and the monthly profile of rental receipts. In FY21 OCF was particularly high at 107.4% as [Target] benefitted from a Covid-19 related VAT deferral, which reversed in FY22. The reduction in operating cash conversion in FY22 shows the impact of timing of debtor settlement, as well as a build-up of prepayments, relating to vehicle orders.</a:t>
            </a:r>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Cashflow overview</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900" dirty="0">
                <a:solidFill>
                  <a:schemeClr val="tx2"/>
                </a:solidFill>
              </a:rPr>
              <a:t>Net working capital</a:t>
            </a:r>
          </a:p>
          <a:p>
            <a:r>
              <a:rPr lang="en-GB" sz="1000" b="0" dirty="0">
                <a:solidFill>
                  <a:srgbClr val="000000"/>
                </a:solidFill>
              </a:rPr>
              <a:t>The generally high OCF conversion over the period reflects:</a:t>
            </a:r>
          </a:p>
          <a:p>
            <a:pPr lvl="2">
              <a:defRPr/>
            </a:pPr>
            <a:r>
              <a:rPr lang="en-GB" dirty="0">
                <a:solidFill>
                  <a:srgbClr val="000000"/>
                </a:solidFill>
              </a:rPr>
              <a:t>Timely cash receipts on the vehicle hire revenue stream, as customers pay monthly (and generally on time, to avoid the risk of vehicles being recovered if debts build up);</a:t>
            </a:r>
          </a:p>
          <a:p>
            <a:pPr lvl="2">
              <a:defRPr/>
            </a:pPr>
            <a:r>
              <a:rPr lang="en-GB" dirty="0">
                <a:solidFill>
                  <a:srgbClr val="000000"/>
                </a:solidFill>
              </a:rPr>
              <a:t>The increasing prevalence of new vehicle sales within the revenue mix, customers are required to pay at the point of delivery reducing debtor balances in comparison to sales;</a:t>
            </a:r>
          </a:p>
          <a:p>
            <a:pPr lvl="2">
              <a:defRPr/>
            </a:pPr>
            <a:r>
              <a:rPr lang="en-GB" dirty="0">
                <a:solidFill>
                  <a:srgbClr val="000000"/>
                </a:solidFill>
              </a:rPr>
              <a:t>An increased level of stock holding also implemented by management to reduce the impact of supply chain disruption and inflationary price increases (partly offset by creditor movements as noted below); </a:t>
            </a:r>
          </a:p>
          <a:p>
            <a:pPr lvl="2">
              <a:defRPr/>
            </a:pPr>
            <a:r>
              <a:rPr lang="en-GB" dirty="0">
                <a:solidFill>
                  <a:srgbClr val="000000"/>
                </a:solidFill>
              </a:rPr>
              <a:t>An increased level of trade creditors due to a higher number of cushions on order from xx. These are required to fit to additional fleet vehicles in the forecast period and to be held in stock to reduce the impact of ongoing supply issues and inflationary price increases. </a:t>
            </a: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dirty="0">
                <a:solidFill>
                  <a:srgbClr val="000000"/>
                </a:solidFill>
              </a:rPr>
              <a:t>More recently the adverse trend in OCF% in FY22 is principally a reflection of both VAT deferrals unwinding as well as a step-up in prepayments relating to upfront payments on stock.</a:t>
            </a:r>
          </a:p>
          <a:p>
            <a:pPr lvl="1">
              <a:defRPr/>
            </a:pPr>
            <a:r>
              <a:rPr lang="en-GB" dirty="0">
                <a:solidFill>
                  <a:srgbClr val="000000"/>
                </a:solidFill>
              </a:rPr>
              <a:t>In FY21, OCF peaked at 107.4% this was due to benefit received from Covid-19 related VAT referrals which had been repaid by LTM22.</a:t>
            </a:r>
          </a:p>
          <a:p>
            <a:pPr lvl="1">
              <a:defRPr/>
            </a:pPr>
            <a:r>
              <a:rPr lang="en-GB" b="1" dirty="0">
                <a:solidFill>
                  <a:schemeClr val="tx2"/>
                </a:solidFill>
              </a:rPr>
              <a:t>Capex</a:t>
            </a:r>
          </a:p>
          <a:p>
            <a:pPr lvl="1">
              <a:defRPr/>
            </a:pPr>
            <a:r>
              <a:rPr lang="en-GB" dirty="0">
                <a:solidFill>
                  <a:srgbClr val="000000"/>
                </a:solidFill>
              </a:rPr>
              <a:t>FY21 saw an elevated level of capex spend this was due to a fleet renewal drive undertaken in that year. This elevated capex spending offsets the Covid-19 benefit within operating cash flow.</a:t>
            </a:r>
          </a:p>
          <a:p>
            <a:pPr lvl="1">
              <a:defRPr/>
            </a:pPr>
            <a:endParaRPr lang="en-GB" b="1" dirty="0">
              <a:solidFill>
                <a:schemeClr val="tx2"/>
              </a:solidFill>
            </a:endParaRPr>
          </a:p>
          <a:p>
            <a:pPr lvl="1">
              <a:defRPr/>
            </a:pPr>
            <a:endParaRPr lang="en-GB" dirty="0">
              <a:solidFill>
                <a:srgbClr val="000000"/>
              </a:solidFill>
            </a:endParaRPr>
          </a:p>
          <a:p>
            <a:pPr lvl="1">
              <a:defRPr/>
            </a:pPr>
            <a:endParaRPr lang="en-GB" dirty="0">
              <a:solidFill>
                <a:srgbClr val="000000"/>
              </a:solidFill>
            </a:endParaRPr>
          </a:p>
          <a:p>
            <a:pPr lvl="1"/>
            <a:endParaRPr lang="en-GB" dirty="0"/>
          </a:p>
        </p:txBody>
      </p:sp>
      <p:pic>
        <p:nvPicPr>
          <p:cNvPr id="19" name="Picture 18">
            <a:extLst>
              <a:ext uri="{FF2B5EF4-FFF2-40B4-BE49-F238E27FC236}">
                <a16:creationId xmlns:a16="http://schemas.microsoft.com/office/drawing/2014/main" id="{AD863189-6443-413D-9446-9C7B9915D0E9}"/>
              </a:ext>
            </a:extLst>
          </p:cNvPr>
          <p:cNvPicPr>
            <a:picLocks noChangeAspect="1"/>
          </p:cNvPicPr>
          <p:nvPr>
            <p:custDataLst>
              <p:tags r:id="rId3"/>
            </p:custDataLst>
          </p:nvPr>
        </p:nvPicPr>
        <p:blipFill>
          <a:blip r:embed="rId6"/>
          <a:stretch>
            <a:fillRect/>
          </a:stretch>
        </p:blipFill>
        <p:spPr>
          <a:xfrm>
            <a:off x="998401" y="1912838"/>
            <a:ext cx="3039481" cy="3966660"/>
          </a:xfrm>
          <a:prstGeom prst="rect">
            <a:avLst/>
          </a:prstGeom>
        </p:spPr>
      </p:pic>
      <p:grpSp>
        <p:nvGrpSpPr>
          <p:cNvPr id="4" name="Group 3">
            <a:extLst>
              <a:ext uri="{FF2B5EF4-FFF2-40B4-BE49-F238E27FC236}">
                <a16:creationId xmlns:a16="http://schemas.microsoft.com/office/drawing/2014/main" id="{D15C33C0-E576-4F2C-843E-5F08EEA7992C}"/>
              </a:ext>
            </a:extLst>
          </p:cNvPr>
          <p:cNvGrpSpPr/>
          <p:nvPr>
            <p:custDataLst>
              <p:tags r:id="rId4"/>
            </p:custDataLst>
          </p:nvPr>
        </p:nvGrpSpPr>
        <p:grpSpPr>
          <a:xfrm>
            <a:off x="995364" y="153170"/>
            <a:ext cx="6213180" cy="195814"/>
            <a:chOff x="995364" y="153170"/>
            <a:chExt cx="6213180" cy="195814"/>
          </a:xfrm>
        </p:grpSpPr>
        <p:sp>
          <p:nvSpPr>
            <p:cNvPr id="32"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8"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9"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0" name="Current Section5">
              <a:hlinkClick r:id="rId11" action="ppaction://hlinksldjump"/>
              <a:extLst>
                <a:ext uri="{FF2B5EF4-FFF2-40B4-BE49-F238E27FC236}">
                  <a16:creationId xmlns:a16="http://schemas.microsoft.com/office/drawing/2014/main" id="{89A61135-1F00-E77F-7C78-5FBA241A5742}"/>
                </a:ext>
              </a:extLst>
            </p:cNvPr>
            <p:cNvSpPr>
              <a:spLocks/>
            </p:cNvSpPr>
            <p:nvPr/>
          </p:nvSpPr>
          <p:spPr>
            <a:xfrm>
              <a:off x="4641932"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Cash flows</a:t>
              </a:r>
            </a:p>
          </p:txBody>
        </p:sp>
        <p:sp>
          <p:nvSpPr>
            <p:cNvPr id="41"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330757"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9" name="Other Sections7">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51971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90890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9" action="ppaction://hlinksldjump"/>
            <a:extLst>
              <a:ext uri="{FF2B5EF4-FFF2-40B4-BE49-F238E27FC236}">
                <a16:creationId xmlns:a16="http://schemas.microsoft.com/office/drawing/2014/main" id="{44F66D58-82C9-4EAE-86CD-998DAB155F79}"/>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Reporting environment</a:t>
            </a:r>
          </a:p>
        </p:txBody>
      </p:sp>
      <p:sp>
        <p:nvSpPr>
          <p:cNvPr id="5" name="TextBox 4">
            <a:hlinkClick r:id="rId10" action="ppaction://hlinksldjump"/>
            <a:extLst>
              <a:ext uri="{FF2B5EF4-FFF2-40B4-BE49-F238E27FC236}">
                <a16:creationId xmlns:a16="http://schemas.microsoft.com/office/drawing/2014/main" id="{8649002B-0A38-4752-A2D0-EBF6257195F9}"/>
              </a:ext>
            </a:extLst>
          </p:cNvPr>
          <p:cNvSpPr txBox="1"/>
          <p:nvPr>
            <p:custDataLst>
              <p:tags r:id="rId3"/>
            </p:custDataLst>
          </p:nvPr>
        </p:nvSpPr>
        <p:spPr>
          <a:xfrm>
            <a:off x="1735455" y="3951428"/>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Financial reporting environment</a:t>
            </a:r>
          </a:p>
        </p:txBody>
      </p:sp>
      <p:sp>
        <p:nvSpPr>
          <p:cNvPr id="6" name="TextBox 5">
            <a:hlinkClick r:id="rId9" action="ppaction://hlinksldjump"/>
            <a:extLst>
              <a:ext uri="{FF2B5EF4-FFF2-40B4-BE49-F238E27FC236}">
                <a16:creationId xmlns:a16="http://schemas.microsoft.com/office/drawing/2014/main" id="{AD15742B-AD35-4186-807D-E1E7F7F9BEE3}"/>
              </a:ext>
            </a:extLst>
          </p:cNvPr>
          <p:cNvSpPr txBox="1"/>
          <p:nvPr>
            <p:custDataLst>
              <p:tags r:id="rId4"/>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6.</a:t>
            </a:r>
          </a:p>
        </p:txBody>
      </p:sp>
      <p:sp>
        <p:nvSpPr>
          <p:cNvPr id="7" name="TextBox 6">
            <a:hlinkClick r:id="rId9" action="ppaction://hlinksldjump"/>
            <a:extLst>
              <a:ext uri="{FF2B5EF4-FFF2-40B4-BE49-F238E27FC236}">
                <a16:creationId xmlns:a16="http://schemas.microsoft.com/office/drawing/2014/main" id="{DE8DF8D7-3A07-4B8C-B465-F8297E8BEF94}"/>
              </a:ext>
            </a:extLst>
          </p:cNvPr>
          <p:cNvSpPr txBox="1"/>
          <p:nvPr>
            <p:custDataLst>
              <p:tags r:id="rId5"/>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55</a:t>
            </a:r>
          </a:p>
        </p:txBody>
      </p:sp>
      <p:sp>
        <p:nvSpPr>
          <p:cNvPr id="8" name="TextBox 7">
            <a:hlinkClick r:id="rId10" action="ppaction://hlinksldjump"/>
            <a:extLst>
              <a:ext uri="{FF2B5EF4-FFF2-40B4-BE49-F238E27FC236}">
                <a16:creationId xmlns:a16="http://schemas.microsoft.com/office/drawing/2014/main" id="{594B2F77-C373-44BF-AE83-61ECB3E829B7}"/>
              </a:ext>
            </a:extLst>
          </p:cNvPr>
          <p:cNvSpPr txBox="1"/>
          <p:nvPr>
            <p:custDataLst>
              <p:tags r:id="rId6"/>
            </p:custDataLst>
          </p:nvPr>
        </p:nvSpPr>
        <p:spPr bwMode="auto">
          <a:xfrm>
            <a:off x="1303409" y="3951428"/>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6.1</a:t>
            </a:r>
          </a:p>
        </p:txBody>
      </p:sp>
      <p:sp>
        <p:nvSpPr>
          <p:cNvPr id="9" name="TextBox 8">
            <a:hlinkClick r:id="rId10" action="ppaction://hlinksldjump"/>
            <a:extLst>
              <a:ext uri="{FF2B5EF4-FFF2-40B4-BE49-F238E27FC236}">
                <a16:creationId xmlns:a16="http://schemas.microsoft.com/office/drawing/2014/main" id="{B217A6DC-C055-4807-8D05-3FA3C468104B}"/>
              </a:ext>
            </a:extLst>
          </p:cNvPr>
          <p:cNvSpPr txBox="1"/>
          <p:nvPr>
            <p:custDataLst>
              <p:tags r:id="rId7"/>
            </p:custDataLst>
          </p:nvPr>
        </p:nvSpPr>
        <p:spPr>
          <a:xfrm>
            <a:off x="7004859" y="3951428"/>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56</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Financial reporting environment</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Financial reporting environment</a:t>
            </a:r>
            <a:endParaRPr lang="en-US" sz="1600" dirty="0">
              <a:solidFill>
                <a:schemeClr val="bg1"/>
              </a:solidFill>
            </a:endParaRPr>
          </a:p>
        </p:txBody>
      </p:sp>
      <p:sp>
        <p:nvSpPr>
          <p:cNvPr id="46" name="Text Placeholder 1">
            <a:extLst>
              <a:ext uri="{FF2B5EF4-FFF2-40B4-BE49-F238E27FC236}">
                <a16:creationId xmlns:a16="http://schemas.microsoft.com/office/drawing/2014/main" id="{A72AB70A-7B7D-E393-FC87-0C2EE186300D}"/>
              </a:ext>
            </a:extLst>
          </p:cNvPr>
          <p:cNvSpPr txBox="1">
            <a:spLocks/>
          </p:cNvSpPr>
          <p:nvPr/>
        </p:nvSpPr>
        <p:spPr>
          <a:xfrm>
            <a:off x="995360" y="1340768"/>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000" b="1" i="0" u="none" strike="noStrike" kern="1200" cap="none" spc="0" normalizeH="0" baseline="0" noProof="0" dirty="0">
                <a:ln>
                  <a:noFill/>
                </a:ln>
                <a:solidFill>
                  <a:srgbClr val="00338D"/>
                </a:solidFill>
                <a:effectLst/>
                <a:uLnTx/>
                <a:uFillTx/>
                <a:latin typeface="Arial"/>
                <a:ea typeface="+mn-ea"/>
                <a:cs typeface="+mn-cs"/>
              </a:rPr>
              <a:t>[Target] undertakes a comprehensive month end close process, resulting in a longer than expected turnaround of monthly accounts after the month end. In the headlines we have commented further on the accounting/reporting environment.</a:t>
            </a:r>
          </a:p>
        </p:txBody>
      </p:sp>
      <p:sp>
        <p:nvSpPr>
          <p:cNvPr id="47" name="Rectangle 46">
            <a:extLst>
              <a:ext uri="{FF2B5EF4-FFF2-40B4-BE49-F238E27FC236}">
                <a16:creationId xmlns:a16="http://schemas.microsoft.com/office/drawing/2014/main" id="{B27BE3A1-8A03-1685-2F33-7DDD2E413C6E}"/>
              </a:ext>
            </a:extLst>
          </p:cNvPr>
          <p:cNvSpPr>
            <a:spLocks/>
          </p:cNvSpPr>
          <p:nvPr/>
        </p:nvSpPr>
        <p:spPr>
          <a:xfrm>
            <a:off x="995362" y="1788879"/>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Arial"/>
                <a:ea typeface="+mn-ea"/>
                <a:cs typeface="+mn-cs"/>
              </a:rPr>
              <a:t>Audit experience</a:t>
            </a:r>
          </a:p>
        </p:txBody>
      </p:sp>
      <p:sp>
        <p:nvSpPr>
          <p:cNvPr id="48" name="Rectangle 47">
            <a:extLst>
              <a:ext uri="{FF2B5EF4-FFF2-40B4-BE49-F238E27FC236}">
                <a16:creationId xmlns:a16="http://schemas.microsoft.com/office/drawing/2014/main" id="{36830E34-5AC0-97D0-012D-B340049659E2}"/>
              </a:ext>
            </a:extLst>
          </p:cNvPr>
          <p:cNvSpPr>
            <a:spLocks/>
          </p:cNvSpPr>
          <p:nvPr/>
        </p:nvSpPr>
        <p:spPr>
          <a:xfrm>
            <a:off x="6228638" y="1788879"/>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Arial"/>
                <a:ea typeface="+mn-ea"/>
                <a:cs typeface="+mn-cs"/>
              </a:rPr>
              <a:t>Management information and KPIs</a:t>
            </a:r>
          </a:p>
        </p:txBody>
      </p:sp>
      <p:sp>
        <p:nvSpPr>
          <p:cNvPr id="49" name="Rectangle 48">
            <a:extLst>
              <a:ext uri="{FF2B5EF4-FFF2-40B4-BE49-F238E27FC236}">
                <a16:creationId xmlns:a16="http://schemas.microsoft.com/office/drawing/2014/main" id="{4A984DA0-DD43-D066-C318-E16FF65D4D55}"/>
              </a:ext>
            </a:extLst>
          </p:cNvPr>
          <p:cNvSpPr>
            <a:spLocks/>
          </p:cNvSpPr>
          <p:nvPr/>
        </p:nvSpPr>
        <p:spPr>
          <a:xfrm>
            <a:off x="995362" y="4204308"/>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Arial"/>
                <a:ea typeface="+mn-ea"/>
                <a:cs typeface="+mn-cs"/>
              </a:rPr>
              <a:t>Budget setting process</a:t>
            </a:r>
          </a:p>
        </p:txBody>
      </p:sp>
      <p:sp>
        <p:nvSpPr>
          <p:cNvPr id="50" name="Rectangle 49">
            <a:extLst>
              <a:ext uri="{FF2B5EF4-FFF2-40B4-BE49-F238E27FC236}">
                <a16:creationId xmlns:a16="http://schemas.microsoft.com/office/drawing/2014/main" id="{1A89D9D1-3234-54CC-0FCA-C8A2A47DF18E}"/>
              </a:ext>
            </a:extLst>
          </p:cNvPr>
          <p:cNvSpPr>
            <a:spLocks/>
          </p:cNvSpPr>
          <p:nvPr/>
        </p:nvSpPr>
        <p:spPr>
          <a:xfrm>
            <a:off x="6221438" y="4204307"/>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dirty="0">
                <a:solidFill>
                  <a:srgbClr val="FFFFFF"/>
                </a:solidFill>
                <a:latin typeface="Arial"/>
              </a:rPr>
              <a:t>Finance team and reporting</a:t>
            </a:r>
            <a:endParaRPr kumimoji="0" lang="en-US" sz="900" b="1" i="0" u="none" strike="noStrike" kern="0" cap="none" spc="0" normalizeH="0" baseline="0" noProof="0" dirty="0">
              <a:ln>
                <a:noFill/>
              </a:ln>
              <a:solidFill>
                <a:srgbClr val="FFFFFF"/>
              </a:solidFill>
              <a:effectLst/>
              <a:uLnTx/>
              <a:uFillTx/>
              <a:latin typeface="Arial"/>
              <a:ea typeface="+mn-ea"/>
              <a:cs typeface="+mn-cs"/>
            </a:endParaRPr>
          </a:p>
        </p:txBody>
      </p:sp>
      <p:sp>
        <p:nvSpPr>
          <p:cNvPr id="51" name="Text Placeholder 12">
            <a:extLst>
              <a:ext uri="{FF2B5EF4-FFF2-40B4-BE49-F238E27FC236}">
                <a16:creationId xmlns:a16="http://schemas.microsoft.com/office/drawing/2014/main" id="{AED5313F-5618-C3C0-B9B2-8C836E713D30}"/>
              </a:ext>
            </a:extLst>
          </p:cNvPr>
          <p:cNvSpPr txBox="1">
            <a:spLocks/>
          </p:cNvSpPr>
          <p:nvPr/>
        </p:nvSpPr>
        <p:spPr>
          <a:xfrm>
            <a:off x="995360" y="2034386"/>
            <a:ext cx="4968001" cy="1763354"/>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1">
              <a:spcAft>
                <a:spcPts val="300"/>
              </a:spcAft>
              <a:tabLst>
                <a:tab pos="0" algn="l"/>
              </a:tabLst>
              <a:defRPr/>
            </a:pPr>
            <a:r>
              <a:rPr lang="en-GB" sz="1000" dirty="0">
                <a:solidFill>
                  <a:schemeClr val="tx1"/>
                </a:solidFill>
              </a:rPr>
              <a:t>We understand from Management, that [Target] undertakes a comprehensive month end close process and as such there are fewer BS accounts which are only considered at year end.</a:t>
            </a:r>
          </a:p>
          <a:p>
            <a:pPr marL="0" lvl="1">
              <a:spcAft>
                <a:spcPts val="300"/>
              </a:spcAft>
              <a:tabLst>
                <a:tab pos="0" algn="l"/>
              </a:tabLst>
              <a:defRPr/>
            </a:pPr>
            <a:r>
              <a:rPr lang="en-GB" sz="1000" dirty="0">
                <a:solidFill>
                  <a:schemeClr val="tx1"/>
                </a:solidFill>
              </a:rPr>
              <a:t>The company is exempt from undergoing a full audit process as they qualify as a small company. The financial statements are prepared and delivered in accordance with the provisions applicable to companies subject to the small companies regime. </a:t>
            </a:r>
          </a:p>
          <a:p>
            <a:pPr marL="0" lvl="1">
              <a:spcAft>
                <a:spcPts val="300"/>
              </a:spcAft>
              <a:tabLst>
                <a:tab pos="0" algn="l"/>
              </a:tabLst>
              <a:defRPr/>
            </a:pPr>
            <a:r>
              <a:rPr lang="en-GB" sz="1000" dirty="0">
                <a:solidFill>
                  <a:schemeClr val="tx1"/>
                </a:solidFill>
              </a:rPr>
              <a:t>Accounts are reviewed by [Target]’s accountant’s [Accountant].</a:t>
            </a:r>
          </a:p>
          <a:p>
            <a:pPr marL="0" lvl="1">
              <a:spcAft>
                <a:spcPts val="300"/>
              </a:spcAft>
              <a:tabLst>
                <a:tab pos="0" algn="l"/>
              </a:tabLst>
              <a:defRPr/>
            </a:pPr>
            <a:r>
              <a:rPr lang="en-GB" sz="1000" dirty="0">
                <a:solidFill>
                  <a:schemeClr val="tx1"/>
                </a:solidFill>
              </a:rPr>
              <a:t>Reconciliations from the financial results presented in this report to the statutory results for FY20 and FY21 are presented in the appendices. There have been insignificant adjustments between reported management accounts and filed statutory accounts. </a:t>
            </a:r>
            <a:endParaRPr lang="en-GB" sz="1000" dirty="0">
              <a:solidFill>
                <a:srgbClr val="00338D"/>
              </a:solidFill>
            </a:endParaRPr>
          </a:p>
        </p:txBody>
      </p:sp>
      <p:sp>
        <p:nvSpPr>
          <p:cNvPr id="52" name="Text Placeholder 12">
            <a:extLst>
              <a:ext uri="{FF2B5EF4-FFF2-40B4-BE49-F238E27FC236}">
                <a16:creationId xmlns:a16="http://schemas.microsoft.com/office/drawing/2014/main" id="{ED4731A6-F8A9-ACBE-C98C-36A9236645C4}"/>
              </a:ext>
            </a:extLst>
          </p:cNvPr>
          <p:cNvSpPr txBox="1">
            <a:spLocks/>
          </p:cNvSpPr>
          <p:nvPr/>
        </p:nvSpPr>
        <p:spPr>
          <a:xfrm>
            <a:off x="1002561" y="4535478"/>
            <a:ext cx="4968001" cy="1186273"/>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1">
              <a:spcBef>
                <a:spcPts val="300"/>
              </a:spcBef>
              <a:tabLst>
                <a:tab pos="0" algn="l"/>
              </a:tabLst>
              <a:defRPr/>
            </a:pPr>
            <a:r>
              <a:rPr lang="en-GB" sz="1000" dirty="0">
                <a:solidFill>
                  <a:schemeClr val="tx1"/>
                </a:solidFill>
              </a:rPr>
              <a:t>Management has prepared monthly FY23 forecast for the purposes of this transaction, with forecasts not routinely used to monitor performance given the private ownership of the business. Balance sheet forecasts have not been prepared, although a capex forecast and assumed hire fleet asset numbers have been estimated by [Target], in order to enable the business to build up the core vehicle hire revenue forecasts. The forecast was prepared in Dec-21-Jan-22 and not subsequently updated. Please see earlier in the report for forecast comments. </a:t>
            </a:r>
          </a:p>
        </p:txBody>
      </p:sp>
      <p:sp>
        <p:nvSpPr>
          <p:cNvPr id="53" name="Text Placeholder 12">
            <a:extLst>
              <a:ext uri="{FF2B5EF4-FFF2-40B4-BE49-F238E27FC236}">
                <a16:creationId xmlns:a16="http://schemas.microsoft.com/office/drawing/2014/main" id="{E470A692-8046-EB94-A4DB-8EEE10CB6723}"/>
              </a:ext>
            </a:extLst>
          </p:cNvPr>
          <p:cNvSpPr txBox="1">
            <a:spLocks/>
          </p:cNvSpPr>
          <p:nvPr/>
        </p:nvSpPr>
        <p:spPr>
          <a:xfrm>
            <a:off x="6228638" y="2034386"/>
            <a:ext cx="4968001" cy="2225019"/>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GB" sz="1000" strike="noStrike" kern="1200" cap="none" spc="0" normalizeH="0" baseline="0" noProof="0" dirty="0">
                <a:ln>
                  <a:noFill/>
                </a:ln>
                <a:solidFill>
                  <a:srgbClr val="000000"/>
                </a:solidFill>
                <a:effectLst/>
                <a:uLnTx/>
                <a:uFillTx/>
                <a:latin typeface="Arial"/>
                <a:ea typeface="+mn-ea"/>
                <a:cs typeface="+mn-cs"/>
              </a:rPr>
              <a:t>Management accounts are produced by [Target]’s [Finance Director] at each month end. These include a P&amp;L and balance sheet with analysis of revenue and gross margin by different income streams and overall EBITDA.</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GB" sz="1000" strike="noStrike" kern="1200" cap="none" spc="0" normalizeH="0" baseline="0" noProof="0" dirty="0">
                <a:ln>
                  <a:noFill/>
                </a:ln>
                <a:solidFill>
                  <a:srgbClr val="000000"/>
                </a:solidFill>
                <a:effectLst/>
                <a:uLnTx/>
                <a:uFillTx/>
                <a:latin typeface="Arial"/>
                <a:ea typeface="+mn-ea"/>
                <a:cs typeface="+mn-cs"/>
              </a:rPr>
              <a:t>Management also track monthly KPIs to monitor overall business performance. Non-financial metrics relate to the average fleet size, price per weekly vehicle rental and overall fleet utilisation. Profitability is tracked as a whole for vehicle hire, rather than by vehicle type (i.e. 18t IPV etc). </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GB" sz="1000" strike="noStrike" kern="1200" cap="none" spc="0" normalizeH="0" baseline="0" noProof="0" dirty="0">
                <a:ln>
                  <a:noFill/>
                </a:ln>
                <a:solidFill>
                  <a:srgbClr val="000000"/>
                </a:solidFill>
                <a:effectLst/>
                <a:uLnTx/>
                <a:uFillTx/>
                <a:latin typeface="Arial"/>
                <a:ea typeface="+mn-ea"/>
                <a:cs typeface="+mn-cs"/>
              </a:rPr>
              <a:t>Management uses xx for all accounting transactions. This is fully integrated with the fleet stock management software xx, with sales invoices generated in xx and uploaded to xx by the finance team. Not all stock is tracked via xx- some larger items are tracked manually. </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GB" sz="1000" strike="noStrike" kern="1200" cap="none" spc="0" normalizeH="0" baseline="0" noProof="0" dirty="0">
                <a:ln>
                  <a:noFill/>
                </a:ln>
                <a:solidFill>
                  <a:srgbClr val="000000"/>
                </a:solidFill>
                <a:effectLst/>
                <a:uLnTx/>
                <a:uFillTx/>
                <a:latin typeface="Arial"/>
                <a:ea typeface="+mn-ea"/>
                <a:cs typeface="+mn-cs"/>
              </a:rPr>
              <a:t>Vehicle trackers are installed on 3.5T units and some smaller vehicles to                              monitor safety and mileage.</a:t>
            </a:r>
          </a:p>
        </p:txBody>
      </p:sp>
      <p:sp>
        <p:nvSpPr>
          <p:cNvPr id="54" name="Text Placeholder 12">
            <a:extLst>
              <a:ext uri="{FF2B5EF4-FFF2-40B4-BE49-F238E27FC236}">
                <a16:creationId xmlns:a16="http://schemas.microsoft.com/office/drawing/2014/main" id="{3BD0E033-75DF-0B8A-56A1-942C0A9E6B84}"/>
              </a:ext>
            </a:extLst>
          </p:cNvPr>
          <p:cNvSpPr txBox="1">
            <a:spLocks/>
          </p:cNvSpPr>
          <p:nvPr/>
        </p:nvSpPr>
        <p:spPr>
          <a:xfrm>
            <a:off x="6219658" y="4535478"/>
            <a:ext cx="4968001" cy="1417105"/>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1">
              <a:spcBef>
                <a:spcPts val="300"/>
              </a:spcBef>
              <a:tabLst>
                <a:tab pos="0" algn="l"/>
              </a:tabLst>
              <a:defRPr/>
            </a:pPr>
            <a:r>
              <a:rPr lang="en-GB" sz="1000" dirty="0">
                <a:solidFill>
                  <a:schemeClr val="tx1"/>
                </a:solidFill>
              </a:rPr>
              <a:t>The finance team is lead by (FD) who has been with the business since January 2018. The team is based at [Location 1] and also includes a purchase ledger clerk and a credit controller who report into the FD.</a:t>
            </a:r>
          </a:p>
          <a:p>
            <a:pPr marL="0" lvl="1">
              <a:spcBef>
                <a:spcPts val="300"/>
              </a:spcBef>
              <a:tabLst>
                <a:tab pos="0" algn="l"/>
              </a:tabLst>
              <a:defRPr/>
            </a:pPr>
            <a:r>
              <a:rPr lang="en-GB" sz="1000" dirty="0">
                <a:solidFill>
                  <a:schemeClr val="tx1"/>
                </a:solidFill>
              </a:rPr>
              <a:t>The payroll process is outsourced to [Payroll] and then all reports generated are checked internally by the FD.</a:t>
            </a:r>
          </a:p>
          <a:p>
            <a:pPr marL="0" lvl="1">
              <a:spcBef>
                <a:spcPts val="300"/>
              </a:spcBef>
              <a:tabLst>
                <a:tab pos="0" algn="l"/>
              </a:tabLst>
              <a:defRPr/>
            </a:pPr>
            <a:r>
              <a:rPr lang="en-GB" sz="1000" dirty="0">
                <a:solidFill>
                  <a:schemeClr val="tx1"/>
                </a:solidFill>
              </a:rPr>
              <a:t>All management accounts and other financial information provided by management are produced solely by the finance director.</a:t>
            </a: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grpSp>
        <p:nvGrpSpPr>
          <p:cNvPr id="4" name="Group 3">
            <a:extLst>
              <a:ext uri="{FF2B5EF4-FFF2-40B4-BE49-F238E27FC236}">
                <a16:creationId xmlns:a16="http://schemas.microsoft.com/office/drawing/2014/main" id="{2DD5CCB4-8899-4DEB-99A4-C81650F5E660}"/>
              </a:ext>
            </a:extLst>
          </p:cNvPr>
          <p:cNvGrpSpPr/>
          <p:nvPr>
            <p:custDataLst>
              <p:tags r:id="rId3"/>
            </p:custDataLst>
          </p:nvPr>
        </p:nvGrpSpPr>
        <p:grpSpPr>
          <a:xfrm>
            <a:off x="995364" y="153170"/>
            <a:ext cx="6259666" cy="195814"/>
            <a:chOff x="995364" y="153170"/>
            <a:chExt cx="6259666" cy="195814"/>
          </a:xfrm>
        </p:grpSpPr>
        <p:sp>
          <p:nvSpPr>
            <p:cNvPr id="38"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9"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Current Section6">
              <a:hlinkClick r:id="rId10"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44" name="Other Sections7">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699781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Financial reporting environment</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Financial reporting environment</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graphicFrame>
        <p:nvGraphicFramePr>
          <p:cNvPr id="3" name="Table 2">
            <a:extLst>
              <a:ext uri="{FF2B5EF4-FFF2-40B4-BE49-F238E27FC236}">
                <a16:creationId xmlns:a16="http://schemas.microsoft.com/office/drawing/2014/main" id="{8005081A-BBCA-4458-9404-A417AF64E7F3}"/>
              </a:ext>
            </a:extLst>
          </p:cNvPr>
          <p:cNvGraphicFramePr>
            <a:graphicFrameLocks noGrp="1"/>
          </p:cNvGraphicFramePr>
          <p:nvPr>
            <p:extLst>
              <p:ext uri="{D42A27DB-BD31-4B8C-83A1-F6EECF244321}">
                <p14:modId xmlns:p14="http://schemas.microsoft.com/office/powerpoint/2010/main" val="432946476"/>
              </p:ext>
            </p:extLst>
          </p:nvPr>
        </p:nvGraphicFramePr>
        <p:xfrm>
          <a:off x="995362" y="1330325"/>
          <a:ext cx="10204451" cy="3103880"/>
        </p:xfrm>
        <a:graphic>
          <a:graphicData uri="http://schemas.openxmlformats.org/drawingml/2006/table">
            <a:tbl>
              <a:tblPr firstRow="1" bandRow="1">
                <a:tableStyleId>{5C22544A-7EE6-4342-B048-85BDC9FD1C3A}</a:tableStyleId>
              </a:tblPr>
              <a:tblGrid>
                <a:gridCol w="1138179">
                  <a:extLst>
                    <a:ext uri="{9D8B030D-6E8A-4147-A177-3AD203B41FA5}">
                      <a16:colId xmlns:a16="http://schemas.microsoft.com/office/drawing/2014/main" val="2041135933"/>
                    </a:ext>
                  </a:extLst>
                </a:gridCol>
                <a:gridCol w="9066272">
                  <a:extLst>
                    <a:ext uri="{9D8B030D-6E8A-4147-A177-3AD203B41FA5}">
                      <a16:colId xmlns:a16="http://schemas.microsoft.com/office/drawing/2014/main" val="51301034"/>
                    </a:ext>
                  </a:extLst>
                </a:gridCol>
              </a:tblGrid>
              <a:tr h="204261">
                <a:tc>
                  <a:txBody>
                    <a:bodyPr/>
                    <a:lstStyle/>
                    <a:p>
                      <a:r>
                        <a:rPr lang="en-GB" sz="1000" b="1" u="none" dirty="0">
                          <a:solidFill>
                            <a:schemeClr val="bg1"/>
                          </a:solidFill>
                        </a:rPr>
                        <a:t>Area</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r>
                        <a:rPr lang="en-GB" sz="1000" b="1" u="none" dirty="0">
                          <a:solidFill>
                            <a:schemeClr val="bg1"/>
                          </a:solidFill>
                        </a:rPr>
                        <a:t>Policy</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978949590"/>
                  </a:ext>
                </a:extLst>
              </a:tr>
              <a:tr h="224948">
                <a:tc>
                  <a:txBody>
                    <a:bodyPr/>
                    <a:lstStyle/>
                    <a:p>
                      <a:r>
                        <a:rPr lang="en-GB" sz="1000" b="1" u="none">
                          <a:solidFill>
                            <a:schemeClr val="bg1"/>
                          </a:solidFill>
                        </a:rPr>
                        <a:t>Accounting conventions</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spcAft>
                          <a:spcPts val="600"/>
                        </a:spcAft>
                      </a:pPr>
                      <a:r>
                        <a:rPr lang="en-GB" sz="1000" i="0" u="none">
                          <a:solidFill>
                            <a:schemeClr val="tx1"/>
                          </a:solidFill>
                        </a:rPr>
                        <a:t>The financial statements are prepared in accordance with FRS 102. The functional currency is sterling. </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2020145"/>
                  </a:ext>
                </a:extLst>
              </a:tr>
              <a:tr h="877651">
                <a:tc>
                  <a:txBody>
                    <a:bodyPr/>
                    <a:lstStyle/>
                    <a:p>
                      <a:r>
                        <a:rPr lang="en-GB" sz="1000" b="1" u="none">
                          <a:solidFill>
                            <a:schemeClr val="bg1"/>
                          </a:solidFill>
                        </a:rPr>
                        <a:t>Revenue</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spcAft>
                          <a:spcPts val="600"/>
                        </a:spcAft>
                      </a:pPr>
                      <a:r>
                        <a:rPr lang="en-GB" sz="1000" i="1" u="none" dirty="0">
                          <a:solidFill>
                            <a:schemeClr val="tx1"/>
                          </a:solidFill>
                        </a:rPr>
                        <a:t>Hire revenue </a:t>
                      </a:r>
                      <a:r>
                        <a:rPr lang="en-GB" sz="1000" i="0" u="none" dirty="0">
                          <a:solidFill>
                            <a:schemeClr val="tx1"/>
                          </a:solidFill>
                        </a:rPr>
                        <a:t>– is recognised when invoiced, which is monthly in arrears. </a:t>
                      </a:r>
                    </a:p>
                    <a:p>
                      <a:pPr>
                        <a:spcAft>
                          <a:spcPts val="600"/>
                        </a:spcAft>
                      </a:pPr>
                      <a:r>
                        <a:rPr lang="en-GB" sz="1000" i="1" u="none" dirty="0">
                          <a:solidFill>
                            <a:schemeClr val="tx1"/>
                          </a:solidFill>
                        </a:rPr>
                        <a:t>Sale of goods </a:t>
                      </a:r>
                      <a:r>
                        <a:rPr lang="en-GB" sz="1000" i="0" u="none" dirty="0">
                          <a:solidFill>
                            <a:schemeClr val="tx1"/>
                          </a:solidFill>
                        </a:rPr>
                        <a:t>– revenue is recognised when significant risks and rewards of ownership of the goods have passed to the buyer, the amount of revenue can be measured reliably, it is probable that the economic benefits associated with the transaction will flow to the entity and the costs incurred or to be incurred in respect of the transaction can be measured reliably. For the purposes of this transaction in order to demonstrate the level of sales and margins made on new vehicle sales, the profits on disposal of new vehicles have been allocated to revenue and COGS (i.e. above gross profit).</a:t>
                      </a:r>
                    </a:p>
                    <a:p>
                      <a:pPr>
                        <a:spcAft>
                          <a:spcPts val="600"/>
                        </a:spcAft>
                      </a:pPr>
                      <a:r>
                        <a:rPr lang="en-GB" sz="1000" b="0" i="1" u="none" dirty="0">
                          <a:solidFill>
                            <a:schemeClr val="tx1"/>
                          </a:solidFill>
                        </a:rPr>
                        <a:t>Repairs &amp; maintenance </a:t>
                      </a:r>
                      <a:r>
                        <a:rPr lang="en-GB" sz="1000" b="0" i="0" u="none" dirty="0">
                          <a:solidFill>
                            <a:schemeClr val="tx1"/>
                          </a:solidFill>
                        </a:rPr>
                        <a:t>– revenue is recognised upon completion of the agreed repairs.</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8284003"/>
                  </a:ext>
                </a:extLst>
              </a:tr>
              <a:tr h="944990">
                <a:tc>
                  <a:txBody>
                    <a:bodyPr/>
                    <a:lstStyle/>
                    <a:p>
                      <a:r>
                        <a:rPr lang="en-GB" sz="1000" b="1" u="none">
                          <a:solidFill>
                            <a:schemeClr val="bg1"/>
                          </a:solidFill>
                        </a:rPr>
                        <a:t>Vehicles for hire - finance leases</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spcAft>
                          <a:spcPts val="600"/>
                        </a:spcAft>
                      </a:pPr>
                      <a:r>
                        <a:rPr lang="en-GB" sz="1000" i="0" u="none" dirty="0">
                          <a:solidFill>
                            <a:schemeClr val="tx1"/>
                          </a:solidFill>
                        </a:rPr>
                        <a:t>Some vehicles for hire are financed by way of hire purchase and are classed as finance leases. </a:t>
                      </a:r>
                    </a:p>
                    <a:p>
                      <a:pPr>
                        <a:spcAft>
                          <a:spcPts val="600"/>
                        </a:spcAft>
                      </a:pPr>
                      <a:r>
                        <a:rPr lang="en-GB" sz="1000" i="0" u="none" dirty="0">
                          <a:solidFill>
                            <a:schemeClr val="tx1"/>
                          </a:solidFill>
                        </a:rPr>
                        <a:t>At acquisition an asset and a liability are recorded at the lower of present value of future lease payments and the fair value of the asset. </a:t>
                      </a:r>
                    </a:p>
                    <a:p>
                      <a:pPr>
                        <a:spcAft>
                          <a:spcPts val="600"/>
                        </a:spcAft>
                      </a:pPr>
                      <a:r>
                        <a:rPr lang="en-GB" sz="1000" i="0" u="none" dirty="0">
                          <a:solidFill>
                            <a:schemeClr val="tx1"/>
                          </a:solidFill>
                        </a:rPr>
                        <a:t>The asset is then depreciated over the shorter of the lease term and asset useful life. Most assets are depreciated at 20% reducing rate. 3.5 tonne vehicles for hire are depreciated using 27.5% reducing rate (new policy May-18 onwards). </a:t>
                      </a:r>
                    </a:p>
                    <a:p>
                      <a:pPr>
                        <a:spcAft>
                          <a:spcPts val="600"/>
                        </a:spcAft>
                      </a:pPr>
                      <a:r>
                        <a:rPr lang="en-GB" sz="1000" i="0" u="none" dirty="0">
                          <a:solidFill>
                            <a:schemeClr val="tx1"/>
                          </a:solidFill>
                        </a:rPr>
                        <a:t>Lease payments are treated as consisting of capital and interest elements. The interest is charged to P&amp;L so as to produce a constant period rate of interest on the remaining balance of the liability. </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9938335"/>
                  </a:ext>
                </a:extLst>
              </a:tr>
            </a:tbl>
          </a:graphicData>
        </a:graphic>
      </p:graphicFrame>
      <p:grpSp>
        <p:nvGrpSpPr>
          <p:cNvPr id="31" name="Group 30">
            <a:extLst>
              <a:ext uri="{FF2B5EF4-FFF2-40B4-BE49-F238E27FC236}">
                <a16:creationId xmlns:a16="http://schemas.microsoft.com/office/drawing/2014/main" id="{2DD5CCB4-8899-4DEB-99A4-C81650F5E660}"/>
              </a:ext>
            </a:extLst>
          </p:cNvPr>
          <p:cNvGrpSpPr/>
          <p:nvPr>
            <p:custDataLst>
              <p:tags r:id="rId3"/>
            </p:custDataLst>
          </p:nvPr>
        </p:nvGrpSpPr>
        <p:grpSpPr>
          <a:xfrm>
            <a:off x="995364" y="153170"/>
            <a:ext cx="6259666" cy="195814"/>
            <a:chOff x="995364" y="153170"/>
            <a:chExt cx="6259666" cy="195814"/>
          </a:xfrm>
        </p:grpSpPr>
        <p:sp>
          <p:nvSpPr>
            <p:cNvPr id="32"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9"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Current Section6">
              <a:hlinkClick r:id="rId10"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9" name="Other Sections7">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94818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Financial reporting environment</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Financial reporting environment</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graphicFrame>
        <p:nvGraphicFramePr>
          <p:cNvPr id="3" name="Table 2">
            <a:extLst>
              <a:ext uri="{FF2B5EF4-FFF2-40B4-BE49-F238E27FC236}">
                <a16:creationId xmlns:a16="http://schemas.microsoft.com/office/drawing/2014/main" id="{8005081A-BBCA-4458-9404-A417AF64E7F3}"/>
              </a:ext>
            </a:extLst>
          </p:cNvPr>
          <p:cNvGraphicFramePr>
            <a:graphicFrameLocks noGrp="1"/>
          </p:cNvGraphicFramePr>
          <p:nvPr>
            <p:extLst>
              <p:ext uri="{D42A27DB-BD31-4B8C-83A1-F6EECF244321}">
                <p14:modId xmlns:p14="http://schemas.microsoft.com/office/powerpoint/2010/main" val="611923104"/>
              </p:ext>
            </p:extLst>
          </p:nvPr>
        </p:nvGraphicFramePr>
        <p:xfrm>
          <a:off x="995362" y="1330325"/>
          <a:ext cx="10204451" cy="2901656"/>
        </p:xfrm>
        <a:graphic>
          <a:graphicData uri="http://schemas.openxmlformats.org/drawingml/2006/table">
            <a:tbl>
              <a:tblPr firstRow="1" bandRow="1">
                <a:tableStyleId>{5C22544A-7EE6-4342-B048-85BDC9FD1C3A}</a:tableStyleId>
              </a:tblPr>
              <a:tblGrid>
                <a:gridCol w="1138179">
                  <a:extLst>
                    <a:ext uri="{9D8B030D-6E8A-4147-A177-3AD203B41FA5}">
                      <a16:colId xmlns:a16="http://schemas.microsoft.com/office/drawing/2014/main" val="2041135933"/>
                    </a:ext>
                  </a:extLst>
                </a:gridCol>
                <a:gridCol w="9066272">
                  <a:extLst>
                    <a:ext uri="{9D8B030D-6E8A-4147-A177-3AD203B41FA5}">
                      <a16:colId xmlns:a16="http://schemas.microsoft.com/office/drawing/2014/main" val="51301034"/>
                    </a:ext>
                  </a:extLst>
                </a:gridCol>
              </a:tblGrid>
              <a:tr h="204261">
                <a:tc>
                  <a:txBody>
                    <a:bodyPr/>
                    <a:lstStyle/>
                    <a:p>
                      <a:r>
                        <a:rPr lang="en-GB" sz="1000" b="1" u="none" dirty="0">
                          <a:solidFill>
                            <a:schemeClr val="bg1"/>
                          </a:solidFill>
                        </a:rPr>
                        <a:t>Area</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r>
                        <a:rPr lang="en-GB" sz="1000" b="1" u="none" dirty="0">
                          <a:solidFill>
                            <a:schemeClr val="bg1"/>
                          </a:solidFill>
                        </a:rPr>
                        <a:t>Policy</a:t>
                      </a:r>
                    </a:p>
                  </a:txBody>
                  <a:tcPr marL="54610" marR="54610" marT="54610" marB="54610">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978949590"/>
                  </a:ext>
                </a:extLst>
              </a:tr>
              <a:tr h="13455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b="1" u="none" dirty="0">
                          <a:solidFill>
                            <a:schemeClr val="bg1"/>
                          </a:solidFill>
                        </a:rPr>
                        <a:t>Stock valuations, procedures and  provisioning</a:t>
                      </a:r>
                    </a:p>
                  </a:txBody>
                  <a:tcPr marL="50409" marR="50409" marT="50409" marB="50409">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2" indent="0" algn="l" defTabSz="914400" rtl="0" eaLnBrk="1" fontAlgn="auto" latinLnBrk="0" hangingPunct="1">
                        <a:lnSpc>
                          <a:spcPct val="100000"/>
                        </a:lnSpc>
                        <a:spcBef>
                          <a:spcPts val="0"/>
                        </a:spcBef>
                        <a:spcAft>
                          <a:spcPts val="600"/>
                        </a:spcAft>
                        <a:buClr>
                          <a:schemeClr val="tx2"/>
                        </a:buClr>
                        <a:buSzTx/>
                        <a:buFontTx/>
                        <a:buNone/>
                        <a:tabLst/>
                        <a:defRPr/>
                      </a:pPr>
                      <a:r>
                        <a:rPr lang="en-GB" sz="1000" b="0" i="0" u="none" kern="0" baseline="0" dirty="0">
                          <a:solidFill>
                            <a:schemeClr val="tx1"/>
                          </a:solidFill>
                          <a:latin typeface="+mn-lt"/>
                          <a:ea typeface="+mn-ea"/>
                          <a:cs typeface="Arial" panose="020B0604020202020204" pitchFamily="34" charset="0"/>
                        </a:rPr>
                        <a:t>Stock consists of marker posts and parts to repair and attach to vehicles and cushions, and is valued at actual cost on a FIFO basis. Management has informed us that the same costing methodology has been applied across the Historical Period. </a:t>
                      </a:r>
                      <a:endParaRPr lang="en-GB" sz="1000" b="1" i="0" u="none" kern="0" baseline="0" dirty="0">
                        <a:solidFill>
                          <a:schemeClr val="tx1"/>
                        </a:solidFill>
                        <a:latin typeface="+mn-lt"/>
                        <a:ea typeface="+mn-ea"/>
                        <a:cs typeface="Arial" panose="020B0604020202020204" pitchFamily="34" charset="0"/>
                      </a:endParaRPr>
                    </a:p>
                    <a:p>
                      <a:pPr marL="0" marR="0" lvl="2" indent="0" algn="l" defTabSz="914400" rtl="0" eaLnBrk="1" fontAlgn="auto" latinLnBrk="0" hangingPunct="1">
                        <a:lnSpc>
                          <a:spcPct val="100000"/>
                        </a:lnSpc>
                        <a:spcBef>
                          <a:spcPts val="0"/>
                        </a:spcBef>
                        <a:spcAft>
                          <a:spcPts val="600"/>
                        </a:spcAft>
                        <a:buClr>
                          <a:schemeClr val="tx2"/>
                        </a:buClr>
                        <a:buSzTx/>
                        <a:buFontTx/>
                        <a:buNone/>
                        <a:tabLst/>
                        <a:defRPr/>
                      </a:pPr>
                      <a:r>
                        <a:rPr lang="en-GB" sz="1000" b="0" i="0" u="none" kern="0" baseline="0" dirty="0">
                          <a:solidFill>
                            <a:schemeClr val="tx1"/>
                          </a:solidFill>
                          <a:latin typeface="+mn-lt"/>
                          <a:ea typeface="+mn-ea"/>
                          <a:cs typeface="Arial" panose="020B0604020202020204" pitchFamily="34" charset="0"/>
                        </a:rPr>
                        <a:t>Purchasing responsibility is shared between the stock controller, operations director and both MDs. xx, which is [Target]’ s operational system, has been used for stock monitoring since November-20 for standard stock items which are ordered automatically. For ‘manual stock’ items which consists of parts for attachments to specific vehicles, stock is managed by way of manual stock sheets by the Finance Director with the assistance of Operations Director and the stock controller. </a:t>
                      </a:r>
                    </a:p>
                    <a:p>
                      <a:pPr marL="0" marR="0" lvl="2" indent="0" algn="l" defTabSz="914400" rtl="0" eaLnBrk="1" fontAlgn="auto" latinLnBrk="0" hangingPunct="1">
                        <a:lnSpc>
                          <a:spcPct val="100000"/>
                        </a:lnSpc>
                        <a:spcBef>
                          <a:spcPts val="0"/>
                        </a:spcBef>
                        <a:spcAft>
                          <a:spcPts val="600"/>
                        </a:spcAft>
                        <a:buClr>
                          <a:schemeClr val="tx2"/>
                        </a:buClr>
                        <a:buSzTx/>
                        <a:buFontTx/>
                        <a:buNone/>
                        <a:tabLst/>
                        <a:defRPr/>
                      </a:pPr>
                      <a:r>
                        <a:rPr lang="en-GB" sz="1000" b="0" i="0" u="none" kern="0" baseline="0" dirty="0">
                          <a:solidFill>
                            <a:schemeClr val="tx1"/>
                          </a:solidFill>
                          <a:latin typeface="+mn-lt"/>
                          <a:ea typeface="+mn-ea"/>
                          <a:cs typeface="Arial" panose="020B0604020202020204" pitchFamily="34" charset="0"/>
                        </a:rPr>
                        <a:t>[Target] undertakes a stock count of all stock based on site on a monthly basis.</a:t>
                      </a:r>
                      <a:r>
                        <a:rPr lang="en-GB" sz="1000" b="1" i="0" u="none" kern="0" baseline="0" dirty="0">
                          <a:solidFill>
                            <a:schemeClr val="tx1"/>
                          </a:solidFill>
                          <a:latin typeface="+mn-lt"/>
                          <a:ea typeface="+mn-ea"/>
                          <a:cs typeface="Arial" panose="020B0604020202020204" pitchFamily="34" charset="0"/>
                        </a:rPr>
                        <a:t> </a:t>
                      </a:r>
                      <a:r>
                        <a:rPr lang="en-GB" sz="1000" b="0" i="0" u="none" kern="0" baseline="0" dirty="0">
                          <a:solidFill>
                            <a:schemeClr val="tx1"/>
                          </a:solidFill>
                          <a:latin typeface="+mn-lt"/>
                          <a:ea typeface="+mn-ea"/>
                          <a:cs typeface="Arial" panose="020B0604020202020204" pitchFamily="34" charset="0"/>
                        </a:rPr>
                        <a:t>At year end the Stock Controller performs a manual stock take of all stock recorded in xx, the adjustments as a result of these have been minimal across the Historical period. </a:t>
                      </a:r>
                    </a:p>
                    <a:p>
                      <a:pPr marL="0" marR="0" lvl="2" indent="0" algn="l" defTabSz="914400" rtl="0" eaLnBrk="1" fontAlgn="auto" latinLnBrk="0" hangingPunct="1">
                        <a:lnSpc>
                          <a:spcPct val="100000"/>
                        </a:lnSpc>
                        <a:spcBef>
                          <a:spcPts val="0"/>
                        </a:spcBef>
                        <a:spcAft>
                          <a:spcPts val="600"/>
                        </a:spcAft>
                        <a:buClr>
                          <a:schemeClr val="tx2"/>
                        </a:buClr>
                        <a:buSzTx/>
                        <a:buFontTx/>
                        <a:buNone/>
                        <a:tabLst/>
                        <a:defRPr/>
                      </a:pPr>
                      <a:r>
                        <a:rPr lang="en-GB" sz="1000" b="0" i="0" u="none" kern="0" baseline="0" dirty="0">
                          <a:solidFill>
                            <a:schemeClr val="tx1"/>
                          </a:solidFill>
                          <a:latin typeface="+mn-lt"/>
                          <a:ea typeface="+mn-ea"/>
                          <a:cs typeface="Arial" panose="020B0604020202020204" pitchFamily="34" charset="0"/>
                        </a:rPr>
                        <a:t>[Target] orders certain items of stock from xx, mostly crash cushions. These items are not recognised in stock until they reach [Target]’s premises. As at Apr-22 £0.2 million of stock was on water, consisting mainly of crash cushions. </a:t>
                      </a:r>
                    </a:p>
                    <a:p>
                      <a:pPr marL="0" marR="0" lvl="2" indent="0" algn="l" defTabSz="914400" rtl="0" eaLnBrk="1" fontAlgn="auto" latinLnBrk="0" hangingPunct="1">
                        <a:lnSpc>
                          <a:spcPct val="100000"/>
                        </a:lnSpc>
                        <a:spcBef>
                          <a:spcPts val="0"/>
                        </a:spcBef>
                        <a:spcAft>
                          <a:spcPts val="600"/>
                        </a:spcAft>
                        <a:buClr>
                          <a:schemeClr val="tx2"/>
                        </a:buClr>
                        <a:buSzTx/>
                        <a:buFontTx/>
                        <a:buNone/>
                        <a:tabLst/>
                        <a:defRPr/>
                      </a:pPr>
                      <a:r>
                        <a:rPr lang="en-GB" sz="1000" b="0" i="0" u="none" kern="0" baseline="0" dirty="0">
                          <a:solidFill>
                            <a:schemeClr val="tx1"/>
                          </a:solidFill>
                          <a:latin typeface="+mn-lt"/>
                          <a:ea typeface="+mn-ea"/>
                          <a:cs typeface="Arial" panose="020B0604020202020204" pitchFamily="34" charset="0"/>
                        </a:rPr>
                        <a:t>There is no general stock provision because the specific nature of stock and high demand means management have always been able to sell stock at cost price as a minimum.</a:t>
                      </a:r>
                    </a:p>
                  </a:txBody>
                  <a:tcPr marL="50409" marR="50409" marT="50409" marB="50409">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2386453"/>
                  </a:ext>
                </a:extLst>
              </a:tr>
              <a:tr h="3523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b="1" u="none" dirty="0">
                          <a:solidFill>
                            <a:schemeClr val="bg1"/>
                          </a:solidFill>
                        </a:rPr>
                        <a:t>Bad debt provisioning</a:t>
                      </a:r>
                    </a:p>
                  </a:txBody>
                  <a:tcPr marL="50409" marR="50409" marT="50409" marB="50409">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nSpc>
                          <a:spcPct val="100000"/>
                        </a:lnSpc>
                        <a:spcAft>
                          <a:spcPts val="600"/>
                        </a:spcAft>
                        <a:buClr>
                          <a:schemeClr val="tx2"/>
                        </a:buClr>
                        <a:buFontTx/>
                        <a:buNone/>
                      </a:pPr>
                      <a:r>
                        <a:rPr lang="en-GB" sz="1000" b="0" u="none" dirty="0">
                          <a:solidFill>
                            <a:srgbClr val="000000"/>
                          </a:solidFill>
                        </a:rPr>
                        <a:t>Bad debts are written off when considered irrecoverable, these are written off to the P&amp;L as an expense. There is no general provision for bad debts on the balance sheet as the level of bad debt write-offs historically has been very low.</a:t>
                      </a:r>
                    </a:p>
                  </a:txBody>
                  <a:tcPr marL="50409" marR="50409" marT="50409" marB="50409">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9631722"/>
                  </a:ext>
                </a:extLst>
              </a:tr>
            </a:tbl>
          </a:graphicData>
        </a:graphic>
      </p:graphicFrame>
      <p:grpSp>
        <p:nvGrpSpPr>
          <p:cNvPr id="31" name="Group 30">
            <a:extLst>
              <a:ext uri="{FF2B5EF4-FFF2-40B4-BE49-F238E27FC236}">
                <a16:creationId xmlns:a16="http://schemas.microsoft.com/office/drawing/2014/main" id="{2DD5CCB4-8899-4DEB-99A4-C81650F5E660}"/>
              </a:ext>
            </a:extLst>
          </p:cNvPr>
          <p:cNvGrpSpPr/>
          <p:nvPr>
            <p:custDataLst>
              <p:tags r:id="rId3"/>
            </p:custDataLst>
          </p:nvPr>
        </p:nvGrpSpPr>
        <p:grpSpPr>
          <a:xfrm>
            <a:off x="995364" y="153170"/>
            <a:ext cx="6259666" cy="195814"/>
            <a:chOff x="995364" y="153170"/>
            <a:chExt cx="6259666" cy="195814"/>
          </a:xfrm>
        </p:grpSpPr>
        <p:sp>
          <p:nvSpPr>
            <p:cNvPr id="32" name="Other Sections1">
              <a:hlinkClick r:id="rId5"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6"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7"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8"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9"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Current Section6">
              <a:hlinkClick r:id="rId10" action="ppaction://hlinksldjump"/>
              <a:extLst>
                <a:ext uri="{FF2B5EF4-FFF2-40B4-BE49-F238E27FC236}">
                  <a16:creationId xmlns:a16="http://schemas.microsoft.com/office/drawing/2014/main" id="{89A61135-1F00-E77F-7C78-5FBA241A5742}"/>
                </a:ext>
              </a:extLst>
            </p:cNvPr>
            <p:cNvSpPr>
              <a:spLocks/>
            </p:cNvSpPr>
            <p:nvPr/>
          </p:nvSpPr>
          <p:spPr>
            <a:xfrm>
              <a:off x="5290681"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9" name="Other Sections7">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56620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37767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18" action="ppaction://hlinksldjump"/>
            <a:extLst>
              <a:ext uri="{FF2B5EF4-FFF2-40B4-BE49-F238E27FC236}">
                <a16:creationId xmlns:a16="http://schemas.microsoft.com/office/drawing/2014/main" id="{4268CE95-78EE-4828-956F-01968C1CDFD6}"/>
              </a:ext>
            </a:extLst>
          </p:cNvPr>
          <p:cNvSpPr txBox="1"/>
          <p:nvPr>
            <p:custDataLst>
              <p:tags r:id="rId2"/>
            </p:custDataLst>
          </p:nvPr>
        </p:nvSpPr>
        <p:spPr>
          <a:xfrm>
            <a:off x="1289861" y="1408252"/>
            <a:ext cx="5156999" cy="1873094"/>
          </a:xfrm>
          <a:prstGeom prst="rect">
            <a:avLst/>
          </a:prstGeom>
          <a:noFill/>
        </p:spPr>
        <p:txBody>
          <a:bodyPr vert="horz" wrap="square" lIns="0" tIns="1008000" rIns="0" bIns="0" rtlCol="0">
            <a:noAutofit/>
          </a:bodyPr>
          <a:lstStyle/>
          <a:p>
            <a:pPr algn="l">
              <a:lnSpc>
                <a:spcPct val="70000"/>
              </a:lnSpc>
            </a:pPr>
            <a:r>
              <a:rPr lang="en-GB" sz="6600">
                <a:solidFill>
                  <a:srgbClr val="FFFFFF"/>
                </a:solidFill>
                <a:latin typeface="+mj-lt"/>
              </a:rPr>
              <a:t>Appendices</a:t>
            </a:r>
          </a:p>
        </p:txBody>
      </p:sp>
      <p:sp>
        <p:nvSpPr>
          <p:cNvPr id="5" name="TextBox 4">
            <a:hlinkClick r:id="rId19" action="ppaction://hlinksldjump"/>
            <a:extLst>
              <a:ext uri="{FF2B5EF4-FFF2-40B4-BE49-F238E27FC236}">
                <a16:creationId xmlns:a16="http://schemas.microsoft.com/office/drawing/2014/main" id="{9DF192D7-E588-4509-BEF9-B962DB9683C2}"/>
              </a:ext>
            </a:extLst>
          </p:cNvPr>
          <p:cNvSpPr txBox="1"/>
          <p:nvPr>
            <p:custDataLst>
              <p:tags r:id="rId3"/>
            </p:custDataLst>
          </p:nvPr>
        </p:nvSpPr>
        <p:spPr>
          <a:xfrm>
            <a:off x="1735455" y="3408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Engagement</a:t>
            </a:r>
          </a:p>
        </p:txBody>
      </p:sp>
      <p:sp>
        <p:nvSpPr>
          <p:cNvPr id="6" name="TextBox 5">
            <a:hlinkClick r:id="rId20" action="ppaction://hlinksldjump"/>
            <a:extLst>
              <a:ext uri="{FF2B5EF4-FFF2-40B4-BE49-F238E27FC236}">
                <a16:creationId xmlns:a16="http://schemas.microsoft.com/office/drawing/2014/main" id="{EFCC407A-CDF3-445B-A0F0-CC1BD24B508B}"/>
              </a:ext>
            </a:extLst>
          </p:cNvPr>
          <p:cNvSpPr txBox="1"/>
          <p:nvPr>
            <p:custDataLst>
              <p:tags r:id="rId4"/>
            </p:custDataLst>
          </p:nvPr>
        </p:nvSpPr>
        <p:spPr>
          <a:xfrm>
            <a:off x="1735455" y="3787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Data Integrity</a:t>
            </a:r>
          </a:p>
        </p:txBody>
      </p:sp>
      <p:sp>
        <p:nvSpPr>
          <p:cNvPr id="7" name="TextBox 6">
            <a:hlinkClick r:id="rId21" action="ppaction://hlinksldjump"/>
            <a:extLst>
              <a:ext uri="{FF2B5EF4-FFF2-40B4-BE49-F238E27FC236}">
                <a16:creationId xmlns:a16="http://schemas.microsoft.com/office/drawing/2014/main" id="{16E66421-F8D3-4956-B4FA-6CFE46F25940}"/>
              </a:ext>
            </a:extLst>
          </p:cNvPr>
          <p:cNvSpPr txBox="1"/>
          <p:nvPr>
            <p:custDataLst>
              <p:tags r:id="rId5"/>
            </p:custDataLst>
          </p:nvPr>
        </p:nvSpPr>
        <p:spPr>
          <a:xfrm>
            <a:off x="1735455" y="4166346"/>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Balance sheet breakdowns</a:t>
            </a:r>
          </a:p>
        </p:txBody>
      </p:sp>
      <p:sp>
        <p:nvSpPr>
          <p:cNvPr id="8" name="TextBox 7">
            <a:hlinkClick r:id="rId22" action="ppaction://hlinksldjump"/>
            <a:extLst>
              <a:ext uri="{FF2B5EF4-FFF2-40B4-BE49-F238E27FC236}">
                <a16:creationId xmlns:a16="http://schemas.microsoft.com/office/drawing/2014/main" id="{973B4B61-393D-4E90-AFC8-1F9557D0ADF0}"/>
              </a:ext>
            </a:extLst>
          </p:cNvPr>
          <p:cNvSpPr txBox="1"/>
          <p:nvPr>
            <p:custDataLst>
              <p:tags r:id="rId6"/>
            </p:custDataLst>
          </p:nvPr>
        </p:nvSpPr>
        <p:spPr>
          <a:xfrm>
            <a:off x="1735455" y="4545347"/>
            <a:ext cx="4711405" cy="252000"/>
          </a:xfrm>
          <a:prstGeom prst="rect">
            <a:avLst/>
          </a:prstGeom>
          <a:noFill/>
        </p:spPr>
        <p:txBody>
          <a:bodyPr vert="horz" wrap="square" lIns="0" tIns="0" rIns="0" bIns="0" rtlCol="0" anchor="t" anchorCtr="0">
            <a:noAutofit/>
          </a:bodyPr>
          <a:lstStyle/>
          <a:p>
            <a:pPr marL="0" indent="0" algn="l">
              <a:buFont typeface="Arial" panose="020B0604020202020204" pitchFamily="34" charset="0"/>
              <a:buNone/>
            </a:pPr>
            <a:r>
              <a:rPr lang="en-GB" sz="1600">
                <a:solidFill>
                  <a:srgbClr val="FFFFFF"/>
                </a:solidFill>
                <a:effectLst/>
                <a:latin typeface="+mn-lt"/>
              </a:rPr>
              <a:t>Glossary</a:t>
            </a:r>
          </a:p>
        </p:txBody>
      </p:sp>
      <p:sp>
        <p:nvSpPr>
          <p:cNvPr id="9" name="TextBox 8">
            <a:hlinkClick r:id="rId18" action="ppaction://hlinksldjump"/>
            <a:extLst>
              <a:ext uri="{FF2B5EF4-FFF2-40B4-BE49-F238E27FC236}">
                <a16:creationId xmlns:a16="http://schemas.microsoft.com/office/drawing/2014/main" id="{0A576DD7-8908-43A7-978F-357AB48DEFA8}"/>
              </a:ext>
            </a:extLst>
          </p:cNvPr>
          <p:cNvSpPr txBox="1"/>
          <p:nvPr>
            <p:custDataLst>
              <p:tags r:id="rId7"/>
            </p:custDataLst>
          </p:nvPr>
        </p:nvSpPr>
        <p:spPr>
          <a:xfrm>
            <a:off x="1289860" y="1408252"/>
            <a:ext cx="3952700" cy="1012636"/>
          </a:xfrm>
          <a:prstGeom prst="rect">
            <a:avLst/>
          </a:prstGeom>
        </p:spPr>
        <p:txBody>
          <a:bodyPr vert="horz" wrap="none" lIns="0" tIns="0" rIns="0" bIns="0" rtlCol="0" anchor="t" anchorCtr="0">
            <a:noAutofit/>
          </a:bodyPr>
          <a:lstStyle/>
          <a:p>
            <a:pPr algn="l">
              <a:lnSpc>
                <a:spcPct val="80000"/>
              </a:lnSpc>
              <a:spcAft>
                <a:spcPts val="600"/>
              </a:spcAft>
            </a:pPr>
            <a:r>
              <a:rPr lang="en-GB" sz="6600" b="1">
                <a:solidFill>
                  <a:srgbClr val="FFFFFF"/>
                </a:solidFill>
                <a:latin typeface="+mj-lt"/>
              </a:rPr>
              <a:t>7.</a:t>
            </a:r>
          </a:p>
        </p:txBody>
      </p:sp>
      <p:sp>
        <p:nvSpPr>
          <p:cNvPr id="10" name="TextBox 9">
            <a:hlinkClick r:id="rId18" action="ppaction://hlinksldjump"/>
            <a:extLst>
              <a:ext uri="{FF2B5EF4-FFF2-40B4-BE49-F238E27FC236}">
                <a16:creationId xmlns:a16="http://schemas.microsoft.com/office/drawing/2014/main" id="{50AE5341-DFAE-433F-8EBA-50056F8A5EB1}"/>
              </a:ext>
            </a:extLst>
          </p:cNvPr>
          <p:cNvSpPr txBox="1"/>
          <p:nvPr>
            <p:custDataLst>
              <p:tags r:id="rId8"/>
            </p:custDataLst>
          </p:nvPr>
        </p:nvSpPr>
        <p:spPr>
          <a:xfrm>
            <a:off x="7004859" y="3245346"/>
            <a:ext cx="72000" cy="36000"/>
          </a:xfrm>
          <a:prstGeom prst="rect">
            <a:avLst/>
          </a:prstGeom>
          <a:noFill/>
        </p:spPr>
        <p:txBody>
          <a:bodyPr vert="horz" wrap="none" lIns="0" tIns="0" rIns="0" bIns="0" rtlCol="0" anchor="ctr" anchorCtr="0">
            <a:noAutofit/>
          </a:bodyPr>
          <a:lstStyle/>
          <a:p>
            <a:pPr algn="ctr"/>
            <a:r>
              <a:rPr lang="en-GB" sz="100">
                <a:noFill/>
                <a:latin typeface="+mj-lt"/>
              </a:rPr>
              <a:t>59</a:t>
            </a:r>
          </a:p>
        </p:txBody>
      </p:sp>
      <p:sp>
        <p:nvSpPr>
          <p:cNvPr id="11" name="TextBox 10">
            <a:hlinkClick r:id="rId19" action="ppaction://hlinksldjump"/>
            <a:extLst>
              <a:ext uri="{FF2B5EF4-FFF2-40B4-BE49-F238E27FC236}">
                <a16:creationId xmlns:a16="http://schemas.microsoft.com/office/drawing/2014/main" id="{8DDD164D-67F0-4273-BDDF-EE9561254D5B}"/>
              </a:ext>
            </a:extLst>
          </p:cNvPr>
          <p:cNvSpPr txBox="1"/>
          <p:nvPr>
            <p:custDataLst>
              <p:tags r:id="rId9"/>
            </p:custDataLst>
          </p:nvPr>
        </p:nvSpPr>
        <p:spPr bwMode="auto">
          <a:xfrm>
            <a:off x="1303409" y="3408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7.1</a:t>
            </a:r>
          </a:p>
        </p:txBody>
      </p:sp>
      <p:sp>
        <p:nvSpPr>
          <p:cNvPr id="12" name="TextBox 11">
            <a:hlinkClick r:id="rId20" action="ppaction://hlinksldjump"/>
            <a:extLst>
              <a:ext uri="{FF2B5EF4-FFF2-40B4-BE49-F238E27FC236}">
                <a16:creationId xmlns:a16="http://schemas.microsoft.com/office/drawing/2014/main" id="{564323E8-8E19-4769-864F-F2C7C56F0CE2}"/>
              </a:ext>
            </a:extLst>
          </p:cNvPr>
          <p:cNvSpPr txBox="1"/>
          <p:nvPr>
            <p:custDataLst>
              <p:tags r:id="rId10"/>
            </p:custDataLst>
          </p:nvPr>
        </p:nvSpPr>
        <p:spPr bwMode="auto">
          <a:xfrm>
            <a:off x="1303409" y="3787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7.2</a:t>
            </a:r>
          </a:p>
        </p:txBody>
      </p:sp>
      <p:sp>
        <p:nvSpPr>
          <p:cNvPr id="13" name="TextBox 12">
            <a:hlinkClick r:id="rId21" action="ppaction://hlinksldjump"/>
            <a:extLst>
              <a:ext uri="{FF2B5EF4-FFF2-40B4-BE49-F238E27FC236}">
                <a16:creationId xmlns:a16="http://schemas.microsoft.com/office/drawing/2014/main" id="{7C34F067-1934-4005-B516-416EA569D7D3}"/>
              </a:ext>
            </a:extLst>
          </p:cNvPr>
          <p:cNvSpPr txBox="1"/>
          <p:nvPr>
            <p:custDataLst>
              <p:tags r:id="rId11"/>
            </p:custDataLst>
          </p:nvPr>
        </p:nvSpPr>
        <p:spPr bwMode="auto">
          <a:xfrm>
            <a:off x="1303409" y="4166346"/>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7.3</a:t>
            </a:r>
          </a:p>
        </p:txBody>
      </p:sp>
      <p:sp>
        <p:nvSpPr>
          <p:cNvPr id="14" name="TextBox 13">
            <a:hlinkClick r:id="rId22" action="ppaction://hlinksldjump"/>
            <a:extLst>
              <a:ext uri="{FF2B5EF4-FFF2-40B4-BE49-F238E27FC236}">
                <a16:creationId xmlns:a16="http://schemas.microsoft.com/office/drawing/2014/main" id="{A3513E90-DABE-438A-B771-B479357BC5E3}"/>
              </a:ext>
            </a:extLst>
          </p:cNvPr>
          <p:cNvSpPr txBox="1"/>
          <p:nvPr>
            <p:custDataLst>
              <p:tags r:id="rId12"/>
            </p:custDataLst>
          </p:nvPr>
        </p:nvSpPr>
        <p:spPr bwMode="auto">
          <a:xfrm>
            <a:off x="1303409" y="4545347"/>
            <a:ext cx="376801" cy="252000"/>
          </a:xfrm>
          <a:prstGeom prst="rect">
            <a:avLst/>
          </a:prstGeom>
          <a:noFill/>
          <a:ln w="9525">
            <a:noFill/>
            <a:miter lim="800000"/>
            <a:headEnd/>
            <a:tailEnd/>
          </a:ln>
        </p:spPr>
        <p:txBody>
          <a:bodyPr vert="horz" wrap="none" lIns="0" tIns="0" rIns="0" bIns="0" rtlCol="0" anchor="t" anchorCtr="0">
            <a:noAutofit/>
          </a:bodyPr>
          <a:lstStyle/>
          <a:p>
            <a:pPr algn="l">
              <a:lnSpc>
                <a:spcPct val="70000"/>
              </a:lnSpc>
            </a:pPr>
            <a:r>
              <a:rPr lang="en-GB" sz="2400">
                <a:solidFill>
                  <a:schemeClr val="bg1"/>
                </a:solidFill>
                <a:latin typeface="+mj-lt"/>
              </a:rPr>
              <a:t>7.4</a:t>
            </a:r>
          </a:p>
        </p:txBody>
      </p:sp>
      <p:sp>
        <p:nvSpPr>
          <p:cNvPr id="15" name="TextBox 14">
            <a:hlinkClick r:id="rId19" action="ppaction://hlinksldjump"/>
            <a:extLst>
              <a:ext uri="{FF2B5EF4-FFF2-40B4-BE49-F238E27FC236}">
                <a16:creationId xmlns:a16="http://schemas.microsoft.com/office/drawing/2014/main" id="{559F990F-2BD2-4E0D-A1A0-6D50B01463B5}"/>
              </a:ext>
            </a:extLst>
          </p:cNvPr>
          <p:cNvSpPr txBox="1"/>
          <p:nvPr>
            <p:custDataLst>
              <p:tags r:id="rId13"/>
            </p:custDataLst>
          </p:nvPr>
        </p:nvSpPr>
        <p:spPr>
          <a:xfrm>
            <a:off x="7004859" y="3408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62</a:t>
            </a:r>
          </a:p>
        </p:txBody>
      </p:sp>
      <p:sp>
        <p:nvSpPr>
          <p:cNvPr id="16" name="TextBox 15">
            <a:hlinkClick r:id="rId20" action="ppaction://hlinksldjump"/>
            <a:extLst>
              <a:ext uri="{FF2B5EF4-FFF2-40B4-BE49-F238E27FC236}">
                <a16:creationId xmlns:a16="http://schemas.microsoft.com/office/drawing/2014/main" id="{74B417ED-F292-428A-90BE-03A21A9DEA8D}"/>
              </a:ext>
            </a:extLst>
          </p:cNvPr>
          <p:cNvSpPr txBox="1"/>
          <p:nvPr>
            <p:custDataLst>
              <p:tags r:id="rId14"/>
            </p:custDataLst>
          </p:nvPr>
        </p:nvSpPr>
        <p:spPr>
          <a:xfrm>
            <a:off x="7004859" y="3787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66</a:t>
            </a:r>
          </a:p>
        </p:txBody>
      </p:sp>
      <p:sp>
        <p:nvSpPr>
          <p:cNvPr id="17" name="TextBox 16">
            <a:hlinkClick r:id="rId21" action="ppaction://hlinksldjump"/>
            <a:extLst>
              <a:ext uri="{FF2B5EF4-FFF2-40B4-BE49-F238E27FC236}">
                <a16:creationId xmlns:a16="http://schemas.microsoft.com/office/drawing/2014/main" id="{D1736F3C-5382-4B78-B1EA-35DF902DD5EC}"/>
              </a:ext>
            </a:extLst>
          </p:cNvPr>
          <p:cNvSpPr txBox="1"/>
          <p:nvPr>
            <p:custDataLst>
              <p:tags r:id="rId15"/>
            </p:custDataLst>
          </p:nvPr>
        </p:nvSpPr>
        <p:spPr>
          <a:xfrm>
            <a:off x="7004859" y="4166346"/>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72</a:t>
            </a:r>
          </a:p>
        </p:txBody>
      </p:sp>
      <p:sp>
        <p:nvSpPr>
          <p:cNvPr id="18" name="TextBox 17">
            <a:hlinkClick r:id="rId22" action="ppaction://hlinksldjump"/>
            <a:extLst>
              <a:ext uri="{FF2B5EF4-FFF2-40B4-BE49-F238E27FC236}">
                <a16:creationId xmlns:a16="http://schemas.microsoft.com/office/drawing/2014/main" id="{2C2CBB7C-AFD6-4F62-9F5B-1391541CF2A5}"/>
              </a:ext>
            </a:extLst>
          </p:cNvPr>
          <p:cNvSpPr txBox="1"/>
          <p:nvPr>
            <p:custDataLst>
              <p:tags r:id="rId16"/>
            </p:custDataLst>
          </p:nvPr>
        </p:nvSpPr>
        <p:spPr>
          <a:xfrm>
            <a:off x="7004859" y="4545347"/>
            <a:ext cx="558000" cy="252000"/>
          </a:xfrm>
          <a:prstGeom prst="rect">
            <a:avLst/>
          </a:prstGeom>
          <a:noFill/>
        </p:spPr>
        <p:txBody>
          <a:bodyPr vert="horz" wrap="none" lIns="0" tIns="0" rIns="0" bIns="0" rtlCol="0" anchor="t" anchorCtr="0">
            <a:noAutofit/>
          </a:bodyPr>
          <a:lstStyle/>
          <a:p>
            <a:pPr marL="0" indent="0" algn="r">
              <a:buFont typeface="Arial" panose="020B0604020202020204" pitchFamily="34" charset="0"/>
              <a:buNone/>
            </a:pPr>
            <a:r>
              <a:rPr lang="en-GB" sz="1200">
                <a:solidFill>
                  <a:srgbClr val="FFFFFF"/>
                </a:solidFill>
                <a:effectLst/>
                <a:latin typeface="+mn-lt"/>
              </a:rPr>
              <a:t>81</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FCB40A9-B5A9-4B56-905F-30AA4211156C}"/>
              </a:ext>
            </a:extLst>
          </p:cNvPr>
          <p:cNvSpPr txBox="1">
            <a:spLocks/>
          </p:cNvSpPr>
          <p:nvPr/>
        </p:nvSpPr>
        <p:spPr>
          <a:xfrm>
            <a:off x="1289860" y="1604751"/>
            <a:ext cx="5765800" cy="2903537"/>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GB" sz="6600" dirty="0">
                <a:solidFill>
                  <a:srgbClr val="FFFFFF"/>
                </a:solidFill>
                <a:ea typeface="+mn-ea"/>
                <a:cs typeface="+mn-cs"/>
              </a:rPr>
              <a:t>Engagement</a:t>
            </a:r>
          </a:p>
        </p:txBody>
      </p:sp>
    </p:spTree>
    <p:extLst>
      <p:ext uri="{BB962C8B-B14F-4D97-AF65-F5344CB8AC3E}">
        <p14:creationId xmlns:p14="http://schemas.microsoft.com/office/powerpoint/2010/main" val="5820500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p:txBody>
          <a:bodyPr vert="horz"/>
          <a:lstStyle/>
          <a:p>
            <a:r>
              <a:rPr lang="en-US" dirty="0"/>
              <a:t>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10"/>
          </p:nvPr>
        </p:nvSpPr>
        <p:spPr>
          <a:xfrm>
            <a:off x="1003200" y="1152525"/>
            <a:ext cx="4968000" cy="5074103"/>
          </a:xfrm>
        </p:spPr>
        <p:txBody>
          <a:bodyPr/>
          <a:lstStyle/>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US" sz="700" b="1" i="0" u="none" strike="noStrike" kern="1200" cap="none" spc="-20" normalizeH="0" baseline="0" noProof="0" dirty="0">
                <a:ln>
                  <a:noFill/>
                </a:ln>
                <a:solidFill>
                  <a:srgbClr val="1E49E2"/>
                </a:solidFill>
                <a:effectLst/>
                <a:uLnTx/>
                <a:uFillTx/>
                <a:latin typeface="Arial" panose="020B0604020202020204" pitchFamily="34" charset="0"/>
                <a:cs typeface="Arial" panose="020B0604020202020204" pitchFamily="34" charset="0"/>
              </a:rPr>
              <a:t>General</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Our report is for the benefit and information only of those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parties’ legal and other professional advisers) in respect of our work or the report.</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Our work commenced on [date] and our fieldwork for this report was completed on [date]. We have not undertaken to update our report for events or circumstances arising after that date.</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In preparing our report, our primary source has been Target’s internal management information and representations made to us by Management of Target. We do not accept responsibility for such information which remains the responsibility of Management. Details of our principal information sources are set out in the basis of preparation and we have satisfied ourselves, so far as possible, that the information presented in our report is consistent with other information that was made available to us in the course of our work in accordance with the terms of our Engagement Letter. We have not, however, sought to establish the reliability of the sources by reference to other evidence.</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This engagement is not an assurance engagement conducted in accordance with any generally accepted assurance standards and consequently no assurance opinion is expressed.</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The contents of this report have not been reviewed by the Management of Target and the factual accuracy of this report has not been confirmed by the Management./[The contents of this report have been reviewed by the Management of Target and the factual accuracy of this report has been confirmed.]</a:t>
            </a:r>
            <a:endParaRPr kumimoji="0" lang="en-GB" sz="700" b="0" i="1" u="none" strike="noStrike" kern="1200" cap="none" spc="-20" normalizeH="0" baseline="0" noProof="0" dirty="0">
              <a:ln>
                <a:noFill/>
              </a:ln>
              <a:solidFill>
                <a:srgbClr val="00FF44"/>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1" u="none" strike="noStrike" kern="1200" cap="none" spc="-20" normalizeH="0" baseline="0" noProof="0" dirty="0">
                <a:ln>
                  <a:noFill/>
                </a:ln>
                <a:solidFill>
                  <a:srgbClr val="FF0000"/>
                </a:solidFill>
                <a:effectLst/>
                <a:uLnTx/>
                <a:uFillTx/>
                <a:latin typeface="Arial" panose="020B0604020202020204" pitchFamily="34" charset="0"/>
                <a:cs typeface="Arial" panose="020B0604020202020204" pitchFamily="34" charset="0"/>
              </a:rPr>
              <a:t>[SIGNIFICANT LIMITATIONS IN INFORMATION AVAILABLE: </a:t>
            </a: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We draw your attention to the significant limitations in the information available to us.  [We have had no access to the premises of [Company].]  [We have had no access to the management and personnel of [Company].] [Access to the audit files has not been granted.] [Management information available was restricted to specified documents in a data room.] Outline limitations impacting the completion of our scope of work or relating to the quality of information, if any and cross-refer to Executive Summary detail]</a:t>
            </a:r>
          </a:p>
          <a:p>
            <a:pPr marL="0" marR="0" lvl="0" indent="0" algn="just" defTabSz="914400" rtl="0" eaLnBrk="1" fontAlgn="auto" latinLnBrk="0" hangingPunct="1">
              <a:lnSpc>
                <a:spcPts val="800"/>
              </a:lnSpc>
              <a:spcBef>
                <a:spcPts val="400"/>
              </a:spcBef>
              <a:spcAft>
                <a:spcPts val="0"/>
              </a:spcAft>
              <a:buClrTx/>
              <a:buSzTx/>
              <a:buFontTx/>
              <a:buNone/>
              <a:tabLst/>
              <a:defRPr/>
            </a:pPr>
            <a:r>
              <a:rPr lang="en-GB" sz="700" b="0" i="1" spc="-20" dirty="0">
                <a:solidFill>
                  <a:srgbClr val="FF0000"/>
                </a:solidFill>
                <a:latin typeface="Arial" panose="020B0604020202020204" pitchFamily="34" charset="0"/>
                <a:cs typeface="Arial" panose="020B0604020202020204" pitchFamily="34" charset="0"/>
              </a:rPr>
              <a:t>[ACCESS IS LIMITED TO A VDD REPORT ONLY: </a:t>
            </a: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Access to information has been restricted to a copy of the Vendor Due Diligence report prepared by [VDD preparer], dated [date] (‘the VDD report’).]</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a:t>
            </a:r>
            <a:r>
              <a:rPr lang="en-GB" sz="700" b="0" i="1" spc="-20" dirty="0">
                <a:solidFill>
                  <a:srgbClr val="FF0000"/>
                </a:solidFill>
                <a:latin typeface="Arial" panose="020B0604020202020204" pitchFamily="34" charset="0"/>
                <a:cs typeface="Arial" panose="020B0604020202020204" pitchFamily="34" charset="0"/>
              </a:rPr>
              <a:t>EXTENSIVE USE OF A VDD OR OTHER THIRD PARTY REPORT: </a:t>
            </a: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We understand that your primary source of [information / financial due diligence] on this transaction is the [VDD] report] prepared by [VDD preparer] dated [date] (the ‘[VDD] report'). You have requested us to assist you with supplemental analysis in certain specific areas as set out in the Engagement Letter. Our Scope of Work has comprised reading and considering [VDD preparer]’s findings in the [VDD] report, [reading certain documents available in the data room of information regarding the [Company]], [asking questions of [VDD preparer], and considering their answers], [attending management presentations and asking questions of the [Company's] management and considering their answers].  This is the limit of the work we have conducted in order to give you advice on issues arising from the matters either already reported to you by [VDD preparer], or on the further key issues identified by this work.  </a:t>
            </a:r>
          </a:p>
          <a:p>
            <a:pPr marL="0" marR="0" lvl="0" indent="0" algn="just" defTabSz="914400" rtl="0" eaLnBrk="1" fontAlgn="auto" latinLnBrk="0" hangingPunct="1">
              <a:lnSpc>
                <a:spcPts val="800"/>
              </a:lnSpc>
              <a:spcBef>
                <a:spcPts val="400"/>
              </a:spcBef>
              <a:spcAft>
                <a:spcPts val="0"/>
              </a:spcAft>
              <a:buClrTx/>
              <a:buSzTx/>
              <a:buFontTx/>
              <a:buNone/>
              <a:tabLs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Our work should therefore not be regarded as involving an investigation of the depth that [VDD preparer] have been engaged to perform. [Delete this sentence if the VDD preparer is a KPMG member firm Whilst you have a contractual relationship with [VDD preparer] we have no contractual relationship with [VDD preparer]. We have not re-performed any of [VDD preparer]’s work contained in the [VDD] report but we have made extensive use of it. We do not accept responsibility for the [VDD] report which remains the responsibility of [VDD preparer].]</a:t>
            </a: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endParaRPr kumimoji="0" lang="en-US"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11"/>
          </p:nvPr>
        </p:nvSpPr>
        <p:spPr>
          <a:xfrm>
            <a:off x="6220800" y="1152526"/>
            <a:ext cx="4968000" cy="5074102"/>
          </a:xfrm>
        </p:spPr>
        <p:txBody>
          <a:bodyPr/>
          <a:lstStyle/>
          <a:p>
            <a:pPr algn="just">
              <a:lnSpc>
                <a:spcPts val="800"/>
              </a:lnSpc>
              <a:spcBef>
                <a:spcPts val="400"/>
              </a:spcBef>
              <a:spcAft>
                <a:spcPts val="0"/>
              </a:spcAft>
              <a:defRPr/>
            </a:pP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[There are certain data room documents that we have read [in relation to current trading] which we understand were not considered by [VDD preparer] but these documents are very limited.]]</a:t>
            </a:r>
          </a:p>
          <a:p>
            <a:pPr marL="0" marR="0" lvl="0" indent="0" algn="just" defTabSz="914400" rtl="0" eaLnBrk="1" fontAlgn="auto" latinLnBrk="0" hangingPunct="1">
              <a:lnSpc>
                <a:spcPts val="800"/>
              </a:lnSpc>
              <a:spcBef>
                <a:spcPts val="400"/>
              </a:spcBef>
              <a:spcAft>
                <a:spcPts val="0"/>
              </a:spcAft>
              <a:buClrTx/>
              <a:buSzTx/>
              <a:buFontTx/>
              <a:buNone/>
              <a:tabLst/>
              <a:defRPr/>
            </a:pPr>
            <a:r>
              <a:rPr lang="en-GB" sz="700" b="0" i="1" spc="-20" dirty="0">
                <a:solidFill>
                  <a:srgbClr val="FF0000"/>
                </a:solidFill>
                <a:latin typeface="Arial" panose="020B0604020202020204" pitchFamily="34" charset="0"/>
                <a:cs typeface="Arial" panose="020B0604020202020204" pitchFamily="34" charset="0"/>
              </a:rPr>
              <a:t>[THE FINAL VERSION OF A THIRD PARTY REPORT IS NOT EXPECTED TO BE/HAS NOT BEEN SEEN: </a:t>
            </a: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The [VDD] report of [Insert name of other firm] dated [date] is in draft and we have not received their final report prior to issuing our report.  Accordingly, we cannot be held responsible for performing work on any matters that [Insert name of other firm] have since updated and new material included in their final report and we recommend you obtain and read the final [VDD] signed report.]]</a:t>
            </a:r>
          </a:p>
          <a:p>
            <a:pPr algn="just">
              <a:lnSpc>
                <a:spcPts val="800"/>
              </a:lnSpc>
              <a:spcBef>
                <a:spcPts val="400"/>
              </a:spcBef>
              <a:spcAft>
                <a:spcPts val="0"/>
              </a:spcAft>
              <a:defRPr/>
            </a:pPr>
            <a:r>
              <a:rPr lang="en-GB" sz="700" b="0" i="1" spc="-20" dirty="0">
                <a:solidFill>
                  <a:srgbClr val="FF0000"/>
                </a:solidFill>
                <a:latin typeface="Arial" panose="020B0604020202020204" pitchFamily="34" charset="0"/>
                <a:cs typeface="Arial" panose="020B0604020202020204" pitchFamily="34" charset="0"/>
              </a:rPr>
              <a:t>[REFERENCE TO FINDINGS OR REPORTS OF LEGAL OR OTHER PROFESSIONAL ADVISERS IN REPORT: </a:t>
            </a:r>
            <a:r>
              <a:rPr lang="en-GB" sz="700" b="0" spc="-20" dirty="0">
                <a:solidFill>
                  <a:srgbClr val="00338D"/>
                </a:solidFill>
                <a:latin typeface="Arial" panose="020B0604020202020204" pitchFamily="34" charset="0"/>
                <a:cs typeface="Arial" panose="020B0604020202020204" pitchFamily="34" charset="0"/>
              </a:rPr>
              <a:t>We accept no responsibility or liability for the findings or reports of legal and other professional advisers, even though we have referred to their findings and/or reports in our report.</a:t>
            </a:r>
          </a:p>
          <a:p>
            <a:pPr algn="just">
              <a:lnSpc>
                <a:spcPts val="800"/>
              </a:lnSpc>
              <a:spcBef>
                <a:spcPts val="400"/>
              </a:spcBef>
              <a:spcAft>
                <a:spcPts val="0"/>
              </a:spcAft>
              <a:defRPr/>
            </a:pPr>
            <a:r>
              <a:rPr lang="en-GB" sz="700" spc="-20" dirty="0">
                <a:solidFill>
                  <a:srgbClr val="1E49E2"/>
                </a:solidFill>
                <a:latin typeface="Arial" panose="020B0604020202020204" pitchFamily="34" charset="0"/>
                <a:cs typeface="Arial" panose="020B0604020202020204" pitchFamily="34" charset="0"/>
              </a:rPr>
              <a:t>KPMG Approach</a:t>
            </a:r>
          </a:p>
          <a:p>
            <a:pPr algn="just">
              <a:lnSpc>
                <a:spcPts val="800"/>
              </a:lnSpc>
              <a:spcBef>
                <a:spcPts val="400"/>
              </a:spcBef>
              <a:spcAft>
                <a:spcPts val="0"/>
              </a:spcAft>
              <a:defRPr/>
            </a:pPr>
            <a:r>
              <a:rPr lang="en-GB" sz="700" b="0" i="1" spc="-20" dirty="0">
                <a:solidFill>
                  <a:srgbClr val="FF0000"/>
                </a:solidFill>
                <a:latin typeface="Arial" panose="020B0604020202020204" pitchFamily="34" charset="0"/>
                <a:cs typeface="Arial" panose="020B0604020202020204" pitchFamily="34" charset="0"/>
              </a:rPr>
              <a:t>[CHANGE IN ACCOUNTING POLICIES: </a:t>
            </a:r>
            <a:r>
              <a:rPr kumimoji="0" lang="en-GB" sz="700" b="0" i="0" u="none" strike="noStrike" kern="1200" cap="none" spc="-20" normalizeH="0" baseline="0" noProof="0" dirty="0">
                <a:ln>
                  <a:noFill/>
                </a:ln>
                <a:solidFill>
                  <a:srgbClr val="00338D"/>
                </a:solidFill>
                <a:effectLst/>
                <a:uLnTx/>
                <a:uFillTx/>
                <a:latin typeface="Arial" panose="020B0604020202020204" pitchFamily="34" charset="0"/>
                <a:cs typeface="Arial" panose="020B0604020202020204" pitchFamily="34" charset="0"/>
              </a:rPr>
              <a:t>Our work has not considered the potential impact on Company's financial information [or that of the combined entity post transaction] of the transition to IFRS [or [specify other relevant accounting policies].]</a:t>
            </a:r>
            <a:endParaRPr lang="en-GB" sz="700" spc="-20" dirty="0">
              <a:solidFill>
                <a:srgbClr val="1E49E2"/>
              </a:solidFill>
              <a:latin typeface="Arial" panose="020B0604020202020204" pitchFamily="34" charset="0"/>
              <a:cs typeface="Arial" panose="020B0604020202020204" pitchFamily="34" charset="0"/>
            </a:endParaRPr>
          </a:p>
          <a:p>
            <a:pPr marL="0" marR="0" lvl="0" indent="0" algn="just" defTabSz="914400" rtl="0" eaLnBrk="1" fontAlgn="auto" latinLnBrk="0" hangingPunct="1">
              <a:lnSpc>
                <a:spcPts val="800"/>
              </a:lnSpc>
              <a:spcBef>
                <a:spcPts val="400"/>
              </a:spcBef>
              <a:spcAft>
                <a:spcPts val="0"/>
              </a:spcAft>
              <a:buClrTx/>
              <a:buSzTx/>
              <a:buFontTx/>
              <a:buNone/>
              <a:tabLst/>
              <a:defRPr/>
            </a:pPr>
            <a:r>
              <a:rPr lang="en-GB" sz="700" b="0" i="1" spc="-20" dirty="0">
                <a:solidFill>
                  <a:srgbClr val="FF0000"/>
                </a:solidFill>
                <a:latin typeface="Arial" panose="020B0604020202020204" pitchFamily="34" charset="0"/>
                <a:cs typeface="Arial" panose="020B0604020202020204" pitchFamily="34" charset="0"/>
              </a:rPr>
              <a:t>[KPMG ANALYSIS </a:t>
            </a:r>
            <a:r>
              <a:rPr lang="en-GB" sz="700" b="0" spc="-20" dirty="0">
                <a:solidFill>
                  <a:srgbClr val="00338D"/>
                </a:solidFill>
                <a:latin typeface="Arial" panose="020B0604020202020204" pitchFamily="34" charset="0"/>
                <a:cs typeface="Arial" panose="020B0604020202020204" pitchFamily="34" charset="0"/>
              </a:rPr>
              <a:t>Our report makes reference to ‘KPMG Analysis’; this indicates only that we have (where specified) undertaken certain analytical activities on the underlying data to arrive at the information presented; we do not accept responsibility for the underlying data.]</a:t>
            </a:r>
          </a:p>
          <a:p>
            <a:pPr marL="0" marR="0" lvl="0" indent="0" algn="just" defTabSz="914400" rtl="0" eaLnBrk="1" fontAlgn="auto" latinLnBrk="0" hangingPunct="1">
              <a:lnSpc>
                <a:spcPts val="800"/>
              </a:lnSpc>
              <a:spcBef>
                <a:spcPts val="400"/>
              </a:spcBef>
              <a:spcAft>
                <a:spcPts val="0"/>
              </a:spcAft>
              <a:buClrTx/>
              <a:buSzTx/>
              <a:buFontTx/>
              <a:buNone/>
              <a:tabLst/>
              <a:defRPr/>
            </a:pPr>
            <a:r>
              <a:rPr lang="en-GB" sz="700" b="0" i="1" spc="-20" dirty="0">
                <a:solidFill>
                  <a:srgbClr val="FF0000"/>
                </a:solidFill>
                <a:latin typeface="Arial" panose="020B0604020202020204" pitchFamily="34" charset="0"/>
                <a:cs typeface="Arial" panose="020B0604020202020204" pitchFamily="34" charset="0"/>
              </a:rPr>
              <a:t>[ANALYSIS OF NORMALISED EARNINGS, CASH FLOW OR WORKING CAPITAL, ADJUSTED NET DEBT OR LTM RUN RATE </a:t>
            </a:r>
            <a:r>
              <a:rPr lang="en-GB" sz="700" b="0" spc="-20" dirty="0">
                <a:solidFill>
                  <a:srgbClr val="00338D"/>
                </a:solidFill>
                <a:latin typeface="Arial" panose="020B0604020202020204" pitchFamily="34" charset="0"/>
                <a:cs typeface="Arial" panose="020B0604020202020204" pitchFamily="34" charset="0"/>
              </a:rPr>
              <a:t>The analysis of ['normalised'/'underlying'] earnings [, cash flow and working capital], [[adjusted][net debt]] [and] [[last twelve months/LTM] run rate]] contained in this report is for illustrative purposes only.  There is no authoritative literature or common standard with respect to the identification of items which may [constitute appropriate adjustments to [earnings[, cash flow and working capital] [be treated as ‘debt’ or  ‘net debt’][or] [be included in a calculation of ‘run rate’], and the decision as to which items should be included or excluded is highly subjective and judgemental. Furthermore, the items identified are necessarily limited to those that we have identified in course of the work performed by us, which is subject to the restrictions in scope as set out in the engagement letter and has been subject to limitations on our access and in the nature and extent of the information which has been made available to us.  Accordingly there is no basis on which to state whether, in the analysis presented, the items that have been included are appropriately included, or that all items that might be appropriately included have been included.  We have indicated in our report the basis on which items have been included, excluded or adjusted. You may choose to analyse the information presented differently.]</a:t>
            </a:r>
          </a:p>
          <a:p>
            <a:pPr marL="0" marR="0" lvl="0" indent="0" algn="just" defTabSz="914400" rtl="0" eaLnBrk="1" fontAlgn="auto" latinLnBrk="0" hangingPunct="1">
              <a:lnSpc>
                <a:spcPts val="800"/>
              </a:lnSpc>
              <a:spcBef>
                <a:spcPts val="400"/>
              </a:spcBef>
              <a:spcAft>
                <a:spcPts val="0"/>
              </a:spcAft>
              <a:buClrTx/>
              <a:buSzTx/>
              <a:buFontTx/>
              <a:buNone/>
              <a:tabLst/>
              <a:defRPr/>
            </a:pPr>
            <a:r>
              <a:rPr lang="en-GB" sz="700" b="0" i="1" spc="-20" dirty="0">
                <a:solidFill>
                  <a:srgbClr val="FF0000"/>
                </a:solidFill>
                <a:latin typeface="Arial" panose="020B0604020202020204" pitchFamily="34" charset="0"/>
                <a:cs typeface="Arial" panose="020B0604020202020204" pitchFamily="34" charset="0"/>
              </a:rPr>
              <a:t>[PROSPECTIVE FINANCIAL INFORMATION </a:t>
            </a:r>
            <a:r>
              <a:rPr lang="en-GB" sz="700" b="0" spc="-20" dirty="0">
                <a:solidFill>
                  <a:srgbClr val="00338D"/>
                </a:solidFill>
                <a:latin typeface="Arial" panose="020B0604020202020204" pitchFamily="34" charset="0"/>
                <a:cs typeface="Arial" panose="020B0604020202020204" pitchFamily="34" charset="0"/>
              </a:rPr>
              <a:t>The prospective financial information set out within our report has been prepared by [Company/Target]; we do not accept responsibility for such information.  We must emphasise that the realisation of the prospective financial information is dependent on the continuing validity of the assumptions on which it is based. The assumptions will need to be reviewed and revised to reflect the impact of any changes that emerge in trading patterns, cost structures, the direction of the business or its competitive environment, or in macroeconomic or geopolitical factors, or to reflect the occurrence of natural or man-made events or incidents that affect the business. We accept no responsibility for the realisation of the prospective financial information.  Actual results are likely to be different from those shown in the prospective financial information because events and circumstances frequently do not occur as expected, and the differences may be material.]</a:t>
            </a:r>
          </a:p>
          <a:p>
            <a:pPr lvl="1" algn="just">
              <a:spcBef>
                <a:spcPts val="400"/>
              </a:spcBef>
              <a:spcAft>
                <a:spcPts val="0"/>
              </a:spcAft>
            </a:pPr>
            <a:endParaRPr lang="en-GB" sz="700" b="0" dirty="0">
              <a:solidFill>
                <a:srgbClr val="FF0000"/>
              </a:solidFill>
              <a:latin typeface="Arial" panose="020B0604020202020204" pitchFamily="34" charset="0"/>
              <a:cs typeface="Arial" panose="020B0604020202020204" pitchFamily="34" charset="0"/>
            </a:endParaRPr>
          </a:p>
        </p:txBody>
      </p:sp>
      <p:sp>
        <p:nvSpPr>
          <p:cNvPr id="24" name="Rectangle 23">
            <a:hlinkClick r:id="" action="ppaction://noaction"/>
            <a:extLst>
              <a:ext uri="{FF2B5EF4-FFF2-40B4-BE49-F238E27FC236}">
                <a16:creationId xmlns:a16="http://schemas.microsoft.com/office/drawing/2014/main" id="{CEC1EFE2-0769-49FD-9453-40038FFAEBFE}"/>
              </a:ext>
            </a:extLst>
          </p:cNvPr>
          <p:cNvSpPr/>
          <p:nvPr/>
        </p:nvSpPr>
        <p:spPr>
          <a:xfrm>
            <a:off x="2213396" y="214180"/>
            <a:ext cx="106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5" name="Rectangle 24">
            <a:hlinkClick r:id="" action="ppaction://noaction"/>
            <a:extLst>
              <a:ext uri="{FF2B5EF4-FFF2-40B4-BE49-F238E27FC236}">
                <a16:creationId xmlns:a16="http://schemas.microsoft.com/office/drawing/2014/main" id="{DBF162EB-7002-4A71-A802-A4CFA9E780B4}"/>
              </a:ext>
            </a:extLst>
          </p:cNvPr>
          <p:cNvSpPr/>
          <p:nvPr/>
        </p:nvSpPr>
        <p:spPr>
          <a:xfrm>
            <a:off x="4418052" y="214180"/>
            <a:ext cx="91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6" name="Rectangle 25">
            <a:hlinkClick r:id="" action="ppaction://noaction"/>
            <a:extLst>
              <a:ext uri="{FF2B5EF4-FFF2-40B4-BE49-F238E27FC236}">
                <a16:creationId xmlns:a16="http://schemas.microsoft.com/office/drawing/2014/main" id="{FB64B8F9-51B1-48E2-854B-FD142EEC1E20}"/>
              </a:ext>
            </a:extLst>
          </p:cNvPr>
          <p:cNvSpPr/>
          <p:nvPr/>
        </p:nvSpPr>
        <p:spPr>
          <a:xfrm>
            <a:off x="7882384" y="214180"/>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7" name="Rectangle 26">
            <a:hlinkClick r:id="" action="ppaction://noaction"/>
            <a:extLst>
              <a:ext uri="{FF2B5EF4-FFF2-40B4-BE49-F238E27FC236}">
                <a16:creationId xmlns:a16="http://schemas.microsoft.com/office/drawing/2014/main" id="{43CA82B2-45A9-4107-9712-B471D1EAEE3B}"/>
              </a:ext>
            </a:extLst>
          </p:cNvPr>
          <p:cNvSpPr/>
          <p:nvPr/>
        </p:nvSpPr>
        <p:spPr>
          <a:xfrm>
            <a:off x="8537299" y="214180"/>
            <a:ext cx="82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8" name="Rectangle 27">
            <a:hlinkClick r:id="" action="ppaction://noaction"/>
            <a:extLst>
              <a:ext uri="{FF2B5EF4-FFF2-40B4-BE49-F238E27FC236}">
                <a16:creationId xmlns:a16="http://schemas.microsoft.com/office/drawing/2014/main" id="{629832DE-025B-47B8-8099-E22ED4C7BEA3}"/>
              </a:ext>
            </a:extLst>
          </p:cNvPr>
          <p:cNvSpPr/>
          <p:nvPr/>
        </p:nvSpPr>
        <p:spPr>
          <a:xfrm>
            <a:off x="5381749" y="214180"/>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9" name="Rectangle 28">
            <a:hlinkClick r:id="rId6" action="ppaction://hlinksldjump"/>
            <a:extLst>
              <a:ext uri="{FF2B5EF4-FFF2-40B4-BE49-F238E27FC236}">
                <a16:creationId xmlns:a16="http://schemas.microsoft.com/office/drawing/2014/main" id="{8479E65B-8456-4340-93AD-5191C00EA17E}"/>
              </a:ext>
            </a:extLst>
          </p:cNvPr>
          <p:cNvSpPr/>
          <p:nvPr/>
        </p:nvSpPr>
        <p:spPr>
          <a:xfrm>
            <a:off x="990941" y="214180"/>
            <a:ext cx="117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3" name="Rectangle 32">
            <a:hlinkClick r:id="" action="ppaction://noaction"/>
            <a:extLst>
              <a:ext uri="{FF2B5EF4-FFF2-40B4-BE49-F238E27FC236}">
                <a16:creationId xmlns:a16="http://schemas.microsoft.com/office/drawing/2014/main" id="{C471C6F0-EBE6-4189-BD2C-C1C12BBCF50B}"/>
              </a:ext>
            </a:extLst>
          </p:cNvPr>
          <p:cNvSpPr/>
          <p:nvPr/>
        </p:nvSpPr>
        <p:spPr>
          <a:xfrm>
            <a:off x="3323100" y="214180"/>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4" name="Rectangle 33">
            <a:hlinkClick r:id="" action="ppaction://noaction"/>
            <a:extLst>
              <a:ext uri="{FF2B5EF4-FFF2-40B4-BE49-F238E27FC236}">
                <a16:creationId xmlns:a16="http://schemas.microsoft.com/office/drawing/2014/main" id="{2E8D149A-3A5D-4FF0-A5AE-2A3F3AF251B2}"/>
              </a:ext>
            </a:extLst>
          </p:cNvPr>
          <p:cNvSpPr/>
          <p:nvPr/>
        </p:nvSpPr>
        <p:spPr>
          <a:xfrm>
            <a:off x="6170323" y="214180"/>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5" name="Rectangle 34">
            <a:hlinkClick r:id="" action="ppaction://noaction"/>
            <a:extLst>
              <a:ext uri="{FF2B5EF4-FFF2-40B4-BE49-F238E27FC236}">
                <a16:creationId xmlns:a16="http://schemas.microsoft.com/office/drawing/2014/main" id="{362D0316-BF8C-42D9-939C-E1425E8348D3}"/>
              </a:ext>
            </a:extLst>
          </p:cNvPr>
          <p:cNvSpPr/>
          <p:nvPr/>
        </p:nvSpPr>
        <p:spPr>
          <a:xfrm>
            <a:off x="6894106" y="214180"/>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grpSp>
        <p:nvGrpSpPr>
          <p:cNvPr id="4" name="Group 3">
            <a:extLst>
              <a:ext uri="{FF2B5EF4-FFF2-40B4-BE49-F238E27FC236}">
                <a16:creationId xmlns:a16="http://schemas.microsoft.com/office/drawing/2014/main" id="{DF28B0A9-C8D3-4838-B1A8-20E1B98F8DC5}"/>
              </a:ext>
            </a:extLst>
          </p:cNvPr>
          <p:cNvGrpSpPr/>
          <p:nvPr>
            <p:custDataLst>
              <p:tags r:id="rId2"/>
            </p:custDataLst>
          </p:nvPr>
        </p:nvGrpSpPr>
        <p:grpSpPr>
          <a:xfrm>
            <a:off x="995364" y="153170"/>
            <a:ext cx="6213178" cy="195814"/>
            <a:chOff x="995364" y="153170"/>
            <a:chExt cx="6213178" cy="195814"/>
          </a:xfrm>
        </p:grpSpPr>
        <p:sp>
          <p:nvSpPr>
            <p:cNvPr id="3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1"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5"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761961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8400" y="431800"/>
            <a:ext cx="10195200" cy="533400"/>
          </a:xfrm>
        </p:spPr>
        <p:txBody>
          <a:bodyPr/>
          <a:lstStyle/>
          <a:p>
            <a:r>
              <a:rPr lang="en-US" dirty="0"/>
              <a:t>Basis of preparation</a:t>
            </a:r>
          </a:p>
        </p:txBody>
      </p:sp>
      <p:sp>
        <p:nvSpPr>
          <p:cNvPr id="96" name="UpSlide SubSection Marker" hidden="1">
            <a:extLst>
              <a:ext uri="{FF2B5EF4-FFF2-40B4-BE49-F238E27FC236}">
                <a16:creationId xmlns:a16="http://schemas.microsoft.com/office/drawing/2014/main" id="{DCD4B608-2B7A-E89E-AC22-AFC9E18579F6}"/>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GB" sz="1600">
                <a:solidFill>
                  <a:schemeClr val="bg1"/>
                </a:solidFill>
              </a:rPr>
              <a:t>Engagement</a:t>
            </a:r>
            <a:endParaRPr lang="en-US" sz="1600" dirty="0">
              <a:solidFill>
                <a:schemeClr val="bg1"/>
              </a:solidFill>
            </a:endParaRPr>
          </a:p>
        </p:txBody>
      </p:sp>
      <p:sp>
        <p:nvSpPr>
          <p:cNvPr id="78" name="Text Placeholder 5">
            <a:extLst>
              <a:ext uri="{FF2B5EF4-FFF2-40B4-BE49-F238E27FC236}">
                <a16:creationId xmlns:a16="http://schemas.microsoft.com/office/drawing/2014/main" id="{92F9C0EB-31B7-3146-99B5-4B19DF8904E9}"/>
              </a:ext>
            </a:extLst>
          </p:cNvPr>
          <p:cNvSpPr txBox="1">
            <a:spLocks/>
          </p:cNvSpPr>
          <p:nvPr/>
        </p:nvSpPr>
        <p:spPr>
          <a:xfrm>
            <a:off x="3683979" y="1330324"/>
            <a:ext cx="7509485" cy="1514477"/>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Arial"/>
                <a:ea typeface="+mn-ea"/>
                <a:cs typeface="+mn-cs"/>
              </a:rPr>
              <a:t>KPMG LLP (‘KPMG’) has been engaged by CLIENT to prepare a financial and tax due diligence report in connection with the potential acquisition of TARGET(‘Target’). This report has been prepared in accordance with our engagement letter dated [</a:t>
            </a:r>
            <a:r>
              <a:rPr kumimoji="0" lang="en-US" b="0" i="0" u="none" strike="noStrike" kern="1200" cap="none" spc="0" normalizeH="0" baseline="0" noProof="0" dirty="0">
                <a:ln>
                  <a:noFill/>
                </a:ln>
                <a:solidFill>
                  <a:srgbClr val="FD349C"/>
                </a:solidFill>
                <a:effectLst/>
                <a:uLnTx/>
                <a:uFillTx/>
                <a:latin typeface="Arial"/>
                <a:ea typeface="+mn-ea"/>
                <a:cs typeface="+mn-cs"/>
              </a:rPr>
              <a:t>date</a:t>
            </a:r>
            <a:r>
              <a:rPr lang="en-US" dirty="0">
                <a:solidFill>
                  <a:srgbClr val="000000"/>
                </a:solidFill>
                <a:latin typeface="Arial"/>
              </a:rPr>
              <a:t>]. </a:t>
            </a:r>
            <a:r>
              <a:rPr kumimoji="0" lang="en-US" b="0" i="0" u="none" strike="noStrike" kern="1200" cap="none" spc="0" normalizeH="0" baseline="0" noProof="0" dirty="0">
                <a:ln>
                  <a:noFill/>
                </a:ln>
                <a:solidFill>
                  <a:srgbClr val="000000"/>
                </a:solidFill>
                <a:effectLst/>
                <a:uLnTx/>
                <a:uFillTx/>
                <a:latin typeface="Arial"/>
                <a:ea typeface="+mn-ea"/>
                <a:cs typeface="+mn-cs"/>
              </a:rPr>
              <a:t>Please refer to our detailed </a:t>
            </a:r>
            <a:r>
              <a:rPr kumimoji="0" lang="en-US" b="0" i="0" u="none" strike="noStrike" kern="1200" cap="none" spc="0" normalizeH="0" baseline="0" noProof="0" dirty="0">
                <a:ln>
                  <a:noFill/>
                </a:ln>
                <a:solidFill>
                  <a:srgbClr val="000000"/>
                </a:solidFill>
                <a:effectLst/>
                <a:uLnTx/>
                <a:uFillTx/>
                <a:latin typeface="Arial"/>
                <a:ea typeface="+mn-ea"/>
                <a:cs typeface="+mn-cs"/>
                <a:hlinkClick r:id="rId5" action="ppaction://hlinksldjump"/>
              </a:rPr>
              <a:t>scope of work </a:t>
            </a:r>
            <a:r>
              <a:rPr kumimoji="0" lang="en-GB" b="0" i="0" u="none" strike="noStrike" kern="1200" cap="none" spc="0" normalizeH="0" baseline="0" noProof="0" dirty="0">
                <a:ln>
                  <a:noFill/>
                </a:ln>
                <a:solidFill>
                  <a:srgbClr val="000000"/>
                </a:solidFill>
                <a:effectLst/>
                <a:uLnTx/>
                <a:uFillTx/>
                <a:latin typeface="Arial"/>
                <a:ea typeface="+mn-ea"/>
                <a:cs typeface="+mn-cs"/>
              </a:rPr>
              <a:t>which sets out the status of our work and the impact of access or information limitations. </a:t>
            </a:r>
            <a:endParaRPr kumimoji="0" lang="en-US" b="0" i="0" u="none" strike="noStrike" kern="1200" cap="none" spc="0" normalizeH="0" baseline="0" noProof="0" dirty="0">
              <a:ln>
                <a:noFill/>
              </a:ln>
              <a:solidFill>
                <a:srgbClr val="000000"/>
              </a:solidFill>
              <a:effectLst/>
              <a:uLnTx/>
              <a:uFillTx/>
              <a:latin typeface="Arial"/>
              <a:ea typeface="+mn-ea"/>
              <a:cs typeface="+mn-cs"/>
            </a:endParaRPr>
          </a:p>
        </p:txBody>
      </p:sp>
      <p:sp>
        <p:nvSpPr>
          <p:cNvPr id="79" name="Text Placeholder 11">
            <a:extLst>
              <a:ext uri="{FF2B5EF4-FFF2-40B4-BE49-F238E27FC236}">
                <a16:creationId xmlns:a16="http://schemas.microsoft.com/office/drawing/2014/main" id="{63D4B6AA-403B-45C1-3F4B-312E981A07E2}"/>
              </a:ext>
            </a:extLst>
          </p:cNvPr>
          <p:cNvSpPr txBox="1">
            <a:spLocks/>
          </p:cNvSpPr>
          <p:nvPr/>
        </p:nvSpPr>
        <p:spPr>
          <a:xfrm>
            <a:off x="3683979" y="3145667"/>
            <a:ext cx="7515836"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During the course of our work our main points of contact have been the Management of Target, represented by [</a:t>
            </a:r>
            <a:r>
              <a:rPr lang="en-US" dirty="0">
                <a:solidFill>
                  <a:schemeClr val="accent6"/>
                </a:solidFill>
              </a:rPr>
              <a:t>XX and YY</a:t>
            </a:r>
            <a:r>
              <a:rPr lang="en-US" dirty="0"/>
              <a:t>]. </a:t>
            </a:r>
          </a:p>
          <a:p>
            <a:r>
              <a:rPr lang="en-US" dirty="0"/>
              <a:t>We attended a meeting with Management on [</a:t>
            </a:r>
            <a:r>
              <a:rPr lang="en-US" dirty="0">
                <a:solidFill>
                  <a:schemeClr val="accent6"/>
                </a:solidFill>
              </a:rPr>
              <a:t>date</a:t>
            </a:r>
            <a:r>
              <a:rPr lang="en-US" dirty="0"/>
              <a:t>], and have had regular follow-up calls with Management and communication through email.</a:t>
            </a:r>
          </a:p>
          <a:p>
            <a:r>
              <a:rPr lang="en-US" dirty="0"/>
              <a:t>The contents of our report have not been reviewed by the Management of Target and the factual accuracy of this report has not been confirmed by the Management</a:t>
            </a:r>
            <a:r>
              <a:rPr lang="en-US" dirty="0">
                <a:solidFill>
                  <a:schemeClr val="accent6"/>
                </a:solidFill>
              </a:rPr>
              <a:t>.</a:t>
            </a:r>
            <a:endParaRPr lang="en-US" dirty="0"/>
          </a:p>
        </p:txBody>
      </p:sp>
      <p:sp>
        <p:nvSpPr>
          <p:cNvPr id="80" name="Text Placeholder 12">
            <a:extLst>
              <a:ext uri="{FF2B5EF4-FFF2-40B4-BE49-F238E27FC236}">
                <a16:creationId xmlns:a16="http://schemas.microsoft.com/office/drawing/2014/main" id="{D94C1F1B-1020-A7DD-D421-DAC1E1933B24}"/>
              </a:ext>
            </a:extLst>
          </p:cNvPr>
          <p:cNvSpPr txBox="1">
            <a:spLocks/>
          </p:cNvSpPr>
          <p:nvPr/>
        </p:nvSpPr>
        <p:spPr>
          <a:xfrm>
            <a:off x="3683979" y="4634514"/>
            <a:ext cx="7509484" cy="1183808"/>
          </a:xfrm>
          <a:prstGeom prst="rect">
            <a:avLst/>
          </a:prstGeom>
        </p:spPr>
        <p:txBody>
          <a:bodyPr vert="horz" lIns="72000" tIns="0" rIns="7200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The requested information has been provided through the virtual data room. As of the date of this report, all available requested information has been provided in a timely manner.</a:t>
            </a:r>
          </a:p>
          <a:p>
            <a:r>
              <a:rPr lang="en-US" dirty="0"/>
              <a:t>Our work has relied on certain key sources of information including, but not limited to; (1) [</a:t>
            </a:r>
            <a:r>
              <a:rPr lang="en-US" dirty="0">
                <a:solidFill>
                  <a:schemeClr val="accent6"/>
                </a:solidFill>
              </a:rPr>
              <a:t>XXXXX, (2) XXXXX, and (3) XXXXX</a:t>
            </a:r>
            <a:r>
              <a:rPr lang="en-US" dirty="0"/>
              <a:t>]. We have had access to granular and relevant data i.e., transactional level, which in our view has formed a good basis for </a:t>
            </a:r>
            <a:r>
              <a:rPr lang="en-US" dirty="0" err="1"/>
              <a:t>analysing</a:t>
            </a:r>
            <a:r>
              <a:rPr lang="en-US" dirty="0"/>
              <a:t> the key drivers of the business.</a:t>
            </a:r>
          </a:p>
        </p:txBody>
      </p:sp>
      <p:sp>
        <p:nvSpPr>
          <p:cNvPr id="81" name="Text Placeholder 13">
            <a:extLst>
              <a:ext uri="{FF2B5EF4-FFF2-40B4-BE49-F238E27FC236}">
                <a16:creationId xmlns:a16="http://schemas.microsoft.com/office/drawing/2014/main" id="{FF311E7C-79D6-E071-2529-DF1B38A9EFF3}"/>
              </a:ext>
            </a:extLst>
          </p:cNvPr>
          <p:cNvSpPr txBox="1">
            <a:spLocks/>
          </p:cNvSpPr>
          <p:nvPr/>
        </p:nvSpPr>
        <p:spPr>
          <a:xfrm>
            <a:off x="998401" y="1330324"/>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u="none" strike="noStrike" kern="1200" cap="none" spc="0" normalizeH="0" baseline="0" noProof="0">
                <a:ln>
                  <a:noFill/>
                </a:ln>
                <a:solidFill>
                  <a:srgbClr val="00338D"/>
                </a:solidFill>
                <a:effectLst/>
                <a:uLnTx/>
                <a:uFillTx/>
                <a:latin typeface="KPMG Bold"/>
                <a:ea typeface="+mn-ea"/>
                <a:cs typeface="+mn-cs"/>
              </a:rPr>
              <a:t>Scope of work</a:t>
            </a:r>
            <a:endParaRPr kumimoji="0" lang="en-IN" sz="2800" b="0" i="0" u="none" strike="noStrike" kern="1200" cap="none" spc="0" normalizeH="0" baseline="0" noProof="0" dirty="0">
              <a:ln>
                <a:noFill/>
              </a:ln>
              <a:solidFill>
                <a:srgbClr val="00338D"/>
              </a:solidFill>
              <a:effectLst/>
              <a:uLnTx/>
              <a:uFillTx/>
              <a:latin typeface="KPMG Bold"/>
              <a:ea typeface="+mn-ea"/>
              <a:cs typeface="+mn-cs"/>
            </a:endParaRPr>
          </a:p>
        </p:txBody>
      </p:sp>
      <p:sp>
        <p:nvSpPr>
          <p:cNvPr id="82" name="Text Placeholder 14">
            <a:extLst>
              <a:ext uri="{FF2B5EF4-FFF2-40B4-BE49-F238E27FC236}">
                <a16:creationId xmlns:a16="http://schemas.microsoft.com/office/drawing/2014/main" id="{FA15E99B-69C6-8DB2-FB94-6511BBA1FF88}"/>
              </a:ext>
            </a:extLst>
          </p:cNvPr>
          <p:cNvSpPr txBox="1">
            <a:spLocks/>
          </p:cNvSpPr>
          <p:nvPr/>
        </p:nvSpPr>
        <p:spPr>
          <a:xfrm>
            <a:off x="998401" y="3145667"/>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4"/>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4"/>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a:ln>
                  <a:noFill/>
                </a:ln>
                <a:solidFill>
                  <a:srgbClr val="00B8F5"/>
                </a:solidFill>
                <a:effectLst/>
                <a:uLnTx/>
                <a:uFillTx/>
                <a:latin typeface="KPMG Bold"/>
                <a:ea typeface="+mn-ea"/>
                <a:cs typeface="+mn-cs"/>
              </a:rPr>
              <a:t>Access to management</a:t>
            </a:r>
            <a:endParaRPr kumimoji="0" lang="en-US" sz="2800" b="0" i="0" u="none" strike="noStrike" kern="1200" cap="none" spc="0" normalizeH="0" baseline="0" noProof="0" dirty="0">
              <a:ln>
                <a:noFill/>
              </a:ln>
              <a:solidFill>
                <a:srgbClr val="00B8F5"/>
              </a:solidFill>
              <a:effectLst/>
              <a:uLnTx/>
              <a:uFillTx/>
              <a:latin typeface="KPMG Bold"/>
              <a:ea typeface="+mn-ea"/>
              <a:cs typeface="+mn-cs"/>
            </a:endParaRPr>
          </a:p>
        </p:txBody>
      </p:sp>
      <p:sp>
        <p:nvSpPr>
          <p:cNvPr id="83" name="Text Placeholder 15">
            <a:extLst>
              <a:ext uri="{FF2B5EF4-FFF2-40B4-BE49-F238E27FC236}">
                <a16:creationId xmlns:a16="http://schemas.microsoft.com/office/drawing/2014/main" id="{231F8A83-990F-466C-B96C-C89489FBEE8B}"/>
              </a:ext>
            </a:extLst>
          </p:cNvPr>
          <p:cNvSpPr txBox="1">
            <a:spLocks/>
          </p:cNvSpPr>
          <p:nvPr/>
        </p:nvSpPr>
        <p:spPr>
          <a:xfrm>
            <a:off x="998401" y="4620481"/>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accent5"/>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accent5"/>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7213EA"/>
                </a:solidFill>
                <a:effectLst/>
                <a:uLnTx/>
                <a:uFillTx/>
                <a:latin typeface="KPMG Bold"/>
                <a:ea typeface="+mn-ea"/>
                <a:cs typeface="+mn-cs"/>
              </a:rPr>
              <a:t>Access to information</a:t>
            </a:r>
          </a:p>
        </p:txBody>
      </p:sp>
      <p:cxnSp>
        <p:nvCxnSpPr>
          <p:cNvPr id="4" name="Straight Connector 3">
            <a:extLst>
              <a:ext uri="{FF2B5EF4-FFF2-40B4-BE49-F238E27FC236}">
                <a16:creationId xmlns:a16="http://schemas.microsoft.com/office/drawing/2014/main" id="{4CB4D851-885A-45AC-842D-BF0FFC1001A0}"/>
              </a:ext>
            </a:extLst>
          </p:cNvPr>
          <p:cNvCxnSpPr/>
          <p:nvPr/>
        </p:nvCxnSpPr>
        <p:spPr>
          <a:xfrm>
            <a:off x="966146" y="4464844"/>
            <a:ext cx="10099523" cy="0"/>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35624C0D-9C7C-415F-BFE7-410CB44798B4}"/>
              </a:ext>
            </a:extLst>
          </p:cNvPr>
          <p:cNvCxnSpPr/>
          <p:nvPr/>
        </p:nvCxnSpPr>
        <p:spPr>
          <a:xfrm>
            <a:off x="954247" y="2817767"/>
            <a:ext cx="10099523" cy="0"/>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1" name="Text Placeholder 6">
            <a:extLst>
              <a:ext uri="{FF2B5EF4-FFF2-40B4-BE49-F238E27FC236}">
                <a16:creationId xmlns:a16="http://schemas.microsoft.com/office/drawing/2014/main" id="{E8FA87DB-66FE-4AC1-9BB0-72742FCEFFA5}"/>
              </a:ext>
            </a:extLst>
          </p:cNvPr>
          <p:cNvSpPr txBox="1">
            <a:spLocks/>
          </p:cNvSpPr>
          <p:nvPr/>
        </p:nvSpPr>
        <p:spPr>
          <a:xfrm>
            <a:off x="966998" y="2317003"/>
            <a:ext cx="57547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Restricted</a:t>
            </a:r>
          </a:p>
        </p:txBody>
      </p:sp>
      <p:sp>
        <p:nvSpPr>
          <p:cNvPr id="42" name="Text Placeholder 6">
            <a:extLst>
              <a:ext uri="{FF2B5EF4-FFF2-40B4-BE49-F238E27FC236}">
                <a16:creationId xmlns:a16="http://schemas.microsoft.com/office/drawing/2014/main" id="{2E2E089A-321E-4533-81CE-F800CFC9B772}"/>
              </a:ext>
            </a:extLst>
          </p:cNvPr>
          <p:cNvSpPr txBox="1">
            <a:spLocks/>
          </p:cNvSpPr>
          <p:nvPr/>
        </p:nvSpPr>
        <p:spPr>
          <a:xfrm>
            <a:off x="2763065" y="2317003"/>
            <a:ext cx="61875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Customary</a:t>
            </a:r>
          </a:p>
        </p:txBody>
      </p:sp>
      <p:sp>
        <p:nvSpPr>
          <p:cNvPr id="43" name="Rectangle: Rounded Corners 42">
            <a:extLst>
              <a:ext uri="{FF2B5EF4-FFF2-40B4-BE49-F238E27FC236}">
                <a16:creationId xmlns:a16="http://schemas.microsoft.com/office/drawing/2014/main" id="{C2EE5FEA-4253-4634-8F90-3C179A911506}"/>
              </a:ext>
            </a:extLst>
          </p:cNvPr>
          <p:cNvSpPr/>
          <p:nvPr/>
        </p:nvSpPr>
        <p:spPr>
          <a:xfrm>
            <a:off x="2771954" y="1940448"/>
            <a:ext cx="600981" cy="20811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4" name="Rectangle: Rounded Corners 43">
            <a:extLst>
              <a:ext uri="{FF2B5EF4-FFF2-40B4-BE49-F238E27FC236}">
                <a16:creationId xmlns:a16="http://schemas.microsoft.com/office/drawing/2014/main" id="{62EE3A70-49DD-429E-BD9E-A039B55D5383}"/>
              </a:ext>
            </a:extLst>
          </p:cNvPr>
          <p:cNvSpPr/>
          <p:nvPr/>
        </p:nvSpPr>
        <p:spPr>
          <a:xfrm>
            <a:off x="954247" y="1940448"/>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5" name="Rectangle: Rounded Corners 44">
            <a:extLst>
              <a:ext uri="{FF2B5EF4-FFF2-40B4-BE49-F238E27FC236}">
                <a16:creationId xmlns:a16="http://schemas.microsoft.com/office/drawing/2014/main" id="{C7E912D2-5057-400F-8FB1-B8E6C6845B98}"/>
              </a:ext>
            </a:extLst>
          </p:cNvPr>
          <p:cNvSpPr/>
          <p:nvPr/>
        </p:nvSpPr>
        <p:spPr>
          <a:xfrm>
            <a:off x="1856504" y="1940448"/>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46" name="Text Placeholder 6">
            <a:extLst>
              <a:ext uri="{FF2B5EF4-FFF2-40B4-BE49-F238E27FC236}">
                <a16:creationId xmlns:a16="http://schemas.microsoft.com/office/drawing/2014/main" id="{D8E8F07F-D49F-4C10-A9D1-D1E892EA1A3E}"/>
              </a:ext>
            </a:extLst>
          </p:cNvPr>
          <p:cNvSpPr txBox="1">
            <a:spLocks/>
          </p:cNvSpPr>
          <p:nvPr/>
        </p:nvSpPr>
        <p:spPr>
          <a:xfrm>
            <a:off x="1887690" y="2317003"/>
            <a:ext cx="53860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Moderate</a:t>
            </a:r>
          </a:p>
        </p:txBody>
      </p:sp>
      <p:sp>
        <p:nvSpPr>
          <p:cNvPr id="47" name="Text Placeholder 6">
            <a:extLst>
              <a:ext uri="{FF2B5EF4-FFF2-40B4-BE49-F238E27FC236}">
                <a16:creationId xmlns:a16="http://schemas.microsoft.com/office/drawing/2014/main" id="{896406A1-D2AF-4151-9512-6B60F4C2C152}"/>
              </a:ext>
            </a:extLst>
          </p:cNvPr>
          <p:cNvSpPr txBox="1">
            <a:spLocks/>
          </p:cNvSpPr>
          <p:nvPr/>
        </p:nvSpPr>
        <p:spPr>
          <a:xfrm>
            <a:off x="1011243" y="4015062"/>
            <a:ext cx="304571"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None</a:t>
            </a:r>
          </a:p>
        </p:txBody>
      </p:sp>
      <p:sp>
        <p:nvSpPr>
          <p:cNvPr id="48" name="Text Placeholder 6">
            <a:extLst>
              <a:ext uri="{FF2B5EF4-FFF2-40B4-BE49-F238E27FC236}">
                <a16:creationId xmlns:a16="http://schemas.microsoft.com/office/drawing/2014/main" id="{372A5298-18BA-4E75-914B-0B57A38C9DB0}"/>
              </a:ext>
            </a:extLst>
          </p:cNvPr>
          <p:cNvSpPr txBox="1">
            <a:spLocks/>
          </p:cNvSpPr>
          <p:nvPr/>
        </p:nvSpPr>
        <p:spPr>
          <a:xfrm>
            <a:off x="2856701" y="4015062"/>
            <a:ext cx="310983"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Good</a:t>
            </a:r>
          </a:p>
        </p:txBody>
      </p:sp>
      <p:sp>
        <p:nvSpPr>
          <p:cNvPr id="49" name="Rectangle: Rounded Corners 48">
            <a:extLst>
              <a:ext uri="{FF2B5EF4-FFF2-40B4-BE49-F238E27FC236}">
                <a16:creationId xmlns:a16="http://schemas.microsoft.com/office/drawing/2014/main" id="{3581FFF4-FBD3-45D2-BDE5-71483609D064}"/>
              </a:ext>
            </a:extLst>
          </p:cNvPr>
          <p:cNvSpPr/>
          <p:nvPr/>
        </p:nvSpPr>
        <p:spPr>
          <a:xfrm>
            <a:off x="2726527" y="3631375"/>
            <a:ext cx="600981" cy="208110"/>
          </a:xfrm>
          <a:prstGeom prst="roundRect">
            <a:avLst>
              <a:gd name="adj" fmla="val 50000"/>
            </a:avLst>
          </a:prstGeom>
          <a:solidFill>
            <a:srgbClr val="0091DA"/>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0" name="Rectangle: Rounded Corners 49">
            <a:extLst>
              <a:ext uri="{FF2B5EF4-FFF2-40B4-BE49-F238E27FC236}">
                <a16:creationId xmlns:a16="http://schemas.microsoft.com/office/drawing/2014/main" id="{EC263F4A-0AD1-496C-A786-DE99496D1AC5}"/>
              </a:ext>
            </a:extLst>
          </p:cNvPr>
          <p:cNvSpPr/>
          <p:nvPr/>
        </p:nvSpPr>
        <p:spPr>
          <a:xfrm>
            <a:off x="966146" y="3645640"/>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1" name="Rectangle: Rounded Corners 50">
            <a:extLst>
              <a:ext uri="{FF2B5EF4-FFF2-40B4-BE49-F238E27FC236}">
                <a16:creationId xmlns:a16="http://schemas.microsoft.com/office/drawing/2014/main" id="{29E6636E-08BD-4E36-9B58-CE242575BD37}"/>
              </a:ext>
            </a:extLst>
          </p:cNvPr>
          <p:cNvSpPr/>
          <p:nvPr/>
        </p:nvSpPr>
        <p:spPr>
          <a:xfrm>
            <a:off x="1832625" y="3638289"/>
            <a:ext cx="600981" cy="208110"/>
          </a:xfrm>
          <a:prstGeom prst="roundRect">
            <a:avLst>
              <a:gd name="adj" fmla="val 50000"/>
            </a:avLst>
          </a:prstGeom>
          <a:solidFill>
            <a:schemeClr val="bg1">
              <a:lumMod val="85000"/>
            </a:schemeClr>
          </a:solidFill>
          <a:ln>
            <a:solidFill>
              <a:srgbClr val="0091DA"/>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2" name="Text Placeholder 6">
            <a:extLst>
              <a:ext uri="{FF2B5EF4-FFF2-40B4-BE49-F238E27FC236}">
                <a16:creationId xmlns:a16="http://schemas.microsoft.com/office/drawing/2014/main" id="{BFC18071-5CC0-4BF7-870A-E4CFC46AA565}"/>
              </a:ext>
            </a:extLst>
          </p:cNvPr>
          <p:cNvSpPr txBox="1">
            <a:spLocks/>
          </p:cNvSpPr>
          <p:nvPr/>
        </p:nvSpPr>
        <p:spPr>
          <a:xfrm>
            <a:off x="1929240" y="4015062"/>
            <a:ext cx="41197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rgbClr val="00B8F5"/>
                </a:solidFill>
              </a:rPr>
              <a:t>Limited</a:t>
            </a:r>
          </a:p>
        </p:txBody>
      </p:sp>
      <p:sp>
        <p:nvSpPr>
          <p:cNvPr id="53" name="Text Placeholder 6">
            <a:extLst>
              <a:ext uri="{FF2B5EF4-FFF2-40B4-BE49-F238E27FC236}">
                <a16:creationId xmlns:a16="http://schemas.microsoft.com/office/drawing/2014/main" id="{BC3AB0EC-1F11-441F-A8DE-F124F1F41ED2}"/>
              </a:ext>
            </a:extLst>
          </p:cNvPr>
          <p:cNvSpPr txBox="1">
            <a:spLocks/>
          </p:cNvSpPr>
          <p:nvPr/>
        </p:nvSpPr>
        <p:spPr>
          <a:xfrm>
            <a:off x="1000824" y="5569740"/>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chemeClr val="accent5"/>
                </a:solidFill>
              </a:rPr>
              <a:t>Low</a:t>
            </a:r>
          </a:p>
        </p:txBody>
      </p:sp>
      <p:sp>
        <p:nvSpPr>
          <p:cNvPr id="54" name="Text Placeholder 6">
            <a:extLst>
              <a:ext uri="{FF2B5EF4-FFF2-40B4-BE49-F238E27FC236}">
                <a16:creationId xmlns:a16="http://schemas.microsoft.com/office/drawing/2014/main" id="{CCAD24D0-7B1E-4C0A-AE6A-29D96C0030DF}"/>
              </a:ext>
            </a:extLst>
          </p:cNvPr>
          <p:cNvSpPr txBox="1">
            <a:spLocks/>
          </p:cNvSpPr>
          <p:nvPr/>
        </p:nvSpPr>
        <p:spPr>
          <a:xfrm>
            <a:off x="2858552" y="5578878"/>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b="0" dirty="0">
                <a:solidFill>
                  <a:schemeClr val="accent5"/>
                </a:solidFill>
              </a:rPr>
              <a:t>High</a:t>
            </a:r>
          </a:p>
        </p:txBody>
      </p:sp>
      <p:sp>
        <p:nvSpPr>
          <p:cNvPr id="55" name="Rectangle: Rounded Corners 54">
            <a:extLst>
              <a:ext uri="{FF2B5EF4-FFF2-40B4-BE49-F238E27FC236}">
                <a16:creationId xmlns:a16="http://schemas.microsoft.com/office/drawing/2014/main" id="{F106ADFA-E8D3-4C0C-B085-58080DB0CA2C}"/>
              </a:ext>
            </a:extLst>
          </p:cNvPr>
          <p:cNvSpPr/>
          <p:nvPr/>
        </p:nvSpPr>
        <p:spPr>
          <a:xfrm>
            <a:off x="974799" y="5240590"/>
            <a:ext cx="600981" cy="208110"/>
          </a:xfrm>
          <a:prstGeom prst="roundRect">
            <a:avLst>
              <a:gd name="adj" fmla="val 50000"/>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6" name="Rectangle: Rounded Corners 55">
            <a:extLst>
              <a:ext uri="{FF2B5EF4-FFF2-40B4-BE49-F238E27FC236}">
                <a16:creationId xmlns:a16="http://schemas.microsoft.com/office/drawing/2014/main" id="{3819499B-3253-40E8-A42E-5621E519EEAA}"/>
              </a:ext>
            </a:extLst>
          </p:cNvPr>
          <p:cNvSpPr/>
          <p:nvPr/>
        </p:nvSpPr>
        <p:spPr>
          <a:xfrm>
            <a:off x="2726527" y="5254348"/>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7" name="Rectangle: Rounded Corners 56">
            <a:extLst>
              <a:ext uri="{FF2B5EF4-FFF2-40B4-BE49-F238E27FC236}">
                <a16:creationId xmlns:a16="http://schemas.microsoft.com/office/drawing/2014/main" id="{79E0D168-7651-445A-9AE1-569F0E701C1D}"/>
              </a:ext>
            </a:extLst>
          </p:cNvPr>
          <p:cNvSpPr/>
          <p:nvPr/>
        </p:nvSpPr>
        <p:spPr>
          <a:xfrm>
            <a:off x="1858439" y="5243853"/>
            <a:ext cx="600981" cy="208110"/>
          </a:xfrm>
          <a:prstGeom prst="roundRect">
            <a:avLst>
              <a:gd name="adj" fmla="val 50000"/>
            </a:avLst>
          </a:prstGeom>
          <a:solidFill>
            <a:schemeClr val="bg1">
              <a:lumMod val="8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58" name="Text Placeholder 6">
            <a:extLst>
              <a:ext uri="{FF2B5EF4-FFF2-40B4-BE49-F238E27FC236}">
                <a16:creationId xmlns:a16="http://schemas.microsoft.com/office/drawing/2014/main" id="{FEDCF311-4F59-4F0B-9BC8-C330D543BF4B}"/>
              </a:ext>
            </a:extLst>
          </p:cNvPr>
          <p:cNvSpPr txBox="1">
            <a:spLocks/>
          </p:cNvSpPr>
          <p:nvPr/>
        </p:nvSpPr>
        <p:spPr>
          <a:xfrm>
            <a:off x="1952943" y="5577066"/>
            <a:ext cx="455253"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solidFill>
                  <a:schemeClr val="accent5"/>
                </a:solidFill>
              </a:rPr>
              <a:t>Medium</a:t>
            </a:r>
          </a:p>
        </p:txBody>
      </p:sp>
      <p:sp>
        <p:nvSpPr>
          <p:cNvPr id="59" name="Text Placeholder 13">
            <a:extLst>
              <a:ext uri="{FF2B5EF4-FFF2-40B4-BE49-F238E27FC236}">
                <a16:creationId xmlns:a16="http://schemas.microsoft.com/office/drawing/2014/main" id="{6B257DFD-8BDB-4783-ADCB-29287EEC81FA}"/>
              </a:ext>
            </a:extLst>
          </p:cNvPr>
          <p:cNvSpPr txBox="1">
            <a:spLocks/>
          </p:cNvSpPr>
          <p:nvPr/>
        </p:nvSpPr>
        <p:spPr>
          <a:xfrm>
            <a:off x="998401" y="1330326"/>
            <a:ext cx="2576073" cy="433821"/>
          </a:xfrm>
          <a:prstGeom prst="rect">
            <a:avLst/>
          </a:prstGeom>
        </p:spPr>
        <p:txBody>
          <a:bodyPr vert="horz" lIns="0" tIns="0" rIns="0" bIns="0" rtlCol="0" anchor="t" anchorCtr="0">
            <a:noAutofit/>
          </a:bodyPr>
          <a:lstStyle>
            <a:lvl1pPr marL="0" indent="0" algn="l" defTabSz="914377" rtl="0" eaLnBrk="1" latinLnBrk="0" hangingPunct="1">
              <a:lnSpc>
                <a:spcPts val="2600"/>
              </a:lnSpc>
              <a:spcBef>
                <a:spcPts val="0"/>
              </a:spcBef>
              <a:spcAft>
                <a:spcPts val="0"/>
              </a:spcAft>
              <a:buFontTx/>
              <a:buNone/>
              <a:defRPr sz="2800" b="0" kern="1200">
                <a:solidFill>
                  <a:schemeClr val="tx2"/>
                </a:solidFill>
                <a:latin typeface="+mj-lt"/>
                <a:ea typeface="+mn-ea"/>
                <a:cs typeface="+mn-cs"/>
              </a:defRPr>
            </a:lvl1pPr>
            <a:lvl2pPr marL="0" indent="0" algn="l" defTabSz="914377" rtl="0" eaLnBrk="1" latinLnBrk="0" hangingPunct="1">
              <a:lnSpc>
                <a:spcPts val="2600"/>
              </a:lnSpc>
              <a:spcBef>
                <a:spcPts val="0"/>
              </a:spcBef>
              <a:spcAft>
                <a:spcPts val="0"/>
              </a:spcAft>
              <a:buFontTx/>
              <a:buNone/>
              <a:defRPr sz="1000" b="0" kern="1200">
                <a:solidFill>
                  <a:schemeClr val="tx2"/>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377" rtl="0" eaLnBrk="1" fontAlgn="auto" latinLnBrk="0" hangingPunct="1">
              <a:lnSpc>
                <a:spcPts val="2600"/>
              </a:lnSpc>
              <a:spcBef>
                <a:spcPts val="0"/>
              </a:spcBef>
              <a:spcAft>
                <a:spcPts val="0"/>
              </a:spcAft>
              <a:buClrTx/>
              <a:buSzTx/>
              <a:buFontTx/>
              <a:buNone/>
              <a:tabLst/>
              <a:defRPr/>
            </a:pPr>
            <a:r>
              <a:rPr kumimoji="0" lang="en-IN" sz="2800" b="0" i="0" u="none" strike="noStrike" kern="1200" cap="none" spc="0" normalizeH="0" baseline="0" noProof="0">
                <a:ln>
                  <a:noFill/>
                </a:ln>
                <a:solidFill>
                  <a:srgbClr val="00338D"/>
                </a:solidFill>
                <a:effectLst/>
                <a:uLnTx/>
                <a:uFillTx/>
                <a:latin typeface="KPMG Bold"/>
                <a:ea typeface="+mn-ea"/>
                <a:cs typeface="+mn-cs"/>
              </a:rPr>
              <a:t>Scope of work</a:t>
            </a:r>
            <a:endParaRPr kumimoji="0" lang="en-IN" sz="2800" b="0" i="0" u="none" strike="noStrike" kern="1200" cap="none" spc="0" normalizeH="0" baseline="0" noProof="0" dirty="0">
              <a:ln>
                <a:noFill/>
              </a:ln>
              <a:solidFill>
                <a:srgbClr val="00338D"/>
              </a:solidFill>
              <a:effectLst/>
              <a:uLnTx/>
              <a:uFillTx/>
              <a:latin typeface="KPMG Bold"/>
              <a:ea typeface="+mn-ea"/>
              <a:cs typeface="+mn-cs"/>
            </a:endParaRPr>
          </a:p>
        </p:txBody>
      </p:sp>
      <p:sp>
        <p:nvSpPr>
          <p:cNvPr id="60" name="Text Placeholder 6">
            <a:extLst>
              <a:ext uri="{FF2B5EF4-FFF2-40B4-BE49-F238E27FC236}">
                <a16:creationId xmlns:a16="http://schemas.microsoft.com/office/drawing/2014/main" id="{199DD913-5FAF-4589-B642-9712F0799917}"/>
              </a:ext>
            </a:extLst>
          </p:cNvPr>
          <p:cNvSpPr txBox="1">
            <a:spLocks/>
          </p:cNvSpPr>
          <p:nvPr/>
        </p:nvSpPr>
        <p:spPr>
          <a:xfrm>
            <a:off x="966998" y="2317005"/>
            <a:ext cx="57547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Restricted</a:t>
            </a:r>
          </a:p>
        </p:txBody>
      </p:sp>
      <p:sp>
        <p:nvSpPr>
          <p:cNvPr id="61" name="Text Placeholder 6">
            <a:extLst>
              <a:ext uri="{FF2B5EF4-FFF2-40B4-BE49-F238E27FC236}">
                <a16:creationId xmlns:a16="http://schemas.microsoft.com/office/drawing/2014/main" id="{6347D65F-049C-4BC3-B58E-EF9A65BA2811}"/>
              </a:ext>
            </a:extLst>
          </p:cNvPr>
          <p:cNvSpPr txBox="1">
            <a:spLocks/>
          </p:cNvSpPr>
          <p:nvPr/>
        </p:nvSpPr>
        <p:spPr>
          <a:xfrm>
            <a:off x="2763065" y="2317005"/>
            <a:ext cx="61875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Customary</a:t>
            </a:r>
          </a:p>
        </p:txBody>
      </p:sp>
      <p:sp>
        <p:nvSpPr>
          <p:cNvPr id="62" name="Rectangle: Rounded Corners 61">
            <a:extLst>
              <a:ext uri="{FF2B5EF4-FFF2-40B4-BE49-F238E27FC236}">
                <a16:creationId xmlns:a16="http://schemas.microsoft.com/office/drawing/2014/main" id="{776863D8-B48F-46ED-8E25-D20BA6349E95}"/>
              </a:ext>
            </a:extLst>
          </p:cNvPr>
          <p:cNvSpPr/>
          <p:nvPr/>
        </p:nvSpPr>
        <p:spPr>
          <a:xfrm>
            <a:off x="2771954" y="1940450"/>
            <a:ext cx="600981" cy="208110"/>
          </a:xfrm>
          <a:prstGeom prst="roundRect">
            <a:avLst>
              <a:gd name="adj" fmla="val 5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63" name="Rectangle: Rounded Corners 62">
            <a:extLst>
              <a:ext uri="{FF2B5EF4-FFF2-40B4-BE49-F238E27FC236}">
                <a16:creationId xmlns:a16="http://schemas.microsoft.com/office/drawing/2014/main" id="{493CFA28-760F-458E-8DEE-D3F9F1A28904}"/>
              </a:ext>
            </a:extLst>
          </p:cNvPr>
          <p:cNvSpPr/>
          <p:nvPr/>
        </p:nvSpPr>
        <p:spPr>
          <a:xfrm>
            <a:off x="954247" y="1940450"/>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64" name="Rectangle: Rounded Corners 63">
            <a:extLst>
              <a:ext uri="{FF2B5EF4-FFF2-40B4-BE49-F238E27FC236}">
                <a16:creationId xmlns:a16="http://schemas.microsoft.com/office/drawing/2014/main" id="{CA0D23AB-A6B9-4892-A2C8-237F8AC280C8}"/>
              </a:ext>
            </a:extLst>
          </p:cNvPr>
          <p:cNvSpPr/>
          <p:nvPr/>
        </p:nvSpPr>
        <p:spPr>
          <a:xfrm>
            <a:off x="1856504" y="1940450"/>
            <a:ext cx="600981" cy="208110"/>
          </a:xfrm>
          <a:prstGeom prst="roundRect">
            <a:avLst>
              <a:gd name="adj" fmla="val 50000"/>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tx2"/>
              </a:solidFill>
            </a:endParaRPr>
          </a:p>
        </p:txBody>
      </p:sp>
      <p:sp>
        <p:nvSpPr>
          <p:cNvPr id="65" name="Text Placeholder 6">
            <a:extLst>
              <a:ext uri="{FF2B5EF4-FFF2-40B4-BE49-F238E27FC236}">
                <a16:creationId xmlns:a16="http://schemas.microsoft.com/office/drawing/2014/main" id="{5B52B0B2-00EB-457C-BDC0-29554C96924E}"/>
              </a:ext>
            </a:extLst>
          </p:cNvPr>
          <p:cNvSpPr txBox="1">
            <a:spLocks/>
          </p:cNvSpPr>
          <p:nvPr/>
        </p:nvSpPr>
        <p:spPr>
          <a:xfrm>
            <a:off x="1887690" y="2317005"/>
            <a:ext cx="538609" cy="153888"/>
          </a:xfrm>
          <a:prstGeom prst="rect">
            <a:avLst/>
          </a:prstGeom>
          <a:noFill/>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dirty="0"/>
              <a:t>Moderate</a:t>
            </a:r>
          </a:p>
        </p:txBody>
      </p:sp>
      <p:grpSp>
        <p:nvGrpSpPr>
          <p:cNvPr id="74" name="Group 73">
            <a:extLst>
              <a:ext uri="{FF2B5EF4-FFF2-40B4-BE49-F238E27FC236}">
                <a16:creationId xmlns:a16="http://schemas.microsoft.com/office/drawing/2014/main" id="{DF28B0A9-C8D3-4838-B1A8-20E1B98F8DC5}"/>
              </a:ext>
            </a:extLst>
          </p:cNvPr>
          <p:cNvGrpSpPr/>
          <p:nvPr>
            <p:custDataLst>
              <p:tags r:id="rId3"/>
            </p:custDataLst>
          </p:nvPr>
        </p:nvGrpSpPr>
        <p:grpSpPr>
          <a:xfrm>
            <a:off x="995364" y="153170"/>
            <a:ext cx="6213178" cy="195814"/>
            <a:chOff x="995364" y="153170"/>
            <a:chExt cx="6213178" cy="195814"/>
          </a:xfrm>
        </p:grpSpPr>
        <p:sp>
          <p:nvSpPr>
            <p:cNvPr id="75"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76"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77"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8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8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86"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87" name="Current Section7">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38216388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3798381934"/>
              </p:ext>
            </p:extLst>
          </p:nvPr>
        </p:nvGraphicFramePr>
        <p:xfrm>
          <a:off x="998400" y="1484633"/>
          <a:ext cx="10199014" cy="217318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8675">
                <a:tc>
                  <a:txBody>
                    <a:bodyPr/>
                    <a:lstStyle/>
                    <a:p>
                      <a:pPr>
                        <a:lnSpc>
                          <a:spcPct val="97000"/>
                        </a:lnSpc>
                        <a:spcBef>
                          <a:spcPts val="0"/>
                        </a:spcBef>
                        <a:spcAft>
                          <a:spcPts val="600"/>
                        </a:spcAft>
                      </a:pPr>
                      <a:r>
                        <a:rPr lang="en-US" sz="1000" b="1" dirty="0">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dirty="0">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dirty="0">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dirty="0">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529376">
                <a:tc>
                  <a:txBody>
                    <a:bodyPr/>
                    <a:lstStyle/>
                    <a:p>
                      <a:pPr>
                        <a:lnSpc>
                          <a:spcPct val="100000"/>
                        </a:lnSpc>
                        <a:spcBef>
                          <a:spcPts val="0"/>
                        </a:spcBef>
                        <a:spcAft>
                          <a:spcPts val="600"/>
                        </a:spcAft>
                      </a:pPr>
                      <a:r>
                        <a:rPr lang="en-US" sz="1000" b="1" dirty="0">
                          <a:solidFill>
                            <a:schemeClr val="tx2"/>
                          </a:solidFill>
                        </a:rPr>
                        <a:t>Definitions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Present annual cash flows for the group for the Historical Period and comment on trends identified. Comment in particular on management’s reconciliation of EBITDA to operating cash flow before taxes and on operating cash flow conversion.</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Analyse capital expenditure over the Historical Period, and committed capital expenditure as at the latest available date. </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Provide an analysis of the components of monthly reported working capital and movements over the Historical Period, including presentation of key working capital metrics (absolute and ratios such as DIO, DSO, DPO, and NWC as a % of revenue), and analysis of seasonal trends in monthly working capital.</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Summarise minimum, maximum and average working capital levels in the Historical Period; indicating bases as may be appropriate for your consideration as a ‘normalised target level’ for the purposes of the SPA (assuming a normalised working capital adjustment mechanism has been included within the Heads of Terms).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2"/>
                          </a:solidFill>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a:t>
            </a:r>
          </a:p>
        </p:txBody>
      </p:sp>
      <p:sp>
        <p:nvSpPr>
          <p:cNvPr id="21" name="Rectangle 20">
            <a:hlinkClick r:id="rId8" action="ppaction://hlinksldjump"/>
            <a:extLst>
              <a:ext uri="{FF2B5EF4-FFF2-40B4-BE49-F238E27FC236}">
                <a16:creationId xmlns:a16="http://schemas.microsoft.com/office/drawing/2014/main" id="{9E065CE4-7147-4B80-9ABA-AC60FBC6937A}"/>
              </a:ext>
            </a:extLst>
          </p:cNvPr>
          <p:cNvSpPr/>
          <p:nvPr/>
        </p:nvSpPr>
        <p:spPr>
          <a:xfrm>
            <a:off x="2213396" y="214180"/>
            <a:ext cx="106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7" name="Rectangle 26">
            <a:hlinkClick r:id="rId9" action="ppaction://hlinksldjump"/>
            <a:extLst>
              <a:ext uri="{FF2B5EF4-FFF2-40B4-BE49-F238E27FC236}">
                <a16:creationId xmlns:a16="http://schemas.microsoft.com/office/drawing/2014/main" id="{0E5467BB-512F-4771-A77D-76A8AF618A69}"/>
              </a:ext>
            </a:extLst>
          </p:cNvPr>
          <p:cNvSpPr/>
          <p:nvPr/>
        </p:nvSpPr>
        <p:spPr>
          <a:xfrm>
            <a:off x="4418052" y="214180"/>
            <a:ext cx="91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48DE2557-F20D-4AE8-B0B7-E0EFB35F1733}"/>
              </a:ext>
            </a:extLst>
          </p:cNvPr>
          <p:cNvSpPr/>
          <p:nvPr/>
        </p:nvSpPr>
        <p:spPr>
          <a:xfrm>
            <a:off x="5381749" y="214180"/>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0" name="Rectangle 39">
            <a:hlinkClick r:id="rId11" action="ppaction://hlinksldjump"/>
            <a:extLst>
              <a:ext uri="{FF2B5EF4-FFF2-40B4-BE49-F238E27FC236}">
                <a16:creationId xmlns:a16="http://schemas.microsoft.com/office/drawing/2014/main" id="{651E2671-35C8-4151-93DA-25F2656D5675}"/>
              </a:ext>
            </a:extLst>
          </p:cNvPr>
          <p:cNvSpPr/>
          <p:nvPr/>
        </p:nvSpPr>
        <p:spPr>
          <a:xfrm>
            <a:off x="990941" y="214180"/>
            <a:ext cx="117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1" name="Rectangle 40">
            <a:hlinkClick r:id="rId12" action="ppaction://hlinksldjump"/>
            <a:extLst>
              <a:ext uri="{FF2B5EF4-FFF2-40B4-BE49-F238E27FC236}">
                <a16:creationId xmlns:a16="http://schemas.microsoft.com/office/drawing/2014/main" id="{C36EB5DF-716C-4A62-B851-3E7FBC5C72B1}"/>
              </a:ext>
            </a:extLst>
          </p:cNvPr>
          <p:cNvSpPr/>
          <p:nvPr/>
        </p:nvSpPr>
        <p:spPr>
          <a:xfrm>
            <a:off x="3323100" y="214180"/>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2" name="Rectangle 41">
            <a:hlinkClick r:id="rId13" action="ppaction://hlinksldjump"/>
            <a:extLst>
              <a:ext uri="{FF2B5EF4-FFF2-40B4-BE49-F238E27FC236}">
                <a16:creationId xmlns:a16="http://schemas.microsoft.com/office/drawing/2014/main" id="{B761D308-273A-4E2B-9C3D-FAFF65ABC013}"/>
              </a:ext>
            </a:extLst>
          </p:cNvPr>
          <p:cNvSpPr/>
          <p:nvPr/>
        </p:nvSpPr>
        <p:spPr>
          <a:xfrm>
            <a:off x="6170323" y="214180"/>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3" name="Rectangle 42">
            <a:hlinkClick r:id="rId14" action="ppaction://hlinksldjump"/>
            <a:extLst>
              <a:ext uri="{FF2B5EF4-FFF2-40B4-BE49-F238E27FC236}">
                <a16:creationId xmlns:a16="http://schemas.microsoft.com/office/drawing/2014/main" id="{C91F869F-265B-4A02-A452-AF41E5F18BE1}"/>
              </a:ext>
            </a:extLst>
          </p:cNvPr>
          <p:cNvSpPr/>
          <p:nvPr/>
        </p:nvSpPr>
        <p:spPr>
          <a:xfrm>
            <a:off x="6894106" y="214180"/>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 name="UpSlide SubSection Marker" hidden="1">
            <a:extLst>
              <a:ext uri="{FF2B5EF4-FFF2-40B4-BE49-F238E27FC236}">
                <a16:creationId xmlns:a16="http://schemas.microsoft.com/office/drawing/2014/main" id="{3DA119A1-B833-4F33-856D-C5ED88B9B9ED}"/>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a:t>
            </a:r>
            <a:endParaRPr lang="en-GB" sz="900" dirty="0">
              <a:solidFill>
                <a:schemeClr val="bg1"/>
              </a:solidFill>
            </a:endParaRPr>
          </a:p>
        </p:txBody>
      </p:sp>
      <p:grpSp>
        <p:nvGrpSpPr>
          <p:cNvPr id="32" name="Group 31">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Current Section7">
              <a:hlinkClick r:id="rId20"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10419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2601349488"/>
              </p:ext>
            </p:extLst>
          </p:nvPr>
        </p:nvGraphicFramePr>
        <p:xfrm>
          <a:off x="998400" y="1484633"/>
          <a:ext cx="10199014" cy="393946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8675">
                <a:tc>
                  <a:txBody>
                    <a:bodyPr/>
                    <a:lstStyle/>
                    <a:p>
                      <a:pPr>
                        <a:lnSpc>
                          <a:spcPct val="97000"/>
                        </a:lnSpc>
                        <a:spcBef>
                          <a:spcPts val="0"/>
                        </a:spcBef>
                        <a:spcAft>
                          <a:spcPts val="600"/>
                        </a:spcAft>
                      </a:pPr>
                      <a:r>
                        <a:rPr lang="en-US" sz="1000" b="1" dirty="0">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dirty="0">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dirty="0">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dirty="0">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529376">
                <a:tc>
                  <a:txBody>
                    <a:bodyPr/>
                    <a:lstStyle/>
                    <a:p>
                      <a:pPr>
                        <a:lnSpc>
                          <a:spcPct val="100000"/>
                        </a:lnSpc>
                        <a:spcBef>
                          <a:spcPts val="0"/>
                        </a:spcBef>
                        <a:spcAft>
                          <a:spcPts val="600"/>
                        </a:spcAft>
                      </a:pPr>
                      <a:r>
                        <a:rPr lang="en-US" sz="1000" b="1" dirty="0">
                          <a:solidFill>
                            <a:schemeClr val="tx2"/>
                          </a:solidFill>
                        </a:rPr>
                        <a:t>Definitions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“Historical period” – two years ended 30 April 2021 (being FY20-FY21), and the period to the latest available management accounts (expected to be February 2022) (being YTD22). Analysis to last twelve months to latest available management accounts date (LTM22). </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“Outturn period” – eight months actual to 31 December 2021 (or latest available month) and four months budget to 30 April 2022.</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“Forecast period” – 12 months to 30 April 2023</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“Balance sheet dates” – 30 April 2020, 30 April 2021 and 28 February 2022</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Target – [Target]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2"/>
                          </a:solidFill>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624855">
                <a:tc>
                  <a:txBody>
                    <a:bodyPr/>
                    <a:lstStyle/>
                    <a:p>
                      <a:pPr>
                        <a:lnSpc>
                          <a:spcPct val="100000"/>
                        </a:lnSpc>
                        <a:spcBef>
                          <a:spcPts val="0"/>
                        </a:spcBef>
                        <a:spcAft>
                          <a:spcPts val="600"/>
                        </a:spcAft>
                      </a:pPr>
                      <a:r>
                        <a:rPr lang="en-US" sz="1000" b="1" dirty="0">
                          <a:solidFill>
                            <a:schemeClr val="tx2"/>
                          </a:solidFill>
                        </a:rPr>
                        <a:t>Approach to reporting</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We propose to report in a red flag format, focused on key issues/conclusions and key analysis to support these conclusions. Further analysis will be provided in excel </a:t>
                      </a:r>
                      <a:r>
                        <a:rPr lang="en-GB" sz="900" dirty="0" err="1">
                          <a:solidFill>
                            <a:schemeClr val="tx2"/>
                          </a:solidFill>
                        </a:rPr>
                        <a:t>databook</a:t>
                      </a:r>
                      <a:r>
                        <a:rPr lang="en-GB" sz="900" dirty="0">
                          <a:solidFill>
                            <a:schemeClr val="tx2"/>
                          </a:solidFill>
                        </a:rPr>
                        <a:t> format, to the extent required.</a:t>
                      </a:r>
                    </a:p>
                    <a:p>
                      <a:pPr marL="180000" indent="-180000">
                        <a:lnSpc>
                          <a:spcPct val="100000"/>
                        </a:lnSpc>
                        <a:spcBef>
                          <a:spcPts val="0"/>
                        </a:spcBef>
                        <a:spcAft>
                          <a:spcPts val="600"/>
                        </a:spcAft>
                        <a:buFont typeface="Arial" panose="020B0604020202020204" pitchFamily="34" charset="0"/>
                        <a:buChar char="•"/>
                      </a:pPr>
                      <a:endParaRPr lang="en-US" sz="900" dirty="0">
                        <a:solidFill>
                          <a:schemeClr val="tx2"/>
                        </a:solidFill>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2"/>
                          </a:solidFill>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453999">
                <a:tc>
                  <a:txBody>
                    <a:bodyPr/>
                    <a:lstStyle/>
                    <a:p>
                      <a:pPr>
                        <a:lnSpc>
                          <a:spcPct val="100000"/>
                        </a:lnSpc>
                        <a:spcBef>
                          <a:spcPts val="0"/>
                        </a:spcBef>
                        <a:spcAft>
                          <a:spcPts val="600"/>
                        </a:spcAft>
                      </a:pPr>
                      <a:r>
                        <a:rPr lang="en-GB" sz="1000" b="1" dirty="0">
                          <a:solidFill>
                            <a:schemeClr val="tx2"/>
                          </a:solidFill>
                        </a:rPr>
                        <a:t>Accounting and financial reporting processes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Consider the basis of preparation of management accounts and statutory accounts, and discuss the key controls over this process. Consider the timeliness and relevance of management information.</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Summarise the key accounting policies and methodologies, including areas of subjectivity and change over the Historical Period. To include revenue and cost recognition, and provisioning.</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Obtain and present a bank reconciliation as at the latest balance sheet date, and consider significant reconciling items. </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Obtain from management and analyse the reconciliation between the management accounts and statutory accounts of the business (covering both balance sheet and profit and loss account) for FY20 and FY21.</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2"/>
                          </a:solidFill>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a:t>
            </a:r>
          </a:p>
        </p:txBody>
      </p:sp>
      <p:sp>
        <p:nvSpPr>
          <p:cNvPr id="21" name="Rectangle 20">
            <a:hlinkClick r:id="rId8" action="ppaction://hlinksldjump"/>
            <a:extLst>
              <a:ext uri="{FF2B5EF4-FFF2-40B4-BE49-F238E27FC236}">
                <a16:creationId xmlns:a16="http://schemas.microsoft.com/office/drawing/2014/main" id="{9E065CE4-7147-4B80-9ABA-AC60FBC6937A}"/>
              </a:ext>
            </a:extLst>
          </p:cNvPr>
          <p:cNvSpPr/>
          <p:nvPr/>
        </p:nvSpPr>
        <p:spPr>
          <a:xfrm>
            <a:off x="2213396" y="214180"/>
            <a:ext cx="106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7" name="Rectangle 26">
            <a:hlinkClick r:id="rId9" action="ppaction://hlinksldjump"/>
            <a:extLst>
              <a:ext uri="{FF2B5EF4-FFF2-40B4-BE49-F238E27FC236}">
                <a16:creationId xmlns:a16="http://schemas.microsoft.com/office/drawing/2014/main" id="{0E5467BB-512F-4771-A77D-76A8AF618A69}"/>
              </a:ext>
            </a:extLst>
          </p:cNvPr>
          <p:cNvSpPr/>
          <p:nvPr/>
        </p:nvSpPr>
        <p:spPr>
          <a:xfrm>
            <a:off x="4418052" y="214180"/>
            <a:ext cx="91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48DE2557-F20D-4AE8-B0B7-E0EFB35F1733}"/>
              </a:ext>
            </a:extLst>
          </p:cNvPr>
          <p:cNvSpPr/>
          <p:nvPr/>
        </p:nvSpPr>
        <p:spPr>
          <a:xfrm>
            <a:off x="5381749" y="214180"/>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0" name="Rectangle 39">
            <a:hlinkClick r:id="rId11" action="ppaction://hlinksldjump"/>
            <a:extLst>
              <a:ext uri="{FF2B5EF4-FFF2-40B4-BE49-F238E27FC236}">
                <a16:creationId xmlns:a16="http://schemas.microsoft.com/office/drawing/2014/main" id="{651E2671-35C8-4151-93DA-25F2656D5675}"/>
              </a:ext>
            </a:extLst>
          </p:cNvPr>
          <p:cNvSpPr/>
          <p:nvPr/>
        </p:nvSpPr>
        <p:spPr>
          <a:xfrm>
            <a:off x="990941" y="214180"/>
            <a:ext cx="117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1" name="Rectangle 40">
            <a:hlinkClick r:id="rId12" action="ppaction://hlinksldjump"/>
            <a:extLst>
              <a:ext uri="{FF2B5EF4-FFF2-40B4-BE49-F238E27FC236}">
                <a16:creationId xmlns:a16="http://schemas.microsoft.com/office/drawing/2014/main" id="{C36EB5DF-716C-4A62-B851-3E7FBC5C72B1}"/>
              </a:ext>
            </a:extLst>
          </p:cNvPr>
          <p:cNvSpPr/>
          <p:nvPr/>
        </p:nvSpPr>
        <p:spPr>
          <a:xfrm>
            <a:off x="3323100" y="214180"/>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2" name="Rectangle 41">
            <a:hlinkClick r:id="rId13" action="ppaction://hlinksldjump"/>
            <a:extLst>
              <a:ext uri="{FF2B5EF4-FFF2-40B4-BE49-F238E27FC236}">
                <a16:creationId xmlns:a16="http://schemas.microsoft.com/office/drawing/2014/main" id="{B761D308-273A-4E2B-9C3D-FAFF65ABC013}"/>
              </a:ext>
            </a:extLst>
          </p:cNvPr>
          <p:cNvSpPr/>
          <p:nvPr/>
        </p:nvSpPr>
        <p:spPr>
          <a:xfrm>
            <a:off x="6170323" y="214180"/>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3" name="Rectangle 42">
            <a:hlinkClick r:id="rId14" action="ppaction://hlinksldjump"/>
            <a:extLst>
              <a:ext uri="{FF2B5EF4-FFF2-40B4-BE49-F238E27FC236}">
                <a16:creationId xmlns:a16="http://schemas.microsoft.com/office/drawing/2014/main" id="{C91F869F-265B-4A02-A452-AF41E5F18BE1}"/>
              </a:ext>
            </a:extLst>
          </p:cNvPr>
          <p:cNvSpPr/>
          <p:nvPr/>
        </p:nvSpPr>
        <p:spPr>
          <a:xfrm>
            <a:off x="6894106" y="214180"/>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 name="UpSlide SubSection Marker" hidden="1">
            <a:extLst>
              <a:ext uri="{FF2B5EF4-FFF2-40B4-BE49-F238E27FC236}">
                <a16:creationId xmlns:a16="http://schemas.microsoft.com/office/drawing/2014/main" id="{3DA119A1-B833-4F33-856D-C5ED88B9B9ED}"/>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a:t>
            </a:r>
            <a:endParaRPr lang="en-GB" sz="900" dirty="0">
              <a:solidFill>
                <a:schemeClr val="bg1"/>
              </a:solidFill>
            </a:endParaRPr>
          </a:p>
        </p:txBody>
      </p:sp>
      <p:grpSp>
        <p:nvGrpSpPr>
          <p:cNvPr id="32" name="Group 31">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Current Section7">
              <a:hlinkClick r:id="rId20"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77887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342619829"/>
              </p:ext>
            </p:extLst>
          </p:nvPr>
        </p:nvGraphicFramePr>
        <p:xfrm>
          <a:off x="998400" y="1484633"/>
          <a:ext cx="10199014" cy="363622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8675">
                <a:tc>
                  <a:txBody>
                    <a:bodyPr/>
                    <a:lstStyle/>
                    <a:p>
                      <a:pPr>
                        <a:lnSpc>
                          <a:spcPct val="97000"/>
                        </a:lnSpc>
                        <a:spcBef>
                          <a:spcPts val="0"/>
                        </a:spcBef>
                        <a:spcAft>
                          <a:spcPts val="600"/>
                        </a:spcAft>
                      </a:pPr>
                      <a:r>
                        <a:rPr lang="en-US" sz="1000" b="1" dirty="0">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dirty="0">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dirty="0">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dirty="0">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529376">
                <a:tc>
                  <a:txBody>
                    <a:bodyPr/>
                    <a:lstStyle/>
                    <a:p>
                      <a:pPr>
                        <a:lnSpc>
                          <a:spcPct val="100000"/>
                        </a:lnSpc>
                        <a:spcBef>
                          <a:spcPts val="0"/>
                        </a:spcBef>
                        <a:spcAft>
                          <a:spcPts val="600"/>
                        </a:spcAft>
                      </a:pPr>
                      <a:r>
                        <a:rPr lang="nl-NL" sz="1000" b="1" dirty="0">
                          <a:solidFill>
                            <a:schemeClr val="tx2"/>
                          </a:solidFill>
                        </a:rPr>
                        <a:t>Net assets and net debt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Present the balance sheet as at the Balance Sheet Dates. Analyse key balance sheet line items, including breakdowns of significant items where available (e.g. receivables, payables, accruals, prepayments, etc). Comment on the nature of such items, and through discussion with management, comment on the reasons for significant movements between the Balance Sheet Dates. </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Present fixed asset by category at cost and NBV, including depreciation policy. Discuss with Management the existence of assets on the asset register which are not currently used by the business or used by the shareholders. Discuss with Management the existence of assets utilised by the business but not recorded on the asset register.</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Consider operating lease commitments and discuss with management nature and amount of significant off-balance sheet items, such as litigation, claims or customer/supplier disputes and contingent liabilities, and their treatment in the latest balance sheet.</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Consider the nature of judgemental areas in recognising and valuing assets and liabilities e.g. provisioning.</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Analyse provision movements, highlighting the extent to which there have been provision releases versus utilisation of provisions.</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Analyse the net interest bearing debt by component and maturity as reported, and including other financing arrangements (e.g. letters of credit, customs guarantees) that may need to be considered by a purchaser when considering ongoing facility requirements.</a:t>
                      </a:r>
                    </a:p>
                    <a:p>
                      <a:pPr marL="180000" indent="-180000">
                        <a:lnSpc>
                          <a:spcPct val="100000"/>
                        </a:lnSpc>
                        <a:spcBef>
                          <a:spcPts val="0"/>
                        </a:spcBef>
                        <a:spcAft>
                          <a:spcPts val="600"/>
                        </a:spcAft>
                        <a:buFont typeface="Arial" panose="020B0604020202020204" pitchFamily="34" charset="0"/>
                        <a:buChar char="•"/>
                      </a:pPr>
                      <a:r>
                        <a:rPr lang="en-GB" sz="900" dirty="0">
                          <a:solidFill>
                            <a:schemeClr val="tx2"/>
                          </a:solidFill>
                        </a:rPr>
                        <a:t>Analyse net debt items as reported as at 28 February 2022 and seek to highlight other areas which may be considered as debt like for the purposes of the completion mechanism on a cash free and debt free basis (including bonuses and transaction related costs).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dirty="0">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2"/>
                          </a:solidFill>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dirty="0"/>
              <a:t>Scope of work</a:t>
            </a:r>
          </a:p>
        </p:txBody>
      </p:sp>
      <p:sp>
        <p:nvSpPr>
          <p:cNvPr id="21" name="Rectangle 20">
            <a:hlinkClick r:id="rId8" action="ppaction://hlinksldjump"/>
            <a:extLst>
              <a:ext uri="{FF2B5EF4-FFF2-40B4-BE49-F238E27FC236}">
                <a16:creationId xmlns:a16="http://schemas.microsoft.com/office/drawing/2014/main" id="{9E065CE4-7147-4B80-9ABA-AC60FBC6937A}"/>
              </a:ext>
            </a:extLst>
          </p:cNvPr>
          <p:cNvSpPr/>
          <p:nvPr/>
        </p:nvSpPr>
        <p:spPr>
          <a:xfrm>
            <a:off x="2213396" y="214180"/>
            <a:ext cx="106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7" name="Rectangle 26">
            <a:hlinkClick r:id="rId9" action="ppaction://hlinksldjump"/>
            <a:extLst>
              <a:ext uri="{FF2B5EF4-FFF2-40B4-BE49-F238E27FC236}">
                <a16:creationId xmlns:a16="http://schemas.microsoft.com/office/drawing/2014/main" id="{0E5467BB-512F-4771-A77D-76A8AF618A69}"/>
              </a:ext>
            </a:extLst>
          </p:cNvPr>
          <p:cNvSpPr/>
          <p:nvPr/>
        </p:nvSpPr>
        <p:spPr>
          <a:xfrm>
            <a:off x="4418052" y="214180"/>
            <a:ext cx="91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48DE2557-F20D-4AE8-B0B7-E0EFB35F1733}"/>
              </a:ext>
            </a:extLst>
          </p:cNvPr>
          <p:cNvSpPr/>
          <p:nvPr/>
        </p:nvSpPr>
        <p:spPr>
          <a:xfrm>
            <a:off x="5381749" y="214180"/>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0" name="Rectangle 39">
            <a:hlinkClick r:id="rId11" action="ppaction://hlinksldjump"/>
            <a:extLst>
              <a:ext uri="{FF2B5EF4-FFF2-40B4-BE49-F238E27FC236}">
                <a16:creationId xmlns:a16="http://schemas.microsoft.com/office/drawing/2014/main" id="{651E2671-35C8-4151-93DA-25F2656D5675}"/>
              </a:ext>
            </a:extLst>
          </p:cNvPr>
          <p:cNvSpPr/>
          <p:nvPr/>
        </p:nvSpPr>
        <p:spPr>
          <a:xfrm>
            <a:off x="990941" y="214180"/>
            <a:ext cx="117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1" name="Rectangle 40">
            <a:hlinkClick r:id="rId12" action="ppaction://hlinksldjump"/>
            <a:extLst>
              <a:ext uri="{FF2B5EF4-FFF2-40B4-BE49-F238E27FC236}">
                <a16:creationId xmlns:a16="http://schemas.microsoft.com/office/drawing/2014/main" id="{C36EB5DF-716C-4A62-B851-3E7FBC5C72B1}"/>
              </a:ext>
            </a:extLst>
          </p:cNvPr>
          <p:cNvSpPr/>
          <p:nvPr/>
        </p:nvSpPr>
        <p:spPr>
          <a:xfrm>
            <a:off x="3323100" y="214180"/>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2" name="Rectangle 41">
            <a:hlinkClick r:id="rId13" action="ppaction://hlinksldjump"/>
            <a:extLst>
              <a:ext uri="{FF2B5EF4-FFF2-40B4-BE49-F238E27FC236}">
                <a16:creationId xmlns:a16="http://schemas.microsoft.com/office/drawing/2014/main" id="{B761D308-273A-4E2B-9C3D-FAFF65ABC013}"/>
              </a:ext>
            </a:extLst>
          </p:cNvPr>
          <p:cNvSpPr/>
          <p:nvPr/>
        </p:nvSpPr>
        <p:spPr>
          <a:xfrm>
            <a:off x="6170323" y="214180"/>
            <a:ext cx="68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43" name="Rectangle 42">
            <a:hlinkClick r:id="rId14" action="ppaction://hlinksldjump"/>
            <a:extLst>
              <a:ext uri="{FF2B5EF4-FFF2-40B4-BE49-F238E27FC236}">
                <a16:creationId xmlns:a16="http://schemas.microsoft.com/office/drawing/2014/main" id="{C91F869F-265B-4A02-A452-AF41E5F18BE1}"/>
              </a:ext>
            </a:extLst>
          </p:cNvPr>
          <p:cNvSpPr/>
          <p:nvPr/>
        </p:nvSpPr>
        <p:spPr>
          <a:xfrm>
            <a:off x="6894106" y="214180"/>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dirty="0" err="1">
              <a:solidFill>
                <a:schemeClr val="bg1"/>
              </a:solidFill>
            </a:endParaRPr>
          </a:p>
        </p:txBody>
      </p:sp>
      <p:sp>
        <p:nvSpPr>
          <p:cNvPr id="2" name="UpSlide SubSection Marker" hidden="1">
            <a:extLst>
              <a:ext uri="{FF2B5EF4-FFF2-40B4-BE49-F238E27FC236}">
                <a16:creationId xmlns:a16="http://schemas.microsoft.com/office/drawing/2014/main" id="{3DA119A1-B833-4F33-856D-C5ED88B9B9ED}"/>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Engagement</a:t>
            </a:r>
            <a:endParaRPr lang="en-GB" sz="900" dirty="0">
              <a:solidFill>
                <a:schemeClr val="bg1"/>
              </a:solidFill>
            </a:endParaRPr>
          </a:p>
        </p:txBody>
      </p:sp>
      <p:grpSp>
        <p:nvGrpSpPr>
          <p:cNvPr id="32" name="Group 31">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3"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Current Section7">
              <a:hlinkClick r:id="rId20"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38007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2D7EF9-2969-45B1-9B17-91429203F03F}"/>
              </a:ext>
            </a:extLst>
          </p:cNvPr>
          <p:cNvSpPr>
            <a:spLocks noGrp="1"/>
          </p:cNvSpPr>
          <p:nvPr>
            <p:ph type="body" sz="quarter" idx="11"/>
          </p:nvPr>
        </p:nvSpPr>
        <p:spPr/>
        <p:txBody>
          <a:bodyPr/>
          <a:lstStyle/>
          <a:p>
            <a:endParaRPr lang="en-GB"/>
          </a:p>
        </p:txBody>
      </p:sp>
      <p:sp>
        <p:nvSpPr>
          <p:cNvPr id="4" name="Title 3">
            <a:extLst>
              <a:ext uri="{FF2B5EF4-FFF2-40B4-BE49-F238E27FC236}">
                <a16:creationId xmlns:a16="http://schemas.microsoft.com/office/drawing/2014/main" id="{071D0A01-0E34-4BAF-844C-6AD3B634F85F}"/>
              </a:ext>
            </a:extLst>
          </p:cNvPr>
          <p:cNvSpPr>
            <a:spLocks noGrp="1"/>
          </p:cNvSpPr>
          <p:nvPr>
            <p:ph type="ctrTitle" idx="4294967295"/>
          </p:nvPr>
        </p:nvSpPr>
        <p:spPr>
          <a:xfrm>
            <a:off x="1289860" y="1604751"/>
            <a:ext cx="5765800" cy="2903537"/>
          </a:xfrm>
        </p:spPr>
        <p:txBody>
          <a:bodyPr/>
          <a:lstStyle/>
          <a:p>
            <a:r>
              <a:rPr lang="en-GB" sz="6600" dirty="0">
                <a:solidFill>
                  <a:srgbClr val="FFFFFF"/>
                </a:solidFill>
                <a:ea typeface="+mn-ea"/>
                <a:cs typeface="+mn-cs"/>
              </a:rPr>
              <a:t>Data Integrity</a:t>
            </a:r>
          </a:p>
        </p:txBody>
      </p:sp>
      <p:sp>
        <p:nvSpPr>
          <p:cNvPr id="6" name="UpSlide SubSection Marker" hidden="1">
            <a:extLst>
              <a:ext uri="{FF2B5EF4-FFF2-40B4-BE49-F238E27FC236}">
                <a16:creationId xmlns:a16="http://schemas.microsoft.com/office/drawing/2014/main" id="{F1870585-87AB-4898-B866-24E2773A188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Data Integrity</a:t>
            </a:r>
            <a:endParaRPr lang="en-GB" sz="900" dirty="0">
              <a:solidFill>
                <a:schemeClr val="bg1"/>
              </a:solidFill>
            </a:endParaRPr>
          </a:p>
        </p:txBody>
      </p:sp>
    </p:spTree>
    <p:extLst>
      <p:ext uri="{BB962C8B-B14F-4D97-AF65-F5344CB8AC3E}">
        <p14:creationId xmlns:p14="http://schemas.microsoft.com/office/powerpoint/2010/main" val="41973082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Statutory reconciliations FY21</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Data Integrity</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pic>
        <p:nvPicPr>
          <p:cNvPr id="21" name="Picture 20">
            <a:extLst>
              <a:ext uri="{FF2B5EF4-FFF2-40B4-BE49-F238E27FC236}">
                <a16:creationId xmlns:a16="http://schemas.microsoft.com/office/drawing/2014/main" id="{B1FCDC86-A6F7-4C03-8B70-A25D482D1872}"/>
              </a:ext>
            </a:extLst>
          </p:cNvPr>
          <p:cNvPicPr>
            <a:picLocks noChangeAspect="1"/>
          </p:cNvPicPr>
          <p:nvPr>
            <p:custDataLst>
              <p:tags r:id="rId3"/>
            </p:custDataLst>
          </p:nvPr>
        </p:nvPicPr>
        <p:blipFill>
          <a:blip r:embed="rId7"/>
          <a:stretch>
            <a:fillRect/>
          </a:stretch>
        </p:blipFill>
        <p:spPr>
          <a:xfrm>
            <a:off x="6835586" y="1358896"/>
            <a:ext cx="4406900" cy="3455329"/>
          </a:xfrm>
          <a:prstGeom prst="rect">
            <a:avLst/>
          </a:prstGeom>
        </p:spPr>
      </p:pic>
      <p:pic>
        <p:nvPicPr>
          <p:cNvPr id="7" name="Picture 6">
            <a:extLst>
              <a:ext uri="{FF2B5EF4-FFF2-40B4-BE49-F238E27FC236}">
                <a16:creationId xmlns:a16="http://schemas.microsoft.com/office/drawing/2014/main" id="{9ACA6E59-D7D5-4946-802A-691F7E02EE76}"/>
              </a:ext>
            </a:extLst>
          </p:cNvPr>
          <p:cNvPicPr>
            <a:picLocks noChangeAspect="1"/>
          </p:cNvPicPr>
          <p:nvPr>
            <p:custDataLst>
              <p:tags r:id="rId4"/>
            </p:custDataLst>
          </p:nvPr>
        </p:nvPicPr>
        <p:blipFill>
          <a:blip r:embed="rId8"/>
          <a:stretch>
            <a:fillRect/>
          </a:stretch>
        </p:blipFill>
        <p:spPr>
          <a:xfrm>
            <a:off x="995362" y="1357085"/>
            <a:ext cx="5327650" cy="2206217"/>
          </a:xfrm>
          <a:prstGeom prst="rect">
            <a:avLst/>
          </a:prstGeom>
        </p:spPr>
      </p:pic>
      <p:grpSp>
        <p:nvGrpSpPr>
          <p:cNvPr id="33" name="Group 32">
            <a:extLst>
              <a:ext uri="{FF2B5EF4-FFF2-40B4-BE49-F238E27FC236}">
                <a16:creationId xmlns:a16="http://schemas.microsoft.com/office/drawing/2014/main" id="{DF28B0A9-C8D3-4838-B1A8-20E1B98F8DC5}"/>
              </a:ext>
            </a:extLst>
          </p:cNvPr>
          <p:cNvGrpSpPr/>
          <p:nvPr>
            <p:custDataLst>
              <p:tags r:id="rId5"/>
            </p:custDataLst>
          </p:nvPr>
        </p:nvGrpSpPr>
        <p:grpSpPr>
          <a:xfrm>
            <a:off x="995364" y="153170"/>
            <a:ext cx="6213178" cy="195814"/>
            <a:chOff x="995364" y="153170"/>
            <a:chExt cx="6213178" cy="195814"/>
          </a:xfrm>
        </p:grpSpPr>
        <p:sp>
          <p:nvSpPr>
            <p:cNvPr id="34"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8"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0"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1" name="Current Section7">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833795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Statutory reconciliations FY22</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Data Integrity</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pic>
        <p:nvPicPr>
          <p:cNvPr id="5" name="Picture 4">
            <a:extLst>
              <a:ext uri="{FF2B5EF4-FFF2-40B4-BE49-F238E27FC236}">
                <a16:creationId xmlns:a16="http://schemas.microsoft.com/office/drawing/2014/main" id="{D8CC2C0A-ED05-4D9F-9CFD-ED0B50E5266C}"/>
              </a:ext>
            </a:extLst>
          </p:cNvPr>
          <p:cNvPicPr>
            <a:picLocks noChangeAspect="1"/>
          </p:cNvPicPr>
          <p:nvPr>
            <p:custDataLst>
              <p:tags r:id="rId3"/>
            </p:custDataLst>
          </p:nvPr>
        </p:nvPicPr>
        <p:blipFill>
          <a:blip r:embed="rId7"/>
          <a:stretch>
            <a:fillRect/>
          </a:stretch>
        </p:blipFill>
        <p:spPr>
          <a:xfrm>
            <a:off x="6853471" y="1358895"/>
            <a:ext cx="4204109" cy="3401168"/>
          </a:xfrm>
          <a:prstGeom prst="rect">
            <a:avLst/>
          </a:prstGeom>
        </p:spPr>
      </p:pic>
      <p:pic>
        <p:nvPicPr>
          <p:cNvPr id="6" name="Picture 5">
            <a:extLst>
              <a:ext uri="{FF2B5EF4-FFF2-40B4-BE49-F238E27FC236}">
                <a16:creationId xmlns:a16="http://schemas.microsoft.com/office/drawing/2014/main" id="{BE49392F-9538-4782-8126-5ABDBA25B764}"/>
              </a:ext>
            </a:extLst>
          </p:cNvPr>
          <p:cNvPicPr>
            <a:picLocks noChangeAspect="1"/>
          </p:cNvPicPr>
          <p:nvPr>
            <p:custDataLst>
              <p:tags r:id="rId4"/>
            </p:custDataLst>
          </p:nvPr>
        </p:nvPicPr>
        <p:blipFill>
          <a:blip r:embed="rId8"/>
          <a:stretch>
            <a:fillRect/>
          </a:stretch>
        </p:blipFill>
        <p:spPr>
          <a:xfrm>
            <a:off x="995362" y="1358895"/>
            <a:ext cx="5421289" cy="1936555"/>
          </a:xfrm>
          <a:prstGeom prst="rect">
            <a:avLst/>
          </a:prstGeom>
        </p:spPr>
      </p:pic>
      <p:grpSp>
        <p:nvGrpSpPr>
          <p:cNvPr id="32" name="Group 31">
            <a:extLst>
              <a:ext uri="{FF2B5EF4-FFF2-40B4-BE49-F238E27FC236}">
                <a16:creationId xmlns:a16="http://schemas.microsoft.com/office/drawing/2014/main" id="{DF28B0A9-C8D3-4838-B1A8-20E1B98F8DC5}"/>
              </a:ext>
            </a:extLst>
          </p:cNvPr>
          <p:cNvGrpSpPr/>
          <p:nvPr>
            <p:custDataLst>
              <p:tags r:id="rId5"/>
            </p:custDataLst>
          </p:nvPr>
        </p:nvGrpSpPr>
        <p:grpSpPr>
          <a:xfrm>
            <a:off x="995364" y="153170"/>
            <a:ext cx="6213178" cy="195814"/>
            <a:chOff x="995364" y="153170"/>
            <a:chExt cx="6213178" cy="195814"/>
          </a:xfrm>
        </p:grpSpPr>
        <p:sp>
          <p:nvSpPr>
            <p:cNvPr id="33"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Current Section7">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6172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Net asset roll forward and items below EBITDA (1/2)</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Data Integrity</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pic>
        <p:nvPicPr>
          <p:cNvPr id="7" name="Picture 6">
            <a:extLst>
              <a:ext uri="{FF2B5EF4-FFF2-40B4-BE49-F238E27FC236}">
                <a16:creationId xmlns:a16="http://schemas.microsoft.com/office/drawing/2014/main" id="{B3EB5236-15FA-42F6-B7FF-4F8218AEFCC2}"/>
              </a:ext>
            </a:extLst>
          </p:cNvPr>
          <p:cNvPicPr>
            <a:picLocks noChangeAspect="1"/>
          </p:cNvPicPr>
          <p:nvPr>
            <p:custDataLst>
              <p:tags r:id="rId3"/>
            </p:custDataLst>
          </p:nvPr>
        </p:nvPicPr>
        <p:blipFill>
          <a:blip r:embed="rId7"/>
          <a:stretch>
            <a:fillRect/>
          </a:stretch>
        </p:blipFill>
        <p:spPr>
          <a:xfrm>
            <a:off x="995362" y="1290147"/>
            <a:ext cx="9069175" cy="2353566"/>
          </a:xfrm>
          <a:prstGeom prst="rect">
            <a:avLst/>
          </a:prstGeom>
        </p:spPr>
      </p:pic>
      <p:pic>
        <p:nvPicPr>
          <p:cNvPr id="8" name="Picture 7">
            <a:extLst>
              <a:ext uri="{FF2B5EF4-FFF2-40B4-BE49-F238E27FC236}">
                <a16:creationId xmlns:a16="http://schemas.microsoft.com/office/drawing/2014/main" id="{6F6E8D7B-9147-47B7-BF52-1B62ABA32320}"/>
              </a:ext>
            </a:extLst>
          </p:cNvPr>
          <p:cNvPicPr>
            <a:picLocks noChangeAspect="1"/>
          </p:cNvPicPr>
          <p:nvPr>
            <p:custDataLst>
              <p:tags r:id="rId4"/>
            </p:custDataLst>
          </p:nvPr>
        </p:nvPicPr>
        <p:blipFill>
          <a:blip r:embed="rId8"/>
          <a:stretch>
            <a:fillRect/>
          </a:stretch>
        </p:blipFill>
        <p:spPr>
          <a:xfrm>
            <a:off x="982152" y="3741833"/>
            <a:ext cx="9082386" cy="2356995"/>
          </a:xfrm>
          <a:prstGeom prst="rect">
            <a:avLst/>
          </a:prstGeom>
        </p:spPr>
      </p:pic>
      <p:grpSp>
        <p:nvGrpSpPr>
          <p:cNvPr id="32" name="Group 31">
            <a:extLst>
              <a:ext uri="{FF2B5EF4-FFF2-40B4-BE49-F238E27FC236}">
                <a16:creationId xmlns:a16="http://schemas.microsoft.com/office/drawing/2014/main" id="{DF28B0A9-C8D3-4838-B1A8-20E1B98F8DC5}"/>
              </a:ext>
            </a:extLst>
          </p:cNvPr>
          <p:cNvGrpSpPr/>
          <p:nvPr>
            <p:custDataLst>
              <p:tags r:id="rId5"/>
            </p:custDataLst>
          </p:nvPr>
        </p:nvGrpSpPr>
        <p:grpSpPr>
          <a:xfrm>
            <a:off x="995364" y="153170"/>
            <a:ext cx="6213178" cy="195814"/>
            <a:chOff x="995364" y="153170"/>
            <a:chExt cx="6213178" cy="195814"/>
          </a:xfrm>
        </p:grpSpPr>
        <p:sp>
          <p:nvSpPr>
            <p:cNvPr id="33"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5"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7"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9"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Current Section7">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9198978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Net asset roll forward and items below EBITDA (2/2)</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Data Integrity</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pic>
        <p:nvPicPr>
          <p:cNvPr id="3" name="Picture 2">
            <a:extLst>
              <a:ext uri="{FF2B5EF4-FFF2-40B4-BE49-F238E27FC236}">
                <a16:creationId xmlns:a16="http://schemas.microsoft.com/office/drawing/2014/main" id="{035D2B96-7DE5-4B2E-A8AF-43EFABC439F3}"/>
              </a:ext>
            </a:extLst>
          </p:cNvPr>
          <p:cNvPicPr>
            <a:picLocks noChangeAspect="1"/>
          </p:cNvPicPr>
          <p:nvPr>
            <p:custDataLst>
              <p:tags r:id="rId3"/>
            </p:custDataLst>
          </p:nvPr>
        </p:nvPicPr>
        <p:blipFill>
          <a:blip r:embed="rId6"/>
          <a:stretch>
            <a:fillRect/>
          </a:stretch>
        </p:blipFill>
        <p:spPr>
          <a:xfrm>
            <a:off x="995362" y="1279024"/>
            <a:ext cx="9086850" cy="2358153"/>
          </a:xfrm>
          <a:prstGeom prst="rect">
            <a:avLst/>
          </a:prstGeom>
        </p:spPr>
      </p:pic>
      <p:grpSp>
        <p:nvGrpSpPr>
          <p:cNvPr id="31" name="Group 30">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2"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35"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8"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4056272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GB" dirty="0"/>
              <a:t>Related party remuneration &amp; family expenses add back</a:t>
            </a:r>
            <a:endParaRPr lang="en-US" dirty="0"/>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Data Integrity</a:t>
            </a:r>
            <a:endParaRPr lang="en-US" sz="1600" dirty="0">
              <a:solidFill>
                <a:schemeClr val="bg1"/>
              </a:solidFill>
            </a:endParaRPr>
          </a:p>
        </p:txBody>
      </p:sp>
      <p:sp>
        <p:nvSpPr>
          <p:cNvPr id="25" name="Text Placeholder 7">
            <a:extLst>
              <a:ext uri="{FF2B5EF4-FFF2-40B4-BE49-F238E27FC236}">
                <a16:creationId xmlns:a16="http://schemas.microsoft.com/office/drawing/2014/main" id="{AD67C8C6-73C6-DBE4-8423-FA6B5B76A25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Fifth level</a:t>
            </a:r>
            <a:endParaRPr kumimoji="0" lang="en-US" sz="1000" b="0" i="0" u="none" strike="noStrike" kern="1200" cap="none" spc="0" normalizeH="0" baseline="0" noProof="0" dirty="0">
              <a:ln>
                <a:noFill/>
              </a:ln>
              <a:solidFill>
                <a:srgbClr val="00338D"/>
              </a:solidFill>
              <a:effectLst/>
              <a:uLnTx/>
              <a:uFillTx/>
              <a:latin typeface="Arial"/>
              <a:ea typeface="+mn-ea"/>
              <a:cs typeface="+mn-cs"/>
            </a:endParaRPr>
          </a:p>
        </p:txBody>
      </p:sp>
      <p:sp>
        <p:nvSpPr>
          <p:cNvPr id="26" name="Text Placeholder 12">
            <a:extLst>
              <a:ext uri="{FF2B5EF4-FFF2-40B4-BE49-F238E27FC236}">
                <a16:creationId xmlns:a16="http://schemas.microsoft.com/office/drawing/2014/main" id="{7D9C5272-4607-D6DF-ED24-A5F9CBD1AAEB}"/>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Third item</a:t>
            </a:r>
          </a:p>
        </p:txBody>
      </p:sp>
      <p:sp>
        <p:nvSpPr>
          <p:cNvPr id="27" name="Rounded Rectangle 7">
            <a:extLst>
              <a:ext uri="{FF2B5EF4-FFF2-40B4-BE49-F238E27FC236}">
                <a16:creationId xmlns:a16="http://schemas.microsoft.com/office/drawing/2014/main" id="{0D16A43A-60DC-8A1B-79B0-47B349C95F53}"/>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C4099922-BA5C-6DCD-5496-C593E61A9727}"/>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sysClr val="windowText" lastClr="000000"/>
                </a:solidFill>
                <a:effectLst/>
                <a:uLnTx/>
                <a:uFillTx/>
                <a:latin typeface="Arial"/>
                <a:ea typeface="+mn-ea"/>
                <a:cs typeface="+mn-cs"/>
              </a:rPr>
              <a:t>Call-out box.</a:t>
            </a:r>
          </a:p>
        </p:txBody>
      </p:sp>
      <p:cxnSp>
        <p:nvCxnSpPr>
          <p:cNvPr id="29" name="Straight Arrow Connector 28">
            <a:extLst>
              <a:ext uri="{FF2B5EF4-FFF2-40B4-BE49-F238E27FC236}">
                <a16:creationId xmlns:a16="http://schemas.microsoft.com/office/drawing/2014/main" id="{93438FBD-D2DE-C436-D80A-BFEF6429FB04}"/>
              </a:ext>
            </a:extLst>
          </p:cNvPr>
          <p:cNvCxnSpPr>
            <a:cxnSpLocks/>
            <a:stCxn id="28" idx="2"/>
            <a:endCxn id="2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pic>
        <p:nvPicPr>
          <p:cNvPr id="5" name="Picture 4">
            <a:extLst>
              <a:ext uri="{FF2B5EF4-FFF2-40B4-BE49-F238E27FC236}">
                <a16:creationId xmlns:a16="http://schemas.microsoft.com/office/drawing/2014/main" id="{E00D9D59-5003-4EBF-BE29-1886FA339EA7}"/>
              </a:ext>
            </a:extLst>
          </p:cNvPr>
          <p:cNvPicPr>
            <a:picLocks noChangeAspect="1"/>
          </p:cNvPicPr>
          <p:nvPr>
            <p:custDataLst>
              <p:tags r:id="rId3"/>
            </p:custDataLst>
          </p:nvPr>
        </p:nvPicPr>
        <p:blipFill>
          <a:blip r:embed="rId11"/>
          <a:stretch>
            <a:fillRect/>
          </a:stretch>
        </p:blipFill>
        <p:spPr>
          <a:xfrm>
            <a:off x="995362" y="1251749"/>
            <a:ext cx="8394700" cy="1757489"/>
          </a:xfrm>
          <a:prstGeom prst="rect">
            <a:avLst/>
          </a:prstGeom>
        </p:spPr>
      </p:pic>
      <p:pic>
        <p:nvPicPr>
          <p:cNvPr id="6" name="Picture 5">
            <a:extLst>
              <a:ext uri="{FF2B5EF4-FFF2-40B4-BE49-F238E27FC236}">
                <a16:creationId xmlns:a16="http://schemas.microsoft.com/office/drawing/2014/main" id="{C89A252A-C78C-46FD-AF32-3735D0F81A10}"/>
              </a:ext>
            </a:extLst>
          </p:cNvPr>
          <p:cNvPicPr>
            <a:picLocks noChangeAspect="1"/>
          </p:cNvPicPr>
          <p:nvPr>
            <p:custDataLst>
              <p:tags r:id="rId4"/>
            </p:custDataLst>
          </p:nvPr>
        </p:nvPicPr>
        <p:blipFill>
          <a:blip r:embed="rId12"/>
          <a:stretch>
            <a:fillRect/>
          </a:stretch>
        </p:blipFill>
        <p:spPr>
          <a:xfrm>
            <a:off x="995362" y="3174927"/>
            <a:ext cx="4381500" cy="2654032"/>
          </a:xfrm>
          <a:prstGeom prst="rect">
            <a:avLst/>
          </a:prstGeom>
        </p:spPr>
      </p:pic>
      <p:sp>
        <p:nvSpPr>
          <p:cNvPr id="22" name="Rectangle 21">
            <a:extLst>
              <a:ext uri="{FF2B5EF4-FFF2-40B4-BE49-F238E27FC236}">
                <a16:creationId xmlns:a16="http://schemas.microsoft.com/office/drawing/2014/main" id="{0432E6B5-B17D-4511-9B47-3F57A58C313A}"/>
              </a:ext>
            </a:extLst>
          </p:cNvPr>
          <p:cNvSpPr/>
          <p:nvPr/>
        </p:nvSpPr>
        <p:spPr>
          <a:xfrm>
            <a:off x="5913162" y="3308763"/>
            <a:ext cx="3476899"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dirty="0">
                <a:ln>
                  <a:noFill/>
                </a:ln>
                <a:solidFill>
                  <a:sysClr val="windowText" lastClr="000000"/>
                </a:solidFill>
                <a:effectLst/>
                <a:uLnTx/>
                <a:uFillTx/>
                <a:latin typeface="Arial"/>
                <a:ea typeface="+mn-ea"/>
                <a:cs typeface="+mn-cs"/>
              </a:rPr>
              <a:t>Reflects the director remuneration add back included in underlying earnings by the vendor. We note that the go-forward MD salary cost included in underlying earnings is £125,000, which is broadly in line with total remuneration of one MD.</a:t>
            </a:r>
          </a:p>
        </p:txBody>
      </p:sp>
      <p:sp>
        <p:nvSpPr>
          <p:cNvPr id="23" name="Rounded Rectangle 7">
            <a:extLst>
              <a:ext uri="{FF2B5EF4-FFF2-40B4-BE49-F238E27FC236}">
                <a16:creationId xmlns:a16="http://schemas.microsoft.com/office/drawing/2014/main" id="{84D8AD0B-3EBB-4D66-989E-6180E3B397EE}"/>
              </a:ext>
            </a:extLst>
          </p:cNvPr>
          <p:cNvSpPr/>
          <p:nvPr>
            <p:custDataLst>
              <p:tags r:id="rId5"/>
            </p:custDataLst>
          </p:nvPr>
        </p:nvSpPr>
        <p:spPr>
          <a:xfrm>
            <a:off x="7904344" y="1656094"/>
            <a:ext cx="294572" cy="415264"/>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30" name="Rounded Rectangle 7">
            <a:extLst>
              <a:ext uri="{FF2B5EF4-FFF2-40B4-BE49-F238E27FC236}">
                <a16:creationId xmlns:a16="http://schemas.microsoft.com/office/drawing/2014/main" id="{B43BB890-F06D-4FF3-ADCA-301CA382191E}"/>
              </a:ext>
            </a:extLst>
          </p:cNvPr>
          <p:cNvSpPr/>
          <p:nvPr>
            <p:custDataLst>
              <p:tags r:id="rId6"/>
            </p:custDataLst>
          </p:nvPr>
        </p:nvSpPr>
        <p:spPr>
          <a:xfrm>
            <a:off x="4007405" y="2087592"/>
            <a:ext cx="196535" cy="762901"/>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sp>
        <p:nvSpPr>
          <p:cNvPr id="31" name="Rounded Rectangle 7">
            <a:extLst>
              <a:ext uri="{FF2B5EF4-FFF2-40B4-BE49-F238E27FC236}">
                <a16:creationId xmlns:a16="http://schemas.microsoft.com/office/drawing/2014/main" id="{B7B0B3B3-2546-4660-99C0-B75803C81EDA}"/>
              </a:ext>
            </a:extLst>
          </p:cNvPr>
          <p:cNvSpPr/>
          <p:nvPr>
            <p:custDataLst>
              <p:tags r:id="rId7"/>
            </p:custDataLst>
          </p:nvPr>
        </p:nvSpPr>
        <p:spPr>
          <a:xfrm>
            <a:off x="4903393" y="3578763"/>
            <a:ext cx="473469" cy="164754"/>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srgbClr val="00338D"/>
              </a:solidFill>
              <a:effectLst/>
              <a:uLnTx/>
              <a:uFillTx/>
              <a:latin typeface="Arial"/>
              <a:ea typeface="+mn-ea"/>
              <a:cs typeface="+mn-cs"/>
            </a:endParaRPr>
          </a:p>
        </p:txBody>
      </p:sp>
      <p:cxnSp>
        <p:nvCxnSpPr>
          <p:cNvPr id="8" name="Connector: Elbow 7">
            <a:extLst>
              <a:ext uri="{FF2B5EF4-FFF2-40B4-BE49-F238E27FC236}">
                <a16:creationId xmlns:a16="http://schemas.microsoft.com/office/drawing/2014/main" id="{228FB144-08C4-4284-84AC-29C0B0768FF3}"/>
              </a:ext>
            </a:extLst>
          </p:cNvPr>
          <p:cNvCxnSpPr>
            <a:cxnSpLocks/>
            <a:stCxn id="47" idx="1"/>
            <a:endCxn id="31" idx="3"/>
          </p:cNvCxnSpPr>
          <p:nvPr/>
        </p:nvCxnSpPr>
        <p:spPr>
          <a:xfrm rot="10800000">
            <a:off x="5376862" y="3661141"/>
            <a:ext cx="536300" cy="747881"/>
          </a:xfrm>
          <a:prstGeom prst="bentConnector3">
            <a:avLst>
              <a:gd name="adj1" fmla="val 50000"/>
            </a:avLst>
          </a:prstGeom>
          <a:ln w="12700">
            <a:solidFill>
              <a:srgbClr val="1E49E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BB79D0DF-6882-4FBF-918E-993AA8C4D9E9}"/>
              </a:ext>
            </a:extLst>
          </p:cNvPr>
          <p:cNvCxnSpPr>
            <a:cxnSpLocks/>
            <a:stCxn id="22" idx="0"/>
            <a:endCxn id="30" idx="1"/>
          </p:cNvCxnSpPr>
          <p:nvPr/>
        </p:nvCxnSpPr>
        <p:spPr>
          <a:xfrm rot="16200000" flipV="1">
            <a:off x="5409649" y="1066799"/>
            <a:ext cx="839720" cy="3644207"/>
          </a:xfrm>
          <a:prstGeom prst="bentConnector4">
            <a:avLst>
              <a:gd name="adj1" fmla="val 27287"/>
              <a:gd name="adj2" fmla="val 106273"/>
            </a:avLst>
          </a:prstGeom>
          <a:ln w="12700">
            <a:solidFill>
              <a:srgbClr val="1E49E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B1CA8500-48F2-4239-9FB1-39AF9AAA8334}"/>
              </a:ext>
            </a:extLst>
          </p:cNvPr>
          <p:cNvCxnSpPr>
            <a:cxnSpLocks/>
            <a:stCxn id="22" idx="0"/>
            <a:endCxn id="23" idx="1"/>
          </p:cNvCxnSpPr>
          <p:nvPr/>
        </p:nvCxnSpPr>
        <p:spPr>
          <a:xfrm rot="5400000" flipH="1" flipV="1">
            <a:off x="7055460" y="2459879"/>
            <a:ext cx="1445037" cy="252732"/>
          </a:xfrm>
          <a:prstGeom prst="bentConnector2">
            <a:avLst/>
          </a:prstGeom>
          <a:ln w="12700">
            <a:solidFill>
              <a:srgbClr val="1E49E2"/>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AB921E94-86F7-4F92-970F-9FBDA715D2DF}"/>
              </a:ext>
            </a:extLst>
          </p:cNvPr>
          <p:cNvSpPr/>
          <p:nvPr/>
        </p:nvSpPr>
        <p:spPr>
          <a:xfrm>
            <a:off x="5913162" y="4249181"/>
            <a:ext cx="3476899" cy="31968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dirty="0">
                <a:ln>
                  <a:noFill/>
                </a:ln>
                <a:solidFill>
                  <a:sysClr val="windowText" lastClr="000000"/>
                </a:solidFill>
                <a:effectLst/>
                <a:uLnTx/>
                <a:uFillTx/>
                <a:latin typeface="Arial"/>
                <a:ea typeface="+mn-ea"/>
                <a:cs typeface="+mn-cs"/>
              </a:rPr>
              <a:t>£71,000 add back for non recurring family payroll included in underlying earnings</a:t>
            </a:r>
          </a:p>
        </p:txBody>
      </p:sp>
      <p:grpSp>
        <p:nvGrpSpPr>
          <p:cNvPr id="43" name="Group 42">
            <a:extLst>
              <a:ext uri="{FF2B5EF4-FFF2-40B4-BE49-F238E27FC236}">
                <a16:creationId xmlns:a16="http://schemas.microsoft.com/office/drawing/2014/main" id="{DF28B0A9-C8D3-4838-B1A8-20E1B98F8DC5}"/>
              </a:ext>
            </a:extLst>
          </p:cNvPr>
          <p:cNvGrpSpPr/>
          <p:nvPr>
            <p:custDataLst>
              <p:tags r:id="rId8"/>
            </p:custDataLst>
          </p:nvPr>
        </p:nvGrpSpPr>
        <p:grpSpPr>
          <a:xfrm>
            <a:off x="995364" y="153170"/>
            <a:ext cx="6213178" cy="195814"/>
            <a:chOff x="995364" y="153170"/>
            <a:chExt cx="6213178" cy="195814"/>
          </a:xfrm>
        </p:grpSpPr>
        <p:sp>
          <p:nvSpPr>
            <p:cNvPr id="44"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5" name="Other Sections2">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6"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8"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9"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0"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1" name="Current Section7">
              <a:hlinkClick r:id="rId19"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793197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93EB6-7D5C-431C-B677-D03263B08E2D}"/>
              </a:ext>
            </a:extLst>
          </p:cNvPr>
          <p:cNvSpPr>
            <a:spLocks noGrp="1"/>
          </p:cNvSpPr>
          <p:nvPr>
            <p:ph type="ctrTitle" idx="4294967295"/>
          </p:nvPr>
        </p:nvSpPr>
        <p:spPr>
          <a:xfrm>
            <a:off x="1205653" y="1618298"/>
            <a:ext cx="5765800" cy="2903537"/>
          </a:xfrm>
        </p:spPr>
        <p:txBody>
          <a:bodyPr/>
          <a:lstStyle/>
          <a:p>
            <a:r>
              <a:rPr lang="en-GB" sz="6600" dirty="0">
                <a:solidFill>
                  <a:srgbClr val="FFFFFF"/>
                </a:solidFill>
                <a:ea typeface="+mn-ea"/>
                <a:cs typeface="+mn-cs"/>
              </a:rPr>
              <a:t>Balance sheet breakdowns</a:t>
            </a:r>
          </a:p>
        </p:txBody>
      </p:sp>
      <p:sp>
        <p:nvSpPr>
          <p:cNvPr id="4" name="UpSlide SubSection Marker" hidden="1">
            <a:extLst>
              <a:ext uri="{FF2B5EF4-FFF2-40B4-BE49-F238E27FC236}">
                <a16:creationId xmlns:a16="http://schemas.microsoft.com/office/drawing/2014/main" id="{9E8BCDDB-3BBA-4C7D-B6FE-2BCDC123C5C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Balance sheet breakdowns</a:t>
            </a:r>
            <a:endParaRPr lang="en-GB" sz="900" dirty="0">
              <a:solidFill>
                <a:schemeClr val="bg1"/>
              </a:solidFill>
            </a:endParaRPr>
          </a:p>
        </p:txBody>
      </p:sp>
    </p:spTree>
    <p:extLst>
      <p:ext uri="{BB962C8B-B14F-4D97-AF65-F5344CB8AC3E}">
        <p14:creationId xmlns:p14="http://schemas.microsoft.com/office/powerpoint/2010/main" val="21689152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Fixed assets</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1" dirty="0">
                <a:solidFill>
                  <a:srgbClr val="00338D"/>
                </a:solidFill>
              </a:rPr>
              <a:t>The NBV of fixed assets has fallen by £0.4 million over the historical period despite a large scale refresh of the vehicle fleet initiated in FY21, which saw additions to the Vehicle fleet of £2.5 million in FY21. The reduction is driven by supply chain disruption resulting in increased lead times for new vehicle delivery and meant that 200 vehicles are on order currently, to be delivered by the end of FY23. </a:t>
            </a:r>
          </a:p>
          <a:p>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1003281" y="6030293"/>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Fixed assets</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b="0" dirty="0">
                <a:solidFill>
                  <a:srgbClr val="000000"/>
                </a:solidFill>
              </a:rPr>
              <a:t>Fixed assets consists mainly of crash cushion vehicles (18t IPVs) and other vehicles (3.5t, 7.5t vehicles etc). Both vehicles for hire and for sale are reflected in the FAR. </a:t>
            </a:r>
          </a:p>
          <a:p>
            <a:pPr>
              <a:defRPr/>
            </a:pPr>
            <a:r>
              <a:rPr lang="en-GB" sz="1000" dirty="0">
                <a:solidFill>
                  <a:schemeClr val="tx2"/>
                </a:solidFill>
              </a:rPr>
              <a:t>Crash cushions for hire - 18t IPVS</a:t>
            </a:r>
          </a:p>
          <a:p>
            <a:r>
              <a:rPr lang="en-GB" sz="1000" b="0" dirty="0">
                <a:solidFill>
                  <a:srgbClr val="000000"/>
                </a:solidFill>
              </a:rPr>
              <a:t>Crash cushions reflect the 18t IPV vehicles and are depreciated at a rate of 15%, lower than other vehicle hire assets, this reflects the longevity of this asset class with some 18t IPVs aged over 10 years old still in use.</a:t>
            </a:r>
          </a:p>
          <a:p>
            <a:pPr>
              <a:defRPr/>
            </a:pPr>
            <a:r>
              <a:rPr lang="en-GB" sz="1000" dirty="0">
                <a:solidFill>
                  <a:schemeClr val="tx2"/>
                </a:solidFill>
              </a:rPr>
              <a:t>New vehicles for hire – all other fleet (3.5t, 7.5t etc)</a:t>
            </a:r>
          </a:p>
          <a:p>
            <a:pPr>
              <a:defRPr/>
            </a:pPr>
            <a:r>
              <a:rPr lang="en-GB" sz="1000" b="0" dirty="0">
                <a:solidFill>
                  <a:srgbClr val="000000"/>
                </a:solidFill>
              </a:rPr>
              <a:t>New vehicles coming into the vehicle hire fleet are now recognised in the New vehicles line of the fixed asset register, having been recognised in the Vehicles for hire line previously. This separation occurred when management increased the depreciation rate to 27.5% on new vehicle additions (previously 20%) to reflect a mix shift away from larger vehicles with lower depreciation rates.</a:t>
            </a:r>
          </a:p>
          <a:p>
            <a:pPr>
              <a:defRPr/>
            </a:pPr>
            <a:endParaRPr lang="en-GB" sz="1000" dirty="0">
              <a:solidFill>
                <a:schemeClr val="tx2"/>
              </a:solidFill>
            </a:endParaRPr>
          </a:p>
          <a:p>
            <a:pPr>
              <a:defRPr/>
            </a:pPr>
            <a:endParaRPr lang="en-GB" sz="1000" dirty="0">
              <a:solidFill>
                <a:schemeClr val="tx2"/>
              </a:solidFill>
            </a:endParaRP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b="1" dirty="0">
                <a:solidFill>
                  <a:schemeClr val="tx2"/>
                </a:solidFill>
              </a:rPr>
              <a:t>Freehold property</a:t>
            </a:r>
          </a:p>
          <a:p>
            <a:pPr lvl="1">
              <a:defRPr/>
            </a:pPr>
            <a:r>
              <a:rPr lang="en-GB" dirty="0"/>
              <a:t>In Sep-20 [Target] disposed of their [Location 4] operating base, this was valued at £0.3 million and the sale resulted in a £73,000 loss on disposal. The new site is held [Landlord 2] a separate entity owned by the directors so does not appear on the fixed asset register. Post-transaction a new lease will be negotiated for the continuing operation of the new site.</a:t>
            </a:r>
          </a:p>
          <a:p>
            <a:pPr lvl="1">
              <a:defRPr/>
            </a:pPr>
            <a:r>
              <a:rPr lang="en-GB" dirty="0"/>
              <a:t>All assets are depreciated on a reducing balance basis, meaning there are no assets with zero NBV still in use in the business.</a:t>
            </a:r>
          </a:p>
          <a:p>
            <a:pPr lvl="1">
              <a:defRPr/>
            </a:pPr>
            <a:endParaRPr lang="en-GB" dirty="0"/>
          </a:p>
          <a:p>
            <a:pPr lvl="1">
              <a:defRPr/>
            </a:pPr>
            <a:endParaRPr lang="en-GB" b="1" dirty="0">
              <a:solidFill>
                <a:schemeClr val="tx2"/>
              </a:solidFill>
            </a:endParaRPr>
          </a:p>
        </p:txBody>
      </p:sp>
      <p:pic>
        <p:nvPicPr>
          <p:cNvPr id="4" name="Picture 3">
            <a:extLst>
              <a:ext uri="{FF2B5EF4-FFF2-40B4-BE49-F238E27FC236}">
                <a16:creationId xmlns:a16="http://schemas.microsoft.com/office/drawing/2014/main" id="{817CF9F4-A3D1-4405-A225-3F33A773E778}"/>
              </a:ext>
            </a:extLst>
          </p:cNvPr>
          <p:cNvPicPr>
            <a:picLocks noChangeAspect="1"/>
          </p:cNvPicPr>
          <p:nvPr>
            <p:custDataLst>
              <p:tags r:id="rId3"/>
            </p:custDataLst>
          </p:nvPr>
        </p:nvPicPr>
        <p:blipFill>
          <a:blip r:embed="rId6"/>
          <a:stretch>
            <a:fillRect/>
          </a:stretch>
        </p:blipFill>
        <p:spPr>
          <a:xfrm>
            <a:off x="1003281" y="1912838"/>
            <a:ext cx="3017766" cy="4060421"/>
          </a:xfrm>
          <a:prstGeom prst="rect">
            <a:avLst/>
          </a:prstGeom>
        </p:spPr>
      </p:pic>
      <p:sp>
        <p:nvSpPr>
          <p:cNvPr id="30" name="object 31">
            <a:extLst>
              <a:ext uri="{FF2B5EF4-FFF2-40B4-BE49-F238E27FC236}">
                <a16:creationId xmlns:a16="http://schemas.microsoft.com/office/drawing/2014/main" id="{A856D5B4-0556-473F-A947-7B47B2971F4C}"/>
              </a:ext>
            </a:extLst>
          </p:cNvPr>
          <p:cNvSpPr>
            <a:spLocks/>
          </p:cNvSpPr>
          <p:nvPr/>
        </p:nvSpPr>
        <p:spPr>
          <a:xfrm>
            <a:off x="894564" y="2283550"/>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2" name="object 31">
            <a:extLst>
              <a:ext uri="{FF2B5EF4-FFF2-40B4-BE49-F238E27FC236}">
                <a16:creationId xmlns:a16="http://schemas.microsoft.com/office/drawing/2014/main" id="{FE28E2B3-7EA5-41DD-B141-376AB968B032}"/>
              </a:ext>
            </a:extLst>
          </p:cNvPr>
          <p:cNvSpPr>
            <a:spLocks/>
          </p:cNvSpPr>
          <p:nvPr/>
        </p:nvSpPr>
        <p:spPr>
          <a:xfrm>
            <a:off x="894564" y="2483840"/>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33" name="object 31">
            <a:extLst>
              <a:ext uri="{FF2B5EF4-FFF2-40B4-BE49-F238E27FC236}">
                <a16:creationId xmlns:a16="http://schemas.microsoft.com/office/drawing/2014/main" id="{E1778197-9A0C-42BF-A01D-81027ED563F0}"/>
              </a:ext>
            </a:extLst>
          </p:cNvPr>
          <p:cNvSpPr>
            <a:spLocks/>
          </p:cNvSpPr>
          <p:nvPr/>
        </p:nvSpPr>
        <p:spPr>
          <a:xfrm>
            <a:off x="891689" y="2998550"/>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sp>
        <p:nvSpPr>
          <p:cNvPr id="38" name="object 31">
            <a:extLst>
              <a:ext uri="{FF2B5EF4-FFF2-40B4-BE49-F238E27FC236}">
                <a16:creationId xmlns:a16="http://schemas.microsoft.com/office/drawing/2014/main" id="{12316E98-E076-4C61-8922-7BFD4673F8D5}"/>
              </a:ext>
            </a:extLst>
          </p:cNvPr>
          <p:cNvSpPr>
            <a:spLocks/>
          </p:cNvSpPr>
          <p:nvPr/>
        </p:nvSpPr>
        <p:spPr>
          <a:xfrm>
            <a:off x="4642344" y="2988486"/>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39" name="object 31">
            <a:extLst>
              <a:ext uri="{FF2B5EF4-FFF2-40B4-BE49-F238E27FC236}">
                <a16:creationId xmlns:a16="http://schemas.microsoft.com/office/drawing/2014/main" id="{D7980583-C886-4F95-B004-41D20926D685}"/>
              </a:ext>
            </a:extLst>
          </p:cNvPr>
          <p:cNvSpPr>
            <a:spLocks/>
          </p:cNvSpPr>
          <p:nvPr/>
        </p:nvSpPr>
        <p:spPr>
          <a:xfrm>
            <a:off x="4642344" y="4047543"/>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sp>
        <p:nvSpPr>
          <p:cNvPr id="40" name="object 31">
            <a:extLst>
              <a:ext uri="{FF2B5EF4-FFF2-40B4-BE49-F238E27FC236}">
                <a16:creationId xmlns:a16="http://schemas.microsoft.com/office/drawing/2014/main" id="{13FD86F6-1538-4904-9A7E-725AED1FEF70}"/>
              </a:ext>
            </a:extLst>
          </p:cNvPr>
          <p:cNvSpPr>
            <a:spLocks/>
          </p:cNvSpPr>
          <p:nvPr/>
        </p:nvSpPr>
        <p:spPr>
          <a:xfrm>
            <a:off x="7917600" y="2275118"/>
            <a:ext cx="143256" cy="143256"/>
          </a:xfrm>
          <a:prstGeom prst="rect">
            <a:avLst/>
          </a:prstGeom>
          <a:blipFill>
            <a:blip r:embed="rId7" cstate="print"/>
            <a:stretch>
              <a:fillRect/>
            </a:stretch>
          </a:blipFill>
        </p:spPr>
        <p:txBody>
          <a:bodyPr wrap="square" lIns="0" tIns="0" rIns="0" bIns="0" rtlCol="0"/>
          <a:lstStyle/>
          <a:p>
            <a:pPr algn="ctr"/>
            <a:r>
              <a:rPr lang="en-GB" sz="800" dirty="0">
                <a:solidFill>
                  <a:schemeClr val="bg1"/>
                </a:solidFill>
              </a:rPr>
              <a:t>3</a:t>
            </a:r>
            <a:endParaRPr sz="800" dirty="0">
              <a:solidFill>
                <a:schemeClr val="bg1"/>
              </a:solidFill>
            </a:endParaRPr>
          </a:p>
        </p:txBody>
      </p:sp>
      <p:grpSp>
        <p:nvGrpSpPr>
          <p:cNvPr id="48" name="Group 47">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4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5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51"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52"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3"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4"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5"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176372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Stock (1/2)</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1" dirty="0">
                <a:solidFill>
                  <a:schemeClr val="tx2"/>
                </a:solidFill>
              </a:rPr>
              <a:t>Stock, which amounts to £0.4 million at Ap-22, consists of crash cushions, marker posts, other parts and consumables. Vehicles for sale remain in the fixed assets register until sold, these are not re-classified into stock when a decision to sell is made. Stock is mainly held at [Location 1], however some marker posts are held at a third party warehouse in xx. </a:t>
            </a:r>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Stock overview</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0" dirty="0">
                <a:solidFill>
                  <a:srgbClr val="000000"/>
                </a:solidFill>
              </a:rPr>
              <a:t>In Nov-20, along with the movement to the new premises, a stock controller was employed to improve stock management. This led to the implementation of monthly stock takes and the use of the xx software system which allowed more efficient digital categorisation of stock between warehouse and specific stock. The stock classifications presented on this page reflect:</a:t>
            </a:r>
          </a:p>
          <a:p>
            <a:pPr marL="171450" indent="-171450">
              <a:buFont typeface="Arial" panose="020B0604020202020204" pitchFamily="34" charset="0"/>
              <a:buChar char="•"/>
            </a:pPr>
            <a:r>
              <a:rPr lang="en-GB" sz="1000" b="0" dirty="0">
                <a:solidFill>
                  <a:srgbClr val="000000"/>
                </a:solidFill>
              </a:rPr>
              <a:t>Marker posts – Marker post stock are parts and consumables associated with the production of marker posts for sale. This stock is kept at a warehouse in xx (third party premises) and is transported to the site for modification prior to sale.</a:t>
            </a:r>
          </a:p>
          <a:p>
            <a:pPr marL="171450" indent="-171450">
              <a:buFont typeface="Arial" panose="020B0604020202020204" pitchFamily="34" charset="0"/>
              <a:buChar char="•"/>
            </a:pPr>
            <a:r>
              <a:rPr lang="en-GB" sz="1000" b="0" dirty="0">
                <a:solidFill>
                  <a:srgbClr val="000000"/>
                </a:solidFill>
              </a:rPr>
              <a:t>General stock – Consists of smaller items of stock. The increase of these items of £0.1 million between Apr-21 and Jan-22 reflects a build in the safety stock levels. </a:t>
            </a:r>
          </a:p>
          <a:p>
            <a:pPr marL="171450" indent="-171450">
              <a:buFont typeface="Arial" panose="020B0604020202020204" pitchFamily="34" charset="0"/>
              <a:buChar char="•"/>
            </a:pPr>
            <a:endParaRPr lang="en-GB"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buFont typeface="Arial" panose="020B0604020202020204" pitchFamily="34" charset="0"/>
              <a:buChar char="•"/>
            </a:pPr>
            <a:r>
              <a:rPr lang="en-GB" sz="1000" b="0" dirty="0">
                <a:solidFill>
                  <a:srgbClr val="000000"/>
                </a:solidFill>
              </a:rPr>
              <a:t>Warehouse stock – Parts, crash cushions and other consumables which are held at the warehouse and are managed by the xx system. </a:t>
            </a:r>
          </a:p>
          <a:p>
            <a:pPr marL="171450" indent="-171450">
              <a:buFont typeface="Arial" panose="020B0604020202020204" pitchFamily="34" charset="0"/>
              <a:buChar char="•"/>
            </a:pPr>
            <a:r>
              <a:rPr lang="en-GB" sz="1000" b="0" dirty="0">
                <a:solidFill>
                  <a:srgbClr val="000000"/>
                </a:solidFill>
              </a:rPr>
              <a:t>Specific stock – Parts, crash cushions and other consumables which are held at the warehouse, but are currently managed by way of manual spreadsheets. </a:t>
            </a:r>
          </a:p>
          <a:p>
            <a:pPr marL="171450" indent="-171450">
              <a:buFont typeface="Arial" panose="020B0604020202020204" pitchFamily="34" charset="0"/>
              <a:buChar char="•"/>
            </a:pPr>
            <a:r>
              <a:rPr lang="en-GB" sz="1000" b="0" dirty="0">
                <a:solidFill>
                  <a:srgbClr val="000000"/>
                </a:solidFill>
              </a:rPr>
              <a:t>Provisioning: Management does not make stock provisions because long lead times and the niche nature of projects means stock can always be sold at cost price, consistent with no stock write-offs made in the historical period. </a:t>
            </a:r>
          </a:p>
          <a:p>
            <a:r>
              <a:rPr lang="en-GB" sz="1000" b="0" dirty="0">
                <a:solidFill>
                  <a:srgbClr val="000000"/>
                </a:solidFill>
              </a:rPr>
              <a:t>There continues to be a level of manual stock management, with specific stock levels updated manually, as this stock is not currently migrated to xx, presenting an opportunity for automation post deal. </a:t>
            </a:r>
          </a:p>
          <a:p>
            <a:r>
              <a:rPr lang="en-GB" sz="1000" b="0" dirty="0">
                <a:solidFill>
                  <a:srgbClr val="000000"/>
                </a:solidFill>
              </a:rPr>
              <a:t>Please see following page for further details on stock.</a:t>
            </a:r>
            <a:endParaRPr lang="en-GB" dirty="0"/>
          </a:p>
        </p:txBody>
      </p:sp>
      <p:pic>
        <p:nvPicPr>
          <p:cNvPr id="4" name="Picture 3">
            <a:extLst>
              <a:ext uri="{FF2B5EF4-FFF2-40B4-BE49-F238E27FC236}">
                <a16:creationId xmlns:a16="http://schemas.microsoft.com/office/drawing/2014/main" id="{9C49EA4F-D3ED-4DFC-9147-11FB13DB33B0}"/>
              </a:ext>
            </a:extLst>
          </p:cNvPr>
          <p:cNvPicPr>
            <a:picLocks noChangeAspect="1"/>
          </p:cNvPicPr>
          <p:nvPr>
            <p:custDataLst>
              <p:tags r:id="rId3"/>
            </p:custDataLst>
          </p:nvPr>
        </p:nvPicPr>
        <p:blipFill>
          <a:blip r:embed="rId6"/>
          <a:stretch>
            <a:fillRect/>
          </a:stretch>
        </p:blipFill>
        <p:spPr>
          <a:xfrm>
            <a:off x="1003281" y="1912838"/>
            <a:ext cx="3017766" cy="2856133"/>
          </a:xfrm>
          <a:prstGeom prst="rect">
            <a:avLst/>
          </a:prstGeom>
        </p:spPr>
      </p:pic>
      <p:grpSp>
        <p:nvGrpSpPr>
          <p:cNvPr id="32" name="Group 31">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3"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2"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852411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Stock (2/2)</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Stock overview (cont.)</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GB" sz="1000" dirty="0">
                <a:solidFill>
                  <a:schemeClr val="tx2"/>
                </a:solidFill>
              </a:rPr>
              <a:t>Stock on water</a:t>
            </a:r>
          </a:p>
          <a:p>
            <a:r>
              <a:rPr lang="en-GB" sz="1000" b="0" dirty="0">
                <a:solidFill>
                  <a:srgbClr val="000000"/>
                </a:solidFill>
              </a:rPr>
              <a:t>Stock is recognised in [Target]’s balance sheet upon receipt into the warehouse. As such, whilst on water and until delivered to [Target]’s facility, it remains largely off balance sheet, with only a prepayment recognised against it upon placing of the order (1/3 of total invoice) and subsequently on arrival to xx (a further 1/3 of total). </a:t>
            </a:r>
          </a:p>
          <a:p>
            <a:r>
              <a:rPr lang="en-GB" sz="1000" b="0" dirty="0">
                <a:solidFill>
                  <a:srgbClr val="000000"/>
                </a:solidFill>
              </a:rPr>
              <a:t>When the stock is received and booked in the prepayment (reflecting 2/3 of the total cost) is unwound. This also results in a recognition of a trade creditor balance for the last 1/3 of the stock value, until settled typically 45 days after this point. </a:t>
            </a:r>
          </a:p>
          <a:p>
            <a:r>
              <a:rPr lang="en-GB" sz="1000" b="0" dirty="0">
                <a:solidFill>
                  <a:srgbClr val="000000"/>
                </a:solidFill>
              </a:rPr>
              <a:t>We understand from discussion with Management that this treatment of stock on water reflects Management’s assumption that stock on water was the responsibility of the supplier. However, more recently xx supplier has advised that title to stock passed at the point of dispatch, creating a discrepancy between the two methodologies.</a:t>
            </a:r>
          </a:p>
          <a:p>
            <a:r>
              <a:rPr lang="en-GB" sz="1000" b="0" dirty="0">
                <a:solidFill>
                  <a:srgbClr val="000000"/>
                </a:solidFill>
              </a:rPr>
              <a:t>We recommend that the terms of supplier agreements are reviewed as part of the legal due diligence. </a:t>
            </a: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0" dirty="0">
                <a:solidFill>
                  <a:srgbClr val="000000"/>
                </a:solidFill>
              </a:rPr>
              <a:t>Stock on water reflects mostly crash cushions ordered from xx and amounted to £0.2 million at Apr-22 (reflecting 12 cushions at a total cost of £163,000 which is inclusive of import costs). </a:t>
            </a:r>
          </a:p>
          <a:p>
            <a:r>
              <a:rPr lang="en-GB" sz="1000" b="0" dirty="0">
                <a:solidFill>
                  <a:srgbClr val="000000"/>
                </a:solidFill>
              </a:rPr>
              <a:t>We understand the value of stock on water has recently increased with more crash cushions on water (driven by the supply chain disruptions). We have considered this further in net working capital.</a:t>
            </a:r>
          </a:p>
          <a:p>
            <a:pPr lvl="1"/>
            <a:endParaRPr lang="en-GB" dirty="0"/>
          </a:p>
        </p:txBody>
      </p:sp>
      <p:pic>
        <p:nvPicPr>
          <p:cNvPr id="4" name="Picture 3">
            <a:extLst>
              <a:ext uri="{FF2B5EF4-FFF2-40B4-BE49-F238E27FC236}">
                <a16:creationId xmlns:a16="http://schemas.microsoft.com/office/drawing/2014/main" id="{39E5F878-2B72-4CD2-B405-818D5487F305}"/>
              </a:ext>
            </a:extLst>
          </p:cNvPr>
          <p:cNvPicPr>
            <a:picLocks noChangeAspect="1"/>
          </p:cNvPicPr>
          <p:nvPr>
            <p:custDataLst>
              <p:tags r:id="rId3"/>
            </p:custDataLst>
          </p:nvPr>
        </p:nvPicPr>
        <p:blipFill>
          <a:blip r:embed="rId7"/>
          <a:stretch>
            <a:fillRect/>
          </a:stretch>
        </p:blipFill>
        <p:spPr>
          <a:xfrm>
            <a:off x="995121" y="1912838"/>
            <a:ext cx="3234418" cy="1396531"/>
          </a:xfrm>
          <a:prstGeom prst="rect">
            <a:avLst/>
          </a:prstGeom>
        </p:spPr>
      </p:pic>
      <p:grpSp>
        <p:nvGrpSpPr>
          <p:cNvPr id="32" name="Group 31">
            <a:extLst>
              <a:ext uri="{FF2B5EF4-FFF2-40B4-BE49-F238E27FC236}">
                <a16:creationId xmlns:a16="http://schemas.microsoft.com/office/drawing/2014/main" id="{DF28B0A9-C8D3-4838-B1A8-20E1B98F8DC5}"/>
              </a:ext>
            </a:extLst>
          </p:cNvPr>
          <p:cNvGrpSpPr/>
          <p:nvPr>
            <p:custDataLst>
              <p:tags r:id="rId4"/>
            </p:custDataLst>
          </p:nvPr>
        </p:nvGrpSpPr>
        <p:grpSpPr>
          <a:xfrm>
            <a:off x="995364" y="153170"/>
            <a:ext cx="6213178" cy="195814"/>
            <a:chOff x="995364" y="153170"/>
            <a:chExt cx="6213178" cy="195814"/>
          </a:xfrm>
        </p:grpSpPr>
        <p:sp>
          <p:nvSpPr>
            <p:cNvPr id="3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8"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9"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0"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1"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2"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3" name="Current Section7">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7432581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Trade debtors</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1" dirty="0">
                <a:solidFill>
                  <a:schemeClr val="tx2"/>
                </a:solidFill>
              </a:rPr>
              <a:t>Trade debtor days have reduced from an average of 75 days in FY20 to 45 in FY22 a result of the increased prevalence of new vehicle sales in the revenue mix which are invoiced upon vehicle delivery.</a:t>
            </a:r>
          </a:p>
          <a:p>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Trade debtors</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0" dirty="0">
                <a:solidFill>
                  <a:srgbClr val="000000"/>
                </a:solidFill>
              </a:rPr>
              <a:t>There have been no bad debt write-offs in the historical period, this is due to tight credit control with new customers without trading history invoiced on a proforma basis, after this the majority of customers are on 30 day EOM terms with a few operating on 60 day terms. [Target] also has debtor insurance which covers the majority of debtor balances although, this has been used infrequently. </a:t>
            </a:r>
          </a:p>
          <a:p>
            <a:r>
              <a:rPr lang="en-GB" sz="1000" b="0" dirty="0">
                <a:solidFill>
                  <a:srgbClr val="000000"/>
                </a:solidFill>
              </a:rPr>
              <a:t>The peaks in debtor days in Jan-20, Jan-21 and Jan-22 are driven by reduced trading activity in December of each year which sees a significant number of customers off-hire vehicles for a two week period of industry shut down.</a:t>
            </a: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endParaRPr lang="en-GB" b="1" dirty="0">
              <a:solidFill>
                <a:schemeClr val="tx2"/>
              </a:solidFill>
            </a:endParaRPr>
          </a:p>
          <a:p>
            <a:pPr lvl="1">
              <a:defRPr/>
            </a:pPr>
            <a:endParaRPr lang="en-GB" dirty="0">
              <a:solidFill>
                <a:srgbClr val="000000"/>
              </a:solidFill>
            </a:endParaRPr>
          </a:p>
          <a:p>
            <a:pPr lvl="1">
              <a:defRPr/>
            </a:pPr>
            <a:endParaRPr lang="en-GB" dirty="0">
              <a:solidFill>
                <a:srgbClr val="000000"/>
              </a:solidFill>
            </a:endParaRPr>
          </a:p>
          <a:p>
            <a:pPr lvl="1"/>
            <a:endParaRPr lang="en-GB" dirty="0"/>
          </a:p>
        </p:txBody>
      </p:sp>
      <p:pic>
        <p:nvPicPr>
          <p:cNvPr id="4" name="Picture 3">
            <a:extLst>
              <a:ext uri="{FF2B5EF4-FFF2-40B4-BE49-F238E27FC236}">
                <a16:creationId xmlns:a16="http://schemas.microsoft.com/office/drawing/2014/main" id="{E5EF1896-02AD-4069-AD27-B024AEFFEB21}"/>
              </a:ext>
            </a:extLst>
          </p:cNvPr>
          <p:cNvPicPr>
            <a:picLocks noChangeAspect="1"/>
          </p:cNvPicPr>
          <p:nvPr>
            <p:custDataLst>
              <p:tags r:id="rId3"/>
            </p:custDataLst>
          </p:nvPr>
        </p:nvPicPr>
        <p:blipFill>
          <a:blip r:embed="rId8"/>
          <a:stretch>
            <a:fillRect/>
          </a:stretch>
        </p:blipFill>
        <p:spPr>
          <a:xfrm>
            <a:off x="995121" y="1912838"/>
            <a:ext cx="3576345" cy="1952674"/>
          </a:xfrm>
          <a:prstGeom prst="rect">
            <a:avLst/>
          </a:prstGeom>
        </p:spPr>
      </p:pic>
      <p:pic>
        <p:nvPicPr>
          <p:cNvPr id="5" name="Picture 4">
            <a:extLst>
              <a:ext uri="{FF2B5EF4-FFF2-40B4-BE49-F238E27FC236}">
                <a16:creationId xmlns:a16="http://schemas.microsoft.com/office/drawing/2014/main" id="{305893EA-F441-4E9F-B674-E750BDC5C59B}"/>
              </a:ext>
            </a:extLst>
          </p:cNvPr>
          <p:cNvPicPr>
            <a:picLocks noChangeAspect="1"/>
          </p:cNvPicPr>
          <p:nvPr>
            <p:custDataLst>
              <p:tags r:id="rId4"/>
            </p:custDataLst>
          </p:nvPr>
        </p:nvPicPr>
        <p:blipFill>
          <a:blip r:embed="rId9"/>
          <a:stretch>
            <a:fillRect/>
          </a:stretch>
        </p:blipFill>
        <p:spPr>
          <a:xfrm>
            <a:off x="995121" y="3982992"/>
            <a:ext cx="3568185" cy="1540642"/>
          </a:xfrm>
          <a:prstGeom prst="rect">
            <a:avLst/>
          </a:prstGeom>
        </p:spPr>
      </p:pic>
      <p:sp>
        <p:nvSpPr>
          <p:cNvPr id="42" name="Rounded Rectangle 7">
            <a:extLst>
              <a:ext uri="{FF2B5EF4-FFF2-40B4-BE49-F238E27FC236}">
                <a16:creationId xmlns:a16="http://schemas.microsoft.com/office/drawing/2014/main" id="{BA3CF137-916E-4C23-9693-9449EA2CCDDA}"/>
              </a:ext>
            </a:extLst>
          </p:cNvPr>
          <p:cNvSpPr/>
          <p:nvPr>
            <p:custDataLst>
              <p:tags r:id="rId5"/>
            </p:custDataLst>
          </p:nvPr>
        </p:nvSpPr>
        <p:spPr>
          <a:xfrm>
            <a:off x="995121" y="5350329"/>
            <a:ext cx="3576345" cy="177214"/>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grpSp>
        <p:nvGrpSpPr>
          <p:cNvPr id="38" name="Group 37">
            <a:extLst>
              <a:ext uri="{FF2B5EF4-FFF2-40B4-BE49-F238E27FC236}">
                <a16:creationId xmlns:a16="http://schemas.microsoft.com/office/drawing/2014/main" id="{DF28B0A9-C8D3-4838-B1A8-20E1B98F8DC5}"/>
              </a:ext>
            </a:extLst>
          </p:cNvPr>
          <p:cNvGrpSpPr/>
          <p:nvPr>
            <p:custDataLst>
              <p:tags r:id="rId6"/>
            </p:custDataLst>
          </p:nvPr>
        </p:nvGrpSpPr>
        <p:grpSpPr>
          <a:xfrm>
            <a:off x="995364" y="153170"/>
            <a:ext cx="6213178" cy="195814"/>
            <a:chOff x="995364" y="153170"/>
            <a:chExt cx="6213178" cy="195814"/>
          </a:xfrm>
        </p:grpSpPr>
        <p:sp>
          <p:nvSpPr>
            <p:cNvPr id="3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0"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5"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6" name="Current Section7">
              <a:hlinkClick r:id="rId16"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52923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Prepayments and accrued income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t>Prepayments and accrued income reflect mostly prepayments of stock (e.g. crash cushions and parts) as well as prepayments on new vehicles purchased for resale, and administrative costs such as insurance, road tax and business rates. Supply chain issues and the increasing demand on vehicles have resulted in a recent build in prepayments as [Target] has continued to order an increasing number of crash cushions from US, which are not anticipated to be received until FY23.</a:t>
            </a:r>
          </a:p>
          <a:p>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Prepayments and accrued income</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indent="-228600">
              <a:buFont typeface="+mj-lt"/>
              <a:buAutoNum type="arabicPeriod"/>
            </a:pPr>
            <a:r>
              <a:rPr lang="en-GB" sz="1000" b="0" dirty="0"/>
              <a:t>Management notes that repair costs for the new premises </a:t>
            </a:r>
            <a:r>
              <a:rPr lang="en-GB" sz="1000" b="0" dirty="0">
                <a:solidFill>
                  <a:srgbClr val="000000"/>
                </a:solidFill>
              </a:rPr>
              <a:t>were prepaid in Apr-20 and released in Sep-20 when the work was completed. This accounting was adopted based on advice received from [Target]’s auditors [Accountant]. As this relates to a historical period we have not sought to adjust this out of working capital. </a:t>
            </a:r>
          </a:p>
          <a:p>
            <a:pPr marL="228600" indent="-228600">
              <a:buFont typeface="+mj-lt"/>
              <a:buAutoNum type="arabicPeriod"/>
            </a:pPr>
            <a:r>
              <a:rPr lang="en-GB" sz="1000" b="0" dirty="0">
                <a:solidFill>
                  <a:srgbClr val="000000"/>
                </a:solidFill>
              </a:rPr>
              <a:t>The build in prepayments Jan-22- Apr-22 is driven by prepayments of crash cushions on water. These items are mostly prepaid for prior to dispatch from xx (2/3 of invoice), however are recognised in stock upon receipt into the warehouse. </a:t>
            </a:r>
          </a:p>
          <a:p>
            <a:endParaRPr lang="en-GB" sz="1000" b="0" dirty="0">
              <a:solidFill>
                <a:srgbClr val="000000"/>
              </a:solidFill>
            </a:endParaRP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GB" sz="1000" b="0" dirty="0">
              <a:solidFill>
                <a:srgbClr val="000000"/>
              </a:solidFill>
            </a:endParaRPr>
          </a:p>
        </p:txBody>
      </p:sp>
      <p:pic>
        <p:nvPicPr>
          <p:cNvPr id="5" name="Picture 4">
            <a:extLst>
              <a:ext uri="{FF2B5EF4-FFF2-40B4-BE49-F238E27FC236}">
                <a16:creationId xmlns:a16="http://schemas.microsoft.com/office/drawing/2014/main" id="{5D92B8E4-DDB6-4999-A3FB-E02F8FC61FDC}"/>
              </a:ext>
            </a:extLst>
          </p:cNvPr>
          <p:cNvPicPr>
            <a:picLocks noChangeAspect="1"/>
          </p:cNvPicPr>
          <p:nvPr>
            <p:custDataLst>
              <p:tags r:id="rId3"/>
            </p:custDataLst>
          </p:nvPr>
        </p:nvPicPr>
        <p:blipFill>
          <a:blip r:embed="rId9"/>
          <a:stretch>
            <a:fillRect/>
          </a:stretch>
        </p:blipFill>
        <p:spPr>
          <a:xfrm>
            <a:off x="995121" y="1912838"/>
            <a:ext cx="3132000" cy="1983812"/>
          </a:xfrm>
          <a:prstGeom prst="rect">
            <a:avLst/>
          </a:prstGeom>
        </p:spPr>
      </p:pic>
      <p:pic>
        <p:nvPicPr>
          <p:cNvPr id="6" name="Picture 5">
            <a:extLst>
              <a:ext uri="{FF2B5EF4-FFF2-40B4-BE49-F238E27FC236}">
                <a16:creationId xmlns:a16="http://schemas.microsoft.com/office/drawing/2014/main" id="{7F267DD1-0923-432B-B97D-F3DD1DB41D97}"/>
              </a:ext>
            </a:extLst>
          </p:cNvPr>
          <p:cNvPicPr>
            <a:picLocks noChangeAspect="1"/>
          </p:cNvPicPr>
          <p:nvPr>
            <p:custDataLst>
              <p:tags r:id="rId4"/>
            </p:custDataLst>
          </p:nvPr>
        </p:nvPicPr>
        <p:blipFill>
          <a:blip r:embed="rId10"/>
          <a:stretch>
            <a:fillRect/>
          </a:stretch>
        </p:blipFill>
        <p:spPr>
          <a:xfrm>
            <a:off x="860955" y="4338380"/>
            <a:ext cx="3321065" cy="1283588"/>
          </a:xfrm>
          <a:prstGeom prst="rect">
            <a:avLst/>
          </a:prstGeom>
        </p:spPr>
      </p:pic>
      <p:sp>
        <p:nvSpPr>
          <p:cNvPr id="42" name="Rounded Rectangle 7">
            <a:extLst>
              <a:ext uri="{FF2B5EF4-FFF2-40B4-BE49-F238E27FC236}">
                <a16:creationId xmlns:a16="http://schemas.microsoft.com/office/drawing/2014/main" id="{35561722-E14E-4A87-85A1-8C84F88D6C01}"/>
              </a:ext>
            </a:extLst>
          </p:cNvPr>
          <p:cNvSpPr/>
          <p:nvPr>
            <p:custDataLst>
              <p:tags r:id="rId5"/>
            </p:custDataLst>
          </p:nvPr>
        </p:nvSpPr>
        <p:spPr>
          <a:xfrm>
            <a:off x="3761014" y="4474029"/>
            <a:ext cx="326572" cy="772885"/>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3" name="Rounded Rectangle 7">
            <a:extLst>
              <a:ext uri="{FF2B5EF4-FFF2-40B4-BE49-F238E27FC236}">
                <a16:creationId xmlns:a16="http://schemas.microsoft.com/office/drawing/2014/main" id="{98541D7C-AD77-4B69-A36B-020D40DF52FD}"/>
              </a:ext>
            </a:extLst>
          </p:cNvPr>
          <p:cNvSpPr/>
          <p:nvPr>
            <p:custDataLst>
              <p:tags r:id="rId6"/>
            </p:custDataLst>
          </p:nvPr>
        </p:nvSpPr>
        <p:spPr>
          <a:xfrm>
            <a:off x="2062841" y="4490358"/>
            <a:ext cx="702129" cy="772885"/>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1" name="object 31">
            <a:extLst>
              <a:ext uri="{FF2B5EF4-FFF2-40B4-BE49-F238E27FC236}">
                <a16:creationId xmlns:a16="http://schemas.microsoft.com/office/drawing/2014/main" id="{25F993E2-E3E3-4999-BB53-1779DE335971}"/>
              </a:ext>
            </a:extLst>
          </p:cNvPr>
          <p:cNvSpPr>
            <a:spLocks/>
          </p:cNvSpPr>
          <p:nvPr/>
        </p:nvSpPr>
        <p:spPr>
          <a:xfrm>
            <a:off x="2342277" y="4330773"/>
            <a:ext cx="143256" cy="143256"/>
          </a:xfrm>
          <a:prstGeom prst="rect">
            <a:avLst/>
          </a:prstGeom>
          <a:blipFill>
            <a:blip r:embed="rId11" cstate="print"/>
            <a:stretch>
              <a:fillRect/>
            </a:stretch>
          </a:blipFill>
        </p:spPr>
        <p:txBody>
          <a:bodyPr wrap="square" lIns="0" tIns="0" rIns="0" bIns="0" rtlCol="0"/>
          <a:lstStyle/>
          <a:p>
            <a:pPr algn="ctr"/>
            <a:r>
              <a:rPr lang="en-GB" sz="800" dirty="0">
                <a:solidFill>
                  <a:schemeClr val="bg1"/>
                </a:solidFill>
              </a:rPr>
              <a:t>1</a:t>
            </a:r>
            <a:endParaRPr sz="800" dirty="0">
              <a:solidFill>
                <a:schemeClr val="bg1"/>
              </a:solidFill>
            </a:endParaRPr>
          </a:p>
        </p:txBody>
      </p:sp>
      <p:sp>
        <p:nvSpPr>
          <p:cNvPr id="46" name="object 31">
            <a:extLst>
              <a:ext uri="{FF2B5EF4-FFF2-40B4-BE49-F238E27FC236}">
                <a16:creationId xmlns:a16="http://schemas.microsoft.com/office/drawing/2014/main" id="{D32DD29D-3836-4EF9-A583-7094FF9FC7FD}"/>
              </a:ext>
            </a:extLst>
          </p:cNvPr>
          <p:cNvSpPr>
            <a:spLocks/>
          </p:cNvSpPr>
          <p:nvPr/>
        </p:nvSpPr>
        <p:spPr>
          <a:xfrm>
            <a:off x="3840897" y="4330773"/>
            <a:ext cx="143256" cy="143256"/>
          </a:xfrm>
          <a:prstGeom prst="rect">
            <a:avLst/>
          </a:prstGeom>
          <a:blipFill>
            <a:blip r:embed="rId11" cstate="print"/>
            <a:stretch>
              <a:fillRect/>
            </a:stretch>
          </a:blipFill>
        </p:spPr>
        <p:txBody>
          <a:bodyPr wrap="square" lIns="0" tIns="0" rIns="0" bIns="0" rtlCol="0"/>
          <a:lstStyle/>
          <a:p>
            <a:pPr algn="ctr"/>
            <a:r>
              <a:rPr lang="en-GB" sz="800" dirty="0">
                <a:solidFill>
                  <a:schemeClr val="bg1"/>
                </a:solidFill>
              </a:rPr>
              <a:t>2</a:t>
            </a:r>
            <a:endParaRPr sz="800" dirty="0">
              <a:solidFill>
                <a:schemeClr val="bg1"/>
              </a:solidFill>
            </a:endParaRPr>
          </a:p>
        </p:txBody>
      </p:sp>
      <p:grpSp>
        <p:nvGrpSpPr>
          <p:cNvPr id="44" name="Group 43">
            <a:extLst>
              <a:ext uri="{FF2B5EF4-FFF2-40B4-BE49-F238E27FC236}">
                <a16:creationId xmlns:a16="http://schemas.microsoft.com/office/drawing/2014/main" id="{DF28B0A9-C8D3-4838-B1A8-20E1B98F8DC5}"/>
              </a:ext>
            </a:extLst>
          </p:cNvPr>
          <p:cNvGrpSpPr/>
          <p:nvPr>
            <p:custDataLst>
              <p:tags r:id="rId7"/>
            </p:custDataLst>
          </p:nvPr>
        </p:nvGrpSpPr>
        <p:grpSpPr>
          <a:xfrm>
            <a:off x="995364" y="153170"/>
            <a:ext cx="6213178" cy="195814"/>
            <a:chOff x="995364" y="153170"/>
            <a:chExt cx="6213178" cy="195814"/>
          </a:xfrm>
        </p:grpSpPr>
        <p:sp>
          <p:nvSpPr>
            <p:cNvPr id="4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7"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8"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9"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50"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51"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52" name="Current Section7">
              <a:hlinkClick r:id="rId18"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6186491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Trade creditors</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1" dirty="0">
                <a:solidFill>
                  <a:schemeClr val="tx2"/>
                </a:solidFill>
              </a:rPr>
              <a:t>Trade creditors and average creditor days have increased by £0.2 million (10 days) over the historical period, driven by increased purchases of crash cushions from a xx based supplier and supply chain disruptions resulting in longer lead times. </a:t>
            </a:r>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Trade creditors</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r>
              <a:rPr lang="en-GB" dirty="0">
                <a:solidFill>
                  <a:srgbClr val="000000"/>
                </a:solidFill>
              </a:rPr>
              <a:t>Crash cushion stock has long lead times compared to other stock (increased further by Covid-19 supply chain disruption) and is invoiced 33% on order, 33% on xx arrival and 33% 45 days after final delivery meaning the balance remains within creditors for longer periods. Other suppliers are paid 30 days after the invoice date. All suppliers are paid as part of weekly BACS runs. </a:t>
            </a:r>
          </a:p>
          <a:p>
            <a:pPr>
              <a:defRPr/>
            </a:pPr>
            <a:r>
              <a:rPr lang="en-GB" sz="1000" dirty="0">
                <a:solidFill>
                  <a:schemeClr val="tx2"/>
                </a:solidFill>
              </a:rPr>
              <a:t>Trade creditor normalisation consideration</a:t>
            </a:r>
          </a:p>
          <a:p>
            <a:r>
              <a:rPr lang="en-GB" sz="1000" b="0" dirty="0">
                <a:solidFill>
                  <a:srgbClr val="000000"/>
                </a:solidFill>
              </a:rPr>
              <a:t>Whilst it could be argued that trade creditors are currently higher than the ‘norm’ (with average days in FY21 and FY22 10 days in excess of FY20 levels) driven by supply chain issues which are likely to unwind over the longer term, it is likely that any adjustment to trade creditors will be offset to a large degree by the opposite adjustment to stock.</a:t>
            </a:r>
          </a:p>
          <a:p>
            <a:r>
              <a:rPr lang="en-GB" sz="1000" b="0" dirty="0">
                <a:solidFill>
                  <a:srgbClr val="000000"/>
                </a:solidFill>
              </a:rPr>
              <a:t>We therefore have not proposed to normalise NWC for trade creditors.</a:t>
            </a:r>
          </a:p>
          <a:p>
            <a:r>
              <a:rPr lang="en-GB" sz="1000" b="0" dirty="0">
                <a:solidFill>
                  <a:srgbClr val="000000"/>
                </a:solidFill>
              </a:rPr>
              <a:t>See earlier in the report for further discussion around NWC. </a:t>
            </a:r>
          </a:p>
          <a:p>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defRPr/>
            </a:pPr>
            <a:endParaRPr lang="en-GB" b="1" dirty="0">
              <a:solidFill>
                <a:schemeClr val="tx2"/>
              </a:solidFill>
            </a:endParaRPr>
          </a:p>
          <a:p>
            <a:pPr lvl="1">
              <a:defRPr/>
            </a:pPr>
            <a:endParaRPr lang="en-GB" dirty="0">
              <a:solidFill>
                <a:srgbClr val="000000"/>
              </a:solidFill>
            </a:endParaRPr>
          </a:p>
          <a:p>
            <a:pPr lvl="1">
              <a:defRPr/>
            </a:pPr>
            <a:endParaRPr lang="en-GB" dirty="0">
              <a:solidFill>
                <a:srgbClr val="000000"/>
              </a:solidFill>
            </a:endParaRPr>
          </a:p>
          <a:p>
            <a:pPr lvl="1"/>
            <a:endParaRPr lang="en-GB" dirty="0"/>
          </a:p>
        </p:txBody>
      </p:sp>
      <p:pic>
        <p:nvPicPr>
          <p:cNvPr id="4" name="Picture 3">
            <a:extLst>
              <a:ext uri="{FF2B5EF4-FFF2-40B4-BE49-F238E27FC236}">
                <a16:creationId xmlns:a16="http://schemas.microsoft.com/office/drawing/2014/main" id="{7B8D6026-22BA-4EA9-AFBE-8FE9C8DA1FB2}"/>
              </a:ext>
            </a:extLst>
          </p:cNvPr>
          <p:cNvPicPr>
            <a:picLocks noChangeAspect="1"/>
          </p:cNvPicPr>
          <p:nvPr>
            <p:custDataLst>
              <p:tags r:id="rId3"/>
            </p:custDataLst>
          </p:nvPr>
        </p:nvPicPr>
        <p:blipFill>
          <a:blip r:embed="rId7"/>
          <a:stretch>
            <a:fillRect/>
          </a:stretch>
        </p:blipFill>
        <p:spPr>
          <a:xfrm>
            <a:off x="991547" y="3915322"/>
            <a:ext cx="3538779" cy="1317101"/>
          </a:xfrm>
          <a:prstGeom prst="rect">
            <a:avLst/>
          </a:prstGeom>
        </p:spPr>
      </p:pic>
      <p:pic>
        <p:nvPicPr>
          <p:cNvPr id="5" name="Picture 4">
            <a:extLst>
              <a:ext uri="{FF2B5EF4-FFF2-40B4-BE49-F238E27FC236}">
                <a16:creationId xmlns:a16="http://schemas.microsoft.com/office/drawing/2014/main" id="{F3704DBD-EB24-4EF6-83FB-6CA4CF658718}"/>
              </a:ext>
            </a:extLst>
          </p:cNvPr>
          <p:cNvPicPr>
            <a:picLocks noChangeAspect="1"/>
          </p:cNvPicPr>
          <p:nvPr>
            <p:custDataLst>
              <p:tags r:id="rId4"/>
            </p:custDataLst>
          </p:nvPr>
        </p:nvPicPr>
        <p:blipFill>
          <a:blip r:embed="rId8"/>
          <a:stretch>
            <a:fillRect/>
          </a:stretch>
        </p:blipFill>
        <p:spPr>
          <a:xfrm>
            <a:off x="1007360" y="1912838"/>
            <a:ext cx="3530619" cy="1804980"/>
          </a:xfrm>
          <a:prstGeom prst="rect">
            <a:avLst/>
          </a:prstGeom>
        </p:spPr>
      </p:pic>
      <p:grpSp>
        <p:nvGrpSpPr>
          <p:cNvPr id="33" name="Group 32">
            <a:extLst>
              <a:ext uri="{FF2B5EF4-FFF2-40B4-BE49-F238E27FC236}">
                <a16:creationId xmlns:a16="http://schemas.microsoft.com/office/drawing/2014/main" id="{DF28B0A9-C8D3-4838-B1A8-20E1B98F8DC5}"/>
              </a:ext>
            </a:extLst>
          </p:cNvPr>
          <p:cNvGrpSpPr/>
          <p:nvPr>
            <p:custDataLst>
              <p:tags r:id="rId5"/>
            </p:custDataLst>
          </p:nvPr>
        </p:nvGrpSpPr>
        <p:grpSpPr>
          <a:xfrm>
            <a:off x="995364" y="153170"/>
            <a:ext cx="6213178" cy="195814"/>
            <a:chOff x="995364" y="153170"/>
            <a:chExt cx="6213178" cy="195814"/>
          </a:xfrm>
        </p:grpSpPr>
        <p:sp>
          <p:nvSpPr>
            <p:cNvPr id="38"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9"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0"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1"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2"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3"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4" name="Current Section7">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359868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dirty="0"/>
              <a:t>Accruals and deferred income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Balance sheet breakdowns</a:t>
            </a:r>
            <a:endParaRPr lang="en-US" sz="1600" dirty="0">
              <a:solidFill>
                <a:schemeClr val="bg1"/>
              </a:solidFill>
            </a:endParaRPr>
          </a:p>
        </p:txBody>
      </p:sp>
      <p:sp>
        <p:nvSpPr>
          <p:cNvPr id="103" name="Text Placeholder 11">
            <a:extLst>
              <a:ext uri="{FF2B5EF4-FFF2-40B4-BE49-F238E27FC236}">
                <a16:creationId xmlns:a16="http://schemas.microsoft.com/office/drawing/2014/main" id="{58E2CAB9-2C4D-A92D-9BAF-47838371D220}"/>
              </a:ext>
            </a:extLst>
          </p:cNvPr>
          <p:cNvSpPr txBox="1">
            <a:spLocks/>
          </p:cNvSpPr>
          <p:nvPr/>
        </p:nvSpPr>
        <p:spPr>
          <a:xfrm>
            <a:off x="1003281" y="1334558"/>
            <a:ext cx="10192299" cy="460800"/>
          </a:xfrm>
          <a:prstGeom prst="rect">
            <a:avLst/>
          </a:prstGeom>
        </p:spPr>
        <p:txBody>
          <a:bodyPr lIns="0" tIns="0" rIns="0" bIns="0"/>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dirty="0"/>
              <a:t>Accruals and deferred income reflect mostly deferred income on new vehicles for resale or crash cushion recharges, where the invoice had been issued but the vehicle has not been completed. Accruals consist of HP interest deferrals, missing supplier invoices accruals, audit fees and other supplier accruals. On average accruals and deferred income balances has reduced from an average of £0.3 million in FY20 to £0.1 million in FY22. </a:t>
            </a:r>
          </a:p>
          <a:p>
            <a:endParaRPr lang="en-US" dirty="0"/>
          </a:p>
        </p:txBody>
      </p:sp>
      <p:sp>
        <p:nvSpPr>
          <p:cNvPr id="124" name="Text Placeholder 7">
            <a:extLst>
              <a:ext uri="{FF2B5EF4-FFF2-40B4-BE49-F238E27FC236}">
                <a16:creationId xmlns:a16="http://schemas.microsoft.com/office/drawing/2014/main" id="{23E4F975-DA84-E04A-0FDA-21E450EE839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dirty="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ea typeface="+mn-ea"/>
                <a:cs typeface="+mn-cs"/>
              </a:rPr>
              <a:t>Fifth level</a:t>
            </a:r>
            <a:endParaRPr lang="en-US" sz="1000" dirty="0"/>
          </a:p>
        </p:txBody>
      </p:sp>
      <p:sp>
        <p:nvSpPr>
          <p:cNvPr id="125" name="Text Placeholder 12">
            <a:extLst>
              <a:ext uri="{FF2B5EF4-FFF2-40B4-BE49-F238E27FC236}">
                <a16:creationId xmlns:a16="http://schemas.microsoft.com/office/drawing/2014/main" id="{5C8630F5-CD69-1C95-7572-BFF102A4757E}"/>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dirty="0"/>
              <a:t>First item</a:t>
            </a:r>
          </a:p>
          <a:p>
            <a:pPr marL="182563" lvl="2" indent="-182563">
              <a:buFont typeface="+mj-lt"/>
              <a:buAutoNum type="arabicPeriod"/>
            </a:pPr>
            <a:r>
              <a:rPr lang="en-US" sz="1000" dirty="0"/>
              <a:t>Second item</a:t>
            </a:r>
          </a:p>
          <a:p>
            <a:pPr marL="182563" lvl="2" indent="-182563">
              <a:buFont typeface="+mj-lt"/>
              <a:buAutoNum type="arabicPeriod"/>
            </a:pPr>
            <a:r>
              <a:rPr lang="en-US" sz="1000" dirty="0"/>
              <a:t>Third item</a:t>
            </a:r>
          </a:p>
        </p:txBody>
      </p:sp>
      <p:sp>
        <p:nvSpPr>
          <p:cNvPr id="126" name="Rectangle 125">
            <a:extLst>
              <a:ext uri="{FF2B5EF4-FFF2-40B4-BE49-F238E27FC236}">
                <a16:creationId xmlns:a16="http://schemas.microsoft.com/office/drawing/2014/main" id="{F5B5781D-5CC5-CCBC-9854-6488543DDC1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dirty="0">
                <a:solidFill>
                  <a:sysClr val="windowText" lastClr="000000"/>
                </a:solidFill>
              </a:rPr>
              <a:t>Call-out box.</a:t>
            </a:r>
          </a:p>
        </p:txBody>
      </p:sp>
      <p:cxnSp>
        <p:nvCxnSpPr>
          <p:cNvPr id="127" name="Straight Arrow Connector 126">
            <a:extLst>
              <a:ext uri="{FF2B5EF4-FFF2-40B4-BE49-F238E27FC236}">
                <a16:creationId xmlns:a16="http://schemas.microsoft.com/office/drawing/2014/main" id="{B2A2AAC9-DD13-586E-4DC2-08E15524E8BE}"/>
              </a:ext>
            </a:extLst>
          </p:cNvPr>
          <p:cNvCxnSpPr>
            <a:cxnSpLocks/>
            <a:stCxn id="12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7">
            <a:extLst>
              <a:ext uri="{FF2B5EF4-FFF2-40B4-BE49-F238E27FC236}">
                <a16:creationId xmlns:a16="http://schemas.microsoft.com/office/drawing/2014/main" id="{81189D7A-7CE5-D7D8-C1DB-0DBEA45A777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31" name="Text Placeholder 12">
            <a:extLst>
              <a:ext uri="{FF2B5EF4-FFF2-40B4-BE49-F238E27FC236}">
                <a16:creationId xmlns:a16="http://schemas.microsoft.com/office/drawing/2014/main" id="{199F1CF3-F66A-B05B-41DC-B814D79546AC}"/>
              </a:ext>
            </a:extLst>
          </p:cNvPr>
          <p:cNvSpPr txBox="1">
            <a:spLocks/>
          </p:cNvSpPr>
          <p:nvPr/>
        </p:nvSpPr>
        <p:spPr>
          <a:xfrm>
            <a:off x="995121" y="588092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dirty="0">
                <a:solidFill>
                  <a:schemeClr val="tx2"/>
                </a:solidFill>
                <a:latin typeface="Arial" panose="020B0604020202020204" pitchFamily="34" charset="0"/>
              </a:rPr>
              <a:t>Source: […]</a:t>
            </a:r>
          </a:p>
        </p:txBody>
      </p:sp>
      <p:sp>
        <p:nvSpPr>
          <p:cNvPr id="34" name="Text Placeholder 25">
            <a:extLst>
              <a:ext uri="{FF2B5EF4-FFF2-40B4-BE49-F238E27FC236}">
                <a16:creationId xmlns:a16="http://schemas.microsoft.com/office/drawing/2014/main" id="{A5ACEA28-28B9-430F-933C-53A36E22D14E}"/>
              </a:ext>
            </a:extLst>
          </p:cNvPr>
          <p:cNvSpPr txBox="1">
            <a:spLocks/>
          </p:cNvSpPr>
          <p:nvPr/>
        </p:nvSpPr>
        <p:spPr>
          <a:xfrm>
            <a:off x="4785600" y="1912838"/>
            <a:ext cx="6408000" cy="244800"/>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dirty="0"/>
              <a:t>Accruals and deferred income</a:t>
            </a:r>
          </a:p>
        </p:txBody>
      </p:sp>
      <p:sp>
        <p:nvSpPr>
          <p:cNvPr id="35" name="Text Placeholder 48">
            <a:extLst>
              <a:ext uri="{FF2B5EF4-FFF2-40B4-BE49-F238E27FC236}">
                <a16:creationId xmlns:a16="http://schemas.microsoft.com/office/drawing/2014/main" id="{870E5F8B-D042-492A-A74A-C97ADDD5B945}"/>
              </a:ext>
            </a:extLst>
          </p:cNvPr>
          <p:cNvSpPr txBox="1">
            <a:spLocks/>
          </p:cNvSpPr>
          <p:nvPr/>
        </p:nvSpPr>
        <p:spPr>
          <a:xfrm>
            <a:off x="4785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0" dirty="0">
                <a:solidFill>
                  <a:srgbClr val="000000"/>
                </a:solidFill>
              </a:rPr>
              <a:t>Crash cushion recharge deferral is a deferred income balance, whereby the recharge revenue (on crash cushions recharged to HP providers) is deferred until the vehicle in question has been finished and is added to the fleet (and HP agreement commences). </a:t>
            </a:r>
          </a:p>
          <a:p>
            <a:r>
              <a:rPr lang="en-GB" sz="1000" b="0" dirty="0">
                <a:solidFill>
                  <a:srgbClr val="000000"/>
                </a:solidFill>
              </a:rPr>
              <a:t>HP interest holiday deferral arose as a result of Covid-19, whereby [Target] opted to defer payments of interest on a number of HP agreements. We have reversed this balance out of net working capital as this this is net like. See earlier in the report for details. </a:t>
            </a:r>
          </a:p>
          <a:p>
            <a:r>
              <a:rPr lang="en-GB" sz="1000" b="0" dirty="0">
                <a:solidFill>
                  <a:srgbClr val="000000"/>
                </a:solidFill>
              </a:rPr>
              <a:t>Swings in deferred income are typically driven by timing of when revenue and associated costs are recognised in respect of recharges and new vehicle sales. [Target] recognises the revenue and associated costs when a vehicle is delivered / collected by the customer (i.e. once all the work has been completed). This is typically also when cash is received from the customer in respect of these amounts. </a:t>
            </a:r>
            <a:endParaRPr lang="en-US" sz="1000" b="0" dirty="0">
              <a:solidFill>
                <a:srgbClr val="000000"/>
              </a:solidFill>
            </a:endParaRPr>
          </a:p>
        </p:txBody>
      </p:sp>
      <p:sp>
        <p:nvSpPr>
          <p:cNvPr id="37" name="Text Placeholder 48">
            <a:extLst>
              <a:ext uri="{FF2B5EF4-FFF2-40B4-BE49-F238E27FC236}">
                <a16:creationId xmlns:a16="http://schemas.microsoft.com/office/drawing/2014/main" id="{82520C2F-D1E6-41AE-8468-4B2C2D1F5CE3}"/>
              </a:ext>
            </a:extLst>
          </p:cNvPr>
          <p:cNvSpPr txBox="1">
            <a:spLocks/>
          </p:cNvSpPr>
          <p:nvPr/>
        </p:nvSpPr>
        <p:spPr>
          <a:xfrm>
            <a:off x="8061600" y="2223113"/>
            <a:ext cx="3132000" cy="365390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GB" sz="1000" b="0" dirty="0">
                <a:solidFill>
                  <a:srgbClr val="000000"/>
                </a:solidFill>
              </a:rPr>
              <a:t>The swing in May-20 relates to recharges for vehicles added to fleet after this month (June-20). The swing in Mar-21 relates to the sale of 3 new crash cushions which were delivered to the customer in Apr-21</a:t>
            </a:r>
          </a:p>
          <a:p>
            <a:pPr lvl="1"/>
            <a:endParaRPr lang="en-GB" dirty="0"/>
          </a:p>
        </p:txBody>
      </p:sp>
      <p:pic>
        <p:nvPicPr>
          <p:cNvPr id="4" name="Picture 3">
            <a:extLst>
              <a:ext uri="{FF2B5EF4-FFF2-40B4-BE49-F238E27FC236}">
                <a16:creationId xmlns:a16="http://schemas.microsoft.com/office/drawing/2014/main" id="{6FEDAE6A-4688-4B78-91B1-60731FCBD78A}"/>
              </a:ext>
            </a:extLst>
          </p:cNvPr>
          <p:cNvPicPr>
            <a:picLocks noChangeAspect="1"/>
          </p:cNvPicPr>
          <p:nvPr>
            <p:custDataLst>
              <p:tags r:id="rId3"/>
            </p:custDataLst>
          </p:nvPr>
        </p:nvPicPr>
        <p:blipFill>
          <a:blip r:embed="rId9"/>
          <a:stretch>
            <a:fillRect/>
          </a:stretch>
        </p:blipFill>
        <p:spPr>
          <a:xfrm>
            <a:off x="995121" y="1912839"/>
            <a:ext cx="3571436" cy="1080961"/>
          </a:xfrm>
          <a:prstGeom prst="rect">
            <a:avLst/>
          </a:prstGeom>
        </p:spPr>
      </p:pic>
      <p:pic>
        <p:nvPicPr>
          <p:cNvPr id="5" name="Picture 4">
            <a:extLst>
              <a:ext uri="{FF2B5EF4-FFF2-40B4-BE49-F238E27FC236}">
                <a16:creationId xmlns:a16="http://schemas.microsoft.com/office/drawing/2014/main" id="{41DF0C68-C8F9-4F40-AF7F-376F05A3E9EF}"/>
              </a:ext>
            </a:extLst>
          </p:cNvPr>
          <p:cNvPicPr>
            <a:picLocks noChangeAspect="1"/>
          </p:cNvPicPr>
          <p:nvPr>
            <p:custDataLst>
              <p:tags r:id="rId4"/>
            </p:custDataLst>
          </p:nvPr>
        </p:nvPicPr>
        <p:blipFill>
          <a:blip r:embed="rId10"/>
          <a:stretch>
            <a:fillRect/>
          </a:stretch>
        </p:blipFill>
        <p:spPr>
          <a:xfrm>
            <a:off x="929806" y="3280479"/>
            <a:ext cx="3636751" cy="2039717"/>
          </a:xfrm>
          <a:prstGeom prst="rect">
            <a:avLst/>
          </a:prstGeom>
        </p:spPr>
      </p:pic>
      <p:sp>
        <p:nvSpPr>
          <p:cNvPr id="43" name="Rounded Rectangle 7">
            <a:extLst>
              <a:ext uri="{FF2B5EF4-FFF2-40B4-BE49-F238E27FC236}">
                <a16:creationId xmlns:a16="http://schemas.microsoft.com/office/drawing/2014/main" id="{175CEACC-86DE-413A-863D-61CE5DEA7E79}"/>
              </a:ext>
            </a:extLst>
          </p:cNvPr>
          <p:cNvSpPr/>
          <p:nvPr>
            <p:custDataLst>
              <p:tags r:id="rId5"/>
            </p:custDataLst>
          </p:nvPr>
        </p:nvSpPr>
        <p:spPr>
          <a:xfrm>
            <a:off x="3254829" y="3605998"/>
            <a:ext cx="277585" cy="1249031"/>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4" name="Rounded Rectangle 7">
            <a:extLst>
              <a:ext uri="{FF2B5EF4-FFF2-40B4-BE49-F238E27FC236}">
                <a16:creationId xmlns:a16="http://schemas.microsoft.com/office/drawing/2014/main" id="{99257419-6F82-4126-A91F-A4F618084C98}"/>
              </a:ext>
            </a:extLst>
          </p:cNvPr>
          <p:cNvSpPr/>
          <p:nvPr>
            <p:custDataLst>
              <p:tags r:id="rId6"/>
            </p:custDataLst>
          </p:nvPr>
        </p:nvSpPr>
        <p:spPr>
          <a:xfrm>
            <a:off x="2394397" y="3605997"/>
            <a:ext cx="277585" cy="1249031"/>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grpSp>
        <p:nvGrpSpPr>
          <p:cNvPr id="39" name="Group 38">
            <a:extLst>
              <a:ext uri="{FF2B5EF4-FFF2-40B4-BE49-F238E27FC236}">
                <a16:creationId xmlns:a16="http://schemas.microsoft.com/office/drawing/2014/main" id="{DF28B0A9-C8D3-4838-B1A8-20E1B98F8DC5}"/>
              </a:ext>
            </a:extLst>
          </p:cNvPr>
          <p:cNvGrpSpPr/>
          <p:nvPr>
            <p:custDataLst>
              <p:tags r:id="rId7"/>
            </p:custDataLst>
          </p:nvPr>
        </p:nvGrpSpPr>
        <p:grpSpPr>
          <a:xfrm>
            <a:off x="995364" y="153170"/>
            <a:ext cx="6213178" cy="195814"/>
            <a:chOff x="995364" y="153170"/>
            <a:chExt cx="6213178" cy="195814"/>
          </a:xfrm>
        </p:grpSpPr>
        <p:sp>
          <p:nvSpPr>
            <p:cNvPr id="40"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41"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42"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4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4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4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8" name="Current Section7">
              <a:hlinkClick r:id="rId17"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568100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D94DDE-32FF-4040-971F-E10B1E6E84EB}"/>
              </a:ext>
            </a:extLst>
          </p:cNvPr>
          <p:cNvSpPr txBox="1">
            <a:spLocks/>
          </p:cNvSpPr>
          <p:nvPr/>
        </p:nvSpPr>
        <p:spPr>
          <a:xfrm>
            <a:off x="1274841" y="1759937"/>
            <a:ext cx="5765982" cy="2903488"/>
          </a:xfrm>
          <a:prstGeom prst="rect">
            <a:avLst/>
          </a:prstGeom>
        </p:spPr>
        <p:txBody>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GB" sz="6600" dirty="0">
                <a:solidFill>
                  <a:srgbClr val="FFFFFF"/>
                </a:solidFill>
                <a:ea typeface="+mn-ea"/>
                <a:cs typeface="+mn-cs"/>
              </a:rPr>
              <a:t>Glossary</a:t>
            </a:r>
          </a:p>
        </p:txBody>
      </p:sp>
      <p:sp>
        <p:nvSpPr>
          <p:cNvPr id="4" name="UpSlide SubSection Marker" hidden="1">
            <a:extLst>
              <a:ext uri="{FF2B5EF4-FFF2-40B4-BE49-F238E27FC236}">
                <a16:creationId xmlns:a16="http://schemas.microsoft.com/office/drawing/2014/main" id="{EEF4B40F-A8D0-4B14-A707-DB6C33EDFB3E}"/>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GB" sz="900">
                <a:solidFill>
                  <a:schemeClr val="bg1"/>
                </a:solidFill>
              </a:rPr>
              <a:t>Balance sheet breakdowns</a:t>
            </a:r>
            <a:endParaRPr lang="en-GB" sz="900" dirty="0">
              <a:solidFill>
                <a:schemeClr val="bg1"/>
              </a:solidFill>
            </a:endParaRPr>
          </a:p>
        </p:txBody>
      </p:sp>
    </p:spTree>
    <p:extLst>
      <p:ext uri="{BB962C8B-B14F-4D97-AF65-F5344CB8AC3E}">
        <p14:creationId xmlns:p14="http://schemas.microsoft.com/office/powerpoint/2010/main" val="40976527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dirty="0"/>
              <a:t>Glossary of terms and abbreviations</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a:t>
            </a:r>
            <a:endParaRPr lang="en-US" sz="1600" dirty="0">
              <a:solidFill>
                <a:schemeClr val="bg1"/>
              </a:solidFill>
            </a:endParaRPr>
          </a:p>
        </p:txBody>
      </p:sp>
      <p:graphicFrame>
        <p:nvGraphicFramePr>
          <p:cNvPr id="29" name="Table 28">
            <a:extLst>
              <a:ext uri="{FF2B5EF4-FFF2-40B4-BE49-F238E27FC236}">
                <a16:creationId xmlns:a16="http://schemas.microsoft.com/office/drawing/2014/main" id="{41BAEF09-76BA-D4D3-E74C-619C13128CDF}"/>
              </a:ext>
            </a:extLst>
          </p:cNvPr>
          <p:cNvGraphicFramePr>
            <a:graphicFrameLocks noGrp="1"/>
          </p:cNvGraphicFramePr>
          <p:nvPr>
            <p:extLst>
              <p:ext uri="{D42A27DB-BD31-4B8C-83A1-F6EECF244321}">
                <p14:modId xmlns:p14="http://schemas.microsoft.com/office/powerpoint/2010/main" val="3472093001"/>
              </p:ext>
            </p:extLst>
          </p:nvPr>
        </p:nvGraphicFramePr>
        <p:xfrm>
          <a:off x="998400" y="1330325"/>
          <a:ext cx="4975680" cy="4614760"/>
        </p:xfrm>
        <a:graphic>
          <a:graphicData uri="http://schemas.openxmlformats.org/drawingml/2006/table">
            <a:tbl>
              <a:tblPr firstRow="1" bandRow="1">
                <a:tableStyleId>{5C22544A-7EE6-4342-B048-85BDC9FD1C3A}</a:tableStyleId>
              </a:tblPr>
              <a:tblGrid>
                <a:gridCol w="1473275">
                  <a:extLst>
                    <a:ext uri="{9D8B030D-6E8A-4147-A177-3AD203B41FA5}">
                      <a16:colId xmlns:a16="http://schemas.microsoft.com/office/drawing/2014/main" val="20000"/>
                    </a:ext>
                  </a:extLst>
                </a:gridCol>
                <a:gridCol w="3502405">
                  <a:extLst>
                    <a:ext uri="{9D8B030D-6E8A-4147-A177-3AD203B41FA5}">
                      <a16:colId xmlns:a16="http://schemas.microsoft.com/office/drawing/2014/main" val="238880808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Group and entity definitions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569819"/>
                  </a:ext>
                </a:extLst>
              </a:tr>
              <a:tr h="250240">
                <a:tc>
                  <a:txBody>
                    <a:bodyPr/>
                    <a:lstStyle/>
                    <a:p>
                      <a:pPr marL="0" algn="l" defTabSz="914423" rtl="0" eaLnBrk="1" latinLnBrk="0" hangingPunct="1"/>
                      <a:r>
                        <a:rPr lang="en-US" sz="900" b="1" kern="1200" dirty="0">
                          <a:solidFill>
                            <a:schemeClr val="tx2"/>
                          </a:solidFill>
                          <a:latin typeface="+mn-lt"/>
                          <a:ea typeface="+mn-ea"/>
                          <a:cs typeface="+mn-cs"/>
                        </a:rPr>
                        <a:t>Group/Target</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Target group [</a:t>
                      </a:r>
                      <a:r>
                        <a:rPr lang="en-US" sz="900" b="0" i="1" dirty="0">
                          <a:solidFill>
                            <a:schemeClr val="accent6"/>
                          </a:solidFill>
                          <a:latin typeface="+mn-lt"/>
                        </a:rPr>
                        <a:t>define</a:t>
                      </a:r>
                      <a:r>
                        <a:rPr lang="en-US" sz="900" b="0" dirty="0">
                          <a:solidFill>
                            <a:schemeClr val="tx1"/>
                          </a:solidFill>
                          <a:latin typeface="+mn-lt"/>
                        </a:rPr>
                        <a:t>]</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pPr marL="0" algn="l" defTabSz="914423" rtl="0" eaLnBrk="1" latinLnBrk="0" hangingPunct="1"/>
                      <a:r>
                        <a:rPr lang="en-US" sz="900" b="1" kern="1200" dirty="0">
                          <a:solidFill>
                            <a:schemeClr val="tx2"/>
                          </a:solidFill>
                          <a:latin typeface="+mn-lt"/>
                          <a:ea typeface="+mn-ea"/>
                          <a:cs typeface="+mn-cs"/>
                        </a:rPr>
                        <a:t>FIN Oy</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Parent Oy</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pPr marL="0" algn="l" defTabSz="914423" rtl="0" eaLnBrk="1" latinLnBrk="0" hangingPunct="1"/>
                      <a:r>
                        <a:rPr lang="en-US" sz="900" b="1" kern="1200" dirty="0">
                          <a:solidFill>
                            <a:schemeClr val="tx2"/>
                          </a:solidFill>
                          <a:latin typeface="+mn-lt"/>
                          <a:ea typeface="+mn-ea"/>
                          <a:cs typeface="+mn-cs"/>
                        </a:rPr>
                        <a:t>xx </a:t>
                      </a:r>
                      <a:r>
                        <a:rPr lang="en-US" sz="900" b="1" kern="1200" dirty="0" err="1">
                          <a:solidFill>
                            <a:schemeClr val="tx2"/>
                          </a:solidFill>
                          <a:latin typeface="+mn-lt"/>
                          <a:ea typeface="+mn-ea"/>
                          <a:cs typeface="+mn-cs"/>
                        </a:rPr>
                        <a:t>xx</a:t>
                      </a:r>
                      <a:endParaRPr lang="en-US" sz="900" b="1" kern="1200" dirty="0">
                        <a:solidFill>
                          <a:schemeClr val="tx2"/>
                        </a:solidFill>
                        <a:latin typeface="+mn-lt"/>
                        <a:ea typeface="+mn-ea"/>
                        <a:cs typeface="+mn-cs"/>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xx </a:t>
                      </a:r>
                      <a:r>
                        <a:rPr lang="en-US" sz="900" b="0" u="none" noProof="0" dirty="0" err="1">
                          <a:solidFill>
                            <a:schemeClr val="tx1"/>
                          </a:solidFill>
                          <a:latin typeface="+mn-lt"/>
                        </a:rPr>
                        <a:t>xx</a:t>
                      </a:r>
                      <a:r>
                        <a:rPr lang="en-US" sz="900" b="0" u="none" noProof="0" dirty="0">
                          <a:solidFill>
                            <a:schemeClr val="tx1"/>
                          </a:solidFill>
                          <a:latin typeface="+mn-lt"/>
                        </a:rPr>
                        <a:t> </a:t>
                      </a:r>
                      <a:r>
                        <a:rPr lang="en-US" sz="900" b="0" u="none" noProof="0" dirty="0" err="1">
                          <a:solidFill>
                            <a:schemeClr val="tx1"/>
                          </a:solidFill>
                          <a:latin typeface="+mn-lt"/>
                        </a:rPr>
                        <a:t>xx</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0560">
                <a:tc gridSpan="2">
                  <a:txBody>
                    <a:bodyPr/>
                    <a:lstStyle/>
                    <a:p>
                      <a:pPr marL="0" algn="l" defTabSz="914423" rtl="0" eaLnBrk="1" latinLnBrk="0" hangingPunct="1"/>
                      <a:r>
                        <a:rPr lang="en-US" sz="1100" b="1" kern="1200" dirty="0">
                          <a:solidFill>
                            <a:schemeClr val="bg1"/>
                          </a:solidFill>
                          <a:latin typeface="+mn-lt"/>
                          <a:ea typeface="+mn-ea"/>
                          <a:cs typeface="+mn-cs"/>
                        </a:rPr>
                        <a:t>Business area definitions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203518"/>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BA1</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BA2</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2"/>
                          </a:solidFill>
                          <a:latin typeface="+mn-lt"/>
                        </a:rPr>
                        <a:t>[…]</a:t>
                      </a:r>
                      <a:endParaRPr lang="en-US" sz="900" b="1" dirty="0">
                        <a:solidFill>
                          <a:schemeClr val="tx2"/>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70560">
                <a:tc gridSpan="2">
                  <a:txBody>
                    <a:bodyPr/>
                    <a:lstStyle/>
                    <a:p>
                      <a:pPr marL="0" algn="l" defTabSz="914423" rtl="0" eaLnBrk="1" latinLnBrk="0" hangingPunct="1"/>
                      <a:r>
                        <a:rPr lang="en-US" sz="1100" b="1" kern="1200" dirty="0">
                          <a:solidFill>
                            <a:schemeClr val="bg1"/>
                          </a:solidFill>
                          <a:latin typeface="+mn-lt"/>
                          <a:ea typeface="+mn-ea"/>
                          <a:cs typeface="+mn-cs"/>
                        </a:rPr>
                        <a:t>Currencies and time periods</a:t>
                      </a:r>
                    </a:p>
                  </a:txBody>
                  <a:tcPr marL="72000" marR="72000" marT="54000" marB="54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algn="l" defTabSz="914423" rtl="0" eaLnBrk="1" latinLnBrk="0" hangingPunct="1"/>
                      <a:endParaRPr lang="en-GB" sz="1000" b="1" kern="1200">
                        <a:solidFill>
                          <a:schemeClr val="tx2"/>
                        </a:solidFill>
                        <a:latin typeface="Univers Condensed Light" panose="020B0306020202040204" pitchFamily="34" charset="0"/>
                        <a:ea typeface="+mn-ea"/>
                        <a:cs typeface="+mn-cs"/>
                      </a:endParaRPr>
                    </a:p>
                  </a:txBody>
                  <a:tcPr marL="0" marR="54000" marT="0" marB="36000">
                    <a:lnL w="12700" cmpd="sng">
                      <a:noFill/>
                    </a:lnL>
                    <a:lnR w="12700" cmpd="sng">
                      <a:noFill/>
                    </a:lnR>
                    <a:lnT w="12700" cmpd="sng">
                      <a:noFill/>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8773624"/>
                  </a:ext>
                </a:extLst>
              </a:tr>
              <a:tr h="250240">
                <a:tc>
                  <a:txBody>
                    <a:bodyPr/>
                    <a:lstStyle/>
                    <a:p>
                      <a:pPr marL="0" algn="l" defTabSz="914423" rtl="0" eaLnBrk="1" latinLnBrk="0" hangingPunct="1"/>
                      <a:r>
                        <a:rPr lang="en-US" sz="900" b="1" kern="1200" dirty="0">
                          <a:solidFill>
                            <a:schemeClr val="tx2"/>
                          </a:solidFill>
                          <a:latin typeface="+mn-lt"/>
                          <a:ea typeface="+mn-ea"/>
                          <a:cs typeface="+mn-cs"/>
                        </a:rPr>
                        <a:t>$’000</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Thousand US dollars</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$m</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Million US dollars</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416738"/>
                  </a:ext>
                </a:extLst>
              </a:tr>
              <a:tr h="250240">
                <a:tc>
                  <a:txBody>
                    <a:bodyPr/>
                    <a:lstStyle/>
                    <a:p>
                      <a:pPr marL="0" algn="l" defTabSz="914423" rtl="0" eaLnBrk="1" latinLnBrk="0" hangingPunct="1"/>
                      <a:r>
                        <a:rPr lang="en-US" sz="900" b="1" kern="1200" dirty="0">
                          <a:solidFill>
                            <a:schemeClr val="tx2"/>
                          </a:solidFill>
                          <a:latin typeface="+mn-lt"/>
                          <a:ea typeface="+mn-ea"/>
                          <a:cs typeface="+mn-cs"/>
                        </a:rPr>
                        <a:t>FY</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Financial year (e.g., FY21 = January 1 — December 31, 2021)</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5099992"/>
                  </a:ext>
                </a:extLst>
              </a:tr>
              <a:tr h="250240">
                <a:tc>
                  <a:txBody>
                    <a:bodyPr/>
                    <a:lstStyle/>
                    <a:p>
                      <a:pPr marL="0" algn="l" defTabSz="914423" rtl="0" eaLnBrk="1" latinLnBrk="0" hangingPunct="1"/>
                      <a:r>
                        <a:rPr lang="en-US" sz="900" b="1" kern="1200" dirty="0">
                          <a:solidFill>
                            <a:schemeClr val="tx2"/>
                          </a:solidFill>
                          <a:latin typeface="+mn-lt"/>
                          <a:ea typeface="+mn-ea"/>
                          <a:cs typeface="+mn-cs"/>
                        </a:rPr>
                        <a:t>YTD</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Year to date (e.g., YTD Jun-22 = January 1 — June 30, 2022)</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412159"/>
                  </a:ext>
                </a:extLst>
              </a:tr>
              <a:tr h="392480">
                <a:tc>
                  <a:txBody>
                    <a:bodyPr/>
                    <a:lstStyle/>
                    <a:p>
                      <a:pPr marL="0" algn="l" defTabSz="914423" rtl="0" eaLnBrk="1" latinLnBrk="0" hangingPunct="1"/>
                      <a:r>
                        <a:rPr lang="en-US" sz="900" b="1" kern="1200" dirty="0">
                          <a:solidFill>
                            <a:schemeClr val="tx2"/>
                          </a:solidFill>
                          <a:latin typeface="+mn-lt"/>
                          <a:ea typeface="+mn-ea"/>
                          <a:cs typeface="+mn-cs"/>
                        </a:rPr>
                        <a:t>LTM</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Last 12 months </a:t>
                      </a:r>
                      <a:r>
                        <a:rPr lang="en-US" sz="900" b="0" u="none" noProof="0" dirty="0">
                          <a:solidFill>
                            <a:schemeClr val="tx1"/>
                          </a:solidFill>
                          <a:latin typeface="+mn-lt"/>
                        </a:rPr>
                        <a:t>(e.g., LTM Jun-22</a:t>
                      </a:r>
                      <a:r>
                        <a:rPr lang="en-US" sz="900" b="0" u="none" baseline="0" noProof="0" dirty="0">
                          <a:solidFill>
                            <a:schemeClr val="tx1"/>
                          </a:solidFill>
                          <a:latin typeface="+mn-lt"/>
                        </a:rPr>
                        <a:t> = July 1, 2021 — June 30, 2022)</a:t>
                      </a:r>
                      <a:endParaRPr lang="en-US" sz="900" b="1" dirty="0">
                        <a:solidFill>
                          <a:schemeClr val="tx1"/>
                        </a:solidFill>
                        <a:latin typeface="+mn-lt"/>
                      </a:endParaRP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425134"/>
                  </a:ext>
                </a:extLst>
              </a:tr>
              <a:tr h="250240">
                <a:tc>
                  <a:txBody>
                    <a:bodyPr/>
                    <a:lstStyle/>
                    <a:p>
                      <a:pPr marL="0" algn="l" defTabSz="914423" rtl="0" eaLnBrk="1" latinLnBrk="0" hangingPunct="1"/>
                      <a:r>
                        <a:rPr lang="en-US" sz="900" b="1" kern="1200" dirty="0">
                          <a:solidFill>
                            <a:schemeClr val="tx2"/>
                          </a:solidFill>
                          <a:latin typeface="+mn-lt"/>
                          <a:ea typeface="+mn-ea"/>
                          <a:cs typeface="+mn-cs"/>
                        </a:rPr>
                        <a:t>B</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Budget (e.g., FY22B = budget for the financial year 2022)</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3785632"/>
                  </a:ext>
                </a:extLst>
              </a:tr>
              <a:tr h="392480">
                <a:tc>
                  <a:txBody>
                    <a:bodyPr/>
                    <a:lstStyle/>
                    <a:p>
                      <a:pPr marL="0" algn="l" defTabSz="914423" rtl="0" eaLnBrk="1" latinLnBrk="0" hangingPunct="1"/>
                      <a:r>
                        <a:rPr lang="en-US" sz="900" b="1" kern="1200" dirty="0">
                          <a:solidFill>
                            <a:schemeClr val="tx2"/>
                          </a:solidFill>
                          <a:latin typeface="+mn-lt"/>
                          <a:ea typeface="+mn-ea"/>
                          <a:cs typeface="+mn-cs"/>
                        </a:rPr>
                        <a:t>LE</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tx1"/>
                          </a:solidFill>
                          <a:latin typeface="+mn-lt"/>
                          <a:ea typeface="+mn-ea"/>
                          <a:cs typeface="+mn-cs"/>
                        </a:rPr>
                        <a:t>Latest estimate (e.g., FY22LE = latest estimate for the financial year 2022)</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2937560"/>
                  </a:ext>
                </a:extLst>
              </a:tr>
              <a:tr h="250240">
                <a:tc>
                  <a:txBody>
                    <a:bodyPr/>
                    <a:lstStyle/>
                    <a:p>
                      <a:pPr marL="0" algn="l" defTabSz="914423" rtl="0" eaLnBrk="1" latinLnBrk="0" hangingPunct="1"/>
                      <a:r>
                        <a:rPr lang="en-US" sz="900" b="1" kern="1200" dirty="0">
                          <a:solidFill>
                            <a:schemeClr val="tx2"/>
                          </a:solidFill>
                          <a:latin typeface="+mn-lt"/>
                          <a:ea typeface="+mn-ea"/>
                          <a:cs typeface="+mn-cs"/>
                        </a:rPr>
                        <a:t>F</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Forecast (e.g., FY23F = forecast for the financial year 2023)</a:t>
                      </a:r>
                    </a:p>
                  </a:txBody>
                  <a:tcPr marL="72000" marR="72000" marT="54000" marB="54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538049"/>
                  </a:ext>
                </a:extLst>
              </a:tr>
            </a:tbl>
          </a:graphicData>
        </a:graphic>
      </p:graphicFrame>
      <p:graphicFrame>
        <p:nvGraphicFramePr>
          <p:cNvPr id="30" name="Table 29">
            <a:extLst>
              <a:ext uri="{FF2B5EF4-FFF2-40B4-BE49-F238E27FC236}">
                <a16:creationId xmlns:a16="http://schemas.microsoft.com/office/drawing/2014/main" id="{0DDD66C0-BE6A-349C-6552-9DA52489513E}"/>
              </a:ext>
            </a:extLst>
          </p:cNvPr>
          <p:cNvGraphicFramePr>
            <a:graphicFrameLocks noGrp="1"/>
          </p:cNvGraphicFramePr>
          <p:nvPr>
            <p:extLst>
              <p:ext uri="{D42A27DB-BD31-4B8C-83A1-F6EECF244321}">
                <p14:modId xmlns:p14="http://schemas.microsoft.com/office/powerpoint/2010/main" val="1359993124"/>
              </p:ext>
            </p:extLst>
          </p:nvPr>
        </p:nvGraphicFramePr>
        <p:xfrm>
          <a:off x="6225769" y="1330325"/>
          <a:ext cx="4975680" cy="4421720"/>
        </p:xfrm>
        <a:graphic>
          <a:graphicData uri="http://schemas.openxmlformats.org/drawingml/2006/table">
            <a:tbl>
              <a:tblPr firstRow="1" bandRow="1">
                <a:tableStyleId>{5C22544A-7EE6-4342-B048-85BDC9FD1C3A}</a:tableStyleId>
              </a:tblPr>
              <a:tblGrid>
                <a:gridCol w="1472608">
                  <a:extLst>
                    <a:ext uri="{9D8B030D-6E8A-4147-A177-3AD203B41FA5}">
                      <a16:colId xmlns:a16="http://schemas.microsoft.com/office/drawing/2014/main" val="20000"/>
                    </a:ext>
                  </a:extLst>
                </a:gridCol>
                <a:gridCol w="3503072">
                  <a:extLst>
                    <a:ext uri="{9D8B030D-6E8A-4147-A177-3AD203B41FA5}">
                      <a16:colId xmlns:a16="http://schemas.microsoft.com/office/drawing/2014/main" val="20001"/>
                    </a:ext>
                  </a:extLst>
                </a:gridCol>
              </a:tblGrid>
              <a:tr h="270560">
                <a:tc gridSpan="2">
                  <a:txBody>
                    <a:bodyPr/>
                    <a:lstStyle/>
                    <a:p>
                      <a:pPr marL="0" algn="l" defTabSz="914423" rtl="0" eaLnBrk="1" latinLnBrk="0" hangingPunct="1"/>
                      <a:r>
                        <a:rPr lang="en-US" sz="1100" b="1" kern="1200" dirty="0">
                          <a:solidFill>
                            <a:schemeClr val="bg1"/>
                          </a:solidFill>
                          <a:latin typeface="+mn-lt"/>
                          <a:ea typeface="+mn-ea"/>
                          <a:cs typeface="+mn-cs"/>
                        </a:rPr>
                        <a:t>Other definitions</a:t>
                      </a:r>
                    </a:p>
                  </a:txBody>
                  <a:tcPr marL="72000" marR="72000" marT="54000" marB="5400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GB" sz="900" b="0">
                        <a:solidFill>
                          <a:schemeClr val="tx1"/>
                        </a:solidFill>
                      </a:endParaRPr>
                    </a:p>
                  </a:txBody>
                  <a:tcPr marL="54000" marR="0" marT="0" marB="115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0375443"/>
                  </a:ext>
                </a:extLst>
              </a:tr>
              <a:tr h="250240">
                <a:tc>
                  <a:txBody>
                    <a:bodyPr/>
                    <a:lstStyle/>
                    <a:p>
                      <a:pPr marL="0" algn="l" defTabSz="914423" rtl="0" eaLnBrk="1" latinLnBrk="0" hangingPunct="1"/>
                      <a:r>
                        <a:rPr lang="en-US" sz="900" b="1" kern="1200" dirty="0">
                          <a:solidFill>
                            <a:schemeClr val="tx2"/>
                          </a:solidFill>
                          <a:latin typeface="+mn-lt"/>
                          <a:ea typeface="+mn-ea"/>
                          <a:cs typeface="+mn-cs"/>
                        </a:rPr>
                        <a:t>AP</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Accounts payable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0240">
                <a:tc>
                  <a:txBody>
                    <a:bodyPr/>
                    <a:lstStyle/>
                    <a:p>
                      <a:pPr marL="0" algn="l" defTabSz="914423" rtl="0" eaLnBrk="1" latinLnBrk="0" hangingPunct="1"/>
                      <a:r>
                        <a:rPr lang="en-US" sz="900" b="1" kern="1200" dirty="0">
                          <a:solidFill>
                            <a:schemeClr val="tx2"/>
                          </a:solidFill>
                          <a:latin typeface="+mn-lt"/>
                          <a:ea typeface="+mn-ea"/>
                          <a:cs typeface="+mn-cs"/>
                        </a:rPr>
                        <a:t>AR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Accounts receivable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2844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CAGR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Compound annual growth rate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89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Capex</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Capital expenditure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7933418"/>
                  </a:ext>
                </a:extLst>
              </a:tr>
              <a:tr h="250240">
                <a:tc>
                  <a:txBody>
                    <a:bodyPr/>
                    <a:lstStyle/>
                    <a:p>
                      <a:pPr marL="0" algn="l" defTabSz="914423" rtl="0" eaLnBrk="1" latinLnBrk="0" hangingPunct="1"/>
                      <a:r>
                        <a:rPr lang="en-US" sz="900" b="1" kern="1200" dirty="0">
                          <a:solidFill>
                            <a:schemeClr val="tx2"/>
                          </a:solidFill>
                          <a:latin typeface="+mn-lt"/>
                          <a:ea typeface="+mn-ea"/>
                          <a:cs typeface="+mn-cs"/>
                        </a:rPr>
                        <a:t>COGS</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Cost of goods sold</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4453427"/>
                  </a:ext>
                </a:extLst>
              </a:tr>
              <a:tr h="250240">
                <a:tc>
                  <a:txBody>
                    <a:bodyPr/>
                    <a:lstStyle/>
                    <a:p>
                      <a:pPr marL="0" algn="l" defTabSz="914423" rtl="0" eaLnBrk="1" latinLnBrk="0" hangingPunct="1"/>
                      <a:r>
                        <a:rPr lang="en-US" sz="900" b="1" kern="1200" dirty="0">
                          <a:solidFill>
                            <a:schemeClr val="tx2"/>
                          </a:solidFill>
                          <a:latin typeface="+mn-lt"/>
                          <a:ea typeface="+mn-ea"/>
                          <a:cs typeface="+mn-cs"/>
                        </a:rPr>
                        <a:t>DIO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inventory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54332"/>
                  </a:ext>
                </a:extLst>
              </a:tr>
              <a:tr h="250240">
                <a:tc>
                  <a:txBody>
                    <a:bodyPr/>
                    <a:lstStyle/>
                    <a:p>
                      <a:pPr marL="0" algn="l" defTabSz="914423" rtl="0" eaLnBrk="1" latinLnBrk="0" hangingPunct="1"/>
                      <a:r>
                        <a:rPr lang="en-US" sz="900" b="1" kern="1200" dirty="0">
                          <a:solidFill>
                            <a:schemeClr val="tx2"/>
                          </a:solidFill>
                          <a:latin typeface="+mn-lt"/>
                          <a:ea typeface="+mn-ea"/>
                          <a:cs typeface="+mn-cs"/>
                        </a:rPr>
                        <a:t>DPO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payable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354427"/>
                  </a:ext>
                </a:extLst>
              </a:tr>
              <a:tr h="250240">
                <a:tc>
                  <a:txBody>
                    <a:bodyPr/>
                    <a:lstStyle/>
                    <a:p>
                      <a:pPr marL="0" algn="l" defTabSz="914423" rtl="0" eaLnBrk="1" latinLnBrk="0" hangingPunct="1"/>
                      <a:r>
                        <a:rPr lang="en-US" sz="900" b="1" kern="1200" dirty="0">
                          <a:solidFill>
                            <a:schemeClr val="tx2"/>
                          </a:solidFill>
                          <a:latin typeface="+mn-lt"/>
                          <a:ea typeface="+mn-ea"/>
                          <a:cs typeface="+mn-cs"/>
                        </a:rPr>
                        <a:t>DSO</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u="none" noProof="0" dirty="0">
                          <a:solidFill>
                            <a:schemeClr val="tx1"/>
                          </a:solidFill>
                          <a:latin typeface="+mn-lt"/>
                        </a:rPr>
                        <a:t>Days sales outstanding</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08317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EBITDA</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Earnings before interest, tax, depreciation and amortization</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128375"/>
                  </a:ext>
                </a:extLst>
              </a:tr>
              <a:tr h="250240">
                <a:tc>
                  <a:txBody>
                    <a:bodyPr/>
                    <a:lstStyle/>
                    <a:p>
                      <a:pPr marL="0" algn="l" defTabSz="914423" rtl="0" eaLnBrk="1" latinLnBrk="0" hangingPunct="1"/>
                      <a:r>
                        <a:rPr lang="en-US" sz="900" b="1" kern="1200" dirty="0">
                          <a:solidFill>
                            <a:schemeClr val="tx2"/>
                          </a:solidFill>
                          <a:latin typeface="+mn-lt"/>
                          <a:ea typeface="+mn-ea"/>
                          <a:cs typeface="+mn-cs"/>
                        </a:rPr>
                        <a:t>FTE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Full-time equivalent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004301"/>
                  </a:ext>
                </a:extLst>
              </a:tr>
              <a:tr h="250240">
                <a:tc>
                  <a:txBody>
                    <a:bodyPr/>
                    <a:lstStyle/>
                    <a:p>
                      <a:pPr marL="0" algn="l" defTabSz="914423" rtl="0" eaLnBrk="1" latinLnBrk="0" hangingPunct="1"/>
                      <a:r>
                        <a:rPr lang="en-US" sz="900" b="1" kern="1200" dirty="0">
                          <a:solidFill>
                            <a:schemeClr val="tx2"/>
                          </a:solidFill>
                          <a:latin typeface="+mn-lt"/>
                          <a:ea typeface="+mn-ea"/>
                          <a:cs typeface="+mn-cs"/>
                        </a:rPr>
                        <a:t>FYE</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Financial year-end</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0240">
                <a:tc>
                  <a:txBody>
                    <a:bodyPr/>
                    <a:lstStyle/>
                    <a:p>
                      <a:pPr marL="0" algn="l" defTabSz="914423" rtl="0" eaLnBrk="1" latinLnBrk="0" hangingPunct="1"/>
                      <a:r>
                        <a:rPr lang="en-US" sz="900" b="1" kern="1200" dirty="0">
                          <a:solidFill>
                            <a:schemeClr val="tx2"/>
                          </a:solidFill>
                          <a:latin typeface="+mn-lt"/>
                          <a:ea typeface="+mn-ea"/>
                          <a:cs typeface="+mn-cs"/>
                        </a:rPr>
                        <a:t>KPI</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Key performance indicator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0240">
                <a:tc>
                  <a:txBody>
                    <a:bodyPr/>
                    <a:lstStyle/>
                    <a:p>
                      <a:pPr marL="0" algn="l" defTabSz="914423" rtl="0" eaLnBrk="1" latinLnBrk="0" hangingPunct="1"/>
                      <a:r>
                        <a:rPr lang="en-US" sz="900" b="1" kern="1200" dirty="0">
                          <a:solidFill>
                            <a:schemeClr val="tx2"/>
                          </a:solidFill>
                          <a:latin typeface="+mn-lt"/>
                          <a:ea typeface="+mn-ea"/>
                          <a:cs typeface="+mn-cs"/>
                        </a:rPr>
                        <a:t>LFY</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0" u="none" noProof="0" dirty="0">
                          <a:solidFill>
                            <a:schemeClr val="tx1"/>
                          </a:solidFill>
                          <a:latin typeface="+mn-lt"/>
                        </a:rPr>
                        <a:t>Latest financial year</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2480">
                <a:tc>
                  <a:txBody>
                    <a:bodyPr/>
                    <a:lstStyle/>
                    <a:p>
                      <a:pPr marL="0" algn="l" defTabSz="914423" rtl="0" eaLnBrk="1" latinLnBrk="0" hangingPunct="1"/>
                      <a:r>
                        <a:rPr lang="en-US" sz="900" b="1" kern="1200" dirty="0">
                          <a:solidFill>
                            <a:schemeClr val="tx2"/>
                          </a:solidFill>
                          <a:latin typeface="+mn-lt"/>
                          <a:ea typeface="+mn-ea"/>
                          <a:cs typeface="+mn-cs"/>
                        </a:rPr>
                        <a:t>Management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Management</a:t>
                      </a:r>
                      <a:r>
                        <a:rPr lang="en-US" sz="900" b="0" baseline="0" dirty="0">
                          <a:solidFill>
                            <a:schemeClr val="tx1"/>
                          </a:solidFill>
                          <a:latin typeface="+mn-lt"/>
                        </a:rPr>
                        <a:t> of the target. In this report [</a:t>
                      </a:r>
                      <a:r>
                        <a:rPr lang="en-US" sz="900" b="0" dirty="0">
                          <a:solidFill>
                            <a:schemeClr val="accent6"/>
                          </a:solidFill>
                          <a:latin typeface="+mn-lt"/>
                        </a:rPr>
                        <a:t>xx </a:t>
                      </a:r>
                      <a:r>
                        <a:rPr lang="en-US" sz="900" b="0" dirty="0" err="1">
                          <a:solidFill>
                            <a:schemeClr val="accent6"/>
                          </a:solidFill>
                          <a:latin typeface="+mn-lt"/>
                        </a:rPr>
                        <a:t>xx</a:t>
                      </a:r>
                      <a:r>
                        <a:rPr lang="en-US" sz="900" b="0" dirty="0">
                          <a:solidFill>
                            <a:schemeClr val="accent6"/>
                          </a:solidFill>
                          <a:latin typeface="+mn-lt"/>
                        </a:rPr>
                        <a:t> (CFO) and xx </a:t>
                      </a:r>
                      <a:r>
                        <a:rPr lang="en-US" sz="900" b="0" dirty="0" err="1">
                          <a:solidFill>
                            <a:schemeClr val="accent6"/>
                          </a:solidFill>
                          <a:latin typeface="+mn-lt"/>
                        </a:rPr>
                        <a:t>xx</a:t>
                      </a:r>
                      <a:r>
                        <a:rPr lang="en-US" sz="900" b="0" dirty="0">
                          <a:solidFill>
                            <a:schemeClr val="accent6"/>
                          </a:solidFill>
                          <a:latin typeface="+mn-lt"/>
                        </a:rPr>
                        <a:t> (Business controller)</a:t>
                      </a:r>
                      <a:r>
                        <a:rPr lang="en-US" sz="900" b="0" dirty="0">
                          <a:solidFill>
                            <a:schemeClr val="tx1"/>
                          </a:solidFill>
                          <a:latin typeface="+mn-lt"/>
                        </a:rPr>
                        <a: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0240">
                <a:tc>
                  <a:txBody>
                    <a:bodyPr/>
                    <a:lstStyle/>
                    <a:p>
                      <a:pPr marL="0" algn="l" defTabSz="914423" rtl="0" eaLnBrk="1" latinLnBrk="0" hangingPunct="1"/>
                      <a:r>
                        <a:rPr lang="en-US" sz="900" b="1" kern="1200" dirty="0" err="1">
                          <a:solidFill>
                            <a:schemeClr val="tx2"/>
                          </a:solidFill>
                          <a:latin typeface="+mn-lt"/>
                          <a:ea typeface="+mn-ea"/>
                          <a:cs typeface="+mn-cs"/>
                        </a:rPr>
                        <a:t>QoE</a:t>
                      </a:r>
                      <a:endParaRPr lang="en-US" sz="900" b="1" kern="1200" dirty="0">
                        <a:solidFill>
                          <a:schemeClr val="tx2"/>
                        </a:solidFill>
                        <a:latin typeface="+mn-lt"/>
                        <a:ea typeface="+mn-ea"/>
                        <a:cs typeface="+mn-cs"/>
                      </a:endParaRP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Quality of earnings</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0240">
                <a:tc>
                  <a:txBody>
                    <a:bodyPr/>
                    <a:lstStyle/>
                    <a:p>
                      <a:pPr marL="0" algn="l" defTabSz="914423" rtl="0" eaLnBrk="1" latinLnBrk="0" hangingPunct="1"/>
                      <a:r>
                        <a:rPr lang="en-US" sz="900" b="1" kern="1200" dirty="0">
                          <a:solidFill>
                            <a:schemeClr val="tx2"/>
                          </a:solidFill>
                          <a:latin typeface="+mn-lt"/>
                          <a:ea typeface="+mn-ea"/>
                          <a:cs typeface="+mn-cs"/>
                        </a:rPr>
                        <a:t>SPA</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0" dirty="0">
                          <a:solidFill>
                            <a:schemeClr val="tx1"/>
                          </a:solidFill>
                          <a:latin typeface="+mn-lt"/>
                        </a:rPr>
                        <a:t>Sale and purchase agreement</a:t>
                      </a:r>
                    </a:p>
                  </a:txBody>
                  <a:tcPr marL="72000" marR="72000" marT="54000" marB="54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pSp>
        <p:nvGrpSpPr>
          <p:cNvPr id="24" name="Group 23">
            <a:extLst>
              <a:ext uri="{FF2B5EF4-FFF2-40B4-BE49-F238E27FC236}">
                <a16:creationId xmlns:a16="http://schemas.microsoft.com/office/drawing/2014/main" id="{DF28B0A9-C8D3-4838-B1A8-20E1B98F8DC5}"/>
              </a:ext>
            </a:extLst>
          </p:cNvPr>
          <p:cNvGrpSpPr/>
          <p:nvPr>
            <p:custDataLst>
              <p:tags r:id="rId3"/>
            </p:custDataLst>
          </p:nvPr>
        </p:nvGrpSpPr>
        <p:grpSpPr>
          <a:xfrm>
            <a:off x="995364" y="153170"/>
            <a:ext cx="6213178" cy="195814"/>
            <a:chOff x="995364" y="153170"/>
            <a:chExt cx="6213178" cy="195814"/>
          </a:xfrm>
        </p:grpSpPr>
        <p:sp>
          <p:nvSpPr>
            <p:cNvPr id="25"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90803"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Forecast trading</a:t>
              </a:r>
            </a:p>
          </p:txBody>
        </p:sp>
        <p:sp>
          <p:nvSpPr>
            <p:cNvPr id="28"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40897"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641932" y="153170"/>
              <a:ext cx="64874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Cash flows</a:t>
              </a:r>
            </a:p>
          </p:txBody>
        </p:sp>
        <p:sp>
          <p:nvSpPr>
            <p:cNvPr id="32"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29068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Current Section7">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47964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136385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dirty="0"/>
              <a:t>© 2023 Copyright owned by one or more of the KPMG International entities. KPMG International entities provide no services to clients. All rights reserved.</a:t>
            </a:r>
          </a:p>
          <a:p>
            <a:pPr lvl="1"/>
            <a:r>
              <a:rPr lang="en-US" altLang="en-US" dirty="0"/>
              <a:t>KPMG refers to the global organization or to one or more of the member firms of KPMG International Limited (“KPMG International”), each of which is a separate legal entity. KPMG International Limited is a private xx company limited by guarantee and does not provide services to clients. For more detail about our structure please visit </a:t>
            </a:r>
            <a:r>
              <a:rPr lang="en-US" altLang="en-US" dirty="0">
                <a:hlinkClick r:id="rId3" action="ppaction://hlinkfile">
                  <a:extLst>
                    <a:ext uri="{A12FA001-AC4F-418D-AE19-62706E023703}">
                      <ahyp:hlinkClr xmlns:ahyp="http://schemas.microsoft.com/office/drawing/2018/hyperlinkcolor" val="tx"/>
                    </a:ext>
                  </a:extLst>
                </a:hlinkClick>
              </a:rPr>
              <a:t>kpmg.com/governance</a:t>
            </a:r>
            <a:r>
              <a:rPr lang="en-US" altLang="en-US" dirty="0"/>
              <a:t>.</a:t>
            </a:r>
          </a:p>
          <a:p>
            <a:pPr lvl="1"/>
            <a:r>
              <a:rPr lang="en-US" altLang="en-US" dirty="0"/>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dirty="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a:t>
            </a:r>
            <a:endParaRPr lang="en-US" sz="1600" dirty="0">
              <a:solidFill>
                <a:schemeClr val="bg1"/>
              </a:solidFill>
            </a:endParaRP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995364" y="2904869"/>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xx </a:t>
            </a:r>
            <a:r>
              <a:rPr lang="en-US" sz="900" dirty="0" err="1">
                <a:solidFill>
                  <a:schemeClr val="bg1"/>
                </a:solidFill>
                <a:latin typeface="+mn-lt"/>
              </a:rPr>
              <a:t>xx</a:t>
            </a:r>
            <a:endParaRPr lang="en-US" sz="900" dirty="0">
              <a:solidFill>
                <a:schemeClr val="bg1"/>
              </a:solidFill>
              <a:latin typeface="+mn-lt"/>
            </a:endParaRPr>
          </a:p>
          <a:p>
            <a:pPr lvl="1">
              <a:spcAft>
                <a:spcPts val="300"/>
              </a:spcAft>
            </a:pPr>
            <a:r>
              <a:rPr lang="en-US" sz="900" dirty="0">
                <a:solidFill>
                  <a:schemeClr val="bg1"/>
                </a:solidFill>
                <a:latin typeface="+mn-lt"/>
              </a:rPr>
              <a:t>Director, Transaction Services</a:t>
            </a:r>
          </a:p>
          <a:p>
            <a:pPr lvl="1" defTabSz="269868">
              <a:spcAft>
                <a:spcPts val="300"/>
              </a:spcAft>
            </a:pPr>
            <a:r>
              <a:rPr lang="en-US" sz="900" b="1" dirty="0">
                <a:solidFill>
                  <a:schemeClr val="bg1"/>
                </a:solidFill>
                <a:latin typeface="+mn-lt"/>
              </a:rPr>
              <a:t>T: </a:t>
            </a:r>
            <a:r>
              <a:rPr lang="en-US" sz="900" dirty="0">
                <a:solidFill>
                  <a:schemeClr val="bg1"/>
                </a:solidFill>
                <a:latin typeface="+mn-lt"/>
              </a:rPr>
              <a:t>+X XXX </a:t>
            </a:r>
            <a:r>
              <a:rPr lang="en-US" sz="900" dirty="0" err="1">
                <a:solidFill>
                  <a:schemeClr val="bg1"/>
                </a:solidFill>
                <a:latin typeface="+mn-lt"/>
              </a:rPr>
              <a:t>XXX</a:t>
            </a:r>
            <a:r>
              <a:rPr lang="en-US" sz="900" dirty="0">
                <a:solidFill>
                  <a:schemeClr val="bg1"/>
                </a:solidFill>
                <a:latin typeface="+mn-lt"/>
              </a:rPr>
              <a:t> XXXX</a:t>
            </a:r>
          </a:p>
          <a:p>
            <a:pPr lvl="1" defTabSz="269868">
              <a:spcAft>
                <a:spcPts val="300"/>
              </a:spcAft>
            </a:pPr>
            <a:r>
              <a:rPr lang="en-US" sz="900" b="1" dirty="0">
                <a:solidFill>
                  <a:schemeClr val="bg1"/>
                </a:solidFill>
                <a:latin typeface="+mn-lt"/>
              </a:rPr>
              <a:t>E: </a:t>
            </a:r>
            <a:r>
              <a:rPr lang="en-US" sz="900" dirty="0" err="1">
                <a:solidFill>
                  <a:schemeClr val="bg1"/>
                </a:solidFill>
                <a:latin typeface="+mn-lt"/>
              </a:rPr>
              <a:t>xxx.xxx@kpmg.xx</a:t>
            </a:r>
            <a:endParaRPr lang="en-US" sz="900" dirty="0">
              <a:solidFill>
                <a:schemeClr val="bg1"/>
              </a:solidFill>
              <a:latin typeface="+mn-lt"/>
            </a:endParaRPr>
          </a:p>
        </p:txBody>
      </p:sp>
      <p:sp>
        <p:nvSpPr>
          <p:cNvPr id="7" name="Text Placeholder 21">
            <a:extLst>
              <a:ext uri="{FF2B5EF4-FFF2-40B4-BE49-F238E27FC236}">
                <a16:creationId xmlns:a16="http://schemas.microsoft.com/office/drawing/2014/main" id="{EE2113E4-E907-46B0-9588-FFEC5307AFA0}"/>
              </a:ext>
            </a:extLst>
          </p:cNvPr>
          <p:cNvSpPr txBox="1">
            <a:spLocks/>
          </p:cNvSpPr>
          <p:nvPr/>
        </p:nvSpPr>
        <p:spPr>
          <a:xfrm>
            <a:off x="3607345" y="2904869"/>
            <a:ext cx="2359251" cy="846386"/>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dirty="0">
                <a:solidFill>
                  <a:schemeClr val="bg1"/>
                </a:solidFill>
                <a:latin typeface="+mn-lt"/>
              </a:rPr>
              <a:t>xx </a:t>
            </a:r>
            <a:r>
              <a:rPr lang="en-US" sz="900" dirty="0" err="1">
                <a:solidFill>
                  <a:schemeClr val="bg1"/>
                </a:solidFill>
                <a:latin typeface="+mn-lt"/>
              </a:rPr>
              <a:t>xx</a:t>
            </a:r>
            <a:endParaRPr lang="en-US" sz="900" dirty="0">
              <a:solidFill>
                <a:schemeClr val="bg1"/>
              </a:solidFill>
              <a:latin typeface="+mn-lt"/>
            </a:endParaRPr>
          </a:p>
          <a:p>
            <a:pPr lvl="1" defTabSz="269868">
              <a:spcAft>
                <a:spcPts val="300"/>
              </a:spcAft>
            </a:pPr>
            <a:r>
              <a:rPr lang="en-US" sz="900" dirty="0">
                <a:solidFill>
                  <a:schemeClr val="bg1"/>
                </a:solidFill>
                <a:latin typeface="+mn-lt"/>
              </a:rPr>
              <a:t>Assistant Manager, Transaction Services</a:t>
            </a:r>
          </a:p>
          <a:p>
            <a:pPr lvl="1" defTabSz="269868">
              <a:spcAft>
                <a:spcPts val="300"/>
              </a:spcAft>
            </a:pPr>
            <a:r>
              <a:rPr lang="en-US" sz="900" b="1" dirty="0">
                <a:solidFill>
                  <a:schemeClr val="bg1"/>
                </a:solidFill>
                <a:latin typeface="+mn-lt"/>
              </a:rPr>
              <a:t>T: </a:t>
            </a:r>
            <a:r>
              <a:rPr lang="en-US" sz="900" dirty="0">
                <a:solidFill>
                  <a:schemeClr val="bg1"/>
                </a:solidFill>
                <a:latin typeface="+mn-lt"/>
              </a:rPr>
              <a:t>+X XXX </a:t>
            </a:r>
            <a:r>
              <a:rPr lang="en-US" sz="900" dirty="0" err="1">
                <a:solidFill>
                  <a:schemeClr val="bg1"/>
                </a:solidFill>
                <a:latin typeface="+mn-lt"/>
              </a:rPr>
              <a:t>XXX</a:t>
            </a:r>
            <a:r>
              <a:rPr lang="en-US" sz="900" dirty="0">
                <a:solidFill>
                  <a:schemeClr val="bg1"/>
                </a:solidFill>
                <a:latin typeface="+mn-lt"/>
              </a:rPr>
              <a:t> XXXX</a:t>
            </a:r>
          </a:p>
          <a:p>
            <a:pPr lvl="1" defTabSz="269868">
              <a:spcAft>
                <a:spcPts val="300"/>
              </a:spcAft>
            </a:pPr>
            <a:r>
              <a:rPr lang="en-US" sz="900" b="1" dirty="0">
                <a:solidFill>
                  <a:schemeClr val="bg1"/>
                </a:solidFill>
                <a:latin typeface="+mn-lt"/>
              </a:rPr>
              <a:t>E: </a:t>
            </a:r>
            <a:r>
              <a:rPr lang="en-US" sz="900" dirty="0" err="1">
                <a:solidFill>
                  <a:schemeClr val="bg1"/>
                </a:solidFill>
                <a:latin typeface="+mn-lt"/>
              </a:rPr>
              <a:t>xxx.xxx@kpmg.xx</a:t>
            </a:r>
            <a:endParaRPr lang="en-US" sz="900" dirty="0">
              <a:solidFill>
                <a:schemeClr val="bg1"/>
              </a:solidFill>
              <a:latin typeface="+mn-lt"/>
            </a:endParaRPr>
          </a:p>
          <a:p>
            <a:pPr lvl="1" defTabSz="269868">
              <a:spcAft>
                <a:spcPts val="300"/>
              </a:spcAft>
            </a:pPr>
            <a:endParaRPr lang="en-US" sz="900" dirty="0">
              <a:solidFill>
                <a:schemeClr val="bg1"/>
              </a:solidFill>
              <a:latin typeface="+mn-lt"/>
            </a:endParaRPr>
          </a:p>
        </p:txBody>
      </p:sp>
      <p:grpSp>
        <p:nvGrpSpPr>
          <p:cNvPr id="8" name="Group 7">
            <a:extLst>
              <a:ext uri="{FF2B5EF4-FFF2-40B4-BE49-F238E27FC236}">
                <a16:creationId xmlns:a16="http://schemas.microsoft.com/office/drawing/2014/main" id="{A7C0392D-39AF-E8D9-0E36-DDD4B7E06676}"/>
              </a:ext>
            </a:extLst>
          </p:cNvPr>
          <p:cNvGrpSpPr/>
          <p:nvPr/>
        </p:nvGrpSpPr>
        <p:grpSpPr>
          <a:xfrm>
            <a:off x="1003832" y="1987421"/>
            <a:ext cx="646825" cy="799567"/>
            <a:chOff x="998401" y="1330325"/>
            <a:chExt cx="1259681" cy="1679575"/>
          </a:xfrm>
        </p:grpSpPr>
        <p:sp>
          <p:nvSpPr>
            <p:cNvPr id="9" name="Freeform 4">
              <a:extLst>
                <a:ext uri="{FF2B5EF4-FFF2-40B4-BE49-F238E27FC236}">
                  <a16:creationId xmlns:a16="http://schemas.microsoft.com/office/drawing/2014/main" id="{C53D8E88-01FC-B795-3317-15D2D90EC8F7}"/>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10" name="Oval 36">
              <a:extLst>
                <a:ext uri="{FF2B5EF4-FFF2-40B4-BE49-F238E27FC236}">
                  <a16:creationId xmlns:a16="http://schemas.microsoft.com/office/drawing/2014/main" id="{63CA90A9-93C7-DB8D-8E5F-C018DA2F24AD}"/>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37">
              <a:extLst>
                <a:ext uri="{FF2B5EF4-FFF2-40B4-BE49-F238E27FC236}">
                  <a16:creationId xmlns:a16="http://schemas.microsoft.com/office/drawing/2014/main" id="{56CF12E5-5517-35C7-4BDD-B929408B3863}"/>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12" name="Group 11">
            <a:extLst>
              <a:ext uri="{FF2B5EF4-FFF2-40B4-BE49-F238E27FC236}">
                <a16:creationId xmlns:a16="http://schemas.microsoft.com/office/drawing/2014/main" id="{2704F684-BEED-84AD-2D42-C26CB53E5011}"/>
              </a:ext>
            </a:extLst>
          </p:cNvPr>
          <p:cNvGrpSpPr/>
          <p:nvPr/>
        </p:nvGrpSpPr>
        <p:grpSpPr>
          <a:xfrm>
            <a:off x="3604830" y="1987421"/>
            <a:ext cx="646825" cy="799567"/>
            <a:chOff x="998401" y="1330325"/>
            <a:chExt cx="1259681" cy="1679575"/>
          </a:xfrm>
        </p:grpSpPr>
        <p:sp>
          <p:nvSpPr>
            <p:cNvPr id="13" name="Freeform 4">
              <a:extLst>
                <a:ext uri="{FF2B5EF4-FFF2-40B4-BE49-F238E27FC236}">
                  <a16:creationId xmlns:a16="http://schemas.microsoft.com/office/drawing/2014/main" id="{BAA13FD8-DD9F-2F86-2A99-D3D7538A5B13}"/>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dirty="0">
                <a:solidFill>
                  <a:schemeClr val="tx2"/>
                </a:solidFill>
              </a:endParaRPr>
            </a:p>
          </p:txBody>
        </p:sp>
        <p:sp>
          <p:nvSpPr>
            <p:cNvPr id="14" name="Oval 36">
              <a:extLst>
                <a:ext uri="{FF2B5EF4-FFF2-40B4-BE49-F238E27FC236}">
                  <a16:creationId xmlns:a16="http://schemas.microsoft.com/office/drawing/2014/main" id="{362BD4FB-31A4-52F8-5D83-FC744F593DF8}"/>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37">
              <a:extLst>
                <a:ext uri="{FF2B5EF4-FFF2-40B4-BE49-F238E27FC236}">
                  <a16:creationId xmlns:a16="http://schemas.microsoft.com/office/drawing/2014/main" id="{30B82F64-72E9-77B6-9448-EC9321513C46}"/>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Tree>
    <p:extLst>
      <p:ext uri="{BB962C8B-B14F-4D97-AF65-F5344CB8AC3E}">
        <p14:creationId xmlns:p14="http://schemas.microsoft.com/office/powerpoint/2010/main" val="3103968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TEMPLATESHORTNAMETAG" val="Diligence+ UK"/>
  <p:tag name="TEMPLATEFULLNAMETAG" val="Diligence+ UK"/>
  <p:tag name="UPSLIDE" val="KPM02339_Diligence+ UK_02-17-2023"/>
  <p:tag name="UPSLIDEVERSION" val="6.8.23.3"/>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fals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gt;.&lt;/AfterSecNum&gt;&#10;        &lt;BeforeSecNum /&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1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18.xml><?xml version="1.0" encoding="utf-8"?>
<p:tagLst xmlns:a="http://schemas.openxmlformats.org/drawingml/2006/main" xmlns:r="http://schemas.openxmlformats.org/officeDocument/2006/relationships" xmlns:p="http://schemas.openxmlformats.org/presentationml/2006/main">
  <p:tag name="ADV_DRAFT" val="TRUE"/>
</p:tagLst>
</file>

<file path=ppt/tags/tag1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0.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1.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2.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3.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4.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5.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26.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27.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28.xml><?xml version="1.0" encoding="utf-8"?>
<p:tagLst xmlns:a="http://schemas.openxmlformats.org/drawingml/2006/main" xmlns:r="http://schemas.openxmlformats.org/officeDocument/2006/relationships" xmlns:p="http://schemas.openxmlformats.org/presentationml/2006/main">
  <p:tag name="HIDETOC" val="true"/>
</p:tagLst>
</file>

<file path=ppt/tags/tag29.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0.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1.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3.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4.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5.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36.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37.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38.xml><?xml version="1.0" encoding="utf-8"?>
<p:tagLst xmlns:a="http://schemas.openxmlformats.org/drawingml/2006/main" xmlns:r="http://schemas.openxmlformats.org/officeDocument/2006/relationships" xmlns:p="http://schemas.openxmlformats.org/presentationml/2006/main">
  <p:tag name="HIDETOC" val="true"/>
</p:tagLst>
</file>

<file path=ppt/tags/tag39.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0.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1.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2.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3.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4.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5.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46.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4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48.xml><?xml version="1.0" encoding="utf-8"?>
<p:tagLst xmlns:a="http://schemas.openxmlformats.org/drawingml/2006/main" xmlns:r="http://schemas.openxmlformats.org/officeDocument/2006/relationships" xmlns:p="http://schemas.openxmlformats.org/presentationml/2006/main">
  <p:tag name="HIDETOC" val="true"/>
</p:tagLst>
</file>

<file path=ppt/tags/tag49.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50.xml><?xml version="1.0" encoding="utf-8"?>
<p:tagLst xmlns:a="http://schemas.openxmlformats.org/drawingml/2006/main" xmlns:r="http://schemas.openxmlformats.org/officeDocument/2006/relationships" xmlns:p="http://schemas.openxmlformats.org/presentationml/2006/main">
  <p:tag name="HIDETOC" val="true"/>
</p:tagLst>
</file>

<file path=ppt/tags/tag51.xml><?xml version="1.0" encoding="utf-8"?>
<p:tagLst xmlns:a="http://schemas.openxmlformats.org/drawingml/2006/main" xmlns:r="http://schemas.openxmlformats.org/officeDocument/2006/relationships" xmlns:p="http://schemas.openxmlformats.org/presentationml/2006/main">
  <p:tag name="HIDETOC" val="tru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xml><?xml version="1.0" encoding="utf-8"?>
<p:tagLst xmlns:a="http://schemas.openxmlformats.org/drawingml/2006/main" xmlns:r="http://schemas.openxmlformats.org/officeDocument/2006/relationships" xmlns:p="http://schemas.openxmlformats.org/presentationml/2006/main">
  <p:tag name="TOCSLIDE" val="1"/>
</p:tagLst>
</file>

<file path=ppt/tags/tag5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93.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94.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95.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96.xml><?xml version="1.0" encoding="utf-8"?>
<p:tagLst xmlns:a="http://schemas.openxmlformats.org/drawingml/2006/main" xmlns:r="http://schemas.openxmlformats.org/officeDocument/2006/relationships" xmlns:p="http://schemas.openxmlformats.org/presentationml/2006/main">
  <p:tag name="TOCSHAPE" val="807"/>
  <p:tag name="SLIDEINDEX" val="807"/>
</p:tagLst>
</file>

<file path=ppt/tags/tag97.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98.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99.xml><?xml version="1.0" encoding="utf-8"?>
<p:tagLst xmlns:a="http://schemas.openxmlformats.org/drawingml/2006/main" xmlns:r="http://schemas.openxmlformats.org/officeDocument/2006/relationships" xmlns:p="http://schemas.openxmlformats.org/presentationml/2006/main">
  <p:tag name="TOCSHAPE" val="AA"/>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AA"/>
</p:tagLst>
</file>

<file path=ppt/tags/tag106.xml><?xml version="1.0" encoding="utf-8"?>
<p:tagLst xmlns:a="http://schemas.openxmlformats.org/drawingml/2006/main" xmlns:r="http://schemas.openxmlformats.org/officeDocument/2006/relationships" xmlns:p="http://schemas.openxmlformats.org/presentationml/2006/main">
  <p:tag name="TOCSHAPE" val="AA"/>
</p:tagLst>
</file>

<file path=ppt/tags/tag107.xml><?xml version="1.0" encoding="utf-8"?>
<p:tagLst xmlns:a="http://schemas.openxmlformats.org/drawingml/2006/main" xmlns:r="http://schemas.openxmlformats.org/officeDocument/2006/relationships" xmlns:p="http://schemas.openxmlformats.org/presentationml/2006/main">
  <p:tag name="TOCSHAPE" val="AA"/>
</p:tagLst>
</file>

<file path=ppt/tags/tag108.xml><?xml version="1.0" encoding="utf-8"?>
<p:tagLst xmlns:a="http://schemas.openxmlformats.org/drawingml/2006/main" xmlns:r="http://schemas.openxmlformats.org/officeDocument/2006/relationships" xmlns:p="http://schemas.openxmlformats.org/presentationml/2006/main">
  <p:tag name="TOCSHAPE" val="AA"/>
</p:tagLst>
</file>

<file path=ppt/tags/tag109.xml><?xml version="1.0" encoding="utf-8"?>
<p:tagLst xmlns:a="http://schemas.openxmlformats.org/drawingml/2006/main" xmlns:r="http://schemas.openxmlformats.org/officeDocument/2006/relationships" xmlns:p="http://schemas.openxmlformats.org/presentationml/2006/main">
  <p:tag name="TOCSHAPE" val="AA"/>
</p:tagLst>
</file>

<file path=ppt/tags/tag110.xml><?xml version="1.0" encoding="utf-8"?>
<p:tagLst xmlns:a="http://schemas.openxmlformats.org/drawingml/2006/main" xmlns:r="http://schemas.openxmlformats.org/officeDocument/2006/relationships" xmlns:p="http://schemas.openxmlformats.org/presentationml/2006/main">
  <p:tag name="TOCSHAPE" val="AA"/>
</p:tagLst>
</file>

<file path=ppt/tags/tag111.xml><?xml version="1.0" encoding="utf-8"?>
<p:tagLst xmlns:a="http://schemas.openxmlformats.org/drawingml/2006/main" xmlns:r="http://schemas.openxmlformats.org/officeDocument/2006/relationships" xmlns:p="http://schemas.openxmlformats.org/presentationml/2006/main">
  <p:tag name="TOCSHAPE" val="AA"/>
</p:tagLst>
</file>

<file path=ppt/tags/tag112.xml><?xml version="1.0" encoding="utf-8"?>
<p:tagLst xmlns:a="http://schemas.openxmlformats.org/drawingml/2006/main" xmlns:r="http://schemas.openxmlformats.org/officeDocument/2006/relationships" xmlns:p="http://schemas.openxmlformats.org/presentationml/2006/main">
  <p:tag name="TOCSHAPE" val="AA"/>
</p:tagLst>
</file>

<file path=ppt/tags/tag113.xml><?xml version="1.0" encoding="utf-8"?>
<p:tagLst xmlns:a="http://schemas.openxmlformats.org/drawingml/2006/main" xmlns:r="http://schemas.openxmlformats.org/officeDocument/2006/relationships" xmlns:p="http://schemas.openxmlformats.org/presentationml/2006/main">
  <p:tag name="TOCSHAPE" val="AA"/>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AA"/>
</p:tagLst>
</file>

<file path=ppt/tags/tag118.xml><?xml version="1.0" encoding="utf-8"?>
<p:tagLst xmlns:a="http://schemas.openxmlformats.org/drawingml/2006/main" xmlns:r="http://schemas.openxmlformats.org/officeDocument/2006/relationships" xmlns:p="http://schemas.openxmlformats.org/presentationml/2006/main">
  <p:tag name="TOCSHAPE" val="AA"/>
</p:tagLst>
</file>

<file path=ppt/tags/tag119.xml><?xml version="1.0" encoding="utf-8"?>
<p:tagLst xmlns:a="http://schemas.openxmlformats.org/drawingml/2006/main" xmlns:r="http://schemas.openxmlformats.org/officeDocument/2006/relationships" xmlns:p="http://schemas.openxmlformats.org/presentationml/2006/main">
  <p:tag name="TOCSHAPE" val="AA"/>
</p:tagLst>
</file>

<file path=ppt/tags/tag120.xml><?xml version="1.0" encoding="utf-8"?>
<p:tagLst xmlns:a="http://schemas.openxmlformats.org/drawingml/2006/main" xmlns:r="http://schemas.openxmlformats.org/officeDocument/2006/relationships" xmlns:p="http://schemas.openxmlformats.org/presentationml/2006/main">
  <p:tag name="TOCSHAPE" val="AA"/>
</p:tagLst>
</file>

<file path=ppt/tags/tag121.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22.xml><?xml version="1.0" encoding="utf-8"?>
<p:tagLst xmlns:a="http://schemas.openxmlformats.org/drawingml/2006/main" xmlns:r="http://schemas.openxmlformats.org/officeDocument/2006/relationships" xmlns:p="http://schemas.openxmlformats.org/presentationml/2006/main">
  <p:tag name="TOCSHAPE" val="795"/>
  <p:tag name="SLIDEINDEX" val="795"/>
</p:tagLst>
</file>

<file path=ppt/tags/tag123.xml><?xml version="1.0" encoding="utf-8"?>
<p:tagLst xmlns:a="http://schemas.openxmlformats.org/drawingml/2006/main" xmlns:r="http://schemas.openxmlformats.org/officeDocument/2006/relationships" xmlns:p="http://schemas.openxmlformats.org/presentationml/2006/main">
  <p:tag name="TOCSHAPE" val="798"/>
  <p:tag name="SLIDEINDEX" val="798"/>
</p:tagLst>
</file>

<file path=ppt/tags/tag124.xml><?xml version="1.0" encoding="utf-8"?>
<p:tagLst xmlns:a="http://schemas.openxmlformats.org/drawingml/2006/main" xmlns:r="http://schemas.openxmlformats.org/officeDocument/2006/relationships" xmlns:p="http://schemas.openxmlformats.org/presentationml/2006/main">
  <p:tag name="TOCSHAPE" val="934"/>
  <p:tag name="SLIDEINDEX" val="934"/>
</p:tagLst>
</file>

<file path=ppt/tags/tag125.xml><?xml version="1.0" encoding="utf-8"?>
<p:tagLst xmlns:a="http://schemas.openxmlformats.org/drawingml/2006/main" xmlns:r="http://schemas.openxmlformats.org/officeDocument/2006/relationships" xmlns:p="http://schemas.openxmlformats.org/presentationml/2006/main">
  <p:tag name="TOCSHAPE" val="860"/>
  <p:tag name="SLIDEINDEX" val="860"/>
</p:tagLst>
</file>

<file path=ppt/tags/tag126.xml><?xml version="1.0" encoding="utf-8"?>
<p:tagLst xmlns:a="http://schemas.openxmlformats.org/drawingml/2006/main" xmlns:r="http://schemas.openxmlformats.org/officeDocument/2006/relationships" xmlns:p="http://schemas.openxmlformats.org/presentationml/2006/main">
  <p:tag name="TOCSHAPE" val="738"/>
  <p:tag name="SLIDEINDEX" val="738"/>
</p:tagLst>
</file>

<file path=ppt/tags/tag127.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128.xml><?xml version="1.0" encoding="utf-8"?>
<p:tagLst xmlns:a="http://schemas.openxmlformats.org/drawingml/2006/main" xmlns:r="http://schemas.openxmlformats.org/officeDocument/2006/relationships" xmlns:p="http://schemas.openxmlformats.org/presentationml/2006/main">
  <p:tag name="TOCSHAPE" val="818"/>
  <p:tag name="SLIDEINDEX" val="818"/>
</p:tagLst>
</file>

<file path=ppt/tags/tag129.xml><?xml version="1.0" encoding="utf-8"?>
<p:tagLst xmlns:a="http://schemas.openxmlformats.org/drawingml/2006/main" xmlns:r="http://schemas.openxmlformats.org/officeDocument/2006/relationships" xmlns:p="http://schemas.openxmlformats.org/presentationml/2006/main">
  <p:tag name="TOCSHAPE" val="876"/>
  <p:tag name="SLIDEINDEX" val="876"/>
</p:tagLst>
</file>

<file path=ppt/tags/tag130.xml><?xml version="1.0" encoding="utf-8"?>
<p:tagLst xmlns:a="http://schemas.openxmlformats.org/drawingml/2006/main" xmlns:r="http://schemas.openxmlformats.org/officeDocument/2006/relationships" xmlns:p="http://schemas.openxmlformats.org/presentationml/2006/main">
  <p:tag name="TOCSHAPE" val="875"/>
  <p:tag name="SLIDEINDEX" val="875"/>
</p:tagLst>
</file>

<file path=ppt/tags/tag131.xml><?xml version="1.0" encoding="utf-8"?>
<p:tagLst xmlns:a="http://schemas.openxmlformats.org/drawingml/2006/main" xmlns:r="http://schemas.openxmlformats.org/officeDocument/2006/relationships" xmlns:p="http://schemas.openxmlformats.org/presentationml/2006/main">
  <p:tag name="TOCSHAPE" val="879"/>
  <p:tag name="SLIDEINDEX" val="879"/>
</p:tagLst>
</file>

<file path=ppt/tags/tag132.xml><?xml version="1.0" encoding="utf-8"?>
<p:tagLst xmlns:a="http://schemas.openxmlformats.org/drawingml/2006/main" xmlns:r="http://schemas.openxmlformats.org/officeDocument/2006/relationships" xmlns:p="http://schemas.openxmlformats.org/presentationml/2006/main">
  <p:tag name="TOCSHAPE" val="881"/>
  <p:tag name="SLIDEINDEX" val="881"/>
</p:tagLst>
</file>

<file path=ppt/tags/tag133.xml><?xml version="1.0" encoding="utf-8"?>
<p:tagLst xmlns:a="http://schemas.openxmlformats.org/drawingml/2006/main" xmlns:r="http://schemas.openxmlformats.org/officeDocument/2006/relationships" xmlns:p="http://schemas.openxmlformats.org/presentationml/2006/main">
  <p:tag name="TOCSHAPE" val="884"/>
  <p:tag name="SLIDEINDEX" val="884"/>
</p:tagLst>
</file>

<file path=ppt/tags/tag134.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135.xml><?xml version="1.0" encoding="utf-8"?>
<p:tagLst xmlns:a="http://schemas.openxmlformats.org/drawingml/2006/main" xmlns:r="http://schemas.openxmlformats.org/officeDocument/2006/relationships" xmlns:p="http://schemas.openxmlformats.org/presentationml/2006/main">
  <p:tag name="TOCSHAPE" val="888"/>
  <p:tag name="SLIDEINDEX" val="888"/>
</p:tagLst>
</file>

<file path=ppt/tags/tag136.xml><?xml version="1.0" encoding="utf-8"?>
<p:tagLst xmlns:a="http://schemas.openxmlformats.org/drawingml/2006/main" xmlns:r="http://schemas.openxmlformats.org/officeDocument/2006/relationships" xmlns:p="http://schemas.openxmlformats.org/presentationml/2006/main">
  <p:tag name="TOCSHAPE" val="889"/>
  <p:tag name="SLIDEINDEX" val="889"/>
</p:tagLst>
</file>

<file path=ppt/tags/tag137.xml><?xml version="1.0" encoding="utf-8"?>
<p:tagLst xmlns:a="http://schemas.openxmlformats.org/drawingml/2006/main" xmlns:r="http://schemas.openxmlformats.org/officeDocument/2006/relationships" xmlns:p="http://schemas.openxmlformats.org/presentationml/2006/main">
  <p:tag name="TOCSHAPE" val="890"/>
  <p:tag name="SLIDEINDEX" val="890"/>
</p:tagLst>
</file>

<file path=ppt/tags/tag138.xml><?xml version="1.0" encoding="utf-8"?>
<p:tagLst xmlns:a="http://schemas.openxmlformats.org/drawingml/2006/main" xmlns:r="http://schemas.openxmlformats.org/officeDocument/2006/relationships" xmlns:p="http://schemas.openxmlformats.org/presentationml/2006/main">
  <p:tag name="TOCSHAPE" val="831"/>
  <p:tag name="SLIDEINDEX" val="831"/>
</p:tagLst>
</file>

<file path=ppt/tags/tag139.xml><?xml version="1.0" encoding="utf-8"?>
<p:tagLst xmlns:a="http://schemas.openxmlformats.org/drawingml/2006/main" xmlns:r="http://schemas.openxmlformats.org/officeDocument/2006/relationships" xmlns:p="http://schemas.openxmlformats.org/presentationml/2006/main">
  <p:tag name="TOCSHAPE" val="937"/>
  <p:tag name="SLIDEINDEX" val="937"/>
</p:tagLst>
</file>

<file path=ppt/tags/tag140.xml><?xml version="1.0" encoding="utf-8"?>
<p:tagLst xmlns:a="http://schemas.openxmlformats.org/drawingml/2006/main" xmlns:r="http://schemas.openxmlformats.org/officeDocument/2006/relationships" xmlns:p="http://schemas.openxmlformats.org/presentationml/2006/main">
  <p:tag name="TOCSHAPE" val="939"/>
  <p:tag name="SLIDEINDEX" val="939"/>
</p:tagLst>
</file>

<file path=ppt/tags/tag141.xml><?xml version="1.0" encoding="utf-8"?>
<p:tagLst xmlns:a="http://schemas.openxmlformats.org/drawingml/2006/main" xmlns:r="http://schemas.openxmlformats.org/officeDocument/2006/relationships" xmlns:p="http://schemas.openxmlformats.org/presentationml/2006/main">
  <p:tag name="TOCSHAPE" val="940"/>
  <p:tag name="SLIDEINDEX" val="940"/>
</p:tagLst>
</file>

<file path=ppt/tags/tag142.xml><?xml version="1.0" encoding="utf-8"?>
<p:tagLst xmlns:a="http://schemas.openxmlformats.org/drawingml/2006/main" xmlns:r="http://schemas.openxmlformats.org/officeDocument/2006/relationships" xmlns:p="http://schemas.openxmlformats.org/presentationml/2006/main">
  <p:tag name="TOCSHAPE" val="694"/>
  <p:tag name="SLIDEINDEX" val="694"/>
</p:tagLst>
</file>

<file path=ppt/tags/tag143.xml><?xml version="1.0" encoding="utf-8"?>
<p:tagLst xmlns:a="http://schemas.openxmlformats.org/drawingml/2006/main" xmlns:r="http://schemas.openxmlformats.org/officeDocument/2006/relationships" xmlns:p="http://schemas.openxmlformats.org/presentationml/2006/main">
  <p:tag name="NAME" val="Executive summary"/>
  <p:tag name="CROSSREFGUID" val="d46926f3-4e60-4369-b8b8-4188edaf2f9a"/>
  <p:tag name="SECTION" val="1"/>
</p:tagLst>
</file>

<file path=ppt/tags/tag14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4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4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5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51.xml><?xml version="1.0" encoding="utf-8"?>
<p:tagLst xmlns:a="http://schemas.openxmlformats.org/drawingml/2006/main" xmlns:r="http://schemas.openxmlformats.org/officeDocument/2006/relationships" xmlns:p="http://schemas.openxmlformats.org/presentationml/2006/main">
  <p:tag name="TOCSHAPE" val="AA"/>
</p:tagLst>
</file>

<file path=ppt/tags/tag152.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53.xml><?xml version="1.0" encoding="utf-8"?>
<p:tagLst xmlns:a="http://schemas.openxmlformats.org/drawingml/2006/main" xmlns:r="http://schemas.openxmlformats.org/officeDocument/2006/relationships" xmlns:p="http://schemas.openxmlformats.org/presentationml/2006/main">
  <p:tag name="TOCSHAPE" val="AA"/>
</p:tagLst>
</file>

<file path=ppt/tags/tag154.xml><?xml version="1.0" encoding="utf-8"?>
<p:tagLst xmlns:a="http://schemas.openxmlformats.org/drawingml/2006/main" xmlns:r="http://schemas.openxmlformats.org/officeDocument/2006/relationships" xmlns:p="http://schemas.openxmlformats.org/presentationml/2006/main">
  <p:tag name="TOCSHAPE" val="AA"/>
</p:tagLst>
</file>

<file path=ppt/tags/tag155.xml><?xml version="1.0" encoding="utf-8"?>
<p:tagLst xmlns:a="http://schemas.openxmlformats.org/drawingml/2006/main" xmlns:r="http://schemas.openxmlformats.org/officeDocument/2006/relationships" xmlns:p="http://schemas.openxmlformats.org/presentationml/2006/main">
  <p:tag name="TOCSHAPE" val="AA"/>
</p:tagLst>
</file>

<file path=ppt/tags/tag156.xml><?xml version="1.0" encoding="utf-8"?>
<p:tagLst xmlns:a="http://schemas.openxmlformats.org/drawingml/2006/main" xmlns:r="http://schemas.openxmlformats.org/officeDocument/2006/relationships" xmlns:p="http://schemas.openxmlformats.org/presentationml/2006/main">
  <p:tag name="TOCSHAPE" val="AA"/>
</p:tagLst>
</file>

<file path=ppt/tags/tag157.xml><?xml version="1.0" encoding="utf-8"?>
<p:tagLst xmlns:a="http://schemas.openxmlformats.org/drawingml/2006/main" xmlns:r="http://schemas.openxmlformats.org/officeDocument/2006/relationships" xmlns:p="http://schemas.openxmlformats.org/presentationml/2006/main">
  <p:tag name="TOCSHAPE" val="AA"/>
</p:tagLst>
</file>

<file path=ppt/tags/tag158.xml><?xml version="1.0" encoding="utf-8"?>
<p:tagLst xmlns:a="http://schemas.openxmlformats.org/drawingml/2006/main" xmlns:r="http://schemas.openxmlformats.org/officeDocument/2006/relationships" xmlns:p="http://schemas.openxmlformats.org/presentationml/2006/main">
  <p:tag name="TOCSHAPE" val="AA"/>
</p:tagLst>
</file>

<file path=ppt/tags/tag159.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60.xml><?xml version="1.0" encoding="utf-8"?>
<p:tagLst xmlns:a="http://schemas.openxmlformats.org/drawingml/2006/main" xmlns:r="http://schemas.openxmlformats.org/officeDocument/2006/relationships" xmlns:p="http://schemas.openxmlformats.org/presentationml/2006/main">
  <p:tag name="TOCSHAPE" val="795"/>
  <p:tag name="SLIDEINDEX" val="795"/>
</p:tagLst>
</file>

<file path=ppt/tags/tag161.xml><?xml version="1.0" encoding="utf-8"?>
<p:tagLst xmlns:a="http://schemas.openxmlformats.org/drawingml/2006/main" xmlns:r="http://schemas.openxmlformats.org/officeDocument/2006/relationships" xmlns:p="http://schemas.openxmlformats.org/presentationml/2006/main">
  <p:tag name="TOCSHAPE" val="798"/>
  <p:tag name="SLIDEINDEX" val="798"/>
</p:tagLst>
</file>

<file path=ppt/tags/tag162.xml><?xml version="1.0" encoding="utf-8"?>
<p:tagLst xmlns:a="http://schemas.openxmlformats.org/drawingml/2006/main" xmlns:r="http://schemas.openxmlformats.org/officeDocument/2006/relationships" xmlns:p="http://schemas.openxmlformats.org/presentationml/2006/main">
  <p:tag name="TOCSHAPE" val="934"/>
  <p:tag name="SLIDEINDEX" val="934"/>
</p:tagLst>
</file>

<file path=ppt/tags/tag163.xml><?xml version="1.0" encoding="utf-8"?>
<p:tagLst xmlns:a="http://schemas.openxmlformats.org/drawingml/2006/main" xmlns:r="http://schemas.openxmlformats.org/officeDocument/2006/relationships" xmlns:p="http://schemas.openxmlformats.org/presentationml/2006/main">
  <p:tag name="TOCSHAPE" val="860"/>
  <p:tag name="SLIDEINDEX" val="860"/>
</p:tagLst>
</file>

<file path=ppt/tags/tag164.xml><?xml version="1.0" encoding="utf-8"?>
<p:tagLst xmlns:a="http://schemas.openxmlformats.org/drawingml/2006/main" xmlns:r="http://schemas.openxmlformats.org/officeDocument/2006/relationships" xmlns:p="http://schemas.openxmlformats.org/presentationml/2006/main">
  <p:tag name="TOCSHAPE" val="738"/>
  <p:tag name="SLIDEINDEX" val="738"/>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67.xml><?xml version="1.0" encoding="utf-8"?>
<p:tagLst xmlns:a="http://schemas.openxmlformats.org/drawingml/2006/main" xmlns:r="http://schemas.openxmlformats.org/officeDocument/2006/relationships" xmlns:p="http://schemas.openxmlformats.org/presentationml/2006/main">
  <p:tag name="SHAPETYPE" val="BREADCRUMB"/>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ymC1je192pB2PLKrqdrQYQ"/>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l4lhnDhQxXAyB5v4Py3Ms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aekS0mu9o3VLnpeN9dSV9w"/>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fLAREJaJSHCSYXqggk3QYQ"/>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0lih.9zxsYZ7JCHSVh8sZA"/>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6NfgLOzeiNYX34H6TPmcCQ"/>
</p:tagLst>
</file>

<file path=ppt/tags/tag177.xml><?xml version="1.0" encoding="utf-8"?>
<p:tagLst xmlns:a="http://schemas.openxmlformats.org/drawingml/2006/main" xmlns:r="http://schemas.openxmlformats.org/officeDocument/2006/relationships" xmlns:p="http://schemas.openxmlformats.org/presentationml/2006/main">
  <p:tag name="LAST UPDATE DATE" val="419614654.795872"/>
  <p:tag name="IMPORTID" val="354414594717.508591"/>
  <p:tag name="WBLAST" val="https://kpmgoneuk-my.sharepoint.com/personal/thomas_dorrington_kpmg_co_uk/Documents/Documents/1.TS/Diligence+/Example Reports/Converts/Excels/Project X - PL databook - anonymised updated.xlsx"/>
  <p:tag name="USER NAME" val="tdorrington"/>
  <p:tag name="TYPE" val="1"/>
  <p:tag name="SOURCENAME" val="£'000"/>
  <p:tag name="SHEETID" val="QoFe"/>
  <p:tag name="PICTUREAPPEARANCE" val="xlPrinter"/>
  <p:tag name="NORESIZEONUPDATE" val="False"/>
</p:tagLst>
</file>

<file path=ppt/tags/tag178.xml><?xml version="1.0" encoding="utf-8"?>
<p:tagLst xmlns:a="http://schemas.openxmlformats.org/drawingml/2006/main" xmlns:r="http://schemas.openxmlformats.org/officeDocument/2006/relationships" xmlns:p="http://schemas.openxmlformats.org/presentationml/2006/main">
  <p:tag name="LAST UPDATE DATE" val="414676221.906107"/>
  <p:tag name="IMPORTID" val="6981414594690.023243"/>
  <p:tag name="WBLAST" val="https://kpmgoneuk-my.sharepoint.com/personal/thomas_dorrington_kpmg_co_uk/Documents/Documents/1.TS/Diligence+/Example Reports/Magnus/Project Magnus - BS databook.xlsx"/>
  <p:tag name="USER NAME" val="tdorrington"/>
  <p:tag name="TYPE" val="1"/>
  <p:tag name="SOURCENAME" val="£'000"/>
  <p:tag name="SHEETID" val="New NWC metrics"/>
  <p:tag name="PICTUREAPPEARANCE" val="xlPrinter"/>
  <p:tag name="NORESIZEONUPDATE" val="False"/>
</p:tagLst>
</file>

<file path=ppt/tags/tag179.xml><?xml version="1.0" encoding="utf-8"?>
<p:tagLst xmlns:a="http://schemas.openxmlformats.org/drawingml/2006/main" xmlns:r="http://schemas.openxmlformats.org/officeDocument/2006/relationships" xmlns:p="http://schemas.openxmlformats.org/presentationml/2006/main">
  <p:tag name="LAST UPDATE DATE" val="414676277.463523"/>
  <p:tag name="IMPORTID" val="9942414594658.715756"/>
  <p:tag name="WBLAST" val="https://kpmgoneuk-my.sharepoint.com/personal/thomas_dorrington_kpmg_co_uk/Documents/Documents/1.TS/Diligence+/Example Reports/Magnus/Project Magnus - BS databook.xlsx"/>
  <p:tag name="USER NAME" val="tdorrington"/>
  <p:tag name="TYPE" val="1"/>
  <p:tag name="SOURCENAME" val="£'000"/>
  <p:tag name="SHEETID" val="Net debt"/>
  <p:tag name="PICTUREAPPEARANCE" val="xlPrinter"/>
  <p:tag name="NORESIZEONUPDATE" val="False"/>
</p:tagLst>
</file>

<file path=ppt/tags/tag180.xml><?xml version="1.0" encoding="utf-8"?>
<p:tagLst xmlns:a="http://schemas.openxmlformats.org/drawingml/2006/main" xmlns:r="http://schemas.openxmlformats.org/officeDocument/2006/relationships" xmlns:p="http://schemas.openxmlformats.org/presentationml/2006/main">
  <p:tag name="LAST UPDATE DATE" val="414676474.030915"/>
  <p:tag name="IMPORTID" val="9395388190232.508204"/>
  <p:tag name="WBLAST" val="https://kpmgoneuk-my.sharepoint.com/personal/thomas_dorrington_kpmg_co_uk/Documents/Documents/1.TS/Diligence+/Example Reports/Magnus/Project Magnus - PL databook - anonymised updated.xlsx"/>
  <p:tag name="USER NAME" val="tdorrington"/>
  <p:tag name="TYPE" val="2"/>
  <p:tag name="SOURCENAME" val="Chart5"/>
  <p:tag name="SHEETID" val="Stacked revenue &amp; Margins"/>
  <p:tag name="PICTUREAPPEARANCE" val="xlPrinter"/>
  <p:tag name="NORESIZEONUPDATE" val="Fals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fLAREJaJSHCSYXqggk3QY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fLAREJaJSHCSYXqggk3QY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fLAREJaJSHCSYXqggk3QYQ"/>
</p:tagLst>
</file>

<file path=ppt/tags/tag1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5.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8.xml><?xml version="1.0" encoding="utf-8"?>
<p:tagLst xmlns:a="http://schemas.openxmlformats.org/drawingml/2006/main" xmlns:r="http://schemas.openxmlformats.org/officeDocument/2006/relationships" xmlns:p="http://schemas.openxmlformats.org/presentationml/2006/main">
  <p:tag name="FASFONT" val="Univers55"/>
</p:tagLst>
</file>

<file path=ppt/tags/tag189.xml><?xml version="1.0" encoding="utf-8"?>
<p:tagLst xmlns:a="http://schemas.openxmlformats.org/drawingml/2006/main" xmlns:r="http://schemas.openxmlformats.org/officeDocument/2006/relationships" xmlns:p="http://schemas.openxmlformats.org/presentationml/2006/main">
  <p:tag name="FASFONT" val="Univers55"/>
</p:tagLst>
</file>

<file path=ppt/tags/tag190.xml><?xml version="1.0" encoding="utf-8"?>
<p:tagLst xmlns:a="http://schemas.openxmlformats.org/drawingml/2006/main" xmlns:r="http://schemas.openxmlformats.org/officeDocument/2006/relationships" xmlns:p="http://schemas.openxmlformats.org/presentationml/2006/main">
  <p:tag name="FASFONT" val="Univers55"/>
</p:tagLst>
</file>

<file path=ppt/tags/tag191.xml><?xml version="1.0" encoding="utf-8"?>
<p:tagLst xmlns:a="http://schemas.openxmlformats.org/drawingml/2006/main" xmlns:r="http://schemas.openxmlformats.org/officeDocument/2006/relationships" xmlns:p="http://schemas.openxmlformats.org/presentationml/2006/main">
  <p:tag name="FASFONT" val="Univers55"/>
</p:tagLst>
</file>

<file path=ppt/tags/tag192.xml><?xml version="1.0" encoding="utf-8"?>
<p:tagLst xmlns:a="http://schemas.openxmlformats.org/drawingml/2006/main" xmlns:r="http://schemas.openxmlformats.org/officeDocument/2006/relationships" xmlns:p="http://schemas.openxmlformats.org/presentationml/2006/main">
  <p:tag name="FASFONT" val="Univers55"/>
</p:tagLst>
</file>

<file path=ppt/tags/tag193.xml><?xml version="1.0" encoding="utf-8"?>
<p:tagLst xmlns:a="http://schemas.openxmlformats.org/drawingml/2006/main" xmlns:r="http://schemas.openxmlformats.org/officeDocument/2006/relationships" xmlns:p="http://schemas.openxmlformats.org/presentationml/2006/main">
  <p:tag name="FASFONT" val="Univers55"/>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XJaqtssKdoA9Ix_PGCfw8w"/>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Yme55wxsk2fGUh0lsFn1pw"/>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qe428KIrrKLbcwp41K5gT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EN11qn1RmdRe7p_uyUJ2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b281jk6mfM.4i4j44XnO2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ij4UN7nDfKqbJIofL.SFFA"/>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uaKrKMNwdGXDZqO0KOLDg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vg9mQZI_rwNi1sp_0_a07A"/>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LzG8luOH8eSy3JvNB.HUkA"/>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vQhm5STVHO79zBHyDyj07w"/>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WAcADX4gbdmrJJg5Gr1rO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nte7Xs3Ix8uPVutU0kYqa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xcu56ldMkvXoMWAFr_byT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CDe_mu7F1aOvpf1F0D0.Q"/>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VhXErfVa581ie9dzLDKPB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N8RJH7ubWoulnnR9Kqp26w"/>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8QzWoXMKz1c3MmYER2gcJ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BIArRF3Ui_7EnGTuO2avig"/>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Sb7YBPU6xx70yUmCWhSEwA"/>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IVOFN75WxT.DUMBnzuQKi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SfIjScPX1RF4sDS2R1aPU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QJ0cRKyvX2FhQ7IYtn0cLA"/>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FuooRNwTiaGZhKosFyHSR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nXgSGH.YJ9R.tOb9S5z3nA"/>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G3al6ypvOC2nxo5RbgeMo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jMDS1.Dvd6uXV5QlZ4_2t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8lhcayfBVC49Q2qgFLxqkg"/>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fziU.QaQEMl5BdhFlz0nh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BssrIpkBjk4.rMvRgkKTYQ"/>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i6NBbLcfG7JoinK6b8Etf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M_n.5SntfWvBEr238k_7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luI7HOu9Oy0uE2WDq4CKU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OzNYOKAMp321SNRnWKoiQg"/>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W.FU52w5JwFzgGO1V_yTn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MryZROjcz4il8pyP2FNOd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4iodtpsHA.ri4gD4GmXqF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Nc9IUdeA.zPaRi8jF_HdP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fziU.QaQEMl5BdhFlz0nh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FuooRNwTiaGZhKosFyHSR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FuooRNwTiaGZhKosFyHSR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FuooRNwTiaGZhKosFyHSRg"/>
</p:tagLst>
</file>

<file path=ppt/tags/tag235.xml><?xml version="1.0" encoding="utf-8"?>
<p:tagLst xmlns:a="http://schemas.openxmlformats.org/drawingml/2006/main" xmlns:r="http://schemas.openxmlformats.org/officeDocument/2006/relationships" xmlns:p="http://schemas.openxmlformats.org/presentationml/2006/main">
  <p:tag name="FASFONT" val="Univers55"/>
</p:tagLst>
</file>

<file path=ppt/tags/tag236.xml><?xml version="1.0" encoding="utf-8"?>
<p:tagLst xmlns:a="http://schemas.openxmlformats.org/drawingml/2006/main" xmlns:r="http://schemas.openxmlformats.org/officeDocument/2006/relationships" xmlns:p="http://schemas.openxmlformats.org/presentationml/2006/main">
  <p:tag name="FASFONT" val="Univers55"/>
</p:tagLst>
</file>

<file path=ppt/tags/tag237.xml><?xml version="1.0" encoding="utf-8"?>
<p:tagLst xmlns:a="http://schemas.openxmlformats.org/drawingml/2006/main" xmlns:r="http://schemas.openxmlformats.org/officeDocument/2006/relationships" xmlns:p="http://schemas.openxmlformats.org/presentationml/2006/main">
  <p:tag name="FASFONT" val="Univers55"/>
</p:tagLst>
</file>

<file path=ppt/tags/tag238.xml><?xml version="1.0" encoding="utf-8"?>
<p:tagLst xmlns:a="http://schemas.openxmlformats.org/drawingml/2006/main" xmlns:r="http://schemas.openxmlformats.org/officeDocument/2006/relationships" xmlns:p="http://schemas.openxmlformats.org/presentationml/2006/main">
  <p:tag name="FASFONT" val="Univers55"/>
</p:tagLst>
</file>

<file path=ppt/tags/tag23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0.xml><?xml version="1.0" encoding="utf-8"?>
<p:tagLst xmlns:a="http://schemas.openxmlformats.org/drawingml/2006/main" xmlns:r="http://schemas.openxmlformats.org/officeDocument/2006/relationships" xmlns:p="http://schemas.openxmlformats.org/presentationml/2006/main">
  <p:tag name="FASFONT" val="Univers55"/>
</p:tagLst>
</file>

<file path=ppt/tags/tag241.xml><?xml version="1.0" encoding="utf-8"?>
<p:tagLst xmlns:a="http://schemas.openxmlformats.org/drawingml/2006/main" xmlns:r="http://schemas.openxmlformats.org/officeDocument/2006/relationships" xmlns:p="http://schemas.openxmlformats.org/presentationml/2006/main">
  <p:tag name="FASFONT" val="Univers55"/>
</p:tagLst>
</file>

<file path=ppt/tags/tag242.xml><?xml version="1.0" encoding="utf-8"?>
<p:tagLst xmlns:a="http://schemas.openxmlformats.org/drawingml/2006/main" xmlns:r="http://schemas.openxmlformats.org/officeDocument/2006/relationships" xmlns:p="http://schemas.openxmlformats.org/presentationml/2006/main">
  <p:tag name="FASFONT" val="Univers55"/>
</p:tagLst>
</file>

<file path=ppt/tags/tag243.xml><?xml version="1.0" encoding="utf-8"?>
<p:tagLst xmlns:a="http://schemas.openxmlformats.org/drawingml/2006/main" xmlns:r="http://schemas.openxmlformats.org/officeDocument/2006/relationships" xmlns:p="http://schemas.openxmlformats.org/presentationml/2006/main">
  <p:tag name="FASFONT" val="Univers55"/>
</p:tagLst>
</file>

<file path=ppt/tags/tag244.xml><?xml version="1.0" encoding="utf-8"?>
<p:tagLst xmlns:a="http://schemas.openxmlformats.org/drawingml/2006/main" xmlns:r="http://schemas.openxmlformats.org/officeDocument/2006/relationships" xmlns:p="http://schemas.openxmlformats.org/presentationml/2006/main">
  <p:tag name="FASFONT" val="Univers55"/>
</p:tagLst>
</file>

<file path=ppt/tags/tag245.xml><?xml version="1.0" encoding="utf-8"?>
<p:tagLst xmlns:a="http://schemas.openxmlformats.org/drawingml/2006/main" xmlns:r="http://schemas.openxmlformats.org/officeDocument/2006/relationships" xmlns:p="http://schemas.openxmlformats.org/presentationml/2006/main">
  <p:tag name="FASFONT" val="Univers55"/>
</p:tagLst>
</file>

<file path=ppt/tags/tag246.xml><?xml version="1.0" encoding="utf-8"?>
<p:tagLst xmlns:a="http://schemas.openxmlformats.org/drawingml/2006/main" xmlns:r="http://schemas.openxmlformats.org/officeDocument/2006/relationships" xmlns:p="http://schemas.openxmlformats.org/presentationml/2006/main">
  <p:tag name="FASFONT" val="Univers55"/>
</p:tagLst>
</file>

<file path=ppt/tags/tag247.xml><?xml version="1.0" encoding="utf-8"?>
<p:tagLst xmlns:a="http://schemas.openxmlformats.org/drawingml/2006/main" xmlns:r="http://schemas.openxmlformats.org/officeDocument/2006/relationships" xmlns:p="http://schemas.openxmlformats.org/presentationml/2006/main">
  <p:tag name="FASFONT" val="Univers55"/>
</p:tagLst>
</file>

<file path=ppt/tags/tag248.xml><?xml version="1.0" encoding="utf-8"?>
<p:tagLst xmlns:a="http://schemas.openxmlformats.org/drawingml/2006/main" xmlns:r="http://schemas.openxmlformats.org/officeDocument/2006/relationships" xmlns:p="http://schemas.openxmlformats.org/presentationml/2006/main">
  <p:tag name="FASFONT" val="Univers55"/>
</p:tagLst>
</file>

<file path=ppt/tags/tag249.xml><?xml version="1.0" encoding="utf-8"?>
<p:tagLst xmlns:a="http://schemas.openxmlformats.org/drawingml/2006/main" xmlns:r="http://schemas.openxmlformats.org/officeDocument/2006/relationships" xmlns:p="http://schemas.openxmlformats.org/presentationml/2006/main">
  <p:tag name="FASFONT" val="Univers55"/>
</p:tagLst>
</file>

<file path=ppt/tags/tag250.xml><?xml version="1.0" encoding="utf-8"?>
<p:tagLst xmlns:a="http://schemas.openxmlformats.org/drawingml/2006/main" xmlns:r="http://schemas.openxmlformats.org/officeDocument/2006/relationships" xmlns:p="http://schemas.openxmlformats.org/presentationml/2006/main">
  <p:tag name="FASFONT" val="Univers55"/>
</p:tagLst>
</file>

<file path=ppt/tags/tag251.xml><?xml version="1.0" encoding="utf-8"?>
<p:tagLst xmlns:a="http://schemas.openxmlformats.org/drawingml/2006/main" xmlns:r="http://schemas.openxmlformats.org/officeDocument/2006/relationships" xmlns:p="http://schemas.openxmlformats.org/presentationml/2006/main">
  <p:tag name="FASFONT" val="Univers55"/>
</p:tagLst>
</file>

<file path=ppt/tags/tag252.xml><?xml version="1.0" encoding="utf-8"?>
<p:tagLst xmlns:a="http://schemas.openxmlformats.org/drawingml/2006/main" xmlns:r="http://schemas.openxmlformats.org/officeDocument/2006/relationships" xmlns:p="http://schemas.openxmlformats.org/presentationml/2006/main">
  <p:tag name="FASFONT" val="Univers55"/>
</p:tagLst>
</file>

<file path=ppt/tags/tag253.xml><?xml version="1.0" encoding="utf-8"?>
<p:tagLst xmlns:a="http://schemas.openxmlformats.org/drawingml/2006/main" xmlns:r="http://schemas.openxmlformats.org/officeDocument/2006/relationships" xmlns:p="http://schemas.openxmlformats.org/presentationml/2006/main">
  <p:tag name="FASFONT" val="Univers55"/>
</p:tagLst>
</file>

<file path=ppt/tags/tag254.xml><?xml version="1.0" encoding="utf-8"?>
<p:tagLst xmlns:a="http://schemas.openxmlformats.org/drawingml/2006/main" xmlns:r="http://schemas.openxmlformats.org/officeDocument/2006/relationships" xmlns:p="http://schemas.openxmlformats.org/presentationml/2006/main">
  <p:tag name="FASFONT" val="Univers55"/>
</p:tagLst>
</file>

<file path=ppt/tags/tag255.xml><?xml version="1.0" encoding="utf-8"?>
<p:tagLst xmlns:a="http://schemas.openxmlformats.org/drawingml/2006/main" xmlns:r="http://schemas.openxmlformats.org/officeDocument/2006/relationships" xmlns:p="http://schemas.openxmlformats.org/presentationml/2006/main">
  <p:tag name="FASFONT" val="Univers55"/>
</p:tagLst>
</file>

<file path=ppt/tags/tag256.xml><?xml version="1.0" encoding="utf-8"?>
<p:tagLst xmlns:a="http://schemas.openxmlformats.org/drawingml/2006/main" xmlns:r="http://schemas.openxmlformats.org/officeDocument/2006/relationships" xmlns:p="http://schemas.openxmlformats.org/presentationml/2006/main">
  <p:tag name="CROSSREFGUID" val="36ee711f-99d2-4e15-843a-39260fe4521c"/>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0.xml><?xml version="1.0" encoding="utf-8"?>
<p:tagLst xmlns:a="http://schemas.openxmlformats.org/drawingml/2006/main" xmlns:r="http://schemas.openxmlformats.org/officeDocument/2006/relationships" xmlns:p="http://schemas.openxmlformats.org/presentationml/2006/main">
  <p:tag name="CROSSREFGUID" val="ba77035f-2208-484b-a565-ca1b9a02d0e3"/>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4.xml><?xml version="1.0" encoding="utf-8"?>
<p:tagLst xmlns:a="http://schemas.openxmlformats.org/drawingml/2006/main" xmlns:r="http://schemas.openxmlformats.org/officeDocument/2006/relationships" xmlns:p="http://schemas.openxmlformats.org/presentationml/2006/main">
  <p:tag name="CROSSREFGUID" val="81621b1a-890f-44b3-a4dc-72c7c10e2fbb"/>
</p:tagLst>
</file>

<file path=ppt/tags/tag26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8.xml><?xml version="1.0" encoding="utf-8"?>
<p:tagLst xmlns:a="http://schemas.openxmlformats.org/drawingml/2006/main" xmlns:r="http://schemas.openxmlformats.org/officeDocument/2006/relationships" xmlns:p="http://schemas.openxmlformats.org/presentationml/2006/main">
  <p:tag name="LAST UPDATE DATE" val="415450974.375134"/>
  <p:tag name="IMPORTID" val="3200415450214.226352"/>
  <p:tag name="WBLAST" val="https://kpmgoneuk-my.sharepoint.com/personal/thomas_dorrington_kpmg_co_uk/Documents/Documents/1.TS/Diligence+/Example Reports/Converts/Project Magnus - BS databook.xlsx"/>
  <p:tag name="USER NAME" val="tdorrington"/>
  <p:tag name="TYPE" val="1"/>
  <p:tag name="SOURCENAME" val="Indicative enterprise value to equity bridge"/>
  <p:tag name="SHEETID" val="EV Equity bridge"/>
  <p:tag name="PICTUREAPPEARANCE" val="xlPrinter"/>
  <p:tag name="NORESIZEONUPDATE" val="False"/>
</p:tagLst>
</file>

<file path=ppt/tags/tag26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1.xml><?xml version="1.0" encoding="utf-8"?>
<p:tagLst xmlns:a="http://schemas.openxmlformats.org/drawingml/2006/main" xmlns:r="http://schemas.openxmlformats.org/officeDocument/2006/relationships" xmlns:p="http://schemas.openxmlformats.org/presentationml/2006/main">
  <p:tag name="LAST UPDATE DATE" val="414685477.706284"/>
  <p:tag name="IMPORTID" val="4450388334498.154189"/>
  <p:tag name="WBLAST" val="https://kpmgoneuk-my.sharepoint.com/personal/thomas_dorrington_kpmg_co_uk/Documents/Documents/1.TS/Diligence+/Example Reports/Magnus/Project Magnus - PL databook - anonymised updated.xlsx"/>
  <p:tag name="USER NAME" val="tdorrington"/>
  <p:tag name="TYPE" val="2"/>
  <p:tag name="SOURCENAME" val="Chart1"/>
  <p:tag name="SHEETID" val="Summary PL EBITDA"/>
  <p:tag name="PICTUREAPPEARANCE" val="xlPrinter"/>
  <p:tag name="NORESIZEONUPDATE" val="False"/>
</p:tagLst>
</file>

<file path=ppt/tags/tag272.xml><?xml version="1.0" encoding="utf-8"?>
<p:tagLst xmlns:a="http://schemas.openxmlformats.org/drawingml/2006/main" xmlns:r="http://schemas.openxmlformats.org/officeDocument/2006/relationships" xmlns:p="http://schemas.openxmlformats.org/presentationml/2006/main">
  <p:tag name="LAST UPDATE DATE" val="414611073.061316"/>
  <p:tag name="IMPORTID" val="4568414611073.061316"/>
  <p:tag name="WBLAST" val="https://kpmgoneuk-my.sharepoint.com/personal/thomas_dorrington_kpmg_co_uk/Documents/Documents/1.TS/Diligence+/Example Reports/Magnus/Project Magnus - PL databook - anonymised updated.xlsx"/>
  <p:tag name="USER NAME" val="tdorrington"/>
  <p:tag name="TYPE" val="2"/>
  <p:tag name="SOURCENAME" val="Chart 4"/>
  <p:tag name="SHEETID" val="QoFe"/>
  <p:tag name="PICTUREAPPEARANCE" val="xlPrinter"/>
  <p:tag name="NORESIZEONUPDATE" val="False"/>
</p:tagLst>
</file>

<file path=ppt/tags/tag27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5.xml><?xml version="1.0" encoding="utf-8"?>
<p:tagLst xmlns:a="http://schemas.openxmlformats.org/drawingml/2006/main" xmlns:r="http://schemas.openxmlformats.org/officeDocument/2006/relationships" xmlns:p="http://schemas.openxmlformats.org/presentationml/2006/main">
  <p:tag name="LAST UPDATE DATE" val="414688767.149147"/>
  <p:tag name="IMPORTID" val="8728394294557.359413"/>
  <p:tag name="WBLAST" val="https://kpmgoneuk-my.sharepoint.com/personal/thomas_dorrington_kpmg_co_uk/Documents/Documents/1.TS/Diligence+/Example Reports/Magnus/Project Magnus - BS databook.xlsx"/>
  <p:tag name="USER NAME" val="tdorrington"/>
  <p:tag name="TYPE" val="1"/>
  <p:tag name="SOURCENAME" val="Net debt "/>
  <p:tag name="SHEETID" val="Net debt"/>
  <p:tag name="PICTUREAPPEARANCE" val="xlPrinter"/>
  <p:tag name="NORESIZEONUPDATE" val="False"/>
</p:tagLst>
</file>

<file path=ppt/tags/tag276.xml><?xml version="1.0" encoding="utf-8"?>
<p:tagLst xmlns:a="http://schemas.openxmlformats.org/drawingml/2006/main" xmlns:r="http://schemas.openxmlformats.org/officeDocument/2006/relationships" xmlns:p="http://schemas.openxmlformats.org/presentationml/2006/main">
  <p:tag name="LAST UPDATE DATE" val="419706476.314095"/>
  <p:tag name="IMPORTID" val="4197419705922.272197"/>
  <p:tag name="WBLAST" val="https://kpmgoneuk-my.sharepoint.com/personal/thomas_dorrington_kpmg_co_uk/Documents/Documents/1.TS/Diligence+/Example Reports/Converts/Excels/Project X - BS databook.xlsx"/>
  <p:tag name="USER NAME" val="tdorrington"/>
  <p:tag name="TYPE" val="1"/>
  <p:tag name="SOURCENAME" val="Summary cashflow "/>
  <p:tag name="SHEETID" val="Summary Cashflow"/>
  <p:tag name="PICTUREAPPEARANCE" val="xlPrinter"/>
  <p:tag name="NORESIZEONUPDATE" val="False"/>
</p:tagLst>
</file>

<file path=ppt/tags/tag27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9.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4.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5.xml><?xml version="1.0" encoding="utf-8"?>
<p:tagLst xmlns:a="http://schemas.openxmlformats.org/drawingml/2006/main" xmlns:r="http://schemas.openxmlformats.org/officeDocument/2006/relationships" xmlns:p="http://schemas.openxmlformats.org/presentationml/2006/main">
  <p:tag name="NAME" val="Historical trading"/>
  <p:tag name="SECTION" val="2"/>
</p:tagLst>
</file>

<file path=ppt/tags/tag28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28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8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8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9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9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292.xml><?xml version="1.0" encoding="utf-8"?>
<p:tagLst xmlns:a="http://schemas.openxmlformats.org/drawingml/2006/main" xmlns:r="http://schemas.openxmlformats.org/officeDocument/2006/relationships" xmlns:p="http://schemas.openxmlformats.org/presentationml/2006/main">
  <p:tag name="TOCSHAPE" val="AA"/>
</p:tagLst>
</file>

<file path=ppt/tags/tag293.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294.xml><?xml version="1.0" encoding="utf-8"?>
<p:tagLst xmlns:a="http://schemas.openxmlformats.org/drawingml/2006/main" xmlns:r="http://schemas.openxmlformats.org/officeDocument/2006/relationships" xmlns:p="http://schemas.openxmlformats.org/presentationml/2006/main">
  <p:tag name="TOCSHAPE" val="AA"/>
</p:tagLst>
</file>

<file path=ppt/tags/tag295.xml><?xml version="1.0" encoding="utf-8"?>
<p:tagLst xmlns:a="http://schemas.openxmlformats.org/drawingml/2006/main" xmlns:r="http://schemas.openxmlformats.org/officeDocument/2006/relationships" xmlns:p="http://schemas.openxmlformats.org/presentationml/2006/main">
  <p:tag name="TOCSHAPE" val="AA"/>
</p:tagLst>
</file>

<file path=ppt/tags/tag296.xml><?xml version="1.0" encoding="utf-8"?>
<p:tagLst xmlns:a="http://schemas.openxmlformats.org/drawingml/2006/main" xmlns:r="http://schemas.openxmlformats.org/officeDocument/2006/relationships" xmlns:p="http://schemas.openxmlformats.org/presentationml/2006/main">
  <p:tag name="TOCSHAPE" val="AA"/>
</p:tagLst>
</file>

<file path=ppt/tags/tag297.xml><?xml version="1.0" encoding="utf-8"?>
<p:tagLst xmlns:a="http://schemas.openxmlformats.org/drawingml/2006/main" xmlns:r="http://schemas.openxmlformats.org/officeDocument/2006/relationships" xmlns:p="http://schemas.openxmlformats.org/presentationml/2006/main">
  <p:tag name="TOCSHAPE" val="AA"/>
</p:tagLst>
</file>

<file path=ppt/tags/tag298.xml><?xml version="1.0" encoding="utf-8"?>
<p:tagLst xmlns:a="http://schemas.openxmlformats.org/drawingml/2006/main" xmlns:r="http://schemas.openxmlformats.org/officeDocument/2006/relationships" xmlns:p="http://schemas.openxmlformats.org/presentationml/2006/main">
  <p:tag name="TOCSHAPE" val="AA"/>
</p:tagLst>
</file>

<file path=ppt/tags/tag299.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300.xml><?xml version="1.0" encoding="utf-8"?>
<p:tagLst xmlns:a="http://schemas.openxmlformats.org/drawingml/2006/main" xmlns:r="http://schemas.openxmlformats.org/officeDocument/2006/relationships" xmlns:p="http://schemas.openxmlformats.org/presentationml/2006/main">
  <p:tag name="TOCSHAPE" val="818"/>
  <p:tag name="SLIDEINDEX" val="818"/>
</p:tagLst>
</file>

<file path=ppt/tags/tag301.xml><?xml version="1.0" encoding="utf-8"?>
<p:tagLst xmlns:a="http://schemas.openxmlformats.org/drawingml/2006/main" xmlns:r="http://schemas.openxmlformats.org/officeDocument/2006/relationships" xmlns:p="http://schemas.openxmlformats.org/presentationml/2006/main">
  <p:tag name="TOCSHAPE" val="876"/>
  <p:tag name="SLIDEINDEX" val="876"/>
</p:tagLst>
</file>

<file path=ppt/tags/tag302.xml><?xml version="1.0" encoding="utf-8"?>
<p:tagLst xmlns:a="http://schemas.openxmlformats.org/drawingml/2006/main" xmlns:r="http://schemas.openxmlformats.org/officeDocument/2006/relationships" xmlns:p="http://schemas.openxmlformats.org/presentationml/2006/main">
  <p:tag name="TOCSHAPE" val="875"/>
  <p:tag name="SLIDEINDEX" val="875"/>
</p:tagLst>
</file>

<file path=ppt/tags/tag303.xml><?xml version="1.0" encoding="utf-8"?>
<p:tagLst xmlns:a="http://schemas.openxmlformats.org/drawingml/2006/main" xmlns:r="http://schemas.openxmlformats.org/officeDocument/2006/relationships" xmlns:p="http://schemas.openxmlformats.org/presentationml/2006/main">
  <p:tag name="TOCSHAPE" val="879"/>
  <p:tag name="SLIDEINDEX" val="879"/>
</p:tagLst>
</file>

<file path=ppt/tags/tag304.xml><?xml version="1.0" encoding="utf-8"?>
<p:tagLst xmlns:a="http://schemas.openxmlformats.org/drawingml/2006/main" xmlns:r="http://schemas.openxmlformats.org/officeDocument/2006/relationships" xmlns:p="http://schemas.openxmlformats.org/presentationml/2006/main">
  <p:tag name="CROSSREFGUID" val="81621b1a-890f-44b3-a4dc-72c7c10e2fbb"/>
</p:tagLst>
</file>

<file path=ppt/tags/tag30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8.xml><?xml version="1.0" encoding="utf-8"?>
<p:tagLst xmlns:a="http://schemas.openxmlformats.org/drawingml/2006/main" xmlns:r="http://schemas.openxmlformats.org/officeDocument/2006/relationships" xmlns:p="http://schemas.openxmlformats.org/presentationml/2006/main">
  <p:tag name="LAST UPDATE DATE" val="419614777.31232"/>
  <p:tag name="IMPORTID" val="6441387470301.812004"/>
  <p:tag name="WBLAST" val="https://kpmgoneuk-my.sharepoint.com/personal/thomas_dorrington_kpmg_co_uk/Documents/Documents/1.TS/Diligence+/Example Reports/Converts/Excels/Project X - PL databook - anonymised updated.xlsx"/>
  <p:tag name="USER NAME" val="tdorrington"/>
  <p:tag name="IMPORTID2" val="_7018"/>
  <p:tag name="TYPE" val="1"/>
  <p:tag name="SOURCENAME" val="Summary P&amp;L"/>
  <p:tag name="SHEETID" val="Summary PL EBITDA"/>
  <p:tag name="PICTUREAPPEARANCE" val="xlPrinter"/>
  <p:tag name="NORESIZEONUPDATE" val="False"/>
</p:tagLst>
</file>

<file path=ppt/tags/tag30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0.xml><?xml version="1.0" encoding="utf-8"?>
<p:tagLst xmlns:a="http://schemas.openxmlformats.org/drawingml/2006/main" xmlns:r="http://schemas.openxmlformats.org/officeDocument/2006/relationships" xmlns:p="http://schemas.openxmlformats.org/presentationml/2006/main">
  <p:tag name="CROSSREFGUID" val="81621b1a-890f-44b3-a4dc-72c7c10e2fbb"/>
</p:tagLst>
</file>

<file path=ppt/tags/tag31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4.xml><?xml version="1.0" encoding="utf-8"?>
<p:tagLst xmlns:a="http://schemas.openxmlformats.org/drawingml/2006/main" xmlns:r="http://schemas.openxmlformats.org/officeDocument/2006/relationships" xmlns:p="http://schemas.openxmlformats.org/presentationml/2006/main">
  <p:tag name="LAST UPDATE DATE" val="419614871.911802"/>
  <p:tag name="IMPORTID" val="6441387470301.812004"/>
  <p:tag name="WBLAST" val="https://kpmgoneuk-my.sharepoint.com/personal/thomas_dorrington_kpmg_co_uk/Documents/Documents/1.TS/Diligence+/Example Reports/Converts/Excels/Project X - PL databook - anonymised updated.xlsx"/>
  <p:tag name="USER NAME" val="tdorrington"/>
  <p:tag name="IMPORTID2" val="_7018"/>
  <p:tag name="TYPE" val="1"/>
  <p:tag name="SOURCENAME" val="Summary P&amp;L"/>
  <p:tag name="SHEETID" val="Summary PL EBITDA"/>
  <p:tag name="PICTUREAPPEARANCE" val="xlPrinter"/>
  <p:tag name="NORESIZEONUPDATE" val="False"/>
</p:tagLst>
</file>

<file path=ppt/tags/tag31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6.xml><?xml version="1.0" encoding="utf-8"?>
<p:tagLst xmlns:a="http://schemas.openxmlformats.org/drawingml/2006/main" xmlns:r="http://schemas.openxmlformats.org/officeDocument/2006/relationships" xmlns:p="http://schemas.openxmlformats.org/presentationml/2006/main">
  <p:tag name="CROSSREFGUID" val="97764c86-4731-4e6c-aa03-d38666b96fa8"/>
</p:tagLst>
</file>

<file path=ppt/tags/tag31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1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0.xml><?xml version="1.0" encoding="utf-8"?>
<p:tagLst xmlns:a="http://schemas.openxmlformats.org/drawingml/2006/main" xmlns:r="http://schemas.openxmlformats.org/officeDocument/2006/relationships" xmlns:p="http://schemas.openxmlformats.org/presentationml/2006/main">
  <p:tag name="LAST UPDATE DATE" val="419614893.153175"/>
  <p:tag name="IMPORTID" val="6756388184897.012876"/>
  <p:tag name="WBLAST" val="https://kpmgoneuk-my.sharepoint.com/personal/thomas_dorrington_kpmg_co_uk/Documents/Documents/1.TS/Diligence+/Example Reports/Converts/Excels/Project X - PL databook - anonymised updated.xlsx"/>
  <p:tag name="USER NAME" val="tdorrington"/>
  <p:tag name="TYPE" val="1"/>
  <p:tag name="SOURCENAME" val="Underlying earnings"/>
  <p:tag name="SHEETID" val="QoFe"/>
  <p:tag name="PICTUREAPPEARANCE" val="xlPrinter"/>
  <p:tag name="NORESIZEONUPDATE" val="False"/>
</p:tagLst>
</file>

<file path=ppt/tags/tag3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2.xml><?xml version="1.0" encoding="utf-8"?>
<p:tagLst xmlns:a="http://schemas.openxmlformats.org/drawingml/2006/main" xmlns:r="http://schemas.openxmlformats.org/officeDocument/2006/relationships" xmlns:p="http://schemas.openxmlformats.org/presentationml/2006/main">
  <p:tag name="CROSSREFGUID" val="97764c86-4731-4e6c-aa03-d38666b96fa8"/>
</p:tagLst>
</file>

<file path=ppt/tags/tag32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6.xml><?xml version="1.0" encoding="utf-8"?>
<p:tagLst xmlns:a="http://schemas.openxmlformats.org/drawingml/2006/main" xmlns:r="http://schemas.openxmlformats.org/officeDocument/2006/relationships" xmlns:p="http://schemas.openxmlformats.org/presentationml/2006/main">
  <p:tag name="LAST UPDATE DATE" val="419614907.002845"/>
  <p:tag name="IMPORTID" val="6756388184897.012876"/>
  <p:tag name="WBLAST" val="https://kpmgoneuk-my.sharepoint.com/personal/thomas_dorrington_kpmg_co_uk/Documents/Documents/1.TS/Diligence+/Example Reports/Converts/Excels/Project X - PL databook - anonymised updated.xlsx"/>
  <p:tag name="USER NAME" val="tdorrington"/>
  <p:tag name="TYPE" val="1"/>
  <p:tag name="SOURCENAME" val="Underlying earnings"/>
  <p:tag name="SHEETID" val="QoFe"/>
  <p:tag name="PICTUREAPPEARANCE" val="xlPrinter"/>
  <p:tag name="NORESIZEONUPDATE" val="False"/>
</p:tagLst>
</file>

<file path=ppt/tags/tag32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8.xml><?xml version="1.0" encoding="utf-8"?>
<p:tagLst xmlns:a="http://schemas.openxmlformats.org/drawingml/2006/main" xmlns:r="http://schemas.openxmlformats.org/officeDocument/2006/relationships" xmlns:p="http://schemas.openxmlformats.org/presentationml/2006/main">
  <p:tag name="CROSSREFGUID" val="97764c86-4731-4e6c-aa03-d38666b96fa8"/>
</p:tagLst>
</file>

<file path=ppt/tags/tag3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2.xml><?xml version="1.0" encoding="utf-8"?>
<p:tagLst xmlns:a="http://schemas.openxmlformats.org/drawingml/2006/main" xmlns:r="http://schemas.openxmlformats.org/officeDocument/2006/relationships" xmlns:p="http://schemas.openxmlformats.org/presentationml/2006/main">
  <p:tag name="LAST UPDATE DATE" val="419614911.081287"/>
  <p:tag name="IMPORTID" val="6756388184897.012876"/>
  <p:tag name="WBLAST" val="https://kpmgoneuk-my.sharepoint.com/personal/thomas_dorrington_kpmg_co_uk/Documents/Documents/1.TS/Diligence+/Example Reports/Converts/Excels/Project X - PL databook - anonymised updated.xlsx"/>
  <p:tag name="USER NAME" val="tdorrington"/>
  <p:tag name="TYPE" val="1"/>
  <p:tag name="SOURCENAME" val="Underlying earnings"/>
  <p:tag name="SHEETID" val="QoFe"/>
  <p:tag name="PICTUREAPPEARANCE" val="xlPrinter"/>
  <p:tag name="NORESIZEONUPDATE" val="False"/>
</p:tagLst>
</file>

<file path=ppt/tags/tag3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4.xml><?xml version="1.0" encoding="utf-8"?>
<p:tagLst xmlns:a="http://schemas.openxmlformats.org/drawingml/2006/main" xmlns:r="http://schemas.openxmlformats.org/officeDocument/2006/relationships" xmlns:p="http://schemas.openxmlformats.org/presentationml/2006/main">
  <p:tag name="CROSSREFGUID" val="97764c86-4731-4e6c-aa03-d38666b96fa8"/>
</p:tagLst>
</file>

<file path=ppt/tags/tag3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8.xml><?xml version="1.0" encoding="utf-8"?>
<p:tagLst xmlns:a="http://schemas.openxmlformats.org/drawingml/2006/main" xmlns:r="http://schemas.openxmlformats.org/officeDocument/2006/relationships" xmlns:p="http://schemas.openxmlformats.org/presentationml/2006/main">
  <p:tag name="LAST UPDATE DATE" val="419614916.230617"/>
  <p:tag name="IMPORTID" val="6756388184897.012876"/>
  <p:tag name="WBLAST" val="https://kpmgoneuk-my.sharepoint.com/personal/thomas_dorrington_kpmg_co_uk/Documents/Documents/1.TS/Diligence+/Example Reports/Converts/Excels/Project X - PL databook - anonymised updated.xlsx"/>
  <p:tag name="USER NAME" val="tdorrington"/>
  <p:tag name="TYPE" val="1"/>
  <p:tag name="SOURCENAME" val="Underlying earnings"/>
  <p:tag name="SHEETID" val="QoFe"/>
  <p:tag name="PICTUREAPPEARANCE" val="xlPrinter"/>
  <p:tag name="NORESIZEONUPDATE" val="False"/>
</p:tagLst>
</file>

<file path=ppt/tags/tag33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0.xml><?xml version="1.0" encoding="utf-8"?>
<p:tagLst xmlns:a="http://schemas.openxmlformats.org/drawingml/2006/main" xmlns:r="http://schemas.openxmlformats.org/officeDocument/2006/relationships" xmlns:p="http://schemas.openxmlformats.org/presentationml/2006/main">
  <p:tag name="CROSSREFGUID" val="97764c86-4731-4e6c-aa03-d38666b96fa8"/>
</p:tagLst>
</file>

<file path=ppt/tags/tag34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4.xml><?xml version="1.0" encoding="utf-8"?>
<p:tagLst xmlns:a="http://schemas.openxmlformats.org/drawingml/2006/main" xmlns:r="http://schemas.openxmlformats.org/officeDocument/2006/relationships" xmlns:p="http://schemas.openxmlformats.org/presentationml/2006/main">
  <p:tag name="LAST UPDATE DATE" val="419614921.061076"/>
  <p:tag name="IMPORTID" val="6756388184897.012876"/>
  <p:tag name="WBLAST" val="https://kpmgoneuk-my.sharepoint.com/personal/thomas_dorrington_kpmg_co_uk/Documents/Documents/1.TS/Diligence+/Example Reports/Converts/Excels/Project X - PL databook - anonymised updated.xlsx"/>
  <p:tag name="USER NAME" val="tdorrington"/>
  <p:tag name="TYPE" val="1"/>
  <p:tag name="SOURCENAME" val="Underlying earnings"/>
  <p:tag name="SHEETID" val="QoFe"/>
  <p:tag name="PICTUREAPPEARANCE" val="xlPrinter"/>
  <p:tag name="NORESIZEONUPDATE" val="False"/>
</p:tagLst>
</file>

<file path=ppt/tags/tag3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8.xml><?xml version="1.0" encoding="utf-8"?>
<p:tagLst xmlns:a="http://schemas.openxmlformats.org/drawingml/2006/main" xmlns:r="http://schemas.openxmlformats.org/officeDocument/2006/relationships" xmlns:p="http://schemas.openxmlformats.org/presentationml/2006/main">
  <p:tag name="LAST UPDATE DATE" val="414760389.444904"/>
  <p:tag name="IMPORTID" val="6067414603094.861473"/>
  <p:tag name="WBLAST" val="https://kpmgoneuk-my.sharepoint.com/personal/thomas_dorrington_kpmg_co_uk/Documents/Documents/1.TS/Diligence+/Example Reports/Converts/Project Magnus - PL databook - anonymised updated.xlsx"/>
  <p:tag name="USER NAME" val="tdorrington"/>
  <p:tag name="TYPE" val="2"/>
  <p:tag name="SOURCENAME" val="Chart 2"/>
  <p:tag name="SHEETID" val="Revenue bridge"/>
  <p:tag name="PICTUREAPPEARANCE" val="xlPrinter"/>
  <p:tag name="NORESIZEONUPDATE" val="False"/>
</p:tagLst>
</file>

<file path=ppt/tags/tag34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3.xml><?xml version="1.0" encoding="utf-8"?>
<p:tagLst xmlns:a="http://schemas.openxmlformats.org/drawingml/2006/main" xmlns:r="http://schemas.openxmlformats.org/officeDocument/2006/relationships" xmlns:p="http://schemas.openxmlformats.org/presentationml/2006/main">
  <p:tag name="LAST UPDATE DATE" val="419614933.189937"/>
  <p:tag name="IMPORTID" val="7156387546681.974419"/>
  <p:tag name="WBLAST" val="https://kpmgoneuk-my.sharepoint.com/personal/thomas_dorrington_kpmg_co_uk/Documents/Documents/1.TS/Diligence+/Example Reports/Converts/Excels/Project X - PL databook - anonymised updated.xlsx"/>
  <p:tag name="USER NAME" val="tdorrington"/>
  <p:tag name="TYPE" val="1"/>
  <p:tag name="SOURCENAME" val="Revenue and gross margins by revenue stream"/>
  <p:tag name="SHEETID" val="Revenue and gross margin"/>
  <p:tag name="PICTUREAPPEARANCE" val="xlPrinter"/>
  <p:tag name="NORESIZEONUPDATE" val="False"/>
</p:tagLst>
</file>

<file path=ppt/tags/tag3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8.xml><?xml version="1.0" encoding="utf-8"?>
<p:tagLst xmlns:a="http://schemas.openxmlformats.org/drawingml/2006/main" xmlns:r="http://schemas.openxmlformats.org/officeDocument/2006/relationships" xmlns:p="http://schemas.openxmlformats.org/presentationml/2006/main">
  <p:tag name="LAST UPDATE DATE" val="419614937.32135"/>
  <p:tag name="IMPORTID" val="7156387546681.974419"/>
  <p:tag name="WBLAST" val="https://kpmgoneuk-my.sharepoint.com/personal/thomas_dorrington_kpmg_co_uk/Documents/Documents/1.TS/Diligence+/Example Reports/Converts/Excels/Project X - PL databook - anonymised updated.xlsx"/>
  <p:tag name="USER NAME" val="tdorrington"/>
  <p:tag name="TYPE" val="1"/>
  <p:tag name="SOURCENAME" val="Revenue and gross margins by revenue stream"/>
  <p:tag name="SHEETID" val="Revenue and gross margin"/>
  <p:tag name="PICTUREAPPEARANCE" val="xlPrinter"/>
  <p:tag name="NORESIZEONUPDATE" val="False"/>
</p:tagLst>
</file>

<file path=ppt/tags/tag35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3.xml><?xml version="1.0" encoding="utf-8"?>
<p:tagLst xmlns:a="http://schemas.openxmlformats.org/drawingml/2006/main" xmlns:r="http://schemas.openxmlformats.org/officeDocument/2006/relationships" xmlns:p="http://schemas.openxmlformats.org/presentationml/2006/main">
  <p:tag name="LAST UPDATE DATE" val="419614941.990209"/>
  <p:tag name="IMPORTID" val="7156387546681.974419"/>
  <p:tag name="WBLAST" val="https://kpmgoneuk-my.sharepoint.com/personal/thomas_dorrington_kpmg_co_uk/Documents/Documents/1.TS/Diligence+/Example Reports/Converts/Excels/Project X - PL databook - anonymised updated.xlsx"/>
  <p:tag name="USER NAME" val="tdorrington"/>
  <p:tag name="TYPE" val="1"/>
  <p:tag name="SOURCENAME" val="Revenue and gross margins by revenue stream"/>
  <p:tag name="SHEETID" val="Revenue and gross margin"/>
  <p:tag name="PICTUREAPPEARANCE" val="xlPrinter"/>
  <p:tag name="NORESIZEONUPDATE" val="False"/>
</p:tagLst>
</file>

<file path=ppt/tags/tag364.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8.xml><?xml version="1.0" encoding="utf-8"?>
<p:tagLst xmlns:a="http://schemas.openxmlformats.org/drawingml/2006/main" xmlns:r="http://schemas.openxmlformats.org/officeDocument/2006/relationships" xmlns:p="http://schemas.openxmlformats.org/presentationml/2006/main">
  <p:tag name="LAST UPDATE DATE" val="419614945.899264"/>
  <p:tag name="IMPORTID" val="7156387546681.974419"/>
  <p:tag name="WBLAST" val="https://kpmgoneuk-my.sharepoint.com/personal/thomas_dorrington_kpmg_co_uk/Documents/Documents/1.TS/Diligence+/Example Reports/Converts/Excels/Project X - PL databook - anonymised updated.xlsx"/>
  <p:tag name="USER NAME" val="tdorrington"/>
  <p:tag name="TYPE" val="1"/>
  <p:tag name="SOURCENAME" val="Revenue and gross margins by revenue stream"/>
  <p:tag name="SHEETID" val="Revenue and gross margin"/>
  <p:tag name="PICTUREAPPEARANCE" val="xlPrinter"/>
  <p:tag name="NORESIZEONUPDATE" val="False"/>
</p:tagLst>
</file>

<file path=ppt/tags/tag36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3.xml><?xml version="1.0" encoding="utf-8"?>
<p:tagLst xmlns:a="http://schemas.openxmlformats.org/drawingml/2006/main" xmlns:r="http://schemas.openxmlformats.org/officeDocument/2006/relationships" xmlns:p="http://schemas.openxmlformats.org/presentationml/2006/main">
  <p:tag name="LAST UPDATE DATE" val="419614951.721578"/>
  <p:tag name="IMPORTID" val="7498388761406.99055"/>
  <p:tag name="WBLAST" val="https://kpmgoneuk-my.sharepoint.com/personal/thomas_dorrington_kpmg_co_uk/Documents/Documents/1.TS/Diligence+/Example Reports/Converts/Excels/Project X - PL databook - anonymised updated.xlsx"/>
  <p:tag name="USER NAME" val="tdorrington"/>
  <p:tag name="TYPE" val="1"/>
  <p:tag name="SOURCENAME" val="Hire rate evolution - sample testing "/>
  <p:tag name="SHEETID" val="Price evolution - sample Chevr"/>
  <p:tag name="PICTUREAPPEARANCE" val="xlPrinter"/>
  <p:tag name="NORESIZEONUPDATE" val="False"/>
</p:tagLst>
</file>

<file path=ppt/tags/tag374.xml><?xml version="1.0" encoding="utf-8"?>
<p:tagLst xmlns:a="http://schemas.openxmlformats.org/drawingml/2006/main" xmlns:r="http://schemas.openxmlformats.org/officeDocument/2006/relationships" xmlns:p="http://schemas.openxmlformats.org/presentationml/2006/main">
  <p:tag name="ADV_TOP" val="456.1858"/>
  <p:tag name="ADV_LEFT" val="192.7499"/>
  <p:tag name="ADV_HEIGHT" val="17"/>
  <p:tag name="ADV_WIDTH" val="267.2501"/>
</p:tagLst>
</file>

<file path=ppt/tags/tag37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9.xml><?xml version="1.0" encoding="utf-8"?>
<p:tagLst xmlns:a="http://schemas.openxmlformats.org/drawingml/2006/main" xmlns:r="http://schemas.openxmlformats.org/officeDocument/2006/relationships" xmlns:p="http://schemas.openxmlformats.org/presentationml/2006/main">
  <p:tag name="LAST UPDATE DATE" val="419614957.603931"/>
  <p:tag name="IMPORTID" val="9065388761683.222599"/>
  <p:tag name="WBLAST" val="https://kpmgoneuk-my.sharepoint.com/personal/thomas_dorrington_kpmg_co_uk/Documents/Documents/1.TS/Diligence+/Example Reports/Converts/Excels/Project X - PL databook - anonymised updated.xlsx"/>
  <p:tag name="USER NAME" val="tdorrington"/>
  <p:tag name="TYPE" val="1"/>
  <p:tag name="SOURCENAME" val="Hire rate evolution - sample testing "/>
  <p:tag name="SHEETID" val="Price evolution - sample Amey"/>
  <p:tag name="PICTUREAPPEARANCE" val="xlPrinter"/>
  <p:tag name="NORESIZEONUPDATE" val="False"/>
</p:tagLst>
</file>

<file path=ppt/tags/tag380.xml><?xml version="1.0" encoding="utf-8"?>
<p:tagLst xmlns:a="http://schemas.openxmlformats.org/drawingml/2006/main" xmlns:r="http://schemas.openxmlformats.org/officeDocument/2006/relationships" xmlns:p="http://schemas.openxmlformats.org/presentationml/2006/main">
  <p:tag name="LAST UPDATE DATE" val="414771789.414111"/>
  <p:tag name="IMPORTID" val="1340394241818.369047"/>
  <p:tag name="WBLAST" val="https://kpmgoneuk-my.sharepoint.com/personal/thomas_dorrington_kpmg_co_uk/Documents/Documents/1.TS/Diligence+/Example Reports/Converts/Project Magnus - PL databook - anonymised updated.xlsx"/>
  <p:tag name="USER NAME" val="tdorrington"/>
  <p:tag name="TYPE" val="1"/>
  <p:tag name="SOURCENAME" val="Hire fleet composition at Apr-22 (contract terms)"/>
  <p:tag name="SHEETID" val="Hire fleet by contract type"/>
  <p:tag name="PICTUREAPPEARANCE" val="xlPrinter"/>
  <p:tag name="NORESIZEONUPDATE" val="False"/>
</p:tagLst>
</file>

<file path=ppt/tags/tag38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4.xml><?xml version="1.0" encoding="utf-8"?>
<p:tagLst xmlns:a="http://schemas.openxmlformats.org/drawingml/2006/main" xmlns:r="http://schemas.openxmlformats.org/officeDocument/2006/relationships" xmlns:p="http://schemas.openxmlformats.org/presentationml/2006/main">
  <p:tag name="LAST UPDATE DATE" val="414760496.806308"/>
  <p:tag name="IMPORTID" val="5225414605823.317975"/>
  <p:tag name="WBLAST" val="https://kpmgoneuk-my.sharepoint.com/personal/thomas_dorrington_kpmg_co_uk/Documents/Documents/1.TS/Diligence+/Example Reports/Converts/Project Magnus - PL databook - anonymised updated.xlsx"/>
  <p:tag name="USER NAME" val="tdorrington"/>
  <p:tag name="TYPE" val="2"/>
  <p:tag name="SOURCENAME" val="Chart 2"/>
  <p:tag name="SHEETID" val="EBIT bridge"/>
  <p:tag name="PICTUREAPPEARANCE" val="xlPrinter"/>
  <p:tag name="NORESIZEONUPDATE" val="False"/>
</p:tagLst>
</file>

<file path=ppt/tags/tag38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1.xml><?xml version="1.0" encoding="utf-8"?>
<p:tagLst xmlns:a="http://schemas.openxmlformats.org/drawingml/2006/main" xmlns:r="http://schemas.openxmlformats.org/officeDocument/2006/relationships" xmlns:p="http://schemas.openxmlformats.org/presentationml/2006/main">
  <p:tag name="LAST UPDATE DATE" val="419614963.735763"/>
  <p:tag name="IMPORTID" val="4748387447092.224007"/>
  <p:tag name="WBLAST" val="https://kpmgoneuk-my.sharepoint.com/personal/thomas_dorrington_kpmg_co_uk/Documents/Documents/1.TS/Diligence+/Example Reports/Converts/Excels/Project X - PL databook - anonymised updated.xlsx"/>
  <p:tag name="USER NAME" val="tdorrington"/>
  <p:tag name="IMPORTID2" val="_8521"/>
  <p:tag name="TYPE" val="1"/>
  <p:tag name="SOURCENAME" val="Costs of sales"/>
  <p:tag name="SHEETID" val="Costs of sales"/>
  <p:tag name="PICTUREAPPEARANCE" val="xlPrinter"/>
  <p:tag name="NORESIZEONUPDATE" val="False"/>
</p:tagLst>
</file>

<file path=ppt/tags/tag392.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3.xml><?xml version="1.0" encoding="utf-8"?>
<p:tagLst xmlns:a="http://schemas.openxmlformats.org/drawingml/2006/main" xmlns:r="http://schemas.openxmlformats.org/officeDocument/2006/relationships" xmlns:p="http://schemas.openxmlformats.org/presentationml/2006/main">
  <p:tag name="LAST UPDATE DATE" val="419614971.407987"/>
  <p:tag name="IMPORTID" val="9230387446871.485724"/>
  <p:tag name="WBLAST" val="https://kpmgoneuk-my.sharepoint.com/personal/thomas_dorrington_kpmg_co_uk/Documents/Documents/1.TS/Diligence+/Example Reports/Converts/Excels/Project X - PL databook - anonymised updated.xlsx"/>
  <p:tag name="USER NAME" val="tdorrington"/>
  <p:tag name="TYPE" val="1"/>
  <p:tag name="SOURCENAME" val="Overheads"/>
  <p:tag name="SHEETID" val="Overheads"/>
  <p:tag name="PICTUREAPPEARANCE" val="xlPrinter"/>
  <p:tag name="NORESIZEONUPDATE" val="False"/>
</p:tagLst>
</file>

<file path=ppt/tags/tag39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8.xml><?xml version="1.0" encoding="utf-8"?>
<p:tagLst xmlns:a="http://schemas.openxmlformats.org/drawingml/2006/main" xmlns:r="http://schemas.openxmlformats.org/officeDocument/2006/relationships" xmlns:p="http://schemas.openxmlformats.org/presentationml/2006/main">
  <p:tag name="LAST UPDATE DATE" val="419614975.161"/>
  <p:tag name="IMPORTID" val="9230387446871.485724"/>
  <p:tag name="WBLAST" val="https://kpmgoneuk-my.sharepoint.com/personal/thomas_dorrington_kpmg_co_uk/Documents/Documents/1.TS/Diligence+/Example Reports/Converts/Excels/Project X - PL databook - anonymised updated.xlsx"/>
  <p:tag name="USER NAME" val="tdorrington"/>
  <p:tag name="TYPE" val="1"/>
  <p:tag name="SOURCENAME" val="Overheads"/>
  <p:tag name="SHEETID" val="Overheads"/>
  <p:tag name="PICTUREAPPEARANCE" val="xlPrinter"/>
  <p:tag name="NORESIZEONUPDATE" val="False"/>
</p:tagLst>
</file>

<file path=ppt/tags/tag3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0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3.xml><?xml version="1.0" encoding="utf-8"?>
<p:tagLst xmlns:a="http://schemas.openxmlformats.org/drawingml/2006/main" xmlns:r="http://schemas.openxmlformats.org/officeDocument/2006/relationships" xmlns:p="http://schemas.openxmlformats.org/presentationml/2006/main">
  <p:tag name="NAME" val="Forecast trading"/>
  <p:tag name="SECTION" val="3"/>
</p:tagLst>
</file>

<file path=ppt/tags/tag40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0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0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07.xml><?xml version="1.0" encoding="utf-8"?>
<p:tagLst xmlns:a="http://schemas.openxmlformats.org/drawingml/2006/main" xmlns:r="http://schemas.openxmlformats.org/officeDocument/2006/relationships" xmlns:p="http://schemas.openxmlformats.org/presentationml/2006/main">
  <p:tag name="TOCSHAPE" val="AA"/>
</p:tagLst>
</file>

<file path=ppt/tags/tag408.xml><?xml version="1.0" encoding="utf-8"?>
<p:tagLst xmlns:a="http://schemas.openxmlformats.org/drawingml/2006/main" xmlns:r="http://schemas.openxmlformats.org/officeDocument/2006/relationships" xmlns:p="http://schemas.openxmlformats.org/presentationml/2006/main">
  <p:tag name="TOCSHAPE" val="805"/>
  <p:tag name="SLIDEINDEX" val="805"/>
</p:tagLst>
</file>

<file path=ppt/tags/tag409.xml><?xml version="1.0" encoding="utf-8"?>
<p:tagLst xmlns:a="http://schemas.openxmlformats.org/drawingml/2006/main" xmlns:r="http://schemas.openxmlformats.org/officeDocument/2006/relationships" xmlns:p="http://schemas.openxmlformats.org/presentationml/2006/main">
  <p:tag name="TOCSHAPE" val="AA"/>
</p:tagLst>
</file>

<file path=ppt/tags/tag410.xml><?xml version="1.0" encoding="utf-8"?>
<p:tagLst xmlns:a="http://schemas.openxmlformats.org/drawingml/2006/main" xmlns:r="http://schemas.openxmlformats.org/officeDocument/2006/relationships" xmlns:p="http://schemas.openxmlformats.org/presentationml/2006/main">
  <p:tag name="TOCSHAPE" val="AA"/>
</p:tagLst>
</file>

<file path=ppt/tags/tag411.xml><?xml version="1.0" encoding="utf-8"?>
<p:tagLst xmlns:a="http://schemas.openxmlformats.org/drawingml/2006/main" xmlns:r="http://schemas.openxmlformats.org/officeDocument/2006/relationships" xmlns:p="http://schemas.openxmlformats.org/presentationml/2006/main">
  <p:tag name="TOCSHAPE" val="881"/>
  <p:tag name="SLIDEINDEX" val="881"/>
</p:tagLst>
</file>

<file path=ppt/tags/tag412.xml><?xml version="1.0" encoding="utf-8"?>
<p:tagLst xmlns:a="http://schemas.openxmlformats.org/drawingml/2006/main" xmlns:r="http://schemas.openxmlformats.org/officeDocument/2006/relationships" xmlns:p="http://schemas.openxmlformats.org/presentationml/2006/main">
  <p:tag name="TOCSHAPE" val="884"/>
  <p:tag name="SLIDEINDEX" val="884"/>
</p:tagLst>
</file>

<file path=ppt/tags/tag41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1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1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16.xml><?xml version="1.0" encoding="utf-8"?>
<p:tagLst xmlns:a="http://schemas.openxmlformats.org/drawingml/2006/main" xmlns:r="http://schemas.openxmlformats.org/officeDocument/2006/relationships" xmlns:p="http://schemas.openxmlformats.org/presentationml/2006/main">
  <p:tag name="LAST UPDATE DATE" val="419615099.851674"/>
  <p:tag name="IMPORTID" val="6441387470301.812004"/>
  <p:tag name="WBLAST" val="https://kpmgoneuk-my.sharepoint.com/personal/thomas_dorrington_kpmg_co_uk/Documents/Documents/1.TS/Diligence+/Example Reports/Converts/Excels/Project X - PL databook - anonymised updated.xlsx"/>
  <p:tag name="USER NAME" val="tdorrington"/>
  <p:tag name="IMPORTID2" val="_7018"/>
  <p:tag name="TYPE" val="1"/>
  <p:tag name="SOURCENAME" val="Summary P&amp;L"/>
  <p:tag name="SHEETID" val="Summary PL EBITDA"/>
  <p:tag name="PICTUREAPPEARANCE" val="xlPrinter"/>
  <p:tag name="NORESIZEONUPDATE" val="False"/>
</p:tagLst>
</file>

<file path=ppt/tags/tag41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1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2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21.xml><?xml version="1.0" encoding="utf-8"?>
<p:tagLst xmlns:a="http://schemas.openxmlformats.org/drawingml/2006/main" xmlns:r="http://schemas.openxmlformats.org/officeDocument/2006/relationships" xmlns:p="http://schemas.openxmlformats.org/presentationml/2006/main">
  <p:tag name="LAST UPDATE DATE" val="419615103.610743"/>
  <p:tag name="IMPORTID" val="6441387470301.812004"/>
  <p:tag name="WBLAST" val="https://kpmgoneuk-my.sharepoint.com/personal/thomas_dorrington_kpmg_co_uk/Documents/Documents/1.TS/Diligence+/Example Reports/Converts/Excels/Project X - PL databook - anonymised updated.xlsx"/>
  <p:tag name="USER NAME" val="tdorrington"/>
  <p:tag name="IMPORTID2" val="_7018"/>
  <p:tag name="TYPE" val="1"/>
  <p:tag name="SOURCENAME" val="Summary P&amp;L"/>
  <p:tag name="SHEETID" val="Summary PL EBITDA"/>
  <p:tag name="PICTUREAPPEARANCE" val="xlPrinter"/>
  <p:tag name="NORESIZEONUPDATE" val="False"/>
</p:tagLst>
</file>

<file path=ppt/tags/tag42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23.xml><?xml version="1.0" encoding="utf-8"?>
<p:tagLst xmlns:a="http://schemas.openxmlformats.org/drawingml/2006/main" xmlns:r="http://schemas.openxmlformats.org/officeDocument/2006/relationships" xmlns:p="http://schemas.openxmlformats.org/presentationml/2006/main">
  <p:tag name="CROSSREFGUID" val="ea051bbf-b45d-4b29-8f4b-af07a01d451c"/>
</p:tagLst>
</file>

<file path=ppt/tags/tag42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2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27.xml><?xml version="1.0" encoding="utf-8"?>
<p:tagLst xmlns:a="http://schemas.openxmlformats.org/drawingml/2006/main" xmlns:r="http://schemas.openxmlformats.org/officeDocument/2006/relationships" xmlns:p="http://schemas.openxmlformats.org/presentationml/2006/main">
  <p:tag name="LAST UPDATE DATE" val="419615579.586477"/>
  <p:tag name="IMPORTID" val="2553393935334.035434"/>
  <p:tag name="WBLAST" val="https://kpmgoneuk-my.sharepoint.com/personal/thomas_dorrington_kpmg_co_uk/Documents/Documents/1.TS/Diligence+/Example Reports/Converts/Excels/Project X - PL databook - anonymised updated.xlsx"/>
  <p:tag name="USER NAME" val="tdorrington"/>
  <p:tag name="TYPE" val="1"/>
  <p:tag name="SOURCENAME" val="Summary P&amp;L"/>
  <p:tag name="SHEETID" val="Summary PL EBITDA"/>
  <p:tag name="PICTUREAPPEARANCE" val="xlPrinter"/>
  <p:tag name="NORESIZEONUPDATE" val="False"/>
</p:tagLst>
</file>

<file path=ppt/tags/tag42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3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31.xml><?xml version="1.0" encoding="utf-8"?>
<p:tagLst xmlns:a="http://schemas.openxmlformats.org/drawingml/2006/main" xmlns:r="http://schemas.openxmlformats.org/officeDocument/2006/relationships" xmlns:p="http://schemas.openxmlformats.org/presentationml/2006/main">
  <p:tag name="LAST UPDATE DATE" val="414769057.553265"/>
  <p:tag name="IMPORTID" val="2000414769057.553265"/>
  <p:tag name="WBLAST" val="https://kpmgoneuk-my.sharepoint.com/personal/thomas_dorrington_kpmg_co_uk/Documents/Documents/1.TS/Diligence+/Example Reports/Converts/Project Magnus - PL databook - anonymised updated.xlsx"/>
  <p:tag name="USER NAME" val="tdorrington"/>
  <p:tag name="TYPE" val="2"/>
  <p:tag name="SOURCENAME" val="Chart 3"/>
  <p:tag name="SHEETID" val="Revenue bridge"/>
  <p:tag name="PICTUREAPPEARANCE" val="xlPrinter"/>
  <p:tag name="NORESIZEONUPDATE" val="False"/>
</p:tagLst>
</file>

<file path=ppt/tags/tag43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3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3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35.xml><?xml version="1.0" encoding="utf-8"?>
<p:tagLst xmlns:a="http://schemas.openxmlformats.org/drawingml/2006/main" xmlns:r="http://schemas.openxmlformats.org/officeDocument/2006/relationships" xmlns:p="http://schemas.openxmlformats.org/presentationml/2006/main">
  <p:tag name="LAST UPDATE DATE" val="414768848.008205"/>
  <p:tag name="IMPORTID" val="5427414768848.008205"/>
  <p:tag name="WBLAST" val="https://kpmgoneuk-my.sharepoint.com/personal/thomas_dorrington_kpmg_co_uk/Documents/Documents/1.TS/Diligence+/Example Reports/Converts/Project Magnus - PL databook - anonymised updated.xlsx"/>
  <p:tag name="USER NAME" val="tdorrington"/>
  <p:tag name="TYPE" val="2"/>
  <p:tag name="SOURCENAME" val="Chart 3"/>
  <p:tag name="SHEETID" val="EBIT bridge"/>
  <p:tag name="PICTUREAPPEARANCE" val="xlPrinter"/>
  <p:tag name="NORESIZEONUPDATE" val="False"/>
</p:tagLst>
</file>

<file path=ppt/tags/tag43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3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38.xml><?xml version="1.0" encoding="utf-8"?>
<p:tagLst xmlns:a="http://schemas.openxmlformats.org/drawingml/2006/main" xmlns:r="http://schemas.openxmlformats.org/officeDocument/2006/relationships" xmlns:p="http://schemas.openxmlformats.org/presentationml/2006/main">
  <p:tag name="NAME" val="Balance sheet"/>
  <p:tag name="SECTION" val="4"/>
</p:tagLst>
</file>

<file path=ppt/tags/tag43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4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4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4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43.xml><?xml version="1.0" encoding="utf-8"?>
<p:tagLst xmlns:a="http://schemas.openxmlformats.org/drawingml/2006/main" xmlns:r="http://schemas.openxmlformats.org/officeDocument/2006/relationships" xmlns:p="http://schemas.openxmlformats.org/presentationml/2006/main">
  <p:tag name="TOCSHAPE" val="AA"/>
</p:tagLst>
</file>

<file path=ppt/tags/tag444.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445.xml><?xml version="1.0" encoding="utf-8"?>
<p:tagLst xmlns:a="http://schemas.openxmlformats.org/drawingml/2006/main" xmlns:r="http://schemas.openxmlformats.org/officeDocument/2006/relationships" xmlns:p="http://schemas.openxmlformats.org/presentationml/2006/main">
  <p:tag name="TOCSHAPE" val="AA"/>
</p:tagLst>
</file>

<file path=ppt/tags/tag446.xml><?xml version="1.0" encoding="utf-8"?>
<p:tagLst xmlns:a="http://schemas.openxmlformats.org/drawingml/2006/main" xmlns:r="http://schemas.openxmlformats.org/officeDocument/2006/relationships" xmlns:p="http://schemas.openxmlformats.org/presentationml/2006/main">
  <p:tag name="TOCSHAPE" val="AA"/>
</p:tagLst>
</file>

<file path=ppt/tags/tag447.xml><?xml version="1.0" encoding="utf-8"?>
<p:tagLst xmlns:a="http://schemas.openxmlformats.org/drawingml/2006/main" xmlns:r="http://schemas.openxmlformats.org/officeDocument/2006/relationships" xmlns:p="http://schemas.openxmlformats.org/presentationml/2006/main">
  <p:tag name="TOCSHAPE" val="AA"/>
</p:tagLst>
</file>

<file path=ppt/tags/tag448.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449.xml><?xml version="1.0" encoding="utf-8"?>
<p:tagLst xmlns:a="http://schemas.openxmlformats.org/drawingml/2006/main" xmlns:r="http://schemas.openxmlformats.org/officeDocument/2006/relationships" xmlns:p="http://schemas.openxmlformats.org/presentationml/2006/main">
  <p:tag name="TOCSHAPE" val="888"/>
  <p:tag name="SLIDEINDEX" val="888"/>
</p:tagLst>
</file>

<file path=ppt/tags/tag450.xml><?xml version="1.0" encoding="utf-8"?>
<p:tagLst xmlns:a="http://schemas.openxmlformats.org/drawingml/2006/main" xmlns:r="http://schemas.openxmlformats.org/officeDocument/2006/relationships" xmlns:p="http://schemas.openxmlformats.org/presentationml/2006/main">
  <p:tag name="TOCSHAPE" val="889"/>
  <p:tag name="SLIDEINDEX" val="889"/>
</p:tagLst>
</file>

<file path=ppt/tags/tag451.xml><?xml version="1.0" encoding="utf-8"?>
<p:tagLst xmlns:a="http://schemas.openxmlformats.org/drawingml/2006/main" xmlns:r="http://schemas.openxmlformats.org/officeDocument/2006/relationships" xmlns:p="http://schemas.openxmlformats.org/presentationml/2006/main">
  <p:tag name="CROSSREFGUID" val="cc286735-0790-474b-94a0-75540d26a111"/>
</p:tagLst>
</file>

<file path=ppt/tags/tag4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55.xml><?xml version="1.0" encoding="utf-8"?>
<p:tagLst xmlns:a="http://schemas.openxmlformats.org/drawingml/2006/main" xmlns:r="http://schemas.openxmlformats.org/officeDocument/2006/relationships" xmlns:p="http://schemas.openxmlformats.org/presentationml/2006/main">
  <p:tag name="LAST UPDATE DATE" val="419615665.020406"/>
  <p:tag name="IMPORTID" val="6734419615665.020406"/>
  <p:tag name="WBLAST" val="https://kpmgoneuk-my.sharepoint.com/personal/thomas_dorrington_kpmg_co_uk/Documents/Documents/1.TS/Diligence+/Example Reports/Converts/Excels/Project X - BS databook.xlsx"/>
  <p:tag name="USER NAME" val="tdorrington"/>
  <p:tag name="TYPE" val="1"/>
  <p:tag name="SOURCENAME" val="Summary BS "/>
  <p:tag name="SHEETID" val="Summary BS"/>
  <p:tag name="PICTUREAPPEARANCE" val="xlPrinter"/>
  <p:tag name="NORESIZEONUPDATE" val="False"/>
</p:tagLst>
</file>

<file path=ppt/tags/tag45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7.xml><?xml version="1.0" encoding="utf-8"?>
<p:tagLst xmlns:a="http://schemas.openxmlformats.org/drawingml/2006/main" xmlns:r="http://schemas.openxmlformats.org/officeDocument/2006/relationships" xmlns:p="http://schemas.openxmlformats.org/presentationml/2006/main">
  <p:tag name="CROSSREFGUID" val="cc286735-0790-474b-94a0-75540d26a111"/>
</p:tagLst>
</file>

<file path=ppt/tags/tag4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1.xml><?xml version="1.0" encoding="utf-8"?>
<p:tagLst xmlns:a="http://schemas.openxmlformats.org/drawingml/2006/main" xmlns:r="http://schemas.openxmlformats.org/officeDocument/2006/relationships" xmlns:p="http://schemas.openxmlformats.org/presentationml/2006/main">
  <p:tag name="LAST UPDATE DATE" val="419615665.020406"/>
  <p:tag name="IMPORTID" val="6734419615665.020406"/>
  <p:tag name="WBLAST" val="https://kpmgoneuk-my.sharepoint.com/personal/thomas_dorrington_kpmg_co_uk/Documents/Documents/1.TS/Diligence+/Example Reports/Converts/Excels/Project X - BS databook.xlsx"/>
  <p:tag name="USER NAME" val="tdorrington"/>
  <p:tag name="TYPE" val="1"/>
  <p:tag name="SOURCENAME" val="Summary BS "/>
  <p:tag name="SHEETID" val="Summary BS"/>
  <p:tag name="PICTUREAPPEARANCE" val="xlPrinter"/>
  <p:tag name="NORESIZEONUPDATE" val="False"/>
</p:tagLst>
</file>

<file path=ppt/tags/tag46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3.xml><?xml version="1.0" encoding="utf-8"?>
<p:tagLst xmlns:a="http://schemas.openxmlformats.org/drawingml/2006/main" xmlns:r="http://schemas.openxmlformats.org/officeDocument/2006/relationships" xmlns:p="http://schemas.openxmlformats.org/presentationml/2006/main">
  <p:tag name="CROSSREFGUID" val="9b6b9437-9b22-445b-b6ca-04e81eccaac8"/>
</p:tagLst>
</file>

<file path=ppt/tags/tag4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7.xml><?xml version="1.0" encoding="utf-8"?>
<p:tagLst xmlns:a="http://schemas.openxmlformats.org/drawingml/2006/main" xmlns:r="http://schemas.openxmlformats.org/officeDocument/2006/relationships" xmlns:p="http://schemas.openxmlformats.org/presentationml/2006/main">
  <p:tag name="LAST UPDATE DATE" val="414687664.4048"/>
  <p:tag name="IMPORTID" val="3899393515807.68797"/>
  <p:tag name="WBLAST" val="https://kpmgoneuk-my.sharepoint.com/personal/thomas_dorrington_kpmg_co_uk/Documents/Documents/1.TS/Diligence+/Example Reports/Magnus/Project Magnus - BS databook.xlsx"/>
  <p:tag name="USER NAME" val="tdorrington"/>
  <p:tag name="TYPE" val="1"/>
  <p:tag name="SOURCENAME" val="NWC summary "/>
  <p:tag name="SHEETID" val="New NWC summary"/>
  <p:tag name="PICTUREAPPEARANCE" val="xlPrinter"/>
  <p:tag name="NORESIZEONUPDATE" val="False"/>
</p:tagLst>
</file>

<file path=ppt/tags/tag46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9.xml><?xml version="1.0" encoding="utf-8"?>
<p:tagLst xmlns:a="http://schemas.openxmlformats.org/drawingml/2006/main" xmlns:r="http://schemas.openxmlformats.org/officeDocument/2006/relationships" xmlns:p="http://schemas.openxmlformats.org/presentationml/2006/main">
  <p:tag name="CROSSREFGUID" val="9b6b9437-9b22-445b-b6ca-04e81eccaac8"/>
</p:tagLst>
</file>

<file path=ppt/tags/tag47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3.xml><?xml version="1.0" encoding="utf-8"?>
<p:tagLst xmlns:a="http://schemas.openxmlformats.org/drawingml/2006/main" xmlns:r="http://schemas.openxmlformats.org/officeDocument/2006/relationships" xmlns:p="http://schemas.openxmlformats.org/presentationml/2006/main">
  <p:tag name="LAST UPDATE DATE" val="414687664.4048"/>
  <p:tag name="IMPORTID" val="3899393515807.68797"/>
  <p:tag name="WBLAST" val="https://kpmgoneuk-my.sharepoint.com/personal/thomas_dorrington_kpmg_co_uk/Documents/Documents/1.TS/Diligence+/Example Reports/Magnus/Project Magnus - BS databook.xlsx"/>
  <p:tag name="USER NAME" val="tdorrington"/>
  <p:tag name="TYPE" val="1"/>
  <p:tag name="SOURCENAME" val="NWC summary "/>
  <p:tag name="SHEETID" val="New NWC summary"/>
  <p:tag name="PICTUREAPPEARANCE" val="xlPrinter"/>
  <p:tag name="NORESIZEONUPDATE" val="False"/>
</p:tagLst>
</file>

<file path=ppt/tags/tag4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75.xml><?xml version="1.0" encoding="utf-8"?>
<p:tagLst xmlns:a="http://schemas.openxmlformats.org/drawingml/2006/main" xmlns:r="http://schemas.openxmlformats.org/officeDocument/2006/relationships" xmlns:p="http://schemas.openxmlformats.org/presentationml/2006/main">
  <p:tag name="CROSSREFGUID" val="9b6b9437-9b22-445b-b6ca-04e81eccaac8"/>
</p:tagLst>
</file>

<file path=ppt/tags/tag47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7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9.xml><?xml version="1.0" encoding="utf-8"?>
<p:tagLst xmlns:a="http://schemas.openxmlformats.org/drawingml/2006/main" xmlns:r="http://schemas.openxmlformats.org/officeDocument/2006/relationships" xmlns:p="http://schemas.openxmlformats.org/presentationml/2006/main">
  <p:tag name="LAST UPDATE DATE" val="414687664.4048"/>
  <p:tag name="IMPORTID" val="3899393515807.68797"/>
  <p:tag name="WBLAST" val="https://kpmgoneuk-my.sharepoint.com/personal/thomas_dorrington_kpmg_co_uk/Documents/Documents/1.TS/Diligence+/Example Reports/Magnus/Project Magnus - BS databook.xlsx"/>
  <p:tag name="USER NAME" val="tdorrington"/>
  <p:tag name="TYPE" val="1"/>
  <p:tag name="SOURCENAME" val="NWC summary "/>
  <p:tag name="SHEETID" val="New NWC summary"/>
  <p:tag name="PICTUREAPPEARANCE" val="xlPrinter"/>
  <p:tag name="NORESIZEONUPDATE" val="False"/>
</p:tagLst>
</file>

<file path=ppt/tags/tag48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81.xml><?xml version="1.0" encoding="utf-8"?>
<p:tagLst xmlns:a="http://schemas.openxmlformats.org/drawingml/2006/main" xmlns:r="http://schemas.openxmlformats.org/officeDocument/2006/relationships" xmlns:p="http://schemas.openxmlformats.org/presentationml/2006/main">
  <p:tag name="LAST UPDATE DATE" val="414763558.014348"/>
  <p:tag name="IMPORTID" val="6656393515410.053091"/>
  <p:tag name="WBLAST" val="https://kpmgoneuk-my.sharepoint.com/personal/thomas_dorrington_kpmg_co_uk/Documents/Documents/1.TS/Diligence+/Example Reports/Converts/Project Magnus - BS databook.xlsx"/>
  <p:tag name="USER NAME" val="tdorrington"/>
  <p:tag name="TYPE" val="2"/>
  <p:tag name="SOURCENAME" val="Chart1"/>
  <p:tag name="SHEETID" val="New Monthly NWC"/>
  <p:tag name="PICTUREAPPEARANCE" val="xlPrinter"/>
  <p:tag name="NORESIZEONUPDATE" val="False"/>
</p:tagLst>
</file>

<file path=ppt/tags/tag4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8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84.xml><?xml version="1.0" encoding="utf-8"?>
<p:tagLst xmlns:a="http://schemas.openxmlformats.org/drawingml/2006/main" xmlns:r="http://schemas.openxmlformats.org/officeDocument/2006/relationships" xmlns:p="http://schemas.openxmlformats.org/presentationml/2006/main">
  <p:tag name="LAST UPDATE DATE" val="414776843.7894"/>
  <p:tag name="IMPORTID" val="2810393515435.782666"/>
  <p:tag name="WBLAST" val="https://kpmgoneuk-my.sharepoint.com/personal/thomas_dorrington_kpmg_co_uk/Documents/Documents/1.TS/Diligence+/Example Reports/Converts/Project Magnus - BS databook.xlsx"/>
  <p:tag name="USER NAME" val="tdorrington"/>
  <p:tag name="TYPE" val="1"/>
  <p:tag name="SOURCENAME" val="Adjusted PF working capital summary "/>
  <p:tag name="SHEETID" val="New NWC metrics"/>
  <p:tag name="PICTUREAPPEARANCE" val="xlPrinter"/>
  <p:tag name="NORESIZEONUPDATE" val="False"/>
</p:tagLst>
</file>

<file path=ppt/tags/tag485.xml><?xml version="1.0" encoding="utf-8"?>
<p:tagLst xmlns:a="http://schemas.openxmlformats.org/drawingml/2006/main" xmlns:r="http://schemas.openxmlformats.org/officeDocument/2006/relationships" xmlns:p="http://schemas.openxmlformats.org/presentationml/2006/main">
  <p:tag name="LAST UPDATE DATE" val="414776876.449893"/>
  <p:tag name="IMPORTID" val="2273393515720.398532"/>
  <p:tag name="WBLAST" val="https://kpmgoneuk-my.sharepoint.com/personal/thomas_dorrington_kpmg_co_uk/Documents/Documents/1.TS/Diligence+/Example Reports/Converts/Project Magnus - BS databook.xlsx"/>
  <p:tag name="USER NAME" val="tdorrington"/>
  <p:tag name="TYPE" val="1"/>
  <p:tag name="SOURCENAME" val="Networking capital - adjusted metrics "/>
  <p:tag name="SHEETID" val="New NWC metrics"/>
  <p:tag name="PICTUREAPPEARANCE" val="xlPrinter"/>
  <p:tag name="NORESIZEONUPDATE" val="False"/>
</p:tagLst>
</file>

<file path=ppt/tags/tag4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87.xml><?xml version="1.0" encoding="utf-8"?>
<p:tagLst xmlns:a="http://schemas.openxmlformats.org/drawingml/2006/main" xmlns:r="http://schemas.openxmlformats.org/officeDocument/2006/relationships" xmlns:p="http://schemas.openxmlformats.org/presentationml/2006/main">
  <p:tag name="CROSSREFGUID" val="b095d95d-98ed-42fa-8339-06b0981fb120"/>
</p:tagLst>
</file>

<file path=ppt/tags/tag4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9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91.xml><?xml version="1.0" encoding="utf-8"?>
<p:tagLst xmlns:a="http://schemas.openxmlformats.org/drawingml/2006/main" xmlns:r="http://schemas.openxmlformats.org/officeDocument/2006/relationships" xmlns:p="http://schemas.openxmlformats.org/presentationml/2006/main">
  <p:tag name="LAST UPDATE DATE" val="414767138.072524"/>
  <p:tag name="IMPORTID" val="8728394294557.359413"/>
  <p:tag name="WBLAST" val="https://kpmgoneuk-my.sharepoint.com/personal/thomas_dorrington_kpmg_co_uk/Documents/Documents/1.TS/Diligence+/Example Reports/Converts/Project Magnus - BS databook.xlsx"/>
  <p:tag name="USER NAME" val="tdorrington"/>
  <p:tag name="TYPE" val="1"/>
  <p:tag name="SOURCENAME" val="Net debt "/>
  <p:tag name="SHEETID" val="Net debt"/>
  <p:tag name="PICTUREAPPEARANCE" val="xlPrinter"/>
  <p:tag name="NORESIZEONUPDATE" val="False"/>
</p:tagLst>
</file>

<file path=ppt/tags/tag492.xml><?xml version="1.0" encoding="utf-8"?>
<p:tagLst xmlns:a="http://schemas.openxmlformats.org/drawingml/2006/main" xmlns:r="http://schemas.openxmlformats.org/officeDocument/2006/relationships" xmlns:p="http://schemas.openxmlformats.org/presentationml/2006/main">
  <p:tag name="SHAPETYPE" val="BREADCRUMB"/>
</p:tagLst>
</file>

<file path=ppt/tags/tag493.xml><?xml version="1.0" encoding="utf-8"?>
<p:tagLst xmlns:a="http://schemas.openxmlformats.org/drawingml/2006/main" xmlns:r="http://schemas.openxmlformats.org/officeDocument/2006/relationships" xmlns:p="http://schemas.openxmlformats.org/presentationml/2006/main">
  <p:tag name="CROSSREFGUID" val="b095d95d-98ed-42fa-8339-06b0981fb120"/>
</p:tagLst>
</file>

<file path=ppt/tags/tag49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9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97.xml><?xml version="1.0" encoding="utf-8"?>
<p:tagLst xmlns:a="http://schemas.openxmlformats.org/drawingml/2006/main" xmlns:r="http://schemas.openxmlformats.org/officeDocument/2006/relationships" xmlns:p="http://schemas.openxmlformats.org/presentationml/2006/main">
  <p:tag name="LAST UPDATE DATE" val="414767138.072524"/>
  <p:tag name="IMPORTID" val="8728394294557.359413"/>
  <p:tag name="WBLAST" val="https://kpmgoneuk-my.sharepoint.com/personal/thomas_dorrington_kpmg_co_uk/Documents/Documents/1.TS/Diligence+/Example Reports/Converts/Project Magnus - BS databook.xlsx"/>
  <p:tag name="USER NAME" val="tdorrington"/>
  <p:tag name="TYPE" val="1"/>
  <p:tag name="SOURCENAME" val="Net debt "/>
  <p:tag name="SHEETID" val="Net debt"/>
  <p:tag name="PICTUREAPPEARANCE" val="xlPrinter"/>
  <p:tag name="NORESIZEONUPDATE" val="False"/>
</p:tagLst>
</file>

<file path=ppt/tags/tag49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99.xml><?xml version="1.0" encoding="utf-8"?>
<p:tagLst xmlns:a="http://schemas.openxmlformats.org/drawingml/2006/main" xmlns:r="http://schemas.openxmlformats.org/officeDocument/2006/relationships" xmlns:p="http://schemas.openxmlformats.org/presentationml/2006/main">
  <p:tag name="CROSSREFGUID" val="b095d95d-98ed-42fa-8339-06b0981fb120"/>
</p:tagLst>
</file>

<file path=ppt/tags/tag50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3.xml><?xml version="1.0" encoding="utf-8"?>
<p:tagLst xmlns:a="http://schemas.openxmlformats.org/drawingml/2006/main" xmlns:r="http://schemas.openxmlformats.org/officeDocument/2006/relationships" xmlns:p="http://schemas.openxmlformats.org/presentationml/2006/main">
  <p:tag name="LAST UPDATE DATE" val="414767138.072524"/>
  <p:tag name="IMPORTID" val="8728394294557.359413"/>
  <p:tag name="WBLAST" val="https://kpmgoneuk-my.sharepoint.com/personal/thomas_dorrington_kpmg_co_uk/Documents/Documents/1.TS/Diligence+/Example Reports/Converts/Project Magnus - BS databook.xlsx"/>
  <p:tag name="USER NAME" val="tdorrington"/>
  <p:tag name="TYPE" val="1"/>
  <p:tag name="SOURCENAME" val="Net debt "/>
  <p:tag name="SHEETID" val="Net debt"/>
  <p:tag name="PICTUREAPPEARANCE" val="xlPrinter"/>
  <p:tag name="NORESIZEONUPDATE" val="False"/>
</p:tagLst>
</file>

<file path=ppt/tags/tag50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05.xml><?xml version="1.0" encoding="utf-8"?>
<p:tagLst xmlns:a="http://schemas.openxmlformats.org/drawingml/2006/main" xmlns:r="http://schemas.openxmlformats.org/officeDocument/2006/relationships" xmlns:p="http://schemas.openxmlformats.org/presentationml/2006/main">
  <p:tag name="CROSSREFGUID" val="b095d95d-98ed-42fa-8339-06b0981fb120"/>
</p:tagLst>
</file>

<file path=ppt/tags/tag50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09.xml><?xml version="1.0" encoding="utf-8"?>
<p:tagLst xmlns:a="http://schemas.openxmlformats.org/drawingml/2006/main" xmlns:r="http://schemas.openxmlformats.org/officeDocument/2006/relationships" xmlns:p="http://schemas.openxmlformats.org/presentationml/2006/main">
  <p:tag name="LAST UPDATE DATE" val="414767138.072524"/>
  <p:tag name="IMPORTID" val="8728394294557.359413"/>
  <p:tag name="WBLAST" val="https://kpmgoneuk-my.sharepoint.com/personal/thomas_dorrington_kpmg_co_uk/Documents/Documents/1.TS/Diligence+/Example Reports/Converts/Project Magnus - BS databook.xlsx"/>
  <p:tag name="USER NAME" val="tdorrington"/>
  <p:tag name="TYPE" val="1"/>
  <p:tag name="SOURCENAME" val="Net debt "/>
  <p:tag name="SHEETID" val="Net debt"/>
  <p:tag name="PICTUREAPPEARANCE" val="xlPrinter"/>
  <p:tag name="NORESIZEONUPDATE" val="False"/>
</p:tagLst>
</file>

<file path=ppt/tags/tag51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1.xml><?xml version="1.0" encoding="utf-8"?>
<p:tagLst xmlns:a="http://schemas.openxmlformats.org/drawingml/2006/main" xmlns:r="http://schemas.openxmlformats.org/officeDocument/2006/relationships" xmlns:p="http://schemas.openxmlformats.org/presentationml/2006/main">
  <p:tag name="NAME" val="Cash flows"/>
  <p:tag name="SECTION" val="5"/>
</p:tagLst>
</file>

<file path=ppt/tags/tag512.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1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14.xml><?xml version="1.0" encoding="utf-8"?>
<p:tagLst xmlns:a="http://schemas.openxmlformats.org/drawingml/2006/main" xmlns:r="http://schemas.openxmlformats.org/officeDocument/2006/relationships" xmlns:p="http://schemas.openxmlformats.org/presentationml/2006/main">
  <p:tag name="TOCSHAPE" val="AA"/>
</p:tagLst>
</file>

<file path=ppt/tags/tag515.xml><?xml version="1.0" encoding="utf-8"?>
<p:tagLst xmlns:a="http://schemas.openxmlformats.org/drawingml/2006/main" xmlns:r="http://schemas.openxmlformats.org/officeDocument/2006/relationships" xmlns:p="http://schemas.openxmlformats.org/presentationml/2006/main">
  <p:tag name="TOCSHAPE" val="807"/>
  <p:tag name="SLIDEINDEX" val="807"/>
</p:tagLst>
</file>

<file path=ppt/tags/tag516.xml><?xml version="1.0" encoding="utf-8"?>
<p:tagLst xmlns:a="http://schemas.openxmlformats.org/drawingml/2006/main" xmlns:r="http://schemas.openxmlformats.org/officeDocument/2006/relationships" xmlns:p="http://schemas.openxmlformats.org/presentationml/2006/main">
  <p:tag name="TOCSHAPE" val="AA"/>
</p:tagLst>
</file>

<file path=ppt/tags/tag517.xml><?xml version="1.0" encoding="utf-8"?>
<p:tagLst xmlns:a="http://schemas.openxmlformats.org/drawingml/2006/main" xmlns:r="http://schemas.openxmlformats.org/officeDocument/2006/relationships" xmlns:p="http://schemas.openxmlformats.org/presentationml/2006/main">
  <p:tag name="TOCSHAPE" val="890"/>
  <p:tag name="SLIDEINDEX" val="890"/>
</p:tagLst>
</file>

<file path=ppt/tags/tag51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20.xml><?xml version="1.0" encoding="utf-8"?>
<p:tagLst xmlns:a="http://schemas.openxmlformats.org/drawingml/2006/main" xmlns:r="http://schemas.openxmlformats.org/officeDocument/2006/relationships" xmlns:p="http://schemas.openxmlformats.org/presentationml/2006/main">
  <p:tag name="LAST UPDATE DATE" val="414763020.830369"/>
  <p:tag name="IMPORTID" val="6288393515202.742578"/>
  <p:tag name="WBLAST" val="https://kpmgoneuk-my.sharepoint.com/personal/thomas_dorrington_kpmg_co_uk/Documents/Documents/1.TS/Diligence+/Example Reports/Converts/Project Magnus - BS databook.xlsx"/>
  <p:tag name="USER NAME" val="tdorrington"/>
  <p:tag name="TYPE" val="1"/>
  <p:tag name="SOURCENAME" val="Operating cashflow "/>
  <p:tag name="SHEETID" val="Summary Cashflow"/>
  <p:tag name="PICTUREAPPEARANCE" val="xlPrinter"/>
  <p:tag name="NORESIZEONUPDATE" val="False"/>
</p:tagLst>
</file>

<file path=ppt/tags/tag5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2.xml><?xml version="1.0" encoding="utf-8"?>
<p:tagLst xmlns:a="http://schemas.openxmlformats.org/drawingml/2006/main" xmlns:r="http://schemas.openxmlformats.org/officeDocument/2006/relationships" xmlns:p="http://schemas.openxmlformats.org/presentationml/2006/main">
  <p:tag name="NAME" val="Reporting environment"/>
  <p:tag name="SECTION" val="6"/>
</p:tagLst>
</file>

<file path=ppt/tags/tag52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2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25.xml><?xml version="1.0" encoding="utf-8"?>
<p:tagLst xmlns:a="http://schemas.openxmlformats.org/drawingml/2006/main" xmlns:r="http://schemas.openxmlformats.org/officeDocument/2006/relationships" xmlns:p="http://schemas.openxmlformats.org/presentationml/2006/main">
  <p:tag name="TOCSHAPE" val="AA"/>
</p:tagLst>
</file>

<file path=ppt/tags/tag526.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527.xml><?xml version="1.0" encoding="utf-8"?>
<p:tagLst xmlns:a="http://schemas.openxmlformats.org/drawingml/2006/main" xmlns:r="http://schemas.openxmlformats.org/officeDocument/2006/relationships" xmlns:p="http://schemas.openxmlformats.org/presentationml/2006/main">
  <p:tag name="TOCSHAPE" val="AA"/>
</p:tagLst>
</file>

<file path=ppt/tags/tag528.xml><?xml version="1.0" encoding="utf-8"?>
<p:tagLst xmlns:a="http://schemas.openxmlformats.org/drawingml/2006/main" xmlns:r="http://schemas.openxmlformats.org/officeDocument/2006/relationships" xmlns:p="http://schemas.openxmlformats.org/presentationml/2006/main">
  <p:tag name="TOCSHAPE" val="831"/>
  <p:tag name="SLIDEINDEX" val="831"/>
</p:tagLst>
</file>

<file path=ppt/tags/tag52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3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3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3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8.xml><?xml version="1.0" encoding="utf-8"?>
<p:tagLst xmlns:a="http://schemas.openxmlformats.org/drawingml/2006/main" xmlns:r="http://schemas.openxmlformats.org/officeDocument/2006/relationships" xmlns:p="http://schemas.openxmlformats.org/presentationml/2006/main">
  <p:tag name="NAME" val="Appendices"/>
  <p:tag name="SECTION" val="7"/>
</p:tagLst>
</file>

<file path=ppt/tags/tag53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4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4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4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4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44.xml><?xml version="1.0" encoding="utf-8"?>
<p:tagLst xmlns:a="http://schemas.openxmlformats.org/drawingml/2006/main" xmlns:r="http://schemas.openxmlformats.org/officeDocument/2006/relationships" xmlns:p="http://schemas.openxmlformats.org/presentationml/2006/main">
  <p:tag name="TOCSHAPE" val="AA"/>
</p:tagLst>
</file>

<file path=ppt/tags/tag545.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546.xml><?xml version="1.0" encoding="utf-8"?>
<p:tagLst xmlns:a="http://schemas.openxmlformats.org/drawingml/2006/main" xmlns:r="http://schemas.openxmlformats.org/officeDocument/2006/relationships" xmlns:p="http://schemas.openxmlformats.org/presentationml/2006/main">
  <p:tag name="TOCSHAPE" val="AA"/>
</p:tagLst>
</file>

<file path=ppt/tags/tag547.xml><?xml version="1.0" encoding="utf-8"?>
<p:tagLst xmlns:a="http://schemas.openxmlformats.org/drawingml/2006/main" xmlns:r="http://schemas.openxmlformats.org/officeDocument/2006/relationships" xmlns:p="http://schemas.openxmlformats.org/presentationml/2006/main">
  <p:tag name="TOCSHAPE" val="AA"/>
</p:tagLst>
</file>

<file path=ppt/tags/tag548.xml><?xml version="1.0" encoding="utf-8"?>
<p:tagLst xmlns:a="http://schemas.openxmlformats.org/drawingml/2006/main" xmlns:r="http://schemas.openxmlformats.org/officeDocument/2006/relationships" xmlns:p="http://schemas.openxmlformats.org/presentationml/2006/main">
  <p:tag name="TOCSHAPE" val="AA"/>
</p:tagLst>
</file>

<file path=ppt/tags/tag549.xml><?xml version="1.0" encoding="utf-8"?>
<p:tagLst xmlns:a="http://schemas.openxmlformats.org/drawingml/2006/main" xmlns:r="http://schemas.openxmlformats.org/officeDocument/2006/relationships" xmlns:p="http://schemas.openxmlformats.org/presentationml/2006/main">
  <p:tag name="TOCSHAPE" val="AA"/>
</p:tagLst>
</file>

<file path=ppt/tags/tag550.xml><?xml version="1.0" encoding="utf-8"?>
<p:tagLst xmlns:a="http://schemas.openxmlformats.org/drawingml/2006/main" xmlns:r="http://schemas.openxmlformats.org/officeDocument/2006/relationships" xmlns:p="http://schemas.openxmlformats.org/presentationml/2006/main">
  <p:tag name="TOCSHAPE" val="937"/>
  <p:tag name="SLIDEINDEX" val="937"/>
</p:tagLst>
</file>

<file path=ppt/tags/tag551.xml><?xml version="1.0" encoding="utf-8"?>
<p:tagLst xmlns:a="http://schemas.openxmlformats.org/drawingml/2006/main" xmlns:r="http://schemas.openxmlformats.org/officeDocument/2006/relationships" xmlns:p="http://schemas.openxmlformats.org/presentationml/2006/main">
  <p:tag name="TOCSHAPE" val="939"/>
  <p:tag name="SLIDEINDEX" val="939"/>
</p:tagLst>
</file>

<file path=ppt/tags/tag552.xml><?xml version="1.0" encoding="utf-8"?>
<p:tagLst xmlns:a="http://schemas.openxmlformats.org/drawingml/2006/main" xmlns:r="http://schemas.openxmlformats.org/officeDocument/2006/relationships" xmlns:p="http://schemas.openxmlformats.org/presentationml/2006/main">
  <p:tag name="TOCSHAPE" val="940"/>
  <p:tag name="SLIDEINDEX" val="940"/>
</p:tagLst>
</file>

<file path=ppt/tags/tag553.xml><?xml version="1.0" encoding="utf-8"?>
<p:tagLst xmlns:a="http://schemas.openxmlformats.org/drawingml/2006/main" xmlns:r="http://schemas.openxmlformats.org/officeDocument/2006/relationships" xmlns:p="http://schemas.openxmlformats.org/presentationml/2006/main">
  <p:tag name="TOCSHAPE" val="694"/>
  <p:tag name="SLIDEINDEX" val="694"/>
</p:tagLst>
</file>

<file path=ppt/tags/tag5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6.xml><?xml version="1.0" encoding="utf-8"?>
<p:tagLst xmlns:a="http://schemas.openxmlformats.org/drawingml/2006/main" xmlns:r="http://schemas.openxmlformats.org/officeDocument/2006/relationships" xmlns:p="http://schemas.openxmlformats.org/presentationml/2006/main">
  <p:tag name="CROSSREFGUID" val="ddb72b19-fda2-4358-bb0e-8633705c0354"/>
</p:tagLst>
</file>

<file path=ppt/tags/tag55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4.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6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8.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6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74.xml><?xml version="1.0" encoding="utf-8"?>
<p:tagLst xmlns:a="http://schemas.openxmlformats.org/drawingml/2006/main" xmlns:r="http://schemas.openxmlformats.org/officeDocument/2006/relationships" xmlns:p="http://schemas.openxmlformats.org/presentationml/2006/main">
  <p:tag name="LAST UPDATE DATE" val="415284819.907027"/>
  <p:tag name="IMPORTID" val="5943415284741.528607"/>
  <p:tag name="WBLAST" val="https://kpmgoneuk-my.sharepoint.com/personal/thomas_dorrington_kpmg_co_uk/Documents/Documents/1.TS/Diligence+/Example Reports/Converts/Project Magnus - BS databook.xlsx"/>
  <p:tag name="USER NAME" val="tdorrington"/>
  <p:tag name="TYPE" val="1"/>
  <p:tag name="SOURCENAME" val="FY21 BS Stat recs "/>
  <p:tag name="SHEETID" val="Stat rec FY21"/>
  <p:tag name="PICTUREAPPEARANCE" val="xlPrinter"/>
  <p:tag name="NORESIZEONUPDATE" val="False"/>
</p:tagLst>
</file>

<file path=ppt/tags/tag575.xml><?xml version="1.0" encoding="utf-8"?>
<p:tagLst xmlns:a="http://schemas.openxmlformats.org/drawingml/2006/main" xmlns:r="http://schemas.openxmlformats.org/officeDocument/2006/relationships" xmlns:p="http://schemas.openxmlformats.org/presentationml/2006/main">
  <p:tag name="LAST UPDATE DATE" val="415285015.874729"/>
  <p:tag name="IMPORTID" val="8221394378571.489295"/>
  <p:tag name="WBLAST" val="https://kpmgoneuk-my.sharepoint.com/personal/thomas_dorrington_kpmg_co_uk/Documents/Documents/1.TS/Diligence+/Example Reports/Converts/Project Magnus - PL databook - anonymised updated.xlsx"/>
  <p:tag name="USER NAME" val="tdorrington"/>
  <p:tag name="TYPE" val="1"/>
  <p:tag name="SOURCENAME" val="P&amp;L Stat rec - FY21"/>
  <p:tag name="SHEETID" val="P&amp;L stat rec FY21"/>
  <p:tag name="PICTUREAPPEARANCE" val="xlPrinter"/>
  <p:tag name="NORESIZEONUPDATE" val="False"/>
</p:tagLst>
</file>

<file path=ppt/tags/tag5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79.xml><?xml version="1.0" encoding="utf-8"?>
<p:tagLst xmlns:a="http://schemas.openxmlformats.org/drawingml/2006/main" xmlns:r="http://schemas.openxmlformats.org/officeDocument/2006/relationships" xmlns:p="http://schemas.openxmlformats.org/presentationml/2006/main">
  <p:tag name="LAST UPDATE DATE" val="415284931.960023"/>
  <p:tag name="IMPORTID" val="2418415284723.655796"/>
  <p:tag name="WBLAST" val="https://kpmgoneuk-my.sharepoint.com/personal/thomas_dorrington_kpmg_co_uk/Documents/Documents/1.TS/Diligence+/Example Reports/Converts/Project Magnus - BS databook.xlsx"/>
  <p:tag name="USER NAME" val="tdorrington"/>
  <p:tag name="TYPE" val="1"/>
  <p:tag name="SOURCENAME" val="FY22 BS Stat recs "/>
  <p:tag name="SHEETID" val="Stat rec FY22"/>
  <p:tag name="PICTUREAPPEARANCE" val="xlPrinter"/>
  <p:tag name="NORESIZEONUPDATE" val="False"/>
</p:tagLst>
</file>

<file path=ppt/tags/tag580.xml><?xml version="1.0" encoding="utf-8"?>
<p:tagLst xmlns:a="http://schemas.openxmlformats.org/drawingml/2006/main" xmlns:r="http://schemas.openxmlformats.org/officeDocument/2006/relationships" xmlns:p="http://schemas.openxmlformats.org/presentationml/2006/main">
  <p:tag name="LAST UPDATE DATE" val="415284998.9488"/>
  <p:tag name="IMPORTID" val="8221394378571.489295"/>
  <p:tag name="WBLAST" val="https://kpmgoneuk-my.sharepoint.com/personal/thomas_dorrington_kpmg_co_uk/Documents/Documents/1.TS/Diligence+/Example Reports/Converts/Project Magnus - PL databook - anonymised updated.xlsx"/>
  <p:tag name="USER NAME" val="tdorrington"/>
  <p:tag name="TYPE" val="1"/>
  <p:tag name="SOURCENAME" val="P&amp;L Stat rec - FY22"/>
  <p:tag name="SHEETID" val="P&amp;L stat rec FY22"/>
  <p:tag name="PICTUREAPPEARANCE" val="xlPrinter"/>
  <p:tag name="NORESIZEONUPDATE" val="False"/>
</p:tagLst>
</file>

<file path=ppt/tags/tag58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84.xml><?xml version="1.0" encoding="utf-8"?>
<p:tagLst xmlns:a="http://schemas.openxmlformats.org/drawingml/2006/main" xmlns:r="http://schemas.openxmlformats.org/officeDocument/2006/relationships" xmlns:p="http://schemas.openxmlformats.org/presentationml/2006/main">
  <p:tag name="LAST UPDATE DATE" val="415285535.484982"/>
  <p:tag name="IMPORTID" val="4416387560542.858422"/>
  <p:tag name="WBLAST" val="https://kpmgoneuk-my.sharepoint.com/personal/thomas_dorrington_kpmg_co_uk/Documents/Documents/1.TS/Diligence+/Example Reports/Converts/Project Magnus - BS databook.xlsx"/>
  <p:tag name="USER NAME" val="tdorrington"/>
  <p:tag name="TYPE" val="1"/>
  <p:tag name="SOURCENAME" val="Net asset roll forward  "/>
  <p:tag name="SHEETID" val="NARF"/>
  <p:tag name="PICTUREAPPEARANCE" val="xlPrinter"/>
  <p:tag name="NORESIZEONUPDATE" val="False"/>
</p:tagLst>
</file>

<file path=ppt/tags/tag585.xml><?xml version="1.0" encoding="utf-8"?>
<p:tagLst xmlns:a="http://schemas.openxmlformats.org/drawingml/2006/main" xmlns:r="http://schemas.openxmlformats.org/officeDocument/2006/relationships" xmlns:p="http://schemas.openxmlformats.org/presentationml/2006/main">
  <p:tag name="LAST UPDATE DATE" val="415285546.276071"/>
  <p:tag name="IMPORTID" val="2047387560604.599512"/>
  <p:tag name="WBLAST" val="https://kpmgoneuk-my.sharepoint.com/personal/thomas_dorrington_kpmg_co_uk/Documents/Documents/1.TS/Diligence+/Example Reports/Converts/Project Magnus - BS databook.xlsx"/>
  <p:tag name="USER NAME" val="tdorrington"/>
  <p:tag name="TYPE" val="1"/>
  <p:tag name="SOURCENAME" val="Net asset roll forward  "/>
  <p:tag name="SHEETID" val="NARF"/>
  <p:tag name="PICTUREAPPEARANCE" val="xlPrinter"/>
  <p:tag name="NORESIZEONUPDATE" val="False"/>
</p:tagLst>
</file>

<file path=ppt/tags/tag5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89.xml><?xml version="1.0" encoding="utf-8"?>
<p:tagLst xmlns:a="http://schemas.openxmlformats.org/drawingml/2006/main" xmlns:r="http://schemas.openxmlformats.org/officeDocument/2006/relationships" xmlns:p="http://schemas.openxmlformats.org/presentationml/2006/main">
  <p:tag name="LAST UPDATE DATE" val="415285578.634956"/>
  <p:tag name="IMPORTID" val="5266415285578.634956"/>
  <p:tag name="WBLAST" val="https://kpmgoneuk-my.sharepoint.com/personal/thomas_dorrington_kpmg_co_uk/Documents/Documents/1.TS/Diligence+/Example Reports/Converts/Project Magnus - BS databook.xlsx"/>
  <p:tag name="USER NAME" val="tdorrington"/>
  <p:tag name="TYPE" val="1"/>
  <p:tag name="SOURCENAME" val="Net asset roll forward  "/>
  <p:tag name="SHEETID" val="NARF"/>
  <p:tag name="PICTUREAPPEARANCE" val="xlPrinter"/>
  <p:tag name="NORESIZEONUPDATE" val="False"/>
</p:tagLst>
</file>

<file path=ppt/tags/tag59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3.xml><?xml version="1.0" encoding="utf-8"?>
<p:tagLst xmlns:a="http://schemas.openxmlformats.org/drawingml/2006/main" xmlns:r="http://schemas.openxmlformats.org/officeDocument/2006/relationships" xmlns:p="http://schemas.openxmlformats.org/presentationml/2006/main">
  <p:tag name="LAST UPDATE DATE" val="415286032.590204"/>
  <p:tag name="IMPORTID" val="5926388602834.405085"/>
  <p:tag name="WBLAST" val="https://kpmgoneuk-my.sharepoint.com/personal/thomas_dorrington_kpmg_co_uk/Documents/Documents/1.TS/Diligence+/Example Reports/Converts/Project Magnus - PL databook - anonymised updated.xlsx"/>
  <p:tag name="USER NAME" val="tdorrington"/>
  <p:tag name="TYPE" val="1"/>
  <p:tag name="SOURCENAME" val="FY21 Director and family members remuneration "/>
  <p:tag name="SHEETID" val="Director payroll and div"/>
  <p:tag name="PICTUREAPPEARANCE" val="xlPrinter"/>
  <p:tag name="NORESIZEONUPDATE" val="False"/>
</p:tagLst>
</file>

<file path=ppt/tags/tag594.xml><?xml version="1.0" encoding="utf-8"?>
<p:tagLst xmlns:a="http://schemas.openxmlformats.org/drawingml/2006/main" xmlns:r="http://schemas.openxmlformats.org/officeDocument/2006/relationships" xmlns:p="http://schemas.openxmlformats.org/presentationml/2006/main">
  <p:tag name="LAST UPDATE DATE" val="415286058.933988"/>
  <p:tag name="IMPORTID" val="1405388602868.343749"/>
  <p:tag name="WBLAST" val="https://kpmgoneuk-my.sharepoint.com/personal/thomas_dorrington_kpmg_co_uk/Documents/Documents/1.TS/Diligence+/Example Reports/Converts/Project Magnus - PL databook - anonymised updated.xlsx"/>
  <p:tag name="USER NAME" val="tdorrington"/>
  <p:tag name="TYPE" val="1"/>
  <p:tag name="SOURCENAME" val="Family related expenses add back (Adjustment 4)  "/>
  <p:tag name="SHEETID" val="Directors renumeration"/>
  <p:tag name="PICTUREAPPEARANCE" val="xlPrinter"/>
  <p:tag name="NORESIZEONUPDATE" val="False"/>
</p:tagLst>
</file>

<file path=ppt/tags/tag59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02.xml><?xml version="1.0" encoding="utf-8"?>
<p:tagLst xmlns:a="http://schemas.openxmlformats.org/drawingml/2006/main" xmlns:r="http://schemas.openxmlformats.org/officeDocument/2006/relationships" xmlns:p="http://schemas.openxmlformats.org/presentationml/2006/main">
  <p:tag name="LAST UPDATE DATE" val="415190527.240953"/>
  <p:tag name="IMPORTID" val="9055393516021.849714"/>
  <p:tag name="WBLAST" val="https://kpmgoneuk-my.sharepoint.com/personal/thomas_dorrington_kpmg_co_uk/Documents/Documents/1.TS/Diligence+/Example Reports/Converts/Project Magnus - BS databook.xlsx"/>
  <p:tag name="USER NAME" val="tdorrington"/>
  <p:tag name="TYPE" val="1"/>
  <p:tag name="SOURCENAME" val="Fixed assets "/>
  <p:tag name="SHEETID" val="Fixed asset register"/>
  <p:tag name="PICTUREAPPEARANCE" val="xlPrinter"/>
  <p:tag name="NORESIZEONUPDATE" val="False"/>
</p:tagLst>
</file>

<file path=ppt/tags/tag603.xml><?xml version="1.0" encoding="utf-8"?>
<p:tagLst xmlns:a="http://schemas.openxmlformats.org/drawingml/2006/main" xmlns:r="http://schemas.openxmlformats.org/officeDocument/2006/relationships" xmlns:p="http://schemas.openxmlformats.org/presentationml/2006/main">
  <p:tag name="SHAPETYPE" val="BREADCRUMB"/>
</p:tagLst>
</file>

<file path=ppt/tags/tag60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06.xml><?xml version="1.0" encoding="utf-8"?>
<p:tagLst xmlns:a="http://schemas.openxmlformats.org/drawingml/2006/main" xmlns:r="http://schemas.openxmlformats.org/officeDocument/2006/relationships" xmlns:p="http://schemas.openxmlformats.org/presentationml/2006/main">
  <p:tag name="LAST UPDATE DATE" val="415194697.002513"/>
  <p:tag name="IMPORTID" val="2479415194697.002513"/>
  <p:tag name="WBLAST" val="https://kpmgoneuk-my.sharepoint.com/personal/thomas_dorrington_kpmg_co_uk/Documents/Documents/1.TS/Diligence+/Example Reports/Converts/Project Magnus - BS databook.xlsx"/>
  <p:tag name="USER NAME" val="tdorrington"/>
  <p:tag name="TYPE" val="1"/>
  <p:tag name="SOURCENAME" val="Stock summary "/>
  <p:tag name="SHEETID" val="Stock"/>
  <p:tag name="PICTUREAPPEARANCE" val="xlPrinter"/>
  <p:tag name="NORESIZEONUPDATE" val="False"/>
</p:tagLst>
</file>

<file path=ppt/tags/tag607.xml><?xml version="1.0" encoding="utf-8"?>
<p:tagLst xmlns:a="http://schemas.openxmlformats.org/drawingml/2006/main" xmlns:r="http://schemas.openxmlformats.org/officeDocument/2006/relationships" xmlns:p="http://schemas.openxmlformats.org/presentationml/2006/main">
  <p:tag name="SHAPETYPE" val="BREADCRUMB"/>
</p:tagLst>
</file>

<file path=ppt/tags/tag60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0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10.xml><?xml version="1.0" encoding="utf-8"?>
<p:tagLst xmlns:a="http://schemas.openxmlformats.org/drawingml/2006/main" xmlns:r="http://schemas.openxmlformats.org/officeDocument/2006/relationships" xmlns:p="http://schemas.openxmlformats.org/presentationml/2006/main">
  <p:tag name="LAST UPDATE DATE" val="415194755.733384"/>
  <p:tag name="IMPORTID" val="6410393516360.895047"/>
  <p:tag name="WBLAST" val="https://kpmgoneuk-my.sharepoint.com/personal/thomas_dorrington_kpmg_co_uk/Documents/Documents/1.TS/Diligence+/Example Reports/Converts/Project Magnus - BS databook.xlsx"/>
  <p:tag name="USER NAME" val="tdorrington"/>
  <p:tag name="TYPE" val="1"/>
  <p:tag name="SOURCENAME" val="Stock days "/>
  <p:tag name="SHEETID" val="Stock days"/>
  <p:tag name="PICTUREAPPEARANCE" val="xlPrinter"/>
  <p:tag name="NORESIZEONUPDATE" val="False"/>
</p:tagLst>
</file>

<file path=ppt/tags/tag6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61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1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14.xml><?xml version="1.0" encoding="utf-8"?>
<p:tagLst xmlns:a="http://schemas.openxmlformats.org/drawingml/2006/main" xmlns:r="http://schemas.openxmlformats.org/officeDocument/2006/relationships" xmlns:p="http://schemas.openxmlformats.org/presentationml/2006/main">
  <p:tag name="LAST UPDATE DATE" val="415195202.222518"/>
  <p:tag name="IMPORTID" val="8716393516470.841954"/>
  <p:tag name="WBLAST" val="https://kpmgoneuk-my.sharepoint.com/personal/thomas_dorrington_kpmg_co_uk/Documents/Documents/1.TS/Diligence+/Example Reports/Converts/Project Magnus - BS databook.xlsx"/>
  <p:tag name="USER NAME" val="tdorrington"/>
  <p:tag name="TYPE" val="1"/>
  <p:tag name="SOURCENAME" val="Aged debtors "/>
  <p:tag name="SHEETID" val="Aged debtors"/>
  <p:tag name="PICTUREAPPEARANCE" val="xlPrinter"/>
  <p:tag name="NORESIZEONUPDATE" val="False"/>
</p:tagLst>
</file>

<file path=ppt/tags/tag615.xml><?xml version="1.0" encoding="utf-8"?>
<p:tagLst xmlns:a="http://schemas.openxmlformats.org/drawingml/2006/main" xmlns:r="http://schemas.openxmlformats.org/officeDocument/2006/relationships" xmlns:p="http://schemas.openxmlformats.org/presentationml/2006/main">
  <p:tag name="LAST UPDATE DATE" val="415195226.897827"/>
  <p:tag name="IMPORTID" val="6055393516542.630182"/>
  <p:tag name="WBLAST" val="https://kpmgoneuk-my.sharepoint.com/personal/thomas_dorrington_kpmg_co_uk/Documents/Documents/1.TS/Diligence+/Example Reports/Converts/Project Magnus - BS databook.xlsx"/>
  <p:tag name="USER NAME" val="tdorrington"/>
  <p:tag name="TYPE" val="1"/>
  <p:tag name="SOURCENAME" val="Debtor days "/>
  <p:tag name="SHEETID" val="Trade debtors"/>
  <p:tag name="PICTUREAPPEARANCE" val="xlPrinter"/>
  <p:tag name="NORESIZEONUPDATE" val="False"/>
</p:tagLst>
</file>

<file path=ppt/tags/tag61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17.xml><?xml version="1.0" encoding="utf-8"?>
<p:tagLst xmlns:a="http://schemas.openxmlformats.org/drawingml/2006/main" xmlns:r="http://schemas.openxmlformats.org/officeDocument/2006/relationships" xmlns:p="http://schemas.openxmlformats.org/presentationml/2006/main">
  <p:tag name="SHAPETYPE" val="BREADCRUMB"/>
</p:tagLst>
</file>

<file path=ppt/tags/tag61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0.xml><?xml version="1.0" encoding="utf-8"?>
<p:tagLst xmlns:a="http://schemas.openxmlformats.org/drawingml/2006/main" xmlns:r="http://schemas.openxmlformats.org/officeDocument/2006/relationships" xmlns:p="http://schemas.openxmlformats.org/presentationml/2006/main">
  <p:tag name="LAST UPDATE DATE" val="415195839.925752"/>
  <p:tag name="IMPORTID" val="2523393608632.366252"/>
  <p:tag name="WBLAST" val="https://kpmgoneuk-my.sharepoint.com/personal/thomas_dorrington_kpmg_co_uk/Documents/Documents/1.TS/Diligence+/Example Reports/Converts/Project Magnus - BS databook.xlsx"/>
  <p:tag name="USER NAME" val="tdorrington"/>
  <p:tag name="TYPE" val="1"/>
  <p:tag name="SOURCENAME" val="Prepayments &amp; accrued income "/>
  <p:tag name="SHEETID" val="Prepayments &amp; accrued income"/>
  <p:tag name="PICTUREAPPEARANCE" val="xlPrinter"/>
  <p:tag name="NORESIZEONUPDATE" val="False"/>
</p:tagLst>
</file>

<file path=ppt/tags/tag621.xml><?xml version="1.0" encoding="utf-8"?>
<p:tagLst xmlns:a="http://schemas.openxmlformats.org/drawingml/2006/main" xmlns:r="http://schemas.openxmlformats.org/officeDocument/2006/relationships" xmlns:p="http://schemas.openxmlformats.org/presentationml/2006/main">
  <p:tag name="LAST UPDATE DATE" val="415195882.353015"/>
  <p:tag name="IMPORTID" val="1957393618081.638187"/>
  <p:tag name="WBLAST" val="https://kpmgoneuk-my.sharepoint.com/personal/thomas_dorrington_kpmg_co_uk/Documents/Documents/1.TS/Diligence+/Example Reports/Converts/Project Magnus - BS databook.xlsx"/>
  <p:tag name="USER NAME" val="tdorrington"/>
  <p:tag name="TYPE" val="2"/>
  <p:tag name="SOURCENAME" val="Chart1"/>
  <p:tag name="SHEETID" val="New Monthly NWC"/>
  <p:tag name="PICTUREAPPEARANCE" val="xlPrinter"/>
  <p:tag name="NORESIZEONUPDATE" val="False"/>
</p:tagLst>
</file>

<file path=ppt/tags/tag62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4.xml><?xml version="1.0" encoding="utf-8"?>
<p:tagLst xmlns:a="http://schemas.openxmlformats.org/drawingml/2006/main" xmlns:r="http://schemas.openxmlformats.org/officeDocument/2006/relationships" xmlns:p="http://schemas.openxmlformats.org/presentationml/2006/main">
  <p:tag name="SHAPETYPE" val="BREADCRUMB"/>
</p:tagLst>
</file>

<file path=ppt/tags/tag62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27.xml><?xml version="1.0" encoding="utf-8"?>
<p:tagLst xmlns:a="http://schemas.openxmlformats.org/drawingml/2006/main" xmlns:r="http://schemas.openxmlformats.org/officeDocument/2006/relationships" xmlns:p="http://schemas.openxmlformats.org/presentationml/2006/main">
  <p:tag name="LAST UPDATE DATE" val="415196226.132611"/>
  <p:tag name="IMPORTID" val="7373393516692.793393"/>
  <p:tag name="WBLAST" val="https://kpmgoneuk-my.sharepoint.com/personal/thomas_dorrington_kpmg_co_uk/Documents/Documents/1.TS/Diligence+/Example Reports/Converts/Project Magnus - BS databook.xlsx"/>
  <p:tag name="USER NAME" val="tdorrington"/>
  <p:tag name="TYPE" val="1"/>
  <p:tag name="SOURCENAME" val="Creditor days "/>
  <p:tag name="SHEETID" val="Trade creditors"/>
  <p:tag name="PICTUREAPPEARANCE" val="xlPrinter"/>
  <p:tag name="NORESIZEONUPDATE" val="False"/>
</p:tagLst>
</file>

<file path=ppt/tags/tag628.xml><?xml version="1.0" encoding="utf-8"?>
<p:tagLst xmlns:a="http://schemas.openxmlformats.org/drawingml/2006/main" xmlns:r="http://schemas.openxmlformats.org/officeDocument/2006/relationships" xmlns:p="http://schemas.openxmlformats.org/presentationml/2006/main">
  <p:tag name="LAST UPDATE DATE" val="415196309.811333"/>
  <p:tag name="IMPORTID" val="1550393516614.264172"/>
  <p:tag name="WBLAST" val="https://kpmgoneuk-my.sharepoint.com/personal/thomas_dorrington_kpmg_co_uk/Documents/Documents/1.TS/Diligence+/Example Reports/Converts/Project Magnus - BS databook.xlsx"/>
  <p:tag name="USER NAME" val="tdorrington"/>
  <p:tag name="TYPE" val="1"/>
  <p:tag name="SOURCENAME" val="Aged creditors "/>
  <p:tag name="SHEETID" val="Aged creditors"/>
  <p:tag name="PICTUREAPPEARANCE" val="xlPrinter"/>
  <p:tag name="NORESIZEONUPDATE" val="False"/>
</p:tagLst>
</file>

<file path=ppt/tags/tag629.xml><?xml version="1.0" encoding="utf-8"?>
<p:tagLst xmlns:a="http://schemas.openxmlformats.org/drawingml/2006/main" xmlns:r="http://schemas.openxmlformats.org/officeDocument/2006/relationships" xmlns:p="http://schemas.openxmlformats.org/presentationml/2006/main">
  <p:tag name="SHAPETYPE" val="BREADCRUMB"/>
</p:tagLst>
</file>

<file path=ppt/tags/tag6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32.xml><?xml version="1.0" encoding="utf-8"?>
<p:tagLst xmlns:a="http://schemas.openxmlformats.org/drawingml/2006/main" xmlns:r="http://schemas.openxmlformats.org/officeDocument/2006/relationships" xmlns:p="http://schemas.openxmlformats.org/presentationml/2006/main">
  <p:tag name="LAST UPDATE DATE" val="415196854.510178"/>
  <p:tag name="IMPORTID" val="2605393605614.628377"/>
  <p:tag name="WBLAST" val="https://kpmgoneuk-my.sharepoint.com/personal/thomas_dorrington_kpmg_co_uk/Documents/Documents/1.TS/Diligence+/Example Reports/Converts/Project Magnus - BS databook.xlsx"/>
  <p:tag name="USER NAME" val="tdorrington"/>
  <p:tag name="TYPE" val="1"/>
  <p:tag name="SOURCENAME" val="Accruals &amp; deferred income "/>
  <p:tag name="SHEETID" val="Accruals"/>
  <p:tag name="PICTUREAPPEARANCE" val="xlPrinter"/>
  <p:tag name="NORESIZEONUPDATE" val="False"/>
</p:tagLst>
</file>

<file path=ppt/tags/tag633.xml><?xml version="1.0" encoding="utf-8"?>
<p:tagLst xmlns:a="http://schemas.openxmlformats.org/drawingml/2006/main" xmlns:r="http://schemas.openxmlformats.org/officeDocument/2006/relationships" xmlns:p="http://schemas.openxmlformats.org/presentationml/2006/main">
  <p:tag name="LAST UPDATE DATE" val="415196901.65512"/>
  <p:tag name="IMPORTID" val="58393618226.787019"/>
  <p:tag name="WBLAST" val="https://kpmgoneuk-my.sharepoint.com/personal/thomas_dorrington_kpmg_co_uk/Documents/Documents/1.TS/Diligence+/Example Reports/Converts/Project Magnus - BS databook.xlsx"/>
  <p:tag name="USER NAME" val="tdorrington"/>
  <p:tag name="TYPE" val="2"/>
  <p:tag name="SOURCENAME" val="Chart2"/>
  <p:tag name="SHEETID" val="New Monthly NWC"/>
  <p:tag name="PICTUREAPPEARANCE" val="xlPrinter"/>
  <p:tag name="NORESIZEONUPDATE" val="False"/>
</p:tagLst>
</file>

<file path=ppt/tags/tag63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3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63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6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64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D94FD6A4-40D7-464B-92C9-CC2FCEC718B1}" vid="{B8F5A6B3-F087-4C59-AA21-75E474E9F672}"/>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D94FD6A4-40D7-464B-92C9-CC2FCEC718B1}" vid="{A76FE50C-CA29-4C1B-818A-4001D624D41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2.xml><?xml version="1.0" encoding="utf-8"?>
<ds:datastoreItem xmlns:ds="http://schemas.openxmlformats.org/officeDocument/2006/customXml" ds:itemID="{0AC4441F-4E36-4D4F-B220-D0F394AF78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996f19-b754-4f90-98d6-c022be1420b3"/>
    <ds:schemaRef ds:uri="ce774d3a-0da9-40f3-b86d-c9c3902288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E72566-D19C-46FB-9549-7A2AD2EE2DB9}">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http://purl.org/dc/dcmitype/"/>
    <ds:schemaRef ds:uri="http://schemas.microsoft.com/office/infopath/2007/PartnerControls"/>
    <ds:schemaRef ds:uri="80f2d2dc-ae3c-4e56-9f13-486f56384746"/>
    <ds:schemaRef ds:uri="http://www.w3.org/XML/1998/namespace"/>
    <ds:schemaRef ds:uri="237d7031-c013-4976-ba76-21317a5d1e00"/>
    <ds:schemaRef ds:uri="28f9f7f6-4107-470b-ac82-3b7552cf37a6"/>
    <ds:schemaRef ds:uri="30996f19-b754-4f90-98d6-c022be1420b3"/>
    <ds:schemaRef ds:uri="ce774d3a-0da9-40f3-b86d-c9c3902288d7"/>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UpSlideTemplate</Template>
  <TotalTime>8293</TotalTime>
  <Words>22741</Words>
  <Application>Microsoft Macintosh PowerPoint</Application>
  <PresentationFormat>Widescreen</PresentationFormat>
  <Paragraphs>2247</Paragraphs>
  <Slides>82</Slides>
  <Notes>2</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82</vt:i4>
      </vt:variant>
    </vt:vector>
  </HeadingPairs>
  <TitlesOfParts>
    <vt:vector size="88" baseType="lpstr">
      <vt:lpstr>Arial</vt:lpstr>
      <vt:lpstr>KPMG Bold</vt:lpstr>
      <vt:lpstr>Wingdings</vt:lpstr>
      <vt:lpstr>KPMG Widescreen - UpSlide</vt:lpstr>
      <vt:lpstr>UpSlide Table Of Content Master (do not edit)</vt:lpstr>
      <vt:lpstr>think-cell Slide</vt:lpstr>
      <vt:lpstr>Project X </vt:lpstr>
      <vt:lpstr>PowerPoint Presentation</vt:lpstr>
      <vt:lpstr>Contents</vt:lpstr>
      <vt:lpstr>PowerPoint Presentation</vt:lpstr>
      <vt:lpstr>Business overview</vt:lpstr>
      <vt:lpstr>Transaction overview</vt:lpstr>
      <vt:lpstr>Summary financials</vt:lpstr>
      <vt:lpstr>Key financial drivers</vt:lpstr>
      <vt:lpstr>Headlines </vt:lpstr>
      <vt:lpstr>Headlines (2/2)</vt:lpstr>
      <vt:lpstr>Indicative value to equity bridge</vt:lpstr>
      <vt:lpstr>Key findings – Financial</vt:lpstr>
      <vt:lpstr>Key findings – Financial</vt:lpstr>
      <vt:lpstr>Key findings — Financial</vt:lpstr>
      <vt:lpstr>Key findings — Financial</vt:lpstr>
      <vt:lpstr>Key deal considerations</vt:lpstr>
      <vt:lpstr>PowerPoint Presentation</vt:lpstr>
      <vt:lpstr>Profit &amp; loss overview</vt:lpstr>
      <vt:lpstr>Profit &amp; loss overview</vt:lpstr>
      <vt:lpstr>Quality of earnings</vt:lpstr>
      <vt:lpstr>Quality of earnings</vt:lpstr>
      <vt:lpstr>Quality of earnings</vt:lpstr>
      <vt:lpstr>Quality of earnings</vt:lpstr>
      <vt:lpstr>Quality of earnings</vt:lpstr>
      <vt:lpstr>Revenue bridge</vt:lpstr>
      <vt:lpstr>Business drivers — Revenue streams</vt:lpstr>
      <vt:lpstr>Business drivers — Revenue streams</vt:lpstr>
      <vt:lpstr>Business drivers — Revenue streams</vt:lpstr>
      <vt:lpstr>Business drivers — Revenue streams</vt:lpstr>
      <vt:lpstr>Business drivers — Pricing evolution</vt:lpstr>
      <vt:lpstr>Business drivers — Pricing evolution</vt:lpstr>
      <vt:lpstr>EBIT bridge</vt:lpstr>
      <vt:lpstr>Cost breakdown — Cost of sales</vt:lpstr>
      <vt:lpstr>Cost breakdown — Overheads</vt:lpstr>
      <vt:lpstr>Cost breakdown — Overheads</vt:lpstr>
      <vt:lpstr>PowerPoint Presentation</vt:lpstr>
      <vt:lpstr>Forecast overview</vt:lpstr>
      <vt:lpstr>Forecast overview</vt:lpstr>
      <vt:lpstr>Historical forecasting accuracy</vt:lpstr>
      <vt:lpstr>Forecast revenue bridge</vt:lpstr>
      <vt:lpstr>Forecast EBIT bridge</vt:lpstr>
      <vt:lpstr>PowerPoint Presentation</vt:lpstr>
      <vt:lpstr>Balance sheet overview</vt:lpstr>
      <vt:lpstr>Balance sheet overview</vt:lpstr>
      <vt:lpstr>Net working capital — Overview</vt:lpstr>
      <vt:lpstr>Net working capital — Overview</vt:lpstr>
      <vt:lpstr>Net working capital — Overview</vt:lpstr>
      <vt:lpstr>Net working capital - monthly</vt:lpstr>
      <vt:lpstr>Net debt</vt:lpstr>
      <vt:lpstr>Net debt</vt:lpstr>
      <vt:lpstr>Net debt</vt:lpstr>
      <vt:lpstr>Net debt</vt:lpstr>
      <vt:lpstr>PowerPoint Presentation</vt:lpstr>
      <vt:lpstr>Summary cash flow</vt:lpstr>
      <vt:lpstr>PowerPoint Presentation</vt:lpstr>
      <vt:lpstr>Financial reporting environment</vt:lpstr>
      <vt:lpstr>Financial reporting environment</vt:lpstr>
      <vt:lpstr>Financial reporting environment</vt:lpstr>
      <vt:lpstr>PowerPoint Presentation</vt:lpstr>
      <vt:lpstr>PowerPoint Presentation</vt:lpstr>
      <vt:lpstr>Important notice</vt:lpstr>
      <vt:lpstr>Basis of preparation</vt:lpstr>
      <vt:lpstr>Scope of work</vt:lpstr>
      <vt:lpstr>Scope of work</vt:lpstr>
      <vt:lpstr>Scope of work</vt:lpstr>
      <vt:lpstr>Data Integrity</vt:lpstr>
      <vt:lpstr>Statutory reconciliations FY21</vt:lpstr>
      <vt:lpstr>Statutory reconciliations FY22</vt:lpstr>
      <vt:lpstr>Net asset roll forward and items below EBITDA (1/2)</vt:lpstr>
      <vt:lpstr>Net asset roll forward and items below EBITDA (2/2)</vt:lpstr>
      <vt:lpstr>Related party remuneration &amp; family expenses add back</vt:lpstr>
      <vt:lpstr>Balance sheet breakdowns</vt:lpstr>
      <vt:lpstr>Fixed assets</vt:lpstr>
      <vt:lpstr>Stock (1/2)</vt:lpstr>
      <vt:lpstr>Stock (2/2)</vt:lpstr>
      <vt:lpstr>Trade debtors</vt:lpstr>
      <vt:lpstr>Prepayments and accrued income</vt:lpstr>
      <vt:lpstr>Trade creditors</vt:lpstr>
      <vt:lpstr>Accruals and deferred income</vt:lpstr>
      <vt:lpstr>PowerPoint Presentation</vt:lpstr>
      <vt:lpstr>Glossary of terms and abbreviations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UpSlide x Diligence +</dc:title>
  <dc:creator>tdorrington</dc:creator>
  <cp:lastModifiedBy>Sharma, Rishi</cp:lastModifiedBy>
  <cp:revision>20</cp:revision>
  <dcterms:created xsi:type="dcterms:W3CDTF">2023-02-20T10:19:27Z</dcterms:created>
  <dcterms:modified xsi:type="dcterms:W3CDTF">2026-01-12T18:09:59Z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y fmtid="{D5CDD505-2E9C-101B-9397-08002B2CF9AE}" pid="4" name="KPMG_LayoutGrid">
    <vt:lpwstr>0</vt:lpwstr>
  </property>
</Properties>
</file>