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image" Target="../media/image-1002-2.sv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image" Target="../media/image-1003-2.png"/><Relationship Id="rId3" Type="http://schemas.openxmlformats.org/officeDocument/2006/relationships/image" Target="../media/image-1003-3.svg"/><Relationship Id="rId4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5-1.png"/><Relationship Id="rId2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6-1.png"/><Relationship Id="rId2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8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PMG_WHIT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rishi/Code/ai-tools/workspace/.agents/skills/kpmg-slides/assets/slidegen/templates/kpmg-diligence/assets/kpmg-logo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03097" y="6267298"/>
            <a:ext cx="483718" cy="19659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885493" y="6267298"/>
            <a:ext cx="6343193" cy="1847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2026 KPMG LLP, a Ontario limited liability partnership and a member firm of the KPMG global organization of independent member firms affiliated with KPMG International Limited, a private English company limited by guarantee. All rights reserved.</a:t>
            </a:r>
            <a:endParaRPr lang="en-US" sz="600" dirty="0"/>
          </a:p>
        </p:txBody>
      </p:sp>
      <p:sp>
        <p:nvSpPr>
          <p:cNvPr id="4" name="Text 1"/>
          <p:cNvSpPr/>
          <p:nvPr/>
        </p:nvSpPr>
        <p:spPr>
          <a:xfrm>
            <a:off x="8967521" y="6267298"/>
            <a:ext cx="1866290" cy="9235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 Classification: KPMG Confidential</a:t>
            </a:r>
            <a:endParaRPr lang="en-US" sz="600" dirty="0"/>
          </a:p>
        </p:txBody>
      </p:sp>
      <p:sp>
        <p:nvSpPr>
          <p:cNvPr id="5" name="Shape 2"/>
          <p:cNvSpPr/>
          <p:nvPr/>
        </p:nvSpPr>
        <p:spPr>
          <a:xfrm>
            <a:off x="10874045" y="6267298"/>
            <a:ext cx="0" cy="149047"/>
          </a:xfrm>
          <a:prstGeom prst="line">
            <a:avLst/>
          </a:prstGeom>
          <a:noFill/>
          <a:ln w="12700">
            <a:solidFill>
              <a:srgbClr val="1E49E2"/>
            </a:solidFill>
            <a:prstDash val="solid"/>
          </a:ln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PMG_SUMMAR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rishi/Code/ai-tools/workspace/.agents/skills/kpmg-slides/assets/slidegen/templates/kpmg-diligence/assets/gradient_accent_chip_300dp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534242" y="103327"/>
            <a:ext cx="222199" cy="222199"/>
          </a:xfrm>
          <a:prstGeom prst="rect">
            <a:avLst/>
          </a:prstGeom>
        </p:spPr>
      </p:pic>
      <p:pic>
        <p:nvPicPr>
          <p:cNvPr id="3" name="Image 1" descr="/Users/rishi/Code/ai-tools/workspace/.agents/skills/kpmg-slides/assets/slidegen/templates/kpmg-diligence/assets/kpmg-logo.sv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03097" y="6267298"/>
            <a:ext cx="483718" cy="196596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885493" y="6267298"/>
            <a:ext cx="6343193" cy="1847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2026 KPMG LLP, a Ontario limited liability partnership and a member firm of the KPMG global organization of independent member firms affiliated with KPMG International Limited, a private English company limited by guarantee. All rights reserved.</a:t>
            </a:r>
            <a:endParaRPr lang="en-US" sz="600" dirty="0"/>
          </a:p>
        </p:txBody>
      </p:sp>
      <p:sp>
        <p:nvSpPr>
          <p:cNvPr id="5" name="Text 1"/>
          <p:cNvSpPr/>
          <p:nvPr/>
        </p:nvSpPr>
        <p:spPr>
          <a:xfrm>
            <a:off x="8967521" y="6267298"/>
            <a:ext cx="1866290" cy="9235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 Classification: KPMG Confidential</a:t>
            </a:r>
            <a:endParaRPr lang="en-US" sz="600" dirty="0"/>
          </a:p>
        </p:txBody>
      </p:sp>
      <p:sp>
        <p:nvSpPr>
          <p:cNvPr id="6" name="Shape 2"/>
          <p:cNvSpPr/>
          <p:nvPr/>
        </p:nvSpPr>
        <p:spPr>
          <a:xfrm>
            <a:off x="10874045" y="6267298"/>
            <a:ext cx="0" cy="149047"/>
          </a:xfrm>
          <a:prstGeom prst="line">
            <a:avLst/>
          </a:prstGeom>
          <a:noFill/>
          <a:ln w="12700">
            <a:solidFill>
              <a:srgbClr val="1E49E2"/>
            </a:solidFill>
            <a:prstDash val="solid"/>
          </a:ln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PMG_COVER">
    <p:bg>
      <p:bgPr>
        <a:solidFill>
          <a:srgbClr val="1E49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PMG_SECTION_DARK">
    <p:bg>
      <p:bgPr>
        <a:solidFill>
          <a:srgbClr val="1E49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rishi/Code/ai-tools/workspace/.agents/skills/kpmg-slides/assets/slidegen/templates/kpmg-diligence/assets/gradient_divider_window_300dp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8525" y="975665"/>
            <a:ext cx="7061911" cy="490575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PMG_SECTION">
    <p:bg>
      <p:bgPr>
        <a:solidFill>
          <a:srgbClr val="1E49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rishi/Code/ai-tools/workspace/.agents/skills/kpmg-slides/assets/slidegen/templates/kpmg-diligence/assets/gradient_divider_window_300dp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8525" y="975665"/>
            <a:ext cx="7061911" cy="490575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PMG_SECTION_LIGH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PMG_CLOSING">
    <p:bg>
      <p:bgPr>
        <a:solidFill>
          <a:srgbClr val="1E49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rishi/Code/ai-tools/workspace/.agents/skills/kpmg-slides/assets/slidegen/templates/kpmg-diligence/assets/gradient_back_cover_300dp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jpe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8.xml"/><Relationship Id="rId8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KPMG log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8476" y="371311"/>
            <a:ext cx="914400" cy="36834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98478" y="1456388"/>
            <a:ext cx="3697810" cy="34277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Apple</a:t>
            </a:r>
            <a:endParaRPr lang="en-US" sz="6600" dirty="0"/>
          </a:p>
          <a:p>
            <a:pPr algn="l" indent="0" marL="0">
              <a:buNone/>
            </a:pPr>
            <a:r>
              <a:rPr lang="en-US" sz="6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6600" dirty="0"/>
          </a:p>
          <a:p>
            <a:pPr algn="l" indent="0" marL="0">
              <a:buNone/>
            </a:pPr>
            <a:r>
              <a:rPr lang="en-US" sz="6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overview</a:t>
            </a:r>
            <a:endParaRPr lang="en-US" sz="6600" dirty="0"/>
          </a:p>
        </p:txBody>
      </p:sp>
      <p:sp>
        <p:nvSpPr>
          <p:cNvPr id="4" name="Text 1"/>
          <p:cNvSpPr/>
          <p:nvPr/>
        </p:nvSpPr>
        <p:spPr>
          <a:xfrm>
            <a:off x="998478" y="5007010"/>
            <a:ext cx="3697810" cy="81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Diligence-style company profile and assumed perimeter overview</a:t>
            </a:r>
            <a:endParaRPr lang="en-US" sz="1400" dirty="0"/>
          </a:p>
        </p:txBody>
      </p:sp>
      <p:pic>
        <p:nvPicPr>
          <p:cNvPr id="5" name="Image 1" descr="Cover photograph">    </p:cNvPr>
          <p:cNvPicPr>
            <a:picLocks noChangeAspect="1"/>
          </p:cNvPicPr>
          <p:nvPr/>
        </p:nvPicPr>
        <p:blipFill>
          <a:blip r:embed="rId2"/>
          <a:srcRect l="4986" r="4986" t="0" b="0"/>
          <a:stretch/>
        </p:blipFill>
        <p:spPr>
          <a:xfrm>
            <a:off x="4915965" y="1456388"/>
            <a:ext cx="6283848" cy="436499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8433" y="431780"/>
            <a:ext cx="10195194" cy="533370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Apple operates an integrated ecosystem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995324" y="1179485"/>
            <a:ext cx="5669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E49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Illustrative perimeter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949440" y="1179485"/>
            <a:ext cx="42245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E49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Overview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923544" y="1517904"/>
            <a:ext cx="5806440" cy="269748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D349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14984" y="1572768"/>
            <a:ext cx="56235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Assumed perimeter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14984" y="1728216"/>
            <a:ext cx="56235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Consolidated Apple business; no carve-outs assumed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033272" y="1975104"/>
            <a:ext cx="2729484" cy="347472"/>
          </a:xfrm>
          <a:prstGeom prst="rect">
            <a:avLst/>
          </a:prstGeom>
          <a:solidFill>
            <a:srgbClr val="1E49E2"/>
          </a:solidFill>
          <a:ln w="12700">
            <a:solidFill>
              <a:srgbClr val="1E49E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78992" y="2002536"/>
            <a:ext cx="26380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Apple Inc.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890772" y="1975104"/>
            <a:ext cx="2729484" cy="347472"/>
          </a:xfrm>
          <a:prstGeom prst="rect">
            <a:avLst/>
          </a:prstGeom>
          <a:solidFill>
            <a:srgbClr val="1E49E2"/>
          </a:solidFill>
          <a:ln w="12700">
            <a:solidFill>
              <a:srgbClr val="1E49E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936492" y="2002536"/>
            <a:ext cx="26380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Assumed FDD perimeter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1033272" y="2999232"/>
            <a:ext cx="5586984" cy="530352"/>
          </a:xfrm>
          <a:prstGeom prst="rect">
            <a:avLst/>
          </a:prstGeom>
          <a:solidFill>
            <a:srgbClr val="1E49E2"/>
          </a:solidFill>
          <a:ln w="12700">
            <a:solidFill>
              <a:srgbClr val="1E49E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78992" y="3026664"/>
            <a:ext cx="54955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Consolidated Apple business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1033272" y="3666744"/>
            <a:ext cx="1776984" cy="438912"/>
          </a:xfrm>
          <a:prstGeom prst="rect">
            <a:avLst/>
          </a:prstGeom>
          <a:solidFill>
            <a:srgbClr val="1E49E2"/>
          </a:solidFill>
          <a:ln w="12700">
            <a:solidFill>
              <a:srgbClr val="1E49E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78992" y="3694176"/>
            <a:ext cx="16855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938272" y="3666744"/>
            <a:ext cx="1776984" cy="438912"/>
          </a:xfrm>
          <a:prstGeom prst="rect">
            <a:avLst/>
          </a:prstGeom>
          <a:solidFill>
            <a:srgbClr val="1E49E2"/>
          </a:solidFill>
          <a:ln w="12700">
            <a:solidFill>
              <a:srgbClr val="1E49E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983992" y="3694176"/>
            <a:ext cx="16855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843272" y="3666744"/>
            <a:ext cx="1776984" cy="438912"/>
          </a:xfrm>
          <a:prstGeom prst="rect">
            <a:avLst/>
          </a:prstGeom>
          <a:solidFill>
            <a:srgbClr val="1E49E2"/>
          </a:solidFill>
          <a:ln w="12700">
            <a:solidFill>
              <a:srgbClr val="1E49E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88992" y="3694176"/>
            <a:ext cx="16855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Distribution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398014" y="2322576"/>
            <a:ext cx="0" cy="304495"/>
          </a:xfrm>
          <a:prstGeom prst="line">
            <a:avLst/>
          </a:prstGeom>
          <a:noFill/>
          <a:ln w="12700">
            <a:solidFill>
              <a:srgbClr val="00338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398014" y="2627071"/>
            <a:ext cx="1428750" cy="0"/>
          </a:xfrm>
          <a:prstGeom prst="line">
            <a:avLst/>
          </a:prstGeom>
          <a:noFill/>
          <a:ln w="12700">
            <a:solidFill>
              <a:srgbClr val="00338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826764" y="2627071"/>
            <a:ext cx="0" cy="372161"/>
          </a:xfrm>
          <a:prstGeom prst="line">
            <a:avLst/>
          </a:prstGeom>
          <a:noFill/>
          <a:ln w="12700">
            <a:solidFill>
              <a:srgbClr val="00338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255514" y="2322576"/>
            <a:ext cx="0" cy="304495"/>
          </a:xfrm>
          <a:prstGeom prst="line">
            <a:avLst/>
          </a:prstGeom>
          <a:noFill/>
          <a:ln w="12700">
            <a:solidFill>
              <a:srgbClr val="00338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826764" y="2627071"/>
            <a:ext cx="1428750" cy="0"/>
          </a:xfrm>
          <a:prstGeom prst="line">
            <a:avLst/>
          </a:prstGeom>
          <a:noFill/>
          <a:ln w="12700">
            <a:solidFill>
              <a:srgbClr val="00338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826764" y="2627071"/>
            <a:ext cx="0" cy="372161"/>
          </a:xfrm>
          <a:prstGeom prst="line">
            <a:avLst/>
          </a:prstGeom>
          <a:noFill/>
          <a:ln w="12700">
            <a:solidFill>
              <a:srgbClr val="00338D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826764" y="3529584"/>
            <a:ext cx="0" cy="61722"/>
          </a:xfrm>
          <a:prstGeom prst="line">
            <a:avLst/>
          </a:prstGeom>
          <a:noFill/>
          <a:ln w="12700">
            <a:solidFill>
              <a:srgbClr val="00338D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921764" y="3591306"/>
            <a:ext cx="1905000" cy="0"/>
          </a:xfrm>
          <a:prstGeom prst="line">
            <a:avLst/>
          </a:prstGeom>
          <a:noFill/>
          <a:ln w="12700">
            <a:solidFill>
              <a:srgbClr val="00338D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921764" y="3591306"/>
            <a:ext cx="0" cy="75438"/>
          </a:xfrm>
          <a:prstGeom prst="line">
            <a:avLst/>
          </a:prstGeom>
          <a:noFill/>
          <a:ln w="12700">
            <a:solidFill>
              <a:srgbClr val="00338D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826764" y="3529584"/>
            <a:ext cx="0" cy="61722"/>
          </a:xfrm>
          <a:prstGeom prst="line">
            <a:avLst/>
          </a:prstGeom>
          <a:noFill/>
          <a:ln w="12700">
            <a:solidFill>
              <a:srgbClr val="00338D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826764" y="3591306"/>
            <a:ext cx="0" cy="0"/>
          </a:xfrm>
          <a:prstGeom prst="line">
            <a:avLst/>
          </a:prstGeom>
          <a:noFill/>
          <a:ln w="12700">
            <a:solidFill>
              <a:srgbClr val="00338D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826764" y="3591306"/>
            <a:ext cx="0" cy="75438"/>
          </a:xfrm>
          <a:prstGeom prst="line">
            <a:avLst/>
          </a:prstGeom>
          <a:noFill/>
          <a:ln w="12700">
            <a:solidFill>
              <a:srgbClr val="00338D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826764" y="3529584"/>
            <a:ext cx="0" cy="61722"/>
          </a:xfrm>
          <a:prstGeom prst="line">
            <a:avLst/>
          </a:prstGeom>
          <a:noFill/>
          <a:ln w="12700">
            <a:solidFill>
              <a:srgbClr val="00338D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826764" y="3591306"/>
            <a:ext cx="1905000" cy="0"/>
          </a:xfrm>
          <a:prstGeom prst="line">
            <a:avLst/>
          </a:prstGeom>
          <a:noFill/>
          <a:ln w="12700">
            <a:solidFill>
              <a:srgbClr val="00338D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731764" y="3591306"/>
            <a:ext cx="0" cy="75438"/>
          </a:xfrm>
          <a:prstGeom prst="line">
            <a:avLst/>
          </a:prstGeom>
          <a:noFill/>
          <a:ln w="12700">
            <a:solidFill>
              <a:srgbClr val="00338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949440" y="1517904"/>
            <a:ext cx="4224528" cy="4352544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>
            <a:normAutofit/>
          </a:bodyPr>
          <a:lstStyle/>
          <a:p>
            <a:pPr marL="226800" indent="-226800">
              <a:lnSpc>
                <a:spcPts val="12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Apple designs, manufactures, and sells consumer devices, software, and related services through an integrated hardware-and-platform model, with revenue led by branded device sales and iPhone historically the largest category.</a:t>
            </a:r>
            <a:endParaRPr lang="en-US" sz="1000" dirty="0"/>
          </a:p>
          <a:p>
            <a:pPr marL="226800" indent="-226800">
              <a:lnSpc>
                <a:spcPts val="12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Services monetizes the installed base through digital content, cloud, warranties, advertising, payment-related offerings, and subscriptions, creating recurring revenue alongside hardware cycles.</a:t>
            </a:r>
            <a:endParaRPr lang="en-US" sz="1000" dirty="0"/>
          </a:p>
          <a:p>
            <a:pPr marL="226800" indent="-226800">
              <a:lnSpc>
                <a:spcPts val="12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model is vertically integrated:</a:t>
            </a:r>
            <a:pPr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Apple controls product design, operating systems, key software layers, and significant elements of distribution, supporting ecosystem retention and premium pricing.</a:t>
            </a:r>
            <a:endParaRPr lang="en-US" sz="1000" dirty="0"/>
          </a:p>
          <a:p>
            <a:pPr marL="226800" indent="-226800">
              <a:lnSpc>
                <a:spcPts val="12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 depends on launch cadence, upgrade cycles, services attach rates, global supply-chain execution, and continued operation of Apple-controlled distribution and developer channels.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1006572" y="5992978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" i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Prepared from general knowledge only; no current-period web-sourced data included.</a:t>
            </a:r>
            <a:endParaRPr lang="en-US" sz="600" dirty="0"/>
          </a:p>
        </p:txBody>
      </p:sp>
      <p:sp>
        <p:nvSpPr>
          <p:cNvPr id="37" name="Text 35"/>
          <p:cNvSpPr/>
          <p:nvPr/>
        </p:nvSpPr>
        <p:spPr>
          <a:xfrm>
            <a:off x="10946282" y="6267298"/>
            <a:ext cx="242316" cy="149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KPMG log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8476" y="371311"/>
            <a:ext cx="914400" cy="368346"/>
          </a:xfrm>
          <a:prstGeom prst="rect">
            <a:avLst/>
          </a:prstGeom>
        </p:spPr>
      </p:pic>
      <p:pic>
        <p:nvPicPr>
          <p:cNvPr id="3" name="Image 1" descr="Social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696" y="5394960"/>
            <a:ext cx="329184" cy="329184"/>
          </a:xfrm>
          <a:prstGeom prst="rect">
            <a:avLst/>
          </a:prstGeom>
        </p:spPr>
      </p:pic>
      <p:pic>
        <p:nvPicPr>
          <p:cNvPr id="4" name="Image 2" descr="Social 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9888" y="5394960"/>
            <a:ext cx="329184" cy="329184"/>
          </a:xfrm>
          <a:prstGeom prst="rect">
            <a:avLst/>
          </a:prstGeom>
        </p:spPr>
      </p:pic>
      <p:pic>
        <p:nvPicPr>
          <p:cNvPr id="5" name="Image 3" descr="Social ic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83080" y="5394960"/>
            <a:ext cx="329184" cy="329184"/>
          </a:xfrm>
          <a:prstGeom prst="rect">
            <a:avLst/>
          </a:prstGeom>
        </p:spPr>
      </p:pic>
      <p:pic>
        <p:nvPicPr>
          <p:cNvPr id="6" name="Image 4" descr="Social icon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76272" y="5394960"/>
            <a:ext cx="329184" cy="329184"/>
          </a:xfrm>
          <a:prstGeom prst="rect">
            <a:avLst/>
          </a:prstGeom>
        </p:spPr>
      </p:pic>
      <p:pic>
        <p:nvPicPr>
          <p:cNvPr id="7" name="Image 5" descr="Social icon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69464" y="5394960"/>
            <a:ext cx="329184" cy="329184"/>
          </a:xfrm>
          <a:prstGeom prst="rect">
            <a:avLst/>
          </a:prstGeom>
        </p:spPr>
      </p:pic>
      <p:sp>
        <p:nvSpPr>
          <p:cNvPr id="8" name="Text 0"/>
          <p:cNvSpPr/>
          <p:nvPr/>
        </p:nvSpPr>
        <p:spPr>
          <a:xfrm>
            <a:off x="996696" y="5897880"/>
            <a:ext cx="9738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2026 KPMG LLP, an Ontario limited liability partnership and a member firm of the KPMG global organization of independent member firms affiliated with KPMG International Limited is a private English company limited by guarantee and does not provide services to clients. For more detail about our structure please visit kpmg.com/governance.</a:t>
            </a:r>
            <a:endParaRPr lang="en-US" sz="900" dirty="0"/>
          </a:p>
        </p:txBody>
      </p:sp>
      <p:sp>
        <p:nvSpPr>
          <p:cNvPr id="9" name="Text 1"/>
          <p:cNvSpPr/>
          <p:nvPr/>
        </p:nvSpPr>
        <p:spPr>
          <a:xfrm>
            <a:off x="996696" y="6327648"/>
            <a:ext cx="9601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KPMG name and logo are trademarks used under license by the independent member firms of the KPMG global organization.</a:t>
            </a:r>
            <a:endParaRPr lang="en-US" sz="800" dirty="0"/>
          </a:p>
        </p:txBody>
      </p:sp>
      <p:sp>
        <p:nvSpPr>
          <p:cNvPr id="10" name="Text 2"/>
          <p:cNvSpPr/>
          <p:nvPr/>
        </p:nvSpPr>
        <p:spPr>
          <a:xfrm>
            <a:off x="996696" y="6729984"/>
            <a:ext cx="32004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 Classification: KPMG Confidential</a:t>
            </a:r>
            <a:endParaRPr lang="en-US" sz="800" dirty="0"/>
          </a:p>
        </p:txBody>
      </p:sp>
      <p:sp>
        <p:nvSpPr>
          <p:cNvPr id="11" name="Text 3"/>
          <p:cNvSpPr/>
          <p:nvPr/>
        </p:nvSpPr>
        <p:spPr>
          <a:xfrm>
            <a:off x="996696" y="6565392"/>
            <a:ext cx="2103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www.kpmg.com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KPMG LLP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Apple business overview</dc:title>
  <dc:subject>Apple qualitative business overview</dc:subject>
  <dc:creator>KPMG LLP</dc:creator>
  <cp:lastModifiedBy>KPMG LLP</cp:lastModifiedBy>
  <cp:revision>1</cp:revision>
  <dcterms:created xsi:type="dcterms:W3CDTF">2026-03-06T21:41:55Z</dcterms:created>
  <dcterms:modified xsi:type="dcterms:W3CDTF">2026-03-06T21:41:55Z</dcterms:modified>
</cp:coreProperties>
</file>