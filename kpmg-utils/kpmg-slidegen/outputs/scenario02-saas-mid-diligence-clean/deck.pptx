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</c:v>
                </c:pt>
                <c:pt idx="1">
                  <c:v>83.2</c:v>
                </c:pt>
                <c:pt idx="2">
                  <c:v>105.1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(%)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73.2</c:v>
                </c:pt>
                <c:pt idx="1">
                  <c:v>73.2</c:v>
                </c:pt>
                <c:pt idx="2">
                  <c:v>73.2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 by plan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511</c:v>
                </c:pt>
                <c:pt idx="1">
                  <c:v>484</c:v>
                </c:pt>
                <c:pt idx="2">
                  <c:v>578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MRR by plan ($000)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Professional</c:v>
                  </c:pt>
                  <c:pt idx="2">
                    <c:v>Enterprise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64.3</c:v>
                </c:pt>
                <c:pt idx="1">
                  <c:v>287.2</c:v>
                </c:pt>
                <c:pt idx="2">
                  <c:v>3184.6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Year-end ARR ($M)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80.5</c:v>
                </c:pt>
                <c:pt idx="1">
                  <c:v>101.2</c:v>
                </c:pt>
                <c:pt idx="2">
                  <c:v>135.2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Active customers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562</c:v>
                </c:pt>
                <c:pt idx="1">
                  <c:v>1102</c:v>
                </c:pt>
                <c:pt idx="2">
                  <c:v>1649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MRR per customer ($)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2023-12</c:v>
                  </c:pt>
                  <c:pt idx="1">
                    <c:v>2024-12</c:v>
                  </c:pt>
                  <c:pt idx="2">
                    <c:v>2025-12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11934</c:v>
                </c:pt>
                <c:pt idx="1">
                  <c:v>7649</c:v>
                </c:pt>
                <c:pt idx="2">
                  <c:v>6832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MRR ($000)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234.5</c:v>
                </c:pt>
                <c:pt idx="1">
                  <c:v>164.7</c:v>
                </c:pt>
                <c:pt idx="2">
                  <c:v>337.5</c:v>
                </c:pt>
                <c:pt idx="3">
                  <c:v>242.5</c:v>
                </c:pt>
                <c:pt idx="4">
                  <c:v>249.8</c:v>
                </c:pt>
                <c:pt idx="5">
                  <c:v>266.7</c:v>
                </c:pt>
                <c:pt idx="6">
                  <c:v>259.9</c:v>
                </c:pt>
                <c:pt idx="7">
                  <c:v>275.1</c:v>
                </c:pt>
                <c:pt idx="8">
                  <c:v>259.5</c:v>
                </c:pt>
                <c:pt idx="9">
                  <c:v>617.4</c:v>
                </c:pt>
                <c:pt idx="10">
                  <c:v>406.6</c:v>
                </c:pt>
                <c:pt idx="11">
                  <c:v>462.8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 MRR ($000)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124.8</c:v>
                </c:pt>
                <c:pt idx="1">
                  <c:v>54.5</c:v>
                </c:pt>
                <c:pt idx="2">
                  <c:v>172.2</c:v>
                </c:pt>
                <c:pt idx="3">
                  <c:v>100.6</c:v>
                </c:pt>
                <c:pt idx="4">
                  <c:v>91.4</c:v>
                </c:pt>
                <c:pt idx="5">
                  <c:v>202.3</c:v>
                </c:pt>
                <c:pt idx="6">
                  <c:v>98</c:v>
                </c:pt>
                <c:pt idx="7">
                  <c:v>87.4</c:v>
                </c:pt>
                <c:pt idx="8">
                  <c:v>278.9</c:v>
                </c:pt>
                <c:pt idx="9">
                  <c:v>170.1</c:v>
                </c:pt>
                <c:pt idx="10">
                  <c:v>256.1</c:v>
                </c:pt>
                <c:pt idx="11">
                  <c:v>269.7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Expansion MRR ($000)</c:v>
                </c:pt>
              </c:strCache>
            </c:strRef>
          </c:tx>
          <c:spPr>
            <a:solidFill>
              <a:srgbClr val="00B8F5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B8F5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Q1-23</c:v>
                  </c:pt>
                  <c:pt idx="1">
                    <c:v>Q2-23</c:v>
                  </c:pt>
                  <c:pt idx="2">
                    <c:v>Q3-23</c:v>
                  </c:pt>
                  <c:pt idx="3">
                    <c:v>Q4-23</c:v>
                  </c:pt>
                  <c:pt idx="4">
                    <c:v>Q1-24</c:v>
                  </c:pt>
                  <c:pt idx="5">
                    <c:v>Q2-24</c:v>
                  </c:pt>
                  <c:pt idx="6">
                    <c:v>Q3-24</c:v>
                  </c:pt>
                  <c:pt idx="7">
                    <c:v>Q4-24</c:v>
                  </c:pt>
                  <c:pt idx="8">
                    <c:v>Q1-25</c:v>
                  </c:pt>
                  <c:pt idx="9">
                    <c:v>Q2-25</c:v>
                  </c:pt>
                  <c:pt idx="10">
                    <c:v>Q3-25</c:v>
                  </c:pt>
                  <c:pt idx="11">
                    <c:v>Q4-25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132.1</c:v>
                </c:pt>
                <c:pt idx="1">
                  <c:v>107.9</c:v>
                </c:pt>
                <c:pt idx="2">
                  <c:v>71.4</c:v>
                </c:pt>
                <c:pt idx="3">
                  <c:v>73</c:v>
                </c:pt>
                <c:pt idx="4">
                  <c:v>69.6</c:v>
                </c:pt>
                <c:pt idx="5">
                  <c:v>163.7</c:v>
                </c:pt>
                <c:pt idx="6">
                  <c:v>170.6</c:v>
                </c:pt>
                <c:pt idx="7">
                  <c:v>115.7</c:v>
                </c:pt>
                <c:pt idx="8">
                  <c:v>180.9</c:v>
                </c:pt>
                <c:pt idx="9">
                  <c:v>112.3</c:v>
                </c:pt>
                <c:pt idx="10">
                  <c:v>263.4</c:v>
                </c:pt>
                <c:pt idx="11">
                  <c:v>229.1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00338D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00338D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64.7</c:v>
                </c:pt>
                <c:pt idx="1">
                  <c:v>83.2</c:v>
                </c:pt>
                <c:pt idx="2">
                  <c:v>105.1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 ($M)</c:v>
                </c:pt>
              </c:strCache>
            </c:strRef>
          </c:tx>
          <c:spPr>
            <a:solidFill>
              <a:srgbClr val="1E49E2"/>
            </a:solidFill>
            <a:ln w="635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spPr>
              <a:solidFill>
                <a:srgbClr val="1E49E2"/>
              </a:solidFill>
            </c:spPr>
            <c:txPr>
              <a:bodyPr/>
              <a:lstStyle/>
              <a:p>
                <a:pPr>
                  <a:defRPr b="0" i="0" strike="noStrike" sz="7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47.3</c:v>
                </c:pt>
                <c:pt idx="1">
                  <c:v>60.9</c:v>
                </c:pt>
                <c:pt idx="2">
                  <c:v>76.9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Operating margin (%)</c:v>
                </c:pt>
              </c:strCache>
            </c:strRef>
          </c:tx>
          <c:spPr>
            <a:solidFill>
              <a:srgbClr val="00338D"/>
            </a:solidFill>
            <a:ln w="25400" cap="flat">
              <a:solidFill>
                <a:srgbClr val="00338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338D"/>
              </a:solidFill>
              <a:ln w="9525" cap="flat">
                <a:solidFill>
                  <a:srgbClr val="00338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15.9</c:v>
                </c:pt>
                <c:pt idx="1">
                  <c:v>13.2</c:v>
                </c:pt>
                <c:pt idx="2">
                  <c:v>14.9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margin (%)</c:v>
                </c:pt>
              </c:strCache>
            </c:strRef>
          </c:tx>
          <c:spPr>
            <a:solidFill>
              <a:srgbClr val="1E49E2"/>
            </a:solidFill>
            <a:ln w="25400" cap="flat">
              <a:solidFill>
                <a:srgbClr val="1E49E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49E2"/>
              </a:solidFill>
              <a:ln w="9525" cap="flat">
                <a:solidFill>
                  <a:srgbClr val="1E49E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15.9</c:v>
                </c:pt>
                <c:pt idx="1">
                  <c:v>13.2</c:v>
                </c:pt>
                <c:pt idx="2">
                  <c:v>14.9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verification_report.json, income_statement.xlsx, mrr_analysis.xlsx, nwc_schedule.xlsx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ar_aging.xlsx, ap_aging.xlsx, nwc_schedule.xlsx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183880" y="6267298"/>
            <a:ext cx="749808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kpmg.com/ca</a:t>
            </a:r>
            <a:endParaRPr lang="en-US" sz="600" dirty="0"/>
          </a:p>
        </p:txBody>
      </p:sp>
      <p:sp>
        <p:nvSpPr>
          <p:cNvPr id="6" name="Text 2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7" name="Shape 3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hyperlink" Target="https://kpmg.com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PartyThrow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Tech: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diligence storyline for simulated EdTech target, period covered January 2023 to December 2025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5782" y="431597"/>
            <a:ext cx="10191628" cy="565191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782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95782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5782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5782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2-3)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95782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say about investment quality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growth quality is good but not risk free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68361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3068361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8361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Product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8361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4-5)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8361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in EdTech SaaS and packaging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design supports upsell path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40940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5140940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40940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Quality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40940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6-8)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40940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and customer trend evidence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MRR durability and churn pressure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13519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7213519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3519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13519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9-11)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213519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Margins, operating leverage, and cash conversion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working capital discipline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86098" y="1261872"/>
            <a:ext cx="190798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9286098" y="1737360"/>
            <a:ext cx="502920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86098" y="1783080"/>
            <a:ext cx="190798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Recommendations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6098" y="2020824"/>
            <a:ext cx="19079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(p. 12-13)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86098" y="2286000"/>
            <a:ext cx="1907987" cy="112471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diligence risks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100-day actions and next-step asks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scaled 27.5% CAGR with margin resilience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Top-line expansion and stable gross margin indicate a scalable software model, with operating margin recovery visible in 2025.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expanded from $64.7M in 2023 to $105.1M in 2025, implying 27.5% CAGR across the observed period and sustained demand momentum.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 remained 73.2% in each year, suggesting limited gross margin dilution as the company scaled customer and ARR volume.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dipped to 13.2% in 2024 during growth investment then recovered to 14.9% in 2025, indicating emerging operating discipline.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baseline case supports a quality-growth narrative if churn and working-capital volatility are contained in underwriting assumptions.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 (2023-2025)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 is attractive with clear watchouts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thesis is growth at scale with strong software margins, balanced by concentration of execution risks in churn and QoE items.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 is attractive with clear watchouts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Read-through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Diligence 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 trajectory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+62.5% (2023-2025)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and GTM execution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engine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ARR $80.5M to $135.2M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Contracted base improving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profile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margin 73.2% each year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SaaS economics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 pressure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 customer losses, -$8.0M impact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Potential growth volatility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QoE complexity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flagged QoE issues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Normalization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Watchout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strengths support the investment case, but quality of growth remains sensitive to retention outcomes and EBITDA normalization assumptions.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should include churn downside and explicit QoE adjustments before valuation and leverage are finalized.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verification_report.json, income_statement.xlsx, mrr_analysis.xlsx, nwc_schedule.xlsx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and Product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 positioning supports continued expansion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is positioned as a mid-market cloud platform with a credible path to grow share through product depth and enterprise motion.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context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PartyThrow Tech operates in the EdTech software segment where buyers prioritize reliability, integration quality, and measurable learning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has built a base of 1,834 customers with growth milestones since launch, indicating product-market fit beyond early adopter cohorts.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posture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positioning is strongest in mid-market accounts where the platform offers meaningful functionality at lower complexity than large-suite alternatives.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momentum suggests room to move up-market if implementation quality and customer success coverage stay aligned to higher-contract accounts.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narrative supports upside, but diligence should validate win-loss dynamics and pipeline conversion assumptions by segment before value creation planning.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company_seed.json, cim.md, customer_master.xlsx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packaging enables land-and-expand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7587923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architecture offers clear entry, growth, and enterprise tiers, which supports segmentation and staged upsell motions.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84"/>
            <a:ext cx="10192299" cy="252000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8513" y="1769872"/>
            <a:ext cx="10045995" cy="2520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packaging and list pricing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3978688"/>
          <a:ext cx="5036400" cy="2197170"/>
        </p:xfrm>
        <a:graphic>
          <a:graphicData uri="http://schemas.openxmlformats.org/drawingml/2006/table">
            <a:tbl>
              <a:tblPr/>
              <a:tblGrid>
                <a:gridCol w="1527694"/>
                <a:gridCol w="940518"/>
                <a:gridCol w="940518"/>
                <a:gridCol w="162766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Price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Price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Entry and pilot buyers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Professional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 accounts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Enterprise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$9,990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Scaled institutions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159600" y="2058448"/>
            <a:ext cx="5033848" cy="18288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Starter, Professional, and Enterprise plans create a natural progression path that can support both SMB acquisition and upmarket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active subscriptions skew to enterprise count and MRR in the simulated dataset, which boosts scale but can raise concentration sensitivity.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monthly prices of $99, $299, and $999 create clear value ladders, making packaging understandable for sales and finance forecasting.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creation should focus on expansion playbooks and retention controls to protect enterprise-heavy recurring revenue streams.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95361" y="2058448"/>
          <a:ext cx="50364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995361" y="3932968"/>
            <a:ext cx="503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subscription_register.xlsx (active status)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Quality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 reached $135.2M with sustained momentum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recurring revenue increased each year, supporting a durable growth narrative at the topline recurring level.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Year-end ARR increased from $80.5M in 2023 to $101.2M in 2024 and $135.2M in 2025, reflecting broad recurring base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absolute increase occurred in 2025, showing acceleration despite known churn events and prior investment-cycle variability.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revenue growth remained ahead of fixed overhead growth, which supports the case for margin resilience over the medium term.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valuation can anchor on recurring scale, but diligence should test retention durability and cohort behavior by plan tier.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base tripled as ARPU normalized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came from a large increase in active customers, with expected ARPU normalization as the company broadened into lower-ticket cohorts.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 increased from 562 at 2023 year-end to 1,649 at 2025 year-end, which demonstrates strong customer acquisition throughput.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MRR per active customer declined from $11.9k to $6.8k over the same period as mix broadened across plans and newer cohorts.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mix shift is not inherently negative, but it raises the importance of disciplined upsell and retention motions to protect lifetime value.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growth quality remains favorable if future bookings maintain healthy cohort retention and expansion rates post-onboarding.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new MRR stayed positive despite churn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acquisition and expansion generally outpaced churn, though churn volatility remains a material diligence watchpoint.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quarter-end snapshots, new plus expansion MRR exceeded churn in each period, producing positive net new recurring contribution.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spikes are visible in multiple quarters and align with verification flags that identify seven customer losses totaling about $8.0M impact.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durability therefore depends on reducing preventable churn while preserving expansion productivity across mature cohorts.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value creation should prioritize customer health scoring, renewal process rigor, and at-risk account intervention capacity.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mrr_analysis.xlsx (quarter-end periods)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expanded with stable unit economics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gross margin and rising gross profit indicate favorable unit economics at current product and support cost structure.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profit increased from $47.3M in 2023 to $76.9M in 2025 while gross margin remained flat at 73.2% throughout the period.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pattern indicates that incremental revenue was not purchased through structural COGS inflation, supporting confidence in SaaS cost architecture.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scale grows, stable gross margin provides room to absorb controlled GTM and product investments without impairing core economics.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management can prioritize growth initiatives while maintaining disciplined margin guardrails in annual planning cycles.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leverage is improving post-2024 dip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compression in 2024 appears temporary, with recovery in 2025 as revenue growth outpaced opex growth.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5120640" cy="445907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income rose from $10.3M in 2023 to $15.6M in 2025 despite a temporary margin trough in 2024.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margin moved from 15.9% to 13.2% then recovered to 14.9%, consistent with investment-led compression followed by scale efficiency.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Opex increased in absolute terms but remained manageable relative to recurring growth, supporting an improving leverage trajectory.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Implication: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base-case underwriting can assume modest margin expansion if retention and GTM productivity are actively managed.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0" y="1716786"/>
          <a:ext cx="4800600" cy="41847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00800" y="5947258"/>
            <a:ext cx="4800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income_statement.xlsx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NWC need tighter controls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5361" y="1179513"/>
            <a:ext cx="10195200" cy="482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quality is currently acceptable, but working-capital volatility signals the need for stronger forecasting and collections cadence.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95361" y="1751579"/>
            <a:ext cx="5036396" cy="219456"/>
          </a:xfrm>
          <a:prstGeom prst="rect">
            <a:avLst/>
          </a:prstGeom>
          <a:solidFill>
            <a:srgbClr val="00338D"/>
          </a:solidFill>
          <a:ln w="12700">
            <a:solidFill>
              <a:srgbClr val="00338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0225" y="1765295"/>
            <a:ext cx="4926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and NWC need tighter controls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95361" y="1971035"/>
            <a:ext cx="5036396" cy="0"/>
          </a:xfrm>
          <a:prstGeom prst="line">
            <a:avLst/>
          </a:prstGeom>
          <a:noFill/>
          <a:ln w="12700">
            <a:solidFill>
              <a:srgbClr val="00338D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95361" y="1989323"/>
          <a:ext cx="5036396" cy="3884252"/>
        </p:xfrm>
        <a:graphic>
          <a:graphicData uri="http://schemas.openxmlformats.org/drawingml/2006/table">
            <a:tbl>
              <a:tblPr/>
              <a:tblGrid>
                <a:gridCol w="1259099"/>
                <a:gridCol w="1259099"/>
                <a:gridCol w="1259099"/>
                <a:gridCol w="1259099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Observation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Implication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9E2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Current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$11.4M (70.1%)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Majority current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Healthy baseline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 &gt;60 days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$0.36M (2.2%)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deep aging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Manageable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0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 Current bucket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$4.27M (77.5%)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Timely payables profile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immediate stress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Dec-25 AR balance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$16.23M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absolute receivables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Cash timing sensitive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Q4-25 operating NWC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-$3.34M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Sharp quarter-end swing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Forecast discipline needed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75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NWC as % revenue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-29.7% (Dec-25)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volatility over quarters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444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Underwrite with caution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noFill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159600" y="1751579"/>
            <a:ext cx="5036396" cy="251999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59600" y="2003588"/>
            <a:ext cx="5036396" cy="386999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buckets do not show severe delinquency today, but large receivables and volatile operating NWC can distort near-term cash conversion.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Diligence should stress-test collections assumptions, deferred revenue behavior, and quarter-end working-capital mechanics before close planning.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95361" y="6010735"/>
            <a:ext cx="5036396" cy="165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ar_aging.xlsx, ap_aging.xlsx, nwc_schedule.xlsx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Recommendations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00" y="431800"/>
            <a:ext cx="10195200" cy="53340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risks are identifiable and actionable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material risks are concentrated in retention volatility and QoE normalization, both of which can be addressed through focused diligence.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72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risks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churn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seven identified losses with aggregate impact around $8.0M indicate vulnerability in renewal and customer health coverage.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adjustment complexity: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ten flagged issues include one-time items and standard normalization topics that can change reported run-rate earnings.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Working-capital timing risk: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quarter-end swings in operating NWC can pressure cash conversion and short-term leverage headroom.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9600" y="1716786"/>
            <a:ext cx="5036400" cy="415712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Mitigations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program: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launch top-account health scoring, executive renewal governance, and early-warning churn intervention in customer success.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QoE workstream: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normalized EBITDA bridge with documented treatment for one-time events and owner-related adjustments.</a:t>
            </a:r>
            <a:endParaRPr lang="en-US" sz="1000" dirty="0"/>
          </a:p>
          <a:p>
            <a:pPr algn="l"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discipline:</a:t>
            </a:r>
            <a:pPr algn="l"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weekly receivables and billing cadence controls with rolling 13-week cash visibility through integration planning.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for diligence-to-value creation handoff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immediate objective is to close open diligence items while preparing a practical 100-day plan tied to retention, margin, and cash outcomes.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diligence priorities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QoE normalization with explicit treatment of one-time product launch effects and churn-driven revenue sensitivity scenarios.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cohort retention and upsell assumptions by plan tier, including renewal timing and customer concentration in top enterprise accounts.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Reconcile working-capital mechanics to close model, with specific tests on AR collections and deferred revenue conversion behavior.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100-day execution priorities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retention control tower, enforce renewal operating rhythm, and align sales-customer success incentives on net revenue outcomes.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cost governance around growth investments while preserving product roadmap milestones tied to enterprise expansion.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integration KPI pack with monthly tracking for ARR, net new MRR, churn, gross margin, operating margin, and cash conversion.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verification_report.json, mrr_analysis.xlsx, income_statement.xlsx, nwc_schedule.xlsx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11480"/>
            <a:ext cx="121615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" y="1014984"/>
            <a:ext cx="937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contacts at KPMG in connection with this report are: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3385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3385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6557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557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9729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9729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pic>
        <p:nvPicPr>
          <p:cNvPr id="10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11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12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13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14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information in this presentation is based on a simulated data room and is intended solely for diligence workflow testing. It does not represent investment advice, an audited opinion, or a recommendation to pursue any transaction.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8" name="Text 10">
            <a:hlinkClick r:id="rId7" tooltip=""/>
          </p:cNvPr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home.kpmg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PartyThrow Tech Diligence Storyline</dc:title>
  <dc:subject>Mid-size SaaS commercial and financial diligence</dc:subject>
  <dc:creator>KPMG LLP</dc:creator>
  <cp:lastModifiedBy>KPMG LLP</cp:lastModifiedBy>
  <cp:revision>1</cp:revision>
  <dcterms:created xsi:type="dcterms:W3CDTF">2026-02-25T21:26:51Z</dcterms:created>
  <dcterms:modified xsi:type="dcterms:W3CDTF">2026-02-25T21:26:51Z</dcterms:modified>
</cp:coreProperties>
</file>