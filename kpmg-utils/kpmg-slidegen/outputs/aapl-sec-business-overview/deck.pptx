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Gross Profit ($B)</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Sheet1!$A$2:$A$6</c:f>
              <c:multiLvlStrCache>
                <c:ptCount val="5"/>
                <c:lvl>
                  <c:pt idx="0">
                    <c:v>FY2021</c:v>
                  </c:pt>
                  <c:pt idx="1">
                    <c:v>FY2022</c:v>
                  </c:pt>
                  <c:pt idx="2">
                    <c:v>FY2023</c:v>
                  </c:pt>
                  <c:pt idx="3">
                    <c:v>FY2024</c:v>
                  </c:pt>
                  <c:pt idx="4">
                    <c:v>FY2025</c:v>
                  </c:pt>
                </c:lvl>
              </c:multiLvlStrCache>
            </c:multiLvlStrRef>
          </c:cat>
          <c:val>
            <c:numRef>
              <c:f>Sheet1!$B$2:$B$6</c:f>
              <c:numCache>
                <c:formatCode>General</c:formatCode>
                <c:ptCount val="5"/>
                <c:pt idx="0">
                  <c:v>98.4</c:v>
                </c:pt>
                <c:pt idx="1">
                  <c:v>105</c:v>
                </c:pt>
                <c:pt idx="2">
                  <c:v>152.8</c:v>
                </c:pt>
                <c:pt idx="3">
                  <c:v>170.8</c:v>
                </c:pt>
                <c:pt idx="4">
                  <c:v>169.1</c:v>
                </c:pt>
              </c:numCache>
            </c:numRef>
          </c:val>
          <c:smooth val="0"/>
        </c:ser>
        <c:ser>
          <c:idx val="1"/>
          <c:order val="1"/>
          <c:tx>
            <c:strRef>
              <c:f>Sheet1!$C$1</c:f>
              <c:strCache>
                <c:ptCount val="1"/>
                <c:pt idx="0">
                  <c:v>Operating Cash Flow ($B)</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Sheet1!$A$2:$A$6</c:f>
              <c:multiLvlStrCache>
                <c:ptCount val="5"/>
                <c:lvl>
                  <c:pt idx="0">
                    <c:v>FY2021</c:v>
                  </c:pt>
                  <c:pt idx="1">
                    <c:v>FY2022</c:v>
                  </c:pt>
                  <c:pt idx="2">
                    <c:v>FY2023</c:v>
                  </c:pt>
                  <c:pt idx="3">
                    <c:v>FY2024</c:v>
                  </c:pt>
                  <c:pt idx="4">
                    <c:v>FY2025</c:v>
                  </c:pt>
                </c:lvl>
              </c:multiLvlStrCache>
            </c:multiLvlStrRef>
          </c:cat>
          <c:val>
            <c:numRef>
              <c:f>Sheet1!$C$2:$C$6</c:f>
              <c:numCache>
                <c:formatCode>General</c:formatCode>
                <c:ptCount val="5"/>
                <c:pt idx="0">
                  <c:v>69.4</c:v>
                </c:pt>
                <c:pt idx="1">
                  <c:v>80.7</c:v>
                </c:pt>
                <c:pt idx="2">
                  <c:v>104</c:v>
                </c:pt>
                <c:pt idx="3">
                  <c:v>122.2</c:v>
                </c:pt>
                <c:pt idx="4">
                  <c:v>110.5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testing/data/sec/AAPL/annual_metrics.csv (FY2025 row) and testing/data/sec/AAPL/quarterly_metrics.csv (2026 Q1 and 2025 Q1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skills/kpmg-slides/assets/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8" Type="http://schemas.openxmlformats.org/officeDocument/2006/relationships/slideLayout" Target="../slideLayouts/slideLayout8.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Apple Inc.</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Business</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Overview</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Public filing-based summary of earnings profile, balance sheet posture, and near-term filing context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Company Context and Coverage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Period coverage and source perimeter</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supplied SEC extracts provide multi-year annual and quarterly coverage suitable for a concise baseline diligence readout.</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Annual metrics cover FY2020 through FY2025, with this deck focusing on FY2021 through FY2025 to show the latest five-year trend with comparable period definitions.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Quarterly metrics cover Q1 FY2021 through Q1 FY2026, allowing the deck to anchor the most recent quarter against prior-year and prior-quarter observations.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Recent filing logs include 10-K, 10-Q, and 8-K submissions through February 2026, providing current filing cadence context around the latest reported quarter.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dataset captures consolidated metrics derived from SEC companyfacts mappings and does not include extracted segment-level revenue tables in the provided files.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Within these bounds, the deck emphasizes profitability, cash generation, and capital structure signals as the most robustly populated fields in the input set.</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testing/data/sec/AAPL/annual_metrics.csv, testing/data/sec/AAPL/quarterly_metrics.csv, testing/data/sec/AAPL/recent_filings.csv, testing/data/sec/AAPL/README.json.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and segment context boundaries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overview is intentionally constrained to what can be substantiated directly from the provided SEC extraction package.</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Company context:</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Apple Inc. is represented in the extract using SEC submissions and companyfacts-derived fields aligned to the ticker and CIK mapping in the package metadata.</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resulting profile supports a consolidated corporate-level read on profitability, cash generation, and balance-sheet structure using consistent us-gaap metric tags.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framing is appropriate for an initial business overview where speed and traceable public-source support are prioritized over deep operating decomposition.</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Segment context boundary:</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Segment-level contribution analysis is not provided as structured data in the supplied CSV files, so segment commentary is intentionally limited to scope notes.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Any segment growth, margin, or mix claims would require direct parsing of 10-K segment disclosures beyond this extraction and are therefore excluded here.</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boundary preserves source integrity by avoiding inferred segment conclusions not directly evidenced in the provided input package.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Trend and Snapshot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Annual profit and cash remain elevated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FY2025 reflects moderation from FY2024 peaks, but absolute profitability and operating cash flow remain materially above earlier years in scope.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Gross profit increased from $98.4B in FY2021 to $169.1B in FY2025, after reaching $170.8B in FY2024.</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income rose from $63.9B in FY2021 to $114.3B in FY2025, with a peak of $119.4B in FY2024.</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Net income scaled from $55.3B in FY2021 to $97.0B in FY2025 and remained close to the FY2024 high of $99.8B.</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cash flow increased from $69.4B in FY2021 to $110.5B in FY2025 despite lower conversion versus FY2024 ($122.2B).</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Read-through:</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latest annual filing supports a high-profit base case, while the post-peak direction warrants monitoring in upcoming filings.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testing/data/sec/AAPL/annual_metrics.csv (FY2021-FY2025 rows; forms filed 2021-10-29 to 2025-10-31).</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and Q1 FY2026 KPI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Latest annual and quarterly filings indicate continued earnings scale with softer operating cash flow in the most recent quarter.</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FY2025 and Q1 FY2026 KPI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566003"/>
                <a:gridCol w="923594"/>
                <a:gridCol w="923594"/>
                <a:gridCol w="1623205"/>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Q1 FY2026</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Observed shift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above Q1 FY2025 (54.9)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above Q1 FY2025 (40.4)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income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above Q1 FY2025 (33.9)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below Q1 FY2025 (39.9)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Assets / Liabilities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365.0 / 308.0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359.2 / 285.5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Liabilities lower in quarter</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Read-through</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Core earnings indicators in Q1 FY2026 remain above Q1 FY2025 levels on gross profit, operating income, and net income, indicating continued earnings resilience in the latest quarter.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cash flow is the principal watchpoint: Q1 FY2026 reports $29.9B versus $39.9B in Q1 FY2025, suggesting nearer-term conversion softness despite high absolute annual cash generation.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Balance-sheet totals indicate lower liabilities in the latest quarter snapshot versus FY2025 year-end, while total assets remain at substantial scale.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testing/data/sec/AAPL/annual_metrics.csv (FY2025 row) and testing/data/sec/AAPL/quarterly_metrics.csv (2026 Q1 and 2025 Q1 rows).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Implications for concise diligence view</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Current filing evidence supports a stable high-profit baseline with targeted follow-up around quarter-to-quarter cash conversion behavior.</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annual trend supports a scale narrative: FY2025 profitability and operating cash flow remain well above FY2021-FY2022 levels even after moderating from FY2024 highs.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Near-term diligence should prioritize cash conversion drivers because quarterly operating cash flow shows the sharpest recent movement in the supplied dataset.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Capital structure should be interpreted alongside ongoing cash generation, given the substantial liabilities and lower equity levels observed in annual metrics.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Segment-level conclusions should be deferred until direct extraction of 10-K segment disclosures is added to the evidence base.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Monitoring the next quarterly filing cycle is critical to determine whether Q1 FY2026 cash-flow softness reflects seasonality or a persistent shift.</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testing/data/sec/AAPL/annual_metrics.csv, testing/data/sec/AAPL/quarterly_metrics.csv, testing/data/sec/AAPL/recent_filings.csv.</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presentation is based solely on provided public filing extracts and is intended for preliminary informational use. It does not constitute investment advice, fairness opinion, or assurance over underlying SEC source systems.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Inc. SEC Business Overview</dc:title>
  <dc:subject>Concise business overview from SEC filings</dc:subject>
  <dc:creator>KPMG LLP</dc:creator>
  <cp:lastModifiedBy>KPMG LLP</cp:lastModifiedBy>
  <cp:revision>1</cp:revision>
  <dcterms:created xsi:type="dcterms:W3CDTF">2026-02-25T21:01:06Z</dcterms:created>
  <dcterms:modified xsi:type="dcterms:W3CDTF">2026-02-25T21:01:06Z</dcterms:modified>
</cp:coreProperties>
</file>