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7.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8.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9.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0.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Recurring event 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2.18</c:v>
                </c:pt>
                <c:pt idx="1">
                  <c:v>4.78</c:v>
                </c:pt>
                <c:pt idx="2">
                  <c:v>12.39</c:v>
                </c:pt>
              </c:numCache>
            </c:numRef>
          </c:val>
        </c:ser>
        <c:ser>
          <c:idx val="1"/>
          <c:order val="1"/>
          <c:tx>
            <c:strRef>
              <c:f>Sheet1!$C$1</c:f>
              <c:strCache>
                <c:ptCount val="1"/>
                <c:pt idx="0">
                  <c:v>One-time event revenue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0.42</c:v>
                </c:pt>
                <c:pt idx="1">
                  <c:v>0.32</c:v>
                </c:pt>
                <c:pt idx="2">
                  <c:v>0.73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2.71</c:v>
                </c:pt>
                <c:pt idx="1">
                  <c:v>2.96</c:v>
                </c:pt>
                <c:pt idx="2">
                  <c:v>3.56</c:v>
                </c:pt>
              </c:numCache>
            </c:numRef>
          </c:val>
          <c:smooth val="0"/>
        </c:ser>
        <c:ser>
          <c:idx val="1"/>
          <c:order val="1"/>
          <c:tx>
            <c:strRef>
              <c:f>Sheet1!$C$1</c:f>
              <c:strCache>
                <c:ptCount val="1"/>
                <c:pt idx="0">
                  <c:v>Reported EBITDA margin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7.26</c:v>
                </c:pt>
                <c:pt idx="1">
                  <c:v>7.19</c:v>
                </c:pt>
                <c:pt idx="2">
                  <c:v>6.99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 bridge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Reported EBITDA</c:v>
                  </c:pt>
                  <c:pt idx="1">
                    <c:v>Non-recurring revenue adj.</c:v>
                  </c:pt>
                  <c:pt idx="2">
                    <c:v>Normalized EBITDA</c:v>
                  </c:pt>
                </c:lvl>
              </c:multiLvlStrCache>
            </c:multiLvlStrRef>
          </c:cat>
          <c:val>
            <c:numRef>
              <c:f>Sheet1!$B$2:$B$4</c:f>
              <c:numCache>
                <c:formatCode>General</c:formatCode>
                <c:ptCount val="3"/>
                <c:pt idx="0">
                  <c:v>3.56</c:v>
                </c:pt>
                <c:pt idx="1">
                  <c:v>-0.73</c:v>
                </c:pt>
                <c:pt idx="2">
                  <c:v>2.83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 margin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7.26</c:v>
                </c:pt>
                <c:pt idx="1">
                  <c:v>7.19</c:v>
                </c:pt>
                <c:pt idx="2">
                  <c:v>6.99</c:v>
                </c:pt>
              </c:numCache>
            </c:numRef>
          </c:val>
          <c:smooth val="0"/>
        </c:ser>
        <c:ser>
          <c:idx val="1"/>
          <c:order val="1"/>
          <c:tx>
            <c:strRef>
              <c:f>Sheet1!$C$1</c:f>
              <c:strCache>
                <c:ptCount val="1"/>
                <c:pt idx="0">
                  <c:v>Normalized EBITDA margin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6.14</c:v>
                </c:pt>
                <c:pt idx="1">
                  <c:v>6.41</c:v>
                </c:pt>
                <c:pt idx="2">
                  <c:v>5.56</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 margin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7.26</c:v>
                </c:pt>
                <c:pt idx="1">
                  <c:v>7.19</c:v>
                </c:pt>
                <c:pt idx="2">
                  <c:v>6.99</c:v>
                </c:pt>
              </c:numCache>
            </c:numRef>
          </c:val>
          <c:smooth val="0"/>
        </c:ser>
        <c:ser>
          <c:idx val="1"/>
          <c:order val="1"/>
          <c:tx>
            <c:strRef>
              <c:f>Sheet1!$C$1</c:f>
              <c:strCache>
                <c:ptCount val="1"/>
                <c:pt idx="0">
                  <c:v>Normalized EBITDA margin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6.14</c:v>
                </c:pt>
                <c:pt idx="1">
                  <c:v>6.41</c:v>
                </c:pt>
                <c:pt idx="2">
                  <c:v>5.56</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 EBITDA sensitivity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Base normalized</c:v>
                  </c:pt>
                  <c:pt idx="1">
                    <c:v>10% churn risk</c:v>
                  </c:pt>
                  <c:pt idx="2">
                    <c:v>25% churn risk</c:v>
                  </c:pt>
                  <c:pt idx="3">
                    <c:v>40% churn risk</c:v>
                  </c:pt>
                </c:lvl>
              </c:multiLvlStrCache>
            </c:multiLvlStrRef>
          </c:cat>
          <c:val>
            <c:numRef>
              <c:f>Sheet1!$B$2:$B$5</c:f>
              <c:numCache>
                <c:formatCode>General</c:formatCode>
                <c:ptCount val="4"/>
                <c:pt idx="0">
                  <c:v>2.83</c:v>
                </c:pt>
                <c:pt idx="1">
                  <c:v>2.48</c:v>
                </c:pt>
                <c:pt idx="2">
                  <c:v>1.95</c:v>
                </c:pt>
                <c:pt idx="3">
                  <c:v>1.42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Operating NWC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6.89</c:v>
                </c:pt>
                <c:pt idx="1">
                  <c:v>7.65</c:v>
                </c:pt>
                <c:pt idx="2">
                  <c:v>9.38</c:v>
                </c:pt>
              </c:numCache>
            </c:numRef>
          </c:val>
          <c:smooth val="0"/>
        </c:ser>
        <c:ser>
          <c:idx val="1"/>
          <c:order val="1"/>
          <c:tx>
            <c:strRef>
              <c:f>Sheet1!$C$1</c:f>
              <c:strCache>
                <c:ptCount val="1"/>
                <c:pt idx="0">
                  <c:v>NWC as % of revenue</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195.4</c:v>
                </c:pt>
                <c:pt idx="1">
                  <c:v>184.8</c:v>
                </c:pt>
                <c:pt idx="2">
                  <c:v>202.4</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Cash from operations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-4.18</c:v>
                </c:pt>
                <c:pt idx="1">
                  <c:v>2.2</c:v>
                </c:pt>
                <c:pt idx="2">
                  <c:v>1.82</c:v>
                </c:pt>
              </c:numCache>
            </c:numRef>
          </c:val>
        </c:ser>
        <c:ser>
          <c:idx val="1"/>
          <c:order val="1"/>
          <c:tx>
            <c:strRef>
              <c:f>Sheet1!$C$1</c:f>
              <c:strCache>
                <c:ptCount val="1"/>
                <c:pt idx="0">
                  <c:v>Capex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-0.97</c:v>
                </c:pt>
                <c:pt idx="1">
                  <c:v>-0.12</c:v>
                </c:pt>
                <c:pt idx="2">
                  <c:v>-0.12</c:v>
                </c:pt>
              </c:numCache>
            </c:numRef>
          </c:val>
        </c:ser>
        <c:ser>
          <c:idx val="2"/>
          <c:order val="2"/>
          <c:tx>
            <c:strRef>
              <c:f>Sheet1!$D$1</c:f>
              <c:strCache>
                <c:ptCount val="1"/>
                <c:pt idx="0">
                  <c:v>Net change in cash ($M)</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Sheet1!$D$2:$D$4</c:f>
              <c:numCache>
                <c:formatCode>General</c:formatCode>
                <c:ptCount val="3"/>
                <c:pt idx="0">
                  <c:v>-5.14</c:v>
                </c:pt>
                <c:pt idx="1">
                  <c:v>2.08</c:v>
                </c:pt>
                <c:pt idx="2">
                  <c:v>1.7</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by scenario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Sheet1!$B$2:$B$4</c:f>
              <c:numCache>
                <c:formatCode>General</c:formatCode>
                <c:ptCount val="3"/>
                <c:pt idx="0">
                  <c:v>1.95</c:v>
                </c:pt>
                <c:pt idx="1">
                  <c:v>2.83</c:v>
                </c:pt>
                <c:pt idx="2">
                  <c:v>3.23</c:v>
                </c:pt>
              </c:numCache>
            </c:numRef>
          </c:val>
        </c:ser>
        <c:ser>
          <c:idx val="1"/>
          <c:order val="1"/>
          <c:tx>
            <c:strRef>
              <c:f>Sheet1!$C$1</c:f>
              <c:strCache>
                <c:ptCount val="1"/>
                <c:pt idx="0">
                  <c:v>Enterprise value at 7.0x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Sheet1!$C$2:$C$4</c:f>
              <c:numCache>
                <c:formatCode>General</c:formatCode>
                <c:ptCount val="3"/>
                <c:pt idx="0">
                  <c:v>13.65</c:v>
                </c:pt>
                <c:pt idx="1">
                  <c:v>19.8</c:v>
                </c:pt>
                <c:pt idx="2">
                  <c:v>22.61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by scenario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Sheet1!$B$2:$B$4</c:f>
              <c:numCache>
                <c:formatCode>General</c:formatCode>
                <c:ptCount val="3"/>
                <c:pt idx="0">
                  <c:v>1.95</c:v>
                </c:pt>
                <c:pt idx="1">
                  <c:v>2.83</c:v>
                </c:pt>
                <c:pt idx="2">
                  <c:v>3.23</c:v>
                </c:pt>
              </c:numCache>
            </c:numRef>
          </c:val>
        </c:ser>
        <c:ser>
          <c:idx val="1"/>
          <c:order val="1"/>
          <c:tx>
            <c:strRef>
              <c:f>Sheet1!$C$1</c:f>
              <c:strCache>
                <c:ptCount val="1"/>
                <c:pt idx="0">
                  <c:v>Enterprise value at 7.0x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Downside</c:v>
                  </c:pt>
                  <c:pt idx="1">
                    <c:v>Base</c:v>
                  </c:pt>
                  <c:pt idx="2">
                    <c:v>Upside</c:v>
                  </c:pt>
                </c:lvl>
              </c:multiLvlStrCache>
            </c:multiLvlStrRef>
          </c:cat>
          <c:val>
            <c:numRef>
              <c:f>Sheet1!$C$2:$C$4</c:f>
              <c:numCache>
                <c:formatCode>General</c:formatCode>
                <c:ptCount val="3"/>
                <c:pt idx="0">
                  <c:v>13.65</c:v>
                </c:pt>
                <c:pt idx="1">
                  <c:v>19.8</c:v>
                </c:pt>
                <c:pt idx="2">
                  <c:v>22.61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income_statement.xlsx, cash_flow.xlsx, event_impacts.xlsx; values shown in millions, 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verification_report.json, event_impacts.xlsx, company_seed.json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income_statement.xlsx, cash_flow.xlsx, event_impacts.xlsx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verification_report.json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ar_aging.xlsx, ap_aging.xlsx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verification_report.json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derived action plan from QoE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x/skills/kpmg-slides/assets/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x/skills/kpmg-slides/assets/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x/skills/kpmg-slides/assets/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x/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x/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x/skills/kpmg-slides/assets/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8" Type="http://schemas.openxmlformats.org/officeDocument/2006/relationships/slideLayout" Target="../slideLayouts/slideLayout8.xml"/><Relationship Id="rId9"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3100" b="1" dirty="0">
                <a:solidFill>
                  <a:srgbClr val="FFFFFF"/>
                </a:solidFill>
                <a:latin typeface="Arial" pitchFamily="34" charset="0"/>
                <a:ea typeface="Arial" pitchFamily="34" charset="-122"/>
                <a:cs typeface="Arial" pitchFamily="34" charset="-120"/>
              </a:rPr>
              <a:t>GNO Fabrication</a:t>
            </a:r>
            <a:endParaRPr lang="en-US" sz="3100" dirty="0"/>
          </a:p>
          <a:p>
            <a:pPr algn="l" indent="0" marL="0">
              <a:buNone/>
            </a:pPr>
            <a:r>
              <a:rPr lang="en-US" sz="3100" b="1" dirty="0">
                <a:solidFill>
                  <a:srgbClr val="FFFFFF"/>
                </a:solidFill>
                <a:latin typeface="Arial" pitchFamily="34" charset="0"/>
                <a:ea typeface="Arial" pitchFamily="34" charset="-122"/>
                <a:cs typeface="Arial" pitchFamily="34" charset="-120"/>
              </a:rPr>
              <a:t>QoE Review and</a:t>
            </a:r>
            <a:endParaRPr lang="en-US" sz="3100" dirty="0"/>
          </a:p>
          <a:p>
            <a:pPr algn="l" indent="0" marL="0">
              <a:buNone/>
            </a:pPr>
            <a:r>
              <a:rPr lang="en-US" sz="3100" b="1" dirty="0">
                <a:solidFill>
                  <a:srgbClr val="FFFFFF"/>
                </a:solidFill>
                <a:latin typeface="Arial" pitchFamily="34" charset="0"/>
                <a:ea typeface="Arial" pitchFamily="34" charset="-122"/>
                <a:cs typeface="Arial" pitchFamily="34" charset="-120"/>
              </a:rPr>
              <a:t>Implications</a:t>
            </a:r>
            <a:endParaRPr lang="en-US" sz="31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Quality of earnings assessment for FY2023 to FY2025 with normalization bridge, sensitivities, and transaction implications</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Core findings and normalized EBITDA 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Decision asks and key sensitivities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Data quality and method</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6-10)</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Tie-out status and adjustment decision rules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What is in base case versus sensitivity case</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EBITDA bridge analysis</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11-20)</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Reported to normalized bridge by year</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Supporting logic and arithmetic tie-outs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and working capital</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21-24)</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NWC and collections/payables signals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Cash conversion implications for underwriting</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Risks and unknowns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25-30)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Known risks versus open diligence questions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Sensitivity framework and valuation read-through</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Decision implications</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31-35)</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Pre-signing diligence asks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100-day priorities and ownership</a:t>
            </a:r>
            <a:endParaRPr lang="en-US" sz="1000" dirty="0"/>
          </a:p>
        </p:txBody>
      </p:sp>
      <p:sp>
        <p:nvSpPr>
          <p:cNvPr id="33" name="Text 31"/>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outcome points to a tighter base case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Revenue growth is clear, but normalized earnings are lower than reported once non-recurring revenue is removed and identified risks are separated from fact.</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Scale</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grew from $37.4M in 2023 to $50.8M in 2025.</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Gross margin held near 28.9% across all three years.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income increased to $3.0M in 2025.</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demand and operating cadence are visible.</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Normalization</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EBITDA in 2025 is $3.56M.</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in 2025 totals $0.73M.</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Normalized EBITDA is $2.83M after this adjustment.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underwriting should anchor on normalized values.</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Data quality</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19 of 19 integrity checks passed in the data room.</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A/R and A/P aging schedules tie to balance sheet values.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Payroll, revenue, and cash statements tie to ledgers.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arithmetic reliability is high for base analysis.</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Risk stack</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churn risk flagged at $3.53M potential impact.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Four common QoE adjustments are identified but unquantified.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Owner and related-party normalization items need support files.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valuation requires explicit sensitivity bands.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Decision ask is price and structure discipline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transaction can proceed on fundamentals if valuation and terms reflect normalized earnings rather than reported headline EBITDA.</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the numbers support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reported EBITDA trajectory is positive, with 2023 to 2025 EBITDA rising from $2.71M to $3.56M and operating scale improving against a stable gross margin profile.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Normalization reduces that picture because one-time revenue totals $0.42M, $0.32M, and $0.73M in 2023, 2024, and 2025 respectively, lowering normalized EBITDA each year.</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should not be treated as fact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Potential adjustments for inventory reserve, standard cost variance capitalization, freight policy, warranty reserve true-up, and owner-related items are identified but not yet quantified.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churn risk is identified at $3.53M impact; this is a risk indicator and should be modeled as a sensitivity rather than a booked adjustment in base case.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 for decision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normalized EBITDA as the base valuation anchor, ringfence unverified adjustments to scenario analysis, and tie final price movement to delivery of support documents and customer retention evidence.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cash_flow.xlsx, event_impacts.xlsx, verification_report.json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and normalized EBITDA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Normalization lowers EBITDA by $0.32M to $0.73M per year across the observed period and changes the margin read-through used for underwriting.</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Reported and normalized EBITDA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Year</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Revenue ($M)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Reported EBITDA ($M)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Non-recurring revenue adj. ($M)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Normalized EBITDA ($M)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Normalized margin (%)</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2023</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37.36</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2.71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2.29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6.14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2024</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2.96</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2.64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6.41</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2025</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50.85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3.56</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5.56</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highest absolute normalization occurs in 2025, which is also the year with the strongest reported growth, so baseline underwriting is most sensitive in the most recent year.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margin trends are stable near 7%, but normalized margins run lower and less linear, indicating that headline growth quality is partly dependent on event-driven revenue.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income_statement.xlsx, cash_flow.xlsx, event_impacts.xlsx; values shown in millions, rounded</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Facts are separated from risk assumptions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deck distinguishes what is ledger-supported from what requires diligence confirmation so that bridge math and sensitivities do not get mixed.</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Fact set used in base case</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Financial statement tie-outs pass across revenue, payroll, cash, and working capital schedules for FY2023 to FY2025.</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EBITDA components and one-time revenue fields are directly sourced from trial-balance-derived schedules and event impact workbooks.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A/R and A/P aging totals reconcile exactly to 2025 balance sheet balances, supporting working-capital baseline reliability.</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Bridge components in this deck are arithmetic checks with explicit signs and totals.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 normalized EBITDA excludes only items with explicit, quantified event flags.</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Risk and unknown stack</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churn impact of $3.53M is a risk flag from verification outputs and is modeled in sensitivity scenarios, not booked in base normalization.</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Inventory reserve, cost variance capitalization, freight policy, and warranty true-up are potential adjustments without quantified amounts in source files.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Owner compensation normalization, related-party supplier markup, and owner-occupied rent require contracts and benchmarking support.</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Any diligence-confirmed items should be added as separate bridge lines with documented source and sign convention.</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Purchase agreement protection should link unresolved items to closing mechanisms.</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Data quality and method</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room integrity supports bridge analysis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All 19 verification checks passed, enabling explicit normalization logic without unresolved arithmetic or reconciliation gaps.</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Control checks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Trial balance spans 36 periods and the accounting identity balances monthly with a maximum imbalance of $0.01, indicating robust ledger consistency.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Balance sheet equations hold in each year and revenue consistency checks tie income statement and trial balance outputs for 2023, 2024, and 2025.</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Invoice totals of $129.36M tie to P&amp;L revenue across the covered period, supporting transaction-level to financial-statement linkage.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Working capital and payroll checks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A/R aging of $7.02M and A/P aging of $3.62M tie exactly to 2025 balance sheet balances, reducing concern about schedule extraction errors.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Payroll totals tie exactly to payroll-linked accounts, and ending cash from cash flow ties to balance sheet cash in all three years.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analysis risk is concentrated in judgment calls on normalization scope, not in arithmetic data integrity, so decision focus should center on policy and support documentation.</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verification_report.json and listed underlying schedules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Normalization framework and sign convention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Adjustment rules are codified before bridge construction so every line item is traceable and internally consistent.</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Normalization framework and sign convention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259099"/>
                <a:gridCol w="1259099"/>
                <a:gridCol w="1259099"/>
                <a:gridCol w="125909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Adjustment class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Base-case treatment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Sign in bridge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Evidence standard</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544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Non-recurring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Included as normalization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Subtract from EBITDA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Event flag with quantified monthly values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544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One-time expense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Included when quantified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to EBITDA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General ledger support and date evidence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544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Owner/related-party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Sensitivity until validated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Scenario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Contract, payroll, or benchmark support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544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Policy estimate items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Sensitivity until measured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Scenario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Reserve roll-forward or accounting memo</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framework prevents double counting by separating posted events from forward-looking risk assumptions and by forcing explicit evidence thresholds before inclusion.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Using a consistent sign convention improves auditability: negative lines reduce EBITDA and positive lines increase EBITDA, with base-case totals tying to source schedules.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Normalization framework and sign convention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Adjustment rules are codified before bridge construction so every line item is traceable and internally consistent.</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Normalization framework and sign convention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259099"/>
                <a:gridCol w="1259099"/>
                <a:gridCol w="1259099"/>
                <a:gridCol w="125909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Adjustment class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Base-case treatment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Sign in bridge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Evidence standard</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Churn risk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Sensitivity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Scenario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retention evidence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framework prevents double counting by separating posted events from forward-looking risk assumptions and by forcing explicit evidence thresholds before inclusion.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Using a consistent sign convention improves auditability: negative lines reduce EBITDA and positive lines increase EBITDA, with base-case totals tying to source schedules.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verification_report.json, event_impacts.xlsx, company_seed.json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Event-driven revenue grew in absolute terms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Both recurring and one-time event revenue components rise by year, with the one-time component peaking in 2025 and driving a larger normalization deduction.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Running recurring event-linked revenue grows from $2.18M in 2023 to $12.39M in 2025, indicating a strong contribution from accumulated customer win events.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totals $0.42M in 2023, $0.32M in 2024, and $0.73M in 2025; this component is excluded from normalized EBITDA to avoid overstating repeatable earnings.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widening gap between total event revenue and recurring event contribution indicates a larger transient component in 2025 than in prior years.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Decision 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headline growth remains investable, but valuation should reference normalized earnings and retention durability rather than event-boosted reported results.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Scenario work should stress-test how much of current run-rate can be retained if non-recurring wins are not replaced.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bridge structure in this deck directly reflects these event classifications with explicit signs and annual tie-outs.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event_impacts.xlsx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Base case rules versus sensitivity rules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same data can support multiple views, but this analysis keeps the base case conservative and moves uncertain items into explicit scenario bands.</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Included in normalized EBITDA</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EBITDA from operating income plus depreciation from cash flow schedules.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monthly totals deducted by year as non-recurring earnings component.</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No owner-related or policy-estimate add-backs included without direct quantification.</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All included lines reconcile to workbook totals and annual table outputs.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Resulting normalized EBITDA is $2.29M, $2.64M, and $2.83M for 2023 to 2025.</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Held as sensitivities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churn risk flagged at $3.53M total potential impact from verification outputs.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Potential inventory reserve and warranty true-up items with no quantified schedule support.</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Potential standard-cost capitalization and freight accounting policy normalization items.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Potential owner compensation, related-party markup, and owner-occupied rent adjustments.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These items inform valuation ranges and protections, not baseline EBITDA.</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EBITDA bridge analysis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EBITDA rose to $3.56M by 2025</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reported trajectory is positive across the three-year period and supports baseline operating momentum before normalization.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EBITDA increases from $2.71M in 2023 to $2.96M in 2024 and $3.56M in 2025, reflecting expansion on a larger revenue base.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growth outpaces EBITDA growth in 2025 because part of incremental revenue is event-driven and not treated as recurring in normalization.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Depreciation remains a stable contributor to EBITDA derivation at $0.51M to $0.56M per year, supporting consistency in bridge construction.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profile is directionally attractive for transaction interest, but normalized trends are required for valuation discipline.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EBITDA margin trends from 7.26% to 6.99% indicate scale with mild efficiency pressure in the most recent year.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next slide quantifies how normalization changes this picture year by year.</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cash_flow.xlsx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2025 bridge lowers EBITDA by $0.73M</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single quantified normalization line removes one-time revenue and takes 2025 EBITDA from $3.56M reported to $2.83M normalized.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2025 bridge begins at reported EBITDA of $3.56M derived from operating income plus depreciation from source schedules.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of $0.73M is deducted because it is identified as non-recurring and does not represent ongoing run-rate earnings.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No additional add-backs are booked in base case due to missing quantified support for owner-related and policy-estimate items.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resulting normalized EBITDA is $2.83M, representing a 20.4% reduction from reported EBITDA in 2025.</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reduction magnitude is large enough to influence valuation, leverage sizing, and covenant headroom if ignored.</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Decision 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use normalized EBITDA as the base metric for pricing and debt structuring.</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cash_flow.xlsx, event_impacts.xlsx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Three-year EBITDA bridge ties out by period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Each year uses the same bridge logic and signs, producing a consistent and auditable normalized earnings series.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Bridge summary by year</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Reported EBITDA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Non-recurring adj.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Normalized EBITDA ($M)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2024</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2.96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EBITDA is calculated as operating income plus depreciation for each year, and ties directly to source statements without residual balancing items.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adjustments are deducted with the same sign convention in each year, preventing selective normalization bias.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Normalized EBITDA rises from $2.29M in 2023 to $2.83M in 2025, but growth is slower than reported EBITDA due to larger 2025 one-time components.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Normalized margin moves from 6.14% to 5.56% over the period, highlighting that earnings quality decelerates relative to top-line expansion.</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cash_flow.xlsx, event_impacts.xlsx</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Three-year EBITDA bridge ties out by period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Each year uses the same bridge logic and signs, producing a consistent and auditable normalized earnings series.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Bridge summary by year</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Reported EBITDA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Non-recurring adj.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Normalized EBITDA ($M)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2024</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2.96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pattern supports a conservative underwriting posture while preserving confidence in core growth dynamics.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Further upside should be modeled only through scenario cases once unresolved adjustments are quantified and evidenced.</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cash_flow.xlsx, event_impacts.xlsx</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2025 bridge component detail and tie-out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Every component in the 2025 bridge is explicit, signed, and traceable to source schedules so totals tie without judgmental plugs.</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2025 bridge component detail and tie-out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401432"/>
                <a:gridCol w="832100"/>
                <a:gridCol w="1401432"/>
                <a:gridCol w="1401432"/>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Component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Amount ($)</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Sign logic</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3,000,102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Start point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income_statement.xlsx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Depreciation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555,748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cash_flow.xlsx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3,555,850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Calculated subtotal</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Derived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One-time revenue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(726,841)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Subtract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event_impacts.xlsx</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2,829,009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Final subtotal</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Derived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bridge math is fully deterministic and does not rely on balancing adjustments, which improves confidence in comparability and diligence communication.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one-time revenue deduction is the only quantified normalization applied in base case, which keeps the bridge conservative and minimizes over-adjustment risk.</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income_statement.xlsx, cash_flow.xlsx, event_impacts.xlsx</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Non-recurring revenue adjustment rationale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adjustment policy removes event-driven revenue flagged as one-time so base earnings reflect repeatable operating performance.</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Policy logic</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fields in event impacts are explicitly identified as non-recurring and therefore are removed from EBITDA normalization in each period.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Applying this policy uniformly across years avoids cherry-picking and gives a consistent baseline for trend and valuation discussions.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Observed effect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deduction is $0.42M in 2023, $0.32M in 2024, and $0.73M in 2025, with 2025 driving the largest divergence between reported and normalized earnings.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Because 2025 is the anchor year for most transaction underwriting, the 2025 adjustment magnitude is the most decision-relevant bridge element.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Control and governance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adjustment should remain in base case unless management provides evidence that those one-time events are contractually recurring and reflected in forward order book quality.</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event_impacts.xlsx and verification_report.json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One-time wins versus recurring wins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Customer win activity includes both recurring and non-recurring patterns, so bridge treatment must distinguish between the two to avoid earnings overstatement.</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Recurring wins in 2023-2025</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10 recurring customer wins are identified in the period with aggregate revenue impact of $13.88M based on event records.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These wins contribute to running recurring revenue impacts and are reflected in operating trajectory rather than removed in base normalization.</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Recurring wins support growth durability but still require retention validation by cohort and account-level evidence.</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stream is relevant for upside scenarios once customer persistence is validated.</a:t>
            </a:r>
            <a:endParaRPr lang="en-US" sz="1000" dirty="0"/>
          </a:p>
          <a:p>
            <a:pPr algn="l"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Treatment in deck:</a:t>
            </a:r>
            <a:pPr algn="l" indent="0" marL="0">
              <a:spcAft>
                <a:spcPts val="600"/>
              </a:spcAft>
              <a:buNone/>
            </a:pPr>
            <a:r>
              <a:rPr lang="en-US" sz="1000" dirty="0">
                <a:solidFill>
                  <a:srgbClr val="000000"/>
                </a:solidFill>
                <a:latin typeface="Arial" pitchFamily="34" charset="0"/>
                <a:ea typeface="Arial" pitchFamily="34" charset="-122"/>
                <a:cs typeface="Arial" pitchFamily="34" charset="-120"/>
              </a:rPr>
              <a:t> reflected in operating base and trend interpretation.</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Non-recurring wins in 2023-2025</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13 non-recurring customer wins are identified in the period with aggregate event impact of $19.11M based on event records.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These items can inflate short-term reported performance but do not indicate repeatable run-rate without renewal and repeat order evidence.</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annual one-time revenue fields from event schedules are therefore removed when deriving normalized EBITDA.</a:t>
            </a:r>
            <a:endParaRPr lang="en-US" sz="1000" dirty="0"/>
          </a:p>
          <a:p>
            <a:pPr algn="l"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Treatment in deck:</a:t>
            </a:r>
            <a:pPr algn="l" indent="0" marL="0">
              <a:spcAft>
                <a:spcPts val="600"/>
              </a:spcAft>
              <a:buNone/>
            </a:pPr>
            <a:r>
              <a:rPr lang="en-US" sz="1000" dirty="0">
                <a:solidFill>
                  <a:srgbClr val="000000"/>
                </a:solidFill>
                <a:latin typeface="Arial" pitchFamily="34" charset="0"/>
                <a:ea typeface="Arial" pitchFamily="34" charset="-122"/>
                <a:cs typeface="Arial" pitchFamily="34" charset="-120"/>
              </a:rPr>
              <a:t> deduction line in bridge and explicit sensitivity communication.</a:t>
            </a:r>
            <a:endParaRPr lang="en-US" sz="1000" dirty="0"/>
          </a:p>
          <a:p>
            <a:pPr algn="l"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Decision implication:</a:t>
            </a:r>
            <a:pPr algn="l" indent="0" marL="0">
              <a:spcAft>
                <a:spcPts val="600"/>
              </a:spcAft>
              <a:buNone/>
            </a:pPr>
            <a:r>
              <a:rPr lang="en-US" sz="1000" dirty="0">
                <a:solidFill>
                  <a:srgbClr val="000000"/>
                </a:solidFill>
                <a:latin typeface="Arial" pitchFamily="34" charset="0"/>
                <a:ea typeface="Arial" pitchFamily="34" charset="-122"/>
                <a:cs typeface="Arial" pitchFamily="34" charset="-120"/>
              </a:rPr>
              <a:t> do not capitalize one-time wins as durable cash earnings.</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Unquantified add-backs tracked separately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Potential normalization items are listed with diligence status to separate identified concepts from quantified, bridge-ready adjustments.</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Unquantified add-backs tracked separately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259099"/>
                <a:gridCol w="1259099"/>
                <a:gridCol w="1259099"/>
                <a:gridCol w="125909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Potential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Current status</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Base-case impact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Required evidence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 compensation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Identified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Not included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Payroll detail and market benchmark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544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Related-party supplier markup</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Identified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Not included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Contract pricing and third-party comps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Owner-occupied facility rent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Identified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Not included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Lease terms and market rent study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reserve / obsolescence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Identified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Not included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SKU aging and reserve roll-forward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Holding these items out of base case preserves analytical discipline and avoids embedding unsupported upside into the transaction narrative.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Each item can be moved into the bridge once evidence is delivered; until then, they should be reflected only in scenario ranges and SPA protections.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Unquantified add-backs tracked separately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Potential normalization items are listed with diligence status to separate identified concepts from quantified, bridge-ready adjustments.</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Unquantified add-backs tracked separately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259099"/>
                <a:gridCol w="1259099"/>
                <a:gridCol w="1259099"/>
                <a:gridCol w="125909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Potential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Current status</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Base-case impact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Required evidence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Warranty reserve true-up</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Identified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Not included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Claims trend and reserve policy memo</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Holding these items out of base case preserves analytical discipline and avoids embedding unsupported upside into the transaction narrative.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Each item can be moved into the bridge once evidence is delivered; until then, they should be reflected only in scenario ranges and SPA protections.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verification_report.json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Churn sensitivity compresses EBITDA quickly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Applying a share of the flagged churn risk to normalized EBITDA demonstrates material downside if retention deteriorates after closing.</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verification output flags $3.53M of customer churn risk impact, which is not included in base normalization and is treated as a scenario variable.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Applying 10%, 25%, and 40% of this risk reduces 2025 normalized EBITDA from $2.83M to $2.48M, $1.95M, and $1.42M respectively.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25% scenario implies a 31.2% reduction versus base normalized EBITDA and would materially change leverage and valuation outcomes.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sensitivity is directionally useful for IC framing even though exact realization probability requires customer-level diligence.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Retention diligence should prioritize top accounts with renewal timing, pricing concessions, and service-level issue history.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Decision 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include a downside case in final bid framework and covenant planning.</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verification_report.json and derived sensitivity math</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Cash and working capital</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NWC rose to $9.38M in 2025</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Working capital intensity increased with growth and absorbed operating flexibility, which affects cash conversion assumptions in the investment case.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NWC increased from $6.89M in December 2023 to $9.38M in December 2025, an increase of $2.49M over the period.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NWC as a percentage of revenue remained high at 195.4%, 184.8%, and 202.4% in year-end snapshots, indicating persistent balance-sheet intensity.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2025 increase suggests that growth required higher working capital support rather than releasing cash through efficiency gains.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pattern reduces free-cash conversion quality relative to EBITDA growth and should be reflected in underwriting assumptions.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Collections, inventory turns, and vendor terms become key post-close value creation levers for improving cash generation.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Decision 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test downside cases for additional working-capital funding needs.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nwc_schedule.xlsx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Aging profile shows moderate AR pressure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A/R and A/P aging quality is largely current, but receivable tail buckets require diligence on dispute and collectability trends.</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Aging profile shows moderate AR pressure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Bucket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AR %</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AR amount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AP %</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AP amount ($M)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Current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31-60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61-90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Over 90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AR has 10.3% in buckets older than 60 days, which is manageable but high enough to merit account-level review of disputes, credit terms, and concentration.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AP is predominantly current and near-term, so liquidity pressure is more likely to come from receivables and inventory dynamics than stretched vendor payables.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ar_aging.xlsx, ap_aging.xlsx</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stayed below EBITDA trend</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Cash from operations turned positive after 2023 but remained meaningfully below EBITDA due to working-capital and reinvestment demands.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Cash from operations is negative $4.18M in 2023, then positive $2.20M in 2024 and $1.82M in 2025, showing recovery but not full conversion of accounting earnings.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Capex is $0.97M in 2023 and $0.12M in both 2024 and 2025, indicating reinvestment requirements that consume operating cash generation.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Net cash change remains constrained at $2.08M and $1.70M in 2024 and 2025 despite EBITDA expansion, consistent with elevated NWC intensity.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cash profile supports a cautious debt capacity view relative to headline EBITDA and requires stress testing under churn scenarios.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Operational actions focused on collection cycle time, inventory planning, and procurement terms can improve conversion in the first 100 days.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Decision 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financing structure should incorporate cash conversion risk buffers.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cash_flow.xlsx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conversion implications for underwriting</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Earnings quality assessment should integrate NWC intensity and conversion dynamics, not only EBITDA bridge math, when setting transaction structure.</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Observed conversion pattern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Normalized EBITDA in 2025 is $2.83M while cash from operations is $1.82M, indicating a conversion gap that aligns with high working-capital intensity.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NWC exceeds $9.0M at 2025 year-end and sits above 200% of monthly revenue metric framing in the provided schedule, signaling cash lock-in risk.</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Underwriting consequence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Debt sizing and covenant assumptions should use sensitivity-adjusted cash conversion rather than assuming full EBITDA-to-cash translation.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Purchase price discussions should reflect both normalized EBITDA and expected working-capital funding requirements through the first post-close cycle.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Execution focus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Management diligence should prioritize AR aging detail, inventory obsolescence governance, and demand planning controls to release cash without margin erosion.</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cash_flow.xlsx and nwc_schedule.xlsx</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Risks and unknowns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register and deal relevance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key open items are actionable, but each has direct implications for valuation, structure, and diligence sequencing.</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Risk register and deal relevance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259099"/>
                <a:gridCol w="1259099"/>
                <a:gridCol w="1259099"/>
                <a:gridCol w="125909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Risk / unknown</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Current evidence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Potential EBITDA effect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Deal implication</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544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 churn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$3.53M impact flagged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Downside sensitivity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Affects valuation downside and leverage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reserve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adjustment flagged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Could reduce EBITDA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Needs reserve policy diligence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Cost capitalization policy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adjustment flagged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Could restate margin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Needs accounting memo and TB mapping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Owner-related items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Conceptual add-backs only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Could increase EBITDA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Needs evidence before inclusion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largest quantified risk is churn and should be explicitly included in downside scenario valuation and integration planning.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Most other items are evidence gaps rather than confirmed financial impacts, so diligence focus should prioritize fast quantification pathways.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register and deal relevance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key open items are actionable, but each has direct implications for valuation, structure, and diligence sequencing.</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Risk register and deal relevance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259099"/>
                <a:gridCol w="1259099"/>
                <a:gridCol w="1259099"/>
                <a:gridCol w="125909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Risk / unknown</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Current evidence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Potential EBITDA effect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Deal implication</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Warranty reserve true-up</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adjustment flagged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Could reduce EBITDA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Needs claims and reserve support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largest quantified risk is churn and should be explicitly included in downside scenario valuation and integration planning.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Most other items are evidence gaps rather than confirmed financial impacts, so diligence focus should prioritize fast quantification pathways.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verification_report.json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Known facts versus diligence requests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Separating current certainty from required follow-up keeps decision pacing high without compromising financial discipline.</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Known now</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Financial integrity checks pass and key schedules reconcile across income statement, cash flow, balance sheet, and aging reports.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and normalized EBITDA bridges are mathematically tied and fully reproducible with explicit source references.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scaled from $37.36M to $50.85M while gross margin remained at 28.9% across 2023 to 2025.</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intensity is elevated and persisted through 2025.</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churn risk is identified and sized as a potential impact input.</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spcAft>
                <a:spcPts val="600"/>
              </a:spcAft>
              <a:buNone/>
            </a:pPr>
            <a:r>
              <a:rPr lang="en-US" sz="1000" b="1" dirty="0">
                <a:solidFill>
                  <a:srgbClr val="00338D"/>
                </a:solidFill>
                <a:latin typeface="Arial" pitchFamily="34" charset="0"/>
                <a:ea typeface="Arial" pitchFamily="34" charset="-122"/>
                <a:cs typeface="Arial" pitchFamily="34" charset="-120"/>
              </a:rPr>
              <a:t>Still needed before final bid</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Customer-level churn support pack including renewal dates, contract terms, and margin by account.</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Owner compensation detail and third-party benchmarking for normalization validation.</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Related-party contract schedules and market comparables for supplier and facility terms.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Reserve roll-forwards for inventory and warranty with policy documentation and historical true-up behavior.</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Accounting policy memo on standard cost variance and freight capitalization treatment.</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Sensitivity framework for IC evaluation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structured scenario set allows the committee to price uncertainty directly instead of blending unverified assumptions into the base case.</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Base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 case uses normalized EBITDA of $2.83M in 2025 after deducting quantified one-time revenue and excluding unverified adjustments.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Downside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Downside applies a 25% share of flagged churn risk, reducing EBITDA by $0.88M to $1.95M; this case frames covenant and liquidity headroom resilience.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Upside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Upside assumes successful evidence-based capture of selected owner-related adjustments totaling an illustrative $0.40M, yielding $3.23M EBITDA.</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Governance rule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Only bridge lines with quantified evidence migrate from scenario to base case; all others remain scenario inputs with documented rationale and source gaps.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rule keeps the investment memo transparent, internally consistent, and auditable through signing.</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verification_report.json and derived sensitivity assumptions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Illustrative valuation under three cases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Valuation outcomes vary materially by normalization and churn assumptions, reinforcing the need for discipline in choosing the EBITDA anchor.</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Scenario EV at 7.0x EBITDA multiple</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1331940"/>
                <a:gridCol w="790840"/>
                <a:gridCol w="790840"/>
                <a:gridCol w="790840"/>
                <a:gridCol w="133194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Scenario</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EBITDA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Multiple (x)</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Implied EV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 vs base ($M)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Downside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13.65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Upside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3.23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Using a constant 7.0x multiple isolates earnings-quality sensitivity and shows the valuation swing from assumption changes without market multiple noise.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 normalized EBITDA of $2.83M implies $19.80M enterprise value.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Downside case at $1.95M EBITDA implies $13.65M EV, a $6.15M reduction from base under moderate churn realization assumptions.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Illustrative upside at $3.23M EBITDA implies $22.61M EV, contingent on evidence-supported owner-related normalization.</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derived from normalized EBITDA and scenario assumptions</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Illustrative valuation under three cases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Valuation outcomes vary materially by normalization and churn assumptions, reinforcing the need for discipline in choosing the EBITDA anchor.</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Scenario EV at 7.0x EBITDA multiple</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1331940"/>
                <a:gridCol w="790840"/>
                <a:gridCol w="790840"/>
                <a:gridCol w="790840"/>
                <a:gridCol w="133194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Scenario</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EBITDA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Multiple (x)</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Implied EV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 vs base ($M)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Downside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13.65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Upside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3.23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scenario spread demonstrates why unresolved diligence items should influence bid structure, deferred consideration, or contingent protections.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Decision 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anchor bid on base case and use scenario bounds to define walk-away and earn-out logic.</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derived from normalized EBITDA and scenario assumptions</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06</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Decision implications</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Implications for bid and execution strategy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target remains actionable, but value protection should be linked to normalization evidence and customer retention durability.</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Valuation anchor</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$2.83M normalized EBITDA as base.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Price off normalized, not reported, earnings.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Keep downside and upside as explicit scenario bands.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prevents overpaying for non-recurring results.</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Deal structure</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Link unresolved items to mechanisms at signing.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working-capital and retention protections.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Consider deferred value tied to evidence delivery.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allocates uncertainty to best owner.</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Diligence focus</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Prioritize churn and top-account contract review.</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Quantify owner-related and policy adjustment items.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Validate reserve governance for inventory and warranty.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converts uncertainty into priced facts.</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100-day plan</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Launch AR, inventory, and retention workstreams.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Install adjustment governance for monthly reporting.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Track bridge metrics in integration dashboard.</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protects first-year cash outcomes.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Pre-signing diligence workplan and owners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 focused two-week diligence sprint can resolve the largest unknowns that drive valuation dispersion and contractual protection needs.</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Commercial lead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Produce top-25 customer retention pack with renewal timing, pricing change history, margin contribution, and service issue notes within five business days.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Finance lead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Deliver owner compensation and related-party transaction support files with benchmark references and reconciled trial-balance mapping within seven business days.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Controller lead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Prepare accounting policy memo and reserve roll-forwards for inventory and warranty, including historical true-up variances and governance controls.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Deal lead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Convert unresolved items into quantified scenario updates and propose purchase agreement protections linked to final evidence status before final bid submission.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a daily bridge tracker so all adjustment movements remain transparent and tie to source evidence.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diligence requirements derived from verification_report.json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Day-one and 100-day priorities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Execution priorities are sequenced to protect earnings quality immediately and improve cash conversion through the first operating quarter.</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Day-one and 100-day priorities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413725"/>
                <a:gridCol w="795220"/>
                <a:gridCol w="1413725"/>
                <a:gridCol w="1413725"/>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Timing</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Owner</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Primary KPI</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544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Day 1-15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Finalize QoE bridge governance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CFO / Controller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bridge close by day 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671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Day 1-30</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Top-account retention intervention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Commercial leader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Renewal risk list and mitigation plans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Day 15-45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AR and collection sprint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Finance operations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&gt;60 day AR percentage reduction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671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Day 30-60</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Inventory and reserve policy reset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Operations + Controller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Reserve coverage and turns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first 30 days should focus on retention and bridge governance because those levers directly protect EBITDA quality and valuation confidence.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and policy controls in days 30 to 100 improve cash conversion and reduce recurring adjustment volatility post-close.</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Day-one and 100-day priorities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Execution priorities are sequenced to protect earnings quality immediately and improve cash conversion through the first operating quarter.</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Day-one and 100-day priorities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413725"/>
                <a:gridCol w="795220"/>
                <a:gridCol w="1413725"/>
                <a:gridCol w="1413725"/>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Timing</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Owner</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Primary KPI</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777240">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Day 60-100</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00000"/>
                          </a:solidFill>
                          <a:latin typeface="Arial" pitchFamily="34" charset="0"/>
                          <a:ea typeface="Arial" pitchFamily="34" charset="-122"/>
                          <a:cs typeface="Arial" pitchFamily="34" charset="-120"/>
                        </a:rPr>
                        <a:t>Cost policy and related-party remediation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CFO + Procurement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Policy compliance and margin stability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first 30 days should focus on retention and bridge governance because those levers directly protect EBITDA quality and valuation confidence.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and policy controls in days 30 to 100 improve cash conversion and reduce recurring adjustment volatility post-close.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derived action plan from QoE findings</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Go and no-go signals before final bid</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Proceeding should depend on whether high-impact unknowns are converted into evidence-backed facts within the remaining diligence window.</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Go signals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retention review confirms downside churn exposure is within modeled base tolerance and major renewals are contractually visible.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Owner-related and policy adjustment items are quantified with support and either incorporated in bridge or contractually ringfenced.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mechanics and reserve policies are sufficiently documented to support closing balance sheet targets.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No-go or reprice signals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Material churn evidence exceeds downside scenario assumptions or indicates near-term EBITDA compression beyond financing capacity.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Key normalization support remains unavailable, preventing confidence in final earnings baseline.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Policy or related-party findings imply repeated non-operating distortions not reflected in proposed value.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Decision rule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Advance only if normalized EBITDA case, downside resilience, and documentation quality are all within agreed investment committee thresholds.</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deck decision framework</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material was prepared for discussion purposes and reflects analysis derived from the provided synthetic data room for GNO Fabrication. It is not an audit opinion, and no assurance is provided regarding future performance. Distribution is restricted to authorized transaction stakeholders.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GNO Fabrication QoE Analysis Deck</dc:title>
  <dc:subject>Manufacturing QoE normalization and bridge implications</dc:subject>
  <dc:creator>KPMG LLP</dc:creator>
  <cp:lastModifiedBy>KPMG LLP</cp:lastModifiedBy>
  <cp:revision>1</cp:revision>
  <dcterms:created xsi:type="dcterms:W3CDTF">2026-02-25T21:46:35Z</dcterms:created>
  <dcterms:modified xsi:type="dcterms:W3CDTF">2026-02-25T21:46:35Z</dcterms:modified>
</cp:coreProperties>
</file>