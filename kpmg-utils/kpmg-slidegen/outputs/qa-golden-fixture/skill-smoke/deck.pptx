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00338D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00338D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64.7</c:v>
                </c:pt>
                <c:pt idx="1">
                  <c:v>83.2</c:v>
                </c:pt>
                <c:pt idx="2">
                  <c:v>105.1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margin (%)</c:v>
                </c:pt>
              </c:strCache>
            </c:strRef>
          </c:tx>
          <c:spPr>
            <a:solidFill>
              <a:srgbClr val="1E49E2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1E49E2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73.2</c:v>
                </c:pt>
                <c:pt idx="1">
                  <c:v>73.2</c:v>
                </c:pt>
                <c:pt idx="2">
                  <c:v>73.2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by plan</c:v>
                </c:pt>
              </c:strCache>
            </c:strRef>
          </c:tx>
          <c:spPr>
            <a:solidFill>
              <a:srgbClr val="00338D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00338D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Starter</c:v>
                  </c:pt>
                  <c:pt idx="1">
                    <c:v>Professional</c:v>
                  </c:pt>
                  <c:pt idx="2">
                    <c:v>Enterprise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511</c:v>
                </c:pt>
                <c:pt idx="1">
                  <c:v>484</c:v>
                </c:pt>
                <c:pt idx="2">
                  <c:v>578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MRR by plan ($000)</c:v>
                </c:pt>
              </c:strCache>
            </c:strRef>
          </c:tx>
          <c:spPr>
            <a:solidFill>
              <a:srgbClr val="1E49E2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1E49E2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Starter</c:v>
                  </c:pt>
                  <c:pt idx="1">
                    <c:v>Professional</c:v>
                  </c:pt>
                  <c:pt idx="2">
                    <c:v>Enterprise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64.3</c:v>
                </c:pt>
                <c:pt idx="1">
                  <c:v>287.2</c:v>
                </c:pt>
                <c:pt idx="2">
                  <c:v>3184.6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Year-end ARR ($M)</c:v>
                </c:pt>
              </c:strCache>
            </c:strRef>
          </c:tx>
          <c:spPr>
            <a:solidFill>
              <a:srgbClr val="00338D"/>
            </a:solidFill>
            <a:ln w="25400" cap="flat">
              <a:solidFill>
                <a:srgbClr val="0033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338D"/>
              </a:solidFill>
              <a:ln w="9525" cap="flat">
                <a:solidFill>
                  <a:srgbClr val="0033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2023-12</c:v>
                  </c:pt>
                  <c:pt idx="1">
                    <c:v>2024-12</c:v>
                  </c:pt>
                  <c:pt idx="2">
                    <c:v>2025-12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80.5</c:v>
                </c:pt>
                <c:pt idx="1">
                  <c:v>101.2</c:v>
                </c:pt>
                <c:pt idx="2">
                  <c:v>135.2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</c:v>
                </c:pt>
              </c:strCache>
            </c:strRef>
          </c:tx>
          <c:spPr>
            <a:solidFill>
              <a:srgbClr val="00338D"/>
            </a:solidFill>
            <a:ln w="25400" cap="flat">
              <a:solidFill>
                <a:srgbClr val="0033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338D"/>
              </a:solidFill>
              <a:ln w="9525" cap="flat">
                <a:solidFill>
                  <a:srgbClr val="0033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2023-12</c:v>
                  </c:pt>
                  <c:pt idx="1">
                    <c:v>2024-12</c:v>
                  </c:pt>
                  <c:pt idx="2">
                    <c:v>2025-12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562</c:v>
                </c:pt>
                <c:pt idx="1">
                  <c:v>1102</c:v>
                </c:pt>
                <c:pt idx="2">
                  <c:v>1649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 MRR per customer ($)</c:v>
                </c:pt>
              </c:strCache>
            </c:strRef>
          </c:tx>
          <c:spPr>
            <a:solidFill>
              <a:srgbClr val="1E49E2"/>
            </a:solidFill>
            <a:ln w="25400" cap="flat">
              <a:solidFill>
                <a:srgbClr val="1E49E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49E2"/>
              </a:solidFill>
              <a:ln w="9525" cap="flat">
                <a:solidFill>
                  <a:srgbClr val="1E49E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2023-12</c:v>
                  </c:pt>
                  <c:pt idx="1">
                    <c:v>2024-12</c:v>
                  </c:pt>
                  <c:pt idx="2">
                    <c:v>2025-12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11934</c:v>
                </c:pt>
                <c:pt idx="1">
                  <c:v>7649</c:v>
                </c:pt>
                <c:pt idx="2">
                  <c:v>6832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MRR ($000)</c:v>
                </c:pt>
              </c:strCache>
            </c:strRef>
          </c:tx>
          <c:spPr>
            <a:solidFill>
              <a:srgbClr val="00338D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00338D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Q1-23</c:v>
                  </c:pt>
                  <c:pt idx="1">
                    <c:v>Q2-23</c:v>
                  </c:pt>
                  <c:pt idx="2">
                    <c:v>Q3-23</c:v>
                  </c:pt>
                  <c:pt idx="3">
                    <c:v>Q4-23</c:v>
                  </c:pt>
                  <c:pt idx="4">
                    <c:v>Q1-24</c:v>
                  </c:pt>
                  <c:pt idx="5">
                    <c:v>Q2-24</c:v>
                  </c:pt>
                  <c:pt idx="6">
                    <c:v>Q3-24</c:v>
                  </c:pt>
                  <c:pt idx="7">
                    <c:v>Q4-24</c:v>
                  </c:pt>
                  <c:pt idx="8">
                    <c:v>Q1-25</c:v>
                  </c:pt>
                  <c:pt idx="9">
                    <c:v>Q2-25</c:v>
                  </c:pt>
                  <c:pt idx="10">
                    <c:v>Q3-25</c:v>
                  </c:pt>
                  <c:pt idx="11">
                    <c:v>Q4-25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234.5</c:v>
                </c:pt>
                <c:pt idx="1">
                  <c:v>164.7</c:v>
                </c:pt>
                <c:pt idx="2">
                  <c:v>337.5</c:v>
                </c:pt>
                <c:pt idx="3">
                  <c:v>242.5</c:v>
                </c:pt>
                <c:pt idx="4">
                  <c:v>249.8</c:v>
                </c:pt>
                <c:pt idx="5">
                  <c:v>266.7</c:v>
                </c:pt>
                <c:pt idx="6">
                  <c:v>259.9</c:v>
                </c:pt>
                <c:pt idx="7">
                  <c:v>275.1</c:v>
                </c:pt>
                <c:pt idx="8">
                  <c:v>259.5</c:v>
                </c:pt>
                <c:pt idx="9">
                  <c:v>617.4</c:v>
                </c:pt>
                <c:pt idx="10">
                  <c:v>406.6</c:v>
                </c:pt>
                <c:pt idx="11">
                  <c:v>462.8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Churned MRR ($000)</c:v>
                </c:pt>
              </c:strCache>
            </c:strRef>
          </c:tx>
          <c:spPr>
            <a:solidFill>
              <a:srgbClr val="1E49E2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1E49E2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Q1-23</c:v>
                  </c:pt>
                  <c:pt idx="1">
                    <c:v>Q2-23</c:v>
                  </c:pt>
                  <c:pt idx="2">
                    <c:v>Q3-23</c:v>
                  </c:pt>
                  <c:pt idx="3">
                    <c:v>Q4-23</c:v>
                  </c:pt>
                  <c:pt idx="4">
                    <c:v>Q1-24</c:v>
                  </c:pt>
                  <c:pt idx="5">
                    <c:v>Q2-24</c:v>
                  </c:pt>
                  <c:pt idx="6">
                    <c:v>Q3-24</c:v>
                  </c:pt>
                  <c:pt idx="7">
                    <c:v>Q4-24</c:v>
                  </c:pt>
                  <c:pt idx="8">
                    <c:v>Q1-25</c:v>
                  </c:pt>
                  <c:pt idx="9">
                    <c:v>Q2-25</c:v>
                  </c:pt>
                  <c:pt idx="10">
                    <c:v>Q3-25</c:v>
                  </c:pt>
                  <c:pt idx="11">
                    <c:v>Q4-25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124.8</c:v>
                </c:pt>
                <c:pt idx="1">
                  <c:v>54.5</c:v>
                </c:pt>
                <c:pt idx="2">
                  <c:v>172.2</c:v>
                </c:pt>
                <c:pt idx="3">
                  <c:v>100.6</c:v>
                </c:pt>
                <c:pt idx="4">
                  <c:v>91.4</c:v>
                </c:pt>
                <c:pt idx="5">
                  <c:v>202.3</c:v>
                </c:pt>
                <c:pt idx="6">
                  <c:v>98</c:v>
                </c:pt>
                <c:pt idx="7">
                  <c:v>87.4</c:v>
                </c:pt>
                <c:pt idx="8">
                  <c:v>278.9</c:v>
                </c:pt>
                <c:pt idx="9">
                  <c:v>170.1</c:v>
                </c:pt>
                <c:pt idx="10">
                  <c:v>256.1</c:v>
                </c:pt>
                <c:pt idx="11">
                  <c:v>269.7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Expansion MRR ($000)</c:v>
                </c:pt>
              </c:strCache>
            </c:strRef>
          </c:tx>
          <c:spPr>
            <a:solidFill>
              <a:srgbClr val="00B8F5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00B8F5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Q1-23</c:v>
                  </c:pt>
                  <c:pt idx="1">
                    <c:v>Q2-23</c:v>
                  </c:pt>
                  <c:pt idx="2">
                    <c:v>Q3-23</c:v>
                  </c:pt>
                  <c:pt idx="3">
                    <c:v>Q4-23</c:v>
                  </c:pt>
                  <c:pt idx="4">
                    <c:v>Q1-24</c:v>
                  </c:pt>
                  <c:pt idx="5">
                    <c:v>Q2-24</c:v>
                  </c:pt>
                  <c:pt idx="6">
                    <c:v>Q3-24</c:v>
                  </c:pt>
                  <c:pt idx="7">
                    <c:v>Q4-24</c:v>
                  </c:pt>
                  <c:pt idx="8">
                    <c:v>Q1-25</c:v>
                  </c:pt>
                  <c:pt idx="9">
                    <c:v>Q2-25</c:v>
                  </c:pt>
                  <c:pt idx="10">
                    <c:v>Q3-25</c:v>
                  </c:pt>
                  <c:pt idx="11">
                    <c:v>Q4-25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132.1</c:v>
                </c:pt>
                <c:pt idx="1">
                  <c:v>107.9</c:v>
                </c:pt>
                <c:pt idx="2">
                  <c:v>71.4</c:v>
                </c:pt>
                <c:pt idx="3">
                  <c:v>73</c:v>
                </c:pt>
                <c:pt idx="4">
                  <c:v>69.6</c:v>
                </c:pt>
                <c:pt idx="5">
                  <c:v>163.7</c:v>
                </c:pt>
                <c:pt idx="6">
                  <c:v>170.6</c:v>
                </c:pt>
                <c:pt idx="7">
                  <c:v>115.7</c:v>
                </c:pt>
                <c:pt idx="8">
                  <c:v>180.9</c:v>
                </c:pt>
                <c:pt idx="9">
                  <c:v>112.3</c:v>
                </c:pt>
                <c:pt idx="10">
                  <c:v>263.4</c:v>
                </c:pt>
                <c:pt idx="11">
                  <c:v>229.1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00338D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00338D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64.7</c:v>
                </c:pt>
                <c:pt idx="1">
                  <c:v>83.2</c:v>
                </c:pt>
                <c:pt idx="2">
                  <c:v>105.1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profit ($M)</c:v>
                </c:pt>
              </c:strCache>
            </c:strRef>
          </c:tx>
          <c:spPr>
            <a:solidFill>
              <a:srgbClr val="1E49E2"/>
            </a:solidFill>
            <a:ln w="635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spPr>
              <a:solidFill>
                <a:srgbClr val="1E49E2"/>
              </a:solidFill>
            </c:spPr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47.3</c:v>
                </c:pt>
                <c:pt idx="1">
                  <c:v>60.9</c:v>
                </c:pt>
                <c:pt idx="2">
                  <c:v>76.9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(%)</c:v>
                </c:pt>
              </c:strCache>
            </c:strRef>
          </c:tx>
          <c:spPr>
            <a:solidFill>
              <a:srgbClr val="00338D"/>
            </a:solidFill>
            <a:ln w="25400" cap="flat">
              <a:solidFill>
                <a:srgbClr val="0033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338D"/>
              </a:solidFill>
              <a:ln w="9525" cap="flat">
                <a:solidFill>
                  <a:srgbClr val="0033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13.2</c:v>
                </c:pt>
                <c:pt idx="2">
                  <c:v>14.9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margin (%)</c:v>
                </c:pt>
              </c:strCache>
            </c:strRef>
          </c:tx>
          <c:spPr>
            <a:solidFill>
              <a:srgbClr val="1E49E2"/>
            </a:solidFill>
            <a:ln w="25400" cap="flat">
              <a:solidFill>
                <a:srgbClr val="1E49E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49E2"/>
              </a:solidFill>
              <a:ln w="9525" cap="flat">
                <a:solidFill>
                  <a:srgbClr val="1E49E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15.9</c:v>
                </c:pt>
                <c:pt idx="1">
                  <c:v>13.2</c:v>
                </c:pt>
                <c:pt idx="2">
                  <c:v>14.9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verification_report.json, income_statement.xlsx, mrr_analysis.xlsx, nwc_schedule.xlsx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ar_aging.xlsx, ap_aging.xlsx, nwc_schedule.xlsx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svg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ishi/Code/ai-tools/kpmg-utils/kpmg-slidegen/skills/kpmg-slides/assets/slidegen/templates/kpmg-diligence/assets/kpmg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3097" y="6267298"/>
            <a:ext cx="483718" cy="1965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85493" y="6267298"/>
            <a:ext cx="6343193" cy="1847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KPMG LLP, a Ontario limited liability partnership and a member firm of the KPMG global organization of independent member firms affiliated with KPMG International Limited, a private English company limited by guarantee. All rights reserved.</a:t>
            </a:r>
            <a:endParaRPr lang="en-US" sz="600" dirty="0"/>
          </a:p>
        </p:txBody>
      </p:sp>
      <p:sp>
        <p:nvSpPr>
          <p:cNvPr id="4" name="Text 1"/>
          <p:cNvSpPr/>
          <p:nvPr/>
        </p:nvSpPr>
        <p:spPr>
          <a:xfrm>
            <a:off x="8183880" y="6267298"/>
            <a:ext cx="749808" cy="1847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kpmg.com/ca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8967521" y="6267298"/>
            <a:ext cx="1866290" cy="923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Classification: KPMG Confidential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10874045" y="6267298"/>
            <a:ext cx="0" cy="149047"/>
          </a:xfrm>
          <a:prstGeom prst="line">
            <a:avLst/>
          </a:prstGeom>
          <a:noFill/>
          <a:ln w="12700">
            <a:solidFill>
              <a:srgbClr val="1E49E2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SUMMA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ishi/Code/ai-tools/kpmg-utils/kpmg-slidegen/skills/kpmg-slides/assets/slidegen/templates/kpmg-diligence/assets/gradient_accent_chip_300d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34242" y="103327"/>
            <a:ext cx="222199" cy="222199"/>
          </a:xfrm>
          <a:prstGeom prst="rect">
            <a:avLst/>
          </a:prstGeom>
        </p:spPr>
      </p:pic>
      <p:pic>
        <p:nvPicPr>
          <p:cNvPr id="3" name="Image 1" descr="/Users/rishi/Code/ai-tools/kpmg-utils/kpmg-slidegen/skills/kpmg-slides/assets/slidegen/templates/kpmg-diligence/assets/kpmg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097" y="6267298"/>
            <a:ext cx="483718" cy="1965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885493" y="6267298"/>
            <a:ext cx="6343193" cy="1847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KPMG LLP, a Ontario limited liability partnership and a member firm of the KPMG global organization of independent member firms affiliated with KPMG International Limited, a private English company limited by guarantee. All rights reserved.</a:t>
            </a:r>
            <a:endParaRPr lang="en-US" sz="600" dirty="0"/>
          </a:p>
        </p:txBody>
      </p:sp>
      <p:sp>
        <p:nvSpPr>
          <p:cNvPr id="5" name="Text 1"/>
          <p:cNvSpPr/>
          <p:nvPr/>
        </p:nvSpPr>
        <p:spPr>
          <a:xfrm>
            <a:off x="8183880" y="6267298"/>
            <a:ext cx="749808" cy="1847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kpmg.com/ca</a:t>
            </a:r>
            <a:endParaRPr lang="en-US" sz="600" dirty="0"/>
          </a:p>
        </p:txBody>
      </p:sp>
      <p:sp>
        <p:nvSpPr>
          <p:cNvPr id="6" name="Text 2"/>
          <p:cNvSpPr/>
          <p:nvPr/>
        </p:nvSpPr>
        <p:spPr>
          <a:xfrm>
            <a:off x="8967521" y="6267298"/>
            <a:ext cx="1866290" cy="923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Classification: KPMG Confidential</a:t>
            </a:r>
            <a:endParaRPr lang="en-US" sz="600" dirty="0"/>
          </a:p>
        </p:txBody>
      </p:sp>
      <p:sp>
        <p:nvSpPr>
          <p:cNvPr id="7" name="Shape 3"/>
          <p:cNvSpPr/>
          <p:nvPr/>
        </p:nvSpPr>
        <p:spPr>
          <a:xfrm>
            <a:off x="10874045" y="6267298"/>
            <a:ext cx="0" cy="149047"/>
          </a:xfrm>
          <a:prstGeom prst="line">
            <a:avLst/>
          </a:prstGeom>
          <a:noFill/>
          <a:ln w="12700">
            <a:solidFill>
              <a:srgbClr val="1E49E2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COVER">
    <p:bg>
      <p:bgPr>
        <a:solidFill>
          <a:srgbClr val="1E49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SECTION_DARK">
    <p:bg>
      <p:bgPr>
        <a:solidFill>
          <a:srgbClr val="1E49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ishi/Code/ai-tools/kpmg-utils/kpmg-slidegen/skills/kpmg-slides/assets/slidegen/templates/kpmg-diligence/assets/gradient_divider_window_300d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975665"/>
            <a:ext cx="7061911" cy="49057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SECTION">
    <p:bg>
      <p:bgPr>
        <a:solidFill>
          <a:srgbClr val="1E49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ishi/Code/ai-tools/kpmg-utils/kpmg-slidegen/skills/kpmg-slides/assets/slidegen/templates/kpmg-diligence/assets/gradient_divider_window_300d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975665"/>
            <a:ext cx="7061911" cy="49057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SECTION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PMG_CLOSING">
    <p:bg>
      <p:bgPr>
        <a:solidFill>
          <a:srgbClr val="1E49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ishi/Code/ai-tools/kpmg-utils/kpmg-slidegen/skills/kpmg-slides/assets/slidegen/templates/kpmg-diligence/assets/gradient_back_cover_300d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hyperlink" Target="https://home.kpmg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8" Type="http://schemas.openxmlformats.org/officeDocument/2006/relationships/slideLayout" Target="../slideLayouts/slideLayout8.xml"/><Relationship Id="rId9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PM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476" y="371311"/>
            <a:ext cx="914400" cy="3683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8478" y="1456388"/>
            <a:ext cx="3697810" cy="3427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PartyThrow</a:t>
            </a:r>
            <a:endParaRPr lang="en-US" sz="4700" dirty="0"/>
          </a:p>
          <a:p>
            <a:pPr algn="l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Tech:</a:t>
            </a:r>
            <a:endParaRPr lang="en-US" sz="4700" dirty="0"/>
          </a:p>
          <a:p>
            <a:pPr algn="l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Mid-Market</a:t>
            </a:r>
            <a:endParaRPr lang="en-US" sz="4700" dirty="0"/>
          </a:p>
          <a:p>
            <a:pPr algn="l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</a:t>
            </a:r>
            <a:endParaRPr lang="en-US" sz="4700" dirty="0"/>
          </a:p>
          <a:p>
            <a:pPr algn="l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Diligence</a:t>
            </a:r>
            <a:endParaRPr lang="en-US" sz="4700" dirty="0"/>
          </a:p>
        </p:txBody>
      </p:sp>
      <p:sp>
        <p:nvSpPr>
          <p:cNvPr id="4" name="Text 1"/>
          <p:cNvSpPr/>
          <p:nvPr/>
        </p:nvSpPr>
        <p:spPr>
          <a:xfrm>
            <a:off x="998433" y="5005883"/>
            <a:ext cx="3697834" cy="809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diligence storyline for simulated EdTech target, period covered January 2023 to December 2025</a:t>
            </a:r>
            <a:endParaRPr lang="en-US" sz="1400" dirty="0"/>
          </a:p>
        </p:txBody>
      </p:sp>
      <p:pic>
        <p:nvPicPr>
          <p:cNvPr id="5" name="Image 1" descr="Cover photograph">    </p:cNvPr>
          <p:cNvPicPr>
            <a:picLocks noChangeAspect="1"/>
          </p:cNvPicPr>
          <p:nvPr/>
        </p:nvPicPr>
        <p:blipFill>
          <a:blip r:embed="rId2"/>
          <a:srcRect l="4986" r="4986" t="0" b="0"/>
          <a:stretch/>
        </p:blipFill>
        <p:spPr>
          <a:xfrm>
            <a:off x="4915965" y="1456388"/>
            <a:ext cx="6283848" cy="43649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5782" y="431597"/>
            <a:ext cx="10191628" cy="565191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782" y="1261872"/>
            <a:ext cx="19079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95782" y="1737360"/>
            <a:ext cx="502920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5782" y="1783080"/>
            <a:ext cx="190798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95782" y="2020824"/>
            <a:ext cx="190798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(p. 2-3)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95782" y="2286000"/>
            <a:ext cx="1907987" cy="112471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numbers say about investment quality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growth quality is good but not risk free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68361" y="1261872"/>
            <a:ext cx="19079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068361" y="1737360"/>
            <a:ext cx="502920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68361" y="1783080"/>
            <a:ext cx="190798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and Product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68361" y="2020824"/>
            <a:ext cx="190798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(p. 4-5)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68361" y="2286000"/>
            <a:ext cx="1907987" cy="112471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in EdTech SaaS and packaging model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design supports upsell path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40940" y="1261872"/>
            <a:ext cx="19079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5140940" y="1737360"/>
            <a:ext cx="502920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0940" y="1783080"/>
            <a:ext cx="190798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Quality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40940" y="2020824"/>
            <a:ext cx="190798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(p. 6-8)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40940" y="2286000"/>
            <a:ext cx="1907987" cy="112471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and customer trend evidence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new MRR durability and churn pressure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213519" y="1261872"/>
            <a:ext cx="19079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7213519" y="1737360"/>
            <a:ext cx="502920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13519" y="1783080"/>
            <a:ext cx="190798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13519" y="2020824"/>
            <a:ext cx="190798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(p. 9-11)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213519" y="2286000"/>
            <a:ext cx="1907987" cy="112471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Margins, operating leverage, and cash conversion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and working capital discipline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86098" y="1261872"/>
            <a:ext cx="19079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9286098" y="1737360"/>
            <a:ext cx="502920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86098" y="1783080"/>
            <a:ext cx="190798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Recommendations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86098" y="2020824"/>
            <a:ext cx="190798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(p. 12-13)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86098" y="2286000"/>
            <a:ext cx="1907987" cy="112471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diligence risks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100-day actions and next-step asks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9860" y="1140069"/>
            <a:ext cx="1082675" cy="81253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89861" y="2180877"/>
            <a:ext cx="6321425" cy="69678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scaled 27.5% CAGR with margin resilience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2299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Top-line expansion and stable gross margin indicate a scalable software model, with operating margin recovery visible in 2025.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5361" y="3859200"/>
            <a:ext cx="5036400" cy="2016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expanded from $64.7M in 2023 to $105.1M in 2025, implying 27.5% CAGR across the observed period and sustained demand momentum.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 remained 73.2% in each year, suggesting limited gross margin dilution as the company scaled customer and ARR volume.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margin dipped to 13.2% in 2024 during growth investment then recovered to 14.9% in 2025, indicating emerging operating discipline.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baseline case supports a quality-growth narrative if churn and working-capital volatility are contained in underwriting assumptions.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59600" y="3859199"/>
          <a:ext cx="5036400" cy="201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59600" y="5920919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income_statement.xlsx (2023-2025)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case is attractive with clear watchouts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5200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thesis is growth at scale with strong software margins, balanced by concentration of execution risks in churn and QoE items.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95361" y="1751579"/>
            <a:ext cx="5036396" cy="219456"/>
          </a:xfrm>
          <a:prstGeom prst="rect">
            <a:avLst/>
          </a:prstGeom>
          <a:solidFill>
            <a:srgbClr val="00338D"/>
          </a:solidFill>
          <a:ln w="12700">
            <a:solidFill>
              <a:srgbClr val="00338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0225" y="1765295"/>
            <a:ext cx="49266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case is attractive with clear watchouts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95361" y="1971035"/>
            <a:ext cx="5036396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5361" y="1989323"/>
          <a:ext cx="5036396" cy="3884252"/>
        </p:xfrm>
        <a:graphic>
          <a:graphicData uri="http://schemas.openxmlformats.org/drawingml/2006/table">
            <a:tbl>
              <a:tblPr/>
              <a:tblGrid>
                <a:gridCol w="1259099"/>
                <a:gridCol w="1259099"/>
                <a:gridCol w="1259099"/>
                <a:gridCol w="125909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Read-through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Diligence view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 trajectory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+62.5% (2023-2025)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and GTM execution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Recurring engine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 $80.5M to $135.2M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Contracted base improving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profile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 73.2% each year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Healthy SaaS economics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 pressure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customer losses, -$8.0M impact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Potential growth volatility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Watchout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QoE complexity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flagged QoE issues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Normalization needed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Watchout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59600" y="1751579"/>
            <a:ext cx="5036396" cy="251999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159600" y="2003588"/>
            <a:ext cx="5036396" cy="386999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strengths support the investment case, but quality of growth remains sensitive to retention outcomes and EBITDA normalization assumptions.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should include churn downside and explicit QoE adjustments before valuation and leverage are finalized.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95361" y="6010735"/>
            <a:ext cx="5036396" cy="1651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verification_report.json, income_statement.xlsx, mrr_analysis.xlsx, nwc_schedule.xlsx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9860" y="1140069"/>
            <a:ext cx="1082675" cy="81253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89861" y="2180877"/>
            <a:ext cx="6321425" cy="69678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and Product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positioning supports continued expansion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8433" y="1179485"/>
            <a:ext cx="10204338" cy="48243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company is positioned as a mid-market cloud platform with a credible path to grow share through product depth and enterprise motion.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7200" y="1716786"/>
            <a:ext cx="10195200" cy="415712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context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PartyThrow Tech operates in the EdTech software segment where buyers prioritize reliability, integration quality, and measurable learning outcomes.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has built a base of 1,834 customers with growth milestones since launch, indicating product-market fit beyond early adopter cohorts.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posture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positioning is strongest in mid-market accounts where the platform offers meaningful functionality at lower complexity than large-suite alternatives.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momentum suggests room to move up-market if implementation quality and customer success coverage stay aligned to higher-contract accounts.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narrative supports upside, but diligence should validate win-loss dynamics and pipeline conversion assumptions by segment before value creation planning.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97200" y="5992978"/>
            <a:ext cx="10195200" cy="18288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company_seed.json, cim.md, customer_master.xlsx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Three-tier packaging supports land-and-expand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7587923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architecture offers clear entry, growth, and enterprise tiers, which supports segmentation and staged upsell motions.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95361" y="1751584"/>
            <a:ext cx="10192299" cy="252000"/>
          </a:xfrm>
          <a:prstGeom prst="rect">
            <a:avLst/>
          </a:prstGeom>
          <a:solidFill>
            <a:srgbClr val="00338D"/>
          </a:solidFill>
          <a:ln w="12700">
            <a:solidFill>
              <a:srgbClr val="0033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8513" y="1769872"/>
            <a:ext cx="10045995" cy="252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packaging and list pricing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5361" y="3978688"/>
          <a:ext cx="5036400" cy="2197170"/>
        </p:xfrm>
        <a:graphic>
          <a:graphicData uri="http://schemas.openxmlformats.org/drawingml/2006/table">
            <a:tbl>
              <a:tblPr/>
              <a:tblGrid>
                <a:gridCol w="1527694"/>
                <a:gridCol w="940518"/>
                <a:gridCol w="940518"/>
                <a:gridCol w="162766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Price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</a:tr>
              <a:tr h="290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 and pilot buyers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Professional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accounts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Scaled institutions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159600" y="2058448"/>
            <a:ext cx="5033848" cy="18288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Starter, Professional, and Enterprise plans create a natural progression path that can support both SMB acquisition and upmarket expansion.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active subscriptions skew to enterprise count and MRR in the simulated dataset, which boosts scale but can raise concentration sensitivity.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monthly prices of $99, $299, and $999 create clear value ladders, making packaging understandable for sales and finance forecasting.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creation should focus on expansion playbooks and retention controls to protect enterprise-heavy recurring revenue streams.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95361" y="2058448"/>
          <a:ext cx="50364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995361" y="3932968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subscription_register.xlsx (active status)</a:t>
            </a:r>
            <a:endParaRPr lang="en-US" sz="600" dirty="0"/>
          </a:p>
        </p:txBody>
      </p:sp>
      <p:sp>
        <p:nvSpPr>
          <p:cNvPr id="10" name="Text 6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9860" y="1140069"/>
            <a:ext cx="1082675" cy="81253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89861" y="2180877"/>
            <a:ext cx="6321425" cy="69678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Quality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reached $135.2M with sustained momentum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2299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Year-end recurring revenue increased each year, supporting a durable growth narrative at the topline recurring level.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5361" y="3859200"/>
            <a:ext cx="5036400" cy="2016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Year-end ARR increased from $80.5M in 2023 to $101.2M in 2024 and $135.2M in 2025, reflecting broad recurring base expansion.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absolute increase occurred in 2025, showing acceleration despite known churn events and prior investment-cycle variability.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revenue growth remained ahead of fixed overhead growth, which supports the case for margin resilience over the medium term.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valuation can anchor on recurring scale, but diligence should test retention durability and cohort behavior by plan tier.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59600" y="3859199"/>
          <a:ext cx="5036400" cy="201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59600" y="5920919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mrr_analysis.xlsx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base tripled as ARPU normalized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2299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came from a large increase in active customers, with expected ARPU normalization as the company broadened into lower-ticket cohorts.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5361" y="3859200"/>
            <a:ext cx="5036400" cy="2016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customers increased from 562 at 2023 year-end to 1,649 at 2025 year-end, which demonstrates strong customer acquisition throughput.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MRR per active customer declined from $11.9k to $6.8k over the same period as mix broadened across plans and newer cohorts.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mix shift is not inherently negative, but it raises the importance of disciplined upsell and retention motions to protect lifetime value.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growth quality remains favorable if future bookings maintain healthy cohort retention and expansion rates post-onboarding.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59600" y="3859199"/>
          <a:ext cx="5036400" cy="201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59600" y="5920919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mrr_analysis.xlsx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new MRR stayed positive despite churn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2299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acquisition and expansion generally outpaced churn, though churn volatility remains a material diligence watchpoint.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5361" y="3859200"/>
            <a:ext cx="5036400" cy="2016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quarter-end snapshots, new plus expansion MRR exceeded churn in each period, producing positive net new recurring contribution.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spikes are visible in multiple quarters and align with verification flags that identify seven customer losses totaling about $8.0M impact.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durability therefore depends on reducing preventable churn while preserving expansion productivity across mature cohorts.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creation should prioritize customer health scoring, renewal process rigor, and at-risk account intervention capacity.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59600" y="3859199"/>
          <a:ext cx="5036400" cy="201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59600" y="5920919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mrr_analysis.xlsx (quarter-end periods)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9860" y="1140069"/>
            <a:ext cx="1082675" cy="81253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89861" y="2180877"/>
            <a:ext cx="6321425" cy="69678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profit expanded with stable unit economics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2299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gross margin and rising gross profit indicate favorable unit economics at current product and support cost structure.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5361" y="3859200"/>
            <a:ext cx="5036400" cy="2016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profit increased from $47.3M in 2023 to $76.9M in 2025 while gross margin remained flat at 73.2% throughout the period.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pattern indicates that incremental revenue was not purchased through structural COGS inflation, supporting confidence in SaaS cost architecture.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scale grows, stable gross margin provides room to absorb controlled GTM and product investments without impairing core economics.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management can prioritize growth initiatives while maintaining disciplined margin guardrails in annual planning cycles.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59600" y="3859199"/>
          <a:ext cx="5036400" cy="201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59600" y="5920919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income_statement.xlsx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leverage is improving post-2024 dip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2299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margin compression in 2024 appears temporary, with recovery in 2025 as revenue growth outpaced opex growth.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5361" y="3859200"/>
            <a:ext cx="5036400" cy="20160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income rose from $10.3M in 2023 to $15.6M in 2025 despite a temporary margin trough in 2024.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margin moved from 15.9% to 13.2% then recovered to 14.9%, consistent with investment-led compression followed by scale efficiency.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increased in absolute terms but remained manageable relative to recurring growth, supporting an improving leverage trajectory.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base-case underwriting can assume modest margin expansion if retention and GTM productivity are actively managed.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159600" y="3859199"/>
          <a:ext cx="5036400" cy="201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59600" y="5920919"/>
            <a:ext cx="503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income_statement.xlsx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and NWC need tighter controls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5361" y="1179513"/>
            <a:ext cx="10195200" cy="482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Aging quality is currently acceptable, but working-capital volatility signals the need for stronger forecasting and collections cadence.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95361" y="1751579"/>
            <a:ext cx="5036396" cy="219456"/>
          </a:xfrm>
          <a:prstGeom prst="rect">
            <a:avLst/>
          </a:prstGeom>
          <a:solidFill>
            <a:srgbClr val="00338D"/>
          </a:solidFill>
          <a:ln w="12700">
            <a:solidFill>
              <a:srgbClr val="00338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0225" y="1765295"/>
            <a:ext cx="49266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and NWC need tighter controls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95361" y="1971035"/>
            <a:ext cx="5036396" cy="0"/>
          </a:xfrm>
          <a:prstGeom prst="line">
            <a:avLst/>
          </a:prstGeom>
          <a:noFill/>
          <a:ln w="12700">
            <a:solidFill>
              <a:srgbClr val="00338D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5361" y="1989323"/>
          <a:ext cx="5036396" cy="3884252"/>
        </p:xfrm>
        <a:graphic>
          <a:graphicData uri="http://schemas.openxmlformats.org/drawingml/2006/table">
            <a:tbl>
              <a:tblPr/>
              <a:tblGrid>
                <a:gridCol w="1259099"/>
                <a:gridCol w="1259099"/>
                <a:gridCol w="1259099"/>
                <a:gridCol w="125909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E2"/>
                    </a:solidFill>
                  </a:tcPr>
                </a:tc>
              </a:tr>
              <a:tr h="290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 Current bucket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$11.4M (70.1%)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 current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Healthy baseline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 &gt;60 days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$0.36M (2.2%)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 deep 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Manageable risk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Current bucket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$4.27M (77.5%)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Timely payables profile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immediate stress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Dec-25 AR balance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$16.23M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 absolute receivables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timing sensitive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Q4-25 operating NWC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-$3.34M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Sharp quarter-end swing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 discipline needed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75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NWC as % revenue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-29.7% (Dec-25)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volatility over quarters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444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Underwrite with caution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762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159600" y="1751579"/>
            <a:ext cx="5036396" cy="251999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159600" y="2003588"/>
            <a:ext cx="5036396" cy="386999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Aging buckets do not show severe delinquency today, but large receivables and volatile operating NWC can distort near-term cash conversion.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Diligence should stress-test collections assumptions, deferred revenue behavior, and quarter-end working-capital mechanics before close planning.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95361" y="6010735"/>
            <a:ext cx="5036396" cy="1651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0C23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ar_aging.xlsx, ap_aging.xlsx, nwc_schedule.xlsx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9860" y="1140069"/>
            <a:ext cx="1082675" cy="81253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89861" y="2180877"/>
            <a:ext cx="6321425" cy="696782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Recommendations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risks are identifiable and actionable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8433" y="1179485"/>
            <a:ext cx="10204338" cy="48243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material risks are concentrated in retention volatility and QoE normalization, both of which can be addressed through focused diligence.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7200" y="1716786"/>
            <a:ext cx="5036400" cy="415712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risks</a:t>
            </a:r>
            <a:endParaRPr lang="en-US" sz="1000" dirty="0"/>
          </a:p>
          <a:p>
            <a:pPr algn="l"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churn risk: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seven identified losses with aggregate impact around $8.0M indicate vulnerability in renewal and customer health coverage.</a:t>
            </a:r>
            <a:endParaRPr lang="en-US" sz="1000" dirty="0"/>
          </a:p>
          <a:p>
            <a:pPr algn="l"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QoE adjustment complexity: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 flagged issues include one-time items and standard normalization topics that can change reported run-rate earnings.</a:t>
            </a:r>
            <a:endParaRPr lang="en-US" sz="1000" dirty="0"/>
          </a:p>
          <a:p>
            <a:pPr algn="l"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Working-capital timing risk: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quarter-end swings in operating NWC can pressure cash conversion and short-term leverage headroom.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9600" y="1716786"/>
            <a:ext cx="5036400" cy="415712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</a:t>
            </a:r>
            <a:endParaRPr lang="en-US" sz="1000" dirty="0"/>
          </a:p>
          <a:p>
            <a:pPr algn="l"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program: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launch top-account health scoring, executive renewal governance, and early-warning churn intervention in customer success.</a:t>
            </a:r>
            <a:endParaRPr lang="en-US" sz="1000" dirty="0"/>
          </a:p>
          <a:p>
            <a:pPr algn="l"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QoE workstream: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establish normalized EBITDA bridge with documented treatment for one-time events and owner-related adjustments.</a:t>
            </a:r>
            <a:endParaRPr lang="en-US" sz="1000" dirty="0"/>
          </a:p>
          <a:p>
            <a:pPr algn="l"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discipline:</a:t>
            </a:r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weekly receivables and billing cadence controls with rolling 13-week cash visibility through integration planning.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8400" y="431800"/>
            <a:ext cx="10195200" cy="53340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 for diligence-to-value creation handoff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98433" y="1179485"/>
            <a:ext cx="10204338" cy="48243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721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immediate objective is to close open diligence items while preparing a practical 100-day plan tied to retention, margin, and cash outcomes.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7200" y="1716786"/>
            <a:ext cx="10195200" cy="4157127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diligence priorities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QoE normalization with explicit treatment of one-time product launch effects and churn-driven revenue sensitivity scenarios.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cohort retention and upsell assumptions by plan tier, including renewal timing and customer concentration in top enterprise accounts.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working-capital mechanics to close model, with specific tests on AR collections and deferred revenue conversion behavior.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100-day execution priorities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retention control tower, enforce renewal operating rhythm, and align sales-customer success incentives on net revenue outcomes.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cost governance around growth investments while preserving product roadmap milestones tied to enterprise expansion.</a:t>
            </a:r>
            <a:endParaRPr lang="en-US" sz="1000" dirty="0"/>
          </a:p>
          <a:p>
            <a:pPr marL="226800" indent="-226800">
              <a:lnSpc>
                <a:spcPts val="12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integration KPI pack with monthly tracking for ARR, net new MRR, churn, gross margin, operating margin, and cash conversion.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97200" y="5992978"/>
            <a:ext cx="10195200" cy="182880"/>
          </a:xfrm>
          <a:prstGeom prst="rect">
            <a:avLst/>
          </a:prstGeom>
          <a:noFill/>
          <a:ln/>
        </p:spPr>
        <p:txBody>
          <a:bodyPr wrap="square" lIns="46800" tIns="72000" rIns="90000" bIns="4680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verification_report.json, mrr_analysis.xlsx, income_statement.xlsx, nwc_schedule.xlsx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10946282" y="6267298"/>
            <a:ext cx="242316" cy="149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33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PM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411480"/>
            <a:ext cx="1216152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1268" y="1014984"/>
            <a:ext cx="9372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contacts at KPMG in connection with this report are: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1133856" y="27706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Firstname Lastname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133856" y="302666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T: +1 000 000 0001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firstname.lastname@kpmg.ca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465576" y="27706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Firstname Lastname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65576" y="302666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T: +1 000 000 0002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firstname.lastname@kpmg.ca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797296" y="27706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Firstname Lastname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97296" y="302666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T: +1 000 000 0003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firstname.lastname@kpmg.ca</a:t>
            </a:r>
            <a:endParaRPr lang="en-US" sz="1100" dirty="0"/>
          </a:p>
        </p:txBody>
      </p:sp>
      <p:pic>
        <p:nvPicPr>
          <p:cNvPr id="10" name="Image 1" descr="Social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5394960"/>
            <a:ext cx="329184" cy="329184"/>
          </a:xfrm>
          <a:prstGeom prst="rect">
            <a:avLst/>
          </a:prstGeom>
        </p:spPr>
      </p:pic>
      <p:pic>
        <p:nvPicPr>
          <p:cNvPr id="11" name="Image 2" descr="Social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8" y="5394960"/>
            <a:ext cx="329184" cy="329184"/>
          </a:xfrm>
          <a:prstGeom prst="rect">
            <a:avLst/>
          </a:prstGeom>
        </p:spPr>
      </p:pic>
      <p:pic>
        <p:nvPicPr>
          <p:cNvPr id="12" name="Image 3" descr="Social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5394960"/>
            <a:ext cx="329184" cy="329184"/>
          </a:xfrm>
          <a:prstGeom prst="rect">
            <a:avLst/>
          </a:prstGeom>
        </p:spPr>
      </p:pic>
      <p:pic>
        <p:nvPicPr>
          <p:cNvPr id="13" name="Image 4" descr="Social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6272" y="5394960"/>
            <a:ext cx="329184" cy="329184"/>
          </a:xfrm>
          <a:prstGeom prst="rect">
            <a:avLst/>
          </a:prstGeom>
        </p:spPr>
      </p:pic>
      <p:pic>
        <p:nvPicPr>
          <p:cNvPr id="14" name="Image 5" descr="Socia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9464" y="5394960"/>
            <a:ext cx="329184" cy="32918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996696" y="5897880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information in this presentation is based on a simulated data room and is intended solely for diligence workflow testing. It does not represent investment advice, an audited opinion, or a recommendation to pursue any transaction.</a:t>
            </a:r>
            <a:endParaRPr lang="en-US" sz="900" dirty="0"/>
          </a:p>
        </p:txBody>
      </p:sp>
      <p:sp>
        <p:nvSpPr>
          <p:cNvPr id="16" name="Text 8"/>
          <p:cNvSpPr/>
          <p:nvPr/>
        </p:nvSpPr>
        <p:spPr>
          <a:xfrm>
            <a:off x="996696" y="6327648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KPMG name and logo are trademarks used under license by the independent member firms of the KPMG global organization.</a:t>
            </a:r>
            <a:endParaRPr lang="en-US" sz="800" dirty="0"/>
          </a:p>
        </p:txBody>
      </p:sp>
      <p:sp>
        <p:nvSpPr>
          <p:cNvPr id="17" name="Text 9"/>
          <p:cNvSpPr/>
          <p:nvPr/>
        </p:nvSpPr>
        <p:spPr>
          <a:xfrm>
            <a:off x="996696" y="6729984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Classification: KPMG Confidential</a:t>
            </a:r>
            <a:endParaRPr lang="en-US" sz="800" dirty="0"/>
          </a:p>
        </p:txBody>
      </p:sp>
      <p:sp>
        <p:nvSpPr>
          <p:cNvPr id="18" name="Text 10">
            <a:hlinkClick r:id="rId7" tooltip=""/>
          </p:cNvPr>
          <p:cNvSpPr/>
          <p:nvPr/>
        </p:nvSpPr>
        <p:spPr>
          <a:xfrm>
            <a:off x="996696" y="656539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home.kpmg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KPMG LLP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PartyThrow Tech Diligence Storyline</dc:title>
  <dc:subject>Mid-size SaaS commercial and financial diligence</dc:subject>
  <dc:creator>KPMG LLP</dc:creator>
  <cp:lastModifiedBy>KPMG LLP</cp:lastModifiedBy>
  <cp:revision>1</cp:revision>
  <dcterms:created xsi:type="dcterms:W3CDTF">2026-03-03T19:57:02Z</dcterms:created>
  <dcterms:modified xsi:type="dcterms:W3CDTF">2026-03-03T19:57:02Z</dcterms:modified>
</cp:coreProperties>
</file>