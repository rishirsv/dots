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 %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 FY24</c:v>
                  </c:pt>
                  <c:pt idx="1">
                    <c:v>Q2 FY24</c:v>
                  </c:pt>
                  <c:pt idx="2">
                    <c:v>Q3 FY24</c:v>
                  </c:pt>
                  <c:pt idx="3">
                    <c:v>Q4 FY24</c:v>
                  </c:pt>
                  <c:pt idx="4">
                    <c:v>Q1 FY25</c:v>
                  </c:pt>
                  <c:pt idx="5">
                    <c:v>Q2 FY25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 FY24</c:v>
                  </c:pt>
                  <c:pt idx="1">
                    <c:v>Q2 FY24</c:v>
                  </c:pt>
                  <c:pt idx="2">
                    <c:v>Q3 FY24</c:v>
                  </c:pt>
                  <c:pt idx="3">
                    <c:v>Q4 FY24</c:v>
                  </c:pt>
                  <c:pt idx="4">
                    <c:v>Q1 FY25</c:v>
                  </c:pt>
                  <c:pt idx="5">
                    <c:v>Q2 FY25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9</c:v>
                </c:pt>
                <c:pt idx="5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, a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, a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Revenue quality pressure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churn, price resets, and working-capital drag are tightening quality of revenue in FY2025.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concentration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ten customers represent 61% of recurring revenue, increasing renewal concentration risk.</a:t>
            </a:r>
            <a:endParaRPr lang="en-US" sz="1000" dirty="0"/>
          </a:p>
          <a:p>
            <a:pPr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enterprise contracts are in active rebid cycles and include downside volume clauses.</a:t>
            </a:r>
            <a:endParaRPr lang="en-US" sz="1000" dirty="0"/>
          </a:p>
          <a:p>
            <a:pPr lvl="2" marL="680400" indent="-226800">
              <a:lnSpc>
                <a:spcPts val="1200"/>
              </a:lnSpc>
              <a:spcAft>
                <a:spcPts val="600"/>
              </a:spcAft>
              <a:buSzPct val="100000"/>
              <a:buChar char="-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teams estimate a 3-5 point margin drag if these contracts reset below current floor pricing.</a:t>
            </a:r>
            <a:endParaRPr lang="en-US" sz="1000" dirty="0"/>
          </a:p>
          <a:p>
            <a:pPr lvl="3" marL="9072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case assumes only partial volume recovery by H2 FY2026 and slower expansion conversion.</a:t>
            </a:r>
            <a:endParaRPr lang="en-US" sz="1000" dirty="0"/>
          </a:p>
          <a:p>
            <a:pPr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dollar retention dropped to 86% as repriced legacy cohorts renewed at lower committed volume.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adjustments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 discounting accelerated ACV conversion in Q4 but pulled margin pressure into subsequent quarters.</a:t>
            </a:r>
            <a:endParaRPr lang="en-US" sz="1000" dirty="0"/>
          </a:p>
          <a:p>
            <a:pPr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overruns on three strategic accounts triggered service credits and delayed milestone billing.</a:t>
            </a:r>
            <a:endParaRPr lang="en-US" sz="1000" dirty="0"/>
          </a:p>
          <a:p>
            <a:pPr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Working-capital conversion weakened as invoice disputes increased on custom scope statements.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underwriting should ring-fence near-term revenue confidence to contracted backlog and apply explicit downside sensitivity to FY2026 growth assumptions.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CRM cohort extract, contract register, and monthly bridge pack (FY2024-FY2025).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Risk and mitigation priorities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risk is manageable if commercial controls and delivery governance are tightened in the first 90 days.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risk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Repricing cadence is inconsistent across enterprise cohorts.</a:t>
            </a:r>
            <a:endParaRPr lang="en-US" sz="1000" dirty="0"/>
          </a:p>
          <a:p>
            <a:pPr algn="l"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Non-standard discount terms are approved late and reduce renewal visibility.</a:t>
            </a:r>
            <a:endParaRPr lang="en-US" sz="1000" dirty="0"/>
          </a:p>
          <a:p>
            <a:pPr algn="l"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staging quality is weak in two regions with repeated close-date slippage.</a:t>
            </a:r>
            <a:endParaRPr lang="en-US" sz="1000" dirty="0"/>
          </a:p>
          <a:p>
            <a:pPr algn="l" lvl="2" marL="680400" indent="-226800">
              <a:lnSpc>
                <a:spcPts val="1200"/>
              </a:lnSpc>
              <a:spcAft>
                <a:spcPts val="600"/>
              </a:spcAft>
              <a:buSzPct val="100000"/>
              <a:buChar char="-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Owner-level escalation is inconsistent and forecast confidence declines near quarter-end.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risk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volatility in implementation teams has increased rework.</a:t>
            </a:r>
            <a:endParaRPr lang="en-US" sz="1000" dirty="0"/>
          </a:p>
          <a:p>
            <a:pPr algn="l"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drift now extends cash conversion on fixed-fee projects by roughly three weeks.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controls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approval guardrails for non-standard terms with weekly exception review.</a:t>
            </a:r>
            <a:endParaRPr lang="en-US" sz="1000" dirty="0"/>
          </a:p>
          <a:p>
            <a:pPr algn="l"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deal-margin checkpoints before final quote issuance.</a:t>
            </a:r>
            <a:endParaRPr lang="en-US" sz="1000" dirty="0"/>
          </a:p>
          <a:p>
            <a:pPr algn="l"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renewal playbooks by cohort and renewal type.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governance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account-level burn monitoring and milestone gating.</a:t>
            </a:r>
            <a:endParaRPr lang="en-US" sz="1000" dirty="0"/>
          </a:p>
          <a:p>
            <a:pPr algn="l"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accounts when labor mix or timeline variance exceeds threshold before billing confidence is affected.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Growth slowed after pricing reset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decelerated after the FY2024 price reset while churn remained elevated in lower-margin cohorts.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revenue growth declined from 18% to 9% across the period.</a:t>
            </a:r>
            <a:endParaRPr lang="en-US" sz="1000" dirty="0"/>
          </a:p>
          <a:p>
            <a:pPr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steepest deceleration appears in cohorts exposed to contract rebasing.</a:t>
            </a:r>
            <a:endParaRPr lang="en-US" sz="1000" dirty="0"/>
          </a:p>
          <a:p>
            <a:pPr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stayed above long-run average after Q2 FY2025 despite improved new-logo bookings.</a:t>
            </a:r>
            <a:endParaRPr lang="en-US" sz="1000" dirty="0"/>
          </a:p>
          <a:p>
            <a:pPr lvl="2" marL="680400" indent="-226800">
              <a:lnSpc>
                <a:spcPts val="1200"/>
              </a:lnSpc>
              <a:spcAft>
                <a:spcPts val="600"/>
              </a:spcAft>
              <a:buSzPct val="100000"/>
              <a:buChar char="-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from new logos was offset by weaker expansion and lower realized price on renewals.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Discount-heavy renewal tactics preserved volume but compressed realized price.</a:t>
            </a:r>
            <a:endParaRPr lang="en-US" sz="1000" dirty="0"/>
          </a:p>
          <a:p>
            <a:pPr lvl="1" marL="4536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contribution from existing customers decreased as pricing exceptions widened.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should separate temporary pricing actions from structural demand and model a staged recovery path tied to renewal quality improvements.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Management monthly KPI pack, cohort bridge, and revenue analytics cube.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Bullets Dense Children</dc:title>
  <dc:subject>PptxGenJS Presentation</dc:subject>
  <dc:creator>PptxGenJS</dc:creator>
  <cp:lastModifiedBy>PptxGenJS</cp:lastModifiedBy>
  <cp:revision>1</cp:revision>
  <dcterms:created xsi:type="dcterms:W3CDTF">2026-02-26T21:00:16Z</dcterms:created>
  <dcterms:modified xsi:type="dcterms:W3CDTF">2026-02-26T21:00:16Z</dcterms:modified>
</cp:coreProperties>
</file>