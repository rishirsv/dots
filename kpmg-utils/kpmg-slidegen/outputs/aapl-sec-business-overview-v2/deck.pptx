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charts/chart1.xml" ContentType="application/vnd.openxmlformats-officedocument.drawingml.chart+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Lst>
  <p:notesMasterIdLst>
    <p:notesMasterId r:id="rId11"/>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notesMaster" Target="notesMasters/notesMaster1.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Gross Profit ($B)</c:v>
                </c:pt>
              </c:strCache>
            </c:strRef>
          </c:tx>
          <c:spPr>
            <a:solidFill>
              <a:srgbClr val="00338D"/>
            </a:solidFill>
            <a:ln w="25400" cap="flat">
              <a:solidFill>
                <a:srgbClr val="00338D"/>
              </a:solidFill>
              <a:prstDash val="solid"/>
              <a:round/>
            </a:ln>
            <a:effectLst/>
          </c:spPr>
          <c:invertIfNegative val="0"/>
          <c:dLbls>
            <c:numFmt formatCode="#,##0" sourceLinked="0"/>
            <c:txPr>
              <a:bodyPr/>
              <a:lstStyle/>
              <a:p>
                <a:pPr>
                  <a:defRPr b="0" i="0" strike="noStrike" sz="700" u="none">
                    <a:solidFill>
                      <a:srgbClr val="000000"/>
                    </a:solidFill>
                    <a:latin typeface="Arial"/>
                  </a:defRPr>
                </a:pPr>
              </a:p>
            </c:txPr>
            <c:showLegendKey val="0"/>
            <c:showVal val="1"/>
            <c:showCatName val="0"/>
            <c:showSerName val="0"/>
            <c:showPercent val="0"/>
            <c:showBubbleSize val="0"/>
            <c:showLeaderLines val="0"/>
          </c:dLbls>
          <c:marker>
            <c:symbol val="circle"/>
            <c:size val="6"/>
            <c:spPr>
              <a:solidFill>
                <a:srgbClr val="00338D"/>
              </a:solidFill>
              <a:ln w="9525" cap="flat">
                <a:solidFill>
                  <a:srgbClr val="00338D"/>
                </a:solidFill>
                <a:prstDash val="solid"/>
                <a:round/>
              </a:ln>
              <a:effectLst/>
            </c:spPr>
          </c:marker>
          <c:cat>
            <c:multiLvlStrRef>
              <c:f>Sheet1!$A$2:$A$6</c:f>
              <c:multiLvlStrCache>
                <c:ptCount val="5"/>
                <c:lvl>
                  <c:pt idx="0">
                    <c:v>FY2021</c:v>
                  </c:pt>
                  <c:pt idx="1">
                    <c:v>FY2022</c:v>
                  </c:pt>
                  <c:pt idx="2">
                    <c:v>FY2023</c:v>
                  </c:pt>
                  <c:pt idx="3">
                    <c:v>FY2024</c:v>
                  </c:pt>
                  <c:pt idx="4">
                    <c:v>FY2025</c:v>
                  </c:pt>
                </c:lvl>
              </c:multiLvlStrCache>
            </c:multiLvlStrRef>
          </c:cat>
          <c:val>
            <c:numRef>
              <c:f>Sheet1!$B$2:$B$6</c:f>
              <c:numCache>
                <c:formatCode>General</c:formatCode>
                <c:ptCount val="5"/>
                <c:pt idx="0">
                  <c:v>98.4</c:v>
                </c:pt>
                <c:pt idx="1">
                  <c:v>105</c:v>
                </c:pt>
                <c:pt idx="2">
                  <c:v>152.8</c:v>
                </c:pt>
                <c:pt idx="3">
                  <c:v>170.8</c:v>
                </c:pt>
                <c:pt idx="4">
                  <c:v>169.1</c:v>
                </c:pt>
              </c:numCache>
            </c:numRef>
          </c:val>
          <c:smooth val="0"/>
        </c:ser>
        <c:ser>
          <c:idx val="1"/>
          <c:order val="1"/>
          <c:tx>
            <c:strRef>
              <c:f>Sheet1!$C$1</c:f>
              <c:strCache>
                <c:ptCount val="1"/>
                <c:pt idx="0">
                  <c:v>Operating Cash Flow ($B)</c:v>
                </c:pt>
              </c:strCache>
            </c:strRef>
          </c:tx>
          <c:spPr>
            <a:solidFill>
              <a:srgbClr val="1E49E2"/>
            </a:solidFill>
            <a:ln w="25400" cap="flat">
              <a:solidFill>
                <a:srgbClr val="1E49E2"/>
              </a:solidFill>
              <a:prstDash val="solid"/>
              <a:round/>
            </a:ln>
            <a:effectLst/>
          </c:spPr>
          <c:invertIfNegative val="0"/>
          <c:dLbls>
            <c:numFmt formatCode="#,##0" sourceLinked="0"/>
            <c:txPr>
              <a:bodyPr/>
              <a:lstStyle/>
              <a:p>
                <a:pPr>
                  <a:defRPr b="0" i="0" strike="noStrike" sz="700" u="none">
                    <a:solidFill>
                      <a:srgbClr val="000000"/>
                    </a:solidFill>
                    <a:latin typeface="Arial"/>
                  </a:defRPr>
                </a:pPr>
              </a:p>
            </c:txPr>
            <c:showLegendKey val="0"/>
            <c:showVal val="1"/>
            <c:showCatName val="0"/>
            <c:showSerName val="0"/>
            <c:showPercent val="0"/>
            <c:showBubbleSize val="0"/>
            <c:showLeaderLines val="0"/>
          </c:dLbls>
          <c:marker>
            <c:symbol val="circle"/>
            <c:size val="6"/>
            <c:spPr>
              <a:solidFill>
                <a:srgbClr val="1E49E2"/>
              </a:solidFill>
              <a:ln w="9525" cap="flat">
                <a:solidFill>
                  <a:srgbClr val="1E49E2"/>
                </a:solidFill>
                <a:prstDash val="solid"/>
                <a:round/>
              </a:ln>
              <a:effectLst/>
            </c:spPr>
          </c:marker>
          <c:cat>
            <c:multiLvlStrRef>
              <c:f>Sheet1!$A$2:$A$6</c:f>
              <c:multiLvlStrCache>
                <c:ptCount val="5"/>
                <c:lvl>
                  <c:pt idx="0">
                    <c:v>FY2021</c:v>
                  </c:pt>
                  <c:pt idx="1">
                    <c:v>FY2022</c:v>
                  </c:pt>
                  <c:pt idx="2">
                    <c:v>FY2023</c:v>
                  </c:pt>
                  <c:pt idx="3">
                    <c:v>FY2024</c:v>
                  </c:pt>
                  <c:pt idx="4">
                    <c:v>FY2025</c:v>
                  </c:pt>
                </c:lvl>
              </c:multiLvlStrCache>
            </c:multiLvlStrRef>
          </c:cat>
          <c:val>
            <c:numRef>
              <c:f>Sheet1!$C$2:$C$6</c:f>
              <c:numCache>
                <c:formatCode>General</c:formatCode>
                <c:ptCount val="5"/>
                <c:pt idx="0">
                  <c:v>69.4</c:v>
                </c:pt>
                <c:pt idx="1">
                  <c:v>80.7</c:v>
                </c:pt>
                <c:pt idx="2">
                  <c:v>104</c:v>
                </c:pt>
                <c:pt idx="3">
                  <c:v>122.2</c:v>
                </c:pt>
                <c:pt idx="4">
                  <c:v>110.5</c:v>
                </c:pt>
              </c:numCache>
            </c:numRef>
          </c:val>
          <c:smooth val="0"/>
        </c:ser>
        <c:dLbls>
          <c:numFmt formatCode="#,##0" sourceLinked="0"/>
          <c:txPr>
            <a:bodyPr/>
            <a:lstStyle/>
            <a:p>
              <a:pPr>
                <a:defRPr b="0" i="0" strike="noStrike" sz="700" u="none">
                  <a:solidFill>
                    <a:srgbClr val="000000"/>
                  </a:solidFill>
                  <a:latin typeface="Arial"/>
                </a:defRPr>
              </a:pPr>
            </a:p>
          </c:txPr>
          <c:showLegendKey val="0"/>
          <c:showVal val="1"/>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0"/>
        <c:axPos val="l"/>
        <c:numFmt formatCode="General" sourceLinked="0"/>
        <c:majorTickMark val="out"/>
        <c:minorTickMark val="none"/>
        <c:tickLblPos val="nextTo"/>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legend>
      <c:legendPos val="b"/>
      <c:overlay val="0"/>
      <c:txPr>
        <a:bodyPr/>
        <a:lstStyle/>
        <a:p>
          <a:pPr>
            <a:defRPr sz="700">
              <a:latin typeface="Arial"/>
              <a:cs typeface="Arial"/>
            </a:defRPr>
          </a:pPr>
          <a:endParaRPr lang="en-US"/>
        </a:p>
      </c:txPr>
    </c:legend>
    <c:plotVisOnly val="1"/>
    <c:dispBlanksAs val="span"/>
  </c:chart>
  <c:spPr>
    <a:solidFill>
      <a:srgbClr val="FFFFFF"/>
    </a:solid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testing/data/sec/AAPL/annual_metrics.csv (FY2025 row) and testing/data/sec/AAPL/quarterly_metrics.csv (2026 Q1 and 2025 Q1 rows).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image" Target="../media/image-1002-2.svg"/><Relationship Id="rId3"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image" Target="../media/image-1003-2.png"/><Relationship Id="rId3" Type="http://schemas.openxmlformats.org/officeDocument/2006/relationships/image" Target="../media/image-1003-3.svg"/><Relationship Id="rId4"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image" Target="../media/image-1005-1.png"/><Relationship Id="rId2"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image" Target="../media/image-1006-1.png"/><Relationship Id="rId2"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image" Target="../media/image-1008-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KPMG_WHITE">
    <p:bg>
      <p:bgPr>
        <a:solidFill>
          <a:srgbClr val="FFFFFF"/>
        </a:solidFill>
      </p:bgPr>
    </p:bg>
    <p:spTree>
      <p:nvGrpSpPr>
        <p:cNvPr id="1" name=""/>
        <p:cNvGrpSpPr/>
        <p:nvPr/>
      </p:nvGrpSpPr>
      <p:grpSpPr>
        <a:xfrm>
          <a:off x="0" y="0"/>
          <a:ext cx="0" cy="0"/>
          <a:chOff x="0" y="0"/>
          <a:chExt cx="0" cy="0"/>
        </a:xfrm>
      </p:grpSpPr>
      <p:pic>
        <p:nvPicPr>
          <p:cNvPr id="2" name="Image 0" descr="/Users/rishi/code/ai-tools/chatgpt/kpmg-slidegen/skills/kpmg-slides/assets/slidegen/templates/kpmg-diligence/assets/kpmg-logo.sv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003097" y="6267298"/>
            <a:ext cx="483718" cy="196596"/>
          </a:xfrm>
          <a:prstGeom prst="rect">
            <a:avLst/>
          </a:prstGeom>
        </p:spPr>
      </p:pic>
      <p:sp>
        <p:nvSpPr>
          <p:cNvPr id="3" name="Text 0"/>
          <p:cNvSpPr/>
          <p:nvPr/>
        </p:nvSpPr>
        <p:spPr>
          <a:xfrm>
            <a:off x="1885493" y="6267298"/>
            <a:ext cx="6343193" cy="184709"/>
          </a:xfrm>
          <a:prstGeom prst="rect">
            <a:avLst/>
          </a:prstGeom>
          <a:noFill/>
          <a:ln/>
        </p:spPr>
        <p:txBody>
          <a:bodyPr wrap="square" rtlCol="0" anchor="ctr"/>
          <a:lstStyle/>
          <a:p>
            <a:pPr indent="0" marL="0">
              <a:buNone/>
            </a:pPr>
            <a:r>
              <a:rPr lang="en-US" sz="600" dirty="0">
                <a:solidFill>
                  <a:srgbClr val="666666"/>
                </a:solidFill>
                <a:latin typeface="Arial" pitchFamily="34" charset="0"/>
                <a:ea typeface="Arial" pitchFamily="34" charset="-122"/>
                <a:cs typeface="Arial" pitchFamily="34" charset="-120"/>
              </a:rPr>
              <a:t>© 2026 KPMG LLP, a Ontario limited liability partnership and a member firm of the KPMG global organization of independent member firms affiliated with KPMG International Limited, a private English company limited by guarantee. All rights reserved.</a:t>
            </a:r>
            <a:endParaRPr lang="en-US" sz="600" dirty="0"/>
          </a:p>
        </p:txBody>
      </p:sp>
      <p:sp>
        <p:nvSpPr>
          <p:cNvPr id="4" name="Text 1"/>
          <p:cNvSpPr/>
          <p:nvPr/>
        </p:nvSpPr>
        <p:spPr>
          <a:xfrm>
            <a:off x="8183880" y="6267298"/>
            <a:ext cx="749808" cy="184709"/>
          </a:xfrm>
          <a:prstGeom prst="rect">
            <a:avLst/>
          </a:prstGeom>
          <a:noFill/>
          <a:ln/>
        </p:spPr>
        <p:txBody>
          <a:bodyPr wrap="square" rtlCol="0" anchor="ctr"/>
          <a:lstStyle/>
          <a:p>
            <a:pPr algn="l" indent="0" marL="0">
              <a:buNone/>
            </a:pPr>
            <a:r>
              <a:rPr lang="en-US" sz="600" dirty="0">
                <a:solidFill>
                  <a:srgbClr val="666666"/>
                </a:solidFill>
                <a:latin typeface="Arial" pitchFamily="34" charset="0"/>
                <a:ea typeface="Arial" pitchFamily="34" charset="-122"/>
                <a:cs typeface="Arial" pitchFamily="34" charset="-120"/>
              </a:rPr>
              <a:t>kpmg.com/ca</a:t>
            </a:r>
            <a:endParaRPr lang="en-US" sz="600" dirty="0"/>
          </a:p>
        </p:txBody>
      </p:sp>
      <p:sp>
        <p:nvSpPr>
          <p:cNvPr id="5" name="Text 2"/>
          <p:cNvSpPr/>
          <p:nvPr/>
        </p:nvSpPr>
        <p:spPr>
          <a:xfrm>
            <a:off x="8967521" y="6267298"/>
            <a:ext cx="1866290" cy="92354"/>
          </a:xfrm>
          <a:prstGeom prst="rect">
            <a:avLst/>
          </a:prstGeom>
          <a:noFill/>
          <a:ln/>
        </p:spPr>
        <p:txBody>
          <a:bodyPr wrap="square" rtlCol="0" anchor="ctr"/>
          <a:lstStyle/>
          <a:p>
            <a:pPr algn="r" indent="0" marL="0">
              <a:buNone/>
            </a:pPr>
            <a:r>
              <a:rPr lang="en-US" sz="600" dirty="0">
                <a:solidFill>
                  <a:srgbClr val="666666"/>
                </a:solidFill>
                <a:latin typeface="Arial" pitchFamily="34" charset="0"/>
                <a:ea typeface="Arial" pitchFamily="34" charset="-122"/>
                <a:cs typeface="Arial" pitchFamily="34" charset="-120"/>
              </a:rPr>
              <a:t>Document Classification: KPMG Confidential</a:t>
            </a:r>
            <a:endParaRPr lang="en-US" sz="600" dirty="0"/>
          </a:p>
        </p:txBody>
      </p:sp>
      <p:sp>
        <p:nvSpPr>
          <p:cNvPr id="6" name="Shape 3"/>
          <p:cNvSpPr/>
          <p:nvPr/>
        </p:nvSpPr>
        <p:spPr>
          <a:xfrm>
            <a:off x="10874045" y="6267298"/>
            <a:ext cx="0" cy="149047"/>
          </a:xfrm>
          <a:prstGeom prst="line">
            <a:avLst/>
          </a:prstGeom>
          <a:noFill/>
          <a:ln w="12700">
            <a:solidFill>
              <a:srgbClr val="1E49E2"/>
            </a:solidFill>
            <a:prstDash val="solid"/>
          </a:ln>
        </p:spPr>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KPMG_SUMMARY">
    <p:bg>
      <p:bgPr>
        <a:solidFill>
          <a:srgbClr val="FFFFFF"/>
        </a:solidFill>
      </p:bgPr>
    </p:bg>
    <p:spTree>
      <p:nvGrpSpPr>
        <p:cNvPr id="1" name=""/>
        <p:cNvGrpSpPr/>
        <p:nvPr/>
      </p:nvGrpSpPr>
      <p:grpSpPr>
        <a:xfrm>
          <a:off x="0" y="0"/>
          <a:ext cx="0" cy="0"/>
          <a:chOff x="0" y="0"/>
          <a:chExt cx="0" cy="0"/>
        </a:xfrm>
      </p:grpSpPr>
      <p:pic>
        <p:nvPicPr>
          <p:cNvPr id="2" name="Image 0" descr="/Users/rishi/code/ai-tools/chatgpt/kpmg-slidegen/skills/kpmg-slides/assets/slidegen/templates/kpmg-diligence/assets/gradient_accent_chip_300dpi.png">    </p:cNvPr>
          <p:cNvPicPr>
            <a:picLocks noChangeAspect="1"/>
          </p:cNvPicPr>
          <p:nvPr/>
        </p:nvPicPr>
        <p:blipFill>
          <a:blip r:embed="rId1"/>
          <a:stretch>
            <a:fillRect/>
          </a:stretch>
        </p:blipFill>
        <p:spPr>
          <a:xfrm>
            <a:off x="11534242" y="103327"/>
            <a:ext cx="222199" cy="222199"/>
          </a:xfrm>
          <a:prstGeom prst="rect">
            <a:avLst/>
          </a:prstGeom>
        </p:spPr>
      </p:pic>
      <p:pic>
        <p:nvPicPr>
          <p:cNvPr id="3" name="Image 1" descr="/Users/rishi/code/ai-tools/chatgpt/kpmg-slidegen/skills/kpmg-slides/assets/slidegen/templates/kpmg-diligence/assets/kpmg-logo.svg">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003097" y="6267298"/>
            <a:ext cx="483718" cy="196596"/>
          </a:xfrm>
          <a:prstGeom prst="rect">
            <a:avLst/>
          </a:prstGeom>
        </p:spPr>
      </p:pic>
      <p:sp>
        <p:nvSpPr>
          <p:cNvPr id="4" name="Text 0"/>
          <p:cNvSpPr/>
          <p:nvPr/>
        </p:nvSpPr>
        <p:spPr>
          <a:xfrm>
            <a:off x="1885493" y="6267298"/>
            <a:ext cx="6343193" cy="184709"/>
          </a:xfrm>
          <a:prstGeom prst="rect">
            <a:avLst/>
          </a:prstGeom>
          <a:noFill/>
          <a:ln/>
        </p:spPr>
        <p:txBody>
          <a:bodyPr wrap="square" rtlCol="0" anchor="ctr"/>
          <a:lstStyle/>
          <a:p>
            <a:pPr indent="0" marL="0">
              <a:buNone/>
            </a:pPr>
            <a:r>
              <a:rPr lang="en-US" sz="600" dirty="0">
                <a:solidFill>
                  <a:srgbClr val="666666"/>
                </a:solidFill>
                <a:latin typeface="Arial" pitchFamily="34" charset="0"/>
                <a:ea typeface="Arial" pitchFamily="34" charset="-122"/>
                <a:cs typeface="Arial" pitchFamily="34" charset="-120"/>
              </a:rPr>
              <a:t>© 2026 KPMG LLP, a Ontario limited liability partnership and a member firm of the KPMG global organization of independent member firms affiliated with KPMG International Limited, a private English company limited by guarantee. All rights reserved.</a:t>
            </a:r>
            <a:endParaRPr lang="en-US" sz="600" dirty="0"/>
          </a:p>
        </p:txBody>
      </p:sp>
      <p:sp>
        <p:nvSpPr>
          <p:cNvPr id="5" name="Text 1"/>
          <p:cNvSpPr/>
          <p:nvPr/>
        </p:nvSpPr>
        <p:spPr>
          <a:xfrm>
            <a:off x="8183880" y="6267298"/>
            <a:ext cx="749808" cy="184709"/>
          </a:xfrm>
          <a:prstGeom prst="rect">
            <a:avLst/>
          </a:prstGeom>
          <a:noFill/>
          <a:ln/>
        </p:spPr>
        <p:txBody>
          <a:bodyPr wrap="square" rtlCol="0" anchor="ctr"/>
          <a:lstStyle/>
          <a:p>
            <a:pPr algn="l" indent="0" marL="0">
              <a:buNone/>
            </a:pPr>
            <a:r>
              <a:rPr lang="en-US" sz="600" dirty="0">
                <a:solidFill>
                  <a:srgbClr val="666666"/>
                </a:solidFill>
                <a:latin typeface="Arial" pitchFamily="34" charset="0"/>
                <a:ea typeface="Arial" pitchFamily="34" charset="-122"/>
                <a:cs typeface="Arial" pitchFamily="34" charset="-120"/>
              </a:rPr>
              <a:t>kpmg.com/ca</a:t>
            </a:r>
            <a:endParaRPr lang="en-US" sz="600" dirty="0"/>
          </a:p>
        </p:txBody>
      </p:sp>
      <p:sp>
        <p:nvSpPr>
          <p:cNvPr id="6" name="Text 2"/>
          <p:cNvSpPr/>
          <p:nvPr/>
        </p:nvSpPr>
        <p:spPr>
          <a:xfrm>
            <a:off x="8967521" y="6267298"/>
            <a:ext cx="1866290" cy="92354"/>
          </a:xfrm>
          <a:prstGeom prst="rect">
            <a:avLst/>
          </a:prstGeom>
          <a:noFill/>
          <a:ln/>
        </p:spPr>
        <p:txBody>
          <a:bodyPr wrap="square" rtlCol="0" anchor="ctr"/>
          <a:lstStyle/>
          <a:p>
            <a:pPr algn="r" indent="0" marL="0">
              <a:buNone/>
            </a:pPr>
            <a:r>
              <a:rPr lang="en-US" sz="600" dirty="0">
                <a:solidFill>
                  <a:srgbClr val="666666"/>
                </a:solidFill>
                <a:latin typeface="Arial" pitchFamily="34" charset="0"/>
                <a:ea typeface="Arial" pitchFamily="34" charset="-122"/>
                <a:cs typeface="Arial" pitchFamily="34" charset="-120"/>
              </a:rPr>
              <a:t>Document Classification: KPMG Confidential</a:t>
            </a:r>
            <a:endParaRPr lang="en-US" sz="600" dirty="0"/>
          </a:p>
        </p:txBody>
      </p:sp>
      <p:sp>
        <p:nvSpPr>
          <p:cNvPr id="7" name="Shape 3"/>
          <p:cNvSpPr/>
          <p:nvPr/>
        </p:nvSpPr>
        <p:spPr>
          <a:xfrm>
            <a:off x="10874045" y="6267298"/>
            <a:ext cx="0" cy="149047"/>
          </a:xfrm>
          <a:prstGeom prst="line">
            <a:avLst/>
          </a:prstGeom>
          <a:noFill/>
          <a:ln w="12700">
            <a:solidFill>
              <a:srgbClr val="1E49E2"/>
            </a:solidFill>
            <a:prstDash val="solid"/>
          </a:ln>
        </p:spPr>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KPMG_COVER">
    <p:bg>
      <p:bgPr>
        <a:solidFill>
          <a:srgbClr val="1E49E2"/>
        </a:solidFill>
      </p:bgPr>
    </p:bg>
    <p:spTree>
      <p:nvGrpSpPr>
        <p:cNvPr id="1" name=""/>
        <p:cNvGrpSpPr/>
        <p:nvPr/>
      </p:nvGrpSpPr>
      <p:grpSpPr>
        <a:xfrm>
          <a:off x="0" y="0"/>
          <a:ext cx="0" cy="0"/>
          <a:chOff x="0" y="0"/>
          <a:chExt cx="0" cy="0"/>
        </a:xfrm>
      </p:grpSpPr>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KPMG_SECTION_DARK">
    <p:bg>
      <p:bgPr>
        <a:solidFill>
          <a:srgbClr val="1E49E2"/>
        </a:solidFill>
      </p:bgPr>
    </p:bg>
    <p:spTree>
      <p:nvGrpSpPr>
        <p:cNvPr id="1" name=""/>
        <p:cNvGrpSpPr/>
        <p:nvPr/>
      </p:nvGrpSpPr>
      <p:grpSpPr>
        <a:xfrm>
          <a:off x="0" y="0"/>
          <a:ext cx="0" cy="0"/>
          <a:chOff x="0" y="0"/>
          <a:chExt cx="0" cy="0"/>
        </a:xfrm>
      </p:grpSpPr>
      <p:pic>
        <p:nvPicPr>
          <p:cNvPr id="2" name="Image 0" descr="/Users/rishi/code/ai-tools/chatgpt/kpmg-slidegen/skills/kpmg-slides/assets/slidegen/templates/kpmg-diligence/assets/gradient_divider_window_300dpi.png">    </p:cNvPr>
          <p:cNvPicPr>
            <a:picLocks noChangeAspect="1"/>
          </p:cNvPicPr>
          <p:nvPr/>
        </p:nvPicPr>
        <p:blipFill>
          <a:blip r:embed="rId1"/>
          <a:stretch>
            <a:fillRect/>
          </a:stretch>
        </p:blipFill>
        <p:spPr>
          <a:xfrm>
            <a:off x="998525" y="975665"/>
            <a:ext cx="7061911" cy="4905756"/>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KPMG_SECTION">
    <p:bg>
      <p:bgPr>
        <a:solidFill>
          <a:srgbClr val="1E49E2"/>
        </a:solidFill>
      </p:bgPr>
    </p:bg>
    <p:spTree>
      <p:nvGrpSpPr>
        <p:cNvPr id="1" name=""/>
        <p:cNvGrpSpPr/>
        <p:nvPr/>
      </p:nvGrpSpPr>
      <p:grpSpPr>
        <a:xfrm>
          <a:off x="0" y="0"/>
          <a:ext cx="0" cy="0"/>
          <a:chOff x="0" y="0"/>
          <a:chExt cx="0" cy="0"/>
        </a:xfrm>
      </p:grpSpPr>
      <p:pic>
        <p:nvPicPr>
          <p:cNvPr id="2" name="Image 0" descr="/Users/rishi/code/ai-tools/chatgpt/kpmg-slidegen/skills/kpmg-slides/assets/slidegen/templates/kpmg-diligence/assets/gradient_divider_window_300dpi.png">    </p:cNvPr>
          <p:cNvPicPr>
            <a:picLocks noChangeAspect="1"/>
          </p:cNvPicPr>
          <p:nvPr/>
        </p:nvPicPr>
        <p:blipFill>
          <a:blip r:embed="rId1"/>
          <a:stretch>
            <a:fillRect/>
          </a:stretch>
        </p:blipFill>
        <p:spPr>
          <a:xfrm>
            <a:off x="998525" y="975665"/>
            <a:ext cx="7061911" cy="4905756"/>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KPMG_SECTION_LIGHT">
    <p:bg>
      <p:bgPr>
        <a:solidFill>
          <a:srgbClr val="FFFFFF"/>
        </a:solidFill>
      </p:bgPr>
    </p:bg>
    <p:spTree>
      <p:nvGrpSpPr>
        <p:cNvPr id="1" name=""/>
        <p:cNvGrpSpPr/>
        <p:nvPr/>
      </p:nvGrpSpPr>
      <p:grpSpPr>
        <a:xfrm>
          <a:off x="0" y="0"/>
          <a:ext cx="0" cy="0"/>
          <a:chOff x="0" y="0"/>
          <a:chExt cx="0" cy="0"/>
        </a:xfrm>
      </p:grpSpPr>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KPMG_CLOSING">
    <p:bg>
      <p:bgPr>
        <a:solidFill>
          <a:srgbClr val="1E49E2"/>
        </a:solidFill>
      </p:bgPr>
    </p:bg>
    <p:spTree>
      <p:nvGrpSpPr>
        <p:cNvPr id="1" name=""/>
        <p:cNvGrpSpPr/>
        <p:nvPr/>
      </p:nvGrpSpPr>
      <p:grpSpPr>
        <a:xfrm>
          <a:off x="0" y="0"/>
          <a:ext cx="0" cy="0"/>
          <a:chOff x="0" y="0"/>
          <a:chExt cx="0" cy="0"/>
        </a:xfrm>
      </p:grpSpPr>
      <p:pic>
        <p:nvPicPr>
          <p:cNvPr id="2" name="Image 0" descr="/Users/rishi/code/ai-tools/chatgpt/kpmg-slidegen/skills/kpmg-slides/assets/slidegen/templates/kpmg-diligence/assets/gradient_back_cover_300dpi.pn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jpeg"/><Relationship Id="rId3" Type="http://schemas.openxmlformats.org/officeDocument/2006/relationships/slideLayout" Target="../slideLayouts/slideLayout4.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7" Type="http://schemas.openxmlformats.org/officeDocument/2006/relationships/hyperlink" Target="https://kpmg.com" TargetMode="External"/><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image" Target="../media/image-9-6.png"/><Relationship Id="rId8" Type="http://schemas.openxmlformats.org/officeDocument/2006/relationships/slideLayout" Target="../slideLayouts/slideLayout8.xml"/><Relationship Id="rId9"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KPMG logo">    </p:cNvPr>
          <p:cNvPicPr>
            <a:picLocks noChangeAspect="1"/>
          </p:cNvPicPr>
          <p:nvPr/>
        </p:nvPicPr>
        <p:blipFill>
          <a:blip r:embed="rId1"/>
          <a:stretch>
            <a:fillRect/>
          </a:stretch>
        </p:blipFill>
        <p:spPr>
          <a:xfrm>
            <a:off x="998476" y="371311"/>
            <a:ext cx="914400" cy="368346"/>
          </a:xfrm>
          <a:prstGeom prst="rect">
            <a:avLst/>
          </a:prstGeom>
        </p:spPr>
      </p:pic>
      <p:sp>
        <p:nvSpPr>
          <p:cNvPr id="3" name="Text 0"/>
          <p:cNvSpPr/>
          <p:nvPr/>
        </p:nvSpPr>
        <p:spPr>
          <a:xfrm>
            <a:off x="998478" y="1456388"/>
            <a:ext cx="3697810" cy="3427743"/>
          </a:xfrm>
          <a:prstGeom prst="rect">
            <a:avLst/>
          </a:prstGeom>
          <a:noFill/>
          <a:ln/>
        </p:spPr>
        <p:txBody>
          <a:bodyPr wrap="square" lIns="0" tIns="0" rIns="0" bIns="0" rtlCol="0" anchor="t"/>
          <a:lstStyle/>
          <a:p>
            <a:pPr algn="l" indent="0" marL="0">
              <a:buNone/>
            </a:pPr>
            <a:r>
              <a:rPr lang="en-US" sz="4000" b="1" dirty="0">
                <a:solidFill>
                  <a:srgbClr val="FFFFFF"/>
                </a:solidFill>
                <a:latin typeface="Arial" pitchFamily="34" charset="0"/>
                <a:ea typeface="Arial" pitchFamily="34" charset="-122"/>
                <a:cs typeface="Arial" pitchFamily="34" charset="-120"/>
              </a:rPr>
              <a:t>Apple Inc.</a:t>
            </a:r>
            <a:endParaRPr lang="en-US" sz="4000" dirty="0"/>
          </a:p>
          <a:p>
            <a:pPr algn="l" indent="0" marL="0">
              <a:buNone/>
            </a:pPr>
            <a:r>
              <a:rPr lang="en-US" sz="4000" b="1" dirty="0">
                <a:solidFill>
                  <a:srgbClr val="FFFFFF"/>
                </a:solidFill>
                <a:latin typeface="Arial" pitchFamily="34" charset="0"/>
                <a:ea typeface="Arial" pitchFamily="34" charset="-122"/>
                <a:cs typeface="Arial" pitchFamily="34" charset="-120"/>
              </a:rPr>
              <a:t>Business</a:t>
            </a:r>
            <a:endParaRPr lang="en-US" sz="4000" dirty="0"/>
          </a:p>
          <a:p>
            <a:pPr algn="l" indent="0" marL="0">
              <a:buNone/>
            </a:pPr>
            <a:r>
              <a:rPr lang="en-US" sz="4000" b="1" dirty="0">
                <a:solidFill>
                  <a:srgbClr val="FFFFFF"/>
                </a:solidFill>
                <a:latin typeface="Arial" pitchFamily="34" charset="0"/>
                <a:ea typeface="Arial" pitchFamily="34" charset="-122"/>
                <a:cs typeface="Arial" pitchFamily="34" charset="-120"/>
              </a:rPr>
              <a:t>Overview</a:t>
            </a:r>
            <a:endParaRPr lang="en-US" sz="4000" dirty="0"/>
          </a:p>
        </p:txBody>
      </p:sp>
      <p:sp>
        <p:nvSpPr>
          <p:cNvPr id="4" name="Text 1"/>
          <p:cNvSpPr/>
          <p:nvPr/>
        </p:nvSpPr>
        <p:spPr>
          <a:xfrm>
            <a:off x="998433" y="5005883"/>
            <a:ext cx="3697834" cy="809976"/>
          </a:xfrm>
          <a:prstGeom prst="rect">
            <a:avLst/>
          </a:prstGeom>
          <a:noFill/>
          <a:ln/>
        </p:spPr>
        <p:txBody>
          <a:bodyPr wrap="square" lIns="0" tIns="0" rIns="0" bIns="0" rtlCol="0" anchor="t"/>
          <a:lstStyle/>
          <a:p>
            <a:pPr algn="l" indent="0" marL="0">
              <a:buNone/>
            </a:pPr>
            <a:r>
              <a:rPr lang="en-US" sz="1400" dirty="0">
                <a:solidFill>
                  <a:srgbClr val="FFFFFF"/>
                </a:solidFill>
                <a:latin typeface="Arial" pitchFamily="34" charset="0"/>
                <a:ea typeface="Arial" pitchFamily="34" charset="-122"/>
                <a:cs typeface="Arial" pitchFamily="34" charset="-120"/>
              </a:rPr>
              <a:t>Public filing-based summary of earnings profile, balance sheet posture, and near-term filing context</a:t>
            </a:r>
            <a:endParaRPr lang="en-US" sz="1400" dirty="0"/>
          </a:p>
        </p:txBody>
      </p:sp>
      <p:pic>
        <p:nvPicPr>
          <p:cNvPr id="5" name="Image 1" descr="Cover photograph">    </p:cNvPr>
          <p:cNvPicPr>
            <a:picLocks noChangeAspect="1"/>
          </p:cNvPicPr>
          <p:nvPr/>
        </p:nvPicPr>
        <p:blipFill>
          <a:blip r:embed="rId2"/>
          <a:srcRect l="4986" r="4986" t="0" b="0"/>
          <a:stretch/>
        </p:blipFill>
        <p:spPr>
          <a:xfrm>
            <a:off x="4915965" y="1456388"/>
            <a:ext cx="6283848" cy="4364991"/>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1289860" y="1140069"/>
            <a:ext cx="1082675" cy="812530"/>
          </a:xfrm>
          <a:prstGeom prst="rect">
            <a:avLst/>
          </a:prstGeom>
          <a:noFill/>
          <a:ln/>
        </p:spPr>
        <p:txBody>
          <a:bodyPr wrap="square" lIns="46800" tIns="72000" rIns="90000" bIns="46800" rtlCol="0" anchor="t"/>
          <a:lstStyle/>
          <a:p>
            <a:pPr algn="l" indent="0" marL="0">
              <a:buNone/>
            </a:pPr>
            <a:r>
              <a:rPr lang="en-US" sz="4800" b="1" dirty="0">
                <a:solidFill>
                  <a:srgbClr val="FFFFFF"/>
                </a:solidFill>
                <a:latin typeface="Arial" pitchFamily="34" charset="0"/>
                <a:ea typeface="Arial" pitchFamily="34" charset="-122"/>
                <a:cs typeface="Arial" pitchFamily="34" charset="-120"/>
              </a:rPr>
              <a:t>01</a:t>
            </a:r>
            <a:endParaRPr lang="en-US" sz="4800" dirty="0"/>
          </a:p>
        </p:txBody>
      </p:sp>
      <p:sp>
        <p:nvSpPr>
          <p:cNvPr id="3" name="Text 1"/>
          <p:cNvSpPr/>
          <p:nvPr/>
        </p:nvSpPr>
        <p:spPr>
          <a:xfrm>
            <a:off x="1289861" y="2180877"/>
            <a:ext cx="6321425" cy="696782"/>
          </a:xfrm>
          <a:prstGeom prst="rect">
            <a:avLst/>
          </a:prstGeom>
          <a:noFill/>
          <a:ln/>
        </p:spPr>
        <p:txBody>
          <a:bodyPr wrap="square" lIns="46800" tIns="72000" rIns="90000" bIns="46800" rtlCol="0" anchor="t"/>
          <a:lstStyle/>
          <a:p>
            <a:pPr algn="l" indent="0" marL="0">
              <a:buNone/>
            </a:pPr>
            <a:r>
              <a:rPr lang="en-US" sz="2400" b="1" dirty="0">
                <a:solidFill>
                  <a:srgbClr val="FFFFFF"/>
                </a:solidFill>
                <a:latin typeface="Arial" pitchFamily="34" charset="0"/>
                <a:ea typeface="Arial" pitchFamily="34" charset="-122"/>
                <a:cs typeface="Arial" pitchFamily="34" charset="-120"/>
              </a:rPr>
              <a:t>Company Context and Coverage</a:t>
            </a:r>
            <a:endParaRPr lang="en-US" sz="2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998433" y="431780"/>
            <a:ext cx="10204338" cy="53337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Period coverage and source perimeter</a:t>
            </a:r>
            <a:endParaRPr lang="en-US" sz="3200" dirty="0"/>
          </a:p>
        </p:txBody>
      </p:sp>
      <p:sp>
        <p:nvSpPr>
          <p:cNvPr id="3" name="Text 1"/>
          <p:cNvSpPr/>
          <p:nvPr/>
        </p:nvSpPr>
        <p:spPr>
          <a:xfrm>
            <a:off x="998433" y="1179485"/>
            <a:ext cx="10204338" cy="482437"/>
          </a:xfrm>
          <a:prstGeom prst="rect">
            <a:avLst/>
          </a:prstGeom>
          <a:noFill/>
          <a:ln/>
        </p:spPr>
        <p:txBody>
          <a:bodyPr wrap="square" lIns="46800" tIns="72000" rIns="90000" bIns="46800" rtlCol="0" anchor="t"/>
          <a:lstStyle/>
          <a:p>
            <a:pPr indent="0" marL="0">
              <a:buNone/>
            </a:pPr>
            <a:r>
              <a:rPr lang="en-US" sz="1000" b="1" i="1" dirty="0">
                <a:solidFill>
                  <a:srgbClr val="7213EA"/>
                </a:solidFill>
                <a:latin typeface="Arial" pitchFamily="34" charset="0"/>
                <a:ea typeface="Arial" pitchFamily="34" charset="-122"/>
                <a:cs typeface="Arial" pitchFamily="34" charset="-120"/>
              </a:rPr>
              <a:t>The supplied SEC extracts provide multi-year annual and quarterly coverage suitable for a concise baseline diligence readout.</a:t>
            </a:r>
            <a:endParaRPr lang="en-US" sz="1000" dirty="0"/>
          </a:p>
        </p:txBody>
      </p:sp>
      <p:sp>
        <p:nvSpPr>
          <p:cNvPr id="4" name="Text 2"/>
          <p:cNvSpPr/>
          <p:nvPr/>
        </p:nvSpPr>
        <p:spPr>
          <a:xfrm>
            <a:off x="998433" y="1716786"/>
            <a:ext cx="10204338" cy="4248760"/>
          </a:xfrm>
          <a:prstGeom prst="rect">
            <a:avLst/>
          </a:prstGeom>
          <a:noFill/>
          <a:ln/>
        </p:spPr>
        <p:txBody>
          <a:bodyPr wrap="square" lIns="46800" tIns="72000" rIns="90000" bIns="46800" rtlCol="0" anchor="t"/>
          <a:lstStyle/>
          <a:p>
            <a:pPr marL="226800" indent="-226800">
              <a:lnSpc>
                <a:spcPts val="1200"/>
              </a:lnSpc>
              <a:spcAft>
                <a:spcPts val="600"/>
              </a:spcAft>
              <a:buSzPct val="100000"/>
              <a:buChar char="•"/>
            </a:pPr>
            <a:r>
              <a:rPr lang="en-US" sz="1000" dirty="0">
                <a:solidFill>
                  <a:srgbClr val="000000"/>
                </a:solidFill>
                <a:latin typeface="Arial" pitchFamily="34" charset="0"/>
                <a:ea typeface="Arial" pitchFamily="34" charset="-122"/>
                <a:cs typeface="Arial" pitchFamily="34" charset="-120"/>
              </a:rPr>
              <a:t>Annual metrics cover FY2020 through FY2025, with this deck focusing on FY2021 through FY2025 to show the latest five-year trend with comparable period definitions.</a:t>
            </a:r>
            <a:endParaRPr lang="en-US" sz="1000" dirty="0"/>
          </a:p>
          <a:p>
            <a:pPr marL="226800" indent="-226800">
              <a:lnSpc>
                <a:spcPts val="1200"/>
              </a:lnSpc>
              <a:spcAft>
                <a:spcPts val="600"/>
              </a:spcAft>
              <a:buSzPct val="100000"/>
              <a:buChar char="•"/>
            </a:pPr>
            <a:r>
              <a:rPr lang="en-US" sz="1000" dirty="0">
                <a:solidFill>
                  <a:srgbClr val="000000"/>
                </a:solidFill>
                <a:latin typeface="Arial" pitchFamily="34" charset="0"/>
                <a:ea typeface="Arial" pitchFamily="34" charset="-122"/>
                <a:cs typeface="Arial" pitchFamily="34" charset="-120"/>
              </a:rPr>
              <a:t>Quarterly metrics cover Q1 FY2021 through Q1 FY2026, allowing the deck to anchor the most recent quarter against prior-year and prior-quarter observations.</a:t>
            </a:r>
            <a:endParaRPr lang="en-US" sz="1000" dirty="0"/>
          </a:p>
          <a:p>
            <a:pPr marL="226800" indent="-226800">
              <a:lnSpc>
                <a:spcPts val="1200"/>
              </a:lnSpc>
              <a:spcAft>
                <a:spcPts val="600"/>
              </a:spcAft>
              <a:buSzPct val="100000"/>
              <a:buChar char="•"/>
            </a:pPr>
            <a:r>
              <a:rPr lang="en-US" sz="1000" dirty="0">
                <a:solidFill>
                  <a:srgbClr val="000000"/>
                </a:solidFill>
                <a:latin typeface="Arial" pitchFamily="34" charset="0"/>
                <a:ea typeface="Arial" pitchFamily="34" charset="-122"/>
                <a:cs typeface="Arial" pitchFamily="34" charset="-120"/>
              </a:rPr>
              <a:t>Recent filing logs include 10-K, 10-Q, and 8-K submissions through February 2026, providing current filing cadence context around the latest reported quarter.</a:t>
            </a:r>
            <a:endParaRPr lang="en-US" sz="1000" dirty="0"/>
          </a:p>
          <a:p>
            <a:pPr marL="226800" indent="-226800">
              <a:lnSpc>
                <a:spcPts val="1200"/>
              </a:lnSpc>
              <a:spcAft>
                <a:spcPts val="600"/>
              </a:spcAft>
              <a:buSzPct val="100000"/>
              <a:buChar char="•"/>
            </a:pPr>
            <a:r>
              <a:rPr lang="en-US" sz="1000" dirty="0">
                <a:solidFill>
                  <a:srgbClr val="000000"/>
                </a:solidFill>
                <a:latin typeface="Arial" pitchFamily="34" charset="0"/>
                <a:ea typeface="Arial" pitchFamily="34" charset="-122"/>
                <a:cs typeface="Arial" pitchFamily="34" charset="-120"/>
              </a:rPr>
              <a:t>The dataset captures consolidated metrics derived from SEC companyfacts mappings and does not include extracted segment-level revenue tables in the provided files.</a:t>
            </a:r>
            <a:endParaRPr lang="en-US" sz="1000" dirty="0"/>
          </a:p>
          <a:p>
            <a:pPr marL="226800" indent="-226800">
              <a:lnSpc>
                <a:spcPts val="1200"/>
              </a:lnSpc>
              <a:spcAft>
                <a:spcPts val="600"/>
              </a:spcAft>
              <a:buSzPct val="100000"/>
              <a:buChar char="•"/>
            </a:pPr>
            <a:r>
              <a:rPr lang="en-US" sz="1000" dirty="0">
                <a:solidFill>
                  <a:srgbClr val="000000"/>
                </a:solidFill>
                <a:latin typeface="Arial" pitchFamily="34" charset="0"/>
                <a:ea typeface="Arial" pitchFamily="34" charset="-122"/>
                <a:cs typeface="Arial" pitchFamily="34" charset="-120"/>
              </a:rPr>
              <a:t>Within these bounds, the deck emphasizes profitability, cash generation, and capital structure signals as the most robustly populated fields in the input set.</a:t>
            </a:r>
            <a:endParaRPr lang="en-US" sz="1000" dirty="0"/>
          </a:p>
        </p:txBody>
      </p:sp>
      <p:sp>
        <p:nvSpPr>
          <p:cNvPr id="5" name="Text 3"/>
          <p:cNvSpPr/>
          <p:nvPr/>
        </p:nvSpPr>
        <p:spPr>
          <a:xfrm>
            <a:off x="998433" y="5992978"/>
            <a:ext cx="10204338" cy="182880"/>
          </a:xfrm>
          <a:prstGeom prst="rect">
            <a:avLst/>
          </a:prstGeom>
          <a:noFill/>
          <a:ln/>
        </p:spPr>
        <p:txBody>
          <a:bodyPr wrap="square" lIns="46800" tIns="72000" rIns="90000" bIns="46800" rtlCol="0" anchor="t"/>
          <a:lstStyle/>
          <a:p>
            <a:pPr indent="0" marL="0">
              <a:buNone/>
            </a:pPr>
            <a:r>
              <a:rPr lang="en-US" sz="600" i="1" dirty="0">
                <a:solidFill>
                  <a:srgbClr val="00338D"/>
                </a:solidFill>
                <a:latin typeface="Arial" pitchFamily="34" charset="0"/>
                <a:ea typeface="Arial" pitchFamily="34" charset="-122"/>
                <a:cs typeface="Arial" pitchFamily="34" charset="-120"/>
              </a:rPr>
              <a:t>Source: testing/data/sec/AAPL/annual_metrics.csv, testing/data/sec/AAPL/quarterly_metrics.csv, testing/data/sec/AAPL/recent_filings.csv, testing/data/sec/AAPL/README.json.</a:t>
            </a:r>
            <a:endParaRPr lang="en-US" sz="600" dirty="0"/>
          </a:p>
        </p:txBody>
      </p:sp>
      <p:sp>
        <p:nvSpPr>
          <p:cNvPr id="6" name="Text 4"/>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1</a:t>
            </a:r>
            <a:endParaRPr lang="en-US" sz="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998400" y="431800"/>
            <a:ext cx="10195200" cy="53340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Company and segment context boundaries</a:t>
            </a:r>
            <a:endParaRPr lang="en-US" sz="3200" dirty="0"/>
          </a:p>
        </p:txBody>
      </p:sp>
      <p:sp>
        <p:nvSpPr>
          <p:cNvPr id="3" name="Text 1"/>
          <p:cNvSpPr/>
          <p:nvPr/>
        </p:nvSpPr>
        <p:spPr>
          <a:xfrm>
            <a:off x="998433" y="1179485"/>
            <a:ext cx="10204338" cy="482437"/>
          </a:xfrm>
          <a:prstGeom prst="rect">
            <a:avLst/>
          </a:prstGeom>
          <a:noFill/>
          <a:ln/>
        </p:spPr>
        <p:txBody>
          <a:bodyPr wrap="square" lIns="46800" tIns="72000" rIns="90000" bIns="46800" rtlCol="0" anchor="t"/>
          <a:lstStyle/>
          <a:p>
            <a:pPr indent="0" marL="0">
              <a:buNone/>
            </a:pPr>
            <a:r>
              <a:rPr lang="en-US" sz="1000" b="1" i="1" dirty="0">
                <a:solidFill>
                  <a:srgbClr val="7213EA"/>
                </a:solidFill>
                <a:latin typeface="Arial" pitchFamily="34" charset="0"/>
                <a:ea typeface="Arial" pitchFamily="34" charset="-122"/>
                <a:cs typeface="Arial" pitchFamily="34" charset="-120"/>
              </a:rPr>
              <a:t>The overview is intentionally constrained to what can be substantiated directly from the provided SEC extraction package.</a:t>
            </a:r>
            <a:endParaRPr lang="en-US" sz="1000" dirty="0"/>
          </a:p>
        </p:txBody>
      </p:sp>
      <p:sp>
        <p:nvSpPr>
          <p:cNvPr id="4" name="Text 2"/>
          <p:cNvSpPr/>
          <p:nvPr/>
        </p:nvSpPr>
        <p:spPr>
          <a:xfrm>
            <a:off x="997200" y="1716786"/>
            <a:ext cx="5036400" cy="4157127"/>
          </a:xfrm>
          <a:prstGeom prst="rect">
            <a:avLst/>
          </a:prstGeom>
          <a:noFill/>
          <a:ln/>
        </p:spPr>
        <p:txBody>
          <a:bodyPr wrap="square" lIns="46800" tIns="72000" rIns="90000" bIns="46800" rtlCol="0" anchor="t"/>
          <a:lstStyle/>
          <a:p>
            <a:pPr algn="l" marL="226800" indent="-226800">
              <a:lnSpc>
                <a:spcPts val="1200"/>
              </a:lnSpc>
              <a:spcAft>
                <a:spcPts val="600"/>
              </a:spcAft>
              <a:buSzPct val="100000"/>
              <a:buChar char="•"/>
            </a:pPr>
            <a:r>
              <a:rPr lang="en-US" sz="1000" b="1" dirty="0">
                <a:solidFill>
                  <a:srgbClr val="000000"/>
                </a:solidFill>
                <a:latin typeface="Arial" pitchFamily="34" charset="0"/>
                <a:ea typeface="Arial" pitchFamily="34" charset="-122"/>
                <a:cs typeface="Arial" pitchFamily="34" charset="-120"/>
              </a:rPr>
              <a:t>Company context:</a:t>
            </a:r>
            <a:pPr algn="l" indent="0" marL="0">
              <a:spcAft>
                <a:spcPts val="600"/>
              </a:spcAft>
              <a:buNone/>
            </a:pPr>
            <a:r>
              <a:rPr lang="en-US" sz="1000" dirty="0">
                <a:solidFill>
                  <a:srgbClr val="000000"/>
                </a:solidFill>
                <a:latin typeface="Arial" pitchFamily="34" charset="0"/>
                <a:ea typeface="Arial" pitchFamily="34" charset="-122"/>
                <a:cs typeface="Arial" pitchFamily="34" charset="-120"/>
              </a:rPr>
              <a:t> Apple Inc. is represented in the extract using SEC submissions and companyfacts-derived fields aligned to the ticker and CIK mapping in the package metadata.</a:t>
            </a:r>
            <a:endParaRPr lang="en-US" sz="1000" dirty="0"/>
          </a:p>
          <a:p>
            <a:pPr algn="l" marL="226800" indent="-226800">
              <a:lnSpc>
                <a:spcPts val="1200"/>
              </a:lnSpc>
              <a:spcAft>
                <a:spcPts val="600"/>
              </a:spcAft>
              <a:buSzPct val="100000"/>
              <a:buChar char="•"/>
            </a:pPr>
            <a:r>
              <a:rPr lang="en-US" sz="1000" dirty="0">
                <a:solidFill>
                  <a:srgbClr val="000000"/>
                </a:solidFill>
                <a:latin typeface="Arial" pitchFamily="34" charset="0"/>
                <a:ea typeface="Arial" pitchFamily="34" charset="-122"/>
                <a:cs typeface="Arial" pitchFamily="34" charset="-120"/>
              </a:rPr>
              <a:t>The resulting profile supports a consolidated corporate-level read on profitability, cash generation, and balance-sheet structure using consistent us-gaap metric tags.</a:t>
            </a:r>
            <a:endParaRPr lang="en-US" sz="1000" dirty="0"/>
          </a:p>
          <a:p>
            <a:pPr algn="l" marL="226800" indent="-226800">
              <a:lnSpc>
                <a:spcPts val="1200"/>
              </a:lnSpc>
              <a:spcAft>
                <a:spcPts val="600"/>
              </a:spcAft>
              <a:buSzPct val="100000"/>
              <a:buChar char="•"/>
            </a:pPr>
            <a:r>
              <a:rPr lang="en-US" sz="1000" dirty="0">
                <a:solidFill>
                  <a:srgbClr val="000000"/>
                </a:solidFill>
                <a:latin typeface="Arial" pitchFamily="34" charset="0"/>
                <a:ea typeface="Arial" pitchFamily="34" charset="-122"/>
                <a:cs typeface="Arial" pitchFamily="34" charset="-120"/>
              </a:rPr>
              <a:t>This framing is appropriate for an initial business overview where speed and traceable public-source support are prioritized over deep operating decomposition.</a:t>
            </a:r>
            <a:endParaRPr lang="en-US" sz="1000" dirty="0"/>
          </a:p>
        </p:txBody>
      </p:sp>
      <p:sp>
        <p:nvSpPr>
          <p:cNvPr id="5" name="Text 3"/>
          <p:cNvSpPr/>
          <p:nvPr/>
        </p:nvSpPr>
        <p:spPr>
          <a:xfrm>
            <a:off x="6159600" y="1716786"/>
            <a:ext cx="5036400" cy="4157127"/>
          </a:xfrm>
          <a:prstGeom prst="rect">
            <a:avLst/>
          </a:prstGeom>
          <a:noFill/>
          <a:ln/>
        </p:spPr>
        <p:txBody>
          <a:bodyPr wrap="square" lIns="46800" tIns="72000" rIns="90000" bIns="46800" rtlCol="0" anchor="t"/>
          <a:lstStyle/>
          <a:p>
            <a:pPr algn="l" marL="226800" indent="-226800">
              <a:lnSpc>
                <a:spcPts val="1200"/>
              </a:lnSpc>
              <a:spcAft>
                <a:spcPts val="600"/>
              </a:spcAft>
              <a:buSzPct val="100000"/>
              <a:buChar char="•"/>
            </a:pPr>
            <a:r>
              <a:rPr lang="en-US" sz="1000" b="1" dirty="0">
                <a:solidFill>
                  <a:srgbClr val="000000"/>
                </a:solidFill>
                <a:latin typeface="Arial" pitchFamily="34" charset="0"/>
                <a:ea typeface="Arial" pitchFamily="34" charset="-122"/>
                <a:cs typeface="Arial" pitchFamily="34" charset="-120"/>
              </a:rPr>
              <a:t>Segment context boundary:</a:t>
            </a:r>
            <a:pPr algn="l" indent="0" marL="0">
              <a:spcAft>
                <a:spcPts val="600"/>
              </a:spcAft>
              <a:buNone/>
            </a:pPr>
            <a:r>
              <a:rPr lang="en-US" sz="1000" dirty="0">
                <a:solidFill>
                  <a:srgbClr val="000000"/>
                </a:solidFill>
                <a:latin typeface="Arial" pitchFamily="34" charset="0"/>
                <a:ea typeface="Arial" pitchFamily="34" charset="-122"/>
                <a:cs typeface="Arial" pitchFamily="34" charset="-120"/>
              </a:rPr>
              <a:t> Segment-level contribution analysis is not provided as structured data in the supplied CSV files, so segment commentary is intentionally limited to scope notes.</a:t>
            </a:r>
            <a:endParaRPr lang="en-US" sz="1000" dirty="0"/>
          </a:p>
          <a:p>
            <a:pPr algn="l" marL="226800" indent="-226800">
              <a:lnSpc>
                <a:spcPts val="1200"/>
              </a:lnSpc>
              <a:spcAft>
                <a:spcPts val="600"/>
              </a:spcAft>
              <a:buSzPct val="100000"/>
              <a:buChar char="•"/>
            </a:pPr>
            <a:r>
              <a:rPr lang="en-US" sz="1000" dirty="0">
                <a:solidFill>
                  <a:srgbClr val="000000"/>
                </a:solidFill>
                <a:latin typeface="Arial" pitchFamily="34" charset="0"/>
                <a:ea typeface="Arial" pitchFamily="34" charset="-122"/>
                <a:cs typeface="Arial" pitchFamily="34" charset="-120"/>
              </a:rPr>
              <a:t>Any segment growth, margin, or mix claims would require direct parsing of 10-K segment disclosures beyond this extraction and are therefore excluded here.</a:t>
            </a:r>
            <a:endParaRPr lang="en-US" sz="1000" dirty="0"/>
          </a:p>
          <a:p>
            <a:pPr algn="l" marL="226800" indent="-226800">
              <a:lnSpc>
                <a:spcPts val="1200"/>
              </a:lnSpc>
              <a:spcAft>
                <a:spcPts val="600"/>
              </a:spcAft>
              <a:buSzPct val="100000"/>
              <a:buChar char="•"/>
            </a:pPr>
            <a:r>
              <a:rPr lang="en-US" sz="1000" dirty="0">
                <a:solidFill>
                  <a:srgbClr val="000000"/>
                </a:solidFill>
                <a:latin typeface="Arial" pitchFamily="34" charset="0"/>
                <a:ea typeface="Arial" pitchFamily="34" charset="-122"/>
                <a:cs typeface="Arial" pitchFamily="34" charset="-120"/>
              </a:rPr>
              <a:t>This boundary preserves source integrity by avoiding inferred segment conclusions not directly evidenced in the provided input package.</a:t>
            </a:r>
            <a:endParaRPr lang="en-US" sz="1000" dirty="0"/>
          </a:p>
        </p:txBody>
      </p:sp>
      <p:sp>
        <p:nvSpPr>
          <p:cNvPr id="6" name="Text 4"/>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2</a:t>
            </a:r>
            <a:endParaRPr lang="en-US" sz="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1289860" y="1140069"/>
            <a:ext cx="1082675" cy="812530"/>
          </a:xfrm>
          <a:prstGeom prst="rect">
            <a:avLst/>
          </a:prstGeom>
          <a:noFill/>
          <a:ln/>
        </p:spPr>
        <p:txBody>
          <a:bodyPr wrap="square" lIns="46800" tIns="72000" rIns="90000" bIns="46800" rtlCol="0" anchor="t"/>
          <a:lstStyle/>
          <a:p>
            <a:pPr algn="l" indent="0" marL="0">
              <a:buNone/>
            </a:pPr>
            <a:r>
              <a:rPr lang="en-US" sz="4800" b="1" dirty="0">
                <a:solidFill>
                  <a:srgbClr val="FFFFFF"/>
                </a:solidFill>
                <a:latin typeface="Arial" pitchFamily="34" charset="0"/>
                <a:ea typeface="Arial" pitchFamily="34" charset="-122"/>
                <a:cs typeface="Arial" pitchFamily="34" charset="-120"/>
              </a:rPr>
              <a:t>02</a:t>
            </a:r>
            <a:endParaRPr lang="en-US" sz="4800" dirty="0"/>
          </a:p>
        </p:txBody>
      </p:sp>
      <p:sp>
        <p:nvSpPr>
          <p:cNvPr id="3" name="Text 1"/>
          <p:cNvSpPr/>
          <p:nvPr/>
        </p:nvSpPr>
        <p:spPr>
          <a:xfrm>
            <a:off x="1289861" y="2180877"/>
            <a:ext cx="6321425" cy="696782"/>
          </a:xfrm>
          <a:prstGeom prst="rect">
            <a:avLst/>
          </a:prstGeom>
          <a:noFill/>
          <a:ln/>
        </p:spPr>
        <p:txBody>
          <a:bodyPr wrap="square" lIns="46800" tIns="72000" rIns="90000" bIns="46800" rtlCol="0" anchor="t"/>
          <a:lstStyle/>
          <a:p>
            <a:pPr algn="l" indent="0" marL="0">
              <a:buNone/>
            </a:pPr>
            <a:r>
              <a:rPr lang="en-US" sz="2400" b="1" dirty="0">
                <a:solidFill>
                  <a:srgbClr val="FFFFFF"/>
                </a:solidFill>
                <a:latin typeface="Arial" pitchFamily="34" charset="0"/>
                <a:ea typeface="Arial" pitchFamily="34" charset="-122"/>
                <a:cs typeface="Arial" pitchFamily="34" charset="-120"/>
              </a:rPr>
              <a:t>Financial Trend and Snapshot</a:t>
            </a:r>
            <a:endParaRPr lang="en-US" sz="2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998433" y="431780"/>
            <a:ext cx="10204338" cy="53337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Annual profit and cash remain elevated</a:t>
            </a:r>
            <a:endParaRPr lang="en-US" sz="3200" dirty="0"/>
          </a:p>
        </p:txBody>
      </p:sp>
      <p:sp>
        <p:nvSpPr>
          <p:cNvPr id="3" name="Text 1"/>
          <p:cNvSpPr/>
          <p:nvPr/>
        </p:nvSpPr>
        <p:spPr>
          <a:xfrm>
            <a:off x="998433" y="1179485"/>
            <a:ext cx="10204338" cy="482437"/>
          </a:xfrm>
          <a:prstGeom prst="rect">
            <a:avLst/>
          </a:prstGeom>
          <a:noFill/>
          <a:ln/>
        </p:spPr>
        <p:txBody>
          <a:bodyPr wrap="square" lIns="46800" tIns="72000" rIns="90000" bIns="46800" rtlCol="0" anchor="t"/>
          <a:lstStyle/>
          <a:p>
            <a:pPr indent="0" marL="0">
              <a:buNone/>
            </a:pPr>
            <a:r>
              <a:rPr lang="en-US" sz="1000" b="1" i="1" dirty="0">
                <a:solidFill>
                  <a:srgbClr val="7213EA"/>
                </a:solidFill>
                <a:latin typeface="Arial" pitchFamily="34" charset="0"/>
                <a:ea typeface="Arial" pitchFamily="34" charset="-122"/>
                <a:cs typeface="Arial" pitchFamily="34" charset="-120"/>
              </a:rPr>
              <a:t>FY2025 reflects moderation from FY2024 peaks, but absolute profitability and operating cash flow remain materially above earlier years in scope.</a:t>
            </a:r>
            <a:endParaRPr lang="en-US" sz="1000" dirty="0"/>
          </a:p>
        </p:txBody>
      </p:sp>
      <p:sp>
        <p:nvSpPr>
          <p:cNvPr id="4" name="Text 2"/>
          <p:cNvSpPr/>
          <p:nvPr/>
        </p:nvSpPr>
        <p:spPr>
          <a:xfrm>
            <a:off x="998433" y="1716786"/>
            <a:ext cx="5120640" cy="4459072"/>
          </a:xfrm>
          <a:prstGeom prst="rect">
            <a:avLst/>
          </a:prstGeom>
          <a:noFill/>
          <a:ln/>
        </p:spPr>
        <p:txBody>
          <a:bodyPr wrap="square" lIns="46800" tIns="72000" rIns="90000" bIns="46800" rtlCol="0" anchor="t"/>
          <a:lstStyle/>
          <a:p>
            <a:pPr marL="226800" indent="-226800">
              <a:lnSpc>
                <a:spcPts val="1200"/>
              </a:lnSpc>
              <a:spcAft>
                <a:spcPts val="600"/>
              </a:spcAft>
              <a:buSzPct val="100000"/>
              <a:buChar char="•"/>
            </a:pPr>
            <a:r>
              <a:rPr lang="en-US" sz="1000" dirty="0">
                <a:solidFill>
                  <a:srgbClr val="000000"/>
                </a:solidFill>
                <a:latin typeface="Arial" pitchFamily="34" charset="0"/>
                <a:ea typeface="Arial" pitchFamily="34" charset="-122"/>
                <a:cs typeface="Arial" pitchFamily="34" charset="-120"/>
              </a:rPr>
              <a:t>Gross profit increased from $98.4B in FY2021 to $169.1B in FY2025, after reaching $170.8B in FY2024.</a:t>
            </a:r>
            <a:endParaRPr lang="en-US" sz="1000" dirty="0"/>
          </a:p>
          <a:p>
            <a:pPr marL="226800" indent="-226800">
              <a:lnSpc>
                <a:spcPts val="1200"/>
              </a:lnSpc>
              <a:spcAft>
                <a:spcPts val="600"/>
              </a:spcAft>
              <a:buSzPct val="100000"/>
              <a:buChar char="•"/>
            </a:pPr>
            <a:r>
              <a:rPr lang="en-US" sz="1000" dirty="0">
                <a:solidFill>
                  <a:srgbClr val="000000"/>
                </a:solidFill>
                <a:latin typeface="Arial" pitchFamily="34" charset="0"/>
                <a:ea typeface="Arial" pitchFamily="34" charset="-122"/>
                <a:cs typeface="Arial" pitchFamily="34" charset="-120"/>
              </a:rPr>
              <a:t>Operating income rose from $63.9B in FY2021 to $114.3B in FY2025, with a peak of $119.4B in FY2024.</a:t>
            </a:r>
            <a:endParaRPr lang="en-US" sz="1000" dirty="0"/>
          </a:p>
          <a:p>
            <a:pPr marL="226800" indent="-226800">
              <a:lnSpc>
                <a:spcPts val="1200"/>
              </a:lnSpc>
              <a:spcAft>
                <a:spcPts val="600"/>
              </a:spcAft>
              <a:buSzPct val="100000"/>
              <a:buChar char="•"/>
            </a:pPr>
            <a:r>
              <a:rPr lang="en-US" sz="1000" dirty="0">
                <a:solidFill>
                  <a:srgbClr val="000000"/>
                </a:solidFill>
                <a:latin typeface="Arial" pitchFamily="34" charset="0"/>
                <a:ea typeface="Arial" pitchFamily="34" charset="-122"/>
                <a:cs typeface="Arial" pitchFamily="34" charset="-120"/>
              </a:rPr>
              <a:t>Net income scaled from $55.3B in FY2021 to $97.0B in FY2025 and remained close to the FY2024 high of $99.8B.</a:t>
            </a:r>
            <a:endParaRPr lang="en-US" sz="1000" dirty="0"/>
          </a:p>
          <a:p>
            <a:pPr marL="226800" indent="-226800">
              <a:lnSpc>
                <a:spcPts val="1200"/>
              </a:lnSpc>
              <a:spcAft>
                <a:spcPts val="600"/>
              </a:spcAft>
              <a:buSzPct val="100000"/>
              <a:buChar char="•"/>
            </a:pPr>
            <a:r>
              <a:rPr lang="en-US" sz="1000" dirty="0">
                <a:solidFill>
                  <a:srgbClr val="000000"/>
                </a:solidFill>
                <a:latin typeface="Arial" pitchFamily="34" charset="0"/>
                <a:ea typeface="Arial" pitchFamily="34" charset="-122"/>
                <a:cs typeface="Arial" pitchFamily="34" charset="-120"/>
              </a:rPr>
              <a:t>Operating cash flow increased from $69.4B in FY2021 to $110.5B in FY2025 despite lower conversion versus FY2024 ($122.2B).</a:t>
            </a:r>
            <a:endParaRPr lang="en-US" sz="1000" dirty="0"/>
          </a:p>
          <a:p>
            <a:pPr marL="226800" indent="-226800">
              <a:lnSpc>
                <a:spcPts val="1200"/>
              </a:lnSpc>
              <a:spcAft>
                <a:spcPts val="600"/>
              </a:spcAft>
              <a:buSzPct val="100000"/>
              <a:buChar char="•"/>
            </a:pPr>
            <a:r>
              <a:rPr lang="en-US" sz="1000" b="1" dirty="0">
                <a:solidFill>
                  <a:srgbClr val="000000"/>
                </a:solidFill>
                <a:latin typeface="Arial" pitchFamily="34" charset="0"/>
                <a:ea typeface="Arial" pitchFamily="34" charset="-122"/>
                <a:cs typeface="Arial" pitchFamily="34" charset="-120"/>
              </a:rPr>
              <a:t>Read-through:</a:t>
            </a:r>
            <a:pPr indent="0" marL="0">
              <a:spcAft>
                <a:spcPts val="600"/>
              </a:spcAft>
              <a:buNone/>
            </a:pPr>
            <a:r>
              <a:rPr lang="en-US" sz="1000" dirty="0">
                <a:solidFill>
                  <a:srgbClr val="000000"/>
                </a:solidFill>
                <a:latin typeface="Arial" pitchFamily="34" charset="0"/>
                <a:ea typeface="Arial" pitchFamily="34" charset="-122"/>
                <a:cs typeface="Arial" pitchFamily="34" charset="-120"/>
              </a:rPr>
              <a:t> the latest annual filing supports a high-profit base case, while the post-peak direction warrants monitoring in upcoming filings.</a:t>
            </a:r>
            <a:endParaRPr lang="en-US" sz="1000" dirty="0"/>
          </a:p>
        </p:txBody>
      </p:sp>
      <p:graphicFrame>
        <p:nvGraphicFramePr>
          <p:cNvPr id="5" name="Chart 0" descr=""/>
          <p:cNvGraphicFramePr/>
          <p:nvPr/>
        </p:nvGraphicFramePr>
        <p:xfrm>
          <a:off x="6400800" y="1716786"/>
          <a:ext cx="4800600" cy="4184752"/>
        </p:xfrm>
        <a:graphic xmlns:a="http://schemas.openxmlformats.org/drawingml/2006/main">
          <a:graphicData uri="http://schemas.openxmlformats.org/drawingml/2006/chart">
            <c:chart xmlns:c="http://schemas.openxmlformats.org/drawingml/2006/chart" r:id="rId1"/>
          </a:graphicData>
        </a:graphic>
      </p:graphicFrame>
      <p:sp>
        <p:nvSpPr>
          <p:cNvPr id="6" name="Text 3"/>
          <p:cNvSpPr/>
          <p:nvPr/>
        </p:nvSpPr>
        <p:spPr>
          <a:xfrm>
            <a:off x="6400800" y="5947258"/>
            <a:ext cx="4800600" cy="182880"/>
          </a:xfrm>
          <a:prstGeom prst="rect">
            <a:avLst/>
          </a:prstGeom>
          <a:noFill/>
          <a:ln/>
        </p:spPr>
        <p:txBody>
          <a:bodyPr wrap="square" rtlCol="0" anchor="ctr"/>
          <a:lstStyle/>
          <a:p>
            <a:pPr indent="0" marL="0">
              <a:buNone/>
            </a:pPr>
            <a:r>
              <a:rPr lang="en-US" sz="600" i="1" dirty="0">
                <a:solidFill>
                  <a:srgbClr val="00338D"/>
                </a:solidFill>
                <a:latin typeface="Arial" pitchFamily="34" charset="0"/>
                <a:ea typeface="Arial" pitchFamily="34" charset="-122"/>
                <a:cs typeface="Arial" pitchFamily="34" charset="-120"/>
              </a:rPr>
              <a:t>Source: testing/data/sec/AAPL/annual_metrics.csv (FY2021-FY2025 rows; forms filed 2021-10-29 to 2025-10-31).</a:t>
            </a:r>
            <a:endParaRPr lang="en-US" sz="600" dirty="0"/>
          </a:p>
        </p:txBody>
      </p:sp>
      <p:sp>
        <p:nvSpPr>
          <p:cNvPr id="7" name="Text 4"/>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3</a:t>
            </a:r>
            <a:endParaRPr lang="en-US" sz="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998400" y="431800"/>
            <a:ext cx="10195200" cy="53340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FY2025 and Q1 FY2026 KPI snapshot</a:t>
            </a:r>
            <a:endParaRPr lang="en-US" sz="3200" dirty="0"/>
          </a:p>
        </p:txBody>
      </p:sp>
      <p:sp>
        <p:nvSpPr>
          <p:cNvPr id="3" name="Text 1"/>
          <p:cNvSpPr/>
          <p:nvPr/>
        </p:nvSpPr>
        <p:spPr>
          <a:xfrm>
            <a:off x="995361" y="1179513"/>
            <a:ext cx="10195200" cy="482400"/>
          </a:xfrm>
          <a:prstGeom prst="rect">
            <a:avLst/>
          </a:prstGeom>
          <a:noFill/>
          <a:ln/>
        </p:spPr>
        <p:txBody>
          <a:bodyPr wrap="square" lIns="46800" tIns="72000" rIns="90000" bIns="46800" rtlCol="0" anchor="t"/>
          <a:lstStyle/>
          <a:p>
            <a:pPr indent="0" marL="0">
              <a:buNone/>
            </a:pPr>
            <a:r>
              <a:rPr lang="en-US" sz="1000" b="1" i="1" dirty="0">
                <a:solidFill>
                  <a:srgbClr val="7213EA"/>
                </a:solidFill>
                <a:latin typeface="Arial" pitchFamily="34" charset="0"/>
                <a:ea typeface="Arial" pitchFamily="34" charset="-122"/>
                <a:cs typeface="Arial" pitchFamily="34" charset="-120"/>
              </a:rPr>
              <a:t>Latest annual and quarterly filings indicate continued earnings scale with softer operating cash flow in the most recent quarter.</a:t>
            </a:r>
            <a:endParaRPr lang="en-US" sz="1000" dirty="0"/>
          </a:p>
        </p:txBody>
      </p:sp>
      <p:sp>
        <p:nvSpPr>
          <p:cNvPr id="4" name="Shape 2"/>
          <p:cNvSpPr/>
          <p:nvPr/>
        </p:nvSpPr>
        <p:spPr>
          <a:xfrm>
            <a:off x="995361" y="1751579"/>
            <a:ext cx="5036396" cy="219456"/>
          </a:xfrm>
          <a:prstGeom prst="rect">
            <a:avLst/>
          </a:prstGeom>
          <a:solidFill>
            <a:srgbClr val="00338D"/>
          </a:solidFill>
          <a:ln w="12700">
            <a:solidFill>
              <a:srgbClr val="00338D">
                <a:alpha val="0"/>
              </a:srgbClr>
            </a:solidFill>
            <a:prstDash val="solid"/>
          </a:ln>
        </p:spPr>
      </p:sp>
      <p:sp>
        <p:nvSpPr>
          <p:cNvPr id="5" name="Text 3"/>
          <p:cNvSpPr/>
          <p:nvPr/>
        </p:nvSpPr>
        <p:spPr>
          <a:xfrm>
            <a:off x="1050225" y="1765295"/>
            <a:ext cx="4926668" cy="201168"/>
          </a:xfrm>
          <a:prstGeom prst="rect">
            <a:avLst/>
          </a:prstGeom>
          <a:noFill/>
          <a:ln/>
        </p:spPr>
        <p:txBody>
          <a:bodyPr wrap="square" lIns="0" tIns="0" rIns="0" bIns="0" rtlCol="0" anchor="ctr"/>
          <a:lstStyle/>
          <a:p>
            <a:pPr indent="0" marL="0">
              <a:buNone/>
            </a:pPr>
            <a:r>
              <a:rPr lang="en-US" sz="900" b="1" dirty="0">
                <a:solidFill>
                  <a:srgbClr val="FFFFFF"/>
                </a:solidFill>
                <a:latin typeface="Arial" pitchFamily="34" charset="0"/>
                <a:ea typeface="Arial" pitchFamily="34" charset="-122"/>
                <a:cs typeface="Arial" pitchFamily="34" charset="-120"/>
              </a:rPr>
              <a:t>FY2025 and Q1 FY2026 KPI snapshot</a:t>
            </a:r>
            <a:endParaRPr lang="en-US" sz="900" dirty="0"/>
          </a:p>
        </p:txBody>
      </p:sp>
      <p:sp>
        <p:nvSpPr>
          <p:cNvPr id="6" name="Shape 4"/>
          <p:cNvSpPr/>
          <p:nvPr/>
        </p:nvSpPr>
        <p:spPr>
          <a:xfrm>
            <a:off x="995361" y="1971035"/>
            <a:ext cx="5036396" cy="0"/>
          </a:xfrm>
          <a:prstGeom prst="line">
            <a:avLst/>
          </a:prstGeom>
          <a:noFill/>
          <a:ln w="12700">
            <a:solidFill>
              <a:srgbClr val="00338D"/>
            </a:solidFill>
            <a:prstDash val="solid"/>
          </a:ln>
        </p:spPr>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995361" y="1989323"/>
          <a:ext cx="5036396" cy="3884252"/>
        </p:xfrm>
        <a:graphic>
          <a:graphicData uri="http://schemas.openxmlformats.org/drawingml/2006/table">
            <a:tbl>
              <a:tblPr/>
              <a:tblGrid>
                <a:gridCol w="1566003"/>
                <a:gridCol w="923594"/>
                <a:gridCol w="923594"/>
                <a:gridCol w="1623205"/>
              </a:tblGrid>
              <a:tr h="292608">
                <a:tc>
                  <a:txBody>
                    <a:bodyPr/>
                    <a:lstStyle/>
                    <a:p>
                      <a:pPr algn="l" indent="0" marL="0">
                        <a:buNone/>
                      </a:pPr>
                      <a:r>
                        <a:rPr lang="en-US" sz="800" b="1" dirty="0">
                          <a:solidFill>
                            <a:srgbClr val="FFFFFF"/>
                          </a:solidFill>
                          <a:latin typeface="Arial" pitchFamily="34" charset="0"/>
                          <a:ea typeface="Arial" pitchFamily="34" charset="-122"/>
                          <a:cs typeface="Arial" pitchFamily="34" charset="-120"/>
                        </a:rPr>
                        <a:t>Metric</a:t>
                      </a:r>
                      <a:endParaRPr lang="en-US" sz="800" dirty="0">
                        <a:latin typeface="Arial" charset="0"/>
                        <a:ea typeface="Arial" charset="0"/>
                        <a:cs typeface="Arial" charset="0"/>
                      </a:endParaRPr>
                    </a:p>
                  </a:txBody>
                  <a:tcPr marL="50800" marR="50800" marT="25400" marB="25400" anchor="ctr">
                    <a:lnL w="7620" cap="flat" cmpd="sng" algn="ctr">
                      <a:solidFill>
                        <a:srgbClr val="D9D9D9"/>
                      </a:solidFill>
                      <a:prstDash val="solid"/>
                      <a:round/>
                      <a:headEnd type="none" w="med" len="med"/>
                      <a:tailEnd type="none" w="med" len="med"/>
                    </a:lnL>
                    <a:lnR w="0" cap="flat" cmpd="sng" algn="ctr">
                      <a:noFill/>
                    </a:lnR>
                    <a:lnT w="0" cap="flat" cmpd="sng" algn="ctr">
                      <a:noFill/>
                    </a:lnT>
                    <a:lnB w="12700" cap="flat" cmpd="sng" algn="ctr">
                      <a:solidFill>
                        <a:srgbClr val="00338D"/>
                      </a:solidFill>
                      <a:prstDash val="solid"/>
                      <a:round/>
                      <a:headEnd type="none" w="med" len="med"/>
                      <a:tailEnd type="none" w="med" len="med"/>
                    </a:lnB>
                    <a:solidFill>
                      <a:srgbClr val="1E49E2"/>
                    </a:solidFill>
                  </a:tcPr>
                </a:tc>
                <a:tc>
                  <a:txBody>
                    <a:bodyPr/>
                    <a:lstStyle/>
                    <a:p>
                      <a:pPr algn="ctr" indent="0" marL="0">
                        <a:buNone/>
                      </a:pPr>
                      <a:r>
                        <a:rPr lang="en-US" sz="800" b="1" dirty="0">
                          <a:solidFill>
                            <a:srgbClr val="FFFFFF"/>
                          </a:solidFill>
                          <a:latin typeface="Arial" pitchFamily="34" charset="0"/>
                          <a:ea typeface="Arial" pitchFamily="34" charset="-122"/>
                          <a:cs typeface="Arial" pitchFamily="34" charset="-120"/>
                        </a:rPr>
                        <a:t>FY2025</a:t>
                      </a:r>
                      <a:endParaRPr lang="en-US" sz="800" dirty="0">
                        <a:latin typeface="Arial" charset="0"/>
                        <a:ea typeface="Arial" charset="0"/>
                        <a:cs typeface="Arial" charset="0"/>
                      </a:endParaRPr>
                    </a:p>
                  </a:txBody>
                  <a:tcPr marL="50800" marR="50800" marT="25400" marB="25400" anchor="ctr">
                    <a:lnL w="0" cap="flat" cmpd="sng" algn="ctr">
                      <a:noFill/>
                    </a:lnL>
                    <a:lnR w="0" cap="flat" cmpd="sng" algn="ctr">
                      <a:noFill/>
                    </a:lnR>
                    <a:lnT w="0" cap="flat" cmpd="sng" algn="ctr">
                      <a:noFill/>
                    </a:lnT>
                    <a:lnB w="12700" cap="flat" cmpd="sng" algn="ctr">
                      <a:solidFill>
                        <a:srgbClr val="00338D"/>
                      </a:solidFill>
                      <a:prstDash val="solid"/>
                      <a:round/>
                      <a:headEnd type="none" w="med" len="med"/>
                      <a:tailEnd type="none" w="med" len="med"/>
                    </a:lnB>
                    <a:solidFill>
                      <a:srgbClr val="1E49E2"/>
                    </a:solidFill>
                  </a:tcPr>
                </a:tc>
                <a:tc>
                  <a:txBody>
                    <a:bodyPr/>
                    <a:lstStyle/>
                    <a:p>
                      <a:pPr algn="ctr" indent="0" marL="0">
                        <a:buNone/>
                      </a:pPr>
                      <a:r>
                        <a:rPr lang="en-US" sz="800" b="1" dirty="0">
                          <a:solidFill>
                            <a:srgbClr val="FFFFFF"/>
                          </a:solidFill>
                          <a:latin typeface="Arial" pitchFamily="34" charset="0"/>
                          <a:ea typeface="Arial" pitchFamily="34" charset="-122"/>
                          <a:cs typeface="Arial" pitchFamily="34" charset="-120"/>
                        </a:rPr>
                        <a:t>Q1 FY2026</a:t>
                      </a:r>
                      <a:endParaRPr lang="en-US" sz="800" dirty="0">
                        <a:latin typeface="Arial" charset="0"/>
                        <a:ea typeface="Arial" charset="0"/>
                        <a:cs typeface="Arial" charset="0"/>
                      </a:endParaRPr>
                    </a:p>
                  </a:txBody>
                  <a:tcPr marL="50800" marR="50800" marT="25400" marB="25400" anchor="ctr">
                    <a:lnL w="0" cap="flat" cmpd="sng" algn="ctr">
                      <a:noFill/>
                    </a:lnL>
                    <a:lnR w="0" cap="flat" cmpd="sng" algn="ctr">
                      <a:noFill/>
                    </a:lnR>
                    <a:lnT w="0" cap="flat" cmpd="sng" algn="ctr">
                      <a:noFill/>
                    </a:lnT>
                    <a:lnB w="12700" cap="flat" cmpd="sng" algn="ctr">
                      <a:solidFill>
                        <a:srgbClr val="00338D"/>
                      </a:solidFill>
                      <a:prstDash val="solid"/>
                      <a:round/>
                      <a:headEnd type="none" w="med" len="med"/>
                      <a:tailEnd type="none" w="med" len="med"/>
                    </a:lnB>
                    <a:solidFill>
                      <a:srgbClr val="1E49E2"/>
                    </a:solidFill>
                  </a:tcPr>
                </a:tc>
                <a:tc>
                  <a:txBody>
                    <a:bodyPr/>
                    <a:lstStyle/>
                    <a:p>
                      <a:pPr algn="ctr" indent="0" marL="0">
                        <a:buNone/>
                      </a:pPr>
                      <a:r>
                        <a:rPr lang="en-US" sz="800" b="1" dirty="0">
                          <a:solidFill>
                            <a:srgbClr val="FFFFFF"/>
                          </a:solidFill>
                          <a:latin typeface="Arial" pitchFamily="34" charset="0"/>
                          <a:ea typeface="Arial" pitchFamily="34" charset="-122"/>
                          <a:cs typeface="Arial" pitchFamily="34" charset="-120"/>
                        </a:rPr>
                        <a:t>Observed shift</a:t>
                      </a:r>
                      <a:endParaRPr lang="en-US" sz="800" dirty="0">
                        <a:latin typeface="Arial" charset="0"/>
                        <a:ea typeface="Arial" charset="0"/>
                        <a:cs typeface="Arial" charset="0"/>
                      </a:endParaRPr>
                    </a:p>
                  </a:txBody>
                  <a:tcPr marL="50800" marR="50800" marT="25400" marB="25400" anchor="ctr">
                    <a:lnL w="0" cap="flat" cmpd="sng" algn="ctr">
                      <a:noFill/>
                    </a:lnL>
                    <a:lnR w="7620" cap="flat" cmpd="sng" algn="ctr">
                      <a:solidFill>
                        <a:srgbClr val="D9D9D9"/>
                      </a:solidFill>
                      <a:prstDash val="solid"/>
                      <a:round/>
                      <a:headEnd type="none" w="med" len="med"/>
                      <a:tailEnd type="none" w="med" len="med"/>
                    </a:lnR>
                    <a:lnT w="0" cap="flat" cmpd="sng" algn="ctr">
                      <a:noFill/>
                    </a:lnT>
                    <a:lnB w="12700" cap="flat" cmpd="sng" algn="ctr">
                      <a:solidFill>
                        <a:srgbClr val="00338D"/>
                      </a:solidFill>
                      <a:prstDash val="solid"/>
                      <a:round/>
                      <a:headEnd type="none" w="med" len="med"/>
                      <a:tailEnd type="none" w="med" len="med"/>
                    </a:lnB>
                    <a:solidFill>
                      <a:srgbClr val="1E49E2"/>
                    </a:solidFill>
                  </a:tcPr>
                </a:tc>
              </a:tr>
              <a:tr h="290576">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Gross profit ($B)</a:t>
                      </a:r>
                      <a:endParaRPr lang="en-US" sz="8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169.1</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58.3</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Q1 above Q1 FY2025 (54.9)</a:t>
                      </a:r>
                      <a:endParaRPr lang="en-US" sz="8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r>
              <a:tr h="290576">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Operating income ($B)</a:t>
                      </a:r>
                      <a:endParaRPr lang="en-US" sz="8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114.3</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42.8</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Q1 above Q1 FY2025 (40.4)</a:t>
                      </a:r>
                      <a:endParaRPr lang="en-US" sz="8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r>
              <a:tr h="290576">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Net income ($B)</a:t>
                      </a:r>
                      <a:endParaRPr lang="en-US" sz="8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97.0</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36.3</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Q1 above Q1 FY2025 (33.9)</a:t>
                      </a:r>
                      <a:endParaRPr lang="en-US" sz="8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r>
              <a:tr h="290576">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Operating cash flow ($B)</a:t>
                      </a:r>
                      <a:endParaRPr lang="en-US" sz="8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110.5</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29.9</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Q1 below Q1 FY2025 (39.9)</a:t>
                      </a:r>
                      <a:endParaRPr lang="en-US" sz="8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r>
              <a:tr h="290576">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Assets / Liabilities ($B)</a:t>
                      </a:r>
                      <a:endParaRPr lang="en-US" sz="8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762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365.0 / 308.0</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762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359.2 / 285.5</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762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Liabilities lower in quarter</a:t>
                      </a:r>
                      <a:endParaRPr lang="en-US" sz="8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7620" cap="flat" cmpd="sng" algn="ctr">
                      <a:solidFill>
                        <a:srgbClr val="D9D9D9"/>
                      </a:solidFill>
                      <a:prstDash val="solid"/>
                      <a:round/>
                      <a:headEnd type="none" w="med" len="med"/>
                      <a:tailEnd type="none" w="med" len="med"/>
                    </a:lnB>
                    <a:solidFill>
                      <a:srgbClr val="FFFFFF"/>
                    </a:solidFill>
                  </a:tcPr>
                </a:tc>
              </a:tr>
            </a:tbl>
          </a:graphicData>
        </a:graphic>
      </p:graphicFrame>
      <p:sp>
        <p:nvSpPr>
          <p:cNvPr id="8" name="Text 5"/>
          <p:cNvSpPr/>
          <p:nvPr/>
        </p:nvSpPr>
        <p:spPr>
          <a:xfrm>
            <a:off x="6159600" y="1751579"/>
            <a:ext cx="5036396" cy="251999"/>
          </a:xfrm>
          <a:prstGeom prst="rect">
            <a:avLst/>
          </a:prstGeom>
          <a:noFill/>
          <a:ln/>
        </p:spPr>
        <p:txBody>
          <a:bodyPr wrap="square" lIns="46800" tIns="72000" rIns="90000" bIns="46800" rtlCol="0" anchor="t"/>
          <a:lstStyle/>
          <a:p>
            <a:pPr indent="0" marL="0">
              <a:buNone/>
            </a:pPr>
            <a:r>
              <a:rPr lang="en-US" sz="1000" b="1" dirty="0">
                <a:solidFill>
                  <a:srgbClr val="00338D"/>
                </a:solidFill>
                <a:latin typeface="Arial" pitchFamily="34" charset="0"/>
                <a:ea typeface="Arial" pitchFamily="34" charset="-122"/>
                <a:cs typeface="Arial" pitchFamily="34" charset="-120"/>
              </a:rPr>
              <a:t>Read-through</a:t>
            </a:r>
            <a:endParaRPr lang="en-US" sz="1000" dirty="0"/>
          </a:p>
        </p:txBody>
      </p:sp>
      <p:sp>
        <p:nvSpPr>
          <p:cNvPr id="9" name="Text 6"/>
          <p:cNvSpPr/>
          <p:nvPr/>
        </p:nvSpPr>
        <p:spPr>
          <a:xfrm>
            <a:off x="6159600" y="2003588"/>
            <a:ext cx="5036396" cy="3869997"/>
          </a:xfrm>
          <a:prstGeom prst="rect">
            <a:avLst/>
          </a:prstGeom>
          <a:noFill/>
          <a:ln/>
        </p:spPr>
        <p:txBody>
          <a:bodyPr wrap="square" lIns="46800" tIns="72000" rIns="90000" bIns="46800" rtlCol="0" anchor="t"/>
          <a:lstStyle/>
          <a:p>
            <a:pPr marL="226800" indent="-226800">
              <a:lnSpc>
                <a:spcPts val="1200"/>
              </a:lnSpc>
              <a:spcAft>
                <a:spcPts val="600"/>
              </a:spcAft>
              <a:buSzPct val="100000"/>
              <a:buChar char="•"/>
            </a:pPr>
            <a:r>
              <a:rPr lang="en-US" sz="1000" dirty="0">
                <a:solidFill>
                  <a:srgbClr val="000000"/>
                </a:solidFill>
                <a:latin typeface="Arial" pitchFamily="34" charset="0"/>
                <a:ea typeface="Arial" pitchFamily="34" charset="-122"/>
                <a:cs typeface="Arial" pitchFamily="34" charset="-120"/>
              </a:rPr>
              <a:t>Core earnings indicators in Q1 FY2026 remain above Q1 FY2025 levels on gross profit, operating income, and net income, indicating continued earnings resilience in the latest quarter.</a:t>
            </a:r>
            <a:endParaRPr lang="en-US" sz="1000" dirty="0"/>
          </a:p>
          <a:p>
            <a:pPr marL="226800" indent="-226800">
              <a:lnSpc>
                <a:spcPts val="1200"/>
              </a:lnSpc>
              <a:spcAft>
                <a:spcPts val="600"/>
              </a:spcAft>
              <a:buSzPct val="100000"/>
              <a:buChar char="•"/>
            </a:pPr>
            <a:r>
              <a:rPr lang="en-US" sz="1000" dirty="0">
                <a:solidFill>
                  <a:srgbClr val="000000"/>
                </a:solidFill>
                <a:latin typeface="Arial" pitchFamily="34" charset="0"/>
                <a:ea typeface="Arial" pitchFamily="34" charset="-122"/>
                <a:cs typeface="Arial" pitchFamily="34" charset="-120"/>
              </a:rPr>
              <a:t>Operating cash flow is the principal watchpoint: Q1 FY2026 reports $29.9B versus $39.9B in Q1 FY2025, suggesting nearer-term conversion softness despite high absolute annual cash generation.</a:t>
            </a:r>
            <a:endParaRPr lang="en-US" sz="1000" dirty="0"/>
          </a:p>
          <a:p>
            <a:pPr marL="226800" indent="-226800">
              <a:lnSpc>
                <a:spcPts val="1200"/>
              </a:lnSpc>
              <a:spcAft>
                <a:spcPts val="600"/>
              </a:spcAft>
              <a:buSzPct val="100000"/>
              <a:buChar char="•"/>
            </a:pPr>
            <a:r>
              <a:rPr lang="en-US" sz="1000" dirty="0">
                <a:solidFill>
                  <a:srgbClr val="000000"/>
                </a:solidFill>
                <a:latin typeface="Arial" pitchFamily="34" charset="0"/>
                <a:ea typeface="Arial" pitchFamily="34" charset="-122"/>
                <a:cs typeface="Arial" pitchFamily="34" charset="-120"/>
              </a:rPr>
              <a:t>Balance-sheet totals indicate lower liabilities in the latest quarter snapshot versus FY2025 year-end, while total assets remain at substantial scale.</a:t>
            </a:r>
            <a:endParaRPr lang="en-US" sz="1000" dirty="0"/>
          </a:p>
        </p:txBody>
      </p:sp>
      <p:sp>
        <p:nvSpPr>
          <p:cNvPr id="10" name="Text 7"/>
          <p:cNvSpPr/>
          <p:nvPr/>
        </p:nvSpPr>
        <p:spPr>
          <a:xfrm>
            <a:off x="995361" y="6010735"/>
            <a:ext cx="5036396" cy="165122"/>
          </a:xfrm>
          <a:prstGeom prst="rect">
            <a:avLst/>
          </a:prstGeom>
          <a:noFill/>
          <a:ln/>
        </p:spPr>
        <p:txBody>
          <a:bodyPr wrap="square" rtlCol="0" anchor="t"/>
          <a:lstStyle/>
          <a:p>
            <a:pPr indent="0" marL="0">
              <a:buNone/>
            </a:pPr>
            <a:r>
              <a:rPr lang="en-US" sz="600" i="1" dirty="0">
                <a:solidFill>
                  <a:srgbClr val="333333"/>
                </a:solidFill>
                <a:latin typeface="Arial" pitchFamily="34" charset="0"/>
                <a:ea typeface="Arial" pitchFamily="34" charset="-122"/>
                <a:cs typeface="Arial" pitchFamily="34" charset="-120"/>
              </a:rPr>
              <a:t>Source: testing/data/sec/AAPL/annual_metrics.csv (FY2025 row) and testing/data/sec/AAPL/quarterly_metrics.csv (2026 Q1 and 2025 Q1 rows).</a:t>
            </a:r>
            <a:endParaRPr lang="en-US" sz="600" dirty="0"/>
          </a:p>
        </p:txBody>
      </p:sp>
      <p:sp>
        <p:nvSpPr>
          <p:cNvPr id="11" name="Text 8"/>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4</a:t>
            </a:r>
            <a:endParaRPr lang="en-US" sz="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998433" y="431780"/>
            <a:ext cx="10204338" cy="53337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Implications for concise diligence view</a:t>
            </a:r>
            <a:endParaRPr lang="en-US" sz="3200" dirty="0"/>
          </a:p>
        </p:txBody>
      </p:sp>
      <p:sp>
        <p:nvSpPr>
          <p:cNvPr id="3" name="Text 1"/>
          <p:cNvSpPr/>
          <p:nvPr/>
        </p:nvSpPr>
        <p:spPr>
          <a:xfrm>
            <a:off x="998433" y="1179485"/>
            <a:ext cx="10204338" cy="482437"/>
          </a:xfrm>
          <a:prstGeom prst="rect">
            <a:avLst/>
          </a:prstGeom>
          <a:noFill/>
          <a:ln/>
        </p:spPr>
        <p:txBody>
          <a:bodyPr wrap="square" lIns="46800" tIns="72000" rIns="90000" bIns="46800" rtlCol="0" anchor="t"/>
          <a:lstStyle/>
          <a:p>
            <a:pPr indent="0" marL="0">
              <a:buNone/>
            </a:pPr>
            <a:r>
              <a:rPr lang="en-US" sz="1000" b="1" i="1" dirty="0">
                <a:solidFill>
                  <a:srgbClr val="7213EA"/>
                </a:solidFill>
                <a:latin typeface="Arial" pitchFamily="34" charset="0"/>
                <a:ea typeface="Arial" pitchFamily="34" charset="-122"/>
                <a:cs typeface="Arial" pitchFamily="34" charset="-120"/>
              </a:rPr>
              <a:t>Current filing evidence supports a stable high-profit baseline with targeted follow-up around quarter-to-quarter cash conversion behavior.</a:t>
            </a:r>
            <a:endParaRPr lang="en-US" sz="1000" dirty="0"/>
          </a:p>
        </p:txBody>
      </p:sp>
      <p:sp>
        <p:nvSpPr>
          <p:cNvPr id="4" name="Text 2"/>
          <p:cNvSpPr/>
          <p:nvPr/>
        </p:nvSpPr>
        <p:spPr>
          <a:xfrm>
            <a:off x="998433" y="1716786"/>
            <a:ext cx="10204338" cy="4248760"/>
          </a:xfrm>
          <a:prstGeom prst="rect">
            <a:avLst/>
          </a:prstGeom>
          <a:noFill/>
          <a:ln/>
        </p:spPr>
        <p:txBody>
          <a:bodyPr wrap="square" lIns="46800" tIns="72000" rIns="90000" bIns="46800" rtlCol="0" anchor="t"/>
          <a:lstStyle/>
          <a:p>
            <a:pPr marL="226800" indent="-226800">
              <a:lnSpc>
                <a:spcPts val="1200"/>
              </a:lnSpc>
              <a:spcAft>
                <a:spcPts val="600"/>
              </a:spcAft>
              <a:buSzPct val="100000"/>
              <a:buChar char="•"/>
            </a:pPr>
            <a:r>
              <a:rPr lang="en-US" sz="1000" dirty="0">
                <a:solidFill>
                  <a:srgbClr val="000000"/>
                </a:solidFill>
                <a:latin typeface="Arial" pitchFamily="34" charset="0"/>
                <a:ea typeface="Arial" pitchFamily="34" charset="-122"/>
                <a:cs typeface="Arial" pitchFamily="34" charset="-120"/>
              </a:rPr>
              <a:t>The annual trend supports a scale narrative: FY2025 profitability and operating cash flow remain well above FY2021-FY2022 levels even after moderating from FY2024 highs.</a:t>
            </a:r>
            <a:endParaRPr lang="en-US" sz="1000" dirty="0"/>
          </a:p>
          <a:p>
            <a:pPr marL="226800" indent="-226800">
              <a:lnSpc>
                <a:spcPts val="1200"/>
              </a:lnSpc>
              <a:spcAft>
                <a:spcPts val="600"/>
              </a:spcAft>
              <a:buSzPct val="100000"/>
              <a:buChar char="•"/>
            </a:pPr>
            <a:r>
              <a:rPr lang="en-US" sz="1000" dirty="0">
                <a:solidFill>
                  <a:srgbClr val="000000"/>
                </a:solidFill>
                <a:latin typeface="Arial" pitchFamily="34" charset="0"/>
                <a:ea typeface="Arial" pitchFamily="34" charset="-122"/>
                <a:cs typeface="Arial" pitchFamily="34" charset="-120"/>
              </a:rPr>
              <a:t>Near-term diligence should prioritize cash conversion drivers because quarterly operating cash flow shows the sharpest recent movement in the supplied dataset.</a:t>
            </a:r>
            <a:endParaRPr lang="en-US" sz="1000" dirty="0"/>
          </a:p>
          <a:p>
            <a:pPr marL="226800" indent="-226800">
              <a:lnSpc>
                <a:spcPts val="1200"/>
              </a:lnSpc>
              <a:spcAft>
                <a:spcPts val="600"/>
              </a:spcAft>
              <a:buSzPct val="100000"/>
              <a:buChar char="•"/>
            </a:pPr>
            <a:r>
              <a:rPr lang="en-US" sz="1000" dirty="0">
                <a:solidFill>
                  <a:srgbClr val="000000"/>
                </a:solidFill>
                <a:latin typeface="Arial" pitchFamily="34" charset="0"/>
                <a:ea typeface="Arial" pitchFamily="34" charset="-122"/>
                <a:cs typeface="Arial" pitchFamily="34" charset="-120"/>
              </a:rPr>
              <a:t>Capital structure should be interpreted alongside ongoing cash generation, given the substantial liabilities and lower equity levels observed in annual metrics.</a:t>
            </a:r>
            <a:endParaRPr lang="en-US" sz="1000" dirty="0"/>
          </a:p>
          <a:p>
            <a:pPr marL="226800" indent="-226800">
              <a:lnSpc>
                <a:spcPts val="1200"/>
              </a:lnSpc>
              <a:spcAft>
                <a:spcPts val="600"/>
              </a:spcAft>
              <a:buSzPct val="100000"/>
              <a:buChar char="•"/>
            </a:pPr>
            <a:r>
              <a:rPr lang="en-US" sz="1000" dirty="0">
                <a:solidFill>
                  <a:srgbClr val="000000"/>
                </a:solidFill>
                <a:latin typeface="Arial" pitchFamily="34" charset="0"/>
                <a:ea typeface="Arial" pitchFamily="34" charset="-122"/>
                <a:cs typeface="Arial" pitchFamily="34" charset="-120"/>
              </a:rPr>
              <a:t>Segment-level conclusions should be deferred until direct extraction of 10-K segment disclosures is added to the evidence base.</a:t>
            </a:r>
            <a:endParaRPr lang="en-US" sz="1000" dirty="0"/>
          </a:p>
          <a:p>
            <a:pPr marL="226800" indent="-226800">
              <a:lnSpc>
                <a:spcPts val="1200"/>
              </a:lnSpc>
              <a:spcAft>
                <a:spcPts val="600"/>
              </a:spcAft>
              <a:buSzPct val="100000"/>
              <a:buChar char="•"/>
            </a:pPr>
            <a:r>
              <a:rPr lang="en-US" sz="1000" dirty="0">
                <a:solidFill>
                  <a:srgbClr val="000000"/>
                </a:solidFill>
                <a:latin typeface="Arial" pitchFamily="34" charset="0"/>
                <a:ea typeface="Arial" pitchFamily="34" charset="-122"/>
                <a:cs typeface="Arial" pitchFamily="34" charset="-120"/>
              </a:rPr>
              <a:t>Monitoring the next quarterly filing cycle is critical to determine whether Q1 FY2026 cash-flow softness reflects seasonality or a persistent shift.</a:t>
            </a:r>
            <a:endParaRPr lang="en-US" sz="1000" dirty="0"/>
          </a:p>
        </p:txBody>
      </p:sp>
      <p:sp>
        <p:nvSpPr>
          <p:cNvPr id="5" name="Text 3"/>
          <p:cNvSpPr/>
          <p:nvPr/>
        </p:nvSpPr>
        <p:spPr>
          <a:xfrm>
            <a:off x="998433" y="5992978"/>
            <a:ext cx="10204338" cy="182880"/>
          </a:xfrm>
          <a:prstGeom prst="rect">
            <a:avLst/>
          </a:prstGeom>
          <a:noFill/>
          <a:ln/>
        </p:spPr>
        <p:txBody>
          <a:bodyPr wrap="square" lIns="46800" tIns="72000" rIns="90000" bIns="46800" rtlCol="0" anchor="t"/>
          <a:lstStyle/>
          <a:p>
            <a:pPr indent="0" marL="0">
              <a:buNone/>
            </a:pPr>
            <a:r>
              <a:rPr lang="en-US" sz="600" i="1" dirty="0">
                <a:solidFill>
                  <a:srgbClr val="00338D"/>
                </a:solidFill>
                <a:latin typeface="Arial" pitchFamily="34" charset="0"/>
                <a:ea typeface="Arial" pitchFamily="34" charset="-122"/>
                <a:cs typeface="Arial" pitchFamily="34" charset="-120"/>
              </a:rPr>
              <a:t>Source: testing/data/sec/AAPL/annual_metrics.csv, testing/data/sec/AAPL/quarterly_metrics.csv, testing/data/sec/AAPL/recent_filings.csv.</a:t>
            </a:r>
            <a:endParaRPr lang="en-US" sz="600" dirty="0"/>
          </a:p>
        </p:txBody>
      </p:sp>
      <p:sp>
        <p:nvSpPr>
          <p:cNvPr id="6" name="Text 4"/>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5</a:t>
            </a:r>
            <a:endParaRPr lang="en-US" sz="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2" name="Image 0" descr="KPMG logo">    </p:cNvPr>
          <p:cNvPicPr>
            <a:picLocks noChangeAspect="1"/>
          </p:cNvPicPr>
          <p:nvPr/>
        </p:nvPicPr>
        <p:blipFill>
          <a:blip r:embed="rId1"/>
          <a:stretch>
            <a:fillRect/>
          </a:stretch>
        </p:blipFill>
        <p:spPr>
          <a:xfrm>
            <a:off x="1001268" y="411480"/>
            <a:ext cx="1216152" cy="411480"/>
          </a:xfrm>
          <a:prstGeom prst="rect">
            <a:avLst/>
          </a:prstGeom>
        </p:spPr>
      </p:pic>
      <p:sp>
        <p:nvSpPr>
          <p:cNvPr id="3" name="Text 0"/>
          <p:cNvSpPr/>
          <p:nvPr/>
        </p:nvSpPr>
        <p:spPr>
          <a:xfrm>
            <a:off x="1001268" y="1014984"/>
            <a:ext cx="9372600" cy="960120"/>
          </a:xfrm>
          <a:prstGeom prst="rect">
            <a:avLst/>
          </a:prstGeom>
          <a:noFill/>
          <a:ln/>
        </p:spPr>
        <p:txBody>
          <a:bodyPr wrap="square" rtlCol="0" anchor="t"/>
          <a:lstStyle/>
          <a:p>
            <a:pPr indent="0" marL="0">
              <a:buNone/>
            </a:pPr>
            <a:r>
              <a:rPr lang="en-US" sz="3000" b="1" dirty="0">
                <a:solidFill>
                  <a:srgbClr val="FFFFFF"/>
                </a:solidFill>
                <a:latin typeface="Arial" pitchFamily="34" charset="0"/>
                <a:ea typeface="Arial" pitchFamily="34" charset="-122"/>
                <a:cs typeface="Arial" pitchFamily="34" charset="-120"/>
              </a:rPr>
              <a:t>The contacts at KPMG in connection with this report are:</a:t>
            </a:r>
            <a:endParaRPr lang="en-US" sz="3000" dirty="0"/>
          </a:p>
        </p:txBody>
      </p:sp>
      <p:sp>
        <p:nvSpPr>
          <p:cNvPr id="4" name="Text 1"/>
          <p:cNvSpPr/>
          <p:nvPr/>
        </p:nvSpPr>
        <p:spPr>
          <a:xfrm>
            <a:off x="1133856" y="2770632"/>
            <a:ext cx="2331720" cy="201168"/>
          </a:xfrm>
          <a:prstGeom prst="rect">
            <a:avLst/>
          </a:prstGeom>
          <a:noFill/>
          <a:ln/>
        </p:spPr>
        <p:txBody>
          <a:bodyPr wrap="square" lIns="0" tIns="0" rIns="0" bIns="0" rtlCol="0" anchor="t"/>
          <a:lstStyle/>
          <a:p>
            <a:pPr indent="0" marL="0">
              <a:buNone/>
            </a:pPr>
            <a:r>
              <a:rPr lang="en-US" sz="1300" b="1" dirty="0">
                <a:solidFill>
                  <a:srgbClr val="FFFFFF"/>
                </a:solidFill>
                <a:latin typeface="Arial" pitchFamily="34" charset="0"/>
                <a:ea typeface="Arial" pitchFamily="34" charset="-122"/>
                <a:cs typeface="Arial" pitchFamily="34" charset="-120"/>
              </a:rPr>
              <a:t>Firstname Lastname</a:t>
            </a:r>
            <a:endParaRPr lang="en-US" sz="1300" dirty="0"/>
          </a:p>
        </p:txBody>
      </p:sp>
      <p:sp>
        <p:nvSpPr>
          <p:cNvPr id="5" name="Text 2"/>
          <p:cNvSpPr/>
          <p:nvPr/>
        </p:nvSpPr>
        <p:spPr>
          <a:xfrm>
            <a:off x="1133856" y="3026664"/>
            <a:ext cx="2331720" cy="676656"/>
          </a:xfrm>
          <a:prstGeom prst="rect">
            <a:avLst/>
          </a:prstGeom>
          <a:noFill/>
          <a:ln/>
        </p:spPr>
        <p:txBody>
          <a:bodyPr wrap="square" lIns="0" tIns="0" rIns="0" bIns="0" rtlCol="0" anchor="t"/>
          <a:lstStyle/>
          <a:p>
            <a:pPr indent="0" marL="0">
              <a:buNone/>
            </a:pPr>
            <a:r>
              <a:rPr lang="en-US" sz="1100" dirty="0">
                <a:solidFill>
                  <a:srgbClr val="FFFFFF"/>
                </a:solidFill>
                <a:latin typeface="Arial" pitchFamily="34" charset="0"/>
                <a:ea typeface="Arial" pitchFamily="34" charset="-122"/>
                <a:cs typeface="Arial" pitchFamily="34" charset="-120"/>
              </a:rPr>
              <a:t>Job Title</a:t>
            </a:r>
            <a:endParaRPr lang="en-US" sz="1100" dirty="0"/>
          </a:p>
          <a:p>
            <a:pPr indent="0" marL="0">
              <a:buNone/>
            </a:pPr>
            <a:r>
              <a:rPr lang="en-US" sz="1100" dirty="0">
                <a:solidFill>
                  <a:srgbClr val="FFFFFF"/>
                </a:solidFill>
                <a:latin typeface="Arial" pitchFamily="34" charset="0"/>
                <a:ea typeface="Arial" pitchFamily="34" charset="-122"/>
                <a:cs typeface="Arial" pitchFamily="34" charset="-120"/>
              </a:rPr>
              <a:t>T: +1 000 000 0001</a:t>
            </a:r>
            <a:endParaRPr lang="en-US" sz="1100" dirty="0"/>
          </a:p>
          <a:p>
            <a:pPr indent="0" marL="0">
              <a:buNone/>
            </a:pPr>
            <a:r>
              <a:rPr lang="en-US" sz="1100" dirty="0">
                <a:solidFill>
                  <a:srgbClr val="FFFFFF"/>
                </a:solidFill>
                <a:latin typeface="Arial" pitchFamily="34" charset="0"/>
                <a:ea typeface="Arial" pitchFamily="34" charset="-122"/>
                <a:cs typeface="Arial" pitchFamily="34" charset="-120"/>
              </a:rPr>
              <a:t>E: firstname.lastname@kpmg.ca</a:t>
            </a:r>
            <a:endParaRPr lang="en-US" sz="1100" dirty="0"/>
          </a:p>
        </p:txBody>
      </p:sp>
      <p:sp>
        <p:nvSpPr>
          <p:cNvPr id="6" name="Text 3"/>
          <p:cNvSpPr/>
          <p:nvPr/>
        </p:nvSpPr>
        <p:spPr>
          <a:xfrm>
            <a:off x="3465576" y="2770632"/>
            <a:ext cx="2331720" cy="201168"/>
          </a:xfrm>
          <a:prstGeom prst="rect">
            <a:avLst/>
          </a:prstGeom>
          <a:noFill/>
          <a:ln/>
        </p:spPr>
        <p:txBody>
          <a:bodyPr wrap="square" lIns="0" tIns="0" rIns="0" bIns="0" rtlCol="0" anchor="t"/>
          <a:lstStyle/>
          <a:p>
            <a:pPr indent="0" marL="0">
              <a:buNone/>
            </a:pPr>
            <a:r>
              <a:rPr lang="en-US" sz="1300" b="1" dirty="0">
                <a:solidFill>
                  <a:srgbClr val="FFFFFF"/>
                </a:solidFill>
                <a:latin typeface="Arial" pitchFamily="34" charset="0"/>
                <a:ea typeface="Arial" pitchFamily="34" charset="-122"/>
                <a:cs typeface="Arial" pitchFamily="34" charset="-120"/>
              </a:rPr>
              <a:t>Firstname Lastname</a:t>
            </a:r>
            <a:endParaRPr lang="en-US" sz="1300" dirty="0"/>
          </a:p>
        </p:txBody>
      </p:sp>
      <p:sp>
        <p:nvSpPr>
          <p:cNvPr id="7" name="Text 4"/>
          <p:cNvSpPr/>
          <p:nvPr/>
        </p:nvSpPr>
        <p:spPr>
          <a:xfrm>
            <a:off x="3465576" y="3026664"/>
            <a:ext cx="2331720" cy="676656"/>
          </a:xfrm>
          <a:prstGeom prst="rect">
            <a:avLst/>
          </a:prstGeom>
          <a:noFill/>
          <a:ln/>
        </p:spPr>
        <p:txBody>
          <a:bodyPr wrap="square" lIns="0" tIns="0" rIns="0" bIns="0" rtlCol="0" anchor="t"/>
          <a:lstStyle/>
          <a:p>
            <a:pPr indent="0" marL="0">
              <a:buNone/>
            </a:pPr>
            <a:r>
              <a:rPr lang="en-US" sz="1100" dirty="0">
                <a:solidFill>
                  <a:srgbClr val="FFFFFF"/>
                </a:solidFill>
                <a:latin typeface="Arial" pitchFamily="34" charset="0"/>
                <a:ea typeface="Arial" pitchFamily="34" charset="-122"/>
                <a:cs typeface="Arial" pitchFamily="34" charset="-120"/>
              </a:rPr>
              <a:t>Job Title</a:t>
            </a:r>
            <a:endParaRPr lang="en-US" sz="1100" dirty="0"/>
          </a:p>
          <a:p>
            <a:pPr indent="0" marL="0">
              <a:buNone/>
            </a:pPr>
            <a:r>
              <a:rPr lang="en-US" sz="1100" dirty="0">
                <a:solidFill>
                  <a:srgbClr val="FFFFFF"/>
                </a:solidFill>
                <a:latin typeface="Arial" pitchFamily="34" charset="0"/>
                <a:ea typeface="Arial" pitchFamily="34" charset="-122"/>
                <a:cs typeface="Arial" pitchFamily="34" charset="-120"/>
              </a:rPr>
              <a:t>T: +1 000 000 0002</a:t>
            </a:r>
            <a:endParaRPr lang="en-US" sz="1100" dirty="0"/>
          </a:p>
          <a:p>
            <a:pPr indent="0" marL="0">
              <a:buNone/>
            </a:pPr>
            <a:r>
              <a:rPr lang="en-US" sz="1100" dirty="0">
                <a:solidFill>
                  <a:srgbClr val="FFFFFF"/>
                </a:solidFill>
                <a:latin typeface="Arial" pitchFamily="34" charset="0"/>
                <a:ea typeface="Arial" pitchFamily="34" charset="-122"/>
                <a:cs typeface="Arial" pitchFamily="34" charset="-120"/>
              </a:rPr>
              <a:t>E: firstname.lastname@kpmg.ca</a:t>
            </a:r>
            <a:endParaRPr lang="en-US" sz="1100" dirty="0"/>
          </a:p>
        </p:txBody>
      </p:sp>
      <p:sp>
        <p:nvSpPr>
          <p:cNvPr id="8" name="Text 5"/>
          <p:cNvSpPr/>
          <p:nvPr/>
        </p:nvSpPr>
        <p:spPr>
          <a:xfrm>
            <a:off x="5797296" y="2770632"/>
            <a:ext cx="2331720" cy="201168"/>
          </a:xfrm>
          <a:prstGeom prst="rect">
            <a:avLst/>
          </a:prstGeom>
          <a:noFill/>
          <a:ln/>
        </p:spPr>
        <p:txBody>
          <a:bodyPr wrap="square" lIns="0" tIns="0" rIns="0" bIns="0" rtlCol="0" anchor="t"/>
          <a:lstStyle/>
          <a:p>
            <a:pPr indent="0" marL="0">
              <a:buNone/>
            </a:pPr>
            <a:r>
              <a:rPr lang="en-US" sz="1300" b="1" dirty="0">
                <a:solidFill>
                  <a:srgbClr val="FFFFFF"/>
                </a:solidFill>
                <a:latin typeface="Arial" pitchFamily="34" charset="0"/>
                <a:ea typeface="Arial" pitchFamily="34" charset="-122"/>
                <a:cs typeface="Arial" pitchFamily="34" charset="-120"/>
              </a:rPr>
              <a:t>Firstname Lastname</a:t>
            </a:r>
            <a:endParaRPr lang="en-US" sz="1300" dirty="0"/>
          </a:p>
        </p:txBody>
      </p:sp>
      <p:sp>
        <p:nvSpPr>
          <p:cNvPr id="9" name="Text 6"/>
          <p:cNvSpPr/>
          <p:nvPr/>
        </p:nvSpPr>
        <p:spPr>
          <a:xfrm>
            <a:off x="5797296" y="3026664"/>
            <a:ext cx="2331720" cy="676656"/>
          </a:xfrm>
          <a:prstGeom prst="rect">
            <a:avLst/>
          </a:prstGeom>
          <a:noFill/>
          <a:ln/>
        </p:spPr>
        <p:txBody>
          <a:bodyPr wrap="square" lIns="0" tIns="0" rIns="0" bIns="0" rtlCol="0" anchor="t"/>
          <a:lstStyle/>
          <a:p>
            <a:pPr indent="0" marL="0">
              <a:buNone/>
            </a:pPr>
            <a:r>
              <a:rPr lang="en-US" sz="1100" dirty="0">
                <a:solidFill>
                  <a:srgbClr val="FFFFFF"/>
                </a:solidFill>
                <a:latin typeface="Arial" pitchFamily="34" charset="0"/>
                <a:ea typeface="Arial" pitchFamily="34" charset="-122"/>
                <a:cs typeface="Arial" pitchFamily="34" charset="-120"/>
              </a:rPr>
              <a:t>Job Title</a:t>
            </a:r>
            <a:endParaRPr lang="en-US" sz="1100" dirty="0"/>
          </a:p>
          <a:p>
            <a:pPr indent="0" marL="0">
              <a:buNone/>
            </a:pPr>
            <a:r>
              <a:rPr lang="en-US" sz="1100" dirty="0">
                <a:solidFill>
                  <a:srgbClr val="FFFFFF"/>
                </a:solidFill>
                <a:latin typeface="Arial" pitchFamily="34" charset="0"/>
                <a:ea typeface="Arial" pitchFamily="34" charset="-122"/>
                <a:cs typeface="Arial" pitchFamily="34" charset="-120"/>
              </a:rPr>
              <a:t>T: +1 000 000 0003</a:t>
            </a:r>
            <a:endParaRPr lang="en-US" sz="1100" dirty="0"/>
          </a:p>
          <a:p>
            <a:pPr indent="0" marL="0">
              <a:buNone/>
            </a:pPr>
            <a:r>
              <a:rPr lang="en-US" sz="1100" dirty="0">
                <a:solidFill>
                  <a:srgbClr val="FFFFFF"/>
                </a:solidFill>
                <a:latin typeface="Arial" pitchFamily="34" charset="0"/>
                <a:ea typeface="Arial" pitchFamily="34" charset="-122"/>
                <a:cs typeface="Arial" pitchFamily="34" charset="-120"/>
              </a:rPr>
              <a:t>E: firstname.lastname@kpmg.ca</a:t>
            </a:r>
            <a:endParaRPr lang="en-US" sz="1100" dirty="0"/>
          </a:p>
        </p:txBody>
      </p:sp>
      <p:pic>
        <p:nvPicPr>
          <p:cNvPr id="10" name="Image 1" descr="Social icon">    </p:cNvPr>
          <p:cNvPicPr>
            <a:picLocks noChangeAspect="1"/>
          </p:cNvPicPr>
          <p:nvPr/>
        </p:nvPicPr>
        <p:blipFill>
          <a:blip r:embed="rId2"/>
          <a:stretch>
            <a:fillRect/>
          </a:stretch>
        </p:blipFill>
        <p:spPr>
          <a:xfrm>
            <a:off x="996696" y="5394960"/>
            <a:ext cx="329184" cy="329184"/>
          </a:xfrm>
          <a:prstGeom prst="rect">
            <a:avLst/>
          </a:prstGeom>
        </p:spPr>
      </p:pic>
      <p:pic>
        <p:nvPicPr>
          <p:cNvPr id="11" name="Image 2" descr="Social icon">    </p:cNvPr>
          <p:cNvPicPr>
            <a:picLocks noChangeAspect="1"/>
          </p:cNvPicPr>
          <p:nvPr/>
        </p:nvPicPr>
        <p:blipFill>
          <a:blip r:embed="rId3"/>
          <a:stretch>
            <a:fillRect/>
          </a:stretch>
        </p:blipFill>
        <p:spPr>
          <a:xfrm>
            <a:off x="1389888" y="5394960"/>
            <a:ext cx="329184" cy="329184"/>
          </a:xfrm>
          <a:prstGeom prst="rect">
            <a:avLst/>
          </a:prstGeom>
        </p:spPr>
      </p:pic>
      <p:pic>
        <p:nvPicPr>
          <p:cNvPr id="12" name="Image 3" descr="Social icon">    </p:cNvPr>
          <p:cNvPicPr>
            <a:picLocks noChangeAspect="1"/>
          </p:cNvPicPr>
          <p:nvPr/>
        </p:nvPicPr>
        <p:blipFill>
          <a:blip r:embed="rId4"/>
          <a:stretch>
            <a:fillRect/>
          </a:stretch>
        </p:blipFill>
        <p:spPr>
          <a:xfrm>
            <a:off x="1783080" y="5394960"/>
            <a:ext cx="329184" cy="329184"/>
          </a:xfrm>
          <a:prstGeom prst="rect">
            <a:avLst/>
          </a:prstGeom>
        </p:spPr>
      </p:pic>
      <p:pic>
        <p:nvPicPr>
          <p:cNvPr id="13" name="Image 4" descr="Social icon">    </p:cNvPr>
          <p:cNvPicPr>
            <a:picLocks noChangeAspect="1"/>
          </p:cNvPicPr>
          <p:nvPr/>
        </p:nvPicPr>
        <p:blipFill>
          <a:blip r:embed="rId5"/>
          <a:stretch>
            <a:fillRect/>
          </a:stretch>
        </p:blipFill>
        <p:spPr>
          <a:xfrm>
            <a:off x="2176272" y="5394960"/>
            <a:ext cx="329184" cy="329184"/>
          </a:xfrm>
          <a:prstGeom prst="rect">
            <a:avLst/>
          </a:prstGeom>
        </p:spPr>
      </p:pic>
      <p:pic>
        <p:nvPicPr>
          <p:cNvPr id="14" name="Image 5" descr="Social icon">    </p:cNvPr>
          <p:cNvPicPr>
            <a:picLocks noChangeAspect="1"/>
          </p:cNvPicPr>
          <p:nvPr/>
        </p:nvPicPr>
        <p:blipFill>
          <a:blip r:embed="rId6"/>
          <a:stretch>
            <a:fillRect/>
          </a:stretch>
        </p:blipFill>
        <p:spPr>
          <a:xfrm>
            <a:off x="2569464" y="5394960"/>
            <a:ext cx="329184" cy="329184"/>
          </a:xfrm>
          <a:prstGeom prst="rect">
            <a:avLst/>
          </a:prstGeom>
        </p:spPr>
      </p:pic>
      <p:sp>
        <p:nvSpPr>
          <p:cNvPr id="15" name="Text 7"/>
          <p:cNvSpPr/>
          <p:nvPr/>
        </p:nvSpPr>
        <p:spPr>
          <a:xfrm>
            <a:off x="996696" y="5897880"/>
            <a:ext cx="9738360" cy="384048"/>
          </a:xfrm>
          <a:prstGeom prst="rect">
            <a:avLst/>
          </a:prstGeom>
          <a:noFill/>
          <a:ln/>
        </p:spPr>
        <p:txBody>
          <a:bodyPr wrap="square" lIns="0" tIns="0" rIns="0" bIns="0" rtlCol="0" anchor="t"/>
          <a:lstStyle/>
          <a:p>
            <a:pPr indent="0" marL="0">
              <a:buNone/>
            </a:pPr>
            <a:r>
              <a:rPr lang="en-US" sz="900" dirty="0">
                <a:solidFill>
                  <a:srgbClr val="FFFFFF"/>
                </a:solidFill>
                <a:latin typeface="Arial" pitchFamily="34" charset="0"/>
                <a:ea typeface="Arial" pitchFamily="34" charset="-122"/>
                <a:cs typeface="Arial" pitchFamily="34" charset="-120"/>
              </a:rPr>
              <a:t>This presentation is based solely on provided public filing extracts and is intended for preliminary informational use. It does not constitute investment advice, fairness opinion, or assurance over underlying SEC source systems.</a:t>
            </a:r>
            <a:endParaRPr lang="en-US" sz="900" dirty="0"/>
          </a:p>
        </p:txBody>
      </p:sp>
      <p:sp>
        <p:nvSpPr>
          <p:cNvPr id="16" name="Text 8"/>
          <p:cNvSpPr/>
          <p:nvPr/>
        </p:nvSpPr>
        <p:spPr>
          <a:xfrm>
            <a:off x="996696" y="6327648"/>
            <a:ext cx="9601200" cy="182880"/>
          </a:xfrm>
          <a:prstGeom prst="rect">
            <a:avLst/>
          </a:prstGeom>
          <a:noFill/>
          <a:ln/>
        </p:spPr>
        <p:txBody>
          <a:bodyPr wrap="square" lIns="0" tIns="0" rIns="0" bIns="0" rtlCol="0" anchor="t"/>
          <a:lstStyle/>
          <a:p>
            <a:pPr indent="0" marL="0">
              <a:buNone/>
            </a:pPr>
            <a:r>
              <a:rPr lang="en-US" sz="800" dirty="0">
                <a:solidFill>
                  <a:srgbClr val="FFFFFF"/>
                </a:solidFill>
                <a:latin typeface="Arial" pitchFamily="34" charset="0"/>
                <a:ea typeface="Arial" pitchFamily="34" charset="-122"/>
                <a:cs typeface="Arial" pitchFamily="34" charset="-120"/>
              </a:rPr>
              <a:t>The KPMG name and logo are trademarks used under license by the independent member firms of the KPMG global organization.</a:t>
            </a:r>
            <a:endParaRPr lang="en-US" sz="800" dirty="0"/>
          </a:p>
        </p:txBody>
      </p:sp>
      <p:sp>
        <p:nvSpPr>
          <p:cNvPr id="17" name="Text 9"/>
          <p:cNvSpPr/>
          <p:nvPr/>
        </p:nvSpPr>
        <p:spPr>
          <a:xfrm>
            <a:off x="996696" y="6729984"/>
            <a:ext cx="3200400" cy="91440"/>
          </a:xfrm>
          <a:prstGeom prst="rect">
            <a:avLst/>
          </a:prstGeom>
          <a:noFill/>
          <a:ln/>
        </p:spPr>
        <p:txBody>
          <a:bodyPr wrap="square" lIns="0" tIns="0" rIns="0" bIns="0" rtlCol="0" anchor="ctr"/>
          <a:lstStyle/>
          <a:p>
            <a:pPr indent="0" marL="0">
              <a:buNone/>
            </a:pPr>
            <a:r>
              <a:rPr lang="en-US" sz="800" b="1" dirty="0">
                <a:solidFill>
                  <a:srgbClr val="FFFFFF"/>
                </a:solidFill>
                <a:latin typeface="Arial" pitchFamily="34" charset="0"/>
                <a:ea typeface="Arial" pitchFamily="34" charset="-122"/>
                <a:cs typeface="Arial" pitchFamily="34" charset="-120"/>
              </a:rPr>
              <a:t>Document Classification: KPMG Confidential</a:t>
            </a:r>
            <a:endParaRPr lang="en-US" sz="800" dirty="0"/>
          </a:p>
        </p:txBody>
      </p:sp>
      <p:sp>
        <p:nvSpPr>
          <p:cNvPr id="18" name="Text 10">
            <a:hlinkClick r:id="rId7" tooltip=""/>
          </p:cNvPr>
          <p:cNvSpPr/>
          <p:nvPr/>
        </p:nvSpPr>
        <p:spPr>
          <a:xfrm>
            <a:off x="996696" y="6565392"/>
            <a:ext cx="2103120" cy="146304"/>
          </a:xfrm>
          <a:prstGeom prst="rect">
            <a:avLst/>
          </a:prstGeom>
          <a:noFill/>
          <a:ln/>
        </p:spPr>
        <p:txBody>
          <a:bodyPr wrap="square" lIns="0" tIns="0" rIns="0" bIns="0" rtlCol="0" anchor="t"/>
          <a:lstStyle/>
          <a:p>
            <a:pPr indent="0" marL="0">
              <a:buNone/>
            </a:pPr>
            <a:r>
              <a:rPr lang="en-US" sz="1000" b="1" u="sng" dirty="0">
                <a:solidFill>
                  <a:srgbClr val="FFFFFF"/>
                </a:solidFill>
                <a:latin typeface="Arial" pitchFamily="34" charset="0"/>
                <a:ea typeface="Arial" pitchFamily="34" charset="-122"/>
                <a:cs typeface="Arial" pitchFamily="34" charset="-120"/>
                <a:hlinkClick r:id="rId7" invalidUrl="" action="" tgtFrame="" tooltip="" history="1" highlightClick="0" endSnd="0">
                  <a:extLst>
                    <a:ext uri="{A12FA001-AC4F-418D-AE19-62706E023703}">
                      <ahyp:hlinkClr xmlns:ahyp="http://schemas.microsoft.com/office/drawing/2018/hyperlinkcolor" val="tx"/>
                    </a:ext>
                  </a:extLst>
                </a:hlinkClick>
              </a:rPr>
              <a:t>kpmg.com/ca</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vector>
  </TitlesOfParts>
  <Company>KPMG LLP</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Apple Inc. SEC Business Overview</dc:title>
  <dc:subject>Concise business overview from SEC filings</dc:subject>
  <dc:creator>KPMG LLP</dc:creator>
  <cp:lastModifiedBy>KPMG LLP</cp:lastModifiedBy>
  <cp:revision>1</cp:revision>
  <dcterms:created xsi:type="dcterms:W3CDTF">2026-02-25T21:01:40Z</dcterms:created>
  <dcterms:modified xsi:type="dcterms:W3CDTF">2026-02-25T21:01:40Z</dcterms:modified>
</cp:coreProperties>
</file>